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0" r:id="rId5"/>
    <p:sldId id="259"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12"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28454A-19CC-4767-8B18-74BAFD522567}" type="datetimeFigureOut">
              <a:rPr lang="en-GB" smtClean="0"/>
              <a:t>09/12/2016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FC6FCE-B06F-4CA7-9616-677261262960}" type="slidenum">
              <a:rPr lang="en-GB" smtClean="0"/>
              <a:t>‹#›</a:t>
            </a:fld>
            <a:endParaRPr lang="en-GB"/>
          </a:p>
        </p:txBody>
      </p:sp>
    </p:spTree>
    <p:extLst>
      <p:ext uri="{BB962C8B-B14F-4D97-AF65-F5344CB8AC3E}">
        <p14:creationId xmlns:p14="http://schemas.microsoft.com/office/powerpoint/2010/main" val="420536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Resource 1. Additional help for </a:t>
            </a:r>
            <a:r>
              <a:rPr lang="en-GB" smtClean="0"/>
              <a:t>this task </a:t>
            </a:r>
            <a:r>
              <a:rPr lang="en-GB" dirty="0" smtClean="0"/>
              <a:t>can be found on p.</a:t>
            </a:r>
            <a:r>
              <a:rPr lang="en-GB" baseline="0" dirty="0" smtClean="0"/>
              <a:t> 6 &amp; 7 in the poetry student book. </a:t>
            </a:r>
            <a:endParaRPr lang="en-GB" dirty="0"/>
          </a:p>
        </p:txBody>
      </p:sp>
      <p:sp>
        <p:nvSpPr>
          <p:cNvPr id="4" name="Slide Number Placeholder 3"/>
          <p:cNvSpPr>
            <a:spLocks noGrp="1"/>
          </p:cNvSpPr>
          <p:nvPr>
            <p:ph type="sldNum" sz="quarter" idx="10"/>
          </p:nvPr>
        </p:nvSpPr>
        <p:spPr/>
        <p:txBody>
          <a:bodyPr/>
          <a:lstStyle/>
          <a:p>
            <a:fld id="{3DB29E8A-9E28-4D1B-9C77-3B5F9665D022}" type="slidenum">
              <a:rPr lang="en-GB" smtClean="0"/>
              <a:pPr/>
              <a:t>2</a:t>
            </a:fld>
            <a:endParaRPr lang="en-GB"/>
          </a:p>
        </p:txBody>
      </p:sp>
    </p:spTree>
    <p:extLst>
      <p:ext uri="{BB962C8B-B14F-4D97-AF65-F5344CB8AC3E}">
        <p14:creationId xmlns:p14="http://schemas.microsoft.com/office/powerpoint/2010/main" val="1250838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09/12/2016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7409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09/12/2016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4274051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037C33-83D5-40E7-AA49-600BECFD8777}" type="datetimeFigureOut">
              <a:rPr lang="en-GB" smtClean="0"/>
              <a:t>09/12/2016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1133113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6D037C33-83D5-40E7-AA49-600BECFD8777}" type="datetimeFigureOut">
              <a:rPr lang="en-GB" smtClean="0"/>
              <a:t>09/12/2016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3096861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6D037C33-83D5-40E7-AA49-600BECFD8777}" type="datetimeFigureOut">
              <a:rPr lang="en-GB" smtClean="0"/>
              <a:t>09/12/2016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90481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6D037C33-83D5-40E7-AA49-600BECFD8777}" type="datetimeFigureOut">
              <a:rPr lang="en-GB" smtClean="0"/>
              <a:t>09/12/2016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004960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037C33-83D5-40E7-AA49-600BECFD8777}" type="datetimeFigureOut">
              <a:rPr lang="en-GB" smtClean="0"/>
              <a:t>09/12/2016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5098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09/12/2016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72795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037C33-83D5-40E7-AA49-600BECFD8777}" type="datetimeFigureOut">
              <a:rPr lang="en-GB" smtClean="0"/>
              <a:t>09/12/2016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42686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09/12/2016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21723404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6D037C33-83D5-40E7-AA49-600BECFD8777}" type="datetimeFigureOut">
              <a:rPr lang="en-GB" smtClean="0"/>
              <a:t>09/12/2016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1E1D401-CB51-49CF-BC15-49EE022D68C3}" type="slidenum">
              <a:rPr lang="en-GB" smtClean="0"/>
              <a:t>‹#›</a:t>
            </a:fld>
            <a:endParaRPr lang="en-GB"/>
          </a:p>
        </p:txBody>
      </p:sp>
    </p:spTree>
    <p:extLst>
      <p:ext uri="{BB962C8B-B14F-4D97-AF65-F5344CB8AC3E}">
        <p14:creationId xmlns:p14="http://schemas.microsoft.com/office/powerpoint/2010/main" val="687180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037C33-83D5-40E7-AA49-600BECFD8777}" type="datetimeFigureOut">
              <a:rPr lang="en-GB" smtClean="0"/>
              <a:t>09/12/2016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E1D401-CB51-49CF-BC15-49EE022D68C3}" type="slidenum">
              <a:rPr lang="en-GB" smtClean="0"/>
              <a:t>‹#›</a:t>
            </a:fld>
            <a:endParaRPr lang="en-GB"/>
          </a:p>
        </p:txBody>
      </p:sp>
    </p:spTree>
    <p:extLst>
      <p:ext uri="{BB962C8B-B14F-4D97-AF65-F5344CB8AC3E}">
        <p14:creationId xmlns:p14="http://schemas.microsoft.com/office/powerpoint/2010/main" val="160439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eg"/><Relationship Id="rId1" Type="http://schemas.openxmlformats.org/officeDocument/2006/relationships/slideLayout" Target="../slideLayouts/slideLayout4.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0" y="0"/>
            <a:ext cx="12192000" cy="1325563"/>
          </a:xfrm>
        </p:spPr>
        <p:txBody>
          <a:bodyPr/>
          <a:lstStyle/>
          <a:p>
            <a:r>
              <a:rPr lang="en-GB" dirty="0" smtClean="0">
                <a:latin typeface="Comic Sans MS" panose="030F0702030302020204" pitchFamily="66" charset="0"/>
              </a:rPr>
              <a:t>Starter: Remind yourself of </a:t>
            </a:r>
            <a:r>
              <a:rPr lang="en-GB" i="1" dirty="0" smtClean="0">
                <a:latin typeface="Comic Sans MS" panose="030F0702030302020204" pitchFamily="66" charset="0"/>
              </a:rPr>
              <a:t>Remains</a:t>
            </a:r>
            <a:r>
              <a:rPr lang="en-GB" dirty="0" smtClean="0">
                <a:latin typeface="Comic Sans MS" panose="030F0702030302020204" pitchFamily="66" charset="0"/>
              </a:rPr>
              <a:t> and </a:t>
            </a:r>
            <a:r>
              <a:rPr lang="en-GB" i="1" dirty="0" smtClean="0">
                <a:latin typeface="Comic Sans MS" panose="030F0702030302020204" pitchFamily="66" charset="0"/>
              </a:rPr>
              <a:t>War Photographer</a:t>
            </a:r>
            <a:endParaRPr lang="en-GB" dirty="0">
              <a:latin typeface="Comic Sans MS" panose="030F0702030302020204" pitchFamily="66" charset="0"/>
            </a:endParaRPr>
          </a:p>
        </p:txBody>
      </p:sp>
      <p:pic>
        <p:nvPicPr>
          <p:cNvPr id="1026" name="Picture 2" descr="Image result for ptsd soldi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032" y="1955330"/>
            <a:ext cx="5497996" cy="41234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5932532" y="1987714"/>
            <a:ext cx="6147851" cy="4091115"/>
          </a:xfrm>
          <a:prstGeom prst="rect">
            <a:avLst/>
          </a:prstGeom>
        </p:spPr>
      </p:pic>
    </p:spTree>
    <p:extLst>
      <p:ext uri="{BB962C8B-B14F-4D97-AF65-F5344CB8AC3E}">
        <p14:creationId xmlns:p14="http://schemas.microsoft.com/office/powerpoint/2010/main" val="934996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92D050"/>
          </a:solidFill>
        </p:spPr>
        <p:txBody>
          <a:bodyPr/>
          <a:lstStyle/>
          <a:p>
            <a:r>
              <a:rPr lang="en-GB" dirty="0" smtClean="0">
                <a:latin typeface="Comic Sans MS" panose="030F0702030302020204" pitchFamily="66" charset="0"/>
              </a:rPr>
              <a:t>Assessment Objectives</a:t>
            </a:r>
            <a:endParaRPr lang="en-GB" dirty="0">
              <a:latin typeface="Comic Sans MS" panose="030F0702030302020204" pitchFamily="66" charset="0"/>
            </a:endParaRPr>
          </a:p>
        </p:txBody>
      </p:sp>
      <p:sp>
        <p:nvSpPr>
          <p:cNvPr id="3" name="Content Placeholder 2"/>
          <p:cNvSpPr>
            <a:spLocks noGrp="1"/>
          </p:cNvSpPr>
          <p:nvPr>
            <p:ph idx="1"/>
          </p:nvPr>
        </p:nvSpPr>
        <p:spPr>
          <a:xfrm>
            <a:off x="220014" y="1825624"/>
            <a:ext cx="3579254" cy="4845631"/>
          </a:xfrm>
          <a:solidFill>
            <a:srgbClr val="FFFF00"/>
          </a:solidFill>
        </p:spPr>
        <p:txBody>
          <a:bodyPr>
            <a:normAutofit fontScale="92500"/>
          </a:bodyPr>
          <a:lstStyle/>
          <a:p>
            <a:pPr marL="0" indent="0">
              <a:buNone/>
            </a:pPr>
            <a:r>
              <a:rPr lang="en-GB" dirty="0" smtClean="0">
                <a:latin typeface="Comic Sans MS" panose="030F0702030302020204" pitchFamily="66" charset="0"/>
              </a:rPr>
              <a:t>AO1: Read, understand and respond to texts. Students should be able to: maintain a critical style and develop an informed person response; use textual references, including quotations, to support and illustrate interpretations. </a:t>
            </a:r>
          </a:p>
        </p:txBody>
      </p:sp>
      <p:pic>
        <p:nvPicPr>
          <p:cNvPr id="4" name="Picture 3"/>
          <p:cNvPicPr>
            <a:picLocks noChangeAspect="1"/>
          </p:cNvPicPr>
          <p:nvPr/>
        </p:nvPicPr>
        <p:blipFill>
          <a:blip r:embed="rId3" cstate="print"/>
          <a:stretch>
            <a:fillRect/>
          </a:stretch>
        </p:blipFill>
        <p:spPr>
          <a:xfrm>
            <a:off x="8605462" y="365125"/>
            <a:ext cx="2748338" cy="1325563"/>
          </a:xfrm>
          <a:prstGeom prst="rect">
            <a:avLst/>
          </a:prstGeom>
        </p:spPr>
      </p:pic>
      <p:sp>
        <p:nvSpPr>
          <p:cNvPr id="7" name="Content Placeholder 2"/>
          <p:cNvSpPr txBox="1">
            <a:spLocks/>
          </p:cNvSpPr>
          <p:nvPr/>
        </p:nvSpPr>
        <p:spPr>
          <a:xfrm>
            <a:off x="4032160" y="1825624"/>
            <a:ext cx="2574701" cy="4884268"/>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AO2: Analyse the language, form and structure used by a writer to create meanings and effects, using relevant subject terminology where appropriate. </a:t>
            </a:r>
            <a:endParaRPr lang="en-GB" dirty="0">
              <a:latin typeface="Comic Sans MS" panose="030F0702030302020204" pitchFamily="66" charset="0"/>
            </a:endParaRPr>
          </a:p>
        </p:txBody>
      </p:sp>
      <p:sp>
        <p:nvSpPr>
          <p:cNvPr id="8" name="Content Placeholder 2"/>
          <p:cNvSpPr txBox="1">
            <a:spLocks/>
          </p:cNvSpPr>
          <p:nvPr/>
        </p:nvSpPr>
        <p:spPr>
          <a:xfrm>
            <a:off x="6839753" y="1825624"/>
            <a:ext cx="2381518" cy="4137293"/>
          </a:xfrm>
          <a:prstGeom prst="rect">
            <a:avLst/>
          </a:prstGeom>
          <a:solidFill>
            <a:srgbClr val="FFFF0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latin typeface="Comic Sans MS" panose="030F0702030302020204" pitchFamily="66" charset="0"/>
              </a:rPr>
              <a:t>AO3: Show understanding of the relationships between texts and the contexts in which they were written. </a:t>
            </a:r>
            <a:endParaRPr lang="en-GB" dirty="0">
              <a:latin typeface="Comic Sans MS" panose="030F0702030302020204" pitchFamily="66" charset="0"/>
            </a:endParaRPr>
          </a:p>
        </p:txBody>
      </p:sp>
      <p:sp>
        <p:nvSpPr>
          <p:cNvPr id="9" name="Content Placeholder 2"/>
          <p:cNvSpPr txBox="1">
            <a:spLocks/>
          </p:cNvSpPr>
          <p:nvPr/>
        </p:nvSpPr>
        <p:spPr>
          <a:xfrm>
            <a:off x="9454163" y="1825624"/>
            <a:ext cx="2420155" cy="4137293"/>
          </a:xfrm>
          <a:prstGeom prst="rect">
            <a:avLst/>
          </a:prstGeom>
          <a:solidFill>
            <a:srgbClr val="FFFF00"/>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AO4: Use a range of vocabulary and sentence structures for clarity, purpose and effect, with accurate spelling and punctuation. </a:t>
            </a:r>
            <a:endParaRPr lang="en-GB" dirty="0">
              <a:latin typeface="Comic Sans MS" panose="030F0702030302020204" pitchFamily="66" charset="0"/>
            </a:endParaRPr>
          </a:p>
        </p:txBody>
      </p:sp>
    </p:spTree>
    <p:extLst>
      <p:ext uri="{BB962C8B-B14F-4D97-AF65-F5344CB8AC3E}">
        <p14:creationId xmlns:p14="http://schemas.microsoft.com/office/powerpoint/2010/main" val="12989045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normAutofit fontScale="92500"/>
          </a:bodyPr>
          <a:lstStyle/>
          <a:p>
            <a:pPr marL="0" indent="0">
              <a:buNone/>
            </a:pPr>
            <a:r>
              <a:rPr lang="en-GB" dirty="0" smtClean="0">
                <a:latin typeface="Comic Sans MS" panose="030F0702030302020204" pitchFamily="66" charset="0"/>
              </a:rPr>
              <a:t>Main Idea/ Theme</a:t>
            </a:r>
            <a:r>
              <a:rPr lang="en-GB" dirty="0" smtClean="0">
                <a:latin typeface="Comic Sans MS" panose="030F0702030302020204" pitchFamily="66" charset="0"/>
              </a:rPr>
              <a:t>:</a:t>
            </a:r>
          </a:p>
          <a:p>
            <a:pPr marL="0" indent="0">
              <a:buNone/>
            </a:pPr>
            <a:r>
              <a:rPr lang="en-GB" dirty="0" smtClean="0">
                <a:latin typeface="Comic Sans MS" panose="030F0702030302020204" pitchFamily="66" charset="0"/>
              </a:rPr>
              <a:t>The experiences of war have long-lasting consequences</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Remains</a:t>
            </a:r>
            <a:br>
              <a:rPr lang="en-GB" dirty="0" smtClean="0">
                <a:latin typeface="Comic Sans MS" panose="030F0702030302020204" pitchFamily="66" charset="0"/>
              </a:rPr>
            </a:br>
            <a:r>
              <a:rPr lang="en-GB" dirty="0" smtClean="0">
                <a:latin typeface="Comic Sans MS" panose="030F0702030302020204" pitchFamily="66" charset="0"/>
              </a:rPr>
              <a:t>Poet: Simon Armitage</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The memory of the dead man becomes more vivid as the poem progresses</a:t>
            </a: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Colloquialisms</a:t>
            </a:r>
          </a:p>
          <a:p>
            <a:pPr marL="0" indent="0">
              <a:buFont typeface="Arial" panose="020B0604020202020204" pitchFamily="34" charset="0"/>
              <a:buNone/>
            </a:pPr>
            <a:r>
              <a:rPr lang="en-GB" dirty="0" smtClean="0">
                <a:latin typeface="Comic Sans MS" panose="030F0702030302020204" pitchFamily="66" charset="0"/>
              </a:rPr>
              <a:t>Caesura</a:t>
            </a:r>
          </a:p>
          <a:p>
            <a:pPr marL="0" indent="0">
              <a:buFont typeface="Arial" panose="020B0604020202020204" pitchFamily="34" charset="0"/>
              <a:buNone/>
            </a:pPr>
            <a:r>
              <a:rPr lang="en-GB" dirty="0" smtClean="0">
                <a:latin typeface="Comic Sans MS" panose="030F0702030302020204" pitchFamily="66" charset="0"/>
              </a:rPr>
              <a:t>Consonance</a:t>
            </a:r>
          </a:p>
          <a:p>
            <a:pPr marL="0" indent="0">
              <a:buFont typeface="Arial" panose="020B0604020202020204" pitchFamily="34" charset="0"/>
              <a:buNone/>
            </a:pPr>
            <a:r>
              <a:rPr lang="en-GB" dirty="0" smtClean="0">
                <a:latin typeface="Comic Sans MS" panose="030F0702030302020204" pitchFamily="66" charset="0"/>
              </a:rPr>
              <a:t>Conversation markers</a:t>
            </a:r>
          </a:p>
          <a:p>
            <a:pPr marL="0" indent="0">
              <a:buFont typeface="Arial" panose="020B0604020202020204" pitchFamily="34" charset="0"/>
              <a:buNone/>
            </a:pPr>
            <a:r>
              <a:rPr lang="en-GB" dirty="0" smtClean="0">
                <a:latin typeface="Comic Sans MS" panose="030F0702030302020204" pitchFamily="66" charset="0"/>
              </a:rPr>
              <a:t>Verbs linked to violence</a:t>
            </a:r>
          </a:p>
          <a:p>
            <a:pPr marL="0" indent="0">
              <a:buFont typeface="Arial" panose="020B0604020202020204" pitchFamily="34" charset="0"/>
              <a:buNone/>
            </a:pPr>
            <a:r>
              <a:rPr lang="en-GB" dirty="0" smtClean="0">
                <a:latin typeface="Comic Sans MS" panose="030F0702030302020204" pitchFamily="66" charset="0"/>
              </a:rPr>
              <a:t>Free Verse</a:t>
            </a:r>
          </a:p>
          <a:p>
            <a:pPr marL="0" indent="0">
              <a:buFont typeface="Arial" panose="020B0604020202020204" pitchFamily="34" charset="0"/>
              <a:buNone/>
            </a:pPr>
            <a:r>
              <a:rPr lang="en-GB" dirty="0" smtClean="0">
                <a:latin typeface="Comic Sans MS" panose="030F0702030302020204" pitchFamily="66" charset="0"/>
              </a:rPr>
              <a:t>Enjambment</a:t>
            </a:r>
          </a:p>
          <a:p>
            <a:pPr marL="0" indent="0">
              <a:buFont typeface="Arial" panose="020B0604020202020204" pitchFamily="34" charset="0"/>
              <a:buNone/>
            </a:pPr>
            <a:endParaRPr lang="en-GB" dirty="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a:t>
            </a:r>
            <a:r>
              <a:rPr lang="en-GB" dirty="0" smtClean="0">
                <a:latin typeface="Comic Sans MS" panose="030F0702030302020204" pitchFamily="66" charset="0"/>
              </a:rPr>
              <a:t>: </a:t>
            </a:r>
          </a:p>
          <a:p>
            <a:pPr marL="0" indent="0">
              <a:buFont typeface="Arial" panose="020B0604020202020204" pitchFamily="34" charset="0"/>
              <a:buNone/>
            </a:pPr>
            <a:r>
              <a:rPr lang="en-GB" dirty="0" smtClean="0">
                <a:latin typeface="Comic Sans MS" panose="030F0702030302020204" pitchFamily="66" charset="0"/>
              </a:rPr>
              <a:t>The story of a soldier with PTSD who talks about an incident when he was serving in Basra, Iraq. This is based on interviews.</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a:t>
            </a:r>
            <a:r>
              <a:rPr lang="en-GB" dirty="0" smtClean="0">
                <a:latin typeface="Comic Sans MS" panose="030F0702030302020204" pitchFamily="66" charset="0"/>
              </a:rPr>
              <a:t>: Conversational (which seems at odds with the subject matter) </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 2008</a:t>
            </a:r>
            <a:br>
              <a:rPr lang="en-GB" dirty="0" smtClean="0">
                <a:latin typeface="Comic Sans MS" panose="030F0702030302020204" pitchFamily="66" charset="0"/>
              </a:rPr>
            </a:br>
            <a:r>
              <a:rPr lang="en-GB" dirty="0" smtClean="0">
                <a:latin typeface="Comic Sans MS" panose="030F0702030302020204" pitchFamily="66" charset="0"/>
              </a:rPr>
              <a:t>Conflict</a:t>
            </a:r>
            <a:endParaRPr lang="en-GB" dirty="0">
              <a:latin typeface="Comic Sans MS" panose="030F0702030302020204" pitchFamily="66" charset="0"/>
            </a:endParaRPr>
          </a:p>
        </p:txBody>
      </p:sp>
    </p:spTree>
    <p:extLst>
      <p:ext uri="{BB962C8B-B14F-4D97-AF65-F5344CB8AC3E}">
        <p14:creationId xmlns:p14="http://schemas.microsoft.com/office/powerpoint/2010/main" val="35370634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556724" y="1893194"/>
            <a:ext cx="4635276" cy="1017431"/>
          </a:xfrm>
        </p:spPr>
        <p:txBody>
          <a:bodyPr/>
          <a:lstStyle/>
          <a:p>
            <a:r>
              <a:rPr lang="en-GB" dirty="0" smtClean="0">
                <a:latin typeface="Comic Sans MS" panose="030F0702030302020204" pitchFamily="66" charset="0"/>
              </a:rPr>
              <a:t>Simon Armitage</a:t>
            </a:r>
            <a:endParaRPr lang="en-GB" dirty="0">
              <a:latin typeface="Comic Sans MS" panose="030F0702030302020204" pitchFamily="66" charset="0"/>
            </a:endParaRPr>
          </a:p>
        </p:txBody>
      </p:sp>
      <p:sp>
        <p:nvSpPr>
          <p:cNvPr id="5" name="Content Placeholder 4"/>
          <p:cNvSpPr>
            <a:spLocks noGrp="1"/>
          </p:cNvSpPr>
          <p:nvPr>
            <p:ph sz="half" idx="1"/>
          </p:nvPr>
        </p:nvSpPr>
        <p:spPr>
          <a:xfrm>
            <a:off x="180305" y="103031"/>
            <a:ext cx="5782614" cy="2910625"/>
          </a:xfrm>
        </p:spPr>
        <p:txBody>
          <a:bodyPr>
            <a:normAutofit fontScale="92500" lnSpcReduction="10000"/>
          </a:bodyPr>
          <a:lstStyle/>
          <a:p>
            <a:r>
              <a:rPr lang="en-GB" dirty="0" smtClean="0">
                <a:latin typeface="Comic Sans MS" panose="030F0702030302020204" pitchFamily="66" charset="0"/>
              </a:rPr>
              <a:t>Also makes documentaries on travel, history and literature</a:t>
            </a:r>
          </a:p>
          <a:p>
            <a:r>
              <a:rPr lang="en-GB" dirty="0" smtClean="0">
                <a:latin typeface="Comic Sans MS" panose="030F0702030302020204" pitchFamily="66" charset="0"/>
              </a:rPr>
              <a:t>Enjoys exploring class stories from ancient cultures like the Odyssey</a:t>
            </a:r>
          </a:p>
          <a:p>
            <a:r>
              <a:rPr lang="en-GB" dirty="0" smtClean="0">
                <a:latin typeface="Comic Sans MS" panose="030F0702030302020204" pitchFamily="66" charset="0"/>
              </a:rPr>
              <a:t>Seen as being a poet for everyday people (like Wordsworth aimed to be)</a:t>
            </a:r>
          </a:p>
          <a:p>
            <a:endParaRPr lang="en-GB" dirty="0" smtClean="0">
              <a:latin typeface="Comic Sans MS" panose="030F0702030302020204" pitchFamily="66" charset="0"/>
            </a:endParaRPr>
          </a:p>
          <a:p>
            <a:endParaRPr lang="en-GB" dirty="0">
              <a:latin typeface="Comic Sans MS" panose="030F0702030302020204" pitchFamily="66" charset="0"/>
            </a:endParaRPr>
          </a:p>
        </p:txBody>
      </p:sp>
      <p:pic>
        <p:nvPicPr>
          <p:cNvPr id="3074" name="Picture 2" descr="Image result for simon armit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826323" y="0"/>
            <a:ext cx="3365677" cy="189319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stretch>
            <a:fillRect/>
          </a:stretch>
        </p:blipFill>
        <p:spPr>
          <a:xfrm>
            <a:off x="7158507" y="3136508"/>
            <a:ext cx="5069983" cy="3759625"/>
          </a:xfrm>
          <a:prstGeom prst="rect">
            <a:avLst/>
          </a:prstGeom>
        </p:spPr>
      </p:pic>
      <p:sp>
        <p:nvSpPr>
          <p:cNvPr id="3" name="TextBox 2"/>
          <p:cNvSpPr txBox="1"/>
          <p:nvPr/>
        </p:nvSpPr>
        <p:spPr>
          <a:xfrm>
            <a:off x="412123" y="3832820"/>
            <a:ext cx="6053071" cy="2862322"/>
          </a:xfrm>
          <a:prstGeom prst="rect">
            <a:avLst/>
          </a:prstGeom>
          <a:noFill/>
        </p:spPr>
        <p:txBody>
          <a:bodyPr wrap="square" rtlCol="0">
            <a:spAutoFit/>
          </a:bodyPr>
          <a:lstStyle/>
          <a:p>
            <a:r>
              <a:rPr lang="en-GB" dirty="0">
                <a:latin typeface="Comic Sans MS" panose="030F0702030302020204" pitchFamily="66" charset="0"/>
              </a:rPr>
              <a:t>These are poems of survivors - the damaged, exhausted men who return from war in body but never, wholly, in mind. In terse, undecorated language, Armitage conveys their sense of nullification, focusing on war's endlessness, the past barrelling insistently into the present at every turn. At one remove from the wars he's writing about, Armitage positions himself as a witness not to the dead but to the living: a poet for today's unsung victims</a:t>
            </a:r>
            <a:r>
              <a:rPr lang="en-GB" dirty="0" smtClean="0">
                <a:latin typeface="Comic Sans MS" panose="030F0702030302020204" pitchFamily="66" charset="0"/>
              </a:rPr>
              <a:t>.</a:t>
            </a:r>
          </a:p>
          <a:p>
            <a:r>
              <a:rPr lang="en-GB" dirty="0" smtClean="0">
                <a:latin typeface="Comic Sans MS" panose="030F0702030302020204" pitchFamily="66" charset="0"/>
              </a:rPr>
              <a:t>Review of </a:t>
            </a:r>
            <a:r>
              <a:rPr lang="en-GB" i="1" dirty="0" smtClean="0">
                <a:latin typeface="Comic Sans MS" panose="030F0702030302020204" pitchFamily="66" charset="0"/>
              </a:rPr>
              <a:t>Not Dead</a:t>
            </a:r>
            <a:r>
              <a:rPr lang="en-GB" dirty="0" smtClean="0">
                <a:latin typeface="Comic Sans MS" panose="030F0702030302020204" pitchFamily="66" charset="0"/>
              </a:rPr>
              <a:t> from the Guardian</a:t>
            </a:r>
            <a:endParaRPr lang="en-GB" dirty="0">
              <a:latin typeface="Comic Sans MS" panose="030F0702030302020204" pitchFamily="66" charset="0"/>
            </a:endParaRPr>
          </a:p>
        </p:txBody>
      </p:sp>
    </p:spTree>
    <p:extLst>
      <p:ext uri="{BB962C8B-B14F-4D97-AF65-F5344CB8AC3E}">
        <p14:creationId xmlns:p14="http://schemas.microsoft.com/office/powerpoint/2010/main" val="1081016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325562"/>
            <a:ext cx="3231524" cy="2190369"/>
          </a:xfrm>
          <a:ln>
            <a:solidFill>
              <a:schemeClr val="tx1"/>
            </a:solidFill>
          </a:ln>
        </p:spPr>
        <p:txBody>
          <a:bodyPr>
            <a:normAutofit fontScale="92500" lnSpcReduction="10000"/>
          </a:bodyPr>
          <a:lstStyle/>
          <a:p>
            <a:pPr marL="0" indent="0">
              <a:buNone/>
            </a:pPr>
            <a:r>
              <a:rPr lang="en-GB" dirty="0" smtClean="0">
                <a:latin typeface="Comic Sans MS" panose="030F0702030302020204" pitchFamily="66" charset="0"/>
              </a:rPr>
              <a:t>Main Idea/ Theme:</a:t>
            </a:r>
          </a:p>
          <a:p>
            <a:pPr marL="0" indent="0">
              <a:buNone/>
            </a:pPr>
            <a:r>
              <a:rPr lang="en-GB" dirty="0" smtClean="0">
                <a:latin typeface="Comic Sans MS" panose="030F0702030302020204" pitchFamily="66" charset="0"/>
              </a:rPr>
              <a:t>The horrors which are witnessed in war have an impact on those who survive</a:t>
            </a:r>
            <a:endParaRPr lang="en-GB" dirty="0">
              <a:latin typeface="Comic Sans MS" panose="030F0702030302020204" pitchFamily="66" charset="0"/>
            </a:endParaRPr>
          </a:p>
        </p:txBody>
      </p:sp>
      <p:sp>
        <p:nvSpPr>
          <p:cNvPr id="4" name="Title 1"/>
          <p:cNvSpPr txBox="1">
            <a:spLocks/>
          </p:cNvSpPr>
          <p:nvPr/>
        </p:nvSpPr>
        <p:spPr>
          <a:xfrm>
            <a:off x="0" y="0"/>
            <a:ext cx="6619741" cy="1325563"/>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latin typeface="Comic Sans MS" panose="030F0702030302020204" pitchFamily="66" charset="0"/>
              </a:rPr>
              <a:t>Title: The War Photographer</a:t>
            </a:r>
            <a:br>
              <a:rPr lang="en-GB" dirty="0" smtClean="0">
                <a:latin typeface="Comic Sans MS" panose="030F0702030302020204" pitchFamily="66" charset="0"/>
              </a:rPr>
            </a:br>
            <a:r>
              <a:rPr lang="en-GB" dirty="0" smtClean="0">
                <a:latin typeface="Comic Sans MS" panose="030F0702030302020204" pitchFamily="66" charset="0"/>
              </a:rPr>
              <a:t>Poet: Carol Ann Duffy</a:t>
            </a:r>
            <a:endParaRPr lang="en-GB" dirty="0">
              <a:latin typeface="Comic Sans MS" panose="030F0702030302020204" pitchFamily="66" charset="0"/>
            </a:endParaRPr>
          </a:p>
        </p:txBody>
      </p:sp>
      <p:sp>
        <p:nvSpPr>
          <p:cNvPr id="5" name="Content Placeholder 2"/>
          <p:cNvSpPr txBox="1">
            <a:spLocks/>
          </p:cNvSpPr>
          <p:nvPr/>
        </p:nvSpPr>
        <p:spPr>
          <a:xfrm>
            <a:off x="7146699" y="1325562"/>
            <a:ext cx="4688985" cy="237288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Imagery</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Lots of imagery linked to religion and people as ghosts.</a:t>
            </a:r>
            <a:endParaRPr lang="en-GB" dirty="0">
              <a:latin typeface="Comic Sans MS" panose="030F0702030302020204" pitchFamily="66" charset="0"/>
            </a:endParaRPr>
          </a:p>
        </p:txBody>
      </p:sp>
      <p:sp>
        <p:nvSpPr>
          <p:cNvPr id="6" name="Content Placeholder 2"/>
          <p:cNvSpPr txBox="1">
            <a:spLocks/>
          </p:cNvSpPr>
          <p:nvPr/>
        </p:nvSpPr>
        <p:spPr>
          <a:xfrm>
            <a:off x="3726287" y="1325562"/>
            <a:ext cx="3231524" cy="50752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Language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Metaphor</a:t>
            </a:r>
          </a:p>
          <a:p>
            <a:pPr marL="0" indent="0">
              <a:buFont typeface="Arial" panose="020B0604020202020204" pitchFamily="34" charset="0"/>
              <a:buNone/>
            </a:pPr>
            <a:r>
              <a:rPr lang="en-GB" dirty="0" smtClean="0">
                <a:latin typeface="Comic Sans MS" panose="030F0702030302020204" pitchFamily="66" charset="0"/>
              </a:rPr>
              <a:t>Enjambment</a:t>
            </a:r>
          </a:p>
          <a:p>
            <a:pPr marL="0" indent="0">
              <a:buFont typeface="Arial" panose="020B0604020202020204" pitchFamily="34" charset="0"/>
              <a:buNone/>
            </a:pPr>
            <a:r>
              <a:rPr lang="en-GB" dirty="0" smtClean="0">
                <a:latin typeface="Comic Sans MS" panose="030F0702030302020204" pitchFamily="66" charset="0"/>
              </a:rPr>
              <a:t>Caesura</a:t>
            </a:r>
          </a:p>
          <a:p>
            <a:pPr marL="0" indent="0">
              <a:buFont typeface="Arial" panose="020B0604020202020204" pitchFamily="34" charset="0"/>
              <a:buNone/>
            </a:pPr>
            <a:r>
              <a:rPr lang="en-GB" dirty="0" smtClean="0">
                <a:latin typeface="Comic Sans MS" panose="030F0702030302020204" pitchFamily="66" charset="0"/>
              </a:rPr>
              <a:t>Biblical reference</a:t>
            </a:r>
          </a:p>
          <a:p>
            <a:pPr marL="0" indent="0">
              <a:buFont typeface="Arial" panose="020B0604020202020204" pitchFamily="34" charset="0"/>
              <a:buNone/>
            </a:pPr>
            <a:r>
              <a:rPr lang="en-GB" dirty="0" smtClean="0">
                <a:latin typeface="Comic Sans MS" panose="030F0702030302020204" pitchFamily="66" charset="0"/>
              </a:rPr>
              <a:t>Contrast</a:t>
            </a:r>
          </a:p>
          <a:p>
            <a:pPr marL="0" indent="0">
              <a:buFont typeface="Arial" panose="020B0604020202020204" pitchFamily="34" charset="0"/>
              <a:buNone/>
            </a:pPr>
            <a:r>
              <a:rPr lang="en-GB" dirty="0" smtClean="0">
                <a:latin typeface="Comic Sans MS" panose="030F0702030302020204" pitchFamily="66" charset="0"/>
              </a:rPr>
              <a:t>Sibilance</a:t>
            </a:r>
          </a:p>
          <a:p>
            <a:pPr marL="0" indent="0">
              <a:buFont typeface="Arial" panose="020B0604020202020204" pitchFamily="34" charset="0"/>
              <a:buNone/>
            </a:pPr>
            <a:endParaRPr lang="en-GB" dirty="0" smtClean="0">
              <a:latin typeface="Comic Sans MS" panose="030F0702030302020204" pitchFamily="66" charset="0"/>
            </a:endParaRPr>
          </a:p>
        </p:txBody>
      </p:sp>
      <p:sp>
        <p:nvSpPr>
          <p:cNvPr id="7" name="Content Placeholder 2"/>
          <p:cNvSpPr txBox="1">
            <a:spLocks/>
          </p:cNvSpPr>
          <p:nvPr/>
        </p:nvSpPr>
        <p:spPr>
          <a:xfrm>
            <a:off x="189965" y="3686621"/>
            <a:ext cx="3347434" cy="2714177"/>
          </a:xfrm>
          <a:prstGeom prst="rect">
            <a:avLst/>
          </a:prstGeom>
          <a:ln>
            <a:solidFill>
              <a:schemeClr val="tx1"/>
            </a:solidFill>
          </a:ln>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Context: </a:t>
            </a:r>
          </a:p>
          <a:p>
            <a:pPr marL="0" indent="0">
              <a:buFont typeface="Arial" panose="020B0604020202020204" pitchFamily="34" charset="0"/>
              <a:buNone/>
            </a:pPr>
            <a:r>
              <a:rPr lang="en-GB" dirty="0" smtClean="0">
                <a:latin typeface="Comic Sans MS" panose="030F0702030302020204" pitchFamily="66" charset="0"/>
              </a:rPr>
              <a:t>This poem is based on conversations with two war photographers who found it difficult to record the horrors of war and then watch them being treated as abstract images.</a:t>
            </a:r>
            <a:endParaRPr lang="en-GB" dirty="0">
              <a:latin typeface="Comic Sans MS" panose="030F0702030302020204" pitchFamily="66" charset="0"/>
            </a:endParaRPr>
          </a:p>
        </p:txBody>
      </p:sp>
      <p:sp>
        <p:nvSpPr>
          <p:cNvPr id="8" name="Content Placeholder 2"/>
          <p:cNvSpPr txBox="1">
            <a:spLocks/>
          </p:cNvSpPr>
          <p:nvPr/>
        </p:nvSpPr>
        <p:spPr>
          <a:xfrm>
            <a:off x="7129528" y="3851139"/>
            <a:ext cx="4688985" cy="1305618"/>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Tone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Contemplative/ reflective</a:t>
            </a:r>
            <a:endParaRPr lang="en-GB" dirty="0">
              <a:latin typeface="Comic Sans MS" panose="030F0702030302020204" pitchFamily="66" charset="0"/>
            </a:endParaRPr>
          </a:p>
        </p:txBody>
      </p:sp>
      <p:sp>
        <p:nvSpPr>
          <p:cNvPr id="9" name="Content Placeholder 2"/>
          <p:cNvSpPr txBox="1">
            <a:spLocks/>
          </p:cNvSpPr>
          <p:nvPr/>
        </p:nvSpPr>
        <p:spPr>
          <a:xfrm>
            <a:off x="7129528" y="5309446"/>
            <a:ext cx="4688985" cy="1305618"/>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smtClean="0">
                <a:latin typeface="Comic Sans MS" panose="030F0702030302020204" pitchFamily="66" charset="0"/>
              </a:rPr>
              <a:t>Rhythm/ Rhyme</a:t>
            </a:r>
            <a:r>
              <a:rPr lang="en-GB" dirty="0" smtClean="0">
                <a:latin typeface="Comic Sans MS" panose="030F0702030302020204" pitchFamily="66" charset="0"/>
              </a:rPr>
              <a:t>:</a:t>
            </a:r>
          </a:p>
          <a:p>
            <a:pPr marL="0" indent="0">
              <a:buFont typeface="Arial" panose="020B0604020202020204" pitchFamily="34" charset="0"/>
              <a:buNone/>
            </a:pPr>
            <a:r>
              <a:rPr lang="en-GB" dirty="0" smtClean="0">
                <a:latin typeface="Comic Sans MS" panose="030F0702030302020204" pitchFamily="66" charset="0"/>
              </a:rPr>
              <a:t>Regula rhyme scheme (ABBCDD). One break.</a:t>
            </a:r>
            <a:endParaRPr lang="en-GB" dirty="0">
              <a:latin typeface="Comic Sans MS" panose="030F0702030302020204" pitchFamily="66" charset="0"/>
            </a:endParaRPr>
          </a:p>
        </p:txBody>
      </p:sp>
      <p:sp>
        <p:nvSpPr>
          <p:cNvPr id="12" name="Title 1"/>
          <p:cNvSpPr>
            <a:spLocks noGrp="1"/>
          </p:cNvSpPr>
          <p:nvPr>
            <p:ph type="title"/>
          </p:nvPr>
        </p:nvSpPr>
        <p:spPr>
          <a:xfrm>
            <a:off x="7611414" y="128789"/>
            <a:ext cx="4580586" cy="1044084"/>
          </a:xfrm>
        </p:spPr>
        <p:txBody>
          <a:bodyPr>
            <a:normAutofit fontScale="90000"/>
          </a:bodyPr>
          <a:lstStyle/>
          <a:p>
            <a:r>
              <a:rPr lang="en-GB" dirty="0" smtClean="0">
                <a:latin typeface="Comic Sans MS" panose="030F0702030302020204" pitchFamily="66" charset="0"/>
              </a:rPr>
              <a:t>Date: 1985</a:t>
            </a:r>
            <a:br>
              <a:rPr lang="en-GB" dirty="0" smtClean="0">
                <a:latin typeface="Comic Sans MS" panose="030F0702030302020204" pitchFamily="66" charset="0"/>
              </a:rPr>
            </a:br>
            <a:r>
              <a:rPr lang="en-GB" dirty="0" smtClean="0">
                <a:latin typeface="Comic Sans MS" panose="030F0702030302020204" pitchFamily="66" charset="0"/>
              </a:rPr>
              <a:t>Conflict</a:t>
            </a:r>
            <a:endParaRPr lang="en-GB" dirty="0">
              <a:latin typeface="Comic Sans MS" panose="030F0702030302020204" pitchFamily="66" charset="0"/>
            </a:endParaRPr>
          </a:p>
        </p:txBody>
      </p:sp>
    </p:spTree>
    <p:extLst>
      <p:ext uri="{BB962C8B-B14F-4D97-AF65-F5344CB8AC3E}">
        <p14:creationId xmlns:p14="http://schemas.microsoft.com/office/powerpoint/2010/main" val="1777400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347988" y="0"/>
            <a:ext cx="10515600" cy="1017431"/>
          </a:xfrm>
        </p:spPr>
        <p:txBody>
          <a:bodyPr/>
          <a:lstStyle/>
          <a:p>
            <a:r>
              <a:rPr lang="en-GB" dirty="0" smtClean="0">
                <a:latin typeface="Comic Sans MS" panose="030F0702030302020204" pitchFamily="66" charset="0"/>
              </a:rPr>
              <a:t>Carol Ann Duffy</a:t>
            </a:r>
            <a:endParaRPr lang="en-GB" dirty="0">
              <a:latin typeface="Comic Sans MS" panose="030F0702030302020204" pitchFamily="66" charset="0"/>
            </a:endParaRPr>
          </a:p>
        </p:txBody>
      </p:sp>
      <p:sp>
        <p:nvSpPr>
          <p:cNvPr id="5" name="Content Placeholder 4"/>
          <p:cNvSpPr>
            <a:spLocks noGrp="1"/>
          </p:cNvSpPr>
          <p:nvPr>
            <p:ph sz="half" idx="1"/>
          </p:nvPr>
        </p:nvSpPr>
        <p:spPr>
          <a:xfrm>
            <a:off x="3439733" y="1236372"/>
            <a:ext cx="5181600" cy="4090586"/>
          </a:xfrm>
        </p:spPr>
        <p:txBody>
          <a:bodyPr>
            <a:normAutofit lnSpcReduction="10000"/>
          </a:bodyPr>
          <a:lstStyle/>
          <a:p>
            <a:r>
              <a:rPr lang="en-GB" dirty="0" smtClean="0">
                <a:latin typeface="Comic Sans MS" panose="030F0702030302020204" pitchFamily="66" charset="0"/>
              </a:rPr>
              <a:t>Current poet laureate</a:t>
            </a:r>
          </a:p>
          <a:p>
            <a:r>
              <a:rPr lang="en-GB" dirty="0" smtClean="0">
                <a:latin typeface="Comic Sans MS" panose="030F0702030302020204" pitchFamily="66" charset="0"/>
              </a:rPr>
              <a:t>Has written poems from the point of view of the wives of famous men in history.</a:t>
            </a:r>
          </a:p>
          <a:p>
            <a:r>
              <a:rPr lang="en-GB" dirty="0" smtClean="0">
                <a:latin typeface="Comic Sans MS" panose="030F0702030302020204" pitchFamily="66" charset="0"/>
              </a:rPr>
              <a:t>Tends to write from the point of view of those who don’t have a voice (e.g. she wrote a poem about the world cup final from the point of view of a football)</a:t>
            </a:r>
            <a:endParaRPr lang="en-GB" dirty="0">
              <a:latin typeface="Comic Sans MS" panose="030F0702030302020204" pitchFamily="66" charset="0"/>
            </a:endParaRPr>
          </a:p>
        </p:txBody>
      </p:sp>
      <p:pic>
        <p:nvPicPr>
          <p:cNvPr id="2050" name="Picture 2" descr="Image result for carol ann duff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83594" cy="193142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9363" y="0"/>
            <a:ext cx="2262637" cy="3438659"/>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29364" y="3413732"/>
            <a:ext cx="2262636" cy="3444268"/>
          </a:xfrm>
          <a:prstGeom prst="rect">
            <a:avLst/>
          </a:prstGeom>
        </p:spPr>
      </p:pic>
    </p:spTree>
    <p:extLst>
      <p:ext uri="{BB962C8B-B14F-4D97-AF65-F5344CB8AC3E}">
        <p14:creationId xmlns:p14="http://schemas.microsoft.com/office/powerpoint/2010/main" val="16939001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Image result for vietnam war chi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3310" y="595961"/>
            <a:ext cx="9027062" cy="5780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3054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http://i2.cdn.cnn.com/cnnnext/dam/assets/150512085932-31-seventies-timeline-0512-restricted-super-16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516" y="314570"/>
            <a:ext cx="11371016" cy="639882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p:cNvSpPr/>
          <p:nvPr/>
        </p:nvSpPr>
        <p:spPr>
          <a:xfrm>
            <a:off x="8834907" y="2150772"/>
            <a:ext cx="2395471" cy="2292439"/>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269614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587" y="152673"/>
            <a:ext cx="11305326" cy="1538015"/>
          </a:xfrm>
        </p:spPr>
        <p:txBody>
          <a:bodyPr/>
          <a:lstStyle/>
          <a:p>
            <a:r>
              <a:rPr lang="en-GB" dirty="0" smtClean="0">
                <a:latin typeface="Comic Sans MS" panose="030F0702030302020204" pitchFamily="66" charset="0"/>
              </a:rPr>
              <a:t>Comparing the poems</a:t>
            </a:r>
            <a:endParaRPr lang="en-GB" dirty="0">
              <a:latin typeface="Comic Sans MS" panose="030F0702030302020204" pitchFamily="66"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27105015"/>
              </p:ext>
            </p:extLst>
          </p:nvPr>
        </p:nvGraphicFramePr>
        <p:xfrm>
          <a:off x="531587" y="1519706"/>
          <a:ext cx="11316976" cy="5194814"/>
        </p:xfrm>
        <a:graphic>
          <a:graphicData uri="http://schemas.openxmlformats.org/drawingml/2006/table">
            <a:tbl>
              <a:tblPr firstRow="1" bandRow="1">
                <a:tableStyleId>{5C22544A-7EE6-4342-B048-85BDC9FD1C3A}</a:tableStyleId>
              </a:tblPr>
              <a:tblGrid>
                <a:gridCol w="1938910"/>
                <a:gridCol w="4474542"/>
                <a:gridCol w="4903524"/>
              </a:tblGrid>
              <a:tr h="853152">
                <a:tc>
                  <a:txBody>
                    <a:bodyPr/>
                    <a:lstStyle/>
                    <a:p>
                      <a:r>
                        <a:rPr lang="en-GB" dirty="0" smtClean="0">
                          <a:latin typeface="Comic Sans MS" panose="030F0702030302020204" pitchFamily="66" charset="0"/>
                        </a:rPr>
                        <a:t>Feature/ technique</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Remains</a:t>
                      </a:r>
                      <a:endParaRPr lang="en-GB" baseline="0" dirty="0" smtClean="0">
                        <a:latin typeface="Comic Sans MS" panose="030F0702030302020204" pitchFamily="66" charset="0"/>
                      </a:endParaRPr>
                    </a:p>
                    <a:p>
                      <a:r>
                        <a:rPr lang="en-GB" baseline="0" dirty="0" smtClean="0">
                          <a:latin typeface="Comic Sans MS" panose="030F0702030302020204" pitchFamily="66" charset="0"/>
                        </a:rPr>
                        <a:t>Simon Armitage</a:t>
                      </a:r>
                      <a:endParaRPr lang="en-GB" dirty="0">
                        <a:latin typeface="Comic Sans MS" panose="030F0702030302020204" pitchFamily="66" charset="0"/>
                      </a:endParaRPr>
                    </a:p>
                  </a:txBody>
                  <a:tcPr/>
                </a:tc>
                <a:tc>
                  <a:txBody>
                    <a:bodyPr/>
                    <a:lstStyle/>
                    <a:p>
                      <a:r>
                        <a:rPr lang="en-GB" baseline="0" dirty="0" smtClean="0">
                          <a:latin typeface="Comic Sans MS" panose="030F0702030302020204" pitchFamily="66" charset="0"/>
                        </a:rPr>
                        <a:t>War Photographer</a:t>
                      </a:r>
                      <a:endParaRPr lang="en-GB" baseline="0" dirty="0" smtClean="0">
                        <a:latin typeface="Comic Sans MS" panose="030F0702030302020204" pitchFamily="66" charset="0"/>
                      </a:endParaRPr>
                    </a:p>
                    <a:p>
                      <a:r>
                        <a:rPr lang="en-GB" baseline="0" dirty="0" smtClean="0">
                          <a:latin typeface="Comic Sans MS" panose="030F0702030302020204" pitchFamily="66" charset="0"/>
                        </a:rPr>
                        <a:t>Carol Ann Duffy</a:t>
                      </a:r>
                      <a:endParaRPr lang="en-GB" dirty="0" smtClean="0">
                        <a:latin typeface="Comic Sans MS" panose="030F0702030302020204" pitchFamily="66" charset="0"/>
                      </a:endParaRPr>
                    </a:p>
                    <a:p>
                      <a:endParaRPr lang="en-GB" dirty="0">
                        <a:latin typeface="Comic Sans MS" panose="030F0702030302020204" pitchFamily="66" charset="0"/>
                      </a:endParaRPr>
                    </a:p>
                  </a:txBody>
                  <a:tcPr/>
                </a:tc>
              </a:tr>
              <a:tr h="1339404">
                <a:tc>
                  <a:txBody>
                    <a:bodyPr/>
                    <a:lstStyle/>
                    <a:p>
                      <a:r>
                        <a:rPr lang="en-GB" dirty="0" smtClean="0">
                          <a:latin typeface="Comic Sans MS" panose="030F0702030302020204" pitchFamily="66" charset="0"/>
                        </a:rPr>
                        <a:t>War and</a:t>
                      </a:r>
                      <a:r>
                        <a:rPr lang="en-GB" baseline="0" dirty="0" smtClean="0">
                          <a:latin typeface="Comic Sans MS" panose="030F0702030302020204" pitchFamily="66" charset="0"/>
                        </a:rPr>
                        <a:t> conflict have mental, as well as physical consequences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 memories</a:t>
                      </a:r>
                      <a:r>
                        <a:rPr lang="en-GB" baseline="0" dirty="0" smtClean="0">
                          <a:latin typeface="Comic Sans MS" panose="030F0702030302020204" pitchFamily="66" charset="0"/>
                        </a:rPr>
                        <a:t> of war ‘remain’ long after the events and haunt the soldier who killed the man.</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The photographer finds</a:t>
                      </a:r>
                      <a:r>
                        <a:rPr lang="en-GB" baseline="0" dirty="0" smtClean="0">
                          <a:latin typeface="Comic Sans MS" panose="030F0702030302020204" pitchFamily="66" charset="0"/>
                        </a:rPr>
                        <a:t> returning to normal life unsettling as it creates a sense of guilt in him when he contrasts it with what he has seen in conflict zones.</a:t>
                      </a:r>
                      <a:endParaRPr lang="en-GB" dirty="0">
                        <a:latin typeface="Comic Sans MS" panose="030F0702030302020204" pitchFamily="66" charset="0"/>
                      </a:endParaRPr>
                    </a:p>
                  </a:txBody>
                  <a:tcPr/>
                </a:tc>
              </a:tr>
              <a:tr h="853152">
                <a:tc>
                  <a:txBody>
                    <a:bodyPr/>
                    <a:lstStyle/>
                    <a:p>
                      <a:r>
                        <a:rPr lang="en-GB" dirty="0" smtClean="0">
                          <a:latin typeface="Comic Sans MS" panose="030F0702030302020204" pitchFamily="66" charset="0"/>
                        </a:rPr>
                        <a:t>Stream of</a:t>
                      </a:r>
                      <a:r>
                        <a:rPr lang="en-GB" baseline="0" dirty="0" smtClean="0">
                          <a:latin typeface="Comic Sans MS" panose="030F0702030302020204" pitchFamily="66" charset="0"/>
                        </a:rPr>
                        <a:t> consciousness/ narrative forms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Moves from action to reflection and guilt</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Moves</a:t>
                      </a:r>
                      <a:r>
                        <a:rPr lang="en-GB" baseline="0" dirty="0" smtClean="0">
                          <a:latin typeface="Comic Sans MS" panose="030F0702030302020204" pitchFamily="66" charset="0"/>
                        </a:rPr>
                        <a:t> from action to reflection to presenting different consumers of the photographer’s work</a:t>
                      </a:r>
                      <a:endParaRPr lang="en-GB" dirty="0">
                        <a:latin typeface="Comic Sans MS" panose="030F0702030302020204" pitchFamily="66" charset="0"/>
                      </a:endParaRPr>
                    </a:p>
                  </a:txBody>
                  <a:tcPr/>
                </a:tc>
              </a:tr>
              <a:tr h="494287">
                <a:tc>
                  <a:txBody>
                    <a:bodyPr/>
                    <a:lstStyle/>
                    <a:p>
                      <a:r>
                        <a:rPr lang="en-GB" dirty="0" smtClean="0">
                          <a:latin typeface="Comic Sans MS" panose="030F0702030302020204" pitchFamily="66" charset="0"/>
                        </a:rPr>
                        <a:t>Role</a:t>
                      </a:r>
                      <a:r>
                        <a:rPr lang="en-GB" baseline="0" dirty="0" smtClean="0">
                          <a:latin typeface="Comic Sans MS" panose="030F0702030302020204" pitchFamily="66" charset="0"/>
                        </a:rPr>
                        <a:t> of the witness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Duty of the poet to help</a:t>
                      </a:r>
                      <a:r>
                        <a:rPr lang="en-GB" baseline="0" dirty="0" smtClean="0">
                          <a:latin typeface="Comic Sans MS" panose="030F0702030302020204" pitchFamily="66" charset="0"/>
                        </a:rPr>
                        <a:t> people to understand the continued suffering of soldiers</a:t>
                      </a:r>
                      <a:endParaRPr lang="en-GB" dirty="0">
                        <a:latin typeface="Comic Sans MS" panose="030F0702030302020204" pitchFamily="66" charset="0"/>
                      </a:endParaRPr>
                    </a:p>
                  </a:txBody>
                  <a:tcPr/>
                </a:tc>
                <a:tc>
                  <a:txBody>
                    <a:bodyPr/>
                    <a:lstStyle/>
                    <a:p>
                      <a:r>
                        <a:rPr lang="en-GB" dirty="0" smtClean="0">
                          <a:latin typeface="Comic Sans MS" panose="030F0702030302020204" pitchFamily="66" charset="0"/>
                        </a:rPr>
                        <a:t>Sacred duty to honestly and sensitively</a:t>
                      </a:r>
                      <a:r>
                        <a:rPr lang="en-GB" baseline="0" dirty="0" smtClean="0">
                          <a:latin typeface="Comic Sans MS" panose="030F0702030302020204" pitchFamily="66" charset="0"/>
                        </a:rPr>
                        <a:t> record the truth, no matter how hard</a:t>
                      </a:r>
                      <a:endParaRPr lang="en-GB" dirty="0">
                        <a:latin typeface="Comic Sans MS" panose="030F0702030302020204" pitchFamily="66" charset="0"/>
                      </a:endParaRPr>
                    </a:p>
                  </a:txBody>
                  <a:tcPr/>
                </a:tc>
              </a:tr>
              <a:tr h="494287">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r>
              <a:tr h="494287">
                <a:tc>
                  <a:txBody>
                    <a:bodyPr/>
                    <a:lstStyle/>
                    <a:p>
                      <a:endParaRPr lang="en-GB">
                        <a:latin typeface="Comic Sans MS" panose="030F0702030302020204" pitchFamily="66" charset="0"/>
                      </a:endParaRPr>
                    </a:p>
                  </a:txBody>
                  <a:tcPr/>
                </a:tc>
                <a:tc>
                  <a:txBody>
                    <a:bodyPr/>
                    <a:lstStyle/>
                    <a:p>
                      <a:endParaRPr lang="en-GB">
                        <a:latin typeface="Comic Sans MS" panose="030F0702030302020204" pitchFamily="66" charset="0"/>
                      </a:endParaRPr>
                    </a:p>
                  </a:txBody>
                  <a:tcPr/>
                </a:tc>
                <a:tc>
                  <a:txBody>
                    <a:bodyPr/>
                    <a:lstStyle/>
                    <a:p>
                      <a:endParaRPr lang="en-GB" dirty="0">
                        <a:latin typeface="Comic Sans MS" panose="030F0702030302020204" pitchFamily="66" charset="0"/>
                      </a:endParaRPr>
                    </a:p>
                  </a:txBody>
                  <a:tcPr/>
                </a:tc>
              </a:tr>
            </a:tbl>
          </a:graphicData>
        </a:graphic>
      </p:graphicFrame>
    </p:spTree>
    <p:extLst>
      <p:ext uri="{BB962C8B-B14F-4D97-AF65-F5344CB8AC3E}">
        <p14:creationId xmlns:p14="http://schemas.microsoft.com/office/powerpoint/2010/main" val="19093598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260</TotalTime>
  <Words>655</Words>
  <Application>Microsoft Office PowerPoint</Application>
  <PresentationFormat>Widescreen</PresentationFormat>
  <Paragraphs>70</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Comic Sans MS</vt:lpstr>
      <vt:lpstr>Office Theme</vt:lpstr>
      <vt:lpstr>Starter: Remind yourself of Remains and War Photographer</vt:lpstr>
      <vt:lpstr>Assessment Objectives</vt:lpstr>
      <vt:lpstr>Date: 2008 Conflict</vt:lpstr>
      <vt:lpstr>Simon Armitage</vt:lpstr>
      <vt:lpstr>Date: 1985 Conflict</vt:lpstr>
      <vt:lpstr>Carol Ann Duffy</vt:lpstr>
      <vt:lpstr>PowerPoint Presentation</vt:lpstr>
      <vt:lpstr>PowerPoint Presentation</vt:lpstr>
      <vt:lpstr>Comparing the poems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Lix</dc:creator>
  <cp:lastModifiedBy>DYER, A</cp:lastModifiedBy>
  <cp:revision>15</cp:revision>
  <dcterms:created xsi:type="dcterms:W3CDTF">2016-12-04T22:21:02Z</dcterms:created>
  <dcterms:modified xsi:type="dcterms:W3CDTF">2016-12-09T09:42:55Z</dcterms:modified>
</cp:coreProperties>
</file>