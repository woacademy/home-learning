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3" r:id="rId6"/>
    <p:sldId id="266" r:id="rId7"/>
    <p:sldId id="265" r:id="rId8"/>
    <p:sldId id="259" r:id="rId9"/>
    <p:sldId id="261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8454A-19CC-4767-8B18-74BAFD52256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C6FCE-B06F-4CA7-9616-6772612629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36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Resource 1. Additional help for </a:t>
            </a:r>
            <a:r>
              <a:rPr lang="en-GB" smtClean="0"/>
              <a:t>this task </a:t>
            </a:r>
            <a:r>
              <a:rPr lang="en-GB" dirty="0" smtClean="0"/>
              <a:t>can be found on p.</a:t>
            </a:r>
            <a:r>
              <a:rPr lang="en-GB" baseline="0" dirty="0" smtClean="0"/>
              <a:t> 6 &amp; 7 in the poetry student book.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B29E8A-9E28-4D1B-9C77-3B5F9665D02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838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0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05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11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86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481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96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8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95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8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4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18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7C33-83D5-40E7-AA49-600BECFD8777}" type="datetimeFigureOut">
              <a:rPr lang="en-GB" smtClean="0"/>
              <a:t>13/12/2016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1D401-CB51-49CF-BC15-49EE022D6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39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www.youtube.com/watch?v=lo0GMqqEuu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Starter: Remind yourself of </a:t>
            </a:r>
            <a:r>
              <a:rPr lang="en-GB" i="1" dirty="0" smtClean="0">
                <a:latin typeface="Comic Sans MS" panose="030F0702030302020204" pitchFamily="66" charset="0"/>
              </a:rPr>
              <a:t>London</a:t>
            </a:r>
            <a:r>
              <a:rPr lang="en-GB" dirty="0" smtClean="0">
                <a:latin typeface="Comic Sans MS" panose="030F0702030302020204" pitchFamily="66" charset="0"/>
              </a:rPr>
              <a:t> and </a:t>
            </a:r>
            <a:r>
              <a:rPr lang="en-GB" i="1" dirty="0" smtClean="0">
                <a:latin typeface="Comic Sans MS" panose="030F0702030302020204" pitchFamily="66" charset="0"/>
              </a:rPr>
              <a:t>Checking out me History</a:t>
            </a:r>
            <a:endParaRPr lang="en-GB" dirty="0">
              <a:latin typeface="Comic Sans MS" panose="030F0702030302020204" pitchFamily="66" charset="0"/>
            </a:endParaRPr>
          </a:p>
        </p:txBody>
      </p:sp>
      <p:pic>
        <p:nvPicPr>
          <p:cNvPr id="6" name="Picture 8" descr="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35" y="1609858"/>
            <a:ext cx="3806934" cy="4462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Image result for checking out me histo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769" y="1609857"/>
            <a:ext cx="7437552" cy="4462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9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Assessment Objectives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014" y="1825624"/>
            <a:ext cx="3579254" cy="4845631"/>
          </a:xfrm>
          <a:solidFill>
            <a:srgbClr val="FFFF00"/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AO1: Read, understand and respond to texts. Students should be able to: maintain a critical style and develop an informed person response; use textual references, including quotations, to support and illustrate interpretations.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05462" y="365125"/>
            <a:ext cx="2748338" cy="1325563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4032160" y="1825624"/>
            <a:ext cx="2574701" cy="4884268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mtClean="0">
                <a:latin typeface="Comic Sans MS" panose="030F0702030302020204" pitchFamily="66" charset="0"/>
              </a:rPr>
              <a:t>AO2: Analyse the language, form and structure used by a writer to create meanings and effects, using relevant subject terminology where appropriate. 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839753" y="1825624"/>
            <a:ext cx="2381518" cy="4137293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mtClean="0">
                <a:latin typeface="Comic Sans MS" panose="030F0702030302020204" pitchFamily="66" charset="0"/>
              </a:rPr>
              <a:t>AO3: Show understanding of the relationships between texts and the contexts in which they were written. 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454163" y="1825624"/>
            <a:ext cx="2420155" cy="4137293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AO4: Use a range of vocabulary and sentence structures for clarity, purpose and effect, with accurate spelling and punctuation. </a:t>
            </a: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90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35" y="1325562"/>
            <a:ext cx="3330264" cy="2164613"/>
          </a:xfrm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Main Ideas/ Theme:</a:t>
            </a:r>
          </a:p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The power to influence/ suppress history</a:t>
            </a:r>
          </a:p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The power to change history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73795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>
                <a:latin typeface="Comic Sans MS" panose="030F0702030302020204" pitchFamily="66" charset="0"/>
              </a:rPr>
              <a:t>Title: Checking out me history</a:t>
            </a:r>
            <a:br>
              <a:rPr lang="en-GB" dirty="0" smtClean="0">
                <a:latin typeface="Comic Sans MS" panose="030F0702030302020204" pitchFamily="66" charset="0"/>
              </a:rPr>
            </a:br>
            <a:r>
              <a:rPr lang="en-GB" dirty="0" smtClean="0">
                <a:latin typeface="Comic Sans MS" panose="030F0702030302020204" pitchFamily="66" charset="0"/>
              </a:rPr>
              <a:t>Poet: John </a:t>
            </a:r>
            <a:r>
              <a:rPr lang="en-GB" dirty="0" err="1" smtClean="0">
                <a:latin typeface="Comic Sans MS" panose="030F0702030302020204" pitchFamily="66" charset="0"/>
              </a:rPr>
              <a:t>Agard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146699" y="1325562"/>
            <a:ext cx="4688985" cy="23728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Imagery: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Used about the west-African and Jamaican figures in the poem to make them seem more alive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726287" y="1325562"/>
            <a:ext cx="3231524" cy="5075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Language: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Dialect features (Caribbean creole)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Repetition (“but”)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Anaphora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Free verse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Quatrains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Metaphor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9965" y="3686621"/>
            <a:ext cx="3347434" cy="27141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Context: </a:t>
            </a:r>
            <a:r>
              <a:rPr lang="en-GB" dirty="0" err="1" smtClean="0">
                <a:latin typeface="Comic Sans MS" panose="030F0702030302020204" pitchFamily="66" charset="0"/>
              </a:rPr>
              <a:t>Agard</a:t>
            </a:r>
            <a:r>
              <a:rPr lang="en-GB" dirty="0" smtClean="0">
                <a:latin typeface="Comic Sans MS" panose="030F0702030302020204" pitchFamily="66" charset="0"/>
              </a:rPr>
              <a:t> is trying to understand his own identity and how that lines up with what he was taught in school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129528" y="3851139"/>
            <a:ext cx="4688985" cy="13056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Tone: Protest/ anger but moving onto a more optimistic tone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129528" y="5309446"/>
            <a:ext cx="4688985" cy="13056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Rhythm/ Rhyme: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611414" y="128789"/>
            <a:ext cx="4580586" cy="1044084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Comic Sans MS" panose="030F0702030302020204" pitchFamily="66" charset="0"/>
              </a:rPr>
              <a:t>Date:</a:t>
            </a:r>
            <a:br>
              <a:rPr lang="en-GB" dirty="0" smtClean="0">
                <a:latin typeface="Comic Sans MS" panose="030F0702030302020204" pitchFamily="66" charset="0"/>
              </a:rPr>
            </a:br>
            <a:r>
              <a:rPr lang="en-GB" dirty="0" smtClean="0">
                <a:latin typeface="Comic Sans MS" panose="030F0702030302020204" pitchFamily="66" charset="0"/>
              </a:rPr>
              <a:t>Power </a:t>
            </a:r>
            <a:r>
              <a:rPr lang="en-GB" dirty="0">
                <a:latin typeface="Comic Sans MS" panose="030F0702030302020204" pitchFamily="66" charset="0"/>
              </a:rPr>
              <a:t>&amp;</a:t>
            </a:r>
            <a:r>
              <a:rPr lang="en-GB" dirty="0" smtClean="0">
                <a:latin typeface="Comic Sans MS" panose="030F0702030302020204" pitchFamily="66" charset="0"/>
              </a:rPr>
              <a:t> conflict</a:t>
            </a: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06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9744" y="1"/>
            <a:ext cx="3465445" cy="1030310"/>
          </a:xfrm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John </a:t>
            </a:r>
            <a:r>
              <a:rPr lang="en-GB" dirty="0" err="1" smtClean="0">
                <a:latin typeface="Comic Sans MS" panose="030F0702030302020204" pitchFamily="66" charset="0"/>
              </a:rPr>
              <a:t>Agard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290" y="2276386"/>
            <a:ext cx="10515600" cy="2360008"/>
          </a:xfrm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Born in Guyana (which was a British Colony at the time).</a:t>
            </a:r>
          </a:p>
          <a:p>
            <a:r>
              <a:rPr lang="en-GB" dirty="0" smtClean="0">
                <a:latin typeface="Comic Sans MS" panose="030F0702030302020204" pitchFamily="66" charset="0"/>
              </a:rPr>
              <a:t>Moved to London in 1977</a:t>
            </a:r>
          </a:p>
          <a:p>
            <a:r>
              <a:rPr lang="en-GB" dirty="0" smtClean="0">
                <a:latin typeface="Comic Sans MS" panose="030F0702030302020204" pitchFamily="66" charset="0"/>
              </a:rPr>
              <a:t>Has worked as a teacher, a librarian and a journalist</a:t>
            </a:r>
          </a:p>
          <a:p>
            <a:r>
              <a:rPr lang="en-GB" dirty="0" smtClean="0">
                <a:latin typeface="Comic Sans MS" panose="030F0702030302020204" pitchFamily="66" charset="0"/>
              </a:rPr>
              <a:t>Has been writer in residence at several </a:t>
            </a:r>
            <a:r>
              <a:rPr lang="en-GB" dirty="0">
                <a:latin typeface="Comic Sans MS" panose="030F0702030302020204" pitchFamily="66" charset="0"/>
              </a:rPr>
              <a:t>o</a:t>
            </a:r>
            <a:r>
              <a:rPr lang="en-GB" dirty="0" smtClean="0">
                <a:latin typeface="Comic Sans MS" panose="030F0702030302020204" pitchFamily="66" charset="0"/>
              </a:rPr>
              <a:t>rganisations</a:t>
            </a:r>
            <a:endParaRPr lang="en-GB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Image result for checking out me hist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49744" cy="186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16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checking out me hist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95" y="321972"/>
            <a:ext cx="11267986" cy="635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33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106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34885" cy="261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result for dick whittingt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18626"/>
            <a:ext cx="3113290" cy="42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mage result for dish ran away with the spo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1546" y="2498436"/>
            <a:ext cx="2300453" cy="194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Image result for cow jumped over the mo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621" y="2515360"/>
            <a:ext cx="2025472" cy="202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3289" y="2618626"/>
            <a:ext cx="3501345" cy="4239374"/>
          </a:xfrm>
          <a:prstGeom prst="rect">
            <a:avLst/>
          </a:prstGeom>
        </p:spPr>
      </p:pic>
      <p:pic>
        <p:nvPicPr>
          <p:cNvPr id="6156" name="Picture 12" descr="http://combiboilersleeds.com/images/columbus/columbus-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6879" y="4460136"/>
            <a:ext cx="3035120" cy="239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Related imag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091" y="4460136"/>
            <a:ext cx="2414788" cy="241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Image result for robin hoo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290" y="0"/>
            <a:ext cx="4992709" cy="249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Image result for old king cole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999" y="0"/>
            <a:ext cx="2021395" cy="261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4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upload.wikimedia.org/wikipedia/commons/thumb/3/32/G%C3%A9n%C3%A9ral_Toussaint_Louverture.jpg/220px-G%C3%A9n%C3%A9ral_Toussaint_Louver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69" y="276247"/>
            <a:ext cx="2628594" cy="437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 result for nanny de maro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079" y="276247"/>
            <a:ext cx="2675009" cy="387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mage result for mary seaco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673" y="250704"/>
            <a:ext cx="2639141" cy="439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Image result for shaka zulu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2861" y="276247"/>
            <a:ext cx="3177107" cy="437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27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35" y="1325562"/>
            <a:ext cx="3231524" cy="2190369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Main Idea/ Theme: The misery caused by those in power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66197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>
                <a:latin typeface="Comic Sans MS" panose="030F0702030302020204" pitchFamily="66" charset="0"/>
              </a:rPr>
              <a:t>Title: London</a:t>
            </a:r>
            <a:br>
              <a:rPr lang="en-GB" dirty="0" smtClean="0">
                <a:latin typeface="Comic Sans MS" panose="030F0702030302020204" pitchFamily="66" charset="0"/>
              </a:rPr>
            </a:br>
            <a:r>
              <a:rPr lang="en-GB" dirty="0" smtClean="0">
                <a:latin typeface="Comic Sans MS" panose="030F0702030302020204" pitchFamily="66" charset="0"/>
              </a:rPr>
              <a:t>Poet: William Blake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146699" y="1325562"/>
            <a:ext cx="4688985" cy="23728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Imagery: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Restrictions everywhere, even in the minds of people and the streets themselves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726287" y="1325562"/>
            <a:ext cx="3231524" cy="507523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Language: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Anaphora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Alliteration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Synecdoche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Repetition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Dual meanings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Hyperbole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Metaphor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Oxymoron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9965" y="3686621"/>
            <a:ext cx="3347434" cy="27141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Context: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Blake was a Romantic poet who believed in social change and the corrupt power of the rich in Britain. This is based on a walk through London one evening.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129528" y="3851139"/>
            <a:ext cx="4688985" cy="13056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Tone: Critical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129528" y="5309446"/>
            <a:ext cx="4688985" cy="13056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Rhythm/ Rhyme: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Comic Sans MS" panose="030F0702030302020204" pitchFamily="66" charset="0"/>
              </a:rPr>
              <a:t>ABAB, quatrains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611414" y="128789"/>
            <a:ext cx="4580586" cy="1044084"/>
          </a:xfrm>
        </p:spPr>
        <p:txBody>
          <a:bodyPr>
            <a:normAutofit fontScale="90000"/>
          </a:bodyPr>
          <a:lstStyle/>
          <a:p>
            <a:r>
              <a:rPr lang="en-GB" smtClean="0">
                <a:latin typeface="Comic Sans MS" panose="030F0702030302020204" pitchFamily="66" charset="0"/>
              </a:rPr>
              <a:t>Date</a:t>
            </a:r>
            <a:r>
              <a:rPr lang="en-GB" smtClean="0">
                <a:latin typeface="Comic Sans MS" panose="030F0702030302020204" pitchFamily="66" charset="0"/>
              </a:rPr>
              <a:t>: 1794</a:t>
            </a:r>
            <a:r>
              <a:rPr lang="en-GB" dirty="0" smtClean="0">
                <a:latin typeface="Comic Sans MS" panose="030F0702030302020204" pitchFamily="66" charset="0"/>
              </a:rPr>
              <a:t/>
            </a:r>
            <a:br>
              <a:rPr lang="en-GB" dirty="0" smtClean="0">
                <a:latin typeface="Comic Sans MS" panose="030F0702030302020204" pitchFamily="66" charset="0"/>
              </a:rPr>
            </a:br>
            <a:r>
              <a:rPr lang="en-GB" dirty="0" smtClean="0">
                <a:latin typeface="Comic Sans MS" panose="030F0702030302020204" pitchFamily="66" charset="0"/>
              </a:rPr>
              <a:t>Power </a:t>
            </a:r>
            <a:r>
              <a:rPr lang="en-GB" dirty="0">
                <a:latin typeface="Comic Sans MS" panose="030F0702030302020204" pitchFamily="66" charset="0"/>
              </a:rPr>
              <a:t>&amp;</a:t>
            </a:r>
            <a:r>
              <a:rPr lang="en-GB" dirty="0" smtClean="0">
                <a:latin typeface="Comic Sans MS" panose="030F0702030302020204" pitchFamily="66" charset="0"/>
              </a:rPr>
              <a:t> conflict</a:t>
            </a: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4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5470" y="0"/>
            <a:ext cx="8765146" cy="1325563"/>
          </a:xfrm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William Blake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18218" y="1571472"/>
            <a:ext cx="6284892" cy="46103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Comic Sans MS" panose="030F0702030302020204" pitchFamily="66" charset="0"/>
              </a:rPr>
              <a:t>Blake lived in London </a:t>
            </a:r>
            <a:r>
              <a:rPr lang="en-GB" dirty="0" smtClean="0">
                <a:latin typeface="Comic Sans MS" panose="030F0702030302020204" pitchFamily="66" charset="0"/>
              </a:rPr>
              <a:t>for most of his life– </a:t>
            </a:r>
            <a:r>
              <a:rPr lang="en-GB" dirty="0">
                <a:latin typeface="Comic Sans MS" panose="030F0702030302020204" pitchFamily="66" charset="0"/>
              </a:rPr>
              <a:t>so was well placed to comment on what was happening </a:t>
            </a:r>
            <a:r>
              <a:rPr lang="en-GB" dirty="0" smtClean="0">
                <a:latin typeface="Comic Sans MS" panose="030F0702030302020204" pitchFamily="66" charset="0"/>
              </a:rPr>
              <a:t>there in the 18</a:t>
            </a:r>
            <a:r>
              <a:rPr lang="en-GB" baseline="30000" dirty="0" smtClean="0">
                <a:latin typeface="Comic Sans MS" panose="030F0702030302020204" pitchFamily="66" charset="0"/>
              </a:rPr>
              <a:t>th</a:t>
            </a:r>
            <a:r>
              <a:rPr lang="en-GB" dirty="0" smtClean="0">
                <a:latin typeface="Comic Sans MS" panose="030F0702030302020204" pitchFamily="66" charset="0"/>
              </a:rPr>
              <a:t> century.</a:t>
            </a:r>
            <a:endParaRPr lang="en-GB" dirty="0">
              <a:latin typeface="Comic Sans MS" panose="030F0702030302020204" pitchFamily="66" charset="0"/>
            </a:endParaRPr>
          </a:p>
          <a:p>
            <a:r>
              <a:rPr lang="en-GB" dirty="0">
                <a:latin typeface="Comic Sans MS" panose="030F0702030302020204" pitchFamily="66" charset="0"/>
              </a:rPr>
              <a:t>Blake lost faith in religion – this was due to the Church refusing to help the children that </a:t>
            </a:r>
            <a:r>
              <a:rPr lang="en-GB" dirty="0" smtClean="0">
                <a:latin typeface="Comic Sans MS" panose="030F0702030302020204" pitchFamily="66" charset="0"/>
              </a:rPr>
              <a:t>suffered </a:t>
            </a:r>
            <a:r>
              <a:rPr lang="en-GB" dirty="0">
                <a:latin typeface="Comic Sans MS" panose="030F0702030302020204" pitchFamily="66" charset="0"/>
              </a:rPr>
              <a:t>– a frequent theme in his poetry</a:t>
            </a:r>
            <a:r>
              <a:rPr lang="en-GB" dirty="0" smtClean="0">
                <a:latin typeface="Comic Sans MS" panose="030F0702030302020204" pitchFamily="66" charset="0"/>
              </a:rPr>
              <a:t>! Have a look for this theme in </a:t>
            </a:r>
            <a:r>
              <a:rPr lang="en-GB" i="1" dirty="0" smtClean="0">
                <a:latin typeface="Comic Sans MS" panose="030F0702030302020204" pitchFamily="66" charset="0"/>
              </a:rPr>
              <a:t>London</a:t>
            </a:r>
            <a:r>
              <a:rPr lang="en-GB" dirty="0" smtClean="0">
                <a:latin typeface="Comic Sans MS" panose="030F0702030302020204" pitchFamily="66" charset="0"/>
              </a:rPr>
              <a:t>.</a:t>
            </a:r>
            <a:endParaRPr lang="en-GB" dirty="0">
              <a:latin typeface="Comic Sans MS" panose="030F0702030302020204" pitchFamily="66" charset="0"/>
            </a:endParaRPr>
          </a:p>
        </p:txBody>
      </p:sp>
      <p:pic>
        <p:nvPicPr>
          <p:cNvPr id="4098" name="Picture 2" descr="Image result for william blak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356833" cy="235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william blake poem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272" y="1571472"/>
            <a:ext cx="2978946" cy="4721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59864"/>
            <a:ext cx="2841195" cy="439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87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Arrow 5"/>
          <p:cNvSpPr/>
          <p:nvPr/>
        </p:nvSpPr>
        <p:spPr>
          <a:xfrm>
            <a:off x="179513" y="1049328"/>
            <a:ext cx="11756456" cy="535632"/>
          </a:xfrm>
          <a:prstGeom prst="rightArrow">
            <a:avLst/>
          </a:prstGeom>
          <a:gradFill flip="none" rotWithShape="1">
            <a:gsLst>
              <a:gs pos="49000">
                <a:srgbClr val="FFC000"/>
              </a:gs>
              <a:gs pos="0">
                <a:srgbClr val="FF0000"/>
              </a:gs>
              <a:gs pos="100000">
                <a:srgbClr val="00B050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6124"/>
            <a:ext cx="39835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Show some understanding of implicit ideas, perspectives and contextual factors.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(Level 2-3- 3/4)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86385" y="0"/>
            <a:ext cx="41426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Thoughtfully consider ideas, perspectives and contextual factors by examining links.</a:t>
            </a:r>
          </a:p>
          <a:p>
            <a:r>
              <a:rPr lang="en-GB" dirty="0" smtClean="0">
                <a:solidFill>
                  <a:schemeClr val="accent2"/>
                </a:solidFill>
              </a:rPr>
              <a:t>(Level 4-5- 5-7)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9008" y="0"/>
            <a:ext cx="40807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Explore convincing links between ideas, perspectives and contextual factors. </a:t>
            </a:r>
            <a:r>
              <a:rPr lang="en-GB" dirty="0" smtClean="0">
                <a:solidFill>
                  <a:srgbClr val="00B050"/>
                </a:solidFill>
              </a:rPr>
              <a:t>(Level 6- 8/9)</a:t>
            </a:r>
            <a:endParaRPr lang="en-GB" dirty="0">
              <a:solidFill>
                <a:srgbClr val="00B05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353568" y="1950720"/>
            <a:ext cx="11265408" cy="12192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53568" y="1950720"/>
            <a:ext cx="1" cy="677444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129356" y="1959219"/>
            <a:ext cx="1357" cy="1415133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330114" y="1950720"/>
            <a:ext cx="2874" cy="1117944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7265308" y="1941545"/>
            <a:ext cx="1" cy="677444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25" idx="0"/>
          </p:cNvCxnSpPr>
          <p:nvPr/>
        </p:nvCxnSpPr>
        <p:spPr>
          <a:xfrm flipH="1">
            <a:off x="6303259" y="1950310"/>
            <a:ext cx="405" cy="1957289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11587669" y="1989950"/>
            <a:ext cx="1" cy="677444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418770" y="1962912"/>
            <a:ext cx="2" cy="36576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-45358" y="1572213"/>
            <a:ext cx="79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1757</a:t>
            </a:r>
            <a:endParaRPr lang="en-GB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1326941" y="1607099"/>
            <a:ext cx="79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1827</a:t>
            </a:r>
            <a:endParaRPr lang="en-GB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904738" y="1572213"/>
            <a:ext cx="79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1794</a:t>
            </a:r>
            <a:endParaRPr lang="en-GB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4080199" y="1560895"/>
            <a:ext cx="79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1789</a:t>
            </a:r>
            <a:endParaRPr lang="en-GB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769408" y="1575099"/>
            <a:ext cx="79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1780</a:t>
            </a:r>
            <a:endParaRPr lang="en-GB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992468" y="1578587"/>
            <a:ext cx="79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1793</a:t>
            </a:r>
            <a:endParaRPr lang="en-GB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3805209" y="2236589"/>
            <a:ext cx="134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The French Revolution</a:t>
            </a:r>
            <a:endParaRPr lang="en-GB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5253353" y="3907599"/>
            <a:ext cx="20998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London is published as part of </a:t>
            </a:r>
            <a:r>
              <a:rPr lang="en-GB" b="1" i="1" dirty="0" smtClean="0"/>
              <a:t>Songs of Innocence and Experience</a:t>
            </a:r>
            <a:endParaRPr lang="en-GB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2412440" y="3363074"/>
            <a:ext cx="1831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Blake is involved in the Gordon riot.</a:t>
            </a:r>
            <a:endParaRPr lang="en-GB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4416057" y="3051187"/>
            <a:ext cx="1887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Britain declares war on France</a:t>
            </a:r>
            <a:endParaRPr lang="en-GB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519950" y="2577695"/>
            <a:ext cx="1664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Irish Rebellion</a:t>
            </a:r>
            <a:endParaRPr lang="en-GB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6816602" y="1554350"/>
            <a:ext cx="79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1798</a:t>
            </a:r>
            <a:endParaRPr lang="en-GB" b="1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057741" y="3363074"/>
            <a:ext cx="3711643" cy="11278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52441" y="5082290"/>
            <a:ext cx="4727542" cy="1631216"/>
          </a:xfrm>
          <a:prstGeom prst="rect">
            <a:avLst/>
          </a:prstGeom>
          <a:solidFill>
            <a:srgbClr val="92D050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Comic Sans MS" panose="030F0702030302020204" pitchFamily="66" charset="0"/>
              </a:rPr>
              <a:t>Bear in mind that this poem is in the Conflict and Power section of the anthology. Where is there conflict? Consider the social context (industrial revolution) and these events.</a:t>
            </a:r>
            <a:endParaRPr lang="en-GB" sz="2000" dirty="0">
              <a:latin typeface="Comic Sans MS" panose="030F0702030302020204" pitchFamily="66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7884" y="6344174"/>
            <a:ext cx="3389376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GB" dirty="0" smtClean="0"/>
              <a:t>A03: Text – context relationship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763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587" y="152673"/>
            <a:ext cx="11305326" cy="1538015"/>
          </a:xfrm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Comparing the poems</a:t>
            </a:r>
            <a:endParaRPr lang="en-GB" dirty="0">
              <a:latin typeface="Comic Sans MS" panose="030F0702030302020204" pitchFamily="66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7273457"/>
              </p:ext>
            </p:extLst>
          </p:nvPr>
        </p:nvGraphicFramePr>
        <p:xfrm>
          <a:off x="502275" y="1455312"/>
          <a:ext cx="11346288" cy="4933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932"/>
                <a:gridCol w="4486131"/>
                <a:gridCol w="4916225"/>
              </a:tblGrid>
              <a:tr h="854981"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mic Sans MS" panose="030F0702030302020204" pitchFamily="66" charset="0"/>
                        </a:rPr>
                        <a:t>Feature/ technique</a:t>
                      </a:r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mic Sans MS" panose="030F0702030302020204" pitchFamily="66" charset="0"/>
                        </a:rPr>
                        <a:t>Checking</a:t>
                      </a:r>
                      <a:r>
                        <a:rPr lang="en-GB" baseline="0" dirty="0" smtClean="0">
                          <a:latin typeface="Comic Sans MS" panose="030F0702030302020204" pitchFamily="66" charset="0"/>
                        </a:rPr>
                        <a:t> out me history</a:t>
                      </a:r>
                    </a:p>
                    <a:p>
                      <a:r>
                        <a:rPr lang="en-GB" baseline="0" dirty="0" smtClean="0">
                          <a:latin typeface="Comic Sans MS" panose="030F0702030302020204" pitchFamily="66" charset="0"/>
                        </a:rPr>
                        <a:t>John </a:t>
                      </a:r>
                      <a:r>
                        <a:rPr lang="en-GB" baseline="0" dirty="0" err="1" smtClean="0">
                          <a:latin typeface="Comic Sans MS" panose="030F0702030302020204" pitchFamily="66" charset="0"/>
                        </a:rPr>
                        <a:t>Agard</a:t>
                      </a:r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mic Sans MS" panose="030F0702030302020204" pitchFamily="66" charset="0"/>
                        </a:rPr>
                        <a:t>London</a:t>
                      </a:r>
                    </a:p>
                    <a:p>
                      <a:r>
                        <a:rPr lang="en-GB" dirty="0" smtClean="0">
                          <a:latin typeface="Comic Sans MS" panose="030F0702030302020204" pitchFamily="66" charset="0"/>
                        </a:rPr>
                        <a:t>William</a:t>
                      </a:r>
                      <a:r>
                        <a:rPr lang="en-GB" baseline="0" dirty="0" smtClean="0">
                          <a:latin typeface="Comic Sans MS" panose="030F0702030302020204" pitchFamily="66" charset="0"/>
                        </a:rPr>
                        <a:t> Blake</a:t>
                      </a:r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</a:tr>
              <a:tr h="1488975"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mic Sans MS" panose="030F0702030302020204" pitchFamily="66" charset="0"/>
                        </a:rPr>
                        <a:t>Restriction of ideas/ misuse of power</a:t>
                      </a:r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mic Sans MS" panose="030F0702030302020204" pitchFamily="66" charset="0"/>
                        </a:rPr>
                        <a:t>“Bandage</a:t>
                      </a:r>
                      <a:r>
                        <a:rPr lang="en-GB" baseline="0" dirty="0" smtClean="0">
                          <a:latin typeface="Comic Sans MS" panose="030F0702030302020204" pitchFamily="66" charset="0"/>
                        </a:rPr>
                        <a:t> up me eye with me own history/ Blind me to me own identify”</a:t>
                      </a:r>
                    </a:p>
                    <a:p>
                      <a:endParaRPr lang="en-GB" baseline="0" dirty="0" smtClean="0">
                        <a:latin typeface="Comic Sans MS" panose="030F0702030302020204" pitchFamily="66" charset="0"/>
                      </a:endParaRPr>
                    </a:p>
                    <a:p>
                      <a:r>
                        <a:rPr lang="en-GB" baseline="0" dirty="0" smtClean="0">
                          <a:latin typeface="Comic Sans MS" panose="030F0702030302020204" pitchFamily="66" charset="0"/>
                        </a:rPr>
                        <a:t>People in power restricting those under their influence through ideas</a:t>
                      </a:r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mic Sans MS" panose="030F0702030302020204" pitchFamily="66" charset="0"/>
                        </a:rPr>
                        <a:t>“Mind-forged manacles”</a:t>
                      </a:r>
                    </a:p>
                    <a:p>
                      <a:endParaRPr lang="en-GB" dirty="0" smtClean="0">
                        <a:latin typeface="Comic Sans MS" panose="030F0702030302020204" pitchFamily="66" charset="0"/>
                      </a:endParaRPr>
                    </a:p>
                    <a:p>
                      <a:r>
                        <a:rPr lang="en-GB" dirty="0" smtClean="0">
                          <a:latin typeface="Comic Sans MS" panose="030F0702030302020204" pitchFamily="66" charset="0"/>
                        </a:rPr>
                        <a:t>People have been taught they</a:t>
                      </a:r>
                      <a:r>
                        <a:rPr lang="en-GB" baseline="0" dirty="0" smtClean="0">
                          <a:latin typeface="Comic Sans MS" panose="030F0702030302020204" pitchFamily="66" charset="0"/>
                        </a:rPr>
                        <a:t> should not expect better and no longer believe that they do</a:t>
                      </a:r>
                      <a:endParaRPr lang="en-GB" dirty="0" smtClean="0">
                        <a:latin typeface="Comic Sans MS" panose="030F0702030302020204" pitchFamily="66" charset="0"/>
                      </a:endParaRPr>
                    </a:p>
                    <a:p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</a:tr>
              <a:tr h="854981">
                <a:tc>
                  <a:txBody>
                    <a:bodyPr/>
                    <a:lstStyle/>
                    <a:p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</a:tr>
              <a:tr h="495347">
                <a:tc>
                  <a:txBody>
                    <a:bodyPr/>
                    <a:lstStyle/>
                    <a:p>
                      <a:endParaRPr lang="en-GB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</a:tr>
              <a:tr h="495347">
                <a:tc>
                  <a:txBody>
                    <a:bodyPr/>
                    <a:lstStyle/>
                    <a:p>
                      <a:endParaRPr lang="en-GB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</a:tr>
              <a:tr h="495347"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mic Sans MS" panose="030F0702030302020204" pitchFamily="66" charset="0"/>
                        </a:rPr>
                        <a:t>Other poems</a:t>
                      </a:r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mic Sans MS" panose="030F0702030302020204" pitchFamily="66" charset="0"/>
                        </a:rPr>
                        <a:t>Tissue,</a:t>
                      </a:r>
                      <a:r>
                        <a:rPr lang="en-GB" baseline="0" dirty="0" smtClean="0">
                          <a:latin typeface="Comic Sans MS" panose="030F0702030302020204" pitchFamily="66" charset="0"/>
                        </a:rPr>
                        <a:t> The </a:t>
                      </a:r>
                      <a:r>
                        <a:rPr lang="en-GB" baseline="0" dirty="0" err="1" smtClean="0">
                          <a:latin typeface="Comic Sans MS" panose="030F0702030302020204" pitchFamily="66" charset="0"/>
                        </a:rPr>
                        <a:t>Emigree</a:t>
                      </a:r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25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633</Words>
  <Application>Microsoft Office PowerPoint</Application>
  <PresentationFormat>Widescreen</PresentationFormat>
  <Paragraphs>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Starter: Remind yourself of London and Checking out me History</vt:lpstr>
      <vt:lpstr>Assessment Objectives</vt:lpstr>
      <vt:lpstr>Date: Power &amp; conflict</vt:lpstr>
      <vt:lpstr>John Agard</vt:lpstr>
      <vt:lpstr>PowerPoint Presentation</vt:lpstr>
      <vt:lpstr>PowerPoint Presentation</vt:lpstr>
      <vt:lpstr>PowerPoint Presentation</vt:lpstr>
      <vt:lpstr>Date: 1794 Power &amp; conflict</vt:lpstr>
      <vt:lpstr>William Blake</vt:lpstr>
      <vt:lpstr>PowerPoint Presentation</vt:lpstr>
      <vt:lpstr>Comparing the poems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Lix</dc:creator>
  <cp:lastModifiedBy>DYER, A</cp:lastModifiedBy>
  <cp:revision>17</cp:revision>
  <dcterms:created xsi:type="dcterms:W3CDTF">2016-12-04T22:21:02Z</dcterms:created>
  <dcterms:modified xsi:type="dcterms:W3CDTF">2016-12-13T12:06:29Z</dcterms:modified>
</cp:coreProperties>
</file>