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60" r:id="rId3"/>
    <p:sldId id="257" r:id="rId4"/>
    <p:sldId id="258" r:id="rId5"/>
    <p:sldId id="267" r:id="rId6"/>
    <p:sldId id="259" r:id="rId7"/>
    <p:sldId id="261" r:id="rId8"/>
    <p:sldId id="262" r:id="rId9"/>
    <p:sldId id="264" r:id="rId10"/>
    <p:sldId id="265" r:id="rId11"/>
    <p:sldId id="26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2" d="100"/>
          <a:sy n="72" d="100"/>
        </p:scale>
        <p:origin x="612"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B28454A-19CC-4767-8B18-74BAFD522567}" type="datetimeFigureOut">
              <a:rPr lang="en-GB" smtClean="0"/>
              <a:t>07/12/2016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7FC6FCE-B06F-4CA7-9616-677261262960}" type="slidenum">
              <a:rPr lang="en-GB" smtClean="0"/>
              <a:t>‹#›</a:t>
            </a:fld>
            <a:endParaRPr lang="en-GB"/>
          </a:p>
        </p:txBody>
      </p:sp>
    </p:spTree>
    <p:extLst>
      <p:ext uri="{BB962C8B-B14F-4D97-AF65-F5344CB8AC3E}">
        <p14:creationId xmlns:p14="http://schemas.microsoft.com/office/powerpoint/2010/main" val="42053685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Resource 1. Additional help for </a:t>
            </a:r>
            <a:r>
              <a:rPr lang="en-GB" smtClean="0"/>
              <a:t>this task </a:t>
            </a:r>
            <a:r>
              <a:rPr lang="en-GB" dirty="0" smtClean="0"/>
              <a:t>can be found on p.</a:t>
            </a:r>
            <a:r>
              <a:rPr lang="en-GB" baseline="0" dirty="0" smtClean="0"/>
              <a:t> 6 &amp; 7 in the poetry student book. </a:t>
            </a:r>
            <a:endParaRPr lang="en-GB" dirty="0"/>
          </a:p>
        </p:txBody>
      </p:sp>
      <p:sp>
        <p:nvSpPr>
          <p:cNvPr id="4" name="Slide Number Placeholder 3"/>
          <p:cNvSpPr>
            <a:spLocks noGrp="1"/>
          </p:cNvSpPr>
          <p:nvPr>
            <p:ph type="sldNum" sz="quarter" idx="10"/>
          </p:nvPr>
        </p:nvSpPr>
        <p:spPr/>
        <p:txBody>
          <a:bodyPr/>
          <a:lstStyle/>
          <a:p>
            <a:fld id="{3DB29E8A-9E28-4D1B-9C77-3B5F9665D022}" type="slidenum">
              <a:rPr lang="en-GB" smtClean="0"/>
              <a:pPr/>
              <a:t>3</a:t>
            </a:fld>
            <a:endParaRPr lang="en-GB"/>
          </a:p>
        </p:txBody>
      </p:sp>
    </p:spTree>
    <p:extLst>
      <p:ext uri="{BB962C8B-B14F-4D97-AF65-F5344CB8AC3E}">
        <p14:creationId xmlns:p14="http://schemas.microsoft.com/office/powerpoint/2010/main" val="12508383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GB"/>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GB"/>
          </a:p>
        </p:txBody>
      </p:sp>
      <p:sp>
        <p:nvSpPr>
          <p:cNvPr id="4" name="Date Placeholder 3"/>
          <p:cNvSpPr>
            <a:spLocks noGrp="1"/>
          </p:cNvSpPr>
          <p:nvPr>
            <p:ph type="dt" sz="half" idx="10"/>
          </p:nvPr>
        </p:nvSpPr>
        <p:spPr/>
        <p:txBody>
          <a:bodyPr/>
          <a:lstStyle/>
          <a:p>
            <a:fld id="{6D037C33-83D5-40E7-AA49-600BECFD8777}" type="datetimeFigureOut">
              <a:rPr lang="en-GB" smtClean="0"/>
              <a:t>07/12/2016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1E1D401-CB51-49CF-BC15-49EE022D68C3}" type="slidenum">
              <a:rPr lang="en-GB" smtClean="0"/>
              <a:t>‹#›</a:t>
            </a:fld>
            <a:endParaRPr lang="en-GB"/>
          </a:p>
        </p:txBody>
      </p:sp>
    </p:spTree>
    <p:extLst>
      <p:ext uri="{BB962C8B-B14F-4D97-AF65-F5344CB8AC3E}">
        <p14:creationId xmlns:p14="http://schemas.microsoft.com/office/powerpoint/2010/main" val="774092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6D037C33-83D5-40E7-AA49-600BECFD8777}" type="datetimeFigureOut">
              <a:rPr lang="en-GB" smtClean="0"/>
              <a:t>07/12/2016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1E1D401-CB51-49CF-BC15-49EE022D68C3}" type="slidenum">
              <a:rPr lang="en-GB" smtClean="0"/>
              <a:t>‹#›</a:t>
            </a:fld>
            <a:endParaRPr lang="en-GB"/>
          </a:p>
        </p:txBody>
      </p:sp>
    </p:spTree>
    <p:extLst>
      <p:ext uri="{BB962C8B-B14F-4D97-AF65-F5344CB8AC3E}">
        <p14:creationId xmlns:p14="http://schemas.microsoft.com/office/powerpoint/2010/main" val="42740518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GB"/>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D037C33-83D5-40E7-AA49-600BECFD8777}" type="datetimeFigureOut">
              <a:rPr lang="en-GB" smtClean="0"/>
              <a:t>07/12/2016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1E1D401-CB51-49CF-BC15-49EE022D68C3}" type="slidenum">
              <a:rPr lang="en-GB" smtClean="0"/>
              <a:t>‹#›</a:t>
            </a:fld>
            <a:endParaRPr lang="en-GB"/>
          </a:p>
        </p:txBody>
      </p:sp>
    </p:spTree>
    <p:extLst>
      <p:ext uri="{BB962C8B-B14F-4D97-AF65-F5344CB8AC3E}">
        <p14:creationId xmlns:p14="http://schemas.microsoft.com/office/powerpoint/2010/main" val="11331130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4"/>
          <p:cNvSpPr>
            <a:spLocks noGrp="1"/>
          </p:cNvSpPr>
          <p:nvPr>
            <p:ph type="dt" sz="half" idx="10"/>
          </p:nvPr>
        </p:nvSpPr>
        <p:spPr/>
        <p:txBody>
          <a:bodyPr/>
          <a:lstStyle/>
          <a:p>
            <a:fld id="{6D037C33-83D5-40E7-AA49-600BECFD8777}" type="datetimeFigureOut">
              <a:rPr lang="en-GB" smtClean="0"/>
              <a:t>07/12/2016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1E1D401-CB51-49CF-BC15-49EE022D68C3}" type="slidenum">
              <a:rPr lang="en-GB" smtClean="0"/>
              <a:t>‹#›</a:t>
            </a:fld>
            <a:endParaRPr lang="en-GB"/>
          </a:p>
        </p:txBody>
      </p:sp>
    </p:spTree>
    <p:extLst>
      <p:ext uri="{BB962C8B-B14F-4D97-AF65-F5344CB8AC3E}">
        <p14:creationId xmlns:p14="http://schemas.microsoft.com/office/powerpoint/2010/main" val="30968611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GB"/>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6"/>
          <p:cNvSpPr>
            <a:spLocks noGrp="1"/>
          </p:cNvSpPr>
          <p:nvPr>
            <p:ph type="dt" sz="half" idx="10"/>
          </p:nvPr>
        </p:nvSpPr>
        <p:spPr/>
        <p:txBody>
          <a:bodyPr/>
          <a:lstStyle/>
          <a:p>
            <a:fld id="{6D037C33-83D5-40E7-AA49-600BECFD8777}" type="datetimeFigureOut">
              <a:rPr lang="en-GB" smtClean="0"/>
              <a:t>07/12/2016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41E1D401-CB51-49CF-BC15-49EE022D68C3}" type="slidenum">
              <a:rPr lang="en-GB" smtClean="0"/>
              <a:t>‹#›</a:t>
            </a:fld>
            <a:endParaRPr lang="en-GB"/>
          </a:p>
        </p:txBody>
      </p:sp>
    </p:spTree>
    <p:extLst>
      <p:ext uri="{BB962C8B-B14F-4D97-AF65-F5344CB8AC3E}">
        <p14:creationId xmlns:p14="http://schemas.microsoft.com/office/powerpoint/2010/main" val="6904817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2"/>
          <p:cNvSpPr>
            <a:spLocks noGrp="1"/>
          </p:cNvSpPr>
          <p:nvPr>
            <p:ph type="dt" sz="half" idx="10"/>
          </p:nvPr>
        </p:nvSpPr>
        <p:spPr/>
        <p:txBody>
          <a:bodyPr/>
          <a:lstStyle/>
          <a:p>
            <a:fld id="{6D037C33-83D5-40E7-AA49-600BECFD8777}" type="datetimeFigureOut">
              <a:rPr lang="en-GB" smtClean="0"/>
              <a:t>07/12/2016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41E1D401-CB51-49CF-BC15-49EE022D68C3}" type="slidenum">
              <a:rPr lang="en-GB" smtClean="0"/>
              <a:t>‹#›</a:t>
            </a:fld>
            <a:endParaRPr lang="en-GB"/>
          </a:p>
        </p:txBody>
      </p:sp>
    </p:spTree>
    <p:extLst>
      <p:ext uri="{BB962C8B-B14F-4D97-AF65-F5344CB8AC3E}">
        <p14:creationId xmlns:p14="http://schemas.microsoft.com/office/powerpoint/2010/main" val="20049603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D037C33-83D5-40E7-AA49-600BECFD8777}" type="datetimeFigureOut">
              <a:rPr lang="en-GB" smtClean="0"/>
              <a:t>07/12/2016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41E1D401-CB51-49CF-BC15-49EE022D68C3}" type="slidenum">
              <a:rPr lang="en-GB" smtClean="0"/>
              <a:t>‹#›</a:t>
            </a:fld>
            <a:endParaRPr lang="en-GB"/>
          </a:p>
        </p:txBody>
      </p:sp>
    </p:spTree>
    <p:extLst>
      <p:ext uri="{BB962C8B-B14F-4D97-AF65-F5344CB8AC3E}">
        <p14:creationId xmlns:p14="http://schemas.microsoft.com/office/powerpoint/2010/main" val="509802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GB"/>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D037C33-83D5-40E7-AA49-600BECFD8777}" type="datetimeFigureOut">
              <a:rPr lang="en-GB" smtClean="0"/>
              <a:t>07/12/2016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1E1D401-CB51-49CF-BC15-49EE022D68C3}" type="slidenum">
              <a:rPr lang="en-GB" smtClean="0"/>
              <a:t>‹#›</a:t>
            </a:fld>
            <a:endParaRPr lang="en-GB"/>
          </a:p>
        </p:txBody>
      </p:sp>
    </p:spTree>
    <p:extLst>
      <p:ext uri="{BB962C8B-B14F-4D97-AF65-F5344CB8AC3E}">
        <p14:creationId xmlns:p14="http://schemas.microsoft.com/office/powerpoint/2010/main" val="7279597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GB"/>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D037C33-83D5-40E7-AA49-600BECFD8777}" type="datetimeFigureOut">
              <a:rPr lang="en-GB" smtClean="0"/>
              <a:t>07/12/2016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1E1D401-CB51-49CF-BC15-49EE022D68C3}" type="slidenum">
              <a:rPr lang="en-GB" smtClean="0"/>
              <a:t>‹#›</a:t>
            </a:fld>
            <a:endParaRPr lang="en-GB"/>
          </a:p>
        </p:txBody>
      </p:sp>
    </p:spTree>
    <p:extLst>
      <p:ext uri="{BB962C8B-B14F-4D97-AF65-F5344CB8AC3E}">
        <p14:creationId xmlns:p14="http://schemas.microsoft.com/office/powerpoint/2010/main" val="242686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6D037C33-83D5-40E7-AA49-600BECFD8777}" type="datetimeFigureOut">
              <a:rPr lang="en-GB" smtClean="0"/>
              <a:t>07/12/2016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1E1D401-CB51-49CF-BC15-49EE022D68C3}" type="slidenum">
              <a:rPr lang="en-GB" smtClean="0"/>
              <a:t>‹#›</a:t>
            </a:fld>
            <a:endParaRPr lang="en-GB"/>
          </a:p>
        </p:txBody>
      </p:sp>
    </p:spTree>
    <p:extLst>
      <p:ext uri="{BB962C8B-B14F-4D97-AF65-F5344CB8AC3E}">
        <p14:creationId xmlns:p14="http://schemas.microsoft.com/office/powerpoint/2010/main" val="21723404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6D037C33-83D5-40E7-AA49-600BECFD8777}" type="datetimeFigureOut">
              <a:rPr lang="en-GB" smtClean="0"/>
              <a:t>07/12/2016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1E1D401-CB51-49CF-BC15-49EE022D68C3}" type="slidenum">
              <a:rPr lang="en-GB" smtClean="0"/>
              <a:t>‹#›</a:t>
            </a:fld>
            <a:endParaRPr lang="en-GB"/>
          </a:p>
        </p:txBody>
      </p:sp>
    </p:spTree>
    <p:extLst>
      <p:ext uri="{BB962C8B-B14F-4D97-AF65-F5344CB8AC3E}">
        <p14:creationId xmlns:p14="http://schemas.microsoft.com/office/powerpoint/2010/main" val="6871805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GB"/>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D037C33-83D5-40E7-AA49-600BECFD8777}" type="datetimeFigureOut">
              <a:rPr lang="en-GB" smtClean="0"/>
              <a:t>07/12/2016</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1E1D401-CB51-49CF-BC15-49EE022D68C3}" type="slidenum">
              <a:rPr lang="en-GB" smtClean="0"/>
              <a:t>‹#›</a:t>
            </a:fld>
            <a:endParaRPr lang="en-GB"/>
          </a:p>
        </p:txBody>
      </p:sp>
    </p:spTree>
    <p:extLst>
      <p:ext uri="{BB962C8B-B14F-4D97-AF65-F5344CB8AC3E}">
        <p14:creationId xmlns:p14="http://schemas.microsoft.com/office/powerpoint/2010/main" val="16043997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Layout" Target="../slideLayouts/slideLayout6.xml"/><Relationship Id="rId5" Type="http://schemas.openxmlformats.org/officeDocument/2006/relationships/image" Target="../media/image5.jpg"/><Relationship Id="rId4" Type="http://schemas.openxmlformats.org/officeDocument/2006/relationships/image" Target="../media/image4.jpe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hyperlink" Target="_My%20Last%20Duchess_%20by%20Robert%20Browning%20(read%20by%20Ralph%20Cotterill).mp4"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0"/>
            <a:ext cx="12192000" cy="1325563"/>
          </a:xfrm>
        </p:spPr>
        <p:txBody>
          <a:bodyPr>
            <a:normAutofit fontScale="90000"/>
          </a:bodyPr>
          <a:lstStyle/>
          <a:p>
            <a:r>
              <a:rPr lang="en-GB" dirty="0" smtClean="0">
                <a:latin typeface="Comic Sans MS" panose="030F0702030302020204" pitchFamily="66" charset="0"/>
              </a:rPr>
              <a:t>Starter: Remind yourself of the poem and your notes for </a:t>
            </a:r>
            <a:r>
              <a:rPr lang="en-GB" i="1" dirty="0" smtClean="0">
                <a:latin typeface="Comic Sans MS" panose="030F0702030302020204" pitchFamily="66" charset="0"/>
              </a:rPr>
              <a:t>Ozymandias </a:t>
            </a:r>
            <a:r>
              <a:rPr lang="en-GB" dirty="0" smtClean="0">
                <a:latin typeface="Comic Sans MS" panose="030F0702030302020204" pitchFamily="66" charset="0"/>
              </a:rPr>
              <a:t>and </a:t>
            </a:r>
            <a:r>
              <a:rPr lang="en-GB" i="1" dirty="0" smtClean="0">
                <a:latin typeface="Comic Sans MS" panose="030F0702030302020204" pitchFamily="66" charset="0"/>
              </a:rPr>
              <a:t>My Last Duchess</a:t>
            </a:r>
            <a:endParaRPr lang="en-GB" dirty="0">
              <a:latin typeface="Comic Sans MS" panose="030F0702030302020204" pitchFamily="66" charset="0"/>
            </a:endParaRPr>
          </a:p>
        </p:txBody>
      </p:sp>
      <p:pic>
        <p:nvPicPr>
          <p:cNvPr id="1026" name="Picture 2" descr="http://swh.schoolworkhelper.netdna-cdn.com/wp-content/uploads/2011/02/My-Last-Duchess-1.jpg?x3707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98362" y="1447575"/>
            <a:ext cx="7738958" cy="51464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349965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7647189" cy="4301544"/>
          </a:xfrm>
          <a:prstGeom prst="rect">
            <a:avLst/>
          </a:prstGeom>
        </p:spPr>
      </p:pic>
      <p:sp>
        <p:nvSpPr>
          <p:cNvPr id="4" name="Title 3"/>
          <p:cNvSpPr>
            <a:spLocks noGrp="1"/>
          </p:cNvSpPr>
          <p:nvPr>
            <p:ph type="title"/>
          </p:nvPr>
        </p:nvSpPr>
        <p:spPr>
          <a:xfrm>
            <a:off x="113602" y="152179"/>
            <a:ext cx="6683062" cy="1325563"/>
          </a:xfrm>
        </p:spPr>
        <p:txBody>
          <a:bodyPr/>
          <a:lstStyle/>
          <a:p>
            <a:r>
              <a:rPr lang="en-GB" dirty="0" smtClean="0">
                <a:solidFill>
                  <a:schemeClr val="bg1"/>
                </a:solidFill>
                <a:latin typeface="Comic Sans MS" panose="030F0702030302020204" pitchFamily="66" charset="0"/>
              </a:rPr>
              <a:t>What do these images make you think?</a:t>
            </a:r>
            <a:endParaRPr lang="en-GB" dirty="0">
              <a:solidFill>
                <a:schemeClr val="bg1"/>
              </a:solidFill>
              <a:latin typeface="Comic Sans MS" panose="030F0702030302020204" pitchFamily="66" charset="0"/>
            </a:endParaRPr>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637624" y="4291295"/>
            <a:ext cx="3883638" cy="2576955"/>
          </a:xfrm>
          <a:prstGeom prst="rect">
            <a:avLst/>
          </a:prstGeom>
        </p:spPr>
      </p:pic>
      <p:pic>
        <p:nvPicPr>
          <p:cNvPr id="8" name="Picture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 y="4301544"/>
            <a:ext cx="3455132" cy="2591349"/>
          </a:xfrm>
          <a:prstGeom prst="rect">
            <a:avLst/>
          </a:prstGeom>
        </p:spPr>
      </p:pic>
      <p:pic>
        <p:nvPicPr>
          <p:cNvPr id="9" name="Picture 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598280" y="0"/>
            <a:ext cx="4593720" cy="6858000"/>
          </a:xfrm>
          <a:prstGeom prst="rect">
            <a:avLst/>
          </a:prstGeom>
        </p:spPr>
      </p:pic>
    </p:spTree>
    <p:extLst>
      <p:ext uri="{BB962C8B-B14F-4D97-AF65-F5344CB8AC3E}">
        <p14:creationId xmlns:p14="http://schemas.microsoft.com/office/powerpoint/2010/main" val="408033430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92D050"/>
          </a:solidFill>
        </p:spPr>
        <p:txBody>
          <a:bodyPr/>
          <a:lstStyle/>
          <a:p>
            <a:r>
              <a:rPr lang="en-GB" dirty="0" smtClean="0">
                <a:latin typeface="Comic Sans MS" panose="030F0702030302020204" pitchFamily="66" charset="0"/>
              </a:rPr>
              <a:t>Assessment Objectives</a:t>
            </a:r>
            <a:endParaRPr lang="en-GB" dirty="0">
              <a:latin typeface="Comic Sans MS" panose="030F0702030302020204" pitchFamily="66" charset="0"/>
            </a:endParaRPr>
          </a:p>
        </p:txBody>
      </p:sp>
      <p:sp>
        <p:nvSpPr>
          <p:cNvPr id="3" name="Content Placeholder 2"/>
          <p:cNvSpPr>
            <a:spLocks noGrp="1"/>
          </p:cNvSpPr>
          <p:nvPr>
            <p:ph idx="1"/>
          </p:nvPr>
        </p:nvSpPr>
        <p:spPr>
          <a:xfrm>
            <a:off x="220014" y="1825624"/>
            <a:ext cx="3579254" cy="4845631"/>
          </a:xfrm>
          <a:solidFill>
            <a:srgbClr val="FFFF00"/>
          </a:solidFill>
        </p:spPr>
        <p:txBody>
          <a:bodyPr>
            <a:normAutofit fontScale="92500"/>
          </a:bodyPr>
          <a:lstStyle/>
          <a:p>
            <a:pPr marL="0" indent="0">
              <a:buNone/>
            </a:pPr>
            <a:r>
              <a:rPr lang="en-GB" dirty="0" smtClean="0">
                <a:latin typeface="Comic Sans MS" panose="030F0702030302020204" pitchFamily="66" charset="0"/>
              </a:rPr>
              <a:t>AO1: Read, understand and respond to texts. Students should be able to: maintain a critical style and develop an informed person response; use textual references, including quotations, to support and illustrate interpretations. </a:t>
            </a:r>
          </a:p>
        </p:txBody>
      </p:sp>
      <p:pic>
        <p:nvPicPr>
          <p:cNvPr id="4" name="Picture 3"/>
          <p:cNvPicPr>
            <a:picLocks noChangeAspect="1"/>
          </p:cNvPicPr>
          <p:nvPr/>
        </p:nvPicPr>
        <p:blipFill>
          <a:blip r:embed="rId3" cstate="print"/>
          <a:stretch>
            <a:fillRect/>
          </a:stretch>
        </p:blipFill>
        <p:spPr>
          <a:xfrm>
            <a:off x="8605462" y="365125"/>
            <a:ext cx="2748338" cy="1325563"/>
          </a:xfrm>
          <a:prstGeom prst="rect">
            <a:avLst/>
          </a:prstGeom>
        </p:spPr>
      </p:pic>
      <p:sp>
        <p:nvSpPr>
          <p:cNvPr id="7" name="Content Placeholder 2"/>
          <p:cNvSpPr txBox="1">
            <a:spLocks/>
          </p:cNvSpPr>
          <p:nvPr/>
        </p:nvSpPr>
        <p:spPr>
          <a:xfrm>
            <a:off x="4032160" y="1825624"/>
            <a:ext cx="2574701" cy="4884268"/>
          </a:xfrm>
          <a:prstGeom prst="rect">
            <a:avLst/>
          </a:prstGeom>
          <a:solidFill>
            <a:srgbClr val="FFFF00"/>
          </a:solidFill>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smtClean="0">
                <a:latin typeface="Comic Sans MS" panose="030F0702030302020204" pitchFamily="66" charset="0"/>
              </a:rPr>
              <a:t>AO2: Analyse the language, form and structure used by a writer to create meanings and effects, using relevant subject terminology where appropriate. </a:t>
            </a:r>
            <a:endParaRPr lang="en-GB" dirty="0">
              <a:latin typeface="Comic Sans MS" panose="030F0702030302020204" pitchFamily="66" charset="0"/>
            </a:endParaRPr>
          </a:p>
        </p:txBody>
      </p:sp>
      <p:sp>
        <p:nvSpPr>
          <p:cNvPr id="8" name="Content Placeholder 2"/>
          <p:cNvSpPr txBox="1">
            <a:spLocks/>
          </p:cNvSpPr>
          <p:nvPr/>
        </p:nvSpPr>
        <p:spPr>
          <a:xfrm>
            <a:off x="6839753" y="1825624"/>
            <a:ext cx="2381518" cy="4137293"/>
          </a:xfrm>
          <a:prstGeom prst="rect">
            <a:avLst/>
          </a:prstGeom>
          <a:solidFill>
            <a:srgbClr val="FFFF00"/>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smtClean="0">
                <a:latin typeface="Comic Sans MS" panose="030F0702030302020204" pitchFamily="66" charset="0"/>
              </a:rPr>
              <a:t>AO3: Show understanding of the relationships between texts and the contexts in which they were written. </a:t>
            </a:r>
            <a:endParaRPr lang="en-GB" dirty="0">
              <a:latin typeface="Comic Sans MS" panose="030F0702030302020204" pitchFamily="66" charset="0"/>
            </a:endParaRPr>
          </a:p>
        </p:txBody>
      </p:sp>
      <p:sp>
        <p:nvSpPr>
          <p:cNvPr id="9" name="Content Placeholder 2"/>
          <p:cNvSpPr txBox="1">
            <a:spLocks/>
          </p:cNvSpPr>
          <p:nvPr/>
        </p:nvSpPr>
        <p:spPr>
          <a:xfrm>
            <a:off x="9454163" y="1825624"/>
            <a:ext cx="2420155" cy="4137293"/>
          </a:xfrm>
          <a:prstGeom prst="rect">
            <a:avLst/>
          </a:prstGeom>
          <a:solidFill>
            <a:srgbClr val="FFFF00"/>
          </a:solidFill>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smtClean="0">
                <a:latin typeface="Comic Sans MS" panose="030F0702030302020204" pitchFamily="66" charset="0"/>
              </a:rPr>
              <a:t>AO4: Use a range of vocabulary and sentence structures for clarity, purpose and effect, with accurate spelling and punctuation. </a:t>
            </a:r>
            <a:endParaRPr lang="en-GB" dirty="0">
              <a:latin typeface="Comic Sans MS" panose="030F0702030302020204" pitchFamily="66" charset="0"/>
            </a:endParaRPr>
          </a:p>
        </p:txBody>
      </p:sp>
    </p:spTree>
    <p:extLst>
      <p:ext uri="{BB962C8B-B14F-4D97-AF65-F5344CB8AC3E}">
        <p14:creationId xmlns:p14="http://schemas.microsoft.com/office/powerpoint/2010/main" val="129890457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7135" y="1325562"/>
            <a:ext cx="3231524" cy="2190369"/>
          </a:xfrm>
          <a:ln>
            <a:solidFill>
              <a:schemeClr val="tx1"/>
            </a:solidFill>
          </a:ln>
        </p:spPr>
        <p:txBody>
          <a:bodyPr>
            <a:normAutofit fontScale="92500" lnSpcReduction="20000"/>
          </a:bodyPr>
          <a:lstStyle/>
          <a:p>
            <a:pPr marL="0" indent="0">
              <a:buNone/>
            </a:pPr>
            <a:r>
              <a:rPr lang="en-GB" dirty="0" smtClean="0">
                <a:latin typeface="Comic Sans MS" panose="030F0702030302020204" pitchFamily="66" charset="0"/>
              </a:rPr>
              <a:t>Main Idea/ Theme</a:t>
            </a:r>
            <a:r>
              <a:rPr lang="en-GB" dirty="0" smtClean="0">
                <a:latin typeface="Comic Sans MS" panose="030F0702030302020204" pitchFamily="66" charset="0"/>
              </a:rPr>
              <a:t>:</a:t>
            </a:r>
          </a:p>
          <a:p>
            <a:pPr marL="0" indent="0">
              <a:buNone/>
            </a:pPr>
            <a:r>
              <a:rPr lang="en-GB" dirty="0" smtClean="0">
                <a:latin typeface="Comic Sans MS" panose="030F0702030302020204" pitchFamily="66" charset="0"/>
              </a:rPr>
              <a:t>Authority and power don’t last forever.</a:t>
            </a:r>
          </a:p>
          <a:p>
            <a:pPr marL="0" indent="0">
              <a:buNone/>
            </a:pPr>
            <a:r>
              <a:rPr lang="en-GB" dirty="0" smtClean="0">
                <a:latin typeface="Comic Sans MS" panose="030F0702030302020204" pitchFamily="66" charset="0"/>
              </a:rPr>
              <a:t>Art outlasts powerful men.</a:t>
            </a:r>
            <a:endParaRPr lang="en-GB" dirty="0">
              <a:latin typeface="Comic Sans MS" panose="030F0702030302020204" pitchFamily="66" charset="0"/>
            </a:endParaRPr>
          </a:p>
        </p:txBody>
      </p:sp>
      <p:sp>
        <p:nvSpPr>
          <p:cNvPr id="4" name="Title 1"/>
          <p:cNvSpPr txBox="1">
            <a:spLocks/>
          </p:cNvSpPr>
          <p:nvPr/>
        </p:nvSpPr>
        <p:spPr>
          <a:xfrm>
            <a:off x="0" y="0"/>
            <a:ext cx="6619741" cy="1325563"/>
          </a:xfrm>
          <a:prstGeom prst="rect">
            <a:avLst/>
          </a:prstGeom>
        </p:spPr>
        <p:txBody>
          <a:bodyPr vert="horz" lIns="91440" tIns="45720" rIns="91440" bIns="45720" rtlCol="0" anchor="ctr">
            <a:normAutofit fontScale="85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smtClean="0">
                <a:latin typeface="Comic Sans MS" panose="030F0702030302020204" pitchFamily="66" charset="0"/>
              </a:rPr>
              <a:t>Title: Ozymandias</a:t>
            </a:r>
            <a:r>
              <a:rPr lang="en-GB" dirty="0" smtClean="0">
                <a:latin typeface="Comic Sans MS" panose="030F0702030302020204" pitchFamily="66" charset="0"/>
              </a:rPr>
              <a:t/>
            </a:r>
            <a:br>
              <a:rPr lang="en-GB" dirty="0" smtClean="0">
                <a:latin typeface="Comic Sans MS" panose="030F0702030302020204" pitchFamily="66" charset="0"/>
              </a:rPr>
            </a:br>
            <a:r>
              <a:rPr lang="en-GB" dirty="0" smtClean="0">
                <a:latin typeface="Comic Sans MS" panose="030F0702030302020204" pitchFamily="66" charset="0"/>
              </a:rPr>
              <a:t>Poet</a:t>
            </a:r>
            <a:r>
              <a:rPr lang="en-GB" dirty="0" smtClean="0">
                <a:latin typeface="Comic Sans MS" panose="030F0702030302020204" pitchFamily="66" charset="0"/>
              </a:rPr>
              <a:t>: Percy Bysshe Shelley</a:t>
            </a:r>
            <a:endParaRPr lang="en-GB" dirty="0">
              <a:latin typeface="Comic Sans MS" panose="030F0702030302020204" pitchFamily="66" charset="0"/>
            </a:endParaRPr>
          </a:p>
        </p:txBody>
      </p:sp>
      <p:sp>
        <p:nvSpPr>
          <p:cNvPr id="5" name="Content Placeholder 2"/>
          <p:cNvSpPr txBox="1">
            <a:spLocks/>
          </p:cNvSpPr>
          <p:nvPr/>
        </p:nvSpPr>
        <p:spPr>
          <a:xfrm>
            <a:off x="7146699" y="1325562"/>
            <a:ext cx="4688985" cy="2372888"/>
          </a:xfrm>
          <a:prstGeom prst="rect">
            <a:avLst/>
          </a:prstGeom>
          <a:ln>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smtClean="0">
                <a:latin typeface="Comic Sans MS" panose="030F0702030302020204" pitchFamily="66" charset="0"/>
              </a:rPr>
              <a:t>Imagery</a:t>
            </a:r>
            <a:r>
              <a:rPr lang="en-GB" dirty="0" smtClean="0">
                <a:latin typeface="Comic Sans MS" panose="030F0702030302020204" pitchFamily="66" charset="0"/>
              </a:rPr>
              <a:t>:</a:t>
            </a:r>
          </a:p>
          <a:p>
            <a:pPr marL="0" indent="0">
              <a:buFont typeface="Arial" panose="020B0604020202020204" pitchFamily="34" charset="0"/>
              <a:buNone/>
            </a:pPr>
            <a:r>
              <a:rPr lang="en-GB" dirty="0" smtClean="0">
                <a:latin typeface="Comic Sans MS" panose="030F0702030302020204" pitchFamily="66" charset="0"/>
              </a:rPr>
              <a:t>Contrast between inscription and the broken statue</a:t>
            </a:r>
            <a:endParaRPr lang="en-GB" dirty="0">
              <a:latin typeface="Comic Sans MS" panose="030F0702030302020204" pitchFamily="66" charset="0"/>
            </a:endParaRPr>
          </a:p>
        </p:txBody>
      </p:sp>
      <p:sp>
        <p:nvSpPr>
          <p:cNvPr id="6" name="Content Placeholder 2"/>
          <p:cNvSpPr txBox="1">
            <a:spLocks/>
          </p:cNvSpPr>
          <p:nvPr/>
        </p:nvSpPr>
        <p:spPr>
          <a:xfrm>
            <a:off x="3726287" y="1325562"/>
            <a:ext cx="3231524" cy="5075236"/>
          </a:xfrm>
          <a:prstGeom prst="rect">
            <a:avLst/>
          </a:prstGeom>
          <a:ln>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smtClean="0">
                <a:latin typeface="Comic Sans MS" panose="030F0702030302020204" pitchFamily="66" charset="0"/>
              </a:rPr>
              <a:t>Language</a:t>
            </a:r>
            <a:r>
              <a:rPr lang="en-GB" dirty="0" smtClean="0">
                <a:latin typeface="Comic Sans MS" panose="030F0702030302020204" pitchFamily="66" charset="0"/>
              </a:rPr>
              <a:t>:</a:t>
            </a:r>
          </a:p>
          <a:p>
            <a:pPr marL="0" indent="0">
              <a:buFont typeface="Arial" panose="020B0604020202020204" pitchFamily="34" charset="0"/>
              <a:buNone/>
            </a:pPr>
            <a:r>
              <a:rPr lang="en-GB" dirty="0" smtClean="0">
                <a:latin typeface="Comic Sans MS" panose="030F0702030302020204" pitchFamily="66" charset="0"/>
              </a:rPr>
              <a:t>Consonance</a:t>
            </a:r>
          </a:p>
          <a:p>
            <a:pPr marL="0" indent="0">
              <a:buFont typeface="Arial" panose="020B0604020202020204" pitchFamily="34" charset="0"/>
              <a:buNone/>
            </a:pPr>
            <a:r>
              <a:rPr lang="en-GB" dirty="0" smtClean="0">
                <a:latin typeface="Comic Sans MS" panose="030F0702030302020204" pitchFamily="66" charset="0"/>
              </a:rPr>
              <a:t>Sibilance</a:t>
            </a:r>
          </a:p>
          <a:p>
            <a:pPr marL="0" indent="0">
              <a:buFont typeface="Arial" panose="020B0604020202020204" pitchFamily="34" charset="0"/>
              <a:buNone/>
            </a:pPr>
            <a:r>
              <a:rPr lang="en-GB" dirty="0" smtClean="0">
                <a:latin typeface="Comic Sans MS" panose="030F0702030302020204" pitchFamily="66" charset="0"/>
              </a:rPr>
              <a:t>Adjectives</a:t>
            </a:r>
          </a:p>
          <a:p>
            <a:pPr marL="0" indent="0">
              <a:buFont typeface="Arial" panose="020B0604020202020204" pitchFamily="34" charset="0"/>
              <a:buNone/>
            </a:pPr>
            <a:r>
              <a:rPr lang="en-GB" dirty="0" smtClean="0">
                <a:latin typeface="Comic Sans MS" panose="030F0702030302020204" pitchFamily="66" charset="0"/>
              </a:rPr>
              <a:t>Imperative verbs</a:t>
            </a:r>
          </a:p>
          <a:p>
            <a:pPr marL="0" indent="0">
              <a:buFont typeface="Arial" panose="020B0604020202020204" pitchFamily="34" charset="0"/>
              <a:buNone/>
            </a:pPr>
            <a:r>
              <a:rPr lang="en-GB" dirty="0" smtClean="0">
                <a:latin typeface="Comic Sans MS" panose="030F0702030302020204" pitchFamily="66" charset="0"/>
              </a:rPr>
              <a:t>Metaphor</a:t>
            </a:r>
          </a:p>
          <a:p>
            <a:pPr marL="0" indent="0">
              <a:buFont typeface="Arial" panose="020B0604020202020204" pitchFamily="34" charset="0"/>
              <a:buNone/>
            </a:pPr>
            <a:r>
              <a:rPr lang="en-GB" dirty="0" smtClean="0">
                <a:latin typeface="Comic Sans MS" panose="030F0702030302020204" pitchFamily="66" charset="0"/>
              </a:rPr>
              <a:t>Caesura</a:t>
            </a:r>
          </a:p>
          <a:p>
            <a:pPr marL="0" indent="0">
              <a:buFont typeface="Arial" panose="020B0604020202020204" pitchFamily="34" charset="0"/>
              <a:buNone/>
            </a:pPr>
            <a:r>
              <a:rPr lang="en-GB" dirty="0" smtClean="0">
                <a:latin typeface="Comic Sans MS" panose="030F0702030302020204" pitchFamily="66" charset="0"/>
              </a:rPr>
              <a:t>Juxtaposition</a:t>
            </a:r>
            <a:endParaRPr lang="en-GB" dirty="0" smtClean="0">
              <a:latin typeface="Comic Sans MS" panose="030F0702030302020204" pitchFamily="66" charset="0"/>
            </a:endParaRPr>
          </a:p>
          <a:p>
            <a:pPr marL="0" indent="0">
              <a:buFont typeface="Arial" panose="020B0604020202020204" pitchFamily="34" charset="0"/>
              <a:buNone/>
            </a:pPr>
            <a:endParaRPr lang="en-GB" dirty="0" smtClean="0">
              <a:latin typeface="Comic Sans MS" panose="030F0702030302020204" pitchFamily="66" charset="0"/>
            </a:endParaRPr>
          </a:p>
          <a:p>
            <a:pPr marL="0" indent="0">
              <a:buFont typeface="Arial" panose="020B0604020202020204" pitchFamily="34" charset="0"/>
              <a:buNone/>
            </a:pPr>
            <a:endParaRPr lang="en-GB" dirty="0">
              <a:latin typeface="Comic Sans MS" panose="030F0702030302020204" pitchFamily="66" charset="0"/>
            </a:endParaRPr>
          </a:p>
        </p:txBody>
      </p:sp>
      <p:sp>
        <p:nvSpPr>
          <p:cNvPr id="7" name="Content Placeholder 2"/>
          <p:cNvSpPr txBox="1">
            <a:spLocks/>
          </p:cNvSpPr>
          <p:nvPr/>
        </p:nvSpPr>
        <p:spPr>
          <a:xfrm>
            <a:off x="189965" y="3686621"/>
            <a:ext cx="3347434" cy="2714177"/>
          </a:xfrm>
          <a:prstGeom prst="rect">
            <a:avLst/>
          </a:prstGeom>
          <a:ln>
            <a:solidFill>
              <a:schemeClr val="tx1"/>
            </a:solidFill>
          </a:ln>
        </p:spPr>
        <p:txBody>
          <a:bodyPr vert="horz" lIns="91440" tIns="45720" rIns="91440" bIns="45720" rtlCol="0">
            <a:normAutofit fontScale="850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smtClean="0">
                <a:latin typeface="Comic Sans MS" panose="030F0702030302020204" pitchFamily="66" charset="0"/>
              </a:rPr>
              <a:t>Context</a:t>
            </a:r>
            <a:r>
              <a:rPr lang="en-GB" dirty="0" smtClean="0">
                <a:latin typeface="Comic Sans MS" panose="030F0702030302020204" pitchFamily="66" charset="0"/>
              </a:rPr>
              <a:t>:</a:t>
            </a:r>
          </a:p>
          <a:p>
            <a:pPr marL="0" indent="0">
              <a:buFont typeface="Arial" panose="020B0604020202020204" pitchFamily="34" charset="0"/>
              <a:buNone/>
            </a:pPr>
            <a:r>
              <a:rPr lang="en-GB" dirty="0" smtClean="0">
                <a:latin typeface="Comic Sans MS" panose="030F0702030302020204" pitchFamily="66" charset="0"/>
              </a:rPr>
              <a:t>Written by Shelley who was a Romantic poet who died before his 30</a:t>
            </a:r>
            <a:r>
              <a:rPr lang="en-GB" baseline="30000" dirty="0" smtClean="0">
                <a:latin typeface="Comic Sans MS" panose="030F0702030302020204" pitchFamily="66" charset="0"/>
              </a:rPr>
              <a:t>th</a:t>
            </a:r>
            <a:r>
              <a:rPr lang="en-GB" dirty="0" smtClean="0">
                <a:latin typeface="Comic Sans MS" panose="030F0702030302020204" pitchFamily="66" charset="0"/>
              </a:rPr>
              <a:t> birthday. He was known for being a radical who disagreed with the government.</a:t>
            </a:r>
            <a:endParaRPr lang="en-GB" dirty="0">
              <a:latin typeface="Comic Sans MS" panose="030F0702030302020204" pitchFamily="66" charset="0"/>
            </a:endParaRPr>
          </a:p>
        </p:txBody>
      </p:sp>
      <p:sp>
        <p:nvSpPr>
          <p:cNvPr id="8" name="Content Placeholder 2"/>
          <p:cNvSpPr txBox="1">
            <a:spLocks/>
          </p:cNvSpPr>
          <p:nvPr/>
        </p:nvSpPr>
        <p:spPr>
          <a:xfrm>
            <a:off x="7129528" y="3851139"/>
            <a:ext cx="4688985" cy="1305618"/>
          </a:xfrm>
          <a:prstGeom prst="rect">
            <a:avLst/>
          </a:prstGeom>
          <a:ln>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smtClean="0">
                <a:latin typeface="Comic Sans MS" panose="030F0702030302020204" pitchFamily="66" charset="0"/>
              </a:rPr>
              <a:t>Tone</a:t>
            </a:r>
            <a:r>
              <a:rPr lang="en-GB" dirty="0" smtClean="0">
                <a:latin typeface="Comic Sans MS" panose="030F0702030302020204" pitchFamily="66" charset="0"/>
              </a:rPr>
              <a:t>: detached and distant</a:t>
            </a:r>
            <a:endParaRPr lang="en-GB" dirty="0">
              <a:latin typeface="Comic Sans MS" panose="030F0702030302020204" pitchFamily="66" charset="0"/>
            </a:endParaRPr>
          </a:p>
        </p:txBody>
      </p:sp>
      <p:sp>
        <p:nvSpPr>
          <p:cNvPr id="9" name="Content Placeholder 2"/>
          <p:cNvSpPr txBox="1">
            <a:spLocks/>
          </p:cNvSpPr>
          <p:nvPr/>
        </p:nvSpPr>
        <p:spPr>
          <a:xfrm>
            <a:off x="7129528" y="5309446"/>
            <a:ext cx="4688985" cy="1305618"/>
          </a:xfrm>
          <a:prstGeom prst="rect">
            <a:avLst/>
          </a:prstGeom>
          <a:ln>
            <a:solidFill>
              <a:schemeClr val="tx1"/>
            </a:solidFill>
          </a:ln>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smtClean="0">
                <a:latin typeface="Comic Sans MS" panose="030F0702030302020204" pitchFamily="66" charset="0"/>
              </a:rPr>
              <a:t>Rhythm/ Rhyme</a:t>
            </a:r>
            <a:r>
              <a:rPr lang="en-GB" dirty="0" smtClean="0">
                <a:latin typeface="Comic Sans MS" panose="030F0702030302020204" pitchFamily="66" charset="0"/>
              </a:rPr>
              <a:t>: Broken for effect (instead of a standard Petrarchan sonnet rhyme scheme)</a:t>
            </a:r>
            <a:endParaRPr lang="en-GB" dirty="0">
              <a:latin typeface="Comic Sans MS" panose="030F0702030302020204" pitchFamily="66" charset="0"/>
            </a:endParaRPr>
          </a:p>
        </p:txBody>
      </p:sp>
      <p:sp>
        <p:nvSpPr>
          <p:cNvPr id="12" name="Title 1"/>
          <p:cNvSpPr>
            <a:spLocks noGrp="1"/>
          </p:cNvSpPr>
          <p:nvPr>
            <p:ph type="title"/>
          </p:nvPr>
        </p:nvSpPr>
        <p:spPr>
          <a:xfrm>
            <a:off x="7611414" y="128789"/>
            <a:ext cx="4580586" cy="1044084"/>
          </a:xfrm>
        </p:spPr>
        <p:txBody>
          <a:bodyPr>
            <a:normAutofit fontScale="90000"/>
          </a:bodyPr>
          <a:lstStyle/>
          <a:p>
            <a:r>
              <a:rPr lang="en-GB" dirty="0" smtClean="0">
                <a:latin typeface="Comic Sans MS" panose="030F0702030302020204" pitchFamily="66" charset="0"/>
              </a:rPr>
              <a:t>Date</a:t>
            </a:r>
            <a:r>
              <a:rPr lang="en-GB" dirty="0" smtClean="0">
                <a:latin typeface="Comic Sans MS" panose="030F0702030302020204" pitchFamily="66" charset="0"/>
              </a:rPr>
              <a:t>: 1818</a:t>
            </a:r>
            <a:r>
              <a:rPr lang="en-GB" dirty="0" smtClean="0">
                <a:latin typeface="Comic Sans MS" panose="030F0702030302020204" pitchFamily="66" charset="0"/>
              </a:rPr>
              <a:t/>
            </a:r>
            <a:br>
              <a:rPr lang="en-GB" dirty="0" smtClean="0">
                <a:latin typeface="Comic Sans MS" panose="030F0702030302020204" pitchFamily="66" charset="0"/>
              </a:rPr>
            </a:br>
            <a:r>
              <a:rPr lang="en-GB" dirty="0" smtClean="0">
                <a:latin typeface="Comic Sans MS" panose="030F0702030302020204" pitchFamily="66" charset="0"/>
              </a:rPr>
              <a:t>	Power</a:t>
            </a:r>
            <a:endParaRPr lang="en-GB" dirty="0">
              <a:latin typeface="Comic Sans MS" panose="030F0702030302020204" pitchFamily="66" charset="0"/>
            </a:endParaRPr>
          </a:p>
        </p:txBody>
      </p:sp>
    </p:spTree>
    <p:extLst>
      <p:ext uri="{BB962C8B-B14F-4D97-AF65-F5344CB8AC3E}">
        <p14:creationId xmlns:p14="http://schemas.microsoft.com/office/powerpoint/2010/main" val="353706340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8052" y="365125"/>
            <a:ext cx="11701670" cy="1325563"/>
          </a:xfrm>
        </p:spPr>
        <p:txBody>
          <a:bodyPr>
            <a:normAutofit fontScale="90000"/>
          </a:bodyPr>
          <a:lstStyle/>
          <a:p>
            <a:r>
              <a:rPr lang="en-GB" b="1" dirty="0" smtClean="0">
                <a:latin typeface="Comic Sans MS" panose="030F0702030302020204" pitchFamily="66" charset="0"/>
              </a:rPr>
              <a:t>Ozymandias</a:t>
            </a:r>
            <a:r>
              <a:rPr lang="en-GB" dirty="0" smtClean="0">
                <a:latin typeface="Comic Sans MS" panose="030F0702030302020204" pitchFamily="66" charset="0"/>
              </a:rPr>
              <a:t/>
            </a:r>
            <a:br>
              <a:rPr lang="en-GB" dirty="0" smtClean="0">
                <a:latin typeface="Comic Sans MS" panose="030F0702030302020204" pitchFamily="66" charset="0"/>
              </a:rPr>
            </a:br>
            <a:r>
              <a:rPr lang="en-GB" sz="3600" dirty="0" smtClean="0">
                <a:latin typeface="Comic Sans MS" panose="030F0702030302020204" pitchFamily="66" charset="0"/>
              </a:rPr>
              <a:t>Decide which of these summaries you agree with (or come up with your own)</a:t>
            </a:r>
            <a:r>
              <a:rPr lang="en-GB" dirty="0" smtClean="0">
                <a:latin typeface="Comic Sans MS" panose="030F0702030302020204" pitchFamily="66" charset="0"/>
              </a:rPr>
              <a:t/>
            </a:r>
            <a:br>
              <a:rPr lang="en-GB" dirty="0" smtClean="0">
                <a:latin typeface="Comic Sans MS" panose="030F0702030302020204" pitchFamily="66" charset="0"/>
              </a:rPr>
            </a:br>
            <a:endParaRPr lang="en-GB" dirty="0">
              <a:latin typeface="Comic Sans MS" panose="030F0702030302020204" pitchFamily="66" charset="0"/>
            </a:endParaRPr>
          </a:p>
        </p:txBody>
      </p:sp>
      <p:sp>
        <p:nvSpPr>
          <p:cNvPr id="4" name="Content Placeholder 3"/>
          <p:cNvSpPr>
            <a:spLocks noGrp="1"/>
          </p:cNvSpPr>
          <p:nvPr>
            <p:ph sz="half" idx="1"/>
          </p:nvPr>
        </p:nvSpPr>
        <p:spPr>
          <a:ln>
            <a:solidFill>
              <a:schemeClr val="accent1"/>
            </a:solidFill>
          </a:ln>
        </p:spPr>
        <p:txBody>
          <a:bodyPr/>
          <a:lstStyle/>
          <a:p>
            <a:pPr marL="0" indent="0">
              <a:buNone/>
            </a:pPr>
            <a:r>
              <a:rPr lang="en-GB" dirty="0" smtClean="0">
                <a:latin typeface="Comic Sans MS" panose="030F0702030302020204" pitchFamily="66" charset="0"/>
              </a:rPr>
              <a:t>A)</a:t>
            </a:r>
          </a:p>
          <a:p>
            <a:pPr marL="0" indent="0">
              <a:buNone/>
            </a:pPr>
            <a:r>
              <a:rPr lang="en-GB" dirty="0" smtClean="0">
                <a:latin typeface="Comic Sans MS" panose="030F0702030302020204" pitchFamily="66" charset="0"/>
              </a:rPr>
              <a:t>This poem is about the nature of power and authority. The wrecked statue in the lonely desert shows that power only lasts for a time and then is gone.</a:t>
            </a:r>
            <a:endParaRPr lang="en-GB" dirty="0">
              <a:latin typeface="Comic Sans MS" panose="030F0702030302020204" pitchFamily="66" charset="0"/>
            </a:endParaRPr>
          </a:p>
        </p:txBody>
      </p:sp>
      <p:sp>
        <p:nvSpPr>
          <p:cNvPr id="5" name="Content Placeholder 4"/>
          <p:cNvSpPr>
            <a:spLocks noGrp="1"/>
          </p:cNvSpPr>
          <p:nvPr>
            <p:ph sz="half" idx="2"/>
          </p:nvPr>
        </p:nvSpPr>
        <p:spPr>
          <a:ln>
            <a:solidFill>
              <a:schemeClr val="accent1"/>
            </a:solidFill>
          </a:ln>
        </p:spPr>
        <p:txBody>
          <a:bodyPr/>
          <a:lstStyle/>
          <a:p>
            <a:pPr marL="0" indent="0">
              <a:buNone/>
            </a:pPr>
            <a:r>
              <a:rPr lang="en-GB" dirty="0" smtClean="0">
                <a:latin typeface="Comic Sans MS" panose="030F0702030302020204" pitchFamily="66" charset="0"/>
              </a:rPr>
              <a:t>B)</a:t>
            </a:r>
          </a:p>
          <a:p>
            <a:pPr marL="0" indent="0">
              <a:buNone/>
            </a:pPr>
            <a:r>
              <a:rPr lang="en-GB" dirty="0" smtClean="0">
                <a:latin typeface="Comic Sans MS" panose="030F0702030302020204" pitchFamily="66" charset="0"/>
              </a:rPr>
              <a:t>The poem is about the fact that art truly has power (unlike Ozymandias). The sculptor’s work and the poet’s words are all we know about Ozymandias. Ultimately art is more powerful than kings.</a:t>
            </a:r>
            <a:endParaRPr lang="en-GB" dirty="0">
              <a:latin typeface="Comic Sans MS" panose="030F0702030302020204" pitchFamily="66" charset="0"/>
            </a:endParaRPr>
          </a:p>
        </p:txBody>
      </p:sp>
    </p:spTree>
    <p:extLst>
      <p:ext uri="{BB962C8B-B14F-4D97-AF65-F5344CB8AC3E}">
        <p14:creationId xmlns:p14="http://schemas.microsoft.com/office/powerpoint/2010/main" val="328488818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7135" y="1325562"/>
            <a:ext cx="3231524" cy="2190369"/>
          </a:xfrm>
          <a:ln>
            <a:solidFill>
              <a:schemeClr val="tx1"/>
            </a:solidFill>
          </a:ln>
        </p:spPr>
        <p:txBody>
          <a:bodyPr/>
          <a:lstStyle/>
          <a:p>
            <a:pPr marL="0" indent="0">
              <a:buNone/>
            </a:pPr>
            <a:r>
              <a:rPr lang="en-GB" dirty="0" smtClean="0">
                <a:latin typeface="Comic Sans MS" panose="030F0702030302020204" pitchFamily="66" charset="0"/>
              </a:rPr>
              <a:t>Main Idea/ Theme</a:t>
            </a:r>
            <a:r>
              <a:rPr lang="en-GB" dirty="0" smtClean="0">
                <a:latin typeface="Comic Sans MS" panose="030F0702030302020204" pitchFamily="66" charset="0"/>
              </a:rPr>
              <a:t>: The power that the duke has over the duchess</a:t>
            </a:r>
            <a:endParaRPr lang="en-GB" dirty="0">
              <a:latin typeface="Comic Sans MS" panose="030F0702030302020204" pitchFamily="66" charset="0"/>
            </a:endParaRPr>
          </a:p>
        </p:txBody>
      </p:sp>
      <p:sp>
        <p:nvSpPr>
          <p:cNvPr id="4" name="Title 1"/>
          <p:cNvSpPr txBox="1">
            <a:spLocks/>
          </p:cNvSpPr>
          <p:nvPr/>
        </p:nvSpPr>
        <p:spPr>
          <a:xfrm>
            <a:off x="0" y="0"/>
            <a:ext cx="6619741"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smtClean="0">
                <a:latin typeface="Comic Sans MS" panose="030F0702030302020204" pitchFamily="66" charset="0"/>
              </a:rPr>
              <a:t>Title</a:t>
            </a:r>
            <a:r>
              <a:rPr lang="en-GB" dirty="0" smtClean="0">
                <a:latin typeface="Comic Sans MS" panose="030F0702030302020204" pitchFamily="66" charset="0"/>
              </a:rPr>
              <a:t>: My Last Duchess</a:t>
            </a:r>
            <a:r>
              <a:rPr lang="en-GB" dirty="0" smtClean="0">
                <a:latin typeface="Comic Sans MS" panose="030F0702030302020204" pitchFamily="66" charset="0"/>
              </a:rPr>
              <a:t/>
            </a:r>
            <a:br>
              <a:rPr lang="en-GB" dirty="0" smtClean="0">
                <a:latin typeface="Comic Sans MS" panose="030F0702030302020204" pitchFamily="66" charset="0"/>
              </a:rPr>
            </a:br>
            <a:r>
              <a:rPr lang="en-GB" dirty="0" smtClean="0">
                <a:latin typeface="Comic Sans MS" panose="030F0702030302020204" pitchFamily="66" charset="0"/>
              </a:rPr>
              <a:t>Poet</a:t>
            </a:r>
            <a:r>
              <a:rPr lang="en-GB" dirty="0" smtClean="0">
                <a:latin typeface="Comic Sans MS" panose="030F0702030302020204" pitchFamily="66" charset="0"/>
              </a:rPr>
              <a:t>: Robert Browning</a:t>
            </a:r>
            <a:endParaRPr lang="en-GB" dirty="0">
              <a:latin typeface="Comic Sans MS" panose="030F0702030302020204" pitchFamily="66" charset="0"/>
            </a:endParaRPr>
          </a:p>
        </p:txBody>
      </p:sp>
      <p:sp>
        <p:nvSpPr>
          <p:cNvPr id="5" name="Content Placeholder 2"/>
          <p:cNvSpPr txBox="1">
            <a:spLocks/>
          </p:cNvSpPr>
          <p:nvPr/>
        </p:nvSpPr>
        <p:spPr>
          <a:xfrm>
            <a:off x="7146699" y="1325562"/>
            <a:ext cx="4688985" cy="2372888"/>
          </a:xfrm>
          <a:prstGeom prst="rect">
            <a:avLst/>
          </a:prstGeom>
          <a:ln>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smtClean="0">
                <a:latin typeface="Comic Sans MS" panose="030F0702030302020204" pitchFamily="66" charset="0"/>
              </a:rPr>
              <a:t>Imagery</a:t>
            </a:r>
            <a:r>
              <a:rPr lang="en-GB" dirty="0" smtClean="0">
                <a:latin typeface="Comic Sans MS" panose="030F0702030302020204" pitchFamily="66" charset="0"/>
              </a:rPr>
              <a:t>:</a:t>
            </a:r>
          </a:p>
          <a:p>
            <a:pPr marL="0" indent="0">
              <a:buFont typeface="Arial" panose="020B0604020202020204" pitchFamily="34" charset="0"/>
              <a:buNone/>
            </a:pPr>
            <a:r>
              <a:rPr lang="en-GB" dirty="0" smtClean="0">
                <a:latin typeface="Comic Sans MS" panose="030F0702030302020204" pitchFamily="66" charset="0"/>
              </a:rPr>
              <a:t>People as possessions to be controlled.</a:t>
            </a:r>
            <a:endParaRPr lang="en-GB" dirty="0">
              <a:latin typeface="Comic Sans MS" panose="030F0702030302020204" pitchFamily="66" charset="0"/>
            </a:endParaRPr>
          </a:p>
        </p:txBody>
      </p:sp>
      <p:sp>
        <p:nvSpPr>
          <p:cNvPr id="6" name="Content Placeholder 2"/>
          <p:cNvSpPr txBox="1">
            <a:spLocks/>
          </p:cNvSpPr>
          <p:nvPr/>
        </p:nvSpPr>
        <p:spPr>
          <a:xfrm>
            <a:off x="3726287" y="1325562"/>
            <a:ext cx="3231524" cy="5289502"/>
          </a:xfrm>
          <a:prstGeom prst="rect">
            <a:avLst/>
          </a:prstGeom>
          <a:ln>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smtClean="0">
                <a:latin typeface="Comic Sans MS" panose="030F0702030302020204" pitchFamily="66" charset="0"/>
              </a:rPr>
              <a:t>Language</a:t>
            </a:r>
            <a:r>
              <a:rPr lang="en-GB" dirty="0" smtClean="0">
                <a:latin typeface="Comic Sans MS" panose="030F0702030302020204" pitchFamily="66" charset="0"/>
              </a:rPr>
              <a:t>:</a:t>
            </a:r>
          </a:p>
          <a:p>
            <a:pPr marL="0" indent="0">
              <a:buFont typeface="Arial" panose="020B0604020202020204" pitchFamily="34" charset="0"/>
              <a:buNone/>
            </a:pPr>
            <a:r>
              <a:rPr lang="en-GB" dirty="0" smtClean="0">
                <a:latin typeface="Comic Sans MS" panose="030F0702030302020204" pitchFamily="66" charset="0"/>
              </a:rPr>
              <a:t>Enjambment</a:t>
            </a:r>
          </a:p>
          <a:p>
            <a:pPr marL="0" indent="0">
              <a:buFont typeface="Arial" panose="020B0604020202020204" pitchFamily="34" charset="0"/>
              <a:buNone/>
            </a:pPr>
            <a:r>
              <a:rPr lang="en-GB" dirty="0" smtClean="0">
                <a:latin typeface="Comic Sans MS" panose="030F0702030302020204" pitchFamily="66" charset="0"/>
              </a:rPr>
              <a:t>Caesura</a:t>
            </a:r>
          </a:p>
          <a:p>
            <a:pPr marL="0" indent="0">
              <a:buFont typeface="Arial" panose="020B0604020202020204" pitchFamily="34" charset="0"/>
              <a:buNone/>
            </a:pPr>
            <a:r>
              <a:rPr lang="en-GB" dirty="0" smtClean="0">
                <a:latin typeface="Comic Sans MS" panose="030F0702030302020204" pitchFamily="66" charset="0"/>
              </a:rPr>
              <a:t>Imperative verbs</a:t>
            </a:r>
          </a:p>
          <a:p>
            <a:pPr marL="0" indent="0">
              <a:buFont typeface="Arial" panose="020B0604020202020204" pitchFamily="34" charset="0"/>
              <a:buNone/>
            </a:pPr>
            <a:r>
              <a:rPr lang="en-GB" dirty="0" smtClean="0">
                <a:latin typeface="Comic Sans MS" panose="030F0702030302020204" pitchFamily="66" charset="0"/>
              </a:rPr>
              <a:t>Rhetorical questions</a:t>
            </a:r>
          </a:p>
          <a:p>
            <a:pPr marL="0" indent="0">
              <a:buFont typeface="Arial" panose="020B0604020202020204" pitchFamily="34" charset="0"/>
              <a:buNone/>
            </a:pPr>
            <a:r>
              <a:rPr lang="en-GB" dirty="0" smtClean="0">
                <a:latin typeface="Comic Sans MS" panose="030F0702030302020204" pitchFamily="66" charset="0"/>
              </a:rPr>
              <a:t>Ambiguity</a:t>
            </a:r>
          </a:p>
          <a:p>
            <a:pPr marL="0" indent="0">
              <a:buFont typeface="Arial" panose="020B0604020202020204" pitchFamily="34" charset="0"/>
              <a:buNone/>
            </a:pPr>
            <a:r>
              <a:rPr lang="en-GB" dirty="0" smtClean="0">
                <a:latin typeface="Comic Sans MS" panose="030F0702030302020204" pitchFamily="66" charset="0"/>
              </a:rPr>
              <a:t>Punctuation</a:t>
            </a:r>
            <a:endParaRPr lang="en-GB" dirty="0">
              <a:latin typeface="Comic Sans MS" panose="030F0702030302020204" pitchFamily="66" charset="0"/>
            </a:endParaRPr>
          </a:p>
        </p:txBody>
      </p:sp>
      <p:sp>
        <p:nvSpPr>
          <p:cNvPr id="7" name="Content Placeholder 2"/>
          <p:cNvSpPr txBox="1">
            <a:spLocks/>
          </p:cNvSpPr>
          <p:nvPr/>
        </p:nvSpPr>
        <p:spPr>
          <a:xfrm>
            <a:off x="189965" y="3686621"/>
            <a:ext cx="3347434" cy="2928443"/>
          </a:xfrm>
          <a:prstGeom prst="rect">
            <a:avLst/>
          </a:prstGeom>
          <a:ln>
            <a:solidFill>
              <a:schemeClr val="tx1"/>
            </a:solidFill>
          </a:ln>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smtClean="0">
                <a:latin typeface="Comic Sans MS" panose="030F0702030302020204" pitchFamily="66" charset="0"/>
              </a:rPr>
              <a:t>Context</a:t>
            </a:r>
            <a:r>
              <a:rPr lang="en-GB" dirty="0" smtClean="0">
                <a:latin typeface="Comic Sans MS" panose="030F0702030302020204" pitchFamily="66" charset="0"/>
              </a:rPr>
              <a:t>:</a:t>
            </a:r>
          </a:p>
          <a:p>
            <a:pPr marL="0" indent="0">
              <a:buFont typeface="Arial" panose="020B0604020202020204" pitchFamily="34" charset="0"/>
              <a:buNone/>
            </a:pPr>
            <a:r>
              <a:rPr lang="en-GB" dirty="0" smtClean="0">
                <a:latin typeface="Comic Sans MS" panose="030F0702030302020204" pitchFamily="66" charset="0"/>
              </a:rPr>
              <a:t>Dramatic monologue based on a story about the Duke of Ferrara and the death of his young wife. Presented as the duke taking a servant on a tour of his house.</a:t>
            </a:r>
            <a:endParaRPr lang="en-GB" dirty="0">
              <a:latin typeface="Comic Sans MS" panose="030F0702030302020204" pitchFamily="66" charset="0"/>
            </a:endParaRPr>
          </a:p>
        </p:txBody>
      </p:sp>
      <p:sp>
        <p:nvSpPr>
          <p:cNvPr id="8" name="Content Placeholder 2"/>
          <p:cNvSpPr txBox="1">
            <a:spLocks/>
          </p:cNvSpPr>
          <p:nvPr/>
        </p:nvSpPr>
        <p:spPr>
          <a:xfrm>
            <a:off x="7129528" y="3851139"/>
            <a:ext cx="4688985" cy="1305618"/>
          </a:xfrm>
          <a:prstGeom prst="rect">
            <a:avLst/>
          </a:prstGeom>
          <a:ln>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smtClean="0">
                <a:latin typeface="Comic Sans MS" panose="030F0702030302020204" pitchFamily="66" charset="0"/>
              </a:rPr>
              <a:t>Tone</a:t>
            </a:r>
            <a:r>
              <a:rPr lang="en-GB" dirty="0" smtClean="0">
                <a:latin typeface="Comic Sans MS" panose="030F0702030302020204" pitchFamily="66" charset="0"/>
              </a:rPr>
              <a:t>: Arrogant and proud</a:t>
            </a:r>
            <a:endParaRPr lang="en-GB" dirty="0">
              <a:latin typeface="Comic Sans MS" panose="030F0702030302020204" pitchFamily="66" charset="0"/>
            </a:endParaRPr>
          </a:p>
        </p:txBody>
      </p:sp>
      <p:sp>
        <p:nvSpPr>
          <p:cNvPr id="9" name="Content Placeholder 2"/>
          <p:cNvSpPr txBox="1">
            <a:spLocks/>
          </p:cNvSpPr>
          <p:nvPr/>
        </p:nvSpPr>
        <p:spPr>
          <a:xfrm>
            <a:off x="7129528" y="5309446"/>
            <a:ext cx="4688985" cy="1305618"/>
          </a:xfrm>
          <a:prstGeom prst="rect">
            <a:avLst/>
          </a:prstGeom>
          <a:ln>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smtClean="0">
                <a:latin typeface="Comic Sans MS" panose="030F0702030302020204" pitchFamily="66" charset="0"/>
              </a:rPr>
              <a:t>Rhythm/ Rhyme</a:t>
            </a:r>
            <a:r>
              <a:rPr lang="en-GB" dirty="0" smtClean="0">
                <a:latin typeface="Comic Sans MS" panose="030F0702030302020204" pitchFamily="66" charset="0"/>
              </a:rPr>
              <a:t>:</a:t>
            </a:r>
          </a:p>
          <a:p>
            <a:pPr marL="0" indent="0">
              <a:buFont typeface="Arial" panose="020B0604020202020204" pitchFamily="34" charset="0"/>
              <a:buNone/>
            </a:pPr>
            <a:r>
              <a:rPr lang="en-GB" dirty="0" smtClean="0">
                <a:latin typeface="Comic Sans MS" panose="030F0702030302020204" pitchFamily="66" charset="0"/>
              </a:rPr>
              <a:t>Rhymed iambic couplets</a:t>
            </a:r>
            <a:endParaRPr lang="en-GB" dirty="0">
              <a:latin typeface="Comic Sans MS" panose="030F0702030302020204" pitchFamily="66" charset="0"/>
            </a:endParaRPr>
          </a:p>
        </p:txBody>
      </p:sp>
      <p:sp>
        <p:nvSpPr>
          <p:cNvPr id="12" name="Title 1"/>
          <p:cNvSpPr>
            <a:spLocks noGrp="1"/>
          </p:cNvSpPr>
          <p:nvPr>
            <p:ph type="title"/>
          </p:nvPr>
        </p:nvSpPr>
        <p:spPr>
          <a:xfrm>
            <a:off x="7611414" y="128789"/>
            <a:ext cx="4580586" cy="1044084"/>
          </a:xfrm>
        </p:spPr>
        <p:txBody>
          <a:bodyPr>
            <a:normAutofit fontScale="90000"/>
          </a:bodyPr>
          <a:lstStyle/>
          <a:p>
            <a:r>
              <a:rPr lang="en-GB" dirty="0" smtClean="0">
                <a:latin typeface="Comic Sans MS" panose="030F0702030302020204" pitchFamily="66" charset="0"/>
              </a:rPr>
              <a:t>Date</a:t>
            </a:r>
            <a:r>
              <a:rPr lang="en-GB" dirty="0" smtClean="0">
                <a:latin typeface="Comic Sans MS" panose="030F0702030302020204" pitchFamily="66" charset="0"/>
              </a:rPr>
              <a:t>: 1842</a:t>
            </a:r>
            <a:r>
              <a:rPr lang="en-GB" dirty="0" smtClean="0">
                <a:latin typeface="Comic Sans MS" panose="030F0702030302020204" pitchFamily="66" charset="0"/>
              </a:rPr>
              <a:t/>
            </a:r>
            <a:br>
              <a:rPr lang="en-GB" dirty="0" smtClean="0">
                <a:latin typeface="Comic Sans MS" panose="030F0702030302020204" pitchFamily="66" charset="0"/>
              </a:rPr>
            </a:br>
            <a:r>
              <a:rPr lang="en-GB" dirty="0" smtClean="0">
                <a:latin typeface="Comic Sans MS" panose="030F0702030302020204" pitchFamily="66" charset="0"/>
              </a:rPr>
              <a:t>Power</a:t>
            </a:r>
            <a:endParaRPr lang="en-GB" dirty="0">
              <a:latin typeface="Comic Sans MS" panose="030F0702030302020204" pitchFamily="66" charset="0"/>
            </a:endParaRPr>
          </a:p>
        </p:txBody>
      </p:sp>
    </p:spTree>
    <p:extLst>
      <p:ext uri="{BB962C8B-B14F-4D97-AF65-F5344CB8AC3E}">
        <p14:creationId xmlns:p14="http://schemas.microsoft.com/office/powerpoint/2010/main" val="17774009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latin typeface="Comic Sans MS" panose="030F0702030302020204" pitchFamily="66" charset="0"/>
              </a:rPr>
              <a:t>Robert </a:t>
            </a:r>
            <a:r>
              <a:rPr lang="en-GB" dirty="0" err="1" smtClean="0">
                <a:latin typeface="Comic Sans MS" panose="030F0702030302020204" pitchFamily="66" charset="0"/>
              </a:rPr>
              <a:t>Browing</a:t>
            </a:r>
            <a:endParaRPr lang="en-GB" dirty="0">
              <a:latin typeface="Comic Sans MS" panose="030F0702030302020204" pitchFamily="66" charset="0"/>
            </a:endParaRPr>
          </a:p>
        </p:txBody>
      </p:sp>
      <p:sp>
        <p:nvSpPr>
          <p:cNvPr id="3" name="Content Placeholder 2"/>
          <p:cNvSpPr>
            <a:spLocks noGrp="1"/>
          </p:cNvSpPr>
          <p:nvPr>
            <p:ph idx="1"/>
          </p:nvPr>
        </p:nvSpPr>
        <p:spPr>
          <a:xfrm>
            <a:off x="818712" y="2222287"/>
            <a:ext cx="7216427" cy="3689917"/>
          </a:xfrm>
          <a:solidFill>
            <a:schemeClr val="accent1">
              <a:lumMod val="20000"/>
              <a:lumOff val="80000"/>
            </a:schemeClr>
          </a:solidFill>
        </p:spPr>
        <p:txBody>
          <a:bodyPr>
            <a:normAutofit/>
          </a:bodyPr>
          <a:lstStyle/>
          <a:p>
            <a:r>
              <a:rPr lang="en-GB" sz="3200" dirty="0" smtClean="0">
                <a:latin typeface="Comic Sans MS" panose="030F0702030302020204" pitchFamily="66" charset="0"/>
              </a:rPr>
              <a:t>English poet and playwright</a:t>
            </a:r>
          </a:p>
          <a:p>
            <a:r>
              <a:rPr lang="en-GB" sz="3200" dirty="0" smtClean="0">
                <a:latin typeface="Comic Sans MS" panose="030F0702030302020204" pitchFamily="66" charset="0"/>
              </a:rPr>
              <a:t>Classed as a Victorian poet</a:t>
            </a:r>
          </a:p>
          <a:p>
            <a:r>
              <a:rPr lang="en-GB" sz="3200" dirty="0" smtClean="0">
                <a:latin typeface="Comic Sans MS" panose="030F0702030302020204" pitchFamily="66" charset="0"/>
              </a:rPr>
              <a:t>Known for his historical settings</a:t>
            </a:r>
          </a:p>
          <a:p>
            <a:r>
              <a:rPr lang="en-GB" sz="3200" dirty="0" smtClean="0">
                <a:latin typeface="Comic Sans MS" panose="030F0702030302020204" pitchFamily="66" charset="0"/>
              </a:rPr>
              <a:t>Married Elizabeth Barrett Browning in1846 (who was a better known poet than him!)</a:t>
            </a:r>
            <a:endParaRPr lang="en-GB" sz="3200" dirty="0">
              <a:latin typeface="Comic Sans MS" panose="030F0702030302020204" pitchFamily="66" charset="0"/>
            </a:endParaRPr>
          </a:p>
        </p:txBody>
      </p:sp>
      <p:pic>
        <p:nvPicPr>
          <p:cNvPr id="1026" name="Picture 2" descr="http://a5.files.biography.com/image/upload/c_fit,cs_srgb,dpr_1.0,h_1200,q_80,w_1200/MTIwNjA4NjMzNzU1NzY0MjM2.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35139" y="2168879"/>
            <a:ext cx="3743325" cy="37433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0670470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ChangeAspect="1"/>
          </p:cNvPicPr>
          <p:nvPr/>
        </p:nvPicPr>
        <p:blipFill>
          <a:blip r:embed="rId2"/>
          <a:stretch>
            <a:fillRect/>
          </a:stretch>
        </p:blipFill>
        <p:spPr>
          <a:xfrm>
            <a:off x="-121843" y="592428"/>
            <a:ext cx="12313843" cy="5763295"/>
          </a:xfrm>
          <a:prstGeom prst="rect">
            <a:avLst/>
          </a:prstGeom>
        </p:spPr>
      </p:pic>
    </p:spTree>
    <p:extLst>
      <p:ext uri="{BB962C8B-B14F-4D97-AF65-F5344CB8AC3E}">
        <p14:creationId xmlns:p14="http://schemas.microsoft.com/office/powerpoint/2010/main" val="152951801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latin typeface="Comic Sans MS" panose="030F0702030302020204" pitchFamily="66" charset="0"/>
              </a:rPr>
              <a:t>Historical Context</a:t>
            </a:r>
            <a:endParaRPr lang="en-GB" dirty="0">
              <a:latin typeface="Comic Sans MS" panose="030F0702030302020204" pitchFamily="66" charset="0"/>
            </a:endParaRPr>
          </a:p>
        </p:txBody>
      </p:sp>
      <p:sp>
        <p:nvSpPr>
          <p:cNvPr id="3" name="Content Placeholder 2"/>
          <p:cNvSpPr>
            <a:spLocks noGrp="1"/>
          </p:cNvSpPr>
          <p:nvPr>
            <p:ph idx="1"/>
          </p:nvPr>
        </p:nvSpPr>
        <p:spPr>
          <a:xfrm>
            <a:off x="386367" y="2209093"/>
            <a:ext cx="7890328" cy="4186778"/>
          </a:xfrm>
        </p:spPr>
        <p:txBody>
          <a:bodyPr>
            <a:noAutofit/>
          </a:bodyPr>
          <a:lstStyle/>
          <a:p>
            <a:r>
              <a:rPr lang="en-GB" sz="2400" b="1" dirty="0" smtClean="0">
                <a:latin typeface="Comic Sans MS" panose="030F0702030302020204" pitchFamily="66" charset="0"/>
              </a:rPr>
              <a:t>Whilst there are very few biographical details in the poem the word ‘Ferrara’ underneath the title is enough to let the reader know what event is being referred to in the poem.</a:t>
            </a:r>
          </a:p>
          <a:p>
            <a:endParaRPr lang="en-GB" sz="2400" b="1" dirty="0">
              <a:latin typeface="Comic Sans MS" panose="030F0702030302020204" pitchFamily="66" charset="0"/>
            </a:endParaRPr>
          </a:p>
          <a:p>
            <a:r>
              <a:rPr lang="en-GB" sz="2400" b="1" dirty="0" smtClean="0">
                <a:latin typeface="Comic Sans MS" panose="030F0702030302020204" pitchFamily="66" charset="0"/>
              </a:rPr>
              <a:t>Duke Alfonso II of Ferrara was suspected of killing his wife in 1561. </a:t>
            </a:r>
            <a:r>
              <a:rPr lang="en-GB" sz="2400" b="1" dirty="0" err="1" smtClean="0">
                <a:latin typeface="Comic Sans MS" panose="030F0702030302020204" pitchFamily="66" charset="0"/>
              </a:rPr>
              <a:t>Lucrezia</a:t>
            </a:r>
            <a:r>
              <a:rPr lang="en-GB" sz="2400" b="1" dirty="0" smtClean="0">
                <a:latin typeface="Comic Sans MS" panose="030F0702030302020204" pitchFamily="66" charset="0"/>
              </a:rPr>
              <a:t> de Medici was 14 when she married the duke and 17 when she died in suspicious circumstances. The Duke later went on to court and marry the niece of the count of Tyrol.</a:t>
            </a:r>
            <a:endParaRPr lang="en-GB" sz="2400" b="1" dirty="0">
              <a:latin typeface="Comic Sans MS" panose="030F0702030302020204" pitchFamily="66" charset="0"/>
            </a:endParaRPr>
          </a:p>
        </p:txBody>
      </p:sp>
      <p:pic>
        <p:nvPicPr>
          <p:cNvPr id="2050" name="Picture 2" descr="http://www.gogmsite.net/_Media/1555---1565-lucrezia-di-2.jpeg">
            <a:hlinkClick r:id="rId2" action="ppaction://hlinkfile"/>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379725" y="2250766"/>
            <a:ext cx="2819400" cy="374332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7195528" y="6279779"/>
            <a:ext cx="4186470" cy="369332"/>
          </a:xfrm>
          <a:prstGeom prst="rect">
            <a:avLst/>
          </a:prstGeom>
          <a:solidFill>
            <a:srgbClr val="00B0F0"/>
          </a:solidFill>
        </p:spPr>
        <p:txBody>
          <a:bodyPr wrap="square" rtlCol="0">
            <a:spAutoFit/>
          </a:bodyPr>
          <a:lstStyle/>
          <a:p>
            <a:r>
              <a:rPr lang="en-GB" b="1" dirty="0" smtClean="0">
                <a:latin typeface="Comic Sans MS" panose="030F0702030302020204" pitchFamily="66" charset="0"/>
              </a:rPr>
              <a:t>A03: Text – context relationship</a:t>
            </a:r>
            <a:endParaRPr lang="en-GB" b="1" dirty="0">
              <a:latin typeface="Comic Sans MS" panose="030F0702030302020204" pitchFamily="66" charset="0"/>
            </a:endParaRPr>
          </a:p>
        </p:txBody>
      </p:sp>
    </p:spTree>
    <p:extLst>
      <p:ext uri="{BB962C8B-B14F-4D97-AF65-F5344CB8AC3E}">
        <p14:creationId xmlns:p14="http://schemas.microsoft.com/office/powerpoint/2010/main" val="383633781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latin typeface="Comic Sans MS" panose="030F0702030302020204" pitchFamily="66" charset="0"/>
              </a:rPr>
              <a:t>Form</a:t>
            </a:r>
            <a:endParaRPr lang="en-GB" dirty="0">
              <a:latin typeface="Comic Sans MS" panose="030F0702030302020204" pitchFamily="66" charset="0"/>
            </a:endParaRPr>
          </a:p>
        </p:txBody>
      </p:sp>
      <p:sp>
        <p:nvSpPr>
          <p:cNvPr id="3" name="Content Placeholder 2"/>
          <p:cNvSpPr>
            <a:spLocks noGrp="1"/>
          </p:cNvSpPr>
          <p:nvPr>
            <p:ph idx="1"/>
          </p:nvPr>
        </p:nvSpPr>
        <p:spPr>
          <a:xfrm>
            <a:off x="684756" y="1678001"/>
            <a:ext cx="7780208" cy="2868241"/>
          </a:xfrm>
          <a:solidFill>
            <a:schemeClr val="accent1">
              <a:lumMod val="40000"/>
              <a:lumOff val="60000"/>
            </a:schemeClr>
          </a:solidFill>
        </p:spPr>
        <p:txBody>
          <a:bodyPr>
            <a:normAutofit/>
          </a:bodyPr>
          <a:lstStyle/>
          <a:p>
            <a:pPr marL="0" indent="0">
              <a:buNone/>
            </a:pPr>
            <a:r>
              <a:rPr lang="en-GB" sz="3600" dirty="0" smtClean="0">
                <a:latin typeface="Comic Sans MS" panose="030F0702030302020204" pitchFamily="66" charset="0"/>
              </a:rPr>
              <a:t>How does the form of the poem make the line “Even had you the skill in speech – (which I have not) – to make your will quite clear to such a one…” ironic?</a:t>
            </a:r>
            <a:endParaRPr lang="en-GB" sz="3600" dirty="0">
              <a:latin typeface="Comic Sans MS" panose="030F0702030302020204" pitchFamily="66" charset="0"/>
            </a:endParaRPr>
          </a:p>
        </p:txBody>
      </p:sp>
      <p:pic>
        <p:nvPicPr>
          <p:cNvPr id="4" name="Picture 3"/>
          <p:cNvPicPr>
            <a:picLocks noChangeAspect="1"/>
          </p:cNvPicPr>
          <p:nvPr/>
        </p:nvPicPr>
        <p:blipFill>
          <a:blip r:embed="rId2"/>
          <a:stretch>
            <a:fillRect/>
          </a:stretch>
        </p:blipFill>
        <p:spPr>
          <a:xfrm>
            <a:off x="8618408" y="162387"/>
            <a:ext cx="3365170" cy="4023248"/>
          </a:xfrm>
          <a:prstGeom prst="rect">
            <a:avLst/>
          </a:prstGeom>
        </p:spPr>
      </p:pic>
    </p:spTree>
    <p:extLst>
      <p:ext uri="{BB962C8B-B14F-4D97-AF65-F5344CB8AC3E}">
        <p14:creationId xmlns:p14="http://schemas.microsoft.com/office/powerpoint/2010/main" val="237148044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1587" y="152673"/>
            <a:ext cx="11305326" cy="1538015"/>
          </a:xfrm>
        </p:spPr>
        <p:txBody>
          <a:bodyPr/>
          <a:lstStyle/>
          <a:p>
            <a:r>
              <a:rPr lang="en-GB" dirty="0" smtClean="0">
                <a:latin typeface="Comic Sans MS" panose="030F0702030302020204" pitchFamily="66" charset="0"/>
              </a:rPr>
              <a:t>Comparing the poems</a:t>
            </a:r>
            <a:endParaRPr lang="en-GB" dirty="0">
              <a:latin typeface="Comic Sans MS" panose="030F0702030302020204" pitchFamily="66" charset="0"/>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14417568"/>
              </p:ext>
            </p:extLst>
          </p:nvPr>
        </p:nvGraphicFramePr>
        <p:xfrm>
          <a:off x="502275" y="2137895"/>
          <a:ext cx="11346288" cy="4155402"/>
        </p:xfrm>
        <a:graphic>
          <a:graphicData uri="http://schemas.openxmlformats.org/drawingml/2006/table">
            <a:tbl>
              <a:tblPr firstRow="1" bandRow="1">
                <a:tableStyleId>{5C22544A-7EE6-4342-B048-85BDC9FD1C3A}</a:tableStyleId>
              </a:tblPr>
              <a:tblGrid>
                <a:gridCol w="1943932"/>
                <a:gridCol w="4486131"/>
                <a:gridCol w="4916225"/>
              </a:tblGrid>
              <a:tr h="742667">
                <a:tc>
                  <a:txBody>
                    <a:bodyPr/>
                    <a:lstStyle/>
                    <a:p>
                      <a:r>
                        <a:rPr lang="en-GB" dirty="0" smtClean="0">
                          <a:latin typeface="Comic Sans MS" panose="030F0702030302020204" pitchFamily="66" charset="0"/>
                        </a:rPr>
                        <a:t>Feature/ technique</a:t>
                      </a:r>
                      <a:endParaRPr lang="en-GB" dirty="0">
                        <a:latin typeface="Comic Sans MS" panose="030F0702030302020204" pitchFamily="66" charset="0"/>
                      </a:endParaRPr>
                    </a:p>
                  </a:txBody>
                  <a:tcPr/>
                </a:tc>
                <a:tc>
                  <a:txBody>
                    <a:bodyPr/>
                    <a:lstStyle/>
                    <a:p>
                      <a:r>
                        <a:rPr lang="en-GB" dirty="0" smtClean="0">
                          <a:latin typeface="Comic Sans MS" panose="030F0702030302020204" pitchFamily="66" charset="0"/>
                        </a:rPr>
                        <a:t>Ozymandias</a:t>
                      </a:r>
                      <a:r>
                        <a:rPr lang="en-GB" baseline="0" dirty="0" smtClean="0">
                          <a:latin typeface="Comic Sans MS" panose="030F0702030302020204" pitchFamily="66" charset="0"/>
                        </a:rPr>
                        <a:t> (Shelley)</a:t>
                      </a:r>
                      <a:endParaRPr lang="en-GB" dirty="0">
                        <a:latin typeface="Comic Sans MS" panose="030F0702030302020204" pitchFamily="66" charset="0"/>
                      </a:endParaRPr>
                    </a:p>
                  </a:txBody>
                  <a:tcPr/>
                </a:tc>
                <a:tc>
                  <a:txBody>
                    <a:bodyPr/>
                    <a:lstStyle/>
                    <a:p>
                      <a:r>
                        <a:rPr lang="en-GB" dirty="0" smtClean="0">
                          <a:latin typeface="Comic Sans MS" panose="030F0702030302020204" pitchFamily="66" charset="0"/>
                        </a:rPr>
                        <a:t>My Last Duchess (Browning)</a:t>
                      </a:r>
                      <a:endParaRPr lang="en-GB" dirty="0">
                        <a:latin typeface="Comic Sans MS" panose="030F0702030302020204" pitchFamily="66" charset="0"/>
                      </a:endParaRPr>
                    </a:p>
                  </a:txBody>
                  <a:tcPr/>
                </a:tc>
              </a:tr>
              <a:tr h="1379240">
                <a:tc>
                  <a:txBody>
                    <a:bodyPr/>
                    <a:lstStyle/>
                    <a:p>
                      <a:r>
                        <a:rPr lang="en-GB" dirty="0" smtClean="0">
                          <a:latin typeface="Comic Sans MS" panose="030F0702030302020204" pitchFamily="66" charset="0"/>
                        </a:rPr>
                        <a:t>Powerful</a:t>
                      </a:r>
                      <a:r>
                        <a:rPr lang="en-GB" baseline="0" dirty="0" smtClean="0">
                          <a:latin typeface="Comic Sans MS" panose="030F0702030302020204" pitchFamily="66" charset="0"/>
                        </a:rPr>
                        <a:t> </a:t>
                      </a:r>
                      <a:r>
                        <a:rPr lang="en-GB" dirty="0" smtClean="0">
                          <a:latin typeface="Comic Sans MS" panose="030F0702030302020204" pitchFamily="66" charset="0"/>
                        </a:rPr>
                        <a:t>male character</a:t>
                      </a:r>
                      <a:endParaRPr lang="en-GB" dirty="0">
                        <a:latin typeface="Comic Sans MS" panose="030F0702030302020204" pitchFamily="66" charset="0"/>
                      </a:endParaRPr>
                    </a:p>
                  </a:txBody>
                  <a:tcPr/>
                </a:tc>
                <a:tc>
                  <a:txBody>
                    <a:bodyPr/>
                    <a:lstStyle/>
                    <a:p>
                      <a:r>
                        <a:rPr lang="en-GB" dirty="0" smtClean="0">
                          <a:latin typeface="Comic Sans MS" panose="030F0702030302020204" pitchFamily="66" charset="0"/>
                        </a:rPr>
                        <a:t>Ozymandias</a:t>
                      </a:r>
                      <a:r>
                        <a:rPr lang="en-GB" baseline="0" dirty="0" smtClean="0">
                          <a:latin typeface="Comic Sans MS" panose="030F0702030302020204" pitchFamily="66" charset="0"/>
                        </a:rPr>
                        <a:t> dominated the lands around him in lifetime but  over time his influence has gone.</a:t>
                      </a:r>
                    </a:p>
                    <a:p>
                      <a:r>
                        <a:rPr lang="en-GB" baseline="0" dirty="0" smtClean="0">
                          <a:latin typeface="Comic Sans MS" panose="030F0702030302020204" pitchFamily="66" charset="0"/>
                        </a:rPr>
                        <a:t>Evidence?</a:t>
                      </a:r>
                      <a:endParaRPr lang="en-GB" dirty="0">
                        <a:latin typeface="Comic Sans MS" panose="030F0702030302020204" pitchFamily="66" charset="0"/>
                      </a:endParaRPr>
                    </a:p>
                  </a:txBody>
                  <a:tcPr/>
                </a:tc>
                <a:tc>
                  <a:txBody>
                    <a:bodyPr/>
                    <a:lstStyle/>
                    <a:p>
                      <a:r>
                        <a:rPr lang="en-GB" dirty="0" smtClean="0">
                          <a:latin typeface="Comic Sans MS" panose="030F0702030302020204" pitchFamily="66" charset="0"/>
                        </a:rPr>
                        <a:t>The Duke hold</a:t>
                      </a:r>
                      <a:r>
                        <a:rPr lang="en-GB" baseline="0" dirty="0" smtClean="0">
                          <a:latin typeface="Comic Sans MS" panose="030F0702030302020204" pitchFamily="66" charset="0"/>
                        </a:rPr>
                        <a:t>s the power of life and death over his wife and treats her like a possession rather than a person.</a:t>
                      </a:r>
                    </a:p>
                    <a:p>
                      <a:r>
                        <a:rPr lang="en-GB" baseline="0" dirty="0" smtClean="0">
                          <a:latin typeface="Comic Sans MS" panose="030F0702030302020204" pitchFamily="66" charset="0"/>
                        </a:rPr>
                        <a:t>Evidence?</a:t>
                      </a:r>
                      <a:endParaRPr lang="en-GB" dirty="0">
                        <a:latin typeface="Comic Sans MS" panose="030F0702030302020204" pitchFamily="66" charset="0"/>
                      </a:endParaRPr>
                    </a:p>
                  </a:txBody>
                  <a:tcPr/>
                </a:tc>
              </a:tr>
              <a:tr h="742667">
                <a:tc>
                  <a:txBody>
                    <a:bodyPr/>
                    <a:lstStyle/>
                    <a:p>
                      <a:r>
                        <a:rPr lang="en-GB" dirty="0" smtClean="0">
                          <a:latin typeface="Comic Sans MS" panose="030F0702030302020204" pitchFamily="66" charset="0"/>
                        </a:rPr>
                        <a:t>Language of power</a:t>
                      </a:r>
                      <a:endParaRPr lang="en-GB" dirty="0">
                        <a:latin typeface="Comic Sans MS" panose="030F0702030302020204" pitchFamily="66" charset="0"/>
                      </a:endParaRPr>
                    </a:p>
                  </a:txBody>
                  <a:tcPr/>
                </a:tc>
                <a:tc>
                  <a:txBody>
                    <a:bodyPr/>
                    <a:lstStyle/>
                    <a:p>
                      <a:r>
                        <a:rPr lang="en-GB" dirty="0" smtClean="0">
                          <a:latin typeface="Comic Sans MS" panose="030F0702030302020204" pitchFamily="66" charset="0"/>
                        </a:rPr>
                        <a:t>Exclamations/</a:t>
                      </a:r>
                      <a:r>
                        <a:rPr lang="en-GB" baseline="0" dirty="0" smtClean="0">
                          <a:latin typeface="Comic Sans MS" panose="030F0702030302020204" pitchFamily="66" charset="0"/>
                        </a:rPr>
                        <a:t> declarative sentences used.</a:t>
                      </a:r>
                      <a:endParaRPr lang="en-GB" dirty="0">
                        <a:latin typeface="Comic Sans MS" panose="030F0702030302020204" pitchFamily="66" charset="0"/>
                      </a:endParaRPr>
                    </a:p>
                  </a:txBody>
                  <a:tcPr/>
                </a:tc>
                <a:tc>
                  <a:txBody>
                    <a:bodyPr/>
                    <a:lstStyle/>
                    <a:p>
                      <a:r>
                        <a:rPr lang="en-GB" dirty="0" smtClean="0">
                          <a:latin typeface="Comic Sans MS" panose="030F0702030302020204" pitchFamily="66" charset="0"/>
                        </a:rPr>
                        <a:t>Phrases</a:t>
                      </a:r>
                      <a:r>
                        <a:rPr lang="en-GB" baseline="0" dirty="0" smtClean="0">
                          <a:latin typeface="Comic Sans MS" panose="030F0702030302020204" pitchFamily="66" charset="0"/>
                        </a:rPr>
                        <a:t> commands as questions to give the illusion of choice/ impression of politeness.</a:t>
                      </a:r>
                      <a:endParaRPr lang="en-GB" dirty="0">
                        <a:latin typeface="Comic Sans MS" panose="030F0702030302020204" pitchFamily="66" charset="0"/>
                      </a:endParaRPr>
                    </a:p>
                  </a:txBody>
                  <a:tcPr/>
                </a:tc>
              </a:tr>
              <a:tr h="430276">
                <a:tc>
                  <a:txBody>
                    <a:bodyPr/>
                    <a:lstStyle/>
                    <a:p>
                      <a:endParaRPr lang="en-GB">
                        <a:latin typeface="Comic Sans MS" panose="030F0702030302020204" pitchFamily="66" charset="0"/>
                      </a:endParaRPr>
                    </a:p>
                  </a:txBody>
                  <a:tcPr/>
                </a:tc>
                <a:tc>
                  <a:txBody>
                    <a:bodyPr/>
                    <a:lstStyle/>
                    <a:p>
                      <a:endParaRPr lang="en-GB">
                        <a:latin typeface="Comic Sans MS" panose="030F0702030302020204" pitchFamily="66" charset="0"/>
                      </a:endParaRPr>
                    </a:p>
                  </a:txBody>
                  <a:tcPr/>
                </a:tc>
                <a:tc>
                  <a:txBody>
                    <a:bodyPr/>
                    <a:lstStyle/>
                    <a:p>
                      <a:endParaRPr lang="en-GB">
                        <a:latin typeface="Comic Sans MS" panose="030F0702030302020204" pitchFamily="66" charset="0"/>
                      </a:endParaRPr>
                    </a:p>
                  </a:txBody>
                  <a:tcPr/>
                </a:tc>
              </a:tr>
              <a:tr h="430276">
                <a:tc>
                  <a:txBody>
                    <a:bodyPr/>
                    <a:lstStyle/>
                    <a:p>
                      <a:endParaRPr lang="en-GB">
                        <a:latin typeface="Comic Sans MS" panose="030F0702030302020204" pitchFamily="66" charset="0"/>
                      </a:endParaRPr>
                    </a:p>
                  </a:txBody>
                  <a:tcPr/>
                </a:tc>
                <a:tc>
                  <a:txBody>
                    <a:bodyPr/>
                    <a:lstStyle/>
                    <a:p>
                      <a:endParaRPr lang="en-GB">
                        <a:latin typeface="Comic Sans MS" panose="030F0702030302020204" pitchFamily="66" charset="0"/>
                      </a:endParaRPr>
                    </a:p>
                  </a:txBody>
                  <a:tcPr/>
                </a:tc>
                <a:tc>
                  <a:txBody>
                    <a:bodyPr/>
                    <a:lstStyle/>
                    <a:p>
                      <a:endParaRPr lang="en-GB">
                        <a:latin typeface="Comic Sans MS" panose="030F0702030302020204" pitchFamily="66" charset="0"/>
                      </a:endParaRPr>
                    </a:p>
                  </a:txBody>
                  <a:tcPr/>
                </a:tc>
              </a:tr>
              <a:tr h="430276">
                <a:tc>
                  <a:txBody>
                    <a:bodyPr/>
                    <a:lstStyle/>
                    <a:p>
                      <a:endParaRPr lang="en-GB">
                        <a:latin typeface="Comic Sans MS" panose="030F0702030302020204" pitchFamily="66" charset="0"/>
                      </a:endParaRPr>
                    </a:p>
                  </a:txBody>
                  <a:tcPr/>
                </a:tc>
                <a:tc>
                  <a:txBody>
                    <a:bodyPr/>
                    <a:lstStyle/>
                    <a:p>
                      <a:endParaRPr lang="en-GB">
                        <a:latin typeface="Comic Sans MS" panose="030F0702030302020204" pitchFamily="66" charset="0"/>
                      </a:endParaRPr>
                    </a:p>
                  </a:txBody>
                  <a:tcPr/>
                </a:tc>
                <a:tc>
                  <a:txBody>
                    <a:bodyPr/>
                    <a:lstStyle/>
                    <a:p>
                      <a:endParaRPr lang="en-GB" dirty="0">
                        <a:latin typeface="Comic Sans MS" panose="030F0702030302020204" pitchFamily="66" charset="0"/>
                      </a:endParaRPr>
                    </a:p>
                  </a:txBody>
                  <a:tcPr/>
                </a:tc>
              </a:tr>
            </a:tbl>
          </a:graphicData>
        </a:graphic>
      </p:graphicFrame>
    </p:spTree>
    <p:extLst>
      <p:ext uri="{BB962C8B-B14F-4D97-AF65-F5344CB8AC3E}">
        <p14:creationId xmlns:p14="http://schemas.microsoft.com/office/powerpoint/2010/main" val="2234315914"/>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260</TotalTime>
  <Words>662</Words>
  <Application>Microsoft Office PowerPoint</Application>
  <PresentationFormat>Widescreen</PresentationFormat>
  <Paragraphs>74</Paragraphs>
  <Slides>11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Calibri Light</vt:lpstr>
      <vt:lpstr>Comic Sans MS</vt:lpstr>
      <vt:lpstr>Office Theme</vt:lpstr>
      <vt:lpstr>Starter: Remind yourself of the poem and your notes for Ozymandias and My Last Duchess</vt:lpstr>
      <vt:lpstr>What do these images make you think?</vt:lpstr>
      <vt:lpstr>Assessment Objectives</vt:lpstr>
      <vt:lpstr>Date: 1818  Power</vt:lpstr>
      <vt:lpstr>Ozymandias Decide which of these summaries you agree with (or come up with your own) </vt:lpstr>
      <vt:lpstr>Date: 1842 Power</vt:lpstr>
      <vt:lpstr>Robert Browing</vt:lpstr>
      <vt:lpstr>PowerPoint Presentation</vt:lpstr>
      <vt:lpstr>Historical Context</vt:lpstr>
      <vt:lpstr>Form</vt:lpstr>
      <vt:lpstr>Comparing the poems</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Lix</dc:creator>
  <cp:lastModifiedBy>DYER, A</cp:lastModifiedBy>
  <cp:revision>13</cp:revision>
  <dcterms:created xsi:type="dcterms:W3CDTF">2016-12-04T22:21:02Z</dcterms:created>
  <dcterms:modified xsi:type="dcterms:W3CDTF">2016-12-07T13:11:02Z</dcterms:modified>
</cp:coreProperties>
</file>