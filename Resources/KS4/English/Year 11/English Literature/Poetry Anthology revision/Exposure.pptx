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1" r:id="rId7"/>
    <p:sldId id="264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8454A-19CC-4767-8B18-74BAFD52256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C6FCE-B06F-4CA7-9616-6772612629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36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Resource 1. Additional help for </a:t>
            </a:r>
            <a:r>
              <a:rPr lang="en-GB" smtClean="0"/>
              <a:t>this task </a:t>
            </a:r>
            <a:r>
              <a:rPr lang="en-GB" dirty="0" smtClean="0"/>
              <a:t>can be found on p.</a:t>
            </a:r>
            <a:r>
              <a:rPr lang="en-GB" baseline="0" dirty="0" smtClean="0"/>
              <a:t> 6 &amp; 7 in the poetry student book.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29E8A-9E28-4D1B-9C77-3B5F9665D02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838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0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05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11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86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8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96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8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95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8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4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18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7C33-83D5-40E7-AA49-600BECFD8777}" type="datetimeFigureOut">
              <a:rPr lang="en-GB" smtClean="0"/>
              <a:t>06/12/2016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39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bbc.co.uk/education/guides/zwbxp39/revis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Starter: Remind yourself of the poem and your notes for </a:t>
            </a:r>
            <a:r>
              <a:rPr lang="en-GB" i="1" dirty="0" smtClean="0">
                <a:latin typeface="Comic Sans MS" panose="030F0702030302020204" pitchFamily="66" charset="0"/>
              </a:rPr>
              <a:t>Exposure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8955" y="1748352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Our brains ache, in the merciless iced east winds that </a:t>
            </a:r>
            <a:r>
              <a:rPr lang="en-GB" dirty="0" err="1" smtClean="0">
                <a:effectLst/>
                <a:latin typeface="Comic Sans MS" panose="030F0702030302020204" pitchFamily="66" charset="0"/>
              </a:rPr>
              <a:t>knive</a:t>
            </a:r>
            <a:r>
              <a:rPr lang="en-GB" dirty="0" smtClean="0">
                <a:effectLst/>
                <a:latin typeface="Comic Sans MS" panose="030F0702030302020204" pitchFamily="66" charset="0"/>
              </a:rPr>
              <a:t> us . . . 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Wearied we keep awake because the night is silent . . 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Low drooping flares confuse our memory of the salient . . 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Worried by silence, sentries whisper, curious, nervous,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       But nothing happens. </a:t>
            </a:r>
          </a:p>
          <a:p>
            <a:pPr marL="0" indent="0">
              <a:spcBef>
                <a:spcPts val="600"/>
              </a:spcBef>
              <a:buNone/>
            </a:pPr>
            <a:endParaRPr lang="en-GB" dirty="0">
              <a:latin typeface="Comic Sans MS" panose="030F0702030302020204" pitchFamily="66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Watching, we hear the mad gusts tugging on the wire,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Like twitching agonies of men among its brambles.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Northward, incessantly, the flickering gunnery rumbles,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Far off, like a dull rumour of some other war.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dirty="0" smtClean="0">
                <a:effectLst/>
                <a:latin typeface="Comic Sans MS" panose="030F0702030302020204" pitchFamily="66" charset="0"/>
              </a:rPr>
              <a:t>       What are we doing here? </a:t>
            </a:r>
          </a:p>
          <a:p>
            <a:pPr marL="0" indent="0">
              <a:spcBef>
                <a:spcPts val="0"/>
              </a:spcBef>
              <a:buNone/>
            </a:pPr>
            <a:endParaRPr lang="en-GB" dirty="0" smtClean="0">
              <a:effectLst/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9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Assessment Objectives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014" y="1825624"/>
            <a:ext cx="3579254" cy="4845631"/>
          </a:xfrm>
          <a:solidFill>
            <a:srgbClr val="FFFF00"/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AO1: Read, understand and respond to texts. Students should be able to: maintain a critical style and develop an informed person response; use textual references, including quotations, to support and illustrate interpretations.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05462" y="365125"/>
            <a:ext cx="2748338" cy="1325563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032160" y="1825624"/>
            <a:ext cx="2574701" cy="4884268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mtClean="0">
                <a:latin typeface="Comic Sans MS" panose="030F0702030302020204" pitchFamily="66" charset="0"/>
              </a:rPr>
              <a:t>AO2: Analyse the language, form and structure used by a writer to create meanings and effects, using relevant subject terminology where appropriate. 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839753" y="1825624"/>
            <a:ext cx="2381518" cy="4137293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mtClean="0">
                <a:latin typeface="Comic Sans MS" panose="030F0702030302020204" pitchFamily="66" charset="0"/>
              </a:rPr>
              <a:t>AO3: Show understanding of the relationships between texts and the contexts in which they were written. 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454163" y="1825624"/>
            <a:ext cx="2420155" cy="4137293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AO4: Use a range of vocabulary and sentence structures for clarity, purpose and effect, with accurate spelling and punctuation. 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90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35" y="1325562"/>
            <a:ext cx="3231524" cy="2190369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Main Idea/ Theme: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66197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>
                <a:latin typeface="Comic Sans MS" panose="030F0702030302020204" pitchFamily="66" charset="0"/>
              </a:rPr>
              <a:t>Title:</a:t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dirty="0" smtClean="0">
                <a:latin typeface="Comic Sans MS" panose="030F0702030302020204" pitchFamily="66" charset="0"/>
              </a:rPr>
              <a:t>Poet: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146699" y="1325562"/>
            <a:ext cx="4688985" cy="23728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Imagery: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726287" y="1325562"/>
            <a:ext cx="3231524" cy="5075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Language: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9965" y="3686621"/>
            <a:ext cx="3347434" cy="27141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Context: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129528" y="3851139"/>
            <a:ext cx="4688985" cy="13056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Tone: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129528" y="5309446"/>
            <a:ext cx="4688985" cy="13056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Rhythm/ Rhyme: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611414" y="128789"/>
            <a:ext cx="4580586" cy="1044084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Comic Sans MS" panose="030F0702030302020204" pitchFamily="66" charset="0"/>
              </a:rPr>
              <a:t>Date:</a:t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dirty="0" smtClean="0">
                <a:latin typeface="Comic Sans MS" panose="030F0702030302020204" pitchFamily="66" charset="0"/>
              </a:rPr>
              <a:t>Power or conflict?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6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1414" y="128789"/>
            <a:ext cx="4580586" cy="1044084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Comic Sans MS" panose="030F0702030302020204" pitchFamily="66" charset="0"/>
              </a:rPr>
              <a:t>Date:1917/18</a:t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smtClean="0">
                <a:latin typeface="Comic Sans MS" panose="030F0702030302020204" pitchFamily="66" charset="0"/>
              </a:rPr>
              <a:t>Power &amp; conflict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34" y="1325562"/>
            <a:ext cx="3347435" cy="2190369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 smtClean="0">
                <a:latin typeface="Comic Sans MS" panose="030F0702030302020204" pitchFamily="66" charset="0"/>
              </a:rPr>
              <a:t>Main Idea/ Theme:</a:t>
            </a:r>
          </a:p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Even in the midst of war, nature kills more men than warfare.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66197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>
                <a:latin typeface="Comic Sans MS" panose="030F0702030302020204" pitchFamily="66" charset="0"/>
              </a:rPr>
              <a:t>Title: </a:t>
            </a:r>
            <a:r>
              <a:rPr lang="en-GB" i="1" dirty="0" smtClean="0">
                <a:latin typeface="Comic Sans MS" panose="030F0702030302020204" pitchFamily="66" charset="0"/>
              </a:rPr>
              <a:t>Exposure</a:t>
            </a:r>
            <a:r>
              <a:rPr lang="en-GB" dirty="0" smtClean="0">
                <a:latin typeface="Comic Sans MS" panose="030F0702030302020204" pitchFamily="66" charset="0"/>
              </a:rPr>
              <a:t/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dirty="0" smtClean="0">
                <a:latin typeface="Comic Sans MS" panose="030F0702030302020204" pitchFamily="66" charset="0"/>
              </a:rPr>
              <a:t>Poet: Wilfred Owen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146699" y="1325562"/>
            <a:ext cx="4688985" cy="23728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Imagery: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Personification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Contrasts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726287" y="1325562"/>
            <a:ext cx="3231524" cy="5075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Language: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Assonance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Sibilance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Alliteration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Semantic fields of war and weather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9965" y="3686621"/>
            <a:ext cx="3347434" cy="27141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 smtClean="0">
                <a:latin typeface="Comic Sans MS" panose="030F0702030302020204" pitchFamily="66" charset="0"/>
              </a:rPr>
              <a:t>Context: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Written about men stationed on the Ypres Salient during WWI and written whilst Owen was hospitalised in 1917.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129528" y="3851139"/>
            <a:ext cx="4688985" cy="13056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Tone: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Reflective but bleak, melancholy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129528" y="5309446"/>
            <a:ext cx="4688985" cy="13056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Rhythm/ Rhyme: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Pararhyme (half rhyme) loosely using ABBA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74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515637" cy="793974"/>
          </a:xfrm>
        </p:spPr>
        <p:txBody>
          <a:bodyPr>
            <a:normAutofit fontScale="90000"/>
          </a:bodyPr>
          <a:lstStyle/>
          <a:p>
            <a:r>
              <a:rPr lang="en-GB" sz="4400" dirty="0" smtClean="0">
                <a:latin typeface="Comic Sans MS" panose="030F0702030302020204" pitchFamily="66" charset="0"/>
              </a:rPr>
              <a:t>Wilfred Owen (1893-1918)</a:t>
            </a:r>
            <a:endParaRPr lang="en-GB" sz="4400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32412"/>
            <a:ext cx="7941012" cy="5713087"/>
          </a:xfrm>
        </p:spPr>
        <p:txBody>
          <a:bodyPr>
            <a:normAutofit/>
          </a:bodyPr>
          <a:lstStyle/>
          <a:p>
            <a:r>
              <a:rPr lang="en-GB" sz="2800" dirty="0" smtClean="0">
                <a:latin typeface="Comic Sans MS" panose="030F0702030302020204" pitchFamily="66" charset="0"/>
              </a:rPr>
              <a:t>Owen was teaching in France when WW1 broke out. He enlisted and was sent to the front in 1916.</a:t>
            </a:r>
            <a:endParaRPr lang="en-GB" sz="2800" dirty="0">
              <a:latin typeface="Comic Sans MS" panose="030F0702030302020204" pitchFamily="66" charset="0"/>
            </a:endParaRPr>
          </a:p>
          <a:p>
            <a:r>
              <a:rPr lang="en-GB" sz="2800" dirty="0" smtClean="0">
                <a:latin typeface="Comic Sans MS" panose="030F0702030302020204" pitchFamily="66" charset="0"/>
              </a:rPr>
              <a:t>He met fellow poet Siegfried Sassoon in hospital and he became a major influence on Owen. He is also the one who had Owen’s poems collected, edited  and published after Owen died in combat in November 1918. </a:t>
            </a:r>
          </a:p>
          <a:p>
            <a:r>
              <a:rPr lang="en-GB" dirty="0" smtClean="0">
                <a:latin typeface="Comic Sans MS" panose="030F0702030302020204" pitchFamily="66" charset="0"/>
              </a:rPr>
              <a:t>Owen’s mix of realism and the ideas he had gained from his study of the romantic poets (particularly Keats and Shelley) created a unique poetic voice which is seen as perfectly fitting the heroism and tragedy of WWI.</a:t>
            </a:r>
          </a:p>
          <a:p>
            <a:endParaRPr lang="en-GB" sz="2800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http://zigzageducation.co.uk/synopses/SynopsesImages/50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464" y="1840022"/>
            <a:ext cx="3112424" cy="388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620946" y="193809"/>
            <a:ext cx="3571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Copy down into your notes</a:t>
            </a:r>
            <a:endParaRPr lang="en-GB" sz="36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12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9990" y="1"/>
            <a:ext cx="12241990" cy="914400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Context and glossary</a:t>
            </a:r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http://2.bp.blogspot.com/-bVcPlh6941E/T5kMR1tt8pI/AAAAAAAAAyI/hL-WVAaMwKM/s1600/snow+in+the+trench.jpg">
            <a:hlinkClick r:id="rId2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37" y="1117559"/>
            <a:ext cx="6586946" cy="509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745" y="124200"/>
            <a:ext cx="5147256" cy="6091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23042" y="6340266"/>
            <a:ext cx="3222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latin typeface="Comic Sans MS" panose="030F0702030302020204" pitchFamily="66" charset="0"/>
              </a:rPr>
              <a:t>YPRES SALIENT</a:t>
            </a:r>
            <a:endParaRPr lang="en-GB" sz="20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55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08" y="-2423"/>
            <a:ext cx="10738054" cy="686042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5046" y="0"/>
            <a:ext cx="7195777" cy="781095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Repeated words and ideas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36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153258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Comic Sans MS" panose="030F0702030302020204" pitchFamily="66" charset="0"/>
              </a:rPr>
              <a:t>The focus at the end of each stanza:</a:t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sz="3600" dirty="0" smtClean="0">
                <a:latin typeface="Comic Sans MS" panose="030F0702030302020204" pitchFamily="66" charset="0"/>
              </a:rPr>
              <a:t>Each stanza ends in a short line which builds on the previous stanza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242907"/>
          </a:xfrm>
        </p:spPr>
        <p:txBody>
          <a:bodyPr>
            <a:normAutofit/>
          </a:bodyPr>
          <a:lstStyle/>
          <a:p>
            <a:r>
              <a:rPr lang="en-GB" sz="2800" dirty="0" smtClean="0">
                <a:latin typeface="Comic Sans MS" panose="030F0702030302020204" pitchFamily="66" charset="0"/>
              </a:rPr>
              <a:t>Stanza 1: ‘But nothing happens’</a:t>
            </a:r>
          </a:p>
          <a:p>
            <a:r>
              <a:rPr lang="en-GB" sz="2800" dirty="0" smtClean="0">
                <a:latin typeface="Comic Sans MS" panose="030F0702030302020204" pitchFamily="66" charset="0"/>
              </a:rPr>
              <a:t>Stanza 2: ‘What are we doing here?’</a:t>
            </a:r>
            <a:endParaRPr lang="en-GB" sz="2800" dirty="0">
              <a:latin typeface="Comic Sans MS" panose="030F0702030302020204" pitchFamily="66" charset="0"/>
            </a:endParaRPr>
          </a:p>
          <a:p>
            <a:r>
              <a:rPr lang="en-GB" sz="2800" dirty="0" smtClean="0">
                <a:latin typeface="Comic Sans MS" panose="030F0702030302020204" pitchFamily="66" charset="0"/>
              </a:rPr>
              <a:t>Stanza 3: </a:t>
            </a:r>
            <a:r>
              <a:rPr lang="en-GB" sz="2800" dirty="0">
                <a:latin typeface="Comic Sans MS" panose="030F0702030302020204" pitchFamily="66" charset="0"/>
              </a:rPr>
              <a:t>‘But nothing happens’</a:t>
            </a:r>
          </a:p>
          <a:p>
            <a:r>
              <a:rPr lang="en-GB" sz="2800" dirty="0" smtClean="0">
                <a:latin typeface="Comic Sans MS" panose="030F0702030302020204" pitchFamily="66" charset="0"/>
              </a:rPr>
              <a:t>Stanza 4: </a:t>
            </a:r>
            <a:r>
              <a:rPr lang="en-GB" sz="2800" dirty="0">
                <a:latin typeface="Comic Sans MS" panose="030F0702030302020204" pitchFamily="66" charset="0"/>
              </a:rPr>
              <a:t>‘But nothing happens’</a:t>
            </a:r>
          </a:p>
          <a:p>
            <a:r>
              <a:rPr lang="en-GB" sz="2800" dirty="0" smtClean="0">
                <a:latin typeface="Comic Sans MS" panose="030F0702030302020204" pitchFamily="66" charset="0"/>
              </a:rPr>
              <a:t>Stanza 5: ‘Is it that we are dying?’</a:t>
            </a:r>
            <a:endParaRPr lang="en-GB" sz="2800" dirty="0">
              <a:latin typeface="Comic Sans MS" panose="030F0702030302020204" pitchFamily="66" charset="0"/>
            </a:endParaRPr>
          </a:p>
          <a:p>
            <a:r>
              <a:rPr lang="en-GB" sz="2800" dirty="0" smtClean="0">
                <a:latin typeface="Comic Sans MS" panose="030F0702030302020204" pitchFamily="66" charset="0"/>
              </a:rPr>
              <a:t>Stanza 6: ‘We turn back to our dying’</a:t>
            </a:r>
            <a:endParaRPr lang="en-GB" sz="2800" dirty="0">
              <a:latin typeface="Comic Sans MS" panose="030F0702030302020204" pitchFamily="66" charset="0"/>
            </a:endParaRPr>
          </a:p>
          <a:p>
            <a:r>
              <a:rPr lang="en-GB" sz="2800" dirty="0" smtClean="0">
                <a:latin typeface="Comic Sans MS" panose="030F0702030302020204" pitchFamily="66" charset="0"/>
              </a:rPr>
              <a:t>Stanza 7: ‘ For love of God seems dying’</a:t>
            </a:r>
            <a:endParaRPr lang="en-GB" sz="2800" dirty="0">
              <a:latin typeface="Comic Sans MS" panose="030F0702030302020204" pitchFamily="66" charset="0"/>
            </a:endParaRPr>
          </a:p>
          <a:p>
            <a:r>
              <a:rPr lang="en-GB" sz="2800" dirty="0" smtClean="0">
                <a:latin typeface="Comic Sans MS" panose="030F0702030302020204" pitchFamily="66" charset="0"/>
              </a:rPr>
              <a:t>Stanza 8: </a:t>
            </a:r>
            <a:r>
              <a:rPr lang="en-GB" sz="2800" dirty="0">
                <a:latin typeface="Comic Sans MS" panose="030F0702030302020204" pitchFamily="66" charset="0"/>
              </a:rPr>
              <a:t>‘But nothing happens’</a:t>
            </a:r>
            <a:endParaRPr lang="en-GB" sz="2800" dirty="0" smtClean="0">
              <a:latin typeface="Comic Sans MS" panose="030F0702030302020204" pitchFamily="66" charset="0"/>
            </a:endParaRPr>
          </a:p>
          <a:p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7753083" y="2833353"/>
            <a:ext cx="4224270" cy="312956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What is the effect of the repetition?</a:t>
            </a:r>
            <a:endParaRPr lang="en-GB" sz="32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86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4" name="Picture 2" descr="Jigsaw showing how to form an answer talking first about the poet's intention, then using a quote and finally explaining its eff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00" y="1646448"/>
            <a:ext cx="9887728" cy="402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739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470</Words>
  <Application>Microsoft Office PowerPoint</Application>
  <PresentationFormat>Widescreen</PresentationFormat>
  <Paragraphs>63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Office Theme</vt:lpstr>
      <vt:lpstr>Starter: Remind yourself of the poem and your notes for Exposure</vt:lpstr>
      <vt:lpstr>Assessment Objectives</vt:lpstr>
      <vt:lpstr>Date: Power or conflict?</vt:lpstr>
      <vt:lpstr>Date:1917/18 Power &amp; conflict</vt:lpstr>
      <vt:lpstr>Wilfred Owen (1893-1918)</vt:lpstr>
      <vt:lpstr>Context and glossary</vt:lpstr>
      <vt:lpstr>Repeated words and ideas</vt:lpstr>
      <vt:lpstr>The focus at the end of each stanza: Each stanza ends in a short line which builds on the previous stanza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Lix</dc:creator>
  <cp:lastModifiedBy>DYER, A</cp:lastModifiedBy>
  <cp:revision>5</cp:revision>
  <dcterms:created xsi:type="dcterms:W3CDTF">2016-12-04T22:21:02Z</dcterms:created>
  <dcterms:modified xsi:type="dcterms:W3CDTF">2016-12-06T09:03:59Z</dcterms:modified>
</cp:coreProperties>
</file>