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4" r:id="rId5"/>
    <p:sldId id="265" r:id="rId6"/>
    <p:sldId id="266" r:id="rId7"/>
    <p:sldId id="267" r:id="rId8"/>
    <p:sldId id="268" r:id="rId9"/>
    <p:sldId id="259" r:id="rId10"/>
    <p:sldId id="261" r:id="rId11"/>
    <p:sldId id="260" r:id="rId12"/>
    <p:sldId id="262" r:id="rId13"/>
    <p:sldId id="263"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50" d="100"/>
          <a:sy n="50" d="100"/>
        </p:scale>
        <p:origin x="1452" y="5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28454A-19CC-4767-8B18-74BAFD522567}" type="datetimeFigureOut">
              <a:rPr lang="en-GB" smtClean="0"/>
              <a:t>08/12/2016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FC6FCE-B06F-4CA7-9616-677261262960}" type="slidenum">
              <a:rPr lang="en-GB" smtClean="0"/>
              <a:t>‹#›</a:t>
            </a:fld>
            <a:endParaRPr lang="en-GB"/>
          </a:p>
        </p:txBody>
      </p:sp>
    </p:spTree>
    <p:extLst>
      <p:ext uri="{BB962C8B-B14F-4D97-AF65-F5344CB8AC3E}">
        <p14:creationId xmlns:p14="http://schemas.microsoft.com/office/powerpoint/2010/main" val="420536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Resource 1. Additional help for </a:t>
            </a:r>
            <a:r>
              <a:rPr lang="en-GB" smtClean="0"/>
              <a:t>this task </a:t>
            </a:r>
            <a:r>
              <a:rPr lang="en-GB" dirty="0" smtClean="0"/>
              <a:t>can be found on p.</a:t>
            </a:r>
            <a:r>
              <a:rPr lang="en-GB" baseline="0" dirty="0" smtClean="0"/>
              <a:t> 6 &amp; 7 in the poetry student book. </a:t>
            </a:r>
            <a:endParaRPr lang="en-GB" dirty="0"/>
          </a:p>
        </p:txBody>
      </p:sp>
      <p:sp>
        <p:nvSpPr>
          <p:cNvPr id="4" name="Slide Number Placeholder 3"/>
          <p:cNvSpPr>
            <a:spLocks noGrp="1"/>
          </p:cNvSpPr>
          <p:nvPr>
            <p:ph type="sldNum" sz="quarter" idx="10"/>
          </p:nvPr>
        </p:nvSpPr>
        <p:spPr/>
        <p:txBody>
          <a:bodyPr/>
          <a:lstStyle/>
          <a:p>
            <a:fld id="{3DB29E8A-9E28-4D1B-9C77-3B5F9665D022}" type="slidenum">
              <a:rPr lang="en-GB" smtClean="0"/>
              <a:pPr/>
              <a:t>2</a:t>
            </a:fld>
            <a:endParaRPr lang="en-GB"/>
          </a:p>
        </p:txBody>
      </p:sp>
    </p:spTree>
    <p:extLst>
      <p:ext uri="{BB962C8B-B14F-4D97-AF65-F5344CB8AC3E}">
        <p14:creationId xmlns:p14="http://schemas.microsoft.com/office/powerpoint/2010/main" val="1250838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08/12/2016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77409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08/12/2016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427405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037C33-83D5-40E7-AA49-600BECFD8777}" type="datetimeFigureOut">
              <a:rPr lang="en-GB" smtClean="0"/>
              <a:t>08/12/2016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1133113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6D037C33-83D5-40E7-AA49-600BECFD8777}" type="datetimeFigureOut">
              <a:rPr lang="en-GB" smtClean="0"/>
              <a:t>08/12/2016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3096861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D037C33-83D5-40E7-AA49-600BECFD8777}" type="datetimeFigureOut">
              <a:rPr lang="en-GB" smtClean="0"/>
              <a:t>08/12/2016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690481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6D037C33-83D5-40E7-AA49-600BECFD8777}" type="datetimeFigureOut">
              <a:rPr lang="en-GB" smtClean="0"/>
              <a:t>08/12/2016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004960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37C33-83D5-40E7-AA49-600BECFD8777}" type="datetimeFigureOut">
              <a:rPr lang="en-GB" smtClean="0"/>
              <a:t>08/12/2016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5098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037C33-83D5-40E7-AA49-600BECFD8777}" type="datetimeFigureOut">
              <a:rPr lang="en-GB" smtClean="0"/>
              <a:t>08/12/2016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727959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037C33-83D5-40E7-AA49-600BECFD8777}" type="datetimeFigureOut">
              <a:rPr lang="en-GB" smtClean="0"/>
              <a:t>08/12/2016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42686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08/12/2016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17234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08/12/2016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68718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037C33-83D5-40E7-AA49-600BECFD8777}" type="datetimeFigureOut">
              <a:rPr lang="en-GB" smtClean="0"/>
              <a:t>08/12/2016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E1D401-CB51-49CF-BC15-49EE022D68C3}" type="slidenum">
              <a:rPr lang="en-GB" smtClean="0"/>
              <a:t>‹#›</a:t>
            </a:fld>
            <a:endParaRPr lang="en-GB"/>
          </a:p>
        </p:txBody>
      </p:sp>
    </p:spTree>
    <p:extLst>
      <p:ext uri="{BB962C8B-B14F-4D97-AF65-F5344CB8AC3E}">
        <p14:creationId xmlns:p14="http://schemas.microsoft.com/office/powerpoint/2010/main" val="160439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uk/imgres?imgurl=https://dncache-mauganscorp.netdna-ssl.com/thumbseg/1116/1116034-bigthumbnail.jpg&amp;imgrefurl=https://nature.desktopnexus.com/wallpaper/1116034/&amp;docid=Fq5rh_WVKIehOM&amp;tbnid=TZChc426Xu8-tM:&amp;vet=1&amp;w=450&amp;h=300&amp;client=firefox-b&amp;bih=874&amp;biw=1958"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1325563"/>
          </a:xfrm>
        </p:spPr>
        <p:txBody>
          <a:bodyPr/>
          <a:lstStyle/>
          <a:p>
            <a:r>
              <a:rPr lang="en-GB" dirty="0" smtClean="0">
                <a:latin typeface="Comic Sans MS" panose="030F0702030302020204" pitchFamily="66" charset="0"/>
              </a:rPr>
              <a:t>Starter: Remind yourself of </a:t>
            </a:r>
            <a:r>
              <a:rPr lang="en-GB" i="1" dirty="0" smtClean="0">
                <a:latin typeface="Comic Sans MS" panose="030F0702030302020204" pitchFamily="66" charset="0"/>
              </a:rPr>
              <a:t>The Prelude</a:t>
            </a:r>
            <a:r>
              <a:rPr lang="en-GB" dirty="0" smtClean="0">
                <a:latin typeface="Comic Sans MS" panose="030F0702030302020204" pitchFamily="66" charset="0"/>
              </a:rPr>
              <a:t> and </a:t>
            </a:r>
            <a:r>
              <a:rPr lang="en-GB" i="1" dirty="0" smtClean="0">
                <a:latin typeface="Comic Sans MS" panose="030F0702030302020204" pitchFamily="66" charset="0"/>
              </a:rPr>
              <a:t>Storm on the Island</a:t>
            </a:r>
            <a:endParaRPr lang="en-GB" i="1" dirty="0">
              <a:latin typeface="Comic Sans MS" panose="030F0702030302020204" pitchFamily="66" charset="0"/>
            </a:endParaRPr>
          </a:p>
        </p:txBody>
      </p:sp>
      <p:pic>
        <p:nvPicPr>
          <p:cNvPr id="1026" name="Picture 2" descr="Image result for storm on the isla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5347" y="2055421"/>
            <a:ext cx="5355956" cy="40169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lated image">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224" y="2055421"/>
            <a:ext cx="6021354" cy="4006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96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lstStyle/>
          <a:p>
            <a:r>
              <a:rPr lang="en-GB" dirty="0" smtClean="0">
                <a:latin typeface="Comic Sans MS" panose="030F0702030302020204" pitchFamily="66" charset="0"/>
              </a:rPr>
              <a:t>Assessment Objectives</a:t>
            </a:r>
            <a:endParaRPr lang="en-GB" dirty="0">
              <a:latin typeface="Comic Sans MS" panose="030F0702030302020204" pitchFamily="66" charset="0"/>
            </a:endParaRPr>
          </a:p>
        </p:txBody>
      </p:sp>
      <p:sp>
        <p:nvSpPr>
          <p:cNvPr id="3" name="Content Placeholder 2"/>
          <p:cNvSpPr>
            <a:spLocks noGrp="1"/>
          </p:cNvSpPr>
          <p:nvPr>
            <p:ph idx="1"/>
          </p:nvPr>
        </p:nvSpPr>
        <p:spPr>
          <a:xfrm>
            <a:off x="220014" y="1825624"/>
            <a:ext cx="3579254" cy="4845631"/>
          </a:xfrm>
          <a:solidFill>
            <a:srgbClr val="FFFF00"/>
          </a:solidFill>
        </p:spPr>
        <p:txBody>
          <a:bodyPr>
            <a:normAutofit fontScale="92500"/>
          </a:bodyPr>
          <a:lstStyle/>
          <a:p>
            <a:pPr marL="0" indent="0">
              <a:buNone/>
            </a:pPr>
            <a:r>
              <a:rPr lang="en-GB" dirty="0" smtClean="0">
                <a:latin typeface="Comic Sans MS" panose="030F0702030302020204" pitchFamily="66" charset="0"/>
              </a:rPr>
              <a:t>AO1: Read, understand and respond to texts. Students should be able to: maintain a critical style and develop an informed person response; use textual references, including quotations, to support and illustrate interpretations. </a:t>
            </a:r>
          </a:p>
        </p:txBody>
      </p:sp>
      <p:pic>
        <p:nvPicPr>
          <p:cNvPr id="4" name="Picture 3"/>
          <p:cNvPicPr>
            <a:picLocks noChangeAspect="1"/>
          </p:cNvPicPr>
          <p:nvPr/>
        </p:nvPicPr>
        <p:blipFill>
          <a:blip r:embed="rId3" cstate="print"/>
          <a:stretch>
            <a:fillRect/>
          </a:stretch>
        </p:blipFill>
        <p:spPr>
          <a:xfrm>
            <a:off x="8605462" y="365125"/>
            <a:ext cx="2748338" cy="1325563"/>
          </a:xfrm>
          <a:prstGeom prst="rect">
            <a:avLst/>
          </a:prstGeom>
        </p:spPr>
      </p:pic>
      <p:sp>
        <p:nvSpPr>
          <p:cNvPr id="7" name="Content Placeholder 2"/>
          <p:cNvSpPr txBox="1">
            <a:spLocks/>
          </p:cNvSpPr>
          <p:nvPr/>
        </p:nvSpPr>
        <p:spPr>
          <a:xfrm>
            <a:off x="4032160" y="1825624"/>
            <a:ext cx="2574701" cy="4884268"/>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latin typeface="Comic Sans MS" panose="030F0702030302020204" pitchFamily="66" charset="0"/>
              </a:rPr>
              <a:t>AO2: Analyse the language, form and structure used by a writer to create meanings and effects, using relevant subject terminology where appropriate. </a:t>
            </a:r>
            <a:endParaRPr lang="en-GB" dirty="0">
              <a:latin typeface="Comic Sans MS" panose="030F0702030302020204" pitchFamily="66" charset="0"/>
            </a:endParaRPr>
          </a:p>
        </p:txBody>
      </p:sp>
      <p:sp>
        <p:nvSpPr>
          <p:cNvPr id="8" name="Content Placeholder 2"/>
          <p:cNvSpPr txBox="1">
            <a:spLocks/>
          </p:cNvSpPr>
          <p:nvPr/>
        </p:nvSpPr>
        <p:spPr>
          <a:xfrm>
            <a:off x="6839753" y="1825624"/>
            <a:ext cx="2381518" cy="4137293"/>
          </a:xfrm>
          <a:prstGeom prst="rect">
            <a:avLst/>
          </a:prstGeom>
          <a:solidFill>
            <a:srgbClr val="FFFF0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latin typeface="Comic Sans MS" panose="030F0702030302020204" pitchFamily="66" charset="0"/>
              </a:rPr>
              <a:t>AO3: Show understanding of the relationships between texts and the contexts in which they were written. </a:t>
            </a:r>
            <a:endParaRPr lang="en-GB" dirty="0">
              <a:latin typeface="Comic Sans MS" panose="030F0702030302020204" pitchFamily="66" charset="0"/>
            </a:endParaRPr>
          </a:p>
        </p:txBody>
      </p:sp>
      <p:sp>
        <p:nvSpPr>
          <p:cNvPr id="9" name="Content Placeholder 2"/>
          <p:cNvSpPr txBox="1">
            <a:spLocks/>
          </p:cNvSpPr>
          <p:nvPr/>
        </p:nvSpPr>
        <p:spPr>
          <a:xfrm>
            <a:off x="9454163" y="1825624"/>
            <a:ext cx="2420155" cy="4137293"/>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AO4: Use a range of vocabulary and sentence structures for clarity, purpose and effect, with accurate spelling and punctuation. </a:t>
            </a:r>
            <a:endParaRPr lang="en-GB" dirty="0">
              <a:latin typeface="Comic Sans MS" panose="030F0702030302020204" pitchFamily="66" charset="0"/>
            </a:endParaRPr>
          </a:p>
        </p:txBody>
      </p:sp>
    </p:spTree>
    <p:extLst>
      <p:ext uri="{BB962C8B-B14F-4D97-AF65-F5344CB8AC3E}">
        <p14:creationId xmlns:p14="http://schemas.microsoft.com/office/powerpoint/2010/main" val="12989045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5" y="1325562"/>
            <a:ext cx="3231524" cy="2190369"/>
          </a:xfrm>
          <a:ln>
            <a:solidFill>
              <a:schemeClr val="tx1"/>
            </a:solidFill>
          </a:ln>
        </p:spPr>
        <p:txBody>
          <a:bodyPr/>
          <a:lstStyle/>
          <a:p>
            <a:pPr marL="0" indent="0">
              <a:buNone/>
            </a:pPr>
            <a:r>
              <a:rPr lang="en-GB" dirty="0" smtClean="0">
                <a:latin typeface="Comic Sans MS" panose="030F0702030302020204" pitchFamily="66" charset="0"/>
              </a:rPr>
              <a:t>Main Idea/ Theme:</a:t>
            </a:r>
          </a:p>
          <a:p>
            <a:pPr marL="0" indent="0">
              <a:buNone/>
            </a:pPr>
            <a:r>
              <a:rPr lang="en-GB" dirty="0" smtClean="0">
                <a:latin typeface="Comic Sans MS" panose="030F0702030302020204" pitchFamily="66" charset="0"/>
              </a:rPr>
              <a:t>The power of nature to change man</a:t>
            </a:r>
            <a:endParaRPr lang="en-GB" dirty="0">
              <a:latin typeface="Comic Sans MS" panose="030F0702030302020204" pitchFamily="66" charset="0"/>
            </a:endParaRPr>
          </a:p>
        </p:txBody>
      </p:sp>
      <p:sp>
        <p:nvSpPr>
          <p:cNvPr id="4" name="Title 1"/>
          <p:cNvSpPr txBox="1">
            <a:spLocks/>
          </p:cNvSpPr>
          <p:nvPr/>
        </p:nvSpPr>
        <p:spPr>
          <a:xfrm>
            <a:off x="0" y="0"/>
            <a:ext cx="6619741" cy="132556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latin typeface="Comic Sans MS" panose="030F0702030302020204" pitchFamily="66" charset="0"/>
              </a:rPr>
              <a:t>Title: The Prelude</a:t>
            </a:r>
            <a:br>
              <a:rPr lang="en-GB" dirty="0" smtClean="0">
                <a:latin typeface="Comic Sans MS" panose="030F0702030302020204" pitchFamily="66" charset="0"/>
              </a:rPr>
            </a:br>
            <a:r>
              <a:rPr lang="en-GB" dirty="0" smtClean="0">
                <a:latin typeface="Comic Sans MS" panose="030F0702030302020204" pitchFamily="66" charset="0"/>
              </a:rPr>
              <a:t>Poet: William Wordsworth</a:t>
            </a:r>
            <a:endParaRPr lang="en-GB" dirty="0">
              <a:latin typeface="Comic Sans MS" panose="030F0702030302020204" pitchFamily="66" charset="0"/>
            </a:endParaRPr>
          </a:p>
        </p:txBody>
      </p:sp>
      <p:sp>
        <p:nvSpPr>
          <p:cNvPr id="5" name="Content Placeholder 2"/>
          <p:cNvSpPr txBox="1">
            <a:spLocks/>
          </p:cNvSpPr>
          <p:nvPr/>
        </p:nvSpPr>
        <p:spPr>
          <a:xfrm>
            <a:off x="7146699" y="1325562"/>
            <a:ext cx="4688985" cy="23728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Imagery:</a:t>
            </a:r>
          </a:p>
          <a:p>
            <a:pPr marL="0" indent="0">
              <a:buFont typeface="Arial" panose="020B0604020202020204" pitchFamily="34" charset="0"/>
              <a:buNone/>
            </a:pPr>
            <a:r>
              <a:rPr lang="en-GB" dirty="0" smtClean="0">
                <a:latin typeface="Comic Sans MS" panose="030F0702030302020204" pitchFamily="66" charset="0"/>
              </a:rPr>
              <a:t>Personification of nature and the mountain.</a:t>
            </a:r>
          </a:p>
          <a:p>
            <a:pPr marL="0" indent="0">
              <a:buFont typeface="Arial" panose="020B0604020202020204" pitchFamily="34" charset="0"/>
              <a:buNone/>
            </a:pPr>
            <a:endParaRPr lang="en-GB" dirty="0">
              <a:latin typeface="Comic Sans MS" panose="030F0702030302020204" pitchFamily="66" charset="0"/>
            </a:endParaRPr>
          </a:p>
        </p:txBody>
      </p:sp>
      <p:sp>
        <p:nvSpPr>
          <p:cNvPr id="6" name="Content Placeholder 2"/>
          <p:cNvSpPr txBox="1">
            <a:spLocks/>
          </p:cNvSpPr>
          <p:nvPr/>
        </p:nvSpPr>
        <p:spPr>
          <a:xfrm>
            <a:off x="3726287" y="1325562"/>
            <a:ext cx="3231524" cy="507523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Language/ Form:</a:t>
            </a:r>
          </a:p>
          <a:p>
            <a:pPr marL="0" indent="0">
              <a:buFont typeface="Arial" panose="020B0604020202020204" pitchFamily="34" charset="0"/>
              <a:buNone/>
            </a:pPr>
            <a:r>
              <a:rPr lang="en-GB" dirty="0" smtClean="0">
                <a:latin typeface="Comic Sans MS" panose="030F0702030302020204" pitchFamily="66" charset="0"/>
              </a:rPr>
              <a:t>Blank verse</a:t>
            </a:r>
          </a:p>
          <a:p>
            <a:pPr marL="0" indent="0">
              <a:buFont typeface="Arial" panose="020B0604020202020204" pitchFamily="34" charset="0"/>
              <a:buNone/>
            </a:pPr>
            <a:r>
              <a:rPr lang="en-GB" dirty="0" smtClean="0">
                <a:latin typeface="Comic Sans MS" panose="030F0702030302020204" pitchFamily="66" charset="0"/>
              </a:rPr>
              <a:t>Personification</a:t>
            </a:r>
          </a:p>
          <a:p>
            <a:pPr marL="0" indent="0">
              <a:buFont typeface="Arial" panose="020B0604020202020204" pitchFamily="34" charset="0"/>
              <a:buNone/>
            </a:pPr>
            <a:r>
              <a:rPr lang="en-GB" dirty="0" smtClean="0">
                <a:latin typeface="Comic Sans MS" panose="030F0702030302020204" pitchFamily="66" charset="0"/>
              </a:rPr>
              <a:t>Enjambment</a:t>
            </a:r>
          </a:p>
          <a:p>
            <a:pPr marL="0" indent="0">
              <a:buFont typeface="Arial" panose="020B0604020202020204" pitchFamily="34" charset="0"/>
              <a:buNone/>
            </a:pPr>
            <a:r>
              <a:rPr lang="en-GB" dirty="0" smtClean="0">
                <a:latin typeface="Comic Sans MS" panose="030F0702030302020204" pitchFamily="66" charset="0"/>
              </a:rPr>
              <a:t>Caesura</a:t>
            </a:r>
          </a:p>
          <a:p>
            <a:pPr marL="0" indent="0">
              <a:buFont typeface="Arial" panose="020B0604020202020204" pitchFamily="34" charset="0"/>
              <a:buNone/>
            </a:pPr>
            <a:r>
              <a:rPr lang="en-GB" dirty="0" smtClean="0">
                <a:latin typeface="Comic Sans MS" panose="030F0702030302020204" pitchFamily="66" charset="0"/>
              </a:rPr>
              <a:t>Similes</a:t>
            </a:r>
          </a:p>
          <a:p>
            <a:pPr marL="0" indent="0">
              <a:buFont typeface="Arial" panose="020B0604020202020204" pitchFamily="34" charset="0"/>
              <a:buNone/>
            </a:pPr>
            <a:r>
              <a:rPr lang="en-GB" dirty="0" smtClean="0">
                <a:latin typeface="Comic Sans MS" panose="030F0702030302020204" pitchFamily="66" charset="0"/>
              </a:rPr>
              <a:t>Repetition</a:t>
            </a:r>
          </a:p>
          <a:p>
            <a:pPr marL="0" indent="0">
              <a:buFont typeface="Arial" panose="020B0604020202020204" pitchFamily="34" charset="0"/>
              <a:buNone/>
            </a:pPr>
            <a:r>
              <a:rPr lang="en-GB" dirty="0" smtClean="0">
                <a:latin typeface="Comic Sans MS" panose="030F0702030302020204" pitchFamily="66" charset="0"/>
              </a:rPr>
              <a:t>Sibilance</a:t>
            </a:r>
          </a:p>
          <a:p>
            <a:pPr marL="0" indent="0">
              <a:buFont typeface="Arial" panose="020B0604020202020204" pitchFamily="34" charset="0"/>
              <a:buNone/>
            </a:pPr>
            <a:endParaRPr lang="en-GB" dirty="0">
              <a:latin typeface="Comic Sans MS" panose="030F0702030302020204" pitchFamily="66" charset="0"/>
            </a:endParaRPr>
          </a:p>
        </p:txBody>
      </p:sp>
      <p:sp>
        <p:nvSpPr>
          <p:cNvPr id="7" name="Content Placeholder 2"/>
          <p:cNvSpPr txBox="1">
            <a:spLocks/>
          </p:cNvSpPr>
          <p:nvPr/>
        </p:nvSpPr>
        <p:spPr>
          <a:xfrm>
            <a:off x="189965" y="3686621"/>
            <a:ext cx="3347434" cy="2714177"/>
          </a:xfrm>
          <a:prstGeom prst="rect">
            <a:avLst/>
          </a:prstGeom>
          <a:ln>
            <a:solidFill>
              <a:schemeClr val="tx1"/>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Context:</a:t>
            </a:r>
          </a:p>
          <a:p>
            <a:pPr marL="0" indent="0">
              <a:buFont typeface="Arial" panose="020B0604020202020204" pitchFamily="34" charset="0"/>
              <a:buNone/>
            </a:pPr>
            <a:r>
              <a:rPr lang="en-GB" dirty="0" smtClean="0">
                <a:latin typeface="Comic Sans MS" panose="030F0702030302020204" pitchFamily="66" charset="0"/>
              </a:rPr>
              <a:t>Wordsworth reflecting on his childhood experience of stealing a boat and rowing out on a lake</a:t>
            </a:r>
            <a:endParaRPr lang="en-GB" dirty="0">
              <a:latin typeface="Comic Sans MS" panose="030F0702030302020204" pitchFamily="66" charset="0"/>
            </a:endParaRPr>
          </a:p>
        </p:txBody>
      </p:sp>
      <p:sp>
        <p:nvSpPr>
          <p:cNvPr id="8" name="Content Placeholder 2"/>
          <p:cNvSpPr txBox="1">
            <a:spLocks/>
          </p:cNvSpPr>
          <p:nvPr/>
        </p:nvSpPr>
        <p:spPr>
          <a:xfrm>
            <a:off x="7129528" y="3851139"/>
            <a:ext cx="4688985" cy="1305618"/>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Tone: Moves from excited and mischievous to scared before ending feeling depressed</a:t>
            </a:r>
            <a:endParaRPr lang="en-GB" dirty="0">
              <a:latin typeface="Comic Sans MS" panose="030F0702030302020204" pitchFamily="66" charset="0"/>
            </a:endParaRPr>
          </a:p>
        </p:txBody>
      </p:sp>
      <p:sp>
        <p:nvSpPr>
          <p:cNvPr id="9" name="Content Placeholder 2"/>
          <p:cNvSpPr txBox="1">
            <a:spLocks/>
          </p:cNvSpPr>
          <p:nvPr/>
        </p:nvSpPr>
        <p:spPr>
          <a:xfrm>
            <a:off x="7129528" y="5309446"/>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Rhythm/ Rhyme:</a:t>
            </a:r>
          </a:p>
          <a:p>
            <a:pPr marL="0" indent="0">
              <a:buFont typeface="Arial" panose="020B0604020202020204" pitchFamily="34" charset="0"/>
              <a:buNone/>
            </a:pPr>
            <a:r>
              <a:rPr lang="en-GB" dirty="0" smtClean="0">
                <a:latin typeface="Comic Sans MS" panose="030F0702030302020204" pitchFamily="66" charset="0"/>
              </a:rPr>
              <a:t>Blank verse (unrhymed IP)</a:t>
            </a:r>
            <a:endParaRPr lang="en-GB" dirty="0">
              <a:latin typeface="Comic Sans MS" panose="030F0702030302020204" pitchFamily="66" charset="0"/>
            </a:endParaRPr>
          </a:p>
        </p:txBody>
      </p:sp>
      <p:sp>
        <p:nvSpPr>
          <p:cNvPr id="12" name="Title 1"/>
          <p:cNvSpPr>
            <a:spLocks noGrp="1"/>
          </p:cNvSpPr>
          <p:nvPr>
            <p:ph type="title"/>
          </p:nvPr>
        </p:nvSpPr>
        <p:spPr>
          <a:xfrm>
            <a:off x="7611414" y="128789"/>
            <a:ext cx="4580586" cy="1044084"/>
          </a:xfrm>
        </p:spPr>
        <p:txBody>
          <a:bodyPr>
            <a:normAutofit fontScale="90000"/>
          </a:bodyPr>
          <a:lstStyle/>
          <a:p>
            <a:r>
              <a:rPr lang="en-GB" dirty="0" smtClean="0">
                <a:latin typeface="Comic Sans MS" panose="030F0702030302020204" pitchFamily="66" charset="0"/>
              </a:rPr>
              <a:t>Date: 1805</a:t>
            </a:r>
            <a:br>
              <a:rPr lang="en-GB" dirty="0" smtClean="0">
                <a:latin typeface="Comic Sans MS" panose="030F0702030302020204" pitchFamily="66" charset="0"/>
              </a:rPr>
            </a:br>
            <a:r>
              <a:rPr lang="en-GB" dirty="0" smtClean="0">
                <a:latin typeface="Comic Sans MS" panose="030F0702030302020204" pitchFamily="66" charset="0"/>
              </a:rPr>
              <a:t>Power and conflict</a:t>
            </a:r>
            <a:endParaRPr lang="en-GB" dirty="0">
              <a:latin typeface="Comic Sans MS" panose="030F0702030302020204" pitchFamily="66" charset="0"/>
            </a:endParaRPr>
          </a:p>
        </p:txBody>
      </p:sp>
    </p:spTree>
    <p:extLst>
      <p:ext uri="{BB962C8B-B14F-4D97-AF65-F5344CB8AC3E}">
        <p14:creationId xmlns:p14="http://schemas.microsoft.com/office/powerpoint/2010/main" val="35370634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omic Sans MS" panose="030F0702030302020204" pitchFamily="66" charset="0"/>
              </a:rPr>
              <a:t>William Wordsworth</a:t>
            </a:r>
            <a:endParaRPr lang="en-GB" dirty="0">
              <a:latin typeface="Comic Sans MS" panose="030F0702030302020204" pitchFamily="66" charset="0"/>
            </a:endParaRPr>
          </a:p>
        </p:txBody>
      </p:sp>
      <p:sp>
        <p:nvSpPr>
          <p:cNvPr id="3" name="Content Placeholder 2"/>
          <p:cNvSpPr>
            <a:spLocks noGrp="1"/>
          </p:cNvSpPr>
          <p:nvPr>
            <p:ph idx="1"/>
          </p:nvPr>
        </p:nvSpPr>
        <p:spPr>
          <a:xfrm>
            <a:off x="818711" y="2222287"/>
            <a:ext cx="7488161" cy="3689917"/>
          </a:xfrm>
        </p:spPr>
        <p:txBody>
          <a:bodyPr>
            <a:normAutofit/>
          </a:bodyPr>
          <a:lstStyle/>
          <a:p>
            <a:r>
              <a:rPr lang="en-GB" sz="2400" dirty="0" smtClean="0">
                <a:latin typeface="Comic Sans MS" panose="030F0702030302020204" pitchFamily="66" charset="0"/>
              </a:rPr>
              <a:t>Wordsworth was the stereotypical Romantic poet. He spent most of his life composing poetry as he walked around the Lake District. His poems are all about trying to restore the relationship between man and nature.</a:t>
            </a:r>
          </a:p>
          <a:p>
            <a:r>
              <a:rPr lang="en-GB" sz="2400" dirty="0" smtClean="0">
                <a:latin typeface="Comic Sans MS" panose="030F0702030302020204" pitchFamily="66" charset="0"/>
              </a:rPr>
              <a:t>He was made Poet Laureate in 1843.</a:t>
            </a:r>
            <a:endParaRPr lang="en-GB" sz="2400" dirty="0">
              <a:latin typeface="Comic Sans MS" panose="030F0702030302020204" pitchFamily="66" charset="0"/>
            </a:endParaRPr>
          </a:p>
        </p:txBody>
      </p:sp>
      <p:pic>
        <p:nvPicPr>
          <p:cNvPr id="1026" name="Picture 2" descr="http://images.huffingtonpost.com/2011-04-07-image-ma_101_wordsworthcropp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0933" y="2168879"/>
            <a:ext cx="3076575" cy="37433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011364" y="136940"/>
            <a:ext cx="3180636" cy="1200329"/>
          </a:xfrm>
          <a:prstGeom prst="rect">
            <a:avLst/>
          </a:prstGeom>
          <a:noFill/>
        </p:spPr>
        <p:txBody>
          <a:bodyPr wrap="square" rtlCol="0">
            <a:spAutoFit/>
          </a:bodyPr>
          <a:lstStyle/>
          <a:p>
            <a:r>
              <a:rPr lang="en-GB" sz="3600" dirty="0" smtClean="0">
                <a:latin typeface="Comic Sans MS" panose="030F0702030302020204" pitchFamily="66" charset="0"/>
              </a:rPr>
              <a:t>AO3 Text-Context Link</a:t>
            </a:r>
            <a:endParaRPr lang="en-GB" sz="3600" dirty="0">
              <a:latin typeface="Comic Sans MS" panose="030F0702030302020204" pitchFamily="66" charset="0"/>
            </a:endParaRPr>
          </a:p>
        </p:txBody>
      </p:sp>
    </p:spTree>
    <p:extLst>
      <p:ext uri="{BB962C8B-B14F-4D97-AF65-F5344CB8AC3E}">
        <p14:creationId xmlns:p14="http://schemas.microsoft.com/office/powerpoint/2010/main" val="32142174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omic Sans MS" panose="030F0702030302020204" pitchFamily="66" charset="0"/>
              </a:rPr>
              <a:t>William Wordsworth</a:t>
            </a:r>
            <a:endParaRPr lang="en-GB" dirty="0">
              <a:latin typeface="Comic Sans MS" panose="030F0702030302020204" pitchFamily="66" charset="0"/>
            </a:endParaRPr>
          </a:p>
        </p:txBody>
      </p:sp>
      <p:pic>
        <p:nvPicPr>
          <p:cNvPr id="5" name="Picture 4"/>
          <p:cNvPicPr>
            <a:picLocks noChangeAspect="1"/>
          </p:cNvPicPr>
          <p:nvPr/>
        </p:nvPicPr>
        <p:blipFill>
          <a:blip r:embed="rId2"/>
          <a:stretch>
            <a:fillRect/>
          </a:stretch>
        </p:blipFill>
        <p:spPr>
          <a:xfrm>
            <a:off x="519985" y="2418384"/>
            <a:ext cx="5327024" cy="3720679"/>
          </a:xfrm>
          <a:prstGeom prst="rect">
            <a:avLst/>
          </a:prstGeom>
        </p:spPr>
      </p:pic>
      <p:pic>
        <p:nvPicPr>
          <p:cNvPr id="6" name="Picture 5"/>
          <p:cNvPicPr>
            <a:picLocks noChangeAspect="1"/>
          </p:cNvPicPr>
          <p:nvPr/>
        </p:nvPicPr>
        <p:blipFill>
          <a:blip r:embed="rId3"/>
          <a:stretch>
            <a:fillRect/>
          </a:stretch>
        </p:blipFill>
        <p:spPr>
          <a:xfrm>
            <a:off x="6095998" y="2418383"/>
            <a:ext cx="4915439" cy="3760805"/>
          </a:xfrm>
          <a:prstGeom prst="rect">
            <a:avLst/>
          </a:prstGeom>
        </p:spPr>
      </p:pic>
      <p:sp>
        <p:nvSpPr>
          <p:cNvPr id="7" name="TextBox 6"/>
          <p:cNvSpPr txBox="1"/>
          <p:nvPr/>
        </p:nvSpPr>
        <p:spPr>
          <a:xfrm>
            <a:off x="9011364" y="136940"/>
            <a:ext cx="3180636" cy="1200329"/>
          </a:xfrm>
          <a:prstGeom prst="rect">
            <a:avLst/>
          </a:prstGeom>
          <a:noFill/>
        </p:spPr>
        <p:txBody>
          <a:bodyPr wrap="square" rtlCol="0">
            <a:spAutoFit/>
          </a:bodyPr>
          <a:lstStyle/>
          <a:p>
            <a:r>
              <a:rPr lang="en-GB" sz="3600" dirty="0" smtClean="0">
                <a:latin typeface="Comic Sans MS" panose="030F0702030302020204" pitchFamily="66" charset="0"/>
              </a:rPr>
              <a:t>AO3 Text-Context Link</a:t>
            </a:r>
            <a:endParaRPr lang="en-GB" sz="3600" dirty="0">
              <a:latin typeface="Comic Sans MS" panose="030F0702030302020204" pitchFamily="66" charset="0"/>
            </a:endParaRPr>
          </a:p>
        </p:txBody>
      </p:sp>
    </p:spTree>
    <p:extLst>
      <p:ext uri="{BB962C8B-B14F-4D97-AF65-F5344CB8AC3E}">
        <p14:creationId xmlns:p14="http://schemas.microsoft.com/office/powerpoint/2010/main" val="5462609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omic Sans MS" panose="030F0702030302020204" pitchFamily="66" charset="0"/>
              </a:rPr>
              <a:t>Romanticism</a:t>
            </a:r>
            <a:endParaRPr lang="en-GB" dirty="0">
              <a:latin typeface="Comic Sans MS" panose="030F0702030302020204" pitchFamily="66" charset="0"/>
            </a:endParaRPr>
          </a:p>
        </p:txBody>
      </p:sp>
      <p:sp>
        <p:nvSpPr>
          <p:cNvPr id="3" name="Content Placeholder 2"/>
          <p:cNvSpPr>
            <a:spLocks noGrp="1"/>
          </p:cNvSpPr>
          <p:nvPr>
            <p:ph idx="1"/>
          </p:nvPr>
        </p:nvSpPr>
        <p:spPr>
          <a:xfrm>
            <a:off x="818712" y="2222287"/>
            <a:ext cx="10554574" cy="4178513"/>
          </a:xfrm>
        </p:spPr>
        <p:txBody>
          <a:bodyPr>
            <a:normAutofit/>
          </a:bodyPr>
          <a:lstStyle/>
          <a:p>
            <a:r>
              <a:rPr lang="en-GB" sz="2400" dirty="0" smtClean="0">
                <a:latin typeface="Comic Sans MS" panose="030F0702030302020204" pitchFamily="66" charset="0"/>
              </a:rPr>
              <a:t>Romanticism was a school of thinking which believed in restoring the balance between man and nature. They believed that emotion was a key element to poetry.</a:t>
            </a:r>
          </a:p>
          <a:p>
            <a:r>
              <a:rPr lang="en-GB" sz="2400" dirty="0" smtClean="0">
                <a:latin typeface="Comic Sans MS" panose="030F0702030302020204" pitchFamily="66" charset="0"/>
              </a:rPr>
              <a:t>The power and serenity of nature were important elements to the early romantic poets.</a:t>
            </a:r>
          </a:p>
          <a:p>
            <a:r>
              <a:rPr lang="en-GB" sz="2400" dirty="0" smtClean="0">
                <a:latin typeface="Comic Sans MS" panose="030F0702030302020204" pitchFamily="66" charset="0"/>
              </a:rPr>
              <a:t>They believed that the people who lived in the country, particularly children, had the best appreciation for nature. Many of them wrote about the social injustice of the condition of the common people.</a:t>
            </a:r>
          </a:p>
          <a:p>
            <a:r>
              <a:rPr lang="en-GB" sz="2400" dirty="0" smtClean="0">
                <a:latin typeface="Comic Sans MS" panose="030F0702030302020204" pitchFamily="66" charset="0"/>
              </a:rPr>
              <a:t>Three key ideas: </a:t>
            </a:r>
            <a:r>
              <a:rPr lang="en-GB" sz="2400" b="1" dirty="0" smtClean="0">
                <a:solidFill>
                  <a:srgbClr val="00B0F0"/>
                </a:solidFill>
                <a:latin typeface="Comic Sans MS" panose="030F0702030302020204" pitchFamily="66" charset="0"/>
              </a:rPr>
              <a:t>revolution, nature and transcendence</a:t>
            </a:r>
            <a:endParaRPr lang="en-GB" sz="2400" b="1" dirty="0">
              <a:solidFill>
                <a:srgbClr val="00B0F0"/>
              </a:solidFill>
              <a:latin typeface="Comic Sans MS" panose="030F0702030302020204" pitchFamily="66" charset="0"/>
            </a:endParaRPr>
          </a:p>
        </p:txBody>
      </p:sp>
      <p:sp>
        <p:nvSpPr>
          <p:cNvPr id="4" name="TextBox 3"/>
          <p:cNvSpPr txBox="1"/>
          <p:nvPr/>
        </p:nvSpPr>
        <p:spPr>
          <a:xfrm>
            <a:off x="9011364" y="136940"/>
            <a:ext cx="3180636" cy="1200329"/>
          </a:xfrm>
          <a:prstGeom prst="rect">
            <a:avLst/>
          </a:prstGeom>
          <a:noFill/>
        </p:spPr>
        <p:txBody>
          <a:bodyPr wrap="square" rtlCol="0">
            <a:spAutoFit/>
          </a:bodyPr>
          <a:lstStyle/>
          <a:p>
            <a:r>
              <a:rPr lang="en-GB" sz="3600" dirty="0" smtClean="0">
                <a:latin typeface="Comic Sans MS" panose="030F0702030302020204" pitchFamily="66" charset="0"/>
              </a:rPr>
              <a:t>AO3 Text-Context Link</a:t>
            </a:r>
            <a:endParaRPr lang="en-GB" sz="3600" dirty="0">
              <a:latin typeface="Comic Sans MS" panose="030F0702030302020204" pitchFamily="66" charset="0"/>
            </a:endParaRPr>
          </a:p>
        </p:txBody>
      </p:sp>
    </p:spTree>
    <p:extLst>
      <p:ext uri="{BB962C8B-B14F-4D97-AF65-F5344CB8AC3E}">
        <p14:creationId xmlns:p14="http://schemas.microsoft.com/office/powerpoint/2010/main" val="29028580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23494" y="102495"/>
            <a:ext cx="10091402" cy="6399426"/>
          </a:xfrm>
          <a:prstGeom prst="rect">
            <a:avLst/>
          </a:prstGeom>
        </p:spPr>
      </p:pic>
    </p:spTree>
    <p:extLst>
      <p:ext uri="{BB962C8B-B14F-4D97-AF65-F5344CB8AC3E}">
        <p14:creationId xmlns:p14="http://schemas.microsoft.com/office/powerpoint/2010/main" val="14065686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omic Sans MS" panose="030F0702030302020204" pitchFamily="66" charset="0"/>
              </a:rPr>
              <a:t>Poetry word of the week: Numinous</a:t>
            </a:r>
            <a:endParaRPr lang="en-GB" dirty="0">
              <a:latin typeface="Comic Sans MS" panose="030F0702030302020204" pitchFamily="66" charset="0"/>
            </a:endParaRPr>
          </a:p>
        </p:txBody>
      </p:sp>
      <p:sp>
        <p:nvSpPr>
          <p:cNvPr id="3" name="Content Placeholder 2"/>
          <p:cNvSpPr>
            <a:spLocks noGrp="1"/>
          </p:cNvSpPr>
          <p:nvPr>
            <p:ph idx="1"/>
          </p:nvPr>
        </p:nvSpPr>
        <p:spPr>
          <a:xfrm>
            <a:off x="818712" y="2222287"/>
            <a:ext cx="10554574" cy="4023967"/>
          </a:xfrm>
        </p:spPr>
        <p:txBody>
          <a:bodyPr>
            <a:normAutofit/>
          </a:bodyPr>
          <a:lstStyle/>
          <a:p>
            <a:pPr marL="0" indent="0">
              <a:buNone/>
            </a:pPr>
            <a:r>
              <a:rPr lang="en-GB" sz="4000" b="1" dirty="0" smtClean="0">
                <a:latin typeface="Comic Sans MS" panose="030F0702030302020204" pitchFamily="66" charset="0"/>
              </a:rPr>
              <a:t>Numinous</a:t>
            </a:r>
            <a:r>
              <a:rPr lang="en-GB" sz="4000" dirty="0" smtClean="0">
                <a:latin typeface="Comic Sans MS" panose="030F0702030302020204" pitchFamily="66" charset="0"/>
              </a:rPr>
              <a:t> (adjective)</a:t>
            </a:r>
          </a:p>
          <a:p>
            <a:r>
              <a:rPr lang="en-GB" sz="4000" dirty="0" smtClean="0">
                <a:latin typeface="Comic Sans MS" panose="030F0702030302020204" pitchFamily="66" charset="0"/>
              </a:rPr>
              <a:t>If something is numinous it ‘arouses spiritual or religious emotion’ or is ‘mysterious or awe-inspiring.’</a:t>
            </a:r>
          </a:p>
          <a:p>
            <a:r>
              <a:rPr lang="en-GB" sz="4000" dirty="0" smtClean="0">
                <a:latin typeface="Comic Sans MS" panose="030F0702030302020204" pitchFamily="66" charset="0"/>
              </a:rPr>
              <a:t>Can you incorporate this into your response?</a:t>
            </a:r>
            <a:endParaRPr lang="en-GB" sz="4000" dirty="0">
              <a:latin typeface="Comic Sans MS" panose="030F0702030302020204" pitchFamily="66" charset="0"/>
            </a:endParaRPr>
          </a:p>
        </p:txBody>
      </p:sp>
    </p:spTree>
    <p:extLst>
      <p:ext uri="{BB962C8B-B14F-4D97-AF65-F5344CB8AC3E}">
        <p14:creationId xmlns:p14="http://schemas.microsoft.com/office/powerpoint/2010/main" val="15860970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5" y="1325562"/>
            <a:ext cx="3231524" cy="2190369"/>
          </a:xfrm>
          <a:ln>
            <a:solidFill>
              <a:schemeClr val="tx1"/>
            </a:solidFill>
          </a:ln>
        </p:spPr>
        <p:txBody>
          <a:bodyPr>
            <a:normAutofit fontScale="92500"/>
          </a:bodyPr>
          <a:lstStyle/>
          <a:p>
            <a:pPr marL="0" indent="0">
              <a:buNone/>
            </a:pPr>
            <a:r>
              <a:rPr lang="en-GB" dirty="0" smtClean="0">
                <a:latin typeface="Comic Sans MS" panose="030F0702030302020204" pitchFamily="66" charset="0"/>
              </a:rPr>
              <a:t>Main Idea/ Theme:</a:t>
            </a:r>
          </a:p>
          <a:p>
            <a:pPr marL="0" indent="0">
              <a:buNone/>
            </a:pPr>
            <a:r>
              <a:rPr lang="en-GB" dirty="0" smtClean="0">
                <a:latin typeface="Comic Sans MS" panose="030F0702030302020204" pitchFamily="66" charset="0"/>
              </a:rPr>
              <a:t>Power of nature and the resilience of man under siege</a:t>
            </a:r>
            <a:endParaRPr lang="en-GB" dirty="0">
              <a:latin typeface="Comic Sans MS" panose="030F0702030302020204" pitchFamily="66" charset="0"/>
            </a:endParaRPr>
          </a:p>
        </p:txBody>
      </p:sp>
      <p:sp>
        <p:nvSpPr>
          <p:cNvPr id="4" name="Title 1"/>
          <p:cNvSpPr txBox="1">
            <a:spLocks/>
          </p:cNvSpPr>
          <p:nvPr/>
        </p:nvSpPr>
        <p:spPr>
          <a:xfrm>
            <a:off x="0" y="0"/>
            <a:ext cx="6619741" cy="132556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latin typeface="Comic Sans MS" panose="030F0702030302020204" pitchFamily="66" charset="0"/>
              </a:rPr>
              <a:t>Title: Storm on the Island</a:t>
            </a:r>
            <a:br>
              <a:rPr lang="en-GB" dirty="0" smtClean="0">
                <a:latin typeface="Comic Sans MS" panose="030F0702030302020204" pitchFamily="66" charset="0"/>
              </a:rPr>
            </a:br>
            <a:r>
              <a:rPr lang="en-GB" dirty="0" smtClean="0">
                <a:latin typeface="Comic Sans MS" panose="030F0702030302020204" pitchFamily="66" charset="0"/>
              </a:rPr>
              <a:t>Poet: Seamus </a:t>
            </a:r>
            <a:r>
              <a:rPr lang="en-GB" dirty="0">
                <a:latin typeface="Comic Sans MS" panose="030F0702030302020204" pitchFamily="66" charset="0"/>
              </a:rPr>
              <a:t>H</a:t>
            </a:r>
            <a:r>
              <a:rPr lang="en-GB" dirty="0" smtClean="0">
                <a:latin typeface="Comic Sans MS" panose="030F0702030302020204" pitchFamily="66" charset="0"/>
              </a:rPr>
              <a:t>eaney</a:t>
            </a:r>
            <a:endParaRPr lang="en-GB" dirty="0">
              <a:latin typeface="Comic Sans MS" panose="030F0702030302020204" pitchFamily="66" charset="0"/>
            </a:endParaRPr>
          </a:p>
        </p:txBody>
      </p:sp>
      <p:sp>
        <p:nvSpPr>
          <p:cNvPr id="5" name="Content Placeholder 2"/>
          <p:cNvSpPr txBox="1">
            <a:spLocks/>
          </p:cNvSpPr>
          <p:nvPr/>
        </p:nvSpPr>
        <p:spPr>
          <a:xfrm>
            <a:off x="7146699" y="1325562"/>
            <a:ext cx="4688985" cy="23728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Imagery:</a:t>
            </a:r>
          </a:p>
          <a:p>
            <a:pPr marL="0" indent="0">
              <a:buFont typeface="Arial" panose="020B0604020202020204" pitchFamily="34" charset="0"/>
              <a:buNone/>
            </a:pPr>
            <a:r>
              <a:rPr lang="en-GB" dirty="0" smtClean="0">
                <a:latin typeface="Comic Sans MS" panose="030F0702030302020204" pitchFamily="66" charset="0"/>
              </a:rPr>
              <a:t>Nature is personified in an aggressive way and appears to be the enemy (military imagery)</a:t>
            </a:r>
            <a:endParaRPr lang="en-GB" dirty="0">
              <a:latin typeface="Comic Sans MS" panose="030F0702030302020204" pitchFamily="66" charset="0"/>
            </a:endParaRPr>
          </a:p>
        </p:txBody>
      </p:sp>
      <p:sp>
        <p:nvSpPr>
          <p:cNvPr id="6" name="Content Placeholder 2"/>
          <p:cNvSpPr txBox="1">
            <a:spLocks/>
          </p:cNvSpPr>
          <p:nvPr/>
        </p:nvSpPr>
        <p:spPr>
          <a:xfrm>
            <a:off x="3726287" y="1325562"/>
            <a:ext cx="3231524" cy="507523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Language/ Form</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Sibilance</a:t>
            </a:r>
          </a:p>
          <a:p>
            <a:pPr marL="0" indent="0">
              <a:buFont typeface="Arial" panose="020B0604020202020204" pitchFamily="34" charset="0"/>
              <a:buNone/>
            </a:pPr>
            <a:r>
              <a:rPr lang="en-GB" dirty="0" smtClean="0">
                <a:latin typeface="Comic Sans MS" panose="030F0702030302020204" pitchFamily="66" charset="0"/>
              </a:rPr>
              <a:t>Personification</a:t>
            </a:r>
          </a:p>
          <a:p>
            <a:pPr marL="0" indent="0">
              <a:buFont typeface="Arial" panose="020B0604020202020204" pitchFamily="34" charset="0"/>
              <a:buNone/>
            </a:pPr>
            <a:r>
              <a:rPr lang="en-GB" dirty="0" smtClean="0">
                <a:latin typeface="Comic Sans MS" panose="030F0702030302020204" pitchFamily="66" charset="0"/>
              </a:rPr>
              <a:t>Similes</a:t>
            </a:r>
          </a:p>
          <a:p>
            <a:pPr marL="0" indent="0">
              <a:buFont typeface="Arial" panose="020B0604020202020204" pitchFamily="34" charset="0"/>
              <a:buNone/>
            </a:pPr>
            <a:r>
              <a:rPr lang="en-GB" dirty="0" smtClean="0">
                <a:latin typeface="Comic Sans MS" panose="030F0702030302020204" pitchFamily="66" charset="0"/>
              </a:rPr>
              <a:t>Oxymoron</a:t>
            </a:r>
          </a:p>
          <a:p>
            <a:pPr marL="0" indent="0">
              <a:buFont typeface="Arial" panose="020B0604020202020204" pitchFamily="34" charset="0"/>
              <a:buNone/>
            </a:pPr>
            <a:r>
              <a:rPr lang="en-GB" dirty="0" smtClean="0">
                <a:latin typeface="Comic Sans MS" panose="030F0702030302020204" pitchFamily="66" charset="0"/>
              </a:rPr>
              <a:t>Consonance</a:t>
            </a:r>
          </a:p>
          <a:p>
            <a:pPr marL="0" indent="0">
              <a:buFont typeface="Arial" panose="020B0604020202020204" pitchFamily="34" charset="0"/>
              <a:buNone/>
            </a:pPr>
            <a:r>
              <a:rPr lang="en-GB" dirty="0" smtClean="0">
                <a:latin typeface="Comic Sans MS" panose="030F0702030302020204" pitchFamily="66" charset="0"/>
              </a:rPr>
              <a:t>Enjambment</a:t>
            </a:r>
          </a:p>
          <a:p>
            <a:pPr marL="0" indent="0">
              <a:buFont typeface="Arial" panose="020B0604020202020204" pitchFamily="34" charset="0"/>
              <a:buNone/>
            </a:pPr>
            <a:r>
              <a:rPr lang="en-GB" dirty="0" smtClean="0">
                <a:latin typeface="Comic Sans MS" panose="030F0702030302020204" pitchFamily="66" charset="0"/>
              </a:rPr>
              <a:t>Military imagery</a:t>
            </a:r>
          </a:p>
          <a:p>
            <a:pPr marL="0" indent="0">
              <a:buFont typeface="Arial" panose="020B0604020202020204" pitchFamily="34" charset="0"/>
              <a:buNone/>
            </a:pPr>
            <a:r>
              <a:rPr lang="en-GB" dirty="0" err="1" smtClean="0">
                <a:latin typeface="Comic Sans MS" panose="030F0702030302020204" pitchFamily="66" charset="0"/>
              </a:rPr>
              <a:t>Anticlimax</a:t>
            </a:r>
            <a:r>
              <a:rPr lang="en-GB" dirty="0" smtClean="0">
                <a:latin typeface="Comic Sans MS" panose="030F0702030302020204" pitchFamily="66" charset="0"/>
              </a:rPr>
              <a:t> </a:t>
            </a:r>
            <a:endParaRPr lang="en-GB" dirty="0">
              <a:latin typeface="Comic Sans MS" panose="030F0702030302020204" pitchFamily="66" charset="0"/>
            </a:endParaRPr>
          </a:p>
        </p:txBody>
      </p:sp>
      <p:sp>
        <p:nvSpPr>
          <p:cNvPr id="7" name="Content Placeholder 2"/>
          <p:cNvSpPr txBox="1">
            <a:spLocks/>
          </p:cNvSpPr>
          <p:nvPr/>
        </p:nvSpPr>
        <p:spPr>
          <a:xfrm>
            <a:off x="189965" y="3686621"/>
            <a:ext cx="3347434" cy="2714177"/>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Context:</a:t>
            </a:r>
          </a:p>
          <a:p>
            <a:pPr marL="0" indent="0">
              <a:buFont typeface="Arial" panose="020B0604020202020204" pitchFamily="34" charset="0"/>
              <a:buNone/>
            </a:pPr>
            <a:r>
              <a:rPr lang="en-GB" dirty="0" smtClean="0">
                <a:latin typeface="Comic Sans MS" panose="030F0702030302020204" pitchFamily="66" charset="0"/>
              </a:rPr>
              <a:t>Set on an isolated island which is caught in a violent storm.</a:t>
            </a:r>
            <a:endParaRPr lang="en-GB" dirty="0">
              <a:latin typeface="Comic Sans MS" panose="030F0702030302020204" pitchFamily="66" charset="0"/>
            </a:endParaRPr>
          </a:p>
        </p:txBody>
      </p:sp>
      <p:sp>
        <p:nvSpPr>
          <p:cNvPr id="8" name="Content Placeholder 2"/>
          <p:cNvSpPr txBox="1">
            <a:spLocks/>
          </p:cNvSpPr>
          <p:nvPr/>
        </p:nvSpPr>
        <p:spPr>
          <a:xfrm>
            <a:off x="7129528" y="3851139"/>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Tone: resigned and conversational</a:t>
            </a:r>
            <a:endParaRPr lang="en-GB" dirty="0">
              <a:latin typeface="Comic Sans MS" panose="030F0702030302020204" pitchFamily="66" charset="0"/>
            </a:endParaRPr>
          </a:p>
        </p:txBody>
      </p:sp>
      <p:sp>
        <p:nvSpPr>
          <p:cNvPr id="9" name="Content Placeholder 2"/>
          <p:cNvSpPr txBox="1">
            <a:spLocks/>
          </p:cNvSpPr>
          <p:nvPr/>
        </p:nvSpPr>
        <p:spPr>
          <a:xfrm>
            <a:off x="7129528" y="5309446"/>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Rhythm/ Rhyme:</a:t>
            </a:r>
          </a:p>
          <a:p>
            <a:pPr marL="0" indent="0">
              <a:buFont typeface="Arial" panose="020B0604020202020204" pitchFamily="34" charset="0"/>
              <a:buNone/>
            </a:pPr>
            <a:r>
              <a:rPr lang="en-GB" dirty="0" smtClean="0">
                <a:latin typeface="Comic Sans MS" panose="030F0702030302020204" pitchFamily="66" charset="0"/>
              </a:rPr>
              <a:t>Blank verse</a:t>
            </a:r>
            <a:endParaRPr lang="en-GB" dirty="0">
              <a:latin typeface="Comic Sans MS" panose="030F0702030302020204" pitchFamily="66" charset="0"/>
            </a:endParaRPr>
          </a:p>
        </p:txBody>
      </p:sp>
      <p:sp>
        <p:nvSpPr>
          <p:cNvPr id="12" name="Title 1"/>
          <p:cNvSpPr>
            <a:spLocks noGrp="1"/>
          </p:cNvSpPr>
          <p:nvPr>
            <p:ph type="title"/>
          </p:nvPr>
        </p:nvSpPr>
        <p:spPr>
          <a:xfrm>
            <a:off x="7611414" y="128789"/>
            <a:ext cx="4580586" cy="1044084"/>
          </a:xfrm>
        </p:spPr>
        <p:txBody>
          <a:bodyPr>
            <a:normAutofit fontScale="90000"/>
          </a:bodyPr>
          <a:lstStyle/>
          <a:p>
            <a:r>
              <a:rPr lang="en-GB" dirty="0" smtClean="0">
                <a:latin typeface="Comic Sans MS" panose="030F0702030302020204" pitchFamily="66" charset="0"/>
              </a:rPr>
              <a:t>Date: 1966</a:t>
            </a:r>
            <a:br>
              <a:rPr lang="en-GB" dirty="0" smtClean="0">
                <a:latin typeface="Comic Sans MS" panose="030F0702030302020204" pitchFamily="66" charset="0"/>
              </a:rPr>
            </a:br>
            <a:r>
              <a:rPr lang="en-GB" dirty="0" smtClean="0">
                <a:latin typeface="Comic Sans MS" panose="030F0702030302020204" pitchFamily="66" charset="0"/>
              </a:rPr>
              <a:t>Power and conflict</a:t>
            </a:r>
            <a:endParaRPr lang="en-GB" dirty="0">
              <a:latin typeface="Comic Sans MS" panose="030F0702030302020204" pitchFamily="66" charset="0"/>
            </a:endParaRPr>
          </a:p>
        </p:txBody>
      </p:sp>
    </p:spTree>
    <p:extLst>
      <p:ext uri="{BB962C8B-B14F-4D97-AF65-F5344CB8AC3E}">
        <p14:creationId xmlns:p14="http://schemas.microsoft.com/office/powerpoint/2010/main" val="1777400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8438" y="0"/>
            <a:ext cx="8887161" cy="1325563"/>
          </a:xfrm>
        </p:spPr>
        <p:txBody>
          <a:bodyPr/>
          <a:lstStyle/>
          <a:p>
            <a:r>
              <a:rPr lang="en-GB" dirty="0" smtClean="0">
                <a:latin typeface="Comic Sans MS" panose="030F0702030302020204" pitchFamily="66" charset="0"/>
              </a:rPr>
              <a:t>Seamus Heaney</a:t>
            </a:r>
            <a:endParaRPr lang="en-GB" dirty="0">
              <a:latin typeface="Comic Sans MS" panose="030F0702030302020204" pitchFamily="66" charset="0"/>
            </a:endParaRPr>
          </a:p>
        </p:txBody>
      </p:sp>
      <p:sp>
        <p:nvSpPr>
          <p:cNvPr id="3" name="Content Placeholder 2"/>
          <p:cNvSpPr>
            <a:spLocks noGrp="1"/>
          </p:cNvSpPr>
          <p:nvPr>
            <p:ph idx="1"/>
          </p:nvPr>
        </p:nvSpPr>
        <p:spPr>
          <a:xfrm>
            <a:off x="0" y="2132134"/>
            <a:ext cx="7868992" cy="4725866"/>
          </a:xfrm>
        </p:spPr>
        <p:txBody>
          <a:bodyPr>
            <a:normAutofit/>
          </a:bodyPr>
          <a:lstStyle/>
          <a:p>
            <a:r>
              <a:rPr lang="en-GB" sz="3600" dirty="0" smtClean="0">
                <a:latin typeface="Comic Sans MS" panose="030F0702030302020204" pitchFamily="66" charset="0"/>
              </a:rPr>
              <a:t>Irish poet who was born on a farm in County Derry and began publishing poetry in the 1960s.</a:t>
            </a:r>
          </a:p>
          <a:p>
            <a:r>
              <a:rPr lang="en-GB" sz="3600" dirty="0" smtClean="0">
                <a:latin typeface="Comic Sans MS" panose="030F0702030302020204" pitchFamily="66" charset="0"/>
              </a:rPr>
              <a:t>In 1995 he won the Nobel prize for literature.</a:t>
            </a:r>
          </a:p>
          <a:p>
            <a:r>
              <a:rPr lang="en-GB" sz="3600" dirty="0" smtClean="0">
                <a:latin typeface="Comic Sans MS" panose="030F0702030302020204" pitchFamily="66" charset="0"/>
              </a:rPr>
              <a:t>In 2008 he was responsible for two thirds of all poetry sold in the U.K.</a:t>
            </a:r>
            <a:endParaRPr lang="en-GB" sz="3600" dirty="0">
              <a:latin typeface="Comic Sans MS" panose="030F0702030302020204" pitchFamily="66" charset="0"/>
            </a:endParaRPr>
          </a:p>
        </p:txBody>
      </p:sp>
      <p:pic>
        <p:nvPicPr>
          <p:cNvPr id="1026" name="Picture 2" descr="http://www.raintaxi.com/New/media/attachmen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567422" cy="19012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41.media.tumblr.com/f9183504b1147f81399a1ee6304d0c65/tumblr_n5i8fnUht11sj90m4o1_5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9144" y="0"/>
            <a:ext cx="4232856" cy="4958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649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7578" y="90727"/>
            <a:ext cx="11420634" cy="6767274"/>
          </a:xfrm>
          <a:prstGeom prst="rect">
            <a:avLst/>
          </a:prstGeom>
        </p:spPr>
      </p:pic>
    </p:spTree>
    <p:extLst>
      <p:ext uri="{BB962C8B-B14F-4D97-AF65-F5344CB8AC3E}">
        <p14:creationId xmlns:p14="http://schemas.microsoft.com/office/powerpoint/2010/main" val="13656367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omic Sans MS" panose="030F0702030302020204" pitchFamily="66" charset="0"/>
              </a:rPr>
              <a:t>Let’s talk about Seamus</a:t>
            </a:r>
            <a:endParaRPr lang="en-GB" dirty="0">
              <a:latin typeface="Comic Sans MS" panose="030F0702030302020204" pitchFamily="66" charset="0"/>
            </a:endParaRPr>
          </a:p>
        </p:txBody>
      </p:sp>
      <p:sp>
        <p:nvSpPr>
          <p:cNvPr id="3" name="Content Placeholder 2"/>
          <p:cNvSpPr>
            <a:spLocks noGrp="1"/>
          </p:cNvSpPr>
          <p:nvPr>
            <p:ph idx="1"/>
          </p:nvPr>
        </p:nvSpPr>
        <p:spPr>
          <a:xfrm>
            <a:off x="386366" y="2222287"/>
            <a:ext cx="5550795" cy="4255786"/>
          </a:xfrm>
          <a:solidFill>
            <a:schemeClr val="accent1">
              <a:lumMod val="40000"/>
              <a:lumOff val="60000"/>
            </a:schemeClr>
          </a:solidFill>
        </p:spPr>
        <p:txBody>
          <a:bodyPr>
            <a:normAutofit/>
          </a:bodyPr>
          <a:lstStyle/>
          <a:p>
            <a:r>
              <a:rPr lang="en-GB" sz="3200" b="1" dirty="0" smtClean="0">
                <a:latin typeface="Comic Sans MS" panose="030F0702030302020204" pitchFamily="66" charset="0"/>
              </a:rPr>
              <a:t>S</a:t>
            </a:r>
            <a:r>
              <a:rPr lang="en-GB" sz="3200" dirty="0" smtClean="0">
                <a:latin typeface="Comic Sans MS" panose="030F0702030302020204" pitchFamily="66" charset="0"/>
              </a:rPr>
              <a:t>avagely sibilant simile</a:t>
            </a:r>
          </a:p>
          <a:p>
            <a:r>
              <a:rPr lang="en-GB" sz="3200" b="1" dirty="0" smtClean="0">
                <a:latin typeface="Comic Sans MS" panose="030F0702030302020204" pitchFamily="66" charset="0"/>
              </a:rPr>
              <a:t>E</a:t>
            </a:r>
            <a:r>
              <a:rPr lang="en-GB" sz="3200" dirty="0" smtClean="0">
                <a:latin typeface="Comic Sans MS" panose="030F0702030302020204" pitchFamily="66" charset="0"/>
              </a:rPr>
              <a:t>xplosive enjambment</a:t>
            </a:r>
          </a:p>
          <a:p>
            <a:r>
              <a:rPr lang="en-GB" sz="3200" b="1" dirty="0" smtClean="0">
                <a:latin typeface="Comic Sans MS" panose="030F0702030302020204" pitchFamily="66" charset="0"/>
              </a:rPr>
              <a:t>A</a:t>
            </a:r>
            <a:r>
              <a:rPr lang="en-GB" sz="3200" dirty="0" smtClean="0">
                <a:latin typeface="Comic Sans MS" panose="030F0702030302020204" pitchFamily="66" charset="0"/>
              </a:rPr>
              <a:t>ggressive anti-climax?</a:t>
            </a:r>
          </a:p>
          <a:p>
            <a:r>
              <a:rPr lang="en-GB" sz="3200" b="1" dirty="0" smtClean="0">
                <a:latin typeface="Comic Sans MS" panose="030F0702030302020204" pitchFamily="66" charset="0"/>
              </a:rPr>
              <a:t>M</a:t>
            </a:r>
            <a:r>
              <a:rPr lang="en-GB" sz="3200" dirty="0" smtClean="0">
                <a:latin typeface="Comic Sans MS" panose="030F0702030302020204" pitchFamily="66" charset="0"/>
              </a:rPr>
              <a:t>ilitary images</a:t>
            </a:r>
          </a:p>
          <a:p>
            <a:r>
              <a:rPr lang="en-GB" sz="3200" b="1" dirty="0" smtClean="0">
                <a:latin typeface="Comic Sans MS" panose="030F0702030302020204" pitchFamily="66" charset="0"/>
              </a:rPr>
              <a:t>U</a:t>
            </a:r>
            <a:r>
              <a:rPr lang="en-GB" sz="3200" dirty="0" smtClean="0">
                <a:latin typeface="Comic Sans MS" panose="030F0702030302020204" pitchFamily="66" charset="0"/>
              </a:rPr>
              <a:t>ntroubled by plants</a:t>
            </a:r>
          </a:p>
          <a:p>
            <a:r>
              <a:rPr lang="en-GB" sz="3200" b="1" dirty="0" smtClean="0">
                <a:latin typeface="Comic Sans MS" panose="030F0702030302020204" pitchFamily="66" charset="0"/>
              </a:rPr>
              <a:t>S</a:t>
            </a:r>
            <a:r>
              <a:rPr lang="en-GB" sz="3200" dirty="0" smtClean="0">
                <a:latin typeface="Comic Sans MS" panose="030F0702030302020204" pitchFamily="66" charset="0"/>
              </a:rPr>
              <a:t>earch for company</a:t>
            </a:r>
            <a:endParaRPr lang="en-GB" sz="3200" dirty="0">
              <a:latin typeface="Comic Sans MS" panose="030F0702030302020204" pitchFamily="66" charset="0"/>
            </a:endParaRPr>
          </a:p>
        </p:txBody>
      </p:sp>
    </p:spTree>
    <p:extLst>
      <p:ext uri="{BB962C8B-B14F-4D97-AF65-F5344CB8AC3E}">
        <p14:creationId xmlns:p14="http://schemas.microsoft.com/office/powerpoint/2010/main" val="24021891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145024"/>
          </a:xfrm>
          <a:prstGeom prst="rect">
            <a:avLst/>
          </a:prstGeom>
        </p:spPr>
      </p:pic>
      <p:sp>
        <p:nvSpPr>
          <p:cNvPr id="3" name="Content Placeholder 2"/>
          <p:cNvSpPr>
            <a:spLocks noGrp="1"/>
          </p:cNvSpPr>
          <p:nvPr>
            <p:ph idx="1"/>
          </p:nvPr>
        </p:nvSpPr>
        <p:spPr>
          <a:xfrm>
            <a:off x="0" y="4171950"/>
            <a:ext cx="12192000" cy="2815431"/>
          </a:xfrm>
          <a:solidFill>
            <a:schemeClr val="accent1">
              <a:lumMod val="20000"/>
              <a:lumOff val="80000"/>
            </a:schemeClr>
          </a:solidFill>
        </p:spPr>
        <p:txBody>
          <a:bodyPr>
            <a:normAutofit/>
          </a:bodyPr>
          <a:lstStyle/>
          <a:p>
            <a:r>
              <a:rPr lang="en-GB" sz="3600" dirty="0" smtClean="0">
                <a:latin typeface="Comic Sans MS" panose="030F0702030302020204" pitchFamily="66" charset="0"/>
              </a:rPr>
              <a:t>The title could contain a hint at another meaning.</a:t>
            </a:r>
          </a:p>
          <a:p>
            <a:r>
              <a:rPr lang="en-GB" sz="3600" dirty="0" smtClean="0">
                <a:latin typeface="Comic Sans MS" panose="030F0702030302020204" pitchFamily="66" charset="0"/>
              </a:rPr>
              <a:t>There is no determiner in front of the title so the first 8 letters spell the word ‘Stormont’. This is the name of the official government building in Belfast.</a:t>
            </a:r>
          </a:p>
          <a:p>
            <a:r>
              <a:rPr lang="en-GB" sz="3600" dirty="0" smtClean="0">
                <a:latin typeface="Comic Sans MS" panose="030F0702030302020204" pitchFamily="66" charset="0"/>
              </a:rPr>
              <a:t>This may indicate a link to the Irish ‘Troubles’</a:t>
            </a:r>
            <a:endParaRPr lang="en-GB" sz="3600" dirty="0">
              <a:latin typeface="Comic Sans MS" panose="030F0702030302020204" pitchFamily="66" charset="0"/>
            </a:endParaRPr>
          </a:p>
        </p:txBody>
      </p:sp>
    </p:spTree>
    <p:extLst>
      <p:ext uri="{BB962C8B-B14F-4D97-AF65-F5344CB8AC3E}">
        <p14:creationId xmlns:p14="http://schemas.microsoft.com/office/powerpoint/2010/main" val="16193560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587" y="152673"/>
            <a:ext cx="11305326" cy="1538015"/>
          </a:xfrm>
        </p:spPr>
        <p:txBody>
          <a:bodyPr/>
          <a:lstStyle/>
          <a:p>
            <a:r>
              <a:rPr lang="en-GB" dirty="0" smtClean="0">
                <a:latin typeface="Comic Sans MS" panose="030F0702030302020204" pitchFamily="66" charset="0"/>
              </a:rPr>
              <a:t>Comparing the poems</a:t>
            </a:r>
            <a:endParaRPr lang="en-GB" dirty="0">
              <a:latin typeface="Comic Sans MS" panose="030F0702030302020204" pitchFamily="66"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73131769"/>
              </p:ext>
            </p:extLst>
          </p:nvPr>
        </p:nvGraphicFramePr>
        <p:xfrm>
          <a:off x="531587" y="1519706"/>
          <a:ext cx="11316976" cy="4925385"/>
        </p:xfrm>
        <a:graphic>
          <a:graphicData uri="http://schemas.openxmlformats.org/drawingml/2006/table">
            <a:tbl>
              <a:tblPr firstRow="1" bandRow="1">
                <a:tableStyleId>{5C22544A-7EE6-4342-B048-85BDC9FD1C3A}</a:tableStyleId>
              </a:tblPr>
              <a:tblGrid>
                <a:gridCol w="1938910"/>
                <a:gridCol w="4474542"/>
                <a:gridCol w="4903524"/>
              </a:tblGrid>
              <a:tr h="853152">
                <a:tc>
                  <a:txBody>
                    <a:bodyPr/>
                    <a:lstStyle/>
                    <a:p>
                      <a:r>
                        <a:rPr lang="en-GB" dirty="0" smtClean="0">
                          <a:latin typeface="Comic Sans MS" panose="030F0702030302020204" pitchFamily="66" charset="0"/>
                        </a:rPr>
                        <a:t>Feature/ technique</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The</a:t>
                      </a:r>
                      <a:r>
                        <a:rPr lang="en-GB" baseline="0" dirty="0" smtClean="0">
                          <a:latin typeface="Comic Sans MS" panose="030F0702030302020204" pitchFamily="66" charset="0"/>
                        </a:rPr>
                        <a:t> Prelude</a:t>
                      </a:r>
                    </a:p>
                    <a:p>
                      <a:r>
                        <a:rPr lang="en-GB" baseline="0" dirty="0" smtClean="0">
                          <a:latin typeface="Comic Sans MS" panose="030F0702030302020204" pitchFamily="66" charset="0"/>
                        </a:rPr>
                        <a:t>William Wordsworth</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Stor</a:t>
                      </a:r>
                      <a:r>
                        <a:rPr lang="en-GB" baseline="0" dirty="0" smtClean="0">
                          <a:latin typeface="Comic Sans MS" panose="030F0702030302020204" pitchFamily="66" charset="0"/>
                        </a:rPr>
                        <a:t>m on the Island</a:t>
                      </a:r>
                    </a:p>
                    <a:p>
                      <a:r>
                        <a:rPr lang="en-GB" baseline="0" dirty="0" smtClean="0">
                          <a:latin typeface="Comic Sans MS" panose="030F0702030302020204" pitchFamily="66" charset="0"/>
                        </a:rPr>
                        <a:t>Seamus Heaney</a:t>
                      </a:r>
                      <a:endParaRPr lang="en-GB" dirty="0" smtClean="0">
                        <a:latin typeface="Comic Sans MS" panose="030F0702030302020204" pitchFamily="66" charset="0"/>
                      </a:endParaRPr>
                    </a:p>
                    <a:p>
                      <a:endParaRPr lang="en-GB" dirty="0">
                        <a:latin typeface="Comic Sans MS" panose="030F0702030302020204" pitchFamily="66" charset="0"/>
                      </a:endParaRPr>
                    </a:p>
                  </a:txBody>
                  <a:tcPr/>
                </a:tc>
              </a:tr>
              <a:tr h="1339404">
                <a:tc>
                  <a:txBody>
                    <a:bodyPr/>
                    <a:lstStyle/>
                    <a:p>
                      <a:r>
                        <a:rPr lang="en-GB" dirty="0" smtClean="0">
                          <a:latin typeface="Comic Sans MS" panose="030F0702030302020204" pitchFamily="66" charset="0"/>
                        </a:rPr>
                        <a:t>The power</a:t>
                      </a:r>
                      <a:r>
                        <a:rPr lang="en-GB" baseline="0" dirty="0" smtClean="0">
                          <a:latin typeface="Comic Sans MS" panose="030F0702030302020204" pitchFamily="66" charset="0"/>
                        </a:rPr>
                        <a:t> of nature</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Nature is personified in an attractive way</a:t>
                      </a:r>
                      <a:r>
                        <a:rPr lang="en-GB" baseline="0" dirty="0" smtClean="0">
                          <a:latin typeface="Comic Sans MS" panose="030F0702030302020204" pitchFamily="66" charset="0"/>
                        </a:rPr>
                        <a:t> (“led by her”) as well as a terrifying way (“a huge peak, black and huge”).</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Nature is personified as an enemy who must be prepared</a:t>
                      </a:r>
                      <a:r>
                        <a:rPr lang="en-GB" baseline="0" dirty="0" smtClean="0">
                          <a:latin typeface="Comic Sans MS" panose="030F0702030302020204" pitchFamily="66" charset="0"/>
                        </a:rPr>
                        <a:t> for (“we just sit tight”)</a:t>
                      </a:r>
                      <a:endParaRPr lang="en-GB" dirty="0">
                        <a:latin typeface="Comic Sans MS" panose="030F0702030302020204" pitchFamily="66" charset="0"/>
                      </a:endParaRPr>
                    </a:p>
                  </a:txBody>
                  <a:tcPr/>
                </a:tc>
              </a:tr>
              <a:tr h="853152">
                <a:tc>
                  <a:txBody>
                    <a:bodyPr/>
                    <a:lstStyle/>
                    <a:p>
                      <a:r>
                        <a:rPr lang="en-GB" dirty="0" smtClean="0">
                          <a:latin typeface="Comic Sans MS" panose="030F0702030302020204" pitchFamily="66" charset="0"/>
                        </a:rPr>
                        <a:t>Nature</a:t>
                      </a:r>
                      <a:r>
                        <a:rPr lang="en-GB" baseline="0" dirty="0" smtClean="0">
                          <a:latin typeface="Comic Sans MS" panose="030F0702030302020204" pitchFamily="66" charset="0"/>
                        </a:rPr>
                        <a:t> can influence behaviour</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Nature can alter the thinking/</a:t>
                      </a:r>
                      <a:r>
                        <a:rPr lang="en-GB" baseline="0" dirty="0" smtClean="0">
                          <a:latin typeface="Comic Sans MS" panose="030F0702030302020204" pitchFamily="66" charset="0"/>
                        </a:rPr>
                        <a:t> moral code of a person (“My brain worked with a dim and undetermined sense of unknown modes of being”)</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Their houses</a:t>
                      </a:r>
                      <a:r>
                        <a:rPr lang="en-GB" baseline="0" dirty="0" smtClean="0">
                          <a:latin typeface="Comic Sans MS" panose="030F0702030302020204" pitchFamily="66" charset="0"/>
                        </a:rPr>
                        <a:t> are built with the storms in mind (“we built our houses squat”)</a:t>
                      </a:r>
                      <a:endParaRPr lang="en-GB" dirty="0">
                        <a:latin typeface="Comic Sans MS" panose="030F0702030302020204" pitchFamily="66" charset="0"/>
                      </a:endParaRPr>
                    </a:p>
                  </a:txBody>
                  <a:tcPr/>
                </a:tc>
              </a:tr>
              <a:tr h="494287">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r>
              <a:tr h="494287">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r>
              <a:tr h="494287">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dirty="0">
                        <a:latin typeface="Comic Sans MS" panose="030F0702030302020204" pitchFamily="66" charset="0"/>
                      </a:endParaRPr>
                    </a:p>
                  </a:txBody>
                  <a:tcPr/>
                </a:tc>
              </a:tr>
            </a:tbl>
          </a:graphicData>
        </a:graphic>
      </p:graphicFrame>
    </p:spTree>
    <p:extLst>
      <p:ext uri="{BB962C8B-B14F-4D97-AF65-F5344CB8AC3E}">
        <p14:creationId xmlns:p14="http://schemas.microsoft.com/office/powerpoint/2010/main" val="19466056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726</Words>
  <Application>Microsoft Office PowerPoint</Application>
  <PresentationFormat>Widescreen</PresentationFormat>
  <Paragraphs>89</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Comic Sans MS</vt:lpstr>
      <vt:lpstr>Office Theme</vt:lpstr>
      <vt:lpstr>Starter: Remind yourself of The Prelude and Storm on the Island</vt:lpstr>
      <vt:lpstr>Assessment Objectives</vt:lpstr>
      <vt:lpstr>Date: 1805 Power and conflict</vt:lpstr>
      <vt:lpstr>William Wordsworth</vt:lpstr>
      <vt:lpstr>William Wordsworth</vt:lpstr>
      <vt:lpstr>Romanticism</vt:lpstr>
      <vt:lpstr>PowerPoint Presentation</vt:lpstr>
      <vt:lpstr>Poetry word of the week: Numinous</vt:lpstr>
      <vt:lpstr>Date: 1966 Power and conflict</vt:lpstr>
      <vt:lpstr>Seamus Heaney</vt:lpstr>
      <vt:lpstr>PowerPoint Presentation</vt:lpstr>
      <vt:lpstr>Let’s talk about Seamus</vt:lpstr>
      <vt:lpstr>PowerPoint Presentation</vt:lpstr>
      <vt:lpstr>Comparing the poems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Lix</dc:creator>
  <cp:lastModifiedBy>DYER, A</cp:lastModifiedBy>
  <cp:revision>13</cp:revision>
  <dcterms:created xsi:type="dcterms:W3CDTF">2016-12-04T22:21:02Z</dcterms:created>
  <dcterms:modified xsi:type="dcterms:W3CDTF">2016-12-08T10:43:41Z</dcterms:modified>
</cp:coreProperties>
</file>