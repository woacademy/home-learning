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0" r:id="rId5"/>
    <p:sldId id="263" r:id="rId6"/>
    <p:sldId id="259" r:id="rId7"/>
    <p:sldId id="261" r:id="rId8"/>
    <p:sldId id="265"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1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28454A-19CC-4767-8B18-74BAFD522567}" type="datetimeFigureOut">
              <a:rPr lang="en-GB" smtClean="0"/>
              <a:t>14/12/2016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FC6FCE-B06F-4CA7-9616-677261262960}" type="slidenum">
              <a:rPr lang="en-GB" smtClean="0"/>
              <a:t>‹#›</a:t>
            </a:fld>
            <a:endParaRPr lang="en-GB"/>
          </a:p>
        </p:txBody>
      </p:sp>
    </p:spTree>
    <p:extLst>
      <p:ext uri="{BB962C8B-B14F-4D97-AF65-F5344CB8AC3E}">
        <p14:creationId xmlns:p14="http://schemas.microsoft.com/office/powerpoint/2010/main" val="420536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Resource 1. Additional help for </a:t>
            </a:r>
            <a:r>
              <a:rPr lang="en-GB" smtClean="0"/>
              <a:t>this task </a:t>
            </a:r>
            <a:r>
              <a:rPr lang="en-GB" dirty="0" smtClean="0"/>
              <a:t>can be found on p.</a:t>
            </a:r>
            <a:r>
              <a:rPr lang="en-GB" baseline="0" dirty="0" smtClean="0"/>
              <a:t> 6 &amp; 7 in the poetry student book. </a:t>
            </a:r>
            <a:endParaRPr lang="en-GB" dirty="0"/>
          </a:p>
        </p:txBody>
      </p:sp>
      <p:sp>
        <p:nvSpPr>
          <p:cNvPr id="4" name="Slide Number Placeholder 3"/>
          <p:cNvSpPr>
            <a:spLocks noGrp="1"/>
          </p:cNvSpPr>
          <p:nvPr>
            <p:ph type="sldNum" sz="quarter" idx="10"/>
          </p:nvPr>
        </p:nvSpPr>
        <p:spPr/>
        <p:txBody>
          <a:bodyPr/>
          <a:lstStyle/>
          <a:p>
            <a:fld id="{3DB29E8A-9E28-4D1B-9C77-3B5F9665D022}" type="slidenum">
              <a:rPr lang="en-GB" smtClean="0"/>
              <a:pPr/>
              <a:t>2</a:t>
            </a:fld>
            <a:endParaRPr lang="en-GB"/>
          </a:p>
        </p:txBody>
      </p:sp>
    </p:spTree>
    <p:extLst>
      <p:ext uri="{BB962C8B-B14F-4D97-AF65-F5344CB8AC3E}">
        <p14:creationId xmlns:p14="http://schemas.microsoft.com/office/powerpoint/2010/main" val="1250838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14/12/2016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7409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14/12/2016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427405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037C33-83D5-40E7-AA49-600BECFD8777}" type="datetimeFigureOut">
              <a:rPr lang="en-GB" smtClean="0"/>
              <a:t>14/12/2016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1133113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D037C33-83D5-40E7-AA49-600BECFD8777}" type="datetimeFigureOut">
              <a:rPr lang="en-GB" smtClean="0"/>
              <a:t>14/12/2016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3096861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D037C33-83D5-40E7-AA49-600BECFD8777}" type="datetimeFigureOut">
              <a:rPr lang="en-GB" smtClean="0"/>
              <a:t>14/12/2016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90481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D037C33-83D5-40E7-AA49-600BECFD8777}" type="datetimeFigureOut">
              <a:rPr lang="en-GB" smtClean="0"/>
              <a:t>14/12/2016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00496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37C33-83D5-40E7-AA49-600BECFD8777}" type="datetimeFigureOut">
              <a:rPr lang="en-GB" smtClean="0"/>
              <a:t>14/12/2016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5098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14/12/2016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2795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14/12/2016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4268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14/12/2016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1723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14/12/2016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8718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37C33-83D5-40E7-AA49-600BECFD8777}" type="datetimeFigureOut">
              <a:rPr lang="en-GB" smtClean="0"/>
              <a:t>14/12/2016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E1D401-CB51-49CF-BC15-49EE022D68C3}" type="slidenum">
              <a:rPr lang="en-GB" smtClean="0"/>
              <a:t>‹#›</a:t>
            </a:fld>
            <a:endParaRPr lang="en-GB"/>
          </a:p>
        </p:txBody>
      </p:sp>
    </p:spTree>
    <p:extLst>
      <p:ext uri="{BB962C8B-B14F-4D97-AF65-F5344CB8AC3E}">
        <p14:creationId xmlns:p14="http://schemas.microsoft.com/office/powerpoint/2010/main" val="160439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bbc.co.uk/education/guides/zwg6nbk/revision/1" TargetMode="External"/><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bbc.co.uk/education/guides/zqchfrd/revision" TargetMode="External"/><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1325563"/>
          </a:xfrm>
        </p:spPr>
        <p:txBody>
          <a:bodyPr/>
          <a:lstStyle/>
          <a:p>
            <a:r>
              <a:rPr lang="en-GB" dirty="0" smtClean="0">
                <a:latin typeface="Comic Sans MS" panose="030F0702030302020204" pitchFamily="66" charset="0"/>
              </a:rPr>
              <a:t>Starter: Remind yourself of </a:t>
            </a:r>
            <a:r>
              <a:rPr lang="en-GB" i="1" dirty="0" smtClean="0">
                <a:latin typeface="Comic Sans MS" panose="030F0702030302020204" pitchFamily="66" charset="0"/>
              </a:rPr>
              <a:t>Tissue</a:t>
            </a:r>
            <a:r>
              <a:rPr lang="en-GB" dirty="0" smtClean="0">
                <a:latin typeface="Comic Sans MS" panose="030F0702030302020204" pitchFamily="66" charset="0"/>
              </a:rPr>
              <a:t> </a:t>
            </a:r>
            <a:r>
              <a:rPr lang="en-GB" dirty="0" smtClean="0">
                <a:latin typeface="Comic Sans MS" panose="030F0702030302020204" pitchFamily="66" charset="0"/>
              </a:rPr>
              <a:t>and </a:t>
            </a:r>
            <a:r>
              <a:rPr lang="en-GB" i="1" dirty="0" smtClean="0">
                <a:latin typeface="Comic Sans MS" panose="030F0702030302020204" pitchFamily="66" charset="0"/>
              </a:rPr>
              <a:t>The </a:t>
            </a:r>
            <a:r>
              <a:rPr lang="en-GB" i="1" dirty="0" err="1" smtClean="0">
                <a:latin typeface="Comic Sans MS" panose="030F0702030302020204" pitchFamily="66" charset="0"/>
              </a:rPr>
              <a:t>Emigrée</a:t>
            </a:r>
            <a:endParaRPr lang="en-GB" dirty="0">
              <a:latin typeface="Comic Sans MS" panose="030F0702030302020204" pitchFamily="66"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5223" y="1694576"/>
            <a:ext cx="5656777" cy="4242583"/>
          </a:xfrm>
          <a:prstGeom prst="rect">
            <a:avLst/>
          </a:prstGeom>
        </p:spPr>
      </p:pic>
      <p:pic>
        <p:nvPicPr>
          <p:cNvPr id="5" name="Picture 4"/>
          <p:cNvPicPr>
            <a:picLocks noChangeAspect="1"/>
          </p:cNvPicPr>
          <p:nvPr/>
        </p:nvPicPr>
        <p:blipFill>
          <a:blip r:embed="rId3"/>
          <a:stretch>
            <a:fillRect/>
          </a:stretch>
        </p:blipFill>
        <p:spPr>
          <a:xfrm>
            <a:off x="0" y="1694575"/>
            <a:ext cx="6535223" cy="4286025"/>
          </a:xfrm>
          <a:prstGeom prst="rect">
            <a:avLst/>
          </a:prstGeom>
        </p:spPr>
      </p:pic>
      <p:sp>
        <p:nvSpPr>
          <p:cNvPr id="7" name="TextBox 6"/>
          <p:cNvSpPr txBox="1"/>
          <p:nvPr/>
        </p:nvSpPr>
        <p:spPr>
          <a:xfrm>
            <a:off x="103031" y="1694574"/>
            <a:ext cx="1867436" cy="646331"/>
          </a:xfrm>
          <a:prstGeom prst="rect">
            <a:avLst/>
          </a:prstGeom>
          <a:noFill/>
        </p:spPr>
        <p:txBody>
          <a:bodyPr wrap="square" rtlCol="0">
            <a:spAutoFit/>
          </a:bodyPr>
          <a:lstStyle/>
          <a:p>
            <a:r>
              <a:rPr lang="en-GB" sz="3600" dirty="0" smtClean="0">
                <a:latin typeface="Comic Sans MS" panose="030F0702030302020204" pitchFamily="66" charset="0"/>
              </a:rPr>
              <a:t>Tissue</a:t>
            </a:r>
            <a:endParaRPr lang="en-GB" sz="3600" dirty="0">
              <a:latin typeface="Comic Sans MS" panose="030F0702030302020204" pitchFamily="66" charset="0"/>
            </a:endParaRPr>
          </a:p>
        </p:txBody>
      </p:sp>
    </p:spTree>
    <p:extLst>
      <p:ext uri="{BB962C8B-B14F-4D97-AF65-F5344CB8AC3E}">
        <p14:creationId xmlns:p14="http://schemas.microsoft.com/office/powerpoint/2010/main" val="934996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lstStyle/>
          <a:p>
            <a:r>
              <a:rPr lang="en-GB" dirty="0" smtClean="0">
                <a:latin typeface="Comic Sans MS" panose="030F0702030302020204" pitchFamily="66" charset="0"/>
              </a:rPr>
              <a:t>Assessment Objectives</a:t>
            </a:r>
            <a:endParaRPr lang="en-GB" dirty="0">
              <a:latin typeface="Comic Sans MS" panose="030F0702030302020204" pitchFamily="66" charset="0"/>
            </a:endParaRPr>
          </a:p>
        </p:txBody>
      </p:sp>
      <p:sp>
        <p:nvSpPr>
          <p:cNvPr id="3" name="Content Placeholder 2"/>
          <p:cNvSpPr>
            <a:spLocks noGrp="1"/>
          </p:cNvSpPr>
          <p:nvPr>
            <p:ph idx="1"/>
          </p:nvPr>
        </p:nvSpPr>
        <p:spPr>
          <a:xfrm>
            <a:off x="220014" y="1825624"/>
            <a:ext cx="3579254" cy="4845631"/>
          </a:xfrm>
          <a:solidFill>
            <a:srgbClr val="FFFF00"/>
          </a:solidFill>
        </p:spPr>
        <p:txBody>
          <a:bodyPr>
            <a:normAutofit fontScale="92500"/>
          </a:bodyPr>
          <a:lstStyle/>
          <a:p>
            <a:pPr marL="0" indent="0">
              <a:buNone/>
            </a:pPr>
            <a:r>
              <a:rPr lang="en-GB" dirty="0" smtClean="0">
                <a:latin typeface="Comic Sans MS" panose="030F0702030302020204" pitchFamily="66" charset="0"/>
              </a:rPr>
              <a:t>AO1: Read, understand and respond to texts. Students should be able to: maintain a critical style and develop an informed person response; use textual references, including quotations, to support and illustrate interpretations. </a:t>
            </a:r>
          </a:p>
        </p:txBody>
      </p:sp>
      <p:pic>
        <p:nvPicPr>
          <p:cNvPr id="4" name="Picture 3"/>
          <p:cNvPicPr>
            <a:picLocks noChangeAspect="1"/>
          </p:cNvPicPr>
          <p:nvPr/>
        </p:nvPicPr>
        <p:blipFill>
          <a:blip r:embed="rId3" cstate="print"/>
          <a:stretch>
            <a:fillRect/>
          </a:stretch>
        </p:blipFill>
        <p:spPr>
          <a:xfrm>
            <a:off x="8605462" y="365125"/>
            <a:ext cx="2748338" cy="1325563"/>
          </a:xfrm>
          <a:prstGeom prst="rect">
            <a:avLst/>
          </a:prstGeom>
        </p:spPr>
      </p:pic>
      <p:sp>
        <p:nvSpPr>
          <p:cNvPr id="7" name="Content Placeholder 2"/>
          <p:cNvSpPr txBox="1">
            <a:spLocks/>
          </p:cNvSpPr>
          <p:nvPr/>
        </p:nvSpPr>
        <p:spPr>
          <a:xfrm>
            <a:off x="4032160" y="1825624"/>
            <a:ext cx="2574701" cy="4884268"/>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AO2: Analyse the language, form and structure used by a writer to create meanings and effects, using relevant subject terminology where appropriate. </a:t>
            </a:r>
            <a:endParaRPr lang="en-GB" dirty="0">
              <a:latin typeface="Comic Sans MS" panose="030F0702030302020204" pitchFamily="66" charset="0"/>
            </a:endParaRPr>
          </a:p>
        </p:txBody>
      </p:sp>
      <p:sp>
        <p:nvSpPr>
          <p:cNvPr id="8" name="Content Placeholder 2"/>
          <p:cNvSpPr txBox="1">
            <a:spLocks/>
          </p:cNvSpPr>
          <p:nvPr/>
        </p:nvSpPr>
        <p:spPr>
          <a:xfrm>
            <a:off x="6839753" y="1825624"/>
            <a:ext cx="2381518" cy="4137293"/>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AO3: Show understanding of the relationships between texts and the contexts in which they were written. </a:t>
            </a:r>
            <a:endParaRPr lang="en-GB" dirty="0">
              <a:latin typeface="Comic Sans MS" panose="030F0702030302020204" pitchFamily="66" charset="0"/>
            </a:endParaRPr>
          </a:p>
        </p:txBody>
      </p:sp>
      <p:sp>
        <p:nvSpPr>
          <p:cNvPr id="9" name="Content Placeholder 2"/>
          <p:cNvSpPr txBox="1">
            <a:spLocks/>
          </p:cNvSpPr>
          <p:nvPr/>
        </p:nvSpPr>
        <p:spPr>
          <a:xfrm>
            <a:off x="9454163" y="1825624"/>
            <a:ext cx="2420155" cy="4137293"/>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AO4: Use a range of vocabulary and sentence structures for clarity, purpose and effect, with accurate spelling and punctuation. </a:t>
            </a:r>
            <a:endParaRPr lang="en-GB" dirty="0">
              <a:latin typeface="Comic Sans MS" panose="030F0702030302020204" pitchFamily="66" charset="0"/>
            </a:endParaRPr>
          </a:p>
        </p:txBody>
      </p:sp>
    </p:spTree>
    <p:extLst>
      <p:ext uri="{BB962C8B-B14F-4D97-AF65-F5344CB8AC3E}">
        <p14:creationId xmlns:p14="http://schemas.microsoft.com/office/powerpoint/2010/main" val="12989045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330264" cy="2525577"/>
          </a:xfrm>
          <a:ln>
            <a:solidFill>
              <a:schemeClr val="tx1"/>
            </a:solidFill>
          </a:ln>
        </p:spPr>
        <p:txBody>
          <a:bodyPr>
            <a:normAutofit fontScale="92500" lnSpcReduction="10000"/>
          </a:bodyPr>
          <a:lstStyle/>
          <a:p>
            <a:pPr marL="0" indent="0">
              <a:buNone/>
            </a:pPr>
            <a:r>
              <a:rPr lang="en-GB" dirty="0" smtClean="0">
                <a:latin typeface="Comic Sans MS" panose="030F0702030302020204" pitchFamily="66" charset="0"/>
              </a:rPr>
              <a:t>Main Ideas/ Theme</a:t>
            </a:r>
            <a:r>
              <a:rPr lang="en-GB" dirty="0" smtClean="0">
                <a:latin typeface="Comic Sans MS" panose="030F0702030302020204" pitchFamily="66" charset="0"/>
              </a:rPr>
              <a:t>: Looking at the power of paper, despite its fragility, to overcome conflict and discrimination</a:t>
            </a:r>
            <a:endParaRPr lang="en-GB" dirty="0" smtClean="0">
              <a:latin typeface="Comic Sans MS" panose="030F0702030302020204" pitchFamily="66" charset="0"/>
            </a:endParaRPr>
          </a:p>
        </p:txBody>
      </p:sp>
      <p:sp>
        <p:nvSpPr>
          <p:cNvPr id="4" name="Title 1"/>
          <p:cNvSpPr txBox="1">
            <a:spLocks/>
          </p:cNvSpPr>
          <p:nvPr/>
        </p:nvSpPr>
        <p:spPr>
          <a:xfrm>
            <a:off x="0" y="0"/>
            <a:ext cx="73795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a:t>
            </a:r>
            <a:r>
              <a:rPr lang="en-GB" dirty="0" smtClean="0">
                <a:latin typeface="Comic Sans MS" panose="030F0702030302020204" pitchFamily="66" charset="0"/>
              </a:rPr>
              <a:t>Tissue</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Poet: </a:t>
            </a:r>
            <a:r>
              <a:rPr lang="en-GB" dirty="0" err="1" smtClean="0">
                <a:latin typeface="Comic Sans MS" panose="030F0702030302020204" pitchFamily="66" charset="0"/>
              </a:rPr>
              <a:t>Imtiaz</a:t>
            </a:r>
            <a:r>
              <a:rPr lang="en-GB" dirty="0" smtClean="0">
                <a:latin typeface="Comic Sans MS" panose="030F0702030302020204" pitchFamily="66" charset="0"/>
              </a:rPr>
              <a:t> </a:t>
            </a:r>
            <a:r>
              <a:rPr lang="en-GB" dirty="0" err="1" smtClean="0">
                <a:latin typeface="Comic Sans MS" panose="030F0702030302020204" pitchFamily="66" charset="0"/>
              </a:rPr>
              <a:t>Dharker</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r>
              <a:rPr lang="en-GB" dirty="0" smtClean="0">
                <a:latin typeface="Comic Sans MS" panose="030F0702030302020204" pitchFamily="66" charset="0"/>
              </a:rPr>
              <a:t>: primarily based  on paper, whole poem is an extended metaphor with paper representing human skin and life (look at the last line)</a:t>
            </a:r>
            <a:endParaRPr lang="en-GB" dirty="0" smtClean="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Figurative language (simile and metaphor)</a:t>
            </a:r>
          </a:p>
          <a:p>
            <a:pPr marL="0" indent="0">
              <a:buFont typeface="Arial" panose="020B0604020202020204" pitchFamily="34" charset="0"/>
              <a:buNone/>
            </a:pPr>
            <a:r>
              <a:rPr lang="en-GB" dirty="0" smtClean="0">
                <a:latin typeface="Comic Sans MS" panose="030F0702030302020204" pitchFamily="66" charset="0"/>
              </a:rPr>
              <a:t>Assonance</a:t>
            </a:r>
          </a:p>
          <a:p>
            <a:pPr marL="0" indent="0">
              <a:buFont typeface="Arial" panose="020B0604020202020204" pitchFamily="34" charset="0"/>
              <a:buNone/>
            </a:pPr>
            <a:r>
              <a:rPr lang="en-GB" dirty="0" smtClean="0">
                <a:latin typeface="Comic Sans MS" panose="030F0702030302020204" pitchFamily="66" charset="0"/>
              </a:rPr>
              <a:t>Consonance</a:t>
            </a:r>
          </a:p>
          <a:p>
            <a:pPr marL="0" indent="0">
              <a:buFont typeface="Arial" panose="020B0604020202020204" pitchFamily="34" charset="0"/>
              <a:buNone/>
            </a:pPr>
            <a:r>
              <a:rPr lang="en-GB" dirty="0" smtClean="0">
                <a:latin typeface="Comic Sans MS" panose="030F0702030302020204" pitchFamily="66" charset="0"/>
              </a:rPr>
              <a:t>Modal verbs</a:t>
            </a:r>
          </a:p>
          <a:p>
            <a:pPr marL="0" indent="0">
              <a:buFont typeface="Arial" panose="020B0604020202020204" pitchFamily="34" charset="0"/>
              <a:buNone/>
            </a:pPr>
            <a:r>
              <a:rPr lang="en-GB" dirty="0" smtClean="0">
                <a:latin typeface="Comic Sans MS" panose="030F0702030302020204" pitchFamily="66" charset="0"/>
              </a:rPr>
              <a:t>Repetition</a:t>
            </a:r>
          </a:p>
          <a:p>
            <a:pPr marL="0" indent="0">
              <a:buFont typeface="Arial" panose="020B0604020202020204" pitchFamily="34" charset="0"/>
              <a:buNone/>
            </a:pPr>
            <a:r>
              <a:rPr lang="en-GB" dirty="0" smtClean="0">
                <a:latin typeface="Comic Sans MS" panose="030F0702030302020204" pitchFamily="66" charset="0"/>
              </a:rPr>
              <a:t>Delicate adjectives</a:t>
            </a:r>
          </a:p>
          <a:p>
            <a:pPr marL="0" indent="0">
              <a:buFont typeface="Arial" panose="020B0604020202020204" pitchFamily="34" charset="0"/>
              <a:buNone/>
            </a:pPr>
            <a:r>
              <a:rPr lang="en-GB" dirty="0" smtClean="0">
                <a:latin typeface="Comic Sans MS" panose="030F0702030302020204" pitchFamily="66" charset="0"/>
              </a:rPr>
              <a:t>Enjambment</a:t>
            </a:r>
            <a:endParaRPr lang="en-GB" dirty="0" smtClean="0">
              <a:latin typeface="Comic Sans MS" panose="030F0702030302020204" pitchFamily="66" charset="0"/>
            </a:endParaRPr>
          </a:p>
          <a:p>
            <a:pPr marL="0" indent="0">
              <a:buFont typeface="Arial" panose="020B0604020202020204" pitchFamily="34" charset="0"/>
              <a:buNone/>
            </a:pPr>
            <a:endParaRPr lang="en-GB" dirty="0">
              <a:latin typeface="Comic Sans MS" panose="030F0702030302020204" pitchFamily="66" charset="0"/>
            </a:endParaRPr>
          </a:p>
        </p:txBody>
      </p:sp>
      <p:sp>
        <p:nvSpPr>
          <p:cNvPr id="7" name="Content Placeholder 2"/>
          <p:cNvSpPr txBox="1">
            <a:spLocks/>
          </p:cNvSpPr>
          <p:nvPr/>
        </p:nvSpPr>
        <p:spPr>
          <a:xfrm>
            <a:off x="189965" y="3992451"/>
            <a:ext cx="3347434" cy="240834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a:t>
            </a:r>
            <a:r>
              <a:rPr lang="en-GB" dirty="0" smtClean="0">
                <a:latin typeface="Comic Sans MS" panose="030F0702030302020204" pitchFamily="66" charset="0"/>
              </a:rPr>
              <a:t>: </a:t>
            </a:r>
            <a:r>
              <a:rPr lang="en-GB" dirty="0" err="1" smtClean="0">
                <a:latin typeface="Comic Sans MS" panose="030F0702030302020204" pitchFamily="66" charset="0"/>
              </a:rPr>
              <a:t>Dharker</a:t>
            </a:r>
            <a:r>
              <a:rPr lang="en-GB" dirty="0" smtClean="0">
                <a:latin typeface="Comic Sans MS" panose="030F0702030302020204" pitchFamily="66" charset="0"/>
              </a:rPr>
              <a:t> is a multicultural poet  who has a cross cultural/ cross-religion identity</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a:t>
            </a:r>
            <a:r>
              <a:rPr lang="en-GB" dirty="0" smtClean="0">
                <a:latin typeface="Comic Sans MS" panose="030F0702030302020204" pitchFamily="66" charset="0"/>
              </a:rPr>
              <a:t>: Reflective but revolutionary</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r>
              <a:rPr lang="en-GB" dirty="0" smtClean="0">
                <a:latin typeface="Comic Sans MS" panose="030F0702030302020204" pitchFamily="66" charset="0"/>
              </a:rPr>
              <a:t>: No formal rhyme scheme, conversational rhythm</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a:t>
            </a:r>
            <a:r>
              <a:rPr lang="en-GB" dirty="0" smtClean="0">
                <a:latin typeface="Comic Sans MS" panose="030F0702030302020204" pitchFamily="66" charset="0"/>
              </a:rPr>
              <a:t>: 2006</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Power </a:t>
            </a:r>
            <a:r>
              <a:rPr lang="en-GB" dirty="0">
                <a:latin typeface="Comic Sans MS" panose="030F0702030302020204" pitchFamily="66" charset="0"/>
              </a:rPr>
              <a:t>&amp;</a:t>
            </a:r>
            <a:r>
              <a:rPr lang="en-GB" dirty="0" smtClean="0">
                <a:latin typeface="Comic Sans MS" panose="030F0702030302020204" pitchFamily="66" charset="0"/>
              </a:rPr>
              <a:t> conflict</a:t>
            </a:r>
            <a:endParaRPr lang="en-GB" dirty="0">
              <a:latin typeface="Comic Sans MS" panose="030F0702030302020204" pitchFamily="66" charset="0"/>
            </a:endParaRPr>
          </a:p>
        </p:txBody>
      </p:sp>
    </p:spTree>
    <p:extLst>
      <p:ext uri="{BB962C8B-B14F-4D97-AF65-F5344CB8AC3E}">
        <p14:creationId xmlns:p14="http://schemas.microsoft.com/office/powerpoint/2010/main" val="35370634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3667" y="193182"/>
            <a:ext cx="7186412" cy="6297769"/>
          </a:xfrm>
          <a:solidFill>
            <a:schemeClr val="accent1">
              <a:lumMod val="20000"/>
              <a:lumOff val="80000"/>
            </a:schemeClr>
          </a:solidFill>
        </p:spPr>
        <p:txBody>
          <a:bodyPr>
            <a:normAutofit lnSpcReduction="10000"/>
          </a:bodyPr>
          <a:lstStyle/>
          <a:p>
            <a:r>
              <a:rPr lang="en-GB" dirty="0" err="1">
                <a:latin typeface="Comic Sans MS" panose="030F0702030302020204" pitchFamily="66" charset="0"/>
              </a:rPr>
              <a:t>Imtiaz</a:t>
            </a:r>
            <a:r>
              <a:rPr lang="en-GB" dirty="0">
                <a:latin typeface="Comic Sans MS" panose="030F0702030302020204" pitchFamily="66" charset="0"/>
              </a:rPr>
              <a:t> </a:t>
            </a:r>
            <a:r>
              <a:rPr lang="en-GB" dirty="0" err="1">
                <a:latin typeface="Comic Sans MS" panose="030F0702030302020204" pitchFamily="66" charset="0"/>
              </a:rPr>
              <a:t>Dharker</a:t>
            </a:r>
            <a:r>
              <a:rPr lang="en-GB" dirty="0">
                <a:latin typeface="Comic Sans MS" panose="030F0702030302020204" pitchFamily="66" charset="0"/>
              </a:rPr>
              <a:t> is a contemporary poet who was born in Pakistan and grew up in Scotland. She has written five collections of poetry and often deals with themes of identity, the role of women in contemporary society and the search for meaning. She draws on her multi-cultural experience in her work.</a:t>
            </a:r>
          </a:p>
          <a:p>
            <a:r>
              <a:rPr lang="en-GB" dirty="0">
                <a:latin typeface="Comic Sans MS" panose="030F0702030302020204" pitchFamily="66" charset="0"/>
              </a:rPr>
              <a:t>She is also a film director and has scripted a number of documentaries in India, supporting work with women and children</a:t>
            </a:r>
            <a:r>
              <a:rPr lang="en-GB" dirty="0" smtClean="0">
                <a:latin typeface="Comic Sans MS" panose="030F0702030302020204" pitchFamily="66" charset="0"/>
              </a:rPr>
              <a:t>.</a:t>
            </a:r>
          </a:p>
          <a:p>
            <a:endParaRPr lang="en-GB" dirty="0">
              <a:latin typeface="Comic Sans MS" panose="030F0702030302020204" pitchFamily="66" charset="0"/>
            </a:endParaRPr>
          </a:p>
          <a:p>
            <a:r>
              <a:rPr lang="en-GB" dirty="0">
                <a:latin typeface="Comic Sans MS" panose="030F0702030302020204" pitchFamily="66" charset="0"/>
              </a:rPr>
              <a:t>‘If there were to be a World Laureate, then for me the role could only be filled by </a:t>
            </a:r>
            <a:r>
              <a:rPr lang="en-GB" dirty="0" err="1">
                <a:latin typeface="Comic Sans MS" panose="030F0702030302020204" pitchFamily="66" charset="0"/>
              </a:rPr>
              <a:t>Imtiaz</a:t>
            </a:r>
            <a:r>
              <a:rPr lang="en-GB" dirty="0">
                <a:latin typeface="Comic Sans MS" panose="030F0702030302020204" pitchFamily="66" charset="0"/>
              </a:rPr>
              <a:t> </a:t>
            </a:r>
            <a:r>
              <a:rPr lang="en-GB" dirty="0" err="1">
                <a:latin typeface="Comic Sans MS" panose="030F0702030302020204" pitchFamily="66" charset="0"/>
              </a:rPr>
              <a:t>Dharker</a:t>
            </a:r>
            <a:r>
              <a:rPr lang="en-GB" dirty="0">
                <a:latin typeface="Comic Sans MS" panose="030F0702030302020204" pitchFamily="66" charset="0"/>
              </a:rPr>
              <a:t>.’ Carol Ann Duffy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4572000" cy="6858000"/>
          </a:xfrm>
          <a:prstGeom prst="rect">
            <a:avLst/>
          </a:prstGeom>
        </p:spPr>
      </p:pic>
      <p:sp>
        <p:nvSpPr>
          <p:cNvPr id="2" name="Title 1"/>
          <p:cNvSpPr>
            <a:spLocks noGrp="1"/>
          </p:cNvSpPr>
          <p:nvPr>
            <p:ph type="title"/>
          </p:nvPr>
        </p:nvSpPr>
        <p:spPr>
          <a:xfrm>
            <a:off x="0" y="0"/>
            <a:ext cx="4238177" cy="896668"/>
          </a:xfrm>
        </p:spPr>
        <p:txBody>
          <a:bodyPr>
            <a:normAutofit fontScale="90000"/>
          </a:bodyPr>
          <a:lstStyle/>
          <a:p>
            <a:r>
              <a:rPr lang="en-GB" dirty="0" err="1" smtClean="0">
                <a:solidFill>
                  <a:schemeClr val="bg1"/>
                </a:solidFill>
                <a:latin typeface="Comic Sans MS" panose="030F0702030302020204" pitchFamily="66" charset="0"/>
              </a:rPr>
              <a:t>Imtiaz</a:t>
            </a:r>
            <a:r>
              <a:rPr lang="en-GB" dirty="0" smtClean="0">
                <a:solidFill>
                  <a:schemeClr val="bg1"/>
                </a:solidFill>
                <a:latin typeface="Comic Sans MS" panose="030F0702030302020204" pitchFamily="66" charset="0"/>
              </a:rPr>
              <a:t> </a:t>
            </a:r>
            <a:r>
              <a:rPr lang="en-GB" dirty="0" err="1" smtClean="0">
                <a:solidFill>
                  <a:schemeClr val="bg1"/>
                </a:solidFill>
                <a:latin typeface="Comic Sans MS" panose="030F0702030302020204" pitchFamily="66" charset="0"/>
              </a:rPr>
              <a:t>Dharker</a:t>
            </a:r>
            <a:endParaRPr lang="en-GB" dirty="0">
              <a:solidFill>
                <a:schemeClr val="bg1"/>
              </a:solidFill>
              <a:latin typeface="Comic Sans MS" panose="030F0702030302020204" pitchFamily="66" charset="0"/>
            </a:endParaRPr>
          </a:p>
        </p:txBody>
      </p:sp>
      <p:pic>
        <p:nvPicPr>
          <p:cNvPr id="5" name="Picture 4">
            <a:hlinkClick r:id="rId3"/>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886" y="5581968"/>
            <a:ext cx="1276032" cy="1276032"/>
          </a:xfrm>
          <a:prstGeom prst="rect">
            <a:avLst/>
          </a:prstGeom>
        </p:spPr>
      </p:pic>
    </p:spTree>
    <p:extLst>
      <p:ext uri="{BB962C8B-B14F-4D97-AF65-F5344CB8AC3E}">
        <p14:creationId xmlns:p14="http://schemas.microsoft.com/office/powerpoint/2010/main" val="23371649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0"/>
            <a:ext cx="3039414" cy="6858000"/>
          </a:xfrm>
          <a:prstGeom prst="rect">
            <a:avLst/>
          </a:prstGeom>
        </p:spPr>
      </p:pic>
      <p:pic>
        <p:nvPicPr>
          <p:cNvPr id="3" name="Picture 2"/>
          <p:cNvPicPr>
            <a:picLocks noChangeAspect="1"/>
          </p:cNvPicPr>
          <p:nvPr/>
        </p:nvPicPr>
        <p:blipFill>
          <a:blip r:embed="rId3"/>
          <a:stretch>
            <a:fillRect/>
          </a:stretch>
        </p:blipFill>
        <p:spPr>
          <a:xfrm>
            <a:off x="3790665" y="0"/>
            <a:ext cx="7413754" cy="6858000"/>
          </a:xfrm>
          <a:prstGeom prst="rect">
            <a:avLst/>
          </a:prstGeom>
        </p:spPr>
      </p:pic>
    </p:spTree>
    <p:extLst>
      <p:ext uri="{BB962C8B-B14F-4D97-AF65-F5344CB8AC3E}">
        <p14:creationId xmlns:p14="http://schemas.microsoft.com/office/powerpoint/2010/main" val="42863360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4" y="1325562"/>
            <a:ext cx="3347435" cy="2190369"/>
          </a:xfrm>
          <a:ln>
            <a:solidFill>
              <a:schemeClr val="tx1"/>
            </a:solidFill>
          </a:ln>
        </p:spPr>
        <p:txBody>
          <a:bodyPr>
            <a:normAutofit fontScale="92500" lnSpcReduction="10000"/>
          </a:bodyPr>
          <a:lstStyle/>
          <a:p>
            <a:pPr marL="0" indent="0">
              <a:buNone/>
            </a:pPr>
            <a:r>
              <a:rPr lang="en-GB" dirty="0" smtClean="0">
                <a:latin typeface="Comic Sans MS" panose="030F0702030302020204" pitchFamily="66" charset="0"/>
              </a:rPr>
              <a:t>Main </a:t>
            </a:r>
            <a:r>
              <a:rPr lang="en-GB" dirty="0" smtClean="0">
                <a:latin typeface="Comic Sans MS" panose="030F0702030302020204" pitchFamily="66" charset="0"/>
              </a:rPr>
              <a:t>Ideas/ </a:t>
            </a:r>
            <a:r>
              <a:rPr lang="en-GB" dirty="0" smtClean="0">
                <a:latin typeface="Comic Sans MS" panose="030F0702030302020204" pitchFamily="66" charset="0"/>
              </a:rPr>
              <a:t>Theme</a:t>
            </a:r>
            <a:r>
              <a:rPr lang="en-GB" dirty="0" smtClean="0">
                <a:latin typeface="Comic Sans MS" panose="030F0702030302020204" pitchFamily="66" charset="0"/>
              </a:rPr>
              <a:t>: The conflict between memory and reality.</a:t>
            </a:r>
          </a:p>
          <a:p>
            <a:pPr marL="0" indent="0">
              <a:buNone/>
            </a:pPr>
            <a:r>
              <a:rPr lang="en-GB" dirty="0" smtClean="0">
                <a:latin typeface="Comic Sans MS" panose="030F0702030302020204" pitchFamily="66" charset="0"/>
              </a:rPr>
              <a:t>Prejudice faced by </a:t>
            </a:r>
            <a:r>
              <a:rPr lang="en-GB" dirty="0">
                <a:latin typeface="Comic Sans MS" panose="030F0702030302020204" pitchFamily="66" charset="0"/>
              </a:rPr>
              <a:t>the </a:t>
            </a:r>
            <a:r>
              <a:rPr lang="en-GB" dirty="0" err="1" smtClean="0">
                <a:latin typeface="Comic Sans MS" panose="030F0702030302020204" pitchFamily="66" charset="0"/>
              </a:rPr>
              <a:t>emigrée</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a:t>
            </a:r>
            <a:r>
              <a:rPr lang="en-GB" dirty="0">
                <a:latin typeface="Comic Sans MS" panose="030F0702030302020204" pitchFamily="66" charset="0"/>
              </a:rPr>
              <a:t>The </a:t>
            </a:r>
            <a:r>
              <a:rPr lang="en-GB" dirty="0" err="1">
                <a:latin typeface="Comic Sans MS" panose="030F0702030302020204" pitchFamily="66" charset="0"/>
              </a:rPr>
              <a:t>Emigrée</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Poet: </a:t>
            </a:r>
            <a:r>
              <a:rPr lang="en-GB" dirty="0" smtClean="0">
                <a:latin typeface="Comic Sans MS" panose="030F0702030302020204" pitchFamily="66" charset="0"/>
              </a:rPr>
              <a:t>Carol Rumens</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Light and shade</a:t>
            </a:r>
          </a:p>
          <a:p>
            <a:pPr marL="0" indent="0">
              <a:buFont typeface="Arial" panose="020B0604020202020204" pitchFamily="34" charset="0"/>
              <a:buNone/>
            </a:pPr>
            <a:endParaRPr lang="en-GB" dirty="0" smtClean="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Personification</a:t>
            </a:r>
          </a:p>
          <a:p>
            <a:pPr marL="0" indent="0">
              <a:buFont typeface="Arial" panose="020B0604020202020204" pitchFamily="34" charset="0"/>
              <a:buNone/>
            </a:pPr>
            <a:r>
              <a:rPr lang="en-GB" dirty="0" smtClean="0">
                <a:latin typeface="Comic Sans MS" panose="030F0702030302020204" pitchFamily="66" charset="0"/>
              </a:rPr>
              <a:t>Repetition</a:t>
            </a:r>
          </a:p>
          <a:p>
            <a:pPr marL="0" indent="0">
              <a:buFont typeface="Arial" panose="020B0604020202020204" pitchFamily="34" charset="0"/>
              <a:buNone/>
            </a:pPr>
            <a:r>
              <a:rPr lang="en-GB" dirty="0" smtClean="0">
                <a:latin typeface="Comic Sans MS" panose="030F0702030302020204" pitchFamily="66" charset="0"/>
              </a:rPr>
              <a:t>Figurative language</a:t>
            </a:r>
            <a:endParaRPr lang="en-GB" dirty="0" smtClean="0">
              <a:latin typeface="Comic Sans MS" panose="030F0702030302020204" pitchFamily="66" charset="0"/>
            </a:endParaRPr>
          </a:p>
          <a:p>
            <a:pPr marL="0" indent="0">
              <a:buFont typeface="Arial" panose="020B0604020202020204" pitchFamily="34" charset="0"/>
              <a:buNone/>
            </a:pPr>
            <a:r>
              <a:rPr lang="en-GB" dirty="0" smtClean="0">
                <a:latin typeface="Comic Sans MS" panose="030F0702030302020204" pitchFamily="66" charset="0"/>
              </a:rPr>
              <a:t>Extended metaphor</a:t>
            </a:r>
          </a:p>
          <a:p>
            <a:pPr marL="0" indent="0">
              <a:buFont typeface="Arial" panose="020B0604020202020204" pitchFamily="34" charset="0"/>
              <a:buNone/>
            </a:pPr>
            <a:r>
              <a:rPr lang="en-GB" dirty="0" err="1" smtClean="0">
                <a:latin typeface="Comic Sans MS" panose="030F0702030302020204" pitchFamily="66" charset="0"/>
              </a:rPr>
              <a:t>Causura</a:t>
            </a:r>
            <a:endParaRPr lang="en-GB" dirty="0" smtClean="0">
              <a:latin typeface="Comic Sans MS" panose="030F0702030302020204" pitchFamily="66" charset="0"/>
            </a:endParaRPr>
          </a:p>
          <a:p>
            <a:pPr marL="0" indent="0">
              <a:buFont typeface="Arial" panose="020B0604020202020204" pitchFamily="34" charset="0"/>
              <a:buNone/>
            </a:pPr>
            <a:r>
              <a:rPr lang="en-GB" dirty="0" smtClean="0">
                <a:latin typeface="Comic Sans MS" panose="030F0702030302020204" pitchFamily="66" charset="0"/>
              </a:rPr>
              <a:t>Modal verbs</a:t>
            </a:r>
          </a:p>
          <a:p>
            <a:pPr marL="0" indent="0">
              <a:buFont typeface="Arial" panose="020B0604020202020204" pitchFamily="34" charset="0"/>
              <a:buNone/>
            </a:pPr>
            <a:r>
              <a:rPr lang="en-GB" dirty="0" smtClean="0">
                <a:latin typeface="Comic Sans MS" panose="030F0702030302020204" pitchFamily="66" charset="0"/>
              </a:rPr>
              <a:t>Contrast</a:t>
            </a:r>
          </a:p>
          <a:p>
            <a:pPr marL="0" indent="0">
              <a:buFont typeface="Arial" panose="020B0604020202020204" pitchFamily="34" charset="0"/>
              <a:buNone/>
            </a:pPr>
            <a:endParaRPr lang="en-GB" dirty="0" smtClean="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smtClean="0">
                <a:latin typeface="Comic Sans MS" panose="030F0702030302020204" pitchFamily="66" charset="0"/>
              </a:rPr>
              <a:t>Context</a:t>
            </a:r>
            <a:r>
              <a:rPr lang="en-GB" dirty="0">
                <a:latin typeface="Comic Sans MS" panose="030F0702030302020204" pitchFamily="66" charset="0"/>
              </a:rPr>
              <a:t>: The memory of a childhood home to a woman who has had to </a:t>
            </a:r>
            <a:r>
              <a:rPr lang="en-GB" dirty="0" smtClean="0">
                <a:latin typeface="Comic Sans MS" panose="030F0702030302020204" pitchFamily="66" charset="0"/>
              </a:rPr>
              <a:t>leave. No details are given so could be anywhere</a:t>
            </a:r>
            <a:endParaRPr lang="en-GB" dirty="0">
              <a:latin typeface="Comic Sans MS" panose="030F0702030302020204" pitchFamily="66" charset="0"/>
            </a:endParaRPr>
          </a:p>
          <a:p>
            <a:pPr marL="0" indent="0">
              <a:buFont typeface="Arial" panose="020B0604020202020204" pitchFamily="34" charset="0"/>
              <a:buNone/>
            </a:pPr>
            <a:endParaRPr lang="en-GB" dirty="0" smtClean="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a:t>
            </a:r>
            <a:r>
              <a:rPr lang="en-GB" dirty="0" smtClean="0">
                <a:latin typeface="Comic Sans MS" panose="030F0702030302020204" pitchFamily="66" charset="0"/>
              </a:rPr>
              <a:t>: Nostalgic</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r>
              <a:rPr lang="en-GB" dirty="0" smtClean="0">
                <a:latin typeface="Comic Sans MS" panose="030F0702030302020204" pitchFamily="66" charset="0"/>
              </a:rPr>
              <a:t>: free verse</a:t>
            </a:r>
            <a:endParaRPr lang="en-GB" dirty="0" smtClean="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 </a:t>
            </a:r>
            <a:r>
              <a:rPr lang="en-GB" dirty="0" smtClean="0">
                <a:latin typeface="Comic Sans MS" panose="030F0702030302020204" pitchFamily="66" charset="0"/>
              </a:rPr>
              <a:t>1993</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Power </a:t>
            </a:r>
            <a:r>
              <a:rPr lang="en-GB" dirty="0">
                <a:latin typeface="Comic Sans MS" panose="030F0702030302020204" pitchFamily="66" charset="0"/>
              </a:rPr>
              <a:t>&amp;</a:t>
            </a:r>
            <a:r>
              <a:rPr lang="en-GB" dirty="0" smtClean="0">
                <a:latin typeface="Comic Sans MS" panose="030F0702030302020204" pitchFamily="66" charset="0"/>
              </a:rPr>
              <a:t> conflict</a:t>
            </a:r>
            <a:endParaRPr lang="en-GB" dirty="0">
              <a:latin typeface="Comic Sans MS" panose="030F0702030302020204" pitchFamily="66" charset="0"/>
            </a:endParaRPr>
          </a:p>
        </p:txBody>
      </p:sp>
    </p:spTree>
    <p:extLst>
      <p:ext uri="{BB962C8B-B14F-4D97-AF65-F5344CB8AC3E}">
        <p14:creationId xmlns:p14="http://schemas.microsoft.com/office/powerpoint/2010/main" val="1777400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6913" y="1"/>
            <a:ext cx="3734874" cy="1004552"/>
          </a:xfrm>
        </p:spPr>
        <p:txBody>
          <a:bodyPr/>
          <a:lstStyle/>
          <a:p>
            <a:r>
              <a:rPr lang="en-GB" dirty="0" smtClean="0">
                <a:latin typeface="Comic Sans MS" panose="030F0702030302020204" pitchFamily="66" charset="0"/>
              </a:rPr>
              <a:t>Carol Rumens</a:t>
            </a:r>
            <a:endParaRPr lang="en-GB" dirty="0">
              <a:latin typeface="Comic Sans MS" panose="030F0702030302020204" pitchFamily="66" charset="0"/>
            </a:endParaRPr>
          </a:p>
        </p:txBody>
      </p:sp>
      <p:sp>
        <p:nvSpPr>
          <p:cNvPr id="4" name="Content Placeholder 2"/>
          <p:cNvSpPr txBox="1">
            <a:spLocks/>
          </p:cNvSpPr>
          <p:nvPr/>
        </p:nvSpPr>
        <p:spPr>
          <a:xfrm>
            <a:off x="3322746" y="1185105"/>
            <a:ext cx="8242481" cy="4610387"/>
          </a:xfrm>
          <a:prstGeom prst="rect">
            <a:avLst/>
          </a:prstGeom>
          <a:solidFill>
            <a:schemeClr val="accent4">
              <a:lumMod val="60000"/>
              <a:lumOff val="4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Comic Sans MS" panose="030F0702030302020204" pitchFamily="66" charset="0"/>
              </a:rPr>
              <a:t>Carol Rumens was born in South London and grew up there. In addition to her own verse, she has published a number of translations of Russian poems and has, according to the critic Ben Wilkinson, a ‘fascination with elsewhere’. This fascination is clear in </a:t>
            </a:r>
            <a:r>
              <a:rPr lang="en-GB" i="1" dirty="0">
                <a:latin typeface="Comic Sans MS" panose="030F0702030302020204" pitchFamily="66" charset="0"/>
              </a:rPr>
              <a:t>The </a:t>
            </a:r>
            <a:r>
              <a:rPr lang="en-GB" i="1" dirty="0" err="1">
                <a:latin typeface="Comic Sans MS" panose="030F0702030302020204" pitchFamily="66" charset="0"/>
              </a:rPr>
              <a:t>Émigrée</a:t>
            </a:r>
            <a:r>
              <a:rPr lang="en-GB" dirty="0">
                <a:latin typeface="Comic Sans MS" panose="030F0702030302020204" pitchFamily="66" charset="0"/>
              </a:rPr>
              <a:t>, which deals with a land and a city which for the speaker is permanently ‘elsewhere’.</a:t>
            </a:r>
            <a:endParaRPr lang="en-GB" dirty="0">
              <a:latin typeface="Comic Sans MS" panose="030F0702030302020204" pitchFamily="66"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826913" cy="2826913"/>
          </a:xfrm>
          <a:prstGeom prst="rect">
            <a:avLst/>
          </a:prstGeom>
        </p:spPr>
      </p:pic>
      <p:pic>
        <p:nvPicPr>
          <p:cNvPr id="8" name="Picture 7">
            <a:hlinkClick r:id="rId3"/>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886" y="5581968"/>
            <a:ext cx="1276032" cy="1276032"/>
          </a:xfrm>
          <a:prstGeom prst="rect">
            <a:avLst/>
          </a:prstGeom>
        </p:spPr>
      </p:pic>
    </p:spTree>
    <p:extLst>
      <p:ext uri="{BB962C8B-B14F-4D97-AF65-F5344CB8AC3E}">
        <p14:creationId xmlns:p14="http://schemas.microsoft.com/office/powerpoint/2010/main" val="6158713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08848" y="0"/>
            <a:ext cx="7026738" cy="6858000"/>
          </a:xfrm>
          <a:prstGeom prst="rect">
            <a:avLst/>
          </a:prstGeom>
        </p:spPr>
      </p:pic>
    </p:spTree>
    <p:extLst>
      <p:ext uri="{BB962C8B-B14F-4D97-AF65-F5344CB8AC3E}">
        <p14:creationId xmlns:p14="http://schemas.microsoft.com/office/powerpoint/2010/main" val="34262752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587" y="152674"/>
            <a:ext cx="11305326" cy="813242"/>
          </a:xfrm>
        </p:spPr>
        <p:txBody>
          <a:bodyPr/>
          <a:lstStyle/>
          <a:p>
            <a:r>
              <a:rPr lang="en-GB" dirty="0" smtClean="0">
                <a:latin typeface="Comic Sans MS" panose="030F0702030302020204" pitchFamily="66" charset="0"/>
              </a:rPr>
              <a:t>Comparing the poems</a:t>
            </a:r>
            <a:endParaRPr lang="en-GB"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66416452"/>
              </p:ext>
            </p:extLst>
          </p:nvPr>
        </p:nvGraphicFramePr>
        <p:xfrm>
          <a:off x="502275" y="965915"/>
          <a:ext cx="11346288" cy="5484333"/>
        </p:xfrm>
        <a:graphic>
          <a:graphicData uri="http://schemas.openxmlformats.org/drawingml/2006/table">
            <a:tbl>
              <a:tblPr firstRow="1" bandRow="1">
                <a:tableStyleId>{5C22544A-7EE6-4342-B048-85BDC9FD1C3A}</a:tableStyleId>
              </a:tblPr>
              <a:tblGrid>
                <a:gridCol w="1943932"/>
                <a:gridCol w="4486131"/>
                <a:gridCol w="4916225"/>
              </a:tblGrid>
              <a:tr h="1101364">
                <a:tc>
                  <a:txBody>
                    <a:bodyPr/>
                    <a:lstStyle/>
                    <a:p>
                      <a:r>
                        <a:rPr lang="en-GB" dirty="0" smtClean="0">
                          <a:latin typeface="Comic Sans MS" panose="030F0702030302020204" pitchFamily="66" charset="0"/>
                        </a:rPr>
                        <a:t>Feature/ technique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Tissue</a:t>
                      </a:r>
                    </a:p>
                    <a:p>
                      <a:r>
                        <a:rPr lang="en-GB" dirty="0" err="1" smtClean="0">
                          <a:latin typeface="Comic Sans MS" panose="030F0702030302020204" pitchFamily="66" charset="0"/>
                        </a:rPr>
                        <a:t>Imtiaz</a:t>
                      </a:r>
                      <a:r>
                        <a:rPr lang="en-GB" baseline="0" dirty="0" smtClean="0">
                          <a:latin typeface="Comic Sans MS" panose="030F0702030302020204" pitchFamily="66" charset="0"/>
                        </a:rPr>
                        <a:t> </a:t>
                      </a:r>
                      <a:r>
                        <a:rPr lang="en-GB" baseline="0" dirty="0" err="1" smtClean="0">
                          <a:latin typeface="Comic Sans MS" panose="030F0702030302020204" pitchFamily="66" charset="0"/>
                        </a:rPr>
                        <a:t>Dharker</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a:t>
                      </a:r>
                      <a:r>
                        <a:rPr lang="en-GB" baseline="0" dirty="0" smtClean="0">
                          <a:latin typeface="Comic Sans MS" panose="030F0702030302020204" pitchFamily="66" charset="0"/>
                        </a:rPr>
                        <a:t> </a:t>
                      </a:r>
                      <a:r>
                        <a:rPr lang="en-GB" baseline="0" dirty="0" err="1" smtClean="0">
                          <a:latin typeface="Comic Sans MS" panose="030F0702030302020204" pitchFamily="66" charset="0"/>
                        </a:rPr>
                        <a:t>Emigrée</a:t>
                      </a:r>
                      <a:endParaRPr lang="en-GB" dirty="0" smtClean="0">
                        <a:latin typeface="Comic Sans MS" panose="030F0702030302020204" pitchFamily="66" charset="0"/>
                      </a:endParaRPr>
                    </a:p>
                    <a:p>
                      <a:r>
                        <a:rPr lang="en-GB" dirty="0" smtClean="0">
                          <a:latin typeface="Comic Sans MS" panose="030F0702030302020204" pitchFamily="66" charset="0"/>
                        </a:rPr>
                        <a:t>Carol Rumens</a:t>
                      </a:r>
                      <a:endParaRPr lang="en-GB" dirty="0">
                        <a:latin typeface="Comic Sans MS" panose="030F0702030302020204" pitchFamily="66" charset="0"/>
                      </a:endParaRPr>
                    </a:p>
                  </a:txBody>
                  <a:tcPr/>
                </a:tc>
              </a:tr>
              <a:tr h="1918061">
                <a:tc>
                  <a:txBody>
                    <a:bodyPr/>
                    <a:lstStyle/>
                    <a:p>
                      <a:r>
                        <a:rPr lang="en-GB" dirty="0" smtClean="0">
                          <a:latin typeface="Comic Sans MS" panose="030F0702030302020204" pitchFamily="66" charset="0"/>
                        </a:rPr>
                        <a:t>Expression of regret over conflict involving boundaries</a:t>
                      </a:r>
                      <a:endParaRPr lang="en-GB" dirty="0">
                        <a:latin typeface="Comic Sans MS" panose="030F0702030302020204" pitchFamily="66"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smtClean="0">
                          <a:latin typeface="Comic Sans MS" panose="030F0702030302020204" pitchFamily="66" charset="0"/>
                        </a:rPr>
                        <a:t>“Maps too. The sun shines through/ their borderlines”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smtClean="0">
                          <a:latin typeface="Comic Sans MS" panose="030F0702030302020204" pitchFamily="66" charset="0"/>
                        </a:rPr>
                        <a:t>Conflict over borders</a:t>
                      </a:r>
                      <a:r>
                        <a:rPr lang="en-GB" baseline="0" dirty="0" smtClean="0">
                          <a:latin typeface="Comic Sans MS" panose="030F0702030302020204" pitchFamily="66" charset="0"/>
                        </a:rPr>
                        <a:t> leads to refugees and exiles. </a:t>
                      </a:r>
                      <a:r>
                        <a:rPr lang="en-GB" baseline="0" dirty="0" err="1" smtClean="0">
                          <a:latin typeface="Comic Sans MS" panose="030F0702030302020204" pitchFamily="66" charset="0"/>
                        </a:rPr>
                        <a:t>Dharker</a:t>
                      </a:r>
                      <a:r>
                        <a:rPr lang="en-GB" baseline="0" dirty="0" smtClean="0">
                          <a:latin typeface="Comic Sans MS" panose="030F0702030302020204" pitchFamily="66" charset="0"/>
                        </a:rPr>
                        <a:t> suggests that a more free approach would be better.</a:t>
                      </a:r>
                      <a:endParaRPr lang="en-GB" dirty="0" smtClean="0">
                        <a:latin typeface="Comic Sans MS" panose="030F0702030302020204" pitchFamily="66" charset="0"/>
                      </a:endParaRPr>
                    </a:p>
                    <a:p>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“My city</a:t>
                      </a:r>
                      <a:r>
                        <a:rPr lang="en-GB" baseline="0" dirty="0" smtClean="0">
                          <a:latin typeface="Comic Sans MS" panose="030F0702030302020204" pitchFamily="66" charset="0"/>
                        </a:rPr>
                        <a:t> takes me dancing through the city/ of walls”</a:t>
                      </a:r>
                    </a:p>
                    <a:p>
                      <a:r>
                        <a:rPr lang="en-GB" baseline="0" dirty="0" smtClean="0">
                          <a:latin typeface="Comic Sans MS" panose="030F0702030302020204" pitchFamily="66" charset="0"/>
                        </a:rPr>
                        <a:t>Even in her new home, there are “walls”</a:t>
                      </a:r>
                    </a:p>
                    <a:p>
                      <a:r>
                        <a:rPr lang="en-GB" baseline="0" dirty="0" smtClean="0">
                          <a:latin typeface="Comic Sans MS" panose="030F0702030302020204" pitchFamily="66" charset="0"/>
                        </a:rPr>
                        <a:t>Her country has lots of restrictions and she has “no way back at all”. </a:t>
                      </a:r>
                      <a:endParaRPr lang="en-GB" dirty="0">
                        <a:latin typeface="Comic Sans MS" panose="030F0702030302020204" pitchFamily="66" charset="0"/>
                      </a:endParaRPr>
                    </a:p>
                  </a:txBody>
                  <a:tcPr/>
                </a:tc>
              </a:tr>
              <a:tr h="1177908">
                <a:tc>
                  <a:txBody>
                    <a:bodyPr/>
                    <a:lstStyle/>
                    <a:p>
                      <a:r>
                        <a:rPr lang="en-GB" dirty="0" smtClean="0">
                          <a:latin typeface="Comic Sans MS" panose="030F0702030302020204" pitchFamily="66" charset="0"/>
                        </a:rPr>
                        <a:t>Imagery</a:t>
                      </a:r>
                      <a:r>
                        <a:rPr lang="en-GB" baseline="0" dirty="0" smtClean="0">
                          <a:latin typeface="Comic Sans MS" panose="030F0702030302020204" pitchFamily="66" charset="0"/>
                        </a:rPr>
                        <a:t> involving light</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 sun shines through/ their borderlines”</a:t>
                      </a:r>
                    </a:p>
                    <a:p>
                      <a:r>
                        <a:rPr lang="en-GB" dirty="0" smtClean="0">
                          <a:latin typeface="Comic Sans MS" panose="030F0702030302020204" pitchFamily="66" charset="0"/>
                        </a:rPr>
                        <a:t>“let the daylight break/</a:t>
                      </a:r>
                      <a:r>
                        <a:rPr lang="en-GB" baseline="0" dirty="0" smtClean="0">
                          <a:latin typeface="Comic Sans MS" panose="030F0702030302020204" pitchFamily="66" charset="0"/>
                        </a:rPr>
                        <a:t> through capitals and monoliths”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“white</a:t>
                      </a:r>
                      <a:r>
                        <a:rPr lang="en-GB" baseline="0" dirty="0" smtClean="0">
                          <a:latin typeface="Comic Sans MS" panose="030F0702030302020204" pitchFamily="66" charset="0"/>
                        </a:rPr>
                        <a:t> streets of that city”</a:t>
                      </a:r>
                    </a:p>
                    <a:p>
                      <a:r>
                        <a:rPr lang="en-GB" baseline="0" dirty="0" smtClean="0">
                          <a:latin typeface="Comic Sans MS" panose="030F0702030302020204" pitchFamily="66" charset="0"/>
                        </a:rPr>
                        <a:t>Images of light and the colour white suggest purity, innocence and freedom.</a:t>
                      </a:r>
                      <a:endParaRPr lang="en-GB" dirty="0">
                        <a:latin typeface="Comic Sans MS" panose="030F0702030302020204" pitchFamily="66" charset="0"/>
                      </a:endParaRPr>
                    </a:p>
                  </a:txBody>
                  <a:tcPr/>
                </a:tc>
              </a:tr>
              <a:tr h="638094">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dirty="0">
                        <a:latin typeface="Comic Sans MS" panose="030F0702030302020204" pitchFamily="66" charset="0"/>
                      </a:endParaRPr>
                    </a:p>
                  </a:txBody>
                  <a:tcPr/>
                </a:tc>
              </a:tr>
              <a:tr h="638094">
                <a:tc>
                  <a:txBody>
                    <a:bodyPr/>
                    <a:lstStyle/>
                    <a:p>
                      <a:r>
                        <a:rPr lang="en-GB" dirty="0" smtClean="0">
                          <a:latin typeface="Comic Sans MS" panose="030F0702030302020204" pitchFamily="66" charset="0"/>
                        </a:rPr>
                        <a:t>Other poems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Ozymandias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Kamikaze</a:t>
                      </a:r>
                      <a:endParaRPr lang="en-GB" dirty="0">
                        <a:latin typeface="Comic Sans MS" panose="030F0702030302020204" pitchFamily="66" charset="0"/>
                      </a:endParaRPr>
                    </a:p>
                  </a:txBody>
                  <a:tcPr/>
                </a:tc>
              </a:tr>
            </a:tbl>
          </a:graphicData>
        </a:graphic>
      </p:graphicFrame>
    </p:spTree>
    <p:extLst>
      <p:ext uri="{BB962C8B-B14F-4D97-AF65-F5344CB8AC3E}">
        <p14:creationId xmlns:p14="http://schemas.microsoft.com/office/powerpoint/2010/main" val="36212502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TotalTime>
  <Words>638</Words>
  <Application>Microsoft Office PowerPoint</Application>
  <PresentationFormat>Widescreen</PresentationFormat>
  <Paragraphs>68</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Comic Sans MS</vt:lpstr>
      <vt:lpstr>Office Theme</vt:lpstr>
      <vt:lpstr>Starter: Remind yourself of Tissue and The Emigrée</vt:lpstr>
      <vt:lpstr>Assessment Objectives</vt:lpstr>
      <vt:lpstr>Date: 2006 Power &amp; conflict</vt:lpstr>
      <vt:lpstr>Imtiaz Dharker</vt:lpstr>
      <vt:lpstr>PowerPoint Presentation</vt:lpstr>
      <vt:lpstr>Date: 1993 Power &amp; conflict</vt:lpstr>
      <vt:lpstr>Carol Rumens</vt:lpstr>
      <vt:lpstr>PowerPoint Presentation</vt:lpstr>
      <vt:lpstr>Comparing the poems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Lix</dc:creator>
  <cp:lastModifiedBy>DYER, A</cp:lastModifiedBy>
  <cp:revision>27</cp:revision>
  <dcterms:created xsi:type="dcterms:W3CDTF">2016-12-04T22:21:02Z</dcterms:created>
  <dcterms:modified xsi:type="dcterms:W3CDTF">2016-12-14T13:08:03Z</dcterms:modified>
</cp:coreProperties>
</file>