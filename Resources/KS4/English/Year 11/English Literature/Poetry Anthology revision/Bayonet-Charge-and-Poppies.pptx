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57" r:id="rId3"/>
    <p:sldId id="258" r:id="rId4"/>
    <p:sldId id="260" r:id="rId5"/>
    <p:sldId id="262" r:id="rId6"/>
    <p:sldId id="263" r:id="rId7"/>
    <p:sldId id="264" r:id="rId8"/>
    <p:sldId id="265" r:id="rId9"/>
    <p:sldId id="266" r:id="rId10"/>
    <p:sldId id="267" r:id="rId11"/>
    <p:sldId id="268" r:id="rId12"/>
    <p:sldId id="259" r:id="rId13"/>
    <p:sldId id="270" r:id="rId14"/>
    <p:sldId id="271" r:id="rId15"/>
    <p:sldId id="269"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2" d="100"/>
          <a:sy n="72" d="100"/>
        </p:scale>
        <p:origin x="61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28454A-19CC-4767-8B18-74BAFD522567}" type="datetimeFigureOut">
              <a:rPr lang="en-GB" smtClean="0"/>
              <a:t>12/12/2016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FC6FCE-B06F-4CA7-9616-677261262960}" type="slidenum">
              <a:rPr lang="en-GB" smtClean="0"/>
              <a:t>‹#›</a:t>
            </a:fld>
            <a:endParaRPr lang="en-GB"/>
          </a:p>
        </p:txBody>
      </p:sp>
    </p:spTree>
    <p:extLst>
      <p:ext uri="{BB962C8B-B14F-4D97-AF65-F5344CB8AC3E}">
        <p14:creationId xmlns:p14="http://schemas.microsoft.com/office/powerpoint/2010/main" val="42053685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Resource 1. Additional help for </a:t>
            </a:r>
            <a:r>
              <a:rPr lang="en-GB" smtClean="0"/>
              <a:t>this task </a:t>
            </a:r>
            <a:r>
              <a:rPr lang="en-GB" dirty="0" smtClean="0"/>
              <a:t>can be found on p.</a:t>
            </a:r>
            <a:r>
              <a:rPr lang="en-GB" baseline="0" dirty="0" smtClean="0"/>
              <a:t> 6 &amp; 7 in the poetry student book. </a:t>
            </a:r>
            <a:endParaRPr lang="en-GB" dirty="0"/>
          </a:p>
        </p:txBody>
      </p:sp>
      <p:sp>
        <p:nvSpPr>
          <p:cNvPr id="4" name="Slide Number Placeholder 3"/>
          <p:cNvSpPr>
            <a:spLocks noGrp="1"/>
          </p:cNvSpPr>
          <p:nvPr>
            <p:ph type="sldNum" sz="quarter" idx="10"/>
          </p:nvPr>
        </p:nvSpPr>
        <p:spPr/>
        <p:txBody>
          <a:bodyPr/>
          <a:lstStyle/>
          <a:p>
            <a:fld id="{3DB29E8A-9E28-4D1B-9C77-3B5F9665D022}" type="slidenum">
              <a:rPr lang="en-GB" smtClean="0"/>
              <a:pPr/>
              <a:t>2</a:t>
            </a:fld>
            <a:endParaRPr lang="en-GB"/>
          </a:p>
        </p:txBody>
      </p:sp>
    </p:spTree>
    <p:extLst>
      <p:ext uri="{BB962C8B-B14F-4D97-AF65-F5344CB8AC3E}">
        <p14:creationId xmlns:p14="http://schemas.microsoft.com/office/powerpoint/2010/main" val="12508383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6D037C33-83D5-40E7-AA49-600BECFD8777}" type="datetimeFigureOut">
              <a:rPr lang="en-GB" smtClean="0"/>
              <a:t>12/12/2016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1E1D401-CB51-49CF-BC15-49EE022D68C3}" type="slidenum">
              <a:rPr lang="en-GB" smtClean="0"/>
              <a:t>‹#›</a:t>
            </a:fld>
            <a:endParaRPr lang="en-GB"/>
          </a:p>
        </p:txBody>
      </p:sp>
    </p:spTree>
    <p:extLst>
      <p:ext uri="{BB962C8B-B14F-4D97-AF65-F5344CB8AC3E}">
        <p14:creationId xmlns:p14="http://schemas.microsoft.com/office/powerpoint/2010/main" val="774092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6D037C33-83D5-40E7-AA49-600BECFD8777}" type="datetimeFigureOut">
              <a:rPr lang="en-GB" smtClean="0"/>
              <a:t>12/12/2016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1E1D401-CB51-49CF-BC15-49EE022D68C3}" type="slidenum">
              <a:rPr lang="en-GB" smtClean="0"/>
              <a:t>‹#›</a:t>
            </a:fld>
            <a:endParaRPr lang="en-GB"/>
          </a:p>
        </p:txBody>
      </p:sp>
    </p:spTree>
    <p:extLst>
      <p:ext uri="{BB962C8B-B14F-4D97-AF65-F5344CB8AC3E}">
        <p14:creationId xmlns:p14="http://schemas.microsoft.com/office/powerpoint/2010/main" val="42740518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D037C33-83D5-40E7-AA49-600BECFD8777}" type="datetimeFigureOut">
              <a:rPr lang="en-GB" smtClean="0"/>
              <a:t>12/12/2016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1E1D401-CB51-49CF-BC15-49EE022D68C3}" type="slidenum">
              <a:rPr lang="en-GB" smtClean="0"/>
              <a:t>‹#›</a:t>
            </a:fld>
            <a:endParaRPr lang="en-GB"/>
          </a:p>
        </p:txBody>
      </p:sp>
    </p:spTree>
    <p:extLst>
      <p:ext uri="{BB962C8B-B14F-4D97-AF65-F5344CB8AC3E}">
        <p14:creationId xmlns:p14="http://schemas.microsoft.com/office/powerpoint/2010/main" val="1133113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6D037C33-83D5-40E7-AA49-600BECFD8777}" type="datetimeFigureOut">
              <a:rPr lang="en-GB" smtClean="0"/>
              <a:t>12/12/2016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1E1D401-CB51-49CF-BC15-49EE022D68C3}" type="slidenum">
              <a:rPr lang="en-GB" smtClean="0"/>
              <a:t>‹#›</a:t>
            </a:fld>
            <a:endParaRPr lang="en-GB"/>
          </a:p>
        </p:txBody>
      </p:sp>
    </p:spTree>
    <p:extLst>
      <p:ext uri="{BB962C8B-B14F-4D97-AF65-F5344CB8AC3E}">
        <p14:creationId xmlns:p14="http://schemas.microsoft.com/office/powerpoint/2010/main" val="30968611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6D037C33-83D5-40E7-AA49-600BECFD8777}" type="datetimeFigureOut">
              <a:rPr lang="en-GB" smtClean="0"/>
              <a:t>12/12/2016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41E1D401-CB51-49CF-BC15-49EE022D68C3}" type="slidenum">
              <a:rPr lang="en-GB" smtClean="0"/>
              <a:t>‹#›</a:t>
            </a:fld>
            <a:endParaRPr lang="en-GB"/>
          </a:p>
        </p:txBody>
      </p:sp>
    </p:spTree>
    <p:extLst>
      <p:ext uri="{BB962C8B-B14F-4D97-AF65-F5344CB8AC3E}">
        <p14:creationId xmlns:p14="http://schemas.microsoft.com/office/powerpoint/2010/main" val="6904817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6D037C33-83D5-40E7-AA49-600BECFD8777}" type="datetimeFigureOut">
              <a:rPr lang="en-GB" smtClean="0"/>
              <a:t>12/12/2016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41E1D401-CB51-49CF-BC15-49EE022D68C3}" type="slidenum">
              <a:rPr lang="en-GB" smtClean="0"/>
              <a:t>‹#›</a:t>
            </a:fld>
            <a:endParaRPr lang="en-GB"/>
          </a:p>
        </p:txBody>
      </p:sp>
    </p:spTree>
    <p:extLst>
      <p:ext uri="{BB962C8B-B14F-4D97-AF65-F5344CB8AC3E}">
        <p14:creationId xmlns:p14="http://schemas.microsoft.com/office/powerpoint/2010/main" val="20049603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D037C33-83D5-40E7-AA49-600BECFD8777}" type="datetimeFigureOut">
              <a:rPr lang="en-GB" smtClean="0"/>
              <a:t>12/12/2016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41E1D401-CB51-49CF-BC15-49EE022D68C3}" type="slidenum">
              <a:rPr lang="en-GB" smtClean="0"/>
              <a:t>‹#›</a:t>
            </a:fld>
            <a:endParaRPr lang="en-GB"/>
          </a:p>
        </p:txBody>
      </p:sp>
    </p:spTree>
    <p:extLst>
      <p:ext uri="{BB962C8B-B14F-4D97-AF65-F5344CB8AC3E}">
        <p14:creationId xmlns:p14="http://schemas.microsoft.com/office/powerpoint/2010/main" val="509802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D037C33-83D5-40E7-AA49-600BECFD8777}" type="datetimeFigureOut">
              <a:rPr lang="en-GB" smtClean="0"/>
              <a:t>12/12/2016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1E1D401-CB51-49CF-BC15-49EE022D68C3}" type="slidenum">
              <a:rPr lang="en-GB" smtClean="0"/>
              <a:t>‹#›</a:t>
            </a:fld>
            <a:endParaRPr lang="en-GB"/>
          </a:p>
        </p:txBody>
      </p:sp>
    </p:spTree>
    <p:extLst>
      <p:ext uri="{BB962C8B-B14F-4D97-AF65-F5344CB8AC3E}">
        <p14:creationId xmlns:p14="http://schemas.microsoft.com/office/powerpoint/2010/main" val="7279597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D037C33-83D5-40E7-AA49-600BECFD8777}" type="datetimeFigureOut">
              <a:rPr lang="en-GB" smtClean="0"/>
              <a:t>12/12/2016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1E1D401-CB51-49CF-BC15-49EE022D68C3}" type="slidenum">
              <a:rPr lang="en-GB" smtClean="0"/>
              <a:t>‹#›</a:t>
            </a:fld>
            <a:endParaRPr lang="en-GB"/>
          </a:p>
        </p:txBody>
      </p:sp>
    </p:spTree>
    <p:extLst>
      <p:ext uri="{BB962C8B-B14F-4D97-AF65-F5344CB8AC3E}">
        <p14:creationId xmlns:p14="http://schemas.microsoft.com/office/powerpoint/2010/main" val="242686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6D037C33-83D5-40E7-AA49-600BECFD8777}" type="datetimeFigureOut">
              <a:rPr lang="en-GB" smtClean="0"/>
              <a:t>12/12/2016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1E1D401-CB51-49CF-BC15-49EE022D68C3}" type="slidenum">
              <a:rPr lang="en-GB" smtClean="0"/>
              <a:t>‹#›</a:t>
            </a:fld>
            <a:endParaRPr lang="en-GB"/>
          </a:p>
        </p:txBody>
      </p:sp>
    </p:spTree>
    <p:extLst>
      <p:ext uri="{BB962C8B-B14F-4D97-AF65-F5344CB8AC3E}">
        <p14:creationId xmlns:p14="http://schemas.microsoft.com/office/powerpoint/2010/main" val="21723404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6D037C33-83D5-40E7-AA49-600BECFD8777}" type="datetimeFigureOut">
              <a:rPr lang="en-GB" smtClean="0"/>
              <a:t>12/12/2016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1E1D401-CB51-49CF-BC15-49EE022D68C3}" type="slidenum">
              <a:rPr lang="en-GB" smtClean="0"/>
              <a:t>‹#›</a:t>
            </a:fld>
            <a:endParaRPr lang="en-GB"/>
          </a:p>
        </p:txBody>
      </p:sp>
    </p:spTree>
    <p:extLst>
      <p:ext uri="{BB962C8B-B14F-4D97-AF65-F5344CB8AC3E}">
        <p14:creationId xmlns:p14="http://schemas.microsoft.com/office/powerpoint/2010/main" val="6871805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D037C33-83D5-40E7-AA49-600BECFD8777}" type="datetimeFigureOut">
              <a:rPr lang="en-GB" smtClean="0"/>
              <a:t>12/12/2016</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1E1D401-CB51-49CF-BC15-49EE022D68C3}" type="slidenum">
              <a:rPr lang="en-GB" smtClean="0"/>
              <a:t>‹#›</a:t>
            </a:fld>
            <a:endParaRPr lang="en-GB"/>
          </a:p>
        </p:txBody>
      </p:sp>
    </p:spTree>
    <p:extLst>
      <p:ext uri="{BB962C8B-B14F-4D97-AF65-F5344CB8AC3E}">
        <p14:creationId xmlns:p14="http://schemas.microsoft.com/office/powerpoint/2010/main" val="16043997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hyperlink" Target="The%20Charge%20of%20the%20Light%20Brigade.pptx" TargetMode="External"/><Relationship Id="rId1" Type="http://schemas.openxmlformats.org/officeDocument/2006/relationships/slideLayout" Target="../slideLayouts/slideLayout2.xml"/><Relationship Id="rId4" Type="http://schemas.openxmlformats.org/officeDocument/2006/relationships/hyperlink" Target="http://www.bbc.co.uk/education/clips/zdds34j" TargetMode="Externa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hyperlink" Target="http://www.bbc.co.uk/education/guides/zynw2p3/revision"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0"/>
            <a:ext cx="12192000" cy="1325563"/>
          </a:xfrm>
        </p:spPr>
        <p:txBody>
          <a:bodyPr/>
          <a:lstStyle/>
          <a:p>
            <a:r>
              <a:rPr lang="en-GB" dirty="0" smtClean="0">
                <a:latin typeface="Comic Sans MS" panose="030F0702030302020204" pitchFamily="66" charset="0"/>
              </a:rPr>
              <a:t>Starter: Remind yourself of </a:t>
            </a:r>
            <a:r>
              <a:rPr lang="en-GB" i="1" dirty="0" smtClean="0">
                <a:latin typeface="Comic Sans MS" panose="030F0702030302020204" pitchFamily="66" charset="0"/>
              </a:rPr>
              <a:t>Charge of the Light Brigade </a:t>
            </a:r>
            <a:r>
              <a:rPr lang="en-GB" dirty="0" smtClean="0">
                <a:latin typeface="Comic Sans MS" panose="030F0702030302020204" pitchFamily="66" charset="0"/>
              </a:rPr>
              <a:t> and </a:t>
            </a:r>
            <a:r>
              <a:rPr lang="en-GB" i="1" dirty="0" smtClean="0">
                <a:latin typeface="Comic Sans MS" panose="030F0702030302020204" pitchFamily="66" charset="0"/>
              </a:rPr>
              <a:t>Kamikaze</a:t>
            </a:r>
            <a:endParaRPr lang="en-GB" dirty="0">
              <a:latin typeface="Comic Sans MS" panose="030F0702030302020204" pitchFamily="66" charset="0"/>
            </a:endParaRPr>
          </a:p>
        </p:txBody>
      </p:sp>
      <p:pic>
        <p:nvPicPr>
          <p:cNvPr id="1026" name="Picture 2" descr="Image result for kamikaz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81149" y="1703590"/>
            <a:ext cx="6428778" cy="388584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mage result for charge of the light brigad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0761" y="1703590"/>
            <a:ext cx="5191483" cy="38858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349965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92D050"/>
          </a:solidFill>
        </p:spPr>
        <p:txBody>
          <a:bodyPr/>
          <a:lstStyle/>
          <a:p>
            <a:r>
              <a:rPr lang="en-GB" dirty="0" smtClean="0">
                <a:latin typeface="Comic Sans MS" panose="030F0702030302020204" pitchFamily="66" charset="0"/>
              </a:rPr>
              <a:t>Assessment Objectives</a:t>
            </a:r>
            <a:endParaRPr lang="en-GB" dirty="0">
              <a:latin typeface="Comic Sans MS" panose="030F0702030302020204" pitchFamily="66" charset="0"/>
            </a:endParaRPr>
          </a:p>
        </p:txBody>
      </p:sp>
      <p:sp>
        <p:nvSpPr>
          <p:cNvPr id="3" name="Content Placeholder 2"/>
          <p:cNvSpPr>
            <a:spLocks noGrp="1"/>
          </p:cNvSpPr>
          <p:nvPr>
            <p:ph idx="1"/>
          </p:nvPr>
        </p:nvSpPr>
        <p:spPr>
          <a:xfrm>
            <a:off x="220014" y="1825624"/>
            <a:ext cx="3579254" cy="4845631"/>
          </a:xfrm>
          <a:solidFill>
            <a:srgbClr val="FFFF00"/>
          </a:solidFill>
        </p:spPr>
        <p:txBody>
          <a:bodyPr>
            <a:normAutofit fontScale="92500"/>
          </a:bodyPr>
          <a:lstStyle/>
          <a:p>
            <a:pPr marL="0" indent="0">
              <a:buNone/>
            </a:pPr>
            <a:r>
              <a:rPr lang="en-GB" dirty="0" smtClean="0">
                <a:latin typeface="Comic Sans MS" panose="030F0702030302020204" pitchFamily="66" charset="0"/>
              </a:rPr>
              <a:t>AO1: Read, understand and respond to texts. Students should be able to: maintain a critical style and develop an informed person response; use textual references, including quotations, to support and illustrate interpretations. </a:t>
            </a:r>
          </a:p>
        </p:txBody>
      </p:sp>
      <p:pic>
        <p:nvPicPr>
          <p:cNvPr id="4" name="Picture 3"/>
          <p:cNvPicPr>
            <a:picLocks noChangeAspect="1"/>
          </p:cNvPicPr>
          <p:nvPr/>
        </p:nvPicPr>
        <p:blipFill>
          <a:blip r:embed="rId3" cstate="print"/>
          <a:stretch>
            <a:fillRect/>
          </a:stretch>
        </p:blipFill>
        <p:spPr>
          <a:xfrm>
            <a:off x="8605462" y="365125"/>
            <a:ext cx="2748338" cy="1325563"/>
          </a:xfrm>
          <a:prstGeom prst="rect">
            <a:avLst/>
          </a:prstGeom>
        </p:spPr>
      </p:pic>
      <p:sp>
        <p:nvSpPr>
          <p:cNvPr id="7" name="Content Placeholder 2"/>
          <p:cNvSpPr txBox="1">
            <a:spLocks/>
          </p:cNvSpPr>
          <p:nvPr/>
        </p:nvSpPr>
        <p:spPr>
          <a:xfrm>
            <a:off x="4032160" y="1825624"/>
            <a:ext cx="2574701" cy="4884268"/>
          </a:xfrm>
          <a:prstGeom prst="rect">
            <a:avLst/>
          </a:prstGeom>
          <a:solidFill>
            <a:srgbClr val="FFFF00"/>
          </a:solidFill>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mtClean="0">
                <a:latin typeface="Comic Sans MS" panose="030F0702030302020204" pitchFamily="66" charset="0"/>
              </a:rPr>
              <a:t>AO2: Analyse the language, form and structure used by a writer to create meanings and effects, using relevant subject terminology where appropriate. </a:t>
            </a:r>
            <a:endParaRPr lang="en-GB" dirty="0">
              <a:latin typeface="Comic Sans MS" panose="030F0702030302020204" pitchFamily="66" charset="0"/>
            </a:endParaRPr>
          </a:p>
        </p:txBody>
      </p:sp>
      <p:sp>
        <p:nvSpPr>
          <p:cNvPr id="8" name="Content Placeholder 2"/>
          <p:cNvSpPr txBox="1">
            <a:spLocks/>
          </p:cNvSpPr>
          <p:nvPr/>
        </p:nvSpPr>
        <p:spPr>
          <a:xfrm>
            <a:off x="6839753" y="1825624"/>
            <a:ext cx="2381518" cy="4137293"/>
          </a:xfrm>
          <a:prstGeom prst="rect">
            <a:avLst/>
          </a:prstGeom>
          <a:solidFill>
            <a:srgbClr val="FFFF00"/>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mtClean="0">
                <a:latin typeface="Comic Sans MS" panose="030F0702030302020204" pitchFamily="66" charset="0"/>
              </a:rPr>
              <a:t>AO3: Show understanding of the relationships between texts and the contexts in which they were written. </a:t>
            </a:r>
            <a:endParaRPr lang="en-GB" dirty="0">
              <a:latin typeface="Comic Sans MS" panose="030F0702030302020204" pitchFamily="66" charset="0"/>
            </a:endParaRPr>
          </a:p>
        </p:txBody>
      </p:sp>
      <p:sp>
        <p:nvSpPr>
          <p:cNvPr id="9" name="Content Placeholder 2"/>
          <p:cNvSpPr txBox="1">
            <a:spLocks/>
          </p:cNvSpPr>
          <p:nvPr/>
        </p:nvSpPr>
        <p:spPr>
          <a:xfrm>
            <a:off x="9454163" y="1825624"/>
            <a:ext cx="2420155" cy="4137293"/>
          </a:xfrm>
          <a:prstGeom prst="rect">
            <a:avLst/>
          </a:prstGeom>
          <a:solidFill>
            <a:srgbClr val="FFFF00"/>
          </a:solidFill>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smtClean="0">
                <a:latin typeface="Comic Sans MS" panose="030F0702030302020204" pitchFamily="66" charset="0"/>
              </a:rPr>
              <a:t>AO4: Use a range of vocabulary and sentence structures for clarity, purpose and effect, with accurate spelling and punctuation. </a:t>
            </a:r>
            <a:endParaRPr lang="en-GB" dirty="0">
              <a:latin typeface="Comic Sans MS" panose="030F0702030302020204" pitchFamily="66" charset="0"/>
            </a:endParaRPr>
          </a:p>
        </p:txBody>
      </p:sp>
    </p:spTree>
    <p:extLst>
      <p:ext uri="{BB962C8B-B14F-4D97-AF65-F5344CB8AC3E}">
        <p14:creationId xmlns:p14="http://schemas.microsoft.com/office/powerpoint/2010/main" val="129890457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7135" y="1325562"/>
            <a:ext cx="3231524" cy="2190369"/>
          </a:xfrm>
          <a:ln>
            <a:solidFill>
              <a:schemeClr val="tx1"/>
            </a:solidFill>
          </a:ln>
        </p:spPr>
        <p:txBody>
          <a:bodyPr>
            <a:normAutofit fontScale="85000" lnSpcReduction="20000"/>
          </a:bodyPr>
          <a:lstStyle/>
          <a:p>
            <a:pPr marL="0" indent="0">
              <a:buNone/>
            </a:pPr>
            <a:r>
              <a:rPr lang="en-GB" dirty="0" smtClean="0">
                <a:latin typeface="Comic Sans MS" panose="030F0702030302020204" pitchFamily="66" charset="0"/>
              </a:rPr>
              <a:t>Main Idea/ Theme:</a:t>
            </a:r>
          </a:p>
          <a:p>
            <a:pPr marL="0" indent="0">
              <a:buNone/>
            </a:pPr>
            <a:r>
              <a:rPr lang="en-GB" dirty="0" smtClean="0">
                <a:latin typeface="Comic Sans MS" panose="030F0702030302020204" pitchFamily="66" charset="0"/>
              </a:rPr>
              <a:t>The soldiers of the Light Brigade deserved to be honoured for their bravery and obedience</a:t>
            </a:r>
            <a:endParaRPr lang="en-GB" dirty="0">
              <a:latin typeface="Comic Sans MS" panose="030F0702030302020204" pitchFamily="66" charset="0"/>
            </a:endParaRPr>
          </a:p>
        </p:txBody>
      </p:sp>
      <p:sp>
        <p:nvSpPr>
          <p:cNvPr id="4" name="Title 1"/>
          <p:cNvSpPr txBox="1">
            <a:spLocks/>
          </p:cNvSpPr>
          <p:nvPr/>
        </p:nvSpPr>
        <p:spPr>
          <a:xfrm>
            <a:off x="0" y="0"/>
            <a:ext cx="7714445" cy="1325563"/>
          </a:xfrm>
          <a:prstGeom prst="rect">
            <a:avLst/>
          </a:prstGeom>
        </p:spPr>
        <p:txBody>
          <a:bodyPr vert="horz" lIns="91440" tIns="45720" rIns="91440" bIns="45720" rtlCol="0" anchor="ctr">
            <a:normAutofit fontScale="85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smtClean="0">
                <a:latin typeface="Comic Sans MS" panose="030F0702030302020204" pitchFamily="66" charset="0"/>
              </a:rPr>
              <a:t>Title: Charge of the Light Brigade</a:t>
            </a:r>
            <a:br>
              <a:rPr lang="en-GB" dirty="0" smtClean="0">
                <a:latin typeface="Comic Sans MS" panose="030F0702030302020204" pitchFamily="66" charset="0"/>
              </a:rPr>
            </a:br>
            <a:r>
              <a:rPr lang="en-GB" dirty="0" smtClean="0">
                <a:latin typeface="Comic Sans MS" panose="030F0702030302020204" pitchFamily="66" charset="0"/>
              </a:rPr>
              <a:t>Poet: Alfred, Lord Tennyson</a:t>
            </a:r>
            <a:endParaRPr lang="en-GB" dirty="0">
              <a:latin typeface="Comic Sans MS" panose="030F0702030302020204" pitchFamily="66" charset="0"/>
            </a:endParaRPr>
          </a:p>
        </p:txBody>
      </p:sp>
      <p:sp>
        <p:nvSpPr>
          <p:cNvPr id="5" name="Content Placeholder 2"/>
          <p:cNvSpPr txBox="1">
            <a:spLocks/>
          </p:cNvSpPr>
          <p:nvPr/>
        </p:nvSpPr>
        <p:spPr>
          <a:xfrm>
            <a:off x="7146699" y="1325562"/>
            <a:ext cx="4688985" cy="2372888"/>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smtClean="0">
                <a:latin typeface="Comic Sans MS" panose="030F0702030302020204" pitchFamily="66" charset="0"/>
              </a:rPr>
              <a:t>Imagery:</a:t>
            </a:r>
          </a:p>
          <a:p>
            <a:pPr marL="0" indent="0">
              <a:buFont typeface="Arial" panose="020B0604020202020204" pitchFamily="34" charset="0"/>
              <a:buNone/>
            </a:pPr>
            <a:r>
              <a:rPr lang="en-GB" dirty="0" smtClean="0">
                <a:latin typeface="Comic Sans MS" panose="030F0702030302020204" pitchFamily="66" charset="0"/>
              </a:rPr>
              <a:t>Biblical/ classical imagery about venturing into death and hell</a:t>
            </a:r>
            <a:endParaRPr lang="en-GB" dirty="0">
              <a:latin typeface="Comic Sans MS" panose="030F0702030302020204" pitchFamily="66" charset="0"/>
            </a:endParaRPr>
          </a:p>
        </p:txBody>
      </p:sp>
      <p:sp>
        <p:nvSpPr>
          <p:cNvPr id="6" name="Content Placeholder 2"/>
          <p:cNvSpPr txBox="1">
            <a:spLocks/>
          </p:cNvSpPr>
          <p:nvPr/>
        </p:nvSpPr>
        <p:spPr>
          <a:xfrm>
            <a:off x="3726287" y="1325562"/>
            <a:ext cx="3231524" cy="5075236"/>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smtClean="0">
                <a:latin typeface="Comic Sans MS" panose="030F0702030302020204" pitchFamily="66" charset="0"/>
              </a:rPr>
              <a:t>Language/ Form:</a:t>
            </a:r>
          </a:p>
          <a:p>
            <a:pPr marL="0" indent="0">
              <a:buFont typeface="Arial" panose="020B0604020202020204" pitchFamily="34" charset="0"/>
              <a:buNone/>
            </a:pPr>
            <a:r>
              <a:rPr lang="en-GB" dirty="0" smtClean="0">
                <a:latin typeface="Comic Sans MS" panose="030F0702030302020204" pitchFamily="66" charset="0"/>
              </a:rPr>
              <a:t>Repetition</a:t>
            </a:r>
          </a:p>
          <a:p>
            <a:pPr marL="0" indent="0">
              <a:buFont typeface="Arial" panose="020B0604020202020204" pitchFamily="34" charset="0"/>
              <a:buNone/>
            </a:pPr>
            <a:r>
              <a:rPr lang="en-GB" dirty="0" smtClean="0">
                <a:latin typeface="Comic Sans MS" panose="030F0702030302020204" pitchFamily="66" charset="0"/>
              </a:rPr>
              <a:t>Sibilance</a:t>
            </a:r>
          </a:p>
          <a:p>
            <a:pPr marL="0" indent="0">
              <a:buFont typeface="Arial" panose="020B0604020202020204" pitchFamily="34" charset="0"/>
              <a:buNone/>
            </a:pPr>
            <a:r>
              <a:rPr lang="en-GB" dirty="0" smtClean="0">
                <a:latin typeface="Comic Sans MS" panose="030F0702030302020204" pitchFamily="66" charset="0"/>
              </a:rPr>
              <a:t>Consonance</a:t>
            </a:r>
          </a:p>
          <a:p>
            <a:pPr marL="0" indent="0">
              <a:buFont typeface="Arial" panose="020B0604020202020204" pitchFamily="34" charset="0"/>
              <a:buNone/>
            </a:pPr>
            <a:r>
              <a:rPr lang="en-GB" dirty="0" smtClean="0">
                <a:latin typeface="Comic Sans MS" panose="030F0702030302020204" pitchFamily="66" charset="0"/>
              </a:rPr>
              <a:t>Anaphora</a:t>
            </a:r>
          </a:p>
          <a:p>
            <a:pPr marL="0" indent="0">
              <a:buFont typeface="Arial" panose="020B0604020202020204" pitchFamily="34" charset="0"/>
              <a:buNone/>
            </a:pPr>
            <a:r>
              <a:rPr lang="en-GB" dirty="0" smtClean="0">
                <a:latin typeface="Comic Sans MS" panose="030F0702030302020204" pitchFamily="66" charset="0"/>
              </a:rPr>
              <a:t>Ballad</a:t>
            </a:r>
          </a:p>
          <a:p>
            <a:pPr marL="0" indent="0">
              <a:buFont typeface="Arial" panose="020B0604020202020204" pitchFamily="34" charset="0"/>
              <a:buNone/>
            </a:pPr>
            <a:r>
              <a:rPr lang="en-GB" dirty="0" smtClean="0">
                <a:latin typeface="Comic Sans MS" panose="030F0702030302020204" pitchFamily="66" charset="0"/>
              </a:rPr>
              <a:t>Imperative verbs</a:t>
            </a:r>
          </a:p>
          <a:p>
            <a:pPr marL="0" indent="0">
              <a:buFont typeface="Arial" panose="020B0604020202020204" pitchFamily="34" charset="0"/>
              <a:buNone/>
            </a:pPr>
            <a:r>
              <a:rPr lang="en-GB" dirty="0" smtClean="0">
                <a:latin typeface="Comic Sans MS" panose="030F0702030302020204" pitchFamily="66" charset="0"/>
              </a:rPr>
              <a:t>Dual meanings</a:t>
            </a:r>
          </a:p>
          <a:p>
            <a:pPr marL="0" indent="0">
              <a:buFont typeface="Arial" panose="020B0604020202020204" pitchFamily="34" charset="0"/>
              <a:buNone/>
            </a:pPr>
            <a:endParaRPr lang="en-GB" dirty="0" smtClean="0">
              <a:latin typeface="Comic Sans MS" panose="030F0702030302020204" pitchFamily="66" charset="0"/>
            </a:endParaRPr>
          </a:p>
          <a:p>
            <a:pPr marL="0" indent="0">
              <a:buFont typeface="Arial" panose="020B0604020202020204" pitchFamily="34" charset="0"/>
              <a:buNone/>
            </a:pPr>
            <a:endParaRPr lang="en-GB" dirty="0" smtClean="0">
              <a:latin typeface="Comic Sans MS" panose="030F0702030302020204" pitchFamily="66" charset="0"/>
            </a:endParaRPr>
          </a:p>
          <a:p>
            <a:pPr marL="0" indent="0">
              <a:buFont typeface="Arial" panose="020B0604020202020204" pitchFamily="34" charset="0"/>
              <a:buNone/>
            </a:pPr>
            <a:endParaRPr lang="en-GB" dirty="0">
              <a:latin typeface="Comic Sans MS" panose="030F0702030302020204" pitchFamily="66" charset="0"/>
            </a:endParaRPr>
          </a:p>
        </p:txBody>
      </p:sp>
      <p:sp>
        <p:nvSpPr>
          <p:cNvPr id="7" name="Content Placeholder 2"/>
          <p:cNvSpPr txBox="1">
            <a:spLocks/>
          </p:cNvSpPr>
          <p:nvPr/>
        </p:nvSpPr>
        <p:spPr>
          <a:xfrm>
            <a:off x="189965" y="3686621"/>
            <a:ext cx="3347434" cy="2714177"/>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smtClean="0">
                <a:latin typeface="Comic Sans MS" panose="030F0702030302020204" pitchFamily="66" charset="0"/>
              </a:rPr>
              <a:t>Context: Written based on an account of the Battle of Balaclava from the Times. </a:t>
            </a:r>
            <a:endParaRPr lang="en-GB" dirty="0">
              <a:latin typeface="Comic Sans MS" panose="030F0702030302020204" pitchFamily="66" charset="0"/>
            </a:endParaRPr>
          </a:p>
        </p:txBody>
      </p:sp>
      <p:sp>
        <p:nvSpPr>
          <p:cNvPr id="8" name="Content Placeholder 2"/>
          <p:cNvSpPr txBox="1">
            <a:spLocks/>
          </p:cNvSpPr>
          <p:nvPr/>
        </p:nvSpPr>
        <p:spPr>
          <a:xfrm>
            <a:off x="7129528" y="3851139"/>
            <a:ext cx="4688985" cy="1305618"/>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smtClean="0">
                <a:latin typeface="Comic Sans MS" panose="030F0702030302020204" pitchFamily="66" charset="0"/>
              </a:rPr>
              <a:t>Tone: Reflective/ narrative</a:t>
            </a:r>
            <a:endParaRPr lang="en-GB" dirty="0">
              <a:latin typeface="Comic Sans MS" panose="030F0702030302020204" pitchFamily="66" charset="0"/>
            </a:endParaRPr>
          </a:p>
        </p:txBody>
      </p:sp>
      <p:sp>
        <p:nvSpPr>
          <p:cNvPr id="9" name="Content Placeholder 2"/>
          <p:cNvSpPr txBox="1">
            <a:spLocks/>
          </p:cNvSpPr>
          <p:nvPr/>
        </p:nvSpPr>
        <p:spPr>
          <a:xfrm>
            <a:off x="7129528" y="5309446"/>
            <a:ext cx="4688985" cy="1305618"/>
          </a:xfrm>
          <a:prstGeom prst="rect">
            <a:avLst/>
          </a:prstGeom>
          <a:ln>
            <a:solidFill>
              <a:schemeClr val="tx1"/>
            </a:solidFill>
          </a:ln>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smtClean="0">
                <a:latin typeface="Comic Sans MS" panose="030F0702030302020204" pitchFamily="66" charset="0"/>
              </a:rPr>
              <a:t>Rhythm/ Rhyme:</a:t>
            </a:r>
          </a:p>
          <a:p>
            <a:pPr marL="0" indent="0">
              <a:buFont typeface="Arial" panose="020B0604020202020204" pitchFamily="34" charset="0"/>
              <a:buNone/>
            </a:pPr>
            <a:r>
              <a:rPr lang="en-GB" dirty="0" smtClean="0">
                <a:latin typeface="Comic Sans MS" panose="030F0702030302020204" pitchFamily="66" charset="0"/>
              </a:rPr>
              <a:t>Dactylic dimeter/ no formal rhyme scheme</a:t>
            </a:r>
            <a:endParaRPr lang="en-GB" dirty="0">
              <a:latin typeface="Comic Sans MS" panose="030F0702030302020204" pitchFamily="66" charset="0"/>
            </a:endParaRPr>
          </a:p>
        </p:txBody>
      </p:sp>
      <p:sp>
        <p:nvSpPr>
          <p:cNvPr id="12" name="Title 1"/>
          <p:cNvSpPr>
            <a:spLocks noGrp="1"/>
          </p:cNvSpPr>
          <p:nvPr>
            <p:ph type="title"/>
          </p:nvPr>
        </p:nvSpPr>
        <p:spPr>
          <a:xfrm>
            <a:off x="7830354" y="128789"/>
            <a:ext cx="4361645" cy="1044084"/>
          </a:xfrm>
        </p:spPr>
        <p:txBody>
          <a:bodyPr>
            <a:normAutofit fontScale="90000"/>
          </a:bodyPr>
          <a:lstStyle/>
          <a:p>
            <a:r>
              <a:rPr lang="en-GB" dirty="0" smtClean="0">
                <a:latin typeface="Comic Sans MS" panose="030F0702030302020204" pitchFamily="66" charset="0"/>
              </a:rPr>
              <a:t>Date:1842</a:t>
            </a:r>
            <a:br>
              <a:rPr lang="en-GB" dirty="0" smtClean="0">
                <a:latin typeface="Comic Sans MS" panose="030F0702030302020204" pitchFamily="66" charset="0"/>
              </a:rPr>
            </a:br>
            <a:r>
              <a:rPr lang="en-GB" dirty="0" smtClean="0">
                <a:latin typeface="Comic Sans MS" panose="030F0702030302020204" pitchFamily="66" charset="0"/>
              </a:rPr>
              <a:t>Power </a:t>
            </a:r>
            <a:r>
              <a:rPr lang="en-GB" dirty="0">
                <a:latin typeface="Comic Sans MS" panose="030F0702030302020204" pitchFamily="66" charset="0"/>
              </a:rPr>
              <a:t>&amp;</a:t>
            </a:r>
            <a:r>
              <a:rPr lang="en-GB" dirty="0" smtClean="0">
                <a:latin typeface="Comic Sans MS" panose="030F0702030302020204" pitchFamily="66" charset="0"/>
              </a:rPr>
              <a:t> conflict</a:t>
            </a:r>
            <a:endParaRPr lang="en-GB" dirty="0">
              <a:latin typeface="Comic Sans MS" panose="030F0702030302020204" pitchFamily="66" charset="0"/>
            </a:endParaRPr>
          </a:p>
        </p:txBody>
      </p:sp>
    </p:spTree>
    <p:extLst>
      <p:ext uri="{BB962C8B-B14F-4D97-AF65-F5344CB8AC3E}">
        <p14:creationId xmlns:p14="http://schemas.microsoft.com/office/powerpoint/2010/main" val="353706340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latin typeface="Comic Sans MS" panose="030F0702030302020204" pitchFamily="66" charset="0"/>
              </a:rPr>
              <a:t>Alfred, Lord Tennyson</a:t>
            </a:r>
            <a:endParaRPr lang="en-GB" dirty="0">
              <a:latin typeface="Comic Sans MS" panose="030F0702030302020204" pitchFamily="66" charset="0"/>
            </a:endParaRPr>
          </a:p>
        </p:txBody>
      </p:sp>
      <p:sp>
        <p:nvSpPr>
          <p:cNvPr id="3" name="Content Placeholder 2"/>
          <p:cNvSpPr>
            <a:spLocks noGrp="1"/>
          </p:cNvSpPr>
          <p:nvPr>
            <p:ph idx="1"/>
          </p:nvPr>
        </p:nvSpPr>
        <p:spPr>
          <a:xfrm>
            <a:off x="818712" y="2222287"/>
            <a:ext cx="7003755" cy="3636511"/>
          </a:xfrm>
        </p:spPr>
        <p:txBody>
          <a:bodyPr>
            <a:normAutofit/>
          </a:bodyPr>
          <a:lstStyle/>
          <a:p>
            <a:r>
              <a:rPr lang="en-GB" sz="2800" dirty="0" smtClean="0">
                <a:latin typeface="Comic Sans MS" panose="030F0702030302020204" pitchFamily="66" charset="0"/>
              </a:rPr>
              <a:t>Seen as the defining poet of the Victorian era (the dates of his life almost match with Queen Victoria).</a:t>
            </a:r>
          </a:p>
          <a:p>
            <a:r>
              <a:rPr lang="en-GB" sz="2800" dirty="0" smtClean="0">
                <a:latin typeface="Comic Sans MS" panose="030F0702030302020204" pitchFamily="66" charset="0"/>
              </a:rPr>
              <a:t>He was made a lord for his poetry and was also made poet laureate after the death of William Wordsworth. He held the post for 42 years (the longest ever).</a:t>
            </a:r>
            <a:endParaRPr lang="en-GB" sz="2800" dirty="0">
              <a:latin typeface="Comic Sans MS" panose="030F0702030302020204" pitchFamily="66" charset="0"/>
            </a:endParaRPr>
          </a:p>
        </p:txBody>
      </p:sp>
      <p:pic>
        <p:nvPicPr>
          <p:cNvPr id="2050" name="Picture 2" descr="http://www.twickenham-museum.org.uk/images/content/med1851TL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22467" y="2222287"/>
            <a:ext cx="3769311" cy="376931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9011364" y="136940"/>
            <a:ext cx="3180636" cy="1200329"/>
          </a:xfrm>
          <a:prstGeom prst="rect">
            <a:avLst/>
          </a:prstGeom>
          <a:noFill/>
        </p:spPr>
        <p:txBody>
          <a:bodyPr wrap="square" rtlCol="0">
            <a:spAutoFit/>
          </a:bodyPr>
          <a:lstStyle/>
          <a:p>
            <a:r>
              <a:rPr lang="en-GB" sz="3600" dirty="0" smtClean="0">
                <a:latin typeface="Comic Sans MS" panose="030F0702030302020204" pitchFamily="66" charset="0"/>
              </a:rPr>
              <a:t>AO3 Text-Context Link</a:t>
            </a:r>
            <a:endParaRPr lang="en-GB" sz="3600" dirty="0">
              <a:latin typeface="Comic Sans MS" panose="030F0702030302020204" pitchFamily="66" charset="0"/>
            </a:endParaRPr>
          </a:p>
        </p:txBody>
      </p:sp>
    </p:spTree>
    <p:extLst>
      <p:ext uri="{BB962C8B-B14F-4D97-AF65-F5344CB8AC3E}">
        <p14:creationId xmlns:p14="http://schemas.microsoft.com/office/powerpoint/2010/main" val="30190314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8157" y="447188"/>
            <a:ext cx="6616404" cy="970450"/>
          </a:xfrm>
        </p:spPr>
        <p:txBody>
          <a:bodyPr>
            <a:normAutofit fontScale="90000"/>
          </a:bodyPr>
          <a:lstStyle/>
          <a:p>
            <a:r>
              <a:rPr lang="en-GB" dirty="0" smtClean="0">
                <a:latin typeface="Comic Sans MS" panose="030F0702030302020204" pitchFamily="66" charset="0"/>
              </a:rPr>
              <a:t>What actually happened?</a:t>
            </a:r>
            <a:endParaRPr lang="en-GB" dirty="0">
              <a:latin typeface="Comic Sans MS" panose="030F0702030302020204" pitchFamily="66" charset="0"/>
            </a:endParaRPr>
          </a:p>
        </p:txBody>
      </p:sp>
      <p:sp>
        <p:nvSpPr>
          <p:cNvPr id="3" name="Content Placeholder 2"/>
          <p:cNvSpPr>
            <a:spLocks noGrp="1"/>
          </p:cNvSpPr>
          <p:nvPr>
            <p:ph idx="1"/>
          </p:nvPr>
        </p:nvSpPr>
        <p:spPr>
          <a:xfrm>
            <a:off x="337626" y="2222287"/>
            <a:ext cx="6694240" cy="4502070"/>
          </a:xfrm>
        </p:spPr>
        <p:txBody>
          <a:bodyPr>
            <a:noAutofit/>
          </a:bodyPr>
          <a:lstStyle/>
          <a:p>
            <a:r>
              <a:rPr lang="en-GB" sz="2400" dirty="0" smtClean="0">
                <a:latin typeface="Comic Sans MS" panose="030F0702030302020204" pitchFamily="66" charset="0"/>
              </a:rPr>
              <a:t>The Battle of Balaclava (Crimean War), 1842</a:t>
            </a:r>
          </a:p>
          <a:p>
            <a:r>
              <a:rPr lang="en-GB" sz="2400" dirty="0" smtClean="0">
                <a:latin typeface="Comic Sans MS" panose="030F0702030302020204" pitchFamily="66" charset="0"/>
              </a:rPr>
              <a:t>The Light Brigade (Light Cavalry unit) were mistakenly ordered to make a frontal assault on a well-prepared artillery unit instead of harrying a retreating artillery battery (this was the original order).</a:t>
            </a:r>
          </a:p>
          <a:p>
            <a:r>
              <a:rPr lang="en-GB" sz="2400" dirty="0" smtClean="0">
                <a:latin typeface="Comic Sans MS" panose="030F0702030302020204" pitchFamily="66" charset="0"/>
              </a:rPr>
              <a:t>They rode their unarmoured horses into a heavily defended Russian line and returned but took losses of over two thirds.</a:t>
            </a:r>
            <a:endParaRPr lang="en-GB" sz="2400" dirty="0">
              <a:latin typeface="Comic Sans MS" panose="030F0702030302020204" pitchFamily="66" charset="0"/>
            </a:endParaRPr>
          </a:p>
        </p:txBody>
      </p:sp>
      <p:pic>
        <p:nvPicPr>
          <p:cNvPr id="1026" name="Picture 2" descr="Major Andy Morris at the Bristol cemetery">
            <a:hlinkClick r:id="rId2" action="ppaction://hlinkpres?slideindex=1&amp;slidetitle="/>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74561" y="2222287"/>
            <a:ext cx="4572000" cy="304800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7317257" y="5270288"/>
            <a:ext cx="4572000" cy="1200329"/>
          </a:xfrm>
          <a:prstGeom prst="rect">
            <a:avLst/>
          </a:prstGeom>
          <a:noFill/>
        </p:spPr>
        <p:txBody>
          <a:bodyPr wrap="square" rtlCol="0">
            <a:spAutoFit/>
          </a:bodyPr>
          <a:lstStyle/>
          <a:p>
            <a:r>
              <a:rPr lang="en-GB" dirty="0" smtClean="0">
                <a:latin typeface="Comic Sans MS" panose="030F0702030302020204" pitchFamily="66" charset="0"/>
              </a:rPr>
              <a:t>A volunteer with the cleared grave of Sergeant Major James Henry Kelly. Fellow Light Brigade survivor Anthony Wilder is also buried at Arnos Vale.</a:t>
            </a:r>
            <a:endParaRPr lang="en-GB" dirty="0">
              <a:latin typeface="Comic Sans MS" panose="030F0702030302020204" pitchFamily="66" charset="0"/>
            </a:endParaRPr>
          </a:p>
        </p:txBody>
      </p:sp>
      <p:sp>
        <p:nvSpPr>
          <p:cNvPr id="5" name="Folded Corner 4">
            <a:hlinkClick r:id="rId4"/>
          </p:cNvPr>
          <p:cNvSpPr/>
          <p:nvPr/>
        </p:nvSpPr>
        <p:spPr>
          <a:xfrm>
            <a:off x="10303099" y="447188"/>
            <a:ext cx="1443462" cy="1111156"/>
          </a:xfrm>
          <a:prstGeom prst="foldedCorne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Comic Sans MS" panose="030F0702030302020204" pitchFamily="66" charset="0"/>
            </a:endParaRPr>
          </a:p>
        </p:txBody>
      </p:sp>
      <p:sp>
        <p:nvSpPr>
          <p:cNvPr id="7" name="TextBox 6"/>
          <p:cNvSpPr txBox="1"/>
          <p:nvPr/>
        </p:nvSpPr>
        <p:spPr>
          <a:xfrm>
            <a:off x="7426404" y="447188"/>
            <a:ext cx="3180636" cy="1200329"/>
          </a:xfrm>
          <a:prstGeom prst="rect">
            <a:avLst/>
          </a:prstGeom>
          <a:noFill/>
        </p:spPr>
        <p:txBody>
          <a:bodyPr wrap="square" rtlCol="0">
            <a:spAutoFit/>
          </a:bodyPr>
          <a:lstStyle/>
          <a:p>
            <a:r>
              <a:rPr lang="en-GB" sz="3600" dirty="0" smtClean="0">
                <a:latin typeface="Comic Sans MS" panose="030F0702030302020204" pitchFamily="66" charset="0"/>
              </a:rPr>
              <a:t>AO3 Text-Context Link</a:t>
            </a:r>
            <a:endParaRPr lang="en-GB" sz="3600" dirty="0">
              <a:latin typeface="Comic Sans MS" panose="030F0702030302020204" pitchFamily="66" charset="0"/>
            </a:endParaRPr>
          </a:p>
        </p:txBody>
      </p:sp>
    </p:spTree>
    <p:extLst>
      <p:ext uri="{BB962C8B-B14F-4D97-AF65-F5344CB8AC3E}">
        <p14:creationId xmlns:p14="http://schemas.microsoft.com/office/powerpoint/2010/main" val="73345736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0515600" cy="682580"/>
          </a:xfrm>
        </p:spPr>
        <p:txBody>
          <a:bodyPr>
            <a:normAutofit fontScale="90000"/>
          </a:bodyPr>
          <a:lstStyle/>
          <a:p>
            <a:r>
              <a:rPr lang="en-GB" dirty="0" smtClean="0">
                <a:latin typeface="Comic Sans MS" panose="030F0702030302020204" pitchFamily="66" charset="0"/>
              </a:rPr>
              <a:t>Spotting the repeated ideas</a:t>
            </a:r>
            <a:endParaRPr lang="en-GB" dirty="0">
              <a:latin typeface="Comic Sans MS" panose="030F0702030302020204" pitchFamily="66" charset="0"/>
            </a:endParaRPr>
          </a:p>
        </p:txBody>
      </p:sp>
      <p:pic>
        <p:nvPicPr>
          <p:cNvPr id="4" name="Picture 3"/>
          <p:cNvPicPr>
            <a:picLocks noChangeAspect="1"/>
          </p:cNvPicPr>
          <p:nvPr/>
        </p:nvPicPr>
        <p:blipFill>
          <a:blip r:embed="rId2"/>
          <a:stretch>
            <a:fillRect/>
          </a:stretch>
        </p:blipFill>
        <p:spPr>
          <a:xfrm>
            <a:off x="261699" y="682581"/>
            <a:ext cx="11752086" cy="6075231"/>
          </a:xfrm>
          <a:prstGeom prst="rect">
            <a:avLst/>
          </a:prstGeom>
        </p:spPr>
      </p:pic>
    </p:spTree>
    <p:extLst>
      <p:ext uri="{BB962C8B-B14F-4D97-AF65-F5344CB8AC3E}">
        <p14:creationId xmlns:p14="http://schemas.microsoft.com/office/powerpoint/2010/main" val="332225256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6000" dirty="0" smtClean="0">
                <a:latin typeface="Comic Sans MS" panose="030F0702030302020204" pitchFamily="66" charset="0"/>
              </a:rPr>
              <a:t>L</a:t>
            </a:r>
            <a:r>
              <a:rPr lang="en-GB" dirty="0" smtClean="0">
                <a:latin typeface="Comic Sans MS" panose="030F0702030302020204" pitchFamily="66" charset="0"/>
              </a:rPr>
              <a:t>anguage</a:t>
            </a:r>
            <a:endParaRPr lang="en-GB" dirty="0">
              <a:latin typeface="Comic Sans MS" panose="030F0702030302020204" pitchFamily="66" charset="0"/>
            </a:endParaRPr>
          </a:p>
        </p:txBody>
      </p:sp>
      <p:sp>
        <p:nvSpPr>
          <p:cNvPr id="3" name="Content Placeholder 2"/>
          <p:cNvSpPr>
            <a:spLocks noGrp="1"/>
          </p:cNvSpPr>
          <p:nvPr>
            <p:ph idx="1"/>
          </p:nvPr>
        </p:nvSpPr>
        <p:spPr>
          <a:xfrm>
            <a:off x="818712" y="2222287"/>
            <a:ext cx="10554574" cy="4635713"/>
          </a:xfrm>
        </p:spPr>
        <p:txBody>
          <a:bodyPr>
            <a:normAutofit/>
          </a:bodyPr>
          <a:lstStyle/>
          <a:p>
            <a:r>
              <a:rPr lang="en-GB" sz="3200" dirty="0" smtClean="0">
                <a:latin typeface="Comic Sans MS" panose="030F0702030302020204" pitchFamily="66" charset="0"/>
              </a:rPr>
              <a:t>Repetition – ‘Cannon’</a:t>
            </a:r>
          </a:p>
          <a:p>
            <a:r>
              <a:rPr lang="en-GB" sz="3200" dirty="0" smtClean="0">
                <a:latin typeface="Comic Sans MS" panose="030F0702030302020204" pitchFamily="66" charset="0"/>
              </a:rPr>
              <a:t>Alliteration – ‘horse and hero’</a:t>
            </a:r>
          </a:p>
          <a:p>
            <a:r>
              <a:rPr lang="en-GB" sz="3200" dirty="0" smtClean="0">
                <a:latin typeface="Comic Sans MS" panose="030F0702030302020204" pitchFamily="66" charset="0"/>
              </a:rPr>
              <a:t>Biblical reference – Psalm 23</a:t>
            </a:r>
          </a:p>
          <a:p>
            <a:r>
              <a:rPr lang="en-GB" sz="3200" dirty="0" smtClean="0">
                <a:latin typeface="Comic Sans MS" panose="030F0702030302020204" pitchFamily="66" charset="0"/>
              </a:rPr>
              <a:t>Language choices with dual meanings – e.g. ‘wondered’</a:t>
            </a:r>
          </a:p>
          <a:p>
            <a:r>
              <a:rPr lang="en-GB" sz="3200" dirty="0">
                <a:latin typeface="Comic Sans MS" panose="030F0702030302020204" pitchFamily="66" charset="0"/>
              </a:rPr>
              <a:t>Words which describe </a:t>
            </a:r>
            <a:r>
              <a:rPr lang="en-GB" sz="3200" dirty="0" smtClean="0">
                <a:latin typeface="Comic Sans MS" panose="030F0702030302020204" pitchFamily="66" charset="0"/>
              </a:rPr>
              <a:t>sounds – e.g. ‘thundered’</a:t>
            </a:r>
            <a:endParaRPr lang="en-GB" sz="2000" dirty="0" smtClean="0">
              <a:latin typeface="Comic Sans MS" panose="030F0702030302020204" pitchFamily="66" charset="0"/>
            </a:endParaRPr>
          </a:p>
          <a:p>
            <a:endParaRPr lang="en-GB" sz="2000" dirty="0" smtClean="0">
              <a:latin typeface="Comic Sans MS" panose="030F0702030302020204" pitchFamily="66" charset="0"/>
            </a:endParaRPr>
          </a:p>
          <a:p>
            <a:endParaRPr lang="en-GB" sz="2000" dirty="0">
              <a:latin typeface="Comic Sans MS" panose="030F0702030302020204" pitchFamily="66" charset="0"/>
            </a:endParaRPr>
          </a:p>
        </p:txBody>
      </p:sp>
      <p:sp>
        <p:nvSpPr>
          <p:cNvPr id="5" name="Rectangle 4"/>
          <p:cNvSpPr/>
          <p:nvPr/>
        </p:nvSpPr>
        <p:spPr>
          <a:xfrm>
            <a:off x="5900928" y="286082"/>
            <a:ext cx="6096000" cy="1200329"/>
          </a:xfrm>
          <a:prstGeom prst="rect">
            <a:avLst/>
          </a:prstGeom>
        </p:spPr>
        <p:txBody>
          <a:bodyPr>
            <a:spAutoFit/>
          </a:bodyPr>
          <a:lstStyle/>
          <a:p>
            <a:r>
              <a:rPr lang="en-GB" sz="2400" b="1" dirty="0">
                <a:latin typeface="Comic Sans MS" panose="030F0702030302020204" pitchFamily="66" charset="0"/>
              </a:rPr>
              <a:t>A02 – Analysing language, sentence structures and form used by the writer to create effect</a:t>
            </a:r>
          </a:p>
        </p:txBody>
      </p:sp>
    </p:spTree>
    <p:extLst>
      <p:ext uri="{BB962C8B-B14F-4D97-AF65-F5344CB8AC3E}">
        <p14:creationId xmlns:p14="http://schemas.microsoft.com/office/powerpoint/2010/main" val="45491026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latin typeface="Comic Sans MS" panose="030F0702030302020204" pitchFamily="66" charset="0"/>
              </a:rPr>
              <a:t>What do these words have in common?</a:t>
            </a:r>
            <a:endParaRPr lang="en-GB" dirty="0">
              <a:latin typeface="Comic Sans MS" panose="030F0702030302020204" pitchFamily="66" charset="0"/>
            </a:endParaRPr>
          </a:p>
        </p:txBody>
      </p:sp>
      <p:sp>
        <p:nvSpPr>
          <p:cNvPr id="3" name="Content Placeholder 2"/>
          <p:cNvSpPr>
            <a:spLocks noGrp="1"/>
          </p:cNvSpPr>
          <p:nvPr>
            <p:ph idx="1"/>
          </p:nvPr>
        </p:nvSpPr>
        <p:spPr/>
        <p:txBody>
          <a:bodyPr/>
          <a:lstStyle/>
          <a:p>
            <a:r>
              <a:rPr lang="en-GB" sz="4400" dirty="0" smtClean="0">
                <a:latin typeface="Comic Sans MS" panose="030F0702030302020204" pitchFamily="66" charset="0"/>
              </a:rPr>
              <a:t>Blundered</a:t>
            </a:r>
          </a:p>
          <a:p>
            <a:r>
              <a:rPr lang="en-GB" sz="4400" dirty="0" smtClean="0">
                <a:latin typeface="Comic Sans MS" panose="030F0702030302020204" pitchFamily="66" charset="0"/>
              </a:rPr>
              <a:t>Thundered</a:t>
            </a:r>
          </a:p>
          <a:p>
            <a:r>
              <a:rPr lang="en-GB" sz="4400" dirty="0" smtClean="0">
                <a:latin typeface="Comic Sans MS" panose="030F0702030302020204" pitchFamily="66" charset="0"/>
              </a:rPr>
              <a:t>Wondered</a:t>
            </a:r>
          </a:p>
          <a:p>
            <a:r>
              <a:rPr lang="en-GB" sz="4400" dirty="0" smtClean="0">
                <a:latin typeface="Comic Sans MS" panose="030F0702030302020204" pitchFamily="66" charset="0"/>
              </a:rPr>
              <a:t>Sundered</a:t>
            </a:r>
          </a:p>
          <a:p>
            <a:pPr marL="0" indent="0">
              <a:buNone/>
            </a:pPr>
            <a:endParaRPr lang="en-GB" dirty="0">
              <a:latin typeface="Comic Sans MS" panose="030F0702030302020204" pitchFamily="66" charset="0"/>
            </a:endParaRPr>
          </a:p>
        </p:txBody>
      </p:sp>
    </p:spTree>
    <p:extLst>
      <p:ext uri="{BB962C8B-B14F-4D97-AF65-F5344CB8AC3E}">
        <p14:creationId xmlns:p14="http://schemas.microsoft.com/office/powerpoint/2010/main" val="335488566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GB" sz="4400" dirty="0" smtClean="0">
                <a:latin typeface="Comic Sans MS" panose="030F0702030302020204" pitchFamily="66" charset="0"/>
              </a:rPr>
              <a:t>Blund</a:t>
            </a:r>
            <a:r>
              <a:rPr lang="en-GB" sz="4400" b="1" dirty="0" smtClean="0">
                <a:solidFill>
                  <a:srgbClr val="FF0000"/>
                </a:solidFill>
                <a:latin typeface="Comic Sans MS" panose="030F0702030302020204" pitchFamily="66" charset="0"/>
              </a:rPr>
              <a:t>ered</a:t>
            </a:r>
          </a:p>
          <a:p>
            <a:r>
              <a:rPr lang="en-GB" sz="4400" dirty="0" smtClean="0">
                <a:latin typeface="Comic Sans MS" panose="030F0702030302020204" pitchFamily="66" charset="0"/>
              </a:rPr>
              <a:t>Thund</a:t>
            </a:r>
            <a:r>
              <a:rPr lang="en-GB" sz="4400" b="1" dirty="0" smtClean="0">
                <a:solidFill>
                  <a:srgbClr val="FF0000"/>
                </a:solidFill>
                <a:latin typeface="Comic Sans MS" panose="030F0702030302020204" pitchFamily="66" charset="0"/>
              </a:rPr>
              <a:t>ered</a:t>
            </a:r>
          </a:p>
          <a:p>
            <a:r>
              <a:rPr lang="en-GB" sz="4400" dirty="0" smtClean="0">
                <a:latin typeface="Comic Sans MS" panose="030F0702030302020204" pitchFamily="66" charset="0"/>
              </a:rPr>
              <a:t>Wond</a:t>
            </a:r>
            <a:r>
              <a:rPr lang="en-GB" sz="4400" b="1" dirty="0" smtClean="0">
                <a:solidFill>
                  <a:srgbClr val="FF0000"/>
                </a:solidFill>
                <a:latin typeface="Comic Sans MS" panose="030F0702030302020204" pitchFamily="66" charset="0"/>
              </a:rPr>
              <a:t>ered</a:t>
            </a:r>
          </a:p>
          <a:p>
            <a:r>
              <a:rPr lang="en-GB" sz="4400" dirty="0" smtClean="0">
                <a:latin typeface="Comic Sans MS" panose="030F0702030302020204" pitchFamily="66" charset="0"/>
              </a:rPr>
              <a:t>Sund</a:t>
            </a:r>
            <a:r>
              <a:rPr lang="en-GB" sz="4400" b="1" dirty="0" smtClean="0">
                <a:solidFill>
                  <a:srgbClr val="FF0000"/>
                </a:solidFill>
                <a:latin typeface="Comic Sans MS" panose="030F0702030302020204" pitchFamily="66" charset="0"/>
              </a:rPr>
              <a:t>ered</a:t>
            </a:r>
          </a:p>
          <a:p>
            <a:pPr marL="0" indent="0">
              <a:buNone/>
            </a:pPr>
            <a:endParaRPr lang="en-GB" dirty="0">
              <a:latin typeface="Comic Sans MS" panose="030F0702030302020204" pitchFamily="66" charset="0"/>
            </a:endParaRPr>
          </a:p>
        </p:txBody>
      </p:sp>
      <p:sp>
        <p:nvSpPr>
          <p:cNvPr id="4" name="TextBox 3"/>
          <p:cNvSpPr txBox="1"/>
          <p:nvPr/>
        </p:nvSpPr>
        <p:spPr>
          <a:xfrm>
            <a:off x="6766560" y="2602523"/>
            <a:ext cx="3812345" cy="2308324"/>
          </a:xfrm>
          <a:prstGeom prst="rect">
            <a:avLst/>
          </a:prstGeom>
          <a:noFill/>
        </p:spPr>
        <p:txBody>
          <a:bodyPr wrap="square" rtlCol="0">
            <a:spAutoFit/>
          </a:bodyPr>
          <a:lstStyle/>
          <a:p>
            <a:r>
              <a:rPr lang="en-GB" sz="4800" dirty="0" smtClean="0">
                <a:latin typeface="Comic Sans MS" panose="030F0702030302020204" pitchFamily="66" charset="0"/>
              </a:rPr>
              <a:t>Erred = made a mistake</a:t>
            </a:r>
            <a:endParaRPr lang="en-GB" sz="4800" dirty="0">
              <a:latin typeface="Comic Sans MS" panose="030F0702030302020204" pitchFamily="66" charset="0"/>
            </a:endParaRPr>
          </a:p>
        </p:txBody>
      </p:sp>
      <p:sp>
        <p:nvSpPr>
          <p:cNvPr id="6" name="Rectangle 5"/>
          <p:cNvSpPr/>
          <p:nvPr/>
        </p:nvSpPr>
        <p:spPr>
          <a:xfrm>
            <a:off x="3624787" y="109538"/>
            <a:ext cx="8592417" cy="584775"/>
          </a:xfrm>
          <a:prstGeom prst="rect">
            <a:avLst/>
          </a:prstGeom>
        </p:spPr>
        <p:txBody>
          <a:bodyPr wrap="none">
            <a:spAutoFit/>
          </a:bodyPr>
          <a:lstStyle/>
          <a:p>
            <a:r>
              <a:rPr lang="en-GB" sz="3200" b="1" dirty="0">
                <a:latin typeface="Comic Sans MS" panose="030F0702030302020204" pitchFamily="66" charset="0"/>
              </a:rPr>
              <a:t>A01 – A critical response using quotations</a:t>
            </a:r>
          </a:p>
        </p:txBody>
      </p:sp>
    </p:spTree>
    <p:extLst>
      <p:ext uri="{BB962C8B-B14F-4D97-AF65-F5344CB8AC3E}">
        <p14:creationId xmlns:p14="http://schemas.microsoft.com/office/powerpoint/2010/main" val="79578561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6000" dirty="0" smtClean="0">
                <a:latin typeface="Comic Sans MS" panose="030F0702030302020204" pitchFamily="66" charset="0"/>
              </a:rPr>
              <a:t>R</a:t>
            </a:r>
            <a:r>
              <a:rPr lang="en-GB" dirty="0" smtClean="0">
                <a:latin typeface="Comic Sans MS" panose="030F0702030302020204" pitchFamily="66" charset="0"/>
              </a:rPr>
              <a:t>hythm/ Rhyme</a:t>
            </a:r>
            <a:endParaRPr lang="en-GB" dirty="0">
              <a:latin typeface="Comic Sans MS" panose="030F0702030302020204" pitchFamily="66" charset="0"/>
            </a:endParaRPr>
          </a:p>
        </p:txBody>
      </p:sp>
      <p:sp>
        <p:nvSpPr>
          <p:cNvPr id="3" name="Content Placeholder 2"/>
          <p:cNvSpPr>
            <a:spLocks noGrp="1"/>
          </p:cNvSpPr>
          <p:nvPr>
            <p:ph idx="1"/>
          </p:nvPr>
        </p:nvSpPr>
        <p:spPr>
          <a:xfrm>
            <a:off x="818712" y="2222287"/>
            <a:ext cx="10554574" cy="3946693"/>
          </a:xfrm>
        </p:spPr>
        <p:txBody>
          <a:bodyPr>
            <a:normAutofit/>
          </a:bodyPr>
          <a:lstStyle/>
          <a:p>
            <a:r>
              <a:rPr lang="en-GB" sz="3600" b="1" dirty="0">
                <a:solidFill>
                  <a:srgbClr val="FF0000"/>
                </a:solidFill>
                <a:latin typeface="Comic Sans MS" panose="030F0702030302020204" pitchFamily="66" charset="0"/>
              </a:rPr>
              <a:t>Dactylic dimeter </a:t>
            </a:r>
            <a:r>
              <a:rPr lang="en-GB" sz="3600" dirty="0">
                <a:latin typeface="Comic Sans MS" panose="030F0702030302020204" pitchFamily="66" charset="0"/>
              </a:rPr>
              <a:t>(you don’t have to explain what this is in your response). The poetic feet of this poem goes like this:</a:t>
            </a:r>
          </a:p>
          <a:p>
            <a:r>
              <a:rPr lang="en-GB" sz="3600" dirty="0">
                <a:latin typeface="Comic Sans MS" panose="030F0702030302020204" pitchFamily="66" charset="0"/>
              </a:rPr>
              <a:t>‘</a:t>
            </a:r>
            <a:r>
              <a:rPr lang="en-GB" sz="3600" b="1" u="sng" dirty="0">
                <a:latin typeface="Comic Sans MS" panose="030F0702030302020204" pitchFamily="66" charset="0"/>
              </a:rPr>
              <a:t>For</a:t>
            </a:r>
            <a:r>
              <a:rPr lang="en-GB" sz="3600" dirty="0">
                <a:latin typeface="Comic Sans MS" panose="030F0702030302020204" pitchFamily="66" charset="0"/>
              </a:rPr>
              <a:t>ward, the </a:t>
            </a:r>
            <a:r>
              <a:rPr lang="en-GB" sz="3600" b="1" u="sng" dirty="0">
                <a:latin typeface="Comic Sans MS" panose="030F0702030302020204" pitchFamily="66" charset="0"/>
              </a:rPr>
              <a:t>Light</a:t>
            </a:r>
            <a:r>
              <a:rPr lang="en-GB" sz="3600" b="1" dirty="0">
                <a:latin typeface="Comic Sans MS" panose="030F0702030302020204" pitchFamily="66" charset="0"/>
              </a:rPr>
              <a:t> </a:t>
            </a:r>
            <a:r>
              <a:rPr lang="en-GB" sz="3600" dirty="0">
                <a:latin typeface="Comic Sans MS" panose="030F0702030302020204" pitchFamily="66" charset="0"/>
              </a:rPr>
              <a:t>Brigade!’</a:t>
            </a:r>
          </a:p>
          <a:p>
            <a:r>
              <a:rPr lang="en-GB" sz="3600" dirty="0">
                <a:latin typeface="Comic Sans MS" panose="030F0702030302020204" pitchFamily="66" charset="0"/>
              </a:rPr>
              <a:t>The only place this is not the case is on the word ‘blundered’.</a:t>
            </a:r>
          </a:p>
          <a:p>
            <a:endParaRPr lang="en-GB" dirty="0">
              <a:latin typeface="Comic Sans MS" panose="030F0702030302020204" pitchFamily="66" charset="0"/>
            </a:endParaRPr>
          </a:p>
        </p:txBody>
      </p:sp>
      <p:sp>
        <p:nvSpPr>
          <p:cNvPr id="4" name="Rectangle 3"/>
          <p:cNvSpPr/>
          <p:nvPr/>
        </p:nvSpPr>
        <p:spPr>
          <a:xfrm>
            <a:off x="5900928" y="286082"/>
            <a:ext cx="6096000" cy="1200329"/>
          </a:xfrm>
          <a:prstGeom prst="rect">
            <a:avLst/>
          </a:prstGeom>
        </p:spPr>
        <p:txBody>
          <a:bodyPr>
            <a:spAutoFit/>
          </a:bodyPr>
          <a:lstStyle/>
          <a:p>
            <a:r>
              <a:rPr lang="en-GB" sz="2400" b="1" dirty="0">
                <a:latin typeface="Comic Sans MS" panose="030F0702030302020204" pitchFamily="66" charset="0"/>
              </a:rPr>
              <a:t>A02 – Analysing language, sentence structures and form used by the writer to create effect</a:t>
            </a:r>
          </a:p>
        </p:txBody>
      </p:sp>
    </p:spTree>
    <p:extLst>
      <p:ext uri="{BB962C8B-B14F-4D97-AF65-F5344CB8AC3E}">
        <p14:creationId xmlns:p14="http://schemas.microsoft.com/office/powerpoint/2010/main" val="351402001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6000" dirty="0" smtClean="0">
                <a:latin typeface="Comic Sans MS" panose="030F0702030302020204" pitchFamily="66" charset="0"/>
              </a:rPr>
              <a:t>T</a:t>
            </a:r>
            <a:r>
              <a:rPr lang="en-GB" dirty="0" smtClean="0">
                <a:latin typeface="Comic Sans MS" panose="030F0702030302020204" pitchFamily="66" charset="0"/>
              </a:rPr>
              <a:t>hemes/ Tone</a:t>
            </a:r>
            <a:endParaRPr lang="en-GB" dirty="0">
              <a:latin typeface="Comic Sans MS" panose="030F0702030302020204" pitchFamily="66" charset="0"/>
            </a:endParaRPr>
          </a:p>
        </p:txBody>
      </p:sp>
      <p:sp>
        <p:nvSpPr>
          <p:cNvPr id="3" name="Content Placeholder 2"/>
          <p:cNvSpPr>
            <a:spLocks noGrp="1"/>
          </p:cNvSpPr>
          <p:nvPr>
            <p:ph idx="1"/>
          </p:nvPr>
        </p:nvSpPr>
        <p:spPr/>
        <p:txBody>
          <a:bodyPr>
            <a:normAutofit/>
          </a:bodyPr>
          <a:lstStyle/>
          <a:p>
            <a:r>
              <a:rPr lang="en-GB" sz="2800" dirty="0">
                <a:latin typeface="Comic Sans MS" panose="030F0702030302020204" pitchFamily="66" charset="0"/>
              </a:rPr>
              <a:t>Is this poem about:</a:t>
            </a:r>
          </a:p>
          <a:p>
            <a:endParaRPr lang="en-GB" sz="2800" dirty="0">
              <a:latin typeface="Comic Sans MS" panose="030F0702030302020204" pitchFamily="66" charset="0"/>
            </a:endParaRPr>
          </a:p>
          <a:p>
            <a:r>
              <a:rPr lang="en-GB" sz="2800" dirty="0">
                <a:latin typeface="Comic Sans MS" panose="030F0702030302020204" pitchFamily="66" charset="0"/>
              </a:rPr>
              <a:t>The heroism of the soldiers of the Light Brigade?</a:t>
            </a:r>
          </a:p>
          <a:p>
            <a:pPr marL="0" indent="0">
              <a:buNone/>
            </a:pPr>
            <a:r>
              <a:rPr lang="en-GB" sz="2800" dirty="0">
                <a:latin typeface="Comic Sans MS" panose="030F0702030302020204" pitchFamily="66" charset="0"/>
              </a:rPr>
              <a:t>or</a:t>
            </a:r>
          </a:p>
          <a:p>
            <a:r>
              <a:rPr lang="en-GB" sz="2800" dirty="0">
                <a:latin typeface="Comic Sans MS" panose="030F0702030302020204" pitchFamily="66" charset="0"/>
              </a:rPr>
              <a:t>A criticism of the mistakes made by the upper class officers in the army</a:t>
            </a:r>
            <a:r>
              <a:rPr lang="en-GB" sz="2800" dirty="0" smtClean="0">
                <a:latin typeface="Comic Sans MS" panose="030F0702030302020204" pitchFamily="66" charset="0"/>
              </a:rPr>
              <a:t>?</a:t>
            </a:r>
            <a:endParaRPr lang="en-GB" sz="2800" dirty="0">
              <a:latin typeface="Comic Sans MS" panose="030F0702030302020204" pitchFamily="66" charset="0"/>
            </a:endParaRPr>
          </a:p>
        </p:txBody>
      </p:sp>
      <p:sp>
        <p:nvSpPr>
          <p:cNvPr id="4" name="Rectangle 3"/>
          <p:cNvSpPr/>
          <p:nvPr/>
        </p:nvSpPr>
        <p:spPr>
          <a:xfrm>
            <a:off x="5900928" y="286082"/>
            <a:ext cx="6096000" cy="1200329"/>
          </a:xfrm>
          <a:prstGeom prst="rect">
            <a:avLst/>
          </a:prstGeom>
        </p:spPr>
        <p:txBody>
          <a:bodyPr>
            <a:spAutoFit/>
          </a:bodyPr>
          <a:lstStyle/>
          <a:p>
            <a:r>
              <a:rPr lang="en-GB" sz="2400" b="1" dirty="0">
                <a:latin typeface="Comic Sans MS" panose="030F0702030302020204" pitchFamily="66" charset="0"/>
              </a:rPr>
              <a:t>A02 – Analysing language, sentence structures and form used by the writer to create effect</a:t>
            </a:r>
          </a:p>
        </p:txBody>
      </p:sp>
    </p:spTree>
    <p:extLst>
      <p:ext uri="{BB962C8B-B14F-4D97-AF65-F5344CB8AC3E}">
        <p14:creationId xmlns:p14="http://schemas.microsoft.com/office/powerpoint/2010/main" val="230278337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7135" y="1325562"/>
            <a:ext cx="3231524" cy="2190369"/>
          </a:xfrm>
          <a:ln>
            <a:solidFill>
              <a:schemeClr val="tx1"/>
            </a:solidFill>
          </a:ln>
        </p:spPr>
        <p:txBody>
          <a:bodyPr>
            <a:normAutofit lnSpcReduction="10000"/>
          </a:bodyPr>
          <a:lstStyle/>
          <a:p>
            <a:pPr marL="0" indent="0">
              <a:buNone/>
            </a:pPr>
            <a:r>
              <a:rPr lang="en-GB" dirty="0" smtClean="0">
                <a:latin typeface="Comic Sans MS" panose="030F0702030302020204" pitchFamily="66" charset="0"/>
              </a:rPr>
              <a:t>Main Idea/ Theme:</a:t>
            </a:r>
          </a:p>
          <a:p>
            <a:pPr marL="0" indent="0">
              <a:buNone/>
            </a:pPr>
            <a:r>
              <a:rPr lang="en-GB" dirty="0" smtClean="0">
                <a:latin typeface="Comic Sans MS" panose="030F0702030302020204" pitchFamily="66" charset="0"/>
              </a:rPr>
              <a:t>Regrets about conflict</a:t>
            </a:r>
          </a:p>
          <a:p>
            <a:pPr marL="0" indent="0">
              <a:buNone/>
            </a:pPr>
            <a:r>
              <a:rPr lang="en-GB" dirty="0" smtClean="0">
                <a:latin typeface="Comic Sans MS" panose="030F0702030302020204" pitchFamily="66" charset="0"/>
              </a:rPr>
              <a:t>Returning home</a:t>
            </a:r>
            <a:endParaRPr lang="en-GB" dirty="0">
              <a:latin typeface="Comic Sans MS" panose="030F0702030302020204" pitchFamily="66" charset="0"/>
            </a:endParaRPr>
          </a:p>
        </p:txBody>
      </p:sp>
      <p:sp>
        <p:nvSpPr>
          <p:cNvPr id="4" name="Title 1"/>
          <p:cNvSpPr txBox="1">
            <a:spLocks/>
          </p:cNvSpPr>
          <p:nvPr/>
        </p:nvSpPr>
        <p:spPr>
          <a:xfrm>
            <a:off x="0" y="0"/>
            <a:ext cx="6619741"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smtClean="0">
                <a:latin typeface="Comic Sans MS" panose="030F0702030302020204" pitchFamily="66" charset="0"/>
              </a:rPr>
              <a:t>Title: Kamikaze</a:t>
            </a:r>
            <a:br>
              <a:rPr lang="en-GB" dirty="0" smtClean="0">
                <a:latin typeface="Comic Sans MS" panose="030F0702030302020204" pitchFamily="66" charset="0"/>
              </a:rPr>
            </a:br>
            <a:r>
              <a:rPr lang="en-GB" dirty="0" smtClean="0">
                <a:latin typeface="Comic Sans MS" panose="030F0702030302020204" pitchFamily="66" charset="0"/>
              </a:rPr>
              <a:t>Poet: Beatrice Garland</a:t>
            </a:r>
            <a:endParaRPr lang="en-GB" dirty="0">
              <a:latin typeface="Comic Sans MS" panose="030F0702030302020204" pitchFamily="66" charset="0"/>
            </a:endParaRPr>
          </a:p>
        </p:txBody>
      </p:sp>
      <p:sp>
        <p:nvSpPr>
          <p:cNvPr id="5" name="Content Placeholder 2"/>
          <p:cNvSpPr txBox="1">
            <a:spLocks/>
          </p:cNvSpPr>
          <p:nvPr/>
        </p:nvSpPr>
        <p:spPr>
          <a:xfrm>
            <a:off x="7146699" y="1325562"/>
            <a:ext cx="4688985" cy="2372888"/>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smtClean="0">
                <a:latin typeface="Comic Sans MS" panose="030F0702030302020204" pitchFamily="66" charset="0"/>
              </a:rPr>
              <a:t>Imagery:</a:t>
            </a:r>
          </a:p>
          <a:p>
            <a:pPr marL="0" indent="0">
              <a:buFont typeface="Arial" panose="020B0604020202020204" pitchFamily="34" charset="0"/>
              <a:buNone/>
            </a:pPr>
            <a:r>
              <a:rPr lang="en-GB" dirty="0" smtClean="0">
                <a:latin typeface="Comic Sans MS" panose="030F0702030302020204" pitchFamily="66" charset="0"/>
              </a:rPr>
              <a:t>Fishing and the sea</a:t>
            </a:r>
            <a:endParaRPr lang="en-GB" dirty="0">
              <a:latin typeface="Comic Sans MS" panose="030F0702030302020204" pitchFamily="66" charset="0"/>
            </a:endParaRPr>
          </a:p>
        </p:txBody>
      </p:sp>
      <p:sp>
        <p:nvSpPr>
          <p:cNvPr id="6" name="Content Placeholder 2"/>
          <p:cNvSpPr txBox="1">
            <a:spLocks/>
          </p:cNvSpPr>
          <p:nvPr/>
        </p:nvSpPr>
        <p:spPr>
          <a:xfrm>
            <a:off x="3726287" y="1325562"/>
            <a:ext cx="3231524" cy="5075236"/>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smtClean="0">
                <a:latin typeface="Comic Sans MS" panose="030F0702030302020204" pitchFamily="66" charset="0"/>
              </a:rPr>
              <a:t>Language:</a:t>
            </a:r>
          </a:p>
          <a:p>
            <a:pPr marL="0" indent="0">
              <a:buFont typeface="Arial" panose="020B0604020202020204" pitchFamily="34" charset="0"/>
              <a:buNone/>
            </a:pPr>
            <a:r>
              <a:rPr lang="en-GB" dirty="0" smtClean="0">
                <a:latin typeface="Comic Sans MS" panose="030F0702030302020204" pitchFamily="66" charset="0"/>
              </a:rPr>
              <a:t>Sensory language</a:t>
            </a:r>
          </a:p>
          <a:p>
            <a:pPr marL="0" indent="0">
              <a:buFont typeface="Arial" panose="020B0604020202020204" pitchFamily="34" charset="0"/>
              <a:buNone/>
            </a:pPr>
            <a:r>
              <a:rPr lang="en-GB" dirty="0" smtClean="0">
                <a:latin typeface="Comic Sans MS" panose="030F0702030302020204" pitchFamily="66" charset="0"/>
              </a:rPr>
              <a:t>Multiple speakers</a:t>
            </a:r>
          </a:p>
          <a:p>
            <a:pPr marL="0" indent="0">
              <a:buFont typeface="Arial" panose="020B0604020202020204" pitchFamily="34" charset="0"/>
              <a:buNone/>
            </a:pPr>
            <a:r>
              <a:rPr lang="en-GB" dirty="0" smtClean="0">
                <a:latin typeface="Comic Sans MS" panose="030F0702030302020204" pitchFamily="66" charset="0"/>
              </a:rPr>
              <a:t>Alliteration</a:t>
            </a:r>
          </a:p>
          <a:p>
            <a:pPr marL="0" indent="0">
              <a:buFont typeface="Arial" panose="020B0604020202020204" pitchFamily="34" charset="0"/>
              <a:buNone/>
            </a:pPr>
            <a:r>
              <a:rPr lang="en-GB" dirty="0" smtClean="0">
                <a:latin typeface="Comic Sans MS" panose="030F0702030302020204" pitchFamily="66" charset="0"/>
              </a:rPr>
              <a:t>Simile</a:t>
            </a:r>
          </a:p>
          <a:p>
            <a:pPr marL="0" indent="0">
              <a:buFont typeface="Arial" panose="020B0604020202020204" pitchFamily="34" charset="0"/>
              <a:buNone/>
            </a:pPr>
            <a:r>
              <a:rPr lang="en-GB" dirty="0" smtClean="0">
                <a:latin typeface="Comic Sans MS" panose="030F0702030302020204" pitchFamily="66" charset="0"/>
              </a:rPr>
              <a:t>Metaphor</a:t>
            </a:r>
          </a:p>
          <a:p>
            <a:pPr marL="0" indent="0">
              <a:buFont typeface="Arial" panose="020B0604020202020204" pitchFamily="34" charset="0"/>
              <a:buNone/>
            </a:pPr>
            <a:r>
              <a:rPr lang="en-GB" dirty="0" smtClean="0">
                <a:latin typeface="Comic Sans MS" panose="030F0702030302020204" pitchFamily="66" charset="0"/>
              </a:rPr>
              <a:t>Direct speech</a:t>
            </a:r>
            <a:endParaRPr lang="en-GB" dirty="0">
              <a:latin typeface="Comic Sans MS" panose="030F0702030302020204" pitchFamily="66" charset="0"/>
            </a:endParaRPr>
          </a:p>
        </p:txBody>
      </p:sp>
      <p:sp>
        <p:nvSpPr>
          <p:cNvPr id="7" name="Content Placeholder 2"/>
          <p:cNvSpPr txBox="1">
            <a:spLocks/>
          </p:cNvSpPr>
          <p:nvPr/>
        </p:nvSpPr>
        <p:spPr>
          <a:xfrm>
            <a:off x="189965" y="3686621"/>
            <a:ext cx="3347434" cy="2714177"/>
          </a:xfrm>
          <a:prstGeom prst="rect">
            <a:avLst/>
          </a:prstGeom>
          <a:ln>
            <a:solidFill>
              <a:schemeClr val="tx1"/>
            </a:solidFill>
          </a:ln>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smtClean="0">
                <a:latin typeface="Comic Sans MS" panose="030F0702030302020204" pitchFamily="66" charset="0"/>
              </a:rPr>
              <a:t>Context:</a:t>
            </a:r>
          </a:p>
          <a:p>
            <a:pPr marL="0" indent="0">
              <a:buFont typeface="Arial" panose="020B0604020202020204" pitchFamily="34" charset="0"/>
              <a:buNone/>
            </a:pPr>
            <a:r>
              <a:rPr lang="en-GB" dirty="0" smtClean="0">
                <a:latin typeface="Comic Sans MS" panose="030F0702030302020204" pitchFamily="66" charset="0"/>
              </a:rPr>
              <a:t>A daughter is telling her children about her father and how he turned back from a one-way flight in WWII</a:t>
            </a:r>
            <a:endParaRPr lang="en-GB" dirty="0">
              <a:latin typeface="Comic Sans MS" panose="030F0702030302020204" pitchFamily="66" charset="0"/>
            </a:endParaRPr>
          </a:p>
        </p:txBody>
      </p:sp>
      <p:sp>
        <p:nvSpPr>
          <p:cNvPr id="8" name="Content Placeholder 2"/>
          <p:cNvSpPr txBox="1">
            <a:spLocks/>
          </p:cNvSpPr>
          <p:nvPr/>
        </p:nvSpPr>
        <p:spPr>
          <a:xfrm>
            <a:off x="7129528" y="3851139"/>
            <a:ext cx="4688985" cy="1305618"/>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smtClean="0">
                <a:latin typeface="Comic Sans MS" panose="030F0702030302020204" pitchFamily="66" charset="0"/>
              </a:rPr>
              <a:t>Tone: Storytelling</a:t>
            </a:r>
            <a:endParaRPr lang="en-GB" dirty="0">
              <a:latin typeface="Comic Sans MS" panose="030F0702030302020204" pitchFamily="66" charset="0"/>
            </a:endParaRPr>
          </a:p>
        </p:txBody>
      </p:sp>
      <p:sp>
        <p:nvSpPr>
          <p:cNvPr id="9" name="Content Placeholder 2"/>
          <p:cNvSpPr txBox="1">
            <a:spLocks/>
          </p:cNvSpPr>
          <p:nvPr/>
        </p:nvSpPr>
        <p:spPr>
          <a:xfrm>
            <a:off x="7129528" y="5309446"/>
            <a:ext cx="4688985" cy="1305618"/>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smtClean="0">
                <a:latin typeface="Comic Sans MS" panose="030F0702030302020204" pitchFamily="66" charset="0"/>
              </a:rPr>
              <a:t>Rhythm/ Rhyme: No specific patterns allows conversational tone</a:t>
            </a:r>
            <a:endParaRPr lang="en-GB" dirty="0">
              <a:latin typeface="Comic Sans MS" panose="030F0702030302020204" pitchFamily="66" charset="0"/>
            </a:endParaRPr>
          </a:p>
        </p:txBody>
      </p:sp>
      <p:sp>
        <p:nvSpPr>
          <p:cNvPr id="12" name="Title 1"/>
          <p:cNvSpPr>
            <a:spLocks noGrp="1"/>
          </p:cNvSpPr>
          <p:nvPr>
            <p:ph type="title"/>
          </p:nvPr>
        </p:nvSpPr>
        <p:spPr>
          <a:xfrm>
            <a:off x="7611414" y="128789"/>
            <a:ext cx="4580586" cy="1044084"/>
          </a:xfrm>
        </p:spPr>
        <p:txBody>
          <a:bodyPr>
            <a:normAutofit fontScale="90000"/>
          </a:bodyPr>
          <a:lstStyle/>
          <a:p>
            <a:r>
              <a:rPr lang="en-GB" dirty="0" smtClean="0">
                <a:latin typeface="Comic Sans MS" panose="030F0702030302020204" pitchFamily="66" charset="0"/>
              </a:rPr>
              <a:t>Date: 2007</a:t>
            </a:r>
            <a:br>
              <a:rPr lang="en-GB" dirty="0" smtClean="0">
                <a:latin typeface="Comic Sans MS" panose="030F0702030302020204" pitchFamily="66" charset="0"/>
              </a:rPr>
            </a:br>
            <a:r>
              <a:rPr lang="en-GB" dirty="0" smtClean="0">
                <a:latin typeface="Comic Sans MS" panose="030F0702030302020204" pitchFamily="66" charset="0"/>
              </a:rPr>
              <a:t>Conflict</a:t>
            </a:r>
            <a:endParaRPr lang="en-GB" dirty="0">
              <a:latin typeface="Comic Sans MS" panose="030F0702030302020204" pitchFamily="66" charset="0"/>
            </a:endParaRPr>
          </a:p>
        </p:txBody>
      </p:sp>
    </p:spTree>
    <p:extLst>
      <p:ext uri="{BB962C8B-B14F-4D97-AF65-F5344CB8AC3E}">
        <p14:creationId xmlns:p14="http://schemas.microsoft.com/office/powerpoint/2010/main" val="17774009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90687" y="0"/>
            <a:ext cx="8468932" cy="901521"/>
          </a:xfrm>
        </p:spPr>
        <p:txBody>
          <a:bodyPr/>
          <a:lstStyle/>
          <a:p>
            <a:r>
              <a:rPr lang="en-GB" dirty="0" smtClean="0">
                <a:latin typeface="Comic Sans MS" panose="030F0702030302020204" pitchFamily="66" charset="0"/>
              </a:rPr>
              <a:t>Beatrice Garland</a:t>
            </a:r>
            <a:endParaRPr lang="en-GB" dirty="0">
              <a:latin typeface="Comic Sans MS" panose="030F0702030302020204" pitchFamily="66" charset="0"/>
            </a:endParaRPr>
          </a:p>
        </p:txBody>
      </p:sp>
      <p:sp>
        <p:nvSpPr>
          <p:cNvPr id="3" name="Content Placeholder 2"/>
          <p:cNvSpPr>
            <a:spLocks noGrp="1"/>
          </p:cNvSpPr>
          <p:nvPr>
            <p:ph idx="1"/>
          </p:nvPr>
        </p:nvSpPr>
        <p:spPr/>
        <p:txBody>
          <a:bodyPr/>
          <a:lstStyle/>
          <a:p>
            <a:r>
              <a:rPr lang="en-GB" dirty="0" smtClean="0">
                <a:latin typeface="Comic Sans MS" panose="030F0702030302020204" pitchFamily="66" charset="0"/>
              </a:rPr>
              <a:t>Part –time poet, part time NHS clinician.</a:t>
            </a:r>
            <a:endParaRPr lang="en-GB" dirty="0">
              <a:latin typeface="Comic Sans MS" panose="030F0702030302020204" pitchFamily="66" charset="0"/>
            </a:endParaRPr>
          </a:p>
        </p:txBody>
      </p:sp>
      <p:pic>
        <p:nvPicPr>
          <p:cNvPr id="2050" name="Picture 2" descr="Image result for beatrice garland">
            <a:hlinkClick r:id="rId2"/>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
            <a:ext cx="1690687" cy="16906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246578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81836" y="0"/>
            <a:ext cx="9398357" cy="965915"/>
          </a:xfrm>
        </p:spPr>
        <p:txBody>
          <a:bodyPr/>
          <a:lstStyle/>
          <a:p>
            <a:r>
              <a:rPr lang="en-GB" dirty="0" smtClean="0">
                <a:latin typeface="Comic Sans MS" panose="030F0702030302020204" pitchFamily="66" charset="0"/>
              </a:rPr>
              <a:t>Culture of obedience and honour</a:t>
            </a:r>
            <a:endParaRPr lang="en-GB" dirty="0">
              <a:latin typeface="Comic Sans MS" panose="030F0702030302020204" pitchFamily="66" charset="0"/>
            </a:endParaRPr>
          </a:p>
        </p:txBody>
      </p:sp>
      <p:sp>
        <p:nvSpPr>
          <p:cNvPr id="3" name="Content Placeholder 2"/>
          <p:cNvSpPr>
            <a:spLocks noGrp="1"/>
          </p:cNvSpPr>
          <p:nvPr>
            <p:ph idx="1"/>
          </p:nvPr>
        </p:nvSpPr>
        <p:spPr>
          <a:xfrm>
            <a:off x="128789" y="1825625"/>
            <a:ext cx="11225011" cy="4562296"/>
          </a:xfrm>
        </p:spPr>
        <p:txBody>
          <a:bodyPr/>
          <a:lstStyle/>
          <a:p>
            <a:r>
              <a:rPr lang="en-GB" dirty="0" smtClean="0">
                <a:latin typeface="Comic Sans MS" panose="030F0702030302020204" pitchFamily="66" charset="0"/>
              </a:rPr>
              <a:t>In Japan, during WWII, the culture of Bushido was still very prominent. This linked to obedience, loyalty, honour and patriotism. This was not necessarily the original Bushido code but had been altered by the government and military to suit their own purposes in war.</a:t>
            </a:r>
          </a:p>
          <a:p>
            <a:r>
              <a:rPr lang="en-GB" dirty="0" smtClean="0">
                <a:latin typeface="Comic Sans MS" panose="030F0702030302020204" pitchFamily="66" charset="0"/>
              </a:rPr>
              <a:t>The order of the samurai followed this code which encouraged pilots to engage in suicide attacks for the glory of Japan.</a:t>
            </a:r>
          </a:p>
          <a:p>
            <a:r>
              <a:rPr lang="en-GB" dirty="0" smtClean="0">
                <a:latin typeface="Comic Sans MS" panose="030F0702030302020204" pitchFamily="66" charset="0"/>
              </a:rPr>
              <a:t>Men who failed to follow this ideology, like the pilot in the poem, would have been shunned by their family and were encouraged to commit ritual suicide (</a:t>
            </a:r>
            <a:r>
              <a:rPr lang="en-GB" dirty="0" err="1" smtClean="0">
                <a:latin typeface="Comic Sans MS" panose="030F0702030302020204" pitchFamily="66" charset="0"/>
              </a:rPr>
              <a:t>suppuku</a:t>
            </a:r>
            <a:r>
              <a:rPr lang="en-GB" dirty="0" smtClean="0">
                <a:latin typeface="Comic Sans MS" panose="030F0702030302020204" pitchFamily="66" charset="0"/>
              </a:rPr>
              <a:t>).</a:t>
            </a:r>
            <a:endParaRPr lang="en-GB" dirty="0">
              <a:latin typeface="Comic Sans MS" panose="030F0702030302020204" pitchFamily="66" charset="0"/>
            </a:endParaRPr>
          </a:p>
        </p:txBody>
      </p:sp>
      <p:pic>
        <p:nvPicPr>
          <p:cNvPr id="3074" name="Picture 2" descr="Image result for japanese flag ww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2524959" cy="16871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954082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1587" y="152673"/>
            <a:ext cx="11305326" cy="1538015"/>
          </a:xfrm>
        </p:spPr>
        <p:txBody>
          <a:bodyPr/>
          <a:lstStyle/>
          <a:p>
            <a:r>
              <a:rPr lang="en-GB" dirty="0" smtClean="0">
                <a:latin typeface="Comic Sans MS" panose="030F0702030302020204" pitchFamily="66" charset="0"/>
              </a:rPr>
              <a:t>Comparing the poems</a:t>
            </a:r>
            <a:endParaRPr lang="en-GB" dirty="0">
              <a:latin typeface="Comic Sans MS" panose="030F0702030302020204" pitchFamily="66" charset="0"/>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506734875"/>
              </p:ext>
            </p:extLst>
          </p:nvPr>
        </p:nvGraphicFramePr>
        <p:xfrm>
          <a:off x="502275" y="1455312"/>
          <a:ext cx="11346288" cy="5196105"/>
        </p:xfrm>
        <a:graphic>
          <a:graphicData uri="http://schemas.openxmlformats.org/drawingml/2006/table">
            <a:tbl>
              <a:tblPr firstRow="1" bandRow="1">
                <a:tableStyleId>{5C22544A-7EE6-4342-B048-85BDC9FD1C3A}</a:tableStyleId>
              </a:tblPr>
              <a:tblGrid>
                <a:gridCol w="1943932"/>
                <a:gridCol w="4486131"/>
                <a:gridCol w="4916225"/>
              </a:tblGrid>
              <a:tr h="854981">
                <a:tc>
                  <a:txBody>
                    <a:bodyPr/>
                    <a:lstStyle/>
                    <a:p>
                      <a:r>
                        <a:rPr lang="en-GB" dirty="0" smtClean="0">
                          <a:latin typeface="Comic Sans MS" panose="030F0702030302020204" pitchFamily="66" charset="0"/>
                        </a:rPr>
                        <a:t>Feature/ technique</a:t>
                      </a:r>
                      <a:endParaRPr lang="en-GB" dirty="0">
                        <a:latin typeface="Comic Sans MS" panose="030F0702030302020204" pitchFamily="66" charset="0"/>
                      </a:endParaRPr>
                    </a:p>
                  </a:txBody>
                  <a:tcPr/>
                </a:tc>
                <a:tc>
                  <a:txBody>
                    <a:bodyPr/>
                    <a:lstStyle/>
                    <a:p>
                      <a:r>
                        <a:rPr lang="en-GB" dirty="0" smtClean="0">
                          <a:latin typeface="Comic Sans MS" panose="030F0702030302020204" pitchFamily="66" charset="0"/>
                        </a:rPr>
                        <a:t>The</a:t>
                      </a:r>
                      <a:r>
                        <a:rPr lang="en-GB" baseline="0" dirty="0" smtClean="0">
                          <a:latin typeface="Comic Sans MS" panose="030F0702030302020204" pitchFamily="66" charset="0"/>
                        </a:rPr>
                        <a:t> Charge of the Light Brigade</a:t>
                      </a:r>
                    </a:p>
                    <a:p>
                      <a:r>
                        <a:rPr lang="en-GB" baseline="0" dirty="0" smtClean="0">
                          <a:latin typeface="Comic Sans MS" panose="030F0702030302020204" pitchFamily="66" charset="0"/>
                        </a:rPr>
                        <a:t>Alfred, Lord Tennyson</a:t>
                      </a:r>
                      <a:endParaRPr lang="en-GB" dirty="0">
                        <a:latin typeface="Comic Sans MS" panose="030F0702030302020204" pitchFamily="66" charset="0"/>
                      </a:endParaRPr>
                    </a:p>
                  </a:txBody>
                  <a:tcPr/>
                </a:tc>
                <a:tc>
                  <a:txBody>
                    <a:bodyPr/>
                    <a:lstStyle/>
                    <a:p>
                      <a:r>
                        <a:rPr lang="en-GB" dirty="0" smtClean="0">
                          <a:latin typeface="Comic Sans MS" panose="030F0702030302020204" pitchFamily="66" charset="0"/>
                        </a:rPr>
                        <a:t>Kamikaze</a:t>
                      </a:r>
                    </a:p>
                    <a:p>
                      <a:r>
                        <a:rPr lang="en-GB" dirty="0" smtClean="0">
                          <a:latin typeface="Comic Sans MS" panose="030F0702030302020204" pitchFamily="66" charset="0"/>
                        </a:rPr>
                        <a:t>Beatrice Garland</a:t>
                      </a:r>
                      <a:endParaRPr lang="en-GB" dirty="0">
                        <a:latin typeface="Comic Sans MS" panose="030F0702030302020204" pitchFamily="66" charset="0"/>
                      </a:endParaRPr>
                    </a:p>
                  </a:txBody>
                  <a:tcPr/>
                </a:tc>
              </a:tr>
              <a:tr h="2000102">
                <a:tc>
                  <a:txBody>
                    <a:bodyPr/>
                    <a:lstStyle/>
                    <a:p>
                      <a:r>
                        <a:rPr lang="en-GB" dirty="0" smtClean="0">
                          <a:latin typeface="Comic Sans MS" panose="030F0702030302020204" pitchFamily="66" charset="0"/>
                        </a:rPr>
                        <a:t>Honour in dying in battle for your</a:t>
                      </a:r>
                      <a:r>
                        <a:rPr lang="en-GB" baseline="0" dirty="0" smtClean="0">
                          <a:latin typeface="Comic Sans MS" panose="030F0702030302020204" pitchFamily="66" charset="0"/>
                        </a:rPr>
                        <a:t> country, no matter how senseless the losses</a:t>
                      </a:r>
                      <a:endParaRPr lang="en-GB" dirty="0">
                        <a:latin typeface="Comic Sans MS" panose="030F0702030302020204" pitchFamily="66" charset="0"/>
                      </a:endParaRPr>
                    </a:p>
                  </a:txBody>
                  <a:tcPr/>
                </a:tc>
                <a:tc>
                  <a:txBody>
                    <a:bodyPr/>
                    <a:lstStyle/>
                    <a:p>
                      <a:r>
                        <a:rPr lang="en-GB" dirty="0" smtClean="0">
                          <a:latin typeface="Comic Sans MS" panose="030F0702030302020204" pitchFamily="66" charset="0"/>
                        </a:rPr>
                        <a:t>The</a:t>
                      </a:r>
                      <a:r>
                        <a:rPr lang="en-GB" baseline="0" dirty="0" smtClean="0">
                          <a:latin typeface="Comic Sans MS" panose="030F0702030302020204" pitchFamily="66" charset="0"/>
                        </a:rPr>
                        <a:t> men die for no real reason or gain other than remaining obedient to the orders of their officers. They are praised for this obedience rather than mourned as a senseless waste of life.</a:t>
                      </a:r>
                      <a:endParaRPr lang="en-GB" dirty="0">
                        <a:latin typeface="Comic Sans MS" panose="030F0702030302020204" pitchFamily="66" charset="0"/>
                      </a:endParaRPr>
                    </a:p>
                  </a:txBody>
                  <a:tcPr/>
                </a:tc>
                <a:tc>
                  <a:txBody>
                    <a:bodyPr/>
                    <a:lstStyle/>
                    <a:p>
                      <a:r>
                        <a:rPr lang="en-GB" dirty="0" smtClean="0">
                          <a:latin typeface="Comic Sans MS" panose="030F0702030302020204" pitchFamily="66" charset="0"/>
                        </a:rPr>
                        <a:t>Her father</a:t>
                      </a:r>
                      <a:r>
                        <a:rPr lang="en-GB" baseline="0" dirty="0" smtClean="0">
                          <a:latin typeface="Comic Sans MS" panose="030F0702030302020204" pitchFamily="66" charset="0"/>
                        </a:rPr>
                        <a:t> fails in his ‘duty’ to his country, choosing to return home to his family. His family reject him instead of welcoming him home and instead he endures a slow and silent death in isolation.</a:t>
                      </a:r>
                      <a:endParaRPr lang="en-GB" dirty="0">
                        <a:latin typeface="Comic Sans MS" panose="030F0702030302020204" pitchFamily="66" charset="0"/>
                      </a:endParaRPr>
                    </a:p>
                  </a:txBody>
                  <a:tcPr/>
                </a:tc>
              </a:tr>
              <a:tr h="854981">
                <a:tc>
                  <a:txBody>
                    <a:bodyPr/>
                    <a:lstStyle/>
                    <a:p>
                      <a:endParaRPr lang="en-GB" dirty="0">
                        <a:latin typeface="Comic Sans MS" panose="030F0702030302020204" pitchFamily="66" charset="0"/>
                      </a:endParaRPr>
                    </a:p>
                  </a:txBody>
                  <a:tcPr/>
                </a:tc>
                <a:tc>
                  <a:txBody>
                    <a:bodyPr/>
                    <a:lstStyle/>
                    <a:p>
                      <a:endParaRPr lang="en-GB" dirty="0">
                        <a:latin typeface="Comic Sans MS" panose="030F0702030302020204" pitchFamily="66" charset="0"/>
                      </a:endParaRPr>
                    </a:p>
                  </a:txBody>
                  <a:tcPr/>
                </a:tc>
                <a:tc>
                  <a:txBody>
                    <a:bodyPr/>
                    <a:lstStyle/>
                    <a:p>
                      <a:endParaRPr lang="en-GB" dirty="0">
                        <a:latin typeface="Comic Sans MS" panose="030F0702030302020204" pitchFamily="66" charset="0"/>
                      </a:endParaRPr>
                    </a:p>
                  </a:txBody>
                  <a:tcPr/>
                </a:tc>
              </a:tr>
              <a:tr h="495347">
                <a:tc>
                  <a:txBody>
                    <a:bodyPr/>
                    <a:lstStyle/>
                    <a:p>
                      <a:endParaRPr lang="en-GB">
                        <a:latin typeface="Comic Sans MS" panose="030F0702030302020204" pitchFamily="66" charset="0"/>
                      </a:endParaRPr>
                    </a:p>
                  </a:txBody>
                  <a:tcPr/>
                </a:tc>
                <a:tc>
                  <a:txBody>
                    <a:bodyPr/>
                    <a:lstStyle/>
                    <a:p>
                      <a:endParaRPr lang="en-GB">
                        <a:latin typeface="Comic Sans MS" panose="030F0702030302020204" pitchFamily="66" charset="0"/>
                      </a:endParaRPr>
                    </a:p>
                  </a:txBody>
                  <a:tcPr/>
                </a:tc>
                <a:tc>
                  <a:txBody>
                    <a:bodyPr/>
                    <a:lstStyle/>
                    <a:p>
                      <a:endParaRPr lang="en-GB">
                        <a:latin typeface="Comic Sans MS" panose="030F0702030302020204" pitchFamily="66" charset="0"/>
                      </a:endParaRPr>
                    </a:p>
                  </a:txBody>
                  <a:tcPr/>
                </a:tc>
              </a:tr>
              <a:tr h="495347">
                <a:tc>
                  <a:txBody>
                    <a:bodyPr/>
                    <a:lstStyle/>
                    <a:p>
                      <a:endParaRPr lang="en-GB">
                        <a:latin typeface="Comic Sans MS" panose="030F0702030302020204" pitchFamily="66" charset="0"/>
                      </a:endParaRPr>
                    </a:p>
                  </a:txBody>
                  <a:tcPr/>
                </a:tc>
                <a:tc>
                  <a:txBody>
                    <a:bodyPr/>
                    <a:lstStyle/>
                    <a:p>
                      <a:endParaRPr lang="en-GB">
                        <a:latin typeface="Comic Sans MS" panose="030F0702030302020204" pitchFamily="66" charset="0"/>
                      </a:endParaRPr>
                    </a:p>
                  </a:txBody>
                  <a:tcPr/>
                </a:tc>
                <a:tc>
                  <a:txBody>
                    <a:bodyPr/>
                    <a:lstStyle/>
                    <a:p>
                      <a:endParaRPr lang="en-GB">
                        <a:latin typeface="Comic Sans MS" panose="030F0702030302020204" pitchFamily="66" charset="0"/>
                      </a:endParaRPr>
                    </a:p>
                  </a:txBody>
                  <a:tcPr/>
                </a:tc>
              </a:tr>
              <a:tr h="495347">
                <a:tc>
                  <a:txBody>
                    <a:bodyPr/>
                    <a:lstStyle/>
                    <a:p>
                      <a:r>
                        <a:rPr lang="en-GB" dirty="0" smtClean="0">
                          <a:latin typeface="Comic Sans MS" panose="030F0702030302020204" pitchFamily="66" charset="0"/>
                        </a:rPr>
                        <a:t>Other poems</a:t>
                      </a:r>
                      <a:endParaRPr lang="en-GB" dirty="0">
                        <a:latin typeface="Comic Sans MS" panose="030F0702030302020204" pitchFamily="66" charset="0"/>
                      </a:endParaRPr>
                    </a:p>
                  </a:txBody>
                  <a:tcPr/>
                </a:tc>
                <a:tc>
                  <a:txBody>
                    <a:bodyPr/>
                    <a:lstStyle/>
                    <a:p>
                      <a:r>
                        <a:rPr lang="en-GB" dirty="0" smtClean="0">
                          <a:latin typeface="Comic Sans MS" panose="030F0702030302020204" pitchFamily="66" charset="0"/>
                        </a:rPr>
                        <a:t>Exposure</a:t>
                      </a:r>
                      <a:endParaRPr lang="en-GB" dirty="0">
                        <a:latin typeface="Comic Sans MS" panose="030F0702030302020204" pitchFamily="66" charset="0"/>
                      </a:endParaRPr>
                    </a:p>
                  </a:txBody>
                  <a:tcPr/>
                </a:tc>
                <a:tc>
                  <a:txBody>
                    <a:bodyPr/>
                    <a:lstStyle/>
                    <a:p>
                      <a:r>
                        <a:rPr lang="en-GB" dirty="0" smtClean="0">
                          <a:latin typeface="Comic Sans MS" panose="030F0702030302020204" pitchFamily="66" charset="0"/>
                        </a:rPr>
                        <a:t>The </a:t>
                      </a:r>
                      <a:r>
                        <a:rPr lang="en-GB" dirty="0" err="1" smtClean="0">
                          <a:latin typeface="Comic Sans MS" panose="030F0702030302020204" pitchFamily="66" charset="0"/>
                        </a:rPr>
                        <a:t>Emigree</a:t>
                      </a:r>
                      <a:r>
                        <a:rPr lang="en-GB" dirty="0" smtClean="0">
                          <a:latin typeface="Comic Sans MS" panose="030F0702030302020204" pitchFamily="66" charset="0"/>
                        </a:rPr>
                        <a:t>, Bayonet</a:t>
                      </a:r>
                      <a:r>
                        <a:rPr lang="en-GB" baseline="0" dirty="0" smtClean="0">
                          <a:latin typeface="Comic Sans MS" panose="030F0702030302020204" pitchFamily="66" charset="0"/>
                        </a:rPr>
                        <a:t> Charge, Poppies</a:t>
                      </a:r>
                      <a:endParaRPr lang="en-GB" dirty="0">
                        <a:latin typeface="Comic Sans MS" panose="030F0702030302020204" pitchFamily="66" charset="0"/>
                      </a:endParaRPr>
                    </a:p>
                  </a:txBody>
                  <a:tcPr/>
                </a:tc>
              </a:tr>
            </a:tbl>
          </a:graphicData>
        </a:graphic>
      </p:graphicFrame>
    </p:spTree>
    <p:extLst>
      <p:ext uri="{BB962C8B-B14F-4D97-AF65-F5344CB8AC3E}">
        <p14:creationId xmlns:p14="http://schemas.microsoft.com/office/powerpoint/2010/main" val="370054679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180</TotalTime>
  <Words>903</Words>
  <Application>Microsoft Office PowerPoint</Application>
  <PresentationFormat>Widescreen</PresentationFormat>
  <Paragraphs>104</Paragraphs>
  <Slides>15</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Calibri Light</vt:lpstr>
      <vt:lpstr>Comic Sans MS</vt:lpstr>
      <vt:lpstr>Office Theme</vt:lpstr>
      <vt:lpstr>Starter: Remind yourself of Charge of the Light Brigade  and Kamikaze</vt:lpstr>
      <vt:lpstr>Assessment Objectives</vt:lpstr>
      <vt:lpstr>Date:1842 Power &amp; conflict</vt:lpstr>
      <vt:lpstr>Alfred, Lord Tennyson</vt:lpstr>
      <vt:lpstr>What actually happened?</vt:lpstr>
      <vt:lpstr>Spotting the repeated ideas</vt:lpstr>
      <vt:lpstr>Language</vt:lpstr>
      <vt:lpstr>What do these words have in common?</vt:lpstr>
      <vt:lpstr>PowerPoint Presentation</vt:lpstr>
      <vt:lpstr>Rhythm/ Rhyme</vt:lpstr>
      <vt:lpstr>Themes/ Tone</vt:lpstr>
      <vt:lpstr>Date: 2007 Conflict</vt:lpstr>
      <vt:lpstr>Beatrice Garland</vt:lpstr>
      <vt:lpstr>Culture of obedience and honour</vt:lpstr>
      <vt:lpstr>Comparing the poems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Lix</dc:creator>
  <cp:lastModifiedBy>DYER, A</cp:lastModifiedBy>
  <cp:revision>15</cp:revision>
  <dcterms:created xsi:type="dcterms:W3CDTF">2016-12-04T22:21:02Z</dcterms:created>
  <dcterms:modified xsi:type="dcterms:W3CDTF">2016-12-12T10:46:05Z</dcterms:modified>
</cp:coreProperties>
</file>