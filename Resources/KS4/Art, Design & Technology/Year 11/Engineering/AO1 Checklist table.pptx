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12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CD06C9-906F-4CCA-AB3E-2A2133A83373}" type="datetimeFigureOut">
              <a:rPr lang="en-GB" smtClean="0"/>
              <a:t>09/03/2020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9CB8E4E-0BC6-42BE-A1FB-8B9DD312ACBF}" type="slidenum">
              <a:rPr lang="en-GB" smtClean="0"/>
              <a:t>‹#›</a:t>
            </a:fld>
            <a:endParaRPr lang="en-GB"/>
          </a:p>
        </p:txBody>
      </p:sp>
    </p:spTree>
    <p:extLst>
      <p:ext uri="{BB962C8B-B14F-4D97-AF65-F5344CB8AC3E}">
        <p14:creationId xmlns:p14="http://schemas.microsoft.com/office/powerpoint/2010/main" val="2124553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CD06C9-906F-4CCA-AB3E-2A2133A83373}" type="datetimeFigureOut">
              <a:rPr lang="en-GB" smtClean="0"/>
              <a:t>09/03/2020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9CB8E4E-0BC6-42BE-A1FB-8B9DD312ACBF}" type="slidenum">
              <a:rPr lang="en-GB" smtClean="0"/>
              <a:t>‹#›</a:t>
            </a:fld>
            <a:endParaRPr lang="en-GB"/>
          </a:p>
        </p:txBody>
      </p:sp>
    </p:spTree>
    <p:extLst>
      <p:ext uri="{BB962C8B-B14F-4D97-AF65-F5344CB8AC3E}">
        <p14:creationId xmlns:p14="http://schemas.microsoft.com/office/powerpoint/2010/main" val="2031161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9CD06C9-906F-4CCA-AB3E-2A2133A83373}" type="datetimeFigureOut">
              <a:rPr lang="en-GB" smtClean="0"/>
              <a:t>09/03/2020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9CB8E4E-0BC6-42BE-A1FB-8B9DD312ACBF}" type="slidenum">
              <a:rPr lang="en-GB" smtClean="0"/>
              <a:t>‹#›</a:t>
            </a:fld>
            <a:endParaRPr lang="en-GB"/>
          </a:p>
        </p:txBody>
      </p:sp>
    </p:spTree>
    <p:extLst>
      <p:ext uri="{BB962C8B-B14F-4D97-AF65-F5344CB8AC3E}">
        <p14:creationId xmlns:p14="http://schemas.microsoft.com/office/powerpoint/2010/main" val="3443361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CD06C9-906F-4CCA-AB3E-2A2133A83373}" type="datetimeFigureOut">
              <a:rPr lang="en-GB" smtClean="0"/>
              <a:t>09/03/2020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9CB8E4E-0BC6-42BE-A1FB-8B9DD312ACBF}" type="slidenum">
              <a:rPr lang="en-GB" smtClean="0"/>
              <a:t>‹#›</a:t>
            </a:fld>
            <a:endParaRPr lang="en-GB"/>
          </a:p>
        </p:txBody>
      </p:sp>
    </p:spTree>
    <p:extLst>
      <p:ext uri="{BB962C8B-B14F-4D97-AF65-F5344CB8AC3E}">
        <p14:creationId xmlns:p14="http://schemas.microsoft.com/office/powerpoint/2010/main" val="4107306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CD06C9-906F-4CCA-AB3E-2A2133A83373}" type="datetimeFigureOut">
              <a:rPr lang="en-GB" smtClean="0"/>
              <a:t>09/03/2020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9CB8E4E-0BC6-42BE-A1FB-8B9DD312ACBF}" type="slidenum">
              <a:rPr lang="en-GB" smtClean="0"/>
              <a:t>‹#›</a:t>
            </a:fld>
            <a:endParaRPr lang="en-GB"/>
          </a:p>
        </p:txBody>
      </p:sp>
    </p:spTree>
    <p:extLst>
      <p:ext uri="{BB962C8B-B14F-4D97-AF65-F5344CB8AC3E}">
        <p14:creationId xmlns:p14="http://schemas.microsoft.com/office/powerpoint/2010/main" val="851615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CD06C9-906F-4CCA-AB3E-2A2133A83373}" type="datetimeFigureOut">
              <a:rPr lang="en-GB" smtClean="0"/>
              <a:t>09/03/2020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9CB8E4E-0BC6-42BE-A1FB-8B9DD312ACBF}" type="slidenum">
              <a:rPr lang="en-GB" smtClean="0"/>
              <a:t>‹#›</a:t>
            </a:fld>
            <a:endParaRPr lang="en-GB"/>
          </a:p>
        </p:txBody>
      </p:sp>
    </p:spTree>
    <p:extLst>
      <p:ext uri="{BB962C8B-B14F-4D97-AF65-F5344CB8AC3E}">
        <p14:creationId xmlns:p14="http://schemas.microsoft.com/office/powerpoint/2010/main" val="2401831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CD06C9-906F-4CCA-AB3E-2A2133A83373}" type="datetimeFigureOut">
              <a:rPr lang="en-GB" smtClean="0"/>
              <a:t>09/03/2020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9CB8E4E-0BC6-42BE-A1FB-8B9DD312ACBF}" type="slidenum">
              <a:rPr lang="en-GB" smtClean="0"/>
              <a:t>‹#›</a:t>
            </a:fld>
            <a:endParaRPr lang="en-GB"/>
          </a:p>
        </p:txBody>
      </p:sp>
    </p:spTree>
    <p:extLst>
      <p:ext uri="{BB962C8B-B14F-4D97-AF65-F5344CB8AC3E}">
        <p14:creationId xmlns:p14="http://schemas.microsoft.com/office/powerpoint/2010/main" val="238023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9CD06C9-906F-4CCA-AB3E-2A2133A83373}" type="datetimeFigureOut">
              <a:rPr lang="en-GB" smtClean="0"/>
              <a:t>09/03/2020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9CB8E4E-0BC6-42BE-A1FB-8B9DD312ACBF}" type="slidenum">
              <a:rPr lang="en-GB" smtClean="0"/>
              <a:t>‹#›</a:t>
            </a:fld>
            <a:endParaRPr lang="en-GB"/>
          </a:p>
        </p:txBody>
      </p:sp>
    </p:spTree>
    <p:extLst>
      <p:ext uri="{BB962C8B-B14F-4D97-AF65-F5344CB8AC3E}">
        <p14:creationId xmlns:p14="http://schemas.microsoft.com/office/powerpoint/2010/main" val="3314721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9CD06C9-906F-4CCA-AB3E-2A2133A83373}" type="datetimeFigureOut">
              <a:rPr lang="en-GB" smtClean="0"/>
              <a:t>09/03/2020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9CB8E4E-0BC6-42BE-A1FB-8B9DD312ACBF}" type="slidenum">
              <a:rPr lang="en-GB" smtClean="0"/>
              <a:t>‹#›</a:t>
            </a:fld>
            <a:endParaRPr lang="en-GB"/>
          </a:p>
        </p:txBody>
      </p:sp>
    </p:spTree>
    <p:extLst>
      <p:ext uri="{BB962C8B-B14F-4D97-AF65-F5344CB8AC3E}">
        <p14:creationId xmlns:p14="http://schemas.microsoft.com/office/powerpoint/2010/main" val="372240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CD06C9-906F-4CCA-AB3E-2A2133A83373}" type="datetimeFigureOut">
              <a:rPr lang="en-GB" smtClean="0"/>
              <a:t>09/03/2020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9CB8E4E-0BC6-42BE-A1FB-8B9DD312ACBF}" type="slidenum">
              <a:rPr lang="en-GB" smtClean="0"/>
              <a:t>‹#›</a:t>
            </a:fld>
            <a:endParaRPr lang="en-GB"/>
          </a:p>
        </p:txBody>
      </p:sp>
    </p:spTree>
    <p:extLst>
      <p:ext uri="{BB962C8B-B14F-4D97-AF65-F5344CB8AC3E}">
        <p14:creationId xmlns:p14="http://schemas.microsoft.com/office/powerpoint/2010/main" val="3620481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CD06C9-906F-4CCA-AB3E-2A2133A83373}" type="datetimeFigureOut">
              <a:rPr lang="en-GB" smtClean="0"/>
              <a:t>09/03/2020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9CB8E4E-0BC6-42BE-A1FB-8B9DD312ACBF}" type="slidenum">
              <a:rPr lang="en-GB" smtClean="0"/>
              <a:t>‹#›</a:t>
            </a:fld>
            <a:endParaRPr lang="en-GB"/>
          </a:p>
        </p:txBody>
      </p:sp>
    </p:spTree>
    <p:extLst>
      <p:ext uri="{BB962C8B-B14F-4D97-AF65-F5344CB8AC3E}">
        <p14:creationId xmlns:p14="http://schemas.microsoft.com/office/powerpoint/2010/main" val="1313525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CD06C9-906F-4CCA-AB3E-2A2133A83373}" type="datetimeFigureOut">
              <a:rPr lang="en-GB" smtClean="0"/>
              <a:t>09/03/2020</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CB8E4E-0BC6-42BE-A1FB-8B9DD312ACBF}" type="slidenum">
              <a:rPr lang="en-GB" smtClean="0"/>
              <a:t>‹#›</a:t>
            </a:fld>
            <a:endParaRPr lang="en-GB"/>
          </a:p>
        </p:txBody>
      </p:sp>
    </p:spTree>
    <p:extLst>
      <p:ext uri="{BB962C8B-B14F-4D97-AF65-F5344CB8AC3E}">
        <p14:creationId xmlns:p14="http://schemas.microsoft.com/office/powerpoint/2010/main" val="25361871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66871A-9526-4343-B224-86CB06550DBB}"/>
              </a:ext>
            </a:extLst>
          </p:cNvPr>
          <p:cNvSpPr txBox="1"/>
          <p:nvPr/>
        </p:nvSpPr>
        <p:spPr>
          <a:xfrm>
            <a:off x="443060" y="245097"/>
            <a:ext cx="8323868" cy="369332"/>
          </a:xfrm>
          <a:prstGeom prst="rect">
            <a:avLst/>
          </a:prstGeom>
          <a:noFill/>
        </p:spPr>
        <p:txBody>
          <a:bodyPr wrap="square" rtlCol="0">
            <a:spAutoFit/>
          </a:bodyPr>
          <a:lstStyle/>
          <a:p>
            <a:r>
              <a:rPr lang="en-GB" dirty="0"/>
              <a:t>AO1 – Recall knowledge and show understanding</a:t>
            </a:r>
          </a:p>
        </p:txBody>
      </p:sp>
      <p:graphicFrame>
        <p:nvGraphicFramePr>
          <p:cNvPr id="6" name="Table 5">
            <a:extLst>
              <a:ext uri="{FF2B5EF4-FFF2-40B4-BE49-F238E27FC236}">
                <a16:creationId xmlns:a16="http://schemas.microsoft.com/office/drawing/2014/main" id="{3B880E83-335C-4A4B-ADB3-3143A61B83EF}"/>
              </a:ext>
            </a:extLst>
          </p:cNvPr>
          <p:cNvGraphicFramePr>
            <a:graphicFrameLocks noGrp="1"/>
          </p:cNvGraphicFramePr>
          <p:nvPr>
            <p:extLst>
              <p:ext uri="{D42A27DB-BD31-4B8C-83A1-F6EECF244321}">
                <p14:modId xmlns:p14="http://schemas.microsoft.com/office/powerpoint/2010/main" val="4125623396"/>
              </p:ext>
            </p:extLst>
          </p:nvPr>
        </p:nvGraphicFramePr>
        <p:xfrm>
          <a:off x="113122" y="614429"/>
          <a:ext cx="8955464" cy="4835834"/>
        </p:xfrm>
        <a:graphic>
          <a:graphicData uri="http://schemas.openxmlformats.org/drawingml/2006/table">
            <a:tbl>
              <a:tblPr firstRow="1" bandRow="1">
                <a:tableStyleId>{5C22544A-7EE6-4342-B048-85BDC9FD1C3A}</a:tableStyleId>
              </a:tblPr>
              <a:tblGrid>
                <a:gridCol w="584462">
                  <a:extLst>
                    <a:ext uri="{9D8B030D-6E8A-4147-A177-3AD203B41FA5}">
                      <a16:colId xmlns:a16="http://schemas.microsoft.com/office/drawing/2014/main" val="2772132888"/>
                    </a:ext>
                  </a:extLst>
                </a:gridCol>
                <a:gridCol w="4053525">
                  <a:extLst>
                    <a:ext uri="{9D8B030D-6E8A-4147-A177-3AD203B41FA5}">
                      <a16:colId xmlns:a16="http://schemas.microsoft.com/office/drawing/2014/main" val="55541514"/>
                    </a:ext>
                  </a:extLst>
                </a:gridCol>
                <a:gridCol w="1970202">
                  <a:extLst>
                    <a:ext uri="{9D8B030D-6E8A-4147-A177-3AD203B41FA5}">
                      <a16:colId xmlns:a16="http://schemas.microsoft.com/office/drawing/2014/main" val="1495938542"/>
                    </a:ext>
                  </a:extLst>
                </a:gridCol>
                <a:gridCol w="1112363">
                  <a:extLst>
                    <a:ext uri="{9D8B030D-6E8A-4147-A177-3AD203B41FA5}">
                      <a16:colId xmlns:a16="http://schemas.microsoft.com/office/drawing/2014/main" val="3506635861"/>
                    </a:ext>
                  </a:extLst>
                </a:gridCol>
                <a:gridCol w="1234912">
                  <a:extLst>
                    <a:ext uri="{9D8B030D-6E8A-4147-A177-3AD203B41FA5}">
                      <a16:colId xmlns:a16="http://schemas.microsoft.com/office/drawing/2014/main" val="2586258682"/>
                    </a:ext>
                  </a:extLst>
                </a:gridCol>
              </a:tblGrid>
              <a:tr h="383581">
                <a:tc>
                  <a:txBody>
                    <a:bodyPr/>
                    <a:lstStyle/>
                    <a:p>
                      <a:r>
                        <a:rPr lang="en-GB" sz="1600" b="0" dirty="0">
                          <a:solidFill>
                            <a:schemeClr val="tx1"/>
                          </a:solidFill>
                        </a:rPr>
                        <a:t>Task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Presentation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Completed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8779900"/>
                  </a:ext>
                </a:extLst>
              </a:tr>
              <a:tr h="745949">
                <a:tc>
                  <a:txBody>
                    <a:bodyPr/>
                    <a:lstStyle/>
                    <a:p>
                      <a:r>
                        <a:rPr lang="en-GB" sz="1600"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Identify from your brief the key points to consider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Mind map, table, list.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5-10 mins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6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34104666"/>
                  </a:ext>
                </a:extLst>
              </a:tr>
              <a:tr h="791851">
                <a:tc>
                  <a:txBody>
                    <a:bodyPr/>
                    <a:lstStyle/>
                    <a:p>
                      <a:r>
                        <a:rPr lang="en-GB" sz="1600"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Identify the potential materials that you could use to make your bridge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List, mind map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5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6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8052833"/>
                  </a:ext>
                </a:extLst>
              </a:tr>
              <a:tr h="867266">
                <a:tc>
                  <a:txBody>
                    <a:bodyPr/>
                    <a:lstStyle/>
                    <a:p>
                      <a:r>
                        <a:rPr lang="en-GB" sz="1600"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Identify and then describe the properties of the materials for your bridge </a:t>
                      </a:r>
                      <a:r>
                        <a:rPr lang="en-GB" sz="1600" b="0" dirty="0" err="1">
                          <a:solidFill>
                            <a:schemeClr val="tx1"/>
                          </a:solidFill>
                        </a:rPr>
                        <a:t>ie</a:t>
                      </a:r>
                      <a:r>
                        <a:rPr lang="en-GB" sz="1600" b="0" dirty="0">
                          <a:solidFill>
                            <a:schemeClr val="tx1"/>
                          </a:solidFill>
                        </a:rPr>
                        <a:t> hardness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Table, mind map, sentences, paragraph about each material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15 – 20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6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7004187"/>
                  </a:ext>
                </a:extLst>
              </a:tr>
              <a:tr h="1045736">
                <a:tc>
                  <a:txBody>
                    <a:bodyPr/>
                    <a:lstStyle/>
                    <a:p>
                      <a:r>
                        <a:rPr lang="en-GB" sz="1600"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Describe and rate the characteristics of each of the materials you have identified using the headings aesthetics (appearance), environmental, costs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Table, paragraph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15-20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6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31403039"/>
                  </a:ext>
                </a:extLst>
              </a:tr>
              <a:tr h="980387">
                <a:tc>
                  <a:txBody>
                    <a:bodyPr/>
                    <a:lstStyle/>
                    <a:p>
                      <a:r>
                        <a:rPr lang="en-GB" sz="1600"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Identify and justify which 3 </a:t>
                      </a:r>
                      <a:r>
                        <a:rPr lang="en-GB" sz="1600" b="1" dirty="0">
                          <a:solidFill>
                            <a:schemeClr val="tx1"/>
                          </a:solidFill>
                        </a:rPr>
                        <a:t>test</a:t>
                      </a:r>
                      <a:r>
                        <a:rPr lang="en-GB" sz="1600" b="0" dirty="0">
                          <a:solidFill>
                            <a:schemeClr val="tx1"/>
                          </a:solidFill>
                        </a:rPr>
                        <a:t> you need to complete on the selected materials from task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Mind map, list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600" b="0" dirty="0">
                          <a:solidFill>
                            <a:schemeClr val="tx1"/>
                          </a:solidFill>
                        </a:rPr>
                        <a:t>5 minutes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GB"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0340285"/>
                  </a:ext>
                </a:extLst>
              </a:tr>
            </a:tbl>
          </a:graphicData>
        </a:graphic>
      </p:graphicFrame>
      <p:sp>
        <p:nvSpPr>
          <p:cNvPr id="7" name="TextBox 6">
            <a:extLst>
              <a:ext uri="{FF2B5EF4-FFF2-40B4-BE49-F238E27FC236}">
                <a16:creationId xmlns:a16="http://schemas.microsoft.com/office/drawing/2014/main" id="{FE7E4FBC-5BD4-4B86-8372-8D11F644BF98}"/>
              </a:ext>
            </a:extLst>
          </p:cNvPr>
          <p:cNvSpPr txBox="1"/>
          <p:nvPr/>
        </p:nvSpPr>
        <p:spPr>
          <a:xfrm>
            <a:off x="75414" y="5542961"/>
            <a:ext cx="8955464" cy="1200329"/>
          </a:xfrm>
          <a:prstGeom prst="rect">
            <a:avLst/>
          </a:prstGeom>
          <a:noFill/>
        </p:spPr>
        <p:txBody>
          <a:bodyPr wrap="square" rtlCol="0">
            <a:spAutoFit/>
          </a:bodyPr>
          <a:lstStyle/>
          <a:p>
            <a:r>
              <a:rPr lang="en-GB" dirty="0"/>
              <a:t>Once these tasks are completed you will work in small groups to carry out testing the various materials for their suitability in making your bridge.  THE ABOVE WORK MUST BE COMPLETED FIRST!!! Students who complete tasks 1-5 will begin their testing, while all other students will remain in S13/S14 until this work </a:t>
            </a:r>
            <a:r>
              <a:rPr lang="en-GB"/>
              <a:t>is finished.</a:t>
            </a:r>
            <a:endParaRPr lang="en-GB" dirty="0"/>
          </a:p>
        </p:txBody>
      </p:sp>
    </p:spTree>
    <p:extLst>
      <p:ext uri="{BB962C8B-B14F-4D97-AF65-F5344CB8AC3E}">
        <p14:creationId xmlns:p14="http://schemas.microsoft.com/office/powerpoint/2010/main" val="405212048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TotalTime>
  <Words>193</Words>
  <Application>Microsoft Office PowerPoint</Application>
  <PresentationFormat>On-screen Show (4:3)</PresentationFormat>
  <Paragraphs>27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 Brittle (Staff)</dc:creator>
  <cp:lastModifiedBy>Y Brittle (Staff)</cp:lastModifiedBy>
  <cp:revision>3</cp:revision>
  <dcterms:created xsi:type="dcterms:W3CDTF">2020-03-09T07:41:30Z</dcterms:created>
  <dcterms:modified xsi:type="dcterms:W3CDTF">2020-03-09T07:59:42Z</dcterms:modified>
</cp:coreProperties>
</file>