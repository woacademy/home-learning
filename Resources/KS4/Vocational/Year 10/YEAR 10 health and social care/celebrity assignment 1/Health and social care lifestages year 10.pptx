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14"/>
  </p:notesMasterIdLst>
  <p:sldIdLst>
    <p:sldId id="256" r:id="rId2"/>
    <p:sldId id="262" r:id="rId3"/>
    <p:sldId id="257" r:id="rId4"/>
    <p:sldId id="265" r:id="rId5"/>
    <p:sldId id="258" r:id="rId6"/>
    <p:sldId id="266" r:id="rId7"/>
    <p:sldId id="259" r:id="rId8"/>
    <p:sldId id="267" r:id="rId9"/>
    <p:sldId id="260" r:id="rId10"/>
    <p:sldId id="261"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8" autoAdjust="0"/>
    <p:restoredTop sz="94660"/>
  </p:normalViewPr>
  <p:slideViewPr>
    <p:cSldViewPr snapToGrid="0">
      <p:cViewPr>
        <p:scale>
          <a:sx n="60" d="100"/>
          <a:sy n="60" d="100"/>
        </p:scale>
        <p:origin x="872"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C660E-2E22-4215-8647-3094E7DC3697}" type="datetimeFigureOut">
              <a:rPr lang="en-GB" smtClean="0"/>
              <a:t>11/09/2019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19A3D-3DA6-4B26-94AC-B8A933CB797A}" type="slidenum">
              <a:rPr lang="en-GB" smtClean="0"/>
              <a:t>‹#›</a:t>
            </a:fld>
            <a:endParaRPr lang="en-GB"/>
          </a:p>
        </p:txBody>
      </p:sp>
    </p:spTree>
    <p:extLst>
      <p:ext uri="{BB962C8B-B14F-4D97-AF65-F5344CB8AC3E}">
        <p14:creationId xmlns:p14="http://schemas.microsoft.com/office/powerpoint/2010/main" val="2182151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Write down on different coloured paper and make a paper brick tower to show all of the words of growth and development. This is what is needed for a child to develop through their PILES. Now take away some of the papers and give reasons (</a:t>
            </a:r>
            <a:r>
              <a:rPr lang="en-GB" dirty="0" err="1"/>
              <a:t>eg</a:t>
            </a:r>
            <a:r>
              <a:rPr lang="en-GB" dirty="0"/>
              <a:t>- take away nutrition as there is no food in the house…) create a new picture of a child that hasn’t had all of the support through this early life stage and discuss the impact this would/could have on them during later development.</a:t>
            </a:r>
          </a:p>
        </p:txBody>
      </p:sp>
      <p:sp>
        <p:nvSpPr>
          <p:cNvPr id="4" name="Slide Number Placeholder 3"/>
          <p:cNvSpPr>
            <a:spLocks noGrp="1"/>
          </p:cNvSpPr>
          <p:nvPr>
            <p:ph type="sldNum" sz="quarter" idx="5"/>
          </p:nvPr>
        </p:nvSpPr>
        <p:spPr/>
        <p:txBody>
          <a:bodyPr/>
          <a:lstStyle/>
          <a:p>
            <a:fld id="{A5419A3D-3DA6-4B26-94AC-B8A933CB797A}" type="slidenum">
              <a:rPr lang="en-GB" smtClean="0"/>
              <a:t>11</a:t>
            </a:fld>
            <a:endParaRPr lang="en-GB"/>
          </a:p>
        </p:txBody>
      </p:sp>
    </p:spTree>
    <p:extLst>
      <p:ext uri="{BB962C8B-B14F-4D97-AF65-F5344CB8AC3E}">
        <p14:creationId xmlns:p14="http://schemas.microsoft.com/office/powerpoint/2010/main" val="146272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4201427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85559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345317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89930B-96A4-4CDB-ACA0-754975D6C76C}" type="datetimeFigureOut">
              <a:rPr lang="en-GB" smtClean="0"/>
              <a:t>11/09/2019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1785595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89930B-96A4-4CDB-ACA0-754975D6C76C}" type="datetimeFigureOut">
              <a:rPr lang="en-GB" smtClean="0"/>
              <a:t>11/09/2019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2967266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89930B-96A4-4CDB-ACA0-754975D6C76C}" type="datetimeFigureOut">
              <a:rPr lang="en-GB" smtClean="0"/>
              <a:t>11/09/2019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2184525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89930B-96A4-4CDB-ACA0-754975D6C76C}" type="datetimeFigureOut">
              <a:rPr lang="en-GB" smtClean="0"/>
              <a:t>11/09/2019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229986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C89930B-96A4-4CDB-ACA0-754975D6C76C}" type="datetimeFigureOut">
              <a:rPr lang="en-GB" smtClean="0"/>
              <a:t>11/09/2019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3476737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C89930B-96A4-4CDB-ACA0-754975D6C76C}" type="datetimeFigureOut">
              <a:rPr lang="en-GB" smtClean="0"/>
              <a:t>11/09/2019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2003099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2771733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42931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895894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3839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1065218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4002304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89930B-96A4-4CDB-ACA0-754975D6C76C}" type="datetimeFigureOut">
              <a:rPr lang="en-GB" smtClean="0"/>
              <a:t>11/09/2019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531CD3-974C-4B2E-B7D4-1C27C04464CE}" type="slidenum">
              <a:rPr lang="en-GB" smtClean="0"/>
              <a:t>‹#›</a:t>
            </a:fld>
            <a:endParaRPr lang="en-GB"/>
          </a:p>
        </p:txBody>
      </p:sp>
    </p:spTree>
    <p:extLst>
      <p:ext uri="{BB962C8B-B14F-4D97-AF65-F5344CB8AC3E}">
        <p14:creationId xmlns:p14="http://schemas.microsoft.com/office/powerpoint/2010/main" val="1428984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C89930B-96A4-4CDB-ACA0-754975D6C76C}" type="datetimeFigureOut">
              <a:rPr lang="en-GB" smtClean="0"/>
              <a:t>11/09/2019</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9531CD3-974C-4B2E-B7D4-1C27C04464CE}" type="slidenum">
              <a:rPr lang="en-GB" smtClean="0"/>
              <a:t>‹#›</a:t>
            </a:fld>
            <a:endParaRPr lang="en-GB"/>
          </a:p>
        </p:txBody>
      </p:sp>
    </p:spTree>
    <p:extLst>
      <p:ext uri="{BB962C8B-B14F-4D97-AF65-F5344CB8AC3E}">
        <p14:creationId xmlns:p14="http://schemas.microsoft.com/office/powerpoint/2010/main" val="157139332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77BAD-6F63-4DC6-ADF3-57029F40FC71}"/>
              </a:ext>
            </a:extLst>
          </p:cNvPr>
          <p:cNvSpPr>
            <a:spLocks noGrp="1"/>
          </p:cNvSpPr>
          <p:nvPr>
            <p:ph type="ctrTitle"/>
          </p:nvPr>
        </p:nvSpPr>
        <p:spPr>
          <a:xfrm>
            <a:off x="1524000" y="1122362"/>
            <a:ext cx="7417981" cy="2163097"/>
          </a:xfrm>
        </p:spPr>
        <p:txBody>
          <a:bodyPr>
            <a:normAutofit/>
          </a:bodyPr>
          <a:lstStyle/>
          <a:p>
            <a:r>
              <a:rPr lang="en-GB" dirty="0"/>
              <a:t>Health and social care</a:t>
            </a:r>
          </a:p>
        </p:txBody>
      </p:sp>
      <p:sp>
        <p:nvSpPr>
          <p:cNvPr id="3" name="Subtitle 2">
            <a:extLst>
              <a:ext uri="{FF2B5EF4-FFF2-40B4-BE49-F238E27FC236}">
                <a16:creationId xmlns:a16="http://schemas.microsoft.com/office/drawing/2014/main" id="{2EC536B9-18C6-402F-AE71-8AA8A125BB90}"/>
              </a:ext>
            </a:extLst>
          </p:cNvPr>
          <p:cNvSpPr>
            <a:spLocks noGrp="1"/>
          </p:cNvSpPr>
          <p:nvPr>
            <p:ph type="subTitle" idx="1"/>
          </p:nvPr>
        </p:nvSpPr>
        <p:spPr/>
        <p:txBody>
          <a:bodyPr>
            <a:normAutofit/>
          </a:bodyPr>
          <a:lstStyle/>
          <a:p>
            <a:r>
              <a:rPr lang="en-GB" sz="5400" dirty="0"/>
              <a:t>Life-stages</a:t>
            </a:r>
          </a:p>
        </p:txBody>
      </p:sp>
    </p:spTree>
    <p:extLst>
      <p:ext uri="{BB962C8B-B14F-4D97-AF65-F5344CB8AC3E}">
        <p14:creationId xmlns:p14="http://schemas.microsoft.com/office/powerpoint/2010/main" val="4121390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B361-398F-47AF-809D-C15D2C3AE76C}"/>
              </a:ext>
            </a:extLst>
          </p:cNvPr>
          <p:cNvSpPr>
            <a:spLocks noGrp="1"/>
          </p:cNvSpPr>
          <p:nvPr>
            <p:ph type="title"/>
          </p:nvPr>
        </p:nvSpPr>
        <p:spPr>
          <a:xfrm>
            <a:off x="838200" y="365125"/>
            <a:ext cx="10515600" cy="577555"/>
          </a:xfrm>
        </p:spPr>
        <p:txBody>
          <a:bodyPr>
            <a:normAutofit fontScale="90000"/>
          </a:bodyPr>
          <a:lstStyle/>
          <a:p>
            <a:r>
              <a:rPr lang="en-GB" dirty="0"/>
              <a:t>DNA</a:t>
            </a:r>
          </a:p>
        </p:txBody>
      </p:sp>
      <p:sp>
        <p:nvSpPr>
          <p:cNvPr id="3" name="Content Placeholder 2">
            <a:extLst>
              <a:ext uri="{FF2B5EF4-FFF2-40B4-BE49-F238E27FC236}">
                <a16:creationId xmlns:a16="http://schemas.microsoft.com/office/drawing/2014/main" id="{77895AB7-3630-43BC-BD4A-144233294365}"/>
              </a:ext>
            </a:extLst>
          </p:cNvPr>
          <p:cNvSpPr>
            <a:spLocks noGrp="1"/>
          </p:cNvSpPr>
          <p:nvPr>
            <p:ph idx="1"/>
          </p:nvPr>
        </p:nvSpPr>
        <p:spPr>
          <a:xfrm>
            <a:off x="838200" y="1319753"/>
            <a:ext cx="10515600" cy="4857210"/>
          </a:xfrm>
        </p:spPr>
        <p:txBody>
          <a:bodyPr>
            <a:normAutofit/>
          </a:bodyPr>
          <a:lstStyle/>
          <a:p>
            <a:pPr marL="514350" indent="-514350">
              <a:buFont typeface="+mj-lt"/>
              <a:buAutoNum type="arabicPeriod"/>
            </a:pPr>
            <a:r>
              <a:rPr lang="en-GB" dirty="0"/>
              <a:t>What are the PILES? (5 marks)</a:t>
            </a:r>
          </a:p>
          <a:p>
            <a:pPr marL="514350" indent="-514350">
              <a:buFont typeface="+mj-lt"/>
              <a:buAutoNum type="arabicPeriod"/>
            </a:pPr>
            <a:r>
              <a:rPr lang="en-GB" dirty="0"/>
              <a:t>Name the following life stages</a:t>
            </a:r>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en-GB" dirty="0"/>
          </a:p>
          <a:p>
            <a:pPr marL="514350" indent="-514350">
              <a:buFont typeface="+mj-lt"/>
              <a:buAutoNum type="arabicPeriod"/>
            </a:pPr>
            <a:endParaRPr lang="en-GB" dirty="0"/>
          </a:p>
          <a:p>
            <a:pPr marL="0" indent="0">
              <a:buNone/>
            </a:pPr>
            <a:endParaRPr lang="en-GB" dirty="0"/>
          </a:p>
          <a:p>
            <a:pPr marL="0" indent="0">
              <a:buNone/>
            </a:pPr>
            <a:endParaRPr lang="en-GB" dirty="0"/>
          </a:p>
          <a:p>
            <a:pPr marL="0" indent="0">
              <a:buNone/>
            </a:pPr>
            <a:r>
              <a:rPr lang="en-GB" dirty="0"/>
              <a:t>3. What are the 6 factors that can effect growth &amp; development?</a:t>
            </a:r>
          </a:p>
          <a:p>
            <a:pPr marL="0" indent="0">
              <a:buNone/>
            </a:pPr>
            <a:endParaRPr lang="en-GB" dirty="0"/>
          </a:p>
          <a:p>
            <a:pPr marL="0" indent="0">
              <a:buNone/>
            </a:pPr>
            <a:r>
              <a:rPr lang="en-GB" dirty="0"/>
              <a:t> </a:t>
            </a:r>
          </a:p>
          <a:p>
            <a:endParaRPr lang="en-GB" dirty="0"/>
          </a:p>
          <a:p>
            <a:endParaRPr lang="en-GB" dirty="0"/>
          </a:p>
        </p:txBody>
      </p:sp>
      <p:graphicFrame>
        <p:nvGraphicFramePr>
          <p:cNvPr id="4" name="Table 3">
            <a:extLst>
              <a:ext uri="{FF2B5EF4-FFF2-40B4-BE49-F238E27FC236}">
                <a16:creationId xmlns:a16="http://schemas.microsoft.com/office/drawing/2014/main" id="{AD5E7AD6-C123-43B4-B750-530C402943B7}"/>
              </a:ext>
            </a:extLst>
          </p:cNvPr>
          <p:cNvGraphicFramePr>
            <a:graphicFrameLocks noGrp="1"/>
          </p:cNvGraphicFramePr>
          <p:nvPr>
            <p:extLst>
              <p:ext uri="{D42A27DB-BD31-4B8C-83A1-F6EECF244321}">
                <p14:modId xmlns:p14="http://schemas.microsoft.com/office/powerpoint/2010/main" val="1987952534"/>
              </p:ext>
            </p:extLst>
          </p:nvPr>
        </p:nvGraphicFramePr>
        <p:xfrm>
          <a:off x="1334416" y="2241223"/>
          <a:ext cx="4689312" cy="1828800"/>
        </p:xfrm>
        <a:graphic>
          <a:graphicData uri="http://schemas.openxmlformats.org/drawingml/2006/table">
            <a:tbl>
              <a:tblPr firstRow="1" bandRow="1">
                <a:tableStyleId>{5C22544A-7EE6-4342-B048-85BDC9FD1C3A}</a:tableStyleId>
              </a:tblPr>
              <a:tblGrid>
                <a:gridCol w="2096940">
                  <a:extLst>
                    <a:ext uri="{9D8B030D-6E8A-4147-A177-3AD203B41FA5}">
                      <a16:colId xmlns:a16="http://schemas.microsoft.com/office/drawing/2014/main" val="1594881767"/>
                    </a:ext>
                  </a:extLst>
                </a:gridCol>
                <a:gridCol w="2592372">
                  <a:extLst>
                    <a:ext uri="{9D8B030D-6E8A-4147-A177-3AD203B41FA5}">
                      <a16:colId xmlns:a16="http://schemas.microsoft.com/office/drawing/2014/main" val="2328998087"/>
                    </a:ext>
                  </a:extLst>
                </a:gridCol>
              </a:tblGrid>
              <a:tr h="370840">
                <a:tc>
                  <a:txBody>
                    <a:bodyPr/>
                    <a:lstStyle/>
                    <a:p>
                      <a:r>
                        <a:rPr lang="en-GB" sz="2400" dirty="0"/>
                        <a:t>0-2 year s</a:t>
                      </a:r>
                    </a:p>
                  </a:txBody>
                  <a:tcPr/>
                </a:tc>
                <a:tc>
                  <a:txBody>
                    <a:bodyPr/>
                    <a:lstStyle/>
                    <a:p>
                      <a:endParaRPr lang="en-GB" sz="2400" dirty="0"/>
                    </a:p>
                  </a:txBody>
                  <a:tcPr/>
                </a:tc>
                <a:extLst>
                  <a:ext uri="{0D108BD9-81ED-4DB2-BD59-A6C34878D82A}">
                    <a16:rowId xmlns:a16="http://schemas.microsoft.com/office/drawing/2014/main" val="90115489"/>
                  </a:ext>
                </a:extLst>
              </a:tr>
              <a:tr h="370840">
                <a:tc>
                  <a:txBody>
                    <a:bodyPr/>
                    <a:lstStyle/>
                    <a:p>
                      <a:r>
                        <a:rPr lang="en-GB" sz="2400" dirty="0"/>
                        <a:t>3- 8 years</a:t>
                      </a:r>
                    </a:p>
                  </a:txBody>
                  <a:tcPr/>
                </a:tc>
                <a:tc>
                  <a:txBody>
                    <a:bodyPr/>
                    <a:lstStyle/>
                    <a:p>
                      <a:endParaRPr lang="en-GB" sz="2400" dirty="0"/>
                    </a:p>
                  </a:txBody>
                  <a:tcPr/>
                </a:tc>
                <a:extLst>
                  <a:ext uri="{0D108BD9-81ED-4DB2-BD59-A6C34878D82A}">
                    <a16:rowId xmlns:a16="http://schemas.microsoft.com/office/drawing/2014/main" val="2170980834"/>
                  </a:ext>
                </a:extLst>
              </a:tr>
              <a:tr h="370840">
                <a:tc>
                  <a:txBody>
                    <a:bodyPr/>
                    <a:lstStyle/>
                    <a:p>
                      <a:r>
                        <a:rPr lang="en-GB" sz="2400" dirty="0"/>
                        <a:t>9-18 years</a:t>
                      </a:r>
                    </a:p>
                  </a:txBody>
                  <a:tcPr/>
                </a:tc>
                <a:tc>
                  <a:txBody>
                    <a:bodyPr/>
                    <a:lstStyle/>
                    <a:p>
                      <a:endParaRPr lang="en-GB" sz="2400"/>
                    </a:p>
                  </a:txBody>
                  <a:tcPr/>
                </a:tc>
                <a:extLst>
                  <a:ext uri="{0D108BD9-81ED-4DB2-BD59-A6C34878D82A}">
                    <a16:rowId xmlns:a16="http://schemas.microsoft.com/office/drawing/2014/main" val="2901180772"/>
                  </a:ext>
                </a:extLst>
              </a:tr>
              <a:tr h="370840">
                <a:tc>
                  <a:txBody>
                    <a:bodyPr/>
                    <a:lstStyle/>
                    <a:p>
                      <a:r>
                        <a:rPr lang="en-GB" sz="2400" dirty="0"/>
                        <a:t>19-45 years</a:t>
                      </a:r>
                    </a:p>
                  </a:txBody>
                  <a:tcPr/>
                </a:tc>
                <a:tc>
                  <a:txBody>
                    <a:bodyPr/>
                    <a:lstStyle/>
                    <a:p>
                      <a:endParaRPr lang="en-GB" sz="2400" dirty="0"/>
                    </a:p>
                  </a:txBody>
                  <a:tcPr/>
                </a:tc>
                <a:extLst>
                  <a:ext uri="{0D108BD9-81ED-4DB2-BD59-A6C34878D82A}">
                    <a16:rowId xmlns:a16="http://schemas.microsoft.com/office/drawing/2014/main" val="1439601411"/>
                  </a:ext>
                </a:extLst>
              </a:tr>
            </a:tbl>
          </a:graphicData>
        </a:graphic>
      </p:graphicFrame>
    </p:spTree>
    <p:extLst>
      <p:ext uri="{BB962C8B-B14F-4D97-AF65-F5344CB8AC3E}">
        <p14:creationId xmlns:p14="http://schemas.microsoft.com/office/powerpoint/2010/main" val="610113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0FEC-F529-49BF-A3C6-02D46EA60BBD}"/>
              </a:ext>
            </a:extLst>
          </p:cNvPr>
          <p:cNvSpPr>
            <a:spLocks noGrp="1"/>
          </p:cNvSpPr>
          <p:nvPr>
            <p:ph type="title"/>
          </p:nvPr>
        </p:nvSpPr>
        <p:spPr/>
        <p:txBody>
          <a:bodyPr/>
          <a:lstStyle/>
          <a:p>
            <a:r>
              <a:rPr lang="en-GB" dirty="0"/>
              <a:t>3- 5 years- physical development </a:t>
            </a:r>
          </a:p>
        </p:txBody>
      </p:sp>
      <p:sp>
        <p:nvSpPr>
          <p:cNvPr id="3" name="Content Placeholder 2">
            <a:extLst>
              <a:ext uri="{FF2B5EF4-FFF2-40B4-BE49-F238E27FC236}">
                <a16:creationId xmlns:a16="http://schemas.microsoft.com/office/drawing/2014/main" id="{6B706C54-2324-4423-BFB3-96BDC7E0007B}"/>
              </a:ext>
            </a:extLst>
          </p:cNvPr>
          <p:cNvSpPr>
            <a:spLocks noGrp="1"/>
          </p:cNvSpPr>
          <p:nvPr>
            <p:ph idx="1"/>
          </p:nvPr>
        </p:nvSpPr>
        <p:spPr>
          <a:xfrm>
            <a:off x="838200" y="1825625"/>
            <a:ext cx="10515600" cy="3905872"/>
          </a:xfrm>
        </p:spPr>
        <p:txBody>
          <a:bodyPr>
            <a:normAutofit/>
          </a:bodyPr>
          <a:lstStyle/>
          <a:p>
            <a:pPr marL="0" indent="0">
              <a:buNone/>
            </a:pPr>
            <a:r>
              <a:rPr lang="en-GB" sz="2800" dirty="0"/>
              <a:t>Gross motor development: </a:t>
            </a:r>
          </a:p>
          <a:p>
            <a:pPr marL="0" indent="0">
              <a:buNone/>
            </a:pPr>
            <a:r>
              <a:rPr lang="en-GB" sz="2800" dirty="0"/>
              <a:t>● from three to four years can hop on one foot, walk along a line, aim and throw a ball and kick it with force, ride a tricycle using pedals </a:t>
            </a:r>
          </a:p>
          <a:p>
            <a:pPr marL="0" indent="0">
              <a:buNone/>
            </a:pPr>
            <a:endParaRPr lang="en-GB" sz="2800" dirty="0"/>
          </a:p>
          <a:p>
            <a:pPr marL="0" indent="0">
              <a:buNone/>
            </a:pPr>
            <a:r>
              <a:rPr lang="en-GB" sz="2800" dirty="0"/>
              <a:t>● from four to five years can run avoiding obstacles, skip with a rope, throw a large ball to partner and catch it. </a:t>
            </a:r>
          </a:p>
          <a:p>
            <a:pPr marL="0" indent="0">
              <a:buNone/>
            </a:pPr>
            <a:endParaRPr lang="en-GB" dirty="0"/>
          </a:p>
        </p:txBody>
      </p:sp>
    </p:spTree>
    <p:extLst>
      <p:ext uri="{BB962C8B-B14F-4D97-AF65-F5344CB8AC3E}">
        <p14:creationId xmlns:p14="http://schemas.microsoft.com/office/powerpoint/2010/main" val="3338956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F6D7-129D-4934-BDD9-F654FE51236D}"/>
              </a:ext>
            </a:extLst>
          </p:cNvPr>
          <p:cNvSpPr>
            <a:spLocks noGrp="1"/>
          </p:cNvSpPr>
          <p:nvPr>
            <p:ph type="title"/>
          </p:nvPr>
        </p:nvSpPr>
        <p:spPr/>
        <p:txBody>
          <a:bodyPr/>
          <a:lstStyle/>
          <a:p>
            <a:r>
              <a:rPr lang="en-GB" dirty="0"/>
              <a:t>Activity 1</a:t>
            </a:r>
          </a:p>
        </p:txBody>
      </p:sp>
      <p:sp>
        <p:nvSpPr>
          <p:cNvPr id="3" name="Content Placeholder 2">
            <a:extLst>
              <a:ext uri="{FF2B5EF4-FFF2-40B4-BE49-F238E27FC236}">
                <a16:creationId xmlns:a16="http://schemas.microsoft.com/office/drawing/2014/main" id="{414FD58A-AFA4-4BB5-A9C2-14BA5CFC453A}"/>
              </a:ext>
            </a:extLst>
          </p:cNvPr>
          <p:cNvSpPr>
            <a:spLocks noGrp="1"/>
          </p:cNvSpPr>
          <p:nvPr>
            <p:ph idx="1"/>
          </p:nvPr>
        </p:nvSpPr>
        <p:spPr/>
        <p:txBody>
          <a:bodyPr/>
          <a:lstStyle/>
          <a:p>
            <a:r>
              <a:rPr lang="en-GB" sz="2400" dirty="0"/>
              <a:t>Class to hop on one foot- progress to hopscotch</a:t>
            </a:r>
          </a:p>
          <a:p>
            <a:r>
              <a:rPr lang="en-GB" sz="2400" dirty="0"/>
              <a:t>Throwing and catching activities</a:t>
            </a:r>
          </a:p>
          <a:p>
            <a:r>
              <a:rPr lang="en-GB" sz="2400" dirty="0"/>
              <a:t>Skipping </a:t>
            </a:r>
          </a:p>
          <a:p>
            <a:endParaRPr lang="en-GB" dirty="0"/>
          </a:p>
          <a:p>
            <a:endParaRPr lang="en-GB" dirty="0"/>
          </a:p>
          <a:p>
            <a:pPr marL="0" indent="0">
              <a:buNone/>
            </a:pPr>
            <a:r>
              <a:rPr lang="en-GB" dirty="0"/>
              <a:t>Consider balance</a:t>
            </a:r>
          </a:p>
          <a:p>
            <a:pPr marL="0" indent="0">
              <a:buNone/>
            </a:pPr>
            <a:r>
              <a:rPr lang="en-GB" dirty="0"/>
              <a:t>Co ordination</a:t>
            </a:r>
          </a:p>
          <a:p>
            <a:pPr marL="0" indent="0">
              <a:buNone/>
            </a:pPr>
            <a:r>
              <a:rPr lang="en-GB" dirty="0"/>
              <a:t>Control</a:t>
            </a:r>
          </a:p>
          <a:p>
            <a:pPr marL="0" indent="0">
              <a:buNone/>
            </a:pPr>
            <a:endParaRPr lang="en-GB" dirty="0"/>
          </a:p>
          <a:p>
            <a:endParaRPr lang="en-GB" dirty="0"/>
          </a:p>
        </p:txBody>
      </p:sp>
    </p:spTree>
    <p:extLst>
      <p:ext uri="{BB962C8B-B14F-4D97-AF65-F5344CB8AC3E}">
        <p14:creationId xmlns:p14="http://schemas.microsoft.com/office/powerpoint/2010/main" val="3519841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1E369-37A0-4997-B77E-4508AD9FC803}"/>
              </a:ext>
            </a:extLst>
          </p:cNvPr>
          <p:cNvSpPr>
            <a:spLocks noGrp="1"/>
          </p:cNvSpPr>
          <p:nvPr>
            <p:ph type="title"/>
          </p:nvPr>
        </p:nvSpPr>
        <p:spPr/>
        <p:txBody>
          <a:bodyPr/>
          <a:lstStyle/>
          <a:p>
            <a:r>
              <a:rPr lang="en-GB" dirty="0"/>
              <a:t>3- 5 years – fine motor development</a:t>
            </a:r>
          </a:p>
        </p:txBody>
      </p:sp>
      <p:sp>
        <p:nvSpPr>
          <p:cNvPr id="3" name="Content Placeholder 2">
            <a:extLst>
              <a:ext uri="{FF2B5EF4-FFF2-40B4-BE49-F238E27FC236}">
                <a16:creationId xmlns:a16="http://schemas.microsoft.com/office/drawing/2014/main" id="{BF917ACE-983B-4437-AE8C-14CCE5BCDD30}"/>
              </a:ext>
            </a:extLst>
          </p:cNvPr>
          <p:cNvSpPr>
            <a:spLocks noGrp="1"/>
          </p:cNvSpPr>
          <p:nvPr>
            <p:ph idx="1"/>
          </p:nvPr>
        </p:nvSpPr>
        <p:spPr>
          <a:xfrm>
            <a:off x="677334" y="1930401"/>
            <a:ext cx="8596668" cy="4110962"/>
          </a:xfrm>
        </p:spPr>
        <p:txBody>
          <a:bodyPr>
            <a:normAutofit/>
          </a:bodyPr>
          <a:lstStyle/>
          <a:p>
            <a:pPr marL="0" indent="0">
              <a:buNone/>
            </a:pPr>
            <a:r>
              <a:rPr lang="en-GB" sz="2400" dirty="0"/>
              <a:t>● from three to four years can button and unbutton clothes, use scissors to cut out simple shapes, draw a person with head, trunk and legs, eat with a knife and fork, thread beads to make a necklace </a:t>
            </a:r>
          </a:p>
          <a:p>
            <a:endParaRPr lang="en-GB" sz="2400" dirty="0"/>
          </a:p>
          <a:p>
            <a:pPr marL="0" indent="0">
              <a:buNone/>
            </a:pPr>
            <a:r>
              <a:rPr lang="en-GB" sz="2400" dirty="0"/>
              <a:t>● from four to five years can form letters, write own name and colour in pictures</a:t>
            </a:r>
          </a:p>
        </p:txBody>
      </p:sp>
      <p:sp>
        <p:nvSpPr>
          <p:cNvPr id="4" name="Rectangle 3">
            <a:extLst>
              <a:ext uri="{FF2B5EF4-FFF2-40B4-BE49-F238E27FC236}">
                <a16:creationId xmlns:a16="http://schemas.microsoft.com/office/drawing/2014/main" id="{DC65DEFA-6007-487A-89AB-8AF743895FA8}"/>
              </a:ext>
            </a:extLst>
          </p:cNvPr>
          <p:cNvSpPr/>
          <p:nvPr/>
        </p:nvSpPr>
        <p:spPr>
          <a:xfrm>
            <a:off x="1304041" y="2463401"/>
            <a:ext cx="6096000" cy="369332"/>
          </a:xfrm>
          <a:prstGeom prst="rect">
            <a:avLst/>
          </a:prstGeom>
        </p:spPr>
        <p:txBody>
          <a:bodyPr>
            <a:spAutoFit/>
          </a:bodyPr>
          <a:lstStyle/>
          <a:p>
            <a:r>
              <a:rPr lang="en-GB" dirty="0"/>
              <a:t>. </a:t>
            </a:r>
          </a:p>
        </p:txBody>
      </p:sp>
    </p:spTree>
    <p:extLst>
      <p:ext uri="{BB962C8B-B14F-4D97-AF65-F5344CB8AC3E}">
        <p14:creationId xmlns:p14="http://schemas.microsoft.com/office/powerpoint/2010/main" val="197725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F350F-983B-45BE-B737-FE9DB6333033}"/>
              </a:ext>
            </a:extLst>
          </p:cNvPr>
          <p:cNvSpPr>
            <a:spLocks noGrp="1"/>
          </p:cNvSpPr>
          <p:nvPr>
            <p:ph type="title"/>
          </p:nvPr>
        </p:nvSpPr>
        <p:spPr/>
        <p:txBody>
          <a:bodyPr/>
          <a:lstStyle/>
          <a:p>
            <a:r>
              <a:rPr lang="en-GB" dirty="0"/>
              <a:t>Activity 3</a:t>
            </a:r>
          </a:p>
        </p:txBody>
      </p:sp>
      <p:sp>
        <p:nvSpPr>
          <p:cNvPr id="3" name="Content Placeholder 2">
            <a:extLst>
              <a:ext uri="{FF2B5EF4-FFF2-40B4-BE49-F238E27FC236}">
                <a16:creationId xmlns:a16="http://schemas.microsoft.com/office/drawing/2014/main" id="{A191D3A2-ED63-4A03-923D-06922DC87AB4}"/>
              </a:ext>
            </a:extLst>
          </p:cNvPr>
          <p:cNvSpPr>
            <a:spLocks noGrp="1"/>
          </p:cNvSpPr>
          <p:nvPr>
            <p:ph idx="1"/>
          </p:nvPr>
        </p:nvSpPr>
        <p:spPr/>
        <p:txBody>
          <a:bodyPr/>
          <a:lstStyle/>
          <a:p>
            <a:r>
              <a:rPr lang="en-GB" sz="2800" dirty="0"/>
              <a:t>Colouring in activities</a:t>
            </a:r>
          </a:p>
          <a:p>
            <a:r>
              <a:rPr lang="en-GB" sz="2800" dirty="0"/>
              <a:t>Painting </a:t>
            </a:r>
          </a:p>
          <a:p>
            <a:r>
              <a:rPr lang="en-GB" sz="2800" dirty="0"/>
              <a:t>Drawing</a:t>
            </a:r>
          </a:p>
          <a:p>
            <a:r>
              <a:rPr lang="en-GB" sz="2800" dirty="0"/>
              <a:t>handwriting</a:t>
            </a:r>
          </a:p>
        </p:txBody>
      </p:sp>
    </p:spTree>
    <p:extLst>
      <p:ext uri="{BB962C8B-B14F-4D97-AF65-F5344CB8AC3E}">
        <p14:creationId xmlns:p14="http://schemas.microsoft.com/office/powerpoint/2010/main" val="1895075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9A39-ECCC-45E0-9424-3CB31105047E}"/>
              </a:ext>
            </a:extLst>
          </p:cNvPr>
          <p:cNvSpPr>
            <a:spLocks noGrp="1"/>
          </p:cNvSpPr>
          <p:nvPr>
            <p:ph type="title"/>
          </p:nvPr>
        </p:nvSpPr>
        <p:spPr/>
        <p:txBody>
          <a:bodyPr/>
          <a:lstStyle/>
          <a:p>
            <a:r>
              <a:rPr lang="en-GB" dirty="0"/>
              <a:t>3- 6 years- cognitive </a:t>
            </a:r>
          </a:p>
        </p:txBody>
      </p:sp>
      <p:sp>
        <p:nvSpPr>
          <p:cNvPr id="3" name="Content Placeholder 2">
            <a:extLst>
              <a:ext uri="{FF2B5EF4-FFF2-40B4-BE49-F238E27FC236}">
                <a16:creationId xmlns:a16="http://schemas.microsoft.com/office/drawing/2014/main" id="{145B5C57-21B0-41B2-B38D-9BEF525C781D}"/>
              </a:ext>
            </a:extLst>
          </p:cNvPr>
          <p:cNvSpPr>
            <a:spLocks noGrp="1"/>
          </p:cNvSpPr>
          <p:nvPr>
            <p:ph idx="1"/>
          </p:nvPr>
        </p:nvSpPr>
        <p:spPr>
          <a:xfrm>
            <a:off x="677334" y="1786271"/>
            <a:ext cx="8596668" cy="4255092"/>
          </a:xfrm>
        </p:spPr>
        <p:txBody>
          <a:bodyPr>
            <a:normAutofit/>
          </a:bodyPr>
          <a:lstStyle/>
          <a:p>
            <a:pPr marL="0" indent="0">
              <a:buNone/>
            </a:pPr>
            <a:r>
              <a:rPr lang="en-GB" sz="2400" dirty="0"/>
              <a:t>● from three to four years can recognise and name primary colours, understands what is meant by ‘more’, can tell whether an object is heavy or light, arranges objects into categories, makes a connection between people and events </a:t>
            </a:r>
          </a:p>
          <a:p>
            <a:pPr marL="0" indent="0">
              <a:buNone/>
            </a:pPr>
            <a:endParaRPr lang="en-GB" sz="2400" dirty="0"/>
          </a:p>
          <a:p>
            <a:pPr marL="0" indent="0">
              <a:buNone/>
            </a:pPr>
            <a:r>
              <a:rPr lang="en-GB" sz="2400" dirty="0"/>
              <a:t>● from four to five years can count accurately up to 10, can add two sets of objects together, can match equal sets, understands the need for rules, names the time of day associated with activities. </a:t>
            </a:r>
          </a:p>
          <a:p>
            <a:endParaRPr lang="en-GB" dirty="0"/>
          </a:p>
        </p:txBody>
      </p:sp>
    </p:spTree>
    <p:extLst>
      <p:ext uri="{BB962C8B-B14F-4D97-AF65-F5344CB8AC3E}">
        <p14:creationId xmlns:p14="http://schemas.microsoft.com/office/powerpoint/2010/main" val="2874914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CB98C-2EA5-4894-B765-80B3595EC6F3}"/>
              </a:ext>
            </a:extLst>
          </p:cNvPr>
          <p:cNvSpPr>
            <a:spLocks noGrp="1"/>
          </p:cNvSpPr>
          <p:nvPr>
            <p:ph type="title"/>
          </p:nvPr>
        </p:nvSpPr>
        <p:spPr/>
        <p:txBody>
          <a:bodyPr/>
          <a:lstStyle/>
          <a:p>
            <a:r>
              <a:rPr lang="en-GB" dirty="0"/>
              <a:t>Activity 4</a:t>
            </a:r>
          </a:p>
        </p:txBody>
      </p:sp>
      <p:sp>
        <p:nvSpPr>
          <p:cNvPr id="3" name="Content Placeholder 2">
            <a:extLst>
              <a:ext uri="{FF2B5EF4-FFF2-40B4-BE49-F238E27FC236}">
                <a16:creationId xmlns:a16="http://schemas.microsoft.com/office/drawing/2014/main" id="{E4C06086-FCE6-4466-8020-1474FF6C190D}"/>
              </a:ext>
            </a:extLst>
          </p:cNvPr>
          <p:cNvSpPr>
            <a:spLocks noGrp="1"/>
          </p:cNvSpPr>
          <p:nvPr>
            <p:ph idx="1"/>
          </p:nvPr>
        </p:nvSpPr>
        <p:spPr/>
        <p:txBody>
          <a:bodyPr/>
          <a:lstStyle/>
          <a:p>
            <a:r>
              <a:rPr lang="en-GB" sz="3200" dirty="0"/>
              <a:t>Games</a:t>
            </a:r>
          </a:p>
          <a:p>
            <a:r>
              <a:rPr lang="en-GB" sz="3200" dirty="0"/>
              <a:t>Show and tell</a:t>
            </a:r>
          </a:p>
          <a:p>
            <a:r>
              <a:rPr lang="en-GB" sz="3200" dirty="0"/>
              <a:t>Rules- </a:t>
            </a:r>
            <a:r>
              <a:rPr lang="en-GB" sz="3200" dirty="0" err="1"/>
              <a:t>hopskotch</a:t>
            </a:r>
            <a:endParaRPr lang="en-GB" sz="3200" dirty="0"/>
          </a:p>
          <a:p>
            <a:endParaRPr lang="en-GB" dirty="0"/>
          </a:p>
          <a:p>
            <a:endParaRPr lang="en-GB" dirty="0"/>
          </a:p>
        </p:txBody>
      </p:sp>
    </p:spTree>
    <p:extLst>
      <p:ext uri="{BB962C8B-B14F-4D97-AF65-F5344CB8AC3E}">
        <p14:creationId xmlns:p14="http://schemas.microsoft.com/office/powerpoint/2010/main" val="3787011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74334-3347-4A8C-A90E-D480A8F926AF}"/>
              </a:ext>
            </a:extLst>
          </p:cNvPr>
          <p:cNvSpPr>
            <a:spLocks noGrp="1"/>
          </p:cNvSpPr>
          <p:nvPr>
            <p:ph type="title"/>
          </p:nvPr>
        </p:nvSpPr>
        <p:spPr/>
        <p:txBody>
          <a:bodyPr/>
          <a:lstStyle/>
          <a:p>
            <a:r>
              <a:rPr lang="en-GB" dirty="0"/>
              <a:t>3-5 Communication</a:t>
            </a:r>
          </a:p>
        </p:txBody>
      </p:sp>
      <p:sp>
        <p:nvSpPr>
          <p:cNvPr id="3" name="Content Placeholder 2">
            <a:extLst>
              <a:ext uri="{FF2B5EF4-FFF2-40B4-BE49-F238E27FC236}">
                <a16:creationId xmlns:a16="http://schemas.microsoft.com/office/drawing/2014/main" id="{DCA8E97E-225C-40D6-BC49-0984016B30F6}"/>
              </a:ext>
            </a:extLst>
          </p:cNvPr>
          <p:cNvSpPr>
            <a:spLocks noGrp="1"/>
          </p:cNvSpPr>
          <p:nvPr>
            <p:ph idx="1"/>
          </p:nvPr>
        </p:nvSpPr>
        <p:spPr>
          <a:xfrm>
            <a:off x="677334" y="1435395"/>
            <a:ext cx="8596668" cy="4605967"/>
          </a:xfrm>
        </p:spPr>
        <p:txBody>
          <a:bodyPr/>
          <a:lstStyle/>
          <a:p>
            <a:pPr marL="0" indent="0">
              <a:buNone/>
            </a:pPr>
            <a:r>
              <a:rPr lang="en-GB" sz="2400" dirty="0"/>
              <a:t>● from three to four years, speech can be easily understood, although some words may be incorrect, uses questions and by four years language is fluent, with some speech immaturities </a:t>
            </a:r>
          </a:p>
          <a:p>
            <a:pPr marL="0" indent="0">
              <a:buNone/>
            </a:pPr>
            <a:endParaRPr lang="en-GB" sz="2400" dirty="0"/>
          </a:p>
          <a:p>
            <a:pPr marL="0" indent="0">
              <a:buNone/>
            </a:pPr>
            <a:r>
              <a:rPr lang="en-GB" sz="2400" dirty="0"/>
              <a:t>● from four to five years can count accurately up to 10, uses complex sentences with words such as ‘because’, can talk about what has happened and what might happen, uses language to argue and answer back</a:t>
            </a:r>
            <a:r>
              <a:rPr lang="en-GB" dirty="0"/>
              <a:t>.</a:t>
            </a:r>
          </a:p>
          <a:p>
            <a:endParaRPr lang="en-GB" dirty="0"/>
          </a:p>
        </p:txBody>
      </p:sp>
    </p:spTree>
    <p:extLst>
      <p:ext uri="{BB962C8B-B14F-4D97-AF65-F5344CB8AC3E}">
        <p14:creationId xmlns:p14="http://schemas.microsoft.com/office/powerpoint/2010/main" val="1299221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EBD8A-49DF-43F5-8C6F-68389BBDF39E}"/>
              </a:ext>
            </a:extLst>
          </p:cNvPr>
          <p:cNvSpPr>
            <a:spLocks noGrp="1"/>
          </p:cNvSpPr>
          <p:nvPr>
            <p:ph type="title"/>
          </p:nvPr>
        </p:nvSpPr>
        <p:spPr/>
        <p:txBody>
          <a:bodyPr/>
          <a:lstStyle/>
          <a:p>
            <a:r>
              <a:rPr lang="en-GB" dirty="0"/>
              <a:t>5-7 – emotional and social development</a:t>
            </a:r>
          </a:p>
        </p:txBody>
      </p:sp>
      <p:sp>
        <p:nvSpPr>
          <p:cNvPr id="3" name="Content Placeholder 2">
            <a:extLst>
              <a:ext uri="{FF2B5EF4-FFF2-40B4-BE49-F238E27FC236}">
                <a16:creationId xmlns:a16="http://schemas.microsoft.com/office/drawing/2014/main" id="{B865F90D-47BA-45B4-9E4C-0D20DCE92991}"/>
              </a:ext>
            </a:extLst>
          </p:cNvPr>
          <p:cNvSpPr>
            <a:spLocks noGrp="1"/>
          </p:cNvSpPr>
          <p:nvPr>
            <p:ph idx="1"/>
          </p:nvPr>
        </p:nvSpPr>
        <p:spPr>
          <a:xfrm>
            <a:off x="677334" y="1584251"/>
            <a:ext cx="8838806" cy="4457111"/>
          </a:xfrm>
        </p:spPr>
        <p:txBody>
          <a:bodyPr>
            <a:noAutofit/>
          </a:bodyPr>
          <a:lstStyle/>
          <a:p>
            <a:pPr marL="0" indent="0">
              <a:buNone/>
            </a:pPr>
            <a:r>
              <a:rPr lang="en-GB" sz="2400" dirty="0"/>
              <a:t>● from five to six years starts to compare self with others and becomes more aware of the feelings and needs of others </a:t>
            </a:r>
          </a:p>
          <a:p>
            <a:pPr marL="0" indent="0">
              <a:buNone/>
            </a:pPr>
            <a:endParaRPr lang="en-GB" sz="2400" dirty="0"/>
          </a:p>
          <a:p>
            <a:pPr marL="0" indent="0">
              <a:buNone/>
            </a:pPr>
            <a:r>
              <a:rPr lang="en-GB" sz="2400" dirty="0"/>
              <a:t>● confidence in self may be shaken by ‘failure’ </a:t>
            </a:r>
          </a:p>
          <a:p>
            <a:pPr marL="0" indent="0">
              <a:buNone/>
            </a:pPr>
            <a:endParaRPr lang="en-GB" sz="2400" dirty="0"/>
          </a:p>
          <a:p>
            <a:pPr marL="0" indent="0">
              <a:buNone/>
            </a:pPr>
            <a:r>
              <a:rPr lang="en-GB" sz="2400" dirty="0"/>
              <a:t>● from five to seven years has strong friendships, often of the same gender, can understand that others have different viewpoints than them, can read facial expressions of others accurately and recognise what others might be feeling.</a:t>
            </a:r>
          </a:p>
        </p:txBody>
      </p:sp>
    </p:spTree>
    <p:extLst>
      <p:ext uri="{BB962C8B-B14F-4D97-AF65-F5344CB8AC3E}">
        <p14:creationId xmlns:p14="http://schemas.microsoft.com/office/powerpoint/2010/main" val="3869349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499E-2133-44E5-99D0-0062550C39EF}"/>
              </a:ext>
            </a:extLst>
          </p:cNvPr>
          <p:cNvSpPr>
            <a:spLocks noGrp="1"/>
          </p:cNvSpPr>
          <p:nvPr>
            <p:ph type="title"/>
          </p:nvPr>
        </p:nvSpPr>
        <p:spPr>
          <a:xfrm>
            <a:off x="838200" y="365126"/>
            <a:ext cx="10515600" cy="825722"/>
          </a:xfrm>
        </p:spPr>
        <p:txBody>
          <a:bodyPr/>
          <a:lstStyle/>
          <a:p>
            <a:r>
              <a:rPr lang="en-GB" dirty="0"/>
              <a:t>Activity 1</a:t>
            </a:r>
          </a:p>
        </p:txBody>
      </p:sp>
      <p:sp>
        <p:nvSpPr>
          <p:cNvPr id="3" name="Content Placeholder 2">
            <a:extLst>
              <a:ext uri="{FF2B5EF4-FFF2-40B4-BE49-F238E27FC236}">
                <a16:creationId xmlns:a16="http://schemas.microsoft.com/office/drawing/2014/main" id="{D8FEB9A1-42CA-4843-8757-160F579039B9}"/>
              </a:ext>
            </a:extLst>
          </p:cNvPr>
          <p:cNvSpPr>
            <a:spLocks noGrp="1"/>
          </p:cNvSpPr>
          <p:nvPr>
            <p:ph idx="1"/>
          </p:nvPr>
        </p:nvSpPr>
        <p:spPr>
          <a:xfrm>
            <a:off x="838200" y="1190848"/>
            <a:ext cx="10515600" cy="4986115"/>
          </a:xfrm>
        </p:spPr>
        <p:txBody>
          <a:bodyPr>
            <a:normAutofit/>
          </a:bodyPr>
          <a:lstStyle/>
          <a:p>
            <a:r>
              <a:rPr lang="en-GB" sz="2000" dirty="0"/>
              <a:t>Group 1: write down the 6 factors that effect growth and development</a:t>
            </a:r>
          </a:p>
          <a:p>
            <a:endParaRPr lang="en-GB" sz="2000" dirty="0"/>
          </a:p>
          <a:p>
            <a:r>
              <a:rPr lang="en-GB" sz="2000" dirty="0"/>
              <a:t>Group 2: write down as many physical activities as possible to include fine and gross motor skills that a child 3-8 would take part in to meet their expected milestones</a:t>
            </a:r>
          </a:p>
          <a:p>
            <a:endParaRPr lang="en-GB" sz="2000" dirty="0"/>
          </a:p>
          <a:p>
            <a:r>
              <a:rPr lang="en-GB" sz="2000" dirty="0"/>
              <a:t>Group 3: Write down as many activities as possible to encourage a child to communicate</a:t>
            </a:r>
          </a:p>
          <a:p>
            <a:endParaRPr lang="en-GB" sz="2000" dirty="0"/>
          </a:p>
          <a:p>
            <a:r>
              <a:rPr lang="en-GB" sz="2000" dirty="0"/>
              <a:t>Group 4: Write down – what would make a child feel safe</a:t>
            </a:r>
          </a:p>
          <a:p>
            <a:endParaRPr lang="en-GB" sz="2000" dirty="0"/>
          </a:p>
          <a:p>
            <a:r>
              <a:rPr lang="en-GB" sz="2000" dirty="0"/>
              <a:t>Group 5: Write down the activities that would help a child to socialise with other children</a:t>
            </a:r>
          </a:p>
        </p:txBody>
      </p:sp>
    </p:spTree>
    <p:extLst>
      <p:ext uri="{BB962C8B-B14F-4D97-AF65-F5344CB8AC3E}">
        <p14:creationId xmlns:p14="http://schemas.microsoft.com/office/powerpoint/2010/main" val="3525065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E24D1-691C-4187-992B-CD63388D89A0}"/>
              </a:ext>
            </a:extLst>
          </p:cNvPr>
          <p:cNvSpPr>
            <a:spLocks noGrp="1"/>
          </p:cNvSpPr>
          <p:nvPr>
            <p:ph type="title"/>
          </p:nvPr>
        </p:nvSpPr>
        <p:spPr/>
        <p:txBody>
          <a:bodyPr/>
          <a:lstStyle/>
          <a:p>
            <a:r>
              <a:rPr lang="en-GB" dirty="0"/>
              <a:t>Activity 2</a:t>
            </a:r>
          </a:p>
        </p:txBody>
      </p:sp>
      <p:sp>
        <p:nvSpPr>
          <p:cNvPr id="3" name="Content Placeholder 2">
            <a:extLst>
              <a:ext uri="{FF2B5EF4-FFF2-40B4-BE49-F238E27FC236}">
                <a16:creationId xmlns:a16="http://schemas.microsoft.com/office/drawing/2014/main" id="{D230CA13-5766-485E-91FC-1B58955F9BC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7305582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28</TotalTime>
  <Words>655</Words>
  <Application>Microsoft Office PowerPoint</Application>
  <PresentationFormat>Widescreen</PresentationFormat>
  <Paragraphs>73</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Trebuchet MS</vt:lpstr>
      <vt:lpstr>Wingdings 3</vt:lpstr>
      <vt:lpstr>Facet</vt:lpstr>
      <vt:lpstr>Health and social care</vt:lpstr>
      <vt:lpstr>DNA</vt:lpstr>
      <vt:lpstr>3- 5 years- physical development </vt:lpstr>
      <vt:lpstr>Activity 1</vt:lpstr>
      <vt:lpstr>3- 5 years – fine motor development</vt:lpstr>
      <vt:lpstr>Activity 3</vt:lpstr>
      <vt:lpstr>3- 6 years- cognitive </vt:lpstr>
      <vt:lpstr>Activity 4</vt:lpstr>
      <vt:lpstr>3-5 Communication</vt:lpstr>
      <vt:lpstr>5-7 – emotional and social development</vt:lpstr>
      <vt:lpstr>Activity 1</vt:lpstr>
      <vt:lpstr>Activity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and social care</dc:title>
  <dc:creator>N Atkins</dc:creator>
  <cp:lastModifiedBy>N Atkins</cp:lastModifiedBy>
  <cp:revision>4</cp:revision>
  <dcterms:created xsi:type="dcterms:W3CDTF">2019-09-11T11:45:53Z</dcterms:created>
  <dcterms:modified xsi:type="dcterms:W3CDTF">2019-09-11T12:14:26Z</dcterms:modified>
</cp:coreProperties>
</file>