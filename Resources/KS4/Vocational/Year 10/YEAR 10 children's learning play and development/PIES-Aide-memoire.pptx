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801600" cy="9601200" type="A3"/>
  <p:notesSz cx="10018713" cy="14447838"/>
  <p:defaultTextStyle>
    <a:defPPr>
      <a:defRPr lang="en-US"/>
    </a:defPPr>
    <a:lvl1pPr marL="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388" y="68"/>
      </p:cViewPr>
      <p:guideLst>
        <p:guide orient="horz" pos="302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722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722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2D777-3085-42AA-85AC-D03174214CF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8588" y="1084263"/>
            <a:ext cx="7221537" cy="5416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1713" y="6862763"/>
            <a:ext cx="8015287" cy="650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722350"/>
            <a:ext cx="4341813" cy="722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75313" y="13722350"/>
            <a:ext cx="4341812" cy="722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7EC24-9D9D-4058-9B74-FE80D1DF5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24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7EC24-9D9D-4058-9B74-FE80D1DF50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56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982596"/>
            <a:ext cx="10881360" cy="20580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72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287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6169661"/>
            <a:ext cx="10881360" cy="1906905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372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5669" y="3135948"/>
            <a:ext cx="7958772" cy="887222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67800" y="3135948"/>
            <a:ext cx="7958773" cy="887222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66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5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5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35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67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7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01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85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88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994959" y="537845"/>
            <a:ext cx="4031615" cy="114703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5668" y="537845"/>
            <a:ext cx="11885930" cy="114703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81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D1CED-F119-466E-A00B-E02807A7C259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898891"/>
            <a:ext cx="40538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7FB6F-58E4-4A41-A78F-CAC4DEBD63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62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60" rtl="0" eaLnBrk="1" latinLnBrk="0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0" hangingPunct="1">
        <a:spcBef>
          <a:spcPct val="20000"/>
        </a:spcBef>
        <a:buFont typeface="Arial" panose="020B0604020202020204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6644" y="45650"/>
            <a:ext cx="2844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latin typeface="Tw Cen MT" panose="020B0602020104020603" pitchFamily="34" charset="0"/>
              </a:rPr>
              <a:t>P I E 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22758" y="521215"/>
            <a:ext cx="0" cy="219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334793" y="521215"/>
            <a:ext cx="0" cy="219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646828" y="521215"/>
            <a:ext cx="0" cy="219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958862" y="521215"/>
            <a:ext cx="0" cy="2199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06734" y="2928391"/>
            <a:ext cx="1296144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accent6"/>
                </a:solidFill>
                <a:latin typeface="Tw Cen MT" panose="020B0602020104020603" pitchFamily="34" charset="0"/>
              </a:rPr>
              <a:t>What does each letter stand for?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4896" y="192088"/>
            <a:ext cx="2808312" cy="10156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3 Areas of Physical Development</a:t>
            </a:r>
          </a:p>
          <a:p>
            <a:r>
              <a:rPr lang="en-GB" sz="1600" b="1" dirty="0">
                <a:solidFill>
                  <a:srgbClr val="FF0000"/>
                </a:solidFill>
                <a:latin typeface="Tw Cen MT" panose="020B0602020104020603" pitchFamily="34" charset="0"/>
              </a:rPr>
              <a:t>1. </a:t>
            </a:r>
            <a:r>
              <a:rPr lang="en-GB" sz="16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  <a:endParaRPr lang="en-GB" sz="1600" b="1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r>
              <a:rPr lang="en-GB" sz="1600" b="1" dirty="0">
                <a:solidFill>
                  <a:srgbClr val="FF0000"/>
                </a:solidFill>
                <a:latin typeface="Tw Cen MT" panose="020B0602020104020603" pitchFamily="34" charset="0"/>
              </a:rPr>
              <a:t>2. </a:t>
            </a:r>
            <a:r>
              <a:rPr lang="en-GB" sz="16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  <a:endParaRPr lang="en-GB" sz="1600" b="1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r>
              <a:rPr lang="en-GB" sz="1600" b="1" dirty="0">
                <a:solidFill>
                  <a:srgbClr val="FF0000"/>
                </a:solidFill>
                <a:latin typeface="Tw Cen MT" panose="020B0602020104020603" pitchFamily="34" charset="0"/>
              </a:rPr>
              <a:t>3. </a:t>
            </a:r>
            <a:r>
              <a:rPr lang="en-GB" sz="16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  <a:endParaRPr lang="en-GB" sz="1600" b="1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6103" y="48072"/>
            <a:ext cx="5468641" cy="86177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Physical Development is…</a:t>
            </a:r>
          </a:p>
          <a:p>
            <a:pPr algn="ctr"/>
            <a:r>
              <a:rPr lang="en-GB" sz="1200" b="1" u="sng" dirty="0">
                <a:solidFill>
                  <a:srgbClr val="002060"/>
                </a:solidFill>
                <a:latin typeface="Tw Cen MT" panose="020B0602020104020603" pitchFamily="34" charset="0"/>
              </a:rPr>
              <a:t>												</a:t>
            </a:r>
            <a:endParaRPr lang="en-GB" sz="1600" b="1" u="sng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39984" y="1359372"/>
            <a:ext cx="2833223" cy="13234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The 4 main factors that affect </a:t>
            </a:r>
          </a:p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Physical Development</a:t>
            </a:r>
          </a:p>
          <a:p>
            <a:r>
              <a:rPr lang="en-GB" sz="1400" b="1" dirty="0">
                <a:solidFill>
                  <a:srgbClr val="FF0000"/>
                </a:solidFill>
                <a:latin typeface="Tw Cen MT" panose="020B0602020104020603" pitchFamily="34" charset="0"/>
              </a:rPr>
              <a:t>1. </a:t>
            </a:r>
            <a:r>
              <a:rPr lang="en-GB" sz="14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  <a:endParaRPr lang="en-GB" sz="1400" b="1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r>
              <a:rPr lang="en-GB" sz="1400" b="1" dirty="0">
                <a:solidFill>
                  <a:srgbClr val="FF0000"/>
                </a:solidFill>
                <a:latin typeface="Tw Cen MT" panose="020B0602020104020603" pitchFamily="34" charset="0"/>
              </a:rPr>
              <a:t>2. </a:t>
            </a:r>
            <a:r>
              <a:rPr lang="en-GB" sz="14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  <a:endParaRPr lang="en-GB" sz="1400" b="1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r>
              <a:rPr lang="en-GB" sz="1400" b="1" dirty="0">
                <a:solidFill>
                  <a:srgbClr val="FF0000"/>
                </a:solidFill>
                <a:latin typeface="Tw Cen MT" panose="020B0602020104020603" pitchFamily="34" charset="0"/>
              </a:rPr>
              <a:t>3. </a:t>
            </a:r>
            <a:r>
              <a:rPr lang="en-GB" sz="14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</a:p>
          <a:p>
            <a:r>
              <a:rPr lang="en-GB" sz="1400" b="1" dirty="0">
                <a:solidFill>
                  <a:srgbClr val="FF0000"/>
                </a:solidFill>
                <a:latin typeface="Tw Cen MT" panose="020B0602020104020603" pitchFamily="34" charset="0"/>
              </a:rPr>
              <a:t>4. </a:t>
            </a:r>
            <a:r>
              <a:rPr lang="en-GB" sz="14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</a:t>
            </a:r>
            <a:endParaRPr lang="en-GB" sz="1400" b="1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511385" y="7428310"/>
            <a:ext cx="2772308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  <a:latin typeface="Tw Cen MT" panose="020B0602020104020603" pitchFamily="34" charset="0"/>
              </a:rPr>
              <a:t>Fine motors skills are…</a:t>
            </a:r>
          </a:p>
          <a:p>
            <a:pPr algn="ctr"/>
            <a:r>
              <a:rPr lang="en-GB" sz="18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511386" y="4547990"/>
            <a:ext cx="2772308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  <a:latin typeface="Tw Cen MT" panose="020B0602020104020603" pitchFamily="34" charset="0"/>
              </a:rPr>
              <a:t>Gross motors skills are…</a:t>
            </a:r>
          </a:p>
          <a:p>
            <a:pPr algn="ctr"/>
            <a:r>
              <a:rPr lang="en-GB" sz="18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511386" y="1667670"/>
            <a:ext cx="2772308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  <a:latin typeface="Tw Cen MT" panose="020B0602020104020603" pitchFamily="34" charset="0"/>
              </a:rPr>
              <a:t>Sensory skills are…</a:t>
            </a:r>
          </a:p>
          <a:p>
            <a:pPr algn="ctr"/>
            <a:r>
              <a:rPr lang="en-GB" sz="18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125986" y="7382144"/>
            <a:ext cx="2772308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Tw Cen MT" panose="020B0602020104020603" pitchFamily="34" charset="0"/>
              </a:rPr>
              <a:t>Toys or activities to develop fine motor skills…</a:t>
            </a:r>
          </a:p>
          <a:p>
            <a:pPr algn="ctr"/>
            <a:r>
              <a:rPr lang="en-GB" sz="18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1125986" y="4501824"/>
            <a:ext cx="2772308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Tw Cen MT" panose="020B0602020104020603" pitchFamily="34" charset="0"/>
              </a:rPr>
              <a:t>Toys or activities to develop gross motor skills…</a:t>
            </a:r>
          </a:p>
          <a:p>
            <a:pPr algn="ctr"/>
            <a:r>
              <a:rPr lang="en-GB" sz="18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125985" y="1621504"/>
            <a:ext cx="2772308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Tw Cen MT" panose="020B0602020104020603" pitchFamily="34" charset="0"/>
              </a:rPr>
              <a:t>Toys or activities to develop sensory skills…</a:t>
            </a:r>
          </a:p>
          <a:p>
            <a:pPr algn="ctr"/>
            <a:r>
              <a:rPr lang="en-GB" sz="1800" b="1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8433" y="1113151"/>
            <a:ext cx="2186264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What is a milestone?</a:t>
            </a:r>
          </a:p>
          <a:p>
            <a:pPr algn="ctr"/>
            <a:r>
              <a:rPr lang="en-GB" sz="1200" b="1" u="sng" dirty="0">
                <a:solidFill>
                  <a:srgbClr val="002060"/>
                </a:solidFill>
                <a:latin typeface="Tw Cen MT" panose="020B0602020104020603" pitchFamily="34" charset="0"/>
              </a:rPr>
              <a:t>													</a:t>
            </a:r>
            <a:endParaRPr lang="en-GB" sz="1600" b="1" u="sng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7"/>
          <a:stretch/>
        </p:blipFill>
        <p:spPr bwMode="auto">
          <a:xfrm>
            <a:off x="3468433" y="6935870"/>
            <a:ext cx="4372527" cy="1250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3422448" y="8988097"/>
            <a:ext cx="4464496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FF0000"/>
                </a:solidFill>
                <a:latin typeface="Tw Cen MT" panose="020B0602020104020603" pitchFamily="34" charset="0"/>
              </a:rPr>
              <a:t>Identify the 4 grasps above.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2429" y="8350331"/>
            <a:ext cx="1024155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80590" y="8350331"/>
            <a:ext cx="1024155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28751" y="8350331"/>
            <a:ext cx="1024155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76913" y="8350331"/>
            <a:ext cx="1024155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algn="ctr"/>
            <a:endParaRPr lang="en-GB" sz="1200" dirty="0">
              <a:solidFill>
                <a:srgbClr val="FF0000"/>
              </a:solidFill>
              <a:latin typeface="Tw Cen MT" panose="020B06020201040206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93027" y="3900500"/>
            <a:ext cx="5716085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FF0000"/>
                </a:solidFill>
                <a:latin typeface="Tw Cen MT" panose="020B0602020104020603" pitchFamily="34" charset="0"/>
              </a:rPr>
              <a:t>How can a visit to the sea side encourage a child to improve their physical development?</a:t>
            </a:r>
          </a:p>
          <a:p>
            <a:pPr algn="ctr"/>
            <a:r>
              <a:rPr lang="en-GB" sz="1200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																																																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546654"/>
              </p:ext>
            </p:extLst>
          </p:nvPr>
        </p:nvGraphicFramePr>
        <p:xfrm>
          <a:off x="8201000" y="7032848"/>
          <a:ext cx="4464496" cy="241452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123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2060"/>
                          </a:solidFill>
                        </a:rPr>
                        <a:t>Milestone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002060"/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123">
                <a:tc>
                  <a:txBody>
                    <a:bodyPr/>
                    <a:lstStyle/>
                    <a:p>
                      <a:pPr marL="0" marR="0" indent="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dirty="0">
                          <a:solidFill>
                            <a:srgbClr val="002060"/>
                          </a:solidFill>
                        </a:rPr>
                        <a:t>Grabs toys using whole hand palmer grasp.</a:t>
                      </a:r>
                      <a:endParaRPr lang="en-GB" sz="11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100" b="1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123">
                <a:tc>
                  <a:txBody>
                    <a:bodyPr/>
                    <a:lstStyle/>
                    <a:p>
                      <a:pPr marL="0" marR="0" indent="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dirty="0">
                          <a:solidFill>
                            <a:srgbClr val="002060"/>
                          </a:solidFill>
                        </a:rPr>
                        <a:t>Runs avoiding obstacles, walks on tiptoes and can kick a ball.</a:t>
                      </a:r>
                      <a:endParaRPr lang="en-GB" sz="11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100" b="1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123">
                <a:tc>
                  <a:txBody>
                    <a:bodyPr/>
                    <a:lstStyle/>
                    <a:p>
                      <a:r>
                        <a:rPr lang="en-GB" sz="1100" b="1" dirty="0">
                          <a:solidFill>
                            <a:srgbClr val="002060"/>
                          </a:solidFill>
                        </a:rPr>
                        <a:t>Can sit unsupported for short periods of time.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100" b="1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123">
                <a:tc>
                  <a:txBody>
                    <a:bodyPr/>
                    <a:lstStyle/>
                    <a:p>
                      <a:endParaRPr lang="en-GB" sz="1100" b="1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100" b="1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123">
                <a:tc>
                  <a:txBody>
                    <a:bodyPr/>
                    <a:lstStyle/>
                    <a:p>
                      <a:endParaRPr lang="en-GB" sz="1100" b="1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100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278515" y="173897"/>
            <a:ext cx="2242966" cy="36009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Other factors that can affect </a:t>
            </a:r>
          </a:p>
          <a:p>
            <a:pPr algn="ctr"/>
            <a:r>
              <a:rPr lang="en-GB" sz="1200" b="1" dirty="0">
                <a:solidFill>
                  <a:srgbClr val="002060"/>
                </a:solidFill>
                <a:latin typeface="Tw Cen MT" panose="020B0602020104020603" pitchFamily="34" charset="0"/>
              </a:rPr>
              <a:t>Physical Development</a:t>
            </a:r>
          </a:p>
          <a:p>
            <a:pPr algn="ctr"/>
            <a:r>
              <a:rPr lang="en-GB" sz="1200" b="1" u="sng" dirty="0">
                <a:solidFill>
                  <a:srgbClr val="002060"/>
                </a:solidFill>
                <a:latin typeface="Tw Cen MT" panose="020B0602020104020603" pitchFamily="34" charset="0"/>
              </a:rPr>
              <a:t>																	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421" y="4223742"/>
            <a:ext cx="174307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Box 31"/>
          <p:cNvSpPr txBox="1"/>
          <p:nvPr/>
        </p:nvSpPr>
        <p:spPr>
          <a:xfrm rot="16200000">
            <a:off x="8612832" y="4619098"/>
            <a:ext cx="282219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FF0000"/>
                </a:solidFill>
                <a:latin typeface="Tw Cen MT" panose="020B0602020104020603" pitchFamily="34" charset="0"/>
              </a:rPr>
              <a:t>What is the chart below called and what is it used for?</a:t>
            </a:r>
          </a:p>
          <a:p>
            <a:pPr algn="ctr"/>
            <a:r>
              <a:rPr lang="en-GB" sz="1200" u="sng" dirty="0">
                <a:solidFill>
                  <a:srgbClr val="FF0000"/>
                </a:solidFill>
                <a:latin typeface="Tw Cen MT" panose="020B0602020104020603" pitchFamily="34" charset="0"/>
              </a:rPr>
              <a:t>										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2270" y="2991689"/>
            <a:ext cx="2820937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00B050"/>
                </a:solidFill>
                <a:latin typeface="Tw Cen MT" panose="020B0602020104020603" pitchFamily="34" charset="0"/>
              </a:rPr>
              <a:t>Name: </a:t>
            </a:r>
            <a:r>
              <a:rPr lang="en-GB" sz="1600" b="1" u="sng" dirty="0">
                <a:solidFill>
                  <a:srgbClr val="00B050"/>
                </a:solidFill>
                <a:latin typeface="Tw Cen MT" panose="020B0602020104020603" pitchFamily="34" charset="0"/>
              </a:rPr>
              <a:t>		</a:t>
            </a:r>
          </a:p>
          <a:p>
            <a:pPr algn="ctr"/>
            <a:r>
              <a:rPr lang="en-GB" sz="1600" b="1" dirty="0">
                <a:solidFill>
                  <a:srgbClr val="00B050"/>
                </a:solidFill>
                <a:latin typeface="Tw Cen MT" panose="020B0602020104020603" pitchFamily="34" charset="0"/>
              </a:rPr>
              <a:t>Date: </a:t>
            </a:r>
            <a:r>
              <a:rPr lang="en-GB" sz="1600" b="1" u="sng" dirty="0">
                <a:solidFill>
                  <a:srgbClr val="00B050"/>
                </a:solidFill>
                <a:latin typeface="Tw Cen MT" panose="020B0602020104020603" pitchFamily="34" charset="0"/>
              </a:rPr>
              <a:t>		</a:t>
            </a:r>
            <a:endParaRPr lang="en-GB" sz="1600" b="1" dirty="0">
              <a:solidFill>
                <a:srgbClr val="00B050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1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265380"/>
              </p:ext>
            </p:extLst>
          </p:nvPr>
        </p:nvGraphicFramePr>
        <p:xfrm>
          <a:off x="136104" y="1200200"/>
          <a:ext cx="12554325" cy="1683985"/>
        </p:xfrm>
        <a:graphic>
          <a:graphicData uri="http://schemas.openxmlformats.org/drawingml/2006/table">
            <a:tbl>
              <a:tblPr/>
              <a:tblGrid>
                <a:gridCol w="139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94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6797"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STANDING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PRONE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UNZIP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3  MONTH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ARM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UPSTAIRS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ROLL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PALMAR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797"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GRASP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SHUFFLE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HEADS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THREAD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BALANCE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CRAWL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SCISSORS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TRIPOD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 panose="030F0702030302020204" pitchFamily="66" charset="0"/>
                        </a:rPr>
                        <a:t>TOWER</a:t>
                      </a: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797"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ONE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FURNITURE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PINCER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FORK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TWO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HIDDEN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FOURS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WALK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797"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KNIFE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LEG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CIRCLES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SITTING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18  MONTH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SHOES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MOUTHS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TROUSERS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797"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DRESS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DOWNSTAIRS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POINT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FACE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STEPS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FRONT</a:t>
                      </a:r>
                      <a:endParaRPr lang="en-GB" sz="900" kern="140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WOBBLES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300" kern="1400" dirty="0">
                          <a:solidFill>
                            <a:srgbClr val="002060"/>
                          </a:solidFill>
                          <a:effectLst/>
                          <a:latin typeface="Comic Sans MS"/>
                        </a:rPr>
                        <a:t>SUPPORT</a:t>
                      </a: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900" kern="1400" dirty="0">
                        <a:solidFill>
                          <a:srgbClr val="002060"/>
                        </a:solidFill>
                        <a:effectLst/>
                        <a:latin typeface="Times New Roman"/>
                      </a:endParaRPr>
                    </a:p>
                  </a:txBody>
                  <a:tcPr marL="34514" marR="34514" marT="34514" marB="34514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7640" y="7938"/>
            <a:ext cx="9144000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Eras Bold ITC" pitchFamily="34" charset="0"/>
                <a:cs typeface="Arial" pitchFamily="34" charset="0"/>
              </a:rPr>
              <a:t>Child Development  </a:t>
            </a:r>
            <a:r>
              <a:rPr kumimoji="0" lang="en-GB" altLang="en-US" sz="22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Eras Bold ITC" pitchFamily="34" charset="0"/>
                <a:cs typeface="Arial" pitchFamily="34" charset="0"/>
              </a:rPr>
              <a:t>Physical Development Milestones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4718" y="480120"/>
            <a:ext cx="12682786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400" b="1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Milestones in Physical Development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Read through the developmental milestones and fill in the gaps using the words below.  Take your time to read each sentence carefully . Each word can only be used once.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145425" y="3072408"/>
            <a:ext cx="6111359" cy="645678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35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Learning to sit up– Birth to 6 months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New born babies can’t support their own 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3 months a baby can be held in a _ _ _ _ _ _ _ position, but the head     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_ _ _ _ _ _ _ around a bit.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_ _ _ _ _ _ old baby can sit up if supported by a cushion.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9 months the baby doesn’t need any _ _ _ _ _ _ _ to sit up.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35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35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Learning to crawl– 3 to 12 months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3 months a baby can lie on its _ _ _ _ _ and push itself up on its arms. This is known as the ‘_ _ _ _ _ position’.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6 month old baby can push itself up on its arms and _ _ _ _ over.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9 month old can start to _ _ _ _ _, or pull itself around on its front.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12 month old can crawl, _ _ _ _ _ _ _ on its bum and walk on all 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15 months a baby can crawl _ _ _ _ _ _ _ _ forwards and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 _ _ _ _ _ _ _ _ _ _ feet first.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35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35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Learning to stand and walk– 9 months to 3 years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9 month old baby can get on its knees and pull itself into a 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_ _ _ _ _ _ _ _ position.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Between 9 and 12 months the baby can take a few _ _ _ _ _ while hanging onto _ _ _ _ 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12 months a baby can _ _ _ _ with someone holding its hand.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15 month old can walk on its own but holds its arms out for 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_ _ 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18 months it walks without falling over and walks upstairs holding a handrail, _ _ _ feet on each step.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3 year olds can walk up and down stairs, _ _ _ foot to each step.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6425730" y="3072408"/>
            <a:ext cx="6264696" cy="633670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US" sz="1350" u="sng" dirty="0">
                <a:solidFill>
                  <a:srgbClr val="002060"/>
                </a:solidFill>
                <a:latin typeface="Comic Sans MS" pitchFamily="66" charset="0"/>
                <a:cs typeface="Arial" pitchFamily="34" charset="0"/>
              </a:rPr>
              <a:t>F</a:t>
            </a:r>
            <a:r>
              <a:rPr kumimoji="0" lang="en-GB" altLang="en-US" sz="135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ine motor skills for picking things up– Birth to 5 years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birth babies have a _ _ _ _ _ reflex.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3 month old babies play with their hands and put them in their _ 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At 6 months a baby can hold toys using the whole hand– a _ _ _ _ _ _ grasp.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9 month old holds things between thumb and forefingers– a _ _ _ _ _ _ grip.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12 months olds can _ _ _ _ _ at things. They drop and throw things and look for _ _ _ _ _ _ things,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15 month old can hold a crayon in its fist and build a _ _ _ _ _ of 2 bricks.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An _ _ _ _ _ _ _ old can make a tower of 4 0r 5 bricks.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By 2 years old the child can hold a crayon and make lines, _ _ _ _ _ _ _ and dots.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By 2</a:t>
            </a:r>
            <a:r>
              <a:rPr kumimoji="0" lang="en-GB" altLang="en-US" sz="1350" b="0" i="0" u="none" strike="noStrike" cap="none" normalizeH="0" baseline="0" noProof="1">
                <a:ln>
                  <a:noFill/>
                </a:ln>
                <a:solidFill>
                  <a:srgbClr val="002060"/>
                </a:solidFill>
                <a:effectLst/>
                <a:latin typeface="Calibri" pitchFamily="34" charset="0"/>
                <a:cs typeface="Arial" pitchFamily="34" charset="0"/>
              </a:rPr>
              <a:t>½</a:t>
            </a: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 years the child can _ _ _ _ _ _ large beads on a string and use a spoon.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3 year old can make a tower of 9 bricks, draw a _ _ _ _ and use child-safe 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_ _ _ 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4 year old holds a pencil properly (a _ _ _ _ _ _ grip) and can draw a person.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5 year old can use a _ _ _ _ _ and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135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350" b="0" i="0" u="sng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Getting dressed and undressed– 12 months to 5 years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12 month olds stick out an _ _ _ or _ _ _ to help a parent or carer dress them.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An 18 month old can take off its _ _ _ _ _ and socks.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A 2 year old can put on shoes zip/_ _ _ _ _ a zipper.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3 year olds can take off and put on a coat and _ _ _ _ _ _ _ _.</a:t>
            </a:r>
          </a:p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Pts val="1000"/>
              <a:buFont typeface="Symbol" pitchFamily="18" charset="2"/>
              <a:buChar char="·"/>
              <a:tabLst/>
            </a:pPr>
            <a:r>
              <a:rPr kumimoji="0" lang="en-GB" altLang="en-US" sz="135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cs typeface="Arial" pitchFamily="34" charset="0"/>
              </a:rPr>
              <a:t>5 year olds can _ _ _ _ _ and undress with very little help.</a:t>
            </a:r>
            <a:endParaRPr kumimoji="0" lang="en-US" altLang="en-US" sz="135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23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984</Words>
  <Application>Microsoft Office PowerPoint</Application>
  <PresentationFormat>A3 Paper (297x420 mm)</PresentationFormat>
  <Paragraphs>134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Comic Sans MS</vt:lpstr>
      <vt:lpstr>Eras Bold ITC</vt:lpstr>
      <vt:lpstr>Symbol</vt:lpstr>
      <vt:lpstr>Times New Roman</vt:lpstr>
      <vt:lpstr>Tw Cen MT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</dc:creator>
  <cp:lastModifiedBy>N Atkins</cp:lastModifiedBy>
  <cp:revision>11</cp:revision>
  <dcterms:created xsi:type="dcterms:W3CDTF">2015-05-18T20:56:37Z</dcterms:created>
  <dcterms:modified xsi:type="dcterms:W3CDTF">2019-09-23T22:15:41Z</dcterms:modified>
</cp:coreProperties>
</file>