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3" r:id="rId3"/>
    <p:sldId id="262" r:id="rId4"/>
    <p:sldId id="261" r:id="rId5"/>
    <p:sldId id="256" r:id="rId6"/>
    <p:sldId id="258" r:id="rId7"/>
    <p:sldId id="259" r:id="rId8"/>
    <p:sldId id="260" r:id="rId9"/>
    <p:sldId id="266" r:id="rId10"/>
    <p:sldId id="265" r:id="rId11"/>
    <p:sldId id="267" r:id="rId12"/>
    <p:sldId id="268" r:id="rId13"/>
    <p:sldId id="269" r:id="rId14"/>
    <p:sldId id="270" r:id="rId15"/>
    <p:sldId id="30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10" r:id="rId30"/>
    <p:sldId id="284" r:id="rId31"/>
    <p:sldId id="285" r:id="rId32"/>
    <p:sldId id="286" r:id="rId33"/>
    <p:sldId id="311" r:id="rId34"/>
    <p:sldId id="287" r:id="rId35"/>
    <p:sldId id="289" r:id="rId36"/>
    <p:sldId id="290" r:id="rId37"/>
    <p:sldId id="291" r:id="rId38"/>
    <p:sldId id="292" r:id="rId39"/>
    <p:sldId id="293" r:id="rId40"/>
    <p:sldId id="295" r:id="rId41"/>
    <p:sldId id="296" r:id="rId42"/>
    <p:sldId id="297" r:id="rId43"/>
    <p:sldId id="298" r:id="rId44"/>
    <p:sldId id="300" r:id="rId45"/>
    <p:sldId id="301" r:id="rId46"/>
    <p:sldId id="299" r:id="rId47"/>
    <p:sldId id="294" r:id="rId48"/>
    <p:sldId id="302" r:id="rId49"/>
    <p:sldId id="303" r:id="rId50"/>
    <p:sldId id="304" r:id="rId51"/>
    <p:sldId id="305" r:id="rId52"/>
    <p:sldId id="306" r:id="rId53"/>
    <p:sldId id="307" r:id="rId54"/>
    <p:sldId id="30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437" autoAdjust="0"/>
    <p:restoredTop sz="94660"/>
  </p:normalViewPr>
  <p:slideViewPr>
    <p:cSldViewPr snapToGrid="0">
      <p:cViewPr varScale="1">
        <p:scale>
          <a:sx n="68" d="100"/>
          <a:sy n="68" d="100"/>
        </p:scale>
        <p:origin x="1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C5D7B-5E35-45C8-9AAE-FBF5819D4C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A8CC14B-8B9F-4253-AC81-2E209812A6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E5FFD6C-A24A-4FCD-8EBA-1C5D72750EF7}"/>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5" name="Footer Placeholder 4">
            <a:extLst>
              <a:ext uri="{FF2B5EF4-FFF2-40B4-BE49-F238E27FC236}">
                <a16:creationId xmlns:a16="http://schemas.microsoft.com/office/drawing/2014/main" id="{985EC9AD-8B60-4024-AFEF-B044A9677A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140346-DEF6-471F-9F25-B0B3CBA69F14}"/>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3681732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E6D22-64B9-499C-9640-3541F50EDC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F6DAA75-D02D-4FD1-8797-2103AE4ED8F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61F96A-8CA9-4C5B-AEDE-031F2DADD8AC}"/>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5" name="Footer Placeholder 4">
            <a:extLst>
              <a:ext uri="{FF2B5EF4-FFF2-40B4-BE49-F238E27FC236}">
                <a16:creationId xmlns:a16="http://schemas.microsoft.com/office/drawing/2014/main" id="{F541A8A9-3B5A-4B3D-B3F8-BD6F8B1927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8ED95D-2B5A-4977-AFEC-B30194D397A9}"/>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3666675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7434E-0B42-436A-BF6F-85EFE7BA10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CA4D5E3-1123-4EE4-857B-083E547D8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8A7CF26-B2A4-4866-B626-798BEABC4CAB}"/>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5" name="Footer Placeholder 4">
            <a:extLst>
              <a:ext uri="{FF2B5EF4-FFF2-40B4-BE49-F238E27FC236}">
                <a16:creationId xmlns:a16="http://schemas.microsoft.com/office/drawing/2014/main" id="{E8E7DF4D-BDC9-4D63-8BDC-FE6DD7CC33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E4E6B7-5C79-4A96-A604-D41F6FE616D1}"/>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419260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237F-9729-43EA-9DF5-D2849ED5F41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F91D2C0-D292-4C7B-AC02-258EF068BE4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FE62E5C-BF39-4434-9331-EEC9653ADFA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9180B01-6CCB-42F5-A9A3-90A63BD68C23}"/>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6" name="Footer Placeholder 5">
            <a:extLst>
              <a:ext uri="{FF2B5EF4-FFF2-40B4-BE49-F238E27FC236}">
                <a16:creationId xmlns:a16="http://schemas.microsoft.com/office/drawing/2014/main" id="{DBF7CFEE-79DA-4703-B2D6-CA969C314A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AD0B92D-6B33-4939-AEB5-4B054817952C}"/>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306735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4F7CA-694D-4A40-B56E-9E49A1017F6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06C05B-C711-47B0-802B-70833D407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BB17E2-7320-411C-A82F-C8C77F70F7D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19507FD-47CA-443A-B3A9-EC1570B25D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4AC61D5-DB24-48C7-9B4E-43D0C132EC8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004717-EA87-4F66-B829-A90DB96AD51E}"/>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8" name="Footer Placeholder 7">
            <a:extLst>
              <a:ext uri="{FF2B5EF4-FFF2-40B4-BE49-F238E27FC236}">
                <a16:creationId xmlns:a16="http://schemas.microsoft.com/office/drawing/2014/main" id="{1FF82950-8F81-4817-B134-49ABEF7282B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68AEA9-DA07-4CE4-880C-BA54BA092054}"/>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1432662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AA5F-88E8-4AC5-BC83-02AF80CA30A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E61760-0AD4-4A0A-93E1-03587AE00FBB}"/>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4" name="Footer Placeholder 3">
            <a:extLst>
              <a:ext uri="{FF2B5EF4-FFF2-40B4-BE49-F238E27FC236}">
                <a16:creationId xmlns:a16="http://schemas.microsoft.com/office/drawing/2014/main" id="{69EACBE0-8706-4FF5-B651-8639414BAE7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B003C75-6D90-4E4B-A2EF-051B11AEA59F}"/>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1036010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C391E-02C3-4E3B-91EA-4BB2DD70D1D3}"/>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3" name="Footer Placeholder 2">
            <a:extLst>
              <a:ext uri="{FF2B5EF4-FFF2-40B4-BE49-F238E27FC236}">
                <a16:creationId xmlns:a16="http://schemas.microsoft.com/office/drawing/2014/main" id="{E3E96EDF-116B-4B6E-80DC-6CCE7F22465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A16CAA0-8A3D-4B52-9151-79480DECBCDB}"/>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817285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C42D5-DCCD-4654-9EC5-807F618C7D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9A76D80-49E7-42A6-BF0A-680A454C40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3851AA-3311-4571-8295-D3E17A2986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1063E20-0353-47F7-9063-667B68EC0194}"/>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6" name="Footer Placeholder 5">
            <a:extLst>
              <a:ext uri="{FF2B5EF4-FFF2-40B4-BE49-F238E27FC236}">
                <a16:creationId xmlns:a16="http://schemas.microsoft.com/office/drawing/2014/main" id="{0E838362-6E22-49BA-8FC8-715CF7E328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BD777B-7373-4046-8F45-403CB67B8779}"/>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401426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D574-3D0B-4EDC-85F4-E09A17A548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496CE96-DD5A-4131-BEC8-C2F526EF28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C69E847-84E5-4AC4-86E8-E2F5B073FE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95C508-6EB9-4BD6-8228-692E324CE829}"/>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6" name="Footer Placeholder 5">
            <a:extLst>
              <a:ext uri="{FF2B5EF4-FFF2-40B4-BE49-F238E27FC236}">
                <a16:creationId xmlns:a16="http://schemas.microsoft.com/office/drawing/2014/main" id="{FEBC3778-2624-481D-90BB-31E2AD95B2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80AB3E7-A1B9-4F90-951A-F15A3CB4EAC5}"/>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268022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71A2-407C-4B6F-AFCD-5A48B093994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7D00974-D46E-47AC-AC65-4F000CB7839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DD225A-D723-4B65-8CBF-B265281DCC82}"/>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5" name="Footer Placeholder 4">
            <a:extLst>
              <a:ext uri="{FF2B5EF4-FFF2-40B4-BE49-F238E27FC236}">
                <a16:creationId xmlns:a16="http://schemas.microsoft.com/office/drawing/2014/main" id="{463D37A8-5F85-40F6-9CF8-C79D3DAD51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BBFD20-A235-48D4-9EB0-F871493987F0}"/>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1942392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2F9205-F978-4628-AE4F-5939CB5BD0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41FF26A-98B4-4B4B-B34B-B7584697DF8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2FEED3-E5DB-4DBD-A416-5C6D1883715B}"/>
              </a:ext>
            </a:extLst>
          </p:cNvPr>
          <p:cNvSpPr>
            <a:spLocks noGrp="1"/>
          </p:cNvSpPr>
          <p:nvPr>
            <p:ph type="dt" sz="half" idx="10"/>
          </p:nvPr>
        </p:nvSpPr>
        <p:spPr/>
        <p:txBody>
          <a:bodyPr/>
          <a:lstStyle/>
          <a:p>
            <a:fld id="{7D73FA04-0FAF-4BD5-8305-22D0BCFBE957}" type="datetimeFigureOut">
              <a:rPr lang="en-GB" smtClean="0"/>
              <a:t>15/03/2020</a:t>
            </a:fld>
            <a:endParaRPr lang="en-GB"/>
          </a:p>
        </p:txBody>
      </p:sp>
      <p:sp>
        <p:nvSpPr>
          <p:cNvPr id="5" name="Footer Placeholder 4">
            <a:extLst>
              <a:ext uri="{FF2B5EF4-FFF2-40B4-BE49-F238E27FC236}">
                <a16:creationId xmlns:a16="http://schemas.microsoft.com/office/drawing/2014/main" id="{4BD6FD65-7815-459F-870D-7215B02F89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E2D90E-F3C5-48A9-9643-B01921B7979B}"/>
              </a:ext>
            </a:extLst>
          </p:cNvPr>
          <p:cNvSpPr>
            <a:spLocks noGrp="1"/>
          </p:cNvSpPr>
          <p:nvPr>
            <p:ph type="sldNum" sz="quarter" idx="12"/>
          </p:nvPr>
        </p:nvSpPr>
        <p:spPr/>
        <p:txBody>
          <a:bodyPr/>
          <a:lstStyle/>
          <a:p>
            <a:fld id="{D76B50C1-ABB7-4EAF-80AD-96194E0852BC}" type="slidenum">
              <a:rPr lang="en-GB" smtClean="0"/>
              <a:t>‹#›</a:t>
            </a:fld>
            <a:endParaRPr lang="en-GB"/>
          </a:p>
        </p:txBody>
      </p:sp>
    </p:spTree>
    <p:extLst>
      <p:ext uri="{BB962C8B-B14F-4D97-AF65-F5344CB8AC3E}">
        <p14:creationId xmlns:p14="http://schemas.microsoft.com/office/powerpoint/2010/main" val="2458156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3B3A66-A84A-45A4-A20D-4703EE7E64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8014E6-307F-48C9-9EEF-8893927B22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3C22AE-85E1-4B7D-B1AC-5DACB652E0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73FA04-0FAF-4BD5-8305-22D0BCFBE957}" type="datetimeFigureOut">
              <a:rPr lang="en-GB" smtClean="0"/>
              <a:t>15/03/2020</a:t>
            </a:fld>
            <a:endParaRPr lang="en-GB"/>
          </a:p>
        </p:txBody>
      </p:sp>
      <p:sp>
        <p:nvSpPr>
          <p:cNvPr id="5" name="Footer Placeholder 4">
            <a:extLst>
              <a:ext uri="{FF2B5EF4-FFF2-40B4-BE49-F238E27FC236}">
                <a16:creationId xmlns:a16="http://schemas.microsoft.com/office/drawing/2014/main" id="{67C0C094-8A36-4EF7-89A0-8719868B58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4536768-8B00-48F7-B362-A0C85A6911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6B50C1-ABB7-4EAF-80AD-96194E0852BC}" type="slidenum">
              <a:rPr lang="en-GB" smtClean="0"/>
              <a:t>‹#›</a:t>
            </a:fld>
            <a:endParaRPr lang="en-GB"/>
          </a:p>
        </p:txBody>
      </p:sp>
    </p:spTree>
    <p:extLst>
      <p:ext uri="{BB962C8B-B14F-4D97-AF65-F5344CB8AC3E}">
        <p14:creationId xmlns:p14="http://schemas.microsoft.com/office/powerpoint/2010/main" val="800628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2"/>
            <a:ext cx="9144000" cy="2133599"/>
          </a:xfrm>
        </p:spPr>
        <p:txBody>
          <a:bodyPr>
            <a:normAutofit fontScale="90000"/>
          </a:bodyPr>
          <a:lstStyle/>
          <a:p>
            <a:r>
              <a:rPr lang="en-GB" sz="8000" b="1" dirty="0"/>
              <a:t>Fine motor skills</a:t>
            </a:r>
            <a:br>
              <a:rPr lang="en-GB" sz="8000" b="1" dirty="0"/>
            </a:br>
            <a:r>
              <a:rPr lang="en-GB" sz="8000" b="1" dirty="0"/>
              <a:t>Birth</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p:txBody>
          <a:bodyPr>
            <a:normAutofit fontScale="85000" lnSpcReduction="10000"/>
          </a:bodyPr>
          <a:lstStyle/>
          <a:p>
            <a:r>
              <a:rPr lang="en-GB" sz="5400" dirty="0"/>
              <a:t>Question:</a:t>
            </a:r>
          </a:p>
          <a:p>
            <a:r>
              <a:rPr lang="en-GB" sz="5400" dirty="0"/>
              <a:t>Give 2 examples of fine motor skills.</a:t>
            </a:r>
          </a:p>
        </p:txBody>
      </p:sp>
    </p:spTree>
    <p:extLst>
      <p:ext uri="{BB962C8B-B14F-4D97-AF65-F5344CB8AC3E}">
        <p14:creationId xmlns:p14="http://schemas.microsoft.com/office/powerpoint/2010/main" val="2634172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622742"/>
            <a:ext cx="9144000" cy="1347460"/>
          </a:xfrm>
        </p:spPr>
        <p:txBody>
          <a:bodyPr>
            <a:normAutofit/>
          </a:bodyPr>
          <a:lstStyle/>
          <a:p>
            <a:r>
              <a:rPr lang="en-GB" sz="8000" b="1" dirty="0"/>
              <a:t>3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102177"/>
            <a:ext cx="9144000" cy="3155623"/>
          </a:xfrm>
        </p:spPr>
        <p:txBody>
          <a:bodyPr>
            <a:normAutofit fontScale="70000" lnSpcReduction="20000"/>
          </a:bodyPr>
          <a:lstStyle/>
          <a:p>
            <a:r>
              <a:rPr lang="en-GB" sz="5400" dirty="0"/>
              <a:t>Watch their hands</a:t>
            </a:r>
          </a:p>
          <a:p>
            <a:r>
              <a:rPr lang="en-GB" sz="5400" dirty="0"/>
              <a:t>Hold a rattle</a:t>
            </a:r>
          </a:p>
          <a:p>
            <a:endParaRPr lang="en-GB" sz="5400" dirty="0"/>
          </a:p>
          <a:p>
            <a:r>
              <a:rPr lang="en-GB" sz="5400" dirty="0"/>
              <a:t>Question: </a:t>
            </a:r>
          </a:p>
          <a:p>
            <a:r>
              <a:rPr lang="en-GB" sz="5400" dirty="0"/>
              <a:t>Describe an activity that an adult could give to support this development </a:t>
            </a:r>
          </a:p>
        </p:txBody>
      </p:sp>
    </p:spTree>
    <p:extLst>
      <p:ext uri="{BB962C8B-B14F-4D97-AF65-F5344CB8AC3E}">
        <p14:creationId xmlns:p14="http://schemas.microsoft.com/office/powerpoint/2010/main" val="408161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6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970961" y="2601118"/>
            <a:ext cx="10605154" cy="3234073"/>
          </a:xfrm>
        </p:spPr>
        <p:txBody>
          <a:bodyPr>
            <a:normAutofit fontScale="47500" lnSpcReduction="20000"/>
          </a:bodyPr>
          <a:lstStyle/>
          <a:p>
            <a:r>
              <a:rPr lang="en-GB" sz="5400" dirty="0"/>
              <a:t>Reach for a toy</a:t>
            </a:r>
          </a:p>
          <a:p>
            <a:r>
              <a:rPr lang="en-GB" sz="5400" dirty="0"/>
              <a:t>Move from one hand to the other</a:t>
            </a:r>
          </a:p>
          <a:p>
            <a:endParaRPr lang="en-GB" sz="5400" dirty="0"/>
          </a:p>
          <a:p>
            <a:r>
              <a:rPr lang="en-GB" sz="5400" dirty="0"/>
              <a:t>Question:</a:t>
            </a:r>
          </a:p>
          <a:p>
            <a:r>
              <a:rPr lang="en-GB" sz="5400" dirty="0"/>
              <a:t> Name 1 activity that am adult could do to encourage the child to move an object from one hand to another?</a:t>
            </a:r>
          </a:p>
          <a:p>
            <a:r>
              <a:rPr lang="en-GB" sz="5400" dirty="0"/>
              <a:t>What grasp would the child use?</a:t>
            </a:r>
          </a:p>
          <a:p>
            <a:r>
              <a:rPr lang="en-GB" sz="5400" dirty="0"/>
              <a:t>What safety aspects should the adult consider?</a:t>
            </a:r>
          </a:p>
          <a:p>
            <a:endParaRPr lang="en-GB" sz="5400" dirty="0"/>
          </a:p>
          <a:p>
            <a:endParaRPr lang="en-GB" sz="5400" dirty="0"/>
          </a:p>
          <a:p>
            <a:endParaRPr lang="en-GB" sz="5400" dirty="0"/>
          </a:p>
        </p:txBody>
      </p:sp>
    </p:spTree>
    <p:extLst>
      <p:ext uri="{BB962C8B-B14F-4D97-AF65-F5344CB8AC3E}">
        <p14:creationId xmlns:p14="http://schemas.microsoft.com/office/powerpoint/2010/main" val="3806748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9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469823"/>
            <a:ext cx="9144000" cy="3789575"/>
          </a:xfrm>
        </p:spPr>
        <p:txBody>
          <a:bodyPr>
            <a:normAutofit fontScale="70000" lnSpcReduction="20000"/>
          </a:bodyPr>
          <a:lstStyle/>
          <a:p>
            <a:r>
              <a:rPr lang="en-GB" sz="5400" dirty="0"/>
              <a:t>Use the pincer grasp (2 fingers)</a:t>
            </a:r>
          </a:p>
          <a:p>
            <a:r>
              <a:rPr lang="en-GB" sz="5400" dirty="0"/>
              <a:t>Pick up small objects</a:t>
            </a:r>
          </a:p>
          <a:p>
            <a:r>
              <a:rPr lang="en-GB" sz="5400" dirty="0"/>
              <a:t>Point with index finger</a:t>
            </a:r>
          </a:p>
          <a:p>
            <a:endParaRPr lang="en-GB" sz="5400" dirty="0"/>
          </a:p>
          <a:p>
            <a:r>
              <a:rPr lang="en-GB" sz="5400" dirty="0"/>
              <a:t>Question: </a:t>
            </a:r>
          </a:p>
          <a:p>
            <a:r>
              <a:rPr lang="en-GB" sz="5400" dirty="0"/>
              <a:t>What activity would promote this aspect of development?</a:t>
            </a:r>
          </a:p>
        </p:txBody>
      </p:sp>
    </p:spTree>
    <p:extLst>
      <p:ext uri="{BB962C8B-B14F-4D97-AF65-F5344CB8AC3E}">
        <p14:creationId xmlns:p14="http://schemas.microsoft.com/office/powerpoint/2010/main" val="2917785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15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p:txBody>
          <a:bodyPr>
            <a:normAutofit/>
          </a:bodyPr>
          <a:lstStyle/>
          <a:p>
            <a:r>
              <a:rPr lang="en-GB" sz="5400" dirty="0"/>
              <a:t>Pincer grasp is precise and now starting to use a palmar grasp</a:t>
            </a:r>
          </a:p>
        </p:txBody>
      </p:sp>
    </p:spTree>
    <p:extLst>
      <p:ext uri="{BB962C8B-B14F-4D97-AF65-F5344CB8AC3E}">
        <p14:creationId xmlns:p14="http://schemas.microsoft.com/office/powerpoint/2010/main" val="1292180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420305" y="669877"/>
            <a:ext cx="9144000" cy="1347460"/>
          </a:xfrm>
        </p:spPr>
        <p:txBody>
          <a:bodyPr>
            <a:normAutofit/>
          </a:bodyPr>
          <a:lstStyle/>
          <a:p>
            <a:r>
              <a:rPr lang="en-GB" sz="8000" b="1" dirty="0"/>
              <a:t>18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469823"/>
            <a:ext cx="9144000" cy="4147793"/>
          </a:xfrm>
        </p:spPr>
        <p:txBody>
          <a:bodyPr>
            <a:normAutofit fontScale="47500" lnSpcReduction="20000"/>
          </a:bodyPr>
          <a:lstStyle/>
          <a:p>
            <a:pPr marL="685800" indent="-685800" algn="l">
              <a:buFont typeface="Arial" panose="020B0604020202020204" pitchFamily="34" charset="0"/>
              <a:buChar char="•"/>
            </a:pPr>
            <a:r>
              <a:rPr lang="en-GB" sz="5400" dirty="0"/>
              <a:t>At eighteen months can build a tower of three bricks</a:t>
            </a:r>
          </a:p>
          <a:p>
            <a:pPr marL="685800" indent="-685800" algn="l">
              <a:buFont typeface="Arial" panose="020B0604020202020204" pitchFamily="34" charset="0"/>
              <a:buChar char="•"/>
            </a:pPr>
            <a:endParaRPr lang="en-GB" sz="5400" dirty="0"/>
          </a:p>
          <a:p>
            <a:pPr algn="l"/>
            <a:r>
              <a:rPr lang="en-GB" sz="5400" dirty="0"/>
              <a:t>Question: </a:t>
            </a:r>
          </a:p>
          <a:p>
            <a:pPr algn="l"/>
            <a:r>
              <a:rPr lang="en-GB" sz="5400" dirty="0"/>
              <a:t>Describe an activity that the adult could use to encourage the child to build a tower?</a:t>
            </a:r>
          </a:p>
          <a:p>
            <a:pPr algn="l"/>
            <a:r>
              <a:rPr lang="en-GB" sz="5400" dirty="0"/>
              <a:t>What type of bricks do you think would be most appropriate? </a:t>
            </a:r>
          </a:p>
          <a:p>
            <a:pPr algn="l"/>
            <a:r>
              <a:rPr lang="en-GB" sz="5400" dirty="0"/>
              <a:t>What could the adult do to encourage the child emotionally to build a tower?</a:t>
            </a:r>
          </a:p>
          <a:p>
            <a:pPr algn="l"/>
            <a:r>
              <a:rPr lang="en-GB" sz="5400" dirty="0"/>
              <a:t>If the adult wanted to stretch and challenge the child, what could they add to develop this activity to promote cognitive development?</a:t>
            </a:r>
          </a:p>
        </p:txBody>
      </p:sp>
    </p:spTree>
    <p:extLst>
      <p:ext uri="{BB962C8B-B14F-4D97-AF65-F5344CB8AC3E}">
        <p14:creationId xmlns:p14="http://schemas.microsoft.com/office/powerpoint/2010/main" val="229276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 2 years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677212"/>
            <a:ext cx="9144000" cy="3940404"/>
          </a:xfrm>
        </p:spPr>
        <p:txBody>
          <a:bodyPr>
            <a:normAutofit fontScale="85000" lnSpcReduction="10000"/>
          </a:bodyPr>
          <a:lstStyle/>
          <a:p>
            <a:pPr marL="685800" indent="-685800" algn="l">
              <a:buFont typeface="Arial" panose="020B0604020202020204" pitchFamily="34" charset="0"/>
              <a:buChar char="•"/>
            </a:pPr>
            <a:r>
              <a:rPr lang="en-GB" sz="5400" dirty="0"/>
              <a:t>Put on shoes- Velcro</a:t>
            </a:r>
          </a:p>
          <a:p>
            <a:pPr marL="685800" indent="-685800" algn="l">
              <a:buFont typeface="Arial" panose="020B0604020202020204" pitchFamily="34" charset="0"/>
              <a:buChar char="•"/>
            </a:pPr>
            <a:endParaRPr lang="en-GB" sz="5400" dirty="0"/>
          </a:p>
          <a:p>
            <a:pPr algn="l"/>
            <a:r>
              <a:rPr lang="en-GB" sz="5400" dirty="0"/>
              <a:t>Question: </a:t>
            </a:r>
          </a:p>
          <a:p>
            <a:pPr algn="l"/>
            <a:r>
              <a:rPr lang="en-GB" sz="5400" dirty="0"/>
              <a:t>Why would a dressing up corner activity be good for a child learning to put on their own shoes?</a:t>
            </a:r>
          </a:p>
        </p:txBody>
      </p:sp>
    </p:spTree>
    <p:extLst>
      <p:ext uri="{BB962C8B-B14F-4D97-AF65-F5344CB8AC3E}">
        <p14:creationId xmlns:p14="http://schemas.microsoft.com/office/powerpoint/2010/main" val="4163417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 2 1/ 2  years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677212"/>
            <a:ext cx="9144000" cy="3940404"/>
          </a:xfrm>
        </p:spPr>
        <p:txBody>
          <a:bodyPr>
            <a:normAutofit fontScale="77500" lnSpcReduction="20000"/>
          </a:bodyPr>
          <a:lstStyle/>
          <a:p>
            <a:pPr marL="685800" indent="-685800" algn="l">
              <a:buFont typeface="Arial" panose="020B0604020202020204" pitchFamily="34" charset="0"/>
              <a:buChar char="•"/>
            </a:pPr>
            <a:r>
              <a:rPr lang="en-GB" sz="5400" dirty="0"/>
              <a:t>Developing a ‘tripod grasp’</a:t>
            </a:r>
          </a:p>
          <a:p>
            <a:pPr algn="l"/>
            <a:r>
              <a:rPr lang="en-GB" sz="5400" dirty="0"/>
              <a:t>Question: </a:t>
            </a:r>
          </a:p>
          <a:p>
            <a:pPr marL="685800" indent="-685800" algn="l">
              <a:buFont typeface="Arial" panose="020B0604020202020204" pitchFamily="34" charset="0"/>
              <a:buChar char="•"/>
            </a:pPr>
            <a:r>
              <a:rPr lang="en-GB" sz="5400" dirty="0"/>
              <a:t>What is a tripod </a:t>
            </a:r>
            <a:r>
              <a:rPr lang="en-GB" sz="5400" dirty="0" err="1"/>
              <a:t>graps</a:t>
            </a:r>
            <a:r>
              <a:rPr lang="en-GB" sz="5400" dirty="0"/>
              <a:t>?</a:t>
            </a:r>
          </a:p>
          <a:p>
            <a:pPr marL="685800" indent="-685800" algn="l">
              <a:buFont typeface="Arial" panose="020B0604020202020204" pitchFamily="34" charset="0"/>
              <a:buChar char="•"/>
            </a:pPr>
            <a:r>
              <a:rPr lang="en-GB" sz="5400" dirty="0"/>
              <a:t>What activity would help to develop this grasp?</a:t>
            </a:r>
          </a:p>
          <a:p>
            <a:pPr marL="685800" indent="-685800" algn="l">
              <a:buFont typeface="Arial" panose="020B0604020202020204" pitchFamily="34" charset="0"/>
              <a:buChar char="•"/>
            </a:pPr>
            <a:r>
              <a:rPr lang="en-GB" sz="5400" dirty="0"/>
              <a:t>Why is it important for a child to learn this grasp?</a:t>
            </a:r>
          </a:p>
          <a:p>
            <a:pPr algn="l"/>
            <a:endParaRPr lang="en-GB" sz="5400" dirty="0"/>
          </a:p>
        </p:txBody>
      </p:sp>
    </p:spTree>
    <p:extLst>
      <p:ext uri="{BB962C8B-B14F-4D97-AF65-F5344CB8AC3E}">
        <p14:creationId xmlns:p14="http://schemas.microsoft.com/office/powerpoint/2010/main" val="774245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 3  years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677212"/>
            <a:ext cx="9144000" cy="3940404"/>
          </a:xfrm>
        </p:spPr>
        <p:txBody>
          <a:bodyPr>
            <a:normAutofit lnSpcReduction="10000"/>
          </a:bodyPr>
          <a:lstStyle/>
          <a:p>
            <a:pPr marL="685800" indent="-685800" algn="l">
              <a:buFont typeface="Arial" panose="020B0604020202020204" pitchFamily="34" charset="0"/>
              <a:buChar char="•"/>
            </a:pPr>
            <a:r>
              <a:rPr lang="en-GB" sz="5400" dirty="0"/>
              <a:t>Hand preference secured</a:t>
            </a:r>
          </a:p>
          <a:p>
            <a:pPr marL="685800" indent="-685800" algn="l">
              <a:buFont typeface="Arial" panose="020B0604020202020204" pitchFamily="34" charset="0"/>
              <a:buChar char="•"/>
            </a:pPr>
            <a:endParaRPr lang="en-GB" sz="5400" dirty="0"/>
          </a:p>
          <a:p>
            <a:pPr algn="l"/>
            <a:r>
              <a:rPr lang="en-GB" sz="5400" dirty="0"/>
              <a:t>Question:</a:t>
            </a:r>
          </a:p>
          <a:p>
            <a:pPr marL="685800" indent="-685800" algn="l">
              <a:buFont typeface="Arial" panose="020B0604020202020204" pitchFamily="34" charset="0"/>
              <a:buChar char="•"/>
            </a:pPr>
            <a:r>
              <a:rPr lang="en-GB" sz="5400" dirty="0"/>
              <a:t>What do I mean by hand preference?</a:t>
            </a:r>
          </a:p>
        </p:txBody>
      </p:sp>
    </p:spTree>
    <p:extLst>
      <p:ext uri="{BB962C8B-B14F-4D97-AF65-F5344CB8AC3E}">
        <p14:creationId xmlns:p14="http://schemas.microsoft.com/office/powerpoint/2010/main" val="1634354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396499"/>
            <a:ext cx="9144000" cy="1347460"/>
          </a:xfrm>
        </p:spPr>
        <p:txBody>
          <a:bodyPr>
            <a:normAutofit/>
          </a:bodyPr>
          <a:lstStyle/>
          <a:p>
            <a:r>
              <a:rPr lang="en-GB" sz="8000" b="1" dirty="0"/>
              <a:t>3-4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89988" y="1743959"/>
            <a:ext cx="9144000" cy="3940404"/>
          </a:xfrm>
        </p:spPr>
        <p:txBody>
          <a:bodyPr>
            <a:normAutofit fontScale="47500" lnSpcReduction="20000"/>
          </a:bodyPr>
          <a:lstStyle/>
          <a:p>
            <a:pPr marL="685800" indent="-685800" algn="l">
              <a:buFont typeface="Arial" panose="020B0604020202020204" pitchFamily="34" charset="0"/>
              <a:buChar char="•"/>
            </a:pPr>
            <a:r>
              <a:rPr lang="en-GB" sz="5400" dirty="0"/>
              <a:t>Button and un button clothes</a:t>
            </a:r>
          </a:p>
          <a:p>
            <a:pPr marL="685800" indent="-685800" algn="l">
              <a:buFont typeface="Arial" panose="020B0604020202020204" pitchFamily="34" charset="0"/>
              <a:buChar char="•"/>
            </a:pPr>
            <a:r>
              <a:rPr lang="en-GB" sz="5400" dirty="0"/>
              <a:t>Use scissors to cut</a:t>
            </a:r>
          </a:p>
          <a:p>
            <a:pPr marL="685800" indent="-685800" algn="l">
              <a:buFont typeface="Arial" panose="020B0604020202020204" pitchFamily="34" charset="0"/>
              <a:buChar char="•"/>
            </a:pPr>
            <a:r>
              <a:rPr lang="en-GB" sz="5400" dirty="0"/>
              <a:t>Draw a person with a trunk &amp; legs</a:t>
            </a:r>
          </a:p>
          <a:p>
            <a:pPr marL="685800" indent="-685800" algn="l">
              <a:buFont typeface="Arial" panose="020B0604020202020204" pitchFamily="34" charset="0"/>
              <a:buChar char="•"/>
            </a:pPr>
            <a:r>
              <a:rPr lang="en-GB" sz="5400" dirty="0"/>
              <a:t>Eat with a knife and fork</a:t>
            </a:r>
          </a:p>
          <a:p>
            <a:pPr marL="685800" indent="-685800" algn="l">
              <a:buFont typeface="Arial" panose="020B0604020202020204" pitchFamily="34" charset="0"/>
              <a:buChar char="•"/>
            </a:pPr>
            <a:r>
              <a:rPr lang="en-GB" sz="5400" dirty="0"/>
              <a:t>Thread beads to make a necklace</a:t>
            </a:r>
          </a:p>
          <a:p>
            <a:pPr marL="685800" indent="-685800" algn="l">
              <a:buFont typeface="Arial" panose="020B0604020202020204" pitchFamily="34" charset="0"/>
              <a:buChar char="•"/>
            </a:pPr>
            <a:endParaRPr lang="en-GB" sz="5400" dirty="0"/>
          </a:p>
          <a:p>
            <a:pPr algn="l"/>
            <a:r>
              <a:rPr lang="en-GB" sz="5400" dirty="0"/>
              <a:t>Question: </a:t>
            </a:r>
          </a:p>
          <a:p>
            <a:pPr algn="l"/>
            <a:r>
              <a:rPr lang="en-GB" sz="5400" dirty="0"/>
              <a:t>chose one of these aspects of development and describe in detail an activity that would develop their fine motor skills as well as their social &amp; emotional.</a:t>
            </a:r>
          </a:p>
        </p:txBody>
      </p:sp>
    </p:spTree>
    <p:extLst>
      <p:ext uri="{BB962C8B-B14F-4D97-AF65-F5344CB8AC3E}">
        <p14:creationId xmlns:p14="http://schemas.microsoft.com/office/powerpoint/2010/main" val="3677237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240384"/>
            <a:ext cx="9144000" cy="1347460"/>
          </a:xfrm>
        </p:spPr>
        <p:txBody>
          <a:bodyPr>
            <a:normAutofit/>
          </a:bodyPr>
          <a:lstStyle/>
          <a:p>
            <a:r>
              <a:rPr lang="en-GB" sz="8000" b="1" dirty="0"/>
              <a:t>4-5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731389" y="1762812"/>
            <a:ext cx="9144000" cy="3940404"/>
          </a:xfrm>
        </p:spPr>
        <p:txBody>
          <a:bodyPr>
            <a:normAutofit fontScale="92500" lnSpcReduction="20000"/>
          </a:bodyPr>
          <a:lstStyle/>
          <a:p>
            <a:pPr marL="685800" indent="-685800" algn="l">
              <a:buFont typeface="Arial" panose="020B0604020202020204" pitchFamily="34" charset="0"/>
              <a:buChar char="•"/>
            </a:pPr>
            <a:r>
              <a:rPr lang="en-GB" sz="5400" dirty="0"/>
              <a:t>Can form letters</a:t>
            </a:r>
          </a:p>
          <a:p>
            <a:pPr marL="685800" indent="-685800" algn="l">
              <a:buFont typeface="Arial" panose="020B0604020202020204" pitchFamily="34" charset="0"/>
              <a:buChar char="•"/>
            </a:pPr>
            <a:r>
              <a:rPr lang="en-GB" sz="5400" dirty="0"/>
              <a:t>Write th</a:t>
            </a:r>
            <a:r>
              <a:rPr lang="en-GB" sz="5400" dirty="0">
                <a:solidFill>
                  <a:srgbClr val="FF0000"/>
                </a:solidFill>
              </a:rPr>
              <a:t>eir </a:t>
            </a:r>
            <a:r>
              <a:rPr lang="en-GB" sz="5400" dirty="0"/>
              <a:t>own name</a:t>
            </a:r>
          </a:p>
          <a:p>
            <a:pPr marL="685800" indent="-685800" algn="l">
              <a:buFont typeface="Arial" panose="020B0604020202020204" pitchFamily="34" charset="0"/>
              <a:buChar char="•"/>
            </a:pPr>
            <a:r>
              <a:rPr lang="en-GB" sz="5400" dirty="0"/>
              <a:t>Colour in pictures</a:t>
            </a:r>
          </a:p>
          <a:p>
            <a:pPr algn="l"/>
            <a:endParaRPr lang="en-GB" sz="5400" dirty="0"/>
          </a:p>
          <a:p>
            <a:pPr algn="l"/>
            <a:r>
              <a:rPr lang="en-GB" sz="5400" dirty="0"/>
              <a:t>Question:</a:t>
            </a:r>
          </a:p>
          <a:p>
            <a:pPr algn="l"/>
            <a:r>
              <a:rPr lang="en-GB" sz="5400" dirty="0"/>
              <a:t>What grasp would be used?</a:t>
            </a:r>
          </a:p>
          <a:p>
            <a:pPr marL="685800" indent="-685800" algn="l">
              <a:buFont typeface="Arial" panose="020B0604020202020204" pitchFamily="34" charset="0"/>
              <a:buChar char="•"/>
            </a:pPr>
            <a:endParaRPr lang="en-GB" sz="5400" dirty="0"/>
          </a:p>
          <a:p>
            <a:pPr marL="685800" indent="-685800" algn="l">
              <a:buFont typeface="Arial" panose="020B0604020202020204" pitchFamily="34" charset="0"/>
              <a:buChar char="•"/>
            </a:pPr>
            <a:endParaRPr lang="en-GB" sz="5400" dirty="0"/>
          </a:p>
          <a:p>
            <a:pPr marL="685800" indent="-685800" algn="l">
              <a:buFont typeface="Arial" panose="020B0604020202020204" pitchFamily="34" charset="0"/>
              <a:buChar char="•"/>
            </a:pPr>
            <a:endParaRPr lang="en-GB" sz="5400" dirty="0"/>
          </a:p>
          <a:p>
            <a:pPr marL="685800" indent="-685800" algn="l">
              <a:buFont typeface="Arial" panose="020B0604020202020204" pitchFamily="34" charset="0"/>
              <a:buChar char="•"/>
            </a:pPr>
            <a:endParaRPr lang="en-GB" sz="5400" dirty="0"/>
          </a:p>
        </p:txBody>
      </p:sp>
    </p:spTree>
    <p:extLst>
      <p:ext uri="{BB962C8B-B14F-4D97-AF65-F5344CB8AC3E}">
        <p14:creationId xmlns:p14="http://schemas.microsoft.com/office/powerpoint/2010/main" val="223973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1122363"/>
            <a:ext cx="9144000" cy="1347460"/>
          </a:xfrm>
        </p:spPr>
        <p:txBody>
          <a:bodyPr>
            <a:normAutofit/>
          </a:bodyPr>
          <a:lstStyle/>
          <a:p>
            <a:r>
              <a:rPr lang="en-GB" sz="8000" b="1" dirty="0"/>
              <a:t>5-8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2677212"/>
            <a:ext cx="9144000" cy="3940404"/>
          </a:xfrm>
        </p:spPr>
        <p:txBody>
          <a:bodyPr>
            <a:normAutofit fontScale="55000" lnSpcReduction="20000"/>
          </a:bodyPr>
          <a:lstStyle/>
          <a:p>
            <a:pPr marL="685800" indent="-685800" algn="l">
              <a:buFont typeface="Arial" panose="020B0604020202020204" pitchFamily="34" charset="0"/>
              <a:buChar char="•"/>
            </a:pPr>
            <a:r>
              <a:rPr lang="en-GB" sz="5400" dirty="0"/>
              <a:t>Tie and untie shoe laces</a:t>
            </a:r>
          </a:p>
          <a:p>
            <a:pPr marL="685800" indent="-685800" algn="l">
              <a:buFont typeface="Arial" panose="020B0604020202020204" pitchFamily="34" charset="0"/>
              <a:buChar char="•"/>
            </a:pPr>
            <a:r>
              <a:rPr lang="en-GB" sz="5400" dirty="0"/>
              <a:t>Accurately cut out shapes</a:t>
            </a:r>
          </a:p>
          <a:p>
            <a:pPr marL="685800" indent="-685800" algn="l">
              <a:buFont typeface="Arial" panose="020B0604020202020204" pitchFamily="34" charset="0"/>
              <a:buChar char="•"/>
            </a:pPr>
            <a:endParaRPr lang="en-GB" sz="5400" dirty="0"/>
          </a:p>
          <a:p>
            <a:pPr algn="l"/>
            <a:r>
              <a:rPr lang="en-GB" sz="5400" dirty="0"/>
              <a:t>Question:</a:t>
            </a:r>
          </a:p>
          <a:p>
            <a:pPr algn="l"/>
            <a:r>
              <a:rPr lang="en-GB" sz="5400" dirty="0"/>
              <a:t>What activity could be used to encourage a child to tie their own shoe laces?</a:t>
            </a:r>
          </a:p>
          <a:p>
            <a:pPr algn="l"/>
            <a:r>
              <a:rPr lang="en-GB" sz="5400" dirty="0"/>
              <a:t>What is the disadvantage of a child initiated play activity that involves cutting out shapes as part of a </a:t>
            </a:r>
            <a:r>
              <a:rPr lang="en-GB" sz="5400" dirty="0" err="1"/>
              <a:t>caroseul</a:t>
            </a:r>
            <a:r>
              <a:rPr lang="en-GB" sz="5400" dirty="0"/>
              <a:t>?</a:t>
            </a:r>
          </a:p>
          <a:p>
            <a:pPr marL="685800" indent="-685800" algn="l">
              <a:buFont typeface="Arial" panose="020B0604020202020204" pitchFamily="34" charset="0"/>
              <a:buChar char="•"/>
            </a:pPr>
            <a:endParaRPr lang="en-GB" sz="5400" dirty="0"/>
          </a:p>
          <a:p>
            <a:pPr marL="685800" indent="-685800" algn="l">
              <a:buFont typeface="Arial" panose="020B0604020202020204" pitchFamily="34" charset="0"/>
              <a:buChar char="•"/>
            </a:pPr>
            <a:endParaRPr lang="en-GB" sz="5400" dirty="0"/>
          </a:p>
        </p:txBody>
      </p:sp>
    </p:spTree>
    <p:extLst>
      <p:ext uri="{BB962C8B-B14F-4D97-AF65-F5344CB8AC3E}">
        <p14:creationId xmlns:p14="http://schemas.microsoft.com/office/powerpoint/2010/main" val="4059342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1524000" y="519048"/>
            <a:ext cx="9144000" cy="1347460"/>
          </a:xfrm>
        </p:spPr>
        <p:txBody>
          <a:bodyPr>
            <a:normAutofit/>
          </a:bodyPr>
          <a:lstStyle/>
          <a:p>
            <a:r>
              <a:rPr lang="en-GB" sz="8000" b="1" dirty="0"/>
              <a:t>6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99415" y="2017336"/>
            <a:ext cx="9144000" cy="3940404"/>
          </a:xfrm>
        </p:spPr>
        <p:txBody>
          <a:bodyPr>
            <a:normAutofit lnSpcReduction="10000"/>
          </a:bodyPr>
          <a:lstStyle/>
          <a:p>
            <a:pPr marL="685800" indent="-685800" algn="l">
              <a:buFont typeface="Arial" panose="020B0604020202020204" pitchFamily="34" charset="0"/>
              <a:buChar char="•"/>
            </a:pPr>
            <a:r>
              <a:rPr lang="en-GB" sz="5400" dirty="0"/>
              <a:t>Thread a large eyed needle</a:t>
            </a:r>
          </a:p>
          <a:p>
            <a:pPr marL="685800" indent="-685800" algn="l">
              <a:buFont typeface="Arial" panose="020B0604020202020204" pitchFamily="34" charset="0"/>
              <a:buChar char="•"/>
            </a:pPr>
            <a:r>
              <a:rPr lang="en-GB" sz="5400" dirty="0"/>
              <a:t>Sew large stitches</a:t>
            </a:r>
          </a:p>
          <a:p>
            <a:pPr algn="l"/>
            <a:endParaRPr lang="en-GB" sz="5400" dirty="0"/>
          </a:p>
          <a:p>
            <a:pPr algn="l"/>
            <a:r>
              <a:rPr lang="en-GB" sz="5400" dirty="0"/>
              <a:t>Question: what activity would encourage these 2 milestones?</a:t>
            </a:r>
          </a:p>
          <a:p>
            <a:pPr marL="685800" indent="-685800" algn="l">
              <a:buFont typeface="Arial" panose="020B0604020202020204" pitchFamily="34" charset="0"/>
              <a:buChar char="•"/>
            </a:pPr>
            <a:endParaRPr lang="en-GB" sz="5400" dirty="0"/>
          </a:p>
        </p:txBody>
      </p:sp>
    </p:spTree>
    <p:extLst>
      <p:ext uri="{BB962C8B-B14F-4D97-AF65-F5344CB8AC3E}">
        <p14:creationId xmlns:p14="http://schemas.microsoft.com/office/powerpoint/2010/main" val="2448774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E266-9E2A-4CC8-841D-90F111451C8E}"/>
              </a:ext>
            </a:extLst>
          </p:cNvPr>
          <p:cNvSpPr>
            <a:spLocks noGrp="1"/>
          </p:cNvSpPr>
          <p:nvPr>
            <p:ph type="title"/>
          </p:nvPr>
        </p:nvSpPr>
        <p:spPr>
          <a:xfrm>
            <a:off x="838200" y="365125"/>
            <a:ext cx="10515600" cy="1614504"/>
          </a:xfrm>
        </p:spPr>
        <p:txBody>
          <a:bodyPr>
            <a:normAutofit fontScale="90000"/>
          </a:bodyPr>
          <a:lstStyle/>
          <a:p>
            <a:r>
              <a:rPr lang="en-GB" b="1" dirty="0"/>
              <a:t>Scenario: </a:t>
            </a:r>
            <a:br>
              <a:rPr lang="en-GB" dirty="0"/>
            </a:br>
            <a:r>
              <a:rPr lang="en-GB" dirty="0"/>
              <a:t>Abdul is 6 years old, and is meeting his expecting milestones</a:t>
            </a:r>
          </a:p>
        </p:txBody>
      </p:sp>
      <p:sp>
        <p:nvSpPr>
          <p:cNvPr id="3" name="Content Placeholder 2">
            <a:extLst>
              <a:ext uri="{FF2B5EF4-FFF2-40B4-BE49-F238E27FC236}">
                <a16:creationId xmlns:a16="http://schemas.microsoft.com/office/drawing/2014/main" id="{C1C32939-6E9E-45C5-B49B-731F541835C0}"/>
              </a:ext>
            </a:extLst>
          </p:cNvPr>
          <p:cNvSpPr>
            <a:spLocks noGrp="1"/>
          </p:cNvSpPr>
          <p:nvPr>
            <p:ph idx="1"/>
          </p:nvPr>
        </p:nvSpPr>
        <p:spPr>
          <a:xfrm>
            <a:off x="838200" y="2111604"/>
            <a:ext cx="10515600" cy="4065359"/>
          </a:xfrm>
        </p:spPr>
        <p:txBody>
          <a:bodyPr>
            <a:normAutofit/>
          </a:bodyPr>
          <a:lstStyle/>
          <a:p>
            <a:pPr marL="0" indent="0">
              <a:buNone/>
            </a:pPr>
            <a:r>
              <a:rPr lang="en-GB" b="1" dirty="0"/>
              <a:t>Question: </a:t>
            </a:r>
            <a:r>
              <a:rPr lang="en-GB" dirty="0">
                <a:solidFill>
                  <a:srgbClr val="FF0000"/>
                </a:solidFill>
              </a:rPr>
              <a:t>Describe</a:t>
            </a:r>
            <a:r>
              <a:rPr lang="en-GB" dirty="0"/>
              <a:t> </a:t>
            </a:r>
            <a:r>
              <a:rPr lang="en-GB" dirty="0">
                <a:solidFill>
                  <a:srgbClr val="FF0000"/>
                </a:solidFill>
              </a:rPr>
              <a:t>one way </a:t>
            </a:r>
            <a:r>
              <a:rPr lang="en-GB" dirty="0"/>
              <a:t>that the key worker can </a:t>
            </a:r>
            <a:r>
              <a:rPr lang="en-GB" dirty="0">
                <a:solidFill>
                  <a:srgbClr val="FF0000"/>
                </a:solidFill>
              </a:rPr>
              <a:t>support </a:t>
            </a:r>
            <a:r>
              <a:rPr lang="en-GB" dirty="0"/>
              <a:t>Abdul’s </a:t>
            </a:r>
            <a:r>
              <a:rPr lang="en-GB" dirty="0">
                <a:solidFill>
                  <a:srgbClr val="FF0000"/>
                </a:solidFill>
              </a:rPr>
              <a:t>fine motor development </a:t>
            </a:r>
            <a:r>
              <a:rPr lang="en-GB" dirty="0"/>
              <a:t>to meet the expected milestones.</a:t>
            </a:r>
          </a:p>
          <a:p>
            <a:pPr marL="0" indent="0">
              <a:buNone/>
            </a:pPr>
            <a:endParaRPr lang="en-GB" dirty="0">
              <a:solidFill>
                <a:srgbClr val="FF0000"/>
              </a:solidFill>
            </a:endParaRPr>
          </a:p>
          <a:p>
            <a:pPr marL="0" indent="0">
              <a:buNone/>
            </a:pPr>
            <a:r>
              <a:rPr lang="en-GB" dirty="0">
                <a:solidFill>
                  <a:srgbClr val="00B050"/>
                </a:solidFill>
              </a:rPr>
              <a:t>This is a level 2 question so it needs to have </a:t>
            </a:r>
            <a:r>
              <a:rPr lang="en-GB" dirty="0" err="1">
                <a:solidFill>
                  <a:srgbClr val="00B050"/>
                </a:solidFill>
              </a:rPr>
              <a:t>atleast</a:t>
            </a:r>
            <a:r>
              <a:rPr lang="en-GB" dirty="0">
                <a:solidFill>
                  <a:srgbClr val="00B050"/>
                </a:solidFill>
              </a:rPr>
              <a:t> 6 sentences, include an activity and a good description of the activity.</a:t>
            </a:r>
          </a:p>
        </p:txBody>
      </p:sp>
    </p:spTree>
    <p:extLst>
      <p:ext uri="{BB962C8B-B14F-4D97-AF65-F5344CB8AC3E}">
        <p14:creationId xmlns:p14="http://schemas.microsoft.com/office/powerpoint/2010/main" val="142236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9F49-E3F6-4B2E-AA88-2E8587951489}"/>
              </a:ext>
            </a:extLst>
          </p:cNvPr>
          <p:cNvSpPr>
            <a:spLocks noGrp="1"/>
          </p:cNvSpPr>
          <p:nvPr>
            <p:ph type="title"/>
          </p:nvPr>
        </p:nvSpPr>
        <p:spPr/>
        <p:txBody>
          <a:bodyPr/>
          <a:lstStyle/>
          <a:p>
            <a:r>
              <a:rPr lang="en-GB" dirty="0"/>
              <a:t>In this section:</a:t>
            </a:r>
          </a:p>
        </p:txBody>
      </p:sp>
      <p:sp>
        <p:nvSpPr>
          <p:cNvPr id="3" name="Content Placeholder 2">
            <a:extLst>
              <a:ext uri="{FF2B5EF4-FFF2-40B4-BE49-F238E27FC236}">
                <a16:creationId xmlns:a16="http://schemas.microsoft.com/office/drawing/2014/main" id="{574792EF-0919-4B3F-A5B8-356000F05735}"/>
              </a:ext>
            </a:extLst>
          </p:cNvPr>
          <p:cNvSpPr>
            <a:spLocks noGrp="1"/>
          </p:cNvSpPr>
          <p:nvPr>
            <p:ph idx="1"/>
          </p:nvPr>
        </p:nvSpPr>
        <p:spPr/>
        <p:txBody>
          <a:bodyPr/>
          <a:lstStyle/>
          <a:p>
            <a:r>
              <a:rPr lang="en-GB" dirty="0"/>
              <a:t>Spend 10 mins refreshing your memory of  cognitive development (use you flip cards if needed and ask each other questions)</a:t>
            </a:r>
          </a:p>
          <a:p>
            <a:pPr marL="0" indent="0">
              <a:buNone/>
            </a:pPr>
            <a:endParaRPr lang="en-GB" dirty="0"/>
          </a:p>
          <a:p>
            <a:r>
              <a:rPr lang="en-GB" dirty="0"/>
              <a:t>Now answer the question worth 6 marks and remember it is a level 2 question so must be in clear logical sentences and include </a:t>
            </a:r>
            <a:r>
              <a:rPr lang="en-GB" dirty="0" err="1"/>
              <a:t>activites</a:t>
            </a:r>
            <a:r>
              <a:rPr lang="en-GB" dirty="0"/>
              <a:t> and </a:t>
            </a:r>
            <a:r>
              <a:rPr lang="en-GB" dirty="0" err="1"/>
              <a:t>miletones</a:t>
            </a:r>
            <a:r>
              <a:rPr lang="en-GB" dirty="0"/>
              <a:t>.</a:t>
            </a:r>
          </a:p>
        </p:txBody>
      </p:sp>
    </p:spTree>
    <p:extLst>
      <p:ext uri="{BB962C8B-B14F-4D97-AF65-F5344CB8AC3E}">
        <p14:creationId xmlns:p14="http://schemas.microsoft.com/office/powerpoint/2010/main" val="2999896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Birth</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p:txBody>
          <a:bodyPr>
            <a:normAutofit/>
          </a:bodyPr>
          <a:lstStyle/>
          <a:p>
            <a:r>
              <a:rPr lang="en-GB" sz="5400" dirty="0"/>
              <a:t>At one month – a child freezes when they hear a sound.</a:t>
            </a:r>
          </a:p>
        </p:txBody>
      </p:sp>
    </p:spTree>
    <p:extLst>
      <p:ext uri="{BB962C8B-B14F-4D97-AF65-F5344CB8AC3E}">
        <p14:creationId xmlns:p14="http://schemas.microsoft.com/office/powerpoint/2010/main" val="1498280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3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255961"/>
            <a:ext cx="9144000" cy="3323947"/>
          </a:xfrm>
        </p:spPr>
        <p:txBody>
          <a:bodyPr>
            <a:normAutofit/>
          </a:bodyPr>
          <a:lstStyle/>
          <a:p>
            <a:pPr marL="685800" indent="-685800" algn="l">
              <a:buFont typeface="Arial" panose="020B0604020202020204" pitchFamily="34" charset="0"/>
              <a:buChar char="•"/>
            </a:pPr>
            <a:r>
              <a:rPr lang="en-GB" sz="5400" dirty="0"/>
              <a:t>Can recognise familiar routines</a:t>
            </a:r>
          </a:p>
          <a:p>
            <a:pPr marL="685800" indent="-685800" algn="l">
              <a:buFont typeface="Arial" panose="020B0604020202020204" pitchFamily="34" charset="0"/>
              <a:buChar char="•"/>
            </a:pPr>
            <a:r>
              <a:rPr lang="en-GB" sz="5400" dirty="0"/>
              <a:t>Alert and follows movement with eyes if objects are close</a:t>
            </a:r>
          </a:p>
        </p:txBody>
      </p:sp>
    </p:spTree>
    <p:extLst>
      <p:ext uri="{BB962C8B-B14F-4D97-AF65-F5344CB8AC3E}">
        <p14:creationId xmlns:p14="http://schemas.microsoft.com/office/powerpoint/2010/main" val="197237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6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704734"/>
            <a:ext cx="9144000" cy="1894788"/>
          </a:xfrm>
        </p:spPr>
        <p:txBody>
          <a:bodyPr>
            <a:normAutofit/>
          </a:bodyPr>
          <a:lstStyle/>
          <a:p>
            <a:pPr marL="685800" indent="-685800" algn="l">
              <a:buFont typeface="Arial" panose="020B0604020202020204" pitchFamily="34" charset="0"/>
              <a:buChar char="•"/>
            </a:pPr>
            <a:r>
              <a:rPr lang="en-GB" sz="4800" dirty="0"/>
              <a:t>Put objects in th</a:t>
            </a:r>
            <a:r>
              <a:rPr lang="en-GB" sz="4800" b="1" dirty="0">
                <a:solidFill>
                  <a:srgbClr val="FF0000"/>
                </a:solidFill>
              </a:rPr>
              <a:t>eir</a:t>
            </a:r>
            <a:r>
              <a:rPr lang="en-GB" sz="4800" dirty="0"/>
              <a:t> mouths</a:t>
            </a:r>
          </a:p>
          <a:p>
            <a:pPr marL="685800" indent="-685800" algn="l">
              <a:buFont typeface="Arial" panose="020B0604020202020204" pitchFamily="34" charset="0"/>
              <a:buChar char="•"/>
            </a:pPr>
            <a:r>
              <a:rPr lang="en-GB" sz="4800" dirty="0"/>
              <a:t>Recognise voices</a:t>
            </a:r>
          </a:p>
        </p:txBody>
      </p:sp>
    </p:spTree>
    <p:extLst>
      <p:ext uri="{BB962C8B-B14F-4D97-AF65-F5344CB8AC3E}">
        <p14:creationId xmlns:p14="http://schemas.microsoft.com/office/powerpoint/2010/main" val="272229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8- 9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704734"/>
            <a:ext cx="9144000" cy="1894788"/>
          </a:xfrm>
        </p:spPr>
        <p:txBody>
          <a:bodyPr>
            <a:normAutofit fontScale="92500" lnSpcReduction="10000"/>
          </a:bodyPr>
          <a:lstStyle/>
          <a:p>
            <a:pPr marL="685800" indent="-685800" algn="l">
              <a:buFont typeface="Arial" panose="020B0604020202020204" pitchFamily="34" charset="0"/>
              <a:buChar char="•"/>
            </a:pPr>
            <a:r>
              <a:rPr lang="en-GB" sz="4800" dirty="0"/>
              <a:t>Look for dropped objects</a:t>
            </a:r>
          </a:p>
          <a:p>
            <a:pPr marL="685800" indent="-685800" algn="l">
              <a:buFont typeface="Arial" panose="020B0604020202020204" pitchFamily="34" charset="0"/>
              <a:buChar char="•"/>
            </a:pPr>
            <a:r>
              <a:rPr lang="en-GB" sz="4800" dirty="0"/>
              <a:t>Look for objects that they see being hidden</a:t>
            </a:r>
          </a:p>
        </p:txBody>
      </p:sp>
    </p:spTree>
    <p:extLst>
      <p:ext uri="{BB962C8B-B14F-4D97-AF65-F5344CB8AC3E}">
        <p14:creationId xmlns:p14="http://schemas.microsoft.com/office/powerpoint/2010/main" val="2822792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12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704734"/>
            <a:ext cx="9144000" cy="1894788"/>
          </a:xfrm>
        </p:spPr>
        <p:txBody>
          <a:bodyPr>
            <a:normAutofit fontScale="77500" lnSpcReduction="20000"/>
          </a:bodyPr>
          <a:lstStyle/>
          <a:p>
            <a:pPr marL="685800" indent="-685800" algn="l">
              <a:buFont typeface="Arial" panose="020B0604020202020204" pitchFamily="34" charset="0"/>
              <a:buChar char="•"/>
            </a:pPr>
            <a:r>
              <a:rPr lang="en-GB" sz="4800" dirty="0"/>
              <a:t>Enjoy throwing toys to the ground and watching their descent</a:t>
            </a:r>
          </a:p>
          <a:p>
            <a:pPr marL="685800" indent="-685800" algn="l">
              <a:buFont typeface="Arial" panose="020B0604020202020204" pitchFamily="34" charset="0"/>
              <a:buChar char="•"/>
            </a:pPr>
            <a:r>
              <a:rPr lang="en-GB" sz="4800" dirty="0"/>
              <a:t>Learn by trying things out and repeating if successful-called ‘trial by error’.</a:t>
            </a:r>
          </a:p>
        </p:txBody>
      </p:sp>
    </p:spTree>
    <p:extLst>
      <p:ext uri="{BB962C8B-B14F-4D97-AF65-F5344CB8AC3E}">
        <p14:creationId xmlns:p14="http://schemas.microsoft.com/office/powerpoint/2010/main" val="3413299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15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704734"/>
            <a:ext cx="9144000" cy="1894788"/>
          </a:xfrm>
        </p:spPr>
        <p:txBody>
          <a:bodyPr>
            <a:normAutofit/>
          </a:bodyPr>
          <a:lstStyle/>
          <a:p>
            <a:pPr marL="685800" indent="-685800" algn="l">
              <a:buFont typeface="Arial" panose="020B0604020202020204" pitchFamily="34" charset="0"/>
              <a:buChar char="•"/>
            </a:pPr>
            <a:r>
              <a:rPr lang="en-GB" sz="4800" dirty="0"/>
              <a:t>Explore objects by sight and sound</a:t>
            </a:r>
          </a:p>
        </p:txBody>
      </p:sp>
    </p:spTree>
    <p:extLst>
      <p:ext uri="{BB962C8B-B14F-4D97-AF65-F5344CB8AC3E}">
        <p14:creationId xmlns:p14="http://schemas.microsoft.com/office/powerpoint/2010/main" val="3131307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18 months</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704734"/>
            <a:ext cx="9144000" cy="1894788"/>
          </a:xfrm>
        </p:spPr>
        <p:txBody>
          <a:bodyPr>
            <a:normAutofit/>
          </a:bodyPr>
          <a:lstStyle/>
          <a:p>
            <a:pPr marL="685800" indent="-685800" algn="l">
              <a:buFont typeface="Arial" panose="020B0604020202020204" pitchFamily="34" charset="0"/>
              <a:buChar char="•"/>
            </a:pPr>
            <a:r>
              <a:rPr lang="en-GB" sz="4800" dirty="0"/>
              <a:t>Curious- explore</a:t>
            </a:r>
          </a:p>
          <a:p>
            <a:pPr marL="685800" indent="-685800" algn="l">
              <a:buFont typeface="Arial" panose="020B0604020202020204" pitchFamily="34" charset="0"/>
              <a:buChar char="•"/>
            </a:pPr>
            <a:r>
              <a:rPr lang="en-GB" sz="4800" dirty="0"/>
              <a:t>Remember where things belong</a:t>
            </a:r>
          </a:p>
          <a:p>
            <a:pPr marL="685800" indent="-685800" algn="l">
              <a:buFont typeface="Arial" panose="020B0604020202020204" pitchFamily="34" charset="0"/>
              <a:buChar char="•"/>
            </a:pPr>
            <a:endParaRPr lang="en-GB" sz="4800" dirty="0"/>
          </a:p>
        </p:txBody>
      </p:sp>
    </p:spTree>
    <p:extLst>
      <p:ext uri="{BB962C8B-B14F-4D97-AF65-F5344CB8AC3E}">
        <p14:creationId xmlns:p14="http://schemas.microsoft.com/office/powerpoint/2010/main" val="847428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2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1524000" y="3704734"/>
            <a:ext cx="9144000" cy="1894788"/>
          </a:xfrm>
        </p:spPr>
        <p:txBody>
          <a:bodyPr>
            <a:normAutofit/>
          </a:bodyPr>
          <a:lstStyle/>
          <a:p>
            <a:pPr marL="685800" indent="-685800" algn="l">
              <a:buFont typeface="Arial" panose="020B0604020202020204" pitchFamily="34" charset="0"/>
              <a:buChar char="•"/>
            </a:pPr>
            <a:r>
              <a:rPr lang="en-GB" sz="4800" dirty="0"/>
              <a:t>Recognise themselves in a mirror</a:t>
            </a:r>
          </a:p>
          <a:p>
            <a:pPr marL="685800" indent="-685800" algn="l">
              <a:buFont typeface="Arial" panose="020B0604020202020204" pitchFamily="34" charset="0"/>
              <a:buChar char="•"/>
            </a:pPr>
            <a:r>
              <a:rPr lang="en-GB" sz="4800" dirty="0"/>
              <a:t>Remember past experiences</a:t>
            </a:r>
          </a:p>
          <a:p>
            <a:pPr marL="685800" indent="-685800" algn="l">
              <a:buFont typeface="Arial" panose="020B0604020202020204" pitchFamily="34" charset="0"/>
              <a:buChar char="•"/>
            </a:pPr>
            <a:endParaRPr lang="en-GB" sz="4800" dirty="0"/>
          </a:p>
        </p:txBody>
      </p:sp>
    </p:spTree>
    <p:extLst>
      <p:ext uri="{BB962C8B-B14F-4D97-AF65-F5344CB8AC3E}">
        <p14:creationId xmlns:p14="http://schemas.microsoft.com/office/powerpoint/2010/main" val="151985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2 ½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704734"/>
            <a:ext cx="10576874" cy="1894788"/>
          </a:xfrm>
        </p:spPr>
        <p:txBody>
          <a:bodyPr>
            <a:normAutofit/>
          </a:bodyPr>
          <a:lstStyle/>
          <a:p>
            <a:pPr marL="685800" indent="-685800" algn="l">
              <a:buFont typeface="Arial" panose="020B0604020202020204" pitchFamily="34" charset="0"/>
              <a:buChar char="•"/>
            </a:pPr>
            <a:r>
              <a:rPr lang="en-GB" sz="4800" dirty="0"/>
              <a:t>Recognise themselves in a photograph</a:t>
            </a:r>
          </a:p>
          <a:p>
            <a:pPr marL="685800" indent="-685800" algn="l">
              <a:buFont typeface="Arial" panose="020B0604020202020204" pitchFamily="34" charset="0"/>
              <a:buChar char="•"/>
            </a:pPr>
            <a:r>
              <a:rPr lang="en-GB" sz="4800" dirty="0"/>
              <a:t>Complete simple puzzles with help</a:t>
            </a:r>
          </a:p>
        </p:txBody>
      </p:sp>
    </p:spTree>
    <p:extLst>
      <p:ext uri="{BB962C8B-B14F-4D97-AF65-F5344CB8AC3E}">
        <p14:creationId xmlns:p14="http://schemas.microsoft.com/office/powerpoint/2010/main" val="4256718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3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704734"/>
            <a:ext cx="10576874" cy="2111604"/>
          </a:xfrm>
        </p:spPr>
        <p:txBody>
          <a:bodyPr>
            <a:normAutofit lnSpcReduction="10000"/>
          </a:bodyPr>
          <a:lstStyle/>
          <a:p>
            <a:pPr marL="685800" indent="-685800" algn="l">
              <a:buFont typeface="Arial" panose="020B0604020202020204" pitchFamily="34" charset="0"/>
              <a:buChar char="•"/>
            </a:pPr>
            <a:r>
              <a:rPr lang="en-GB" sz="4800" dirty="0"/>
              <a:t>Understand the difference between past and present.</a:t>
            </a:r>
          </a:p>
          <a:p>
            <a:pPr marL="685800" indent="-685800" algn="l">
              <a:buFont typeface="Arial" panose="020B0604020202020204" pitchFamily="34" charset="0"/>
              <a:buChar char="•"/>
            </a:pPr>
            <a:r>
              <a:rPr lang="en-GB" sz="4800" dirty="0"/>
              <a:t>Complete simple puzzles</a:t>
            </a:r>
          </a:p>
        </p:txBody>
      </p:sp>
    </p:spTree>
    <p:extLst>
      <p:ext uri="{BB962C8B-B14F-4D97-AF65-F5344CB8AC3E}">
        <p14:creationId xmlns:p14="http://schemas.microsoft.com/office/powerpoint/2010/main" val="3095573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3 -4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704734"/>
            <a:ext cx="10576874" cy="2729060"/>
          </a:xfrm>
        </p:spPr>
        <p:txBody>
          <a:bodyPr>
            <a:normAutofit fontScale="77500" lnSpcReduction="20000"/>
          </a:bodyPr>
          <a:lstStyle/>
          <a:p>
            <a:pPr marL="685800" indent="-685800" algn="l">
              <a:buFont typeface="Arial" panose="020B0604020202020204" pitchFamily="34" charset="0"/>
              <a:buChar char="•"/>
            </a:pPr>
            <a:r>
              <a:rPr lang="en-GB" sz="4800" dirty="0"/>
              <a:t>Recognise and name primary colours</a:t>
            </a:r>
          </a:p>
          <a:p>
            <a:pPr marL="685800" indent="-685800" algn="l">
              <a:buFont typeface="Arial" panose="020B0604020202020204" pitchFamily="34" charset="0"/>
              <a:buChar char="•"/>
            </a:pPr>
            <a:r>
              <a:rPr lang="en-GB" sz="4800" dirty="0"/>
              <a:t>Understand the word ‘more’</a:t>
            </a:r>
          </a:p>
          <a:p>
            <a:pPr marL="685800" indent="-685800" algn="l">
              <a:buFont typeface="Arial" panose="020B0604020202020204" pitchFamily="34" charset="0"/>
              <a:buChar char="•"/>
            </a:pPr>
            <a:r>
              <a:rPr lang="en-GB" sz="4800" dirty="0"/>
              <a:t>Tell if an object is heavy or light</a:t>
            </a:r>
          </a:p>
          <a:p>
            <a:pPr marL="685800" indent="-685800" algn="l">
              <a:buFont typeface="Arial" panose="020B0604020202020204" pitchFamily="34" charset="0"/>
              <a:buChar char="•"/>
            </a:pPr>
            <a:r>
              <a:rPr lang="en-GB" sz="4800" dirty="0"/>
              <a:t>Arrange objects into categories</a:t>
            </a:r>
          </a:p>
          <a:p>
            <a:pPr marL="685800" indent="-685800" algn="l">
              <a:buFont typeface="Arial" panose="020B0604020202020204" pitchFamily="34" charset="0"/>
              <a:buChar char="•"/>
            </a:pPr>
            <a:r>
              <a:rPr lang="en-GB" sz="4800" dirty="0"/>
              <a:t>Make a connection between past and present</a:t>
            </a:r>
          </a:p>
        </p:txBody>
      </p:sp>
    </p:spTree>
    <p:extLst>
      <p:ext uri="{BB962C8B-B14F-4D97-AF65-F5344CB8AC3E}">
        <p14:creationId xmlns:p14="http://schemas.microsoft.com/office/powerpoint/2010/main" val="2161720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4-5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327662"/>
            <a:ext cx="10576874" cy="3106132"/>
          </a:xfrm>
        </p:spPr>
        <p:txBody>
          <a:bodyPr>
            <a:normAutofit fontScale="77500" lnSpcReduction="20000"/>
          </a:bodyPr>
          <a:lstStyle/>
          <a:p>
            <a:pPr marL="685800" indent="-685800" algn="l">
              <a:buFont typeface="Arial" panose="020B0604020202020204" pitchFamily="34" charset="0"/>
              <a:buChar char="•"/>
            </a:pPr>
            <a:r>
              <a:rPr lang="en-GB" sz="4800" dirty="0"/>
              <a:t>Can count to 10</a:t>
            </a:r>
          </a:p>
          <a:p>
            <a:pPr marL="685800" indent="-685800" algn="l">
              <a:buFont typeface="Arial" panose="020B0604020202020204" pitchFamily="34" charset="0"/>
              <a:buChar char="•"/>
            </a:pPr>
            <a:r>
              <a:rPr lang="en-GB" sz="4800" dirty="0"/>
              <a:t>Add two sets together </a:t>
            </a:r>
          </a:p>
          <a:p>
            <a:pPr marL="685800" indent="-685800" algn="l">
              <a:buFont typeface="Arial" panose="020B0604020202020204" pitchFamily="34" charset="0"/>
              <a:buChar char="•"/>
            </a:pPr>
            <a:r>
              <a:rPr lang="en-GB" sz="4800" dirty="0"/>
              <a:t>Match equal sets</a:t>
            </a:r>
          </a:p>
          <a:p>
            <a:pPr marL="685800" indent="-685800" algn="l">
              <a:buFont typeface="Arial" panose="020B0604020202020204" pitchFamily="34" charset="0"/>
              <a:buChar char="•"/>
            </a:pPr>
            <a:r>
              <a:rPr lang="en-GB" sz="4800" dirty="0"/>
              <a:t>Understand rules</a:t>
            </a:r>
          </a:p>
          <a:p>
            <a:pPr marL="685800" indent="-685800" algn="l">
              <a:buFont typeface="Arial" panose="020B0604020202020204" pitchFamily="34" charset="0"/>
              <a:buChar char="•"/>
            </a:pPr>
            <a:r>
              <a:rPr lang="en-GB" sz="4800" dirty="0"/>
              <a:t>Language is fluent</a:t>
            </a:r>
          </a:p>
          <a:p>
            <a:pPr marL="685800" indent="-685800" algn="l">
              <a:buFont typeface="Arial" panose="020B0604020202020204" pitchFamily="34" charset="0"/>
              <a:buChar char="•"/>
            </a:pPr>
            <a:r>
              <a:rPr lang="en-GB" sz="4800" dirty="0"/>
              <a:t>Name the time of day- activities</a:t>
            </a:r>
          </a:p>
          <a:p>
            <a:pPr marL="685800" indent="-685800" algn="l">
              <a:buFont typeface="Arial" panose="020B0604020202020204" pitchFamily="34" charset="0"/>
              <a:buChar char="•"/>
            </a:pPr>
            <a:endParaRPr lang="en-GB" sz="4800" dirty="0"/>
          </a:p>
          <a:p>
            <a:pPr algn="l"/>
            <a:endParaRPr lang="en-GB" sz="4800" dirty="0"/>
          </a:p>
        </p:txBody>
      </p:sp>
    </p:spTree>
    <p:extLst>
      <p:ext uri="{BB962C8B-B14F-4D97-AF65-F5344CB8AC3E}">
        <p14:creationId xmlns:p14="http://schemas.microsoft.com/office/powerpoint/2010/main" val="3964577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E266-9E2A-4CC8-841D-90F111451C8E}"/>
              </a:ext>
            </a:extLst>
          </p:cNvPr>
          <p:cNvSpPr>
            <a:spLocks noGrp="1"/>
          </p:cNvSpPr>
          <p:nvPr>
            <p:ph type="title"/>
          </p:nvPr>
        </p:nvSpPr>
        <p:spPr>
          <a:xfrm>
            <a:off x="838200" y="365125"/>
            <a:ext cx="10515600" cy="1614504"/>
          </a:xfrm>
        </p:spPr>
        <p:txBody>
          <a:bodyPr>
            <a:normAutofit fontScale="90000"/>
          </a:bodyPr>
          <a:lstStyle/>
          <a:p>
            <a:br>
              <a:rPr lang="en-GB" b="1" dirty="0"/>
            </a:br>
            <a:r>
              <a:rPr lang="en-GB" b="1" dirty="0"/>
              <a:t>This is your question:</a:t>
            </a:r>
            <a:br>
              <a:rPr lang="en-GB" b="1" dirty="0"/>
            </a:br>
            <a:r>
              <a:rPr lang="en-GB" b="1" dirty="0"/>
              <a:t>Scenario: </a:t>
            </a:r>
            <a:br>
              <a:rPr lang="en-GB" dirty="0"/>
            </a:br>
            <a:r>
              <a:rPr lang="en-GB" dirty="0"/>
              <a:t>Ben is 5 years old and has reached his expected milestones. However he is having difficulty understanding the rules of a game.</a:t>
            </a:r>
          </a:p>
        </p:txBody>
      </p:sp>
      <p:sp>
        <p:nvSpPr>
          <p:cNvPr id="3" name="Content Placeholder 2">
            <a:extLst>
              <a:ext uri="{FF2B5EF4-FFF2-40B4-BE49-F238E27FC236}">
                <a16:creationId xmlns:a16="http://schemas.microsoft.com/office/drawing/2014/main" id="{C1C32939-6E9E-45C5-B49B-731F541835C0}"/>
              </a:ext>
            </a:extLst>
          </p:cNvPr>
          <p:cNvSpPr>
            <a:spLocks noGrp="1"/>
          </p:cNvSpPr>
          <p:nvPr>
            <p:ph idx="1"/>
          </p:nvPr>
        </p:nvSpPr>
        <p:spPr>
          <a:xfrm>
            <a:off x="838200" y="2922309"/>
            <a:ext cx="10515600" cy="3254654"/>
          </a:xfrm>
        </p:spPr>
        <p:txBody>
          <a:bodyPr>
            <a:normAutofit/>
          </a:bodyPr>
          <a:lstStyle/>
          <a:p>
            <a:pPr marL="0" indent="0">
              <a:buNone/>
            </a:pPr>
            <a:r>
              <a:rPr lang="en-GB" b="1" dirty="0"/>
              <a:t>Question: </a:t>
            </a:r>
          </a:p>
          <a:p>
            <a:pPr marL="0" indent="0">
              <a:buNone/>
            </a:pPr>
            <a:r>
              <a:rPr lang="en-GB" b="1" dirty="0">
                <a:solidFill>
                  <a:srgbClr val="FF0000"/>
                </a:solidFill>
              </a:rPr>
              <a:t>Suggest an activity that the adult could give to Ben to encourage him to follow and apply rules and that would also develop his social skills.</a:t>
            </a:r>
          </a:p>
          <a:p>
            <a:pPr marL="0" indent="0">
              <a:buNone/>
            </a:pPr>
            <a:r>
              <a:rPr lang="en-GB" b="1" dirty="0">
                <a:solidFill>
                  <a:srgbClr val="FF0000"/>
                </a:solidFill>
              </a:rPr>
              <a:t>(6 marks)</a:t>
            </a:r>
          </a:p>
          <a:p>
            <a:pPr marL="0" indent="0">
              <a:buNone/>
            </a:pPr>
            <a:endParaRPr lang="en-GB" b="1" dirty="0">
              <a:solidFill>
                <a:srgbClr val="00B050"/>
              </a:solidFill>
            </a:endParaRPr>
          </a:p>
          <a:p>
            <a:pPr marL="0" indent="0">
              <a:buNone/>
            </a:pPr>
            <a:endParaRPr lang="en-GB" b="1" dirty="0">
              <a:solidFill>
                <a:srgbClr val="00B050"/>
              </a:solidFill>
            </a:endParaRPr>
          </a:p>
          <a:p>
            <a:pPr marL="0" indent="0">
              <a:buNone/>
            </a:pPr>
            <a:endParaRPr lang="en-GB" b="1" i="1" dirty="0">
              <a:solidFill>
                <a:srgbClr val="00B050"/>
              </a:solidFill>
            </a:endParaRPr>
          </a:p>
        </p:txBody>
      </p:sp>
    </p:spTree>
    <p:extLst>
      <p:ext uri="{BB962C8B-B14F-4D97-AF65-F5344CB8AC3E}">
        <p14:creationId xmlns:p14="http://schemas.microsoft.com/office/powerpoint/2010/main" val="3240674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D32EC-D680-4D2C-9F22-5294D8231362}"/>
              </a:ext>
            </a:extLst>
          </p:cNvPr>
          <p:cNvSpPr>
            <a:spLocks noGrp="1"/>
          </p:cNvSpPr>
          <p:nvPr>
            <p:ph type="title"/>
          </p:nvPr>
        </p:nvSpPr>
        <p:spPr/>
        <p:txBody>
          <a:bodyPr/>
          <a:lstStyle/>
          <a:p>
            <a:r>
              <a:rPr lang="en-GB" dirty="0"/>
              <a:t>Spend 5 mins re-capping the next 2 slides</a:t>
            </a:r>
          </a:p>
        </p:txBody>
      </p:sp>
      <p:sp>
        <p:nvSpPr>
          <p:cNvPr id="3" name="Content Placeholder 2">
            <a:extLst>
              <a:ext uri="{FF2B5EF4-FFF2-40B4-BE49-F238E27FC236}">
                <a16:creationId xmlns:a16="http://schemas.microsoft.com/office/drawing/2014/main" id="{5E8DBE26-9270-44C5-8456-DC65EFA43C86}"/>
              </a:ext>
            </a:extLst>
          </p:cNvPr>
          <p:cNvSpPr>
            <a:spLocks noGrp="1"/>
          </p:cNvSpPr>
          <p:nvPr>
            <p:ph idx="1"/>
          </p:nvPr>
        </p:nvSpPr>
        <p:spPr/>
        <p:txBody>
          <a:bodyPr/>
          <a:lstStyle/>
          <a:p>
            <a:pPr marL="0" indent="0" algn="ctr">
              <a:buNone/>
            </a:pPr>
            <a:r>
              <a:rPr lang="en-GB" dirty="0"/>
              <a:t>Have a go at the questions (mixture of level 1 and 2)</a:t>
            </a:r>
          </a:p>
        </p:txBody>
      </p:sp>
    </p:spTree>
    <p:extLst>
      <p:ext uri="{BB962C8B-B14F-4D97-AF65-F5344CB8AC3E}">
        <p14:creationId xmlns:p14="http://schemas.microsoft.com/office/powerpoint/2010/main" val="2691972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5-8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327662"/>
            <a:ext cx="10576874" cy="3106132"/>
          </a:xfrm>
        </p:spPr>
        <p:txBody>
          <a:bodyPr>
            <a:normAutofit/>
          </a:bodyPr>
          <a:lstStyle/>
          <a:p>
            <a:pPr marL="685800" indent="-685800" algn="l">
              <a:buFont typeface="Arial" panose="020B0604020202020204" pitchFamily="34" charset="0"/>
              <a:buChar char="•"/>
            </a:pPr>
            <a:r>
              <a:rPr lang="en-GB" sz="4800" dirty="0"/>
              <a:t>Recognise numbers up to 100</a:t>
            </a:r>
          </a:p>
          <a:p>
            <a:pPr marL="685800" indent="-685800" algn="l">
              <a:buFont typeface="Arial" panose="020B0604020202020204" pitchFamily="34" charset="0"/>
              <a:buChar char="•"/>
            </a:pPr>
            <a:r>
              <a:rPr lang="en-GB" sz="4800" dirty="0"/>
              <a:t>Do simple calculations</a:t>
            </a:r>
          </a:p>
          <a:p>
            <a:pPr marL="685800" indent="-685800" algn="l">
              <a:buFont typeface="Arial" panose="020B0604020202020204" pitchFamily="34" charset="0"/>
              <a:buChar char="•"/>
            </a:pPr>
            <a:r>
              <a:rPr lang="en-GB" sz="4800" dirty="0"/>
              <a:t>Be reasonable</a:t>
            </a:r>
          </a:p>
          <a:p>
            <a:pPr algn="l"/>
            <a:endParaRPr lang="en-GB" sz="4800" dirty="0"/>
          </a:p>
        </p:txBody>
      </p:sp>
    </p:spTree>
    <p:extLst>
      <p:ext uri="{BB962C8B-B14F-4D97-AF65-F5344CB8AC3E}">
        <p14:creationId xmlns:p14="http://schemas.microsoft.com/office/powerpoint/2010/main" val="143595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6"/>
            <a:ext cx="11133056" cy="2831755"/>
          </a:xfrm>
        </p:spPr>
        <p:txBody>
          <a:bodyPr>
            <a:normAutofit fontScale="90000"/>
          </a:bodyPr>
          <a:lstStyle/>
          <a:p>
            <a:r>
              <a:rPr lang="en-GB" sz="6700" b="1" dirty="0"/>
              <a:t>Intellectual (Cognitive) development </a:t>
            </a:r>
            <a:br>
              <a:rPr lang="en-GB" sz="8000" b="1" dirty="0"/>
            </a:br>
            <a:r>
              <a:rPr lang="en-GB" sz="8000" b="1" dirty="0"/>
              <a:t>5-8 years </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327662"/>
            <a:ext cx="10576874" cy="3106132"/>
          </a:xfrm>
        </p:spPr>
        <p:txBody>
          <a:bodyPr>
            <a:normAutofit/>
          </a:bodyPr>
          <a:lstStyle/>
          <a:p>
            <a:pPr algn="l"/>
            <a:r>
              <a:rPr lang="en-GB" sz="4800" dirty="0"/>
              <a:t>Can ‘conserve’ quantities and numbers Complete a simple maze</a:t>
            </a:r>
          </a:p>
          <a:p>
            <a:pPr algn="l"/>
            <a:r>
              <a:rPr lang="en-GB" sz="4800" dirty="0"/>
              <a:t>Starting to tell the time</a:t>
            </a:r>
          </a:p>
          <a:p>
            <a:pPr algn="l"/>
            <a:r>
              <a:rPr lang="en-GB" sz="4800" dirty="0"/>
              <a:t>Understands the need for and uses rules.</a:t>
            </a:r>
          </a:p>
        </p:txBody>
      </p:sp>
    </p:spTree>
    <p:extLst>
      <p:ext uri="{BB962C8B-B14F-4D97-AF65-F5344CB8AC3E}">
        <p14:creationId xmlns:p14="http://schemas.microsoft.com/office/powerpoint/2010/main" val="758098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027D-45A4-4991-8F41-55D69A4F9E21}"/>
              </a:ext>
            </a:extLst>
          </p:cNvPr>
          <p:cNvSpPr>
            <a:spLocks noGrp="1"/>
          </p:cNvSpPr>
          <p:nvPr>
            <p:ph type="title"/>
          </p:nvPr>
        </p:nvSpPr>
        <p:spPr/>
        <p:txBody>
          <a:bodyPr/>
          <a:lstStyle/>
          <a:p>
            <a:r>
              <a:rPr lang="en-GB" dirty="0"/>
              <a:t>Exam questions:</a:t>
            </a:r>
          </a:p>
        </p:txBody>
      </p:sp>
      <p:sp>
        <p:nvSpPr>
          <p:cNvPr id="3" name="Content Placeholder 2">
            <a:extLst>
              <a:ext uri="{FF2B5EF4-FFF2-40B4-BE49-F238E27FC236}">
                <a16:creationId xmlns:a16="http://schemas.microsoft.com/office/drawing/2014/main" id="{F3023286-8032-404B-A183-9DA94ECD1A5C}"/>
              </a:ext>
            </a:extLst>
          </p:cNvPr>
          <p:cNvSpPr>
            <a:spLocks noGrp="1"/>
          </p:cNvSpPr>
          <p:nvPr>
            <p:ph idx="1"/>
          </p:nvPr>
        </p:nvSpPr>
        <p:spPr/>
        <p:txBody>
          <a:bodyPr/>
          <a:lstStyle/>
          <a:p>
            <a:pPr marL="514350" indent="-514350">
              <a:buAutoNum type="arabicPeriod"/>
            </a:pPr>
            <a:r>
              <a:rPr lang="en-GB" dirty="0"/>
              <a:t>Give </a:t>
            </a:r>
            <a:r>
              <a:rPr lang="en-GB" dirty="0">
                <a:solidFill>
                  <a:srgbClr val="FF0000"/>
                </a:solidFill>
              </a:rPr>
              <a:t>one </a:t>
            </a:r>
            <a:r>
              <a:rPr lang="en-GB" dirty="0"/>
              <a:t>cognitive milestone that a child should reach between 5- 8 years?  (1 mark)</a:t>
            </a:r>
          </a:p>
          <a:p>
            <a:pPr marL="514350" indent="-514350">
              <a:buAutoNum type="arabicPeriod"/>
            </a:pPr>
            <a:r>
              <a:rPr lang="en-GB" dirty="0"/>
              <a:t>Describe what is meant by conserving quantities? (1 mark)</a:t>
            </a:r>
          </a:p>
          <a:p>
            <a:pPr marL="514350" indent="-514350">
              <a:buAutoNum type="arabicPeriod"/>
            </a:pPr>
            <a:r>
              <a:rPr lang="en-GB" dirty="0"/>
              <a:t>How can an adult encourage a child to tell the time? (2 marks)</a:t>
            </a:r>
          </a:p>
          <a:p>
            <a:pPr marL="514350" indent="-514350">
              <a:buAutoNum type="arabicPeriod"/>
            </a:pPr>
            <a:r>
              <a:rPr lang="en-GB" dirty="0"/>
              <a:t>Why is it important for child to understand rules? (2 marks)</a:t>
            </a:r>
          </a:p>
          <a:p>
            <a:pPr marL="514350" indent="-514350">
              <a:buAutoNum type="arabicPeriod"/>
            </a:pPr>
            <a:r>
              <a:rPr lang="en-GB" dirty="0"/>
              <a:t>What type of activities should an adult do with children at this age? (1 mark)</a:t>
            </a:r>
          </a:p>
          <a:p>
            <a:pPr marL="514350" indent="-514350">
              <a:buAutoNum type="arabicPeriod"/>
            </a:pPr>
            <a:r>
              <a:rPr lang="en-GB" dirty="0"/>
              <a:t>What happens to a child emotionally if they have learning difficulties? (2 marks)</a:t>
            </a:r>
          </a:p>
          <a:p>
            <a:pPr marL="0" indent="0">
              <a:buNone/>
            </a:pPr>
            <a:endParaRPr lang="en-GB" dirty="0"/>
          </a:p>
        </p:txBody>
      </p:sp>
    </p:spTree>
    <p:extLst>
      <p:ext uri="{BB962C8B-B14F-4D97-AF65-F5344CB8AC3E}">
        <p14:creationId xmlns:p14="http://schemas.microsoft.com/office/powerpoint/2010/main" val="3113436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0EC09-7549-458F-B86B-832722F679FF}"/>
              </a:ext>
            </a:extLst>
          </p:cNvPr>
          <p:cNvSpPr>
            <a:spLocks noGrp="1"/>
          </p:cNvSpPr>
          <p:nvPr>
            <p:ph type="title"/>
          </p:nvPr>
        </p:nvSpPr>
        <p:spPr/>
        <p:txBody>
          <a:bodyPr/>
          <a:lstStyle/>
          <a:p>
            <a:r>
              <a:rPr lang="en-GB" dirty="0"/>
              <a:t>Re cap language and communication</a:t>
            </a:r>
          </a:p>
        </p:txBody>
      </p:sp>
      <p:sp>
        <p:nvSpPr>
          <p:cNvPr id="3" name="Content Placeholder 2">
            <a:extLst>
              <a:ext uri="{FF2B5EF4-FFF2-40B4-BE49-F238E27FC236}">
                <a16:creationId xmlns:a16="http://schemas.microsoft.com/office/drawing/2014/main" id="{63115BC2-00B0-4C9C-A1E5-AD26BD7D170D}"/>
              </a:ext>
            </a:extLst>
          </p:cNvPr>
          <p:cNvSpPr>
            <a:spLocks noGrp="1"/>
          </p:cNvSpPr>
          <p:nvPr>
            <p:ph idx="1"/>
          </p:nvPr>
        </p:nvSpPr>
        <p:spPr/>
        <p:txBody>
          <a:bodyPr/>
          <a:lstStyle/>
          <a:p>
            <a:r>
              <a:rPr lang="en-GB" dirty="0"/>
              <a:t>Answer the questions</a:t>
            </a:r>
          </a:p>
        </p:txBody>
      </p:sp>
    </p:spTree>
    <p:extLst>
      <p:ext uri="{BB962C8B-B14F-4D97-AF65-F5344CB8AC3E}">
        <p14:creationId xmlns:p14="http://schemas.microsoft.com/office/powerpoint/2010/main" val="4282888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7"/>
            <a:ext cx="11133056" cy="2205872"/>
          </a:xfrm>
        </p:spPr>
        <p:txBody>
          <a:bodyPr>
            <a:normAutofit fontScale="90000"/>
          </a:bodyPr>
          <a:lstStyle/>
          <a:p>
            <a:r>
              <a:rPr lang="en-GB" sz="8000" b="1" dirty="0"/>
              <a:t>Language and communication- Birth</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073138"/>
            <a:ext cx="10784264" cy="3360656"/>
          </a:xfrm>
        </p:spPr>
        <p:txBody>
          <a:bodyPr>
            <a:normAutofit/>
          </a:bodyPr>
          <a:lstStyle/>
          <a:p>
            <a:pPr algn="l"/>
            <a:r>
              <a:rPr lang="en-GB" sz="4800" dirty="0"/>
              <a:t>At one month can turn head to adult voice</a:t>
            </a:r>
          </a:p>
          <a:p>
            <a:pPr algn="l"/>
            <a:r>
              <a:rPr lang="en-GB" sz="4800" dirty="0"/>
              <a:t>At six weeks begins to coo</a:t>
            </a:r>
          </a:p>
        </p:txBody>
      </p:sp>
    </p:spTree>
    <p:extLst>
      <p:ext uri="{BB962C8B-B14F-4D97-AF65-F5344CB8AC3E}">
        <p14:creationId xmlns:p14="http://schemas.microsoft.com/office/powerpoint/2010/main" val="1055744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4624-88A2-4FA6-8ED7-1C5609D3BF52}"/>
              </a:ext>
            </a:extLst>
          </p:cNvPr>
          <p:cNvSpPr>
            <a:spLocks noGrp="1"/>
          </p:cNvSpPr>
          <p:nvPr>
            <p:ph type="ctrTitle"/>
          </p:nvPr>
        </p:nvSpPr>
        <p:spPr>
          <a:xfrm>
            <a:off x="471340" y="424207"/>
            <a:ext cx="11133056" cy="2205872"/>
          </a:xfrm>
        </p:spPr>
        <p:txBody>
          <a:bodyPr>
            <a:normAutofit fontScale="90000"/>
          </a:bodyPr>
          <a:lstStyle/>
          <a:p>
            <a:r>
              <a:rPr lang="en-GB" sz="8000" b="1" dirty="0"/>
              <a:t>Language and communication</a:t>
            </a:r>
          </a:p>
        </p:txBody>
      </p:sp>
      <p:sp>
        <p:nvSpPr>
          <p:cNvPr id="3" name="Subtitle 2">
            <a:extLst>
              <a:ext uri="{FF2B5EF4-FFF2-40B4-BE49-F238E27FC236}">
                <a16:creationId xmlns:a16="http://schemas.microsoft.com/office/drawing/2014/main" id="{5DD3A717-4F79-4563-B6FB-3F1C63B3E76F}"/>
              </a:ext>
            </a:extLst>
          </p:cNvPr>
          <p:cNvSpPr>
            <a:spLocks noGrp="1"/>
          </p:cNvSpPr>
          <p:nvPr>
            <p:ph type="subTitle" idx="1"/>
          </p:nvPr>
        </p:nvSpPr>
        <p:spPr>
          <a:xfrm>
            <a:off x="688157" y="3073138"/>
            <a:ext cx="10784264" cy="3360656"/>
          </a:xfrm>
        </p:spPr>
        <p:txBody>
          <a:bodyPr>
            <a:normAutofit/>
          </a:bodyPr>
          <a:lstStyle/>
          <a:p>
            <a:pPr algn="l"/>
            <a:r>
              <a:rPr lang="en-GB" sz="4800" dirty="0"/>
              <a:t>At three months smiles when hears a familiar voice</a:t>
            </a:r>
          </a:p>
        </p:txBody>
      </p:sp>
    </p:spTree>
    <p:extLst>
      <p:ext uri="{BB962C8B-B14F-4D97-AF65-F5344CB8AC3E}">
        <p14:creationId xmlns:p14="http://schemas.microsoft.com/office/powerpoint/2010/main" val="415045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six months makes short babbling sounds, such as ‘da’ and ‘</a:t>
            </a:r>
            <a:r>
              <a:rPr lang="en-GB" sz="4000" dirty="0" err="1"/>
              <a:t>ba</a:t>
            </a:r>
            <a:endParaRPr lang="en-GB" sz="4000" dirty="0"/>
          </a:p>
        </p:txBody>
      </p:sp>
    </p:spTree>
    <p:extLst>
      <p:ext uri="{BB962C8B-B14F-4D97-AF65-F5344CB8AC3E}">
        <p14:creationId xmlns:p14="http://schemas.microsoft.com/office/powerpoint/2010/main" val="3584510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nine months understands ‘no’, vocalises in long strings of babbling</a:t>
            </a:r>
          </a:p>
        </p:txBody>
      </p:sp>
    </p:spTree>
    <p:extLst>
      <p:ext uri="{BB962C8B-B14F-4D97-AF65-F5344CB8AC3E}">
        <p14:creationId xmlns:p14="http://schemas.microsoft.com/office/powerpoint/2010/main" val="1320313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twelve months knows own name and understands simple instructions.</a:t>
            </a:r>
          </a:p>
        </p:txBody>
      </p:sp>
    </p:spTree>
    <p:extLst>
      <p:ext uri="{BB962C8B-B14F-4D97-AF65-F5344CB8AC3E}">
        <p14:creationId xmlns:p14="http://schemas.microsoft.com/office/powerpoint/2010/main" val="183075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fifteen months communicates by pointing and vocalising</a:t>
            </a:r>
          </a:p>
          <a:p>
            <a:pPr marL="0" indent="0" algn="ctr">
              <a:buNone/>
            </a:pPr>
            <a:endParaRPr lang="en-GB" sz="4000" dirty="0"/>
          </a:p>
          <a:p>
            <a:pPr marL="0" indent="0" algn="ctr">
              <a:buNone/>
            </a:pPr>
            <a:r>
              <a:rPr lang="en-GB" sz="4000" dirty="0"/>
              <a:t>Has up to six words</a:t>
            </a:r>
          </a:p>
        </p:txBody>
      </p:sp>
    </p:spTree>
    <p:extLst>
      <p:ext uri="{BB962C8B-B14F-4D97-AF65-F5344CB8AC3E}">
        <p14:creationId xmlns:p14="http://schemas.microsoft.com/office/powerpoint/2010/main" val="15102981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eighteen months has around 15 words</a:t>
            </a:r>
          </a:p>
          <a:p>
            <a:pPr marL="0" indent="0" algn="ctr">
              <a:buNone/>
            </a:pPr>
            <a:endParaRPr lang="en-GB" sz="4000" dirty="0"/>
          </a:p>
          <a:p>
            <a:pPr marL="0" indent="0" algn="ctr">
              <a:buNone/>
            </a:pPr>
            <a:r>
              <a:rPr lang="en-GB" sz="4000" dirty="0"/>
              <a:t>Able to communicate wishes</a:t>
            </a:r>
          </a:p>
          <a:p>
            <a:pPr marL="0" indent="0" algn="ctr">
              <a:buNone/>
            </a:pPr>
            <a:endParaRPr lang="en-GB" sz="4000" dirty="0"/>
          </a:p>
          <a:p>
            <a:pPr marL="0" indent="0" algn="ctr">
              <a:buNone/>
            </a:pPr>
            <a:r>
              <a:rPr lang="en-GB" sz="4000" dirty="0"/>
              <a:t>Understands simple requests </a:t>
            </a:r>
          </a:p>
          <a:p>
            <a:pPr marL="0" indent="0" algn="ctr">
              <a:buNone/>
            </a:pPr>
            <a:endParaRPr lang="en-GB" sz="4000" dirty="0"/>
          </a:p>
        </p:txBody>
      </p:sp>
    </p:spTree>
    <p:extLst>
      <p:ext uri="{BB962C8B-B14F-4D97-AF65-F5344CB8AC3E}">
        <p14:creationId xmlns:p14="http://schemas.microsoft.com/office/powerpoint/2010/main" val="1057134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two years has up to 50 words</a:t>
            </a:r>
          </a:p>
          <a:p>
            <a:pPr marL="0" indent="0" algn="ctr">
              <a:buNone/>
            </a:pPr>
            <a:endParaRPr lang="en-GB" sz="4000" dirty="0"/>
          </a:p>
          <a:p>
            <a:pPr marL="0" indent="0" algn="ctr">
              <a:buNone/>
            </a:pPr>
            <a:r>
              <a:rPr lang="en-GB" sz="4000" dirty="0"/>
              <a:t>Able to join words</a:t>
            </a:r>
          </a:p>
          <a:p>
            <a:pPr marL="0" indent="0" algn="ctr">
              <a:buNone/>
            </a:pPr>
            <a:endParaRPr lang="en-GB" sz="4000" dirty="0"/>
          </a:p>
          <a:p>
            <a:pPr marL="0" indent="0" algn="ctr">
              <a:buNone/>
            </a:pPr>
            <a:r>
              <a:rPr lang="en-GB" sz="4000" dirty="0"/>
              <a:t>Enjoys looking at books</a:t>
            </a:r>
          </a:p>
        </p:txBody>
      </p:sp>
    </p:spTree>
    <p:extLst>
      <p:ext uri="{BB962C8B-B14F-4D97-AF65-F5344CB8AC3E}">
        <p14:creationId xmlns:p14="http://schemas.microsoft.com/office/powerpoint/2010/main" val="4216711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lnSpcReduction="10000"/>
          </a:bodyPr>
          <a:lstStyle/>
          <a:p>
            <a:pPr marL="0" indent="0" algn="ctr">
              <a:buNone/>
            </a:pPr>
            <a:r>
              <a:rPr lang="en-GB" sz="4000" dirty="0"/>
              <a:t>At two and half years has up to 200 words</a:t>
            </a:r>
          </a:p>
          <a:p>
            <a:pPr marL="0" indent="0" algn="ctr">
              <a:buNone/>
            </a:pPr>
            <a:endParaRPr lang="en-GB" sz="4000" dirty="0"/>
          </a:p>
          <a:p>
            <a:pPr marL="0" indent="0" algn="ctr">
              <a:buNone/>
            </a:pPr>
            <a:r>
              <a:rPr lang="en-GB" sz="4000" dirty="0"/>
              <a:t>Starting to use sentences</a:t>
            </a:r>
          </a:p>
          <a:p>
            <a:pPr marL="0" indent="0" algn="ctr">
              <a:buNone/>
            </a:pPr>
            <a:endParaRPr lang="en-GB" sz="4000" dirty="0"/>
          </a:p>
          <a:p>
            <a:pPr marL="0" indent="0" algn="ctr">
              <a:buNone/>
            </a:pPr>
            <a:r>
              <a:rPr lang="en-GB" sz="4000" dirty="0"/>
              <a:t>Ask questions</a:t>
            </a:r>
          </a:p>
          <a:p>
            <a:pPr marL="0" indent="0" algn="ctr">
              <a:buNone/>
            </a:pPr>
            <a:endParaRPr lang="en-GB" sz="4000" dirty="0"/>
          </a:p>
          <a:p>
            <a:pPr marL="0" indent="0" algn="ctr">
              <a:buNone/>
            </a:pPr>
            <a:r>
              <a:rPr lang="en-GB" sz="4000" dirty="0"/>
              <a:t>Plurals </a:t>
            </a:r>
          </a:p>
        </p:txBody>
      </p:sp>
    </p:spTree>
    <p:extLst>
      <p:ext uri="{BB962C8B-B14F-4D97-AF65-F5344CB8AC3E}">
        <p14:creationId xmlns:p14="http://schemas.microsoft.com/office/powerpoint/2010/main" val="34579630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3 years speech is clear </a:t>
            </a:r>
          </a:p>
          <a:p>
            <a:pPr marL="0" indent="0" algn="ctr">
              <a:buNone/>
            </a:pPr>
            <a:endParaRPr lang="en-GB" sz="4000" dirty="0"/>
          </a:p>
          <a:p>
            <a:pPr marL="0" indent="0" algn="ctr">
              <a:buNone/>
            </a:pPr>
            <a:r>
              <a:rPr lang="en-GB" sz="4000" dirty="0"/>
              <a:t>Enjoy books and turn pages</a:t>
            </a:r>
          </a:p>
        </p:txBody>
      </p:sp>
    </p:spTree>
    <p:extLst>
      <p:ext uri="{BB962C8B-B14F-4D97-AF65-F5344CB8AC3E}">
        <p14:creationId xmlns:p14="http://schemas.microsoft.com/office/powerpoint/2010/main" val="3887426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communication- 3-4 YEARS </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Speech is easily understood </a:t>
            </a:r>
          </a:p>
          <a:p>
            <a:pPr marL="0" indent="0" algn="ctr">
              <a:buNone/>
            </a:pPr>
            <a:endParaRPr lang="en-GB" sz="4000" dirty="0"/>
          </a:p>
          <a:p>
            <a:pPr marL="0" indent="0" algn="ctr">
              <a:buNone/>
            </a:pPr>
            <a:r>
              <a:rPr lang="en-GB" sz="4000" dirty="0"/>
              <a:t>Uses questions </a:t>
            </a:r>
          </a:p>
          <a:p>
            <a:pPr marL="0" indent="0" algn="ctr">
              <a:buNone/>
            </a:pPr>
            <a:endParaRPr lang="en-GB" sz="4000" dirty="0"/>
          </a:p>
          <a:p>
            <a:pPr marL="0" indent="0" algn="ctr">
              <a:buNone/>
            </a:pPr>
            <a:r>
              <a:rPr lang="en-GB" sz="4000" dirty="0"/>
              <a:t>By 4 language is fluent, with some speech immaturities</a:t>
            </a:r>
          </a:p>
          <a:p>
            <a:pPr marL="0" indent="0" algn="ctr">
              <a:buNone/>
            </a:pPr>
            <a:endParaRPr lang="en-GB" sz="4000" dirty="0"/>
          </a:p>
        </p:txBody>
      </p:sp>
    </p:spTree>
    <p:extLst>
      <p:ext uri="{BB962C8B-B14F-4D97-AF65-F5344CB8AC3E}">
        <p14:creationId xmlns:p14="http://schemas.microsoft.com/office/powerpoint/2010/main" val="128766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communication- 4-5 YEARS </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endParaRPr lang="en-GB" sz="4000" dirty="0"/>
          </a:p>
          <a:p>
            <a:pPr marL="0" indent="0" algn="ctr">
              <a:buNone/>
            </a:pPr>
            <a:r>
              <a:rPr lang="en-GB" sz="4000" dirty="0"/>
              <a:t> Four to five years can count accurately up to 10 Use complex sentences with words such as ‘because’, </a:t>
            </a:r>
          </a:p>
          <a:p>
            <a:pPr marL="0" indent="0" algn="ctr">
              <a:buNone/>
            </a:pPr>
            <a:r>
              <a:rPr lang="en-GB" sz="4000" dirty="0"/>
              <a:t>Can talk about what has happened and what might happen</a:t>
            </a:r>
          </a:p>
          <a:p>
            <a:pPr marL="0" indent="0" algn="ctr">
              <a:buNone/>
            </a:pPr>
            <a:r>
              <a:rPr lang="en-GB" sz="4000" dirty="0"/>
              <a:t>Use language to argue and answer back.</a:t>
            </a:r>
          </a:p>
        </p:txBody>
      </p:sp>
    </p:spTree>
    <p:extLst>
      <p:ext uri="{BB962C8B-B14F-4D97-AF65-F5344CB8AC3E}">
        <p14:creationId xmlns:p14="http://schemas.microsoft.com/office/powerpoint/2010/main" val="1359383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b="1" dirty="0"/>
              <a:t>Language and communication- 5-8 YEARS </a:t>
            </a:r>
            <a:endParaRPr lang="en-GB" dirty="0"/>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At 5-8 years using language to reason</a:t>
            </a:r>
          </a:p>
          <a:p>
            <a:pPr marL="0" indent="0" algn="ctr">
              <a:buNone/>
            </a:pPr>
            <a:r>
              <a:rPr lang="en-GB" sz="4000" dirty="0"/>
              <a:t>Explain their ideas</a:t>
            </a:r>
          </a:p>
          <a:p>
            <a:pPr marL="0" indent="0" algn="ctr">
              <a:buNone/>
            </a:pPr>
            <a:r>
              <a:rPr lang="en-GB" sz="4000" dirty="0"/>
              <a:t>Understand jokes</a:t>
            </a:r>
          </a:p>
          <a:p>
            <a:pPr marL="0" indent="0" algn="ctr">
              <a:buNone/>
            </a:pPr>
            <a:r>
              <a:rPr lang="en-GB" sz="4000" dirty="0"/>
              <a:t>Use more complex sentences</a:t>
            </a:r>
          </a:p>
          <a:p>
            <a:pPr marL="0" indent="0" algn="ctr">
              <a:buNone/>
            </a:pPr>
            <a:r>
              <a:rPr lang="en-GB" sz="4000" dirty="0"/>
              <a:t>Ask – who, what , why…</a:t>
            </a:r>
          </a:p>
          <a:p>
            <a:pPr marL="0" indent="0" algn="ctr">
              <a:buNone/>
            </a:pPr>
            <a:r>
              <a:rPr lang="en-GB" sz="4000" dirty="0"/>
              <a:t>By 8 years- can read and write (basics)</a:t>
            </a:r>
          </a:p>
        </p:txBody>
      </p:sp>
    </p:spTree>
    <p:extLst>
      <p:ext uri="{BB962C8B-B14F-4D97-AF65-F5344CB8AC3E}">
        <p14:creationId xmlns:p14="http://schemas.microsoft.com/office/powerpoint/2010/main" val="34826409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B80D5-6E4A-4790-8EAF-62196097B7F8}"/>
              </a:ext>
            </a:extLst>
          </p:cNvPr>
          <p:cNvSpPr>
            <a:spLocks noGrp="1"/>
          </p:cNvSpPr>
          <p:nvPr>
            <p:ph type="title"/>
          </p:nvPr>
        </p:nvSpPr>
        <p:spPr/>
        <p:txBody>
          <a:bodyPr/>
          <a:lstStyle/>
          <a:p>
            <a:r>
              <a:rPr lang="en-GB" dirty="0"/>
              <a:t>Exam question</a:t>
            </a:r>
          </a:p>
        </p:txBody>
      </p:sp>
      <p:sp>
        <p:nvSpPr>
          <p:cNvPr id="3" name="Content Placeholder 2">
            <a:extLst>
              <a:ext uri="{FF2B5EF4-FFF2-40B4-BE49-F238E27FC236}">
                <a16:creationId xmlns:a16="http://schemas.microsoft.com/office/drawing/2014/main" id="{4DBD3956-94B5-4A9D-84D6-59CB88C8B851}"/>
              </a:ext>
            </a:extLst>
          </p:cNvPr>
          <p:cNvSpPr>
            <a:spLocks noGrp="1"/>
          </p:cNvSpPr>
          <p:nvPr>
            <p:ph idx="1"/>
          </p:nvPr>
        </p:nvSpPr>
        <p:spPr/>
        <p:txBody>
          <a:bodyPr/>
          <a:lstStyle/>
          <a:p>
            <a:pPr marL="514350" indent="-514350">
              <a:buAutoNum type="arabicPeriod"/>
            </a:pPr>
            <a:r>
              <a:rPr lang="en-GB" dirty="0"/>
              <a:t>Give </a:t>
            </a:r>
            <a:r>
              <a:rPr lang="en-GB" dirty="0">
                <a:solidFill>
                  <a:srgbClr val="FF0000"/>
                </a:solidFill>
              </a:rPr>
              <a:t>2 communication </a:t>
            </a:r>
            <a:r>
              <a:rPr lang="en-GB" dirty="0"/>
              <a:t>milestones that a child should reach between 5 and 8 years (2 MARKS)</a:t>
            </a:r>
          </a:p>
          <a:p>
            <a:pPr marL="514350" indent="-514350">
              <a:buAutoNum type="arabicPeriod"/>
            </a:pPr>
            <a:r>
              <a:rPr lang="en-GB" dirty="0"/>
              <a:t>A child at 5 years can count to ?</a:t>
            </a:r>
          </a:p>
          <a:p>
            <a:pPr marL="514350" indent="-514350">
              <a:buAutoNum type="arabicPeriod"/>
            </a:pPr>
            <a:r>
              <a:rPr lang="en-GB" dirty="0"/>
              <a:t>At what age does a child argue and answer back? (it not 14!)</a:t>
            </a:r>
          </a:p>
          <a:p>
            <a:pPr marL="514350" indent="-514350">
              <a:buAutoNum type="arabicPeriod"/>
            </a:pPr>
            <a:r>
              <a:rPr lang="en-GB" dirty="0"/>
              <a:t>Give an example of a word that would make a sentence more complex for a child at the age of 5? </a:t>
            </a:r>
            <a:r>
              <a:rPr lang="en-GB"/>
              <a:t>(1 mark)</a:t>
            </a:r>
            <a:endParaRPr lang="en-GB" dirty="0"/>
          </a:p>
          <a:p>
            <a:pPr marL="0" indent="0">
              <a:buNone/>
            </a:pPr>
            <a:endParaRPr lang="en-GB" dirty="0"/>
          </a:p>
        </p:txBody>
      </p:sp>
    </p:spTree>
    <p:extLst>
      <p:ext uri="{BB962C8B-B14F-4D97-AF65-F5344CB8AC3E}">
        <p14:creationId xmlns:p14="http://schemas.microsoft.com/office/powerpoint/2010/main" val="21167712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dirty="0"/>
              <a:t>Emotional development – birth – 2 years </a:t>
            </a:r>
          </a:p>
        </p:txBody>
      </p:sp>
      <p:sp>
        <p:nvSpPr>
          <p:cNvPr id="3" name="Content Placeholder 2">
            <a:extLst>
              <a:ext uri="{FF2B5EF4-FFF2-40B4-BE49-F238E27FC236}">
                <a16:creationId xmlns:a16="http://schemas.microsoft.com/office/drawing/2014/main" id="{769117B7-6D96-40B3-9CB9-CC54B9BA4E23}"/>
              </a:ext>
            </a:extLst>
          </p:cNvPr>
          <p:cNvSpPr>
            <a:spLocks noGrp="1"/>
          </p:cNvSpPr>
          <p:nvPr>
            <p:ph idx="1"/>
          </p:nvPr>
        </p:nvSpPr>
        <p:spPr/>
        <p:txBody>
          <a:bodyPr>
            <a:normAutofit/>
          </a:bodyPr>
          <a:lstStyle/>
          <a:p>
            <a:pPr marL="0" indent="0" algn="ctr">
              <a:buNone/>
            </a:pPr>
            <a:r>
              <a:rPr lang="en-GB" sz="4000" dirty="0"/>
              <a:t>An one month can focus on human faces with interest</a:t>
            </a:r>
          </a:p>
          <a:p>
            <a:pPr marL="0" indent="0" algn="ctr">
              <a:buNone/>
            </a:pPr>
            <a:r>
              <a:rPr lang="en-GB" sz="4000" dirty="0"/>
              <a:t>At six weeks can smile</a:t>
            </a:r>
          </a:p>
        </p:txBody>
      </p:sp>
    </p:spTree>
    <p:extLst>
      <p:ext uri="{BB962C8B-B14F-4D97-AF65-F5344CB8AC3E}">
        <p14:creationId xmlns:p14="http://schemas.microsoft.com/office/powerpoint/2010/main" val="9390639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dirty="0"/>
              <a:t>Emotional development – birth – 2 years </a:t>
            </a:r>
          </a:p>
        </p:txBody>
      </p:sp>
      <p:sp>
        <p:nvSpPr>
          <p:cNvPr id="4" name="Rectangle 3">
            <a:extLst>
              <a:ext uri="{FF2B5EF4-FFF2-40B4-BE49-F238E27FC236}">
                <a16:creationId xmlns:a16="http://schemas.microsoft.com/office/drawing/2014/main" id="{4C75D3A9-33BA-4FDF-8AE5-08B61E589353}"/>
              </a:ext>
            </a:extLst>
          </p:cNvPr>
          <p:cNvSpPr/>
          <p:nvPr/>
        </p:nvSpPr>
        <p:spPr>
          <a:xfrm>
            <a:off x="1114425" y="1579513"/>
            <a:ext cx="9677400" cy="4524315"/>
          </a:xfrm>
          <a:prstGeom prst="rect">
            <a:avLst/>
          </a:prstGeom>
        </p:spPr>
        <p:txBody>
          <a:bodyPr wrap="square">
            <a:spAutoFit/>
          </a:bodyPr>
          <a:lstStyle/>
          <a:p>
            <a:pPr marL="457200" indent="-457200">
              <a:buFont typeface="Arial" panose="020B0604020202020204" pitchFamily="34" charset="0"/>
              <a:buChar char="•"/>
            </a:pPr>
            <a:r>
              <a:rPr lang="en-GB" sz="3200" dirty="0"/>
              <a:t>3 months enjoys being held and forms attachments </a:t>
            </a:r>
          </a:p>
          <a:p>
            <a:pPr marL="457200" indent="-457200">
              <a:buFont typeface="Arial" panose="020B0604020202020204" pitchFamily="34" charset="0"/>
              <a:buChar char="•"/>
            </a:pPr>
            <a:r>
              <a:rPr lang="en-GB" sz="3200" dirty="0"/>
              <a:t>6 months can recognise and respond to emotions in others </a:t>
            </a:r>
          </a:p>
          <a:p>
            <a:pPr marL="457200" indent="-457200">
              <a:buFont typeface="Arial" panose="020B0604020202020204" pitchFamily="34" charset="0"/>
              <a:buChar char="•"/>
            </a:pPr>
            <a:r>
              <a:rPr lang="en-GB" sz="3200" dirty="0"/>
              <a:t>7 to 8 months can form specific attachments and show wariness of strangers </a:t>
            </a:r>
          </a:p>
          <a:p>
            <a:pPr marL="457200" indent="-457200">
              <a:buFont typeface="Arial" panose="020B0604020202020204" pitchFamily="34" charset="0"/>
              <a:buChar char="•"/>
            </a:pPr>
            <a:r>
              <a:rPr lang="en-GB" sz="3200" dirty="0"/>
              <a:t>8 months develops specific attachments and imitates actions of others, such as clapping </a:t>
            </a:r>
          </a:p>
          <a:p>
            <a:pPr marL="457200" indent="-457200">
              <a:buFont typeface="Arial" panose="020B0604020202020204" pitchFamily="34" charset="0"/>
              <a:buChar char="•"/>
            </a:pPr>
            <a:r>
              <a:rPr lang="en-GB" sz="3200" dirty="0"/>
              <a:t>8 months experiences separation anxiety from primary carer(s)</a:t>
            </a:r>
          </a:p>
        </p:txBody>
      </p:sp>
    </p:spTree>
    <p:extLst>
      <p:ext uri="{BB962C8B-B14F-4D97-AF65-F5344CB8AC3E}">
        <p14:creationId xmlns:p14="http://schemas.microsoft.com/office/powerpoint/2010/main" val="3368455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5025-3A57-4C54-BE67-5DC1738BA295}"/>
              </a:ext>
            </a:extLst>
          </p:cNvPr>
          <p:cNvSpPr>
            <a:spLocks noGrp="1"/>
          </p:cNvSpPr>
          <p:nvPr>
            <p:ph type="title"/>
          </p:nvPr>
        </p:nvSpPr>
        <p:spPr/>
        <p:txBody>
          <a:bodyPr/>
          <a:lstStyle/>
          <a:p>
            <a:pPr algn="ctr"/>
            <a:r>
              <a:rPr lang="en-GB" dirty="0"/>
              <a:t>Emotional development – birth – 2 years </a:t>
            </a:r>
          </a:p>
        </p:txBody>
      </p:sp>
      <p:sp>
        <p:nvSpPr>
          <p:cNvPr id="5" name="Content Placeholder 4">
            <a:extLst>
              <a:ext uri="{FF2B5EF4-FFF2-40B4-BE49-F238E27FC236}">
                <a16:creationId xmlns:a16="http://schemas.microsoft.com/office/drawing/2014/main" id="{5759E391-2520-48C4-8E8F-584E69A37E43}"/>
              </a:ext>
            </a:extLst>
          </p:cNvPr>
          <p:cNvSpPr>
            <a:spLocks noGrp="1"/>
          </p:cNvSpPr>
          <p:nvPr>
            <p:ph idx="1"/>
          </p:nvPr>
        </p:nvSpPr>
        <p:spPr>
          <a:xfrm>
            <a:off x="523875" y="1825625"/>
            <a:ext cx="11134725" cy="4742837"/>
          </a:xfrm>
          <a:prstGeom prst="rect">
            <a:avLst/>
          </a:prstGeom>
        </p:spPr>
        <p:txBody>
          <a:bodyPr wrap="square">
            <a:spAutoFit/>
          </a:bodyPr>
          <a:lstStyle/>
          <a:p>
            <a:pPr marL="0" indent="0">
              <a:buNone/>
            </a:pPr>
            <a:r>
              <a:rPr lang="en-GB" dirty="0"/>
              <a:t>● at eighteen months dependent on parents and key persons, plays alone but enjoys being near adults and siblings, insistent on immediate attention to needs and can copy adult actions </a:t>
            </a:r>
          </a:p>
          <a:p>
            <a:pPr marL="0" indent="0">
              <a:buNone/>
            </a:pPr>
            <a:r>
              <a:rPr lang="en-GB" dirty="0"/>
              <a:t>● at two years unable to wait for needs to be met, may be distracted from tantrums, plays in parallel with other children but unable to share toys </a:t>
            </a:r>
          </a:p>
          <a:p>
            <a:pPr marL="0" indent="0">
              <a:buNone/>
            </a:pPr>
            <a:r>
              <a:rPr lang="en-GB" dirty="0"/>
              <a:t>● at two and a half years plays alongside other children and engages in onlooker play, very dependent on adults and jealous of other children gaining attention, responds well to adult attention and praise, and has tantrums when frustrated </a:t>
            </a:r>
          </a:p>
          <a:p>
            <a:pPr marL="0" indent="0">
              <a:buNone/>
            </a:pPr>
            <a:r>
              <a:rPr lang="en-GB" dirty="0"/>
              <a:t>● at three years finds it easier to wait, starting to take turns and share, enjoys being with other children and will comfort another child</a:t>
            </a:r>
          </a:p>
        </p:txBody>
      </p:sp>
    </p:spTree>
    <p:extLst>
      <p:ext uri="{BB962C8B-B14F-4D97-AF65-F5344CB8AC3E}">
        <p14:creationId xmlns:p14="http://schemas.microsoft.com/office/powerpoint/2010/main" val="1668485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34A2-31C5-479D-A847-20AA0165550D}"/>
              </a:ext>
            </a:extLst>
          </p:cNvPr>
          <p:cNvSpPr>
            <a:spLocks noGrp="1"/>
          </p:cNvSpPr>
          <p:nvPr>
            <p:ph type="title"/>
          </p:nvPr>
        </p:nvSpPr>
        <p:spPr/>
        <p:txBody>
          <a:bodyPr>
            <a:normAutofit fontScale="90000"/>
          </a:bodyPr>
          <a:lstStyle/>
          <a:p>
            <a:r>
              <a:rPr lang="en-GB" dirty="0"/>
              <a:t>Scenario: Karen is 6 months old and recognises and responds to the emotions of others.</a:t>
            </a:r>
          </a:p>
        </p:txBody>
      </p:sp>
      <p:sp>
        <p:nvSpPr>
          <p:cNvPr id="3" name="Content Placeholder 2">
            <a:extLst>
              <a:ext uri="{FF2B5EF4-FFF2-40B4-BE49-F238E27FC236}">
                <a16:creationId xmlns:a16="http://schemas.microsoft.com/office/drawing/2014/main" id="{1EE5A836-3620-47D8-AF5B-7B424B74945F}"/>
              </a:ext>
            </a:extLst>
          </p:cNvPr>
          <p:cNvSpPr>
            <a:spLocks noGrp="1"/>
          </p:cNvSpPr>
          <p:nvPr>
            <p:ph idx="1"/>
          </p:nvPr>
        </p:nvSpPr>
        <p:spPr/>
        <p:txBody>
          <a:bodyPr/>
          <a:lstStyle/>
          <a:p>
            <a:pPr marL="0" indent="0">
              <a:buNone/>
            </a:pPr>
            <a:r>
              <a:rPr lang="en-GB" dirty="0"/>
              <a:t>Question: </a:t>
            </a:r>
          </a:p>
          <a:p>
            <a:r>
              <a:rPr lang="en-GB" dirty="0"/>
              <a:t>Give two other </a:t>
            </a:r>
            <a:r>
              <a:rPr lang="en-GB" dirty="0">
                <a:solidFill>
                  <a:srgbClr val="FF0000"/>
                </a:solidFill>
              </a:rPr>
              <a:t>emotional and social milestones </a:t>
            </a:r>
            <a:r>
              <a:rPr lang="en-GB" dirty="0"/>
              <a:t>Karen should develop between 6 and 12 months (2 marks)</a:t>
            </a:r>
          </a:p>
          <a:p>
            <a:endParaRPr lang="en-GB" dirty="0"/>
          </a:p>
          <a:p>
            <a:pPr marL="0" indent="0">
              <a:buNone/>
            </a:pPr>
            <a:r>
              <a:rPr lang="en-GB" dirty="0"/>
              <a:t>Answer:</a:t>
            </a:r>
          </a:p>
          <a:p>
            <a:pPr marL="0" indent="0">
              <a:buNone/>
            </a:pPr>
            <a:r>
              <a:rPr lang="en-GB" dirty="0"/>
              <a:t>1.Karen should be developing specific attachments (1 mark)</a:t>
            </a:r>
          </a:p>
          <a:p>
            <a:pPr marL="0" indent="0">
              <a:buNone/>
            </a:pPr>
            <a:r>
              <a:rPr lang="en-GB" dirty="0"/>
              <a:t>2.Karen would experience separation anxiety from their primary carer.(1 mark)</a:t>
            </a:r>
          </a:p>
          <a:p>
            <a:pPr marL="0" indent="0">
              <a:buNone/>
            </a:pPr>
            <a:endParaRPr lang="en-GB" dirty="0"/>
          </a:p>
        </p:txBody>
      </p:sp>
    </p:spTree>
    <p:extLst>
      <p:ext uri="{BB962C8B-B14F-4D97-AF65-F5344CB8AC3E}">
        <p14:creationId xmlns:p14="http://schemas.microsoft.com/office/powerpoint/2010/main" val="3463585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34A2-31C5-479D-A847-20AA0165550D}"/>
              </a:ext>
            </a:extLst>
          </p:cNvPr>
          <p:cNvSpPr>
            <a:spLocks noGrp="1"/>
          </p:cNvSpPr>
          <p:nvPr>
            <p:ph type="title"/>
          </p:nvPr>
        </p:nvSpPr>
        <p:spPr/>
        <p:txBody>
          <a:bodyPr>
            <a:normAutofit/>
          </a:bodyPr>
          <a:lstStyle/>
          <a:p>
            <a:r>
              <a:rPr lang="en-GB" dirty="0"/>
              <a:t>Emotional – 3-4 years</a:t>
            </a:r>
          </a:p>
        </p:txBody>
      </p:sp>
      <p:sp>
        <p:nvSpPr>
          <p:cNvPr id="3" name="Content Placeholder 2">
            <a:extLst>
              <a:ext uri="{FF2B5EF4-FFF2-40B4-BE49-F238E27FC236}">
                <a16:creationId xmlns:a16="http://schemas.microsoft.com/office/drawing/2014/main" id="{1EE5A836-3620-47D8-AF5B-7B424B74945F}"/>
              </a:ext>
            </a:extLst>
          </p:cNvPr>
          <p:cNvSpPr>
            <a:spLocks noGrp="1"/>
          </p:cNvSpPr>
          <p:nvPr>
            <p:ph idx="1"/>
          </p:nvPr>
        </p:nvSpPr>
        <p:spPr/>
        <p:txBody>
          <a:bodyPr/>
          <a:lstStyle/>
          <a:p>
            <a:r>
              <a:rPr lang="en-GB" dirty="0"/>
              <a:t>3-4 years can cope with separation from primary carer with someone they know</a:t>
            </a:r>
          </a:p>
          <a:p>
            <a:pPr marL="0" indent="0">
              <a:buNone/>
            </a:pPr>
            <a:endParaRPr lang="en-GB" dirty="0"/>
          </a:p>
          <a:p>
            <a:r>
              <a:rPr lang="en-GB" dirty="0"/>
              <a:t>They are beginning to play cooperatively</a:t>
            </a:r>
          </a:p>
          <a:p>
            <a:r>
              <a:rPr lang="en-GB" dirty="0"/>
              <a:t>They show clear friendship preferences</a:t>
            </a:r>
          </a:p>
          <a:p>
            <a:r>
              <a:rPr lang="en-GB" dirty="0"/>
              <a:t>They can play with others </a:t>
            </a:r>
          </a:p>
        </p:txBody>
      </p:sp>
    </p:spTree>
    <p:extLst>
      <p:ext uri="{BB962C8B-B14F-4D97-AF65-F5344CB8AC3E}">
        <p14:creationId xmlns:p14="http://schemas.microsoft.com/office/powerpoint/2010/main" val="17208657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34A2-31C5-479D-A847-20AA0165550D}"/>
              </a:ext>
            </a:extLst>
          </p:cNvPr>
          <p:cNvSpPr>
            <a:spLocks noGrp="1"/>
          </p:cNvSpPr>
          <p:nvPr>
            <p:ph type="title"/>
          </p:nvPr>
        </p:nvSpPr>
        <p:spPr/>
        <p:txBody>
          <a:bodyPr>
            <a:normAutofit/>
          </a:bodyPr>
          <a:lstStyle/>
          <a:p>
            <a:r>
              <a:rPr lang="en-GB" dirty="0"/>
              <a:t>Emotional – 4-5 years</a:t>
            </a:r>
          </a:p>
        </p:txBody>
      </p:sp>
      <p:sp>
        <p:nvSpPr>
          <p:cNvPr id="3" name="Content Placeholder 2">
            <a:extLst>
              <a:ext uri="{FF2B5EF4-FFF2-40B4-BE49-F238E27FC236}">
                <a16:creationId xmlns:a16="http://schemas.microsoft.com/office/drawing/2014/main" id="{1EE5A836-3620-47D8-AF5B-7B424B74945F}"/>
              </a:ext>
            </a:extLst>
          </p:cNvPr>
          <p:cNvSpPr>
            <a:spLocks noGrp="1"/>
          </p:cNvSpPr>
          <p:nvPr>
            <p:ph idx="1"/>
          </p:nvPr>
        </p:nvSpPr>
        <p:spPr/>
        <p:txBody>
          <a:bodyPr/>
          <a:lstStyle/>
          <a:p>
            <a:r>
              <a:rPr lang="en-GB" dirty="0"/>
              <a:t>4-5 years can work out what other people may be thinking, which helps them to negotiate with others</a:t>
            </a:r>
          </a:p>
          <a:p>
            <a:endParaRPr lang="en-GB" dirty="0"/>
          </a:p>
          <a:p>
            <a:r>
              <a:rPr lang="en-GB" dirty="0"/>
              <a:t>They are able to understand the need for rules</a:t>
            </a:r>
          </a:p>
          <a:p>
            <a:endParaRPr lang="en-GB" dirty="0"/>
          </a:p>
          <a:p>
            <a:r>
              <a:rPr lang="en-GB" dirty="0"/>
              <a:t>They develop close friendships</a:t>
            </a:r>
          </a:p>
          <a:p>
            <a:endParaRPr lang="en-GB" dirty="0"/>
          </a:p>
          <a:p>
            <a:r>
              <a:rPr lang="en-GB" dirty="0"/>
              <a:t>Th</a:t>
            </a:r>
            <a:r>
              <a:rPr lang="en-GB" dirty="0">
                <a:solidFill>
                  <a:srgbClr val="FF0000"/>
                </a:solidFill>
              </a:rPr>
              <a:t>eir</a:t>
            </a:r>
            <a:r>
              <a:rPr lang="en-GB" dirty="0"/>
              <a:t> behaviour is mostly cooperative and they separate more easily from parents.</a:t>
            </a:r>
          </a:p>
          <a:p>
            <a:pPr marL="0" indent="0">
              <a:buNone/>
            </a:pPr>
            <a:endParaRPr lang="en-GB" dirty="0"/>
          </a:p>
        </p:txBody>
      </p:sp>
    </p:spTree>
    <p:extLst>
      <p:ext uri="{BB962C8B-B14F-4D97-AF65-F5344CB8AC3E}">
        <p14:creationId xmlns:p14="http://schemas.microsoft.com/office/powerpoint/2010/main" val="16260350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34A2-31C5-479D-A847-20AA0165550D}"/>
              </a:ext>
            </a:extLst>
          </p:cNvPr>
          <p:cNvSpPr>
            <a:spLocks noGrp="1"/>
          </p:cNvSpPr>
          <p:nvPr>
            <p:ph type="title"/>
          </p:nvPr>
        </p:nvSpPr>
        <p:spPr/>
        <p:txBody>
          <a:bodyPr>
            <a:normAutofit/>
          </a:bodyPr>
          <a:lstStyle/>
          <a:p>
            <a:r>
              <a:rPr lang="en-GB" dirty="0"/>
              <a:t>Emotional – 5-8 years</a:t>
            </a:r>
          </a:p>
        </p:txBody>
      </p:sp>
      <p:sp>
        <p:nvSpPr>
          <p:cNvPr id="3" name="Content Placeholder 2">
            <a:extLst>
              <a:ext uri="{FF2B5EF4-FFF2-40B4-BE49-F238E27FC236}">
                <a16:creationId xmlns:a16="http://schemas.microsoft.com/office/drawing/2014/main" id="{1EE5A836-3620-47D8-AF5B-7B424B74945F}"/>
              </a:ext>
            </a:extLst>
          </p:cNvPr>
          <p:cNvSpPr>
            <a:spLocks noGrp="1"/>
          </p:cNvSpPr>
          <p:nvPr>
            <p:ph idx="1"/>
          </p:nvPr>
        </p:nvSpPr>
        <p:spPr/>
        <p:txBody>
          <a:bodyPr/>
          <a:lstStyle/>
          <a:p>
            <a:r>
              <a:rPr lang="en-GB" dirty="0"/>
              <a:t>5-6 years starts to compare self with others and becomes more aware of the feelings and needs of others </a:t>
            </a:r>
          </a:p>
          <a:p>
            <a:r>
              <a:rPr lang="en-GB" dirty="0"/>
              <a:t>Their confidence in self may be shaken by ‘failure’ </a:t>
            </a:r>
          </a:p>
          <a:p>
            <a:r>
              <a:rPr lang="en-GB" dirty="0"/>
              <a:t>5-7 have strong friendships, often of the same gender</a:t>
            </a:r>
          </a:p>
          <a:p>
            <a:r>
              <a:rPr lang="en-GB" dirty="0"/>
              <a:t>5-7 years can understand that others have different viewpoints than them </a:t>
            </a:r>
          </a:p>
          <a:p>
            <a:r>
              <a:rPr lang="en-GB"/>
              <a:t>5-7 years can </a:t>
            </a:r>
            <a:r>
              <a:rPr lang="en-GB" dirty="0"/>
              <a:t>read facial expressions of others accurately and recognise what others might be feeling.</a:t>
            </a:r>
          </a:p>
        </p:txBody>
      </p:sp>
    </p:spTree>
    <p:extLst>
      <p:ext uri="{BB962C8B-B14F-4D97-AF65-F5344CB8AC3E}">
        <p14:creationId xmlns:p14="http://schemas.microsoft.com/office/powerpoint/2010/main" val="24259696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1859</Words>
  <Application>Microsoft Office PowerPoint</Application>
  <PresentationFormat>Widescreen</PresentationFormat>
  <Paragraphs>257</Paragraphs>
  <Slides>54</Slides>
  <Notes>0</Notes>
  <HiddenSlides>8</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Calibri Light</vt:lpstr>
      <vt:lpstr>Office Theme</vt:lpstr>
      <vt:lpstr>Fine motor skills Birth</vt:lpstr>
      <vt:lpstr>3 months</vt:lpstr>
      <vt:lpstr>6 months</vt:lpstr>
      <vt:lpstr>9 months</vt:lpstr>
      <vt:lpstr>15 months</vt:lpstr>
      <vt:lpstr>18 months</vt:lpstr>
      <vt:lpstr> 2 years</vt:lpstr>
      <vt:lpstr> 2 1/ 2  years</vt:lpstr>
      <vt:lpstr> 3  years</vt:lpstr>
      <vt:lpstr>3-4 years </vt:lpstr>
      <vt:lpstr>4-5 years </vt:lpstr>
      <vt:lpstr>5-8 years </vt:lpstr>
      <vt:lpstr>6 years </vt:lpstr>
      <vt:lpstr>Scenario:  Abdul is 6 years old, and is meeting his expecting milestones</vt:lpstr>
      <vt:lpstr>In this section:</vt:lpstr>
      <vt:lpstr>Intellectual (Cognitive) development  Birth</vt:lpstr>
      <vt:lpstr>Intellectual (Cognitive) development  3 months</vt:lpstr>
      <vt:lpstr>Intellectual (Cognitive) development  6 months</vt:lpstr>
      <vt:lpstr>Intellectual (Cognitive) development  8- 9 months</vt:lpstr>
      <vt:lpstr>Intellectual (Cognitive) development  12 months</vt:lpstr>
      <vt:lpstr>Intellectual (Cognitive) development  15 months</vt:lpstr>
      <vt:lpstr>Intellectual (Cognitive) development  18 months</vt:lpstr>
      <vt:lpstr>Intellectual (Cognitive) development  2 years </vt:lpstr>
      <vt:lpstr>Intellectual (Cognitive) development  2 ½ years </vt:lpstr>
      <vt:lpstr>Intellectual (Cognitive) development  3 years </vt:lpstr>
      <vt:lpstr>Intellectual (Cognitive) development  3 -4 years </vt:lpstr>
      <vt:lpstr>Intellectual (Cognitive) development  4-5 years </vt:lpstr>
      <vt:lpstr> This is your question: Scenario:  Ben is 5 years old and has reached his expected milestones. However he is having difficulty understanding the rules of a game.</vt:lpstr>
      <vt:lpstr>Spend 5 mins re-capping the next 2 slides</vt:lpstr>
      <vt:lpstr>Intellectual (Cognitive) development  5-8 years </vt:lpstr>
      <vt:lpstr>Intellectual (Cognitive) development  5-8 years </vt:lpstr>
      <vt:lpstr>Exam questions:</vt:lpstr>
      <vt:lpstr>Re cap language and communication</vt:lpstr>
      <vt:lpstr>Language and communication- Birth</vt:lpstr>
      <vt:lpstr>Language and communication</vt:lpstr>
      <vt:lpstr>Language and communication</vt:lpstr>
      <vt:lpstr>Language and communication</vt:lpstr>
      <vt:lpstr>Language and communication</vt:lpstr>
      <vt:lpstr>Language and communication</vt:lpstr>
      <vt:lpstr>Language and communication</vt:lpstr>
      <vt:lpstr>Language and communication</vt:lpstr>
      <vt:lpstr>Language and communication</vt:lpstr>
      <vt:lpstr>Language and communication</vt:lpstr>
      <vt:lpstr>Language and communication- 3-4 YEARS </vt:lpstr>
      <vt:lpstr>Language and communication- 4-5 YEARS </vt:lpstr>
      <vt:lpstr>Language and communication- 5-8 YEARS </vt:lpstr>
      <vt:lpstr>Exam question</vt:lpstr>
      <vt:lpstr>Emotional development – birth – 2 years </vt:lpstr>
      <vt:lpstr>Emotional development – birth – 2 years </vt:lpstr>
      <vt:lpstr>Emotional development – birth – 2 years </vt:lpstr>
      <vt:lpstr>Scenario: Karen is 6 months old and recognises and responds to the emotions of others.</vt:lpstr>
      <vt:lpstr>Emotional – 3-4 years</vt:lpstr>
      <vt:lpstr>Emotional – 4-5 years</vt:lpstr>
      <vt:lpstr>Emotional – 5-8 years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 months</dc:title>
  <dc:creator>N Atkins</dc:creator>
  <cp:lastModifiedBy>N Atkins (Staff)</cp:lastModifiedBy>
  <cp:revision>27</cp:revision>
  <dcterms:created xsi:type="dcterms:W3CDTF">2019-12-02T13:27:36Z</dcterms:created>
  <dcterms:modified xsi:type="dcterms:W3CDTF">2020-03-15T15:44:50Z</dcterms:modified>
</cp:coreProperties>
</file>