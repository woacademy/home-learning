
<file path=[Content_Types].xml><?xml version="1.0" encoding="utf-8"?>
<Types xmlns="http://schemas.openxmlformats.org/package/2006/content-types">
  <Default ContentType="application/x-fontdata" Extension="fntdata"/>
  <Default ContentType="application/xml" Extension="xml"/>
  <Default ContentType="image/png" Extension="png"/>
  <Default ContentType="application/vnd.openxmlformats-package.relationships+xml" Extension="rels"/>
  <Override ContentType="application/vnd.openxmlformats-officedocument.presentationml.notesSlide+xml" PartName="/ppt/notesSlides/notesSlide6.xml"/>
  <Override ContentType="application/vnd.openxmlformats-officedocument.presentationml.notesSlide+xml" PartName="/ppt/notesSlides/notesSlide1.xml"/>
  <Override ContentType="application/vnd.openxmlformats-officedocument.presentationml.notesSlide+xml" PartName="/ppt/notesSlides/notesSlide3.xml"/>
  <Override ContentType="application/vnd.openxmlformats-officedocument.presentationml.notesSlide+xml" PartName="/ppt/notesSlides/notesSlide9.xml"/>
  <Override ContentType="application/vnd.openxmlformats-officedocument.presentationml.notesSlide+xml" PartName="/ppt/notesSlides/notesSlide8.xml"/>
  <Override ContentType="application/vnd.openxmlformats-officedocument.presentationml.notesSlide+xml" PartName="/ppt/notesSlides/notesSlide7.xml"/>
  <Override ContentType="application/vnd.openxmlformats-officedocument.presentationml.notesSlide+xml" PartName="/ppt/notesSlides/notesSlide2.xml"/>
  <Override ContentType="application/vnd.openxmlformats-officedocument.presentationml.notesSlide+xml" PartName="/ppt/notesSlides/notesSlide5.xml"/>
  <Override ContentType="application/vnd.openxmlformats-officedocument.presentationml.notesSlide+xml" PartName="/ppt/notesSlides/notesSlide4.xml"/>
  <Override ContentType="application/vnd.openxmlformats-officedocument.presentationml.tableStyles+xml" PartName="/ppt/tableStyles.xml"/>
  <Override ContentType="application/vnd.openxmlformats-officedocument.presentationml.slideLayout+xml" PartName="/ppt/slideLayouts/slideLayout3.xml"/>
  <Override ContentType="application/vnd.openxmlformats-officedocument.presentationml.slideLayout+xml" PartName="/ppt/slideLayouts/slideLayout4.xml"/>
  <Override ContentType="application/vnd.openxmlformats-officedocument.presentationml.slideLayout+xml" PartName="/ppt/slideLayouts/slideLayout5.xml"/>
  <Override ContentType="application/vnd.openxmlformats-officedocument.presentationml.slideLayout+xml" PartName="/ppt/slideLayouts/slideLayout2.xml"/>
  <Override ContentType="application/vnd.openxmlformats-officedocument.presentationml.slideLayout+xml" PartName="/ppt/slideLayouts/slideLayout11.xml"/>
  <Override ContentType="application/vnd.openxmlformats-officedocument.presentationml.slideLayout+xml" PartName="/ppt/slideLayouts/slideLayout1.xml"/>
  <Override ContentType="application/vnd.openxmlformats-officedocument.presentationml.slideLayout+xml" PartName="/ppt/slideLayouts/slideLayout10.xml"/>
  <Override ContentType="application/vnd.openxmlformats-officedocument.presentationml.slideLayout+xml" PartName="/ppt/slideLayouts/slideLayout7.xml"/>
  <Override ContentType="application/vnd.openxmlformats-officedocument.presentationml.slideLayout+xml" PartName="/ppt/slideLayouts/slideLayout6.xml"/>
  <Override ContentType="application/vnd.openxmlformats-officedocument.presentationml.slideLayout+xml" PartName="/ppt/slideLayouts/slideLayout8.xml"/>
  <Override ContentType="application/vnd.openxmlformats-officedocument.presentationml.slideLayout+xml" PartName="/ppt/slideLayouts/slideLayout9.xml"/>
  <Override ContentType="application/vnd.openxmlformats-officedocument.presentationml.slideMaster+xml" PartName="/ppt/slideMasters/slideMaster1.xml"/>
  <Override ContentType="application/vnd.openxmlformats-officedocument.presentationml.slide+xml" PartName="/ppt/slides/slide4.xml"/>
  <Override ContentType="application/vnd.openxmlformats-officedocument.presentationml.slide+xml" PartName="/ppt/slides/slide1.xml"/>
  <Override ContentType="application/vnd.openxmlformats-officedocument.presentationml.slide+xml" PartName="/ppt/slides/slide2.xml"/>
  <Override ContentType="application/vnd.openxmlformats-officedocument.presentationml.slide+xml" PartName="/ppt/slides/slide3.xml"/>
  <Override ContentType="application/vnd.openxmlformats-officedocument.presentationml.slide+xml" PartName="/ppt/slides/slide6.xml"/>
  <Override ContentType="application/vnd.openxmlformats-officedocument.presentationml.slide+xml" PartName="/ppt/slides/slide9.xml"/>
  <Override ContentType="application/vnd.openxmlformats-officedocument.presentationml.slide+xml" PartName="/ppt/slides/slide5.xml"/>
  <Override ContentType="application/vnd.openxmlformats-officedocument.presentationml.slide+xml" PartName="/ppt/slides/slide8.xml"/>
  <Override ContentType="application/vnd.openxmlformats-officedocument.presentationml.slide+xml" PartName="/ppt/slides/slide7.xml"/>
  <Override ContentType="application/vnd.openxmlformats-officedocument.presentationml.notesMaster+xml" PartName="/ppt/notesMasters/notesMaster1.xml"/>
  <Override ContentType="application/vnd.openxmlformats-officedocument.presentationml.presentation.main+xml" PartName="/ppt/presentation.xml"/>
  <Override ContentType="application/vnd.openxmlformats-officedocument.presentationml.presProps+xml" PartName="/ppt/presProps.xml"/>
  <Override ContentType="application/vnd.openxmlformats-officedocument.theme+xml" PartName="/ppt/theme/theme1.xml"/>
  <Override ContentType="application/vnd.openxmlformats-officedocument.theme+xml" PartName="/ppt/theme/theme2.xml"/>
</Types>
</file>

<file path=_rels/.rels><?xml version="1.0" encoding="UTF-8" standalone="yes"?><Relationships xmlns="http://schemas.openxmlformats.org/package/2006/relationships"><Relationship Id="rId1" Type="http://schemas.openxmlformats.org/officeDocument/2006/relationships/officeDocument" Target="ppt/presentation.xml"/></Relationships>
</file>

<file path=ppt/presentation.xml><?xml version="1.0" encoding="utf-8"?>
<p:presentation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autoCompressPictures="0" embedTrueTypeFonts="1" strictFirstAndLastChars="0" saveSubsetFonts="1">
  <p:sldMasterIdLst>
    <p:sldMasterId id="2147483659" r:id="rId4"/>
  </p:sldMasterIdLst>
  <p:notesMasterIdLst>
    <p:notesMasterId r:id="rId5"/>
  </p:notesMasterIdLst>
  <p:sldIdLst>
    <p:sldId id="256" r:id="rId6"/>
    <p:sldId id="257" r:id="rId7"/>
    <p:sldId id="258" r:id="rId8"/>
    <p:sldId id="259" r:id="rId9"/>
    <p:sldId id="260" r:id="rId10"/>
    <p:sldId id="261" r:id="rId11"/>
    <p:sldId id="262" r:id="rId12"/>
    <p:sldId id="263" r:id="rId13"/>
    <p:sldId id="264" r:id="rId14"/>
  </p:sldIdLst>
  <p:sldSz cy="6858000" cx="12192000"/>
  <p:notesSz cx="6858000" cy="9144000"/>
  <p:embeddedFontLst>
    <p:embeddedFont>
      <p:font typeface="Limelight"/>
      <p:regular r:id="rId15"/>
    </p:embeddedFont>
  </p:embeddedFontLst>
  <p:defaultText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/>
</file>

<file path=ppt/tableStyles.xml><?xml version="1.0" encoding="utf-8"?>
<a:tblStyleLst xmlns:a="http://schemas.openxmlformats.org/drawingml/2006/main" xmlns:r="http://schemas.openxmlformats.org/officeDocument/2006/relationships" def="{7D14EAFA-1290-42A6-96A6-AE9066DA0403}">
  <a:tblStyle styleId="{7D14EAFA-1290-42A6-96A6-AE9066DA0403}" styleName="Table_0">
    <a:wholeTbl>
      <a:tcTxStyle b="off" i="off">
        <a:font>
          <a:latin typeface="Tw Cen MT"/>
          <a:ea typeface="Tw Cen MT"/>
          <a:cs typeface="Tw Cen MT"/>
        </a:font>
        <a:schemeClr val="dk1"/>
      </a:tcTxStyle>
      <a:tcStyle>
        <a:tcBdr>
          <a:lef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left>
          <a:right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right>
          <a:top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  <a:bottom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  <a:insideH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H>
          <a:insideV>
            <a:ln cap="flat" cmpd="sng" w="127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insideV>
        </a:tcBdr>
        <a:fill>
          <a:solidFill>
            <a:srgbClr val="EFF6E7"/>
          </a:solidFill>
        </a:fill>
      </a:tcStyle>
    </a:wholeTbl>
    <a:band1H>
      <a:tcTxStyle/>
      <a:tcStyle>
        <a:fill>
          <a:solidFill>
            <a:srgbClr val="DDECCC"/>
          </a:solidFill>
        </a:fill>
      </a:tcStyle>
    </a:band1H>
    <a:band2H>
      <a:tcTxStyle/>
    </a:band2H>
    <a:band1V>
      <a:tcTxStyle/>
      <a:tcStyle>
        <a:fill>
          <a:solidFill>
            <a:srgbClr val="DDECCC"/>
          </a:solidFill>
        </a:fill>
      </a:tcStyle>
    </a:band1V>
    <a:band2V>
      <a:tcTxStyle/>
    </a:band2V>
    <a:la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lastCol>
    <a:firstCol>
      <a:tcTxStyle b="on" i="off">
        <a:font>
          <a:latin typeface="Tw Cen MT"/>
          <a:ea typeface="Tw Cen MT"/>
          <a:cs typeface="Tw Cen MT"/>
        </a:font>
        <a:schemeClr val="lt1"/>
      </a:tcTxStyle>
      <a:tcStyle>
        <a:fill>
          <a:solidFill>
            <a:schemeClr val="accent1"/>
          </a:solidFill>
        </a:fill>
      </a:tcStyle>
    </a:firstCol>
    <a:la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top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top>
        </a:tcBdr>
        <a:fill>
          <a:solidFill>
            <a:schemeClr val="accent1"/>
          </a:solidFill>
        </a:fill>
      </a:tcStyle>
    </a:lastRow>
    <a:seCell>
      <a:tcTxStyle/>
    </a:seCell>
    <a:swCell>
      <a:tcTxStyle/>
    </a:swCell>
    <a:firstRow>
      <a:tcTxStyle b="on" i="off">
        <a:font>
          <a:latin typeface="Tw Cen MT"/>
          <a:ea typeface="Tw Cen MT"/>
          <a:cs typeface="Tw Cen MT"/>
        </a:font>
        <a:schemeClr val="lt1"/>
      </a:tcTxStyle>
      <a:tcStyle>
        <a:tcBdr>
          <a:bottom>
            <a:ln cap="flat" cmpd="sng" w="38100">
              <a:solidFill>
                <a:schemeClr val="lt1"/>
              </a:solidFill>
              <a:prstDash val="solid"/>
              <a:round/>
              <a:headEnd len="sm" w="sm" type="none"/>
              <a:tailEnd len="sm" w="sm" type="none"/>
            </a:ln>
          </a:bottom>
        </a:tcBdr>
        <a:fill>
          <a:solidFill>
            <a:schemeClr val="accent1"/>
          </a:solidFill>
        </a:fill>
      </a:tcStyle>
    </a:firstRow>
    <a:neCell>
      <a:tcTxStyle/>
    </a:neCell>
    <a:nwCell>
      <a:tcTxStyle/>
    </a:nwCell>
  </a:tblStyle>
</a:tblStyleLst>
</file>

<file path=ppt/_rels/presentation.xml.rels><?xml version="1.0" encoding="UTF-8" standalone="yes"?><Relationships xmlns="http://schemas.openxmlformats.org/package/2006/relationships"><Relationship Id="rId11" Type="http://schemas.openxmlformats.org/officeDocument/2006/relationships/slide" Target="slides/slide6.xml"/><Relationship Id="rId10" Type="http://schemas.openxmlformats.org/officeDocument/2006/relationships/slide" Target="slides/slide5.xml"/><Relationship Id="rId13" Type="http://schemas.openxmlformats.org/officeDocument/2006/relationships/slide" Target="slides/slide8.xml"/><Relationship Id="rId12" Type="http://schemas.openxmlformats.org/officeDocument/2006/relationships/slide" Target="slides/slide7.xml"/><Relationship Id="rId1" Type="http://schemas.openxmlformats.org/officeDocument/2006/relationships/theme" Target="theme/theme1.xml"/><Relationship Id="rId2" Type="http://schemas.openxmlformats.org/officeDocument/2006/relationships/presProps" Target="presProps.xml"/><Relationship Id="rId3" Type="http://schemas.openxmlformats.org/officeDocument/2006/relationships/tableStyles" Target="tableStyles.xml"/><Relationship Id="rId4" Type="http://schemas.openxmlformats.org/officeDocument/2006/relationships/slideMaster" Target="slideMasters/slideMaster1.xml"/><Relationship Id="rId9" Type="http://schemas.openxmlformats.org/officeDocument/2006/relationships/slide" Target="slides/slide4.xml"/><Relationship Id="rId15" Type="http://schemas.openxmlformats.org/officeDocument/2006/relationships/font" Target="fonts/Limelight-regular.fntdata"/><Relationship Id="rId14" Type="http://schemas.openxmlformats.org/officeDocument/2006/relationships/slide" Target="slides/slide9.xml"/><Relationship Id="rId5" Type="http://schemas.openxmlformats.org/officeDocument/2006/relationships/notesMaster" Target="notesMasters/notesMaster1.xml"/><Relationship Id="rId6" Type="http://schemas.openxmlformats.org/officeDocument/2006/relationships/slide" Target="slides/slide1.xml"/><Relationship Id="rId7" Type="http://schemas.openxmlformats.org/officeDocument/2006/relationships/slide" Target="slides/slide2.xml"/><Relationship Id="rId8" Type="http://schemas.openxmlformats.org/officeDocument/2006/relationships/slide" Target="slides/slide3.xml"/></Relationships>
</file>

<file path=ppt/notesMasters/_rels/notesMaster1.xml.rels><?xml version="1.0" encoding="UTF-8" standalone="yes"?><Relationships xmlns="http://schemas.openxmlformats.org/package/2006/relationships"><Relationship Id="rId1" Type="http://schemas.openxmlformats.org/officeDocument/2006/relationships/theme" Target="../theme/theme2.xml"/></Relationships>
</file>

<file path=ppt/notesMasters/notesMaster1.xml><?xml version="1.0" encoding="utf-8"?>
<p:notes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2" name="Shape 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" name="Google Shape;3;n"/>
          <p:cNvSpPr txBox="1"/>
          <p:nvPr>
            <p:ph idx="2" type="hdr"/>
          </p:nvPr>
        </p:nvSpPr>
        <p:spPr>
          <a:xfrm>
            <a:off x="0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4" name="Google Shape;4;n"/>
          <p:cNvSpPr txBox="1"/>
          <p:nvPr>
            <p:ph idx="10" type="dt"/>
          </p:nvPr>
        </p:nvSpPr>
        <p:spPr>
          <a:xfrm>
            <a:off x="3884613" y="0"/>
            <a:ext cx="2971800" cy="45878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5" name="Google Shape;5;n"/>
          <p:cNvSpPr/>
          <p:nvPr>
            <p:ph idx="3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6" name="Google Shape;6;n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indent="-228600" lvl="1" marL="914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indent="-228600" lvl="2" marL="1371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indent="-228600" lvl="3" marL="1828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indent="-228600" lvl="4" marL="22860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indent="-228600" lvl="5" marL="27432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indent="-228600" lvl="6" marL="32004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indent="-228600" lvl="7" marL="36576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indent="-228600" lvl="8" marL="411480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7" name="Google Shape;7;n"/>
          <p:cNvSpPr txBox="1"/>
          <p:nvPr>
            <p:ph idx="11" type="ftr"/>
          </p:nvPr>
        </p:nvSpPr>
        <p:spPr>
          <a:xfrm>
            <a:off x="0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defRPr>
            </a:lvl9pPr>
          </a:lstStyle>
          <a:p/>
        </p:txBody>
      </p:sp>
      <p:sp>
        <p:nvSpPr>
          <p:cNvPr id="8" name="Google Shape;8;n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marR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Calibri"/>
                <a:ea typeface="Calibri"/>
                <a:cs typeface="Calibri"/>
                <a:sym typeface="Calibri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Calibri"/>
              <a:ea typeface="Calibri"/>
              <a:cs typeface="Calibri"/>
              <a:sym typeface="Calibri"/>
            </a:endParaRPr>
          </a:p>
        </p:txBody>
      </p:sp>
    </p:spTree>
  </p:cSld>
  <p:clrMap accent1="accent1" accent2="accent2" accent3="accent3" accent4="accent4" accent5="accent5" accent6="accent6" bg1="lt1" bg2="dk2" tx1="dk1" tx2="lt2" folHlink="folHlink" hlink="hlink"/>
  <p:notesStyle>
    <a:defPPr lvl="0" marR="0" rtl="0" algn="l">
      <a:lnSpc>
        <a:spcPct val="100000"/>
      </a:lnSpc>
      <a:spcBef>
        <a:spcPts val="0"/>
      </a:spcBef>
      <a:spcAft>
        <a:spcPts val="0"/>
      </a:spcAft>
    </a:defPPr>
    <a:lvl1pPr lvl="0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1pPr>
    <a:lvl2pPr lvl="1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2pPr>
    <a:lvl3pPr lvl="2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3pPr>
    <a:lvl4pPr lvl="3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4pPr>
    <a:lvl5pPr lvl="4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5pPr>
    <a:lvl6pPr lvl="5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6pPr>
    <a:lvl7pPr lvl="6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7pPr>
    <a:lvl8pPr lvl="7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8pPr>
    <a:lvl9pPr lvl="8" marR="0" rtl="0" algn="l">
      <a:lnSpc>
        <a:spcPct val="100000"/>
      </a:lnSpc>
      <a:spcBef>
        <a:spcPts val="0"/>
      </a:spcBef>
      <a:spcAft>
        <a:spcPts val="0"/>
      </a:spcAft>
      <a:buClr>
        <a:srgbClr val="000000"/>
      </a:buClr>
      <a:buFont typeface="Arial"/>
      <a:defRPr b="0" i="0" sz="1400" u="none" cap="none" strike="noStrike">
        <a:solidFill>
          <a:srgbClr val="000000"/>
        </a:solidFill>
        <a:latin typeface="Arial"/>
        <a:ea typeface="Arial"/>
        <a:cs typeface="Arial"/>
        <a:sym typeface="Arial"/>
      </a:defRPr>
    </a:lvl9pPr>
  </p:notesStyle>
</p:notesMaster>
</file>

<file path=ppt/notesSlides/_rels/notesSlide1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2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3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4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5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6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7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8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_rels/notesSlide9.xml.rels><?xml version="1.0" encoding="UTF-8" standalone="yes"?><Relationships xmlns="http://schemas.openxmlformats.org/package/2006/relationships"><Relationship Id="rId1" Type="http://schemas.openxmlformats.org/officeDocument/2006/relationships/notesMaster" Target="../notesMasters/notesMaster1.xml"/></Relationships>
</file>

<file path=ppt/notesSlides/notesSlide1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1" name="Shape 91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2" name="Google Shape;92;p1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3" name="Google Shape;93;p1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2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97" name="Shape 9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8" name="Google Shape;98;p2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99" name="Google Shape;99;p2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3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2" name="Shape 10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3" name="Google Shape;103;p3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12700">
            <a:solidFill>
              <a:srgbClr val="000000"/>
            </a:solidFill>
            <a:prstDash val="solid"/>
            <a:round/>
            <a:headEnd len="sm" w="sm" type="none"/>
            <a:tailEnd len="sm" w="sm" type="none"/>
          </a:ln>
        </p:spPr>
      </p:sp>
      <p:sp>
        <p:nvSpPr>
          <p:cNvPr id="104" name="Google Shape;104;p3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05" name="Google Shape;105;p3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notes>
</file>

<file path=ppt/notesSlides/notesSlide4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09" name="Shape 10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0" name="Google Shape;110;p4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1" name="Google Shape;111;p4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5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15" name="Shape 11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6" name="Google Shape;116;p5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17" name="Google Shape;117;p5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6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2" name="Shape 12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3" name="Google Shape;123;p6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24" name="Google Shape;124;p6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7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28" name="Shape 12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9" name="Google Shape;129;p7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  <a:noFill/>
          <a:ln cap="flat" cmpd="sng" w="9525">
            <a:solidFill>
              <a:srgbClr val="000000"/>
            </a:solidFill>
            <a:prstDash val="solid"/>
            <a:miter lim="800000"/>
            <a:headEnd len="sm" w="sm" type="none"/>
            <a:tailEnd len="sm" w="sm" type="none"/>
          </a:ln>
        </p:spPr>
      </p:sp>
      <p:sp>
        <p:nvSpPr>
          <p:cNvPr id="130" name="Google Shape;130;p7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Go through answers.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Get students to volunteer their answers before you reveal it on the board.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On the next slides are quick recaps/definitions of each source of finance.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Quickly go through each one with the pupils so they are sure on the definitions. </a:t>
            </a:r>
            <a:endParaRPr/>
          </a:p>
          <a:p>
            <a:pPr indent="-228600" lvl="0" marL="228600" rtl="0" algn="l">
              <a:spcBef>
                <a:spcPts val="0"/>
              </a:spcBef>
              <a:spcAft>
                <a:spcPts val="0"/>
              </a:spcAft>
              <a:buClr>
                <a:schemeClr val="dk1"/>
              </a:buClr>
              <a:buSzPts val="1200"/>
              <a:buFont typeface="Calibri"/>
              <a:buAutoNum type="arabicPeriod"/>
            </a:pPr>
            <a:r>
              <a:rPr lang="en-GB"/>
              <a:t>You can use stretch and challenge questioning during this as well.</a:t>
            </a:r>
            <a:endParaRPr/>
          </a:p>
        </p:txBody>
      </p:sp>
      <p:sp>
        <p:nvSpPr>
          <p:cNvPr id="131" name="Google Shape;131;p7:notes"/>
          <p:cNvSpPr txBox="1"/>
          <p:nvPr>
            <p:ph idx="12" type="sldNum"/>
          </p:nvPr>
        </p:nvSpPr>
        <p:spPr>
          <a:xfrm>
            <a:off x="3884613" y="8685213"/>
            <a:ext cx="2971800" cy="458787"/>
          </a:xfrm>
          <a:prstGeom prst="rect">
            <a:avLst/>
          </a:prstGeom>
          <a:noFill/>
          <a:ln>
            <a:noFill/>
          </a:ln>
        </p:spPr>
        <p:txBody>
          <a:bodyPr anchorCtr="0" anchor="b" bIns="45700" lIns="91425" spcFirstLastPara="1" rIns="91425" wrap="square" tIns="45700">
            <a:noAutofit/>
          </a:bodyPr>
          <a:lstStyle/>
          <a:p>
            <a:pPr indent="0" lvl="0" marL="0" rtl="0" algn="r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b="0" i="0" lang="en-GB" sz="1200" u="none" cap="none" strike="noStrike">
                <a:solidFill>
                  <a:schemeClr val="dk1"/>
                </a:solidFill>
                <a:latin typeface="Arial"/>
                <a:ea typeface="Arial"/>
                <a:cs typeface="Arial"/>
                <a:sym typeface="Arial"/>
              </a:rPr>
              <a:t>‹#›</a:t>
            </a:fld>
            <a:endParaRPr b="0" i="0" sz="1200" u="none" cap="none" strike="noStrike">
              <a:solidFill>
                <a:schemeClr val="dk1"/>
              </a:solidFill>
              <a:latin typeface="Arial"/>
              <a:ea typeface="Arial"/>
              <a:cs typeface="Arial"/>
              <a:sym typeface="Arial"/>
            </a:endParaRPr>
          </a:p>
        </p:txBody>
      </p:sp>
    </p:spTree>
  </p:cSld>
  <p:clrMapOvr>
    <a:masterClrMapping/>
  </p:clrMapOvr>
</p:notes>
</file>

<file path=ppt/notesSlides/notesSlide8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44" name="Shape 14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5" name="Google Shape;145;p8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46" name="Google Shape;146;p8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notesSlides/notesSlide9.xml><?xml version="1.0" encoding="utf-8"?>
<p:notes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showMasterPhAnim="0" showMasterSp="0">
  <p:cSld>
    <p:spTree>
      <p:nvGrpSpPr>
        <p:cNvPr id="152" name="Shape 15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3" name="Google Shape;153;p9:notes"/>
          <p:cNvSpPr txBox="1"/>
          <p:nvPr>
            <p:ph idx="1" type="body"/>
          </p:nvPr>
        </p:nvSpPr>
        <p:spPr>
          <a:xfrm>
            <a:off x="685800" y="4400550"/>
            <a:ext cx="5486400" cy="3600450"/>
          </a:xfrm>
          <a:prstGeom prst="rect">
            <a:avLst/>
          </a:prstGeom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  <p:sp>
        <p:nvSpPr>
          <p:cNvPr id="154" name="Google Shape;154;p9:notes"/>
          <p:cNvSpPr/>
          <p:nvPr>
            <p:ph idx="2" type="sldImg"/>
          </p:nvPr>
        </p:nvSpPr>
        <p:spPr>
          <a:xfrm>
            <a:off x="685800" y="1143000"/>
            <a:ext cx="5486400" cy="3086100"/>
          </a:xfrm>
          <a:custGeom>
            <a:rect b="b" l="l" r="r" t="t"/>
            <a:pathLst>
              <a:path extrusionOk="0" h="120000" w="120000">
                <a:moveTo>
                  <a:pt x="0" y="0"/>
                </a:moveTo>
                <a:lnTo>
                  <a:pt x="120000" y="0"/>
                </a:lnTo>
                <a:lnTo>
                  <a:pt x="120000" y="120000"/>
                </a:lnTo>
                <a:lnTo>
                  <a:pt x="0" y="120000"/>
                </a:lnTo>
                <a:close/>
              </a:path>
            </a:pathLst>
          </a:custGeom>
        </p:spPr>
      </p:sp>
    </p:spTree>
  </p:cSld>
  <p:clrMapOvr>
    <a:masterClrMapping/>
  </p:clrMapOvr>
</p:notes>
</file>

<file path=ppt/slideLayouts/_rels/slideLayout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1.png"/></Relationships>
</file>

<file path=ppt/slideLayouts/_rels/slideLayout2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Relationship Id="rId2" Type="http://schemas.openxmlformats.org/officeDocument/2006/relationships/image" Target="../media/image2.png"/></Relationships>
</file>

<file path=ppt/slideLayouts/_rels/slideLayout4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8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9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0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11.xml.rels><?xml version="1.0" encoding="UTF-8" standalone="yes"?>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Slide" showMasterSp="0" type="title">
  <p:cSld name="TITLE">
    <p:spTree>
      <p:nvGrpSpPr>
        <p:cNvPr id="16" name="Shape 1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7" name="Google Shape;17;p2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18" name="Google Shape;18;p2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lvl="1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/>
            </a:lvl2pPr>
            <a:lvl3pPr lvl="2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3pPr>
            <a:lvl4pPr lvl="3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4pPr>
            <a:lvl5pPr lvl="4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5pPr>
            <a:lvl6pPr lvl="5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6pPr>
            <a:lvl7pPr lvl="6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7pPr>
            <a:lvl8pPr lvl="7" algn="ctr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sz="1800"/>
            </a:lvl8pPr>
            <a:lvl9pPr lvl="8" algn="ctr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None/>
              <a:defRPr sz="1800"/>
            </a:lvl9pPr>
          </a:lstStyle>
          <a:p/>
        </p:txBody>
      </p:sp>
      <p:sp>
        <p:nvSpPr>
          <p:cNvPr id="19" name="Google Shape;19;p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0" name="Google Shape;20;p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1" name="Google Shape;21;p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22" name="Google Shape;22;p2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23" name="Google Shape;23;p2"/>
          <p:cNvSpPr/>
          <p:nvPr/>
        </p:nvSpPr>
        <p:spPr>
          <a:xfrm>
            <a:off x="0" y="0"/>
            <a:ext cx="12192000" cy="4572001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Content" type="obj">
  <p:cSld name="OBJECT">
    <p:spTree>
      <p:nvGrpSpPr>
        <p:cNvPr id="24" name="Shape 2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5" name="Google Shape;25;p3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6" name="Google Shape;26;p3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27" name="Google Shape;27;p3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8" name="Google Shape;28;p3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29" name="Google Shape;29;p3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Section Header" showMasterSp="0" type="secHead">
  <p:cSld name="SECTION_HEADER">
    <p:spTree>
      <p:nvGrpSpPr>
        <p:cNvPr id="30" name="Shape 3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1" name="Google Shape;31;p4"/>
          <p:cNvSpPr txBox="1"/>
          <p:nvPr>
            <p:ph type="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2" name="Google Shape;32;p4"/>
          <p:cNvSpPr txBox="1"/>
          <p:nvPr>
            <p:ph idx="1" type="body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888888"/>
                </a:solidFill>
              </a:defRPr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sz="1600">
                <a:solidFill>
                  <a:srgbClr val="888888"/>
                </a:solidFill>
              </a:defRPr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400"/>
              <a:buNone/>
              <a:defRPr sz="1400">
                <a:solidFill>
                  <a:srgbClr val="888888"/>
                </a:solidFill>
              </a:defRPr>
            </a:lvl9pPr>
          </a:lstStyle>
          <a:p/>
        </p:txBody>
      </p:sp>
      <p:sp>
        <p:nvSpPr>
          <p:cNvPr id="33" name="Google Shape;33;p4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4" name="Google Shape;34;p4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35" name="Google Shape;35;p4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36" name="Google Shape;36;p4"/>
          <p:cNvCxnSpPr/>
          <p:nvPr/>
        </p:nvCxnSpPr>
        <p:spPr>
          <a:xfrm rot="10800000">
            <a:off x="8386842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3"/>
            </a:solidFill>
            <a:prstDash val="solid"/>
            <a:round/>
            <a:headEnd len="sm" w="sm" type="none"/>
            <a:tailEnd len="sm" w="sm" type="none"/>
          </a:ln>
        </p:spPr>
      </p:cxnSp>
      <p:sp>
        <p:nvSpPr>
          <p:cNvPr id="37" name="Google Shape;37;p4"/>
          <p:cNvSpPr/>
          <p:nvPr/>
        </p:nvSpPr>
        <p:spPr>
          <a:xfrm>
            <a:off x="0" y="-1"/>
            <a:ext cx="12192000" cy="4572000"/>
          </a:xfrm>
          <a:prstGeom prst="rect">
            <a:avLst/>
          </a:prstGeom>
          <a:blipFill rotWithShape="1">
            <a:blip r:embed="rId2">
              <a:alphaModFix/>
            </a:blip>
            <a:tile algn="tl" flip="none" tx="-133350" sx="50000" ty="-6350" sy="50000"/>
          </a:blipFill>
          <a:ln>
            <a:noFill/>
          </a:ln>
        </p:spPr>
        <p:txBody>
          <a:bodyPr anchorCtr="0" anchor="ctr" bIns="91425" lIns="91425" spcFirstLastPara="1" rIns="91425" wrap="square" tIns="91425">
            <a:noAutofit/>
          </a:bodyPr>
          <a:lstStyle/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r>
              <a:t/>
            </a:r>
            <a:endParaRPr/>
          </a:p>
        </p:txBody>
      </p:sp>
    </p:spTree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wo Content" type="twoObj">
  <p:cSld name="TWO_OBJECTS">
    <p:spTree>
      <p:nvGrpSpPr>
        <p:cNvPr id="38" name="Shape 3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39" name="Google Shape;39;p5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0" name="Google Shape;40;p5"/>
          <p:cNvSpPr txBox="1"/>
          <p:nvPr>
            <p:ph idx="1" type="body"/>
          </p:nvPr>
        </p:nvSpPr>
        <p:spPr>
          <a:xfrm>
            <a:off x="1024127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1" name="Google Shape;41;p5"/>
          <p:cNvSpPr txBox="1"/>
          <p:nvPr>
            <p:ph idx="2" type="body"/>
          </p:nvPr>
        </p:nvSpPr>
        <p:spPr>
          <a:xfrm>
            <a:off x="5989320" y="2286000"/>
            <a:ext cx="4754880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2" name="Google Shape;42;p5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3" name="Google Shape;43;p5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4" name="Google Shape;44;p5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mparison" type="twoTxTwoObj">
  <p:cSld name="TWO_OBJECTS_WITH_TEXT">
    <p:spTree>
      <p:nvGrpSpPr>
        <p:cNvPr id="45" name="Shape 4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46" name="Google Shape;46;p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47" name="Google Shape;47;p6"/>
          <p:cNvSpPr txBox="1"/>
          <p:nvPr>
            <p:ph idx="1" type="body"/>
          </p:nvPr>
        </p:nvSpPr>
        <p:spPr>
          <a:xfrm>
            <a:off x="102412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48" name="Google Shape;48;p6"/>
          <p:cNvSpPr txBox="1"/>
          <p:nvPr>
            <p:ph idx="2" type="body"/>
          </p:nvPr>
        </p:nvSpPr>
        <p:spPr>
          <a:xfrm>
            <a:off x="102412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49" name="Google Shape;49;p6"/>
          <p:cNvSpPr txBox="1"/>
          <p:nvPr>
            <p:ph idx="3" type="body"/>
          </p:nvPr>
        </p:nvSpPr>
        <p:spPr>
          <a:xfrm>
            <a:off x="5990888" y="2179636"/>
            <a:ext cx="4754880" cy="8229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137150" spcFirstLastPara="1" rIns="137150" wrap="square" tIns="45700">
            <a:noAutofit/>
          </a:bodyPr>
          <a:lstStyle>
            <a:lvl1pPr indent="-228600" lvl="0" marL="45720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300"/>
              <a:buNone/>
              <a:defRPr b="0" sz="2300" cap="none">
                <a:solidFill>
                  <a:schemeClr val="accent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None/>
              <a:defRPr b="1" sz="20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None/>
              <a:defRPr b="1" sz="18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None/>
              <a:defRPr b="1" sz="16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None/>
              <a:defRPr b="1" sz="1600"/>
            </a:lvl9pPr>
          </a:lstStyle>
          <a:p/>
        </p:txBody>
      </p:sp>
      <p:sp>
        <p:nvSpPr>
          <p:cNvPr id="50" name="Google Shape;50;p6"/>
          <p:cNvSpPr txBox="1"/>
          <p:nvPr>
            <p:ph idx="4" type="body"/>
          </p:nvPr>
        </p:nvSpPr>
        <p:spPr>
          <a:xfrm>
            <a:off x="5990888" y="2967788"/>
            <a:ext cx="4754880" cy="334157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51" name="Google Shape;51;p6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2" name="Google Shape;52;p6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3" name="Google Shape;53;p6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Only" type="titleOnly">
  <p:cSld name="TITLE_ONLY">
    <p:spTree>
      <p:nvGrpSpPr>
        <p:cNvPr id="54" name="Shape 5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55" name="Google Shape;55;p7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6" name="Google Shape;56;p7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7" name="Google Shape;57;p7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58" name="Google Shape;58;p7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Blank" showMasterSp="0" type="blank">
  <p:cSld name="BLANK">
    <p:spTree>
      <p:nvGrpSpPr>
        <p:cNvPr id="59" name="Shape 5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0" name="Google Shape;60;p8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1" name="Google Shape;61;p8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2" name="Google Shape;62;p8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8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Content with Caption" type="objTx">
  <p:cSld name="OBJECT_WITH_CAPTION_TEXT">
    <p:spTree>
      <p:nvGrpSpPr>
        <p:cNvPr id="63" name="Shape 63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64" name="Google Shape;64;p9"/>
          <p:cNvSpPr txBox="1"/>
          <p:nvPr>
            <p:ph type="title"/>
          </p:nvPr>
        </p:nvSpPr>
        <p:spPr>
          <a:xfrm>
            <a:off x="1024128" y="471509"/>
            <a:ext cx="4389120" cy="173736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4000"/>
              <a:buFont typeface="Twentieth Century"/>
              <a:buNone/>
              <a:defRPr sz="4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5" name="Google Shape;65;p9"/>
          <p:cNvSpPr txBox="1"/>
          <p:nvPr>
            <p:ph idx="1" type="body"/>
          </p:nvPr>
        </p:nvSpPr>
        <p:spPr>
          <a:xfrm>
            <a:off x="5715000" y="822960"/>
            <a:ext cx="5678424" cy="5184648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810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2400"/>
              <a:buChar char=" "/>
              <a:defRPr sz="2400"/>
            </a:lvl1pPr>
            <a:lvl2pPr indent="-355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2000"/>
              <a:buChar char="🢝"/>
              <a:defRPr sz="2000"/>
            </a:lvl2pPr>
            <a:lvl3pPr indent="-3302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3pPr>
            <a:lvl4pPr indent="-3302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4pPr>
            <a:lvl5pPr indent="-3302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5pPr>
            <a:lvl6pPr indent="-3302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6pPr>
            <a:lvl7pPr indent="-3302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7pPr>
            <a:lvl8pPr indent="-3302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600"/>
              <a:buChar char="🢝"/>
              <a:defRPr sz="1600"/>
            </a:lvl8pPr>
            <a:lvl9pPr indent="-3302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600"/>
              <a:buChar char="🢝"/>
              <a:defRPr sz="1600"/>
            </a:lvl9pPr>
          </a:lstStyle>
          <a:p/>
        </p:txBody>
      </p:sp>
      <p:sp>
        <p:nvSpPr>
          <p:cNvPr id="66" name="Google Shape;66;p9"/>
          <p:cNvSpPr txBox="1"/>
          <p:nvPr>
            <p:ph idx="2" type="body"/>
          </p:nvPr>
        </p:nvSpPr>
        <p:spPr>
          <a:xfrm>
            <a:off x="1024128" y="2257506"/>
            <a:ext cx="4389120" cy="3762294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8000"/>
              </a:lnSpc>
              <a:spcBef>
                <a:spcPts val="600"/>
              </a:spcBef>
              <a:spcAft>
                <a:spcPts val="0"/>
              </a:spcAft>
              <a:buSzPts val="1600"/>
              <a:buNone/>
              <a:defRPr sz="1600"/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200"/>
              <a:buNone/>
              <a:defRPr sz="12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900"/>
              <a:buNone/>
              <a:defRPr sz="9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900"/>
              <a:buNone/>
              <a:defRPr sz="900"/>
            </a:lvl9pPr>
          </a:lstStyle>
          <a:p/>
        </p:txBody>
      </p:sp>
      <p:sp>
        <p:nvSpPr>
          <p:cNvPr id="67" name="Google Shape;67;p9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8" name="Google Shape;68;p9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69" name="Google Shape;69;p9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9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Picture with Caption" showMasterSp="0" type="picTx">
  <p:cSld name="PICTURE_WITH_CAPTION_TEXT">
    <p:spTree>
      <p:nvGrpSpPr>
        <p:cNvPr id="70" name="Shape 7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1" name="Google Shape;71;p10"/>
          <p:cNvSpPr txBox="1"/>
          <p:nvPr>
            <p:ph type="title"/>
          </p:nvPr>
        </p:nvSpPr>
        <p:spPr>
          <a:xfrm>
            <a:off x="457200" y="4960138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sz="5000"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2" name="Google Shape;72;p10"/>
          <p:cNvSpPr/>
          <p:nvPr>
            <p:ph idx="2" type="pic"/>
          </p:nvPr>
        </p:nvSpPr>
        <p:spPr>
          <a:xfrm>
            <a:off x="0" y="-1"/>
            <a:ext cx="12188952" cy="4572000"/>
          </a:xfrm>
          <a:prstGeom prst="rect">
            <a:avLst/>
          </a:prstGeom>
          <a:solidFill>
            <a:srgbClr val="C1DF87"/>
          </a:solidFill>
          <a:ln>
            <a:noFill/>
          </a:ln>
        </p:spPr>
        <p:txBody>
          <a:bodyPr anchorCtr="0" anchor="t" bIns="45700" lIns="457200" spcFirstLastPara="1" rIns="45700" wrap="square" tIns="365750">
            <a:noAutofit/>
          </a:bodyPr>
          <a:lstStyle>
            <a:lvl1pPr lvl="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3200"/>
              <a:buFont typeface="Twentieth Century"/>
              <a:buNone/>
              <a:defRPr b="0" i="0" sz="3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2800"/>
              <a:buFont typeface="Noto Sans Symbols"/>
              <a:buNone/>
              <a:defRPr b="0" i="0" sz="2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400"/>
              <a:buFont typeface="Noto Sans Symbols"/>
              <a:buNone/>
              <a:defRPr b="0" i="0" sz="2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2000"/>
              <a:buFont typeface="Noto Sans Symbols"/>
              <a:buNone/>
              <a:defRPr b="0" i="0" sz="20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73" name="Google Shape;73;p10"/>
          <p:cNvSpPr txBox="1"/>
          <p:nvPr>
            <p:ph idx="1" type="body"/>
          </p:nvPr>
        </p:nvSpPr>
        <p:spPr>
          <a:xfrm>
            <a:off x="8610600" y="4960138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-228600" lvl="0" marL="45720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  <a:defRPr sz="1800">
                <a:solidFill>
                  <a:srgbClr val="0C0C0C"/>
                </a:solidFill>
              </a:defRPr>
            </a:lvl1pPr>
            <a:lvl2pPr indent="-2286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400"/>
              <a:buNone/>
              <a:defRPr sz="1400"/>
            </a:lvl2pPr>
            <a:lvl3pPr indent="-2286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200"/>
              <a:buNone/>
              <a:defRPr sz="1200"/>
            </a:lvl3pPr>
            <a:lvl4pPr indent="-2286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4pPr>
            <a:lvl5pPr indent="-2286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5pPr>
            <a:lvl6pPr indent="-2286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6pPr>
            <a:lvl7pPr indent="-2286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7pPr>
            <a:lvl8pPr indent="-2286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000"/>
              <a:buNone/>
              <a:defRPr sz="1000"/>
            </a:lvl8pPr>
            <a:lvl9pPr indent="-2286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000"/>
              <a:buNone/>
              <a:defRPr sz="1000"/>
            </a:lvl9pPr>
          </a:lstStyle>
          <a:p/>
        </p:txBody>
      </p:sp>
      <p:sp>
        <p:nvSpPr>
          <p:cNvPr id="74" name="Google Shape;74;p10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5" name="Google Shape;75;p10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76" name="Google Shape;76;p10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77" name="Google Shape;77;p10"/>
          <p:cNvCxnSpPr/>
          <p:nvPr/>
        </p:nvCxnSpPr>
        <p:spPr>
          <a:xfrm rot="10800000">
            <a:off x="8386843" y="5264106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Layouts/slideLayout10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Title and Vertical Text" type="vertTx">
  <p:cSld name="VERTICAL_TEXT">
    <p:spTree>
      <p:nvGrpSpPr>
        <p:cNvPr id="78" name="Shape 7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79" name="Google Shape;79;p1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0" name="Google Shape;80;p11"/>
          <p:cNvSpPr txBox="1"/>
          <p:nvPr>
            <p:ph idx="1" type="body"/>
          </p:nvPr>
        </p:nvSpPr>
        <p:spPr>
          <a:xfrm rot="5400000">
            <a:off x="3872484" y="-562356"/>
            <a:ext cx="4023360" cy="9720073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1" name="Google Shape;81;p1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2" name="Google Shape;82;p1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3" name="Google Shape;83;p1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</p:spTree>
  </p:cSld>
  <p:clrMapOvr>
    <a:masterClrMapping/>
  </p:clrMapOvr>
</p:sldLayout>
</file>

<file path=ppt/slideLayouts/slideLayout11.xml><?xml version="1.0" encoding="utf-8"?>
<p:sldLayout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 matchingName="Vertical Title and Text" showMasterSp="0" type="vertTitleAndTx">
  <p:cSld name="VERTICAL_TITLE_AND_VERTICAL_TEXT">
    <p:spTree>
      <p:nvGrpSpPr>
        <p:cNvPr id="84" name="Shape 8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85" name="Google Shape;85;p12"/>
          <p:cNvSpPr txBox="1"/>
          <p:nvPr>
            <p:ph type="title"/>
          </p:nvPr>
        </p:nvSpPr>
        <p:spPr>
          <a:xfrm rot="5400000">
            <a:off x="7334251" y="2152650"/>
            <a:ext cx="5410200" cy="2628900"/>
          </a:xfrm>
          <a:prstGeom prst="rect">
            <a:avLst/>
          </a:prstGeom>
          <a:noFill/>
          <a:ln>
            <a:noFill/>
          </a:ln>
        </p:spPr>
        <p:txBody>
          <a:bodyPr anchorCtr="0" anchor="ctr" bIns="91425" lIns="45700" spcFirstLastPara="1" rIns="45700" wrap="square" tIns="91425">
            <a:noAutofit/>
          </a:bodyPr>
          <a:lstStyle>
            <a:lvl1pPr lv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1800"/>
              <a:buNone/>
              <a:defRPr/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6" name="Google Shape;86;p12"/>
          <p:cNvSpPr txBox="1"/>
          <p:nvPr>
            <p:ph idx="1" type="body"/>
          </p:nvPr>
        </p:nvSpPr>
        <p:spPr>
          <a:xfrm rot="5400000">
            <a:off x="2076451" y="-323850"/>
            <a:ext cx="5410200" cy="758190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42900" lvl="0" marL="45720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SzPts val="1800"/>
              <a:buChar char=" "/>
              <a:defRPr/>
            </a:lvl1pPr>
            <a:lvl2pPr indent="-342900" lvl="1" marL="91440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800"/>
              <a:buChar char="🢝"/>
              <a:defRPr/>
            </a:lvl2pPr>
            <a:lvl3pPr indent="-342900" lvl="2" marL="1371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3pPr>
            <a:lvl4pPr indent="-342900" lvl="3" marL="18288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4pPr>
            <a:lvl5pPr indent="-342900" lvl="4" marL="22860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5pPr>
            <a:lvl6pPr indent="-342900" lvl="5" marL="27432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6pPr>
            <a:lvl7pPr indent="-342900" lvl="6" marL="32004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7pPr>
            <a:lvl8pPr indent="-342900" lvl="7" marL="365760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SzPts val="1800"/>
              <a:buChar char="🢝"/>
              <a:defRPr/>
            </a:lvl8pPr>
            <a:lvl9pPr indent="-342900" lvl="8" marL="411480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SzPts val="1800"/>
              <a:buChar char="🢝"/>
              <a:defRPr/>
            </a:lvl9pPr>
          </a:lstStyle>
          <a:p/>
        </p:txBody>
      </p:sp>
      <p:sp>
        <p:nvSpPr>
          <p:cNvPr id="87" name="Google Shape;87;p12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8" name="Google Shape;88;p12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algn="r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1pPr>
            <a:lvl2pPr lvl="1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2pPr>
            <a:lvl3pPr lvl="2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3pPr>
            <a:lvl4pPr lvl="3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4pPr>
            <a:lvl5pPr lvl="4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5pPr>
            <a:lvl6pPr lvl="5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6pPr>
            <a:lvl7pPr lvl="6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7pPr>
            <a:lvl8pPr lvl="7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8pPr>
            <a:lvl9pPr lvl="8" algn="l">
              <a:spcBef>
                <a:spcPts val="0"/>
              </a:spcBef>
              <a:spcAft>
                <a:spcPts val="0"/>
              </a:spcAft>
              <a:buSzPts val="1400"/>
              <a:buNone/>
              <a:defRPr/>
            </a:lvl9pPr>
          </a:lstStyle>
          <a:p/>
        </p:txBody>
      </p:sp>
      <p:sp>
        <p:nvSpPr>
          <p:cNvPr id="89" name="Google Shape;89;p12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algn="l">
              <a:spcBef>
                <a:spcPts val="0"/>
              </a:spcBef>
              <a:buNone/>
              <a:defRPr/>
            </a:lvl1pPr>
            <a:lvl2pPr indent="0" lvl="1" marL="0" algn="l">
              <a:spcBef>
                <a:spcPts val="0"/>
              </a:spcBef>
              <a:buNone/>
              <a:defRPr/>
            </a:lvl2pPr>
            <a:lvl3pPr indent="0" lvl="2" marL="0" algn="l">
              <a:spcBef>
                <a:spcPts val="0"/>
              </a:spcBef>
              <a:buNone/>
              <a:defRPr/>
            </a:lvl3pPr>
            <a:lvl4pPr indent="0" lvl="3" marL="0" algn="l">
              <a:spcBef>
                <a:spcPts val="0"/>
              </a:spcBef>
              <a:buNone/>
              <a:defRPr/>
            </a:lvl4pPr>
            <a:lvl5pPr indent="0" lvl="4" marL="0" algn="l">
              <a:spcBef>
                <a:spcPts val="0"/>
              </a:spcBef>
              <a:buNone/>
              <a:defRPr/>
            </a:lvl5pPr>
            <a:lvl6pPr indent="0" lvl="5" marL="0" algn="l">
              <a:spcBef>
                <a:spcPts val="0"/>
              </a:spcBef>
              <a:buNone/>
              <a:defRPr/>
            </a:lvl6pPr>
            <a:lvl7pPr indent="0" lvl="6" marL="0" algn="l">
              <a:spcBef>
                <a:spcPts val="0"/>
              </a:spcBef>
              <a:buNone/>
              <a:defRPr/>
            </a:lvl7pPr>
            <a:lvl8pPr indent="0" lvl="7" marL="0" algn="l">
              <a:spcBef>
                <a:spcPts val="0"/>
              </a:spcBef>
              <a:buNone/>
              <a:defRPr/>
            </a:lvl8pPr>
            <a:lvl9pPr indent="0" lvl="8" marL="0" algn="l">
              <a:spcBef>
                <a:spcPts val="0"/>
              </a:spcBef>
              <a:buNone/>
              <a:defRPr/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90" name="Google Shape;90;p12"/>
          <p:cNvCxnSpPr/>
          <p:nvPr/>
        </p:nvCxnSpPr>
        <p:spPr>
          <a:xfrm rot="10800000">
            <a:off x="10058400" y="59263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Ovr>
    <a:masterClrMapping/>
  </p:clrMapOvr>
</p:sldLayout>
</file>

<file path=ppt/slideMasters/_rels/slideMaster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11" Type="http://schemas.openxmlformats.org/officeDocument/2006/relationships/slideLayout" Target="../slideLayouts/slideLayout11.xml"/><Relationship Id="rId10" Type="http://schemas.openxmlformats.org/officeDocument/2006/relationships/slideLayout" Target="../slideLayouts/slideLayout10.xml"/><Relationship Id="rId12" Type="http://schemas.openxmlformats.org/officeDocument/2006/relationships/theme" Target="../theme/theme1.xml"/><Relationship Id="rId9" Type="http://schemas.openxmlformats.org/officeDocument/2006/relationships/slideLayout" Target="../slideLayouts/slideLayout9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slideLayout" Target="../slideLayouts/slideLayout8.xml"/></Relationships>
</file>

<file path=ppt/slideMasters/slideMaster1.xml><?xml version="1.0" encoding="utf-8"?>
<p:sldMaster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bg>
      <p:bgPr>
        <a:solidFill>
          <a:schemeClr val="lt1"/>
        </a:solidFill>
      </p:bgPr>
    </p:bg>
    <p:spTree>
      <p:nvGrpSpPr>
        <p:cNvPr id="9" name="Shape 9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" name="Google Shape;10;p1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  <a:defRPr b="0" i="0" sz="5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2pPr>
            <a:lvl3pPr lvl="2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3pPr>
            <a:lvl4pPr lvl="3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4pPr>
            <a:lvl5pPr lvl="4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5pPr>
            <a:lvl6pPr lvl="5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6pPr>
            <a:lvl7pPr lvl="6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7pPr>
            <a:lvl8pPr lvl="7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8pPr>
            <a:lvl9pPr lvl="8">
              <a:spcBef>
                <a:spcPts val="0"/>
              </a:spcBef>
              <a:spcAft>
                <a:spcPts val="0"/>
              </a:spcAft>
              <a:buSzPts val="1400"/>
              <a:buNone/>
              <a:defRPr sz="1800"/>
            </a:lvl9pPr>
          </a:lstStyle>
          <a:p/>
        </p:txBody>
      </p:sp>
      <p:sp>
        <p:nvSpPr>
          <p:cNvPr id="11" name="Google Shape;11;p1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>
            <a:lvl1pPr indent="-368300" lvl="0" marL="457200" marR="0" rtl="0" algn="l">
              <a:lnSpc>
                <a:spcPct val="90000"/>
              </a:lnSpc>
              <a:spcBef>
                <a:spcPts val="1200"/>
              </a:spcBef>
              <a:spcAft>
                <a:spcPts val="0"/>
              </a:spcAft>
              <a:buClr>
                <a:schemeClr val="accent1"/>
              </a:buClr>
              <a:buSzPts val="2200"/>
              <a:buFont typeface="Twentieth Century"/>
              <a:buChar char=" "/>
              <a:defRPr b="0" i="0" sz="22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-342900" lvl="1" marL="914400" marR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Clr>
                <a:schemeClr val="accent1"/>
              </a:buClr>
              <a:buSzPts val="1800"/>
              <a:buFont typeface="Noto Sans Symbols"/>
              <a:buChar char="🢝"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-317500" lvl="2" marL="1371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-317500" lvl="3" marL="18288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-317500" lvl="4" marL="22860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-317500" lvl="5" marL="27432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-317500" lvl="6" marL="32004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-317500" lvl="7" marL="3657600" marR="0" rtl="0" algn="l">
              <a:lnSpc>
                <a:spcPct val="90000"/>
              </a:lnSpc>
              <a:spcBef>
                <a:spcPts val="400"/>
              </a:spcBef>
              <a:spcAft>
                <a:spcPts val="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-317500" lvl="8" marL="4114800" marR="0" rtl="0" algn="l">
              <a:lnSpc>
                <a:spcPct val="90000"/>
              </a:lnSpc>
              <a:spcBef>
                <a:spcPts val="400"/>
              </a:spcBef>
              <a:spcAft>
                <a:spcPts val="400"/>
              </a:spcAft>
              <a:buClr>
                <a:schemeClr val="accent1"/>
              </a:buClr>
              <a:buSzPts val="1400"/>
              <a:buFont typeface="Noto Sans Symbols"/>
              <a:buChar char="🢝"/>
              <a:defRPr b="0" i="0" sz="14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2" name="Google Shape;12;p1"/>
          <p:cNvSpPr txBox="1"/>
          <p:nvPr>
            <p:ph idx="10" type="dt"/>
          </p:nvPr>
        </p:nvSpPr>
        <p:spPr>
          <a:xfrm>
            <a:off x="1024129" y="6470704"/>
            <a:ext cx="2154143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3" name="Google Shape;13;p1"/>
          <p:cNvSpPr txBox="1"/>
          <p:nvPr>
            <p:ph idx="11" type="ftr"/>
          </p:nvPr>
        </p:nvSpPr>
        <p:spPr>
          <a:xfrm>
            <a:off x="4842932" y="6470704"/>
            <a:ext cx="5901459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lvl="0" marR="0" rtl="0" algn="r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lvl="1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lvl="2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lvl="3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lvl="4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lvl="5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lvl="6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lvl="7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lvl="8" marR="0" rtl="0" algn="l">
              <a:spcBef>
                <a:spcPts val="0"/>
              </a:spcBef>
              <a:spcAft>
                <a:spcPts val="0"/>
              </a:spcAft>
              <a:buSzPts val="1400"/>
              <a:buNone/>
              <a:defRPr b="0" i="0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/>
        </p:txBody>
      </p:sp>
      <p:sp>
        <p:nvSpPr>
          <p:cNvPr id="14" name="Google Shape;14;p1"/>
          <p:cNvSpPr txBox="1"/>
          <p:nvPr>
            <p:ph idx="12" type="sldNum"/>
          </p:nvPr>
        </p:nvSpPr>
        <p:spPr>
          <a:xfrm>
            <a:off x="10837333" y="6470704"/>
            <a:ext cx="973667" cy="27432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>
            <a:lvl1pPr indent="0" lvl="0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1pPr>
            <a:lvl2pPr indent="0" lvl="1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2pPr>
            <a:lvl3pPr indent="0" lvl="2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3pPr>
            <a:lvl4pPr indent="0" lvl="3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4pPr>
            <a:lvl5pPr indent="0" lvl="4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5pPr>
            <a:lvl6pPr indent="0" lvl="5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6pPr>
            <a:lvl7pPr indent="0" lvl="6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7pPr>
            <a:lvl8pPr indent="0" lvl="7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8pPr>
            <a:lvl9pPr indent="0" lvl="8" marL="0" marR="0" rtl="0" algn="l">
              <a:spcBef>
                <a:spcPts val="0"/>
              </a:spcBef>
              <a:buNone/>
              <a:defRPr b="0" i="0" sz="1000" u="none" cap="none" strike="noStrike">
                <a:solidFill>
                  <a:srgbClr val="0C0C0C"/>
                </a:solidFill>
                <a:latin typeface="Twentieth Century"/>
                <a:ea typeface="Twentieth Century"/>
                <a:cs typeface="Twentieth Century"/>
                <a:sym typeface="Twentieth Century"/>
              </a:defRPr>
            </a:lvl9pPr>
          </a:lstStyle>
          <a:p>
            <a:pPr indent="0" lvl="0" marL="0" rtl="0" algn="l">
              <a:spcBef>
                <a:spcPts val="0"/>
              </a:spcBef>
              <a:spcAft>
                <a:spcPts val="0"/>
              </a:spcAft>
              <a:buNone/>
            </a:pPr>
            <a:fld id="{00000000-1234-1234-1234-123412341234}" type="slidenum">
              <a:rPr lang="en-GB"/>
              <a:t>‹#›</a:t>
            </a:fld>
            <a:endParaRPr/>
          </a:p>
        </p:txBody>
      </p:sp>
      <p:cxnSp>
        <p:nvCxnSpPr>
          <p:cNvPr id="15" name="Google Shape;15;p1"/>
          <p:cNvCxnSpPr/>
          <p:nvPr/>
        </p:nvCxnSpPr>
        <p:spPr>
          <a:xfrm rot="10800000">
            <a:off x="762000" y="826324"/>
            <a:ext cx="0" cy="914400"/>
          </a:xfrm>
          <a:prstGeom prst="straightConnector1">
            <a:avLst/>
          </a:prstGeom>
          <a:noFill/>
          <a:ln cap="flat" cmpd="sng" w="190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cxnSp>
    </p:spTree>
  </p:cSld>
  <p:clrMap accent1="accent1" accent2="accent2" accent3="accent3" accent4="accent4" accent5="accent5" accent6="accent6" bg1="lt1" bg2="dk2" tx1="dk1" tx2="lt2" folHlink="folHlink" hlink="hlink"/>
  <p:sldLayoutIdLst>
    <p:sldLayoutId id="2147483648" r:id="rId1"/>
    <p:sldLayoutId id="2147483649" r:id="rId2"/>
    <p:sldLayoutId id="2147483650" r:id="rId3"/>
    <p:sldLayoutId id="2147483651" r:id="rId4"/>
    <p:sldLayoutId id="2147483652" r:id="rId5"/>
    <p:sldLayoutId id="2147483653" r:id="rId6"/>
    <p:sldLayoutId id="2147483654" r:id="rId7"/>
    <p:sldLayoutId id="2147483655" r:id="rId8"/>
    <p:sldLayoutId id="2147483656" r:id="rId9"/>
    <p:sldLayoutId id="2147483657" r:id="rId10"/>
    <p:sldLayoutId id="2147483658" r:id="rId11"/>
  </p:sldLayoutIdLst>
  <p:hf dt="0" ftr="0" hdr="0" sldNum="0"/>
  <p:txStyles>
    <p:title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titleStyle>
    <p:body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bodyStyle>
    <p:otherStyle>
      <a:defPPr lvl="0" marR="0" rtl="0" algn="l">
        <a:lnSpc>
          <a:spcPct val="100000"/>
        </a:lnSpc>
        <a:spcBef>
          <a:spcPts val="0"/>
        </a:spcBef>
        <a:spcAft>
          <a:spcPts val="0"/>
        </a:spcAft>
      </a:defPPr>
      <a:lvl1pPr lvl="0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1pPr>
      <a:lvl2pPr lvl="1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2pPr>
      <a:lvl3pPr lvl="2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3pPr>
      <a:lvl4pPr lvl="3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4pPr>
      <a:lvl5pPr lvl="4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5pPr>
      <a:lvl6pPr lvl="5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6pPr>
      <a:lvl7pPr lvl="6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7pPr>
      <a:lvl8pPr lvl="7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8pPr>
      <a:lvl9pPr lvl="8" marR="0" rtl="0" algn="l">
        <a:lnSpc>
          <a:spcPct val="100000"/>
        </a:lnSpc>
        <a:spcBef>
          <a:spcPts val="0"/>
        </a:spcBef>
        <a:spcAft>
          <a:spcPts val="0"/>
        </a:spcAft>
        <a:buClr>
          <a:srgbClr val="000000"/>
        </a:buClr>
        <a:buFont typeface="Arial"/>
        <a:defRPr b="0" i="0" sz="1400" u="none" cap="none" strike="noStrike">
          <a:solidFill>
            <a:srgbClr val="000000"/>
          </a:solidFill>
          <a:latin typeface="Arial"/>
          <a:ea typeface="Arial"/>
          <a:cs typeface="Arial"/>
          <a:sym typeface="Arial"/>
        </a:defRPr>
      </a:lvl9pPr>
    </p:otherStyle>
  </p:txStyles>
</p:sldMaster>
</file>

<file path=ppt/slides/_rels/slide1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1.xml"/></Relationships>
</file>

<file path=ppt/slides/_rels/slide2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2.xml"/></Relationships>
</file>

<file path=ppt/slides/_rels/slide3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1.xml"/><Relationship Id="rId2" Type="http://schemas.openxmlformats.org/officeDocument/2006/relationships/notesSlide" Target="../notesSlides/notesSlide3.xml"/></Relationships>
</file>

<file path=ppt/slides/_rels/slide4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4.xml"/></Relationships>
</file>

<file path=ppt/slides/_rels/slide5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5.xml"/></Relationships>
</file>

<file path=ppt/slides/_rels/slide6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6.xml"/></Relationships>
</file>

<file path=ppt/slides/_rels/slide7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7.xml"/><Relationship Id="rId3" Type="http://schemas.openxmlformats.org/officeDocument/2006/relationships/image" Target="../media/image5.png"/></Relationships>
</file>

<file path=ppt/slides/_rels/slide8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8.xml"/><Relationship Id="rId3" Type="http://schemas.openxmlformats.org/officeDocument/2006/relationships/image" Target="../media/image3.png"/></Relationships>
</file>

<file path=ppt/slides/_rels/slide9.xml.rels><?xml version="1.0" encoding="UTF-8" standalone="yes"?><Relationships xmlns="http://schemas.openxmlformats.org/package/2006/relationships"><Relationship Id="rId1" Type="http://schemas.openxmlformats.org/officeDocument/2006/relationships/slideLayout" Target="../slideLayouts/slideLayout2.xml"/><Relationship Id="rId2" Type="http://schemas.openxmlformats.org/officeDocument/2006/relationships/notesSlide" Target="../notesSlides/notesSlide9.xml"/><Relationship Id="rId3" Type="http://schemas.openxmlformats.org/officeDocument/2006/relationships/image" Target="../media/image4.png"/></Relationships>
</file>

<file path=ppt/slides/slide1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94" name="Shape 94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95" name="Google Shape;95;p13"/>
          <p:cNvSpPr txBox="1"/>
          <p:nvPr>
            <p:ph type="ctrTitle"/>
          </p:nvPr>
        </p:nvSpPr>
        <p:spPr>
          <a:xfrm>
            <a:off x="457200" y="4960137"/>
            <a:ext cx="7772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/>
              <a:t>BTEC LEVEL 2 TECH AWARD</a:t>
            </a:r>
            <a:endParaRPr/>
          </a:p>
        </p:txBody>
      </p:sp>
      <p:sp>
        <p:nvSpPr>
          <p:cNvPr id="96" name="Google Shape;96;p13"/>
          <p:cNvSpPr txBox="1"/>
          <p:nvPr>
            <p:ph idx="1" type="subTitle"/>
          </p:nvPr>
        </p:nvSpPr>
        <p:spPr>
          <a:xfrm>
            <a:off x="8610600" y="4960137"/>
            <a:ext cx="3200400" cy="1463040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100000"/>
              </a:lnSpc>
              <a:spcBef>
                <a:spcPts val="0"/>
              </a:spcBef>
              <a:spcAft>
                <a:spcPts val="0"/>
              </a:spcAft>
              <a:buSzPts val="1800"/>
              <a:buNone/>
            </a:pPr>
            <a:r>
              <a:rPr lang="en-GB"/>
              <a:t>Promotion and Finance for Enterprise </a:t>
            </a:r>
            <a:endParaRPr/>
          </a:p>
        </p:txBody>
      </p:sp>
    </p:spTree>
  </p:cSld>
  <p:clrMapOvr>
    <a:masterClrMapping/>
  </p:clrMapOvr>
</p:sld>
</file>

<file path=ppt/slides/slide2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0" name="Shape 100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1" name="Google Shape;101;p14"/>
          <p:cNvSpPr txBox="1"/>
          <p:nvPr>
            <p:ph type="title"/>
          </p:nvPr>
        </p:nvSpPr>
        <p:spPr>
          <a:xfrm>
            <a:off x="1142661" y="2160016"/>
            <a:ext cx="9720072" cy="1499616"/>
          </a:xfrm>
          <a:prstGeom prst="rect">
            <a:avLst/>
          </a:prstGeom>
          <a:noFill/>
          <a:ln cap="flat" cmpd="sng" w="57150">
            <a:solidFill>
              <a:srgbClr val="CC00FF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</a:t>
            </a:r>
            <a:br>
              <a:rPr lang="en-GB" u="sng"/>
            </a:br>
            <a:r>
              <a:rPr lang="en-GB" u="sng"/>
              <a:t>LESSON 1</a:t>
            </a:r>
            <a:endParaRPr u="sng"/>
          </a:p>
        </p:txBody>
      </p:sp>
    </p:spTree>
  </p:cSld>
  <p:clrMapOvr>
    <a:masterClrMapping/>
  </p:clrMapOvr>
</p:sld>
</file>

<file path=ppt/slides/slide3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06" name="Shape 106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07" name="Google Shape;107;p15"/>
          <p:cNvSpPr txBox="1"/>
          <p:nvPr>
            <p:ph type="ctrTitle"/>
          </p:nvPr>
        </p:nvSpPr>
        <p:spPr>
          <a:xfrm>
            <a:off x="1236133" y="190011"/>
            <a:ext cx="10447867" cy="1068472"/>
          </a:xfrm>
          <a:prstGeom prst="rect">
            <a:avLst/>
          </a:prstGeom>
          <a:solidFill>
            <a:schemeClr val="lt1"/>
          </a:solidFill>
          <a:ln cap="flat" cmpd="sng" w="9525">
            <a:solidFill>
              <a:srgbClr val="FFC000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3600"/>
              <a:buFont typeface="Twentieth Century"/>
              <a:buNone/>
            </a:pPr>
            <a:r>
              <a:rPr lang="en-GB" sz="3600" u="sng"/>
              <a:t>TITLE: SOURCES OF FINANCE </a:t>
            </a:r>
            <a:br>
              <a:rPr lang="en-GB" sz="3600" u="sng"/>
            </a:br>
            <a:r>
              <a:rPr lang="en-GB" sz="3600" u="sng"/>
              <a:t>DATE: </a:t>
            </a:r>
            <a:endParaRPr sz="3600" u="sng"/>
          </a:p>
        </p:txBody>
      </p:sp>
      <p:sp>
        <p:nvSpPr>
          <p:cNvPr id="108" name="Google Shape;108;p15"/>
          <p:cNvSpPr txBox="1"/>
          <p:nvPr>
            <p:ph idx="1" type="subTitle"/>
          </p:nvPr>
        </p:nvSpPr>
        <p:spPr>
          <a:xfrm>
            <a:off x="728133" y="1557868"/>
            <a:ext cx="11226800" cy="4642624"/>
          </a:xfrm>
          <a:prstGeom prst="rect">
            <a:avLst/>
          </a:prstGeom>
          <a:solidFill>
            <a:schemeClr val="lt1"/>
          </a:solidFill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 u="sng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 u="sng"/>
              <a:t>Learning Outcomes: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explain the different sources of finance available to a business</a:t>
            </a:r>
            <a:endParaRPr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000"/>
              <a:buNone/>
            </a:pPr>
            <a:r>
              <a:rPr lang="en-GB" sz="3000"/>
              <a:t>To be able to analyse the advantages and disadvantages of the various sources of finance. </a:t>
            </a:r>
            <a:endParaRPr sz="3000"/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t/>
            </a:r>
            <a:endParaRPr b="1" i="1" sz="3400" u="sng">
              <a:solidFill>
                <a:srgbClr val="FF00FF"/>
              </a:solidFill>
            </a:endParaRPr>
          </a:p>
          <a:p>
            <a:pPr indent="0" lvl="0" marL="0" rtl="0" algn="ctr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3400"/>
              <a:buNone/>
            </a:pPr>
            <a:r>
              <a:rPr b="1" i="1" lang="en-GB" sz="3400" u="sng">
                <a:solidFill>
                  <a:srgbClr val="FF00FF"/>
                </a:solidFill>
              </a:rPr>
              <a:t>Starter: what do you think is the difference between a fixed and a variable cost? </a:t>
            </a:r>
            <a:endParaRPr b="1" i="1" sz="3400" u="sng">
              <a:solidFill>
                <a:srgbClr val="FF00FF"/>
              </a:solidFill>
            </a:endParaRPr>
          </a:p>
          <a:p>
            <a:pPr indent="-112713" lvl="0" marL="214313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Font typeface="Twentieth Century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  <a:p>
            <a:pPr indent="0" lvl="0" marL="0" rtl="0" algn="l">
              <a:lnSpc>
                <a:spcPct val="90000"/>
              </a:lnSpc>
              <a:spcBef>
                <a:spcPts val="200"/>
              </a:spcBef>
              <a:spcAft>
                <a:spcPts val="0"/>
              </a:spcAft>
              <a:buSzPts val="1600"/>
              <a:buNone/>
            </a:pPr>
            <a:r>
              <a:t/>
            </a:r>
            <a:endParaRPr sz="1600"/>
          </a:p>
        </p:txBody>
      </p:sp>
    </p:spTree>
  </p:cSld>
  <p:clrMapOvr>
    <a:masterClrMapping/>
  </p:clrMapOvr>
</p:sld>
</file>

<file path=ppt/slides/slide4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2" name="Shape 11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3" name="Google Shape;113;p16"/>
          <p:cNvSpPr txBox="1"/>
          <p:nvPr>
            <p:ph type="title"/>
          </p:nvPr>
        </p:nvSpPr>
        <p:spPr>
          <a:xfrm>
            <a:off x="1024128" y="585216"/>
            <a:ext cx="9720072" cy="1499616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C5- SOURCES OF FINANCE </a:t>
            </a:r>
            <a:endParaRPr u="sng"/>
          </a:p>
        </p:txBody>
      </p:sp>
      <p:sp>
        <p:nvSpPr>
          <p:cNvPr id="114" name="Google Shape;114;p16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4800"/>
              <a:buNone/>
            </a:pPr>
            <a:r>
              <a:rPr lang="en-GB" sz="4800"/>
              <a:t>Learners will consider why enterprises may plan different sources of finance for different purposes or at different stages and the relevance of each source</a:t>
            </a:r>
            <a:endParaRPr/>
          </a:p>
        </p:txBody>
      </p:sp>
    </p:spTree>
  </p:cSld>
  <p:clrMapOvr>
    <a:masterClrMapping/>
  </p:clrMapOvr>
</p:sld>
</file>

<file path=ppt/slides/slide5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18" name="Shape 118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19" name="Google Shape;119;p17"/>
          <p:cNvSpPr txBox="1"/>
          <p:nvPr>
            <p:ph type="title"/>
          </p:nvPr>
        </p:nvSpPr>
        <p:spPr>
          <a:xfrm>
            <a:off x="1024128" y="246549"/>
            <a:ext cx="9720072" cy="1108118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THEORY</a:t>
            </a:r>
            <a:r>
              <a:rPr lang="en-GB"/>
              <a:t> </a:t>
            </a:r>
            <a:endParaRPr/>
          </a:p>
        </p:txBody>
      </p:sp>
      <p:sp>
        <p:nvSpPr>
          <p:cNvPr id="120" name="Google Shape;120;p17"/>
          <p:cNvSpPr txBox="1"/>
          <p:nvPr>
            <p:ph idx="1" type="body"/>
          </p:nvPr>
        </p:nvSpPr>
        <p:spPr>
          <a:xfrm>
            <a:off x="795868" y="1354667"/>
            <a:ext cx="10786532" cy="4832695"/>
          </a:xfrm>
          <a:prstGeom prst="rect">
            <a:avLst/>
          </a:prstGeom>
          <a:noFill/>
          <a:ln cap="flat" cmpd="sng" w="5715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-152400" lvl="0" marL="91440" rtl="0" algn="just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All businesses need finance. There are a number of funding sources used by organisations.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Finance refers to sources of money for a business. Firms need finance to: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Start up</a:t>
            </a:r>
            <a:r>
              <a:rPr lang="en-GB" sz="2400"/>
              <a:t> a business, eg pay for premises, new equipment and advertising.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Run</a:t>
            </a:r>
            <a:r>
              <a:rPr lang="en-GB" sz="2400"/>
              <a:t> the business, eg having enough cash to pay staff wages and suppliers on time.</a:t>
            </a:r>
            <a:endParaRPr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b="1" lang="en-GB" sz="2400"/>
              <a:t>Expand</a:t>
            </a:r>
            <a:r>
              <a:rPr lang="en-GB" sz="2400"/>
              <a:t> the business, eg having funds to pay for a new branch in a different city or country.</a:t>
            </a:r>
            <a:endParaRPr b="1" sz="2400"/>
          </a:p>
          <a:p>
            <a:pPr indent="-152400" lvl="0" marL="91440" rtl="0" algn="just">
              <a:lnSpc>
                <a:spcPct val="90000"/>
              </a:lnSpc>
              <a:spcBef>
                <a:spcPts val="1400"/>
              </a:spcBef>
              <a:spcAft>
                <a:spcPts val="0"/>
              </a:spcAft>
              <a:buSzPts val="2400"/>
              <a:buChar char=" "/>
            </a:pPr>
            <a:r>
              <a:rPr lang="en-GB" sz="2400"/>
              <a:t>New businesses find it difficult to raise finance because they usually have just a few </a:t>
            </a:r>
            <a:r>
              <a:rPr b="1" lang="en-GB" sz="2400"/>
              <a:t>customers </a:t>
            </a:r>
            <a:r>
              <a:rPr lang="en-GB" sz="2400"/>
              <a:t>and many </a:t>
            </a:r>
            <a:r>
              <a:rPr b="1" lang="en-GB" sz="2400"/>
              <a:t>competitors</a:t>
            </a:r>
            <a:r>
              <a:rPr lang="en-GB" sz="2400"/>
              <a:t>. Lenders are put off by the risk that the start-up may fail. If that happens, the owners may be unable to repay borrowed money.</a:t>
            </a:r>
            <a:endParaRPr/>
          </a:p>
        </p:txBody>
      </p:sp>
      <p:sp>
        <p:nvSpPr>
          <p:cNvPr id="121" name="Google Shape;121;p17"/>
          <p:cNvSpPr/>
          <p:nvPr/>
        </p:nvSpPr>
        <p:spPr>
          <a:xfrm>
            <a:off x="355600" y="6187362"/>
            <a:ext cx="11226800" cy="369332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ctr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dk1"/>
                </a:solidFill>
                <a:latin typeface="Twentieth Century"/>
                <a:ea typeface="Twentieth Century"/>
                <a:cs typeface="Twentieth Century"/>
                <a:sym typeface="Twentieth Century"/>
              </a:rPr>
              <a:t>http://www.bbc.co.uk/schools/gcsebitesize/business/finance/sourcesoffinancerev1.shtml</a:t>
            </a:r>
            <a:endParaRPr/>
          </a:p>
        </p:txBody>
      </p:sp>
    </p:spTree>
  </p:cSld>
  <p:clrMapOvr>
    <a:masterClrMapping/>
  </p:clrMapOvr>
</p:sld>
</file>

<file path=ppt/slides/slide6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25" name="Shape 12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26" name="Google Shape;126;p18"/>
          <p:cNvSpPr txBox="1"/>
          <p:nvPr>
            <p:ph type="title"/>
          </p:nvPr>
        </p:nvSpPr>
        <p:spPr>
          <a:xfrm>
            <a:off x="1024126" y="195749"/>
            <a:ext cx="9720072" cy="1175851"/>
          </a:xfrm>
          <a:prstGeom prst="rect">
            <a:avLst/>
          </a:prstGeom>
          <a:noFill/>
          <a:ln>
            <a:noFill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SOURCES OF FINANCE </a:t>
            </a:r>
            <a:endParaRPr u="sng"/>
          </a:p>
        </p:txBody>
      </p:sp>
      <p:graphicFrame>
        <p:nvGraphicFramePr>
          <p:cNvPr id="127" name="Google Shape;127;p18"/>
          <p:cNvGraphicFramePr/>
          <p:nvPr/>
        </p:nvGraphicFramePr>
        <p:xfrm>
          <a:off x="837670" y="1371603"/>
          <a:ext cx="3000000" cy="3000000"/>
        </p:xfrm>
        <a:graphic>
          <a:graphicData uri="http://schemas.openxmlformats.org/drawingml/2006/table">
            <a:tbl>
              <a:tblPr bandRow="1" firstRow="1">
                <a:noFill/>
                <a:tableStyleId>{7D14EAFA-1290-42A6-96A6-AE9066DA0403}</a:tableStyleId>
              </a:tblPr>
              <a:tblGrid>
                <a:gridCol w="2605750"/>
                <a:gridCol w="2605750"/>
                <a:gridCol w="2605750"/>
                <a:gridCol w="2605750"/>
              </a:tblGrid>
              <a:tr h="483975"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Source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Definition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Advantages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ctr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2200" u="none" cap="none" strike="noStrike">
                          <a:solidFill>
                            <a:srgbClr val="29697C"/>
                          </a:solidFill>
                        </a:rPr>
                        <a:t>Disadvantages </a:t>
                      </a:r>
                      <a:endParaRPr sz="2200" u="none" cap="none" strike="noStrike">
                        <a:solidFill>
                          <a:srgbClr val="29697C"/>
                        </a:solidFill>
                      </a:endParaRPr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 u="none" cap="none" strike="noStrike"/>
                        <a:t>Owners Funds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Retained Profit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Loans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77350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Credit</a:t>
                      </a:r>
                      <a:r>
                        <a:rPr lang="en-GB" sz="1800"/>
                        <a:t> Cards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Government</a:t>
                      </a:r>
                      <a:r>
                        <a:rPr lang="en-GB" sz="1800"/>
                        <a:t> Grants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Hire Purchase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Leasing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Trade Credit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Venture</a:t>
                      </a:r>
                      <a:r>
                        <a:rPr lang="en-GB" sz="1800"/>
                        <a:t> Capital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  <a:tr h="483975"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rPr lang="en-GB" sz="1800"/>
                        <a:t>Peer</a:t>
                      </a:r>
                      <a:r>
                        <a:rPr lang="en-GB" sz="1800"/>
                        <a:t> to peer lending </a:t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  <a:tc>
                  <a:txBody>
                    <a:bodyPr/>
                    <a:lstStyle/>
                    <a:p>
                      <a:pPr indent="0" lvl="0" marL="0" marR="0" rtl="0" algn="l">
                        <a:spcBef>
                          <a:spcPts val="0"/>
                        </a:spcBef>
                        <a:spcAft>
                          <a:spcPts val="0"/>
                        </a:spcAft>
                        <a:buNone/>
                      </a:pPr>
                      <a:r>
                        <a:t/>
                      </a:r>
                      <a:endParaRPr sz="1800"/>
                    </a:p>
                  </a:txBody>
                  <a:tcPr marT="45725" marB="45725" marR="91450" marL="91450"/>
                </a:tc>
              </a:tr>
            </a:tbl>
          </a:graphicData>
        </a:graphic>
      </p:graphicFrame>
    </p:spTree>
  </p:cSld>
  <p:clrMapOvr>
    <a:masterClrMapping/>
  </p:clrMapOvr>
</p:sld>
</file>

<file path=ppt/slides/slide7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32" name="Shape 132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33" name="Google Shape;133;p19"/>
          <p:cNvSpPr txBox="1"/>
          <p:nvPr>
            <p:ph idx="1" type="body"/>
          </p:nvPr>
        </p:nvSpPr>
        <p:spPr>
          <a:xfrm>
            <a:off x="1024128" y="2286000"/>
            <a:ext cx="9720073" cy="4023360"/>
          </a:xfrm>
          <a:prstGeom prst="rect">
            <a:avLst/>
          </a:prstGeom>
          <a:noFill/>
          <a:ln>
            <a:noFill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91440" rtl="0" algn="l">
              <a:lnSpc>
                <a:spcPct val="90000"/>
              </a:lnSpc>
              <a:spcBef>
                <a:spcPts val="0"/>
              </a:spcBef>
              <a:spcAft>
                <a:spcPts val="0"/>
              </a:spcAft>
              <a:buSzPts val="2200"/>
              <a:buNone/>
            </a:pPr>
            <a:r>
              <a:t/>
            </a:r>
            <a:endParaRPr/>
          </a:p>
        </p:txBody>
      </p:sp>
      <p:pic>
        <p:nvPicPr>
          <p:cNvPr id="134" name="Google Shape;134;p19"/>
          <p:cNvPicPr preferRelativeResize="0"/>
          <p:nvPr/>
        </p:nvPicPr>
        <p:blipFill rotWithShape="1">
          <a:blip r:embed="rId3">
            <a:alphaModFix/>
          </a:blip>
          <a:srcRect b="20547" l="16827" r="15250" t="21867"/>
          <a:stretch/>
        </p:blipFill>
        <p:spPr>
          <a:xfrm>
            <a:off x="1524000" y="692150"/>
            <a:ext cx="9144000" cy="6165850"/>
          </a:xfrm>
          <a:prstGeom prst="rect">
            <a:avLst/>
          </a:prstGeom>
          <a:noFill/>
          <a:ln cap="flat" cmpd="sng" w="9525">
            <a:solidFill>
              <a:schemeClr val="dk1"/>
            </a:solidFill>
            <a:prstDash val="solid"/>
            <a:miter lim="800000"/>
            <a:headEnd len="sm" w="sm" type="none"/>
            <a:tailEnd len="sm" w="sm" type="none"/>
          </a:ln>
        </p:spPr>
      </p:pic>
      <p:cxnSp>
        <p:nvCxnSpPr>
          <p:cNvPr id="135" name="Google Shape;135;p19"/>
          <p:cNvCxnSpPr/>
          <p:nvPr/>
        </p:nvCxnSpPr>
        <p:spPr>
          <a:xfrm>
            <a:off x="6888164" y="1268414"/>
            <a:ext cx="1728787" cy="51133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6" name="Google Shape;136;p19"/>
          <p:cNvCxnSpPr/>
          <p:nvPr/>
        </p:nvCxnSpPr>
        <p:spPr>
          <a:xfrm>
            <a:off x="6888164" y="1773239"/>
            <a:ext cx="1728787" cy="719137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7" name="Google Shape;137;p19"/>
          <p:cNvCxnSpPr/>
          <p:nvPr/>
        </p:nvCxnSpPr>
        <p:spPr>
          <a:xfrm flipH="1" rot="10800000">
            <a:off x="6888164" y="1196975"/>
            <a:ext cx="1728787" cy="12954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8" name="Google Shape;138;p19"/>
          <p:cNvCxnSpPr/>
          <p:nvPr/>
        </p:nvCxnSpPr>
        <p:spPr>
          <a:xfrm>
            <a:off x="6888164" y="3284538"/>
            <a:ext cx="1728787" cy="230505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39" name="Google Shape;139;p19"/>
          <p:cNvCxnSpPr/>
          <p:nvPr/>
        </p:nvCxnSpPr>
        <p:spPr>
          <a:xfrm flipH="1" rot="10800000">
            <a:off x="6888164" y="1700213"/>
            <a:ext cx="1728787" cy="2881312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0" name="Google Shape;140;p19"/>
          <p:cNvCxnSpPr/>
          <p:nvPr/>
        </p:nvCxnSpPr>
        <p:spPr>
          <a:xfrm flipH="1" rot="10800000">
            <a:off x="6816726" y="3213101"/>
            <a:ext cx="1871663" cy="18002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1" name="Google Shape;141;p19"/>
          <p:cNvCxnSpPr/>
          <p:nvPr/>
        </p:nvCxnSpPr>
        <p:spPr>
          <a:xfrm flipH="1" rot="10800000">
            <a:off x="6888164" y="5013325"/>
            <a:ext cx="1800225" cy="647700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2" name="Google Shape;142;p19"/>
          <p:cNvCxnSpPr/>
          <p:nvPr/>
        </p:nvCxnSpPr>
        <p:spPr>
          <a:xfrm flipH="1" rot="10800000">
            <a:off x="6888164" y="3933826"/>
            <a:ext cx="1728787" cy="227647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  <p:cxnSp>
        <p:nvCxnSpPr>
          <p:cNvPr id="143" name="Google Shape;143;p19"/>
          <p:cNvCxnSpPr/>
          <p:nvPr/>
        </p:nvCxnSpPr>
        <p:spPr>
          <a:xfrm>
            <a:off x="6888164" y="3860801"/>
            <a:ext cx="1728787" cy="720725"/>
          </a:xfrm>
          <a:prstGeom prst="straightConnector1">
            <a:avLst/>
          </a:prstGeom>
          <a:noFill/>
          <a:ln cap="flat" cmpd="sng" w="19050">
            <a:solidFill>
              <a:schemeClr val="accent2"/>
            </a:solidFill>
            <a:prstDash val="solid"/>
            <a:round/>
            <a:headEnd len="sm" w="sm" type="none"/>
            <a:tailEnd len="med" w="med" type="stealth"/>
          </a:ln>
          <a:effectLst>
            <a:outerShdw blurRad="50800" rotWithShape="0" algn="ctr" dir="5400000" dist="12700">
              <a:srgbClr val="000000">
                <a:alpha val="49803"/>
              </a:srgbClr>
            </a:outerShdw>
          </a:effectLst>
        </p:spPr>
      </p:cxn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5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5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6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6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7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7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8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8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3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3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39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39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0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1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1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2" presetSubtype="4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42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  <p:anim calcmode="lin" valueType="num">
                                      <p:cBhvr additive="base">
                                        <p:cTn dur="500"/>
                                        <p:tgtEl>
                                          <p:spTgt spid="142"/>
                                        </p:tgtEl>
                                        <p:attrNameLst>
                                          <p:attrName>ppt_y</p:attrName>
                                        </p:attrNameLst>
                                      </p:cBhvr>
                                      <p:tavLst>
                                        <p:tav fmla="" tm="0">
                                          <p:val>
                                            <p:strVal val="#ppt_y+1"/>
                                          </p:val>
                                        </p:tav>
                                        <p:tav fmla="" tm="100000">
                                          <p:val>
                                            <p:strVal val="#ppt_y"/>
                                          </p:val>
                                        </p:tav>
                                      </p:tavLst>
                                    </p:anim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8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47" name="Shape 147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48" name="Google Shape;148;p20"/>
          <p:cNvSpPr txBox="1"/>
          <p:nvPr>
            <p:ph type="title"/>
          </p:nvPr>
        </p:nvSpPr>
        <p:spPr>
          <a:xfrm>
            <a:off x="1024128" y="142875"/>
            <a:ext cx="9720072" cy="1499616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29697C"/>
              </a:buClr>
              <a:buSzPts val="5000"/>
              <a:buFont typeface="Twentieth Century"/>
              <a:buNone/>
            </a:pPr>
            <a:r>
              <a:rPr lang="en-GB" u="sng">
                <a:solidFill>
                  <a:srgbClr val="29697C"/>
                </a:solidFill>
              </a:rPr>
              <a:t>SCENARIOS: THEORY APPLICATION</a:t>
            </a:r>
            <a:endParaRPr/>
          </a:p>
        </p:txBody>
      </p:sp>
      <p:sp>
        <p:nvSpPr>
          <p:cNvPr id="149" name="Google Shape;149;p20"/>
          <p:cNvSpPr txBox="1"/>
          <p:nvPr>
            <p:ph idx="1" type="body"/>
          </p:nvPr>
        </p:nvSpPr>
        <p:spPr>
          <a:xfrm>
            <a:off x="135914" y="1744975"/>
            <a:ext cx="3589419" cy="4267200"/>
          </a:xfrm>
          <a:prstGeom prst="rect">
            <a:avLst/>
          </a:prstGeom>
          <a:noFill/>
          <a:ln cap="flat" cmpd="sng" w="9525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t" bIns="45700" lIns="45700" spcFirstLastPara="1" rIns="45700" wrap="square" tIns="45700">
            <a:noAutofit/>
          </a:bodyPr>
          <a:lstStyle/>
          <a:p>
            <a:pPr indent="0" lvl="0" marL="0" rtl="0" algn="l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-19050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Char char=" "/>
            </a:pPr>
            <a:r>
              <a:rPr lang="en-GB" sz="3000"/>
              <a:t>Students to recommend the most appropriate source, justify your suggestion with </a:t>
            </a:r>
            <a:r>
              <a:rPr b="1" lang="en-GB" sz="3000">
                <a:solidFill>
                  <a:srgbClr val="92D050"/>
                </a:solidFill>
              </a:rPr>
              <a:t>one advantage </a:t>
            </a:r>
            <a:r>
              <a:rPr lang="en-GB" sz="3000"/>
              <a:t>(2marks)  and </a:t>
            </a:r>
            <a:r>
              <a:rPr b="1" lang="en-GB" sz="3000">
                <a:solidFill>
                  <a:srgbClr val="FF99FF"/>
                </a:solidFill>
              </a:rPr>
              <a:t>one disadvantage </a:t>
            </a:r>
            <a:r>
              <a:rPr lang="en-GB" sz="3000"/>
              <a:t>(2 marks) </a:t>
            </a:r>
            <a:endParaRPr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18288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  <a:p>
            <a:pPr indent="0" lvl="0" marL="0" rtl="0" algn="l">
              <a:lnSpc>
                <a:spcPct val="80000"/>
              </a:lnSpc>
              <a:spcBef>
                <a:spcPts val="1400"/>
              </a:spcBef>
              <a:spcAft>
                <a:spcPts val="0"/>
              </a:spcAft>
              <a:buSzPts val="3000"/>
              <a:buNone/>
            </a:pPr>
            <a:r>
              <a:t/>
            </a:r>
            <a:endParaRPr sz="3000"/>
          </a:p>
        </p:txBody>
      </p:sp>
      <p:pic>
        <p:nvPicPr>
          <p:cNvPr descr="Screen Clipping" id="150" name="Google Shape;150;p20"/>
          <p:cNvPicPr preferRelativeResize="0"/>
          <p:nvPr/>
        </p:nvPicPr>
        <p:blipFill rotWithShape="1">
          <a:blip r:embed="rId3">
            <a:alphaModFix/>
          </a:blip>
          <a:srcRect b="0" l="0" r="0" t="0"/>
          <a:stretch/>
        </p:blipFill>
        <p:spPr>
          <a:xfrm>
            <a:off x="3881885" y="1744976"/>
            <a:ext cx="8039182" cy="4267200"/>
          </a:xfrm>
          <a:prstGeom prst="rect">
            <a:avLst/>
          </a:prstGeom>
          <a:noFill/>
          <a:ln cap="flat" cmpd="sng" w="9525">
            <a:solidFill>
              <a:srgbClr val="92D050"/>
            </a:solidFill>
            <a:prstDash val="solid"/>
            <a:miter lim="800000"/>
            <a:headEnd len="sm" w="sm" type="none"/>
            <a:tailEnd len="sm" w="sm" type="none"/>
          </a:ln>
        </p:spPr>
      </p:pic>
      <p:sp>
        <p:nvSpPr>
          <p:cNvPr id="151" name="Google Shape;151;p20"/>
          <p:cNvSpPr txBox="1"/>
          <p:nvPr/>
        </p:nvSpPr>
        <p:spPr>
          <a:xfrm>
            <a:off x="9577387" y="662252"/>
            <a:ext cx="1166813" cy="369888"/>
          </a:xfrm>
          <a:prstGeom prst="rect">
            <a:avLst/>
          </a:prstGeom>
          <a:solidFill>
            <a:srgbClr val="FFC000"/>
          </a:solidFill>
          <a:ln>
            <a:noFill/>
          </a:ln>
        </p:spPr>
        <p:txBody>
          <a:bodyPr anchorCtr="0" anchor="t" bIns="45700" lIns="91425" spcFirstLastPara="1" rIns="91425" wrap="square" tIns="45700">
            <a:noAutofit/>
          </a:bodyPr>
          <a:lstStyle/>
          <a:p>
            <a:pPr indent="0" lvl="0" marL="0" marR="0" rtl="0" algn="l">
              <a:spcBef>
                <a:spcPts val="0"/>
              </a:spcBef>
              <a:spcAft>
                <a:spcPts val="0"/>
              </a:spcAft>
              <a:buNone/>
            </a:pPr>
            <a:r>
              <a:rPr b="0" i="0" lang="en-GB" sz="1800" u="none" cap="none" strike="noStrike">
                <a:solidFill>
                  <a:schemeClr val="lt1"/>
                </a:solidFill>
                <a:latin typeface="Limelight"/>
                <a:ea typeface="Limelight"/>
                <a:cs typeface="Limelight"/>
                <a:sym typeface="Limelight"/>
              </a:rPr>
              <a:t>15 mins</a:t>
            </a:r>
            <a:endParaRPr/>
          </a:p>
        </p:txBody>
      </p:sp>
    </p:spTree>
  </p:cSld>
  <p:clrMapOvr>
    <a:masterClrMapping/>
  </p:clrMapOvr>
  <p:timing>
    <p:tnLst>
      <p:par>
        <p:cTn dur="indefinite" nodeType="tmRoot" restart="never">
          <p:childTnLst>
            <p:seq concurrent="1" nextAc="seek">
              <p:cTn dur="indefinite" id="2" nodeType="mainSeq">
                <p:childTnLst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ntr" presetID="1" presetSubtype="0">
                                  <p:stCondLst>
                                    <p:cond delay="0"/>
                                  </p:stCondLst>
                                  <p:childTnLst>
                                    <p:set>
                                      <p:cBhvr>
                                        <p:cTn dur="1" fill="hold">
                                          <p:stCondLst>
                                            <p:cond delay="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visible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  <p:par>
                    <p:cTn fill="hold">
                      <p:stCondLst>
                        <p:cond delay="indefinite"/>
                      </p:stCondLst>
                      <p:childTnLst>
                        <p:par>
                          <p:cTn fill="hold">
                            <p:stCondLst>
                              <p:cond delay="0"/>
                            </p:stCondLst>
                            <p:childTnLst>
                              <p:par>
                                <p:cTn fill="hold" nodeType="clickEffect" presetClass="exit" presetID="10" presetSubtype="0">
                                  <p:stCondLst>
                                    <p:cond delay="0"/>
                                  </p:stCondLst>
                                  <p:childTnLst>
                                    <p:animEffect filter="fade" transition="out">
                                      <p:cBhvr>
                                        <p:cTn dur="500"/>
                                        <p:tgtEl>
                                          <p:spTgt spid="150"/>
                                        </p:tgtEl>
                                      </p:cBhvr>
                                    </p:animEffect>
                                    <p:set>
                                      <p:cBhvr>
                                        <p:cTn dur="1" fill="hold">
                                          <p:stCondLst>
                                            <p:cond delay="500"/>
                                          </p:stCondLst>
                                        </p:cTn>
                                        <p:tgtEl>
                                          <p:spTgt spid="150"/>
                                        </p:tgtEl>
                                        <p:attrNameLst>
                                          <p:attrName>style.visibility</p:attrName>
                                        </p:attrNameLst>
                                      </p:cBhvr>
                                      <p:to>
                                        <p:strVal val="hidden"/>
                                      </p:to>
                                    </p:set>
                                  </p:childTnLst>
                                </p:cTn>
                              </p:par>
                            </p:childTnLst>
                          </p:cTn>
                        </p:par>
                      </p:childTnLst>
                    </p:cTn>
                  </p:par>
                </p:childTnLst>
              </p:cTn>
              <p:prevCondLst>
                <p:cond evt="onPrev">
                  <p:tgtEl>
                    <p:sldTgt/>
                  </p:tgtEl>
                </p:cond>
              </p:prevCondLst>
              <p:nextCondLst>
                <p:cond evt="onNext">
                  <p:tgtEl>
                    <p:sldTgt/>
                  </p:tgtEl>
                </p:cond>
              </p:nextCondLst>
            </p:seq>
          </p:childTnLst>
        </p:cTn>
      </p:par>
    </p:tnLst>
  </p:timing>
</p:sld>
</file>

<file path=ppt/slides/slide9.xml><?xml version="1.0" encoding="utf-8"?>
<p:sld xmlns:a="http://schemas.openxmlformats.org/drawingml/2006/main" xmlns:r="http://schemas.openxmlformats.org/officeDocument/2006/relationships" xmlns:mc="http://schemas.openxmlformats.org/markup-compatibility/2006" xmlns:mv="urn:schemas-microsoft-com:mac:vml" xmlns:p="http://schemas.openxmlformats.org/presentationml/2006/main" xmlns:c="http://schemas.openxmlformats.org/drawingml/2006/chart" xmlns:dgm="http://schemas.openxmlformats.org/drawingml/2006/diagram" xmlns:o="urn:schemas-microsoft-com:office:office" xmlns:v="urn:schemas-microsoft-com:vml" xmlns:pvml="urn:schemas-microsoft-com:office:powerpoint" xmlns:com="http://schemas.openxmlformats.org/drawingml/2006/compatibility" xmlns:p14="http://schemas.microsoft.com/office/powerpoint/2010/main" xmlns:p15="http://schemas.microsoft.com/office/powerpoint/2012/main">
  <p:cSld>
    <p:spTree>
      <p:nvGrpSpPr>
        <p:cNvPr id="155" name="Shape 155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156" name="Google Shape;156;p21"/>
          <p:cNvSpPr txBox="1"/>
          <p:nvPr>
            <p:ph type="title"/>
          </p:nvPr>
        </p:nvSpPr>
        <p:spPr>
          <a:xfrm>
            <a:off x="1041061" y="94149"/>
            <a:ext cx="9720072" cy="1125051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  <p:txBody>
          <a:bodyPr anchorCtr="0" anchor="ctr" bIns="45700" lIns="91425" spcFirstLastPara="1" rIns="91425" wrap="square" tIns="45700">
            <a:noAutofit/>
          </a:bodyPr>
          <a:lstStyle/>
          <a:p>
            <a:pPr indent="0" lvl="0" marL="0" rtl="0" algn="ctr">
              <a:lnSpc>
                <a:spcPct val="80000"/>
              </a:lnSpc>
              <a:spcBef>
                <a:spcPts val="0"/>
              </a:spcBef>
              <a:spcAft>
                <a:spcPts val="0"/>
              </a:spcAft>
              <a:buClr>
                <a:srgbClr val="0C0C0C"/>
              </a:buClr>
              <a:buSzPts val="5000"/>
              <a:buFont typeface="Twentieth Century"/>
              <a:buNone/>
            </a:pPr>
            <a:r>
              <a:rPr lang="en-GB" u="sng"/>
              <a:t>PLENARY </a:t>
            </a:r>
            <a:endParaRPr u="sng"/>
          </a:p>
        </p:txBody>
      </p:sp>
      <p:pic>
        <p:nvPicPr>
          <p:cNvPr descr="Screen Clipping" id="157" name="Google Shape;157;p21"/>
          <p:cNvPicPr preferRelativeResize="0"/>
          <p:nvPr>
            <p:ph idx="1" type="body"/>
          </p:nvPr>
        </p:nvPicPr>
        <p:blipFill rotWithShape="1">
          <a:blip r:embed="rId3">
            <a:alphaModFix/>
          </a:blip>
          <a:srcRect b="0" l="0" r="0" t="2243"/>
          <a:stretch/>
        </p:blipFill>
        <p:spPr>
          <a:xfrm>
            <a:off x="1494028" y="1407499"/>
            <a:ext cx="8814137" cy="5063973"/>
          </a:xfrm>
          <a:prstGeom prst="rect">
            <a:avLst/>
          </a:prstGeom>
          <a:noFill/>
          <a:ln cap="flat" cmpd="sng" w="38100">
            <a:solidFill>
              <a:schemeClr val="accent1"/>
            </a:solidFill>
            <a:prstDash val="solid"/>
            <a:round/>
            <a:headEnd len="sm" w="sm" type="none"/>
            <a:tailEnd len="sm" w="sm" type="none"/>
          </a:ln>
        </p:spPr>
      </p:pic>
    </p:spTree>
  </p:cSld>
  <p:clrMapOvr>
    <a:masterClrMapping/>
  </p:clrMapOvr>
</p:sld>
</file>

<file path=ppt/theme/theme1.xml><?xml version="1.0" encoding="utf-8"?>
<a:theme xmlns:a="http://schemas.openxmlformats.org/drawingml/2006/main" xmlns:r="http://schemas.openxmlformats.org/officeDocument/2006/relationships" name="Integral">
  <a:themeElements>
    <a:clrScheme name="Integral">
      <a:dk1>
        <a:srgbClr val="000000"/>
      </a:dk1>
      <a:lt1>
        <a:srgbClr val="FFFFFF"/>
      </a:lt1>
      <a:dk2>
        <a:srgbClr val="455F51"/>
      </a:dk2>
      <a:lt2>
        <a:srgbClr val="E3DED1"/>
      </a:lt2>
      <a:accent1>
        <a:srgbClr val="99CB38"/>
      </a:accent1>
      <a:accent2>
        <a:srgbClr val="63A537"/>
      </a:accent2>
      <a:accent3>
        <a:srgbClr val="E6D024"/>
      </a:accent3>
      <a:accent4>
        <a:srgbClr val="CC9700"/>
      </a:accent4>
      <a:accent5>
        <a:srgbClr val="4EB3CF"/>
      </a:accent5>
      <a:accent6>
        <a:srgbClr val="378DA6"/>
      </a:accent6>
      <a:hlink>
        <a:srgbClr val="6B9F25"/>
      </a:hlink>
      <a:folHlink>
        <a:srgbClr val="B26B0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

<file path=ppt/theme/theme2.xml><?xml version="1.0" encoding="utf-8"?>
<a:theme xmlns:a="http://schemas.openxmlformats.org/drawingml/2006/main" xmlns:r="http://schemas.openxmlformats.org/officeDocument/2006/relationships" name="Office Theme">
  <a:themeElements>
    <a:clrScheme name="Office">
      <a:dk1>
        <a:srgbClr val="000000"/>
      </a:dk1>
      <a:lt1>
        <a:srgbClr val="FFFFFF"/>
      </a:lt1>
      <a:dk2>
        <a:srgbClr val="44546A"/>
      </a:dk2>
      <a:lt2>
        <a:srgbClr val="E7E6E6"/>
      </a:lt2>
      <a:accent1>
        <a:srgbClr val="5B9BD5"/>
      </a:accent1>
      <a:accent2>
        <a:srgbClr val="ED7D31"/>
      </a:accent2>
      <a:accent3>
        <a:srgbClr val="A5A5A5"/>
      </a:accent3>
      <a:accent4>
        <a:srgbClr val="FFC000"/>
      </a:accent4>
      <a:accent5>
        <a:srgbClr val="4472C4"/>
      </a:accent5>
      <a:accent6>
        <a:srgbClr val="70AD47"/>
      </a:accent6>
      <a:hlink>
        <a:srgbClr val="0563C1"/>
      </a:hlink>
      <a:folHlink>
        <a:srgbClr val="954F72"/>
      </a:folHlink>
    </a:clrScheme>
    <a:fontScheme name="Office">
      <a:maj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Arial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tint val="100000"/>
                <a:shade val="100000"/>
                <a:satMod val="130000"/>
              </a:schemeClr>
            </a:gs>
            <a:gs pos="100000">
              <a:schemeClr val="phClr">
                <a:tint val="50000"/>
                <a:shade val="100000"/>
                <a:satMod val="350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</a:theme>
</file>