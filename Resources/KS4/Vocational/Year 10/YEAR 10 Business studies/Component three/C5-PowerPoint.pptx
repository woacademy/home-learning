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Limelight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48AB6B21-DA73-4D4A-9609-6C55D08590A0}">
  <a:tblStyle styleId="{48AB6B21-DA73-4D4A-9609-6C55D08590A0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FF6E7"/>
          </a:solidFill>
        </a:fill>
      </a:tcStyle>
    </a:wholeTbl>
    <a:band1H>
      <a:tcTxStyle/>
      <a:tcStyle>
        <a:fill>
          <a:solidFill>
            <a:srgbClr val="DDECCC"/>
          </a:solidFill>
        </a:fill>
      </a:tcStyle>
    </a:band1H>
    <a:band2H>
      <a:tcTxStyle/>
    </a:band2H>
    <a:band1V>
      <a:tcTxStyle/>
      <a:tcStyle>
        <a:fill>
          <a:solidFill>
            <a:srgbClr val="DDECCC"/>
          </a:solidFill>
        </a:fill>
      </a:tcStyle>
    </a:band1V>
    <a:band2V>
      <a:tcTxStyle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imelight-regular.fnt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/>
              <a:t>Go through answers. 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/>
              <a:t>Get students to volunteer their answers before you reveal it on the board. 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/>
              <a:t>On the next slides are quick recaps/definitions of each source of finance. 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/>
              <a:t>Quickly go through each one with the pupils so they are sure on the definitions. 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/>
              <a:t>You can use stretch and challenge questioning during this as well.</a:t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showMasterSp="0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6" name="Google Shape;36;p4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4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🢝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🢝"/>
              <a:defRPr sz="16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C1DF87"/>
          </a:solidFill>
          <a:ln>
            <a:noFill/>
          </a:ln>
        </p:spPr>
        <p:txBody>
          <a:bodyPr anchorCtr="0" anchor="t" bIns="45700" lIns="457200" spcFirstLastPara="1" rIns="45700" wrap="square" tIns="3657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wentieth Century"/>
              <a:buNone/>
              <a:defRPr b="0" i="0" sz="3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7" name="Google Shape;77;p10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3872484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showMasterSp="0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0" name="Google Shape;90;p12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BTEC LEVEL 2 TECH AWARD</a:t>
            </a:r>
            <a:endParaRPr/>
          </a:p>
        </p:txBody>
      </p:sp>
      <p:sp>
        <p:nvSpPr>
          <p:cNvPr id="96" name="Google Shape;96;p13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Promotion and Finance for Enterprise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1142661" y="2160016"/>
            <a:ext cx="9720072" cy="1499616"/>
          </a:xfrm>
          <a:prstGeom prst="rect">
            <a:avLst/>
          </a:prstGeom>
          <a:noFill/>
          <a:ln cap="flat" cmpd="sng" w="57150">
            <a:solidFill>
              <a:srgbClr val="CC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C5- SOURCES OF FINANCE</a:t>
            </a:r>
            <a:br>
              <a:rPr lang="en-GB" u="sng"/>
            </a:br>
            <a:r>
              <a:rPr lang="en-GB" u="sng"/>
              <a:t>LESSON 1</a:t>
            </a:r>
            <a:endParaRPr u="sn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ctrTitle"/>
          </p:nvPr>
        </p:nvSpPr>
        <p:spPr>
          <a:xfrm>
            <a:off x="1236133" y="190011"/>
            <a:ext cx="10447867" cy="106847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600"/>
              <a:buFont typeface="Twentieth Century"/>
              <a:buNone/>
            </a:pPr>
            <a:r>
              <a:rPr lang="en-GB" sz="3600" u="sng"/>
              <a:t>TITLE: SOURCES OF FINANCE </a:t>
            </a:r>
            <a:br>
              <a:rPr lang="en-GB" sz="3600" u="sng"/>
            </a:br>
            <a:r>
              <a:rPr lang="en-GB" sz="3600" u="sng"/>
              <a:t>DATE: </a:t>
            </a:r>
            <a:endParaRPr sz="3600" u="sng"/>
          </a:p>
        </p:txBody>
      </p:sp>
      <p:sp>
        <p:nvSpPr>
          <p:cNvPr id="108" name="Google Shape;108;p15"/>
          <p:cNvSpPr txBox="1"/>
          <p:nvPr>
            <p:ph idx="1" type="subTitle"/>
          </p:nvPr>
        </p:nvSpPr>
        <p:spPr>
          <a:xfrm>
            <a:off x="728133" y="1557868"/>
            <a:ext cx="11226800" cy="46426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 u="sng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 u="sng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000"/>
              <a:buNone/>
            </a:pPr>
            <a:r>
              <a:rPr lang="en-GB" sz="3000" u="sng"/>
              <a:t>Learning Outcomes: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To be able to explain the different sources of finance available to a business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To be able to analyse the advantages and disadvantages of the various sources of finance. </a:t>
            </a:r>
            <a:endParaRPr sz="3000"/>
          </a:p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 b="1" i="1" sz="3400" u="sng">
              <a:solidFill>
                <a:srgbClr val="FF00FF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400"/>
              <a:buNone/>
            </a:pPr>
            <a:r>
              <a:rPr b="1" i="1" lang="en-GB" sz="3400" u="sng">
                <a:solidFill>
                  <a:srgbClr val="FF00FF"/>
                </a:solidFill>
              </a:rPr>
              <a:t>Starter: what do you think is the difference between a fixed and a variable cost? </a:t>
            </a:r>
            <a:endParaRPr b="1" i="1" sz="3400" u="sng">
              <a:solidFill>
                <a:srgbClr val="FF00FF"/>
              </a:solidFill>
            </a:endParaRPr>
          </a:p>
          <a:p>
            <a:pPr indent="-112713" lvl="0" marL="214313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Twentieth Century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C5- SOURCES OF FINANCE </a:t>
            </a:r>
            <a:endParaRPr u="sng"/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 sz="4800"/>
              <a:t>Learners will consider why enterprises may plan different sources of finance for different purposes or at different stages and the relevance of each source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1024128" y="246549"/>
            <a:ext cx="9720072" cy="1108118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THEORY</a:t>
            </a:r>
            <a:r>
              <a:rPr lang="en-GB"/>
              <a:t> 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795868" y="1354667"/>
            <a:ext cx="10786532" cy="4832695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52400" lvl="0" marL="9144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b="1" lang="en-GB" sz="2400"/>
              <a:t>All businesses need finance. There are a number of funding sources used by organisations.</a:t>
            </a:r>
            <a:endParaRPr/>
          </a:p>
          <a:p>
            <a:pPr indent="-1524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GB" sz="2400"/>
              <a:t>Finance refers to sources of money for a business. Firms need finance to:</a:t>
            </a:r>
            <a:endParaRPr/>
          </a:p>
          <a:p>
            <a:pPr indent="-1524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b="1" lang="en-GB" sz="2400"/>
              <a:t>Start up</a:t>
            </a:r>
            <a:r>
              <a:rPr lang="en-GB" sz="2400"/>
              <a:t> a business, eg pay for premises, new equipment and advertising.</a:t>
            </a:r>
            <a:endParaRPr/>
          </a:p>
          <a:p>
            <a:pPr indent="-1524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b="1" lang="en-GB" sz="2400"/>
              <a:t>Run</a:t>
            </a:r>
            <a:r>
              <a:rPr lang="en-GB" sz="2400"/>
              <a:t> the business, eg having enough cash to pay staff wages and suppliers on time.</a:t>
            </a:r>
            <a:endParaRPr/>
          </a:p>
          <a:p>
            <a:pPr indent="-1524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b="1" lang="en-GB" sz="2400"/>
              <a:t>Expand</a:t>
            </a:r>
            <a:r>
              <a:rPr lang="en-GB" sz="2400"/>
              <a:t> the business, eg having funds to pay for a new branch in a different city or country.</a:t>
            </a:r>
            <a:endParaRPr b="1" sz="2400"/>
          </a:p>
          <a:p>
            <a:pPr indent="-1524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GB" sz="2400"/>
              <a:t>New businesses find it difficult to raise finance because they usually have just a few </a:t>
            </a:r>
            <a:r>
              <a:rPr b="1" lang="en-GB" sz="2400"/>
              <a:t>customers </a:t>
            </a:r>
            <a:r>
              <a:rPr lang="en-GB" sz="2400"/>
              <a:t>and many </a:t>
            </a:r>
            <a:r>
              <a:rPr b="1" lang="en-GB" sz="2400"/>
              <a:t>competitors</a:t>
            </a:r>
            <a:r>
              <a:rPr lang="en-GB" sz="2400"/>
              <a:t>. Lenders are put off by the risk that the start-up may fail. If that happens, the owners may be unable to repay borrowed money.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355600" y="6187362"/>
            <a:ext cx="11226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http://www.bbc.co.uk/schools/gcsebitesize/business/finance/sourcesoffinancerev1.shtml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1024126" y="195749"/>
            <a:ext cx="9720072" cy="1175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SOURCES OF FINANCE </a:t>
            </a:r>
            <a:endParaRPr u="sng"/>
          </a:p>
        </p:txBody>
      </p:sp>
      <p:graphicFrame>
        <p:nvGraphicFramePr>
          <p:cNvPr id="127" name="Google Shape;127;p18"/>
          <p:cNvGraphicFramePr/>
          <p:nvPr/>
        </p:nvGraphicFramePr>
        <p:xfrm>
          <a:off x="837670" y="13716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{48AB6B21-DA73-4D4A-9609-6C55D08590A0}</a:tableStyleId>
              </a:tblPr>
              <a:tblGrid>
                <a:gridCol w="2605750"/>
                <a:gridCol w="2605750"/>
                <a:gridCol w="2605750"/>
                <a:gridCol w="2605750"/>
              </a:tblGrid>
              <a:tr h="483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u="none" cap="none" strike="noStrike">
                          <a:solidFill>
                            <a:srgbClr val="29697C"/>
                          </a:solidFill>
                        </a:rPr>
                        <a:t>Source</a:t>
                      </a:r>
                      <a:endParaRPr sz="2200" u="none" cap="none" strike="noStrike">
                        <a:solidFill>
                          <a:srgbClr val="29697C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u="none" cap="none" strike="noStrike">
                          <a:solidFill>
                            <a:srgbClr val="29697C"/>
                          </a:solidFill>
                        </a:rPr>
                        <a:t>Definition</a:t>
                      </a:r>
                      <a:endParaRPr sz="2200" u="none" cap="none" strike="noStrike">
                        <a:solidFill>
                          <a:srgbClr val="29697C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u="none" cap="none" strike="noStrike">
                          <a:solidFill>
                            <a:srgbClr val="29697C"/>
                          </a:solidFill>
                        </a:rPr>
                        <a:t>Advantages</a:t>
                      </a:r>
                      <a:endParaRPr sz="2200" u="none" cap="none" strike="noStrike">
                        <a:solidFill>
                          <a:srgbClr val="29697C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u="none" cap="none" strike="noStrike">
                          <a:solidFill>
                            <a:srgbClr val="29697C"/>
                          </a:solidFill>
                        </a:rPr>
                        <a:t>Disadvantages </a:t>
                      </a:r>
                      <a:endParaRPr sz="2200" u="none" cap="none" strike="noStrike">
                        <a:solidFill>
                          <a:srgbClr val="29697C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Owners Funds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Retained Profit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Loans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7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Credit</a:t>
                      </a:r>
                      <a:r>
                        <a:rPr lang="en-GB" sz="1800"/>
                        <a:t> Cards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Government</a:t>
                      </a:r>
                      <a:r>
                        <a:rPr lang="en-GB" sz="1800"/>
                        <a:t> Grants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Hire Purchase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Leasing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Trade Credit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Venture</a:t>
                      </a:r>
                      <a:r>
                        <a:rPr lang="en-GB" sz="1800"/>
                        <a:t> Capital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Peer</a:t>
                      </a:r>
                      <a:r>
                        <a:rPr lang="en-GB" sz="1800"/>
                        <a:t> to peer lending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3">
            <a:alphaModFix/>
          </a:blip>
          <a:srcRect b="20547" l="16827" r="15250" t="21867"/>
          <a:stretch/>
        </p:blipFill>
        <p:spPr>
          <a:xfrm>
            <a:off x="1524000" y="692150"/>
            <a:ext cx="9144000" cy="6165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cxnSp>
        <p:nvCxnSpPr>
          <p:cNvPr id="135" name="Google Shape;135;p19"/>
          <p:cNvCxnSpPr/>
          <p:nvPr/>
        </p:nvCxnSpPr>
        <p:spPr>
          <a:xfrm>
            <a:off x="6888164" y="1268414"/>
            <a:ext cx="1728787" cy="5113337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ctr" dir="5400000" dist="12700">
              <a:srgbClr val="000000">
                <a:alpha val="49803"/>
              </a:srgbClr>
            </a:outerShdw>
          </a:effectLst>
        </p:spPr>
      </p:cxnSp>
      <p:cxnSp>
        <p:nvCxnSpPr>
          <p:cNvPr id="136" name="Google Shape;136;p19"/>
          <p:cNvCxnSpPr/>
          <p:nvPr/>
        </p:nvCxnSpPr>
        <p:spPr>
          <a:xfrm>
            <a:off x="6888164" y="1773239"/>
            <a:ext cx="1728787" cy="719137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ctr" dir="5400000" dist="12700">
              <a:srgbClr val="000000">
                <a:alpha val="49803"/>
              </a:srgbClr>
            </a:outerShdw>
          </a:effectLst>
        </p:spPr>
      </p:cxnSp>
      <p:cxnSp>
        <p:nvCxnSpPr>
          <p:cNvPr id="137" name="Google Shape;137;p19"/>
          <p:cNvCxnSpPr/>
          <p:nvPr/>
        </p:nvCxnSpPr>
        <p:spPr>
          <a:xfrm flipH="1" rot="10800000">
            <a:off x="6888164" y="1196975"/>
            <a:ext cx="1728787" cy="1295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ctr" dir="5400000" dist="12700">
              <a:srgbClr val="000000">
                <a:alpha val="49803"/>
              </a:srgbClr>
            </a:outerShdw>
          </a:effectLst>
        </p:spPr>
      </p:cxnSp>
      <p:cxnSp>
        <p:nvCxnSpPr>
          <p:cNvPr id="138" name="Google Shape;138;p19"/>
          <p:cNvCxnSpPr/>
          <p:nvPr/>
        </p:nvCxnSpPr>
        <p:spPr>
          <a:xfrm>
            <a:off x="6888164" y="3284538"/>
            <a:ext cx="1728787" cy="230505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ctr" dir="5400000" dist="12700">
              <a:srgbClr val="000000">
                <a:alpha val="49803"/>
              </a:srgbClr>
            </a:outerShdw>
          </a:effectLst>
        </p:spPr>
      </p:cxnSp>
      <p:cxnSp>
        <p:nvCxnSpPr>
          <p:cNvPr id="139" name="Google Shape;139;p19"/>
          <p:cNvCxnSpPr/>
          <p:nvPr/>
        </p:nvCxnSpPr>
        <p:spPr>
          <a:xfrm flipH="1" rot="10800000">
            <a:off x="6888164" y="1700213"/>
            <a:ext cx="1728787" cy="2881312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ctr" dir="5400000" dist="12700">
              <a:srgbClr val="000000">
                <a:alpha val="49803"/>
              </a:srgbClr>
            </a:outerShdw>
          </a:effectLst>
        </p:spPr>
      </p:cxnSp>
      <p:cxnSp>
        <p:nvCxnSpPr>
          <p:cNvPr id="140" name="Google Shape;140;p19"/>
          <p:cNvCxnSpPr/>
          <p:nvPr/>
        </p:nvCxnSpPr>
        <p:spPr>
          <a:xfrm flipH="1" rot="10800000">
            <a:off x="6816726" y="3213101"/>
            <a:ext cx="1871663" cy="1800225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ctr" dir="5400000" dist="12700">
              <a:srgbClr val="000000">
                <a:alpha val="49803"/>
              </a:srgbClr>
            </a:outerShdw>
          </a:effectLst>
        </p:spPr>
      </p:cxnSp>
      <p:cxnSp>
        <p:nvCxnSpPr>
          <p:cNvPr id="141" name="Google Shape;141;p19"/>
          <p:cNvCxnSpPr/>
          <p:nvPr/>
        </p:nvCxnSpPr>
        <p:spPr>
          <a:xfrm flipH="1" rot="10800000">
            <a:off x="6888164" y="5013325"/>
            <a:ext cx="1800225" cy="647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ctr" dir="5400000" dist="12700">
              <a:srgbClr val="000000">
                <a:alpha val="49803"/>
              </a:srgbClr>
            </a:outerShdw>
          </a:effectLst>
        </p:spPr>
      </p:cxnSp>
      <p:cxnSp>
        <p:nvCxnSpPr>
          <p:cNvPr id="142" name="Google Shape;142;p19"/>
          <p:cNvCxnSpPr/>
          <p:nvPr/>
        </p:nvCxnSpPr>
        <p:spPr>
          <a:xfrm flipH="1" rot="10800000">
            <a:off x="6888164" y="3933826"/>
            <a:ext cx="1728787" cy="2276475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ctr" dir="5400000" dist="12700">
              <a:srgbClr val="000000">
                <a:alpha val="49803"/>
              </a:srgbClr>
            </a:outerShdw>
          </a:effectLst>
        </p:spPr>
      </p:cxnSp>
      <p:cxnSp>
        <p:nvCxnSpPr>
          <p:cNvPr id="143" name="Google Shape;143;p19"/>
          <p:cNvCxnSpPr/>
          <p:nvPr/>
        </p:nvCxnSpPr>
        <p:spPr>
          <a:xfrm>
            <a:off x="6888164" y="3860801"/>
            <a:ext cx="1728787" cy="720725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ctr" dir="5400000" dist="12700">
              <a:srgbClr val="000000">
                <a:alpha val="49803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1024128" y="142875"/>
            <a:ext cx="9720072" cy="149961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697C"/>
              </a:buClr>
              <a:buSzPts val="5000"/>
              <a:buFont typeface="Twentieth Century"/>
              <a:buNone/>
            </a:pPr>
            <a:r>
              <a:rPr lang="en-GB" u="sng">
                <a:solidFill>
                  <a:srgbClr val="29697C"/>
                </a:solidFill>
              </a:rPr>
              <a:t>SCENARIOS: THEORY APPLICATION</a:t>
            </a:r>
            <a:endParaRPr/>
          </a:p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135914" y="1744975"/>
            <a:ext cx="3589419" cy="4267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18288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Students to recommend the most appropriate source, justify your suggestion with </a:t>
            </a:r>
            <a:r>
              <a:rPr b="1" lang="en-GB" sz="3000">
                <a:solidFill>
                  <a:srgbClr val="92D050"/>
                </a:solidFill>
              </a:rPr>
              <a:t>one advantage </a:t>
            </a:r>
            <a:r>
              <a:rPr lang="en-GB" sz="3000"/>
              <a:t>(2marks)  and </a:t>
            </a:r>
            <a:r>
              <a:rPr b="1" lang="en-GB" sz="3000">
                <a:solidFill>
                  <a:srgbClr val="FF99FF"/>
                </a:solidFill>
              </a:rPr>
              <a:t>one disadvantage </a:t>
            </a:r>
            <a:r>
              <a:rPr lang="en-GB" sz="3000"/>
              <a:t>(2 marks) </a:t>
            </a:r>
            <a:endParaRPr/>
          </a:p>
          <a:p>
            <a:pPr indent="0" lvl="0" marL="18288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0" lvl="0" marL="18288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</p:txBody>
      </p:sp>
      <p:pic>
        <p:nvPicPr>
          <p:cNvPr descr="Screen Clipping" id="150" name="Google Shape;1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885" y="1744976"/>
            <a:ext cx="8039182" cy="4267200"/>
          </a:xfrm>
          <a:prstGeom prst="rect">
            <a:avLst/>
          </a:prstGeom>
          <a:noFill/>
          <a:ln cap="flat" cmpd="sng" w="9525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51" name="Google Shape;151;p20"/>
          <p:cNvSpPr txBox="1"/>
          <p:nvPr/>
        </p:nvSpPr>
        <p:spPr>
          <a:xfrm>
            <a:off x="9577387" y="662252"/>
            <a:ext cx="1166813" cy="3698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Limelight"/>
                <a:ea typeface="Limelight"/>
                <a:cs typeface="Limelight"/>
                <a:sym typeface="Limelight"/>
              </a:rPr>
              <a:t>15 mins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1041061" y="94149"/>
            <a:ext cx="9720072" cy="1125051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PLENARY </a:t>
            </a:r>
            <a:endParaRPr u="sng"/>
          </a:p>
        </p:txBody>
      </p:sp>
      <p:pic>
        <p:nvPicPr>
          <p:cNvPr descr="Screen Clipping" id="157" name="Google Shape;157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2243"/>
          <a:stretch/>
        </p:blipFill>
        <p:spPr>
          <a:xfrm>
            <a:off x="1494028" y="1407499"/>
            <a:ext cx="8814137" cy="5063973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