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</p:sldIdLst>
  <p:sldSz cy="6858000" cx="12192000"/>
  <p:notesSz cx="6858000" cy="9144000"/>
  <p:embeddedFontLst>
    <p:embeddedFont>
      <p:font typeface="Limelight"/>
      <p:regular r:id="rId15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B03C709E-FAC9-4CD4-AFB5-DE22FC766D57}">
  <a:tblStyle styleId="{B03C709E-FAC9-4CD4-AFB5-DE22FC766D57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font" Target="fonts/Limelight-regular.fntdata"/><Relationship Id="rId14" Type="http://schemas.openxmlformats.org/officeDocument/2006/relationships/slide" Target="slides/slide9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2" name="Shape 1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3" name="Google Shape;103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5" name="Shape 1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6" name="Google Shape;116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7" name="Google Shape;117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4" name="Google Shape;124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8" name="Shape 1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9" name="Google Shape;129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130" name="Google Shape;130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Go through answers.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Get students to volunteer their answers before you reveal it on the board.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On the next slides are quick recaps/definitions of each source of finance.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Quickly go through each one with the pupils so they are sure on the definitions.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You can use stretch and challenge questioning during this as well.</a:t>
            </a:r>
            <a:endParaRPr/>
          </a:p>
        </p:txBody>
      </p:sp>
      <p:sp>
        <p:nvSpPr>
          <p:cNvPr id="131" name="Google Shape;131;p7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6" name="Google Shape;146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4" name="Google Shape;154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3" name="Google Shape;33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36" name="Google Shape;36;p4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7" name="Google Shape;37;p4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0" name="Google Shape;50;p6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3.pn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5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Relationship Id="rId3" Type="http://schemas.openxmlformats.org/officeDocument/2006/relationships/image" Target="../media/image4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142661" y="21600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C5- SOURCES OF FINANCE</a:t>
            </a:r>
            <a:br>
              <a:rPr lang="en-GB" u="sng"/>
            </a:br>
            <a:r>
              <a:rPr lang="en-GB" u="sng"/>
              <a:t>LESSON 1</a:t>
            </a:r>
            <a:endParaRPr u="sng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ctrTitle"/>
          </p:nvPr>
        </p:nvSpPr>
        <p:spPr>
          <a:xfrm>
            <a:off x="1236133" y="190011"/>
            <a:ext cx="10447867" cy="1068472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600"/>
              <a:buFont typeface="Twentieth Century"/>
              <a:buNone/>
            </a:pPr>
            <a:r>
              <a:rPr lang="en-GB" sz="3600" u="sng"/>
              <a:t>TITLE: SOURCES OF FINANCE </a:t>
            </a:r>
            <a:br>
              <a:rPr lang="en-GB" sz="3600" u="sng"/>
            </a:br>
            <a:r>
              <a:rPr lang="en-GB" sz="3600" u="sng"/>
              <a:t>DATE: </a:t>
            </a:r>
            <a:endParaRPr sz="3600" u="sng"/>
          </a:p>
        </p:txBody>
      </p:sp>
      <p:sp>
        <p:nvSpPr>
          <p:cNvPr id="108" name="Google Shape;108;p15"/>
          <p:cNvSpPr txBox="1"/>
          <p:nvPr>
            <p:ph idx="1" type="subTitle"/>
          </p:nvPr>
        </p:nvSpPr>
        <p:spPr>
          <a:xfrm>
            <a:off x="728133" y="1557868"/>
            <a:ext cx="11226800" cy="4642624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 u="sng"/>
              <a:t>Learning Outcomes: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explain the different sources of finance available to a business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analyse the advantages and disadvantages of the various sources of finance. </a:t>
            </a:r>
            <a:endParaRPr sz="3000"/>
          </a:p>
          <a:p>
            <a:pPr indent="0" lvl="0" marL="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400"/>
              <a:buNone/>
            </a:pPr>
            <a:r>
              <a:t/>
            </a:r>
            <a:endParaRPr b="1" i="1" sz="3400" u="sng">
              <a:solidFill>
                <a:srgbClr val="FF00FF"/>
              </a:solidFill>
            </a:endParaRPr>
          </a:p>
          <a:p>
            <a:pPr indent="0" lvl="0" marL="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400"/>
              <a:buNone/>
            </a:pPr>
            <a:r>
              <a:rPr b="1" i="1" lang="en-GB" sz="3400" u="sng">
                <a:solidFill>
                  <a:srgbClr val="FF00FF"/>
                </a:solidFill>
              </a:rPr>
              <a:t>Starter: what do you think is the difference between a fixed and a variable cost? </a:t>
            </a:r>
            <a:endParaRPr b="1" i="1" sz="3400" u="sng">
              <a:solidFill>
                <a:srgbClr val="FF00FF"/>
              </a:solidFill>
            </a:endParaRPr>
          </a:p>
          <a:p>
            <a:pPr indent="-112713" lvl="0" marL="214313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Font typeface="Twentieth Century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1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C5- SOURCES OF FINANCE </a:t>
            </a:r>
            <a:endParaRPr u="sng"/>
          </a:p>
        </p:txBody>
      </p:sp>
      <p:sp>
        <p:nvSpPr>
          <p:cNvPr id="114" name="Google Shape;114;p1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</a:pPr>
            <a:r>
              <a:rPr lang="en-GB" sz="4800"/>
              <a:t>Learners will consider why enterprises may plan different sources of finance for different purposes or at different stages and the relevance of each source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8" name="Shape 1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9" name="Google Shape;119;p17"/>
          <p:cNvSpPr txBox="1"/>
          <p:nvPr>
            <p:ph type="title"/>
          </p:nvPr>
        </p:nvSpPr>
        <p:spPr>
          <a:xfrm>
            <a:off x="1024128" y="246549"/>
            <a:ext cx="9720072" cy="1108118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THEORY</a:t>
            </a:r>
            <a:r>
              <a:rPr lang="en-GB"/>
              <a:t> </a:t>
            </a:r>
            <a:endParaRPr/>
          </a:p>
        </p:txBody>
      </p:sp>
      <p:sp>
        <p:nvSpPr>
          <p:cNvPr id="120" name="Google Shape;120;p17"/>
          <p:cNvSpPr txBox="1"/>
          <p:nvPr>
            <p:ph idx="1" type="body"/>
          </p:nvPr>
        </p:nvSpPr>
        <p:spPr>
          <a:xfrm>
            <a:off x="795868" y="1354667"/>
            <a:ext cx="10786532" cy="4832695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All businesses need finance. There are a number of funding sources used by organisations.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Finance refers to sources of money for a business. Firms need finance to: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Start up</a:t>
            </a:r>
            <a:r>
              <a:rPr lang="en-GB" sz="2400"/>
              <a:t> a business, eg pay for premises, new equipment and advertising.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Run</a:t>
            </a:r>
            <a:r>
              <a:rPr lang="en-GB" sz="2400"/>
              <a:t> the business, eg having enough cash to pay staff wages and suppliers on time.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Expand</a:t>
            </a:r>
            <a:r>
              <a:rPr lang="en-GB" sz="2400"/>
              <a:t> the business, eg having funds to pay for a new branch in a different city or country.</a:t>
            </a:r>
            <a:endParaRPr b="1" sz="2400"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New businesses find it difficult to raise finance because they usually have just a few </a:t>
            </a:r>
            <a:r>
              <a:rPr b="1" lang="en-GB" sz="2400"/>
              <a:t>customers </a:t>
            </a:r>
            <a:r>
              <a:rPr lang="en-GB" sz="2400"/>
              <a:t>and many </a:t>
            </a:r>
            <a:r>
              <a:rPr b="1" lang="en-GB" sz="2400"/>
              <a:t>competitors</a:t>
            </a:r>
            <a:r>
              <a:rPr lang="en-GB" sz="2400"/>
              <a:t>. Lenders are put off by the risk that the start-up may fail. If that happens, the owners may be unable to repay borrowed money.</a:t>
            </a:r>
            <a:endParaRPr/>
          </a:p>
        </p:txBody>
      </p:sp>
      <p:sp>
        <p:nvSpPr>
          <p:cNvPr id="121" name="Google Shape;121;p17"/>
          <p:cNvSpPr/>
          <p:nvPr/>
        </p:nvSpPr>
        <p:spPr>
          <a:xfrm>
            <a:off x="355600" y="6187362"/>
            <a:ext cx="11226800" cy="3693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http://www.bbc.co.uk/schools/gcsebitesize/business/finance/sourcesoffinancerev1.shtml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18"/>
          <p:cNvSpPr txBox="1"/>
          <p:nvPr>
            <p:ph type="title"/>
          </p:nvPr>
        </p:nvSpPr>
        <p:spPr>
          <a:xfrm>
            <a:off x="1024126" y="195749"/>
            <a:ext cx="9720072" cy="1175851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SOURCES OF FINANCE </a:t>
            </a:r>
            <a:endParaRPr u="sng"/>
          </a:p>
        </p:txBody>
      </p:sp>
      <p:graphicFrame>
        <p:nvGraphicFramePr>
          <p:cNvPr id="127" name="Google Shape;127;p18"/>
          <p:cNvGraphicFramePr/>
          <p:nvPr/>
        </p:nvGraphicFramePr>
        <p:xfrm>
          <a:off x="837670" y="1371603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{B03C709E-FAC9-4CD4-AFB5-DE22FC766D57}</a:tableStyleId>
              </a:tblPr>
              <a:tblGrid>
                <a:gridCol w="2605750"/>
                <a:gridCol w="2605750"/>
                <a:gridCol w="2605750"/>
                <a:gridCol w="2605750"/>
              </a:tblGrid>
              <a:tr h="4839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Source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Definition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Advantages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Disadvantages 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 u="none" cap="none" strike="noStrike"/>
                        <a:t>Owners Funds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Retained Profit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Loans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7735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Credit</a:t>
                      </a:r>
                      <a:r>
                        <a:rPr lang="en-GB" sz="1800"/>
                        <a:t> Cards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Government</a:t>
                      </a:r>
                      <a:r>
                        <a:rPr lang="en-GB" sz="1800"/>
                        <a:t> Grants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Hire Purchase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Leasing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Trade Credit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Venture</a:t>
                      </a:r>
                      <a:r>
                        <a:rPr lang="en-GB" sz="1800"/>
                        <a:t> Capital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Peer</a:t>
                      </a:r>
                      <a:r>
                        <a:rPr lang="en-GB" sz="1800"/>
                        <a:t> to peer lending 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19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134" name="Google Shape;134;p19"/>
          <p:cNvPicPr preferRelativeResize="0"/>
          <p:nvPr/>
        </p:nvPicPr>
        <p:blipFill rotWithShape="1">
          <a:blip r:embed="rId3">
            <a:alphaModFix/>
          </a:blip>
          <a:srcRect b="20547" l="16827" r="15250" t="21867"/>
          <a:stretch/>
        </p:blipFill>
        <p:spPr>
          <a:xfrm>
            <a:off x="1524000" y="692150"/>
            <a:ext cx="9144000" cy="616585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</p:pic>
      <p:cxnSp>
        <p:nvCxnSpPr>
          <p:cNvPr id="135" name="Google Shape;135;p19"/>
          <p:cNvCxnSpPr/>
          <p:nvPr/>
        </p:nvCxnSpPr>
        <p:spPr>
          <a:xfrm>
            <a:off x="6888164" y="1268414"/>
            <a:ext cx="1728787" cy="5113337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6" name="Google Shape;136;p19"/>
          <p:cNvCxnSpPr/>
          <p:nvPr/>
        </p:nvCxnSpPr>
        <p:spPr>
          <a:xfrm>
            <a:off x="6888164" y="1773239"/>
            <a:ext cx="1728787" cy="719137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7" name="Google Shape;137;p19"/>
          <p:cNvCxnSpPr/>
          <p:nvPr/>
        </p:nvCxnSpPr>
        <p:spPr>
          <a:xfrm flipH="1" rot="10800000">
            <a:off x="6888164" y="1196975"/>
            <a:ext cx="1728787" cy="129540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8" name="Google Shape;138;p19"/>
          <p:cNvCxnSpPr/>
          <p:nvPr/>
        </p:nvCxnSpPr>
        <p:spPr>
          <a:xfrm>
            <a:off x="6888164" y="3284538"/>
            <a:ext cx="1728787" cy="230505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9" name="Google Shape;139;p19"/>
          <p:cNvCxnSpPr/>
          <p:nvPr/>
        </p:nvCxnSpPr>
        <p:spPr>
          <a:xfrm flipH="1" rot="10800000">
            <a:off x="6888164" y="1700213"/>
            <a:ext cx="1728787" cy="2881312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0" name="Google Shape;140;p19"/>
          <p:cNvCxnSpPr/>
          <p:nvPr/>
        </p:nvCxnSpPr>
        <p:spPr>
          <a:xfrm flipH="1" rot="10800000">
            <a:off x="6816726" y="3213101"/>
            <a:ext cx="1871663" cy="180022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1" name="Google Shape;141;p19"/>
          <p:cNvCxnSpPr/>
          <p:nvPr/>
        </p:nvCxnSpPr>
        <p:spPr>
          <a:xfrm flipH="1" rot="10800000">
            <a:off x="6888164" y="5013325"/>
            <a:ext cx="1800225" cy="64770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2" name="Google Shape;142;p19"/>
          <p:cNvCxnSpPr/>
          <p:nvPr/>
        </p:nvCxnSpPr>
        <p:spPr>
          <a:xfrm flipH="1" rot="10800000">
            <a:off x="6888164" y="3933826"/>
            <a:ext cx="1728787" cy="227647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3" name="Google Shape;143;p19"/>
          <p:cNvCxnSpPr/>
          <p:nvPr/>
        </p:nvCxnSpPr>
        <p:spPr>
          <a:xfrm>
            <a:off x="6888164" y="3860801"/>
            <a:ext cx="1728787" cy="72072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20"/>
          <p:cNvSpPr txBox="1"/>
          <p:nvPr>
            <p:ph type="title"/>
          </p:nvPr>
        </p:nvSpPr>
        <p:spPr>
          <a:xfrm>
            <a:off x="1024128" y="142875"/>
            <a:ext cx="9720072" cy="1499616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29697C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29697C"/>
                </a:solidFill>
              </a:rPr>
              <a:t>SCENARIOS: THEORY APPLICATION</a:t>
            </a:r>
            <a:endParaRPr/>
          </a:p>
        </p:txBody>
      </p:sp>
      <p:sp>
        <p:nvSpPr>
          <p:cNvPr id="149" name="Google Shape;149;p20"/>
          <p:cNvSpPr txBox="1"/>
          <p:nvPr>
            <p:ph idx="1" type="body"/>
          </p:nvPr>
        </p:nvSpPr>
        <p:spPr>
          <a:xfrm>
            <a:off x="135914" y="1744975"/>
            <a:ext cx="3589419" cy="42672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Students to recommend the most appropriate source, justify your suggestion with </a:t>
            </a:r>
            <a:r>
              <a:rPr b="1" lang="en-GB" sz="3000">
                <a:solidFill>
                  <a:srgbClr val="92D050"/>
                </a:solidFill>
              </a:rPr>
              <a:t>one advantage </a:t>
            </a:r>
            <a:r>
              <a:rPr lang="en-GB" sz="3000"/>
              <a:t>(2marks)  and </a:t>
            </a:r>
            <a:r>
              <a:rPr b="1" lang="en-GB" sz="3000">
                <a:solidFill>
                  <a:srgbClr val="FF99FF"/>
                </a:solidFill>
              </a:rPr>
              <a:t>one disadvantage </a:t>
            </a:r>
            <a:r>
              <a:rPr lang="en-GB" sz="3000"/>
              <a:t>(2 marks) </a:t>
            </a:r>
            <a:endParaRPr/>
          </a:p>
          <a:p>
            <a:pPr indent="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pic>
        <p:nvPicPr>
          <p:cNvPr descr="Screen Clipping" id="150" name="Google Shape;150;p2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881885" y="1744976"/>
            <a:ext cx="8039182" cy="426720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miter lim="800000"/>
            <a:headEnd len="sm" w="sm" type="none"/>
            <a:tailEnd len="sm" w="sm" type="none"/>
          </a:ln>
        </p:spPr>
      </p:pic>
      <p:sp>
        <p:nvSpPr>
          <p:cNvPr id="151" name="Google Shape;151;p20"/>
          <p:cNvSpPr txBox="1"/>
          <p:nvPr/>
        </p:nvSpPr>
        <p:spPr>
          <a:xfrm>
            <a:off x="9577387" y="662252"/>
            <a:ext cx="1166813" cy="369888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800" u="none" cap="none" strike="noStrike">
                <a:solidFill>
                  <a:schemeClr val="lt1"/>
                </a:solidFill>
                <a:latin typeface="Limelight"/>
                <a:ea typeface="Limelight"/>
                <a:cs typeface="Limelight"/>
                <a:sym typeface="Limelight"/>
              </a:rPr>
              <a:t>15 mins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50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5" name="Shape 1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6" name="Google Shape;156;p21"/>
          <p:cNvSpPr txBox="1"/>
          <p:nvPr>
            <p:ph type="title"/>
          </p:nvPr>
        </p:nvSpPr>
        <p:spPr>
          <a:xfrm>
            <a:off x="1041061" y="94149"/>
            <a:ext cx="9720072" cy="1125051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157" name="Google Shape;157;p2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2243"/>
          <a:stretch/>
        </p:blipFill>
        <p:spPr>
          <a:xfrm>
            <a:off x="1494028" y="1407499"/>
            <a:ext cx="8814137" cy="5063973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