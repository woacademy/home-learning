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7A76F16E-7ABC-4549-9C14-60446E2CC3FA}">
  <a:tblStyle styleId="{7A76F16E-7ABC-4549-9C14-60446E2CC3FA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6E7"/>
          </a:solidFill>
        </a:fill>
      </a:tcStyle>
    </a:wholeTbl>
    <a:band1H>
      <a:tcTxStyle/>
      <a:tcStyle>
        <a:fill>
          <a:solidFill>
            <a:srgbClr val="DDECCC"/>
          </a:solidFill>
        </a:fill>
      </a:tcStyle>
    </a:band1H>
    <a:band2H>
      <a:tcTxStyle/>
    </a:band2H>
    <a:band1V>
      <a:tcTxStyle/>
      <a:tcStyle>
        <a:fill>
          <a:solidFill>
            <a:srgbClr val="DDECCC"/>
          </a:solidFill>
        </a:fill>
      </a:tcStyle>
    </a:band1V>
    <a:band2V>
      <a:tcTxStyle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, Text, and Content" type="txAndObj">
  <p:cSld name="TEXT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algn="l">
              <a:spcBef>
                <a:spcPts val="0"/>
              </a:spcBef>
              <a:buNone/>
              <a:defRPr sz="1000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showMasterSp="0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43" name="Google Shape;43;p5"/>
          <p:cNvCxnSpPr/>
          <p:nvPr/>
        </p:nvCxnSpPr>
        <p:spPr>
          <a:xfrm rot="10800000">
            <a:off x="838684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5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rotWithShape="1">
            <a:blip r:embed="rId2">
              <a:alphaModFix/>
            </a:blip>
            <a:tile algn="tl" flip="none" tx="-133350" sx="50000" ty="-6350" sy="50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7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showMasterSp="0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🢝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🢝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🢝"/>
              <a:defRPr sz="1600"/>
            </a:lvl9pPr>
          </a:lstStyle>
          <a:p/>
        </p:txBody>
      </p:sp>
      <p:sp>
        <p:nvSpPr>
          <p:cNvPr id="73" name="Google Shape;73;p10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showMasterSp="0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C1DF87"/>
          </a:solidFill>
          <a:ln>
            <a:noFill/>
          </a:ln>
        </p:spPr>
        <p:txBody>
          <a:bodyPr anchorCtr="0" anchor="t" bIns="45700" lIns="457200" spcFirstLastPara="1" rIns="45700" wrap="square" tIns="3657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Twentieth Century"/>
              <a:buNone/>
              <a:defRPr b="0" i="0" sz="3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84" name="Google Shape;84;p11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 rot="5400000">
            <a:off x="3872484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showMasterSp="0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🢝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🢝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🢝"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97" name="Google Shape;97;p13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BTEC LEVEL 2 TECH AWARD</a:t>
            </a:r>
            <a:endParaRPr/>
          </a:p>
        </p:txBody>
      </p:sp>
      <p:sp>
        <p:nvSpPr>
          <p:cNvPr id="103" name="Google Shape;103;p14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Promotion and Finance for Enterprise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LEARNING AIM C- FINANCIAL PLANNING AND FORECASTING </a:t>
            </a:r>
            <a:endParaRPr u="sng"/>
          </a:p>
        </p:txBody>
      </p:sp>
      <p:sp>
        <p:nvSpPr>
          <p:cNvPr id="109" name="Google Shape;109;p1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Learners will </a:t>
            </a:r>
            <a:r>
              <a:rPr i="1" lang="en-GB" sz="5000">
                <a:solidFill>
                  <a:srgbClr val="92D050"/>
                </a:solidFill>
              </a:rPr>
              <a:t>complete</a:t>
            </a:r>
            <a:r>
              <a:rPr lang="en-GB" sz="5000"/>
              <a:t> cash flow forecasts, and </a:t>
            </a:r>
            <a:r>
              <a:rPr i="1" lang="en-GB" sz="5000">
                <a:solidFill>
                  <a:srgbClr val="92D050"/>
                </a:solidFill>
              </a:rPr>
              <a:t>investigate</a:t>
            </a:r>
            <a:r>
              <a:rPr lang="en-GB" sz="5000"/>
              <a:t> the effects of positive and negative cash flow on an enterprise.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1024128" y="263611"/>
            <a:ext cx="9720072" cy="1821221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GB" sz="4000" u="sng"/>
              <a:t>LEARNING AIM C- C1 AND C2</a:t>
            </a:r>
            <a:br>
              <a:rPr lang="en-GB" sz="4000" u="sng"/>
            </a:br>
            <a:r>
              <a:rPr lang="en-GB" sz="4000" u="sng"/>
              <a:t>CASH FLOW FORECASTING </a:t>
            </a:r>
            <a:br>
              <a:rPr lang="en-GB" sz="4000" u="sng"/>
            </a:br>
            <a:r>
              <a:rPr lang="en-GB" sz="4000" u="sng"/>
              <a:t>DATE: </a:t>
            </a:r>
            <a:endParaRPr sz="4000" u="sng"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5000"/>
              <a:t>Learners will </a:t>
            </a:r>
            <a:r>
              <a:rPr i="1" lang="en-GB" sz="5000">
                <a:solidFill>
                  <a:srgbClr val="92D050"/>
                </a:solidFill>
              </a:rPr>
              <a:t>complete</a:t>
            </a:r>
            <a:r>
              <a:rPr lang="en-GB" sz="5000"/>
              <a:t> cash flow forecasts, and </a:t>
            </a:r>
            <a:r>
              <a:rPr i="1" lang="en-GB" sz="5000">
                <a:solidFill>
                  <a:srgbClr val="92D050"/>
                </a:solidFill>
              </a:rPr>
              <a:t>investigate</a:t>
            </a:r>
            <a:r>
              <a:rPr lang="en-GB" sz="5000"/>
              <a:t> the effects of positive and negative cash flow on an enterprise.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1109718" y="201907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CASH FLOW- LESSON 1</a:t>
            </a:r>
            <a:br>
              <a:rPr lang="en-GB" u="sng"/>
            </a:br>
            <a:r>
              <a:rPr lang="en-GB" u="sng"/>
              <a:t>DATE:  </a:t>
            </a:r>
            <a:endParaRPr u="sng"/>
          </a:p>
        </p:txBody>
      </p:sp>
      <p:sp>
        <p:nvSpPr>
          <p:cNvPr id="121" name="Google Shape;121;p17"/>
          <p:cNvSpPr/>
          <p:nvPr/>
        </p:nvSpPr>
        <p:spPr>
          <a:xfrm>
            <a:off x="1109717" y="2163818"/>
            <a:ext cx="9962835" cy="4401205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Objectives: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To be able to define and explain the purpose of cash flow forecasting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-To be able to interpret a cash flow forecast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220133" y="138796"/>
            <a:ext cx="11853334" cy="1057956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GB" sz="4000"/>
              <a:t>C1 AND C2- USING CASH FLOW DATA &amp; FINANCIAL FORECASTING</a:t>
            </a:r>
            <a:endParaRPr sz="4000"/>
          </a:p>
        </p:txBody>
      </p:sp>
      <p:pic>
        <p:nvPicPr>
          <p:cNvPr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5720" y="1196752"/>
            <a:ext cx="5208240" cy="44508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369644" y="5940584"/>
            <a:ext cx="11318676" cy="461665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Starter: Why is a checking a weather forecast helpful? What are the pros and cons of this?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829733" y="304800"/>
            <a:ext cx="10938934" cy="1010651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WHAT IS A CASH FLOW FORECAST?</a:t>
            </a:r>
            <a:endParaRPr u="sng"/>
          </a:p>
        </p:txBody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829733" y="1633239"/>
            <a:ext cx="10938934" cy="4395027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3200"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b="1" lang="en-GB" sz="3200" u="sng"/>
              <a:t>Cash flow: </a:t>
            </a:r>
            <a:r>
              <a:rPr b="1" lang="en-GB" sz="3200"/>
              <a:t>The flow of cash into and out of the business.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1" sz="3200"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b="1" lang="en-GB" sz="3200"/>
              <a:t>Shows the amount of cash flowing into the business and the amount of cash flowing out of the business. </a:t>
            </a:r>
            <a:endParaRPr b="1" sz="3200"/>
          </a:p>
        </p:txBody>
      </p:sp>
    </p:spTree>
  </p:cSld>
  <p:clrMapOvr>
    <a:masterClrMapping/>
  </p:clrMapOvr>
  <mc:AlternateContent>
    <mc:Choice Requires="p14">
      <p:transition spd="slow" p14:dur="900">
        <p:fade thruBlk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829733" y="304800"/>
            <a:ext cx="10938934" cy="1010651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OTHER KEY TERMS: </a:t>
            </a:r>
            <a:endParaRPr u="sng"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829733" y="1633239"/>
            <a:ext cx="10938934" cy="4395027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b="1" lang="en-GB" sz="3200" u="sng"/>
              <a:t>Cash flow statement: </a:t>
            </a:r>
            <a:r>
              <a:rPr lang="en-GB" sz="3200"/>
              <a:t>the cash inflows and the cash outflows over the past 12 months.</a:t>
            </a:r>
            <a:endParaRPr b="1" sz="3200"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b="1" lang="en-GB" sz="3200" u="sng"/>
              <a:t>Cash flow forecast: </a:t>
            </a:r>
            <a:r>
              <a:rPr lang="en-GB" sz="3200"/>
              <a:t>outlines the forecasted future cash inflows (from sales) and the outflows (such as raw materials, wages) per month over a period.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b="1" lang="en-GB" sz="3200" u="sng"/>
              <a:t>Sales: </a:t>
            </a:r>
            <a:r>
              <a:rPr lang="en-GB" sz="3200"/>
              <a:t>A </a:t>
            </a:r>
            <a:r>
              <a:rPr b="1" lang="en-GB" sz="3200"/>
              <a:t>sale</a:t>
            </a:r>
            <a:r>
              <a:rPr lang="en-GB" sz="3200"/>
              <a:t> is an exchange of money for goods, services,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b="1" lang="en-GB" sz="3200" u="sng"/>
              <a:t>Purchases: </a:t>
            </a:r>
            <a:r>
              <a:rPr lang="en-GB" sz="2800"/>
              <a:t>is the formal process of </a:t>
            </a:r>
            <a:r>
              <a:rPr b="1" lang="en-GB" sz="2800"/>
              <a:t>buying goods</a:t>
            </a:r>
            <a:r>
              <a:rPr lang="en-GB" sz="2800"/>
              <a:t> and services</a:t>
            </a:r>
            <a:endParaRPr b="1" sz="3200"/>
          </a:p>
        </p:txBody>
      </p:sp>
    </p:spTree>
  </p:cSld>
  <p:clrMapOvr>
    <a:masterClrMapping/>
  </p:clrMapOvr>
  <mc:AlternateContent>
    <mc:Choice Requires="p14">
      <p:transition spd="slow" p14:dur="9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999067" y="332656"/>
            <a:ext cx="10600266" cy="1499616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CASH FLOW FORECAST INCLUDES…</a:t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999067" y="2238731"/>
            <a:ext cx="10600266" cy="3772602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18745" lvl="0" marL="9144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870"/>
              <a:buFont typeface="Noto Sans Symbols"/>
              <a:buChar char="❖"/>
            </a:pPr>
            <a:r>
              <a:rPr lang="en-GB" sz="1870"/>
              <a:t> </a:t>
            </a:r>
            <a:r>
              <a:rPr b="1" lang="en-GB" sz="2720"/>
              <a:t>An Opening Balance</a:t>
            </a:r>
            <a:endParaRPr/>
          </a:p>
          <a:p>
            <a:pPr indent="-172720" lvl="0" marL="91440" rtl="0" algn="l">
              <a:lnSpc>
                <a:spcPct val="190000"/>
              </a:lnSpc>
              <a:spcBef>
                <a:spcPts val="1400"/>
              </a:spcBef>
              <a:spcAft>
                <a:spcPts val="0"/>
              </a:spcAft>
              <a:buSzPts val="2720"/>
              <a:buFont typeface="Noto Sans Symbols"/>
              <a:buChar char="❖"/>
            </a:pPr>
            <a:r>
              <a:rPr b="1" lang="en-GB" sz="2720"/>
              <a:t>Details of expected Cash Inflows</a:t>
            </a:r>
            <a:endParaRPr/>
          </a:p>
          <a:p>
            <a:pPr indent="-172720" lvl="0" marL="91440" rtl="0" algn="l">
              <a:lnSpc>
                <a:spcPct val="190000"/>
              </a:lnSpc>
              <a:spcBef>
                <a:spcPts val="1400"/>
              </a:spcBef>
              <a:spcAft>
                <a:spcPts val="0"/>
              </a:spcAft>
              <a:buSzPts val="2720"/>
              <a:buFont typeface="Noto Sans Symbols"/>
              <a:buChar char="❖"/>
            </a:pPr>
            <a:r>
              <a:rPr b="1" lang="en-GB" sz="2720"/>
              <a:t>Details of expected Cash Outflows</a:t>
            </a:r>
            <a:endParaRPr/>
          </a:p>
          <a:p>
            <a:pPr indent="-172720" lvl="0" marL="91440" rtl="0" algn="l">
              <a:lnSpc>
                <a:spcPct val="190000"/>
              </a:lnSpc>
              <a:spcBef>
                <a:spcPts val="1400"/>
              </a:spcBef>
              <a:spcAft>
                <a:spcPts val="0"/>
              </a:spcAft>
              <a:buSzPts val="2720"/>
              <a:buFont typeface="Noto Sans Symbols"/>
              <a:buChar char="❖"/>
            </a:pPr>
            <a:r>
              <a:rPr b="1" lang="en-GB" sz="2720"/>
              <a:t>A Closing Balance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9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1970861" y="220039"/>
            <a:ext cx="8229600" cy="1143000"/>
          </a:xfrm>
          <a:prstGeom prst="rect">
            <a:avLst/>
          </a:prstGeom>
          <a:noFill/>
          <a:ln cap="flat" cmpd="sng" w="57150">
            <a:solidFill>
              <a:srgbClr val="E91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b="1" lang="en-GB"/>
              <a:t>CONTINUED…</a:t>
            </a:r>
            <a:endParaRPr b="1"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660400" y="1828799"/>
            <a:ext cx="11277599" cy="4097867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032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b="1" lang="en-GB" sz="3200"/>
              <a:t>The difference between the inflows and outflows is called the </a:t>
            </a:r>
            <a:r>
              <a:rPr b="1" lang="en-GB" sz="3200">
                <a:solidFill>
                  <a:srgbClr val="FF0000"/>
                </a:solidFill>
              </a:rPr>
              <a:t>net cash flow</a:t>
            </a:r>
            <a:r>
              <a:rPr b="1" lang="en-GB" sz="3200"/>
              <a:t>.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b="1" lang="en-GB" sz="3200">
                <a:solidFill>
                  <a:srgbClr val="FF0000"/>
                </a:solidFill>
              </a:rPr>
              <a:t>Positive net cash flow- </a:t>
            </a:r>
            <a:r>
              <a:rPr b="1" lang="en-GB" sz="3200"/>
              <a:t>inflows are greater than outflows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b="1" lang="en-GB" sz="3200">
                <a:solidFill>
                  <a:srgbClr val="FF0000"/>
                </a:solidFill>
              </a:rPr>
              <a:t>Negative net cash flow- </a:t>
            </a:r>
            <a:r>
              <a:rPr b="1" lang="en-GB" sz="3200"/>
              <a:t>inflows are not enough to cover out flows</a:t>
            </a:r>
            <a:endParaRPr/>
          </a:p>
          <a:p>
            <a:pPr indent="-2032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Font typeface="Noto Sans Symbols"/>
              <a:buChar char="❖"/>
            </a:pPr>
            <a:r>
              <a:rPr b="1" lang="en-GB" sz="3200">
                <a:solidFill>
                  <a:srgbClr val="FF0000"/>
                </a:solidFill>
              </a:rPr>
              <a:t>Balance- </a:t>
            </a:r>
            <a:r>
              <a:rPr b="1" lang="en-GB" sz="3200"/>
              <a:t>the amount of money in a business’ account at any time</a:t>
            </a:r>
            <a:endParaRPr b="1" sz="3200"/>
          </a:p>
        </p:txBody>
      </p:sp>
    </p:spTree>
  </p:cSld>
  <p:clrMapOvr>
    <a:masterClrMapping/>
  </p:clrMapOvr>
  <mc:AlternateContent>
    <mc:Choice Requires="p14">
      <p:transition spd="slow" p14:dur="9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96987" y="124232"/>
            <a:ext cx="11463867" cy="1503363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200"/>
              <a:buFont typeface="Twentieth Century"/>
              <a:buNone/>
            </a:pPr>
            <a:r>
              <a:rPr b="1" lang="en-GB" sz="4200" u="sng"/>
              <a:t>THINK, PAIR, SHARE: </a:t>
            </a:r>
            <a:br>
              <a:rPr b="1" lang="en-GB" sz="4200" u="sng"/>
            </a:br>
            <a:r>
              <a:rPr b="1" lang="en-GB" sz="4200" u="sng"/>
              <a:t>WHAT DOES A CASH FLOW FORECAST SHOW?</a:t>
            </a:r>
            <a:endParaRPr/>
          </a:p>
        </p:txBody>
      </p:sp>
      <p:pic>
        <p:nvPicPr>
          <p:cNvPr descr="MC900437685[1]" id="158" name="Google Shape;15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912" y="2820988"/>
            <a:ext cx="173355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3"/>
          <p:cNvSpPr txBox="1"/>
          <p:nvPr/>
        </p:nvSpPr>
        <p:spPr>
          <a:xfrm>
            <a:off x="696987" y="2317750"/>
            <a:ext cx="3816350" cy="86177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INFLOWS</a:t>
            </a:r>
            <a:r>
              <a:rPr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refers to money received by the business</a:t>
            </a:r>
            <a:endParaRPr sz="25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696987" y="3254376"/>
            <a:ext cx="3814762" cy="278537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folHlink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EXAMPLES:</a:t>
            </a:r>
            <a:endParaRPr/>
          </a:p>
          <a:p>
            <a:pPr indent="-158750" lvl="0" marL="0" marR="0" rtl="0" algn="ctr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Char char="•"/>
            </a:pPr>
            <a:r>
              <a:rPr b="1"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Sales revenue</a:t>
            </a:r>
            <a:endParaRPr/>
          </a:p>
          <a:p>
            <a:pPr indent="-158750" lvl="0" marL="0" marR="0" rtl="0" algn="ctr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Char char="•"/>
            </a:pPr>
            <a:r>
              <a:rPr b="1"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Capital</a:t>
            </a:r>
            <a:endParaRPr/>
          </a:p>
          <a:p>
            <a:pPr indent="-158750" lvl="0" marL="0" marR="0" rtl="0" algn="ctr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Char char="•"/>
            </a:pPr>
            <a:r>
              <a:rPr b="1"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Loans</a:t>
            </a:r>
            <a:endParaRPr/>
          </a:p>
          <a:p>
            <a:pPr indent="-158750" lvl="0" marL="0" marR="0" rtl="0" algn="ctr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Char char="•"/>
            </a:pPr>
            <a:r>
              <a:rPr b="1"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Grants</a:t>
            </a:r>
            <a:endParaRPr b="1" sz="25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MC900432618[1]" id="161" name="Google Shape;1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3188" y="2605088"/>
            <a:ext cx="554037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900432618[1]" id="162" name="Google Shape;1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5575" y="2678113"/>
            <a:ext cx="627063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 txBox="1"/>
          <p:nvPr/>
        </p:nvSpPr>
        <p:spPr>
          <a:xfrm>
            <a:off x="7824861" y="2317750"/>
            <a:ext cx="3571271" cy="1246495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0070C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OUTFLOWS</a:t>
            </a:r>
            <a:r>
              <a:rPr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refers to money paid out by the business</a:t>
            </a:r>
            <a:endParaRPr sz="25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7824861" y="3592513"/>
            <a:ext cx="3723671" cy="2785378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folHlink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EXAMPLES:</a:t>
            </a:r>
            <a:endParaRPr/>
          </a:p>
          <a:p>
            <a:pPr indent="-158750" lvl="0" marL="0" marR="0" rtl="0" algn="ctr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Char char="•"/>
            </a:pPr>
            <a:r>
              <a:rPr b="1"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Purchases</a:t>
            </a:r>
            <a:endParaRPr/>
          </a:p>
          <a:p>
            <a:pPr indent="-158750" lvl="0" marL="0" marR="0" rtl="0" algn="ctr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Char char="•"/>
            </a:pPr>
            <a:r>
              <a:rPr b="1"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Rent </a:t>
            </a:r>
            <a:endParaRPr b="1" sz="25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158750" lvl="0" marL="0" marR="0" rtl="0" algn="ctr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Char char="•"/>
            </a:pPr>
            <a:r>
              <a:rPr b="1"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Wages &amp; Salaries</a:t>
            </a:r>
            <a:endParaRPr/>
          </a:p>
          <a:p>
            <a:pPr indent="-158750" lvl="0" marL="0" marR="0" rtl="0" algn="ctr">
              <a:spcBef>
                <a:spcPts val="125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wentieth Century"/>
              <a:buChar char="•"/>
            </a:pPr>
            <a:r>
              <a:rPr b="1" lang="en-GB" sz="25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Other purchases</a:t>
            </a:r>
            <a:endParaRPr b="1" sz="25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5161037" y="4622801"/>
            <a:ext cx="2089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BUSINESS</a:t>
            </a:r>
            <a:endParaRPr b="1"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>
    <mc:Choice Requires="p14">
      <p:transition spd="slow" p14:dur="14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1185333" y="348149"/>
            <a:ext cx="10295467" cy="1259608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GB" sz="4000"/>
              <a:t>STARTER: PUT THE FOLLOWING INTO EITHER INFLOWS OR OUTFLOWS 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1185333" y="1879600"/>
            <a:ext cx="10295467" cy="4809067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03200" lvl="0" marL="9144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 "/>
            </a:pPr>
            <a:r>
              <a:rPr lang="en-GB" sz="3200"/>
              <a:t>Rent</a:t>
            </a:r>
            <a:endParaRPr/>
          </a:p>
          <a:p>
            <a:pPr indent="-2032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GB" sz="3200"/>
              <a:t>Salary</a:t>
            </a:r>
            <a:endParaRPr/>
          </a:p>
          <a:p>
            <a:pPr indent="-2032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GB" sz="3200"/>
              <a:t>Loan</a:t>
            </a:r>
            <a:endParaRPr/>
          </a:p>
          <a:p>
            <a:pPr indent="-2032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GB" sz="3200"/>
              <a:t>Revenue</a:t>
            </a:r>
            <a:endParaRPr/>
          </a:p>
          <a:p>
            <a:pPr indent="-2032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GB" sz="3200"/>
              <a:t>Utilities</a:t>
            </a:r>
            <a:endParaRPr/>
          </a:p>
          <a:p>
            <a:pPr indent="-2032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GB" sz="3200"/>
              <a:t>Overdraft</a:t>
            </a:r>
            <a:endParaRPr/>
          </a:p>
          <a:p>
            <a:pPr indent="-2032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GB" sz="3200"/>
              <a:t>Supplier payment </a:t>
            </a:r>
            <a:endParaRPr/>
          </a:p>
          <a:p>
            <a:pPr indent="-203200" lvl="0" marL="9144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200"/>
              <a:buChar char=" "/>
            </a:pPr>
            <a:r>
              <a:rPr lang="en-GB" sz="3200"/>
              <a:t>Taxes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2449386" y="41204"/>
            <a:ext cx="7290054" cy="795508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THE IMPORTANCE OF CASH</a:t>
            </a:r>
            <a:endParaRPr/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1847528" y="818219"/>
            <a:ext cx="8229600" cy="965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 "/>
            </a:pPr>
            <a:r>
              <a:rPr lang="en-GB" sz="2400"/>
              <a:t>If a business does not have cash then the following problems could occur. Copy this into your books</a:t>
            </a:r>
            <a:endParaRPr/>
          </a:p>
        </p:txBody>
      </p:sp>
      <p:sp>
        <p:nvSpPr>
          <p:cNvPr id="179" name="Google Shape;179;p25"/>
          <p:cNvSpPr/>
          <p:nvPr/>
        </p:nvSpPr>
        <p:spPr>
          <a:xfrm>
            <a:off x="4008439" y="1916114"/>
            <a:ext cx="3671887" cy="649287"/>
          </a:xfrm>
          <a:prstGeom prst="roundRect">
            <a:avLst>
              <a:gd fmla="val 16667" name="adj"/>
            </a:avLst>
          </a:prstGeom>
          <a:solidFill>
            <a:srgbClr val="BEE2A6"/>
          </a:solidFill>
          <a:ln cap="flat" cmpd="sng" w="38100">
            <a:solidFill>
              <a:srgbClr val="E91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Business has a lack of cash</a:t>
            </a:r>
            <a:endParaRPr/>
          </a:p>
        </p:txBody>
      </p:sp>
      <p:sp>
        <p:nvSpPr>
          <p:cNvPr id="180" name="Google Shape;180;p25"/>
          <p:cNvSpPr/>
          <p:nvPr/>
        </p:nvSpPr>
        <p:spPr>
          <a:xfrm>
            <a:off x="4008439" y="2997200"/>
            <a:ext cx="3671887" cy="649288"/>
          </a:xfrm>
          <a:prstGeom prst="roundRect">
            <a:avLst>
              <a:gd fmla="val 16667" name="adj"/>
            </a:avLst>
          </a:prstGeom>
          <a:solidFill>
            <a:srgbClr val="BEE2A6"/>
          </a:solidFill>
          <a:ln cap="flat" cmpd="sng" w="38100">
            <a:solidFill>
              <a:srgbClr val="E91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Business is unable to pay bills/staff</a:t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4008439" y="4005264"/>
            <a:ext cx="3671887" cy="865187"/>
          </a:xfrm>
          <a:prstGeom prst="roundRect">
            <a:avLst>
              <a:gd fmla="val 16667" name="adj"/>
            </a:avLst>
          </a:prstGeom>
          <a:solidFill>
            <a:srgbClr val="BEE2A6"/>
          </a:solidFill>
          <a:ln cap="flat" cmpd="sng" w="38100">
            <a:solidFill>
              <a:srgbClr val="E91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Suppliers stop delivering as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they have not been paid.</a:t>
            </a:r>
            <a:endParaRPr/>
          </a:p>
        </p:txBody>
      </p:sp>
      <p:sp>
        <p:nvSpPr>
          <p:cNvPr id="182" name="Google Shape;182;p25"/>
          <p:cNvSpPr/>
          <p:nvPr/>
        </p:nvSpPr>
        <p:spPr>
          <a:xfrm>
            <a:off x="4008439" y="5229225"/>
            <a:ext cx="3671887" cy="649288"/>
          </a:xfrm>
          <a:prstGeom prst="roundRect">
            <a:avLst>
              <a:gd fmla="val 16667" name="adj"/>
            </a:avLst>
          </a:prstGeom>
          <a:solidFill>
            <a:srgbClr val="BEE2A6"/>
          </a:solidFill>
          <a:ln cap="flat" cmpd="sng" w="38100">
            <a:solidFill>
              <a:srgbClr val="E91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Business may be taken to court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because they can’t pay creditors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(people they owe money to)</a:t>
            </a:r>
            <a:endParaRPr/>
          </a:p>
        </p:txBody>
      </p:sp>
      <p:sp>
        <p:nvSpPr>
          <p:cNvPr id="183" name="Google Shape;183;p25"/>
          <p:cNvSpPr/>
          <p:nvPr/>
        </p:nvSpPr>
        <p:spPr>
          <a:xfrm>
            <a:off x="4008439" y="6164264"/>
            <a:ext cx="3671887" cy="649287"/>
          </a:xfrm>
          <a:prstGeom prst="roundRect">
            <a:avLst>
              <a:gd fmla="val 16667" name="adj"/>
            </a:avLst>
          </a:prstGeom>
          <a:solidFill>
            <a:srgbClr val="BEE2A6"/>
          </a:solidFill>
          <a:ln cap="flat" cmpd="sng" w="38100">
            <a:solidFill>
              <a:srgbClr val="E91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Business becomes insolvent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(can no longer pay its debts)</a:t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5592764" y="2636839"/>
            <a:ext cx="503237" cy="287337"/>
          </a:xfrm>
          <a:prstGeom prst="down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5591175" y="3717925"/>
            <a:ext cx="503238" cy="287338"/>
          </a:xfrm>
          <a:prstGeom prst="down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5591175" y="4868864"/>
            <a:ext cx="503238" cy="287337"/>
          </a:xfrm>
          <a:prstGeom prst="down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5591175" y="5878514"/>
            <a:ext cx="503238" cy="287337"/>
          </a:xfrm>
          <a:prstGeom prst="down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1185333" y="348149"/>
            <a:ext cx="10295467" cy="1259608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GB" sz="4000"/>
              <a:t>THIS IS WHAT A CASH FLOW LOOKS LIKE…</a:t>
            </a:r>
            <a:endParaRPr sz="4000"/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589" y="1867133"/>
            <a:ext cx="9312954" cy="4822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</a:t>
            </a:r>
            <a:endParaRPr u="sng"/>
          </a:p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54000" lvl="0" marL="9144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Char char=" "/>
            </a:pPr>
            <a:r>
              <a:rPr lang="en-GB" sz="4000"/>
              <a:t>Complete the </a:t>
            </a:r>
            <a:r>
              <a:rPr lang="en-GB" sz="4000" u="sng">
                <a:solidFill>
                  <a:srgbClr val="FF00FF"/>
                </a:solidFill>
              </a:rPr>
              <a:t>Cash flow worksheets 1 and 2. </a:t>
            </a:r>
            <a:endParaRPr sz="4000"/>
          </a:p>
        </p:txBody>
      </p:sp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1867" y="3370817"/>
            <a:ext cx="5215466" cy="3139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QUIZ (OUT OF 5) </a:t>
            </a:r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742950" lvl="0" marL="74295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Font typeface="Twentieth Century"/>
              <a:buAutoNum type="arabicPeriod"/>
            </a:pPr>
            <a:r>
              <a:rPr lang="en-GB" sz="3700"/>
              <a:t>What is an opening balance? </a:t>
            </a:r>
            <a:endParaRPr/>
          </a:p>
          <a:p>
            <a:pPr indent="-742950" lvl="0" marL="74295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700"/>
              <a:buFont typeface="Twentieth Century"/>
              <a:buAutoNum type="arabicPeriod"/>
            </a:pPr>
            <a:r>
              <a:rPr lang="en-GB" sz="3700"/>
              <a:t>What is a closing balance? </a:t>
            </a:r>
            <a:endParaRPr/>
          </a:p>
          <a:p>
            <a:pPr indent="-742950" lvl="0" marL="74295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700"/>
              <a:buFont typeface="Twentieth Century"/>
              <a:buAutoNum type="arabicPeriod"/>
            </a:pPr>
            <a:r>
              <a:rPr lang="en-GB" sz="3700"/>
              <a:t>What is net cash flow? </a:t>
            </a:r>
            <a:endParaRPr/>
          </a:p>
          <a:p>
            <a:pPr indent="-742950" lvl="0" marL="74295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700"/>
              <a:buFont typeface="Twentieth Century"/>
              <a:buAutoNum type="arabicPeriod"/>
            </a:pPr>
            <a:r>
              <a:rPr lang="en-GB" sz="3700"/>
              <a:t>What two things must you add together to get the closing balance? </a:t>
            </a:r>
            <a:endParaRPr/>
          </a:p>
          <a:p>
            <a:pPr indent="-742950" lvl="0" marL="742950" rtl="0" algn="just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3700"/>
              <a:buFont typeface="Twentieth Century"/>
              <a:buAutoNum type="arabicPeriod"/>
            </a:pPr>
            <a:r>
              <a:rPr lang="en-GB" sz="3700"/>
              <a:t>What is the difference between inflows and outflows?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2415869" y="248056"/>
            <a:ext cx="7290054" cy="899568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</a:pPr>
            <a:r>
              <a:rPr lang="en-GB" sz="4000" u="sng"/>
              <a:t>PLENARY- COMPLETE THE MISSING GAPS </a:t>
            </a:r>
            <a:endParaRPr sz="4000" u="sng"/>
          </a:p>
        </p:txBody>
      </p:sp>
      <p:pic>
        <p:nvPicPr>
          <p:cNvPr descr="Screen Clipping" id="212" name="Google Shape;212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4329" y="1255149"/>
            <a:ext cx="8714769" cy="33843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" name="Google Shape;213;p29"/>
          <p:cNvGraphicFramePr/>
          <p:nvPr/>
        </p:nvGraphicFramePr>
        <p:xfrm>
          <a:off x="1584329" y="483616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{7A76F16E-7ABC-4549-9C14-60446E2CC3FA}</a:tableStyleId>
              </a:tblPr>
              <a:tblGrid>
                <a:gridCol w="4357375"/>
                <a:gridCol w="4357375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>
                          <a:solidFill>
                            <a:srgbClr val="002060"/>
                          </a:solidFill>
                        </a:rPr>
                        <a:t>Total Outflow</a:t>
                      </a:r>
                      <a:endParaRPr sz="1600" u="none" cap="none" strike="noStrike">
                        <a:solidFill>
                          <a:srgbClr val="002060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>
                          <a:solidFill>
                            <a:srgbClr val="002060"/>
                          </a:solidFill>
                        </a:rPr>
                        <a:t>All expenses added together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 </a:t>
                      </a:r>
                      <a:endParaRPr sz="1600" u="none" cap="none" strike="noStrike"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0" marB="0" marR="68575" marL="68575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>
                          <a:solidFill>
                            <a:srgbClr val="002060"/>
                          </a:solidFill>
                        </a:rPr>
                        <a:t>Net Cash flow</a:t>
                      </a:r>
                      <a:endParaRPr sz="1600" u="none" cap="none" strike="noStrike">
                        <a:solidFill>
                          <a:srgbClr val="002060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Inflows minus outflows (Inflow-outflow)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Receipts minus payments</a:t>
                      </a:r>
                      <a:endParaRPr sz="1600" u="none" cap="none" strike="noStrike"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0" marB="0" marR="68575" marL="68575"/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>
                          <a:solidFill>
                            <a:srgbClr val="002060"/>
                          </a:solidFill>
                        </a:rPr>
                        <a:t>Opening Bank Balance</a:t>
                      </a:r>
                      <a:endParaRPr sz="1600" u="none" cap="none" strike="noStrike">
                        <a:solidFill>
                          <a:srgbClr val="002060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Is the closing bank balance of the previous month</a:t>
                      </a:r>
                      <a:endParaRPr sz="1600" u="none" cap="none" strike="noStrike"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0" marB="0" marR="68575" marL="68575"/>
                </a:tc>
              </a:tr>
              <a:tr h="146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>
                          <a:solidFill>
                            <a:srgbClr val="002060"/>
                          </a:solidFill>
                        </a:rPr>
                        <a:t>Closing Bank Balance</a:t>
                      </a:r>
                      <a:endParaRPr sz="1600" u="none" cap="none" strike="noStrike">
                        <a:solidFill>
                          <a:srgbClr val="002060"/>
                        </a:solidFill>
                        <a:latin typeface="Courier"/>
                        <a:ea typeface="Courier"/>
                        <a:cs typeface="Courier"/>
                        <a:sym typeface="Courier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Opening bank balance + Net cash flow</a:t>
                      </a:r>
                      <a:endParaRPr sz="1600" u="none" cap="none" strike="noStrike"/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1126344" y="285034"/>
            <a:ext cx="9720072" cy="1499616"/>
          </a:xfrm>
          <a:prstGeom prst="rect">
            <a:avLst/>
          </a:prstGeom>
          <a:noFill/>
          <a:ln cap="flat" cmpd="sng" w="57150">
            <a:solidFill>
              <a:srgbClr val="CC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CASH FLOW- LESSON 2 </a:t>
            </a:r>
            <a:br>
              <a:rPr lang="en-GB" u="sng"/>
            </a:br>
            <a:r>
              <a:rPr lang="en-GB" u="sng"/>
              <a:t>DATE: </a:t>
            </a:r>
            <a:endParaRPr u="sng"/>
          </a:p>
        </p:txBody>
      </p:sp>
      <p:sp>
        <p:nvSpPr>
          <p:cNvPr id="219" name="Google Shape;219;p30"/>
          <p:cNvSpPr/>
          <p:nvPr/>
        </p:nvSpPr>
        <p:spPr>
          <a:xfrm>
            <a:off x="1109717" y="2163818"/>
            <a:ext cx="9962835" cy="3970318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Objectives: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To be able to explain the importance of a cash flow forecast </a:t>
            </a:r>
            <a:endParaRPr sz="3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-To be able analyse the various ways of improving cash flow </a:t>
            </a:r>
            <a:endParaRPr sz="36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>
            <p:ph type="title"/>
          </p:nvPr>
        </p:nvSpPr>
        <p:spPr>
          <a:xfrm>
            <a:off x="871727" y="222843"/>
            <a:ext cx="10846139" cy="1499616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WHAT IS THE PURPOSE OF A CASH FLOW FORECAST? </a:t>
            </a:r>
            <a:endParaRPr u="sng"/>
          </a:p>
        </p:txBody>
      </p:sp>
      <p:sp>
        <p:nvSpPr>
          <p:cNvPr id="225" name="Google Shape;225;p31"/>
          <p:cNvSpPr/>
          <p:nvPr/>
        </p:nvSpPr>
        <p:spPr>
          <a:xfrm>
            <a:off x="3780196" y="2680208"/>
            <a:ext cx="4792133" cy="2218267"/>
          </a:xfrm>
          <a:prstGeom prst="cloud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15875">
            <a:solidFill>
              <a:srgbClr val="6F94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Why? </a:t>
            </a:r>
            <a:endParaRPr sz="5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6" name="Google Shape;226;p31"/>
          <p:cNvSpPr/>
          <p:nvPr/>
        </p:nvSpPr>
        <p:spPr>
          <a:xfrm>
            <a:off x="423332" y="2286000"/>
            <a:ext cx="3140795" cy="999067"/>
          </a:xfrm>
          <a:prstGeom prst="rect">
            <a:avLst/>
          </a:prstGeom>
          <a:noFill/>
          <a:ln cap="flat" cmpd="sng" w="158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 identify the money coming in</a:t>
            </a:r>
            <a:endParaRPr b="1" sz="2600">
              <a:solidFill>
                <a:srgbClr val="CC00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8788399" y="1787483"/>
            <a:ext cx="2709334" cy="1497584"/>
          </a:xfrm>
          <a:prstGeom prst="rect">
            <a:avLst/>
          </a:prstGeom>
          <a:noFill/>
          <a:ln cap="flat" cmpd="sng" w="158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 inform business decisions </a:t>
            </a:r>
            <a:endParaRPr b="1" sz="2600">
              <a:solidFill>
                <a:srgbClr val="CC00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520193" y="5108108"/>
            <a:ext cx="3361605" cy="1409531"/>
          </a:xfrm>
          <a:prstGeom prst="rect">
            <a:avLst/>
          </a:prstGeom>
          <a:noFill/>
          <a:ln cap="flat" cmpd="sng" w="158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 know whether you have enough to pay for day to day running of business </a:t>
            </a:r>
            <a:endParaRPr b="1" sz="2400">
              <a:solidFill>
                <a:srgbClr val="CC00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9" name="Google Shape;229;p31"/>
          <p:cNvSpPr/>
          <p:nvPr/>
        </p:nvSpPr>
        <p:spPr>
          <a:xfrm>
            <a:off x="7823200" y="4752171"/>
            <a:ext cx="3505199" cy="1377696"/>
          </a:xfrm>
          <a:prstGeom prst="rect">
            <a:avLst/>
          </a:prstGeom>
          <a:noFill/>
          <a:ln cap="flat" cmpd="sng" w="158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CC00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 determine your net current asset requirements </a:t>
            </a:r>
            <a:endParaRPr b="1" sz="2600">
              <a:solidFill>
                <a:srgbClr val="CC00FF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1024129" y="295318"/>
            <a:ext cx="9720072" cy="1144015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/>
              <a:t>C3- HOW TO IMPROVE CASH FLOW PROBLEMS </a:t>
            </a:r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1024128" y="1794933"/>
            <a:ext cx="10642939" cy="4571999"/>
          </a:xfrm>
          <a:prstGeom prst="rect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What would be the negative impact of having a bad cash flow? Why could this lead to problems within the business?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1. not being able to pay staff wages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2. not being able to pay suppliers on time- leading to bad relationships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3. late repayments on loans/overdrafts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GB" sz="3000"/>
              <a:t>4. repossession of property or assets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t/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42" name="Google Shape;242;p3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pic>
        <p:nvPicPr>
          <p:cNvPr id="243" name="Google Shape;243;p33"/>
          <p:cNvPicPr preferRelativeResize="0"/>
          <p:nvPr/>
        </p:nvPicPr>
        <p:blipFill rotWithShape="1">
          <a:blip r:embed="rId3">
            <a:alphaModFix/>
          </a:blip>
          <a:srcRect b="16117" l="8560" r="8754" t="13746"/>
          <a:stretch/>
        </p:blipFill>
        <p:spPr>
          <a:xfrm>
            <a:off x="1703512" y="188640"/>
            <a:ext cx="8712968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1024128" y="280416"/>
            <a:ext cx="9720072" cy="10911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C3- SUGGESTED SOLUTIONS </a:t>
            </a:r>
            <a:endParaRPr u="sng"/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566928" y="1710266"/>
            <a:ext cx="10863072" cy="4487334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1524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GB" sz="2400"/>
              <a:t>Increasing revenue- How?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GB" sz="2400"/>
              <a:t>Selling off unused assets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GB" sz="2400"/>
              <a:t>Selling off inventory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GB" sz="2400"/>
              <a:t>Chasing debtors (people who owe you money) for any money owed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GB" sz="2400"/>
              <a:t>Cutting costs- what costs could you cut?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GB" sz="2400"/>
              <a:t>Delaying payment to suppliers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GB" sz="2400"/>
              <a:t>Reducing credit period offered to customers- what would be the impact on their loyalty/customer satisfaction? </a:t>
            </a:r>
            <a:endParaRPr/>
          </a:p>
          <a:p>
            <a:pPr indent="-1524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Noto Sans Symbols"/>
              <a:buChar char="❖"/>
            </a:pPr>
            <a:r>
              <a:rPr lang="en-GB" sz="2400"/>
              <a:t>Cutting back or delaying expansion plans 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1024128" y="280416"/>
            <a:ext cx="9720072" cy="1091184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CASH FLOW PRACTICE </a:t>
            </a:r>
            <a:endParaRPr u="sng"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566928" y="1710266"/>
            <a:ext cx="10863072" cy="4487334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254000" lvl="0" marL="9144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Noto Sans Symbols"/>
              <a:buChar char="❖"/>
            </a:pPr>
            <a:r>
              <a:rPr lang="en-GB" sz="4000"/>
              <a:t>Complete the ‘Jacks Garage’ cash flow practice worksheet. </a:t>
            </a:r>
            <a:endParaRPr/>
          </a:p>
          <a:p>
            <a:pPr indent="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000"/>
              <a:buFont typeface="Noto Sans Symbols"/>
              <a:buNone/>
            </a:pPr>
            <a:r>
              <a:t/>
            </a:r>
            <a:endParaRPr sz="4000"/>
          </a:p>
          <a:p>
            <a:pPr indent="-254000" lvl="0" marL="91440" rtl="0" algn="just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4000"/>
              <a:buFont typeface="Noto Sans Symbols"/>
              <a:buChar char="❖"/>
            </a:pPr>
            <a:r>
              <a:rPr lang="en-GB" sz="4000"/>
              <a:t>Peer assessment of answers. </a:t>
            </a:r>
            <a:endParaRPr sz="4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1024129" y="263483"/>
            <a:ext cx="9720072" cy="955717"/>
          </a:xfrm>
          <a:prstGeom prst="rect">
            <a:avLst/>
          </a:prstGeom>
          <a:noFill/>
          <a:ln cap="flat" cmpd="sng" w="5715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ACTIVITY </a:t>
            </a:r>
            <a:endParaRPr u="sng"/>
          </a:p>
        </p:txBody>
      </p:sp>
      <p:pic>
        <p:nvPicPr>
          <p:cNvPr descr="Screen Clipping" id="261" name="Google Shape;2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221" y="1525981"/>
            <a:ext cx="8177706" cy="47393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Clipping" id="262" name="Google Shape;26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2927" y="1763099"/>
            <a:ext cx="3461548" cy="4570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1024129" y="269332"/>
            <a:ext cx="9720072" cy="944326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en-GB" u="sng"/>
              <a:t>PLENARY </a:t>
            </a:r>
            <a:endParaRPr u="sng"/>
          </a:p>
        </p:txBody>
      </p:sp>
      <p:pic>
        <p:nvPicPr>
          <p:cNvPr descr="Screen Clipping" id="268" name="Google Shape;268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915" y="1213658"/>
            <a:ext cx="7587856" cy="5337665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