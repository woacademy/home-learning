
<file path=[Content_Types].xml><?xml version="1.0" encoding="utf-8"?>
<Types xmlns="http://schemas.openxmlformats.org/package/2006/content-types">
  <Default ContentType="image/jpeg" Extension="jpg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22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24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20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9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21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3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2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24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11.xml"/>
  <Override ContentType="application/vnd.openxmlformats-officedocument.presentationml.slide+xml" PartName="/ppt/slides/slide22.xml"/>
  <Override ContentType="application/vnd.openxmlformats-officedocument.presentationml.slide+xml" PartName="/ppt/slides/slide1.xml"/>
  <Override ContentType="application/vnd.openxmlformats-officedocument.presentationml.slide+xml" PartName="/ppt/slides/slide19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23.xml"/>
  <Override ContentType="application/vnd.openxmlformats-officedocument.presentationml.slide+xml" PartName="/ppt/slides/slide20.xml"/>
  <Override ContentType="application/vnd.openxmlformats-officedocument.presentationml.slide+xml" PartName="/ppt/slides/slide21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autoCompressPictures="0" strictFirstAndLastChars="0" saveSubsetFonts="1">
  <p:sldMasterIdLst>
    <p:sldMasterId id="2147483660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  <p:sldId id="271" r:id="rId21"/>
    <p:sldId id="272" r:id="rId22"/>
    <p:sldId id="273" r:id="rId23"/>
    <p:sldId id="274" r:id="rId24"/>
    <p:sldId id="275" r:id="rId25"/>
    <p:sldId id="276" r:id="rId26"/>
    <p:sldId id="277" r:id="rId27"/>
    <p:sldId id="278" r:id="rId28"/>
    <p:sldId id="279" r:id="rId29"/>
  </p:sldIdLst>
  <p:sldSz cy="6858000" cx="12192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/>
</file>

<file path=ppt/tableStyles.xml><?xml version="1.0" encoding="utf-8"?>
<a:tblStyleLst xmlns:a="http://schemas.openxmlformats.org/drawingml/2006/main" xmlns:r="http://schemas.openxmlformats.org/officeDocument/2006/relationships" def="{144BF97E-9D41-464B-95AD-DF05F002FB4D}">
  <a:tblStyle styleId="{144BF97E-9D41-464B-95AD-DF05F002FB4D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EFF6E7"/>
          </a:solidFill>
        </a:fill>
      </a:tcStyle>
    </a:wholeTbl>
    <a:band1H>
      <a:tcTxStyle/>
      <a:tcStyle>
        <a:fill>
          <a:solidFill>
            <a:srgbClr val="DDECCC"/>
          </a:solidFill>
        </a:fill>
      </a:tcStyle>
    </a:band1H>
    <a:band2H>
      <a:tcTxStyle/>
    </a:band2H>
    <a:band1V>
      <a:tcTxStyle/>
      <a:tcStyle>
        <a:fill>
          <a:solidFill>
            <a:srgbClr val="DDECCC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5.xml"/><Relationship Id="rId22" Type="http://schemas.openxmlformats.org/officeDocument/2006/relationships/slide" Target="slides/slide17.xml"/><Relationship Id="rId21" Type="http://schemas.openxmlformats.org/officeDocument/2006/relationships/slide" Target="slides/slide16.xml"/><Relationship Id="rId24" Type="http://schemas.openxmlformats.org/officeDocument/2006/relationships/slide" Target="slides/slide19.xml"/><Relationship Id="rId23" Type="http://schemas.openxmlformats.org/officeDocument/2006/relationships/slide" Target="slides/slide18.xml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26" Type="http://schemas.openxmlformats.org/officeDocument/2006/relationships/slide" Target="slides/slide21.xml"/><Relationship Id="rId25" Type="http://schemas.openxmlformats.org/officeDocument/2006/relationships/slide" Target="slides/slide20.xml"/><Relationship Id="rId28" Type="http://schemas.openxmlformats.org/officeDocument/2006/relationships/slide" Target="slides/slide23.xml"/><Relationship Id="rId27" Type="http://schemas.openxmlformats.org/officeDocument/2006/relationships/slide" Target="slides/slide22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29" Type="http://schemas.openxmlformats.org/officeDocument/2006/relationships/slide" Target="slides/slide24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5" Type="http://schemas.openxmlformats.org/officeDocument/2006/relationships/slide" Target="slides/slide10.xml"/><Relationship Id="rId14" Type="http://schemas.openxmlformats.org/officeDocument/2006/relationships/slide" Target="slides/slide9.xml"/><Relationship Id="rId17" Type="http://schemas.openxmlformats.org/officeDocument/2006/relationships/slide" Target="slides/slide12.xml"/><Relationship Id="rId16" Type="http://schemas.openxmlformats.org/officeDocument/2006/relationships/slide" Target="slides/slide11.xml"/><Relationship Id="rId19" Type="http://schemas.openxmlformats.org/officeDocument/2006/relationships/slide" Target="slides/slide14.xml"/><Relationship Id="rId18" Type="http://schemas.openxmlformats.org/officeDocument/2006/relationships/slide" Target="slides/slide1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98" name="Shape 9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9" name="Google Shape;99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0" name="Google Shape;100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04" name="Shape 1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5" name="Google Shape;105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6" name="Google Shape;106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10" name="Shape 1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1" name="Google Shape;111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2" name="Google Shape;112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16" name="Shape 1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7" name="Google Shape;117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8" name="Google Shape;118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4" name="Google Shape;124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29" name="Shape 12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0" name="Google Shape;130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1" name="Google Shape;131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35" name="Shape 1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6" name="Google Shape;136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7" name="Google Shape;137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41" name="Shape 1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2" name="Google Shape;142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3" name="Google Shape;143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9" name="Google Shape;149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53" name="Shape 1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4" name="Google Shape;154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5" name="Google Shape;155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66" name="Shape 1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7" name="Google Shape;167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8" name="Google Shape;168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72" name="Shape 1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3" name="Google Shape;173;p12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sp>
        <p:nvSpPr>
          <p:cNvPr id="174" name="Google Shape;174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>
            <a:noFill/>
          </a:ln>
        </p:spPr>
      </p:sp>
      <p:sp>
        <p:nvSpPr>
          <p:cNvPr id="175" name="Google Shape;175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88" name="Shape 18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9" name="Google Shape;189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0" name="Google Shape;190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94" name="Shape 1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5" name="Google Shape;195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6" name="Google Shape;196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01" name="Shape 2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2" name="Google Shape;202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3" name="Google Shape;203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8" name="Google Shape;208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9" name="Google Shape;209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14" name="Shape 21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5" name="Google Shape;215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6" name="Google Shape;216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20" name="Shape 2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1" name="Google Shape;221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2" name="Google Shape;222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30" name="Shape 2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1" name="Google Shape;231;p1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2" name="Google Shape;232;p1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36" name="Shape 2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7" name="Google Shape;237;p2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8" name="Google Shape;238;p2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44" name="Shape 2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5" name="Google Shape;245;p2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46" name="Google Shape;246;p2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50" name="Shape 2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1" name="Google Shape;251;p2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52" name="Google Shape;252;p2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56" name="Shape 2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7" name="Google Shape;257;p2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58" name="Google Shape;258;p2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63" name="Shape 2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4" name="Google Shape;264;p2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65" name="Google Shape;265;p2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, Text, and Content" type="txAndObj">
  <p:cSld name="TEXT_AND_OBJECT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609600" y="274638"/>
            <a:ext cx="10972800" cy="1143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" type="body"/>
          </p:nvPr>
        </p:nvSpPr>
        <p:spPr>
          <a:xfrm>
            <a:off x="609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2" type="body"/>
          </p:nvPr>
        </p:nvSpPr>
        <p:spPr>
          <a:xfrm>
            <a:off x="6197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0" type="dt"/>
          </p:nvPr>
        </p:nvSpPr>
        <p:spPr>
          <a:xfrm>
            <a:off x="609600" y="6245225"/>
            <a:ext cx="2844800" cy="47625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5" name="Google Shape;35;p4"/>
          <p:cNvSpPr txBox="1"/>
          <p:nvPr>
            <p:ph idx="11" type="ftr"/>
          </p:nvPr>
        </p:nvSpPr>
        <p:spPr>
          <a:xfrm>
            <a:off x="4165600" y="6245225"/>
            <a:ext cx="3860800" cy="47625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6" name="Google Shape;36;p4"/>
          <p:cNvSpPr txBox="1"/>
          <p:nvPr>
            <p:ph idx="12" type="sldNum"/>
          </p:nvPr>
        </p:nvSpPr>
        <p:spPr>
          <a:xfrm>
            <a:off x="8737600" y="6245225"/>
            <a:ext cx="2844800" cy="47625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Section Header" showMasterSp="0" type="secHead">
  <p:cSld name="SECTION_HEADER">
    <p:spTree>
      <p:nvGrpSpPr>
        <p:cNvPr id="37" name="Shape 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8" name="Google Shape;38;p5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9" name="Google Shape;39;p5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40" name="Google Shape;40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43" name="Google Shape;43;p5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44" name="Google Shape;44;p5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wo Content" type="twoObj">
  <p:cSld name="TWO_OBJECTS">
    <p:spTree>
      <p:nvGrpSpPr>
        <p:cNvPr id="45" name="Shape 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Google Shape;46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0" name="Google Shape;50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1" name="Google Shape;51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Comparison" type="twoTxTwoObj">
  <p:cSld name="TWO_OBJECTS_WITH_TEXT">
    <p:spTree>
      <p:nvGrpSpPr>
        <p:cNvPr id="52" name="Shape 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3" name="Google Shape;53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4" name="Google Shape;54;p7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5" name="Google Shape;55;p7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7" name="Google Shape;57;p7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9" name="Google Shape;59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0" name="Google Shape;60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Only" type="titleOnly">
  <p:cSld name="TITLE_ONLY">
    <p:spTree>
      <p:nvGrpSpPr>
        <p:cNvPr id="61" name="Shape 6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2" name="Google Shape;62;p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3" name="Google Shape;63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4" name="Google Shape;64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Blank" showMasterSp="0" type="blank">
  <p:cSld name="BLANK">
    <p:spTree>
      <p:nvGrpSpPr>
        <p:cNvPr id="66" name="Shape 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Content with Caption" type="objTx">
  <p:cSld name="OBJECT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73" name="Google Shape;73;p10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Picture with Caption" showMasterSp="0" type="picTx">
  <p:cSld name="PICTURE_WITH_CAPTION_TEXT">
    <p:spTree>
      <p:nvGrpSpPr>
        <p:cNvPr id="77" name="Shape 7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8" name="Google Shape;78;p11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9" name="Google Shape;79;p11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84" name="Google Shape;84;p11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Vertical Text" type="vertTx">
  <p:cSld name="VERTICAL_TEXT">
    <p:spTree>
      <p:nvGrpSpPr>
        <p:cNvPr id="85" name="Shape 8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6" name="Google Shape;86;p12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0" name="Google Shape;90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Vertical Title and Text" showMasterSp="0" type="vertTitleAndTx">
  <p:cSld name="VERTICAL_TITLE_AND_VERTICAL_TEXT"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3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3" name="Google Shape;93;p13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94" name="Google Shape;94;p1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5" name="Google Shape;95;p1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6" name="Google Shape;96;p1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7" name="Google Shape;97;p13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3" Type="http://schemas.openxmlformats.org/officeDocument/2006/relationships/theme" Target="../theme/theme1.xml"/><Relationship Id="rId12" Type="http://schemas.openxmlformats.org/officeDocument/2006/relationships/slideLayout" Target="../slideLayouts/slideLayout12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  <p:sldLayoutId id="2147483659" r:id="rId12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9.jp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Relationship Id="rId3" Type="http://schemas.openxmlformats.org/officeDocument/2006/relationships/image" Target="../media/image12.png"/><Relationship Id="rId4" Type="http://schemas.openxmlformats.org/officeDocument/2006/relationships/image" Target="../media/image3.png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Relationship Id="rId3" Type="http://schemas.openxmlformats.org/officeDocument/2006/relationships/image" Target="../media/image6.png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Relationship Id="rId3" Type="http://schemas.openxmlformats.org/officeDocument/2006/relationships/image" Target="../media/image4.jpg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6.xml"/><Relationship Id="rId3" Type="http://schemas.openxmlformats.org/officeDocument/2006/relationships/image" Target="../media/image8.png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9.xml"/></Relationships>
</file>

<file path=ppt/slides/_rels/slide2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0.xml"/><Relationship Id="rId3" Type="http://schemas.openxmlformats.org/officeDocument/2006/relationships/image" Target="../media/image5.png"/></Relationships>
</file>

<file path=ppt/slides/_rels/slide2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1.xml"/></Relationships>
</file>

<file path=ppt/slides/_rels/slide2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2.xml"/></Relationships>
</file>

<file path=ppt/slides/_rels/slide2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3.xml"/><Relationship Id="rId3" Type="http://schemas.openxmlformats.org/officeDocument/2006/relationships/image" Target="../media/image7.png"/><Relationship Id="rId4" Type="http://schemas.openxmlformats.org/officeDocument/2006/relationships/image" Target="../media/image10.png"/></Relationships>
</file>

<file path=ppt/slides/_rels/slide2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4.xml"/><Relationship Id="rId3" Type="http://schemas.openxmlformats.org/officeDocument/2006/relationships/image" Target="../media/image11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01" name="Shape 1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2" name="Google Shape;102;p14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103" name="Google Shape;103;p14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07" name="Shape 1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8" name="Google Shape;108;p1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LEARNING AIM C- FINANCIAL PLANNING AND FORECASTING </a:t>
            </a:r>
            <a:endParaRPr u="sng"/>
          </a:p>
        </p:txBody>
      </p:sp>
      <p:sp>
        <p:nvSpPr>
          <p:cNvPr id="109" name="Google Shape;109;p15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Learners will </a:t>
            </a:r>
            <a:r>
              <a:rPr i="1" lang="en-GB" sz="5000">
                <a:solidFill>
                  <a:srgbClr val="92D050"/>
                </a:solidFill>
              </a:rPr>
              <a:t>complete</a:t>
            </a:r>
            <a:r>
              <a:rPr lang="en-GB" sz="5000"/>
              <a:t> cash flow forecasts, and </a:t>
            </a:r>
            <a:r>
              <a:rPr i="1" lang="en-GB" sz="5000">
                <a:solidFill>
                  <a:srgbClr val="92D050"/>
                </a:solidFill>
              </a:rPr>
              <a:t>investigate</a:t>
            </a:r>
            <a:r>
              <a:rPr lang="en-GB" sz="5000"/>
              <a:t> the effects of positive and negative cash flow on an enterprise.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13" name="Shape 1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4" name="Google Shape;114;p16"/>
          <p:cNvSpPr txBox="1"/>
          <p:nvPr>
            <p:ph type="title"/>
          </p:nvPr>
        </p:nvSpPr>
        <p:spPr>
          <a:xfrm>
            <a:off x="1024128" y="263611"/>
            <a:ext cx="9720072" cy="1821221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 u="sng"/>
              <a:t>LEARNING AIM C- C1 AND C2</a:t>
            </a:r>
            <a:br>
              <a:rPr lang="en-GB" sz="4000" u="sng"/>
            </a:br>
            <a:r>
              <a:rPr lang="en-GB" sz="4000" u="sng"/>
              <a:t>CASH FLOW FORECASTING </a:t>
            </a:r>
            <a:br>
              <a:rPr lang="en-GB" sz="4000" u="sng"/>
            </a:br>
            <a:r>
              <a:rPr lang="en-GB" sz="4000" u="sng"/>
              <a:t>DATE: </a:t>
            </a:r>
            <a:endParaRPr sz="4000" u="sng"/>
          </a:p>
        </p:txBody>
      </p:sp>
      <p:sp>
        <p:nvSpPr>
          <p:cNvPr id="115" name="Google Shape;115;p1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Learners will </a:t>
            </a:r>
            <a:r>
              <a:rPr i="1" lang="en-GB" sz="5000">
                <a:solidFill>
                  <a:srgbClr val="92D050"/>
                </a:solidFill>
              </a:rPr>
              <a:t>complete</a:t>
            </a:r>
            <a:r>
              <a:rPr lang="en-GB" sz="5000"/>
              <a:t> cash flow forecasts, and </a:t>
            </a:r>
            <a:r>
              <a:rPr i="1" lang="en-GB" sz="5000">
                <a:solidFill>
                  <a:srgbClr val="92D050"/>
                </a:solidFill>
              </a:rPr>
              <a:t>investigate</a:t>
            </a:r>
            <a:r>
              <a:rPr lang="en-GB" sz="5000"/>
              <a:t> the effects of positive and negative cash flow on an enterprise.</a:t>
            </a:r>
            <a:endParaRPr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17"/>
          <p:cNvSpPr txBox="1"/>
          <p:nvPr>
            <p:ph type="title"/>
          </p:nvPr>
        </p:nvSpPr>
        <p:spPr>
          <a:xfrm>
            <a:off x="1109718" y="201907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CASH FLOW- LESSON 1</a:t>
            </a:r>
            <a:br>
              <a:rPr lang="en-GB" u="sng"/>
            </a:br>
            <a:r>
              <a:rPr lang="en-GB" u="sng"/>
              <a:t>DATE:  </a:t>
            </a:r>
            <a:endParaRPr u="sng"/>
          </a:p>
        </p:txBody>
      </p:sp>
      <p:sp>
        <p:nvSpPr>
          <p:cNvPr id="121" name="Google Shape;121;p17"/>
          <p:cNvSpPr/>
          <p:nvPr/>
        </p:nvSpPr>
        <p:spPr>
          <a:xfrm>
            <a:off x="1109717" y="2163818"/>
            <a:ext cx="9962835" cy="4401205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4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Objectives: 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4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 To be able to define and explain the purpose of cash flow forecasting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4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-To be able to interpret a cash flow forecast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4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25" name="Shape 1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" name="Google Shape;126;p18"/>
          <p:cNvSpPr txBox="1"/>
          <p:nvPr>
            <p:ph type="title"/>
          </p:nvPr>
        </p:nvSpPr>
        <p:spPr>
          <a:xfrm>
            <a:off x="220133" y="138796"/>
            <a:ext cx="11853334" cy="1057956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/>
              <a:t>C1 AND C2- USING CASH FLOW DATA &amp; FINANCIAL FORECASTING</a:t>
            </a:r>
            <a:endParaRPr sz="4000"/>
          </a:p>
        </p:txBody>
      </p:sp>
      <p:pic>
        <p:nvPicPr>
          <p:cNvPr id="127" name="Google Shape;127;p18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575720" y="1196752"/>
            <a:ext cx="5208240" cy="4450804"/>
          </a:xfrm>
          <a:prstGeom prst="rect">
            <a:avLst/>
          </a:prstGeom>
          <a:noFill/>
          <a:ln>
            <a:noFill/>
          </a:ln>
        </p:spPr>
      </p:pic>
      <p:sp>
        <p:nvSpPr>
          <p:cNvPr id="128" name="Google Shape;128;p18"/>
          <p:cNvSpPr txBox="1"/>
          <p:nvPr/>
        </p:nvSpPr>
        <p:spPr>
          <a:xfrm>
            <a:off x="369644" y="5940584"/>
            <a:ext cx="11318676" cy="461665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Starter: Why is a checking a weather forecast helpful? What are the pros and cons of this? </a:t>
            </a:r>
            <a:endParaRPr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32" name="Shape 1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3" name="Google Shape;133;p19"/>
          <p:cNvSpPr txBox="1"/>
          <p:nvPr>
            <p:ph type="title"/>
          </p:nvPr>
        </p:nvSpPr>
        <p:spPr>
          <a:xfrm>
            <a:off x="829733" y="304800"/>
            <a:ext cx="10938934" cy="1010651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WHAT IS A CASH FLOW FORECAST?</a:t>
            </a:r>
            <a:endParaRPr u="sng"/>
          </a:p>
        </p:txBody>
      </p:sp>
      <p:sp>
        <p:nvSpPr>
          <p:cNvPr id="134" name="Google Shape;134;p19"/>
          <p:cNvSpPr txBox="1"/>
          <p:nvPr>
            <p:ph idx="1" type="body"/>
          </p:nvPr>
        </p:nvSpPr>
        <p:spPr>
          <a:xfrm>
            <a:off x="829733" y="1633239"/>
            <a:ext cx="10938934" cy="439502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None/>
            </a:pPr>
            <a:r>
              <a:t/>
            </a:r>
            <a:endParaRPr b="1" sz="3200"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b="1" lang="en-GB" sz="3200" u="sng"/>
              <a:t>Cash flow: </a:t>
            </a:r>
            <a:r>
              <a:rPr b="1" lang="en-GB" sz="3200"/>
              <a:t>The flow of cash into and out of the business.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None/>
            </a:pPr>
            <a:r>
              <a:t/>
            </a:r>
            <a:endParaRPr b="1" sz="3200"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b="1" lang="en-GB" sz="3200"/>
              <a:t>Shows the amount of cash flowing into the business and the amount of cash flowing out of the business. </a:t>
            </a:r>
            <a:endParaRPr b="1" sz="3200"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38" name="Shape 1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9" name="Google Shape;139;p20"/>
          <p:cNvSpPr txBox="1"/>
          <p:nvPr>
            <p:ph type="title"/>
          </p:nvPr>
        </p:nvSpPr>
        <p:spPr>
          <a:xfrm>
            <a:off x="829733" y="304800"/>
            <a:ext cx="10938934" cy="1010651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OTHER KEY TERMS: </a:t>
            </a:r>
            <a:endParaRPr u="sng"/>
          </a:p>
        </p:txBody>
      </p:sp>
      <p:sp>
        <p:nvSpPr>
          <p:cNvPr id="140" name="Google Shape;140;p20"/>
          <p:cNvSpPr txBox="1"/>
          <p:nvPr>
            <p:ph idx="1" type="body"/>
          </p:nvPr>
        </p:nvSpPr>
        <p:spPr>
          <a:xfrm>
            <a:off x="829733" y="1633239"/>
            <a:ext cx="10938934" cy="439502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032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Cash flow statement: </a:t>
            </a:r>
            <a:r>
              <a:rPr lang="en-GB" sz="3200"/>
              <a:t>the cash inflows and the cash outflows over the past 12 months.</a:t>
            </a:r>
            <a:endParaRPr b="1" sz="3200"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Cash flow forecast: </a:t>
            </a:r>
            <a:r>
              <a:rPr lang="en-GB" sz="3200"/>
              <a:t>outlines the forecasted future cash inflows (from sales) and the outflows (such as raw materials, wages) per month over a period.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Sales: </a:t>
            </a:r>
            <a:r>
              <a:rPr lang="en-GB" sz="3200"/>
              <a:t>A </a:t>
            </a:r>
            <a:r>
              <a:rPr b="1" lang="en-GB" sz="3200"/>
              <a:t>sale</a:t>
            </a:r>
            <a:r>
              <a:rPr lang="en-GB" sz="3200"/>
              <a:t> is an exchange of money for goods, services,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Purchases: </a:t>
            </a:r>
            <a:r>
              <a:rPr lang="en-GB" sz="2800"/>
              <a:t>is the formal process of </a:t>
            </a:r>
            <a:r>
              <a:rPr b="1" lang="en-GB" sz="2800"/>
              <a:t>buying goods</a:t>
            </a:r>
            <a:r>
              <a:rPr lang="en-GB" sz="2800"/>
              <a:t> and services</a:t>
            </a:r>
            <a:endParaRPr b="1" sz="3200"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44" name="Shape 1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Google Shape;145;p21"/>
          <p:cNvSpPr txBox="1"/>
          <p:nvPr>
            <p:ph type="title"/>
          </p:nvPr>
        </p:nvSpPr>
        <p:spPr>
          <a:xfrm>
            <a:off x="999067" y="332656"/>
            <a:ext cx="10600266" cy="1499616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CASH FLOW FORECAST INCLUDES…</a:t>
            </a:r>
            <a:endParaRPr/>
          </a:p>
        </p:txBody>
      </p:sp>
      <p:sp>
        <p:nvSpPr>
          <p:cNvPr id="146" name="Google Shape;146;p21"/>
          <p:cNvSpPr txBox="1"/>
          <p:nvPr>
            <p:ph idx="1" type="body"/>
          </p:nvPr>
        </p:nvSpPr>
        <p:spPr>
          <a:xfrm>
            <a:off x="999067" y="2238731"/>
            <a:ext cx="10600266" cy="3772602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18745" lvl="0" marL="91440" rtl="0" algn="l">
              <a:lnSpc>
                <a:spcPct val="190000"/>
              </a:lnSpc>
              <a:spcBef>
                <a:spcPts val="0"/>
              </a:spcBef>
              <a:spcAft>
                <a:spcPts val="0"/>
              </a:spcAft>
              <a:buSzPts val="1870"/>
              <a:buFont typeface="Noto Sans Symbols"/>
              <a:buChar char="❖"/>
            </a:pPr>
            <a:r>
              <a:rPr lang="en-GB" sz="1870"/>
              <a:t> </a:t>
            </a:r>
            <a:r>
              <a:rPr b="1" lang="en-GB" sz="2720"/>
              <a:t>An Opening Balance</a:t>
            </a:r>
            <a:endParaRPr/>
          </a:p>
          <a:p>
            <a:pPr indent="-172720" lvl="0" marL="91440" rtl="0" algn="l">
              <a:lnSpc>
                <a:spcPct val="190000"/>
              </a:lnSpc>
              <a:spcBef>
                <a:spcPts val="1400"/>
              </a:spcBef>
              <a:spcAft>
                <a:spcPts val="0"/>
              </a:spcAft>
              <a:buSzPts val="2720"/>
              <a:buFont typeface="Noto Sans Symbols"/>
              <a:buChar char="❖"/>
            </a:pPr>
            <a:r>
              <a:rPr b="1" lang="en-GB" sz="2720"/>
              <a:t>Details of expected Cash Inflows</a:t>
            </a:r>
            <a:endParaRPr/>
          </a:p>
          <a:p>
            <a:pPr indent="-172720" lvl="0" marL="91440" rtl="0" algn="l">
              <a:lnSpc>
                <a:spcPct val="190000"/>
              </a:lnSpc>
              <a:spcBef>
                <a:spcPts val="1400"/>
              </a:spcBef>
              <a:spcAft>
                <a:spcPts val="0"/>
              </a:spcAft>
              <a:buSzPts val="2720"/>
              <a:buFont typeface="Noto Sans Symbols"/>
              <a:buChar char="❖"/>
            </a:pPr>
            <a:r>
              <a:rPr b="1" lang="en-GB" sz="2720"/>
              <a:t>Details of expected Cash Outflows</a:t>
            </a:r>
            <a:endParaRPr/>
          </a:p>
          <a:p>
            <a:pPr indent="-172720" lvl="0" marL="91440" rtl="0" algn="l">
              <a:lnSpc>
                <a:spcPct val="190000"/>
              </a:lnSpc>
              <a:spcBef>
                <a:spcPts val="1400"/>
              </a:spcBef>
              <a:spcAft>
                <a:spcPts val="0"/>
              </a:spcAft>
              <a:buSzPts val="2720"/>
              <a:buFont typeface="Noto Sans Symbols"/>
              <a:buChar char="❖"/>
            </a:pPr>
            <a:r>
              <a:rPr b="1" lang="en-GB" sz="2720"/>
              <a:t>A Closing Balance</a:t>
            </a:r>
            <a:endParaRPr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50" name="Shape 1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" name="Google Shape;151;p22"/>
          <p:cNvSpPr txBox="1"/>
          <p:nvPr>
            <p:ph type="title"/>
          </p:nvPr>
        </p:nvSpPr>
        <p:spPr>
          <a:xfrm>
            <a:off x="1970861" y="220039"/>
            <a:ext cx="8229600" cy="1143000"/>
          </a:xfrm>
          <a:prstGeom prst="rect">
            <a:avLst/>
          </a:prstGeom>
          <a:noFill/>
          <a:ln cap="flat" cmpd="sng" w="5715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/>
              <a:t>CONTINUED…</a:t>
            </a:r>
            <a:endParaRPr b="1"/>
          </a:p>
        </p:txBody>
      </p:sp>
      <p:sp>
        <p:nvSpPr>
          <p:cNvPr id="152" name="Google Shape;152;p22"/>
          <p:cNvSpPr txBox="1"/>
          <p:nvPr>
            <p:ph idx="1" type="body"/>
          </p:nvPr>
        </p:nvSpPr>
        <p:spPr>
          <a:xfrm>
            <a:off x="660400" y="1828799"/>
            <a:ext cx="11277599" cy="409786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032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/>
              <a:t>The difference between the inflows and outflows is called the </a:t>
            </a:r>
            <a:r>
              <a:rPr b="1" lang="en-GB" sz="3200">
                <a:solidFill>
                  <a:srgbClr val="FF0000"/>
                </a:solidFill>
              </a:rPr>
              <a:t>net cash flow</a:t>
            </a:r>
            <a:r>
              <a:rPr b="1" lang="en-GB" sz="3200"/>
              <a:t>.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>
                <a:solidFill>
                  <a:srgbClr val="FF0000"/>
                </a:solidFill>
              </a:rPr>
              <a:t>Positive net cash flow- </a:t>
            </a:r>
            <a:r>
              <a:rPr b="1" lang="en-GB" sz="3200"/>
              <a:t>inflows are greater than outflows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>
                <a:solidFill>
                  <a:srgbClr val="FF0000"/>
                </a:solidFill>
              </a:rPr>
              <a:t>Negative net cash flow- </a:t>
            </a:r>
            <a:r>
              <a:rPr b="1" lang="en-GB" sz="3200"/>
              <a:t>inflows are not enough to cover out flows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>
                <a:solidFill>
                  <a:srgbClr val="FF0000"/>
                </a:solidFill>
              </a:rPr>
              <a:t>Balance- </a:t>
            </a:r>
            <a:r>
              <a:rPr b="1" lang="en-GB" sz="3200"/>
              <a:t>the amount of money in a business’ account at any time</a:t>
            </a:r>
            <a:endParaRPr b="1" sz="3200"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56" name="Shape 1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7" name="Google Shape;157;p23"/>
          <p:cNvSpPr txBox="1"/>
          <p:nvPr>
            <p:ph type="title"/>
          </p:nvPr>
        </p:nvSpPr>
        <p:spPr>
          <a:xfrm>
            <a:off x="696987" y="124232"/>
            <a:ext cx="11463867" cy="1503363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200"/>
              <a:buFont typeface="Twentieth Century"/>
              <a:buNone/>
            </a:pPr>
            <a:r>
              <a:rPr b="1" lang="en-GB" sz="4200" u="sng"/>
              <a:t>THINK, PAIR, SHARE: </a:t>
            </a:r>
            <a:br>
              <a:rPr b="1" lang="en-GB" sz="4200" u="sng"/>
            </a:br>
            <a:r>
              <a:rPr b="1" lang="en-GB" sz="4200" u="sng"/>
              <a:t>WHAT DOES A CASH FLOW FORECAST SHOW?</a:t>
            </a:r>
            <a:endParaRPr/>
          </a:p>
        </p:txBody>
      </p:sp>
      <p:pic>
        <p:nvPicPr>
          <p:cNvPr descr="MC900437685[1]" id="158" name="Google Shape;158;p23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303912" y="2820988"/>
            <a:ext cx="1733550" cy="1809750"/>
          </a:xfrm>
          <a:prstGeom prst="rect">
            <a:avLst/>
          </a:prstGeom>
          <a:noFill/>
          <a:ln>
            <a:noFill/>
          </a:ln>
        </p:spPr>
      </p:pic>
      <p:sp>
        <p:nvSpPr>
          <p:cNvPr id="159" name="Google Shape;159;p23"/>
          <p:cNvSpPr txBox="1"/>
          <p:nvPr/>
        </p:nvSpPr>
        <p:spPr>
          <a:xfrm>
            <a:off x="696987" y="2317750"/>
            <a:ext cx="3816350" cy="861774"/>
          </a:xfrm>
          <a:prstGeom prst="rect">
            <a:avLst/>
          </a:prstGeom>
          <a:solidFill>
            <a:srgbClr val="FFCC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500">
                <a:solidFill>
                  <a:srgbClr val="0070C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INFLOWS</a:t>
            </a:r>
            <a:r>
              <a:rPr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 refers to money received by the business</a:t>
            </a:r>
            <a:endParaRPr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60" name="Google Shape;160;p23"/>
          <p:cNvSpPr txBox="1"/>
          <p:nvPr/>
        </p:nvSpPr>
        <p:spPr>
          <a:xfrm>
            <a:off x="696987" y="3254376"/>
            <a:ext cx="3814762" cy="2785378"/>
          </a:xfrm>
          <a:prstGeom prst="rect">
            <a:avLst/>
          </a:prstGeom>
          <a:solidFill>
            <a:srgbClr val="008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500">
                <a:solidFill>
                  <a:schemeClr val="folHlink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EXAMPLES: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Sales revenue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Capital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Loans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Grants</a:t>
            </a:r>
            <a:endParaRPr b="1"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pic>
        <p:nvPicPr>
          <p:cNvPr descr="MC900432618[1]" id="161" name="Google Shape;161;p23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4583188" y="2605088"/>
            <a:ext cx="554037" cy="1828800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MC900432618[1]" id="162" name="Google Shape;162;p23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7175575" y="2678113"/>
            <a:ext cx="627063" cy="1828800"/>
          </a:xfrm>
          <a:prstGeom prst="rect">
            <a:avLst/>
          </a:prstGeom>
          <a:noFill/>
          <a:ln>
            <a:noFill/>
          </a:ln>
        </p:spPr>
      </p:pic>
      <p:sp>
        <p:nvSpPr>
          <p:cNvPr id="163" name="Google Shape;163;p23"/>
          <p:cNvSpPr txBox="1"/>
          <p:nvPr/>
        </p:nvSpPr>
        <p:spPr>
          <a:xfrm>
            <a:off x="7824861" y="2317750"/>
            <a:ext cx="3571271" cy="1246495"/>
          </a:xfrm>
          <a:prstGeom prst="rect">
            <a:avLst/>
          </a:prstGeom>
          <a:solidFill>
            <a:srgbClr val="FFCC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500">
                <a:solidFill>
                  <a:srgbClr val="0070C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OUTFLOWS</a:t>
            </a:r>
            <a:r>
              <a:rPr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 refers to money paid out by the business</a:t>
            </a:r>
            <a:endParaRPr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64" name="Google Shape;164;p23"/>
          <p:cNvSpPr txBox="1"/>
          <p:nvPr/>
        </p:nvSpPr>
        <p:spPr>
          <a:xfrm>
            <a:off x="7824861" y="3592513"/>
            <a:ext cx="3723671" cy="2785378"/>
          </a:xfrm>
          <a:prstGeom prst="rect">
            <a:avLst/>
          </a:prstGeom>
          <a:solidFill>
            <a:srgbClr val="008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500">
                <a:solidFill>
                  <a:schemeClr val="folHlink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EXAMPLES: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Purchases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Rent </a:t>
            </a:r>
            <a:endParaRPr b="1"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Wages &amp; Salaries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Other purchases</a:t>
            </a:r>
            <a:endParaRPr b="1"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65" name="Google Shape;165;p23"/>
          <p:cNvSpPr txBox="1"/>
          <p:nvPr/>
        </p:nvSpPr>
        <p:spPr>
          <a:xfrm>
            <a:off x="5161037" y="4622801"/>
            <a:ext cx="2089150" cy="36671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</a:t>
            </a:r>
            <a:endParaRPr b="1"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mc:AlternateContent>
    <mc:Choice Requires="p14">
      <p:transition spd="slow" p14:dur="14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fill="hold" nodeType="with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69" name="Shape 16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0" name="Google Shape;170;p24"/>
          <p:cNvSpPr txBox="1"/>
          <p:nvPr>
            <p:ph type="title"/>
          </p:nvPr>
        </p:nvSpPr>
        <p:spPr>
          <a:xfrm>
            <a:off x="1185333" y="348149"/>
            <a:ext cx="10295467" cy="125960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/>
              <a:t>STARTER: PUT THE FOLLOWING INTO EITHER INFLOWS OR OUTFLOWS </a:t>
            </a:r>
            <a:endParaRPr/>
          </a:p>
        </p:txBody>
      </p:sp>
      <p:sp>
        <p:nvSpPr>
          <p:cNvPr id="171" name="Google Shape;171;p24"/>
          <p:cNvSpPr txBox="1"/>
          <p:nvPr>
            <p:ph idx="1" type="body"/>
          </p:nvPr>
        </p:nvSpPr>
        <p:spPr>
          <a:xfrm>
            <a:off x="1185333" y="1879600"/>
            <a:ext cx="10295467" cy="480906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032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Rent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Salary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Loan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Revenue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Utilities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Overdraft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Supplier payment 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Taxes </a:t>
            </a:r>
            <a:endParaRPr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76" name="Shape 17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7" name="Google Shape;177;p25"/>
          <p:cNvSpPr txBox="1"/>
          <p:nvPr>
            <p:ph type="title"/>
          </p:nvPr>
        </p:nvSpPr>
        <p:spPr>
          <a:xfrm>
            <a:off x="2449386" y="41204"/>
            <a:ext cx="7290054" cy="795508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THE IMPORTANCE OF CASH</a:t>
            </a:r>
            <a:endParaRPr/>
          </a:p>
        </p:txBody>
      </p:sp>
      <p:sp>
        <p:nvSpPr>
          <p:cNvPr id="178" name="Google Shape;178;p25"/>
          <p:cNvSpPr txBox="1"/>
          <p:nvPr>
            <p:ph idx="1" type="body"/>
          </p:nvPr>
        </p:nvSpPr>
        <p:spPr>
          <a:xfrm>
            <a:off x="1847528" y="818219"/>
            <a:ext cx="8229600" cy="965200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If a business does not have cash then the following problems could occur. Copy this into your books</a:t>
            </a:r>
            <a:endParaRPr/>
          </a:p>
        </p:txBody>
      </p:sp>
      <p:sp>
        <p:nvSpPr>
          <p:cNvPr id="179" name="Google Shape;179;p25"/>
          <p:cNvSpPr/>
          <p:nvPr/>
        </p:nvSpPr>
        <p:spPr>
          <a:xfrm>
            <a:off x="4008439" y="1916114"/>
            <a:ext cx="3671887" cy="649287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has a lack of cash</a:t>
            </a:r>
            <a:endParaRPr/>
          </a:p>
        </p:txBody>
      </p:sp>
      <p:sp>
        <p:nvSpPr>
          <p:cNvPr id="180" name="Google Shape;180;p25"/>
          <p:cNvSpPr/>
          <p:nvPr/>
        </p:nvSpPr>
        <p:spPr>
          <a:xfrm>
            <a:off x="4008439" y="2997200"/>
            <a:ext cx="3671887" cy="649288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is unable to pay bills/staff</a:t>
            </a:r>
            <a:endParaRPr/>
          </a:p>
        </p:txBody>
      </p:sp>
      <p:sp>
        <p:nvSpPr>
          <p:cNvPr id="181" name="Google Shape;181;p25"/>
          <p:cNvSpPr/>
          <p:nvPr/>
        </p:nvSpPr>
        <p:spPr>
          <a:xfrm>
            <a:off x="4008439" y="4005264"/>
            <a:ext cx="3671887" cy="865187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Suppliers stop delivering as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they have not been paid.</a:t>
            </a:r>
            <a:endParaRPr/>
          </a:p>
        </p:txBody>
      </p:sp>
      <p:sp>
        <p:nvSpPr>
          <p:cNvPr id="182" name="Google Shape;182;p25"/>
          <p:cNvSpPr/>
          <p:nvPr/>
        </p:nvSpPr>
        <p:spPr>
          <a:xfrm>
            <a:off x="4008439" y="5229225"/>
            <a:ext cx="3671887" cy="649288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may be taken to court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because they can’t pay creditors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(people they owe money to)</a:t>
            </a:r>
            <a:endParaRPr/>
          </a:p>
        </p:txBody>
      </p:sp>
      <p:sp>
        <p:nvSpPr>
          <p:cNvPr id="183" name="Google Shape;183;p25"/>
          <p:cNvSpPr/>
          <p:nvPr/>
        </p:nvSpPr>
        <p:spPr>
          <a:xfrm>
            <a:off x="4008439" y="6164264"/>
            <a:ext cx="3671887" cy="649287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becomes insolvent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(can no longer pay its debts)</a:t>
            </a:r>
            <a:endParaRPr/>
          </a:p>
        </p:txBody>
      </p:sp>
      <p:sp>
        <p:nvSpPr>
          <p:cNvPr id="184" name="Google Shape;184;p25"/>
          <p:cNvSpPr/>
          <p:nvPr/>
        </p:nvSpPr>
        <p:spPr>
          <a:xfrm>
            <a:off x="5592764" y="2636839"/>
            <a:ext cx="503237" cy="287337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85" name="Google Shape;185;p25"/>
          <p:cNvSpPr/>
          <p:nvPr/>
        </p:nvSpPr>
        <p:spPr>
          <a:xfrm>
            <a:off x="5591175" y="3717925"/>
            <a:ext cx="503238" cy="287338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86" name="Google Shape;186;p25"/>
          <p:cNvSpPr/>
          <p:nvPr/>
        </p:nvSpPr>
        <p:spPr>
          <a:xfrm>
            <a:off x="5591175" y="4868864"/>
            <a:ext cx="503238" cy="287337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87" name="Google Shape;187;p25"/>
          <p:cNvSpPr/>
          <p:nvPr/>
        </p:nvSpPr>
        <p:spPr>
          <a:xfrm>
            <a:off x="5591175" y="5878514"/>
            <a:ext cx="503238" cy="287337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7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91" name="Shape 1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2" name="Google Shape;192;p26"/>
          <p:cNvSpPr txBox="1"/>
          <p:nvPr>
            <p:ph type="title"/>
          </p:nvPr>
        </p:nvSpPr>
        <p:spPr>
          <a:xfrm>
            <a:off x="1185333" y="348149"/>
            <a:ext cx="10295467" cy="125960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/>
              <a:t>THIS IS WHAT A CASH FLOW LOOKS LIKE…</a:t>
            </a:r>
            <a:endParaRPr sz="4000"/>
          </a:p>
        </p:txBody>
      </p:sp>
      <p:pic>
        <p:nvPicPr>
          <p:cNvPr id="193" name="Google Shape;193;p2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676589" y="1867133"/>
            <a:ext cx="9312954" cy="4822592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97" name="Shape 1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8" name="Google Shape;198;p2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</a:t>
            </a:r>
            <a:endParaRPr u="sng"/>
          </a:p>
        </p:txBody>
      </p:sp>
      <p:sp>
        <p:nvSpPr>
          <p:cNvPr id="199" name="Google Shape;199;p27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lang="en-GB" sz="4000"/>
              <a:t>Complete the </a:t>
            </a:r>
            <a:r>
              <a:rPr lang="en-GB" sz="4000" u="sng">
                <a:solidFill>
                  <a:srgbClr val="FF00FF"/>
                </a:solidFill>
              </a:rPr>
              <a:t>Cash flow worksheets 1 and 2. </a:t>
            </a:r>
            <a:endParaRPr sz="4000"/>
          </a:p>
        </p:txBody>
      </p:sp>
      <p:pic>
        <p:nvPicPr>
          <p:cNvPr id="200" name="Google Shape;200;p2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081867" y="3370817"/>
            <a:ext cx="5215466" cy="313971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04" name="Shape 2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5" name="Google Shape;205;p2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QUIZ (OUT OF 5) </a:t>
            </a:r>
            <a:endParaRPr/>
          </a:p>
        </p:txBody>
      </p:sp>
      <p:sp>
        <p:nvSpPr>
          <p:cNvPr id="206" name="Google Shape;206;p28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742950" lvl="0" marL="742950" rtl="0" algn="just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an opening balance?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a closing balance?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net cash flow?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two things must you add together to get the closing balance?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the difference between inflows and outflows?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10" name="Shape 2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1" name="Google Shape;211;p29"/>
          <p:cNvSpPr txBox="1"/>
          <p:nvPr>
            <p:ph type="title"/>
          </p:nvPr>
        </p:nvSpPr>
        <p:spPr>
          <a:xfrm>
            <a:off x="2415869" y="248056"/>
            <a:ext cx="7290054" cy="89956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 u="sng"/>
              <a:t>PLENARY- COMPLETE THE MISSING GAPS </a:t>
            </a:r>
            <a:endParaRPr sz="4000" u="sng"/>
          </a:p>
        </p:txBody>
      </p:sp>
      <p:pic>
        <p:nvPicPr>
          <p:cNvPr descr="Screen Clipping" id="212" name="Google Shape;212;p29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584329" y="1255149"/>
            <a:ext cx="8714769" cy="3384376"/>
          </a:xfrm>
          <a:prstGeom prst="rect">
            <a:avLst/>
          </a:prstGeom>
          <a:noFill/>
          <a:ln>
            <a:noFill/>
          </a:ln>
        </p:spPr>
      </p:pic>
      <p:graphicFrame>
        <p:nvGraphicFramePr>
          <p:cNvPr id="213" name="Google Shape;213;p29"/>
          <p:cNvGraphicFramePr/>
          <p:nvPr/>
        </p:nvGraphicFramePr>
        <p:xfrm>
          <a:off x="1584329" y="4836160"/>
          <a:ext cx="3000000" cy="3000000"/>
        </p:xfrm>
        <a:graphic>
          <a:graphicData uri="http://schemas.openxmlformats.org/drawingml/2006/table">
            <a:tbl>
              <a:tblPr bandRow="1" firstCol="1" firstRow="1">
                <a:noFill/>
                <a:tableStyleId>{144BF97E-9D41-464B-95AD-DF05F002FB4D}</a:tableStyleId>
              </a:tblPr>
              <a:tblGrid>
                <a:gridCol w="4357375"/>
                <a:gridCol w="4357375"/>
              </a:tblGrid>
              <a:tr h="2032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Total Outflow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All expenses added together</a:t>
                      </a:r>
                      <a:endParaRPr/>
                    </a:p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 </a:t>
                      </a:r>
                      <a:endParaRPr sz="1600" u="none" cap="none" strike="noStrike"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</a:tr>
              <a:tr h="2032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Net Cash flow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Inflows minus outflows (Inflow-outflow)</a:t>
                      </a:r>
                      <a:endParaRPr/>
                    </a:p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Receipts minus payments</a:t>
                      </a:r>
                      <a:endParaRPr sz="1600" u="none" cap="none" strike="noStrike"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</a:tr>
              <a:tr h="2032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Opening Bank Balance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Is the closing bank balance of the previous month</a:t>
                      </a:r>
                      <a:endParaRPr sz="1600" u="none" cap="none" strike="noStrike"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</a:tr>
              <a:tr h="1466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Closing Bank Balance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Opening bank balance + Net cash flow</a:t>
                      </a:r>
                      <a:endParaRPr sz="1600" u="none" cap="none" strike="noStrike"/>
                    </a:p>
                  </a:txBody>
                  <a:tcPr marT="0" marB="0" marR="68575" marL="68575"/>
                </a:tc>
              </a:tr>
            </a:tbl>
          </a:graphicData>
        </a:graphic>
      </p:graphicFrame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17" name="Shape 2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8" name="Google Shape;218;p30"/>
          <p:cNvSpPr txBox="1"/>
          <p:nvPr>
            <p:ph type="title"/>
          </p:nvPr>
        </p:nvSpPr>
        <p:spPr>
          <a:xfrm>
            <a:off x="1126344" y="285034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CASH FLOW- LESSON 2 </a:t>
            </a:r>
            <a:br>
              <a:rPr lang="en-GB" u="sng"/>
            </a:br>
            <a:r>
              <a:rPr lang="en-GB" u="sng"/>
              <a:t>DATE: </a:t>
            </a:r>
            <a:endParaRPr u="sng"/>
          </a:p>
        </p:txBody>
      </p:sp>
      <p:sp>
        <p:nvSpPr>
          <p:cNvPr id="219" name="Google Shape;219;p30"/>
          <p:cNvSpPr/>
          <p:nvPr/>
        </p:nvSpPr>
        <p:spPr>
          <a:xfrm>
            <a:off x="1109717" y="2163818"/>
            <a:ext cx="9962835" cy="3970318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Objectives: 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 To be able to explain the importance of a cash flow forecast </a:t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-To be able analyse the various ways of improving cash flow </a:t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23" name="Shape 22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4" name="Google Shape;224;p31"/>
          <p:cNvSpPr txBox="1"/>
          <p:nvPr>
            <p:ph type="title"/>
          </p:nvPr>
        </p:nvSpPr>
        <p:spPr>
          <a:xfrm>
            <a:off x="871727" y="222843"/>
            <a:ext cx="10846139" cy="1499616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WHAT IS THE PURPOSE OF A CASH FLOW FORECAST? </a:t>
            </a:r>
            <a:endParaRPr u="sng"/>
          </a:p>
        </p:txBody>
      </p:sp>
      <p:sp>
        <p:nvSpPr>
          <p:cNvPr id="225" name="Google Shape;225;p31"/>
          <p:cNvSpPr/>
          <p:nvPr/>
        </p:nvSpPr>
        <p:spPr>
          <a:xfrm>
            <a:off x="3780196" y="2680208"/>
            <a:ext cx="4792133" cy="2218267"/>
          </a:xfrm>
          <a:prstGeom prst="cloudCallout">
            <a:avLst>
              <a:gd fmla="val -20833" name="adj1"/>
              <a:gd fmla="val 62500" name="adj2"/>
            </a:avLst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5000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Why? </a:t>
            </a:r>
            <a:endParaRPr sz="50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6" name="Google Shape;226;p31"/>
          <p:cNvSpPr/>
          <p:nvPr/>
        </p:nvSpPr>
        <p:spPr>
          <a:xfrm>
            <a:off x="423332" y="2286000"/>
            <a:ext cx="3140795" cy="999067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identify the money coming in</a:t>
            </a:r>
            <a:endParaRPr b="1" sz="26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7" name="Google Shape;227;p31"/>
          <p:cNvSpPr/>
          <p:nvPr/>
        </p:nvSpPr>
        <p:spPr>
          <a:xfrm>
            <a:off x="8788399" y="1787483"/>
            <a:ext cx="2709334" cy="1497584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inform business decisions </a:t>
            </a:r>
            <a:endParaRPr b="1" sz="26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8" name="Google Shape;228;p31"/>
          <p:cNvSpPr/>
          <p:nvPr/>
        </p:nvSpPr>
        <p:spPr>
          <a:xfrm>
            <a:off x="520193" y="5108108"/>
            <a:ext cx="3361605" cy="1409531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know whether you have enough to pay for day to day running of business </a:t>
            </a:r>
            <a:endParaRPr b="1" sz="24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9" name="Google Shape;229;p31"/>
          <p:cNvSpPr/>
          <p:nvPr/>
        </p:nvSpPr>
        <p:spPr>
          <a:xfrm>
            <a:off x="7823200" y="4752171"/>
            <a:ext cx="3505199" cy="1377696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determine your net current asset requirements </a:t>
            </a:r>
            <a:endParaRPr b="1" sz="26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33" name="Shape 2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4" name="Google Shape;234;p32"/>
          <p:cNvSpPr txBox="1"/>
          <p:nvPr>
            <p:ph type="title"/>
          </p:nvPr>
        </p:nvSpPr>
        <p:spPr>
          <a:xfrm>
            <a:off x="1024129" y="295318"/>
            <a:ext cx="9720072" cy="1144015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C3- HOW TO IMPROVE CASH FLOW PROBLEMS </a:t>
            </a:r>
            <a:endParaRPr/>
          </a:p>
        </p:txBody>
      </p:sp>
      <p:sp>
        <p:nvSpPr>
          <p:cNvPr id="235" name="Google Shape;235;p32"/>
          <p:cNvSpPr txBox="1"/>
          <p:nvPr>
            <p:ph idx="1" type="body"/>
          </p:nvPr>
        </p:nvSpPr>
        <p:spPr>
          <a:xfrm>
            <a:off x="1024128" y="1794933"/>
            <a:ext cx="10642939" cy="4571999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What would be the negative impact of having a bad cash flow? Why could this lead to problems within the business?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1. not being able to pay staff wages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2. not being able to pay suppliers on time- leading to bad relationships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3. late repayments on loans/overdrafts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4. repossession of property or assets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39" name="Shape 2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0" name="Google Shape;240;p33"/>
          <p:cNvSpPr txBox="1"/>
          <p:nvPr>
            <p:ph type="title"/>
          </p:nvPr>
        </p:nvSpPr>
        <p:spPr>
          <a:xfrm>
            <a:off x="609600" y="274638"/>
            <a:ext cx="10972800" cy="1143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t/>
            </a:r>
            <a:endParaRPr/>
          </a:p>
        </p:txBody>
      </p:sp>
      <p:sp>
        <p:nvSpPr>
          <p:cNvPr id="241" name="Google Shape;241;p33"/>
          <p:cNvSpPr txBox="1"/>
          <p:nvPr>
            <p:ph idx="1" type="body"/>
          </p:nvPr>
        </p:nvSpPr>
        <p:spPr>
          <a:xfrm>
            <a:off x="609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sp>
        <p:nvSpPr>
          <p:cNvPr id="242" name="Google Shape;242;p33"/>
          <p:cNvSpPr txBox="1"/>
          <p:nvPr>
            <p:ph idx="2" type="body"/>
          </p:nvPr>
        </p:nvSpPr>
        <p:spPr>
          <a:xfrm>
            <a:off x="6197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pic>
        <p:nvPicPr>
          <p:cNvPr id="243" name="Google Shape;243;p33"/>
          <p:cNvPicPr preferRelativeResize="0"/>
          <p:nvPr/>
        </p:nvPicPr>
        <p:blipFill rotWithShape="1">
          <a:blip r:embed="rId3">
            <a:alphaModFix/>
          </a:blip>
          <a:srcRect b="16117" l="8560" r="8754" t="13746"/>
          <a:stretch/>
        </p:blipFill>
        <p:spPr>
          <a:xfrm>
            <a:off x="1703512" y="188640"/>
            <a:ext cx="8712968" cy="648072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47" name="Shape 2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8" name="Google Shape;248;p34"/>
          <p:cNvSpPr txBox="1"/>
          <p:nvPr>
            <p:ph type="title"/>
          </p:nvPr>
        </p:nvSpPr>
        <p:spPr>
          <a:xfrm>
            <a:off x="1024128" y="280416"/>
            <a:ext cx="9720072" cy="10911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C3- SUGGESTED SOLUTIONS </a:t>
            </a:r>
            <a:endParaRPr u="sng"/>
          </a:p>
        </p:txBody>
      </p:sp>
      <p:sp>
        <p:nvSpPr>
          <p:cNvPr id="249" name="Google Shape;249;p34"/>
          <p:cNvSpPr txBox="1"/>
          <p:nvPr>
            <p:ph idx="1" type="body"/>
          </p:nvPr>
        </p:nvSpPr>
        <p:spPr>
          <a:xfrm>
            <a:off x="566928" y="1710266"/>
            <a:ext cx="10863072" cy="4487334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Increasing revenue- How?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Selling off unused assets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Selling off inventory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Chasing debtors (people who owe you money) for any money owed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Cutting costs- what costs could you cut?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Delaying payment to suppliers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Reducing credit period offered to customers- what would be the impact on their loyalty/customer satisfaction?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Cutting back or delaying expansion plans </a:t>
            </a:r>
            <a:endParaRPr sz="24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53" name="Shape 2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4" name="Google Shape;254;p35"/>
          <p:cNvSpPr txBox="1"/>
          <p:nvPr>
            <p:ph type="title"/>
          </p:nvPr>
        </p:nvSpPr>
        <p:spPr>
          <a:xfrm>
            <a:off x="1024128" y="280416"/>
            <a:ext cx="9720072" cy="10911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CASH FLOW PRACTICE </a:t>
            </a:r>
            <a:endParaRPr u="sng"/>
          </a:p>
        </p:txBody>
      </p:sp>
      <p:sp>
        <p:nvSpPr>
          <p:cNvPr id="255" name="Google Shape;255;p35"/>
          <p:cNvSpPr txBox="1"/>
          <p:nvPr>
            <p:ph idx="1" type="body"/>
          </p:nvPr>
        </p:nvSpPr>
        <p:spPr>
          <a:xfrm>
            <a:off x="566928" y="1710266"/>
            <a:ext cx="10863072" cy="4487334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Font typeface="Noto Sans Symbols"/>
              <a:buChar char="❖"/>
            </a:pPr>
            <a:r>
              <a:rPr lang="en-GB" sz="4000"/>
              <a:t>Complete the ‘Jacks Garage’ cash flow practice worksheet. </a:t>
            </a:r>
            <a:endParaRPr/>
          </a:p>
          <a:p>
            <a:pPr indent="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Font typeface="Noto Sans Symbols"/>
              <a:buNone/>
            </a:pPr>
            <a:r>
              <a:t/>
            </a:r>
            <a:endParaRPr sz="4000"/>
          </a:p>
          <a:p>
            <a:pPr indent="-2540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Font typeface="Noto Sans Symbols"/>
              <a:buChar char="❖"/>
            </a:pPr>
            <a:r>
              <a:rPr lang="en-GB" sz="4000"/>
              <a:t>Peer assessment of answers. </a:t>
            </a:r>
            <a:endParaRPr sz="40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5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5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5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59" name="Shape 2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0" name="Google Shape;260;p36"/>
          <p:cNvSpPr txBox="1"/>
          <p:nvPr>
            <p:ph type="title"/>
          </p:nvPr>
        </p:nvSpPr>
        <p:spPr>
          <a:xfrm>
            <a:off x="1024129" y="263483"/>
            <a:ext cx="9720072" cy="955717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</a:t>
            </a:r>
            <a:endParaRPr u="sng"/>
          </a:p>
        </p:txBody>
      </p:sp>
      <p:pic>
        <p:nvPicPr>
          <p:cNvPr descr="Screen Clipping" id="261" name="Google Shape;261;p3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25221" y="1525981"/>
            <a:ext cx="8177706" cy="4739352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Screen Clipping" id="262" name="Google Shape;262;p36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8502927" y="1763099"/>
            <a:ext cx="3461548" cy="4570019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66" name="Shape 2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7" name="Google Shape;267;p37"/>
          <p:cNvSpPr txBox="1"/>
          <p:nvPr>
            <p:ph type="title"/>
          </p:nvPr>
        </p:nvSpPr>
        <p:spPr>
          <a:xfrm>
            <a:off x="1024129" y="269332"/>
            <a:ext cx="9720072" cy="94432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pic>
        <p:nvPicPr>
          <p:cNvPr descr="Screen Clipping" id="268" name="Google Shape;268;p37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320915" y="1213658"/>
            <a:ext cx="7587856" cy="5337665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