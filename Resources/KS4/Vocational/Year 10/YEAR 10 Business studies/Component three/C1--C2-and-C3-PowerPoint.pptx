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24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22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3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60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B0BD4723-A141-4D0C-B7A3-03A7AB061D54}">
  <a:tblStyle styleId="{B0BD4723-A141-4D0C-B7A3-03A7AB061D54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0" name="Google Shape;100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6" name="Google Shape;106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8" name="Google Shape;118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1" name="Google Shape;131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7" name="Google Shape;137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8" name="Google Shape;168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75" name="Google Shape;175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3" name="Google Shape;203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2" name="Google Shape;232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6" name="Google Shape;246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2" name="Google Shape;25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8" name="Google Shape;25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5" name="Google Shape;265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, Text, and Content" type="txAndObj">
  <p:cSld name="TEXT_AND_OBJECT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0" type="dt"/>
          </p:nvPr>
        </p:nvSpPr>
        <p:spPr>
          <a:xfrm>
            <a:off x="609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1" type="ftr"/>
          </p:nvPr>
        </p:nvSpPr>
        <p:spPr>
          <a:xfrm>
            <a:off x="4165600" y="6245225"/>
            <a:ext cx="3860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4"/>
          <p:cNvSpPr txBox="1"/>
          <p:nvPr>
            <p:ph idx="12" type="sldNum"/>
          </p:nvPr>
        </p:nvSpPr>
        <p:spPr>
          <a:xfrm>
            <a:off x="8737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3" name="Google Shape;43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4" name="Google Shape;44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0" name="Google Shape;50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7" name="Google Shape;57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73" name="Google Shape;73;p10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1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1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84" name="Google Shape;84;p11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0" name="Google Shape;90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3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3" name="Google Shape;93;p13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94" name="Google Shape;94;p1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5" name="Google Shape;95;p1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6" name="Google Shape;96;p1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7" name="Google Shape;97;p13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theme" Target="../theme/theme1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5.png"/><Relationship Id="rId4" Type="http://schemas.openxmlformats.org/officeDocument/2006/relationships/image" Target="../media/image4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7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6.jp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8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12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10.png"/><Relationship Id="rId4" Type="http://schemas.openxmlformats.org/officeDocument/2006/relationships/image" Target="../media/image11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9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4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103" name="Google Shape;103;p14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C- FINANCIAL PLANNING AND FORECASTING </a:t>
            </a:r>
            <a:endParaRPr u="sng"/>
          </a:p>
        </p:txBody>
      </p:sp>
      <p:sp>
        <p:nvSpPr>
          <p:cNvPr id="109" name="Google Shape;109;p1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>
            <p:ph type="title"/>
          </p:nvPr>
        </p:nvSpPr>
        <p:spPr>
          <a:xfrm>
            <a:off x="1024128" y="263611"/>
            <a:ext cx="9720072" cy="1821221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LEARNING AIM C- C1 AND C2</a:t>
            </a:r>
            <a:br>
              <a:rPr lang="en-GB" sz="4000" u="sng"/>
            </a:br>
            <a:r>
              <a:rPr lang="en-GB" sz="4000" u="sng"/>
              <a:t>CASH FLOW FORECASTING </a:t>
            </a:r>
            <a:br>
              <a:rPr lang="en-GB" sz="4000" u="sng"/>
            </a:br>
            <a:r>
              <a:rPr lang="en-GB" sz="4000" u="sng"/>
              <a:t>DATE: </a:t>
            </a:r>
            <a:endParaRPr sz="4000"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17"/>
          <p:cNvSpPr txBox="1"/>
          <p:nvPr>
            <p:ph type="title"/>
          </p:nvPr>
        </p:nvSpPr>
        <p:spPr>
          <a:xfrm>
            <a:off x="1109718" y="201907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1</a:t>
            </a:r>
            <a:br>
              <a:rPr lang="en-GB" u="sng"/>
            </a:br>
            <a:r>
              <a:rPr lang="en-GB" u="sng"/>
              <a:t>DATE:  </a:t>
            </a:r>
            <a:endParaRPr u="sng"/>
          </a:p>
        </p:txBody>
      </p:sp>
      <p:sp>
        <p:nvSpPr>
          <p:cNvPr id="121" name="Google Shape;121;p17"/>
          <p:cNvSpPr/>
          <p:nvPr/>
        </p:nvSpPr>
        <p:spPr>
          <a:xfrm>
            <a:off x="1109717" y="2163818"/>
            <a:ext cx="9962835" cy="440120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4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define and explain the purpose of cash flow forecasting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to interpret a cash flow forecast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220133" y="138796"/>
            <a:ext cx="11853334" cy="1057956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C1 AND C2- USING CASH FLOW DATA &amp; FINANCIAL FORECASTING</a:t>
            </a:r>
            <a:endParaRPr sz="4000"/>
          </a:p>
        </p:txBody>
      </p:sp>
      <p:pic>
        <p:nvPicPr>
          <p:cNvPr id="127" name="Google Shape;127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575720" y="1196752"/>
            <a:ext cx="5208240" cy="4450804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p18"/>
          <p:cNvSpPr txBox="1"/>
          <p:nvPr/>
        </p:nvSpPr>
        <p:spPr>
          <a:xfrm>
            <a:off x="369644" y="5940584"/>
            <a:ext cx="11318676" cy="46166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Why is a checking a weather forecast helpful? What are the pros and cons of this? 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A CASH FLOW FORECAST?</a:t>
            </a:r>
            <a:endParaRPr u="sng"/>
          </a:p>
        </p:txBody>
      </p:sp>
      <p:sp>
        <p:nvSpPr>
          <p:cNvPr id="134" name="Google Shape;134;p19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 u="sng"/>
              <a:t>Cash flow: </a:t>
            </a:r>
            <a:r>
              <a:rPr b="1" lang="en-GB" sz="3200"/>
              <a:t>The flow of cash into and out of the business.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/>
              <a:t>Shows the amount of cash flowing into the business and the amount of cash flowing out of the business. 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0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OTHER KEY TERMS: </a:t>
            </a:r>
            <a:endParaRPr u="sng"/>
          </a:p>
        </p:txBody>
      </p:sp>
      <p:sp>
        <p:nvSpPr>
          <p:cNvPr id="140" name="Google Shape;140;p20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statement: </a:t>
            </a:r>
            <a:r>
              <a:rPr lang="en-GB" sz="3200"/>
              <a:t>the cash inflows and the cash outflows over the past 12 months.</a:t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forecast: </a:t>
            </a:r>
            <a:r>
              <a:rPr lang="en-GB" sz="3200"/>
              <a:t>outlines the forecasted future cash inflows (from sales) and the outflows (such as raw materials, wages) per month over a period.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Sales: </a:t>
            </a:r>
            <a:r>
              <a:rPr lang="en-GB" sz="3200"/>
              <a:t>A </a:t>
            </a:r>
            <a:r>
              <a:rPr b="1" lang="en-GB" sz="3200"/>
              <a:t>sale</a:t>
            </a:r>
            <a:r>
              <a:rPr lang="en-GB" sz="3200"/>
              <a:t> is an exchange of money for goods, services,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Purchases: </a:t>
            </a:r>
            <a:r>
              <a:rPr lang="en-GB" sz="2800"/>
              <a:t>is the formal process of </a:t>
            </a:r>
            <a:r>
              <a:rPr b="1" lang="en-GB" sz="2800"/>
              <a:t>buying goods</a:t>
            </a:r>
            <a:r>
              <a:rPr lang="en-GB" sz="2800"/>
              <a:t> and services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1"/>
          <p:cNvSpPr txBox="1"/>
          <p:nvPr>
            <p:ph type="title"/>
          </p:nvPr>
        </p:nvSpPr>
        <p:spPr>
          <a:xfrm>
            <a:off x="999067" y="332656"/>
            <a:ext cx="10600266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CASH FLOW FORECAST INCLUDES…</a:t>
            </a:r>
            <a:endParaRPr/>
          </a:p>
        </p:txBody>
      </p:sp>
      <p:sp>
        <p:nvSpPr>
          <p:cNvPr id="146" name="Google Shape;146;p21"/>
          <p:cNvSpPr txBox="1"/>
          <p:nvPr>
            <p:ph idx="1" type="body"/>
          </p:nvPr>
        </p:nvSpPr>
        <p:spPr>
          <a:xfrm>
            <a:off x="999067" y="2238731"/>
            <a:ext cx="10600266" cy="3772602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18745" lvl="0" marL="91440" rtl="0" algn="l">
              <a:lnSpc>
                <a:spcPct val="190000"/>
              </a:lnSpc>
              <a:spcBef>
                <a:spcPts val="0"/>
              </a:spcBef>
              <a:spcAft>
                <a:spcPts val="0"/>
              </a:spcAft>
              <a:buSzPts val="1870"/>
              <a:buFont typeface="Noto Sans Symbols"/>
              <a:buChar char="❖"/>
            </a:pPr>
            <a:r>
              <a:rPr lang="en-GB" sz="1870"/>
              <a:t> </a:t>
            </a:r>
            <a:r>
              <a:rPr b="1" lang="en-GB" sz="2720"/>
              <a:t>An Opening Balance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Inflows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Outflows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A Closing Balance</a:t>
            </a:r>
            <a:endParaRPr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2"/>
          <p:cNvSpPr txBox="1"/>
          <p:nvPr>
            <p:ph type="title"/>
          </p:nvPr>
        </p:nvSpPr>
        <p:spPr>
          <a:xfrm>
            <a:off x="1970861" y="220039"/>
            <a:ext cx="8229600" cy="1143000"/>
          </a:xfrm>
          <a:prstGeom prst="rect">
            <a:avLst/>
          </a:prstGeom>
          <a:noFill/>
          <a:ln cap="flat" cmpd="sng" w="5715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CONTINUED…</a:t>
            </a:r>
            <a:endParaRPr b="1"/>
          </a:p>
        </p:txBody>
      </p:sp>
      <p:sp>
        <p:nvSpPr>
          <p:cNvPr id="152" name="Google Shape;152;p22"/>
          <p:cNvSpPr txBox="1"/>
          <p:nvPr>
            <p:ph idx="1" type="body"/>
          </p:nvPr>
        </p:nvSpPr>
        <p:spPr>
          <a:xfrm>
            <a:off x="660400" y="1828799"/>
            <a:ext cx="11277599" cy="40978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/>
              <a:t>The difference between the inflows and outflows is called the </a:t>
            </a:r>
            <a:r>
              <a:rPr b="1" lang="en-GB" sz="3200">
                <a:solidFill>
                  <a:srgbClr val="FF0000"/>
                </a:solidFill>
              </a:rPr>
              <a:t>net cash flow</a:t>
            </a:r>
            <a:r>
              <a:rPr b="1" lang="en-GB" sz="3200"/>
              <a:t>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Positive net cash flow- </a:t>
            </a:r>
            <a:r>
              <a:rPr b="1" lang="en-GB" sz="3200"/>
              <a:t>inflows are greater than outflows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Negative net cash flow- </a:t>
            </a:r>
            <a:r>
              <a:rPr b="1" lang="en-GB" sz="3200"/>
              <a:t>inflows are not enough to cover out 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Balance- </a:t>
            </a:r>
            <a:r>
              <a:rPr b="1" lang="en-GB" sz="3200"/>
              <a:t>the amount of money in a business’ account at any time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3"/>
          <p:cNvSpPr txBox="1"/>
          <p:nvPr>
            <p:ph type="title"/>
          </p:nvPr>
        </p:nvSpPr>
        <p:spPr>
          <a:xfrm>
            <a:off x="696987" y="124232"/>
            <a:ext cx="11463867" cy="1503363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b="1" lang="en-GB" sz="4200" u="sng"/>
              <a:t>THINK, PAIR, SHARE: </a:t>
            </a:r>
            <a:br>
              <a:rPr b="1" lang="en-GB" sz="4200" u="sng"/>
            </a:br>
            <a:r>
              <a:rPr b="1" lang="en-GB" sz="4200" u="sng"/>
              <a:t>WHAT DOES A CASH FLOW FORECAST SHOW?</a:t>
            </a:r>
            <a:endParaRPr/>
          </a:p>
        </p:txBody>
      </p:sp>
      <p:pic>
        <p:nvPicPr>
          <p:cNvPr descr="MC900437685[1]" id="158" name="Google Shape;15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03912" y="2820988"/>
            <a:ext cx="1733550" cy="1809750"/>
          </a:xfrm>
          <a:prstGeom prst="rect">
            <a:avLst/>
          </a:prstGeom>
          <a:noFill/>
          <a:ln>
            <a:noFill/>
          </a:ln>
        </p:spPr>
      </p:pic>
      <p:sp>
        <p:nvSpPr>
          <p:cNvPr id="159" name="Google Shape;159;p23"/>
          <p:cNvSpPr txBox="1"/>
          <p:nvPr/>
        </p:nvSpPr>
        <p:spPr>
          <a:xfrm>
            <a:off x="696987" y="2317750"/>
            <a:ext cx="3816350" cy="861774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INFLOWS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received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0" name="Google Shape;160;p23"/>
          <p:cNvSpPr txBox="1"/>
          <p:nvPr/>
        </p:nvSpPr>
        <p:spPr>
          <a:xfrm>
            <a:off x="696987" y="3254376"/>
            <a:ext cx="3814762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Sales revenue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Capital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Loans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Grants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MC900432618[1]" id="161" name="Google Shape;161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83188" y="2605088"/>
            <a:ext cx="554037" cy="18288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MC900432618[1]" id="162" name="Google Shape;162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175575" y="2678113"/>
            <a:ext cx="627063" cy="1828800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23"/>
          <p:cNvSpPr txBox="1"/>
          <p:nvPr/>
        </p:nvSpPr>
        <p:spPr>
          <a:xfrm>
            <a:off x="7824861" y="2317750"/>
            <a:ext cx="3571271" cy="1246495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OUTFLOWS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paid out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4" name="Google Shape;164;p23"/>
          <p:cNvSpPr txBox="1"/>
          <p:nvPr/>
        </p:nvSpPr>
        <p:spPr>
          <a:xfrm>
            <a:off x="7824861" y="3592513"/>
            <a:ext cx="3723671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Purchases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Rent 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Wages &amp; Salaries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purchases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5" name="Google Shape;165;p23"/>
          <p:cNvSpPr txBox="1"/>
          <p:nvPr/>
        </p:nvSpPr>
        <p:spPr>
          <a:xfrm>
            <a:off x="5161037" y="4622801"/>
            <a:ext cx="2089150" cy="3667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mc:AlternateContent>
    <mc:Choice Requires="p14">
      <p:transition spd="slow" p14:dur="14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fill="hold" nodeType="with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24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STARTER: PUT THE FOLLOWING INTO EITHER INFLOWS OR OUTFLOWS </a:t>
            </a:r>
            <a:endParaRPr/>
          </a:p>
        </p:txBody>
      </p:sp>
      <p:sp>
        <p:nvSpPr>
          <p:cNvPr id="171" name="Google Shape;171;p24"/>
          <p:cNvSpPr txBox="1"/>
          <p:nvPr>
            <p:ph idx="1" type="body"/>
          </p:nvPr>
        </p:nvSpPr>
        <p:spPr>
          <a:xfrm>
            <a:off x="1185333" y="1879600"/>
            <a:ext cx="10295467" cy="48090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Rent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Salary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Loan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Revenue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Utilities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Overdraft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Supplier payment 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Taxes 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5"/>
          <p:cNvSpPr txBox="1"/>
          <p:nvPr>
            <p:ph type="title"/>
          </p:nvPr>
        </p:nvSpPr>
        <p:spPr>
          <a:xfrm>
            <a:off x="2449386" y="41204"/>
            <a:ext cx="7290054" cy="795508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THE IMPORTANCE OF CASH</a:t>
            </a:r>
            <a:endParaRPr/>
          </a:p>
        </p:txBody>
      </p:sp>
      <p:sp>
        <p:nvSpPr>
          <p:cNvPr id="178" name="Google Shape;178;p25"/>
          <p:cNvSpPr txBox="1"/>
          <p:nvPr>
            <p:ph idx="1" type="body"/>
          </p:nvPr>
        </p:nvSpPr>
        <p:spPr>
          <a:xfrm>
            <a:off x="1847528" y="818219"/>
            <a:ext cx="8229600" cy="965200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If a business does not have cash then the following problems could occur. Copy this into your books</a:t>
            </a:r>
            <a:endParaRPr/>
          </a:p>
        </p:txBody>
      </p:sp>
      <p:sp>
        <p:nvSpPr>
          <p:cNvPr id="179" name="Google Shape;179;p25"/>
          <p:cNvSpPr/>
          <p:nvPr/>
        </p:nvSpPr>
        <p:spPr>
          <a:xfrm>
            <a:off x="4008439" y="191611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has a lack of cash</a:t>
            </a:r>
            <a:endParaRPr/>
          </a:p>
        </p:txBody>
      </p:sp>
      <p:sp>
        <p:nvSpPr>
          <p:cNvPr id="180" name="Google Shape;180;p25"/>
          <p:cNvSpPr/>
          <p:nvPr/>
        </p:nvSpPr>
        <p:spPr>
          <a:xfrm>
            <a:off x="4008439" y="2997200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is unable to pay bills/staff</a:t>
            </a:r>
            <a:endParaRPr/>
          </a:p>
        </p:txBody>
      </p:sp>
      <p:sp>
        <p:nvSpPr>
          <p:cNvPr id="181" name="Google Shape;181;p25"/>
          <p:cNvSpPr/>
          <p:nvPr/>
        </p:nvSpPr>
        <p:spPr>
          <a:xfrm>
            <a:off x="4008439" y="4005264"/>
            <a:ext cx="3671887" cy="8651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Suppliers stop delivering as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they have not been paid.</a:t>
            </a:r>
            <a:endParaRPr/>
          </a:p>
        </p:txBody>
      </p:sp>
      <p:sp>
        <p:nvSpPr>
          <p:cNvPr id="182" name="Google Shape;182;p25"/>
          <p:cNvSpPr/>
          <p:nvPr/>
        </p:nvSpPr>
        <p:spPr>
          <a:xfrm>
            <a:off x="4008439" y="5229225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may be taken to court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because they can’t pay creditors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(people they owe money to)</a:t>
            </a:r>
            <a:endParaRPr/>
          </a:p>
        </p:txBody>
      </p:sp>
      <p:sp>
        <p:nvSpPr>
          <p:cNvPr id="183" name="Google Shape;183;p25"/>
          <p:cNvSpPr/>
          <p:nvPr/>
        </p:nvSpPr>
        <p:spPr>
          <a:xfrm>
            <a:off x="4008439" y="616426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becomes insolvent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(can no longer pay its debts)</a:t>
            </a:r>
            <a:endParaRPr/>
          </a:p>
        </p:txBody>
      </p:sp>
      <p:sp>
        <p:nvSpPr>
          <p:cNvPr id="184" name="Google Shape;184;p25"/>
          <p:cNvSpPr/>
          <p:nvPr/>
        </p:nvSpPr>
        <p:spPr>
          <a:xfrm>
            <a:off x="5592764" y="2636839"/>
            <a:ext cx="503237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5" name="Google Shape;185;p25"/>
          <p:cNvSpPr/>
          <p:nvPr/>
        </p:nvSpPr>
        <p:spPr>
          <a:xfrm>
            <a:off x="5591175" y="3717925"/>
            <a:ext cx="503238" cy="287338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6" name="Google Shape;186;p25"/>
          <p:cNvSpPr/>
          <p:nvPr/>
        </p:nvSpPr>
        <p:spPr>
          <a:xfrm>
            <a:off x="5591175" y="486886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7" name="Google Shape;187;p25"/>
          <p:cNvSpPr/>
          <p:nvPr/>
        </p:nvSpPr>
        <p:spPr>
          <a:xfrm>
            <a:off x="5591175" y="587851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6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THIS IS WHAT A CASH FLOW LOOKS LIKE…</a:t>
            </a:r>
            <a:endParaRPr sz="4000"/>
          </a:p>
        </p:txBody>
      </p:sp>
      <p:pic>
        <p:nvPicPr>
          <p:cNvPr id="193" name="Google Shape;193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589" y="1867133"/>
            <a:ext cx="9312954" cy="482259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2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</a:t>
            </a:r>
            <a:endParaRPr u="sng"/>
          </a:p>
        </p:txBody>
      </p:sp>
      <p:sp>
        <p:nvSpPr>
          <p:cNvPr id="199" name="Google Shape;199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Complete the </a:t>
            </a:r>
            <a:r>
              <a:rPr lang="en-GB" sz="4000" u="sng">
                <a:solidFill>
                  <a:srgbClr val="FF00FF"/>
                </a:solidFill>
              </a:rPr>
              <a:t>Cash flow worksheets 1 and 2. </a:t>
            </a:r>
            <a:endParaRPr sz="4000"/>
          </a:p>
        </p:txBody>
      </p:sp>
      <p:pic>
        <p:nvPicPr>
          <p:cNvPr id="200" name="Google Shape;200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081867" y="3370817"/>
            <a:ext cx="5215466" cy="313971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2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QUIZ (OUT OF 5) </a:t>
            </a:r>
            <a:endParaRPr/>
          </a:p>
        </p:txBody>
      </p:sp>
      <p:sp>
        <p:nvSpPr>
          <p:cNvPr id="206" name="Google Shape;206;p28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742950" lvl="0" marL="7429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an opening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net cash flow?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two things must you add together to get the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the difference between inflows and outflows?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29"/>
          <p:cNvSpPr txBox="1"/>
          <p:nvPr>
            <p:ph type="title"/>
          </p:nvPr>
        </p:nvSpPr>
        <p:spPr>
          <a:xfrm>
            <a:off x="2415869" y="248056"/>
            <a:ext cx="7290054" cy="89956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PLENARY- COMPLETE THE MISSING GAPS </a:t>
            </a:r>
            <a:endParaRPr sz="4000" u="sng"/>
          </a:p>
        </p:txBody>
      </p:sp>
      <p:pic>
        <p:nvPicPr>
          <p:cNvPr descr="Screen Clipping" id="212" name="Google Shape;212;p2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84329" y="1255149"/>
            <a:ext cx="8714769" cy="3384376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213" name="Google Shape;213;p29"/>
          <p:cNvGraphicFramePr/>
          <p:nvPr/>
        </p:nvGraphicFramePr>
        <p:xfrm>
          <a:off x="1584329" y="4836160"/>
          <a:ext cx="3000000" cy="3000000"/>
        </p:xfrm>
        <a:graphic>
          <a:graphicData uri="http://schemas.openxmlformats.org/drawingml/2006/table">
            <a:tbl>
              <a:tblPr bandRow="1" firstCol="1" firstRow="1">
                <a:noFill/>
                <a:tableStyleId>{B0BD4723-A141-4D0C-B7A3-03A7AB061D54}</a:tableStyleId>
              </a:tblPr>
              <a:tblGrid>
                <a:gridCol w="4357375"/>
                <a:gridCol w="4357375"/>
              </a:tblGrid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Total Outflow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All expenses added together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 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Net Cash 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Inflows minus outflows (Inflow-outflow)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Receipts minus payments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Opening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Is the closing bank balance of the previous month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1466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Closing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Opening bank balance + Net cash flow</a:t>
                      </a:r>
                      <a:endParaRPr sz="1600" u="none" cap="none" strike="noStrike"/>
                    </a:p>
                  </a:txBody>
                  <a:tcPr marT="0" marB="0" marR="68575" marL="68575"/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30"/>
          <p:cNvSpPr txBox="1"/>
          <p:nvPr>
            <p:ph type="title"/>
          </p:nvPr>
        </p:nvSpPr>
        <p:spPr>
          <a:xfrm>
            <a:off x="1126344" y="28503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2 </a:t>
            </a:r>
            <a:br>
              <a:rPr lang="en-GB" u="sng"/>
            </a:br>
            <a:r>
              <a:rPr lang="en-GB" u="sng"/>
              <a:t>DATE: </a:t>
            </a:r>
            <a:endParaRPr u="sng"/>
          </a:p>
        </p:txBody>
      </p:sp>
      <p:sp>
        <p:nvSpPr>
          <p:cNvPr id="219" name="Google Shape;219;p30"/>
          <p:cNvSpPr/>
          <p:nvPr/>
        </p:nvSpPr>
        <p:spPr>
          <a:xfrm>
            <a:off x="1109717" y="2163818"/>
            <a:ext cx="9962835" cy="3970318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explain the importance of a cash flow forecast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analyse the various ways of improving cash flow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1"/>
          <p:cNvSpPr txBox="1"/>
          <p:nvPr>
            <p:ph type="title"/>
          </p:nvPr>
        </p:nvSpPr>
        <p:spPr>
          <a:xfrm>
            <a:off x="871727" y="222843"/>
            <a:ext cx="10846139" cy="1499616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THE PURPOSE OF A CASH FLOW FORECAST? </a:t>
            </a:r>
            <a:endParaRPr u="sng"/>
          </a:p>
        </p:txBody>
      </p:sp>
      <p:sp>
        <p:nvSpPr>
          <p:cNvPr id="225" name="Google Shape;225;p31"/>
          <p:cNvSpPr/>
          <p:nvPr/>
        </p:nvSpPr>
        <p:spPr>
          <a:xfrm>
            <a:off x="3780196" y="2680208"/>
            <a:ext cx="4792133" cy="2218267"/>
          </a:xfrm>
          <a:prstGeom prst="cloudCallout">
            <a:avLst>
              <a:gd fmla="val -20833" name="adj1"/>
              <a:gd fmla="val 625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5000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Why? </a:t>
            </a:r>
            <a:endParaRPr sz="50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6" name="Google Shape;226;p31"/>
          <p:cNvSpPr/>
          <p:nvPr/>
        </p:nvSpPr>
        <p:spPr>
          <a:xfrm>
            <a:off x="423332" y="2286000"/>
            <a:ext cx="3140795" cy="999067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identify the money coming in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7" name="Google Shape;227;p31"/>
          <p:cNvSpPr/>
          <p:nvPr/>
        </p:nvSpPr>
        <p:spPr>
          <a:xfrm>
            <a:off x="8788399" y="1787483"/>
            <a:ext cx="2709334" cy="1497584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inform business decisions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8" name="Google Shape;228;p31"/>
          <p:cNvSpPr/>
          <p:nvPr/>
        </p:nvSpPr>
        <p:spPr>
          <a:xfrm>
            <a:off x="520193" y="5108108"/>
            <a:ext cx="3361605" cy="1409531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know whether you have enough to pay for day to day running of business </a:t>
            </a:r>
            <a:endParaRPr b="1" sz="24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9" name="Google Shape;229;p31"/>
          <p:cNvSpPr/>
          <p:nvPr/>
        </p:nvSpPr>
        <p:spPr>
          <a:xfrm>
            <a:off x="7823200" y="4752171"/>
            <a:ext cx="3505199" cy="1377696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determine your net current asset requirements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3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32"/>
          <p:cNvSpPr txBox="1"/>
          <p:nvPr>
            <p:ph type="title"/>
          </p:nvPr>
        </p:nvSpPr>
        <p:spPr>
          <a:xfrm>
            <a:off x="1024129" y="295318"/>
            <a:ext cx="9720072" cy="114401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C3- HOW TO IMPROVE CASH FLOW PROBLEMS </a:t>
            </a:r>
            <a:endParaRPr/>
          </a:p>
        </p:txBody>
      </p:sp>
      <p:sp>
        <p:nvSpPr>
          <p:cNvPr id="235" name="Google Shape;235;p32"/>
          <p:cNvSpPr txBox="1"/>
          <p:nvPr>
            <p:ph idx="1" type="body"/>
          </p:nvPr>
        </p:nvSpPr>
        <p:spPr>
          <a:xfrm>
            <a:off x="1024128" y="1794933"/>
            <a:ext cx="10642939" cy="457199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would be the negative impact of having a bad cash flow? Why could this lead to problems within the business?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1. not being able to pay staff wages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2. not being able to pay suppliers on time- leading to bad relationships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3. late repayments on loans/overdrafts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4. repossession of property or assets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3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241" name="Google Shape;241;p33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242" name="Google Shape;242;p33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243" name="Google Shape;243;p33"/>
          <p:cNvPicPr preferRelativeResize="0"/>
          <p:nvPr/>
        </p:nvPicPr>
        <p:blipFill rotWithShape="1">
          <a:blip r:embed="rId3">
            <a:alphaModFix/>
          </a:blip>
          <a:srcRect b="16117" l="8560" r="8754" t="13746"/>
          <a:stretch/>
        </p:blipFill>
        <p:spPr>
          <a:xfrm>
            <a:off x="1703512" y="188640"/>
            <a:ext cx="8712968" cy="64807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4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C3- SUGGESTED SOLUTIONS </a:t>
            </a:r>
            <a:endParaRPr u="sng"/>
          </a:p>
        </p:txBody>
      </p:sp>
      <p:sp>
        <p:nvSpPr>
          <p:cNvPr id="249" name="Google Shape;249;p34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Increasing revenue- How?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unused assets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inventory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Chasing debtors (people who owe you money) for any money owed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costs- what costs could you cut?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Delaying payment to suppliers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Reducing credit period offered to customers- what would be the impact on their loyalty/customer satisfaction?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back or delaying expansion plans </a:t>
            </a:r>
            <a:endParaRPr sz="24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35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 PRACTICE </a:t>
            </a:r>
            <a:endParaRPr u="sng"/>
          </a:p>
        </p:txBody>
      </p:sp>
      <p:sp>
        <p:nvSpPr>
          <p:cNvPr id="255" name="Google Shape;255;p35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Complete the ‘Jacks Garage’ cash flow practice worksheet.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None/>
            </a:pPr>
            <a:r>
              <a:t/>
            </a:r>
            <a:endParaRPr sz="4000"/>
          </a:p>
          <a:p>
            <a:pPr indent="-2540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Peer assessment of answers. </a:t>
            </a:r>
            <a:endParaRPr sz="4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36"/>
          <p:cNvSpPr txBox="1"/>
          <p:nvPr>
            <p:ph type="title"/>
          </p:nvPr>
        </p:nvSpPr>
        <p:spPr>
          <a:xfrm>
            <a:off x="1024129" y="263483"/>
            <a:ext cx="9720072" cy="955717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</a:t>
            </a:r>
            <a:endParaRPr u="sng"/>
          </a:p>
        </p:txBody>
      </p:sp>
      <p:pic>
        <p:nvPicPr>
          <p:cNvPr descr="Screen Clipping" id="261" name="Google Shape;261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25221" y="1525981"/>
            <a:ext cx="8177706" cy="4739352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262" name="Google Shape;262;p3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502927" y="1763099"/>
            <a:ext cx="3461548" cy="457001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37"/>
          <p:cNvSpPr txBox="1"/>
          <p:nvPr>
            <p:ph type="title"/>
          </p:nvPr>
        </p:nvSpPr>
        <p:spPr>
          <a:xfrm>
            <a:off x="1024129" y="269332"/>
            <a:ext cx="9720072" cy="94432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268" name="Google Shape;268;p37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20915" y="1213658"/>
            <a:ext cx="7587856" cy="533766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