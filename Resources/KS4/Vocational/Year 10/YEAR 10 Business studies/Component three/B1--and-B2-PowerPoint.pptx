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E4522EAB-4E22-4251-9CA3-011E983F189E}">
  <a:tblStyle styleId="{E4522EAB-4E22-4251-9CA3-011E983F189E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7EE"/>
          </a:solidFill>
        </a:fill>
      </a:tcStyle>
    </a:wholeTbl>
    <a:band1H>
      <a:tcTxStyle/>
      <a:tcStyle>
        <a:fill>
          <a:solidFill>
            <a:srgbClr val="F4CCDB"/>
          </a:solidFill>
        </a:fill>
      </a:tcStyle>
    </a:band1H>
    <a:band2H>
      <a:tcTxStyle/>
    </a:band2H>
    <a:band1V>
      <a:tcTxStyle/>
      <a:tcStyle>
        <a:fill>
          <a:solidFill>
            <a:srgbClr val="F4CCDB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EE80BC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jpg"/><Relationship Id="rId6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s.nxgen.com/advantages-and-disadvantages-of-different-payment-types/" TargetMode="External"/><Relationship Id="rId4" Type="http://schemas.openxmlformats.org/officeDocument/2006/relationships/hyperlink" Target="https://www.business2community.com/strategy/pros-cons-different-payment-options-0881406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BTEC LEVEL 2 TECH AWARD</a:t>
            </a:r>
            <a:endParaRPr/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1379728" y="2804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LEARNING AIM B- FINANCIAL RECORDS</a:t>
            </a:r>
            <a:endParaRPr u="sng"/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379728" y="1913467"/>
            <a:ext cx="9720073" cy="402336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Learners will </a:t>
            </a:r>
            <a:r>
              <a:rPr i="1" lang="en-GB" sz="5000">
                <a:solidFill>
                  <a:srgbClr val="92D050"/>
                </a:solidFill>
              </a:rPr>
              <a:t>complete</a:t>
            </a:r>
            <a:r>
              <a:rPr lang="en-GB" sz="5000"/>
              <a:t>, </a:t>
            </a:r>
            <a:r>
              <a:rPr i="1" lang="en-GB" sz="5000">
                <a:solidFill>
                  <a:srgbClr val="92D050"/>
                </a:solidFill>
              </a:rPr>
              <a:t>interpret</a:t>
            </a:r>
            <a:r>
              <a:rPr lang="en-GB" sz="5000"/>
              <a:t> and </a:t>
            </a:r>
            <a:r>
              <a:rPr i="1" lang="en-GB" sz="5000">
                <a:solidFill>
                  <a:srgbClr val="92D050"/>
                </a:solidFill>
              </a:rPr>
              <a:t>check</a:t>
            </a:r>
            <a:r>
              <a:rPr lang="en-GB" sz="5000"/>
              <a:t> the information on financial documents and statements.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1041063" y="195749"/>
            <a:ext cx="9720072" cy="1110658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500"/>
              <a:buFont typeface="Twentieth Century"/>
              <a:buNone/>
            </a:pPr>
            <a:r>
              <a:rPr lang="en-GB" sz="4500" u="sng"/>
              <a:t>LEARNING AIM B- FINANCIAL RECORDS</a:t>
            </a:r>
            <a:br>
              <a:rPr lang="en-GB" sz="4500" u="sng"/>
            </a:br>
            <a:r>
              <a:rPr lang="en-GB" sz="4500" u="sng"/>
              <a:t>DATE: </a:t>
            </a:r>
            <a:endParaRPr sz="4500" u="sng"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1041062" y="1557867"/>
            <a:ext cx="9720073" cy="5080000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 u="sng">
                <a:solidFill>
                  <a:srgbClr val="FF00FF"/>
                </a:solidFill>
              </a:rPr>
              <a:t>Objectives: </a:t>
            </a:r>
            <a:endParaRPr/>
          </a:p>
          <a:p>
            <a:pPr indent="-1905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>
                <a:solidFill>
                  <a:srgbClr val="FF00FF"/>
                </a:solidFill>
              </a:rPr>
              <a:t>- To be able to identify different financial records used by a business as well as start up and running costs.  </a:t>
            </a:r>
            <a:endParaRPr/>
          </a:p>
          <a:p>
            <a:pPr indent="-1905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>
                <a:solidFill>
                  <a:srgbClr val="FF00FF"/>
                </a:solidFill>
              </a:rPr>
              <a:t>- To be able to explain the importance of different financial documents and their use in business. </a:t>
            </a:r>
            <a:endParaRPr sz="3000">
              <a:solidFill>
                <a:srgbClr val="FF00FF"/>
              </a:solidFill>
            </a:endParaRPr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i="1" lang="en-GB" sz="3000">
                <a:solidFill>
                  <a:srgbClr val="00B0F0"/>
                </a:solidFill>
              </a:rPr>
              <a:t>Starter: what do you think a financial document is? Can you name any financial documents your parents might have?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7327" y="5231422"/>
            <a:ext cx="914088" cy="1269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8354" y="5433646"/>
            <a:ext cx="1570682" cy="89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999414" y="267401"/>
            <a:ext cx="9720072" cy="960037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FINANCIAL DOCUMENTS 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79285" y="1767017"/>
            <a:ext cx="10949569" cy="464614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39700" lvl="0" marL="9144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GB"/>
              <a:t>These are formal documents representing the transactions of a business, individual or other organization. Financial records maintained by most businesses include a statement of retained earnings and cash flow, income statements and the company's balance sheet and tax returns. Keeping financial records organized is a key element in a successful business</a:t>
            </a:r>
            <a:br>
              <a:rPr lang="en-GB"/>
            </a:br>
            <a:br>
              <a:rPr lang="en-GB"/>
            </a:br>
            <a:r>
              <a:rPr lang="en-GB"/>
              <a:t>it is important to have good financial records so that you can:</a:t>
            </a:r>
            <a:endParaRPr/>
          </a:p>
          <a:p>
            <a:pPr indent="-139700" lvl="0" marL="9144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Monitor the progress of your business</a:t>
            </a:r>
            <a:endParaRPr/>
          </a:p>
          <a:p>
            <a:pPr indent="-139700" lvl="0" marL="9144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Project your tax liability</a:t>
            </a:r>
            <a:endParaRPr/>
          </a:p>
          <a:p>
            <a:pPr indent="-139700" lvl="0" marL="9144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Prepare your financial statements</a:t>
            </a:r>
            <a:endParaRPr/>
          </a:p>
          <a:p>
            <a:pPr indent="-139700" lvl="0" marL="9144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Identify source of receipts</a:t>
            </a:r>
            <a:endParaRPr/>
          </a:p>
          <a:p>
            <a:pPr indent="-139700" lvl="0" marL="9144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Keep track of deductible expenses</a:t>
            </a:r>
            <a:endParaRPr/>
          </a:p>
          <a:p>
            <a:pPr indent="-139700" lvl="0" marL="9144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n-GB"/>
              <a:t>Prepare your tax return</a:t>
            </a:r>
            <a:endParaRPr/>
          </a:p>
          <a:p>
            <a:pPr indent="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1616794" y="294639"/>
            <a:ext cx="9720072" cy="1009228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B1- TYPES OF FINANCIAL DOCUMENTS </a:t>
            </a:r>
            <a:endParaRPr u="sng"/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533062" y="1938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{E4522EAB-4E22-4251-9CA3-011E983F189E}</a:tableStyleId>
              </a:tblPr>
              <a:tblGrid>
                <a:gridCol w="3716975"/>
                <a:gridCol w="3716975"/>
                <a:gridCol w="3716975"/>
              </a:tblGrid>
              <a:tr h="61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Type of document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Definition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Why it is important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1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Invoice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1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Delivery notes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1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Purchase orders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1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Credit notes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1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Receipts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3" name="Google Shape;123;p17"/>
          <p:cNvSpPr txBox="1"/>
          <p:nvPr/>
        </p:nvSpPr>
        <p:spPr>
          <a:xfrm>
            <a:off x="2316332" y="5962932"/>
            <a:ext cx="8320996" cy="5539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Complete the table by using the internet to help you. </a:t>
            </a:r>
            <a:endParaRPr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1058165" y="-35898"/>
            <a:ext cx="9720072" cy="978408"/>
          </a:xfrm>
          <a:prstGeom prst="rect">
            <a:avLst/>
          </a:prstGeom>
          <a:noFill/>
          <a:ln cap="flat" cmpd="sng" w="381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B2- PAYMENT METHODS </a:t>
            </a:r>
            <a:endParaRPr u="sng"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65329" y="1046309"/>
            <a:ext cx="11337204" cy="819403"/>
          </a:xfrm>
          <a:prstGeom prst="rect">
            <a:avLst/>
          </a:prstGeom>
          <a:noFill/>
          <a:ln cap="flat" cmpd="sng" w="381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i="1" lang="en-GB" sz="3000"/>
              <a:t>What are all of the different types of ways a business/customer can pay for products/services? 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i="1" sz="3000"/>
          </a:p>
        </p:txBody>
      </p:sp>
      <p:sp>
        <p:nvSpPr>
          <p:cNvPr id="130" name="Google Shape;130;p18"/>
          <p:cNvSpPr/>
          <p:nvPr/>
        </p:nvSpPr>
        <p:spPr>
          <a:xfrm>
            <a:off x="2997200" y="2854282"/>
            <a:ext cx="5046133" cy="2489200"/>
          </a:xfrm>
          <a:prstGeom prst="irregularSeal2">
            <a:avLst/>
          </a:prstGeom>
          <a:solidFill>
            <a:schemeClr val="accent1"/>
          </a:solidFill>
          <a:ln cap="flat" cmpd="sng" w="15875">
            <a:solidFill>
              <a:srgbClr val="A52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Payment Methods </a:t>
            </a:r>
            <a:endParaRPr b="1"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1345862" y="2493262"/>
            <a:ext cx="2311738" cy="61705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Cash </a:t>
            </a:r>
            <a:endParaRPr b="1" sz="2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65329" y="3790356"/>
            <a:ext cx="2311738" cy="61705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Credit Card</a:t>
            </a:r>
            <a:endParaRPr b="1" sz="2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884165" y="2036401"/>
            <a:ext cx="2311738" cy="61705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Debit Card</a:t>
            </a:r>
            <a:endParaRPr b="1" sz="2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65329" y="5034956"/>
            <a:ext cx="2311738" cy="61705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 Debit </a:t>
            </a:r>
            <a:endParaRPr b="1" sz="2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086269" y="5755638"/>
            <a:ext cx="4449571" cy="617051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Other payment technologies </a:t>
            </a:r>
            <a:endParaRPr b="1" sz="2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8043333" y="2933356"/>
            <a:ext cx="3759200" cy="3439163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Excel: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is the difference between a credit card and a debit card?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does the term ‘interest’ mean in relation to finance?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is a direct debit? 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1341801" y="316924"/>
            <a:ext cx="9720072" cy="1108118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B2- OTHER PAYMENT TECHNOLOGIES… </a:t>
            </a:r>
            <a:endParaRPr u="sng"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299" y="2988122"/>
            <a:ext cx="2874773" cy="170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2196" y="5244570"/>
            <a:ext cx="5689596" cy="151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3303" y="1425042"/>
            <a:ext cx="3488267" cy="1924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97802" y="2988122"/>
            <a:ext cx="3615265" cy="185536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/>
          <p:nvPr/>
        </p:nvSpPr>
        <p:spPr>
          <a:xfrm>
            <a:off x="3619638" y="3226418"/>
            <a:ext cx="3721389" cy="1740998"/>
          </a:xfrm>
          <a:prstGeom prst="cloud">
            <a:avLst/>
          </a:prstGeom>
          <a:solidFill>
            <a:schemeClr val="accent1"/>
          </a:solidFill>
          <a:ln cap="flat" cmpd="sng" w="15875">
            <a:solidFill>
              <a:srgbClr val="A52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Why have these payment methods become more popular over the past few years?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520530" y="212682"/>
            <a:ext cx="11049338" cy="1499616"/>
          </a:xfrm>
          <a:prstGeom prst="rect">
            <a:avLst/>
          </a:prstGeom>
          <a:noFill/>
          <a:ln cap="flat" cmpd="sng" w="381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600"/>
              <a:buFont typeface="Twentieth Century"/>
              <a:buNone/>
            </a:pPr>
            <a:r>
              <a:rPr lang="en-GB" sz="4600" u="sng"/>
              <a:t>B2-IMPACT ON CUSTOMERS AND ENTERPRISES OF METHODS </a:t>
            </a:r>
            <a:endParaRPr sz="4600" u="sng"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423333" y="2286000"/>
            <a:ext cx="11243733" cy="4023360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 sz="2600"/>
              <a:t>Write a paragraph of explanation on how different payment methods help </a:t>
            </a:r>
            <a:r>
              <a:rPr lang="en-GB" sz="2600">
                <a:solidFill>
                  <a:srgbClr val="FF00FF"/>
                </a:solidFill>
              </a:rPr>
              <a:t>a) the business b) the customers</a:t>
            </a:r>
            <a:endParaRPr sz="2600">
              <a:solidFill>
                <a:srgbClr val="FF00FF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lang="en-GB" sz="2600"/>
              <a:t>Then create a quick table of the pros and cons of the different payment methods. Some useful links below. </a:t>
            </a:r>
            <a:endParaRPr sz="2600"/>
          </a:p>
          <a:p>
            <a:pPr indent="-1651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❖"/>
            </a:pPr>
            <a:r>
              <a:rPr lang="en-GB" sz="2600" u="sng">
                <a:solidFill>
                  <a:schemeClr val="hlink"/>
                </a:solidFill>
                <a:hlinkClick r:id="rId3"/>
              </a:rPr>
              <a:t>https://us.nxgen.com/advantages-and-disadvantages-of-different-payment-types/</a:t>
            </a:r>
            <a:endParaRPr sz="2600"/>
          </a:p>
          <a:p>
            <a:pPr indent="-1651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❖"/>
            </a:pPr>
            <a:r>
              <a:rPr lang="en-GB" sz="2600" u="sng">
                <a:solidFill>
                  <a:schemeClr val="hlink"/>
                </a:solidFill>
                <a:hlinkClick r:id="rId4"/>
              </a:rPr>
              <a:t>https://www.business2community.com/strategy/pros-cons-different-payment-options-0881406</a:t>
            </a:r>
            <a:endParaRPr sz="2600"/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1011771" y="378611"/>
            <a:ext cx="9720072" cy="1042416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PLENARY QUIZ: </a:t>
            </a:r>
            <a:endParaRPr u="sng"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653426" y="1878227"/>
            <a:ext cx="10801288" cy="4448432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What is an invoice? (1)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What is a purchase order? (1)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State one reason why it is important for a business to keep accurate financial records? (1)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Name two other payment technologies used by businesses and customers. (2) </a:t>
            </a:r>
            <a:endParaRPr/>
          </a:p>
          <a:p>
            <a:pPr indent="-2921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Twentieth Century"/>
              <a:buNone/>
            </a:pPr>
            <a:r>
              <a:t/>
            </a:r>
            <a:endParaRPr sz="2600"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b="1" lang="en-GB" sz="3000">
                <a:solidFill>
                  <a:srgbClr val="FF00FF"/>
                </a:solidFill>
              </a:rPr>
              <a:t>Get your shoulder partner to mark your work. 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Twentieth Century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