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F9163C4D-BB6B-4791-AC3B-6DA518930838}">
  <a:tblStyle styleId="{F9163C4D-BB6B-4791-AC3B-6DA518930838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FAE7EE"/>
          </a:solidFill>
        </a:fill>
      </a:tcStyle>
    </a:wholeTbl>
    <a:band1H>
      <a:tcTxStyle/>
      <a:tcStyle>
        <a:fill>
          <a:solidFill>
            <a:srgbClr val="F4CCDB"/>
          </a:solidFill>
        </a:fill>
      </a:tcStyle>
    </a:band1H>
    <a:band2H>
      <a:tcTxStyle/>
    </a:band2H>
    <a:band1V>
      <a:tcTxStyle/>
      <a:tcStyle>
        <a:fill>
          <a:solidFill>
            <a:srgbClr val="F4CCDB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1" name="Shape 1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" name="Google Shape;112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3" name="Google Shape;113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7" name="Shape 1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" name="Google Shape;138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9" name="Google Shape;13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3.jpg"/><Relationship Id="rId4" Type="http://schemas.openxmlformats.org/officeDocument/2006/relationships/image" Target="../media/image4.jp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5.png"/><Relationship Id="rId4" Type="http://schemas.openxmlformats.org/officeDocument/2006/relationships/image" Target="../media/image6.png"/><Relationship Id="rId5" Type="http://schemas.openxmlformats.org/officeDocument/2006/relationships/image" Target="../media/image7.jpg"/><Relationship Id="rId6" Type="http://schemas.openxmlformats.org/officeDocument/2006/relationships/image" Target="../media/image8.jp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hyperlink" Target="https://us.nxgen.com/advantages-and-disadvantages-of-different-payment-types/" TargetMode="External"/><Relationship Id="rId4" Type="http://schemas.openxmlformats.org/officeDocument/2006/relationships/hyperlink" Target="https://www.business2community.com/strategy/pros-cons-different-payment-options-0881406" TargetMode="Externa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, </a:t>
            </a:r>
            <a:r>
              <a:rPr i="1" lang="en-GB" sz="5000">
                <a:solidFill>
                  <a:srgbClr val="92D050"/>
                </a:solidFill>
              </a:rPr>
              <a:t>interpret</a:t>
            </a:r>
            <a:r>
              <a:rPr lang="en-GB" sz="5000"/>
              <a:t> and </a:t>
            </a:r>
            <a:r>
              <a:rPr i="1" lang="en-GB" sz="5000">
                <a:solidFill>
                  <a:srgbClr val="92D050"/>
                </a:solidFill>
              </a:rPr>
              <a:t>check</a:t>
            </a:r>
            <a:r>
              <a:rPr lang="en-GB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041063" y="195749"/>
            <a:ext cx="9720072" cy="111065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lang="en-GB" sz="4500" u="sng"/>
              <a:t>LEARNING AIM B- FINANCIAL RECORDS</a:t>
            </a:r>
            <a:br>
              <a:rPr lang="en-GB" sz="4500" u="sng"/>
            </a:br>
            <a:r>
              <a:rPr lang="en-GB" sz="4500" u="sng"/>
              <a:t>DATE: </a:t>
            </a:r>
            <a:endParaRPr sz="4500"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1041062" y="1557867"/>
            <a:ext cx="9720073" cy="50800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 u="sng">
                <a:solidFill>
                  <a:srgbClr val="FF00FF"/>
                </a:solidFill>
              </a:rPr>
              <a:t>Objectives: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identify different financial records used by a business as well as start up and running costs. 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explain the importance of different financial documents and their use in business. </a:t>
            </a:r>
            <a:endParaRPr sz="3000">
              <a:solidFill>
                <a:srgbClr val="FF00FF"/>
              </a:solidFill>
            </a:endParaRPr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00B0F0"/>
                </a:solidFill>
              </a:rPr>
              <a:t>Starter: what do you think a financial document is? Can you name any financial documents your parents might have?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09" name="Google Shape;109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027327" y="5231422"/>
            <a:ext cx="914088" cy="1269147"/>
          </a:xfrm>
          <a:prstGeom prst="rect">
            <a:avLst/>
          </a:prstGeom>
          <a:noFill/>
          <a:ln>
            <a:noFill/>
          </a:ln>
        </p:spPr>
      </p:pic>
      <p:pic>
        <p:nvPicPr>
          <p:cNvPr id="110" name="Google Shape;110;p1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488354" y="5433646"/>
            <a:ext cx="1570682" cy="89987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4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16"/>
          <p:cNvSpPr txBox="1"/>
          <p:nvPr>
            <p:ph type="title"/>
          </p:nvPr>
        </p:nvSpPr>
        <p:spPr>
          <a:xfrm>
            <a:off x="999414" y="267401"/>
            <a:ext cx="9720072" cy="960037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FINANCIAL DOCUMENTS </a:t>
            </a:r>
            <a:endParaRPr/>
          </a:p>
        </p:txBody>
      </p:sp>
      <p:sp>
        <p:nvSpPr>
          <p:cNvPr id="116" name="Google Shape;116;p16"/>
          <p:cNvSpPr txBox="1"/>
          <p:nvPr>
            <p:ph idx="1" type="body"/>
          </p:nvPr>
        </p:nvSpPr>
        <p:spPr>
          <a:xfrm>
            <a:off x="579285" y="1767017"/>
            <a:ext cx="10949569" cy="4646140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39700" lvl="0" marL="9144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200"/>
              <a:buChar char=" "/>
            </a:pPr>
            <a:r>
              <a:rPr lang="en-GB"/>
              <a:t>These are formal documents representing the transactions of a business, individual or other organization. Financial records maintained by most businesses include a statement of retained earnings and cash flow, income statements and the company's balance sheet and tax returns. Keeping financial records organized is a key element in a successful business</a:t>
            </a:r>
            <a:br>
              <a:rPr lang="en-GB"/>
            </a:br>
            <a:br>
              <a:rPr lang="en-GB"/>
            </a:br>
            <a:r>
              <a:rPr lang="en-GB"/>
              <a:t>it is important to have good financial records so that you can: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Monitor the progress of your business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Project your tax liability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financial statements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Identify source of receipts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Keep track of deductible expenses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tax return</a:t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p17"/>
          <p:cNvSpPr txBox="1"/>
          <p:nvPr>
            <p:ph type="title"/>
          </p:nvPr>
        </p:nvSpPr>
        <p:spPr>
          <a:xfrm>
            <a:off x="1616794" y="294639"/>
            <a:ext cx="9720072" cy="100922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B1- TYPES OF FINANCIAL DOCUMENTS </a:t>
            </a:r>
            <a:endParaRPr u="sng"/>
          </a:p>
        </p:txBody>
      </p:sp>
      <p:graphicFrame>
        <p:nvGraphicFramePr>
          <p:cNvPr id="122" name="Google Shape;122;p17"/>
          <p:cNvGraphicFramePr/>
          <p:nvPr/>
        </p:nvGraphicFramePr>
        <p:xfrm>
          <a:off x="533062" y="1938866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{F9163C4D-BB6B-4791-AC3B-6DA518930838}</a:tableStyleId>
              </a:tblPr>
              <a:tblGrid>
                <a:gridCol w="3716975"/>
                <a:gridCol w="3716975"/>
                <a:gridCol w="3716975"/>
              </a:tblGrid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Type of document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Definition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Why it is important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Invoice</a:t>
                      </a:r>
                      <a:endParaRPr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Delivery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Purchase orders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Credit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Receipts 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  <p:sp>
        <p:nvSpPr>
          <p:cNvPr id="123" name="Google Shape;123;p17"/>
          <p:cNvSpPr txBox="1"/>
          <p:nvPr/>
        </p:nvSpPr>
        <p:spPr>
          <a:xfrm>
            <a:off x="2316332" y="5962932"/>
            <a:ext cx="8320996" cy="55399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table by using the internet to help you.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type="title"/>
          </p:nvPr>
        </p:nvSpPr>
        <p:spPr>
          <a:xfrm>
            <a:off x="1058165" y="-35898"/>
            <a:ext cx="9720072" cy="978408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PAYMENT METHODS </a:t>
            </a:r>
            <a:endParaRPr u="sng"/>
          </a:p>
        </p:txBody>
      </p:sp>
      <p:sp>
        <p:nvSpPr>
          <p:cNvPr id="129" name="Google Shape;129;p18"/>
          <p:cNvSpPr txBox="1"/>
          <p:nvPr>
            <p:ph idx="1" type="body"/>
          </p:nvPr>
        </p:nvSpPr>
        <p:spPr>
          <a:xfrm>
            <a:off x="465329" y="1046309"/>
            <a:ext cx="11337204" cy="81940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/>
              <a:t>What are all of the different types of ways a business/customer can pay for products/services?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i="1" sz="3000"/>
          </a:p>
        </p:txBody>
      </p:sp>
      <p:sp>
        <p:nvSpPr>
          <p:cNvPr id="130" name="Google Shape;130;p18"/>
          <p:cNvSpPr/>
          <p:nvPr/>
        </p:nvSpPr>
        <p:spPr>
          <a:xfrm>
            <a:off x="2997200" y="2854282"/>
            <a:ext cx="5046133" cy="2489200"/>
          </a:xfrm>
          <a:prstGeom prst="irregularSeal2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Payment Methods 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1" name="Google Shape;131;p18"/>
          <p:cNvSpPr/>
          <p:nvPr/>
        </p:nvSpPr>
        <p:spPr>
          <a:xfrm>
            <a:off x="1345862" y="2493262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Cash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2" name="Google Shape;132;p18"/>
          <p:cNvSpPr/>
          <p:nvPr/>
        </p:nvSpPr>
        <p:spPr>
          <a:xfrm>
            <a:off x="465329" y="37903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Credit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3" name="Google Shape;133;p18"/>
          <p:cNvSpPr/>
          <p:nvPr/>
        </p:nvSpPr>
        <p:spPr>
          <a:xfrm>
            <a:off x="5884165" y="2036401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Debit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4" name="Google Shape;134;p18"/>
          <p:cNvSpPr/>
          <p:nvPr/>
        </p:nvSpPr>
        <p:spPr>
          <a:xfrm>
            <a:off x="465329" y="50349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Direct Debit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5" name="Google Shape;135;p18"/>
          <p:cNvSpPr/>
          <p:nvPr/>
        </p:nvSpPr>
        <p:spPr>
          <a:xfrm>
            <a:off x="3086269" y="5755638"/>
            <a:ext cx="4449571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payment technologies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6" name="Google Shape;136;p18"/>
          <p:cNvSpPr/>
          <p:nvPr/>
        </p:nvSpPr>
        <p:spPr>
          <a:xfrm>
            <a:off x="8043333" y="2933356"/>
            <a:ext cx="3759200" cy="3439163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Excel: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the difference between a credit card and a debit card?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term ‘interest’ mean in relation to finance?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a direct debit? </a:t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0" name="Shape 1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Google Shape;141;p19"/>
          <p:cNvSpPr txBox="1"/>
          <p:nvPr>
            <p:ph type="title"/>
          </p:nvPr>
        </p:nvSpPr>
        <p:spPr>
          <a:xfrm>
            <a:off x="1341801" y="316924"/>
            <a:ext cx="9720072" cy="110811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OTHER PAYMENT TECHNOLOGIES… </a:t>
            </a:r>
            <a:endParaRPr u="sng"/>
          </a:p>
        </p:txBody>
      </p:sp>
      <p:pic>
        <p:nvPicPr>
          <p:cNvPr id="142" name="Google Shape;142;p1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22299" y="2988122"/>
            <a:ext cx="2874773" cy="1703303"/>
          </a:xfrm>
          <a:prstGeom prst="rect">
            <a:avLst/>
          </a:prstGeom>
          <a:noFill/>
          <a:ln>
            <a:noFill/>
          </a:ln>
        </p:spPr>
      </p:pic>
      <p:pic>
        <p:nvPicPr>
          <p:cNvPr id="143" name="Google Shape;143;p19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2912196" y="5244570"/>
            <a:ext cx="5689596" cy="1513432"/>
          </a:xfrm>
          <a:prstGeom prst="rect">
            <a:avLst/>
          </a:prstGeom>
          <a:noFill/>
          <a:ln>
            <a:noFill/>
          </a:ln>
        </p:spPr>
      </p:pic>
      <p:pic>
        <p:nvPicPr>
          <p:cNvPr id="144" name="Google Shape;144;p19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3853303" y="1425042"/>
            <a:ext cx="3488267" cy="1924679"/>
          </a:xfrm>
          <a:prstGeom prst="rect">
            <a:avLst/>
          </a:prstGeom>
          <a:noFill/>
          <a:ln>
            <a:noFill/>
          </a:ln>
        </p:spPr>
      </p:pic>
      <p:pic>
        <p:nvPicPr>
          <p:cNvPr id="145" name="Google Shape;145;p19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7797802" y="2988122"/>
            <a:ext cx="3615265" cy="1855363"/>
          </a:xfrm>
          <a:prstGeom prst="rect">
            <a:avLst/>
          </a:prstGeom>
          <a:noFill/>
          <a:ln>
            <a:noFill/>
          </a:ln>
        </p:spPr>
      </p:pic>
      <p:sp>
        <p:nvSpPr>
          <p:cNvPr id="146" name="Google Shape;146;p19"/>
          <p:cNvSpPr/>
          <p:nvPr/>
        </p:nvSpPr>
        <p:spPr>
          <a:xfrm>
            <a:off x="3619638" y="3226418"/>
            <a:ext cx="3721389" cy="1740998"/>
          </a:xfrm>
          <a:prstGeom prst="cloud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have these payment methods become more popular over the past few years? </a:t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0"/>
          <p:cNvSpPr txBox="1"/>
          <p:nvPr>
            <p:ph type="title"/>
          </p:nvPr>
        </p:nvSpPr>
        <p:spPr>
          <a:xfrm>
            <a:off x="520530" y="212682"/>
            <a:ext cx="11049338" cy="1499616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600"/>
              <a:buFont typeface="Twentieth Century"/>
              <a:buNone/>
            </a:pPr>
            <a:r>
              <a:rPr lang="en-GB" sz="4600" u="sng"/>
              <a:t>B2-IMPACT ON CUSTOMERS AND ENTERPRISES OF METHODS </a:t>
            </a:r>
            <a:endParaRPr sz="4600" u="sng"/>
          </a:p>
        </p:txBody>
      </p:sp>
      <p:sp>
        <p:nvSpPr>
          <p:cNvPr id="152" name="Google Shape;152;p20"/>
          <p:cNvSpPr txBox="1"/>
          <p:nvPr>
            <p:ph idx="1" type="body"/>
          </p:nvPr>
        </p:nvSpPr>
        <p:spPr>
          <a:xfrm>
            <a:off x="423333" y="2286000"/>
            <a:ext cx="11243733" cy="402336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Write a paragraph of explanation on how different payment methods help </a:t>
            </a:r>
            <a:r>
              <a:rPr lang="en-GB" sz="2600">
                <a:solidFill>
                  <a:srgbClr val="FF00FF"/>
                </a:solidFill>
              </a:rPr>
              <a:t>a) the business b) the customers</a:t>
            </a:r>
            <a:endParaRPr sz="2600">
              <a:solidFill>
                <a:srgbClr val="FF00FF"/>
              </a:solidFill>
            </a:endParaRPr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Then create a quick table of the pros and cons of the different payment methods. Some useful links below. 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3"/>
              </a:rPr>
              <a:t>https://us.nxgen.com/advantages-and-disadvantages-of-different-payment-types/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4"/>
              </a:rPr>
              <a:t>https://www.business2community.com/strategy/pros-cons-different-payment-options-0881406</a:t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1"/>
          <p:cNvSpPr txBox="1"/>
          <p:nvPr>
            <p:ph type="title"/>
          </p:nvPr>
        </p:nvSpPr>
        <p:spPr>
          <a:xfrm>
            <a:off x="1011771" y="378611"/>
            <a:ext cx="9720072" cy="10424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QUIZ: </a:t>
            </a:r>
            <a:endParaRPr u="sng"/>
          </a:p>
        </p:txBody>
      </p:sp>
      <p:sp>
        <p:nvSpPr>
          <p:cNvPr id="158" name="Google Shape;158;p21"/>
          <p:cNvSpPr txBox="1"/>
          <p:nvPr>
            <p:ph idx="1" type="body"/>
          </p:nvPr>
        </p:nvSpPr>
        <p:spPr>
          <a:xfrm>
            <a:off x="653426" y="1878227"/>
            <a:ext cx="10801288" cy="4448432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457200" lvl="0" marL="45720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an invoice?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 purchase order? (1) 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State one reason why it is important for a business to keep accurate financial records?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Name two other payment technologies used by businesses and customers. (2) </a:t>
            </a:r>
            <a:endParaRPr/>
          </a:p>
          <a:p>
            <a:pPr indent="-2921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Twentieth Century"/>
              <a:buNone/>
            </a:pPr>
            <a:r>
              <a:t/>
            </a:r>
            <a:endParaRPr sz="26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b="1" lang="en-GB" sz="3000">
                <a:solidFill>
                  <a:srgbClr val="FF00FF"/>
                </a:solidFill>
              </a:rPr>
              <a:t>Get your shoulder partner to mark your work. </a:t>
            </a:r>
            <a:endParaRPr/>
          </a:p>
          <a:p>
            <a:pPr indent="-3175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Twentieth Century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