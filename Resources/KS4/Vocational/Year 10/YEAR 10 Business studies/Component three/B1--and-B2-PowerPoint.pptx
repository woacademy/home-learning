
<file path=[Content_Types].xml><?xml version="1.0" encoding="utf-8"?>
<Types xmlns="http://schemas.openxmlformats.org/package/2006/content-types">
  <Default ContentType="image/jpeg" Extension="jpg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4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.xml"/>
  <Override ContentType="application/vnd.openxmlformats-officedocument.presentationml.slide+xml" PartName="/ppt/slides/slide2.xml"/>
  <Override ContentType="application/vnd.openxmlformats-officedocument.presentationml.slide+xml" PartName="/ppt/slides/slide3.xml"/>
  <Override ContentType="application/vnd.openxmlformats-officedocument.presentationml.slide+xml" PartName="/ppt/slides/slide6.xml"/>
  <Override ContentType="application/vnd.openxmlformats-officedocument.presentationml.slide+xml" PartName="/ppt/slides/slide9.xml"/>
  <Override ContentType="application/vnd.openxmlformats-officedocument.presentationml.slide+xml" PartName="/ppt/slides/slide5.xml"/>
  <Override ContentType="application/vnd.openxmlformats-officedocument.presentationml.slide+xml" PartName="/ppt/slides/slide8.xml"/>
  <Override ContentType="application/vnd.openxmlformats-officedocument.presentationml.slide+xml" PartName="/ppt/slides/slide7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</p:sldIdLst>
  <p:sldSz cy="6858000" cx="12192000"/>
  <p:notesSz cx="6858000" cy="9144000"/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2C60550F-5E75-4686-8427-F908EAF2B23B}">
  <a:tblStyle styleId="{2C60550F-5E75-4686-8427-F908EAF2B23B}" styleName="Table_0">
    <a:wholeTbl>
      <a:tcTxStyle b="off" i="off">
        <a:font>
          <a:latin typeface="Tw Cen MT"/>
          <a:ea typeface="Tw Cen MT"/>
          <a:cs typeface="Tw Cen MT"/>
        </a:font>
        <a:schemeClr val="dk1"/>
      </a:tcTxStyle>
      <a:tcStyle>
        <a:tcBdr>
          <a:lef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V>
        </a:tcBdr>
        <a:fill>
          <a:solidFill>
            <a:srgbClr val="FAE7EE"/>
          </a:solidFill>
        </a:fill>
      </a:tcStyle>
    </a:wholeTbl>
    <a:band1H>
      <a:tcTxStyle/>
      <a:tcStyle>
        <a:fill>
          <a:solidFill>
            <a:srgbClr val="F4CCDB"/>
          </a:solidFill>
        </a:fill>
      </a:tcStyle>
    </a:band1H>
    <a:band2H>
      <a:tcTxStyle/>
    </a:band2H>
    <a:band1V>
      <a:tcTxStyle/>
      <a:tcStyle>
        <a:fill>
          <a:solidFill>
            <a:srgbClr val="F4CCDB"/>
          </a:solidFill>
        </a:fill>
      </a:tcStyle>
    </a:band1V>
    <a:band2V>
      <a:tcTxStyle/>
    </a:band2V>
    <a:la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lastCol>
    <a:fir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firstCol>
    <a:la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top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</a:tcBdr>
        <a:fill>
          <a:solidFill>
            <a:schemeClr val="accent1"/>
          </a:solidFill>
        </a:fill>
      </a:tcStyle>
    </a:lastRow>
    <a:seCell>
      <a:tcTxStyle/>
    </a:seCell>
    <a:swCell>
      <a:tcTxStyle/>
    </a:swCell>
    <a:fir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bottom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</a:tcBdr>
        <a:fill>
          <a:solidFill>
            <a:schemeClr val="accent1"/>
          </a:solidFill>
        </a:fill>
      </a:tcStyle>
    </a:firstRow>
    <a:neCell>
      <a:tcTxStyle/>
    </a:neCell>
    <a:nwCell>
      <a:tcTxStyle/>
    </a:nwCell>
  </a:tblStyle>
</a:tblStyleLst>
</file>

<file path=ppt/_rels/presentation.xml.rels><?xml version="1.0" encoding="UTF-8" standalone="yes"?><Relationships xmlns="http://schemas.openxmlformats.org/package/2006/relationships"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" Type="http://schemas.openxmlformats.org/officeDocument/2006/relationships/theme" Target="theme/theme1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14" Type="http://schemas.openxmlformats.org/officeDocument/2006/relationships/slide" Target="slides/slide9.xml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7" Type="http://schemas.openxmlformats.org/officeDocument/2006/relationships/slide" Target="slides/slide2.xml"/><Relationship Id="rId8" Type="http://schemas.openxmlformats.org/officeDocument/2006/relationships/slide" Target="slides/slide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3" name="Google Shape;93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9" name="Google Shape;99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3" name="Shape 1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4" name="Google Shape;104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5" name="Google Shape;105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1" name="Shape 11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2" name="Google Shape;112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3" name="Google Shape;113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7" name="Shape 11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8" name="Google Shape;118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9" name="Google Shape;119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4" name="Shape 1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5" name="Google Shape;125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6" name="Google Shape;126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7" name="Shape 13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8" name="Google Shape;138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9" name="Google Shape;139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7" name="Shape 1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8" name="Google Shape;148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9" name="Google Shape;149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3" name="Shape 1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4" name="Google Shape;154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5" name="Google Shape;155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showMasterSp="0" type="secHead">
  <p:cSld name="SECTION_HEADER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33" name="Google Shape;33;p4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4" name="Google Shape;34;p4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5" name="Google Shape;35;p4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36" name="Google Shape;36;p4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37" name="Google Shape;37;p4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wo Content" type="twoObj">
  <p:cSld name="TWO_OBJECTS">
    <p:spTree>
      <p:nvGrpSpPr>
        <p:cNvPr id="38" name="Shape 3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9" name="Google Shape;39;p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0" name="Google Shape;40;p5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1" name="Google Shape;41;p5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2" name="Google Shape;42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3" name="Google Shape;43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4" name="Google Shape;44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mparison" type="twoTxTwoObj">
  <p:cSld name="TWO_OBJECTS_WITH_TEXT">
    <p:spTree>
      <p:nvGrpSpPr>
        <p:cNvPr id="45" name="Shape 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6" name="Google Shape;46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48" name="Google Shape;48;p6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9" name="Google Shape;49;p6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0" name="Google Shape;50;p6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1" name="Google Shape;51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2" name="Google Shape;52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3" name="Google Shape;53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54" name="Shape 5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5" name="Google Shape;55;p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6" name="Google Shape;56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7" name="Google Shape;57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8" name="Google Shape;58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showMasterSp="0" type="blank">
  <p:cSld name="BLANK">
    <p:spTree>
      <p:nvGrpSpPr>
        <p:cNvPr id="59" name="Shape 5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0" name="Google Shape;60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1" name="Google Shape;61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2" name="Google Shape;62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ntent with Caption" type="objTx">
  <p:cSld name="OBJECT_WITH_CAPTION_TEXT">
    <p:spTree>
      <p:nvGrpSpPr>
        <p:cNvPr id="63" name="Shape 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" name="Google Shape;64;p9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9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66" name="Google Shape;66;p9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Picture with Caption" showMasterSp="0" type="picTx">
  <p:cSld name="PICTURE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EE80BC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73" name="Google Shape;73;p10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77" name="Google Shape;77;p10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Vertical Text" type="vertTx">
  <p:cSld name="VERTICAL_TEXT">
    <p:spTree>
      <p:nvGrpSpPr>
        <p:cNvPr id="78" name="Shape 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" name="Google Shape;79;p1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Vertical Title and Text" showMasterSp="0" type="vertTitleAndTx">
  <p:cSld name="VERTICAL_TITLE_AND_VERTICAL_TEXT">
    <p:spTree>
      <p:nvGrpSpPr>
        <p:cNvPr id="84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5" name="Google Shape;85;p12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6" name="Google Shape;86;p12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90" name="Google Shape;90;p12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1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.xml"/><Relationship Id="rId3" Type="http://schemas.openxmlformats.org/officeDocument/2006/relationships/image" Target="../media/image3.jpg"/><Relationship Id="rId4" Type="http://schemas.openxmlformats.org/officeDocument/2006/relationships/image" Target="../media/image7.jpg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Relationship Id="rId3" Type="http://schemas.openxmlformats.org/officeDocument/2006/relationships/image" Target="../media/image4.png"/><Relationship Id="rId4" Type="http://schemas.openxmlformats.org/officeDocument/2006/relationships/image" Target="../media/image5.png"/><Relationship Id="rId5" Type="http://schemas.openxmlformats.org/officeDocument/2006/relationships/image" Target="../media/image6.jpg"/><Relationship Id="rId6" Type="http://schemas.openxmlformats.org/officeDocument/2006/relationships/image" Target="../media/image8.jpg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Relationship Id="rId3" Type="http://schemas.openxmlformats.org/officeDocument/2006/relationships/hyperlink" Target="https://us.nxgen.com/advantages-and-disadvantages-of-different-payment-types/" TargetMode="External"/><Relationship Id="rId4" Type="http://schemas.openxmlformats.org/officeDocument/2006/relationships/hyperlink" Target="https://www.business2community.com/strategy/pros-cons-different-payment-options-0881406" TargetMode="External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4" name="Shape 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5" name="Google Shape;95;p13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BTEC LEVEL 2 TECH AWARD</a:t>
            </a:r>
            <a:endParaRPr/>
          </a:p>
        </p:txBody>
      </p:sp>
      <p:sp>
        <p:nvSpPr>
          <p:cNvPr id="96" name="Google Shape;96;p13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GB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14"/>
          <p:cNvSpPr txBox="1"/>
          <p:nvPr>
            <p:ph type="title"/>
          </p:nvPr>
        </p:nvSpPr>
        <p:spPr>
          <a:xfrm>
            <a:off x="1379728" y="280416"/>
            <a:ext cx="9720072" cy="11927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LEARNING AIM B- FINANCIAL RECORDS</a:t>
            </a:r>
            <a:endParaRPr u="sng"/>
          </a:p>
        </p:txBody>
      </p:sp>
      <p:sp>
        <p:nvSpPr>
          <p:cNvPr id="102" name="Google Shape;102;p14"/>
          <p:cNvSpPr txBox="1"/>
          <p:nvPr>
            <p:ph idx="1" type="body"/>
          </p:nvPr>
        </p:nvSpPr>
        <p:spPr>
          <a:xfrm>
            <a:off x="1379728" y="1913467"/>
            <a:ext cx="9720073" cy="4023360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Learners will </a:t>
            </a:r>
            <a:r>
              <a:rPr i="1" lang="en-GB" sz="5000">
                <a:solidFill>
                  <a:srgbClr val="92D050"/>
                </a:solidFill>
              </a:rPr>
              <a:t>complete</a:t>
            </a:r>
            <a:r>
              <a:rPr lang="en-GB" sz="5000"/>
              <a:t>, </a:t>
            </a:r>
            <a:r>
              <a:rPr i="1" lang="en-GB" sz="5000">
                <a:solidFill>
                  <a:srgbClr val="92D050"/>
                </a:solidFill>
              </a:rPr>
              <a:t>interpret</a:t>
            </a:r>
            <a:r>
              <a:rPr lang="en-GB" sz="5000"/>
              <a:t> and </a:t>
            </a:r>
            <a:r>
              <a:rPr i="1" lang="en-GB" sz="5000">
                <a:solidFill>
                  <a:srgbClr val="92D050"/>
                </a:solidFill>
              </a:rPr>
              <a:t>check</a:t>
            </a:r>
            <a:r>
              <a:rPr lang="en-GB" sz="5000"/>
              <a:t> the information on financial documents and statements.</a:t>
            </a:r>
            <a:endParaRPr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15"/>
          <p:cNvSpPr txBox="1"/>
          <p:nvPr>
            <p:ph type="title"/>
          </p:nvPr>
        </p:nvSpPr>
        <p:spPr>
          <a:xfrm>
            <a:off x="1041063" y="195749"/>
            <a:ext cx="9720072" cy="1110658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500"/>
              <a:buFont typeface="Twentieth Century"/>
              <a:buNone/>
            </a:pPr>
            <a:r>
              <a:rPr lang="en-GB" sz="4500" u="sng"/>
              <a:t>LEARNING AIM B- FINANCIAL RECORDS</a:t>
            </a:r>
            <a:br>
              <a:rPr lang="en-GB" sz="4500" u="sng"/>
            </a:br>
            <a:r>
              <a:rPr lang="en-GB" sz="4500" u="sng"/>
              <a:t>DATE: </a:t>
            </a:r>
            <a:endParaRPr sz="4500" u="sng"/>
          </a:p>
        </p:txBody>
      </p:sp>
      <p:sp>
        <p:nvSpPr>
          <p:cNvPr id="108" name="Google Shape;108;p15"/>
          <p:cNvSpPr txBox="1"/>
          <p:nvPr>
            <p:ph idx="1" type="body"/>
          </p:nvPr>
        </p:nvSpPr>
        <p:spPr>
          <a:xfrm>
            <a:off x="1041062" y="1557867"/>
            <a:ext cx="9720073" cy="5080000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 u="sng">
                <a:solidFill>
                  <a:srgbClr val="FF00FF"/>
                </a:solidFill>
              </a:rPr>
              <a:t>Objectives: </a:t>
            </a:r>
            <a:endParaRPr/>
          </a:p>
          <a:p>
            <a:pPr indent="-1905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>
                <a:solidFill>
                  <a:srgbClr val="FF00FF"/>
                </a:solidFill>
              </a:rPr>
              <a:t>- To be able to identify different financial records used by a business as well as start up and running costs.  </a:t>
            </a:r>
            <a:endParaRPr/>
          </a:p>
          <a:p>
            <a:pPr indent="-1905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>
                <a:solidFill>
                  <a:srgbClr val="FF00FF"/>
                </a:solidFill>
              </a:rPr>
              <a:t>- To be able to explain the importance of different financial documents and their use in business. </a:t>
            </a:r>
            <a:endParaRPr sz="3000">
              <a:solidFill>
                <a:srgbClr val="FF00FF"/>
              </a:solidFill>
            </a:endParaRPr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i="1" lang="en-GB" sz="3000">
                <a:solidFill>
                  <a:srgbClr val="00B0F0"/>
                </a:solidFill>
              </a:rPr>
              <a:t>Starter: what do you think a financial document is? Can you name any financial documents your parents might have?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  <p:pic>
        <p:nvPicPr>
          <p:cNvPr id="109" name="Google Shape;109;p15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4027327" y="5231422"/>
            <a:ext cx="914088" cy="1269147"/>
          </a:xfrm>
          <a:prstGeom prst="rect">
            <a:avLst/>
          </a:prstGeom>
          <a:noFill/>
          <a:ln>
            <a:noFill/>
          </a:ln>
        </p:spPr>
      </p:pic>
      <p:pic>
        <p:nvPicPr>
          <p:cNvPr id="110" name="Google Shape;110;p15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5488354" y="5433646"/>
            <a:ext cx="1570682" cy="89987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4" name="Shape 11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5" name="Google Shape;115;p16"/>
          <p:cNvSpPr txBox="1"/>
          <p:nvPr>
            <p:ph type="title"/>
          </p:nvPr>
        </p:nvSpPr>
        <p:spPr>
          <a:xfrm>
            <a:off x="999414" y="267401"/>
            <a:ext cx="9720072" cy="960037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FINANCIAL DOCUMENTS </a:t>
            </a:r>
            <a:endParaRPr/>
          </a:p>
        </p:txBody>
      </p:sp>
      <p:sp>
        <p:nvSpPr>
          <p:cNvPr id="116" name="Google Shape;116;p16"/>
          <p:cNvSpPr txBox="1"/>
          <p:nvPr>
            <p:ph idx="1" type="body"/>
          </p:nvPr>
        </p:nvSpPr>
        <p:spPr>
          <a:xfrm>
            <a:off x="579285" y="1767017"/>
            <a:ext cx="10949569" cy="4646140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39700" lvl="0" marL="91440" rtl="0" algn="just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2200"/>
              <a:buChar char=" "/>
            </a:pPr>
            <a:r>
              <a:rPr lang="en-GB"/>
              <a:t>These are formal documents representing the transactions of a business, individual or other organization. Financial records maintained by most businesses include a statement of retained earnings and cash flow, income statements and the company's balance sheet and tax returns. Keeping financial records organized is a key element in a successful business</a:t>
            </a:r>
            <a:br>
              <a:rPr lang="en-GB"/>
            </a:br>
            <a:br>
              <a:rPr lang="en-GB"/>
            </a:br>
            <a:r>
              <a:rPr lang="en-GB"/>
              <a:t>it is important to have good financial records so that you can: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Monitor the progress of your business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Project your tax liability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Prepare your financial statements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Identify source of receipts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Keep track of deductible expenses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Prepare your tax return</a:t>
            </a:r>
            <a:endParaRPr/>
          </a:p>
          <a:p>
            <a:pPr indent="0" lvl="0" marL="9144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  <a:p>
            <a:pPr indent="0" lvl="0" marL="9144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0" name="Shape 1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1" name="Google Shape;121;p17"/>
          <p:cNvSpPr txBox="1"/>
          <p:nvPr>
            <p:ph type="title"/>
          </p:nvPr>
        </p:nvSpPr>
        <p:spPr>
          <a:xfrm>
            <a:off x="1616794" y="294639"/>
            <a:ext cx="9720072" cy="1009228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B1- TYPES OF FINANCIAL DOCUMENTS </a:t>
            </a:r>
            <a:endParaRPr u="sng"/>
          </a:p>
        </p:txBody>
      </p:sp>
      <p:graphicFrame>
        <p:nvGraphicFramePr>
          <p:cNvPr id="122" name="Google Shape;122;p17"/>
          <p:cNvGraphicFramePr/>
          <p:nvPr/>
        </p:nvGraphicFramePr>
        <p:xfrm>
          <a:off x="533062" y="1938866"/>
          <a:ext cx="3000000" cy="3000000"/>
        </p:xfrm>
        <a:graphic>
          <a:graphicData uri="http://schemas.openxmlformats.org/drawingml/2006/table">
            <a:tbl>
              <a:tblPr bandRow="1" firstRow="1">
                <a:noFill/>
                <a:tableStyleId>{2C60550F-5E75-4686-8427-F908EAF2B23B}</a:tableStyleId>
              </a:tblPr>
              <a:tblGrid>
                <a:gridCol w="3716975"/>
                <a:gridCol w="3716975"/>
                <a:gridCol w="3716975"/>
              </a:tblGrid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Type of document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Definition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Why it is important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Invoice</a:t>
                      </a:r>
                      <a:endParaRPr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Delivery notes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Purchase orders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Credit notes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Receipts 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</a:tbl>
          </a:graphicData>
        </a:graphic>
      </p:graphicFrame>
      <p:sp>
        <p:nvSpPr>
          <p:cNvPr id="123" name="Google Shape;123;p17"/>
          <p:cNvSpPr txBox="1"/>
          <p:nvPr/>
        </p:nvSpPr>
        <p:spPr>
          <a:xfrm>
            <a:off x="2316332" y="5962932"/>
            <a:ext cx="8320996" cy="553998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3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Complete the table by using the internet to help you. </a:t>
            </a:r>
            <a:endParaRPr sz="3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7" name="Shape 12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8" name="Google Shape;128;p18"/>
          <p:cNvSpPr txBox="1"/>
          <p:nvPr>
            <p:ph type="title"/>
          </p:nvPr>
        </p:nvSpPr>
        <p:spPr>
          <a:xfrm>
            <a:off x="1058165" y="-35898"/>
            <a:ext cx="9720072" cy="978408"/>
          </a:xfrm>
          <a:prstGeom prst="rect">
            <a:avLst/>
          </a:prstGeom>
          <a:noFill/>
          <a:ln cap="flat" cmpd="sng" w="3810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B2- PAYMENT METHODS </a:t>
            </a:r>
            <a:endParaRPr u="sng"/>
          </a:p>
        </p:txBody>
      </p:sp>
      <p:sp>
        <p:nvSpPr>
          <p:cNvPr id="129" name="Google Shape;129;p18"/>
          <p:cNvSpPr txBox="1"/>
          <p:nvPr>
            <p:ph idx="1" type="body"/>
          </p:nvPr>
        </p:nvSpPr>
        <p:spPr>
          <a:xfrm>
            <a:off x="465329" y="1046309"/>
            <a:ext cx="11337204" cy="819403"/>
          </a:xfrm>
          <a:prstGeom prst="rect">
            <a:avLst/>
          </a:prstGeom>
          <a:noFill/>
          <a:ln cap="flat" cmpd="sng" w="3810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i="1" lang="en-GB" sz="3000"/>
              <a:t>What are all of the different types of ways a business/customer can pay for products/services? 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i="1" sz="3000"/>
          </a:p>
        </p:txBody>
      </p:sp>
      <p:sp>
        <p:nvSpPr>
          <p:cNvPr id="130" name="Google Shape;130;p18"/>
          <p:cNvSpPr/>
          <p:nvPr/>
        </p:nvSpPr>
        <p:spPr>
          <a:xfrm>
            <a:off x="2997200" y="2854282"/>
            <a:ext cx="5046133" cy="2489200"/>
          </a:xfrm>
          <a:prstGeom prst="irregularSeal2">
            <a:avLst/>
          </a:prstGeom>
          <a:solidFill>
            <a:schemeClr val="accent1"/>
          </a:solidFill>
          <a:ln cap="flat" cmpd="sng" w="15875">
            <a:solidFill>
              <a:srgbClr val="A52069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Payment Methods </a:t>
            </a:r>
            <a:endParaRPr b="1"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1" name="Google Shape;131;p18"/>
          <p:cNvSpPr/>
          <p:nvPr/>
        </p:nvSpPr>
        <p:spPr>
          <a:xfrm>
            <a:off x="1345862" y="2493262"/>
            <a:ext cx="2311738" cy="617051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Cash </a:t>
            </a:r>
            <a:endParaRPr b="1" sz="2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2" name="Google Shape;132;p18"/>
          <p:cNvSpPr/>
          <p:nvPr/>
        </p:nvSpPr>
        <p:spPr>
          <a:xfrm>
            <a:off x="465329" y="3790356"/>
            <a:ext cx="2311738" cy="617051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Credit Card</a:t>
            </a:r>
            <a:endParaRPr b="1" sz="2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3" name="Google Shape;133;p18"/>
          <p:cNvSpPr/>
          <p:nvPr/>
        </p:nvSpPr>
        <p:spPr>
          <a:xfrm>
            <a:off x="5884165" y="2036401"/>
            <a:ext cx="2311738" cy="617051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Debit Card</a:t>
            </a:r>
            <a:endParaRPr b="1" sz="2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4" name="Google Shape;134;p18"/>
          <p:cNvSpPr/>
          <p:nvPr/>
        </p:nvSpPr>
        <p:spPr>
          <a:xfrm>
            <a:off x="465329" y="5034956"/>
            <a:ext cx="2311738" cy="617051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Direct Debit </a:t>
            </a:r>
            <a:endParaRPr b="1" sz="2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5" name="Google Shape;135;p18"/>
          <p:cNvSpPr/>
          <p:nvPr/>
        </p:nvSpPr>
        <p:spPr>
          <a:xfrm>
            <a:off x="3086269" y="5755638"/>
            <a:ext cx="4449571" cy="617051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Other payment technologies </a:t>
            </a:r>
            <a:endParaRPr b="1" sz="2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6" name="Google Shape;136;p18"/>
          <p:cNvSpPr/>
          <p:nvPr/>
        </p:nvSpPr>
        <p:spPr>
          <a:xfrm>
            <a:off x="8043333" y="2933356"/>
            <a:ext cx="3759200" cy="3439163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2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Excel: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1" sz="22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2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What is the difference between a credit card and a debit card?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22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2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What does the term ‘interest’ mean in relation to finance?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22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2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What is a direct debit? </a:t>
            </a:r>
            <a:endParaRPr sz="22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0" name="Shape 14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1" name="Google Shape;141;p19"/>
          <p:cNvSpPr txBox="1"/>
          <p:nvPr>
            <p:ph type="title"/>
          </p:nvPr>
        </p:nvSpPr>
        <p:spPr>
          <a:xfrm>
            <a:off x="1341801" y="316924"/>
            <a:ext cx="9720072" cy="1108118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B2- OTHER PAYMENT TECHNOLOGIES… </a:t>
            </a:r>
            <a:endParaRPr u="sng"/>
          </a:p>
        </p:txBody>
      </p:sp>
      <p:pic>
        <p:nvPicPr>
          <p:cNvPr id="142" name="Google Shape;142;p19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22299" y="2988122"/>
            <a:ext cx="2874773" cy="1703303"/>
          </a:xfrm>
          <a:prstGeom prst="rect">
            <a:avLst/>
          </a:prstGeom>
          <a:noFill/>
          <a:ln>
            <a:noFill/>
          </a:ln>
        </p:spPr>
      </p:pic>
      <p:pic>
        <p:nvPicPr>
          <p:cNvPr id="143" name="Google Shape;143;p19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2912196" y="5244570"/>
            <a:ext cx="5689596" cy="1513432"/>
          </a:xfrm>
          <a:prstGeom prst="rect">
            <a:avLst/>
          </a:prstGeom>
          <a:noFill/>
          <a:ln>
            <a:noFill/>
          </a:ln>
        </p:spPr>
      </p:pic>
      <p:pic>
        <p:nvPicPr>
          <p:cNvPr id="144" name="Google Shape;144;p19"/>
          <p:cNvPicPr preferRelativeResize="0"/>
          <p:nvPr/>
        </p:nvPicPr>
        <p:blipFill rotWithShape="1">
          <a:blip r:embed="rId5">
            <a:alphaModFix/>
          </a:blip>
          <a:srcRect b="0" l="0" r="0" t="0"/>
          <a:stretch/>
        </p:blipFill>
        <p:spPr>
          <a:xfrm>
            <a:off x="3853303" y="1425042"/>
            <a:ext cx="3488267" cy="1924679"/>
          </a:xfrm>
          <a:prstGeom prst="rect">
            <a:avLst/>
          </a:prstGeom>
          <a:noFill/>
          <a:ln>
            <a:noFill/>
          </a:ln>
        </p:spPr>
      </p:pic>
      <p:pic>
        <p:nvPicPr>
          <p:cNvPr id="145" name="Google Shape;145;p19"/>
          <p:cNvPicPr preferRelativeResize="0"/>
          <p:nvPr/>
        </p:nvPicPr>
        <p:blipFill rotWithShape="1">
          <a:blip r:embed="rId6">
            <a:alphaModFix/>
          </a:blip>
          <a:srcRect b="0" l="0" r="0" t="0"/>
          <a:stretch/>
        </p:blipFill>
        <p:spPr>
          <a:xfrm>
            <a:off x="7797802" y="2988122"/>
            <a:ext cx="3615265" cy="1855363"/>
          </a:xfrm>
          <a:prstGeom prst="rect">
            <a:avLst/>
          </a:prstGeom>
          <a:noFill/>
          <a:ln>
            <a:noFill/>
          </a:ln>
        </p:spPr>
      </p:pic>
      <p:sp>
        <p:nvSpPr>
          <p:cNvPr id="146" name="Google Shape;146;p19"/>
          <p:cNvSpPr/>
          <p:nvPr/>
        </p:nvSpPr>
        <p:spPr>
          <a:xfrm>
            <a:off x="3619638" y="3226418"/>
            <a:ext cx="3721389" cy="1740998"/>
          </a:xfrm>
          <a:prstGeom prst="cloud">
            <a:avLst/>
          </a:prstGeom>
          <a:solidFill>
            <a:schemeClr val="accent1"/>
          </a:solidFill>
          <a:ln cap="flat" cmpd="sng" w="15875">
            <a:solidFill>
              <a:srgbClr val="A52069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Why have these payment methods become more popular over the past few years? </a:t>
            </a:r>
            <a:endParaRPr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0" name="Shape 1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1" name="Google Shape;151;p20"/>
          <p:cNvSpPr txBox="1"/>
          <p:nvPr>
            <p:ph type="title"/>
          </p:nvPr>
        </p:nvSpPr>
        <p:spPr>
          <a:xfrm>
            <a:off x="520530" y="212682"/>
            <a:ext cx="11049338" cy="1499616"/>
          </a:xfrm>
          <a:prstGeom prst="rect">
            <a:avLst/>
          </a:prstGeom>
          <a:noFill/>
          <a:ln cap="flat" cmpd="sng" w="3810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600"/>
              <a:buFont typeface="Twentieth Century"/>
              <a:buNone/>
            </a:pPr>
            <a:r>
              <a:rPr lang="en-GB" sz="4600" u="sng"/>
              <a:t>B2-IMPACT ON CUSTOMERS AND ENTERPRISES OF METHODS </a:t>
            </a:r>
            <a:endParaRPr sz="4600" u="sng"/>
          </a:p>
        </p:txBody>
      </p:sp>
      <p:sp>
        <p:nvSpPr>
          <p:cNvPr id="152" name="Google Shape;152;p20"/>
          <p:cNvSpPr txBox="1"/>
          <p:nvPr>
            <p:ph idx="1" type="body"/>
          </p:nvPr>
        </p:nvSpPr>
        <p:spPr>
          <a:xfrm>
            <a:off x="423333" y="2286000"/>
            <a:ext cx="11243733" cy="4023360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600"/>
              <a:buNone/>
            </a:pPr>
            <a:r>
              <a:rPr lang="en-GB" sz="2600"/>
              <a:t>Write a paragraph of explanation on how different payment methods help </a:t>
            </a:r>
            <a:r>
              <a:rPr lang="en-GB" sz="2600">
                <a:solidFill>
                  <a:srgbClr val="FF00FF"/>
                </a:solidFill>
              </a:rPr>
              <a:t>a) the business b) the customers</a:t>
            </a:r>
            <a:endParaRPr sz="2600">
              <a:solidFill>
                <a:srgbClr val="FF00FF"/>
              </a:solidFill>
            </a:endParaRPr>
          </a:p>
          <a:p>
            <a:pPr indent="0" lvl="0" marL="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rPr lang="en-GB" sz="2600"/>
              <a:t>Then create a quick table of the pros and cons of the different payment methods. Some useful links below. </a:t>
            </a:r>
            <a:endParaRPr sz="2600"/>
          </a:p>
          <a:p>
            <a:pPr indent="-1651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Noto Sans Symbols"/>
              <a:buChar char="❖"/>
            </a:pPr>
            <a:r>
              <a:rPr lang="en-GB" sz="2600" u="sng">
                <a:solidFill>
                  <a:schemeClr val="hlink"/>
                </a:solidFill>
                <a:hlinkClick r:id="rId3"/>
              </a:rPr>
              <a:t>https://us.nxgen.com/advantages-and-disadvantages-of-different-payment-types/</a:t>
            </a:r>
            <a:endParaRPr sz="2600"/>
          </a:p>
          <a:p>
            <a:pPr indent="-1651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Noto Sans Symbols"/>
              <a:buChar char="❖"/>
            </a:pPr>
            <a:r>
              <a:rPr lang="en-GB" sz="2600" u="sng">
                <a:solidFill>
                  <a:schemeClr val="hlink"/>
                </a:solidFill>
                <a:hlinkClick r:id="rId4"/>
              </a:rPr>
              <a:t>https://www.business2community.com/strategy/pros-cons-different-payment-options-0881406</a:t>
            </a:r>
            <a:endParaRPr sz="2600"/>
          </a:p>
          <a:p>
            <a:pPr indent="0" lvl="0" marL="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6" name="Shape 15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7" name="Google Shape;157;p21"/>
          <p:cNvSpPr txBox="1"/>
          <p:nvPr>
            <p:ph type="title"/>
          </p:nvPr>
        </p:nvSpPr>
        <p:spPr>
          <a:xfrm>
            <a:off x="1011771" y="378611"/>
            <a:ext cx="9720072" cy="1042416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 QUIZ: </a:t>
            </a:r>
            <a:endParaRPr u="sng"/>
          </a:p>
        </p:txBody>
      </p:sp>
      <p:sp>
        <p:nvSpPr>
          <p:cNvPr id="158" name="Google Shape;158;p21"/>
          <p:cNvSpPr txBox="1"/>
          <p:nvPr>
            <p:ph idx="1" type="body"/>
          </p:nvPr>
        </p:nvSpPr>
        <p:spPr>
          <a:xfrm>
            <a:off x="653426" y="1878227"/>
            <a:ext cx="10801288" cy="4448432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457200" lvl="0" marL="45720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What is an invoice? (1)</a:t>
            </a:r>
            <a:endParaRPr/>
          </a:p>
          <a:p>
            <a:pPr indent="-457200" lvl="0" marL="45720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What is a purchase order? (1) </a:t>
            </a:r>
            <a:endParaRPr/>
          </a:p>
          <a:p>
            <a:pPr indent="-457200" lvl="0" marL="45720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State one reason why it is important for a business to keep accurate financial records? (1)</a:t>
            </a:r>
            <a:endParaRPr/>
          </a:p>
          <a:p>
            <a:pPr indent="-457200" lvl="0" marL="45720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Name two other payment technologies used by businesses and customers. (2) </a:t>
            </a:r>
            <a:endParaRPr/>
          </a:p>
          <a:p>
            <a:pPr indent="-292100" lvl="0" marL="45720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Twentieth Century"/>
              <a:buNone/>
            </a:pPr>
            <a:r>
              <a:t/>
            </a:r>
            <a:endParaRPr sz="2600"/>
          </a:p>
          <a:p>
            <a:pPr indent="0" lvl="0" marL="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rPr b="1" lang="en-GB" sz="3000">
                <a:solidFill>
                  <a:srgbClr val="FF00FF"/>
                </a:solidFill>
              </a:rPr>
              <a:t>Get your shoulder partner to mark your work. </a:t>
            </a:r>
            <a:endParaRPr/>
          </a:p>
          <a:p>
            <a:pPr indent="-317500" lvl="0" marL="45720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Twentieth Century"/>
              <a:buNone/>
            </a:pPr>
            <a:r>
              <a:t/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theme/theme1.xml><?xml version="1.0" encoding="utf-8"?>
<a:theme xmlns:a="http://schemas.openxmlformats.org/drawingml/2006/main" xmlns:r="http://schemas.openxmlformats.org/officeDocument/2006/relationships" name="Integral">
  <a:themeElements>
    <a:clrScheme name="Red Violet">
      <a:dk1>
        <a:srgbClr val="000000"/>
      </a:dk1>
      <a:lt1>
        <a:srgbClr val="FFFFFF"/>
      </a:lt1>
      <a:dk2>
        <a:srgbClr val="454551"/>
      </a:dk2>
      <a:lt2>
        <a:srgbClr val="D8D9DC"/>
      </a:lt2>
      <a:accent1>
        <a:srgbClr val="E32D91"/>
      </a:accent1>
      <a:accent2>
        <a:srgbClr val="C830CC"/>
      </a:accent2>
      <a:accent3>
        <a:srgbClr val="4EA6DC"/>
      </a:accent3>
      <a:accent4>
        <a:srgbClr val="4775E7"/>
      </a:accent4>
      <a:accent5>
        <a:srgbClr val="8971E1"/>
      </a:accent5>
      <a:accent6>
        <a:srgbClr val="D54773"/>
      </a:accent6>
      <a:hlink>
        <a:srgbClr val="6B9F25"/>
      </a:hlink>
      <a:folHlink>
        <a:srgbClr val="8C8C8C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