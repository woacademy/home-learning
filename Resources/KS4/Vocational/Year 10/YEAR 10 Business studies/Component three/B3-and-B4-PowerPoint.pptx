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Cost of premises – s+r		electricity - r		phone bill - r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Estate agent’s fees - s	                        stock– s+r		computer - 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Wages - r			furniture - s		Van - s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Training – s+r			Tax for van - r		Insurance – s+r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/>
              <a:t>Advertising – s+r		Cash register - s	Petrol - 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showMasterSp="0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3" name="Google Shape;43;p5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5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🢝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🢝"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EE80BC"/>
          </a:solidFill>
          <a:ln>
            <a:noFill/>
          </a:ln>
        </p:spPr>
        <p:txBody>
          <a:bodyPr anchorCtr="0" anchor="t" bIns="45700" lIns="457200" spcFirstLastPara="1" rIns="45700" wrap="square" tIns="3657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wentieth Century"/>
              <a:buNone/>
              <a:defRPr b="0" i="0" sz="3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7" name="Google Shape;77;p10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3872484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showMasterSp="0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0" name="Google Shape;90;p12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BTEC LEVEL 2 TECH AWARD</a:t>
            </a:r>
            <a:endParaRPr/>
          </a:p>
        </p:txBody>
      </p:sp>
      <p:sp>
        <p:nvSpPr>
          <p:cNvPr id="96" name="Google Shape;96;p13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Promotion and Finance for Enterprise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1379728" y="280416"/>
            <a:ext cx="9720072" cy="1192784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LEARNING AIM B- FINANCIAL RECORDS</a:t>
            </a:r>
            <a:endParaRPr u="sng"/>
          </a:p>
        </p:txBody>
      </p:sp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1379728" y="1913467"/>
            <a:ext cx="9720073" cy="402336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5000"/>
              <a:t>Learners will </a:t>
            </a:r>
            <a:r>
              <a:rPr i="1" lang="en-GB" sz="5000">
                <a:solidFill>
                  <a:srgbClr val="92D050"/>
                </a:solidFill>
              </a:rPr>
              <a:t>complete</a:t>
            </a:r>
            <a:r>
              <a:rPr lang="en-GB" sz="5000"/>
              <a:t>, </a:t>
            </a:r>
            <a:r>
              <a:rPr i="1" lang="en-GB" sz="5000">
                <a:solidFill>
                  <a:srgbClr val="92D050"/>
                </a:solidFill>
              </a:rPr>
              <a:t>interpret</a:t>
            </a:r>
            <a:r>
              <a:rPr lang="en-GB" sz="5000"/>
              <a:t> and </a:t>
            </a:r>
            <a:r>
              <a:rPr i="1" lang="en-GB" sz="5000">
                <a:solidFill>
                  <a:srgbClr val="92D050"/>
                </a:solidFill>
              </a:rPr>
              <a:t>check</a:t>
            </a:r>
            <a:r>
              <a:rPr lang="en-GB" sz="5000"/>
              <a:t> the information on financial documents and statements.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1041063" y="195749"/>
            <a:ext cx="9720072" cy="1362118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GB" sz="4000" u="sng"/>
              <a:t>LEARNING AIM B- B4 TYPES OF COSTS  </a:t>
            </a:r>
            <a:br>
              <a:rPr lang="en-GB" sz="4000" u="sng"/>
            </a:br>
            <a:r>
              <a:rPr lang="en-GB" sz="4000" u="sng"/>
              <a:t>DATE: </a:t>
            </a:r>
            <a:endParaRPr sz="4000" u="sng"/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1041062" y="1853513"/>
            <a:ext cx="9720073" cy="4784353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 u="sng">
                <a:solidFill>
                  <a:srgbClr val="FF00FF"/>
                </a:solidFill>
              </a:rPr>
              <a:t>Objectives: </a:t>
            </a:r>
            <a:endParaRPr/>
          </a:p>
          <a:p>
            <a:pPr indent="-1905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>
                <a:solidFill>
                  <a:srgbClr val="FF00FF"/>
                </a:solidFill>
              </a:rPr>
              <a:t>- To be able to identify the difference between start up costs and running costs </a:t>
            </a:r>
            <a:endParaRPr/>
          </a:p>
          <a:p>
            <a:pPr indent="-1905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>
                <a:solidFill>
                  <a:srgbClr val="FF00FF"/>
                </a:solidFill>
              </a:rPr>
              <a:t>- To be able to define key terminology in financial statements. </a:t>
            </a:r>
            <a:endParaRPr sz="3000">
              <a:solidFill>
                <a:srgbClr val="FF00FF"/>
              </a:solidFill>
            </a:endParaRPr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i="1" lang="en-GB" sz="3000" u="sng">
                <a:solidFill>
                  <a:srgbClr val="00B0F0"/>
                </a:solidFill>
              </a:rPr>
              <a:t>Starter: </a:t>
            </a:r>
            <a:endParaRPr/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i="1" lang="en-GB" sz="3000">
                <a:solidFill>
                  <a:srgbClr val="00B0F0"/>
                </a:solidFill>
              </a:rPr>
              <a:t>What do you think is the difference between a </a:t>
            </a:r>
            <a:r>
              <a:rPr i="1" lang="en-GB" sz="3000" u="sng">
                <a:solidFill>
                  <a:srgbClr val="FF00FF"/>
                </a:solidFill>
              </a:rPr>
              <a:t>start up cost </a:t>
            </a:r>
            <a:r>
              <a:rPr i="1" lang="en-GB" sz="3000">
                <a:solidFill>
                  <a:srgbClr val="00B0F0"/>
                </a:solidFill>
              </a:rPr>
              <a:t>and a </a:t>
            </a:r>
            <a:r>
              <a:rPr i="1" lang="en-GB" sz="3000" u="sng">
                <a:solidFill>
                  <a:srgbClr val="FF00FF"/>
                </a:solidFill>
              </a:rPr>
              <a:t>running cost</a:t>
            </a:r>
            <a:r>
              <a:rPr i="1" lang="en-GB" sz="3000">
                <a:solidFill>
                  <a:srgbClr val="00B0F0"/>
                </a:solidFill>
              </a:rPr>
              <a:t>?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1515195" y="297349"/>
            <a:ext cx="9720072" cy="1091184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B3- SOURCES OF REVENUE AND COSTS </a:t>
            </a:r>
            <a:endParaRPr u="sng"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1515194" y="2201334"/>
            <a:ext cx="9720073" cy="4023360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Where does a business get its money from?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Income can from two sources: (Notes) 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 u="sng">
                <a:solidFill>
                  <a:srgbClr val="FF00FF"/>
                </a:solidFill>
              </a:rPr>
              <a:t>Sales of goods and/or services- </a:t>
            </a:r>
            <a:r>
              <a:rPr lang="en-GB" sz="3000"/>
              <a:t>this means generally selling things to make money. 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 u="sng">
                <a:solidFill>
                  <a:srgbClr val="FF00FF"/>
                </a:solidFill>
              </a:rPr>
              <a:t>Sales from Assets- </a:t>
            </a:r>
            <a:r>
              <a:rPr lang="en-GB" sz="3000"/>
              <a:t>this means selling any business property in return for cash.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1311993" y="375071"/>
            <a:ext cx="10118005" cy="962661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WHAT ARE “START-UP COSTS”?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973328" y="1642532"/>
            <a:ext cx="10626005" cy="4402667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These are costs that must be met BEFORE the business can start selling any products.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They include, for example:</a:t>
            </a:r>
            <a:endParaRPr/>
          </a:p>
          <a:p>
            <a:pPr indent="-190500" lvl="2" marL="44805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000"/>
              <a:buChar char="🢝"/>
            </a:pPr>
            <a:r>
              <a:rPr lang="en-GB" sz="3000"/>
              <a:t>Buying premises</a:t>
            </a:r>
            <a:endParaRPr/>
          </a:p>
          <a:p>
            <a:pPr indent="-1905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Char char="🢝"/>
            </a:pPr>
            <a:r>
              <a:rPr lang="en-GB" sz="3000"/>
              <a:t>Buying equipment</a:t>
            </a:r>
            <a:endParaRPr/>
          </a:p>
          <a:p>
            <a:pPr indent="-1905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Char char="🢝"/>
            </a:pPr>
            <a:r>
              <a:rPr lang="en-GB" sz="3000"/>
              <a:t>Purchasing initial stock</a:t>
            </a:r>
            <a:endParaRPr/>
          </a:p>
          <a:p>
            <a:pPr indent="-1905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Char char="🢝"/>
            </a:pPr>
            <a:r>
              <a:rPr lang="en-GB" sz="3000"/>
              <a:t>Doing Market Research.</a:t>
            </a:r>
            <a:endParaRPr/>
          </a:p>
          <a:p>
            <a:pPr indent="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</p:txBody>
      </p:sp>
      <p:pic>
        <p:nvPicPr>
          <p:cNvPr descr="Screen Clipping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6464" y="2535183"/>
            <a:ext cx="2654470" cy="2792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1182285" y="719667"/>
            <a:ext cx="4198240" cy="7589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b="1" lang="en-GB" u="sng"/>
              <a:t>TASK 1</a:t>
            </a:r>
            <a:endParaRPr b="1" u="sng"/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685461" y="1845733"/>
            <a:ext cx="10947739" cy="4673600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GB" sz="2800"/>
              <a:t>Mrs Mason was looking in an estate agent’s window. She has seen an empty shop for sale where she could make her custom men's suits.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GB" sz="2800"/>
              <a:t>Work in pairs and on post-it notes, write all the things she would need to buy or pay for before she could open the shop and start selling her product.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GB" sz="2800"/>
              <a:t>Take it in turns to bring them up to the board to create a long list of examples!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1103103" y="203200"/>
            <a:ext cx="10801030" cy="997826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OPERATING OR RUNNING COSTS</a:t>
            </a:r>
            <a:endParaRPr u="sng"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907646" y="1374649"/>
            <a:ext cx="10996487" cy="5330951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651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These are costs which, once the business is up and running, will have to be paid daily, weekly, monthly or annually. </a:t>
            </a:r>
            <a:endParaRPr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They keep the business going!</a:t>
            </a:r>
            <a:endParaRPr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They include:</a:t>
            </a:r>
            <a:endParaRPr/>
          </a:p>
          <a:p>
            <a:pPr indent="-165100" lvl="2" marL="44805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Advertising</a:t>
            </a:r>
            <a:endParaRPr/>
          </a:p>
          <a:p>
            <a:pPr indent="-1651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Buying more stock</a:t>
            </a:r>
            <a:endParaRPr/>
          </a:p>
          <a:p>
            <a:pPr indent="-1651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Paying wages</a:t>
            </a:r>
            <a:endParaRPr/>
          </a:p>
          <a:p>
            <a:pPr indent="-1651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Rent</a:t>
            </a:r>
            <a:endParaRPr/>
          </a:p>
          <a:p>
            <a:pPr indent="-1651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Insurance</a:t>
            </a:r>
            <a:endParaRPr/>
          </a:p>
          <a:p>
            <a:pPr indent="-1651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Electricity</a:t>
            </a:r>
            <a:endParaRPr/>
          </a:p>
          <a:p>
            <a:pPr indent="-1651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Van repairs</a:t>
            </a:r>
            <a:endParaRPr/>
          </a:p>
          <a:p>
            <a:pPr indent="-1651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Petrol</a:t>
            </a:r>
            <a:endParaRPr sz="2600"/>
          </a:p>
        </p:txBody>
      </p:sp>
      <p:pic>
        <p:nvPicPr>
          <p:cNvPr descr="Screen Clipping" id="134" name="Google Shape;1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3149" y="2955809"/>
            <a:ext cx="3943518" cy="2722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1825752" y="228600"/>
            <a:ext cx="4414264" cy="758952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TASK 2</a:t>
            </a:r>
            <a:endParaRPr u="sng"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1091861" y="1507067"/>
            <a:ext cx="10609072" cy="4165599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Twentieth Century"/>
              <a:buAutoNum type="arabicPeriod"/>
            </a:pPr>
            <a:r>
              <a:rPr lang="en-GB" sz="4000"/>
              <a:t>Joe is thinking of becoming a window cleaner. His likely customers will live at opposite ends of the town. List his likely start-up and running costs.</a:t>
            </a:r>
            <a:endParaRPr/>
          </a:p>
          <a:p>
            <a:pPr indent="-260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000"/>
              <a:buFont typeface="Twentieth Century"/>
              <a:buNone/>
            </a:pPr>
            <a:r>
              <a:t/>
            </a:r>
            <a:endParaRPr sz="4000"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000"/>
              <a:buFont typeface="Twentieth Century"/>
              <a:buAutoNum type="arabicPeriod"/>
            </a:pPr>
            <a:r>
              <a:rPr lang="en-GB" sz="4000"/>
              <a:t>Lisa wants to open a hairdresser’s salon. List her likely start-up and running costs.</a:t>
            </a:r>
            <a:endParaRPr sz="4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956393" y="1676400"/>
            <a:ext cx="4754880" cy="4023360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 txBox="1"/>
          <p:nvPr>
            <p:ph idx="2" type="body"/>
          </p:nvPr>
        </p:nvSpPr>
        <p:spPr>
          <a:xfrm>
            <a:off x="6384032" y="1676400"/>
            <a:ext cx="4754880" cy="4023360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6384032" y="260648"/>
            <a:ext cx="4054224" cy="758952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400" u="sng" cap="none" strike="noStrike">
                <a:solidFill>
                  <a:srgbClr val="FF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Lisa</a:t>
            </a:r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956393" y="354264"/>
            <a:ext cx="4054224" cy="758952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400" u="sng" cap="none" strike="noStrike">
                <a:solidFill>
                  <a:srgbClr val="FF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Joe</a:t>
            </a:r>
            <a:endParaRPr b="1" i="0" sz="4400" u="sng" cap="none" strike="noStrike">
              <a:solidFill>
                <a:srgbClr val="FF00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1334685" y="509808"/>
            <a:ext cx="4342256" cy="7589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TASK 5</a:t>
            </a:r>
            <a:endParaRPr u="sng"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1024128" y="1439333"/>
            <a:ext cx="10659872" cy="4978399"/>
          </a:xfrm>
          <a:prstGeom prst="rect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Rearrange the following into 2 lists – Start-up costs and running costs. Some may be in both lists!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Cost of premises		electricity		phone bill	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Estate agent’s fees	stock			computer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wages			furniture		Van	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Training			Tax for van		Insurance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Advertising			Cash register	Petrol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RESEARCH TASK</a:t>
            </a:r>
            <a:endParaRPr u="sng"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28600" lvl="0" marL="9144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 "/>
            </a:pPr>
            <a:r>
              <a:rPr lang="en-GB" sz="3600"/>
              <a:t>You will now do some research on some key words that you will need to know throughout the rest of this unit. </a:t>
            </a:r>
            <a:endParaRPr sz="3600"/>
          </a:p>
          <a:p>
            <a:pPr indent="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  <a:p>
            <a:pPr indent="-2286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00"/>
              <a:buChar char=" "/>
            </a:pPr>
            <a:r>
              <a:rPr lang="en-GB" sz="3600"/>
              <a:t>They are important key words that you will need to remember and revise over the course of the unit. </a:t>
            </a:r>
            <a:endParaRPr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1244261" y="229616"/>
            <a:ext cx="9720072" cy="1192784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B4- TERMINOLOGY IN FINANCIAL STATEMENTS </a:t>
            </a:r>
            <a:endParaRPr u="sng"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431461" y="2084832"/>
            <a:ext cx="7053072" cy="4451435"/>
          </a:xfrm>
          <a:prstGeom prst="rect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651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• Turnover (net sales) and cost of sales (cost of goods sold)</a:t>
            </a:r>
            <a:endParaRPr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• Gross profit, expenses, net profit, retained profit</a:t>
            </a:r>
            <a:endParaRPr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• Fixed assets and current assets</a:t>
            </a:r>
            <a:endParaRPr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• Current liabilities and long-term liabilities</a:t>
            </a:r>
            <a:endParaRPr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• Debtors and creditors</a:t>
            </a:r>
            <a:endParaRPr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• Net current assets</a:t>
            </a:r>
            <a:endParaRPr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• Capital</a:t>
            </a:r>
            <a:endParaRPr sz="2600"/>
          </a:p>
        </p:txBody>
      </p:sp>
      <p:sp>
        <p:nvSpPr>
          <p:cNvPr id="168" name="Google Shape;168;p24"/>
          <p:cNvSpPr/>
          <p:nvPr/>
        </p:nvSpPr>
        <p:spPr>
          <a:xfrm>
            <a:off x="7924800" y="2084832"/>
            <a:ext cx="3810000" cy="4451435"/>
          </a:xfrm>
          <a:prstGeom prst="rect">
            <a:avLst/>
          </a:prstGeom>
          <a:solidFill>
            <a:srgbClr val="FFC000"/>
          </a:solidFill>
          <a:ln cap="flat" cmpd="sng" w="15875">
            <a:solidFill>
              <a:srgbClr val="A520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Research the definitions of the following key terms for this topic.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Remember to write down definitions that make sense to you and don’t just copy straight from online.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500"/>
              <a:buFont typeface="Twentieth Century"/>
              <a:buNone/>
            </a:pPr>
            <a:r>
              <a:rPr lang="en-GB" sz="5500" u="sng"/>
              <a:t>PLENARY </a:t>
            </a:r>
            <a:endParaRPr sz="5500" u="sng"/>
          </a:p>
        </p:txBody>
      </p:sp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0" marL="9144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Char char=" "/>
            </a:pPr>
            <a:r>
              <a:rPr lang="en-GB" sz="5000"/>
              <a:t>What are three things you know now that you did not know before the start of the lesson? </a:t>
            </a:r>
            <a:endParaRPr/>
          </a:p>
          <a:p>
            <a:pPr indent="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5000"/>
              <a:buNone/>
            </a:pPr>
            <a:r>
              <a:t/>
            </a:r>
            <a:endParaRPr sz="5000"/>
          </a:p>
          <a:p>
            <a:pPr indent="-3175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5000"/>
              <a:buChar char=" "/>
            </a:pPr>
            <a:r>
              <a:rPr lang="en-GB" sz="5000"/>
              <a:t>Share this with your shoulder partner</a:t>
            </a:r>
            <a:r>
              <a:rPr lang="en-GB"/>
              <a:t>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