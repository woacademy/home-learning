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1" name="Google Shape;151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Cost of premises – s+r		electricity - r		phone bill - r	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Estate agent’s fees - s	                        stock– s+r		computer - 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Wages - r			furniture - s		Van - s	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Training – s+r			Tax for van - r		Insurance – s+r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Advertising – s+r		Cash register - s	Petrol - 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362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B- B4 TYPES OF COSTS 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853513"/>
            <a:ext cx="9720073" cy="4784353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the difference between start up costs and running costs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define key terminology in financial statements.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00B0F0"/>
                </a:solidFill>
              </a:rPr>
              <a:t>Starter: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What do you think is the difference between a </a:t>
            </a:r>
            <a:r>
              <a:rPr i="1" lang="en-GB" sz="3000" u="sng">
                <a:solidFill>
                  <a:srgbClr val="FF00FF"/>
                </a:solidFill>
              </a:rPr>
              <a:t>start up cost </a:t>
            </a:r>
            <a:r>
              <a:rPr i="1" lang="en-GB" sz="3000">
                <a:solidFill>
                  <a:srgbClr val="00B0F0"/>
                </a:solidFill>
              </a:rPr>
              <a:t>and a </a:t>
            </a:r>
            <a:r>
              <a:rPr i="1" lang="en-GB" sz="3000" u="sng">
                <a:solidFill>
                  <a:srgbClr val="FF00FF"/>
                </a:solidFill>
              </a:rPr>
              <a:t>running cost</a:t>
            </a:r>
            <a:r>
              <a:rPr i="1" lang="en-GB" sz="3000">
                <a:solidFill>
                  <a:srgbClr val="00B0F0"/>
                </a:solidFill>
              </a:rPr>
              <a:t>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515195" y="297349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B3- SOURCES OF REVENUE AND COSTS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515194" y="2201334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Where does a business get its money from?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Income can from two sources: (Notes) 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Sales of goods and/or services- </a:t>
            </a:r>
            <a:r>
              <a:rPr lang="en-GB" sz="3000"/>
              <a:t>this means generally selling things to make money. 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Sales from Assets- </a:t>
            </a:r>
            <a:r>
              <a:rPr lang="en-GB" sz="3000"/>
              <a:t>this means selling any business property in return for cash.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311993" y="375071"/>
            <a:ext cx="10118005" cy="96266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ARE “START-UP COSTS”?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973328" y="1642532"/>
            <a:ext cx="10626005" cy="440266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These are costs that must be met BEFORE the business can start selling any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They include, for 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Buying premises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Buying equipment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Purchasing initial stock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Doing Market Research.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76464" y="2535183"/>
            <a:ext cx="2654470" cy="279236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182285" y="719667"/>
            <a:ext cx="4198240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TASK 1</a:t>
            </a:r>
            <a:endParaRPr b="1" u="sng"/>
          </a:p>
        </p:txBody>
      </p:sp>
      <p:sp>
        <p:nvSpPr>
          <p:cNvPr id="127" name="Google Shape;127;p18"/>
          <p:cNvSpPr txBox="1"/>
          <p:nvPr>
            <p:ph idx="1" type="body"/>
          </p:nvPr>
        </p:nvSpPr>
        <p:spPr>
          <a:xfrm>
            <a:off x="685461" y="1845733"/>
            <a:ext cx="10947739" cy="46736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Mrs Mason was looking in an estate agent’s window. She has seen an empty shop for sale where she could make her custom men's suits.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-1778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Work in pairs and on post-it notes, write all the things she would need to buy or pay for before she could open the shop and start selling her product.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-1778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Take it in turns to bring them up to the board to create a long list of examples!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9"/>
          <p:cNvSpPr txBox="1"/>
          <p:nvPr>
            <p:ph type="title"/>
          </p:nvPr>
        </p:nvSpPr>
        <p:spPr>
          <a:xfrm>
            <a:off x="1103103" y="203200"/>
            <a:ext cx="10801030" cy="99782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OPERATING OR RUNNING COSTS</a:t>
            </a:r>
            <a:endParaRPr u="sng"/>
          </a:p>
        </p:txBody>
      </p:sp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907646" y="1374649"/>
            <a:ext cx="10996487" cy="53309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These are costs which, once the business is up and running, will have to be paid daily, weekly, monthly or annually. 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They keep the business going!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They include: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Advertising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Buying more stock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Paying wages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Rent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Insurance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Electricity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Van repairs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Petrol</a:t>
            </a:r>
            <a:endParaRPr sz="2600"/>
          </a:p>
        </p:txBody>
      </p:sp>
      <p:pic>
        <p:nvPicPr>
          <p:cNvPr descr="Screen Clipping" id="134" name="Google Shape;134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63149" y="2955809"/>
            <a:ext cx="3943518" cy="27229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1825752" y="228600"/>
            <a:ext cx="4414264" cy="75895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TASK 2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1091861" y="1507067"/>
            <a:ext cx="10609072" cy="4165599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Twentieth Century"/>
              <a:buAutoNum type="arabicPeriod"/>
            </a:pPr>
            <a:r>
              <a:rPr lang="en-GB" sz="4000"/>
              <a:t>Joe is thinking of becoming a window cleaner. His likely customers will live at opposite ends of the town. List his likely start-up and running costs.</a:t>
            </a:r>
            <a:endParaRPr/>
          </a:p>
          <a:p>
            <a:pPr indent="-260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Twentieth Century"/>
              <a:buNone/>
            </a:pPr>
            <a:r>
              <a:t/>
            </a:r>
            <a:endParaRPr sz="4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Twentieth Century"/>
              <a:buAutoNum type="arabicPeriod"/>
            </a:pPr>
            <a:r>
              <a:rPr lang="en-GB" sz="4000"/>
              <a:t>Lisa wants to open a hairdresser’s salon. List her likely start-up and running costs.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idx="1" type="body"/>
          </p:nvPr>
        </p:nvSpPr>
        <p:spPr>
          <a:xfrm>
            <a:off x="956393" y="1676400"/>
            <a:ext cx="4754880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46" name="Google Shape;146;p21"/>
          <p:cNvSpPr txBox="1"/>
          <p:nvPr>
            <p:ph idx="2" type="body"/>
          </p:nvPr>
        </p:nvSpPr>
        <p:spPr>
          <a:xfrm>
            <a:off x="6384032" y="1676400"/>
            <a:ext cx="4754880" cy="4023360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47" name="Google Shape;147;p21"/>
          <p:cNvSpPr txBox="1"/>
          <p:nvPr/>
        </p:nvSpPr>
        <p:spPr>
          <a:xfrm>
            <a:off x="6384032" y="260648"/>
            <a:ext cx="4054224" cy="75895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4400" u="sng" cap="none" strike="noStrike">
                <a:solidFill>
                  <a:srgbClr val="FF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Lisa</a:t>
            </a:r>
            <a:endParaRPr/>
          </a:p>
        </p:txBody>
      </p:sp>
      <p:sp>
        <p:nvSpPr>
          <p:cNvPr id="148" name="Google Shape;148;p21"/>
          <p:cNvSpPr txBox="1"/>
          <p:nvPr/>
        </p:nvSpPr>
        <p:spPr>
          <a:xfrm>
            <a:off x="956393" y="354264"/>
            <a:ext cx="4054224" cy="75895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4400" u="sng" cap="none" strike="noStrike">
                <a:solidFill>
                  <a:srgbClr val="FF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Joe</a:t>
            </a:r>
            <a:endParaRPr b="1" i="0" sz="4400" u="sng" cap="none" strike="noStrike">
              <a:solidFill>
                <a:srgbClr val="FF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2"/>
          <p:cNvSpPr txBox="1"/>
          <p:nvPr>
            <p:ph type="title"/>
          </p:nvPr>
        </p:nvSpPr>
        <p:spPr>
          <a:xfrm>
            <a:off x="1334685" y="509808"/>
            <a:ext cx="4342256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TASK 5</a:t>
            </a:r>
            <a:endParaRPr u="sng"/>
          </a:p>
        </p:txBody>
      </p:sp>
      <p:sp>
        <p:nvSpPr>
          <p:cNvPr id="155" name="Google Shape;155;p22"/>
          <p:cNvSpPr txBox="1"/>
          <p:nvPr>
            <p:ph idx="1" type="body"/>
          </p:nvPr>
        </p:nvSpPr>
        <p:spPr>
          <a:xfrm>
            <a:off x="1024128" y="1439333"/>
            <a:ext cx="10659872" cy="4978399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Rearrange the following into 2 lists – Start-up costs and running costs. Some may be in both lists!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Cost of premises		electricity		phone bill	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Estate agent’s fees	stock			computer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wages			furniture		Van	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Training			Tax for van		Insurance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Advertising			Cash register	Petrol</a:t>
            </a:r>
            <a:endParaRPr sz="3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RESEARCH TASK</a:t>
            </a:r>
            <a:endParaRPr u="sng"/>
          </a:p>
        </p:txBody>
      </p:sp>
      <p:sp>
        <p:nvSpPr>
          <p:cNvPr id="161" name="Google Shape;161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86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Char char=" "/>
            </a:pPr>
            <a:r>
              <a:rPr lang="en-GB" sz="3600"/>
              <a:t>You will now do some research on some key words that you will need to know throughout the rest of this unit. </a:t>
            </a:r>
            <a:endParaRPr sz="3600"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600"/>
              <a:buNone/>
            </a:pPr>
            <a:r>
              <a:t/>
            </a:r>
            <a:endParaRPr sz="3600"/>
          </a:p>
          <a:p>
            <a:pPr indent="-2286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600"/>
              <a:buChar char=" "/>
            </a:pPr>
            <a:r>
              <a:rPr lang="en-GB" sz="3600"/>
              <a:t>They are important key words that you will need to remember and revise over the course of the unit. </a:t>
            </a:r>
            <a:endParaRPr sz="36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4"/>
          <p:cNvSpPr txBox="1"/>
          <p:nvPr>
            <p:ph type="title"/>
          </p:nvPr>
        </p:nvSpPr>
        <p:spPr>
          <a:xfrm>
            <a:off x="1244261" y="2296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B4- TERMINOLOGY IN FINANCIAL STATEMENTS </a:t>
            </a:r>
            <a:endParaRPr u="sng"/>
          </a:p>
        </p:txBody>
      </p:sp>
      <p:sp>
        <p:nvSpPr>
          <p:cNvPr id="167" name="Google Shape;167;p24"/>
          <p:cNvSpPr txBox="1"/>
          <p:nvPr>
            <p:ph idx="1" type="body"/>
          </p:nvPr>
        </p:nvSpPr>
        <p:spPr>
          <a:xfrm>
            <a:off x="431461" y="2084832"/>
            <a:ext cx="7053072" cy="4451435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Turnover (net sales) and cost of sales (cost of goods sold)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Gross profit, expenses, net profit, retained profit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Fixed assets and current assets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Current liabilities and long-term liabilities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Debtors and creditors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Net current assets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Capital</a:t>
            </a:r>
            <a:endParaRPr sz="2600"/>
          </a:p>
        </p:txBody>
      </p:sp>
      <p:sp>
        <p:nvSpPr>
          <p:cNvPr id="168" name="Google Shape;168;p24"/>
          <p:cNvSpPr/>
          <p:nvPr/>
        </p:nvSpPr>
        <p:spPr>
          <a:xfrm>
            <a:off x="7924800" y="2084832"/>
            <a:ext cx="3810000" cy="4451435"/>
          </a:xfrm>
          <a:prstGeom prst="rect">
            <a:avLst/>
          </a:prstGeom>
          <a:solidFill>
            <a:srgbClr val="FFC000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Research the definitions of the following key terms for this topic.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to write down definitions that make sense to you and don’t just copy straight from online.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500"/>
              <a:buFont typeface="Twentieth Century"/>
              <a:buNone/>
            </a:pPr>
            <a:r>
              <a:rPr lang="en-GB" sz="5500" u="sng"/>
              <a:t>PLENARY </a:t>
            </a:r>
            <a:endParaRPr sz="5500" u="sng"/>
          </a:p>
        </p:txBody>
      </p:sp>
      <p:sp>
        <p:nvSpPr>
          <p:cNvPr id="174" name="Google Shape;174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 "/>
            </a:pPr>
            <a:r>
              <a:rPr lang="en-GB" sz="5000"/>
              <a:t>What are three things you know now that you did not know before the start of the lesson?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/>
          </a:p>
          <a:p>
            <a:pPr indent="-317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Char char=" "/>
            </a:pPr>
            <a:r>
              <a:rPr lang="en-GB" sz="5000"/>
              <a:t>Share this with your shoulder partner</a:t>
            </a:r>
            <a:r>
              <a:rPr lang="en-GB"/>
              <a:t>. 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