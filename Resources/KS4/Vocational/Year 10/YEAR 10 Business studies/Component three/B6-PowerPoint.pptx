
<file path=[Content_Types].xml><?xml version="1.0" encoding="utf-8"?>
<Types xmlns="http://schemas.openxmlformats.org/package/2006/content-types">
  <Default ContentType="image/jpeg" Extension="jpg"/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</p:sldIdLst>
  <p:sldSz cy="6858000" cx="12192000"/>
  <p:notesSz cx="6858000" cy="9144000"/>
  <p:embeddedFontLst>
    <p:embeddedFont>
      <p:font typeface="Tahoma"/>
      <p:regular r:id="rId24"/>
      <p:bold r:id="rId2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BB563EDC-6DB7-41E0-A7DE-3CE57211825A}">
  <a:tblStyle styleId="{BB563EDC-6DB7-41E0-A7DE-3CE57211825A}" styleName="Table_0">
    <a:wholeTbl>
      <a:tcTxStyle>
        <a:font>
          <a:latin typeface="Arial"/>
          <a:ea typeface="Arial"/>
          <a:cs typeface="Arial"/>
        </a:font>
        <a:srgbClr val="000000"/>
      </a:tcTxStyle>
    </a:wholeTbl>
    <a:band1H>
      <a:tcTxStyle/>
    </a:band1H>
    <a:band2H>
      <a:tcTxStyle/>
    </a:band2H>
    <a:band1V>
      <a:tcTxStyle/>
    </a:band1V>
    <a:band2V>
      <a:tcTxStyle/>
    </a:band2V>
    <a:lastCol>
      <a:tcTxStyle/>
    </a:lastCol>
    <a:firstCol>
      <a:tcTxStyle/>
    </a:firstCol>
    <a:lastRow>
      <a:tcTxStyle/>
    </a:lastRow>
    <a:seCell>
      <a:tcTxStyle/>
    </a:seCell>
    <a:swCell>
      <a:tcTxStyle/>
    </a:swCell>
    <a:firstRow>
      <a:tcTxStyle/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font" Target="fonts/Tahoma-regular.fntdata"/><Relationship Id="rId23" Type="http://schemas.openxmlformats.org/officeDocument/2006/relationships/slide" Target="slides/slide18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5" Type="http://schemas.openxmlformats.org/officeDocument/2006/relationships/font" Target="fonts/Tahoma-bold.fntdata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US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9" name="Google Shape;129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4" name="Google Shape;144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9" name="Shape 1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" name="Google Shape;150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1" name="Google Shape;151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6" name="Shape 1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" name="Google Shape;187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8" name="Google Shape;188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2" name="Google Shape;212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5" name="Shape 2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6" name="Google Shape;216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7" name="Google Shape;217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1" name="Shape 2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2" name="Google Shape;222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3" name="Google Shape;223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7" name="Google Shape;37;p5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9" name="Google Shape;39;p5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53" name="Google Shape;53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56" name="Google Shape;56;p7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57" name="Google Shape;57;p7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5.png"/><Relationship Id="rId4" Type="http://schemas.openxmlformats.org/officeDocument/2006/relationships/hyperlink" Target="http://www.placesforpeople.co.uk/theplace/images/cash_prize.jpg" TargetMode="External"/><Relationship Id="rId5" Type="http://schemas.openxmlformats.org/officeDocument/2006/relationships/image" Target="../media/image3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4.png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6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US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Learners will </a:t>
            </a:r>
            <a:r>
              <a:rPr i="1" lang="en-US" sz="5000">
                <a:solidFill>
                  <a:srgbClr val="92D050"/>
                </a:solidFill>
              </a:rPr>
              <a:t>complete</a:t>
            </a:r>
            <a:r>
              <a:rPr lang="en-US" sz="5000"/>
              <a:t>, </a:t>
            </a:r>
            <a:r>
              <a:rPr i="1" lang="en-US" sz="5000">
                <a:solidFill>
                  <a:srgbClr val="92D050"/>
                </a:solidFill>
              </a:rPr>
              <a:t>interpret</a:t>
            </a:r>
            <a:r>
              <a:rPr lang="en-US" sz="5000"/>
              <a:t> and </a:t>
            </a:r>
            <a:r>
              <a:rPr i="1" lang="en-US" sz="5000">
                <a:solidFill>
                  <a:srgbClr val="92D050"/>
                </a:solidFill>
              </a:rPr>
              <a:t>check</a:t>
            </a:r>
            <a:r>
              <a:rPr lang="en-US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/>
        </p:nvSpPr>
        <p:spPr>
          <a:xfrm>
            <a:off x="776815" y="2060575"/>
            <a:ext cx="10670118" cy="2677656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Objectives: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explain the main components of a statement of financial position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interpret and analyse data (ratios and figures) on a statement of financial position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08" name="Google Shape;108;p15"/>
          <p:cNvSpPr/>
          <p:nvPr/>
        </p:nvSpPr>
        <p:spPr>
          <a:xfrm>
            <a:off x="776815" y="5192303"/>
            <a:ext cx="10449464" cy="55399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Write a list of things that a business might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own</a:t>
            </a: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and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owe</a:t>
            </a:r>
            <a:endParaRPr/>
          </a:p>
        </p:txBody>
      </p:sp>
      <p:sp>
        <p:nvSpPr>
          <p:cNvPr id="109" name="Google Shape;109;p15"/>
          <p:cNvSpPr txBox="1"/>
          <p:nvPr/>
        </p:nvSpPr>
        <p:spPr>
          <a:xfrm>
            <a:off x="1378578" y="135462"/>
            <a:ext cx="9720072" cy="1499616"/>
          </a:xfrm>
          <a:prstGeom prst="rect">
            <a:avLst/>
          </a:prstGeom>
          <a:solidFill>
            <a:srgbClr val="F4A9D2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TITLE: B6 </a:t>
            </a:r>
            <a:r>
              <a:rPr b="0" i="0" lang="en-US" sz="54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</a:t>
            </a:r>
            <a:b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</a:b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DATE : </a:t>
            </a:r>
            <a:endParaRPr b="0" i="0" sz="5000" u="sng" cap="none" strike="noStrike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/>
        </p:nvSpPr>
        <p:spPr>
          <a:xfrm>
            <a:off x="919429" y="338140"/>
            <a:ext cx="10927819" cy="1077912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Starter: Write a list of things that a business might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own</a:t>
            </a: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 and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owe</a:t>
            </a:r>
            <a:endParaRPr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54100" y="1777473"/>
            <a:ext cx="4040188" cy="638175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Own</a:t>
            </a:r>
            <a:r>
              <a:rPr lang="en-US"/>
              <a:t> </a:t>
            </a:r>
            <a:endParaRPr/>
          </a:p>
        </p:txBody>
      </p:sp>
      <p:sp>
        <p:nvSpPr>
          <p:cNvPr id="116" name="Google Shape;116;p16"/>
          <p:cNvSpPr txBox="1"/>
          <p:nvPr>
            <p:ph idx="2" type="body"/>
          </p:nvPr>
        </p:nvSpPr>
        <p:spPr>
          <a:xfrm>
            <a:off x="1054100" y="2777068"/>
            <a:ext cx="4040188" cy="3344863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117" name="Google Shape;117;p16"/>
          <p:cNvSpPr txBox="1"/>
          <p:nvPr>
            <p:ph idx="1" type="body"/>
          </p:nvPr>
        </p:nvSpPr>
        <p:spPr>
          <a:xfrm>
            <a:off x="7246939" y="1775885"/>
            <a:ext cx="4040187" cy="639763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Owe</a:t>
            </a:r>
            <a:endParaRPr/>
          </a:p>
        </p:txBody>
      </p:sp>
      <p:sp>
        <p:nvSpPr>
          <p:cNvPr id="118" name="Google Shape;118;p16"/>
          <p:cNvSpPr txBox="1"/>
          <p:nvPr>
            <p:ph idx="2" type="body"/>
          </p:nvPr>
        </p:nvSpPr>
        <p:spPr>
          <a:xfrm>
            <a:off x="7246938" y="2775481"/>
            <a:ext cx="4040188" cy="334645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/>
        </p:nvSpPr>
        <p:spPr>
          <a:xfrm>
            <a:off x="3287714" y="609600"/>
            <a:ext cx="5616575" cy="457200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400"/>
              <a:buFont typeface="Times New Roman"/>
              <a:buNone/>
            </a:pPr>
            <a:r>
              <a:rPr b="1" i="0" lang="en-US" sz="2400" u="none" cap="none" strike="noStrike">
                <a:solidFill>
                  <a:srgbClr val="FFFF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What’s included in the balance sheet?</a:t>
            </a:r>
            <a:endParaRPr/>
          </a:p>
        </p:txBody>
      </p:sp>
      <p:pic>
        <p:nvPicPr>
          <p:cNvPr id="124" name="Google Shape;124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474789" y="1119189"/>
            <a:ext cx="9531877" cy="5603344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http://images.google.co.uk/images?q=tbn:Ub65imsy5_tn_M:http://www.placesforpeople.co.uk/theplace/images/cash_prize.jpg" id="125" name="Google Shape;125;p17">
            <a:hlinkClick r:id="rId4"/>
          </p:cNvPr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8521171" y="4529668"/>
            <a:ext cx="1571095" cy="2046122"/>
          </a:xfrm>
          <a:prstGeom prst="rect">
            <a:avLst/>
          </a:prstGeom>
          <a:noFill/>
          <a:ln>
            <a:noFill/>
          </a:ln>
        </p:spPr>
      </p:pic>
      <p:sp>
        <p:nvSpPr>
          <p:cNvPr id="126" name="Google Shape;126;p17"/>
          <p:cNvSpPr txBox="1"/>
          <p:nvPr/>
        </p:nvSpPr>
        <p:spPr>
          <a:xfrm>
            <a:off x="2856177" y="508795"/>
            <a:ext cx="6769100" cy="584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0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Statement of Financial Position </a:t>
            </a:r>
            <a:endParaRPr b="0" i="0" sz="3200" u="sng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8"/>
          <p:cNvSpPr txBox="1"/>
          <p:nvPr/>
        </p:nvSpPr>
        <p:spPr>
          <a:xfrm>
            <a:off x="1434041" y="370947"/>
            <a:ext cx="10063691" cy="861774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5000"/>
              <a:buFont typeface="Calibri"/>
              <a:buNone/>
            </a:pPr>
            <a:r>
              <a:rPr b="1" i="0" lang="en-US" sz="50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The key rule</a:t>
            </a:r>
            <a:endParaRPr/>
          </a:p>
        </p:txBody>
      </p:sp>
      <p:pic>
        <p:nvPicPr>
          <p:cNvPr id="132" name="Google Shape;132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54174" y="1370543"/>
            <a:ext cx="9217026" cy="52582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/>
        </p:nvSpPr>
        <p:spPr>
          <a:xfrm>
            <a:off x="1383241" y="180447"/>
            <a:ext cx="9911291" cy="1015663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6000"/>
              <a:buFont typeface="Calibri"/>
              <a:buNone/>
            </a:pPr>
            <a:r>
              <a:rPr b="1" i="0" lang="en-US" sz="60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Sections of the SoFP</a:t>
            </a:r>
            <a:endParaRPr b="1" i="0" sz="6000" u="none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8" name="Google Shape;138;p19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Cost a lot of money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Are kept in the business a long time e.g. Equipment or Buildings</a:t>
            </a:r>
            <a:br>
              <a:rPr lang="en-US" sz="2000">
                <a:latin typeface="Tahoma"/>
                <a:ea typeface="Tahoma"/>
                <a:cs typeface="Tahoma"/>
                <a:sym typeface="Tahoma"/>
              </a:rPr>
            </a:b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Assets</a:t>
            </a:r>
            <a:br>
              <a:rPr lang="en-US" sz="2400">
                <a:latin typeface="Tahoma"/>
                <a:ea typeface="Tahoma"/>
                <a:cs typeface="Tahoma"/>
                <a:sym typeface="Tahoma"/>
              </a:rPr>
            </a:b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Get used up quickly and replaced e.g. stock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Can be sold quickly to raise cash</a:t>
            </a:r>
            <a:endParaRPr/>
          </a:p>
        </p:txBody>
      </p:sp>
      <p:sp>
        <p:nvSpPr>
          <p:cNvPr id="139" name="Google Shape;139;p19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Money owed by the business eg to suppliers (creditors)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Need to be paid within 1 year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Long term loans e.g. mortgage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Amounts that are to be paid back in more than 1 years time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40" name="Google Shape;140;p19"/>
          <p:cNvSpPr txBox="1"/>
          <p:nvPr/>
        </p:nvSpPr>
        <p:spPr>
          <a:xfrm>
            <a:off x="2881313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Assets</a:t>
            </a:r>
            <a:endParaRPr/>
          </a:p>
        </p:txBody>
      </p:sp>
      <p:sp>
        <p:nvSpPr>
          <p:cNvPr id="141" name="Google Shape;141;p19"/>
          <p:cNvSpPr txBox="1"/>
          <p:nvPr/>
        </p:nvSpPr>
        <p:spPr>
          <a:xfrm>
            <a:off x="7646829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Liabilities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0"/>
          <p:cNvSpPr txBox="1"/>
          <p:nvPr>
            <p:ph type="title"/>
          </p:nvPr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US" u="sng">
                <a:solidFill>
                  <a:srgbClr val="CC00FF"/>
                </a:solidFill>
              </a:rPr>
              <a:t>STATEMENT OF FINANCIAL POSITION </a:t>
            </a:r>
            <a:endParaRPr/>
          </a:p>
        </p:txBody>
      </p:sp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660400" y="1612731"/>
            <a:ext cx="533400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2225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The statement of financial position is a record of a business assets and liabilities.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sz="3500"/>
          </a:p>
          <a:p>
            <a:pPr indent="-22225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Like a P/L account it is a record of what has happened.</a:t>
            </a:r>
            <a:endParaRPr/>
          </a:p>
          <a:p>
            <a:pPr indent="-9144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b="1" sz="3500"/>
          </a:p>
        </p:txBody>
      </p:sp>
      <p:sp>
        <p:nvSpPr>
          <p:cNvPr id="148" name="Google Shape;148;p20"/>
          <p:cNvSpPr txBox="1"/>
          <p:nvPr>
            <p:ph idx="2" type="body"/>
          </p:nvPr>
        </p:nvSpPr>
        <p:spPr>
          <a:xfrm>
            <a:off x="6193898" y="1612731"/>
            <a:ext cx="491403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assets?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liabilities</a:t>
            </a:r>
            <a:r>
              <a:rPr b="1" lang="en-US" sz="3000" u="sng"/>
              <a:t>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Assets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These are what the business </a:t>
            </a:r>
            <a:r>
              <a:rPr b="1" i="1" lang="en-US" sz="3000">
                <a:solidFill>
                  <a:srgbClr val="FF0000"/>
                </a:solidFill>
              </a:rPr>
              <a:t>owns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Liabilities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This is what the business </a:t>
            </a:r>
            <a:r>
              <a:rPr b="1" i="1" lang="en-US" sz="3000">
                <a:solidFill>
                  <a:srgbClr val="FF0000"/>
                </a:solidFill>
              </a:rPr>
              <a:t>owes</a:t>
            </a:r>
            <a:r>
              <a:rPr lang="en-US" sz="3000"/>
              <a:t>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21"/>
          <p:cNvSpPr txBox="1"/>
          <p:nvPr/>
        </p:nvSpPr>
        <p:spPr>
          <a:xfrm>
            <a:off x="1774825" y="1700213"/>
            <a:ext cx="8497888" cy="5191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Twentieth Century"/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54" name="Google Shape;154;p21"/>
          <p:cNvSpPr txBox="1"/>
          <p:nvPr>
            <p:ph idx="1" type="body"/>
          </p:nvPr>
        </p:nvSpPr>
        <p:spPr>
          <a:xfrm>
            <a:off x="626532" y="1717146"/>
            <a:ext cx="5012267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Top Half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what the business has done with its money.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called </a:t>
            </a:r>
            <a:r>
              <a:rPr b="1" i="1" lang="en-US" sz="2800">
                <a:solidFill>
                  <a:srgbClr val="FF0000"/>
                </a:solidFill>
              </a:rPr>
              <a:t>NET ASSETS.</a:t>
            </a:r>
            <a:r>
              <a:rPr lang="en-US" sz="2800"/>
              <a:t> (This is what the business is worth)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sz="2800"/>
          </a:p>
        </p:txBody>
      </p:sp>
      <p:sp>
        <p:nvSpPr>
          <p:cNvPr id="155" name="Google Shape;155;p21"/>
          <p:cNvSpPr txBox="1"/>
          <p:nvPr>
            <p:ph idx="2" type="body"/>
          </p:nvPr>
        </p:nvSpPr>
        <p:spPr>
          <a:xfrm>
            <a:off x="5884164" y="1717146"/>
            <a:ext cx="4860036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Bottom Half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where all the money that the business has used came from.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usually comes from shareholders, retained profit and loans. 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often called </a:t>
            </a:r>
            <a:r>
              <a:rPr b="1" i="1" lang="en-US" sz="2800" u="sng">
                <a:solidFill>
                  <a:srgbClr val="FF0000"/>
                </a:solidFill>
              </a:rPr>
              <a:t>CAPITAL EMPLOYED.</a:t>
            </a:r>
            <a:endParaRPr b="1" i="1" sz="2800" u="sng">
              <a:solidFill>
                <a:srgbClr val="FF0000"/>
              </a:solidFill>
            </a:endParaRPr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i="1" sz="2800" u="sng"/>
          </a:p>
        </p:txBody>
      </p:sp>
      <p:sp>
        <p:nvSpPr>
          <p:cNvPr id="156" name="Google Shape;156;p21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idx="1" type="body"/>
          </p:nvPr>
        </p:nvSpPr>
        <p:spPr>
          <a:xfrm>
            <a:off x="558800" y="1964267"/>
            <a:ext cx="5080000" cy="4047066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Working capital pays the day to day running expenses.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what the business owns which is either cash or can be turned into cash.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  <p:sp>
        <p:nvSpPr>
          <p:cNvPr id="162" name="Google Shape;162;p22"/>
          <p:cNvSpPr txBox="1"/>
          <p:nvPr>
            <p:ph idx="2" type="body"/>
          </p:nvPr>
        </p:nvSpPr>
        <p:spPr>
          <a:xfrm>
            <a:off x="6176964" y="1981199"/>
            <a:ext cx="5049836" cy="4030133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calculated using the following sum: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Current assets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MINUS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 Current Liabilities</a:t>
            </a:r>
            <a:endParaRPr/>
          </a:p>
        </p:txBody>
      </p:sp>
      <p:sp>
        <p:nvSpPr>
          <p:cNvPr id="163" name="Google Shape;163;p22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6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3"/>
          <p:cNvSpPr txBox="1"/>
          <p:nvPr/>
        </p:nvSpPr>
        <p:spPr>
          <a:xfrm>
            <a:off x="2553270" y="560953"/>
            <a:ext cx="7071743" cy="224676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800" u="sng" cap="none" strike="noStrike">
                <a:solidFill>
                  <a:srgbClr val="CC00FF"/>
                </a:solidFill>
                <a:latin typeface="Tahoma"/>
                <a:ea typeface="Tahoma"/>
                <a:cs typeface="Tahoma"/>
                <a:sym typeface="Tahoma"/>
              </a:rPr>
              <a:t>On the SoFP:</a:t>
            </a:r>
            <a:endParaRPr b="1" i="0" sz="2800" u="sng" cap="none" strike="noStrike">
              <a:solidFill>
                <a:srgbClr val="CC00FF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	 =	Capital Employed</a:t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69" name="Google Shape;169;p23"/>
          <p:cNvSpPr/>
          <p:nvPr/>
        </p:nvSpPr>
        <p:spPr>
          <a:xfrm>
            <a:off x="2208214" y="3068638"/>
            <a:ext cx="2592387" cy="2736850"/>
          </a:xfrm>
          <a:prstGeom prst="upArrowCallout">
            <a:avLst>
              <a:gd fmla="val 25000" name="adj1"/>
              <a:gd fmla="val 25000" name="adj2"/>
              <a:gd fmla="val 17595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(CA – CL)</a:t>
            </a:r>
            <a:endParaRPr b="0" i="0" sz="28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0" name="Google Shape;170;p23"/>
          <p:cNvSpPr/>
          <p:nvPr/>
        </p:nvSpPr>
        <p:spPr>
          <a:xfrm>
            <a:off x="6816725" y="3068638"/>
            <a:ext cx="2592388" cy="3600450"/>
          </a:xfrm>
          <a:prstGeom prst="upArrowCallout">
            <a:avLst>
              <a:gd fmla="val 25000" name="adj1"/>
              <a:gd fmla="val 25000" name="adj2"/>
              <a:gd fmla="val 23148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Shareholders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Funds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Retained Profit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Long Term Loans</a:t>
            </a:r>
            <a:endParaRPr b="0" i="0" sz="26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1" name="Google Shape;171;p23"/>
          <p:cNvSpPr txBox="1"/>
          <p:nvPr/>
        </p:nvSpPr>
        <p:spPr>
          <a:xfrm>
            <a:off x="2640013" y="1484313"/>
            <a:ext cx="6985000" cy="40005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The top and the bottom must be equal … why?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6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24"/>
          <p:cNvSpPr txBox="1"/>
          <p:nvPr/>
        </p:nvSpPr>
        <p:spPr>
          <a:xfrm>
            <a:off x="1900238" y="633414"/>
            <a:ext cx="8443912" cy="65248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statement of financial positionFor Morgan</a:t>
            </a:r>
            <a:r>
              <a:rPr b="0" i="0" lang="en-US" sz="2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’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 Ladders 31</a:t>
            </a:r>
            <a:r>
              <a:rPr b="0" baseline="3000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March 2012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Premises							80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Machinery							40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Vehicles							30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		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Stock						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Debtors					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Cash						3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Creditors					15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</a:t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7" name="Google Shape;177;p24"/>
          <p:cNvSpPr/>
          <p:nvPr/>
        </p:nvSpPr>
        <p:spPr>
          <a:xfrm>
            <a:off x="8832850" y="270827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8" name="Google Shape;178;p24"/>
          <p:cNvSpPr/>
          <p:nvPr/>
        </p:nvSpPr>
        <p:spPr>
          <a:xfrm>
            <a:off x="6888164" y="43656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20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9" name="Google Shape;179;p24"/>
          <p:cNvSpPr/>
          <p:nvPr/>
        </p:nvSpPr>
        <p:spPr>
          <a:xfrm>
            <a:off x="8832850" y="5589588"/>
            <a:ext cx="1366838" cy="360362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0" name="Google Shape;180;p24"/>
          <p:cNvSpPr/>
          <p:nvPr/>
        </p:nvSpPr>
        <p:spPr>
          <a:xfrm>
            <a:off x="8832850" y="630872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1" name="Google Shape;181;p24"/>
          <p:cNvSpPr/>
          <p:nvPr/>
        </p:nvSpPr>
        <p:spPr>
          <a:xfrm>
            <a:off x="5808663" y="1412875"/>
            <a:ext cx="2881312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Fixed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2" name="Google Shape;182;p24"/>
          <p:cNvSpPr/>
          <p:nvPr/>
        </p:nvSpPr>
        <p:spPr>
          <a:xfrm>
            <a:off x="3863976" y="2997200"/>
            <a:ext cx="2881313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Current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3" name="Google Shape;183;p24"/>
          <p:cNvSpPr/>
          <p:nvPr/>
        </p:nvSpPr>
        <p:spPr>
          <a:xfrm>
            <a:off x="7896226" y="3357563"/>
            <a:ext cx="2771775" cy="1511300"/>
          </a:xfrm>
          <a:prstGeom prst="wedgeRoundRectCallout">
            <a:avLst>
              <a:gd fmla="val 19380" name="adj1"/>
              <a:gd fmla="val 94116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3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 = Current Assets – Current Liabilities</a:t>
            </a:r>
            <a:endParaRPr b="0" i="0" sz="23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4" name="Google Shape;184;p24"/>
          <p:cNvSpPr/>
          <p:nvPr/>
        </p:nvSpPr>
        <p:spPr>
          <a:xfrm>
            <a:off x="4656138" y="5346700"/>
            <a:ext cx="2881312" cy="1511300"/>
          </a:xfrm>
          <a:prstGeom prst="wedgeRoundRectCallout">
            <a:avLst>
              <a:gd fmla="val 93856" name="adj1"/>
              <a:gd fmla="val 27102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 + Working Capital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5" name="Google Shape;185;p24"/>
          <p:cNvSpPr txBox="1"/>
          <p:nvPr/>
        </p:nvSpPr>
        <p:spPr>
          <a:xfrm>
            <a:off x="5808664" y="188914"/>
            <a:ext cx="4537075" cy="376237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sng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the top part of the SoFP sheet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9" name="Shape 1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" name="Google Shape;190;p25"/>
          <p:cNvSpPr txBox="1"/>
          <p:nvPr/>
        </p:nvSpPr>
        <p:spPr>
          <a:xfrm>
            <a:off x="1846265" y="1330187"/>
            <a:ext cx="6634559" cy="2677656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Financed By: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Share Capital							90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Retained Profit						35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Bank Loan							30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91" name="Google Shape;191;p25"/>
          <p:cNvSpPr/>
          <p:nvPr/>
        </p:nvSpPr>
        <p:spPr>
          <a:xfrm>
            <a:off x="8904289" y="50133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2" name="Google Shape;192;p25"/>
          <p:cNvSpPr/>
          <p:nvPr/>
        </p:nvSpPr>
        <p:spPr>
          <a:xfrm>
            <a:off x="4511675" y="4652963"/>
            <a:ext cx="3024188" cy="1871662"/>
          </a:xfrm>
          <a:prstGeom prst="roundRect">
            <a:avLst>
              <a:gd fmla="val 16667" name="adj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Add all these figures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together</a:t>
            </a:r>
            <a:endParaRPr/>
          </a:p>
        </p:txBody>
      </p:sp>
      <p:sp>
        <p:nvSpPr>
          <p:cNvPr id="193" name="Google Shape;193;p25"/>
          <p:cNvSpPr/>
          <p:nvPr/>
        </p:nvSpPr>
        <p:spPr>
          <a:xfrm>
            <a:off x="7535864" y="4941889"/>
            <a:ext cx="1081087" cy="719137"/>
          </a:xfrm>
          <a:prstGeom prst="rightArrow">
            <a:avLst>
              <a:gd fmla="val 50000" name="adj1"/>
              <a:gd fmla="val 37583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4" name="Google Shape;194;p25"/>
          <p:cNvSpPr txBox="1"/>
          <p:nvPr/>
        </p:nvSpPr>
        <p:spPr>
          <a:xfrm>
            <a:off x="9191625" y="4149725"/>
            <a:ext cx="693738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130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5" name="Google Shape;195;p25"/>
          <p:cNvSpPr txBox="1"/>
          <p:nvPr/>
        </p:nvSpPr>
        <p:spPr>
          <a:xfrm>
            <a:off x="9244013" y="4959351"/>
            <a:ext cx="69923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6" name="Google Shape;196;p25"/>
          <p:cNvSpPr txBox="1"/>
          <p:nvPr/>
        </p:nvSpPr>
        <p:spPr>
          <a:xfrm>
            <a:off x="1847851" y="4941888"/>
            <a:ext cx="2519363" cy="40011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Capital Employed</a:t>
            </a:r>
            <a:r>
              <a:rPr b="1" i="0" lang="en-US" sz="16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	</a:t>
            </a:r>
            <a:endParaRPr/>
          </a:p>
        </p:txBody>
      </p:sp>
      <p:sp>
        <p:nvSpPr>
          <p:cNvPr id="197" name="Google Shape;197;p25"/>
          <p:cNvSpPr txBox="1"/>
          <p:nvPr/>
        </p:nvSpPr>
        <p:spPr>
          <a:xfrm>
            <a:off x="5232401" y="333375"/>
            <a:ext cx="5040313" cy="707886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is the 2</a:t>
            </a:r>
            <a:r>
              <a:rPr b="1" baseline="30000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nd</a:t>
            </a: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part of the statement of financial position</a:t>
            </a:r>
            <a:r>
              <a:rPr b="0" i="0" lang="en-US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2" name="Google Shape;202;p26"/>
          <p:cNvGraphicFramePr/>
          <p:nvPr/>
        </p:nvGraphicFramePr>
        <p:xfrm>
          <a:off x="4008438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{BB563EDC-6DB7-41E0-A7DE-3CE57211825A}</a:tableStyleId>
              </a:tblPr>
              <a:tblGrid>
                <a:gridCol w="2879725"/>
                <a:gridCol w="1547800"/>
                <a:gridCol w="15478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3" name="Google Shape;203;p26"/>
          <p:cNvSpPr/>
          <p:nvPr/>
        </p:nvSpPr>
        <p:spPr>
          <a:xfrm>
            <a:off x="1703388" y="765176"/>
            <a:ext cx="1871662" cy="2663825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Lets complete a balance sheet</a:t>
            </a:r>
            <a:endParaRPr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8" name="Google Shape;208;p27"/>
          <p:cNvGraphicFramePr/>
          <p:nvPr/>
        </p:nvGraphicFramePr>
        <p:xfrm>
          <a:off x="3216275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{BB563EDC-6DB7-41E0-A7DE-3CE57211825A}</a:tableStyleId>
              </a:tblPr>
              <a:tblGrid>
                <a:gridCol w="3424250"/>
                <a:gridCol w="1887525"/>
                <a:gridCol w="18891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9" name="Google Shape;209;p27"/>
          <p:cNvSpPr/>
          <p:nvPr/>
        </p:nvSpPr>
        <p:spPr>
          <a:xfrm>
            <a:off x="931333" y="765175"/>
            <a:ext cx="2140481" cy="719138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 2 </a:t>
            </a:r>
            <a:endParaRPr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14" name="Google Shape;214;p28"/>
          <p:cNvGraphicFramePr/>
          <p:nvPr/>
        </p:nvGraphicFramePr>
        <p:xfrm>
          <a:off x="3575050" y="33020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{BB563EDC-6DB7-41E0-A7DE-3CE57211825A}</a:tableStyleId>
              </a:tblPr>
              <a:tblGrid>
                <a:gridCol w="2881325"/>
                <a:gridCol w="1547800"/>
                <a:gridCol w="1547825"/>
              </a:tblGrid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921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74,000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17757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8" name="Shape 2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9" name="Google Shape;219;p2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SOFP ACTIVITIES… </a:t>
            </a:r>
            <a:endParaRPr/>
          </a:p>
        </p:txBody>
      </p:sp>
      <p:sp>
        <p:nvSpPr>
          <p:cNvPr id="220" name="Google Shape;220;p2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Complete the SoFP activities found in the shared area. You may work together with your shoulder partner. </a:t>
            </a:r>
            <a:endParaRPr sz="500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4" name="Shape 2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" name="Google Shape;225;p3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PLENARY</a:t>
            </a:r>
            <a:r>
              <a:rPr lang="en-US"/>
              <a:t> </a:t>
            </a:r>
            <a:endParaRPr/>
          </a:p>
        </p:txBody>
      </p:sp>
      <p:sp>
        <p:nvSpPr>
          <p:cNvPr id="226" name="Google Shape;226;p30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Share 3 things you have learned today with your shoulder partner. </a:t>
            </a:r>
            <a:endParaRPr sz="5000"/>
          </a:p>
        </p:txBody>
      </p:sp>
      <p:pic>
        <p:nvPicPr>
          <p:cNvPr id="227" name="Google Shape;227;p3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