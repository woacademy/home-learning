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Tahoma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8B2A0F75-CAB0-4C49-9643-C4A2122C8177}">
  <a:tblStyle styleId="{8B2A0F75-CAB0-4C49-9643-C4A2122C817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Tahoma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Tahom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 rot="10800000">
            <a:off x="8386842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rotWithShape="1">
            <a:blip r:embed="rId2">
              <a:alphaModFix/>
            </a:blip>
            <a:tile algn="tl" flip="none" tx="-133350" sx="50000" ty="-6350" sy="50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showMasterSp="0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102412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5"/>
          <p:cNvSpPr txBox="1"/>
          <p:nvPr>
            <p:ph idx="2" type="body"/>
          </p:nvPr>
        </p:nvSpPr>
        <p:spPr>
          <a:xfrm>
            <a:off x="102412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3" type="body"/>
          </p:nvPr>
        </p:nvSpPr>
        <p:spPr>
          <a:xfrm>
            <a:off x="599088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5"/>
          <p:cNvSpPr txBox="1"/>
          <p:nvPr>
            <p:ph idx="4" type="body"/>
          </p:nvPr>
        </p:nvSpPr>
        <p:spPr>
          <a:xfrm>
            <a:off x="599088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1024127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5989320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showMasterSp="0" type="secHead">
  <p:cSld name="SECTION_HEAD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" type="body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6" name="Google Shape;56;p7"/>
          <p:cNvCxnSpPr/>
          <p:nvPr/>
        </p:nvCxnSpPr>
        <p:spPr>
          <a:xfrm rot="10800000">
            <a:off x="8386842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7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rotWithShape="1">
            <a:blip r:embed="rId2">
              <a:alphaModFix/>
            </a:blip>
            <a:tile algn="tl" flip="none" tx="-133350" sx="50000" ty="-6350" sy="50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/>
          <p:nvPr>
            <p:ph type="title"/>
          </p:nvPr>
        </p:nvSpPr>
        <p:spPr>
          <a:xfrm>
            <a:off x="1024128" y="471509"/>
            <a:ext cx="43891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" type="body"/>
          </p:nvPr>
        </p:nvSpPr>
        <p:spPr>
          <a:xfrm>
            <a:off x="5715000" y="822960"/>
            <a:ext cx="5678424" cy="5184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 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Char char="🢝"/>
              <a:defRPr sz="2000"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Char char="🢝"/>
              <a:defRPr sz="1600"/>
            </a:lvl9pPr>
          </a:lstStyle>
          <a:p/>
        </p:txBody>
      </p:sp>
      <p:sp>
        <p:nvSpPr>
          <p:cNvPr id="66" name="Google Shape;66;p9"/>
          <p:cNvSpPr txBox="1"/>
          <p:nvPr>
            <p:ph idx="2" type="body"/>
          </p:nvPr>
        </p:nvSpPr>
        <p:spPr>
          <a:xfrm>
            <a:off x="1024128" y="2257506"/>
            <a:ext cx="4389120" cy="3762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9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showMasterSp="0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type="title"/>
          </p:nvPr>
        </p:nvSpPr>
        <p:spPr>
          <a:xfrm>
            <a:off x="457200" y="4960138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/>
          <p:nvPr>
            <p:ph idx="2" type="pic"/>
          </p:nvPr>
        </p:nvSpPr>
        <p:spPr>
          <a:xfrm>
            <a:off x="0" y="-1"/>
            <a:ext cx="12188952" cy="4572000"/>
          </a:xfrm>
          <a:prstGeom prst="rect">
            <a:avLst/>
          </a:prstGeom>
          <a:solidFill>
            <a:srgbClr val="EE80BC"/>
          </a:solidFill>
          <a:ln>
            <a:noFill/>
          </a:ln>
        </p:spPr>
        <p:txBody>
          <a:bodyPr anchorCtr="0" anchor="t" bIns="45700" lIns="457200" spcFirstLastPara="1" rIns="45700" wrap="square" tIns="36575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Twentieth Century"/>
              <a:buNone/>
              <a:defRPr b="0" i="0" sz="3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  <a:defRPr b="0" i="0" sz="2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" type="body"/>
          </p:nvPr>
        </p:nvSpPr>
        <p:spPr>
          <a:xfrm>
            <a:off x="8610600" y="4960138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10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7" name="Google Shape;77;p10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" type="body"/>
          </p:nvPr>
        </p:nvSpPr>
        <p:spPr>
          <a:xfrm rot="5400000">
            <a:off x="3872484" y="-562356"/>
            <a:ext cx="4023360" cy="9720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showMasterSp="0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type="title"/>
          </p:nvPr>
        </p:nvSpPr>
        <p:spPr>
          <a:xfrm rot="5400000">
            <a:off x="7334251" y="2152650"/>
            <a:ext cx="54102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5700" spcFirstLastPara="1" rIns="45700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" type="body"/>
          </p:nvPr>
        </p:nvSpPr>
        <p:spPr>
          <a:xfrm rot="5400000">
            <a:off x="2076451" y="-323850"/>
            <a:ext cx="5410200" cy="75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0" name="Google Shape;90;p12"/>
          <p:cNvCxnSpPr/>
          <p:nvPr/>
        </p:nvCxnSpPr>
        <p:spPr>
          <a:xfrm rot="10800000">
            <a:off x="10058400" y="59263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i="0" sz="5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Char char=" "/>
              <a:defRPr b="0" i="0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🢝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1"/>
          <p:cNvCxnSpPr/>
          <p:nvPr/>
        </p:nvCxnSpPr>
        <p:spPr>
          <a:xfrm rot="10800000">
            <a:off x="762000" y="826324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hyperlink" Target="http://www.placesforpeople.co.uk/theplace/images/cash_prize.jpg" TargetMode="External"/><Relationship Id="rId5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>
            <p:ph type="ctr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BTEC LEVEL 2 TECH AWARD</a:t>
            </a:r>
            <a:endParaRPr/>
          </a:p>
        </p:txBody>
      </p:sp>
      <p:sp>
        <p:nvSpPr>
          <p:cNvPr id="96" name="Google Shape;96;p13"/>
          <p:cNvSpPr txBox="1"/>
          <p:nvPr>
            <p:ph idx="1" type="subTitle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Promotion and Finance for Enterprise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>
            <p:ph type="title"/>
          </p:nvPr>
        </p:nvSpPr>
        <p:spPr>
          <a:xfrm>
            <a:off x="1379728" y="280416"/>
            <a:ext cx="9720072" cy="1192784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 u="sng"/>
              <a:t>LEARNING AIM B- FINANCIAL RECORDS</a:t>
            </a:r>
            <a:endParaRPr u="sng"/>
          </a:p>
        </p:txBody>
      </p:sp>
      <p:sp>
        <p:nvSpPr>
          <p:cNvPr id="102" name="Google Shape;102;p14"/>
          <p:cNvSpPr txBox="1"/>
          <p:nvPr>
            <p:ph idx="1" type="body"/>
          </p:nvPr>
        </p:nvSpPr>
        <p:spPr>
          <a:xfrm>
            <a:off x="1379728" y="1913467"/>
            <a:ext cx="9720073" cy="4023360"/>
          </a:xfrm>
          <a:prstGeom prst="rect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 sz="5000"/>
              <a:t>Learners will </a:t>
            </a:r>
            <a:r>
              <a:rPr i="1" lang="en-US" sz="5000">
                <a:solidFill>
                  <a:srgbClr val="92D050"/>
                </a:solidFill>
              </a:rPr>
              <a:t>complete</a:t>
            </a:r>
            <a:r>
              <a:rPr lang="en-US" sz="5000"/>
              <a:t>, </a:t>
            </a:r>
            <a:r>
              <a:rPr i="1" lang="en-US" sz="5000">
                <a:solidFill>
                  <a:srgbClr val="92D050"/>
                </a:solidFill>
              </a:rPr>
              <a:t>interpret</a:t>
            </a:r>
            <a:r>
              <a:rPr lang="en-US" sz="5000"/>
              <a:t> and </a:t>
            </a:r>
            <a:r>
              <a:rPr i="1" lang="en-US" sz="5000">
                <a:solidFill>
                  <a:srgbClr val="92D050"/>
                </a:solidFill>
              </a:rPr>
              <a:t>check</a:t>
            </a:r>
            <a:r>
              <a:rPr lang="en-US" sz="5000"/>
              <a:t> the information on financial documents and statements.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776815" y="2060575"/>
            <a:ext cx="10670118" cy="267765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Objectives: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 To be able to explain the main components of a statement of financial position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 To be able to interpret and analyse data (ratios and figures) on a statement of financial position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776815" y="5192303"/>
            <a:ext cx="10449464" cy="55399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B0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Starter: Write a list of things that a business might </a:t>
            </a:r>
            <a:r>
              <a:rPr b="1" i="0" lang="en-US" sz="3000" u="sng" cap="none" strike="noStrike">
                <a:solidFill>
                  <a:srgbClr val="00B0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own</a:t>
            </a:r>
            <a:r>
              <a:rPr b="1" i="0" lang="en-US" sz="3000" u="none" cap="none" strike="noStrike">
                <a:solidFill>
                  <a:srgbClr val="00B0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and </a:t>
            </a:r>
            <a:r>
              <a:rPr b="1" i="0" lang="en-US" sz="3000" u="sng" cap="none" strike="noStrike">
                <a:solidFill>
                  <a:srgbClr val="00B0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owe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378578" y="135462"/>
            <a:ext cx="9720072" cy="1499616"/>
          </a:xfrm>
          <a:prstGeom prst="rect">
            <a:avLst/>
          </a:prstGeom>
          <a:solidFill>
            <a:srgbClr val="F4A9D2"/>
          </a:solidFill>
          <a:ln cap="flat" cmpd="sng" w="571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Twentieth Century"/>
              <a:buNone/>
            </a:pPr>
            <a:r>
              <a:rPr b="0" i="0" lang="en-US" sz="5000" u="sng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TITLE: B6 </a:t>
            </a:r>
            <a:r>
              <a:rPr b="0" i="0" lang="en-US" sz="5400" u="sng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STATEMENT OF FINANCIAL POSITION</a:t>
            </a:r>
            <a:br>
              <a:rPr b="0" i="0" lang="en-US" sz="5000" u="sng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0" i="0" lang="en-US" sz="5000" u="sng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DATE : </a:t>
            </a:r>
            <a:endParaRPr b="0" i="0" sz="5000" u="sng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/>
        </p:nvSpPr>
        <p:spPr>
          <a:xfrm>
            <a:off x="919429" y="338140"/>
            <a:ext cx="10927819" cy="107791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Starter: Write a list of things that a business might </a:t>
            </a:r>
            <a:r>
              <a:rPr b="1" i="0" lang="en-US" sz="3200" u="sng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own</a:t>
            </a:r>
            <a:r>
              <a:rPr b="1" i="0" lang="en-US" sz="32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i="0" lang="en-US" sz="3200" u="sng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owe</a:t>
            </a:r>
            <a:endParaRPr/>
          </a:p>
        </p:txBody>
      </p:sp>
      <p:sp>
        <p:nvSpPr>
          <p:cNvPr id="115" name="Google Shape;115;p16"/>
          <p:cNvSpPr txBox="1"/>
          <p:nvPr>
            <p:ph idx="1" type="body"/>
          </p:nvPr>
        </p:nvSpPr>
        <p:spPr>
          <a:xfrm>
            <a:off x="1054100" y="1777473"/>
            <a:ext cx="4040188" cy="6381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b="1" lang="en-US" u="sng">
                <a:solidFill>
                  <a:schemeClr val="dk1"/>
                </a:solidFill>
              </a:rPr>
              <a:t>Own</a:t>
            </a:r>
            <a:r>
              <a:rPr lang="en-US"/>
              <a:t> </a:t>
            </a:r>
            <a:endParaRPr/>
          </a:p>
        </p:txBody>
      </p:sp>
      <p:sp>
        <p:nvSpPr>
          <p:cNvPr id="116" name="Google Shape;116;p16"/>
          <p:cNvSpPr txBox="1"/>
          <p:nvPr>
            <p:ph idx="2" type="body"/>
          </p:nvPr>
        </p:nvSpPr>
        <p:spPr>
          <a:xfrm>
            <a:off x="1054100" y="2777068"/>
            <a:ext cx="4040188" cy="3344863"/>
          </a:xfrm>
          <a:prstGeom prst="rect">
            <a:avLst/>
          </a:prstGeom>
          <a:solidFill>
            <a:srgbClr val="F4A9D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 txBox="1"/>
          <p:nvPr>
            <p:ph idx="1" type="body"/>
          </p:nvPr>
        </p:nvSpPr>
        <p:spPr>
          <a:xfrm>
            <a:off x="7246939" y="1775885"/>
            <a:ext cx="4040187" cy="6397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b="1" lang="en-US" u="sng">
                <a:solidFill>
                  <a:schemeClr val="dk1"/>
                </a:solidFill>
              </a:rPr>
              <a:t>Owe</a:t>
            </a:r>
            <a:endParaRPr/>
          </a:p>
        </p:txBody>
      </p:sp>
      <p:sp>
        <p:nvSpPr>
          <p:cNvPr id="118" name="Google Shape;118;p16"/>
          <p:cNvSpPr txBox="1"/>
          <p:nvPr>
            <p:ph idx="2" type="body"/>
          </p:nvPr>
        </p:nvSpPr>
        <p:spPr>
          <a:xfrm>
            <a:off x="7246938" y="2775481"/>
            <a:ext cx="4040188" cy="3346450"/>
          </a:xfrm>
          <a:prstGeom prst="rect">
            <a:avLst/>
          </a:prstGeom>
          <a:solidFill>
            <a:srgbClr val="F4A9D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/>
        </p:nvSpPr>
        <p:spPr>
          <a:xfrm>
            <a:off x="3287714" y="609600"/>
            <a:ext cx="5616575" cy="4572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What’s included in the balance sheet?</a:t>
            </a:r>
            <a:endParaRPr/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4789" y="1119189"/>
            <a:ext cx="9531877" cy="56033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images.google.co.uk/images?q=tbn:Ub65imsy5_tn_M:http://www.placesforpeople.co.uk/theplace/images/cash_prize.jpg" id="125" name="Google Shape;125;p17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1171" y="4529668"/>
            <a:ext cx="1571095" cy="204612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/>
        </p:nvSpPr>
        <p:spPr>
          <a:xfrm>
            <a:off x="2856177" y="508795"/>
            <a:ext cx="6769100" cy="584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Calibri"/>
              <a:buNone/>
            </a:pPr>
            <a:r>
              <a:rPr b="0" i="0" lang="en-US" sz="3200" u="sng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Statement of Financial Position </a:t>
            </a:r>
            <a:endParaRPr b="0" i="0" sz="3200" u="sng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/>
        </p:nvSpPr>
        <p:spPr>
          <a:xfrm>
            <a:off x="1434041" y="370947"/>
            <a:ext cx="10063691" cy="861774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000"/>
              <a:buFont typeface="Calibri"/>
              <a:buNone/>
            </a:pPr>
            <a:r>
              <a:rPr b="1" i="0" lang="en-US" sz="5000" u="sng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 key rule</a:t>
            </a:r>
            <a:endParaRPr/>
          </a:p>
        </p:txBody>
      </p:sp>
      <p:pic>
        <p:nvPicPr>
          <p:cNvPr id="132" name="Google Shape;1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4174" y="1370543"/>
            <a:ext cx="9217026" cy="525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/>
        </p:nvSpPr>
        <p:spPr>
          <a:xfrm>
            <a:off x="1383241" y="180447"/>
            <a:ext cx="9911291" cy="1015663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Sections of the SoFP</a:t>
            </a:r>
            <a:endParaRPr b="1" i="0" sz="6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 txBox="1"/>
          <p:nvPr>
            <p:ph idx="1" type="body"/>
          </p:nvPr>
        </p:nvSpPr>
        <p:spPr>
          <a:xfrm>
            <a:off x="1024127" y="2286000"/>
            <a:ext cx="4754880" cy="4023360"/>
          </a:xfrm>
          <a:prstGeom prst="rect">
            <a:avLst/>
          </a:prstGeom>
          <a:solidFill>
            <a:srgbClr val="F4A9D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 sz="2400">
                <a:latin typeface="Tahoma"/>
                <a:ea typeface="Tahoma"/>
                <a:cs typeface="Tahoma"/>
                <a:sym typeface="Tahoma"/>
              </a:rPr>
              <a:t>Fixed Assets</a:t>
            </a:r>
            <a:endParaRPr/>
          </a:p>
          <a:p>
            <a:pPr indent="-137159" lvl="1" marL="265176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🢝"/>
            </a:pPr>
            <a:r>
              <a:rPr lang="en-US" sz="2000">
                <a:latin typeface="Tahoma"/>
                <a:ea typeface="Tahoma"/>
                <a:cs typeface="Tahoma"/>
                <a:sym typeface="Tahoma"/>
              </a:rPr>
              <a:t>Cost a lot of money</a:t>
            </a:r>
            <a:endParaRPr/>
          </a:p>
          <a:p>
            <a:pPr indent="-137159" lvl="1" marL="26517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🢝"/>
            </a:pPr>
            <a:r>
              <a:rPr lang="en-US" sz="2000">
                <a:latin typeface="Tahoma"/>
                <a:ea typeface="Tahoma"/>
                <a:cs typeface="Tahoma"/>
                <a:sym typeface="Tahoma"/>
              </a:rPr>
              <a:t>Are kept in the business a long time e.g. Equipment or Buildings</a:t>
            </a:r>
            <a:br>
              <a:rPr lang="en-US" sz="2000">
                <a:latin typeface="Tahoma"/>
                <a:ea typeface="Tahoma"/>
                <a:cs typeface="Tahoma"/>
                <a:sym typeface="Tahoma"/>
              </a:rPr>
            </a:br>
            <a:endParaRPr sz="2000">
              <a:latin typeface="Tahoma"/>
              <a:ea typeface="Tahoma"/>
              <a:cs typeface="Tahoma"/>
              <a:sym typeface="Tahoma"/>
            </a:endParaRPr>
          </a:p>
          <a:p>
            <a:pPr indent="-15240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400"/>
              <a:buChar char=" "/>
            </a:pPr>
            <a:r>
              <a:rPr lang="en-US" sz="2400">
                <a:latin typeface="Tahoma"/>
                <a:ea typeface="Tahoma"/>
                <a:cs typeface="Tahoma"/>
                <a:sym typeface="Tahoma"/>
              </a:rPr>
              <a:t>Current Assets</a:t>
            </a:r>
            <a:br>
              <a:rPr lang="en-US" sz="2400">
                <a:latin typeface="Tahoma"/>
                <a:ea typeface="Tahoma"/>
                <a:cs typeface="Tahoma"/>
                <a:sym typeface="Tahoma"/>
              </a:rPr>
            </a:br>
            <a:r>
              <a:rPr lang="en-US" sz="2400">
                <a:latin typeface="Tahoma"/>
                <a:ea typeface="Tahoma"/>
                <a:cs typeface="Tahoma"/>
                <a:sym typeface="Tahoma"/>
              </a:rPr>
              <a:t>Get used up quickly and replaced e.g. stock</a:t>
            </a:r>
            <a:endParaRPr/>
          </a:p>
          <a:p>
            <a:pPr indent="-137159" lvl="1" marL="265176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🢝"/>
            </a:pPr>
            <a:r>
              <a:rPr lang="en-US" sz="2000">
                <a:latin typeface="Tahoma"/>
                <a:ea typeface="Tahoma"/>
                <a:cs typeface="Tahoma"/>
                <a:sym typeface="Tahoma"/>
              </a:rPr>
              <a:t>Can be sold quickly to raise cash</a:t>
            </a:r>
            <a:endParaRPr/>
          </a:p>
        </p:txBody>
      </p:sp>
      <p:sp>
        <p:nvSpPr>
          <p:cNvPr id="139" name="Google Shape;139;p19"/>
          <p:cNvSpPr txBox="1"/>
          <p:nvPr>
            <p:ph idx="2" type="body"/>
          </p:nvPr>
        </p:nvSpPr>
        <p:spPr>
          <a:xfrm>
            <a:off x="5989320" y="2286000"/>
            <a:ext cx="4754880" cy="4023360"/>
          </a:xfrm>
          <a:prstGeom prst="rect">
            <a:avLst/>
          </a:prstGeom>
          <a:solidFill>
            <a:srgbClr val="F4A9D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 sz="2400">
                <a:latin typeface="Tahoma"/>
                <a:ea typeface="Tahoma"/>
                <a:cs typeface="Tahoma"/>
                <a:sym typeface="Tahoma"/>
              </a:rPr>
              <a:t>Current Liabilities</a:t>
            </a:r>
            <a:endParaRPr/>
          </a:p>
          <a:p>
            <a:pPr indent="-137159" lvl="1" marL="265176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🢝"/>
            </a:pPr>
            <a:r>
              <a:rPr lang="en-US" sz="2000">
                <a:latin typeface="Tahoma"/>
                <a:ea typeface="Tahoma"/>
                <a:cs typeface="Tahoma"/>
                <a:sym typeface="Tahoma"/>
              </a:rPr>
              <a:t>Money owed by the business eg to suppliers (creditors)</a:t>
            </a:r>
            <a:endParaRPr/>
          </a:p>
          <a:p>
            <a:pPr indent="-137159" lvl="1" marL="26517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🢝"/>
            </a:pPr>
            <a:r>
              <a:rPr lang="en-US" sz="2000">
                <a:latin typeface="Tahoma"/>
                <a:ea typeface="Tahoma"/>
                <a:cs typeface="Tahoma"/>
                <a:sym typeface="Tahoma"/>
              </a:rPr>
              <a:t>Need to be paid within 1 year</a:t>
            </a:r>
            <a:endParaRPr/>
          </a:p>
          <a:p>
            <a:pPr indent="-10159" lvl="1" marL="26517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Tahoma"/>
              <a:ea typeface="Tahoma"/>
              <a:cs typeface="Tahoma"/>
              <a:sym typeface="Tahoma"/>
            </a:endParaRPr>
          </a:p>
          <a:p>
            <a:pPr indent="-15240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400"/>
              <a:buChar char=" "/>
            </a:pPr>
            <a:r>
              <a:rPr lang="en-US" sz="2400">
                <a:latin typeface="Tahoma"/>
                <a:ea typeface="Tahoma"/>
                <a:cs typeface="Tahoma"/>
                <a:sym typeface="Tahoma"/>
              </a:rPr>
              <a:t>Long Term Liabilities</a:t>
            </a:r>
            <a:endParaRPr/>
          </a:p>
          <a:p>
            <a:pPr indent="-137159" lvl="1" marL="265176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🢝"/>
            </a:pPr>
            <a:r>
              <a:rPr lang="en-US" sz="2000">
                <a:latin typeface="Tahoma"/>
                <a:ea typeface="Tahoma"/>
                <a:cs typeface="Tahoma"/>
                <a:sym typeface="Tahoma"/>
              </a:rPr>
              <a:t>Long term loans e.g. mortgage</a:t>
            </a:r>
            <a:endParaRPr/>
          </a:p>
          <a:p>
            <a:pPr indent="-137159" lvl="1" marL="26517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🢝"/>
            </a:pPr>
            <a:r>
              <a:rPr lang="en-US" sz="2000">
                <a:latin typeface="Tahoma"/>
                <a:ea typeface="Tahoma"/>
                <a:cs typeface="Tahoma"/>
                <a:sym typeface="Tahoma"/>
              </a:rPr>
              <a:t>Amounts that are to be paid back in more than 1 years time</a:t>
            </a:r>
            <a:endParaRPr/>
          </a:p>
          <a:p>
            <a:pPr indent="-10159" lvl="1" marL="26517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2881313" y="1570663"/>
            <a:ext cx="1439862" cy="457200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FF"/>
              </a:buClr>
              <a:buSzPts val="2400"/>
              <a:buFont typeface="Calibri"/>
              <a:buNone/>
            </a:pPr>
            <a:r>
              <a:rPr b="1" i="0" lang="en-US" sz="2400" u="sng" cap="none" strike="noStrike">
                <a:solidFill>
                  <a:srgbClr val="CC00FF"/>
                </a:solidFill>
                <a:latin typeface="Calibri"/>
                <a:ea typeface="Calibri"/>
                <a:cs typeface="Calibri"/>
                <a:sym typeface="Calibri"/>
              </a:rPr>
              <a:t>Assets</a:t>
            </a:r>
            <a:endParaRPr/>
          </a:p>
        </p:txBody>
      </p:sp>
      <p:sp>
        <p:nvSpPr>
          <p:cNvPr id="141" name="Google Shape;141;p19"/>
          <p:cNvSpPr txBox="1"/>
          <p:nvPr/>
        </p:nvSpPr>
        <p:spPr>
          <a:xfrm>
            <a:off x="7646829" y="1570663"/>
            <a:ext cx="1439862" cy="457200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FF"/>
              </a:buClr>
              <a:buSzPts val="2400"/>
              <a:buFont typeface="Calibri"/>
              <a:buNone/>
            </a:pPr>
            <a:r>
              <a:rPr b="1" i="0" lang="en-US" sz="2400" u="sng" cap="none" strike="noStrike">
                <a:solidFill>
                  <a:srgbClr val="CC00FF"/>
                </a:solidFill>
                <a:latin typeface="Calibri"/>
                <a:ea typeface="Calibri"/>
                <a:cs typeface="Calibri"/>
                <a:sym typeface="Calibri"/>
              </a:rPr>
              <a:t>Liabilities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>
            <p:ph type="title"/>
          </p:nvPr>
        </p:nvSpPr>
        <p:spPr>
          <a:xfrm>
            <a:off x="1024128" y="1280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FF"/>
              </a:buClr>
              <a:buSzPts val="5000"/>
              <a:buFont typeface="Twentieth Century"/>
              <a:buNone/>
            </a:pPr>
            <a:r>
              <a:rPr lang="en-US" u="sng">
                <a:solidFill>
                  <a:srgbClr val="CC00FF"/>
                </a:solidFill>
              </a:rPr>
              <a:t>STATEMENT OF FINANCIAL POSITION </a:t>
            </a:r>
            <a:endParaRPr/>
          </a:p>
        </p:txBody>
      </p:sp>
      <p:sp>
        <p:nvSpPr>
          <p:cNvPr id="147" name="Google Shape;147;p20"/>
          <p:cNvSpPr txBox="1"/>
          <p:nvPr>
            <p:ph idx="1" type="body"/>
          </p:nvPr>
        </p:nvSpPr>
        <p:spPr>
          <a:xfrm>
            <a:off x="660400" y="1612731"/>
            <a:ext cx="5334000" cy="482926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222250" lvl="0" marL="9144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oto Sans Symbols"/>
              <a:buChar char="■"/>
            </a:pPr>
            <a:r>
              <a:rPr lang="en-US" sz="3500"/>
              <a:t>The statement of financial position is a record of a business assets and liabilities.</a:t>
            </a:r>
            <a:endParaRPr/>
          </a:p>
          <a:p>
            <a:pPr indent="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500"/>
              <a:buFont typeface="Noto Sans Symbols"/>
              <a:buNone/>
            </a:pPr>
            <a:r>
              <a:t/>
            </a:r>
            <a:endParaRPr sz="3500"/>
          </a:p>
          <a:p>
            <a:pPr indent="-22225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500"/>
              <a:buFont typeface="Noto Sans Symbols"/>
              <a:buChar char="■"/>
            </a:pPr>
            <a:r>
              <a:rPr lang="en-US" sz="3500"/>
              <a:t>Like a P/L account it is a record of what has happened.</a:t>
            </a:r>
            <a:endParaRPr/>
          </a:p>
          <a:p>
            <a:pPr indent="-9144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500"/>
              <a:buFont typeface="Noto Sans Symbols"/>
              <a:buNone/>
            </a:pPr>
            <a:r>
              <a:t/>
            </a:r>
            <a:endParaRPr b="1" sz="3500"/>
          </a:p>
        </p:txBody>
      </p:sp>
      <p:sp>
        <p:nvSpPr>
          <p:cNvPr id="148" name="Google Shape;148;p20"/>
          <p:cNvSpPr txBox="1"/>
          <p:nvPr>
            <p:ph idx="2" type="body"/>
          </p:nvPr>
        </p:nvSpPr>
        <p:spPr>
          <a:xfrm>
            <a:off x="6193898" y="1612731"/>
            <a:ext cx="4914030" cy="482926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90500" lvl="0" marL="9144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Noto Sans Symbols"/>
              <a:buChar char="■"/>
            </a:pPr>
            <a:r>
              <a:rPr b="1" lang="en-US" sz="3000"/>
              <a:t>Qs What are assets?</a:t>
            </a:r>
            <a:endParaRPr/>
          </a:p>
          <a:p>
            <a:pPr indent="-1905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Noto Sans Symbols"/>
              <a:buChar char="■"/>
            </a:pPr>
            <a:r>
              <a:rPr b="1" lang="en-US" sz="3000"/>
              <a:t>Qs What are liabilities</a:t>
            </a:r>
            <a:r>
              <a:rPr b="1" lang="en-US" sz="3000" u="sng"/>
              <a:t> </a:t>
            </a:r>
            <a:endParaRPr/>
          </a:p>
          <a:p>
            <a:pPr indent="-1905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Noto Sans Symbols"/>
              <a:buChar char="■"/>
            </a:pPr>
            <a:r>
              <a:rPr b="1" lang="en-US" sz="3000" u="sng"/>
              <a:t>Assets</a:t>
            </a:r>
            <a:endParaRPr sz="3000"/>
          </a:p>
          <a:p>
            <a:pPr indent="-1905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Noto Sans Symbols"/>
              <a:buChar char="■"/>
            </a:pPr>
            <a:r>
              <a:rPr lang="en-US" sz="3000"/>
              <a:t>These are what the business </a:t>
            </a:r>
            <a:r>
              <a:rPr b="1" i="1" lang="en-US" sz="3000">
                <a:solidFill>
                  <a:srgbClr val="FF0000"/>
                </a:solidFill>
              </a:rPr>
              <a:t>owns</a:t>
            </a:r>
            <a:endParaRPr/>
          </a:p>
          <a:p>
            <a:pPr indent="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Noto Sans Symbols"/>
              <a:buNone/>
            </a:pPr>
            <a:r>
              <a:t/>
            </a:r>
            <a:endParaRPr sz="3000"/>
          </a:p>
          <a:p>
            <a:pPr indent="-1905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Noto Sans Symbols"/>
              <a:buChar char="■"/>
            </a:pPr>
            <a:r>
              <a:rPr b="1" lang="en-US" sz="3000" u="sng"/>
              <a:t>Liabilities</a:t>
            </a:r>
            <a:endParaRPr sz="3000"/>
          </a:p>
          <a:p>
            <a:pPr indent="-1905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Noto Sans Symbols"/>
              <a:buChar char="■"/>
            </a:pPr>
            <a:r>
              <a:rPr lang="en-US" sz="3000"/>
              <a:t>This is what the business </a:t>
            </a:r>
            <a:r>
              <a:rPr b="1" i="1" lang="en-US" sz="3000">
                <a:solidFill>
                  <a:srgbClr val="FF0000"/>
                </a:solidFill>
              </a:rPr>
              <a:t>owes</a:t>
            </a:r>
            <a:r>
              <a:rPr lang="en-US" sz="3000"/>
              <a:t>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Noto Sans Symbols"/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3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/>
          <p:nvPr/>
        </p:nvSpPr>
        <p:spPr>
          <a:xfrm>
            <a:off x="1774825" y="1700213"/>
            <a:ext cx="8497888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wentieth Century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4" name="Google Shape;154;p21"/>
          <p:cNvSpPr txBox="1"/>
          <p:nvPr>
            <p:ph idx="1" type="body"/>
          </p:nvPr>
        </p:nvSpPr>
        <p:spPr>
          <a:xfrm>
            <a:off x="626532" y="1717146"/>
            <a:ext cx="5012267" cy="480747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91440" lvl="0" marL="9144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b="1" lang="en-US" sz="2800" u="sng"/>
              <a:t>The Top Half </a:t>
            </a:r>
            <a:endParaRPr/>
          </a:p>
          <a:p>
            <a:pPr indent="0" lvl="0" marL="9144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1" sz="2800" u="sng"/>
          </a:p>
          <a:p>
            <a:pPr indent="-177800" lvl="0" marL="9144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■"/>
            </a:pPr>
            <a:r>
              <a:rPr lang="en-US" sz="2800"/>
              <a:t>This shows what the business has done with its money.</a:t>
            </a:r>
            <a:endParaRPr/>
          </a:p>
          <a:p>
            <a:pPr indent="0" lvl="0" marL="9144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/>
          </a:p>
          <a:p>
            <a:pPr indent="-177800" lvl="0" marL="9144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■"/>
            </a:pPr>
            <a:r>
              <a:rPr lang="en-US" sz="2800"/>
              <a:t>It is called </a:t>
            </a:r>
            <a:r>
              <a:rPr b="1" i="1" lang="en-US" sz="2800">
                <a:solidFill>
                  <a:srgbClr val="FF0000"/>
                </a:solidFill>
              </a:rPr>
              <a:t>NET ASSETS.</a:t>
            </a:r>
            <a:r>
              <a:rPr lang="en-US" sz="2800"/>
              <a:t> (This is what the business is worth)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 sz="2800"/>
          </a:p>
        </p:txBody>
      </p:sp>
      <p:sp>
        <p:nvSpPr>
          <p:cNvPr id="155" name="Google Shape;155;p21"/>
          <p:cNvSpPr txBox="1"/>
          <p:nvPr>
            <p:ph idx="2" type="body"/>
          </p:nvPr>
        </p:nvSpPr>
        <p:spPr>
          <a:xfrm>
            <a:off x="5884164" y="1717146"/>
            <a:ext cx="4860036" cy="480747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91440" lvl="0" marL="9144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b="1" lang="en-US" sz="2800" u="sng"/>
              <a:t>The Bottom Half</a:t>
            </a:r>
            <a:endParaRPr/>
          </a:p>
          <a:p>
            <a:pPr indent="0" lvl="0" marL="9144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1" sz="2800" u="sng"/>
          </a:p>
          <a:p>
            <a:pPr indent="-177800" lvl="0" marL="9144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■"/>
            </a:pPr>
            <a:r>
              <a:rPr lang="en-US" sz="2800"/>
              <a:t>This shows where all the money that the business has used came from.</a:t>
            </a:r>
            <a:endParaRPr/>
          </a:p>
          <a:p>
            <a:pPr indent="0" lvl="0" marL="9144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/>
          </a:p>
          <a:p>
            <a:pPr indent="-177800" lvl="0" marL="9144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■"/>
            </a:pPr>
            <a:r>
              <a:rPr lang="en-US" sz="2800"/>
              <a:t>It usually comes from shareholders, retained profit and loans.  </a:t>
            </a:r>
            <a:endParaRPr/>
          </a:p>
          <a:p>
            <a:pPr indent="0" lvl="0" marL="9144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/>
          </a:p>
          <a:p>
            <a:pPr indent="-177800" lvl="0" marL="9144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■"/>
            </a:pPr>
            <a:r>
              <a:rPr lang="en-US" sz="2800"/>
              <a:t>It is often called </a:t>
            </a:r>
            <a:r>
              <a:rPr b="1" i="1" lang="en-US" sz="2800" u="sng">
                <a:solidFill>
                  <a:srgbClr val="FF0000"/>
                </a:solidFill>
              </a:rPr>
              <a:t>CAPITAL EMPLOYED.</a:t>
            </a:r>
            <a:endParaRPr b="1" i="1" sz="2800" u="sng">
              <a:solidFill>
                <a:srgbClr val="FF0000"/>
              </a:solidFill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 i="1" sz="2800" u="sng"/>
          </a:p>
        </p:txBody>
      </p:sp>
      <p:sp>
        <p:nvSpPr>
          <p:cNvPr id="156" name="Google Shape;156;p21"/>
          <p:cNvSpPr txBox="1"/>
          <p:nvPr/>
        </p:nvSpPr>
        <p:spPr>
          <a:xfrm>
            <a:off x="1024128" y="1280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FF"/>
              </a:buClr>
              <a:buSzPts val="5000"/>
              <a:buFont typeface="Twentieth Century"/>
              <a:buNone/>
            </a:pPr>
            <a:r>
              <a:rPr b="0" i="0" lang="en-US" sz="5000" u="sng" cap="none" strike="noStrike">
                <a:solidFill>
                  <a:srgbClr val="CC00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STATEMENT OF FINANCIAL POSITION </a:t>
            </a:r>
            <a:endParaRPr b="0" i="0" sz="5000" u="sng" cap="none" strike="noStrike">
              <a:solidFill>
                <a:srgbClr val="CC00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3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idx="1" type="body"/>
          </p:nvPr>
        </p:nvSpPr>
        <p:spPr>
          <a:xfrm>
            <a:off x="558800" y="1964267"/>
            <a:ext cx="5080000" cy="4047066"/>
          </a:xfrm>
          <a:prstGeom prst="rect">
            <a:avLst/>
          </a:prstGeom>
          <a:noFill/>
          <a:ln cap="flat" cmpd="sng" w="3810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90500" lvl="0" marL="9144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Noto Sans Symbols"/>
              <a:buChar char="■"/>
            </a:pPr>
            <a:r>
              <a:rPr lang="en-US" sz="3000"/>
              <a:t>Working capital pays the day to day running expenses. </a:t>
            </a:r>
            <a:endParaRPr/>
          </a:p>
          <a:p>
            <a:pPr indent="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Noto Sans Symbols"/>
              <a:buNone/>
            </a:pPr>
            <a:r>
              <a:t/>
            </a:r>
            <a:endParaRPr sz="3000"/>
          </a:p>
          <a:p>
            <a:pPr indent="-1905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Noto Sans Symbols"/>
              <a:buChar char="■"/>
            </a:pPr>
            <a:r>
              <a:rPr lang="en-US" sz="3000"/>
              <a:t>It is what the business owns which is either cash or can be turned into cash.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Noto Sans Symbols"/>
              <a:buNone/>
            </a:pPr>
            <a:r>
              <a:t/>
            </a:r>
            <a:endParaRPr sz="3000"/>
          </a:p>
        </p:txBody>
      </p:sp>
      <p:sp>
        <p:nvSpPr>
          <p:cNvPr id="162" name="Google Shape;162;p22"/>
          <p:cNvSpPr txBox="1"/>
          <p:nvPr>
            <p:ph idx="2" type="body"/>
          </p:nvPr>
        </p:nvSpPr>
        <p:spPr>
          <a:xfrm>
            <a:off x="6176964" y="1981199"/>
            <a:ext cx="5049836" cy="4030133"/>
          </a:xfrm>
          <a:prstGeom prst="rect">
            <a:avLst/>
          </a:prstGeom>
          <a:noFill/>
          <a:ln cap="flat" cmpd="sng" w="3810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Noto Sans Symbols"/>
              <a:buChar char="■"/>
            </a:pPr>
            <a:r>
              <a:rPr lang="en-US" sz="3000"/>
              <a:t>It is calculated using the following sum: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Noto Sans Symbols"/>
              <a:buNone/>
            </a:pPr>
            <a:r>
              <a:t/>
            </a:r>
            <a:endParaRPr sz="30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Noto Sans Symbols"/>
              <a:buNone/>
            </a:pPr>
            <a:r>
              <a:t/>
            </a:r>
            <a:endParaRPr sz="3000"/>
          </a:p>
          <a:p>
            <a:pPr indent="-1905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Noto Sans Symbols"/>
              <a:buChar char="■"/>
            </a:pPr>
            <a:r>
              <a:rPr lang="en-US" sz="3000"/>
              <a:t>Current assets</a:t>
            </a:r>
            <a:endParaRPr/>
          </a:p>
          <a:p>
            <a:pPr indent="-1905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Noto Sans Symbols"/>
              <a:buChar char="■"/>
            </a:pPr>
            <a:r>
              <a:rPr b="1" lang="en-US" sz="3000"/>
              <a:t>MINUS</a:t>
            </a:r>
            <a:endParaRPr sz="3000"/>
          </a:p>
          <a:p>
            <a:pPr indent="-1905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Noto Sans Symbols"/>
              <a:buChar char="■"/>
            </a:pPr>
            <a:r>
              <a:rPr lang="en-US" sz="3000"/>
              <a:t> Current Liabilities</a:t>
            </a:r>
            <a:endParaRPr/>
          </a:p>
        </p:txBody>
      </p:sp>
      <p:sp>
        <p:nvSpPr>
          <p:cNvPr id="163" name="Google Shape;163;p22"/>
          <p:cNvSpPr txBox="1"/>
          <p:nvPr/>
        </p:nvSpPr>
        <p:spPr>
          <a:xfrm>
            <a:off x="1024128" y="1280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FF"/>
              </a:buClr>
              <a:buSzPts val="5000"/>
              <a:buFont typeface="Twentieth Century"/>
              <a:buNone/>
            </a:pPr>
            <a:r>
              <a:rPr b="0" i="0" lang="en-US" sz="5000" u="sng" cap="none" strike="noStrike">
                <a:solidFill>
                  <a:srgbClr val="CC00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STATEMENT OF FINANCIAL POSITION </a:t>
            </a:r>
            <a:endParaRPr b="0" i="0" sz="5000" u="sng" cap="none" strike="noStrike">
              <a:solidFill>
                <a:srgbClr val="CC00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3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/>
        </p:nvSpPr>
        <p:spPr>
          <a:xfrm>
            <a:off x="2553270" y="560953"/>
            <a:ext cx="7071743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sng" cap="none" strike="noStrike">
                <a:solidFill>
                  <a:srgbClr val="CC00FF"/>
                </a:solidFill>
                <a:latin typeface="Tahoma"/>
                <a:ea typeface="Tahoma"/>
                <a:cs typeface="Tahoma"/>
                <a:sym typeface="Tahoma"/>
              </a:rPr>
              <a:t>On the SoFP:</a:t>
            </a:r>
            <a:endParaRPr b="1" i="0" sz="2800" u="sng" cap="none" strike="noStrike">
              <a:solidFill>
                <a:srgbClr val="CC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Net Assets Employed	 =	Capital Employed</a:t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9" name="Google Shape;169;p23"/>
          <p:cNvSpPr/>
          <p:nvPr/>
        </p:nvSpPr>
        <p:spPr>
          <a:xfrm>
            <a:off x="2208214" y="3068638"/>
            <a:ext cx="2592387" cy="2736850"/>
          </a:xfrm>
          <a:prstGeom prst="upArrowCallout">
            <a:avLst>
              <a:gd fmla="val 25000" name="adj1"/>
              <a:gd fmla="val 25000" name="adj2"/>
              <a:gd fmla="val 17595" name="adj3"/>
              <a:gd fmla="val 66667" name="adj4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Fixed Assets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Working Capital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(CA – CL)</a:t>
            </a:r>
            <a:endParaRPr b="0" i="0" sz="28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0" name="Google Shape;170;p23"/>
          <p:cNvSpPr/>
          <p:nvPr/>
        </p:nvSpPr>
        <p:spPr>
          <a:xfrm>
            <a:off x="6816725" y="3068638"/>
            <a:ext cx="2592388" cy="3600450"/>
          </a:xfrm>
          <a:prstGeom prst="upArrowCallout">
            <a:avLst>
              <a:gd fmla="val 25000" name="adj1"/>
              <a:gd fmla="val 25000" name="adj2"/>
              <a:gd fmla="val 23148" name="adj3"/>
              <a:gd fmla="val 66667" name="adj4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Shareholders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Funds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Retained Profit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Long Term Loans</a:t>
            </a:r>
            <a:endParaRPr b="0" i="0" sz="26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1" name="Google Shape;171;p23"/>
          <p:cNvSpPr txBox="1"/>
          <p:nvPr/>
        </p:nvSpPr>
        <p:spPr>
          <a:xfrm>
            <a:off x="2640013" y="1484313"/>
            <a:ext cx="6985000" cy="400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top and the bottom must be equal … why?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/>
          <p:nvPr/>
        </p:nvSpPr>
        <p:spPr>
          <a:xfrm>
            <a:off x="1900238" y="633414"/>
            <a:ext cx="8443912" cy="652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statement of financial positionFor Morgan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b="0" i="0" lang="en-US" sz="2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 Ladders 31</a:t>
            </a:r>
            <a:r>
              <a:rPr b="0" baseline="30000" i="0" lang="en-US" sz="2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</a:t>
            </a:r>
            <a:r>
              <a:rPr b="0" i="0" lang="en-US" sz="2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March 2012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				£000		£000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Fixed Assets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Premises							80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Machinery							40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Vehicles							30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					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Current Assets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Stock						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Debtors					12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Cash						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Current Liabilities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Creditors					15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Working Capital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Net Assets Employed</a:t>
            </a:r>
            <a:endParaRPr b="0" i="0" sz="2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7" name="Google Shape;177;p24"/>
          <p:cNvSpPr/>
          <p:nvPr/>
        </p:nvSpPr>
        <p:spPr>
          <a:xfrm>
            <a:off x="8832850" y="2708276"/>
            <a:ext cx="1366838" cy="360363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150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4"/>
          <p:cNvSpPr/>
          <p:nvPr/>
        </p:nvSpPr>
        <p:spPr>
          <a:xfrm>
            <a:off x="6888164" y="4365626"/>
            <a:ext cx="1366837" cy="360363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4"/>
          <p:cNvSpPr/>
          <p:nvPr/>
        </p:nvSpPr>
        <p:spPr>
          <a:xfrm>
            <a:off x="8832850" y="5589588"/>
            <a:ext cx="1366838" cy="36036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4"/>
          <p:cNvSpPr/>
          <p:nvPr/>
        </p:nvSpPr>
        <p:spPr>
          <a:xfrm>
            <a:off x="8832850" y="6308726"/>
            <a:ext cx="1366838" cy="360363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155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5808663" y="1412875"/>
            <a:ext cx="2881312" cy="1511300"/>
          </a:xfrm>
          <a:prstGeom prst="wedgeRoundRectCallout">
            <a:avLst>
              <a:gd fmla="val 53912" name="adj1"/>
              <a:gd fmla="val 53991" name="adj2"/>
              <a:gd fmla="val 16667" name="adj3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Add up Fixed Assets</a:t>
            </a:r>
            <a:endParaRPr b="0" i="0" sz="24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2" name="Google Shape;182;p24"/>
          <p:cNvSpPr/>
          <p:nvPr/>
        </p:nvSpPr>
        <p:spPr>
          <a:xfrm>
            <a:off x="3863976" y="2997200"/>
            <a:ext cx="2881313" cy="1511300"/>
          </a:xfrm>
          <a:prstGeom prst="wedgeRoundRectCallout">
            <a:avLst>
              <a:gd fmla="val 53912" name="adj1"/>
              <a:gd fmla="val 53991" name="adj2"/>
              <a:gd fmla="val 16667" name="adj3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Add up Current Assets</a:t>
            </a:r>
            <a:endParaRPr b="0" i="0" sz="24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3" name="Google Shape;183;p24"/>
          <p:cNvSpPr/>
          <p:nvPr/>
        </p:nvSpPr>
        <p:spPr>
          <a:xfrm>
            <a:off x="7896226" y="3357563"/>
            <a:ext cx="2771775" cy="1511300"/>
          </a:xfrm>
          <a:prstGeom prst="wedgeRoundRectCallout">
            <a:avLst>
              <a:gd fmla="val 19380" name="adj1"/>
              <a:gd fmla="val 94116" name="adj2"/>
              <a:gd fmla="val 16667" name="adj3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Working Capital = Current Assets – Current Liabilities</a:t>
            </a:r>
            <a:endParaRPr b="0" i="0" sz="23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4" name="Google Shape;184;p24"/>
          <p:cNvSpPr/>
          <p:nvPr/>
        </p:nvSpPr>
        <p:spPr>
          <a:xfrm>
            <a:off x="4656138" y="5346700"/>
            <a:ext cx="2881312" cy="1511300"/>
          </a:xfrm>
          <a:prstGeom prst="wedgeRoundRectCallout">
            <a:avLst>
              <a:gd fmla="val 93856" name="adj1"/>
              <a:gd fmla="val 27102" name="adj2"/>
              <a:gd fmla="val 16667" name="adj3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Fixed Assets + Working Capital</a:t>
            </a:r>
            <a:endParaRPr b="0" i="0" sz="24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5" name="Google Shape;185;p24"/>
          <p:cNvSpPr txBox="1"/>
          <p:nvPr/>
        </p:nvSpPr>
        <p:spPr>
          <a:xfrm>
            <a:off x="5808664" y="188914"/>
            <a:ext cx="453707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the top part of the SoFP sheet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/>
          <p:nvPr/>
        </p:nvSpPr>
        <p:spPr>
          <a:xfrm>
            <a:off x="1846265" y="1330187"/>
            <a:ext cx="6634559" cy="2677656"/>
          </a:xfrm>
          <a:prstGeom prst="rect">
            <a:avLst/>
          </a:prstGeom>
          <a:solidFill>
            <a:srgbClr val="F4A9D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Financed By: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				£000		£000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Share Capital							90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Retained Profit						35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Long Term Liabilities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Bank Loan							30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1" name="Google Shape;191;p25"/>
          <p:cNvSpPr/>
          <p:nvPr/>
        </p:nvSpPr>
        <p:spPr>
          <a:xfrm>
            <a:off x="8904289" y="5013326"/>
            <a:ext cx="1366837" cy="360363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5"/>
          <p:cNvSpPr/>
          <p:nvPr/>
        </p:nvSpPr>
        <p:spPr>
          <a:xfrm>
            <a:off x="4511675" y="4652963"/>
            <a:ext cx="3024188" cy="187166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Add all these figures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together</a:t>
            </a:r>
            <a:endParaRPr/>
          </a:p>
        </p:txBody>
      </p:sp>
      <p:sp>
        <p:nvSpPr>
          <p:cNvPr id="193" name="Google Shape;193;p25"/>
          <p:cNvSpPr/>
          <p:nvPr/>
        </p:nvSpPr>
        <p:spPr>
          <a:xfrm>
            <a:off x="7535864" y="4941889"/>
            <a:ext cx="1081087" cy="719137"/>
          </a:xfrm>
          <a:prstGeom prst="rightArrow">
            <a:avLst>
              <a:gd fmla="val 50000" name="adj1"/>
              <a:gd fmla="val 37583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5"/>
          <p:cNvSpPr txBox="1"/>
          <p:nvPr/>
        </p:nvSpPr>
        <p:spPr>
          <a:xfrm>
            <a:off x="9191625" y="4149725"/>
            <a:ext cx="6937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130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5"/>
          <p:cNvSpPr txBox="1"/>
          <p:nvPr/>
        </p:nvSpPr>
        <p:spPr>
          <a:xfrm>
            <a:off x="9244013" y="4959351"/>
            <a:ext cx="69923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155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5"/>
          <p:cNvSpPr txBox="1"/>
          <p:nvPr/>
        </p:nvSpPr>
        <p:spPr>
          <a:xfrm>
            <a:off x="1847851" y="4941888"/>
            <a:ext cx="2519363" cy="400110"/>
          </a:xfrm>
          <a:prstGeom prst="rect">
            <a:avLst/>
          </a:prstGeom>
          <a:solidFill>
            <a:srgbClr val="F4A9D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Capital Employed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sp>
        <p:nvSpPr>
          <p:cNvPr id="197" name="Google Shape;197;p25"/>
          <p:cNvSpPr txBox="1"/>
          <p:nvPr/>
        </p:nvSpPr>
        <p:spPr>
          <a:xfrm>
            <a:off x="5232401" y="333375"/>
            <a:ext cx="5040313" cy="707886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the 2</a:t>
            </a:r>
            <a:r>
              <a:rPr b="1" baseline="30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nd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part of the statement of financial position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2" name="Google Shape;202;p26"/>
          <p:cNvGraphicFramePr/>
          <p:nvPr/>
        </p:nvGraphicFramePr>
        <p:xfrm>
          <a:off x="4008438" y="296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{8B2A0F75-CAB0-4C49-9643-C4A2122C8177}</a:tableStyleId>
              </a:tblPr>
              <a:tblGrid>
                <a:gridCol w="2879725"/>
                <a:gridCol w="1547800"/>
                <a:gridCol w="1547825"/>
              </a:tblGrid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£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£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Fixed Assets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Premises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wentieth Century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60,000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Equipment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wentieth Century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14,000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Assets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Stocks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Debtors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Cash at Bank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Liabilities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Overdraft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Creditors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Working Capital 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 Assets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C0C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C0C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C0C0"/>
                    </a:solidFill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Financed by: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Owners Capital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Long Term Liability (Loan)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Capital Employed 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C0C0"/>
                    </a:solidFill>
                  </a:tcPr>
                </a:tc>
              </a:tr>
            </a:tbl>
          </a:graphicData>
        </a:graphic>
      </p:graphicFrame>
      <p:sp>
        <p:nvSpPr>
          <p:cNvPr id="203" name="Google Shape;203;p26"/>
          <p:cNvSpPr/>
          <p:nvPr/>
        </p:nvSpPr>
        <p:spPr>
          <a:xfrm>
            <a:off x="1703388" y="765176"/>
            <a:ext cx="1871662" cy="2663825"/>
          </a:xfrm>
          <a:prstGeom prst="rect">
            <a:avLst/>
          </a:prstGeom>
          <a:gradFill>
            <a:gsLst>
              <a:gs pos="0">
                <a:srgbClr val="9F9FFF"/>
              </a:gs>
              <a:gs pos="100000">
                <a:srgbClr val="8A8AFF"/>
              </a:gs>
            </a:gsLst>
            <a:lin ang="5400000" scaled="0"/>
          </a:gradFill>
          <a:ln cap="flat" cmpd="sng" w="9525">
            <a:solidFill>
              <a:srgbClr val="9393F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40000"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Lets complete a balance sheet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" name="Google Shape;208;p27"/>
          <p:cNvGraphicFramePr/>
          <p:nvPr/>
        </p:nvGraphicFramePr>
        <p:xfrm>
          <a:off x="3216275" y="296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{8B2A0F75-CAB0-4C49-9643-C4A2122C8177}</a:tableStyleId>
              </a:tblPr>
              <a:tblGrid>
                <a:gridCol w="3424250"/>
                <a:gridCol w="1887525"/>
                <a:gridCol w="1889125"/>
              </a:tblGrid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£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£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Fixed Assets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Premises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wentieth Century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60,000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Equipment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wentieth Century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14,000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Assets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Stocks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Debtors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Cash at Bank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Liabilities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Overdraft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Creditors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Working Capital 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 Assets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C0C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C0C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C0C0"/>
                    </a:solidFill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Financed by: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Owners Capital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Long Term Liability (Loan)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Capital Employed 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C0C0"/>
                    </a:solidFill>
                  </a:tcPr>
                </a:tc>
              </a:tr>
            </a:tbl>
          </a:graphicData>
        </a:graphic>
      </p:graphicFrame>
      <p:sp>
        <p:nvSpPr>
          <p:cNvPr id="209" name="Google Shape;209;p27"/>
          <p:cNvSpPr/>
          <p:nvPr/>
        </p:nvSpPr>
        <p:spPr>
          <a:xfrm>
            <a:off x="931333" y="765175"/>
            <a:ext cx="2140481" cy="719138"/>
          </a:xfrm>
          <a:prstGeom prst="rect">
            <a:avLst/>
          </a:prstGeom>
          <a:gradFill>
            <a:gsLst>
              <a:gs pos="0">
                <a:srgbClr val="9F9FFF"/>
              </a:gs>
              <a:gs pos="100000">
                <a:srgbClr val="8A8AFF"/>
              </a:gs>
            </a:gsLst>
            <a:lin ang="5400000" scaled="0"/>
          </a:gradFill>
          <a:ln cap="flat" cmpd="sng" w="9525">
            <a:solidFill>
              <a:srgbClr val="9393F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40000"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Example 2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4" name="Google Shape;214;p28"/>
          <p:cNvGraphicFramePr/>
          <p:nvPr/>
        </p:nvGraphicFramePr>
        <p:xfrm>
          <a:off x="3575050" y="33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{8B2A0F75-CAB0-4C49-9643-C4A2122C8177}</a:tableStyleId>
              </a:tblPr>
              <a:tblGrid>
                <a:gridCol w="2881325"/>
                <a:gridCol w="1547800"/>
                <a:gridCol w="1547825"/>
              </a:tblGrid>
              <a:tr h="23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3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£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£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Fixed Assets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Premises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wentieth Century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60,000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Equipment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wentieth Century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14,000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74,000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3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Assets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Stocks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Debtors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Cash at Bank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12,000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3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Liabilities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Overdraft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Creditors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6,000 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3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Working Capital 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wentieth Century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3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 Assets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80,000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C0C0"/>
                    </a:solidFill>
                  </a:tcPr>
                </a:tc>
              </a:tr>
              <a:tr h="23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Financed by: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Owners Capital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Long Term Liability (Loan)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Capital Employed 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80,000</a:t>
                      </a:r>
                      <a:endParaRPr/>
                    </a:p>
                  </a:txBody>
                  <a:tcPr marT="9925" marB="0" marR="9925" marL="99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C0C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SOFP ACTIVITIES… </a:t>
            </a:r>
            <a:endParaRPr/>
          </a:p>
        </p:txBody>
      </p:sp>
      <p:sp>
        <p:nvSpPr>
          <p:cNvPr id="220" name="Google Shape;220;p29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 sz="5000"/>
              <a:t>Complete the SoFP activities found in the shared area. You may work together with your shoulder partner. </a:t>
            </a:r>
            <a:endParaRPr sz="5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 u="sng"/>
              <a:t>PLENARY</a:t>
            </a:r>
            <a:r>
              <a:rPr lang="en-US"/>
              <a:t> </a:t>
            </a:r>
            <a:endParaRPr/>
          </a:p>
        </p:txBody>
      </p:sp>
      <p:sp>
        <p:nvSpPr>
          <p:cNvPr id="226" name="Google Shape;226;p30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 sz="5000"/>
              <a:t>Share 3 things you have learned today with your shoulder partner. </a:t>
            </a:r>
            <a:endParaRPr sz="5000"/>
          </a:p>
        </p:txBody>
      </p:sp>
      <p:pic>
        <p:nvPicPr>
          <p:cNvPr id="227" name="Google Shape;22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8678" y="3539286"/>
            <a:ext cx="3572922" cy="287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gral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