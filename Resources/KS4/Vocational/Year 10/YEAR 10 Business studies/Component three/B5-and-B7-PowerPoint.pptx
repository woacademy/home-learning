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6858000" cx="12192000"/>
  <p:notesSz cx="6858000" cy="9144000"/>
  <p:embeddedFontLst>
    <p:embeddedFont>
      <p:font typeface="Tahoma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8A6F39B0-A489-459D-9785-54783B6EF3DF}">
  <a:tblStyle styleId="{8A6F39B0-A489-459D-9785-54783B6EF3DF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FF6E7"/>
          </a:solidFill>
        </a:fill>
      </a:tcStyle>
    </a:wholeTbl>
    <a:band1H>
      <a:tcTxStyle/>
      <a:tcStyle>
        <a:fill>
          <a:solidFill>
            <a:srgbClr val="DDECCC"/>
          </a:solidFill>
        </a:fill>
      </a:tcStyle>
    </a:band1H>
    <a:band2H>
      <a:tcTxStyle/>
    </a:band2H>
    <a:band1V>
      <a:tcTxStyle/>
      <a:tcStyle>
        <a:fill>
          <a:solidFill>
            <a:srgbClr val="DDECCC"/>
          </a:solidFill>
        </a:fill>
      </a:tcStyle>
    </a:band1V>
    <a:band2V>
      <a:tcTxStyle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Tahoma-bold.fntdata"/><Relationship Id="rId23" Type="http://schemas.openxmlformats.org/officeDocument/2006/relationships/slide" Target="slides/slide18.xml"/><Relationship Id="rId45" Type="http://schemas.openxmlformats.org/officeDocument/2006/relationships/font" Target="fonts/Tahom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7" name="Google Shape;23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9" name="Google Shape;25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1.GP: 25000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2.NP:10000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3.22%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4.9%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</a:t>
            </a:r>
            <a:endParaRPr/>
          </a:p>
        </p:txBody>
      </p:sp>
      <p:sp>
        <p:nvSpPr>
          <p:cNvPr id="260" name="Google Shape;26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8" name="Google Shape;26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1.GP: 25000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2.NP:10000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3.22%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4.9%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</a:t>
            </a:r>
            <a:endParaRPr/>
          </a:p>
        </p:txBody>
      </p:sp>
      <p:sp>
        <p:nvSpPr>
          <p:cNvPr id="269" name="Google Shape;26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showMasterSp="0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41" name="Google Shape;41;p5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5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7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🢝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🢝"/>
              <a:defRPr sz="16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C1DF87"/>
          </a:solidFill>
          <a:ln>
            <a:noFill/>
          </a:ln>
        </p:spPr>
        <p:txBody>
          <a:bodyPr anchorCtr="0" anchor="t" bIns="45700" lIns="457200" spcFirstLastPara="1" rIns="45700" wrap="square" tIns="3657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wentieth Century"/>
              <a:buNone/>
              <a:defRPr b="0" i="0" sz="3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77" name="Google Shape;77;p10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3872484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showMasterSp="0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0" name="Google Shape;90;p12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BTEC LEVEL 2 TECH AWARD</a:t>
            </a:r>
            <a:endParaRPr/>
          </a:p>
        </p:txBody>
      </p:sp>
      <p:sp>
        <p:nvSpPr>
          <p:cNvPr id="96" name="Google Shape;96;p13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Promotion and Finance for Enterprise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1379728" y="280416"/>
            <a:ext cx="9720072" cy="1192784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LEARNING AIM B- FINANCIAL RECORDS</a:t>
            </a:r>
            <a:endParaRPr u="sng"/>
          </a:p>
        </p:txBody>
      </p:sp>
      <p:sp>
        <p:nvSpPr>
          <p:cNvPr id="102" name="Google Shape;102;p14"/>
          <p:cNvSpPr txBox="1"/>
          <p:nvPr>
            <p:ph idx="1" type="body"/>
          </p:nvPr>
        </p:nvSpPr>
        <p:spPr>
          <a:xfrm>
            <a:off x="1379728" y="1913467"/>
            <a:ext cx="9720073" cy="402336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42900" lvl="0" marL="9144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Char char=" "/>
            </a:pPr>
            <a:r>
              <a:rPr lang="en-GB" sz="5400"/>
              <a:t>Learners will complete and interpret a statement of comprehensive income using given figures, and suggest appropriate actions.</a:t>
            </a:r>
            <a:endParaRPr sz="5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1379728" y="280416"/>
            <a:ext cx="9720072" cy="1192784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KEY WORDS</a:t>
            </a:r>
            <a:endParaRPr u="sng"/>
          </a:p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389468" y="1642533"/>
            <a:ext cx="11446932" cy="48768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-GB" sz="2600" u="sng"/>
              <a:t>Profit</a:t>
            </a:r>
            <a:r>
              <a:rPr lang="en-GB" sz="2600"/>
              <a:t>:  is the financial return or reward that entrepreneurs aim to achieve. </a:t>
            </a:r>
            <a:r>
              <a:rPr b="1" lang="en-GB" sz="2600"/>
              <a:t>Profit</a:t>
            </a:r>
            <a:r>
              <a:rPr lang="en-GB" sz="2600"/>
              <a:t> is the surplus (leftover money) left from revenue after paying all costs. Profit is found by deducting total costs from revenue. In short: </a:t>
            </a:r>
            <a:r>
              <a:rPr b="1" lang="en-GB" sz="2600"/>
              <a:t>profit = total revenue - total costs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1" lang="en-GB" sz="2600" u="sng"/>
              <a:t>Loss: </a:t>
            </a:r>
            <a:r>
              <a:rPr lang="en-GB" sz="2600"/>
              <a:t>A </a:t>
            </a:r>
            <a:r>
              <a:rPr b="1" lang="en-GB" sz="2600"/>
              <a:t>loss</a:t>
            </a:r>
            <a:r>
              <a:rPr lang="en-GB" sz="2600"/>
              <a:t> is made when revenue from sales is not enough to cover all costs of production. </a:t>
            </a:r>
            <a:endParaRPr/>
          </a:p>
          <a:p>
            <a:pPr indent="-1651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❖"/>
            </a:pPr>
            <a:r>
              <a:rPr lang="en-GB" sz="2600"/>
              <a:t>For example, if a company has a total revenue of £60,000 and a total cost of £90,000, then they have lost £30,000 from trading.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rPr b="1" lang="en-GB" sz="2600" u="sng"/>
              <a:t>How to manage losses: </a:t>
            </a:r>
            <a:endParaRPr b="1" sz="2600" u="sng"/>
          </a:p>
          <a:p>
            <a:pPr indent="-1651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❖"/>
            </a:pPr>
            <a:r>
              <a:rPr b="1" lang="en-GB" sz="2600"/>
              <a:t>Cutting costs</a:t>
            </a:r>
            <a:r>
              <a:rPr lang="en-GB" sz="2600"/>
              <a:t>, eg by letting staff go and asking those who remain to accept lower wages.</a:t>
            </a:r>
            <a:endParaRPr/>
          </a:p>
          <a:p>
            <a:pPr indent="-165100" lvl="0" marL="9144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Noto Sans Symbols"/>
              <a:buChar char="❖"/>
            </a:pPr>
            <a:r>
              <a:rPr b="1" lang="en-GB" sz="2600"/>
              <a:t>Increasing revenue</a:t>
            </a:r>
            <a:r>
              <a:rPr lang="en-GB" sz="2600"/>
              <a:t>, eg by cutting prices and selling more items - if demand is elastic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1379728" y="280416"/>
            <a:ext cx="9720072" cy="1192784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6000"/>
              <a:buFont typeface="Twentieth Century"/>
              <a:buNone/>
            </a:pPr>
            <a:r>
              <a:rPr lang="en-GB" sz="6000" u="sng"/>
              <a:t>KEY WORDS</a:t>
            </a:r>
            <a:endParaRPr sz="6000" u="sng"/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389468" y="1981199"/>
            <a:ext cx="11446932" cy="4538133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t/>
            </a:r>
            <a:endParaRPr b="1" sz="5000"/>
          </a:p>
          <a:p>
            <a:pPr indent="0" lvl="0" marL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5000"/>
              <a:buNone/>
            </a:pPr>
            <a:r>
              <a:rPr b="1" lang="en-GB" sz="5000"/>
              <a:t>Profit = Total Revenue - Total Costs</a:t>
            </a:r>
            <a:endParaRPr sz="50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</p:txBody>
      </p:sp>
      <p:sp>
        <p:nvSpPr>
          <p:cNvPr id="115" name="Google Shape;115;p16"/>
          <p:cNvSpPr/>
          <p:nvPr/>
        </p:nvSpPr>
        <p:spPr>
          <a:xfrm>
            <a:off x="728135" y="4555065"/>
            <a:ext cx="5046132" cy="1879600"/>
          </a:xfrm>
          <a:prstGeom prst="rect">
            <a:avLst/>
          </a:prstGeom>
          <a:noFill/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000" u="none" cap="none" strike="noStrike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income earned by a business over a period of time, eg one month. The amount of revenue earned depends on two things - the number of items sold and their selling price. In short, </a:t>
            </a:r>
            <a:r>
              <a:rPr b="1" i="0" lang="en-GB" sz="2000" u="none" cap="none" strike="noStrike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revenue = price x quantity</a:t>
            </a:r>
            <a:r>
              <a:rPr b="0" i="0" lang="en-GB" sz="2000" u="none" cap="none" strike="noStrike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b="1" i="0" sz="2000" u="none" cap="none" strike="noStrike">
              <a:solidFill>
                <a:srgbClr val="CC00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6112934" y="4555065"/>
            <a:ext cx="5554133" cy="1879600"/>
          </a:xfrm>
          <a:prstGeom prst="rect">
            <a:avLst/>
          </a:prstGeom>
          <a:noFill/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Costs</a:t>
            </a:r>
            <a:r>
              <a:rPr b="0" i="0" lang="en-GB" sz="2000" u="none" cap="none" strike="noStrike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are the expenses involved in making a product. Firms incur costs by trading.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Some costs, called </a:t>
            </a:r>
            <a:r>
              <a:rPr b="1" lang="en-GB" sz="2000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variable costs</a:t>
            </a:r>
            <a:r>
              <a:rPr lang="en-GB" sz="2000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change with the amount produced.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Other costs, called </a:t>
            </a:r>
            <a:r>
              <a:rPr b="1" lang="en-GB" sz="2000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fixed costs</a:t>
            </a:r>
            <a:r>
              <a:rPr lang="en-GB" sz="2000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, stay the same even if more is produced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164666" y="3589865"/>
            <a:ext cx="474133" cy="88053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9254067" y="3589865"/>
            <a:ext cx="474133" cy="88053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755651" y="212218"/>
            <a:ext cx="6447501" cy="990600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b="1" lang="en-GB" u="sng"/>
              <a:t>FIXED COSTS</a:t>
            </a:r>
            <a:endParaRPr b="1" u="sng"/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755651" y="1202817"/>
            <a:ext cx="10505016" cy="5028649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54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Char char=" "/>
            </a:pPr>
            <a:r>
              <a:rPr b="1" lang="en-GB" sz="4000" u="sng">
                <a:solidFill>
                  <a:srgbClr val="FF00FF"/>
                </a:solidFill>
              </a:rPr>
              <a:t>Fixed Costs </a:t>
            </a:r>
            <a:r>
              <a:rPr lang="en-GB" sz="4000"/>
              <a:t>= costs that remain the same no matter how many items you make or sell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4000"/>
          </a:p>
          <a:p>
            <a:pPr indent="-254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000"/>
              <a:buChar char=" "/>
            </a:pPr>
            <a:r>
              <a:rPr lang="en-GB" sz="4000"/>
              <a:t>E.g- rent, salary, insurance, interest on a loan </a:t>
            </a:r>
            <a:endParaRPr/>
          </a:p>
        </p:txBody>
      </p:sp>
      <p:sp>
        <p:nvSpPr>
          <p:cNvPr descr="data:image/jpeg;base64,/9j/4AAQSkZJRgABAQAAAQABAAD/2wCEAAkGBxQTEhUUExQVFRUXFxoXGBgXGBgcGBwYGhgXHBoXGBgYHSggGBwlHBgVIjEhJSkrLi4uGB8zODMsNygtLisBCgoKDg0OGhAQGywmICQsLCwsLCwsLCwsLCwsLCwsLC8sNCwsLCwsLCwsLCwsLCwtLCwsLCwsLCwsLCwsLCwsLP/AABEIAMQBAQMBIgACEQEDEQH/xAAcAAABBQEBAQAAAAAAAAAAAAAEAAIDBQYBBwj/xABIEAACAQIEAwUFBQYEBAMJAAABAhEAAwQSITEFQVEGImFxgRMykaGxFELB0fAHI1JicuEzQ4KSFlOi8RWT0hckRFRzsrPC4v/EABoBAAMBAQEBAAAAAAAAAAAAAAABAgMEBQb/xAAwEQACAgEDAgMGBgMBAAAAAAAAAQIRAwQSITFBBRNRIjJhgZGxFHGh0eHwUmLBQv/aAAwDAQACEQMRAD8A86vYEkyLjgHlP0otBAA6da7mpTXK2z6PGoxba7imlSpUjfeie3jLiiA7R0Oo+BqbDKbpMgSByAE69BpQVWvZn/HjqjfIr/eiioZVjluQrvBpGg18hXbPBiugQehA061v+F8PFwwSBAnbpWiwfZu2QC0kkT5VooSaMpeI4sU921bvWufqeSHg56EVHc4OwE6/CvbP+H7PT51Hd7O2o6UvJfqOPj3wPEhw1qjOCP8A3r1fG8GRNZEeX1qlxGDXoKlwaO3H4up9jz18Mw3FRZd63pw69BWfvWst52XQgwNARBUcjUu0dC18ZvldCoZiyGSTDA6+II/AVDR165bUMGaJA2E7GpbPDf3QvvmS03ukKXZo393ur6nSqjjkzPJ4tpMPDfySv+CrroFSYfiFtbveslrI3GaLmuxJO3XUAefPU4HhlnEd7CxIGYBjMgfynvR4wRVeVJGK8c0knTT+a/llC3DLYAN59xoEhiP6unxoG5hEyhMikA6HXNrvJmrrGcIe22VgAx1yyuo6oRow8NCOlDnDdBPofgelZ3KPVm8MGi1Ed1Rl8kv5Rnn4SobMkr4SSN+ZM6UTkaSApKk6AskjQCSYE6AbCrSxYZzlANencO/ZlZhfbs5aAWCkAT0mNY61pCUpM8zxLRaDTrndFvoo8/f90eH3+CXTmuPECSqrqdDz5fjrUjkqEUCcoEyNZjxr3nH9gcOoGQ5RoBmYz09a89/aN2K9kGa27EpaN1Y+8oPfXTciSfSumj5l12MrbvCNfpTmI+Hgaz/DCWdQ1wohOrEZgPSr3HFUvtbS9bvJurpGungSNKKQrJSsjaokskXAwGsfMT/eg8c50AJ9NKfxC2qIjLcZmYGddqe1BYTicc5zDTvADbXSfHoa6iEgTvz85qow91pnWDI9KIxWJObQnYb+QpisusDbBvWRH+an/wBwrZrgxiWeypjEKS+HJ2JzEtbJ5a95SeebrXn/AAO83tbZ3hwZPhtWi4o7LfUMQr5090xDSDoTtFFFI02W9/8ALL/vP5UqsP8AizFf8y38FpUe0B47hcQHUMOekdD0ois9wfEFXy8m+o2q+D1yyjTPUwZt0bH12mzSzVFHTvHUfwNyLojSQfpVdNG8I/xPIGgqMraNhYxNwbXHHll/OrCzxW+P/iLnwU/jWcS9UovGhSOmWFP0+iNIeM3zvfc+aKaceNXz/nk/6BWbF81IL9PeZ/ho+i+i/Yu34jdO9yf9H9qFa83UfA0AL1RYviAQTuTMLzMfQeNK2weOMFbC8VjBbXM7BR1M78gOp8KynE+IM1xipCqYkTqdIgkHuiANPKgcfiWuuXcg5duar4IvXxOp3MCgsdie7lGg36knqT+UeEVvGFcs8jUapz9mPC+5JYxBRmZYncknvQd1QRPKJ0iafbxLgDLcbYscrEayQfkJ61BZcle9BO66aj1GwqbFEKylREiY8Rv6EGt4s4qJsNjyzgOEuhTOW7p8H0YHxDVYYO3ZhriWrdphPed2vuTtFtSNIHNvjVZguFrfecOXKpbm4IDXAS5GW2gjMPdidd+lXJ4GbfskSc1xJRHRlOkypbVQ4AJgkUm1YJFPiO0V5GjM4PiSoPkq6fCr3gvFRiO4qsbgEmPvb94AeETVbdwq3QUuAgjSDowNUnCbr4bGICSCrAT1B0n5j4VnljuR16LUPDlT7Phm5tu42DDyJ/Or7C8b4lcIS1cus0aDuSR17wqHE8XZyC8d3wihPtpFwOHgjWQenrXIn8T6qUfM5ljjfxVj+NcS4rbj27XQBrqLcQTEyoqjx/HMTcyrcuP3Ccu2kgqy+RBIirbj3FfaK7vck5Qsk6awNAPTbrWcZQYJJknp15Vacn0slY9JsrPGEX8El9O5QcW4Ubdv2qEeyDBY2IJHz2FVOHRmaFmT0rTdosegtrZWSwuB207sAGBM7zrUOFYxqoXyrphdcnyWrjjWWSxe72BeIp7oPIUHaWTH6FWHFLeszQ2CSZPJYJHOJA0+NUzCKtj8JbmQRJ5QBv60ZilHtAGgCQCT066eFHYbD211JOhnp6VXY3DnM0RAPXXWhFONGtsdlWsYhAt1LiFWhwQCWKESqTJAJFU/Gz7XFuxkK7jppIUGR4VquAcSsmzaQCbigQMpka6wx5HwrJYi5/72/wDD7ZzHhmJqgSTJ/wDwdf4v+n+9Kgfbt+gKVLfEry2ZBzBBG+9FJjLhIAJJJgARMnblUD2GJAGpaAPMmBVvxLB20xVy2Ay5YKlGAiLYbQZTGs61FGabRDjbWJstluq6Npoy66iRy00Iof7c/N/p+VF4jihuPN+7iToIYOrEwABMgToBRGExmEVSGu4uT/LaKx0IYGTS2lub7NleMY/8f0/KisHxS5bJIKmRGv8AaKlxN7COVW2zFjAk2gDmJjYafIVbWuzthY9oXadQyCAB/NI96eVJ7Vw6LTyL2otgK9oL3IW/g3509eP3+lr4N+dFXMFw8GDdvA/0/wD81PhOFcPdgFvXSTsuoHxyzQoRKeqzf5MDXjWJ6Wv9rfnUycTxJ39kP9J/9VH3+z+DW49s4i4rIDnXcrCyWJy8hr0pYLs1YvT7DFPcyxmI2UH+Igc9QANSduZD2L0BanL/AJP6juGtibrZV9n1YxCqBuWYtCjxNWPEr1jChs49vfK6BohTyY22mAJMBhPRVksR+Mcft4RPs2FE3ARmcwcpHNiCQ90f7U5Swmsg7SSWJJOpJMknmSTvTUVHoKeec1TbaH4vG3HOZ2LNsJ8PDYDyoZl1Emefma61wDU1E98DXnTMQoPG/wCvCrHB8NF5dWNsnKodpKlnzZFUATqBJPhHORQJca4YUHMdANvh41s8DfFuJUMVNuFaRGUlWI2hgrSJ8aLoqEJTdJWegcJwKWkUACQAJyqCYAEnKANgKuFw6vAI03jkZBB28Caom4tZtwLl1FkbFht100q4wV8FVIYMpEgggyDsRG/KpKcJJW0ecdo+FjDuECuPYhAWYlg6XSxVQxAn2ZAUSTo3hWY7Z2Y9jeHWD9R9DW17cYxbjOEuQAyW3tAsYuhvaFz9092Bptz3rJ9rRmsKvPMPoatdCGaTE3UgaxoOQ/OgbuJt+J9B+dVTcVS5lGqtlE5mVUkDkxqtxGMbQjLGuzBto0kbVDxYz0V4tql0l+iNKb6MIgkaHUDcaiNd6Hv4y2glo66sJ25ASZ1rJ43EZySrOg17peRtsIAPxoW2GAJ1id9xPnVRSSpHJm1mTNLdOr/Inxd/2js8RJ2onCXGAVi6kFiuWe8IjvHoD+FArJIAGp5Dn5CnvhyPeUjXUEQfKDqKEczdlvimkRz3pljDxrO4g+VRWXzPPLYfA0VaaarqNE1yWEEneaivWwWZmmCZ03+elSqaV3VT5GqoZadkrId8skRJEEqZEaEjlE1WFgbjECO8341adjEBuE6jKhOnM7a+hNVFl41yg+c9fA0hXR3LXKm9uP8Alr8X/Ou1G0285Dex3Ccz+2eO57qSJnUZmHIDl/agu0Cxjm8UH/4yPwoRrzWyA0eDW2+YKnT5GpLitcuC7mLkCDJExBgTz350buKZltv3Rtq1Nm4TEArvvvyFVN60ARHOrax7lxToYGh30YVX3QCyjx5b0hD7VoLDjSCp+c/hXoV1NDEaifj5VgLalhIQkSPxmt3h7oNtNR7kfIRNcWri7i18Ts0j95GU4ssXDMbUuCXh7ZdQYDHT+k1B2khrggzAIMefOpOynDmuX4XQBGzMdlBEAmNdTAAGpJ0rqxe6jln7zNfcwrXOL4wBTkKAO0SF9pYRQPFjJhdzHnQfHeNph7YwmD7oGj3FIJn72Vh7zmYZ+XurA1qftZ2mgvas90n33WJmAsAjd8qgM3IQo51j8LZLHaT8hWz4EOWFHyH661G94ASTP60ApmOTK3eIOmkUCzzvUis7duyZP68KltKWBJG9CRJra9lezb30LhlUA6AgmSIPwmolKlyVCDk6Qzs1wySrMOhAFbHjPZw3kVkOVzoQR3WAB5jYiN/GpOD8CK5SQ3vAHT4+lay5dIUKWBUHSueWQ9DFGUOjo8pxWAa2+S6BqViNIAkETuZ8elak8ZQgW1uZFAiVAkRGUoxkKRvsazXHuIe2vM42JyoPAfnqfWpkFvKnukkmVAMjaCZ0IMnadqpSZ7uHRQ2bZq337/L5f9LjjPCLly415MtxDLBba5WUtGZsg97MdSyz5CK8841xP2jwNlkDz5mPl6V6jw+4bSAAaaRB1knl03qt7S9m7eNDXLICYlfemAHMDS4Bs0bN4iZ3raM+zPG1XhzjcsfQ8yF7wmpLdyQB/NH+4EVBiLZRirAqwMFSCCCORBrtttF8XHy/uapnlR4YVw/g1y6JUGBz+Ppy61HisI9kkGQDuBMHwI5+fwrS8H4gotFQQNfwj8I9KrOP4kNEGfH4/H+5qhNUiswWLa04dDDDUEgH61LiuIPcYs5BJMmBAnyoIVLbSgkNt90Dz/A/nRVihrjSfKibVNFBC0220j404VHY3jxj51QzSdnsI1kXSwI/clgeUEEjX0rN29hWzLgWMUeiZR6Wx+ZrG2N/SkSzs0qsvaDw/wBopUUFEFyymoIy+YlDQN60qNIQhf5TtPQtuOgmp8ZbuW/fU/UfGhEx5U6THQ/h/epfJMeHZYJgrV5ff9WG3hIgg0BxHsxcskXEh1BnMuseYO3rXSVY5rTC02x5L6j7oPqKtOH9oGtNkvjIdifukeI6eO1ZNSj05O2MsWXiXD9exkmw5gieckHr4iiuE2nRnM/5bR8vyrY43g1rEDPaIRo2Hun+k/d+YqlTB3EYoyMTBUQOZ0E9PPbyoUrXBLxPHL2iqwHDbl64EBk6mT7qruWY8lH61NaTHY5MNb+zYf3plnOjZo1dujRoB9xdNyahv4kYdDbtkZzq7+R0P9IPujmZbpFAWkwAdfUk8zW9bfzOcaq1JdxELlXQfM+JpmI7unPp/ahGmN6joA27B3MfT0qz4f2duuy5rVzK2xIKr8a0fYTA2FtfaMSqxnOViMzd2Qci8tdz4VsO1fHFw1hRbCkuoeCIHs8yidB1ZQPWs5S7I2hCqlLoednh625TKBGhka+pozheOuYczbOh3UiR5gHY0EeIG68xOYyT57momx2pgAidJnafPWs9snwz03m06jurjoq9T0nCdqbGfJ7XNMAFgRqRMTAH0qm7U9pc7ezsuMon2jDWZkBVPxk1l8LcBzM9tDJ2IPIRoJ0qa4UjRAsa6T8NTR5SRzYtQvMVrixLEzyA09d/oKteH2JcT6+HgfHlQXDMNAHh9eVX+CsxUn1UXOtz4tdPj/C4LOdvDb4/r4UkWXzAlToAR4Tv1GtQXTpSXEAcwPh9P70zHbxwU/bns+t5ftCDvoMtwDcqPveJA+XlWDNpQQZ2EKI26Enn1r2CxjAdiPKRr4HWvN+0uBFjEOqSqHvIPA8tOhzD0rWLPA1+m8t+Yl16lLbtEbMfSaY9rqSaKzE86jYVZ5bogFqisPhWILBSVXQnkCdQD8D8KYBRuD4g9tXVcpV9wwnUTqPHUiiwSXcGU7eMmjLbaTQZ+6Of50bHKrQidW0pWDFwHTcHXbT/ALVEhom3iIBAVZP3iJMaaa6DbpTGWWHxjtoQHAmJYhR4EAd71qru3G9pJULmGwECB4VNgsbkzSCZM6QKgxmJDXFYA6COXWpT5G+gTNKoPtS/wn5UqqySsN2dBP0+ulSXcJeUSUIA5wPwNV4vDqKt+Fceyd1+8m3iPzHhUk0VwueHkeh8eop32ke7dDMORVtvINII8NKuOK4JWU3bIDaagc/EflWfuYnUe6RAO0EaaggHkZFIArAcTayf3bSv8JGh9OR8q1GJ4jdvBLdq0WusCQggsNO9J5KBudKz2EPdzuig/d6nofCirnFX9m1mwCFaDffWbkbBj922OSc9SZJ0tQUfa7mnmy27L4KyO9321J7xMkfLf0rovsRltgLpvos+bE6/HpVhwW2qsXa2HjWTqF8Sv4kEeVWvE1S6pIVRzIOgP9J+6fI1m8iTo0jglKG6L+RkMfhrllgtwalVfQg91wGXbwIqMXQRRXFMSWf94JKotsdcirChuRI01oDB2wzd4gAfPwpmPQv+z1/uMDoAGIM7yVkRy2qw4ziGfE4pnytHdUEaBVuJCx0HSiOynBHxJuZIVQuQmJEsREDQTA61ssV+zgXGust8hrkkgoCBLKdIIO4+dQuG2bylcIx9LPPrGOZUJhAAYUBBE855miE4ztNu2fT+9bL/ANm6jKrXnMD7qgCZ31JrKXuDi27IR7rFdfAkfhU70jsw6OepajBqku/x6/t+SRBhOIKRHsQTqSdeZJ1M+NS3gGibarGuhJ+tF28OoiBoKmFgEcvH86l5Gz2NN4Thw1LI7a+g7AOAI086Ov4xUEkx0HM+Q/GqjE8cS2AiQ5GhPIevOgPaF+8TJPOoprk3lq8U57IO2H38c13QkheQH49TRFq6yH/EYeeo+tALagVIp8PCiztTTVIurOJJggkk8v7aTRHGcEuKwzSo9oqlkIOuYCYB6HaPKqvhzS+XnBjwYCQfl860WHI0YaBtY5Tz8qcWcWqxRlHazyQCuZKKx9rJduL/AAuy/BiKgrc+Pap0cC04ClXRTEK4mhoVDqKMbY+RoNfeFNCYcs9TRFrzmoE5VOtMaHcqiJqZjUJoAWalTa7SsKKy5w4/zfryFRpgCdiPjH1rbtgwakw3CjcMKMx9Pxp0Z2ZCxwhgJLxPJW+sUSMEq6mDHPXbxmtXxLgpw9vPdIWdFXWSenl40DwXs8+LDvmRLaGJYkZngGBGwAO9NUuWFlGLLXZOYKg01In0HPxNWeFwzW1lCvOGzKVO2YECZ5fEUFj+ICw5t5TnU5YB58gN5FVdxrl0nO2Sd1206mN9eX0pSdjQTjsb7NwbZGbchfut05j5mgcTxK4+5CKeS6DxP/ajAVVQqLJ/ib8F2HrPnQbYZnLMZAXcwTLHZdOvXapotNroCAflUtvD5iB86fft5ACxEnZRqfWrbg/ChdJa6yBFy5ibmQKJjoZ1I260UItOxfEzgmvNBcBMwSQMxlUC5jOWSykmJhaur37Y8QQQmHtIdpLO8HygVb8M7FYVbTtlLJcUS5uHJklWAEHaQNd6y/aTsvhO4MIxSJ9q7FihGkZSx3Gu0701Apv0B2/aNjnMm8k+FtB6QRXP+ITcl7+rnUkCJ5QQAAPMUNh+CWhAUNfbQSdEBJgE9BVr/wAFX3b90EeQcwYEBV1HdaSM2sg6RlFDxWro2wajLglug+SsXi7EnKFqG9dd/eaR02HwFWS9heIroLAuAfzJJ9SRRI7HYwLmOGuLpJhgY9NfrSjjXYeXV58iqcm1+hnfZ0RhXKHqDy/Ki8RgLlsZnQ5dszAr6SJWfOoF66r/ANQ+K/lRKHYzx5HCSlF0w/5Cnk/r8ahtNPiPAgj5U89BXM1XDPs9Nlx5I+w7DMLKwwMHlWj4XcJWCdd/j+jWesHTrVvgL3eE84HyP5CpT5FmVmP7VYXJibn8xzj/AFb/ADzVTkVsO2libltuqkfAz/8At8qzLWq6V0PktVDblkvj9wUV2pntVEVimc4rmx8jQaHvCjgJ0qvtDvVSJZY2t/SiVqCwN/hRAFDKQophWpYrmWkOiHLSqaPCu0WFHqX/AIdYRYcCCOcg+gHePmTWR4xjlsP+6ctJ7sQD6n8areM8QcAkEyTqSZPmZ3NZ65eKgsdWbr9T4VUUc8UEce4vcvMTcaWiCdAAP4QBtVceM3oyW2KjogAJPUkd4n1qJcO1xoUEx7xOgHUsdhU620Q9wljGpj45BuB4nU+FDdl0Nw+FZDJjOeR1I8SeRn1qZcPrrJJ5b/KmJe1iD6b/AAFPsMZb2k5YMIIALcs53j4mgY9lgE7AaEyIB6TtPgJPhXcPwq/dK+zTMW2UHUjryIAHM6UAMO5EtBVWEkHYMQI6xpy2rU9kuPLhsRnuEBHGVifuiZUjoJ3/ALVE5bVZcVZq+Afs9vZkxftrNpvZw1kLmHuwVJJOpIB0EUu0GFSUGKC2bjKQjDKMwG4AjK4E7EaTpE1rsV2hCFVzLmZcyjWSu86fHwrz3tPxj7bdXvEWrMsSRA2gtrrtIH9TVjgzScq5d/Cki541VkNnEXijhbj3bRPcTKAWiNY3CyOZ8apuIi8zyR3UDZVlSzbQpAO0+WgPWn8SxcXHti9CBLbqUB0lRCqu7P3iJMKACd6qr+DVLQxCHN+9CEE6glSZYbkaHWupszNF2Xxpw6i6xZHAaVbTOVVjkAHdCiV7zDcRzit9gP2hpBBJZTbDaIFYXC2tsgkAwuuavMUZWVRsFGUFeYmZ6gE8v0EFHL8KRUXzyj0k9vbFzPaK3wIIdgoAUc+9Iin4PjXsjbGHvXboNzIbdwgjKVJJMjMsCDvXnmHw7spKgkDQ+evL0+lT2MXeSVQusiTkJ2PONoPWkabk+qNVe4/cGGusuT2qANDiAVYkMco8VuKI/hFU44ReZHxGIwtsWyDcOQtauIInmuSR4gT11qoW+ZDFbZMR3rS6gdcoAbnqZqW1ipuq5UBIhkUn2beJRp8NB05UjNxZn711RdcWrkqp7rN3Sw5TpAMeW1F4PFOx0UMw3BOU+p/E+FVXFOHm0WhkZJC93NAMSFGYBiADuRyrR9iuFaNfYd3KUtiNydCfHeAedN9KHicoyuLpkuAxuYlSGVhyYQY/EeIq1tXIZfMfPSjcFYe2yriLLG33lYOO8Oa5XGk+9EHQxMgmIuOcN+z3kKsXsvD23Igkc1YcmB3FYThTtH0+g1qzLy5+99znaNM9u23jHxH5is4bNal1z2mG8HN+J+pqsGHqovg8nxHHtzfminOHqO5hKu/s9cOHqzgoy+IwrLqKrcOpljudzW2bD0MeGJqco13ppkuFlPg+8unrRXsqs0wIAgCKX2akNRorctdC0Y2GqM24oHRBkpURlpUBRUYjDxDHU7f96EvWM2pMH11/Ln4VZ+18jTSqn7vwNdLgc5WYlkFsy0E6hApMmd31iPHfap8NwO8O9GYkbh11BG29T3MOv8w8xUNu0xMAkeprNwY7Hvwu+P8AKf8A0qSPiKiHD7nNHHmjflRSYu9b0FxhH8x/A0Zb43iIkXj5FnHzmlsYWC4Tg5PeaVUczv5KOZpnGr9pP3aIhZesEyQO8557jTlROO4i973rgBmCCXkjwaGA8qE4DgrRuPexJlV7y2wZZzyEj57fkUOwzDcNxGICF3ACjKbj6BV6KefMEDXTnUnaPDm1bS1ZVvYmS90j/EgEyY90aGAd/jVZxHtDcuOTcUZNhb2UDkI/XOmXuN3MQVttoDp7x/ExrFHAWD8GwzXGz+6BoSJ10grrpEb1p7NtQAAAAOlRYewqqAugA2ohPChIaJcgI2kUFi8CwBa3r/Kd/T8qOU1JBoZQPg+LWggkBco9wg+0zQJzSpXUgSwymI6UK+NZs8uR7SM0HQxsPIdKNu4FLnvKJ68/jQeK4etsSXVfBzqfKNT8DSoRy5cBKkgSuxGmmuh11G5qe23tGJgAHUhRA8ABVdZtye7IPQx9KNsXjZBYgkglo6mO789aVFqVLoVXay1mupaTVhCvG5Z4IXxyj61pk44bVwIttclgCJI1IAA7m+538KA4Dwv2QOKxH+O/eQMNVBmDH8R1idhJ5VzFooQ3GUZtXZho0DZQw110+VJjgnyy/wCKcWbFWVZP3aoykw0wdWLEHYQoHxHOrPB4g4rh960yKGtxdtgA5hJZmE8+lZrFXbQsqbRlb/e1MsLa7qxOpJcwZ8aJ7O9oVw98C4DluoVYgExqNYHl8DQ12LhlcJLIuqa/T+/cK4Pcz24HQqevh9alFiq7hjhLzBHBU6gagxupjyIq/VJ1rKKrhnreJ7Z7ckOUwAYel9n12qwW3pXBb1qzyStbD7VxsNVk1r6132dAFYMPpTVw31q0S3pSNvWmBUthqHu4Srq5ajXQfKmm2KQFD9kpVd/ZB4UqAMLkpZKkBp4r21CDPObkiCKRqYioyKUsSBSISg5002ehqYimxXPLGi7GW7Kkd6Z6104IHZh61JaB5U5SI8eUGo8tFWCvg38G9QflQ5w4BHcAIMgjukHedKsc5pAmpeELOLxE8x8v7iibWLHX9etOw/D8yG4VlV3ytB+BEGgHtDlMeNZ+Wx7g/G44hRlEnyMef9pqvTF3D98j4V1bcbMw8jFSe0PMW38GX8ViocGVZ0Xrh/zG9CR9KEv2ue5+fx51YC+v/IX/AMx4+c1Oj/wraXxDPPyFS0OyvwGDuFhIKrPQlj/9NRqx8tOpFajh+DUd69ByGcrEHL09tGmbpbEzzMVX2WYEiLjd3MQgCKV2lmHfZauuF8Pu3V1CImy5fu/xZRyJ2LHX60IaBkS5jcRCgrbALOxykIgHed2ze8YECI2A2qr4hhTdDAanMCQVhQs8yTECF+FbPhaezYhDmB39nKqdIyso0fTmJihuJ9nMZaRHyPctcxP7wLOjZdWYDbbTehodsxqII7vujur5Dn6tmb1oC9jFN61bjU3UBMfcJCkaGTvNGEZFYawGYLM+7Jy78ois/ggbmKTwcH0TvfhSDq0i/uXDbukKT3D3T4cp8I5VueH3/a2g/MivPblzM7Hqf7VtOzFwBcmoOja9CTqPCMtPIuEzo07coTgunvfR19mXAT9Sfzp/s/H+1PpLz33/AAFZkkbL+H1roXyqRvy+orsUwIlSum3ttUqLv+uVC8TxyWUzOdzCqNWZv4VHM0AduLEkwFAkkmBHUkjSqxb739LYy251uGe9G4t6gweunPapreCuXyGxMKm6WAdPA3T95vDYVboBtA0iI0A8um1Aupmv+Gz/ABn/AMtf/XSrUyKVPkVI8o9pTg1QA1Itd0Z0crJacEoS/jkT3mE9BqflQlzjoGyk+JMVp+JiupOwuRhzU3/hN2M3srmX+LI0fGIqpwmIv3NRZ06kn8quMHisXb9xrtv+i64+Qp/i8b7E+VL1AfZU1krRL2pxP+ctu+uml+0jf9YAYec0nxmCve/auYVj962fa2vM22hwP6SaqOTHL+2LbNfEqcLggVzu2RJgcyx6KKcWsclunxlR+FE8Q4WyKGV0vWvu3LbFlHgQdbZ8GA9arQKtY+9iUrDPtsW2tqsKeZJJ/KgClSg0i4rTyo0Lc0wcrSipC9NLVhLGjRSOAmnhTuKQcV6B2P7EPiLftLiBEO3tSwkciLaEMfVl8qynHHFXJlKTukYbBSj5xvG8kco1Plpryr0Tszwl8XaBBQ25hiuiZhuCNyfD1q/T9nGEGtxrj+CkW1/6e8fViatuA4CxhSbdu2FUkkbn61xzlF+6aqybhvCrNgd0qX/iI28hT7+JB5z+Iqe7xS2jlchDnU6CdeZ6etC3FDmYnXlpp4mshni/7VcD9nuZ1ELdBI/qnUfMH41i+A4cBLt1tguRfFm/R9A1evftTwlvFWRZt6ur5/aT3FgHMubmSNNBE868xxGEa2RbKlVXkdiY97xrRRbDpyR4ZdZrfcPw6LdA/wAxEVWHQ5FkR5yJ8KruxnAs9wNckAAMFjVhI3nYEkDqZMbE0dgCTjLzEyC1wif64HxE0s3FRPQ8Ph7GWX+v3LyK5bb6mu70kH41mcx19v11FdimudKeKYCA19K5csq0ZlBjaQDHlO1dG/68KfQBEthY2ppsDTep0pONKAI/Y1ynzSoA8mHWqjH8SJ7qaL15n8hRHF78DKOe9UwBJ01J5VrKXZHKPsWWdgqiSdhWt4TwW3aILw76cpA11AHkDqabwfAC2umrH326fyKfDX1FWP2gAaaePOoSKSClcwdN+p/kj66x41LIOUQIUgxm6KV5+OtVKYnM2VQzt0WSfgtFfZrm5s3QOuS4PqKYw5MMu5mNNN9FUcxzJFBXcA0KTBaIPmFk7bwSJpti7r3WOn63FGWsUQddD1Hx8jrQFFLctlTzG8keBO457cvCmZ+vxFaC/hkeBoABAOsHbUk7QAfMms/jbDWzMbiYOnQ+h7w05zW+PUShw+hnKCfJ1rnID46moyaUqyhkMn7wI28jP4VEWPh8661lTXBm16j6aTTNfD4GuQfD4H86hyYzW9gOGrdutccZhbggcsx5mvaeFuzQQYCTmHWRp+NeDdmO0b4P2kW0uh8uhZkgidZAad9o5VuuzPbPEYlylqxYVomGv3dQCNoswfKa5csJSt0aRaR6ubYYVUYzAsGlRPMVUYjGcTEDNhbcgmRbvXYAE6gBTXmnG+1XEbjZTiyNSCtpRaXeN9W5ddKyjjlLoO6PTOLcZsYZ81xybjbWlXNcbSAIjQRHwqvXHX8WVTKLaNtbUyT43HBk6alVgdTrFYTg15bRzMSzndmJJP8AU7ST6mrzAcdxFu8HtBWEQVOxHMdRy1rRYmX2LftUbWHyYVXAu3iouPA7luRAXSFk/SslxHsv7J3ulwLCufZknMbig6e7706zGnUg6VrO0HGcKYv38Lb9sBALtnGmwyiA3mRpXn/GOO3cU8udBso0AA2EDatI5dqpC231L3gOMLXb96JUWjEnoylPCSQI5CBUXBMOyiWOZohm6tufwobBYV2s5AQisyuzakkKCAoXzLGTPLQ1cYZAqgDYaVyyds3i5LuTg+FMR/A+frTw1QWWCgLrtzn61IE7HQ1IDUTNofKnK1MBx5ef4GpJqFiOlPBFMBwOtPNRU/1oEcy+HzpUo8aVAHhPE275qTgqAuTzVZHmWVZ+DH5UqVHc5jU3tBA2qx7HcLt4m8y3ZKrlOUGAZJ3jU7bTzNcpVTLLDtb2ju4Jjawy2ragaQgn56fKq/8AZ52vxeIxy2713OjI5y5UGoEggqAR8aVKpEem43hlq/pdtq3jsw8mGo+Neb9ocMLGIuWkJKqRGbU6gHX40qVNlIiwzkNHKRRmOshrbk65YUeR1JPU7a+FKlTEYdrhS4CvPQ9Peij7wg0qVbYWZy6EddFKlXSjM7ROCxTW2DoSrLqCKVKtYdSZH0L2Px73bCF4kqp+IrJ/tM4NZkXgsO5IaNASB70dfHnSpVww4zUjX/yebYtyi90neNYPSgV4ndkDOYnwpUq6MiSjaFbsjuXCWMknWrHhVoF1B5nWlSriOhdTYIK7b2pUqyNyQ7UxNh5Dp0pUqaJZwvRFk0qVAh/I1IKVKmBHeOnqPqKca5SoA7FKlSoA/9k=" id="125" name="Google Shape;125;p17"/>
          <p:cNvSpPr/>
          <p:nvPr/>
        </p:nvSpPr>
        <p:spPr>
          <a:xfrm>
            <a:off x="2783681" y="748904"/>
            <a:ext cx="2286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descr="data:image/jpeg;base64,/9j/4AAQSkZJRgABAQAAAQABAAD/2wCEAAkGBxQTEhUUExQVFRUXFxoXGBgXGBgcGBwYGhgXHBoXGBgYHSggGBwlHBgVIjEhJSkrLi4uGB8zODMsNygtLisBCgoKDg0OGhAQGywmICQsLCwsLCwsLCwsLCwsLCwsLC8sNCwsLCwsLCwsLCwsLCwtLCwsLCwsLCwsLCwsLCwsLP/AABEIAMQBAQMBIgACEQEDEQH/xAAcAAABBQEBAQAAAAAAAAAAAAAEAAIDBQYBBwj/xABIEAACAQIEAwUFBQYEBAMJAAABAhEAAwQSITEFQVEGImFxgRMykaGxFELB0fAHI1JicuEzQ4KSFlOi8RWT0hckRFRzsrPC4v/EABoBAAMBAQEBAAAAAAAAAAAAAAABAgMEBQb/xAAwEQACAgEDAgMGBgMBAAAAAAAAAQIRAwQSITFBBRNRIjJhgZGxFHGh0eHwUmLBQv/aAAwDAQACEQMRAD8A86vYEkyLjgHlP0otBAA6da7mpTXK2z6PGoxba7imlSpUjfeie3jLiiA7R0Oo+BqbDKbpMgSByAE69BpQVWvZn/HjqjfIr/eiioZVjluQrvBpGg18hXbPBiugQehA061v+F8PFwwSBAnbpWiwfZu2QC0kkT5VooSaMpeI4sU921bvWufqeSHg56EVHc4OwE6/CvbP+H7PT51Hd7O2o6UvJfqOPj3wPEhw1qjOCP8A3r1fG8GRNZEeX1qlxGDXoKlwaO3H4up9jz18Mw3FRZd63pw69BWfvWst52XQgwNARBUcjUu0dC18ZvldCoZiyGSTDA6+II/AVDR165bUMGaJA2E7GpbPDf3QvvmS03ukKXZo393ur6nSqjjkzPJ4tpMPDfySv+CrroFSYfiFtbveslrI3GaLmuxJO3XUAefPU4HhlnEd7CxIGYBjMgfynvR4wRVeVJGK8c0knTT+a/llC3DLYAN59xoEhiP6unxoG5hEyhMikA6HXNrvJmrrGcIe22VgAx1yyuo6oRow8NCOlDnDdBPofgelZ3KPVm8MGi1Ed1Rl8kv5Rnn4SobMkr4SSN+ZM6UTkaSApKk6AskjQCSYE6AbCrSxYZzlANencO/ZlZhfbs5aAWCkAT0mNY61pCUpM8zxLRaDTrndFvoo8/f90eH3+CXTmuPECSqrqdDz5fjrUjkqEUCcoEyNZjxr3nH9gcOoGQ5RoBmYz09a89/aN2K9kGa27EpaN1Y+8oPfXTciSfSumj5l12MrbvCNfpTmI+Hgaz/DCWdQ1wohOrEZgPSr3HFUvtbS9bvJurpGungSNKKQrJSsjaokskXAwGsfMT/eg8c50AJ9NKfxC2qIjLcZmYGddqe1BYTicc5zDTvADbXSfHoa6iEgTvz85qow91pnWDI9KIxWJObQnYb+QpisusDbBvWRH+an/wBwrZrgxiWeypjEKS+HJ2JzEtbJ5a95SeebrXn/AAO83tbZ3hwZPhtWi4o7LfUMQr5090xDSDoTtFFFI02W9/8ALL/vP5UqsP8AizFf8y38FpUe0B47hcQHUMOekdD0ois9wfEFXy8m+o2q+D1yyjTPUwZt0bH12mzSzVFHTvHUfwNyLojSQfpVdNG8I/xPIGgqMraNhYxNwbXHHll/OrCzxW+P/iLnwU/jWcS9UovGhSOmWFP0+iNIeM3zvfc+aKaceNXz/nk/6BWbF81IL9PeZ/ho+i+i/Yu34jdO9yf9H9qFa83UfA0AL1RYviAQTuTMLzMfQeNK2weOMFbC8VjBbXM7BR1M78gOp8KynE+IM1xipCqYkTqdIgkHuiANPKgcfiWuuXcg5duar4IvXxOp3MCgsdie7lGg36knqT+UeEVvGFcs8jUapz9mPC+5JYxBRmZYncknvQd1QRPKJ0iafbxLgDLcbYscrEayQfkJ61BZcle9BO66aj1GwqbFEKylREiY8Rv6EGt4s4qJsNjyzgOEuhTOW7p8H0YHxDVYYO3ZhriWrdphPed2vuTtFtSNIHNvjVZguFrfecOXKpbm4IDXAS5GW2gjMPdidd+lXJ4GbfskSc1xJRHRlOkypbVQ4AJgkUm1YJFPiO0V5GjM4PiSoPkq6fCr3gvFRiO4qsbgEmPvb94AeETVbdwq3QUuAgjSDowNUnCbr4bGICSCrAT1B0n5j4VnljuR16LUPDlT7Phm5tu42DDyJ/Or7C8b4lcIS1cus0aDuSR17wqHE8XZyC8d3wihPtpFwOHgjWQenrXIn8T6qUfM5ljjfxVj+NcS4rbj27XQBrqLcQTEyoqjx/HMTcyrcuP3Ccu2kgqy+RBIirbj3FfaK7vck5Qsk6awNAPTbrWcZQYJJknp15Vacn0slY9JsrPGEX8El9O5QcW4Ubdv2qEeyDBY2IJHz2FVOHRmaFmT0rTdosegtrZWSwuB207sAGBM7zrUOFYxqoXyrphdcnyWrjjWWSxe72BeIp7oPIUHaWTH6FWHFLeszQ2CSZPJYJHOJA0+NUzCKtj8JbmQRJ5QBv60ZilHtAGgCQCT066eFHYbD211JOhnp6VXY3DnM0RAPXXWhFONGtsdlWsYhAt1LiFWhwQCWKESqTJAJFU/Gz7XFuxkK7jppIUGR4VquAcSsmzaQCbigQMpka6wx5HwrJYi5/72/wDD7ZzHhmJqgSTJ/wDwdf4v+n+9Kgfbt+gKVLfEry2ZBzBBG+9FJjLhIAJJJgARMnblUD2GJAGpaAPMmBVvxLB20xVy2Ay5YKlGAiLYbQZTGs61FGabRDjbWJstluq6Npoy66iRy00Iof7c/N/p+VF4jihuPN+7iToIYOrEwABMgToBRGExmEVSGu4uT/LaKx0IYGTS2lub7NleMY/8f0/KisHxS5bJIKmRGv8AaKlxN7COVW2zFjAk2gDmJjYafIVbWuzthY9oXadQyCAB/NI96eVJ7Vw6LTyL2otgK9oL3IW/g3509eP3+lr4N+dFXMFw8GDdvA/0/wD81PhOFcPdgFvXSTsuoHxyzQoRKeqzf5MDXjWJ6Wv9rfnUycTxJ39kP9J/9VH3+z+DW49s4i4rIDnXcrCyWJy8hr0pYLs1YvT7DFPcyxmI2UH+Igc9QANSduZD2L0BanL/AJP6juGtibrZV9n1YxCqBuWYtCjxNWPEr1jChs49vfK6BohTyY22mAJMBhPRVksR+Mcft4RPs2FE3ARmcwcpHNiCQ90f7U5Swmsg7SSWJJOpJMknmSTvTUVHoKeec1TbaH4vG3HOZ2LNsJ8PDYDyoZl1Emefma61wDU1E98DXnTMQoPG/wCvCrHB8NF5dWNsnKodpKlnzZFUATqBJPhHORQJca4YUHMdANvh41s8DfFuJUMVNuFaRGUlWI2hgrSJ8aLoqEJTdJWegcJwKWkUACQAJyqCYAEnKANgKuFw6vAI03jkZBB28Caom4tZtwLl1FkbFht100q4wV8FVIYMpEgggyDsRG/KpKcJJW0ecdo+FjDuECuPYhAWYlg6XSxVQxAn2ZAUSTo3hWY7Z2Y9jeHWD9R9DW17cYxbjOEuQAyW3tAsYuhvaFz9092Bptz3rJ9rRmsKvPMPoatdCGaTE3UgaxoOQ/OgbuJt+J9B+dVTcVS5lGqtlE5mVUkDkxqtxGMbQjLGuzBto0kbVDxYz0V4tql0l+iNKb6MIgkaHUDcaiNd6Hv4y2glo66sJ25ASZ1rJ43EZySrOg17peRtsIAPxoW2GAJ1id9xPnVRSSpHJm1mTNLdOr/Inxd/2js8RJ2onCXGAVi6kFiuWe8IjvHoD+FArJIAGp5Dn5CnvhyPeUjXUEQfKDqKEczdlvimkRz3pljDxrO4g+VRWXzPPLYfA0VaaarqNE1yWEEneaivWwWZmmCZ03+elSqaV3VT5GqoZadkrId8skRJEEqZEaEjlE1WFgbjECO8341adjEBuE6jKhOnM7a+hNVFl41yg+c9fA0hXR3LXKm9uP8Alr8X/Ou1G0285Dex3Ccz+2eO57qSJnUZmHIDl/agu0Cxjm8UH/4yPwoRrzWyA0eDW2+YKnT5GpLitcuC7mLkCDJExBgTz350buKZltv3Rtq1Nm4TEArvvvyFVN60ARHOrax7lxToYGh30YVX3QCyjx5b0hD7VoLDjSCp+c/hXoV1NDEaifj5VgLalhIQkSPxmt3h7oNtNR7kfIRNcWri7i18Ts0j95GU4ssXDMbUuCXh7ZdQYDHT+k1B2khrggzAIMefOpOynDmuX4XQBGzMdlBEAmNdTAAGpJ0rqxe6jln7zNfcwrXOL4wBTkKAO0SF9pYRQPFjJhdzHnQfHeNph7YwmD7oGj3FIJn72Vh7zmYZ+XurA1qftZ2mgvas90n33WJmAsAjd8qgM3IQo51j8LZLHaT8hWz4EOWFHyH661G94ASTP60ApmOTK3eIOmkUCzzvUis7duyZP68KltKWBJG9CRJra9lezb30LhlUA6AgmSIPwmolKlyVCDk6Qzs1wySrMOhAFbHjPZw3kVkOVzoQR3WAB5jYiN/GpOD8CK5SQ3vAHT4+lay5dIUKWBUHSueWQ9DFGUOjo8pxWAa2+S6BqViNIAkETuZ8elak8ZQgW1uZFAiVAkRGUoxkKRvsazXHuIe2vM42JyoPAfnqfWpkFvKnukkmVAMjaCZ0IMnadqpSZ7uHRQ2bZq337/L5f9LjjPCLly415MtxDLBba5WUtGZsg97MdSyz5CK8841xP2jwNlkDz5mPl6V6jw+4bSAAaaRB1knl03qt7S9m7eNDXLICYlfemAHMDS4Bs0bN4iZ3raM+zPG1XhzjcsfQ8yF7wmpLdyQB/NH+4EVBiLZRirAqwMFSCCCORBrtttF8XHy/uapnlR4YVw/g1y6JUGBz+Ppy61HisI9kkGQDuBMHwI5+fwrS8H4gotFQQNfwj8I9KrOP4kNEGfH4/H+5qhNUiswWLa04dDDDUEgH61LiuIPcYs5BJMmBAnyoIVLbSgkNt90Dz/A/nRVihrjSfKibVNFBC0220j404VHY3jxj51QzSdnsI1kXSwI/clgeUEEjX0rN29hWzLgWMUeiZR6Wx+ZrG2N/SkSzs0qsvaDw/wBopUUFEFyymoIy+YlDQN60qNIQhf5TtPQtuOgmp8ZbuW/fU/UfGhEx5U6THQ/h/epfJMeHZYJgrV5ff9WG3hIgg0BxHsxcskXEh1BnMuseYO3rXSVY5rTC02x5L6j7oPqKtOH9oGtNkvjIdifukeI6eO1ZNSj05O2MsWXiXD9exkmw5gieckHr4iiuE2nRnM/5bR8vyrY43g1rEDPaIRo2Hun+k/d+YqlTB3EYoyMTBUQOZ0E9PPbyoUrXBLxPHL2iqwHDbl64EBk6mT7qruWY8lH61NaTHY5MNb+zYf3plnOjZo1dujRoB9xdNyahv4kYdDbtkZzq7+R0P9IPujmZbpFAWkwAdfUk8zW9bfzOcaq1JdxELlXQfM+JpmI7unPp/ahGmN6joA27B3MfT0qz4f2duuy5rVzK2xIKr8a0fYTA2FtfaMSqxnOViMzd2Qci8tdz4VsO1fHFw1hRbCkuoeCIHs8yidB1ZQPWs5S7I2hCqlLoednh625TKBGhka+pozheOuYczbOh3UiR5gHY0EeIG68xOYyT57momx2pgAidJnafPWs9snwz03m06jurjoq9T0nCdqbGfJ7XNMAFgRqRMTAH0qm7U9pc7ezsuMon2jDWZkBVPxk1l8LcBzM9tDJ2IPIRoJ0qa4UjRAsa6T8NTR5SRzYtQvMVrixLEzyA09d/oKteH2JcT6+HgfHlQXDMNAHh9eVX+CsxUn1UXOtz4tdPj/C4LOdvDb4/r4UkWXzAlToAR4Tv1GtQXTpSXEAcwPh9P70zHbxwU/bns+t5ftCDvoMtwDcqPveJA+XlWDNpQQZ2EKI26Enn1r2CxjAdiPKRr4HWvN+0uBFjEOqSqHvIPA8tOhzD0rWLPA1+m8t+Yl16lLbtEbMfSaY9rqSaKzE86jYVZ5bogFqisPhWILBSVXQnkCdQD8D8KYBRuD4g9tXVcpV9wwnUTqPHUiiwSXcGU7eMmjLbaTQZ+6Of50bHKrQidW0pWDFwHTcHXbT/ALVEhom3iIBAVZP3iJMaaa6DbpTGWWHxjtoQHAmJYhR4EAd71qru3G9pJULmGwECB4VNgsbkzSCZM6QKgxmJDXFYA6COXWpT5G+gTNKoPtS/wn5UqqySsN2dBP0+ulSXcJeUSUIA5wPwNV4vDqKt+Fceyd1+8m3iPzHhUk0VwueHkeh8eop32ke7dDMORVtvINII8NKuOK4JWU3bIDaagc/EflWfuYnUe6RAO0EaaggHkZFIArAcTayf3bSv8JGh9OR8q1GJ4jdvBLdq0WusCQggsNO9J5KBudKz2EPdzuig/d6nofCirnFX9m1mwCFaDffWbkbBj922OSc9SZJ0tQUfa7mnmy27L4KyO9321J7xMkfLf0rovsRltgLpvos+bE6/HpVhwW2qsXa2HjWTqF8Sv4kEeVWvE1S6pIVRzIOgP9J+6fI1m8iTo0jglKG6L+RkMfhrllgtwalVfQg91wGXbwIqMXQRRXFMSWf94JKotsdcirChuRI01oDB2wzd4gAfPwpmPQv+z1/uMDoAGIM7yVkRy2qw4ziGfE4pnytHdUEaBVuJCx0HSiOynBHxJuZIVQuQmJEsREDQTA61ssV+zgXGust8hrkkgoCBLKdIIO4+dQuG2bylcIx9LPPrGOZUJhAAYUBBE855miE4ztNu2fT+9bL/ANm6jKrXnMD7qgCZ31JrKXuDi27IR7rFdfAkfhU70jsw6OepajBqku/x6/t+SRBhOIKRHsQTqSdeZJ1M+NS3gGibarGuhJ+tF28OoiBoKmFgEcvH86l5Gz2NN4Thw1LI7a+g7AOAI086Ov4xUEkx0HM+Q/GqjE8cS2AiQ5GhPIevOgPaF+8TJPOoprk3lq8U57IO2H38c13QkheQH49TRFq6yH/EYeeo+tALagVIp8PCiztTTVIurOJJggkk8v7aTRHGcEuKwzSo9oqlkIOuYCYB6HaPKqvhzS+XnBjwYCQfl860WHI0YaBtY5Tz8qcWcWqxRlHazyQCuZKKx9rJduL/AAuy/BiKgrc+Pap0cC04ClXRTEK4mhoVDqKMbY+RoNfeFNCYcs9TRFrzmoE5VOtMaHcqiJqZjUJoAWalTa7SsKKy5w4/zfryFRpgCdiPjH1rbtgwakw3CjcMKMx9Pxp0Z2ZCxwhgJLxPJW+sUSMEq6mDHPXbxmtXxLgpw9vPdIWdFXWSenl40DwXs8+LDvmRLaGJYkZngGBGwAO9NUuWFlGLLXZOYKg01In0HPxNWeFwzW1lCvOGzKVO2YECZ5fEUFj+ICw5t5TnU5YB58gN5FVdxrl0nO2Sd1206mN9eX0pSdjQTjsb7NwbZGbchfut05j5mgcTxK4+5CKeS6DxP/ajAVVQqLJ/ib8F2HrPnQbYZnLMZAXcwTLHZdOvXapotNroCAflUtvD5iB86fft5ACxEnZRqfWrbg/ChdJa6yBFy5ibmQKJjoZ1I260UItOxfEzgmvNBcBMwSQMxlUC5jOWSykmJhaur37Y8QQQmHtIdpLO8HygVb8M7FYVbTtlLJcUS5uHJklWAEHaQNd6y/aTsvhO4MIxSJ9q7FihGkZSx3Gu0701Apv0B2/aNjnMm8k+FtB6QRXP+ITcl7+rnUkCJ5QQAAPMUNh+CWhAUNfbQSdEBJgE9BVr/wAFX3b90EeQcwYEBV1HdaSM2sg6RlFDxWro2wajLglug+SsXi7EnKFqG9dd/eaR02HwFWS9heIroLAuAfzJJ9SRRI7HYwLmOGuLpJhgY9NfrSjjXYeXV58iqcm1+hnfZ0RhXKHqDy/Ki8RgLlsZnQ5dszAr6SJWfOoF66r/ANQ+K/lRKHYzx5HCSlF0w/5Cnk/r8ahtNPiPAgj5U89BXM1XDPs9Nlx5I+w7DMLKwwMHlWj4XcJWCdd/j+jWesHTrVvgL3eE84HyP5CpT5FmVmP7VYXJibn8xzj/AFb/ADzVTkVsO2libltuqkfAz/8At8qzLWq6V0PktVDblkvj9wUV2pntVEVimc4rmx8jQaHvCjgJ0qvtDvVSJZY2t/SiVqCwN/hRAFDKQophWpYrmWkOiHLSqaPCu0WFHqX/AIdYRYcCCOcg+gHePmTWR4xjlsP+6ctJ7sQD6n8areM8QcAkEyTqSZPmZ3NZ65eKgsdWbr9T4VUUc8UEce4vcvMTcaWiCdAAP4QBtVceM3oyW2KjogAJPUkd4n1qJcO1xoUEx7xOgHUsdhU620Q9wljGpj45BuB4nU+FDdl0Nw+FZDJjOeR1I8SeRn1qZcPrrJJ5b/KmJe1iD6b/AAFPsMZb2k5YMIIALcs53j4mgY9lgE7AaEyIB6TtPgJPhXcPwq/dK+zTMW2UHUjryIAHM6UAMO5EtBVWEkHYMQI6xpy2rU9kuPLhsRnuEBHGVifuiZUjoJ3/ALVE5bVZcVZq+Afs9vZkxftrNpvZw1kLmHuwVJJOpIB0EUu0GFSUGKC2bjKQjDKMwG4AjK4E7EaTpE1rsV2hCFVzLmZcyjWSu86fHwrz3tPxj7bdXvEWrMsSRA2gtrrtIH9TVjgzScq5d/Cki541VkNnEXijhbj3bRPcTKAWiNY3CyOZ8apuIi8zyR3UDZVlSzbQpAO0+WgPWn8SxcXHti9CBLbqUB0lRCqu7P3iJMKACd6qr+DVLQxCHN+9CEE6glSZYbkaHWupszNF2Xxpw6i6xZHAaVbTOVVjkAHdCiV7zDcRzit9gP2hpBBJZTbDaIFYXC2tsgkAwuuavMUZWVRsFGUFeYmZ6gE8v0EFHL8KRUXzyj0k9vbFzPaK3wIIdgoAUc+9Iin4PjXsjbGHvXboNzIbdwgjKVJJMjMsCDvXnmHw7spKgkDQ+evL0+lT2MXeSVQusiTkJ2PONoPWkabk+qNVe4/cGGusuT2qANDiAVYkMco8VuKI/hFU44ReZHxGIwtsWyDcOQtauIInmuSR4gT11qoW+ZDFbZMR3rS6gdcoAbnqZqW1ipuq5UBIhkUn2beJRp8NB05UjNxZn711RdcWrkqp7rN3Sw5TpAMeW1F4PFOx0UMw3BOU+p/E+FVXFOHm0WhkZJC93NAMSFGYBiADuRyrR9iuFaNfYd3KUtiNydCfHeAedN9KHicoyuLpkuAxuYlSGVhyYQY/EeIq1tXIZfMfPSjcFYe2yriLLG33lYOO8Oa5XGk+9EHQxMgmIuOcN+z3kKsXsvD23Igkc1YcmB3FYThTtH0+g1qzLy5+99znaNM9u23jHxH5is4bNal1z2mG8HN+J+pqsGHqovg8nxHHtzfminOHqO5hKu/s9cOHqzgoy+IwrLqKrcOpljudzW2bD0MeGJqco13ppkuFlPg+8unrRXsqs0wIAgCKX2akNRorctdC0Y2GqM24oHRBkpURlpUBRUYjDxDHU7f96EvWM2pMH11/Ln4VZ+18jTSqn7vwNdLgc5WYlkFsy0E6hApMmd31iPHfap8NwO8O9GYkbh11BG29T3MOv8w8xUNu0xMAkeprNwY7Hvwu+P8AKf8A0qSPiKiHD7nNHHmjflRSYu9b0FxhH8x/A0Zb43iIkXj5FnHzmlsYWC4Tg5PeaVUczv5KOZpnGr9pP3aIhZesEyQO8557jTlROO4i973rgBmCCXkjwaGA8qE4DgrRuPexJlV7y2wZZzyEj57fkUOwzDcNxGICF3ACjKbj6BV6KefMEDXTnUnaPDm1bS1ZVvYmS90j/EgEyY90aGAd/jVZxHtDcuOTcUZNhb2UDkI/XOmXuN3MQVttoDp7x/ExrFHAWD8GwzXGz+6BoSJ10grrpEb1p7NtQAAAAOlRYewqqAugA2ohPChIaJcgI2kUFi8CwBa3r/Kd/T8qOU1JBoZQPg+LWggkBco9wg+0zQJzSpXUgSwymI6UK+NZs8uR7SM0HQxsPIdKNu4FLnvKJ68/jQeK4etsSXVfBzqfKNT8DSoRy5cBKkgSuxGmmuh11G5qe23tGJgAHUhRA8ABVdZtye7IPQx9KNsXjZBYgkglo6mO789aVFqVLoVXay1mupaTVhCvG5Z4IXxyj61pk44bVwIttclgCJI1IAA7m+538KA4Dwv2QOKxH+O/eQMNVBmDH8R1idhJ5VzFooQ3GUZtXZho0DZQw110+VJjgnyy/wCKcWbFWVZP3aoykw0wdWLEHYQoHxHOrPB4g4rh960yKGtxdtgA5hJZmE8+lZrFXbQsqbRlb/e1MsLa7qxOpJcwZ8aJ7O9oVw98C4DluoVYgExqNYHl8DQ12LhlcJLIuqa/T+/cK4Pcz24HQqevh9alFiq7hjhLzBHBU6gagxupjyIq/VJ1rKKrhnreJ7Z7ckOUwAYel9n12qwW3pXBb1qzyStbD7VxsNVk1r6132dAFYMPpTVw31q0S3pSNvWmBUthqHu4Srq5ajXQfKmm2KQFD9kpVd/ZB4UqAMLkpZKkBp4r21CDPObkiCKRqYioyKUsSBSISg5002ehqYimxXPLGi7GW7Kkd6Z6104IHZh61JaB5U5SI8eUGo8tFWCvg38G9QflQ5w4BHcAIMgjukHedKsc5pAmpeELOLxE8x8v7iibWLHX9etOw/D8yG4VlV3ytB+BEGgHtDlMeNZ+Wx7g/G44hRlEnyMef9pqvTF3D98j4V1bcbMw8jFSe0PMW38GX8ViocGVZ0Xrh/zG9CR9KEv2ue5+fx51YC+v/IX/AMx4+c1Oj/wraXxDPPyFS0OyvwGDuFhIKrPQlj/9NRqx8tOpFajh+DUd69ByGcrEHL09tGmbpbEzzMVX2WYEiLjd3MQgCKV2lmHfZauuF8Pu3V1CImy5fu/xZRyJ2LHX60IaBkS5jcRCgrbALOxykIgHed2ze8YECI2A2qr4hhTdDAanMCQVhQs8yTECF+FbPhaezYhDmB39nKqdIyso0fTmJihuJ9nMZaRHyPctcxP7wLOjZdWYDbbTehodsxqII7vujur5Dn6tmb1oC9jFN61bjU3UBMfcJCkaGTvNGEZFYawGYLM+7Jy78ois/ggbmKTwcH0TvfhSDq0i/uXDbukKT3D3T4cp8I5VueH3/a2g/MivPblzM7Hqf7VtOzFwBcmoOja9CTqPCMtPIuEzo07coTgunvfR19mXAT9Sfzp/s/H+1PpLz33/AAFZkkbL+H1roXyqRvy+orsUwIlSum3ttUqLv+uVC8TxyWUzOdzCqNWZv4VHM0AduLEkwFAkkmBHUkjSqxb739LYy251uGe9G4t6gweunPapreCuXyGxMKm6WAdPA3T95vDYVboBtA0iI0A8um1Aupmv+Gz/ABn/AMtf/XSrUyKVPkVI8o9pTg1QA1Itd0Z0crJacEoS/jkT3mE9BqflQlzjoGyk+JMVp+JiupOwuRhzU3/hN2M3srmX+LI0fGIqpwmIv3NRZ06kn8quMHisXb9xrtv+i64+Qp/i8b7E+VL1AfZU1krRL2pxP+ctu+uml+0jf9YAYec0nxmCve/auYVj962fa2vM22hwP6SaqOTHL+2LbNfEqcLggVzu2RJgcyx6KKcWsclunxlR+FE8Q4WyKGV0vWvu3LbFlHgQdbZ8GA9arQKtY+9iUrDPtsW2tqsKeZJJ/KgClSg0i4rTyo0Lc0wcrSipC9NLVhLGjRSOAmnhTuKQcV6B2P7EPiLftLiBEO3tSwkciLaEMfVl8qynHHFXJlKTukYbBSj5xvG8kco1Plpryr0Tszwl8XaBBQ25hiuiZhuCNyfD1q/T9nGEGtxrj+CkW1/6e8fViatuA4CxhSbdu2FUkkbn61xzlF+6aqybhvCrNgd0qX/iI28hT7+JB5z+Iqe7xS2jlchDnU6CdeZ6etC3FDmYnXlpp4mshni/7VcD9nuZ1ELdBI/qnUfMH41i+A4cBLt1tguRfFm/R9A1evftTwlvFWRZt6ur5/aT3FgHMubmSNNBE868xxGEa2RbKlVXkdiY97xrRRbDpyR4ZdZrfcPw6LdA/wAxEVWHQ5FkR5yJ8KruxnAs9wNckAAMFjVhI3nYEkDqZMbE0dgCTjLzEyC1wif64HxE0s3FRPQ8Ph7GWX+v3LyK5bb6mu70kH41mcx19v11FdimudKeKYCA19K5csq0ZlBjaQDHlO1dG/68KfQBEthY2ppsDTep0pONKAI/Y1ynzSoA8mHWqjH8SJ7qaL15n8hRHF78DKOe9UwBJ01J5VrKXZHKPsWWdgqiSdhWt4TwW3aILw76cpA11AHkDqabwfAC2umrH326fyKfDX1FWP2gAaaePOoSKSClcwdN+p/kj66x41LIOUQIUgxm6KV5+OtVKYnM2VQzt0WSfgtFfZrm5s3QOuS4PqKYw5MMu5mNNN9FUcxzJFBXcA0KTBaIPmFk7bwSJpti7r3WOn63FGWsUQddD1Hx8jrQFFLctlTzG8keBO457cvCmZ+vxFaC/hkeBoABAOsHbUk7QAfMms/jbDWzMbiYOnQ+h7w05zW+PUShw+hnKCfJ1rnID46moyaUqyhkMn7wI28jP4VEWPh8661lTXBm16j6aTTNfD4GuQfD4H86hyYzW9gOGrdutccZhbggcsx5mvaeFuzQQYCTmHWRp+NeDdmO0b4P2kW0uh8uhZkgidZAad9o5VuuzPbPEYlylqxYVomGv3dQCNoswfKa5csJSt0aRaR6ubYYVUYzAsGlRPMVUYjGcTEDNhbcgmRbvXYAE6gBTXmnG+1XEbjZTiyNSCtpRaXeN9W5ddKyjjlLoO6PTOLcZsYZ81xybjbWlXNcbSAIjQRHwqvXHX8WVTKLaNtbUyT43HBk6alVgdTrFYTg15bRzMSzndmJJP8AU7ST6mrzAcdxFu8HtBWEQVOxHMdRy1rRYmX2LftUbWHyYVXAu3iouPA7luRAXSFk/SslxHsv7J3ulwLCufZknMbig6e7706zGnUg6VrO0HGcKYv38Lb9sBALtnGmwyiA3mRpXn/GOO3cU8udBso0AA2EDatI5dqpC231L3gOMLXb96JUWjEnoylPCSQI5CBUXBMOyiWOZohm6tufwobBYV2s5AQisyuzakkKCAoXzLGTPLQ1cYZAqgDYaVyyds3i5LuTg+FMR/A+frTw1QWWCgLrtzn61IE7HQ1IDUTNofKnK1MBx5ef4GpJqFiOlPBFMBwOtPNRU/1oEcy+HzpUo8aVAHhPE275qTgqAuTzVZHmWVZ+DH5UqVHc5jU3tBA2qx7HcLt4m8y3ZKrlOUGAZJ3jU7bTzNcpVTLLDtb2ju4Jjawy2ragaQgn56fKq/8AZ52vxeIxy2713OjI5y5UGoEggqAR8aVKpEem43hlq/pdtq3jsw8mGo+Neb9ocMLGIuWkJKqRGbU6gHX40qVNlIiwzkNHKRRmOshrbk65YUeR1JPU7a+FKlTEYdrhS4CvPQ9Peij7wg0qVbYWZy6EddFKlXSjM7ROCxTW2DoSrLqCKVKtYdSZH0L2Px73bCF4kqp+IrJ/tM4NZkXgsO5IaNASB70dfHnSpVww4zUjX/yebYtyi90neNYPSgV4ndkDOYnwpUq6MiSjaFbsjuXCWMknWrHhVoF1B5nWlSriOhdTYIK7b2pUqyNyQ7UxNh5Dp0pUqaJZwvRFk0qVAh/I1IKVKmBHeOnqPqKca5SoA7FKlSoA/9k=" id="126" name="Google Shape;126;p17"/>
          <p:cNvSpPr/>
          <p:nvPr/>
        </p:nvSpPr>
        <p:spPr>
          <a:xfrm>
            <a:off x="2783681" y="748904"/>
            <a:ext cx="2286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descr="data:image/jpeg;base64,/9j/4AAQSkZJRgABAQAAAQABAAD/2wCEAAkGBxQTEhUUExQVFRUXFxoXGBgXGBgcGBwYGhgXHBoXGBgYHSggGBwlHBgVIjEhJSkrLi4uGB8zODMsNygtLisBCgoKDg0OGhAQGywmICQsLCwsLCwsLCwsLCwsLCwsLC8sNCwsLCwsLCwsLCwsLCwtLCwsLCwsLCwsLCwsLCwsLP/AABEIAMQBAQMBIgACEQEDEQH/xAAcAAABBQEBAQAAAAAAAAAAAAAEAAIDBQYBBwj/xABIEAACAQIEAwUFBQYEBAMJAAABAhEAAwQSITEFQVEGImFxgRMykaGxFELB0fAHI1JicuEzQ4KSFlOi8RWT0hckRFRzsrPC4v/EABoBAAMBAQEBAAAAAAAAAAAAAAABAgMEBQb/xAAwEQACAgEDAgMGBgMBAAAAAAAAAQIRAwQSITFBBRNRIjJhgZGxFHGh0eHwUmLBQv/aAAwDAQACEQMRAD8A86vYEkyLjgHlP0otBAA6da7mpTXK2z6PGoxba7imlSpUjfeie3jLiiA7R0Oo+BqbDKbpMgSByAE69BpQVWvZn/HjqjfIr/eiioZVjluQrvBpGg18hXbPBiugQehA061v+F8PFwwSBAnbpWiwfZu2QC0kkT5VooSaMpeI4sU921bvWufqeSHg56EVHc4OwE6/CvbP+H7PT51Hd7O2o6UvJfqOPj3wPEhw1qjOCP8A3r1fG8GRNZEeX1qlxGDXoKlwaO3H4up9jz18Mw3FRZd63pw69BWfvWst52XQgwNARBUcjUu0dC18ZvldCoZiyGSTDA6+II/AVDR165bUMGaJA2E7GpbPDf3QvvmS03ukKXZo393ur6nSqjjkzPJ4tpMPDfySv+CrroFSYfiFtbveslrI3GaLmuxJO3XUAefPU4HhlnEd7CxIGYBjMgfynvR4wRVeVJGK8c0knTT+a/llC3DLYAN59xoEhiP6unxoG5hEyhMikA6HXNrvJmrrGcIe22VgAx1yyuo6oRow8NCOlDnDdBPofgelZ3KPVm8MGi1Ed1Rl8kv5Rnn4SobMkr4SSN+ZM6UTkaSApKk6AskjQCSYE6AbCrSxYZzlANencO/ZlZhfbs5aAWCkAT0mNY61pCUpM8zxLRaDTrndFvoo8/f90eH3+CXTmuPECSqrqdDz5fjrUjkqEUCcoEyNZjxr3nH9gcOoGQ5RoBmYz09a89/aN2K9kGa27EpaN1Y+8oPfXTciSfSumj5l12MrbvCNfpTmI+Hgaz/DCWdQ1wohOrEZgPSr3HFUvtbS9bvJurpGungSNKKQrJSsjaokskXAwGsfMT/eg8c50AJ9NKfxC2qIjLcZmYGddqe1BYTicc5zDTvADbXSfHoa6iEgTvz85qow91pnWDI9KIxWJObQnYb+QpisusDbBvWRH+an/wBwrZrgxiWeypjEKS+HJ2JzEtbJ5a95SeebrXn/AAO83tbZ3hwZPhtWi4o7LfUMQr5090xDSDoTtFFFI02W9/8ALL/vP5UqsP8AizFf8y38FpUe0B47hcQHUMOekdD0ois9wfEFXy8m+o2q+D1yyjTPUwZt0bH12mzSzVFHTvHUfwNyLojSQfpVdNG8I/xPIGgqMraNhYxNwbXHHll/OrCzxW+P/iLnwU/jWcS9UovGhSOmWFP0+iNIeM3zvfc+aKaceNXz/nk/6BWbF81IL9PeZ/ho+i+i/Yu34jdO9yf9H9qFa83UfA0AL1RYviAQTuTMLzMfQeNK2weOMFbC8VjBbXM7BR1M78gOp8KynE+IM1xipCqYkTqdIgkHuiANPKgcfiWuuXcg5duar4IvXxOp3MCgsdie7lGg36knqT+UeEVvGFcs8jUapz9mPC+5JYxBRmZYncknvQd1QRPKJ0iafbxLgDLcbYscrEayQfkJ61BZcle9BO66aj1GwqbFEKylREiY8Rv6EGt4s4qJsNjyzgOEuhTOW7p8H0YHxDVYYO3ZhriWrdphPed2vuTtFtSNIHNvjVZguFrfecOXKpbm4IDXAS5GW2gjMPdidd+lXJ4GbfskSc1xJRHRlOkypbVQ4AJgkUm1YJFPiO0V5GjM4PiSoPkq6fCr3gvFRiO4qsbgEmPvb94AeETVbdwq3QUuAgjSDowNUnCbr4bGICSCrAT1B0n5j4VnljuR16LUPDlT7Phm5tu42DDyJ/Or7C8b4lcIS1cus0aDuSR17wqHE8XZyC8d3wihPtpFwOHgjWQenrXIn8T6qUfM5ljjfxVj+NcS4rbj27XQBrqLcQTEyoqjx/HMTcyrcuP3Ccu2kgqy+RBIirbj3FfaK7vck5Qsk6awNAPTbrWcZQYJJknp15Vacn0slY9JsrPGEX8El9O5QcW4Ubdv2qEeyDBY2IJHz2FVOHRmaFmT0rTdosegtrZWSwuB207sAGBM7zrUOFYxqoXyrphdcnyWrjjWWSxe72BeIp7oPIUHaWTH6FWHFLeszQ2CSZPJYJHOJA0+NUzCKtj8JbmQRJ5QBv60ZilHtAGgCQCT066eFHYbD211JOhnp6VXY3DnM0RAPXXWhFONGtsdlWsYhAt1LiFWhwQCWKESqTJAJFU/Gz7XFuxkK7jppIUGR4VquAcSsmzaQCbigQMpka6wx5HwrJYi5/72/wDD7ZzHhmJqgSTJ/wDwdf4v+n+9Kgfbt+gKVLfEry2ZBzBBG+9FJjLhIAJJJgARMnblUD2GJAGpaAPMmBVvxLB20xVy2Ay5YKlGAiLYbQZTGs61FGabRDjbWJstluq6Npoy66iRy00Iof7c/N/p+VF4jihuPN+7iToIYOrEwABMgToBRGExmEVSGu4uT/LaKx0IYGTS2lub7NleMY/8f0/KisHxS5bJIKmRGv8AaKlxN7COVW2zFjAk2gDmJjYafIVbWuzthY9oXadQyCAB/NI96eVJ7Vw6LTyL2otgK9oL3IW/g3509eP3+lr4N+dFXMFw8GDdvA/0/wD81PhOFcPdgFvXSTsuoHxyzQoRKeqzf5MDXjWJ6Wv9rfnUycTxJ39kP9J/9VH3+z+DW49s4i4rIDnXcrCyWJy8hr0pYLs1YvT7DFPcyxmI2UH+Igc9QANSduZD2L0BanL/AJP6juGtibrZV9n1YxCqBuWYtCjxNWPEr1jChs49vfK6BohTyY22mAJMBhPRVksR+Mcft4RPs2FE3ARmcwcpHNiCQ90f7U5Swmsg7SSWJJOpJMknmSTvTUVHoKeec1TbaH4vG3HOZ2LNsJ8PDYDyoZl1Emefma61wDU1E98DXnTMQoPG/wCvCrHB8NF5dWNsnKodpKlnzZFUATqBJPhHORQJca4YUHMdANvh41s8DfFuJUMVNuFaRGUlWI2hgrSJ8aLoqEJTdJWegcJwKWkUACQAJyqCYAEnKANgKuFw6vAI03jkZBB28Caom4tZtwLl1FkbFht100q4wV8FVIYMpEgggyDsRG/KpKcJJW0ecdo+FjDuECuPYhAWYlg6XSxVQxAn2ZAUSTo3hWY7Z2Y9jeHWD9R9DW17cYxbjOEuQAyW3tAsYuhvaFz9092Bptz3rJ9rRmsKvPMPoatdCGaTE3UgaxoOQ/OgbuJt+J9B+dVTcVS5lGqtlE5mVUkDkxqtxGMbQjLGuzBto0kbVDxYz0V4tql0l+iNKb6MIgkaHUDcaiNd6Hv4y2glo66sJ25ASZ1rJ43EZySrOg17peRtsIAPxoW2GAJ1id9xPnVRSSpHJm1mTNLdOr/Inxd/2js8RJ2onCXGAVi6kFiuWe8IjvHoD+FArJIAGp5Dn5CnvhyPeUjXUEQfKDqKEczdlvimkRz3pljDxrO4g+VRWXzPPLYfA0VaaarqNE1yWEEneaivWwWZmmCZ03+elSqaV3VT5GqoZadkrId8skRJEEqZEaEjlE1WFgbjECO8341adjEBuE6jKhOnM7a+hNVFl41yg+c9fA0hXR3LXKm9uP8Alr8X/Ou1G0285Dex3Ccz+2eO57qSJnUZmHIDl/agu0Cxjm8UH/4yPwoRrzWyA0eDW2+YKnT5GpLitcuC7mLkCDJExBgTz350buKZltv3Rtq1Nm4TEArvvvyFVN60ARHOrax7lxToYGh30YVX3QCyjx5b0hD7VoLDjSCp+c/hXoV1NDEaifj5VgLalhIQkSPxmt3h7oNtNR7kfIRNcWri7i18Ts0j95GU4ssXDMbUuCXh7ZdQYDHT+k1B2khrggzAIMefOpOynDmuX4XQBGzMdlBEAmNdTAAGpJ0rqxe6jln7zNfcwrXOL4wBTkKAO0SF9pYRQPFjJhdzHnQfHeNph7YwmD7oGj3FIJn72Vh7zmYZ+XurA1qftZ2mgvas90n33WJmAsAjd8qgM3IQo51j8LZLHaT8hWz4EOWFHyH661G94ASTP60ApmOTK3eIOmkUCzzvUis7duyZP68KltKWBJG9CRJra9lezb30LhlUA6AgmSIPwmolKlyVCDk6Qzs1wySrMOhAFbHjPZw3kVkOVzoQR3WAB5jYiN/GpOD8CK5SQ3vAHT4+lay5dIUKWBUHSueWQ9DFGUOjo8pxWAa2+S6BqViNIAkETuZ8elak8ZQgW1uZFAiVAkRGUoxkKRvsazXHuIe2vM42JyoPAfnqfWpkFvKnukkmVAMjaCZ0IMnadqpSZ7uHRQ2bZq337/L5f9LjjPCLly415MtxDLBba5WUtGZsg97MdSyz5CK8841xP2jwNlkDz5mPl6V6jw+4bSAAaaRB1knl03qt7S9m7eNDXLICYlfemAHMDS4Bs0bN4iZ3raM+zPG1XhzjcsfQ8yF7wmpLdyQB/NH+4EVBiLZRirAqwMFSCCCORBrtttF8XHy/uapnlR4YVw/g1y6JUGBz+Ppy61HisI9kkGQDuBMHwI5+fwrS8H4gotFQQNfwj8I9KrOP4kNEGfH4/H+5qhNUiswWLa04dDDDUEgH61LiuIPcYs5BJMmBAnyoIVLbSgkNt90Dz/A/nRVihrjSfKibVNFBC0220j404VHY3jxj51QzSdnsI1kXSwI/clgeUEEjX0rN29hWzLgWMUeiZR6Wx+ZrG2N/SkSzs0qsvaDw/wBopUUFEFyymoIy+YlDQN60qNIQhf5TtPQtuOgmp8ZbuW/fU/UfGhEx5U6THQ/h/epfJMeHZYJgrV5ff9WG3hIgg0BxHsxcskXEh1BnMuseYO3rXSVY5rTC02x5L6j7oPqKtOH9oGtNkvjIdifukeI6eO1ZNSj05O2MsWXiXD9exkmw5gieckHr4iiuE2nRnM/5bR8vyrY43g1rEDPaIRo2Hun+k/d+YqlTB3EYoyMTBUQOZ0E9PPbyoUrXBLxPHL2iqwHDbl64EBk6mT7qruWY8lH61NaTHY5MNb+zYf3plnOjZo1dujRoB9xdNyahv4kYdDbtkZzq7+R0P9IPujmZbpFAWkwAdfUk8zW9bfzOcaq1JdxELlXQfM+JpmI7unPp/ahGmN6joA27B3MfT0qz4f2duuy5rVzK2xIKr8a0fYTA2FtfaMSqxnOViMzd2Qci8tdz4VsO1fHFw1hRbCkuoeCIHs8yidB1ZQPWs5S7I2hCqlLoednh625TKBGhka+pozheOuYczbOh3UiR5gHY0EeIG68xOYyT57momx2pgAidJnafPWs9snwz03m06jurjoq9T0nCdqbGfJ7XNMAFgRqRMTAH0qm7U9pc7ezsuMon2jDWZkBVPxk1l8LcBzM9tDJ2IPIRoJ0qa4UjRAsa6T8NTR5SRzYtQvMVrixLEzyA09d/oKteH2JcT6+HgfHlQXDMNAHh9eVX+CsxUn1UXOtz4tdPj/C4LOdvDb4/r4UkWXzAlToAR4Tv1GtQXTpSXEAcwPh9P70zHbxwU/bns+t5ftCDvoMtwDcqPveJA+XlWDNpQQZ2EKI26Enn1r2CxjAdiPKRr4HWvN+0uBFjEOqSqHvIPA8tOhzD0rWLPA1+m8t+Yl16lLbtEbMfSaY9rqSaKzE86jYVZ5bogFqisPhWILBSVXQnkCdQD8D8KYBRuD4g9tXVcpV9wwnUTqPHUiiwSXcGU7eMmjLbaTQZ+6Of50bHKrQidW0pWDFwHTcHXbT/ALVEhom3iIBAVZP3iJMaaa6DbpTGWWHxjtoQHAmJYhR4EAd71qru3G9pJULmGwECB4VNgsbkzSCZM6QKgxmJDXFYA6COXWpT5G+gTNKoPtS/wn5UqqySsN2dBP0+ulSXcJeUSUIA5wPwNV4vDqKt+Fceyd1+8m3iPzHhUk0VwueHkeh8eop32ke7dDMORVtvINII8NKuOK4JWU3bIDaagc/EflWfuYnUe6RAO0EaaggHkZFIArAcTayf3bSv8JGh9OR8q1GJ4jdvBLdq0WusCQggsNO9J5KBudKz2EPdzuig/d6nofCirnFX9m1mwCFaDffWbkbBj922OSc9SZJ0tQUfa7mnmy27L4KyO9321J7xMkfLf0rovsRltgLpvos+bE6/HpVhwW2qsXa2HjWTqF8Sv4kEeVWvE1S6pIVRzIOgP9J+6fI1m8iTo0jglKG6L+RkMfhrllgtwalVfQg91wGXbwIqMXQRRXFMSWf94JKotsdcirChuRI01oDB2wzd4gAfPwpmPQv+z1/uMDoAGIM7yVkRy2qw4ziGfE4pnytHdUEaBVuJCx0HSiOynBHxJuZIVQuQmJEsREDQTA61ssV+zgXGust8hrkkgoCBLKdIIO4+dQuG2bylcIx9LPPrGOZUJhAAYUBBE855miE4ztNu2fT+9bL/ANm6jKrXnMD7qgCZ31JrKXuDi27IR7rFdfAkfhU70jsw6OepajBqku/x6/t+SRBhOIKRHsQTqSdeZJ1M+NS3gGibarGuhJ+tF28OoiBoKmFgEcvH86l5Gz2NN4Thw1LI7a+g7AOAI086Ov4xUEkx0HM+Q/GqjE8cS2AiQ5GhPIevOgPaF+8TJPOoprk3lq8U57IO2H38c13QkheQH49TRFq6yH/EYeeo+tALagVIp8PCiztTTVIurOJJggkk8v7aTRHGcEuKwzSo9oqlkIOuYCYB6HaPKqvhzS+XnBjwYCQfl860WHI0YaBtY5Tz8qcWcWqxRlHazyQCuZKKx9rJduL/AAuy/BiKgrc+Pap0cC04ClXRTEK4mhoVDqKMbY+RoNfeFNCYcs9TRFrzmoE5VOtMaHcqiJqZjUJoAWalTa7SsKKy5w4/zfryFRpgCdiPjH1rbtgwakw3CjcMKMx9Pxp0Z2ZCxwhgJLxPJW+sUSMEq6mDHPXbxmtXxLgpw9vPdIWdFXWSenl40DwXs8+LDvmRLaGJYkZngGBGwAO9NUuWFlGLLXZOYKg01In0HPxNWeFwzW1lCvOGzKVO2YECZ5fEUFj+ICw5t5TnU5YB58gN5FVdxrl0nO2Sd1206mN9eX0pSdjQTjsb7NwbZGbchfut05j5mgcTxK4+5CKeS6DxP/ajAVVQqLJ/ib8F2HrPnQbYZnLMZAXcwTLHZdOvXapotNroCAflUtvD5iB86fft5ACxEnZRqfWrbg/ChdJa6yBFy5ibmQKJjoZ1I260UItOxfEzgmvNBcBMwSQMxlUC5jOWSykmJhaur37Y8QQQmHtIdpLO8HygVb8M7FYVbTtlLJcUS5uHJklWAEHaQNd6y/aTsvhO4MIxSJ9q7FihGkZSx3Gu0701Apv0B2/aNjnMm8k+FtB6QRXP+ITcl7+rnUkCJ5QQAAPMUNh+CWhAUNfbQSdEBJgE9BVr/wAFX3b90EeQcwYEBV1HdaSM2sg6RlFDxWro2wajLglug+SsXi7EnKFqG9dd/eaR02HwFWS9heIroLAuAfzJJ9SRRI7HYwLmOGuLpJhgY9NfrSjjXYeXV58iqcm1+hnfZ0RhXKHqDy/Ki8RgLlsZnQ5dszAr6SJWfOoF66r/ANQ+K/lRKHYzx5HCSlF0w/5Cnk/r8ahtNPiPAgj5U89BXM1XDPs9Nlx5I+w7DMLKwwMHlWj4XcJWCdd/j+jWesHTrVvgL3eE84HyP5CpT5FmVmP7VYXJibn8xzj/AFb/ADzVTkVsO2libltuqkfAz/8At8qzLWq6V0PktVDblkvj9wUV2pntVEVimc4rmx8jQaHvCjgJ0qvtDvVSJZY2t/SiVqCwN/hRAFDKQophWpYrmWkOiHLSqaPCu0WFHqX/AIdYRYcCCOcg+gHePmTWR4xjlsP+6ctJ7sQD6n8areM8QcAkEyTqSZPmZ3NZ65eKgsdWbr9T4VUUc8UEce4vcvMTcaWiCdAAP4QBtVceM3oyW2KjogAJPUkd4n1qJcO1xoUEx7xOgHUsdhU620Q9wljGpj45BuB4nU+FDdl0Nw+FZDJjOeR1I8SeRn1qZcPrrJJ5b/KmJe1iD6b/AAFPsMZb2k5YMIIALcs53j4mgY9lgE7AaEyIB6TtPgJPhXcPwq/dK+zTMW2UHUjryIAHM6UAMO5EtBVWEkHYMQI6xpy2rU9kuPLhsRnuEBHGVifuiZUjoJ3/ALVE5bVZcVZq+Afs9vZkxftrNpvZw1kLmHuwVJJOpIB0EUu0GFSUGKC2bjKQjDKMwG4AjK4E7EaTpE1rsV2hCFVzLmZcyjWSu86fHwrz3tPxj7bdXvEWrMsSRA2gtrrtIH9TVjgzScq5d/Cki541VkNnEXijhbj3bRPcTKAWiNY3CyOZ8apuIi8zyR3UDZVlSzbQpAO0+WgPWn8SxcXHti9CBLbqUB0lRCqu7P3iJMKACd6qr+DVLQxCHN+9CEE6glSZYbkaHWupszNF2Xxpw6i6xZHAaVbTOVVjkAHdCiV7zDcRzit9gP2hpBBJZTbDaIFYXC2tsgkAwuuavMUZWVRsFGUFeYmZ6gE8v0EFHL8KRUXzyj0k9vbFzPaK3wIIdgoAUc+9Iin4PjXsjbGHvXboNzIbdwgjKVJJMjMsCDvXnmHw7spKgkDQ+evL0+lT2MXeSVQusiTkJ2PONoPWkabk+qNVe4/cGGusuT2qANDiAVYkMco8VuKI/hFU44ReZHxGIwtsWyDcOQtauIInmuSR4gT11qoW+ZDFbZMR3rS6gdcoAbnqZqW1ipuq5UBIhkUn2beJRp8NB05UjNxZn711RdcWrkqp7rN3Sw5TpAMeW1F4PFOx0UMw3BOU+p/E+FVXFOHm0WhkZJC93NAMSFGYBiADuRyrR9iuFaNfYd3KUtiNydCfHeAedN9KHicoyuLpkuAxuYlSGVhyYQY/EeIq1tXIZfMfPSjcFYe2yriLLG33lYOO8Oa5XGk+9EHQxMgmIuOcN+z3kKsXsvD23Igkc1YcmB3FYThTtH0+g1qzLy5+99znaNM9u23jHxH5is4bNal1z2mG8HN+J+pqsGHqovg8nxHHtzfminOHqO5hKu/s9cOHqzgoy+IwrLqKrcOpljudzW2bD0MeGJqco13ppkuFlPg+8unrRXsqs0wIAgCKX2akNRorctdC0Y2GqM24oHRBkpURlpUBRUYjDxDHU7f96EvWM2pMH11/Ln4VZ+18jTSqn7vwNdLgc5WYlkFsy0E6hApMmd31iPHfap8NwO8O9GYkbh11BG29T3MOv8w8xUNu0xMAkeprNwY7Hvwu+P8AKf8A0qSPiKiHD7nNHHmjflRSYu9b0FxhH8x/A0Zb43iIkXj5FnHzmlsYWC4Tg5PeaVUczv5KOZpnGr9pP3aIhZesEyQO8557jTlROO4i973rgBmCCXkjwaGA8qE4DgrRuPexJlV7y2wZZzyEj57fkUOwzDcNxGICF3ACjKbj6BV6KefMEDXTnUnaPDm1bS1ZVvYmS90j/EgEyY90aGAd/jVZxHtDcuOTcUZNhb2UDkI/XOmXuN3MQVttoDp7x/ExrFHAWD8GwzXGz+6BoSJ10grrpEb1p7NtQAAAAOlRYewqqAugA2ohPChIaJcgI2kUFi8CwBa3r/Kd/T8qOU1JBoZQPg+LWggkBco9wg+0zQJzSpXUgSwymI6UK+NZs8uR7SM0HQxsPIdKNu4FLnvKJ68/jQeK4etsSXVfBzqfKNT8DSoRy5cBKkgSuxGmmuh11G5qe23tGJgAHUhRA8ABVdZtye7IPQx9KNsXjZBYgkglo6mO789aVFqVLoVXay1mupaTVhCvG5Z4IXxyj61pk44bVwIttclgCJI1IAA7m+538KA4Dwv2QOKxH+O/eQMNVBmDH8R1idhJ5VzFooQ3GUZtXZho0DZQw110+VJjgnyy/wCKcWbFWVZP3aoykw0wdWLEHYQoHxHOrPB4g4rh960yKGtxdtgA5hJZmE8+lZrFXbQsqbRlb/e1MsLa7qxOpJcwZ8aJ7O9oVw98C4DluoVYgExqNYHl8DQ12LhlcJLIuqa/T+/cK4Pcz24HQqevh9alFiq7hjhLzBHBU6gagxupjyIq/VJ1rKKrhnreJ7Z7ckOUwAYel9n12qwW3pXBb1qzyStbD7VxsNVk1r6132dAFYMPpTVw31q0S3pSNvWmBUthqHu4Srq5ajXQfKmm2KQFD9kpVd/ZB4UqAMLkpZKkBp4r21CDPObkiCKRqYioyKUsSBSISg5002ehqYimxXPLGi7GW7Kkd6Z6104IHZh61JaB5U5SI8eUGo8tFWCvg38G9QflQ5w4BHcAIMgjukHedKsc5pAmpeELOLxE8x8v7iibWLHX9etOw/D8yG4VlV3ytB+BEGgHtDlMeNZ+Wx7g/G44hRlEnyMef9pqvTF3D98j4V1bcbMw8jFSe0PMW38GX8ViocGVZ0Xrh/zG9CR9KEv2ue5+fx51YC+v/IX/AMx4+c1Oj/wraXxDPPyFS0OyvwGDuFhIKrPQlj/9NRqx8tOpFajh+DUd69ByGcrEHL09tGmbpbEzzMVX2WYEiLjd3MQgCKV2lmHfZauuF8Pu3V1CImy5fu/xZRyJ2LHX60IaBkS5jcRCgrbALOxykIgHed2ze8YECI2A2qr4hhTdDAanMCQVhQs8yTECF+FbPhaezYhDmB39nKqdIyso0fTmJihuJ9nMZaRHyPctcxP7wLOjZdWYDbbTehodsxqII7vujur5Dn6tmb1oC9jFN61bjU3UBMfcJCkaGTvNGEZFYawGYLM+7Jy78ois/ggbmKTwcH0TvfhSDq0i/uXDbukKT3D3T4cp8I5VueH3/a2g/MivPblzM7Hqf7VtOzFwBcmoOja9CTqPCMtPIuEzo07coTgunvfR19mXAT9Sfzp/s/H+1PpLz33/AAFZkkbL+H1roXyqRvy+orsUwIlSum3ttUqLv+uVC8TxyWUzOdzCqNWZv4VHM0AduLEkwFAkkmBHUkjSqxb739LYy251uGe9G4t6gweunPapreCuXyGxMKm6WAdPA3T95vDYVboBtA0iI0A8um1Aupmv+Gz/ABn/AMtf/XSrUyKVPkVI8o9pTg1QA1Itd0Z0crJacEoS/jkT3mE9BqflQlzjoGyk+JMVp+JiupOwuRhzU3/hN2M3srmX+LI0fGIqpwmIv3NRZ06kn8quMHisXb9xrtv+i64+Qp/i8b7E+VL1AfZU1krRL2pxP+ctu+uml+0jf9YAYec0nxmCve/auYVj962fa2vM22hwP6SaqOTHL+2LbNfEqcLggVzu2RJgcyx6KKcWsclunxlR+FE8Q4WyKGV0vWvu3LbFlHgQdbZ8GA9arQKtY+9iUrDPtsW2tqsKeZJJ/KgClSg0i4rTyo0Lc0wcrSipC9NLVhLGjRSOAmnhTuKQcV6B2P7EPiLftLiBEO3tSwkciLaEMfVl8qynHHFXJlKTukYbBSj5xvG8kco1Plpryr0Tszwl8XaBBQ25hiuiZhuCNyfD1q/T9nGEGtxrj+CkW1/6e8fViatuA4CxhSbdu2FUkkbn61xzlF+6aqybhvCrNgd0qX/iI28hT7+JB5z+Iqe7xS2jlchDnU6CdeZ6etC3FDmYnXlpp4mshni/7VcD9nuZ1ELdBI/qnUfMH41i+A4cBLt1tguRfFm/R9A1evftTwlvFWRZt6ur5/aT3FgHMubmSNNBE868xxGEa2RbKlVXkdiY97xrRRbDpyR4ZdZrfcPw6LdA/wAxEVWHQ5FkR5yJ8KruxnAs9wNckAAMFjVhI3nYEkDqZMbE0dgCTjLzEyC1wif64HxE0s3FRPQ8Ph7GWX+v3LyK5bb6mu70kH41mcx19v11FdimudKeKYCA19K5csq0ZlBjaQDHlO1dG/68KfQBEthY2ppsDTep0pONKAI/Y1ynzSoA8mHWqjH8SJ7qaL15n8hRHF78DKOe9UwBJ01J5VrKXZHKPsWWdgqiSdhWt4TwW3aILw76cpA11AHkDqabwfAC2umrH326fyKfDX1FWP2gAaaePOoSKSClcwdN+p/kj66x41LIOUQIUgxm6KV5+OtVKYnM2VQzt0WSfgtFfZrm5s3QOuS4PqKYw5MMu5mNNN9FUcxzJFBXcA0KTBaIPmFk7bwSJpti7r3WOn63FGWsUQddD1Hx8jrQFFLctlTzG8keBO457cvCmZ+vxFaC/hkeBoABAOsHbUk7QAfMms/jbDWzMbiYOnQ+h7w05zW+PUShw+hnKCfJ1rnID46moyaUqyhkMn7wI28jP4VEWPh8661lTXBm16j6aTTNfD4GuQfD4H86hyYzW9gOGrdutccZhbggcsx5mvaeFuzQQYCTmHWRp+NeDdmO0b4P2kW0uh8uhZkgidZAad9o5VuuzPbPEYlylqxYVomGv3dQCNoswfKa5csJSt0aRaR6ubYYVUYzAsGlRPMVUYjGcTEDNhbcgmRbvXYAE6gBTXmnG+1XEbjZTiyNSCtpRaXeN9W5ddKyjjlLoO6PTOLcZsYZ81xybjbWlXNcbSAIjQRHwqvXHX8WVTKLaNtbUyT43HBk6alVgdTrFYTg15bRzMSzndmJJP8AU7ST6mrzAcdxFu8HtBWEQVOxHMdRy1rRYmX2LftUbWHyYVXAu3iouPA7luRAXSFk/SslxHsv7J3ulwLCufZknMbig6e7706zGnUg6VrO0HGcKYv38Lb9sBALtnGmwyiA3mRpXn/GOO3cU8udBso0AA2EDatI5dqpC231L3gOMLXb96JUWjEnoylPCSQI5CBUXBMOyiWOZohm6tufwobBYV2s5AQisyuzakkKCAoXzLGTPLQ1cYZAqgDYaVyyds3i5LuTg+FMR/A+frTw1QWWCgLrtzn61IE7HQ1IDUTNofKnK1MBx5ef4GpJqFiOlPBFMBwOtPNRU/1oEcy+HzpUo8aVAHhPE275qTgqAuTzVZHmWVZ+DH5UqVHc5jU3tBA2qx7HcLt4m8y3ZKrlOUGAZJ3jU7bTzNcpVTLLDtb2ju4Jjawy2ragaQgn56fKq/8AZ52vxeIxy2713OjI5y5UGoEggqAR8aVKpEem43hlq/pdtq3jsw8mGo+Neb9ocMLGIuWkJKqRGbU6gHX40qVNlIiwzkNHKRRmOshrbk65YUeR1JPU7a+FKlTEYdrhS4CvPQ9Peij7wg0qVbYWZy6EddFKlXSjM7ROCxTW2DoSrLqCKVKtYdSZH0L2Px73bCF4kqp+IrJ/tM4NZkXgsO5IaNASB70dfHnSpVww4zUjX/yebYtyi90neNYPSgV4ndkDOYnwpUq6MiSjaFbsjuXCWMknWrHhVoF1B5nWlSriOhdTYIK7b2pUqyNyQ7UxNh5Dp0pUqaJZwvRFk0qVAh/I1IKVKmBHeOnqPqKca5SoA7FKlSoA/9k=" id="127" name="Google Shape;127;p17"/>
          <p:cNvSpPr/>
          <p:nvPr/>
        </p:nvSpPr>
        <p:spPr>
          <a:xfrm>
            <a:off x="2783681" y="748904"/>
            <a:ext cx="2286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descr="data:image/jpeg;base64,/9j/4AAQSkZJRgABAQAAAQABAAD/2wCEAAkGBxQTEhUUExQVFRUXFxoXGBgXGBgcGBwYGhgXHBoXGBgYHSggGBwlHBgVIjEhJSkrLi4uGB8zODMsNygtLisBCgoKDg0OGhAQGywmICQsLCwsLCwsLCwsLCwsLCwsLC8sNCwsLCwsLCwsLCwsLCwtLCwsLCwsLCwsLCwsLCwsLP/AABEIAMQBAQMBIgACEQEDEQH/xAAcAAABBQEBAQAAAAAAAAAAAAAEAAIDBQYBBwj/xABIEAACAQIEAwUFBQYEBAMJAAABAhEAAwQSITEFQVEGImFxgRMykaGxFELB0fAHI1JicuEzQ4KSFlOi8RWT0hckRFRzsrPC4v/EABoBAAMBAQEBAAAAAAAAAAAAAAABAgMEBQb/xAAwEQACAgEDAgMGBgMBAAAAAAAAAQIRAwQSITFBBRNRIjJhgZGxFHGh0eHwUmLBQv/aAAwDAQACEQMRAD8A86vYEkyLjgHlP0otBAA6da7mpTXK2z6PGoxba7imlSpUjfeie3jLiiA7R0Oo+BqbDKbpMgSByAE69BpQVWvZn/HjqjfIr/eiioZVjluQrvBpGg18hXbPBiugQehA061v+F8PFwwSBAnbpWiwfZu2QC0kkT5VooSaMpeI4sU921bvWufqeSHg56EVHc4OwE6/CvbP+H7PT51Hd7O2o6UvJfqOPj3wPEhw1qjOCP8A3r1fG8GRNZEeX1qlxGDXoKlwaO3H4up9jz18Mw3FRZd63pw69BWfvWst52XQgwNARBUcjUu0dC18ZvldCoZiyGSTDA6+II/AVDR165bUMGaJA2E7GpbPDf3QvvmS03ukKXZo393ur6nSqjjkzPJ4tpMPDfySv+CrroFSYfiFtbveslrI3GaLmuxJO3XUAefPU4HhlnEd7CxIGYBjMgfynvR4wRVeVJGK8c0knTT+a/llC3DLYAN59xoEhiP6unxoG5hEyhMikA6HXNrvJmrrGcIe22VgAx1yyuo6oRow8NCOlDnDdBPofgelZ3KPVm8MGi1Ed1Rl8kv5Rnn4SobMkr4SSN+ZM6UTkaSApKk6AskjQCSYE6AbCrSxYZzlANencO/ZlZhfbs5aAWCkAT0mNY61pCUpM8zxLRaDTrndFvoo8/f90eH3+CXTmuPECSqrqdDz5fjrUjkqEUCcoEyNZjxr3nH9gcOoGQ5RoBmYz09a89/aN2K9kGa27EpaN1Y+8oPfXTciSfSumj5l12MrbvCNfpTmI+Hgaz/DCWdQ1wohOrEZgPSr3HFUvtbS9bvJurpGungSNKKQrJSsjaokskXAwGsfMT/eg8c50AJ9NKfxC2qIjLcZmYGddqe1BYTicc5zDTvADbXSfHoa6iEgTvz85qow91pnWDI9KIxWJObQnYb+QpisusDbBvWRH+an/wBwrZrgxiWeypjEKS+HJ2JzEtbJ5a95SeebrXn/AAO83tbZ3hwZPhtWi4o7LfUMQr5090xDSDoTtFFFI02W9/8ALL/vP5UqsP8AizFf8y38FpUe0B47hcQHUMOekdD0ois9wfEFXy8m+o2q+D1yyjTPUwZt0bH12mzSzVFHTvHUfwNyLojSQfpVdNG8I/xPIGgqMraNhYxNwbXHHll/OrCzxW+P/iLnwU/jWcS9UovGhSOmWFP0+iNIeM3zvfc+aKaceNXz/nk/6BWbF81IL9PeZ/ho+i+i/Yu34jdO9yf9H9qFa83UfA0AL1RYviAQTuTMLzMfQeNK2weOMFbC8VjBbXM7BR1M78gOp8KynE+IM1xipCqYkTqdIgkHuiANPKgcfiWuuXcg5duar4IvXxOp3MCgsdie7lGg36knqT+UeEVvGFcs8jUapz9mPC+5JYxBRmZYncknvQd1QRPKJ0iafbxLgDLcbYscrEayQfkJ61BZcle9BO66aj1GwqbFEKylREiY8Rv6EGt4s4qJsNjyzgOEuhTOW7p8H0YHxDVYYO3ZhriWrdphPed2vuTtFtSNIHNvjVZguFrfecOXKpbm4IDXAS5GW2gjMPdidd+lXJ4GbfskSc1xJRHRlOkypbVQ4AJgkUm1YJFPiO0V5GjM4PiSoPkq6fCr3gvFRiO4qsbgEmPvb94AeETVbdwq3QUuAgjSDowNUnCbr4bGICSCrAT1B0n5j4VnljuR16LUPDlT7Phm5tu42DDyJ/Or7C8b4lcIS1cus0aDuSR17wqHE8XZyC8d3wihPtpFwOHgjWQenrXIn8T6qUfM5ljjfxVj+NcS4rbj27XQBrqLcQTEyoqjx/HMTcyrcuP3Ccu2kgqy+RBIirbj3FfaK7vck5Qsk6awNAPTbrWcZQYJJknp15Vacn0slY9JsrPGEX8El9O5QcW4Ubdv2qEeyDBY2IJHz2FVOHRmaFmT0rTdosegtrZWSwuB207sAGBM7zrUOFYxqoXyrphdcnyWrjjWWSxe72BeIp7oPIUHaWTH6FWHFLeszQ2CSZPJYJHOJA0+NUzCKtj8JbmQRJ5QBv60ZilHtAGgCQCT066eFHYbD211JOhnp6VXY3DnM0RAPXXWhFONGtsdlWsYhAt1LiFWhwQCWKESqTJAJFU/Gz7XFuxkK7jppIUGR4VquAcSsmzaQCbigQMpka6wx5HwrJYi5/72/wDD7ZzHhmJqgSTJ/wDwdf4v+n+9Kgfbt+gKVLfEry2ZBzBBG+9FJjLhIAJJJgARMnblUD2GJAGpaAPMmBVvxLB20xVy2Ay5YKlGAiLYbQZTGs61FGabRDjbWJstluq6Npoy66iRy00Iof7c/N/p+VF4jihuPN+7iToIYOrEwABMgToBRGExmEVSGu4uT/LaKx0IYGTS2lub7NleMY/8f0/KisHxS5bJIKmRGv8AaKlxN7COVW2zFjAk2gDmJjYafIVbWuzthY9oXadQyCAB/NI96eVJ7Vw6LTyL2otgK9oL3IW/g3509eP3+lr4N+dFXMFw8GDdvA/0/wD81PhOFcPdgFvXSTsuoHxyzQoRKeqzf5MDXjWJ6Wv9rfnUycTxJ39kP9J/9VH3+z+DW49s4i4rIDnXcrCyWJy8hr0pYLs1YvT7DFPcyxmI2UH+Igc9QANSduZD2L0BanL/AJP6juGtibrZV9n1YxCqBuWYtCjxNWPEr1jChs49vfK6BohTyY22mAJMBhPRVksR+Mcft4RPs2FE3ARmcwcpHNiCQ90f7U5Swmsg7SSWJJOpJMknmSTvTUVHoKeec1TbaH4vG3HOZ2LNsJ8PDYDyoZl1Emefma61wDU1E98DXnTMQoPG/wCvCrHB8NF5dWNsnKodpKlnzZFUATqBJPhHORQJca4YUHMdANvh41s8DfFuJUMVNuFaRGUlWI2hgrSJ8aLoqEJTdJWegcJwKWkUACQAJyqCYAEnKANgKuFw6vAI03jkZBB28Caom4tZtwLl1FkbFht100q4wV8FVIYMpEgggyDsRG/KpKcJJW0ecdo+FjDuECuPYhAWYlg6XSxVQxAn2ZAUSTo3hWY7Z2Y9jeHWD9R9DW17cYxbjOEuQAyW3tAsYuhvaFz9092Bptz3rJ9rRmsKvPMPoatdCGaTE3UgaxoOQ/OgbuJt+J9B+dVTcVS5lGqtlE5mVUkDkxqtxGMbQjLGuzBto0kbVDxYz0V4tql0l+iNKb6MIgkaHUDcaiNd6Hv4y2glo66sJ25ASZ1rJ43EZySrOg17peRtsIAPxoW2GAJ1id9xPnVRSSpHJm1mTNLdOr/Inxd/2js8RJ2onCXGAVi6kFiuWe8IjvHoD+FArJIAGp5Dn5CnvhyPeUjXUEQfKDqKEczdlvimkRz3pljDxrO4g+VRWXzPPLYfA0VaaarqNE1yWEEneaivWwWZmmCZ03+elSqaV3VT5GqoZadkrId8skRJEEqZEaEjlE1WFgbjECO8341adjEBuE6jKhOnM7a+hNVFl41yg+c9fA0hXR3LXKm9uP8Alr8X/Ou1G0285Dex3Ccz+2eO57qSJnUZmHIDl/agu0Cxjm8UH/4yPwoRrzWyA0eDW2+YKnT5GpLitcuC7mLkCDJExBgTz350buKZltv3Rtq1Nm4TEArvvvyFVN60ARHOrax7lxToYGh30YVX3QCyjx5b0hD7VoLDjSCp+c/hXoV1NDEaifj5VgLalhIQkSPxmt3h7oNtNR7kfIRNcWri7i18Ts0j95GU4ssXDMbUuCXh7ZdQYDHT+k1B2khrggzAIMefOpOynDmuX4XQBGzMdlBEAmNdTAAGpJ0rqxe6jln7zNfcwrXOL4wBTkKAO0SF9pYRQPFjJhdzHnQfHeNph7YwmD7oGj3FIJn72Vh7zmYZ+XurA1qftZ2mgvas90n33WJmAsAjd8qgM3IQo51j8LZLHaT8hWz4EOWFHyH661G94ASTP60ApmOTK3eIOmkUCzzvUis7duyZP68KltKWBJG9CRJra9lezb30LhlUA6AgmSIPwmolKlyVCDk6Qzs1wySrMOhAFbHjPZw3kVkOVzoQR3WAB5jYiN/GpOD8CK5SQ3vAHT4+lay5dIUKWBUHSueWQ9DFGUOjo8pxWAa2+S6BqViNIAkETuZ8elak8ZQgW1uZFAiVAkRGUoxkKRvsazXHuIe2vM42JyoPAfnqfWpkFvKnukkmVAMjaCZ0IMnadqpSZ7uHRQ2bZq337/L5f9LjjPCLly415MtxDLBba5WUtGZsg97MdSyz5CK8841xP2jwNlkDz5mPl6V6jw+4bSAAaaRB1knl03qt7S9m7eNDXLICYlfemAHMDS4Bs0bN4iZ3raM+zPG1XhzjcsfQ8yF7wmpLdyQB/NH+4EVBiLZRirAqwMFSCCCORBrtttF8XHy/uapnlR4YVw/g1y6JUGBz+Ppy61HisI9kkGQDuBMHwI5+fwrS8H4gotFQQNfwj8I9KrOP4kNEGfH4/H+5qhNUiswWLa04dDDDUEgH61LiuIPcYs5BJMmBAnyoIVLbSgkNt90Dz/A/nRVihrjSfKibVNFBC0220j404VHY3jxj51QzSdnsI1kXSwI/clgeUEEjX0rN29hWzLgWMUeiZR6Wx+ZrG2N/SkSzs0qsvaDw/wBopUUFEFyymoIy+YlDQN60qNIQhf5TtPQtuOgmp8ZbuW/fU/UfGhEx5U6THQ/h/epfJMeHZYJgrV5ff9WG3hIgg0BxHsxcskXEh1BnMuseYO3rXSVY5rTC02x5L6j7oPqKtOH9oGtNkvjIdifukeI6eO1ZNSj05O2MsWXiXD9exkmw5gieckHr4iiuE2nRnM/5bR8vyrY43g1rEDPaIRo2Hun+k/d+YqlTB3EYoyMTBUQOZ0E9PPbyoUrXBLxPHL2iqwHDbl64EBk6mT7qruWY8lH61NaTHY5MNb+zYf3plnOjZo1dujRoB9xdNyahv4kYdDbtkZzq7+R0P9IPujmZbpFAWkwAdfUk8zW9bfzOcaq1JdxELlXQfM+JpmI7unPp/ahGmN6joA27B3MfT0qz4f2duuy5rVzK2xIKr8a0fYTA2FtfaMSqxnOViMzd2Qci8tdz4VsO1fHFw1hRbCkuoeCIHs8yidB1ZQPWs5S7I2hCqlLoednh625TKBGhka+pozheOuYczbOh3UiR5gHY0EeIG68xOYyT57momx2pgAidJnafPWs9snwz03m06jurjoq9T0nCdqbGfJ7XNMAFgRqRMTAH0qm7U9pc7ezsuMon2jDWZkBVPxk1l8LcBzM9tDJ2IPIRoJ0qa4UjRAsa6T8NTR5SRzYtQvMVrixLEzyA09d/oKteH2JcT6+HgfHlQXDMNAHh9eVX+CsxUn1UXOtz4tdPj/C4LOdvDb4/r4UkWXzAlToAR4Tv1GtQXTpSXEAcwPh9P70zHbxwU/bns+t5ftCDvoMtwDcqPveJA+XlWDNpQQZ2EKI26Enn1r2CxjAdiPKRr4HWvN+0uBFjEOqSqHvIPA8tOhzD0rWLPA1+m8t+Yl16lLbtEbMfSaY9rqSaKzE86jYVZ5bogFqisPhWILBSVXQnkCdQD8D8KYBRuD4g9tXVcpV9wwnUTqPHUiiwSXcGU7eMmjLbaTQZ+6Of50bHKrQidW0pWDFwHTcHXbT/ALVEhom3iIBAVZP3iJMaaa6DbpTGWWHxjtoQHAmJYhR4EAd71qru3G9pJULmGwECB4VNgsbkzSCZM6QKgxmJDXFYA6COXWpT5G+gTNKoPtS/wn5UqqySsN2dBP0+ulSXcJeUSUIA5wPwNV4vDqKt+Fceyd1+8m3iPzHhUk0VwueHkeh8eop32ke7dDMORVtvINII8NKuOK4JWU3bIDaagc/EflWfuYnUe6RAO0EaaggHkZFIArAcTayf3bSv8JGh9OR8q1GJ4jdvBLdq0WusCQggsNO9J5KBudKz2EPdzuig/d6nofCirnFX9m1mwCFaDffWbkbBj922OSc9SZJ0tQUfa7mnmy27L4KyO9321J7xMkfLf0rovsRltgLpvos+bE6/HpVhwW2qsXa2HjWTqF8Sv4kEeVWvE1S6pIVRzIOgP9J+6fI1m8iTo0jglKG6L+RkMfhrllgtwalVfQg91wGXbwIqMXQRRXFMSWf94JKotsdcirChuRI01oDB2wzd4gAfPwpmPQv+z1/uMDoAGIM7yVkRy2qw4ziGfE4pnytHdUEaBVuJCx0HSiOynBHxJuZIVQuQmJEsREDQTA61ssV+zgXGust8hrkkgoCBLKdIIO4+dQuG2bylcIx9LPPrGOZUJhAAYUBBE855miE4ztNu2fT+9bL/ANm6jKrXnMD7qgCZ31JrKXuDi27IR7rFdfAkfhU70jsw6OepajBqku/x6/t+SRBhOIKRHsQTqSdeZJ1M+NS3gGibarGuhJ+tF28OoiBoKmFgEcvH86l5Gz2NN4Thw1LI7a+g7AOAI086Ov4xUEkx0HM+Q/GqjE8cS2AiQ5GhPIevOgPaF+8TJPOoprk3lq8U57IO2H38c13QkheQH49TRFq6yH/EYeeo+tALagVIp8PCiztTTVIurOJJggkk8v7aTRHGcEuKwzSo9oqlkIOuYCYB6HaPKqvhzS+XnBjwYCQfl860WHI0YaBtY5Tz8qcWcWqxRlHazyQCuZKKx9rJduL/AAuy/BiKgrc+Pap0cC04ClXRTEK4mhoVDqKMbY+RoNfeFNCYcs9TRFrzmoE5VOtMaHcqiJqZjUJoAWalTa7SsKKy5w4/zfryFRpgCdiPjH1rbtgwakw3CjcMKMx9Pxp0Z2ZCxwhgJLxPJW+sUSMEq6mDHPXbxmtXxLgpw9vPdIWdFXWSenl40DwXs8+LDvmRLaGJYkZngGBGwAO9NUuWFlGLLXZOYKg01In0HPxNWeFwzW1lCvOGzKVO2YECZ5fEUFj+ICw5t5TnU5YB58gN5FVdxrl0nO2Sd1206mN9eX0pSdjQTjsb7NwbZGbchfut05j5mgcTxK4+5CKeS6DxP/ajAVVQqLJ/ib8F2HrPnQbYZnLMZAXcwTLHZdOvXapotNroCAflUtvD5iB86fft5ACxEnZRqfWrbg/ChdJa6yBFy5ibmQKJjoZ1I260UItOxfEzgmvNBcBMwSQMxlUC5jOWSykmJhaur37Y8QQQmHtIdpLO8HygVb8M7FYVbTtlLJcUS5uHJklWAEHaQNd6y/aTsvhO4MIxSJ9q7FihGkZSx3Gu0701Apv0B2/aNjnMm8k+FtB6QRXP+ITcl7+rnUkCJ5QQAAPMUNh+CWhAUNfbQSdEBJgE9BVr/wAFX3b90EeQcwYEBV1HdaSM2sg6RlFDxWro2wajLglug+SsXi7EnKFqG9dd/eaR02HwFWS9heIroLAuAfzJJ9SRRI7HYwLmOGuLpJhgY9NfrSjjXYeXV58iqcm1+hnfZ0RhXKHqDy/Ki8RgLlsZnQ5dszAr6SJWfOoF66r/ANQ+K/lRKHYzx5HCSlF0w/5Cnk/r8ahtNPiPAgj5U89BXM1XDPs9Nlx5I+w7DMLKwwMHlWj4XcJWCdd/j+jWesHTrVvgL3eE84HyP5CpT5FmVmP7VYXJibn8xzj/AFb/ADzVTkVsO2libltuqkfAz/8At8qzLWq6V0PktVDblkvj9wUV2pntVEVimc4rmx8jQaHvCjgJ0qvtDvVSJZY2t/SiVqCwN/hRAFDKQophWpYrmWkOiHLSqaPCu0WFHqX/AIdYRYcCCOcg+gHePmTWR4xjlsP+6ctJ7sQD6n8areM8QcAkEyTqSZPmZ3NZ65eKgsdWbr9T4VUUc8UEce4vcvMTcaWiCdAAP4QBtVceM3oyW2KjogAJPUkd4n1qJcO1xoUEx7xOgHUsdhU620Q9wljGpj45BuB4nU+FDdl0Nw+FZDJjOeR1I8SeRn1qZcPrrJJ5b/KmJe1iD6b/AAFPsMZb2k5YMIIALcs53j4mgY9lgE7AaEyIB6TtPgJPhXcPwq/dK+zTMW2UHUjryIAHM6UAMO5EtBVWEkHYMQI6xpy2rU9kuPLhsRnuEBHGVifuiZUjoJ3/ALVE5bVZcVZq+Afs9vZkxftrNpvZw1kLmHuwVJJOpIB0EUu0GFSUGKC2bjKQjDKMwG4AjK4E7EaTpE1rsV2hCFVzLmZcyjWSu86fHwrz3tPxj7bdXvEWrMsSRA2gtrrtIH9TVjgzScq5d/Cki541VkNnEXijhbj3bRPcTKAWiNY3CyOZ8apuIi8zyR3UDZVlSzbQpAO0+WgPWn8SxcXHti9CBLbqUB0lRCqu7P3iJMKACd6qr+DVLQxCHN+9CEE6glSZYbkaHWupszNF2Xxpw6i6xZHAaVbTOVVjkAHdCiV7zDcRzit9gP2hpBBJZTbDaIFYXC2tsgkAwuuavMUZWVRsFGUFeYmZ6gE8v0EFHL8KRUXzyj0k9vbFzPaK3wIIdgoAUc+9Iin4PjXsjbGHvXboNzIbdwgjKVJJMjMsCDvXnmHw7spKgkDQ+evL0+lT2MXeSVQusiTkJ2PONoPWkabk+qNVe4/cGGusuT2qANDiAVYkMco8VuKI/hFU44ReZHxGIwtsWyDcOQtauIInmuSR4gT11qoW+ZDFbZMR3rS6gdcoAbnqZqW1ipuq5UBIhkUn2beJRp8NB05UjNxZn711RdcWrkqp7rN3Sw5TpAMeW1F4PFOx0UMw3BOU+p/E+FVXFOHm0WhkZJC93NAMSFGYBiADuRyrR9iuFaNfYd3KUtiNydCfHeAedN9KHicoyuLpkuAxuYlSGVhyYQY/EeIq1tXIZfMfPSjcFYe2yriLLG33lYOO8Oa5XGk+9EHQxMgmIuOcN+z3kKsXsvD23Igkc1YcmB3FYThTtH0+g1qzLy5+99znaNM9u23jHxH5is4bNal1z2mG8HN+J+pqsGHqovg8nxHHtzfminOHqO5hKu/s9cOHqzgoy+IwrLqKrcOpljudzW2bD0MeGJqco13ppkuFlPg+8unrRXsqs0wIAgCKX2akNRorctdC0Y2GqM24oHRBkpURlpUBRUYjDxDHU7f96EvWM2pMH11/Ln4VZ+18jTSqn7vwNdLgc5WYlkFsy0E6hApMmd31iPHfap8NwO8O9GYkbh11BG29T3MOv8w8xUNu0xMAkeprNwY7Hvwu+P8AKf8A0qSPiKiHD7nNHHmjflRSYu9b0FxhH8x/A0Zb43iIkXj5FnHzmlsYWC4Tg5PeaVUczv5KOZpnGr9pP3aIhZesEyQO8557jTlROO4i973rgBmCCXkjwaGA8qE4DgrRuPexJlV7y2wZZzyEj57fkUOwzDcNxGICF3ACjKbj6BV6KefMEDXTnUnaPDm1bS1ZVvYmS90j/EgEyY90aGAd/jVZxHtDcuOTcUZNhb2UDkI/XOmXuN3MQVttoDp7x/ExrFHAWD8GwzXGz+6BoSJ10grrpEb1p7NtQAAAAOlRYewqqAugA2ohPChIaJcgI2kUFi8CwBa3r/Kd/T8qOU1JBoZQPg+LWggkBco9wg+0zQJzSpXUgSwymI6UK+NZs8uR7SM0HQxsPIdKNu4FLnvKJ68/jQeK4etsSXVfBzqfKNT8DSoRy5cBKkgSuxGmmuh11G5qe23tGJgAHUhRA8ABVdZtye7IPQx9KNsXjZBYgkglo6mO789aVFqVLoVXay1mupaTVhCvG5Z4IXxyj61pk44bVwIttclgCJI1IAA7m+538KA4Dwv2QOKxH+O/eQMNVBmDH8R1idhJ5VzFooQ3GUZtXZho0DZQw110+VJjgnyy/wCKcWbFWVZP3aoykw0wdWLEHYQoHxHOrPB4g4rh960yKGtxdtgA5hJZmE8+lZrFXbQsqbRlb/e1MsLa7qxOpJcwZ8aJ7O9oVw98C4DluoVYgExqNYHl8DQ12LhlcJLIuqa/T+/cK4Pcz24HQqevh9alFiq7hjhLzBHBU6gagxupjyIq/VJ1rKKrhnreJ7Z7ckOUwAYel9n12qwW3pXBb1qzyStbD7VxsNVk1r6132dAFYMPpTVw31q0S3pSNvWmBUthqHu4Srq5ajXQfKmm2KQFD9kpVd/ZB4UqAMLkpZKkBp4r21CDPObkiCKRqYioyKUsSBSISg5002ehqYimxXPLGi7GW7Kkd6Z6104IHZh61JaB5U5SI8eUGo8tFWCvg38G9QflQ5w4BHcAIMgjukHedKsc5pAmpeELOLxE8x8v7iibWLHX9etOw/D8yG4VlV3ytB+BEGgHtDlMeNZ+Wx7g/G44hRlEnyMef9pqvTF3D98j4V1bcbMw8jFSe0PMW38GX8ViocGVZ0Xrh/zG9CR9KEv2ue5+fx51YC+v/IX/AMx4+c1Oj/wraXxDPPyFS0OyvwGDuFhIKrPQlj/9NRqx8tOpFajh+DUd69ByGcrEHL09tGmbpbEzzMVX2WYEiLjd3MQgCKV2lmHfZauuF8Pu3V1CImy5fu/xZRyJ2LHX60IaBkS5jcRCgrbALOxykIgHed2ze8YECI2A2qr4hhTdDAanMCQVhQs8yTECF+FbPhaezYhDmB39nKqdIyso0fTmJihuJ9nMZaRHyPctcxP7wLOjZdWYDbbTehodsxqII7vujur5Dn6tmb1oC9jFN61bjU3UBMfcJCkaGTvNGEZFYawGYLM+7Jy78ois/ggbmKTwcH0TvfhSDq0i/uXDbukKT3D3T4cp8I5VueH3/a2g/MivPblzM7Hqf7VtOzFwBcmoOja9CTqPCMtPIuEzo07coTgunvfR19mXAT9Sfzp/s/H+1PpLz33/AAFZkkbL+H1roXyqRvy+orsUwIlSum3ttUqLv+uVC8TxyWUzOdzCqNWZv4VHM0AduLEkwFAkkmBHUkjSqxb739LYy251uGe9G4t6gweunPapreCuXyGxMKm6WAdPA3T95vDYVboBtA0iI0A8um1Aupmv+Gz/ABn/AMtf/XSrUyKVPkVI8o9pTg1QA1Itd0Z0crJacEoS/jkT3mE9BqflQlzjoGyk+JMVp+JiupOwuRhzU3/hN2M3srmX+LI0fGIqpwmIv3NRZ06kn8quMHisXb9xrtv+i64+Qp/i8b7E+VL1AfZU1krRL2pxP+ctu+uml+0jf9YAYec0nxmCve/auYVj962fa2vM22hwP6SaqOTHL+2LbNfEqcLggVzu2RJgcyx6KKcWsclunxlR+FE8Q4WyKGV0vWvu3LbFlHgQdbZ8GA9arQKtY+9iUrDPtsW2tqsKeZJJ/KgClSg0i4rTyo0Lc0wcrSipC9NLVhLGjRSOAmnhTuKQcV6B2P7EPiLftLiBEO3tSwkciLaEMfVl8qynHHFXJlKTukYbBSj5xvG8kco1Plpryr0Tszwl8XaBBQ25hiuiZhuCNyfD1q/T9nGEGtxrj+CkW1/6e8fViatuA4CxhSbdu2FUkkbn61xzlF+6aqybhvCrNgd0qX/iI28hT7+JB5z+Iqe7xS2jlchDnU6CdeZ6etC3FDmYnXlpp4mshni/7VcD9nuZ1ELdBI/qnUfMH41i+A4cBLt1tguRfFm/R9A1evftTwlvFWRZt6ur5/aT3FgHMubmSNNBE868xxGEa2RbKlVXkdiY97xrRRbDpyR4ZdZrfcPw6LdA/wAxEVWHQ5FkR5yJ8KruxnAs9wNckAAMFjVhI3nYEkDqZMbE0dgCTjLzEyC1wif64HxE0s3FRPQ8Ph7GWX+v3LyK5bb6mu70kH41mcx19v11FdimudKeKYCA19K5csq0ZlBjaQDHlO1dG/68KfQBEthY2ppsDTep0pONKAI/Y1ynzSoA8mHWqjH8SJ7qaL15n8hRHF78DKOe9UwBJ01J5VrKXZHKPsWWdgqiSdhWt4TwW3aILw76cpA11AHkDqabwfAC2umrH326fyKfDX1FWP2gAaaePOoSKSClcwdN+p/kj66x41LIOUQIUgxm6KV5+OtVKYnM2VQzt0WSfgtFfZrm5s3QOuS4PqKYw5MMu5mNNN9FUcxzJFBXcA0KTBaIPmFk7bwSJpti7r3WOn63FGWsUQddD1Hx8jrQFFLctlTzG8keBO457cvCmZ+vxFaC/hkeBoABAOsHbUk7QAfMms/jbDWzMbiYOnQ+h7w05zW+PUShw+hnKCfJ1rnID46moyaUqyhkMn7wI28jP4VEWPh8661lTXBm16j6aTTNfD4GuQfD4H86hyYzW9gOGrdutccZhbggcsx5mvaeFuzQQYCTmHWRp+NeDdmO0b4P2kW0uh8uhZkgidZAad9o5VuuzPbPEYlylqxYVomGv3dQCNoswfKa5csJSt0aRaR6ubYYVUYzAsGlRPMVUYjGcTEDNhbcgmRbvXYAE6gBTXmnG+1XEbjZTiyNSCtpRaXeN9W5ddKyjjlLoO6PTOLcZsYZ81xybjbWlXNcbSAIjQRHwqvXHX8WVTKLaNtbUyT43HBk6alVgdTrFYTg15bRzMSzndmJJP8AU7ST6mrzAcdxFu8HtBWEQVOxHMdRy1rRYmX2LftUbWHyYVXAu3iouPA7luRAXSFk/SslxHsv7J3ulwLCufZknMbig6e7706zGnUg6VrO0HGcKYv38Lb9sBALtnGmwyiA3mRpXn/GOO3cU8udBso0AA2EDatI5dqpC231L3gOMLXb96JUWjEnoylPCSQI5CBUXBMOyiWOZohm6tufwobBYV2s5AQisyuzakkKCAoXzLGTPLQ1cYZAqgDYaVyyds3i5LuTg+FMR/A+frTw1QWWCgLrtzn61IE7HQ1IDUTNofKnK1MBx5ef4GpJqFiOlPBFMBwOtPNRU/1oEcy+HzpUo8aVAHhPE275qTgqAuTzVZHmWVZ+DH5UqVHc5jU3tBA2qx7HcLt4m8y3ZKrlOUGAZJ3jU7bTzNcpVTLLDtb2ju4Jjawy2ragaQgn56fKq/8AZ52vxeIxy2713OjI5y5UGoEggqAR8aVKpEem43hlq/pdtq3jsw8mGo+Neb9ocMLGIuWkJKqRGbU6gHX40qVNlIiwzkNHKRRmOshrbk65YUeR1JPU7a+FKlTEYdrhS4CvPQ9Peij7wg0qVbYWZy6EddFKlXSjM7ROCxTW2DoSrLqCKVKtYdSZH0L2Px73bCF4kqp+IrJ/tM4NZkXgsO5IaNASB70dfHnSpVww4zUjX/yebYtyi90neNYPSgV4ndkDOYnwpUq6MiSjaFbsjuXCWMknWrHhVoF1B5nWlSriOhdTYIK7b2pUqyNyQ7UxNh5Dp0pUqaJZwvRFk0qVAh/I1IKVKmBHeOnqPqKca5SoA7FKlSoA/9k=" id="128" name="Google Shape;128;p17"/>
          <p:cNvSpPr/>
          <p:nvPr/>
        </p:nvSpPr>
        <p:spPr>
          <a:xfrm>
            <a:off x="2783681" y="748904"/>
            <a:ext cx="2286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descr="data:image/jpeg;base64,/9j/4AAQSkZJRgABAQAAAQABAAD/2wCEAAkGBxQTEhUUExQVFRUXFxoXGBgXGBgcGBwYGhgXHBoXGBgYHSggGBwlHBgVIjEhJSkrLi4uGB8zODMsNygtLisBCgoKDg0OGhAQGywmICQsLCwsLCwsLCwsLCwsLCwsLC8sNCwsLCwsLCwsLCwsLCwtLCwsLCwsLCwsLCwsLCwsLP/AABEIAMQBAQMBIgACEQEDEQH/xAAcAAABBQEBAQAAAAAAAAAAAAAEAAIDBQYBBwj/xABIEAACAQIEAwUFBQYEBAMJAAABAhEAAwQSITEFQVEGImFxgRMykaGxFELB0fAHI1JicuEzQ4KSFlOi8RWT0hckRFRzsrPC4v/EABoBAAMBAQEBAAAAAAAAAAAAAAABAgMEBQb/xAAwEQACAgEDAgMGBgMBAAAAAAAAAQIRAwQSITFBBRNRIjJhgZGxFHGh0eHwUmLBQv/aAAwDAQACEQMRAD8A86vYEkyLjgHlP0otBAA6da7mpTXK2z6PGoxba7imlSpUjfeie3jLiiA7R0Oo+BqbDKbpMgSByAE69BpQVWvZn/HjqjfIr/eiioZVjluQrvBpGg18hXbPBiugQehA061v+F8PFwwSBAnbpWiwfZu2QC0kkT5VooSaMpeI4sU921bvWufqeSHg56EVHc4OwE6/CvbP+H7PT51Hd7O2o6UvJfqOPj3wPEhw1qjOCP8A3r1fG8GRNZEeX1qlxGDXoKlwaO3H4up9jz18Mw3FRZd63pw69BWfvWst52XQgwNARBUcjUu0dC18ZvldCoZiyGSTDA6+II/AVDR165bUMGaJA2E7GpbPDf3QvvmS03ukKXZo393ur6nSqjjkzPJ4tpMPDfySv+CrroFSYfiFtbveslrI3GaLmuxJO3XUAefPU4HhlnEd7CxIGYBjMgfynvR4wRVeVJGK8c0knTT+a/llC3DLYAN59xoEhiP6unxoG5hEyhMikA6HXNrvJmrrGcIe22VgAx1yyuo6oRow8NCOlDnDdBPofgelZ3KPVm8MGi1Ed1Rl8kv5Rnn4SobMkr4SSN+ZM6UTkaSApKk6AskjQCSYE6AbCrSxYZzlANencO/ZlZhfbs5aAWCkAT0mNY61pCUpM8zxLRaDTrndFvoo8/f90eH3+CXTmuPECSqrqdDz5fjrUjkqEUCcoEyNZjxr3nH9gcOoGQ5RoBmYz09a89/aN2K9kGa27EpaN1Y+8oPfXTciSfSumj5l12MrbvCNfpTmI+Hgaz/DCWdQ1wohOrEZgPSr3HFUvtbS9bvJurpGungSNKKQrJSsjaokskXAwGsfMT/eg8c50AJ9NKfxC2qIjLcZmYGddqe1BYTicc5zDTvADbXSfHoa6iEgTvz85qow91pnWDI9KIxWJObQnYb+QpisusDbBvWRH+an/wBwrZrgxiWeypjEKS+HJ2JzEtbJ5a95SeebrXn/AAO83tbZ3hwZPhtWi4o7LfUMQr5090xDSDoTtFFFI02W9/8ALL/vP5UqsP8AizFf8y38FpUe0B47hcQHUMOekdD0ois9wfEFXy8m+o2q+D1yyjTPUwZt0bH12mzSzVFHTvHUfwNyLojSQfpVdNG8I/xPIGgqMraNhYxNwbXHHll/OrCzxW+P/iLnwU/jWcS9UovGhSOmWFP0+iNIeM3zvfc+aKaceNXz/nk/6BWbF81IL9PeZ/ho+i+i/Yu34jdO9yf9H9qFa83UfA0AL1RYviAQTuTMLzMfQeNK2weOMFbC8VjBbXM7BR1M78gOp8KynE+IM1xipCqYkTqdIgkHuiANPKgcfiWuuXcg5duar4IvXxOp3MCgsdie7lGg36knqT+UeEVvGFcs8jUapz9mPC+5JYxBRmZYncknvQd1QRPKJ0iafbxLgDLcbYscrEayQfkJ61BZcle9BO66aj1GwqbFEKylREiY8Rv6EGt4s4qJsNjyzgOEuhTOW7p8H0YHxDVYYO3ZhriWrdphPed2vuTtFtSNIHNvjVZguFrfecOXKpbm4IDXAS5GW2gjMPdidd+lXJ4GbfskSc1xJRHRlOkypbVQ4AJgkUm1YJFPiO0V5GjM4PiSoPkq6fCr3gvFRiO4qsbgEmPvb94AeETVbdwq3QUuAgjSDowNUnCbr4bGICSCrAT1B0n5j4VnljuR16LUPDlT7Phm5tu42DDyJ/Or7C8b4lcIS1cus0aDuSR17wqHE8XZyC8d3wihPtpFwOHgjWQenrXIn8T6qUfM5ljjfxVj+NcS4rbj27XQBrqLcQTEyoqjx/HMTcyrcuP3Ccu2kgqy+RBIirbj3FfaK7vck5Qsk6awNAPTbrWcZQYJJknp15Vacn0slY9JsrPGEX8El9O5QcW4Ubdv2qEeyDBY2IJHz2FVOHRmaFmT0rTdosegtrZWSwuB207sAGBM7zrUOFYxqoXyrphdcnyWrjjWWSxe72BeIp7oPIUHaWTH6FWHFLeszQ2CSZPJYJHOJA0+NUzCKtj8JbmQRJ5QBv60ZilHtAGgCQCT066eFHYbD211JOhnp6VXY3DnM0RAPXXWhFONGtsdlWsYhAt1LiFWhwQCWKESqTJAJFU/Gz7XFuxkK7jppIUGR4VquAcSsmzaQCbigQMpka6wx5HwrJYi5/72/wDD7ZzHhmJqgSTJ/wDwdf4v+n+9Kgfbt+gKVLfEry2ZBzBBG+9FJjLhIAJJJgARMnblUD2GJAGpaAPMmBVvxLB20xVy2Ay5YKlGAiLYbQZTGs61FGabRDjbWJstluq6Npoy66iRy00Iof7c/N/p+VF4jihuPN+7iToIYOrEwABMgToBRGExmEVSGu4uT/LaKx0IYGTS2lub7NleMY/8f0/KisHxS5bJIKmRGv8AaKlxN7COVW2zFjAk2gDmJjYafIVbWuzthY9oXadQyCAB/NI96eVJ7Vw6LTyL2otgK9oL3IW/g3509eP3+lr4N+dFXMFw8GDdvA/0/wD81PhOFcPdgFvXSTsuoHxyzQoRKeqzf5MDXjWJ6Wv9rfnUycTxJ39kP9J/9VH3+z+DW49s4i4rIDnXcrCyWJy8hr0pYLs1YvT7DFPcyxmI2UH+Igc9QANSduZD2L0BanL/AJP6juGtibrZV9n1YxCqBuWYtCjxNWPEr1jChs49vfK6BohTyY22mAJMBhPRVksR+Mcft4RPs2FE3ARmcwcpHNiCQ90f7U5Swmsg7SSWJJOpJMknmSTvTUVHoKeec1TbaH4vG3HOZ2LNsJ8PDYDyoZl1Emefma61wDU1E98DXnTMQoPG/wCvCrHB8NF5dWNsnKodpKlnzZFUATqBJPhHORQJca4YUHMdANvh41s8DfFuJUMVNuFaRGUlWI2hgrSJ8aLoqEJTdJWegcJwKWkUACQAJyqCYAEnKANgKuFw6vAI03jkZBB28Caom4tZtwLl1FkbFht100q4wV8FVIYMpEgggyDsRG/KpKcJJW0ecdo+FjDuECuPYhAWYlg6XSxVQxAn2ZAUSTo3hWY7Z2Y9jeHWD9R9DW17cYxbjOEuQAyW3tAsYuhvaFz9092Bptz3rJ9rRmsKvPMPoatdCGaTE3UgaxoOQ/OgbuJt+J9B+dVTcVS5lGqtlE5mVUkDkxqtxGMbQjLGuzBto0kbVDxYz0V4tql0l+iNKb6MIgkaHUDcaiNd6Hv4y2glo66sJ25ASZ1rJ43EZySrOg17peRtsIAPxoW2GAJ1id9xPnVRSSpHJm1mTNLdOr/Inxd/2js8RJ2onCXGAVi6kFiuWe8IjvHoD+FArJIAGp5Dn5CnvhyPeUjXUEQfKDqKEczdlvimkRz3pljDxrO4g+VRWXzPPLYfA0VaaarqNE1yWEEneaivWwWZmmCZ03+elSqaV3VT5GqoZadkrId8skRJEEqZEaEjlE1WFgbjECO8341adjEBuE6jKhOnM7a+hNVFl41yg+c9fA0hXR3LXKm9uP8Alr8X/Ou1G0285Dex3Ccz+2eO57qSJnUZmHIDl/agu0Cxjm8UH/4yPwoRrzWyA0eDW2+YKnT5GpLitcuC7mLkCDJExBgTz350buKZltv3Rtq1Nm4TEArvvvyFVN60ARHOrax7lxToYGh30YVX3QCyjx5b0hD7VoLDjSCp+c/hXoV1NDEaifj5VgLalhIQkSPxmt3h7oNtNR7kfIRNcWri7i18Ts0j95GU4ssXDMbUuCXh7ZdQYDHT+k1B2khrggzAIMefOpOynDmuX4XQBGzMdlBEAmNdTAAGpJ0rqxe6jln7zNfcwrXOL4wBTkKAO0SF9pYRQPFjJhdzHnQfHeNph7YwmD7oGj3FIJn72Vh7zmYZ+XurA1qftZ2mgvas90n33WJmAsAjd8qgM3IQo51j8LZLHaT8hWz4EOWFHyH661G94ASTP60ApmOTK3eIOmkUCzzvUis7duyZP68KltKWBJG9CRJra9lezb30LhlUA6AgmSIPwmolKlyVCDk6Qzs1wySrMOhAFbHjPZw3kVkOVzoQR3WAB5jYiN/GpOD8CK5SQ3vAHT4+lay5dIUKWBUHSueWQ9DFGUOjo8pxWAa2+S6BqViNIAkETuZ8elak8ZQgW1uZFAiVAkRGUoxkKRvsazXHuIe2vM42JyoPAfnqfWpkFvKnukkmVAMjaCZ0IMnadqpSZ7uHRQ2bZq337/L5f9LjjPCLly415MtxDLBba5WUtGZsg97MdSyz5CK8841xP2jwNlkDz5mPl6V6jw+4bSAAaaRB1knl03qt7S9m7eNDXLICYlfemAHMDS4Bs0bN4iZ3raM+zPG1XhzjcsfQ8yF7wmpLdyQB/NH+4EVBiLZRirAqwMFSCCCORBrtttF8XHy/uapnlR4YVw/g1y6JUGBz+Ppy61HisI9kkGQDuBMHwI5+fwrS8H4gotFQQNfwj8I9KrOP4kNEGfH4/H+5qhNUiswWLa04dDDDUEgH61LiuIPcYs5BJMmBAnyoIVLbSgkNt90Dz/A/nRVihrjSfKibVNFBC0220j404VHY3jxj51QzSdnsI1kXSwI/clgeUEEjX0rN29hWzLgWMUeiZR6Wx+ZrG2N/SkSzs0qsvaDw/wBopUUFEFyymoIy+YlDQN60qNIQhf5TtPQtuOgmp8ZbuW/fU/UfGhEx5U6THQ/h/epfJMeHZYJgrV5ff9WG3hIgg0BxHsxcskXEh1BnMuseYO3rXSVY5rTC02x5L6j7oPqKtOH9oGtNkvjIdifukeI6eO1ZNSj05O2MsWXiXD9exkmw5gieckHr4iiuE2nRnM/5bR8vyrY43g1rEDPaIRo2Hun+k/d+YqlTB3EYoyMTBUQOZ0E9PPbyoUrXBLxPHL2iqwHDbl64EBk6mT7qruWY8lH61NaTHY5MNb+zYf3plnOjZo1dujRoB9xdNyahv4kYdDbtkZzq7+R0P9IPujmZbpFAWkwAdfUk8zW9bfzOcaq1JdxELlXQfM+JpmI7unPp/ahGmN6joA27B3MfT0qz4f2duuy5rVzK2xIKr8a0fYTA2FtfaMSqxnOViMzd2Qci8tdz4VsO1fHFw1hRbCkuoeCIHs8yidB1ZQPWs5S7I2hCqlLoednh625TKBGhka+pozheOuYczbOh3UiR5gHY0EeIG68xOYyT57momx2pgAidJnafPWs9snwz03m06jurjoq9T0nCdqbGfJ7XNMAFgRqRMTAH0qm7U9pc7ezsuMon2jDWZkBVPxk1l8LcBzM9tDJ2IPIRoJ0qa4UjRAsa6T8NTR5SRzYtQvMVrixLEzyA09d/oKteH2JcT6+HgfHlQXDMNAHh9eVX+CsxUn1UXOtz4tdPj/C4LOdvDb4/r4UkWXzAlToAR4Tv1GtQXTpSXEAcwPh9P70zHbxwU/bns+t5ftCDvoMtwDcqPveJA+XlWDNpQQZ2EKI26Enn1r2CxjAdiPKRr4HWvN+0uBFjEOqSqHvIPA8tOhzD0rWLPA1+m8t+Yl16lLbtEbMfSaY9rqSaKzE86jYVZ5bogFqisPhWILBSVXQnkCdQD8D8KYBRuD4g9tXVcpV9wwnUTqPHUiiwSXcGU7eMmjLbaTQZ+6Of50bHKrQidW0pWDFwHTcHXbT/ALVEhom3iIBAVZP3iJMaaa6DbpTGWWHxjtoQHAmJYhR4EAd71qru3G9pJULmGwECB4VNgsbkzSCZM6QKgxmJDXFYA6COXWpT5G+gTNKoPtS/wn5UqqySsN2dBP0+ulSXcJeUSUIA5wPwNV4vDqKt+Fceyd1+8m3iPzHhUk0VwueHkeh8eop32ke7dDMORVtvINII8NKuOK4JWU3bIDaagc/EflWfuYnUe6RAO0EaaggHkZFIArAcTayf3bSv8JGh9OR8q1GJ4jdvBLdq0WusCQggsNO9J5KBudKz2EPdzuig/d6nofCirnFX9m1mwCFaDffWbkbBj922OSc9SZJ0tQUfa7mnmy27L4KyO9321J7xMkfLf0rovsRltgLpvos+bE6/HpVhwW2qsXa2HjWTqF8Sv4kEeVWvE1S6pIVRzIOgP9J+6fI1m8iTo0jglKG6L+RkMfhrllgtwalVfQg91wGXbwIqMXQRRXFMSWf94JKotsdcirChuRI01oDB2wzd4gAfPwpmPQv+z1/uMDoAGIM7yVkRy2qw4ziGfE4pnytHdUEaBVuJCx0HSiOynBHxJuZIVQuQmJEsREDQTA61ssV+zgXGust8hrkkgoCBLKdIIO4+dQuG2bylcIx9LPPrGOZUJhAAYUBBE855miE4ztNu2fT+9bL/ANm6jKrXnMD7qgCZ31JrKXuDi27IR7rFdfAkfhU70jsw6OepajBqku/x6/t+SRBhOIKRHsQTqSdeZJ1M+NS3gGibarGuhJ+tF28OoiBoKmFgEcvH86l5Gz2NN4Thw1LI7a+g7AOAI086Ov4xUEkx0HM+Q/GqjE8cS2AiQ5GhPIevOgPaF+8TJPOoprk3lq8U57IO2H38c13QkheQH49TRFq6yH/EYeeo+tALagVIp8PCiztTTVIurOJJggkk8v7aTRHGcEuKwzSo9oqlkIOuYCYB6HaPKqvhzS+XnBjwYCQfl860WHI0YaBtY5Tz8qcWcWqxRlHazyQCuZKKx9rJduL/AAuy/BiKgrc+Pap0cC04ClXRTEK4mhoVDqKMbY+RoNfeFNCYcs9TRFrzmoE5VOtMaHcqiJqZjUJoAWalTa7SsKKy5w4/zfryFRpgCdiPjH1rbtgwakw3CjcMKMx9Pxp0Z2ZCxwhgJLxPJW+sUSMEq6mDHPXbxmtXxLgpw9vPdIWdFXWSenl40DwXs8+LDvmRLaGJYkZngGBGwAO9NUuWFlGLLXZOYKg01In0HPxNWeFwzW1lCvOGzKVO2YECZ5fEUFj+ICw5t5TnU5YB58gN5FVdxrl0nO2Sd1206mN9eX0pSdjQTjsb7NwbZGbchfut05j5mgcTxK4+5CKeS6DxP/ajAVVQqLJ/ib8F2HrPnQbYZnLMZAXcwTLHZdOvXapotNroCAflUtvD5iB86fft5ACxEnZRqfWrbg/ChdJa6yBFy5ibmQKJjoZ1I260UItOxfEzgmvNBcBMwSQMxlUC5jOWSykmJhaur37Y8QQQmHtIdpLO8HygVb8M7FYVbTtlLJcUS5uHJklWAEHaQNd6y/aTsvhO4MIxSJ9q7FihGkZSx3Gu0701Apv0B2/aNjnMm8k+FtB6QRXP+ITcl7+rnUkCJ5QQAAPMUNh+CWhAUNfbQSdEBJgE9BVr/wAFX3b90EeQcwYEBV1HdaSM2sg6RlFDxWro2wajLglug+SsXi7EnKFqG9dd/eaR02HwFWS9heIroLAuAfzJJ9SRRI7HYwLmOGuLpJhgY9NfrSjjXYeXV58iqcm1+hnfZ0RhXKHqDy/Ki8RgLlsZnQ5dszAr6SJWfOoF66r/ANQ+K/lRKHYzx5HCSlF0w/5Cnk/r8ahtNPiPAgj5U89BXM1XDPs9Nlx5I+w7DMLKwwMHlWj4XcJWCdd/j+jWesHTrVvgL3eE84HyP5CpT5FmVmP7VYXJibn8xzj/AFb/ADzVTkVsO2libltuqkfAz/8At8qzLWq6V0PktVDblkvj9wUV2pntVEVimc4rmx8jQaHvCjgJ0qvtDvVSJZY2t/SiVqCwN/hRAFDKQophWpYrmWkOiHLSqaPCu0WFHqX/AIdYRYcCCOcg+gHePmTWR4xjlsP+6ctJ7sQD6n8areM8QcAkEyTqSZPmZ3NZ65eKgsdWbr9T4VUUc8UEce4vcvMTcaWiCdAAP4QBtVceM3oyW2KjogAJPUkd4n1qJcO1xoUEx7xOgHUsdhU620Q9wljGpj45BuB4nU+FDdl0Nw+FZDJjOeR1I8SeRn1qZcPrrJJ5b/KmJe1iD6b/AAFPsMZb2k5YMIIALcs53j4mgY9lgE7AaEyIB6TtPgJPhXcPwq/dK+zTMW2UHUjryIAHM6UAMO5EtBVWEkHYMQI6xpy2rU9kuPLhsRnuEBHGVifuiZUjoJ3/ALVE5bVZcVZq+Afs9vZkxftrNpvZw1kLmHuwVJJOpIB0EUu0GFSUGKC2bjKQjDKMwG4AjK4E7EaTpE1rsV2hCFVzLmZcyjWSu86fHwrz3tPxj7bdXvEWrMsSRA2gtrrtIH9TVjgzScq5d/Cki541VkNnEXijhbj3bRPcTKAWiNY3CyOZ8apuIi8zyR3UDZVlSzbQpAO0+WgPWn8SxcXHti9CBLbqUB0lRCqu7P3iJMKACd6qr+DVLQxCHN+9CEE6glSZYbkaHWupszNF2Xxpw6i6xZHAaVbTOVVjkAHdCiV7zDcRzit9gP2hpBBJZTbDaIFYXC2tsgkAwuuavMUZWVRsFGUFeYmZ6gE8v0EFHL8KRUXzyj0k9vbFzPaK3wIIdgoAUc+9Iin4PjXsjbGHvXboNzIbdwgjKVJJMjMsCDvXnmHw7spKgkDQ+evL0+lT2MXeSVQusiTkJ2PONoPWkabk+qNVe4/cGGusuT2qANDiAVYkMco8VuKI/hFU44ReZHxGIwtsWyDcOQtauIInmuSR4gT11qoW+ZDFbZMR3rS6gdcoAbnqZqW1ipuq5UBIhkUn2beJRp8NB05UjNxZn711RdcWrkqp7rN3Sw5TpAMeW1F4PFOx0UMw3BOU+p/E+FVXFOHm0WhkZJC93NAMSFGYBiADuRyrR9iuFaNfYd3KUtiNydCfHeAedN9KHicoyuLpkuAxuYlSGVhyYQY/EeIq1tXIZfMfPSjcFYe2yriLLG33lYOO8Oa5XGk+9EHQxMgmIuOcN+z3kKsXsvD23Igkc1YcmB3FYThTtH0+g1qzLy5+99znaNM9u23jHxH5is4bNal1z2mG8HN+J+pqsGHqovg8nxHHtzfminOHqO5hKu/s9cOHqzgoy+IwrLqKrcOpljudzW2bD0MeGJqco13ppkuFlPg+8unrRXsqs0wIAgCKX2akNRorctdC0Y2GqM24oHRBkpURlpUBRUYjDxDHU7f96EvWM2pMH11/Ln4VZ+18jTSqn7vwNdLgc5WYlkFsy0E6hApMmd31iPHfap8NwO8O9GYkbh11BG29T3MOv8w8xUNu0xMAkeprNwY7Hvwu+P8AKf8A0qSPiKiHD7nNHHmjflRSYu9b0FxhH8x/A0Zb43iIkXj5FnHzmlsYWC4Tg5PeaVUczv5KOZpnGr9pP3aIhZesEyQO8557jTlROO4i973rgBmCCXkjwaGA8qE4DgrRuPexJlV7y2wZZzyEj57fkUOwzDcNxGICF3ACjKbj6BV6KefMEDXTnUnaPDm1bS1ZVvYmS90j/EgEyY90aGAd/jVZxHtDcuOTcUZNhb2UDkI/XOmXuN3MQVttoDp7x/ExrFHAWD8GwzXGz+6BoSJ10grrpEb1p7NtQAAAAOlRYewqqAugA2ohPChIaJcgI2kUFi8CwBa3r/Kd/T8qOU1JBoZQPg+LWggkBco9wg+0zQJzSpXUgSwymI6UK+NZs8uR7SM0HQxsPIdKNu4FLnvKJ68/jQeK4etsSXVfBzqfKNT8DSoRy5cBKkgSuxGmmuh11G5qe23tGJgAHUhRA8ABVdZtye7IPQx9KNsXjZBYgkglo6mO789aVFqVLoVXay1mupaTVhCvG5Z4IXxyj61pk44bVwIttclgCJI1IAA7m+538KA4Dwv2QOKxH+O/eQMNVBmDH8R1idhJ5VzFooQ3GUZtXZho0DZQw110+VJjgnyy/wCKcWbFWVZP3aoykw0wdWLEHYQoHxHOrPB4g4rh960yKGtxdtgA5hJZmE8+lZrFXbQsqbRlb/e1MsLa7qxOpJcwZ8aJ7O9oVw98C4DluoVYgExqNYHl8DQ12LhlcJLIuqa/T+/cK4Pcz24HQqevh9alFiq7hjhLzBHBU6gagxupjyIq/VJ1rKKrhnreJ7Z7ckOUwAYel9n12qwW3pXBb1qzyStbD7VxsNVk1r6132dAFYMPpTVw31q0S3pSNvWmBUthqHu4Srq5ajXQfKmm2KQFD9kpVd/ZB4UqAMLkpZKkBp4r21CDPObkiCKRqYioyKUsSBSISg5002ehqYimxXPLGi7GW7Kkd6Z6104IHZh61JaB5U5SI8eUGo8tFWCvg38G9QflQ5w4BHcAIMgjukHedKsc5pAmpeELOLxE8x8v7iibWLHX9etOw/D8yG4VlV3ytB+BEGgHtDlMeNZ+Wx7g/G44hRlEnyMef9pqvTF3D98j4V1bcbMw8jFSe0PMW38GX8ViocGVZ0Xrh/zG9CR9KEv2ue5+fx51YC+v/IX/AMx4+c1Oj/wraXxDPPyFS0OyvwGDuFhIKrPQlj/9NRqx8tOpFajh+DUd69ByGcrEHL09tGmbpbEzzMVX2WYEiLjd3MQgCKV2lmHfZauuF8Pu3V1CImy5fu/xZRyJ2LHX60IaBkS5jcRCgrbALOxykIgHed2ze8YECI2A2qr4hhTdDAanMCQVhQs8yTECF+FbPhaezYhDmB39nKqdIyso0fTmJihuJ9nMZaRHyPctcxP7wLOjZdWYDbbTehodsxqII7vujur5Dn6tmb1oC9jFN61bjU3UBMfcJCkaGTvNGEZFYawGYLM+7Jy78ois/ggbmKTwcH0TvfhSDq0i/uXDbukKT3D3T4cp8I5VueH3/a2g/MivPblzM7Hqf7VtOzFwBcmoOja9CTqPCMtPIuEzo07coTgunvfR19mXAT9Sfzp/s/H+1PpLz33/AAFZkkbL+H1roXyqRvy+orsUwIlSum3ttUqLv+uVC8TxyWUzOdzCqNWZv4VHM0AduLEkwFAkkmBHUkjSqxb739LYy251uGe9G4t6gweunPapreCuXyGxMKm6WAdPA3T95vDYVboBtA0iI0A8um1Aupmv+Gz/ABn/AMtf/XSrUyKVPkVI8o9pTg1QA1Itd0Z0crJacEoS/jkT3mE9BqflQlzjoGyk+JMVp+JiupOwuRhzU3/hN2M3srmX+LI0fGIqpwmIv3NRZ06kn8quMHisXb9xrtv+i64+Qp/i8b7E+VL1AfZU1krRL2pxP+ctu+uml+0jf9YAYec0nxmCve/auYVj962fa2vM22hwP6SaqOTHL+2LbNfEqcLggVzu2RJgcyx6KKcWsclunxlR+FE8Q4WyKGV0vWvu3LbFlHgQdbZ8GA9arQKtY+9iUrDPtsW2tqsKeZJJ/KgClSg0i4rTyo0Lc0wcrSipC9NLVhLGjRSOAmnhTuKQcV6B2P7EPiLftLiBEO3tSwkciLaEMfVl8qynHHFXJlKTukYbBSj5xvG8kco1Plpryr0Tszwl8XaBBQ25hiuiZhuCNyfD1q/T9nGEGtxrj+CkW1/6e8fViatuA4CxhSbdu2FUkkbn61xzlF+6aqybhvCrNgd0qX/iI28hT7+JB5z+Iqe7xS2jlchDnU6CdeZ6etC3FDmYnXlpp4mshni/7VcD9nuZ1ELdBI/qnUfMH41i+A4cBLt1tguRfFm/R9A1evftTwlvFWRZt6ur5/aT3FgHMubmSNNBE868xxGEa2RbKlVXkdiY97xrRRbDpyR4ZdZrfcPw6LdA/wAxEVWHQ5FkR5yJ8KruxnAs9wNckAAMFjVhI3nYEkDqZMbE0dgCTjLzEyC1wif64HxE0s3FRPQ8Ph7GWX+v3LyK5bb6mu70kH41mcx19v11FdimudKeKYCA19K5csq0ZlBjaQDHlO1dG/68KfQBEthY2ppsDTep0pONKAI/Y1ynzSoA8mHWqjH8SJ7qaL15n8hRHF78DKOe9UwBJ01J5VrKXZHKPsWWdgqiSdhWt4TwW3aILw76cpA11AHkDqabwfAC2umrH326fyKfDX1FWP2gAaaePOoSKSClcwdN+p/kj66x41LIOUQIUgxm6KV5+OtVKYnM2VQzt0WSfgtFfZrm5s3QOuS4PqKYw5MMu5mNNN9FUcxzJFBXcA0KTBaIPmFk7bwSJpti7r3WOn63FGWsUQddD1Hx8jrQFFLctlTzG8keBO457cvCmZ+vxFaC/hkeBoABAOsHbUk7QAfMms/jbDWzMbiYOnQ+h7w05zW+PUShw+hnKCfJ1rnID46moyaUqyhkMn7wI28jP4VEWPh8661lTXBm16j6aTTNfD4GuQfD4H86hyYzW9gOGrdutccZhbggcsx5mvaeFuzQQYCTmHWRp+NeDdmO0b4P2kW0uh8uhZkgidZAad9o5VuuzPbPEYlylqxYVomGv3dQCNoswfKa5csJSt0aRaR6ubYYVUYzAsGlRPMVUYjGcTEDNhbcgmRbvXYAE6gBTXmnG+1XEbjZTiyNSCtpRaXeN9W5ddKyjjlLoO6PTOLcZsYZ81xybjbWlXNcbSAIjQRHwqvXHX8WVTKLaNtbUyT43HBk6alVgdTrFYTg15bRzMSzndmJJP8AU7ST6mrzAcdxFu8HtBWEQVOxHMdRy1rRYmX2LftUbWHyYVXAu3iouPA7luRAXSFk/SslxHsv7J3ulwLCufZknMbig6e7706zGnUg6VrO0HGcKYv38Lb9sBALtnGmwyiA3mRpXn/GOO3cU8udBso0AA2EDatI5dqpC231L3gOMLXb96JUWjEnoylPCSQI5CBUXBMOyiWOZohm6tufwobBYV2s5AQisyuzakkKCAoXzLGTPLQ1cYZAqgDYaVyyds3i5LuTg+FMR/A+frTw1QWWCgLrtzn61IE7HQ1IDUTNofKnK1MBx5ef4GpJqFiOlPBFMBwOtPNRU/1oEcy+HzpUo8aVAHhPE275qTgqAuTzVZHmWVZ+DH5UqVHc5jU3tBA2qx7HcLt4m8y3ZKrlOUGAZJ3jU7bTzNcpVTLLDtb2ju4Jjawy2ragaQgn56fKq/8AZ52vxeIxy2713OjI5y5UGoEggqAR8aVKpEem43hlq/pdtq3jsw8mGo+Neb9ocMLGIuWkJKqRGbU6gHX40qVNlIiwzkNHKRRmOshrbk65YUeR1JPU7a+FKlTEYdrhS4CvPQ9Peij7wg0qVbYWZy6EddFKlXSjM7ROCxTW2DoSrLqCKVKtYdSZH0L2Px73bCF4kqp+IrJ/tM4NZkXgsO5IaNASB70dfHnSpVww4zUjX/yebYtyi90neNYPSgV4ndkDOYnwpUq6MiSjaFbsjuXCWMknWrHhVoF1B5nWlSriOhdTYIK7b2pUqyNyQ7UxNh5Dp0pUqaJZwvRFk0qVAh/I1IKVKmBHeOnqPqKca5SoA7FKlSoA/9k=" id="129" name="Google Shape;129;p17"/>
          <p:cNvSpPr/>
          <p:nvPr/>
        </p:nvSpPr>
        <p:spPr>
          <a:xfrm>
            <a:off x="2783681" y="748904"/>
            <a:ext cx="228600" cy="2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823385" y="333375"/>
            <a:ext cx="6447501" cy="990600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b="1" lang="en-GB" u="sng"/>
              <a:t>VARIABLE COSTS</a:t>
            </a:r>
            <a:endParaRPr b="1" u="sng"/>
          </a:p>
        </p:txBody>
      </p:sp>
      <p:sp>
        <p:nvSpPr>
          <p:cNvPr id="135" name="Google Shape;135;p18"/>
          <p:cNvSpPr txBox="1"/>
          <p:nvPr>
            <p:ph idx="1" type="body"/>
          </p:nvPr>
        </p:nvSpPr>
        <p:spPr>
          <a:xfrm>
            <a:off x="823385" y="1476375"/>
            <a:ext cx="10521948" cy="4890558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b="1" lang="en-GB" sz="3000" u="sng">
                <a:solidFill>
                  <a:srgbClr val="FF00FF"/>
                </a:solidFill>
              </a:rPr>
              <a:t>Variable costs= </a:t>
            </a:r>
            <a:r>
              <a:rPr lang="en-GB" sz="3000"/>
              <a:t>This cost changes with </a:t>
            </a:r>
            <a:r>
              <a:rPr lang="en-GB" sz="3000" u="sng"/>
              <a:t>output</a:t>
            </a:r>
            <a:r>
              <a:rPr lang="en-GB" sz="3000"/>
              <a:t>, the more you make the higher the costs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You only pay these if you make something e.g. materials to make wooden boxes.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Eg. Stock, packaging, raw materials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b="1" lang="en-GB" sz="3000"/>
              <a:t>Variable costs= price per unit  x  quantity sold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818937" y="212218"/>
            <a:ext cx="6447501" cy="990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b="1" lang="en-GB" u="sng"/>
              <a:t>TOTAL COSTS</a:t>
            </a:r>
            <a:endParaRPr b="1" u="sng"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818937" y="1354667"/>
            <a:ext cx="11051329" cy="4927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This refers to the total costs of the business – which includes the fixed and variable costs.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The formula is:</a:t>
            </a:r>
            <a:endParaRPr/>
          </a:p>
          <a:p>
            <a:pPr indent="-43815" lvl="3" marL="41148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550"/>
              <a:buFont typeface="Noto Sans Symbols"/>
              <a:buNone/>
            </a:pPr>
            <a:r>
              <a:t/>
            </a:r>
            <a:endParaRPr sz="3000"/>
          </a:p>
          <a:p>
            <a:pPr indent="-205740" lvl="3" marL="41148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550"/>
              <a:buFont typeface="Noto Sans Symbols"/>
              <a:buChar char="⚫"/>
            </a:pPr>
            <a:r>
              <a:rPr lang="en-GB" sz="3000"/>
              <a:t>Total costs = Fixed Costs + Variable costs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If a business is making no products, the total costs will be the same as the fixed costs, as these have to be paid no matter what!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0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0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</p:txBody>
      </p:sp>
      <p:sp>
        <p:nvSpPr>
          <p:cNvPr id="142" name="Google Shape;142;p19"/>
          <p:cNvSpPr txBox="1"/>
          <p:nvPr/>
        </p:nvSpPr>
        <p:spPr>
          <a:xfrm>
            <a:off x="8774506" y="2955482"/>
            <a:ext cx="154305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Remember this for your exam!</a:t>
            </a:r>
            <a:endParaRPr/>
          </a:p>
        </p:txBody>
      </p:sp>
      <p:cxnSp>
        <p:nvCxnSpPr>
          <p:cNvPr id="143" name="Google Shape;143;p19"/>
          <p:cNvCxnSpPr/>
          <p:nvPr/>
        </p:nvCxnSpPr>
        <p:spPr>
          <a:xfrm flipH="1">
            <a:off x="7980272" y="3440230"/>
            <a:ext cx="739799" cy="682649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1091354" y="239949"/>
            <a:ext cx="6447501" cy="9351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b="1" lang="en-GB" u="sng"/>
              <a:t>ACTIVITY 1</a:t>
            </a:r>
            <a:endParaRPr b="1" u="sng"/>
          </a:p>
        </p:txBody>
      </p:sp>
      <p:pic>
        <p:nvPicPr>
          <p:cNvPr id="149" name="Google Shape;149;p20"/>
          <p:cNvPicPr preferRelativeResize="0"/>
          <p:nvPr/>
        </p:nvPicPr>
        <p:blipFill rotWithShape="1">
          <a:blip r:embed="rId3">
            <a:alphaModFix/>
          </a:blip>
          <a:srcRect b="3732" l="2362" r="29767" t="17059"/>
          <a:stretch/>
        </p:blipFill>
        <p:spPr>
          <a:xfrm>
            <a:off x="907185" y="1017236"/>
            <a:ext cx="10150281" cy="575609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1708152" y="1524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b="1" lang="en-GB" u="sng"/>
              <a:t>ACTIVITY 2</a:t>
            </a:r>
            <a:endParaRPr b="1" u="sng"/>
          </a:p>
        </p:txBody>
      </p:sp>
      <p:graphicFrame>
        <p:nvGraphicFramePr>
          <p:cNvPr id="155" name="Google Shape;155;p21"/>
          <p:cNvGraphicFramePr/>
          <p:nvPr/>
        </p:nvGraphicFramePr>
        <p:xfrm>
          <a:off x="1046691" y="9736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{8A6F39B0-A489-459D-9785-54783B6EF3DF}</a:tableStyleId>
              </a:tblPr>
              <a:tblGrid>
                <a:gridCol w="2600050"/>
                <a:gridCol w="2600050"/>
                <a:gridCol w="2600050"/>
                <a:gridCol w="2600050"/>
              </a:tblGrid>
              <a:tr h="380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</a:rPr>
                        <a:t>Products made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</a:rPr>
                        <a:t>Fixed costs (£)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</a:rPr>
                        <a:t>Variable costs (£)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u="none" cap="none" strike="noStrike">
                          <a:solidFill>
                            <a:schemeClr val="dk1"/>
                          </a:solidFill>
                        </a:rPr>
                        <a:t>Total Costs (£)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575" marL="68575"/>
                </a:tc>
              </a:tr>
              <a:tr h="4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1000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1000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</a:tr>
              <a:tr h="4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10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1000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500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1500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</a:tr>
              <a:tr h="4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20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1000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1000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2000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</a:tr>
              <a:tr h="4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30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1000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1500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2500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</a:tr>
              <a:tr h="4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40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</a:tr>
              <a:tr h="4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50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</a:tr>
              <a:tr h="406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u="none" cap="none" strike="noStrike"/>
                        <a:t>100</a:t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34300" marB="34300" marR="68575" marL="68575" anchor="ctr"/>
                </a:tc>
              </a:tr>
            </a:tbl>
          </a:graphicData>
        </a:graphic>
      </p:graphicFrame>
      <p:sp>
        <p:nvSpPr>
          <p:cNvPr id="156" name="Google Shape;156;p21"/>
          <p:cNvSpPr txBox="1"/>
          <p:nvPr/>
        </p:nvSpPr>
        <p:spPr>
          <a:xfrm>
            <a:off x="1046691" y="4330701"/>
            <a:ext cx="10400244" cy="2154766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75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Complete the above table in your books showing the total costs if: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75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257175" lvl="0" marL="2571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Twentieth Century"/>
              <a:buAutoNum type="arabicPeriod"/>
            </a:pPr>
            <a:r>
              <a:rPr lang="en-GB" sz="1875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40 products are made</a:t>
            </a:r>
            <a:endParaRPr/>
          </a:p>
          <a:p>
            <a:pPr indent="-257175" lvl="0" marL="2571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Twentieth Century"/>
              <a:buAutoNum type="arabicPeriod"/>
            </a:pPr>
            <a:r>
              <a:rPr lang="en-GB" sz="1875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50 products are made</a:t>
            </a:r>
            <a:endParaRPr/>
          </a:p>
          <a:p>
            <a:pPr indent="-257175" lvl="0" marL="2571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Twentieth Century"/>
              <a:buAutoNum type="arabicPeriod"/>
            </a:pPr>
            <a:r>
              <a:rPr lang="en-GB" sz="1875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100 products are made</a:t>
            </a:r>
            <a:endParaRPr/>
          </a:p>
          <a:p>
            <a:pPr indent="-138112" lvl="0" marL="2571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Twentieth Century"/>
              <a:buNone/>
            </a:pPr>
            <a:r>
              <a:t/>
            </a:r>
            <a:endParaRPr sz="1875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75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variable cost is £50 per unit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ACTIVITY 3</a:t>
            </a:r>
            <a:endParaRPr u="sng"/>
          </a:p>
        </p:txBody>
      </p:sp>
      <p:sp>
        <p:nvSpPr>
          <p:cNvPr id="162" name="Google Shape;162;p22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GB" sz="5000"/>
              <a:t>Complete the ‘Calculations Worksheet’ found in the shared area. </a:t>
            </a:r>
            <a:endParaRPr sz="5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ACTIVITY 4</a:t>
            </a:r>
            <a:endParaRPr u="sng"/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GB" sz="5000"/>
              <a:t>Complete the ‘Profit and Loss Worksheet’ found in the shared area. </a:t>
            </a:r>
            <a:endParaRPr sz="5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1631951" y="371475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b="1" lang="en-GB" u="sng"/>
              <a:t>RECAP!</a:t>
            </a:r>
            <a:endParaRPr b="1" u="sng"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743822" y="1564049"/>
            <a:ext cx="10940178" cy="487061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14312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75"/>
              <a:buChar char=" "/>
            </a:pPr>
            <a:r>
              <a:rPr lang="en-GB" sz="3375"/>
              <a:t>A quick test…</a:t>
            </a:r>
            <a:endParaRPr/>
          </a:p>
          <a:p>
            <a:pPr indent="-314325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5"/>
              <a:buFont typeface="Twentieth Century"/>
              <a:buNone/>
            </a:pPr>
            <a:r>
              <a:t/>
            </a:r>
            <a:endParaRPr sz="1125"/>
          </a:p>
          <a:p>
            <a:pPr indent="-385763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25"/>
              <a:buFont typeface="Twentieth Century"/>
              <a:buAutoNum type="arabicPeriod"/>
            </a:pPr>
            <a:r>
              <a:rPr lang="en-GB" sz="3225"/>
              <a:t>What is a fixed cost? Give an example.</a:t>
            </a:r>
            <a:endParaRPr/>
          </a:p>
          <a:p>
            <a:pPr indent="-180975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225"/>
              <a:buFont typeface="Twentieth Century"/>
              <a:buNone/>
            </a:pPr>
            <a:r>
              <a:t/>
            </a:r>
            <a:endParaRPr sz="3225"/>
          </a:p>
          <a:p>
            <a:pPr indent="-385763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375"/>
              <a:buFont typeface="Twentieth Century"/>
              <a:buAutoNum type="arabicPeriod"/>
            </a:pPr>
            <a:r>
              <a:rPr lang="en-GB" sz="3375"/>
              <a:t>What is an Variable cost? Give an example.</a:t>
            </a:r>
            <a:endParaRPr/>
          </a:p>
          <a:p>
            <a:pPr indent="-17145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375"/>
              <a:buFont typeface="Twentieth Century"/>
              <a:buNone/>
            </a:pPr>
            <a:r>
              <a:t/>
            </a:r>
            <a:endParaRPr sz="3375"/>
          </a:p>
          <a:p>
            <a:pPr indent="-385763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375"/>
              <a:buFont typeface="Twentieth Century"/>
              <a:buAutoNum type="arabicPeriod"/>
            </a:pPr>
            <a:r>
              <a:rPr lang="en-GB" sz="3375"/>
              <a:t>Total cost formula?</a:t>
            </a:r>
            <a:endParaRPr/>
          </a:p>
          <a:p>
            <a:pPr indent="-17145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375"/>
              <a:buFont typeface="Twentieth Century"/>
              <a:buNone/>
            </a:pPr>
            <a:r>
              <a:t/>
            </a:r>
            <a:endParaRPr sz="3375"/>
          </a:p>
          <a:p>
            <a:pPr indent="0" lvl="1" marL="300037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375"/>
              <a:buNone/>
            </a:pPr>
            <a:r>
              <a:rPr lang="en-GB" sz="3375"/>
              <a:t>5 marks </a:t>
            </a:r>
            <a:endParaRPr sz="3375"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PLENARY</a:t>
            </a:r>
            <a:r>
              <a:rPr lang="en-GB"/>
              <a:t> </a:t>
            </a:r>
            <a:endParaRPr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GB" sz="5000"/>
              <a:t>Share 3 things you have learned today with your shoulder partner. </a:t>
            </a:r>
            <a:endParaRPr sz="5000"/>
          </a:p>
        </p:txBody>
      </p:sp>
      <p:pic>
        <p:nvPicPr>
          <p:cNvPr id="181" name="Google Shape;18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8678" y="3539286"/>
            <a:ext cx="3572922" cy="28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1024128" y="237067"/>
            <a:ext cx="9720072" cy="1847765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wentieth Century"/>
              <a:buNone/>
            </a:pPr>
            <a:r>
              <a:rPr lang="en-GB" sz="3300" u="sng">
                <a:solidFill>
                  <a:schemeClr val="dk1"/>
                </a:solidFill>
              </a:rPr>
              <a:t>TITLE: B5 AND B7 STATEMENT OF COMPREHENSIVE INCOME</a:t>
            </a:r>
            <a:br>
              <a:rPr lang="en-GB" sz="3300" u="sng">
                <a:solidFill>
                  <a:schemeClr val="dk1"/>
                </a:solidFill>
              </a:rPr>
            </a:br>
            <a:r>
              <a:rPr lang="en-GB" sz="3300" u="sng">
                <a:solidFill>
                  <a:schemeClr val="dk1"/>
                </a:solidFill>
              </a:rPr>
              <a:t>PROFIT AND LOSS – LESSON 2 </a:t>
            </a:r>
            <a:br>
              <a:rPr lang="en-GB" sz="3300" u="sng">
                <a:solidFill>
                  <a:schemeClr val="dk1"/>
                </a:solidFill>
              </a:rPr>
            </a:br>
            <a:r>
              <a:rPr lang="en-GB" sz="3300" u="sng">
                <a:solidFill>
                  <a:schemeClr val="dk1"/>
                </a:solidFill>
              </a:rPr>
              <a:t>DATE : </a:t>
            </a:r>
            <a:endParaRPr/>
          </a:p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GB" sz="5000"/>
              <a:t>To be able to define and explain the different costs of a business.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5000"/>
              <a:buNone/>
            </a:pPr>
            <a:r>
              <a:rPr lang="en-GB" sz="5000"/>
              <a:t>To be able to calculate profit/loss on a statement of comprehensive income. </a:t>
            </a:r>
            <a:endParaRPr sz="5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1024128" y="237067"/>
            <a:ext cx="9720072" cy="1847765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wentieth Century"/>
              <a:buNone/>
            </a:pPr>
            <a:r>
              <a:rPr lang="en-GB" sz="6000" u="sng">
                <a:solidFill>
                  <a:schemeClr val="dk1"/>
                </a:solidFill>
              </a:rPr>
              <a:t>RECAP QUIZ </a:t>
            </a:r>
            <a:endParaRPr sz="6000"/>
          </a:p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514350" lvl="0" marL="51435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 sz="3000"/>
              <a:t>Define the term profit (1)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000"/>
              <a:buAutoNum type="arabicPeriod"/>
            </a:pPr>
            <a:r>
              <a:rPr lang="en-GB" sz="3000"/>
              <a:t>What can a business do to minimize their losses? (1) 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000"/>
              <a:buAutoNum type="arabicPeriod"/>
            </a:pPr>
            <a:r>
              <a:rPr lang="en-GB" sz="3000"/>
              <a:t>What is the difference between a fixed and a variable cost? (2) 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000"/>
              <a:buAutoNum type="arabicPeriod"/>
            </a:pPr>
            <a:r>
              <a:rPr lang="en-GB" sz="3000"/>
              <a:t>What is the formula for profit? (1) </a:t>
            </a:r>
            <a:endParaRPr/>
          </a:p>
          <a:p>
            <a:pPr indent="-514350" lvl="0" marL="514350" rtl="0" algn="just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000"/>
              <a:buAutoNum type="arabicPeriod"/>
            </a:pPr>
            <a:r>
              <a:rPr lang="en-GB" sz="3000"/>
              <a:t>Which of the following are fixed costs? </a:t>
            </a:r>
            <a:r>
              <a:rPr lang="en-GB" sz="3000">
                <a:solidFill>
                  <a:srgbClr val="FF00FF"/>
                </a:solidFill>
              </a:rPr>
              <a:t>RENT, WAGES, STOCK, INSURANCE PAYMENTS, PACKAGING, LOAN REPAYMENT </a:t>
            </a:r>
            <a:endParaRPr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Google Shape;198;p28"/>
          <p:cNvGraphicFramePr/>
          <p:nvPr/>
        </p:nvGraphicFramePr>
        <p:xfrm>
          <a:off x="3169921" y="875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{8A6F39B0-A489-459D-9785-54783B6EF3DF}</a:tableStyleId>
              </a:tblPr>
              <a:tblGrid>
                <a:gridCol w="2875950"/>
                <a:gridCol w="2875950"/>
                <a:gridCol w="2875950"/>
              </a:tblGrid>
              <a:tr h="50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2000" u="none" cap="none" strike="noStrike">
                          <a:solidFill>
                            <a:schemeClr val="dk1"/>
                          </a:solidFill>
                        </a:rPr>
                        <a:t>REVENUE</a:t>
                      </a:r>
                      <a:endParaRPr b="0" sz="20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D1EA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1EA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D1EAF1"/>
                    </a:solidFill>
                  </a:tcPr>
                </a:tc>
              </a:tr>
              <a:tr h="50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Merchandise Sales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£24,000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50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Cost of Merchandise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£3,000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50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Gross Profit 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£21,000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C000"/>
                    </a:solidFill>
                  </a:tcPr>
                </a:tc>
              </a:tr>
              <a:tr h="50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EXPENSES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50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Wages</a:t>
                      </a:r>
                      <a:r>
                        <a:rPr lang="en-GB" sz="2000"/>
                        <a:t> 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£1500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50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Rent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£2000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50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Supplies/Stock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£3000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50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Utilities 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£1000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50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Interest on Loan</a:t>
                      </a:r>
                      <a:r>
                        <a:rPr lang="en-GB" sz="2000"/>
                        <a:t> 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£900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50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Taxes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£2000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50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Total: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£10,400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C000"/>
                    </a:solidFill>
                  </a:tcPr>
                </a:tc>
              </a:tr>
              <a:tr h="50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Net Profit/Loss:</a:t>
                      </a:r>
                      <a:r>
                        <a:rPr lang="en-GB" sz="2000"/>
                        <a:t> 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/>
                        <a:t>£ 10,600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28"/>
          <p:cNvSpPr/>
          <p:nvPr/>
        </p:nvSpPr>
        <p:spPr>
          <a:xfrm>
            <a:off x="243840" y="467359"/>
            <a:ext cx="2661920" cy="6221675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 u="sng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Statement of comprehensive income</a:t>
            </a:r>
            <a:r>
              <a:rPr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shows the profit or loss of an enterprise over time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This is what a simple comprehensive income statement looks like.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It will have details of all your revenues and all of your expenses.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You then need to be able to comment on whether or not the business is making a profit or a loss and comment in the financial position of the business. </a:t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488" y="177538"/>
            <a:ext cx="11017779" cy="514702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 txBox="1"/>
          <p:nvPr/>
        </p:nvSpPr>
        <p:spPr>
          <a:xfrm>
            <a:off x="1524000" y="5516564"/>
            <a:ext cx="9144000" cy="708025"/>
          </a:xfrm>
          <a:prstGeom prst="rect">
            <a:avLst/>
          </a:prstGeom>
          <a:solidFill>
            <a:srgbClr val="D5EAA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Total Sales Revenue – Cost of Sales = </a:t>
            </a:r>
            <a:r>
              <a:rPr b="1" lang="en-GB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Gross Profit – </a:t>
            </a:r>
            <a:r>
              <a:rPr b="1" lang="en-GB" sz="2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other expenses =  </a:t>
            </a:r>
            <a:r>
              <a:rPr b="1" lang="en-GB" sz="200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Net Profit (or Loss)</a:t>
            </a:r>
            <a:endParaRPr/>
          </a:p>
        </p:txBody>
      </p:sp>
      <p:sp>
        <p:nvSpPr>
          <p:cNvPr id="206" name="Google Shape;206;p29"/>
          <p:cNvSpPr txBox="1"/>
          <p:nvPr/>
        </p:nvSpPr>
        <p:spPr>
          <a:xfrm>
            <a:off x="5483226" y="6308726"/>
            <a:ext cx="122396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Pg 124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2209800" y="115889"/>
            <a:ext cx="7772400" cy="8651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AC0D4"/>
              </a:buClr>
              <a:buSzPts val="5000"/>
              <a:buFont typeface="Twentieth Century"/>
              <a:buNone/>
            </a:pPr>
            <a:r>
              <a:rPr lang="en-GB" u="sng">
                <a:solidFill>
                  <a:srgbClr val="7AC0D4"/>
                </a:solidFill>
              </a:rPr>
              <a:t>KEY WORDS </a:t>
            </a:r>
            <a:endParaRPr u="sng">
              <a:solidFill>
                <a:srgbClr val="7AC0D4"/>
              </a:solidFill>
            </a:endParaRPr>
          </a:p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378355" y="1315508"/>
            <a:ext cx="11458045" cy="3764492"/>
          </a:xfrm>
          <a:prstGeom prst="rect">
            <a:avLst/>
          </a:prstGeom>
          <a:solidFill>
            <a:srgbClr val="66FFCC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Gross Profit: the difference between the sales revenue and cost of making the product (cost of sales)</a:t>
            </a:r>
            <a:endParaRPr/>
          </a:p>
          <a:p>
            <a:pPr indent="-190500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000"/>
              <a:buChar char="🢝"/>
            </a:pPr>
            <a:r>
              <a:rPr b="1" lang="en-GB" sz="3000" u="sng"/>
              <a:t>(Gross Profit = Sales Revenue- Cost of Sales )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Net Profit: the difference between the sales revenue and the total costs of the business </a:t>
            </a:r>
            <a:endParaRPr/>
          </a:p>
          <a:p>
            <a:pPr indent="-190500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000"/>
              <a:buChar char="🢝"/>
            </a:pPr>
            <a:r>
              <a:rPr b="1" lang="en-GB" sz="3000" u="sng"/>
              <a:t>(Net Profit= Gross Profit – Total Costs/Overheads)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2209801" y="176215"/>
            <a:ext cx="7772400" cy="947738"/>
          </a:xfrm>
          <a:prstGeom prst="rect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EXAMPLE </a:t>
            </a:r>
            <a:endParaRPr u="sng"/>
          </a:p>
        </p:txBody>
      </p:sp>
      <p:pic>
        <p:nvPicPr>
          <p:cNvPr descr="Screen Clipping" id="218" name="Google Shape;218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907" y="1123953"/>
            <a:ext cx="9267294" cy="5212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1"/>
          <p:cNvSpPr/>
          <p:nvPr/>
        </p:nvSpPr>
        <p:spPr>
          <a:xfrm>
            <a:off x="766763" y="4508500"/>
            <a:ext cx="6832070" cy="16213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0" name="Google Shape;220;p31"/>
          <p:cNvSpPr/>
          <p:nvPr/>
        </p:nvSpPr>
        <p:spPr>
          <a:xfrm>
            <a:off x="1497542" y="4720872"/>
            <a:ext cx="5370512" cy="1008062"/>
          </a:xfrm>
          <a:prstGeom prst="rect">
            <a:avLst/>
          </a:prstGeom>
          <a:solidFill>
            <a:schemeClr val="accent3"/>
          </a:solidFill>
          <a:ln cap="flat" cmpd="sng" w="15875">
            <a:solidFill>
              <a:srgbClr val="A797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But what other costs might the business need to think about? </a:t>
            </a:r>
            <a:endParaRPr/>
          </a:p>
        </p:txBody>
      </p:sp>
      <p:sp>
        <p:nvSpPr>
          <p:cNvPr id="221" name="Google Shape;221;p31"/>
          <p:cNvSpPr/>
          <p:nvPr/>
        </p:nvSpPr>
        <p:spPr>
          <a:xfrm>
            <a:off x="7598833" y="1869725"/>
            <a:ext cx="3560234" cy="2058808"/>
          </a:xfrm>
          <a:prstGeom prst="rect">
            <a:avLst/>
          </a:prstGeom>
          <a:solidFill>
            <a:schemeClr val="accent3"/>
          </a:solidFill>
          <a:ln cap="flat" cmpd="sng" w="15875">
            <a:solidFill>
              <a:srgbClr val="A797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Why is this not the overall profit?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/>
          <p:nvPr>
            <p:ph type="title"/>
          </p:nvPr>
        </p:nvSpPr>
        <p:spPr>
          <a:xfrm>
            <a:off x="2209800" y="188913"/>
            <a:ext cx="7772400" cy="114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7AC0D4"/>
              </a:buClr>
              <a:buSzPts val="5000"/>
              <a:buFont typeface="Twentieth Century"/>
              <a:buNone/>
            </a:pPr>
            <a:r>
              <a:rPr lang="en-GB" u="sng">
                <a:solidFill>
                  <a:srgbClr val="7AC0D4"/>
                </a:solidFill>
              </a:rPr>
              <a:t>GROSS PROFIT</a:t>
            </a:r>
            <a:endParaRPr u="sng">
              <a:solidFill>
                <a:srgbClr val="7AC0D4"/>
              </a:solidFill>
            </a:endParaRPr>
          </a:p>
        </p:txBody>
      </p:sp>
      <p:sp>
        <p:nvSpPr>
          <p:cNvPr id="227" name="Google Shape;227;p32"/>
          <p:cNvSpPr txBox="1"/>
          <p:nvPr>
            <p:ph idx="1" type="body"/>
          </p:nvPr>
        </p:nvSpPr>
        <p:spPr>
          <a:xfrm>
            <a:off x="476249" y="1535113"/>
            <a:ext cx="11495617" cy="50688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GB" sz="3000"/>
              <a:t>Revenue – Cost of Sales = Gross Profit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The money made from selling a product (the revenue), </a:t>
            </a:r>
            <a:r>
              <a:rPr b="1" lang="en-GB" sz="3000"/>
              <a:t>AFTER</a:t>
            </a:r>
            <a:r>
              <a:rPr lang="en-GB" sz="3000"/>
              <a:t> the cost of producing the product (the cost of sales) has been deducted. This includes labour costs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E.g. It costs me £10 to make a table and I sell it for £16. Therefore, my Gross Profit is £6.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1041062" y="27560"/>
            <a:ext cx="9720072" cy="1191640"/>
          </a:xfrm>
          <a:prstGeom prst="rect">
            <a:avLst/>
          </a:prstGeom>
          <a:noFill/>
          <a:ln cap="flat" cmpd="sng" w="571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NET PROFIT</a:t>
            </a:r>
            <a:endParaRPr/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795865" y="1425576"/>
            <a:ext cx="10651067" cy="5229224"/>
          </a:xfrm>
          <a:prstGeom prst="rect">
            <a:avLst/>
          </a:prstGeom>
          <a:solidFill>
            <a:srgbClr val="F2F2F2"/>
          </a:solidFill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52717" lvl="0" marL="9144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05"/>
              <a:buChar char=" "/>
            </a:pPr>
            <a:r>
              <a:rPr b="1" i="1" lang="en-GB" sz="2405"/>
              <a:t>The money made from selling a product after all costs (expenditure) have been deducted.</a:t>
            </a:r>
            <a:endParaRPr/>
          </a:p>
          <a:p>
            <a:pPr indent="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405"/>
              <a:buNone/>
            </a:pPr>
            <a:r>
              <a:t/>
            </a:r>
            <a:endParaRPr i="1" sz="2405"/>
          </a:p>
          <a:p>
            <a:pPr indent="-152717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405"/>
              <a:buChar char=" "/>
            </a:pPr>
            <a:r>
              <a:rPr lang="en-GB" sz="2405"/>
              <a:t>In order to work out net profit, you first of all work out the gross profit, and then deduct any other expenditure involved in making or selling it.</a:t>
            </a:r>
            <a:endParaRPr/>
          </a:p>
          <a:p>
            <a:pPr indent="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665"/>
              <a:buNone/>
            </a:pPr>
            <a:r>
              <a:t/>
            </a:r>
            <a:endParaRPr sz="1665"/>
          </a:p>
          <a:p>
            <a:pPr indent="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665"/>
              <a:buNone/>
            </a:pPr>
            <a:r>
              <a:t/>
            </a:r>
            <a:endParaRPr sz="1665"/>
          </a:p>
          <a:p>
            <a:pPr indent="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665"/>
              <a:buNone/>
            </a:pPr>
            <a:r>
              <a:t/>
            </a:r>
            <a:endParaRPr sz="1665"/>
          </a:p>
          <a:p>
            <a:pPr indent="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665"/>
              <a:buNone/>
            </a:pPr>
            <a:r>
              <a:t/>
            </a:r>
            <a:endParaRPr sz="1665"/>
          </a:p>
          <a:p>
            <a:pPr indent="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665"/>
              <a:buNone/>
            </a:pPr>
            <a:r>
              <a:t/>
            </a:r>
            <a:endParaRPr sz="1665"/>
          </a:p>
          <a:p>
            <a:pPr indent="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665"/>
              <a:buNone/>
            </a:pPr>
            <a:r>
              <a:t/>
            </a:r>
            <a:endParaRPr sz="1665"/>
          </a:p>
          <a:p>
            <a:pPr indent="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665"/>
              <a:buNone/>
            </a:pPr>
            <a:r>
              <a:t/>
            </a:r>
            <a:endParaRPr sz="1665"/>
          </a:p>
          <a:p>
            <a:pPr indent="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665"/>
              <a:buNone/>
            </a:pPr>
            <a:r>
              <a:t/>
            </a:r>
            <a:endParaRPr sz="1665"/>
          </a:p>
          <a:p>
            <a:pPr indent="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665"/>
              <a:buNone/>
            </a:pPr>
            <a:r>
              <a:t/>
            </a:r>
            <a:endParaRPr sz="1665"/>
          </a:p>
          <a:p>
            <a:pPr indent="-105727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665"/>
              <a:buChar char=" "/>
            </a:pPr>
            <a:r>
              <a:rPr b="1" lang="en-GB" sz="1665">
                <a:solidFill>
                  <a:srgbClr val="CC00FF"/>
                </a:solidFill>
              </a:rPr>
              <a:t>Net profit = Gross Profit - Expenditure</a:t>
            </a:r>
            <a:endParaRPr/>
          </a:p>
        </p:txBody>
      </p:sp>
      <p:pic>
        <p:nvPicPr>
          <p:cNvPr id="234" name="Google Shape;2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9333" y="2921001"/>
            <a:ext cx="5867400" cy="2697163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>
            <p:ph type="title"/>
          </p:nvPr>
        </p:nvSpPr>
        <p:spPr>
          <a:xfrm>
            <a:off x="1049697" y="267803"/>
            <a:ext cx="9720072" cy="1056173"/>
          </a:xfrm>
          <a:prstGeom prst="rect">
            <a:avLst/>
          </a:prstGeom>
          <a:noFill/>
          <a:ln cap="flat" cmpd="sng" w="381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ACTIVITY 1</a:t>
            </a:r>
            <a:endParaRPr/>
          </a:p>
        </p:txBody>
      </p:sp>
      <p:sp>
        <p:nvSpPr>
          <p:cNvPr id="241" name="Google Shape;241;p34"/>
          <p:cNvSpPr txBox="1"/>
          <p:nvPr>
            <p:ph idx="1" type="body"/>
          </p:nvPr>
        </p:nvSpPr>
        <p:spPr>
          <a:xfrm>
            <a:off x="521760" y="1340909"/>
            <a:ext cx="5387973" cy="5050366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Using the following information, draw up a statement like on the example before: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000"/>
              <a:buChar char="🢝"/>
            </a:pPr>
            <a:r>
              <a:rPr lang="en-GB" sz="3000">
                <a:solidFill>
                  <a:srgbClr val="7AC0D4"/>
                </a:solidFill>
              </a:rPr>
              <a:t>A business has sales revenue of £25,000 which costs £12,500. </a:t>
            </a:r>
            <a:endParaRPr/>
          </a:p>
          <a:p>
            <a:pPr indent="0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>
              <a:solidFill>
                <a:srgbClr val="7AC0D4"/>
              </a:solidFill>
            </a:endParaRPr>
          </a:p>
          <a:p>
            <a:pPr indent="-190500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Char char="🢝"/>
            </a:pPr>
            <a:r>
              <a:rPr lang="en-GB" sz="3000">
                <a:solidFill>
                  <a:srgbClr val="7AC0D4"/>
                </a:solidFill>
              </a:rPr>
              <a:t>It had to pay out rent of £1000, insurance at £500 and a salesman’s wages at £1000. </a:t>
            </a:r>
            <a:endParaRPr sz="3000">
              <a:solidFill>
                <a:srgbClr val="7AC0D4"/>
              </a:solidFill>
            </a:endParaRPr>
          </a:p>
        </p:txBody>
      </p:sp>
      <p:pic>
        <p:nvPicPr>
          <p:cNvPr id="242" name="Google Shape;2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340909"/>
            <a:ext cx="4860036" cy="5067299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>
            <p:ph type="title"/>
          </p:nvPr>
        </p:nvSpPr>
        <p:spPr>
          <a:xfrm>
            <a:off x="1024127" y="110595"/>
            <a:ext cx="9720072" cy="1125538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ACTIVITY 2</a:t>
            </a:r>
            <a:endParaRPr/>
          </a:p>
        </p:txBody>
      </p:sp>
      <p:pic>
        <p:nvPicPr>
          <p:cNvPr id="248" name="Google Shape;24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896" y="1439333"/>
            <a:ext cx="10786533" cy="2510659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49" name="Google Shape;24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8726" y="1844675"/>
            <a:ext cx="4029075" cy="4781550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50" name="Google Shape;250;p35"/>
          <p:cNvSpPr/>
          <p:nvPr/>
        </p:nvSpPr>
        <p:spPr>
          <a:xfrm>
            <a:off x="490896" y="4307840"/>
            <a:ext cx="5523824" cy="211328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Complete the ‘Comprehensive Income’ Worksheet found on the shared area. </a:t>
            </a:r>
            <a:endParaRPr sz="3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/>
          <p:nvPr>
            <p:ph type="title"/>
          </p:nvPr>
        </p:nvSpPr>
        <p:spPr>
          <a:xfrm>
            <a:off x="1024128" y="297350"/>
            <a:ext cx="9720072" cy="1499616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GROSS AND NET PROFIT MARGINS</a:t>
            </a:r>
            <a:endParaRPr/>
          </a:p>
        </p:txBody>
      </p:sp>
      <p:sp>
        <p:nvSpPr>
          <p:cNvPr id="256" name="Google Shape;256;p36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-GB"/>
              <a:t>Gross profit margin</a:t>
            </a:r>
            <a:r>
              <a:rPr lang="en-GB"/>
              <a:t>- the % of sales revenue that is gross profit.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rPr b="1" i="1" lang="en-GB"/>
              <a:t>Gross profit / sales revenue x 100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rPr b="1" lang="en-GB"/>
              <a:t>Net profit margin</a:t>
            </a:r>
            <a:r>
              <a:rPr lang="en-GB"/>
              <a:t> - the % of sales revenue that is net profit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rPr b="1" i="1" lang="en-GB"/>
              <a:t>Net profit / sales revenue x 100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/>
        </p:nvSpPr>
        <p:spPr>
          <a:xfrm>
            <a:off x="1847851" y="3789364"/>
            <a:ext cx="3529013" cy="2308225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7AC0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1"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Activity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Revenue 	£100, 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Gross Profit	£  30, 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GB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Net Profit	£  20, 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3" name="Google Shape;263;p37"/>
          <p:cNvSpPr txBox="1"/>
          <p:nvPr>
            <p:ph type="title"/>
          </p:nvPr>
        </p:nvSpPr>
        <p:spPr>
          <a:xfrm>
            <a:off x="2279650" y="138113"/>
            <a:ext cx="7772400" cy="1143000"/>
          </a:xfrm>
          <a:prstGeom prst="rect">
            <a:avLst/>
          </a:prstGeom>
          <a:solidFill>
            <a:srgbClr val="FFFFFF"/>
          </a:solidFill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EXAMPLE </a:t>
            </a:r>
            <a:endParaRPr u="sng"/>
          </a:p>
        </p:txBody>
      </p:sp>
      <p:sp>
        <p:nvSpPr>
          <p:cNvPr id="264" name="Google Shape;264;p37"/>
          <p:cNvSpPr txBox="1"/>
          <p:nvPr/>
        </p:nvSpPr>
        <p:spPr>
          <a:xfrm>
            <a:off x="1597555" y="1485108"/>
            <a:ext cx="9527645" cy="2003159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wentieth Century"/>
              <a:buNone/>
            </a:pPr>
            <a:r>
              <a:rPr b="1" lang="en-GB" sz="2000" u="sng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Gross profit margin</a:t>
            </a:r>
            <a:r>
              <a:rPr lang="en-GB" sz="2000" u="sng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 </a:t>
            </a:r>
            <a:r>
              <a:rPr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% of sales revenue that is gross profit. 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wentieth Century"/>
              <a:buNone/>
            </a:pPr>
            <a:r>
              <a:rPr b="1" i="1"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Gross profit / sales revenue x 100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wentieth Century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wentieth Century"/>
              <a:buNone/>
            </a:pPr>
            <a:r>
              <a:rPr b="1" lang="en-GB" sz="2000" u="sng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Net profit margin</a:t>
            </a:r>
            <a:r>
              <a:rPr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- the % of sales revenue that is net profit 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wentieth Century"/>
              <a:buNone/>
            </a:pPr>
            <a:r>
              <a:rPr b="1" i="1" lang="en-GB" sz="2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Net profit / sales revenue x 100 </a:t>
            </a:r>
            <a:endParaRPr/>
          </a:p>
        </p:txBody>
      </p:sp>
      <p:sp>
        <p:nvSpPr>
          <p:cNvPr id="265" name="Google Shape;265;p37"/>
          <p:cNvSpPr txBox="1"/>
          <p:nvPr/>
        </p:nvSpPr>
        <p:spPr>
          <a:xfrm>
            <a:off x="5664200" y="4076701"/>
            <a:ext cx="2954655" cy="1200329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Gross Profit Margin = 	</a:t>
            </a:r>
            <a:r>
              <a:rPr b="1" lang="en-GB" sz="1800">
                <a:solidFill>
                  <a:srgbClr val="29697C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 Profit Margin= 	</a:t>
            </a:r>
            <a:r>
              <a:rPr b="1" lang="en-GB" sz="1800">
                <a:solidFill>
                  <a:srgbClr val="29697C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 txBox="1"/>
          <p:nvPr/>
        </p:nvSpPr>
        <p:spPr>
          <a:xfrm>
            <a:off x="1055687" y="1742018"/>
            <a:ext cx="4967289" cy="2862322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7AC0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rPr b="1" lang="en-GB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Activity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t/>
            </a:r>
            <a:endParaRPr sz="3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rPr lang="en-GB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Revenue 	£130, 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rPr lang="en-GB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Gross Profit	£  40, 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rPr lang="en-GB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Net Profit	£  20, 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t/>
            </a:r>
            <a:endParaRPr sz="3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2" name="Google Shape;272;p38"/>
          <p:cNvSpPr/>
          <p:nvPr/>
        </p:nvSpPr>
        <p:spPr>
          <a:xfrm>
            <a:off x="2813581" y="5339293"/>
            <a:ext cx="7483475" cy="553998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rPr lang="en-GB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Calculate the Gross and Net </a:t>
            </a:r>
            <a:r>
              <a:rPr b="1" lang="en-GB" sz="30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Profit</a:t>
            </a:r>
            <a:r>
              <a:rPr lang="en-GB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Margins</a:t>
            </a:r>
            <a:endParaRPr/>
          </a:p>
        </p:txBody>
      </p:sp>
      <p:sp>
        <p:nvSpPr>
          <p:cNvPr id="273" name="Google Shape;273;p38"/>
          <p:cNvSpPr txBox="1"/>
          <p:nvPr/>
        </p:nvSpPr>
        <p:spPr>
          <a:xfrm>
            <a:off x="6817253" y="1742018"/>
            <a:ext cx="4731279" cy="2862322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7AC0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rPr b="1" lang="en-GB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Activity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t/>
            </a:r>
            <a:endParaRPr sz="3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rPr lang="en-GB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Revenue 	£150, 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rPr lang="en-GB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Gross Profit	£  60, 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ahoma"/>
              <a:buNone/>
            </a:pPr>
            <a:r>
              <a:rPr lang="en-GB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Net Profit	£  40, 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</a:pPr>
            <a:r>
              <a:t/>
            </a:r>
            <a:endParaRPr sz="3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4" name="Google Shape;274;p38"/>
          <p:cNvSpPr txBox="1"/>
          <p:nvPr>
            <p:ph type="title"/>
          </p:nvPr>
        </p:nvSpPr>
        <p:spPr>
          <a:xfrm>
            <a:off x="2279650" y="138113"/>
            <a:ext cx="7772400" cy="1143000"/>
          </a:xfrm>
          <a:prstGeom prst="rect">
            <a:avLst/>
          </a:prstGeom>
          <a:solidFill>
            <a:srgbClr val="FFFFFF"/>
          </a:solidFill>
          <a:ln cap="flat" cmpd="sng" w="57150">
            <a:solidFill>
              <a:srgbClr val="C1D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PRACTICE QUESTIONS</a:t>
            </a:r>
            <a:endParaRPr u="sng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ACTIVITY 3</a:t>
            </a:r>
            <a:endParaRPr u="sng"/>
          </a:p>
        </p:txBody>
      </p:sp>
      <p:pic>
        <p:nvPicPr>
          <p:cNvPr descr="Screen Clipping" id="280" name="Google Shape;28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661" y="2084832"/>
            <a:ext cx="10380472" cy="4401522"/>
          </a:xfrm>
          <a:prstGeom prst="rect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ACTIVITY 4</a:t>
            </a:r>
            <a:endParaRPr u="sng"/>
          </a:p>
        </p:txBody>
      </p:sp>
      <p:pic>
        <p:nvPicPr>
          <p:cNvPr descr="Screen Clipping" id="286" name="Google Shape;28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9860" y="2246728"/>
            <a:ext cx="9000405" cy="4334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/>
          <p:nvPr>
            <p:ph idx="1" type="body"/>
          </p:nvPr>
        </p:nvSpPr>
        <p:spPr>
          <a:xfrm>
            <a:off x="429683" y="2012950"/>
            <a:ext cx="11474450" cy="4845050"/>
          </a:xfrm>
          <a:prstGeom prst="rect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b="1" lang="en-GB" sz="3000">
                <a:solidFill>
                  <a:srgbClr val="29697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Net Profit Margin (NPM)</a:t>
            </a:r>
            <a:endParaRPr/>
          </a:p>
          <a:p>
            <a:pPr indent="-190500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000"/>
              <a:buChar char="🢝"/>
            </a:pPr>
            <a:r>
              <a:rPr lang="en-GB" sz="3000">
                <a:solidFill>
                  <a:srgbClr val="29697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Redgate is more profitable than Acme because it has a higher NPM by 1% (10% vs. 9%)</a:t>
            </a:r>
            <a:endParaRPr/>
          </a:p>
          <a:p>
            <a:pPr indent="-190500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Char char="🢝"/>
            </a:pPr>
            <a:r>
              <a:rPr lang="en-GB" sz="3000">
                <a:solidFill>
                  <a:srgbClr val="29697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This is because it has lower overheads/expenses to pay, which would mean the net profit is higher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b="1" lang="en-GB" sz="3000">
                <a:solidFill>
                  <a:srgbClr val="29697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Gross Profit Margin (GPM)</a:t>
            </a:r>
            <a:endParaRPr/>
          </a:p>
          <a:p>
            <a:pPr indent="-190500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000"/>
              <a:buChar char="🢝"/>
            </a:pPr>
            <a:r>
              <a:rPr lang="en-GB" sz="3000">
                <a:solidFill>
                  <a:srgbClr val="29697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Acme has a higher GPM than Redgate by 2% (22% vs. 20%)</a:t>
            </a:r>
            <a:endParaRPr/>
          </a:p>
          <a:p>
            <a:pPr indent="-190500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Char char="🢝"/>
            </a:pPr>
            <a:r>
              <a:rPr lang="en-GB" sz="3000">
                <a:solidFill>
                  <a:srgbClr val="29697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This could be because it has a higher sales revenue or because their cost of sales are lower. Both of these would result in a higher gross profit</a:t>
            </a:r>
            <a:endParaRPr/>
          </a:p>
        </p:txBody>
      </p:sp>
      <p:sp>
        <p:nvSpPr>
          <p:cNvPr id="292" name="Google Shape;292;p41"/>
          <p:cNvSpPr txBox="1"/>
          <p:nvPr>
            <p:ph type="title"/>
          </p:nvPr>
        </p:nvSpPr>
        <p:spPr>
          <a:xfrm>
            <a:off x="1007195" y="252984"/>
            <a:ext cx="9720072" cy="1499616"/>
          </a:xfrm>
          <a:prstGeom prst="rect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ANSWERS </a:t>
            </a:r>
            <a:endParaRPr u="sng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type="title"/>
          </p:nvPr>
        </p:nvSpPr>
        <p:spPr>
          <a:xfrm>
            <a:off x="1217706" y="246674"/>
            <a:ext cx="9720072" cy="1499616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FF"/>
              </a:buClr>
              <a:buSzPts val="5000"/>
              <a:buFont typeface="Twentieth Century"/>
              <a:buNone/>
            </a:pPr>
            <a:r>
              <a:rPr lang="en-GB" u="sng">
                <a:solidFill>
                  <a:srgbClr val="CC00FF"/>
                </a:solidFill>
              </a:rPr>
              <a:t>PLENARY- QUIZ</a:t>
            </a:r>
            <a:endParaRPr/>
          </a:p>
        </p:txBody>
      </p:sp>
      <p:sp>
        <p:nvSpPr>
          <p:cNvPr id="298" name="Google Shape;298;p42"/>
          <p:cNvSpPr txBox="1"/>
          <p:nvPr/>
        </p:nvSpPr>
        <p:spPr>
          <a:xfrm>
            <a:off x="556153" y="1926892"/>
            <a:ext cx="11043179" cy="341632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AutoNum type="arabicPeriod"/>
            </a:pPr>
            <a:r>
              <a:rPr lang="en-GB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Which type of profit is calculated first?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AutoNum type="arabicPeriod"/>
            </a:pPr>
            <a:r>
              <a:rPr lang="en-GB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Which is the most important figure of the 2 profit types?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AutoNum type="arabicPeriod"/>
            </a:pPr>
            <a:r>
              <a:rPr lang="en-GB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another term for overheads?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AutoNum type="arabicPeriod"/>
            </a:pPr>
            <a:r>
              <a:rPr lang="en-GB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is sales revenue calculated?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AutoNum type="arabicPeriod"/>
            </a:pPr>
            <a:r>
              <a:rPr lang="en-GB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meant by cost of sales? </a:t>
            </a:r>
            <a:endParaRPr/>
          </a:p>
        </p:txBody>
      </p:sp>
      <p:sp>
        <p:nvSpPr>
          <p:cNvPr id="299" name="Google Shape;299;p42"/>
          <p:cNvSpPr txBox="1"/>
          <p:nvPr/>
        </p:nvSpPr>
        <p:spPr>
          <a:xfrm>
            <a:off x="2296055" y="5704417"/>
            <a:ext cx="6769100" cy="522288"/>
          </a:xfrm>
          <a:prstGeom prst="rect">
            <a:avLst/>
          </a:prstGeom>
          <a:solidFill>
            <a:srgbClr val="D5EAA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Write the answers on your whiteboard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3"/>
          <p:cNvSpPr txBox="1"/>
          <p:nvPr>
            <p:ph type="title"/>
          </p:nvPr>
        </p:nvSpPr>
        <p:spPr>
          <a:xfrm>
            <a:off x="1024128" y="212683"/>
            <a:ext cx="9720072" cy="1499616"/>
          </a:xfrm>
          <a:prstGeom prst="rect">
            <a:avLst/>
          </a:prstGeom>
          <a:solidFill>
            <a:srgbClr val="D5EAAE"/>
          </a:solidFill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TITLE: B7 LIQUIDITY </a:t>
            </a:r>
            <a:br>
              <a:rPr lang="en-GB" u="sng"/>
            </a:br>
            <a:r>
              <a:rPr lang="en-GB" u="sng"/>
              <a:t>DATE : </a:t>
            </a:r>
            <a:endParaRPr u="sng"/>
          </a:p>
        </p:txBody>
      </p:sp>
      <p:sp>
        <p:nvSpPr>
          <p:cNvPr id="305" name="Google Shape;305;p43"/>
          <p:cNvSpPr txBox="1"/>
          <p:nvPr>
            <p:ph idx="1" type="body"/>
          </p:nvPr>
        </p:nvSpPr>
        <p:spPr>
          <a:xfrm>
            <a:off x="583862" y="1947334"/>
            <a:ext cx="11252538" cy="3945466"/>
          </a:xfrm>
          <a:prstGeom prst="rect">
            <a:avLst/>
          </a:prstGeom>
          <a:noFill/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54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Char char=" "/>
            </a:pPr>
            <a:r>
              <a:rPr b="1" lang="en-GB" sz="4000" u="sng">
                <a:solidFill>
                  <a:srgbClr val="CC00FF"/>
                </a:solidFill>
              </a:rPr>
              <a:t>Objectives: </a:t>
            </a:r>
            <a:endParaRPr/>
          </a:p>
          <a:p>
            <a:pPr indent="-91440" lvl="0" marL="9144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3000"/>
              <a:buNone/>
            </a:pPr>
            <a:r>
              <a:rPr lang="en-GB" sz="3000">
                <a:latin typeface="Tahoma"/>
                <a:ea typeface="Tahoma"/>
                <a:cs typeface="Tahoma"/>
                <a:sym typeface="Tahoma"/>
              </a:rPr>
              <a:t>To be able to explain the term liquidity and explain how it is measured and used by a business. </a:t>
            </a:r>
            <a:endParaRPr sz="3000">
              <a:latin typeface="Tahoma"/>
              <a:ea typeface="Tahoma"/>
              <a:cs typeface="Tahoma"/>
              <a:sym typeface="Tahoma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>
              <a:latin typeface="Tahoma"/>
              <a:ea typeface="Tahoma"/>
              <a:cs typeface="Tahoma"/>
              <a:sym typeface="Tahoma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3000"/>
              <a:buNone/>
            </a:pPr>
            <a:r>
              <a:rPr lang="en-GB" sz="3000">
                <a:latin typeface="Tahoma"/>
                <a:ea typeface="Tahoma"/>
                <a:cs typeface="Tahoma"/>
                <a:sym typeface="Tahoma"/>
              </a:rPr>
              <a:t>To be able to interpret and analyse data (ratios and figures) in a scenario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STARTER: RECAP QUESTIONS </a:t>
            </a:r>
            <a:endParaRPr u="sng"/>
          </a:p>
        </p:txBody>
      </p:sp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b="1" lang="en-GB" sz="2800">
                <a:latin typeface="Arial"/>
                <a:ea typeface="Arial"/>
                <a:cs typeface="Arial"/>
                <a:sym typeface="Arial"/>
              </a:rPr>
              <a:t>Definitions of:</a:t>
            </a:r>
            <a:endParaRPr/>
          </a:p>
          <a:p>
            <a:pPr indent="-177800" lvl="1" marL="26517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🢝"/>
            </a:pPr>
            <a:r>
              <a:rPr lang="en-GB" sz="2800">
                <a:latin typeface="Arial"/>
                <a:ea typeface="Arial"/>
                <a:cs typeface="Arial"/>
                <a:sym typeface="Arial"/>
              </a:rPr>
              <a:t>Fixed assets</a:t>
            </a:r>
            <a:endParaRPr/>
          </a:p>
          <a:p>
            <a:pPr indent="-177800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🢝"/>
            </a:pPr>
            <a:r>
              <a:rPr lang="en-GB" sz="2800">
                <a:latin typeface="Arial"/>
                <a:ea typeface="Arial"/>
                <a:cs typeface="Arial"/>
                <a:sym typeface="Arial"/>
              </a:rPr>
              <a:t>Current assets</a:t>
            </a:r>
            <a:endParaRPr/>
          </a:p>
          <a:p>
            <a:pPr indent="-177800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🢝"/>
            </a:pPr>
            <a:r>
              <a:rPr lang="en-GB" sz="2800">
                <a:latin typeface="Arial"/>
                <a:ea typeface="Arial"/>
                <a:cs typeface="Arial"/>
                <a:sym typeface="Arial"/>
              </a:rPr>
              <a:t>Current liabilities</a:t>
            </a:r>
            <a:endParaRPr/>
          </a:p>
          <a:p>
            <a:pPr indent="-177800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🢝"/>
            </a:pPr>
            <a:r>
              <a:rPr lang="en-GB" sz="2800">
                <a:latin typeface="Arial"/>
                <a:ea typeface="Arial"/>
                <a:cs typeface="Arial"/>
                <a:sym typeface="Arial"/>
              </a:rPr>
              <a:t>Long-term liabilities</a:t>
            </a:r>
            <a:endParaRPr/>
          </a:p>
          <a:p>
            <a:pPr indent="-177800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🢝"/>
            </a:pPr>
            <a:r>
              <a:rPr lang="en-GB" sz="2800">
                <a:latin typeface="Arial"/>
                <a:ea typeface="Arial"/>
                <a:cs typeface="Arial"/>
                <a:sym typeface="Arial"/>
              </a:rPr>
              <a:t>Net assets</a:t>
            </a:r>
            <a:endParaRPr/>
          </a:p>
          <a:p>
            <a:pPr indent="-177800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🢝"/>
            </a:pPr>
            <a:r>
              <a:rPr lang="en-GB" sz="2800">
                <a:latin typeface="Arial"/>
                <a:ea typeface="Arial"/>
                <a:cs typeface="Arial"/>
                <a:sym typeface="Arial"/>
              </a:rPr>
              <a:t>Capital and reserves (shares issues and retained profit)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LIQUIDITY</a:t>
            </a:r>
            <a:r>
              <a:rPr lang="en-GB"/>
              <a:t> </a:t>
            </a:r>
            <a:endParaRPr/>
          </a:p>
        </p:txBody>
      </p:sp>
      <p:sp>
        <p:nvSpPr>
          <p:cNvPr id="317" name="Google Shape;317;p45"/>
          <p:cNvSpPr txBox="1"/>
          <p:nvPr>
            <p:ph idx="1" type="body"/>
          </p:nvPr>
        </p:nvSpPr>
        <p:spPr>
          <a:xfrm>
            <a:off x="1024127" y="2726266"/>
            <a:ext cx="9720073" cy="3726921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159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Char char=" "/>
            </a:pPr>
            <a:r>
              <a:rPr lang="en-GB" sz="3400"/>
              <a:t>This shows how easy it is for a business to pay back its short term debts. </a:t>
            </a:r>
            <a:endParaRPr/>
          </a:p>
          <a:p>
            <a:pPr indent="-2159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400"/>
              <a:buChar char=" "/>
            </a:pPr>
            <a:r>
              <a:rPr lang="en-GB" sz="3400"/>
              <a:t>Liquid means- easy to convert into cash </a:t>
            </a:r>
            <a:endParaRPr/>
          </a:p>
          <a:p>
            <a:pPr indent="-2159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400"/>
              <a:buChar char=" "/>
            </a:pPr>
            <a:r>
              <a:rPr lang="en-GB" sz="3400"/>
              <a:t>Liquid assets include; cash on hand but NOT stock as this can not be sold immediately!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CURRENT RATIO </a:t>
            </a:r>
            <a:endParaRPr/>
          </a:p>
        </p:txBody>
      </p:sp>
      <p:sp>
        <p:nvSpPr>
          <p:cNvPr id="323" name="Google Shape;323;p46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3000"/>
              <a:t>This measures a company's ability to pay short-term and long-term obligations.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rPr lang="en-GB" sz="3000"/>
              <a:t>A safe CR is anything above 1. e.g if the CR is 1.5 this means for every £1 the business owes, the company has more than £1 in current assets to pay them back.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LIQUID CAPITAL RATIO </a:t>
            </a:r>
            <a:endParaRPr/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solidFill>
            <a:schemeClr val="lt1"/>
          </a:solidFill>
          <a:ln cap="flat" cmpd="sng" w="571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This is a tougher test of liquidity as it excludes stock as stock can sometimes be difficult to convert into cash. This measures the company's ability to meet its liabilities immediately</a:t>
            </a:r>
            <a:endParaRPr/>
          </a:p>
          <a:p>
            <a:pPr indent="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If a liquid capital ratio is below 0.25, it means the business has very little cash in the bank or to be received by customers to pay debts immediately. </a:t>
            </a:r>
            <a:endParaRPr/>
          </a:p>
          <a:p>
            <a:pPr indent="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  <a:p>
            <a:pPr indent="0" lvl="0" marL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 txBox="1"/>
          <p:nvPr>
            <p:ph idx="4294967295" type="body"/>
          </p:nvPr>
        </p:nvSpPr>
        <p:spPr>
          <a:xfrm>
            <a:off x="474133" y="491068"/>
            <a:ext cx="11446934" cy="6028265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317500" lvl="1" marL="26517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Char char="🢝"/>
            </a:pPr>
            <a:r>
              <a:rPr b="1" lang="en-GB" sz="5000" u="sng">
                <a:solidFill>
                  <a:srgbClr val="CC00FF"/>
                </a:solidFill>
                <a:latin typeface="Arial"/>
                <a:ea typeface="Arial"/>
                <a:cs typeface="Arial"/>
                <a:sym typeface="Arial"/>
              </a:rPr>
              <a:t>Liquidity: </a:t>
            </a:r>
            <a:endParaRPr/>
          </a:p>
          <a:p>
            <a:pPr indent="-317500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5000"/>
              <a:buChar char="🢝"/>
            </a:pPr>
            <a:r>
              <a:rPr lang="en-GB" sz="5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Current ratio </a:t>
            </a:r>
            <a:r>
              <a:rPr lang="en-GB" sz="5000">
                <a:latin typeface="Arial"/>
                <a:ea typeface="Arial"/>
                <a:cs typeface="Arial"/>
                <a:sym typeface="Arial"/>
              </a:rPr>
              <a:t>= current assets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5000"/>
              <a:buNone/>
            </a:pPr>
            <a:r>
              <a:rPr lang="en-GB" sz="5000">
                <a:latin typeface="Arial"/>
                <a:ea typeface="Arial"/>
                <a:cs typeface="Arial"/>
                <a:sym typeface="Arial"/>
              </a:rPr>
              <a:t>		              current liabilities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5000"/>
              <a:buNone/>
            </a:pPr>
            <a:r>
              <a:t/>
            </a:r>
            <a:endParaRPr sz="5000">
              <a:latin typeface="Arial"/>
              <a:ea typeface="Arial"/>
              <a:cs typeface="Arial"/>
              <a:sym typeface="Arial"/>
            </a:endParaRPr>
          </a:p>
          <a:p>
            <a:pPr indent="-317500" lvl="1" marL="26517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5000"/>
              <a:buChar char="🢝"/>
            </a:pPr>
            <a:r>
              <a:rPr lang="en-GB" sz="5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Liquid Capital Ratio</a:t>
            </a:r>
            <a:r>
              <a:rPr lang="en-GB" sz="5000">
                <a:latin typeface="Arial"/>
                <a:ea typeface="Arial"/>
                <a:cs typeface="Arial"/>
                <a:sym typeface="Arial"/>
              </a:rPr>
              <a:t>= </a:t>
            </a:r>
            <a:endParaRPr/>
          </a:p>
          <a:p>
            <a:pPr indent="0" lvl="1" marL="128016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5000"/>
              <a:buNone/>
            </a:pPr>
            <a:r>
              <a:rPr lang="en-GB" sz="5000">
                <a:latin typeface="Arial"/>
                <a:ea typeface="Arial"/>
                <a:cs typeface="Arial"/>
                <a:sym typeface="Arial"/>
              </a:rPr>
              <a:t>		(current assets-inventory)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5000"/>
              <a:buNone/>
            </a:pPr>
            <a:r>
              <a:rPr lang="en-GB" sz="5000">
                <a:latin typeface="Arial"/>
                <a:ea typeface="Arial"/>
                <a:cs typeface="Arial"/>
                <a:sym typeface="Arial"/>
              </a:rPr>
              <a:t>		        current liabilities</a:t>
            </a:r>
            <a:endParaRPr/>
          </a:p>
        </p:txBody>
      </p:sp>
      <p:cxnSp>
        <p:nvCxnSpPr>
          <p:cNvPr id="335" name="Google Shape;335;p48"/>
          <p:cNvCxnSpPr/>
          <p:nvPr/>
        </p:nvCxnSpPr>
        <p:spPr>
          <a:xfrm flipH="1" rot="10800000">
            <a:off x="2984499" y="5113867"/>
            <a:ext cx="6426201" cy="14289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48"/>
          <p:cNvCxnSpPr/>
          <p:nvPr/>
        </p:nvCxnSpPr>
        <p:spPr>
          <a:xfrm>
            <a:off x="4998848" y="2036763"/>
            <a:ext cx="3975819" cy="121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>
            <p:ph type="title"/>
          </p:nvPr>
        </p:nvSpPr>
        <p:spPr>
          <a:xfrm>
            <a:off x="803995" y="87493"/>
            <a:ext cx="10812272" cy="8033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000"/>
              <a:buFont typeface="Twentieth Century"/>
              <a:buNone/>
            </a:pPr>
            <a:r>
              <a:rPr lang="en-GB" sz="3000"/>
              <a:t>COMPLETE THE FOLLOWING QUESTIONS IN YOUR BOOKS </a:t>
            </a:r>
            <a:endParaRPr sz="3000"/>
          </a:p>
        </p:txBody>
      </p:sp>
      <p:pic>
        <p:nvPicPr>
          <p:cNvPr descr="Screen Clipping" id="342" name="Google Shape;342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546" y="890811"/>
            <a:ext cx="5011054" cy="6085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Clipping" id="343" name="Google Shape;343;p49"/>
          <p:cNvPicPr preferRelativeResize="0"/>
          <p:nvPr/>
        </p:nvPicPr>
        <p:blipFill rotWithShape="1">
          <a:blip r:embed="rId4">
            <a:alphaModFix/>
          </a:blip>
          <a:srcRect b="27545" l="0" r="0" t="2747"/>
          <a:stretch/>
        </p:blipFill>
        <p:spPr>
          <a:xfrm>
            <a:off x="5689600" y="846666"/>
            <a:ext cx="6349491" cy="6011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/>
          <p:nvPr/>
        </p:nvSpPr>
        <p:spPr>
          <a:xfrm>
            <a:off x="803995" y="87493"/>
            <a:ext cx="10812272" cy="8033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3000"/>
              <a:buFont typeface="Twentieth Century"/>
              <a:buNone/>
            </a:pPr>
            <a:r>
              <a:rPr lang="en-GB" sz="3000" cap="non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COMPLETE THE FOLLOWING QUESTIONS IN YOUR BOOKS </a:t>
            </a:r>
            <a:endParaRPr sz="3000" cap="none">
              <a:solidFill>
                <a:srgbClr val="0C0C0C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Screen Clipping" id="349" name="Google Shape;34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4862" y="1037013"/>
            <a:ext cx="7950538" cy="5361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1024128" y="212682"/>
            <a:ext cx="9720072" cy="1155064"/>
          </a:xfrm>
          <a:prstGeom prst="rect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PLENARY </a:t>
            </a:r>
            <a:endParaRPr u="sng"/>
          </a:p>
        </p:txBody>
      </p:sp>
      <p:pic>
        <p:nvPicPr>
          <p:cNvPr descr="Screen Clipping" id="355" name="Google Shape;355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9633" y="1740280"/>
            <a:ext cx="7925834" cy="4917969"/>
          </a:xfrm>
          <a:prstGeom prst="rect">
            <a:avLst/>
          </a:prstGeom>
          <a:noFill/>
          <a:ln cap="flat" cmpd="sng" w="9525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