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</p:sldIdLst>
  <p:sldSz cy="6858000" cx="12192000"/>
  <p:notesSz cx="6858000" cy="9144000"/>
  <p:embeddedFontLst>
    <p:embeddedFont>
      <p:font typeface="Tahoma"/>
      <p:regular r:id="rId45"/>
      <p:bold r:id="rId4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9D791386-DE7D-4C1B-B4EF-2100895CD54F}">
  <a:tblStyle styleId="{9D791386-DE7D-4C1B-B4EF-2100895CD54F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20" Type="http://schemas.openxmlformats.org/officeDocument/2006/relationships/slide" Target="slides/slide1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22" Type="http://schemas.openxmlformats.org/officeDocument/2006/relationships/slide" Target="slides/slide17.xml"/><Relationship Id="rId44" Type="http://schemas.openxmlformats.org/officeDocument/2006/relationships/slide" Target="slides/slide39.xml"/><Relationship Id="rId21" Type="http://schemas.openxmlformats.org/officeDocument/2006/relationships/slide" Target="slides/slide16.xml"/><Relationship Id="rId43" Type="http://schemas.openxmlformats.org/officeDocument/2006/relationships/slide" Target="slides/slide38.xml"/><Relationship Id="rId24" Type="http://schemas.openxmlformats.org/officeDocument/2006/relationships/slide" Target="slides/slide19.xml"/><Relationship Id="rId46" Type="http://schemas.openxmlformats.org/officeDocument/2006/relationships/font" Target="fonts/Tahoma-bold.fntdata"/><Relationship Id="rId23" Type="http://schemas.openxmlformats.org/officeDocument/2006/relationships/slide" Target="slides/slide18.xml"/><Relationship Id="rId45" Type="http://schemas.openxmlformats.org/officeDocument/2006/relationships/font" Target="fonts/Tahoma-regular.fntdata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slide" Target="slides/slide30.xml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37" Type="http://schemas.openxmlformats.org/officeDocument/2006/relationships/slide" Target="slides/slide32.xml"/><Relationship Id="rId14" Type="http://schemas.openxmlformats.org/officeDocument/2006/relationships/slide" Target="slides/slide9.xml"/><Relationship Id="rId36" Type="http://schemas.openxmlformats.org/officeDocument/2006/relationships/slide" Target="slides/slide31.xml"/><Relationship Id="rId17" Type="http://schemas.openxmlformats.org/officeDocument/2006/relationships/slide" Target="slides/slide12.xml"/><Relationship Id="rId39" Type="http://schemas.openxmlformats.org/officeDocument/2006/relationships/slide" Target="slides/slide34.xml"/><Relationship Id="rId16" Type="http://schemas.openxmlformats.org/officeDocument/2006/relationships/slide" Target="slides/slide11.xml"/><Relationship Id="rId38" Type="http://schemas.openxmlformats.org/officeDocument/2006/relationships/slide" Target="slides/slide33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37" name="Google Shape;237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59" name="Google Shape;25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0" name="Google Shape;260;p2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2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68" name="Google Shape;268;p2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9" name="Google Shape;269;p2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2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2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2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p2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3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3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3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3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3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3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3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3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3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3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3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p3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3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" name="Google Shape;332;p3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3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9" name="Google Shape;339;p3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3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p3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3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1" name="Google Shape;41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2" name="Google Shape;42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3" name="Google Shape;53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4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7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5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12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6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9.png"/><Relationship Id="rId4" Type="http://schemas.openxmlformats.org/officeDocument/2006/relationships/image" Target="../media/image8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10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11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13.png"/><Relationship Id="rId4" Type="http://schemas.openxmlformats.org/officeDocument/2006/relationships/image" Target="../media/image16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14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15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429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400"/>
              <a:buChar char=" "/>
            </a:pPr>
            <a:r>
              <a:rPr lang="en-GB" sz="5400"/>
              <a:t>Learners will complete and interpret a statement of comprehensive income using given figures, and suggest appropriate actions.</a:t>
            </a:r>
            <a:endParaRPr sz="5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KEY WORDS</a:t>
            </a:r>
            <a:endParaRPr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389468" y="1642533"/>
            <a:ext cx="11446932" cy="487680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Profit</a:t>
            </a:r>
            <a:r>
              <a:rPr lang="en-GB" sz="2600"/>
              <a:t>:  is the financial return or reward that entrepreneurs aim to achieve. </a:t>
            </a:r>
            <a:r>
              <a:rPr b="1" lang="en-GB" sz="2600"/>
              <a:t>Profit</a:t>
            </a:r>
            <a:r>
              <a:rPr lang="en-GB" sz="2600"/>
              <a:t> is the surplus (leftover money) left from revenue after paying all costs. Profit is found by deducting total costs from revenue. In short: </a:t>
            </a:r>
            <a:r>
              <a:rPr b="1" lang="en-GB" sz="2600"/>
              <a:t>profit = total revenue - total costs</a:t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Loss: </a:t>
            </a:r>
            <a:r>
              <a:rPr lang="en-GB" sz="2600"/>
              <a:t>A </a:t>
            </a:r>
            <a:r>
              <a:rPr b="1" lang="en-GB" sz="2600"/>
              <a:t>loss</a:t>
            </a:r>
            <a:r>
              <a:rPr lang="en-GB" sz="2600"/>
              <a:t> is made when revenue from sales is not enough to cover all costs of production. 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/>
              <a:t>For example, if a company has a total revenue of £60,000 and a total cost of £90,000, then they have lost £30,000 from trading.</a:t>
            </a:r>
            <a:endParaRPr/>
          </a:p>
          <a:p>
            <a:pPr indent="0" lvl="0" marL="0" rtl="0" algn="ctr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How to manage losses: </a:t>
            </a:r>
            <a:endParaRPr b="1" sz="2600" u="sng"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Cutting costs</a:t>
            </a:r>
            <a:r>
              <a:rPr lang="en-GB" sz="2600"/>
              <a:t>, eg by letting staff go and asking those who remain to accept lower wages.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Increasing revenue</a:t>
            </a:r>
            <a:r>
              <a:rPr lang="en-GB" sz="2600"/>
              <a:t>, eg by cutting prices and selling more items - if demand is elastic</a:t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6000"/>
              <a:buFont typeface="Twentieth Century"/>
              <a:buNone/>
            </a:pPr>
            <a:r>
              <a:rPr lang="en-GB" sz="6000" u="sng"/>
              <a:t>KEY WORDS</a:t>
            </a:r>
            <a:endParaRPr sz="6000"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389468" y="1981199"/>
            <a:ext cx="11446932" cy="4538133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b="1" sz="50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b="1" lang="en-GB" sz="5000"/>
              <a:t>Profit = Total Revenue - Total Costs</a:t>
            </a:r>
            <a:endParaRPr sz="5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15" name="Google Shape;115;p16"/>
          <p:cNvSpPr/>
          <p:nvPr/>
        </p:nvSpPr>
        <p:spPr>
          <a:xfrm>
            <a:off x="728135" y="4555065"/>
            <a:ext cx="5046132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income earned by a business over a period of time, eg one month. The amount of revenue earned depends on two things - the number of items sold and their selling price. In short, </a:t>
            </a: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revenue = price x quantity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</a:t>
            </a:r>
            <a:endParaRPr b="1" i="0" sz="2000" u="none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6" name="Google Shape;116;p16"/>
          <p:cNvSpPr/>
          <p:nvPr/>
        </p:nvSpPr>
        <p:spPr>
          <a:xfrm>
            <a:off x="6112934" y="4555065"/>
            <a:ext cx="5554133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Costs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are the expenses involved in making a product. Firms incur costs by trading.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Some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variable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change with the amount produced.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stay the same even if more is produced</a:t>
            </a:r>
            <a:endParaRPr/>
          </a:p>
        </p:txBody>
      </p:sp>
      <p:sp>
        <p:nvSpPr>
          <p:cNvPr id="117" name="Google Shape;117;p16"/>
          <p:cNvSpPr/>
          <p:nvPr/>
        </p:nvSpPr>
        <p:spPr>
          <a:xfrm>
            <a:off x="5164666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8" name="Google Shape;118;p16"/>
          <p:cNvSpPr/>
          <p:nvPr/>
        </p:nvSpPr>
        <p:spPr>
          <a:xfrm>
            <a:off x="9254067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>
            <p:ph type="title"/>
          </p:nvPr>
        </p:nvSpPr>
        <p:spPr>
          <a:xfrm>
            <a:off x="755651" y="212218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FIXED COSTS</a:t>
            </a:r>
            <a:endParaRPr b="1" u="sng"/>
          </a:p>
        </p:txBody>
      </p:sp>
      <p:sp>
        <p:nvSpPr>
          <p:cNvPr id="124" name="Google Shape;124;p17"/>
          <p:cNvSpPr txBox="1"/>
          <p:nvPr>
            <p:ph idx="1" type="body"/>
          </p:nvPr>
        </p:nvSpPr>
        <p:spPr>
          <a:xfrm>
            <a:off x="755651" y="1202817"/>
            <a:ext cx="10505016" cy="5028649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FF00FF"/>
                </a:solidFill>
              </a:rPr>
              <a:t>Fixed Costs </a:t>
            </a:r>
            <a:r>
              <a:rPr lang="en-GB" sz="4000"/>
              <a:t>= costs that remain the same no matter how many items you make or sell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None/>
            </a:pPr>
            <a:r>
              <a:t/>
            </a:r>
            <a:endParaRPr sz="4000"/>
          </a:p>
          <a:p>
            <a:pPr indent="-2540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E.g- rent, salary, insurance, interest on a loan </a:t>
            </a:r>
            <a:endParaRPr/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5" name="Google Shape;125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6" name="Google Shape;126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7" name="Google Shape;127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8" name="Google Shape;128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9" name="Google Shape;129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8"/>
          <p:cNvSpPr txBox="1"/>
          <p:nvPr>
            <p:ph type="title"/>
          </p:nvPr>
        </p:nvSpPr>
        <p:spPr>
          <a:xfrm>
            <a:off x="823385" y="333375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VARIABLE COSTS</a:t>
            </a:r>
            <a:endParaRPr b="1" u="sng"/>
          </a:p>
        </p:txBody>
      </p:sp>
      <p:sp>
        <p:nvSpPr>
          <p:cNvPr id="135" name="Google Shape;135;p18"/>
          <p:cNvSpPr txBox="1"/>
          <p:nvPr>
            <p:ph idx="1" type="body"/>
          </p:nvPr>
        </p:nvSpPr>
        <p:spPr>
          <a:xfrm>
            <a:off x="823385" y="1476375"/>
            <a:ext cx="10521948" cy="489055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 u="sng">
                <a:solidFill>
                  <a:srgbClr val="FF00FF"/>
                </a:solidFill>
              </a:rPr>
              <a:t>Variable costs= </a:t>
            </a:r>
            <a:r>
              <a:rPr lang="en-GB" sz="3000"/>
              <a:t>This cost changes with </a:t>
            </a:r>
            <a:r>
              <a:rPr lang="en-GB" sz="3000" u="sng"/>
              <a:t>output</a:t>
            </a:r>
            <a:r>
              <a:rPr lang="en-GB" sz="3000"/>
              <a:t>, the more you make the higher the costs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You only pay these if you make something e.g. materials to make wooden boxes.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Eg. Stock, packaging, raw materials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/>
              <a:t>Variable costs= price per unit  x  quantity sold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9"/>
          <p:cNvSpPr txBox="1"/>
          <p:nvPr>
            <p:ph type="title"/>
          </p:nvPr>
        </p:nvSpPr>
        <p:spPr>
          <a:xfrm>
            <a:off x="818937" y="212218"/>
            <a:ext cx="6447501" cy="990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TOTAL COSTS</a:t>
            </a:r>
            <a:endParaRPr b="1" u="sng"/>
          </a:p>
        </p:txBody>
      </p:sp>
      <p:sp>
        <p:nvSpPr>
          <p:cNvPr id="141" name="Google Shape;141;p19"/>
          <p:cNvSpPr txBox="1"/>
          <p:nvPr>
            <p:ph idx="1" type="body"/>
          </p:nvPr>
        </p:nvSpPr>
        <p:spPr>
          <a:xfrm>
            <a:off x="818937" y="1354667"/>
            <a:ext cx="11051329" cy="4927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refers to the total costs of the business – which includes the fixed and variable costs.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formula is:</a:t>
            </a:r>
            <a:endParaRPr/>
          </a:p>
          <a:p>
            <a:pPr indent="-43815" lvl="3" marL="41148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550"/>
              <a:buFont typeface="Noto Sans Symbols"/>
              <a:buNone/>
            </a:pPr>
            <a:r>
              <a:t/>
            </a:r>
            <a:endParaRPr sz="3000"/>
          </a:p>
          <a:p>
            <a:pPr indent="-205740" lvl="3" marL="41148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550"/>
              <a:buFont typeface="Noto Sans Symbols"/>
              <a:buChar char="⚫"/>
            </a:pPr>
            <a:r>
              <a:rPr lang="en-GB" sz="3000"/>
              <a:t>Total costs = Fixed Costs + Variable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business is making no products, the total costs will be the same as the fixed costs, as these have to be paid no matter what!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sp>
        <p:nvSpPr>
          <p:cNvPr id="142" name="Google Shape;142;p19"/>
          <p:cNvSpPr txBox="1"/>
          <p:nvPr/>
        </p:nvSpPr>
        <p:spPr>
          <a:xfrm>
            <a:off x="8774506" y="2955482"/>
            <a:ext cx="1543050" cy="5078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5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Remember this for your exam!</a:t>
            </a:r>
            <a:endParaRPr/>
          </a:p>
        </p:txBody>
      </p:sp>
      <p:cxnSp>
        <p:nvCxnSpPr>
          <p:cNvPr id="143" name="Google Shape;143;p19"/>
          <p:cNvCxnSpPr/>
          <p:nvPr/>
        </p:nvCxnSpPr>
        <p:spPr>
          <a:xfrm flipH="1">
            <a:off x="7980272" y="3440230"/>
            <a:ext cx="739799" cy="682649"/>
          </a:xfrm>
          <a:prstGeom prst="straightConnector1">
            <a:avLst/>
          </a:prstGeom>
          <a:noFill/>
          <a:ln cap="flat" cmpd="sng" w="57150">
            <a:solidFill>
              <a:schemeClr val="accent1"/>
            </a:solidFill>
            <a:prstDash val="dash"/>
            <a:round/>
            <a:headEnd len="sm" w="sm" type="none"/>
            <a:tailEnd len="med" w="med" type="stealth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91354" y="239949"/>
            <a:ext cx="6447501" cy="93513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1</a:t>
            </a:r>
            <a:endParaRPr b="1" u="sng"/>
          </a:p>
        </p:txBody>
      </p:sp>
      <p:pic>
        <p:nvPicPr>
          <p:cNvPr id="149" name="Google Shape;149;p20"/>
          <p:cNvPicPr preferRelativeResize="0"/>
          <p:nvPr/>
        </p:nvPicPr>
        <p:blipFill rotWithShape="1">
          <a:blip r:embed="rId3">
            <a:alphaModFix/>
          </a:blip>
          <a:srcRect b="3732" l="2362" r="29767" t="17059"/>
          <a:stretch/>
        </p:blipFill>
        <p:spPr>
          <a:xfrm>
            <a:off x="907185" y="1017236"/>
            <a:ext cx="10150281" cy="5756097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1"/>
          <p:cNvSpPr txBox="1"/>
          <p:nvPr>
            <p:ph type="title"/>
          </p:nvPr>
        </p:nvSpPr>
        <p:spPr>
          <a:xfrm>
            <a:off x="1708152" y="1524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2</a:t>
            </a:r>
            <a:endParaRPr b="1" u="sng"/>
          </a:p>
        </p:txBody>
      </p:sp>
      <p:graphicFrame>
        <p:nvGraphicFramePr>
          <p:cNvPr id="155" name="Google Shape;155;p21"/>
          <p:cNvGraphicFramePr/>
          <p:nvPr/>
        </p:nvGraphicFramePr>
        <p:xfrm>
          <a:off x="1046691" y="973667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{9D791386-DE7D-4C1B-B4EF-2100895CD54F}</a:tableStyleId>
              </a:tblPr>
              <a:tblGrid>
                <a:gridCol w="2600050"/>
                <a:gridCol w="2600050"/>
                <a:gridCol w="2600050"/>
                <a:gridCol w="2600050"/>
              </a:tblGrid>
              <a:tr h="3804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Products made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Fixed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Variable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Total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30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40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</a:tbl>
          </a:graphicData>
        </a:graphic>
      </p:graphicFrame>
      <p:sp>
        <p:nvSpPr>
          <p:cNvPr id="156" name="Google Shape;156;p21"/>
          <p:cNvSpPr txBox="1"/>
          <p:nvPr/>
        </p:nvSpPr>
        <p:spPr>
          <a:xfrm>
            <a:off x="1046691" y="4330701"/>
            <a:ext cx="10400244" cy="215476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above table in your books showing the total costs if: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40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products are made</a:t>
            </a:r>
            <a:endParaRPr/>
          </a:p>
          <a:p>
            <a:pPr indent="-138112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variable cost is £50 per unit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sp>
        <p:nvSpPr>
          <p:cNvPr id="162" name="Google Shape;162;p22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‘Calculations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sp>
        <p:nvSpPr>
          <p:cNvPr id="168" name="Google Shape;168;p2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‘Profit and Loss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4"/>
          <p:cNvSpPr txBox="1"/>
          <p:nvPr>
            <p:ph type="title"/>
          </p:nvPr>
        </p:nvSpPr>
        <p:spPr>
          <a:xfrm>
            <a:off x="1631951" y="371475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RECAP!</a:t>
            </a:r>
            <a:endParaRPr b="1" u="sng"/>
          </a:p>
        </p:txBody>
      </p:sp>
      <p:sp>
        <p:nvSpPr>
          <p:cNvPr id="174" name="Google Shape;174;p24"/>
          <p:cNvSpPr txBox="1"/>
          <p:nvPr>
            <p:ph idx="1" type="body"/>
          </p:nvPr>
        </p:nvSpPr>
        <p:spPr>
          <a:xfrm>
            <a:off x="743822" y="1564049"/>
            <a:ext cx="10940178" cy="487061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4312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75"/>
              <a:buChar char=" "/>
            </a:pPr>
            <a:r>
              <a:rPr lang="en-GB" sz="3375"/>
              <a:t>A quick test…</a:t>
            </a:r>
            <a:endParaRPr/>
          </a:p>
          <a:p>
            <a:pPr indent="-314325" lvl="1" marL="685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25"/>
              <a:buFont typeface="Twentieth Century"/>
              <a:buNone/>
            </a:pPr>
            <a:r>
              <a:t/>
            </a:r>
            <a:endParaRPr sz="11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AutoNum type="arabicPeriod"/>
            </a:pPr>
            <a:r>
              <a:rPr lang="en-GB" sz="3225"/>
              <a:t>What is a fixed cost? Give an example.</a:t>
            </a:r>
            <a:endParaRPr/>
          </a:p>
          <a:p>
            <a:pPr indent="-180975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None/>
            </a:pPr>
            <a:r>
              <a:t/>
            </a:r>
            <a:endParaRPr sz="32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What is an Variable cost? Give an example.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Total cost formula?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0" lvl="1" marL="300037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None/>
            </a:pPr>
            <a:r>
              <a:rPr lang="en-GB" sz="3375"/>
              <a:t>5 marks </a:t>
            </a:r>
            <a:endParaRPr sz="3375"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</a:t>
            </a:r>
            <a:r>
              <a:rPr lang="en-GB"/>
              <a:t> </a:t>
            </a:r>
            <a:endParaRPr/>
          </a:p>
        </p:txBody>
      </p:sp>
      <p:sp>
        <p:nvSpPr>
          <p:cNvPr id="180" name="Google Shape;180;p2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Share 3 things you have learned today with your shoulder partner. </a:t>
            </a:r>
            <a:endParaRPr sz="5000"/>
          </a:p>
        </p:txBody>
      </p:sp>
      <p:pic>
        <p:nvPicPr>
          <p:cNvPr id="181" name="Google Shape;181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6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Twentieth Century"/>
              <a:buNone/>
            </a:pPr>
            <a:r>
              <a:rPr lang="en-GB" sz="3300" u="sng">
                <a:solidFill>
                  <a:schemeClr val="dk1"/>
                </a:solidFill>
              </a:rPr>
              <a:t>TITLE: B5 AND B7 STATEMENT OF COMPREHENSIVE INCOME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PROFIT AND LOSS – LESSON 2 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DATE : </a:t>
            </a:r>
            <a:endParaRPr/>
          </a:p>
        </p:txBody>
      </p:sp>
      <p:sp>
        <p:nvSpPr>
          <p:cNvPr id="187" name="Google Shape;187;p2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define and explain the different costs of a business. </a:t>
            </a:r>
            <a:endParaRPr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calculate profit/loss on a statement of comprehensive income. </a:t>
            </a:r>
            <a:endParaRPr sz="50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7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Twentieth Century"/>
              <a:buNone/>
            </a:pPr>
            <a:r>
              <a:rPr lang="en-GB" sz="6000" u="sng">
                <a:solidFill>
                  <a:schemeClr val="dk1"/>
                </a:solidFill>
              </a:rPr>
              <a:t>RECAP QUIZ </a:t>
            </a:r>
            <a:endParaRPr sz="6000"/>
          </a:p>
        </p:txBody>
      </p:sp>
      <p:sp>
        <p:nvSpPr>
          <p:cNvPr id="193" name="Google Shape;193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Define the term profit (1)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can a business do to minimize their losses?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difference between a fixed and a variable cost? (2)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formula for profit?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Which of the following are fixed costs? </a:t>
            </a:r>
            <a:r>
              <a:rPr lang="en-GB" sz="3000">
                <a:solidFill>
                  <a:srgbClr val="FF00FF"/>
                </a:solidFill>
              </a:rPr>
              <a:t>RENT, WAGES, STOCK, INSURANCE PAYMENTS, PACKAGING, LOAN REPAYMENT </a:t>
            </a:r>
            <a:endParaRPr sz="30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8" name="Google Shape;198;p28"/>
          <p:cNvGraphicFramePr/>
          <p:nvPr/>
        </p:nvGraphicFramePr>
        <p:xfrm>
          <a:off x="3169921" y="87558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{9D791386-DE7D-4C1B-B4EF-2100895CD54F}</a:tableStyleId>
              </a:tblPr>
              <a:tblGrid>
                <a:gridCol w="2875950"/>
                <a:gridCol w="2875950"/>
                <a:gridCol w="2875950"/>
              </a:tblGrid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GB" sz="2000" u="none" cap="none" strike="noStrike">
                          <a:solidFill>
                            <a:schemeClr val="dk1"/>
                          </a:solidFill>
                        </a:rPr>
                        <a:t>REVENUE</a:t>
                      </a:r>
                      <a:endParaRPr b="0" sz="2000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Merchandise Sales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£24,000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Cost of Merchandise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Gross Profit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£21,000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EXPENSES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Wages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£1500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Rent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Supplies/Stock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Utilities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Interest on Loan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£900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Taxes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Total: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£10,400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Net Profit/Loss: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£ 10,600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  <p:sp>
        <p:nvSpPr>
          <p:cNvPr id="199" name="Google Shape;199;p28"/>
          <p:cNvSpPr/>
          <p:nvPr/>
        </p:nvSpPr>
        <p:spPr>
          <a:xfrm>
            <a:off x="243840" y="467359"/>
            <a:ext cx="2661920" cy="6221675"/>
          </a:xfrm>
          <a:prstGeom prst="rect">
            <a:avLst/>
          </a:prstGeom>
          <a:solidFill>
            <a:schemeClr val="lt1"/>
          </a:solidFill>
          <a:ln cap="flat" cmpd="sng" w="1587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comprehensive income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: shows the profit or loss of an enterprise over time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what a simple comprehensive income statement looks like.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It will have details of all your revenues and all of your expenses.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You then need to be able to comment on whether or not the business is making a profit or a loss and comment in the financial position of the business. </a:t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52488" y="177538"/>
            <a:ext cx="11017779" cy="5147021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29"/>
          <p:cNvSpPr txBox="1"/>
          <p:nvPr/>
        </p:nvSpPr>
        <p:spPr>
          <a:xfrm>
            <a:off x="1524000" y="5516564"/>
            <a:ext cx="9144000" cy="708025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Total Sales Revenue – Cost of Sales = </a:t>
            </a:r>
            <a:r>
              <a:rPr b="1" lang="en-GB" sz="2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 – </a:t>
            </a: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other expenses =  </a:t>
            </a:r>
            <a:r>
              <a:rPr b="1" lang="en-GB" sz="2000">
                <a:solidFill>
                  <a:srgbClr val="0070C0"/>
                </a:solidFill>
                <a:latin typeface="Tahoma"/>
                <a:ea typeface="Tahoma"/>
                <a:cs typeface="Tahoma"/>
                <a:sym typeface="Tahoma"/>
              </a:rPr>
              <a:t>Net Profit (or Loss)</a:t>
            </a:r>
            <a:endParaRPr/>
          </a:p>
        </p:txBody>
      </p:sp>
      <p:sp>
        <p:nvSpPr>
          <p:cNvPr id="206" name="Google Shape;206;p29"/>
          <p:cNvSpPr txBox="1"/>
          <p:nvPr/>
        </p:nvSpPr>
        <p:spPr>
          <a:xfrm>
            <a:off x="5483226" y="6308726"/>
            <a:ext cx="1223963" cy="461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rPr lang="en-GB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Pg 124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0"/>
          <p:cNvSpPr txBox="1"/>
          <p:nvPr>
            <p:ph type="title"/>
          </p:nvPr>
        </p:nvSpPr>
        <p:spPr>
          <a:xfrm>
            <a:off x="2209800" y="115889"/>
            <a:ext cx="7772400" cy="8651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KEY WORDS 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12" name="Google Shape;212;p30"/>
          <p:cNvSpPr txBox="1"/>
          <p:nvPr>
            <p:ph idx="1" type="body"/>
          </p:nvPr>
        </p:nvSpPr>
        <p:spPr>
          <a:xfrm>
            <a:off x="378355" y="1315508"/>
            <a:ext cx="11458045" cy="3764492"/>
          </a:xfrm>
          <a:prstGeom prst="rect">
            <a:avLst/>
          </a:prstGeom>
          <a:solidFill>
            <a:srgbClr val="66FFCC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Gross Profit: the difference between the sales revenue and cost of making the product (cost of sales)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(Gross Profit = Sales Revenue- Cost of Sales )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Net Profit: the difference between the sales revenue and the total costs of the business 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(Net Profit= Gross Profit – Total Costs/Overheads)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1"/>
          <p:cNvSpPr txBox="1"/>
          <p:nvPr>
            <p:ph type="title"/>
          </p:nvPr>
        </p:nvSpPr>
        <p:spPr>
          <a:xfrm>
            <a:off x="2209801" y="176215"/>
            <a:ext cx="7772400" cy="947738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pic>
        <p:nvPicPr>
          <p:cNvPr descr="Screen Clipping" id="218" name="Google Shape;218;p3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14907" y="1123953"/>
            <a:ext cx="9267294" cy="5212109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31"/>
          <p:cNvSpPr/>
          <p:nvPr/>
        </p:nvSpPr>
        <p:spPr>
          <a:xfrm>
            <a:off x="766763" y="4508500"/>
            <a:ext cx="6832070" cy="162136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0" name="Google Shape;220;p31"/>
          <p:cNvSpPr/>
          <p:nvPr/>
        </p:nvSpPr>
        <p:spPr>
          <a:xfrm>
            <a:off x="1497542" y="4720872"/>
            <a:ext cx="5370512" cy="1008062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But what other costs might the business need to think about? </a:t>
            </a:r>
            <a:endParaRPr/>
          </a:p>
        </p:txBody>
      </p:sp>
      <p:sp>
        <p:nvSpPr>
          <p:cNvPr id="221" name="Google Shape;221;p31"/>
          <p:cNvSpPr/>
          <p:nvPr/>
        </p:nvSpPr>
        <p:spPr>
          <a:xfrm>
            <a:off x="7598833" y="1869725"/>
            <a:ext cx="3560234" cy="2058808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is this not the overall profit?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2" presetSubtype="4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+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32"/>
          <p:cNvSpPr txBox="1"/>
          <p:nvPr>
            <p:ph type="title"/>
          </p:nvPr>
        </p:nvSpPr>
        <p:spPr>
          <a:xfrm>
            <a:off x="2209800" y="188913"/>
            <a:ext cx="7772400" cy="11430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GROSS PROFIT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27" name="Google Shape;227;p32"/>
          <p:cNvSpPr txBox="1"/>
          <p:nvPr>
            <p:ph idx="1" type="body"/>
          </p:nvPr>
        </p:nvSpPr>
        <p:spPr>
          <a:xfrm>
            <a:off x="476249" y="1535113"/>
            <a:ext cx="11495617" cy="50688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/>
              <a:t>Revenue – Cost of Sales = Gross Profit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money made from selling a product (the revenue), </a:t>
            </a:r>
            <a:r>
              <a:rPr b="1" lang="en-GB" sz="3000"/>
              <a:t>AFTER</a:t>
            </a:r>
            <a:r>
              <a:rPr lang="en-GB" sz="3000"/>
              <a:t> the cost of producing the product (the cost of sales) has been deducted. This includes labour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E.g. It costs me £10 to make a table and I sell it for £16. Therefore, my Gross Profit is £6. 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3"/>
          <p:cNvSpPr txBox="1"/>
          <p:nvPr>
            <p:ph type="title"/>
          </p:nvPr>
        </p:nvSpPr>
        <p:spPr>
          <a:xfrm>
            <a:off x="1041062" y="27560"/>
            <a:ext cx="9720072" cy="119164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NET PROFIT</a:t>
            </a:r>
            <a:endParaRPr/>
          </a:p>
        </p:txBody>
      </p:sp>
      <p:sp>
        <p:nvSpPr>
          <p:cNvPr id="233" name="Google Shape;233;p33"/>
          <p:cNvSpPr txBox="1"/>
          <p:nvPr>
            <p:ph idx="1" type="body"/>
          </p:nvPr>
        </p:nvSpPr>
        <p:spPr>
          <a:xfrm>
            <a:off x="795865" y="1425576"/>
            <a:ext cx="10651067" cy="5229224"/>
          </a:xfrm>
          <a:prstGeom prst="rect">
            <a:avLst/>
          </a:prstGeom>
          <a:solidFill>
            <a:srgbClr val="F2F2F2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717" lvl="0" marL="9144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405"/>
              <a:buChar char=" "/>
            </a:pPr>
            <a:r>
              <a:rPr b="1" i="1" lang="en-GB" sz="2405"/>
              <a:t>The money made from selling a product after all costs (expenditure) have been deducted.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None/>
            </a:pPr>
            <a:r>
              <a:t/>
            </a:r>
            <a:endParaRPr i="1" sz="2405"/>
          </a:p>
          <a:p>
            <a:pPr indent="-15271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Char char=" "/>
            </a:pPr>
            <a:r>
              <a:rPr lang="en-GB" sz="2405"/>
              <a:t>In order to work out net profit, you first of all work out the gross profit, and then deduct any other expenditure involved in making or selling it.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-10572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Char char=" "/>
            </a:pPr>
            <a:r>
              <a:rPr b="1" lang="en-GB" sz="1665">
                <a:solidFill>
                  <a:srgbClr val="CC00FF"/>
                </a:solidFill>
              </a:rPr>
              <a:t>Net profit = Gross Profit - Expenditure</a:t>
            </a:r>
            <a:endParaRPr/>
          </a:p>
        </p:txBody>
      </p:sp>
      <p:pic>
        <p:nvPicPr>
          <p:cNvPr id="234" name="Google Shape;234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09333" y="2921001"/>
            <a:ext cx="5867400" cy="2697163"/>
          </a:xfrm>
          <a:prstGeom prst="rect">
            <a:avLst/>
          </a:prstGeom>
          <a:noFill/>
          <a:ln cap="flat" cmpd="sng" w="38100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4"/>
          <p:cNvSpPr txBox="1"/>
          <p:nvPr>
            <p:ph type="title"/>
          </p:nvPr>
        </p:nvSpPr>
        <p:spPr>
          <a:xfrm>
            <a:off x="1049697" y="267803"/>
            <a:ext cx="9720072" cy="105617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/>
          </a:p>
        </p:txBody>
      </p:sp>
      <p:sp>
        <p:nvSpPr>
          <p:cNvPr id="241" name="Google Shape;241;p34"/>
          <p:cNvSpPr txBox="1"/>
          <p:nvPr>
            <p:ph idx="1" type="body"/>
          </p:nvPr>
        </p:nvSpPr>
        <p:spPr>
          <a:xfrm>
            <a:off x="521760" y="1340909"/>
            <a:ext cx="5387973" cy="5050366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Using the following information, draw up a statement like on the example before: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A business has sales revenue of £25,000 which costs £12,500. </a:t>
            </a:r>
            <a:endParaRPr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solidFill>
                <a:srgbClr val="7AC0D4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It had to pay out rent of £1000, insurance at £500 and a salesman’s wages at £1000. </a:t>
            </a:r>
            <a:endParaRPr sz="3000">
              <a:solidFill>
                <a:srgbClr val="7AC0D4"/>
              </a:solidFill>
            </a:endParaRPr>
          </a:p>
        </p:txBody>
      </p:sp>
      <p:pic>
        <p:nvPicPr>
          <p:cNvPr id="242" name="Google Shape;242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6000" y="1340909"/>
            <a:ext cx="4860036" cy="5067299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35"/>
          <p:cNvSpPr txBox="1"/>
          <p:nvPr>
            <p:ph type="title"/>
          </p:nvPr>
        </p:nvSpPr>
        <p:spPr>
          <a:xfrm>
            <a:off x="1024127" y="110595"/>
            <a:ext cx="9720072" cy="112553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/>
          </a:p>
        </p:txBody>
      </p:sp>
      <p:pic>
        <p:nvPicPr>
          <p:cNvPr id="248" name="Google Shape;248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90896" y="1439333"/>
            <a:ext cx="10786533" cy="2510659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pic>
        <p:nvPicPr>
          <p:cNvPr id="249" name="Google Shape;249;p3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8726" y="1844675"/>
            <a:ext cx="4029075" cy="478155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250" name="Google Shape;250;p35"/>
          <p:cNvSpPr/>
          <p:nvPr/>
        </p:nvSpPr>
        <p:spPr>
          <a:xfrm>
            <a:off x="490896" y="4307840"/>
            <a:ext cx="5523824" cy="2113280"/>
          </a:xfrm>
          <a:prstGeom prst="rect">
            <a:avLst/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‘Comprehensive Income’ Worksheet found on the shared area.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6"/>
          <p:cNvSpPr txBox="1"/>
          <p:nvPr>
            <p:ph type="title"/>
          </p:nvPr>
        </p:nvSpPr>
        <p:spPr>
          <a:xfrm>
            <a:off x="1024128" y="297350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GROSS AND NET PROFIT MARGINS</a:t>
            </a:r>
            <a:endParaRPr/>
          </a:p>
        </p:txBody>
      </p:sp>
      <p:sp>
        <p:nvSpPr>
          <p:cNvPr id="256" name="Google Shape;256;p3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Gross profit margin</a:t>
            </a:r>
            <a:r>
              <a:rPr lang="en-GB"/>
              <a:t>- the % of sales revenue that is gross profit.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Gross profit / sales revenue x 100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 b="1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Net profit margin</a:t>
            </a:r>
            <a:r>
              <a:rPr lang="en-GB"/>
              <a:t> - the % of sales revenue that is net profit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Net profit / sales revenue x 100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37"/>
          <p:cNvSpPr txBox="1"/>
          <p:nvPr/>
        </p:nvSpPr>
        <p:spPr>
          <a:xfrm>
            <a:off x="1847851" y="3789364"/>
            <a:ext cx="3529013" cy="2308225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1"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£100,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63" name="Google Shape;263;p37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sp>
        <p:nvSpPr>
          <p:cNvPr id="264" name="Google Shape;264;p37"/>
          <p:cNvSpPr txBox="1"/>
          <p:nvPr/>
        </p:nvSpPr>
        <p:spPr>
          <a:xfrm>
            <a:off x="1597555" y="1485108"/>
            <a:ext cx="9527645" cy="2003159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</a:t>
            </a:r>
            <a:r>
              <a:rPr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% of sales revenue that is gross profit.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/ sales revenue x 100 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t/>
            </a:r>
            <a:endParaRPr b="1"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- the % of sales revenue that is net profit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/ sales revenue x 100 </a:t>
            </a:r>
            <a:endParaRPr/>
          </a:p>
        </p:txBody>
      </p:sp>
      <p:sp>
        <p:nvSpPr>
          <p:cNvPr id="265" name="Google Shape;265;p37"/>
          <p:cNvSpPr txBox="1"/>
          <p:nvPr/>
        </p:nvSpPr>
        <p:spPr>
          <a:xfrm>
            <a:off x="5664200" y="4076701"/>
            <a:ext cx="2954655" cy="1200329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Gross Profit Margin 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Net Profit Margin=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8"/>
          <p:cNvSpPr txBox="1"/>
          <p:nvPr/>
        </p:nvSpPr>
        <p:spPr>
          <a:xfrm>
            <a:off x="1055687" y="1742018"/>
            <a:ext cx="496728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2" name="Google Shape;272;p38"/>
          <p:cNvSpPr/>
          <p:nvPr/>
        </p:nvSpPr>
        <p:spPr>
          <a:xfrm>
            <a:off x="2813581" y="5339293"/>
            <a:ext cx="7483475" cy="553998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FF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Calculate the Gross and Net </a:t>
            </a:r>
            <a:r>
              <a:rPr b="1" lang="en-GB" sz="3000" u="sng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Profit</a:t>
            </a: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Margins</a:t>
            </a:r>
            <a:endParaRPr/>
          </a:p>
        </p:txBody>
      </p:sp>
      <p:sp>
        <p:nvSpPr>
          <p:cNvPr id="273" name="Google Shape;273;p38"/>
          <p:cNvSpPr txBox="1"/>
          <p:nvPr/>
        </p:nvSpPr>
        <p:spPr>
          <a:xfrm>
            <a:off x="6817253" y="1742018"/>
            <a:ext cx="473127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£150,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60,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4" name="Google Shape;274;p38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C1DF8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PRACTICE QUESTIONS</a:t>
            </a:r>
            <a:endParaRPr u="sng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pic>
        <p:nvPicPr>
          <p:cNvPr descr="Screen Clipping" id="280" name="Google Shape;280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1661" y="2084832"/>
            <a:ext cx="10380472" cy="4401522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4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descr="Screen Clipping" id="286" name="Google Shape;286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99860" y="2246728"/>
            <a:ext cx="9000405" cy="43344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idx="1" type="body"/>
          </p:nvPr>
        </p:nvSpPr>
        <p:spPr>
          <a:xfrm>
            <a:off x="429683" y="2012950"/>
            <a:ext cx="11474450" cy="484505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 (NPM)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Redgate is more profitable than Acme because it has a higher NPM by 1% (10% vs. 9%)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because it has lower overheads/expenses to pay, which would mean the net profit is higher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 (GPM)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Acme has a higher GPM than Redgate by 2% (22% vs. 20%)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could be because it has a higher sales revenue or because their cost of sales are lower. Both of these would result in a higher gross profit</a:t>
            </a:r>
            <a:endParaRPr/>
          </a:p>
        </p:txBody>
      </p:sp>
      <p:sp>
        <p:nvSpPr>
          <p:cNvPr id="292" name="Google Shape;292;p41"/>
          <p:cNvSpPr txBox="1"/>
          <p:nvPr>
            <p:ph type="title"/>
          </p:nvPr>
        </p:nvSpPr>
        <p:spPr>
          <a:xfrm>
            <a:off x="1007195" y="252984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ANSWERS 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42"/>
          <p:cNvSpPr txBox="1"/>
          <p:nvPr>
            <p:ph type="title"/>
          </p:nvPr>
        </p:nvSpPr>
        <p:spPr>
          <a:xfrm>
            <a:off x="1217706" y="24667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CC00FF"/>
                </a:solidFill>
              </a:rPr>
              <a:t>PLENARY- QUIZ</a:t>
            </a:r>
            <a:endParaRPr/>
          </a:p>
        </p:txBody>
      </p:sp>
      <p:sp>
        <p:nvSpPr>
          <p:cNvPr id="298" name="Google Shape;298;p42"/>
          <p:cNvSpPr txBox="1"/>
          <p:nvPr/>
        </p:nvSpPr>
        <p:spPr>
          <a:xfrm>
            <a:off x="556153" y="1926892"/>
            <a:ext cx="11043179" cy="341632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type of profit is calculated first?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is the most important figure of the 2 profit types?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another term for overheads?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How is sales revenue calculated?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meant by cost of sales? </a:t>
            </a:r>
            <a:endParaRPr/>
          </a:p>
        </p:txBody>
      </p:sp>
      <p:sp>
        <p:nvSpPr>
          <p:cNvPr id="299" name="Google Shape;299;p42"/>
          <p:cNvSpPr txBox="1"/>
          <p:nvPr/>
        </p:nvSpPr>
        <p:spPr>
          <a:xfrm>
            <a:off x="2296055" y="5704417"/>
            <a:ext cx="6769100" cy="522288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Write the answers on your whiteboard</a:t>
            </a:r>
            <a:endParaRPr sz="28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43"/>
          <p:cNvSpPr txBox="1"/>
          <p:nvPr>
            <p:ph type="title"/>
          </p:nvPr>
        </p:nvSpPr>
        <p:spPr>
          <a:xfrm>
            <a:off x="1024128" y="212683"/>
            <a:ext cx="9720072" cy="1499616"/>
          </a:xfrm>
          <a:prstGeom prst="rect">
            <a:avLst/>
          </a:prstGeom>
          <a:solidFill>
            <a:srgbClr val="D5EAAE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TITLE: B7 LIQUIDITY </a:t>
            </a:r>
            <a:br>
              <a:rPr lang="en-GB" u="sng"/>
            </a:br>
            <a:r>
              <a:rPr lang="en-GB" u="sng"/>
              <a:t>DATE : </a:t>
            </a:r>
            <a:endParaRPr u="sng"/>
          </a:p>
        </p:txBody>
      </p:sp>
      <p:sp>
        <p:nvSpPr>
          <p:cNvPr id="305" name="Google Shape;305;p43"/>
          <p:cNvSpPr txBox="1"/>
          <p:nvPr>
            <p:ph idx="1" type="body"/>
          </p:nvPr>
        </p:nvSpPr>
        <p:spPr>
          <a:xfrm>
            <a:off x="583862" y="1947334"/>
            <a:ext cx="11252538" cy="394546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CC00FF"/>
                </a:solidFill>
              </a:rPr>
              <a:t>Objectives: 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explain the term liquidity and explain how it is measured and used by a business. </a:t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interpret and analyse data (ratios and figures) in a scenario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STARTER: RECAP QUESTIONS </a:t>
            </a:r>
            <a:endParaRPr u="sng"/>
          </a:p>
        </p:txBody>
      </p:sp>
      <p:sp>
        <p:nvSpPr>
          <p:cNvPr id="311" name="Google Shape;311;p44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778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 "/>
            </a:pPr>
            <a:r>
              <a:rPr b="1" lang="en-GB" sz="2800">
                <a:latin typeface="Arial"/>
                <a:ea typeface="Arial"/>
                <a:cs typeface="Arial"/>
                <a:sym typeface="Arial"/>
              </a:rPr>
              <a:t>Definitions of: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Fixed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Long-term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Net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Capital and reserves (shares issues and retained profit)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4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LIQUIDITY</a:t>
            </a:r>
            <a:r>
              <a:rPr lang="en-GB"/>
              <a:t> </a:t>
            </a:r>
            <a:endParaRPr/>
          </a:p>
        </p:txBody>
      </p:sp>
      <p:sp>
        <p:nvSpPr>
          <p:cNvPr id="317" name="Google Shape;317;p45"/>
          <p:cNvSpPr txBox="1"/>
          <p:nvPr>
            <p:ph idx="1" type="body"/>
          </p:nvPr>
        </p:nvSpPr>
        <p:spPr>
          <a:xfrm>
            <a:off x="1024127" y="2726266"/>
            <a:ext cx="9720073" cy="3726921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59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This shows how easy it is for a business to pay back its short term debts.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means- easy to convert into cash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assets include; cash on hand but NOT stock as this can not be sold immediately! 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4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CURRENT RATIO </a:t>
            </a:r>
            <a:endParaRPr/>
          </a:p>
        </p:txBody>
      </p:sp>
      <p:sp>
        <p:nvSpPr>
          <p:cNvPr id="323" name="Google Shape;323;p4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This measures a company's ability to pay short-term and long-term obligations.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A safe CR is anything above 1. e.g if the CR is 1.5 this means for every £1 the business owes, the company has more than £1 in current assets to pay them back.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4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 CAPITAL RATIO </a:t>
            </a:r>
            <a:endParaRPr/>
          </a:p>
        </p:txBody>
      </p:sp>
      <p:sp>
        <p:nvSpPr>
          <p:cNvPr id="329" name="Google Shape;329;p4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is a tougher test of liquidity as it excludes stock as stock can sometimes be difficult to convert into cash. This measures the company's ability to meet its liabilities immediately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liquid capital ratio is below 0.25, it means the business has very little cash in the bank or to be received by customers to pay debts immediately.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48"/>
          <p:cNvSpPr txBox="1"/>
          <p:nvPr>
            <p:ph idx="4294967295" type="body"/>
          </p:nvPr>
        </p:nvSpPr>
        <p:spPr>
          <a:xfrm>
            <a:off x="474133" y="491068"/>
            <a:ext cx="11446934" cy="6028265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17500" lvl="1" marL="265176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Char char="🢝"/>
            </a:pPr>
            <a:r>
              <a:rPr b="1" lang="en-GB" sz="5000" u="sng">
                <a:solidFill>
                  <a:srgbClr val="CC00FF"/>
                </a:solidFill>
                <a:latin typeface="Arial"/>
                <a:ea typeface="Arial"/>
                <a:cs typeface="Arial"/>
                <a:sym typeface="Arial"/>
              </a:rPr>
              <a:t>Liquidity: </a:t>
            </a:r>
            <a:endParaRPr/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Current ratio 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current assets 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      current liabilities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sz="5000">
              <a:latin typeface="Arial"/>
              <a:ea typeface="Arial"/>
              <a:cs typeface="Arial"/>
              <a:sym typeface="Arial"/>
            </a:endParaRPr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Liquid Capital Ratio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</a:t>
            </a:r>
            <a:endParaRPr/>
          </a:p>
          <a:p>
            <a:pPr indent="0" lvl="1" marL="12801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(current assets-inventory)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current liabilities</a:t>
            </a:r>
            <a:endParaRPr/>
          </a:p>
        </p:txBody>
      </p:sp>
      <p:cxnSp>
        <p:nvCxnSpPr>
          <p:cNvPr id="335" name="Google Shape;335;p48"/>
          <p:cNvCxnSpPr/>
          <p:nvPr/>
        </p:nvCxnSpPr>
        <p:spPr>
          <a:xfrm flipH="1" rot="10800000">
            <a:off x="2984499" y="5113867"/>
            <a:ext cx="6426201" cy="14289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36" name="Google Shape;336;p48"/>
          <p:cNvCxnSpPr/>
          <p:nvPr/>
        </p:nvCxnSpPr>
        <p:spPr>
          <a:xfrm>
            <a:off x="4998848" y="2036763"/>
            <a:ext cx="3975819" cy="1217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49"/>
          <p:cNvSpPr txBox="1"/>
          <p:nvPr>
            <p:ph type="title"/>
          </p:nvPr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/>
              <a:t>COMPLETE THE FOLLOWING QUESTIONS IN YOUR BOOKS </a:t>
            </a:r>
            <a:endParaRPr sz="3000"/>
          </a:p>
        </p:txBody>
      </p:sp>
      <p:pic>
        <p:nvPicPr>
          <p:cNvPr descr="Screen Clipping" id="342" name="Google Shape;342;p4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78546" y="890811"/>
            <a:ext cx="5011054" cy="608572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343" name="Google Shape;343;p49"/>
          <p:cNvPicPr preferRelativeResize="0"/>
          <p:nvPr/>
        </p:nvPicPr>
        <p:blipFill rotWithShape="1">
          <a:blip r:embed="rId4">
            <a:alphaModFix/>
          </a:blip>
          <a:srcRect b="27545" l="0" r="0" t="2747"/>
          <a:stretch/>
        </p:blipFill>
        <p:spPr>
          <a:xfrm>
            <a:off x="5689600" y="846666"/>
            <a:ext cx="6349491" cy="60113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50"/>
          <p:cNvSpPr txBox="1"/>
          <p:nvPr/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FOLLOWING QUESTIONS IN YOUR BOOKS </a:t>
            </a:r>
            <a:endParaRPr sz="3000" cap="none">
              <a:solidFill>
                <a:srgbClr val="0C0C0C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Screen Clipping" id="349" name="Google Shape;349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34862" y="1037013"/>
            <a:ext cx="7950538" cy="53619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51"/>
          <p:cNvSpPr txBox="1"/>
          <p:nvPr>
            <p:ph type="title"/>
          </p:nvPr>
        </p:nvSpPr>
        <p:spPr>
          <a:xfrm>
            <a:off x="1024128" y="212682"/>
            <a:ext cx="9720072" cy="1155064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355" name="Google Shape;355;p5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69633" y="1740280"/>
            <a:ext cx="7925834" cy="4917969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