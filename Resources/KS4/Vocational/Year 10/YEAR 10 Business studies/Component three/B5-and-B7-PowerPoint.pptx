
<file path=[Content_Types].xml><?xml version="1.0" encoding="utf-8"?>
<Types xmlns="http://schemas.openxmlformats.org/package/2006/content-types">
  <Default ContentType="application/x-fontdata" Extension="fntdata"/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37.xml"/>
  <Override ContentType="application/vnd.openxmlformats-officedocument.presentationml.notesSlide+xml" PartName="/ppt/notesSlides/notesSlide29.xml"/>
  <Override ContentType="application/vnd.openxmlformats-officedocument.presentationml.notesSlide+xml" PartName="/ppt/notesSlides/notesSlide32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28.xml"/>
  <Override ContentType="application/vnd.openxmlformats-officedocument.presentationml.notesSlide+xml" PartName="/ppt/notesSlides/notesSlide33.xml"/>
  <Override ContentType="application/vnd.openxmlformats-officedocument.presentationml.notesSlide+xml" PartName="/ppt/notesSlides/notesSlide15.xml"/>
  <Override ContentType="application/vnd.openxmlformats-officedocument.presentationml.notesSlide+xml" PartName="/ppt/notesSlides/notesSlide11.xml"/>
  <Override ContentType="application/vnd.openxmlformats-officedocument.presentationml.notesSlide+xml" PartName="/ppt/notesSlides/notesSlide24.xml"/>
  <Override ContentType="application/vnd.openxmlformats-officedocument.presentationml.notesSlide+xml" PartName="/ppt/notesSlides/notesSlide12.xml"/>
  <Override ContentType="application/vnd.openxmlformats-officedocument.presentationml.notesSlide+xml" PartName="/ppt/notesSlides/notesSlide20.xml"/>
  <Override ContentType="application/vnd.openxmlformats-officedocument.presentationml.notesSlide+xml" PartName="/ppt/notesSlides/notesSlide17.xml"/>
  <Override ContentType="application/vnd.openxmlformats-officedocument.presentationml.notesSlide+xml" PartName="/ppt/notesSlides/notesSlide16.xml"/>
  <Override ContentType="application/vnd.openxmlformats-officedocument.presentationml.notesSlide+xml" PartName="/ppt/notesSlides/notesSlide21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34.xml"/>
  <Override ContentType="application/vnd.openxmlformats-officedocument.presentationml.notesSlide+xml" PartName="/ppt/notesSlides/notesSlide38.xml"/>
  <Override ContentType="application/vnd.openxmlformats-officedocument.presentationml.notesSlide+xml" PartName="/ppt/notesSlides/notesSlide4.xml"/>
  <Override ContentType="application/vnd.openxmlformats-officedocument.presentationml.notesSlide+xml" PartName="/ppt/notesSlides/notesSlide25.xml"/>
  <Override ContentType="application/vnd.openxmlformats-officedocument.presentationml.notesSlide+xml" PartName="/ppt/notesSlides/notesSlide18.xml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3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0.xml"/>
  <Override ContentType="application/vnd.openxmlformats-officedocument.presentationml.notesSlide+xml" PartName="/ppt/notesSlides/notesSlide22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26.xml"/>
  <Override ContentType="application/vnd.openxmlformats-officedocument.presentationml.notesSlide+xml" PartName="/ppt/notesSlides/notesSlide35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39.xml"/>
  <Override ContentType="application/vnd.openxmlformats-officedocument.presentationml.notesSlide+xml" PartName="/ppt/notesSlides/notesSlide31.xml"/>
  <Override ContentType="application/vnd.openxmlformats-officedocument.presentationml.notesSlide+xml" PartName="/ppt/notesSlides/notesSlide36.xml"/>
  <Override ContentType="application/vnd.openxmlformats-officedocument.presentationml.notesSlide+xml" PartName="/ppt/notesSlides/notesSlide19.xml"/>
  <Override ContentType="application/vnd.openxmlformats-officedocument.presentationml.notesSlide+xml" PartName="/ppt/notesSlides/notesSlide27.xml"/>
  <Override ContentType="application/vnd.openxmlformats-officedocument.presentationml.notesSlide+xml" PartName="/ppt/notesSlides/notesSlide14.xml"/>
  <Override ContentType="application/vnd.openxmlformats-officedocument.presentationml.notesSlide+xml" PartName="/ppt/notesSlides/notesSlide23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10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8.xml"/>
  <Override ContentType="application/vnd.openxmlformats-officedocument.presentationml.slide+xml" PartName="/ppt/slides/slide30.xml"/>
  <Override ContentType="application/vnd.openxmlformats-officedocument.presentationml.slide+xml" PartName="/ppt/slides/slide22.xml"/>
  <Override ContentType="application/vnd.openxmlformats-officedocument.presentationml.slide+xml" PartName="/ppt/slides/slide35.xml"/>
  <Override ContentType="application/vnd.openxmlformats-officedocument.presentationml.slide+xml" PartName="/ppt/slides/slide26.xml"/>
  <Override ContentType="application/vnd.openxmlformats-officedocument.presentationml.slide+xml" PartName="/ppt/slides/slide19.xml"/>
  <Override ContentType="application/vnd.openxmlformats-officedocument.presentationml.slide+xml" PartName="/ppt/slides/slide39.xml"/>
  <Override ContentType="application/vnd.openxmlformats-officedocument.presentationml.slide+xml" PartName="/ppt/slides/slide3.xml"/>
  <Override ContentType="application/vnd.openxmlformats-officedocument.presentationml.slide+xml" PartName="/ppt/slides/slide9.xml"/>
  <Override ContentType="application/vnd.openxmlformats-officedocument.presentationml.slide+xml" PartName="/ppt/slides/slide13.xml"/>
  <Override ContentType="application/vnd.openxmlformats-officedocument.presentationml.slide+xml" PartName="/ppt/slides/slide5.xml"/>
  <Override ContentType="application/vnd.openxmlformats-officedocument.presentationml.slide+xml" PartName="/ppt/slides/slide12.xml"/>
  <Override ContentType="application/vnd.openxmlformats-officedocument.presentationml.slide+xml" PartName="/ppt/slides/slide17.xml"/>
  <Override ContentType="application/vnd.openxmlformats-officedocument.presentationml.slide+xml" PartName="/ppt/slides/slide25.xml"/>
  <Override ContentType="application/vnd.openxmlformats-officedocument.presentationml.slide+xml" PartName="/ppt/slides/slide34.xml"/>
  <Override ContentType="application/vnd.openxmlformats-officedocument.presentationml.slide+xml" PartName="/ppt/slides/slide20.xml"/>
  <Override ContentType="application/vnd.openxmlformats-officedocument.presentationml.slide+xml" PartName="/ppt/slides/slide21.xml"/>
  <Override ContentType="application/vnd.openxmlformats-officedocument.presentationml.slide+xml" PartName="/ppt/slides/slide33.xml"/>
  <Override ContentType="application/vnd.openxmlformats-officedocument.presentationml.slide+xml" PartName="/ppt/slides/slide38.xml"/>
  <Override ContentType="application/vnd.openxmlformats-officedocument.presentationml.slide+xml" PartName="/ppt/slides/slide16.xml"/>
  <Override ContentType="application/vnd.openxmlformats-officedocument.presentationml.slide+xml" PartName="/ppt/slides/slide8.xml"/>
  <Override ContentType="application/vnd.openxmlformats-officedocument.presentationml.slide+xml" PartName="/ppt/slides/slide29.xml"/>
  <Override ContentType="application/vnd.openxmlformats-officedocument.presentationml.slide+xml" PartName="/ppt/slides/slide24.xml"/>
  <Override ContentType="application/vnd.openxmlformats-officedocument.presentationml.slide+xml" PartName="/ppt/slides/slide11.xml"/>
  <Override ContentType="application/vnd.openxmlformats-officedocument.presentationml.slide+xml" PartName="/ppt/slides/slide32.xml"/>
  <Override ContentType="application/vnd.openxmlformats-officedocument.presentationml.slide+xml" PartName="/ppt/slides/slide37.xml"/>
  <Override ContentType="application/vnd.openxmlformats-officedocument.presentationml.slide+xml" PartName="/ppt/slides/slide1.xml"/>
  <Override ContentType="application/vnd.openxmlformats-officedocument.presentationml.slide+xml" PartName="/ppt/slides/slide28.xml"/>
  <Override ContentType="application/vnd.openxmlformats-officedocument.presentationml.slide+xml" PartName="/ppt/slides/slide7.xml"/>
  <Override ContentType="application/vnd.openxmlformats-officedocument.presentationml.slide+xml" PartName="/ppt/slides/slide15.xml"/>
  <Override ContentType="application/vnd.openxmlformats-officedocument.presentationml.slide+xml" PartName="/ppt/slides/slide36.xml"/>
  <Override ContentType="application/vnd.openxmlformats-officedocument.presentationml.slide+xml" PartName="/ppt/slides/slide31.xml"/>
  <Override ContentType="application/vnd.openxmlformats-officedocument.presentationml.slide+xml" PartName="/ppt/slides/slide23.xml"/>
  <Override ContentType="application/vnd.openxmlformats-officedocument.presentationml.slide+xml" PartName="/ppt/slides/slide27.xml"/>
  <Override ContentType="application/vnd.openxmlformats-officedocument.presentationml.slide+xml" PartName="/ppt/slides/slide10.xml"/>
  <Override ContentType="application/vnd.openxmlformats-officedocument.presentationml.slide+xml" PartName="/ppt/slides/slide2.xml"/>
  <Override ContentType="application/vnd.openxmlformats-officedocument.presentationml.slide+xml" PartName="/ppt/slides/slide6.xml"/>
  <Override ContentType="application/vnd.openxmlformats-officedocument.presentationml.slide+xml" PartName="/ppt/slides/slide14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embedTrueTypeFonts="1" strictFirstAndLastChars="0" saveSubsetFonts="1">
  <p:sldMasterIdLst>
    <p:sldMasterId id="2147483659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  <p:sldId id="265" r:id="rId15"/>
    <p:sldId id="266" r:id="rId16"/>
    <p:sldId id="267" r:id="rId17"/>
    <p:sldId id="268" r:id="rId18"/>
    <p:sldId id="269" r:id="rId19"/>
    <p:sldId id="270" r:id="rId20"/>
    <p:sldId id="271" r:id="rId21"/>
    <p:sldId id="272" r:id="rId22"/>
    <p:sldId id="273" r:id="rId23"/>
    <p:sldId id="274" r:id="rId24"/>
    <p:sldId id="275" r:id="rId25"/>
    <p:sldId id="276" r:id="rId26"/>
    <p:sldId id="277" r:id="rId27"/>
    <p:sldId id="278" r:id="rId28"/>
    <p:sldId id="279" r:id="rId29"/>
    <p:sldId id="280" r:id="rId30"/>
    <p:sldId id="281" r:id="rId31"/>
    <p:sldId id="282" r:id="rId32"/>
    <p:sldId id="283" r:id="rId33"/>
    <p:sldId id="284" r:id="rId34"/>
    <p:sldId id="285" r:id="rId35"/>
    <p:sldId id="286" r:id="rId36"/>
    <p:sldId id="287" r:id="rId37"/>
    <p:sldId id="288" r:id="rId38"/>
    <p:sldId id="289" r:id="rId39"/>
    <p:sldId id="290" r:id="rId40"/>
    <p:sldId id="291" r:id="rId41"/>
    <p:sldId id="292" r:id="rId42"/>
    <p:sldId id="293" r:id="rId43"/>
    <p:sldId id="294" r:id="rId44"/>
  </p:sldIdLst>
  <p:sldSz cy="6858000" cx="12192000"/>
  <p:notesSz cx="6858000" cy="9144000"/>
  <p:embeddedFontLst>
    <p:embeddedFont>
      <p:font typeface="Tahoma"/>
      <p:regular r:id="rId45"/>
      <p:bold r:id="rId46"/>
    </p:embeddedFont>
  </p:embeddedFontLst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EC424833-5E9B-4EDE-A9BD-128D0D3B2B1E}">
  <a:tblStyle styleId="{EC424833-5E9B-4EDE-A9BD-128D0D3B2B1E}" styleName="Table_0">
    <a:wholeTbl>
      <a:tcTxStyle b="off" i="off">
        <a:font>
          <a:latin typeface="Tw Cen MT"/>
          <a:ea typeface="Tw Cen MT"/>
          <a:cs typeface="Tw Cen MT"/>
        </a:font>
        <a:schemeClr val="dk1"/>
      </a:tcTxStyle>
      <a:tcStyle>
        <a:tcBdr>
          <a:lef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left>
          <a:righ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right>
          <a:top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  <a:bottom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  <a:insideH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H>
          <a:insideV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V>
        </a:tcBdr>
        <a:fill>
          <a:solidFill>
            <a:srgbClr val="EFF6E7"/>
          </a:solidFill>
        </a:fill>
      </a:tcStyle>
    </a:wholeTbl>
    <a:band1H>
      <a:tcTxStyle/>
      <a:tcStyle>
        <a:fill>
          <a:solidFill>
            <a:srgbClr val="DDECCC"/>
          </a:solidFill>
        </a:fill>
      </a:tcStyle>
    </a:band1H>
    <a:band2H>
      <a:tcTxStyle/>
    </a:band2H>
    <a:band1V>
      <a:tcTxStyle/>
      <a:tcStyle>
        <a:fill>
          <a:solidFill>
            <a:srgbClr val="DDECCC"/>
          </a:solidFill>
        </a:fill>
      </a:tcStyle>
    </a:band1V>
    <a:band2V>
      <a:tcTxStyle/>
    </a:band2V>
    <a:la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lastCol>
    <a:fir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firstCol>
    <a:la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top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</a:tcBdr>
        <a:fill>
          <a:solidFill>
            <a:schemeClr val="accent1"/>
          </a:solidFill>
        </a:fill>
      </a:tcStyle>
    </a:lastRow>
    <a:seCell>
      <a:tcTxStyle/>
    </a:seCell>
    <a:swCell>
      <a:tcTxStyle/>
    </a:swCell>
    <a:fir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bottom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</a:tcBdr>
        <a:fill>
          <a:solidFill>
            <a:schemeClr val="accent1"/>
          </a:solidFill>
        </a:fill>
      </a:tcStyle>
    </a:firstRow>
    <a:neCell>
      <a:tcTxStyle/>
    </a:neCell>
    <a:nwCell>
      <a:tcTxStyle/>
    </a:nwCell>
  </a:tblStyle>
</a:tblStyleLst>
</file>

<file path=ppt/_rels/presentation.xml.rels><?xml version="1.0" encoding="UTF-8" standalone="yes"?><Relationships xmlns="http://schemas.openxmlformats.org/package/2006/relationships"><Relationship Id="rId40" Type="http://schemas.openxmlformats.org/officeDocument/2006/relationships/slide" Target="slides/slide35.xml"/><Relationship Id="rId20" Type="http://schemas.openxmlformats.org/officeDocument/2006/relationships/slide" Target="slides/slide15.xml"/><Relationship Id="rId42" Type="http://schemas.openxmlformats.org/officeDocument/2006/relationships/slide" Target="slides/slide37.xml"/><Relationship Id="rId41" Type="http://schemas.openxmlformats.org/officeDocument/2006/relationships/slide" Target="slides/slide36.xml"/><Relationship Id="rId22" Type="http://schemas.openxmlformats.org/officeDocument/2006/relationships/slide" Target="slides/slide17.xml"/><Relationship Id="rId44" Type="http://schemas.openxmlformats.org/officeDocument/2006/relationships/slide" Target="slides/slide39.xml"/><Relationship Id="rId21" Type="http://schemas.openxmlformats.org/officeDocument/2006/relationships/slide" Target="slides/slide16.xml"/><Relationship Id="rId43" Type="http://schemas.openxmlformats.org/officeDocument/2006/relationships/slide" Target="slides/slide38.xml"/><Relationship Id="rId24" Type="http://schemas.openxmlformats.org/officeDocument/2006/relationships/slide" Target="slides/slide19.xml"/><Relationship Id="rId46" Type="http://schemas.openxmlformats.org/officeDocument/2006/relationships/font" Target="fonts/Tahoma-bold.fntdata"/><Relationship Id="rId23" Type="http://schemas.openxmlformats.org/officeDocument/2006/relationships/slide" Target="slides/slide18.xml"/><Relationship Id="rId45" Type="http://schemas.openxmlformats.org/officeDocument/2006/relationships/font" Target="fonts/Tahoma-regular.fntdata"/><Relationship Id="rId1" Type="http://schemas.openxmlformats.org/officeDocument/2006/relationships/theme" Target="theme/theme1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26" Type="http://schemas.openxmlformats.org/officeDocument/2006/relationships/slide" Target="slides/slide21.xml"/><Relationship Id="rId25" Type="http://schemas.openxmlformats.org/officeDocument/2006/relationships/slide" Target="slides/slide20.xml"/><Relationship Id="rId28" Type="http://schemas.openxmlformats.org/officeDocument/2006/relationships/slide" Target="slides/slide23.xml"/><Relationship Id="rId27" Type="http://schemas.openxmlformats.org/officeDocument/2006/relationships/slide" Target="slides/slide22.xml"/><Relationship Id="rId5" Type="http://schemas.openxmlformats.org/officeDocument/2006/relationships/notesMaster" Target="notesMasters/notesMaster1.xml"/><Relationship Id="rId6" Type="http://schemas.openxmlformats.org/officeDocument/2006/relationships/slide" Target="slides/slide1.xml"/><Relationship Id="rId29" Type="http://schemas.openxmlformats.org/officeDocument/2006/relationships/slide" Target="slides/slide24.xml"/><Relationship Id="rId7" Type="http://schemas.openxmlformats.org/officeDocument/2006/relationships/slide" Target="slides/slide2.xml"/><Relationship Id="rId8" Type="http://schemas.openxmlformats.org/officeDocument/2006/relationships/slide" Target="slides/slide3.xml"/><Relationship Id="rId31" Type="http://schemas.openxmlformats.org/officeDocument/2006/relationships/slide" Target="slides/slide26.xml"/><Relationship Id="rId30" Type="http://schemas.openxmlformats.org/officeDocument/2006/relationships/slide" Target="slides/slide25.xml"/><Relationship Id="rId11" Type="http://schemas.openxmlformats.org/officeDocument/2006/relationships/slide" Target="slides/slide6.xml"/><Relationship Id="rId33" Type="http://schemas.openxmlformats.org/officeDocument/2006/relationships/slide" Target="slides/slide28.xml"/><Relationship Id="rId10" Type="http://schemas.openxmlformats.org/officeDocument/2006/relationships/slide" Target="slides/slide5.xml"/><Relationship Id="rId32" Type="http://schemas.openxmlformats.org/officeDocument/2006/relationships/slide" Target="slides/slide27.xml"/><Relationship Id="rId13" Type="http://schemas.openxmlformats.org/officeDocument/2006/relationships/slide" Target="slides/slide8.xml"/><Relationship Id="rId35" Type="http://schemas.openxmlformats.org/officeDocument/2006/relationships/slide" Target="slides/slide30.xml"/><Relationship Id="rId12" Type="http://schemas.openxmlformats.org/officeDocument/2006/relationships/slide" Target="slides/slide7.xml"/><Relationship Id="rId34" Type="http://schemas.openxmlformats.org/officeDocument/2006/relationships/slide" Target="slides/slide29.xml"/><Relationship Id="rId15" Type="http://schemas.openxmlformats.org/officeDocument/2006/relationships/slide" Target="slides/slide10.xml"/><Relationship Id="rId37" Type="http://schemas.openxmlformats.org/officeDocument/2006/relationships/slide" Target="slides/slide32.xml"/><Relationship Id="rId14" Type="http://schemas.openxmlformats.org/officeDocument/2006/relationships/slide" Target="slides/slide9.xml"/><Relationship Id="rId36" Type="http://schemas.openxmlformats.org/officeDocument/2006/relationships/slide" Target="slides/slide31.xml"/><Relationship Id="rId17" Type="http://schemas.openxmlformats.org/officeDocument/2006/relationships/slide" Target="slides/slide12.xml"/><Relationship Id="rId39" Type="http://schemas.openxmlformats.org/officeDocument/2006/relationships/slide" Target="slides/slide34.xml"/><Relationship Id="rId16" Type="http://schemas.openxmlformats.org/officeDocument/2006/relationships/slide" Target="slides/slide11.xml"/><Relationship Id="rId38" Type="http://schemas.openxmlformats.org/officeDocument/2006/relationships/slide" Target="slides/slide33.xml"/><Relationship Id="rId19" Type="http://schemas.openxmlformats.org/officeDocument/2006/relationships/slide" Target="slides/slide14.xml"/><Relationship Id="rId18" Type="http://schemas.openxmlformats.org/officeDocument/2006/relationships/slide" Target="slides/slide1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GB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p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3" name="Google Shape;93;p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7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p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9" name="Google Shape;99;p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3" name="Shape 1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4" name="Google Shape;104;p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5" name="Google Shape;105;p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9" name="Shape 10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0" name="Google Shape;110;p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1" name="Google Shape;111;p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9" name="Shape 11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0" name="Google Shape;120;p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1" name="Google Shape;121;p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0" name="Shape 1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1" name="Google Shape;131;p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2" name="Google Shape;132;p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6" name="Shape 13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7" name="Google Shape;137;p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8" name="Google Shape;138;p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4" name="Shape 1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5" name="Google Shape;145;p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6" name="Google Shape;146;p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0" name="Shape 1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1" name="Google Shape;151;p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2" name="Google Shape;152;p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7" name="Shape 15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8" name="Google Shape;158;p1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9" name="Google Shape;159;p1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63" name="Shape 1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4" name="Google Shape;164;p1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65" name="Google Shape;165;p1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69" name="Shape 16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0" name="Google Shape;170;p1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71" name="Google Shape;171;p1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75" name="Shape 17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6" name="Google Shape;176;p1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77" name="Google Shape;177;p1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82" name="Shape 18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3" name="Google Shape;183;p1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84" name="Google Shape;184;p1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88" name="Shape 18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9" name="Google Shape;189;p1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90" name="Google Shape;190;p1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94" name="Shape 1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5" name="Google Shape;195;p1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96" name="Google Shape;196;p1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00" name="Shape 2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1" name="Google Shape;201;p1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2" name="Google Shape;202;p1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07" name="Shape 20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8" name="Google Shape;208;p1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9" name="Google Shape;209;p1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13" name="Shape 2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4" name="Google Shape;214;p1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15" name="Google Shape;215;p1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22" name="Shape 2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3" name="Google Shape;223;p2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24" name="Google Shape;224;p2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28" name="Shape 2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9" name="Google Shape;229;p2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30" name="Google Shape;230;p2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35" name="Shape 23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6" name="Google Shape;236;p2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</p:sp>
      <p:sp>
        <p:nvSpPr>
          <p:cNvPr id="237" name="Google Shape;237;p2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38" name="Google Shape;238;p22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 sz="1200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‹#›</a:t>
            </a:fld>
            <a:endParaRPr sz="1200">
              <a:solidFill>
                <a:schemeClr val="dk1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</p:txBody>
      </p:sp>
    </p:spTree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43" name="Shape 24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4" name="Google Shape;244;p2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45" name="Google Shape;245;p2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51" name="Shape 25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2" name="Google Shape;252;p2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53" name="Google Shape;253;p2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57" name="Shape 25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8" name="Google Shape;258;p2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</p:sp>
      <p:sp>
        <p:nvSpPr>
          <p:cNvPr id="259" name="Google Shape;259;p2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1.GP: 25000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2.NP:10000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3.22%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4.9%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5.</a:t>
            </a:r>
            <a:endParaRPr/>
          </a:p>
        </p:txBody>
      </p:sp>
      <p:sp>
        <p:nvSpPr>
          <p:cNvPr id="260" name="Google Shape;260;p25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 sz="1200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‹#›</a:t>
            </a:fld>
            <a:endParaRPr sz="1200">
              <a:solidFill>
                <a:schemeClr val="dk1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</p:txBody>
      </p:sp>
    </p:spTree>
  </p:cSld>
  <p:clrMapOvr>
    <a:masterClrMapping/>
  </p:clrMapOvr>
</p:notes>
</file>

<file path=ppt/notesSlides/notesSlide2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66" name="Shape 2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7" name="Google Shape;267;p2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</p:sp>
      <p:sp>
        <p:nvSpPr>
          <p:cNvPr id="268" name="Google Shape;268;p2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1.GP: 25000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2.NP:10000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3.22%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4.9%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5.</a:t>
            </a:r>
            <a:endParaRPr/>
          </a:p>
        </p:txBody>
      </p:sp>
      <p:sp>
        <p:nvSpPr>
          <p:cNvPr id="269" name="Google Shape;269;p26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 sz="1200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‹#›</a:t>
            </a:fld>
            <a:endParaRPr sz="1200">
              <a:solidFill>
                <a:schemeClr val="dk1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</p:txBody>
      </p:sp>
    </p:spTree>
  </p:cSld>
  <p:clrMapOvr>
    <a:masterClrMapping/>
  </p:clrMapOvr>
</p:notes>
</file>

<file path=ppt/notesSlides/notesSlide2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75" name="Shape 27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6" name="Google Shape;276;p2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77" name="Google Shape;277;p2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81" name="Shape 28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2" name="Google Shape;282;p2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83" name="Google Shape;283;p2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87" name="Shape 28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8" name="Google Shape;288;p2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89" name="Google Shape;289;p2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93" name="Shape 29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4" name="Google Shape;294;p3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95" name="Google Shape;295;p3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00" name="Shape 3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1" name="Google Shape;301;p3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02" name="Google Shape;302;p3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06" name="Shape 3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7" name="Google Shape;307;p3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08" name="Google Shape;308;p3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12" name="Shape 31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3" name="Google Shape;313;p3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14" name="Google Shape;314;p3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18" name="Shape 31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9" name="Google Shape;319;p3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20" name="Google Shape;320;p3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24" name="Shape 3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5" name="Google Shape;325;p3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26" name="Google Shape;326;p3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30" name="Shape 3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1" name="Google Shape;331;p3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32" name="Google Shape;332;p3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37" name="Shape 33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8" name="Google Shape;338;p3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39" name="Google Shape;339;p3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44" name="Shape 3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45" name="Google Shape;345;p3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46" name="Google Shape;346;p3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50" name="Shape 3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51" name="Google Shape;351;p3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52" name="Google Shape;352;p3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showMasterSp="0" type="title">
  <p:cSld name="TITLE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2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8" name="Google Shape;18;p2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lvl="1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/>
            </a:lvl2pPr>
            <a:lvl3pPr lvl="2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4pPr>
            <a:lvl5pPr lvl="4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5pPr>
            <a:lvl6pPr lvl="5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6pPr>
            <a:lvl7pPr lvl="6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7pPr>
            <a:lvl8pPr lvl="7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8pPr>
            <a:lvl9pPr lvl="8" algn="ctr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None/>
              <a:defRPr sz="1800"/>
            </a:lvl9pPr>
          </a:lstStyle>
          <a:p/>
        </p:txBody>
      </p:sp>
      <p:sp>
        <p:nvSpPr>
          <p:cNvPr id="19" name="Google Shape;19;p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1" name="Google Shape;21;p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22" name="Google Shape;22;p2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3" name="Google Shape;23;p2"/>
          <p:cNvSpPr/>
          <p:nvPr/>
        </p:nvSpPr>
        <p:spPr>
          <a:xfrm>
            <a:off x="0" y="0"/>
            <a:ext cx="12192000" cy="4572001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Content" type="obj">
  <p:cSld name="OBJECT">
    <p:spTree>
      <p:nvGrpSpPr>
        <p:cNvPr id="24" name="Shape 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Google Shape;25;p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27" name="Google Shape;27;p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8" name="Google Shape;28;p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30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4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4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3" name="Google Shape;33;p4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4" name="Google Shape;34;p4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showMasterSp="0" type="secHead">
  <p:cSld name="SECTION_HEADER">
    <p:spTree>
      <p:nvGrpSpPr>
        <p:cNvPr id="35" name="Shape 3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6" name="Google Shape;36;p5"/>
          <p:cNvSpPr txBox="1"/>
          <p:nvPr>
            <p:ph type="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7" name="Google Shape;37;p5"/>
          <p:cNvSpPr txBox="1"/>
          <p:nvPr>
            <p:ph idx="1" type="body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38" name="Google Shape;38;p5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9" name="Google Shape;39;p5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0" name="Google Shape;40;p5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41" name="Google Shape;41;p5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42" name="Google Shape;42;p5"/>
          <p:cNvSpPr/>
          <p:nvPr/>
        </p:nvSpPr>
        <p:spPr>
          <a:xfrm>
            <a:off x="0" y="-1"/>
            <a:ext cx="12192000" cy="4572000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wo Content" type="twoObj">
  <p:cSld name="TWO_OBJECTS">
    <p:spTree>
      <p:nvGrpSpPr>
        <p:cNvPr id="43" name="Shape 4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4" name="Google Shape;44;p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5" name="Google Shape;45;p6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6" name="Google Shape;46;p6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7" name="Google Shape;47;p6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8" name="Google Shape;48;p6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9" name="Google Shape;49;p6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mparison" type="twoTxTwoObj">
  <p:cSld name="TWO_OBJECTS_WITH_TEXT">
    <p:spTree>
      <p:nvGrpSpPr>
        <p:cNvPr id="50" name="Shape 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1" name="Google Shape;51;p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2" name="Google Shape;52;p7"/>
          <p:cNvSpPr txBox="1"/>
          <p:nvPr>
            <p:ph idx="1" type="body"/>
          </p:nvPr>
        </p:nvSpPr>
        <p:spPr>
          <a:xfrm>
            <a:off x="102412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3" name="Google Shape;53;p7"/>
          <p:cNvSpPr txBox="1"/>
          <p:nvPr>
            <p:ph idx="2" type="body"/>
          </p:nvPr>
        </p:nvSpPr>
        <p:spPr>
          <a:xfrm>
            <a:off x="102412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4" name="Google Shape;54;p7"/>
          <p:cNvSpPr txBox="1"/>
          <p:nvPr>
            <p:ph idx="3" type="body"/>
          </p:nvPr>
        </p:nvSpPr>
        <p:spPr>
          <a:xfrm>
            <a:off x="599088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5" name="Google Shape;55;p7"/>
          <p:cNvSpPr txBox="1"/>
          <p:nvPr>
            <p:ph idx="4" type="body"/>
          </p:nvPr>
        </p:nvSpPr>
        <p:spPr>
          <a:xfrm>
            <a:off x="599088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6" name="Google Shape;56;p7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7" name="Google Shape;57;p7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8" name="Google Shape;58;p7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showMasterSp="0" type="blank">
  <p:cSld name="BLANK">
    <p:spTree>
      <p:nvGrpSpPr>
        <p:cNvPr id="59" name="Shape 5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0" name="Google Shape;60;p8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1" name="Google Shape;61;p8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2" name="Google Shape;62;p8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ntent with Caption" type="objTx">
  <p:cSld name="OBJECT_WITH_CAPTION_TEXT">
    <p:spTree>
      <p:nvGrpSpPr>
        <p:cNvPr id="63" name="Shape 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4" name="Google Shape;64;p9"/>
          <p:cNvSpPr txBox="1"/>
          <p:nvPr>
            <p:ph type="title"/>
          </p:nvPr>
        </p:nvSpPr>
        <p:spPr>
          <a:xfrm>
            <a:off x="1024128" y="471509"/>
            <a:ext cx="4389120" cy="17373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  <a:defRPr sz="4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5" name="Google Shape;65;p9"/>
          <p:cNvSpPr txBox="1"/>
          <p:nvPr>
            <p:ph idx="1" type="body"/>
          </p:nvPr>
        </p:nvSpPr>
        <p:spPr>
          <a:xfrm>
            <a:off x="5715000" y="822960"/>
            <a:ext cx="5678424" cy="518464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810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2400"/>
              <a:buChar char=" "/>
              <a:defRPr sz="2400"/>
            </a:lvl1pPr>
            <a:lvl2pPr indent="-355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Char char="🢝"/>
              <a:defRPr sz="2000"/>
            </a:lvl2pPr>
            <a:lvl3pPr indent="-3302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3pPr>
            <a:lvl4pPr indent="-3302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4pPr>
            <a:lvl5pPr indent="-3302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5pPr>
            <a:lvl6pPr indent="-3302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6pPr>
            <a:lvl7pPr indent="-3302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7pPr>
            <a:lvl8pPr indent="-3302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8pPr>
            <a:lvl9pPr indent="-3302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Char char="🢝"/>
              <a:defRPr sz="1600"/>
            </a:lvl9pPr>
          </a:lstStyle>
          <a:p/>
        </p:txBody>
      </p:sp>
      <p:sp>
        <p:nvSpPr>
          <p:cNvPr id="66" name="Google Shape;66;p9"/>
          <p:cNvSpPr txBox="1"/>
          <p:nvPr>
            <p:ph idx="2" type="body"/>
          </p:nvPr>
        </p:nvSpPr>
        <p:spPr>
          <a:xfrm>
            <a:off x="1024128" y="2257506"/>
            <a:ext cx="4389120" cy="376229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8000"/>
              </a:lnSpc>
              <a:spcBef>
                <a:spcPts val="600"/>
              </a:spcBef>
              <a:spcAft>
                <a:spcPts val="0"/>
              </a:spcAft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200"/>
              <a:buNone/>
              <a:defRPr sz="12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900"/>
              <a:buNone/>
              <a:defRPr sz="900"/>
            </a:lvl9pPr>
          </a:lstStyle>
          <a:p/>
        </p:txBody>
      </p:sp>
      <p:sp>
        <p:nvSpPr>
          <p:cNvPr id="67" name="Google Shape;67;p9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8" name="Google Shape;68;p9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9" name="Google Shape;69;p9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Picture with Caption" showMasterSp="0" type="picTx">
  <p:cSld name="PICTURE_WITH_CAPTION_TEXT"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10"/>
          <p:cNvSpPr txBox="1"/>
          <p:nvPr>
            <p:ph type="title"/>
          </p:nvPr>
        </p:nvSpPr>
        <p:spPr>
          <a:xfrm>
            <a:off x="457200" y="4960138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10"/>
          <p:cNvSpPr/>
          <p:nvPr>
            <p:ph idx="2" type="pic"/>
          </p:nvPr>
        </p:nvSpPr>
        <p:spPr>
          <a:xfrm>
            <a:off x="0" y="-1"/>
            <a:ext cx="12188952" cy="4572000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457200" spcFirstLastPara="1" rIns="45700" wrap="square" tIns="365750">
            <a:noAutofit/>
          </a:bodyPr>
          <a:lstStyle>
            <a:lvl1pPr lvl="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3200"/>
              <a:buFont typeface="Twentieth Century"/>
              <a:buNone/>
              <a:defRPr b="0" i="0" sz="3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Noto Sans Symbols"/>
              <a:buNone/>
              <a:defRPr b="0" i="0" sz="2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Noto Sans Symbols"/>
              <a:buNone/>
              <a:defRPr b="0" i="0" sz="2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73" name="Google Shape;73;p10"/>
          <p:cNvSpPr txBox="1"/>
          <p:nvPr>
            <p:ph idx="1" type="body"/>
          </p:nvPr>
        </p:nvSpPr>
        <p:spPr>
          <a:xfrm>
            <a:off x="8610600" y="4960138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400"/>
              <a:buNone/>
              <a:defRPr sz="14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200"/>
              <a:buNone/>
              <a:defRPr sz="12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000"/>
              <a:buNone/>
              <a:defRPr sz="1000"/>
            </a:lvl9pPr>
          </a:lstStyle>
          <a:p/>
        </p:txBody>
      </p:sp>
      <p:sp>
        <p:nvSpPr>
          <p:cNvPr id="74" name="Google Shape;74;p10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5" name="Google Shape;75;p10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10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77" name="Google Shape;77;p10"/>
          <p:cNvCxnSpPr/>
          <p:nvPr/>
        </p:nvCxnSpPr>
        <p:spPr>
          <a:xfrm rot="10800000">
            <a:off x="8386843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Vertical Text" type="vertTx">
  <p:cSld name="VERTICAL_TEXT">
    <p:spTree>
      <p:nvGrpSpPr>
        <p:cNvPr id="78" name="Shape 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9" name="Google Shape;79;p1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0" name="Google Shape;80;p11"/>
          <p:cNvSpPr txBox="1"/>
          <p:nvPr>
            <p:ph idx="1" type="body"/>
          </p:nvPr>
        </p:nvSpPr>
        <p:spPr>
          <a:xfrm rot="5400000">
            <a:off x="3872484" y="-562356"/>
            <a:ext cx="4023360" cy="972007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1" name="Google Shape;81;p1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2" name="Google Shape;82;p1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3" name="Google Shape;83;p1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Vertical Title and Text" showMasterSp="0" type="vertTitleAndTx">
  <p:cSld name="VERTICAL_TITLE_AND_VERTICAL_TEXT">
    <p:spTree>
      <p:nvGrpSpPr>
        <p:cNvPr id="84" name="Shape 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5" name="Google Shape;85;p12"/>
          <p:cNvSpPr txBox="1"/>
          <p:nvPr>
            <p:ph type="title"/>
          </p:nvPr>
        </p:nvSpPr>
        <p:spPr>
          <a:xfrm rot="5400000">
            <a:off x="7334251" y="2152650"/>
            <a:ext cx="5410200" cy="2628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45700" spcFirstLastPara="1" rIns="45700" wrap="square" tIns="91425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6" name="Google Shape;86;p12"/>
          <p:cNvSpPr txBox="1"/>
          <p:nvPr>
            <p:ph idx="1" type="body"/>
          </p:nvPr>
        </p:nvSpPr>
        <p:spPr>
          <a:xfrm rot="5400000">
            <a:off x="2076451" y="-323850"/>
            <a:ext cx="5410200" cy="7581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7" name="Google Shape;87;p1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8" name="Google Shape;88;p1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9" name="Google Shape;89;p1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90" name="Google Shape;90;p12"/>
          <p:cNvCxnSpPr/>
          <p:nvPr/>
        </p:nvCxnSpPr>
        <p:spPr>
          <a:xfrm rot="10800000">
            <a:off x="10058400" y="59263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1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i="0" sz="5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1" name="Google Shape;11;p1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68300" lvl="0" marL="45720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Twentieth Century"/>
              <a:buChar char=" "/>
              <a:defRPr b="0" i="0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Noto Sans Symbols"/>
              <a:buChar char="🢝"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-31750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2" name="Google Shape;12;p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3" name="Google Shape;13;p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4" name="Google Shape;14;p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15" name="Google Shape;15;p1"/>
          <p:cNvCxnSpPr/>
          <p:nvPr/>
        </p:nvCxnSpPr>
        <p:spPr>
          <a:xfrm rot="10800000">
            <a:off x="762000" y="826324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Relationship Id="rId3" Type="http://schemas.openxmlformats.org/officeDocument/2006/relationships/image" Target="../media/image3.png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3.xml"/><Relationship Id="rId3" Type="http://schemas.openxmlformats.org/officeDocument/2006/relationships/image" Target="../media/image10.png"/></Relationships>
</file>

<file path=ppt/slides/_rels/slide1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6.xml"/></Relationships>
</file>

<file path=ppt/slides/_rels/slide1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7.xml"/><Relationship Id="rId3" Type="http://schemas.openxmlformats.org/officeDocument/2006/relationships/image" Target="../media/image7.png"/></Relationships>
</file>

<file path=ppt/slides/_rels/slide1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8.xml"/></Relationships>
</file>

<file path=ppt/slides/_rels/slide1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9.xml"/><Relationship Id="rId3" Type="http://schemas.openxmlformats.org/officeDocument/2006/relationships/image" Target="../media/image4.png"/></Relationships>
</file>

<file path=ppt/slides/_rels/slide2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0.xml"/></Relationships>
</file>

<file path=ppt/slides/_rels/slide2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1.xml"/><Relationship Id="rId3" Type="http://schemas.openxmlformats.org/officeDocument/2006/relationships/image" Target="../media/image5.png"/></Relationships>
</file>

<file path=ppt/slides/_rels/slide2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2.xml"/><Relationship Id="rId3" Type="http://schemas.openxmlformats.org/officeDocument/2006/relationships/image" Target="../media/image8.png"/></Relationships>
</file>

<file path=ppt/slides/_rels/slide2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3.xml"/><Relationship Id="rId3" Type="http://schemas.openxmlformats.org/officeDocument/2006/relationships/image" Target="../media/image9.png"/><Relationship Id="rId4" Type="http://schemas.openxmlformats.org/officeDocument/2006/relationships/image" Target="../media/image13.png"/></Relationships>
</file>

<file path=ppt/slides/_rels/slide2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4.xml"/></Relationships>
</file>

<file path=ppt/slides/_rels/slide2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5.xml"/></Relationships>
</file>

<file path=ppt/slides/_rels/slide2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6.xml"/></Relationships>
</file>

<file path=ppt/slides/_rels/slide2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7.xml"/><Relationship Id="rId3" Type="http://schemas.openxmlformats.org/officeDocument/2006/relationships/image" Target="../media/image16.png"/></Relationships>
</file>

<file path=ppt/slides/_rels/slide2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8.xml"/><Relationship Id="rId3" Type="http://schemas.openxmlformats.org/officeDocument/2006/relationships/image" Target="../media/image14.png"/></Relationships>
</file>

<file path=ppt/slides/_rels/slide2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9.xml"/></Relationships>
</file>

<file path=ppt/slides/_rels/slide3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30.xml"/></Relationships>
</file>

<file path=ppt/slides/_rels/slide3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1.xml"/></Relationships>
</file>

<file path=ppt/slides/_rels/slide3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2.xml"/></Relationships>
</file>

<file path=ppt/slides/_rels/slide3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3.xml"/></Relationships>
</file>

<file path=ppt/slides/_rels/slide3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4.xml"/></Relationships>
</file>

<file path=ppt/slides/_rels/slide3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5.xml"/></Relationships>
</file>

<file path=ppt/slides/_rels/slide3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6.xml"/></Relationships>
</file>

<file path=ppt/slides/_rels/slide3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7.xml"/><Relationship Id="rId3" Type="http://schemas.openxmlformats.org/officeDocument/2006/relationships/image" Target="../media/image15.png"/><Relationship Id="rId4" Type="http://schemas.openxmlformats.org/officeDocument/2006/relationships/image" Target="../media/image6.png"/></Relationships>
</file>

<file path=ppt/slides/_rels/slide3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8.xml"/><Relationship Id="rId3" Type="http://schemas.openxmlformats.org/officeDocument/2006/relationships/image" Target="../media/image12.png"/></Relationships>
</file>

<file path=ppt/slides/_rels/slide3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9.xml"/><Relationship Id="rId3" Type="http://schemas.openxmlformats.org/officeDocument/2006/relationships/image" Target="../media/image11.png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4" name="Shape 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5" name="Google Shape;95;p13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BTEC LEVEL 2 TECH AWARD</a:t>
            </a:r>
            <a:endParaRPr/>
          </a:p>
        </p:txBody>
      </p:sp>
      <p:sp>
        <p:nvSpPr>
          <p:cNvPr id="96" name="Google Shape;96;p13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en-GB"/>
              <a:t>Promotion and Finance for Enterprise 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0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14"/>
          <p:cNvSpPr txBox="1"/>
          <p:nvPr>
            <p:ph type="title"/>
          </p:nvPr>
        </p:nvSpPr>
        <p:spPr>
          <a:xfrm>
            <a:off x="1379728" y="280416"/>
            <a:ext cx="9720072" cy="11927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LEARNING AIM B- FINANCIAL RECORDS</a:t>
            </a:r>
            <a:endParaRPr u="sng"/>
          </a:p>
        </p:txBody>
      </p:sp>
      <p:sp>
        <p:nvSpPr>
          <p:cNvPr id="102" name="Google Shape;102;p14"/>
          <p:cNvSpPr txBox="1"/>
          <p:nvPr>
            <p:ph idx="1" type="body"/>
          </p:nvPr>
        </p:nvSpPr>
        <p:spPr>
          <a:xfrm>
            <a:off x="1379728" y="1913467"/>
            <a:ext cx="9720073" cy="4023360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342900" lvl="0" marL="9144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400"/>
              <a:buChar char=" "/>
            </a:pPr>
            <a:r>
              <a:rPr lang="en-GB" sz="5400"/>
              <a:t>Learners will complete and interpret a statement of comprehensive income using given figures, and suggest appropriate actions.</a:t>
            </a:r>
            <a:endParaRPr sz="500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15"/>
          <p:cNvSpPr txBox="1"/>
          <p:nvPr>
            <p:ph type="title"/>
          </p:nvPr>
        </p:nvSpPr>
        <p:spPr>
          <a:xfrm>
            <a:off x="1379728" y="280416"/>
            <a:ext cx="9720072" cy="11927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KEY WORDS</a:t>
            </a:r>
            <a:endParaRPr u="sng"/>
          </a:p>
        </p:txBody>
      </p:sp>
      <p:sp>
        <p:nvSpPr>
          <p:cNvPr id="108" name="Google Shape;108;p15"/>
          <p:cNvSpPr txBox="1"/>
          <p:nvPr>
            <p:ph idx="1" type="body"/>
          </p:nvPr>
        </p:nvSpPr>
        <p:spPr>
          <a:xfrm>
            <a:off x="389468" y="1642533"/>
            <a:ext cx="11446932" cy="4876800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2600"/>
              <a:buNone/>
            </a:pPr>
            <a:r>
              <a:rPr b="1" lang="en-GB" sz="2600" u="sng"/>
              <a:t>Profit</a:t>
            </a:r>
            <a:r>
              <a:rPr lang="en-GB" sz="2600"/>
              <a:t>:  is the financial return or reward that entrepreneurs aim to achieve. </a:t>
            </a:r>
            <a:r>
              <a:rPr b="1" lang="en-GB" sz="2600"/>
              <a:t>Profit</a:t>
            </a:r>
            <a:r>
              <a:rPr lang="en-GB" sz="2600"/>
              <a:t> is the surplus (leftover money) left from revenue after paying all costs. Profit is found by deducting total costs from revenue. In short: </a:t>
            </a:r>
            <a:r>
              <a:rPr b="1" lang="en-GB" sz="2600"/>
              <a:t>profit = total revenue - total costs</a:t>
            </a:r>
            <a:endParaRPr sz="2600"/>
          </a:p>
          <a:p>
            <a:pPr indent="0" lvl="0" marL="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rPr b="1" lang="en-GB" sz="2600" u="sng"/>
              <a:t>Loss: </a:t>
            </a:r>
            <a:r>
              <a:rPr lang="en-GB" sz="2600"/>
              <a:t>A </a:t>
            </a:r>
            <a:r>
              <a:rPr b="1" lang="en-GB" sz="2600"/>
              <a:t>loss</a:t>
            </a:r>
            <a:r>
              <a:rPr lang="en-GB" sz="2600"/>
              <a:t> is made when revenue from sales is not enough to cover all costs of production. </a:t>
            </a:r>
            <a:endParaRPr/>
          </a:p>
          <a:p>
            <a:pPr indent="-165100" lvl="0" marL="9144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Noto Sans Symbols"/>
              <a:buChar char="❖"/>
            </a:pPr>
            <a:r>
              <a:rPr lang="en-GB" sz="2600"/>
              <a:t>For example, if a company has a total revenue of £60,000 and a total cost of £90,000, then they have lost £30,000 from trading.</a:t>
            </a:r>
            <a:endParaRPr/>
          </a:p>
          <a:p>
            <a:pPr indent="0" lvl="0" marL="0" rtl="0" algn="ctr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rPr b="1" lang="en-GB" sz="2600" u="sng"/>
              <a:t>How to manage losses: </a:t>
            </a:r>
            <a:endParaRPr b="1" sz="2600" u="sng"/>
          </a:p>
          <a:p>
            <a:pPr indent="-165100" lvl="0" marL="9144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Noto Sans Symbols"/>
              <a:buChar char="❖"/>
            </a:pPr>
            <a:r>
              <a:rPr b="1" lang="en-GB" sz="2600"/>
              <a:t>Cutting costs</a:t>
            </a:r>
            <a:r>
              <a:rPr lang="en-GB" sz="2600"/>
              <a:t>, eg by letting staff go and asking those who remain to accept lower wages.</a:t>
            </a:r>
            <a:endParaRPr/>
          </a:p>
          <a:p>
            <a:pPr indent="-165100" lvl="0" marL="9144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Noto Sans Symbols"/>
              <a:buChar char="❖"/>
            </a:pPr>
            <a:r>
              <a:rPr b="1" lang="en-GB" sz="2600"/>
              <a:t>Increasing revenue</a:t>
            </a:r>
            <a:r>
              <a:rPr lang="en-GB" sz="2600"/>
              <a:t>, eg by cutting prices and selling more items - if demand is elastic</a:t>
            </a:r>
            <a:endParaRPr/>
          </a:p>
          <a:p>
            <a:pPr indent="0" lvl="0" marL="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  <a:p>
            <a:pPr indent="0" lvl="0" marL="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2" name="Shape 11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3" name="Google Shape;113;p16"/>
          <p:cNvSpPr txBox="1"/>
          <p:nvPr>
            <p:ph type="title"/>
          </p:nvPr>
        </p:nvSpPr>
        <p:spPr>
          <a:xfrm>
            <a:off x="1379728" y="280416"/>
            <a:ext cx="9720072" cy="11927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6000"/>
              <a:buFont typeface="Twentieth Century"/>
              <a:buNone/>
            </a:pPr>
            <a:r>
              <a:rPr lang="en-GB" sz="6000" u="sng"/>
              <a:t>KEY WORDS</a:t>
            </a:r>
            <a:endParaRPr sz="6000" u="sng"/>
          </a:p>
        </p:txBody>
      </p:sp>
      <p:sp>
        <p:nvSpPr>
          <p:cNvPr id="114" name="Google Shape;114;p16"/>
          <p:cNvSpPr txBox="1"/>
          <p:nvPr>
            <p:ph idx="1" type="body"/>
          </p:nvPr>
        </p:nvSpPr>
        <p:spPr>
          <a:xfrm>
            <a:off x="389468" y="1981199"/>
            <a:ext cx="11446932" cy="4538133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t/>
            </a:r>
            <a:endParaRPr b="1" sz="5000"/>
          </a:p>
          <a:p>
            <a:pPr indent="0" lvl="0" marL="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5000"/>
              <a:buNone/>
            </a:pPr>
            <a:r>
              <a:rPr b="1" lang="en-GB" sz="5000"/>
              <a:t>Profit = Total Revenue - Total Costs</a:t>
            </a:r>
            <a:endParaRPr sz="5000"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</p:txBody>
      </p:sp>
      <p:sp>
        <p:nvSpPr>
          <p:cNvPr id="115" name="Google Shape;115;p16"/>
          <p:cNvSpPr/>
          <p:nvPr/>
        </p:nvSpPr>
        <p:spPr>
          <a:xfrm>
            <a:off x="728135" y="4555065"/>
            <a:ext cx="5046132" cy="1879600"/>
          </a:xfrm>
          <a:prstGeom prst="rect">
            <a:avLst/>
          </a:prstGeom>
          <a:noFill/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2000" u="none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The income earned by a business over a period of time, eg one month. The amount of revenue earned depends on two things - the number of items sold and their selling price. In short, </a:t>
            </a:r>
            <a:r>
              <a:rPr b="1" i="0" lang="en-GB" sz="2000" u="none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revenue = price x quantity</a:t>
            </a:r>
            <a:r>
              <a:rPr b="0" i="0" lang="en-GB" sz="2000" u="none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.</a:t>
            </a:r>
            <a:endParaRPr b="1" i="0" sz="2000" u="none" cap="none" strike="noStrike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16" name="Google Shape;116;p16"/>
          <p:cNvSpPr/>
          <p:nvPr/>
        </p:nvSpPr>
        <p:spPr>
          <a:xfrm>
            <a:off x="6112934" y="4555065"/>
            <a:ext cx="5554133" cy="1879600"/>
          </a:xfrm>
          <a:prstGeom prst="rect">
            <a:avLst/>
          </a:prstGeom>
          <a:noFill/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GB" sz="2000" u="none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Costs</a:t>
            </a:r>
            <a:r>
              <a:rPr b="0" i="0" lang="en-GB" sz="2000" u="none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 are the expenses involved in making a product. Firms incur costs by trading.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Some costs, called </a:t>
            </a:r>
            <a:r>
              <a:rPr b="1"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variable costs</a:t>
            </a:r>
            <a:r>
              <a:rPr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, change with the amount produced.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Other costs, called </a:t>
            </a:r>
            <a:r>
              <a:rPr b="1"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fixed costs</a:t>
            </a:r>
            <a:r>
              <a:rPr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, stay the same even if more is produced</a:t>
            </a:r>
            <a:endParaRPr/>
          </a:p>
        </p:txBody>
      </p:sp>
      <p:sp>
        <p:nvSpPr>
          <p:cNvPr id="117" name="Google Shape;117;p16"/>
          <p:cNvSpPr/>
          <p:nvPr/>
        </p:nvSpPr>
        <p:spPr>
          <a:xfrm>
            <a:off x="5164666" y="3589865"/>
            <a:ext cx="474133" cy="880534"/>
          </a:xfrm>
          <a:prstGeom prst="downArrow">
            <a:avLst>
              <a:gd fmla="val 50000" name="adj1"/>
              <a:gd fmla="val 50000" name="adj2"/>
            </a:avLst>
          </a:prstGeom>
          <a:solidFill>
            <a:schemeClr val="accent1"/>
          </a:solidFill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18" name="Google Shape;118;p16"/>
          <p:cNvSpPr/>
          <p:nvPr/>
        </p:nvSpPr>
        <p:spPr>
          <a:xfrm>
            <a:off x="9254067" y="3589865"/>
            <a:ext cx="474133" cy="880534"/>
          </a:xfrm>
          <a:prstGeom prst="downArrow">
            <a:avLst>
              <a:gd fmla="val 50000" name="adj1"/>
              <a:gd fmla="val 50000" name="adj2"/>
            </a:avLst>
          </a:prstGeom>
          <a:solidFill>
            <a:schemeClr val="accent1"/>
          </a:solidFill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2" name="Shape 1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3" name="Google Shape;123;p17"/>
          <p:cNvSpPr txBox="1"/>
          <p:nvPr>
            <p:ph type="title"/>
          </p:nvPr>
        </p:nvSpPr>
        <p:spPr>
          <a:xfrm>
            <a:off x="755651" y="212218"/>
            <a:ext cx="6447501" cy="990600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FIXED COSTS</a:t>
            </a:r>
            <a:endParaRPr b="1" u="sng"/>
          </a:p>
        </p:txBody>
      </p:sp>
      <p:sp>
        <p:nvSpPr>
          <p:cNvPr id="124" name="Google Shape;124;p17"/>
          <p:cNvSpPr txBox="1"/>
          <p:nvPr>
            <p:ph idx="1" type="body"/>
          </p:nvPr>
        </p:nvSpPr>
        <p:spPr>
          <a:xfrm>
            <a:off x="755651" y="1202817"/>
            <a:ext cx="10505016" cy="5028649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540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4000"/>
              <a:buChar char=" "/>
            </a:pPr>
            <a:r>
              <a:rPr b="1" lang="en-GB" sz="4000" u="sng">
                <a:solidFill>
                  <a:srgbClr val="FF00FF"/>
                </a:solidFill>
              </a:rPr>
              <a:t>Fixed Costs </a:t>
            </a:r>
            <a:r>
              <a:rPr lang="en-GB" sz="4000"/>
              <a:t>= costs that remain the same no matter how many items you make or sell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4000"/>
              <a:buNone/>
            </a:pPr>
            <a:r>
              <a:t/>
            </a:r>
            <a:endParaRPr sz="4000"/>
          </a:p>
          <a:p>
            <a:pPr indent="-2540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4000"/>
              <a:buChar char=" "/>
            </a:pPr>
            <a:r>
              <a:rPr lang="en-GB" sz="4000"/>
              <a:t>E.g- rent, salary, insurance, interest on a loan </a:t>
            </a:r>
            <a:endParaRPr/>
          </a:p>
        </p:txBody>
      </p:sp>
      <p:sp>
        <p:nvSpPr>
          <p:cNvPr descr="data:image/jpeg;base64,/9j/4AAQSkZJRgABAQAAAQABAAD/2wCEAAkGBxQTEhUUExQVFRUXFxoXGBgXGBgcGBwYGhgXHBoXGBgYHSggGBwlHBgVIjEhJSkrLi4uGB8zODMsNygtLisBCgoKDg0OGhAQGywmICQsLCwsLCwsLCwsLCwsLCwsLC8sNCwsLCwsLCwsLCwsLCwtLCwsLCwsLCwsLCwsLCwsLP/AABEIAMQBAQMBIgACEQEDEQH/xAAcAAABBQEBAQAAAAAAAAAAAAAEAAIDBQYBBwj/xABIEAACAQIEAwUFBQYEBAMJAAABAhEAAwQSITEFQVEGImFxgRMykaGxFELB0fAHI1JicuEzQ4KSFlOi8RWT0hckRFRzsrPC4v/EABoBAAMBAQEBAAAAAAAAAAAAAAABAgMEBQb/xAAwEQACAgEDAgMGBgMBAAAAAAAAAQIRAwQSITFBBRNRIjJhgZGxFHGh0eHwUmLBQv/aAAwDAQACEQMRAD8A86vYEkyLjgHlP0otBAA6da7mpTXK2z6PGoxba7imlSpUjfeie3jLiiA7R0Oo+BqbDKbpMgSByAE69BpQVWvZn/HjqjfIr/eiioZVjluQrvBpGg18hXbPBiugQehA061v+F8PFwwSBAnbpWiwfZu2QC0kkT5VooSaMpeI4sU921bvWufqeSHg56EVHc4OwE6/CvbP+H7PT51Hd7O2o6UvJfqOPj3wPEhw1qjOCP8A3r1fG8GRNZEeX1qlxGDXoKlwaO3H4up9jz18Mw3FRZd63pw69BWfvWst52XQgwNARBUcjUu0dC18ZvldCoZiyGSTDA6+II/AVDR165bUMGaJA2E7GpbPDf3QvvmS03ukKXZo393ur6nSqjjkzPJ4tpMPDfySv+CrroFSYfiFtbveslrI3GaLmuxJO3XUAefPU4HhlnEd7CxIGYBjMgfynvR4wRVeVJGK8c0knTT+a/llC3DLYAN59xoEhiP6unxoG5hEyhMikA6HXNrvJmrrGcIe22VgAx1yyuo6oRow8NCOlDnDdBPofgelZ3KPVm8MGi1Ed1Rl8kv5Rnn4SobMkr4SSN+ZM6UTkaSApKk6AskjQCSYE6AbCrSxYZzlANencO/ZlZhfbs5aAWCkAT0mNY61pCUpM8zxLRaDTrndFvoo8/f90eH3+CXTmuPECSqrqdDz5fjrUjkqEUCcoEyNZjxr3nH9gcOoGQ5RoBmYz09a89/aN2K9kGa27EpaN1Y+8oPfXTciSfSumj5l12MrbvCNfpTmI+Hgaz/DCWdQ1wohOrEZgPSr3HFUvtbS9bvJurpGungSNKKQrJSsjaokskXAwGsfMT/eg8c50AJ9NKfxC2qIjLcZmYGddqe1BYTicc5zDTvADbXSfHoa6iEgTvz85qow91pnWDI9KIxWJObQnYb+QpisusDbBvWRH+an/wBwrZrgxiWeypjEKS+HJ2JzEtbJ5a95SeebrXn/AAO83tbZ3hwZPhtWi4o7LfUMQr5090xDSDoTtFFFI02W9/8ALL/vP5UqsP8AizFf8y38FpUe0B47hcQHUMOekdD0ois9wfEFXy8m+o2q+D1yyjTPUwZt0bH12mzSzVFHTvHUfwNyLojSQfpVdNG8I/xPIGgqMraNhYxNwbXHHll/OrCzxW+P/iLnwU/jWcS9UovGhSOmWFP0+iNIeM3zvfc+aKaceNXz/nk/6BWbF81IL9PeZ/ho+i+i/Yu34jdO9yf9H9qFa83UfA0AL1RYviAQTuTMLzMfQeNK2weOMFbC8VjBbXM7BR1M78gOp8KynE+IM1xipCqYkTqdIgkHuiANPKgcfiWuuXcg5duar4IvXxOp3MCgsdie7lGg36knqT+UeEVvGFcs8jUapz9mPC+5JYxBRmZYncknvQd1QRPKJ0iafbxLgDLcbYscrEayQfkJ61BZcle9BO66aj1GwqbFEKylREiY8Rv6EGt4s4qJsNjyzgOEuhTOW7p8H0YHxDVYYO3ZhriWrdphPed2vuTtFtSNIHNvjVZguFrfecOXKpbm4IDXAS5GW2gjMPdidd+lXJ4GbfskSc1xJRHRlOkypbVQ4AJgkUm1YJFPiO0V5GjM4PiSoPkq6fCr3gvFRiO4qsbgEmPvb94AeETVbdwq3QUuAgjSDowNUnCbr4bGICSCrAT1B0n5j4VnljuR16LUPDlT7Phm5tu42DDyJ/Or7C8b4lcIS1cus0aDuSR17wqHE8XZyC8d3wihPtpFwOHgjWQenrXIn8T6qUfM5ljjfxVj+NcS4rbj27XQBrqLcQTEyoqjx/HMTcyrcuP3Ccu2kgqy+RBIirbj3FfaK7vck5Qsk6awNAPTbrWcZQYJJknp15Vacn0slY9JsrPGEX8El9O5QcW4Ubdv2qEeyDBY2IJHz2FVOHRmaFmT0rTdosegtrZWSwuB207sAGBM7zrUOFYxqoXyrphdcnyWrjjWWSxe72BeIp7oPIUHaWTH6FWHFLeszQ2CSZPJYJHOJA0+NUzCKtj8JbmQRJ5QBv60ZilHtAGgCQCT066eFHYbD211JOhnp6VXY3DnM0RAPXXWhFONGtsdlWsYhAt1LiFWhwQCWKESqTJAJFU/Gz7XFuxkK7jppIUGR4VquAcSsmzaQCbigQMpka6wx5HwrJYi5/72/wDD7ZzHhmJqgSTJ/wDwdf4v+n+9Kgfbt+gKVLfEry2ZBzBBG+9FJjLhIAJJJgARMnblUD2GJAGpaAPMmBVvxLB20xVy2Ay5YKlGAiLYbQZTGs61FGabRDjbWJstluq6Npoy66iRy00Iof7c/N/p+VF4jihuPN+7iToIYOrEwABMgToBRGExmEVSGu4uT/LaKx0IYGTS2lub7NleMY/8f0/KisHxS5bJIKmRGv8AaKlxN7COVW2zFjAk2gDmJjYafIVbWuzthY9oXadQyCAB/NI96eVJ7Vw6LTyL2otgK9oL3IW/g3509eP3+lr4N+dFXMFw8GDdvA/0/wD81PhOFcPdgFvXSTsuoHxyzQoRKeqzf5MDXjWJ6Wv9rfnUycTxJ39kP9J/9VH3+z+DW49s4i4rIDnXcrCyWJy8hr0pYLs1YvT7DFPcyxmI2UH+Igc9QANSduZD2L0BanL/AJP6juGtibrZV9n1YxCqBuWYtCjxNWPEr1jChs49vfK6BohTyY22mAJMBhPRVksR+Mcft4RPs2FE3ARmcwcpHNiCQ90f7U5Swmsg7SSWJJOpJMknmSTvTUVHoKeec1TbaH4vG3HOZ2LNsJ8PDYDyoZl1Emefma61wDU1E98DXnTMQoPG/wCvCrHB8NF5dWNsnKodpKlnzZFUATqBJPhHORQJca4YUHMdANvh41s8DfFuJUMVNuFaRGUlWI2hgrSJ8aLoqEJTdJWegcJwKWkUACQAJyqCYAEnKANgKuFw6vAI03jkZBB28Caom4tZtwLl1FkbFht100q4wV8FVIYMpEgggyDsRG/KpKcJJW0ecdo+FjDuECuPYhAWYlg6XSxVQxAn2ZAUSTo3hWY7Z2Y9jeHWD9R9DW17cYxbjOEuQAyW3tAsYuhvaFz9092Bptz3rJ9rRmsKvPMPoatdCGaTE3UgaxoOQ/OgbuJt+J9B+dVTcVS5lGqtlE5mVUkDkxqtxGMbQjLGuzBto0kbVDxYz0V4tql0l+iNKb6MIgkaHUDcaiNd6Hv4y2glo66sJ25ASZ1rJ43EZySrOg17peRtsIAPxoW2GAJ1id9xPnVRSSpHJm1mTNLdOr/Inxd/2js8RJ2onCXGAVi6kFiuWe8IjvHoD+FArJIAGp5Dn5CnvhyPeUjXUEQfKDqKEczdlvimkRz3pljDxrO4g+VRWXzPPLYfA0VaaarqNE1yWEEneaivWwWZmmCZ03+elSqaV3VT5GqoZadkrId8skRJEEqZEaEjlE1WFgbjECO8341adjEBuE6jKhOnM7a+hNVFl41yg+c9fA0hXR3LXKm9uP8Alr8X/Ou1G0285Dex3Ccz+2eO57qSJnUZmHIDl/agu0Cxjm8UH/4yPwoRrzWyA0eDW2+YKnT5GpLitcuC7mLkCDJExBgTz350buKZltv3Rtq1Nm4TEArvvvyFVN60ARHOrax7lxToYGh30YVX3QCyjx5b0hD7VoLDjSCp+c/hXoV1NDEaifj5VgLalhIQkSPxmt3h7oNtNR7kfIRNcWri7i18Ts0j95GU4ssXDMbUuCXh7ZdQYDHT+k1B2khrggzAIMefOpOynDmuX4XQBGzMdlBEAmNdTAAGpJ0rqxe6jln7zNfcwrXOL4wBTkKAO0SF9pYRQPFjJhdzHnQfHeNph7YwmD7oGj3FIJn72Vh7zmYZ+XurA1qftZ2mgvas90n33WJmAsAjd8qgM3IQo51j8LZLHaT8hWz4EOWFHyH661G94ASTP60ApmOTK3eIOmkUCzzvUis7duyZP68KltKWBJG9CRJra9lezb30LhlUA6AgmSIPwmolKlyVCDk6Qzs1wySrMOhAFbHjPZw3kVkOVzoQR3WAB5jYiN/GpOD8CK5SQ3vAHT4+lay5dIUKWBUHSueWQ9DFGUOjo8pxWAa2+S6BqViNIAkETuZ8elak8ZQgW1uZFAiVAkRGUoxkKRvsazXHuIe2vM42JyoPAfnqfWpkFvKnukkmVAMjaCZ0IMnadqpSZ7uHRQ2bZq337/L5f9LjjPCLly415MtxDLBba5WUtGZsg97MdSyz5CK8841xP2jwNlkDz5mPl6V6jw+4bSAAaaRB1knl03qt7S9m7eNDXLICYlfemAHMDS4Bs0bN4iZ3raM+zPG1XhzjcsfQ8yF7wmpLdyQB/NH+4EVBiLZRirAqwMFSCCCORBrtttF8XHy/uapnlR4YVw/g1y6JUGBz+Ppy61HisI9kkGQDuBMHwI5+fwrS8H4gotFQQNfwj8I9KrOP4kNEGfH4/H+5qhNUiswWLa04dDDDUEgH61LiuIPcYs5BJMmBAnyoIVLbSgkNt90Dz/A/nRVihrjSfKibVNFBC0220j404VHY3jxj51QzSdnsI1kXSwI/clgeUEEjX0rN29hWzLgWMUeiZR6Wx+ZrG2N/SkSzs0qsvaDw/wBopUUFEFyymoIy+YlDQN60qNIQhf5TtPQtuOgmp8ZbuW/fU/UfGhEx5U6THQ/h/epfJMeHZYJgrV5ff9WG3hIgg0BxHsxcskXEh1BnMuseYO3rXSVY5rTC02x5L6j7oPqKtOH9oGtNkvjIdifukeI6eO1ZNSj05O2MsWXiXD9exkmw5gieckHr4iiuE2nRnM/5bR8vyrY43g1rEDPaIRo2Hun+k/d+YqlTB3EYoyMTBUQOZ0E9PPbyoUrXBLxPHL2iqwHDbl64EBk6mT7qruWY8lH61NaTHY5MNb+zYf3plnOjZo1dujRoB9xdNyahv4kYdDbtkZzq7+R0P9IPujmZbpFAWkwAdfUk8zW9bfzOcaq1JdxELlXQfM+JpmI7unPp/ahGmN6joA27B3MfT0qz4f2duuy5rVzK2xIKr8a0fYTA2FtfaMSqxnOViMzd2Qci8tdz4VsO1fHFw1hRbCkuoeCIHs8yidB1ZQPWs5S7I2hCqlLoednh625TKBGhka+pozheOuYczbOh3UiR5gHY0EeIG68xOYyT57momx2pgAidJnafPWs9snwz03m06jurjoq9T0nCdqbGfJ7XNMAFgRqRMTAH0qm7U9pc7ezsuMon2jDWZkBVPxk1l8LcBzM9tDJ2IPIRoJ0qa4UjRAsa6T8NTR5SRzYtQvMVrixLEzyA09d/oKteH2JcT6+HgfHlQXDMNAHh9eVX+CsxUn1UXOtz4tdPj/C4LOdvDb4/r4UkWXzAlToAR4Tv1GtQXTpSXEAcwPh9P70zHbxwU/bns+t5ftCDvoMtwDcqPveJA+XlWDNpQQZ2EKI26Enn1r2CxjAdiPKRr4HWvN+0uBFjEOqSqHvIPA8tOhzD0rWLPA1+m8t+Yl16lLbtEbMfSaY9rqSaKzE86jYVZ5bogFqisPhWILBSVXQnkCdQD8D8KYBRuD4g9tXVcpV9wwnUTqPHUiiwSXcGU7eMmjLbaTQZ+6Of50bHKrQidW0pWDFwHTcHXbT/ALVEhom3iIBAVZP3iJMaaa6DbpTGWWHxjtoQHAmJYhR4EAd71qru3G9pJULmGwECB4VNgsbkzSCZM6QKgxmJDXFYA6COXWpT5G+gTNKoPtS/wn5UqqySsN2dBP0+ulSXcJeUSUIA5wPwNV4vDqKt+Fceyd1+8m3iPzHhUk0VwueHkeh8eop32ke7dDMORVtvINII8NKuOK4JWU3bIDaagc/EflWfuYnUe6RAO0EaaggHkZFIArAcTayf3bSv8JGh9OR8q1GJ4jdvBLdq0WusCQggsNO9J5KBudKz2EPdzuig/d6nofCirnFX9m1mwCFaDffWbkbBj922OSc9SZJ0tQUfa7mnmy27L4KyO9321J7xMkfLf0rovsRltgLpvos+bE6/HpVhwW2qsXa2HjWTqF8Sv4kEeVWvE1S6pIVRzIOgP9J+6fI1m8iTo0jglKG6L+RkMfhrllgtwalVfQg91wGXbwIqMXQRRXFMSWf94JKotsdcirChuRI01oDB2wzd4gAfPwpmPQv+z1/uMDoAGIM7yVkRy2qw4ziGfE4pnytHdUEaBVuJCx0HSiOynBHxJuZIVQuQmJEsREDQTA61ssV+zgXGust8hrkkgoCBLKdIIO4+dQuG2bylcIx9LPPrGOZUJhAAYUBBE855miE4ztNu2fT+9bL/ANm6jKrXnMD7qgCZ31JrKXuDi27IR7rFdfAkfhU70jsw6OepajBqku/x6/t+SRBhOIKRHsQTqSdeZJ1M+NS3gGibarGuhJ+tF28OoiBoKmFgEcvH86l5Gz2NN4Thw1LI7a+g7AOAI086Ov4xUEkx0HM+Q/GqjE8cS2AiQ5GhPIevOgPaF+8TJPOoprk3lq8U57IO2H38c13QkheQH49TRFq6yH/EYeeo+tALagVIp8PCiztTTVIurOJJggkk8v7aTRHGcEuKwzSo9oqlkIOuYCYB6HaPKqvhzS+XnBjwYCQfl860WHI0YaBtY5Tz8qcWcWqxRlHazyQCuZKKx9rJduL/AAuy/BiKgrc+Pap0cC04ClXRTEK4mhoVDqKMbY+RoNfeFNCYcs9TRFrzmoE5VOtMaHcqiJqZjUJoAWalTa7SsKKy5w4/zfryFRpgCdiPjH1rbtgwakw3CjcMKMx9Pxp0Z2ZCxwhgJLxPJW+sUSMEq6mDHPXbxmtXxLgpw9vPdIWdFXWSenl40DwXs8+LDvmRLaGJYkZngGBGwAO9NUuWFlGLLXZOYKg01In0HPxNWeFwzW1lCvOGzKVO2YECZ5fEUFj+ICw5t5TnU5YB58gN5FVdxrl0nO2Sd1206mN9eX0pSdjQTjsb7NwbZGbchfut05j5mgcTxK4+5CKeS6DxP/ajAVVQqLJ/ib8F2HrPnQbYZnLMZAXcwTLHZdOvXapotNroCAflUtvD5iB86fft5ACxEnZRqfWrbg/ChdJa6yBFy5ibmQKJjoZ1I260UItOxfEzgmvNBcBMwSQMxlUC5jOWSykmJhaur37Y8QQQmHtIdpLO8HygVb8M7FYVbTtlLJcUS5uHJklWAEHaQNd6y/aTsvhO4MIxSJ9q7FihGkZSx3Gu0701Apv0B2/aNjnMm8k+FtB6QRXP+ITcl7+rnUkCJ5QQAAPMUNh+CWhAUNfbQSdEBJgE9BVr/wAFX3b90EeQcwYEBV1HdaSM2sg6RlFDxWro2wajLglug+SsXi7EnKFqG9dd/eaR02HwFWS9heIroLAuAfzJJ9SRRI7HYwLmOGuLpJhgY9NfrSjjXYeXV58iqcm1+hnfZ0RhXKHqDy/Ki8RgLlsZnQ5dszAr6SJWfOoF66r/ANQ+K/lRKHYzx5HCSlF0w/5Cnk/r8ahtNPiPAgj5U89BXM1XDPs9Nlx5I+w7DMLKwwMHlWj4XcJWCdd/j+jWesHTrVvgL3eE84HyP5CpT5FmVmP7VYXJibn8xzj/AFb/ADzVTkVsO2libltuqkfAz/8At8qzLWq6V0PktVDblkvj9wUV2pntVEVimc4rmx8jQaHvCjgJ0qvtDvVSJZY2t/SiVqCwN/hRAFDKQophWpYrmWkOiHLSqaPCu0WFHqX/AIdYRYcCCOcg+gHePmTWR4xjlsP+6ctJ7sQD6n8areM8QcAkEyTqSZPmZ3NZ65eKgsdWbr9T4VUUc8UEce4vcvMTcaWiCdAAP4QBtVceM3oyW2KjogAJPUkd4n1qJcO1xoUEx7xOgHUsdhU620Q9wljGpj45BuB4nU+FDdl0Nw+FZDJjOeR1I8SeRn1qZcPrrJJ5b/KmJe1iD6b/AAFPsMZb2k5YMIIALcs53j4mgY9lgE7AaEyIB6TtPgJPhXcPwq/dK+zTMW2UHUjryIAHM6UAMO5EtBVWEkHYMQI6xpy2rU9kuPLhsRnuEBHGVifuiZUjoJ3/ALVE5bVZcVZq+Afs9vZkxftrNpvZw1kLmHuwVJJOpIB0EUu0GFSUGKC2bjKQjDKMwG4AjK4E7EaTpE1rsV2hCFVzLmZcyjWSu86fHwrz3tPxj7bdXvEWrMsSRA2gtrrtIH9TVjgzScq5d/Cki541VkNnEXijhbj3bRPcTKAWiNY3CyOZ8apuIi8zyR3UDZVlSzbQpAO0+WgPWn8SxcXHti9CBLbqUB0lRCqu7P3iJMKACd6qr+DVLQxCHN+9CEE6glSZYbkaHWupszNF2Xxpw6i6xZHAaVbTOVVjkAHdCiV7zDcRzit9gP2hpBBJZTbDaIFYXC2tsgkAwuuavMUZWVRsFGUFeYmZ6gE8v0EFHL8KRUXzyj0k9vbFzPaK3wIIdgoAUc+9Iin4PjXsjbGHvXboNzIbdwgjKVJJMjMsCDvXnmHw7spKgkDQ+evL0+lT2MXeSVQusiTkJ2PONoPWkabk+qNVe4/cGGusuT2qANDiAVYkMco8VuKI/hFU44ReZHxGIwtsWyDcOQtauIInmuSR4gT11qoW+ZDFbZMR3rS6gdcoAbnqZqW1ipuq5UBIhkUn2beJRp8NB05UjNxZn711RdcWrkqp7rN3Sw5TpAMeW1F4PFOx0UMw3BOU+p/E+FVXFOHm0WhkZJC93NAMSFGYBiADuRyrR9iuFaNfYd3KUtiNydCfHeAedN9KHicoyuLpkuAxuYlSGVhyYQY/EeIq1tXIZfMfPSjcFYe2yriLLG33lYOO8Oa5XGk+9EHQxMgmIuOcN+z3kKsXsvD23Igkc1YcmB3FYThTtH0+g1qzLy5+99znaNM9u23jHxH5is4bNal1z2mG8HN+J+pqsGHqovg8nxHHtzfminOHqO5hKu/s9cOHqzgoy+IwrLqKrcOpljudzW2bD0MeGJqco13ppkuFlPg+8unrRXsqs0wIAgCKX2akNRorctdC0Y2GqM24oHRBkpURlpUBRUYjDxDHU7f96EvWM2pMH11/Ln4VZ+18jTSqn7vwNdLgc5WYlkFsy0E6hApMmd31iPHfap8NwO8O9GYkbh11BG29T3MOv8w8xUNu0xMAkeprNwY7Hvwu+P8AKf8A0qSPiKiHD7nNHHmjflRSYu9b0FxhH8x/A0Zb43iIkXj5FnHzmlsYWC4Tg5PeaVUczv5KOZpnGr9pP3aIhZesEyQO8557jTlROO4i973rgBmCCXkjwaGA8qE4DgrRuPexJlV7y2wZZzyEj57fkUOwzDcNxGICF3ACjKbj6BV6KefMEDXTnUnaPDm1bS1ZVvYmS90j/EgEyY90aGAd/jVZxHtDcuOTcUZNhb2UDkI/XOmXuN3MQVttoDp7x/ExrFHAWD8GwzXGz+6BoSJ10grrpEb1p7NtQAAAAOlRYewqqAugA2ohPChIaJcgI2kUFi8CwBa3r/Kd/T8qOU1JBoZQPg+LWggkBco9wg+0zQJzSpXUgSwymI6UK+NZs8uR7SM0HQxsPIdKNu4FLnvKJ68/jQeK4etsSXVfBzqfKNT8DSoRy5cBKkgSuxGmmuh11G5qe23tGJgAHUhRA8ABVdZtye7IPQx9KNsXjZBYgkglo6mO789aVFqVLoVXay1mupaTVhCvG5Z4IXxyj61pk44bVwIttclgCJI1IAA7m+538KA4Dwv2QOKxH+O/eQMNVBmDH8R1idhJ5VzFooQ3GUZtXZho0DZQw110+VJjgnyy/wCKcWbFWVZP3aoykw0wdWLEHYQoHxHOrPB4g4rh960yKGtxdtgA5hJZmE8+lZrFXbQsqbRlb/e1MsLa7qxOpJcwZ8aJ7O9oVw98C4DluoVYgExqNYHl8DQ12LhlcJLIuqa/T+/cK4Pcz24HQqevh9alFiq7hjhLzBHBU6gagxupjyIq/VJ1rKKrhnreJ7Z7ckOUwAYel9n12qwW3pXBb1qzyStbD7VxsNVk1r6132dAFYMPpTVw31q0S3pSNvWmBUthqHu4Srq5ajXQfKmm2KQFD9kpVd/ZB4UqAMLkpZKkBp4r21CDPObkiCKRqYioyKUsSBSISg5002ehqYimxXPLGi7GW7Kkd6Z6104IHZh61JaB5U5SI8eUGo8tFWCvg38G9QflQ5w4BHcAIMgjukHedKsc5pAmpeELOLxE8x8v7iibWLHX9etOw/D8yG4VlV3ytB+BEGgHtDlMeNZ+Wx7g/G44hRlEnyMef9pqvTF3D98j4V1bcbMw8jFSe0PMW38GX8ViocGVZ0Xrh/zG9CR9KEv2ue5+fx51YC+v/IX/AMx4+c1Oj/wraXxDPPyFS0OyvwGDuFhIKrPQlj/9NRqx8tOpFajh+DUd69ByGcrEHL09tGmbpbEzzMVX2WYEiLjd3MQgCKV2lmHfZauuF8Pu3V1CImy5fu/xZRyJ2LHX60IaBkS5jcRCgrbALOxykIgHed2ze8YECI2A2qr4hhTdDAanMCQVhQs8yTECF+FbPhaezYhDmB39nKqdIyso0fTmJihuJ9nMZaRHyPctcxP7wLOjZdWYDbbTehodsxqII7vujur5Dn6tmb1oC9jFN61bjU3UBMfcJCkaGTvNGEZFYawGYLM+7Jy78ois/ggbmKTwcH0TvfhSDq0i/uXDbukKT3D3T4cp8I5VueH3/a2g/MivPblzM7Hqf7VtOzFwBcmoOja9CTqPCMtPIuEzo07coTgunvfR19mXAT9Sfzp/s/H+1PpLz33/AAFZkkbL+H1roXyqRvy+orsUwIlSum3ttUqLv+uVC8TxyWUzOdzCqNWZv4VHM0AduLEkwFAkkmBHUkjSqxb739LYy251uGe9G4t6gweunPapreCuXyGxMKm6WAdPA3T95vDYVboBtA0iI0A8um1Aupmv+Gz/ABn/AMtf/XSrUyKVPkVI8o9pTg1QA1Itd0Z0crJacEoS/jkT3mE9BqflQlzjoGyk+JMVp+JiupOwuRhzU3/hN2M3srmX+LI0fGIqpwmIv3NRZ06kn8quMHisXb9xrtv+i64+Qp/i8b7E+VL1AfZU1krRL2pxP+ctu+uml+0jf9YAYec0nxmCve/auYVj962fa2vM22hwP6SaqOTHL+2LbNfEqcLggVzu2RJgcyx6KKcWsclunxlR+FE8Q4WyKGV0vWvu3LbFlHgQdbZ8GA9arQKtY+9iUrDPtsW2tqsKeZJJ/KgClSg0i4rTyo0Lc0wcrSipC9NLVhLGjRSOAmnhTuKQcV6B2P7EPiLftLiBEO3tSwkciLaEMfVl8qynHHFXJlKTukYbBSj5xvG8kco1Plpryr0Tszwl8XaBBQ25hiuiZhuCNyfD1q/T9nGEGtxrj+CkW1/6e8fViatuA4CxhSbdu2FUkkbn61xzlF+6aqybhvCrNgd0qX/iI28hT7+JB5z+Iqe7xS2jlchDnU6CdeZ6etC3FDmYnXlpp4mshni/7VcD9nuZ1ELdBI/qnUfMH41i+A4cBLt1tguRfFm/R9A1evftTwlvFWRZt6ur5/aT3FgHMubmSNNBE868xxGEa2RbKlVXkdiY97xrRRbDpyR4ZdZrfcPw6LdA/wAxEVWHQ5FkR5yJ8KruxnAs9wNckAAMFjVhI3nYEkDqZMbE0dgCTjLzEyC1wif64HxE0s3FRPQ8Ph7GWX+v3LyK5bb6mu70kH41mcx19v11FdimudKeKYCA19K5csq0ZlBjaQDHlO1dG/68KfQBEthY2ppsDTep0pONKAI/Y1ynzSoA8mHWqjH8SJ7qaL15n8hRHF78DKOe9UwBJ01J5VrKXZHKPsWWdgqiSdhWt4TwW3aILw76cpA11AHkDqabwfAC2umrH326fyKfDX1FWP2gAaaePOoSKSClcwdN+p/kj66x41LIOUQIUgxm6KV5+OtVKYnM2VQzt0WSfgtFfZrm5s3QOuS4PqKYw5MMu5mNNN9FUcxzJFBXcA0KTBaIPmFk7bwSJpti7r3WOn63FGWsUQddD1Hx8jrQFFLctlTzG8keBO457cvCmZ+vxFaC/hkeBoABAOsHbUk7QAfMms/jbDWzMbiYOnQ+h7w05zW+PUShw+hnKCfJ1rnID46moyaUqyhkMn7wI28jP4VEWPh8661lTXBm16j6aTTNfD4GuQfD4H86hyYzW9gOGrdutccZhbggcsx5mvaeFuzQQYCTmHWRp+NeDdmO0b4P2kW0uh8uhZkgidZAad9o5VuuzPbPEYlylqxYVomGv3dQCNoswfKa5csJSt0aRaR6ubYYVUYzAsGlRPMVUYjGcTEDNhbcgmRbvXYAE6gBTXmnG+1XEbjZTiyNSCtpRaXeN9W5ddKyjjlLoO6PTOLcZsYZ81xybjbWlXNcbSAIjQRHwqvXHX8WVTKLaNtbUyT43HBk6alVgdTrFYTg15bRzMSzndmJJP8AU7ST6mrzAcdxFu8HtBWEQVOxHMdRy1rRYmX2LftUbWHyYVXAu3iouPA7luRAXSFk/SslxHsv7J3ulwLCufZknMbig6e7706zGnUg6VrO0HGcKYv38Lb9sBALtnGmwyiA3mRpXn/GOO3cU8udBso0AA2EDatI5dqpC231L3gOMLXb96JUWjEnoylPCSQI5CBUXBMOyiWOZohm6tufwobBYV2s5AQisyuzakkKCAoXzLGTPLQ1cYZAqgDYaVyyds3i5LuTg+FMR/A+frTw1QWWCgLrtzn61IE7HQ1IDUTNofKnK1MBx5ef4GpJqFiOlPBFMBwOtPNRU/1oEcy+HzpUo8aVAHhPE275qTgqAuTzVZHmWVZ+DH5UqVHc5jU3tBA2qx7HcLt4m8y3ZKrlOUGAZJ3jU7bTzNcpVTLLDtb2ju4Jjawy2ragaQgn56fKq/8AZ52vxeIxy2713OjI5y5UGoEggqAR8aVKpEem43hlq/pdtq3jsw8mGo+Neb9ocMLGIuWkJKqRGbU6gHX40qVNlIiwzkNHKRRmOshrbk65YUeR1JPU7a+FKlTEYdrhS4CvPQ9Peij7wg0qVbYWZy6EddFKlXSjM7ROCxTW2DoSrLqCKVKtYdSZH0L2Px73bCF4kqp+IrJ/tM4NZkXgsO5IaNASB70dfHnSpVww4zUjX/yebYtyi90neNYPSgV4ndkDOYnwpUq6MiSjaFbsjuXCWMknWrHhVoF1B5nWlSriOhdTYIK7b2pUqyNyQ7UxNh5Dp0pUqaJZwvRFk0qVAh/I1IKVKmBHeOnqPqKca5SoA7FKlSoA/9k=" id="125" name="Google Shape;125;p17"/>
          <p:cNvSpPr/>
          <p:nvPr/>
        </p:nvSpPr>
        <p:spPr>
          <a:xfrm>
            <a:off x="2783681" y="748904"/>
            <a:ext cx="228600" cy="228601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35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descr="data:image/jpeg;base64,/9j/4AAQSkZJRgABAQAAAQABAAD/2wCEAAkGBxQTEhUUExQVFRUXFxoXGBgXGBgcGBwYGhgXHBoXGBgYHSggGBwlHBgVIjEhJSkrLi4uGB8zODMsNygtLisBCgoKDg0OGhAQGywmICQsLCwsLCwsLCwsLCwsLCwsLC8sNCwsLCwsLCwsLCwsLCwtLCwsLCwsLCwsLCwsLCwsLP/AABEIAMQBAQMBIgACEQEDEQH/xAAcAAABBQEBAQAAAAAAAAAAAAAEAAIDBQYBBwj/xABIEAACAQIEAwUFBQYEBAMJAAABAhEAAwQSITEFQVEGImFxgRMykaGxFELB0fAHI1JicuEzQ4KSFlOi8RWT0hckRFRzsrPC4v/EABoBAAMBAQEBAAAAAAAAAAAAAAABAgMEBQb/xAAwEQACAgEDAgMGBgMBAAAAAAAAAQIRAwQSITFBBRNRIjJhgZGxFHGh0eHwUmLBQv/aAAwDAQACEQMRAD8A86vYEkyLjgHlP0otBAA6da7mpTXK2z6PGoxba7imlSpUjfeie3jLiiA7R0Oo+BqbDKbpMgSByAE69BpQVWvZn/HjqjfIr/eiioZVjluQrvBpGg18hXbPBiugQehA061v+F8PFwwSBAnbpWiwfZu2QC0kkT5VooSaMpeI4sU921bvWufqeSHg56EVHc4OwE6/CvbP+H7PT51Hd7O2o6UvJfqOPj3wPEhw1qjOCP8A3r1fG8GRNZEeX1qlxGDXoKlwaO3H4up9jz18Mw3FRZd63pw69BWfvWst52XQgwNARBUcjUu0dC18ZvldCoZiyGSTDA6+II/AVDR165bUMGaJA2E7GpbPDf3QvvmS03ukKXZo393ur6nSqjjkzPJ4tpMPDfySv+CrroFSYfiFtbveslrI3GaLmuxJO3XUAefPU4HhlnEd7CxIGYBjMgfynvR4wRVeVJGK8c0knTT+a/llC3DLYAN59xoEhiP6unxoG5hEyhMikA6HXNrvJmrrGcIe22VgAx1yyuo6oRow8NCOlDnDdBPofgelZ3KPVm8MGi1Ed1Rl8kv5Rnn4SobMkr4SSN+ZM6UTkaSApKk6AskjQCSYE6AbCrSxYZzlANencO/ZlZhfbs5aAWCkAT0mNY61pCUpM8zxLRaDTrndFvoo8/f90eH3+CXTmuPECSqrqdDz5fjrUjkqEUCcoEyNZjxr3nH9gcOoGQ5RoBmYz09a89/aN2K9kGa27EpaN1Y+8oPfXTciSfSumj5l12MrbvCNfpTmI+Hgaz/DCWdQ1wohOrEZgPSr3HFUvtbS9bvJurpGungSNKKQrJSsjaokskXAwGsfMT/eg8c50AJ9NKfxC2qIjLcZmYGddqe1BYTicc5zDTvADbXSfHoa6iEgTvz85qow91pnWDI9KIxWJObQnYb+QpisusDbBvWRH+an/wBwrZrgxiWeypjEKS+HJ2JzEtbJ5a95SeebrXn/AAO83tbZ3hwZPhtWi4o7LfUMQr5090xDSDoTtFFFI02W9/8ALL/vP5UqsP8AizFf8y38FpUe0B47hcQHUMOekdD0ois9wfEFXy8m+o2q+D1yyjTPUwZt0bH12mzSzVFHTvHUfwNyLojSQfpVdNG8I/xPIGgqMraNhYxNwbXHHll/OrCzxW+P/iLnwU/jWcS9UovGhSOmWFP0+iNIeM3zvfc+aKaceNXz/nk/6BWbF81IL9PeZ/ho+i+i/Yu34jdO9yf9H9qFa83UfA0AL1RYviAQTuTMLzMfQeNK2weOMFbC8VjBbXM7BR1M78gOp8KynE+IM1xipCqYkTqdIgkHuiANPKgcfiWuuXcg5duar4IvXxOp3MCgsdie7lGg36knqT+UeEVvGFcs8jUapz9mPC+5JYxBRmZYncknvQd1QRPKJ0iafbxLgDLcbYscrEayQfkJ61BZcle9BO66aj1GwqbFEKylREiY8Rv6EGt4s4qJsNjyzgOEuhTOW7p8H0YHxDVYYO3ZhriWrdphPed2vuTtFtSNIHNvjVZguFrfecOXKpbm4IDXAS5GW2gjMPdidd+lXJ4GbfskSc1xJRHRlOkypbVQ4AJgkUm1YJFPiO0V5GjM4PiSoPkq6fCr3gvFRiO4qsbgEmPvb94AeETVbdwq3QUuAgjSDowNUnCbr4bGICSCrAT1B0n5j4VnljuR16LUPDlT7Phm5tu42DDyJ/Or7C8b4lcIS1cus0aDuSR17wqHE8XZyC8d3wihPtpFwOHgjWQenrXIn8T6qUfM5ljjfxVj+NcS4rbj27XQBrqLcQTEyoqjx/HMTcyrcuP3Ccu2kgqy+RBIirbj3FfaK7vck5Qsk6awNAPTbrWcZQYJJknp15Vacn0slY9JsrPGEX8El9O5QcW4Ubdv2qEeyDBY2IJHz2FVOHRmaFmT0rTdosegtrZWSwuB207sAGBM7zrUOFYxqoXyrphdcnyWrjjWWSxe72BeIp7oPIUHaWTH6FWHFLeszQ2CSZPJYJHOJA0+NUzCKtj8JbmQRJ5QBv60ZilHtAGgCQCT066eFHYbD211JOhnp6VXY3DnM0RAPXXWhFONGtsdlWsYhAt1LiFWhwQCWKESqTJAJFU/Gz7XFuxkK7jppIUGR4VquAcSsmzaQCbigQMpka6wx5HwrJYi5/72/wDD7ZzHhmJqgSTJ/wDwdf4v+n+9Kgfbt+gKVLfEry2ZBzBBG+9FJjLhIAJJJgARMnblUD2GJAGpaAPMmBVvxLB20xVy2Ay5YKlGAiLYbQZTGs61FGabRDjbWJstluq6Npoy66iRy00Iof7c/N/p+VF4jihuPN+7iToIYOrEwABMgToBRGExmEVSGu4uT/LaKx0IYGTS2lub7NleMY/8f0/KisHxS5bJIKmRGv8AaKlxN7COVW2zFjAk2gDmJjYafIVbWuzthY9oXadQyCAB/NI96eVJ7Vw6LTyL2otgK9oL3IW/g3509eP3+lr4N+dFXMFw8GDdvA/0/wD81PhOFcPdgFvXSTsuoHxyzQoRKeqzf5MDXjWJ6Wv9rfnUycTxJ39kP9J/9VH3+z+DW49s4i4rIDnXcrCyWJy8hr0pYLs1YvT7DFPcyxmI2UH+Igc9QANSduZD2L0BanL/AJP6juGtibrZV9n1YxCqBuWYtCjxNWPEr1jChs49vfK6BohTyY22mAJMBhPRVksR+Mcft4RPs2FE3ARmcwcpHNiCQ90f7U5Swmsg7SSWJJOpJMknmSTvTUVHoKeec1TbaH4vG3HOZ2LNsJ8PDYDyoZl1Emefma61wDU1E98DXnTMQoPG/wCvCrHB8NF5dWNsnKodpKlnzZFUATqBJPhHORQJca4YUHMdANvh41s8DfFuJUMVNuFaRGUlWI2hgrSJ8aLoqEJTdJWegcJwKWkUACQAJyqCYAEnKANgKuFw6vAI03jkZBB28Caom4tZtwLl1FkbFht100q4wV8FVIYMpEgggyDsRG/KpKcJJW0ecdo+FjDuECuPYhAWYlg6XSxVQxAn2ZAUSTo3hWY7Z2Y9jeHWD9R9DW17cYxbjOEuQAyW3tAsYuhvaFz9092Bptz3rJ9rRmsKvPMPoatdCGaTE3UgaxoOQ/OgbuJt+J9B+dVTcVS5lGqtlE5mVUkDkxqtxGMbQjLGuzBto0kbVDxYz0V4tql0l+iNKb6MIgkaHUDcaiNd6Hv4y2glo66sJ25ASZ1rJ43EZySrOg17peRtsIAPxoW2GAJ1id9xPnVRSSpHJm1mTNLdOr/Inxd/2js8RJ2onCXGAVi6kFiuWe8IjvHoD+FArJIAGp5Dn5CnvhyPeUjXUEQfKDqKEczdlvimkRz3pljDxrO4g+VRWXzPPLYfA0VaaarqNE1yWEEneaivWwWZmmCZ03+elSqaV3VT5GqoZadkrId8skRJEEqZEaEjlE1WFgbjECO8341adjEBuE6jKhOnM7a+hNVFl41yg+c9fA0hXR3LXKm9uP8Alr8X/Ou1G0285Dex3Ccz+2eO57qSJnUZmHIDl/agu0Cxjm8UH/4yPwoRrzWyA0eDW2+YKnT5GpLitcuC7mLkCDJExBgTz350buKZltv3Rtq1Nm4TEArvvvyFVN60ARHOrax7lxToYGh30YVX3QCyjx5b0hD7VoLDjSCp+c/hXoV1NDEaifj5VgLalhIQkSPxmt3h7oNtNR7kfIRNcWri7i18Ts0j95GU4ssXDMbUuCXh7ZdQYDHT+k1B2khrggzAIMefOpOynDmuX4XQBGzMdlBEAmNdTAAGpJ0rqxe6jln7zNfcwrXOL4wBTkKAO0SF9pYRQPFjJhdzHnQfHeNph7YwmD7oGj3FIJn72Vh7zmYZ+XurA1qftZ2mgvas90n33WJmAsAjd8qgM3IQo51j8LZLHaT8hWz4EOWFHyH661G94ASTP60ApmOTK3eIOmkUCzzvUis7duyZP68KltKWBJG9CRJra9lezb30LhlUA6AgmSIPwmolKlyVCDk6Qzs1wySrMOhAFbHjPZw3kVkOVzoQR3WAB5jYiN/GpOD8CK5SQ3vAHT4+lay5dIUKWBUHSueWQ9DFGUOjo8pxWAa2+S6BqViNIAkETuZ8elak8ZQgW1uZFAiVAkRGUoxkKRvsazXHuIe2vM42JyoPAfnqfWpkFvKnukkmVAMjaCZ0IMnadqpSZ7uHRQ2bZq337/L5f9LjjPCLly415MtxDLBba5WUtGZsg97MdSyz5CK8841xP2jwNlkDz5mPl6V6jw+4bSAAaaRB1knl03qt7S9m7eNDXLICYlfemAHMDS4Bs0bN4iZ3raM+zPG1XhzjcsfQ8yF7wmpLdyQB/NH+4EVBiLZRirAqwMFSCCCORBrtttF8XHy/uapnlR4YVw/g1y6JUGBz+Ppy61HisI9kkGQDuBMHwI5+fwrS8H4gotFQQNfwj8I9KrOP4kNEGfH4/H+5qhNUiswWLa04dDDDUEgH61LiuIPcYs5BJMmBAnyoIVLbSgkNt90Dz/A/nRVihrjSfKibVNFBC0220j404VHY3jxj51QzSdnsI1kXSwI/clgeUEEjX0rN29hWzLgWMUeiZR6Wx+ZrG2N/SkSzs0qsvaDw/wBopUUFEFyymoIy+YlDQN60qNIQhf5TtPQtuOgmp8ZbuW/fU/UfGhEx5U6THQ/h/epfJMeHZYJgrV5ff9WG3hIgg0BxHsxcskXEh1BnMuseYO3rXSVY5rTC02x5L6j7oPqKtOH9oGtNkvjIdifukeI6eO1ZNSj05O2MsWXiXD9exkmw5gieckHr4iiuE2nRnM/5bR8vyrY43g1rEDPaIRo2Hun+k/d+YqlTB3EYoyMTBUQOZ0E9PPbyoUrXBLxPHL2iqwHDbl64EBk6mT7qruWY8lH61NaTHY5MNb+zYf3plnOjZo1dujRoB9xdNyahv4kYdDbtkZzq7+R0P9IPujmZbpFAWkwAdfUk8zW9bfzOcaq1JdxELlXQfM+JpmI7unPp/ahGmN6joA27B3MfT0qz4f2duuy5rVzK2xIKr8a0fYTA2FtfaMSqxnOViMzd2Qci8tdz4VsO1fHFw1hRbCkuoeCIHs8yidB1ZQPWs5S7I2hCqlLoednh625TKBGhka+pozheOuYczbOh3UiR5gHY0EeIG68xOYyT57momx2pgAidJnafPWs9snwz03m06jurjoq9T0nCdqbGfJ7XNMAFgRqRMTAH0qm7U9pc7ezsuMon2jDWZkBVPxk1l8LcBzM9tDJ2IPIRoJ0qa4UjRAsa6T8NTR5SRzYtQvMVrixLEzyA09d/oKteH2JcT6+HgfHlQXDMNAHh9eVX+CsxUn1UXOtz4tdPj/C4LOdvDb4/r4UkWXzAlToAR4Tv1GtQXTpSXEAcwPh9P70zHbxwU/bns+t5ftCDvoMtwDcqPveJA+XlWDNpQQZ2EKI26Enn1r2CxjAdiPKRr4HWvN+0uBFjEOqSqHvIPA8tOhzD0rWLPA1+m8t+Yl16lLbtEbMfSaY9rqSaKzE86jYVZ5bogFqisPhWILBSVXQnkCdQD8D8KYBRuD4g9tXVcpV9wwnUTqPHUiiwSXcGU7eMmjLbaTQZ+6Of50bHKrQidW0pWDFwHTcHXbT/ALVEhom3iIBAVZP3iJMaaa6DbpTGWWHxjtoQHAmJYhR4EAd71qru3G9pJULmGwECB4VNgsbkzSCZM6QKgxmJDXFYA6COXWpT5G+gTNKoPtS/wn5UqqySsN2dBP0+ulSXcJeUSUIA5wPwNV4vDqKt+Fceyd1+8m3iPzHhUk0VwueHkeh8eop32ke7dDMORVtvINII8NKuOK4JWU3bIDaagc/EflWfuYnUe6RAO0EaaggHkZFIArAcTayf3bSv8JGh9OR8q1GJ4jdvBLdq0WusCQggsNO9J5KBudKz2EPdzuig/d6nofCirnFX9m1mwCFaDffWbkbBj922OSc9SZJ0tQUfa7mnmy27L4KyO9321J7xMkfLf0rovsRltgLpvos+bE6/HpVhwW2qsXa2HjWTqF8Sv4kEeVWvE1S6pIVRzIOgP9J+6fI1m8iTo0jglKG6L+RkMfhrllgtwalVfQg91wGXbwIqMXQRRXFMSWf94JKotsdcirChuRI01oDB2wzd4gAfPwpmPQv+z1/uMDoAGIM7yVkRy2qw4ziGfE4pnytHdUEaBVuJCx0HSiOynBHxJuZIVQuQmJEsREDQTA61ssV+zgXGust8hrkkgoCBLKdIIO4+dQuG2bylcIx9LPPrGOZUJhAAYUBBE855miE4ztNu2fT+9bL/ANm6jKrXnMD7qgCZ31JrKXuDi27IR7rFdfAkfhU70jsw6OepajBqku/x6/t+SRBhOIKRHsQTqSdeZJ1M+NS3gGibarGuhJ+tF28OoiBoKmFgEcvH86l5Gz2NN4Thw1LI7a+g7AOAI086Ov4xUEkx0HM+Q/GqjE8cS2AiQ5GhPIevOgPaF+8TJPOoprk3lq8U57IO2H38c13QkheQH49TRFq6yH/EYeeo+tALagVIp8PCiztTTVIurOJJggkk8v7aTRHGcEuKwzSo9oqlkIOuYCYB6HaPKqvhzS+XnBjwYCQfl860WHI0YaBtY5Tz8qcWcWqxRlHazyQCuZKKx9rJduL/AAuy/BiKgrc+Pap0cC04ClXRTEK4mhoVDqKMbY+RoNfeFNCYcs9TRFrzmoE5VOtMaHcqiJqZjUJoAWalTa7SsKKy5w4/zfryFRpgCdiPjH1rbtgwakw3CjcMKMx9Pxp0Z2ZCxwhgJLxPJW+sUSMEq6mDHPXbxmtXxLgpw9vPdIWdFXWSenl40DwXs8+LDvmRLaGJYkZngGBGwAO9NUuWFlGLLXZOYKg01In0HPxNWeFwzW1lCvOGzKVO2YECZ5fEUFj+ICw5t5TnU5YB58gN5FVdxrl0nO2Sd1206mN9eX0pSdjQTjsb7NwbZGbchfut05j5mgcTxK4+5CKeS6DxP/ajAVVQqLJ/ib8F2HrPnQbYZnLMZAXcwTLHZdOvXapotNroCAflUtvD5iB86fft5ACxEnZRqfWrbg/ChdJa6yBFy5ibmQKJjoZ1I260UItOxfEzgmvNBcBMwSQMxlUC5jOWSykmJhaur37Y8QQQmHtIdpLO8HygVb8M7FYVbTtlLJcUS5uHJklWAEHaQNd6y/aTsvhO4MIxSJ9q7FihGkZSx3Gu0701Apv0B2/aNjnMm8k+FtB6QRXP+ITcl7+rnUkCJ5QQAAPMUNh+CWhAUNfbQSdEBJgE9BVr/wAFX3b90EeQcwYEBV1HdaSM2sg6RlFDxWro2wajLglug+SsXi7EnKFqG9dd/eaR02HwFWS9heIroLAuAfzJJ9SRRI7HYwLmOGuLpJhgY9NfrSjjXYeXV58iqcm1+hnfZ0RhXKHqDy/Ki8RgLlsZnQ5dszAr6SJWfOoF66r/ANQ+K/lRKHYzx5HCSlF0w/5Cnk/r8ahtNPiPAgj5U89BXM1XDPs9Nlx5I+w7DMLKwwMHlWj4XcJWCdd/j+jWesHTrVvgL3eE84HyP5CpT5FmVmP7VYXJibn8xzj/AFb/ADzVTkVsO2libltuqkfAz/8At8qzLWq6V0PktVDblkvj9wUV2pntVEVimc4rmx8jQaHvCjgJ0qvtDvVSJZY2t/SiVqCwN/hRAFDKQophWpYrmWkOiHLSqaPCu0WFHqX/AIdYRYcCCOcg+gHePmTWR4xjlsP+6ctJ7sQD6n8areM8QcAkEyTqSZPmZ3NZ65eKgsdWbr9T4VUUc8UEce4vcvMTcaWiCdAAP4QBtVceM3oyW2KjogAJPUkd4n1qJcO1xoUEx7xOgHUsdhU620Q9wljGpj45BuB4nU+FDdl0Nw+FZDJjOeR1I8SeRn1qZcPrrJJ5b/KmJe1iD6b/AAFPsMZb2k5YMIIALcs53j4mgY9lgE7AaEyIB6TtPgJPhXcPwq/dK+zTMW2UHUjryIAHM6UAMO5EtBVWEkHYMQI6xpy2rU9kuPLhsRnuEBHGVifuiZUjoJ3/ALVE5bVZcVZq+Afs9vZkxftrNpvZw1kLmHuwVJJOpIB0EUu0GFSUGKC2bjKQjDKMwG4AjK4E7EaTpE1rsV2hCFVzLmZcyjWSu86fHwrz3tPxj7bdXvEWrMsSRA2gtrrtIH9TVjgzScq5d/Cki541VkNnEXijhbj3bRPcTKAWiNY3CyOZ8apuIi8zyR3UDZVlSzbQpAO0+WgPWn8SxcXHti9CBLbqUB0lRCqu7P3iJMKACd6qr+DVLQxCHN+9CEE6glSZYbkaHWupszNF2Xxpw6i6xZHAaVbTOVVjkAHdCiV7zDcRzit9gP2hpBBJZTbDaIFYXC2tsgkAwuuavMUZWVRsFGUFeYmZ6gE8v0EFHL8KRUXzyj0k9vbFzPaK3wIIdgoAUc+9Iin4PjXsjbGHvXboNzIbdwgjKVJJMjMsCDvXnmHw7spKgkDQ+evL0+lT2MXeSVQusiTkJ2PONoPWkabk+qNVe4/cGGusuT2qANDiAVYkMco8VuKI/hFU44ReZHxGIwtsWyDcOQtauIInmuSR4gT11qoW+ZDFbZMR3rS6gdcoAbnqZqW1ipuq5UBIhkUn2beJRp8NB05UjNxZn711RdcWrkqp7rN3Sw5TpAMeW1F4PFOx0UMw3BOU+p/E+FVXFOHm0WhkZJC93NAMSFGYBiADuRyrR9iuFaNfYd3KUtiNydCfHeAedN9KHicoyuLpkuAxuYlSGVhyYQY/EeIq1tXIZfMfPSjcFYe2yriLLG33lYOO8Oa5XGk+9EHQxMgmIuOcN+z3kKsXsvD23Igkc1YcmB3FYThTtH0+g1qzLy5+99znaNM9u23jHxH5is4bNal1z2mG8HN+J+pqsGHqovg8nxHHtzfminOHqO5hKu/s9cOHqzgoy+IwrLqKrcOpljudzW2bD0MeGJqco13ppkuFlPg+8unrRXsqs0wIAgCKX2akNRorctdC0Y2GqM24oHRBkpURlpUBRUYjDxDHU7f96EvWM2pMH11/Ln4VZ+18jTSqn7vwNdLgc5WYlkFsy0E6hApMmd31iPHfap8NwO8O9GYkbh11BG29T3MOv8w8xUNu0xMAkeprNwY7Hvwu+P8AKf8A0qSPiKiHD7nNHHmjflRSYu9b0FxhH8x/A0Zb43iIkXj5FnHzmlsYWC4Tg5PeaVUczv5KOZpnGr9pP3aIhZesEyQO8557jTlROO4i973rgBmCCXkjwaGA8qE4DgrRuPexJlV7y2wZZzyEj57fkUOwzDcNxGICF3ACjKbj6BV6KefMEDXTnUnaPDm1bS1ZVvYmS90j/EgEyY90aGAd/jVZxHtDcuOTcUZNhb2UDkI/XOmXuN3MQVttoDp7x/ExrFHAWD8GwzXGz+6BoSJ10grrpEb1p7NtQAAAAOlRYewqqAugA2ohPChIaJcgI2kUFi8CwBa3r/Kd/T8qOU1JBoZQPg+LWggkBco9wg+0zQJzSpXUgSwymI6UK+NZs8uR7SM0HQxsPIdKNu4FLnvKJ68/jQeK4etsSXVfBzqfKNT8DSoRy5cBKkgSuxGmmuh11G5qe23tGJgAHUhRA8ABVdZtye7IPQx9KNsXjZBYgkglo6mO789aVFqVLoVXay1mupaTVhCvG5Z4IXxyj61pk44bVwIttclgCJI1IAA7m+538KA4Dwv2QOKxH+O/eQMNVBmDH8R1idhJ5VzFooQ3GUZtXZho0DZQw110+VJjgnyy/wCKcWbFWVZP3aoykw0wdWLEHYQoHxHOrPB4g4rh960yKGtxdtgA5hJZmE8+lZrFXbQsqbRlb/e1MsLa7qxOpJcwZ8aJ7O9oVw98C4DluoVYgExqNYHl8DQ12LhlcJLIuqa/T+/cK4Pcz24HQqevh9alFiq7hjhLzBHBU6gagxupjyIq/VJ1rKKrhnreJ7Z7ckOUwAYel9n12qwW3pXBb1qzyStbD7VxsNVk1r6132dAFYMPpTVw31q0S3pSNvWmBUthqHu4Srq5ajXQfKmm2KQFD9kpVd/ZB4UqAMLkpZKkBp4r21CDPObkiCKRqYioyKUsSBSISg5002ehqYimxXPLGi7GW7Kkd6Z6104IHZh61JaB5U5SI8eUGo8tFWCvg38G9QflQ5w4BHcAIMgjukHedKsc5pAmpeELOLxE8x8v7iibWLHX9etOw/D8yG4VlV3ytB+BEGgHtDlMeNZ+Wx7g/G44hRlEnyMef9pqvTF3D98j4V1bcbMw8jFSe0PMW38GX8ViocGVZ0Xrh/zG9CR9KEv2ue5+fx51YC+v/IX/AMx4+c1Oj/wraXxDPPyFS0OyvwGDuFhIKrPQlj/9NRqx8tOpFajh+DUd69ByGcrEHL09tGmbpbEzzMVX2WYEiLjd3MQgCKV2lmHfZauuF8Pu3V1CImy5fu/xZRyJ2LHX60IaBkS5jcRCgrbALOxykIgHed2ze8YECI2A2qr4hhTdDAanMCQVhQs8yTECF+FbPhaezYhDmB39nKqdIyso0fTmJihuJ9nMZaRHyPctcxP7wLOjZdWYDbbTehodsxqII7vujur5Dn6tmb1oC9jFN61bjU3UBMfcJCkaGTvNGEZFYawGYLM+7Jy78ois/ggbmKTwcH0TvfhSDq0i/uXDbukKT3D3T4cp8I5VueH3/a2g/MivPblzM7Hqf7VtOzFwBcmoOja9CTqPCMtPIuEzo07coTgunvfR19mXAT9Sfzp/s/H+1PpLz33/AAFZkkbL+H1roXyqRvy+orsUwIlSum3ttUqLv+uVC8TxyWUzOdzCqNWZv4VHM0AduLEkwFAkkmBHUkjSqxb739LYy251uGe9G4t6gweunPapreCuXyGxMKm6WAdPA3T95vDYVboBtA0iI0A8um1Aupmv+Gz/ABn/AMtf/XSrUyKVPkVI8o9pTg1QA1Itd0Z0crJacEoS/jkT3mE9BqflQlzjoGyk+JMVp+JiupOwuRhzU3/hN2M3srmX+LI0fGIqpwmIv3NRZ06kn8quMHisXb9xrtv+i64+Qp/i8b7E+VL1AfZU1krRL2pxP+ctu+uml+0jf9YAYec0nxmCve/auYVj962fa2vM22hwP6SaqOTHL+2LbNfEqcLggVzu2RJgcyx6KKcWsclunxlR+FE8Q4WyKGV0vWvu3LbFlHgQdbZ8GA9arQKtY+9iUrDPtsW2tqsKeZJJ/KgClSg0i4rTyo0Lc0wcrSipC9NLVhLGjRSOAmnhTuKQcV6B2P7EPiLftLiBEO3tSwkciLaEMfVl8qynHHFXJlKTukYbBSj5xvG8kco1Plpryr0Tszwl8XaBBQ25hiuiZhuCNyfD1q/T9nGEGtxrj+CkW1/6e8fViatuA4CxhSbdu2FUkkbn61xzlF+6aqybhvCrNgd0qX/iI28hT7+JB5z+Iqe7xS2jlchDnU6CdeZ6etC3FDmYnXlpp4mshni/7VcD9nuZ1ELdBI/qnUfMH41i+A4cBLt1tguRfFm/R9A1evftTwlvFWRZt6ur5/aT3FgHMubmSNNBE868xxGEa2RbKlVXkdiY97xrRRbDpyR4ZdZrfcPw6LdA/wAxEVWHQ5FkR5yJ8KruxnAs9wNckAAMFjVhI3nYEkDqZMbE0dgCTjLzEyC1wif64HxE0s3FRPQ8Ph7GWX+v3LyK5bb6mu70kH41mcx19v11FdimudKeKYCA19K5csq0ZlBjaQDHlO1dG/68KfQBEthY2ppsDTep0pONKAI/Y1ynzSoA8mHWqjH8SJ7qaL15n8hRHF78DKOe9UwBJ01J5VrKXZHKPsWWdgqiSdhWt4TwW3aILw76cpA11AHkDqabwfAC2umrH326fyKfDX1FWP2gAaaePOoSKSClcwdN+p/kj66x41LIOUQIUgxm6KV5+OtVKYnM2VQzt0WSfgtFfZrm5s3QOuS4PqKYw5MMu5mNNN9FUcxzJFBXcA0KTBaIPmFk7bwSJpti7r3WOn63FGWsUQddD1Hx8jrQFFLctlTzG8keBO457cvCmZ+vxFaC/hkeBoABAOsHbUk7QAfMms/jbDWzMbiYOnQ+h7w05zW+PUShw+hnKCfJ1rnID46moyaUqyhkMn7wI28jP4VEWPh8661lTXBm16j6aTTNfD4GuQfD4H86hyYzW9gOGrdutccZhbggcsx5mvaeFuzQQYCTmHWRp+NeDdmO0b4P2kW0uh8uhZkgidZAad9o5VuuzPbPEYlylqxYVomGv3dQCNoswfKa5csJSt0aRaR6ubYYVUYzAsGlRPMVUYjGcTEDNhbcgmRbvXYAE6gBTXmnG+1XEbjZTiyNSCtpRaXeN9W5ddKyjjlLoO6PTOLcZsYZ81xybjbWlXNcbSAIjQRHwqvXHX8WVTKLaNtbUyT43HBk6alVgdTrFYTg15bRzMSzndmJJP8AU7ST6mrzAcdxFu8HtBWEQVOxHMdRy1rRYmX2LftUbWHyYVXAu3iouPA7luRAXSFk/SslxHsv7J3ulwLCufZknMbig6e7706zGnUg6VrO0HGcKYv38Lb9sBALtnGmwyiA3mRpXn/GOO3cU8udBso0AA2EDatI5dqpC231L3gOMLXb96JUWjEnoylPCSQI5CBUXBMOyiWOZohm6tufwobBYV2s5AQisyuzakkKCAoXzLGTPLQ1cYZAqgDYaVyyds3i5LuTg+FMR/A+frTw1QWWCgLrtzn61IE7HQ1IDUTNofKnK1MBx5ef4GpJqFiOlPBFMBwOtPNRU/1oEcy+HzpUo8aVAHhPE275qTgqAuTzVZHmWVZ+DH5UqVHc5jU3tBA2qx7HcLt4m8y3ZKrlOUGAZJ3jU7bTzNcpVTLLDtb2ju4Jjawy2ragaQgn56fKq/8AZ52vxeIxy2713OjI5y5UGoEggqAR8aVKpEem43hlq/pdtq3jsw8mGo+Neb9ocMLGIuWkJKqRGbU6gHX40qVNlIiwzkNHKRRmOshrbk65YUeR1JPU7a+FKlTEYdrhS4CvPQ9Peij7wg0qVbYWZy6EddFKlXSjM7ROCxTW2DoSrLqCKVKtYdSZH0L2Px73bCF4kqp+IrJ/tM4NZkXgsO5IaNASB70dfHnSpVww4zUjX/yebYtyi90neNYPSgV4ndkDOYnwpUq6MiSjaFbsjuXCWMknWrHhVoF1B5nWlSriOhdTYIK7b2pUqyNyQ7UxNh5Dp0pUqaJZwvRFk0qVAh/I1IKVKmBHeOnqPqKca5SoA7FKlSoA/9k=" id="126" name="Google Shape;126;p17"/>
          <p:cNvSpPr/>
          <p:nvPr/>
        </p:nvSpPr>
        <p:spPr>
          <a:xfrm>
            <a:off x="2783681" y="748904"/>
            <a:ext cx="228600" cy="228601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35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descr="data:image/jpeg;base64,/9j/4AAQSkZJRgABAQAAAQABAAD/2wCEAAkGBxQTEhUUExQVFRUXFxoXGBgXGBgcGBwYGhgXHBoXGBgYHSggGBwlHBgVIjEhJSkrLi4uGB8zODMsNygtLisBCgoKDg0OGhAQGywmICQsLCwsLCwsLCwsLCwsLCwsLC8sNCwsLCwsLCwsLCwsLCwtLCwsLCwsLCwsLCwsLCwsLP/AABEIAMQBAQMBIgACEQEDEQH/xAAcAAABBQEBAQAAAAAAAAAAAAAEAAIDBQYBBwj/xABIEAACAQIEAwUFBQYEBAMJAAABAhEAAwQSITEFQVEGImFxgRMykaGxFELB0fAHI1JicuEzQ4KSFlOi8RWT0hckRFRzsrPC4v/EABoBAAMBAQEBAAAAAAAAAAAAAAABAgMEBQb/xAAwEQACAgEDAgMGBgMBAAAAAAAAAQIRAwQSITFBBRNRIjJhgZGxFHGh0eHwUmLBQv/aAAwDAQACEQMRAD8A86vYEkyLjgHlP0otBAA6da7mpTXK2z6PGoxba7imlSpUjfeie3jLiiA7R0Oo+BqbDKbpMgSByAE69BpQVWvZn/HjqjfIr/eiioZVjluQrvBpGg18hXbPBiugQehA061v+F8PFwwSBAnbpWiwfZu2QC0kkT5VooSaMpeI4sU921bvWufqeSHg56EVHc4OwE6/CvbP+H7PT51Hd7O2o6UvJfqOPj3wPEhw1qjOCP8A3r1fG8GRNZEeX1qlxGDXoKlwaO3H4up9jz18Mw3FRZd63pw69BWfvWst52XQgwNARBUcjUu0dC18ZvldCoZiyGSTDA6+II/AVDR165bUMGaJA2E7GpbPDf3QvvmS03ukKXZo393ur6nSqjjkzPJ4tpMPDfySv+CrroFSYfiFtbveslrI3GaLmuxJO3XUAefPU4HhlnEd7CxIGYBjMgfynvR4wRVeVJGK8c0knTT+a/llC3DLYAN59xoEhiP6unxoG5hEyhMikA6HXNrvJmrrGcIe22VgAx1yyuo6oRow8NCOlDnDdBPofgelZ3KPVm8MGi1Ed1Rl8kv5Rnn4SobMkr4SSN+ZM6UTkaSApKk6AskjQCSYE6AbCrSxYZzlANencO/ZlZhfbs5aAWCkAT0mNY61pCUpM8zxLRaDTrndFvoo8/f90eH3+CXTmuPECSqrqdDz5fjrUjkqEUCcoEyNZjxr3nH9gcOoGQ5RoBmYz09a89/aN2K9kGa27EpaN1Y+8oPfXTciSfSumj5l12MrbvCNfpTmI+Hgaz/DCWdQ1wohOrEZgPSr3HFUvtbS9bvJurpGungSNKKQrJSsjaokskXAwGsfMT/eg8c50AJ9NKfxC2qIjLcZmYGddqe1BYTicc5zDTvADbXSfHoa6iEgTvz85qow91pnWDI9KIxWJObQnYb+QpisusDbBvWRH+an/wBwrZrgxiWeypjEKS+HJ2JzEtbJ5a95SeebrXn/AAO83tbZ3hwZPhtWi4o7LfUMQr5090xDSDoTtFFFI02W9/8ALL/vP5UqsP8AizFf8y38FpUe0B47hcQHUMOekdD0ois9wfEFXy8m+o2q+D1yyjTPUwZt0bH12mzSzVFHTvHUfwNyLojSQfpVdNG8I/xPIGgqMraNhYxNwbXHHll/OrCzxW+P/iLnwU/jWcS9UovGhSOmWFP0+iNIeM3zvfc+aKaceNXz/nk/6BWbF81IL9PeZ/ho+i+i/Yu34jdO9yf9H9qFa83UfA0AL1RYviAQTuTMLzMfQeNK2weOMFbC8VjBbXM7BR1M78gOp8KynE+IM1xipCqYkTqdIgkHuiANPKgcfiWuuXcg5duar4IvXxOp3MCgsdie7lGg36knqT+UeEVvGFcs8jUapz9mPC+5JYxBRmZYncknvQd1QRPKJ0iafbxLgDLcbYscrEayQfkJ61BZcle9BO66aj1GwqbFEKylREiY8Rv6EGt4s4qJsNjyzgOEuhTOW7p8H0YHxDVYYO3ZhriWrdphPed2vuTtFtSNIHNvjVZguFrfecOXKpbm4IDXAS5GW2gjMPdidd+lXJ4GbfskSc1xJRHRlOkypbVQ4AJgkUm1YJFPiO0V5GjM4PiSoPkq6fCr3gvFRiO4qsbgEmPvb94AeETVbdwq3QUuAgjSDowNUnCbr4bGICSCrAT1B0n5j4VnljuR16LUPDlT7Phm5tu42DDyJ/Or7C8b4lcIS1cus0aDuSR17wqHE8XZyC8d3wihPtpFwOHgjWQenrXIn8T6qUfM5ljjfxVj+NcS4rbj27XQBrqLcQTEyoqjx/HMTcyrcuP3Ccu2kgqy+RBIirbj3FfaK7vck5Qsk6awNAPTbrWcZQYJJknp15Vacn0slY9JsrPGEX8El9O5QcW4Ubdv2qEeyDBY2IJHz2FVOHRmaFmT0rTdosegtrZWSwuB207sAGBM7zrUOFYxqoXyrphdcnyWrjjWWSxe72BeIp7oPIUHaWTH6FWHFLeszQ2CSZPJYJHOJA0+NUzCKtj8JbmQRJ5QBv60ZilHtAGgCQCT066eFHYbD211JOhnp6VXY3DnM0RAPXXWhFONGtsdlWsYhAt1LiFWhwQCWKESqTJAJFU/Gz7XFuxkK7jppIUGR4VquAcSsmzaQCbigQMpka6wx5HwrJYi5/72/wDD7ZzHhmJqgSTJ/wDwdf4v+n+9Kgfbt+gKVLfEry2ZBzBBG+9FJjLhIAJJJgARMnblUD2GJAGpaAPMmBVvxLB20xVy2Ay5YKlGAiLYbQZTGs61FGabRDjbWJstluq6Npoy66iRy00Iof7c/N/p+VF4jihuPN+7iToIYOrEwABMgToBRGExmEVSGu4uT/LaKx0IYGTS2lub7NleMY/8f0/KisHxS5bJIKmRGv8AaKlxN7COVW2zFjAk2gDmJjYafIVbWuzthY9oXadQyCAB/NI96eVJ7Vw6LTyL2otgK9oL3IW/g3509eP3+lr4N+dFXMFw8GDdvA/0/wD81PhOFcPdgFvXSTsuoHxyzQoRKeqzf5MDXjWJ6Wv9rfnUycTxJ39kP9J/9VH3+z+DW49s4i4rIDnXcrCyWJy8hr0pYLs1YvT7DFPcyxmI2UH+Igc9QANSduZD2L0BanL/AJP6juGtibrZV9n1YxCqBuWYtCjxNWPEr1jChs49vfK6BohTyY22mAJMBhPRVksR+Mcft4RPs2FE3ARmcwcpHNiCQ90f7U5Swmsg7SSWJJOpJMknmSTvTUVHoKeec1TbaH4vG3HOZ2LNsJ8PDYDyoZl1Emefma61wDU1E98DXnTMQoPG/wCvCrHB8NF5dWNsnKodpKlnzZFUATqBJPhHORQJca4YUHMdANvh41s8DfFuJUMVNuFaRGUlWI2hgrSJ8aLoqEJTdJWegcJwKWkUACQAJyqCYAEnKANgKuFw6vAI03jkZBB28Caom4tZtwLl1FkbFht100q4wV8FVIYMpEgggyDsRG/KpKcJJW0ecdo+FjDuECuPYhAWYlg6XSxVQxAn2ZAUSTo3hWY7Z2Y9jeHWD9R9DW17cYxbjOEuQAyW3tAsYuhvaFz9092Bptz3rJ9rRmsKvPMPoatdCGaTE3UgaxoOQ/OgbuJt+J9B+dVTcVS5lGqtlE5mVUkDkxqtxGMbQjLGuzBto0kbVDxYz0V4tql0l+iNKb6MIgkaHUDcaiNd6Hv4y2glo66sJ25ASZ1rJ43EZySrOg17peRtsIAPxoW2GAJ1id9xPnVRSSpHJm1mTNLdOr/Inxd/2js8RJ2onCXGAVi6kFiuWe8IjvHoD+FArJIAGp5Dn5CnvhyPeUjXUEQfKDqKEczdlvimkRz3pljDxrO4g+VRWXzPPLYfA0VaaarqNE1yWEEneaivWwWZmmCZ03+elSqaV3VT5GqoZadkrId8skRJEEqZEaEjlE1WFgbjECO8341adjEBuE6jKhOnM7a+hNVFl41yg+c9fA0hXR3LXKm9uP8Alr8X/Ou1G0285Dex3Ccz+2eO57qSJnUZmHIDl/agu0Cxjm8UH/4yPwoRrzWyA0eDW2+YKnT5GpLitcuC7mLkCDJExBgTz350buKZltv3Rtq1Nm4TEArvvvyFVN60ARHOrax7lxToYGh30YVX3QCyjx5b0hD7VoLDjSCp+c/hXoV1NDEaifj5VgLalhIQkSPxmt3h7oNtNR7kfIRNcWri7i18Ts0j95GU4ssXDMbUuCXh7ZdQYDHT+k1B2khrggzAIMefOpOynDmuX4XQBGzMdlBEAmNdTAAGpJ0rqxe6jln7zNfcwrXOL4wBTkKAO0SF9pYRQPFjJhdzHnQfHeNph7YwmD7oGj3FIJn72Vh7zmYZ+XurA1qftZ2mgvas90n33WJmAsAjd8qgM3IQo51j8LZLHaT8hWz4EOWFHyH661G94ASTP60ApmOTK3eIOmkUCzzvUis7duyZP68KltKWBJG9CRJra9lezb30LhlUA6AgmSIPwmolKlyVCDk6Qzs1wySrMOhAFbHjPZw3kVkOVzoQR3WAB5jYiN/GpOD8CK5SQ3vAHT4+lay5dIUKWBUHSueWQ9DFGUOjo8pxWAa2+S6BqViNIAkETuZ8elak8ZQgW1uZFAiVAkRGUoxkKRvsazXHuIe2vM42JyoPAfnqfWpkFvKnukkmVAMjaCZ0IMnadqpSZ7uHRQ2bZq337/L5f9LjjPCLly415MtxDLBba5WUtGZsg97MdSyz5CK8841xP2jwNlkDz5mPl6V6jw+4bSAAaaRB1knl03qt7S9m7eNDXLICYlfemAHMDS4Bs0bN4iZ3raM+zPG1XhzjcsfQ8yF7wmpLdyQB/NH+4EVBiLZRirAqwMFSCCCORBrtttF8XHy/uapnlR4YVw/g1y6JUGBz+Ppy61HisI9kkGQDuBMHwI5+fwrS8H4gotFQQNfwj8I9KrOP4kNEGfH4/H+5qhNUiswWLa04dDDDUEgH61LiuIPcYs5BJMmBAnyoIVLbSgkNt90Dz/A/nRVihrjSfKibVNFBC0220j404VHY3jxj51QzSdnsI1kXSwI/clgeUEEjX0rN29hWzLgWMUeiZR6Wx+ZrG2N/SkSzs0qsvaDw/wBopUUFEFyymoIy+YlDQN60qNIQhf5TtPQtuOgmp8ZbuW/fU/UfGhEx5U6THQ/h/epfJMeHZYJgrV5ff9WG3hIgg0BxHsxcskXEh1BnMuseYO3rXSVY5rTC02x5L6j7oPqKtOH9oGtNkvjIdifukeI6eO1ZNSj05O2MsWXiXD9exkmw5gieckHr4iiuE2nRnM/5bR8vyrY43g1rEDPaIRo2Hun+k/d+YqlTB3EYoyMTBUQOZ0E9PPbyoUrXBLxPHL2iqwHDbl64EBk6mT7qruWY8lH61NaTHY5MNb+zYf3plnOjZo1dujRoB9xdNyahv4kYdDbtkZzq7+R0P9IPujmZbpFAWkwAdfUk8zW9bfzOcaq1JdxELlXQfM+JpmI7unPp/ahGmN6joA27B3MfT0qz4f2duuy5rVzK2xIKr8a0fYTA2FtfaMSqxnOViMzd2Qci8tdz4VsO1fHFw1hRbCkuoeCIHs8yidB1ZQPWs5S7I2hCqlLoednh625TKBGhka+pozheOuYczbOh3UiR5gHY0EeIG68xOYyT57momx2pgAidJnafPWs9snwz03m06jurjoq9T0nCdqbGfJ7XNMAFgRqRMTAH0qm7U9pc7ezsuMon2jDWZkBVPxk1l8LcBzM9tDJ2IPIRoJ0qa4UjRAsa6T8NTR5SRzYtQvMVrixLEzyA09d/oKteH2JcT6+HgfHlQXDMNAHh9eVX+CsxUn1UXOtz4tdPj/C4LOdvDb4/r4UkWXzAlToAR4Tv1GtQXTpSXEAcwPh9P70zHbxwU/bns+t5ftCDvoMtwDcqPveJA+XlWDNpQQZ2EKI26Enn1r2CxjAdiPKRr4HWvN+0uBFjEOqSqHvIPA8tOhzD0rWLPA1+m8t+Yl16lLbtEbMfSaY9rqSaKzE86jYVZ5bogFqisPhWILBSVXQnkCdQD8D8KYBRuD4g9tXVcpV9wwnUTqPHUiiwSXcGU7eMmjLbaTQZ+6Of50bHKrQidW0pWDFwHTcHXbT/ALVEhom3iIBAVZP3iJMaaa6DbpTGWWHxjtoQHAmJYhR4EAd71qru3G9pJULmGwECB4VNgsbkzSCZM6QKgxmJDXFYA6COXWpT5G+gTNKoPtS/wn5UqqySsN2dBP0+ulSXcJeUSUIA5wPwNV4vDqKt+Fceyd1+8m3iPzHhUk0VwueHkeh8eop32ke7dDMORVtvINII8NKuOK4JWU3bIDaagc/EflWfuYnUe6RAO0EaaggHkZFIArAcTayf3bSv8JGh9OR8q1GJ4jdvBLdq0WusCQggsNO9J5KBudKz2EPdzuig/d6nofCirnFX9m1mwCFaDffWbkbBj922OSc9SZJ0tQUfa7mnmy27L4KyO9321J7xMkfLf0rovsRltgLpvos+bE6/HpVhwW2qsXa2HjWTqF8Sv4kEeVWvE1S6pIVRzIOgP9J+6fI1m8iTo0jglKG6L+RkMfhrllgtwalVfQg91wGXbwIqMXQRRXFMSWf94JKotsdcirChuRI01oDB2wzd4gAfPwpmPQv+z1/uMDoAGIM7yVkRy2qw4ziGfE4pnytHdUEaBVuJCx0HSiOynBHxJuZIVQuQmJEsREDQTA61ssV+zgXGust8hrkkgoCBLKdIIO4+dQuG2bylcIx9LPPrGOZUJhAAYUBBE855miE4ztNu2fT+9bL/ANm6jKrXnMD7qgCZ31JrKXuDi27IR7rFdfAkfhU70jsw6OepajBqku/x6/t+SRBhOIKRHsQTqSdeZJ1M+NS3gGibarGuhJ+tF28OoiBoKmFgEcvH86l5Gz2NN4Thw1LI7a+g7AOAI086Ov4xUEkx0HM+Q/GqjE8cS2AiQ5GhPIevOgPaF+8TJPOoprk3lq8U57IO2H38c13QkheQH49TRFq6yH/EYeeo+tALagVIp8PCiztTTVIurOJJggkk8v7aTRHGcEuKwzSo9oqlkIOuYCYB6HaPKqvhzS+XnBjwYCQfl860WHI0YaBtY5Tz8qcWcWqxRlHazyQCuZKKx9rJduL/AAuy/BiKgrc+Pap0cC04ClXRTEK4mhoVDqKMbY+RoNfeFNCYcs9TRFrzmoE5VOtMaHcqiJqZjUJoAWalTa7SsKKy5w4/zfryFRpgCdiPjH1rbtgwakw3CjcMKMx9Pxp0Z2ZCxwhgJLxPJW+sUSMEq6mDHPXbxmtXxLgpw9vPdIWdFXWSenl40DwXs8+LDvmRLaGJYkZngGBGwAO9NUuWFlGLLXZOYKg01In0HPxNWeFwzW1lCvOGzKVO2YECZ5fEUFj+ICw5t5TnU5YB58gN5FVdxrl0nO2Sd1206mN9eX0pSdjQTjsb7NwbZGbchfut05j5mgcTxK4+5CKeS6DxP/ajAVVQqLJ/ib8F2HrPnQbYZnLMZAXcwTLHZdOvXapotNroCAflUtvD5iB86fft5ACxEnZRqfWrbg/ChdJa6yBFy5ibmQKJjoZ1I260UItOxfEzgmvNBcBMwSQMxlUC5jOWSykmJhaur37Y8QQQmHtIdpLO8HygVb8M7FYVbTtlLJcUS5uHJklWAEHaQNd6y/aTsvhO4MIxSJ9q7FihGkZSx3Gu0701Apv0B2/aNjnMm8k+FtB6QRXP+ITcl7+rnUkCJ5QQAAPMUNh+CWhAUNfbQSdEBJgE9BVr/wAFX3b90EeQcwYEBV1HdaSM2sg6RlFDxWro2wajLglug+SsXi7EnKFqG9dd/eaR02HwFWS9heIroLAuAfzJJ9SRRI7HYwLmOGuLpJhgY9NfrSjjXYeXV58iqcm1+hnfZ0RhXKHqDy/Ki8RgLlsZnQ5dszAr6SJWfOoF66r/ANQ+K/lRKHYzx5HCSlF0w/5Cnk/r8ahtNPiPAgj5U89BXM1XDPs9Nlx5I+w7DMLKwwMHlWj4XcJWCdd/j+jWesHTrVvgL3eE84HyP5CpT5FmVmP7VYXJibn8xzj/AFb/ADzVTkVsO2libltuqkfAz/8At8qzLWq6V0PktVDblkvj9wUV2pntVEVimc4rmx8jQaHvCjgJ0qvtDvVSJZY2t/SiVqCwN/hRAFDKQophWpYrmWkOiHLSqaPCu0WFHqX/AIdYRYcCCOcg+gHePmTWR4xjlsP+6ctJ7sQD6n8areM8QcAkEyTqSZPmZ3NZ65eKgsdWbr9T4VUUc8UEce4vcvMTcaWiCdAAP4QBtVceM3oyW2KjogAJPUkd4n1qJcO1xoUEx7xOgHUsdhU620Q9wljGpj45BuB4nU+FDdl0Nw+FZDJjOeR1I8SeRn1qZcPrrJJ5b/KmJe1iD6b/AAFPsMZb2k5YMIIALcs53j4mgY9lgE7AaEyIB6TtPgJPhXcPwq/dK+zTMW2UHUjryIAHM6UAMO5EtBVWEkHYMQI6xpy2rU9kuPLhsRnuEBHGVifuiZUjoJ3/ALVE5bVZcVZq+Afs9vZkxftrNpvZw1kLmHuwVJJOpIB0EUu0GFSUGKC2bjKQjDKMwG4AjK4E7EaTpE1rsV2hCFVzLmZcyjWSu86fHwrz3tPxj7bdXvEWrMsSRA2gtrrtIH9TVjgzScq5d/Cki541VkNnEXijhbj3bRPcTKAWiNY3CyOZ8apuIi8zyR3UDZVlSzbQpAO0+WgPWn8SxcXHti9CBLbqUB0lRCqu7P3iJMKACd6qr+DVLQxCHN+9CEE6glSZYbkaHWupszNF2Xxpw6i6xZHAaVbTOVVjkAHdCiV7zDcRzit9gP2hpBBJZTbDaIFYXC2tsgkAwuuavMUZWVRsFGUFeYmZ6gE8v0EFHL8KRUXzyj0k9vbFzPaK3wIIdgoAUc+9Iin4PjXsjbGHvXboNzIbdwgjKVJJMjMsCDvXnmHw7spKgkDQ+evL0+lT2MXeSVQusiTkJ2PONoPWkabk+qNVe4/cGGusuT2qANDiAVYkMco8VuKI/hFU44ReZHxGIwtsWyDcOQtauIInmuSR4gT11qoW+ZDFbZMR3rS6gdcoAbnqZqW1ipuq5UBIhkUn2beJRp8NB05UjNxZn711RdcWrkqp7rN3Sw5TpAMeW1F4PFOx0UMw3BOU+p/E+FVXFOHm0WhkZJC93NAMSFGYBiADuRyrR9iuFaNfYd3KUtiNydCfHeAedN9KHicoyuLpkuAxuYlSGVhyYQY/EeIq1tXIZfMfPSjcFYe2yriLLG33lYOO8Oa5XGk+9EHQxMgmIuOcN+z3kKsXsvD23Igkc1YcmB3FYThTtH0+g1qzLy5+99znaNM9u23jHxH5is4bNal1z2mG8HN+J+pqsGHqovg8nxHHtzfminOHqO5hKu/s9cOHqzgoy+IwrLqKrcOpljudzW2bD0MeGJqco13ppkuFlPg+8unrRXsqs0wIAgCKX2akNRorctdC0Y2GqM24oHRBkpURlpUBRUYjDxDHU7f96EvWM2pMH11/Ln4VZ+18jTSqn7vwNdLgc5WYlkFsy0E6hApMmd31iPHfap8NwO8O9GYkbh11BG29T3MOv8w8xUNu0xMAkeprNwY7Hvwu+P8AKf8A0qSPiKiHD7nNHHmjflRSYu9b0FxhH8x/A0Zb43iIkXj5FnHzmlsYWC4Tg5PeaVUczv5KOZpnGr9pP3aIhZesEyQO8557jTlROO4i973rgBmCCXkjwaGA8qE4DgrRuPexJlV7y2wZZzyEj57fkUOwzDcNxGICF3ACjKbj6BV6KefMEDXTnUnaPDm1bS1ZVvYmS90j/EgEyY90aGAd/jVZxHtDcuOTcUZNhb2UDkI/XOmXuN3MQVttoDp7x/ExrFHAWD8GwzXGz+6BoSJ10grrpEb1p7NtQAAAAOlRYewqqAugA2ohPChIaJcgI2kUFi8CwBa3r/Kd/T8qOU1JBoZQPg+LWggkBco9wg+0zQJzSpXUgSwymI6UK+NZs8uR7SM0HQxsPIdKNu4FLnvKJ68/jQeK4etsSXVfBzqfKNT8DSoRy5cBKkgSuxGmmuh11G5qe23tGJgAHUhRA8ABVdZtye7IPQx9KNsXjZBYgkglo6mO789aVFqVLoVXay1mupaTVhCvG5Z4IXxyj61pk44bVwIttclgCJI1IAA7m+538KA4Dwv2QOKxH+O/eQMNVBmDH8R1idhJ5VzFooQ3GUZtXZho0DZQw110+VJjgnyy/wCKcWbFWVZP3aoykw0wdWLEHYQoHxHOrPB4g4rh960yKGtxdtgA5hJZmE8+lZrFXbQsqbRlb/e1MsLa7qxOpJcwZ8aJ7O9oVw98C4DluoVYgExqNYHl8DQ12LhlcJLIuqa/T+/cK4Pcz24HQqevh9alFiq7hjhLzBHBU6gagxupjyIq/VJ1rKKrhnreJ7Z7ckOUwAYel9n12qwW3pXBb1qzyStbD7VxsNVk1r6132dAFYMPpTVw31q0S3pSNvWmBUthqHu4Srq5ajXQfKmm2KQFD9kpVd/ZB4UqAMLkpZKkBp4r21CDPObkiCKRqYioyKUsSBSISg5002ehqYimxXPLGi7GW7Kkd6Z6104IHZh61JaB5U5SI8eUGo8tFWCvg38G9QflQ5w4BHcAIMgjukHedKsc5pAmpeELOLxE8x8v7iibWLHX9etOw/D8yG4VlV3ytB+BEGgHtDlMeNZ+Wx7g/G44hRlEnyMef9pqvTF3D98j4V1bcbMw8jFSe0PMW38GX8ViocGVZ0Xrh/zG9CR9KEv2ue5+fx51YC+v/IX/AMx4+c1Oj/wraXxDPPyFS0OyvwGDuFhIKrPQlj/9NRqx8tOpFajh+DUd69ByGcrEHL09tGmbpbEzzMVX2WYEiLjd3MQgCKV2lmHfZauuF8Pu3V1CImy5fu/xZRyJ2LHX60IaBkS5jcRCgrbALOxykIgHed2ze8YECI2A2qr4hhTdDAanMCQVhQs8yTECF+FbPhaezYhDmB39nKqdIyso0fTmJihuJ9nMZaRHyPctcxP7wLOjZdWYDbbTehodsxqII7vujur5Dn6tmb1oC9jFN61bjU3UBMfcJCkaGTvNGEZFYawGYLM+7Jy78ois/ggbmKTwcH0TvfhSDq0i/uXDbukKT3D3T4cp8I5VueH3/a2g/MivPblzM7Hqf7VtOzFwBcmoOja9CTqPCMtPIuEzo07coTgunvfR19mXAT9Sfzp/s/H+1PpLz33/AAFZkkbL+H1roXyqRvy+orsUwIlSum3ttUqLv+uVC8TxyWUzOdzCqNWZv4VHM0AduLEkwFAkkmBHUkjSqxb739LYy251uGe9G4t6gweunPapreCuXyGxMKm6WAdPA3T95vDYVboBtA0iI0A8um1Aupmv+Gz/ABn/AMtf/XSrUyKVPkVI8o9pTg1QA1Itd0Z0crJacEoS/jkT3mE9BqflQlzjoGyk+JMVp+JiupOwuRhzU3/hN2M3srmX+LI0fGIqpwmIv3NRZ06kn8quMHisXb9xrtv+i64+Qp/i8b7E+VL1AfZU1krRL2pxP+ctu+uml+0jf9YAYec0nxmCve/auYVj962fa2vM22hwP6SaqOTHL+2LbNfEqcLggVzu2RJgcyx6KKcWsclunxlR+FE8Q4WyKGV0vWvu3LbFlHgQdbZ8GA9arQKtY+9iUrDPtsW2tqsKeZJJ/KgClSg0i4rTyo0Lc0wcrSipC9NLVhLGjRSOAmnhTuKQcV6B2P7EPiLftLiBEO3tSwkciLaEMfVl8qynHHFXJlKTukYbBSj5xvG8kco1Plpryr0Tszwl8XaBBQ25hiuiZhuCNyfD1q/T9nGEGtxrj+CkW1/6e8fViatuA4CxhSbdu2FUkkbn61xzlF+6aqybhvCrNgd0qX/iI28hT7+JB5z+Iqe7xS2jlchDnU6CdeZ6etC3FDmYnXlpp4mshni/7VcD9nuZ1ELdBI/qnUfMH41i+A4cBLt1tguRfFm/R9A1evftTwlvFWRZt6ur5/aT3FgHMubmSNNBE868xxGEa2RbKlVXkdiY97xrRRbDpyR4ZdZrfcPw6LdA/wAxEVWHQ5FkR5yJ8KruxnAs9wNckAAMFjVhI3nYEkDqZMbE0dgCTjLzEyC1wif64HxE0s3FRPQ8Ph7GWX+v3LyK5bb6mu70kH41mcx19v11FdimudKeKYCA19K5csq0ZlBjaQDHlO1dG/68KfQBEthY2ppsDTep0pONKAI/Y1ynzSoA8mHWqjH8SJ7qaL15n8hRHF78DKOe9UwBJ01J5VrKXZHKPsWWdgqiSdhWt4TwW3aILw76cpA11AHkDqabwfAC2umrH326fyKfDX1FWP2gAaaePOoSKSClcwdN+p/kj66x41LIOUQIUgxm6KV5+OtVKYnM2VQzt0WSfgtFfZrm5s3QOuS4PqKYw5MMu5mNNN9FUcxzJFBXcA0KTBaIPmFk7bwSJpti7r3WOn63FGWsUQddD1Hx8jrQFFLctlTzG8keBO457cvCmZ+vxFaC/hkeBoABAOsHbUk7QAfMms/jbDWzMbiYOnQ+h7w05zW+PUShw+hnKCfJ1rnID46moyaUqyhkMn7wI28jP4VEWPh8661lTXBm16j6aTTNfD4GuQfD4H86hyYzW9gOGrdutccZhbggcsx5mvaeFuzQQYCTmHWRp+NeDdmO0b4P2kW0uh8uhZkgidZAad9o5VuuzPbPEYlylqxYVomGv3dQCNoswfKa5csJSt0aRaR6ubYYVUYzAsGlRPMVUYjGcTEDNhbcgmRbvXYAE6gBTXmnG+1XEbjZTiyNSCtpRaXeN9W5ddKyjjlLoO6PTOLcZsYZ81xybjbWlXNcbSAIjQRHwqvXHX8WVTKLaNtbUyT43HBk6alVgdTrFYTg15bRzMSzndmJJP8AU7ST6mrzAcdxFu8HtBWEQVOxHMdRy1rRYmX2LftUbWHyYVXAu3iouPA7luRAXSFk/SslxHsv7J3ulwLCufZknMbig6e7706zGnUg6VrO0HGcKYv38Lb9sBALtnGmwyiA3mRpXn/GOO3cU8udBso0AA2EDatI5dqpC231L3gOMLXb96JUWjEnoylPCSQI5CBUXBMOyiWOZohm6tufwobBYV2s5AQisyuzakkKCAoXzLGTPLQ1cYZAqgDYaVyyds3i5LuTg+FMR/A+frTw1QWWCgLrtzn61IE7HQ1IDUTNofKnK1MBx5ef4GpJqFiOlPBFMBwOtPNRU/1oEcy+HzpUo8aVAHhPE275qTgqAuTzVZHmWVZ+DH5UqVHc5jU3tBA2qx7HcLt4m8y3ZKrlOUGAZJ3jU7bTzNcpVTLLDtb2ju4Jjawy2ragaQgn56fKq/8AZ52vxeIxy2713OjI5y5UGoEggqAR8aVKpEem43hlq/pdtq3jsw8mGo+Neb9ocMLGIuWkJKqRGbU6gHX40qVNlIiwzkNHKRRmOshrbk65YUeR1JPU7a+FKlTEYdrhS4CvPQ9Peij7wg0qVbYWZy6EddFKlXSjM7ROCxTW2DoSrLqCKVKtYdSZH0L2Px73bCF4kqp+IrJ/tM4NZkXgsO5IaNASB70dfHnSpVww4zUjX/yebYtyi90neNYPSgV4ndkDOYnwpUq6MiSjaFbsjuXCWMknWrHhVoF1B5nWlSriOhdTYIK7b2pUqyNyQ7UxNh5Dp0pUqaJZwvRFk0qVAh/I1IKVKmBHeOnqPqKca5SoA7FKlSoA/9k=" id="127" name="Google Shape;127;p17"/>
          <p:cNvSpPr/>
          <p:nvPr/>
        </p:nvSpPr>
        <p:spPr>
          <a:xfrm>
            <a:off x="2783681" y="748904"/>
            <a:ext cx="228600" cy="228601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35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descr="data:image/jpeg;base64,/9j/4AAQSkZJRgABAQAAAQABAAD/2wCEAAkGBxQTEhUUExQVFRUXFxoXGBgXGBgcGBwYGhgXHBoXGBgYHSggGBwlHBgVIjEhJSkrLi4uGB8zODMsNygtLisBCgoKDg0OGhAQGywmICQsLCwsLCwsLCwsLCwsLCwsLC8sNCwsLCwsLCwsLCwsLCwtLCwsLCwsLCwsLCwsLCwsLP/AABEIAMQBAQMBIgACEQEDEQH/xAAcAAABBQEBAQAAAAAAAAAAAAAEAAIDBQYBBwj/xABIEAACAQIEAwUFBQYEBAMJAAABAhEAAwQSITEFQVEGImFxgRMykaGxFELB0fAHI1JicuEzQ4KSFlOi8RWT0hckRFRzsrPC4v/EABoBAAMBAQEBAAAAAAAAAAAAAAABAgMEBQb/xAAwEQACAgEDAgMGBgMBAAAAAAAAAQIRAwQSITFBBRNRIjJhgZGxFHGh0eHwUmLBQv/aAAwDAQACEQMRAD8A86vYEkyLjgHlP0otBAA6da7mpTXK2z6PGoxba7imlSpUjfeie3jLiiA7R0Oo+BqbDKbpMgSByAE69BpQVWvZn/HjqjfIr/eiioZVjluQrvBpGg18hXbPBiugQehA061v+F8PFwwSBAnbpWiwfZu2QC0kkT5VooSaMpeI4sU921bvWufqeSHg56EVHc4OwE6/CvbP+H7PT51Hd7O2o6UvJfqOPj3wPEhw1qjOCP8A3r1fG8GRNZEeX1qlxGDXoKlwaO3H4up9jz18Mw3FRZd63pw69BWfvWst52XQgwNARBUcjUu0dC18ZvldCoZiyGSTDA6+II/AVDR165bUMGaJA2E7GpbPDf3QvvmS03ukKXZo393ur6nSqjjkzPJ4tpMPDfySv+CrroFSYfiFtbveslrI3GaLmuxJO3XUAefPU4HhlnEd7CxIGYBjMgfynvR4wRVeVJGK8c0knTT+a/llC3DLYAN59xoEhiP6unxoG5hEyhMikA6HXNrvJmrrGcIe22VgAx1yyuo6oRow8NCOlDnDdBPofgelZ3KPVm8MGi1Ed1Rl8kv5Rnn4SobMkr4SSN+ZM6UTkaSApKk6AskjQCSYE6AbCrSxYZzlANencO/ZlZhfbs5aAWCkAT0mNY61pCUpM8zxLRaDTrndFvoo8/f90eH3+CXTmuPECSqrqdDz5fjrUjkqEUCcoEyNZjxr3nH9gcOoGQ5RoBmYz09a89/aN2K9kGa27EpaN1Y+8oPfXTciSfSumj5l12MrbvCNfpTmI+Hgaz/DCWdQ1wohOrEZgPSr3HFUvtbS9bvJurpGungSNKKQrJSsjaokskXAwGsfMT/eg8c50AJ9NKfxC2qIjLcZmYGddqe1BYTicc5zDTvADbXSfHoa6iEgTvz85qow91pnWDI9KIxWJObQnYb+QpisusDbBvWRH+an/wBwrZrgxiWeypjEKS+HJ2JzEtbJ5a95SeebrXn/AAO83tbZ3hwZPhtWi4o7LfUMQr5090xDSDoTtFFFI02W9/8ALL/vP5UqsP8AizFf8y38FpUe0B47hcQHUMOekdD0ois9wfEFXy8m+o2q+D1yyjTPUwZt0bH12mzSzVFHTvHUfwNyLojSQfpVdNG8I/xPIGgqMraNhYxNwbXHHll/OrCzxW+P/iLnwU/jWcS9UovGhSOmWFP0+iNIeM3zvfc+aKaceNXz/nk/6BWbF81IL9PeZ/ho+i+i/Yu34jdO9yf9H9qFa83UfA0AL1RYviAQTuTMLzMfQeNK2weOMFbC8VjBbXM7BR1M78gOp8KynE+IM1xipCqYkTqdIgkHuiANPKgcfiWuuXcg5duar4IvXxOp3MCgsdie7lGg36knqT+UeEVvGFcs8jUapz9mPC+5JYxBRmZYncknvQd1QRPKJ0iafbxLgDLcbYscrEayQfkJ61BZcle9BO66aj1GwqbFEKylREiY8Rv6EGt4s4qJsNjyzgOEuhTOW7p8H0YHxDVYYO3ZhriWrdphPed2vuTtFtSNIHNvjVZguFrfecOXKpbm4IDXAS5GW2gjMPdidd+lXJ4GbfskSc1xJRHRlOkypbVQ4AJgkUm1YJFPiO0V5GjM4PiSoPkq6fCr3gvFRiO4qsbgEmPvb94AeETVbdwq3QUuAgjSDowNUnCbr4bGICSCrAT1B0n5j4VnljuR16LUPDlT7Phm5tu42DDyJ/Or7C8b4lcIS1cus0aDuSR17wqHE8XZyC8d3wihPtpFwOHgjWQenrXIn8T6qUfM5ljjfxVj+NcS4rbj27XQBrqLcQTEyoqjx/HMTcyrcuP3Ccu2kgqy+RBIirbj3FfaK7vck5Qsk6awNAPTbrWcZQYJJknp15Vacn0slY9JsrPGEX8El9O5QcW4Ubdv2qEeyDBY2IJHz2FVOHRmaFmT0rTdosegtrZWSwuB207sAGBM7zrUOFYxqoXyrphdcnyWrjjWWSxe72BeIp7oPIUHaWTH6FWHFLeszQ2CSZPJYJHOJA0+NUzCKtj8JbmQRJ5QBv60ZilHtAGgCQCT066eFHYbD211JOhnp6VXY3DnM0RAPXXWhFONGtsdlWsYhAt1LiFWhwQCWKESqTJAJFU/Gz7XFuxkK7jppIUGR4VquAcSsmzaQCbigQMpka6wx5HwrJYi5/72/wDD7ZzHhmJqgSTJ/wDwdf4v+n+9Kgfbt+gKVLfEry2ZBzBBG+9FJjLhIAJJJgARMnblUD2GJAGpaAPMmBVvxLB20xVy2Ay5YKlGAiLYbQZTGs61FGabRDjbWJstluq6Npoy66iRy00Iof7c/N/p+VF4jihuPN+7iToIYOrEwABMgToBRGExmEVSGu4uT/LaKx0IYGTS2lub7NleMY/8f0/KisHxS5bJIKmRGv8AaKlxN7COVW2zFjAk2gDmJjYafIVbWuzthY9oXadQyCAB/NI96eVJ7Vw6LTyL2otgK9oL3IW/g3509eP3+lr4N+dFXMFw8GDdvA/0/wD81PhOFcPdgFvXSTsuoHxyzQoRKeqzf5MDXjWJ6Wv9rfnUycTxJ39kP9J/9VH3+z+DW49s4i4rIDnXcrCyWJy8hr0pYLs1YvT7DFPcyxmI2UH+Igc9QANSduZD2L0BanL/AJP6juGtibrZV9n1YxCqBuWYtCjxNWPEr1jChs49vfK6BohTyY22mAJMBhPRVksR+Mcft4RPs2FE3ARmcwcpHNiCQ90f7U5Swmsg7SSWJJOpJMknmSTvTUVHoKeec1TbaH4vG3HOZ2LNsJ8PDYDyoZl1Emefma61wDU1E98DXnTMQoPG/wCvCrHB8NF5dWNsnKodpKlnzZFUATqBJPhHORQJca4YUHMdANvh41s8DfFuJUMVNuFaRGUlWI2hgrSJ8aLoqEJTdJWegcJwKWkUACQAJyqCYAEnKANgKuFw6vAI03jkZBB28Caom4tZtwLl1FkbFht100q4wV8FVIYMpEgggyDsRG/KpKcJJW0ecdo+FjDuECuPYhAWYlg6XSxVQxAn2ZAUSTo3hWY7Z2Y9jeHWD9R9DW17cYxbjOEuQAyW3tAsYuhvaFz9092Bptz3rJ9rRmsKvPMPoatdCGaTE3UgaxoOQ/OgbuJt+J9B+dVTcVS5lGqtlE5mVUkDkxqtxGMbQjLGuzBto0kbVDxYz0V4tql0l+iNKb6MIgkaHUDcaiNd6Hv4y2glo66sJ25ASZ1rJ43EZySrOg17peRtsIAPxoW2GAJ1id9xPnVRSSpHJm1mTNLdOr/Inxd/2js8RJ2onCXGAVi6kFiuWe8IjvHoD+FArJIAGp5Dn5CnvhyPeUjXUEQfKDqKEczdlvimkRz3pljDxrO4g+VRWXzPPLYfA0VaaarqNE1yWEEneaivWwWZmmCZ03+elSqaV3VT5GqoZadkrId8skRJEEqZEaEjlE1WFgbjECO8341adjEBuE6jKhOnM7a+hNVFl41yg+c9fA0hXR3LXKm9uP8Alr8X/Ou1G0285Dex3Ccz+2eO57qSJnUZmHIDl/agu0Cxjm8UH/4yPwoRrzWyA0eDW2+YKnT5GpLitcuC7mLkCDJExBgTz350buKZltv3Rtq1Nm4TEArvvvyFVN60ARHOrax7lxToYGh30YVX3QCyjx5b0hD7VoLDjSCp+c/hXoV1NDEaifj5VgLalhIQkSPxmt3h7oNtNR7kfIRNcWri7i18Ts0j95GU4ssXDMbUuCXh7ZdQYDHT+k1B2khrggzAIMefOpOynDmuX4XQBGzMdlBEAmNdTAAGpJ0rqxe6jln7zNfcwrXOL4wBTkKAO0SF9pYRQPFjJhdzHnQfHeNph7YwmD7oGj3FIJn72Vh7zmYZ+XurA1qftZ2mgvas90n33WJmAsAjd8qgM3IQo51j8LZLHaT8hWz4EOWFHyH661G94ASTP60ApmOTK3eIOmkUCzzvUis7duyZP68KltKWBJG9CRJra9lezb30LhlUA6AgmSIPwmolKlyVCDk6Qzs1wySrMOhAFbHjPZw3kVkOVzoQR3WAB5jYiN/GpOD8CK5SQ3vAHT4+lay5dIUKWBUHSueWQ9DFGUOjo8pxWAa2+S6BqViNIAkETuZ8elak8ZQgW1uZFAiVAkRGUoxkKRvsazXHuIe2vM42JyoPAfnqfWpkFvKnukkmVAMjaCZ0IMnadqpSZ7uHRQ2bZq337/L5f9LjjPCLly415MtxDLBba5WUtGZsg97MdSyz5CK8841xP2jwNlkDz5mPl6V6jw+4bSAAaaRB1knl03qt7S9m7eNDXLICYlfemAHMDS4Bs0bN4iZ3raM+zPG1XhzjcsfQ8yF7wmpLdyQB/NH+4EVBiLZRirAqwMFSCCCORBrtttF8XHy/uapnlR4YVw/g1y6JUGBz+Ppy61HisI9kkGQDuBMHwI5+fwrS8H4gotFQQNfwj8I9KrOP4kNEGfH4/H+5qhNUiswWLa04dDDDUEgH61LiuIPcYs5BJMmBAnyoIVLbSgkNt90Dz/A/nRVihrjSfKibVNFBC0220j404VHY3jxj51QzSdnsI1kXSwI/clgeUEEjX0rN29hWzLgWMUeiZR6Wx+ZrG2N/SkSzs0qsvaDw/wBopUUFEFyymoIy+YlDQN60qNIQhf5TtPQtuOgmp8ZbuW/fU/UfGhEx5U6THQ/h/epfJMeHZYJgrV5ff9WG3hIgg0BxHsxcskXEh1BnMuseYO3rXSVY5rTC02x5L6j7oPqKtOH9oGtNkvjIdifukeI6eO1ZNSj05O2MsWXiXD9exkmw5gieckHr4iiuE2nRnM/5bR8vyrY43g1rEDPaIRo2Hun+k/d+YqlTB3EYoyMTBUQOZ0E9PPbyoUrXBLxPHL2iqwHDbl64EBk6mT7qruWY8lH61NaTHY5MNb+zYf3plnOjZo1dujRoB9xdNyahv4kYdDbtkZzq7+R0P9IPujmZbpFAWkwAdfUk8zW9bfzOcaq1JdxELlXQfM+JpmI7unPp/ahGmN6joA27B3MfT0qz4f2duuy5rVzK2xIKr8a0fYTA2FtfaMSqxnOViMzd2Qci8tdz4VsO1fHFw1hRbCkuoeCIHs8yidB1ZQPWs5S7I2hCqlLoednh625TKBGhka+pozheOuYczbOh3UiR5gHY0EeIG68xOYyT57momx2pgAidJnafPWs9snwz03m06jurjoq9T0nCdqbGfJ7XNMAFgRqRMTAH0qm7U9pc7ezsuMon2jDWZkBVPxk1l8LcBzM9tDJ2IPIRoJ0qa4UjRAsa6T8NTR5SRzYtQvMVrixLEzyA09d/oKteH2JcT6+HgfHlQXDMNAHh9eVX+CsxUn1UXOtz4tdPj/C4LOdvDb4/r4UkWXzAlToAR4Tv1GtQXTpSXEAcwPh9P70zHbxwU/bns+t5ftCDvoMtwDcqPveJA+XlWDNpQQZ2EKI26Enn1r2CxjAdiPKRr4HWvN+0uBFjEOqSqHvIPA8tOhzD0rWLPA1+m8t+Yl16lLbtEbMfSaY9rqSaKzE86jYVZ5bogFqisPhWILBSVXQnkCdQD8D8KYBRuD4g9tXVcpV9wwnUTqPHUiiwSXcGU7eMmjLbaTQZ+6Of50bHKrQidW0pWDFwHTcHXbT/ALVEhom3iIBAVZP3iJMaaa6DbpTGWWHxjtoQHAmJYhR4EAd71qru3G9pJULmGwECB4VNgsbkzSCZM6QKgxmJDXFYA6COXWpT5G+gTNKoPtS/wn5UqqySsN2dBP0+ulSXcJeUSUIA5wPwNV4vDqKt+Fceyd1+8m3iPzHhUk0VwueHkeh8eop32ke7dDMORVtvINII8NKuOK4JWU3bIDaagc/EflWfuYnUe6RAO0EaaggHkZFIArAcTayf3bSv8JGh9OR8q1GJ4jdvBLdq0WusCQggsNO9J5KBudKz2EPdzuig/d6nofCirnFX9m1mwCFaDffWbkbBj922OSc9SZJ0tQUfa7mnmy27L4KyO9321J7xMkfLf0rovsRltgLpvos+bE6/HpVhwW2qsXa2HjWTqF8Sv4kEeVWvE1S6pIVRzIOgP9J+6fI1m8iTo0jglKG6L+RkMfhrllgtwalVfQg91wGXbwIqMXQRRXFMSWf94JKotsdcirChuRI01oDB2wzd4gAfPwpmPQv+z1/uMDoAGIM7yVkRy2qw4ziGfE4pnytHdUEaBVuJCx0HSiOynBHxJuZIVQuQmJEsREDQTA61ssV+zgXGust8hrkkgoCBLKdIIO4+dQuG2bylcIx9LPPrGOZUJhAAYUBBE855miE4ztNu2fT+9bL/ANm6jKrXnMD7qgCZ31JrKXuDi27IR7rFdfAkfhU70jsw6OepajBqku/x6/t+SRBhOIKRHsQTqSdeZJ1M+NS3gGibarGuhJ+tF28OoiBoKmFgEcvH86l5Gz2NN4Thw1LI7a+g7AOAI086Ov4xUEkx0HM+Q/GqjE8cS2AiQ5GhPIevOgPaF+8TJPOoprk3lq8U57IO2H38c13QkheQH49TRFq6yH/EYeeo+tALagVIp8PCiztTTVIurOJJggkk8v7aTRHGcEuKwzSo9oqlkIOuYCYB6HaPKqvhzS+XnBjwYCQfl860WHI0YaBtY5Tz8qcWcWqxRlHazyQCuZKKx9rJduL/AAuy/BiKgrc+Pap0cC04ClXRTEK4mhoVDqKMbY+RoNfeFNCYcs9TRFrzmoE5VOtMaHcqiJqZjUJoAWalTa7SsKKy5w4/zfryFRpgCdiPjH1rbtgwakw3CjcMKMx9Pxp0Z2ZCxwhgJLxPJW+sUSMEq6mDHPXbxmtXxLgpw9vPdIWdFXWSenl40DwXs8+LDvmRLaGJYkZngGBGwAO9NUuWFlGLLXZOYKg01In0HPxNWeFwzW1lCvOGzKVO2YECZ5fEUFj+ICw5t5TnU5YB58gN5FVdxrl0nO2Sd1206mN9eX0pSdjQTjsb7NwbZGbchfut05j5mgcTxK4+5CKeS6DxP/ajAVVQqLJ/ib8F2HrPnQbYZnLMZAXcwTLHZdOvXapotNroCAflUtvD5iB86fft5ACxEnZRqfWrbg/ChdJa6yBFy5ibmQKJjoZ1I260UItOxfEzgmvNBcBMwSQMxlUC5jOWSykmJhaur37Y8QQQmHtIdpLO8HygVb8M7FYVbTtlLJcUS5uHJklWAEHaQNd6y/aTsvhO4MIxSJ9q7FihGkZSx3Gu0701Apv0B2/aNjnMm8k+FtB6QRXP+ITcl7+rnUkCJ5QQAAPMUNh+CWhAUNfbQSdEBJgE9BVr/wAFX3b90EeQcwYEBV1HdaSM2sg6RlFDxWro2wajLglug+SsXi7EnKFqG9dd/eaR02HwFWS9heIroLAuAfzJJ9SRRI7HYwLmOGuLpJhgY9NfrSjjXYeXV58iqcm1+hnfZ0RhXKHqDy/Ki8RgLlsZnQ5dszAr6SJWfOoF66r/ANQ+K/lRKHYzx5HCSlF0w/5Cnk/r8ahtNPiPAgj5U89BXM1XDPs9Nlx5I+w7DMLKwwMHlWj4XcJWCdd/j+jWesHTrVvgL3eE84HyP5CpT5FmVmP7VYXJibn8xzj/AFb/ADzVTkVsO2libltuqkfAz/8At8qzLWq6V0PktVDblkvj9wUV2pntVEVimc4rmx8jQaHvCjgJ0qvtDvVSJZY2t/SiVqCwN/hRAFDKQophWpYrmWkOiHLSqaPCu0WFHqX/AIdYRYcCCOcg+gHePmTWR4xjlsP+6ctJ7sQD6n8areM8QcAkEyTqSZPmZ3NZ65eKgsdWbr9T4VUUc8UEce4vcvMTcaWiCdAAP4QBtVceM3oyW2KjogAJPUkd4n1qJcO1xoUEx7xOgHUsdhU620Q9wljGpj45BuB4nU+FDdl0Nw+FZDJjOeR1I8SeRn1qZcPrrJJ5b/KmJe1iD6b/AAFPsMZb2k5YMIIALcs53j4mgY9lgE7AaEyIB6TtPgJPhXcPwq/dK+zTMW2UHUjryIAHM6UAMO5EtBVWEkHYMQI6xpy2rU9kuPLhsRnuEBHGVifuiZUjoJ3/ALVE5bVZcVZq+Afs9vZkxftrNpvZw1kLmHuwVJJOpIB0EUu0GFSUGKC2bjKQjDKMwG4AjK4E7EaTpE1rsV2hCFVzLmZcyjWSu86fHwrz3tPxj7bdXvEWrMsSRA2gtrrtIH9TVjgzScq5d/Cki541VkNnEXijhbj3bRPcTKAWiNY3CyOZ8apuIi8zyR3UDZVlSzbQpAO0+WgPWn8SxcXHti9CBLbqUB0lRCqu7P3iJMKACd6qr+DVLQxCHN+9CEE6glSZYbkaHWupszNF2Xxpw6i6xZHAaVbTOVVjkAHdCiV7zDcRzit9gP2hpBBJZTbDaIFYXC2tsgkAwuuavMUZWVRsFGUFeYmZ6gE8v0EFHL8KRUXzyj0k9vbFzPaK3wIIdgoAUc+9Iin4PjXsjbGHvXboNzIbdwgjKVJJMjMsCDvXnmHw7spKgkDQ+evL0+lT2MXeSVQusiTkJ2PONoPWkabk+qNVe4/cGGusuT2qANDiAVYkMco8VuKI/hFU44ReZHxGIwtsWyDcOQtauIInmuSR4gT11qoW+ZDFbZMR3rS6gdcoAbnqZqW1ipuq5UBIhkUn2beJRp8NB05UjNxZn711RdcWrkqp7rN3Sw5TpAMeW1F4PFOx0UMw3BOU+p/E+FVXFOHm0WhkZJC93NAMSFGYBiADuRyrR9iuFaNfYd3KUtiNydCfHeAedN9KHicoyuLpkuAxuYlSGVhyYQY/EeIq1tXIZfMfPSjcFYe2yriLLG33lYOO8Oa5XGk+9EHQxMgmIuOcN+z3kKsXsvD23Igkc1YcmB3FYThTtH0+g1qzLy5+99znaNM9u23jHxH5is4bNal1z2mG8HN+J+pqsGHqovg8nxHHtzfminOHqO5hKu/s9cOHqzgoy+IwrLqKrcOpljudzW2bD0MeGJqco13ppkuFlPg+8unrRXsqs0wIAgCKX2akNRorctdC0Y2GqM24oHRBkpURlpUBRUYjDxDHU7f96EvWM2pMH11/Ln4VZ+18jTSqn7vwNdLgc5WYlkFsy0E6hApMmd31iPHfap8NwO8O9GYkbh11BG29T3MOv8w8xUNu0xMAkeprNwY7Hvwu+P8AKf8A0qSPiKiHD7nNHHmjflRSYu9b0FxhH8x/A0Zb43iIkXj5FnHzmlsYWC4Tg5PeaVUczv5KOZpnGr9pP3aIhZesEyQO8557jTlROO4i973rgBmCCXkjwaGA8qE4DgrRuPexJlV7y2wZZzyEj57fkUOwzDcNxGICF3ACjKbj6BV6KefMEDXTnUnaPDm1bS1ZVvYmS90j/EgEyY90aGAd/jVZxHtDcuOTcUZNhb2UDkI/XOmXuN3MQVttoDp7x/ExrFHAWD8GwzXGz+6BoSJ10grrpEb1p7NtQAAAAOlRYewqqAugA2ohPChIaJcgI2kUFi8CwBa3r/Kd/T8qOU1JBoZQPg+LWggkBco9wg+0zQJzSpXUgSwymI6UK+NZs8uR7SM0HQxsPIdKNu4FLnvKJ68/jQeK4etsSXVfBzqfKNT8DSoRy5cBKkgSuxGmmuh11G5qe23tGJgAHUhRA8ABVdZtye7IPQx9KNsXjZBYgkglo6mO789aVFqVLoVXay1mupaTVhCvG5Z4IXxyj61pk44bVwIttclgCJI1IAA7m+538KA4Dwv2QOKxH+O/eQMNVBmDH8R1idhJ5VzFooQ3GUZtXZho0DZQw110+VJjgnyy/wCKcWbFWVZP3aoykw0wdWLEHYQoHxHOrPB4g4rh960yKGtxdtgA5hJZmE8+lZrFXbQsqbRlb/e1MsLa7qxOpJcwZ8aJ7O9oVw98C4DluoVYgExqNYHl8DQ12LhlcJLIuqa/T+/cK4Pcz24HQqevh9alFiq7hjhLzBHBU6gagxupjyIq/VJ1rKKrhnreJ7Z7ckOUwAYel9n12qwW3pXBb1qzyStbD7VxsNVk1r6132dAFYMPpTVw31q0S3pSNvWmBUthqHu4Srq5ajXQfKmm2KQFD9kpVd/ZB4UqAMLkpZKkBp4r21CDPObkiCKRqYioyKUsSBSISg5002ehqYimxXPLGi7GW7Kkd6Z6104IHZh61JaB5U5SI8eUGo8tFWCvg38G9QflQ5w4BHcAIMgjukHedKsc5pAmpeELOLxE8x8v7iibWLHX9etOw/D8yG4VlV3ytB+BEGgHtDlMeNZ+Wx7g/G44hRlEnyMef9pqvTF3D98j4V1bcbMw8jFSe0PMW38GX8ViocGVZ0Xrh/zG9CR9KEv2ue5+fx51YC+v/IX/AMx4+c1Oj/wraXxDPPyFS0OyvwGDuFhIKrPQlj/9NRqx8tOpFajh+DUd69ByGcrEHL09tGmbpbEzzMVX2WYEiLjd3MQgCKV2lmHfZauuF8Pu3V1CImy5fu/xZRyJ2LHX60IaBkS5jcRCgrbALOxykIgHed2ze8YECI2A2qr4hhTdDAanMCQVhQs8yTECF+FbPhaezYhDmB39nKqdIyso0fTmJihuJ9nMZaRHyPctcxP7wLOjZdWYDbbTehodsxqII7vujur5Dn6tmb1oC9jFN61bjU3UBMfcJCkaGTvNGEZFYawGYLM+7Jy78ois/ggbmKTwcH0TvfhSDq0i/uXDbukKT3D3T4cp8I5VueH3/a2g/MivPblzM7Hqf7VtOzFwBcmoOja9CTqPCMtPIuEzo07coTgunvfR19mXAT9Sfzp/s/H+1PpLz33/AAFZkkbL+H1roXyqRvy+orsUwIlSum3ttUqLv+uVC8TxyWUzOdzCqNWZv4VHM0AduLEkwFAkkmBHUkjSqxb739LYy251uGe9G4t6gweunPapreCuXyGxMKm6WAdPA3T95vDYVboBtA0iI0A8um1Aupmv+Gz/ABn/AMtf/XSrUyKVPkVI8o9pTg1QA1Itd0Z0crJacEoS/jkT3mE9BqflQlzjoGyk+JMVp+JiupOwuRhzU3/hN2M3srmX+LI0fGIqpwmIv3NRZ06kn8quMHisXb9xrtv+i64+Qp/i8b7E+VL1AfZU1krRL2pxP+ctu+uml+0jf9YAYec0nxmCve/auYVj962fa2vM22hwP6SaqOTHL+2LbNfEqcLggVzu2RJgcyx6KKcWsclunxlR+FE8Q4WyKGV0vWvu3LbFlHgQdbZ8GA9arQKtY+9iUrDPtsW2tqsKeZJJ/KgClSg0i4rTyo0Lc0wcrSipC9NLVhLGjRSOAmnhTuKQcV6B2P7EPiLftLiBEO3tSwkciLaEMfVl8qynHHFXJlKTukYbBSj5xvG8kco1Plpryr0Tszwl8XaBBQ25hiuiZhuCNyfD1q/T9nGEGtxrj+CkW1/6e8fViatuA4CxhSbdu2FUkkbn61xzlF+6aqybhvCrNgd0qX/iI28hT7+JB5z+Iqe7xS2jlchDnU6CdeZ6etC3FDmYnXlpp4mshni/7VcD9nuZ1ELdBI/qnUfMH41i+A4cBLt1tguRfFm/R9A1evftTwlvFWRZt6ur5/aT3FgHMubmSNNBE868xxGEa2RbKlVXkdiY97xrRRbDpyR4ZdZrfcPw6LdA/wAxEVWHQ5FkR5yJ8KruxnAs9wNckAAMFjVhI3nYEkDqZMbE0dgCTjLzEyC1wif64HxE0s3FRPQ8Ph7GWX+v3LyK5bb6mu70kH41mcx19v11FdimudKeKYCA19K5csq0ZlBjaQDHlO1dG/68KfQBEthY2ppsDTep0pONKAI/Y1ynzSoA8mHWqjH8SJ7qaL15n8hRHF78DKOe9UwBJ01J5VrKXZHKPsWWdgqiSdhWt4TwW3aILw76cpA11AHkDqabwfAC2umrH326fyKfDX1FWP2gAaaePOoSKSClcwdN+p/kj66x41LIOUQIUgxm6KV5+OtVKYnM2VQzt0WSfgtFfZrm5s3QOuS4PqKYw5MMu5mNNN9FUcxzJFBXcA0KTBaIPmFk7bwSJpti7r3WOn63FGWsUQddD1Hx8jrQFFLctlTzG8keBO457cvCmZ+vxFaC/hkeBoABAOsHbUk7QAfMms/jbDWzMbiYOnQ+h7w05zW+PUShw+hnKCfJ1rnID46moyaUqyhkMn7wI28jP4VEWPh8661lTXBm16j6aTTNfD4GuQfD4H86hyYzW9gOGrdutccZhbggcsx5mvaeFuzQQYCTmHWRp+NeDdmO0b4P2kW0uh8uhZkgidZAad9o5VuuzPbPEYlylqxYVomGv3dQCNoswfKa5csJSt0aRaR6ubYYVUYzAsGlRPMVUYjGcTEDNhbcgmRbvXYAE6gBTXmnG+1XEbjZTiyNSCtpRaXeN9W5ddKyjjlLoO6PTOLcZsYZ81xybjbWlXNcbSAIjQRHwqvXHX8WVTKLaNtbUyT43HBk6alVgdTrFYTg15bRzMSzndmJJP8AU7ST6mrzAcdxFu8HtBWEQVOxHMdRy1rRYmX2LftUbWHyYVXAu3iouPA7luRAXSFk/SslxHsv7J3ulwLCufZknMbig6e7706zGnUg6VrO0HGcKYv38Lb9sBALtnGmwyiA3mRpXn/GOO3cU8udBso0AA2EDatI5dqpC231L3gOMLXb96JUWjEnoylPCSQI5CBUXBMOyiWOZohm6tufwobBYV2s5AQisyuzakkKCAoXzLGTPLQ1cYZAqgDYaVyyds3i5LuTg+FMR/A+frTw1QWWCgLrtzn61IE7HQ1IDUTNofKnK1MBx5ef4GpJqFiOlPBFMBwOtPNRU/1oEcy+HzpUo8aVAHhPE275qTgqAuTzVZHmWVZ+DH5UqVHc5jU3tBA2qx7HcLt4m8y3ZKrlOUGAZJ3jU7bTzNcpVTLLDtb2ju4Jjawy2ragaQgn56fKq/8AZ52vxeIxy2713OjI5y5UGoEggqAR8aVKpEem43hlq/pdtq3jsw8mGo+Neb9ocMLGIuWkJKqRGbU6gHX40qVNlIiwzkNHKRRmOshrbk65YUeR1JPU7a+FKlTEYdrhS4CvPQ9Peij7wg0qVbYWZy6EddFKlXSjM7ROCxTW2DoSrLqCKVKtYdSZH0L2Px73bCF4kqp+IrJ/tM4NZkXgsO5IaNASB70dfHnSpVww4zUjX/yebYtyi90neNYPSgV4ndkDOYnwpUq6MiSjaFbsjuXCWMknWrHhVoF1B5nWlSriOhdTYIK7b2pUqyNyQ7UxNh5Dp0pUqaJZwvRFk0qVAh/I1IKVKmBHeOnqPqKca5SoA7FKlSoA/9k=" id="128" name="Google Shape;128;p17"/>
          <p:cNvSpPr/>
          <p:nvPr/>
        </p:nvSpPr>
        <p:spPr>
          <a:xfrm>
            <a:off x="2783681" y="748904"/>
            <a:ext cx="228600" cy="228601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35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descr="data:image/jpeg;base64,/9j/4AAQSkZJRgABAQAAAQABAAD/2wCEAAkGBxQTEhUUExQVFRUXFxoXGBgXGBgcGBwYGhgXHBoXGBgYHSggGBwlHBgVIjEhJSkrLi4uGB8zODMsNygtLisBCgoKDg0OGhAQGywmICQsLCwsLCwsLCwsLCwsLCwsLC8sNCwsLCwsLCwsLCwsLCwtLCwsLCwsLCwsLCwsLCwsLP/AABEIAMQBAQMBIgACEQEDEQH/xAAcAAABBQEBAQAAAAAAAAAAAAAEAAIDBQYBBwj/xABIEAACAQIEAwUFBQYEBAMJAAABAhEAAwQSITEFQVEGImFxgRMykaGxFELB0fAHI1JicuEzQ4KSFlOi8RWT0hckRFRzsrPC4v/EABoBAAMBAQEBAAAAAAAAAAAAAAABAgMEBQb/xAAwEQACAgEDAgMGBgMBAAAAAAAAAQIRAwQSITFBBRNRIjJhgZGxFHGh0eHwUmLBQv/aAAwDAQACEQMRAD8A86vYEkyLjgHlP0otBAA6da7mpTXK2z6PGoxba7imlSpUjfeie3jLiiA7R0Oo+BqbDKbpMgSByAE69BpQVWvZn/HjqjfIr/eiioZVjluQrvBpGg18hXbPBiugQehA061v+F8PFwwSBAnbpWiwfZu2QC0kkT5VooSaMpeI4sU921bvWufqeSHg56EVHc4OwE6/CvbP+H7PT51Hd7O2o6UvJfqOPj3wPEhw1qjOCP8A3r1fG8GRNZEeX1qlxGDXoKlwaO3H4up9jz18Mw3FRZd63pw69BWfvWst52XQgwNARBUcjUu0dC18ZvldCoZiyGSTDA6+II/AVDR165bUMGaJA2E7GpbPDf3QvvmS03ukKXZo393ur6nSqjjkzPJ4tpMPDfySv+CrroFSYfiFtbveslrI3GaLmuxJO3XUAefPU4HhlnEd7CxIGYBjMgfynvR4wRVeVJGK8c0knTT+a/llC3DLYAN59xoEhiP6unxoG5hEyhMikA6HXNrvJmrrGcIe22VgAx1yyuo6oRow8NCOlDnDdBPofgelZ3KPVm8MGi1Ed1Rl8kv5Rnn4SobMkr4SSN+ZM6UTkaSApKk6AskjQCSYE6AbCrSxYZzlANencO/ZlZhfbs5aAWCkAT0mNY61pCUpM8zxLRaDTrndFvoo8/f90eH3+CXTmuPECSqrqdDz5fjrUjkqEUCcoEyNZjxr3nH9gcOoGQ5RoBmYz09a89/aN2K9kGa27EpaN1Y+8oPfXTciSfSumj5l12MrbvCNfpTmI+Hgaz/DCWdQ1wohOrEZgPSr3HFUvtbS9bvJurpGungSNKKQrJSsjaokskXAwGsfMT/eg8c50AJ9NKfxC2qIjLcZmYGddqe1BYTicc5zDTvADbXSfHoa6iEgTvz85qow91pnWDI9KIxWJObQnYb+QpisusDbBvWRH+an/wBwrZrgxiWeypjEKS+HJ2JzEtbJ5a95SeebrXn/AAO83tbZ3hwZPhtWi4o7LfUMQr5090xDSDoTtFFFI02W9/8ALL/vP5UqsP8AizFf8y38FpUe0B47hcQHUMOekdD0ois9wfEFXy8m+o2q+D1yyjTPUwZt0bH12mzSzVFHTvHUfwNyLojSQfpVdNG8I/xPIGgqMraNhYxNwbXHHll/OrCzxW+P/iLnwU/jWcS9UovGhSOmWFP0+iNIeM3zvfc+aKaceNXz/nk/6BWbF81IL9PeZ/ho+i+i/Yu34jdO9yf9H9qFa83UfA0AL1RYviAQTuTMLzMfQeNK2weOMFbC8VjBbXM7BR1M78gOp8KynE+IM1xipCqYkTqdIgkHuiANPKgcfiWuuXcg5duar4IvXxOp3MCgsdie7lGg36knqT+UeEVvGFcs8jUapz9mPC+5JYxBRmZYncknvQd1QRPKJ0iafbxLgDLcbYscrEayQfkJ61BZcle9BO66aj1GwqbFEKylREiY8Rv6EGt4s4qJsNjyzgOEuhTOW7p8H0YHxDVYYO3ZhriWrdphPed2vuTtFtSNIHNvjVZguFrfecOXKpbm4IDXAS5GW2gjMPdidd+lXJ4GbfskSc1xJRHRlOkypbVQ4AJgkUm1YJFPiO0V5GjM4PiSoPkq6fCr3gvFRiO4qsbgEmPvb94AeETVbdwq3QUuAgjSDowNUnCbr4bGICSCrAT1B0n5j4VnljuR16LUPDlT7Phm5tu42DDyJ/Or7C8b4lcIS1cus0aDuSR17wqHE8XZyC8d3wihPtpFwOHgjWQenrXIn8T6qUfM5ljjfxVj+NcS4rbj27XQBrqLcQTEyoqjx/HMTcyrcuP3Ccu2kgqy+RBIirbj3FfaK7vck5Qsk6awNAPTbrWcZQYJJknp15Vacn0slY9JsrPGEX8El9O5QcW4Ubdv2qEeyDBY2IJHz2FVOHRmaFmT0rTdosegtrZWSwuB207sAGBM7zrUOFYxqoXyrphdcnyWrjjWWSxe72BeIp7oPIUHaWTH6FWHFLeszQ2CSZPJYJHOJA0+NUzCKtj8JbmQRJ5QBv60ZilHtAGgCQCT066eFHYbD211JOhnp6VXY3DnM0RAPXXWhFONGtsdlWsYhAt1LiFWhwQCWKESqTJAJFU/Gz7XFuxkK7jppIUGR4VquAcSsmzaQCbigQMpka6wx5HwrJYi5/72/wDD7ZzHhmJqgSTJ/wDwdf4v+n+9Kgfbt+gKVLfEry2ZBzBBG+9FJjLhIAJJJgARMnblUD2GJAGpaAPMmBVvxLB20xVy2Ay5YKlGAiLYbQZTGs61FGabRDjbWJstluq6Npoy66iRy00Iof7c/N/p+VF4jihuPN+7iToIYOrEwABMgToBRGExmEVSGu4uT/LaKx0IYGTS2lub7NleMY/8f0/KisHxS5bJIKmRGv8AaKlxN7COVW2zFjAk2gDmJjYafIVbWuzthY9oXadQyCAB/NI96eVJ7Vw6LTyL2otgK9oL3IW/g3509eP3+lr4N+dFXMFw8GDdvA/0/wD81PhOFcPdgFvXSTsuoHxyzQoRKeqzf5MDXjWJ6Wv9rfnUycTxJ39kP9J/9VH3+z+DW49s4i4rIDnXcrCyWJy8hr0pYLs1YvT7DFPcyxmI2UH+Igc9QANSduZD2L0BanL/AJP6juGtibrZV9n1YxCqBuWYtCjxNWPEr1jChs49vfK6BohTyY22mAJMBhPRVksR+Mcft4RPs2FE3ARmcwcpHNiCQ90f7U5Swmsg7SSWJJOpJMknmSTvTUVHoKeec1TbaH4vG3HOZ2LNsJ8PDYDyoZl1Emefma61wDU1E98DXnTMQoPG/wCvCrHB8NF5dWNsnKodpKlnzZFUATqBJPhHORQJca4YUHMdANvh41s8DfFuJUMVNuFaRGUlWI2hgrSJ8aLoqEJTdJWegcJwKWkUACQAJyqCYAEnKANgKuFw6vAI03jkZBB28Caom4tZtwLl1FkbFht100q4wV8FVIYMpEgggyDsRG/KpKcJJW0ecdo+FjDuECuPYhAWYlg6XSxVQxAn2ZAUSTo3hWY7Z2Y9jeHWD9R9DW17cYxbjOEuQAyW3tAsYuhvaFz9092Bptz3rJ9rRmsKvPMPoatdCGaTE3UgaxoOQ/OgbuJt+J9B+dVTcVS5lGqtlE5mVUkDkxqtxGMbQjLGuzBto0kbVDxYz0V4tql0l+iNKb6MIgkaHUDcaiNd6Hv4y2glo66sJ25ASZ1rJ43EZySrOg17peRtsIAPxoW2GAJ1id9xPnVRSSpHJm1mTNLdOr/Inxd/2js8RJ2onCXGAVi6kFiuWe8IjvHoD+FArJIAGp5Dn5CnvhyPeUjXUEQfKDqKEczdlvimkRz3pljDxrO4g+VRWXzPPLYfA0VaaarqNE1yWEEneaivWwWZmmCZ03+elSqaV3VT5GqoZadkrId8skRJEEqZEaEjlE1WFgbjECO8341adjEBuE6jKhOnM7a+hNVFl41yg+c9fA0hXR3LXKm9uP8Alr8X/Ou1G0285Dex3Ccz+2eO57qSJnUZmHIDl/agu0Cxjm8UH/4yPwoRrzWyA0eDW2+YKnT5GpLitcuC7mLkCDJExBgTz350buKZltv3Rtq1Nm4TEArvvvyFVN60ARHOrax7lxToYGh30YVX3QCyjx5b0hD7VoLDjSCp+c/hXoV1NDEaifj5VgLalhIQkSPxmt3h7oNtNR7kfIRNcWri7i18Ts0j95GU4ssXDMbUuCXh7ZdQYDHT+k1B2khrggzAIMefOpOynDmuX4XQBGzMdlBEAmNdTAAGpJ0rqxe6jln7zNfcwrXOL4wBTkKAO0SF9pYRQPFjJhdzHnQfHeNph7YwmD7oGj3FIJn72Vh7zmYZ+XurA1qftZ2mgvas90n33WJmAsAjd8qgM3IQo51j8LZLHaT8hWz4EOWFHyH661G94ASTP60ApmOTK3eIOmkUCzzvUis7duyZP68KltKWBJG9CRJra9lezb30LhlUA6AgmSIPwmolKlyVCDk6Qzs1wySrMOhAFbHjPZw3kVkOVzoQR3WAB5jYiN/GpOD8CK5SQ3vAHT4+lay5dIUKWBUHSueWQ9DFGUOjo8pxWAa2+S6BqViNIAkETuZ8elak8ZQgW1uZFAiVAkRGUoxkKRvsazXHuIe2vM42JyoPAfnqfWpkFvKnukkmVAMjaCZ0IMnadqpSZ7uHRQ2bZq337/L5f9LjjPCLly415MtxDLBba5WUtGZsg97MdSyz5CK8841xP2jwNlkDz5mPl6V6jw+4bSAAaaRB1knl03qt7S9m7eNDXLICYlfemAHMDS4Bs0bN4iZ3raM+zPG1XhzjcsfQ8yF7wmpLdyQB/NH+4EVBiLZRirAqwMFSCCCORBrtttF8XHy/uapnlR4YVw/g1y6JUGBz+Ppy61HisI9kkGQDuBMHwI5+fwrS8H4gotFQQNfwj8I9KrOP4kNEGfH4/H+5qhNUiswWLa04dDDDUEgH61LiuIPcYs5BJMmBAnyoIVLbSgkNt90Dz/A/nRVihrjSfKibVNFBC0220j404VHY3jxj51QzSdnsI1kXSwI/clgeUEEjX0rN29hWzLgWMUeiZR6Wx+ZrG2N/SkSzs0qsvaDw/wBopUUFEFyymoIy+YlDQN60qNIQhf5TtPQtuOgmp8ZbuW/fU/UfGhEx5U6THQ/h/epfJMeHZYJgrV5ff9WG3hIgg0BxHsxcskXEh1BnMuseYO3rXSVY5rTC02x5L6j7oPqKtOH9oGtNkvjIdifukeI6eO1ZNSj05O2MsWXiXD9exkmw5gieckHr4iiuE2nRnM/5bR8vyrY43g1rEDPaIRo2Hun+k/d+YqlTB3EYoyMTBUQOZ0E9PPbyoUrXBLxPHL2iqwHDbl64EBk6mT7qruWY8lH61NaTHY5MNb+zYf3plnOjZo1dujRoB9xdNyahv4kYdDbtkZzq7+R0P9IPujmZbpFAWkwAdfUk8zW9bfzOcaq1JdxELlXQfM+JpmI7unPp/ahGmN6joA27B3MfT0qz4f2duuy5rVzK2xIKr8a0fYTA2FtfaMSqxnOViMzd2Qci8tdz4VsO1fHFw1hRbCkuoeCIHs8yidB1ZQPWs5S7I2hCqlLoednh625TKBGhka+pozheOuYczbOh3UiR5gHY0EeIG68xOYyT57momx2pgAidJnafPWs9snwz03m06jurjoq9T0nCdqbGfJ7XNMAFgRqRMTAH0qm7U9pc7ezsuMon2jDWZkBVPxk1l8LcBzM9tDJ2IPIRoJ0qa4UjRAsa6T8NTR5SRzYtQvMVrixLEzyA09d/oKteH2JcT6+HgfHlQXDMNAHh9eVX+CsxUn1UXOtz4tdPj/C4LOdvDb4/r4UkWXzAlToAR4Tv1GtQXTpSXEAcwPh9P70zHbxwU/bns+t5ftCDvoMtwDcqPveJA+XlWDNpQQZ2EKI26Enn1r2CxjAdiPKRr4HWvN+0uBFjEOqSqHvIPA8tOhzD0rWLPA1+m8t+Yl16lLbtEbMfSaY9rqSaKzE86jYVZ5bogFqisPhWILBSVXQnkCdQD8D8KYBRuD4g9tXVcpV9wwnUTqPHUiiwSXcGU7eMmjLbaTQZ+6Of50bHKrQidW0pWDFwHTcHXbT/ALVEhom3iIBAVZP3iJMaaa6DbpTGWWHxjtoQHAmJYhR4EAd71qru3G9pJULmGwECB4VNgsbkzSCZM6QKgxmJDXFYA6COXWpT5G+gTNKoPtS/wn5UqqySsN2dBP0+ulSXcJeUSUIA5wPwNV4vDqKt+Fceyd1+8m3iPzHhUk0VwueHkeh8eop32ke7dDMORVtvINII8NKuOK4JWU3bIDaagc/EflWfuYnUe6RAO0EaaggHkZFIArAcTayf3bSv8JGh9OR8q1GJ4jdvBLdq0WusCQggsNO9J5KBudKz2EPdzuig/d6nofCirnFX9m1mwCFaDffWbkbBj922OSc9SZJ0tQUfa7mnmy27L4KyO9321J7xMkfLf0rovsRltgLpvos+bE6/HpVhwW2qsXa2HjWTqF8Sv4kEeVWvE1S6pIVRzIOgP9J+6fI1m8iTo0jglKG6L+RkMfhrllgtwalVfQg91wGXbwIqMXQRRXFMSWf94JKotsdcirChuRI01oDB2wzd4gAfPwpmPQv+z1/uMDoAGIM7yVkRy2qw4ziGfE4pnytHdUEaBVuJCx0HSiOynBHxJuZIVQuQmJEsREDQTA61ssV+zgXGust8hrkkgoCBLKdIIO4+dQuG2bylcIx9LPPrGOZUJhAAYUBBE855miE4ztNu2fT+9bL/ANm6jKrXnMD7qgCZ31JrKXuDi27IR7rFdfAkfhU70jsw6OepajBqku/x6/t+SRBhOIKRHsQTqSdeZJ1M+NS3gGibarGuhJ+tF28OoiBoKmFgEcvH86l5Gz2NN4Thw1LI7a+g7AOAI086Ov4xUEkx0HM+Q/GqjE8cS2AiQ5GhPIevOgPaF+8TJPOoprk3lq8U57IO2H38c13QkheQH49TRFq6yH/EYeeo+tALagVIp8PCiztTTVIurOJJggkk8v7aTRHGcEuKwzSo9oqlkIOuYCYB6HaPKqvhzS+XnBjwYCQfl860WHI0YaBtY5Tz8qcWcWqxRlHazyQCuZKKx9rJduL/AAuy/BiKgrc+Pap0cC04ClXRTEK4mhoVDqKMbY+RoNfeFNCYcs9TRFrzmoE5VOtMaHcqiJqZjUJoAWalTa7SsKKy5w4/zfryFRpgCdiPjH1rbtgwakw3CjcMKMx9Pxp0Z2ZCxwhgJLxPJW+sUSMEq6mDHPXbxmtXxLgpw9vPdIWdFXWSenl40DwXs8+LDvmRLaGJYkZngGBGwAO9NUuWFlGLLXZOYKg01In0HPxNWeFwzW1lCvOGzKVO2YECZ5fEUFj+ICw5t5TnU5YB58gN5FVdxrl0nO2Sd1206mN9eX0pSdjQTjsb7NwbZGbchfut05j5mgcTxK4+5CKeS6DxP/ajAVVQqLJ/ib8F2HrPnQbYZnLMZAXcwTLHZdOvXapotNroCAflUtvD5iB86fft5ACxEnZRqfWrbg/ChdJa6yBFy5ibmQKJjoZ1I260UItOxfEzgmvNBcBMwSQMxlUC5jOWSykmJhaur37Y8QQQmHtIdpLO8HygVb8M7FYVbTtlLJcUS5uHJklWAEHaQNd6y/aTsvhO4MIxSJ9q7FihGkZSx3Gu0701Apv0B2/aNjnMm8k+FtB6QRXP+ITcl7+rnUkCJ5QQAAPMUNh+CWhAUNfbQSdEBJgE9BVr/wAFX3b90EeQcwYEBV1HdaSM2sg6RlFDxWro2wajLglug+SsXi7EnKFqG9dd/eaR02HwFWS9heIroLAuAfzJJ9SRRI7HYwLmOGuLpJhgY9NfrSjjXYeXV58iqcm1+hnfZ0RhXKHqDy/Ki8RgLlsZnQ5dszAr6SJWfOoF66r/ANQ+K/lRKHYzx5HCSlF0w/5Cnk/r8ahtNPiPAgj5U89BXM1XDPs9Nlx5I+w7DMLKwwMHlWj4XcJWCdd/j+jWesHTrVvgL3eE84HyP5CpT5FmVmP7VYXJibn8xzj/AFb/ADzVTkVsO2libltuqkfAz/8At8qzLWq6V0PktVDblkvj9wUV2pntVEVimc4rmx8jQaHvCjgJ0qvtDvVSJZY2t/SiVqCwN/hRAFDKQophWpYrmWkOiHLSqaPCu0WFHqX/AIdYRYcCCOcg+gHePmTWR4xjlsP+6ctJ7sQD6n8areM8QcAkEyTqSZPmZ3NZ65eKgsdWbr9T4VUUc8UEce4vcvMTcaWiCdAAP4QBtVceM3oyW2KjogAJPUkd4n1qJcO1xoUEx7xOgHUsdhU620Q9wljGpj45BuB4nU+FDdl0Nw+FZDJjOeR1I8SeRn1qZcPrrJJ5b/KmJe1iD6b/AAFPsMZb2k5YMIIALcs53j4mgY9lgE7AaEyIB6TtPgJPhXcPwq/dK+zTMW2UHUjryIAHM6UAMO5EtBVWEkHYMQI6xpy2rU9kuPLhsRnuEBHGVifuiZUjoJ3/ALVE5bVZcVZq+Afs9vZkxftrNpvZw1kLmHuwVJJOpIB0EUu0GFSUGKC2bjKQjDKMwG4AjK4E7EaTpE1rsV2hCFVzLmZcyjWSu86fHwrz3tPxj7bdXvEWrMsSRA2gtrrtIH9TVjgzScq5d/Cki541VkNnEXijhbj3bRPcTKAWiNY3CyOZ8apuIi8zyR3UDZVlSzbQpAO0+WgPWn8SxcXHti9CBLbqUB0lRCqu7P3iJMKACd6qr+DVLQxCHN+9CEE6glSZYbkaHWupszNF2Xxpw6i6xZHAaVbTOVVjkAHdCiV7zDcRzit9gP2hpBBJZTbDaIFYXC2tsgkAwuuavMUZWVRsFGUFeYmZ6gE8v0EFHL8KRUXzyj0k9vbFzPaK3wIIdgoAUc+9Iin4PjXsjbGHvXboNzIbdwgjKVJJMjMsCDvXnmHw7spKgkDQ+evL0+lT2MXeSVQusiTkJ2PONoPWkabk+qNVe4/cGGusuT2qANDiAVYkMco8VuKI/hFU44ReZHxGIwtsWyDcOQtauIInmuSR4gT11qoW+ZDFbZMR3rS6gdcoAbnqZqW1ipuq5UBIhkUn2beJRp8NB05UjNxZn711RdcWrkqp7rN3Sw5TpAMeW1F4PFOx0UMw3BOU+p/E+FVXFOHm0WhkZJC93NAMSFGYBiADuRyrR9iuFaNfYd3KUtiNydCfHeAedN9KHicoyuLpkuAxuYlSGVhyYQY/EeIq1tXIZfMfPSjcFYe2yriLLG33lYOO8Oa5XGk+9EHQxMgmIuOcN+z3kKsXsvD23Igkc1YcmB3FYThTtH0+g1qzLy5+99znaNM9u23jHxH5is4bNal1z2mG8HN+J+pqsGHqovg8nxHHtzfminOHqO5hKu/s9cOHqzgoy+IwrLqKrcOpljudzW2bD0MeGJqco13ppkuFlPg+8unrRXsqs0wIAgCKX2akNRorctdC0Y2GqM24oHRBkpURlpUBRUYjDxDHU7f96EvWM2pMH11/Ln4VZ+18jTSqn7vwNdLgc5WYlkFsy0E6hApMmd31iPHfap8NwO8O9GYkbh11BG29T3MOv8w8xUNu0xMAkeprNwY7Hvwu+P8AKf8A0qSPiKiHD7nNHHmjflRSYu9b0FxhH8x/A0Zb43iIkXj5FnHzmlsYWC4Tg5PeaVUczv5KOZpnGr9pP3aIhZesEyQO8557jTlROO4i973rgBmCCXkjwaGA8qE4DgrRuPexJlV7y2wZZzyEj57fkUOwzDcNxGICF3ACjKbj6BV6KefMEDXTnUnaPDm1bS1ZVvYmS90j/EgEyY90aGAd/jVZxHtDcuOTcUZNhb2UDkI/XOmXuN3MQVttoDp7x/ExrFHAWD8GwzXGz+6BoSJ10grrpEb1p7NtQAAAAOlRYewqqAugA2ohPChIaJcgI2kUFi8CwBa3r/Kd/T8qOU1JBoZQPg+LWggkBco9wg+0zQJzSpXUgSwymI6UK+NZs8uR7SM0HQxsPIdKNu4FLnvKJ68/jQeK4etsSXVfBzqfKNT8DSoRy5cBKkgSuxGmmuh11G5qe23tGJgAHUhRA8ABVdZtye7IPQx9KNsXjZBYgkglo6mO789aVFqVLoVXay1mupaTVhCvG5Z4IXxyj61pk44bVwIttclgCJI1IAA7m+538KA4Dwv2QOKxH+O/eQMNVBmDH8R1idhJ5VzFooQ3GUZtXZho0DZQw110+VJjgnyy/wCKcWbFWVZP3aoykw0wdWLEHYQoHxHOrPB4g4rh960yKGtxdtgA5hJZmE8+lZrFXbQsqbRlb/e1MsLa7qxOpJcwZ8aJ7O9oVw98C4DluoVYgExqNYHl8DQ12LhlcJLIuqa/T+/cK4Pcz24HQqevh9alFiq7hjhLzBHBU6gagxupjyIq/VJ1rKKrhnreJ7Z7ckOUwAYel9n12qwW3pXBb1qzyStbD7VxsNVk1r6132dAFYMPpTVw31q0S3pSNvWmBUthqHu4Srq5ajXQfKmm2KQFD9kpVd/ZB4UqAMLkpZKkBp4r21CDPObkiCKRqYioyKUsSBSISg5002ehqYimxXPLGi7GW7Kkd6Z6104IHZh61JaB5U5SI8eUGo8tFWCvg38G9QflQ5w4BHcAIMgjukHedKsc5pAmpeELOLxE8x8v7iibWLHX9etOw/D8yG4VlV3ytB+BEGgHtDlMeNZ+Wx7g/G44hRlEnyMef9pqvTF3D98j4V1bcbMw8jFSe0PMW38GX8ViocGVZ0Xrh/zG9CR9KEv2ue5+fx51YC+v/IX/AMx4+c1Oj/wraXxDPPyFS0OyvwGDuFhIKrPQlj/9NRqx8tOpFajh+DUd69ByGcrEHL09tGmbpbEzzMVX2WYEiLjd3MQgCKV2lmHfZauuF8Pu3V1CImy5fu/xZRyJ2LHX60IaBkS5jcRCgrbALOxykIgHed2ze8YECI2A2qr4hhTdDAanMCQVhQs8yTECF+FbPhaezYhDmB39nKqdIyso0fTmJihuJ9nMZaRHyPctcxP7wLOjZdWYDbbTehodsxqII7vujur5Dn6tmb1oC9jFN61bjU3UBMfcJCkaGTvNGEZFYawGYLM+7Jy78ois/ggbmKTwcH0TvfhSDq0i/uXDbukKT3D3T4cp8I5VueH3/a2g/MivPblzM7Hqf7VtOzFwBcmoOja9CTqPCMtPIuEzo07coTgunvfR19mXAT9Sfzp/s/H+1PpLz33/AAFZkkbL+H1roXyqRvy+orsUwIlSum3ttUqLv+uVC8TxyWUzOdzCqNWZv4VHM0AduLEkwFAkkmBHUkjSqxb739LYy251uGe9G4t6gweunPapreCuXyGxMKm6WAdPA3T95vDYVboBtA0iI0A8um1Aupmv+Gz/ABn/AMtf/XSrUyKVPkVI8o9pTg1QA1Itd0Z0crJacEoS/jkT3mE9BqflQlzjoGyk+JMVp+JiupOwuRhzU3/hN2M3srmX+LI0fGIqpwmIv3NRZ06kn8quMHisXb9xrtv+i64+Qp/i8b7E+VL1AfZU1krRL2pxP+ctu+uml+0jf9YAYec0nxmCve/auYVj962fa2vM22hwP6SaqOTHL+2LbNfEqcLggVzu2RJgcyx6KKcWsclunxlR+FE8Q4WyKGV0vWvu3LbFlHgQdbZ8GA9arQKtY+9iUrDPtsW2tqsKeZJJ/KgClSg0i4rTyo0Lc0wcrSipC9NLVhLGjRSOAmnhTuKQcV6B2P7EPiLftLiBEO3tSwkciLaEMfVl8qynHHFXJlKTukYbBSj5xvG8kco1Plpryr0Tszwl8XaBBQ25hiuiZhuCNyfD1q/T9nGEGtxrj+CkW1/6e8fViatuA4CxhSbdu2FUkkbn61xzlF+6aqybhvCrNgd0qX/iI28hT7+JB5z+Iqe7xS2jlchDnU6CdeZ6etC3FDmYnXlpp4mshni/7VcD9nuZ1ELdBI/qnUfMH41i+A4cBLt1tguRfFm/R9A1evftTwlvFWRZt6ur5/aT3FgHMubmSNNBE868xxGEa2RbKlVXkdiY97xrRRbDpyR4ZdZrfcPw6LdA/wAxEVWHQ5FkR5yJ8KruxnAs9wNckAAMFjVhI3nYEkDqZMbE0dgCTjLzEyC1wif64HxE0s3FRPQ8Ph7GWX+v3LyK5bb6mu70kH41mcx19v11FdimudKeKYCA19K5csq0ZlBjaQDHlO1dG/68KfQBEthY2ppsDTep0pONKAI/Y1ynzSoA8mHWqjH8SJ7qaL15n8hRHF78DKOe9UwBJ01J5VrKXZHKPsWWdgqiSdhWt4TwW3aILw76cpA11AHkDqabwfAC2umrH326fyKfDX1FWP2gAaaePOoSKSClcwdN+p/kj66x41LIOUQIUgxm6KV5+OtVKYnM2VQzt0WSfgtFfZrm5s3QOuS4PqKYw5MMu5mNNN9FUcxzJFBXcA0KTBaIPmFk7bwSJpti7r3WOn63FGWsUQddD1Hx8jrQFFLctlTzG8keBO457cvCmZ+vxFaC/hkeBoABAOsHbUk7QAfMms/jbDWzMbiYOnQ+h7w05zW+PUShw+hnKCfJ1rnID46moyaUqyhkMn7wI28jP4VEWPh8661lTXBm16j6aTTNfD4GuQfD4H86hyYzW9gOGrdutccZhbggcsx5mvaeFuzQQYCTmHWRp+NeDdmO0b4P2kW0uh8uhZkgidZAad9o5VuuzPbPEYlylqxYVomGv3dQCNoswfKa5csJSt0aRaR6ubYYVUYzAsGlRPMVUYjGcTEDNhbcgmRbvXYAE6gBTXmnG+1XEbjZTiyNSCtpRaXeN9W5ddKyjjlLoO6PTOLcZsYZ81xybjbWlXNcbSAIjQRHwqvXHX8WVTKLaNtbUyT43HBk6alVgdTrFYTg15bRzMSzndmJJP8AU7ST6mrzAcdxFu8HtBWEQVOxHMdRy1rRYmX2LftUbWHyYVXAu3iouPA7luRAXSFk/SslxHsv7J3ulwLCufZknMbig6e7706zGnUg6VrO0HGcKYv38Lb9sBALtnGmwyiA3mRpXn/GOO3cU8udBso0AA2EDatI5dqpC231L3gOMLXb96JUWjEnoylPCSQI5CBUXBMOyiWOZohm6tufwobBYV2s5AQisyuzakkKCAoXzLGTPLQ1cYZAqgDYaVyyds3i5LuTg+FMR/A+frTw1QWWCgLrtzn61IE7HQ1IDUTNofKnK1MBx5ef4GpJqFiOlPBFMBwOtPNRU/1oEcy+HzpUo8aVAHhPE275qTgqAuTzVZHmWVZ+DH5UqVHc5jU3tBA2qx7HcLt4m8y3ZKrlOUGAZJ3jU7bTzNcpVTLLDtb2ju4Jjawy2ragaQgn56fKq/8AZ52vxeIxy2713OjI5y5UGoEggqAR8aVKpEem43hlq/pdtq3jsw8mGo+Neb9ocMLGIuWkJKqRGbU6gHX40qVNlIiwzkNHKRRmOshrbk65YUeR1JPU7a+FKlTEYdrhS4CvPQ9Peij7wg0qVbYWZy6EddFKlXSjM7ROCxTW2DoSrLqCKVKtYdSZH0L2Px73bCF4kqp+IrJ/tM4NZkXgsO5IaNASB70dfHnSpVww4zUjX/yebYtyi90neNYPSgV4ndkDOYnwpUq6MiSjaFbsjuXCWMknWrHhVoF1B5nWlSriOhdTYIK7b2pUqyNyQ7UxNh5Dp0pUqaJZwvRFk0qVAh/I1IKVKmBHeOnqPqKca5SoA7FKlSoA/9k=" id="129" name="Google Shape;129;p17"/>
          <p:cNvSpPr/>
          <p:nvPr/>
        </p:nvSpPr>
        <p:spPr>
          <a:xfrm>
            <a:off x="2783681" y="748904"/>
            <a:ext cx="228600" cy="228601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35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4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4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4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4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3" name="Shape 1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4" name="Google Shape;134;p18"/>
          <p:cNvSpPr txBox="1"/>
          <p:nvPr>
            <p:ph type="title"/>
          </p:nvPr>
        </p:nvSpPr>
        <p:spPr>
          <a:xfrm>
            <a:off x="823385" y="333375"/>
            <a:ext cx="6447501" cy="990600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VARIABLE COSTS</a:t>
            </a:r>
            <a:endParaRPr b="1" u="sng"/>
          </a:p>
        </p:txBody>
      </p:sp>
      <p:sp>
        <p:nvSpPr>
          <p:cNvPr id="135" name="Google Shape;135;p18"/>
          <p:cNvSpPr txBox="1"/>
          <p:nvPr>
            <p:ph idx="1" type="body"/>
          </p:nvPr>
        </p:nvSpPr>
        <p:spPr>
          <a:xfrm>
            <a:off x="823385" y="1476375"/>
            <a:ext cx="10521948" cy="4890558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b="1" lang="en-GB" sz="3000" u="sng">
                <a:solidFill>
                  <a:srgbClr val="FF00FF"/>
                </a:solidFill>
              </a:rPr>
              <a:t>Variable costs= </a:t>
            </a:r>
            <a:r>
              <a:rPr lang="en-GB" sz="3000"/>
              <a:t>This cost changes with </a:t>
            </a:r>
            <a:r>
              <a:rPr lang="en-GB" sz="3000" u="sng"/>
              <a:t>output</a:t>
            </a:r>
            <a:r>
              <a:rPr lang="en-GB" sz="3000"/>
              <a:t>, the more you make the higher the costs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You only pay these if you make something e.g. materials to make wooden boxes.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Eg. Stock, packaging, raw materials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b="1" lang="en-GB" sz="3000"/>
              <a:t>Variable costs= price per unit  x  quantity sold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9" name="Shape 13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0" name="Google Shape;140;p19"/>
          <p:cNvSpPr txBox="1"/>
          <p:nvPr>
            <p:ph type="title"/>
          </p:nvPr>
        </p:nvSpPr>
        <p:spPr>
          <a:xfrm>
            <a:off x="818937" y="212218"/>
            <a:ext cx="6447501" cy="990600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TOTAL COSTS</a:t>
            </a:r>
            <a:endParaRPr b="1" u="sng"/>
          </a:p>
        </p:txBody>
      </p:sp>
      <p:sp>
        <p:nvSpPr>
          <p:cNvPr id="141" name="Google Shape;141;p19"/>
          <p:cNvSpPr txBox="1"/>
          <p:nvPr>
            <p:ph idx="1" type="body"/>
          </p:nvPr>
        </p:nvSpPr>
        <p:spPr>
          <a:xfrm>
            <a:off x="818937" y="1354667"/>
            <a:ext cx="11051329" cy="4927600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This refers to the total costs of the business – which includes the fixed and variable costs.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The formula is:</a:t>
            </a:r>
            <a:endParaRPr/>
          </a:p>
          <a:p>
            <a:pPr indent="-43815" lvl="3" marL="41148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550"/>
              <a:buFont typeface="Noto Sans Symbols"/>
              <a:buNone/>
            </a:pPr>
            <a:r>
              <a:t/>
            </a:r>
            <a:endParaRPr sz="3000"/>
          </a:p>
          <a:p>
            <a:pPr indent="-205740" lvl="3" marL="41148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550"/>
              <a:buFont typeface="Noto Sans Symbols"/>
              <a:buChar char="⚫"/>
            </a:pPr>
            <a:r>
              <a:rPr lang="en-GB" sz="3000"/>
              <a:t>Total costs = Fixed Costs + Variable costs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If a business is making no products, the total costs will be the same as the fixed costs, as these have to be paid no matter what!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</p:txBody>
      </p:sp>
      <p:sp>
        <p:nvSpPr>
          <p:cNvPr id="142" name="Google Shape;142;p19"/>
          <p:cNvSpPr txBox="1"/>
          <p:nvPr/>
        </p:nvSpPr>
        <p:spPr>
          <a:xfrm>
            <a:off x="8774506" y="2955482"/>
            <a:ext cx="1543050" cy="507831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35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Remember this for your exam!</a:t>
            </a:r>
            <a:endParaRPr/>
          </a:p>
        </p:txBody>
      </p:sp>
      <p:cxnSp>
        <p:nvCxnSpPr>
          <p:cNvPr id="143" name="Google Shape;143;p19"/>
          <p:cNvCxnSpPr/>
          <p:nvPr/>
        </p:nvCxnSpPr>
        <p:spPr>
          <a:xfrm flipH="1">
            <a:off x="7980272" y="3440230"/>
            <a:ext cx="739799" cy="682649"/>
          </a:xfrm>
          <a:prstGeom prst="straightConnector1">
            <a:avLst/>
          </a:prstGeom>
          <a:noFill/>
          <a:ln cap="flat" cmpd="sng" w="57150">
            <a:solidFill>
              <a:schemeClr val="accent1"/>
            </a:solidFill>
            <a:prstDash val="dash"/>
            <a:round/>
            <a:headEnd len="sm" w="sm" type="none"/>
            <a:tailEnd len="med" w="med" type="stealth"/>
          </a:ln>
        </p:spPr>
      </p:cxn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fill="hold">
                            <p:stCondLst>
                              <p:cond delay="500"/>
                            </p:stCondLst>
                            <p:childTnLst>
                              <p:par>
                                <p:cTn fill="hold" nodeType="after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7" name="Shape 1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8" name="Google Shape;148;p20"/>
          <p:cNvSpPr txBox="1"/>
          <p:nvPr>
            <p:ph type="title"/>
          </p:nvPr>
        </p:nvSpPr>
        <p:spPr>
          <a:xfrm>
            <a:off x="1091354" y="239949"/>
            <a:ext cx="6447501" cy="935137"/>
          </a:xfrm>
          <a:prstGeom prst="rect">
            <a:avLst/>
          </a:prstGeom>
          <a:solidFill>
            <a:schemeClr val="lt1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ACTIVITY 1</a:t>
            </a:r>
            <a:endParaRPr b="1" u="sng"/>
          </a:p>
        </p:txBody>
      </p:sp>
      <p:pic>
        <p:nvPicPr>
          <p:cNvPr id="149" name="Google Shape;149;p20"/>
          <p:cNvPicPr preferRelativeResize="0"/>
          <p:nvPr/>
        </p:nvPicPr>
        <p:blipFill rotWithShape="1">
          <a:blip r:embed="rId3">
            <a:alphaModFix/>
          </a:blip>
          <a:srcRect b="3732" l="2362" r="29767" t="17059"/>
          <a:stretch/>
        </p:blipFill>
        <p:spPr>
          <a:xfrm>
            <a:off x="907185" y="1017236"/>
            <a:ext cx="10150281" cy="5756097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pic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3" name="Shape 1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4" name="Google Shape;154;p21"/>
          <p:cNvSpPr txBox="1"/>
          <p:nvPr>
            <p:ph type="title"/>
          </p:nvPr>
        </p:nvSpPr>
        <p:spPr>
          <a:xfrm>
            <a:off x="1708152" y="152400"/>
            <a:ext cx="6447501" cy="990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ACTIVITY 2</a:t>
            </a:r>
            <a:endParaRPr b="1" u="sng"/>
          </a:p>
        </p:txBody>
      </p:sp>
      <p:graphicFrame>
        <p:nvGraphicFramePr>
          <p:cNvPr id="155" name="Google Shape;155;p21"/>
          <p:cNvGraphicFramePr/>
          <p:nvPr/>
        </p:nvGraphicFramePr>
        <p:xfrm>
          <a:off x="1046691" y="973667"/>
          <a:ext cx="3000000" cy="3000000"/>
        </p:xfrm>
        <a:graphic>
          <a:graphicData uri="http://schemas.openxmlformats.org/drawingml/2006/table">
            <a:tbl>
              <a:tblPr bandRow="1" firstRow="1">
                <a:noFill/>
                <a:tableStyleId>{EC424833-5E9B-4EDE-A9BD-128D0D3B2B1E}</a:tableStyleId>
              </a:tblPr>
              <a:tblGrid>
                <a:gridCol w="2600050"/>
                <a:gridCol w="2600050"/>
                <a:gridCol w="2600050"/>
                <a:gridCol w="2600050"/>
              </a:tblGrid>
              <a:tr h="38042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Products made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34300" marB="34300" marR="68575" marL="68575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Fixed costs (£)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34300" marB="34300" marR="68575" marL="68575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Variable costs (£)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34300" marB="34300" marR="68575" marL="68575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Total Costs (£)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34300" marB="34300" marR="68575" marL="68575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500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1500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20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2000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30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1500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2500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40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50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</a:tbl>
          </a:graphicData>
        </a:graphic>
      </p:graphicFrame>
      <p:sp>
        <p:nvSpPr>
          <p:cNvPr id="156" name="Google Shape;156;p21"/>
          <p:cNvSpPr txBox="1"/>
          <p:nvPr/>
        </p:nvSpPr>
        <p:spPr>
          <a:xfrm>
            <a:off x="1046691" y="4330701"/>
            <a:ext cx="10400244" cy="2154766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75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Complete the above table in your books showing the total costs if: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75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-257175" lvl="0" marL="257175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75"/>
              <a:buFont typeface="Twentieth Century"/>
              <a:buAutoNum type="arabicPeriod"/>
            </a:pPr>
            <a:r>
              <a:rPr lang="en-GB" sz="1875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40 products are made</a:t>
            </a:r>
            <a:endParaRPr/>
          </a:p>
          <a:p>
            <a:pPr indent="-257175" lvl="0" marL="257175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75"/>
              <a:buFont typeface="Twentieth Century"/>
              <a:buAutoNum type="arabicPeriod"/>
            </a:pPr>
            <a:r>
              <a:rPr lang="en-GB" sz="1875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50 products are made</a:t>
            </a:r>
            <a:endParaRPr/>
          </a:p>
          <a:p>
            <a:pPr indent="-257175" lvl="0" marL="257175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75"/>
              <a:buFont typeface="Twentieth Century"/>
              <a:buAutoNum type="arabicPeriod"/>
            </a:pPr>
            <a:r>
              <a:rPr lang="en-GB" sz="1875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100 products are made</a:t>
            </a:r>
            <a:endParaRPr/>
          </a:p>
          <a:p>
            <a:pPr indent="-138112" lvl="0" marL="257175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75"/>
              <a:buFont typeface="Twentieth Century"/>
              <a:buNone/>
            </a:pPr>
            <a:r>
              <a:t/>
            </a:r>
            <a:endParaRPr sz="1875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75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The variable cost is £50 per unit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5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60" name="Shape 16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1" name="Google Shape;161;p22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3</a:t>
            </a:r>
            <a:endParaRPr u="sng"/>
          </a:p>
        </p:txBody>
      </p:sp>
      <p:sp>
        <p:nvSpPr>
          <p:cNvPr id="162" name="Google Shape;162;p22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Complete the ‘Calculations Worksheet’ found in the shared area. </a:t>
            </a:r>
            <a:endParaRPr sz="500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66" name="Shape 1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7" name="Google Shape;167;p2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4</a:t>
            </a:r>
            <a:endParaRPr u="sng"/>
          </a:p>
        </p:txBody>
      </p:sp>
      <p:sp>
        <p:nvSpPr>
          <p:cNvPr id="168" name="Google Shape;168;p2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Complete the ‘Profit and Loss Worksheet’ found in the shared area. </a:t>
            </a:r>
            <a:endParaRPr sz="500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72" name="Shape 17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3" name="Google Shape;173;p24"/>
          <p:cNvSpPr txBox="1"/>
          <p:nvPr>
            <p:ph type="title"/>
          </p:nvPr>
        </p:nvSpPr>
        <p:spPr>
          <a:xfrm>
            <a:off x="1631951" y="371475"/>
            <a:ext cx="6447501" cy="990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RECAP!</a:t>
            </a:r>
            <a:endParaRPr b="1" u="sng"/>
          </a:p>
        </p:txBody>
      </p:sp>
      <p:sp>
        <p:nvSpPr>
          <p:cNvPr id="174" name="Google Shape;174;p24"/>
          <p:cNvSpPr txBox="1"/>
          <p:nvPr>
            <p:ph idx="1" type="body"/>
          </p:nvPr>
        </p:nvSpPr>
        <p:spPr>
          <a:xfrm>
            <a:off x="743822" y="1564049"/>
            <a:ext cx="10940178" cy="4870618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14312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375"/>
              <a:buChar char=" "/>
            </a:pPr>
            <a:r>
              <a:rPr lang="en-GB" sz="3375"/>
              <a:t>A quick test…</a:t>
            </a:r>
            <a:endParaRPr/>
          </a:p>
          <a:p>
            <a:pPr indent="-314325" lvl="1" marL="68580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125"/>
              <a:buFont typeface="Twentieth Century"/>
              <a:buNone/>
            </a:pPr>
            <a:r>
              <a:t/>
            </a:r>
            <a:endParaRPr sz="1125"/>
          </a:p>
          <a:p>
            <a:pPr indent="-385763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225"/>
              <a:buFont typeface="Twentieth Century"/>
              <a:buAutoNum type="arabicPeriod"/>
            </a:pPr>
            <a:r>
              <a:rPr lang="en-GB" sz="3225"/>
              <a:t>What is a fixed cost? Give an example.</a:t>
            </a:r>
            <a:endParaRPr/>
          </a:p>
          <a:p>
            <a:pPr indent="-180975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225"/>
              <a:buFont typeface="Twentieth Century"/>
              <a:buNone/>
            </a:pPr>
            <a:r>
              <a:t/>
            </a:r>
            <a:endParaRPr sz="3225"/>
          </a:p>
          <a:p>
            <a:pPr indent="-385763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375"/>
              <a:buFont typeface="Twentieth Century"/>
              <a:buAutoNum type="arabicPeriod"/>
            </a:pPr>
            <a:r>
              <a:rPr lang="en-GB" sz="3375"/>
              <a:t>What is an Variable cost? Give an example.</a:t>
            </a:r>
            <a:endParaRPr/>
          </a:p>
          <a:p>
            <a:pPr indent="-171450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375"/>
              <a:buFont typeface="Twentieth Century"/>
              <a:buNone/>
            </a:pPr>
            <a:r>
              <a:t/>
            </a:r>
            <a:endParaRPr sz="3375"/>
          </a:p>
          <a:p>
            <a:pPr indent="-385763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375"/>
              <a:buFont typeface="Twentieth Century"/>
              <a:buAutoNum type="arabicPeriod"/>
            </a:pPr>
            <a:r>
              <a:rPr lang="en-GB" sz="3375"/>
              <a:t>Total cost formula?</a:t>
            </a:r>
            <a:endParaRPr/>
          </a:p>
          <a:p>
            <a:pPr indent="-171450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375"/>
              <a:buFont typeface="Twentieth Century"/>
              <a:buNone/>
            </a:pPr>
            <a:r>
              <a:t/>
            </a:r>
            <a:endParaRPr sz="3375"/>
          </a:p>
          <a:p>
            <a:pPr indent="0" lvl="1" marL="300037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375"/>
              <a:buNone/>
            </a:pPr>
            <a:r>
              <a:rPr lang="en-GB" sz="3375"/>
              <a:t>5 marks </a:t>
            </a:r>
            <a:endParaRPr sz="3375"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78" name="Shape 1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9" name="Google Shape;179;p2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PLENARY</a:t>
            </a:r>
            <a:r>
              <a:rPr lang="en-GB"/>
              <a:t> </a:t>
            </a:r>
            <a:endParaRPr/>
          </a:p>
        </p:txBody>
      </p:sp>
      <p:sp>
        <p:nvSpPr>
          <p:cNvPr id="180" name="Google Shape;180;p25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Share 3 things you have learned today with your shoulder partner. </a:t>
            </a:r>
            <a:endParaRPr sz="5000"/>
          </a:p>
        </p:txBody>
      </p:sp>
      <p:pic>
        <p:nvPicPr>
          <p:cNvPr id="181" name="Google Shape;181;p25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4148678" y="3539286"/>
            <a:ext cx="3572922" cy="2873225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85" name="Shape 18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6" name="Google Shape;186;p26"/>
          <p:cNvSpPr txBox="1"/>
          <p:nvPr>
            <p:ph type="title"/>
          </p:nvPr>
        </p:nvSpPr>
        <p:spPr>
          <a:xfrm>
            <a:off x="1024128" y="237067"/>
            <a:ext cx="9720072" cy="1847765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300"/>
              <a:buFont typeface="Twentieth Century"/>
              <a:buNone/>
            </a:pPr>
            <a:r>
              <a:rPr lang="en-GB" sz="3300" u="sng">
                <a:solidFill>
                  <a:schemeClr val="dk1"/>
                </a:solidFill>
              </a:rPr>
              <a:t>TITLE: B5 AND B7 STATEMENT OF COMPREHENSIVE INCOME</a:t>
            </a:r>
            <a:br>
              <a:rPr lang="en-GB" sz="3300" u="sng">
                <a:solidFill>
                  <a:schemeClr val="dk1"/>
                </a:solidFill>
              </a:rPr>
            </a:br>
            <a:r>
              <a:rPr lang="en-GB" sz="3300" u="sng">
                <a:solidFill>
                  <a:schemeClr val="dk1"/>
                </a:solidFill>
              </a:rPr>
              <a:t>PROFIT AND LOSS – LESSON 2 </a:t>
            </a:r>
            <a:br>
              <a:rPr lang="en-GB" sz="3300" u="sng">
                <a:solidFill>
                  <a:schemeClr val="dk1"/>
                </a:solidFill>
              </a:rPr>
            </a:br>
            <a:r>
              <a:rPr lang="en-GB" sz="3300" u="sng">
                <a:solidFill>
                  <a:schemeClr val="dk1"/>
                </a:solidFill>
              </a:rPr>
              <a:t>DATE : </a:t>
            </a:r>
            <a:endParaRPr/>
          </a:p>
        </p:txBody>
      </p:sp>
      <p:sp>
        <p:nvSpPr>
          <p:cNvPr id="187" name="Google Shape;187;p26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To be able to define and explain the different costs of a business. </a:t>
            </a:r>
            <a:endParaRPr/>
          </a:p>
          <a:p>
            <a:pPr indent="0" lvl="0" marL="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To be able to calculate profit/loss on a statement of comprehensive income. </a:t>
            </a:r>
            <a:endParaRPr sz="5000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91" name="Shape 1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2" name="Google Shape;192;p27"/>
          <p:cNvSpPr txBox="1"/>
          <p:nvPr>
            <p:ph type="title"/>
          </p:nvPr>
        </p:nvSpPr>
        <p:spPr>
          <a:xfrm>
            <a:off x="1024128" y="237067"/>
            <a:ext cx="9720072" cy="1847765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6000"/>
              <a:buFont typeface="Twentieth Century"/>
              <a:buNone/>
            </a:pPr>
            <a:r>
              <a:rPr lang="en-GB" sz="6000" u="sng">
                <a:solidFill>
                  <a:schemeClr val="dk1"/>
                </a:solidFill>
              </a:rPr>
              <a:t>RECAP QUIZ </a:t>
            </a:r>
            <a:endParaRPr sz="6000"/>
          </a:p>
        </p:txBody>
      </p:sp>
      <p:sp>
        <p:nvSpPr>
          <p:cNvPr id="193" name="Google Shape;193;p27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514350" lvl="0" marL="514350" rtl="0" algn="just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Define the term profit (1)</a:t>
            </a:r>
            <a:endParaRPr/>
          </a:p>
          <a:p>
            <a:pPr indent="-514350" lvl="0" marL="5143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What can a business do to minimize their losses? (1) </a:t>
            </a:r>
            <a:endParaRPr/>
          </a:p>
          <a:p>
            <a:pPr indent="-514350" lvl="0" marL="5143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What is the difference between a fixed and a variable cost? (2) </a:t>
            </a:r>
            <a:endParaRPr/>
          </a:p>
          <a:p>
            <a:pPr indent="-514350" lvl="0" marL="5143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What is the formula for profit? (1) </a:t>
            </a:r>
            <a:endParaRPr/>
          </a:p>
          <a:p>
            <a:pPr indent="-514350" lvl="0" marL="5143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Which of the following are fixed costs? </a:t>
            </a:r>
            <a:r>
              <a:rPr lang="en-GB" sz="3000">
                <a:solidFill>
                  <a:srgbClr val="FF00FF"/>
                </a:solidFill>
              </a:rPr>
              <a:t>RENT, WAGES, STOCK, INSURANCE PAYMENTS, PACKAGING, LOAN REPAYMENT </a:t>
            </a:r>
            <a:endParaRPr sz="3000"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97" name="Shape 1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198" name="Google Shape;198;p28"/>
          <p:cNvGraphicFramePr/>
          <p:nvPr/>
        </p:nvGraphicFramePr>
        <p:xfrm>
          <a:off x="3169921" y="87558"/>
          <a:ext cx="3000000" cy="3000000"/>
        </p:xfrm>
        <a:graphic>
          <a:graphicData uri="http://schemas.openxmlformats.org/drawingml/2006/table">
            <a:tbl>
              <a:tblPr bandRow="1" firstRow="1">
                <a:noFill/>
                <a:tableStyleId>{EC424833-5E9B-4EDE-A9BD-128D0D3B2B1E}</a:tableStyleId>
              </a:tblPr>
              <a:tblGrid>
                <a:gridCol w="2875950"/>
                <a:gridCol w="2875950"/>
                <a:gridCol w="2875950"/>
              </a:tblGrid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b="0" lang="en-GB" sz="2000" u="none" cap="none" strike="noStrike">
                          <a:solidFill>
                            <a:schemeClr val="dk1"/>
                          </a:solidFill>
                        </a:rPr>
                        <a:t>REVENUE</a:t>
                      </a:r>
                      <a:endParaRPr b="0" sz="2000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>
                    <a:solidFill>
                      <a:srgbClr val="D1EAF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>
                    <a:solidFill>
                      <a:srgbClr val="D1EAF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>
                    <a:solidFill>
                      <a:srgbClr val="D1EAF1"/>
                    </a:solidFill>
                  </a:tcPr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Merchandise Sales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£24,000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Cost of Merchandise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£3,000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Gross Profit 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£21,000</a:t>
                      </a:r>
                      <a:endParaRPr sz="2000"/>
                    </a:p>
                  </a:txBody>
                  <a:tcPr marT="45725" marB="45725" marR="91450" marL="91450">
                    <a:solidFill>
                      <a:srgbClr val="FFC000"/>
                    </a:solidFill>
                  </a:tcPr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EXPENSES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Wages</a:t>
                      </a:r>
                      <a:r>
                        <a:rPr lang="en-GB" sz="2000"/>
                        <a:t> 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£1500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Rent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£2000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Supplies/Stock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£3000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Utilities 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£1000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Interest on Loan</a:t>
                      </a:r>
                      <a:r>
                        <a:rPr lang="en-GB" sz="2000"/>
                        <a:t> 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£900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Taxes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£2000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Total: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£10,400</a:t>
                      </a:r>
                      <a:endParaRPr sz="2000"/>
                    </a:p>
                  </a:txBody>
                  <a:tcPr marT="45725" marB="45725" marR="91450" marL="91450">
                    <a:solidFill>
                      <a:srgbClr val="FFC000"/>
                    </a:solidFill>
                  </a:tcPr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Net Profit/Loss:</a:t>
                      </a:r>
                      <a:r>
                        <a:rPr lang="en-GB" sz="2000"/>
                        <a:t> 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£ 10,600</a:t>
                      </a:r>
                      <a:endParaRPr sz="2000"/>
                    </a:p>
                  </a:txBody>
                  <a:tcPr marT="45725" marB="45725" marR="91450" marL="91450">
                    <a:solidFill>
                      <a:srgbClr val="FFC000"/>
                    </a:solidFill>
                  </a:tcPr>
                </a:tc>
              </a:tr>
            </a:tbl>
          </a:graphicData>
        </a:graphic>
      </p:graphicFrame>
      <p:sp>
        <p:nvSpPr>
          <p:cNvPr id="199" name="Google Shape;199;p28"/>
          <p:cNvSpPr/>
          <p:nvPr/>
        </p:nvSpPr>
        <p:spPr>
          <a:xfrm>
            <a:off x="243840" y="467359"/>
            <a:ext cx="2661920" cy="6221675"/>
          </a:xfrm>
          <a:prstGeom prst="rect">
            <a:avLst/>
          </a:prstGeom>
          <a:solidFill>
            <a:schemeClr val="lt1"/>
          </a:solidFill>
          <a:ln cap="flat" cmpd="sng" w="15875">
            <a:solidFill>
              <a:schemeClr val="accent6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000" u="sng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Statement of comprehensive income</a:t>
            </a: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: shows the profit or loss of an enterprise over time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2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This is what a simple comprehensive income statement looks like.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It will have details of all your revenues and all of your expenses.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2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You then need to be able to comment on whether or not the business is making a profit or a loss and comment in the financial position of the business. </a:t>
            </a:r>
            <a:endParaRPr sz="2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03" name="Shape 2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04" name="Google Shape;204;p29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852488" y="177538"/>
            <a:ext cx="11017779" cy="5147021"/>
          </a:xfrm>
          <a:prstGeom prst="rect">
            <a:avLst/>
          </a:prstGeom>
          <a:noFill/>
          <a:ln>
            <a:noFill/>
          </a:ln>
        </p:spPr>
      </p:pic>
      <p:sp>
        <p:nvSpPr>
          <p:cNvPr id="205" name="Google Shape;205;p29"/>
          <p:cNvSpPr txBox="1"/>
          <p:nvPr/>
        </p:nvSpPr>
        <p:spPr>
          <a:xfrm>
            <a:off x="1524000" y="5516564"/>
            <a:ext cx="9144000" cy="708025"/>
          </a:xfrm>
          <a:prstGeom prst="rect">
            <a:avLst/>
          </a:prstGeom>
          <a:solidFill>
            <a:srgbClr val="D5EAAE"/>
          </a:solidFill>
          <a:ln cap="flat" cmpd="sng" w="952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000">
                <a:solidFill>
                  <a:srgbClr val="FF0000"/>
                </a:solidFill>
                <a:latin typeface="Tahoma"/>
                <a:ea typeface="Tahoma"/>
                <a:cs typeface="Tahoma"/>
                <a:sym typeface="Tahoma"/>
              </a:rPr>
              <a:t>Total Sales Revenue – Cost of Sales = </a:t>
            </a:r>
            <a:r>
              <a:rPr b="1" lang="en-GB" sz="2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Gross Profit – </a:t>
            </a:r>
            <a:r>
              <a:rPr b="1" lang="en-GB" sz="2000">
                <a:solidFill>
                  <a:srgbClr val="FF0000"/>
                </a:solidFill>
                <a:latin typeface="Tahoma"/>
                <a:ea typeface="Tahoma"/>
                <a:cs typeface="Tahoma"/>
                <a:sym typeface="Tahoma"/>
              </a:rPr>
              <a:t>other expenses =  </a:t>
            </a:r>
            <a:r>
              <a:rPr b="1" lang="en-GB" sz="2000">
                <a:solidFill>
                  <a:srgbClr val="0070C0"/>
                </a:solidFill>
                <a:latin typeface="Tahoma"/>
                <a:ea typeface="Tahoma"/>
                <a:cs typeface="Tahoma"/>
                <a:sym typeface="Tahoma"/>
              </a:rPr>
              <a:t>Net Profit (or Loss)</a:t>
            </a:r>
            <a:endParaRPr/>
          </a:p>
        </p:txBody>
      </p:sp>
      <p:sp>
        <p:nvSpPr>
          <p:cNvPr id="206" name="Google Shape;206;p29"/>
          <p:cNvSpPr txBox="1"/>
          <p:nvPr/>
        </p:nvSpPr>
        <p:spPr>
          <a:xfrm>
            <a:off x="5483226" y="6308726"/>
            <a:ext cx="1223963" cy="461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imes New Roman"/>
              <a:buNone/>
            </a:pPr>
            <a:r>
              <a:rPr lang="en-GB" sz="2400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Pg 124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0" name="Shape 2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1" name="Google Shape;211;p30"/>
          <p:cNvSpPr txBox="1"/>
          <p:nvPr>
            <p:ph type="title"/>
          </p:nvPr>
        </p:nvSpPr>
        <p:spPr>
          <a:xfrm>
            <a:off x="2209800" y="115889"/>
            <a:ext cx="7772400" cy="865187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7AC0D4"/>
              </a:buClr>
              <a:buSzPts val="5000"/>
              <a:buFont typeface="Twentieth Century"/>
              <a:buNone/>
            </a:pPr>
            <a:r>
              <a:rPr lang="en-GB" u="sng">
                <a:solidFill>
                  <a:srgbClr val="7AC0D4"/>
                </a:solidFill>
              </a:rPr>
              <a:t>KEY WORDS </a:t>
            </a:r>
            <a:endParaRPr u="sng">
              <a:solidFill>
                <a:srgbClr val="7AC0D4"/>
              </a:solidFill>
            </a:endParaRPr>
          </a:p>
        </p:txBody>
      </p:sp>
      <p:sp>
        <p:nvSpPr>
          <p:cNvPr id="212" name="Google Shape;212;p30"/>
          <p:cNvSpPr txBox="1"/>
          <p:nvPr>
            <p:ph idx="1" type="body"/>
          </p:nvPr>
        </p:nvSpPr>
        <p:spPr>
          <a:xfrm>
            <a:off x="378355" y="1315508"/>
            <a:ext cx="11458045" cy="3764492"/>
          </a:xfrm>
          <a:prstGeom prst="rect">
            <a:avLst/>
          </a:prstGeom>
          <a:solidFill>
            <a:srgbClr val="66FFCC"/>
          </a:solidFill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Gross Profit: the difference between the sales revenue and cost of making the product (cost of sales)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b="1" lang="en-GB" sz="3000" u="sng"/>
              <a:t>(Gross Profit = Sales Revenue- Cost of Sales )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Net Profit: the difference between the sales revenue and the total costs of the business 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b="1" lang="en-GB" sz="3000" u="sng"/>
              <a:t>(Net Profit= Gross Profit – Total Costs/Overheads)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6" name="Shape 2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7" name="Google Shape;217;p31"/>
          <p:cNvSpPr txBox="1"/>
          <p:nvPr>
            <p:ph type="title"/>
          </p:nvPr>
        </p:nvSpPr>
        <p:spPr>
          <a:xfrm>
            <a:off x="2209801" y="176215"/>
            <a:ext cx="7772400" cy="947738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EXAMPLE </a:t>
            </a:r>
            <a:endParaRPr u="sng"/>
          </a:p>
        </p:txBody>
      </p:sp>
      <p:pic>
        <p:nvPicPr>
          <p:cNvPr descr="Screen Clipping" id="218" name="Google Shape;218;p31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714907" y="1123953"/>
            <a:ext cx="9267294" cy="5212109"/>
          </a:xfrm>
          <a:prstGeom prst="rect">
            <a:avLst/>
          </a:prstGeom>
          <a:noFill/>
          <a:ln>
            <a:noFill/>
          </a:ln>
        </p:spPr>
      </p:pic>
      <p:sp>
        <p:nvSpPr>
          <p:cNvPr id="219" name="Google Shape;219;p31"/>
          <p:cNvSpPr/>
          <p:nvPr/>
        </p:nvSpPr>
        <p:spPr>
          <a:xfrm>
            <a:off x="766763" y="4508500"/>
            <a:ext cx="6832070" cy="1621367"/>
          </a:xfrm>
          <a:prstGeom prst="rect">
            <a:avLst/>
          </a:prstGeom>
          <a:solidFill>
            <a:schemeClr val="lt1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220" name="Google Shape;220;p31"/>
          <p:cNvSpPr/>
          <p:nvPr/>
        </p:nvSpPr>
        <p:spPr>
          <a:xfrm>
            <a:off x="1497542" y="4720872"/>
            <a:ext cx="5370512" cy="1008062"/>
          </a:xfrm>
          <a:prstGeom prst="rect">
            <a:avLst/>
          </a:prstGeom>
          <a:solidFill>
            <a:schemeClr val="accent3"/>
          </a:solidFill>
          <a:ln cap="flat" cmpd="sng" w="15875">
            <a:solidFill>
              <a:srgbClr val="A7971A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1800">
                <a:solidFill>
                  <a:srgbClr val="FF000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But what other costs might the business need to think about? </a:t>
            </a:r>
            <a:endParaRPr/>
          </a:p>
        </p:txBody>
      </p:sp>
      <p:sp>
        <p:nvSpPr>
          <p:cNvPr id="221" name="Google Shape;221;p31"/>
          <p:cNvSpPr/>
          <p:nvPr/>
        </p:nvSpPr>
        <p:spPr>
          <a:xfrm>
            <a:off x="7598833" y="1869725"/>
            <a:ext cx="3560234" cy="2058808"/>
          </a:xfrm>
          <a:prstGeom prst="rect">
            <a:avLst/>
          </a:prstGeom>
          <a:solidFill>
            <a:schemeClr val="accent3"/>
          </a:solidFill>
          <a:ln cap="flat" cmpd="sng" w="15875">
            <a:solidFill>
              <a:srgbClr val="A7971A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1800">
                <a:solidFill>
                  <a:srgbClr val="FF000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Why is this not the overall profit?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2" presetSubtype="4">
                                  <p:stCondLst>
                                    <p:cond delay="0"/>
                                  </p:stCondLst>
                                  <p:childTnLs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+1"/>
                                          </p:val>
                                        </p:tav>
                                      </p:tavLst>
                                    </p:anim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2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25" name="Shape 2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6" name="Google Shape;226;p32"/>
          <p:cNvSpPr txBox="1"/>
          <p:nvPr>
            <p:ph type="title"/>
          </p:nvPr>
        </p:nvSpPr>
        <p:spPr>
          <a:xfrm>
            <a:off x="2209800" y="188913"/>
            <a:ext cx="7772400" cy="1143000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7AC0D4"/>
              </a:buClr>
              <a:buSzPts val="5000"/>
              <a:buFont typeface="Twentieth Century"/>
              <a:buNone/>
            </a:pPr>
            <a:r>
              <a:rPr lang="en-GB" u="sng">
                <a:solidFill>
                  <a:srgbClr val="7AC0D4"/>
                </a:solidFill>
              </a:rPr>
              <a:t>GROSS PROFIT</a:t>
            </a:r>
            <a:endParaRPr u="sng">
              <a:solidFill>
                <a:srgbClr val="7AC0D4"/>
              </a:solidFill>
            </a:endParaRPr>
          </a:p>
        </p:txBody>
      </p:sp>
      <p:sp>
        <p:nvSpPr>
          <p:cNvPr id="227" name="Google Shape;227;p32"/>
          <p:cNvSpPr txBox="1"/>
          <p:nvPr>
            <p:ph idx="1" type="body"/>
          </p:nvPr>
        </p:nvSpPr>
        <p:spPr>
          <a:xfrm>
            <a:off x="476249" y="1535113"/>
            <a:ext cx="11495617" cy="5068887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</a:pPr>
            <a:r>
              <a:rPr b="1" lang="en-GB" sz="3000"/>
              <a:t>Revenue – Cost of Sales = Gross Profit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The money made from selling a product (the revenue), </a:t>
            </a:r>
            <a:r>
              <a:rPr b="1" lang="en-GB" sz="3000"/>
              <a:t>AFTER</a:t>
            </a:r>
            <a:r>
              <a:rPr lang="en-GB" sz="3000"/>
              <a:t> the cost of producing the product (the cost of sales) has been deducted. This includes labour costs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E.g. It costs me £10 to make a table and I sell it for £16. Therefore, my Gross Profit is £6. </a:t>
            </a:r>
            <a:endParaRPr/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31" name="Shape 23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2" name="Google Shape;232;p33"/>
          <p:cNvSpPr txBox="1"/>
          <p:nvPr>
            <p:ph type="title"/>
          </p:nvPr>
        </p:nvSpPr>
        <p:spPr>
          <a:xfrm>
            <a:off x="1041062" y="27560"/>
            <a:ext cx="9720072" cy="1191640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NET PROFIT</a:t>
            </a:r>
            <a:endParaRPr/>
          </a:p>
        </p:txBody>
      </p:sp>
      <p:sp>
        <p:nvSpPr>
          <p:cNvPr id="233" name="Google Shape;233;p33"/>
          <p:cNvSpPr txBox="1"/>
          <p:nvPr>
            <p:ph idx="1" type="body"/>
          </p:nvPr>
        </p:nvSpPr>
        <p:spPr>
          <a:xfrm>
            <a:off x="795865" y="1425576"/>
            <a:ext cx="10651067" cy="5229224"/>
          </a:xfrm>
          <a:prstGeom prst="rect">
            <a:avLst/>
          </a:prstGeom>
          <a:solidFill>
            <a:srgbClr val="F2F2F2"/>
          </a:solidFill>
          <a:ln cap="flat" cmpd="sng" w="381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717" lvl="0" marL="91440" rtl="0" algn="l">
              <a:lnSpc>
                <a:spcPct val="70000"/>
              </a:lnSpc>
              <a:spcBef>
                <a:spcPts val="0"/>
              </a:spcBef>
              <a:spcAft>
                <a:spcPts val="0"/>
              </a:spcAft>
              <a:buSzPts val="2405"/>
              <a:buChar char=" "/>
            </a:pPr>
            <a:r>
              <a:rPr b="1" i="1" lang="en-GB" sz="2405"/>
              <a:t>The money made from selling a product after all costs (expenditure) have been deducted.</a:t>
            </a:r>
            <a:endParaRPr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2405"/>
              <a:buNone/>
            </a:pPr>
            <a:r>
              <a:t/>
            </a:r>
            <a:endParaRPr i="1" sz="2405"/>
          </a:p>
          <a:p>
            <a:pPr indent="-152717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2405"/>
              <a:buChar char=" "/>
            </a:pPr>
            <a:r>
              <a:rPr lang="en-GB" sz="2405"/>
              <a:t>In order to work out net profit, you first of all work out the gross profit, and then deduct any other expenditure involved in making or selling it.</a:t>
            </a:r>
            <a:endParaRPr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-105727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Char char=" "/>
            </a:pPr>
            <a:r>
              <a:rPr b="1" lang="en-GB" sz="1665">
                <a:solidFill>
                  <a:srgbClr val="CC00FF"/>
                </a:solidFill>
              </a:rPr>
              <a:t>Net profit = Gross Profit - Expenditure</a:t>
            </a:r>
            <a:endParaRPr/>
          </a:p>
        </p:txBody>
      </p:sp>
      <p:pic>
        <p:nvPicPr>
          <p:cNvPr id="234" name="Google Shape;234;p33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2709333" y="2921001"/>
            <a:ext cx="5867400" cy="2697163"/>
          </a:xfrm>
          <a:prstGeom prst="rect">
            <a:avLst/>
          </a:prstGeom>
          <a:noFill/>
          <a:ln cap="flat" cmpd="sng" w="38100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</p:pic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11" st="1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11" st="1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12" st="1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12" st="1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39" name="Shape 23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0" name="Google Shape;240;p34"/>
          <p:cNvSpPr txBox="1"/>
          <p:nvPr>
            <p:ph type="title"/>
          </p:nvPr>
        </p:nvSpPr>
        <p:spPr>
          <a:xfrm>
            <a:off x="1049697" y="267803"/>
            <a:ext cx="9720072" cy="1056173"/>
          </a:xfrm>
          <a:prstGeom prst="rect">
            <a:avLst/>
          </a:prstGeom>
          <a:noFill/>
          <a:ln cap="flat" cmpd="sng" w="3810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1</a:t>
            </a:r>
            <a:endParaRPr/>
          </a:p>
        </p:txBody>
      </p:sp>
      <p:sp>
        <p:nvSpPr>
          <p:cNvPr id="241" name="Google Shape;241;p34"/>
          <p:cNvSpPr txBox="1"/>
          <p:nvPr>
            <p:ph idx="1" type="body"/>
          </p:nvPr>
        </p:nvSpPr>
        <p:spPr>
          <a:xfrm>
            <a:off x="521760" y="1340909"/>
            <a:ext cx="5387973" cy="5050366"/>
          </a:xfrm>
          <a:prstGeom prst="rect">
            <a:avLst/>
          </a:prstGeom>
          <a:solidFill>
            <a:schemeClr val="lt1"/>
          </a:solidFill>
          <a:ln cap="flat" cmpd="sng" w="381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Using the following information, draw up a statement like on the example before: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7AC0D4"/>
                </a:solidFill>
              </a:rPr>
              <a:t>A business has sales revenue of £25,000 which costs £12,500. </a:t>
            </a:r>
            <a:endParaRPr/>
          </a:p>
          <a:p>
            <a:pPr indent="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>
              <a:solidFill>
                <a:srgbClr val="7AC0D4"/>
              </a:solidFill>
            </a:endParaRPr>
          </a:p>
          <a:p>
            <a:pPr indent="-1905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7AC0D4"/>
                </a:solidFill>
              </a:rPr>
              <a:t>It had to pay out rent of £1000, insurance at £500 and a salesman’s wages at £1000. </a:t>
            </a:r>
            <a:endParaRPr sz="3000">
              <a:solidFill>
                <a:srgbClr val="7AC0D4"/>
              </a:solidFill>
            </a:endParaRPr>
          </a:p>
        </p:txBody>
      </p:sp>
      <p:pic>
        <p:nvPicPr>
          <p:cNvPr id="242" name="Google Shape;242;p34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6096000" y="1340909"/>
            <a:ext cx="4860036" cy="5067299"/>
          </a:xfrm>
          <a:prstGeom prst="rect">
            <a:avLst/>
          </a:prstGeom>
          <a:noFill/>
          <a:ln cap="flat" cmpd="sng" w="38100">
            <a:solidFill>
              <a:srgbClr val="FF00FF"/>
            </a:solidFill>
            <a:prstDash val="solid"/>
            <a:miter lim="800000"/>
            <a:headEnd len="sm" w="sm" type="none"/>
            <a:tailEnd len="sm" w="sm" type="none"/>
          </a:ln>
        </p:spPr>
      </p:pic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46" name="Shape 24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7" name="Google Shape;247;p35"/>
          <p:cNvSpPr txBox="1"/>
          <p:nvPr>
            <p:ph type="title"/>
          </p:nvPr>
        </p:nvSpPr>
        <p:spPr>
          <a:xfrm>
            <a:off x="1024127" y="110595"/>
            <a:ext cx="9720072" cy="1125538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2</a:t>
            </a:r>
            <a:endParaRPr/>
          </a:p>
        </p:txBody>
      </p:sp>
      <p:pic>
        <p:nvPicPr>
          <p:cNvPr id="248" name="Google Shape;248;p35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490896" y="1439333"/>
            <a:ext cx="10786533" cy="2510659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miter lim="800000"/>
            <a:headEnd len="sm" w="sm" type="none"/>
            <a:tailEnd len="sm" w="sm" type="none"/>
          </a:ln>
        </p:spPr>
      </p:pic>
      <p:pic>
        <p:nvPicPr>
          <p:cNvPr id="249" name="Google Shape;249;p35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6308726" y="1844675"/>
            <a:ext cx="4029075" cy="478155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miter lim="800000"/>
            <a:headEnd len="sm" w="sm" type="none"/>
            <a:tailEnd len="sm" w="sm" type="none"/>
          </a:ln>
        </p:spPr>
      </p:pic>
      <p:sp>
        <p:nvSpPr>
          <p:cNvPr id="250" name="Google Shape;250;p35"/>
          <p:cNvSpPr/>
          <p:nvPr/>
        </p:nvSpPr>
        <p:spPr>
          <a:xfrm>
            <a:off x="490896" y="4307840"/>
            <a:ext cx="5523824" cy="2113280"/>
          </a:xfrm>
          <a:prstGeom prst="rect">
            <a:avLst/>
          </a:prstGeom>
          <a:solidFill>
            <a:schemeClr val="accent1"/>
          </a:solidFill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3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Complete the ‘Comprehensive Income’ Worksheet found on the shared area. </a:t>
            </a:r>
            <a:endParaRPr sz="3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54" name="Shape 25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5" name="Google Shape;255;p36"/>
          <p:cNvSpPr txBox="1"/>
          <p:nvPr>
            <p:ph type="title"/>
          </p:nvPr>
        </p:nvSpPr>
        <p:spPr>
          <a:xfrm>
            <a:off x="1024128" y="297350"/>
            <a:ext cx="9720072" cy="1499616"/>
          </a:xfrm>
          <a:prstGeom prst="rect">
            <a:avLst/>
          </a:prstGeom>
          <a:solidFill>
            <a:schemeClr val="lt1"/>
          </a:solidFill>
          <a:ln cap="flat" cmpd="sng" w="762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GROSS AND NET PROFIT MARGINS</a:t>
            </a:r>
            <a:endParaRPr/>
          </a:p>
        </p:txBody>
      </p:sp>
      <p:sp>
        <p:nvSpPr>
          <p:cNvPr id="256" name="Google Shape;256;p36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solidFill>
            <a:schemeClr val="lt1"/>
          </a:solidFill>
          <a:ln cap="flat" cmpd="sng" w="762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rPr b="1" lang="en-GB"/>
              <a:t>Gross profit margin</a:t>
            </a:r>
            <a:r>
              <a:rPr lang="en-GB"/>
              <a:t>- the % of sales revenue that is gross profit. </a:t>
            </a:r>
            <a:endParaRPr/>
          </a:p>
          <a:p>
            <a:pPr indent="0" lvl="0" marL="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rPr b="1" i="1" lang="en-GB"/>
              <a:t>Gross profit / sales revenue x 100 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 b="1"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rPr b="1" lang="en-GB"/>
              <a:t>Net profit margin</a:t>
            </a:r>
            <a:r>
              <a:rPr lang="en-GB"/>
              <a:t> - the % of sales revenue that is net profit </a:t>
            </a:r>
            <a:endParaRPr/>
          </a:p>
          <a:p>
            <a:pPr indent="0" lvl="0" marL="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rPr b="1" i="1" lang="en-GB"/>
              <a:t>Net profit / sales revenue x 100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5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5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5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5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5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61" name="Shape 26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2" name="Google Shape;262;p37"/>
          <p:cNvSpPr txBox="1"/>
          <p:nvPr/>
        </p:nvSpPr>
        <p:spPr>
          <a:xfrm>
            <a:off x="1847851" y="3789364"/>
            <a:ext cx="3529013" cy="2308225"/>
          </a:xfrm>
          <a:prstGeom prst="rect">
            <a:avLst/>
          </a:prstGeom>
          <a:solidFill>
            <a:srgbClr val="FFFFFF"/>
          </a:solidFill>
          <a:ln cap="flat" cmpd="sng" w="38100">
            <a:solidFill>
              <a:srgbClr val="7AC0D4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b="1" lang="en-GB" sz="24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Activity 1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imes New Roman"/>
              <a:buNone/>
            </a:pPr>
            <a:r>
              <a:t/>
            </a:r>
            <a:endParaRPr sz="24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lang="en-GB" sz="24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Revenue 	£100,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lang="en-GB" sz="24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Gross Profit	£  30,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lang="en-GB" sz="24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Net Profit	£  20,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imes New Roman"/>
              <a:buNone/>
            </a:pPr>
            <a:r>
              <a:t/>
            </a:r>
            <a:endParaRPr sz="24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263" name="Google Shape;263;p37"/>
          <p:cNvSpPr txBox="1"/>
          <p:nvPr>
            <p:ph type="title"/>
          </p:nvPr>
        </p:nvSpPr>
        <p:spPr>
          <a:xfrm>
            <a:off x="2279650" y="138113"/>
            <a:ext cx="7772400" cy="1143000"/>
          </a:xfrm>
          <a:prstGeom prst="rect">
            <a:avLst/>
          </a:prstGeom>
          <a:solidFill>
            <a:srgbClr val="FFFFFF"/>
          </a:solidFill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EXAMPLE </a:t>
            </a:r>
            <a:endParaRPr u="sng"/>
          </a:p>
        </p:txBody>
      </p:sp>
      <p:sp>
        <p:nvSpPr>
          <p:cNvPr id="264" name="Google Shape;264;p37"/>
          <p:cNvSpPr txBox="1"/>
          <p:nvPr/>
        </p:nvSpPr>
        <p:spPr>
          <a:xfrm>
            <a:off x="1597555" y="1485108"/>
            <a:ext cx="9527645" cy="2003159"/>
          </a:xfrm>
          <a:prstGeom prst="rect">
            <a:avLst/>
          </a:prstGeom>
          <a:solidFill>
            <a:schemeClr val="lt1"/>
          </a:solidFill>
          <a:ln cap="flat" cmpd="sng" w="76200">
            <a:solidFill>
              <a:srgbClr val="FF0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Twentieth Century"/>
              <a:buNone/>
            </a:pPr>
            <a:r>
              <a:rPr b="1" lang="en-GB" sz="2000" u="sng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Gross profit margin</a:t>
            </a:r>
            <a:r>
              <a:rPr lang="en-GB" sz="2000" u="sng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- </a:t>
            </a: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the % of sales revenue that is gross profit. </a:t>
            </a:r>
            <a:endParaRPr/>
          </a:p>
          <a:p>
            <a:pPr indent="0" lvl="0" marL="0" marR="0" rtl="0" algn="ctr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Twentieth Century"/>
              <a:buNone/>
            </a:pPr>
            <a:r>
              <a:rPr b="1" i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Gross profit / sales revenue x 100 </a:t>
            </a:r>
            <a:endParaRPr/>
          </a:p>
          <a:p>
            <a:pPr indent="0" lvl="0" marL="0" marR="0" rtl="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Twentieth Century"/>
              <a:buNone/>
            </a:pPr>
            <a:r>
              <a:t/>
            </a:r>
            <a:endParaRPr b="1" sz="2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Twentieth Century"/>
              <a:buNone/>
            </a:pPr>
            <a:r>
              <a:rPr b="1" lang="en-GB" sz="2000" u="sng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Net profit margin</a:t>
            </a: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 - the % of sales revenue that is net profit </a:t>
            </a:r>
            <a:endParaRPr/>
          </a:p>
          <a:p>
            <a:pPr indent="0" lvl="0" marL="0" marR="0" rtl="0" algn="ctr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Twentieth Century"/>
              <a:buNone/>
            </a:pPr>
            <a:r>
              <a:rPr b="1" i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Net profit / sales revenue x 100 </a:t>
            </a:r>
            <a:endParaRPr/>
          </a:p>
        </p:txBody>
      </p:sp>
      <p:sp>
        <p:nvSpPr>
          <p:cNvPr id="265" name="Google Shape;265;p37"/>
          <p:cNvSpPr txBox="1"/>
          <p:nvPr/>
        </p:nvSpPr>
        <p:spPr>
          <a:xfrm>
            <a:off x="5664200" y="4076701"/>
            <a:ext cx="2954655" cy="1200329"/>
          </a:xfrm>
          <a:prstGeom prst="rect">
            <a:avLst/>
          </a:prstGeom>
          <a:solidFill>
            <a:schemeClr val="lt1"/>
          </a:solidFill>
          <a:ln cap="flat" cmpd="sng" w="3810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Gross Profit Margin = 	</a:t>
            </a:r>
            <a:r>
              <a:rPr b="1" lang="en-GB" sz="1800">
                <a:solidFill>
                  <a:srgbClr val="29697C"/>
                </a:solidFill>
                <a:latin typeface="Arial"/>
                <a:ea typeface="Arial"/>
                <a:cs typeface="Arial"/>
                <a:sym typeface="Arial"/>
              </a:rPr>
              <a:t>30%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Net Profit Margin= 	</a:t>
            </a:r>
            <a:r>
              <a:rPr b="1" lang="en-GB" sz="1800">
                <a:solidFill>
                  <a:srgbClr val="29697C"/>
                </a:solidFill>
                <a:latin typeface="Arial"/>
                <a:ea typeface="Arial"/>
                <a:cs typeface="Arial"/>
                <a:sym typeface="Arial"/>
              </a:rPr>
              <a:t>20%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4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4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4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4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4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4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4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4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5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70" name="Shape 2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1" name="Google Shape;271;p38"/>
          <p:cNvSpPr txBox="1"/>
          <p:nvPr/>
        </p:nvSpPr>
        <p:spPr>
          <a:xfrm>
            <a:off x="1055687" y="1742018"/>
            <a:ext cx="4967289" cy="2862322"/>
          </a:xfrm>
          <a:prstGeom prst="rect">
            <a:avLst/>
          </a:prstGeom>
          <a:solidFill>
            <a:srgbClr val="FFFFFF"/>
          </a:solidFill>
          <a:ln cap="flat" cmpd="sng" w="38100">
            <a:solidFill>
              <a:srgbClr val="7AC0D4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b="1"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Activity 1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imes New Roman"/>
              <a:buNone/>
            </a:pPr>
            <a:r>
              <a:t/>
            </a:r>
            <a:endParaRPr sz="30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Revenue 	£130,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Gross Profit	£  40,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Net Profit	£  20,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imes New Roman"/>
              <a:buNone/>
            </a:pPr>
            <a:r>
              <a:t/>
            </a:r>
            <a:endParaRPr sz="30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272" name="Google Shape;272;p38"/>
          <p:cNvSpPr/>
          <p:nvPr/>
        </p:nvSpPr>
        <p:spPr>
          <a:xfrm>
            <a:off x="2813581" y="5339293"/>
            <a:ext cx="7483475" cy="553998"/>
          </a:xfrm>
          <a:prstGeom prst="rect">
            <a:avLst/>
          </a:prstGeom>
          <a:solidFill>
            <a:srgbClr val="FFFFFF"/>
          </a:solidFill>
          <a:ln cap="flat" cmpd="sng" w="38100">
            <a:solidFill>
              <a:srgbClr val="FF000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Calculate the Gross and Net </a:t>
            </a:r>
            <a:r>
              <a:rPr b="1" lang="en-GB" sz="3000" u="sng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Profit</a:t>
            </a: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 Margins</a:t>
            </a:r>
            <a:endParaRPr/>
          </a:p>
        </p:txBody>
      </p:sp>
      <p:sp>
        <p:nvSpPr>
          <p:cNvPr id="273" name="Google Shape;273;p38"/>
          <p:cNvSpPr txBox="1"/>
          <p:nvPr/>
        </p:nvSpPr>
        <p:spPr>
          <a:xfrm>
            <a:off x="6817253" y="1742018"/>
            <a:ext cx="4731279" cy="2862322"/>
          </a:xfrm>
          <a:prstGeom prst="rect">
            <a:avLst/>
          </a:prstGeom>
          <a:solidFill>
            <a:srgbClr val="FFFFFF"/>
          </a:solidFill>
          <a:ln cap="flat" cmpd="sng" w="38100">
            <a:solidFill>
              <a:srgbClr val="7AC0D4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b="1"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Activity 2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imes New Roman"/>
              <a:buNone/>
            </a:pPr>
            <a:r>
              <a:t/>
            </a:r>
            <a:endParaRPr sz="30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Revenue 	£150,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Gross Profit	£  60,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Net Profit	£  40,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imes New Roman"/>
              <a:buNone/>
            </a:pPr>
            <a:r>
              <a:t/>
            </a:r>
            <a:endParaRPr sz="30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274" name="Google Shape;274;p38"/>
          <p:cNvSpPr txBox="1"/>
          <p:nvPr>
            <p:ph type="title"/>
          </p:nvPr>
        </p:nvSpPr>
        <p:spPr>
          <a:xfrm>
            <a:off x="2279650" y="138113"/>
            <a:ext cx="7772400" cy="1143000"/>
          </a:xfrm>
          <a:prstGeom prst="rect">
            <a:avLst/>
          </a:prstGeom>
          <a:solidFill>
            <a:srgbClr val="FFFFFF"/>
          </a:solidFill>
          <a:ln cap="flat" cmpd="sng" w="57150">
            <a:solidFill>
              <a:srgbClr val="C1DF87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PRACTICE QUESTIONS</a:t>
            </a:r>
            <a:endParaRPr u="sng"/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78" name="Shape 2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9" name="Google Shape;279;p39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3</a:t>
            </a:r>
            <a:endParaRPr u="sng"/>
          </a:p>
        </p:txBody>
      </p:sp>
      <p:pic>
        <p:nvPicPr>
          <p:cNvPr descr="Screen Clipping" id="280" name="Google Shape;280;p39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761661" y="2084832"/>
            <a:ext cx="10380472" cy="4401522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</p:pic>
    </p:spTree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84" name="Shape 2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5" name="Google Shape;285;p40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4</a:t>
            </a:r>
            <a:endParaRPr u="sng"/>
          </a:p>
        </p:txBody>
      </p:sp>
      <p:pic>
        <p:nvPicPr>
          <p:cNvPr descr="Screen Clipping" id="286" name="Google Shape;286;p40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599860" y="2246728"/>
            <a:ext cx="9000405" cy="4334473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2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90" name="Shape 29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1" name="Google Shape;291;p41"/>
          <p:cNvSpPr txBox="1"/>
          <p:nvPr>
            <p:ph idx="1" type="body"/>
          </p:nvPr>
        </p:nvSpPr>
        <p:spPr>
          <a:xfrm>
            <a:off x="429683" y="2012950"/>
            <a:ext cx="11474450" cy="4845050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b="1"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Net Profit Margin (NPM)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Redgate is more profitable than Acme because it has a higher NPM by 1% (10% vs. 9%)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This is because it has lower overheads/expenses to pay, which would mean the net profit is higher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b="1"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Gross Profit Margin (GPM)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Acme has a higher GPM than Redgate by 2% (22% vs. 20%)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This could be because it has a higher sales revenue or because their cost of sales are lower. Both of these would result in a higher gross profit</a:t>
            </a:r>
            <a:endParaRPr/>
          </a:p>
        </p:txBody>
      </p:sp>
      <p:sp>
        <p:nvSpPr>
          <p:cNvPr id="292" name="Google Shape;292;p41"/>
          <p:cNvSpPr txBox="1"/>
          <p:nvPr>
            <p:ph type="title"/>
          </p:nvPr>
        </p:nvSpPr>
        <p:spPr>
          <a:xfrm>
            <a:off x="1007195" y="252984"/>
            <a:ext cx="9720072" cy="1499616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ANSWERS </a:t>
            </a:r>
            <a:endParaRPr u="sng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3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96" name="Shape 29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7" name="Google Shape;297;p42"/>
          <p:cNvSpPr txBox="1"/>
          <p:nvPr>
            <p:ph type="title"/>
          </p:nvPr>
        </p:nvSpPr>
        <p:spPr>
          <a:xfrm>
            <a:off x="1217706" y="246674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5000"/>
              <a:buFont typeface="Twentieth Century"/>
              <a:buNone/>
            </a:pPr>
            <a:r>
              <a:rPr lang="en-GB" u="sng">
                <a:solidFill>
                  <a:srgbClr val="CC00FF"/>
                </a:solidFill>
              </a:rPr>
              <a:t>PLENARY- QUIZ</a:t>
            </a:r>
            <a:endParaRPr/>
          </a:p>
        </p:txBody>
      </p:sp>
      <p:sp>
        <p:nvSpPr>
          <p:cNvPr id="298" name="Google Shape;298;p42"/>
          <p:cNvSpPr txBox="1"/>
          <p:nvPr/>
        </p:nvSpPr>
        <p:spPr>
          <a:xfrm>
            <a:off x="556153" y="1926892"/>
            <a:ext cx="11043179" cy="3416320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-457200" lvl="0" marL="4572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Tahoma"/>
              <a:buAutoNum type="arabicPeriod"/>
            </a:pPr>
            <a:r>
              <a:rPr lang="en-GB" sz="36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Which type of profit is calculated first?</a:t>
            </a:r>
            <a:endParaRPr/>
          </a:p>
          <a:p>
            <a:pPr indent="-457200" lvl="0" marL="4572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Tahoma"/>
              <a:buAutoNum type="arabicPeriod"/>
            </a:pPr>
            <a:r>
              <a:rPr lang="en-GB" sz="36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Which is the most important figure of the 2 profit types?</a:t>
            </a:r>
            <a:endParaRPr/>
          </a:p>
          <a:p>
            <a:pPr indent="-457200" lvl="0" marL="4572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Tahoma"/>
              <a:buAutoNum type="arabicPeriod"/>
            </a:pPr>
            <a:r>
              <a:rPr lang="en-GB" sz="36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What is another term for overheads?</a:t>
            </a:r>
            <a:endParaRPr/>
          </a:p>
          <a:p>
            <a:pPr indent="-457200" lvl="0" marL="4572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Tahoma"/>
              <a:buAutoNum type="arabicPeriod"/>
            </a:pPr>
            <a:r>
              <a:rPr lang="en-GB" sz="36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How is sales revenue calculated?</a:t>
            </a:r>
            <a:endParaRPr/>
          </a:p>
          <a:p>
            <a:pPr indent="-457200" lvl="0" marL="4572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Tahoma"/>
              <a:buAutoNum type="arabicPeriod"/>
            </a:pPr>
            <a:r>
              <a:rPr lang="en-GB" sz="36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What is meant by cost of sales? </a:t>
            </a:r>
            <a:endParaRPr/>
          </a:p>
        </p:txBody>
      </p:sp>
      <p:sp>
        <p:nvSpPr>
          <p:cNvPr id="299" name="Google Shape;299;p42"/>
          <p:cNvSpPr txBox="1"/>
          <p:nvPr/>
        </p:nvSpPr>
        <p:spPr>
          <a:xfrm>
            <a:off x="2296055" y="5704417"/>
            <a:ext cx="6769100" cy="522288"/>
          </a:xfrm>
          <a:prstGeom prst="rect">
            <a:avLst/>
          </a:prstGeom>
          <a:solidFill>
            <a:srgbClr val="D5EAAE"/>
          </a:solidFill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8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Write the answers on your whiteboard</a:t>
            </a:r>
            <a:endParaRPr sz="2800">
              <a:solidFill>
                <a:schemeClr val="dk1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</p:txBody>
      </p:sp>
    </p:spTree>
  </p:cSld>
  <p:clrMapOvr>
    <a:masterClrMapping/>
  </p:clrMapOvr>
</p:sld>
</file>

<file path=ppt/slides/slide3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03" name="Shape 3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4" name="Google Shape;304;p43"/>
          <p:cNvSpPr txBox="1"/>
          <p:nvPr>
            <p:ph type="title"/>
          </p:nvPr>
        </p:nvSpPr>
        <p:spPr>
          <a:xfrm>
            <a:off x="1024128" y="212683"/>
            <a:ext cx="9720072" cy="1499616"/>
          </a:xfrm>
          <a:prstGeom prst="rect">
            <a:avLst/>
          </a:prstGeom>
          <a:solidFill>
            <a:srgbClr val="D5EAAE"/>
          </a:solidFill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TITLE: B7 LIQUIDITY </a:t>
            </a:r>
            <a:br>
              <a:rPr lang="en-GB" u="sng"/>
            </a:br>
            <a:r>
              <a:rPr lang="en-GB" u="sng"/>
              <a:t>DATE : </a:t>
            </a:r>
            <a:endParaRPr u="sng"/>
          </a:p>
        </p:txBody>
      </p:sp>
      <p:sp>
        <p:nvSpPr>
          <p:cNvPr id="305" name="Google Shape;305;p43"/>
          <p:cNvSpPr txBox="1"/>
          <p:nvPr>
            <p:ph idx="1" type="body"/>
          </p:nvPr>
        </p:nvSpPr>
        <p:spPr>
          <a:xfrm>
            <a:off x="583862" y="1947334"/>
            <a:ext cx="11252538" cy="3945466"/>
          </a:xfrm>
          <a:prstGeom prst="rect">
            <a:avLst/>
          </a:prstGeom>
          <a:noFill/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540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4000"/>
              <a:buChar char=" "/>
            </a:pPr>
            <a:r>
              <a:rPr b="1" lang="en-GB" sz="4000" u="sng">
                <a:solidFill>
                  <a:srgbClr val="CC00FF"/>
                </a:solidFill>
              </a:rPr>
              <a:t>Objectives: </a:t>
            </a:r>
            <a:endParaRPr/>
          </a:p>
          <a:p>
            <a:pPr indent="-91440" lvl="0" marL="9144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>
                <a:latin typeface="Tahoma"/>
                <a:ea typeface="Tahoma"/>
                <a:cs typeface="Tahoma"/>
                <a:sym typeface="Tahoma"/>
              </a:rPr>
              <a:t>To be able to explain the term liquidity and explain how it is measured and used by a business. </a:t>
            </a:r>
            <a:endParaRPr sz="3000">
              <a:latin typeface="Tahoma"/>
              <a:ea typeface="Tahoma"/>
              <a:cs typeface="Tahoma"/>
              <a:sym typeface="Tahoma"/>
            </a:endParaRPr>
          </a:p>
          <a:p>
            <a:pPr indent="-91440" lvl="0" marL="9144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>
              <a:latin typeface="Tahoma"/>
              <a:ea typeface="Tahoma"/>
              <a:cs typeface="Tahoma"/>
              <a:sym typeface="Tahoma"/>
            </a:endParaRPr>
          </a:p>
          <a:p>
            <a:pPr indent="-91440" lvl="0" marL="9144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>
                <a:latin typeface="Tahoma"/>
                <a:ea typeface="Tahoma"/>
                <a:cs typeface="Tahoma"/>
                <a:sym typeface="Tahoma"/>
              </a:rPr>
              <a:t>To be able to interpret and analyse data (ratios and figures) in a scenario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3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09" name="Shape 30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0" name="Google Shape;310;p44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STARTER: RECAP QUESTIONS </a:t>
            </a:r>
            <a:endParaRPr u="sng"/>
          </a:p>
        </p:txBody>
      </p:sp>
      <p:sp>
        <p:nvSpPr>
          <p:cNvPr id="311" name="Google Shape;311;p44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778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800"/>
              <a:buChar char=" "/>
            </a:pPr>
            <a:r>
              <a:rPr b="1" lang="en-GB" sz="2800">
                <a:latin typeface="Arial"/>
                <a:ea typeface="Arial"/>
                <a:cs typeface="Arial"/>
                <a:sym typeface="Arial"/>
              </a:rPr>
              <a:t>Definitions of: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Fixed assets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Current assets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Current liabilities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Long-term liabilities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Net assets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Capital and reserves (shares issues and retained profit)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3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15" name="Shape 31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6" name="Google Shape;316;p4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LIQUIDITY</a:t>
            </a:r>
            <a:r>
              <a:rPr lang="en-GB"/>
              <a:t> </a:t>
            </a:r>
            <a:endParaRPr/>
          </a:p>
        </p:txBody>
      </p:sp>
      <p:sp>
        <p:nvSpPr>
          <p:cNvPr id="317" name="Google Shape;317;p45"/>
          <p:cNvSpPr txBox="1"/>
          <p:nvPr>
            <p:ph idx="1" type="body"/>
          </p:nvPr>
        </p:nvSpPr>
        <p:spPr>
          <a:xfrm>
            <a:off x="1024127" y="2726266"/>
            <a:ext cx="9720073" cy="3726921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159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400"/>
              <a:buChar char=" "/>
            </a:pPr>
            <a:r>
              <a:rPr lang="en-GB" sz="3400"/>
              <a:t>This shows how easy it is for a business to pay back its short term debts. </a:t>
            </a:r>
            <a:endParaRPr/>
          </a:p>
          <a:p>
            <a:pPr indent="-2159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400"/>
              <a:buChar char=" "/>
            </a:pPr>
            <a:r>
              <a:rPr lang="en-GB" sz="3400"/>
              <a:t>Liquid means- easy to convert into cash </a:t>
            </a:r>
            <a:endParaRPr/>
          </a:p>
          <a:p>
            <a:pPr indent="-2159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400"/>
              <a:buChar char=" "/>
            </a:pPr>
            <a:r>
              <a:rPr lang="en-GB" sz="3400"/>
              <a:t>Liquid assets include; cash on hand but NOT stock as this can not be sold immediately! 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31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31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31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3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21" name="Shape 32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2" name="Google Shape;322;p4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CURRENT RATIO </a:t>
            </a:r>
            <a:endParaRPr/>
          </a:p>
        </p:txBody>
      </p:sp>
      <p:sp>
        <p:nvSpPr>
          <p:cNvPr id="323" name="Google Shape;323;p46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This measures a company's ability to pay short-term and long-term obligations. 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A safe CR is anything above 1. e.g if the CR is 1.5 this means for every £1 the business owes, the company has more than £1 in current assets to pay them back. 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3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27" name="Shape 32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8" name="Google Shape;328;p4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LIQUID CAPITAL RATIO </a:t>
            </a:r>
            <a:endParaRPr/>
          </a:p>
        </p:txBody>
      </p:sp>
      <p:sp>
        <p:nvSpPr>
          <p:cNvPr id="329" name="Google Shape;329;p47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This is a tougher test of liquidity as it excludes stock as stock can sometimes be difficult to convert into cash. This measures the company's ability to meet its liabilities immediately</a:t>
            </a:r>
            <a:endParaRPr/>
          </a:p>
          <a:p>
            <a:pPr indent="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If a liquid capital ratio is below 0.25, it means the business has very little cash in the bank or to be received by customers to pay debts immediately. </a:t>
            </a:r>
            <a:endParaRPr/>
          </a:p>
          <a:p>
            <a:pPr indent="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  <a:p>
            <a:pPr indent="0" lvl="0" marL="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32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32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32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32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32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3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33" name="Shape 3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4" name="Google Shape;334;p48"/>
          <p:cNvSpPr txBox="1"/>
          <p:nvPr>
            <p:ph idx="4294967295" type="body"/>
          </p:nvPr>
        </p:nvSpPr>
        <p:spPr>
          <a:xfrm>
            <a:off x="474133" y="491068"/>
            <a:ext cx="11446934" cy="6028265"/>
          </a:xfrm>
          <a:prstGeom prst="rect">
            <a:avLst/>
          </a:prstGeom>
          <a:solidFill>
            <a:schemeClr val="lt1"/>
          </a:solidFill>
          <a:ln cap="flat" cmpd="sng" w="762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317500" lvl="1" marL="265176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Char char="🢝"/>
            </a:pPr>
            <a:r>
              <a:rPr b="1" lang="en-GB" sz="5000" u="sng">
                <a:solidFill>
                  <a:srgbClr val="CC00FF"/>
                </a:solidFill>
                <a:latin typeface="Arial"/>
                <a:ea typeface="Arial"/>
                <a:cs typeface="Arial"/>
                <a:sym typeface="Arial"/>
              </a:rPr>
              <a:t>Liquidity: </a:t>
            </a:r>
            <a:endParaRPr/>
          </a:p>
          <a:p>
            <a:pPr indent="-3175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Char char="🢝"/>
            </a:pPr>
            <a:r>
              <a:rPr lang="en-GB" sz="5000">
                <a:solidFill>
                  <a:srgbClr val="FFC000"/>
                </a:solidFill>
                <a:latin typeface="Arial"/>
                <a:ea typeface="Arial"/>
                <a:cs typeface="Arial"/>
                <a:sym typeface="Arial"/>
              </a:rPr>
              <a:t>Current ratio </a:t>
            </a:r>
            <a:r>
              <a:rPr lang="en-GB" sz="5000">
                <a:latin typeface="Arial"/>
                <a:ea typeface="Arial"/>
                <a:cs typeface="Arial"/>
                <a:sym typeface="Arial"/>
              </a:rPr>
              <a:t>= current assets </a:t>
            </a:r>
            <a:endParaRPr/>
          </a:p>
          <a:p>
            <a:pPr indent="0" lvl="1" marL="4572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None/>
            </a:pPr>
            <a:r>
              <a:rPr lang="en-GB" sz="5000">
                <a:latin typeface="Arial"/>
                <a:ea typeface="Arial"/>
                <a:cs typeface="Arial"/>
                <a:sym typeface="Arial"/>
              </a:rPr>
              <a:t>		              current liabilities</a:t>
            </a:r>
            <a:endParaRPr/>
          </a:p>
          <a:p>
            <a:pPr indent="0" lvl="1" marL="4572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None/>
            </a:pPr>
            <a:r>
              <a:t/>
            </a:r>
            <a:endParaRPr sz="5000">
              <a:latin typeface="Arial"/>
              <a:ea typeface="Arial"/>
              <a:cs typeface="Arial"/>
              <a:sym typeface="Arial"/>
            </a:endParaRPr>
          </a:p>
          <a:p>
            <a:pPr indent="-3175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Char char="🢝"/>
            </a:pPr>
            <a:r>
              <a:rPr lang="en-GB" sz="5000">
                <a:solidFill>
                  <a:srgbClr val="FFC000"/>
                </a:solidFill>
                <a:latin typeface="Arial"/>
                <a:ea typeface="Arial"/>
                <a:cs typeface="Arial"/>
                <a:sym typeface="Arial"/>
              </a:rPr>
              <a:t>Liquid Capital Ratio</a:t>
            </a:r>
            <a:r>
              <a:rPr lang="en-GB" sz="5000">
                <a:latin typeface="Arial"/>
                <a:ea typeface="Arial"/>
                <a:cs typeface="Arial"/>
                <a:sym typeface="Arial"/>
              </a:rPr>
              <a:t>= </a:t>
            </a:r>
            <a:endParaRPr/>
          </a:p>
          <a:p>
            <a:pPr indent="0" lvl="1" marL="12801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None/>
            </a:pPr>
            <a:r>
              <a:rPr lang="en-GB" sz="5000">
                <a:latin typeface="Arial"/>
                <a:ea typeface="Arial"/>
                <a:cs typeface="Arial"/>
                <a:sym typeface="Arial"/>
              </a:rPr>
              <a:t>		(current assets-inventory)</a:t>
            </a:r>
            <a:endParaRPr/>
          </a:p>
          <a:p>
            <a:pPr indent="0" lvl="1" marL="4572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None/>
            </a:pPr>
            <a:r>
              <a:rPr lang="en-GB" sz="5000">
                <a:latin typeface="Arial"/>
                <a:ea typeface="Arial"/>
                <a:cs typeface="Arial"/>
                <a:sym typeface="Arial"/>
              </a:rPr>
              <a:t>		        current liabilities</a:t>
            </a:r>
            <a:endParaRPr/>
          </a:p>
        </p:txBody>
      </p:sp>
      <p:cxnSp>
        <p:nvCxnSpPr>
          <p:cNvPr id="335" name="Google Shape;335;p48"/>
          <p:cNvCxnSpPr/>
          <p:nvPr/>
        </p:nvCxnSpPr>
        <p:spPr>
          <a:xfrm flipH="1" rot="10800000">
            <a:off x="2984499" y="5113867"/>
            <a:ext cx="6426201" cy="14289"/>
          </a:xfrm>
          <a:prstGeom prst="straightConnector1">
            <a:avLst/>
          </a:prstGeom>
          <a:noFill/>
          <a:ln cap="flat" cmpd="sng" w="2857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</p:cxnSp>
      <p:cxnSp>
        <p:nvCxnSpPr>
          <p:cNvPr id="336" name="Google Shape;336;p48"/>
          <p:cNvCxnSpPr/>
          <p:nvPr/>
        </p:nvCxnSpPr>
        <p:spPr>
          <a:xfrm>
            <a:off x="4998848" y="2036763"/>
            <a:ext cx="3975819" cy="12170"/>
          </a:xfrm>
          <a:prstGeom prst="straightConnector1">
            <a:avLst/>
          </a:prstGeom>
          <a:noFill/>
          <a:ln cap="flat" cmpd="sng" w="2857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>
</file>

<file path=ppt/slides/slide3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40" name="Shape 34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41" name="Google Shape;341;p49"/>
          <p:cNvSpPr txBox="1"/>
          <p:nvPr>
            <p:ph type="title"/>
          </p:nvPr>
        </p:nvSpPr>
        <p:spPr>
          <a:xfrm>
            <a:off x="803995" y="87493"/>
            <a:ext cx="10812272" cy="803319"/>
          </a:xfrm>
          <a:prstGeom prst="rect">
            <a:avLst/>
          </a:prstGeom>
          <a:solidFill>
            <a:srgbClr val="92D050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3000"/>
              <a:buFont typeface="Twentieth Century"/>
              <a:buNone/>
            </a:pPr>
            <a:r>
              <a:rPr lang="en-GB" sz="3000"/>
              <a:t>COMPLETE THE FOLLOWING QUESTIONS IN YOUR BOOKS </a:t>
            </a:r>
            <a:endParaRPr sz="3000"/>
          </a:p>
        </p:txBody>
      </p:sp>
      <p:pic>
        <p:nvPicPr>
          <p:cNvPr descr="Screen Clipping" id="342" name="Google Shape;342;p49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678546" y="890811"/>
            <a:ext cx="5011054" cy="6085721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Screen Clipping" id="343" name="Google Shape;343;p49"/>
          <p:cNvPicPr preferRelativeResize="0"/>
          <p:nvPr/>
        </p:nvPicPr>
        <p:blipFill rotWithShape="1">
          <a:blip r:embed="rId4">
            <a:alphaModFix/>
          </a:blip>
          <a:srcRect b="27545" l="0" r="0" t="2747"/>
          <a:stretch/>
        </p:blipFill>
        <p:spPr>
          <a:xfrm>
            <a:off x="5689600" y="846666"/>
            <a:ext cx="6349491" cy="6011334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3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47" name="Shape 3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48" name="Google Shape;348;p50"/>
          <p:cNvSpPr txBox="1"/>
          <p:nvPr/>
        </p:nvSpPr>
        <p:spPr>
          <a:xfrm>
            <a:off x="803995" y="87493"/>
            <a:ext cx="10812272" cy="803319"/>
          </a:xfrm>
          <a:prstGeom prst="rect">
            <a:avLst/>
          </a:prstGeom>
          <a:solidFill>
            <a:srgbClr val="92D050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3000"/>
              <a:buFont typeface="Twentieth Century"/>
              <a:buNone/>
            </a:pPr>
            <a:r>
              <a:rPr lang="en-GB" sz="3000" cap="non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COMPLETE THE FOLLOWING QUESTIONS IN YOUR BOOKS </a:t>
            </a:r>
            <a:endParaRPr sz="3000" cap="none">
              <a:solidFill>
                <a:srgbClr val="0C0C0C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pic>
        <p:nvPicPr>
          <p:cNvPr descr="Screen Clipping" id="349" name="Google Shape;349;p50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2234862" y="1037013"/>
            <a:ext cx="7950538" cy="536199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3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53" name="Shape 3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54" name="Google Shape;354;p51"/>
          <p:cNvSpPr txBox="1"/>
          <p:nvPr>
            <p:ph type="title"/>
          </p:nvPr>
        </p:nvSpPr>
        <p:spPr>
          <a:xfrm>
            <a:off x="1024128" y="212682"/>
            <a:ext cx="9720072" cy="1155064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PLENARY </a:t>
            </a:r>
            <a:endParaRPr u="sng"/>
          </a:p>
        </p:txBody>
      </p:sp>
      <p:pic>
        <p:nvPicPr>
          <p:cNvPr descr="Screen Clipping" id="355" name="Google Shape;355;p51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2369633" y="1740280"/>
            <a:ext cx="7925834" cy="4917969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Integral">
  <a:themeElements>
    <a:clrScheme name="Integral">
      <a:dk1>
        <a:srgbClr val="000000"/>
      </a:dk1>
      <a:lt1>
        <a:srgbClr val="FFFFFF"/>
      </a:lt1>
      <a:dk2>
        <a:srgbClr val="455F51"/>
      </a:dk2>
      <a:lt2>
        <a:srgbClr val="E3DED1"/>
      </a:lt2>
      <a:accent1>
        <a:srgbClr val="99CB38"/>
      </a:accent1>
      <a:accent2>
        <a:srgbClr val="63A537"/>
      </a:accent2>
      <a:accent3>
        <a:srgbClr val="E6D024"/>
      </a:accent3>
      <a:accent4>
        <a:srgbClr val="CC9700"/>
      </a:accent4>
      <a:accent5>
        <a:srgbClr val="4EB3CF"/>
      </a:accent5>
      <a:accent6>
        <a:srgbClr val="378DA6"/>
      </a:accent6>
      <a:hlink>
        <a:srgbClr val="6B9F25"/>
      </a:hlink>
      <a:folHlink>
        <a:srgbClr val="B26B0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