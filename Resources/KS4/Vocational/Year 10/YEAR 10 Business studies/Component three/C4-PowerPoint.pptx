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22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23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3"/>
  </p:sldMasterIdLst>
  <p:notesMasterIdLst>
    <p:notesMasterId r:id="rId4"/>
  </p:notesMasterIdLst>
  <p:sldIdLst>
    <p:sldId id="256" r:id="rId5"/>
    <p:sldId id="257" r:id="rId6"/>
    <p:sldId id="258" r:id="rId7"/>
    <p:sldId id="259" r:id="rId8"/>
    <p:sldId id="260" r:id="rId9"/>
    <p:sldId id="261" r:id="rId10"/>
    <p:sldId id="262" r:id="rId11"/>
    <p:sldId id="263" r:id="rId12"/>
    <p:sldId id="264" r:id="rId13"/>
    <p:sldId id="265" r:id="rId14"/>
    <p:sldId id="266" r:id="rId15"/>
    <p:sldId id="267" r:id="rId16"/>
    <p:sldId id="268" r:id="rId17"/>
    <p:sldId id="269" r:id="rId18"/>
    <p:sldId id="270" r:id="rId19"/>
    <p:sldId id="271" r:id="rId20"/>
    <p:sldId id="272" r:id="rId21"/>
    <p:sldId id="273" r:id="rId22"/>
    <p:sldId id="274" r:id="rId23"/>
    <p:sldId id="275" r:id="rId24"/>
    <p:sldId id="276" r:id="rId25"/>
    <p:sldId id="277" r:id="rId26"/>
    <p:sldId id="278" r:id="rId27"/>
    <p:sldId id="279" r:id="rId28"/>
    <p:sldId id="280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6.xml"/><Relationship Id="rId22" Type="http://schemas.openxmlformats.org/officeDocument/2006/relationships/slide" Target="slides/slide18.xml"/><Relationship Id="rId21" Type="http://schemas.openxmlformats.org/officeDocument/2006/relationships/slide" Target="slides/slide17.xml"/><Relationship Id="rId24" Type="http://schemas.openxmlformats.org/officeDocument/2006/relationships/slide" Target="slides/slide20.xml"/><Relationship Id="rId23" Type="http://schemas.openxmlformats.org/officeDocument/2006/relationships/slide" Target="slides/slide19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slideMaster" Target="slideMasters/slideMaster1.xml"/><Relationship Id="rId4" Type="http://schemas.openxmlformats.org/officeDocument/2006/relationships/notesMaster" Target="notesMasters/notesMaster1.xml"/><Relationship Id="rId9" Type="http://schemas.openxmlformats.org/officeDocument/2006/relationships/slide" Target="slides/slide5.xml"/><Relationship Id="rId26" Type="http://schemas.openxmlformats.org/officeDocument/2006/relationships/slide" Target="slides/slide22.xml"/><Relationship Id="rId25" Type="http://schemas.openxmlformats.org/officeDocument/2006/relationships/slide" Target="slides/slide21.xml"/><Relationship Id="rId28" Type="http://schemas.openxmlformats.org/officeDocument/2006/relationships/slide" Target="slides/slide24.xml"/><Relationship Id="rId27" Type="http://schemas.openxmlformats.org/officeDocument/2006/relationships/slide" Target="slides/slide23.xml"/><Relationship Id="rId5" Type="http://schemas.openxmlformats.org/officeDocument/2006/relationships/slide" Target="slides/slide1.xml"/><Relationship Id="rId6" Type="http://schemas.openxmlformats.org/officeDocument/2006/relationships/slide" Target="slides/slide2.xml"/><Relationship Id="rId29" Type="http://schemas.openxmlformats.org/officeDocument/2006/relationships/slide" Target="slides/slide25.xml"/><Relationship Id="rId7" Type="http://schemas.openxmlformats.org/officeDocument/2006/relationships/slide" Target="slides/slide3.xml"/><Relationship Id="rId8" Type="http://schemas.openxmlformats.org/officeDocument/2006/relationships/slide" Target="slides/slide4.xml"/><Relationship Id="rId11" Type="http://schemas.openxmlformats.org/officeDocument/2006/relationships/slide" Target="slides/slide7.xml"/><Relationship Id="rId10" Type="http://schemas.openxmlformats.org/officeDocument/2006/relationships/slide" Target="slides/slide6.xml"/><Relationship Id="rId13" Type="http://schemas.openxmlformats.org/officeDocument/2006/relationships/slide" Target="slides/slide9.xml"/><Relationship Id="rId12" Type="http://schemas.openxmlformats.org/officeDocument/2006/relationships/slide" Target="slides/slide8.xml"/><Relationship Id="rId15" Type="http://schemas.openxmlformats.org/officeDocument/2006/relationships/slide" Target="slides/slide11.xml"/><Relationship Id="rId14" Type="http://schemas.openxmlformats.org/officeDocument/2006/relationships/slide" Target="slides/slide10.xml"/><Relationship Id="rId17" Type="http://schemas.openxmlformats.org/officeDocument/2006/relationships/slide" Target="slides/slide13.xml"/><Relationship Id="rId16" Type="http://schemas.openxmlformats.org/officeDocument/2006/relationships/slide" Target="slides/slide12.xml"/><Relationship Id="rId19" Type="http://schemas.openxmlformats.org/officeDocument/2006/relationships/slide" Target="slides/slide15.xml"/><Relationship Id="rId18" Type="http://schemas.openxmlformats.org/officeDocument/2006/relationships/slide" Target="slides/slide14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3" name="Shape 1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4" name="Google Shape;144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5" name="Google Shape;145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7" name="Google Shape;157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3" name="Shape 1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" name="Google Shape;17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5" name="Google Shape;17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0" name="Shape 1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1" name="Google Shape;181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2" name="Google Shape;182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7" name="Shape 1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8" name="Google Shape;188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9" name="Google Shape;189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2" name="Shape 1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3" name="Google Shape;19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4" name="Google Shape;19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6" name="Shape 2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7" name="Google Shape;227;p19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228" name="Google Shape;228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29" name="Google Shape;229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0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245" name="Google Shape;245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46" name="Google Shape;246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0" name="Shape 3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1" name="Google Shape;31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2" name="Google Shape;31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6" name="Shape 3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7" name="Google Shape;31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8" name="Google Shape;31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2" name="Shape 3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3" name="Google Shape;323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4" name="Google Shape;324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8" name="Shape 3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9" name="Google Shape;32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0" name="Google Shape;330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7" name="Google Shape;37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0" name="Google Shape;40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1" name="Google Shape;41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2" name="Shape 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" name="Google Shape;43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9" name="Shape 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Google Shape;50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2" name="Google Shape;52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3" name="Google Shape;53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4" name="Google Shape;54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8.jpg"/><Relationship Id="rId4" Type="http://schemas.openxmlformats.org/officeDocument/2006/relationships/image" Target="../media/image3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9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5.png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4.jp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6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2.xml"/><Relationship Id="rId3" Type="http://schemas.openxmlformats.org/officeDocument/2006/relationships/hyperlink" Target="https://www.accountingcoach.com/blog/what-are-sales" TargetMode="External"/><Relationship Id="rId4" Type="http://schemas.openxmlformats.org/officeDocument/2006/relationships/hyperlink" Target="https://www.accountingcoach.com/blog/what-is-the-break-even-point" TargetMode="Externa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7.png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918294" y="2617216"/>
            <a:ext cx="10642939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C4- BREAK EVEN ANALYSIS AND BREAK EVEN POINT</a:t>
            </a:r>
            <a:br>
              <a:rPr lang="en-GB" u="sng"/>
            </a:br>
            <a:r>
              <a:rPr lang="en-GB" u="sng"/>
              <a:t>LESSON 2 – BREAK EVEN 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BREAKEVEN ANALYSIS </a:t>
            </a:r>
            <a:br>
              <a:rPr lang="en-GB" sz="4000" u="sng"/>
            </a:br>
            <a:r>
              <a:rPr lang="en-GB" sz="4000" u="sng"/>
              <a:t>DATE:</a:t>
            </a:r>
            <a:endParaRPr b="1" sz="40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what is meant by the term ‘breakeven’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calculate the break even point for a given scenario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smiley-face.jpg" id="113" name="Google Shape;113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991600" y="2362200"/>
            <a:ext cx="914400" cy="914400"/>
          </a:xfrm>
          <a:prstGeom prst="rect">
            <a:avLst/>
          </a:prstGeom>
          <a:noFill/>
          <a:ln>
            <a:noFill/>
          </a:ln>
        </p:spPr>
      </p:pic>
      <p:sp>
        <p:nvSpPr>
          <p:cNvPr id="114" name="Google Shape;114;p16"/>
          <p:cNvSpPr txBox="1"/>
          <p:nvPr>
            <p:ph type="title"/>
          </p:nvPr>
        </p:nvSpPr>
        <p:spPr>
          <a:xfrm>
            <a:off x="1747001" y="350520"/>
            <a:ext cx="8562528" cy="75895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DEFINING BREAK-EVEN</a:t>
            </a:r>
            <a:endParaRPr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355599" y="1527048"/>
            <a:ext cx="11345333" cy="4873752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does Break-even mean to you?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Obviously a business wants to make a profit,           and not a loss,            .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At the very least, they want to break even.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 u="sng">
                <a:solidFill>
                  <a:srgbClr val="739A28"/>
                </a:solidFill>
              </a:rPr>
              <a:t>Break-even happens when costs = revenue. </a:t>
            </a:r>
            <a:endParaRPr i="1" sz="3000" u="sng">
              <a:solidFill>
                <a:srgbClr val="739A28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i="1" lang="en-GB" sz="3000" u="sng">
                <a:solidFill>
                  <a:srgbClr val="739A28"/>
                </a:solidFill>
              </a:rPr>
              <a:t>i.e the business is not making any money but it is not losing money either!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ad-smiley.png" id="116" name="Google Shape;116;p1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425267" y="2400300"/>
            <a:ext cx="838200" cy="8382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1" name="Google Shape;121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77496" y="1526219"/>
            <a:ext cx="11164617" cy="2470048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17"/>
          <p:cNvSpPr txBox="1"/>
          <p:nvPr/>
        </p:nvSpPr>
        <p:spPr>
          <a:xfrm>
            <a:off x="4882796" y="4280108"/>
            <a:ext cx="2349041" cy="2400657"/>
          </a:xfrm>
          <a:prstGeom prst="rect">
            <a:avLst/>
          </a:prstGeom>
          <a:solidFill>
            <a:srgbClr val="C1DF87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 even 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 even </a:t>
            </a:r>
            <a:endParaRPr/>
          </a:p>
        </p:txBody>
      </p:sp>
      <p:sp>
        <p:nvSpPr>
          <p:cNvPr id="123" name="Google Shape;123;p17"/>
          <p:cNvSpPr txBox="1"/>
          <p:nvPr>
            <p:ph type="title"/>
          </p:nvPr>
        </p:nvSpPr>
        <p:spPr>
          <a:xfrm>
            <a:off x="1197281" y="185251"/>
            <a:ext cx="9720072" cy="98314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idx="1" type="body"/>
          </p:nvPr>
        </p:nvSpPr>
        <p:spPr>
          <a:xfrm>
            <a:off x="677333" y="1405467"/>
            <a:ext cx="11209867" cy="5147733"/>
          </a:xfrm>
          <a:prstGeom prst="rect">
            <a:avLst/>
          </a:prstGeom>
          <a:noFill/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651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A business will want to know how many products it will need to sell to break even and cover its costs.</a:t>
            </a:r>
            <a:endParaRPr sz="2600"/>
          </a:p>
          <a:p>
            <a:pPr indent="-1651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What would we need to know to work out the break-even point?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selling price of one unit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variable cost of one unit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fixed costs</a:t>
            </a:r>
            <a:endParaRPr sz="2600"/>
          </a:p>
          <a:p>
            <a:pPr indent="-1651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The formula to work out the break-even point is: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-1651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Break-Even Point =	</a:t>
            </a:r>
            <a:endParaRPr/>
          </a:p>
          <a:p>
            <a:pPr indent="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29" name="Google Shape;129;p18"/>
          <p:cNvSpPr txBox="1"/>
          <p:nvPr/>
        </p:nvSpPr>
        <p:spPr>
          <a:xfrm>
            <a:off x="5715000" y="5257801"/>
            <a:ext cx="2286000" cy="43088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30" name="Google Shape;130;p18"/>
          <p:cNvCxnSpPr/>
          <p:nvPr/>
        </p:nvCxnSpPr>
        <p:spPr>
          <a:xfrm>
            <a:off x="4876800" y="5715000"/>
            <a:ext cx="36576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31" name="Google Shape;131;p18"/>
          <p:cNvSpPr txBox="1"/>
          <p:nvPr/>
        </p:nvSpPr>
        <p:spPr>
          <a:xfrm>
            <a:off x="4495800" y="5867400"/>
            <a:ext cx="54102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32" name="Google Shape;132;p18"/>
          <p:cNvSpPr txBox="1"/>
          <p:nvPr>
            <p:ph type="title"/>
          </p:nvPr>
        </p:nvSpPr>
        <p:spPr>
          <a:xfrm>
            <a:off x="1302343" y="230479"/>
            <a:ext cx="9720072" cy="1005501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400"/>
              <a:buFont typeface="Twentieth Century"/>
              <a:buNone/>
            </a:pPr>
            <a:r>
              <a:rPr lang="en-GB" sz="5400" u="sng"/>
              <a:t>CALCULATING THE BREAK-EVEN POINT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>
            <p:ph idx="1" type="body"/>
          </p:nvPr>
        </p:nvSpPr>
        <p:spPr>
          <a:xfrm>
            <a:off x="1074927" y="1253068"/>
            <a:ext cx="10727605" cy="543560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E.g. If I make boxes and the variable cost is 50p, and then I sell them for £2.50, I will be making a £2 on each box.</a:t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fixed costs of £1000- How many boxes do I have to sell to pay for my costs? 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None/>
            </a:pPr>
            <a:r>
              <a:t/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Selling price (£2.50) – VC (£0.50)= £2.00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Next step: £1000 (FC) / £2.00=  500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None/>
            </a:pPr>
            <a:r>
              <a:t/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must sell 500 boxes to pay off the fixed costs.</a:t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hit the BREAK-EVEN POINT!!!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paid off all the costs, but not making a profit or a loss. </a:t>
            </a:r>
            <a:endParaRPr/>
          </a:p>
        </p:txBody>
      </p:sp>
      <p:grpSp>
        <p:nvGrpSpPr>
          <p:cNvPr id="138" name="Google Shape;138;p19"/>
          <p:cNvGrpSpPr/>
          <p:nvPr/>
        </p:nvGrpSpPr>
        <p:grpSpPr>
          <a:xfrm>
            <a:off x="6586265" y="3684693"/>
            <a:ext cx="3809540" cy="863262"/>
            <a:chOff x="4373948" y="3023315"/>
            <a:chExt cx="3809540" cy="863262"/>
          </a:xfrm>
        </p:grpSpPr>
        <p:sp>
          <p:nvSpPr>
            <p:cNvPr id="139" name="Google Shape;139;p19"/>
            <p:cNvSpPr txBox="1"/>
            <p:nvPr/>
          </p:nvSpPr>
          <p:spPr>
            <a:xfrm>
              <a:off x="5688124" y="3023315"/>
              <a:ext cx="1154853" cy="307777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4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Fixed Costs</a:t>
              </a:r>
              <a:endParaRPr/>
            </a:p>
          </p:txBody>
        </p:sp>
        <p:cxnSp>
          <p:nvCxnSpPr>
            <p:cNvPr id="140" name="Google Shape;140;p19"/>
            <p:cNvCxnSpPr/>
            <p:nvPr/>
          </p:nvCxnSpPr>
          <p:spPr>
            <a:xfrm>
              <a:off x="4525888" y="3454152"/>
              <a:ext cx="3657600" cy="1588"/>
            </a:xfrm>
            <a:prstGeom prst="straightConnector1">
              <a:avLst/>
            </a:prstGeom>
            <a:noFill/>
            <a:ln cap="flat" cmpd="sng" w="55875">
              <a:solidFill>
                <a:schemeClr val="dk1"/>
              </a:solidFill>
              <a:prstDash val="solid"/>
              <a:round/>
              <a:headEnd len="sm" w="sm" type="none"/>
              <a:tailEnd len="sm" w="sm" type="none"/>
            </a:ln>
          </p:spPr>
        </p:cxnSp>
        <p:sp>
          <p:nvSpPr>
            <p:cNvPr id="141" name="Google Shape;141;p19"/>
            <p:cNvSpPr txBox="1"/>
            <p:nvPr/>
          </p:nvSpPr>
          <p:spPr>
            <a:xfrm>
              <a:off x="4373948" y="3578800"/>
              <a:ext cx="3778209" cy="307777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4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Selling price per unit – variable cost per unit</a:t>
              </a:r>
              <a:endParaRPr/>
            </a:p>
          </p:txBody>
        </p:sp>
      </p:grpSp>
      <p:sp>
        <p:nvSpPr>
          <p:cNvPr id="142" name="Google Shape;142;p19"/>
          <p:cNvSpPr txBox="1"/>
          <p:nvPr>
            <p:ph type="title"/>
          </p:nvPr>
        </p:nvSpPr>
        <p:spPr>
          <a:xfrm>
            <a:off x="1074928" y="277439"/>
            <a:ext cx="9720072" cy="818772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HOW DOES THIS ALL WORK?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6" name="Shape 1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1024128" y="1436697"/>
            <a:ext cx="10837504" cy="511154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Example: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It costs me £30 in materials and wages to make a wardrobe.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I sell wardrobes for £80 each.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My rent and office salaries come to £1000.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 Break-even =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9144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			= 20 wardrobes to break-even </a:t>
            </a:r>
            <a:endParaRPr/>
          </a:p>
        </p:txBody>
      </p:sp>
      <p:sp>
        <p:nvSpPr>
          <p:cNvPr id="148" name="Google Shape;148;p20"/>
          <p:cNvSpPr txBox="1"/>
          <p:nvPr/>
        </p:nvSpPr>
        <p:spPr>
          <a:xfrm>
            <a:off x="4495800" y="3733801"/>
            <a:ext cx="1447800" cy="43088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£1000</a:t>
            </a:r>
            <a:endParaRPr/>
          </a:p>
        </p:txBody>
      </p:sp>
      <p:cxnSp>
        <p:nvCxnSpPr>
          <p:cNvPr id="149" name="Google Shape;149;p20"/>
          <p:cNvCxnSpPr/>
          <p:nvPr/>
        </p:nvCxnSpPr>
        <p:spPr>
          <a:xfrm>
            <a:off x="4267200" y="4267200"/>
            <a:ext cx="18288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50" name="Google Shape;150;p20"/>
          <p:cNvSpPr txBox="1"/>
          <p:nvPr/>
        </p:nvSpPr>
        <p:spPr>
          <a:xfrm>
            <a:off x="4572000" y="4343400"/>
            <a:ext cx="12954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£80 - £30</a:t>
            </a:r>
            <a:endParaRPr/>
          </a:p>
        </p:txBody>
      </p:sp>
      <p:sp>
        <p:nvSpPr>
          <p:cNvPr id="151" name="Google Shape;151;p20"/>
          <p:cNvSpPr txBox="1"/>
          <p:nvPr/>
        </p:nvSpPr>
        <p:spPr>
          <a:xfrm>
            <a:off x="7900442" y="3684694"/>
            <a:ext cx="1154853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52" name="Google Shape;152;p20"/>
          <p:cNvCxnSpPr/>
          <p:nvPr/>
        </p:nvCxnSpPr>
        <p:spPr>
          <a:xfrm>
            <a:off x="6738205" y="4115530"/>
            <a:ext cx="36576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53" name="Google Shape;153;p20"/>
          <p:cNvSpPr txBox="1"/>
          <p:nvPr/>
        </p:nvSpPr>
        <p:spPr>
          <a:xfrm>
            <a:off x="6586266" y="4240179"/>
            <a:ext cx="3778209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54" name="Google Shape;154;p20"/>
          <p:cNvSpPr txBox="1"/>
          <p:nvPr>
            <p:ph type="title"/>
          </p:nvPr>
        </p:nvSpPr>
        <p:spPr>
          <a:xfrm>
            <a:off x="1024128" y="346331"/>
            <a:ext cx="9720072" cy="90723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ALL TOGETHER NOW…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8" name="Shape 1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9" name="Google Shape;159;p21"/>
          <p:cNvSpPr txBox="1"/>
          <p:nvPr>
            <p:ph idx="1" type="body"/>
          </p:nvPr>
        </p:nvSpPr>
        <p:spPr>
          <a:xfrm>
            <a:off x="1024128" y="1196949"/>
            <a:ext cx="10795339" cy="5542517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selling price is £200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variable costs are £80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Fixed costs are £400.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Work out the break-even point.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How much profit or loss will I make if I sell the following?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11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15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7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5 Units</a:t>
            </a:r>
            <a:endParaRPr/>
          </a:p>
        </p:txBody>
      </p:sp>
      <p:sp>
        <p:nvSpPr>
          <p:cNvPr id="160" name="Google Shape;160;p21"/>
          <p:cNvSpPr txBox="1"/>
          <p:nvPr/>
        </p:nvSpPr>
        <p:spPr>
          <a:xfrm>
            <a:off x="7690285" y="4726356"/>
            <a:ext cx="1410207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61" name="Google Shape;161;p21"/>
          <p:cNvCxnSpPr/>
          <p:nvPr/>
        </p:nvCxnSpPr>
        <p:spPr>
          <a:xfrm>
            <a:off x="6528048" y="5157192"/>
            <a:ext cx="4466347" cy="4987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62" name="Google Shape;162;p21"/>
          <p:cNvSpPr txBox="1"/>
          <p:nvPr/>
        </p:nvSpPr>
        <p:spPr>
          <a:xfrm>
            <a:off x="6376109" y="5281841"/>
            <a:ext cx="4613624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63" name="Google Shape;163;p21"/>
          <p:cNvSpPr txBox="1"/>
          <p:nvPr>
            <p:ph type="title"/>
          </p:nvPr>
        </p:nvSpPr>
        <p:spPr>
          <a:xfrm>
            <a:off x="1830131" y="231831"/>
            <a:ext cx="9395834" cy="81940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2"/>
          <p:cNvSpPr txBox="1"/>
          <p:nvPr>
            <p:ph idx="1" type="body"/>
          </p:nvPr>
        </p:nvSpPr>
        <p:spPr>
          <a:xfrm>
            <a:off x="1024128" y="1196949"/>
            <a:ext cx="10795339" cy="5542517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selling price is £300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variable costs are £50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Fixed costs are £1000.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Work out the break-even point.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How much profit or loss will I make if the following changes happen?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selling price changes to £350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variable costs change to £65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fixed costs change to £1500 </a:t>
            </a:r>
            <a:endParaRPr/>
          </a:p>
        </p:txBody>
      </p:sp>
      <p:sp>
        <p:nvSpPr>
          <p:cNvPr id="169" name="Google Shape;169;p22"/>
          <p:cNvSpPr txBox="1"/>
          <p:nvPr/>
        </p:nvSpPr>
        <p:spPr>
          <a:xfrm>
            <a:off x="8515357" y="4248562"/>
            <a:ext cx="1410207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70" name="Google Shape;170;p22"/>
          <p:cNvCxnSpPr/>
          <p:nvPr/>
        </p:nvCxnSpPr>
        <p:spPr>
          <a:xfrm>
            <a:off x="7353120" y="4679398"/>
            <a:ext cx="4466347" cy="4987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71" name="Google Shape;171;p22"/>
          <p:cNvSpPr txBox="1"/>
          <p:nvPr/>
        </p:nvSpPr>
        <p:spPr>
          <a:xfrm>
            <a:off x="7201181" y="4804047"/>
            <a:ext cx="4613624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72" name="Google Shape;172;p22"/>
          <p:cNvSpPr txBox="1"/>
          <p:nvPr>
            <p:ph type="title"/>
          </p:nvPr>
        </p:nvSpPr>
        <p:spPr>
          <a:xfrm>
            <a:off x="1830131" y="231831"/>
            <a:ext cx="9395834" cy="81940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3"/>
          <p:cNvSpPr txBox="1"/>
          <p:nvPr>
            <p:ph type="title"/>
          </p:nvPr>
        </p:nvSpPr>
        <p:spPr>
          <a:xfrm>
            <a:off x="1032366" y="205946"/>
            <a:ext cx="9720072" cy="897924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id="178" name="Google Shape;17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400" y="1600200"/>
            <a:ext cx="8839200" cy="480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179" name="Google Shape;179;p23"/>
          <p:cNvSpPr txBox="1"/>
          <p:nvPr/>
        </p:nvSpPr>
        <p:spPr>
          <a:xfrm>
            <a:off x="5424014" y="1844824"/>
            <a:ext cx="600805" cy="923330"/>
          </a:xfrm>
          <a:prstGeom prst="rect">
            <a:avLst/>
          </a:prstGeom>
          <a:solidFill>
            <a:srgbClr val="D5EAAE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AP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CVC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CFC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3" name="Shape 1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" name="Google Shape;184;p24"/>
          <p:cNvSpPr txBox="1"/>
          <p:nvPr>
            <p:ph type="title"/>
          </p:nvPr>
        </p:nvSpPr>
        <p:spPr>
          <a:xfrm>
            <a:off x="1278128" y="297349"/>
            <a:ext cx="9720072" cy="1091184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sp>
        <p:nvSpPr>
          <p:cNvPr id="185" name="Google Shape;185;p24"/>
          <p:cNvSpPr txBox="1"/>
          <p:nvPr>
            <p:ph idx="1" type="body"/>
          </p:nvPr>
        </p:nvSpPr>
        <p:spPr>
          <a:xfrm>
            <a:off x="1278128" y="17272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FF00FF"/>
                </a:solidFill>
              </a:rPr>
              <a:t>Summarise what you have learned today in exactly 30 words.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FF00FF"/>
                </a:solidFill>
              </a:rPr>
              <a:t>Share this with your shoulder partner. </a:t>
            </a:r>
            <a:endParaRPr i="1" sz="3000">
              <a:solidFill>
                <a:srgbClr val="FF00FF"/>
              </a:solidFill>
            </a:endParaRPr>
          </a:p>
        </p:txBody>
      </p:sp>
      <p:pic>
        <p:nvPicPr>
          <p:cNvPr id="186" name="Google Shape;186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979164" y="2988733"/>
            <a:ext cx="4318000" cy="3530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0" name="Shape 1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1" name="Google Shape;191;p25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BREAKEVEN CONTINUED</a:t>
            </a:r>
            <a:br>
              <a:rPr lang="en-GB" u="sng"/>
            </a:br>
            <a:r>
              <a:rPr lang="en-GB" u="sng"/>
              <a:t>LESSON 3  </a:t>
            </a:r>
            <a:endParaRPr u="sng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5" name="Shape 1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6" name="Google Shape;196;p26"/>
          <p:cNvSpPr txBox="1"/>
          <p:nvPr>
            <p:ph type="title"/>
          </p:nvPr>
        </p:nvSpPr>
        <p:spPr>
          <a:xfrm>
            <a:off x="4574710" y="245533"/>
            <a:ext cx="3279648" cy="758952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 </a:t>
            </a:r>
            <a:endParaRPr u="sng"/>
          </a:p>
        </p:txBody>
      </p:sp>
      <p:sp>
        <p:nvSpPr>
          <p:cNvPr id="197" name="Google Shape;197;p26"/>
          <p:cNvSpPr txBox="1"/>
          <p:nvPr>
            <p:ph idx="1" type="body"/>
          </p:nvPr>
        </p:nvSpPr>
        <p:spPr>
          <a:xfrm>
            <a:off x="491067" y="1354667"/>
            <a:ext cx="11446934" cy="5096933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the definition of the break-even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3 pieces of information do you need to calculate the break 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the formula used to calculate the break-even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Your selling price per unit is £25, your variable costs per unit are £7 and your fixed costs are £1200. Use these to calculate the break-even point.  </a:t>
            </a:r>
            <a:r>
              <a:rPr lang="en-GB" sz="3000">
                <a:solidFill>
                  <a:schemeClr val="dk1"/>
                </a:solidFill>
              </a:rPr>
              <a:t>2 marks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Now you will mark each others!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27"/>
          <p:cNvSpPr txBox="1"/>
          <p:nvPr>
            <p:ph type="title"/>
          </p:nvPr>
        </p:nvSpPr>
        <p:spPr>
          <a:xfrm>
            <a:off x="4574710" y="245533"/>
            <a:ext cx="3279648" cy="758952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 u="sng"/>
          </a:p>
        </p:txBody>
      </p:sp>
      <p:sp>
        <p:nvSpPr>
          <p:cNvPr id="203" name="Google Shape;203;p27"/>
          <p:cNvSpPr txBox="1"/>
          <p:nvPr>
            <p:ph idx="1" type="body"/>
          </p:nvPr>
        </p:nvSpPr>
        <p:spPr>
          <a:xfrm>
            <a:off x="491067" y="1354667"/>
            <a:ext cx="11446934" cy="5096933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</a:pPr>
            <a:r>
              <a:rPr lang="en-GB" sz="6000"/>
              <a:t>Complete the Breakeven Worksheet. Remember to look back at your notes if you get stuck. </a:t>
            </a:r>
            <a:endParaRPr sz="6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20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28"/>
          <p:cNvSpPr txBox="1"/>
          <p:nvPr>
            <p:ph type="title"/>
          </p:nvPr>
        </p:nvSpPr>
        <p:spPr>
          <a:xfrm>
            <a:off x="1847528" y="125824"/>
            <a:ext cx="8534400" cy="760784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ACTIVITY 2 – YOUR TURN!</a:t>
            </a:r>
            <a:endParaRPr b="1"/>
          </a:p>
        </p:txBody>
      </p:sp>
      <p:pic>
        <p:nvPicPr>
          <p:cNvPr id="209" name="Google Shape;209;p2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26533" y="1067408"/>
            <a:ext cx="11247754" cy="3199792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210" name="Google Shape;210;p28"/>
          <p:cNvGrpSpPr/>
          <p:nvPr/>
        </p:nvGrpSpPr>
        <p:grpSpPr>
          <a:xfrm>
            <a:off x="2770642" y="4628801"/>
            <a:ext cx="5983891" cy="1931261"/>
            <a:chOff x="4373948" y="3051742"/>
            <a:chExt cx="3809540" cy="1111718"/>
          </a:xfrm>
        </p:grpSpPr>
        <p:sp>
          <p:nvSpPr>
            <p:cNvPr id="211" name="Google Shape;211;p28"/>
            <p:cNvSpPr txBox="1"/>
            <p:nvPr/>
          </p:nvSpPr>
          <p:spPr>
            <a:xfrm>
              <a:off x="5402168" y="3051742"/>
              <a:ext cx="1768990" cy="318905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GB" sz="30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Fixed Costs</a:t>
              </a:r>
              <a:endParaRPr/>
            </a:p>
          </p:txBody>
        </p:sp>
        <p:cxnSp>
          <p:nvCxnSpPr>
            <p:cNvPr id="212" name="Google Shape;212;p28"/>
            <p:cNvCxnSpPr/>
            <p:nvPr/>
          </p:nvCxnSpPr>
          <p:spPr>
            <a:xfrm>
              <a:off x="4525888" y="3454152"/>
              <a:ext cx="3657600" cy="1588"/>
            </a:xfrm>
            <a:prstGeom prst="straightConnector1">
              <a:avLst/>
            </a:prstGeom>
            <a:noFill/>
            <a:ln cap="flat" cmpd="sng" w="55875">
              <a:solidFill>
                <a:schemeClr val="dk1"/>
              </a:solidFill>
              <a:prstDash val="solid"/>
              <a:round/>
              <a:headEnd len="sm" w="sm" type="none"/>
              <a:tailEnd len="sm" w="sm" type="none"/>
            </a:ln>
          </p:spPr>
        </p:cxnSp>
        <p:sp>
          <p:nvSpPr>
            <p:cNvPr id="213" name="Google Shape;213;p28"/>
            <p:cNvSpPr txBox="1"/>
            <p:nvPr/>
          </p:nvSpPr>
          <p:spPr>
            <a:xfrm>
              <a:off x="4373948" y="3578800"/>
              <a:ext cx="3778209" cy="584660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GB" sz="30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Selling price per unit – variable cost per unit</a:t>
              </a:r>
              <a:endParaRPr/>
            </a:p>
          </p:txBody>
        </p:sp>
      </p:grp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29"/>
          <p:cNvSpPr txBox="1"/>
          <p:nvPr>
            <p:ph type="title"/>
          </p:nvPr>
        </p:nvSpPr>
        <p:spPr>
          <a:xfrm>
            <a:off x="1024127" y="263483"/>
            <a:ext cx="10168805" cy="14996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lang="en-GB" sz="4200" u="sng"/>
              <a:t>C4- VALUE AND IMPORTANCE OF BREAK EVEN ANALYSIS </a:t>
            </a:r>
            <a:endParaRPr sz="4200" u="sng"/>
          </a:p>
        </p:txBody>
      </p:sp>
      <p:sp>
        <p:nvSpPr>
          <p:cNvPr id="219" name="Google Shape;219;p29"/>
          <p:cNvSpPr txBox="1"/>
          <p:nvPr>
            <p:ph idx="1" type="body"/>
          </p:nvPr>
        </p:nvSpPr>
        <p:spPr>
          <a:xfrm>
            <a:off x="1024128" y="2099733"/>
            <a:ext cx="10168804" cy="4209627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Break-even analysis enables a business organization to: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Measure profit and losses at different levels of production and sales.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Predict the effect of changes in sales prices.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Analyse the relationship between fixed and variable costs.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Plan and make reasonable changes if break even figure is too high or unrealistic to achieve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0"/>
          <p:cNvSpPr txBox="1"/>
          <p:nvPr>
            <p:ph type="title"/>
          </p:nvPr>
        </p:nvSpPr>
        <p:spPr>
          <a:xfrm>
            <a:off x="1176527" y="128016"/>
            <a:ext cx="10270405" cy="14996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C4- LIMITATIONS OF BREAK EVEN ANALYSIS </a:t>
            </a:r>
            <a:endParaRPr u="sng"/>
          </a:p>
        </p:txBody>
      </p:sp>
      <p:sp>
        <p:nvSpPr>
          <p:cNvPr id="225" name="Google Shape;225;p30"/>
          <p:cNvSpPr txBox="1"/>
          <p:nvPr>
            <p:ph idx="1" type="body"/>
          </p:nvPr>
        </p:nvSpPr>
        <p:spPr>
          <a:xfrm>
            <a:off x="1176527" y="1981200"/>
            <a:ext cx="10270405" cy="3979333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Assumes that sales prices are constant at all levels of output.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Assumes production and sales are the same.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Break even charts may be time consuming to prepare.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It can only apply to a single product or single mix of products.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31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Breakeven chart look like?</a:t>
            </a:r>
            <a:endParaRPr/>
          </a:p>
        </p:txBody>
      </p:sp>
      <p:sp>
        <p:nvSpPr>
          <p:cNvPr id="232" name="Google Shape;232;p31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sp>
        <p:nvSpPr>
          <p:cNvPr id="233" name="Google Shape;233;p31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cxnSp>
        <p:nvCxnSpPr>
          <p:cNvPr id="234" name="Google Shape;234;p31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35" name="Google Shape;235;p31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36" name="Google Shape;236;p31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37" name="Google Shape;237;p31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cxnSp>
        <p:nvCxnSpPr>
          <p:cNvPr id="238" name="Google Shape;238;p31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A6D5E2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39" name="Google Shape;239;p31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sp>
        <p:nvSpPr>
          <p:cNvPr id="240" name="Google Shape;240;p31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41" name="Google Shape;241;p31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242" name="Google Shape;242;p31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2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cxnSp>
        <p:nvCxnSpPr>
          <p:cNvPr id="249" name="Google Shape;249;p32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0" name="Google Shape;250;p32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1" name="Google Shape;251;p32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52" name="Google Shape;252;p32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sp>
        <p:nvSpPr>
          <p:cNvPr id="253" name="Google Shape;253;p32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sp>
        <p:nvSpPr>
          <p:cNvPr id="254" name="Google Shape;254;p32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Breakeven chart look like?</a:t>
            </a:r>
            <a:endParaRPr/>
          </a:p>
        </p:txBody>
      </p:sp>
      <p:cxnSp>
        <p:nvCxnSpPr>
          <p:cNvPr id="255" name="Google Shape;255;p32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56" name="Google Shape;256;p32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cxnSp>
        <p:nvCxnSpPr>
          <p:cNvPr id="257" name="Google Shape;257;p32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000099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8" name="Google Shape;258;p32"/>
          <p:cNvCxnSpPr/>
          <p:nvPr/>
        </p:nvCxnSpPr>
        <p:spPr>
          <a:xfrm flipH="1">
            <a:off x="3503613" y="4508501"/>
            <a:ext cx="215900" cy="360363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59" name="Google Shape;259;p32"/>
          <p:cNvCxnSpPr/>
          <p:nvPr/>
        </p:nvCxnSpPr>
        <p:spPr>
          <a:xfrm flipH="1">
            <a:off x="3719513" y="4365625"/>
            <a:ext cx="431800" cy="719138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0" name="Google Shape;260;p32"/>
          <p:cNvCxnSpPr/>
          <p:nvPr/>
        </p:nvCxnSpPr>
        <p:spPr>
          <a:xfrm flipH="1">
            <a:off x="4367213" y="4149725"/>
            <a:ext cx="360362" cy="647700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1" name="Google Shape;261;p32"/>
          <p:cNvCxnSpPr/>
          <p:nvPr/>
        </p:nvCxnSpPr>
        <p:spPr>
          <a:xfrm flipH="1">
            <a:off x="4943475" y="4005263"/>
            <a:ext cx="215900" cy="360362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2" name="Google Shape;262;p32"/>
          <p:cNvCxnSpPr/>
          <p:nvPr/>
        </p:nvCxnSpPr>
        <p:spPr>
          <a:xfrm flipH="1" rot="10800000">
            <a:off x="7175501" y="2852738"/>
            <a:ext cx="288925" cy="36036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3" name="Google Shape;263;p32"/>
          <p:cNvCxnSpPr/>
          <p:nvPr/>
        </p:nvCxnSpPr>
        <p:spPr>
          <a:xfrm flipH="1" rot="10800000">
            <a:off x="7680326" y="2565401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4" name="Google Shape;264;p32"/>
          <p:cNvCxnSpPr/>
          <p:nvPr/>
        </p:nvCxnSpPr>
        <p:spPr>
          <a:xfrm flipH="1" rot="10800000">
            <a:off x="8040689" y="2492376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65" name="Google Shape;265;p32"/>
          <p:cNvSpPr txBox="1"/>
          <p:nvPr/>
        </p:nvSpPr>
        <p:spPr>
          <a:xfrm>
            <a:off x="3648075" y="2924176"/>
            <a:ext cx="1511300" cy="5191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</p:txBody>
      </p:sp>
      <p:sp>
        <p:nvSpPr>
          <p:cNvPr id="266" name="Google Shape;266;p32"/>
          <p:cNvSpPr txBox="1"/>
          <p:nvPr/>
        </p:nvSpPr>
        <p:spPr>
          <a:xfrm>
            <a:off x="6527801" y="1989138"/>
            <a:ext cx="1223963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</p:txBody>
      </p:sp>
      <p:sp>
        <p:nvSpPr>
          <p:cNvPr id="267" name="Google Shape;267;p32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68" name="Google Shape;268;p32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269" name="Google Shape;269;p32"/>
          <p:cNvCxnSpPr/>
          <p:nvPr/>
        </p:nvCxnSpPr>
        <p:spPr>
          <a:xfrm>
            <a:off x="6311900" y="3644900"/>
            <a:ext cx="0" cy="208915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270" name="Google Shape;270;p32"/>
          <p:cNvCxnSpPr/>
          <p:nvPr/>
        </p:nvCxnSpPr>
        <p:spPr>
          <a:xfrm>
            <a:off x="4440238" y="4149726"/>
            <a:ext cx="0" cy="1584325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271" name="Google Shape;271;p32"/>
          <p:cNvCxnSpPr/>
          <p:nvPr/>
        </p:nvCxnSpPr>
        <p:spPr>
          <a:xfrm>
            <a:off x="7896225" y="2420938"/>
            <a:ext cx="0" cy="3313112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lgDash"/>
            <a:round/>
            <a:headEnd len="med" w="med" type="none"/>
            <a:tailEnd len="med" w="med" type="none"/>
          </a:ln>
        </p:spPr>
      </p:cxnSp>
      <p:sp>
        <p:nvSpPr>
          <p:cNvPr id="272" name="Google Shape;272;p32"/>
          <p:cNvSpPr txBox="1"/>
          <p:nvPr/>
        </p:nvSpPr>
        <p:spPr>
          <a:xfrm>
            <a:off x="4079876" y="5805488"/>
            <a:ext cx="792163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Units</a:t>
            </a:r>
            <a:endParaRPr/>
          </a:p>
        </p:txBody>
      </p:sp>
      <p:sp>
        <p:nvSpPr>
          <p:cNvPr id="273" name="Google Shape;273;p32"/>
          <p:cNvSpPr txBox="1"/>
          <p:nvPr/>
        </p:nvSpPr>
        <p:spPr>
          <a:xfrm>
            <a:off x="58086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Units</a:t>
            </a:r>
            <a:endParaRPr/>
          </a:p>
        </p:txBody>
      </p:sp>
      <p:sp>
        <p:nvSpPr>
          <p:cNvPr id="274" name="Google Shape;274;p32"/>
          <p:cNvSpPr txBox="1"/>
          <p:nvPr/>
        </p:nvSpPr>
        <p:spPr>
          <a:xfrm>
            <a:off x="75358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150 Units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3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cxnSp>
        <p:nvCxnSpPr>
          <p:cNvPr id="280" name="Google Shape;280;p33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1" name="Google Shape;281;p33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2" name="Google Shape;282;p33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83" name="Google Shape;283;p33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sp>
        <p:nvSpPr>
          <p:cNvPr id="284" name="Google Shape;284;p33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sp>
        <p:nvSpPr>
          <p:cNvPr id="285" name="Google Shape;285;p33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800">
                <a:solidFill>
                  <a:schemeClr val="dk2"/>
                </a:solidFill>
                <a:latin typeface="Comic Sans MS"/>
                <a:ea typeface="Comic Sans MS"/>
                <a:cs typeface="Comic Sans MS"/>
                <a:sym typeface="Comic Sans MS"/>
              </a:rPr>
              <a:t>The Margin of Safety?</a:t>
            </a:r>
            <a:endParaRPr/>
          </a:p>
        </p:txBody>
      </p:sp>
      <p:cxnSp>
        <p:nvCxnSpPr>
          <p:cNvPr id="286" name="Google Shape;286;p33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87" name="Google Shape;287;p33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cxnSp>
        <p:nvCxnSpPr>
          <p:cNvPr id="288" name="Google Shape;288;p33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000099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9" name="Google Shape;289;p33"/>
          <p:cNvCxnSpPr/>
          <p:nvPr/>
        </p:nvCxnSpPr>
        <p:spPr>
          <a:xfrm flipH="1">
            <a:off x="3503613" y="4508501"/>
            <a:ext cx="215900" cy="360363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0" name="Google Shape;290;p33"/>
          <p:cNvCxnSpPr/>
          <p:nvPr/>
        </p:nvCxnSpPr>
        <p:spPr>
          <a:xfrm flipH="1">
            <a:off x="3719513" y="4365625"/>
            <a:ext cx="431800" cy="719138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1" name="Google Shape;291;p33"/>
          <p:cNvCxnSpPr/>
          <p:nvPr/>
        </p:nvCxnSpPr>
        <p:spPr>
          <a:xfrm flipH="1">
            <a:off x="4367213" y="4149725"/>
            <a:ext cx="360362" cy="647700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2" name="Google Shape;292;p33"/>
          <p:cNvCxnSpPr/>
          <p:nvPr/>
        </p:nvCxnSpPr>
        <p:spPr>
          <a:xfrm flipH="1">
            <a:off x="4943475" y="4005263"/>
            <a:ext cx="215900" cy="360362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3" name="Google Shape;293;p33"/>
          <p:cNvCxnSpPr/>
          <p:nvPr/>
        </p:nvCxnSpPr>
        <p:spPr>
          <a:xfrm flipH="1" rot="10800000">
            <a:off x="7175501" y="2852738"/>
            <a:ext cx="288925" cy="36036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4" name="Google Shape;294;p33"/>
          <p:cNvCxnSpPr/>
          <p:nvPr/>
        </p:nvCxnSpPr>
        <p:spPr>
          <a:xfrm flipH="1" rot="10800000">
            <a:off x="7680326" y="2565401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5" name="Google Shape;295;p33"/>
          <p:cNvCxnSpPr/>
          <p:nvPr/>
        </p:nvCxnSpPr>
        <p:spPr>
          <a:xfrm flipH="1" rot="10800000">
            <a:off x="8040689" y="2492376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96" name="Google Shape;296;p33"/>
          <p:cNvSpPr txBox="1"/>
          <p:nvPr/>
        </p:nvSpPr>
        <p:spPr>
          <a:xfrm>
            <a:off x="3648075" y="2924176"/>
            <a:ext cx="1511300" cy="5191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</p:txBody>
      </p:sp>
      <p:sp>
        <p:nvSpPr>
          <p:cNvPr id="297" name="Google Shape;297;p33"/>
          <p:cNvSpPr txBox="1"/>
          <p:nvPr/>
        </p:nvSpPr>
        <p:spPr>
          <a:xfrm>
            <a:off x="6527801" y="1989138"/>
            <a:ext cx="1223963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</p:txBody>
      </p:sp>
      <p:sp>
        <p:nvSpPr>
          <p:cNvPr id="298" name="Google Shape;298;p33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99" name="Google Shape;299;p33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300" name="Google Shape;300;p33"/>
          <p:cNvCxnSpPr/>
          <p:nvPr/>
        </p:nvCxnSpPr>
        <p:spPr>
          <a:xfrm>
            <a:off x="6311900" y="3644900"/>
            <a:ext cx="0" cy="208915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301" name="Google Shape;301;p33"/>
          <p:cNvCxnSpPr/>
          <p:nvPr/>
        </p:nvCxnSpPr>
        <p:spPr>
          <a:xfrm>
            <a:off x="4440238" y="4149726"/>
            <a:ext cx="0" cy="1584325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302" name="Google Shape;302;p33"/>
          <p:cNvCxnSpPr/>
          <p:nvPr/>
        </p:nvCxnSpPr>
        <p:spPr>
          <a:xfrm>
            <a:off x="7896225" y="2420938"/>
            <a:ext cx="0" cy="3313112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lgDash"/>
            <a:round/>
            <a:headEnd len="med" w="med" type="none"/>
            <a:tailEnd len="med" w="med" type="none"/>
          </a:ln>
        </p:spPr>
      </p:cxnSp>
      <p:sp>
        <p:nvSpPr>
          <p:cNvPr id="303" name="Google Shape;303;p33"/>
          <p:cNvSpPr txBox="1"/>
          <p:nvPr/>
        </p:nvSpPr>
        <p:spPr>
          <a:xfrm>
            <a:off x="4079876" y="5805488"/>
            <a:ext cx="792163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Units</a:t>
            </a:r>
            <a:endParaRPr/>
          </a:p>
        </p:txBody>
      </p:sp>
      <p:sp>
        <p:nvSpPr>
          <p:cNvPr id="304" name="Google Shape;304;p33"/>
          <p:cNvSpPr txBox="1"/>
          <p:nvPr/>
        </p:nvSpPr>
        <p:spPr>
          <a:xfrm>
            <a:off x="58086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Units</a:t>
            </a:r>
            <a:endParaRPr/>
          </a:p>
        </p:txBody>
      </p:sp>
      <p:sp>
        <p:nvSpPr>
          <p:cNvPr id="305" name="Google Shape;305;p33"/>
          <p:cNvSpPr txBox="1"/>
          <p:nvPr/>
        </p:nvSpPr>
        <p:spPr>
          <a:xfrm>
            <a:off x="75358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150 Units</a:t>
            </a:r>
            <a:endParaRPr/>
          </a:p>
        </p:txBody>
      </p:sp>
      <p:cxnSp>
        <p:nvCxnSpPr>
          <p:cNvPr id="306" name="Google Shape;306;p33"/>
          <p:cNvCxnSpPr/>
          <p:nvPr/>
        </p:nvCxnSpPr>
        <p:spPr>
          <a:xfrm>
            <a:off x="6383338" y="5445125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cxnSp>
        <p:nvCxnSpPr>
          <p:cNvPr id="307" name="Google Shape;307;p33"/>
          <p:cNvCxnSpPr/>
          <p:nvPr/>
        </p:nvCxnSpPr>
        <p:spPr>
          <a:xfrm>
            <a:off x="6383338" y="5084763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cxnSp>
        <p:nvCxnSpPr>
          <p:cNvPr id="308" name="Google Shape;308;p33"/>
          <p:cNvCxnSpPr/>
          <p:nvPr/>
        </p:nvCxnSpPr>
        <p:spPr>
          <a:xfrm>
            <a:off x="6383338" y="4652963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sp>
        <p:nvSpPr>
          <p:cNvPr id="309" name="Google Shape;309;p33"/>
          <p:cNvSpPr txBox="1"/>
          <p:nvPr/>
        </p:nvSpPr>
        <p:spPr>
          <a:xfrm>
            <a:off x="7896226" y="4913313"/>
            <a:ext cx="2555875" cy="400110"/>
          </a:xfrm>
          <a:prstGeom prst="rect">
            <a:avLst/>
          </a:prstGeom>
          <a:solidFill>
            <a:srgbClr val="00FF00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3" name="Shape 3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4" name="Google Shape;314;p34"/>
          <p:cNvSpPr/>
          <p:nvPr/>
        </p:nvSpPr>
        <p:spPr>
          <a:xfrm>
            <a:off x="827418" y="566275"/>
            <a:ext cx="11059781" cy="3170099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b="1" i="1" lang="en-GB" sz="4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safety: 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is used to indicate the amount of </a:t>
            </a:r>
            <a:r>
              <a:rPr lang="en-GB" sz="4000" u="sng">
                <a:solidFill>
                  <a:schemeClr val="hlink"/>
                </a:solidFill>
                <a:latin typeface="Twentieth Century"/>
                <a:ea typeface="Twentieth Century"/>
                <a:cs typeface="Twentieth Century"/>
                <a:sym typeface="Twentieth Century"/>
                <a:hlinkClick r:id="rId3"/>
              </a:rPr>
              <a:t>sales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that are above the </a:t>
            </a:r>
            <a:r>
              <a:rPr lang="en-GB" sz="4000" u="sng">
                <a:solidFill>
                  <a:schemeClr val="hlink"/>
                </a:solidFill>
                <a:latin typeface="Twentieth Century"/>
                <a:ea typeface="Twentieth Century"/>
                <a:cs typeface="Twentieth Century"/>
                <a:sym typeface="Twentieth Century"/>
                <a:hlinkClick r:id="rId4"/>
              </a:rPr>
              <a:t>break-even point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 In other words, the </a:t>
            </a:r>
            <a:r>
              <a:rPr i="1"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indicates the amount by which a company's sales could decrease before the company will become unprofitable</a:t>
            </a:r>
            <a:endParaRPr/>
          </a:p>
        </p:txBody>
      </p:sp>
      <p:sp>
        <p:nvSpPr>
          <p:cNvPr id="315" name="Google Shape;315;p34"/>
          <p:cNvSpPr/>
          <p:nvPr/>
        </p:nvSpPr>
        <p:spPr>
          <a:xfrm>
            <a:off x="1995819" y="4640313"/>
            <a:ext cx="8136904" cy="132343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4000">
                <a:solidFill>
                  <a:srgbClr val="C0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Production – Breakeven = Margin of safety</a:t>
            </a:r>
            <a:endParaRPr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9" name="Shape 3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0" name="Google Shape;320;p35"/>
          <p:cNvSpPr txBox="1"/>
          <p:nvPr>
            <p:ph type="title"/>
          </p:nvPr>
        </p:nvSpPr>
        <p:spPr>
          <a:xfrm>
            <a:off x="1024128" y="144949"/>
            <a:ext cx="9720072" cy="11250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MARGIN OF SAFETY</a:t>
            </a:r>
            <a:endParaRPr/>
          </a:p>
        </p:txBody>
      </p:sp>
      <p:sp>
        <p:nvSpPr>
          <p:cNvPr id="321" name="Google Shape;321;p35"/>
          <p:cNvSpPr txBox="1"/>
          <p:nvPr>
            <p:ph idx="1" type="body"/>
          </p:nvPr>
        </p:nvSpPr>
        <p:spPr>
          <a:xfrm>
            <a:off x="1024127" y="1778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This is the difference between the break-even point and the current level of output.</a:t>
            </a:r>
            <a:endParaRPr/>
          </a:p>
          <a:p>
            <a:pPr indent="-2540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If we produce 100 cakes the margin of safety would be:</a:t>
            </a:r>
            <a:br>
              <a:rPr lang="en-GB" sz="4000"/>
            </a:br>
            <a:r>
              <a:rPr b="1" lang="en-GB" sz="4000">
                <a:solidFill>
                  <a:srgbClr val="C00000"/>
                </a:solidFill>
              </a:rPr>
              <a:t>Production – Breakeven = Margin of safety</a:t>
            </a:r>
            <a:endParaRPr/>
          </a:p>
          <a:p>
            <a:pPr indent="-2540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100 – 25 = 75</a:t>
            </a:r>
            <a:endParaRPr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5" name="Shape 3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6" name="Google Shape;326;p36"/>
          <p:cNvSpPr txBox="1"/>
          <p:nvPr>
            <p:ph type="title"/>
          </p:nvPr>
        </p:nvSpPr>
        <p:spPr>
          <a:xfrm>
            <a:off x="1825752" y="228600"/>
            <a:ext cx="8534400" cy="1256184"/>
          </a:xfrm>
          <a:prstGeom prst="rect">
            <a:avLst/>
          </a:prstGeom>
          <a:solidFill>
            <a:srgbClr val="EAF5D6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b="1" lang="en-GB" sz="4500"/>
              <a:t>PLENARY: </a:t>
            </a:r>
            <a:br>
              <a:rPr b="1" lang="en-GB" sz="4500"/>
            </a:br>
            <a:r>
              <a:rPr b="1" lang="en-GB" sz="4500"/>
              <a:t>RECAP QUESTIONS </a:t>
            </a:r>
            <a:endParaRPr b="1" sz="4500"/>
          </a:p>
        </p:txBody>
      </p:sp>
      <p:pic>
        <p:nvPicPr>
          <p:cNvPr id="327" name="Google Shape;327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24000" y="1828800"/>
            <a:ext cx="9144000" cy="41148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1" name="Shape 3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2" name="Google Shape;332;p3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333" name="Google Shape;333;p37"/>
          <p:cNvSpPr txBox="1"/>
          <p:nvPr>
            <p:ph idx="1" type="body"/>
          </p:nvPr>
        </p:nvSpPr>
        <p:spPr>
          <a:xfrm>
            <a:off x="642764" y="560833"/>
            <a:ext cx="10533236" cy="5738368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 u="sng">
                <a:solidFill>
                  <a:srgbClr val="FF00FF"/>
                </a:solidFill>
              </a:rPr>
              <a:t>ANSWERS: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Allows a business to know how many units need to be sold before making a profit/loss. Allows a business to plan in advance, allows them to know and estimate their costings.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If there are changes to selling price, VC and FC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Rent, insurance, salaries- may need to increase selling price, save utilities and cut back on VC’s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Wages, raw materials, supplies- look for a new/cheaper supplier, save on utilities and cost per unit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Relocate to a cheaper location, cut back on salaries and wages </a:t>
            </a:r>
            <a:endParaRPr/>
          </a:p>
          <a:p>
            <a:pPr indent="-3238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