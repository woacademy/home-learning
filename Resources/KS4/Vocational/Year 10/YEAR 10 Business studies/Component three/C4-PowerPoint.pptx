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accountingcoach.com/blog/what-are-sales" TargetMode="External"/><Relationship Id="rId4" Type="http://schemas.openxmlformats.org/officeDocument/2006/relationships/hyperlink" Target="https://www.accountingcoach.com/blog/what-is-the-break-even-poin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918294" y="2617216"/>
            <a:ext cx="10642939" cy="1499616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C4- BREAK EVEN ANALYSIS AND BREAK EVEN POINT</a:t>
            </a:r>
            <a:br>
              <a:rPr lang="en-GB" u="sng"/>
            </a:br>
            <a:r>
              <a:rPr lang="en-GB" u="sng"/>
              <a:t>LESSON 2 – BREAK EVEN </a:t>
            </a:r>
            <a:endParaRPr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ctrTitle"/>
          </p:nvPr>
        </p:nvSpPr>
        <p:spPr>
          <a:xfrm>
            <a:off x="1236133" y="190011"/>
            <a:ext cx="10447867" cy="106847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 u="sng"/>
              <a:t>BREAKEVEN ANALYSIS </a:t>
            </a:r>
            <a:br>
              <a:rPr lang="en-GB" sz="4000" u="sng"/>
            </a:br>
            <a:r>
              <a:rPr lang="en-GB" sz="4000" u="sng"/>
              <a:t>DATE:</a:t>
            </a:r>
            <a:endParaRPr b="1" sz="4000" u="sng"/>
          </a:p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728133" y="1557868"/>
            <a:ext cx="11226800" cy="4642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 u="sng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 u="sng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 u="sng"/>
              <a:t>Learning Outcomes: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To be able to explain what is meant by the term ‘breakeven’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To be able to calculate the break even point for a given scenario </a:t>
            </a:r>
            <a:endParaRPr b="1" i="1" sz="3400" u="sng">
              <a:solidFill>
                <a:srgbClr val="FF00FF"/>
              </a:solidFill>
            </a:endParaRPr>
          </a:p>
          <a:p>
            <a:pPr indent="-112713" lvl="0" marL="214313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Twentieth Century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ey-face.jp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00" y="2362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type="title"/>
          </p:nvPr>
        </p:nvSpPr>
        <p:spPr>
          <a:xfrm>
            <a:off x="1747001" y="350520"/>
            <a:ext cx="856252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DEFINING BREAK-EVEN</a:t>
            </a:r>
            <a:endParaRPr u="sng"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355599" y="1527048"/>
            <a:ext cx="11345333" cy="4873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What does Break-even mean to you?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Obviously a business wants to make a profit,           and not a loss,            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At the very least, they want to break even.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i="1" lang="en-GB" sz="3000" u="sng">
                <a:solidFill>
                  <a:srgbClr val="739A28"/>
                </a:solidFill>
              </a:rPr>
              <a:t>Break-even happens when costs = revenue. </a:t>
            </a:r>
            <a:endParaRPr i="1" sz="3000" u="sng">
              <a:solidFill>
                <a:srgbClr val="739A28"/>
              </a:solidFill>
            </a:endParaRPr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i="1" lang="en-GB" sz="3000" u="sng">
                <a:solidFill>
                  <a:srgbClr val="739A28"/>
                </a:solidFill>
              </a:rPr>
              <a:t>i.e the business is not making any money but it is not losing money either!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pic>
        <p:nvPicPr>
          <p:cNvPr descr="sad-smiley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5267" y="2400300"/>
            <a:ext cx="8382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496" y="1526219"/>
            <a:ext cx="11164617" cy="2470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4882796" y="4280108"/>
            <a:ext cx="2349041" cy="2400657"/>
          </a:xfrm>
          <a:prstGeom prst="rect">
            <a:avLst/>
          </a:prstGeom>
          <a:solidFill>
            <a:srgbClr val="C1DF8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AutoNum type="arabicPeriod"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Profit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AutoNum type="arabicPeriod"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AutoNum type="arabicPeriod"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 even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AutoNum type="arabicPeriod"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AutoNum type="arabicPeriod"/>
            </a:pPr>
            <a:r>
              <a:rPr b="0" i="0" lang="en-GB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 even </a:t>
            </a:r>
            <a:endParaRPr/>
          </a:p>
        </p:txBody>
      </p:sp>
      <p:sp>
        <p:nvSpPr>
          <p:cNvPr id="123" name="Google Shape;123;p17"/>
          <p:cNvSpPr txBox="1"/>
          <p:nvPr>
            <p:ph type="title"/>
          </p:nvPr>
        </p:nvSpPr>
        <p:spPr>
          <a:xfrm>
            <a:off x="1197281" y="185251"/>
            <a:ext cx="9720072" cy="983149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1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677333" y="1405467"/>
            <a:ext cx="11209867" cy="5147733"/>
          </a:xfrm>
          <a:prstGeom prst="rect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A business will want to know how many products it will need to sell to break even and cover its costs.</a:t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What would we need to know to work out the break-even point?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The selling price of one unit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The variable cost of one unit</a:t>
            </a:r>
            <a:endParaRPr/>
          </a:p>
          <a:p>
            <a:pPr indent="-1651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The fixed costs</a:t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600"/>
              <a:buChar char=" "/>
            </a:pPr>
            <a:r>
              <a:rPr lang="en-GB" sz="2600"/>
              <a:t>The formula to work out the break-even point is: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1651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Char char="🢝"/>
            </a:pPr>
            <a:r>
              <a:rPr lang="en-GB" sz="2600"/>
              <a:t>Break-Even Point =	</a:t>
            </a:r>
            <a:endParaRPr/>
          </a:p>
          <a:p>
            <a:pPr indent="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129" name="Google Shape;129;p18"/>
          <p:cNvSpPr txBox="1"/>
          <p:nvPr/>
        </p:nvSpPr>
        <p:spPr>
          <a:xfrm>
            <a:off x="5715000" y="5257801"/>
            <a:ext cx="228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Fixed Costs</a:t>
            </a:r>
            <a:endParaRPr/>
          </a:p>
        </p:txBody>
      </p:sp>
      <p:cxnSp>
        <p:nvCxnSpPr>
          <p:cNvPr id="130" name="Google Shape;130;p18"/>
          <p:cNvCxnSpPr/>
          <p:nvPr/>
        </p:nvCxnSpPr>
        <p:spPr>
          <a:xfrm>
            <a:off x="4876800" y="5715000"/>
            <a:ext cx="3657600" cy="1588"/>
          </a:xfrm>
          <a:prstGeom prst="straightConnector1">
            <a:avLst/>
          </a:prstGeom>
          <a:noFill/>
          <a:ln cap="flat" cmpd="sng" w="5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/>
        </p:nvSpPr>
        <p:spPr>
          <a:xfrm>
            <a:off x="4495800" y="5867400"/>
            <a:ext cx="541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Selling price per unit – variable cost per unit</a:t>
            </a:r>
            <a:endParaRPr/>
          </a:p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1302343" y="230479"/>
            <a:ext cx="9720072" cy="1005501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400"/>
              <a:buFont typeface="Twentieth Century"/>
              <a:buNone/>
            </a:pPr>
            <a:r>
              <a:rPr lang="en-GB" sz="5400" u="sng"/>
              <a:t>CALCULATING THE BREAK-EVEN POINT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1074927" y="1253068"/>
            <a:ext cx="10727605" cy="543560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E.g. If I make boxes and the variable cost is 50p, and then I sell them for £2.50, I will be making a £2 on each box.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I have fixed costs of £1000- How many boxes do I have to sell to pay for my costs? 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Selling price (£2.50) – VC (£0.50)= £2.00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Next step: £1000 (FC) / £2.00=  500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I must sell 500 boxes to pay off the fixed costs.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I have hit the BREAK-EVEN POINT!!!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I have paid off all the costs, but not making a profit or a loss. </a:t>
            </a:r>
            <a:endParaRPr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6586265" y="3684693"/>
            <a:ext cx="3809540" cy="863262"/>
            <a:chOff x="4373948" y="3023315"/>
            <a:chExt cx="3809540" cy="863262"/>
          </a:xfrm>
        </p:grpSpPr>
        <p:sp>
          <p:nvSpPr>
            <p:cNvPr id="139" name="Google Shape;139;p19"/>
            <p:cNvSpPr txBox="1"/>
            <p:nvPr/>
          </p:nvSpPr>
          <p:spPr>
            <a:xfrm>
              <a:off x="5688124" y="3023315"/>
              <a:ext cx="1154853" cy="307777"/>
            </a:xfrm>
            <a:prstGeom prst="rect">
              <a:avLst/>
            </a:prstGeom>
            <a:solidFill>
              <a:srgbClr val="C1DF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Fixed Costs</a:t>
              </a:r>
              <a:endParaRPr/>
            </a:p>
          </p:txBody>
        </p:sp>
        <p:cxnSp>
          <p:nvCxnSpPr>
            <p:cNvPr id="140" name="Google Shape;140;p19"/>
            <p:cNvCxnSpPr/>
            <p:nvPr/>
          </p:nvCxnSpPr>
          <p:spPr>
            <a:xfrm>
              <a:off x="4525888" y="3454152"/>
              <a:ext cx="3657600" cy="1588"/>
            </a:xfrm>
            <a:prstGeom prst="straightConnector1">
              <a:avLst/>
            </a:prstGeom>
            <a:noFill/>
            <a:ln cap="flat" cmpd="sng" w="5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19"/>
            <p:cNvSpPr txBox="1"/>
            <p:nvPr/>
          </p:nvSpPr>
          <p:spPr>
            <a:xfrm>
              <a:off x="4373948" y="3578800"/>
              <a:ext cx="3778209" cy="307777"/>
            </a:xfrm>
            <a:prstGeom prst="rect">
              <a:avLst/>
            </a:prstGeom>
            <a:solidFill>
              <a:srgbClr val="C1DF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Selling price per unit – variable cost per unit</a:t>
              </a:r>
              <a:endParaRPr/>
            </a:p>
          </p:txBody>
        </p:sp>
      </p:grpSp>
      <p:sp>
        <p:nvSpPr>
          <p:cNvPr id="142" name="Google Shape;142;p19"/>
          <p:cNvSpPr txBox="1"/>
          <p:nvPr>
            <p:ph type="title"/>
          </p:nvPr>
        </p:nvSpPr>
        <p:spPr>
          <a:xfrm>
            <a:off x="1074928" y="277439"/>
            <a:ext cx="9720072" cy="818772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HOW DOES THIS ALL WORK?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1024128" y="1436697"/>
            <a:ext cx="10837504" cy="5111548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Example: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It costs me £30 in materials and wages to make a wardrobe.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I sell wardrobes for £80 each.</a:t>
            </a:r>
            <a:endParaRPr/>
          </a:p>
          <a:p>
            <a:pPr indent="-190500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My rent and office salaries come to £1000.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 Break-even =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			= 20 wardrobes to break-even 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4495800" y="3733801"/>
            <a:ext cx="1447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£1000</a:t>
            </a:r>
            <a:endParaRPr/>
          </a:p>
        </p:txBody>
      </p:sp>
      <p:cxnSp>
        <p:nvCxnSpPr>
          <p:cNvPr id="149" name="Google Shape;149;p20"/>
          <p:cNvCxnSpPr/>
          <p:nvPr/>
        </p:nvCxnSpPr>
        <p:spPr>
          <a:xfrm>
            <a:off x="4267200" y="4267200"/>
            <a:ext cx="1828800" cy="1588"/>
          </a:xfrm>
          <a:prstGeom prst="straightConnector1">
            <a:avLst/>
          </a:prstGeom>
          <a:noFill/>
          <a:ln cap="flat" cmpd="sng" w="5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0"/>
          <p:cNvSpPr txBox="1"/>
          <p:nvPr/>
        </p:nvSpPr>
        <p:spPr>
          <a:xfrm>
            <a:off x="4572000" y="43434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£80 - £30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7900442" y="3684694"/>
            <a:ext cx="1154853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Fixed Costs</a:t>
            </a:r>
            <a:endParaRPr/>
          </a:p>
        </p:txBody>
      </p:sp>
      <p:cxnSp>
        <p:nvCxnSpPr>
          <p:cNvPr id="152" name="Google Shape;152;p20"/>
          <p:cNvCxnSpPr/>
          <p:nvPr/>
        </p:nvCxnSpPr>
        <p:spPr>
          <a:xfrm>
            <a:off x="6738205" y="4115530"/>
            <a:ext cx="3657600" cy="1588"/>
          </a:xfrm>
          <a:prstGeom prst="straightConnector1">
            <a:avLst/>
          </a:prstGeom>
          <a:noFill/>
          <a:ln cap="flat" cmpd="sng" w="5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0"/>
          <p:cNvSpPr txBox="1"/>
          <p:nvPr/>
        </p:nvSpPr>
        <p:spPr>
          <a:xfrm>
            <a:off x="6586266" y="4240179"/>
            <a:ext cx="3778209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Selling price per unit – variable cost per unit</a:t>
            </a:r>
            <a:endParaRPr/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1024128" y="346331"/>
            <a:ext cx="9720072" cy="90723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ALL TOGETHER NOW…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1024128" y="1196949"/>
            <a:ext cx="10795339" cy="5542517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selling price is £200 per unit.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variable costs are £80 per unit.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Fixed costs are £400.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Work out the break-even point.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How much profit or loss will I make if I sell the following?</a:t>
            </a:r>
            <a:endParaRPr/>
          </a:p>
          <a:p>
            <a:pPr indent="-514349" lvl="2" marL="106299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11 units</a:t>
            </a:r>
            <a:endParaRPr/>
          </a:p>
          <a:p>
            <a:pPr indent="-514349" lvl="2" marL="106299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15 units</a:t>
            </a:r>
            <a:endParaRPr/>
          </a:p>
          <a:p>
            <a:pPr indent="-514349" lvl="2" marL="106299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7 Units</a:t>
            </a:r>
            <a:endParaRPr/>
          </a:p>
          <a:p>
            <a:pPr indent="-514349" lvl="2" marL="106299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/>
              <a:t>5 Units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7690285" y="4726356"/>
            <a:ext cx="1410207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Fixed Costs</a:t>
            </a:r>
            <a:endParaRPr/>
          </a:p>
        </p:txBody>
      </p:sp>
      <p:cxnSp>
        <p:nvCxnSpPr>
          <p:cNvPr id="161" name="Google Shape;161;p21"/>
          <p:cNvCxnSpPr/>
          <p:nvPr/>
        </p:nvCxnSpPr>
        <p:spPr>
          <a:xfrm>
            <a:off x="6528048" y="5157192"/>
            <a:ext cx="4466347" cy="4987"/>
          </a:xfrm>
          <a:prstGeom prst="straightConnector1">
            <a:avLst/>
          </a:prstGeom>
          <a:noFill/>
          <a:ln cap="flat" cmpd="sng" w="5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1"/>
          <p:cNvSpPr txBox="1"/>
          <p:nvPr/>
        </p:nvSpPr>
        <p:spPr>
          <a:xfrm>
            <a:off x="6376109" y="5281841"/>
            <a:ext cx="4613624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Selling price per unit – variable cost per unit</a:t>
            </a:r>
            <a:endParaRPr/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1830131" y="231831"/>
            <a:ext cx="9395834" cy="81940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2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1024128" y="1196949"/>
            <a:ext cx="10795339" cy="5542517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selling price is £300 per unit.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variable costs are £50 per unit.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My Fixed costs are £1000.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Work out the break-even point.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How much profit or loss will I make if the following changes happen?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lphaLcParenR"/>
            </a:pPr>
            <a:r>
              <a:rPr lang="en-GB" sz="3000"/>
              <a:t>My selling price changes to £350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lphaLcParenR"/>
            </a:pPr>
            <a:r>
              <a:rPr lang="en-GB" sz="3000"/>
              <a:t>My variable costs change to £65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lphaLcParenR"/>
            </a:pPr>
            <a:r>
              <a:rPr lang="en-GB" sz="3000"/>
              <a:t>My fixed costs change to £1500 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8515357" y="4248562"/>
            <a:ext cx="1410207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Fixed Costs</a:t>
            </a:r>
            <a:endParaRPr/>
          </a:p>
        </p:txBody>
      </p:sp>
      <p:cxnSp>
        <p:nvCxnSpPr>
          <p:cNvPr id="170" name="Google Shape;170;p22"/>
          <p:cNvCxnSpPr/>
          <p:nvPr/>
        </p:nvCxnSpPr>
        <p:spPr>
          <a:xfrm>
            <a:off x="7353120" y="4679398"/>
            <a:ext cx="4466347" cy="4987"/>
          </a:xfrm>
          <a:prstGeom prst="straightConnector1">
            <a:avLst/>
          </a:prstGeom>
          <a:noFill/>
          <a:ln cap="flat" cmpd="sng" w="5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7201181" y="4804047"/>
            <a:ext cx="4613624" cy="307777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Selling price per unit – variable cost per unit</a:t>
            </a:r>
            <a:endParaRPr/>
          </a:p>
        </p:txBody>
      </p:sp>
      <p:sp>
        <p:nvSpPr>
          <p:cNvPr id="172" name="Google Shape;172;p22"/>
          <p:cNvSpPr txBox="1"/>
          <p:nvPr>
            <p:ph type="title"/>
          </p:nvPr>
        </p:nvSpPr>
        <p:spPr>
          <a:xfrm>
            <a:off x="1830131" y="231831"/>
            <a:ext cx="9395834" cy="81940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3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1032366" y="205946"/>
            <a:ext cx="9720072" cy="897924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4</a:t>
            </a:r>
            <a:endParaRPr u="sng"/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8839200" cy="480060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3"/>
          <p:cNvSpPr txBox="1"/>
          <p:nvPr/>
        </p:nvSpPr>
        <p:spPr>
          <a:xfrm>
            <a:off x="5424014" y="1844824"/>
            <a:ext cx="600805" cy="923330"/>
          </a:xfrm>
          <a:prstGeom prst="rect">
            <a:avLst/>
          </a:prstGeom>
          <a:solidFill>
            <a:srgbClr val="D5EAA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CVC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CFC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1278128" y="297349"/>
            <a:ext cx="9720072" cy="10911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 </a:t>
            </a:r>
            <a:endParaRPr u="sng"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1278128" y="17272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i="1" lang="en-GB" sz="3000">
                <a:solidFill>
                  <a:srgbClr val="FF00FF"/>
                </a:solidFill>
              </a:rPr>
              <a:t>Summarise what you have learned today in exactly 30 words. </a:t>
            </a:r>
            <a:endParaRPr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i="1" lang="en-GB" sz="3000">
                <a:solidFill>
                  <a:srgbClr val="FF00FF"/>
                </a:solidFill>
              </a:rPr>
              <a:t>Share this with your shoulder partner. </a:t>
            </a:r>
            <a:endParaRPr i="1" sz="3000">
              <a:solidFill>
                <a:srgbClr val="FF00FF"/>
              </a:solidFill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164" y="2988733"/>
            <a:ext cx="4318000" cy="35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1142661" y="21600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BREAKEVEN CONTINUED</a:t>
            </a:r>
            <a:br>
              <a:rPr lang="en-GB" u="sng"/>
            </a:br>
            <a:r>
              <a:rPr lang="en-GB" u="sng"/>
              <a:t>LESSON 3  </a:t>
            </a:r>
            <a:endParaRPr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4574710" y="245533"/>
            <a:ext cx="3279648" cy="7589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STARTER </a:t>
            </a:r>
            <a:endParaRPr u="sng"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91067" y="1354667"/>
            <a:ext cx="11446934" cy="5096933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What is the definition of the break-even point? 1 mark</a:t>
            </a:r>
            <a:endParaRPr sz="3000"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What 3 pieces of information do you need to calculate the break even point? 1 mark</a:t>
            </a:r>
            <a:endParaRPr sz="3000"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What is the formula used to calculate the break-even point? 1 mark</a:t>
            </a:r>
            <a:endParaRPr sz="3000"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Twentieth Century"/>
              <a:buAutoNum type="arabicPeriod"/>
            </a:pPr>
            <a:r>
              <a:rPr lang="en-GB" sz="3000"/>
              <a:t>Your selling price per unit is £25, your variable costs per unit are £7 and your fixed costs are £1200. Use these to calculate the break-even point.  </a:t>
            </a:r>
            <a:r>
              <a:rPr lang="en-GB" sz="3000">
                <a:solidFill>
                  <a:schemeClr val="dk1"/>
                </a:solidFill>
              </a:rPr>
              <a:t>2 marks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Now you will mark each others!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4574710" y="245533"/>
            <a:ext cx="3279648" cy="7589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1</a:t>
            </a:r>
            <a:endParaRPr u="sng"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491067" y="1354667"/>
            <a:ext cx="11446934" cy="5096933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 sz="6000"/>
              <a:t>Complete the Breakeven Worksheet. Remember to look back at your notes if you get stuck. </a:t>
            </a:r>
            <a:endParaRPr sz="6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1847528" y="125824"/>
            <a:ext cx="8534400" cy="7607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/>
              <a:t>ACTIVITY 2 – YOUR TURN!</a:t>
            </a:r>
            <a:endParaRPr b="1"/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" y="1067408"/>
            <a:ext cx="11247754" cy="31997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8"/>
          <p:cNvGrpSpPr/>
          <p:nvPr/>
        </p:nvGrpSpPr>
        <p:grpSpPr>
          <a:xfrm>
            <a:off x="2770642" y="4628801"/>
            <a:ext cx="5983891" cy="1931261"/>
            <a:chOff x="4373948" y="3051742"/>
            <a:chExt cx="3809540" cy="1111718"/>
          </a:xfrm>
        </p:grpSpPr>
        <p:sp>
          <p:nvSpPr>
            <p:cNvPr id="211" name="Google Shape;211;p28"/>
            <p:cNvSpPr txBox="1"/>
            <p:nvPr/>
          </p:nvSpPr>
          <p:spPr>
            <a:xfrm>
              <a:off x="5402168" y="3051742"/>
              <a:ext cx="1768990" cy="318905"/>
            </a:xfrm>
            <a:prstGeom prst="rect">
              <a:avLst/>
            </a:prstGeom>
            <a:solidFill>
              <a:srgbClr val="C1DF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0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Fixed Costs</a:t>
              </a:r>
              <a:endParaRPr/>
            </a:p>
          </p:txBody>
        </p:sp>
        <p:cxnSp>
          <p:nvCxnSpPr>
            <p:cNvPr id="212" name="Google Shape;212;p28"/>
            <p:cNvCxnSpPr/>
            <p:nvPr/>
          </p:nvCxnSpPr>
          <p:spPr>
            <a:xfrm>
              <a:off x="4525888" y="3454152"/>
              <a:ext cx="3657600" cy="1588"/>
            </a:xfrm>
            <a:prstGeom prst="straightConnector1">
              <a:avLst/>
            </a:prstGeom>
            <a:noFill/>
            <a:ln cap="flat" cmpd="sng" w="5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3" name="Google Shape;213;p28"/>
            <p:cNvSpPr txBox="1"/>
            <p:nvPr/>
          </p:nvSpPr>
          <p:spPr>
            <a:xfrm>
              <a:off x="4373948" y="3578800"/>
              <a:ext cx="3778209" cy="584660"/>
            </a:xfrm>
            <a:prstGeom prst="rect">
              <a:avLst/>
            </a:prstGeom>
            <a:solidFill>
              <a:srgbClr val="C1DF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0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Selling price per unit – variable cost per unit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1024127" y="263483"/>
            <a:ext cx="10168805" cy="149961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200"/>
              <a:buFont typeface="Twentieth Century"/>
              <a:buNone/>
            </a:pPr>
            <a:r>
              <a:rPr lang="en-GB" sz="4200" u="sng"/>
              <a:t>C4- VALUE AND IMPORTANCE OF BREAK EVEN ANALYSIS </a:t>
            </a:r>
            <a:endParaRPr sz="4200" u="sng"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1024128" y="2099733"/>
            <a:ext cx="10168804" cy="4209627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Break-even analysis enables a business organization to: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Measure profit and losses at different levels of production and sales.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Predict the effect of changes in sales prices.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Analyse the relationship between fixed and variable costs.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Plan and make reasonable changes if break even figure is too high or unrealistic to achieve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1176527" y="128016"/>
            <a:ext cx="10270405" cy="1499616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C4- LIMITATIONS OF BREAK EVEN ANALYSIS </a:t>
            </a:r>
            <a:endParaRPr u="sng"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1176527" y="1981200"/>
            <a:ext cx="10270405" cy="3979333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Assumes that sales prices are constant at all levels of output.</a:t>
            </a:r>
            <a:endParaRPr/>
          </a:p>
          <a:p>
            <a:pPr indent="-1905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Assumes production and sales are the same.</a:t>
            </a:r>
            <a:endParaRPr/>
          </a:p>
          <a:p>
            <a:pPr indent="-1905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Break even charts may be time consuming to prepare.</a:t>
            </a:r>
            <a:endParaRPr/>
          </a:p>
          <a:p>
            <a:pPr indent="-1905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❖"/>
            </a:pPr>
            <a:r>
              <a:rPr lang="en-GB" sz="3000"/>
              <a:t>It can only apply to a single product or single mix of products.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>
            <a:off x="1981200" y="274638"/>
            <a:ext cx="8229600" cy="1143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does the Breakeven chart look like?</a:t>
            </a:r>
            <a:endParaRPr/>
          </a:p>
        </p:txBody>
      </p:sp>
      <p:sp>
        <p:nvSpPr>
          <p:cNvPr id="232" name="Google Shape;232;p31"/>
          <p:cNvSpPr txBox="1"/>
          <p:nvPr/>
        </p:nvSpPr>
        <p:spPr>
          <a:xfrm>
            <a:off x="1847850" y="2276476"/>
            <a:ext cx="15128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Costs/ Revenue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£</a:t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3503613" y="6400800"/>
            <a:ext cx="3529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Quantity</a:t>
            </a:r>
            <a:endParaRPr/>
          </a:p>
        </p:txBody>
      </p:sp>
      <p:cxnSp>
        <p:nvCxnSpPr>
          <p:cNvPr id="234" name="Google Shape;234;p31"/>
          <p:cNvCxnSpPr/>
          <p:nvPr/>
        </p:nvCxnSpPr>
        <p:spPr>
          <a:xfrm>
            <a:off x="3359150" y="1989138"/>
            <a:ext cx="0" cy="374491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1"/>
          <p:cNvCxnSpPr/>
          <p:nvPr/>
        </p:nvCxnSpPr>
        <p:spPr>
          <a:xfrm>
            <a:off x="3287713" y="5734050"/>
            <a:ext cx="5905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1"/>
          <p:cNvCxnSpPr/>
          <p:nvPr/>
        </p:nvCxnSpPr>
        <p:spPr>
          <a:xfrm flipH="1" rot="10800000">
            <a:off x="3432176" y="2133601"/>
            <a:ext cx="4824413" cy="352742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31"/>
          <p:cNvSpPr txBox="1"/>
          <p:nvPr/>
        </p:nvSpPr>
        <p:spPr>
          <a:xfrm>
            <a:off x="8401050" y="1773239"/>
            <a:ext cx="1727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Revenue</a:t>
            </a:r>
            <a:endParaRPr/>
          </a:p>
        </p:txBody>
      </p:sp>
      <p:cxnSp>
        <p:nvCxnSpPr>
          <p:cNvPr id="238" name="Google Shape;238;p31"/>
          <p:cNvCxnSpPr/>
          <p:nvPr/>
        </p:nvCxnSpPr>
        <p:spPr>
          <a:xfrm flipH="1" rot="10800000">
            <a:off x="3432176" y="2997201"/>
            <a:ext cx="4968875" cy="1368425"/>
          </a:xfrm>
          <a:prstGeom prst="straightConnector1">
            <a:avLst/>
          </a:prstGeom>
          <a:noFill/>
          <a:ln cap="flat" cmpd="sng" w="76200">
            <a:solidFill>
              <a:srgbClr val="A6D5E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1"/>
          <p:cNvSpPr txBox="1"/>
          <p:nvPr/>
        </p:nvSpPr>
        <p:spPr>
          <a:xfrm>
            <a:off x="8401050" y="2924176"/>
            <a:ext cx="129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</a:t>
            </a:r>
            <a:endParaRPr/>
          </a:p>
        </p:txBody>
      </p:sp>
      <p:sp>
        <p:nvSpPr>
          <p:cNvPr id="240" name="Google Shape;240;p31"/>
          <p:cNvSpPr txBox="1"/>
          <p:nvPr/>
        </p:nvSpPr>
        <p:spPr>
          <a:xfrm>
            <a:off x="4224338" y="1773238"/>
            <a:ext cx="19431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Breakeven Point</a:t>
            </a:r>
            <a:endParaRPr/>
          </a:p>
        </p:txBody>
      </p:sp>
      <p:cxnSp>
        <p:nvCxnSpPr>
          <p:cNvPr id="241" name="Google Shape;241;p31"/>
          <p:cNvCxnSpPr/>
          <p:nvPr/>
        </p:nvCxnSpPr>
        <p:spPr>
          <a:xfrm>
            <a:off x="5375276" y="2420938"/>
            <a:ext cx="720725" cy="1008062"/>
          </a:xfrm>
          <a:prstGeom prst="straightConnector1">
            <a:avLst/>
          </a:prstGeom>
          <a:noFill/>
          <a:ln cap="flat" cmpd="sng" w="76200">
            <a:solidFill>
              <a:srgbClr val="99003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31"/>
          <p:cNvCxnSpPr/>
          <p:nvPr/>
        </p:nvCxnSpPr>
        <p:spPr>
          <a:xfrm flipH="1" rot="10800000">
            <a:off x="3432176" y="4365625"/>
            <a:ext cx="5040313" cy="714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/>
        </p:nvSpPr>
        <p:spPr>
          <a:xfrm>
            <a:off x="1847850" y="2276476"/>
            <a:ext cx="15128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Costs/ Revenue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£</a:t>
            </a:r>
            <a:endParaRPr/>
          </a:p>
        </p:txBody>
      </p:sp>
      <p:cxnSp>
        <p:nvCxnSpPr>
          <p:cNvPr id="249" name="Google Shape;249;p32"/>
          <p:cNvCxnSpPr/>
          <p:nvPr/>
        </p:nvCxnSpPr>
        <p:spPr>
          <a:xfrm>
            <a:off x="3359150" y="1989138"/>
            <a:ext cx="0" cy="374491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2"/>
          <p:cNvCxnSpPr/>
          <p:nvPr/>
        </p:nvCxnSpPr>
        <p:spPr>
          <a:xfrm flipH="1" rot="10800000">
            <a:off x="3432176" y="2133601"/>
            <a:ext cx="4824413" cy="352742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2"/>
          <p:cNvCxnSpPr/>
          <p:nvPr/>
        </p:nvCxnSpPr>
        <p:spPr>
          <a:xfrm>
            <a:off x="3287713" y="5734050"/>
            <a:ext cx="5905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2"/>
          <p:cNvSpPr txBox="1"/>
          <p:nvPr/>
        </p:nvSpPr>
        <p:spPr>
          <a:xfrm>
            <a:off x="3503613" y="6400800"/>
            <a:ext cx="3529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Quantity</a:t>
            </a:r>
            <a:endParaRPr/>
          </a:p>
        </p:txBody>
      </p:sp>
      <p:sp>
        <p:nvSpPr>
          <p:cNvPr id="253" name="Google Shape;253;p32"/>
          <p:cNvSpPr txBox="1"/>
          <p:nvPr/>
        </p:nvSpPr>
        <p:spPr>
          <a:xfrm>
            <a:off x="8401050" y="1773239"/>
            <a:ext cx="1727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Revenue</a:t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1981200" y="274638"/>
            <a:ext cx="8229600" cy="1143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does the Breakeven chart look like?</a:t>
            </a:r>
            <a:endParaRPr/>
          </a:p>
        </p:txBody>
      </p:sp>
      <p:cxnSp>
        <p:nvCxnSpPr>
          <p:cNvPr id="255" name="Google Shape;255;p32"/>
          <p:cNvCxnSpPr/>
          <p:nvPr/>
        </p:nvCxnSpPr>
        <p:spPr>
          <a:xfrm flipH="1" rot="10800000">
            <a:off x="3432176" y="4365625"/>
            <a:ext cx="5040313" cy="714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6" name="Google Shape;256;p32"/>
          <p:cNvSpPr txBox="1"/>
          <p:nvPr/>
        </p:nvSpPr>
        <p:spPr>
          <a:xfrm>
            <a:off x="8401050" y="2924176"/>
            <a:ext cx="129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</a:t>
            </a:r>
            <a:endParaRPr/>
          </a:p>
        </p:txBody>
      </p:sp>
      <p:cxnSp>
        <p:nvCxnSpPr>
          <p:cNvPr id="257" name="Google Shape;257;p32"/>
          <p:cNvCxnSpPr/>
          <p:nvPr/>
        </p:nvCxnSpPr>
        <p:spPr>
          <a:xfrm flipH="1" rot="10800000">
            <a:off x="3432176" y="2997201"/>
            <a:ext cx="4968875" cy="1368425"/>
          </a:xfrm>
          <a:prstGeom prst="straightConnector1">
            <a:avLst/>
          </a:prstGeom>
          <a:noFill/>
          <a:ln cap="flat" cmpd="sng" w="7620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2"/>
          <p:cNvCxnSpPr/>
          <p:nvPr/>
        </p:nvCxnSpPr>
        <p:spPr>
          <a:xfrm flipH="1">
            <a:off x="3503613" y="4508501"/>
            <a:ext cx="215900" cy="360363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2"/>
          <p:cNvCxnSpPr/>
          <p:nvPr/>
        </p:nvCxnSpPr>
        <p:spPr>
          <a:xfrm flipH="1">
            <a:off x="3719513" y="4365625"/>
            <a:ext cx="431800" cy="719138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2"/>
          <p:cNvCxnSpPr/>
          <p:nvPr/>
        </p:nvCxnSpPr>
        <p:spPr>
          <a:xfrm flipH="1">
            <a:off x="4367213" y="4149725"/>
            <a:ext cx="360362" cy="647700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2"/>
          <p:cNvCxnSpPr/>
          <p:nvPr/>
        </p:nvCxnSpPr>
        <p:spPr>
          <a:xfrm flipH="1">
            <a:off x="4943475" y="4005263"/>
            <a:ext cx="215900" cy="360362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2"/>
          <p:cNvCxnSpPr/>
          <p:nvPr/>
        </p:nvCxnSpPr>
        <p:spPr>
          <a:xfrm flipH="1" rot="10800000">
            <a:off x="7175501" y="2852738"/>
            <a:ext cx="288925" cy="36036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2"/>
          <p:cNvCxnSpPr/>
          <p:nvPr/>
        </p:nvCxnSpPr>
        <p:spPr>
          <a:xfrm flipH="1" rot="10800000">
            <a:off x="7680326" y="2565401"/>
            <a:ext cx="288925" cy="360363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2"/>
          <p:cNvCxnSpPr/>
          <p:nvPr/>
        </p:nvCxnSpPr>
        <p:spPr>
          <a:xfrm flipH="1" rot="10800000">
            <a:off x="8040689" y="2492376"/>
            <a:ext cx="288925" cy="360363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5" name="Google Shape;265;p32"/>
          <p:cNvSpPr txBox="1"/>
          <p:nvPr/>
        </p:nvSpPr>
        <p:spPr>
          <a:xfrm>
            <a:off x="3648075" y="2924176"/>
            <a:ext cx="15113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Loss</a:t>
            </a:r>
            <a:endParaRPr/>
          </a:p>
        </p:txBody>
      </p:sp>
      <p:sp>
        <p:nvSpPr>
          <p:cNvPr id="266" name="Google Shape;266;p32"/>
          <p:cNvSpPr txBox="1"/>
          <p:nvPr/>
        </p:nvSpPr>
        <p:spPr>
          <a:xfrm>
            <a:off x="6527801" y="1989138"/>
            <a:ext cx="12239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Profit</a:t>
            </a:r>
            <a:endParaRPr/>
          </a:p>
        </p:txBody>
      </p:sp>
      <p:sp>
        <p:nvSpPr>
          <p:cNvPr id="267" name="Google Shape;267;p32"/>
          <p:cNvSpPr txBox="1"/>
          <p:nvPr/>
        </p:nvSpPr>
        <p:spPr>
          <a:xfrm>
            <a:off x="4224338" y="1773238"/>
            <a:ext cx="19431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Breakeven Point</a:t>
            </a:r>
            <a:endParaRPr/>
          </a:p>
        </p:txBody>
      </p:sp>
      <p:cxnSp>
        <p:nvCxnSpPr>
          <p:cNvPr id="268" name="Google Shape;268;p32"/>
          <p:cNvCxnSpPr/>
          <p:nvPr/>
        </p:nvCxnSpPr>
        <p:spPr>
          <a:xfrm>
            <a:off x="5375276" y="2420938"/>
            <a:ext cx="720725" cy="1008062"/>
          </a:xfrm>
          <a:prstGeom prst="straightConnector1">
            <a:avLst/>
          </a:prstGeom>
          <a:noFill/>
          <a:ln cap="flat" cmpd="sng" w="76200">
            <a:solidFill>
              <a:srgbClr val="99003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2"/>
          <p:cNvCxnSpPr/>
          <p:nvPr/>
        </p:nvCxnSpPr>
        <p:spPr>
          <a:xfrm>
            <a:off x="6311900" y="3644900"/>
            <a:ext cx="0" cy="2089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/>
          <p:nvPr/>
        </p:nvCxnSpPr>
        <p:spPr>
          <a:xfrm>
            <a:off x="4440238" y="4149726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/>
          <p:nvPr/>
        </p:nvCxnSpPr>
        <p:spPr>
          <a:xfrm>
            <a:off x="7896225" y="2420938"/>
            <a:ext cx="0" cy="3313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72" name="Google Shape;272;p32"/>
          <p:cNvSpPr txBox="1"/>
          <p:nvPr/>
        </p:nvSpPr>
        <p:spPr>
          <a:xfrm>
            <a:off x="4079876" y="5805488"/>
            <a:ext cx="7921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50 Units</a:t>
            </a:r>
            <a:endParaRPr/>
          </a:p>
        </p:txBody>
      </p:sp>
      <p:sp>
        <p:nvSpPr>
          <p:cNvPr id="273" name="Google Shape;273;p32"/>
          <p:cNvSpPr txBox="1"/>
          <p:nvPr/>
        </p:nvSpPr>
        <p:spPr>
          <a:xfrm>
            <a:off x="5808663" y="5876925"/>
            <a:ext cx="7921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 Units</a:t>
            </a:r>
            <a:endParaRPr/>
          </a:p>
        </p:txBody>
      </p:sp>
      <p:sp>
        <p:nvSpPr>
          <p:cNvPr id="274" name="Google Shape;274;p32"/>
          <p:cNvSpPr txBox="1"/>
          <p:nvPr/>
        </p:nvSpPr>
        <p:spPr>
          <a:xfrm>
            <a:off x="7535863" y="5876925"/>
            <a:ext cx="7921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150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1847850" y="2276476"/>
            <a:ext cx="15128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Costs/ Revenue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£</a:t>
            </a:r>
            <a:endParaRPr/>
          </a:p>
        </p:txBody>
      </p:sp>
      <p:cxnSp>
        <p:nvCxnSpPr>
          <p:cNvPr id="280" name="Google Shape;280;p33"/>
          <p:cNvCxnSpPr/>
          <p:nvPr/>
        </p:nvCxnSpPr>
        <p:spPr>
          <a:xfrm>
            <a:off x="3359150" y="1989138"/>
            <a:ext cx="0" cy="374491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3"/>
          <p:cNvCxnSpPr/>
          <p:nvPr/>
        </p:nvCxnSpPr>
        <p:spPr>
          <a:xfrm flipH="1" rot="10800000">
            <a:off x="3432176" y="2133601"/>
            <a:ext cx="4824413" cy="352742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3287713" y="5734050"/>
            <a:ext cx="5905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3"/>
          <p:cNvSpPr txBox="1"/>
          <p:nvPr/>
        </p:nvSpPr>
        <p:spPr>
          <a:xfrm>
            <a:off x="3503613" y="6400800"/>
            <a:ext cx="3529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Quantity</a:t>
            </a: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8401050" y="1773239"/>
            <a:ext cx="1727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Revenue</a:t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1981200" y="274638"/>
            <a:ext cx="8229600" cy="1143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Margin of Safety?</a:t>
            </a:r>
            <a:endParaRPr/>
          </a:p>
        </p:txBody>
      </p:sp>
      <p:cxnSp>
        <p:nvCxnSpPr>
          <p:cNvPr id="286" name="Google Shape;286;p33"/>
          <p:cNvCxnSpPr/>
          <p:nvPr/>
        </p:nvCxnSpPr>
        <p:spPr>
          <a:xfrm flipH="1" rot="10800000">
            <a:off x="3432176" y="4365625"/>
            <a:ext cx="5040313" cy="714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33"/>
          <p:cNvSpPr txBox="1"/>
          <p:nvPr/>
        </p:nvSpPr>
        <p:spPr>
          <a:xfrm>
            <a:off x="8401050" y="2924176"/>
            <a:ext cx="1295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Costs</a:t>
            </a:r>
            <a:endParaRPr/>
          </a:p>
        </p:txBody>
      </p:sp>
      <p:cxnSp>
        <p:nvCxnSpPr>
          <p:cNvPr id="288" name="Google Shape;288;p33"/>
          <p:cNvCxnSpPr/>
          <p:nvPr/>
        </p:nvCxnSpPr>
        <p:spPr>
          <a:xfrm flipH="1" rot="10800000">
            <a:off x="3432176" y="2997201"/>
            <a:ext cx="4968875" cy="1368425"/>
          </a:xfrm>
          <a:prstGeom prst="straightConnector1">
            <a:avLst/>
          </a:prstGeom>
          <a:noFill/>
          <a:ln cap="flat" cmpd="sng" w="7620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3"/>
          <p:cNvCxnSpPr/>
          <p:nvPr/>
        </p:nvCxnSpPr>
        <p:spPr>
          <a:xfrm flipH="1">
            <a:off x="3503613" y="4508501"/>
            <a:ext cx="215900" cy="360363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3"/>
          <p:cNvCxnSpPr/>
          <p:nvPr/>
        </p:nvCxnSpPr>
        <p:spPr>
          <a:xfrm flipH="1">
            <a:off x="3719513" y="4365625"/>
            <a:ext cx="431800" cy="719138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3"/>
          <p:cNvCxnSpPr/>
          <p:nvPr/>
        </p:nvCxnSpPr>
        <p:spPr>
          <a:xfrm flipH="1">
            <a:off x="4367213" y="4149725"/>
            <a:ext cx="360362" cy="647700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3"/>
          <p:cNvCxnSpPr/>
          <p:nvPr/>
        </p:nvCxnSpPr>
        <p:spPr>
          <a:xfrm flipH="1">
            <a:off x="4943475" y="4005263"/>
            <a:ext cx="215900" cy="360362"/>
          </a:xfrm>
          <a:prstGeom prst="straightConnector1">
            <a:avLst/>
          </a:prstGeom>
          <a:noFill/>
          <a:ln cap="rnd" cmpd="sng" w="762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3"/>
          <p:cNvCxnSpPr/>
          <p:nvPr/>
        </p:nvCxnSpPr>
        <p:spPr>
          <a:xfrm flipH="1" rot="10800000">
            <a:off x="7175501" y="2852738"/>
            <a:ext cx="288925" cy="36036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3"/>
          <p:cNvCxnSpPr/>
          <p:nvPr/>
        </p:nvCxnSpPr>
        <p:spPr>
          <a:xfrm flipH="1" rot="10800000">
            <a:off x="7680326" y="2565401"/>
            <a:ext cx="288925" cy="360363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3"/>
          <p:cNvCxnSpPr/>
          <p:nvPr/>
        </p:nvCxnSpPr>
        <p:spPr>
          <a:xfrm flipH="1" rot="10800000">
            <a:off x="8040689" y="2492376"/>
            <a:ext cx="288925" cy="360363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6" name="Google Shape;296;p33"/>
          <p:cNvSpPr txBox="1"/>
          <p:nvPr/>
        </p:nvSpPr>
        <p:spPr>
          <a:xfrm>
            <a:off x="3648075" y="2924176"/>
            <a:ext cx="15113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Loss</a:t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6527801" y="1989138"/>
            <a:ext cx="12239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Profit</a:t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4224338" y="1773238"/>
            <a:ext cx="19431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Breakeven Point</a:t>
            </a:r>
            <a:endParaRPr/>
          </a:p>
        </p:txBody>
      </p:sp>
      <p:cxnSp>
        <p:nvCxnSpPr>
          <p:cNvPr id="299" name="Google Shape;299;p33"/>
          <p:cNvCxnSpPr/>
          <p:nvPr/>
        </p:nvCxnSpPr>
        <p:spPr>
          <a:xfrm>
            <a:off x="5375276" y="2420938"/>
            <a:ext cx="720725" cy="1008062"/>
          </a:xfrm>
          <a:prstGeom prst="straightConnector1">
            <a:avLst/>
          </a:prstGeom>
          <a:noFill/>
          <a:ln cap="flat" cmpd="sng" w="76200">
            <a:solidFill>
              <a:srgbClr val="99003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3"/>
          <p:cNvCxnSpPr/>
          <p:nvPr/>
        </p:nvCxnSpPr>
        <p:spPr>
          <a:xfrm>
            <a:off x="6311900" y="3644900"/>
            <a:ext cx="0" cy="2089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3"/>
          <p:cNvCxnSpPr/>
          <p:nvPr/>
        </p:nvCxnSpPr>
        <p:spPr>
          <a:xfrm>
            <a:off x="4440238" y="4149726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3"/>
          <p:cNvCxnSpPr/>
          <p:nvPr/>
        </p:nvCxnSpPr>
        <p:spPr>
          <a:xfrm>
            <a:off x="7896225" y="2420938"/>
            <a:ext cx="0" cy="3313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03" name="Google Shape;303;p33"/>
          <p:cNvSpPr txBox="1"/>
          <p:nvPr/>
        </p:nvSpPr>
        <p:spPr>
          <a:xfrm>
            <a:off x="4079876" y="5805488"/>
            <a:ext cx="7921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50 Units</a:t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5808663" y="5876925"/>
            <a:ext cx="7921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 Units</a:t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7535863" y="5876925"/>
            <a:ext cx="7921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150 Units</a:t>
            </a:r>
            <a:endParaRPr/>
          </a:p>
        </p:txBody>
      </p:sp>
      <p:cxnSp>
        <p:nvCxnSpPr>
          <p:cNvPr id="306" name="Google Shape;306;p33"/>
          <p:cNvCxnSpPr/>
          <p:nvPr/>
        </p:nvCxnSpPr>
        <p:spPr>
          <a:xfrm>
            <a:off x="6383338" y="5445125"/>
            <a:ext cx="144145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7" name="Google Shape;307;p33"/>
          <p:cNvCxnSpPr/>
          <p:nvPr/>
        </p:nvCxnSpPr>
        <p:spPr>
          <a:xfrm>
            <a:off x="6383338" y="5084763"/>
            <a:ext cx="144145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8" name="Google Shape;308;p33"/>
          <p:cNvCxnSpPr/>
          <p:nvPr/>
        </p:nvCxnSpPr>
        <p:spPr>
          <a:xfrm>
            <a:off x="6383338" y="4652963"/>
            <a:ext cx="144145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" name="Google Shape;309;p33"/>
          <p:cNvSpPr txBox="1"/>
          <p:nvPr/>
        </p:nvSpPr>
        <p:spPr>
          <a:xfrm>
            <a:off x="7896226" y="4913313"/>
            <a:ext cx="2555875" cy="40011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Margin of Safety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/>
          <p:nvPr/>
        </p:nvSpPr>
        <p:spPr>
          <a:xfrm>
            <a:off x="827418" y="566275"/>
            <a:ext cx="11059781" cy="317009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40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Margin of safety: </a:t>
            </a: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is used to indicate the amount of </a:t>
            </a:r>
            <a:r>
              <a:rPr lang="en-GB" sz="4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sales</a:t>
            </a: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that are above the </a:t>
            </a:r>
            <a:r>
              <a:rPr lang="en-GB" sz="40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break-even point</a:t>
            </a: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In other words, the </a:t>
            </a:r>
            <a:r>
              <a:rPr i="1"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margin of safety</a:t>
            </a: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indicates the amount by which a company's sales could decrease before the company will become unprofitable</a:t>
            </a:r>
            <a:endParaRPr/>
          </a:p>
        </p:txBody>
      </p:sp>
      <p:sp>
        <p:nvSpPr>
          <p:cNvPr id="315" name="Google Shape;315;p34"/>
          <p:cNvSpPr/>
          <p:nvPr/>
        </p:nvSpPr>
        <p:spPr>
          <a:xfrm>
            <a:off x="1995819" y="4640313"/>
            <a:ext cx="813690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Production – Breakeven = Margin of safety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type="title"/>
          </p:nvPr>
        </p:nvSpPr>
        <p:spPr>
          <a:xfrm>
            <a:off x="1024128" y="144949"/>
            <a:ext cx="9720072" cy="1125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MARGIN OF SAFETY</a:t>
            </a:r>
            <a:endParaRPr/>
          </a:p>
        </p:txBody>
      </p:sp>
      <p:sp>
        <p:nvSpPr>
          <p:cNvPr id="321" name="Google Shape;321;p35"/>
          <p:cNvSpPr txBox="1"/>
          <p:nvPr>
            <p:ph idx="1" type="body"/>
          </p:nvPr>
        </p:nvSpPr>
        <p:spPr>
          <a:xfrm>
            <a:off x="1024127" y="1778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54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 "/>
            </a:pPr>
            <a:r>
              <a:rPr lang="en-GB" sz="4000"/>
              <a:t>This is the difference between the break-even point and the current level of output.</a:t>
            </a:r>
            <a:endParaRPr/>
          </a:p>
          <a:p>
            <a:pPr indent="-254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Char char=" "/>
            </a:pPr>
            <a:r>
              <a:rPr lang="en-GB" sz="4000"/>
              <a:t>If we produce 100 cakes the margin of safety would be:</a:t>
            </a:r>
            <a:br>
              <a:rPr lang="en-GB" sz="4000"/>
            </a:br>
            <a:r>
              <a:rPr b="1" lang="en-GB" sz="4000">
                <a:solidFill>
                  <a:srgbClr val="C00000"/>
                </a:solidFill>
              </a:rPr>
              <a:t>Production – Breakeven = Margin of safety</a:t>
            </a:r>
            <a:endParaRPr/>
          </a:p>
          <a:p>
            <a:pPr indent="-254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Char char=" "/>
            </a:pPr>
            <a:r>
              <a:rPr lang="en-GB" sz="4000"/>
              <a:t>100 – 25 = 75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1825752" y="228600"/>
            <a:ext cx="8534400" cy="1256184"/>
          </a:xfrm>
          <a:prstGeom prst="rect">
            <a:avLst/>
          </a:prstGeom>
          <a:solidFill>
            <a:srgbClr val="EAF5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500"/>
              <a:buFont typeface="Twentieth Century"/>
              <a:buNone/>
            </a:pPr>
            <a:r>
              <a:rPr b="1" lang="en-GB" sz="4500"/>
              <a:t>PLENARY: </a:t>
            </a:r>
            <a:br>
              <a:rPr b="1" lang="en-GB" sz="4500"/>
            </a:br>
            <a:r>
              <a:rPr b="1" lang="en-GB" sz="4500"/>
              <a:t>RECAP QUESTIONS </a:t>
            </a:r>
            <a:endParaRPr b="1" sz="4500"/>
          </a:p>
        </p:txBody>
      </p:sp>
      <p:pic>
        <p:nvPicPr>
          <p:cNvPr id="327" name="Google Shape;32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828800"/>
            <a:ext cx="91440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t/>
            </a:r>
            <a:endParaRPr/>
          </a:p>
        </p:txBody>
      </p:sp>
      <p:sp>
        <p:nvSpPr>
          <p:cNvPr id="333" name="Google Shape;333;p37"/>
          <p:cNvSpPr txBox="1"/>
          <p:nvPr>
            <p:ph idx="1" type="body"/>
          </p:nvPr>
        </p:nvSpPr>
        <p:spPr>
          <a:xfrm>
            <a:off x="642764" y="560833"/>
            <a:ext cx="10533236" cy="573836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3000" u="sng">
                <a:solidFill>
                  <a:srgbClr val="FF00FF"/>
                </a:solidFill>
              </a:rPr>
              <a:t>ANSWERS: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Allows a business to know how many units need to be sold before making a profit/loss. Allows a business to plan in advance, allows them to know and estimate their costings.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If there are changes to selling price, VC and FC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Rent, insurance, salaries- may need to increase selling price, save utilities and cut back on VC’s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Wages, raw materials, supplies- look for a new/cheaper supplier, save on utilities and cost per unit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Relocate to a cheaper location, cut back on salaries and wages </a:t>
            </a:r>
            <a:endParaRPr/>
          </a:p>
          <a:p>
            <a:pPr indent="-3238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