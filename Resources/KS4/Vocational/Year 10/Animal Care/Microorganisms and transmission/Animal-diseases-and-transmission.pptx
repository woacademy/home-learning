
<file path=[Content_Types].xml><?xml version="1.0" encoding="utf-8"?>
<Types xmlns="http://schemas.openxmlformats.org/package/2006/content-types"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</p:sldIdLst>
  <p:sldSz cy="5143500" cx="9144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DB85728B-FD22-498F-A0BE-C2A8A1EB10E7}">
  <a:tblStyle styleId="{DB85728B-FD22-498F-A0BE-C2A8A1EB10E7}" styleName="Table_0">
    <a:wholeTbl>
      <a:tcTxStyle b="off" i="off">
        <a:font>
          <a:latin typeface="Arial"/>
          <a:ea typeface="Arial"/>
          <a:cs typeface="Arial"/>
        </a:font>
        <a:srgbClr val="000000"/>
      </a:tcTxStyle>
      <a:tcStyle>
        <a:tcBdr>
          <a:left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insideV>
        </a:tcBdr>
      </a:tcStyle>
    </a:wholeTbl>
    <a:band1H>
      <a:tcTxStyle b="off" i="off"/>
    </a:band1H>
    <a:band2H>
      <a:tcTxStyle b="off" i="off"/>
    </a:band2H>
    <a:band1V>
      <a:tcTxStyle b="off" i="off"/>
    </a:band1V>
    <a:band2V>
      <a:tcTxStyle b="off" i="off"/>
    </a:band2V>
    <a:lastCol>
      <a:tcTxStyle b="off" i="off"/>
    </a:lastCol>
    <a:firstCol>
      <a:tcTxStyle b="off" i="off"/>
    </a:firstCol>
    <a:lastRow>
      <a:tcTxStyle b="off" i="off"/>
    </a:lastRow>
    <a:seCell>
      <a:tcTxStyle b="off" i="off"/>
    </a:seCell>
    <a:swCell>
      <a:tcTxStyle b="off" i="off"/>
    </a:swCell>
    <a:firstRow>
      <a:tcTxStyle b="off" i="off"/>
    </a:firstRow>
    <a:neCell>
      <a:tcTxStyle b="off" i="off"/>
    </a:neCell>
    <a:nwCell>
      <a:tcTxStyle b="off" i="off"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5" Type="http://schemas.openxmlformats.org/officeDocument/2006/relationships/notesMaster" Target="notesMasters/notesMaster1.xml"/><Relationship Id="rId19" Type="http://schemas.openxmlformats.org/officeDocument/2006/relationships/slide" Target="slides/slide14.xml"/><Relationship Id="rId6" Type="http://schemas.openxmlformats.org/officeDocument/2006/relationships/slide" Target="slides/slide1.xml"/><Relationship Id="rId18" Type="http://schemas.openxmlformats.org/officeDocument/2006/relationships/slide" Target="slides/slide13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4" name="Google Shape;4;n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298450" lvl="0" marL="4572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1pPr>
            <a:lvl2pPr indent="-298450" lvl="1" marL="9144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2pPr>
            <a:lvl3pPr indent="-298450" lvl="2" marL="13716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3pPr>
            <a:lvl4pPr indent="-298450" lvl="3" marL="18288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4pPr>
            <a:lvl5pPr indent="-298450" lvl="4" marL="22860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5pPr>
            <a:lvl6pPr indent="-298450" lvl="5" marL="27432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6pPr>
            <a:lvl7pPr indent="-298450" lvl="6" marL="32004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7pPr>
            <a:lvl8pPr indent="-298450" lvl="7" marL="36576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8pPr>
            <a:lvl9pPr indent="-298450" lvl="8" marL="41148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9pPr>
          </a:lstStyle>
          <a:p/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1:notes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52" name="Google Shape;52;p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55" name="Shape 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6" name="Google Shape;56;p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57" name="Google Shape;57;p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62" name="Shape 6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3" name="Google Shape;63;p3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4" name="Google Shape;64;p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71" name="Shape 7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2" name="Google Shape;72;p4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73" name="Google Shape;73;p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80" name="Shape 8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1" name="Google Shape;81;p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82" name="Google Shape;82;p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87" name="Shape 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8" name="Google Shape;88;p6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89" name="Google Shape;89;p6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2" name="Shape 9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3" name="Google Shape;93;p7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94" name="Google Shape;94;p7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8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99" name="Google Shape;99;p8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9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05" name="Google Shape;105;p9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10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11" name="Google Shape;111;p1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6" name="Shape 1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7" name="Google Shape;117;p11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18" name="Google Shape;118;p1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24" name="Google Shape;124;p1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13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32" name="Google Shape;132;p1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14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38" name="Google Shape;138;p1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2" name="Shape 1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3" name="Google Shape;143;p1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44" name="Google Shape;144;p1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type="title">
  <p:cSld name="TITLE"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2"/>
          <p:cNvSpPr txBox="1"/>
          <p:nvPr>
            <p:ph type="ctrTitle"/>
          </p:nvPr>
        </p:nvSpPr>
        <p:spPr>
          <a:xfrm>
            <a:off x="311708" y="744575"/>
            <a:ext cx="8520600" cy="20526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200"/>
              <a:buFont typeface="Arial"/>
              <a:buNone/>
              <a:defRPr sz="5200"/>
            </a:lvl1pPr>
            <a:lvl2pPr lvl="1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2pPr>
            <a:lvl3pPr lvl="2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3pPr>
            <a:lvl4pPr lvl="3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4pPr>
            <a:lvl5pPr lvl="4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5pPr>
            <a:lvl6pPr lvl="5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6pPr>
            <a:lvl7pPr lvl="6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7pPr>
            <a:lvl8pPr lvl="7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8pPr>
            <a:lvl9pPr lvl="8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9pPr>
          </a:lstStyle>
          <a:p/>
        </p:txBody>
      </p:sp>
      <p:sp>
        <p:nvSpPr>
          <p:cNvPr id="11" name="Google Shape;11;p2"/>
          <p:cNvSpPr txBox="1"/>
          <p:nvPr>
            <p:ph idx="1" type="subTitle"/>
          </p:nvPr>
        </p:nvSpPr>
        <p:spPr>
          <a:xfrm>
            <a:off x="311700" y="2834125"/>
            <a:ext cx="8520600" cy="792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9pPr>
          </a:lstStyle>
          <a:p/>
        </p:txBody>
      </p:sp>
      <p:sp>
        <p:nvSpPr>
          <p:cNvPr id="12" name="Google Shape;12;p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body" type="tx">
  <p:cSld name="TITLE_AND_BODY">
    <p:spTree>
      <p:nvGrpSpPr>
        <p:cNvPr id="13" name="Shape 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Google Shape;14;p3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15" name="Google Shape;15;p3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16" name="Google Shape;16;p3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type="secHead">
  <p:cSld name="SECTION_HEADER">
    <p:spTree>
      <p:nvGrpSpPr>
        <p:cNvPr id="17" name="Shape 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" name="Google Shape;18;p4"/>
          <p:cNvSpPr txBox="1"/>
          <p:nvPr>
            <p:ph type="title"/>
          </p:nvPr>
        </p:nvSpPr>
        <p:spPr>
          <a:xfrm>
            <a:off x="311700" y="2150850"/>
            <a:ext cx="8520600" cy="841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600"/>
              <a:buFont typeface="Arial"/>
              <a:buNone/>
              <a:defRPr sz="3600"/>
            </a:lvl1pPr>
            <a:lvl2pPr lvl="1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2pPr>
            <a:lvl3pPr lvl="2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3pPr>
            <a:lvl4pPr lvl="3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4pPr>
            <a:lvl5pPr lvl="4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5pPr>
            <a:lvl6pPr lvl="5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6pPr>
            <a:lvl7pPr lvl="6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7pPr>
            <a:lvl8pPr lvl="7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8pPr>
            <a:lvl9pPr lvl="8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9pPr>
          </a:lstStyle>
          <a:p/>
        </p:txBody>
      </p:sp>
      <p:sp>
        <p:nvSpPr>
          <p:cNvPr id="19" name="Google Shape;19;p4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two columns" type="twoColTx">
  <p:cSld name="TITLE_AND_TWO_COLUMNS">
    <p:spTree>
      <p:nvGrpSpPr>
        <p:cNvPr id="20" name="Shape 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" name="Google Shape;21;p5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2" name="Google Shape;22;p5"/>
          <p:cNvSpPr txBox="1"/>
          <p:nvPr>
            <p:ph idx="1" type="body"/>
          </p:nvPr>
        </p:nvSpPr>
        <p:spPr>
          <a:xfrm>
            <a:off x="311700" y="1152475"/>
            <a:ext cx="39999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175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Font typeface="Arial"/>
              <a:buChar char="●"/>
              <a:defRPr sz="14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23" name="Google Shape;23;p5"/>
          <p:cNvSpPr txBox="1"/>
          <p:nvPr>
            <p:ph idx="2" type="body"/>
          </p:nvPr>
        </p:nvSpPr>
        <p:spPr>
          <a:xfrm>
            <a:off x="4832400" y="1152475"/>
            <a:ext cx="39999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175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Font typeface="Arial"/>
              <a:buChar char="●"/>
              <a:defRPr sz="14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24" name="Google Shape;24;p5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25" name="Shape 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" name="Google Shape;26;p6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7" name="Google Shape;27;p6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One column text">
  <p:cSld name="One column text">
    <p:spTree>
      <p:nvGrpSpPr>
        <p:cNvPr id="28" name="Shape 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" name="Google Shape;29;p7"/>
          <p:cNvSpPr txBox="1"/>
          <p:nvPr>
            <p:ph type="title"/>
          </p:nvPr>
        </p:nvSpPr>
        <p:spPr>
          <a:xfrm>
            <a:off x="311700" y="555600"/>
            <a:ext cx="2808000" cy="7557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  <a:defRPr sz="2400"/>
            </a:lvl1pPr>
            <a:lvl2pPr lvl="1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2pPr>
            <a:lvl3pPr lvl="2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3pPr>
            <a:lvl4pPr lvl="3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4pPr>
            <a:lvl5pPr lvl="4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5pPr>
            <a:lvl6pPr lvl="5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6pPr>
            <a:lvl7pPr lvl="6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7pPr>
            <a:lvl8pPr lvl="7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8pPr>
            <a:lvl9pPr lvl="8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9pPr>
          </a:lstStyle>
          <a:p/>
        </p:txBody>
      </p:sp>
      <p:sp>
        <p:nvSpPr>
          <p:cNvPr id="30" name="Google Shape;30;p7"/>
          <p:cNvSpPr txBox="1"/>
          <p:nvPr>
            <p:ph idx="1" type="body"/>
          </p:nvPr>
        </p:nvSpPr>
        <p:spPr>
          <a:xfrm>
            <a:off x="311700" y="1389600"/>
            <a:ext cx="2808000" cy="3179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048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31" name="Google Shape;31;p7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Main point">
  <p:cSld name="Main point">
    <p:spTree>
      <p:nvGrpSpPr>
        <p:cNvPr id="32" name="Shape 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" name="Google Shape;33;p8"/>
          <p:cNvSpPr txBox="1"/>
          <p:nvPr>
            <p:ph type="title"/>
          </p:nvPr>
        </p:nvSpPr>
        <p:spPr>
          <a:xfrm>
            <a:off x="490250" y="450150"/>
            <a:ext cx="6367800" cy="4090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800"/>
              <a:buFont typeface="Arial"/>
              <a:buNone/>
              <a:defRPr sz="4800"/>
            </a:lvl1pPr>
            <a:lvl2pPr lvl="1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2pPr>
            <a:lvl3pPr lvl="2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3pPr>
            <a:lvl4pPr lvl="3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4pPr>
            <a:lvl5pPr lvl="4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5pPr>
            <a:lvl6pPr lvl="5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6pPr>
            <a:lvl7pPr lvl="6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7pPr>
            <a:lvl8pPr lvl="7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8pPr>
            <a:lvl9pPr lvl="8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9pPr>
          </a:lstStyle>
          <a:p/>
        </p:txBody>
      </p:sp>
      <p:sp>
        <p:nvSpPr>
          <p:cNvPr id="34" name="Google Shape;34;p8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title and description">
  <p:cSld name="Section title and description">
    <p:spTree>
      <p:nvGrpSpPr>
        <p:cNvPr id="35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9"/>
          <p:cNvSpPr/>
          <p:nvPr/>
        </p:nvSpPr>
        <p:spPr>
          <a:xfrm>
            <a:off x="4572000" y="-125"/>
            <a:ext cx="4572000" cy="51435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7" name="Google Shape;37;p9"/>
          <p:cNvSpPr txBox="1"/>
          <p:nvPr>
            <p:ph type="title"/>
          </p:nvPr>
        </p:nvSpPr>
        <p:spPr>
          <a:xfrm>
            <a:off x="265500" y="1233175"/>
            <a:ext cx="4045200" cy="14823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Font typeface="Arial"/>
              <a:buNone/>
              <a:defRPr sz="4200"/>
            </a:lvl1pPr>
            <a:lvl2pPr lvl="1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2pPr>
            <a:lvl3pPr lvl="2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3pPr>
            <a:lvl4pPr lvl="3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4pPr>
            <a:lvl5pPr lvl="4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5pPr>
            <a:lvl6pPr lvl="5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6pPr>
            <a:lvl7pPr lvl="6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7pPr>
            <a:lvl8pPr lvl="7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8pPr>
            <a:lvl9pPr lvl="8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9pPr>
          </a:lstStyle>
          <a:p/>
        </p:txBody>
      </p:sp>
      <p:sp>
        <p:nvSpPr>
          <p:cNvPr id="38" name="Google Shape;38;p9"/>
          <p:cNvSpPr txBox="1"/>
          <p:nvPr>
            <p:ph idx="1" type="subTitle"/>
          </p:nvPr>
        </p:nvSpPr>
        <p:spPr>
          <a:xfrm>
            <a:off x="265500" y="2803075"/>
            <a:ext cx="4045200" cy="1235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9pPr>
          </a:lstStyle>
          <a:p/>
        </p:txBody>
      </p:sp>
      <p:sp>
        <p:nvSpPr>
          <p:cNvPr id="39" name="Google Shape;39;p9"/>
          <p:cNvSpPr txBox="1"/>
          <p:nvPr>
            <p:ph idx="2" type="body"/>
          </p:nvPr>
        </p:nvSpPr>
        <p:spPr>
          <a:xfrm>
            <a:off x="4939500" y="724075"/>
            <a:ext cx="3837000" cy="369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-3429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40" name="Google Shape;40;p9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aption">
  <p:cSld name="Caption">
    <p:spTree>
      <p:nvGrpSpPr>
        <p:cNvPr id="41" name="Shape 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" name="Google Shape;42;p10"/>
          <p:cNvSpPr txBox="1"/>
          <p:nvPr>
            <p:ph idx="1" type="body"/>
          </p:nvPr>
        </p:nvSpPr>
        <p:spPr>
          <a:xfrm>
            <a:off x="311700" y="4230575"/>
            <a:ext cx="5998800" cy="60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  <a:defRPr/>
            </a:lvl1pPr>
            <a:lvl2pPr indent="-342900" lvl="1" marL="9144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Char char="○"/>
              <a:defRPr/>
            </a:lvl2pPr>
            <a:lvl3pPr indent="-3429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■"/>
              <a:defRPr/>
            </a:lvl3pPr>
            <a:lvl4pPr indent="-3429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●"/>
              <a:defRPr/>
            </a:lvl4pPr>
            <a:lvl5pPr indent="-3429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○"/>
              <a:defRPr/>
            </a:lvl5pPr>
            <a:lvl6pPr indent="-3429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■"/>
              <a:defRPr/>
            </a:lvl6pPr>
            <a:lvl7pPr indent="-3429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●"/>
              <a:defRPr/>
            </a:lvl7pPr>
            <a:lvl8pPr indent="-3429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○"/>
              <a:defRPr/>
            </a:lvl8pPr>
            <a:lvl9pPr indent="-3429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800"/>
              <a:buChar char="■"/>
              <a:defRPr/>
            </a:lvl9pPr>
          </a:lstStyle>
          <a:p/>
        </p:txBody>
      </p:sp>
      <p:sp>
        <p:nvSpPr>
          <p:cNvPr id="43" name="Google Shape;43;p10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ig number">
  <p:cSld name="Big number">
    <p:spTree>
      <p:nvGrpSpPr>
        <p:cNvPr id="44" name="Shape 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" name="Google Shape;45;p11"/>
          <p:cNvSpPr txBox="1"/>
          <p:nvPr>
            <p:ph type="title"/>
          </p:nvPr>
        </p:nvSpPr>
        <p:spPr>
          <a:xfrm>
            <a:off x="311700" y="1106125"/>
            <a:ext cx="8520600" cy="19635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0"/>
              <a:buFont typeface="Arial"/>
              <a:buNone/>
              <a:defRPr sz="12000"/>
            </a:lvl1pPr>
            <a:lvl2pPr lvl="1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2pPr>
            <a:lvl3pPr lvl="2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3pPr>
            <a:lvl4pPr lvl="3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4pPr>
            <a:lvl5pPr lvl="4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5pPr>
            <a:lvl6pPr lvl="5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6pPr>
            <a:lvl7pPr lvl="6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7pPr>
            <a:lvl8pPr lvl="7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8pPr>
            <a:lvl9pPr lvl="8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9pPr>
          </a:lstStyle>
          <a:p/>
        </p:txBody>
      </p:sp>
      <p:sp>
        <p:nvSpPr>
          <p:cNvPr id="46" name="Google Shape;46;p11"/>
          <p:cNvSpPr txBox="1"/>
          <p:nvPr>
            <p:ph idx="1" type="body"/>
          </p:nvPr>
        </p:nvSpPr>
        <p:spPr>
          <a:xfrm>
            <a:off x="311700" y="3152225"/>
            <a:ext cx="8520600" cy="1300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ctr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47" name="Google Shape;47;p11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type="blank">
  <p:cSld name="BLANK">
    <p:spTree>
      <p:nvGrpSpPr>
        <p:cNvPr id="48" name="Shape 4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9" name="Google Shape;49;p1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 name="simple-light-2">
    <p:bg>
      <p:bgPr>
        <a:solidFill>
          <a:schemeClr val="lt1"/>
        </a:solidFill>
      </p:bgPr>
    </p:bg>
    <p:spTree>
      <p:nvGrpSpPr>
        <p:cNvPr id="5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1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b="0" i="0" sz="2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9pPr>
          </a:lstStyle>
          <a:p/>
        </p:txBody>
      </p:sp>
      <p:sp>
        <p:nvSpPr>
          <p:cNvPr id="7" name="Google Shape;7;p1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800"/>
              <a:buFont typeface="Arial"/>
              <a:buChar char="●"/>
              <a:defRPr b="0" i="0" sz="18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17500" lvl="1" marL="9144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17500" lvl="2" marL="13716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●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-317500" lvl="6" marL="32004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●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-317500" lvl="7" marL="36576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-317500" lvl="8" marL="4114800" marR="0" rtl="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8" name="Google Shape;8;p1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 sz="1400">
              <a:solidFill>
                <a:srgbClr val="000000"/>
              </a:solidFill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4.png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Relationship Id="rId3" Type="http://schemas.openxmlformats.org/officeDocument/2006/relationships/image" Target="../media/image3.png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2.pn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5.png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Relationship Id="rId3" Type="http://schemas.openxmlformats.org/officeDocument/2006/relationships/image" Target="../media/image1.png"/><Relationship Id="rId4" Type="http://schemas.openxmlformats.org/officeDocument/2006/relationships/image" Target="../media/image6.png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53" name="Shape 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4" name="Google Shape;54;p13"/>
          <p:cNvSpPr txBox="1"/>
          <p:nvPr/>
        </p:nvSpPr>
        <p:spPr>
          <a:xfrm>
            <a:off x="1606600" y="1067075"/>
            <a:ext cx="6294600" cy="2733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6000"/>
              <a:buFont typeface="Arial"/>
              <a:buNone/>
            </a:pPr>
            <a:r>
              <a:rPr b="1" i="0" lang="en-GB" sz="6000" u="sng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Animal diseases and modes of transmission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58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14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rPr b="1" lang="en-GB" sz="2400" u="sng"/>
              <a:t>Name a disease that each of these animals can contract:</a:t>
            </a:r>
            <a:endParaRPr/>
          </a:p>
        </p:txBody>
      </p:sp>
      <p:sp>
        <p:nvSpPr>
          <p:cNvPr id="60" name="Google Shape;60;p14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55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Cat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Dog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Rabbit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Goats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Chickens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Bearded Dragon</a:t>
            </a:r>
            <a:endParaRPr/>
          </a:p>
        </p:txBody>
      </p:sp>
      <p:sp>
        <p:nvSpPr>
          <p:cNvPr id="61" name="Google Shape;61;p14"/>
          <p:cNvSpPr/>
          <p:nvPr/>
        </p:nvSpPr>
        <p:spPr>
          <a:xfrm>
            <a:off x="4987650" y="1481875"/>
            <a:ext cx="3453000" cy="3313800"/>
          </a:xfrm>
          <a:prstGeom prst="star6">
            <a:avLst>
              <a:gd fmla="val 28868" name="adj"/>
              <a:gd fmla="val 115470" name="hf"/>
            </a:avLst>
          </a:prstGeom>
          <a:solidFill>
            <a:srgbClr val="F1C232"/>
          </a:solidFill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None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Write your answers in your notebook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65" name="Shape 6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6" name="Google Shape;66;p15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BACTERIA</a:t>
            </a:r>
            <a:endParaRPr/>
          </a:p>
        </p:txBody>
      </p:sp>
      <p:pic>
        <p:nvPicPr>
          <p:cNvPr id="67" name="Google Shape;67;p1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068100" y="2069350"/>
            <a:ext cx="4130800" cy="3182074"/>
          </a:xfrm>
          <a:prstGeom prst="rect">
            <a:avLst/>
          </a:prstGeom>
          <a:noFill/>
          <a:ln>
            <a:noFill/>
          </a:ln>
        </p:spPr>
      </p:pic>
      <p:sp>
        <p:nvSpPr>
          <p:cNvPr id="68" name="Google Shape;68;p15"/>
          <p:cNvSpPr txBox="1"/>
          <p:nvPr/>
        </p:nvSpPr>
        <p:spPr>
          <a:xfrm>
            <a:off x="5515175" y="1774450"/>
            <a:ext cx="2361900" cy="887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810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Has a cell wall</a:t>
            </a:r>
            <a:endParaRPr/>
          </a:p>
        </p:txBody>
      </p:sp>
      <p:cxnSp>
        <p:nvCxnSpPr>
          <p:cNvPr id="69" name="Google Shape;69;p15"/>
          <p:cNvCxnSpPr>
            <a:stCxn id="68" idx="2"/>
          </p:cNvCxnSpPr>
          <p:nvPr/>
        </p:nvCxnSpPr>
        <p:spPr>
          <a:xfrm>
            <a:off x="6696125" y="2661550"/>
            <a:ext cx="330000" cy="803400"/>
          </a:xfrm>
          <a:prstGeom prst="straightConnector1">
            <a:avLst/>
          </a:prstGeom>
          <a:noFill/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lg" w="lg" type="triangle"/>
          </a:ln>
        </p:spPr>
      </p:cxnSp>
      <p:sp>
        <p:nvSpPr>
          <p:cNvPr id="70" name="Google Shape;70;p15"/>
          <p:cNvSpPr txBox="1"/>
          <p:nvPr/>
        </p:nvSpPr>
        <p:spPr>
          <a:xfrm>
            <a:off x="599475" y="1678525"/>
            <a:ext cx="4244400" cy="2889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Living cell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that can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reproduce by itself. 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1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Does not need a host to survive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(It doesn't have to live inside an animal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- It can live in the environment)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1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Invisible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to the naked eye.</a:t>
            </a:r>
            <a:endParaRPr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74" name="Shape 7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5" name="Google Shape;75;p16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VIRUS</a:t>
            </a:r>
            <a:endParaRPr/>
          </a:p>
        </p:txBody>
      </p:sp>
      <p:pic>
        <p:nvPicPr>
          <p:cNvPr id="76" name="Google Shape;76;p1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367825" y="2861275"/>
            <a:ext cx="3528375" cy="2057900"/>
          </a:xfrm>
          <a:prstGeom prst="rect">
            <a:avLst/>
          </a:prstGeom>
          <a:noFill/>
          <a:ln>
            <a:noFill/>
          </a:ln>
        </p:spPr>
      </p:pic>
      <p:sp>
        <p:nvSpPr>
          <p:cNvPr id="77" name="Google Shape;77;p16"/>
          <p:cNvSpPr txBox="1"/>
          <p:nvPr/>
        </p:nvSpPr>
        <p:spPr>
          <a:xfrm>
            <a:off x="4855750" y="1558625"/>
            <a:ext cx="3824700" cy="887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810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Has a protein coating (instead of a cell wall)</a:t>
            </a:r>
            <a:endParaRPr/>
          </a:p>
        </p:txBody>
      </p:sp>
      <p:cxnSp>
        <p:nvCxnSpPr>
          <p:cNvPr id="78" name="Google Shape;78;p16"/>
          <p:cNvCxnSpPr/>
          <p:nvPr/>
        </p:nvCxnSpPr>
        <p:spPr>
          <a:xfrm>
            <a:off x="5868850" y="2385800"/>
            <a:ext cx="653400" cy="635700"/>
          </a:xfrm>
          <a:prstGeom prst="straightConnector1">
            <a:avLst/>
          </a:prstGeom>
          <a:noFill/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lg" w="lg" type="triangle"/>
          </a:ln>
        </p:spPr>
      </p:cxnSp>
      <p:sp>
        <p:nvSpPr>
          <p:cNvPr id="79" name="Google Shape;79;p16"/>
          <p:cNvSpPr txBox="1"/>
          <p:nvPr/>
        </p:nvSpPr>
        <p:spPr>
          <a:xfrm>
            <a:off x="599475" y="1678525"/>
            <a:ext cx="3704700" cy="2889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Not living itself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- uses living animals cells to survive (so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MUST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have a host)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Even smaller than a Bacteria!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Must use a strong microscope to see.</a:t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83" name="Shape 8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4" name="Google Shape;84;p17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FUNGI</a:t>
            </a:r>
            <a:endParaRPr/>
          </a:p>
        </p:txBody>
      </p:sp>
      <p:pic>
        <p:nvPicPr>
          <p:cNvPr id="85" name="Google Shape;85;p1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 rot="5400000">
            <a:off x="5724563" y="1921287"/>
            <a:ext cx="3742525" cy="2010100"/>
          </a:xfrm>
          <a:prstGeom prst="rect">
            <a:avLst/>
          </a:prstGeom>
          <a:noFill/>
          <a:ln cap="flat" cmpd="sng" w="28575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</p:pic>
      <p:sp>
        <p:nvSpPr>
          <p:cNvPr id="86" name="Google Shape;86;p17"/>
          <p:cNvSpPr txBox="1"/>
          <p:nvPr/>
        </p:nvSpPr>
        <p:spPr>
          <a:xfrm>
            <a:off x="395650" y="1834400"/>
            <a:ext cx="5383200" cy="2901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Includes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moulds, yeasts and mushrooms.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Most fungi can be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seen with the naked eye.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Most fungi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live in the environment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and do not need a host to survive.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0" name="Shape 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91" name="Google Shape;91;p18"/>
          <p:cNvGraphicFramePr/>
          <p:nvPr/>
        </p:nvGraphicFramePr>
        <p:xfrm>
          <a:off x="952500" y="5148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{DB85728B-FD22-498F-A0BE-C2A8A1EB10E7}</a:tableStyleId>
              </a:tblPr>
              <a:tblGrid>
                <a:gridCol w="1809750"/>
                <a:gridCol w="1809750"/>
                <a:gridCol w="1809750"/>
                <a:gridCol w="1809750"/>
              </a:tblGrid>
              <a:tr h="10033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Can it live/reproduce in the environment?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Does it need a host to survive?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lang="en-GB" sz="1400" u="none" cap="none" strike="noStrike">
                          <a:solidFill>
                            <a:schemeClr val="dk1"/>
                          </a:solidFill>
                        </a:rPr>
                        <a:t>Can it be seen with the naked eye?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319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Bacteria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836050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Virus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8360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Fungi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5" name="Shape 9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96" name="Google Shape;96;p19"/>
          <p:cNvGraphicFramePr/>
          <p:nvPr/>
        </p:nvGraphicFramePr>
        <p:xfrm>
          <a:off x="952500" y="5148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{DB85728B-FD22-498F-A0BE-C2A8A1EB10E7}</a:tableStyleId>
              </a:tblPr>
              <a:tblGrid>
                <a:gridCol w="1809750"/>
                <a:gridCol w="1809750"/>
                <a:gridCol w="1809750"/>
                <a:gridCol w="1809750"/>
              </a:tblGrid>
              <a:tr h="10033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Can it live/reproduce in the environment?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Does it need a host to survive?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>
                          <a:solidFill>
                            <a:schemeClr val="dk1"/>
                          </a:solidFill>
                        </a:rPr>
                        <a:t>Can it be seen with the naked eye?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31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Bacteria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>
                        <a:solidFill>
                          <a:srgbClr val="990000"/>
                        </a:solidFill>
                      </a:endParaRPr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79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Virus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>
                        <a:solidFill>
                          <a:srgbClr val="990000"/>
                        </a:solidFill>
                      </a:endParaRPr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55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Fungi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20"/>
          <p:cNvSpPr txBox="1"/>
          <p:nvPr>
            <p:ph type="title"/>
          </p:nvPr>
        </p:nvSpPr>
        <p:spPr>
          <a:xfrm>
            <a:off x="311700" y="27717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Font typeface="Arial"/>
              <a:buNone/>
            </a:pPr>
            <a:r>
              <a:rPr b="1" lang="en-GB" sz="3000" u="sng"/>
              <a:t>Name three differences between a Bacteria and a Virus</a:t>
            </a:r>
            <a:endParaRPr/>
          </a:p>
        </p:txBody>
      </p:sp>
      <p:sp>
        <p:nvSpPr>
          <p:cNvPr id="102" name="Google Shape;102;p20"/>
          <p:cNvSpPr txBox="1"/>
          <p:nvPr>
            <p:ph idx="1" type="body"/>
          </p:nvPr>
        </p:nvSpPr>
        <p:spPr>
          <a:xfrm>
            <a:off x="311700" y="1438750"/>
            <a:ext cx="8520600" cy="2974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21"/>
          <p:cNvSpPr txBox="1"/>
          <p:nvPr>
            <p:ph type="title"/>
          </p:nvPr>
        </p:nvSpPr>
        <p:spPr>
          <a:xfrm>
            <a:off x="311700" y="27717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Font typeface="Arial"/>
              <a:buNone/>
            </a:pPr>
            <a:r>
              <a:rPr b="1" lang="en-GB" sz="3000" u="sng"/>
              <a:t>Name three differences between a Bacteria and a Virus</a:t>
            </a:r>
            <a:endParaRPr/>
          </a:p>
        </p:txBody>
      </p:sp>
      <p:sp>
        <p:nvSpPr>
          <p:cNvPr id="108" name="Google Shape;108;p21"/>
          <p:cNvSpPr txBox="1"/>
          <p:nvPr>
            <p:ph idx="1" type="body"/>
          </p:nvPr>
        </p:nvSpPr>
        <p:spPr>
          <a:xfrm>
            <a:off x="311700" y="1438750"/>
            <a:ext cx="8520600" cy="2974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has a cell wall, a virus has a protein coating.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is a living cell (that does not need a host). A virus is not living (therefore needs a host to survive).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is much bigger than a virus.</a:t>
            </a:r>
            <a:endParaRPr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22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14" name="Google Shape;114;p22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Direct contact :</a:t>
            </a:r>
            <a:r>
              <a:rPr lang="en-GB" sz="2400">
                <a:solidFill>
                  <a:srgbClr val="000000"/>
                </a:solidFill>
              </a:rPr>
              <a:t> defined as occurring when one part of an animal comes into contact with the body of another animal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sz="24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Eg. Skin to skin contact - Mother nursing puppies/kittens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			      -  Animals playing together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Animals licking/grooming each other 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  <p:pic>
        <p:nvPicPr>
          <p:cNvPr id="115" name="Google Shape;115;p22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942675" y="2456050"/>
            <a:ext cx="2521925" cy="23877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23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21" name="Google Shape;121;p23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Indirect contact:</a:t>
            </a:r>
            <a:r>
              <a:rPr lang="en-GB" sz="2400">
                <a:solidFill>
                  <a:srgbClr val="000000"/>
                </a:solidFill>
              </a:rPr>
              <a:t> defined as occurring when two or more animals come into contact with the same materials (or objects) which then act as the source of infection.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Eg . Bodily secretions (blood/ saliva/ vomit/ feces/ mucus/ reproductive fluids)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Objects (bedding/ housing/ water bottles/ brushes/ food)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sz="24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24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27" name="Google Shape;127;p24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Vector transmission: </a:t>
            </a:r>
            <a:r>
              <a:rPr lang="en-GB" sz="2400">
                <a:solidFill>
                  <a:srgbClr val="000000"/>
                </a:solidFill>
              </a:rPr>
              <a:t>when disease is spread by biting insects and ticks. The insect or tick carries the disease but is not affected by the disease.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  <p:pic>
        <p:nvPicPr>
          <p:cNvPr id="128" name="Google Shape;128;p2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522104" y="2372775"/>
            <a:ext cx="2846575" cy="2686400"/>
          </a:xfrm>
          <a:prstGeom prst="rect">
            <a:avLst/>
          </a:prstGeom>
          <a:noFill/>
          <a:ln>
            <a:noFill/>
          </a:ln>
        </p:spPr>
      </p:pic>
      <p:pic>
        <p:nvPicPr>
          <p:cNvPr id="129" name="Google Shape;129;p24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1679075" y="3057250"/>
            <a:ext cx="2217525" cy="166315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25"/>
          <p:cNvSpPr txBox="1"/>
          <p:nvPr>
            <p:ph type="title"/>
          </p:nvPr>
        </p:nvSpPr>
        <p:spPr>
          <a:xfrm>
            <a:off x="311700" y="241200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What could you do to prevent diseases being spread by each mode of transmission?</a:t>
            </a:r>
            <a:endParaRPr/>
          </a:p>
        </p:txBody>
      </p:sp>
      <p:graphicFrame>
        <p:nvGraphicFramePr>
          <p:cNvPr id="135" name="Google Shape;135;p25"/>
          <p:cNvGraphicFramePr/>
          <p:nvPr/>
        </p:nvGraphicFramePr>
        <p:xfrm>
          <a:off x="604825" y="15672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{DB85728B-FD22-498F-A0BE-C2A8A1EB10E7}</a:tableStyleId>
              </a:tblPr>
              <a:tblGrid>
                <a:gridCol w="2736725"/>
                <a:gridCol w="2748700"/>
                <a:gridCol w="2640800"/>
              </a:tblGrid>
              <a:tr h="3810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Indirect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Vector Transmission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790900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9" name="Shape 1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0" name="Google Shape;140;p26"/>
          <p:cNvSpPr txBox="1"/>
          <p:nvPr>
            <p:ph type="title"/>
          </p:nvPr>
        </p:nvSpPr>
        <p:spPr>
          <a:xfrm>
            <a:off x="311700" y="241200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What could you do to prevent diseases being spread by each mode of transmission?</a:t>
            </a:r>
            <a:endParaRPr/>
          </a:p>
        </p:txBody>
      </p:sp>
      <p:graphicFrame>
        <p:nvGraphicFramePr>
          <p:cNvPr id="141" name="Google Shape;141;p26"/>
          <p:cNvGraphicFramePr/>
          <p:nvPr/>
        </p:nvGraphicFramePr>
        <p:xfrm>
          <a:off x="604825" y="15672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{DB85728B-FD22-498F-A0BE-C2A8A1EB10E7}</a:tableStyleId>
              </a:tblPr>
              <a:tblGrid>
                <a:gridCol w="2736725"/>
                <a:gridCol w="2748700"/>
                <a:gridCol w="2640800"/>
              </a:tblGrid>
              <a:tr h="3810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Indirect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Vector Transmission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790900"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Isolate any animals that come onto the premises until you are sure they are healthy.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Quarantine any ill animals until they are recovered.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Keep animals away from wildlife where possible.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Use P.P.E (Personal Protective Equipment) when treating illness and  ensure it is changed between animals.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Clean and disinfect animal housing and accessories regularly.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Dispose of animal waste properly.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Treat animals for parasites.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Treat environment for parasites.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Vaccinate animals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5" name="Shape 1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Google Shape;146;p27"/>
          <p:cNvSpPr txBox="1"/>
          <p:nvPr>
            <p:ph type="title"/>
          </p:nvPr>
        </p:nvSpPr>
        <p:spPr>
          <a:xfrm>
            <a:off x="311700" y="2172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Write up a list of what you can do daily and weekly to help prevent and control disease (pick an animal we look after in school!)</a:t>
            </a:r>
            <a:endParaRPr/>
          </a:p>
        </p:txBody>
      </p:sp>
      <p:graphicFrame>
        <p:nvGraphicFramePr>
          <p:cNvPr id="147" name="Google Shape;147;p27"/>
          <p:cNvGraphicFramePr/>
          <p:nvPr/>
        </p:nvGraphicFramePr>
        <p:xfrm>
          <a:off x="478900" y="189102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{DB85728B-FD22-498F-A0BE-C2A8A1EB10E7}</a:tableStyleId>
              </a:tblPr>
              <a:tblGrid>
                <a:gridCol w="3991150"/>
                <a:gridCol w="4195025"/>
              </a:tblGrid>
              <a:tr h="3090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Daily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Weekly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56307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Simple Light">
  <a:themeElements>
    <a:clrScheme name="Simple Light">
      <a:dk1>
        <a:srgbClr val="000000"/>
      </a:dk1>
      <a:lt1>
        <a:srgbClr val="FFFFFF"/>
      </a:lt1>
      <a:dk2>
        <a:srgbClr val="595959"/>
      </a:dk2>
      <a:lt2>
        <a:srgbClr val="EEEEEE"/>
      </a:lt2>
      <a:accent1>
        <a:srgbClr val="FFAB40"/>
      </a:accent1>
      <a:accent2>
        <a:srgbClr val="212121"/>
      </a:accent2>
      <a:accent3>
        <a:srgbClr val="78909C"/>
      </a:accent3>
      <a:accent4>
        <a:srgbClr val="FFAB40"/>
      </a:accent4>
      <a:accent5>
        <a:srgbClr val="0097A7"/>
      </a:accent5>
      <a:accent6>
        <a:srgbClr val="EEFF41"/>
      </a:accent6>
      <a:hlink>
        <a:srgbClr val="0097A7"/>
      </a:hlink>
      <a:folHlink>
        <a:srgbClr val="0097A7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Custom Theme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