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9B953C45-3C1E-4198-9267-1B560FD703D6}">
  <a:tblStyle styleId="{9B953C45-3C1E-4198-9267-1B560FD703D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  <a:defRPr b="0" i="0" sz="1100" u="none" cap="none" strike="noStrike"/>
            </a:lvl1pPr>
            <a:lvl2pPr indent="-298450" lvl="1" marL="9144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  <a:defRPr b="0" i="0" sz="1100" u="none" cap="none" strike="noStrike"/>
            </a:lvl2pPr>
            <a:lvl3pPr indent="-298450" lvl="2" marL="13716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■"/>
              <a:defRPr b="0" i="0" sz="1100" u="none" cap="none" strike="noStrike"/>
            </a:lvl3pPr>
            <a:lvl4pPr indent="-298450" lvl="3" marL="18288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  <a:defRPr b="0" i="0" sz="1100" u="none" cap="none" strike="noStrike"/>
            </a:lvl4pPr>
            <a:lvl5pPr indent="-298450" lvl="4" marL="22860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  <a:defRPr b="0" i="0" sz="1100" u="none" cap="none" strike="noStrike"/>
            </a:lvl5pPr>
            <a:lvl6pPr indent="-298450" lvl="5" marL="27432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■"/>
              <a:defRPr b="0" i="0" sz="1100" u="none" cap="none" strike="noStrike"/>
            </a:lvl6pPr>
            <a:lvl7pPr indent="-298450" lvl="6" marL="32004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  <a:defRPr b="0" i="0" sz="1100" u="none" cap="none" strike="noStrike"/>
            </a:lvl7pPr>
            <a:lvl8pPr indent="-298450" lvl="7" marL="36576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  <a:defRPr b="0" i="0" sz="1100" u="none" cap="none" strike="noStrike"/>
            </a:lvl8pPr>
            <a:lvl9pPr indent="-298450" lvl="8" marL="41148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■"/>
              <a:defRPr b="0" i="0" sz="11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Arial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rial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Arial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Arial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 column 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Arial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 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 title and 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rial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rial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 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Arial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rial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606600" y="1067075"/>
            <a:ext cx="6294600" cy="27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GB" sz="6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Animal diseases and modes of transmission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rPr b="1" lang="en-GB" sz="2400" u="sng"/>
              <a:t>Name a disease that each of these animals can contract: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1" lang="en-GB" sz="2000">
                <a:solidFill>
                  <a:srgbClr val="000000"/>
                </a:solidFill>
              </a:rPr>
              <a:t>Cat</a:t>
            </a:r>
            <a:endParaRPr/>
          </a:p>
          <a:p>
            <a:pPr indent="-35560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1" lang="en-GB" sz="2000">
                <a:solidFill>
                  <a:srgbClr val="000000"/>
                </a:solidFill>
              </a:rPr>
              <a:t>Dog</a:t>
            </a:r>
            <a:endParaRPr/>
          </a:p>
          <a:p>
            <a:pPr indent="-35560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1" lang="en-GB" sz="2000">
                <a:solidFill>
                  <a:srgbClr val="000000"/>
                </a:solidFill>
              </a:rPr>
              <a:t>Rabbit</a:t>
            </a:r>
            <a:endParaRPr/>
          </a:p>
          <a:p>
            <a:pPr indent="-35560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1" lang="en-GB" sz="2000">
                <a:solidFill>
                  <a:srgbClr val="000000"/>
                </a:solidFill>
              </a:rPr>
              <a:t>Goats</a:t>
            </a:r>
            <a:endParaRPr/>
          </a:p>
          <a:p>
            <a:pPr indent="-35560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1" lang="en-GB" sz="2000">
                <a:solidFill>
                  <a:srgbClr val="000000"/>
                </a:solidFill>
              </a:rPr>
              <a:t>Chickens</a:t>
            </a:r>
            <a:endParaRPr/>
          </a:p>
          <a:p>
            <a:pPr indent="-35560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1" lang="en-GB" sz="2000">
                <a:solidFill>
                  <a:srgbClr val="000000"/>
                </a:solidFill>
              </a:rPr>
              <a:t>Bearded Dragon</a:t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4987650" y="1481875"/>
            <a:ext cx="3453000" cy="3313800"/>
          </a:xfrm>
          <a:prstGeom prst="star6">
            <a:avLst>
              <a:gd fmla="val 28868" name="adj"/>
              <a:gd fmla="val 115470" name="hf"/>
            </a:avLst>
          </a:prstGeom>
          <a:solidFill>
            <a:srgbClr val="F1C23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Write your answers in your notebook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45750" y="277175"/>
            <a:ext cx="8452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b="1" lang="en-GB" u="sng"/>
              <a:t>Disease causing Microorganisms;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b="1" lang="en-GB" u="sng"/>
              <a:t>BACTERIA</a:t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68100" y="2069350"/>
            <a:ext cx="4130800" cy="3182074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/>
        </p:nvSpPr>
        <p:spPr>
          <a:xfrm>
            <a:off x="5515175" y="1774450"/>
            <a:ext cx="2361900" cy="8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b="1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Has a cell wall</a:t>
            </a:r>
            <a:endParaRPr/>
          </a:p>
        </p:txBody>
      </p:sp>
      <p:cxnSp>
        <p:nvCxnSpPr>
          <p:cNvPr id="69" name="Google Shape;69;p15"/>
          <p:cNvCxnSpPr>
            <a:stCxn id="68" idx="2"/>
          </p:cNvCxnSpPr>
          <p:nvPr/>
        </p:nvCxnSpPr>
        <p:spPr>
          <a:xfrm>
            <a:off x="6696125" y="2661550"/>
            <a:ext cx="330000" cy="803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lg" w="lg" type="triangle"/>
          </a:ln>
        </p:spPr>
      </p:cxnSp>
      <p:sp>
        <p:nvSpPr>
          <p:cNvPr id="70" name="Google Shape;70;p15"/>
          <p:cNvSpPr txBox="1"/>
          <p:nvPr/>
        </p:nvSpPr>
        <p:spPr>
          <a:xfrm>
            <a:off x="599475" y="1678525"/>
            <a:ext cx="4244400" cy="28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Living cell </a:t>
            </a: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that can</a:t>
            </a: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reproduce by itself.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Does not need a host to survive </a:t>
            </a: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(It doesn't have to live inside an animal</a:t>
            </a: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It can live in the environment)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Invisible </a:t>
            </a: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the naked eye.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45750" y="277175"/>
            <a:ext cx="8452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b="1" lang="en-GB" u="sng"/>
              <a:t>Disease causing Microorganisms;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b="1" lang="en-GB" u="sng"/>
              <a:t>VIRUS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7825" y="2861275"/>
            <a:ext cx="3528375" cy="20579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4855750" y="1558625"/>
            <a:ext cx="3824700" cy="8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b="1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Has a protein coating (instead of a cell wall)</a:t>
            </a:r>
            <a:endParaRPr/>
          </a:p>
        </p:txBody>
      </p:sp>
      <p:cxnSp>
        <p:nvCxnSpPr>
          <p:cNvPr id="78" name="Google Shape;78;p16"/>
          <p:cNvCxnSpPr/>
          <p:nvPr/>
        </p:nvCxnSpPr>
        <p:spPr>
          <a:xfrm>
            <a:off x="5868850" y="2385800"/>
            <a:ext cx="653400" cy="635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lg" w="lg" type="triangle"/>
          </a:ln>
        </p:spPr>
      </p:cxnSp>
      <p:sp>
        <p:nvSpPr>
          <p:cNvPr id="79" name="Google Shape;79;p16"/>
          <p:cNvSpPr txBox="1"/>
          <p:nvPr/>
        </p:nvSpPr>
        <p:spPr>
          <a:xfrm>
            <a:off x="599475" y="1678525"/>
            <a:ext cx="3704700" cy="28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 living itself</a:t>
            </a: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uses living animals cells to survive (so </a:t>
            </a: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MUST </a:t>
            </a: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have a host)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Even smaller than a Bacteria! </a:t>
            </a: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Must use a strong microscope to see.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45750" y="277175"/>
            <a:ext cx="8452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b="1" lang="en-GB" u="sng"/>
              <a:t>Disease causing Microorganisms;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b="1" lang="en-GB" u="sng"/>
              <a:t>FUNGI</a:t>
            </a:r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724563" y="1921287"/>
            <a:ext cx="3742525" cy="20101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6" name="Google Shape;86;p17"/>
          <p:cNvSpPr txBox="1"/>
          <p:nvPr/>
        </p:nvSpPr>
        <p:spPr>
          <a:xfrm>
            <a:off x="395650" y="1834400"/>
            <a:ext cx="53832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Includes </a:t>
            </a: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moulds, yeasts and mushrooms.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Most fungi can be </a:t>
            </a: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seen with the naked eye.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Most fungi </a:t>
            </a: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live in the environment </a:t>
            </a: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do not need a host to survive.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" name="Google Shape;91;p18"/>
          <p:cNvGraphicFramePr/>
          <p:nvPr/>
        </p:nvGraphicFramePr>
        <p:xfrm>
          <a:off x="952500" y="51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{9B953C45-3C1E-4198-9267-1B560FD703D6}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100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Can it live/reproduce in the environment?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Does it need a host to survive?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chemeClr val="dk1"/>
                          </a:solidFill>
                        </a:rPr>
                        <a:t>Can it be seen with the naked eye?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1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/>
                        <a:t>Bacteria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36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/>
                        <a:t>Virus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3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/>
                        <a:t>Fungi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" name="Google Shape;96;p19"/>
          <p:cNvGraphicFramePr/>
          <p:nvPr/>
        </p:nvGraphicFramePr>
        <p:xfrm>
          <a:off x="952500" y="51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{9B953C45-3C1E-4198-9267-1B560FD703D6}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100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Can it live/reproduce in the environment?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Does it need a host to survive?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solidFill>
                            <a:schemeClr val="dk1"/>
                          </a:solidFill>
                        </a:rPr>
                        <a:t>Can it be seen with the naked eye?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1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/>
                        <a:t>Bacteria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8761D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>
                          <a:solidFill>
                            <a:srgbClr val="38761D"/>
                          </a:solidFill>
                        </a:rPr>
                        <a:t>Yes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>
                          <a:solidFill>
                            <a:srgbClr val="990000"/>
                          </a:solidFill>
                        </a:rPr>
                        <a:t>No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>
                        <a:solidFill>
                          <a:srgbClr val="99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>
                          <a:solidFill>
                            <a:srgbClr val="990000"/>
                          </a:solidFill>
                        </a:rPr>
                        <a:t>No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9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/>
                        <a:t>Virus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>
                          <a:solidFill>
                            <a:srgbClr val="990000"/>
                          </a:solidFill>
                        </a:rPr>
                        <a:t>No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8761D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>
                          <a:solidFill>
                            <a:srgbClr val="38761D"/>
                          </a:solidFill>
                        </a:rPr>
                        <a:t>Yes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>
                        <a:solidFill>
                          <a:srgbClr val="99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>
                          <a:solidFill>
                            <a:srgbClr val="990000"/>
                          </a:solidFill>
                        </a:rPr>
                        <a:t>No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5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/>
                        <a:t>Fungi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8761D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>
                          <a:solidFill>
                            <a:srgbClr val="38761D"/>
                          </a:solidFill>
                        </a:rPr>
                        <a:t>Yes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>
                          <a:solidFill>
                            <a:srgbClr val="990000"/>
                          </a:solidFill>
                        </a:rPr>
                        <a:t>No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8761D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GB" sz="1800" u="none" cap="none" strike="noStrike">
                          <a:solidFill>
                            <a:srgbClr val="38761D"/>
                          </a:solidFill>
                        </a:rPr>
                        <a:t>Yes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277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None/>
            </a:pPr>
            <a:r>
              <a:rPr b="1" lang="en-GB" sz="3000" u="sng"/>
              <a:t>Name three differences between a Bacteria and a Virus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438750"/>
            <a:ext cx="8520600" cy="29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-GB">
                <a:solidFill>
                  <a:srgbClr val="000000"/>
                </a:solidFill>
              </a:rPr>
              <a:t>__________________________________________________________________________________________________________________________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228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-GB">
                <a:solidFill>
                  <a:srgbClr val="000000"/>
                </a:solidFill>
              </a:rPr>
              <a:t>__________________________________________________________________________________________________________________________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228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-GB">
                <a:solidFill>
                  <a:srgbClr val="000000"/>
                </a:solidFill>
              </a:rPr>
              <a:t>__________________________________________________________________________________________________________________________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277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None/>
            </a:pPr>
            <a:r>
              <a:rPr b="1" lang="en-GB" sz="3000" u="sng"/>
              <a:t>Name three differences between a Bacteria and a Virus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438750"/>
            <a:ext cx="8520600" cy="29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228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-GB">
                <a:solidFill>
                  <a:srgbClr val="000000"/>
                </a:solidFill>
              </a:rPr>
              <a:t>A bacteria has a cell wall, a virus has a protein coating.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228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-GB">
                <a:solidFill>
                  <a:srgbClr val="000000"/>
                </a:solidFill>
              </a:rPr>
              <a:t>A bacteria is a living cell (that does not need a host). A virus is not living (therefore needs a host to survive).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228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-GB">
                <a:solidFill>
                  <a:srgbClr val="000000"/>
                </a:solidFill>
              </a:rPr>
              <a:t>A bacteria is much bigger than a virus.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b="1" lang="en-GB" u="sng"/>
              <a:t>Modes of transmission: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7088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b="1" sz="24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b="1" lang="en-GB" sz="2400">
                <a:solidFill>
                  <a:srgbClr val="000000"/>
                </a:solidFill>
              </a:rPr>
              <a:t>Direct contact :</a:t>
            </a:r>
            <a:r>
              <a:rPr lang="en-GB" sz="2400">
                <a:solidFill>
                  <a:srgbClr val="000000"/>
                </a:solidFill>
              </a:rPr>
              <a:t> defined as occurring when one part of an animal comes into contact with the body of another animal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rPr lang="en-GB" sz="1600">
                <a:solidFill>
                  <a:srgbClr val="000000"/>
                </a:solidFill>
              </a:rPr>
              <a:t>Eg. Skin to skin contact - Mother nursing puppies/kittens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rPr lang="en-GB" sz="1600">
                <a:solidFill>
                  <a:srgbClr val="000000"/>
                </a:solidFill>
              </a:rPr>
              <a:t>				      -  Animals playing together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rPr lang="en-GB" sz="1600">
                <a:solidFill>
                  <a:srgbClr val="000000"/>
                </a:solidFill>
              </a:rPr>
              <a:t>	Animals licking/grooming each other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GB">
                <a:solidFill>
                  <a:srgbClr val="000000"/>
                </a:solidFill>
              </a:rPr>
              <a:t>	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15" name="Google Shape;11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2675" y="2456050"/>
            <a:ext cx="2521925" cy="238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b="1" lang="en-GB" u="sng"/>
              <a:t>Modes of transmission:</a:t>
            </a:r>
            <a:endParaRPr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7088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b="1" sz="24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b="1" lang="en-GB" sz="2400">
                <a:solidFill>
                  <a:srgbClr val="000000"/>
                </a:solidFill>
              </a:rPr>
              <a:t>Indirect contact:</a:t>
            </a:r>
            <a:r>
              <a:rPr lang="en-GB" sz="2400">
                <a:solidFill>
                  <a:srgbClr val="000000"/>
                </a:solidFill>
              </a:rPr>
              <a:t> defined as occurring when two or more animals come into contact with the same materials (or objects) which then act as the source of infection.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rPr lang="en-GB" sz="1600">
                <a:solidFill>
                  <a:srgbClr val="000000"/>
                </a:solidFill>
              </a:rPr>
              <a:t>Eg . Bodily secretions (blood/ saliva/ vomit/ feces/ mucus/ reproductive fluids)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rPr lang="en-GB" sz="1600">
                <a:solidFill>
                  <a:srgbClr val="000000"/>
                </a:solidFill>
              </a:rPr>
              <a:t>	Objects (bedding/ housing/ water bottles/ brushes/ food)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GB">
                <a:solidFill>
                  <a:srgbClr val="000000"/>
                </a:solidFill>
              </a:rPr>
              <a:t>	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b="1" lang="en-GB" u="sng"/>
              <a:t>Modes of transmission:</a:t>
            </a:r>
            <a:endParaRPr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7088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b="1" sz="24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b="1" lang="en-GB" sz="2400">
                <a:solidFill>
                  <a:srgbClr val="000000"/>
                </a:solidFill>
              </a:rPr>
              <a:t>Vector transmission: </a:t>
            </a:r>
            <a:r>
              <a:rPr lang="en-GB" sz="2400">
                <a:solidFill>
                  <a:srgbClr val="000000"/>
                </a:solidFill>
              </a:rPr>
              <a:t>when disease is spread by biting insects and ticks. The insect or tick carries the disease but is not affected by the disease.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GB">
                <a:solidFill>
                  <a:srgbClr val="000000"/>
                </a:solidFill>
              </a:rPr>
              <a:t>	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28" name="Google Shape;1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22104" y="2372775"/>
            <a:ext cx="2846575" cy="268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9075" y="3057250"/>
            <a:ext cx="2217525" cy="1663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311700" y="241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b="1" lang="en-GB" u="sng"/>
              <a:t>What could you do to prevent diseases being spread by each mode of transmission?</a:t>
            </a:r>
            <a:endParaRPr/>
          </a:p>
        </p:txBody>
      </p:sp>
      <p:graphicFrame>
        <p:nvGraphicFramePr>
          <p:cNvPr id="135" name="Google Shape;135;p25"/>
          <p:cNvGraphicFramePr/>
          <p:nvPr/>
        </p:nvGraphicFramePr>
        <p:xfrm>
          <a:off x="604825" y="1567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{9B953C45-3C1E-4198-9267-1B560FD703D6}</a:tableStyleId>
              </a:tblPr>
              <a:tblGrid>
                <a:gridCol w="2736725"/>
                <a:gridCol w="2748700"/>
                <a:gridCol w="26408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Direct Contact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Indirect contact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Vector Transmission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9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311700" y="241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b="1" lang="en-GB" u="sng"/>
              <a:t>What could you do to prevent diseases being spread by each mode of transmission?</a:t>
            </a:r>
            <a:endParaRPr/>
          </a:p>
        </p:txBody>
      </p:sp>
      <p:graphicFrame>
        <p:nvGraphicFramePr>
          <p:cNvPr id="141" name="Google Shape;141;p26"/>
          <p:cNvGraphicFramePr/>
          <p:nvPr/>
        </p:nvGraphicFramePr>
        <p:xfrm>
          <a:off x="604825" y="1567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{9B953C45-3C1E-4198-9267-1B560FD703D6}</a:tableStyleId>
              </a:tblPr>
              <a:tblGrid>
                <a:gridCol w="2736725"/>
                <a:gridCol w="2748700"/>
                <a:gridCol w="26408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Direct Contact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Indirect contact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Vector Transmission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90900">
                <a:tc>
                  <a:txBody>
                    <a:bodyPr/>
                    <a:lstStyle/>
                    <a:p>
                      <a:pPr indent="-2286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GB" sz="1400" u="none" cap="none" strike="noStrike"/>
                        <a:t>Isolate any animals that come onto the premises until you are sure they are healthy.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-2286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GB" sz="1400" u="none" cap="none" strike="noStrike"/>
                        <a:t>Quarantine any ill animals until they are recovered.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-2286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GB" sz="1400" u="none" cap="none" strike="noStrike"/>
                        <a:t>Keep animals away from wildlife where possible.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286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GB" sz="1400" u="none" cap="none" strike="noStrike"/>
                        <a:t>Use P.P.E (Personal Protective Equipment) when treating illness and  ensure it is changed between animals.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-2286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GB" sz="1400" u="none" cap="none" strike="noStrike"/>
                        <a:t>Clean and disinfect animal housing and accessories regularly.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-2286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GB" sz="1400" u="none" cap="none" strike="noStrike"/>
                        <a:t>Dispose of animal waste properly.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286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GB" sz="1400" u="none" cap="none" strike="noStrike"/>
                        <a:t>Treat animals for parasites.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-2286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GB" sz="1400" u="none" cap="none" strike="noStrike"/>
                        <a:t>Treat environment for parasites.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-2286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GB" sz="1400" u="none" cap="none" strike="noStrike"/>
                        <a:t>Vaccinate animals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title"/>
          </p:nvPr>
        </p:nvSpPr>
        <p:spPr>
          <a:xfrm>
            <a:off x="311700" y="217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b="1" lang="en-GB" u="sng"/>
              <a:t>Write up a list of what you can do daily and weekly to help prevent and control disease (pick an animal we look after in school!)</a:t>
            </a:r>
            <a:endParaRPr/>
          </a:p>
        </p:txBody>
      </p:sp>
      <p:graphicFrame>
        <p:nvGraphicFramePr>
          <p:cNvPr id="147" name="Google Shape;147;p27"/>
          <p:cNvGraphicFramePr/>
          <p:nvPr/>
        </p:nvGraphicFramePr>
        <p:xfrm>
          <a:off x="478900" y="189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{9B953C45-3C1E-4198-9267-1B560FD703D6}</a:tableStyleId>
              </a:tblPr>
              <a:tblGrid>
                <a:gridCol w="3991150"/>
                <a:gridCol w="4195025"/>
              </a:tblGrid>
              <a:tr h="309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Daily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Weekly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3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