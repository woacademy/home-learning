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7560000" cx="10692000"/>
  <p:notesSz cx="7560000" cy="106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81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281BCDC6-FF68-471E-93DC-37BBC8279DC9}">
  <a:tblStyle styleId="{281BCDC6-FF68-471E-93DC-37BBC8279D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81" orient="horz"/>
        <p:guide pos="33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51defdc1f_0_0:notes"/>
          <p:cNvSpPr/>
          <p:nvPr>
            <p:ph idx="2" type="sldImg"/>
          </p:nvPr>
        </p:nvSpPr>
        <p:spPr>
          <a:xfrm>
            <a:off x="1004507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551defdc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51defdc1f_0_6:notes"/>
          <p:cNvSpPr/>
          <p:nvPr>
            <p:ph idx="2" type="sldImg"/>
          </p:nvPr>
        </p:nvSpPr>
        <p:spPr>
          <a:xfrm>
            <a:off x="1004507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51defdc1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476a96fe7f_0_7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476a96fe7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551defdc1f_0_17:notes"/>
          <p:cNvSpPr/>
          <p:nvPr>
            <p:ph idx="2" type="sldImg"/>
          </p:nvPr>
        </p:nvSpPr>
        <p:spPr>
          <a:xfrm>
            <a:off x="1004507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551defdc1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5c778bc07b_0_3:notes"/>
          <p:cNvSpPr/>
          <p:nvPr>
            <p:ph idx="2" type="sldImg"/>
          </p:nvPr>
        </p:nvSpPr>
        <p:spPr>
          <a:xfrm>
            <a:off x="1004507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5c778bc07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c778bc07b_0_16:notes"/>
          <p:cNvSpPr/>
          <p:nvPr>
            <p:ph idx="2" type="sldImg"/>
          </p:nvPr>
        </p:nvSpPr>
        <p:spPr>
          <a:xfrm>
            <a:off x="1004507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c778bc07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5c78da1501_0_2:notes"/>
          <p:cNvSpPr/>
          <p:nvPr>
            <p:ph idx="2" type="sldImg"/>
          </p:nvPr>
        </p:nvSpPr>
        <p:spPr>
          <a:xfrm>
            <a:off x="1004507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5c78da150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5c78da1501_0_13:notes"/>
          <p:cNvSpPr/>
          <p:nvPr>
            <p:ph idx="2" type="sldImg"/>
          </p:nvPr>
        </p:nvSpPr>
        <p:spPr>
          <a:xfrm>
            <a:off x="1004507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5c78da150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5c78da1501_0_21:notes"/>
          <p:cNvSpPr/>
          <p:nvPr>
            <p:ph idx="2" type="sldImg"/>
          </p:nvPr>
        </p:nvSpPr>
        <p:spPr>
          <a:xfrm>
            <a:off x="1004507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5c78da150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5c78da1501_0_32:notes"/>
          <p:cNvSpPr/>
          <p:nvPr>
            <p:ph idx="2" type="sldImg"/>
          </p:nvPr>
        </p:nvSpPr>
        <p:spPr>
          <a:xfrm>
            <a:off x="1004507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5c78da150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551defdc1f_0_27:notes"/>
          <p:cNvSpPr/>
          <p:nvPr>
            <p:ph idx="2" type="sldImg"/>
          </p:nvPr>
        </p:nvSpPr>
        <p:spPr>
          <a:xfrm>
            <a:off x="1004507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551defdc1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60abcbdd69_0_15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60abcbdd6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552489a8db_0_20:notes"/>
          <p:cNvSpPr/>
          <p:nvPr>
            <p:ph idx="2" type="sldImg"/>
          </p:nvPr>
        </p:nvSpPr>
        <p:spPr>
          <a:xfrm>
            <a:off x="1004507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552489a8d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5feb49588e_0_10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5feb49588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5c78da1501_0_84:notes"/>
          <p:cNvSpPr/>
          <p:nvPr>
            <p:ph idx="2" type="sldImg"/>
          </p:nvPr>
        </p:nvSpPr>
        <p:spPr>
          <a:xfrm>
            <a:off x="1004507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5c78da1501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60abcbdd69_0_0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60abcbdd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60abcbdd69_0_5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60abcbdd6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60abcbdd69_0_10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60abcbdd6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4478" y="1094388"/>
            <a:ext cx="9963000" cy="3016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2pPr>
            <a:lvl3pPr lvl="2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3pPr>
            <a:lvl4pPr lvl="3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4pPr>
            <a:lvl5pPr lvl="4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5pPr>
            <a:lvl6pPr lvl="5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6pPr>
            <a:lvl7pPr lvl="6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7pPr>
            <a:lvl8pPr lvl="7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8pPr>
            <a:lvl9pPr lvl="8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4468" y="4165643"/>
            <a:ext cx="9963000" cy="11649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4468" y="3161354"/>
            <a:ext cx="9963000" cy="12372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indent="-374650" lvl="0" marL="457200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20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20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20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20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2000"/>
              </a:spcBef>
              <a:spcAft>
                <a:spcPts val="20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64468" y="1693927"/>
            <a:ext cx="4677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23850" lvl="1" marL="9144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650483" y="1693927"/>
            <a:ext cx="4677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23850" lvl="1" marL="9144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64468" y="816630"/>
            <a:ext cx="3283500" cy="11106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64468" y="2042457"/>
            <a:ext cx="3283500" cy="46731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73245" y="661638"/>
            <a:ext cx="7445700" cy="60126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1pPr>
            <a:lvl2pPr lvl="1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346000" y="-184"/>
            <a:ext cx="5346000" cy="75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10447" y="1812541"/>
            <a:ext cx="4730100" cy="21786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0447" y="4120005"/>
            <a:ext cx="4730100" cy="18153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775715" y="1064257"/>
            <a:ext cx="4486500" cy="54312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indent="-374650" lvl="0" marL="457200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20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20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20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20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2000"/>
              </a:spcBef>
              <a:spcAft>
                <a:spcPts val="20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64468" y="6218168"/>
            <a:ext cx="7014300" cy="8895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64468" y="1625801"/>
            <a:ext cx="9963000" cy="28860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64468" y="4633192"/>
            <a:ext cx="9963000" cy="19119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indent="-374650" lvl="0" marL="457200" algn="ctr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 algn="ctr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ctr">
              <a:spcBef>
                <a:spcPts val="20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ctr">
              <a:spcBef>
                <a:spcPts val="20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ctr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ctr">
              <a:spcBef>
                <a:spcPts val="20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ctr">
              <a:spcBef>
                <a:spcPts val="20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ctr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ctr">
              <a:spcBef>
                <a:spcPts val="2000"/>
              </a:spcBef>
              <a:spcAft>
                <a:spcPts val="20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Autofit/>
          </a:bodyPr>
          <a:lstStyle>
            <a:lvl1pPr indent="-3746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  <a:defRPr sz="2300">
                <a:solidFill>
                  <a:schemeClr val="dk2"/>
                </a:solidFill>
              </a:defRPr>
            </a:lvl1pPr>
            <a:lvl2pPr indent="-34290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2pPr>
            <a:lvl3pPr indent="-34290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3pPr>
            <a:lvl4pPr indent="-34290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4pPr>
            <a:lvl5pPr indent="-34290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5pPr>
            <a:lvl6pPr indent="-34290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6pPr>
            <a:lvl7pPr indent="-34290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7pPr>
            <a:lvl8pPr indent="-34290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8pPr>
            <a:lvl9pPr indent="-34290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makeupalley.com/brand/LUSH/Brand=265/" TargetMode="External"/><Relationship Id="rId4" Type="http://schemas.openxmlformats.org/officeDocument/2006/relationships/hyperlink" Target="https://www.makeupalley.com/product/showreview.asp/ItemId=32134/Enchanted-Eye-Cream/LUSH/Treatments-Eye" TargetMode="External"/><Relationship Id="rId5" Type="http://schemas.openxmlformats.org/officeDocument/2006/relationships/hyperlink" Target="https://www.makeupalley.com/product/showreview.asp/ItemId=32134/Enchanted-Eye-Cream/LUSH/Treatments-Ey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makeupalley.com/brand/LUSH/Brand=265/" TargetMode="External"/><Relationship Id="rId4" Type="http://schemas.openxmlformats.org/officeDocument/2006/relationships/hyperlink" Target="https://www.makeupalley.com/product/showreview.asp/ItemId=32134/Enchanted-Eye-Cream/LUSH/Treatments-Ey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8.png"/><Relationship Id="rId5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64475" y="319425"/>
            <a:ext cx="9963000" cy="26814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HAIR AND BEAUTY  SCIENCE. </a:t>
            </a:r>
            <a:r>
              <a:rPr lang="en" sz="3000"/>
              <a:t>By</a:t>
            </a:r>
            <a:r>
              <a:rPr lang="en"/>
              <a:t> ---------------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64468" y="4165643"/>
            <a:ext cx="9963000" cy="7455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5650" y="3780000"/>
            <a:ext cx="4450825" cy="268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 flipH="1">
            <a:off x="-2513944" y="745200"/>
            <a:ext cx="5283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-1154237" y="1693927"/>
            <a:ext cx="3645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3" name="Google Shape;63;p14"/>
          <p:cNvGraphicFramePr/>
          <p:nvPr/>
        </p:nvGraphicFramePr>
        <p:xfrm>
          <a:off x="364468" y="10160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{281BCDC6-FF68-471E-93DC-37BBC8279DC9}</a:tableStyleId>
              </a:tblPr>
              <a:tblGrid>
                <a:gridCol w="3321025"/>
                <a:gridCol w="3321025"/>
                <a:gridCol w="3321025"/>
              </a:tblGrid>
              <a:tr h="819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 u="sng"/>
                        <a:t>Hair &amp; Beauty Products </a:t>
                      </a:r>
                      <a:endParaRPr b="1" sz="2100" u="sng"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 u="sng"/>
                        <a:t>Ingredients</a:t>
                      </a:r>
                      <a:r>
                        <a:rPr b="1" lang="en" sz="2100" u="sng"/>
                        <a:t> </a:t>
                      </a:r>
                      <a:endParaRPr b="1" sz="2100" u="sng"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 u="sng"/>
                        <a:t>Properties</a:t>
                      </a:r>
                      <a:endParaRPr b="1" sz="2100" u="sng"/>
                    </a:p>
                  </a:txBody>
                  <a:tcPr marT="134375" marB="134375" marR="106900" marL="106900"/>
                </a:tc>
              </a:tr>
              <a:tr h="115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/>
                        <a:t>Hair Product  </a:t>
                      </a:r>
                      <a:endParaRPr b="1" sz="2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/>
                        <a:t>GHD </a:t>
                      </a:r>
                      <a:r>
                        <a:rPr b="1" lang="en" sz="1750">
                          <a:solidFill>
                            <a:schemeClr val="dk1"/>
                          </a:solidFill>
                        </a:rPr>
                        <a:t>Curl Hold Spray</a:t>
                      </a:r>
                      <a:endParaRPr b="1" sz="17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/>
                        <a:t>                                         </a:t>
                      </a:r>
                      <a:endParaRPr b="1" sz="2100"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</a:tr>
              <a:tr h="1356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2100">
                          <a:solidFill>
                            <a:schemeClr val="dk1"/>
                          </a:solidFill>
                        </a:rPr>
                        <a:t>Hair Product  </a:t>
                      </a:r>
                      <a:endParaRPr b="1" sz="2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rgbClr val="111111"/>
                          </a:solidFill>
                          <a:highlight>
                            <a:srgbClr val="FFFFFF"/>
                          </a:highlight>
                        </a:rPr>
                        <a:t>AVEDA Invati Exfoliating Shampoo,</a:t>
                      </a:r>
                      <a:r>
                        <a:rPr b="1" lang="en" sz="2100">
                          <a:solidFill>
                            <a:schemeClr val="dk1"/>
                          </a:solidFill>
                        </a:rPr>
                        <a:t>                    </a:t>
                      </a:r>
                      <a:endParaRPr b="1" sz="2100"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</a:tr>
              <a:tr h="1286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/>
                        <a:t>Beauty Product  </a:t>
                      </a:r>
                      <a:endParaRPr b="1" sz="2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/>
                        <a:t>DOVE beauty cream                </a:t>
                      </a:r>
                      <a:endParaRPr b="1" sz="2100"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</a:tr>
              <a:tr h="140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2100">
                          <a:solidFill>
                            <a:schemeClr val="dk1"/>
                          </a:solidFill>
                        </a:rPr>
                        <a:t>Beauty Product   </a:t>
                      </a:r>
                      <a:endParaRPr b="1" sz="2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uFill>
                            <a:noFill/>
                          </a:uFill>
                          <a:hlinkClick r:id="rId3"/>
                        </a:rPr>
                        <a:t>LUSH </a:t>
                      </a:r>
                      <a:r>
                        <a:rPr b="1" lang="en" sz="1800">
                          <a:uFill>
                            <a:noFill/>
                          </a:uFill>
                          <a:hlinkClick r:id="rId4"/>
                        </a:rPr>
                        <a:t>Enchanted Eye Cream</a:t>
                      </a:r>
                      <a:endParaRPr b="1" sz="1800">
                        <a:uFill>
                          <a:noFill/>
                        </a:uFill>
                        <a:hlinkClick r:id="rId5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2100">
                          <a:solidFill>
                            <a:schemeClr val="dk1"/>
                          </a:solidFill>
                        </a:rPr>
                        <a:t>               </a:t>
                      </a:r>
                      <a:endParaRPr b="1" sz="2100"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</a:tr>
            </a:tbl>
          </a:graphicData>
        </a:graphic>
      </p:graphicFrame>
      <p:sp>
        <p:nvSpPr>
          <p:cNvPr id="64" name="Google Shape;64;p14"/>
          <p:cNvSpPr txBox="1"/>
          <p:nvPr/>
        </p:nvSpPr>
        <p:spPr>
          <a:xfrm>
            <a:off x="745350" y="179675"/>
            <a:ext cx="85866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" sz="1800" u="sng">
                <a:solidFill>
                  <a:schemeClr val="dk1"/>
                </a:solidFill>
              </a:rPr>
              <a:t>Task 1a (GD-1b) Pass - specific Ingredients in 2 hair &amp; 2 Beauty products. 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 flipH="1">
            <a:off x="-1621350" y="654100"/>
            <a:ext cx="2733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sng"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flipH="1">
            <a:off x="-1202987" y="2871286"/>
            <a:ext cx="182400" cy="3819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494084" y="96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{281BCDC6-FF68-471E-93DC-37BBC8279DC9}</a:tableStyleId>
              </a:tblPr>
              <a:tblGrid>
                <a:gridCol w="1916700"/>
                <a:gridCol w="7797300"/>
              </a:tblGrid>
              <a:tr h="56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/>
                        <a:t>Ingredient</a:t>
                      </a:r>
                      <a:endParaRPr b="1" sz="2100"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/>
                        <a:t>     </a:t>
                      </a:r>
                      <a:r>
                        <a:rPr b="1" lang="en" sz="2100" u="sng"/>
                        <a:t> E</a:t>
                      </a:r>
                      <a:r>
                        <a:rPr b="1" lang="en" sz="2100" u="sng"/>
                        <a:t>ffects</a:t>
                      </a:r>
                      <a:r>
                        <a:rPr b="1" lang="en" sz="2100" u="sng"/>
                        <a:t> </a:t>
                      </a:r>
                      <a:endParaRPr b="1" sz="2100" u="sng"/>
                    </a:p>
                  </a:txBody>
                  <a:tcPr marT="134375" marB="134375" marR="106900" marL="106900"/>
                </a:tc>
              </a:tr>
              <a:tr h="113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Hair Product </a:t>
                      </a:r>
                      <a:endParaRPr b="1" sz="1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</a:rPr>
                        <a:t>GHD Curl Hold Spray</a:t>
                      </a:r>
                      <a:endParaRPr b="1" sz="1800"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</a:tr>
              <a:tr h="140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Hair Product</a:t>
                      </a:r>
                      <a:endParaRPr b="1" sz="1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rgbClr val="111111"/>
                          </a:solidFill>
                          <a:highlight>
                            <a:schemeClr val="lt1"/>
                          </a:highlight>
                        </a:rPr>
                        <a:t>AVEDA Invati Exfoliating Shampoo,</a:t>
                      </a:r>
                      <a:endParaRPr b="1" sz="1800"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</a:tr>
              <a:tr h="14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Beauty Product</a:t>
                      </a:r>
                      <a:endParaRPr b="1" sz="1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</a:rPr>
                        <a:t>DOVE beauty cream   </a:t>
                      </a:r>
                      <a:endParaRPr b="1" sz="1800"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</a:tr>
              <a:tr h="183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Beauty Product</a:t>
                      </a:r>
                      <a:endParaRPr b="1" sz="1800"/>
                    </a:p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hlinkClick r:id="rId3"/>
                        </a:rPr>
                        <a:t>LUSH </a:t>
                      </a:r>
                      <a:r>
                        <a:rPr b="1" lang="en" sz="18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hlinkClick r:id="rId4"/>
                        </a:rPr>
                        <a:t>Enchanted Eye Cream</a:t>
                      </a:r>
                      <a:endParaRPr b="1" sz="1800"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494075" y="264875"/>
            <a:ext cx="9817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 u="sng">
                <a:solidFill>
                  <a:schemeClr val="dk1"/>
                </a:solidFill>
              </a:rPr>
              <a:t>Task 1b (GD 1c pass) Outline and examine the effects of the two hair and two beauty products that they have on the hair and skin.  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64475" y="363050"/>
            <a:ext cx="9963000" cy="11106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/>
              <a:t>Task 1c (GD 1b&amp;1c merit) </a:t>
            </a:r>
            <a:r>
              <a:rPr b="1" lang="en" sz="1800" u="sng"/>
              <a:t>Refer</a:t>
            </a:r>
            <a:r>
              <a:rPr b="1" lang="en" sz="1800" u="sng"/>
              <a:t> back to the ingredients from each product and describe the functions of one </a:t>
            </a:r>
            <a:r>
              <a:rPr b="1" lang="en" sz="1800" u="sng"/>
              <a:t>ingredient</a:t>
            </a:r>
            <a:r>
              <a:rPr b="1" lang="en" sz="1800" u="sng"/>
              <a:t> from each product. </a:t>
            </a:r>
            <a:endParaRPr b="1" sz="18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/>
              <a:t>Describe the e</a:t>
            </a:r>
            <a:r>
              <a:rPr b="1" lang="en" sz="1800" u="sng"/>
              <a:t>ffect</a:t>
            </a:r>
            <a:r>
              <a:rPr b="1" lang="en" sz="1800" u="sng"/>
              <a:t> that your chosen ingredients have on the hair and skin. </a:t>
            </a:r>
            <a:endParaRPr b="1" sz="18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 u="sng"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-2619375" y="3673225"/>
            <a:ext cx="740100" cy="30420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9" name="Google Shape;79;p16"/>
          <p:cNvGraphicFramePr/>
          <p:nvPr/>
        </p:nvGraphicFramePr>
        <p:xfrm>
          <a:off x="452025" y="147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{281BCDC6-FF68-471E-93DC-37BBC8279DC9}</a:tableStyleId>
              </a:tblPr>
              <a:tblGrid>
                <a:gridCol w="2126675"/>
                <a:gridCol w="7748775"/>
              </a:tblGrid>
              <a:tr h="562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100">
                          <a:solidFill>
                            <a:schemeClr val="dk1"/>
                          </a:solidFill>
                        </a:rPr>
                        <a:t>Ingredient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100">
                          <a:solidFill>
                            <a:schemeClr val="dk1"/>
                          </a:solidFill>
                        </a:rPr>
                        <a:t>Function and Effects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03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137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507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79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488025" y="325700"/>
            <a:ext cx="9797700" cy="812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 u="sng"/>
              <a:t>Learning outcome 2 - Task 2a GD-2a pass)  Describe the outline of the basic  skin structure.</a:t>
            </a:r>
            <a:r>
              <a:rPr lang="en" sz="1800"/>
              <a:t> 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 flipH="1">
            <a:off x="-1312489" y="4117176"/>
            <a:ext cx="121800" cy="25986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6" name="Google Shape;86;p17"/>
          <p:cNvGraphicFramePr/>
          <p:nvPr/>
        </p:nvGraphicFramePr>
        <p:xfrm>
          <a:off x="488033" y="15666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{281BCDC6-FF68-471E-93DC-37BBC8279DC9}</a:tableStyleId>
              </a:tblPr>
              <a:tblGrid>
                <a:gridCol w="3133350"/>
                <a:gridCol w="3133350"/>
                <a:gridCol w="3133350"/>
              </a:tblGrid>
              <a:tr h="650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Epidermis</a:t>
                      </a:r>
                      <a:endParaRPr sz="2100"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Dermis</a:t>
                      </a:r>
                      <a:endParaRPr sz="2100"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Hypodermis</a:t>
                      </a:r>
                      <a:endParaRPr sz="2100"/>
                    </a:p>
                  </a:txBody>
                  <a:tcPr marT="134375" marB="134375" marR="106900" marL="106900"/>
                </a:tc>
              </a:tr>
              <a:tr h="293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</a:tr>
              <a:tr h="209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</a:tr>
            </a:tbl>
          </a:graphicData>
        </a:graphic>
      </p:graphicFrame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300" y="5382563"/>
            <a:ext cx="2628900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1675" y="5573063"/>
            <a:ext cx="295275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50200" y="5158738"/>
            <a:ext cx="2095500" cy="21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/>
              <a:t> Task 2b ( GD-2b pass)  Describe the main characteristics of skin types and conditions 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 flipH="1">
            <a:off x="-1312489" y="4117176"/>
            <a:ext cx="121800" cy="25986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6" name="Google Shape;96;p18"/>
          <p:cNvGraphicFramePr/>
          <p:nvPr/>
        </p:nvGraphicFramePr>
        <p:xfrm>
          <a:off x="488033" y="15666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{281BCDC6-FF68-471E-93DC-37BBC8279DC9}</a:tableStyleId>
              </a:tblPr>
              <a:tblGrid>
                <a:gridCol w="3133350"/>
                <a:gridCol w="3133350"/>
                <a:gridCol w="3133350"/>
              </a:tblGrid>
              <a:tr h="650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Combination</a:t>
                      </a:r>
                      <a:endParaRPr sz="2100"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Dehydrated </a:t>
                      </a:r>
                      <a:endParaRPr sz="2100"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Sensitive</a:t>
                      </a:r>
                      <a:endParaRPr sz="2100"/>
                    </a:p>
                  </a:txBody>
                  <a:tcPr marT="134375" marB="134375" marR="106900" marL="106900"/>
                </a:tc>
              </a:tr>
              <a:tr h="293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</a:tr>
              <a:tr h="209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</a:tr>
            </a:tbl>
          </a:graphicData>
        </a:graphic>
      </p:graphicFrame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875" y="5450200"/>
            <a:ext cx="260085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3400" y="5323950"/>
            <a:ext cx="1518550" cy="172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19125" y="5331275"/>
            <a:ext cx="171675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/>
              <a:t>Task 2c ( GD-2c pass)  outline the basic structure of the hair. 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 flipH="1">
            <a:off x="-1312489" y="4117176"/>
            <a:ext cx="121800" cy="25986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6" name="Google Shape;106;p19"/>
          <p:cNvGraphicFramePr/>
          <p:nvPr/>
        </p:nvGraphicFramePr>
        <p:xfrm>
          <a:off x="488033" y="15666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{281BCDC6-FF68-471E-93DC-37BBC8279DC9}</a:tableStyleId>
              </a:tblPr>
              <a:tblGrid>
                <a:gridCol w="3133350"/>
                <a:gridCol w="3133350"/>
                <a:gridCol w="3133350"/>
              </a:tblGrid>
              <a:tr h="650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 Cortex</a:t>
                      </a:r>
                      <a:endParaRPr sz="2100"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Cuticle</a:t>
                      </a:r>
                      <a:endParaRPr sz="2100"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Medulla </a:t>
                      </a:r>
                      <a:endParaRPr sz="2100"/>
                    </a:p>
                  </a:txBody>
                  <a:tcPr marT="134375" marB="134375" marR="106900" marL="106900"/>
                </a:tc>
              </a:tr>
              <a:tr h="293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</a:tr>
              <a:tr h="209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</a:tr>
            </a:tbl>
          </a:graphicData>
        </a:graphic>
      </p:graphicFrame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499" y="5330449"/>
            <a:ext cx="2085525" cy="180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5971" y="5330448"/>
            <a:ext cx="2048604" cy="180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34348" y="5461702"/>
            <a:ext cx="2048600" cy="1534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64475" y="287600"/>
            <a:ext cx="9963000" cy="4983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 u="sng"/>
              <a:t>Task 2d ( GD-2d pass) state the main characteristics of the following hair types.  </a:t>
            </a:r>
            <a:endParaRPr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 flipH="1">
            <a:off x="-1312489" y="4117176"/>
            <a:ext cx="121800" cy="25986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6" name="Google Shape;116;p20"/>
          <p:cNvGraphicFramePr/>
          <p:nvPr/>
        </p:nvGraphicFramePr>
        <p:xfrm>
          <a:off x="488033" y="7860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{281BCDC6-FF68-471E-93DC-37BBC8279DC9}</a:tableStyleId>
              </a:tblPr>
              <a:tblGrid>
                <a:gridCol w="3133350"/>
                <a:gridCol w="3133350"/>
                <a:gridCol w="3133350"/>
              </a:tblGrid>
              <a:tr h="990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 Dry Hair</a:t>
                      </a:r>
                      <a:endParaRPr sz="2100"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Environmentally Damaged Hair </a:t>
                      </a:r>
                      <a:endParaRPr sz="2100"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Virgin Hair </a:t>
                      </a:r>
                      <a:endParaRPr sz="2100"/>
                    </a:p>
                  </a:txBody>
                  <a:tcPr marT="134375" marB="134375" marR="106900" marL="106900"/>
                </a:tc>
              </a:tr>
              <a:tr h="316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</a:tr>
              <a:tr h="226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</a:tr>
            </a:tbl>
          </a:graphicData>
        </a:graphic>
      </p:graphicFrame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013" y="5115850"/>
            <a:ext cx="24669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6488" y="5185575"/>
            <a:ext cx="2143125" cy="170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4200" y="5255297"/>
            <a:ext cx="1914525" cy="170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64493" y="592480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 u="sng"/>
              <a:t>Task 2e ( GD-2a and 2b Merit) Describe the basic structure of the skin.   </a:t>
            </a:r>
            <a:endParaRPr/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 flipH="1">
            <a:off x="-1312489" y="4117176"/>
            <a:ext cx="121800" cy="25986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6" name="Google Shape;126;p21"/>
          <p:cNvGraphicFramePr/>
          <p:nvPr/>
        </p:nvGraphicFramePr>
        <p:xfrm>
          <a:off x="488033" y="15666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{281BCDC6-FF68-471E-93DC-37BBC8279DC9}</a:tableStyleId>
              </a:tblPr>
              <a:tblGrid>
                <a:gridCol w="3133350"/>
                <a:gridCol w="3133350"/>
                <a:gridCol w="3133350"/>
              </a:tblGrid>
              <a:tr h="650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 Epidermis</a:t>
                      </a:r>
                      <a:endParaRPr sz="2100"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Dermis</a:t>
                      </a:r>
                      <a:endParaRPr sz="2100"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Hypodermis</a:t>
                      </a:r>
                      <a:endParaRPr sz="2100"/>
                    </a:p>
                  </a:txBody>
                  <a:tcPr marT="134375" marB="134375" marR="106900" marL="106900"/>
                </a:tc>
              </a:tr>
              <a:tr h="293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</a:tr>
              <a:tr h="209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</a:tr>
            </a:tbl>
          </a:graphicData>
        </a:graphic>
      </p:graphicFrame>
      <p:pic>
        <p:nvPicPr>
          <p:cNvPr id="127" name="Google Shape;12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300" y="5382563"/>
            <a:ext cx="2628900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1675" y="5573063"/>
            <a:ext cx="295275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64317" y="5158749"/>
            <a:ext cx="1881383" cy="19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</a:t>
            </a:r>
            <a:r>
              <a:rPr b="1" lang="en" sz="1800" u="sng"/>
              <a:t>Task 2e ( GD-2a and 2b Merit) Describe the main characteristics of skin types and conditions  </a:t>
            </a:r>
            <a:endParaRPr sz="1800"/>
          </a:p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 flipH="1">
            <a:off x="-1312489" y="4117176"/>
            <a:ext cx="121800" cy="25986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6" name="Google Shape;136;p22"/>
          <p:cNvGraphicFramePr/>
          <p:nvPr/>
        </p:nvGraphicFramePr>
        <p:xfrm>
          <a:off x="488033" y="15666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{281BCDC6-FF68-471E-93DC-37BBC8279DC9}</a:tableStyleId>
              </a:tblPr>
              <a:tblGrid>
                <a:gridCol w="3133350"/>
                <a:gridCol w="3133350"/>
                <a:gridCol w="3133350"/>
              </a:tblGrid>
              <a:tr h="650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 Combination</a:t>
                      </a:r>
                      <a:endParaRPr sz="2100"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Dehydrated</a:t>
                      </a:r>
                      <a:endParaRPr sz="2100"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Sensitive</a:t>
                      </a:r>
                      <a:endParaRPr sz="2100"/>
                    </a:p>
                  </a:txBody>
                  <a:tcPr marT="134375" marB="134375" marR="106900" marL="106900"/>
                </a:tc>
              </a:tr>
              <a:tr h="293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</a:tr>
              <a:tr h="209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</a:tr>
            </a:tbl>
          </a:graphicData>
        </a:graphic>
      </p:graphicFrame>
      <p:pic>
        <p:nvPicPr>
          <p:cNvPr id="137" name="Google Shape;13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075" y="5402924"/>
            <a:ext cx="1393450" cy="167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4063" y="5524300"/>
            <a:ext cx="2227975" cy="143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4463" y="5368888"/>
            <a:ext cx="2619375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</a:t>
            </a:r>
            <a:r>
              <a:rPr lang="en" sz="1800"/>
              <a:t> </a:t>
            </a:r>
            <a:r>
              <a:rPr b="1" lang="en" sz="1800" u="sng"/>
              <a:t>Task 2f( GD-2c and 2d Merit) Describe the basic structure of the hair</a:t>
            </a:r>
            <a:endParaRPr sz="1800"/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 flipH="1">
            <a:off x="-1312489" y="4117176"/>
            <a:ext cx="121800" cy="25986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46" name="Google Shape;146;p23"/>
          <p:cNvGraphicFramePr/>
          <p:nvPr/>
        </p:nvGraphicFramePr>
        <p:xfrm>
          <a:off x="488033" y="15666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{281BCDC6-FF68-471E-93DC-37BBC8279DC9}</a:tableStyleId>
              </a:tblPr>
              <a:tblGrid>
                <a:gridCol w="3133350"/>
                <a:gridCol w="3133350"/>
                <a:gridCol w="3133350"/>
              </a:tblGrid>
              <a:tr h="650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Cortex</a:t>
                      </a:r>
                      <a:endParaRPr sz="2100"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Cuticle </a:t>
                      </a:r>
                      <a:endParaRPr sz="2100"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Medulla </a:t>
                      </a:r>
                      <a:endParaRPr sz="2100"/>
                    </a:p>
                  </a:txBody>
                  <a:tcPr marT="134375" marB="134375" marR="106900" marL="106900"/>
                </a:tc>
              </a:tr>
              <a:tr h="293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</a:tr>
              <a:tr h="209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</a:tr>
            </a:tbl>
          </a:graphicData>
        </a:graphic>
      </p:graphicFrame>
      <p:pic>
        <p:nvPicPr>
          <p:cNvPr id="147" name="Google Shape;14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000" y="5280488"/>
            <a:ext cx="2514600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8375" y="5247163"/>
            <a:ext cx="2419350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30488" y="5266213"/>
            <a:ext cx="2466975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364493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.</a:t>
            </a:r>
            <a:r>
              <a:rPr lang="en" sz="1800"/>
              <a:t> </a:t>
            </a:r>
            <a:r>
              <a:rPr lang="en" sz="1800"/>
              <a:t>  </a:t>
            </a:r>
            <a:r>
              <a:rPr b="1" lang="en" sz="1800" u="sng"/>
              <a:t>Task 2f( GD-2c and 2d Merit) Describe the main characteristics of hair types. </a:t>
            </a:r>
            <a:endParaRPr sz="1800"/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 flipH="1">
            <a:off x="-1190539" y="3704819"/>
            <a:ext cx="133500" cy="3010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56" name="Google Shape;156;p24"/>
          <p:cNvGraphicFramePr/>
          <p:nvPr/>
        </p:nvGraphicFramePr>
        <p:xfrm>
          <a:off x="364468" y="14959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{281BCDC6-FF68-471E-93DC-37BBC8279DC9}</a:tableStyleId>
              </a:tblPr>
              <a:tblGrid>
                <a:gridCol w="3227175"/>
                <a:gridCol w="3227175"/>
                <a:gridCol w="3227175"/>
              </a:tblGrid>
              <a:tr h="7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/>
                        <a:t>Dry Hair</a:t>
                      </a:r>
                      <a:endParaRPr b="1" sz="2100"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/>
                        <a:t>Environmentally/ Damaged Hair</a:t>
                      </a:r>
                      <a:endParaRPr b="1" sz="2100"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/>
                        <a:t>Virgin Hair</a:t>
                      </a:r>
                      <a:endParaRPr b="1" sz="2100"/>
                    </a:p>
                  </a:txBody>
                  <a:tcPr marT="134375" marB="134375" marR="106900" marL="106900"/>
                </a:tc>
              </a:tr>
              <a:tr h="2776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</a:tr>
              <a:tr h="2196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4375" marB="134375" marR="106900" marL="106900"/>
                </a:tc>
              </a:tr>
            </a:tbl>
          </a:graphicData>
        </a:graphic>
      </p:graphicFrame>
      <p:pic>
        <p:nvPicPr>
          <p:cNvPr id="157" name="Google Shape;15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800" y="5602475"/>
            <a:ext cx="2502925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1800" y="5436250"/>
            <a:ext cx="1548000" cy="18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4138" y="5386225"/>
            <a:ext cx="2362200" cy="193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type="title"/>
          </p:nvPr>
        </p:nvSpPr>
        <p:spPr>
          <a:xfrm>
            <a:off x="364475" y="2381606"/>
            <a:ext cx="9963000" cy="15402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Design 1 hair or 1 beauty product. </a:t>
            </a:r>
            <a:endParaRPr/>
          </a:p>
        </p:txBody>
      </p:sp>
      <p:sp>
        <p:nvSpPr>
          <p:cNvPr id="165" name="Google Shape;165;p25"/>
          <p:cNvSpPr txBox="1"/>
          <p:nvPr>
            <p:ph idx="1" type="body"/>
          </p:nvPr>
        </p:nvSpPr>
        <p:spPr>
          <a:xfrm>
            <a:off x="-7219028" y="5027025"/>
            <a:ext cx="5337900" cy="37743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type="title"/>
          </p:nvPr>
        </p:nvSpPr>
        <p:spPr>
          <a:xfrm>
            <a:off x="364475" y="333449"/>
            <a:ext cx="9963000" cy="7992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</a:t>
            </a:r>
            <a:r>
              <a:rPr b="1" lang="en" sz="1800" u="sng"/>
              <a:t>Task 3a (GD-3a pass) You now have knowledge of different ingredients and the effects.</a:t>
            </a:r>
            <a:endParaRPr b="1" sz="18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/>
              <a:t>Design your own product formula for hair </a:t>
            </a:r>
            <a:endParaRPr b="1" sz="1800" u="sng"/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449500" y="1283850"/>
            <a:ext cx="9963000" cy="54315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</a:t>
            </a:r>
            <a:r>
              <a:rPr b="1" lang="en" u="sng"/>
              <a:t> Hair Product</a:t>
            </a:r>
            <a:r>
              <a:rPr b="1" lang="en" sz="1800" u="sng"/>
              <a:t> -</a:t>
            </a:r>
            <a:endParaRPr b="1" sz="1800" u="sng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en" sz="1800" u="sng"/>
              <a:t>                                      </a:t>
            </a:r>
            <a:endParaRPr b="1" sz="1800" u="sng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en" sz="1800" u="sng"/>
              <a:t>                                       Key </a:t>
            </a:r>
            <a:r>
              <a:rPr b="1" lang="en" sz="1800" u="sng"/>
              <a:t>Ingredients</a:t>
            </a:r>
            <a:r>
              <a:rPr b="1" lang="en" sz="1800" u="sng"/>
              <a:t> -  </a:t>
            </a:r>
            <a:endParaRPr b="1" sz="1800" u="sng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en" sz="1800" u="sng"/>
              <a:t>                                                                                                                                                                                        </a:t>
            </a:r>
            <a:endParaRPr b="1" sz="1800" u="sng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en" sz="1800" u="sng"/>
              <a:t>                                                                                                                                                                       </a:t>
            </a:r>
            <a:endParaRPr b="1" sz="1800" u="sng"/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rPr b="1" lang="en" sz="1800" u="sng"/>
              <a:t>                                                                                                                                                     </a:t>
            </a:r>
            <a:r>
              <a:rPr b="1" lang="en" sz="1800" u="sng"/>
              <a:t>Desired Effects on the hair -</a:t>
            </a:r>
            <a:endParaRPr b="1" sz="1800" u="sng"/>
          </a:p>
        </p:txBody>
      </p:sp>
      <p:sp>
        <p:nvSpPr>
          <p:cNvPr id="172" name="Google Shape;172;p26"/>
          <p:cNvSpPr/>
          <p:nvPr/>
        </p:nvSpPr>
        <p:spPr>
          <a:xfrm>
            <a:off x="670740" y="2177098"/>
            <a:ext cx="2138400" cy="201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750" y="1543300"/>
            <a:ext cx="2138400" cy="264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</a:t>
            </a:r>
            <a:r>
              <a:rPr b="1" lang="en" sz="1800" u="sng"/>
              <a:t>Task 3a (GD-3a pass) You now have knowledge of different ingredients and the effects.</a:t>
            </a:r>
            <a:endParaRPr b="1" sz="18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 u="sng"/>
              <a:t>Design your own product formula for beauty.</a:t>
            </a:r>
            <a:endParaRPr/>
          </a:p>
        </p:txBody>
      </p:sp>
      <p:sp>
        <p:nvSpPr>
          <p:cNvPr id="179" name="Google Shape;179;p27"/>
          <p:cNvSpPr txBox="1"/>
          <p:nvPr>
            <p:ph idx="1" type="body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u="sng"/>
              <a:t>                              Beauty</a:t>
            </a:r>
            <a:r>
              <a:rPr b="1" lang="en" u="sng"/>
              <a:t> Product</a:t>
            </a:r>
            <a:r>
              <a:rPr b="1" lang="en" sz="1800" u="sng"/>
              <a:t> -</a:t>
            </a:r>
            <a:endParaRPr b="1" sz="1800" u="sng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 u="sng"/>
              <a:t>                                       </a:t>
            </a:r>
            <a:endParaRPr b="1" sz="1800" u="sng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 u="sng"/>
              <a:t>                                      Key Ingredients -  </a:t>
            </a:r>
            <a:endParaRPr b="1" sz="1800" u="sng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 u="sng"/>
              <a:t>                                                                                                                                                                                        </a:t>
            </a:r>
            <a:endParaRPr b="1" sz="1800" u="sng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 u="sng"/>
              <a:t>                                                                                                                                                                       </a:t>
            </a:r>
            <a:endParaRPr b="1" sz="1800" u="sng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 u="sng"/>
              <a:t>                                     </a:t>
            </a:r>
            <a:endParaRPr b="1" sz="1800" u="sng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 u="sng"/>
              <a:t>Desired Effects on the skin-</a:t>
            </a:r>
            <a:endParaRPr b="1" sz="1800" u="sng"/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250" y="1910250"/>
            <a:ext cx="2143125" cy="272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/>
          <p:nvPr>
            <p:ph type="title"/>
          </p:nvPr>
        </p:nvSpPr>
        <p:spPr>
          <a:xfrm>
            <a:off x="434993" y="64235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 u="sng"/>
              <a:t>Task 3b (GD-3b merit)  </a:t>
            </a:r>
            <a:endParaRPr b="1" sz="1800" u="sng"/>
          </a:p>
        </p:txBody>
      </p:sp>
      <p:sp>
        <p:nvSpPr>
          <p:cNvPr id="186" name="Google Shape;186;p28"/>
          <p:cNvSpPr txBox="1"/>
          <p:nvPr>
            <p:ph idx="1" type="body"/>
          </p:nvPr>
        </p:nvSpPr>
        <p:spPr>
          <a:xfrm>
            <a:off x="508300" y="1128725"/>
            <a:ext cx="9963000" cy="55749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                                                              HAIR </a:t>
            </a:r>
            <a:endParaRPr b="1" sz="1800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en" sz="1800" u="sng"/>
              <a:t>Describe</a:t>
            </a:r>
            <a:r>
              <a:rPr b="1" lang="en" sz="1800" u="sng"/>
              <a:t> why have you chosen these ingredients in your product formulation-  </a:t>
            </a:r>
            <a:endParaRPr b="1" sz="1800" u="sng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b="1" sz="1800" u="sng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b="1" sz="1800" u="sng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b="1" sz="1800" u="sng"/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 u="sng"/>
              <a:t>Describe the benefits your formulation has on the hair. </a:t>
            </a:r>
            <a:endParaRPr b="1" sz="1800" u="sng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 u="sng"/>
              <a:t>Task 3b (GD-3b merit)</a:t>
            </a:r>
            <a:endParaRPr/>
          </a:p>
        </p:txBody>
      </p:sp>
      <p:sp>
        <p:nvSpPr>
          <p:cNvPr id="192" name="Google Shape;192;p29"/>
          <p:cNvSpPr txBox="1"/>
          <p:nvPr>
            <p:ph idx="1" type="body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                                                                        </a:t>
            </a:r>
            <a:r>
              <a:rPr b="1" lang="en" sz="1800"/>
              <a:t> BEAUTY</a:t>
            </a:r>
            <a:endParaRPr b="1" sz="1800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 u="sng"/>
              <a:t>Describe why have you chosen these ingredients in your product formulation-  </a:t>
            </a:r>
            <a:endParaRPr b="1" sz="1800" u="sng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 u="sng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 u="sng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 u="sng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 u="sng"/>
              <a:t>Describe the benefits your formulation has on the skin. </a:t>
            </a:r>
            <a:endParaRPr b="1" sz="1800" u="sng"/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</a:t>
            </a:r>
            <a:r>
              <a:rPr b="1" lang="en" sz="1800" u="sng"/>
              <a:t>Task 3C (GD-3a Distinction)  Justify the product formulation.    </a:t>
            </a:r>
            <a:endParaRPr/>
          </a:p>
        </p:txBody>
      </p:sp>
      <p:sp>
        <p:nvSpPr>
          <p:cNvPr id="198" name="Google Shape;198;p30"/>
          <p:cNvSpPr txBox="1"/>
          <p:nvPr>
            <p:ph idx="1" type="body"/>
          </p:nvPr>
        </p:nvSpPr>
        <p:spPr>
          <a:xfrm>
            <a:off x="364475" y="1252875"/>
            <a:ext cx="9963000" cy="5996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Justification</a:t>
            </a:r>
            <a:r>
              <a:rPr lang="en"/>
              <a:t> of specific ingredients Hair-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/>
              <a:t>Compatibility-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/>
              <a:t>Stability-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/>
              <a:t>Preservation-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/>
              <a:t>Effectiveness</a:t>
            </a:r>
            <a:r>
              <a:rPr lang="en"/>
              <a:t>-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/>
          <p:nvPr>
            <p:ph type="title"/>
          </p:nvPr>
        </p:nvSpPr>
        <p:spPr>
          <a:xfrm>
            <a:off x="364475" y="654101"/>
            <a:ext cx="9963000" cy="6342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</a:t>
            </a:r>
            <a:r>
              <a:rPr b="1" lang="en" sz="1800" u="sng"/>
              <a:t>Task 3C (GD-3a Distinction)  Justify the product formulation.</a:t>
            </a:r>
            <a:endParaRPr/>
          </a:p>
        </p:txBody>
      </p:sp>
      <p:sp>
        <p:nvSpPr>
          <p:cNvPr id="204" name="Google Shape;204;p31"/>
          <p:cNvSpPr txBox="1"/>
          <p:nvPr>
            <p:ph idx="1" type="body"/>
          </p:nvPr>
        </p:nvSpPr>
        <p:spPr>
          <a:xfrm>
            <a:off x="364475" y="1147075"/>
            <a:ext cx="9963000" cy="5984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Justification of specific ingredients Beauty-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Compatibility-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Stability-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Preservation-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Effectiveness-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