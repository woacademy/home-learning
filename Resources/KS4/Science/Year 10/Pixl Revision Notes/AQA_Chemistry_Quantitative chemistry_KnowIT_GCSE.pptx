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80"/>
  </p:notesMasterIdLst>
  <p:sldIdLst>
    <p:sldId id="256" r:id="rId4"/>
    <p:sldId id="281" r:id="rId5"/>
    <p:sldId id="316" r:id="rId6"/>
    <p:sldId id="495" r:id="rId7"/>
    <p:sldId id="496" r:id="rId8"/>
    <p:sldId id="497" r:id="rId9"/>
    <p:sldId id="554" r:id="rId10"/>
    <p:sldId id="325" r:id="rId11"/>
    <p:sldId id="552" r:id="rId12"/>
    <p:sldId id="500" r:id="rId13"/>
    <p:sldId id="467" r:id="rId14"/>
    <p:sldId id="553" r:id="rId15"/>
    <p:sldId id="504" r:id="rId16"/>
    <p:sldId id="505" r:id="rId17"/>
    <p:sldId id="317" r:id="rId18"/>
    <p:sldId id="499" r:id="rId19"/>
    <p:sldId id="403" r:id="rId20"/>
    <p:sldId id="502" r:id="rId21"/>
    <p:sldId id="405" r:id="rId22"/>
    <p:sldId id="555" r:id="rId23"/>
    <p:sldId id="556" r:id="rId24"/>
    <p:sldId id="514" r:id="rId25"/>
    <p:sldId id="515" r:id="rId26"/>
    <p:sldId id="516" r:id="rId27"/>
    <p:sldId id="517" r:id="rId28"/>
    <p:sldId id="518" r:id="rId29"/>
    <p:sldId id="519" r:id="rId30"/>
    <p:sldId id="520" r:id="rId31"/>
    <p:sldId id="558" r:id="rId32"/>
    <p:sldId id="557" r:id="rId33"/>
    <p:sldId id="535" r:id="rId34"/>
    <p:sldId id="536" r:id="rId35"/>
    <p:sldId id="537" r:id="rId36"/>
    <p:sldId id="521" r:id="rId37"/>
    <p:sldId id="559" r:id="rId38"/>
    <p:sldId id="560" r:id="rId39"/>
    <p:sldId id="531" r:id="rId40"/>
    <p:sldId id="532" r:id="rId41"/>
    <p:sldId id="533" r:id="rId42"/>
    <p:sldId id="522" r:id="rId43"/>
    <p:sldId id="525" r:id="rId44"/>
    <p:sldId id="526" r:id="rId45"/>
    <p:sldId id="523" r:id="rId46"/>
    <p:sldId id="561" r:id="rId47"/>
    <p:sldId id="539" r:id="rId48"/>
    <p:sldId id="524" r:id="rId49"/>
    <p:sldId id="562" r:id="rId50"/>
    <p:sldId id="538" r:id="rId51"/>
    <p:sldId id="379" r:id="rId52"/>
    <p:sldId id="506" r:id="rId53"/>
    <p:sldId id="507" r:id="rId54"/>
    <p:sldId id="508" r:id="rId55"/>
    <p:sldId id="406" r:id="rId56"/>
    <p:sldId id="563" r:id="rId57"/>
    <p:sldId id="542" r:id="rId58"/>
    <p:sldId id="543" r:id="rId59"/>
    <p:sldId id="408" r:id="rId60"/>
    <p:sldId id="564" r:id="rId61"/>
    <p:sldId id="565" r:id="rId62"/>
    <p:sldId id="540" r:id="rId63"/>
    <p:sldId id="541" r:id="rId64"/>
    <p:sldId id="509" r:id="rId65"/>
    <p:sldId id="550" r:id="rId66"/>
    <p:sldId id="551" r:id="rId67"/>
    <p:sldId id="528" r:id="rId68"/>
    <p:sldId id="530" r:id="rId69"/>
    <p:sldId id="510" r:id="rId70"/>
    <p:sldId id="566" r:id="rId71"/>
    <p:sldId id="547" r:id="rId72"/>
    <p:sldId id="548" r:id="rId73"/>
    <p:sldId id="511" r:id="rId74"/>
    <p:sldId id="567" r:id="rId75"/>
    <p:sldId id="568" r:id="rId76"/>
    <p:sldId id="544" r:id="rId77"/>
    <p:sldId id="545" r:id="rId78"/>
    <p:sldId id="546" r:id="rId7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Simpkins" initials="MS" lastIdx="56"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76" autoAdjust="0"/>
    <p:restoredTop sz="92868" autoAdjust="0"/>
  </p:normalViewPr>
  <p:slideViewPr>
    <p:cSldViewPr>
      <p:cViewPr varScale="1">
        <p:scale>
          <a:sx n="67" d="100"/>
          <a:sy n="67" d="100"/>
        </p:scale>
        <p:origin x="72" y="107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97" d="100"/>
        <a:sy n="97" d="100"/>
      </p:scale>
      <p:origin x="0" y="-5832"/>
    </p:cViewPr>
  </p:sorter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slide" Target="slides/slide73.xml"/><Relationship Id="rId84" Type="http://schemas.openxmlformats.org/officeDocument/2006/relationships/theme" Target="theme/theme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presProps" Target="presProps.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commentAuthors" Target="commentAuthors.xml"/><Relationship Id="rId86"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5/15/2018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https://c2.staticflickr.com/4/3178/4076380768_03994aed44_b.jpg</a:t>
            </a:r>
          </a:p>
        </p:txBody>
      </p:sp>
      <p:sp>
        <p:nvSpPr>
          <p:cNvPr id="4" name="Slide Number Placeholder 3"/>
          <p:cNvSpPr>
            <a:spLocks noGrp="1"/>
          </p:cNvSpPr>
          <p:nvPr>
            <p:ph type="sldNum" sz="quarter" idx="10"/>
          </p:nvPr>
        </p:nvSpPr>
        <p:spPr/>
        <p:txBody>
          <a:bodyPr/>
          <a:lstStyle/>
          <a:p>
            <a:fld id="{2C9D32D9-63A9-423F-8B77-368638260D4D}" type="slidenum">
              <a:rPr lang="en-US" smtClean="0"/>
              <a:t>2</a:t>
            </a:fld>
            <a:endParaRPr lang="en-US"/>
          </a:p>
        </p:txBody>
      </p:sp>
    </p:spTree>
    <p:extLst>
      <p:ext uri="{BB962C8B-B14F-4D97-AF65-F5344CB8AC3E}">
        <p14:creationId xmlns:p14="http://schemas.microsoft.com/office/powerpoint/2010/main" val="253604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a:p>
        </p:txBody>
      </p:sp>
    </p:spTree>
    <p:extLst>
      <p:ext uri="{BB962C8B-B14F-4D97-AF65-F5344CB8AC3E}">
        <p14:creationId xmlns:p14="http://schemas.microsoft.com/office/powerpoint/2010/main" val="704945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a:p>
        </p:txBody>
      </p:sp>
    </p:spTree>
    <p:extLst>
      <p:ext uri="{BB962C8B-B14F-4D97-AF65-F5344CB8AC3E}">
        <p14:creationId xmlns:p14="http://schemas.microsoft.com/office/powerpoint/2010/main" val="2679772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http://www.tutormyself.com/wp-content/uploads/img_56ad15facc33b.png</a:t>
            </a:r>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a:p>
        </p:txBody>
      </p:sp>
    </p:spTree>
    <p:extLst>
      <p:ext uri="{BB962C8B-B14F-4D97-AF65-F5344CB8AC3E}">
        <p14:creationId xmlns:p14="http://schemas.microsoft.com/office/powerpoint/2010/main" val="7495553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29vnf7MLVAhUIzIMKHf0PBCwQjRwIBw&amp;url=http%3A%2F%2Figcsechemistryrevision.weebly.com%2Fthe-periodic-table&amp;psig=AFQjCNHbIyDlYCiPV-LD2cObgR3YO4wosA&amp;ust=1502117113201934</a:t>
            </a:r>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a:p>
        </p:txBody>
      </p:sp>
    </p:spTree>
    <p:extLst>
      <p:ext uri="{BB962C8B-B14F-4D97-AF65-F5344CB8AC3E}">
        <p14:creationId xmlns:p14="http://schemas.microsoft.com/office/powerpoint/2010/main" val="800382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29vnf7MLVAhUIzIMKHf0PBCwQjRwIBw&amp;url=http%3A%2F%2Figcsechemistryrevision.weebly.com%2Fthe-periodic-table&amp;psig=AFQjCNHbIyDlYCiPV-LD2cObgR3YO4wosA&amp;ust=1502117113201934</a:t>
            </a:r>
          </a:p>
        </p:txBody>
      </p:sp>
      <p:sp>
        <p:nvSpPr>
          <p:cNvPr id="4" name="Slide Number Placeholder 3"/>
          <p:cNvSpPr>
            <a:spLocks noGrp="1"/>
          </p:cNvSpPr>
          <p:nvPr>
            <p:ph type="sldNum" sz="quarter" idx="10"/>
          </p:nvPr>
        </p:nvSpPr>
        <p:spPr/>
        <p:txBody>
          <a:bodyPr/>
          <a:lstStyle/>
          <a:p>
            <a:fld id="{2C9D32D9-63A9-423F-8B77-368638260D4D}" type="slidenum">
              <a:rPr lang="en-US" smtClean="0"/>
              <a:t>7</a:t>
            </a:fld>
            <a:endParaRPr lang="en-US"/>
          </a:p>
        </p:txBody>
      </p:sp>
    </p:spTree>
    <p:extLst>
      <p:ext uri="{BB962C8B-B14F-4D97-AF65-F5344CB8AC3E}">
        <p14:creationId xmlns:p14="http://schemas.microsoft.com/office/powerpoint/2010/main" val="4166412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a:t>
            </a:fld>
            <a:endParaRPr lang="en-US"/>
          </a:p>
        </p:txBody>
      </p:sp>
    </p:spTree>
    <p:extLst>
      <p:ext uri="{BB962C8B-B14F-4D97-AF65-F5344CB8AC3E}">
        <p14:creationId xmlns:p14="http://schemas.microsoft.com/office/powerpoint/2010/main" val="3209414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11</a:t>
            </a:fld>
            <a:endParaRPr lang="en-US" dirty="0"/>
          </a:p>
        </p:txBody>
      </p:sp>
    </p:spTree>
    <p:extLst>
      <p:ext uri="{BB962C8B-B14F-4D97-AF65-F5344CB8AC3E}">
        <p14:creationId xmlns:p14="http://schemas.microsoft.com/office/powerpoint/2010/main" val="42943487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15</a:t>
            </a:fld>
            <a:endParaRPr lang="en-US"/>
          </a:p>
        </p:txBody>
      </p:sp>
    </p:spTree>
    <p:extLst>
      <p:ext uri="{BB962C8B-B14F-4D97-AF65-F5344CB8AC3E}">
        <p14:creationId xmlns:p14="http://schemas.microsoft.com/office/powerpoint/2010/main" val="41992037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16</a:t>
            </a:fld>
            <a:endParaRPr lang="en-US"/>
          </a:p>
        </p:txBody>
      </p:sp>
    </p:spTree>
    <p:extLst>
      <p:ext uri="{BB962C8B-B14F-4D97-AF65-F5344CB8AC3E}">
        <p14:creationId xmlns:p14="http://schemas.microsoft.com/office/powerpoint/2010/main" val="1963279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a:p>
        </p:txBody>
      </p:sp>
    </p:spTree>
    <p:extLst>
      <p:ext uri="{BB962C8B-B14F-4D97-AF65-F5344CB8AC3E}">
        <p14:creationId xmlns:p14="http://schemas.microsoft.com/office/powerpoint/2010/main" val="141252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a:p>
        </p:txBody>
      </p:sp>
    </p:spTree>
    <p:extLst>
      <p:ext uri="{BB962C8B-B14F-4D97-AF65-F5344CB8AC3E}">
        <p14:creationId xmlns:p14="http://schemas.microsoft.com/office/powerpoint/2010/main" val="37234017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19</a:t>
            </a:fld>
            <a:endParaRPr lang="en-US" dirty="0"/>
          </a:p>
        </p:txBody>
      </p:sp>
    </p:spTree>
    <p:extLst>
      <p:ext uri="{BB962C8B-B14F-4D97-AF65-F5344CB8AC3E}">
        <p14:creationId xmlns:p14="http://schemas.microsoft.com/office/powerpoint/2010/main" val="41392350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20</a:t>
            </a:fld>
            <a:endParaRPr lang="en-US"/>
          </a:p>
        </p:txBody>
      </p:sp>
    </p:spTree>
    <p:extLst>
      <p:ext uri="{BB962C8B-B14F-4D97-AF65-F5344CB8AC3E}">
        <p14:creationId xmlns:p14="http://schemas.microsoft.com/office/powerpoint/2010/main" val="37533598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21</a:t>
            </a:fld>
            <a:endParaRPr lang="en-US"/>
          </a:p>
        </p:txBody>
      </p:sp>
    </p:spTree>
    <p:extLst>
      <p:ext uri="{BB962C8B-B14F-4D97-AF65-F5344CB8AC3E}">
        <p14:creationId xmlns:p14="http://schemas.microsoft.com/office/powerpoint/2010/main" val="9232467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22</a:t>
            </a:fld>
            <a:endParaRPr lang="en-US"/>
          </a:p>
        </p:txBody>
      </p:sp>
    </p:spTree>
    <p:extLst>
      <p:ext uri="{BB962C8B-B14F-4D97-AF65-F5344CB8AC3E}">
        <p14:creationId xmlns:p14="http://schemas.microsoft.com/office/powerpoint/2010/main" val="33168061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23</a:t>
            </a:fld>
            <a:endParaRPr lang="en-US"/>
          </a:p>
        </p:txBody>
      </p:sp>
    </p:spTree>
    <p:extLst>
      <p:ext uri="{BB962C8B-B14F-4D97-AF65-F5344CB8AC3E}">
        <p14:creationId xmlns:p14="http://schemas.microsoft.com/office/powerpoint/2010/main" val="7455005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24</a:t>
            </a:fld>
            <a:endParaRPr lang="en-US"/>
          </a:p>
        </p:txBody>
      </p:sp>
    </p:spTree>
    <p:extLst>
      <p:ext uri="{BB962C8B-B14F-4D97-AF65-F5344CB8AC3E}">
        <p14:creationId xmlns:p14="http://schemas.microsoft.com/office/powerpoint/2010/main" val="47081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j-vJir4MTVAhXrBsAKHWkWDJ4QjRwIBw&amp;url=http%3A%2F%2Fclipart-library.com%2Fbleach-bottle-cliparts.html&amp;psig=AFQjCNEwZrD7GTPhfnI4-VkcrXeeVO_Fcw&amp;ust=1502182494697836</a:t>
            </a:r>
          </a:p>
        </p:txBody>
      </p:sp>
      <p:sp>
        <p:nvSpPr>
          <p:cNvPr id="4" name="Slide Number Placeholder 3"/>
          <p:cNvSpPr>
            <a:spLocks noGrp="1"/>
          </p:cNvSpPr>
          <p:nvPr>
            <p:ph type="sldNum" sz="quarter" idx="10"/>
          </p:nvPr>
        </p:nvSpPr>
        <p:spPr/>
        <p:txBody>
          <a:bodyPr/>
          <a:lstStyle/>
          <a:p>
            <a:fld id="{2C9D32D9-63A9-423F-8B77-368638260D4D}" type="slidenum">
              <a:rPr lang="en-US" smtClean="0"/>
              <a:t>25</a:t>
            </a:fld>
            <a:endParaRPr lang="en-US"/>
          </a:p>
        </p:txBody>
      </p:sp>
    </p:spTree>
    <p:extLst>
      <p:ext uri="{BB962C8B-B14F-4D97-AF65-F5344CB8AC3E}">
        <p14:creationId xmlns:p14="http://schemas.microsoft.com/office/powerpoint/2010/main" val="814629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26</a:t>
            </a:fld>
            <a:endParaRPr lang="en-US"/>
          </a:p>
        </p:txBody>
      </p:sp>
    </p:spTree>
    <p:extLst>
      <p:ext uri="{BB962C8B-B14F-4D97-AF65-F5344CB8AC3E}">
        <p14:creationId xmlns:p14="http://schemas.microsoft.com/office/powerpoint/2010/main" val="10650372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pmbLB4MTVAhVMCcAKHRezDfYQjRwIBw&amp;url=http%3A%2F%2Fthaydungdayhoa.com%2Fvideo-clip%2Fmagie-tac-dung-voi-dung-dich-axit-clohydric.html&amp;psig=AFQjCNGLBqWTLdXFIBC5sgzgj1iDJR1bVg&amp;ust=1502182612745360</a:t>
            </a:r>
          </a:p>
        </p:txBody>
      </p:sp>
      <p:sp>
        <p:nvSpPr>
          <p:cNvPr id="4" name="Slide Number Placeholder 3"/>
          <p:cNvSpPr>
            <a:spLocks noGrp="1"/>
          </p:cNvSpPr>
          <p:nvPr>
            <p:ph type="sldNum" sz="quarter" idx="10"/>
          </p:nvPr>
        </p:nvSpPr>
        <p:spPr/>
        <p:txBody>
          <a:bodyPr/>
          <a:lstStyle/>
          <a:p>
            <a:fld id="{2C9D32D9-63A9-423F-8B77-368638260D4D}" type="slidenum">
              <a:rPr lang="en-US" smtClean="0"/>
              <a:t>27</a:t>
            </a:fld>
            <a:endParaRPr lang="en-US"/>
          </a:p>
        </p:txBody>
      </p:sp>
    </p:spTree>
    <p:extLst>
      <p:ext uri="{BB962C8B-B14F-4D97-AF65-F5344CB8AC3E}">
        <p14:creationId xmlns:p14="http://schemas.microsoft.com/office/powerpoint/2010/main" val="17332968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28</a:t>
            </a:fld>
            <a:endParaRPr lang="en-US"/>
          </a:p>
        </p:txBody>
      </p:sp>
    </p:spTree>
    <p:extLst>
      <p:ext uri="{BB962C8B-B14F-4D97-AF65-F5344CB8AC3E}">
        <p14:creationId xmlns:p14="http://schemas.microsoft.com/office/powerpoint/2010/main" val="31242938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29</a:t>
            </a:fld>
            <a:endParaRPr lang="en-US"/>
          </a:p>
        </p:txBody>
      </p:sp>
    </p:spTree>
    <p:extLst>
      <p:ext uri="{BB962C8B-B14F-4D97-AF65-F5344CB8AC3E}">
        <p14:creationId xmlns:p14="http://schemas.microsoft.com/office/powerpoint/2010/main" val="12957524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30</a:t>
            </a:fld>
            <a:endParaRPr lang="en-US"/>
          </a:p>
        </p:txBody>
      </p:sp>
    </p:spTree>
    <p:extLst>
      <p:ext uri="{BB962C8B-B14F-4D97-AF65-F5344CB8AC3E}">
        <p14:creationId xmlns:p14="http://schemas.microsoft.com/office/powerpoint/2010/main" val="12960609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31</a:t>
            </a:fld>
            <a:endParaRPr lang="en-US"/>
          </a:p>
        </p:txBody>
      </p:sp>
    </p:spTree>
    <p:extLst>
      <p:ext uri="{BB962C8B-B14F-4D97-AF65-F5344CB8AC3E}">
        <p14:creationId xmlns:p14="http://schemas.microsoft.com/office/powerpoint/2010/main" val="32478845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a:p>
        </p:txBody>
      </p:sp>
    </p:spTree>
    <p:extLst>
      <p:ext uri="{BB962C8B-B14F-4D97-AF65-F5344CB8AC3E}">
        <p14:creationId xmlns:p14="http://schemas.microsoft.com/office/powerpoint/2010/main" val="28645396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33</a:t>
            </a:fld>
            <a:endParaRPr lang="en-US"/>
          </a:p>
        </p:txBody>
      </p:sp>
    </p:spTree>
    <p:extLst>
      <p:ext uri="{BB962C8B-B14F-4D97-AF65-F5344CB8AC3E}">
        <p14:creationId xmlns:p14="http://schemas.microsoft.com/office/powerpoint/2010/main" val="1328456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dirty="0"/>
          </a:p>
        </p:txBody>
      </p:sp>
    </p:spTree>
    <p:extLst>
      <p:ext uri="{BB962C8B-B14F-4D97-AF65-F5344CB8AC3E}">
        <p14:creationId xmlns:p14="http://schemas.microsoft.com/office/powerpoint/2010/main" val="33776467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35</a:t>
            </a:fld>
            <a:endParaRPr lang="en-US"/>
          </a:p>
        </p:txBody>
      </p:sp>
    </p:spTree>
    <p:extLst>
      <p:ext uri="{BB962C8B-B14F-4D97-AF65-F5344CB8AC3E}">
        <p14:creationId xmlns:p14="http://schemas.microsoft.com/office/powerpoint/2010/main" val="1837341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36</a:t>
            </a:fld>
            <a:endParaRPr lang="en-US"/>
          </a:p>
        </p:txBody>
      </p:sp>
    </p:spTree>
    <p:extLst>
      <p:ext uri="{BB962C8B-B14F-4D97-AF65-F5344CB8AC3E}">
        <p14:creationId xmlns:p14="http://schemas.microsoft.com/office/powerpoint/2010/main" val="30666167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a:p>
        </p:txBody>
      </p:sp>
    </p:spTree>
    <p:extLst>
      <p:ext uri="{BB962C8B-B14F-4D97-AF65-F5344CB8AC3E}">
        <p14:creationId xmlns:p14="http://schemas.microsoft.com/office/powerpoint/2010/main" val="4236171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a:p>
        </p:txBody>
      </p:sp>
    </p:spTree>
    <p:extLst>
      <p:ext uri="{BB962C8B-B14F-4D97-AF65-F5344CB8AC3E}">
        <p14:creationId xmlns:p14="http://schemas.microsoft.com/office/powerpoint/2010/main" val="17412418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39</a:t>
            </a:fld>
            <a:endParaRPr lang="en-US"/>
          </a:p>
        </p:txBody>
      </p:sp>
    </p:spTree>
    <p:extLst>
      <p:ext uri="{BB962C8B-B14F-4D97-AF65-F5344CB8AC3E}">
        <p14:creationId xmlns:p14="http://schemas.microsoft.com/office/powerpoint/2010/main" val="23278888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40</a:t>
            </a:fld>
            <a:endParaRPr lang="en-US"/>
          </a:p>
        </p:txBody>
      </p:sp>
    </p:spTree>
    <p:extLst>
      <p:ext uri="{BB962C8B-B14F-4D97-AF65-F5344CB8AC3E}">
        <p14:creationId xmlns:p14="http://schemas.microsoft.com/office/powerpoint/2010/main" val="27290267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41</a:t>
            </a:fld>
            <a:endParaRPr lang="en-US"/>
          </a:p>
        </p:txBody>
      </p:sp>
    </p:spTree>
    <p:extLst>
      <p:ext uri="{BB962C8B-B14F-4D97-AF65-F5344CB8AC3E}">
        <p14:creationId xmlns:p14="http://schemas.microsoft.com/office/powerpoint/2010/main" val="20436914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42</a:t>
            </a:fld>
            <a:endParaRPr lang="en-US"/>
          </a:p>
        </p:txBody>
      </p:sp>
    </p:spTree>
    <p:extLst>
      <p:ext uri="{BB962C8B-B14F-4D97-AF65-F5344CB8AC3E}">
        <p14:creationId xmlns:p14="http://schemas.microsoft.com/office/powerpoint/2010/main" val="7082381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43</a:t>
            </a:fld>
            <a:endParaRPr lang="en-US"/>
          </a:p>
        </p:txBody>
      </p:sp>
    </p:spTree>
    <p:extLst>
      <p:ext uri="{BB962C8B-B14F-4D97-AF65-F5344CB8AC3E}">
        <p14:creationId xmlns:p14="http://schemas.microsoft.com/office/powerpoint/2010/main" val="33208860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44</a:t>
            </a:fld>
            <a:endParaRPr lang="en-US"/>
          </a:p>
        </p:txBody>
      </p:sp>
    </p:spTree>
    <p:extLst>
      <p:ext uri="{BB962C8B-B14F-4D97-AF65-F5344CB8AC3E}">
        <p14:creationId xmlns:p14="http://schemas.microsoft.com/office/powerpoint/2010/main" val="22398092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45</a:t>
            </a:fld>
            <a:endParaRPr lang="en-US"/>
          </a:p>
        </p:txBody>
      </p:sp>
    </p:spTree>
    <p:extLst>
      <p:ext uri="{BB962C8B-B14F-4D97-AF65-F5344CB8AC3E}">
        <p14:creationId xmlns:p14="http://schemas.microsoft.com/office/powerpoint/2010/main" val="37400446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46</a:t>
            </a:fld>
            <a:endParaRPr lang="en-US" dirty="0"/>
          </a:p>
        </p:txBody>
      </p:sp>
    </p:spTree>
    <p:extLst>
      <p:ext uri="{BB962C8B-B14F-4D97-AF65-F5344CB8AC3E}">
        <p14:creationId xmlns:p14="http://schemas.microsoft.com/office/powerpoint/2010/main" val="23126333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47</a:t>
            </a:fld>
            <a:endParaRPr lang="en-US"/>
          </a:p>
        </p:txBody>
      </p:sp>
    </p:spTree>
    <p:extLst>
      <p:ext uri="{BB962C8B-B14F-4D97-AF65-F5344CB8AC3E}">
        <p14:creationId xmlns:p14="http://schemas.microsoft.com/office/powerpoint/2010/main" val="23552887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48</a:t>
            </a:fld>
            <a:endParaRPr lang="en-US"/>
          </a:p>
        </p:txBody>
      </p:sp>
    </p:spTree>
    <p:extLst>
      <p:ext uri="{BB962C8B-B14F-4D97-AF65-F5344CB8AC3E}">
        <p14:creationId xmlns:p14="http://schemas.microsoft.com/office/powerpoint/2010/main" val="26406273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49</a:t>
            </a:fld>
            <a:endParaRPr lang="en-US"/>
          </a:p>
        </p:txBody>
      </p:sp>
    </p:spTree>
    <p:extLst>
      <p:ext uri="{BB962C8B-B14F-4D97-AF65-F5344CB8AC3E}">
        <p14:creationId xmlns:p14="http://schemas.microsoft.com/office/powerpoint/2010/main" val="37200617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https://www.google.co.uk/url?sa=i&amp;rct=j&amp;q=&amp;esrc=s&amp;source=images&amp;cd=&amp;ved=0ahUKEwjSltDYrsPVAhWrKsAKHRnNB70QjRwIBw&amp;url=http%3A%2F%2Fslideplayer.com%2Fslide%2F3592418%2F&amp;psig=AFQjCNHGiju0DEs91_r5gjgI3eDgDsEfaA&amp;ust=1502134825976090</a:t>
            </a:r>
          </a:p>
        </p:txBody>
      </p:sp>
      <p:sp>
        <p:nvSpPr>
          <p:cNvPr id="4" name="Slide Number Placeholder 3"/>
          <p:cNvSpPr>
            <a:spLocks noGrp="1"/>
          </p:cNvSpPr>
          <p:nvPr>
            <p:ph type="sldNum" sz="quarter" idx="10"/>
          </p:nvPr>
        </p:nvSpPr>
        <p:spPr/>
        <p:txBody>
          <a:bodyPr/>
          <a:lstStyle/>
          <a:p>
            <a:fld id="{2C9D32D9-63A9-423F-8B77-368638260D4D}" type="slidenum">
              <a:rPr lang="en-US" smtClean="0"/>
              <a:t>50</a:t>
            </a:fld>
            <a:endParaRPr lang="en-US"/>
          </a:p>
        </p:txBody>
      </p:sp>
    </p:spTree>
    <p:extLst>
      <p:ext uri="{BB962C8B-B14F-4D97-AF65-F5344CB8AC3E}">
        <p14:creationId xmlns:p14="http://schemas.microsoft.com/office/powerpoint/2010/main" val="19174084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51</a:t>
            </a:fld>
            <a:endParaRPr lang="en-US"/>
          </a:p>
        </p:txBody>
      </p:sp>
    </p:spTree>
    <p:extLst>
      <p:ext uri="{BB962C8B-B14F-4D97-AF65-F5344CB8AC3E}">
        <p14:creationId xmlns:p14="http://schemas.microsoft.com/office/powerpoint/2010/main" val="13394014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52</a:t>
            </a:fld>
            <a:endParaRPr lang="en-US"/>
          </a:p>
        </p:txBody>
      </p:sp>
    </p:spTree>
    <p:extLst>
      <p:ext uri="{BB962C8B-B14F-4D97-AF65-F5344CB8AC3E}">
        <p14:creationId xmlns:p14="http://schemas.microsoft.com/office/powerpoint/2010/main" val="4626059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53</a:t>
            </a:fld>
            <a:endParaRPr lang="en-US"/>
          </a:p>
        </p:txBody>
      </p:sp>
    </p:spTree>
    <p:extLst>
      <p:ext uri="{BB962C8B-B14F-4D97-AF65-F5344CB8AC3E}">
        <p14:creationId xmlns:p14="http://schemas.microsoft.com/office/powerpoint/2010/main" val="41704599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54</a:t>
            </a:fld>
            <a:endParaRPr lang="en-US"/>
          </a:p>
        </p:txBody>
      </p:sp>
    </p:spTree>
    <p:extLst>
      <p:ext uri="{BB962C8B-B14F-4D97-AF65-F5344CB8AC3E}">
        <p14:creationId xmlns:p14="http://schemas.microsoft.com/office/powerpoint/2010/main" val="14383747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55</a:t>
            </a:fld>
            <a:endParaRPr lang="en-US"/>
          </a:p>
        </p:txBody>
      </p:sp>
    </p:spTree>
    <p:extLst>
      <p:ext uri="{BB962C8B-B14F-4D97-AF65-F5344CB8AC3E}">
        <p14:creationId xmlns:p14="http://schemas.microsoft.com/office/powerpoint/2010/main" val="276900760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56</a:t>
            </a:fld>
            <a:endParaRPr lang="en-US"/>
          </a:p>
        </p:txBody>
      </p:sp>
    </p:spTree>
    <p:extLst>
      <p:ext uri="{BB962C8B-B14F-4D97-AF65-F5344CB8AC3E}">
        <p14:creationId xmlns:p14="http://schemas.microsoft.com/office/powerpoint/2010/main" val="35830258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57</a:t>
            </a:fld>
            <a:endParaRPr lang="en-US" dirty="0"/>
          </a:p>
        </p:txBody>
      </p:sp>
    </p:spTree>
    <p:extLst>
      <p:ext uri="{BB962C8B-B14F-4D97-AF65-F5344CB8AC3E}">
        <p14:creationId xmlns:p14="http://schemas.microsoft.com/office/powerpoint/2010/main" val="15723860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58</a:t>
            </a:fld>
            <a:endParaRPr lang="en-US"/>
          </a:p>
        </p:txBody>
      </p:sp>
    </p:spTree>
    <p:extLst>
      <p:ext uri="{BB962C8B-B14F-4D97-AF65-F5344CB8AC3E}">
        <p14:creationId xmlns:p14="http://schemas.microsoft.com/office/powerpoint/2010/main" val="240942542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59</a:t>
            </a:fld>
            <a:endParaRPr lang="en-US"/>
          </a:p>
        </p:txBody>
      </p:sp>
    </p:spTree>
    <p:extLst>
      <p:ext uri="{BB962C8B-B14F-4D97-AF65-F5344CB8AC3E}">
        <p14:creationId xmlns:p14="http://schemas.microsoft.com/office/powerpoint/2010/main" val="20531394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60</a:t>
            </a:fld>
            <a:endParaRPr lang="en-US"/>
          </a:p>
        </p:txBody>
      </p:sp>
    </p:spTree>
    <p:extLst>
      <p:ext uri="{BB962C8B-B14F-4D97-AF65-F5344CB8AC3E}">
        <p14:creationId xmlns:p14="http://schemas.microsoft.com/office/powerpoint/2010/main" val="242954382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61</a:t>
            </a:fld>
            <a:endParaRPr lang="en-US"/>
          </a:p>
        </p:txBody>
      </p:sp>
    </p:spTree>
    <p:extLst>
      <p:ext uri="{BB962C8B-B14F-4D97-AF65-F5344CB8AC3E}">
        <p14:creationId xmlns:p14="http://schemas.microsoft.com/office/powerpoint/2010/main" val="329085906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62</a:t>
            </a:fld>
            <a:endParaRPr lang="en-US"/>
          </a:p>
        </p:txBody>
      </p:sp>
    </p:spTree>
    <p:extLst>
      <p:ext uri="{BB962C8B-B14F-4D97-AF65-F5344CB8AC3E}">
        <p14:creationId xmlns:p14="http://schemas.microsoft.com/office/powerpoint/2010/main" val="6329524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63</a:t>
            </a:fld>
            <a:endParaRPr lang="en-US"/>
          </a:p>
        </p:txBody>
      </p:sp>
    </p:spTree>
    <p:extLst>
      <p:ext uri="{BB962C8B-B14F-4D97-AF65-F5344CB8AC3E}">
        <p14:creationId xmlns:p14="http://schemas.microsoft.com/office/powerpoint/2010/main" val="10740893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c9fD53sTVAhXXFsAKHSJ7Dr8QjRwIBw&amp;url=https%3A%2F%2Fdashboard.dublinschools.net%2Flessons%2F%3Fid%3De9c698fd6c35d97ff2e23fd627aef61a&amp;psig=AFQjCNEPUZuHN4PUAqRXuixkOonJ1d2CJw&amp;ust=1502182150450095</a:t>
            </a:r>
          </a:p>
        </p:txBody>
      </p:sp>
      <p:sp>
        <p:nvSpPr>
          <p:cNvPr id="4" name="Slide Number Placeholder 3"/>
          <p:cNvSpPr>
            <a:spLocks noGrp="1"/>
          </p:cNvSpPr>
          <p:nvPr>
            <p:ph type="sldNum" sz="quarter" idx="10"/>
          </p:nvPr>
        </p:nvSpPr>
        <p:spPr/>
        <p:txBody>
          <a:bodyPr/>
          <a:lstStyle/>
          <a:p>
            <a:fld id="{2C9D32D9-63A9-423F-8B77-368638260D4D}" type="slidenum">
              <a:rPr lang="en-US" smtClean="0"/>
              <a:t>64</a:t>
            </a:fld>
            <a:endParaRPr lang="en-US"/>
          </a:p>
        </p:txBody>
      </p:sp>
    </p:spTree>
    <p:extLst>
      <p:ext uri="{BB962C8B-B14F-4D97-AF65-F5344CB8AC3E}">
        <p14:creationId xmlns:p14="http://schemas.microsoft.com/office/powerpoint/2010/main" val="25103026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65</a:t>
            </a:fld>
            <a:endParaRPr lang="en-US"/>
          </a:p>
        </p:txBody>
      </p:sp>
    </p:spTree>
    <p:extLst>
      <p:ext uri="{BB962C8B-B14F-4D97-AF65-F5344CB8AC3E}">
        <p14:creationId xmlns:p14="http://schemas.microsoft.com/office/powerpoint/2010/main" val="29331995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66</a:t>
            </a:fld>
            <a:endParaRPr lang="en-US"/>
          </a:p>
        </p:txBody>
      </p:sp>
    </p:spTree>
    <p:extLst>
      <p:ext uri="{BB962C8B-B14F-4D97-AF65-F5344CB8AC3E}">
        <p14:creationId xmlns:p14="http://schemas.microsoft.com/office/powerpoint/2010/main" val="39909504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67</a:t>
            </a:fld>
            <a:endParaRPr lang="en-US"/>
          </a:p>
        </p:txBody>
      </p:sp>
    </p:spTree>
    <p:extLst>
      <p:ext uri="{BB962C8B-B14F-4D97-AF65-F5344CB8AC3E}">
        <p14:creationId xmlns:p14="http://schemas.microsoft.com/office/powerpoint/2010/main" val="62573519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68</a:t>
            </a:fld>
            <a:endParaRPr lang="en-US"/>
          </a:p>
        </p:txBody>
      </p:sp>
    </p:spTree>
    <p:extLst>
      <p:ext uri="{BB962C8B-B14F-4D97-AF65-F5344CB8AC3E}">
        <p14:creationId xmlns:p14="http://schemas.microsoft.com/office/powerpoint/2010/main" val="25980447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69</a:t>
            </a:fld>
            <a:endParaRPr lang="en-US"/>
          </a:p>
        </p:txBody>
      </p:sp>
    </p:spTree>
    <p:extLst>
      <p:ext uri="{BB962C8B-B14F-4D97-AF65-F5344CB8AC3E}">
        <p14:creationId xmlns:p14="http://schemas.microsoft.com/office/powerpoint/2010/main" val="7654036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70</a:t>
            </a:fld>
            <a:endParaRPr lang="en-US"/>
          </a:p>
        </p:txBody>
      </p:sp>
    </p:spTree>
    <p:extLst>
      <p:ext uri="{BB962C8B-B14F-4D97-AF65-F5344CB8AC3E}">
        <p14:creationId xmlns:p14="http://schemas.microsoft.com/office/powerpoint/2010/main" val="13851077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71</a:t>
            </a:fld>
            <a:endParaRPr lang="en-US" dirty="0"/>
          </a:p>
        </p:txBody>
      </p:sp>
    </p:spTree>
    <p:extLst>
      <p:ext uri="{BB962C8B-B14F-4D97-AF65-F5344CB8AC3E}">
        <p14:creationId xmlns:p14="http://schemas.microsoft.com/office/powerpoint/2010/main" val="69703719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72</a:t>
            </a:fld>
            <a:endParaRPr lang="en-US"/>
          </a:p>
        </p:txBody>
      </p:sp>
    </p:spTree>
    <p:extLst>
      <p:ext uri="{BB962C8B-B14F-4D97-AF65-F5344CB8AC3E}">
        <p14:creationId xmlns:p14="http://schemas.microsoft.com/office/powerpoint/2010/main" val="301776006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73</a:t>
            </a:fld>
            <a:endParaRPr lang="en-US"/>
          </a:p>
        </p:txBody>
      </p:sp>
    </p:spTree>
    <p:extLst>
      <p:ext uri="{BB962C8B-B14F-4D97-AF65-F5344CB8AC3E}">
        <p14:creationId xmlns:p14="http://schemas.microsoft.com/office/powerpoint/2010/main" val="29458473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74</a:t>
            </a:fld>
            <a:endParaRPr lang="en-US"/>
          </a:p>
        </p:txBody>
      </p:sp>
    </p:spTree>
    <p:extLst>
      <p:ext uri="{BB962C8B-B14F-4D97-AF65-F5344CB8AC3E}">
        <p14:creationId xmlns:p14="http://schemas.microsoft.com/office/powerpoint/2010/main" val="259174668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75</a:t>
            </a:fld>
            <a:endParaRPr lang="en-US"/>
          </a:p>
        </p:txBody>
      </p:sp>
    </p:spTree>
    <p:extLst>
      <p:ext uri="{BB962C8B-B14F-4D97-AF65-F5344CB8AC3E}">
        <p14:creationId xmlns:p14="http://schemas.microsoft.com/office/powerpoint/2010/main" val="11944514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76</a:t>
            </a:fld>
            <a:endParaRPr lang="en-US"/>
          </a:p>
        </p:txBody>
      </p:sp>
    </p:spTree>
    <p:extLst>
      <p:ext uri="{BB962C8B-B14F-4D97-AF65-F5344CB8AC3E}">
        <p14:creationId xmlns:p14="http://schemas.microsoft.com/office/powerpoint/2010/main" val="32873009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15/05/2018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15/05/2018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15/05/2018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15/05/2018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15/05/2018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15/05/2018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15/05/2018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15/05/2018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15/05/2018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15/05/2018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15/05/2018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15/05/2018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Drag picture to placeholder or click icon to add</a:t>
            </a:r>
            <a:endParaRPr lang="en-GB"/>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15/05/2018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15/05/2018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15/05/2018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15/05/2018</a:t>
            </a:fld>
            <a:endParaRPr lang="en-GB"/>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15/05/2018</a:t>
            </a:fld>
            <a:endParaRPr lang="en-GB"/>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15/05/2018</a:t>
            </a:fld>
            <a:endParaRPr lang="en-GB"/>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15/05/2018</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ixl.org.uk/" TargetMode="External"/><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a:t>
            </a:r>
            <a:r>
              <a:rPr lang="en-GB" sz="900">
                <a:solidFill>
                  <a:schemeClr val="bg1">
                    <a:lumMod val="85000"/>
                  </a:schemeClr>
                </a:solidFill>
              </a:rPr>
              <a:t>Club XL </a:t>
            </a:r>
            <a:r>
              <a:rPr lang="en-GB" sz="900" dirty="0">
                <a:solidFill>
                  <a:schemeClr val="bg1">
                    <a:lumMod val="85000"/>
                  </a:schemeClr>
                </a:solidFill>
              </a:rPr>
              <a:t>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a14="http://schemas.microsoft.com/office/drawing/2010/main" xmlns="">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a14="http://schemas.microsoft.com/office/drawing/2010/main" xmlns="">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3"/>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065728"/>
          </a:xfrm>
          <a:prstGeom prst="rect">
            <a:avLst/>
          </a:prstGeom>
          <a:noFill/>
        </p:spPr>
        <p:txBody>
          <a:bodyPr wrap="square" rtlCol="0">
            <a:spAutoFit/>
          </a:bodyPr>
          <a:lstStyle/>
          <a:p>
            <a:pPr algn="ctr">
              <a:lnSpc>
                <a:spcPct val="115000"/>
              </a:lnSpc>
              <a:spcAft>
                <a:spcPts val="0"/>
              </a:spcAft>
            </a:pPr>
            <a:r>
              <a:rPr lang="en-GB" sz="7200" b="1" dirty="0"/>
              <a:t>PiXL </a:t>
            </a:r>
            <a:r>
              <a:rPr lang="en-GB" sz="7200" b="1" dirty="0" err="1"/>
              <a:t>KnowIT</a:t>
            </a:r>
            <a:r>
              <a:rPr lang="en-GB" sz="7200" b="1" dirty="0"/>
              <a: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AQA Topic – Quantitative chemistry</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83768" y="35655"/>
            <a:ext cx="6660232" cy="1017081"/>
          </a:xfrm>
        </p:spPr>
        <p:txBody>
          <a:bodyPr>
            <a:normAutofit fontScale="90000"/>
          </a:bodyPr>
          <a:lstStyle/>
          <a:p>
            <a:pPr algn="r"/>
            <a:r>
              <a:rPr lang="en-GB" b="1" dirty="0">
                <a:solidFill>
                  <a:schemeClr val="accent6"/>
                </a:solidFill>
              </a:rPr>
              <a:t>Overview </a:t>
            </a:r>
            <a:br>
              <a:rPr lang="en-GB" b="1" dirty="0">
                <a:solidFill>
                  <a:schemeClr val="accent6"/>
                </a:solidFill>
              </a:rPr>
            </a:br>
            <a:r>
              <a:rPr lang="en-GB" b="1" dirty="0">
                <a:solidFill>
                  <a:schemeClr val="accent6"/>
                </a:solidFill>
              </a:rPr>
              <a:t> </a:t>
            </a:r>
            <a:r>
              <a:rPr lang="en-GB" sz="2700" b="1" dirty="0">
                <a:solidFill>
                  <a:schemeClr val="accent6"/>
                </a:solidFill>
              </a:rPr>
              <a:t>Quantitative chemistry</a:t>
            </a:r>
          </a:p>
        </p:txBody>
      </p:sp>
      <p:sp>
        <p:nvSpPr>
          <p:cNvPr id="3" name="Subtitle 2"/>
          <p:cNvSpPr>
            <a:spLocks noGrp="1"/>
          </p:cNvSpPr>
          <p:nvPr>
            <p:ph type="subTitle" idx="1"/>
          </p:nvPr>
        </p:nvSpPr>
        <p:spPr>
          <a:xfrm>
            <a:off x="206805" y="809328"/>
            <a:ext cx="5607079" cy="6048672"/>
          </a:xfrm>
        </p:spPr>
        <p:txBody>
          <a:bodyPr>
            <a:normAutofit/>
          </a:bodyPr>
          <a:lstStyle/>
          <a:p>
            <a:pPr algn="l"/>
            <a:r>
              <a:rPr lang="en-US" sz="2000" b="1" dirty="0">
                <a:solidFill>
                  <a:schemeClr val="tx1"/>
                </a:solidFill>
                <a:latin typeface="+mn-lt"/>
              </a:rPr>
              <a:t>Chemical measurements</a:t>
            </a:r>
          </a:p>
          <a:p>
            <a:pPr marL="685800" lvl="1" indent="-342900" algn="l">
              <a:buFont typeface="Arial" charset="0"/>
              <a:buChar char="•"/>
            </a:pPr>
            <a:r>
              <a:rPr lang="en-US" sz="2000" dirty="0">
                <a:solidFill>
                  <a:schemeClr val="tx1"/>
                </a:solidFill>
              </a:rPr>
              <a:t>Balanced chemical equations</a:t>
            </a:r>
          </a:p>
          <a:p>
            <a:pPr marL="685800" lvl="1" indent="-342900" algn="l">
              <a:buFont typeface="Arial" charset="0"/>
              <a:buChar char="•"/>
            </a:pPr>
            <a:r>
              <a:rPr lang="en-US" sz="2000" dirty="0">
                <a:solidFill>
                  <a:schemeClr val="tx1"/>
                </a:solidFill>
              </a:rPr>
              <a:t>Conservation of mass</a:t>
            </a:r>
          </a:p>
          <a:p>
            <a:pPr marL="685800" lvl="1" indent="-342900" algn="l">
              <a:buFont typeface="Arial" charset="0"/>
              <a:buChar char="•"/>
            </a:pPr>
            <a:r>
              <a:rPr lang="en-US" sz="2000" dirty="0">
                <a:solidFill>
                  <a:schemeClr val="tx1"/>
                </a:solidFill>
              </a:rPr>
              <a:t>Relative formula mass</a:t>
            </a:r>
          </a:p>
          <a:p>
            <a:pPr marL="685800" lvl="1" indent="-342900" algn="l">
              <a:buFont typeface="Arial" charset="0"/>
              <a:buChar char="•"/>
            </a:pPr>
            <a:endParaRPr lang="en-US" sz="800" dirty="0">
              <a:solidFill>
                <a:schemeClr val="tx1"/>
              </a:solidFill>
            </a:endParaRPr>
          </a:p>
          <a:p>
            <a:pPr algn="l"/>
            <a:r>
              <a:rPr lang="en-US" sz="2000" b="1" dirty="0" smtClean="0">
                <a:solidFill>
                  <a:schemeClr val="tx1"/>
                </a:solidFill>
                <a:latin typeface="+mn-lt"/>
              </a:rPr>
              <a:t>Use of amount of substance (HT)</a:t>
            </a:r>
            <a:endParaRPr lang="en-US" sz="2000" b="1" dirty="0">
              <a:solidFill>
                <a:schemeClr val="tx1"/>
              </a:solidFill>
              <a:latin typeface="+mn-lt"/>
            </a:endParaRPr>
          </a:p>
          <a:p>
            <a:pPr marL="685800" lvl="1" indent="-342900" algn="l">
              <a:buFont typeface="Arial" charset="0"/>
              <a:buChar char="•"/>
            </a:pPr>
            <a:r>
              <a:rPr lang="en-US" sz="2000" dirty="0">
                <a:solidFill>
                  <a:schemeClr val="tx1"/>
                </a:solidFill>
              </a:rPr>
              <a:t>Amounts of substances in equations  (HT)</a:t>
            </a:r>
          </a:p>
          <a:p>
            <a:pPr marL="685800" lvl="1" indent="-342900" algn="l">
              <a:buFont typeface="Arial" charset="0"/>
              <a:buChar char="•"/>
            </a:pPr>
            <a:r>
              <a:rPr lang="en-US" sz="2000" dirty="0">
                <a:solidFill>
                  <a:schemeClr val="tx1"/>
                </a:solidFill>
              </a:rPr>
              <a:t>Quantities in equations (HT)</a:t>
            </a:r>
          </a:p>
          <a:p>
            <a:pPr marL="685800" lvl="1" indent="-342900" algn="l">
              <a:buFont typeface="Arial" charset="0"/>
              <a:buChar char="•"/>
            </a:pPr>
            <a:r>
              <a:rPr lang="en-US" sz="2000" dirty="0">
                <a:solidFill>
                  <a:schemeClr val="tx1"/>
                </a:solidFill>
              </a:rPr>
              <a:t>Using moles to balance equations (HT)</a:t>
            </a:r>
          </a:p>
          <a:p>
            <a:pPr marL="685800" lvl="1" indent="-342900" algn="l">
              <a:buFont typeface="Arial" charset="0"/>
              <a:buChar char="•"/>
            </a:pPr>
            <a:r>
              <a:rPr lang="en-US" sz="2000" dirty="0">
                <a:solidFill>
                  <a:schemeClr val="tx1"/>
                </a:solidFill>
              </a:rPr>
              <a:t>Limiting </a:t>
            </a:r>
            <a:r>
              <a:rPr lang="en-US" sz="2000" dirty="0" smtClean="0">
                <a:solidFill>
                  <a:schemeClr val="tx1"/>
                </a:solidFill>
              </a:rPr>
              <a:t>reactants </a:t>
            </a:r>
            <a:r>
              <a:rPr lang="en-US" sz="2000" dirty="0">
                <a:solidFill>
                  <a:schemeClr val="tx1"/>
                </a:solidFill>
              </a:rPr>
              <a:t>(HT)</a:t>
            </a:r>
          </a:p>
          <a:p>
            <a:pPr marL="685800" lvl="1" indent="-342900" algn="l">
              <a:buFont typeface="Arial" charset="0"/>
              <a:buChar char="•"/>
            </a:pPr>
            <a:r>
              <a:rPr lang="en-US" sz="2000" dirty="0">
                <a:solidFill>
                  <a:schemeClr val="tx1"/>
                </a:solidFill>
              </a:rPr>
              <a:t>Concentrations of solutions </a:t>
            </a:r>
          </a:p>
          <a:p>
            <a:pPr marL="685800" lvl="1" indent="-342900" algn="l">
              <a:buFont typeface="Arial" charset="0"/>
              <a:buChar char="•"/>
            </a:pPr>
            <a:endParaRPr lang="en-US" sz="800" dirty="0">
              <a:solidFill>
                <a:schemeClr val="tx1"/>
              </a:solidFill>
            </a:endParaRPr>
          </a:p>
          <a:p>
            <a:pPr algn="l"/>
            <a:r>
              <a:rPr lang="en-US" sz="2000" b="1" dirty="0">
                <a:solidFill>
                  <a:schemeClr val="tx1"/>
                </a:solidFill>
                <a:latin typeface="+mn-lt"/>
              </a:rPr>
              <a:t>Quantities (chemistry only)</a:t>
            </a:r>
          </a:p>
          <a:p>
            <a:pPr marL="685800" lvl="1" indent="-342900" algn="l">
              <a:buFont typeface="Arial" charset="0"/>
              <a:buChar char="•"/>
            </a:pPr>
            <a:r>
              <a:rPr lang="en-US" sz="2000" dirty="0">
                <a:solidFill>
                  <a:schemeClr val="tx1"/>
                </a:solidFill>
              </a:rPr>
              <a:t>Percentage yield</a:t>
            </a:r>
          </a:p>
          <a:p>
            <a:pPr marL="685800" lvl="1" indent="-342900" algn="l">
              <a:buFont typeface="Arial" charset="0"/>
              <a:buChar char="•"/>
            </a:pPr>
            <a:r>
              <a:rPr lang="en-US" sz="2000" dirty="0">
                <a:solidFill>
                  <a:schemeClr val="tx1"/>
                </a:solidFill>
              </a:rPr>
              <a:t>Atom economy</a:t>
            </a:r>
          </a:p>
          <a:p>
            <a:pPr marL="685800" lvl="1" indent="-342900" algn="l">
              <a:buFont typeface="Arial" charset="0"/>
              <a:buChar char="•"/>
            </a:pPr>
            <a:r>
              <a:rPr lang="en-US" sz="2000" dirty="0">
                <a:solidFill>
                  <a:schemeClr val="tx1"/>
                </a:solidFill>
              </a:rPr>
              <a:t>Moles of solutions and gases (HT)</a:t>
            </a:r>
            <a:endParaRPr lang="en-US" sz="800" dirty="0">
              <a:solidFill>
                <a:schemeClr val="tx1"/>
              </a:solidFill>
            </a:endParaRPr>
          </a:p>
          <a:p>
            <a:pPr algn="l"/>
            <a:endParaRPr lang="en-GB" dirty="0">
              <a:solidFill>
                <a:schemeClr val="tx1"/>
              </a:solidFill>
            </a:endParaRPr>
          </a:p>
        </p:txBody>
      </p:sp>
      <p:pic>
        <p:nvPicPr>
          <p:cNvPr id="102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088" y="1322939"/>
            <a:ext cx="3473090" cy="493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693866"/>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Chemical Measurements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Balanced chemical equations</a:t>
            </a:r>
          </a:p>
          <a:p>
            <a:pPr marL="685800" lvl="1" indent="-342900">
              <a:buFont typeface="Arial" charset="0"/>
              <a:buChar char="•"/>
            </a:pPr>
            <a:r>
              <a:rPr lang="en-US" sz="2400" b="1" dirty="0">
                <a:solidFill>
                  <a:schemeClr val="bg1">
                    <a:lumMod val="50000"/>
                  </a:schemeClr>
                </a:solidFill>
              </a:rPr>
              <a:t>Conservation of mass</a:t>
            </a:r>
          </a:p>
          <a:p>
            <a:endParaRPr lang="en-GB" dirty="0"/>
          </a:p>
        </p:txBody>
      </p:sp>
    </p:spTree>
    <p:extLst>
      <p:ext uri="{BB962C8B-B14F-4D97-AF65-F5344CB8AC3E}">
        <p14:creationId xmlns:p14="http://schemas.microsoft.com/office/powerpoint/2010/main" val="9853515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Chemical measurements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51520" y="758428"/>
            <a:ext cx="8640960" cy="2554545"/>
          </a:xfrm>
          <a:prstGeom prst="rect">
            <a:avLst/>
          </a:prstGeom>
          <a:noFill/>
          <a:ln>
            <a:solidFill>
              <a:schemeClr val="accent6">
                <a:lumMod val="75000"/>
              </a:schemeClr>
            </a:solidFill>
          </a:ln>
        </p:spPr>
        <p:txBody>
          <a:bodyPr wrap="square" rtlCol="0">
            <a:spAutoFit/>
          </a:bodyPr>
          <a:lstStyle/>
          <a:p>
            <a:pPr algn="ctr"/>
            <a:r>
              <a:rPr lang="en-GB" sz="2000" dirty="0"/>
              <a:t>Chemical equations can be very useful.  </a:t>
            </a:r>
          </a:p>
          <a:p>
            <a:pPr algn="ctr"/>
            <a:r>
              <a:rPr lang="en-GB" sz="2000" dirty="0"/>
              <a:t>The law of conservation states that </a:t>
            </a:r>
            <a:r>
              <a:rPr lang="en-GB" sz="2000" b="1" dirty="0">
                <a:solidFill>
                  <a:schemeClr val="accent6">
                    <a:lumMod val="75000"/>
                  </a:schemeClr>
                </a:solidFill>
              </a:rPr>
              <a:t>no atoms </a:t>
            </a:r>
            <a:r>
              <a:rPr lang="en-GB" sz="2000" dirty="0">
                <a:solidFill>
                  <a:schemeClr val="accent6">
                    <a:lumMod val="75000"/>
                  </a:schemeClr>
                </a:solidFill>
              </a:rPr>
              <a:t>are </a:t>
            </a:r>
            <a:r>
              <a:rPr lang="en-GB" sz="2000" b="1" dirty="0">
                <a:solidFill>
                  <a:schemeClr val="accent6">
                    <a:lumMod val="75000"/>
                  </a:schemeClr>
                </a:solidFill>
              </a:rPr>
              <a:t>lost </a:t>
            </a:r>
            <a:r>
              <a:rPr lang="en-GB" sz="2000" dirty="0">
                <a:solidFill>
                  <a:schemeClr val="accent6">
                    <a:lumMod val="75000"/>
                  </a:schemeClr>
                </a:solidFill>
              </a:rPr>
              <a:t>or </a:t>
            </a:r>
            <a:r>
              <a:rPr lang="en-GB" sz="2000" b="1" dirty="0">
                <a:solidFill>
                  <a:schemeClr val="accent6">
                    <a:lumMod val="75000"/>
                  </a:schemeClr>
                </a:solidFill>
              </a:rPr>
              <a:t>made</a:t>
            </a:r>
            <a:r>
              <a:rPr lang="en-GB" sz="2000" dirty="0">
                <a:solidFill>
                  <a:schemeClr val="accent6">
                    <a:lumMod val="75000"/>
                  </a:schemeClr>
                </a:solidFill>
              </a:rPr>
              <a:t> during a chemical reaction so the </a:t>
            </a:r>
            <a:r>
              <a:rPr lang="en-GB" sz="2000" b="1" dirty="0">
                <a:solidFill>
                  <a:schemeClr val="accent6">
                    <a:lumMod val="75000"/>
                  </a:schemeClr>
                </a:solidFill>
              </a:rPr>
              <a:t>mass of the product equals the mass of the reactants</a:t>
            </a:r>
            <a:r>
              <a:rPr lang="en-GB" sz="2000" dirty="0"/>
              <a:t>. </a:t>
            </a:r>
          </a:p>
          <a:p>
            <a:pPr algn="ctr"/>
            <a:r>
              <a:rPr lang="en-GB" sz="2000" dirty="0"/>
              <a:t> Chemical reactions can be represented by </a:t>
            </a:r>
            <a:r>
              <a:rPr lang="en-GB" sz="2000" b="1" dirty="0"/>
              <a:t>symbol equations </a:t>
            </a:r>
            <a:r>
              <a:rPr lang="en-GB" sz="2000" dirty="0"/>
              <a:t>which are </a:t>
            </a:r>
            <a:r>
              <a:rPr lang="en-GB" sz="2000" b="1" dirty="0"/>
              <a:t>balanced</a:t>
            </a:r>
            <a:r>
              <a:rPr lang="en-GB" sz="2000" dirty="0"/>
              <a:t> in terms of the numbers of atoms of each element involved on both sides of the equation</a:t>
            </a:r>
            <a:r>
              <a:rPr lang="en-GB" sz="2000" dirty="0" smtClean="0"/>
              <a:t>.</a:t>
            </a:r>
          </a:p>
          <a:p>
            <a:pPr algn="ctr"/>
            <a:endParaRPr lang="en-GB" sz="2000" dirty="0"/>
          </a:p>
          <a:p>
            <a:pPr algn="ctr"/>
            <a:r>
              <a:rPr lang="en-GB" sz="2000" dirty="0"/>
              <a:t>State symbols </a:t>
            </a:r>
            <a:r>
              <a:rPr lang="en-GB" sz="2000" b="1" dirty="0"/>
              <a:t>s, l, g </a:t>
            </a:r>
            <a:r>
              <a:rPr lang="en-GB" sz="2000" dirty="0"/>
              <a:t>and </a:t>
            </a:r>
            <a:r>
              <a:rPr lang="en-GB" sz="2000" b="1" dirty="0" err="1"/>
              <a:t>aq</a:t>
            </a:r>
            <a:r>
              <a:rPr lang="en-GB" sz="2000" dirty="0"/>
              <a:t> are used in symbol equations.</a:t>
            </a:r>
          </a:p>
        </p:txBody>
      </p:sp>
      <p:sp>
        <p:nvSpPr>
          <p:cNvPr id="5" name="TextBox 4">
            <a:extLst>
              <a:ext uri="{FF2B5EF4-FFF2-40B4-BE49-F238E27FC236}">
                <a16:creationId xmlns:a16="http://schemas.microsoft.com/office/drawing/2014/main" xmlns="" id="{7E412DB5-7357-4986-ACEF-9435CC657BDA}"/>
              </a:ext>
            </a:extLst>
          </p:cNvPr>
          <p:cNvSpPr txBox="1"/>
          <p:nvPr/>
        </p:nvSpPr>
        <p:spPr>
          <a:xfrm>
            <a:off x="269740" y="3410902"/>
            <a:ext cx="8622740" cy="3139321"/>
          </a:xfrm>
          <a:prstGeom prst="rect">
            <a:avLst/>
          </a:prstGeom>
          <a:noFill/>
        </p:spPr>
        <p:txBody>
          <a:bodyPr wrap="square" rtlCol="0">
            <a:spAutoFit/>
          </a:bodyPr>
          <a:lstStyle/>
          <a:p>
            <a:r>
              <a:rPr lang="en-GB" sz="2000" dirty="0"/>
              <a:t>When hydrogen molecules react with chlorine molecules, they make hydrogen chloride molecules</a:t>
            </a:r>
            <a:r>
              <a:rPr lang="en-GB" sz="2000" dirty="0" smtClean="0"/>
              <a:t>:</a:t>
            </a:r>
            <a:endParaRPr lang="en-GB" sz="2000" dirty="0"/>
          </a:p>
          <a:p>
            <a:pPr algn="ctr"/>
            <a:r>
              <a:rPr lang="en-GB" sz="2000" b="1" dirty="0"/>
              <a:t>H</a:t>
            </a:r>
            <a:r>
              <a:rPr lang="en-GB" sz="2000" b="1" baseline="-25000" dirty="0"/>
              <a:t>2</a:t>
            </a:r>
            <a:r>
              <a:rPr lang="en-GB" sz="2000" b="1" dirty="0"/>
              <a:t> + Cl</a:t>
            </a:r>
            <a:r>
              <a:rPr lang="en-GB" sz="2000" b="1" baseline="-25000" dirty="0"/>
              <a:t>2</a:t>
            </a:r>
            <a:r>
              <a:rPr lang="en-GB" sz="2000" b="1" dirty="0"/>
              <a:t> </a:t>
            </a:r>
            <a:r>
              <a:rPr lang="en-GB" sz="2000" b="1" dirty="0">
                <a:sym typeface="Wingdings" panose="05000000000000000000" pitchFamily="2" charset="2"/>
              </a:rPr>
              <a:t> </a:t>
            </a:r>
            <a:r>
              <a:rPr lang="en-GB" sz="2000" b="1" dirty="0" smtClean="0">
                <a:sym typeface="Wingdings" panose="05000000000000000000" pitchFamily="2" charset="2"/>
              </a:rPr>
              <a:t>HCl</a:t>
            </a:r>
          </a:p>
          <a:p>
            <a:pPr algn="ctr"/>
            <a:endParaRPr lang="en-GB" sz="2000" b="1" dirty="0">
              <a:sym typeface="Wingdings" panose="05000000000000000000" pitchFamily="2" charset="2"/>
            </a:endParaRPr>
          </a:p>
          <a:p>
            <a:pPr algn="ctr"/>
            <a:r>
              <a:rPr lang="en-GB" sz="2000" dirty="0">
                <a:sym typeface="Wingdings" panose="05000000000000000000" pitchFamily="2" charset="2"/>
              </a:rPr>
              <a:t>This equation shows the reactants and products, but it is not balanced</a:t>
            </a:r>
            <a:r>
              <a:rPr lang="en-GB" sz="2000" dirty="0" smtClean="0">
                <a:sym typeface="Wingdings" panose="05000000000000000000" pitchFamily="2" charset="2"/>
              </a:rPr>
              <a:t>.</a:t>
            </a:r>
            <a:endParaRPr lang="en-GB" sz="2000" dirty="0">
              <a:sym typeface="Wingdings" panose="05000000000000000000" pitchFamily="2" charset="2"/>
            </a:endParaRPr>
          </a:p>
          <a:p>
            <a:pPr algn="ctr"/>
            <a:r>
              <a:rPr lang="en-GB" sz="2000" b="1" dirty="0"/>
              <a:t>H</a:t>
            </a:r>
            <a:r>
              <a:rPr lang="en-GB" sz="2000" b="1" baseline="-25000" dirty="0"/>
              <a:t>2</a:t>
            </a:r>
            <a:r>
              <a:rPr lang="en-GB" sz="2000" b="1" dirty="0"/>
              <a:t> + Cl</a:t>
            </a:r>
            <a:r>
              <a:rPr lang="en-GB" sz="2000" b="1" baseline="-25000" dirty="0"/>
              <a:t>2</a:t>
            </a:r>
            <a:r>
              <a:rPr lang="en-GB" sz="2000" b="1" dirty="0"/>
              <a:t> </a:t>
            </a:r>
            <a:r>
              <a:rPr lang="en-GB" sz="2000" b="1" dirty="0">
                <a:sym typeface="Wingdings" panose="05000000000000000000" pitchFamily="2" charset="2"/>
              </a:rPr>
              <a:t> </a:t>
            </a:r>
            <a:r>
              <a:rPr lang="en-GB" sz="2000" b="1" dirty="0" smtClean="0">
                <a:solidFill>
                  <a:schemeClr val="accent6">
                    <a:lumMod val="75000"/>
                  </a:schemeClr>
                </a:solidFill>
                <a:sym typeface="Wingdings" panose="05000000000000000000" pitchFamily="2" charset="2"/>
              </a:rPr>
              <a:t>2</a:t>
            </a:r>
            <a:r>
              <a:rPr lang="en-GB" sz="2000" b="1" dirty="0" smtClean="0">
                <a:sym typeface="Wingdings" panose="05000000000000000000" pitchFamily="2" charset="2"/>
              </a:rPr>
              <a:t>HCl</a:t>
            </a:r>
          </a:p>
          <a:p>
            <a:pPr algn="ctr"/>
            <a:endParaRPr lang="en-GB" sz="2000" b="1" dirty="0">
              <a:sym typeface="Wingdings" panose="05000000000000000000" pitchFamily="2" charset="2"/>
            </a:endParaRPr>
          </a:p>
          <a:p>
            <a:pPr algn="ctr"/>
            <a:r>
              <a:rPr lang="en-GB" sz="2000" dirty="0">
                <a:sym typeface="Wingdings" panose="05000000000000000000" pitchFamily="2" charset="2"/>
              </a:rPr>
              <a:t>This balanced equation shows that </a:t>
            </a:r>
            <a:r>
              <a:rPr lang="en-GB" sz="2000" b="1" dirty="0">
                <a:sym typeface="Wingdings" panose="05000000000000000000" pitchFamily="2" charset="2"/>
              </a:rPr>
              <a:t>one</a:t>
            </a:r>
            <a:r>
              <a:rPr lang="en-GB" sz="2000" dirty="0">
                <a:sym typeface="Wingdings" panose="05000000000000000000" pitchFamily="2" charset="2"/>
              </a:rPr>
              <a:t> hydrogen molecules reacts with </a:t>
            </a:r>
            <a:r>
              <a:rPr lang="en-GB" sz="2000" b="1" dirty="0">
                <a:sym typeface="Wingdings" panose="05000000000000000000" pitchFamily="2" charset="2"/>
              </a:rPr>
              <a:t>one </a:t>
            </a:r>
            <a:r>
              <a:rPr lang="en-GB" sz="2000" dirty="0">
                <a:sym typeface="Wingdings" panose="05000000000000000000" pitchFamily="2" charset="2"/>
              </a:rPr>
              <a:t>chlorine molecule to form</a:t>
            </a:r>
            <a:r>
              <a:rPr lang="en-GB" sz="2000" b="1" dirty="0">
                <a:sym typeface="Wingdings" panose="05000000000000000000" pitchFamily="2" charset="2"/>
              </a:rPr>
              <a:t> two</a:t>
            </a:r>
            <a:r>
              <a:rPr lang="en-GB" sz="2000" dirty="0">
                <a:sym typeface="Wingdings" panose="05000000000000000000" pitchFamily="2" charset="2"/>
              </a:rPr>
              <a:t> molecules of hydrochloric acid.</a:t>
            </a:r>
          </a:p>
          <a:p>
            <a:pPr algn="ctr"/>
            <a:endParaRPr lang="en-GB" b="1" dirty="0"/>
          </a:p>
        </p:txBody>
      </p:sp>
    </p:spTree>
    <p:extLst>
      <p:ext uri="{BB962C8B-B14F-4D97-AF65-F5344CB8AC3E}">
        <p14:creationId xmlns:p14="http://schemas.microsoft.com/office/powerpoint/2010/main" val="24934404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Chemical measurements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4853245" y="3914318"/>
            <a:ext cx="4145687" cy="2554545"/>
          </a:xfrm>
          <a:prstGeom prst="rect">
            <a:avLst/>
          </a:prstGeom>
          <a:noFill/>
          <a:ln>
            <a:solidFill>
              <a:schemeClr val="accent6">
                <a:lumMod val="75000"/>
              </a:schemeClr>
            </a:solidFill>
          </a:ln>
        </p:spPr>
        <p:txBody>
          <a:bodyPr wrap="square" rtlCol="0">
            <a:spAutoFit/>
          </a:bodyPr>
          <a:lstStyle/>
          <a:p>
            <a:pPr algn="ctr"/>
            <a:r>
              <a:rPr lang="en-GB" sz="2000" dirty="0"/>
              <a:t>Some reactions may appear to involve a </a:t>
            </a:r>
            <a:r>
              <a:rPr lang="en-GB" sz="2000" b="1" dirty="0"/>
              <a:t>change in mass </a:t>
            </a:r>
            <a:r>
              <a:rPr lang="en-GB" sz="2000" dirty="0"/>
              <a:t>but this can be </a:t>
            </a:r>
            <a:r>
              <a:rPr lang="en-GB" sz="2000" dirty="0" smtClean="0"/>
              <a:t>explained </a:t>
            </a:r>
            <a:r>
              <a:rPr lang="en-GB" sz="2000" dirty="0"/>
              <a:t>because a</a:t>
            </a:r>
            <a:r>
              <a:rPr lang="en-GB" sz="2000" b="1" dirty="0"/>
              <a:t> reactant </a:t>
            </a:r>
            <a:r>
              <a:rPr lang="en-GB" sz="2000" dirty="0"/>
              <a:t>or </a:t>
            </a:r>
            <a:r>
              <a:rPr lang="en-GB" sz="2000" b="1" dirty="0"/>
              <a:t>product</a:t>
            </a:r>
            <a:r>
              <a:rPr lang="en-GB" sz="2000" dirty="0"/>
              <a:t> is usually a </a:t>
            </a:r>
            <a:r>
              <a:rPr lang="en-GB" sz="2000" b="1" dirty="0"/>
              <a:t>gas</a:t>
            </a:r>
            <a:r>
              <a:rPr lang="en-GB" sz="2000" dirty="0"/>
              <a:t> and its mass has not been taken into account.  </a:t>
            </a:r>
            <a:endParaRPr lang="en-GB" sz="2000" dirty="0" smtClean="0"/>
          </a:p>
          <a:p>
            <a:pPr algn="ctr"/>
            <a:r>
              <a:rPr lang="en-GB" sz="2000" dirty="0" smtClean="0">
                <a:solidFill>
                  <a:schemeClr val="accent6">
                    <a:lumMod val="75000"/>
                  </a:schemeClr>
                </a:solidFill>
              </a:rPr>
              <a:t>In </a:t>
            </a:r>
            <a:r>
              <a:rPr lang="en-GB" sz="2000" dirty="0">
                <a:solidFill>
                  <a:schemeClr val="accent6">
                    <a:lumMod val="75000"/>
                  </a:schemeClr>
                </a:solidFill>
              </a:rPr>
              <a:t>this example, the </a:t>
            </a:r>
            <a:r>
              <a:rPr lang="en-GB" sz="2000" dirty="0" smtClean="0">
                <a:solidFill>
                  <a:schemeClr val="accent6">
                    <a:lumMod val="75000"/>
                  </a:schemeClr>
                </a:solidFill>
              </a:rPr>
              <a:t>mass of the </a:t>
            </a:r>
            <a:r>
              <a:rPr lang="en-GB" sz="2000" b="1" dirty="0" smtClean="0">
                <a:solidFill>
                  <a:schemeClr val="accent6">
                    <a:lumMod val="75000"/>
                  </a:schemeClr>
                </a:solidFill>
              </a:rPr>
              <a:t>magnesium </a:t>
            </a:r>
            <a:r>
              <a:rPr lang="en-GB" sz="2000" b="1" dirty="0">
                <a:solidFill>
                  <a:schemeClr val="accent6">
                    <a:lumMod val="75000"/>
                  </a:schemeClr>
                </a:solidFill>
              </a:rPr>
              <a:t>oxide </a:t>
            </a:r>
            <a:r>
              <a:rPr lang="en-GB" sz="2000" dirty="0">
                <a:solidFill>
                  <a:schemeClr val="accent6">
                    <a:lumMod val="75000"/>
                  </a:schemeClr>
                </a:solidFill>
              </a:rPr>
              <a:t>produced is</a:t>
            </a:r>
            <a:r>
              <a:rPr lang="en-GB" sz="2000" b="1" dirty="0">
                <a:solidFill>
                  <a:schemeClr val="accent6">
                    <a:lumMod val="75000"/>
                  </a:schemeClr>
                </a:solidFill>
              </a:rPr>
              <a:t> greater </a:t>
            </a:r>
            <a:r>
              <a:rPr lang="en-GB" sz="2000" dirty="0" smtClean="0">
                <a:solidFill>
                  <a:schemeClr val="accent6">
                    <a:lumMod val="75000"/>
                  </a:schemeClr>
                </a:solidFill>
              </a:rPr>
              <a:t>than </a:t>
            </a:r>
            <a:r>
              <a:rPr lang="en-GB" sz="2000" dirty="0">
                <a:solidFill>
                  <a:schemeClr val="accent6">
                    <a:lumMod val="75000"/>
                  </a:schemeClr>
                </a:solidFill>
              </a:rPr>
              <a:t>the mass of the </a:t>
            </a:r>
            <a:r>
              <a:rPr lang="en-GB" sz="2000" dirty="0" smtClean="0">
                <a:solidFill>
                  <a:schemeClr val="accent6">
                    <a:lumMod val="75000"/>
                  </a:schemeClr>
                </a:solidFill>
              </a:rPr>
              <a:t>original </a:t>
            </a:r>
            <a:r>
              <a:rPr lang="en-GB" sz="2000" b="1" dirty="0" smtClean="0">
                <a:solidFill>
                  <a:schemeClr val="accent6">
                    <a:lumMod val="75000"/>
                  </a:schemeClr>
                </a:solidFill>
              </a:rPr>
              <a:t>metal</a:t>
            </a:r>
            <a:r>
              <a:rPr lang="en-GB" sz="2000" dirty="0">
                <a:solidFill>
                  <a:schemeClr val="accent6">
                    <a:lumMod val="75000"/>
                  </a:schemeClr>
                </a:solidFill>
              </a:rPr>
              <a:t>.  </a:t>
            </a:r>
            <a:endParaRPr lang="en-GB" sz="2000" dirty="0"/>
          </a:p>
        </p:txBody>
      </p:sp>
      <p:sp>
        <p:nvSpPr>
          <p:cNvPr id="5" name="TextBox 4">
            <a:extLst>
              <a:ext uri="{FF2B5EF4-FFF2-40B4-BE49-F238E27FC236}">
                <a16:creationId xmlns:a16="http://schemas.microsoft.com/office/drawing/2014/main" xmlns="" id="{7E412DB5-7357-4986-ACEF-9435CC657BDA}"/>
              </a:ext>
            </a:extLst>
          </p:cNvPr>
          <p:cNvSpPr txBox="1"/>
          <p:nvPr/>
        </p:nvSpPr>
        <p:spPr>
          <a:xfrm>
            <a:off x="118864" y="1000924"/>
            <a:ext cx="5261448" cy="3170099"/>
          </a:xfrm>
          <a:prstGeom prst="rect">
            <a:avLst/>
          </a:prstGeom>
          <a:noFill/>
        </p:spPr>
        <p:txBody>
          <a:bodyPr wrap="square" rtlCol="0">
            <a:spAutoFit/>
          </a:bodyPr>
          <a:lstStyle/>
          <a:p>
            <a:r>
              <a:rPr lang="en-GB" sz="2000" dirty="0"/>
              <a:t>When magnesium is heated in a crucible it reacts with oxygen and forms magnesium oxide:</a:t>
            </a:r>
          </a:p>
          <a:p>
            <a:endParaRPr lang="en-GB" dirty="0"/>
          </a:p>
          <a:p>
            <a:pPr algn="ctr"/>
            <a:r>
              <a:rPr lang="en-GB" sz="2400" b="1" dirty="0">
                <a:solidFill>
                  <a:schemeClr val="accent6">
                    <a:lumMod val="75000"/>
                  </a:schemeClr>
                </a:solidFill>
              </a:rPr>
              <a:t>2</a:t>
            </a:r>
            <a:r>
              <a:rPr lang="en-GB" sz="2400" b="1" dirty="0"/>
              <a:t>Mg + O</a:t>
            </a:r>
            <a:r>
              <a:rPr lang="en-GB" sz="2400" b="1" baseline="-25000" dirty="0"/>
              <a:t>2</a:t>
            </a:r>
            <a:r>
              <a:rPr lang="en-GB" sz="2400" b="1" dirty="0"/>
              <a:t> </a:t>
            </a:r>
            <a:r>
              <a:rPr lang="en-GB" sz="2400" b="1" dirty="0">
                <a:sym typeface="Wingdings" panose="05000000000000000000" pitchFamily="2" charset="2"/>
              </a:rPr>
              <a:t> </a:t>
            </a:r>
            <a:r>
              <a:rPr lang="en-GB" sz="2400" b="1" dirty="0">
                <a:solidFill>
                  <a:schemeClr val="accent6">
                    <a:lumMod val="75000"/>
                  </a:schemeClr>
                </a:solidFill>
                <a:sym typeface="Wingdings" panose="05000000000000000000" pitchFamily="2" charset="2"/>
              </a:rPr>
              <a:t>2</a:t>
            </a:r>
            <a:r>
              <a:rPr lang="en-GB" sz="2400" b="1" dirty="0">
                <a:sym typeface="Wingdings" panose="05000000000000000000" pitchFamily="2" charset="2"/>
              </a:rPr>
              <a:t>MgO</a:t>
            </a:r>
          </a:p>
          <a:p>
            <a:pPr algn="ctr"/>
            <a:endParaRPr lang="en-GB" b="1" dirty="0">
              <a:sym typeface="Wingdings" panose="05000000000000000000" pitchFamily="2" charset="2"/>
            </a:endParaRPr>
          </a:p>
          <a:p>
            <a:pPr algn="ctr"/>
            <a:r>
              <a:rPr lang="en-GB" sz="2000" dirty="0">
                <a:sym typeface="Wingdings" panose="05000000000000000000" pitchFamily="2" charset="2"/>
              </a:rPr>
              <a:t>This equation shows that</a:t>
            </a:r>
            <a:r>
              <a:rPr lang="en-GB" sz="2000" b="1" dirty="0">
                <a:sym typeface="Wingdings" panose="05000000000000000000" pitchFamily="2" charset="2"/>
              </a:rPr>
              <a:t> two </a:t>
            </a:r>
            <a:r>
              <a:rPr lang="en-GB" sz="2000" dirty="0">
                <a:sym typeface="Wingdings" panose="05000000000000000000" pitchFamily="2" charset="2"/>
              </a:rPr>
              <a:t>magnesium atoms react with </a:t>
            </a:r>
            <a:r>
              <a:rPr lang="en-GB" sz="2000" b="1" dirty="0">
                <a:sym typeface="Wingdings" panose="05000000000000000000" pitchFamily="2" charset="2"/>
              </a:rPr>
              <a:t>one</a:t>
            </a:r>
            <a:r>
              <a:rPr lang="en-GB" sz="2000" dirty="0">
                <a:sym typeface="Wingdings" panose="05000000000000000000" pitchFamily="2" charset="2"/>
              </a:rPr>
              <a:t> oxygen molecule to form </a:t>
            </a:r>
            <a:r>
              <a:rPr lang="en-GB" sz="2000" b="1" dirty="0">
                <a:sym typeface="Wingdings" panose="05000000000000000000" pitchFamily="2" charset="2"/>
              </a:rPr>
              <a:t>two </a:t>
            </a:r>
            <a:r>
              <a:rPr lang="en-GB" sz="2000" dirty="0">
                <a:sym typeface="Wingdings" panose="05000000000000000000" pitchFamily="2" charset="2"/>
              </a:rPr>
              <a:t>magnesium oxide compounds.</a:t>
            </a:r>
          </a:p>
          <a:p>
            <a:pPr algn="ctr"/>
            <a:endParaRPr lang="en-GB" sz="2000" b="1" dirty="0">
              <a:sym typeface="Wingdings" panose="05000000000000000000" pitchFamily="2" charset="2"/>
            </a:endParaRPr>
          </a:p>
          <a:p>
            <a:r>
              <a:rPr lang="en-GB" sz="2000" dirty="0">
                <a:sym typeface="Wingdings" panose="05000000000000000000" pitchFamily="2" charset="2"/>
              </a:rPr>
              <a:t>Here are the results from the reaction:</a:t>
            </a:r>
            <a:endParaRPr lang="en-GB" sz="2000" dirty="0"/>
          </a:p>
        </p:txBody>
      </p:sp>
      <p:pic>
        <p:nvPicPr>
          <p:cNvPr id="1026" name="Picture 2" descr="http://www.tutormyself.com/wp-content/uploads/img_56ad15facc33b.png">
            <a:extLst>
              <a:ext uri="{FF2B5EF4-FFF2-40B4-BE49-F238E27FC236}">
                <a16:creationId xmlns:a16="http://schemas.microsoft.com/office/drawing/2014/main" xmlns="" id="{DC58489F-00ED-4BF9-9976-872DD950B6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2327" y="1219101"/>
            <a:ext cx="3618620" cy="215019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xmlns="" id="{78400E73-4A00-4E4E-9D25-2A8890967C63}"/>
              </a:ext>
            </a:extLst>
          </p:cNvPr>
          <p:cNvGraphicFramePr>
            <a:graphicFrameLocks noGrp="1"/>
          </p:cNvGraphicFramePr>
          <p:nvPr>
            <p:extLst>
              <p:ext uri="{D42A27DB-BD31-4B8C-83A1-F6EECF244321}">
                <p14:modId xmlns:p14="http://schemas.microsoft.com/office/powerpoint/2010/main" val="2133192561"/>
              </p:ext>
            </p:extLst>
          </p:nvPr>
        </p:nvGraphicFramePr>
        <p:xfrm>
          <a:off x="245314" y="4145419"/>
          <a:ext cx="4464496" cy="1736920"/>
        </p:xfrm>
        <a:graphic>
          <a:graphicData uri="http://schemas.openxmlformats.org/drawingml/2006/table">
            <a:tbl>
              <a:tblPr firstRow="1" bandRow="1">
                <a:tableStyleId>{93296810-A885-4BE3-A3E7-6D5BEEA58F35}</a:tableStyleId>
              </a:tblPr>
              <a:tblGrid>
                <a:gridCol w="3087960">
                  <a:extLst>
                    <a:ext uri="{9D8B030D-6E8A-4147-A177-3AD203B41FA5}">
                      <a16:colId xmlns:a16="http://schemas.microsoft.com/office/drawing/2014/main" xmlns="" val="2341342594"/>
                    </a:ext>
                  </a:extLst>
                </a:gridCol>
                <a:gridCol w="1376536">
                  <a:extLst>
                    <a:ext uri="{9D8B030D-6E8A-4147-A177-3AD203B41FA5}">
                      <a16:colId xmlns:a16="http://schemas.microsoft.com/office/drawing/2014/main" xmlns="" val="1582953642"/>
                    </a:ext>
                  </a:extLst>
                </a:gridCol>
              </a:tblGrid>
              <a:tr h="342223">
                <a:tc>
                  <a:txBody>
                    <a:bodyPr/>
                    <a:lstStyle/>
                    <a:p>
                      <a:endParaRPr lang="en-GB" sz="1800" dirty="0"/>
                    </a:p>
                  </a:txBody>
                  <a:tcPr/>
                </a:tc>
                <a:tc>
                  <a:txBody>
                    <a:bodyPr/>
                    <a:lstStyle/>
                    <a:p>
                      <a:pPr algn="ctr"/>
                      <a:r>
                        <a:rPr lang="en-GB" sz="1800" dirty="0"/>
                        <a:t>Mass in g</a:t>
                      </a:r>
                    </a:p>
                  </a:txBody>
                  <a:tcPr/>
                </a:tc>
                <a:extLst>
                  <a:ext uri="{0D108BD9-81ED-4DB2-BD59-A6C34878D82A}">
                    <a16:rowId xmlns:a16="http://schemas.microsoft.com/office/drawing/2014/main" xmlns="" val="158379253"/>
                  </a:ext>
                </a:extLst>
              </a:tr>
              <a:tr h="598890">
                <a:tc>
                  <a:txBody>
                    <a:bodyPr/>
                    <a:lstStyle/>
                    <a:p>
                      <a:r>
                        <a:rPr lang="en-GB" sz="1800" dirty="0"/>
                        <a:t>Mass of crucible at the start of the reaction</a:t>
                      </a:r>
                    </a:p>
                  </a:txBody>
                  <a:tcPr/>
                </a:tc>
                <a:tc>
                  <a:txBody>
                    <a:bodyPr/>
                    <a:lstStyle/>
                    <a:p>
                      <a:pPr algn="ctr"/>
                      <a:r>
                        <a:rPr lang="en-GB" sz="1800" dirty="0"/>
                        <a:t>0.23</a:t>
                      </a:r>
                    </a:p>
                  </a:txBody>
                  <a:tcPr/>
                </a:tc>
                <a:extLst>
                  <a:ext uri="{0D108BD9-81ED-4DB2-BD59-A6C34878D82A}">
                    <a16:rowId xmlns:a16="http://schemas.microsoft.com/office/drawing/2014/main" xmlns="" val="3719926032"/>
                  </a:ext>
                </a:extLst>
              </a:tr>
              <a:tr h="731080">
                <a:tc>
                  <a:txBody>
                    <a:bodyPr/>
                    <a:lstStyle/>
                    <a:p>
                      <a:r>
                        <a:rPr lang="en-GB" sz="1800" dirty="0"/>
                        <a:t>Mass of crucible at end of reaction</a:t>
                      </a:r>
                    </a:p>
                  </a:txBody>
                  <a:tcPr/>
                </a:tc>
                <a:tc>
                  <a:txBody>
                    <a:bodyPr/>
                    <a:lstStyle/>
                    <a:p>
                      <a:pPr algn="ctr"/>
                      <a:r>
                        <a:rPr lang="en-GB" sz="1800" dirty="0"/>
                        <a:t>0.41</a:t>
                      </a:r>
                    </a:p>
                  </a:txBody>
                  <a:tcPr/>
                </a:tc>
                <a:extLst>
                  <a:ext uri="{0D108BD9-81ED-4DB2-BD59-A6C34878D82A}">
                    <a16:rowId xmlns:a16="http://schemas.microsoft.com/office/drawing/2014/main" xmlns="" val="2629542994"/>
                  </a:ext>
                </a:extLst>
              </a:tr>
            </a:tbl>
          </a:graphicData>
        </a:graphic>
      </p:graphicFrame>
    </p:spTree>
    <p:extLst>
      <p:ext uri="{BB962C8B-B14F-4D97-AF65-F5344CB8AC3E}">
        <p14:creationId xmlns:p14="http://schemas.microsoft.com/office/powerpoint/2010/main" val="40287343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Chemical measurements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4724400" y="3167101"/>
            <a:ext cx="4299067" cy="2554545"/>
          </a:xfrm>
          <a:prstGeom prst="rect">
            <a:avLst/>
          </a:prstGeom>
          <a:noFill/>
          <a:ln>
            <a:solidFill>
              <a:schemeClr val="accent6">
                <a:lumMod val="75000"/>
              </a:schemeClr>
            </a:solidFill>
          </a:ln>
        </p:spPr>
        <p:txBody>
          <a:bodyPr wrap="square" rtlCol="0">
            <a:spAutoFit/>
          </a:bodyPr>
          <a:lstStyle/>
          <a:p>
            <a:pPr algn="ctr"/>
            <a:r>
              <a:rPr lang="en-GB" sz="2000" dirty="0"/>
              <a:t>In</a:t>
            </a:r>
            <a:r>
              <a:rPr lang="en-GB" sz="2000" b="1" dirty="0"/>
              <a:t> thermal </a:t>
            </a:r>
            <a:r>
              <a:rPr lang="en-GB" sz="2000" b="1" dirty="0" smtClean="0"/>
              <a:t>decomposition </a:t>
            </a:r>
            <a:r>
              <a:rPr lang="en-GB" sz="2000" dirty="0"/>
              <a:t>of metal carbonates, </a:t>
            </a:r>
            <a:r>
              <a:rPr lang="en-GB" sz="2000" b="1" dirty="0"/>
              <a:t>carbon dioxide </a:t>
            </a:r>
            <a:r>
              <a:rPr lang="en-GB" sz="2000" dirty="0"/>
              <a:t>is produced and </a:t>
            </a:r>
            <a:r>
              <a:rPr lang="en-GB" sz="2000" b="1" dirty="0"/>
              <a:t>escapes</a:t>
            </a:r>
            <a:r>
              <a:rPr lang="en-GB" sz="2000" dirty="0"/>
              <a:t> into the </a:t>
            </a:r>
            <a:r>
              <a:rPr lang="en-GB" sz="2000" b="1" dirty="0"/>
              <a:t>atmosphere</a:t>
            </a:r>
            <a:r>
              <a:rPr lang="en-GB" sz="2000" dirty="0"/>
              <a:t> leaving the metal oxide as the only </a:t>
            </a:r>
            <a:r>
              <a:rPr lang="en-GB" sz="2000" b="1" dirty="0"/>
              <a:t>solid</a:t>
            </a:r>
            <a:r>
              <a:rPr lang="en-GB" sz="2000" dirty="0"/>
              <a:t> product.</a:t>
            </a:r>
          </a:p>
          <a:p>
            <a:pPr algn="ctr"/>
            <a:r>
              <a:rPr lang="en-GB" sz="2000" dirty="0">
                <a:solidFill>
                  <a:schemeClr val="accent6">
                    <a:lumMod val="75000"/>
                  </a:schemeClr>
                </a:solidFill>
              </a:rPr>
              <a:t>In this example, </a:t>
            </a:r>
            <a:r>
              <a:rPr lang="en-GB" sz="2000" dirty="0" smtClean="0">
                <a:solidFill>
                  <a:schemeClr val="accent6">
                    <a:lumMod val="75000"/>
                  </a:schemeClr>
                </a:solidFill>
              </a:rPr>
              <a:t>the mass of the  </a:t>
            </a:r>
            <a:r>
              <a:rPr lang="en-GB" sz="2000" b="1" dirty="0">
                <a:solidFill>
                  <a:schemeClr val="accent6">
                    <a:lumMod val="75000"/>
                  </a:schemeClr>
                </a:solidFill>
              </a:rPr>
              <a:t>calcium oxide </a:t>
            </a:r>
            <a:r>
              <a:rPr lang="en-GB" sz="2000" dirty="0">
                <a:solidFill>
                  <a:schemeClr val="accent6">
                    <a:lumMod val="75000"/>
                  </a:schemeClr>
                </a:solidFill>
              </a:rPr>
              <a:t>produced is</a:t>
            </a:r>
            <a:r>
              <a:rPr lang="en-GB" sz="2000" b="1" dirty="0">
                <a:solidFill>
                  <a:schemeClr val="accent6">
                    <a:lumMod val="75000"/>
                  </a:schemeClr>
                </a:solidFill>
              </a:rPr>
              <a:t> less </a:t>
            </a:r>
            <a:r>
              <a:rPr lang="en-GB" sz="2000" dirty="0" smtClean="0">
                <a:solidFill>
                  <a:schemeClr val="accent6">
                    <a:lumMod val="75000"/>
                  </a:schemeClr>
                </a:solidFill>
              </a:rPr>
              <a:t>than </a:t>
            </a:r>
            <a:r>
              <a:rPr lang="en-GB" sz="2000" dirty="0">
                <a:solidFill>
                  <a:schemeClr val="accent6">
                    <a:lumMod val="75000"/>
                  </a:schemeClr>
                </a:solidFill>
              </a:rPr>
              <a:t>the mass of the </a:t>
            </a:r>
            <a:r>
              <a:rPr lang="en-GB" sz="2000" b="1" dirty="0">
                <a:solidFill>
                  <a:schemeClr val="accent6">
                    <a:lumMod val="75000"/>
                  </a:schemeClr>
                </a:solidFill>
              </a:rPr>
              <a:t>metal </a:t>
            </a:r>
            <a:r>
              <a:rPr lang="en-GB" sz="2000" b="1" dirty="0" smtClean="0">
                <a:solidFill>
                  <a:schemeClr val="accent6">
                    <a:lumMod val="75000"/>
                  </a:schemeClr>
                </a:solidFill>
              </a:rPr>
              <a:t>carbonate </a:t>
            </a:r>
            <a:r>
              <a:rPr lang="en-GB" sz="2000" dirty="0" smtClean="0">
                <a:solidFill>
                  <a:schemeClr val="accent6">
                    <a:lumMod val="75000"/>
                  </a:schemeClr>
                </a:solidFill>
              </a:rPr>
              <a:t>formed.  </a:t>
            </a:r>
            <a:endParaRPr lang="en-GB" sz="2000" dirty="0">
              <a:solidFill>
                <a:schemeClr val="accent6">
                  <a:lumMod val="75000"/>
                </a:schemeClr>
              </a:solidFill>
            </a:endParaRPr>
          </a:p>
        </p:txBody>
      </p:sp>
      <p:sp>
        <p:nvSpPr>
          <p:cNvPr id="5" name="TextBox 4">
            <a:extLst>
              <a:ext uri="{FF2B5EF4-FFF2-40B4-BE49-F238E27FC236}">
                <a16:creationId xmlns:a16="http://schemas.microsoft.com/office/drawing/2014/main" xmlns="" id="{7E412DB5-7357-4986-ACEF-9435CC657BDA}"/>
              </a:ext>
            </a:extLst>
          </p:cNvPr>
          <p:cNvSpPr txBox="1"/>
          <p:nvPr/>
        </p:nvSpPr>
        <p:spPr>
          <a:xfrm>
            <a:off x="38831" y="730214"/>
            <a:ext cx="5261448" cy="3447098"/>
          </a:xfrm>
          <a:prstGeom prst="rect">
            <a:avLst/>
          </a:prstGeom>
          <a:noFill/>
        </p:spPr>
        <p:txBody>
          <a:bodyPr wrap="square" rtlCol="0">
            <a:spAutoFit/>
          </a:bodyPr>
          <a:lstStyle/>
          <a:p>
            <a:r>
              <a:rPr lang="en-GB" sz="2000" dirty="0"/>
              <a:t>When calcium carbonate </a:t>
            </a:r>
            <a:r>
              <a:rPr lang="en-GB" sz="2000" dirty="0">
                <a:solidFill>
                  <a:schemeClr val="accent6">
                    <a:lumMod val="75000"/>
                  </a:schemeClr>
                </a:solidFill>
              </a:rPr>
              <a:t>thermally decomposes </a:t>
            </a:r>
            <a:r>
              <a:rPr lang="en-GB" sz="2000" dirty="0"/>
              <a:t>it forms calcium oxide and carbon dioxide</a:t>
            </a:r>
            <a:r>
              <a:rPr lang="en-GB" sz="2000" dirty="0" smtClean="0"/>
              <a:t>:</a:t>
            </a:r>
            <a:endParaRPr lang="en-GB" dirty="0"/>
          </a:p>
          <a:p>
            <a:pPr algn="ctr"/>
            <a:r>
              <a:rPr lang="en-GB" sz="2400" b="1" dirty="0"/>
              <a:t>CaCO</a:t>
            </a:r>
            <a:r>
              <a:rPr lang="en-GB" sz="2400" b="1" baseline="-25000" dirty="0"/>
              <a:t>3</a:t>
            </a:r>
            <a:r>
              <a:rPr lang="en-GB" sz="2400" b="1" dirty="0"/>
              <a:t> </a:t>
            </a:r>
            <a:r>
              <a:rPr lang="en-GB" sz="2400" b="1" dirty="0">
                <a:sym typeface="Wingdings" panose="05000000000000000000" pitchFamily="2" charset="2"/>
              </a:rPr>
              <a:t> </a:t>
            </a:r>
            <a:r>
              <a:rPr lang="en-GB" sz="2400" b="1" dirty="0" err="1">
                <a:sym typeface="Wingdings" panose="05000000000000000000" pitchFamily="2" charset="2"/>
              </a:rPr>
              <a:t>CaO</a:t>
            </a:r>
            <a:r>
              <a:rPr lang="en-GB" sz="2400" b="1" dirty="0">
                <a:sym typeface="Wingdings" panose="05000000000000000000" pitchFamily="2" charset="2"/>
              </a:rPr>
              <a:t> + </a:t>
            </a:r>
            <a:r>
              <a:rPr lang="en-GB" sz="2400" b="1" dirty="0" smtClean="0">
                <a:sym typeface="Wingdings" panose="05000000000000000000" pitchFamily="2" charset="2"/>
              </a:rPr>
              <a:t>CO</a:t>
            </a:r>
            <a:r>
              <a:rPr lang="en-GB" sz="2400" b="1" baseline="-25000" dirty="0" smtClean="0"/>
              <a:t>2</a:t>
            </a:r>
            <a:endParaRPr lang="en-GB" b="1" dirty="0">
              <a:sym typeface="Wingdings" panose="05000000000000000000" pitchFamily="2" charset="2"/>
            </a:endParaRPr>
          </a:p>
          <a:p>
            <a:pPr algn="ctr"/>
            <a:r>
              <a:rPr lang="en-GB" sz="2000" dirty="0">
                <a:sym typeface="Wingdings" panose="05000000000000000000" pitchFamily="2" charset="2"/>
              </a:rPr>
              <a:t>This equation shows that</a:t>
            </a:r>
            <a:r>
              <a:rPr lang="en-GB" sz="2000" b="1" dirty="0">
                <a:sym typeface="Wingdings" panose="05000000000000000000" pitchFamily="2" charset="2"/>
              </a:rPr>
              <a:t> one </a:t>
            </a:r>
            <a:r>
              <a:rPr lang="en-GB" sz="2000" dirty="0">
                <a:sym typeface="Wingdings" panose="05000000000000000000" pitchFamily="2" charset="2"/>
              </a:rPr>
              <a:t>calcium carbonate compound (made from one calcium, one carbon and three oxygen atoms) forms </a:t>
            </a:r>
            <a:r>
              <a:rPr lang="en-GB" sz="2000" b="1" dirty="0">
                <a:sym typeface="Wingdings" panose="05000000000000000000" pitchFamily="2" charset="2"/>
              </a:rPr>
              <a:t>one</a:t>
            </a:r>
            <a:r>
              <a:rPr lang="en-GB" sz="2000" dirty="0">
                <a:sym typeface="Wingdings" panose="05000000000000000000" pitchFamily="2" charset="2"/>
              </a:rPr>
              <a:t> calcium oxide compound and </a:t>
            </a:r>
            <a:r>
              <a:rPr lang="en-GB" sz="2000" b="1" dirty="0">
                <a:sym typeface="Wingdings" panose="05000000000000000000" pitchFamily="2" charset="2"/>
              </a:rPr>
              <a:t>one </a:t>
            </a:r>
            <a:r>
              <a:rPr lang="en-GB" sz="2000" dirty="0">
                <a:sym typeface="Wingdings" panose="05000000000000000000" pitchFamily="2" charset="2"/>
              </a:rPr>
              <a:t>carbon dioxide molecule</a:t>
            </a:r>
            <a:r>
              <a:rPr lang="en-GB" dirty="0">
                <a:sym typeface="Wingdings" panose="05000000000000000000" pitchFamily="2" charset="2"/>
              </a:rPr>
              <a:t>.</a:t>
            </a:r>
          </a:p>
          <a:p>
            <a:pPr algn="ctr"/>
            <a:endParaRPr lang="en-GB" b="1" dirty="0">
              <a:sym typeface="Wingdings" panose="05000000000000000000" pitchFamily="2" charset="2"/>
            </a:endParaRPr>
          </a:p>
          <a:p>
            <a:r>
              <a:rPr lang="en-GB" sz="2000" dirty="0">
                <a:sym typeface="Wingdings" panose="05000000000000000000" pitchFamily="2" charset="2"/>
              </a:rPr>
              <a:t>Here are the results from the reaction:</a:t>
            </a:r>
          </a:p>
          <a:p>
            <a:endParaRPr lang="en-GB" dirty="0">
              <a:sym typeface="Wingdings" panose="05000000000000000000" pitchFamily="2" charset="2"/>
            </a:endParaRPr>
          </a:p>
        </p:txBody>
      </p:sp>
      <p:graphicFrame>
        <p:nvGraphicFramePr>
          <p:cNvPr id="6" name="Table 5">
            <a:extLst>
              <a:ext uri="{FF2B5EF4-FFF2-40B4-BE49-F238E27FC236}">
                <a16:creationId xmlns:a16="http://schemas.microsoft.com/office/drawing/2014/main" xmlns="" id="{78400E73-4A00-4E4E-9D25-2A8890967C63}"/>
              </a:ext>
            </a:extLst>
          </p:cNvPr>
          <p:cNvGraphicFramePr>
            <a:graphicFrameLocks noGrp="1"/>
          </p:cNvGraphicFramePr>
          <p:nvPr>
            <p:extLst>
              <p:ext uri="{D42A27DB-BD31-4B8C-83A1-F6EECF244321}">
                <p14:modId xmlns:p14="http://schemas.microsoft.com/office/powerpoint/2010/main" val="298296060"/>
              </p:ext>
            </p:extLst>
          </p:nvPr>
        </p:nvGraphicFramePr>
        <p:xfrm>
          <a:off x="107504" y="3955680"/>
          <a:ext cx="4464496" cy="1736920"/>
        </p:xfrm>
        <a:graphic>
          <a:graphicData uri="http://schemas.openxmlformats.org/drawingml/2006/table">
            <a:tbl>
              <a:tblPr firstRow="1" bandRow="1">
                <a:tableStyleId>{93296810-A885-4BE3-A3E7-6D5BEEA58F35}</a:tableStyleId>
              </a:tblPr>
              <a:tblGrid>
                <a:gridCol w="3087960">
                  <a:extLst>
                    <a:ext uri="{9D8B030D-6E8A-4147-A177-3AD203B41FA5}">
                      <a16:colId xmlns:a16="http://schemas.microsoft.com/office/drawing/2014/main" xmlns="" val="2341342594"/>
                    </a:ext>
                  </a:extLst>
                </a:gridCol>
                <a:gridCol w="1376536">
                  <a:extLst>
                    <a:ext uri="{9D8B030D-6E8A-4147-A177-3AD203B41FA5}">
                      <a16:colId xmlns:a16="http://schemas.microsoft.com/office/drawing/2014/main" xmlns="" val="1582953642"/>
                    </a:ext>
                  </a:extLst>
                </a:gridCol>
              </a:tblGrid>
              <a:tr h="342223">
                <a:tc>
                  <a:txBody>
                    <a:bodyPr/>
                    <a:lstStyle/>
                    <a:p>
                      <a:endParaRPr lang="en-GB" sz="1800" dirty="0"/>
                    </a:p>
                  </a:txBody>
                  <a:tcPr/>
                </a:tc>
                <a:tc>
                  <a:txBody>
                    <a:bodyPr/>
                    <a:lstStyle/>
                    <a:p>
                      <a:pPr algn="ctr"/>
                      <a:r>
                        <a:rPr lang="en-GB" sz="1800" dirty="0"/>
                        <a:t>Mass in g</a:t>
                      </a:r>
                    </a:p>
                  </a:txBody>
                  <a:tcPr/>
                </a:tc>
                <a:extLst>
                  <a:ext uri="{0D108BD9-81ED-4DB2-BD59-A6C34878D82A}">
                    <a16:rowId xmlns:a16="http://schemas.microsoft.com/office/drawing/2014/main" xmlns="" val="158379253"/>
                  </a:ext>
                </a:extLst>
              </a:tr>
              <a:tr h="598890">
                <a:tc>
                  <a:txBody>
                    <a:bodyPr/>
                    <a:lstStyle/>
                    <a:p>
                      <a:r>
                        <a:rPr lang="en-GB" sz="1800" dirty="0"/>
                        <a:t>Mass of metal carbonate at the start of the reaction</a:t>
                      </a:r>
                    </a:p>
                  </a:txBody>
                  <a:tcPr/>
                </a:tc>
                <a:tc>
                  <a:txBody>
                    <a:bodyPr/>
                    <a:lstStyle/>
                    <a:p>
                      <a:pPr algn="ctr"/>
                      <a:r>
                        <a:rPr lang="en-GB" sz="1800" dirty="0"/>
                        <a:t>0.54</a:t>
                      </a:r>
                    </a:p>
                  </a:txBody>
                  <a:tcPr/>
                </a:tc>
                <a:extLst>
                  <a:ext uri="{0D108BD9-81ED-4DB2-BD59-A6C34878D82A}">
                    <a16:rowId xmlns:a16="http://schemas.microsoft.com/office/drawing/2014/main" xmlns="" val="3719926032"/>
                  </a:ext>
                </a:extLst>
              </a:tr>
              <a:tr h="731080">
                <a:tc>
                  <a:txBody>
                    <a:bodyPr/>
                    <a:lstStyle/>
                    <a:p>
                      <a:r>
                        <a:rPr lang="en-GB" sz="1800" dirty="0"/>
                        <a:t>Mass of metal carbonate at end of reaction</a:t>
                      </a:r>
                    </a:p>
                  </a:txBody>
                  <a:tcPr/>
                </a:tc>
                <a:tc>
                  <a:txBody>
                    <a:bodyPr/>
                    <a:lstStyle/>
                    <a:p>
                      <a:pPr algn="ctr"/>
                      <a:r>
                        <a:rPr lang="en-GB" sz="1800" dirty="0"/>
                        <a:t>0.36</a:t>
                      </a:r>
                    </a:p>
                  </a:txBody>
                  <a:tcPr/>
                </a:tc>
                <a:extLst>
                  <a:ext uri="{0D108BD9-81ED-4DB2-BD59-A6C34878D82A}">
                    <a16:rowId xmlns:a16="http://schemas.microsoft.com/office/drawing/2014/main" xmlns="" val="2629542994"/>
                  </a:ext>
                </a:extLst>
              </a:tr>
            </a:tbl>
          </a:graphicData>
        </a:graphic>
      </p:graphicFrame>
      <p:pic>
        <p:nvPicPr>
          <p:cNvPr id="8" name="Picture 7">
            <a:extLst>
              <a:ext uri="{FF2B5EF4-FFF2-40B4-BE49-F238E27FC236}">
                <a16:creationId xmlns:a16="http://schemas.microsoft.com/office/drawing/2014/main" xmlns="" id="{E1B17F3E-62FC-49B9-B355-ADD9198821DB}"/>
              </a:ext>
            </a:extLst>
          </p:cNvPr>
          <p:cNvPicPr>
            <a:picLocks noChangeAspect="1"/>
          </p:cNvPicPr>
          <p:nvPr/>
        </p:nvPicPr>
        <p:blipFill>
          <a:blip r:embed="rId3"/>
          <a:stretch>
            <a:fillRect/>
          </a:stretch>
        </p:blipFill>
        <p:spPr>
          <a:xfrm>
            <a:off x="5652119" y="644152"/>
            <a:ext cx="3453049" cy="2509019"/>
          </a:xfrm>
          <a:prstGeom prst="rect">
            <a:avLst/>
          </a:prstGeom>
        </p:spPr>
      </p:pic>
      <p:sp>
        <p:nvSpPr>
          <p:cNvPr id="9" name="TextBox 8">
            <a:extLst>
              <a:ext uri="{FF2B5EF4-FFF2-40B4-BE49-F238E27FC236}">
                <a16:creationId xmlns:a16="http://schemas.microsoft.com/office/drawing/2014/main" xmlns="" id="{BA838262-35D2-4B3C-9EED-A0FD5B54066C}"/>
              </a:ext>
            </a:extLst>
          </p:cNvPr>
          <p:cNvSpPr txBox="1"/>
          <p:nvPr/>
        </p:nvSpPr>
        <p:spPr>
          <a:xfrm>
            <a:off x="33317" y="5695564"/>
            <a:ext cx="9071851" cy="1200329"/>
          </a:xfrm>
          <a:prstGeom prst="rect">
            <a:avLst/>
          </a:prstGeom>
          <a:noFill/>
        </p:spPr>
        <p:txBody>
          <a:bodyPr wrap="square" rtlCol="0">
            <a:spAutoFit/>
          </a:bodyPr>
          <a:lstStyle/>
          <a:p>
            <a:pPr algn="ctr"/>
            <a:r>
              <a:rPr lang="en-GB" dirty="0">
                <a:sym typeface="Wingdings" panose="05000000000000000000" pitchFamily="2" charset="2"/>
              </a:rPr>
              <a:t>Whenever a measurement is taken, there is always some </a:t>
            </a:r>
            <a:r>
              <a:rPr lang="en-GB" b="1" dirty="0">
                <a:sym typeface="Wingdings" panose="05000000000000000000" pitchFamily="2" charset="2"/>
              </a:rPr>
              <a:t>uncertainty</a:t>
            </a:r>
            <a:r>
              <a:rPr lang="en-GB" dirty="0">
                <a:sym typeface="Wingdings" panose="05000000000000000000" pitchFamily="2" charset="2"/>
              </a:rPr>
              <a:t> about the </a:t>
            </a:r>
            <a:r>
              <a:rPr lang="en-GB" b="1" dirty="0">
                <a:sym typeface="Wingdings" panose="05000000000000000000" pitchFamily="2" charset="2"/>
              </a:rPr>
              <a:t>result</a:t>
            </a:r>
            <a:r>
              <a:rPr lang="en-GB" dirty="0">
                <a:sym typeface="Wingdings" panose="05000000000000000000" pitchFamily="2" charset="2"/>
              </a:rPr>
              <a:t> obtained that may </a:t>
            </a:r>
            <a:r>
              <a:rPr lang="en-GB" dirty="0" smtClean="0">
                <a:sym typeface="Wingdings" panose="05000000000000000000" pitchFamily="2" charset="2"/>
              </a:rPr>
              <a:t>have come </a:t>
            </a:r>
            <a:r>
              <a:rPr lang="en-GB" dirty="0">
                <a:sym typeface="Wingdings" panose="05000000000000000000" pitchFamily="2" charset="2"/>
              </a:rPr>
              <a:t>from a variety of sources within the investigation. It is useful to </a:t>
            </a:r>
            <a:r>
              <a:rPr lang="en-GB" dirty="0"/>
              <a:t>determine whether the </a:t>
            </a:r>
            <a:r>
              <a:rPr lang="en-GB" b="1" dirty="0"/>
              <a:t>mean</a:t>
            </a:r>
            <a:r>
              <a:rPr lang="en-GB" dirty="0"/>
              <a:t> value falls within the </a:t>
            </a:r>
            <a:r>
              <a:rPr lang="en-GB" b="1" dirty="0"/>
              <a:t>range</a:t>
            </a:r>
            <a:r>
              <a:rPr lang="en-GB" dirty="0"/>
              <a:t> of uncertainty of the result.</a:t>
            </a:r>
          </a:p>
          <a:p>
            <a:endParaRPr lang="en-GB" dirty="0"/>
          </a:p>
        </p:txBody>
      </p:sp>
    </p:spTree>
    <p:extLst>
      <p:ext uri="{BB962C8B-B14F-4D97-AF65-F5344CB8AC3E}">
        <p14:creationId xmlns:p14="http://schemas.microsoft.com/office/powerpoint/2010/main" val="394356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Chemical measurements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4724400" y="3023209"/>
            <a:ext cx="4299067" cy="2554545"/>
          </a:xfrm>
          <a:prstGeom prst="rect">
            <a:avLst/>
          </a:prstGeom>
          <a:noFill/>
          <a:ln>
            <a:solidFill>
              <a:schemeClr val="accent6">
                <a:lumMod val="75000"/>
              </a:schemeClr>
            </a:solidFill>
          </a:ln>
        </p:spPr>
        <p:txBody>
          <a:bodyPr wrap="square" rtlCol="0">
            <a:spAutoFit/>
          </a:bodyPr>
          <a:lstStyle/>
          <a:p>
            <a:pPr algn="ctr"/>
            <a:r>
              <a:rPr lang="en-GB" sz="2000" dirty="0"/>
              <a:t>In</a:t>
            </a:r>
            <a:r>
              <a:rPr lang="en-GB" sz="2000" b="1" dirty="0"/>
              <a:t> thermal </a:t>
            </a:r>
            <a:r>
              <a:rPr lang="en-GB" sz="2000" b="1" dirty="0" smtClean="0"/>
              <a:t>decomposition </a:t>
            </a:r>
            <a:r>
              <a:rPr lang="en-GB" sz="2000" dirty="0"/>
              <a:t>of metal carbonates, </a:t>
            </a:r>
            <a:r>
              <a:rPr lang="en-GB" sz="2000" b="1" dirty="0"/>
              <a:t>carbon dioxide </a:t>
            </a:r>
            <a:r>
              <a:rPr lang="en-GB" sz="2000" dirty="0"/>
              <a:t>is produced and </a:t>
            </a:r>
            <a:r>
              <a:rPr lang="en-GB" sz="2000" b="1" dirty="0"/>
              <a:t>escapes</a:t>
            </a:r>
            <a:r>
              <a:rPr lang="en-GB" sz="2000" dirty="0"/>
              <a:t> into the </a:t>
            </a:r>
            <a:r>
              <a:rPr lang="en-GB" sz="2000" b="1" dirty="0"/>
              <a:t>atmosphere</a:t>
            </a:r>
            <a:r>
              <a:rPr lang="en-GB" sz="2000" dirty="0"/>
              <a:t> leaving the metal oxide as the only </a:t>
            </a:r>
            <a:r>
              <a:rPr lang="en-GB" sz="2000" b="1" dirty="0"/>
              <a:t>solid</a:t>
            </a:r>
            <a:r>
              <a:rPr lang="en-GB" sz="2000" dirty="0"/>
              <a:t> product.</a:t>
            </a:r>
          </a:p>
          <a:p>
            <a:pPr algn="ctr"/>
            <a:r>
              <a:rPr lang="en-GB" sz="2000" dirty="0">
                <a:solidFill>
                  <a:schemeClr val="accent6">
                    <a:lumMod val="75000"/>
                  </a:schemeClr>
                </a:solidFill>
              </a:rPr>
              <a:t>In this example, </a:t>
            </a:r>
            <a:r>
              <a:rPr lang="en-GB" sz="2000" dirty="0" smtClean="0">
                <a:solidFill>
                  <a:schemeClr val="accent6">
                    <a:lumMod val="75000"/>
                  </a:schemeClr>
                </a:solidFill>
              </a:rPr>
              <a:t>the mass of the  </a:t>
            </a:r>
            <a:r>
              <a:rPr lang="en-GB" sz="2000" b="1" dirty="0">
                <a:solidFill>
                  <a:schemeClr val="accent6">
                    <a:lumMod val="75000"/>
                  </a:schemeClr>
                </a:solidFill>
              </a:rPr>
              <a:t>calcium oxide </a:t>
            </a:r>
            <a:r>
              <a:rPr lang="en-GB" sz="2000" dirty="0">
                <a:solidFill>
                  <a:schemeClr val="accent6">
                    <a:lumMod val="75000"/>
                  </a:schemeClr>
                </a:solidFill>
              </a:rPr>
              <a:t>produced is</a:t>
            </a:r>
            <a:r>
              <a:rPr lang="en-GB" sz="2000" b="1" dirty="0">
                <a:solidFill>
                  <a:schemeClr val="accent6">
                    <a:lumMod val="75000"/>
                  </a:schemeClr>
                </a:solidFill>
              </a:rPr>
              <a:t> less </a:t>
            </a:r>
            <a:r>
              <a:rPr lang="en-GB" sz="2000" dirty="0" smtClean="0">
                <a:solidFill>
                  <a:schemeClr val="accent6">
                    <a:lumMod val="75000"/>
                  </a:schemeClr>
                </a:solidFill>
              </a:rPr>
              <a:t>than </a:t>
            </a:r>
            <a:r>
              <a:rPr lang="en-GB" sz="2000" dirty="0">
                <a:solidFill>
                  <a:schemeClr val="accent6">
                    <a:lumMod val="75000"/>
                  </a:schemeClr>
                </a:solidFill>
              </a:rPr>
              <a:t>the mass of the </a:t>
            </a:r>
            <a:r>
              <a:rPr lang="en-GB" sz="2000" b="1" dirty="0">
                <a:solidFill>
                  <a:schemeClr val="accent6">
                    <a:lumMod val="75000"/>
                  </a:schemeClr>
                </a:solidFill>
              </a:rPr>
              <a:t>metal </a:t>
            </a:r>
            <a:r>
              <a:rPr lang="en-GB" sz="2000" b="1" dirty="0" smtClean="0">
                <a:solidFill>
                  <a:schemeClr val="accent6">
                    <a:lumMod val="75000"/>
                  </a:schemeClr>
                </a:solidFill>
              </a:rPr>
              <a:t>carbonate </a:t>
            </a:r>
            <a:r>
              <a:rPr lang="en-GB" sz="2000" dirty="0" smtClean="0">
                <a:solidFill>
                  <a:schemeClr val="accent6">
                    <a:lumMod val="75000"/>
                  </a:schemeClr>
                </a:solidFill>
              </a:rPr>
              <a:t>formed.  </a:t>
            </a:r>
            <a:endParaRPr lang="en-GB" sz="2000" dirty="0">
              <a:solidFill>
                <a:schemeClr val="accent6">
                  <a:lumMod val="75000"/>
                </a:schemeClr>
              </a:solidFill>
            </a:endParaRPr>
          </a:p>
        </p:txBody>
      </p:sp>
      <p:sp>
        <p:nvSpPr>
          <p:cNvPr id="5" name="TextBox 4">
            <a:extLst>
              <a:ext uri="{FF2B5EF4-FFF2-40B4-BE49-F238E27FC236}">
                <a16:creationId xmlns:a16="http://schemas.microsoft.com/office/drawing/2014/main" xmlns="" id="{7E412DB5-7357-4986-ACEF-9435CC657BDA}"/>
              </a:ext>
            </a:extLst>
          </p:cNvPr>
          <p:cNvSpPr txBox="1"/>
          <p:nvPr/>
        </p:nvSpPr>
        <p:spPr>
          <a:xfrm>
            <a:off x="38831" y="730214"/>
            <a:ext cx="5261448" cy="3447098"/>
          </a:xfrm>
          <a:prstGeom prst="rect">
            <a:avLst/>
          </a:prstGeom>
          <a:noFill/>
        </p:spPr>
        <p:txBody>
          <a:bodyPr wrap="square" rtlCol="0">
            <a:spAutoFit/>
          </a:bodyPr>
          <a:lstStyle/>
          <a:p>
            <a:r>
              <a:rPr lang="en-GB" sz="2000" dirty="0"/>
              <a:t>When calcium carbonate </a:t>
            </a:r>
            <a:r>
              <a:rPr lang="en-GB" sz="2000" dirty="0">
                <a:solidFill>
                  <a:schemeClr val="accent6">
                    <a:lumMod val="75000"/>
                  </a:schemeClr>
                </a:solidFill>
              </a:rPr>
              <a:t>thermally decomposes </a:t>
            </a:r>
            <a:r>
              <a:rPr lang="en-GB" sz="2000" dirty="0"/>
              <a:t>it forms calcium oxide and carbon dioxide</a:t>
            </a:r>
            <a:r>
              <a:rPr lang="en-GB" sz="2000" dirty="0" smtClean="0"/>
              <a:t>:</a:t>
            </a:r>
            <a:endParaRPr lang="en-GB" dirty="0"/>
          </a:p>
          <a:p>
            <a:pPr algn="ctr"/>
            <a:r>
              <a:rPr lang="en-GB" sz="2400" b="1" dirty="0"/>
              <a:t>CaCO</a:t>
            </a:r>
            <a:r>
              <a:rPr lang="en-GB" sz="2400" b="1" baseline="-25000" dirty="0"/>
              <a:t>3</a:t>
            </a:r>
            <a:r>
              <a:rPr lang="en-GB" sz="2400" b="1" dirty="0"/>
              <a:t> </a:t>
            </a:r>
            <a:r>
              <a:rPr lang="en-GB" sz="2400" b="1" dirty="0">
                <a:sym typeface="Wingdings" panose="05000000000000000000" pitchFamily="2" charset="2"/>
              </a:rPr>
              <a:t> </a:t>
            </a:r>
            <a:r>
              <a:rPr lang="en-GB" sz="2400" b="1" dirty="0" err="1">
                <a:sym typeface="Wingdings" panose="05000000000000000000" pitchFamily="2" charset="2"/>
              </a:rPr>
              <a:t>CaO</a:t>
            </a:r>
            <a:r>
              <a:rPr lang="en-GB" sz="2400" b="1" dirty="0">
                <a:sym typeface="Wingdings" panose="05000000000000000000" pitchFamily="2" charset="2"/>
              </a:rPr>
              <a:t> + </a:t>
            </a:r>
            <a:r>
              <a:rPr lang="en-GB" sz="2400" b="1" dirty="0" smtClean="0">
                <a:sym typeface="Wingdings" panose="05000000000000000000" pitchFamily="2" charset="2"/>
              </a:rPr>
              <a:t>CO</a:t>
            </a:r>
            <a:r>
              <a:rPr lang="en-GB" sz="2400" b="1" baseline="-25000" dirty="0" smtClean="0"/>
              <a:t>2</a:t>
            </a:r>
            <a:endParaRPr lang="en-GB" b="1" dirty="0">
              <a:sym typeface="Wingdings" panose="05000000000000000000" pitchFamily="2" charset="2"/>
            </a:endParaRPr>
          </a:p>
          <a:p>
            <a:pPr algn="ctr"/>
            <a:r>
              <a:rPr lang="en-GB" sz="2000" dirty="0">
                <a:sym typeface="Wingdings" panose="05000000000000000000" pitchFamily="2" charset="2"/>
              </a:rPr>
              <a:t>This equation shows that</a:t>
            </a:r>
            <a:r>
              <a:rPr lang="en-GB" sz="2000" b="1" dirty="0">
                <a:sym typeface="Wingdings" panose="05000000000000000000" pitchFamily="2" charset="2"/>
              </a:rPr>
              <a:t> one </a:t>
            </a:r>
            <a:r>
              <a:rPr lang="en-GB" sz="2000" dirty="0">
                <a:sym typeface="Wingdings" panose="05000000000000000000" pitchFamily="2" charset="2"/>
              </a:rPr>
              <a:t>calcium carbonate compound (made from one calcium, one carbon and three oxygen atoms) forms </a:t>
            </a:r>
            <a:r>
              <a:rPr lang="en-GB" sz="2000" b="1" dirty="0">
                <a:sym typeface="Wingdings" panose="05000000000000000000" pitchFamily="2" charset="2"/>
              </a:rPr>
              <a:t>one</a:t>
            </a:r>
            <a:r>
              <a:rPr lang="en-GB" sz="2000" dirty="0">
                <a:sym typeface="Wingdings" panose="05000000000000000000" pitchFamily="2" charset="2"/>
              </a:rPr>
              <a:t> calcium oxide compound and </a:t>
            </a:r>
            <a:r>
              <a:rPr lang="en-GB" sz="2000" b="1" dirty="0">
                <a:sym typeface="Wingdings" panose="05000000000000000000" pitchFamily="2" charset="2"/>
              </a:rPr>
              <a:t>one </a:t>
            </a:r>
            <a:r>
              <a:rPr lang="en-GB" sz="2000" dirty="0">
                <a:sym typeface="Wingdings" panose="05000000000000000000" pitchFamily="2" charset="2"/>
              </a:rPr>
              <a:t>carbon dioxide molecule</a:t>
            </a:r>
            <a:r>
              <a:rPr lang="en-GB" dirty="0">
                <a:sym typeface="Wingdings" panose="05000000000000000000" pitchFamily="2" charset="2"/>
              </a:rPr>
              <a:t>.</a:t>
            </a:r>
          </a:p>
          <a:p>
            <a:pPr algn="ctr"/>
            <a:endParaRPr lang="en-GB" b="1" dirty="0">
              <a:sym typeface="Wingdings" panose="05000000000000000000" pitchFamily="2" charset="2"/>
            </a:endParaRPr>
          </a:p>
          <a:p>
            <a:r>
              <a:rPr lang="en-GB" sz="2000" dirty="0">
                <a:sym typeface="Wingdings" panose="05000000000000000000" pitchFamily="2" charset="2"/>
              </a:rPr>
              <a:t>Here are the results from the reaction:</a:t>
            </a:r>
          </a:p>
          <a:p>
            <a:endParaRPr lang="en-GB" dirty="0">
              <a:sym typeface="Wingdings" panose="05000000000000000000" pitchFamily="2" charset="2"/>
            </a:endParaRPr>
          </a:p>
        </p:txBody>
      </p:sp>
      <p:graphicFrame>
        <p:nvGraphicFramePr>
          <p:cNvPr id="6" name="Table 5">
            <a:extLst>
              <a:ext uri="{FF2B5EF4-FFF2-40B4-BE49-F238E27FC236}">
                <a16:creationId xmlns:a16="http://schemas.microsoft.com/office/drawing/2014/main" xmlns="" id="{78400E73-4A00-4E4E-9D25-2A8890967C63}"/>
              </a:ext>
            </a:extLst>
          </p:cNvPr>
          <p:cNvGraphicFramePr>
            <a:graphicFrameLocks noGrp="1"/>
          </p:cNvGraphicFramePr>
          <p:nvPr>
            <p:extLst>
              <p:ext uri="{D42A27DB-BD31-4B8C-83A1-F6EECF244321}">
                <p14:modId xmlns:p14="http://schemas.microsoft.com/office/powerpoint/2010/main" val="3391297743"/>
              </p:ext>
            </p:extLst>
          </p:nvPr>
        </p:nvGraphicFramePr>
        <p:xfrm>
          <a:off x="107504" y="3834791"/>
          <a:ext cx="4464496" cy="1736920"/>
        </p:xfrm>
        <a:graphic>
          <a:graphicData uri="http://schemas.openxmlformats.org/drawingml/2006/table">
            <a:tbl>
              <a:tblPr firstRow="1" bandRow="1">
                <a:tableStyleId>{93296810-A885-4BE3-A3E7-6D5BEEA58F35}</a:tableStyleId>
              </a:tblPr>
              <a:tblGrid>
                <a:gridCol w="3087960">
                  <a:extLst>
                    <a:ext uri="{9D8B030D-6E8A-4147-A177-3AD203B41FA5}">
                      <a16:colId xmlns:a16="http://schemas.microsoft.com/office/drawing/2014/main" xmlns="" val="2341342594"/>
                    </a:ext>
                  </a:extLst>
                </a:gridCol>
                <a:gridCol w="1376536">
                  <a:extLst>
                    <a:ext uri="{9D8B030D-6E8A-4147-A177-3AD203B41FA5}">
                      <a16:colId xmlns:a16="http://schemas.microsoft.com/office/drawing/2014/main" xmlns="" val="1582953642"/>
                    </a:ext>
                  </a:extLst>
                </a:gridCol>
              </a:tblGrid>
              <a:tr h="342223">
                <a:tc>
                  <a:txBody>
                    <a:bodyPr/>
                    <a:lstStyle/>
                    <a:p>
                      <a:endParaRPr lang="en-GB" sz="1800" dirty="0"/>
                    </a:p>
                  </a:txBody>
                  <a:tcPr/>
                </a:tc>
                <a:tc>
                  <a:txBody>
                    <a:bodyPr/>
                    <a:lstStyle/>
                    <a:p>
                      <a:pPr algn="ctr"/>
                      <a:r>
                        <a:rPr lang="en-GB" sz="1800" dirty="0"/>
                        <a:t>Mass in g</a:t>
                      </a:r>
                    </a:p>
                  </a:txBody>
                  <a:tcPr/>
                </a:tc>
                <a:extLst>
                  <a:ext uri="{0D108BD9-81ED-4DB2-BD59-A6C34878D82A}">
                    <a16:rowId xmlns:a16="http://schemas.microsoft.com/office/drawing/2014/main" xmlns="" val="158379253"/>
                  </a:ext>
                </a:extLst>
              </a:tr>
              <a:tr h="598890">
                <a:tc>
                  <a:txBody>
                    <a:bodyPr/>
                    <a:lstStyle/>
                    <a:p>
                      <a:r>
                        <a:rPr lang="en-GB" sz="1800" dirty="0"/>
                        <a:t>Mass of metal carbonate at the start of the reaction</a:t>
                      </a:r>
                    </a:p>
                  </a:txBody>
                  <a:tcPr/>
                </a:tc>
                <a:tc>
                  <a:txBody>
                    <a:bodyPr/>
                    <a:lstStyle/>
                    <a:p>
                      <a:pPr algn="ctr"/>
                      <a:r>
                        <a:rPr lang="en-GB" sz="1800" dirty="0"/>
                        <a:t>0.54</a:t>
                      </a:r>
                    </a:p>
                  </a:txBody>
                  <a:tcPr/>
                </a:tc>
                <a:extLst>
                  <a:ext uri="{0D108BD9-81ED-4DB2-BD59-A6C34878D82A}">
                    <a16:rowId xmlns:a16="http://schemas.microsoft.com/office/drawing/2014/main" xmlns="" val="3719926032"/>
                  </a:ext>
                </a:extLst>
              </a:tr>
              <a:tr h="731080">
                <a:tc>
                  <a:txBody>
                    <a:bodyPr/>
                    <a:lstStyle/>
                    <a:p>
                      <a:r>
                        <a:rPr lang="en-GB" sz="1800" dirty="0"/>
                        <a:t>Mass of metal carbonate at end of reaction</a:t>
                      </a:r>
                    </a:p>
                  </a:txBody>
                  <a:tcPr/>
                </a:tc>
                <a:tc>
                  <a:txBody>
                    <a:bodyPr/>
                    <a:lstStyle/>
                    <a:p>
                      <a:pPr algn="ctr"/>
                      <a:r>
                        <a:rPr lang="en-GB" sz="1800" dirty="0"/>
                        <a:t>0.36</a:t>
                      </a:r>
                    </a:p>
                  </a:txBody>
                  <a:tcPr/>
                </a:tc>
                <a:extLst>
                  <a:ext uri="{0D108BD9-81ED-4DB2-BD59-A6C34878D82A}">
                    <a16:rowId xmlns:a16="http://schemas.microsoft.com/office/drawing/2014/main" xmlns="" val="2629542994"/>
                  </a:ext>
                </a:extLst>
              </a:tr>
            </a:tbl>
          </a:graphicData>
        </a:graphic>
      </p:graphicFrame>
      <p:pic>
        <p:nvPicPr>
          <p:cNvPr id="8" name="Picture 7">
            <a:extLst>
              <a:ext uri="{FF2B5EF4-FFF2-40B4-BE49-F238E27FC236}">
                <a16:creationId xmlns:a16="http://schemas.microsoft.com/office/drawing/2014/main" xmlns="" id="{E1B17F3E-62FC-49B9-B355-ADD9198821DB}"/>
              </a:ext>
            </a:extLst>
          </p:cNvPr>
          <p:cNvPicPr>
            <a:picLocks noChangeAspect="1"/>
          </p:cNvPicPr>
          <p:nvPr/>
        </p:nvPicPr>
        <p:blipFill>
          <a:blip r:embed="rId3"/>
          <a:stretch>
            <a:fillRect/>
          </a:stretch>
        </p:blipFill>
        <p:spPr>
          <a:xfrm>
            <a:off x="5652119" y="476672"/>
            <a:ext cx="3453049" cy="2509019"/>
          </a:xfrm>
          <a:prstGeom prst="rect">
            <a:avLst/>
          </a:prstGeom>
        </p:spPr>
      </p:pic>
      <p:sp>
        <p:nvSpPr>
          <p:cNvPr id="9" name="TextBox 8">
            <a:extLst>
              <a:ext uri="{FF2B5EF4-FFF2-40B4-BE49-F238E27FC236}">
                <a16:creationId xmlns:a16="http://schemas.microsoft.com/office/drawing/2014/main" xmlns="" id="{BA838262-35D2-4B3C-9EED-A0FD5B54066C}"/>
              </a:ext>
            </a:extLst>
          </p:cNvPr>
          <p:cNvSpPr txBox="1"/>
          <p:nvPr/>
        </p:nvSpPr>
        <p:spPr>
          <a:xfrm>
            <a:off x="50536" y="5609283"/>
            <a:ext cx="9071851" cy="92333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dirty="0">
                <a:sym typeface="Wingdings" panose="05000000000000000000" pitchFamily="2" charset="2"/>
              </a:rPr>
              <a:t>Whenever a measurement is taken, there is always some </a:t>
            </a:r>
            <a:r>
              <a:rPr lang="en-GB" b="1" dirty="0">
                <a:sym typeface="Wingdings" panose="05000000000000000000" pitchFamily="2" charset="2"/>
              </a:rPr>
              <a:t>uncertainty</a:t>
            </a:r>
            <a:r>
              <a:rPr lang="en-GB" dirty="0">
                <a:sym typeface="Wingdings" panose="05000000000000000000" pitchFamily="2" charset="2"/>
              </a:rPr>
              <a:t> about the </a:t>
            </a:r>
            <a:r>
              <a:rPr lang="en-GB" b="1" dirty="0">
                <a:sym typeface="Wingdings" panose="05000000000000000000" pitchFamily="2" charset="2"/>
              </a:rPr>
              <a:t>result</a:t>
            </a:r>
            <a:r>
              <a:rPr lang="en-GB" dirty="0">
                <a:sym typeface="Wingdings" panose="05000000000000000000" pitchFamily="2" charset="2"/>
              </a:rPr>
              <a:t> obtained that may </a:t>
            </a:r>
            <a:r>
              <a:rPr lang="en-GB" dirty="0" smtClean="0">
                <a:sym typeface="Wingdings" panose="05000000000000000000" pitchFamily="2" charset="2"/>
              </a:rPr>
              <a:t>have come </a:t>
            </a:r>
            <a:r>
              <a:rPr lang="en-GB" dirty="0">
                <a:sym typeface="Wingdings" panose="05000000000000000000" pitchFamily="2" charset="2"/>
              </a:rPr>
              <a:t>from a variety of sources within the investigation. It is useful to </a:t>
            </a:r>
            <a:r>
              <a:rPr lang="en-GB" dirty="0"/>
              <a:t>determine whether the </a:t>
            </a:r>
            <a:r>
              <a:rPr lang="en-GB" b="1" dirty="0"/>
              <a:t>mean</a:t>
            </a:r>
            <a:r>
              <a:rPr lang="en-GB" dirty="0"/>
              <a:t> value falls within the </a:t>
            </a:r>
            <a:r>
              <a:rPr lang="en-GB" b="1" dirty="0"/>
              <a:t>range</a:t>
            </a:r>
            <a:r>
              <a:rPr lang="en-GB" dirty="0"/>
              <a:t> of uncertainty of the result</a:t>
            </a:r>
            <a:r>
              <a:rPr lang="en-GB" dirty="0" smtClean="0"/>
              <a:t>.</a:t>
            </a:r>
            <a:endParaRPr lang="en-GB" dirty="0"/>
          </a:p>
        </p:txBody>
      </p:sp>
    </p:spTree>
    <p:extLst>
      <p:ext uri="{BB962C8B-B14F-4D97-AF65-F5344CB8AC3E}">
        <p14:creationId xmlns:p14="http://schemas.microsoft.com/office/powerpoint/2010/main" val="397426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585871"/>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Chemical Measurements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Balanced chemical equations</a:t>
            </a:r>
          </a:p>
          <a:p>
            <a:pPr marL="685800" lvl="1" indent="-342900">
              <a:buFont typeface="Arial" charset="0"/>
              <a:buChar char="•"/>
            </a:pPr>
            <a:r>
              <a:rPr lang="en-US" sz="2400" b="1" dirty="0">
                <a:solidFill>
                  <a:schemeClr val="bg1">
                    <a:lumMod val="50000"/>
                  </a:schemeClr>
                </a:solidFill>
              </a:rPr>
              <a:t>Conservation of mass</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2078222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Chemical measurements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5416868"/>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a:t>
            </a:r>
            <a:r>
              <a:rPr kumimoji="0" lang="en-GB" sz="2400" b="0" i="0" u="none" strike="noStrike" kern="1200" cap="none" spc="0" normalizeH="0" noProof="0" dirty="0" smtClean="0">
                <a:ln>
                  <a:noFill/>
                </a:ln>
                <a:solidFill>
                  <a:prstClr val="black"/>
                </a:solidFill>
                <a:effectLst/>
                <a:uLnTx/>
                <a:uFillTx/>
                <a:latin typeface="Calibri"/>
                <a:ea typeface="+mn-ea"/>
                <a:cs typeface="+mn-cs"/>
              </a:rPr>
              <a:t> is the law of conservation of mass?</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b="0" i="0" u="none" strike="noStrike" kern="1200" cap="none" spc="0" normalizeH="0" noProof="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baseline="0" dirty="0" smtClean="0">
                <a:solidFill>
                  <a:prstClr val="black"/>
                </a:solidFill>
                <a:latin typeface="Calibri"/>
              </a:rPr>
              <a:t>Why</a:t>
            </a:r>
            <a:r>
              <a:rPr lang="en-GB" sz="2400" dirty="0" smtClean="0">
                <a:solidFill>
                  <a:prstClr val="black"/>
                </a:solidFill>
                <a:latin typeface="Calibri"/>
              </a:rPr>
              <a:t> might some reactions appear to show a change in mass?</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Give two examples of a reaction where a change in mass may appear to take place.</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b="0" i="0" u="none" strike="noStrike" kern="1200" cap="none" spc="0" normalizeH="0" baseline="0" noProof="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Balance the following equations:</a:t>
            </a:r>
          </a:p>
          <a:p>
            <a:pPr marL="914400" lvl="1" indent="-457200">
              <a:buFont typeface="+mj-lt"/>
              <a:buAutoNum type="alphaLcParenR"/>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H</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0" i="0" u="none" strike="noStrike" kern="1200" cap="none" spc="0" normalizeH="0" noProof="0" dirty="0" smtClean="0">
                <a:ln>
                  <a:noFill/>
                </a:ln>
                <a:solidFill>
                  <a:prstClr val="black"/>
                </a:solidFill>
                <a:effectLst/>
                <a:uLnTx/>
                <a:uFillTx/>
                <a:latin typeface="Calibri"/>
                <a:ea typeface="+mn-ea"/>
                <a:cs typeface="+mn-cs"/>
              </a:rPr>
              <a:t> O</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 </a:t>
            </a:r>
            <a:r>
              <a:rPr lang="en-GB" sz="2400" b="1" dirty="0">
                <a:sym typeface="Wingdings" panose="05000000000000000000" pitchFamily="2" charset="2"/>
              </a:rPr>
              <a:t></a:t>
            </a:r>
            <a:r>
              <a:rPr kumimoji="0" lang="en-GB" sz="2400" b="0" i="0" u="none" strike="noStrike" kern="1200" cap="none" spc="0" normalizeH="0" noProof="0" dirty="0" smtClean="0">
                <a:ln>
                  <a:noFill/>
                </a:ln>
                <a:solidFill>
                  <a:prstClr val="black"/>
                </a:solidFill>
                <a:effectLst/>
                <a:uLnTx/>
                <a:uFillTx/>
                <a:latin typeface="Calibri"/>
                <a:ea typeface="+mn-ea"/>
                <a:cs typeface="+mn-cs"/>
              </a:rPr>
              <a:t>   H</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O</a:t>
            </a:r>
          </a:p>
          <a:p>
            <a:pPr marL="914400" lvl="1" indent="-457200">
              <a:buFont typeface="+mj-lt"/>
              <a:buAutoNum type="alphaLcParenR"/>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Ca</a:t>
            </a:r>
            <a:r>
              <a:rPr kumimoji="0" lang="en-GB" sz="2400" b="0" i="0" u="none" strike="noStrike" kern="1200" cap="none" spc="0" normalizeH="0" noProof="0" dirty="0" smtClean="0">
                <a:ln>
                  <a:noFill/>
                </a:ln>
                <a:solidFill>
                  <a:prstClr val="black"/>
                </a:solidFill>
                <a:effectLst/>
                <a:uLnTx/>
                <a:uFillTx/>
                <a:latin typeface="Calibri"/>
                <a:ea typeface="+mn-ea"/>
                <a:cs typeface="+mn-cs"/>
              </a:rPr>
              <a:t> + HCl </a:t>
            </a:r>
            <a:r>
              <a:rPr lang="en-GB" sz="2400" b="1" dirty="0">
                <a:sym typeface="Wingdings" panose="05000000000000000000" pitchFamily="2" charset="2"/>
              </a:rPr>
              <a:t></a:t>
            </a:r>
            <a:r>
              <a:rPr kumimoji="0" lang="en-GB" sz="2400" b="0" i="0" u="none" strike="noStrike" kern="1200" cap="none" spc="0" normalizeH="0" noProof="0" dirty="0" smtClean="0">
                <a:ln>
                  <a:noFill/>
                </a:ln>
                <a:solidFill>
                  <a:prstClr val="black"/>
                </a:solidFill>
                <a:effectLst/>
                <a:uLnTx/>
                <a:uFillTx/>
                <a:latin typeface="Calibri"/>
                <a:ea typeface="+mn-ea"/>
                <a:cs typeface="+mn-cs"/>
              </a:rPr>
              <a:t>  CaCl</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 + H</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p>
          <a:p>
            <a:pPr marL="914400" lvl="1" indent="-457200">
              <a:buFont typeface="+mj-lt"/>
              <a:buAutoNum type="alphaLcParenR"/>
              <a:defRPr/>
            </a:pPr>
            <a:r>
              <a:rPr lang="en-GB" sz="2400" baseline="0" dirty="0" smtClean="0">
                <a:solidFill>
                  <a:prstClr val="black"/>
                </a:solidFill>
                <a:latin typeface="Calibri"/>
              </a:rPr>
              <a:t>Li</a:t>
            </a:r>
            <a:r>
              <a:rPr lang="en-GB" sz="2400" dirty="0" smtClean="0">
                <a:solidFill>
                  <a:prstClr val="black"/>
                </a:solidFill>
                <a:latin typeface="Calibri"/>
              </a:rPr>
              <a:t> + H</a:t>
            </a:r>
            <a:r>
              <a:rPr lang="en-GB" sz="2400" baseline="-25000" dirty="0" smtClean="0">
                <a:solidFill>
                  <a:prstClr val="black"/>
                </a:solidFill>
                <a:latin typeface="Calibri"/>
              </a:rPr>
              <a:t>2</a:t>
            </a:r>
            <a:r>
              <a:rPr lang="en-GB" sz="2400" dirty="0" smtClean="0">
                <a:solidFill>
                  <a:prstClr val="black"/>
                </a:solidFill>
                <a:latin typeface="Calibri"/>
              </a:rPr>
              <a:t>O </a:t>
            </a:r>
            <a:r>
              <a:rPr lang="en-GB" sz="2400" b="1" dirty="0">
                <a:sym typeface="Wingdings" panose="05000000000000000000" pitchFamily="2" charset="2"/>
              </a:rPr>
              <a:t></a:t>
            </a:r>
            <a:r>
              <a:rPr lang="en-GB" sz="2400" dirty="0" smtClean="0">
                <a:solidFill>
                  <a:prstClr val="black"/>
                </a:solidFill>
                <a:latin typeface="Calibri"/>
              </a:rPr>
              <a:t>   </a:t>
            </a:r>
            <a:r>
              <a:rPr lang="en-GB" sz="2400" dirty="0" err="1" smtClean="0">
                <a:solidFill>
                  <a:prstClr val="black"/>
                </a:solidFill>
                <a:latin typeface="Calibri"/>
              </a:rPr>
              <a:t>LiOH</a:t>
            </a:r>
            <a:r>
              <a:rPr lang="en-GB" sz="2400" dirty="0" smtClean="0">
                <a:solidFill>
                  <a:prstClr val="black"/>
                </a:solidFill>
                <a:latin typeface="Calibri"/>
              </a:rPr>
              <a:t> + H</a:t>
            </a:r>
            <a:r>
              <a:rPr lang="en-GB" sz="2400" baseline="-25000" dirty="0" smtClean="0">
                <a:solidFill>
                  <a:prstClr val="black"/>
                </a:solidFill>
                <a:latin typeface="Calibri"/>
              </a:rPr>
              <a:t>2</a:t>
            </a:r>
          </a:p>
          <a:p>
            <a:pPr marL="914400" lvl="1" indent="-457200">
              <a:buFont typeface="+mj-lt"/>
              <a:buAutoNum type="alphaLcParenR"/>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NH</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3</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 O</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 </a:t>
            </a:r>
            <a:r>
              <a:rPr lang="en-GB" sz="2400" b="1" dirty="0">
                <a:sym typeface="Wingdings" panose="05000000000000000000" pitchFamily="2" charset="2"/>
              </a:rPr>
              <a:t></a:t>
            </a:r>
            <a:r>
              <a:rPr kumimoji="0" lang="en-GB" sz="2400" b="0" i="0" u="none" strike="noStrike" kern="1200" cap="none" spc="0" normalizeH="0" noProof="0" dirty="0" smtClean="0">
                <a:ln>
                  <a:noFill/>
                </a:ln>
                <a:solidFill>
                  <a:prstClr val="black"/>
                </a:solidFill>
                <a:effectLst/>
                <a:uLnTx/>
                <a:uFillTx/>
                <a:latin typeface="Calibri"/>
                <a:ea typeface="+mn-ea"/>
                <a:cs typeface="+mn-cs"/>
              </a:rPr>
              <a:t>  NO + H</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O</a:t>
            </a:r>
          </a:p>
          <a:p>
            <a:pPr marL="914400" lvl="1" indent="-457200">
              <a:buFont typeface="+mj-lt"/>
              <a:buAutoNum type="alphaLcParenR"/>
              <a:defRPr/>
            </a:pPr>
            <a:r>
              <a:rPr lang="en-GB" sz="2400" baseline="0" dirty="0" smtClean="0">
                <a:solidFill>
                  <a:prstClr val="black"/>
                </a:solidFill>
                <a:latin typeface="Calibri"/>
              </a:rPr>
              <a:t>K</a:t>
            </a:r>
            <a:r>
              <a:rPr lang="en-GB" sz="2400" dirty="0" smtClean="0">
                <a:solidFill>
                  <a:prstClr val="black"/>
                </a:solidFill>
                <a:latin typeface="Calibri"/>
              </a:rPr>
              <a:t> + O</a:t>
            </a:r>
            <a:r>
              <a:rPr lang="en-GB" sz="2400" baseline="-25000" dirty="0" smtClean="0">
                <a:solidFill>
                  <a:prstClr val="black"/>
                </a:solidFill>
                <a:latin typeface="Calibri"/>
              </a:rPr>
              <a:t>2</a:t>
            </a:r>
            <a:r>
              <a:rPr lang="en-GB" sz="2400" dirty="0" smtClean="0">
                <a:solidFill>
                  <a:prstClr val="black"/>
                </a:solidFill>
                <a:latin typeface="Calibri"/>
              </a:rPr>
              <a:t> </a:t>
            </a:r>
            <a:r>
              <a:rPr lang="en-GB" sz="2400" b="1" dirty="0">
                <a:sym typeface="Wingdings" panose="05000000000000000000" pitchFamily="2" charset="2"/>
              </a:rPr>
              <a:t></a:t>
            </a:r>
            <a:r>
              <a:rPr lang="en-GB" sz="2400" dirty="0" smtClean="0">
                <a:solidFill>
                  <a:prstClr val="black"/>
                </a:solidFill>
                <a:latin typeface="Calibri"/>
              </a:rPr>
              <a:t>  K</a:t>
            </a:r>
            <a:r>
              <a:rPr lang="en-GB" sz="2400" baseline="-25000" dirty="0" smtClean="0">
                <a:solidFill>
                  <a:prstClr val="black"/>
                </a:solidFill>
                <a:latin typeface="Calibri"/>
              </a:rPr>
              <a:t>2</a:t>
            </a:r>
            <a:r>
              <a:rPr lang="en-GB" sz="2400" dirty="0" smtClean="0">
                <a:solidFill>
                  <a:prstClr val="black"/>
                </a:solidFill>
                <a:latin typeface="Calibri"/>
              </a:rPr>
              <a:t>O</a:t>
            </a:r>
            <a:r>
              <a:rPr lang="en-GB" sz="2400" b="1" dirty="0" smtClean="0">
                <a:solidFill>
                  <a:prstClr val="black"/>
                </a:solidFill>
                <a:latin typeface="Calibri"/>
              </a:rPr>
              <a:t>    </a:t>
            </a:r>
            <a:r>
              <a:rPr lang="en-GB" sz="2400" b="1" dirty="0" smtClean="0">
                <a:solidFill>
                  <a:prstClr val="black"/>
                </a:solidFill>
                <a:sym typeface="Wingdings" panose="05000000000000000000" pitchFamily="2" charset="2"/>
              </a:rPr>
              <a:t> </a:t>
            </a:r>
            <a:r>
              <a:rPr lang="en-GB" sz="2400" b="1" baseline="-25000" dirty="0" smtClean="0">
                <a:solidFill>
                  <a:prstClr val="black"/>
                </a:solidFill>
              </a:rPr>
              <a:t> </a:t>
            </a:r>
            <a:endParaRPr lang="pt-BR" b="1" dirty="0"/>
          </a:p>
          <a:p>
            <a:pPr lvl="0"/>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656125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Chemical measurements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5416868"/>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How many atoms and elements are in the compound </a:t>
            </a:r>
            <a:r>
              <a:rPr lang="en-GB" sz="2400" dirty="0">
                <a:solidFill>
                  <a:prstClr val="black"/>
                </a:solidFill>
                <a:latin typeface="Calibri"/>
              </a:rPr>
              <a:t>s</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odium </a:t>
            </a:r>
            <a:r>
              <a:rPr lang="en-GB" sz="2400" dirty="0">
                <a:solidFill>
                  <a:prstClr val="black"/>
                </a:solidFill>
                <a:latin typeface="Calibri"/>
              </a:rPr>
              <a:t>a</a:t>
            </a:r>
            <a:r>
              <a:rPr kumimoji="0" lang="en-GB" sz="2400" b="0" i="0" u="none" strike="noStrike" kern="1200" cap="none" spc="0" normalizeH="0" baseline="0" noProof="0" dirty="0" err="1" smtClean="0">
                <a:ln>
                  <a:noFill/>
                </a:ln>
                <a:solidFill>
                  <a:prstClr val="black"/>
                </a:solidFill>
                <a:effectLst/>
                <a:uLnTx/>
                <a:uFillTx/>
                <a:latin typeface="Calibri"/>
                <a:ea typeface="+mn-ea"/>
                <a:cs typeface="+mn-cs"/>
              </a:rPr>
              <a:t>luminate</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0" i="0" u="none" strike="noStrike" kern="1200" cap="none" spc="0" normalizeH="0" baseline="0" noProof="0" dirty="0" err="1" smtClean="0">
                <a:ln>
                  <a:noFill/>
                </a:ln>
                <a:solidFill>
                  <a:prstClr val="black"/>
                </a:solidFill>
                <a:effectLst/>
                <a:uLnTx/>
                <a:uFillTx/>
                <a:latin typeface="Calibri"/>
                <a:ea typeface="+mn-ea"/>
                <a:cs typeface="+mn-cs"/>
              </a:rPr>
              <a:t>NaA</a:t>
            </a:r>
            <a:r>
              <a:rPr kumimoji="0" lang="en-GB" sz="2400" b="0" u="none" strike="noStrike" kern="1200" cap="none" spc="0" normalizeH="0" baseline="0" noProof="0" dirty="0" err="1" smtClean="0">
                <a:ln>
                  <a:noFill/>
                </a:ln>
                <a:solidFill>
                  <a:prstClr val="black"/>
                </a:solidFill>
                <a:effectLst/>
                <a:uLnTx/>
                <a:uFillTx/>
                <a:latin typeface="Calibri"/>
                <a:ea typeface="+mn-ea"/>
                <a:cs typeface="+mn-cs"/>
              </a:rPr>
              <a:t>l</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(OH)</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4</a:t>
            </a:r>
            <a:r>
              <a:rPr kumimoji="0" lang="en-GB" sz="2400" b="0" i="0" u="none" strike="noStrike" kern="1200" cap="none" spc="0" normalizeH="0" baseline="0" noProof="0" dirty="0">
                <a:ln>
                  <a:noFill/>
                </a:ln>
                <a:solidFill>
                  <a:prstClr val="black"/>
                </a:solidFill>
                <a:effectLst/>
                <a:uLnTx/>
                <a:uFillTx/>
                <a:latin typeface="Calibri"/>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0B050"/>
                </a:solidFill>
                <a:effectLst/>
                <a:uLnTx/>
                <a:uFillTx/>
                <a:latin typeface="Calibri"/>
                <a:ea typeface="+mn-ea"/>
                <a:cs typeface="+mn-cs"/>
              </a:rPr>
              <a:t>       </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6"/>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a:t>
            </a:r>
            <a:r>
              <a:rPr kumimoji="0" lang="en-GB" sz="2400" b="0" i="0" u="none" strike="noStrike" kern="1200" cap="none" spc="0" normalizeH="0" baseline="0" noProof="0" dirty="0">
                <a:ln>
                  <a:noFill/>
                </a:ln>
                <a:solidFill>
                  <a:prstClr val="black"/>
                </a:solidFill>
                <a:effectLst/>
                <a:uLnTx/>
                <a:uFillTx/>
                <a:latin typeface="Calibri"/>
                <a:ea typeface="+mn-ea"/>
                <a:cs typeface="+mn-cs"/>
              </a:rPr>
              <a:t>do the following </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formulae tell you?</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dirty="0">
                <a:solidFill>
                  <a:prstClr val="black"/>
                </a:solidFill>
                <a:latin typeface="Calibri"/>
              </a:rPr>
              <a:t>       a) </a:t>
            </a:r>
            <a:r>
              <a:rPr lang="en-GB" sz="2400" dirty="0" smtClean="0">
                <a:solidFill>
                  <a:prstClr val="black"/>
                </a:solidFill>
                <a:latin typeface="Calibri"/>
              </a:rPr>
              <a:t>2HCl</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dirty="0">
                <a:solidFill>
                  <a:prstClr val="black"/>
                </a:solidFill>
                <a:latin typeface="Calibri"/>
              </a:rPr>
              <a:t>       </a:t>
            </a:r>
            <a:r>
              <a:rPr kumimoji="0" lang="en-GB" sz="2400" b="0" i="0" u="none" strike="noStrike" kern="1200" cap="none" spc="0" normalizeH="0" baseline="0" noProof="0" dirty="0">
                <a:ln>
                  <a:noFill/>
                </a:ln>
                <a:solidFill>
                  <a:prstClr val="black"/>
                </a:solidFill>
                <a:effectLst/>
                <a:uLnTx/>
                <a:uFillTx/>
                <a:latin typeface="Calibri"/>
                <a:ea typeface="+mn-ea"/>
                <a:cs typeface="+mn-cs"/>
              </a:rPr>
              <a:t>b) </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Cl</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An aqueous solution of hydrogen peroxide (H</a:t>
            </a:r>
            <a:r>
              <a:rPr kumimoji="0" lang="en-GB" sz="2400" b="0" i="0" u="none" strike="noStrike" kern="1200" cap="none" spc="0" normalizeH="0" baseline="-25000" noProof="0" dirty="0">
                <a:ln>
                  <a:noFill/>
                </a:ln>
                <a:solidFill>
                  <a:prstClr val="black"/>
                </a:solidFill>
                <a:effectLst/>
                <a:uLnTx/>
                <a:uFillTx/>
                <a:latin typeface="Calibri"/>
                <a:ea typeface="+mn-ea"/>
                <a:cs typeface="+mn-cs"/>
              </a:rPr>
              <a:t>2</a:t>
            </a:r>
            <a:r>
              <a:rPr kumimoji="0" lang="en-GB" sz="2400" b="0" i="0" u="none" strike="noStrike" kern="1200" cap="none" spc="0" normalizeH="0" baseline="0" noProof="0" dirty="0">
                <a:ln>
                  <a:noFill/>
                </a:ln>
                <a:solidFill>
                  <a:prstClr val="black"/>
                </a:solidFill>
                <a:effectLst/>
                <a:uLnTx/>
                <a:uFillTx/>
                <a:latin typeface="Calibri"/>
                <a:ea typeface="+mn-ea"/>
                <a:cs typeface="+mn-cs"/>
              </a:rPr>
              <a:t>O</a:t>
            </a:r>
            <a:r>
              <a:rPr kumimoji="0" lang="en-GB" sz="2400" b="0" i="0" u="none" strike="noStrike" kern="1200" cap="none" spc="0" normalizeH="0" baseline="-25000" noProof="0" dirty="0">
                <a:ln>
                  <a:noFill/>
                </a:ln>
                <a:solidFill>
                  <a:prstClr val="black"/>
                </a:solidFill>
                <a:effectLst/>
                <a:uLnTx/>
                <a:uFillTx/>
                <a:latin typeface="Calibri"/>
                <a:ea typeface="+mn-ea"/>
                <a:cs typeface="+mn-cs"/>
              </a:rPr>
              <a:t>2</a:t>
            </a:r>
            <a:r>
              <a:rPr kumimoji="0" lang="en-GB" sz="2400" b="0" i="0" u="none" strike="noStrike" kern="1200" cap="none" spc="0" normalizeH="0" baseline="0" noProof="0" dirty="0">
                <a:ln>
                  <a:noFill/>
                </a:ln>
                <a:solidFill>
                  <a:prstClr val="black"/>
                </a:solidFill>
                <a:effectLst/>
                <a:uLnTx/>
                <a:uFillTx/>
                <a:latin typeface="Calibri"/>
                <a:ea typeface="+mn-ea"/>
                <a:cs typeface="+mn-cs"/>
              </a:rPr>
              <a:t>) decomposes to form water and oxygen.</a:t>
            </a:r>
          </a:p>
          <a:p>
            <a:pPr marR="0" lvl="0" algn="l" defTabSz="914400" rtl="0" eaLnBrk="1" fontAlgn="auto" latinLnBrk="0" hangingPunct="1">
              <a:lnSpc>
                <a:spcPct val="100000"/>
              </a:lnSpc>
              <a:spcBef>
                <a:spcPts val="0"/>
              </a:spcBef>
              <a:spcAft>
                <a:spcPts val="0"/>
              </a:spcAft>
              <a:buClrTx/>
              <a:buSzTx/>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       a) Write a balanced symbol equation for this reaction.  </a:t>
            </a:r>
            <a:r>
              <a:rPr lang="en-GB" sz="2400" dirty="0">
                <a:solidFill>
                  <a:prstClr val="black"/>
                </a:solidFill>
                <a:latin typeface="Calibri"/>
              </a:rPr>
              <a:t>Include  </a:t>
            </a:r>
          </a:p>
          <a:p>
            <a:pPr marR="0" lvl="0" algn="l" defTabSz="914400" rtl="0" eaLnBrk="1" fontAlgn="auto" latinLnBrk="0" hangingPunct="1">
              <a:lnSpc>
                <a:spcPct val="100000"/>
              </a:lnSpc>
              <a:spcBef>
                <a:spcPts val="0"/>
              </a:spcBef>
              <a:spcAft>
                <a:spcPts val="0"/>
              </a:spcAft>
              <a:buClrTx/>
              <a:buSzTx/>
              <a:tabLst/>
              <a:defRPr/>
            </a:pPr>
            <a:r>
              <a:rPr lang="en-GB" sz="2400" dirty="0">
                <a:solidFill>
                  <a:prstClr val="black"/>
                </a:solidFill>
                <a:latin typeface="Calibri"/>
              </a:rPr>
              <a:t>            the state symbols.</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0"/>
            <a:r>
              <a:rPr kumimoji="0" lang="en-GB" sz="2400" b="1" i="0" u="none" strike="noStrike" kern="1200" cap="none" spc="0" normalizeH="0" baseline="0" noProof="0" dirty="0">
                <a:ln>
                  <a:noFill/>
                </a:ln>
                <a:solidFill>
                  <a:prstClr val="black"/>
                </a:solidFill>
                <a:effectLst/>
                <a:uLnTx/>
                <a:uFillTx/>
                <a:latin typeface="Calibri"/>
                <a:ea typeface="+mn-ea"/>
                <a:cs typeface="+mn-cs"/>
              </a:rPr>
              <a:t> </a:t>
            </a:r>
            <a:r>
              <a:rPr lang="en-GB" sz="2400" b="1" dirty="0">
                <a:solidFill>
                  <a:prstClr val="black"/>
                </a:solidFill>
                <a:latin typeface="Calibri"/>
              </a:rPr>
              <a:t>      </a:t>
            </a:r>
            <a:r>
              <a:rPr lang="en-GB" sz="2400" dirty="0" smtClean="0">
                <a:solidFill>
                  <a:prstClr val="black"/>
                </a:solidFill>
              </a:rPr>
              <a:t>b</a:t>
            </a:r>
            <a:r>
              <a:rPr lang="en-GB" sz="2400" dirty="0">
                <a:solidFill>
                  <a:prstClr val="black"/>
                </a:solidFill>
              </a:rPr>
              <a:t>) Why does the water, produced during the reaction, have a 	lower mass than the original hydrogen peroxide?</a:t>
            </a:r>
            <a:endParaRPr lang="pt-BR" sz="2400" b="1" dirty="0"/>
          </a:p>
          <a:p>
            <a:pPr lvl="0"/>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R="0" lvl="0" algn="l" defTabSz="914400" rtl="0" eaLnBrk="1" fontAlgn="auto" latinLnBrk="0" hangingPunct="1">
              <a:lnSpc>
                <a:spcPct val="100000"/>
              </a:lnSpc>
              <a:spcBef>
                <a:spcPts val="0"/>
              </a:spcBef>
              <a:spcAft>
                <a:spcPts val="0"/>
              </a:spcAft>
              <a:buClrTx/>
              <a:buSzTx/>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63144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139869"/>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Chemical Measurements</a:t>
            </a:r>
          </a:p>
          <a:p>
            <a:r>
              <a:rPr lang="en-GB" sz="3600" b="1" dirty="0">
                <a:solidFill>
                  <a:schemeClr val="tx1">
                    <a:lumMod val="50000"/>
                    <a:lumOff val="50000"/>
                  </a:schemeClr>
                </a:solidFill>
              </a:rPr>
              <a:t>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Balanced chemical equations</a:t>
            </a:r>
          </a:p>
          <a:p>
            <a:pPr marL="685800" lvl="1" indent="-342900">
              <a:buFont typeface="Arial" charset="0"/>
              <a:buChar char="•"/>
            </a:pPr>
            <a:r>
              <a:rPr lang="en-US" sz="2400" b="1" dirty="0">
                <a:solidFill>
                  <a:schemeClr val="bg1">
                    <a:lumMod val="50000"/>
                  </a:schemeClr>
                </a:solidFill>
              </a:rPr>
              <a:t>Conservation of mass</a:t>
            </a:r>
          </a:p>
          <a:p>
            <a:endParaRPr lang="en-GB" dirty="0"/>
          </a:p>
        </p:txBody>
      </p:sp>
    </p:spTree>
    <p:extLst>
      <p:ext uri="{BB962C8B-B14F-4D97-AF65-F5344CB8AC3E}">
        <p14:creationId xmlns:p14="http://schemas.microsoft.com/office/powerpoint/2010/main" val="469729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Chemical measurements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5416868"/>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a:t>
            </a:r>
            <a:r>
              <a:rPr kumimoji="0" lang="en-GB" sz="2400" b="0" i="0" u="none" strike="noStrike" kern="1200" cap="none" spc="0" normalizeH="0" noProof="0" dirty="0" smtClean="0">
                <a:ln>
                  <a:noFill/>
                </a:ln>
                <a:solidFill>
                  <a:prstClr val="black"/>
                </a:solidFill>
                <a:effectLst/>
                <a:uLnTx/>
                <a:uFillTx/>
                <a:latin typeface="Calibri"/>
                <a:ea typeface="+mn-ea"/>
                <a:cs typeface="+mn-cs"/>
              </a:rPr>
              <a:t> is the law of conservation of mass?</a:t>
            </a:r>
          </a:p>
          <a:p>
            <a:pPr lvl="1">
              <a:defRPr/>
            </a:pPr>
            <a:r>
              <a:rPr lang="en-GB" sz="2400" b="1" noProof="0" dirty="0" smtClean="0">
                <a:solidFill>
                  <a:srgbClr val="00B050"/>
                </a:solidFill>
              </a:rPr>
              <a:t>Mass of reactants = mass products.</a:t>
            </a:r>
            <a:endParaRPr kumimoji="0" lang="en-GB" sz="2400" b="0" i="0" u="none" strike="noStrike" kern="1200" cap="none" spc="0" normalizeH="0" noProof="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baseline="0" dirty="0" smtClean="0">
                <a:solidFill>
                  <a:prstClr val="black"/>
                </a:solidFill>
                <a:latin typeface="Calibri"/>
              </a:rPr>
              <a:t>Why</a:t>
            </a:r>
            <a:r>
              <a:rPr lang="en-GB" sz="2400" dirty="0" smtClean="0">
                <a:solidFill>
                  <a:prstClr val="black"/>
                </a:solidFill>
                <a:latin typeface="Calibri"/>
              </a:rPr>
              <a:t> might some reactions appear to show a change in mass?</a:t>
            </a:r>
          </a:p>
          <a:p>
            <a:pPr lvl="1">
              <a:defRPr/>
            </a:pPr>
            <a:r>
              <a:rPr lang="en-GB" sz="2400" b="1" dirty="0" smtClean="0">
                <a:solidFill>
                  <a:srgbClr val="00B050"/>
                </a:solidFill>
              </a:rPr>
              <a:t>A reactant or a product is a gas.</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Give two examples of a reaction where a change in mass may appear to take place.</a:t>
            </a:r>
          </a:p>
          <a:p>
            <a:pPr lvl="1">
              <a:defRPr/>
            </a:pPr>
            <a:r>
              <a:rPr lang="en-GB" sz="2400" b="1" noProof="0" dirty="0" smtClean="0">
                <a:solidFill>
                  <a:srgbClr val="00B050"/>
                </a:solidFill>
              </a:rPr>
              <a:t>Metal reacting with oxygen or an acid. Thermal decomposition.</a:t>
            </a:r>
            <a:endParaRPr kumimoji="0" lang="en-GB" sz="2400" b="0" i="0" u="none" strike="noStrike" kern="1200" cap="none" spc="0" normalizeH="0" baseline="0" noProof="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Balance the following equations:</a:t>
            </a:r>
          </a:p>
          <a:p>
            <a:pPr marL="914400" lvl="1" indent="-457200">
              <a:buFont typeface="+mj-lt"/>
              <a:buAutoNum type="alphaLcParenR"/>
              <a:defRPr/>
            </a:pPr>
            <a:r>
              <a:rPr kumimoji="0" lang="en-GB" sz="2400" b="0" i="0" u="none" strike="noStrike" kern="1200" cap="none" spc="0" normalizeH="0" baseline="0" noProof="0" dirty="0" smtClean="0">
                <a:ln>
                  <a:noFill/>
                </a:ln>
                <a:solidFill>
                  <a:srgbClr val="00B050"/>
                </a:solidFill>
                <a:effectLst/>
                <a:uLnTx/>
                <a:uFillTx/>
                <a:latin typeface="Calibri"/>
                <a:ea typeface="+mn-ea"/>
                <a:cs typeface="+mn-cs"/>
              </a:rPr>
              <a:t>2</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H</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0" i="0" u="none" strike="noStrike" kern="1200" cap="none" spc="0" normalizeH="0" noProof="0" dirty="0" smtClean="0">
                <a:ln>
                  <a:noFill/>
                </a:ln>
                <a:solidFill>
                  <a:prstClr val="black"/>
                </a:solidFill>
                <a:effectLst/>
                <a:uLnTx/>
                <a:uFillTx/>
                <a:latin typeface="Calibri"/>
                <a:ea typeface="+mn-ea"/>
                <a:cs typeface="+mn-cs"/>
              </a:rPr>
              <a:t> O</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 </a:t>
            </a:r>
            <a:r>
              <a:rPr lang="en-GB" sz="2400" b="1" dirty="0">
                <a:sym typeface="Wingdings" panose="05000000000000000000" pitchFamily="2" charset="2"/>
              </a:rPr>
              <a:t></a:t>
            </a:r>
            <a:r>
              <a:rPr kumimoji="0" lang="en-GB" sz="2400" b="0" i="0" u="none" strike="noStrike" kern="1200" cap="none" spc="0" normalizeH="0" noProof="0" dirty="0" smtClean="0">
                <a:ln>
                  <a:noFill/>
                </a:ln>
                <a:solidFill>
                  <a:prstClr val="black"/>
                </a:solidFill>
                <a:effectLst/>
                <a:uLnTx/>
                <a:uFillTx/>
                <a:latin typeface="Calibri"/>
                <a:ea typeface="+mn-ea"/>
                <a:cs typeface="+mn-cs"/>
              </a:rPr>
              <a:t>   </a:t>
            </a:r>
            <a:r>
              <a:rPr kumimoji="0" lang="en-GB" sz="2400" b="0" i="0" u="none" strike="noStrike" kern="1200" cap="none" spc="0" normalizeH="0" noProof="0" dirty="0" smtClean="0">
                <a:ln>
                  <a:noFill/>
                </a:ln>
                <a:solidFill>
                  <a:srgbClr val="00B050"/>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H</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O</a:t>
            </a:r>
          </a:p>
          <a:p>
            <a:pPr marL="914400" lvl="1" indent="-457200">
              <a:buFont typeface="+mj-lt"/>
              <a:buAutoNum type="alphaLcParenR"/>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Ca</a:t>
            </a:r>
            <a:r>
              <a:rPr kumimoji="0" lang="en-GB" sz="2400" b="0" i="0" u="none" strike="noStrike" kern="1200" cap="none" spc="0" normalizeH="0" noProof="0" dirty="0" smtClean="0">
                <a:ln>
                  <a:noFill/>
                </a:ln>
                <a:solidFill>
                  <a:prstClr val="black"/>
                </a:solidFill>
                <a:effectLst/>
                <a:uLnTx/>
                <a:uFillTx/>
                <a:latin typeface="Calibri"/>
                <a:ea typeface="+mn-ea"/>
                <a:cs typeface="+mn-cs"/>
              </a:rPr>
              <a:t> + </a:t>
            </a:r>
            <a:r>
              <a:rPr kumimoji="0" lang="en-GB" sz="2400" b="0" i="0" u="none" strike="noStrike" kern="1200" cap="none" spc="0" normalizeH="0" noProof="0" dirty="0" smtClean="0">
                <a:ln>
                  <a:noFill/>
                </a:ln>
                <a:solidFill>
                  <a:srgbClr val="00B050"/>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HCl </a:t>
            </a:r>
            <a:r>
              <a:rPr lang="en-GB" sz="2400" b="1" dirty="0">
                <a:sym typeface="Wingdings" panose="05000000000000000000" pitchFamily="2" charset="2"/>
              </a:rPr>
              <a:t></a:t>
            </a:r>
            <a:r>
              <a:rPr kumimoji="0" lang="en-GB" sz="2400" b="0" i="0" u="none" strike="noStrike" kern="1200" cap="none" spc="0" normalizeH="0" noProof="0" dirty="0" smtClean="0">
                <a:ln>
                  <a:noFill/>
                </a:ln>
                <a:solidFill>
                  <a:prstClr val="black"/>
                </a:solidFill>
                <a:effectLst/>
                <a:uLnTx/>
                <a:uFillTx/>
                <a:latin typeface="Calibri"/>
                <a:ea typeface="+mn-ea"/>
                <a:cs typeface="+mn-cs"/>
              </a:rPr>
              <a:t>  CaCl</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 + H</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p>
          <a:p>
            <a:pPr marL="914400" lvl="1" indent="-457200">
              <a:buFont typeface="+mj-lt"/>
              <a:buAutoNum type="alphaLcParenR"/>
              <a:defRPr/>
            </a:pPr>
            <a:r>
              <a:rPr lang="en-GB" sz="2400" baseline="0" dirty="0" smtClean="0">
                <a:solidFill>
                  <a:srgbClr val="00B050"/>
                </a:solidFill>
                <a:latin typeface="Calibri"/>
              </a:rPr>
              <a:t>2</a:t>
            </a:r>
            <a:r>
              <a:rPr lang="en-GB" sz="2400" baseline="0" dirty="0" smtClean="0">
                <a:solidFill>
                  <a:prstClr val="black"/>
                </a:solidFill>
                <a:latin typeface="Calibri"/>
              </a:rPr>
              <a:t>Li</a:t>
            </a:r>
            <a:r>
              <a:rPr lang="en-GB" sz="2400" dirty="0" smtClean="0">
                <a:solidFill>
                  <a:prstClr val="black"/>
                </a:solidFill>
                <a:latin typeface="Calibri"/>
              </a:rPr>
              <a:t> + </a:t>
            </a:r>
            <a:r>
              <a:rPr lang="en-GB" sz="2400" dirty="0" smtClean="0">
                <a:solidFill>
                  <a:srgbClr val="00B050"/>
                </a:solidFill>
                <a:latin typeface="Calibri"/>
              </a:rPr>
              <a:t>2</a:t>
            </a:r>
            <a:r>
              <a:rPr lang="en-GB" sz="2400" dirty="0" smtClean="0">
                <a:solidFill>
                  <a:prstClr val="black"/>
                </a:solidFill>
                <a:latin typeface="Calibri"/>
              </a:rPr>
              <a:t>H</a:t>
            </a:r>
            <a:r>
              <a:rPr lang="en-GB" sz="2400" baseline="-25000" dirty="0" smtClean="0">
                <a:solidFill>
                  <a:prstClr val="black"/>
                </a:solidFill>
                <a:latin typeface="Calibri"/>
              </a:rPr>
              <a:t>2</a:t>
            </a:r>
            <a:r>
              <a:rPr lang="en-GB" sz="2400" dirty="0" smtClean="0">
                <a:solidFill>
                  <a:prstClr val="black"/>
                </a:solidFill>
                <a:latin typeface="Calibri"/>
              </a:rPr>
              <a:t>O </a:t>
            </a:r>
            <a:r>
              <a:rPr lang="en-GB" sz="2400" b="1" dirty="0">
                <a:sym typeface="Wingdings" panose="05000000000000000000" pitchFamily="2" charset="2"/>
              </a:rPr>
              <a:t></a:t>
            </a:r>
            <a:r>
              <a:rPr lang="en-GB" sz="2400" dirty="0" smtClean="0">
                <a:solidFill>
                  <a:prstClr val="black"/>
                </a:solidFill>
                <a:latin typeface="Calibri"/>
              </a:rPr>
              <a:t>   </a:t>
            </a:r>
            <a:r>
              <a:rPr lang="en-GB" sz="2400" dirty="0" smtClean="0">
                <a:solidFill>
                  <a:srgbClr val="00B050"/>
                </a:solidFill>
                <a:latin typeface="Calibri"/>
              </a:rPr>
              <a:t>2</a:t>
            </a:r>
            <a:r>
              <a:rPr lang="en-GB" sz="2400" dirty="0" smtClean="0">
                <a:solidFill>
                  <a:prstClr val="black"/>
                </a:solidFill>
                <a:latin typeface="Calibri"/>
              </a:rPr>
              <a:t>LiOH + H</a:t>
            </a:r>
            <a:r>
              <a:rPr lang="en-GB" sz="2400" baseline="-25000" dirty="0" smtClean="0">
                <a:solidFill>
                  <a:prstClr val="black"/>
                </a:solidFill>
                <a:latin typeface="Calibri"/>
              </a:rPr>
              <a:t>2</a:t>
            </a:r>
          </a:p>
          <a:p>
            <a:pPr marL="914400" lvl="1" indent="-457200">
              <a:buFont typeface="+mj-lt"/>
              <a:buAutoNum type="alphaLcParenR"/>
              <a:defRPr/>
            </a:pPr>
            <a:r>
              <a:rPr kumimoji="0" lang="en-GB" sz="2400" b="0" i="0" u="none" strike="noStrike" kern="1200" cap="none" spc="0" normalizeH="0" baseline="0" noProof="0" dirty="0" smtClean="0">
                <a:ln>
                  <a:noFill/>
                </a:ln>
                <a:solidFill>
                  <a:srgbClr val="00B050"/>
                </a:solidFill>
                <a:effectLst/>
                <a:uLnTx/>
                <a:uFillTx/>
                <a:latin typeface="Calibri"/>
                <a:ea typeface="+mn-ea"/>
                <a:cs typeface="+mn-cs"/>
              </a:rPr>
              <a:t>4</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NH</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3</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 </a:t>
            </a:r>
            <a:r>
              <a:rPr kumimoji="0" lang="en-GB" sz="2400" b="0" i="0" u="none" strike="noStrike" kern="1200" cap="none" spc="0" normalizeH="0" baseline="0" noProof="0" dirty="0" smtClean="0">
                <a:ln>
                  <a:noFill/>
                </a:ln>
                <a:solidFill>
                  <a:srgbClr val="00B050"/>
                </a:solidFill>
                <a:effectLst/>
                <a:uLnTx/>
                <a:uFillTx/>
                <a:latin typeface="Calibri"/>
                <a:ea typeface="+mn-ea"/>
                <a:cs typeface="+mn-cs"/>
              </a:rPr>
              <a:t>5</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O</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 </a:t>
            </a:r>
            <a:r>
              <a:rPr lang="en-GB" sz="2400" b="1" dirty="0">
                <a:sym typeface="Wingdings" panose="05000000000000000000" pitchFamily="2" charset="2"/>
              </a:rPr>
              <a:t></a:t>
            </a:r>
            <a:r>
              <a:rPr kumimoji="0" lang="en-GB" sz="2400" b="0" i="0" u="none" strike="noStrike" kern="1200" cap="none" spc="0" normalizeH="0" noProof="0" dirty="0" smtClean="0">
                <a:ln>
                  <a:noFill/>
                </a:ln>
                <a:solidFill>
                  <a:prstClr val="black"/>
                </a:solidFill>
                <a:effectLst/>
                <a:uLnTx/>
                <a:uFillTx/>
                <a:latin typeface="Calibri"/>
                <a:ea typeface="+mn-ea"/>
                <a:cs typeface="+mn-cs"/>
              </a:rPr>
              <a:t>  </a:t>
            </a:r>
            <a:r>
              <a:rPr kumimoji="0" lang="en-GB" sz="2400" b="0" i="0" u="none" strike="noStrike" kern="1200" cap="none" spc="0" normalizeH="0" noProof="0" dirty="0" smtClean="0">
                <a:ln>
                  <a:noFill/>
                </a:ln>
                <a:solidFill>
                  <a:srgbClr val="00B050"/>
                </a:solidFill>
                <a:effectLst/>
                <a:uLnTx/>
                <a:uFillTx/>
                <a:latin typeface="Calibri"/>
                <a:ea typeface="+mn-ea"/>
                <a:cs typeface="+mn-cs"/>
              </a:rPr>
              <a:t>4</a:t>
            </a:r>
            <a:r>
              <a:rPr kumimoji="0" lang="en-GB" sz="2400" b="0" i="0" u="none" strike="noStrike" kern="1200" cap="none" spc="0" normalizeH="0" noProof="0" dirty="0" smtClean="0">
                <a:ln>
                  <a:noFill/>
                </a:ln>
                <a:solidFill>
                  <a:prstClr val="black"/>
                </a:solidFill>
                <a:effectLst/>
                <a:uLnTx/>
                <a:uFillTx/>
                <a:latin typeface="Calibri"/>
                <a:ea typeface="+mn-ea"/>
                <a:cs typeface="+mn-cs"/>
              </a:rPr>
              <a:t>NO + </a:t>
            </a:r>
            <a:r>
              <a:rPr kumimoji="0" lang="en-GB" sz="2400" b="0" i="0" u="none" strike="noStrike" kern="1200" cap="none" spc="0" normalizeH="0" noProof="0" dirty="0" smtClean="0">
                <a:ln>
                  <a:noFill/>
                </a:ln>
                <a:solidFill>
                  <a:srgbClr val="00B050"/>
                </a:solidFill>
                <a:effectLst/>
                <a:uLnTx/>
                <a:uFillTx/>
                <a:latin typeface="Calibri"/>
                <a:ea typeface="+mn-ea"/>
                <a:cs typeface="+mn-cs"/>
              </a:rPr>
              <a:t>6</a:t>
            </a:r>
            <a:r>
              <a:rPr kumimoji="0" lang="en-GB" sz="2400" b="0" i="0" u="none" strike="noStrike" kern="1200" cap="none" spc="0" normalizeH="0" noProof="0" dirty="0" smtClean="0">
                <a:ln>
                  <a:noFill/>
                </a:ln>
                <a:solidFill>
                  <a:prstClr val="black"/>
                </a:solidFill>
                <a:effectLst/>
                <a:uLnTx/>
                <a:uFillTx/>
                <a:latin typeface="Calibri"/>
                <a:ea typeface="+mn-ea"/>
                <a:cs typeface="+mn-cs"/>
              </a:rPr>
              <a:t>H</a:t>
            </a:r>
            <a:r>
              <a:rPr kumimoji="0" lang="en-GB" sz="2400" b="0" i="0" u="none" strike="noStrike" kern="1200" cap="none" spc="0" normalizeH="0" baseline="-25000" noProof="0" dirty="0" smtClean="0">
                <a:ln>
                  <a:noFill/>
                </a:ln>
                <a:solidFill>
                  <a:prstClr val="black"/>
                </a:solidFill>
                <a:effectLst/>
                <a:uLnTx/>
                <a:uFillTx/>
                <a:latin typeface="Calibri"/>
                <a:ea typeface="+mn-ea"/>
                <a:cs typeface="+mn-cs"/>
              </a:rPr>
              <a:t>2</a:t>
            </a:r>
            <a:r>
              <a:rPr kumimoji="0" lang="en-GB" sz="2400" b="0" i="0" u="none" strike="noStrike" kern="1200" cap="none" spc="0" normalizeH="0" noProof="0" dirty="0" smtClean="0">
                <a:ln>
                  <a:noFill/>
                </a:ln>
                <a:solidFill>
                  <a:prstClr val="black"/>
                </a:solidFill>
                <a:effectLst/>
                <a:uLnTx/>
                <a:uFillTx/>
                <a:latin typeface="Calibri"/>
                <a:ea typeface="+mn-ea"/>
                <a:cs typeface="+mn-cs"/>
              </a:rPr>
              <a:t>O</a:t>
            </a:r>
          </a:p>
          <a:p>
            <a:pPr marL="914400" lvl="1" indent="-457200">
              <a:buFont typeface="+mj-lt"/>
              <a:buAutoNum type="alphaLcParenR"/>
              <a:defRPr/>
            </a:pPr>
            <a:r>
              <a:rPr lang="en-GB" sz="2400" baseline="0" dirty="0" smtClean="0">
                <a:solidFill>
                  <a:srgbClr val="00B050"/>
                </a:solidFill>
                <a:latin typeface="Calibri"/>
              </a:rPr>
              <a:t>4</a:t>
            </a:r>
            <a:r>
              <a:rPr lang="en-GB" sz="2400" baseline="0" dirty="0" smtClean="0">
                <a:solidFill>
                  <a:prstClr val="black"/>
                </a:solidFill>
                <a:latin typeface="Calibri"/>
              </a:rPr>
              <a:t>K</a:t>
            </a:r>
            <a:r>
              <a:rPr lang="en-GB" sz="2400" dirty="0" smtClean="0">
                <a:solidFill>
                  <a:prstClr val="black"/>
                </a:solidFill>
                <a:latin typeface="Calibri"/>
              </a:rPr>
              <a:t> + O</a:t>
            </a:r>
            <a:r>
              <a:rPr lang="en-GB" sz="2400" baseline="-25000" dirty="0" smtClean="0">
                <a:solidFill>
                  <a:prstClr val="black"/>
                </a:solidFill>
                <a:latin typeface="Calibri"/>
              </a:rPr>
              <a:t>2</a:t>
            </a:r>
            <a:r>
              <a:rPr lang="en-GB" sz="2400" dirty="0" smtClean="0">
                <a:solidFill>
                  <a:prstClr val="black"/>
                </a:solidFill>
                <a:latin typeface="Calibri"/>
              </a:rPr>
              <a:t> </a:t>
            </a:r>
            <a:r>
              <a:rPr lang="en-GB" sz="2400" b="1" dirty="0">
                <a:sym typeface="Wingdings" panose="05000000000000000000" pitchFamily="2" charset="2"/>
              </a:rPr>
              <a:t></a:t>
            </a:r>
            <a:r>
              <a:rPr lang="en-GB" sz="2400" dirty="0" smtClean="0">
                <a:solidFill>
                  <a:prstClr val="black"/>
                </a:solidFill>
                <a:latin typeface="Calibri"/>
              </a:rPr>
              <a:t>  </a:t>
            </a:r>
            <a:r>
              <a:rPr lang="en-GB" sz="2400" dirty="0" smtClean="0">
                <a:solidFill>
                  <a:srgbClr val="00B050"/>
                </a:solidFill>
                <a:latin typeface="Calibri"/>
              </a:rPr>
              <a:t>2</a:t>
            </a:r>
            <a:r>
              <a:rPr lang="en-GB" sz="2400" dirty="0" smtClean="0">
                <a:solidFill>
                  <a:prstClr val="black"/>
                </a:solidFill>
                <a:latin typeface="Calibri"/>
              </a:rPr>
              <a:t>K</a:t>
            </a:r>
            <a:r>
              <a:rPr lang="en-GB" sz="2400" baseline="-25000" dirty="0" smtClean="0">
                <a:solidFill>
                  <a:prstClr val="black"/>
                </a:solidFill>
                <a:latin typeface="Calibri"/>
              </a:rPr>
              <a:t>2</a:t>
            </a:r>
            <a:r>
              <a:rPr lang="en-GB" sz="2400" dirty="0" smtClean="0">
                <a:solidFill>
                  <a:prstClr val="black"/>
                </a:solidFill>
                <a:latin typeface="Calibri"/>
              </a:rPr>
              <a:t>O</a:t>
            </a:r>
            <a:r>
              <a:rPr lang="en-GB" sz="2400" b="1" dirty="0" smtClean="0">
                <a:solidFill>
                  <a:prstClr val="black"/>
                </a:solidFill>
                <a:latin typeface="Calibri"/>
              </a:rPr>
              <a:t>    </a:t>
            </a:r>
            <a:r>
              <a:rPr lang="en-GB" sz="2400" b="1" dirty="0" smtClean="0">
                <a:solidFill>
                  <a:prstClr val="black"/>
                </a:solidFill>
                <a:sym typeface="Wingdings" panose="05000000000000000000" pitchFamily="2" charset="2"/>
              </a:rPr>
              <a:t> </a:t>
            </a:r>
            <a:r>
              <a:rPr lang="en-GB" sz="2400" b="1" baseline="-25000" dirty="0" smtClean="0">
                <a:solidFill>
                  <a:prstClr val="black"/>
                </a:solidFill>
              </a:rPr>
              <a:t> </a:t>
            </a:r>
            <a:endParaRPr lang="pt-BR" b="1" dirty="0"/>
          </a:p>
          <a:p>
            <a:pPr lvl="0"/>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22272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Chemical measurements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5786199"/>
          </a:xfrm>
          <a:prstGeom prst="rect">
            <a:avLst/>
          </a:prstGeom>
          <a:noFill/>
        </p:spPr>
        <p:txBody>
          <a:bodyPr wrap="square" rtlCol="0">
            <a:spAutoFit/>
          </a:bodyPr>
          <a:lstStyle/>
          <a:p>
            <a:pPr marL="457200" lvl="0" indent="-457200">
              <a:buFontTx/>
              <a:buAutoNum type="arabicPeriod"/>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How many atoms and elements are in the compound </a:t>
            </a:r>
            <a:r>
              <a:rPr lang="en-GB" sz="2400" dirty="0">
                <a:solidFill>
                  <a:prstClr val="black"/>
                </a:solidFill>
              </a:rPr>
              <a:t>sodium aluminate, NaAl(OH)</a:t>
            </a:r>
            <a:r>
              <a:rPr lang="en-GB" sz="2400" baseline="-25000" dirty="0">
                <a:solidFill>
                  <a:prstClr val="black"/>
                </a:solidFill>
              </a:rPr>
              <a:t>4</a:t>
            </a:r>
            <a:r>
              <a:rPr lang="en-GB" sz="2400" dirty="0">
                <a:solidFill>
                  <a:prstClr val="black"/>
                </a:solidFill>
              </a:rPr>
              <a:t>?</a:t>
            </a:r>
            <a:r>
              <a:rPr kumimoji="0" lang="en-GB" sz="2400" b="1" i="0" u="none" strike="noStrike" kern="1200" cap="none" spc="0" normalizeH="0" baseline="0" noProof="0" dirty="0" smtClean="0">
                <a:ln>
                  <a:noFill/>
                </a:ln>
                <a:solidFill>
                  <a:srgbClr val="00B050"/>
                </a:solidFill>
                <a:effectLst/>
                <a:uLnTx/>
                <a:uFillTx/>
                <a:latin typeface="Calibri"/>
                <a:ea typeface="+mn-ea"/>
                <a:cs typeface="+mn-cs"/>
              </a:rPr>
              <a:t>       </a:t>
            </a:r>
          </a:p>
          <a:p>
            <a:pPr lvl="0">
              <a:defRPr/>
            </a:pPr>
            <a:r>
              <a:rPr lang="en-GB" sz="2400" b="1" dirty="0">
                <a:solidFill>
                  <a:srgbClr val="00B050"/>
                </a:solidFill>
                <a:latin typeface="Calibri"/>
              </a:rPr>
              <a:t> </a:t>
            </a:r>
            <a:r>
              <a:rPr lang="en-GB" sz="2400" b="1" dirty="0" smtClean="0">
                <a:solidFill>
                  <a:srgbClr val="00B050"/>
                </a:solidFill>
                <a:latin typeface="Calibri"/>
              </a:rPr>
              <a:t>      </a:t>
            </a:r>
            <a:r>
              <a:rPr kumimoji="0" lang="en-GB" sz="2400" b="1" i="0" u="none" strike="noStrike" kern="1200" cap="none" spc="0" normalizeH="0" baseline="0" noProof="0" dirty="0" smtClean="0">
                <a:ln>
                  <a:noFill/>
                </a:ln>
                <a:solidFill>
                  <a:srgbClr val="00B050"/>
                </a:solidFill>
                <a:effectLst/>
                <a:uLnTx/>
                <a:uFillTx/>
                <a:latin typeface="Calibri"/>
                <a:ea typeface="+mn-ea"/>
                <a:cs typeface="+mn-cs"/>
              </a:rPr>
              <a:t>Four </a:t>
            </a:r>
            <a:r>
              <a:rPr kumimoji="0" lang="en-GB" sz="2400" b="1" i="0" u="none" strike="noStrike" kern="1200" cap="none" spc="0" normalizeH="0" baseline="0" noProof="0" dirty="0">
                <a:ln>
                  <a:noFill/>
                </a:ln>
                <a:solidFill>
                  <a:srgbClr val="00B050"/>
                </a:solidFill>
                <a:effectLst/>
                <a:uLnTx/>
                <a:uFillTx/>
                <a:latin typeface="Calibri"/>
                <a:ea typeface="+mn-ea"/>
                <a:cs typeface="+mn-cs"/>
              </a:rPr>
              <a:t>elements and ten atoms</a:t>
            </a:r>
            <a:r>
              <a:rPr kumimoji="0" lang="en-GB" sz="2400" b="1" i="0" u="none" strike="noStrike" kern="1200" cap="none" spc="0" normalizeH="0" baseline="0" noProof="0" dirty="0" smtClean="0">
                <a:ln>
                  <a:noFill/>
                </a:ln>
                <a:solidFill>
                  <a:srgbClr val="00B050"/>
                </a:solidFill>
                <a:effectLst/>
                <a:uLnTx/>
                <a:uFillTx/>
                <a:latin typeface="Calibri"/>
                <a:ea typeface="+mn-ea"/>
                <a:cs typeface="+mn-cs"/>
              </a:rPr>
              <a:t>.</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0">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2. </a:t>
            </a:r>
            <a:r>
              <a:rPr lang="en-GB" sz="2400" dirty="0">
                <a:solidFill>
                  <a:prstClr val="black"/>
                </a:solidFill>
              </a:rPr>
              <a:t>What do the following formulae tell you?</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dirty="0" smtClean="0">
                <a:solidFill>
                  <a:prstClr val="black"/>
                </a:solidFill>
                <a:latin typeface="Calibri"/>
              </a:rPr>
              <a:t>       </a:t>
            </a:r>
            <a:r>
              <a:rPr lang="en-GB" sz="2400" dirty="0">
                <a:solidFill>
                  <a:prstClr val="black"/>
                </a:solidFill>
                <a:latin typeface="Calibri"/>
              </a:rPr>
              <a:t>a) 2HCl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dirty="0">
                <a:solidFill>
                  <a:prstClr val="black"/>
                </a:solidFill>
                <a:latin typeface="Calibri"/>
              </a:rPr>
              <a:t>       </a:t>
            </a:r>
            <a:r>
              <a:rPr lang="en-GB" sz="2400" b="1" dirty="0">
                <a:solidFill>
                  <a:srgbClr val="00B050"/>
                </a:solidFill>
                <a:latin typeface="Calibri"/>
              </a:rPr>
              <a:t>Two molecules of hydrogen </a:t>
            </a:r>
            <a:r>
              <a:rPr lang="en-GB" sz="2400" b="1" dirty="0" smtClean="0">
                <a:solidFill>
                  <a:srgbClr val="00B050"/>
                </a:solidFill>
                <a:latin typeface="Calibri"/>
              </a:rPr>
              <a:t>chloride. Each molecule contains one 	hydrogen atom and one chlorine atom</a:t>
            </a:r>
            <a:endParaRPr lang="en-GB" sz="2400" dirty="0">
              <a:solidFill>
                <a:prstClr val="black"/>
              </a:solidFill>
              <a:latin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       b) Cl</a:t>
            </a:r>
            <a:r>
              <a:rPr kumimoji="0" lang="en-GB" sz="2400" b="0" i="0" u="none" strike="noStrike" kern="1200" cap="none" spc="0" normalizeH="0" baseline="-25000" noProof="0" dirty="0">
                <a:ln>
                  <a:noFill/>
                </a:ln>
                <a:solidFill>
                  <a:prstClr val="black"/>
                </a:solidFill>
                <a:effectLst/>
                <a:uLnTx/>
                <a:uFillTx/>
                <a:latin typeface="Calibri"/>
                <a:ea typeface="+mn-ea"/>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       </a:t>
            </a:r>
            <a:r>
              <a:rPr kumimoji="0" lang="en-GB" sz="2400" b="1" i="0" u="none" strike="noStrike" kern="1200" cap="none" spc="0" normalizeH="0" baseline="0" noProof="0" dirty="0">
                <a:ln>
                  <a:noFill/>
                </a:ln>
                <a:solidFill>
                  <a:srgbClr val="00B050"/>
                </a:solidFill>
                <a:effectLst/>
                <a:uLnTx/>
                <a:uFillTx/>
                <a:latin typeface="Calibri"/>
                <a:ea typeface="+mn-ea"/>
                <a:cs typeface="+mn-cs"/>
              </a:rPr>
              <a:t>One </a:t>
            </a:r>
            <a:r>
              <a:rPr kumimoji="0" lang="en-GB" sz="2400" b="1" i="0" u="none" strike="noStrike" kern="1200" cap="none" spc="0" normalizeH="0" baseline="0" noProof="0" dirty="0" smtClean="0">
                <a:ln>
                  <a:noFill/>
                </a:ln>
                <a:solidFill>
                  <a:srgbClr val="00B050"/>
                </a:solidFill>
                <a:effectLst/>
                <a:uLnTx/>
                <a:uFillTx/>
                <a:latin typeface="Calibri"/>
                <a:ea typeface="+mn-ea"/>
                <a:cs typeface="+mn-cs"/>
              </a:rPr>
              <a:t>molecule </a:t>
            </a:r>
            <a:r>
              <a:rPr kumimoji="0" lang="en-GB" sz="2400" b="1" i="0" u="none" strike="noStrike" kern="1200" cap="none" spc="0" normalizeH="0" baseline="0" noProof="0" dirty="0">
                <a:ln>
                  <a:noFill/>
                </a:ln>
                <a:solidFill>
                  <a:srgbClr val="00B050"/>
                </a:solidFill>
                <a:effectLst/>
                <a:uLnTx/>
                <a:uFillTx/>
                <a:latin typeface="Calibri"/>
                <a:ea typeface="+mn-ea"/>
                <a:cs typeface="+mn-cs"/>
              </a:rPr>
              <a:t>of chlorine made </a:t>
            </a:r>
            <a:r>
              <a:rPr kumimoji="0" lang="en-GB" sz="2400" b="1" i="0" u="none" strike="noStrike" kern="1200" cap="none" spc="0" normalizeH="0" baseline="0" noProof="0" dirty="0" smtClean="0">
                <a:ln>
                  <a:noFill/>
                </a:ln>
                <a:solidFill>
                  <a:srgbClr val="00B050"/>
                </a:solidFill>
                <a:effectLst/>
                <a:uLnTx/>
                <a:uFillTx/>
                <a:latin typeface="Calibri"/>
                <a:ea typeface="+mn-ea"/>
                <a:cs typeface="+mn-cs"/>
              </a:rPr>
              <a:t>of two </a:t>
            </a:r>
            <a:r>
              <a:rPr kumimoji="0" lang="en-GB" sz="2400" b="1" i="0" u="none" strike="noStrike" kern="1200" cap="none" spc="0" normalizeH="0" baseline="0" noProof="0" dirty="0">
                <a:ln>
                  <a:noFill/>
                </a:ln>
                <a:solidFill>
                  <a:srgbClr val="00B050"/>
                </a:solidFill>
                <a:effectLst/>
                <a:uLnTx/>
                <a:uFillTx/>
                <a:latin typeface="Calibri"/>
                <a:ea typeface="+mn-ea"/>
                <a:cs typeface="+mn-cs"/>
              </a:rPr>
              <a:t>atoms</a:t>
            </a:r>
            <a:r>
              <a:rPr kumimoji="0" lang="en-GB" sz="2400" b="1" i="0" u="none" strike="noStrike" kern="1200" cap="none" spc="0" normalizeH="0" baseline="0" noProof="0" dirty="0" smtClean="0">
                <a:ln>
                  <a:noFill/>
                </a:ln>
                <a:solidFill>
                  <a:srgbClr val="00B050"/>
                </a:solidFill>
                <a:effectLst/>
                <a:uLnTx/>
                <a:uFillTx/>
                <a:latin typeface="Calibri"/>
                <a:ea typeface="+mn-ea"/>
                <a:cs typeface="+mn-cs"/>
              </a:rPr>
              <a:t>.</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An aqueous solution of hydrogen peroxide (H</a:t>
            </a:r>
            <a:r>
              <a:rPr kumimoji="0" lang="en-GB" sz="2400" b="0" i="0" u="none" strike="noStrike" kern="1200" cap="none" spc="0" normalizeH="0" baseline="-25000" noProof="0" dirty="0">
                <a:ln>
                  <a:noFill/>
                </a:ln>
                <a:solidFill>
                  <a:prstClr val="black"/>
                </a:solidFill>
                <a:effectLst/>
                <a:uLnTx/>
                <a:uFillTx/>
                <a:latin typeface="Calibri"/>
                <a:ea typeface="+mn-ea"/>
                <a:cs typeface="+mn-cs"/>
              </a:rPr>
              <a:t>2</a:t>
            </a:r>
            <a:r>
              <a:rPr kumimoji="0" lang="en-GB" sz="2400" b="0" i="0" u="none" strike="noStrike" kern="1200" cap="none" spc="0" normalizeH="0" baseline="0" noProof="0" dirty="0">
                <a:ln>
                  <a:noFill/>
                </a:ln>
                <a:solidFill>
                  <a:prstClr val="black"/>
                </a:solidFill>
                <a:effectLst/>
                <a:uLnTx/>
                <a:uFillTx/>
                <a:latin typeface="Calibri"/>
                <a:ea typeface="+mn-ea"/>
                <a:cs typeface="+mn-cs"/>
              </a:rPr>
              <a:t>O</a:t>
            </a:r>
            <a:r>
              <a:rPr kumimoji="0" lang="en-GB" sz="2400" b="0" i="0" u="none" strike="noStrike" kern="1200" cap="none" spc="0" normalizeH="0" baseline="-25000" noProof="0" dirty="0">
                <a:ln>
                  <a:noFill/>
                </a:ln>
                <a:solidFill>
                  <a:prstClr val="black"/>
                </a:solidFill>
                <a:effectLst/>
                <a:uLnTx/>
                <a:uFillTx/>
                <a:latin typeface="Calibri"/>
                <a:ea typeface="+mn-ea"/>
                <a:cs typeface="+mn-cs"/>
              </a:rPr>
              <a:t>2</a:t>
            </a:r>
            <a:r>
              <a:rPr kumimoji="0" lang="en-GB" sz="2400" b="0" i="0" u="none" strike="noStrike" kern="1200" cap="none" spc="0" normalizeH="0" baseline="0" noProof="0" dirty="0">
                <a:ln>
                  <a:noFill/>
                </a:ln>
                <a:solidFill>
                  <a:prstClr val="black"/>
                </a:solidFill>
                <a:effectLst/>
                <a:uLnTx/>
                <a:uFillTx/>
                <a:latin typeface="Calibri"/>
                <a:ea typeface="+mn-ea"/>
                <a:cs typeface="+mn-cs"/>
              </a:rPr>
              <a:t>) decomposes to form water and oxygen.</a:t>
            </a:r>
          </a:p>
          <a:p>
            <a:pPr marR="0" lvl="0" algn="l" defTabSz="914400" rtl="0" eaLnBrk="1" fontAlgn="auto" latinLnBrk="0" hangingPunct="1">
              <a:lnSpc>
                <a:spcPct val="100000"/>
              </a:lnSpc>
              <a:spcBef>
                <a:spcPts val="0"/>
              </a:spcBef>
              <a:spcAft>
                <a:spcPts val="0"/>
              </a:spcAft>
              <a:buClrTx/>
              <a:buSzTx/>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       a) Write a balanced symbol equation for this reaction.  </a:t>
            </a:r>
            <a:r>
              <a:rPr lang="en-GB" sz="2400" dirty="0">
                <a:solidFill>
                  <a:prstClr val="black"/>
                </a:solidFill>
                <a:latin typeface="Calibri"/>
              </a:rPr>
              <a:t>Include  </a:t>
            </a:r>
          </a:p>
          <a:p>
            <a:pPr marR="0" lvl="0" algn="l" defTabSz="914400" rtl="0" eaLnBrk="1" fontAlgn="auto" latinLnBrk="0" hangingPunct="1">
              <a:lnSpc>
                <a:spcPct val="100000"/>
              </a:lnSpc>
              <a:spcBef>
                <a:spcPts val="0"/>
              </a:spcBef>
              <a:spcAft>
                <a:spcPts val="0"/>
              </a:spcAft>
              <a:buClrTx/>
              <a:buSzTx/>
              <a:tabLst/>
              <a:defRPr/>
            </a:pPr>
            <a:r>
              <a:rPr lang="en-GB" sz="2400" dirty="0">
                <a:solidFill>
                  <a:prstClr val="black"/>
                </a:solidFill>
                <a:latin typeface="Calibri"/>
              </a:rPr>
              <a:t>            the state symbols.</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0"/>
            <a:r>
              <a:rPr kumimoji="0" lang="en-GB" sz="2400" b="1" i="0" u="none" strike="noStrike" kern="1200" cap="none" spc="0" normalizeH="0" baseline="0" noProof="0" dirty="0">
                <a:ln>
                  <a:noFill/>
                </a:ln>
                <a:solidFill>
                  <a:srgbClr val="00B050"/>
                </a:solidFill>
                <a:effectLst/>
                <a:uLnTx/>
                <a:uFillTx/>
                <a:latin typeface="Calibri"/>
                <a:ea typeface="+mn-ea"/>
                <a:cs typeface="+mn-cs"/>
              </a:rPr>
              <a:t> </a:t>
            </a:r>
            <a:r>
              <a:rPr lang="en-GB" sz="2400" b="1" dirty="0">
                <a:solidFill>
                  <a:srgbClr val="00B050"/>
                </a:solidFill>
                <a:latin typeface="Calibri"/>
              </a:rPr>
              <a:t>           </a:t>
            </a:r>
            <a:r>
              <a:rPr kumimoji="0" lang="en-GB" sz="2400" b="1" i="0" u="none" strike="noStrike" kern="1200" cap="none" spc="0" normalizeH="0" baseline="0" noProof="0" dirty="0">
                <a:ln>
                  <a:noFill/>
                </a:ln>
                <a:solidFill>
                  <a:srgbClr val="00B050"/>
                </a:solidFill>
                <a:effectLst/>
                <a:uLnTx/>
                <a:uFillTx/>
                <a:latin typeface="Calibri"/>
                <a:ea typeface="+mn-ea"/>
                <a:cs typeface="+mn-cs"/>
              </a:rPr>
              <a:t>2</a:t>
            </a:r>
            <a:r>
              <a:rPr lang="en-GB" sz="2400" b="1" dirty="0">
                <a:solidFill>
                  <a:srgbClr val="00B050"/>
                </a:solidFill>
              </a:rPr>
              <a:t>H</a:t>
            </a:r>
            <a:r>
              <a:rPr lang="en-GB" sz="2400" b="1" baseline="-25000" dirty="0">
                <a:solidFill>
                  <a:srgbClr val="00B050"/>
                </a:solidFill>
              </a:rPr>
              <a:t>2</a:t>
            </a:r>
            <a:r>
              <a:rPr lang="en-GB" sz="2400" b="1" dirty="0">
                <a:solidFill>
                  <a:srgbClr val="00B050"/>
                </a:solidFill>
              </a:rPr>
              <a:t>O</a:t>
            </a:r>
            <a:r>
              <a:rPr lang="en-GB" sz="2400" b="1" baseline="-25000" dirty="0">
                <a:solidFill>
                  <a:srgbClr val="00B050"/>
                </a:solidFill>
              </a:rPr>
              <a:t>2 </a:t>
            </a:r>
            <a:r>
              <a:rPr lang="en-GB" sz="2400" b="1" dirty="0">
                <a:solidFill>
                  <a:srgbClr val="00B050"/>
                </a:solidFill>
              </a:rPr>
              <a:t>(</a:t>
            </a:r>
            <a:r>
              <a:rPr lang="en-GB" sz="2400" b="1" dirty="0" err="1">
                <a:solidFill>
                  <a:srgbClr val="00B050"/>
                </a:solidFill>
              </a:rPr>
              <a:t>aq</a:t>
            </a:r>
            <a:r>
              <a:rPr lang="en-GB" sz="2400" b="1" dirty="0">
                <a:solidFill>
                  <a:srgbClr val="00B050"/>
                </a:solidFill>
              </a:rPr>
              <a:t>) </a:t>
            </a:r>
            <a:r>
              <a:rPr lang="en-GB" sz="2400" b="1" dirty="0">
                <a:solidFill>
                  <a:srgbClr val="00B050"/>
                </a:solidFill>
                <a:sym typeface="Wingdings" panose="05000000000000000000" pitchFamily="2" charset="2"/>
              </a:rPr>
              <a:t> 2</a:t>
            </a:r>
            <a:r>
              <a:rPr lang="en-GB" sz="2400" b="1" dirty="0">
                <a:solidFill>
                  <a:srgbClr val="00B050"/>
                </a:solidFill>
              </a:rPr>
              <a:t>H</a:t>
            </a:r>
            <a:r>
              <a:rPr lang="en-GB" sz="2400" b="1" baseline="-25000" dirty="0">
                <a:solidFill>
                  <a:srgbClr val="00B050"/>
                </a:solidFill>
              </a:rPr>
              <a:t>2</a:t>
            </a:r>
            <a:r>
              <a:rPr lang="en-GB" sz="2400" b="1" dirty="0">
                <a:solidFill>
                  <a:srgbClr val="00B050"/>
                </a:solidFill>
              </a:rPr>
              <a:t>O </a:t>
            </a:r>
            <a:r>
              <a:rPr lang="en-GB" sz="2400" b="1" dirty="0">
                <a:solidFill>
                  <a:srgbClr val="00B050"/>
                </a:solidFill>
                <a:sym typeface="Wingdings" panose="05000000000000000000" pitchFamily="2" charset="2"/>
              </a:rPr>
              <a:t>(l) + </a:t>
            </a:r>
            <a:r>
              <a:rPr lang="en-GB" sz="2400" b="1" dirty="0">
                <a:solidFill>
                  <a:srgbClr val="00B050"/>
                </a:solidFill>
              </a:rPr>
              <a:t>O</a:t>
            </a:r>
            <a:r>
              <a:rPr lang="en-GB" sz="2400" b="1" baseline="-25000" dirty="0">
                <a:solidFill>
                  <a:srgbClr val="00B050"/>
                </a:solidFill>
              </a:rPr>
              <a:t>2</a:t>
            </a:r>
            <a:r>
              <a:rPr lang="en-GB" sz="2400" b="1" dirty="0">
                <a:solidFill>
                  <a:srgbClr val="00B050"/>
                </a:solidFill>
                <a:sym typeface="Wingdings" panose="05000000000000000000" pitchFamily="2" charset="2"/>
              </a:rPr>
              <a:t>(g) </a:t>
            </a:r>
            <a:r>
              <a:rPr lang="en-GB" sz="2400" b="1" baseline="-25000" dirty="0">
                <a:solidFill>
                  <a:srgbClr val="00B050"/>
                </a:solidFill>
              </a:rPr>
              <a:t> </a:t>
            </a:r>
            <a:endParaRPr lang="pt-BR" b="1" dirty="0">
              <a:solidFill>
                <a:srgbClr val="00B050"/>
              </a:solidFill>
            </a:endParaRPr>
          </a:p>
          <a:p>
            <a:pPr lvl="0"/>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4080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Chemical measurements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2092881"/>
          </a:xfrm>
          <a:prstGeom prst="rect">
            <a:avLst/>
          </a:prstGeom>
          <a:noFill/>
        </p:spPr>
        <p:txBody>
          <a:bodyPr wrap="square" rtlCol="0">
            <a:spAutoFit/>
          </a:bodyPr>
          <a:lstStyle/>
          <a:p>
            <a:pPr lvl="0">
              <a:defRPr/>
            </a:pPr>
            <a:r>
              <a:rPr lang="en-GB" sz="2400" dirty="0">
                <a:solidFill>
                  <a:prstClr val="black"/>
                </a:solidFill>
                <a:latin typeface="Calibri"/>
              </a:rPr>
              <a:t>       b) </a:t>
            </a:r>
            <a:r>
              <a:rPr lang="en-GB" sz="2400" dirty="0">
                <a:solidFill>
                  <a:prstClr val="black"/>
                </a:solidFill>
              </a:rPr>
              <a:t>Why does the water, produced during the reaction, have a 	lower </a:t>
            </a:r>
            <a:r>
              <a:rPr lang="en-GB" sz="2400" dirty="0" smtClean="0">
                <a:solidFill>
                  <a:prstClr val="black"/>
                </a:solidFill>
              </a:rPr>
              <a:t>mass than </a:t>
            </a:r>
            <a:r>
              <a:rPr lang="en-GB" sz="2400" dirty="0">
                <a:solidFill>
                  <a:prstClr val="black"/>
                </a:solidFill>
              </a:rPr>
              <a:t>the original hydrogen peroxide?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2400" dirty="0" smtClean="0">
                <a:solidFill>
                  <a:prstClr val="black"/>
                </a:solidFill>
                <a:latin typeface="Calibri"/>
              </a:rPr>
              <a:t>            </a:t>
            </a:r>
            <a:r>
              <a:rPr lang="en-GB" sz="2400" b="1" dirty="0">
                <a:solidFill>
                  <a:srgbClr val="00B050"/>
                </a:solidFill>
                <a:latin typeface="Calibri"/>
              </a:rPr>
              <a:t>Because the oxygen gas </a:t>
            </a:r>
            <a:r>
              <a:rPr lang="en-GB" sz="2400" b="1" dirty="0" smtClean="0">
                <a:solidFill>
                  <a:srgbClr val="00B050"/>
                </a:solidFill>
                <a:latin typeface="Calibri"/>
              </a:rPr>
              <a:t>produced during the reaction escaped 	into </a:t>
            </a:r>
            <a:r>
              <a:rPr lang="en-GB" sz="2400" b="1" dirty="0">
                <a:solidFill>
                  <a:srgbClr val="00B050"/>
                </a:solidFill>
                <a:latin typeface="Calibri"/>
              </a:rPr>
              <a:t>the atmosphere.</a:t>
            </a:r>
            <a:endParaRPr lang="en-GB" sz="2400" dirty="0">
              <a:solidFill>
                <a:prstClr val="black"/>
              </a:solidFill>
              <a:latin typeface="Calibri"/>
            </a:endParaRPr>
          </a:p>
          <a:p>
            <a:pPr lvl="0"/>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882832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047536"/>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Chemical Measurements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Relative formula mass</a:t>
            </a:r>
            <a:endParaRPr lang="en-GB" dirty="0"/>
          </a:p>
        </p:txBody>
      </p:sp>
    </p:spTree>
    <p:extLst>
      <p:ext uri="{BB962C8B-B14F-4D97-AF65-F5344CB8AC3E}">
        <p14:creationId xmlns:p14="http://schemas.microsoft.com/office/powerpoint/2010/main" val="562327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069B2A78-7E5E-4A73-85E7-7312D26DA0D9}"/>
              </a:ext>
            </a:extLst>
          </p:cNvPr>
          <p:cNvSpPr txBox="1"/>
          <p:nvPr/>
        </p:nvSpPr>
        <p:spPr>
          <a:xfrm>
            <a:off x="215710" y="692696"/>
            <a:ext cx="8563822" cy="5878532"/>
          </a:xfrm>
          <a:prstGeom prst="rect">
            <a:avLst/>
          </a:prstGeom>
          <a:noFill/>
        </p:spPr>
        <p:txBody>
          <a:bodyPr wrap="square" rtlCol="0">
            <a:spAutoFit/>
          </a:bodyPr>
          <a:lstStyle/>
          <a:p>
            <a:r>
              <a:rPr lang="en-GB" sz="2000" b="1" dirty="0"/>
              <a:t>Relative formula mass (M</a:t>
            </a:r>
            <a:r>
              <a:rPr lang="en-GB" sz="2000" b="1" baseline="-25000" dirty="0"/>
              <a:t>r</a:t>
            </a:r>
            <a:r>
              <a:rPr lang="en-GB" sz="2000" b="1" dirty="0"/>
              <a:t>) </a:t>
            </a:r>
            <a:r>
              <a:rPr lang="en-GB" sz="2000" dirty="0"/>
              <a:t>of a compound is the </a:t>
            </a:r>
            <a:r>
              <a:rPr lang="en-GB" sz="2000" b="1" dirty="0"/>
              <a:t>sum</a:t>
            </a:r>
            <a:r>
              <a:rPr lang="en-GB" sz="2000" dirty="0"/>
              <a:t> of the </a:t>
            </a:r>
            <a:r>
              <a:rPr lang="en-GB" sz="2000" b="1" dirty="0"/>
              <a:t>relative atomic masses </a:t>
            </a:r>
            <a:r>
              <a:rPr lang="en-GB" sz="2000" dirty="0"/>
              <a:t>of the atoms in the numbers shown in the </a:t>
            </a:r>
            <a:r>
              <a:rPr lang="en-GB" sz="2000" b="1" dirty="0"/>
              <a:t>formula</a:t>
            </a:r>
            <a:r>
              <a:rPr lang="en-GB" sz="2000" dirty="0"/>
              <a:t>. </a:t>
            </a:r>
            <a:endParaRPr lang="en-GB" sz="2000" dirty="0" smtClean="0"/>
          </a:p>
          <a:p>
            <a:pPr algn="ctr"/>
            <a:r>
              <a:rPr lang="en-GB" sz="2000" b="1" u="sng" dirty="0" smtClean="0">
                <a:solidFill>
                  <a:schemeClr val="accent6">
                    <a:lumMod val="75000"/>
                  </a:schemeClr>
                </a:solidFill>
              </a:rPr>
              <a:t>The relative atomic masses can be found in the periodic table</a:t>
            </a:r>
            <a:endParaRPr lang="en-GB" sz="2000" b="1" u="sng" dirty="0">
              <a:solidFill>
                <a:schemeClr val="accent6">
                  <a:lumMod val="75000"/>
                </a:schemeClr>
              </a:solidFill>
            </a:endParaRPr>
          </a:p>
          <a:p>
            <a:endParaRPr lang="en-GB" dirty="0">
              <a:sym typeface="Wingdings" panose="05000000000000000000" pitchFamily="2" charset="2"/>
            </a:endParaRPr>
          </a:p>
          <a:p>
            <a:endParaRPr lang="en-GB" dirty="0">
              <a:sym typeface="Wingdings" panose="05000000000000000000" pitchFamily="2" charset="2"/>
            </a:endParaRPr>
          </a:p>
          <a:p>
            <a:endParaRPr lang="en-GB" dirty="0">
              <a:sym typeface="Wingdings" panose="05000000000000000000" pitchFamily="2" charset="2"/>
            </a:endParaRPr>
          </a:p>
          <a:p>
            <a:endParaRPr lang="en-GB" dirty="0">
              <a:sym typeface="Wingdings" panose="05000000000000000000" pitchFamily="2" charset="2"/>
            </a:endParaRPr>
          </a:p>
          <a:p>
            <a:endParaRPr lang="en-GB" dirty="0">
              <a:sym typeface="Wingdings" panose="05000000000000000000" pitchFamily="2" charset="2"/>
            </a:endParaRPr>
          </a:p>
          <a:p>
            <a:endParaRPr lang="en-GB" dirty="0">
              <a:sym typeface="Wingdings" panose="05000000000000000000" pitchFamily="2" charset="2"/>
            </a:endParaRPr>
          </a:p>
          <a:p>
            <a:endParaRPr lang="en-GB" dirty="0">
              <a:sym typeface="Wingdings" panose="05000000000000000000" pitchFamily="2" charset="2"/>
            </a:endParaRPr>
          </a:p>
          <a:p>
            <a:endParaRPr lang="en-GB" dirty="0">
              <a:sym typeface="Wingdings" panose="05000000000000000000" pitchFamily="2" charset="2"/>
            </a:endParaRPr>
          </a:p>
          <a:p>
            <a:endParaRPr lang="en-GB" dirty="0">
              <a:sym typeface="Wingdings" panose="05000000000000000000" pitchFamily="2" charset="2"/>
            </a:endParaRPr>
          </a:p>
          <a:p>
            <a:endParaRPr lang="en-GB" dirty="0">
              <a:sym typeface="Wingdings" panose="05000000000000000000" pitchFamily="2" charset="2"/>
            </a:endParaRPr>
          </a:p>
          <a:p>
            <a:endParaRPr lang="en-GB" dirty="0">
              <a:sym typeface="Wingdings" panose="05000000000000000000" pitchFamily="2" charset="2"/>
            </a:endParaRPr>
          </a:p>
          <a:p>
            <a:endParaRPr lang="en-GB" dirty="0">
              <a:sym typeface="Wingdings" panose="05000000000000000000" pitchFamily="2" charset="2"/>
            </a:endParaRPr>
          </a:p>
          <a:p>
            <a:r>
              <a:rPr lang="en-GB" sz="2000" dirty="0" smtClean="0">
                <a:sym typeface="Wingdings" panose="05000000000000000000" pitchFamily="2" charset="2"/>
              </a:rPr>
              <a:t>In </a:t>
            </a:r>
            <a:r>
              <a:rPr lang="en-GB" sz="2000" dirty="0">
                <a:sym typeface="Wingdings" panose="05000000000000000000" pitchFamily="2" charset="2"/>
              </a:rPr>
              <a:t>a </a:t>
            </a:r>
            <a:r>
              <a:rPr lang="en-GB" sz="2000" dirty="0" smtClean="0">
                <a:sym typeface="Wingdings" panose="05000000000000000000" pitchFamily="2" charset="2"/>
              </a:rPr>
              <a:t>balanced </a:t>
            </a:r>
            <a:r>
              <a:rPr lang="en-GB" sz="2000" dirty="0">
                <a:sym typeface="Wingdings" panose="05000000000000000000" pitchFamily="2" charset="2"/>
              </a:rPr>
              <a:t>chemical equation, the </a:t>
            </a:r>
            <a:r>
              <a:rPr lang="en-GB" sz="2000" b="1" dirty="0">
                <a:sym typeface="Wingdings" panose="05000000000000000000" pitchFamily="2" charset="2"/>
              </a:rPr>
              <a:t>sum</a:t>
            </a:r>
            <a:r>
              <a:rPr lang="en-GB" sz="2000" dirty="0">
                <a:sym typeface="Wingdings" panose="05000000000000000000" pitchFamily="2" charset="2"/>
              </a:rPr>
              <a:t> of the relative formula masses of the</a:t>
            </a:r>
            <a:r>
              <a:rPr lang="en-GB" sz="2000" b="1" dirty="0">
                <a:sym typeface="Wingdings" panose="05000000000000000000" pitchFamily="2" charset="2"/>
              </a:rPr>
              <a:t> reactants equals</a:t>
            </a:r>
            <a:r>
              <a:rPr lang="en-GB" sz="2000" dirty="0">
                <a:sym typeface="Wingdings" panose="05000000000000000000" pitchFamily="2" charset="2"/>
              </a:rPr>
              <a:t> the </a:t>
            </a:r>
            <a:r>
              <a:rPr lang="en-GB" sz="2000" b="1" dirty="0">
                <a:sym typeface="Wingdings" panose="05000000000000000000" pitchFamily="2" charset="2"/>
              </a:rPr>
              <a:t>sum</a:t>
            </a:r>
            <a:r>
              <a:rPr lang="en-GB" sz="2000" dirty="0">
                <a:sym typeface="Wingdings" panose="05000000000000000000" pitchFamily="2" charset="2"/>
              </a:rPr>
              <a:t> of the relative formula masses of the </a:t>
            </a:r>
            <a:r>
              <a:rPr lang="en-GB" sz="2000" b="1" dirty="0">
                <a:sym typeface="Wingdings" panose="05000000000000000000" pitchFamily="2" charset="2"/>
              </a:rPr>
              <a:t>products</a:t>
            </a:r>
            <a:r>
              <a:rPr lang="en-GB" sz="2000" dirty="0">
                <a:sym typeface="Wingdings" panose="05000000000000000000" pitchFamily="2" charset="2"/>
              </a:rPr>
              <a:t>.</a:t>
            </a:r>
          </a:p>
          <a:p>
            <a:r>
              <a:rPr lang="en-GB" sz="2000" dirty="0" smtClean="0">
                <a:sym typeface="Wingdings" panose="05000000000000000000" pitchFamily="2" charset="2"/>
              </a:rPr>
              <a:t>For </a:t>
            </a:r>
            <a:r>
              <a:rPr lang="en-GB" sz="2000" dirty="0">
                <a:sym typeface="Wingdings" panose="05000000000000000000" pitchFamily="2" charset="2"/>
              </a:rPr>
              <a:t>example:</a:t>
            </a:r>
            <a:r>
              <a:rPr lang="en-GB" sz="2000" b="1" dirty="0">
                <a:solidFill>
                  <a:schemeClr val="accent6">
                    <a:lumMod val="75000"/>
                  </a:schemeClr>
                </a:solidFill>
              </a:rPr>
              <a:t>		      2</a:t>
            </a:r>
            <a:r>
              <a:rPr lang="en-GB" sz="2000" b="1" dirty="0"/>
              <a:t>Mg + O</a:t>
            </a:r>
            <a:r>
              <a:rPr lang="en-GB" sz="2000" b="1" baseline="-25000" dirty="0"/>
              <a:t>2</a:t>
            </a:r>
            <a:r>
              <a:rPr lang="en-GB" sz="2000" b="1" dirty="0"/>
              <a:t> </a:t>
            </a:r>
            <a:r>
              <a:rPr lang="en-GB" sz="2000" b="1" dirty="0">
                <a:sym typeface="Wingdings" panose="05000000000000000000" pitchFamily="2" charset="2"/>
              </a:rPr>
              <a:t> </a:t>
            </a:r>
            <a:r>
              <a:rPr lang="en-GB" sz="2000" b="1" dirty="0">
                <a:solidFill>
                  <a:schemeClr val="accent6">
                    <a:lumMod val="75000"/>
                  </a:schemeClr>
                </a:solidFill>
                <a:sym typeface="Wingdings" panose="05000000000000000000" pitchFamily="2" charset="2"/>
              </a:rPr>
              <a:t>2</a:t>
            </a:r>
            <a:r>
              <a:rPr lang="en-GB" sz="2000" b="1" dirty="0">
                <a:sym typeface="Wingdings" panose="05000000000000000000" pitchFamily="2" charset="2"/>
              </a:rPr>
              <a:t>MgO</a:t>
            </a:r>
          </a:p>
          <a:p>
            <a:r>
              <a:rPr lang="en-GB" sz="2000" dirty="0"/>
              <a:t>                                           </a:t>
            </a:r>
            <a:r>
              <a:rPr lang="en-GB" sz="2000" dirty="0" smtClean="0"/>
              <a:t>  </a:t>
            </a:r>
            <a:r>
              <a:rPr lang="en-GB" sz="2000" dirty="0"/>
              <a:t>(2x24) + (2x16) </a:t>
            </a:r>
            <a:r>
              <a:rPr lang="en-GB" sz="2000" dirty="0">
                <a:sym typeface="Wingdings" panose="05000000000000000000" pitchFamily="2" charset="2"/>
              </a:rPr>
              <a:t> 2 x (24+16)</a:t>
            </a:r>
          </a:p>
          <a:p>
            <a:r>
              <a:rPr lang="en-GB" sz="2000" dirty="0">
                <a:sym typeface="Wingdings" panose="05000000000000000000" pitchFamily="2" charset="2"/>
              </a:rPr>
              <a:t>                                                                  </a:t>
            </a:r>
            <a:r>
              <a:rPr lang="en-GB" sz="2000" dirty="0" smtClean="0">
                <a:sym typeface="Wingdings" panose="05000000000000000000" pitchFamily="2" charset="2"/>
              </a:rPr>
              <a:t>  </a:t>
            </a:r>
            <a:r>
              <a:rPr lang="en-GB" sz="2000" dirty="0">
                <a:sym typeface="Wingdings" panose="05000000000000000000" pitchFamily="2" charset="2"/>
              </a:rPr>
              <a:t>80  80</a:t>
            </a:r>
            <a:endParaRPr lang="en-GB" sz="2000" dirty="0"/>
          </a:p>
        </p:txBody>
      </p:sp>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Chemical measurements - PART 2</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Rectangle 4">
            <a:extLst>
              <a:ext uri="{FF2B5EF4-FFF2-40B4-BE49-F238E27FC236}">
                <a16:creationId xmlns:a16="http://schemas.microsoft.com/office/drawing/2014/main" xmlns="" id="{7661A214-67F4-4BB4-BD48-FB86C4D73215}"/>
              </a:ext>
            </a:extLst>
          </p:cNvPr>
          <p:cNvSpPr/>
          <p:nvPr/>
        </p:nvSpPr>
        <p:spPr>
          <a:xfrm>
            <a:off x="448889" y="1660503"/>
            <a:ext cx="3888432" cy="1726250"/>
          </a:xfrm>
          <a:prstGeom prst="rect">
            <a:avLst/>
          </a:prstGeom>
          <a:solidFill>
            <a:schemeClr val="accent6">
              <a:lumMod val="20000"/>
              <a:lumOff val="80000"/>
            </a:schemeClr>
          </a:solid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400" b="1" dirty="0" err="1">
                <a:solidFill>
                  <a:schemeClr val="tx1"/>
                </a:solidFill>
              </a:rPr>
              <a:t>NaCl</a:t>
            </a:r>
            <a:endParaRPr lang="en-GB" b="1" dirty="0">
              <a:solidFill>
                <a:schemeClr val="tx1"/>
              </a:solidFill>
            </a:endParaRPr>
          </a:p>
          <a:p>
            <a:pPr algn="ctr"/>
            <a:r>
              <a:rPr lang="en-GB" sz="2000" i="1" dirty="0">
                <a:solidFill>
                  <a:schemeClr val="tx1"/>
                </a:solidFill>
              </a:rPr>
              <a:t>(1 x Na + 1 x Cl)</a:t>
            </a:r>
          </a:p>
          <a:p>
            <a:pPr algn="ctr"/>
            <a:r>
              <a:rPr lang="en-GB" sz="2000" dirty="0" err="1">
                <a:solidFill>
                  <a:schemeClr val="tx1"/>
                </a:solidFill>
              </a:rPr>
              <a:t>A</a:t>
            </a:r>
            <a:r>
              <a:rPr lang="en-GB" sz="2000" baseline="-25000" dirty="0" err="1">
                <a:solidFill>
                  <a:schemeClr val="tx1"/>
                </a:solidFill>
              </a:rPr>
              <a:t>r</a:t>
            </a:r>
            <a:r>
              <a:rPr lang="en-GB" sz="2000" dirty="0">
                <a:solidFill>
                  <a:schemeClr val="tx1"/>
                </a:solidFill>
              </a:rPr>
              <a:t>:  Na (23)  Cl (35.5)</a:t>
            </a:r>
          </a:p>
          <a:p>
            <a:pPr algn="ctr"/>
            <a:endParaRPr lang="en-GB" sz="2000" dirty="0">
              <a:solidFill>
                <a:schemeClr val="tx1"/>
              </a:solidFill>
            </a:endParaRPr>
          </a:p>
          <a:p>
            <a:pPr algn="ctr"/>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 23 + 35.5 = 58.5</a:t>
            </a:r>
          </a:p>
        </p:txBody>
      </p:sp>
      <p:sp>
        <p:nvSpPr>
          <p:cNvPr id="6" name="Rectangle 5">
            <a:extLst>
              <a:ext uri="{FF2B5EF4-FFF2-40B4-BE49-F238E27FC236}">
                <a16:creationId xmlns:a16="http://schemas.microsoft.com/office/drawing/2014/main" xmlns="" id="{2624394A-19CA-41D9-9467-EB5D5F493B78}"/>
              </a:ext>
            </a:extLst>
          </p:cNvPr>
          <p:cNvSpPr/>
          <p:nvPr/>
        </p:nvSpPr>
        <p:spPr>
          <a:xfrm>
            <a:off x="4724400" y="1692424"/>
            <a:ext cx="4065131" cy="1726250"/>
          </a:xfrm>
          <a:prstGeom prst="rect">
            <a:avLst/>
          </a:prstGeom>
          <a:solidFill>
            <a:schemeClr val="accent6">
              <a:lumMod val="20000"/>
              <a:lumOff val="80000"/>
            </a:schemeClr>
          </a:solid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400" b="1" dirty="0">
                <a:solidFill>
                  <a:schemeClr val="tx1"/>
                </a:solidFill>
              </a:rPr>
              <a:t>H</a:t>
            </a:r>
            <a:r>
              <a:rPr lang="en-GB" sz="2400" b="1" baseline="-25000" dirty="0">
                <a:solidFill>
                  <a:schemeClr val="tx1"/>
                </a:solidFill>
              </a:rPr>
              <a:t>2</a:t>
            </a:r>
            <a:r>
              <a:rPr lang="en-GB" sz="2400" b="1" dirty="0">
                <a:solidFill>
                  <a:schemeClr val="tx1"/>
                </a:solidFill>
              </a:rPr>
              <a:t>O</a:t>
            </a:r>
          </a:p>
          <a:p>
            <a:pPr algn="ctr"/>
            <a:r>
              <a:rPr lang="en-GB" sz="2000" i="1" dirty="0">
                <a:solidFill>
                  <a:schemeClr val="tx1"/>
                </a:solidFill>
              </a:rPr>
              <a:t>(2 x H + 1 x O)</a:t>
            </a:r>
          </a:p>
          <a:p>
            <a:pPr algn="ctr"/>
            <a:r>
              <a:rPr lang="en-GB" sz="2000" dirty="0" err="1">
                <a:solidFill>
                  <a:schemeClr val="tx1"/>
                </a:solidFill>
              </a:rPr>
              <a:t>A</a:t>
            </a:r>
            <a:r>
              <a:rPr lang="en-GB" sz="2000" baseline="-25000" dirty="0" err="1">
                <a:solidFill>
                  <a:schemeClr val="tx1"/>
                </a:solidFill>
              </a:rPr>
              <a:t>r</a:t>
            </a:r>
            <a:r>
              <a:rPr lang="en-GB" sz="2000" dirty="0">
                <a:solidFill>
                  <a:schemeClr val="tx1"/>
                </a:solidFill>
              </a:rPr>
              <a:t>: H (1)  O (16)</a:t>
            </a:r>
          </a:p>
          <a:p>
            <a:pPr algn="ctr"/>
            <a:endParaRPr lang="en-GB" sz="2000" dirty="0">
              <a:solidFill>
                <a:schemeClr val="tx1"/>
              </a:solidFill>
            </a:endParaRPr>
          </a:p>
          <a:p>
            <a:pPr algn="ctr"/>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 (1 x 2) + 16 = 18</a:t>
            </a:r>
          </a:p>
        </p:txBody>
      </p:sp>
      <p:sp>
        <p:nvSpPr>
          <p:cNvPr id="8" name="Rectangle 7">
            <a:extLst>
              <a:ext uri="{FF2B5EF4-FFF2-40B4-BE49-F238E27FC236}">
                <a16:creationId xmlns:a16="http://schemas.microsoft.com/office/drawing/2014/main" xmlns="" id="{B5E8D209-4131-4DBD-A539-93B67BA2DC3D}"/>
              </a:ext>
            </a:extLst>
          </p:cNvPr>
          <p:cNvSpPr/>
          <p:nvPr/>
        </p:nvSpPr>
        <p:spPr>
          <a:xfrm>
            <a:off x="438889" y="3320774"/>
            <a:ext cx="3898431" cy="1584176"/>
          </a:xfrm>
          <a:prstGeom prst="rect">
            <a:avLst/>
          </a:prstGeom>
          <a:solidFill>
            <a:schemeClr val="accent6">
              <a:lumMod val="20000"/>
              <a:lumOff val="80000"/>
            </a:schemeClr>
          </a:solid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400" b="1" dirty="0">
                <a:solidFill>
                  <a:schemeClr val="tx1"/>
                </a:solidFill>
              </a:rPr>
              <a:t>H</a:t>
            </a:r>
            <a:r>
              <a:rPr lang="en-GB" sz="2400" b="1" baseline="-25000" dirty="0">
                <a:solidFill>
                  <a:schemeClr val="tx1"/>
                </a:solidFill>
              </a:rPr>
              <a:t>2</a:t>
            </a:r>
            <a:r>
              <a:rPr lang="en-GB" sz="2400" b="1" dirty="0">
                <a:solidFill>
                  <a:schemeClr val="tx1"/>
                </a:solidFill>
              </a:rPr>
              <a:t>SO</a:t>
            </a:r>
            <a:r>
              <a:rPr lang="en-GB" sz="2400" b="1" baseline="-25000" dirty="0">
                <a:solidFill>
                  <a:schemeClr val="tx1"/>
                </a:solidFill>
              </a:rPr>
              <a:t>4</a:t>
            </a:r>
            <a:endParaRPr lang="en-GB" b="1" baseline="-25000" dirty="0">
              <a:solidFill>
                <a:schemeClr val="tx1"/>
              </a:solidFill>
            </a:endParaRPr>
          </a:p>
          <a:p>
            <a:pPr algn="ctr"/>
            <a:r>
              <a:rPr lang="en-GB" sz="2000" i="1" dirty="0">
                <a:solidFill>
                  <a:schemeClr val="tx1"/>
                </a:solidFill>
              </a:rPr>
              <a:t>(2 x H + 1 x S + 4 x O)</a:t>
            </a:r>
          </a:p>
          <a:p>
            <a:pPr algn="ctr"/>
            <a:r>
              <a:rPr lang="en-GB" sz="2000" dirty="0" err="1">
                <a:solidFill>
                  <a:schemeClr val="tx1"/>
                </a:solidFill>
              </a:rPr>
              <a:t>A</a:t>
            </a:r>
            <a:r>
              <a:rPr lang="en-GB" sz="2000" baseline="-25000" dirty="0" err="1">
                <a:solidFill>
                  <a:schemeClr val="tx1"/>
                </a:solidFill>
              </a:rPr>
              <a:t>r</a:t>
            </a:r>
            <a:r>
              <a:rPr lang="en-GB" sz="2000" dirty="0">
                <a:solidFill>
                  <a:schemeClr val="tx1"/>
                </a:solidFill>
              </a:rPr>
              <a:t>:  H (1)  S (32)   O (16)</a:t>
            </a:r>
          </a:p>
          <a:p>
            <a:pPr algn="ctr"/>
            <a:endParaRPr lang="en-GB" sz="2000" dirty="0">
              <a:solidFill>
                <a:schemeClr val="tx1"/>
              </a:solidFill>
            </a:endParaRPr>
          </a:p>
          <a:p>
            <a:pPr algn="ctr"/>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 (1x2) + 32 + (16x4) = 98</a:t>
            </a:r>
          </a:p>
        </p:txBody>
      </p:sp>
      <p:sp>
        <p:nvSpPr>
          <p:cNvPr id="9" name="Rectangle 8">
            <a:extLst>
              <a:ext uri="{FF2B5EF4-FFF2-40B4-BE49-F238E27FC236}">
                <a16:creationId xmlns:a16="http://schemas.microsoft.com/office/drawing/2014/main" xmlns="" id="{49A26A80-7528-4C46-A72F-9CE608930777}"/>
              </a:ext>
            </a:extLst>
          </p:cNvPr>
          <p:cNvSpPr/>
          <p:nvPr/>
        </p:nvSpPr>
        <p:spPr>
          <a:xfrm>
            <a:off x="4724400" y="3320774"/>
            <a:ext cx="4055132" cy="1594502"/>
          </a:xfrm>
          <a:prstGeom prst="rect">
            <a:avLst/>
          </a:prstGeom>
          <a:solidFill>
            <a:schemeClr val="accent6">
              <a:lumMod val="20000"/>
              <a:lumOff val="80000"/>
            </a:schemeClr>
          </a:solid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400" b="1" dirty="0">
                <a:solidFill>
                  <a:schemeClr val="tx1"/>
                </a:solidFill>
              </a:rPr>
              <a:t>Al</a:t>
            </a:r>
            <a:r>
              <a:rPr lang="en-GB" sz="2400" b="1" baseline="-25000" dirty="0">
                <a:solidFill>
                  <a:schemeClr val="tx1"/>
                </a:solidFill>
              </a:rPr>
              <a:t>2</a:t>
            </a:r>
            <a:r>
              <a:rPr lang="en-GB" sz="2400" b="1" dirty="0">
                <a:solidFill>
                  <a:schemeClr val="tx1"/>
                </a:solidFill>
              </a:rPr>
              <a:t>(SO</a:t>
            </a:r>
            <a:r>
              <a:rPr lang="en-GB" sz="2400" b="1" baseline="-25000" dirty="0">
                <a:solidFill>
                  <a:schemeClr val="tx1"/>
                </a:solidFill>
              </a:rPr>
              <a:t>4</a:t>
            </a:r>
            <a:r>
              <a:rPr lang="en-GB" sz="2400" b="1" dirty="0">
                <a:solidFill>
                  <a:schemeClr val="tx1"/>
                </a:solidFill>
              </a:rPr>
              <a:t>)</a:t>
            </a:r>
            <a:r>
              <a:rPr lang="en-GB" sz="2400" b="1" baseline="-25000" dirty="0">
                <a:solidFill>
                  <a:schemeClr val="tx1"/>
                </a:solidFill>
              </a:rPr>
              <a:t>3</a:t>
            </a:r>
            <a:endParaRPr lang="en-GB" b="1" baseline="-25000" dirty="0">
              <a:solidFill>
                <a:schemeClr val="tx1"/>
              </a:solidFill>
            </a:endParaRPr>
          </a:p>
          <a:p>
            <a:pPr algn="ctr"/>
            <a:r>
              <a:rPr lang="en-GB" sz="2000" i="1" dirty="0">
                <a:solidFill>
                  <a:schemeClr val="tx1"/>
                </a:solidFill>
              </a:rPr>
              <a:t>(2 x Al + 3 x S + 12 x O)</a:t>
            </a:r>
          </a:p>
          <a:p>
            <a:pPr algn="ctr"/>
            <a:r>
              <a:rPr lang="en-GB" sz="2000" dirty="0" err="1">
                <a:solidFill>
                  <a:schemeClr val="tx1"/>
                </a:solidFill>
              </a:rPr>
              <a:t>A</a:t>
            </a:r>
            <a:r>
              <a:rPr lang="en-GB" sz="2000" baseline="-25000" dirty="0" err="1">
                <a:solidFill>
                  <a:schemeClr val="tx1"/>
                </a:solidFill>
              </a:rPr>
              <a:t>r</a:t>
            </a:r>
            <a:r>
              <a:rPr lang="en-GB" sz="2000" dirty="0">
                <a:solidFill>
                  <a:schemeClr val="tx1"/>
                </a:solidFill>
              </a:rPr>
              <a:t>:  Al (27)  S (32) O (16)</a:t>
            </a:r>
          </a:p>
          <a:p>
            <a:pPr algn="ctr"/>
            <a:endParaRPr lang="en-GB" sz="2000" dirty="0">
              <a:solidFill>
                <a:schemeClr val="tx1"/>
              </a:solidFill>
            </a:endParaRPr>
          </a:p>
          <a:p>
            <a:pPr algn="ctr"/>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 (27x2) + (32x3) + (16x12) = 342</a:t>
            </a:r>
          </a:p>
        </p:txBody>
      </p:sp>
    </p:spTree>
    <p:extLst>
      <p:ext uri="{BB962C8B-B14F-4D97-AF65-F5344CB8AC3E}">
        <p14:creationId xmlns:p14="http://schemas.microsoft.com/office/powerpoint/2010/main" val="12193687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216539"/>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Chemical Measurements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Relative formula mass</a:t>
            </a:r>
            <a:endParaRPr lang="en-GB" dirty="0"/>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17283297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Chemical measurements–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5370701"/>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What is the relative formula mass of a compound?</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0"/>
            <a:r>
              <a:rPr kumimoji="0" lang="en-GB" sz="2400" b="1" i="0" u="none" strike="noStrike" kern="1200" cap="none" spc="0" normalizeH="0" baseline="0" noProof="0" dirty="0">
                <a:ln>
                  <a:noFill/>
                </a:ln>
                <a:solidFill>
                  <a:srgbClr val="00B050"/>
                </a:solidFill>
                <a:effectLst/>
                <a:uLnTx/>
                <a:uFillTx/>
                <a:latin typeface="Calibri"/>
                <a:ea typeface="+mn-ea"/>
                <a:cs typeface="+mn-cs"/>
              </a:rPr>
              <a:t>      </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the relative formula mass of:</a:t>
            </a:r>
          </a:p>
          <a:p>
            <a:pPr lvl="0"/>
            <a:r>
              <a:rPr lang="en-GB" sz="2400" dirty="0">
                <a:solidFill>
                  <a:prstClr val="black"/>
                </a:solidFill>
                <a:latin typeface="Calibri"/>
              </a:rPr>
              <a:t>       a) MgCl</a:t>
            </a:r>
            <a:r>
              <a:rPr lang="en-GB" sz="2400" baseline="-25000" dirty="0">
                <a:solidFill>
                  <a:prstClr val="black"/>
                </a:solidFill>
                <a:latin typeface="Calibri"/>
              </a:rPr>
              <a:t>2 </a:t>
            </a:r>
          </a:p>
          <a:p>
            <a:pPr lvl="0"/>
            <a:r>
              <a:rPr lang="en-GB" sz="2400" dirty="0">
                <a:solidFill>
                  <a:prstClr val="black"/>
                </a:solidFill>
                <a:latin typeface="Calibri"/>
              </a:rPr>
              <a:t>       b) C</a:t>
            </a:r>
            <a:r>
              <a:rPr lang="en-GB" sz="2400" baseline="-25000" dirty="0">
                <a:solidFill>
                  <a:prstClr val="black"/>
                </a:solidFill>
                <a:latin typeface="Calibri"/>
              </a:rPr>
              <a:t>6</a:t>
            </a:r>
            <a:r>
              <a:rPr lang="en-GB" sz="2400" dirty="0">
                <a:solidFill>
                  <a:prstClr val="black"/>
                </a:solidFill>
                <a:latin typeface="Calibri"/>
              </a:rPr>
              <a:t>H</a:t>
            </a:r>
            <a:r>
              <a:rPr lang="en-GB" sz="2400" baseline="-25000" dirty="0">
                <a:solidFill>
                  <a:prstClr val="black"/>
                </a:solidFill>
                <a:latin typeface="Calibri"/>
              </a:rPr>
              <a:t>12</a:t>
            </a:r>
            <a:r>
              <a:rPr lang="en-GB" sz="2400" dirty="0">
                <a:solidFill>
                  <a:prstClr val="black"/>
                </a:solidFill>
                <a:latin typeface="Calibri"/>
              </a:rPr>
              <a:t>O</a:t>
            </a:r>
            <a:r>
              <a:rPr lang="en-GB" sz="2400" baseline="-25000" dirty="0">
                <a:solidFill>
                  <a:prstClr val="black"/>
                </a:solidFill>
                <a:latin typeface="Calibri"/>
              </a:rPr>
              <a:t>6 </a:t>
            </a:r>
            <a:endParaRPr kumimoji="0" lang="en-GB" sz="2400" b="0" i="0" u="none" strike="noStrike" kern="1200" cap="none" spc="0" normalizeH="0" baseline="-2500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can be said about the sum of the relative </a:t>
            </a:r>
            <a:r>
              <a:rPr lang="en-GB" sz="2400" dirty="0" smtClean="0">
                <a:solidFill>
                  <a:prstClr val="black"/>
                </a:solidFill>
                <a:latin typeface="Calibri"/>
              </a:rPr>
              <a:t>formula masses of the reactants and products of a reaction?</a:t>
            </a: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Why </a:t>
            </a:r>
            <a:r>
              <a:rPr kumimoji="0" lang="en-GB" sz="2400" b="0" i="0" u="none" strike="noStrike" kern="1200" cap="none" spc="0" normalizeH="0" baseline="0" noProof="0" dirty="0">
                <a:ln>
                  <a:noFill/>
                </a:ln>
                <a:solidFill>
                  <a:prstClr val="black"/>
                </a:solidFill>
                <a:effectLst/>
                <a:uLnTx/>
                <a:uFillTx/>
                <a:latin typeface="Calibri"/>
                <a:ea typeface="+mn-ea"/>
                <a:cs typeface="+mn-cs"/>
              </a:rPr>
              <a:t>can you have relative atomic masses which are not whole numbers </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e.g. </a:t>
            </a:r>
            <a:r>
              <a:rPr kumimoji="0" lang="en-GB" sz="2400" b="0" i="0" u="none" strike="noStrike" kern="1200" cap="none" spc="0" normalizeH="0" baseline="0" noProof="0" dirty="0">
                <a:ln>
                  <a:noFill/>
                </a:ln>
                <a:solidFill>
                  <a:prstClr val="black"/>
                </a:solidFill>
                <a:effectLst/>
                <a:uLnTx/>
                <a:uFillTx/>
                <a:latin typeface="Calibri"/>
                <a:ea typeface="+mn-ea"/>
                <a:cs typeface="+mn-cs"/>
              </a:rPr>
              <a:t>chlorine is 35.5?</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68348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70537"/>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Chemical Measurements</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Relative formula mass</a:t>
            </a:r>
            <a:endParaRPr lang="en-GB" dirty="0"/>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4192842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Chemical measurements–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What is the relative formula mass of a compound?</a:t>
            </a:r>
            <a:endParaRPr lang="en-GB" sz="2400" dirty="0">
              <a:solidFill>
                <a:prstClr val="black"/>
              </a:solidFill>
              <a:latin typeface="Calibri"/>
            </a:endParaRPr>
          </a:p>
          <a:p>
            <a:pPr lvl="1">
              <a:defRPr/>
            </a:pPr>
            <a:r>
              <a:rPr lang="en-GB" sz="2400" b="1" noProof="0" dirty="0" smtClean="0">
                <a:solidFill>
                  <a:srgbClr val="00B050"/>
                </a:solidFill>
              </a:rPr>
              <a:t>Sum of the relative atomic masses of the atoms in the numbers shown in the formula.</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the relative formula mass of:</a:t>
            </a:r>
          </a:p>
          <a:p>
            <a:r>
              <a:rPr lang="en-GB" sz="2400" dirty="0">
                <a:solidFill>
                  <a:prstClr val="black"/>
                </a:solidFill>
                <a:latin typeface="Calibri"/>
              </a:rPr>
              <a:t>       a) MgCl</a:t>
            </a:r>
            <a:r>
              <a:rPr lang="en-GB" sz="2400" baseline="-25000" dirty="0">
                <a:solidFill>
                  <a:prstClr val="black"/>
                </a:solidFill>
                <a:latin typeface="Calibri"/>
              </a:rPr>
              <a:t>2 </a:t>
            </a:r>
            <a:r>
              <a:rPr lang="en-GB" sz="2400" b="1" dirty="0" smtClean="0">
                <a:solidFill>
                  <a:srgbClr val="00B050"/>
                </a:solidFill>
              </a:rPr>
              <a:t>95</a:t>
            </a:r>
            <a:endParaRPr lang="en-GB" sz="2400" baseline="-25000" dirty="0">
              <a:solidFill>
                <a:prstClr val="black"/>
              </a:solidFill>
              <a:latin typeface="Calibri"/>
            </a:endParaRPr>
          </a:p>
          <a:p>
            <a:r>
              <a:rPr lang="en-GB" sz="2400" dirty="0">
                <a:solidFill>
                  <a:prstClr val="black"/>
                </a:solidFill>
                <a:latin typeface="Calibri"/>
              </a:rPr>
              <a:t>       b) C</a:t>
            </a:r>
            <a:r>
              <a:rPr lang="en-GB" sz="2400" baseline="-25000" dirty="0">
                <a:solidFill>
                  <a:prstClr val="black"/>
                </a:solidFill>
                <a:latin typeface="Calibri"/>
              </a:rPr>
              <a:t>6</a:t>
            </a:r>
            <a:r>
              <a:rPr lang="en-GB" sz="2400" dirty="0">
                <a:solidFill>
                  <a:prstClr val="black"/>
                </a:solidFill>
                <a:latin typeface="Calibri"/>
              </a:rPr>
              <a:t>H</a:t>
            </a:r>
            <a:r>
              <a:rPr lang="en-GB" sz="2400" baseline="-25000" dirty="0">
                <a:solidFill>
                  <a:prstClr val="black"/>
                </a:solidFill>
                <a:latin typeface="Calibri"/>
              </a:rPr>
              <a:t>12</a:t>
            </a:r>
            <a:r>
              <a:rPr lang="en-GB" sz="2400" dirty="0">
                <a:solidFill>
                  <a:prstClr val="black"/>
                </a:solidFill>
                <a:latin typeface="Calibri"/>
              </a:rPr>
              <a:t>O</a:t>
            </a:r>
            <a:r>
              <a:rPr lang="en-GB" sz="2400" baseline="-25000" dirty="0">
                <a:solidFill>
                  <a:prstClr val="black"/>
                </a:solidFill>
                <a:latin typeface="Calibri"/>
              </a:rPr>
              <a:t>6 </a:t>
            </a:r>
            <a:r>
              <a:rPr lang="en-GB" sz="2400" b="1" dirty="0" smtClean="0">
                <a:solidFill>
                  <a:srgbClr val="00B050"/>
                </a:solidFill>
              </a:rPr>
              <a:t>180</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can be said about the sum of the relative </a:t>
            </a:r>
            <a:r>
              <a:rPr lang="en-GB" sz="2400" dirty="0" smtClean="0">
                <a:solidFill>
                  <a:prstClr val="black"/>
                </a:solidFill>
                <a:latin typeface="Calibri"/>
              </a:rPr>
              <a:t>formula masses of the reactants and products of a reaction?</a:t>
            </a:r>
          </a:p>
          <a:p>
            <a:pPr lvl="1">
              <a:defRPr/>
            </a:pPr>
            <a:r>
              <a:rPr lang="en-GB" sz="2400" b="1" dirty="0" smtClean="0">
                <a:solidFill>
                  <a:srgbClr val="00B050"/>
                </a:solidFill>
              </a:rPr>
              <a:t>In a balanced chemical equation – the sum of the relative formula masses of the reactants in the quantities shown = sum of the relative formula masses of the products in the quantities shown.</a:t>
            </a:r>
          </a:p>
        </p:txBody>
      </p:sp>
    </p:spTree>
    <p:extLst>
      <p:ext uri="{BB962C8B-B14F-4D97-AF65-F5344CB8AC3E}">
        <p14:creationId xmlns:p14="http://schemas.microsoft.com/office/powerpoint/2010/main" val="1348978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Chemical measurements–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1200329"/>
          </a:xfrm>
          <a:prstGeom prst="rect">
            <a:avLst/>
          </a:prstGeom>
          <a:noFill/>
        </p:spPr>
        <p:txBody>
          <a:bodyPr wrap="square" rtlCol="0">
            <a:spAutoFit/>
          </a:bodyPr>
          <a:lstStyle/>
          <a:p>
            <a:pPr marL="457200" lvl="0" indent="-457200">
              <a:buFont typeface="+mj-lt"/>
              <a:buAutoNum type="arabicPeriod" startAt="4"/>
              <a:defRPr/>
            </a:pPr>
            <a:r>
              <a:rPr lang="en-GB" sz="2400" dirty="0">
                <a:solidFill>
                  <a:prstClr val="black"/>
                </a:solidFill>
              </a:rPr>
              <a:t>Why can you have relative atomic masses which are not whole numbers e.g. chlorine is 35.5?</a:t>
            </a:r>
          </a:p>
          <a:p>
            <a:pPr lvl="1">
              <a:defRPr/>
            </a:pPr>
            <a:r>
              <a:rPr lang="en-GB" sz="2400" b="1" dirty="0" smtClean="0">
                <a:solidFill>
                  <a:srgbClr val="00B050"/>
                </a:solidFill>
              </a:rPr>
              <a:t>Isotopes.</a:t>
            </a:r>
          </a:p>
        </p:txBody>
      </p:sp>
    </p:spTree>
    <p:extLst>
      <p:ext uri="{BB962C8B-B14F-4D97-AF65-F5344CB8AC3E}">
        <p14:creationId xmlns:p14="http://schemas.microsoft.com/office/powerpoint/2010/main" val="30929469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170" y="692696"/>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582072"/>
            <a:ext cx="6516216" cy="5816977"/>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smtClean="0">
                <a:latin typeface="+mj-lt"/>
                <a:ea typeface="Beirut" charset="-78"/>
                <a:cs typeface="Beirut" charset="-78"/>
              </a:rPr>
              <a:t>!</a:t>
            </a:r>
            <a:endParaRPr lang="en-GB" dirty="0"/>
          </a:p>
          <a:p>
            <a:r>
              <a:rPr lang="en-GB" sz="3600" b="1" dirty="0" smtClean="0">
                <a:solidFill>
                  <a:schemeClr val="tx1">
                    <a:lumMod val="50000"/>
                    <a:lumOff val="50000"/>
                  </a:schemeClr>
                </a:solidFill>
              </a:rPr>
              <a:t>Use of amount of </a:t>
            </a:r>
          </a:p>
          <a:p>
            <a:r>
              <a:rPr lang="en-GB" sz="3600" b="1" dirty="0" smtClean="0">
                <a:solidFill>
                  <a:schemeClr val="tx1">
                    <a:lumMod val="50000"/>
                    <a:lumOff val="50000"/>
                  </a:schemeClr>
                </a:solidFill>
              </a:rPr>
              <a:t>substance </a:t>
            </a:r>
            <a:endParaRPr lang="en-GB" sz="3600" b="1" dirty="0">
              <a:solidFill>
                <a:schemeClr val="tx1">
                  <a:lumMod val="50000"/>
                  <a:lumOff val="50000"/>
                </a:schemeClr>
              </a:solidFill>
            </a:endParaRPr>
          </a:p>
          <a:p>
            <a:r>
              <a:rPr lang="en-GB" sz="3600" b="1" dirty="0">
                <a:solidFill>
                  <a:schemeClr val="tx1">
                    <a:lumMod val="50000"/>
                    <a:lumOff val="50000"/>
                  </a:schemeClr>
                </a:solidFill>
              </a:rPr>
              <a:t>PART 1</a:t>
            </a:r>
          </a:p>
          <a:p>
            <a:pPr marL="685800" lvl="1" indent="-342900">
              <a:buFont typeface="Arial" charset="0"/>
              <a:buChar char="•"/>
            </a:pPr>
            <a:r>
              <a:rPr lang="en-US" sz="2400" b="1" dirty="0" smtClean="0">
                <a:solidFill>
                  <a:schemeClr val="bg1">
                    <a:lumMod val="50000"/>
                  </a:schemeClr>
                </a:solidFill>
              </a:rPr>
              <a:t>Moles (HT)</a:t>
            </a:r>
          </a:p>
          <a:p>
            <a:pPr marL="685800" lvl="1" indent="-342900">
              <a:buFont typeface="Arial" charset="0"/>
              <a:buChar char="•"/>
            </a:pPr>
            <a:r>
              <a:rPr lang="en-US" sz="2400" b="1" dirty="0" smtClean="0">
                <a:solidFill>
                  <a:schemeClr val="bg1">
                    <a:lumMod val="50000"/>
                  </a:schemeClr>
                </a:solidFill>
              </a:rPr>
              <a:t>Amounts of substances in equations (HT</a:t>
            </a:r>
            <a:r>
              <a:rPr lang="en-US" sz="2400" b="1" dirty="0">
                <a:solidFill>
                  <a:schemeClr val="bg1">
                    <a:lumMod val="50000"/>
                  </a:schemeClr>
                </a:solidFill>
              </a:rPr>
              <a:t>)</a:t>
            </a:r>
          </a:p>
          <a:p>
            <a:pPr marL="685800" lvl="1" indent="-342900">
              <a:buFont typeface="Arial" charset="0"/>
              <a:buChar char="•"/>
            </a:pPr>
            <a:r>
              <a:rPr lang="en-US" sz="2400" b="1" dirty="0">
                <a:solidFill>
                  <a:schemeClr val="bg1">
                    <a:lumMod val="50000"/>
                  </a:schemeClr>
                </a:solidFill>
              </a:rPr>
              <a:t>Quantities in equations (HT)</a:t>
            </a:r>
          </a:p>
          <a:p>
            <a:pPr marL="685800" lvl="1" indent="-342900">
              <a:buFont typeface="Arial" charset="0"/>
              <a:buChar char="•"/>
            </a:pPr>
            <a:r>
              <a:rPr lang="en-US" sz="2400" b="1" dirty="0">
                <a:solidFill>
                  <a:schemeClr val="bg1">
                    <a:lumMod val="50000"/>
                  </a:schemeClr>
                </a:solidFill>
              </a:rPr>
              <a:t>Using moles to balance equations (HT)</a:t>
            </a:r>
          </a:p>
          <a:p>
            <a:pPr marL="685800" lvl="1" indent="-342900">
              <a:buFont typeface="Arial" charset="0"/>
              <a:buChar char="•"/>
            </a:pPr>
            <a:r>
              <a:rPr lang="en-US" sz="2400" b="1" dirty="0">
                <a:solidFill>
                  <a:schemeClr val="bg1">
                    <a:lumMod val="50000"/>
                  </a:schemeClr>
                </a:solidFill>
              </a:rPr>
              <a:t>Limiting </a:t>
            </a:r>
            <a:r>
              <a:rPr lang="en-US" sz="2400" b="1" dirty="0" smtClean="0">
                <a:solidFill>
                  <a:schemeClr val="bg1">
                    <a:lumMod val="50000"/>
                  </a:schemeClr>
                </a:solidFill>
              </a:rPr>
              <a:t>reactants </a:t>
            </a:r>
            <a:r>
              <a:rPr lang="en-US" sz="2400" b="1" dirty="0">
                <a:solidFill>
                  <a:schemeClr val="bg1">
                    <a:lumMod val="50000"/>
                  </a:schemeClr>
                </a:solidFill>
              </a:rPr>
              <a:t>(HT)</a:t>
            </a:r>
            <a:endParaRPr lang="en-GB" dirty="0"/>
          </a:p>
        </p:txBody>
      </p:sp>
    </p:spTree>
    <p:extLst>
      <p:ext uri="{BB962C8B-B14F-4D97-AF65-F5344CB8AC3E}">
        <p14:creationId xmlns:p14="http://schemas.microsoft.com/office/powerpoint/2010/main" val="3194843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Use of amount of substance </a:t>
            </a:r>
            <a:r>
              <a:rPr lang="en-US" sz="2400" b="1" dirty="0">
                <a:solidFill>
                  <a:schemeClr val="accent6"/>
                </a:solidFill>
              </a:rPr>
              <a:t>-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35624" y="649619"/>
            <a:ext cx="8640960" cy="2554545"/>
          </a:xfrm>
          <a:prstGeom prst="rect">
            <a:avLst/>
          </a:prstGeom>
          <a:noFill/>
          <a:ln>
            <a:solidFill>
              <a:schemeClr val="bg1"/>
            </a:solidFill>
          </a:ln>
        </p:spPr>
        <p:txBody>
          <a:bodyPr wrap="square" rtlCol="0">
            <a:spAutoFit/>
          </a:bodyPr>
          <a:lstStyle/>
          <a:p>
            <a:pPr algn="ctr"/>
            <a:r>
              <a:rPr lang="en-GB" sz="2000" dirty="0"/>
              <a:t>Chemical amounts are measured in </a:t>
            </a:r>
            <a:r>
              <a:rPr lang="en-GB" sz="2000" b="1" dirty="0">
                <a:solidFill>
                  <a:schemeClr val="accent6">
                    <a:lumMod val="75000"/>
                  </a:schemeClr>
                </a:solidFill>
              </a:rPr>
              <a:t>moles</a:t>
            </a:r>
            <a:r>
              <a:rPr lang="en-GB" sz="2000" dirty="0"/>
              <a:t>.  The symbol for the unit mole is </a:t>
            </a:r>
            <a:r>
              <a:rPr lang="en-GB" sz="2000" b="1" dirty="0">
                <a:solidFill>
                  <a:schemeClr val="accent6">
                    <a:lumMod val="75000"/>
                  </a:schemeClr>
                </a:solidFill>
              </a:rPr>
              <a:t>mol</a:t>
            </a:r>
            <a:r>
              <a:rPr lang="en-GB" sz="2000" dirty="0"/>
              <a:t>.</a:t>
            </a:r>
          </a:p>
          <a:p>
            <a:pPr algn="ctr"/>
            <a:endParaRPr lang="en-GB" sz="2000" dirty="0"/>
          </a:p>
          <a:p>
            <a:pPr algn="ctr"/>
            <a:r>
              <a:rPr lang="en-GB" sz="2000" dirty="0">
                <a:solidFill>
                  <a:schemeClr val="accent6">
                    <a:lumMod val="75000"/>
                  </a:schemeClr>
                </a:solidFill>
              </a:rPr>
              <a:t>The mass of </a:t>
            </a:r>
            <a:r>
              <a:rPr lang="en-GB" sz="2000" b="1" dirty="0">
                <a:solidFill>
                  <a:schemeClr val="accent6">
                    <a:lumMod val="75000"/>
                  </a:schemeClr>
                </a:solidFill>
              </a:rPr>
              <a:t>one mole </a:t>
            </a:r>
            <a:r>
              <a:rPr lang="en-GB" sz="2000" dirty="0">
                <a:solidFill>
                  <a:schemeClr val="accent6">
                    <a:lumMod val="75000"/>
                  </a:schemeClr>
                </a:solidFill>
              </a:rPr>
              <a:t>of a substance </a:t>
            </a:r>
            <a:r>
              <a:rPr lang="en-GB" sz="2000" b="1" dirty="0">
                <a:solidFill>
                  <a:schemeClr val="accent6">
                    <a:lumMod val="75000"/>
                  </a:schemeClr>
                </a:solidFill>
              </a:rPr>
              <a:t>in grams </a:t>
            </a:r>
            <a:r>
              <a:rPr lang="en-GB" sz="2000" dirty="0">
                <a:solidFill>
                  <a:schemeClr val="accent6">
                    <a:lumMod val="75000"/>
                  </a:schemeClr>
                </a:solidFill>
              </a:rPr>
              <a:t>is numerically </a:t>
            </a:r>
            <a:r>
              <a:rPr lang="en-GB" sz="2000" b="1" dirty="0">
                <a:solidFill>
                  <a:schemeClr val="accent6">
                    <a:lumMod val="75000"/>
                  </a:schemeClr>
                </a:solidFill>
              </a:rPr>
              <a:t>equal</a:t>
            </a:r>
            <a:r>
              <a:rPr lang="en-GB" sz="2000" dirty="0">
                <a:solidFill>
                  <a:schemeClr val="accent6">
                    <a:lumMod val="75000"/>
                  </a:schemeClr>
                </a:solidFill>
              </a:rPr>
              <a:t> to its </a:t>
            </a:r>
            <a:r>
              <a:rPr lang="en-GB" sz="2000" b="1" dirty="0">
                <a:solidFill>
                  <a:schemeClr val="accent6">
                    <a:lumMod val="75000"/>
                  </a:schemeClr>
                </a:solidFill>
              </a:rPr>
              <a:t>relative formula mass</a:t>
            </a:r>
            <a:r>
              <a:rPr lang="en-GB" sz="2000" dirty="0"/>
              <a:t>.  </a:t>
            </a:r>
            <a:r>
              <a:rPr lang="en-GB" sz="2000" b="1" dirty="0" smtClean="0"/>
              <a:t>One </a:t>
            </a:r>
            <a:r>
              <a:rPr lang="en-GB" sz="2000" b="1" dirty="0"/>
              <a:t>mole of a substance contains the same number of the stated particles, atoms, molecules or ions as one mole of any other substance</a:t>
            </a:r>
            <a:r>
              <a:rPr lang="en-GB" sz="2000" dirty="0"/>
              <a:t>.</a:t>
            </a:r>
          </a:p>
          <a:p>
            <a:pPr algn="ctr"/>
            <a:endParaRPr lang="en-GB" sz="2000" dirty="0"/>
          </a:p>
          <a:p>
            <a:pPr algn="ctr"/>
            <a:r>
              <a:rPr lang="en-GB" sz="2000" dirty="0"/>
              <a:t>The </a:t>
            </a:r>
            <a:r>
              <a:rPr lang="en-GB" sz="2000" b="1" dirty="0">
                <a:solidFill>
                  <a:schemeClr val="accent6">
                    <a:lumMod val="75000"/>
                  </a:schemeClr>
                </a:solidFill>
              </a:rPr>
              <a:t>number</a:t>
            </a:r>
            <a:r>
              <a:rPr lang="en-GB" sz="2000" dirty="0"/>
              <a:t> of atoms, molecules or ions in a mole of a given substance is the </a:t>
            </a:r>
            <a:r>
              <a:rPr lang="en-GB" sz="2000" b="1" dirty="0">
                <a:solidFill>
                  <a:schemeClr val="accent6">
                    <a:lumMod val="75000"/>
                  </a:schemeClr>
                </a:solidFill>
              </a:rPr>
              <a:t>Avogadro constant</a:t>
            </a:r>
            <a:r>
              <a:rPr lang="en-GB" sz="2000" dirty="0"/>
              <a:t>.  The value of the Avogadro constant is </a:t>
            </a:r>
            <a:r>
              <a:rPr lang="en-GB" sz="2000" b="1" dirty="0">
                <a:solidFill>
                  <a:schemeClr val="accent6">
                    <a:lumMod val="75000"/>
                  </a:schemeClr>
                </a:solidFill>
              </a:rPr>
              <a:t>6.02 x 10</a:t>
            </a:r>
            <a:r>
              <a:rPr lang="en-GB" sz="2000" b="1" baseline="30000" dirty="0">
                <a:solidFill>
                  <a:schemeClr val="accent6">
                    <a:lumMod val="75000"/>
                  </a:schemeClr>
                </a:solidFill>
              </a:rPr>
              <a:t>23</a:t>
            </a:r>
            <a:r>
              <a:rPr lang="en-GB" sz="2000" b="1" dirty="0">
                <a:solidFill>
                  <a:schemeClr val="accent6">
                    <a:lumMod val="75000"/>
                  </a:schemeClr>
                </a:solidFill>
              </a:rPr>
              <a:t> per mole</a:t>
            </a:r>
            <a:r>
              <a:rPr lang="en-GB" sz="2000" dirty="0"/>
              <a:t>.</a:t>
            </a:r>
          </a:p>
        </p:txBody>
      </p:sp>
      <p:sp>
        <p:nvSpPr>
          <p:cNvPr id="5" name="TextBox 4">
            <a:extLst>
              <a:ext uri="{FF2B5EF4-FFF2-40B4-BE49-F238E27FC236}">
                <a16:creationId xmlns:a16="http://schemas.microsoft.com/office/drawing/2014/main" xmlns="" id="{79A1256F-7675-44B4-97F3-2F79B109C19A}"/>
              </a:ext>
            </a:extLst>
          </p:cNvPr>
          <p:cNvSpPr txBox="1"/>
          <p:nvPr/>
        </p:nvSpPr>
        <p:spPr>
          <a:xfrm>
            <a:off x="251520" y="3276600"/>
            <a:ext cx="4472880" cy="707886"/>
          </a:xfrm>
          <a:prstGeom prst="rect">
            <a:avLst/>
          </a:prstGeom>
          <a:solidFill>
            <a:schemeClr val="accent6">
              <a:lumMod val="60000"/>
              <a:lumOff val="40000"/>
            </a:schemeClr>
          </a:solidFill>
          <a:ln>
            <a:solidFill>
              <a:schemeClr val="accent6">
                <a:lumMod val="75000"/>
              </a:schemeClr>
            </a:solidFill>
          </a:ln>
        </p:spPr>
        <p:txBody>
          <a:bodyPr wrap="square" rtlCol="0">
            <a:spAutoFit/>
          </a:bodyPr>
          <a:lstStyle/>
          <a:p>
            <a:r>
              <a:rPr lang="en-GB" sz="2000" dirty="0"/>
              <a:t>Number of moles = </a:t>
            </a:r>
            <a:r>
              <a:rPr lang="en-GB" sz="2000" u="sng" dirty="0"/>
              <a:t>mass (g)</a:t>
            </a:r>
            <a:r>
              <a:rPr lang="en-GB" sz="2000" dirty="0"/>
              <a:t>  or  </a:t>
            </a:r>
            <a:r>
              <a:rPr lang="en-GB" sz="2000" u="sng" dirty="0"/>
              <a:t>mass (g)</a:t>
            </a:r>
          </a:p>
          <a:p>
            <a:r>
              <a:rPr lang="en-GB" sz="2000" dirty="0"/>
              <a:t>                                        </a:t>
            </a:r>
            <a:r>
              <a:rPr lang="en-GB" sz="2000" dirty="0" err="1"/>
              <a:t>A</a:t>
            </a:r>
            <a:r>
              <a:rPr lang="en-GB" sz="2000" baseline="-25000" dirty="0" err="1"/>
              <a:t>r</a:t>
            </a:r>
            <a:r>
              <a:rPr lang="en-GB" sz="2000" baseline="-25000" dirty="0"/>
              <a:t>  </a:t>
            </a:r>
            <a:r>
              <a:rPr lang="en-GB" sz="2000" dirty="0"/>
              <a:t>                 M</a:t>
            </a:r>
            <a:r>
              <a:rPr lang="en-GB" sz="2000" baseline="-25000" dirty="0"/>
              <a:t>r</a:t>
            </a:r>
          </a:p>
        </p:txBody>
      </p:sp>
      <p:sp>
        <p:nvSpPr>
          <p:cNvPr id="6" name="TextBox 5">
            <a:extLst>
              <a:ext uri="{FF2B5EF4-FFF2-40B4-BE49-F238E27FC236}">
                <a16:creationId xmlns:a16="http://schemas.microsoft.com/office/drawing/2014/main" xmlns="" id="{E16684BC-32F6-4D57-9477-32A1A7953001}"/>
              </a:ext>
            </a:extLst>
          </p:cNvPr>
          <p:cNvSpPr txBox="1"/>
          <p:nvPr/>
        </p:nvSpPr>
        <p:spPr>
          <a:xfrm>
            <a:off x="4829400" y="3288632"/>
            <a:ext cx="4032448" cy="707886"/>
          </a:xfrm>
          <a:prstGeom prst="rect">
            <a:avLst/>
          </a:prstGeom>
          <a:solidFill>
            <a:schemeClr val="accent6">
              <a:lumMod val="60000"/>
              <a:lumOff val="40000"/>
            </a:schemeClr>
          </a:solidFill>
          <a:ln>
            <a:solidFill>
              <a:schemeClr val="accent6">
                <a:lumMod val="75000"/>
              </a:schemeClr>
            </a:solidFill>
          </a:ln>
        </p:spPr>
        <p:txBody>
          <a:bodyPr wrap="square" rtlCol="0">
            <a:spAutoFit/>
          </a:bodyPr>
          <a:lstStyle/>
          <a:p>
            <a:r>
              <a:rPr lang="en-GB" sz="2000" dirty="0"/>
              <a:t>Mass (g) = number of moles x </a:t>
            </a:r>
            <a:r>
              <a:rPr lang="en-GB" sz="2000" dirty="0" err="1"/>
              <a:t>A</a:t>
            </a:r>
            <a:r>
              <a:rPr lang="en-GB" sz="2000" baseline="-25000" dirty="0" err="1"/>
              <a:t>r</a:t>
            </a:r>
            <a:r>
              <a:rPr lang="en-GB" sz="2000" baseline="-25000" dirty="0"/>
              <a:t> </a:t>
            </a:r>
          </a:p>
          <a:p>
            <a:r>
              <a:rPr lang="en-GB" sz="2000" b="1" baseline="-25000" dirty="0"/>
              <a:t>          </a:t>
            </a:r>
            <a:r>
              <a:rPr lang="en-GB" sz="2000" b="1" dirty="0"/>
              <a:t> or        </a:t>
            </a:r>
            <a:r>
              <a:rPr lang="en-GB" sz="2000" dirty="0"/>
              <a:t>number of moles x M</a:t>
            </a:r>
            <a:r>
              <a:rPr lang="en-GB" sz="2000" baseline="-25000" dirty="0"/>
              <a:t>r</a:t>
            </a:r>
          </a:p>
        </p:txBody>
      </p:sp>
      <p:sp>
        <p:nvSpPr>
          <p:cNvPr id="7" name="TextBox 6">
            <a:extLst>
              <a:ext uri="{FF2B5EF4-FFF2-40B4-BE49-F238E27FC236}">
                <a16:creationId xmlns:a16="http://schemas.microsoft.com/office/drawing/2014/main" xmlns="" id="{5066674C-9F09-44C6-A117-C846405F67B1}"/>
              </a:ext>
            </a:extLst>
          </p:cNvPr>
          <p:cNvSpPr txBox="1"/>
          <p:nvPr/>
        </p:nvSpPr>
        <p:spPr>
          <a:xfrm>
            <a:off x="235624" y="4107098"/>
            <a:ext cx="4488776" cy="2246769"/>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sz="2000" i="1" dirty="0"/>
              <a:t>How many moles of sulfuric acid molecules are there in 4.7g of sulfuric acid (H</a:t>
            </a:r>
            <a:r>
              <a:rPr lang="en-GB" sz="2000" i="1" baseline="-25000" dirty="0"/>
              <a:t>2</a:t>
            </a:r>
            <a:r>
              <a:rPr lang="en-GB" sz="2000" i="1" dirty="0"/>
              <a:t>SO</a:t>
            </a:r>
            <a:r>
              <a:rPr lang="en-GB" sz="2000" i="1" baseline="-25000" dirty="0"/>
              <a:t>4</a:t>
            </a:r>
            <a:r>
              <a:rPr lang="en-GB" sz="2000" i="1" dirty="0"/>
              <a:t>)?  Give your answer to 1 significant figure.</a:t>
            </a:r>
          </a:p>
          <a:p>
            <a:endParaRPr lang="en-GB" sz="2000" dirty="0"/>
          </a:p>
          <a:p>
            <a:r>
              <a:rPr lang="en-GB" sz="2000" b="1" dirty="0">
                <a:solidFill>
                  <a:schemeClr val="accent6">
                    <a:lumMod val="75000"/>
                  </a:schemeClr>
                </a:solidFill>
              </a:rPr>
              <a:t>                       </a:t>
            </a:r>
            <a:r>
              <a:rPr lang="en-GB" sz="2000" b="1" u="sng" dirty="0">
                <a:solidFill>
                  <a:schemeClr val="accent6">
                    <a:lumMod val="75000"/>
                  </a:schemeClr>
                </a:solidFill>
              </a:rPr>
              <a:t> 4.7</a:t>
            </a:r>
            <a:r>
              <a:rPr lang="en-GB" sz="2000" b="1" dirty="0">
                <a:solidFill>
                  <a:schemeClr val="accent6">
                    <a:lumMod val="75000"/>
                  </a:schemeClr>
                </a:solidFill>
              </a:rPr>
              <a:t> = 0.05 </a:t>
            </a:r>
            <a:r>
              <a:rPr lang="en-GB" sz="2000" b="1" dirty="0" err="1">
                <a:solidFill>
                  <a:schemeClr val="accent6">
                    <a:lumMod val="75000"/>
                  </a:schemeClr>
                </a:solidFill>
              </a:rPr>
              <a:t>mol</a:t>
            </a:r>
            <a:endParaRPr lang="en-GB" sz="2000" b="1" dirty="0">
              <a:solidFill>
                <a:schemeClr val="accent6">
                  <a:lumMod val="75000"/>
                </a:schemeClr>
              </a:solidFill>
            </a:endParaRPr>
          </a:p>
          <a:p>
            <a:r>
              <a:rPr lang="en-GB" sz="2000" b="1" dirty="0">
                <a:solidFill>
                  <a:schemeClr val="accent6">
                    <a:lumMod val="75000"/>
                  </a:schemeClr>
                </a:solidFill>
              </a:rPr>
              <a:t>                        98</a:t>
            </a:r>
            <a:r>
              <a:rPr lang="en-GB" sz="2000" dirty="0"/>
              <a:t> </a:t>
            </a:r>
            <a:endParaRPr lang="en-GB" sz="2000" b="1" dirty="0">
              <a:solidFill>
                <a:schemeClr val="accent6">
                  <a:lumMod val="75000"/>
                </a:schemeClr>
              </a:solidFill>
            </a:endParaRPr>
          </a:p>
        </p:txBody>
      </p:sp>
      <p:sp>
        <p:nvSpPr>
          <p:cNvPr id="9" name="TextBox 8">
            <a:extLst>
              <a:ext uri="{FF2B5EF4-FFF2-40B4-BE49-F238E27FC236}">
                <a16:creationId xmlns:a16="http://schemas.microsoft.com/office/drawing/2014/main" xmlns="" id="{56025E75-BD83-464E-9D29-FDB551D7BD56}"/>
              </a:ext>
            </a:extLst>
          </p:cNvPr>
          <p:cNvSpPr txBox="1"/>
          <p:nvPr/>
        </p:nvSpPr>
        <p:spPr>
          <a:xfrm>
            <a:off x="4829400" y="4107098"/>
            <a:ext cx="4032448" cy="2215991"/>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endParaRPr lang="en-GB" sz="2000" i="1" dirty="0" smtClean="0"/>
          </a:p>
          <a:p>
            <a:pPr algn="ctr"/>
            <a:r>
              <a:rPr lang="en-GB" sz="2000" i="1" dirty="0" smtClean="0"/>
              <a:t>What </a:t>
            </a:r>
            <a:r>
              <a:rPr lang="en-GB" sz="2000" i="1" dirty="0"/>
              <a:t>is the mass of 7.2 x 10</a:t>
            </a:r>
            <a:r>
              <a:rPr lang="en-GB" sz="2000" i="1" baseline="30000" dirty="0"/>
              <a:t>-3</a:t>
            </a:r>
            <a:r>
              <a:rPr lang="en-GB" sz="2000" i="1" dirty="0"/>
              <a:t> moles of aluminium </a:t>
            </a:r>
            <a:r>
              <a:rPr lang="en-GB" sz="2000" i="1" dirty="0" err="1"/>
              <a:t>sulfate</a:t>
            </a:r>
            <a:r>
              <a:rPr lang="en-GB" sz="2000" i="1" dirty="0"/>
              <a:t> (Al</a:t>
            </a:r>
            <a:r>
              <a:rPr lang="en-GB" sz="2000" i="1" baseline="-25000" dirty="0"/>
              <a:t>2</a:t>
            </a:r>
            <a:r>
              <a:rPr lang="en-GB" sz="2000" i="1" dirty="0"/>
              <a:t>(SO</a:t>
            </a:r>
            <a:r>
              <a:rPr lang="en-GB" sz="2000" i="1" baseline="-25000" dirty="0"/>
              <a:t>4</a:t>
            </a:r>
            <a:r>
              <a:rPr lang="en-GB" sz="2000" i="1" dirty="0"/>
              <a:t>)</a:t>
            </a:r>
            <a:r>
              <a:rPr lang="en-GB" sz="2000" i="1" baseline="-25000" dirty="0"/>
              <a:t>3</a:t>
            </a:r>
            <a:r>
              <a:rPr lang="en-GB" sz="2000" i="1" dirty="0"/>
              <a:t>)?  Give your answer to 1 decimal place.</a:t>
            </a:r>
          </a:p>
          <a:p>
            <a:pPr algn="ctr"/>
            <a:endParaRPr lang="en-GB" sz="2000" dirty="0"/>
          </a:p>
          <a:p>
            <a:pPr algn="ctr"/>
            <a:r>
              <a:rPr lang="en-GB" sz="2000" b="1" dirty="0">
                <a:solidFill>
                  <a:schemeClr val="accent6">
                    <a:lumMod val="75000"/>
                  </a:schemeClr>
                </a:solidFill>
              </a:rPr>
              <a:t>7.2 x 10</a:t>
            </a:r>
            <a:r>
              <a:rPr lang="en-GB" sz="2000" b="1" baseline="30000" dirty="0">
                <a:solidFill>
                  <a:schemeClr val="accent6">
                    <a:lumMod val="75000"/>
                  </a:schemeClr>
                </a:solidFill>
              </a:rPr>
              <a:t>-3</a:t>
            </a:r>
            <a:r>
              <a:rPr lang="en-GB" sz="2000" b="1" dirty="0">
                <a:solidFill>
                  <a:schemeClr val="accent6">
                    <a:lumMod val="75000"/>
                  </a:schemeClr>
                </a:solidFill>
              </a:rPr>
              <a:t> x 342 = 2.5g </a:t>
            </a:r>
          </a:p>
          <a:p>
            <a:endParaRPr lang="en-GB" b="1" dirty="0">
              <a:solidFill>
                <a:schemeClr val="accent6">
                  <a:lumMod val="75000"/>
                </a:schemeClr>
              </a:solidFill>
            </a:endParaRPr>
          </a:p>
        </p:txBody>
      </p:sp>
    </p:spTree>
    <p:extLst>
      <p:ext uri="{BB962C8B-B14F-4D97-AF65-F5344CB8AC3E}">
        <p14:creationId xmlns:p14="http://schemas.microsoft.com/office/powerpoint/2010/main" val="21827222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44246"/>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Use of amount of substance - PART 1</a:t>
            </a:r>
            <a:br>
              <a:rPr lang="en-US" sz="2400" b="1" dirty="0">
                <a:solidFill>
                  <a:schemeClr val="accent6"/>
                </a:solidFill>
              </a:rPr>
            </a:br>
            <a:r>
              <a:rPr lang="en-US" sz="2400" b="1" dirty="0" smtClean="0">
                <a:solidFill>
                  <a:schemeClr val="tx1"/>
                </a:solidFill>
              </a:rPr>
              <a:t>HIGHER TIER</a:t>
            </a:r>
            <a:endParaRPr lang="en-GB" sz="2400" b="1" dirty="0">
              <a:solidFill>
                <a:schemeClr val="tx1"/>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39361" y="801287"/>
            <a:ext cx="8640960" cy="2339102"/>
          </a:xfrm>
          <a:prstGeom prst="rect">
            <a:avLst/>
          </a:prstGeom>
          <a:noFill/>
          <a:ln>
            <a:solidFill>
              <a:schemeClr val="bg1"/>
            </a:solidFill>
          </a:ln>
        </p:spPr>
        <p:txBody>
          <a:bodyPr wrap="square" rtlCol="0">
            <a:spAutoFit/>
          </a:bodyPr>
          <a:lstStyle/>
          <a:p>
            <a:pPr algn="ctr"/>
            <a:r>
              <a:rPr lang="en-GB" sz="2000" dirty="0"/>
              <a:t>The</a:t>
            </a:r>
            <a:r>
              <a:rPr lang="en-GB" sz="2000" b="1" dirty="0"/>
              <a:t> masses </a:t>
            </a:r>
            <a:r>
              <a:rPr lang="en-GB" sz="2000" dirty="0"/>
              <a:t>of</a:t>
            </a:r>
            <a:r>
              <a:rPr lang="en-GB" sz="2000" b="1" dirty="0"/>
              <a:t> reactants </a:t>
            </a:r>
            <a:r>
              <a:rPr lang="en-GB" sz="2000" dirty="0"/>
              <a:t>and</a:t>
            </a:r>
            <a:r>
              <a:rPr lang="en-GB" sz="2000" b="1" dirty="0"/>
              <a:t> products </a:t>
            </a:r>
            <a:r>
              <a:rPr lang="en-GB" sz="2000" dirty="0"/>
              <a:t>can be calculated from </a:t>
            </a:r>
            <a:r>
              <a:rPr lang="en-GB" sz="2000" b="1" dirty="0"/>
              <a:t>balanced symbol equations</a:t>
            </a:r>
            <a:r>
              <a:rPr lang="en-GB" sz="2000" dirty="0"/>
              <a:t>.</a:t>
            </a:r>
          </a:p>
          <a:p>
            <a:pPr algn="ctr"/>
            <a:r>
              <a:rPr lang="en-GB" sz="2000" dirty="0"/>
              <a:t>Chemical equations can be interpreted in terms of </a:t>
            </a:r>
            <a:r>
              <a:rPr lang="en-GB" sz="2000" b="1" dirty="0"/>
              <a:t>moles</a:t>
            </a:r>
            <a:r>
              <a:rPr lang="en-GB" sz="2000" dirty="0"/>
              <a:t>.  Example:</a:t>
            </a:r>
            <a:endParaRPr lang="en-GB" sz="2000" dirty="0">
              <a:sym typeface="Wingdings" panose="05000000000000000000" pitchFamily="2" charset="2"/>
            </a:endParaRPr>
          </a:p>
          <a:p>
            <a:pPr algn="ctr"/>
            <a:endParaRPr lang="en-GB" sz="900" dirty="0">
              <a:sym typeface="Wingdings" panose="05000000000000000000" pitchFamily="2" charset="2"/>
            </a:endParaRPr>
          </a:p>
          <a:p>
            <a:pPr algn="ctr"/>
            <a:r>
              <a:rPr lang="en-GB" sz="2800" b="1" dirty="0"/>
              <a:t>H</a:t>
            </a:r>
            <a:r>
              <a:rPr lang="en-GB" sz="2800" b="1" baseline="-25000" dirty="0"/>
              <a:t>2</a:t>
            </a:r>
            <a:r>
              <a:rPr lang="en-GB" sz="2800" b="1" dirty="0"/>
              <a:t> + Cl</a:t>
            </a:r>
            <a:r>
              <a:rPr lang="en-GB" sz="2800" b="1" baseline="-25000" dirty="0"/>
              <a:t>2</a:t>
            </a:r>
            <a:r>
              <a:rPr lang="en-GB" sz="2800" b="1" dirty="0"/>
              <a:t> </a:t>
            </a:r>
            <a:r>
              <a:rPr lang="en-GB" sz="2800" b="1" dirty="0">
                <a:sym typeface="Wingdings" panose="05000000000000000000" pitchFamily="2" charset="2"/>
              </a:rPr>
              <a:t> </a:t>
            </a:r>
            <a:r>
              <a:rPr lang="en-GB" sz="2800" b="1" dirty="0">
                <a:solidFill>
                  <a:schemeClr val="accent6">
                    <a:lumMod val="75000"/>
                  </a:schemeClr>
                </a:solidFill>
                <a:sym typeface="Wingdings" panose="05000000000000000000" pitchFamily="2" charset="2"/>
              </a:rPr>
              <a:t>2</a:t>
            </a:r>
            <a:r>
              <a:rPr lang="en-GB" sz="2800" b="1" dirty="0">
                <a:sym typeface="Wingdings" panose="05000000000000000000" pitchFamily="2" charset="2"/>
              </a:rPr>
              <a:t>HCl</a:t>
            </a:r>
          </a:p>
          <a:p>
            <a:pPr algn="ctr"/>
            <a:endParaRPr lang="en-GB" sz="900" dirty="0"/>
          </a:p>
          <a:p>
            <a:pPr algn="ctr"/>
            <a:r>
              <a:rPr lang="en-GB" sz="2000" dirty="0"/>
              <a:t>This equation shows that </a:t>
            </a:r>
            <a:r>
              <a:rPr lang="en-GB" sz="2000" b="1" dirty="0"/>
              <a:t>one</a:t>
            </a:r>
            <a:r>
              <a:rPr lang="en-GB" sz="2000" dirty="0"/>
              <a:t> mole of </a:t>
            </a:r>
            <a:r>
              <a:rPr lang="en-GB" sz="2000" b="1" dirty="0"/>
              <a:t>hydrogen</a:t>
            </a:r>
            <a:r>
              <a:rPr lang="en-GB" sz="2000" dirty="0"/>
              <a:t> reacts with</a:t>
            </a:r>
            <a:r>
              <a:rPr lang="en-GB" sz="2000" b="1" dirty="0"/>
              <a:t> one </a:t>
            </a:r>
            <a:r>
              <a:rPr lang="en-GB" sz="2000" dirty="0"/>
              <a:t>mole of </a:t>
            </a:r>
            <a:r>
              <a:rPr lang="en-GB" sz="2000" b="1" dirty="0"/>
              <a:t>chlorine</a:t>
            </a:r>
            <a:r>
              <a:rPr lang="en-GB" sz="2000" dirty="0"/>
              <a:t> to form </a:t>
            </a:r>
            <a:r>
              <a:rPr lang="en-GB" sz="2000" b="1" dirty="0"/>
              <a:t>two </a:t>
            </a:r>
            <a:r>
              <a:rPr lang="en-GB" sz="2000" dirty="0"/>
              <a:t>moles of </a:t>
            </a:r>
            <a:r>
              <a:rPr lang="en-GB" sz="2000" b="1" dirty="0"/>
              <a:t>hydrochloric acid</a:t>
            </a:r>
            <a:r>
              <a:rPr lang="en-GB" sz="2000" dirty="0"/>
              <a:t>.</a:t>
            </a:r>
          </a:p>
        </p:txBody>
      </p:sp>
      <p:sp>
        <p:nvSpPr>
          <p:cNvPr id="7" name="TextBox 6">
            <a:extLst>
              <a:ext uri="{FF2B5EF4-FFF2-40B4-BE49-F238E27FC236}">
                <a16:creationId xmlns:a16="http://schemas.microsoft.com/office/drawing/2014/main" xmlns="" id="{5066674C-9F09-44C6-A117-C846405F67B1}"/>
              </a:ext>
            </a:extLst>
          </p:cNvPr>
          <p:cNvSpPr txBox="1"/>
          <p:nvPr/>
        </p:nvSpPr>
        <p:spPr>
          <a:xfrm>
            <a:off x="251520" y="3110537"/>
            <a:ext cx="8640960" cy="3447098"/>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sz="2000" dirty="0"/>
              <a:t>The balanced equation is useful because it can be used to calculate what mass of hydrogen and chlorine react together and how much hydrogen chloride is made</a:t>
            </a:r>
            <a:r>
              <a:rPr lang="en-GB" sz="2000" dirty="0" smtClean="0"/>
              <a:t>.</a:t>
            </a:r>
            <a:endParaRPr lang="en-GB" sz="2000" dirty="0"/>
          </a:p>
          <a:p>
            <a:r>
              <a:rPr lang="en-GB" sz="2000" b="1" dirty="0" err="1">
                <a:solidFill>
                  <a:schemeClr val="accent6">
                    <a:lumMod val="75000"/>
                  </a:schemeClr>
                </a:solidFill>
              </a:rPr>
              <a:t>A</a:t>
            </a:r>
            <a:r>
              <a:rPr lang="en-GB" sz="2000" b="1" baseline="-25000" dirty="0" err="1">
                <a:solidFill>
                  <a:schemeClr val="accent6">
                    <a:lumMod val="75000"/>
                  </a:schemeClr>
                </a:solidFill>
              </a:rPr>
              <a:t>r</a:t>
            </a:r>
            <a:r>
              <a:rPr lang="en-GB" sz="2000" b="1" dirty="0">
                <a:solidFill>
                  <a:schemeClr val="accent6">
                    <a:lumMod val="75000"/>
                  </a:schemeClr>
                </a:solidFill>
              </a:rPr>
              <a:t>:  H (1) 		so mass of 1 mole of H</a:t>
            </a:r>
            <a:r>
              <a:rPr lang="en-GB" sz="2000" b="1" baseline="-25000" dirty="0">
                <a:solidFill>
                  <a:schemeClr val="accent6">
                    <a:lumMod val="75000"/>
                  </a:schemeClr>
                </a:solidFill>
              </a:rPr>
              <a:t>2</a:t>
            </a:r>
            <a:r>
              <a:rPr lang="en-GB" sz="2000" b="1" dirty="0">
                <a:solidFill>
                  <a:schemeClr val="accent6">
                    <a:lumMod val="75000"/>
                  </a:schemeClr>
                </a:solidFill>
              </a:rPr>
              <a:t> 	= 2 x 1 </a:t>
            </a:r>
            <a:r>
              <a:rPr lang="en-GB" sz="2000" b="1" dirty="0" smtClean="0">
                <a:solidFill>
                  <a:schemeClr val="accent6">
                    <a:lumMod val="75000"/>
                  </a:schemeClr>
                </a:solidFill>
              </a:rPr>
              <a:t>= </a:t>
            </a:r>
            <a:r>
              <a:rPr lang="en-GB" sz="2000" b="1" dirty="0">
                <a:solidFill>
                  <a:schemeClr val="accent6">
                    <a:lumMod val="75000"/>
                  </a:schemeClr>
                </a:solidFill>
              </a:rPr>
              <a:t>2g</a:t>
            </a:r>
          </a:p>
          <a:p>
            <a:r>
              <a:rPr lang="en-GB" sz="2000" b="1" dirty="0" err="1">
                <a:solidFill>
                  <a:schemeClr val="accent6">
                    <a:lumMod val="75000"/>
                  </a:schemeClr>
                </a:solidFill>
              </a:rPr>
              <a:t>A</a:t>
            </a:r>
            <a:r>
              <a:rPr lang="en-GB" sz="2000" b="1" baseline="-25000" dirty="0" err="1">
                <a:solidFill>
                  <a:schemeClr val="accent6">
                    <a:lumMod val="75000"/>
                  </a:schemeClr>
                </a:solidFill>
              </a:rPr>
              <a:t>r</a:t>
            </a:r>
            <a:r>
              <a:rPr lang="en-GB" sz="2000" b="1" dirty="0">
                <a:solidFill>
                  <a:schemeClr val="accent6">
                    <a:lumMod val="75000"/>
                  </a:schemeClr>
                </a:solidFill>
              </a:rPr>
              <a:t>:  Cl (35.5)  	</a:t>
            </a:r>
            <a:r>
              <a:rPr lang="en-GB" sz="2000" b="1" dirty="0" smtClean="0">
                <a:solidFill>
                  <a:schemeClr val="accent6">
                    <a:lumMod val="75000"/>
                  </a:schemeClr>
                </a:solidFill>
              </a:rPr>
              <a:t>	so </a:t>
            </a:r>
            <a:r>
              <a:rPr lang="en-GB" sz="2000" b="1" dirty="0">
                <a:solidFill>
                  <a:schemeClr val="accent6">
                    <a:lumMod val="75000"/>
                  </a:schemeClr>
                </a:solidFill>
              </a:rPr>
              <a:t>mass of 1 mole of Cl</a:t>
            </a:r>
            <a:r>
              <a:rPr lang="en-GB" sz="2000" b="1" baseline="-25000" dirty="0">
                <a:solidFill>
                  <a:schemeClr val="accent6">
                    <a:lumMod val="75000"/>
                  </a:schemeClr>
                </a:solidFill>
              </a:rPr>
              <a:t>2</a:t>
            </a:r>
            <a:r>
              <a:rPr lang="en-GB" sz="2000" b="1" dirty="0">
                <a:solidFill>
                  <a:schemeClr val="accent6">
                    <a:lumMod val="75000"/>
                  </a:schemeClr>
                </a:solidFill>
              </a:rPr>
              <a:t>	= 35.5 x2 </a:t>
            </a:r>
            <a:r>
              <a:rPr lang="en-GB" sz="2000" b="1" dirty="0" smtClean="0">
                <a:solidFill>
                  <a:schemeClr val="accent6">
                    <a:lumMod val="75000"/>
                  </a:schemeClr>
                </a:solidFill>
              </a:rPr>
              <a:t>= </a:t>
            </a:r>
            <a:r>
              <a:rPr lang="en-GB" sz="2000" b="1" dirty="0">
                <a:solidFill>
                  <a:schemeClr val="accent6">
                    <a:lumMod val="75000"/>
                  </a:schemeClr>
                </a:solidFill>
              </a:rPr>
              <a:t>71g</a:t>
            </a: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 HCl (1 + 35.5)	so mass of 1 mole of HCl 	= </a:t>
            </a:r>
            <a:r>
              <a:rPr lang="en-GB" sz="2000" b="1" dirty="0" smtClean="0">
                <a:solidFill>
                  <a:schemeClr val="accent6">
                    <a:lumMod val="75000"/>
                  </a:schemeClr>
                </a:solidFill>
              </a:rPr>
              <a:t>36.5g</a:t>
            </a:r>
            <a:endParaRPr lang="en-GB" sz="2000" b="1" dirty="0">
              <a:solidFill>
                <a:schemeClr val="accent6">
                  <a:lumMod val="75000"/>
                </a:schemeClr>
              </a:solidFill>
            </a:endParaRPr>
          </a:p>
          <a:p>
            <a:r>
              <a:rPr lang="en-GB" sz="2000" dirty="0"/>
              <a:t>The balanced equation tells us that one mole of hydrogen reacts with one mole of chlorine to  give two moles of hydrogen chloride molecules, so turning this to masses</a:t>
            </a:r>
            <a:r>
              <a:rPr lang="en-GB" sz="2000" dirty="0" smtClean="0"/>
              <a:t>:</a:t>
            </a:r>
            <a:endParaRPr lang="en-GB" sz="2000" dirty="0"/>
          </a:p>
          <a:p>
            <a:r>
              <a:rPr lang="en-GB" sz="2000" b="1" dirty="0">
                <a:solidFill>
                  <a:schemeClr val="accent6">
                    <a:lumMod val="75000"/>
                  </a:schemeClr>
                </a:solidFill>
              </a:rPr>
              <a:t>1 mole of hydrogen 	</a:t>
            </a:r>
            <a:r>
              <a:rPr lang="en-GB" sz="2000" b="1" dirty="0" smtClean="0">
                <a:solidFill>
                  <a:schemeClr val="accent6">
                    <a:lumMod val="75000"/>
                  </a:schemeClr>
                </a:solidFill>
              </a:rPr>
              <a:t>	= </a:t>
            </a:r>
            <a:r>
              <a:rPr lang="en-GB" sz="2000" b="1" dirty="0">
                <a:solidFill>
                  <a:schemeClr val="accent6">
                    <a:lumMod val="75000"/>
                  </a:schemeClr>
                </a:solidFill>
              </a:rPr>
              <a:t>1 x 2 		= 2g</a:t>
            </a:r>
          </a:p>
          <a:p>
            <a:r>
              <a:rPr lang="en-GB" sz="2000" b="1" dirty="0">
                <a:solidFill>
                  <a:schemeClr val="accent6">
                    <a:lumMod val="75000"/>
                  </a:schemeClr>
                </a:solidFill>
              </a:rPr>
              <a:t>1 mole of chlorine 		= 1 x 71 		= 71g</a:t>
            </a:r>
          </a:p>
          <a:p>
            <a:r>
              <a:rPr lang="en-GB" sz="2000" b="1" dirty="0">
                <a:solidFill>
                  <a:schemeClr val="accent6">
                    <a:lumMod val="75000"/>
                  </a:schemeClr>
                </a:solidFill>
              </a:rPr>
              <a:t>2 moles of hydrochloric acid	= 2 x 36.5 	= 73g</a:t>
            </a:r>
          </a:p>
        </p:txBody>
      </p:sp>
    </p:spTree>
    <p:extLst>
      <p:ext uri="{BB962C8B-B14F-4D97-AF65-F5344CB8AC3E}">
        <p14:creationId xmlns:p14="http://schemas.microsoft.com/office/powerpoint/2010/main" val="2541632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44246"/>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Use of amount of substance - PART 1</a:t>
            </a:r>
            <a:br>
              <a:rPr lang="en-US" sz="2400" b="1" dirty="0">
                <a:solidFill>
                  <a:schemeClr val="accent6"/>
                </a:solidFill>
              </a:rPr>
            </a:br>
            <a:r>
              <a:rPr lang="en-US" sz="2400" b="1" dirty="0" smtClean="0">
                <a:solidFill>
                  <a:schemeClr val="tx1"/>
                </a:solidFill>
              </a:rPr>
              <a:t>HIGHER TIER</a:t>
            </a:r>
            <a:endParaRPr lang="en-GB" sz="2400" b="1" dirty="0">
              <a:solidFill>
                <a:schemeClr val="tx1"/>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TextBox 6">
            <a:extLst>
              <a:ext uri="{FF2B5EF4-FFF2-40B4-BE49-F238E27FC236}">
                <a16:creationId xmlns:a16="http://schemas.microsoft.com/office/drawing/2014/main" xmlns="" id="{5066674C-9F09-44C6-A117-C846405F67B1}"/>
              </a:ext>
            </a:extLst>
          </p:cNvPr>
          <p:cNvSpPr txBox="1"/>
          <p:nvPr/>
        </p:nvSpPr>
        <p:spPr>
          <a:xfrm>
            <a:off x="99496" y="782449"/>
            <a:ext cx="8945008" cy="5632311"/>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r>
              <a:rPr lang="en-GB" sz="2000" dirty="0"/>
              <a:t>Sodium hydroxide reacts with chlorine to make bleach:</a:t>
            </a:r>
          </a:p>
          <a:p>
            <a:pPr algn="ctr"/>
            <a:endParaRPr lang="en-GB" sz="2000" dirty="0"/>
          </a:p>
          <a:p>
            <a:r>
              <a:rPr lang="en-GB" sz="2000" b="1" dirty="0">
                <a:solidFill>
                  <a:schemeClr val="accent6">
                    <a:lumMod val="75000"/>
                  </a:schemeClr>
                </a:solidFill>
              </a:rPr>
              <a:t>                 2</a:t>
            </a:r>
            <a:r>
              <a:rPr lang="en-GB" sz="2000" b="1" dirty="0"/>
              <a:t>NaOH + Cl</a:t>
            </a:r>
            <a:r>
              <a:rPr lang="en-GB" sz="2000" b="1" baseline="-25000" dirty="0"/>
              <a:t>2</a:t>
            </a:r>
            <a:r>
              <a:rPr lang="en-GB" sz="2000" b="1" dirty="0"/>
              <a:t> </a:t>
            </a:r>
            <a:r>
              <a:rPr lang="en-GB" sz="2000" b="1" dirty="0">
                <a:sym typeface="Wingdings" panose="05000000000000000000" pitchFamily="2" charset="2"/>
              </a:rPr>
              <a:t> </a:t>
            </a:r>
            <a:r>
              <a:rPr lang="en-GB" sz="2000" b="1" dirty="0" err="1">
                <a:sym typeface="Wingdings" panose="05000000000000000000" pitchFamily="2" charset="2"/>
              </a:rPr>
              <a:t>NaOCl</a:t>
            </a:r>
            <a:r>
              <a:rPr lang="en-GB" sz="2000" b="1" dirty="0">
                <a:sym typeface="Wingdings" panose="05000000000000000000" pitchFamily="2" charset="2"/>
              </a:rPr>
              <a:t> + </a:t>
            </a:r>
            <a:r>
              <a:rPr lang="en-GB" sz="2000" b="1" dirty="0" err="1">
                <a:sym typeface="Wingdings" panose="05000000000000000000" pitchFamily="2" charset="2"/>
              </a:rPr>
              <a:t>NaCl</a:t>
            </a:r>
            <a:r>
              <a:rPr lang="en-GB" sz="2000" b="1" dirty="0">
                <a:sym typeface="Wingdings" panose="05000000000000000000" pitchFamily="2" charset="2"/>
              </a:rPr>
              <a:t> + H</a:t>
            </a:r>
            <a:r>
              <a:rPr lang="en-GB" sz="2000" b="1" baseline="-25000" dirty="0"/>
              <a:t>2</a:t>
            </a:r>
            <a:r>
              <a:rPr lang="en-GB" sz="2000" b="1" dirty="0">
                <a:sym typeface="Wingdings" panose="05000000000000000000" pitchFamily="2" charset="2"/>
              </a:rPr>
              <a:t>O</a:t>
            </a:r>
          </a:p>
          <a:p>
            <a:pPr algn="ctr"/>
            <a:endParaRPr lang="en-GB" sz="2000" dirty="0">
              <a:sym typeface="Wingdings" panose="05000000000000000000" pitchFamily="2" charset="2"/>
            </a:endParaRPr>
          </a:p>
          <a:p>
            <a:r>
              <a:rPr lang="en-GB" sz="2000" dirty="0">
                <a:sym typeface="Wingdings" panose="05000000000000000000" pitchFamily="2" charset="2"/>
              </a:rPr>
              <a:t>If you have a solution containing 100.0g of sodium </a:t>
            </a:r>
          </a:p>
          <a:p>
            <a:r>
              <a:rPr lang="en-GB" sz="2000" dirty="0">
                <a:sym typeface="Wingdings" panose="05000000000000000000" pitchFamily="2" charset="2"/>
              </a:rPr>
              <a:t>hydroxide, what mass of chlorine gas do you need to </a:t>
            </a:r>
          </a:p>
          <a:p>
            <a:r>
              <a:rPr lang="en-GB" sz="2000" dirty="0">
                <a:sym typeface="Wingdings" panose="05000000000000000000" pitchFamily="2" charset="2"/>
              </a:rPr>
              <a:t>convert it to bleach?</a:t>
            </a:r>
          </a:p>
          <a:p>
            <a:endParaRPr lang="en-GB" sz="2000" dirty="0">
              <a:sym typeface="Wingdings" panose="05000000000000000000" pitchFamily="2" charset="2"/>
            </a:endParaRP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 </a:t>
            </a:r>
            <a:r>
              <a:rPr lang="en-GB" sz="2000" b="1" dirty="0" err="1">
                <a:solidFill>
                  <a:schemeClr val="accent6">
                    <a:lumMod val="75000"/>
                  </a:schemeClr>
                </a:solidFill>
              </a:rPr>
              <a:t>NaOH</a:t>
            </a:r>
            <a:r>
              <a:rPr lang="en-GB" sz="2000" b="1" dirty="0">
                <a:solidFill>
                  <a:schemeClr val="accent6">
                    <a:lumMod val="75000"/>
                  </a:schemeClr>
                </a:solidFill>
              </a:rPr>
              <a:t> (23 + 16 + 1)	so mass of 1 mole of </a:t>
            </a:r>
            <a:r>
              <a:rPr lang="en-GB" sz="2000" b="1" dirty="0" err="1">
                <a:solidFill>
                  <a:schemeClr val="accent6">
                    <a:lumMod val="75000"/>
                  </a:schemeClr>
                </a:solidFill>
              </a:rPr>
              <a:t>NaOH</a:t>
            </a:r>
            <a:r>
              <a:rPr lang="en-GB" sz="2000" b="1" dirty="0">
                <a:solidFill>
                  <a:schemeClr val="accent6">
                    <a:lumMod val="75000"/>
                  </a:schemeClr>
                </a:solidFill>
              </a:rPr>
              <a:t> = 40g</a:t>
            </a: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 Cl</a:t>
            </a:r>
            <a:r>
              <a:rPr lang="en-GB" sz="2000" b="1" baseline="-25000" dirty="0">
                <a:solidFill>
                  <a:schemeClr val="accent6">
                    <a:lumMod val="75000"/>
                  </a:schemeClr>
                </a:solidFill>
              </a:rPr>
              <a:t>2 </a:t>
            </a:r>
            <a:r>
              <a:rPr lang="en-GB" sz="2000" b="1" dirty="0">
                <a:solidFill>
                  <a:schemeClr val="accent6">
                    <a:lumMod val="75000"/>
                  </a:schemeClr>
                </a:solidFill>
              </a:rPr>
              <a:t>(35.5 x 2)		so mass of 1 mole of Cl</a:t>
            </a:r>
            <a:r>
              <a:rPr lang="en-GB" sz="2000" b="1" baseline="-25000" dirty="0">
                <a:solidFill>
                  <a:schemeClr val="accent6">
                    <a:lumMod val="75000"/>
                  </a:schemeClr>
                </a:solidFill>
              </a:rPr>
              <a:t>2</a:t>
            </a:r>
            <a:r>
              <a:rPr lang="en-GB" sz="2000" b="1" dirty="0">
                <a:solidFill>
                  <a:schemeClr val="accent6">
                    <a:lumMod val="75000"/>
                  </a:schemeClr>
                </a:solidFill>
              </a:rPr>
              <a:t> = 71g</a:t>
            </a:r>
          </a:p>
          <a:p>
            <a:endParaRPr lang="en-GB" sz="2000" b="1" dirty="0">
              <a:solidFill>
                <a:schemeClr val="accent6">
                  <a:lumMod val="75000"/>
                </a:schemeClr>
              </a:solidFill>
            </a:endParaRPr>
          </a:p>
          <a:p>
            <a:r>
              <a:rPr lang="en-GB" sz="2000" dirty="0"/>
              <a:t>So 100.0g of sodium hydroxide is </a:t>
            </a:r>
            <a:r>
              <a:rPr lang="en-GB" sz="2000" b="1" dirty="0">
                <a:solidFill>
                  <a:schemeClr val="accent6">
                    <a:lumMod val="75000"/>
                  </a:schemeClr>
                </a:solidFill>
              </a:rPr>
              <a:t>100/40 = 2.5 </a:t>
            </a:r>
            <a:r>
              <a:rPr lang="en-GB" sz="2000" b="1" dirty="0" smtClean="0">
                <a:solidFill>
                  <a:schemeClr val="accent6">
                    <a:lumMod val="75000"/>
                  </a:schemeClr>
                </a:solidFill>
              </a:rPr>
              <a:t>moles</a:t>
            </a:r>
          </a:p>
          <a:p>
            <a:endParaRPr lang="en-GB" sz="2000" dirty="0"/>
          </a:p>
          <a:p>
            <a:r>
              <a:rPr lang="en-GB" sz="2000" dirty="0"/>
              <a:t>The balanced symbol equation tells us that for every two moles of sodium hydroxide, you need one mole of chlorine to react with it</a:t>
            </a:r>
            <a:r>
              <a:rPr lang="en-GB" sz="2000" dirty="0" smtClean="0"/>
              <a:t>.</a:t>
            </a:r>
            <a:endParaRPr lang="en-GB" sz="2000" dirty="0"/>
          </a:p>
          <a:p>
            <a:r>
              <a:rPr lang="en-GB" sz="2000" dirty="0"/>
              <a:t>So you need </a:t>
            </a:r>
            <a:r>
              <a:rPr lang="en-GB" sz="2000" b="1" dirty="0">
                <a:solidFill>
                  <a:schemeClr val="accent6">
                    <a:lumMod val="75000"/>
                  </a:schemeClr>
                </a:solidFill>
              </a:rPr>
              <a:t>2.5/2 = 1.25 moles </a:t>
            </a:r>
            <a:r>
              <a:rPr lang="en-GB" sz="2000" dirty="0"/>
              <a:t>of </a:t>
            </a:r>
            <a:r>
              <a:rPr lang="en-GB" sz="2000" dirty="0" smtClean="0"/>
              <a:t>chlorine</a:t>
            </a:r>
            <a:endParaRPr lang="en-GB" sz="2000" dirty="0"/>
          </a:p>
          <a:p>
            <a:r>
              <a:rPr lang="en-GB" sz="2000" dirty="0"/>
              <a:t>One mole of chlorine is 71g, so you will need </a:t>
            </a:r>
            <a:r>
              <a:rPr lang="en-GB" sz="2000" b="1" dirty="0">
                <a:solidFill>
                  <a:schemeClr val="accent6">
                    <a:lumMod val="75000"/>
                  </a:schemeClr>
                </a:solidFill>
              </a:rPr>
              <a:t>1.25 x 71g = 88.75g </a:t>
            </a:r>
            <a:r>
              <a:rPr lang="en-GB" sz="2000" dirty="0"/>
              <a:t>of chlorine to react with 100.0g of sodium hydroxide.</a:t>
            </a:r>
          </a:p>
        </p:txBody>
      </p:sp>
      <p:pic>
        <p:nvPicPr>
          <p:cNvPr id="1026" name="Picture 2" descr="Related image">
            <a:extLst>
              <a:ext uri="{FF2B5EF4-FFF2-40B4-BE49-F238E27FC236}">
                <a16:creationId xmlns:a16="http://schemas.microsoft.com/office/drawing/2014/main" xmlns="" id="{F024FC71-D57D-4AA3-BE20-380046CE9C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264" y="1340768"/>
            <a:ext cx="1562100" cy="2933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059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44246"/>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Use of amount of substance - PART 1</a:t>
            </a:r>
            <a:br>
              <a:rPr lang="en-US" sz="2400" b="1" dirty="0">
                <a:solidFill>
                  <a:schemeClr val="accent6"/>
                </a:solidFill>
              </a:rPr>
            </a:br>
            <a:r>
              <a:rPr lang="en-US" sz="2400" b="1" dirty="0" smtClean="0">
                <a:solidFill>
                  <a:schemeClr val="tx1"/>
                </a:solidFill>
              </a:rPr>
              <a:t>HIGHER TIER</a:t>
            </a:r>
            <a:endParaRPr lang="en-GB" sz="2400" b="1" dirty="0">
              <a:solidFill>
                <a:schemeClr val="tx1"/>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51520" y="907207"/>
            <a:ext cx="8640960" cy="1015663"/>
          </a:xfrm>
          <a:prstGeom prst="rect">
            <a:avLst/>
          </a:prstGeom>
          <a:noFill/>
          <a:ln>
            <a:solidFill>
              <a:schemeClr val="bg1"/>
            </a:solidFill>
          </a:ln>
        </p:spPr>
        <p:txBody>
          <a:bodyPr wrap="square" rtlCol="0">
            <a:spAutoFit/>
          </a:bodyPr>
          <a:lstStyle/>
          <a:p>
            <a:pPr algn="ctr"/>
            <a:r>
              <a:rPr lang="en-GB" sz="2000" dirty="0"/>
              <a:t>The</a:t>
            </a:r>
            <a:r>
              <a:rPr lang="en-GB" sz="2000" b="1" dirty="0"/>
              <a:t> balancing numbers </a:t>
            </a:r>
            <a:r>
              <a:rPr lang="en-GB" sz="2000" dirty="0"/>
              <a:t>in a </a:t>
            </a:r>
            <a:r>
              <a:rPr lang="en-GB" sz="2000" b="1" dirty="0"/>
              <a:t>symbol </a:t>
            </a:r>
            <a:r>
              <a:rPr lang="en-GB" sz="2000" dirty="0"/>
              <a:t>equation can be calculated from the</a:t>
            </a:r>
            <a:r>
              <a:rPr lang="en-GB" sz="2000" b="1" dirty="0"/>
              <a:t> masses </a:t>
            </a:r>
            <a:r>
              <a:rPr lang="en-GB" sz="2000" dirty="0"/>
              <a:t>of </a:t>
            </a:r>
            <a:r>
              <a:rPr lang="en-GB" sz="2000" b="1" dirty="0"/>
              <a:t>reactants</a:t>
            </a:r>
            <a:r>
              <a:rPr lang="en-GB" sz="2000" dirty="0"/>
              <a:t> and </a:t>
            </a:r>
            <a:r>
              <a:rPr lang="en-GB" sz="2000" b="1" dirty="0"/>
              <a:t>products</a:t>
            </a:r>
            <a:r>
              <a:rPr lang="en-GB" sz="2000" dirty="0"/>
              <a:t> by </a:t>
            </a:r>
            <a:r>
              <a:rPr lang="en-GB" sz="2000" b="1" dirty="0"/>
              <a:t>converting</a:t>
            </a:r>
            <a:r>
              <a:rPr lang="en-GB" sz="2000" dirty="0"/>
              <a:t> the </a:t>
            </a:r>
            <a:r>
              <a:rPr lang="en-GB" sz="2000" b="1" dirty="0"/>
              <a:t>masses in grams </a:t>
            </a:r>
            <a:r>
              <a:rPr lang="en-GB" sz="2000" dirty="0"/>
              <a:t>to </a:t>
            </a:r>
            <a:r>
              <a:rPr lang="en-GB" sz="2000" b="1" dirty="0"/>
              <a:t>amounts in moles </a:t>
            </a:r>
            <a:r>
              <a:rPr lang="en-GB" sz="2000" dirty="0"/>
              <a:t>and converting the number of moles to </a:t>
            </a:r>
            <a:r>
              <a:rPr lang="en-GB" sz="2000" b="1" dirty="0"/>
              <a:t>simple whole number ratios</a:t>
            </a:r>
            <a:r>
              <a:rPr lang="en-GB" sz="2000" dirty="0"/>
              <a:t>.</a:t>
            </a:r>
            <a:endParaRPr lang="en-GB" sz="2000" dirty="0">
              <a:sym typeface="Wingdings" panose="05000000000000000000" pitchFamily="2" charset="2"/>
            </a:endParaRPr>
          </a:p>
        </p:txBody>
      </p:sp>
      <p:sp>
        <p:nvSpPr>
          <p:cNvPr id="7" name="TextBox 6">
            <a:extLst>
              <a:ext uri="{FF2B5EF4-FFF2-40B4-BE49-F238E27FC236}">
                <a16:creationId xmlns:a16="http://schemas.microsoft.com/office/drawing/2014/main" xmlns="" id="{5066674C-9F09-44C6-A117-C846405F67B1}"/>
              </a:ext>
            </a:extLst>
          </p:cNvPr>
          <p:cNvSpPr txBox="1"/>
          <p:nvPr/>
        </p:nvSpPr>
        <p:spPr>
          <a:xfrm>
            <a:off x="251520" y="2001643"/>
            <a:ext cx="8640960" cy="4093428"/>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sz="2000" dirty="0">
                <a:sym typeface="Wingdings" panose="05000000000000000000" pitchFamily="2" charset="2"/>
              </a:rPr>
              <a:t>8.5g of sodium nitrate (NaNO</a:t>
            </a:r>
            <a:r>
              <a:rPr lang="en-GB" sz="2000" baseline="-25000" dirty="0">
                <a:sym typeface="Wingdings" panose="05000000000000000000" pitchFamily="2" charset="2"/>
              </a:rPr>
              <a:t>3</a:t>
            </a:r>
            <a:r>
              <a:rPr lang="en-GB" sz="2000" dirty="0">
                <a:sym typeface="Wingdings" panose="05000000000000000000" pitchFamily="2" charset="2"/>
              </a:rPr>
              <a:t>) is heated until its mass is constant.  </a:t>
            </a:r>
          </a:p>
          <a:p>
            <a:pPr algn="ctr"/>
            <a:r>
              <a:rPr lang="en-GB" sz="2000" dirty="0">
                <a:sym typeface="Wingdings" panose="05000000000000000000" pitchFamily="2" charset="2"/>
              </a:rPr>
              <a:t>6.9g of sodium nitrite (NaNO</a:t>
            </a:r>
            <a:r>
              <a:rPr lang="en-GB" sz="2000" baseline="-25000" dirty="0">
                <a:sym typeface="Wingdings" panose="05000000000000000000" pitchFamily="2" charset="2"/>
              </a:rPr>
              <a:t>2</a:t>
            </a:r>
            <a:r>
              <a:rPr lang="en-GB" sz="2000" dirty="0">
                <a:sym typeface="Wingdings" panose="05000000000000000000" pitchFamily="2" charset="2"/>
              </a:rPr>
              <a:t>) and 1.6g of oxygen gas (O</a:t>
            </a:r>
            <a:r>
              <a:rPr lang="en-GB" sz="2000" baseline="-25000" dirty="0">
                <a:sym typeface="Wingdings" panose="05000000000000000000" pitchFamily="2" charset="2"/>
              </a:rPr>
              <a:t>2</a:t>
            </a:r>
            <a:r>
              <a:rPr lang="en-GB" sz="2000" dirty="0">
                <a:sym typeface="Wingdings" panose="05000000000000000000" pitchFamily="2" charset="2"/>
              </a:rPr>
              <a:t>) is produced</a:t>
            </a:r>
            <a:r>
              <a:rPr lang="en-GB" sz="2000" b="1" dirty="0" smtClean="0">
                <a:sym typeface="Wingdings" panose="05000000000000000000" pitchFamily="2" charset="2"/>
              </a:rPr>
              <a:t>.</a:t>
            </a:r>
          </a:p>
          <a:p>
            <a:pPr algn="ctr"/>
            <a:endParaRPr lang="en-GB" sz="2000" b="1" dirty="0">
              <a:sym typeface="Wingdings" panose="05000000000000000000" pitchFamily="2" charset="2"/>
            </a:endParaRPr>
          </a:p>
          <a:p>
            <a:pPr algn="ctr"/>
            <a:r>
              <a:rPr lang="en-GB" sz="2000" b="1" dirty="0">
                <a:sym typeface="Wingdings" panose="05000000000000000000" pitchFamily="2" charset="2"/>
              </a:rPr>
              <a:t>NaNO</a:t>
            </a:r>
            <a:r>
              <a:rPr lang="en-GB" sz="2000" b="1" baseline="-25000" dirty="0">
                <a:sym typeface="Wingdings" panose="05000000000000000000" pitchFamily="2" charset="2"/>
              </a:rPr>
              <a:t>3   </a:t>
            </a:r>
            <a:r>
              <a:rPr lang="en-GB" sz="2000" b="1" dirty="0">
                <a:sym typeface="Wingdings" panose="05000000000000000000" pitchFamily="2" charset="2"/>
              </a:rPr>
              <a:t>   NaNO</a:t>
            </a:r>
            <a:r>
              <a:rPr lang="en-GB" sz="2000" b="1" baseline="-25000" dirty="0">
                <a:sym typeface="Wingdings" panose="05000000000000000000" pitchFamily="2" charset="2"/>
              </a:rPr>
              <a:t>2   </a:t>
            </a:r>
            <a:r>
              <a:rPr lang="en-GB" sz="2000" b="1" dirty="0">
                <a:sym typeface="Wingdings" panose="05000000000000000000" pitchFamily="2" charset="2"/>
              </a:rPr>
              <a:t>+  </a:t>
            </a:r>
            <a:r>
              <a:rPr lang="en-GB" sz="2000" b="1" dirty="0" smtClean="0">
                <a:sym typeface="Wingdings" panose="05000000000000000000" pitchFamily="2" charset="2"/>
              </a:rPr>
              <a:t>O</a:t>
            </a:r>
            <a:r>
              <a:rPr lang="en-GB" sz="2000" b="1" baseline="-25000" dirty="0" smtClean="0">
                <a:sym typeface="Wingdings" panose="05000000000000000000" pitchFamily="2" charset="2"/>
              </a:rPr>
              <a:t>2</a:t>
            </a:r>
            <a:endParaRPr lang="en-GB" sz="2000" dirty="0"/>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a:t>
            </a:r>
            <a:r>
              <a:rPr lang="en-GB" sz="2000" b="1" dirty="0">
                <a:solidFill>
                  <a:schemeClr val="accent6">
                    <a:lumMod val="75000"/>
                  </a:schemeClr>
                </a:solidFill>
                <a:sym typeface="Wingdings" panose="05000000000000000000" pitchFamily="2" charset="2"/>
              </a:rPr>
              <a:t>NaNO</a:t>
            </a:r>
            <a:r>
              <a:rPr lang="en-GB" sz="2000" b="1" baseline="-25000" dirty="0">
                <a:solidFill>
                  <a:schemeClr val="accent6">
                    <a:lumMod val="75000"/>
                  </a:schemeClr>
                </a:solidFill>
                <a:sym typeface="Wingdings" panose="05000000000000000000" pitchFamily="2" charset="2"/>
              </a:rPr>
              <a:t>3 </a:t>
            </a:r>
            <a:r>
              <a:rPr lang="en-GB" sz="2000" b="1" dirty="0">
                <a:solidFill>
                  <a:schemeClr val="accent6">
                    <a:lumMod val="75000"/>
                  </a:schemeClr>
                </a:solidFill>
                <a:sym typeface="Wingdings" panose="05000000000000000000" pitchFamily="2" charset="2"/>
              </a:rPr>
              <a:t> = 23 + 14 + (16x3) =  85</a:t>
            </a: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a:t>
            </a:r>
            <a:r>
              <a:rPr lang="en-GB" sz="2000" b="1" dirty="0">
                <a:solidFill>
                  <a:schemeClr val="accent6">
                    <a:lumMod val="75000"/>
                  </a:schemeClr>
                </a:solidFill>
                <a:sym typeface="Wingdings" panose="05000000000000000000" pitchFamily="2" charset="2"/>
              </a:rPr>
              <a:t>NaNO</a:t>
            </a:r>
            <a:r>
              <a:rPr lang="en-GB" sz="2000" b="1" baseline="-25000" dirty="0">
                <a:solidFill>
                  <a:schemeClr val="accent6">
                    <a:lumMod val="75000"/>
                  </a:schemeClr>
                </a:solidFill>
                <a:sym typeface="Wingdings" panose="05000000000000000000" pitchFamily="2" charset="2"/>
              </a:rPr>
              <a:t>2 </a:t>
            </a:r>
            <a:r>
              <a:rPr lang="en-GB" sz="2000" b="1" dirty="0">
                <a:solidFill>
                  <a:schemeClr val="accent6">
                    <a:lumMod val="75000"/>
                  </a:schemeClr>
                </a:solidFill>
                <a:sym typeface="Wingdings" panose="05000000000000000000" pitchFamily="2" charset="2"/>
              </a:rPr>
              <a:t> = 23 + 14 + (16x2) =  69</a:t>
            </a:r>
            <a:endParaRPr lang="en-GB" sz="2000" b="1" dirty="0">
              <a:solidFill>
                <a:schemeClr val="accent6">
                  <a:lumMod val="75000"/>
                </a:schemeClr>
              </a:solidFill>
            </a:endParaRP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a:t>
            </a:r>
            <a:r>
              <a:rPr lang="en-GB" sz="2000" b="1" dirty="0">
                <a:solidFill>
                  <a:schemeClr val="accent6">
                    <a:lumMod val="75000"/>
                  </a:schemeClr>
                </a:solidFill>
                <a:sym typeface="Wingdings" panose="05000000000000000000" pitchFamily="2" charset="2"/>
              </a:rPr>
              <a:t>O</a:t>
            </a:r>
            <a:r>
              <a:rPr lang="en-GB" sz="2000" b="1" baseline="-25000" dirty="0">
                <a:solidFill>
                  <a:schemeClr val="accent6">
                    <a:lumMod val="75000"/>
                  </a:schemeClr>
                </a:solidFill>
                <a:sym typeface="Wingdings" panose="05000000000000000000" pitchFamily="2" charset="2"/>
              </a:rPr>
              <a:t>2 </a:t>
            </a:r>
            <a:r>
              <a:rPr lang="en-GB" sz="2000" b="1" dirty="0">
                <a:solidFill>
                  <a:schemeClr val="accent6">
                    <a:lumMod val="75000"/>
                  </a:schemeClr>
                </a:solidFill>
                <a:sym typeface="Wingdings" panose="05000000000000000000" pitchFamily="2" charset="2"/>
              </a:rPr>
              <a:t> 	    = 16x2                     = 32</a:t>
            </a:r>
          </a:p>
          <a:p>
            <a:endParaRPr lang="en-GB" sz="2000" dirty="0">
              <a:sym typeface="Wingdings" panose="05000000000000000000" pitchFamily="2" charset="2"/>
            </a:endParaRPr>
          </a:p>
          <a:p>
            <a:r>
              <a:rPr lang="en-GB" sz="2000" dirty="0">
                <a:sym typeface="Wingdings" panose="05000000000000000000" pitchFamily="2" charset="2"/>
              </a:rPr>
              <a:t>Then to convert masses to moles use</a:t>
            </a:r>
            <a:r>
              <a:rPr lang="en-GB" sz="2000" dirty="0" smtClean="0">
                <a:sym typeface="Wingdings" panose="05000000000000000000" pitchFamily="2" charset="2"/>
              </a:rPr>
              <a:t>:</a:t>
            </a:r>
            <a:endParaRPr lang="en-GB" sz="2000" b="1" dirty="0">
              <a:solidFill>
                <a:schemeClr val="accent6">
                  <a:lumMod val="75000"/>
                </a:schemeClr>
              </a:solidFill>
            </a:endParaRPr>
          </a:p>
          <a:p>
            <a:r>
              <a:rPr lang="en-GB" sz="2000" b="1" dirty="0">
                <a:solidFill>
                  <a:schemeClr val="accent6">
                    <a:lumMod val="75000"/>
                  </a:schemeClr>
                </a:solidFill>
                <a:sym typeface="Wingdings" panose="05000000000000000000" pitchFamily="2" charset="2"/>
              </a:rPr>
              <a:t>Moles of NaNO</a:t>
            </a:r>
            <a:r>
              <a:rPr lang="en-GB" sz="2000" b="1" baseline="-25000" dirty="0">
                <a:solidFill>
                  <a:schemeClr val="accent6">
                    <a:lumMod val="75000"/>
                  </a:schemeClr>
                </a:solidFill>
                <a:sym typeface="Wingdings" panose="05000000000000000000" pitchFamily="2" charset="2"/>
              </a:rPr>
              <a:t>3 </a:t>
            </a:r>
            <a:r>
              <a:rPr lang="en-GB" sz="2000" b="1" dirty="0">
                <a:solidFill>
                  <a:schemeClr val="accent6">
                    <a:lumMod val="75000"/>
                  </a:schemeClr>
                </a:solidFill>
                <a:sym typeface="Wingdings" panose="05000000000000000000" pitchFamily="2" charset="2"/>
              </a:rPr>
              <a:t> = 8.5/85 = 0.1 </a:t>
            </a:r>
            <a:r>
              <a:rPr lang="en-GB" sz="2000" b="1" dirty="0" err="1">
                <a:solidFill>
                  <a:schemeClr val="accent6">
                    <a:lumMod val="75000"/>
                  </a:schemeClr>
                </a:solidFill>
                <a:sym typeface="Wingdings" panose="05000000000000000000" pitchFamily="2" charset="2"/>
              </a:rPr>
              <a:t>mol</a:t>
            </a:r>
            <a:endParaRPr lang="en-GB" sz="2000" b="1" dirty="0">
              <a:solidFill>
                <a:schemeClr val="accent6">
                  <a:lumMod val="75000"/>
                </a:schemeClr>
              </a:solidFill>
              <a:sym typeface="Wingdings" panose="05000000000000000000" pitchFamily="2" charset="2"/>
            </a:endParaRPr>
          </a:p>
          <a:p>
            <a:r>
              <a:rPr lang="en-GB" sz="2000" b="1" dirty="0">
                <a:solidFill>
                  <a:schemeClr val="accent6">
                    <a:lumMod val="75000"/>
                  </a:schemeClr>
                </a:solidFill>
                <a:sym typeface="Wingdings" panose="05000000000000000000" pitchFamily="2" charset="2"/>
              </a:rPr>
              <a:t>Moles of NaNO</a:t>
            </a:r>
            <a:r>
              <a:rPr lang="en-GB" sz="2000" b="1" baseline="-25000" dirty="0">
                <a:solidFill>
                  <a:schemeClr val="accent6">
                    <a:lumMod val="75000"/>
                  </a:schemeClr>
                </a:solidFill>
                <a:sym typeface="Wingdings" panose="05000000000000000000" pitchFamily="2" charset="2"/>
              </a:rPr>
              <a:t>2 </a:t>
            </a:r>
            <a:r>
              <a:rPr lang="en-GB" sz="2000" b="1" dirty="0">
                <a:solidFill>
                  <a:schemeClr val="accent6">
                    <a:lumMod val="75000"/>
                  </a:schemeClr>
                </a:solidFill>
                <a:sym typeface="Wingdings" panose="05000000000000000000" pitchFamily="2" charset="2"/>
              </a:rPr>
              <a:t> = 6.9/69 = 0.1 </a:t>
            </a:r>
            <a:r>
              <a:rPr lang="en-GB" sz="2000" b="1" dirty="0" err="1">
                <a:solidFill>
                  <a:schemeClr val="accent6">
                    <a:lumMod val="75000"/>
                  </a:schemeClr>
                </a:solidFill>
                <a:sym typeface="Wingdings" panose="05000000000000000000" pitchFamily="2" charset="2"/>
              </a:rPr>
              <a:t>mol</a:t>
            </a:r>
            <a:endParaRPr lang="en-GB" sz="2000" b="1" dirty="0">
              <a:solidFill>
                <a:schemeClr val="accent6">
                  <a:lumMod val="75000"/>
                </a:schemeClr>
              </a:solidFill>
              <a:sym typeface="Wingdings" panose="05000000000000000000" pitchFamily="2" charset="2"/>
            </a:endParaRPr>
          </a:p>
          <a:p>
            <a:r>
              <a:rPr lang="en-GB" sz="2000" b="1" dirty="0">
                <a:solidFill>
                  <a:schemeClr val="accent6">
                    <a:lumMod val="75000"/>
                  </a:schemeClr>
                </a:solidFill>
                <a:sym typeface="Wingdings" panose="05000000000000000000" pitchFamily="2" charset="2"/>
              </a:rPr>
              <a:t>Moles of O</a:t>
            </a:r>
            <a:r>
              <a:rPr lang="en-GB" sz="2000" b="1" baseline="-25000" dirty="0">
                <a:solidFill>
                  <a:schemeClr val="accent6">
                    <a:lumMod val="75000"/>
                  </a:schemeClr>
                </a:solidFill>
                <a:sym typeface="Wingdings" panose="05000000000000000000" pitchFamily="2" charset="2"/>
              </a:rPr>
              <a:t>2 </a:t>
            </a:r>
            <a:r>
              <a:rPr lang="en-GB" sz="2000" b="1" dirty="0">
                <a:solidFill>
                  <a:schemeClr val="accent6">
                    <a:lumMod val="75000"/>
                  </a:schemeClr>
                </a:solidFill>
                <a:sym typeface="Wingdings" panose="05000000000000000000" pitchFamily="2" charset="2"/>
              </a:rPr>
              <a:t>         = 1.6/32 = 0.05 </a:t>
            </a:r>
            <a:r>
              <a:rPr lang="en-GB" sz="2000" b="1" dirty="0" err="1" smtClean="0">
                <a:solidFill>
                  <a:schemeClr val="accent6">
                    <a:lumMod val="75000"/>
                  </a:schemeClr>
                </a:solidFill>
                <a:sym typeface="Wingdings" panose="05000000000000000000" pitchFamily="2" charset="2"/>
              </a:rPr>
              <a:t>mol</a:t>
            </a:r>
            <a:endParaRPr lang="en-GB" sz="2000" dirty="0"/>
          </a:p>
          <a:p>
            <a:r>
              <a:rPr lang="en-GB" sz="2000" dirty="0"/>
              <a:t>Dividing the ratio by the smallest number gives 2:2:1  </a:t>
            </a:r>
            <a:r>
              <a:rPr lang="en-GB" sz="2000" dirty="0" smtClean="0"/>
              <a:t> </a:t>
            </a:r>
            <a:r>
              <a:rPr lang="en-GB" sz="2000" b="1" dirty="0">
                <a:solidFill>
                  <a:schemeClr val="accent6">
                    <a:lumMod val="75000"/>
                  </a:schemeClr>
                </a:solidFill>
              </a:rPr>
              <a:t>2</a:t>
            </a:r>
            <a:r>
              <a:rPr lang="en-GB" sz="2000" b="1" dirty="0">
                <a:sym typeface="Wingdings" panose="05000000000000000000" pitchFamily="2" charset="2"/>
              </a:rPr>
              <a:t>NaNO</a:t>
            </a:r>
            <a:r>
              <a:rPr lang="en-GB" sz="2000" b="1" baseline="-25000" dirty="0">
                <a:sym typeface="Wingdings" panose="05000000000000000000" pitchFamily="2" charset="2"/>
              </a:rPr>
              <a:t>3   </a:t>
            </a:r>
            <a:r>
              <a:rPr lang="en-GB" sz="2000" b="1" dirty="0">
                <a:sym typeface="Wingdings" panose="05000000000000000000" pitchFamily="2" charset="2"/>
              </a:rPr>
              <a:t>   </a:t>
            </a:r>
            <a:r>
              <a:rPr lang="en-GB" sz="2000" b="1" dirty="0">
                <a:solidFill>
                  <a:schemeClr val="accent6">
                    <a:lumMod val="75000"/>
                  </a:schemeClr>
                </a:solidFill>
                <a:sym typeface="Wingdings" panose="05000000000000000000" pitchFamily="2" charset="2"/>
              </a:rPr>
              <a:t>2</a:t>
            </a:r>
            <a:r>
              <a:rPr lang="en-GB" sz="2000" b="1" dirty="0">
                <a:sym typeface="Wingdings" panose="05000000000000000000" pitchFamily="2" charset="2"/>
              </a:rPr>
              <a:t>NaNO</a:t>
            </a:r>
            <a:r>
              <a:rPr lang="en-GB" sz="2000" b="1" baseline="-25000" dirty="0">
                <a:sym typeface="Wingdings" panose="05000000000000000000" pitchFamily="2" charset="2"/>
              </a:rPr>
              <a:t>2   </a:t>
            </a:r>
            <a:r>
              <a:rPr lang="en-GB" sz="2000" b="1" dirty="0">
                <a:sym typeface="Wingdings" panose="05000000000000000000" pitchFamily="2" charset="2"/>
              </a:rPr>
              <a:t>+  O</a:t>
            </a:r>
            <a:r>
              <a:rPr lang="en-GB" sz="2000" b="1" baseline="-25000" dirty="0">
                <a:sym typeface="Wingdings" panose="05000000000000000000" pitchFamily="2" charset="2"/>
              </a:rPr>
              <a:t>2</a:t>
            </a:r>
            <a:endParaRPr lang="en-GB" sz="2000" b="1" dirty="0">
              <a:sym typeface="Wingdings" panose="05000000000000000000" pitchFamily="2" charset="2"/>
            </a:endParaRPr>
          </a:p>
        </p:txBody>
      </p:sp>
      <p:sp>
        <p:nvSpPr>
          <p:cNvPr id="8" name="TextBox 7">
            <a:extLst>
              <a:ext uri="{FF2B5EF4-FFF2-40B4-BE49-F238E27FC236}">
                <a16:creationId xmlns:a16="http://schemas.microsoft.com/office/drawing/2014/main" xmlns="" id="{3F87603C-119B-48E6-AB6D-D47DB9A53A31}"/>
              </a:ext>
            </a:extLst>
          </p:cNvPr>
          <p:cNvSpPr txBox="1"/>
          <p:nvPr/>
        </p:nvSpPr>
        <p:spPr>
          <a:xfrm>
            <a:off x="4877780" y="3645108"/>
            <a:ext cx="3202196" cy="707886"/>
          </a:xfrm>
          <a:prstGeom prst="rect">
            <a:avLst/>
          </a:prstGeom>
          <a:solidFill>
            <a:schemeClr val="accent6">
              <a:lumMod val="60000"/>
              <a:lumOff val="40000"/>
            </a:schemeClr>
          </a:solidFill>
          <a:ln>
            <a:solidFill>
              <a:schemeClr val="accent6">
                <a:lumMod val="75000"/>
              </a:schemeClr>
            </a:solidFill>
          </a:ln>
        </p:spPr>
        <p:txBody>
          <a:bodyPr wrap="square" rtlCol="0">
            <a:spAutoFit/>
          </a:bodyPr>
          <a:lstStyle/>
          <a:p>
            <a:r>
              <a:rPr lang="en-GB" sz="2000" dirty="0"/>
              <a:t>Number of moles = </a:t>
            </a:r>
            <a:r>
              <a:rPr lang="en-GB" sz="2000" u="sng" dirty="0"/>
              <a:t>mass (g)</a:t>
            </a:r>
            <a:r>
              <a:rPr lang="en-GB" sz="2000" dirty="0"/>
              <a:t>                                                         </a:t>
            </a:r>
          </a:p>
          <a:p>
            <a:r>
              <a:rPr lang="en-GB" sz="2000" dirty="0"/>
              <a:t>                                        M</a:t>
            </a:r>
            <a:r>
              <a:rPr lang="en-GB" sz="2000" baseline="-25000" dirty="0"/>
              <a:t>r</a:t>
            </a:r>
          </a:p>
        </p:txBody>
      </p:sp>
      <p:sp>
        <p:nvSpPr>
          <p:cNvPr id="5" name="TextBox 4">
            <a:extLst>
              <a:ext uri="{FF2B5EF4-FFF2-40B4-BE49-F238E27FC236}">
                <a16:creationId xmlns:a16="http://schemas.microsoft.com/office/drawing/2014/main" xmlns="" id="{FAA9DEDC-66BE-4168-BBAB-9A13E04836DE}"/>
              </a:ext>
            </a:extLst>
          </p:cNvPr>
          <p:cNvSpPr txBox="1"/>
          <p:nvPr/>
        </p:nvSpPr>
        <p:spPr>
          <a:xfrm>
            <a:off x="5292080" y="4725144"/>
            <a:ext cx="3219151" cy="923330"/>
          </a:xfrm>
          <a:prstGeom prst="rect">
            <a:avLst/>
          </a:prstGeom>
          <a:noFill/>
        </p:spPr>
        <p:txBody>
          <a:bodyPr wrap="none" rtlCol="0">
            <a:spAutoFit/>
          </a:bodyPr>
          <a:lstStyle/>
          <a:p>
            <a:r>
              <a:rPr lang="en-GB" b="1" dirty="0">
                <a:solidFill>
                  <a:schemeClr val="accent6">
                    <a:lumMod val="75000"/>
                  </a:schemeClr>
                </a:solidFill>
                <a:sym typeface="Wingdings" panose="05000000000000000000" pitchFamily="2" charset="2"/>
              </a:rPr>
              <a:t>NaNO</a:t>
            </a:r>
            <a:r>
              <a:rPr lang="en-GB" b="1" baseline="-25000" dirty="0">
                <a:solidFill>
                  <a:schemeClr val="accent6">
                    <a:lumMod val="75000"/>
                  </a:schemeClr>
                </a:solidFill>
                <a:sym typeface="Wingdings" panose="05000000000000000000" pitchFamily="2" charset="2"/>
              </a:rPr>
              <a:t>3      </a:t>
            </a:r>
            <a:r>
              <a:rPr lang="en-GB" b="1" dirty="0">
                <a:solidFill>
                  <a:schemeClr val="accent6">
                    <a:lumMod val="75000"/>
                  </a:schemeClr>
                </a:solidFill>
                <a:sym typeface="Wingdings" panose="05000000000000000000" pitchFamily="2" charset="2"/>
              </a:rPr>
              <a:t>:    NaNO</a:t>
            </a:r>
            <a:r>
              <a:rPr lang="en-GB" b="1" baseline="-25000" dirty="0">
                <a:solidFill>
                  <a:schemeClr val="accent6">
                    <a:lumMod val="75000"/>
                  </a:schemeClr>
                </a:solidFill>
                <a:sym typeface="Wingdings" panose="05000000000000000000" pitchFamily="2" charset="2"/>
              </a:rPr>
              <a:t>2      </a:t>
            </a:r>
            <a:r>
              <a:rPr lang="en-GB" b="1" dirty="0">
                <a:solidFill>
                  <a:schemeClr val="accent6">
                    <a:lumMod val="75000"/>
                  </a:schemeClr>
                </a:solidFill>
                <a:sym typeface="Wingdings" panose="05000000000000000000" pitchFamily="2" charset="2"/>
              </a:rPr>
              <a:t>:      O</a:t>
            </a:r>
            <a:r>
              <a:rPr lang="en-GB" b="1" baseline="-25000" dirty="0">
                <a:solidFill>
                  <a:schemeClr val="accent6">
                    <a:lumMod val="75000"/>
                  </a:schemeClr>
                </a:solidFill>
                <a:sym typeface="Wingdings" panose="05000000000000000000" pitchFamily="2" charset="2"/>
              </a:rPr>
              <a:t>2 </a:t>
            </a:r>
            <a:r>
              <a:rPr lang="en-GB" b="1" dirty="0">
                <a:solidFill>
                  <a:schemeClr val="accent6">
                    <a:lumMod val="75000"/>
                  </a:schemeClr>
                </a:solidFill>
                <a:sym typeface="Wingdings" panose="05000000000000000000" pitchFamily="2" charset="2"/>
              </a:rPr>
              <a:t>   </a:t>
            </a:r>
          </a:p>
          <a:p>
            <a:r>
              <a:rPr lang="en-GB" b="1" dirty="0">
                <a:solidFill>
                  <a:schemeClr val="accent6">
                    <a:lumMod val="75000"/>
                  </a:schemeClr>
                </a:solidFill>
                <a:sym typeface="Wingdings" panose="05000000000000000000" pitchFamily="2" charset="2"/>
              </a:rPr>
              <a:t>  </a:t>
            </a:r>
            <a:r>
              <a:rPr lang="en-GB" b="1" dirty="0" smtClean="0">
                <a:solidFill>
                  <a:schemeClr val="accent6">
                    <a:lumMod val="75000"/>
                  </a:schemeClr>
                </a:solidFill>
                <a:sym typeface="Wingdings" panose="05000000000000000000" pitchFamily="2" charset="2"/>
              </a:rPr>
              <a:t>0.1         :     0.1          :     </a:t>
            </a:r>
            <a:r>
              <a:rPr lang="en-GB" b="1" dirty="0">
                <a:solidFill>
                  <a:schemeClr val="accent6">
                    <a:lumMod val="75000"/>
                  </a:schemeClr>
                </a:solidFill>
                <a:sym typeface="Wingdings" panose="05000000000000000000" pitchFamily="2" charset="2"/>
              </a:rPr>
              <a:t>0.05     </a:t>
            </a:r>
          </a:p>
          <a:p>
            <a:endParaRPr lang="en-GB" dirty="0"/>
          </a:p>
        </p:txBody>
      </p:sp>
    </p:spTree>
    <p:extLst>
      <p:ext uri="{BB962C8B-B14F-4D97-AF65-F5344CB8AC3E}">
        <p14:creationId xmlns:p14="http://schemas.microsoft.com/office/powerpoint/2010/main" val="41270095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44246"/>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Use of amount of substance - PART 1</a:t>
            </a:r>
            <a:br>
              <a:rPr lang="en-US" sz="2400" b="1" dirty="0">
                <a:solidFill>
                  <a:schemeClr val="accent6"/>
                </a:solidFill>
              </a:rPr>
            </a:br>
            <a:r>
              <a:rPr lang="en-US" sz="2400" b="1" dirty="0" smtClean="0">
                <a:solidFill>
                  <a:schemeClr val="tx1"/>
                </a:solidFill>
              </a:rPr>
              <a:t>HIGHER TIER</a:t>
            </a:r>
            <a:endParaRPr lang="en-GB" sz="2400" b="1" dirty="0">
              <a:solidFill>
                <a:schemeClr val="tx1"/>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51520" y="866733"/>
            <a:ext cx="8640960" cy="1323439"/>
          </a:xfrm>
          <a:prstGeom prst="rect">
            <a:avLst/>
          </a:prstGeom>
          <a:noFill/>
          <a:ln>
            <a:solidFill>
              <a:schemeClr val="bg1"/>
            </a:solidFill>
          </a:ln>
        </p:spPr>
        <p:txBody>
          <a:bodyPr wrap="square" rtlCol="0">
            <a:spAutoFit/>
          </a:bodyPr>
          <a:lstStyle/>
          <a:p>
            <a:pPr algn="ctr"/>
            <a:r>
              <a:rPr lang="en-GB" sz="2000" dirty="0"/>
              <a:t>In a chemical reaction involving </a:t>
            </a:r>
            <a:r>
              <a:rPr lang="en-GB" sz="2000" b="1" dirty="0"/>
              <a:t>two</a:t>
            </a:r>
            <a:r>
              <a:rPr lang="en-GB" sz="2000" dirty="0"/>
              <a:t> reactants, it is common to use an</a:t>
            </a:r>
            <a:r>
              <a:rPr lang="en-GB" sz="2000" b="1" dirty="0"/>
              <a:t> excess </a:t>
            </a:r>
            <a:r>
              <a:rPr lang="en-GB" sz="2000" dirty="0"/>
              <a:t>of one of the reactants to ensure that all the reactant is </a:t>
            </a:r>
            <a:r>
              <a:rPr lang="en-GB" sz="2000" b="1" dirty="0"/>
              <a:t>used up</a:t>
            </a:r>
            <a:r>
              <a:rPr lang="en-GB" sz="2000" dirty="0"/>
              <a:t>.  The reactant that is completely used up is called the </a:t>
            </a:r>
            <a:r>
              <a:rPr lang="en-GB" sz="2000" b="1" dirty="0"/>
              <a:t>limiting reactant </a:t>
            </a:r>
            <a:r>
              <a:rPr lang="en-GB" sz="2000" dirty="0"/>
              <a:t>because it</a:t>
            </a:r>
            <a:r>
              <a:rPr lang="en-GB" sz="2000" b="1" dirty="0"/>
              <a:t> limits </a:t>
            </a:r>
            <a:r>
              <a:rPr lang="en-GB" sz="2000" dirty="0"/>
              <a:t>the </a:t>
            </a:r>
            <a:r>
              <a:rPr lang="en-GB" sz="2000" b="1" dirty="0"/>
              <a:t>amount</a:t>
            </a:r>
            <a:r>
              <a:rPr lang="en-GB" sz="2000" dirty="0"/>
              <a:t> of</a:t>
            </a:r>
            <a:r>
              <a:rPr lang="en-GB" sz="2000" b="1" dirty="0"/>
              <a:t> products</a:t>
            </a:r>
            <a:r>
              <a:rPr lang="en-GB" sz="2000" dirty="0"/>
              <a:t>.</a:t>
            </a:r>
            <a:endParaRPr lang="en-GB" sz="2000" dirty="0">
              <a:sym typeface="Wingdings" panose="05000000000000000000" pitchFamily="2" charset="2"/>
            </a:endParaRPr>
          </a:p>
        </p:txBody>
      </p:sp>
      <p:sp>
        <p:nvSpPr>
          <p:cNvPr id="7" name="TextBox 6">
            <a:extLst>
              <a:ext uri="{FF2B5EF4-FFF2-40B4-BE49-F238E27FC236}">
                <a16:creationId xmlns:a16="http://schemas.microsoft.com/office/drawing/2014/main" xmlns="" id="{5066674C-9F09-44C6-A117-C846405F67B1}"/>
              </a:ext>
            </a:extLst>
          </p:cNvPr>
          <p:cNvSpPr txBox="1"/>
          <p:nvPr/>
        </p:nvSpPr>
        <p:spPr>
          <a:xfrm>
            <a:off x="107504" y="2313606"/>
            <a:ext cx="6624736" cy="4093428"/>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sz="2000" dirty="0"/>
              <a:t>4.8g of magnesium ribbon reacts with 7.3g of HCl.  </a:t>
            </a:r>
          </a:p>
          <a:p>
            <a:pPr algn="ctr"/>
            <a:r>
              <a:rPr lang="en-GB" sz="2000" i="1" dirty="0"/>
              <a:t>Which is the limiting reactant?</a:t>
            </a:r>
          </a:p>
          <a:p>
            <a:pPr algn="ctr"/>
            <a:endParaRPr lang="en-GB" sz="2000" b="1" dirty="0">
              <a:sym typeface="Wingdings" panose="05000000000000000000" pitchFamily="2" charset="2"/>
            </a:endParaRPr>
          </a:p>
          <a:p>
            <a:pPr algn="ctr"/>
            <a:r>
              <a:rPr lang="en-GB" sz="2000" b="1" dirty="0">
                <a:sym typeface="Wingdings" panose="05000000000000000000" pitchFamily="2" charset="2"/>
              </a:rPr>
              <a:t>Mg(s) + </a:t>
            </a:r>
            <a:r>
              <a:rPr lang="en-GB" sz="2000" b="1" dirty="0">
                <a:solidFill>
                  <a:schemeClr val="accent6">
                    <a:lumMod val="75000"/>
                  </a:schemeClr>
                </a:solidFill>
                <a:sym typeface="Wingdings" panose="05000000000000000000" pitchFamily="2" charset="2"/>
              </a:rPr>
              <a:t>2</a:t>
            </a:r>
            <a:r>
              <a:rPr lang="en-GB" sz="2000" b="1" dirty="0">
                <a:sym typeface="Wingdings" panose="05000000000000000000" pitchFamily="2" charset="2"/>
              </a:rPr>
              <a:t>HCl(</a:t>
            </a:r>
            <a:r>
              <a:rPr lang="en-GB" sz="2000" b="1" dirty="0" err="1">
                <a:sym typeface="Wingdings" panose="05000000000000000000" pitchFamily="2" charset="2"/>
              </a:rPr>
              <a:t>aq</a:t>
            </a:r>
            <a:r>
              <a:rPr lang="en-GB" sz="2000" b="1" dirty="0">
                <a:sym typeface="Wingdings" panose="05000000000000000000" pitchFamily="2" charset="2"/>
              </a:rPr>
              <a:t>)  MgCl</a:t>
            </a:r>
            <a:r>
              <a:rPr lang="en-GB" sz="2000" b="1" baseline="-25000" dirty="0">
                <a:sym typeface="Wingdings" panose="05000000000000000000" pitchFamily="2" charset="2"/>
              </a:rPr>
              <a:t>2</a:t>
            </a:r>
            <a:r>
              <a:rPr lang="en-GB" sz="2000" b="1" dirty="0">
                <a:sym typeface="Wingdings" panose="05000000000000000000" pitchFamily="2" charset="2"/>
              </a:rPr>
              <a:t>(</a:t>
            </a:r>
            <a:r>
              <a:rPr lang="en-GB" sz="2000" b="1" dirty="0" err="1">
                <a:sym typeface="Wingdings" panose="05000000000000000000" pitchFamily="2" charset="2"/>
              </a:rPr>
              <a:t>aq</a:t>
            </a:r>
            <a:r>
              <a:rPr lang="en-GB" sz="2000" b="1" dirty="0">
                <a:sym typeface="Wingdings" panose="05000000000000000000" pitchFamily="2" charset="2"/>
              </a:rPr>
              <a:t>) + H</a:t>
            </a:r>
            <a:r>
              <a:rPr lang="en-GB" sz="2000" b="1" baseline="-25000" dirty="0">
                <a:sym typeface="Wingdings" panose="05000000000000000000" pitchFamily="2" charset="2"/>
              </a:rPr>
              <a:t>2</a:t>
            </a:r>
            <a:r>
              <a:rPr lang="en-GB" sz="2000" b="1" dirty="0">
                <a:sym typeface="Wingdings" panose="05000000000000000000" pitchFamily="2" charset="2"/>
              </a:rPr>
              <a:t>(g</a:t>
            </a:r>
            <a:r>
              <a:rPr lang="en-GB" sz="2000" b="1" dirty="0" smtClean="0">
                <a:sym typeface="Wingdings" panose="05000000000000000000" pitchFamily="2" charset="2"/>
              </a:rPr>
              <a:t>)</a:t>
            </a:r>
          </a:p>
          <a:p>
            <a:pPr algn="ctr"/>
            <a:endParaRPr lang="en-GB" sz="2000" dirty="0"/>
          </a:p>
          <a:p>
            <a:r>
              <a:rPr lang="en-GB" sz="2000" b="1" dirty="0" err="1">
                <a:solidFill>
                  <a:schemeClr val="accent6">
                    <a:lumMod val="75000"/>
                  </a:schemeClr>
                </a:solidFill>
              </a:rPr>
              <a:t>A</a:t>
            </a:r>
            <a:r>
              <a:rPr lang="en-GB" sz="2000" b="1" baseline="-25000" dirty="0" err="1">
                <a:solidFill>
                  <a:schemeClr val="accent6">
                    <a:lumMod val="75000"/>
                  </a:schemeClr>
                </a:solidFill>
              </a:rPr>
              <a:t>r</a:t>
            </a:r>
            <a:r>
              <a:rPr lang="en-GB" sz="2000" b="1" dirty="0">
                <a:solidFill>
                  <a:schemeClr val="accent6">
                    <a:lumMod val="75000"/>
                  </a:schemeClr>
                </a:solidFill>
              </a:rPr>
              <a:t>:  Mg (24) and </a:t>
            </a:r>
            <a:r>
              <a:rPr lang="en-GB" sz="2000" b="1" dirty="0" err="1">
                <a:solidFill>
                  <a:schemeClr val="accent6">
                    <a:lumMod val="75000"/>
                  </a:schemeClr>
                </a:solidFill>
              </a:rPr>
              <a:t>A</a:t>
            </a:r>
            <a:r>
              <a:rPr lang="en-GB" sz="2000" b="1" baseline="-25000" dirty="0" err="1">
                <a:solidFill>
                  <a:schemeClr val="accent6">
                    <a:lumMod val="75000"/>
                  </a:schemeClr>
                </a:solidFill>
              </a:rPr>
              <a:t>r</a:t>
            </a:r>
            <a:r>
              <a:rPr lang="en-GB" sz="2000" b="1" dirty="0">
                <a:solidFill>
                  <a:schemeClr val="accent6">
                    <a:lumMod val="75000"/>
                  </a:schemeClr>
                </a:solidFill>
              </a:rPr>
              <a:t>:  Cl (35.5)  	</a:t>
            </a:r>
            <a:endParaRPr lang="en-GB" sz="2000" dirty="0"/>
          </a:p>
          <a:p>
            <a:r>
              <a:rPr lang="en-GB" sz="2000" b="1" dirty="0">
                <a:solidFill>
                  <a:schemeClr val="accent6">
                    <a:lumMod val="75000"/>
                  </a:schemeClr>
                </a:solidFill>
              </a:rPr>
              <a:t>4.8g of Mg = 4.8/24 moles    = 0.2 </a:t>
            </a:r>
            <a:r>
              <a:rPr lang="en-GB" sz="2000" b="1" dirty="0" err="1">
                <a:solidFill>
                  <a:schemeClr val="accent6">
                    <a:lumMod val="75000"/>
                  </a:schemeClr>
                </a:solidFill>
              </a:rPr>
              <a:t>mol</a:t>
            </a:r>
            <a:endParaRPr lang="en-GB" sz="2000" b="1" dirty="0">
              <a:solidFill>
                <a:schemeClr val="accent6">
                  <a:lumMod val="75000"/>
                </a:schemeClr>
              </a:solidFill>
            </a:endParaRPr>
          </a:p>
          <a:p>
            <a:r>
              <a:rPr lang="en-GB" sz="2000" b="1" dirty="0">
                <a:solidFill>
                  <a:schemeClr val="accent6">
                    <a:lumMod val="75000"/>
                  </a:schemeClr>
                </a:solidFill>
              </a:rPr>
              <a:t>7.3g of HCl = 7.3/36.5 moles = 0.2 </a:t>
            </a:r>
            <a:r>
              <a:rPr lang="en-GB" sz="2000" b="1" dirty="0" err="1" smtClean="0">
                <a:solidFill>
                  <a:schemeClr val="accent6">
                    <a:lumMod val="75000"/>
                  </a:schemeClr>
                </a:solidFill>
              </a:rPr>
              <a:t>mol</a:t>
            </a:r>
            <a:endParaRPr lang="en-GB" sz="2000" b="1" dirty="0"/>
          </a:p>
          <a:p>
            <a:r>
              <a:rPr lang="en-GB" sz="2000" dirty="0"/>
              <a:t>From the balanced equation:</a:t>
            </a:r>
          </a:p>
          <a:p>
            <a:r>
              <a:rPr lang="en-GB" sz="2000" b="1" dirty="0"/>
              <a:t>1 mole of Mg reacts with 2 moles of HCl</a:t>
            </a:r>
            <a:r>
              <a:rPr lang="en-GB" sz="2000" dirty="0"/>
              <a:t>, </a:t>
            </a:r>
          </a:p>
          <a:p>
            <a:r>
              <a:rPr lang="en-GB" sz="2000" dirty="0"/>
              <a:t>therefore </a:t>
            </a:r>
            <a:r>
              <a:rPr lang="en-GB" sz="2000" b="1" dirty="0">
                <a:solidFill>
                  <a:schemeClr val="accent6">
                    <a:lumMod val="75000"/>
                  </a:schemeClr>
                </a:solidFill>
              </a:rPr>
              <a:t>0.2 </a:t>
            </a:r>
            <a:r>
              <a:rPr lang="en-GB" sz="2000" b="1" dirty="0" err="1">
                <a:solidFill>
                  <a:schemeClr val="accent6">
                    <a:lumMod val="75000"/>
                  </a:schemeClr>
                </a:solidFill>
              </a:rPr>
              <a:t>mol</a:t>
            </a:r>
            <a:r>
              <a:rPr lang="en-GB" sz="2000" b="1" dirty="0">
                <a:solidFill>
                  <a:schemeClr val="accent6">
                    <a:lumMod val="75000"/>
                  </a:schemeClr>
                </a:solidFill>
              </a:rPr>
              <a:t> of Mg will need 0.4 </a:t>
            </a:r>
            <a:r>
              <a:rPr lang="en-GB" sz="2000" b="1" dirty="0" err="1">
                <a:solidFill>
                  <a:schemeClr val="accent6">
                    <a:lumMod val="75000"/>
                  </a:schemeClr>
                </a:solidFill>
              </a:rPr>
              <a:t>mol</a:t>
            </a:r>
            <a:r>
              <a:rPr lang="en-GB" sz="2000" b="1" dirty="0">
                <a:solidFill>
                  <a:schemeClr val="accent6">
                    <a:lumMod val="75000"/>
                  </a:schemeClr>
                </a:solidFill>
              </a:rPr>
              <a:t> of HCl </a:t>
            </a:r>
            <a:r>
              <a:rPr lang="en-GB" sz="2000" dirty="0"/>
              <a:t>to react completely, there is only 0.2 </a:t>
            </a:r>
            <a:r>
              <a:rPr lang="en-GB" sz="2000" dirty="0" err="1"/>
              <a:t>mol</a:t>
            </a:r>
            <a:r>
              <a:rPr lang="en-GB" sz="2000" dirty="0"/>
              <a:t> of HCl, so the HCl is the limiting </a:t>
            </a:r>
            <a:r>
              <a:rPr lang="en-GB" sz="2000" dirty="0" smtClean="0"/>
              <a:t>reactant.</a:t>
            </a:r>
            <a:endParaRPr lang="en-GB" sz="2000" dirty="0"/>
          </a:p>
        </p:txBody>
      </p:sp>
      <p:pic>
        <p:nvPicPr>
          <p:cNvPr id="5" name="Picture 4">
            <a:extLst>
              <a:ext uri="{FF2B5EF4-FFF2-40B4-BE49-F238E27FC236}">
                <a16:creationId xmlns:a16="http://schemas.microsoft.com/office/drawing/2014/main" xmlns="" id="{EA6E1320-CBDE-468A-A759-0C080B2E21C9}"/>
              </a:ext>
            </a:extLst>
          </p:cNvPr>
          <p:cNvPicPr>
            <a:picLocks noChangeAspect="1"/>
          </p:cNvPicPr>
          <p:nvPr/>
        </p:nvPicPr>
        <p:blipFill>
          <a:blip r:embed="rId3"/>
          <a:stretch>
            <a:fillRect/>
          </a:stretch>
        </p:blipFill>
        <p:spPr>
          <a:xfrm>
            <a:off x="7219372" y="1916832"/>
            <a:ext cx="1664052" cy="4402805"/>
          </a:xfrm>
          <a:prstGeom prst="rect">
            <a:avLst/>
          </a:prstGeom>
        </p:spPr>
      </p:pic>
    </p:spTree>
    <p:extLst>
      <p:ext uri="{BB962C8B-B14F-4D97-AF65-F5344CB8AC3E}">
        <p14:creationId xmlns:p14="http://schemas.microsoft.com/office/powerpoint/2010/main" val="4235321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5447645"/>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smtClean="0">
                <a:latin typeface="+mj-lt"/>
                <a:ea typeface="Beirut" charset="-78"/>
                <a:cs typeface="Beirut" charset="-78"/>
              </a:rPr>
              <a:t>!</a:t>
            </a:r>
            <a:endParaRPr lang="en-GB" dirty="0"/>
          </a:p>
          <a:p>
            <a:r>
              <a:rPr lang="en-GB" sz="3600" b="1" dirty="0">
                <a:solidFill>
                  <a:schemeClr val="tx1">
                    <a:lumMod val="50000"/>
                    <a:lumOff val="50000"/>
                  </a:schemeClr>
                </a:solidFill>
              </a:rPr>
              <a:t>Use of amount of </a:t>
            </a:r>
          </a:p>
          <a:p>
            <a:r>
              <a:rPr lang="en-GB" sz="3600" b="1" dirty="0">
                <a:solidFill>
                  <a:schemeClr val="tx1">
                    <a:lumMod val="50000"/>
                    <a:lumOff val="50000"/>
                  </a:schemeClr>
                </a:solidFill>
              </a:rPr>
              <a:t>substance </a:t>
            </a:r>
          </a:p>
          <a:p>
            <a:r>
              <a:rPr lang="en-GB" sz="3600" b="1" dirty="0">
                <a:solidFill>
                  <a:schemeClr val="tx1">
                    <a:lumMod val="50000"/>
                    <a:lumOff val="50000"/>
                  </a:schemeClr>
                </a:solidFill>
              </a:rPr>
              <a:t>PART 1</a:t>
            </a:r>
          </a:p>
          <a:p>
            <a:pPr marL="685800" lvl="1" indent="-342900">
              <a:buFont typeface="Arial" charset="0"/>
              <a:buChar char="•"/>
            </a:pPr>
            <a:r>
              <a:rPr lang="en-US" sz="2400" b="1" dirty="0">
                <a:solidFill>
                  <a:schemeClr val="bg1">
                    <a:lumMod val="50000"/>
                  </a:schemeClr>
                </a:solidFill>
              </a:rPr>
              <a:t>Moles (HT)</a:t>
            </a:r>
          </a:p>
          <a:p>
            <a:pPr marL="685800" lvl="1" indent="-342900">
              <a:buFont typeface="Arial" charset="0"/>
              <a:buChar char="•"/>
            </a:pPr>
            <a:r>
              <a:rPr lang="en-US" sz="2400" b="1" dirty="0">
                <a:solidFill>
                  <a:schemeClr val="bg1">
                    <a:lumMod val="50000"/>
                  </a:schemeClr>
                </a:solidFill>
              </a:rPr>
              <a:t>Amounts of substances in equations (HT)</a:t>
            </a:r>
          </a:p>
          <a:p>
            <a:pPr marL="685800" lvl="1" indent="-342900">
              <a:buFont typeface="Arial" charset="0"/>
              <a:buChar char="•"/>
            </a:pPr>
            <a:r>
              <a:rPr lang="en-US" sz="2400" b="1" dirty="0">
                <a:solidFill>
                  <a:schemeClr val="bg1">
                    <a:lumMod val="50000"/>
                  </a:schemeClr>
                </a:solidFill>
              </a:rPr>
              <a:t>Quantities in equations (HT)</a:t>
            </a:r>
          </a:p>
          <a:p>
            <a:pPr marL="685800" lvl="1" indent="-342900">
              <a:buFont typeface="Arial" charset="0"/>
              <a:buChar char="•"/>
            </a:pPr>
            <a:r>
              <a:rPr lang="en-US" sz="2400" b="1" dirty="0">
                <a:solidFill>
                  <a:schemeClr val="bg1">
                    <a:lumMod val="50000"/>
                  </a:schemeClr>
                </a:solidFill>
              </a:rPr>
              <a:t>Using moles to balance equations (HT)</a:t>
            </a:r>
          </a:p>
          <a:p>
            <a:pPr marL="685800" lvl="1" indent="-342900">
              <a:buFont typeface="Arial" charset="0"/>
              <a:buChar char="•"/>
            </a:pPr>
            <a:r>
              <a:rPr lang="en-US" sz="2400" b="1" dirty="0">
                <a:solidFill>
                  <a:schemeClr val="bg1">
                    <a:lumMod val="50000"/>
                  </a:schemeClr>
                </a:solidFill>
              </a:rPr>
              <a:t>Limiting </a:t>
            </a:r>
            <a:r>
              <a:rPr lang="en-US" sz="2400" b="1" dirty="0" smtClean="0">
                <a:solidFill>
                  <a:schemeClr val="bg1">
                    <a:lumMod val="50000"/>
                  </a:schemeClr>
                </a:solidFill>
              </a:rPr>
              <a:t>reactants </a:t>
            </a:r>
            <a:r>
              <a:rPr lang="en-US" sz="2400" b="1" dirty="0">
                <a:solidFill>
                  <a:schemeClr val="bg1">
                    <a:lumMod val="50000"/>
                  </a:schemeClr>
                </a:solidFill>
              </a:rPr>
              <a:t>(HT)</a:t>
            </a:r>
            <a:endParaRPr lang="en-GB" sz="2400"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2727390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(HT)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9091884" cy="4154984"/>
          </a:xfrm>
          <a:prstGeom prst="rect">
            <a:avLst/>
          </a:prstGeom>
          <a:noFill/>
        </p:spPr>
        <p:txBody>
          <a:bodyPr wrap="square" rtlCol="0">
            <a:spAutoFit/>
          </a:bodyPr>
          <a:lstStyle/>
          <a:p>
            <a:pPr marL="457200" lvl="0" indent="-457200">
              <a:buFont typeface="+mj-lt"/>
              <a:buAutoNum type="arabicPeriod"/>
            </a:pPr>
            <a:r>
              <a:rPr lang="en-GB" sz="2400" dirty="0" smtClean="0"/>
              <a:t>What is meant by the term ‘mole’? </a:t>
            </a:r>
          </a:p>
          <a:p>
            <a:pPr marL="457200" lvl="0" indent="-457200">
              <a:buFont typeface="+mj-lt"/>
              <a:buAutoNum type="arabicPeriod"/>
            </a:pPr>
            <a:endParaRPr lang="en-GB" sz="2400" dirty="0" smtClean="0"/>
          </a:p>
          <a:p>
            <a:pPr marL="457200" lvl="0" indent="-457200">
              <a:buFont typeface="+mj-lt"/>
              <a:buAutoNum type="arabicPeriod"/>
            </a:pPr>
            <a:r>
              <a:rPr lang="en-GB" sz="2400" dirty="0" smtClean="0"/>
              <a:t>What is the symbol for the unit mole?</a:t>
            </a:r>
          </a:p>
          <a:p>
            <a:pPr marL="457200" lvl="0" indent="-457200">
              <a:buFont typeface="+mj-lt"/>
              <a:buAutoNum type="arabicPeriod"/>
            </a:pPr>
            <a:endParaRPr lang="en-GB" sz="2400" dirty="0" smtClean="0"/>
          </a:p>
          <a:p>
            <a:pPr marL="457200" lvl="0" indent="-457200">
              <a:buFont typeface="+mj-lt"/>
              <a:buAutoNum type="arabicPeriod"/>
            </a:pPr>
            <a:r>
              <a:rPr lang="en-GB" sz="2400" dirty="0" smtClean="0"/>
              <a:t>What does ‘Avogadro’s constant’ tell us?</a:t>
            </a:r>
          </a:p>
          <a:p>
            <a:pPr marL="457200" lvl="0" indent="-457200">
              <a:buFont typeface="+mj-lt"/>
              <a:buAutoNum type="arabicPeriod"/>
            </a:pPr>
            <a:endParaRPr lang="en-GB" sz="2400" dirty="0" smtClean="0"/>
          </a:p>
          <a:p>
            <a:pPr marL="457200" lvl="0" indent="-457200">
              <a:buFont typeface="+mj-lt"/>
              <a:buAutoNum type="arabicPeriod"/>
            </a:pPr>
            <a:r>
              <a:rPr lang="en-GB" sz="2400" dirty="0" smtClean="0"/>
              <a:t>What is the value for Avogadro’s constant?</a:t>
            </a:r>
          </a:p>
          <a:p>
            <a:pPr marL="457200" lvl="0" indent="-457200">
              <a:buFont typeface="+mj-lt"/>
              <a:buAutoNum type="arabicPeriod"/>
            </a:pPr>
            <a:endParaRPr lang="en-GB" sz="2400" dirty="0" smtClean="0"/>
          </a:p>
          <a:p>
            <a:pPr marL="457200" lvl="0" indent="-457200">
              <a:buFont typeface="+mj-lt"/>
              <a:buAutoNum type="arabicPeriod"/>
            </a:pPr>
            <a:r>
              <a:rPr lang="en-GB" sz="2400" dirty="0" smtClean="0"/>
              <a:t>How many atoms in 1 mole of carbon?</a:t>
            </a:r>
          </a:p>
          <a:p>
            <a:pPr marL="457200" lvl="0" indent="-457200">
              <a:buFont typeface="+mj-lt"/>
              <a:buAutoNum type="arabicPeriod"/>
            </a:pPr>
            <a:endParaRPr lang="en-GB" sz="2400" dirty="0" smtClean="0"/>
          </a:p>
          <a:p>
            <a:pPr lvl="0"/>
            <a:r>
              <a:rPr lang="en-GB" sz="2400" b="1" dirty="0" smtClean="0">
                <a:solidFill>
                  <a:srgbClr val="00B050"/>
                </a:solidFill>
              </a:rPr>
              <a:t> </a:t>
            </a: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737237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(HT)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9091884" cy="3416320"/>
          </a:xfrm>
          <a:prstGeom prst="rect">
            <a:avLst/>
          </a:prstGeom>
          <a:noFill/>
        </p:spPr>
        <p:txBody>
          <a:bodyPr wrap="square" rtlCol="0">
            <a:spAutoFit/>
          </a:bodyPr>
          <a:lstStyle/>
          <a:p>
            <a:pPr marL="457200" lvl="0" indent="-457200">
              <a:buFont typeface="+mj-lt"/>
              <a:buAutoNum type="arabicPeriod"/>
            </a:pPr>
            <a:endParaRPr lang="en-GB" sz="2400" dirty="0" smtClean="0"/>
          </a:p>
          <a:p>
            <a:pPr marL="457200" lvl="0" indent="-457200">
              <a:buFont typeface="+mj-lt"/>
              <a:buAutoNum type="arabicPeriod" startAt="6"/>
            </a:pPr>
            <a:r>
              <a:rPr lang="en-GB" sz="2400" dirty="0" smtClean="0"/>
              <a:t>How many atoms in 1 mole of chlorine gas, Cl</a:t>
            </a:r>
            <a:r>
              <a:rPr lang="en-GB" sz="2400" baseline="-25000" dirty="0" smtClean="0"/>
              <a:t>2</a:t>
            </a:r>
            <a:r>
              <a:rPr lang="en-GB" sz="2400" dirty="0" smtClean="0"/>
              <a:t>?</a:t>
            </a:r>
          </a:p>
          <a:p>
            <a:pPr marL="457200" lvl="0" indent="-457200">
              <a:buFont typeface="+mj-lt"/>
              <a:buAutoNum type="arabicPeriod" startAt="6"/>
            </a:pPr>
            <a:endParaRPr lang="en-GB" sz="2400" dirty="0" smtClean="0"/>
          </a:p>
          <a:p>
            <a:pPr marL="457200" lvl="0" indent="-457200">
              <a:buFont typeface="+mj-lt"/>
              <a:buAutoNum type="arabicPeriod" startAt="6"/>
            </a:pPr>
            <a:r>
              <a:rPr lang="en-GB" sz="2400" dirty="0" smtClean="0"/>
              <a:t>What can the following equation tell us about the number of moles of each substance? </a:t>
            </a:r>
          </a:p>
          <a:p>
            <a:pPr lvl="0" algn="ctr"/>
            <a:r>
              <a:rPr lang="en-GB" sz="2400" dirty="0" smtClean="0"/>
              <a:t>Mg + 2HCl </a:t>
            </a:r>
            <a:r>
              <a:rPr lang="en-GB" sz="2400" b="1" dirty="0">
                <a:sym typeface="Wingdings" panose="05000000000000000000" pitchFamily="2" charset="2"/>
              </a:rPr>
              <a:t></a:t>
            </a:r>
            <a:r>
              <a:rPr lang="en-GB" sz="2400" dirty="0" smtClean="0"/>
              <a:t> MgCl</a:t>
            </a:r>
            <a:r>
              <a:rPr lang="en-GB" sz="2400" baseline="-25000" dirty="0" smtClean="0"/>
              <a:t>2</a:t>
            </a:r>
            <a:r>
              <a:rPr lang="en-GB" sz="2400" dirty="0" smtClean="0"/>
              <a:t> + H</a:t>
            </a:r>
            <a:r>
              <a:rPr lang="en-GB" sz="2400" baseline="-25000" dirty="0" smtClean="0"/>
              <a:t>2</a:t>
            </a:r>
          </a:p>
          <a:p>
            <a:pPr marL="457200" lvl="0" indent="-457200">
              <a:buFont typeface="+mj-lt"/>
              <a:buAutoNum type="arabicPeriod" startAt="6"/>
            </a:pPr>
            <a:endParaRPr lang="en-GB" sz="2400" dirty="0" smtClean="0"/>
          </a:p>
          <a:p>
            <a:pPr marL="457200" lvl="0" indent="-457200">
              <a:buFont typeface="+mj-lt"/>
              <a:buAutoNum type="arabicPeriod" startAt="8"/>
            </a:pPr>
            <a:r>
              <a:rPr lang="en-GB" sz="2400" dirty="0" smtClean="0"/>
              <a:t>What is meant by the term ‘limiting reactant’?</a:t>
            </a:r>
          </a:p>
          <a:p>
            <a:pPr lvl="0"/>
            <a:r>
              <a:rPr lang="en-GB" sz="2400" b="1" dirty="0" smtClean="0">
                <a:solidFill>
                  <a:srgbClr val="00B050"/>
                </a:solidFill>
              </a:rPr>
              <a:t> </a:t>
            </a: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877507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(HT)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9091884" cy="489364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9"/>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How many moles of helium atoms are there in 0.04g of helium?</a:t>
            </a: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0"/>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the mass of 20 moles of calcium carbonate CaCO</a:t>
            </a:r>
            <a:r>
              <a:rPr kumimoji="0" lang="en-GB" sz="2400" b="0" i="0" u="none" strike="noStrike" kern="1200" cap="none" spc="0" normalizeH="0" baseline="-25000" noProof="0" dirty="0">
                <a:ln>
                  <a:noFill/>
                </a:ln>
                <a:solidFill>
                  <a:prstClr val="black"/>
                </a:solidFill>
                <a:effectLst/>
                <a:uLnTx/>
                <a:uFillTx/>
                <a:latin typeface="Calibri"/>
                <a:ea typeface="+mn-ea"/>
                <a:cs typeface="+mn-cs"/>
              </a:rPr>
              <a:t>3</a:t>
            </a:r>
            <a:r>
              <a:rPr kumimoji="0" lang="en-GB" sz="2400" b="0" i="0" u="none" strike="noStrike" kern="1200" cap="none" spc="0" normalizeH="0" baseline="0" noProof="0" dirty="0">
                <a:ln>
                  <a:noFill/>
                </a:ln>
                <a:solidFill>
                  <a:prstClr val="black"/>
                </a:solidFill>
                <a:effectLst/>
                <a:uLnTx/>
                <a:uFillTx/>
                <a:latin typeface="Calibri"/>
                <a:ea typeface="+mn-ea"/>
                <a:cs typeface="+mn-cs"/>
              </a:rPr>
              <a:t>?  </a:t>
            </a:r>
          </a:p>
          <a:p>
            <a:pPr marR="0" lvl="0" algn="l" defTabSz="914400" rtl="0" eaLnBrk="1" fontAlgn="auto" latinLnBrk="0" hangingPunct="1">
              <a:lnSpc>
                <a:spcPct val="100000"/>
              </a:lnSpc>
              <a:spcBef>
                <a:spcPts val="0"/>
              </a:spcBef>
              <a:spcAft>
                <a:spcPts val="0"/>
              </a:spcAft>
              <a:buClrTx/>
              <a:buSzTx/>
              <a:tabLst/>
              <a:defRPr/>
            </a:pPr>
            <a:r>
              <a:rPr lang="en-GB" sz="2400" dirty="0">
                <a:solidFill>
                  <a:prstClr val="black"/>
                </a:solidFill>
                <a:latin typeface="Calibri"/>
              </a:rPr>
              <a:t>       </a:t>
            </a:r>
            <a:r>
              <a:rPr kumimoji="0" lang="en-GB" sz="2400" b="0" i="0" u="none" strike="noStrike" kern="1200" cap="none" spc="0" normalizeH="0" baseline="0" noProof="0" dirty="0">
                <a:ln>
                  <a:noFill/>
                </a:ln>
                <a:solidFill>
                  <a:prstClr val="black"/>
                </a:solidFill>
                <a:effectLst/>
                <a:uLnTx/>
                <a:uFillTx/>
                <a:latin typeface="Calibri"/>
                <a:ea typeface="+mn-ea"/>
                <a:cs typeface="+mn-cs"/>
              </a:rPr>
              <a:t>Answer in kg.</a:t>
            </a:r>
          </a:p>
          <a:p>
            <a:pPr lvl="0"/>
            <a:r>
              <a:rPr lang="en-GB" sz="2400" dirty="0">
                <a:solidFill>
                  <a:prstClr val="black"/>
                </a:solidFill>
                <a:latin typeface="Calibri"/>
              </a:rPr>
              <a:t>       </a:t>
            </a: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1"/>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Calcium carbonate decomposes to calcium oxide in a kiln in the following reaction:  </a:t>
            </a:r>
            <a:r>
              <a:rPr kumimoji="0" lang="en-GB" sz="2400" b="1" i="0" u="none" strike="noStrike" kern="1200" cap="none" spc="0" normalizeH="0" baseline="0" noProof="0" dirty="0">
                <a:ln>
                  <a:noFill/>
                </a:ln>
                <a:solidFill>
                  <a:prstClr val="black"/>
                </a:solidFill>
                <a:effectLst/>
                <a:uLnTx/>
                <a:uFillTx/>
                <a:latin typeface="Calibri"/>
                <a:ea typeface="+mn-ea"/>
                <a:cs typeface="+mn-cs"/>
              </a:rPr>
              <a:t>CaCO</a:t>
            </a:r>
            <a:r>
              <a:rPr kumimoji="0" lang="en-GB" sz="2400" b="1" i="0" u="none" strike="noStrike" kern="1200" cap="none" spc="0" normalizeH="0" baseline="-25000" noProof="0" dirty="0">
                <a:ln>
                  <a:noFill/>
                </a:ln>
                <a:solidFill>
                  <a:prstClr val="black"/>
                </a:solidFill>
                <a:effectLst/>
                <a:uLnTx/>
                <a:uFillTx/>
                <a:latin typeface="Calibri"/>
                <a:ea typeface="+mn-ea"/>
                <a:cs typeface="+mn-cs"/>
              </a:rPr>
              <a:t>3</a:t>
            </a:r>
            <a:r>
              <a:rPr kumimoji="0" lang="en-GB" sz="2400" b="1" i="0" u="none" strike="noStrike" kern="1200" cap="none" spc="0" normalizeH="0" baseline="0" noProof="0" dirty="0">
                <a:ln>
                  <a:noFill/>
                </a:ln>
                <a:solidFill>
                  <a:prstClr val="black"/>
                </a:solidFill>
                <a:effectLst/>
                <a:uLnTx/>
                <a:uFillTx/>
                <a:latin typeface="Calibri"/>
                <a:ea typeface="+mn-ea"/>
                <a:cs typeface="+mn-cs"/>
              </a:rPr>
              <a:t> </a:t>
            </a:r>
            <a:r>
              <a:rPr kumimoji="0" lang="en-GB" sz="24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a:t>
            </a:r>
            <a:r>
              <a:rPr kumimoji="0" lang="en-GB" sz="2400" b="1" i="0" u="none" strike="noStrike" kern="1200" cap="none" spc="0" normalizeH="0" baseline="0" noProof="0" dirty="0" err="1">
                <a:ln>
                  <a:noFill/>
                </a:ln>
                <a:solidFill>
                  <a:prstClr val="black"/>
                </a:solidFill>
                <a:effectLst/>
                <a:uLnTx/>
                <a:uFillTx/>
                <a:latin typeface="Calibri"/>
                <a:ea typeface="+mn-ea"/>
                <a:cs typeface="+mn-cs"/>
                <a:sym typeface="Wingdings" panose="05000000000000000000" pitchFamily="2" charset="2"/>
              </a:rPr>
              <a:t>CaO</a:t>
            </a:r>
            <a:r>
              <a:rPr kumimoji="0" lang="en-GB" sz="24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 CO</a:t>
            </a:r>
            <a:r>
              <a:rPr kumimoji="0" lang="en-GB" sz="2400" b="1" i="0" u="none" strike="noStrike" kern="1200" cap="none" spc="0" normalizeH="0" baseline="-25000" noProof="0" dirty="0">
                <a:ln>
                  <a:noFill/>
                </a:ln>
                <a:solidFill>
                  <a:prstClr val="black"/>
                </a:solidFill>
                <a:effectLst/>
                <a:uLnTx/>
                <a:uFillTx/>
                <a:latin typeface="Calibri"/>
                <a:ea typeface="+mn-ea"/>
                <a:cs typeface="+mn-cs"/>
                <a:sym typeface="Wingdings" panose="05000000000000000000" pitchFamily="2" charset="2"/>
              </a:rPr>
              <a:t>2</a:t>
            </a:r>
            <a:endParaRPr kumimoji="0" lang="en-GB" sz="2400" b="1" i="0" u="none" strike="noStrike" kern="1200" cap="none" spc="0" normalizeH="0" baseline="-25000" noProof="0" dirty="0">
              <a:ln>
                <a:noFill/>
              </a:ln>
              <a:solidFill>
                <a:prstClr val="black"/>
              </a:solidFill>
              <a:effectLst/>
              <a:uLnTx/>
              <a:uFillTx/>
              <a:latin typeface="Calibri"/>
              <a:ea typeface="+mn-ea"/>
              <a:cs typeface="+mn-cs"/>
            </a:endParaRPr>
          </a:p>
          <a:p>
            <a:pPr lvl="0"/>
            <a:r>
              <a:rPr kumimoji="0" lang="en-GB" sz="2400" b="0" i="0" u="none" strike="noStrike" kern="1200" cap="none" spc="0" normalizeH="0" baseline="0" noProof="0" dirty="0">
                <a:ln>
                  <a:noFill/>
                </a:ln>
                <a:solidFill>
                  <a:prstClr val="black"/>
                </a:solidFill>
                <a:effectLst/>
                <a:uLnTx/>
                <a:uFillTx/>
                <a:latin typeface="Calibri"/>
                <a:ea typeface="+mn-ea"/>
                <a:cs typeface="+mn-cs"/>
              </a:rPr>
              <a:t>       </a:t>
            </a:r>
            <a:r>
              <a:rPr lang="en-GB" sz="2400" dirty="0">
                <a:solidFill>
                  <a:prstClr val="black"/>
                </a:solidFill>
              </a:rPr>
              <a:t>Calculate the </a:t>
            </a:r>
            <a:r>
              <a:rPr lang="en-GB" sz="2400" dirty="0"/>
              <a:t>mass of calcium oxide that can be produced when     </a:t>
            </a:r>
          </a:p>
          <a:p>
            <a:pPr lvl="0"/>
            <a:r>
              <a:rPr lang="en-GB" sz="2400" dirty="0"/>
              <a:t>       300 tonnes of calcium carbonate is heated.</a:t>
            </a:r>
          </a:p>
          <a:p>
            <a:pPr lvl="0"/>
            <a:r>
              <a:rPr lang="en-GB" sz="2400" dirty="0"/>
              <a:t>      </a:t>
            </a:r>
            <a:r>
              <a:rPr lang="en-GB" sz="2400" b="1" dirty="0">
                <a:solidFill>
                  <a:srgbClr val="00B050"/>
                </a:solidFill>
              </a:rPr>
              <a:t> </a:t>
            </a: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498160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(HT)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349326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2"/>
              <a:tabLst/>
              <a:defRPr/>
            </a:pPr>
            <a:r>
              <a:rPr lang="en-GB" sz="2400" dirty="0" smtClean="0">
                <a:sym typeface="Wingdings" panose="05000000000000000000" pitchFamily="2" charset="2"/>
              </a:rPr>
              <a:t>0.10g </a:t>
            </a:r>
            <a:r>
              <a:rPr lang="en-GB" sz="2400" dirty="0">
                <a:sym typeface="Wingdings" panose="05000000000000000000" pitchFamily="2" charset="2"/>
              </a:rPr>
              <a:t>of hydrogen reacts with 3.55g of chlorine to produce 3.65g </a:t>
            </a:r>
            <a:r>
              <a:rPr lang="en-GB" sz="2400" dirty="0" smtClean="0">
                <a:sym typeface="Wingdings" panose="05000000000000000000" pitchFamily="2" charset="2"/>
              </a:rPr>
              <a:t>of </a:t>
            </a:r>
            <a:r>
              <a:rPr lang="en-GB" sz="2400" dirty="0">
                <a:sym typeface="Wingdings" panose="05000000000000000000" pitchFamily="2" charset="2"/>
              </a:rPr>
              <a:t>hydrogen chloride.  Use this information to work out the </a:t>
            </a:r>
            <a:r>
              <a:rPr lang="en-GB" sz="2400" dirty="0" smtClean="0">
                <a:sym typeface="Wingdings" panose="05000000000000000000" pitchFamily="2" charset="2"/>
              </a:rPr>
              <a:t>balancing </a:t>
            </a:r>
            <a:r>
              <a:rPr lang="en-GB" sz="2400" dirty="0">
                <a:sym typeface="Wingdings" panose="05000000000000000000" pitchFamily="2" charset="2"/>
              </a:rPr>
              <a:t>numbers for hydrogen chloride</a:t>
            </a:r>
            <a:r>
              <a:rPr lang="en-GB" sz="2400" b="1" dirty="0">
                <a:sym typeface="Wingdings" panose="05000000000000000000" pitchFamily="2" charset="2"/>
              </a:rPr>
              <a:t>.</a:t>
            </a:r>
          </a:p>
          <a:p>
            <a:pPr algn="ctr"/>
            <a:endParaRPr lang="en-GB" sz="1000" b="1" dirty="0">
              <a:sym typeface="Wingdings" panose="05000000000000000000" pitchFamily="2" charset="2"/>
            </a:endParaRPr>
          </a:p>
          <a:p>
            <a:pPr algn="ctr"/>
            <a:r>
              <a:rPr lang="en-GB" sz="2400" b="1" dirty="0"/>
              <a:t>H</a:t>
            </a:r>
            <a:r>
              <a:rPr lang="en-GB" sz="2400" b="1" baseline="-25000" dirty="0"/>
              <a:t>2</a:t>
            </a:r>
            <a:r>
              <a:rPr lang="en-GB" sz="2400" b="1" dirty="0"/>
              <a:t> + Cl</a:t>
            </a:r>
            <a:r>
              <a:rPr lang="en-GB" sz="2400" b="1" baseline="-25000" dirty="0"/>
              <a:t>2</a:t>
            </a:r>
            <a:r>
              <a:rPr lang="en-GB" sz="2400" b="1" dirty="0"/>
              <a:t> </a:t>
            </a:r>
            <a:r>
              <a:rPr lang="en-GB" sz="2400" b="1" dirty="0">
                <a:sym typeface="Wingdings" panose="05000000000000000000" pitchFamily="2" charset="2"/>
              </a:rPr>
              <a:t> ___HCl</a:t>
            </a:r>
          </a:p>
          <a:p>
            <a:endParaRPr lang="en-GB" sz="2400" b="1" dirty="0">
              <a:sym typeface="Wingdings" panose="05000000000000000000" pitchFamily="2" charset="2"/>
            </a:endParaRPr>
          </a:p>
          <a:p>
            <a:endParaRPr lang="en-GB" sz="2400" b="1" dirty="0">
              <a:sym typeface="Wingdings" panose="05000000000000000000" pitchFamily="2" charset="2"/>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243629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(HT)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4816703"/>
          </a:xfrm>
          <a:prstGeom prst="rect">
            <a:avLst/>
          </a:prstGeom>
          <a:noFill/>
        </p:spPr>
        <p:txBody>
          <a:bodyPr wrap="square" rtlCol="0">
            <a:spAutoFit/>
          </a:bodyPr>
          <a:lstStyle/>
          <a:p>
            <a:pPr marL="457200" indent="-457200">
              <a:buFont typeface="+mj-lt"/>
              <a:buAutoNum type="arabicPeriod" startAt="13"/>
            </a:pPr>
            <a:r>
              <a:rPr lang="en-GB" sz="2400" dirty="0" smtClean="0"/>
              <a:t>If </a:t>
            </a:r>
            <a:r>
              <a:rPr lang="en-GB" sz="2400" dirty="0"/>
              <a:t>4.95 g of ethene (C</a:t>
            </a:r>
            <a:r>
              <a:rPr lang="en-GB" sz="2400" baseline="-25000" dirty="0"/>
              <a:t>2</a:t>
            </a:r>
            <a:r>
              <a:rPr lang="en-GB" sz="2400" dirty="0"/>
              <a:t>H</a:t>
            </a:r>
            <a:r>
              <a:rPr lang="en-GB" sz="2400" baseline="-25000" dirty="0"/>
              <a:t>4</a:t>
            </a:r>
            <a:r>
              <a:rPr lang="en-GB" sz="2400" dirty="0"/>
              <a:t>) are combusted with 3.25 g of </a:t>
            </a:r>
            <a:r>
              <a:rPr lang="en-GB" sz="2400" dirty="0" smtClean="0"/>
              <a:t>oxygen,     what is the limiting reactant?  </a:t>
            </a:r>
          </a:p>
          <a:p>
            <a:endParaRPr lang="en-GB" sz="2400" dirty="0"/>
          </a:p>
          <a:p>
            <a:pPr algn="ctr"/>
            <a:r>
              <a:rPr lang="en-GB" sz="2400" dirty="0"/>
              <a:t>C</a:t>
            </a:r>
            <a:r>
              <a:rPr lang="en-GB" sz="2400" baseline="-25000" dirty="0"/>
              <a:t>2</a:t>
            </a:r>
            <a:r>
              <a:rPr lang="en-GB" sz="2400" dirty="0"/>
              <a:t>H</a:t>
            </a:r>
            <a:r>
              <a:rPr lang="en-GB" sz="2400" baseline="-25000" dirty="0"/>
              <a:t>4  </a:t>
            </a:r>
            <a:r>
              <a:rPr lang="en-GB" sz="2400" dirty="0"/>
              <a:t>+ 3O</a:t>
            </a:r>
            <a:r>
              <a:rPr lang="en-GB" sz="2400" baseline="-25000" dirty="0"/>
              <a:t>2</a:t>
            </a:r>
            <a:r>
              <a:rPr lang="en-GB" sz="2400" dirty="0">
                <a:sym typeface="Wingdings" panose="05000000000000000000" pitchFamily="2" charset="2"/>
              </a:rPr>
              <a:t>  2CO</a:t>
            </a:r>
            <a:r>
              <a:rPr lang="en-GB" sz="2400" baseline="-25000" dirty="0">
                <a:sym typeface="Wingdings" panose="05000000000000000000" pitchFamily="2" charset="2"/>
              </a:rPr>
              <a:t>2</a:t>
            </a:r>
            <a:r>
              <a:rPr lang="en-GB" sz="2400" dirty="0">
                <a:sym typeface="Wingdings" panose="05000000000000000000" pitchFamily="2" charset="2"/>
              </a:rPr>
              <a:t> </a:t>
            </a:r>
            <a:r>
              <a:rPr lang="en-GB" sz="2400" dirty="0" smtClean="0">
                <a:sym typeface="Wingdings" panose="05000000000000000000" pitchFamily="2" charset="2"/>
              </a:rPr>
              <a:t>+ 2H</a:t>
            </a:r>
            <a:r>
              <a:rPr lang="en-GB" sz="2400" baseline="-25000" dirty="0" smtClean="0">
                <a:sym typeface="Wingdings" panose="05000000000000000000" pitchFamily="2" charset="2"/>
              </a:rPr>
              <a:t>2</a:t>
            </a:r>
            <a:r>
              <a:rPr lang="en-GB" sz="2400" dirty="0" smtClean="0">
                <a:sym typeface="Wingdings" panose="05000000000000000000" pitchFamily="2" charset="2"/>
              </a:rPr>
              <a:t>O</a:t>
            </a:r>
            <a:endParaRPr lang="en-GB" sz="2400" dirty="0"/>
          </a:p>
          <a:p>
            <a:endParaRPr lang="en-GB" sz="2400" b="1" dirty="0">
              <a:solidFill>
                <a:srgbClr val="00B050"/>
              </a:solidFill>
            </a:endParaRPr>
          </a:p>
          <a:p>
            <a:endParaRPr lang="en-GB" sz="2400" b="1" dirty="0">
              <a:solidFill>
                <a:srgbClr val="00B050"/>
              </a:solidFill>
              <a:sym typeface="Wingdings" panose="05000000000000000000" pitchFamily="2" charset="2"/>
            </a:endParaRPr>
          </a:p>
          <a:p>
            <a:endParaRPr lang="en-GB" sz="2400" b="1" dirty="0">
              <a:solidFill>
                <a:srgbClr val="00B050"/>
              </a:solidFill>
              <a:sym typeface="Wingdings" panose="05000000000000000000" pitchFamily="2" charset="2"/>
            </a:endParaRPr>
          </a:p>
          <a:p>
            <a:endParaRPr lang="en-GB" sz="2400" b="1" dirty="0">
              <a:solidFill>
                <a:srgbClr val="00B050"/>
              </a:solidFill>
              <a:sym typeface="Wingdings" panose="05000000000000000000" pitchFamily="2" charset="2"/>
            </a:endParaRPr>
          </a:p>
          <a:p>
            <a:endParaRPr lang="en-GB" sz="2400" b="1" dirty="0">
              <a:sym typeface="Wingdings" panose="05000000000000000000" pitchFamily="2" charset="2"/>
            </a:endParaRPr>
          </a:p>
          <a:p>
            <a:endParaRPr lang="en-GB" sz="2400" b="1" dirty="0">
              <a:sym typeface="Wingdings" panose="05000000000000000000" pitchFamily="2" charset="2"/>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61103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7984" y="784286"/>
            <a:ext cx="4824536" cy="5257800"/>
          </a:xfrm>
          <a:prstGeom prst="rect">
            <a:avLst/>
          </a:prstGeom>
        </p:spPr>
      </p:pic>
      <p:sp>
        <p:nvSpPr>
          <p:cNvPr id="7" name="TextBox 6"/>
          <p:cNvSpPr txBox="1"/>
          <p:nvPr/>
        </p:nvSpPr>
        <p:spPr>
          <a:xfrm>
            <a:off x="0" y="980728"/>
            <a:ext cx="6228184" cy="5539978"/>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GB" sz="3600" b="1" dirty="0">
                <a:solidFill>
                  <a:schemeClr val="tx1">
                    <a:lumMod val="50000"/>
                    <a:lumOff val="50000"/>
                  </a:schemeClr>
                </a:solidFill>
              </a:rPr>
              <a:t>Use of amount of </a:t>
            </a:r>
          </a:p>
          <a:p>
            <a:r>
              <a:rPr lang="en-GB" sz="3600" b="1" dirty="0">
                <a:solidFill>
                  <a:schemeClr val="tx1">
                    <a:lumMod val="50000"/>
                    <a:lumOff val="50000"/>
                  </a:schemeClr>
                </a:solidFill>
              </a:rPr>
              <a:t>substance </a:t>
            </a:r>
          </a:p>
          <a:p>
            <a:r>
              <a:rPr lang="en-GB" sz="3600" b="1" dirty="0">
                <a:solidFill>
                  <a:schemeClr val="tx1">
                    <a:lumMod val="50000"/>
                    <a:lumOff val="50000"/>
                  </a:schemeClr>
                </a:solidFill>
              </a:rPr>
              <a:t>PART 1</a:t>
            </a:r>
          </a:p>
          <a:p>
            <a:pPr marL="685800" lvl="1" indent="-342900">
              <a:buFont typeface="Arial" charset="0"/>
              <a:buChar char="•"/>
            </a:pPr>
            <a:r>
              <a:rPr lang="en-US" sz="2400" b="1" dirty="0">
                <a:solidFill>
                  <a:schemeClr val="bg1">
                    <a:lumMod val="50000"/>
                  </a:schemeClr>
                </a:solidFill>
              </a:rPr>
              <a:t>Moles (HT)</a:t>
            </a:r>
          </a:p>
          <a:p>
            <a:pPr marL="685800" lvl="1" indent="-342900">
              <a:buFont typeface="Arial" charset="0"/>
              <a:buChar char="•"/>
            </a:pPr>
            <a:r>
              <a:rPr lang="en-US" sz="2400" b="1" dirty="0">
                <a:solidFill>
                  <a:schemeClr val="bg1">
                    <a:lumMod val="50000"/>
                  </a:schemeClr>
                </a:solidFill>
              </a:rPr>
              <a:t>Amounts of substances in equations (HT)</a:t>
            </a:r>
          </a:p>
          <a:p>
            <a:pPr marL="685800" lvl="1" indent="-342900">
              <a:buFont typeface="Arial" charset="0"/>
              <a:buChar char="•"/>
            </a:pPr>
            <a:r>
              <a:rPr lang="en-US" sz="2400" b="1" dirty="0">
                <a:solidFill>
                  <a:schemeClr val="bg1">
                    <a:lumMod val="50000"/>
                  </a:schemeClr>
                </a:solidFill>
              </a:rPr>
              <a:t>Quantities in equations (HT)</a:t>
            </a:r>
          </a:p>
          <a:p>
            <a:pPr marL="685800" lvl="1" indent="-342900">
              <a:buFont typeface="Arial" charset="0"/>
              <a:buChar char="•"/>
            </a:pPr>
            <a:r>
              <a:rPr lang="en-US" sz="2400" b="1" dirty="0">
                <a:solidFill>
                  <a:schemeClr val="bg1">
                    <a:lumMod val="50000"/>
                  </a:schemeClr>
                </a:solidFill>
              </a:rPr>
              <a:t>Using moles to balance equations (HT)</a:t>
            </a:r>
          </a:p>
          <a:p>
            <a:pPr marL="685800" lvl="1" indent="-342900">
              <a:buFont typeface="Arial" charset="0"/>
              <a:buChar char="•"/>
            </a:pPr>
            <a:r>
              <a:rPr lang="en-US" sz="2400" b="1" dirty="0">
                <a:solidFill>
                  <a:schemeClr val="bg1">
                    <a:lumMod val="50000"/>
                  </a:schemeClr>
                </a:solidFill>
              </a:rPr>
              <a:t>Limiting </a:t>
            </a:r>
            <a:r>
              <a:rPr lang="en-US" sz="2400" b="1" dirty="0" smtClean="0">
                <a:solidFill>
                  <a:schemeClr val="bg1">
                    <a:lumMod val="50000"/>
                  </a:schemeClr>
                </a:solidFill>
              </a:rPr>
              <a:t>reactants </a:t>
            </a:r>
            <a:r>
              <a:rPr lang="en-US" sz="2400" b="1" dirty="0">
                <a:solidFill>
                  <a:schemeClr val="bg1">
                    <a:lumMod val="50000"/>
                  </a:schemeClr>
                </a:solidFill>
              </a:rPr>
              <a:t>(HT)</a:t>
            </a:r>
            <a:endParaRPr lang="en-GB" sz="2400" dirty="0"/>
          </a:p>
          <a:p>
            <a:endParaRPr lang="en-GB" dirty="0"/>
          </a:p>
        </p:txBody>
      </p:sp>
    </p:spTree>
    <p:extLst>
      <p:ext uri="{BB962C8B-B14F-4D97-AF65-F5344CB8AC3E}">
        <p14:creationId xmlns:p14="http://schemas.microsoft.com/office/powerpoint/2010/main" val="2309263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(HT)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9091884" cy="4154984"/>
          </a:xfrm>
          <a:prstGeom prst="rect">
            <a:avLst/>
          </a:prstGeom>
          <a:noFill/>
        </p:spPr>
        <p:txBody>
          <a:bodyPr wrap="square" rtlCol="0">
            <a:spAutoFit/>
          </a:bodyPr>
          <a:lstStyle/>
          <a:p>
            <a:pPr marL="457200" lvl="0" indent="-457200">
              <a:buFont typeface="+mj-lt"/>
              <a:buAutoNum type="arabicPeriod"/>
            </a:pPr>
            <a:r>
              <a:rPr lang="en-GB" sz="2400" dirty="0" smtClean="0"/>
              <a:t>What is meant by the term ‘mole’? </a:t>
            </a:r>
          </a:p>
          <a:p>
            <a:pPr lvl="1"/>
            <a:r>
              <a:rPr lang="en-GB" sz="2400" b="1" dirty="0">
                <a:solidFill>
                  <a:srgbClr val="00B050"/>
                </a:solidFill>
              </a:rPr>
              <a:t> </a:t>
            </a:r>
            <a:r>
              <a:rPr lang="en-GB" sz="2400" b="1" dirty="0" smtClean="0">
                <a:solidFill>
                  <a:srgbClr val="00B050"/>
                </a:solidFill>
              </a:rPr>
              <a:t>A measure of the chemical amount of a substance. </a:t>
            </a:r>
            <a:endParaRPr lang="en-GB" sz="2400" dirty="0" smtClean="0"/>
          </a:p>
          <a:p>
            <a:pPr marL="457200" lvl="0" indent="-457200">
              <a:buFont typeface="+mj-lt"/>
              <a:buAutoNum type="arabicPeriod"/>
            </a:pPr>
            <a:r>
              <a:rPr lang="en-GB" sz="2400" dirty="0" smtClean="0"/>
              <a:t>What is the symbol for the unit mole?</a:t>
            </a:r>
          </a:p>
          <a:p>
            <a:pPr lvl="1"/>
            <a:r>
              <a:rPr lang="en-GB" sz="2400" b="1" dirty="0">
                <a:solidFill>
                  <a:srgbClr val="00B050"/>
                </a:solidFill>
              </a:rPr>
              <a:t> </a:t>
            </a:r>
            <a:r>
              <a:rPr lang="en-GB" sz="2400" b="1" dirty="0" err="1" smtClean="0">
                <a:solidFill>
                  <a:srgbClr val="00B050"/>
                </a:solidFill>
              </a:rPr>
              <a:t>mol</a:t>
            </a:r>
            <a:r>
              <a:rPr lang="en-GB" sz="2400" b="1" dirty="0" smtClean="0">
                <a:solidFill>
                  <a:srgbClr val="00B050"/>
                </a:solidFill>
              </a:rPr>
              <a:t> </a:t>
            </a:r>
            <a:endParaRPr lang="en-GB" sz="2400" dirty="0" smtClean="0"/>
          </a:p>
          <a:p>
            <a:pPr marL="457200" lvl="0" indent="-457200">
              <a:buFont typeface="+mj-lt"/>
              <a:buAutoNum type="arabicPeriod"/>
            </a:pPr>
            <a:r>
              <a:rPr lang="en-GB" sz="2400" dirty="0" smtClean="0"/>
              <a:t>What does ‘Avogadro’s constant’ tell us?</a:t>
            </a:r>
          </a:p>
          <a:p>
            <a:pPr lvl="1"/>
            <a:r>
              <a:rPr lang="en-GB" sz="2400" b="1" dirty="0">
                <a:solidFill>
                  <a:srgbClr val="00B050"/>
                </a:solidFill>
              </a:rPr>
              <a:t> </a:t>
            </a:r>
            <a:r>
              <a:rPr lang="en-GB" sz="2400" b="1" dirty="0" smtClean="0">
                <a:solidFill>
                  <a:srgbClr val="00B050"/>
                </a:solidFill>
              </a:rPr>
              <a:t>Number of atoms, molecules or ions in a mole of a substance.</a:t>
            </a:r>
            <a:endParaRPr lang="en-GB" sz="2400" dirty="0" smtClean="0"/>
          </a:p>
          <a:p>
            <a:pPr marL="457200" lvl="0" indent="-457200">
              <a:buFont typeface="+mj-lt"/>
              <a:buAutoNum type="arabicPeriod"/>
            </a:pPr>
            <a:r>
              <a:rPr lang="en-GB" sz="2400" dirty="0" smtClean="0"/>
              <a:t>What is the value for Avogadro’s constant?</a:t>
            </a:r>
          </a:p>
          <a:p>
            <a:pPr lvl="1"/>
            <a:r>
              <a:rPr lang="en-GB" sz="2400" b="1" dirty="0">
                <a:solidFill>
                  <a:srgbClr val="00B050"/>
                </a:solidFill>
              </a:rPr>
              <a:t> 6</a:t>
            </a:r>
            <a:r>
              <a:rPr lang="en-GB" sz="2400" b="1" dirty="0" smtClean="0">
                <a:solidFill>
                  <a:srgbClr val="00B050"/>
                </a:solidFill>
              </a:rPr>
              <a:t>.02 x 10</a:t>
            </a:r>
            <a:r>
              <a:rPr lang="en-GB" sz="2400" b="1" baseline="30000" dirty="0" smtClean="0">
                <a:solidFill>
                  <a:srgbClr val="00B050"/>
                </a:solidFill>
              </a:rPr>
              <a:t>23</a:t>
            </a:r>
            <a:r>
              <a:rPr lang="en-GB" sz="2400" b="1" dirty="0" smtClean="0">
                <a:solidFill>
                  <a:srgbClr val="00B050"/>
                </a:solidFill>
              </a:rPr>
              <a:t> per </a:t>
            </a:r>
            <a:r>
              <a:rPr lang="en-GB" sz="2400" b="1" dirty="0" err="1" smtClean="0">
                <a:solidFill>
                  <a:srgbClr val="00B050"/>
                </a:solidFill>
              </a:rPr>
              <a:t>mol</a:t>
            </a:r>
            <a:r>
              <a:rPr lang="en-GB" sz="2400" b="1" dirty="0" smtClean="0">
                <a:solidFill>
                  <a:srgbClr val="00B050"/>
                </a:solidFill>
              </a:rPr>
              <a:t> </a:t>
            </a:r>
            <a:endParaRPr lang="en-GB" sz="2400" dirty="0" smtClean="0"/>
          </a:p>
          <a:p>
            <a:pPr marL="457200" lvl="0" indent="-457200">
              <a:buFont typeface="+mj-lt"/>
              <a:buAutoNum type="arabicPeriod"/>
            </a:pPr>
            <a:r>
              <a:rPr lang="en-GB" sz="2400" dirty="0" smtClean="0"/>
              <a:t>How many atoms in 1 mole of carbon?</a:t>
            </a:r>
          </a:p>
          <a:p>
            <a:pPr lvl="1"/>
            <a:r>
              <a:rPr lang="en-GB" sz="2400" b="1" dirty="0">
                <a:solidFill>
                  <a:srgbClr val="00B050"/>
                </a:solidFill>
              </a:rPr>
              <a:t> 6.02 x 10</a:t>
            </a:r>
            <a:r>
              <a:rPr lang="en-GB" sz="2400" b="1" baseline="30000" dirty="0">
                <a:solidFill>
                  <a:srgbClr val="00B050"/>
                </a:solidFill>
              </a:rPr>
              <a:t>23</a:t>
            </a:r>
            <a:r>
              <a:rPr lang="en-GB" sz="2400" b="1" dirty="0" smtClean="0">
                <a:solidFill>
                  <a:srgbClr val="00B050"/>
                </a:solidFill>
              </a:rPr>
              <a:t> </a:t>
            </a:r>
            <a:endParaRPr lang="en-GB" sz="2400" dirty="0" smtClean="0"/>
          </a:p>
          <a:p>
            <a:pPr lvl="0"/>
            <a:r>
              <a:rPr lang="en-GB" sz="2400" b="1" dirty="0" smtClean="0">
                <a:solidFill>
                  <a:srgbClr val="00B050"/>
                </a:solidFill>
              </a:rPr>
              <a:t> </a:t>
            </a: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74133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(HT)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9091884" cy="4524315"/>
          </a:xfrm>
          <a:prstGeom prst="rect">
            <a:avLst/>
          </a:prstGeom>
          <a:noFill/>
        </p:spPr>
        <p:txBody>
          <a:bodyPr wrap="square" rtlCol="0">
            <a:spAutoFit/>
          </a:bodyPr>
          <a:lstStyle/>
          <a:p>
            <a:pPr marL="457200" lvl="0" indent="-457200">
              <a:buFont typeface="+mj-lt"/>
              <a:buAutoNum type="arabicPeriod"/>
            </a:pPr>
            <a:endParaRPr lang="en-GB" sz="2400" dirty="0" smtClean="0"/>
          </a:p>
          <a:p>
            <a:pPr marL="457200" lvl="0" indent="-457200">
              <a:buFont typeface="+mj-lt"/>
              <a:buAutoNum type="arabicPeriod" startAt="6"/>
            </a:pPr>
            <a:r>
              <a:rPr lang="en-GB" sz="2400" dirty="0" smtClean="0"/>
              <a:t>How many atoms in 1 mole of chlorine gas, Cl</a:t>
            </a:r>
            <a:r>
              <a:rPr lang="en-GB" sz="2400" baseline="-25000" dirty="0" smtClean="0"/>
              <a:t>2</a:t>
            </a:r>
            <a:r>
              <a:rPr lang="en-GB" sz="2400" dirty="0" smtClean="0"/>
              <a:t>?</a:t>
            </a:r>
          </a:p>
          <a:p>
            <a:pPr lvl="1"/>
            <a:r>
              <a:rPr lang="en-GB" sz="2400" b="1" dirty="0">
                <a:solidFill>
                  <a:srgbClr val="00B050"/>
                </a:solidFill>
              </a:rPr>
              <a:t> 6.02 x 10</a:t>
            </a:r>
            <a:r>
              <a:rPr lang="en-GB" sz="2400" b="1" baseline="30000" dirty="0">
                <a:solidFill>
                  <a:srgbClr val="00B050"/>
                </a:solidFill>
              </a:rPr>
              <a:t>23</a:t>
            </a:r>
            <a:r>
              <a:rPr lang="en-GB" sz="2400" b="1" dirty="0" smtClean="0">
                <a:solidFill>
                  <a:srgbClr val="00B050"/>
                </a:solidFill>
              </a:rPr>
              <a:t> </a:t>
            </a:r>
            <a:endParaRPr lang="en-GB" sz="2400" dirty="0" smtClean="0"/>
          </a:p>
          <a:p>
            <a:pPr marL="457200" lvl="0" indent="-457200">
              <a:buFont typeface="+mj-lt"/>
              <a:buAutoNum type="arabicPeriod" startAt="6"/>
            </a:pPr>
            <a:r>
              <a:rPr lang="en-GB" sz="2400" dirty="0" smtClean="0"/>
              <a:t>What can the following equation tell us about the number of moles of each substance? </a:t>
            </a:r>
          </a:p>
          <a:p>
            <a:pPr algn="ctr"/>
            <a:r>
              <a:rPr lang="en-GB" sz="2400" dirty="0"/>
              <a:t>Mg + 2HCl </a:t>
            </a:r>
            <a:r>
              <a:rPr lang="en-GB" sz="2400" b="1" dirty="0">
                <a:sym typeface="Wingdings" panose="05000000000000000000" pitchFamily="2" charset="2"/>
              </a:rPr>
              <a:t></a:t>
            </a:r>
            <a:r>
              <a:rPr lang="en-GB" sz="2400" dirty="0"/>
              <a:t> MgCl</a:t>
            </a:r>
            <a:r>
              <a:rPr lang="en-GB" sz="2400" baseline="-25000" dirty="0"/>
              <a:t>2</a:t>
            </a:r>
            <a:r>
              <a:rPr lang="en-GB" sz="2400" dirty="0"/>
              <a:t> + H</a:t>
            </a:r>
            <a:r>
              <a:rPr lang="en-GB" sz="2400" baseline="-25000" dirty="0"/>
              <a:t>2</a:t>
            </a:r>
          </a:p>
          <a:p>
            <a:pPr marL="457200" lvl="0" indent="-457200">
              <a:buFont typeface="+mj-lt"/>
              <a:buAutoNum type="arabicPeriod" startAt="6"/>
            </a:pPr>
            <a:endParaRPr lang="en-GB" sz="2400" dirty="0" smtClean="0"/>
          </a:p>
          <a:p>
            <a:pPr lvl="1"/>
            <a:r>
              <a:rPr lang="en-GB" sz="2400" b="1" dirty="0">
                <a:solidFill>
                  <a:srgbClr val="00B050"/>
                </a:solidFill>
              </a:rPr>
              <a:t> </a:t>
            </a:r>
            <a:r>
              <a:rPr lang="en-GB" sz="2400" b="1" dirty="0" smtClean="0">
                <a:solidFill>
                  <a:srgbClr val="00B050"/>
                </a:solidFill>
              </a:rPr>
              <a:t>1 mole of magnesium reacts with 2 moles of hydrochloric acid to form 1 mole of magnesium chloride and 1 mole of hydrogen. </a:t>
            </a:r>
            <a:endParaRPr lang="en-GB" sz="2400" dirty="0" smtClean="0"/>
          </a:p>
          <a:p>
            <a:pPr marL="457200" lvl="0" indent="-457200">
              <a:buFont typeface="+mj-lt"/>
              <a:buAutoNum type="arabicPeriod" startAt="8"/>
            </a:pPr>
            <a:r>
              <a:rPr lang="en-GB" sz="2400" dirty="0" smtClean="0"/>
              <a:t>What is meant by the term ‘limiting reactant’?</a:t>
            </a:r>
            <a:endParaRPr lang="en-GB" sz="1600" dirty="0">
              <a:solidFill>
                <a:prstClr val="black"/>
              </a:solidFill>
              <a:latin typeface="Calibri"/>
            </a:endParaRPr>
          </a:p>
          <a:p>
            <a:pPr lvl="1"/>
            <a:r>
              <a:rPr lang="en-GB" sz="2400" b="1" dirty="0">
                <a:solidFill>
                  <a:srgbClr val="00B050"/>
                </a:solidFill>
              </a:rPr>
              <a:t> </a:t>
            </a:r>
            <a:r>
              <a:rPr lang="en-GB" sz="2400" b="1" dirty="0" smtClean="0">
                <a:solidFill>
                  <a:srgbClr val="00B050"/>
                </a:solidFill>
              </a:rPr>
              <a:t>A reactant in a reaction which is completely used up when the other reactant is in excess. </a:t>
            </a:r>
            <a:endParaRPr lang="en-GB" sz="2400" dirty="0" smtClean="0"/>
          </a:p>
        </p:txBody>
      </p:sp>
    </p:spTree>
    <p:extLst>
      <p:ext uri="{BB962C8B-B14F-4D97-AF65-F5344CB8AC3E}">
        <p14:creationId xmlns:p14="http://schemas.microsoft.com/office/powerpoint/2010/main" val="42705411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(HT)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9091884" cy="6247864"/>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9"/>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How many moles of helium atoms are there in 0.04g of helium?</a:t>
            </a:r>
          </a:p>
          <a:p>
            <a:pPr lvl="0"/>
            <a:r>
              <a:rPr lang="en-GB" sz="2400" b="1" dirty="0">
                <a:solidFill>
                  <a:srgbClr val="00B050"/>
                </a:solidFill>
              </a:rPr>
              <a:t>       0.04/4 = </a:t>
            </a:r>
            <a:r>
              <a:rPr lang="en-GB" sz="2400" b="1" dirty="0" smtClean="0">
                <a:solidFill>
                  <a:srgbClr val="00B050"/>
                </a:solidFill>
              </a:rPr>
              <a:t>0.01mol</a:t>
            </a:r>
            <a:endParaRPr lang="en-GB" sz="2400" b="1" dirty="0">
              <a:solidFill>
                <a:srgbClr val="00B050"/>
              </a:solidFill>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0"/>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What is the mass of 20 moles of calcium carbonate CaCO</a:t>
            </a:r>
            <a:r>
              <a:rPr kumimoji="0" lang="en-GB" sz="2400" b="0" i="0" u="none" strike="noStrike" kern="1200" cap="none" spc="0" normalizeH="0" baseline="-25000" noProof="0" dirty="0">
                <a:ln>
                  <a:noFill/>
                </a:ln>
                <a:solidFill>
                  <a:prstClr val="black"/>
                </a:solidFill>
                <a:effectLst/>
                <a:uLnTx/>
                <a:uFillTx/>
                <a:latin typeface="Calibri"/>
                <a:ea typeface="+mn-ea"/>
                <a:cs typeface="+mn-cs"/>
              </a:rPr>
              <a:t>3</a:t>
            </a:r>
            <a:r>
              <a:rPr kumimoji="0" lang="en-GB" sz="2400" b="0" i="0" u="none" strike="noStrike" kern="1200" cap="none" spc="0" normalizeH="0" baseline="0" noProof="0" dirty="0">
                <a:ln>
                  <a:noFill/>
                </a:ln>
                <a:solidFill>
                  <a:prstClr val="black"/>
                </a:solidFill>
                <a:effectLst/>
                <a:uLnTx/>
                <a:uFillTx/>
                <a:latin typeface="Calibri"/>
                <a:ea typeface="+mn-ea"/>
                <a:cs typeface="+mn-cs"/>
              </a:rPr>
              <a:t>?  </a:t>
            </a:r>
          </a:p>
          <a:p>
            <a:pPr marR="0" lvl="0" algn="l" defTabSz="914400" rtl="0" eaLnBrk="1" fontAlgn="auto" latinLnBrk="0" hangingPunct="1">
              <a:lnSpc>
                <a:spcPct val="100000"/>
              </a:lnSpc>
              <a:spcBef>
                <a:spcPts val="0"/>
              </a:spcBef>
              <a:spcAft>
                <a:spcPts val="0"/>
              </a:spcAft>
              <a:buClrTx/>
              <a:buSzTx/>
              <a:tabLst/>
              <a:defRPr/>
            </a:pPr>
            <a:r>
              <a:rPr lang="en-GB" sz="2400" dirty="0">
                <a:solidFill>
                  <a:prstClr val="black"/>
                </a:solidFill>
                <a:latin typeface="Calibri"/>
              </a:rPr>
              <a:t>       </a:t>
            </a:r>
            <a:r>
              <a:rPr kumimoji="0" lang="en-GB" sz="2400" b="0" i="0" u="none" strike="noStrike" kern="1200" cap="none" spc="0" normalizeH="0" baseline="0" noProof="0" dirty="0">
                <a:ln>
                  <a:noFill/>
                </a:ln>
                <a:solidFill>
                  <a:prstClr val="black"/>
                </a:solidFill>
                <a:effectLst/>
                <a:uLnTx/>
                <a:uFillTx/>
                <a:latin typeface="Calibri"/>
                <a:ea typeface="+mn-ea"/>
                <a:cs typeface="+mn-cs"/>
              </a:rPr>
              <a:t>Answer in kg.</a:t>
            </a:r>
          </a:p>
          <a:p>
            <a:pPr lvl="0"/>
            <a:r>
              <a:rPr lang="en-GB" sz="2400" dirty="0">
                <a:solidFill>
                  <a:prstClr val="black"/>
                </a:solidFill>
                <a:latin typeface="Calibri"/>
              </a:rPr>
              <a:t>       </a:t>
            </a:r>
            <a:r>
              <a:rPr lang="en-GB" sz="2400" b="1" dirty="0">
                <a:solidFill>
                  <a:srgbClr val="00B050"/>
                </a:solidFill>
                <a:latin typeface="Calibri"/>
              </a:rPr>
              <a:t>40+12+(16x3) = 100</a:t>
            </a:r>
          </a:p>
          <a:p>
            <a:pPr lvl="0"/>
            <a:r>
              <a:rPr lang="en-GB" sz="2400" b="1" baseline="-25000" dirty="0">
                <a:solidFill>
                  <a:srgbClr val="00B050"/>
                </a:solidFill>
                <a:latin typeface="Calibri"/>
              </a:rPr>
              <a:t>          </a:t>
            </a:r>
            <a:r>
              <a:rPr lang="en-GB" sz="2400" b="1" dirty="0">
                <a:solidFill>
                  <a:srgbClr val="00B050"/>
                </a:solidFill>
              </a:rPr>
              <a:t>100 x 20 = 2,000g = 2kg.</a:t>
            </a:r>
            <a:endParaRPr kumimoji="0" lang="en-GB" sz="2400" b="0" i="0" u="none" strike="noStrike" kern="1200" cap="none" spc="0" normalizeH="0" baseline="-2500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1"/>
              <a:tabLst/>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Calcium carbonate decomposes to calcium oxide in a kiln in the following reaction:  </a:t>
            </a:r>
            <a:r>
              <a:rPr kumimoji="0" lang="en-GB" sz="2400" b="1" i="0" u="none" strike="noStrike" kern="1200" cap="none" spc="0" normalizeH="0" baseline="0" noProof="0" dirty="0">
                <a:ln>
                  <a:noFill/>
                </a:ln>
                <a:solidFill>
                  <a:prstClr val="black"/>
                </a:solidFill>
                <a:effectLst/>
                <a:uLnTx/>
                <a:uFillTx/>
                <a:latin typeface="Calibri"/>
                <a:ea typeface="+mn-ea"/>
                <a:cs typeface="+mn-cs"/>
              </a:rPr>
              <a:t>CaCO</a:t>
            </a:r>
            <a:r>
              <a:rPr kumimoji="0" lang="en-GB" sz="2400" b="1" i="0" u="none" strike="noStrike" kern="1200" cap="none" spc="0" normalizeH="0" baseline="-25000" noProof="0" dirty="0">
                <a:ln>
                  <a:noFill/>
                </a:ln>
                <a:solidFill>
                  <a:prstClr val="black"/>
                </a:solidFill>
                <a:effectLst/>
                <a:uLnTx/>
                <a:uFillTx/>
                <a:latin typeface="Calibri"/>
                <a:ea typeface="+mn-ea"/>
                <a:cs typeface="+mn-cs"/>
              </a:rPr>
              <a:t>3</a:t>
            </a:r>
            <a:r>
              <a:rPr kumimoji="0" lang="en-GB" sz="2400" b="1" i="0" u="none" strike="noStrike" kern="1200" cap="none" spc="0" normalizeH="0" baseline="0" noProof="0" dirty="0">
                <a:ln>
                  <a:noFill/>
                </a:ln>
                <a:solidFill>
                  <a:prstClr val="black"/>
                </a:solidFill>
                <a:effectLst/>
                <a:uLnTx/>
                <a:uFillTx/>
                <a:latin typeface="Calibri"/>
                <a:ea typeface="+mn-ea"/>
                <a:cs typeface="+mn-cs"/>
              </a:rPr>
              <a:t> </a:t>
            </a:r>
            <a:r>
              <a:rPr kumimoji="0" lang="en-GB" sz="24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a:t>
            </a:r>
            <a:r>
              <a:rPr kumimoji="0" lang="en-GB" sz="2400" b="1" i="0" u="none" strike="noStrike" kern="1200" cap="none" spc="0" normalizeH="0" baseline="0" noProof="0" dirty="0" err="1">
                <a:ln>
                  <a:noFill/>
                </a:ln>
                <a:solidFill>
                  <a:prstClr val="black"/>
                </a:solidFill>
                <a:effectLst/>
                <a:uLnTx/>
                <a:uFillTx/>
                <a:latin typeface="Calibri"/>
                <a:ea typeface="+mn-ea"/>
                <a:cs typeface="+mn-cs"/>
                <a:sym typeface="Wingdings" panose="05000000000000000000" pitchFamily="2" charset="2"/>
              </a:rPr>
              <a:t>CaO</a:t>
            </a:r>
            <a:r>
              <a:rPr kumimoji="0" lang="en-GB" sz="2400" b="1" i="0" u="none" strike="noStrike" kern="1200" cap="none" spc="0" normalizeH="0" baseline="0" noProof="0" dirty="0">
                <a:ln>
                  <a:noFill/>
                </a:ln>
                <a:solidFill>
                  <a:prstClr val="black"/>
                </a:solidFill>
                <a:effectLst/>
                <a:uLnTx/>
                <a:uFillTx/>
                <a:latin typeface="Calibri"/>
                <a:ea typeface="+mn-ea"/>
                <a:cs typeface="+mn-cs"/>
                <a:sym typeface="Wingdings" panose="05000000000000000000" pitchFamily="2" charset="2"/>
              </a:rPr>
              <a:t> + CO</a:t>
            </a:r>
            <a:r>
              <a:rPr kumimoji="0" lang="en-GB" sz="2400" b="1" i="0" u="none" strike="noStrike" kern="1200" cap="none" spc="0" normalizeH="0" baseline="-25000" noProof="0" dirty="0">
                <a:ln>
                  <a:noFill/>
                </a:ln>
                <a:solidFill>
                  <a:prstClr val="black"/>
                </a:solidFill>
                <a:effectLst/>
                <a:uLnTx/>
                <a:uFillTx/>
                <a:latin typeface="Calibri"/>
                <a:ea typeface="+mn-ea"/>
                <a:cs typeface="+mn-cs"/>
                <a:sym typeface="Wingdings" panose="05000000000000000000" pitchFamily="2" charset="2"/>
              </a:rPr>
              <a:t>2</a:t>
            </a:r>
            <a:endParaRPr kumimoji="0" lang="en-GB" sz="2400" b="1" i="0" u="none" strike="noStrike" kern="1200" cap="none" spc="0" normalizeH="0" baseline="-25000" noProof="0" dirty="0">
              <a:ln>
                <a:noFill/>
              </a:ln>
              <a:solidFill>
                <a:prstClr val="black"/>
              </a:solidFill>
              <a:effectLst/>
              <a:uLnTx/>
              <a:uFillTx/>
              <a:latin typeface="Calibri"/>
              <a:ea typeface="+mn-ea"/>
              <a:cs typeface="+mn-cs"/>
            </a:endParaRPr>
          </a:p>
          <a:p>
            <a:pPr lvl="0"/>
            <a:r>
              <a:rPr kumimoji="0" lang="en-GB" sz="2400" b="0" i="0" u="none" strike="noStrike" kern="1200" cap="none" spc="0" normalizeH="0" baseline="0" noProof="0" dirty="0">
                <a:ln>
                  <a:noFill/>
                </a:ln>
                <a:solidFill>
                  <a:prstClr val="black"/>
                </a:solidFill>
                <a:effectLst/>
                <a:uLnTx/>
                <a:uFillTx/>
                <a:latin typeface="Calibri"/>
                <a:ea typeface="+mn-ea"/>
                <a:cs typeface="+mn-cs"/>
              </a:rPr>
              <a:t>       </a:t>
            </a:r>
            <a:r>
              <a:rPr lang="en-GB" sz="2400" dirty="0">
                <a:solidFill>
                  <a:prstClr val="black"/>
                </a:solidFill>
              </a:rPr>
              <a:t>Calculate the </a:t>
            </a:r>
            <a:r>
              <a:rPr lang="en-GB" sz="2400" dirty="0"/>
              <a:t>mass of calcium oxide that can be produced when     </a:t>
            </a:r>
          </a:p>
          <a:p>
            <a:pPr lvl="0"/>
            <a:r>
              <a:rPr lang="en-GB" sz="2400" dirty="0"/>
              <a:t>       300 tonnes of calcium carbonate is heated.</a:t>
            </a:r>
          </a:p>
          <a:p>
            <a:pPr lvl="0"/>
            <a:r>
              <a:rPr lang="en-GB" sz="2400" dirty="0"/>
              <a:t>      </a:t>
            </a:r>
            <a:r>
              <a:rPr lang="en-GB" sz="2400" b="1" dirty="0">
                <a:solidFill>
                  <a:srgbClr val="00B050"/>
                </a:solidFill>
              </a:rPr>
              <a:t> Relative formula mass of calcium carbonate = 100 = 100g</a:t>
            </a:r>
          </a:p>
          <a:p>
            <a:pPr lvl="0"/>
            <a:r>
              <a:rPr lang="en-GB" sz="2400" b="1" dirty="0">
                <a:solidFill>
                  <a:srgbClr val="00B050"/>
                </a:solidFill>
              </a:rPr>
              <a:t>       Relative formula mass of calcium oxide = 56 = 56g      </a:t>
            </a:r>
          </a:p>
          <a:p>
            <a:pPr lvl="0"/>
            <a:r>
              <a:rPr lang="en-GB" sz="2400" b="1" dirty="0">
                <a:solidFill>
                  <a:srgbClr val="00B050"/>
                </a:solidFill>
                <a:latin typeface="Calibri"/>
              </a:rPr>
              <a:t>       100 tonnes of calcium carbonate makes 56 tonnes of calcium oxide</a:t>
            </a:r>
          </a:p>
          <a:p>
            <a:pPr lvl="0"/>
            <a:r>
              <a:rPr kumimoji="0" lang="en-GB" sz="2400" b="1" i="0" u="none" strike="noStrike" kern="1200" cap="none" spc="0" normalizeH="0" baseline="0" noProof="0" dirty="0">
                <a:ln>
                  <a:noFill/>
                </a:ln>
                <a:solidFill>
                  <a:srgbClr val="00B050"/>
                </a:solidFill>
                <a:effectLst/>
                <a:uLnTx/>
                <a:uFillTx/>
                <a:latin typeface="Calibri"/>
                <a:ea typeface="+mn-ea"/>
                <a:cs typeface="+mn-cs"/>
              </a:rPr>
              <a:t>       so 300 tonnes make 168 tonnes</a:t>
            </a:r>
            <a:endParaRPr kumimoji="0" lang="en-GB" sz="1800" b="1" i="0" u="none" strike="noStrike" kern="1200" cap="none" spc="0" normalizeH="0" baseline="0" noProof="0" dirty="0">
              <a:ln>
                <a:noFill/>
              </a:ln>
              <a:solidFill>
                <a:srgbClr val="00B050"/>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306120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(HT)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755591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12"/>
              <a:tabLst/>
              <a:defRPr/>
            </a:pPr>
            <a:r>
              <a:rPr lang="en-GB" sz="2400" dirty="0" smtClean="0">
                <a:sym typeface="Wingdings" panose="05000000000000000000" pitchFamily="2" charset="2"/>
              </a:rPr>
              <a:t>0.10g </a:t>
            </a:r>
            <a:r>
              <a:rPr lang="en-GB" sz="2400" dirty="0">
                <a:sym typeface="Wingdings" panose="05000000000000000000" pitchFamily="2" charset="2"/>
              </a:rPr>
              <a:t>of hydrogen reacts with 3.55g of chlorine to produce 3.65g </a:t>
            </a:r>
            <a:r>
              <a:rPr lang="en-GB" sz="2400" dirty="0" smtClean="0">
                <a:sym typeface="Wingdings" panose="05000000000000000000" pitchFamily="2" charset="2"/>
              </a:rPr>
              <a:t>of </a:t>
            </a:r>
            <a:r>
              <a:rPr lang="en-GB" sz="2400" dirty="0">
                <a:sym typeface="Wingdings" panose="05000000000000000000" pitchFamily="2" charset="2"/>
              </a:rPr>
              <a:t>hydrogen chloride.  Use this information to work out the </a:t>
            </a:r>
            <a:r>
              <a:rPr lang="en-GB" sz="2400" dirty="0" smtClean="0">
                <a:sym typeface="Wingdings" panose="05000000000000000000" pitchFamily="2" charset="2"/>
              </a:rPr>
              <a:t>balancing </a:t>
            </a:r>
            <a:r>
              <a:rPr lang="en-GB" sz="2400" dirty="0">
                <a:sym typeface="Wingdings" panose="05000000000000000000" pitchFamily="2" charset="2"/>
              </a:rPr>
              <a:t>numbers for hydrogen chloride</a:t>
            </a:r>
            <a:r>
              <a:rPr lang="en-GB" sz="2400" b="1" dirty="0">
                <a:sym typeface="Wingdings" panose="05000000000000000000" pitchFamily="2" charset="2"/>
              </a:rPr>
              <a:t>.</a:t>
            </a:r>
          </a:p>
          <a:p>
            <a:pPr algn="ctr"/>
            <a:endParaRPr lang="en-GB" sz="1000" b="1" dirty="0">
              <a:sym typeface="Wingdings" panose="05000000000000000000" pitchFamily="2" charset="2"/>
            </a:endParaRPr>
          </a:p>
          <a:p>
            <a:pPr algn="ctr"/>
            <a:r>
              <a:rPr lang="en-GB" sz="2400" b="1" dirty="0"/>
              <a:t>H</a:t>
            </a:r>
            <a:r>
              <a:rPr lang="en-GB" sz="2400" b="1" baseline="-25000" dirty="0"/>
              <a:t>2</a:t>
            </a:r>
            <a:r>
              <a:rPr lang="en-GB" sz="2400" b="1" dirty="0"/>
              <a:t> + Cl</a:t>
            </a:r>
            <a:r>
              <a:rPr lang="en-GB" sz="2400" b="1" baseline="-25000" dirty="0"/>
              <a:t>2</a:t>
            </a:r>
            <a:r>
              <a:rPr lang="en-GB" sz="2400" b="1" dirty="0"/>
              <a:t> </a:t>
            </a:r>
            <a:r>
              <a:rPr lang="en-GB" sz="2400" b="1" dirty="0">
                <a:sym typeface="Wingdings" panose="05000000000000000000" pitchFamily="2" charset="2"/>
              </a:rPr>
              <a:t> ___HCl</a:t>
            </a:r>
          </a:p>
          <a:p>
            <a:endParaRPr lang="en-GB" sz="2400" b="1" dirty="0">
              <a:solidFill>
                <a:srgbClr val="00B050"/>
              </a:solidFill>
            </a:endParaRPr>
          </a:p>
          <a:p>
            <a:r>
              <a:rPr lang="en-GB" sz="2400" b="1" dirty="0">
                <a:solidFill>
                  <a:srgbClr val="00B050"/>
                </a:solidFill>
              </a:rPr>
              <a:t>M</a:t>
            </a:r>
            <a:r>
              <a:rPr lang="en-GB" sz="2400" b="1" baseline="-25000" dirty="0">
                <a:solidFill>
                  <a:srgbClr val="00B050"/>
                </a:solidFill>
              </a:rPr>
              <a:t>r</a:t>
            </a:r>
            <a:r>
              <a:rPr lang="en-GB" sz="2400" b="1" dirty="0">
                <a:solidFill>
                  <a:srgbClr val="00B050"/>
                </a:solidFill>
              </a:rPr>
              <a:t>: H</a:t>
            </a:r>
            <a:r>
              <a:rPr lang="en-GB" sz="2400" b="1" baseline="-25000" dirty="0">
                <a:solidFill>
                  <a:srgbClr val="00B050"/>
                </a:solidFill>
              </a:rPr>
              <a:t>2</a:t>
            </a:r>
            <a:r>
              <a:rPr lang="en-GB" sz="2400" b="1" baseline="-25000" dirty="0">
                <a:solidFill>
                  <a:srgbClr val="00B050"/>
                </a:solidFill>
                <a:sym typeface="Wingdings" panose="05000000000000000000" pitchFamily="2" charset="2"/>
              </a:rPr>
              <a:t> </a:t>
            </a:r>
            <a:r>
              <a:rPr lang="en-GB" sz="2400" b="1" dirty="0">
                <a:solidFill>
                  <a:srgbClr val="00B050"/>
                </a:solidFill>
                <a:sym typeface="Wingdings" panose="05000000000000000000" pitchFamily="2" charset="2"/>
              </a:rPr>
              <a:t> 	  = 1 </a:t>
            </a:r>
            <a:r>
              <a:rPr lang="en-GB" sz="2400" b="1" dirty="0" smtClean="0">
                <a:solidFill>
                  <a:srgbClr val="00B050"/>
                </a:solidFill>
                <a:sym typeface="Wingdings" panose="05000000000000000000" pitchFamily="2" charset="2"/>
              </a:rPr>
              <a:t>x 2 </a:t>
            </a:r>
            <a:r>
              <a:rPr lang="en-GB" sz="2400" b="1" dirty="0">
                <a:solidFill>
                  <a:srgbClr val="00B050"/>
                </a:solidFill>
                <a:sym typeface="Wingdings" panose="05000000000000000000" pitchFamily="2" charset="2"/>
              </a:rPr>
              <a:t>= 2</a:t>
            </a:r>
          </a:p>
          <a:p>
            <a:r>
              <a:rPr lang="en-GB" sz="2400" b="1" dirty="0">
                <a:solidFill>
                  <a:srgbClr val="00B050"/>
                </a:solidFill>
              </a:rPr>
              <a:t>M</a:t>
            </a:r>
            <a:r>
              <a:rPr lang="en-GB" sz="2400" b="1" baseline="-25000" dirty="0">
                <a:solidFill>
                  <a:srgbClr val="00B050"/>
                </a:solidFill>
              </a:rPr>
              <a:t>r</a:t>
            </a:r>
            <a:r>
              <a:rPr lang="en-GB" sz="2400" b="1" dirty="0">
                <a:solidFill>
                  <a:srgbClr val="00B050"/>
                </a:solidFill>
              </a:rPr>
              <a:t>: Cl</a:t>
            </a:r>
            <a:r>
              <a:rPr lang="en-GB" sz="2400" b="1" baseline="-25000" dirty="0">
                <a:solidFill>
                  <a:srgbClr val="00B050"/>
                </a:solidFill>
              </a:rPr>
              <a:t>2</a:t>
            </a:r>
            <a:r>
              <a:rPr lang="en-GB" sz="2400" b="1" dirty="0">
                <a:solidFill>
                  <a:srgbClr val="00B050"/>
                </a:solidFill>
                <a:sym typeface="Wingdings" panose="05000000000000000000" pitchFamily="2" charset="2"/>
              </a:rPr>
              <a:t> 	  = 35.5 x 2 = 71</a:t>
            </a:r>
            <a:endParaRPr lang="en-GB" sz="2400" b="1" dirty="0">
              <a:solidFill>
                <a:srgbClr val="00B050"/>
              </a:solidFill>
            </a:endParaRPr>
          </a:p>
          <a:p>
            <a:r>
              <a:rPr lang="en-GB" sz="2400" b="1" dirty="0">
                <a:solidFill>
                  <a:srgbClr val="00B050"/>
                </a:solidFill>
              </a:rPr>
              <a:t>M</a:t>
            </a:r>
            <a:r>
              <a:rPr lang="en-GB" sz="2400" b="1" baseline="-25000" dirty="0">
                <a:solidFill>
                  <a:srgbClr val="00B050"/>
                </a:solidFill>
              </a:rPr>
              <a:t>r</a:t>
            </a:r>
            <a:r>
              <a:rPr lang="en-GB" sz="2400" b="1" dirty="0">
                <a:solidFill>
                  <a:srgbClr val="00B050"/>
                </a:solidFill>
              </a:rPr>
              <a:t>: </a:t>
            </a:r>
            <a:r>
              <a:rPr lang="en-GB" sz="2400" b="1" dirty="0">
                <a:solidFill>
                  <a:srgbClr val="00B050"/>
                </a:solidFill>
                <a:sym typeface="Wingdings" panose="05000000000000000000" pitchFamily="2" charset="2"/>
              </a:rPr>
              <a:t>HCl  = </a:t>
            </a:r>
            <a:r>
              <a:rPr lang="en-GB" sz="2400" b="1" dirty="0" smtClean="0">
                <a:solidFill>
                  <a:srgbClr val="00B050"/>
                </a:solidFill>
                <a:sym typeface="Wingdings" panose="05000000000000000000" pitchFamily="2" charset="2"/>
              </a:rPr>
              <a:t>1 + 35.5 </a:t>
            </a:r>
            <a:r>
              <a:rPr lang="en-GB" sz="2400" b="1" dirty="0">
                <a:solidFill>
                  <a:srgbClr val="00B050"/>
                </a:solidFill>
                <a:sym typeface="Wingdings" panose="05000000000000000000" pitchFamily="2" charset="2"/>
              </a:rPr>
              <a:t>= 36.5</a:t>
            </a:r>
          </a:p>
          <a:p>
            <a:endParaRPr lang="en-GB" sz="2400" b="1" dirty="0">
              <a:solidFill>
                <a:srgbClr val="00B050"/>
              </a:solidFill>
              <a:sym typeface="Wingdings" panose="05000000000000000000" pitchFamily="2" charset="2"/>
            </a:endParaRPr>
          </a:p>
          <a:p>
            <a:r>
              <a:rPr lang="en-GB" sz="2400" b="1" dirty="0">
                <a:solidFill>
                  <a:srgbClr val="00B050"/>
                </a:solidFill>
                <a:sym typeface="Wingdings" panose="05000000000000000000" pitchFamily="2" charset="2"/>
              </a:rPr>
              <a:t>Then to convert masses to moles use:</a:t>
            </a:r>
          </a:p>
          <a:p>
            <a:r>
              <a:rPr lang="en-GB" sz="2400" b="1" dirty="0">
                <a:solidFill>
                  <a:srgbClr val="00B050"/>
                </a:solidFill>
                <a:sym typeface="Wingdings" panose="05000000000000000000" pitchFamily="2" charset="2"/>
              </a:rPr>
              <a:t>Moles of </a:t>
            </a:r>
            <a:r>
              <a:rPr lang="en-GB" sz="2400" b="1" dirty="0">
                <a:solidFill>
                  <a:srgbClr val="00B050"/>
                </a:solidFill>
              </a:rPr>
              <a:t>H</a:t>
            </a:r>
            <a:r>
              <a:rPr lang="en-GB" sz="2400" b="1" baseline="-25000" dirty="0">
                <a:solidFill>
                  <a:srgbClr val="00B050"/>
                </a:solidFill>
              </a:rPr>
              <a:t>2</a:t>
            </a:r>
            <a:r>
              <a:rPr lang="en-GB" sz="2400" b="1" dirty="0">
                <a:solidFill>
                  <a:srgbClr val="00B050"/>
                </a:solidFill>
                <a:sym typeface="Wingdings" panose="05000000000000000000" pitchFamily="2" charset="2"/>
              </a:rPr>
              <a:t>  = 0.10/2 = 0.05 </a:t>
            </a:r>
            <a:r>
              <a:rPr lang="en-GB" sz="2400" b="1" dirty="0" err="1">
                <a:solidFill>
                  <a:srgbClr val="00B050"/>
                </a:solidFill>
                <a:sym typeface="Wingdings" panose="05000000000000000000" pitchFamily="2" charset="2"/>
              </a:rPr>
              <a:t>mol</a:t>
            </a:r>
            <a:endParaRPr lang="en-GB" sz="2400" b="1" dirty="0">
              <a:solidFill>
                <a:srgbClr val="00B050"/>
              </a:solidFill>
              <a:sym typeface="Wingdings" panose="05000000000000000000" pitchFamily="2" charset="2"/>
            </a:endParaRPr>
          </a:p>
          <a:p>
            <a:r>
              <a:rPr lang="en-GB" sz="2400" b="1" dirty="0">
                <a:solidFill>
                  <a:srgbClr val="00B050"/>
                </a:solidFill>
                <a:sym typeface="Wingdings" panose="05000000000000000000" pitchFamily="2" charset="2"/>
              </a:rPr>
              <a:t>Moles of </a:t>
            </a:r>
            <a:r>
              <a:rPr lang="en-GB" sz="2400" b="1" dirty="0">
                <a:solidFill>
                  <a:srgbClr val="00B050"/>
                </a:solidFill>
              </a:rPr>
              <a:t>Cl</a:t>
            </a:r>
            <a:r>
              <a:rPr lang="en-GB" sz="2400" b="1" baseline="-25000" dirty="0">
                <a:solidFill>
                  <a:srgbClr val="00B050"/>
                </a:solidFill>
              </a:rPr>
              <a:t>2   </a:t>
            </a:r>
            <a:r>
              <a:rPr lang="en-GB" sz="2400" b="1" dirty="0">
                <a:solidFill>
                  <a:srgbClr val="00B050"/>
                </a:solidFill>
                <a:sym typeface="Wingdings" panose="05000000000000000000" pitchFamily="2" charset="2"/>
              </a:rPr>
              <a:t>= 3.55/71 = 0.05 </a:t>
            </a:r>
            <a:r>
              <a:rPr lang="en-GB" sz="2400" b="1" dirty="0" err="1">
                <a:solidFill>
                  <a:srgbClr val="00B050"/>
                </a:solidFill>
                <a:sym typeface="Wingdings" panose="05000000000000000000" pitchFamily="2" charset="2"/>
              </a:rPr>
              <a:t>mol</a:t>
            </a:r>
            <a:endParaRPr lang="en-GB" sz="2400" b="1" dirty="0">
              <a:solidFill>
                <a:srgbClr val="00B050"/>
              </a:solidFill>
              <a:sym typeface="Wingdings" panose="05000000000000000000" pitchFamily="2" charset="2"/>
            </a:endParaRPr>
          </a:p>
          <a:p>
            <a:r>
              <a:rPr lang="en-GB" sz="2400" b="1" dirty="0">
                <a:solidFill>
                  <a:srgbClr val="00B050"/>
                </a:solidFill>
                <a:sym typeface="Wingdings" panose="05000000000000000000" pitchFamily="2" charset="2"/>
              </a:rPr>
              <a:t>Moles of HCl = 3.65/36.5 = 0.1 </a:t>
            </a:r>
            <a:r>
              <a:rPr lang="en-GB" sz="2400" b="1" dirty="0" err="1">
                <a:solidFill>
                  <a:srgbClr val="00B050"/>
                </a:solidFill>
                <a:sym typeface="Wingdings" panose="05000000000000000000" pitchFamily="2" charset="2"/>
              </a:rPr>
              <a:t>mol</a:t>
            </a:r>
            <a:endParaRPr lang="en-GB" sz="2400" b="1" dirty="0">
              <a:solidFill>
                <a:srgbClr val="00B050"/>
              </a:solidFill>
              <a:sym typeface="Wingdings" panose="05000000000000000000" pitchFamily="2" charset="2"/>
            </a:endParaRPr>
          </a:p>
          <a:p>
            <a:r>
              <a:rPr lang="en-GB" sz="2400" b="1" dirty="0">
                <a:solidFill>
                  <a:srgbClr val="00B050"/>
                </a:solidFill>
              </a:rPr>
              <a:t>Dividing the ratio by the smallest number gives 1:1:2       </a:t>
            </a:r>
          </a:p>
          <a:p>
            <a:r>
              <a:rPr lang="en-GB" sz="2400" b="1" dirty="0">
                <a:solidFill>
                  <a:srgbClr val="00B050"/>
                </a:solidFill>
              </a:rPr>
              <a:t>H</a:t>
            </a:r>
            <a:r>
              <a:rPr lang="en-GB" sz="2400" b="1" baseline="-25000" dirty="0">
                <a:solidFill>
                  <a:srgbClr val="00B050"/>
                </a:solidFill>
              </a:rPr>
              <a:t>2</a:t>
            </a:r>
            <a:r>
              <a:rPr lang="en-GB" sz="2400" b="1" dirty="0">
                <a:solidFill>
                  <a:srgbClr val="00B050"/>
                </a:solidFill>
              </a:rPr>
              <a:t> + Cl</a:t>
            </a:r>
            <a:r>
              <a:rPr lang="en-GB" sz="2400" b="1" baseline="-25000" dirty="0">
                <a:solidFill>
                  <a:srgbClr val="00B050"/>
                </a:solidFill>
              </a:rPr>
              <a:t>2</a:t>
            </a:r>
            <a:r>
              <a:rPr lang="en-GB" sz="2400" b="1" dirty="0">
                <a:solidFill>
                  <a:srgbClr val="00B050"/>
                </a:solidFill>
              </a:rPr>
              <a:t> </a:t>
            </a:r>
            <a:r>
              <a:rPr lang="en-GB" sz="2400" b="1" dirty="0">
                <a:solidFill>
                  <a:srgbClr val="00B050"/>
                </a:solidFill>
                <a:sym typeface="Wingdings" panose="05000000000000000000" pitchFamily="2" charset="2"/>
              </a:rPr>
              <a:t> 2HCl</a:t>
            </a:r>
          </a:p>
          <a:p>
            <a:endParaRPr lang="en-GB" sz="2400" b="1" dirty="0">
              <a:sym typeface="Wingdings" panose="05000000000000000000" pitchFamily="2" charset="2"/>
            </a:endParaRPr>
          </a:p>
          <a:p>
            <a:endParaRPr lang="en-GB" sz="2400" b="1" dirty="0">
              <a:sym typeface="Wingdings" panose="05000000000000000000" pitchFamily="2" charset="2"/>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262215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(HT)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8510022"/>
          </a:xfrm>
          <a:prstGeom prst="rect">
            <a:avLst/>
          </a:prstGeom>
          <a:noFill/>
        </p:spPr>
        <p:txBody>
          <a:bodyPr wrap="square" rtlCol="0">
            <a:spAutoFit/>
          </a:bodyPr>
          <a:lstStyle/>
          <a:p>
            <a:pPr marL="457200" indent="-457200">
              <a:buFont typeface="+mj-lt"/>
              <a:buAutoNum type="arabicPeriod" startAt="13"/>
            </a:pPr>
            <a:r>
              <a:rPr lang="en-GB" sz="2400" dirty="0" smtClean="0"/>
              <a:t>If </a:t>
            </a:r>
            <a:r>
              <a:rPr lang="en-GB" sz="2400" dirty="0"/>
              <a:t>4.95 g of ethene (C</a:t>
            </a:r>
            <a:r>
              <a:rPr lang="en-GB" sz="2400" baseline="-25000" dirty="0"/>
              <a:t>2</a:t>
            </a:r>
            <a:r>
              <a:rPr lang="en-GB" sz="2400" dirty="0"/>
              <a:t>H</a:t>
            </a:r>
            <a:r>
              <a:rPr lang="en-GB" sz="2400" baseline="-25000" dirty="0"/>
              <a:t>4</a:t>
            </a:r>
            <a:r>
              <a:rPr lang="en-GB" sz="2400" dirty="0"/>
              <a:t>) are combusted with 3.25 g of </a:t>
            </a:r>
            <a:r>
              <a:rPr lang="en-GB" sz="2400" dirty="0" smtClean="0"/>
              <a:t>oxygen,     what </a:t>
            </a:r>
            <a:r>
              <a:rPr lang="en-GB" sz="2400" dirty="0"/>
              <a:t>is the limiting </a:t>
            </a:r>
            <a:r>
              <a:rPr lang="en-GB" sz="2400" dirty="0" smtClean="0"/>
              <a:t>reactant?</a:t>
            </a:r>
            <a:r>
              <a:rPr lang="en-GB" sz="2400" dirty="0"/>
              <a:t>  </a:t>
            </a:r>
          </a:p>
          <a:p>
            <a:endParaRPr lang="en-GB" sz="2400" dirty="0"/>
          </a:p>
          <a:p>
            <a:pPr algn="ctr"/>
            <a:r>
              <a:rPr lang="en-GB" sz="2400" dirty="0"/>
              <a:t>C</a:t>
            </a:r>
            <a:r>
              <a:rPr lang="en-GB" sz="2400" baseline="-25000" dirty="0"/>
              <a:t>2</a:t>
            </a:r>
            <a:r>
              <a:rPr lang="en-GB" sz="2400" dirty="0"/>
              <a:t>H</a:t>
            </a:r>
            <a:r>
              <a:rPr lang="en-GB" sz="2400" baseline="-25000" dirty="0"/>
              <a:t>4 </a:t>
            </a:r>
            <a:r>
              <a:rPr lang="en-GB" sz="2400" dirty="0"/>
              <a:t>+ 3O</a:t>
            </a:r>
            <a:r>
              <a:rPr lang="en-GB" sz="2400" baseline="-25000" dirty="0"/>
              <a:t>2</a:t>
            </a:r>
            <a:r>
              <a:rPr lang="en-GB" sz="2400" dirty="0">
                <a:sym typeface="Wingdings" panose="05000000000000000000" pitchFamily="2" charset="2"/>
              </a:rPr>
              <a:t>  2CO</a:t>
            </a:r>
            <a:r>
              <a:rPr lang="en-GB" sz="2400" baseline="-25000" dirty="0">
                <a:sym typeface="Wingdings" panose="05000000000000000000" pitchFamily="2" charset="2"/>
              </a:rPr>
              <a:t>2</a:t>
            </a:r>
            <a:r>
              <a:rPr lang="en-GB" sz="2400" dirty="0">
                <a:sym typeface="Wingdings" panose="05000000000000000000" pitchFamily="2" charset="2"/>
              </a:rPr>
              <a:t> +2H</a:t>
            </a:r>
            <a:r>
              <a:rPr lang="en-GB" sz="2400" baseline="-25000" dirty="0">
                <a:sym typeface="Wingdings" panose="05000000000000000000" pitchFamily="2" charset="2"/>
              </a:rPr>
              <a:t>2</a:t>
            </a:r>
            <a:r>
              <a:rPr lang="en-GB" sz="2400" dirty="0">
                <a:sym typeface="Wingdings" panose="05000000000000000000" pitchFamily="2" charset="2"/>
              </a:rPr>
              <a:t>O</a:t>
            </a:r>
            <a:endParaRPr lang="en-GB" sz="2400" dirty="0"/>
          </a:p>
          <a:p>
            <a:endParaRPr lang="en-GB" sz="2400" b="1" dirty="0">
              <a:solidFill>
                <a:srgbClr val="00B050"/>
              </a:solidFill>
            </a:endParaRPr>
          </a:p>
          <a:p>
            <a:r>
              <a:rPr lang="en-GB" sz="2400" b="1" dirty="0">
                <a:solidFill>
                  <a:srgbClr val="00B050"/>
                </a:solidFill>
              </a:rPr>
              <a:t>     M</a:t>
            </a:r>
            <a:r>
              <a:rPr lang="en-GB" sz="2400" b="1" baseline="-25000" dirty="0">
                <a:solidFill>
                  <a:srgbClr val="00B050"/>
                </a:solidFill>
              </a:rPr>
              <a:t>r</a:t>
            </a:r>
            <a:r>
              <a:rPr lang="en-GB" sz="2400" b="1" dirty="0">
                <a:solidFill>
                  <a:srgbClr val="00B050"/>
                </a:solidFill>
              </a:rPr>
              <a:t>: C</a:t>
            </a:r>
            <a:r>
              <a:rPr lang="en-GB" sz="2400" b="1" baseline="-25000" dirty="0">
                <a:solidFill>
                  <a:srgbClr val="00B050"/>
                </a:solidFill>
              </a:rPr>
              <a:t>2</a:t>
            </a:r>
            <a:r>
              <a:rPr lang="en-GB" sz="2400" b="1" dirty="0">
                <a:solidFill>
                  <a:srgbClr val="00B050"/>
                </a:solidFill>
              </a:rPr>
              <a:t>H</a:t>
            </a:r>
            <a:r>
              <a:rPr lang="en-GB" sz="2400" b="1" baseline="-25000" dirty="0">
                <a:solidFill>
                  <a:srgbClr val="00B050"/>
                </a:solidFill>
              </a:rPr>
              <a:t>4</a:t>
            </a:r>
            <a:r>
              <a:rPr lang="en-GB" sz="2400" b="1" dirty="0">
                <a:solidFill>
                  <a:srgbClr val="00B050"/>
                </a:solidFill>
                <a:sym typeface="Wingdings" panose="05000000000000000000" pitchFamily="2" charset="2"/>
              </a:rPr>
              <a:t> = 28</a:t>
            </a:r>
          </a:p>
          <a:p>
            <a:r>
              <a:rPr lang="en-GB" sz="2400" b="1" dirty="0">
                <a:solidFill>
                  <a:srgbClr val="00B050"/>
                </a:solidFill>
              </a:rPr>
              <a:t>     M</a:t>
            </a:r>
            <a:r>
              <a:rPr lang="en-GB" sz="2400" b="1" baseline="-25000" dirty="0">
                <a:solidFill>
                  <a:srgbClr val="00B050"/>
                </a:solidFill>
              </a:rPr>
              <a:t>r</a:t>
            </a:r>
            <a:r>
              <a:rPr lang="en-GB" sz="2400" b="1" dirty="0">
                <a:solidFill>
                  <a:srgbClr val="00B050"/>
                </a:solidFill>
              </a:rPr>
              <a:t>: O</a:t>
            </a:r>
            <a:r>
              <a:rPr lang="en-GB" sz="2400" b="1" baseline="-25000" dirty="0">
                <a:solidFill>
                  <a:srgbClr val="00B050"/>
                </a:solidFill>
              </a:rPr>
              <a:t>2</a:t>
            </a:r>
            <a:r>
              <a:rPr lang="en-GB" sz="2400" b="1" baseline="-25000" dirty="0">
                <a:solidFill>
                  <a:srgbClr val="00B050"/>
                </a:solidFill>
                <a:sym typeface="Wingdings" panose="05000000000000000000" pitchFamily="2" charset="2"/>
              </a:rPr>
              <a:t>       </a:t>
            </a:r>
            <a:r>
              <a:rPr lang="en-GB" sz="2400" b="1" dirty="0">
                <a:solidFill>
                  <a:srgbClr val="00B050"/>
                </a:solidFill>
                <a:sym typeface="Wingdings" panose="05000000000000000000" pitchFamily="2" charset="2"/>
              </a:rPr>
              <a:t>= 32</a:t>
            </a:r>
            <a:endParaRPr lang="en-GB" sz="2400" b="1" dirty="0">
              <a:solidFill>
                <a:srgbClr val="00B050"/>
              </a:solidFill>
            </a:endParaRPr>
          </a:p>
          <a:p>
            <a:endParaRPr lang="en-GB" sz="2400" b="1" dirty="0">
              <a:solidFill>
                <a:srgbClr val="00B050"/>
              </a:solidFill>
              <a:sym typeface="Wingdings" panose="05000000000000000000" pitchFamily="2" charset="2"/>
            </a:endParaRPr>
          </a:p>
          <a:p>
            <a:r>
              <a:rPr lang="en-GB" sz="2400" b="1" dirty="0">
                <a:solidFill>
                  <a:srgbClr val="00B050"/>
                </a:solidFill>
                <a:sym typeface="Wingdings" panose="05000000000000000000" pitchFamily="2" charset="2"/>
              </a:rPr>
              <a:t>     4.95/28 = 0.177 </a:t>
            </a:r>
            <a:r>
              <a:rPr lang="en-GB" sz="2400" b="1" dirty="0" err="1">
                <a:solidFill>
                  <a:srgbClr val="00B050"/>
                </a:solidFill>
                <a:sym typeface="Wingdings" panose="05000000000000000000" pitchFamily="2" charset="2"/>
              </a:rPr>
              <a:t>mol</a:t>
            </a:r>
            <a:endParaRPr lang="en-GB" sz="2400" b="1" dirty="0">
              <a:solidFill>
                <a:srgbClr val="00B050"/>
              </a:solidFill>
              <a:sym typeface="Wingdings" panose="05000000000000000000" pitchFamily="2" charset="2"/>
            </a:endParaRPr>
          </a:p>
          <a:p>
            <a:r>
              <a:rPr lang="en-GB" sz="2400" b="1" dirty="0">
                <a:solidFill>
                  <a:srgbClr val="00B050"/>
                </a:solidFill>
                <a:sym typeface="Wingdings" panose="05000000000000000000" pitchFamily="2" charset="2"/>
              </a:rPr>
              <a:t>     3.25/32 = 0.102 </a:t>
            </a:r>
            <a:r>
              <a:rPr lang="en-GB" sz="2400" b="1" dirty="0" err="1">
                <a:solidFill>
                  <a:srgbClr val="00B050"/>
                </a:solidFill>
                <a:sym typeface="Wingdings" panose="05000000000000000000" pitchFamily="2" charset="2"/>
              </a:rPr>
              <a:t>mol</a:t>
            </a:r>
            <a:endParaRPr lang="en-GB" sz="2400" b="1" dirty="0">
              <a:solidFill>
                <a:srgbClr val="00B050"/>
              </a:solidFill>
              <a:sym typeface="Wingdings" panose="05000000000000000000" pitchFamily="2" charset="2"/>
            </a:endParaRPr>
          </a:p>
          <a:p>
            <a:endParaRPr lang="en-GB" sz="2400" b="1" dirty="0">
              <a:solidFill>
                <a:srgbClr val="00B050"/>
              </a:solidFill>
              <a:sym typeface="Wingdings" panose="05000000000000000000" pitchFamily="2" charset="2"/>
            </a:endParaRPr>
          </a:p>
          <a:p>
            <a:r>
              <a:rPr lang="en-GB" sz="2400" b="1" dirty="0">
                <a:solidFill>
                  <a:srgbClr val="00B050"/>
                </a:solidFill>
                <a:sym typeface="Wingdings" panose="05000000000000000000" pitchFamily="2" charset="2"/>
              </a:rPr>
              <a:t>     From the </a:t>
            </a:r>
            <a:r>
              <a:rPr lang="en-GB" sz="2400" b="1" dirty="0" smtClean="0">
                <a:solidFill>
                  <a:srgbClr val="00B050"/>
                </a:solidFill>
                <a:sym typeface="Wingdings" panose="05000000000000000000" pitchFamily="2" charset="2"/>
              </a:rPr>
              <a:t>equation: </a:t>
            </a:r>
            <a:r>
              <a:rPr lang="en-GB" sz="2400" b="1" dirty="0">
                <a:solidFill>
                  <a:srgbClr val="00B050"/>
                </a:solidFill>
                <a:sym typeface="Wingdings" panose="05000000000000000000" pitchFamily="2" charset="2"/>
              </a:rPr>
              <a:t>1 mole of ethene reacts with 3 moles of </a:t>
            </a:r>
          </a:p>
          <a:p>
            <a:r>
              <a:rPr lang="en-GB" sz="2400" b="1" dirty="0">
                <a:solidFill>
                  <a:srgbClr val="00B050"/>
                </a:solidFill>
                <a:sym typeface="Wingdings" panose="05000000000000000000" pitchFamily="2" charset="2"/>
              </a:rPr>
              <a:t>     oxygen.  In this case 0.177 </a:t>
            </a:r>
            <a:r>
              <a:rPr lang="en-GB" sz="2400" b="1" dirty="0" err="1">
                <a:solidFill>
                  <a:srgbClr val="00B050"/>
                </a:solidFill>
                <a:sym typeface="Wingdings" panose="05000000000000000000" pitchFamily="2" charset="2"/>
              </a:rPr>
              <a:t>mol</a:t>
            </a:r>
            <a:r>
              <a:rPr lang="en-GB" sz="2400" b="1" dirty="0">
                <a:solidFill>
                  <a:srgbClr val="00B050"/>
                </a:solidFill>
                <a:sym typeface="Wingdings" panose="05000000000000000000" pitchFamily="2" charset="2"/>
              </a:rPr>
              <a:t> of ethene will need 0.53 </a:t>
            </a:r>
            <a:r>
              <a:rPr lang="en-GB" sz="2400" b="1" dirty="0" err="1">
                <a:solidFill>
                  <a:srgbClr val="00B050"/>
                </a:solidFill>
                <a:sym typeface="Wingdings" panose="05000000000000000000" pitchFamily="2" charset="2"/>
              </a:rPr>
              <a:t>mol</a:t>
            </a:r>
            <a:r>
              <a:rPr lang="en-GB" sz="2400" b="1" dirty="0">
                <a:solidFill>
                  <a:srgbClr val="00B050"/>
                </a:solidFill>
                <a:sym typeface="Wingdings" panose="05000000000000000000" pitchFamily="2" charset="2"/>
              </a:rPr>
              <a:t> of </a:t>
            </a:r>
          </a:p>
          <a:p>
            <a:r>
              <a:rPr lang="en-GB" sz="2400" b="1" dirty="0">
                <a:solidFill>
                  <a:srgbClr val="00B050"/>
                </a:solidFill>
                <a:sym typeface="Wingdings" panose="05000000000000000000" pitchFamily="2" charset="2"/>
              </a:rPr>
              <a:t>     oxygen to react, which we do not have, so oxygen is the limiting </a:t>
            </a:r>
          </a:p>
          <a:p>
            <a:r>
              <a:rPr lang="en-GB" sz="2400" b="1" dirty="0">
                <a:solidFill>
                  <a:srgbClr val="00B050"/>
                </a:solidFill>
                <a:sym typeface="Wingdings" panose="05000000000000000000" pitchFamily="2" charset="2"/>
              </a:rPr>
              <a:t>     factor.</a:t>
            </a:r>
          </a:p>
          <a:p>
            <a:endParaRPr lang="en-GB" sz="2400" b="1" dirty="0">
              <a:solidFill>
                <a:srgbClr val="00B050"/>
              </a:solidFill>
              <a:sym typeface="Wingdings" panose="05000000000000000000" pitchFamily="2" charset="2"/>
            </a:endParaRPr>
          </a:p>
          <a:p>
            <a:endParaRPr lang="en-GB" sz="2400" b="1" dirty="0">
              <a:solidFill>
                <a:srgbClr val="00B050"/>
              </a:solidFill>
              <a:sym typeface="Wingdings" panose="05000000000000000000" pitchFamily="2" charset="2"/>
            </a:endParaRPr>
          </a:p>
          <a:p>
            <a:endParaRPr lang="en-GB" sz="2400" b="1" dirty="0">
              <a:solidFill>
                <a:srgbClr val="00B050"/>
              </a:solidFill>
              <a:sym typeface="Wingdings" panose="05000000000000000000" pitchFamily="2" charset="2"/>
            </a:endParaRPr>
          </a:p>
          <a:p>
            <a:endParaRPr lang="en-GB" sz="2400" b="1" dirty="0">
              <a:sym typeface="Wingdings" panose="05000000000000000000" pitchFamily="2" charset="2"/>
            </a:endParaRPr>
          </a:p>
          <a:p>
            <a:endParaRPr lang="en-GB" sz="2400" b="1" dirty="0">
              <a:sym typeface="Wingdings" panose="05000000000000000000" pitchFamily="2" charset="2"/>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605862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047536"/>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smtClean="0">
                <a:solidFill>
                  <a:schemeClr val="tx1">
                    <a:lumMod val="50000"/>
                    <a:lumOff val="50000"/>
                  </a:schemeClr>
                </a:solidFill>
              </a:rPr>
              <a:t>Use of amount of substance</a:t>
            </a:r>
            <a:endParaRPr lang="en-GB" sz="3600" b="1" dirty="0">
              <a:solidFill>
                <a:schemeClr val="tx1">
                  <a:lumMod val="50000"/>
                  <a:lumOff val="50000"/>
                </a:schemeClr>
              </a:solidFill>
            </a:endParaRPr>
          </a:p>
          <a:p>
            <a:r>
              <a:rPr lang="en-GB" sz="3600" b="1" dirty="0">
                <a:solidFill>
                  <a:schemeClr val="tx1">
                    <a:lumMod val="50000"/>
                    <a:lumOff val="50000"/>
                  </a:schemeClr>
                </a:solidFill>
              </a:rPr>
              <a:t>PART 2 </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Concentration of </a:t>
            </a:r>
            <a:r>
              <a:rPr lang="en-US" sz="2400" b="1" dirty="0" smtClean="0">
                <a:solidFill>
                  <a:schemeClr val="bg1">
                    <a:lumMod val="50000"/>
                  </a:schemeClr>
                </a:solidFill>
              </a:rPr>
              <a:t>solutions </a:t>
            </a:r>
            <a:endParaRPr lang="en-GB" dirty="0"/>
          </a:p>
        </p:txBody>
      </p:sp>
    </p:spTree>
    <p:extLst>
      <p:ext uri="{BB962C8B-B14F-4D97-AF65-F5344CB8AC3E}">
        <p14:creationId xmlns:p14="http://schemas.microsoft.com/office/powerpoint/2010/main" val="24349835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Calculations - PART 2</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3275856" y="692696"/>
            <a:ext cx="5688632" cy="283154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dirty="0"/>
              <a:t>Chemists quote the amount of substance (solute) dissolved in a certain volume of the solution.  The units used to express the concentration can be grams per decimetre cubed </a:t>
            </a:r>
            <a:r>
              <a:rPr lang="en-GB" sz="2000" b="1" dirty="0"/>
              <a:t>(g/dm</a:t>
            </a:r>
            <a:r>
              <a:rPr lang="en-GB" sz="2000" b="1" baseline="30000" dirty="0"/>
              <a:t>3</a:t>
            </a:r>
            <a:r>
              <a:rPr lang="en-GB" sz="2000" b="1" dirty="0"/>
              <a:t>)</a:t>
            </a:r>
            <a:r>
              <a:rPr lang="en-GB" sz="2000" dirty="0"/>
              <a:t>.  </a:t>
            </a:r>
            <a:r>
              <a:rPr lang="en-GB" sz="2000" b="1" dirty="0"/>
              <a:t>A decimetre (1dm</a:t>
            </a:r>
            <a:r>
              <a:rPr lang="en-GB" sz="2000" b="1" baseline="30000" dirty="0"/>
              <a:t> 3</a:t>
            </a:r>
            <a:r>
              <a:rPr lang="en-GB" sz="2000" b="1" dirty="0"/>
              <a:t>) cubed is equal to 1000cm</a:t>
            </a:r>
            <a:r>
              <a:rPr lang="en-GB" sz="2000" b="1" baseline="30000" dirty="0"/>
              <a:t>3</a:t>
            </a:r>
            <a:r>
              <a:rPr lang="en-GB" sz="2000" b="1" dirty="0"/>
              <a:t>.</a:t>
            </a:r>
          </a:p>
          <a:p>
            <a:pPr algn="ctr"/>
            <a:endParaRPr lang="en-GB" dirty="0"/>
          </a:p>
          <a:p>
            <a:pPr algn="ctr"/>
            <a:r>
              <a:rPr lang="en-GB" sz="2000" b="1" dirty="0">
                <a:solidFill>
                  <a:schemeClr val="accent6">
                    <a:lumMod val="75000"/>
                  </a:schemeClr>
                </a:solidFill>
              </a:rPr>
              <a:t>The blackcurrant juice is getting more </a:t>
            </a:r>
            <a:r>
              <a:rPr lang="en-GB" sz="2000" b="1" dirty="0" smtClean="0">
                <a:solidFill>
                  <a:schemeClr val="accent6">
                    <a:lumMod val="75000"/>
                  </a:schemeClr>
                </a:solidFill>
              </a:rPr>
              <a:t>concentrated </a:t>
            </a:r>
            <a:r>
              <a:rPr lang="en-GB" sz="2000" b="1" dirty="0">
                <a:solidFill>
                  <a:schemeClr val="accent6">
                    <a:lumMod val="75000"/>
                  </a:schemeClr>
                </a:solidFill>
              </a:rPr>
              <a:t>– the darker colour indicates more squash is in the same volume of its solution</a:t>
            </a:r>
          </a:p>
        </p:txBody>
      </p:sp>
      <p:pic>
        <p:nvPicPr>
          <p:cNvPr id="6" name="Picture 5">
            <a:extLst>
              <a:ext uri="{FF2B5EF4-FFF2-40B4-BE49-F238E27FC236}">
                <a16:creationId xmlns:a16="http://schemas.microsoft.com/office/drawing/2014/main" xmlns="" id="{59B8E1B0-B341-4BC0-B649-A7D7796FA71C}"/>
              </a:ext>
            </a:extLst>
          </p:cNvPr>
          <p:cNvPicPr>
            <a:picLocks noChangeAspect="1"/>
          </p:cNvPicPr>
          <p:nvPr/>
        </p:nvPicPr>
        <p:blipFill>
          <a:blip r:embed="rId3"/>
          <a:stretch>
            <a:fillRect/>
          </a:stretch>
        </p:blipFill>
        <p:spPr>
          <a:xfrm>
            <a:off x="147700" y="721296"/>
            <a:ext cx="2880320" cy="2073830"/>
          </a:xfrm>
          <a:prstGeom prst="rect">
            <a:avLst/>
          </a:prstGeom>
        </p:spPr>
      </p:pic>
      <p:cxnSp>
        <p:nvCxnSpPr>
          <p:cNvPr id="8" name="Straight Arrow Connector 7">
            <a:extLst>
              <a:ext uri="{FF2B5EF4-FFF2-40B4-BE49-F238E27FC236}">
                <a16:creationId xmlns:a16="http://schemas.microsoft.com/office/drawing/2014/main" xmlns="" id="{BAA0E9F7-1BF6-4921-A584-0D420C65AE9C}"/>
              </a:ext>
            </a:extLst>
          </p:cNvPr>
          <p:cNvCxnSpPr/>
          <p:nvPr/>
        </p:nvCxnSpPr>
        <p:spPr>
          <a:xfrm flipV="1">
            <a:off x="611560" y="2430574"/>
            <a:ext cx="2376264" cy="720080"/>
          </a:xfrm>
          <a:prstGeom prst="straightConnector1">
            <a:avLst/>
          </a:prstGeom>
          <a:ln w="76200">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xmlns="" id="{992B8055-183C-4C17-A133-25E31136688B}"/>
              </a:ext>
            </a:extLst>
          </p:cNvPr>
          <p:cNvSpPr txBox="1"/>
          <p:nvPr/>
        </p:nvSpPr>
        <p:spPr>
          <a:xfrm>
            <a:off x="147700" y="3758512"/>
            <a:ext cx="4240088" cy="2431435"/>
          </a:xfrm>
          <a:prstGeom prst="rect">
            <a:avLst/>
          </a:prstGeom>
          <a:noFill/>
          <a:ln>
            <a:solidFill>
              <a:schemeClr val="bg1"/>
            </a:solidFill>
          </a:ln>
        </p:spPr>
        <p:txBody>
          <a:bodyPr wrap="square" rtlCol="0">
            <a:spAutoFit/>
          </a:bodyPr>
          <a:lstStyle/>
          <a:p>
            <a:pPr algn="ctr"/>
            <a:r>
              <a:rPr lang="en-GB" dirty="0"/>
              <a:t>If you know the mass of the solute dissolved in a certain volume of solution, you can work out the concentration using:</a:t>
            </a:r>
          </a:p>
          <a:p>
            <a:pPr algn="ctr"/>
            <a:endParaRPr lang="en-GB" sz="800" dirty="0"/>
          </a:p>
          <a:p>
            <a:r>
              <a:rPr lang="en-GB" b="1" dirty="0"/>
              <a:t>Concentration =     amount of solute (g)          </a:t>
            </a:r>
          </a:p>
          <a:p>
            <a:r>
              <a:rPr lang="en-GB" b="1" dirty="0"/>
              <a:t>      (g/dm</a:t>
            </a:r>
            <a:r>
              <a:rPr lang="en-GB" b="1" baseline="30000" dirty="0"/>
              <a:t>3 </a:t>
            </a:r>
            <a:r>
              <a:rPr lang="en-GB" b="1" dirty="0"/>
              <a:t>)        Volume of solution (dm</a:t>
            </a:r>
            <a:r>
              <a:rPr lang="en-GB" b="1" baseline="30000" dirty="0"/>
              <a:t>3</a:t>
            </a:r>
            <a:r>
              <a:rPr lang="en-GB" b="1" dirty="0"/>
              <a:t>)</a:t>
            </a:r>
          </a:p>
          <a:p>
            <a:endParaRPr lang="en-GB" b="1" dirty="0"/>
          </a:p>
          <a:p>
            <a:pPr algn="ctr"/>
            <a:r>
              <a:rPr lang="en-GB" b="1" dirty="0">
                <a:solidFill>
                  <a:schemeClr val="accent6">
                    <a:lumMod val="75000"/>
                  </a:schemeClr>
                </a:solidFill>
              </a:rPr>
              <a:t>Remember if you are using cm</a:t>
            </a:r>
            <a:r>
              <a:rPr lang="en-GB" b="1" baseline="30000" dirty="0">
                <a:solidFill>
                  <a:schemeClr val="accent6">
                    <a:lumMod val="75000"/>
                  </a:schemeClr>
                </a:solidFill>
              </a:rPr>
              <a:t>3</a:t>
            </a:r>
            <a:r>
              <a:rPr lang="en-GB" b="1" dirty="0">
                <a:solidFill>
                  <a:schemeClr val="accent6">
                    <a:lumMod val="75000"/>
                  </a:schemeClr>
                </a:solidFill>
              </a:rPr>
              <a:t> to multiply the volume by 1000 to covert to dm</a:t>
            </a:r>
            <a:r>
              <a:rPr lang="en-GB" b="1" baseline="30000" dirty="0">
                <a:solidFill>
                  <a:schemeClr val="accent6">
                    <a:lumMod val="75000"/>
                  </a:schemeClr>
                </a:solidFill>
              </a:rPr>
              <a:t>3</a:t>
            </a:r>
            <a:endParaRPr lang="en-GB" b="1" dirty="0">
              <a:solidFill>
                <a:schemeClr val="accent6">
                  <a:lumMod val="75000"/>
                </a:schemeClr>
              </a:solidFill>
            </a:endParaRPr>
          </a:p>
        </p:txBody>
      </p:sp>
      <p:cxnSp>
        <p:nvCxnSpPr>
          <p:cNvPr id="11" name="Straight Connector 10">
            <a:extLst>
              <a:ext uri="{FF2B5EF4-FFF2-40B4-BE49-F238E27FC236}">
                <a16:creationId xmlns:a16="http://schemas.microsoft.com/office/drawing/2014/main" xmlns="" id="{B94E27F1-F568-4864-95F5-E36E50756C7C}"/>
              </a:ext>
            </a:extLst>
          </p:cNvPr>
          <p:cNvCxnSpPr/>
          <p:nvPr/>
        </p:nvCxnSpPr>
        <p:spPr>
          <a:xfrm>
            <a:off x="1814355" y="4974229"/>
            <a:ext cx="2376264"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xmlns="" id="{6A06E9BF-3AD7-4CBD-B1B1-5F5D92C19D57}"/>
              </a:ext>
            </a:extLst>
          </p:cNvPr>
          <p:cNvSpPr txBox="1"/>
          <p:nvPr/>
        </p:nvSpPr>
        <p:spPr>
          <a:xfrm>
            <a:off x="4527503" y="4147239"/>
            <a:ext cx="4436985" cy="2246769"/>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sz="2000" dirty="0"/>
              <a:t>50g of sodium hydroxide is dissolved in water to make up 200cm</a:t>
            </a:r>
            <a:r>
              <a:rPr lang="en-GB" sz="2000" baseline="30000" dirty="0"/>
              <a:t>3 </a:t>
            </a:r>
            <a:r>
              <a:rPr lang="en-GB" sz="2000" dirty="0"/>
              <a:t>. </a:t>
            </a:r>
          </a:p>
          <a:p>
            <a:pPr algn="ctr"/>
            <a:endParaRPr lang="en-GB" sz="2000" dirty="0"/>
          </a:p>
          <a:p>
            <a:pPr algn="ctr"/>
            <a:r>
              <a:rPr lang="en-GB" sz="2000" i="1" dirty="0"/>
              <a:t>What is the concentration in dm</a:t>
            </a:r>
            <a:r>
              <a:rPr lang="en-GB" sz="2000" i="1" baseline="30000" dirty="0"/>
              <a:t>3</a:t>
            </a:r>
            <a:r>
              <a:rPr lang="en-GB" sz="2000" i="1" dirty="0"/>
              <a:t>?</a:t>
            </a:r>
          </a:p>
          <a:p>
            <a:endParaRPr lang="en-GB" sz="2000" b="1" dirty="0"/>
          </a:p>
          <a:p>
            <a:r>
              <a:rPr lang="en-GB" sz="2000" b="1" dirty="0">
                <a:solidFill>
                  <a:schemeClr val="accent6">
                    <a:lumMod val="75000"/>
                  </a:schemeClr>
                </a:solidFill>
              </a:rPr>
              <a:t>50g/200cm</a:t>
            </a:r>
            <a:r>
              <a:rPr lang="en-GB" sz="2000" b="1" baseline="30000" dirty="0">
                <a:solidFill>
                  <a:schemeClr val="accent6">
                    <a:lumMod val="75000"/>
                  </a:schemeClr>
                </a:solidFill>
              </a:rPr>
              <a:t>3</a:t>
            </a:r>
            <a:r>
              <a:rPr lang="en-GB" sz="2000" b="1" dirty="0">
                <a:solidFill>
                  <a:schemeClr val="accent6">
                    <a:lumMod val="75000"/>
                  </a:schemeClr>
                </a:solidFill>
              </a:rPr>
              <a:t>= 0.25g/cm</a:t>
            </a:r>
            <a:r>
              <a:rPr lang="en-GB" sz="2000" b="1" baseline="30000" dirty="0">
                <a:solidFill>
                  <a:schemeClr val="accent6">
                    <a:lumMod val="75000"/>
                  </a:schemeClr>
                </a:solidFill>
              </a:rPr>
              <a:t>3</a:t>
            </a:r>
          </a:p>
          <a:p>
            <a:r>
              <a:rPr lang="en-GB" sz="2000" b="1" dirty="0">
                <a:solidFill>
                  <a:schemeClr val="accent6">
                    <a:lumMod val="75000"/>
                  </a:schemeClr>
                </a:solidFill>
              </a:rPr>
              <a:t>0.25g/cm</a:t>
            </a:r>
            <a:r>
              <a:rPr lang="en-GB" sz="2000" b="1" baseline="30000" dirty="0">
                <a:solidFill>
                  <a:schemeClr val="accent6">
                    <a:lumMod val="75000"/>
                  </a:schemeClr>
                </a:solidFill>
              </a:rPr>
              <a:t>3</a:t>
            </a:r>
            <a:r>
              <a:rPr lang="en-GB" sz="2000" b="1" dirty="0">
                <a:solidFill>
                  <a:schemeClr val="accent6">
                    <a:lumMod val="75000"/>
                  </a:schemeClr>
                </a:solidFill>
              </a:rPr>
              <a:t> x 1000 = 250g/dm</a:t>
            </a:r>
            <a:r>
              <a:rPr lang="en-GB" sz="2000" b="1" baseline="30000" dirty="0">
                <a:solidFill>
                  <a:schemeClr val="accent6">
                    <a:lumMod val="75000"/>
                  </a:schemeClr>
                </a:solidFill>
              </a:rPr>
              <a:t>3</a:t>
            </a:r>
            <a:endParaRPr lang="en-GB" sz="2000" b="1" dirty="0">
              <a:solidFill>
                <a:schemeClr val="accent6">
                  <a:lumMod val="75000"/>
                </a:schemeClr>
              </a:solidFill>
            </a:endParaRPr>
          </a:p>
        </p:txBody>
      </p:sp>
      <p:sp>
        <p:nvSpPr>
          <p:cNvPr id="13" name="TextBox 12">
            <a:extLst>
              <a:ext uri="{FF2B5EF4-FFF2-40B4-BE49-F238E27FC236}">
                <a16:creationId xmlns:a16="http://schemas.microsoft.com/office/drawing/2014/main" xmlns="" id="{711FF2EB-448C-4985-9C05-BAF8595C3C33}"/>
              </a:ext>
            </a:extLst>
          </p:cNvPr>
          <p:cNvSpPr txBox="1"/>
          <p:nvPr/>
        </p:nvSpPr>
        <p:spPr>
          <a:xfrm>
            <a:off x="4547937" y="3704071"/>
            <a:ext cx="1316579" cy="400110"/>
          </a:xfrm>
          <a:prstGeom prst="rect">
            <a:avLst/>
          </a:prstGeom>
          <a:noFill/>
        </p:spPr>
        <p:txBody>
          <a:bodyPr wrap="none" rtlCol="0">
            <a:spAutoFit/>
          </a:bodyPr>
          <a:lstStyle/>
          <a:p>
            <a:r>
              <a:rPr lang="en-GB" sz="2000" dirty="0"/>
              <a:t>Example 1</a:t>
            </a:r>
            <a:r>
              <a:rPr lang="en-GB" dirty="0"/>
              <a:t>:</a:t>
            </a:r>
          </a:p>
        </p:txBody>
      </p:sp>
    </p:spTree>
    <p:extLst>
      <p:ext uri="{BB962C8B-B14F-4D97-AF65-F5344CB8AC3E}">
        <p14:creationId xmlns:p14="http://schemas.microsoft.com/office/powerpoint/2010/main" val="41602684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Calculations - PART 2</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TextBox 8">
            <a:extLst>
              <a:ext uri="{FF2B5EF4-FFF2-40B4-BE49-F238E27FC236}">
                <a16:creationId xmlns:a16="http://schemas.microsoft.com/office/drawing/2014/main" xmlns="" id="{992B8055-183C-4C17-A133-25E31136688B}"/>
              </a:ext>
            </a:extLst>
          </p:cNvPr>
          <p:cNvSpPr txBox="1"/>
          <p:nvPr/>
        </p:nvSpPr>
        <p:spPr>
          <a:xfrm>
            <a:off x="5764142" y="1356431"/>
            <a:ext cx="3168352" cy="5016758"/>
          </a:xfrm>
          <a:prstGeom prst="rect">
            <a:avLst/>
          </a:prstGeom>
          <a:ln/>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en-GB" sz="2000" b="1" dirty="0"/>
              <a:t>HIGHER:</a:t>
            </a:r>
            <a:endParaRPr lang="en-GB" sz="2000" dirty="0"/>
          </a:p>
          <a:p>
            <a:pPr algn="ctr"/>
            <a:endParaRPr lang="en-GB" sz="2000" b="1" dirty="0">
              <a:solidFill>
                <a:schemeClr val="accent6">
                  <a:lumMod val="75000"/>
                </a:schemeClr>
              </a:solidFill>
            </a:endParaRPr>
          </a:p>
          <a:p>
            <a:pPr algn="ctr"/>
            <a:r>
              <a:rPr lang="en-GB" sz="2000" dirty="0"/>
              <a:t>You can increase the concentration of an aqueous solution by:</a:t>
            </a:r>
          </a:p>
          <a:p>
            <a:pPr algn="ctr"/>
            <a:endParaRPr lang="en-GB" sz="2000" dirty="0"/>
          </a:p>
          <a:p>
            <a:pPr marL="285750" indent="-285750" algn="ctr">
              <a:buFont typeface="Arial" panose="020B0604020202020204" pitchFamily="34" charset="0"/>
              <a:buChar char="•"/>
            </a:pPr>
            <a:r>
              <a:rPr lang="en-GB" sz="2000" dirty="0"/>
              <a:t>Adding more solute and dissolving it in the same volume of its solution.</a:t>
            </a:r>
          </a:p>
          <a:p>
            <a:pPr marL="285750" indent="-285750" algn="ctr">
              <a:buFont typeface="Arial" panose="020B0604020202020204" pitchFamily="34" charset="0"/>
              <a:buChar char="•"/>
            </a:pPr>
            <a:endParaRPr lang="en-GB" sz="2000" dirty="0"/>
          </a:p>
          <a:p>
            <a:pPr marL="285750" indent="-285750" algn="ctr">
              <a:buFont typeface="Arial" panose="020B0604020202020204" pitchFamily="34" charset="0"/>
              <a:buChar char="•"/>
            </a:pPr>
            <a:r>
              <a:rPr lang="en-GB" sz="2000" dirty="0"/>
              <a:t>Evaporating off some of the water from the solution so you have the same mass of solute in a smaller volume of solution.</a:t>
            </a:r>
          </a:p>
        </p:txBody>
      </p:sp>
      <p:sp>
        <p:nvSpPr>
          <p:cNvPr id="12" name="TextBox 11">
            <a:extLst>
              <a:ext uri="{FF2B5EF4-FFF2-40B4-BE49-F238E27FC236}">
                <a16:creationId xmlns:a16="http://schemas.microsoft.com/office/drawing/2014/main" xmlns="" id="{6A06E9BF-3AD7-4CBD-B1B1-5F5D92C19D57}"/>
              </a:ext>
            </a:extLst>
          </p:cNvPr>
          <p:cNvSpPr txBox="1"/>
          <p:nvPr/>
        </p:nvSpPr>
        <p:spPr>
          <a:xfrm>
            <a:off x="211506" y="1397468"/>
            <a:ext cx="5440614" cy="4934684"/>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sz="2000" dirty="0"/>
              <a:t>A solution of sodium chloride has a concentration of 200g/dm</a:t>
            </a:r>
            <a:r>
              <a:rPr lang="en-GB" sz="2000" baseline="30000" dirty="0"/>
              <a:t>3</a:t>
            </a:r>
            <a:r>
              <a:rPr lang="en-GB" sz="2000" dirty="0"/>
              <a:t>.</a:t>
            </a:r>
          </a:p>
          <a:p>
            <a:pPr algn="ctr"/>
            <a:endParaRPr lang="en-GB" sz="2000" dirty="0"/>
          </a:p>
          <a:p>
            <a:pPr algn="ctr"/>
            <a:r>
              <a:rPr lang="en-GB" sz="2000" i="1" dirty="0"/>
              <a:t>What is the mass of sodium chloride in 700cm</a:t>
            </a:r>
            <a:r>
              <a:rPr lang="en-GB" sz="2000" i="1" baseline="30000" dirty="0"/>
              <a:t>3</a:t>
            </a:r>
            <a:r>
              <a:rPr lang="en-GB" sz="2000" i="1" dirty="0"/>
              <a:t> of solution?</a:t>
            </a:r>
          </a:p>
          <a:p>
            <a:endParaRPr lang="en-GB" sz="2000" b="1" dirty="0"/>
          </a:p>
          <a:p>
            <a:r>
              <a:rPr lang="en-GB" sz="2000" dirty="0"/>
              <a:t>Convert 700cm</a:t>
            </a:r>
            <a:r>
              <a:rPr lang="en-GB" sz="2000" baseline="30000" dirty="0"/>
              <a:t>3 </a:t>
            </a:r>
            <a:r>
              <a:rPr lang="en-GB" sz="2000" dirty="0"/>
              <a:t>into dm</a:t>
            </a:r>
            <a:r>
              <a:rPr lang="en-GB" sz="2000" baseline="30000" dirty="0"/>
              <a:t>3</a:t>
            </a:r>
          </a:p>
          <a:p>
            <a:r>
              <a:rPr lang="en-GB" sz="2000" b="1" dirty="0">
                <a:solidFill>
                  <a:schemeClr val="accent6">
                    <a:lumMod val="75000"/>
                  </a:schemeClr>
                </a:solidFill>
              </a:rPr>
              <a:t>700/1000 = 0.7 dm</a:t>
            </a:r>
            <a:r>
              <a:rPr lang="en-GB" sz="2000" b="1" baseline="30000" dirty="0">
                <a:solidFill>
                  <a:schemeClr val="accent6">
                    <a:lumMod val="75000"/>
                  </a:schemeClr>
                </a:solidFill>
              </a:rPr>
              <a:t>3</a:t>
            </a:r>
          </a:p>
          <a:p>
            <a:endParaRPr lang="en-GB" sz="2000" b="1" baseline="30000" dirty="0">
              <a:solidFill>
                <a:schemeClr val="accent6">
                  <a:lumMod val="75000"/>
                </a:schemeClr>
              </a:solidFill>
            </a:endParaRPr>
          </a:p>
          <a:p>
            <a:r>
              <a:rPr lang="en-GB" sz="2000" dirty="0"/>
              <a:t>Then rearrange the equation</a:t>
            </a:r>
          </a:p>
          <a:p>
            <a:r>
              <a:rPr lang="en-GB" sz="2000" b="1" dirty="0"/>
              <a:t>amount of solute = concentration x volume of solution</a:t>
            </a:r>
          </a:p>
          <a:p>
            <a:r>
              <a:rPr lang="en-GB" sz="2000" b="1" dirty="0"/>
              <a:t>             (g)                        (g/dm</a:t>
            </a:r>
            <a:r>
              <a:rPr lang="en-GB" sz="2000" b="1" baseline="30000" dirty="0"/>
              <a:t>3</a:t>
            </a:r>
            <a:r>
              <a:rPr lang="en-GB" sz="2000" b="1" dirty="0"/>
              <a:t>)                     (dm</a:t>
            </a:r>
            <a:r>
              <a:rPr lang="en-GB" sz="2000" b="1" baseline="30000" dirty="0"/>
              <a:t>3</a:t>
            </a:r>
            <a:r>
              <a:rPr lang="en-GB" sz="2000" b="1" dirty="0"/>
              <a:t>)</a:t>
            </a:r>
            <a:endParaRPr lang="en-GB" sz="2000" b="1" baseline="30000" dirty="0"/>
          </a:p>
          <a:p>
            <a:endParaRPr lang="en-GB" sz="2000" b="1" baseline="30000" dirty="0">
              <a:solidFill>
                <a:schemeClr val="accent6">
                  <a:lumMod val="75000"/>
                </a:schemeClr>
              </a:solidFill>
            </a:endParaRPr>
          </a:p>
          <a:p>
            <a:endParaRPr lang="en-GB" sz="2000" b="1" dirty="0"/>
          </a:p>
          <a:p>
            <a:r>
              <a:rPr lang="en-GB" sz="2000" b="1" dirty="0">
                <a:solidFill>
                  <a:schemeClr val="accent6">
                    <a:lumMod val="75000"/>
                  </a:schemeClr>
                </a:solidFill>
              </a:rPr>
              <a:t>200g/dm</a:t>
            </a:r>
            <a:r>
              <a:rPr lang="en-GB" sz="2000" b="1" baseline="30000" dirty="0">
                <a:solidFill>
                  <a:schemeClr val="accent6">
                    <a:lumMod val="75000"/>
                  </a:schemeClr>
                </a:solidFill>
              </a:rPr>
              <a:t>3</a:t>
            </a:r>
            <a:r>
              <a:rPr lang="en-GB" sz="2000" b="1" dirty="0">
                <a:solidFill>
                  <a:schemeClr val="accent6">
                    <a:lumMod val="75000"/>
                  </a:schemeClr>
                </a:solidFill>
              </a:rPr>
              <a:t> x 0.7 dm</a:t>
            </a:r>
            <a:r>
              <a:rPr lang="en-GB" sz="2000" b="1" baseline="30000" dirty="0">
                <a:solidFill>
                  <a:schemeClr val="accent6">
                    <a:lumMod val="75000"/>
                  </a:schemeClr>
                </a:solidFill>
              </a:rPr>
              <a:t>3</a:t>
            </a:r>
            <a:r>
              <a:rPr lang="en-GB" sz="2000" b="1" dirty="0">
                <a:solidFill>
                  <a:schemeClr val="accent6">
                    <a:lumMod val="75000"/>
                  </a:schemeClr>
                </a:solidFill>
              </a:rPr>
              <a:t> = 140g </a:t>
            </a:r>
          </a:p>
          <a:p>
            <a:endParaRPr lang="en-GB" sz="800" b="1" dirty="0">
              <a:solidFill>
                <a:schemeClr val="accent6">
                  <a:lumMod val="75000"/>
                </a:schemeClr>
              </a:solidFill>
            </a:endParaRPr>
          </a:p>
        </p:txBody>
      </p:sp>
      <p:sp>
        <p:nvSpPr>
          <p:cNvPr id="13" name="TextBox 12">
            <a:extLst>
              <a:ext uri="{FF2B5EF4-FFF2-40B4-BE49-F238E27FC236}">
                <a16:creationId xmlns:a16="http://schemas.microsoft.com/office/drawing/2014/main" xmlns="" id="{711FF2EB-448C-4985-9C05-BAF8595C3C33}"/>
              </a:ext>
            </a:extLst>
          </p:cNvPr>
          <p:cNvSpPr txBox="1"/>
          <p:nvPr/>
        </p:nvSpPr>
        <p:spPr>
          <a:xfrm>
            <a:off x="177607" y="908720"/>
            <a:ext cx="1322991" cy="400110"/>
          </a:xfrm>
          <a:prstGeom prst="rect">
            <a:avLst/>
          </a:prstGeom>
          <a:noFill/>
        </p:spPr>
        <p:txBody>
          <a:bodyPr wrap="none" rtlCol="0">
            <a:spAutoFit/>
          </a:bodyPr>
          <a:lstStyle/>
          <a:p>
            <a:r>
              <a:rPr lang="en-GB" sz="2000" dirty="0"/>
              <a:t>Example 2:</a:t>
            </a:r>
          </a:p>
        </p:txBody>
      </p:sp>
    </p:spTree>
    <p:extLst>
      <p:ext uri="{BB962C8B-B14F-4D97-AF65-F5344CB8AC3E}">
        <p14:creationId xmlns:p14="http://schemas.microsoft.com/office/powerpoint/2010/main" val="31651323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216539"/>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r>
              <a:rPr lang="en-GB" sz="3600" b="1" dirty="0">
                <a:solidFill>
                  <a:schemeClr val="tx1">
                    <a:lumMod val="50000"/>
                    <a:lumOff val="50000"/>
                  </a:schemeClr>
                </a:solidFill>
              </a:rPr>
              <a:t>Use of amount of substance</a:t>
            </a:r>
          </a:p>
          <a:p>
            <a:r>
              <a:rPr lang="en-GB" sz="3600" b="1" dirty="0">
                <a:solidFill>
                  <a:schemeClr val="tx1">
                    <a:lumMod val="50000"/>
                    <a:lumOff val="50000"/>
                  </a:schemeClr>
                </a:solidFill>
              </a:rPr>
              <a:t>PART 2 </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Concentration of solutions </a:t>
            </a:r>
            <a:endParaRPr lang="en-GB" sz="2400"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39574146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4031873"/>
          </a:xfrm>
          <a:prstGeom prst="rect">
            <a:avLst/>
          </a:prstGeom>
          <a:noFill/>
        </p:spPr>
        <p:txBody>
          <a:bodyPr wrap="square" rtlCol="0">
            <a:spAutoFit/>
          </a:bodyPr>
          <a:lstStyle/>
          <a:p>
            <a:pPr marL="457200" indent="-457200">
              <a:buFont typeface="+mj-lt"/>
              <a:buAutoNum type="arabicPeriod"/>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a:t>
            </a:r>
            <a:r>
              <a:rPr kumimoji="0" lang="en-GB" sz="2400" b="0" i="0" u="none" strike="noStrike" kern="1200" cap="none" spc="0" normalizeH="0" noProof="0" dirty="0" smtClean="0">
                <a:ln>
                  <a:noFill/>
                </a:ln>
                <a:solidFill>
                  <a:prstClr val="black"/>
                </a:solidFill>
                <a:effectLst/>
                <a:uLnTx/>
                <a:uFillTx/>
                <a:latin typeface="Calibri"/>
                <a:ea typeface="+mn-ea"/>
                <a:cs typeface="+mn-cs"/>
              </a:rPr>
              <a:t> units can be used for the concentration of a solution?</a:t>
            </a:r>
          </a:p>
          <a:p>
            <a:pPr marL="457200" indent="-457200">
              <a:buFont typeface="+mj-lt"/>
              <a:buAutoNum type="arabicPeriod"/>
            </a:pPr>
            <a:endParaRPr kumimoji="0" lang="en-GB" sz="2400" b="0" i="0" u="none" strike="noStrike" kern="1200" cap="none" spc="0" normalizeH="0" noProof="0" dirty="0" smtClean="0">
              <a:ln>
                <a:noFill/>
              </a:ln>
              <a:solidFill>
                <a:prstClr val="black"/>
              </a:solidFill>
              <a:effectLst/>
              <a:uLnTx/>
              <a:uFillTx/>
              <a:latin typeface="Calibri"/>
              <a:ea typeface="+mn-ea"/>
              <a:cs typeface="+mn-cs"/>
            </a:endParaRPr>
          </a:p>
          <a:p>
            <a:pPr marL="457200" indent="-457200">
              <a:buFont typeface="+mj-lt"/>
              <a:buAutoNum type="arabicPeriod"/>
            </a:pPr>
            <a:r>
              <a:rPr lang="en-GB" sz="2400" baseline="0" dirty="0" smtClean="0">
                <a:solidFill>
                  <a:prstClr val="black"/>
                </a:solidFill>
                <a:latin typeface="Calibri"/>
              </a:rPr>
              <a:t>What does dm</a:t>
            </a:r>
            <a:r>
              <a:rPr lang="en-GB" sz="2400" baseline="30000" dirty="0" smtClean="0">
                <a:solidFill>
                  <a:prstClr val="black"/>
                </a:solidFill>
                <a:latin typeface="Calibri"/>
              </a:rPr>
              <a:t>3</a:t>
            </a:r>
            <a:r>
              <a:rPr lang="en-GB" sz="2400" baseline="0" dirty="0" smtClean="0">
                <a:solidFill>
                  <a:prstClr val="black"/>
                </a:solidFill>
                <a:latin typeface="Calibri"/>
              </a:rPr>
              <a:t> mean?</a:t>
            </a:r>
          </a:p>
          <a:p>
            <a:pPr marL="457200" indent="-457200">
              <a:buFont typeface="+mj-lt"/>
              <a:buAutoNum type="arabicPeriod"/>
            </a:pPr>
            <a:endParaRPr lang="en-GB" sz="2400" baseline="0" dirty="0" smtClean="0">
              <a:solidFill>
                <a:prstClr val="black"/>
              </a:solidFill>
              <a:latin typeface="Calibri"/>
            </a:endParaRPr>
          </a:p>
          <a:p>
            <a:pPr marL="457200" indent="-457200">
              <a:buFont typeface="+mj-lt"/>
              <a:buAutoNum type="arabicPeriod"/>
            </a:pPr>
            <a:r>
              <a:rPr lang="en-GB" sz="2400" dirty="0" smtClean="0">
                <a:solidFill>
                  <a:prstClr val="black"/>
                </a:solidFill>
                <a:latin typeface="Calibri"/>
              </a:rPr>
              <a:t>Give the equation for calculating concentration from the mass of substance and volume of solution.</a:t>
            </a:r>
          </a:p>
          <a:p>
            <a:pPr marL="457200" indent="-457200">
              <a:buFont typeface="+mj-lt"/>
              <a:buAutoNum type="arabicPeriod"/>
            </a:pPr>
            <a:endParaRPr lang="en-GB" sz="2400" dirty="0" smtClean="0">
              <a:solidFill>
                <a:prstClr val="black"/>
              </a:solidFill>
              <a:latin typeface="Calibri"/>
            </a:endParaRPr>
          </a:p>
          <a:p>
            <a:pPr marL="457200" indent="-457200">
              <a:buFont typeface="+mj-lt"/>
              <a:buAutoNum type="arabicPeriod"/>
            </a:pPr>
            <a:r>
              <a:rPr lang="en-GB" sz="2400" baseline="0" dirty="0" smtClean="0">
                <a:solidFill>
                  <a:prstClr val="black"/>
                </a:solidFill>
                <a:latin typeface="Calibri"/>
              </a:rPr>
              <a:t>HT Only:</a:t>
            </a:r>
            <a:r>
              <a:rPr lang="en-GB" sz="2400" dirty="0" smtClean="0">
                <a:solidFill>
                  <a:prstClr val="black"/>
                </a:solidFill>
                <a:latin typeface="Calibri"/>
              </a:rPr>
              <a:t> How can you increase the concentration of an aqueous solution?</a:t>
            </a:r>
            <a:endParaRPr lang="en-GB" sz="2400" baseline="0" dirty="0" smtClean="0">
              <a:solidFill>
                <a:prstClr val="black"/>
              </a:solidFill>
              <a:latin typeface="Calibri"/>
            </a:endParaRPr>
          </a:p>
          <a:p>
            <a:pPr marL="457200" indent="-457200">
              <a:buFont typeface="+mj-lt"/>
              <a:buAutoNum type="arabicPeriod"/>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01958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4770537"/>
          </a:xfrm>
          <a:prstGeom prst="rect">
            <a:avLst/>
          </a:prstGeom>
          <a:noFill/>
        </p:spPr>
        <p:txBody>
          <a:bodyPr wrap="square" rtlCol="0">
            <a:spAutoFit/>
          </a:bodyPr>
          <a:lstStyle/>
          <a:p>
            <a:pPr marL="457200" lvl="0" indent="-457200">
              <a:buFont typeface="+mj-lt"/>
              <a:buAutoNum type="arabicPeriod" startAt="5"/>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Calculate the concentration in g/dm</a:t>
            </a:r>
            <a:r>
              <a:rPr kumimoji="0" lang="en-GB" sz="2400" b="0" i="0" u="none" strike="noStrike" kern="1200" cap="none" spc="0" normalizeH="0" baseline="30000" noProof="0" dirty="0">
                <a:ln>
                  <a:noFill/>
                </a:ln>
                <a:solidFill>
                  <a:prstClr val="black"/>
                </a:solidFill>
                <a:effectLst/>
                <a:uLnTx/>
                <a:uFillTx/>
                <a:latin typeface="Calibri"/>
                <a:ea typeface="+mn-ea"/>
                <a:cs typeface="+mn-cs"/>
              </a:rPr>
              <a:t>3</a:t>
            </a:r>
            <a:r>
              <a:rPr kumimoji="0" lang="en-GB" sz="2400" b="0" i="0" u="none" strike="noStrike" kern="1200" cap="none" spc="0" normalizeH="0" baseline="0" noProof="0" dirty="0">
                <a:ln>
                  <a:noFill/>
                </a:ln>
                <a:solidFill>
                  <a:prstClr val="black"/>
                </a:solidFill>
                <a:effectLst/>
                <a:uLnTx/>
                <a:uFillTx/>
                <a:latin typeface="Calibri"/>
                <a:ea typeface="+mn-ea"/>
                <a:cs typeface="+mn-cs"/>
              </a:rPr>
              <a:t> for 50g of sodium chloride </a:t>
            </a:r>
            <a:r>
              <a:rPr lang="en-GB" sz="2400" dirty="0">
                <a:solidFill>
                  <a:prstClr val="black"/>
                </a:solidFill>
              </a:rPr>
              <a:t>in 2.5 </a:t>
            </a:r>
            <a:r>
              <a:rPr lang="en-GB" sz="2400" dirty="0" smtClean="0">
                <a:solidFill>
                  <a:prstClr val="black"/>
                </a:solidFill>
              </a:rPr>
              <a:t>dm</a:t>
            </a:r>
            <a:r>
              <a:rPr lang="en-GB" sz="2400" baseline="30000" dirty="0" smtClean="0">
                <a:solidFill>
                  <a:prstClr val="black"/>
                </a:solidFill>
              </a:rPr>
              <a:t>3</a:t>
            </a: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0" i="0" u="none" strike="noStrike" kern="1200" cap="none" spc="0" normalizeH="0" baseline="0" noProof="0" dirty="0">
                <a:ln>
                  <a:noFill/>
                </a:ln>
                <a:solidFill>
                  <a:prstClr val="black"/>
                </a:solidFill>
                <a:effectLst/>
                <a:uLnTx/>
                <a:uFillTx/>
                <a:latin typeface="Calibri"/>
                <a:ea typeface="+mn-ea"/>
                <a:cs typeface="+mn-cs"/>
              </a:rPr>
              <a:t>of water.</a:t>
            </a:r>
          </a:p>
          <a:p>
            <a:pPr lvl="0"/>
            <a:r>
              <a:rPr lang="en-GB" sz="2400" b="1" dirty="0">
                <a:solidFill>
                  <a:srgbClr val="00B050"/>
                </a:solidFill>
              </a:rPr>
              <a:t>       </a:t>
            </a:r>
          </a:p>
          <a:p>
            <a:pPr lvl="0"/>
            <a:endParaRPr lang="en-GB" sz="2400" b="1" dirty="0">
              <a:solidFill>
                <a:srgbClr val="00B050"/>
              </a:solidFill>
            </a:endParaRPr>
          </a:p>
          <a:p>
            <a:pPr marL="457200" indent="-457200">
              <a:buFont typeface="+mj-lt"/>
              <a:buAutoNum type="arabicPeriod" startAt="6"/>
              <a:defRPr/>
            </a:pPr>
            <a:r>
              <a:rPr lang="en-GB" sz="2400" dirty="0">
                <a:solidFill>
                  <a:prstClr val="black"/>
                </a:solidFill>
              </a:rPr>
              <a:t>Calculate the concentration in g/dm</a:t>
            </a:r>
            <a:r>
              <a:rPr lang="en-GB" sz="2400" baseline="30000" dirty="0">
                <a:solidFill>
                  <a:prstClr val="black"/>
                </a:solidFill>
              </a:rPr>
              <a:t>3</a:t>
            </a:r>
            <a:r>
              <a:rPr lang="en-GB" sz="2400" dirty="0">
                <a:solidFill>
                  <a:prstClr val="black"/>
                </a:solidFill>
                <a:latin typeface="Calibri"/>
              </a:rPr>
              <a:t> </a:t>
            </a:r>
            <a:r>
              <a:rPr kumimoji="0" lang="en-GB" sz="2400" b="0" i="0" u="none" strike="noStrike" kern="1200" cap="none" spc="0" normalizeH="0" baseline="0" noProof="0" dirty="0">
                <a:ln>
                  <a:noFill/>
                </a:ln>
                <a:solidFill>
                  <a:prstClr val="black"/>
                </a:solidFill>
                <a:effectLst/>
                <a:uLnTx/>
                <a:uFillTx/>
                <a:latin typeface="Calibri"/>
                <a:ea typeface="+mn-ea"/>
                <a:cs typeface="+mn-cs"/>
              </a:rPr>
              <a:t>of 1.4g of potassium carbonate in 855cm</a:t>
            </a:r>
            <a:r>
              <a:rPr lang="en-GB" sz="2400" baseline="30000" dirty="0">
                <a:solidFill>
                  <a:prstClr val="black"/>
                </a:solidFill>
              </a:rPr>
              <a:t>3</a:t>
            </a:r>
            <a:r>
              <a:rPr lang="en-GB" sz="2400" dirty="0">
                <a:solidFill>
                  <a:prstClr val="black"/>
                </a:solidFill>
              </a:rPr>
              <a:t> of water.</a:t>
            </a:r>
          </a:p>
          <a:p>
            <a:r>
              <a:rPr lang="en-GB" sz="2400" dirty="0">
                <a:solidFill>
                  <a:prstClr val="black"/>
                </a:solidFill>
                <a:latin typeface="Calibri"/>
              </a:rPr>
              <a:t>       </a:t>
            </a:r>
          </a:p>
          <a:p>
            <a:endParaRPr lang="en-GB" sz="2400" b="1" dirty="0">
              <a:solidFill>
                <a:srgbClr val="00B050"/>
              </a:solidFill>
            </a:endParaRPr>
          </a:p>
          <a:p>
            <a:pPr marL="457200" indent="-457200">
              <a:buFont typeface="+mj-lt"/>
              <a:buAutoNum type="arabicPeriod" startAt="7"/>
            </a:pPr>
            <a:r>
              <a:rPr kumimoji="0" lang="en-GB" sz="2400" i="0" u="none" strike="noStrike" kern="1200" cap="none" spc="0" normalizeH="0" baseline="0" noProof="0" dirty="0">
                <a:ln>
                  <a:noFill/>
                </a:ln>
                <a:effectLst/>
                <a:uLnTx/>
                <a:uFillTx/>
                <a:latin typeface="Calibri"/>
                <a:ea typeface="+mn-ea"/>
                <a:cs typeface="+mn-cs"/>
              </a:rPr>
              <a:t>A teacher has a solution of lithium fluoride with a concentration of </a:t>
            </a:r>
            <a:r>
              <a:rPr kumimoji="0" lang="en-GB" sz="2400" i="0" u="none" strike="noStrike" kern="1200" cap="none" spc="0" normalizeH="0" baseline="0" noProof="0" dirty="0" smtClean="0">
                <a:ln>
                  <a:noFill/>
                </a:ln>
                <a:effectLst/>
                <a:uLnTx/>
                <a:uFillTx/>
                <a:latin typeface="Calibri"/>
                <a:ea typeface="+mn-ea"/>
                <a:cs typeface="+mn-cs"/>
              </a:rPr>
              <a:t>72.6g/dm</a:t>
            </a:r>
            <a:r>
              <a:rPr kumimoji="0" lang="en-GB" sz="2400" i="0" u="none" strike="noStrike" kern="1200" cap="none" spc="0" normalizeH="0" baseline="30000" noProof="0" dirty="0" smtClean="0">
                <a:ln>
                  <a:noFill/>
                </a:ln>
                <a:effectLst/>
                <a:uLnTx/>
                <a:uFillTx/>
                <a:latin typeface="Calibri"/>
                <a:ea typeface="+mn-ea"/>
                <a:cs typeface="+mn-cs"/>
              </a:rPr>
              <a:t>3</a:t>
            </a:r>
            <a:r>
              <a:rPr kumimoji="0" lang="en-GB" sz="2400" i="0" u="none" strike="noStrike" kern="1200" cap="none" spc="0" normalizeH="0" baseline="0" noProof="0" dirty="0" smtClean="0">
                <a:ln>
                  <a:noFill/>
                </a:ln>
                <a:effectLst/>
                <a:uLnTx/>
                <a:uFillTx/>
                <a:latin typeface="Calibri"/>
                <a:ea typeface="+mn-ea"/>
                <a:cs typeface="+mn-cs"/>
              </a:rPr>
              <a:t>.  </a:t>
            </a:r>
            <a:r>
              <a:rPr kumimoji="0" lang="en-GB" sz="2400" i="0" u="none" strike="noStrike" kern="1200" cap="none" spc="0" normalizeH="0" baseline="0" noProof="0" dirty="0">
                <a:ln>
                  <a:noFill/>
                </a:ln>
                <a:effectLst/>
                <a:uLnTx/>
                <a:uFillTx/>
                <a:latin typeface="Calibri"/>
                <a:ea typeface="+mn-ea"/>
                <a:cs typeface="+mn-cs"/>
              </a:rPr>
              <a:t>Calculate the mass of lithium </a:t>
            </a:r>
            <a:r>
              <a:rPr kumimoji="0" lang="en-GB" sz="2400" i="0" u="none" strike="noStrike" kern="1200" cap="none" spc="0" normalizeH="0" baseline="0" noProof="0" dirty="0" smtClean="0">
                <a:ln>
                  <a:noFill/>
                </a:ln>
                <a:effectLst/>
                <a:uLnTx/>
                <a:uFillTx/>
                <a:latin typeface="Calibri"/>
                <a:ea typeface="+mn-ea"/>
                <a:cs typeface="+mn-cs"/>
              </a:rPr>
              <a:t>fluoride dissolved </a:t>
            </a:r>
            <a:r>
              <a:rPr kumimoji="0" lang="en-GB" sz="2400" i="0" u="none" strike="noStrike" kern="1200" cap="none" spc="0" normalizeH="0" baseline="0" noProof="0" dirty="0">
                <a:ln>
                  <a:noFill/>
                </a:ln>
                <a:effectLst/>
                <a:uLnTx/>
                <a:uFillTx/>
                <a:latin typeface="Calibri"/>
                <a:ea typeface="+mn-ea"/>
                <a:cs typeface="+mn-cs"/>
              </a:rPr>
              <a:t>in 25.0</a:t>
            </a:r>
            <a:r>
              <a:rPr lang="en-GB" sz="2400" dirty="0"/>
              <a:t>cm</a:t>
            </a:r>
            <a:r>
              <a:rPr lang="en-GB" sz="2400" baseline="30000" dirty="0"/>
              <a:t>3 </a:t>
            </a:r>
            <a:r>
              <a:rPr lang="en-GB" sz="2400" dirty="0"/>
              <a:t>of solution.</a:t>
            </a:r>
            <a:endParaRPr kumimoji="0" lang="en-GB" sz="2400" i="0" u="none" strike="noStrike" kern="1200" cap="none" spc="0" normalizeH="0" baseline="0" noProof="0" dirty="0">
              <a:ln>
                <a:noFill/>
              </a:ln>
              <a:effectLst/>
              <a:uLnTx/>
              <a:uFillTx/>
              <a:latin typeface="Calibri"/>
            </a:endParaRPr>
          </a:p>
          <a:p>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5207715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770537"/>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Use of amount of substance</a:t>
            </a:r>
          </a:p>
          <a:p>
            <a:r>
              <a:rPr lang="en-GB" sz="3600" b="1" dirty="0">
                <a:solidFill>
                  <a:schemeClr val="tx1">
                    <a:lumMod val="50000"/>
                    <a:lumOff val="50000"/>
                  </a:schemeClr>
                </a:solidFill>
              </a:rPr>
              <a:t>PART 2 </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Concentration of solutions </a:t>
            </a:r>
            <a:endParaRPr lang="en-GB" sz="2400" dirty="0"/>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7984" y="784286"/>
            <a:ext cx="4824536" cy="5257800"/>
          </a:xfrm>
          <a:prstGeom prst="rect">
            <a:avLst/>
          </a:prstGeom>
        </p:spPr>
      </p:pic>
    </p:spTree>
    <p:extLst>
      <p:ext uri="{BB962C8B-B14F-4D97-AF65-F5344CB8AC3E}">
        <p14:creationId xmlns:p14="http://schemas.microsoft.com/office/powerpoint/2010/main" val="34704865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a:t>
            </a:r>
            <a:r>
              <a:rPr lang="en-US" sz="2000" b="1" dirty="0">
                <a:solidFill>
                  <a:schemeClr val="accent6"/>
                </a:solidFill>
              </a:rPr>
              <a:t>–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4401205"/>
          </a:xfrm>
          <a:prstGeom prst="rect">
            <a:avLst/>
          </a:prstGeom>
          <a:noFill/>
        </p:spPr>
        <p:txBody>
          <a:bodyPr wrap="square" rtlCol="0">
            <a:spAutoFit/>
          </a:bodyPr>
          <a:lstStyle/>
          <a:p>
            <a:pPr marL="457200" indent="-457200">
              <a:buFont typeface="+mj-lt"/>
              <a:buAutoNum type="arabicPeriod"/>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a:t>
            </a:r>
            <a:r>
              <a:rPr kumimoji="0" lang="en-GB" sz="2400" b="0" i="0" u="none" strike="noStrike" kern="1200" cap="none" spc="0" normalizeH="0" noProof="0" dirty="0" smtClean="0">
                <a:ln>
                  <a:noFill/>
                </a:ln>
                <a:solidFill>
                  <a:prstClr val="black"/>
                </a:solidFill>
                <a:effectLst/>
                <a:uLnTx/>
                <a:uFillTx/>
                <a:latin typeface="Calibri"/>
                <a:ea typeface="+mn-ea"/>
                <a:cs typeface="+mn-cs"/>
              </a:rPr>
              <a:t> units can be used for the concentration of a solution?</a:t>
            </a:r>
          </a:p>
          <a:p>
            <a:pPr lvl="1"/>
            <a:r>
              <a:rPr lang="en-GB" sz="2400" b="1" noProof="0" dirty="0" smtClean="0">
                <a:solidFill>
                  <a:srgbClr val="00B050"/>
                </a:solidFill>
              </a:rPr>
              <a:t>g/dm</a:t>
            </a:r>
            <a:r>
              <a:rPr lang="en-GB" sz="2400" b="1" baseline="30000" noProof="0" dirty="0" smtClean="0">
                <a:solidFill>
                  <a:srgbClr val="00B050"/>
                </a:solidFill>
              </a:rPr>
              <a:t>3 </a:t>
            </a:r>
            <a:endParaRPr kumimoji="0" lang="en-GB" sz="2400" b="0" i="0" u="none" strike="noStrike" kern="1200" cap="none" spc="0" normalizeH="0" baseline="30000" noProof="0" dirty="0" smtClean="0">
              <a:ln>
                <a:noFill/>
              </a:ln>
              <a:solidFill>
                <a:prstClr val="black"/>
              </a:solidFill>
              <a:effectLst/>
              <a:uLnTx/>
              <a:uFillTx/>
              <a:latin typeface="Calibri"/>
            </a:endParaRPr>
          </a:p>
          <a:p>
            <a:pPr marL="457200" indent="-457200">
              <a:buFont typeface="+mj-lt"/>
              <a:buAutoNum type="arabicPeriod"/>
            </a:pPr>
            <a:r>
              <a:rPr lang="en-GB" sz="2400" baseline="0" dirty="0" smtClean="0">
                <a:solidFill>
                  <a:prstClr val="black"/>
                </a:solidFill>
                <a:latin typeface="Calibri"/>
              </a:rPr>
              <a:t>What does dm</a:t>
            </a:r>
            <a:r>
              <a:rPr lang="en-GB" sz="2400" baseline="30000" dirty="0" smtClean="0">
                <a:solidFill>
                  <a:prstClr val="black"/>
                </a:solidFill>
                <a:latin typeface="Calibri"/>
              </a:rPr>
              <a:t>3</a:t>
            </a:r>
            <a:r>
              <a:rPr lang="en-GB" sz="2400" baseline="0" dirty="0" smtClean="0">
                <a:solidFill>
                  <a:prstClr val="black"/>
                </a:solidFill>
                <a:latin typeface="Calibri"/>
              </a:rPr>
              <a:t> mean?</a:t>
            </a:r>
          </a:p>
          <a:p>
            <a:pPr lvl="1"/>
            <a:r>
              <a:rPr lang="en-GB" sz="2400" b="1" dirty="0" smtClean="0">
                <a:solidFill>
                  <a:srgbClr val="00B050"/>
                </a:solidFill>
              </a:rPr>
              <a:t>1000cm</a:t>
            </a:r>
            <a:r>
              <a:rPr lang="en-GB" sz="2400" b="1" baseline="30000" dirty="0" smtClean="0">
                <a:solidFill>
                  <a:srgbClr val="00B050"/>
                </a:solidFill>
              </a:rPr>
              <a:t>3</a:t>
            </a:r>
            <a:endParaRPr lang="en-GB" sz="2400" baseline="30000" dirty="0" smtClean="0">
              <a:solidFill>
                <a:prstClr val="black"/>
              </a:solidFill>
              <a:latin typeface="Calibri"/>
            </a:endParaRPr>
          </a:p>
          <a:p>
            <a:pPr marL="457200" indent="-457200">
              <a:buFont typeface="+mj-lt"/>
              <a:buAutoNum type="arabicPeriod"/>
            </a:pPr>
            <a:r>
              <a:rPr lang="en-GB" sz="2400" dirty="0" smtClean="0">
                <a:solidFill>
                  <a:prstClr val="black"/>
                </a:solidFill>
                <a:latin typeface="Calibri"/>
              </a:rPr>
              <a:t>Give the equation for calculating concentration from the mass of substance and volume of solution.</a:t>
            </a:r>
          </a:p>
          <a:p>
            <a:pPr lvl="1"/>
            <a:r>
              <a:rPr lang="en-GB" sz="2400" b="1" dirty="0" smtClean="0">
                <a:solidFill>
                  <a:srgbClr val="00B050"/>
                </a:solidFill>
              </a:rPr>
              <a:t>Concentration = mass ÷ volume</a:t>
            </a:r>
            <a:endParaRPr lang="en-GB" sz="2400" dirty="0" smtClean="0">
              <a:solidFill>
                <a:prstClr val="black"/>
              </a:solidFill>
              <a:latin typeface="Calibri"/>
            </a:endParaRPr>
          </a:p>
          <a:p>
            <a:pPr marL="457200" indent="-457200">
              <a:buFont typeface="+mj-lt"/>
              <a:buAutoNum type="arabicPeriod"/>
            </a:pPr>
            <a:r>
              <a:rPr lang="en-GB" sz="2400" baseline="0" dirty="0" smtClean="0">
                <a:solidFill>
                  <a:prstClr val="black"/>
                </a:solidFill>
                <a:latin typeface="Calibri"/>
              </a:rPr>
              <a:t>HT Only:</a:t>
            </a:r>
            <a:r>
              <a:rPr lang="en-GB" sz="2400" dirty="0" smtClean="0">
                <a:solidFill>
                  <a:prstClr val="black"/>
                </a:solidFill>
                <a:latin typeface="Calibri"/>
              </a:rPr>
              <a:t> How can you increase the concentration of an aqueous solution?</a:t>
            </a:r>
            <a:endParaRPr lang="en-GB" sz="2400" baseline="0" dirty="0" smtClean="0">
              <a:solidFill>
                <a:prstClr val="black"/>
              </a:solidFill>
              <a:latin typeface="Calibri"/>
            </a:endParaRPr>
          </a:p>
          <a:p>
            <a:pPr lvl="1"/>
            <a:r>
              <a:rPr kumimoji="0" lang="en-GB" sz="2400" b="0" i="0" u="none" strike="noStrike" kern="1200" cap="none" spc="0" normalizeH="0" baseline="0" noProof="0" dirty="0" smtClean="0">
                <a:ln>
                  <a:noFill/>
                </a:ln>
                <a:solidFill>
                  <a:srgbClr val="00B050"/>
                </a:solidFill>
                <a:effectLst/>
                <a:uLnTx/>
                <a:uFillTx/>
                <a:latin typeface="Calibri"/>
                <a:ea typeface="+mn-ea"/>
                <a:cs typeface="+mn-cs"/>
              </a:rPr>
              <a:t>Add more solute and dissolve in the same volume of water; evaporate off some of the water/decrease the volume of water</a:t>
            </a:r>
            <a:endParaRPr kumimoji="0" lang="en-GB" sz="2400" b="0" i="0" u="none" strike="noStrike" kern="1200" cap="none" spc="0" normalizeH="0" baseline="0" noProof="0" dirty="0">
              <a:ln>
                <a:noFill/>
              </a:ln>
              <a:solidFill>
                <a:srgbClr val="00B050"/>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23126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Use of amount of substance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915400" cy="5509200"/>
          </a:xfrm>
          <a:prstGeom prst="rect">
            <a:avLst/>
          </a:prstGeom>
          <a:noFill/>
        </p:spPr>
        <p:txBody>
          <a:bodyPr wrap="square" rtlCol="0">
            <a:spAutoFit/>
          </a:bodyPr>
          <a:lstStyle/>
          <a:p>
            <a:pPr marL="457200" lvl="0" indent="-457200">
              <a:buFont typeface="+mj-lt"/>
              <a:buAutoNum type="arabicPeriod" startAt="5"/>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Calculate the concentration in g/dm</a:t>
            </a:r>
            <a:r>
              <a:rPr kumimoji="0" lang="en-GB" sz="2400" b="0" i="0" u="none" strike="noStrike" kern="1200" cap="none" spc="0" normalizeH="0" baseline="30000" noProof="0" dirty="0">
                <a:ln>
                  <a:noFill/>
                </a:ln>
                <a:solidFill>
                  <a:prstClr val="black"/>
                </a:solidFill>
                <a:effectLst/>
                <a:uLnTx/>
                <a:uFillTx/>
                <a:latin typeface="Calibri"/>
                <a:ea typeface="+mn-ea"/>
                <a:cs typeface="+mn-cs"/>
              </a:rPr>
              <a:t>3</a:t>
            </a:r>
            <a:r>
              <a:rPr kumimoji="0" lang="en-GB" sz="2400" b="0" i="0" u="none" strike="noStrike" kern="1200" cap="none" spc="0" normalizeH="0" baseline="0" noProof="0" dirty="0">
                <a:ln>
                  <a:noFill/>
                </a:ln>
                <a:solidFill>
                  <a:prstClr val="black"/>
                </a:solidFill>
                <a:effectLst/>
                <a:uLnTx/>
                <a:uFillTx/>
                <a:latin typeface="Calibri"/>
                <a:ea typeface="+mn-ea"/>
                <a:cs typeface="+mn-cs"/>
              </a:rPr>
              <a:t> for 50g of sodium chloride </a:t>
            </a:r>
            <a:r>
              <a:rPr lang="en-GB" sz="2400" dirty="0">
                <a:solidFill>
                  <a:prstClr val="black"/>
                </a:solidFill>
              </a:rPr>
              <a:t>in 2.5dm</a:t>
            </a:r>
            <a:r>
              <a:rPr lang="en-GB" sz="2400" baseline="30000" dirty="0">
                <a:solidFill>
                  <a:prstClr val="black"/>
                </a:solidFill>
              </a:rPr>
              <a:t>3</a:t>
            </a:r>
            <a:r>
              <a:rPr kumimoji="0" lang="en-GB" sz="2400" b="0" i="0" u="none" strike="noStrike" kern="1200" cap="none" spc="0" normalizeH="0" baseline="0" noProof="0" dirty="0">
                <a:ln>
                  <a:noFill/>
                </a:ln>
                <a:solidFill>
                  <a:prstClr val="black"/>
                </a:solidFill>
                <a:effectLst/>
                <a:uLnTx/>
                <a:uFillTx/>
                <a:latin typeface="Calibri"/>
                <a:ea typeface="+mn-ea"/>
                <a:cs typeface="+mn-cs"/>
              </a:rPr>
              <a:t> of water.</a:t>
            </a:r>
          </a:p>
          <a:p>
            <a:pPr lvl="0"/>
            <a:r>
              <a:rPr lang="en-GB" sz="2400" b="1" dirty="0">
                <a:solidFill>
                  <a:srgbClr val="00B050"/>
                </a:solidFill>
              </a:rPr>
              <a:t>       50/2.5 = 20g/dm</a:t>
            </a:r>
            <a:r>
              <a:rPr lang="en-GB" sz="2400" b="1" baseline="30000" dirty="0">
                <a:solidFill>
                  <a:srgbClr val="00B050"/>
                </a:solidFill>
              </a:rPr>
              <a:t>3</a:t>
            </a:r>
            <a:r>
              <a:rPr lang="en-GB" sz="2400" b="1" dirty="0">
                <a:solidFill>
                  <a:srgbClr val="00B050"/>
                </a:solidFill>
              </a:rPr>
              <a:t> </a:t>
            </a:r>
          </a:p>
          <a:p>
            <a:pPr lvl="0"/>
            <a:endParaRPr lang="en-GB" sz="2400" b="1" dirty="0">
              <a:solidFill>
                <a:srgbClr val="00B050"/>
              </a:solidFill>
            </a:endParaRPr>
          </a:p>
          <a:p>
            <a:pPr marL="457200" indent="-457200">
              <a:buFont typeface="+mj-lt"/>
              <a:buAutoNum type="arabicPeriod" startAt="6"/>
              <a:defRPr/>
            </a:pPr>
            <a:r>
              <a:rPr lang="en-GB" sz="2400" dirty="0">
                <a:solidFill>
                  <a:prstClr val="black"/>
                </a:solidFill>
              </a:rPr>
              <a:t>Calculate the concentration in g/dm</a:t>
            </a:r>
            <a:r>
              <a:rPr lang="en-GB" sz="2400" baseline="30000" dirty="0">
                <a:solidFill>
                  <a:prstClr val="black"/>
                </a:solidFill>
              </a:rPr>
              <a:t>3</a:t>
            </a:r>
            <a:r>
              <a:rPr lang="en-GB" sz="2400" dirty="0">
                <a:solidFill>
                  <a:prstClr val="black"/>
                </a:solidFill>
                <a:latin typeface="Calibri"/>
              </a:rPr>
              <a:t> </a:t>
            </a:r>
            <a:r>
              <a:rPr kumimoji="0" lang="en-GB" sz="2400" b="0" i="0" u="none" strike="noStrike" kern="1200" cap="none" spc="0" normalizeH="0" baseline="0" noProof="0" dirty="0">
                <a:ln>
                  <a:noFill/>
                </a:ln>
                <a:solidFill>
                  <a:prstClr val="black"/>
                </a:solidFill>
                <a:effectLst/>
                <a:uLnTx/>
                <a:uFillTx/>
                <a:latin typeface="Calibri"/>
                <a:ea typeface="+mn-ea"/>
                <a:cs typeface="+mn-cs"/>
              </a:rPr>
              <a:t>of 1.4g of potassium carbonate in 855cm</a:t>
            </a:r>
            <a:r>
              <a:rPr lang="en-GB" sz="2400" baseline="30000" dirty="0">
                <a:solidFill>
                  <a:prstClr val="black"/>
                </a:solidFill>
              </a:rPr>
              <a:t>3</a:t>
            </a:r>
            <a:r>
              <a:rPr lang="en-GB" sz="2400" dirty="0">
                <a:solidFill>
                  <a:prstClr val="black"/>
                </a:solidFill>
              </a:rPr>
              <a:t> of water.</a:t>
            </a:r>
          </a:p>
          <a:p>
            <a:r>
              <a:rPr lang="en-GB" sz="2400" dirty="0">
                <a:solidFill>
                  <a:prstClr val="black"/>
                </a:solidFill>
                <a:latin typeface="Calibri"/>
              </a:rPr>
              <a:t>       </a:t>
            </a:r>
            <a:r>
              <a:rPr lang="en-GB" sz="2400" b="1" dirty="0">
                <a:solidFill>
                  <a:srgbClr val="00B050"/>
                </a:solidFill>
                <a:latin typeface="Calibri"/>
              </a:rPr>
              <a:t>(1.4/855) </a:t>
            </a:r>
            <a:r>
              <a:rPr lang="en-GB" sz="2400" b="1" dirty="0">
                <a:solidFill>
                  <a:srgbClr val="00B050"/>
                </a:solidFill>
              </a:rPr>
              <a:t>x 1000 = 1.64 g/dm</a:t>
            </a:r>
            <a:r>
              <a:rPr lang="en-GB" sz="2400" b="1" baseline="30000" dirty="0">
                <a:solidFill>
                  <a:srgbClr val="00B050"/>
                </a:solidFill>
              </a:rPr>
              <a:t>3</a:t>
            </a:r>
            <a:r>
              <a:rPr lang="en-GB" sz="2400" b="1" dirty="0">
                <a:solidFill>
                  <a:srgbClr val="00B050"/>
                </a:solidFill>
              </a:rPr>
              <a:t> </a:t>
            </a:r>
          </a:p>
          <a:p>
            <a:endParaRPr lang="en-GB" sz="2400" b="1" dirty="0">
              <a:solidFill>
                <a:srgbClr val="00B050"/>
              </a:solidFill>
            </a:endParaRPr>
          </a:p>
          <a:p>
            <a:pPr marL="457200" indent="-457200">
              <a:buFont typeface="+mj-lt"/>
              <a:buAutoNum type="arabicPeriod" startAt="7"/>
            </a:pPr>
            <a:r>
              <a:rPr kumimoji="0" lang="en-GB" sz="2400" i="0" u="none" strike="noStrike" kern="1200" cap="none" spc="0" normalizeH="0" baseline="0" noProof="0" dirty="0">
                <a:ln>
                  <a:noFill/>
                </a:ln>
                <a:effectLst/>
                <a:uLnTx/>
                <a:uFillTx/>
                <a:latin typeface="Calibri"/>
                <a:ea typeface="+mn-ea"/>
                <a:cs typeface="+mn-cs"/>
              </a:rPr>
              <a:t>A teacher has a solution of lithium fluoride with a concentration of </a:t>
            </a:r>
            <a:r>
              <a:rPr kumimoji="0" lang="en-GB" sz="2400" i="0" u="none" strike="noStrike" kern="1200" cap="none" spc="0" normalizeH="0" baseline="0" noProof="0" dirty="0" smtClean="0">
                <a:ln>
                  <a:noFill/>
                </a:ln>
                <a:effectLst/>
                <a:uLnTx/>
                <a:uFillTx/>
                <a:latin typeface="Calibri"/>
                <a:ea typeface="+mn-ea"/>
                <a:cs typeface="+mn-cs"/>
              </a:rPr>
              <a:t>72.6g/</a:t>
            </a:r>
            <a:r>
              <a:rPr lang="en-GB" sz="2400" dirty="0" smtClean="0">
                <a:solidFill>
                  <a:prstClr val="black"/>
                </a:solidFill>
              </a:rPr>
              <a:t>dm</a:t>
            </a:r>
            <a:r>
              <a:rPr lang="en-GB" sz="2400" baseline="30000" dirty="0" smtClean="0">
                <a:solidFill>
                  <a:prstClr val="black"/>
                </a:solidFill>
              </a:rPr>
              <a:t>3</a:t>
            </a:r>
            <a:r>
              <a:rPr kumimoji="0" lang="en-GB" sz="2400" i="0" u="none" strike="noStrike" kern="1200" cap="none" spc="0" normalizeH="0" baseline="0" noProof="0" dirty="0" smtClean="0">
                <a:ln>
                  <a:noFill/>
                </a:ln>
                <a:effectLst/>
                <a:uLnTx/>
                <a:uFillTx/>
                <a:latin typeface="Calibri"/>
                <a:ea typeface="+mn-ea"/>
                <a:cs typeface="+mn-cs"/>
              </a:rPr>
              <a:t>.  </a:t>
            </a:r>
            <a:r>
              <a:rPr kumimoji="0" lang="en-GB" sz="2400" i="0" u="none" strike="noStrike" kern="1200" cap="none" spc="0" normalizeH="0" baseline="0" noProof="0" dirty="0">
                <a:ln>
                  <a:noFill/>
                </a:ln>
                <a:effectLst/>
                <a:uLnTx/>
                <a:uFillTx/>
                <a:latin typeface="Calibri"/>
                <a:ea typeface="+mn-ea"/>
                <a:cs typeface="+mn-cs"/>
              </a:rPr>
              <a:t>Calculate the mass of lithium </a:t>
            </a:r>
            <a:r>
              <a:rPr kumimoji="0" lang="en-GB" sz="2400" i="0" u="none" strike="noStrike" kern="1200" cap="none" spc="0" normalizeH="0" baseline="0" noProof="0" dirty="0" smtClean="0">
                <a:ln>
                  <a:noFill/>
                </a:ln>
                <a:effectLst/>
                <a:uLnTx/>
                <a:uFillTx/>
                <a:latin typeface="Calibri"/>
                <a:ea typeface="+mn-ea"/>
                <a:cs typeface="+mn-cs"/>
              </a:rPr>
              <a:t>fluoride dissolved </a:t>
            </a:r>
            <a:r>
              <a:rPr kumimoji="0" lang="en-GB" sz="2400" i="0" u="none" strike="noStrike" kern="1200" cap="none" spc="0" normalizeH="0" baseline="0" noProof="0" dirty="0">
                <a:ln>
                  <a:noFill/>
                </a:ln>
                <a:effectLst/>
                <a:uLnTx/>
                <a:uFillTx/>
                <a:latin typeface="Calibri"/>
                <a:ea typeface="+mn-ea"/>
                <a:cs typeface="+mn-cs"/>
              </a:rPr>
              <a:t>in 25.0</a:t>
            </a:r>
            <a:r>
              <a:rPr lang="en-GB" sz="2400" dirty="0"/>
              <a:t>cm</a:t>
            </a:r>
            <a:r>
              <a:rPr lang="en-GB" sz="2400" baseline="30000" dirty="0"/>
              <a:t>3 </a:t>
            </a:r>
            <a:r>
              <a:rPr lang="en-GB" sz="2400" dirty="0"/>
              <a:t>of solution.</a:t>
            </a:r>
            <a:endParaRPr kumimoji="0" lang="en-GB" sz="2400" i="0" u="none" strike="noStrike" kern="1200" cap="none" spc="0" normalizeH="0" baseline="0" noProof="0" dirty="0">
              <a:ln>
                <a:noFill/>
              </a:ln>
              <a:effectLst/>
              <a:uLnTx/>
              <a:uFillTx/>
              <a:latin typeface="Calibri"/>
            </a:endParaRPr>
          </a:p>
          <a:p>
            <a:r>
              <a:rPr lang="en-GB" dirty="0"/>
              <a:t>         </a:t>
            </a:r>
            <a:r>
              <a:rPr lang="en-GB" sz="2400" b="1" dirty="0">
                <a:solidFill>
                  <a:srgbClr val="00B050"/>
                </a:solidFill>
              </a:rPr>
              <a:t>25cm</a:t>
            </a:r>
            <a:r>
              <a:rPr lang="en-GB" sz="2400" b="1" baseline="30000" dirty="0">
                <a:solidFill>
                  <a:srgbClr val="00B050"/>
                </a:solidFill>
              </a:rPr>
              <a:t>3</a:t>
            </a:r>
            <a:r>
              <a:rPr lang="en-GB" sz="2400" b="1" dirty="0">
                <a:solidFill>
                  <a:srgbClr val="00B050"/>
                </a:solidFill>
              </a:rPr>
              <a:t> = 0.025dm</a:t>
            </a:r>
            <a:r>
              <a:rPr lang="en-GB" sz="2400" b="1" baseline="30000" dirty="0">
                <a:solidFill>
                  <a:srgbClr val="00B050"/>
                </a:solidFill>
              </a:rPr>
              <a:t>3</a:t>
            </a:r>
            <a:r>
              <a:rPr lang="en-GB" sz="2400" b="1" dirty="0">
                <a:solidFill>
                  <a:srgbClr val="00B050"/>
                </a:solidFill>
              </a:rPr>
              <a:t> </a:t>
            </a:r>
          </a:p>
          <a:p>
            <a:r>
              <a:rPr lang="en-GB" sz="2400" b="1" dirty="0">
                <a:solidFill>
                  <a:srgbClr val="00B050"/>
                </a:solidFill>
              </a:rPr>
              <a:t>       72.6 x 0.025 = 1.8g</a:t>
            </a:r>
            <a:endParaRPr kumimoji="0" lang="en-GB" sz="2400" b="1" i="0" u="none" strike="noStrike" kern="1200" cap="none" spc="0" normalizeH="0" baseline="0" noProof="0" dirty="0">
              <a:ln>
                <a:noFill/>
              </a:ln>
              <a:solidFill>
                <a:srgbClr val="00B050"/>
              </a:solidFill>
              <a:effectLst/>
              <a:uLnTx/>
              <a:uFillTx/>
            </a:endParaRPr>
          </a:p>
          <a:p>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818193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10453" y="476672"/>
            <a:ext cx="5364088" cy="6063198"/>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smtClean="0">
                <a:solidFill>
                  <a:schemeClr val="tx1">
                    <a:lumMod val="50000"/>
                    <a:lumOff val="50000"/>
                  </a:schemeClr>
                </a:solidFill>
              </a:rPr>
              <a:t>Yield and </a:t>
            </a:r>
          </a:p>
          <a:p>
            <a:r>
              <a:rPr lang="en-GB" sz="3600" b="1" dirty="0" smtClean="0">
                <a:solidFill>
                  <a:schemeClr val="tx1">
                    <a:lumMod val="50000"/>
                    <a:lumOff val="50000"/>
                  </a:schemeClr>
                </a:solidFill>
              </a:rPr>
              <a:t>atom economy</a:t>
            </a:r>
            <a:endParaRPr lang="en-GB" sz="3600" b="1" dirty="0">
              <a:solidFill>
                <a:schemeClr val="tx1">
                  <a:lumMod val="50000"/>
                  <a:lumOff val="50000"/>
                </a:schemeClr>
              </a:solidFill>
            </a:endParaRPr>
          </a:p>
          <a:p>
            <a:r>
              <a:rPr lang="en-GB" sz="3600" b="1" i="1" dirty="0" smtClean="0">
                <a:solidFill>
                  <a:schemeClr val="tx1">
                    <a:lumMod val="50000"/>
                    <a:lumOff val="50000"/>
                  </a:schemeClr>
                </a:solidFill>
              </a:rPr>
              <a:t>CHEMISTRY </a:t>
            </a:r>
            <a:r>
              <a:rPr lang="en-GB" sz="3600" b="1" i="1" dirty="0">
                <a:solidFill>
                  <a:schemeClr val="tx1">
                    <a:lumMod val="50000"/>
                    <a:lumOff val="50000"/>
                  </a:schemeClr>
                </a:solidFill>
              </a:rPr>
              <a:t>ONLY</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Percentage yield</a:t>
            </a:r>
          </a:p>
          <a:p>
            <a:pPr marL="685800" lvl="1" indent="-342900">
              <a:buFont typeface="Arial" charset="0"/>
              <a:buChar char="•"/>
            </a:pPr>
            <a:r>
              <a:rPr lang="en-US" sz="2400" b="1" smtClean="0">
                <a:solidFill>
                  <a:schemeClr val="bg1">
                    <a:lumMod val="50000"/>
                  </a:schemeClr>
                </a:solidFill>
              </a:rPr>
              <a:t>Atom </a:t>
            </a:r>
            <a:r>
              <a:rPr lang="en-US" sz="2400" b="1" dirty="0">
                <a:solidFill>
                  <a:schemeClr val="bg1">
                    <a:lumMod val="50000"/>
                  </a:schemeClr>
                </a:solidFill>
              </a:rPr>
              <a:t>economy</a:t>
            </a:r>
          </a:p>
          <a:p>
            <a:pPr marL="685800" lvl="1" indent="-342900">
              <a:buFont typeface="Arial" charset="0"/>
              <a:buChar char="•"/>
            </a:pPr>
            <a:endParaRPr lang="en-US" sz="2400" b="1" dirty="0">
              <a:solidFill>
                <a:schemeClr val="bg1">
                  <a:lumMod val="50000"/>
                </a:schemeClr>
              </a:solidFill>
            </a:endParaRPr>
          </a:p>
          <a:p>
            <a:endParaRPr lang="en-GB" dirty="0"/>
          </a:p>
        </p:txBody>
      </p:sp>
    </p:spTree>
    <p:extLst>
      <p:ext uri="{BB962C8B-B14F-4D97-AF65-F5344CB8AC3E}">
        <p14:creationId xmlns:p14="http://schemas.microsoft.com/office/powerpoint/2010/main" val="40381779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Yield and atom economy - </a:t>
            </a:r>
            <a:r>
              <a:rPr lang="en-US" sz="2400" b="1" dirty="0">
                <a:solidFill>
                  <a:schemeClr val="accent6"/>
                </a:solidFill>
              </a:rPr>
              <a:t>CHEMISTRY ONLY</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0" y="1119118"/>
            <a:ext cx="4655790" cy="4708981"/>
          </a:xfrm>
          <a:prstGeom prst="rect">
            <a:avLst/>
          </a:prstGeom>
          <a:noFill/>
          <a:ln>
            <a:solidFill>
              <a:schemeClr val="bg1"/>
            </a:solidFill>
          </a:ln>
        </p:spPr>
        <p:txBody>
          <a:bodyPr wrap="square" rtlCol="0">
            <a:spAutoFit/>
          </a:bodyPr>
          <a:lstStyle/>
          <a:p>
            <a:r>
              <a:rPr lang="en-GB" sz="2000" dirty="0"/>
              <a:t>Even though </a:t>
            </a:r>
            <a:r>
              <a:rPr lang="en-GB" sz="2000" b="1" dirty="0"/>
              <a:t>no atoms </a:t>
            </a:r>
            <a:r>
              <a:rPr lang="en-GB" sz="2000" dirty="0"/>
              <a:t>are </a:t>
            </a:r>
            <a:r>
              <a:rPr lang="en-GB" sz="2000" b="1" dirty="0"/>
              <a:t>gained</a:t>
            </a:r>
            <a:r>
              <a:rPr lang="en-GB" sz="2000" dirty="0"/>
              <a:t> or </a:t>
            </a:r>
            <a:r>
              <a:rPr lang="en-GB" sz="2000" b="1" dirty="0"/>
              <a:t>lost</a:t>
            </a:r>
            <a:r>
              <a:rPr lang="en-GB" sz="2000" dirty="0"/>
              <a:t> in a chemical reaction, it is not always possible to obtain the calculated </a:t>
            </a:r>
            <a:r>
              <a:rPr lang="en-GB" sz="2000" b="1" dirty="0"/>
              <a:t>amount</a:t>
            </a:r>
            <a:r>
              <a:rPr lang="en-GB" sz="2000" dirty="0"/>
              <a:t> of </a:t>
            </a:r>
            <a:r>
              <a:rPr lang="en-GB" sz="2000" b="1" dirty="0"/>
              <a:t>product</a:t>
            </a:r>
            <a:r>
              <a:rPr lang="en-GB" sz="2000" dirty="0"/>
              <a:t> because</a:t>
            </a:r>
            <a:r>
              <a:rPr lang="en-GB" sz="2000" dirty="0" smtClean="0"/>
              <a:t>:</a:t>
            </a:r>
          </a:p>
          <a:p>
            <a:endParaRPr lang="en-GB" sz="2000" dirty="0"/>
          </a:p>
          <a:p>
            <a:pPr marL="285750" indent="-285750">
              <a:buFont typeface="Arial" panose="020B0604020202020204" pitchFamily="34" charset="0"/>
              <a:buChar char="•"/>
            </a:pPr>
            <a:r>
              <a:rPr lang="en-GB" sz="2000" dirty="0"/>
              <a:t>The </a:t>
            </a:r>
            <a:r>
              <a:rPr lang="en-GB" sz="2000" b="1" dirty="0">
                <a:solidFill>
                  <a:schemeClr val="accent6">
                    <a:lumMod val="75000"/>
                  </a:schemeClr>
                </a:solidFill>
              </a:rPr>
              <a:t>reaction may not go </a:t>
            </a:r>
            <a:r>
              <a:rPr lang="en-GB" sz="2000" b="1" dirty="0" smtClean="0">
                <a:solidFill>
                  <a:schemeClr val="accent6">
                    <a:lumMod val="75000"/>
                  </a:schemeClr>
                </a:solidFill>
              </a:rPr>
              <a:t>to </a:t>
            </a:r>
            <a:r>
              <a:rPr lang="en-GB" sz="2000" b="1" dirty="0">
                <a:solidFill>
                  <a:schemeClr val="accent6">
                    <a:lumMod val="75000"/>
                  </a:schemeClr>
                </a:solidFill>
              </a:rPr>
              <a:t>completion </a:t>
            </a:r>
            <a:r>
              <a:rPr lang="en-GB" sz="2000" dirty="0"/>
              <a:t>because it is </a:t>
            </a:r>
            <a:r>
              <a:rPr lang="en-GB" sz="2000" b="1" dirty="0">
                <a:solidFill>
                  <a:schemeClr val="accent6">
                    <a:lumMod val="75000"/>
                  </a:schemeClr>
                </a:solidFill>
              </a:rPr>
              <a:t>reversible</a:t>
            </a:r>
          </a:p>
          <a:p>
            <a:pPr marL="285750" indent="-285750">
              <a:buFont typeface="Arial" panose="020B0604020202020204" pitchFamily="34" charset="0"/>
              <a:buChar char="•"/>
            </a:pPr>
            <a:r>
              <a:rPr lang="en-GB" sz="2000" dirty="0"/>
              <a:t>Some of the </a:t>
            </a:r>
            <a:r>
              <a:rPr lang="en-GB" sz="2000" b="1" dirty="0">
                <a:solidFill>
                  <a:schemeClr val="accent6">
                    <a:lumMod val="75000"/>
                  </a:schemeClr>
                </a:solidFill>
              </a:rPr>
              <a:t>product may be lost </a:t>
            </a:r>
            <a:r>
              <a:rPr lang="en-GB" sz="2000" dirty="0"/>
              <a:t>when it is separated from the reaction mixture</a:t>
            </a:r>
          </a:p>
          <a:p>
            <a:pPr marL="285750" indent="-285750">
              <a:buFont typeface="Arial" panose="020B0604020202020204" pitchFamily="34" charset="0"/>
              <a:buChar char="•"/>
            </a:pPr>
            <a:r>
              <a:rPr lang="en-GB" sz="2000" dirty="0"/>
              <a:t>Some of the </a:t>
            </a:r>
            <a:r>
              <a:rPr lang="en-GB" sz="2000" b="1" dirty="0">
                <a:solidFill>
                  <a:schemeClr val="accent6">
                    <a:lumMod val="75000"/>
                  </a:schemeClr>
                </a:solidFill>
              </a:rPr>
              <a:t>reactants may reac</a:t>
            </a:r>
            <a:r>
              <a:rPr lang="en-GB" sz="2000" dirty="0">
                <a:solidFill>
                  <a:schemeClr val="accent6">
                    <a:lumMod val="75000"/>
                  </a:schemeClr>
                </a:solidFill>
              </a:rPr>
              <a:t>t </a:t>
            </a:r>
            <a:r>
              <a:rPr lang="en-GB" sz="2000" b="1" dirty="0">
                <a:solidFill>
                  <a:schemeClr val="accent6">
                    <a:lumMod val="75000"/>
                  </a:schemeClr>
                </a:solidFill>
              </a:rPr>
              <a:t>in ways different to the expected </a:t>
            </a:r>
            <a:r>
              <a:rPr lang="en-GB" sz="2000" dirty="0" smtClean="0"/>
              <a:t>reactions</a:t>
            </a:r>
          </a:p>
          <a:p>
            <a:pPr marL="285750" indent="-285750">
              <a:buFont typeface="Arial" panose="020B0604020202020204" pitchFamily="34" charset="0"/>
              <a:buChar char="•"/>
            </a:pPr>
            <a:endParaRPr lang="en-GB" sz="2000" b="1" dirty="0"/>
          </a:p>
          <a:p>
            <a:r>
              <a:rPr lang="en-GB" sz="2000" dirty="0" smtClean="0"/>
              <a:t>The </a:t>
            </a:r>
            <a:r>
              <a:rPr lang="en-GB" sz="2000" dirty="0"/>
              <a:t>amount of </a:t>
            </a:r>
            <a:r>
              <a:rPr lang="en-GB" sz="2000" b="1" dirty="0"/>
              <a:t>product</a:t>
            </a:r>
            <a:r>
              <a:rPr lang="en-GB" sz="2000" dirty="0"/>
              <a:t> obtained is known as the </a:t>
            </a:r>
            <a:r>
              <a:rPr lang="en-GB" sz="2000" b="1" dirty="0">
                <a:solidFill>
                  <a:schemeClr val="accent6">
                    <a:lumMod val="75000"/>
                  </a:schemeClr>
                </a:solidFill>
              </a:rPr>
              <a:t>yield</a:t>
            </a:r>
            <a:r>
              <a:rPr lang="en-GB" sz="2000" dirty="0"/>
              <a:t>.  </a:t>
            </a:r>
          </a:p>
        </p:txBody>
      </p:sp>
      <p:pic>
        <p:nvPicPr>
          <p:cNvPr id="6" name="Picture 5">
            <a:extLst>
              <a:ext uri="{FF2B5EF4-FFF2-40B4-BE49-F238E27FC236}">
                <a16:creationId xmlns:a16="http://schemas.microsoft.com/office/drawing/2014/main" xmlns="" id="{8F7327C4-4B49-48F2-8B84-7B0C5E6A2B9A}"/>
              </a:ext>
            </a:extLst>
          </p:cNvPr>
          <p:cNvPicPr>
            <a:picLocks noChangeAspect="1"/>
          </p:cNvPicPr>
          <p:nvPr/>
        </p:nvPicPr>
        <p:blipFill>
          <a:blip r:embed="rId3"/>
          <a:stretch>
            <a:fillRect/>
          </a:stretch>
        </p:blipFill>
        <p:spPr>
          <a:xfrm>
            <a:off x="4655790" y="1119118"/>
            <a:ext cx="4305300" cy="2124075"/>
          </a:xfrm>
          <a:prstGeom prst="rect">
            <a:avLst/>
          </a:prstGeom>
        </p:spPr>
      </p:pic>
      <p:sp>
        <p:nvSpPr>
          <p:cNvPr id="7" name="Content Placeholder 2">
            <a:extLst>
              <a:ext uri="{FF2B5EF4-FFF2-40B4-BE49-F238E27FC236}">
                <a16:creationId xmlns:a16="http://schemas.microsoft.com/office/drawing/2014/main" xmlns="" id="{1588D42E-5CA2-4337-9D54-7B0E421FB0EB}"/>
              </a:ext>
            </a:extLst>
          </p:cNvPr>
          <p:cNvSpPr txBox="1">
            <a:spLocks/>
          </p:cNvSpPr>
          <p:nvPr/>
        </p:nvSpPr>
        <p:spPr>
          <a:xfrm>
            <a:off x="4655790" y="3429000"/>
            <a:ext cx="4236690" cy="2588231"/>
          </a:xfrm>
          <a:prstGeom prst="rect">
            <a:avLst/>
          </a:prstGeom>
          <a:solidFill>
            <a:schemeClr val="accent6">
              <a:lumMod val="20000"/>
              <a:lumOff val="80000"/>
            </a:schemeClr>
          </a:solidFill>
          <a:ln>
            <a:solidFill>
              <a:schemeClr val="accent6">
                <a:lumMod val="75000"/>
                <a:alpha val="80000"/>
              </a:schemeClr>
            </a:solidFill>
          </a:ln>
        </p:spPr>
        <p:txBody>
          <a:bodyPr vert="horz" lIns="91440" tIns="45720" rIns="91440" bIns="45720" rtlCol="0">
            <a:no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News Gothic MT"/>
                <a:ea typeface="+mn-ea"/>
                <a:cs typeface="News Gothic MT"/>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News Gothic MT"/>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News Gothic MT"/>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r>
              <a:rPr lang="en-GB" sz="2000" dirty="0">
                <a:solidFill>
                  <a:schemeClr val="tx1"/>
                </a:solidFill>
                <a:latin typeface="+mn-lt"/>
              </a:rPr>
              <a:t>The </a:t>
            </a:r>
            <a:r>
              <a:rPr lang="en-GB" sz="2000" b="1" dirty="0">
                <a:solidFill>
                  <a:schemeClr val="tx1"/>
                </a:solidFill>
                <a:latin typeface="+mn-lt"/>
              </a:rPr>
              <a:t>theoretical yield </a:t>
            </a:r>
            <a:r>
              <a:rPr lang="en-GB" sz="2000" dirty="0">
                <a:solidFill>
                  <a:schemeClr val="tx1"/>
                </a:solidFill>
                <a:latin typeface="+mn-lt"/>
              </a:rPr>
              <a:t>is the </a:t>
            </a:r>
            <a:r>
              <a:rPr lang="en-GB" sz="2000" b="1" dirty="0">
                <a:solidFill>
                  <a:schemeClr val="tx1"/>
                </a:solidFill>
                <a:latin typeface="+mn-lt"/>
              </a:rPr>
              <a:t>maximum </a:t>
            </a:r>
            <a:r>
              <a:rPr lang="en-GB" sz="2000" dirty="0">
                <a:solidFill>
                  <a:schemeClr val="tx1"/>
                </a:solidFill>
                <a:latin typeface="+mn-lt"/>
              </a:rPr>
              <a:t>calculated amount of a </a:t>
            </a:r>
            <a:r>
              <a:rPr lang="en-GB" sz="2000" b="1" dirty="0">
                <a:solidFill>
                  <a:schemeClr val="tx1"/>
                </a:solidFill>
                <a:latin typeface="+mn-lt"/>
              </a:rPr>
              <a:t>product</a:t>
            </a:r>
            <a:r>
              <a:rPr lang="en-GB" sz="2000" dirty="0">
                <a:solidFill>
                  <a:schemeClr val="tx1"/>
                </a:solidFill>
                <a:latin typeface="+mn-lt"/>
              </a:rPr>
              <a:t> that could be formed from a </a:t>
            </a:r>
            <a:r>
              <a:rPr lang="en-GB" sz="2000" b="1" dirty="0">
                <a:solidFill>
                  <a:schemeClr val="tx1"/>
                </a:solidFill>
                <a:latin typeface="+mn-lt"/>
              </a:rPr>
              <a:t>given amount</a:t>
            </a:r>
            <a:r>
              <a:rPr lang="en-GB" sz="2000" dirty="0">
                <a:solidFill>
                  <a:schemeClr val="tx1"/>
                </a:solidFill>
                <a:latin typeface="+mn-lt"/>
              </a:rPr>
              <a:t> of </a:t>
            </a:r>
            <a:r>
              <a:rPr lang="en-GB" sz="2000" b="1" dirty="0">
                <a:solidFill>
                  <a:schemeClr val="tx1"/>
                </a:solidFill>
                <a:latin typeface="+mn-lt"/>
              </a:rPr>
              <a:t>reactants</a:t>
            </a:r>
            <a:r>
              <a:rPr lang="en-GB" sz="2000" dirty="0">
                <a:solidFill>
                  <a:schemeClr val="tx1"/>
                </a:solidFill>
                <a:latin typeface="+mn-lt"/>
              </a:rPr>
              <a:t>.</a:t>
            </a:r>
          </a:p>
          <a:p>
            <a:endParaRPr lang="en-GB" sz="2000" dirty="0">
              <a:solidFill>
                <a:schemeClr val="tx1"/>
              </a:solidFill>
              <a:latin typeface="+mn-lt"/>
            </a:endParaRPr>
          </a:p>
          <a:p>
            <a:r>
              <a:rPr lang="en-GB" sz="2000" dirty="0">
                <a:solidFill>
                  <a:schemeClr val="tx1"/>
                </a:solidFill>
                <a:latin typeface="+mn-lt"/>
              </a:rPr>
              <a:t>The </a:t>
            </a:r>
            <a:r>
              <a:rPr lang="en-GB" sz="2000" b="1" dirty="0">
                <a:solidFill>
                  <a:schemeClr val="tx1"/>
                </a:solidFill>
                <a:latin typeface="+mn-lt"/>
              </a:rPr>
              <a:t>actual yield </a:t>
            </a:r>
            <a:r>
              <a:rPr lang="en-GB" sz="2000" dirty="0">
                <a:solidFill>
                  <a:schemeClr val="tx1"/>
                </a:solidFill>
                <a:latin typeface="+mn-lt"/>
              </a:rPr>
              <a:t>is the </a:t>
            </a:r>
            <a:r>
              <a:rPr lang="en-GB" sz="2000" b="1" dirty="0">
                <a:solidFill>
                  <a:schemeClr val="tx1"/>
                </a:solidFill>
                <a:latin typeface="+mn-lt"/>
              </a:rPr>
              <a:t>actual</a:t>
            </a:r>
            <a:r>
              <a:rPr lang="en-GB" sz="2000" dirty="0">
                <a:solidFill>
                  <a:schemeClr val="tx1"/>
                </a:solidFill>
                <a:latin typeface="+mn-lt"/>
              </a:rPr>
              <a:t> amount of </a:t>
            </a:r>
            <a:r>
              <a:rPr lang="en-GB" sz="2000" b="1" dirty="0">
                <a:solidFill>
                  <a:schemeClr val="tx1"/>
                </a:solidFill>
                <a:latin typeface="+mn-lt"/>
              </a:rPr>
              <a:t>product </a:t>
            </a:r>
            <a:r>
              <a:rPr lang="en-GB" sz="2000" dirty="0">
                <a:solidFill>
                  <a:schemeClr val="tx1"/>
                </a:solidFill>
                <a:latin typeface="+mn-lt"/>
              </a:rPr>
              <a:t>obtained from a</a:t>
            </a:r>
            <a:r>
              <a:rPr lang="en-GB" sz="2000" b="1" dirty="0">
                <a:solidFill>
                  <a:schemeClr val="tx1"/>
                </a:solidFill>
                <a:latin typeface="+mn-lt"/>
              </a:rPr>
              <a:t> chemical </a:t>
            </a:r>
            <a:r>
              <a:rPr lang="en-GB" sz="2000" dirty="0">
                <a:solidFill>
                  <a:schemeClr val="tx1"/>
                </a:solidFill>
                <a:latin typeface="+mn-lt"/>
              </a:rPr>
              <a:t>reaction</a:t>
            </a:r>
            <a:r>
              <a:rPr lang="en-GB" sz="1800" dirty="0">
                <a:solidFill>
                  <a:schemeClr val="tx1"/>
                </a:solidFill>
                <a:latin typeface="+mn-lt"/>
              </a:rPr>
              <a:t>.</a:t>
            </a:r>
          </a:p>
        </p:txBody>
      </p:sp>
    </p:spTree>
    <p:extLst>
      <p:ext uri="{BB962C8B-B14F-4D97-AF65-F5344CB8AC3E}">
        <p14:creationId xmlns:p14="http://schemas.microsoft.com/office/powerpoint/2010/main" val="15961417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Yield and atom economy - CHEMISTRY ONLY</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Content Placeholder 2">
            <a:extLst>
              <a:ext uri="{FF2B5EF4-FFF2-40B4-BE49-F238E27FC236}">
                <a16:creationId xmlns:a16="http://schemas.microsoft.com/office/drawing/2014/main" xmlns="" id="{4C12A6B0-87FC-4B65-B3B4-0F13D84A3536}"/>
              </a:ext>
            </a:extLst>
          </p:cNvPr>
          <p:cNvSpPr txBox="1">
            <a:spLocks/>
          </p:cNvSpPr>
          <p:nvPr/>
        </p:nvSpPr>
        <p:spPr>
          <a:xfrm>
            <a:off x="251520" y="732275"/>
            <a:ext cx="8640960" cy="1651900"/>
          </a:xfrm>
          <a:prstGeom prst="rect">
            <a:avLst/>
          </a:prstGeom>
          <a:solidFill>
            <a:schemeClr val="accent6">
              <a:lumMod val="20000"/>
              <a:lumOff val="80000"/>
            </a:schemeClr>
          </a:solidFill>
          <a:ln>
            <a:solidFill>
              <a:schemeClr val="accent6">
                <a:lumMod val="75000"/>
                <a:alpha val="80000"/>
              </a:schemeClr>
            </a:solidFill>
          </a:ln>
        </p:spPr>
        <p:txBody>
          <a:bodyPr vert="horz" lIns="91440" tIns="45720" rIns="91440" bIns="45720" rtlCol="0">
            <a:no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News Gothic MT"/>
                <a:ea typeface="+mn-ea"/>
                <a:cs typeface="News Gothic MT"/>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News Gothic MT"/>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News Gothic MT"/>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algn="l"/>
            <a:r>
              <a:rPr lang="en-GB" sz="2000" dirty="0">
                <a:solidFill>
                  <a:schemeClr val="tx1"/>
                </a:solidFill>
                <a:latin typeface="+mn-lt"/>
              </a:rPr>
              <a:t>When</a:t>
            </a:r>
            <a:r>
              <a:rPr lang="en-GB" sz="2000" b="1" dirty="0">
                <a:solidFill>
                  <a:schemeClr val="tx1"/>
                </a:solidFill>
                <a:latin typeface="+mn-lt"/>
              </a:rPr>
              <a:t> compared </a:t>
            </a:r>
            <a:r>
              <a:rPr lang="en-GB" sz="2000" dirty="0">
                <a:solidFill>
                  <a:schemeClr val="tx1"/>
                </a:solidFill>
                <a:latin typeface="+mn-lt"/>
              </a:rPr>
              <a:t>with the </a:t>
            </a:r>
            <a:r>
              <a:rPr lang="en-GB" sz="2000" b="1" dirty="0">
                <a:solidFill>
                  <a:schemeClr val="tx1"/>
                </a:solidFill>
                <a:latin typeface="+mn-lt"/>
              </a:rPr>
              <a:t>maximum theoretical </a:t>
            </a:r>
            <a:r>
              <a:rPr lang="en-GB" sz="2000" dirty="0">
                <a:solidFill>
                  <a:schemeClr val="tx1"/>
                </a:solidFill>
                <a:latin typeface="+mn-lt"/>
              </a:rPr>
              <a:t>amount as a </a:t>
            </a:r>
            <a:r>
              <a:rPr lang="en-GB" sz="2000" b="1" dirty="0">
                <a:solidFill>
                  <a:schemeClr val="tx1"/>
                </a:solidFill>
                <a:latin typeface="+mn-lt"/>
              </a:rPr>
              <a:t>percentage</a:t>
            </a:r>
            <a:r>
              <a:rPr lang="en-GB" sz="2000" dirty="0">
                <a:solidFill>
                  <a:schemeClr val="tx1"/>
                </a:solidFill>
                <a:latin typeface="+mn-lt"/>
              </a:rPr>
              <a:t>, it is called the </a:t>
            </a:r>
            <a:r>
              <a:rPr lang="en-GB" sz="2000" b="1" dirty="0">
                <a:solidFill>
                  <a:schemeClr val="tx1"/>
                </a:solidFill>
                <a:latin typeface="+mn-lt"/>
              </a:rPr>
              <a:t>percentage yield </a:t>
            </a:r>
            <a:r>
              <a:rPr lang="en-GB" sz="2000" dirty="0">
                <a:solidFill>
                  <a:schemeClr val="tx1"/>
                </a:solidFill>
                <a:latin typeface="+mn-lt"/>
              </a:rPr>
              <a:t>and is calculated as</a:t>
            </a:r>
            <a:r>
              <a:rPr lang="en-GB" sz="2000" dirty="0" smtClean="0">
                <a:solidFill>
                  <a:schemeClr val="tx1"/>
                </a:solidFill>
                <a:latin typeface="+mn-lt"/>
              </a:rPr>
              <a:t>:                                          </a:t>
            </a:r>
            <a:endParaRPr lang="en-GB" sz="2000" dirty="0">
              <a:solidFill>
                <a:schemeClr val="tx1"/>
              </a:solidFill>
              <a:latin typeface="+mn-lt"/>
            </a:endParaRPr>
          </a:p>
          <a:p>
            <a:pPr algn="l"/>
            <a:r>
              <a:rPr lang="en-GB" sz="2000" b="1" dirty="0">
                <a:solidFill>
                  <a:schemeClr val="accent6">
                    <a:lumMod val="75000"/>
                  </a:schemeClr>
                </a:solidFill>
                <a:latin typeface="+mn-lt"/>
              </a:rPr>
              <a:t>               Percentage yield = </a:t>
            </a:r>
            <a:r>
              <a:rPr lang="en-GB" sz="2000" b="1" u="sng" dirty="0">
                <a:solidFill>
                  <a:schemeClr val="accent6">
                    <a:lumMod val="75000"/>
                  </a:schemeClr>
                </a:solidFill>
                <a:latin typeface="+mn-lt"/>
              </a:rPr>
              <a:t>    mass of product actually made       </a:t>
            </a:r>
            <a:r>
              <a:rPr lang="en-GB" sz="2000" b="1" dirty="0">
                <a:solidFill>
                  <a:schemeClr val="accent6">
                    <a:lumMod val="75000"/>
                  </a:schemeClr>
                </a:solidFill>
                <a:latin typeface="+mn-lt"/>
              </a:rPr>
              <a:t>   x    100</a:t>
            </a:r>
          </a:p>
          <a:p>
            <a:pPr algn="l"/>
            <a:r>
              <a:rPr lang="en-GB" sz="2000" b="1" dirty="0">
                <a:solidFill>
                  <a:schemeClr val="accent6">
                    <a:lumMod val="75000"/>
                  </a:schemeClr>
                </a:solidFill>
                <a:latin typeface="+mn-lt"/>
              </a:rPr>
              <a:t>                                               maximum theoretical mass of product</a:t>
            </a:r>
          </a:p>
        </p:txBody>
      </p:sp>
      <p:sp>
        <p:nvSpPr>
          <p:cNvPr id="7" name="Content Placeholder 2">
            <a:extLst>
              <a:ext uri="{FF2B5EF4-FFF2-40B4-BE49-F238E27FC236}">
                <a16:creationId xmlns:a16="http://schemas.microsoft.com/office/drawing/2014/main" xmlns="" id="{446E6FEA-7B26-4FD1-A966-4EE3DD7091BF}"/>
              </a:ext>
            </a:extLst>
          </p:cNvPr>
          <p:cNvSpPr txBox="1">
            <a:spLocks/>
          </p:cNvSpPr>
          <p:nvPr/>
        </p:nvSpPr>
        <p:spPr>
          <a:xfrm>
            <a:off x="251520" y="2423754"/>
            <a:ext cx="4032448" cy="4029582"/>
          </a:xfrm>
          <a:prstGeom prst="rect">
            <a:avLst/>
          </a:prstGeom>
          <a:solidFill>
            <a:schemeClr val="accent6">
              <a:lumMod val="20000"/>
              <a:lumOff val="80000"/>
            </a:schemeClr>
          </a:solidFill>
          <a:ln>
            <a:solidFill>
              <a:schemeClr val="accent6">
                <a:lumMod val="75000"/>
                <a:alpha val="80000"/>
              </a:schemeClr>
            </a:solidFill>
          </a:ln>
        </p:spPr>
        <p:txBody>
          <a:bodyPr vert="horz" lIns="91440" tIns="45720" rIns="91440" bIns="45720" rtlCol="0">
            <a:no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News Gothic MT"/>
                <a:ea typeface="+mn-ea"/>
                <a:cs typeface="News Gothic MT"/>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News Gothic MT"/>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News Gothic MT"/>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r>
              <a:rPr lang="en-GB" sz="2000" dirty="0">
                <a:solidFill>
                  <a:schemeClr val="tx1"/>
                </a:solidFill>
                <a:latin typeface="+mn-lt"/>
              </a:rPr>
              <a:t>A piece of sodium metal is heated in chlorine gas.  A maximum theoretical mass of 10g for sodium chloride was calculated, but the actual yield was only 8g. </a:t>
            </a:r>
          </a:p>
          <a:p>
            <a:r>
              <a:rPr lang="en-GB" sz="2000" i="1" dirty="0">
                <a:solidFill>
                  <a:schemeClr val="tx1"/>
                </a:solidFill>
                <a:latin typeface="+mn-lt"/>
              </a:rPr>
              <a:t>Calculate the percentage yield. </a:t>
            </a:r>
          </a:p>
          <a:p>
            <a:r>
              <a:rPr lang="en-GB" sz="2000" dirty="0">
                <a:solidFill>
                  <a:schemeClr val="tx1"/>
                </a:solidFill>
              </a:rPr>
              <a:t>    </a:t>
            </a:r>
            <a:r>
              <a:rPr lang="en-GB" sz="2000" dirty="0" smtClean="0">
                <a:solidFill>
                  <a:schemeClr val="tx1"/>
                </a:solidFill>
              </a:rPr>
              <a:t>                                     </a:t>
            </a:r>
            <a:endParaRPr lang="en-GB" sz="2000" dirty="0">
              <a:solidFill>
                <a:schemeClr val="tx1"/>
              </a:solidFill>
            </a:endParaRPr>
          </a:p>
          <a:p>
            <a:pPr algn="l"/>
            <a:r>
              <a:rPr lang="en-GB" sz="2000" b="1" dirty="0">
                <a:solidFill>
                  <a:schemeClr val="accent6">
                    <a:lumMod val="75000"/>
                  </a:schemeClr>
                </a:solidFill>
                <a:latin typeface="+mn-lt"/>
              </a:rPr>
              <a:t>   P</a:t>
            </a:r>
            <a:r>
              <a:rPr lang="en-GB" sz="2000" b="1" dirty="0">
                <a:solidFill>
                  <a:schemeClr val="accent6">
                    <a:lumMod val="75000"/>
                  </a:schemeClr>
                </a:solidFill>
              </a:rPr>
              <a:t>ercentage </a:t>
            </a:r>
            <a:r>
              <a:rPr lang="en-GB" sz="2000" b="1" dirty="0">
                <a:solidFill>
                  <a:schemeClr val="accent6">
                    <a:lumMod val="75000"/>
                  </a:schemeClr>
                </a:solidFill>
                <a:latin typeface="+mn-lt"/>
              </a:rPr>
              <a:t>yield = 8/10 x 100</a:t>
            </a:r>
          </a:p>
          <a:p>
            <a:pPr algn="l"/>
            <a:r>
              <a:rPr lang="en-GB" sz="2000" b="1" dirty="0">
                <a:solidFill>
                  <a:schemeClr val="accent6">
                    <a:lumMod val="75000"/>
                  </a:schemeClr>
                </a:solidFill>
                <a:latin typeface="+mn-lt"/>
              </a:rPr>
              <a:t>                                   = 80%</a:t>
            </a:r>
          </a:p>
          <a:p>
            <a:pPr algn="l"/>
            <a:endParaRPr lang="en-GB" sz="2000" b="1" dirty="0">
              <a:solidFill>
                <a:schemeClr val="accent6">
                  <a:lumMod val="75000"/>
                </a:schemeClr>
              </a:solidFill>
              <a:latin typeface="+mn-lt"/>
            </a:endParaRPr>
          </a:p>
          <a:p>
            <a:r>
              <a:rPr lang="en-GB" sz="2000" dirty="0">
                <a:solidFill>
                  <a:schemeClr val="tx1"/>
                </a:solidFill>
                <a:latin typeface="+mn-lt"/>
              </a:rPr>
              <a:t>This means the percentage yield is 80%</a:t>
            </a:r>
            <a:endParaRPr lang="en-GB" sz="2000" b="1" u="sng" dirty="0">
              <a:solidFill>
                <a:schemeClr val="tx1"/>
              </a:solidFill>
              <a:latin typeface="+mn-lt"/>
            </a:endParaRPr>
          </a:p>
          <a:p>
            <a:pPr algn="l"/>
            <a:endParaRPr lang="en-GB" sz="1800" b="1" dirty="0">
              <a:solidFill>
                <a:schemeClr val="accent6">
                  <a:lumMod val="75000"/>
                </a:schemeClr>
              </a:solidFill>
              <a:latin typeface="+mn-lt"/>
            </a:endParaRPr>
          </a:p>
        </p:txBody>
      </p:sp>
      <p:sp>
        <p:nvSpPr>
          <p:cNvPr id="9" name="Content Placeholder 2">
            <a:extLst>
              <a:ext uri="{FF2B5EF4-FFF2-40B4-BE49-F238E27FC236}">
                <a16:creationId xmlns:a16="http://schemas.microsoft.com/office/drawing/2014/main" xmlns="" id="{E7FC654E-07B8-450F-A5CE-BA2E97E9DC20}"/>
              </a:ext>
            </a:extLst>
          </p:cNvPr>
          <p:cNvSpPr txBox="1">
            <a:spLocks/>
          </p:cNvSpPr>
          <p:nvPr/>
        </p:nvSpPr>
        <p:spPr>
          <a:xfrm>
            <a:off x="4419600" y="2423754"/>
            <a:ext cx="4472880" cy="4029582"/>
          </a:xfrm>
          <a:prstGeom prst="rect">
            <a:avLst/>
          </a:prstGeom>
          <a:solidFill>
            <a:schemeClr val="accent6">
              <a:lumMod val="20000"/>
              <a:lumOff val="80000"/>
            </a:schemeClr>
          </a:solidFill>
          <a:ln>
            <a:solidFill>
              <a:schemeClr val="accent6">
                <a:lumMod val="75000"/>
                <a:alpha val="80000"/>
              </a:schemeClr>
            </a:solidFill>
          </a:ln>
        </p:spPr>
        <p:txBody>
          <a:bodyPr vert="horz" lIns="91440" tIns="45720" rIns="91440" bIns="45720" rtlCol="0">
            <a:no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News Gothic MT"/>
                <a:ea typeface="+mn-ea"/>
                <a:cs typeface="News Gothic MT"/>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News Gothic MT"/>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News Gothic MT"/>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News Gothic MT"/>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algn="l"/>
            <a:r>
              <a:rPr lang="en-GB" sz="2000" b="1" dirty="0">
                <a:solidFill>
                  <a:schemeClr val="tx1"/>
                </a:solidFill>
                <a:latin typeface="+mn-lt"/>
              </a:rPr>
              <a:t>HIGHER:</a:t>
            </a:r>
          </a:p>
          <a:p>
            <a:r>
              <a:rPr lang="en-GB" sz="2000" dirty="0">
                <a:solidFill>
                  <a:schemeClr val="tx1"/>
                </a:solidFill>
                <a:latin typeface="+mn-lt"/>
              </a:rPr>
              <a:t>200g of calcium carbonate is heated.  It decomposes to make calcium oxide and carbon dioxide.  </a:t>
            </a:r>
            <a:r>
              <a:rPr lang="en-GB" sz="2000" i="1" dirty="0">
                <a:solidFill>
                  <a:schemeClr val="tx1"/>
                </a:solidFill>
                <a:latin typeface="+mn-lt"/>
              </a:rPr>
              <a:t>Calculate the theoretical mass of calcium oxide made.</a:t>
            </a:r>
          </a:p>
          <a:p>
            <a:r>
              <a:rPr lang="en-GB" sz="2000" dirty="0">
                <a:solidFill>
                  <a:schemeClr val="tx1"/>
                </a:solidFill>
              </a:rPr>
              <a:t>                                          </a:t>
            </a:r>
          </a:p>
          <a:p>
            <a:pPr algn="l"/>
            <a:r>
              <a:rPr lang="en-GB" sz="2000" b="1" dirty="0">
                <a:solidFill>
                  <a:schemeClr val="accent6">
                    <a:lumMod val="75000"/>
                  </a:schemeClr>
                </a:solidFill>
                <a:latin typeface="+mn-lt"/>
              </a:rPr>
              <a:t>                  CaCO</a:t>
            </a:r>
            <a:r>
              <a:rPr lang="en-GB" sz="2000" b="1" baseline="-25000" dirty="0">
                <a:solidFill>
                  <a:schemeClr val="accent6">
                    <a:lumMod val="75000"/>
                  </a:schemeClr>
                </a:solidFill>
                <a:latin typeface="+mn-lt"/>
              </a:rPr>
              <a:t>3</a:t>
            </a:r>
            <a:r>
              <a:rPr lang="en-GB" sz="2000" b="1" dirty="0">
                <a:solidFill>
                  <a:schemeClr val="accent6">
                    <a:lumMod val="75000"/>
                  </a:schemeClr>
                </a:solidFill>
                <a:latin typeface="+mn-lt"/>
              </a:rPr>
              <a:t> </a:t>
            </a:r>
            <a:r>
              <a:rPr lang="en-GB" sz="2000" b="1" dirty="0">
                <a:solidFill>
                  <a:schemeClr val="accent6">
                    <a:lumMod val="75000"/>
                  </a:schemeClr>
                </a:solidFill>
                <a:latin typeface="+mn-lt"/>
                <a:sym typeface="Wingdings" panose="05000000000000000000" pitchFamily="2" charset="2"/>
              </a:rPr>
              <a:t> </a:t>
            </a:r>
            <a:r>
              <a:rPr lang="en-GB" sz="2000" b="1" dirty="0" err="1">
                <a:solidFill>
                  <a:schemeClr val="accent6">
                    <a:lumMod val="75000"/>
                  </a:schemeClr>
                </a:solidFill>
                <a:latin typeface="+mn-lt"/>
                <a:sym typeface="Wingdings" panose="05000000000000000000" pitchFamily="2" charset="2"/>
              </a:rPr>
              <a:t>CaO</a:t>
            </a:r>
            <a:r>
              <a:rPr lang="en-GB" sz="2000" b="1" dirty="0">
                <a:solidFill>
                  <a:schemeClr val="accent6">
                    <a:lumMod val="75000"/>
                  </a:schemeClr>
                </a:solidFill>
                <a:latin typeface="+mn-lt"/>
                <a:sym typeface="Wingdings" panose="05000000000000000000" pitchFamily="2" charset="2"/>
              </a:rPr>
              <a:t> + CO</a:t>
            </a:r>
            <a:r>
              <a:rPr lang="en-GB" sz="2000" b="1" baseline="-25000" dirty="0">
                <a:solidFill>
                  <a:schemeClr val="accent6">
                    <a:lumMod val="75000"/>
                  </a:schemeClr>
                </a:solidFill>
                <a:latin typeface="+mn-lt"/>
                <a:sym typeface="Wingdings" panose="05000000000000000000" pitchFamily="2" charset="2"/>
              </a:rPr>
              <a:t>2</a:t>
            </a:r>
            <a:endParaRPr lang="en-GB" sz="2000" b="1" baseline="-25000" dirty="0">
              <a:solidFill>
                <a:schemeClr val="accent6">
                  <a:lumMod val="75000"/>
                </a:schemeClr>
              </a:solidFill>
              <a:latin typeface="+mn-lt"/>
            </a:endParaRPr>
          </a:p>
          <a:p>
            <a:pPr algn="l"/>
            <a:r>
              <a:rPr lang="en-GB" sz="2000" b="1" dirty="0">
                <a:solidFill>
                  <a:schemeClr val="accent6">
                    <a:lumMod val="75000"/>
                  </a:schemeClr>
                </a:solidFill>
                <a:latin typeface="+mn-lt"/>
              </a:rPr>
              <a:t>M</a:t>
            </a:r>
            <a:r>
              <a:rPr lang="en-GB" sz="2000" b="1" baseline="-25000" dirty="0">
                <a:solidFill>
                  <a:schemeClr val="accent6">
                    <a:lumMod val="75000"/>
                  </a:schemeClr>
                </a:solidFill>
                <a:latin typeface="+mn-lt"/>
              </a:rPr>
              <a:t>r</a:t>
            </a:r>
            <a:r>
              <a:rPr lang="en-GB" sz="2000" b="1" dirty="0">
                <a:solidFill>
                  <a:schemeClr val="accent6">
                    <a:lumMod val="75000"/>
                  </a:schemeClr>
                </a:solidFill>
                <a:latin typeface="+mn-lt"/>
              </a:rPr>
              <a:t> of  CaCO</a:t>
            </a:r>
            <a:r>
              <a:rPr lang="en-GB" sz="2000" b="1" baseline="-25000" dirty="0">
                <a:solidFill>
                  <a:schemeClr val="accent6">
                    <a:lumMod val="75000"/>
                  </a:schemeClr>
                </a:solidFill>
                <a:latin typeface="+mn-lt"/>
              </a:rPr>
              <a:t>3</a:t>
            </a:r>
            <a:r>
              <a:rPr lang="en-GB" sz="2000" b="1" dirty="0">
                <a:solidFill>
                  <a:schemeClr val="accent6">
                    <a:lumMod val="75000"/>
                  </a:schemeClr>
                </a:solidFill>
                <a:latin typeface="+mn-lt"/>
              </a:rPr>
              <a:t> = 40 + 12 + (16x3) = 100</a:t>
            </a:r>
          </a:p>
          <a:p>
            <a:pPr algn="l"/>
            <a:r>
              <a:rPr lang="en-GB" sz="2000" b="1" dirty="0">
                <a:solidFill>
                  <a:schemeClr val="accent6">
                    <a:lumMod val="75000"/>
                  </a:schemeClr>
                </a:solidFill>
                <a:latin typeface="+mn-lt"/>
              </a:rPr>
              <a:t>M</a:t>
            </a:r>
            <a:r>
              <a:rPr lang="en-GB" sz="2000" b="1" baseline="-25000" dirty="0">
                <a:solidFill>
                  <a:schemeClr val="accent6">
                    <a:lumMod val="75000"/>
                  </a:schemeClr>
                </a:solidFill>
                <a:latin typeface="+mn-lt"/>
              </a:rPr>
              <a:t>r</a:t>
            </a:r>
            <a:r>
              <a:rPr lang="en-GB" sz="2000" b="1" dirty="0">
                <a:solidFill>
                  <a:schemeClr val="accent6">
                    <a:lumMod val="75000"/>
                  </a:schemeClr>
                </a:solidFill>
                <a:latin typeface="+mn-lt"/>
              </a:rPr>
              <a:t> of </a:t>
            </a:r>
            <a:r>
              <a:rPr lang="en-GB" sz="2000" b="1" dirty="0" err="1">
                <a:solidFill>
                  <a:schemeClr val="accent6">
                    <a:lumMod val="75000"/>
                  </a:schemeClr>
                </a:solidFill>
                <a:latin typeface="+mn-lt"/>
              </a:rPr>
              <a:t>CaO</a:t>
            </a:r>
            <a:r>
              <a:rPr lang="en-GB" sz="2000" b="1" dirty="0">
                <a:solidFill>
                  <a:schemeClr val="accent6">
                    <a:lumMod val="75000"/>
                  </a:schemeClr>
                </a:solidFill>
                <a:latin typeface="+mn-lt"/>
              </a:rPr>
              <a:t>      = 40 + 16 = 56</a:t>
            </a:r>
          </a:p>
          <a:p>
            <a:r>
              <a:rPr lang="en-GB" sz="2000" dirty="0">
                <a:solidFill>
                  <a:schemeClr val="tx1"/>
                </a:solidFill>
                <a:latin typeface="+mn-lt"/>
              </a:rPr>
              <a:t>100g of CaCO</a:t>
            </a:r>
            <a:r>
              <a:rPr lang="en-GB" sz="2000" baseline="-25000" dirty="0">
                <a:solidFill>
                  <a:schemeClr val="tx1"/>
                </a:solidFill>
                <a:latin typeface="+mn-lt"/>
              </a:rPr>
              <a:t>3</a:t>
            </a:r>
            <a:r>
              <a:rPr lang="en-GB" sz="2000" dirty="0">
                <a:solidFill>
                  <a:schemeClr val="tx1"/>
                </a:solidFill>
                <a:latin typeface="+mn-lt"/>
              </a:rPr>
              <a:t> would make 56 g of </a:t>
            </a:r>
            <a:r>
              <a:rPr lang="en-GB" sz="2000" dirty="0" err="1">
                <a:solidFill>
                  <a:schemeClr val="tx1"/>
                </a:solidFill>
                <a:latin typeface="+mn-lt"/>
              </a:rPr>
              <a:t>CaO</a:t>
            </a:r>
            <a:endParaRPr lang="en-GB" sz="2000" dirty="0">
              <a:solidFill>
                <a:schemeClr val="tx1"/>
              </a:solidFill>
              <a:latin typeface="+mn-lt"/>
            </a:endParaRPr>
          </a:p>
          <a:p>
            <a:r>
              <a:rPr lang="en-GB" sz="2000" dirty="0">
                <a:solidFill>
                  <a:schemeClr val="tx1"/>
                </a:solidFill>
                <a:latin typeface="+mn-lt"/>
              </a:rPr>
              <a:t>So 200g would make 112g</a:t>
            </a:r>
          </a:p>
          <a:p>
            <a:pPr algn="l"/>
            <a:endParaRPr lang="en-GB" sz="1800" dirty="0">
              <a:solidFill>
                <a:schemeClr val="accent6">
                  <a:lumMod val="75000"/>
                </a:schemeClr>
              </a:solidFill>
              <a:latin typeface="+mn-lt"/>
            </a:endParaRPr>
          </a:p>
        </p:txBody>
      </p:sp>
    </p:spTree>
    <p:extLst>
      <p:ext uri="{BB962C8B-B14F-4D97-AF65-F5344CB8AC3E}">
        <p14:creationId xmlns:p14="http://schemas.microsoft.com/office/powerpoint/2010/main" val="14715827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Yield and atom economy - CHEMISTRY ONLY</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152400" y="702339"/>
            <a:ext cx="8884096" cy="2246769"/>
          </a:xfrm>
          <a:prstGeom prst="rect">
            <a:avLst/>
          </a:prstGeom>
          <a:noFill/>
          <a:ln>
            <a:solidFill>
              <a:schemeClr val="bg1"/>
            </a:solidFill>
          </a:ln>
        </p:spPr>
        <p:txBody>
          <a:bodyPr wrap="square" rtlCol="0">
            <a:spAutoFit/>
          </a:bodyPr>
          <a:lstStyle/>
          <a:p>
            <a:pPr algn="ctr"/>
            <a:r>
              <a:rPr lang="en-GB" sz="2000" dirty="0"/>
              <a:t>The </a:t>
            </a:r>
            <a:r>
              <a:rPr lang="en-GB" sz="2000" b="1" dirty="0"/>
              <a:t>atom economy (atom utilisation) </a:t>
            </a:r>
            <a:r>
              <a:rPr lang="en-GB" sz="2000" dirty="0"/>
              <a:t>is a measure of the </a:t>
            </a:r>
            <a:r>
              <a:rPr lang="en-GB" sz="2000" b="1" dirty="0"/>
              <a:t>amount </a:t>
            </a:r>
            <a:r>
              <a:rPr lang="en-GB" sz="2000" dirty="0"/>
              <a:t>of </a:t>
            </a:r>
            <a:r>
              <a:rPr lang="en-GB" sz="2000" b="1" dirty="0"/>
              <a:t>starting materials </a:t>
            </a:r>
            <a:r>
              <a:rPr lang="en-GB" sz="2000" dirty="0"/>
              <a:t>that end up as </a:t>
            </a:r>
            <a:r>
              <a:rPr lang="en-GB" sz="2000" b="1" dirty="0"/>
              <a:t>useful products</a:t>
            </a:r>
            <a:r>
              <a:rPr lang="en-GB" sz="2000" dirty="0"/>
              <a:t>.  It is important for </a:t>
            </a:r>
            <a:r>
              <a:rPr lang="en-GB" sz="2000" b="1" dirty="0"/>
              <a:t>sustainable development </a:t>
            </a:r>
            <a:r>
              <a:rPr lang="en-GB" sz="2000" dirty="0"/>
              <a:t>and for </a:t>
            </a:r>
            <a:r>
              <a:rPr lang="en-GB" sz="2000" b="1" dirty="0"/>
              <a:t>economic reasons </a:t>
            </a:r>
            <a:r>
              <a:rPr lang="en-GB" sz="2000" dirty="0"/>
              <a:t>to use reactions with </a:t>
            </a:r>
            <a:r>
              <a:rPr lang="en-GB" sz="2000" b="1" dirty="0"/>
              <a:t>high atom economy</a:t>
            </a:r>
            <a:r>
              <a:rPr lang="en-GB" sz="2000" dirty="0"/>
              <a:t>.  The percentage atom economy is calculated using a </a:t>
            </a:r>
            <a:r>
              <a:rPr lang="en-GB" sz="2000" b="1" dirty="0"/>
              <a:t>balanced equation </a:t>
            </a:r>
            <a:r>
              <a:rPr lang="en-GB" sz="2000" dirty="0"/>
              <a:t>for the reaction as follows:</a:t>
            </a:r>
          </a:p>
          <a:p>
            <a:r>
              <a:rPr lang="en-GB" sz="2000" b="1" dirty="0">
                <a:solidFill>
                  <a:schemeClr val="accent6">
                    <a:lumMod val="75000"/>
                  </a:schemeClr>
                </a:solidFill>
              </a:rPr>
              <a:t>                    </a:t>
            </a:r>
            <a:r>
              <a:rPr lang="en-GB" sz="2000" b="1" u="sng" dirty="0">
                <a:solidFill>
                  <a:schemeClr val="accent6">
                    <a:lumMod val="75000"/>
                  </a:schemeClr>
                </a:solidFill>
              </a:rPr>
              <a:t>   Relative formula mass of desired product from equation   </a:t>
            </a:r>
            <a:r>
              <a:rPr lang="en-GB" sz="2000" b="1" dirty="0">
                <a:solidFill>
                  <a:schemeClr val="accent6">
                    <a:lumMod val="75000"/>
                  </a:schemeClr>
                </a:solidFill>
              </a:rPr>
              <a:t>   x   100</a:t>
            </a:r>
          </a:p>
          <a:p>
            <a:r>
              <a:rPr lang="en-GB" sz="2000" b="1" dirty="0">
                <a:solidFill>
                  <a:schemeClr val="accent6">
                    <a:lumMod val="75000"/>
                  </a:schemeClr>
                </a:solidFill>
              </a:rPr>
              <a:t>                    Sum of relative formula mass of all reactants from equation</a:t>
            </a:r>
          </a:p>
        </p:txBody>
      </p:sp>
      <p:sp>
        <p:nvSpPr>
          <p:cNvPr id="5" name="Rectangle 4">
            <a:extLst>
              <a:ext uri="{FF2B5EF4-FFF2-40B4-BE49-F238E27FC236}">
                <a16:creationId xmlns:a16="http://schemas.microsoft.com/office/drawing/2014/main" xmlns="" id="{44BB4903-CB3E-425C-9E8D-8AC8820396EB}"/>
              </a:ext>
            </a:extLst>
          </p:cNvPr>
          <p:cNvSpPr/>
          <p:nvPr/>
        </p:nvSpPr>
        <p:spPr>
          <a:xfrm>
            <a:off x="91706" y="2958751"/>
            <a:ext cx="8944790" cy="2554545"/>
          </a:xfrm>
          <a:prstGeom prst="rect">
            <a:avLst/>
          </a:prstGeom>
          <a:solidFill>
            <a:schemeClr val="accent6">
              <a:lumMod val="20000"/>
              <a:lumOff val="80000"/>
            </a:schemeClr>
          </a:solidFill>
          <a:ln>
            <a:solidFill>
              <a:schemeClr val="accent6">
                <a:lumMod val="75000"/>
              </a:schemeClr>
            </a:solidFill>
          </a:ln>
        </p:spPr>
        <p:txBody>
          <a:bodyPr wrap="square">
            <a:spAutoFit/>
          </a:bodyPr>
          <a:lstStyle/>
          <a:p>
            <a:pPr algn="ctr"/>
            <a:r>
              <a:rPr lang="en-GB" sz="2000" dirty="0">
                <a:solidFill>
                  <a:srgbClr val="333333"/>
                </a:solidFill>
              </a:rPr>
              <a:t>Calculate the atom economy for making hydrogen by reacting zinc with hydrochloric acid: </a:t>
            </a:r>
          </a:p>
          <a:p>
            <a:pPr algn="ctr"/>
            <a:r>
              <a:rPr lang="en-GB" sz="2000" b="1" dirty="0"/>
              <a:t>Zn + </a:t>
            </a:r>
            <a:r>
              <a:rPr lang="en-GB" sz="2000" b="1" dirty="0">
                <a:solidFill>
                  <a:schemeClr val="accent6">
                    <a:lumMod val="75000"/>
                  </a:schemeClr>
                </a:solidFill>
              </a:rPr>
              <a:t>2</a:t>
            </a:r>
            <a:r>
              <a:rPr lang="en-GB" sz="2000" b="1" dirty="0"/>
              <a:t>HCl → ZnCl</a:t>
            </a:r>
            <a:r>
              <a:rPr lang="en-GB" sz="2000" b="1" baseline="-25000" dirty="0"/>
              <a:t>2</a:t>
            </a:r>
            <a:r>
              <a:rPr lang="en-GB" sz="2000" b="1" dirty="0"/>
              <a:t> + </a:t>
            </a:r>
            <a:r>
              <a:rPr lang="en-GB" sz="2000" b="1" dirty="0" smtClean="0"/>
              <a:t>H</a:t>
            </a:r>
            <a:r>
              <a:rPr lang="en-GB" sz="2000" b="1" baseline="-25000" dirty="0" smtClean="0"/>
              <a:t>2</a:t>
            </a:r>
            <a:endParaRPr lang="en-GB" sz="2000" b="1" dirty="0">
              <a:solidFill>
                <a:schemeClr val="accent6">
                  <a:lumMod val="75000"/>
                </a:schemeClr>
              </a:solidFill>
            </a:endParaRP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of H</a:t>
            </a:r>
            <a:r>
              <a:rPr lang="en-GB" sz="2000" b="1" baseline="-25000" dirty="0">
                <a:solidFill>
                  <a:schemeClr val="accent6">
                    <a:lumMod val="75000"/>
                  </a:schemeClr>
                </a:solidFill>
              </a:rPr>
              <a:t>2       </a:t>
            </a:r>
            <a:r>
              <a:rPr lang="en-GB" sz="2000" b="1" dirty="0">
                <a:solidFill>
                  <a:schemeClr val="accent6">
                    <a:lumMod val="75000"/>
                  </a:schemeClr>
                </a:solidFill>
              </a:rPr>
              <a:t> = 1 + 1 = 2</a:t>
            </a: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of ZnCl</a:t>
            </a:r>
            <a:r>
              <a:rPr lang="en-GB" sz="2000" b="1" baseline="-25000" dirty="0">
                <a:solidFill>
                  <a:schemeClr val="accent6">
                    <a:lumMod val="75000"/>
                  </a:schemeClr>
                </a:solidFill>
              </a:rPr>
              <a:t>2</a:t>
            </a:r>
            <a:r>
              <a:rPr lang="en-GB" sz="2000" b="1" dirty="0">
                <a:solidFill>
                  <a:schemeClr val="accent6">
                    <a:lumMod val="75000"/>
                  </a:schemeClr>
                </a:solidFill>
              </a:rPr>
              <a:t> = 65 + 35.5 + 35.5 = </a:t>
            </a:r>
            <a:r>
              <a:rPr lang="en-GB" sz="2000" b="1" dirty="0" smtClean="0">
                <a:solidFill>
                  <a:schemeClr val="accent6">
                    <a:lumMod val="75000"/>
                  </a:schemeClr>
                </a:solidFill>
              </a:rPr>
              <a:t>136</a:t>
            </a:r>
            <a:endParaRPr lang="en-GB" sz="2000" b="1" dirty="0">
              <a:solidFill>
                <a:schemeClr val="accent6">
                  <a:lumMod val="75000"/>
                </a:schemeClr>
              </a:solidFill>
            </a:endParaRPr>
          </a:p>
          <a:p>
            <a:r>
              <a:rPr lang="en-GB" sz="2000" b="1" dirty="0">
                <a:solidFill>
                  <a:schemeClr val="accent6">
                    <a:lumMod val="75000"/>
                  </a:schemeClr>
                </a:solidFill>
              </a:rPr>
              <a:t>Atom economy = </a:t>
            </a:r>
            <a:r>
              <a:rPr lang="en-GB" sz="2000" b="1" baseline="30000" dirty="0">
                <a:solidFill>
                  <a:schemeClr val="accent6">
                    <a:lumMod val="75000"/>
                  </a:schemeClr>
                </a:solidFill>
              </a:rPr>
              <a:t>2</a:t>
            </a:r>
            <a:r>
              <a:rPr lang="en-GB" sz="2000" b="1" dirty="0">
                <a:solidFill>
                  <a:schemeClr val="accent6">
                    <a:lumMod val="75000"/>
                  </a:schemeClr>
                </a:solidFill>
              </a:rPr>
              <a:t>∕</a:t>
            </a:r>
            <a:r>
              <a:rPr lang="en-GB" sz="2000" b="1" baseline="-25000" dirty="0">
                <a:solidFill>
                  <a:schemeClr val="accent6">
                    <a:lumMod val="75000"/>
                  </a:schemeClr>
                </a:solidFill>
              </a:rPr>
              <a:t>136 + 2</a:t>
            </a:r>
            <a:r>
              <a:rPr lang="en-GB" sz="2000" b="1" dirty="0">
                <a:solidFill>
                  <a:schemeClr val="accent6">
                    <a:lumMod val="75000"/>
                  </a:schemeClr>
                </a:solidFill>
              </a:rPr>
              <a:t> × 100 </a:t>
            </a:r>
          </a:p>
          <a:p>
            <a:r>
              <a:rPr lang="en-GB" sz="2000" b="1" dirty="0">
                <a:solidFill>
                  <a:schemeClr val="accent6">
                    <a:lumMod val="75000"/>
                  </a:schemeClr>
                </a:solidFill>
              </a:rPr>
              <a:t>                             = </a:t>
            </a:r>
            <a:r>
              <a:rPr lang="en-GB" sz="2000" b="1" baseline="30000" dirty="0">
                <a:solidFill>
                  <a:schemeClr val="accent6">
                    <a:lumMod val="75000"/>
                  </a:schemeClr>
                </a:solidFill>
              </a:rPr>
              <a:t>2</a:t>
            </a:r>
            <a:r>
              <a:rPr lang="en-GB" sz="2000" b="1" dirty="0">
                <a:solidFill>
                  <a:schemeClr val="accent6">
                    <a:lumMod val="75000"/>
                  </a:schemeClr>
                </a:solidFill>
              </a:rPr>
              <a:t>∕</a:t>
            </a:r>
            <a:r>
              <a:rPr lang="en-GB" sz="2000" b="1" baseline="-25000" dirty="0">
                <a:solidFill>
                  <a:schemeClr val="accent6">
                    <a:lumMod val="75000"/>
                  </a:schemeClr>
                </a:solidFill>
              </a:rPr>
              <a:t>138</a:t>
            </a:r>
            <a:r>
              <a:rPr lang="en-GB" sz="2000" b="1" dirty="0">
                <a:solidFill>
                  <a:schemeClr val="accent6">
                    <a:lumMod val="75000"/>
                  </a:schemeClr>
                </a:solidFill>
              </a:rPr>
              <a:t> × 100  = 1.45</a:t>
            </a:r>
            <a:r>
              <a:rPr lang="en-GB" sz="2000" b="1" dirty="0" smtClean="0">
                <a:solidFill>
                  <a:schemeClr val="accent6">
                    <a:lumMod val="75000"/>
                  </a:schemeClr>
                </a:solidFill>
              </a:rPr>
              <a:t>%</a:t>
            </a:r>
            <a:endParaRPr lang="en-GB" sz="2000" b="1" i="0" dirty="0">
              <a:solidFill>
                <a:schemeClr val="accent6">
                  <a:lumMod val="75000"/>
                </a:schemeClr>
              </a:solidFill>
              <a:effectLst/>
            </a:endParaRPr>
          </a:p>
          <a:p>
            <a:r>
              <a:rPr lang="en-GB" sz="2000" dirty="0"/>
              <a:t>This method is unlikely to be chosen as it has a low atom economy.</a:t>
            </a:r>
            <a:endParaRPr lang="en-GB" sz="2000" i="0" dirty="0">
              <a:effectLst/>
            </a:endParaRPr>
          </a:p>
        </p:txBody>
      </p:sp>
      <p:sp>
        <p:nvSpPr>
          <p:cNvPr id="6" name="TextBox 5">
            <a:extLst>
              <a:ext uri="{FF2B5EF4-FFF2-40B4-BE49-F238E27FC236}">
                <a16:creationId xmlns:a16="http://schemas.microsoft.com/office/drawing/2014/main" xmlns="" id="{551F2B27-7247-4B00-8A85-64D74916B329}"/>
              </a:ext>
            </a:extLst>
          </p:cNvPr>
          <p:cNvSpPr txBox="1"/>
          <p:nvPr/>
        </p:nvSpPr>
        <p:spPr>
          <a:xfrm>
            <a:off x="91706" y="2304492"/>
            <a:ext cx="1039708" cy="369332"/>
          </a:xfrm>
          <a:prstGeom prst="rect">
            <a:avLst/>
          </a:prstGeom>
          <a:noFill/>
        </p:spPr>
        <p:txBody>
          <a:bodyPr wrap="none" rtlCol="0">
            <a:spAutoFit/>
          </a:bodyPr>
          <a:lstStyle/>
          <a:p>
            <a:r>
              <a:rPr lang="en-GB" dirty="0"/>
              <a:t>Example:</a:t>
            </a:r>
          </a:p>
        </p:txBody>
      </p:sp>
      <p:sp>
        <p:nvSpPr>
          <p:cNvPr id="7" name="TextBox 6">
            <a:extLst>
              <a:ext uri="{FF2B5EF4-FFF2-40B4-BE49-F238E27FC236}">
                <a16:creationId xmlns:a16="http://schemas.microsoft.com/office/drawing/2014/main" xmlns="" id="{0F0AB96E-87D3-44D6-885D-7DA858083A41}"/>
              </a:ext>
            </a:extLst>
          </p:cNvPr>
          <p:cNvSpPr txBox="1"/>
          <p:nvPr/>
        </p:nvSpPr>
        <p:spPr>
          <a:xfrm>
            <a:off x="91705" y="5547292"/>
            <a:ext cx="8944791" cy="1015663"/>
          </a:xfrm>
          <a:prstGeom prst="rect">
            <a:avLst/>
          </a:prstGeom>
          <a:solidFill>
            <a:schemeClr val="bg1"/>
          </a:solidFill>
          <a:ln>
            <a:solidFill>
              <a:schemeClr val="bg1"/>
            </a:solidFill>
          </a:ln>
        </p:spPr>
        <p:txBody>
          <a:bodyPr wrap="square" rtlCol="0">
            <a:spAutoFit/>
          </a:bodyPr>
          <a:lstStyle/>
          <a:p>
            <a:pPr algn="ctr"/>
            <a:r>
              <a:rPr lang="en-GB" sz="2000" b="1" dirty="0" smtClean="0"/>
              <a:t>The </a:t>
            </a:r>
            <a:r>
              <a:rPr lang="en-GB" sz="2000" b="1" dirty="0"/>
              <a:t>less waste there is, the higher the atom economy, the less materials are wasted, less energy used, so making the process more economic, 'greener' and sustainable.</a:t>
            </a:r>
            <a:endParaRPr lang="en-GB" sz="2000" dirty="0"/>
          </a:p>
        </p:txBody>
      </p:sp>
    </p:spTree>
    <p:extLst>
      <p:ext uri="{BB962C8B-B14F-4D97-AF65-F5344CB8AC3E}">
        <p14:creationId xmlns:p14="http://schemas.microsoft.com/office/powerpoint/2010/main" val="32966677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5416868"/>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r>
              <a:rPr lang="en-GB" sz="3600" b="1" dirty="0">
                <a:solidFill>
                  <a:schemeClr val="tx1">
                    <a:lumMod val="50000"/>
                    <a:lumOff val="50000"/>
                  </a:schemeClr>
                </a:solidFill>
              </a:rPr>
              <a:t>Yield and </a:t>
            </a:r>
          </a:p>
          <a:p>
            <a:r>
              <a:rPr lang="en-GB" sz="3600" b="1" dirty="0">
                <a:solidFill>
                  <a:schemeClr val="tx1">
                    <a:lumMod val="50000"/>
                    <a:lumOff val="50000"/>
                  </a:schemeClr>
                </a:solidFill>
              </a:rPr>
              <a:t>atom economy</a:t>
            </a:r>
          </a:p>
          <a:p>
            <a:r>
              <a:rPr lang="en-GB" sz="3600" b="1" dirty="0">
                <a:solidFill>
                  <a:schemeClr val="tx1">
                    <a:lumMod val="50000"/>
                    <a:lumOff val="50000"/>
                  </a:schemeClr>
                </a:solidFill>
              </a:rPr>
              <a:t>PART 1</a:t>
            </a:r>
          </a:p>
          <a:p>
            <a:r>
              <a:rPr lang="en-GB" sz="3600" b="1" i="1" dirty="0">
                <a:solidFill>
                  <a:schemeClr val="tx1">
                    <a:lumMod val="50000"/>
                    <a:lumOff val="50000"/>
                  </a:schemeClr>
                </a:solidFill>
              </a:rPr>
              <a:t>CHEMISTRY ONLY</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Percentage yield</a:t>
            </a:r>
          </a:p>
          <a:p>
            <a:pPr marL="685800" lvl="1" indent="-342900">
              <a:buFont typeface="Arial" charset="0"/>
              <a:buChar char="•"/>
            </a:pPr>
            <a:r>
              <a:rPr lang="en-US" sz="2400" b="1" dirty="0">
                <a:solidFill>
                  <a:schemeClr val="bg1">
                    <a:lumMod val="50000"/>
                  </a:schemeClr>
                </a:solidFill>
              </a:rPr>
              <a:t>Atomy economy</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37236300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Yield and atom economy </a:t>
            </a:r>
            <a:r>
              <a:rPr lang="en-US" sz="2000" b="1" dirty="0">
                <a:solidFill>
                  <a:schemeClr val="accent6"/>
                </a:solidFill>
              </a:rPr>
              <a:t>(Chemistry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5139869"/>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What is meant by the term ‘yield’?</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What is the equation for calculating percentage yield?</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Give 2 reasons why it is not always possible to obtain the expected amount of product from a reaction.</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is meant by the term ‘atom economy’?</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kumimoji="0" lang="en-GB" sz="2400" b="0" i="0" u="none" strike="noStrike" kern="1200" cap="none" spc="0" normalizeH="0" baseline="0" noProof="0" dirty="0" smtClean="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Why is it important to use reactions with high atom economy?</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a:t>
            </a:r>
            <a:r>
              <a:rPr kumimoji="0" lang="en-GB" sz="2400" b="0" i="0" u="none" strike="noStrike" kern="1200" cap="none" spc="0" normalizeH="0" noProof="0" dirty="0" smtClean="0">
                <a:ln>
                  <a:noFill/>
                </a:ln>
                <a:solidFill>
                  <a:prstClr val="black"/>
                </a:solidFill>
                <a:effectLst/>
                <a:uLnTx/>
                <a:uFillTx/>
                <a:latin typeface="Calibri"/>
                <a:ea typeface="+mn-ea"/>
                <a:cs typeface="+mn-cs"/>
              </a:rPr>
              <a:t> is the equation for calculating the percentage atom economy from a balanced chemical equation?</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064847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Yield and atom economy </a:t>
            </a:r>
            <a:r>
              <a:rPr lang="en-US" sz="2000" b="1" dirty="0">
                <a:solidFill>
                  <a:schemeClr val="accent6"/>
                </a:solidFill>
              </a:rPr>
              <a:t>(Chemistry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440120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r>
              <a:rPr lang="en-GB" sz="2400" dirty="0">
                <a:solidFill>
                  <a:prstClr val="black"/>
                </a:solidFill>
                <a:latin typeface="Calibri"/>
              </a:rPr>
              <a:t>Magnesium is heated in air to make magnesium oxide.  Suggest why the actual yield might be less than the maximum theoretical yield.</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0"/>
            <a:r>
              <a:rPr lang="en-GB" sz="2400" b="1" dirty="0">
                <a:solidFill>
                  <a:srgbClr val="00B050"/>
                </a:solidFill>
              </a:rPr>
              <a:t>       </a:t>
            </a:r>
          </a:p>
          <a:p>
            <a:pPr lvl="0"/>
            <a:endParaRPr kumimoji="0" lang="en-GB" sz="2400" b="1" i="0" u="none" strike="noStrike" kern="1200" cap="none" spc="0" normalizeH="0" baseline="0" noProof="0" dirty="0">
              <a:ln>
                <a:noFill/>
              </a:ln>
              <a:solidFill>
                <a:srgbClr val="00B050"/>
              </a:solidFill>
              <a:effectLst/>
              <a:uLnTx/>
              <a:uFillTx/>
              <a:latin typeface="Calibri"/>
              <a:ea typeface="+mn-ea"/>
              <a:cs typeface="+mn-cs"/>
            </a:endParaRP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lvl="0" indent="-457200">
              <a:buFont typeface="+mj-lt"/>
              <a:buAutoNum type="arabicPeriod" startAt="8"/>
              <a:defRPr/>
            </a:pPr>
            <a:r>
              <a:rPr lang="en-GB" sz="2400" dirty="0"/>
              <a:t>In the neutralisation of sulfuric acid with sodium hydroxide, the theoretical yield from 13.8g of sulfuric acid is 20g. In a synthesis, the actual yield is 17.4g. What is the percentage yield for this synthesis?</a:t>
            </a:r>
          </a:p>
          <a:p>
            <a:r>
              <a:rPr lang="en-GB" sz="2400" b="1" dirty="0">
                <a:solidFill>
                  <a:srgbClr val="00B050"/>
                </a:solidFill>
              </a:rPr>
              <a:t>       </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216164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Yield and atom economy </a:t>
            </a:r>
            <a:r>
              <a:rPr lang="en-US" sz="2000" b="1" dirty="0">
                <a:solidFill>
                  <a:schemeClr val="accent6"/>
                </a:solidFill>
              </a:rPr>
              <a:t>(Chemistry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1446550"/>
          </a:xfrm>
          <a:prstGeom prst="rect">
            <a:avLst/>
          </a:prstGeom>
          <a:noFill/>
        </p:spPr>
        <p:txBody>
          <a:bodyPr wrap="square" rtlCol="0">
            <a:spAutoFit/>
          </a:bodyPr>
          <a:lstStyle/>
          <a:p>
            <a:pPr marL="457200" lvl="0" indent="-457200">
              <a:buFont typeface="+mj-lt"/>
              <a:buAutoNum type="arabicPeriod" startAt="9"/>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Calculate the atom economy for making </a:t>
            </a:r>
            <a:r>
              <a:rPr lang="en-GB" sz="2400" dirty="0"/>
              <a:t>hydrogen from methane  </a:t>
            </a:r>
          </a:p>
          <a:p>
            <a:pPr lvl="0">
              <a:defRPr/>
            </a:pPr>
            <a:r>
              <a:rPr lang="en-GB" sz="2400" dirty="0"/>
              <a:t>       and steam.</a:t>
            </a:r>
          </a:p>
          <a:p>
            <a:pPr lvl="0">
              <a:defRPr/>
            </a:pPr>
            <a:r>
              <a:rPr lang="en-GB" sz="2400" dirty="0"/>
              <a:t>                                           CH</a:t>
            </a:r>
            <a:r>
              <a:rPr lang="en-GB" sz="2400" baseline="-25000" dirty="0"/>
              <a:t>4</a:t>
            </a:r>
            <a:r>
              <a:rPr lang="en-GB" sz="2400" dirty="0"/>
              <a:t> + 2H</a:t>
            </a:r>
            <a:r>
              <a:rPr lang="en-GB" sz="2400" baseline="-25000" dirty="0"/>
              <a:t>2</a:t>
            </a:r>
            <a:r>
              <a:rPr lang="en-GB" sz="2400" dirty="0"/>
              <a:t>O → CO</a:t>
            </a:r>
            <a:r>
              <a:rPr lang="en-GB" sz="2400" baseline="-25000" dirty="0"/>
              <a:t>2</a:t>
            </a:r>
            <a:r>
              <a:rPr lang="en-GB" sz="2400" dirty="0"/>
              <a:t> + 4H</a:t>
            </a:r>
            <a:r>
              <a:rPr lang="en-GB" sz="2400" baseline="-25000" dirty="0"/>
              <a:t>2</a:t>
            </a:r>
            <a:endParaRPr lang="en-GB" sz="2400" dirty="0"/>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975287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693866"/>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Yield and </a:t>
            </a:r>
          </a:p>
          <a:p>
            <a:r>
              <a:rPr lang="en-GB" sz="3600" b="1" dirty="0">
                <a:solidFill>
                  <a:schemeClr val="tx1">
                    <a:lumMod val="50000"/>
                    <a:lumOff val="50000"/>
                  </a:schemeClr>
                </a:solidFill>
              </a:rPr>
              <a:t>atom economy</a:t>
            </a:r>
          </a:p>
          <a:p>
            <a:r>
              <a:rPr lang="en-GB" sz="3600" b="1" dirty="0">
                <a:solidFill>
                  <a:schemeClr val="tx1">
                    <a:lumMod val="50000"/>
                    <a:lumOff val="50000"/>
                  </a:schemeClr>
                </a:solidFill>
              </a:rPr>
              <a:t>PART 1</a:t>
            </a:r>
          </a:p>
          <a:p>
            <a:r>
              <a:rPr lang="en-GB" sz="3600" b="1" i="1" dirty="0">
                <a:solidFill>
                  <a:schemeClr val="tx1">
                    <a:lumMod val="50000"/>
                    <a:lumOff val="50000"/>
                  </a:schemeClr>
                </a:solidFill>
              </a:rPr>
              <a:t>CHEMISTRY ONLY</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Percentage yield</a:t>
            </a:r>
          </a:p>
          <a:p>
            <a:pPr marL="685800" lvl="1" indent="-342900">
              <a:buFont typeface="Arial" charset="0"/>
              <a:buChar char="•"/>
            </a:pPr>
            <a:r>
              <a:rPr lang="en-US" sz="2400" b="1" dirty="0">
                <a:solidFill>
                  <a:schemeClr val="bg1">
                    <a:lumMod val="50000"/>
                  </a:schemeClr>
                </a:solidFill>
              </a:rPr>
              <a:t>Atomy </a:t>
            </a:r>
            <a:r>
              <a:rPr lang="en-US" sz="2400" b="1" dirty="0" smtClean="0">
                <a:solidFill>
                  <a:schemeClr val="bg1">
                    <a:lumMod val="50000"/>
                  </a:schemeClr>
                </a:solidFill>
              </a:rPr>
              <a:t>economy</a:t>
            </a:r>
            <a:endParaRPr lang="en-US" sz="2400" b="1" dirty="0">
              <a:solidFill>
                <a:schemeClr val="bg1">
                  <a:lumMod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7984" y="784286"/>
            <a:ext cx="4824536" cy="5257800"/>
          </a:xfrm>
          <a:prstGeom prst="rect">
            <a:avLst/>
          </a:prstGeom>
        </p:spPr>
      </p:pic>
    </p:spTree>
    <p:extLst>
      <p:ext uri="{BB962C8B-B14F-4D97-AF65-F5344CB8AC3E}">
        <p14:creationId xmlns:p14="http://schemas.microsoft.com/office/powerpoint/2010/main" val="2876136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Yield and atom economy </a:t>
            </a:r>
            <a:r>
              <a:rPr lang="en-US" sz="2000" b="1" dirty="0">
                <a:solidFill>
                  <a:schemeClr val="accent6"/>
                </a:solidFill>
              </a:rPr>
              <a:t>(Chemistry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6" name="TextBox 5"/>
              <p:cNvSpPr txBox="1"/>
              <p:nvPr/>
            </p:nvSpPr>
            <p:spPr>
              <a:xfrm>
                <a:off x="149087" y="697936"/>
                <a:ext cx="8743393" cy="4739887"/>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What is meant by the term ‘yield’?</a:t>
                </a:r>
              </a:p>
              <a:p>
                <a:pPr lvl="1">
                  <a:defRPr/>
                </a:pPr>
                <a:r>
                  <a:rPr lang="en-GB" sz="2400" b="1" dirty="0" smtClean="0">
                    <a:solidFill>
                      <a:srgbClr val="00B050"/>
                    </a:solidFill>
                  </a:rPr>
                  <a:t>Amount of product obtained.</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What is the equation for calculating percentage yield?</a:t>
                </a:r>
              </a:p>
              <a:p>
                <a:pPr lvl="1">
                  <a:defRPr/>
                </a:pPr>
                <a:r>
                  <a:rPr lang="en-GB" sz="2400" b="1" dirty="0" smtClean="0">
                    <a:solidFill>
                      <a:srgbClr val="00B050"/>
                    </a:solidFill>
                  </a:rPr>
                  <a:t>% yield = </a:t>
                </a:r>
                <a14:m>
                  <m:oMath xmlns:m="http://schemas.openxmlformats.org/officeDocument/2006/math">
                    <m:f>
                      <m:fPr>
                        <m:ctrlPr>
                          <a:rPr lang="en-GB" sz="2400" b="1" i="1" smtClean="0">
                            <a:solidFill>
                              <a:srgbClr val="00B050"/>
                            </a:solidFill>
                            <a:latin typeface="Cambria Math" panose="02040503050406030204" pitchFamily="18" charset="0"/>
                          </a:rPr>
                        </m:ctrlPr>
                      </m:fPr>
                      <m:num>
                        <m:r>
                          <a:rPr lang="en-GB" sz="2400" b="1" i="0" smtClean="0">
                            <a:solidFill>
                              <a:srgbClr val="00B050"/>
                            </a:solidFill>
                            <a:latin typeface="Cambria Math" panose="02040503050406030204" pitchFamily="18" charset="0"/>
                          </a:rPr>
                          <m:t>𝐦𝐚𝐬𝐬</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𝐨𝐟</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𝐩𝐫𝐨𝐝𝐮𝐜𝐭</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𝐚𝐜𝐭𝐮𝐚𝐥𝐥𝐲</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𝐦𝐚𝐝𝐞</m:t>
                        </m:r>
                        <m:r>
                          <a:rPr lang="en-GB" sz="2400" b="1" i="0" smtClean="0">
                            <a:solidFill>
                              <a:srgbClr val="00B050"/>
                            </a:solidFill>
                            <a:latin typeface="Cambria Math" panose="02040503050406030204" pitchFamily="18" charset="0"/>
                          </a:rPr>
                          <m:t> </m:t>
                        </m:r>
                      </m:num>
                      <m:den>
                        <m:r>
                          <a:rPr lang="en-GB" sz="2400" b="1" i="0" smtClean="0">
                            <a:solidFill>
                              <a:srgbClr val="00B050"/>
                            </a:solidFill>
                            <a:latin typeface="Cambria Math" panose="02040503050406030204" pitchFamily="18" charset="0"/>
                          </a:rPr>
                          <m:t>𝐌𝐚𝐱𝐢𝐦𝐮𝐦</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𝐭𝐡𝐞𝐨𝐫𝐞𝐭𝐢𝐜𝐚𝐥</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𝐦𝐚𝐬𝐬</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𝐨𝐟</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𝐩𝐫𝐨𝐝𝐮𝐜𝐭</m:t>
                        </m:r>
                      </m:den>
                    </m:f>
                  </m:oMath>
                </a14:m>
                <a:r>
                  <a:rPr lang="en-GB" sz="2400" dirty="0" smtClean="0">
                    <a:solidFill>
                      <a:prstClr val="black"/>
                    </a:solidFill>
                  </a:rPr>
                  <a:t> </a:t>
                </a:r>
                <a:r>
                  <a:rPr lang="en-GB" sz="2400" dirty="0" smtClean="0">
                    <a:solidFill>
                      <a:srgbClr val="00B050"/>
                    </a:solidFill>
                  </a:rPr>
                  <a:t>x 100</a:t>
                </a: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lang="en-GB" sz="2400" dirty="0" smtClean="0">
                    <a:solidFill>
                      <a:prstClr val="black"/>
                    </a:solidFill>
                    <a:latin typeface="Calibri"/>
                  </a:rPr>
                  <a:t>Give 2 reasons why it is not always possible to obtain the expected amount of product from a reaction.</a:t>
                </a:r>
              </a:p>
              <a:p>
                <a:pPr lvl="1">
                  <a:defRPr/>
                </a:pPr>
                <a:r>
                  <a:rPr lang="en-GB" sz="2400" b="1" dirty="0" smtClean="0">
                    <a:solidFill>
                      <a:srgbClr val="00B050"/>
                    </a:solidFill>
                  </a:rPr>
                  <a:t>Reaction may not go to completion as it is reversible; some product may be lost; some reactants may react differently to expected.</a:t>
                </a: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 is meant by the term ‘atom economy’?</a:t>
                </a:r>
              </a:p>
              <a:p>
                <a:pPr lvl="1">
                  <a:defRPr/>
                </a:pPr>
                <a:r>
                  <a:rPr lang="en-GB" sz="2400" b="1" noProof="0" dirty="0" err="1" smtClean="0">
                    <a:solidFill>
                      <a:srgbClr val="00B050"/>
                    </a:solidFill>
                  </a:rPr>
                  <a:t>Measur</a:t>
                </a:r>
                <a:r>
                  <a:rPr lang="en-GB" sz="2400" b="1" dirty="0" smtClean="0">
                    <a:solidFill>
                      <a:srgbClr val="00B050"/>
                    </a:solidFill>
                  </a:rPr>
                  <a:t>e of the amount of starting materials that end up as useful products.</a:t>
                </a:r>
                <a:endParaRPr kumimoji="0" lang="en-GB" sz="2400" b="0" i="0" u="none" strike="noStrike" kern="1200" cap="none" spc="0" normalizeH="0" baseline="0" noProof="0" dirty="0" smtClean="0">
                  <a:ln>
                    <a:noFill/>
                  </a:ln>
                  <a:solidFill>
                    <a:prstClr val="black"/>
                  </a:solidFill>
                  <a:effectLst/>
                  <a:uLnTx/>
                  <a:uFillTx/>
                  <a:latin typeface="Calibri"/>
                  <a:ea typeface="+mn-ea"/>
                  <a:cs typeface="+mn-cs"/>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49087" y="697936"/>
                <a:ext cx="8743393" cy="4739887"/>
              </a:xfrm>
              <a:prstGeom prst="rect">
                <a:avLst/>
              </a:prstGeom>
              <a:blipFill rotWithShape="0">
                <a:blip r:embed="rId3"/>
                <a:stretch>
                  <a:fillRect l="-1115" t="-1157" b="-1928"/>
                </a:stretch>
              </a:blipFill>
            </p:spPr>
            <p:txBody>
              <a:bodyPr/>
              <a:lstStyle/>
              <a:p>
                <a:r>
                  <a:rPr lang="en-GB">
                    <a:noFill/>
                  </a:rPr>
                  <a:t> </a:t>
                </a:r>
              </a:p>
            </p:txBody>
          </p:sp>
        </mc:Fallback>
      </mc:AlternateContent>
    </p:spTree>
    <p:extLst>
      <p:ext uri="{BB962C8B-B14F-4D97-AF65-F5344CB8AC3E}">
        <p14:creationId xmlns:p14="http://schemas.microsoft.com/office/powerpoint/2010/main" val="34709363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Yield and atom economy </a:t>
            </a:r>
            <a:r>
              <a:rPr lang="en-US" sz="2000" b="1" dirty="0">
                <a:solidFill>
                  <a:schemeClr val="accent6"/>
                </a:solidFill>
              </a:rPr>
              <a:t>(Chemistry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6" name="TextBox 5"/>
              <p:cNvSpPr txBox="1"/>
              <p:nvPr/>
            </p:nvSpPr>
            <p:spPr>
              <a:xfrm>
                <a:off x="149087" y="697936"/>
                <a:ext cx="8743393" cy="2895152"/>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5"/>
                  <a:tabLst/>
                  <a:defRPr/>
                </a:pPr>
                <a:r>
                  <a:rPr lang="en-GB" sz="2400" dirty="0" smtClean="0">
                    <a:solidFill>
                      <a:prstClr val="black"/>
                    </a:solidFill>
                    <a:latin typeface="Calibri"/>
                  </a:rPr>
                  <a:t>Why is it important to use reactions with high atom economy?</a:t>
                </a:r>
              </a:p>
              <a:p>
                <a:pPr lvl="1">
                  <a:defRPr/>
                </a:pPr>
                <a:r>
                  <a:rPr lang="en-GB" sz="2400" b="1" dirty="0" smtClean="0">
                    <a:solidFill>
                      <a:srgbClr val="00B050"/>
                    </a:solidFill>
                  </a:rPr>
                  <a:t>Sustainable development; less waste products produced; economically viable; cheaper.</a:t>
                </a:r>
              </a:p>
              <a:p>
                <a:pPr lvl="1">
                  <a:defRPr/>
                </a:pPr>
                <a:endParaRPr lang="en-GB" sz="2400" dirty="0" smtClean="0">
                  <a:solidFill>
                    <a:prstClr val="black"/>
                  </a:solidFill>
                  <a:latin typeface="Calibri"/>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5"/>
                  <a:tabLst/>
                  <a:defRPr/>
                </a:pPr>
                <a:r>
                  <a:rPr kumimoji="0" lang="en-GB" sz="2400" b="0" i="0" u="none" strike="noStrike" kern="1200" cap="none" spc="0" normalizeH="0" baseline="0" noProof="0" dirty="0" smtClean="0">
                    <a:ln>
                      <a:noFill/>
                    </a:ln>
                    <a:solidFill>
                      <a:prstClr val="black"/>
                    </a:solidFill>
                    <a:effectLst/>
                    <a:uLnTx/>
                    <a:uFillTx/>
                    <a:latin typeface="Calibri"/>
                    <a:ea typeface="+mn-ea"/>
                    <a:cs typeface="+mn-cs"/>
                  </a:rPr>
                  <a:t>What</a:t>
                </a:r>
                <a:r>
                  <a:rPr kumimoji="0" lang="en-GB" sz="2400" b="0" i="0" u="none" strike="noStrike" kern="1200" cap="none" spc="0" normalizeH="0" noProof="0" dirty="0" smtClean="0">
                    <a:ln>
                      <a:noFill/>
                    </a:ln>
                    <a:solidFill>
                      <a:prstClr val="black"/>
                    </a:solidFill>
                    <a:effectLst/>
                    <a:uLnTx/>
                    <a:uFillTx/>
                    <a:latin typeface="Calibri"/>
                    <a:ea typeface="+mn-ea"/>
                    <a:cs typeface="+mn-cs"/>
                  </a:rPr>
                  <a:t> is the equation for calculating the percentage atom economy from a balanced chemical equation?</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1">
                  <a:defRPr/>
                </a:pPr>
                <a:r>
                  <a:rPr lang="en-GB" sz="2400" b="1" dirty="0" smtClean="0">
                    <a:solidFill>
                      <a:srgbClr val="00B050"/>
                    </a:solidFill>
                  </a:rPr>
                  <a:t>Atom economy = </a:t>
                </a:r>
                <a14:m>
                  <m:oMath xmlns:m="http://schemas.openxmlformats.org/officeDocument/2006/math">
                    <m:f>
                      <m:fPr>
                        <m:ctrlPr>
                          <a:rPr lang="en-GB" sz="2400" b="1" i="1" smtClean="0">
                            <a:solidFill>
                              <a:srgbClr val="00B050"/>
                            </a:solidFill>
                            <a:latin typeface="Cambria Math" panose="02040503050406030204" pitchFamily="18" charset="0"/>
                          </a:rPr>
                        </m:ctrlPr>
                      </m:fPr>
                      <m:num>
                        <m:r>
                          <a:rPr lang="en-GB" sz="2400" b="1" i="0" smtClean="0">
                            <a:solidFill>
                              <a:srgbClr val="00B050"/>
                            </a:solidFill>
                            <a:latin typeface="Cambria Math" panose="02040503050406030204" pitchFamily="18" charset="0"/>
                          </a:rPr>
                          <m:t>𝐑𝐅𝐌</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𝐨𝐟</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𝐝𝐞𝐬𝐢𝐫𝐞𝐝</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𝐩𝐫𝐨𝐝𝐮𝐜𝐭</m:t>
                        </m:r>
                      </m:num>
                      <m:den>
                        <m:r>
                          <a:rPr lang="en-GB" sz="2400" b="1" i="0" smtClean="0">
                            <a:solidFill>
                              <a:srgbClr val="00B050"/>
                            </a:solidFill>
                            <a:latin typeface="Cambria Math" panose="02040503050406030204" pitchFamily="18" charset="0"/>
                          </a:rPr>
                          <m:t>𝐒𝐮𝐦</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𝐨𝐟</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𝐑𝐅𝐌</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𝐨𝐟</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𝐚𝐥𝐥</m:t>
                        </m:r>
                        <m:r>
                          <a:rPr lang="en-GB" sz="2400" b="1" i="0" smtClean="0">
                            <a:solidFill>
                              <a:srgbClr val="00B050"/>
                            </a:solidFill>
                            <a:latin typeface="Cambria Math" panose="02040503050406030204" pitchFamily="18" charset="0"/>
                          </a:rPr>
                          <m:t> </m:t>
                        </m:r>
                        <m:r>
                          <a:rPr lang="en-GB" sz="2400" b="1" i="0" smtClean="0">
                            <a:solidFill>
                              <a:srgbClr val="00B050"/>
                            </a:solidFill>
                            <a:latin typeface="Cambria Math" panose="02040503050406030204" pitchFamily="18" charset="0"/>
                          </a:rPr>
                          <m:t>𝐫𝐞𝐚𝐜𝐭𝐚𝐧𝐭𝐬</m:t>
                        </m:r>
                      </m:den>
                    </m:f>
                  </m:oMath>
                </a14:m>
                <a:r>
                  <a:rPr kumimoji="0" lang="en-GB" sz="2400" b="0" i="0" u="none" strike="noStrike" kern="1200" cap="none" spc="0" normalizeH="0" baseline="0" noProof="0" dirty="0" smtClean="0">
                    <a:ln>
                      <a:noFill/>
                    </a:ln>
                    <a:solidFill>
                      <a:prstClr val="black"/>
                    </a:solidFill>
                    <a:effectLst/>
                    <a:uLnTx/>
                    <a:uFillTx/>
                    <a:latin typeface="Calibri"/>
                    <a:ea typeface="+mn-ea"/>
                    <a:cs typeface="+mn-cs"/>
                  </a:rPr>
                  <a:t> </a:t>
                </a:r>
                <a:r>
                  <a:rPr kumimoji="0" lang="en-GB" sz="2400" b="0" i="0" u="none" strike="noStrike" kern="1200" cap="none" spc="0" normalizeH="0" baseline="0" noProof="0" dirty="0" smtClean="0">
                    <a:ln>
                      <a:noFill/>
                    </a:ln>
                    <a:solidFill>
                      <a:srgbClr val="00B050"/>
                    </a:solidFill>
                    <a:effectLst/>
                    <a:uLnTx/>
                    <a:uFillTx/>
                    <a:latin typeface="Calibri"/>
                    <a:ea typeface="+mn-ea"/>
                    <a:cs typeface="+mn-cs"/>
                  </a:rPr>
                  <a:t>x 100</a:t>
                </a:r>
                <a:endParaRPr kumimoji="0" lang="en-GB" sz="2400" b="0" i="0" u="none" strike="noStrike" kern="1200" cap="none" spc="0" normalizeH="0" baseline="0" noProof="0" dirty="0">
                  <a:ln>
                    <a:noFill/>
                  </a:ln>
                  <a:solidFill>
                    <a:srgbClr val="00B050"/>
                  </a:solidFill>
                  <a:effectLst/>
                  <a:uLnTx/>
                  <a:uFillTx/>
                  <a:latin typeface="Calibri"/>
                  <a:ea typeface="+mn-ea"/>
                  <a:cs typeface="+mn-cs"/>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49087" y="697936"/>
                <a:ext cx="8743393" cy="2895152"/>
              </a:xfrm>
              <a:prstGeom prst="rect">
                <a:avLst/>
              </a:prstGeom>
              <a:blipFill rotWithShape="0">
                <a:blip r:embed="rId3"/>
                <a:stretch>
                  <a:fillRect l="-1115" t="-1895"/>
                </a:stretch>
              </a:blipFill>
            </p:spPr>
            <p:txBody>
              <a:bodyPr/>
              <a:lstStyle/>
              <a:p>
                <a:r>
                  <a:rPr lang="en-GB">
                    <a:noFill/>
                  </a:rPr>
                  <a:t> </a:t>
                </a:r>
              </a:p>
            </p:txBody>
          </p:sp>
        </mc:Fallback>
      </mc:AlternateContent>
    </p:spTree>
    <p:extLst>
      <p:ext uri="{BB962C8B-B14F-4D97-AF65-F5344CB8AC3E}">
        <p14:creationId xmlns:p14="http://schemas.microsoft.com/office/powerpoint/2010/main" val="38400719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Yield and atom economy </a:t>
            </a:r>
            <a:r>
              <a:rPr lang="en-US" sz="2000" b="1" dirty="0">
                <a:solidFill>
                  <a:schemeClr val="accent6"/>
                </a:solidFill>
              </a:rPr>
              <a:t>(Chemistry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550920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mj-lt"/>
              <a:buAutoNum type="arabicPeriod" startAt="7"/>
              <a:tabLst/>
              <a:defRPr/>
            </a:pPr>
            <a:r>
              <a:rPr lang="en-GB" sz="2400" dirty="0">
                <a:solidFill>
                  <a:prstClr val="black"/>
                </a:solidFill>
                <a:latin typeface="Calibri"/>
              </a:rPr>
              <a:t>Magnesium is heated in air to make magnesium oxide.  Suggest why the actual yield might be less than the maximum theoretical mass.</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lvl="0"/>
            <a:r>
              <a:rPr lang="en-GB" sz="2400" b="1" dirty="0">
                <a:solidFill>
                  <a:srgbClr val="00B050"/>
                </a:solidFill>
              </a:rPr>
              <a:t>       Magnesium nitride is formed as well as the magnesium oxide    </a:t>
            </a:r>
          </a:p>
          <a:p>
            <a:pPr lvl="0"/>
            <a:r>
              <a:rPr lang="en-GB" sz="2400" b="1" dirty="0">
                <a:solidFill>
                  <a:srgbClr val="00B050"/>
                </a:solidFill>
              </a:rPr>
              <a:t>       expected/some of the oxide might escape as smoke/not all the        </a:t>
            </a:r>
          </a:p>
          <a:p>
            <a:pPr lvl="0"/>
            <a:r>
              <a:rPr lang="en-GB" sz="2400" b="1" dirty="0">
                <a:solidFill>
                  <a:srgbClr val="00B050"/>
                </a:solidFill>
              </a:rPr>
              <a:t>       magnesium reacts.</a:t>
            </a:r>
          </a:p>
          <a:p>
            <a:pPr lvl="0"/>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lvl="0" indent="-457200">
              <a:buFont typeface="+mj-lt"/>
              <a:buAutoNum type="arabicPeriod" startAt="8"/>
              <a:defRPr/>
            </a:pPr>
            <a:r>
              <a:rPr lang="en-GB" sz="2400" dirty="0"/>
              <a:t>In the neutralisation of sulfuric acid with sodium hydroxide, the theoretical mass from 13.8g of sodium </a:t>
            </a:r>
            <a:r>
              <a:rPr lang="en-GB" sz="2400" dirty="0" err="1"/>
              <a:t>sulfate</a:t>
            </a:r>
            <a:r>
              <a:rPr lang="en-GB" sz="2400" dirty="0"/>
              <a:t> is 20g. In a synthesis, the actual yield is 17.4g. What is the percentage yield for this synthesis?</a:t>
            </a:r>
          </a:p>
          <a:p>
            <a:r>
              <a:rPr lang="en-GB" sz="2400" b="1" dirty="0">
                <a:solidFill>
                  <a:srgbClr val="00B050"/>
                </a:solidFill>
              </a:rPr>
              <a:t>       Percentage yield = (actual yield ÷ theoretical mass) × 100</a:t>
            </a:r>
          </a:p>
          <a:p>
            <a:r>
              <a:rPr lang="en-GB" sz="2400" b="1" dirty="0">
                <a:solidFill>
                  <a:srgbClr val="00B050"/>
                </a:solidFill>
              </a:rPr>
              <a:t>       Percentage yield = (17.4 ÷ 20) x 100 = 87%</a:t>
            </a:r>
          </a:p>
          <a:p>
            <a:pPr marL="457200" lvl="0" indent="-457200">
              <a:buFontTx/>
              <a:buAutoNum type="arabicPeriod" startAt="2"/>
              <a:defRPr/>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340927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Yield and atom economy </a:t>
            </a:r>
            <a:r>
              <a:rPr lang="en-US" sz="2000" b="1" dirty="0">
                <a:solidFill>
                  <a:schemeClr val="accent6"/>
                </a:solidFill>
              </a:rPr>
              <a:t>(Chemistry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4401205"/>
          </a:xfrm>
          <a:prstGeom prst="rect">
            <a:avLst/>
          </a:prstGeom>
          <a:noFill/>
        </p:spPr>
        <p:txBody>
          <a:bodyPr wrap="square" rtlCol="0">
            <a:spAutoFit/>
          </a:bodyPr>
          <a:lstStyle/>
          <a:p>
            <a:pPr marL="457200" lvl="0" indent="-457200">
              <a:buFont typeface="+mj-lt"/>
              <a:buAutoNum type="arabicPeriod" startAt="9"/>
              <a:defRPr/>
            </a:pPr>
            <a:r>
              <a:rPr kumimoji="0" lang="en-GB" sz="2400" b="0" i="0" u="none" strike="noStrike" kern="1200" cap="none" spc="0" normalizeH="0" baseline="0" noProof="0" dirty="0">
                <a:ln>
                  <a:noFill/>
                </a:ln>
                <a:solidFill>
                  <a:prstClr val="black"/>
                </a:solidFill>
                <a:effectLst/>
                <a:uLnTx/>
                <a:uFillTx/>
                <a:latin typeface="Calibri"/>
                <a:ea typeface="+mn-ea"/>
                <a:cs typeface="+mn-cs"/>
              </a:rPr>
              <a:t>Calculate the atom economy for making </a:t>
            </a:r>
            <a:r>
              <a:rPr lang="en-GB" sz="2400" dirty="0"/>
              <a:t>hydrogen from methane  </a:t>
            </a:r>
          </a:p>
          <a:p>
            <a:pPr lvl="0">
              <a:defRPr/>
            </a:pPr>
            <a:r>
              <a:rPr lang="en-GB" sz="2400" dirty="0"/>
              <a:t>       and steam.</a:t>
            </a:r>
          </a:p>
          <a:p>
            <a:pPr lvl="0">
              <a:defRPr/>
            </a:pPr>
            <a:r>
              <a:rPr lang="en-GB" sz="2400" dirty="0"/>
              <a:t>                                           CH</a:t>
            </a:r>
            <a:r>
              <a:rPr lang="en-GB" sz="2400" baseline="-25000" dirty="0"/>
              <a:t>4</a:t>
            </a:r>
            <a:r>
              <a:rPr lang="en-GB" sz="2400" dirty="0"/>
              <a:t> + 2H</a:t>
            </a:r>
            <a:r>
              <a:rPr lang="en-GB" sz="2400" baseline="-25000" dirty="0"/>
              <a:t>2</a:t>
            </a:r>
            <a:r>
              <a:rPr lang="en-GB" sz="2400" dirty="0"/>
              <a:t>O → CO</a:t>
            </a:r>
            <a:r>
              <a:rPr lang="en-GB" sz="2400" baseline="-25000" dirty="0"/>
              <a:t>2</a:t>
            </a:r>
            <a:r>
              <a:rPr lang="en-GB" sz="2400" dirty="0"/>
              <a:t> + 4H</a:t>
            </a:r>
            <a:r>
              <a:rPr lang="en-GB" sz="2400" baseline="-25000" dirty="0"/>
              <a:t>2</a:t>
            </a:r>
            <a:endParaRPr lang="en-GB" sz="2400" dirty="0"/>
          </a:p>
          <a:p>
            <a:r>
              <a:rPr lang="en-GB" sz="2400" b="1" dirty="0">
                <a:solidFill>
                  <a:srgbClr val="00B050"/>
                </a:solidFill>
              </a:rPr>
              <a:t>        M</a:t>
            </a:r>
            <a:r>
              <a:rPr lang="en-GB" sz="2400" b="1" baseline="-25000" dirty="0">
                <a:solidFill>
                  <a:srgbClr val="00B050"/>
                </a:solidFill>
              </a:rPr>
              <a:t>r</a:t>
            </a:r>
            <a:r>
              <a:rPr lang="en-GB" sz="2400" b="1" dirty="0">
                <a:solidFill>
                  <a:srgbClr val="00B050"/>
                </a:solidFill>
              </a:rPr>
              <a:t> of H</a:t>
            </a:r>
            <a:r>
              <a:rPr lang="en-GB" sz="2400" b="1" baseline="-25000" dirty="0">
                <a:solidFill>
                  <a:srgbClr val="00B050"/>
                </a:solidFill>
              </a:rPr>
              <a:t>2</a:t>
            </a:r>
            <a:r>
              <a:rPr lang="en-GB" sz="2400" b="1" dirty="0">
                <a:solidFill>
                  <a:srgbClr val="00B050"/>
                </a:solidFill>
              </a:rPr>
              <a:t>O = (1 x 2) + 16 = 18</a:t>
            </a:r>
          </a:p>
          <a:p>
            <a:r>
              <a:rPr lang="en-GB" sz="2400" b="1" dirty="0">
                <a:solidFill>
                  <a:srgbClr val="00B050"/>
                </a:solidFill>
              </a:rPr>
              <a:t>                               18 x 2 = 36</a:t>
            </a:r>
          </a:p>
          <a:p>
            <a:endParaRPr lang="en-GB" sz="2400" b="1" dirty="0">
              <a:solidFill>
                <a:srgbClr val="00B050"/>
              </a:solidFill>
            </a:endParaRPr>
          </a:p>
          <a:p>
            <a:r>
              <a:rPr lang="en-GB" sz="2400" b="1" dirty="0">
                <a:solidFill>
                  <a:srgbClr val="00B050"/>
                </a:solidFill>
              </a:rPr>
              <a:t>        M</a:t>
            </a:r>
            <a:r>
              <a:rPr lang="en-GB" sz="2400" b="1" baseline="-25000" dirty="0">
                <a:solidFill>
                  <a:srgbClr val="00B050"/>
                </a:solidFill>
              </a:rPr>
              <a:t>r</a:t>
            </a:r>
            <a:r>
              <a:rPr lang="en-GB" sz="2400" b="1" dirty="0">
                <a:solidFill>
                  <a:srgbClr val="00B050"/>
                </a:solidFill>
              </a:rPr>
              <a:t> of CH</a:t>
            </a:r>
            <a:r>
              <a:rPr lang="en-GB" sz="2400" b="1" baseline="-25000" dirty="0">
                <a:solidFill>
                  <a:srgbClr val="00B050"/>
                </a:solidFill>
              </a:rPr>
              <a:t>4</a:t>
            </a:r>
            <a:r>
              <a:rPr lang="en-GB" sz="2400" b="1" dirty="0">
                <a:solidFill>
                  <a:srgbClr val="00B050"/>
                </a:solidFill>
              </a:rPr>
              <a:t> = 12 + (1 x 4) = 16</a:t>
            </a:r>
          </a:p>
          <a:p>
            <a:endParaRPr lang="en-GB" sz="2400" b="1" dirty="0">
              <a:solidFill>
                <a:srgbClr val="00B050"/>
              </a:solidFill>
            </a:endParaRPr>
          </a:p>
          <a:p>
            <a:r>
              <a:rPr lang="en-GB" sz="2400" b="1" dirty="0">
                <a:solidFill>
                  <a:srgbClr val="00B050"/>
                </a:solidFill>
              </a:rPr>
              <a:t>        Atom economy = </a:t>
            </a:r>
            <a:r>
              <a:rPr lang="en-GB" sz="2400" b="1" baseline="30000" dirty="0">
                <a:solidFill>
                  <a:srgbClr val="00B050"/>
                </a:solidFill>
              </a:rPr>
              <a:t>4 × 2</a:t>
            </a:r>
            <a:r>
              <a:rPr lang="en-GB" sz="2400" b="1" dirty="0">
                <a:solidFill>
                  <a:srgbClr val="00B050"/>
                </a:solidFill>
              </a:rPr>
              <a:t>∕</a:t>
            </a:r>
            <a:r>
              <a:rPr lang="en-GB" sz="2400" b="1" baseline="-25000" dirty="0">
                <a:solidFill>
                  <a:srgbClr val="00B050"/>
                </a:solidFill>
              </a:rPr>
              <a:t>36 + 16 </a:t>
            </a:r>
            <a:r>
              <a:rPr lang="en-GB" sz="2400" b="1" dirty="0">
                <a:solidFill>
                  <a:srgbClr val="00B050"/>
                </a:solidFill>
              </a:rPr>
              <a:t> × 100 </a:t>
            </a:r>
          </a:p>
          <a:p>
            <a:endParaRPr lang="en-GB" sz="2400" b="1" dirty="0">
              <a:solidFill>
                <a:srgbClr val="00B050"/>
              </a:solidFill>
            </a:endParaRPr>
          </a:p>
          <a:p>
            <a:r>
              <a:rPr lang="en-GB" sz="2400" b="1" dirty="0">
                <a:solidFill>
                  <a:srgbClr val="00B050"/>
                </a:solidFill>
              </a:rPr>
              <a:t>                                     = </a:t>
            </a:r>
            <a:r>
              <a:rPr lang="en-GB" sz="2400" b="1" baseline="30000" dirty="0">
                <a:solidFill>
                  <a:srgbClr val="00B050"/>
                </a:solidFill>
              </a:rPr>
              <a:t>8</a:t>
            </a:r>
            <a:r>
              <a:rPr lang="en-GB" sz="2400" b="1" dirty="0">
                <a:solidFill>
                  <a:srgbClr val="00B050"/>
                </a:solidFill>
              </a:rPr>
              <a:t>∕</a:t>
            </a:r>
            <a:r>
              <a:rPr lang="en-GB" sz="2400" b="1" baseline="-25000" dirty="0">
                <a:solidFill>
                  <a:srgbClr val="00B050"/>
                </a:solidFill>
              </a:rPr>
              <a:t>52</a:t>
            </a:r>
            <a:r>
              <a:rPr lang="en-GB" sz="2400" b="1" dirty="0">
                <a:solidFill>
                  <a:srgbClr val="00B050"/>
                </a:solidFill>
              </a:rPr>
              <a:t> × 100 = 15.4%</a:t>
            </a: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806555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364088" cy="5139869"/>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smtClean="0">
                <a:solidFill>
                  <a:schemeClr val="tx1">
                    <a:lumMod val="50000"/>
                    <a:lumOff val="50000"/>
                  </a:schemeClr>
                </a:solidFill>
              </a:rPr>
              <a:t>Quantities</a:t>
            </a:r>
            <a:endParaRPr lang="en-GB" sz="3600" b="1" dirty="0">
              <a:solidFill>
                <a:schemeClr val="tx1">
                  <a:lumMod val="50000"/>
                  <a:lumOff val="50000"/>
                </a:schemeClr>
              </a:solidFill>
            </a:endParaRPr>
          </a:p>
          <a:p>
            <a:r>
              <a:rPr lang="en-GB" sz="3600" b="1" i="1" dirty="0">
                <a:solidFill>
                  <a:schemeClr val="tx1">
                    <a:lumMod val="50000"/>
                    <a:lumOff val="50000"/>
                  </a:schemeClr>
                </a:solidFill>
              </a:rPr>
              <a:t>CHEMISTRY ONLY</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Moles of solution and gases (HT)</a:t>
            </a:r>
          </a:p>
          <a:p>
            <a:pPr marL="685800" lvl="1" indent="-342900">
              <a:buFont typeface="Arial" charset="0"/>
              <a:buChar char="•"/>
            </a:pPr>
            <a:endParaRPr lang="en-US" sz="2400" b="1" dirty="0">
              <a:solidFill>
                <a:schemeClr val="bg1">
                  <a:lumMod val="50000"/>
                </a:schemeClr>
              </a:solidFill>
            </a:endParaRPr>
          </a:p>
          <a:p>
            <a:endParaRPr lang="en-GB" dirty="0"/>
          </a:p>
        </p:txBody>
      </p:sp>
    </p:spTree>
    <p:extLst>
      <p:ext uri="{BB962C8B-B14F-4D97-AF65-F5344CB8AC3E}">
        <p14:creationId xmlns:p14="http://schemas.microsoft.com/office/powerpoint/2010/main" val="36749751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4664" y="209254"/>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Quantities </a:t>
            </a:r>
            <a:r>
              <a:rPr lang="en-US" sz="2400" b="1" dirty="0" smtClean="0">
                <a:solidFill>
                  <a:schemeClr val="accent6"/>
                </a:solidFill>
              </a:rPr>
              <a:t>– </a:t>
            </a:r>
            <a:r>
              <a:rPr lang="en-US" sz="2400" b="1" dirty="0">
                <a:solidFill>
                  <a:schemeClr val="accent6"/>
                </a:solidFill>
              </a:rPr>
              <a:t>CHEMISTRY ONLY</a:t>
            </a:r>
            <a:br>
              <a:rPr lang="en-US" sz="2400" b="1" dirty="0">
                <a:solidFill>
                  <a:schemeClr val="accent6"/>
                </a:solidFill>
              </a:rPr>
            </a:br>
            <a:r>
              <a:rPr lang="en-US" sz="2400" b="1" dirty="0">
                <a:solidFill>
                  <a:schemeClr val="accent6"/>
                </a:solidFill>
              </a:rPr>
              <a:t>Higher</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657611" y="895808"/>
            <a:ext cx="7828777" cy="1600438"/>
          </a:xfrm>
          <a:prstGeom prst="rect">
            <a:avLst/>
          </a:prstGeom>
          <a:noFill/>
          <a:ln>
            <a:solidFill>
              <a:schemeClr val="bg1"/>
            </a:solidFill>
          </a:ln>
        </p:spPr>
        <p:txBody>
          <a:bodyPr wrap="square" rtlCol="0">
            <a:spAutoFit/>
          </a:bodyPr>
          <a:lstStyle/>
          <a:p>
            <a:pPr algn="ctr"/>
            <a:r>
              <a:rPr lang="en-GB" sz="2000" dirty="0"/>
              <a:t>The </a:t>
            </a:r>
            <a:r>
              <a:rPr lang="en-GB" sz="2000" b="1" dirty="0"/>
              <a:t>concentration</a:t>
            </a:r>
            <a:r>
              <a:rPr lang="en-GB" sz="2000" dirty="0"/>
              <a:t> of a </a:t>
            </a:r>
            <a:r>
              <a:rPr lang="en-GB" sz="2000" b="1" dirty="0"/>
              <a:t>solution</a:t>
            </a:r>
            <a:r>
              <a:rPr lang="en-GB" sz="2000" dirty="0"/>
              <a:t> is the amount of </a:t>
            </a:r>
            <a:r>
              <a:rPr lang="en-GB" sz="2000" b="1" dirty="0"/>
              <a:t>solute per volume of solution</a:t>
            </a:r>
            <a:r>
              <a:rPr lang="en-GB" sz="2000" dirty="0"/>
              <a:t>. </a:t>
            </a:r>
          </a:p>
          <a:p>
            <a:pPr algn="ctr"/>
            <a:r>
              <a:rPr lang="en-GB" sz="2000" dirty="0"/>
              <a:t>Chemists measure concentration in moles per cubic decimetre </a:t>
            </a:r>
            <a:r>
              <a:rPr lang="en-GB" sz="2000" b="1" dirty="0"/>
              <a:t>(</a:t>
            </a:r>
            <a:r>
              <a:rPr lang="en-GB" sz="2000" b="1" dirty="0" err="1"/>
              <a:t>mol</a:t>
            </a:r>
            <a:r>
              <a:rPr lang="en-GB" sz="2000" b="1" dirty="0"/>
              <a:t>/dm</a:t>
            </a:r>
            <a:r>
              <a:rPr lang="en-GB" sz="2000" b="1" baseline="30000" dirty="0"/>
              <a:t>3</a:t>
            </a:r>
            <a:r>
              <a:rPr lang="en-GB" sz="2000" b="1" dirty="0"/>
              <a:t>)</a:t>
            </a:r>
            <a:r>
              <a:rPr lang="en-GB" sz="2000" dirty="0"/>
              <a:t>. </a:t>
            </a:r>
          </a:p>
          <a:p>
            <a:pPr algn="ctr"/>
            <a:endParaRPr lang="en-GB" dirty="0"/>
          </a:p>
        </p:txBody>
      </p:sp>
      <p:sp>
        <p:nvSpPr>
          <p:cNvPr id="10" name="TextBox 9">
            <a:extLst>
              <a:ext uri="{FF2B5EF4-FFF2-40B4-BE49-F238E27FC236}">
                <a16:creationId xmlns:a16="http://schemas.microsoft.com/office/drawing/2014/main" xmlns="" id="{D46563E1-D945-4EFC-A168-957652768574}"/>
              </a:ext>
            </a:extLst>
          </p:cNvPr>
          <p:cNvSpPr txBox="1"/>
          <p:nvPr/>
        </p:nvSpPr>
        <p:spPr>
          <a:xfrm>
            <a:off x="230179" y="3906175"/>
            <a:ext cx="3816424" cy="1631216"/>
          </a:xfrm>
          <a:prstGeom prst="rect">
            <a:avLst/>
          </a:prstGeom>
          <a:solidFill>
            <a:schemeClr val="accent6">
              <a:lumMod val="40000"/>
              <a:lumOff val="60000"/>
            </a:schemeClr>
          </a:solidFill>
          <a:ln>
            <a:solidFill>
              <a:schemeClr val="accent6">
                <a:lumMod val="75000"/>
              </a:schemeClr>
            </a:solidFill>
          </a:ln>
        </p:spPr>
        <p:txBody>
          <a:bodyPr wrap="square" rtlCol="0">
            <a:spAutoFit/>
          </a:bodyPr>
          <a:lstStyle/>
          <a:p>
            <a:pPr algn="ctr"/>
            <a:r>
              <a:rPr lang="en-GB" sz="2000" i="1" dirty="0"/>
              <a:t>What is the concentration of a solution that has 35.0g of solute in 0.5dm</a:t>
            </a:r>
            <a:r>
              <a:rPr lang="en-GB" sz="2000" i="1" baseline="30000" dirty="0"/>
              <a:t>3</a:t>
            </a:r>
            <a:r>
              <a:rPr lang="en-GB" sz="2000" i="1" dirty="0"/>
              <a:t>of solution?</a:t>
            </a:r>
          </a:p>
          <a:p>
            <a:pPr algn="ctr"/>
            <a:endParaRPr lang="en-GB" sz="2000" dirty="0"/>
          </a:p>
          <a:p>
            <a:pPr algn="ctr"/>
            <a:r>
              <a:rPr lang="en-GB" sz="2000" b="1" dirty="0">
                <a:solidFill>
                  <a:schemeClr val="accent6">
                    <a:lumMod val="75000"/>
                  </a:schemeClr>
                </a:solidFill>
              </a:rPr>
              <a:t>35/0.5 = 70 g/dm</a:t>
            </a:r>
            <a:r>
              <a:rPr lang="en-GB" sz="2000" b="1" baseline="30000" dirty="0">
                <a:solidFill>
                  <a:schemeClr val="accent6">
                    <a:lumMod val="75000"/>
                  </a:schemeClr>
                </a:solidFill>
              </a:rPr>
              <a:t>3 </a:t>
            </a:r>
            <a:endParaRPr lang="en-GB" sz="2000" b="1" dirty="0">
              <a:solidFill>
                <a:schemeClr val="accent6">
                  <a:lumMod val="75000"/>
                </a:schemeClr>
              </a:solidFill>
            </a:endParaRPr>
          </a:p>
        </p:txBody>
      </p:sp>
      <p:sp>
        <p:nvSpPr>
          <p:cNvPr id="11" name="TextBox 10">
            <a:extLst>
              <a:ext uri="{FF2B5EF4-FFF2-40B4-BE49-F238E27FC236}">
                <a16:creationId xmlns:a16="http://schemas.microsoft.com/office/drawing/2014/main" xmlns="" id="{FDE15821-BDB3-49DD-8ADF-D5DD71B27D62}"/>
              </a:ext>
            </a:extLst>
          </p:cNvPr>
          <p:cNvSpPr txBox="1"/>
          <p:nvPr/>
        </p:nvSpPr>
        <p:spPr>
          <a:xfrm>
            <a:off x="230179" y="3569080"/>
            <a:ext cx="1209627" cy="369332"/>
          </a:xfrm>
          <a:prstGeom prst="rect">
            <a:avLst/>
          </a:prstGeom>
          <a:noFill/>
        </p:spPr>
        <p:txBody>
          <a:bodyPr wrap="none" rtlCol="0">
            <a:spAutoFit/>
          </a:bodyPr>
          <a:lstStyle/>
          <a:p>
            <a:r>
              <a:rPr lang="en-GB" dirty="0"/>
              <a:t>Example 1:</a:t>
            </a:r>
          </a:p>
        </p:txBody>
      </p:sp>
      <p:sp>
        <p:nvSpPr>
          <p:cNvPr id="12" name="TextBox 11">
            <a:extLst>
              <a:ext uri="{FF2B5EF4-FFF2-40B4-BE49-F238E27FC236}">
                <a16:creationId xmlns:a16="http://schemas.microsoft.com/office/drawing/2014/main" xmlns="" id="{4AF038DA-1ECC-42C5-ACB6-B82D8A97C58E}"/>
              </a:ext>
            </a:extLst>
          </p:cNvPr>
          <p:cNvSpPr txBox="1"/>
          <p:nvPr/>
        </p:nvSpPr>
        <p:spPr>
          <a:xfrm>
            <a:off x="4419600" y="3548471"/>
            <a:ext cx="1209627" cy="369332"/>
          </a:xfrm>
          <a:prstGeom prst="rect">
            <a:avLst/>
          </a:prstGeom>
          <a:noFill/>
        </p:spPr>
        <p:txBody>
          <a:bodyPr wrap="none" rtlCol="0">
            <a:spAutoFit/>
          </a:bodyPr>
          <a:lstStyle/>
          <a:p>
            <a:r>
              <a:rPr lang="en-GB" dirty="0"/>
              <a:t>Example 2:</a:t>
            </a:r>
          </a:p>
        </p:txBody>
      </p:sp>
      <p:sp>
        <p:nvSpPr>
          <p:cNvPr id="14" name="TextBox 13">
            <a:extLst>
              <a:ext uri="{FF2B5EF4-FFF2-40B4-BE49-F238E27FC236}">
                <a16:creationId xmlns:a16="http://schemas.microsoft.com/office/drawing/2014/main" xmlns="" id="{33750981-3F90-4F18-AE4B-7E8179069FD4}"/>
              </a:ext>
            </a:extLst>
          </p:cNvPr>
          <p:cNvSpPr txBox="1"/>
          <p:nvPr/>
        </p:nvSpPr>
        <p:spPr>
          <a:xfrm>
            <a:off x="4419600" y="3884873"/>
            <a:ext cx="4544888" cy="2554545"/>
          </a:xfrm>
          <a:prstGeom prst="rect">
            <a:avLst/>
          </a:prstGeom>
          <a:solidFill>
            <a:schemeClr val="accent6">
              <a:lumMod val="40000"/>
              <a:lumOff val="60000"/>
            </a:schemeClr>
          </a:solidFill>
          <a:ln>
            <a:solidFill>
              <a:schemeClr val="accent6">
                <a:lumMod val="75000"/>
              </a:schemeClr>
            </a:solidFill>
          </a:ln>
        </p:spPr>
        <p:txBody>
          <a:bodyPr wrap="square" rtlCol="0">
            <a:spAutoFit/>
          </a:bodyPr>
          <a:lstStyle/>
          <a:p>
            <a:pPr algn="ctr"/>
            <a:r>
              <a:rPr lang="en-GB" sz="2000" i="1" dirty="0"/>
              <a:t>Calculate the mass of magnesium chloride (MgCl</a:t>
            </a:r>
            <a:r>
              <a:rPr lang="en-GB" sz="2000" i="1" baseline="-25000" dirty="0"/>
              <a:t>2</a:t>
            </a:r>
            <a:r>
              <a:rPr lang="en-GB" sz="2000" i="1" dirty="0"/>
              <a:t>) if there is 1 dm</a:t>
            </a:r>
            <a:r>
              <a:rPr lang="en-GB" sz="2000" i="1" baseline="30000" dirty="0"/>
              <a:t>3 </a:t>
            </a:r>
            <a:r>
              <a:rPr lang="en-GB" sz="2000" i="1" dirty="0"/>
              <a:t>of a 1mol/ dm</a:t>
            </a:r>
            <a:r>
              <a:rPr lang="en-GB" sz="2000" i="1" baseline="30000" dirty="0"/>
              <a:t>3 </a:t>
            </a:r>
            <a:r>
              <a:rPr lang="en-GB" sz="2000" i="1" dirty="0"/>
              <a:t>solution.  </a:t>
            </a:r>
          </a:p>
          <a:p>
            <a:pPr algn="ctr"/>
            <a:endParaRPr lang="en-GB" sz="2000" b="1" i="1" dirty="0">
              <a:solidFill>
                <a:schemeClr val="accent6">
                  <a:lumMod val="75000"/>
                </a:schemeClr>
              </a:solidFill>
            </a:endParaRPr>
          </a:p>
          <a:p>
            <a:pPr algn="ctr"/>
            <a:r>
              <a:rPr lang="en-GB" sz="2000" b="1" dirty="0">
                <a:solidFill>
                  <a:schemeClr val="accent6">
                    <a:lumMod val="75000"/>
                  </a:schemeClr>
                </a:solidFill>
              </a:rPr>
              <a:t>Mass of 1 mole of magnesium chloride = 24 + (35.5 × 2) = 95 g </a:t>
            </a:r>
            <a:br>
              <a:rPr lang="en-GB" sz="2000" b="1" dirty="0">
                <a:solidFill>
                  <a:schemeClr val="accent6">
                    <a:lumMod val="75000"/>
                  </a:schemeClr>
                </a:solidFill>
              </a:rPr>
            </a:br>
            <a:r>
              <a:rPr lang="en-GB" sz="2000" b="1" dirty="0">
                <a:solidFill>
                  <a:schemeClr val="accent6">
                    <a:lumMod val="75000"/>
                  </a:schemeClr>
                </a:solidFill>
              </a:rPr>
              <a:t>So there are 95 g of magnesium chloride in 1 dm</a:t>
            </a:r>
            <a:r>
              <a:rPr lang="en-GB" sz="2000" b="1" baseline="30000" dirty="0">
                <a:solidFill>
                  <a:schemeClr val="accent6">
                    <a:lumMod val="75000"/>
                  </a:schemeClr>
                </a:solidFill>
              </a:rPr>
              <a:t>3</a:t>
            </a:r>
            <a:r>
              <a:rPr lang="en-GB" sz="2000" b="1" dirty="0">
                <a:solidFill>
                  <a:schemeClr val="accent6">
                    <a:lumMod val="75000"/>
                  </a:schemeClr>
                </a:solidFill>
              </a:rPr>
              <a:t> of a 1 </a:t>
            </a:r>
            <a:r>
              <a:rPr lang="en-GB" sz="2000" b="1" dirty="0" err="1">
                <a:solidFill>
                  <a:schemeClr val="accent6">
                    <a:lumMod val="75000"/>
                  </a:schemeClr>
                </a:solidFill>
              </a:rPr>
              <a:t>mol</a:t>
            </a:r>
            <a:r>
              <a:rPr lang="en-GB" sz="2000" b="1" dirty="0">
                <a:solidFill>
                  <a:schemeClr val="accent6">
                    <a:lumMod val="75000"/>
                  </a:schemeClr>
                </a:solidFill>
              </a:rPr>
              <a:t>/dm</a:t>
            </a:r>
            <a:r>
              <a:rPr lang="en-GB" sz="2000" b="1" baseline="30000" dirty="0">
                <a:solidFill>
                  <a:schemeClr val="accent6">
                    <a:lumMod val="75000"/>
                  </a:schemeClr>
                </a:solidFill>
              </a:rPr>
              <a:t>3</a:t>
            </a:r>
            <a:r>
              <a:rPr lang="en-GB" sz="2000" b="1" dirty="0">
                <a:solidFill>
                  <a:schemeClr val="accent6">
                    <a:lumMod val="75000"/>
                  </a:schemeClr>
                </a:solidFill>
              </a:rPr>
              <a:t> solution.</a:t>
            </a:r>
            <a:endParaRPr lang="en-GB" sz="2000" b="1" i="1" dirty="0">
              <a:solidFill>
                <a:schemeClr val="accent6">
                  <a:lumMod val="75000"/>
                </a:schemeClr>
              </a:solidFill>
            </a:endParaRPr>
          </a:p>
        </p:txBody>
      </p:sp>
      <p:sp>
        <p:nvSpPr>
          <p:cNvPr id="8" name="Rectangle 7">
            <a:extLst>
              <a:ext uri="{FF2B5EF4-FFF2-40B4-BE49-F238E27FC236}">
                <a16:creationId xmlns:a16="http://schemas.microsoft.com/office/drawing/2014/main" xmlns="" id="{C7EA2B19-555C-4C31-A8CA-CCC79189846D}"/>
              </a:ext>
            </a:extLst>
          </p:cNvPr>
          <p:cNvSpPr/>
          <p:nvPr/>
        </p:nvSpPr>
        <p:spPr>
          <a:xfrm>
            <a:off x="2644404" y="2432779"/>
            <a:ext cx="3855190" cy="707886"/>
          </a:xfrm>
          <a:prstGeom prst="rect">
            <a:avLst/>
          </a:prstGeom>
          <a:solidFill>
            <a:schemeClr val="accent6">
              <a:lumMod val="20000"/>
              <a:lumOff val="80000"/>
            </a:schemeClr>
          </a:solidFill>
          <a:ln>
            <a:solidFill>
              <a:schemeClr val="accent6">
                <a:lumMod val="75000"/>
              </a:schemeClr>
            </a:solidFill>
          </a:ln>
        </p:spPr>
        <p:txBody>
          <a:bodyPr wrap="square">
            <a:spAutoFit/>
          </a:bodyPr>
          <a:lstStyle/>
          <a:p>
            <a:r>
              <a:rPr lang="en-GB" sz="2000" b="1" dirty="0">
                <a:solidFill>
                  <a:srgbClr val="000000"/>
                </a:solidFill>
              </a:rPr>
              <a:t>Concentration  =     </a:t>
            </a:r>
            <a:r>
              <a:rPr lang="en-GB" sz="2000" b="1" u="sng" dirty="0">
                <a:solidFill>
                  <a:srgbClr val="000000"/>
                </a:solidFill>
              </a:rPr>
              <a:t>amount (</a:t>
            </a:r>
            <a:r>
              <a:rPr lang="en-GB" sz="2000" b="1" u="sng" dirty="0" err="1">
                <a:solidFill>
                  <a:srgbClr val="000000"/>
                </a:solidFill>
              </a:rPr>
              <a:t>mol</a:t>
            </a:r>
            <a:r>
              <a:rPr lang="en-GB" sz="2000" b="1" u="sng" dirty="0">
                <a:solidFill>
                  <a:srgbClr val="000000"/>
                </a:solidFill>
              </a:rPr>
              <a:t>) </a:t>
            </a:r>
          </a:p>
          <a:p>
            <a:r>
              <a:rPr lang="en-GB" sz="2000" b="1" dirty="0">
                <a:solidFill>
                  <a:srgbClr val="000000"/>
                </a:solidFill>
              </a:rPr>
              <a:t>    (</a:t>
            </a:r>
            <a:r>
              <a:rPr lang="en-GB" sz="2000" b="1" dirty="0" err="1">
                <a:solidFill>
                  <a:srgbClr val="000000"/>
                </a:solidFill>
              </a:rPr>
              <a:t>mol</a:t>
            </a:r>
            <a:r>
              <a:rPr lang="en-GB" sz="2000" b="1" dirty="0">
                <a:solidFill>
                  <a:srgbClr val="000000"/>
                </a:solidFill>
              </a:rPr>
              <a:t>/dm</a:t>
            </a:r>
            <a:r>
              <a:rPr lang="en-GB" sz="2000" b="1" baseline="30000" dirty="0">
                <a:solidFill>
                  <a:srgbClr val="000000"/>
                </a:solidFill>
              </a:rPr>
              <a:t>3</a:t>
            </a:r>
            <a:r>
              <a:rPr lang="en-GB" sz="2000" b="1" dirty="0">
                <a:solidFill>
                  <a:srgbClr val="000000"/>
                </a:solidFill>
              </a:rPr>
              <a:t>)            volume (dm</a:t>
            </a:r>
            <a:r>
              <a:rPr lang="en-GB" sz="2000" b="1" baseline="30000" dirty="0">
                <a:solidFill>
                  <a:srgbClr val="000000"/>
                </a:solidFill>
              </a:rPr>
              <a:t>3</a:t>
            </a:r>
            <a:r>
              <a:rPr lang="en-GB" sz="2000" b="1" dirty="0">
                <a:solidFill>
                  <a:srgbClr val="000000"/>
                </a:solidFill>
              </a:rPr>
              <a:t>)</a:t>
            </a:r>
            <a:endParaRPr lang="en-GB" sz="2000" b="1" dirty="0"/>
          </a:p>
        </p:txBody>
      </p:sp>
    </p:spTree>
    <p:extLst>
      <p:ext uri="{BB962C8B-B14F-4D97-AF65-F5344CB8AC3E}">
        <p14:creationId xmlns:p14="http://schemas.microsoft.com/office/powerpoint/2010/main" val="11098335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996561F1-16B3-4AEF-94E9-5F446F00168C}"/>
              </a:ext>
            </a:extLst>
          </p:cNvPr>
          <p:cNvPicPr>
            <a:picLocks noChangeAspect="1"/>
          </p:cNvPicPr>
          <p:nvPr/>
        </p:nvPicPr>
        <p:blipFill>
          <a:blip r:embed="rId3"/>
          <a:stretch>
            <a:fillRect/>
          </a:stretch>
        </p:blipFill>
        <p:spPr>
          <a:xfrm>
            <a:off x="7426157" y="1635425"/>
            <a:ext cx="1743990" cy="1945926"/>
          </a:xfrm>
          <a:prstGeom prst="rect">
            <a:avLst/>
          </a:prstGeom>
        </p:spPr>
      </p:pic>
      <p:sp>
        <p:nvSpPr>
          <p:cNvPr id="2" name="Title 1"/>
          <p:cNvSpPr>
            <a:spLocks noGrp="1"/>
          </p:cNvSpPr>
          <p:nvPr>
            <p:ph type="ctrTitle"/>
          </p:nvPr>
        </p:nvSpPr>
        <p:spPr>
          <a:xfrm>
            <a:off x="611560" y="196163"/>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Quantities </a:t>
            </a:r>
            <a:r>
              <a:rPr lang="en-US" sz="2400" b="1" dirty="0" smtClean="0">
                <a:solidFill>
                  <a:schemeClr val="accent6"/>
                </a:solidFill>
              </a:rPr>
              <a:t>- </a:t>
            </a:r>
            <a:r>
              <a:rPr lang="en-US" sz="2400" b="1" dirty="0">
                <a:solidFill>
                  <a:schemeClr val="accent6"/>
                </a:solidFill>
              </a:rPr>
              <a:t>CHEMISTRY ONLY</a:t>
            </a:r>
            <a:br>
              <a:rPr lang="en-US" sz="2400" b="1" dirty="0">
                <a:solidFill>
                  <a:schemeClr val="accent6"/>
                </a:solidFill>
              </a:rPr>
            </a:br>
            <a:r>
              <a:rPr lang="en-US" sz="2400" b="1" dirty="0">
                <a:solidFill>
                  <a:schemeClr val="accent6"/>
                </a:solidFill>
              </a:rPr>
              <a:t>Higher</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51520" y="640105"/>
            <a:ext cx="7786454" cy="1015663"/>
          </a:xfrm>
          <a:prstGeom prst="rect">
            <a:avLst/>
          </a:prstGeom>
          <a:noFill/>
          <a:ln>
            <a:solidFill>
              <a:schemeClr val="bg1"/>
            </a:solidFill>
          </a:ln>
        </p:spPr>
        <p:txBody>
          <a:bodyPr wrap="square" rtlCol="0">
            <a:spAutoFit/>
          </a:bodyPr>
          <a:lstStyle/>
          <a:p>
            <a:pPr algn="ctr"/>
            <a:r>
              <a:rPr lang="en-GB" sz="2000" dirty="0"/>
              <a:t>If the volumes of two solutions that react completely are known and the concentrations of one solution is known, the concentration of the other solution can be calculated.</a:t>
            </a:r>
            <a:endParaRPr lang="en-GB" sz="2000" b="1" dirty="0">
              <a:solidFill>
                <a:schemeClr val="accent6">
                  <a:lumMod val="75000"/>
                </a:schemeClr>
              </a:solidFill>
            </a:endParaRPr>
          </a:p>
        </p:txBody>
      </p:sp>
      <p:sp>
        <p:nvSpPr>
          <p:cNvPr id="5" name="Rectangle 4">
            <a:extLst>
              <a:ext uri="{FF2B5EF4-FFF2-40B4-BE49-F238E27FC236}">
                <a16:creationId xmlns:a16="http://schemas.microsoft.com/office/drawing/2014/main" xmlns="" id="{44BB4903-CB3E-425C-9E8D-8AC8820396EB}"/>
              </a:ext>
            </a:extLst>
          </p:cNvPr>
          <p:cNvSpPr/>
          <p:nvPr/>
        </p:nvSpPr>
        <p:spPr>
          <a:xfrm>
            <a:off x="91706" y="1635425"/>
            <a:ext cx="7334451" cy="2246769"/>
          </a:xfrm>
          <a:prstGeom prst="rect">
            <a:avLst/>
          </a:prstGeom>
          <a:solidFill>
            <a:schemeClr val="accent6">
              <a:lumMod val="20000"/>
              <a:lumOff val="80000"/>
            </a:schemeClr>
          </a:solidFill>
          <a:ln>
            <a:solidFill>
              <a:schemeClr val="accent6">
                <a:lumMod val="75000"/>
              </a:schemeClr>
            </a:solidFill>
          </a:ln>
        </p:spPr>
        <p:txBody>
          <a:bodyPr wrap="square">
            <a:spAutoFit/>
          </a:bodyPr>
          <a:lstStyle/>
          <a:p>
            <a:pPr algn="ctr"/>
            <a:r>
              <a:rPr lang="en-GB" sz="2000" b="1" dirty="0">
                <a:solidFill>
                  <a:schemeClr val="accent6">
                    <a:lumMod val="75000"/>
                  </a:schemeClr>
                </a:solidFill>
              </a:rPr>
              <a:t>2</a:t>
            </a:r>
            <a:r>
              <a:rPr lang="en-GB" sz="2000" b="1" dirty="0"/>
              <a:t>NaOH(</a:t>
            </a:r>
            <a:r>
              <a:rPr lang="en-GB" sz="2000" b="1" dirty="0" err="1"/>
              <a:t>aq</a:t>
            </a:r>
            <a:r>
              <a:rPr lang="en-GB" sz="2000" b="1" dirty="0"/>
              <a:t>) + H</a:t>
            </a:r>
            <a:r>
              <a:rPr lang="en-GB" sz="2000" b="1" baseline="-25000" dirty="0"/>
              <a:t>2</a:t>
            </a:r>
            <a:r>
              <a:rPr lang="en-GB" sz="2000" b="1" dirty="0"/>
              <a:t>SO</a:t>
            </a:r>
            <a:r>
              <a:rPr lang="en-GB" sz="2000" b="1" baseline="-25000" dirty="0"/>
              <a:t>4</a:t>
            </a:r>
            <a:r>
              <a:rPr lang="en-GB" sz="2000" b="1" dirty="0"/>
              <a:t>(</a:t>
            </a:r>
            <a:r>
              <a:rPr lang="en-GB" sz="2000" b="1" dirty="0" err="1"/>
              <a:t>aq</a:t>
            </a:r>
            <a:r>
              <a:rPr lang="en-GB" sz="2000" b="1" dirty="0"/>
              <a:t>)→ Na</a:t>
            </a:r>
            <a:r>
              <a:rPr lang="en-GB" sz="2000" b="1" baseline="-25000" dirty="0"/>
              <a:t>2</a:t>
            </a:r>
            <a:r>
              <a:rPr lang="en-GB" sz="2000" b="1" dirty="0"/>
              <a:t>S0</a:t>
            </a:r>
            <a:r>
              <a:rPr lang="en-GB" sz="2000" b="1" baseline="-25000" dirty="0"/>
              <a:t>4</a:t>
            </a:r>
            <a:r>
              <a:rPr lang="en-GB" sz="2000" b="1" dirty="0"/>
              <a:t>(</a:t>
            </a:r>
            <a:r>
              <a:rPr lang="en-GB" sz="2000" b="1" dirty="0" err="1"/>
              <a:t>aq</a:t>
            </a:r>
            <a:r>
              <a:rPr lang="en-GB" sz="2000" b="1" dirty="0"/>
              <a:t>) + </a:t>
            </a:r>
            <a:r>
              <a:rPr lang="en-GB" sz="2000" b="1" dirty="0">
                <a:solidFill>
                  <a:schemeClr val="accent6">
                    <a:lumMod val="75000"/>
                  </a:schemeClr>
                </a:solidFill>
              </a:rPr>
              <a:t>2</a:t>
            </a:r>
            <a:r>
              <a:rPr lang="en-GB" sz="2000" b="1" dirty="0"/>
              <a:t>H</a:t>
            </a:r>
            <a:r>
              <a:rPr lang="en-GB" sz="2000" b="1" baseline="-25000" dirty="0"/>
              <a:t>2</a:t>
            </a:r>
            <a:r>
              <a:rPr lang="en-GB" sz="2000" b="1" dirty="0"/>
              <a:t>O(l)</a:t>
            </a:r>
            <a:endParaRPr lang="en-GB" sz="2000" dirty="0">
              <a:solidFill>
                <a:srgbClr val="333333"/>
              </a:solidFill>
            </a:endParaRPr>
          </a:p>
          <a:p>
            <a:pPr algn="ctr"/>
            <a:endParaRPr lang="en-GB" sz="2000" dirty="0">
              <a:solidFill>
                <a:srgbClr val="333333"/>
              </a:solidFill>
            </a:endParaRPr>
          </a:p>
          <a:p>
            <a:pPr algn="ctr"/>
            <a:r>
              <a:rPr lang="en-GB" sz="2000" dirty="0">
                <a:solidFill>
                  <a:srgbClr val="333333"/>
                </a:solidFill>
              </a:rPr>
              <a:t>It takes 12.20cm</a:t>
            </a:r>
            <a:r>
              <a:rPr lang="en-GB" sz="2000" baseline="30000" dirty="0">
                <a:solidFill>
                  <a:srgbClr val="333333"/>
                </a:solidFill>
              </a:rPr>
              <a:t>3</a:t>
            </a:r>
            <a:r>
              <a:rPr lang="en-GB" sz="2000" dirty="0">
                <a:solidFill>
                  <a:srgbClr val="333333"/>
                </a:solidFill>
              </a:rPr>
              <a:t> of sulfuric acid to neutralise 24.00cm</a:t>
            </a:r>
            <a:r>
              <a:rPr lang="en-GB" sz="2000" baseline="30000" dirty="0">
                <a:solidFill>
                  <a:srgbClr val="333333"/>
                </a:solidFill>
              </a:rPr>
              <a:t>3 </a:t>
            </a:r>
            <a:r>
              <a:rPr lang="en-GB" sz="2000" dirty="0">
                <a:solidFill>
                  <a:srgbClr val="333333"/>
                </a:solidFill>
              </a:rPr>
              <a:t>of sodium hydroxide solution, which has a concentration of 0.50mol/dm</a:t>
            </a:r>
            <a:r>
              <a:rPr lang="en-GB" sz="2000" baseline="30000" dirty="0">
                <a:solidFill>
                  <a:srgbClr val="333333"/>
                </a:solidFill>
              </a:rPr>
              <a:t>3</a:t>
            </a:r>
            <a:r>
              <a:rPr lang="en-GB" sz="2000" dirty="0">
                <a:solidFill>
                  <a:srgbClr val="333333"/>
                </a:solidFill>
              </a:rPr>
              <a:t>.</a:t>
            </a:r>
          </a:p>
          <a:p>
            <a:pPr algn="ctr"/>
            <a:endParaRPr lang="en-GB" sz="2000" dirty="0">
              <a:solidFill>
                <a:srgbClr val="333333"/>
              </a:solidFill>
            </a:endParaRPr>
          </a:p>
          <a:p>
            <a:pPr algn="ctr"/>
            <a:r>
              <a:rPr lang="en-GB" sz="2000" i="1" dirty="0">
                <a:solidFill>
                  <a:srgbClr val="333333"/>
                </a:solidFill>
              </a:rPr>
              <a:t>Calculate the concentration of the sulfuric acid in g/dm</a:t>
            </a:r>
            <a:r>
              <a:rPr lang="en-GB" sz="2000" i="1" baseline="30000" dirty="0">
                <a:solidFill>
                  <a:srgbClr val="333333"/>
                </a:solidFill>
              </a:rPr>
              <a:t>3</a:t>
            </a:r>
            <a:endParaRPr lang="en-GB" sz="2000" i="1" dirty="0">
              <a:solidFill>
                <a:srgbClr val="333333"/>
              </a:solidFill>
            </a:endParaRPr>
          </a:p>
          <a:p>
            <a:pPr algn="ctr"/>
            <a:r>
              <a:rPr lang="en-GB" sz="2000" b="1" dirty="0">
                <a:solidFill>
                  <a:schemeClr val="accent6">
                    <a:lumMod val="75000"/>
                  </a:schemeClr>
                </a:solidFill>
              </a:rPr>
              <a:t>0.5 </a:t>
            </a:r>
            <a:r>
              <a:rPr lang="en-GB" sz="2000" b="1" dirty="0" err="1">
                <a:solidFill>
                  <a:schemeClr val="accent6">
                    <a:lumMod val="75000"/>
                  </a:schemeClr>
                </a:solidFill>
              </a:rPr>
              <a:t>mol</a:t>
            </a:r>
            <a:r>
              <a:rPr lang="en-GB" sz="2000" b="1" dirty="0">
                <a:solidFill>
                  <a:schemeClr val="accent6">
                    <a:lumMod val="75000"/>
                  </a:schemeClr>
                </a:solidFill>
              </a:rPr>
              <a:t>/dm</a:t>
            </a:r>
            <a:r>
              <a:rPr lang="en-GB" sz="2000" baseline="30000" dirty="0">
                <a:solidFill>
                  <a:schemeClr val="accent6">
                    <a:lumMod val="75000"/>
                  </a:schemeClr>
                </a:solidFill>
              </a:rPr>
              <a:t>3</a:t>
            </a:r>
            <a:r>
              <a:rPr lang="en-GB" sz="2000" b="1" dirty="0">
                <a:solidFill>
                  <a:schemeClr val="accent6">
                    <a:lumMod val="75000"/>
                  </a:schemeClr>
                </a:solidFill>
              </a:rPr>
              <a:t> x (24/1000) dm</a:t>
            </a:r>
            <a:r>
              <a:rPr lang="en-GB" sz="2000" baseline="30000" dirty="0">
                <a:solidFill>
                  <a:schemeClr val="accent6">
                    <a:lumMod val="75000"/>
                  </a:schemeClr>
                </a:solidFill>
              </a:rPr>
              <a:t>3</a:t>
            </a:r>
            <a:r>
              <a:rPr lang="en-GB" sz="2000" b="1" dirty="0">
                <a:solidFill>
                  <a:schemeClr val="accent6">
                    <a:lumMod val="75000"/>
                  </a:schemeClr>
                </a:solidFill>
              </a:rPr>
              <a:t> = 0.012 </a:t>
            </a:r>
            <a:r>
              <a:rPr lang="en-GB" sz="2000" b="1" dirty="0" err="1">
                <a:solidFill>
                  <a:schemeClr val="accent6">
                    <a:lumMod val="75000"/>
                  </a:schemeClr>
                </a:solidFill>
              </a:rPr>
              <a:t>mol</a:t>
            </a:r>
            <a:r>
              <a:rPr lang="en-GB" sz="2000" b="1" dirty="0">
                <a:solidFill>
                  <a:schemeClr val="accent6">
                    <a:lumMod val="75000"/>
                  </a:schemeClr>
                </a:solidFill>
              </a:rPr>
              <a:t> of </a:t>
            </a:r>
            <a:r>
              <a:rPr lang="en-GB" sz="2000" b="1" dirty="0" err="1">
                <a:solidFill>
                  <a:schemeClr val="accent6">
                    <a:lumMod val="75000"/>
                  </a:schemeClr>
                </a:solidFill>
              </a:rPr>
              <a:t>NaOH</a:t>
            </a:r>
            <a:endParaRPr lang="en-GB" sz="2000" b="1" dirty="0">
              <a:solidFill>
                <a:schemeClr val="accent6">
                  <a:lumMod val="75000"/>
                </a:schemeClr>
              </a:solidFill>
            </a:endParaRPr>
          </a:p>
        </p:txBody>
      </p:sp>
      <p:sp>
        <p:nvSpPr>
          <p:cNvPr id="10" name="TextBox 9">
            <a:extLst>
              <a:ext uri="{FF2B5EF4-FFF2-40B4-BE49-F238E27FC236}">
                <a16:creationId xmlns:a16="http://schemas.microsoft.com/office/drawing/2014/main" xmlns="" id="{A2CD2D53-E950-45C6-9E7A-E150B8622C35}"/>
              </a:ext>
            </a:extLst>
          </p:cNvPr>
          <p:cNvSpPr txBox="1"/>
          <p:nvPr/>
        </p:nvSpPr>
        <p:spPr>
          <a:xfrm>
            <a:off x="91706" y="3992670"/>
            <a:ext cx="8960588" cy="2759730"/>
          </a:xfrm>
          <a:prstGeom prst="rect">
            <a:avLst/>
          </a:prstGeom>
          <a:solidFill>
            <a:schemeClr val="accent6">
              <a:lumMod val="20000"/>
              <a:lumOff val="80000"/>
            </a:schemeClr>
          </a:solidFill>
          <a:ln>
            <a:solidFill>
              <a:schemeClr val="accent6">
                <a:lumMod val="75000"/>
              </a:schemeClr>
            </a:solidFill>
          </a:ln>
        </p:spPr>
        <p:txBody>
          <a:bodyPr wrap="square" rtlCol="0">
            <a:spAutoFit/>
          </a:bodyPr>
          <a:lstStyle/>
          <a:p>
            <a:pPr algn="ctr"/>
            <a:r>
              <a:rPr lang="en-GB" sz="2000" dirty="0"/>
              <a:t>The equation shows that 2 </a:t>
            </a:r>
            <a:r>
              <a:rPr lang="en-GB" sz="2000" dirty="0" err="1"/>
              <a:t>mol</a:t>
            </a:r>
            <a:r>
              <a:rPr lang="en-GB" sz="2000" dirty="0"/>
              <a:t> of </a:t>
            </a:r>
            <a:r>
              <a:rPr lang="en-GB" sz="2000" dirty="0" err="1"/>
              <a:t>NaOH</a:t>
            </a:r>
            <a:r>
              <a:rPr lang="en-GB" sz="2000" dirty="0"/>
              <a:t> reacts with 1 </a:t>
            </a:r>
            <a:r>
              <a:rPr lang="en-GB" sz="2000" dirty="0" err="1"/>
              <a:t>mol</a:t>
            </a:r>
            <a:r>
              <a:rPr lang="en-GB" sz="2000" dirty="0"/>
              <a:t> of H</a:t>
            </a:r>
            <a:r>
              <a:rPr lang="en-GB" sz="2000" baseline="-25000" dirty="0"/>
              <a:t>2</a:t>
            </a:r>
            <a:r>
              <a:rPr lang="en-GB" sz="2000" dirty="0"/>
              <a:t>SO</a:t>
            </a:r>
            <a:r>
              <a:rPr lang="en-GB" sz="2000" baseline="-25000" dirty="0"/>
              <a:t>4</a:t>
            </a:r>
            <a:r>
              <a:rPr lang="en-GB" sz="2000" dirty="0"/>
              <a:t>, so the number of moles in 12.20cm</a:t>
            </a:r>
            <a:r>
              <a:rPr lang="en-GB" sz="2000" baseline="30000" dirty="0"/>
              <a:t>3</a:t>
            </a:r>
            <a:r>
              <a:rPr lang="en-GB" sz="2000" dirty="0"/>
              <a:t> of sulfuric acid  is </a:t>
            </a:r>
            <a:r>
              <a:rPr lang="en-GB" sz="2000" b="1" dirty="0">
                <a:solidFill>
                  <a:schemeClr val="accent6">
                    <a:lumMod val="75000"/>
                  </a:schemeClr>
                </a:solidFill>
              </a:rPr>
              <a:t>(0.012/2) = 0.006 </a:t>
            </a:r>
            <a:r>
              <a:rPr lang="en-GB" sz="2000" b="1" dirty="0" err="1">
                <a:solidFill>
                  <a:schemeClr val="accent6">
                    <a:lumMod val="75000"/>
                  </a:schemeClr>
                </a:solidFill>
              </a:rPr>
              <a:t>mol</a:t>
            </a:r>
            <a:r>
              <a:rPr lang="en-GB" sz="2000" b="1" dirty="0">
                <a:solidFill>
                  <a:schemeClr val="accent6">
                    <a:lumMod val="75000"/>
                  </a:schemeClr>
                </a:solidFill>
              </a:rPr>
              <a:t> of sulfuric acid</a:t>
            </a:r>
          </a:p>
          <a:p>
            <a:pPr algn="ctr"/>
            <a:endParaRPr lang="en-GB" sz="2000" b="1" dirty="0">
              <a:solidFill>
                <a:schemeClr val="accent6">
                  <a:lumMod val="75000"/>
                </a:schemeClr>
              </a:solidFill>
            </a:endParaRPr>
          </a:p>
          <a:p>
            <a:pPr algn="ctr"/>
            <a:r>
              <a:rPr lang="en-GB" sz="2000" i="1" dirty="0"/>
              <a:t>Calculate the concentration of sulfuric acid in </a:t>
            </a:r>
            <a:r>
              <a:rPr lang="en-GB" sz="2000" i="1" dirty="0" err="1"/>
              <a:t>mol</a:t>
            </a:r>
            <a:r>
              <a:rPr lang="en-GB" sz="2000" i="1" dirty="0"/>
              <a:t>/ dm</a:t>
            </a:r>
            <a:r>
              <a:rPr lang="en-GB" sz="2000" i="1" baseline="30000" dirty="0"/>
              <a:t>3</a:t>
            </a:r>
            <a:endParaRPr lang="en-GB" sz="2000" i="1" dirty="0"/>
          </a:p>
          <a:p>
            <a:pPr algn="ctr"/>
            <a:r>
              <a:rPr lang="en-GB" sz="2000" b="1" dirty="0">
                <a:solidFill>
                  <a:schemeClr val="accent6">
                    <a:lumMod val="75000"/>
                  </a:schemeClr>
                </a:solidFill>
              </a:rPr>
              <a:t>0.006 </a:t>
            </a:r>
            <a:r>
              <a:rPr lang="en-GB" sz="2000" b="1" dirty="0" err="1">
                <a:solidFill>
                  <a:schemeClr val="accent6">
                    <a:lumMod val="75000"/>
                  </a:schemeClr>
                </a:solidFill>
              </a:rPr>
              <a:t>mol</a:t>
            </a:r>
            <a:r>
              <a:rPr lang="en-GB" sz="2000" b="1" dirty="0">
                <a:solidFill>
                  <a:schemeClr val="accent6">
                    <a:lumMod val="75000"/>
                  </a:schemeClr>
                </a:solidFill>
              </a:rPr>
              <a:t> x (1000/12.2) dm</a:t>
            </a:r>
            <a:r>
              <a:rPr lang="en-GB" sz="2000" baseline="30000" dirty="0">
                <a:solidFill>
                  <a:schemeClr val="accent6">
                    <a:lumMod val="75000"/>
                  </a:schemeClr>
                </a:solidFill>
              </a:rPr>
              <a:t>3 </a:t>
            </a:r>
            <a:r>
              <a:rPr lang="en-GB" sz="2000" b="1" dirty="0">
                <a:solidFill>
                  <a:schemeClr val="accent6">
                    <a:lumMod val="75000"/>
                  </a:schemeClr>
                </a:solidFill>
              </a:rPr>
              <a:t>=0.49mol/dm</a:t>
            </a:r>
            <a:r>
              <a:rPr lang="en-GB" sz="2000" baseline="30000" dirty="0">
                <a:solidFill>
                  <a:schemeClr val="accent6">
                    <a:lumMod val="75000"/>
                  </a:schemeClr>
                </a:solidFill>
              </a:rPr>
              <a:t>3</a:t>
            </a:r>
          </a:p>
          <a:p>
            <a:pPr algn="ctr"/>
            <a:endParaRPr lang="en-GB" sz="2000" b="1" baseline="30000" dirty="0">
              <a:solidFill>
                <a:schemeClr val="accent6">
                  <a:lumMod val="75000"/>
                </a:schemeClr>
              </a:solidFill>
            </a:endParaRPr>
          </a:p>
          <a:p>
            <a:pPr algn="ctr"/>
            <a:r>
              <a:rPr lang="en-GB" sz="2000" i="1" dirty="0"/>
              <a:t>Calculate the concentration of sulfuric acid in g/ dm</a:t>
            </a:r>
            <a:r>
              <a:rPr lang="en-GB" sz="2000" i="1" baseline="30000" dirty="0"/>
              <a:t>3</a:t>
            </a:r>
            <a:endParaRPr lang="en-GB" sz="2000" i="1" dirty="0"/>
          </a:p>
          <a:p>
            <a:pPr algn="ctr"/>
            <a:r>
              <a:rPr lang="en-GB" sz="2000" b="1" dirty="0">
                <a:solidFill>
                  <a:schemeClr val="accent6">
                    <a:lumMod val="75000"/>
                  </a:schemeClr>
                </a:solidFill>
              </a:rPr>
              <a:t>H</a:t>
            </a:r>
            <a:r>
              <a:rPr lang="en-GB" sz="2000" b="1" baseline="-25000" dirty="0">
                <a:solidFill>
                  <a:schemeClr val="accent6">
                    <a:lumMod val="75000"/>
                  </a:schemeClr>
                </a:solidFill>
              </a:rPr>
              <a:t>2</a:t>
            </a:r>
            <a:r>
              <a:rPr lang="en-GB" sz="2000" b="1" dirty="0">
                <a:solidFill>
                  <a:schemeClr val="accent6">
                    <a:lumMod val="75000"/>
                  </a:schemeClr>
                </a:solidFill>
              </a:rPr>
              <a:t>SO</a:t>
            </a:r>
            <a:r>
              <a:rPr lang="en-GB" sz="2000" b="1" baseline="-25000" dirty="0">
                <a:solidFill>
                  <a:schemeClr val="accent6">
                    <a:lumMod val="75000"/>
                  </a:schemeClr>
                </a:solidFill>
              </a:rPr>
              <a:t>4 </a:t>
            </a:r>
            <a:r>
              <a:rPr lang="en-GB" sz="2000" b="1" dirty="0">
                <a:solidFill>
                  <a:schemeClr val="accent6">
                    <a:lumMod val="75000"/>
                  </a:schemeClr>
                </a:solidFill>
              </a:rPr>
              <a:t>= (2x1) + 32 + (4x16) = 98g</a:t>
            </a:r>
          </a:p>
          <a:p>
            <a:pPr algn="ctr"/>
            <a:r>
              <a:rPr lang="en-GB" sz="2000" b="1" dirty="0">
                <a:solidFill>
                  <a:schemeClr val="accent6">
                    <a:lumMod val="75000"/>
                  </a:schemeClr>
                </a:solidFill>
              </a:rPr>
              <a:t>0.49 x 98g = 48.2g/dm</a:t>
            </a:r>
            <a:r>
              <a:rPr lang="en-GB" sz="2000" baseline="30000" dirty="0">
                <a:solidFill>
                  <a:schemeClr val="accent6">
                    <a:lumMod val="75000"/>
                  </a:schemeClr>
                </a:solidFill>
              </a:rPr>
              <a:t>3</a:t>
            </a:r>
          </a:p>
        </p:txBody>
      </p:sp>
    </p:spTree>
    <p:extLst>
      <p:ext uri="{BB962C8B-B14F-4D97-AF65-F5344CB8AC3E}">
        <p14:creationId xmlns:p14="http://schemas.microsoft.com/office/powerpoint/2010/main" val="38279750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C9FDF976-793A-40EE-8C05-428AAC2FA6FD}"/>
              </a:ext>
            </a:extLst>
          </p:cNvPr>
          <p:cNvSpPr/>
          <p:nvPr/>
        </p:nvSpPr>
        <p:spPr>
          <a:xfrm>
            <a:off x="260888" y="2896941"/>
            <a:ext cx="4743160" cy="857291"/>
          </a:xfrm>
          <a:prstGeom prst="rect">
            <a:avLst/>
          </a:prstGeom>
          <a:solidFill>
            <a:schemeClr val="accent6">
              <a:lumMod val="60000"/>
              <a:lumOff val="40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a:xfrm>
            <a:off x="611560" y="196163"/>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Quantities </a:t>
            </a:r>
            <a:r>
              <a:rPr lang="en-US" sz="2400" b="1" dirty="0">
                <a:solidFill>
                  <a:schemeClr val="accent6"/>
                </a:solidFill>
              </a:rPr>
              <a:t>- CHEMISTRY ONLY</a:t>
            </a:r>
            <a:br>
              <a:rPr lang="en-US" sz="2400" b="1" dirty="0">
                <a:solidFill>
                  <a:schemeClr val="accent6"/>
                </a:solidFill>
              </a:rPr>
            </a:br>
            <a:r>
              <a:rPr lang="en-US" sz="2400" b="1" dirty="0">
                <a:solidFill>
                  <a:schemeClr val="accent6"/>
                </a:solidFill>
              </a:rPr>
              <a:t>Higher</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57944" y="900879"/>
            <a:ext cx="8884096" cy="1138773"/>
          </a:xfrm>
          <a:prstGeom prst="rect">
            <a:avLst/>
          </a:prstGeom>
          <a:noFill/>
          <a:ln>
            <a:solidFill>
              <a:schemeClr val="bg1"/>
            </a:solidFill>
          </a:ln>
        </p:spPr>
        <p:txBody>
          <a:bodyPr wrap="square" rtlCol="0">
            <a:spAutoFit/>
          </a:bodyPr>
          <a:lstStyle/>
          <a:p>
            <a:pPr algn="ctr"/>
            <a:r>
              <a:rPr lang="en-GB" sz="2000" dirty="0"/>
              <a:t>Equal amounts of moles or gases occupy the same volume under the same conditions of temperature and pressure.  The </a:t>
            </a:r>
            <a:r>
              <a:rPr lang="en-GB" sz="2000" b="1" dirty="0"/>
              <a:t>volume</a:t>
            </a:r>
            <a:r>
              <a:rPr lang="en-GB" sz="2000" dirty="0"/>
              <a:t> of </a:t>
            </a:r>
            <a:r>
              <a:rPr lang="en-GB" sz="2000" b="1" dirty="0"/>
              <a:t>one mole </a:t>
            </a:r>
            <a:r>
              <a:rPr lang="en-GB" sz="2000" dirty="0"/>
              <a:t>of any </a:t>
            </a:r>
            <a:r>
              <a:rPr lang="en-GB" sz="2000" b="1" dirty="0"/>
              <a:t>gas</a:t>
            </a:r>
            <a:r>
              <a:rPr lang="en-GB" sz="2000" dirty="0"/>
              <a:t> at </a:t>
            </a:r>
            <a:r>
              <a:rPr lang="en-GB" sz="2000" b="1" dirty="0"/>
              <a:t>room temperature and pressure (</a:t>
            </a:r>
            <a:r>
              <a:rPr lang="en-GB" sz="2000" b="1" dirty="0" err="1"/>
              <a:t>rtp</a:t>
            </a:r>
            <a:r>
              <a:rPr lang="en-GB" sz="2000" b="1" dirty="0"/>
              <a:t>) </a:t>
            </a:r>
            <a:r>
              <a:rPr lang="en-GB" sz="2000" dirty="0"/>
              <a:t>(</a:t>
            </a:r>
            <a:r>
              <a:rPr lang="en-GB" sz="2000" b="1" dirty="0"/>
              <a:t>20°C and 1 atmospheric pressure</a:t>
            </a:r>
            <a:r>
              <a:rPr lang="en-GB" sz="2000" dirty="0"/>
              <a:t>) is </a:t>
            </a:r>
            <a:r>
              <a:rPr lang="en-GB" sz="2000" b="1" dirty="0"/>
              <a:t>24 dm</a:t>
            </a:r>
            <a:r>
              <a:rPr lang="en-GB" sz="2000" b="1" baseline="30000" dirty="0"/>
              <a:t>3</a:t>
            </a:r>
            <a:r>
              <a:rPr lang="en-GB" sz="2000" dirty="0"/>
              <a:t>.</a:t>
            </a:r>
          </a:p>
          <a:p>
            <a:pPr algn="ctr"/>
            <a:endParaRPr lang="en-GB" sz="800" dirty="0"/>
          </a:p>
        </p:txBody>
      </p:sp>
      <p:cxnSp>
        <p:nvCxnSpPr>
          <p:cNvPr id="10" name="Straight Connector 9">
            <a:extLst>
              <a:ext uri="{FF2B5EF4-FFF2-40B4-BE49-F238E27FC236}">
                <a16:creationId xmlns:a16="http://schemas.microsoft.com/office/drawing/2014/main" xmlns="" id="{2F16DB37-D7AF-4CFA-8186-76A9D2F37C42}"/>
              </a:ext>
            </a:extLst>
          </p:cNvPr>
          <p:cNvCxnSpPr>
            <a:cxnSpLocks/>
          </p:cNvCxnSpPr>
          <p:nvPr/>
        </p:nvCxnSpPr>
        <p:spPr>
          <a:xfrm>
            <a:off x="2331368" y="3339482"/>
            <a:ext cx="2088232"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xmlns="" id="{174F9138-4409-4E9A-9F8F-68FB0EC8BE65}"/>
              </a:ext>
            </a:extLst>
          </p:cNvPr>
          <p:cNvSpPr txBox="1"/>
          <p:nvPr/>
        </p:nvSpPr>
        <p:spPr>
          <a:xfrm rot="10800000" flipH="1" flipV="1">
            <a:off x="279870" y="2173667"/>
            <a:ext cx="8468593" cy="1446550"/>
          </a:xfrm>
          <a:prstGeom prst="rect">
            <a:avLst/>
          </a:prstGeom>
          <a:noFill/>
        </p:spPr>
        <p:txBody>
          <a:bodyPr wrap="square" rtlCol="0">
            <a:spAutoFit/>
          </a:bodyPr>
          <a:lstStyle/>
          <a:p>
            <a:r>
              <a:rPr lang="en-GB" sz="2000" dirty="0"/>
              <a:t>You can calculate the </a:t>
            </a:r>
            <a:r>
              <a:rPr lang="en-GB" sz="2000" b="1" dirty="0"/>
              <a:t>volume </a:t>
            </a:r>
            <a:r>
              <a:rPr lang="en-GB" sz="2000" dirty="0"/>
              <a:t>of a gas at room temperature and pressure from its </a:t>
            </a:r>
            <a:r>
              <a:rPr lang="en-GB" sz="2000" b="1" dirty="0"/>
              <a:t>mass</a:t>
            </a:r>
            <a:r>
              <a:rPr lang="en-GB" sz="2000" dirty="0"/>
              <a:t> and </a:t>
            </a:r>
            <a:r>
              <a:rPr lang="en-GB" sz="2000" b="1" dirty="0"/>
              <a:t>relative formula mass </a:t>
            </a:r>
            <a:r>
              <a:rPr lang="en-GB" sz="2000" dirty="0"/>
              <a:t>using the equation:</a:t>
            </a:r>
          </a:p>
          <a:p>
            <a:endParaRPr lang="en-GB" sz="800" dirty="0"/>
          </a:p>
          <a:p>
            <a:r>
              <a:rPr lang="en-GB" sz="2000" b="1" dirty="0"/>
              <a:t>Number of moles =               mass</a:t>
            </a:r>
          </a:p>
          <a:p>
            <a:r>
              <a:rPr lang="en-GB" sz="2000" b="1" dirty="0"/>
              <a:t>	                    relative formula mass</a:t>
            </a:r>
          </a:p>
        </p:txBody>
      </p:sp>
      <p:sp>
        <p:nvSpPr>
          <p:cNvPr id="16" name="TextBox 15">
            <a:extLst>
              <a:ext uri="{FF2B5EF4-FFF2-40B4-BE49-F238E27FC236}">
                <a16:creationId xmlns:a16="http://schemas.microsoft.com/office/drawing/2014/main" xmlns="" id="{F4E8942B-0110-4F51-A507-D1C97DC25B3F}"/>
              </a:ext>
            </a:extLst>
          </p:cNvPr>
          <p:cNvSpPr txBox="1"/>
          <p:nvPr/>
        </p:nvSpPr>
        <p:spPr>
          <a:xfrm>
            <a:off x="260887" y="4186492"/>
            <a:ext cx="8487575" cy="1015663"/>
          </a:xfrm>
          <a:prstGeom prst="rect">
            <a:avLst/>
          </a:prstGeom>
          <a:noFill/>
        </p:spPr>
        <p:txBody>
          <a:bodyPr wrap="square" rtlCol="0">
            <a:spAutoFit/>
          </a:bodyPr>
          <a:lstStyle/>
          <a:p>
            <a:r>
              <a:rPr lang="en-GB" sz="2000" dirty="0"/>
              <a:t>You can calculate the </a:t>
            </a:r>
            <a:r>
              <a:rPr lang="en-GB" sz="2000" b="1" dirty="0"/>
              <a:t>volumes</a:t>
            </a:r>
            <a:r>
              <a:rPr lang="en-GB" sz="2000" dirty="0"/>
              <a:t> of gaseous </a:t>
            </a:r>
            <a:r>
              <a:rPr lang="en-GB" sz="2000" b="1" dirty="0"/>
              <a:t>reactants</a:t>
            </a:r>
            <a:r>
              <a:rPr lang="en-GB" sz="2000" dirty="0"/>
              <a:t> and </a:t>
            </a:r>
            <a:r>
              <a:rPr lang="en-GB" sz="2000" b="1" dirty="0"/>
              <a:t>products</a:t>
            </a:r>
            <a:r>
              <a:rPr lang="en-GB" sz="2000" dirty="0"/>
              <a:t> from a </a:t>
            </a:r>
            <a:r>
              <a:rPr lang="en-GB" sz="2000" b="1" dirty="0"/>
              <a:t>balanced equation </a:t>
            </a:r>
            <a:r>
              <a:rPr lang="en-GB" sz="2000" dirty="0"/>
              <a:t>and a given </a:t>
            </a:r>
            <a:r>
              <a:rPr lang="en-GB" sz="2000" b="1" dirty="0"/>
              <a:t>volume</a:t>
            </a:r>
            <a:r>
              <a:rPr lang="en-GB" sz="2000" dirty="0"/>
              <a:t> of a gaseous </a:t>
            </a:r>
            <a:r>
              <a:rPr lang="en-GB" sz="2000" b="1" dirty="0"/>
              <a:t>reactant or product </a:t>
            </a:r>
            <a:r>
              <a:rPr lang="en-GB" sz="2000" dirty="0"/>
              <a:t>using the following equation:</a:t>
            </a:r>
          </a:p>
        </p:txBody>
      </p:sp>
      <p:sp>
        <p:nvSpPr>
          <p:cNvPr id="18" name="TextBox 17">
            <a:extLst>
              <a:ext uri="{FF2B5EF4-FFF2-40B4-BE49-F238E27FC236}">
                <a16:creationId xmlns:a16="http://schemas.microsoft.com/office/drawing/2014/main" xmlns="" id="{8705D143-2C11-4E87-9A5D-5DA77FF8A77F}"/>
              </a:ext>
            </a:extLst>
          </p:cNvPr>
          <p:cNvSpPr txBox="1"/>
          <p:nvPr/>
        </p:nvSpPr>
        <p:spPr>
          <a:xfrm>
            <a:off x="346489" y="5394790"/>
            <a:ext cx="6138796" cy="707886"/>
          </a:xfrm>
          <a:prstGeom prst="rect">
            <a:avLst/>
          </a:prstGeom>
          <a:solidFill>
            <a:schemeClr val="accent6">
              <a:lumMod val="60000"/>
              <a:lumOff val="40000"/>
            </a:schemeClr>
          </a:solidFill>
          <a:ln>
            <a:solidFill>
              <a:schemeClr val="accent6">
                <a:lumMod val="75000"/>
              </a:schemeClr>
            </a:solidFill>
          </a:ln>
        </p:spPr>
        <p:txBody>
          <a:bodyPr wrap="none" rtlCol="0">
            <a:spAutoFit/>
          </a:bodyPr>
          <a:lstStyle/>
          <a:p>
            <a:r>
              <a:rPr lang="en-GB" sz="2000" b="1" dirty="0">
                <a:ea typeface="Times New Roman" panose="02020603050405020304" pitchFamily="18" charset="0"/>
                <a:cs typeface="Arial" panose="020B0604020202020204" pitchFamily="34" charset="0"/>
              </a:rPr>
              <a:t>Volume of gas at </a:t>
            </a:r>
            <a:r>
              <a:rPr lang="en-GB" sz="2000" b="1" dirty="0" err="1">
                <a:ea typeface="Times New Roman" panose="02020603050405020304" pitchFamily="18" charset="0"/>
                <a:cs typeface="Arial" panose="020B0604020202020204" pitchFamily="34" charset="0"/>
              </a:rPr>
              <a:t>rtp</a:t>
            </a:r>
            <a:r>
              <a:rPr lang="en-GB" sz="2000" dirty="0">
                <a:ea typeface="Times New Roman" panose="02020603050405020304" pitchFamily="18" charset="0"/>
                <a:cs typeface="Arial" panose="020B0604020202020204" pitchFamily="34" charset="0"/>
              </a:rPr>
              <a:t> </a:t>
            </a:r>
            <a:r>
              <a:rPr lang="en-GB" sz="2000" u="sng" dirty="0">
                <a:ea typeface="Times New Roman" panose="02020603050405020304" pitchFamily="18" charset="0"/>
                <a:cs typeface="Arial" panose="020B0604020202020204" pitchFamily="34" charset="0"/>
              </a:rPr>
              <a:t>= </a:t>
            </a:r>
            <a:r>
              <a:rPr lang="en-GB" sz="2000" b="1" u="sng" dirty="0">
                <a:ea typeface="Times New Roman" panose="02020603050405020304" pitchFamily="18" charset="0"/>
                <a:cs typeface="Arial" panose="020B0604020202020204" pitchFamily="34" charset="0"/>
              </a:rPr>
              <a:t>number of moles   x  </a:t>
            </a:r>
            <a:r>
              <a:rPr lang="en-GB" sz="2000" b="1" u="sng" dirty="0" smtClean="0">
                <a:ea typeface="Times New Roman" panose="02020603050405020304" pitchFamily="18" charset="0"/>
                <a:cs typeface="Arial" panose="020B0604020202020204" pitchFamily="34" charset="0"/>
              </a:rPr>
              <a:t> </a:t>
            </a:r>
            <a:r>
              <a:rPr lang="en-GB" sz="2000" b="1" u="sng" dirty="0">
                <a:ea typeface="Times New Roman" panose="02020603050405020304" pitchFamily="18" charset="0"/>
                <a:cs typeface="Arial" panose="020B0604020202020204" pitchFamily="34" charset="0"/>
              </a:rPr>
              <a:t>molar </a:t>
            </a:r>
            <a:r>
              <a:rPr lang="en-GB" sz="2000" b="1" u="sng" dirty="0" smtClean="0">
                <a:ea typeface="Times New Roman" panose="02020603050405020304" pitchFamily="18" charset="0"/>
                <a:cs typeface="Arial" panose="020B0604020202020204" pitchFamily="34" charset="0"/>
              </a:rPr>
              <a:t>mass </a:t>
            </a:r>
            <a:endParaRPr lang="en-GB" sz="2000" b="1" u="sng" dirty="0">
              <a:ea typeface="Times New Roman" panose="02020603050405020304" pitchFamily="18" charset="0"/>
              <a:cs typeface="Arial" panose="020B0604020202020204" pitchFamily="34" charset="0"/>
            </a:endParaRPr>
          </a:p>
          <a:p>
            <a:r>
              <a:rPr lang="en-GB" sz="2000" b="1" dirty="0">
                <a:ea typeface="Times New Roman" panose="02020603050405020304" pitchFamily="18" charset="0"/>
                <a:cs typeface="Arial" panose="020B0604020202020204" pitchFamily="34" charset="0"/>
              </a:rPr>
              <a:t>                                                         </a:t>
            </a:r>
            <a:r>
              <a:rPr lang="en-GB" sz="2000" b="1" dirty="0" smtClean="0">
                <a:ea typeface="Times New Roman" panose="02020603050405020304" pitchFamily="18" charset="0"/>
                <a:cs typeface="Arial" panose="020B0604020202020204" pitchFamily="34" charset="0"/>
              </a:rPr>
              <a:t> </a:t>
            </a:r>
            <a:r>
              <a:rPr lang="en-GB" sz="2000" b="1" dirty="0">
                <a:ea typeface="Times New Roman" panose="02020603050405020304" pitchFamily="18" charset="0"/>
                <a:cs typeface="Arial" panose="020B0604020202020204" pitchFamily="34" charset="0"/>
              </a:rPr>
              <a:t>volume (24 dm</a:t>
            </a:r>
            <a:r>
              <a:rPr lang="en-GB" sz="2000" b="1" baseline="30000" dirty="0">
                <a:ea typeface="Times New Roman" panose="02020603050405020304" pitchFamily="18" charset="0"/>
                <a:cs typeface="Arial" panose="020B0604020202020204" pitchFamily="34" charset="0"/>
              </a:rPr>
              <a:t>3</a:t>
            </a:r>
            <a:r>
              <a:rPr lang="en-GB" sz="2000" b="1" dirty="0">
                <a:ea typeface="Times New Roman" panose="02020603050405020304" pitchFamily="18" charset="0"/>
                <a:cs typeface="Arial" panose="020B0604020202020204" pitchFamily="34" charset="0"/>
              </a:rPr>
              <a:t>)</a:t>
            </a:r>
            <a:endParaRPr lang="en-GB" sz="2000" b="1" dirty="0">
              <a:ea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xmlns="" id="{37024F89-2B6E-47E8-88C5-B14609D43694}"/>
              </a:ext>
            </a:extLst>
          </p:cNvPr>
          <p:cNvCxnSpPr/>
          <p:nvPr/>
        </p:nvCxnSpPr>
        <p:spPr>
          <a:xfrm>
            <a:off x="4499992" y="5717955"/>
            <a:ext cx="1561160" cy="0"/>
          </a:xfrm>
          <a:prstGeom prst="line">
            <a:avLst/>
          </a:prstGeom>
          <a:ln w="317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xmlns="" id="{8705D143-2C11-4E87-9A5D-5DA77FF8A77F}"/>
              </a:ext>
            </a:extLst>
          </p:cNvPr>
          <p:cNvSpPr txBox="1"/>
          <p:nvPr/>
        </p:nvSpPr>
        <p:spPr>
          <a:xfrm>
            <a:off x="5212445" y="3091141"/>
            <a:ext cx="3686202" cy="400110"/>
          </a:xfrm>
          <a:prstGeom prst="rect">
            <a:avLst/>
          </a:prstGeom>
          <a:solidFill>
            <a:schemeClr val="accent6">
              <a:lumMod val="60000"/>
              <a:lumOff val="40000"/>
            </a:schemeClr>
          </a:solidFill>
          <a:ln>
            <a:solidFill>
              <a:schemeClr val="accent6">
                <a:lumMod val="75000"/>
              </a:schemeClr>
            </a:solidFill>
          </a:ln>
        </p:spPr>
        <p:txBody>
          <a:bodyPr wrap="none" rtlCol="0">
            <a:spAutoFit/>
          </a:bodyPr>
          <a:lstStyle/>
          <a:p>
            <a:r>
              <a:rPr lang="en-GB" sz="2000" b="1" dirty="0">
                <a:ea typeface="Times New Roman" panose="02020603050405020304" pitchFamily="18" charset="0"/>
                <a:cs typeface="Arial" panose="020B0604020202020204" pitchFamily="34" charset="0"/>
              </a:rPr>
              <a:t>Volume of gas at </a:t>
            </a:r>
            <a:r>
              <a:rPr lang="en-GB" sz="2000" b="1" dirty="0" err="1">
                <a:ea typeface="Times New Roman" panose="02020603050405020304" pitchFamily="18" charset="0"/>
                <a:cs typeface="Arial" panose="020B0604020202020204" pitchFamily="34" charset="0"/>
              </a:rPr>
              <a:t>rtp</a:t>
            </a:r>
            <a:r>
              <a:rPr lang="en-GB" sz="2000" dirty="0">
                <a:ea typeface="Times New Roman" panose="02020603050405020304" pitchFamily="18" charset="0"/>
                <a:cs typeface="Arial" panose="020B0604020202020204" pitchFamily="34" charset="0"/>
              </a:rPr>
              <a:t> </a:t>
            </a:r>
            <a:r>
              <a:rPr lang="en-GB" sz="2000" b="1" dirty="0" smtClean="0">
                <a:ea typeface="Times New Roman" panose="02020603050405020304" pitchFamily="18" charset="0"/>
                <a:cs typeface="Arial" panose="020B0604020202020204" pitchFamily="34" charset="0"/>
              </a:rPr>
              <a:t>= moles x 24</a:t>
            </a:r>
            <a:endParaRPr lang="en-GB" sz="2000" b="1" dirty="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267779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198704"/>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Quantities </a:t>
            </a:r>
            <a:r>
              <a:rPr lang="en-US" sz="2400" b="1" dirty="0" smtClean="0">
                <a:solidFill>
                  <a:schemeClr val="accent6"/>
                </a:solidFill>
              </a:rPr>
              <a:t>- </a:t>
            </a:r>
            <a:r>
              <a:rPr lang="en-US" sz="2400" b="1" dirty="0">
                <a:solidFill>
                  <a:schemeClr val="accent6"/>
                </a:solidFill>
              </a:rPr>
              <a:t>CHEMISTRY ONLY</a:t>
            </a:r>
            <a:br>
              <a:rPr lang="en-US" sz="2400" b="1" dirty="0">
                <a:solidFill>
                  <a:schemeClr val="accent6"/>
                </a:solidFill>
              </a:rPr>
            </a:br>
            <a:r>
              <a:rPr lang="en-US" sz="2400" b="1" dirty="0">
                <a:solidFill>
                  <a:schemeClr val="accent6"/>
                </a:solidFill>
              </a:rPr>
              <a:t>Higher</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Rectangle 4">
            <a:extLst>
              <a:ext uri="{FF2B5EF4-FFF2-40B4-BE49-F238E27FC236}">
                <a16:creationId xmlns:a16="http://schemas.microsoft.com/office/drawing/2014/main" xmlns="" id="{44BB4903-CB3E-425C-9E8D-8AC8820396EB}"/>
              </a:ext>
            </a:extLst>
          </p:cNvPr>
          <p:cNvSpPr/>
          <p:nvPr/>
        </p:nvSpPr>
        <p:spPr>
          <a:xfrm>
            <a:off x="0" y="722055"/>
            <a:ext cx="3671464" cy="2554545"/>
          </a:xfrm>
          <a:prstGeom prst="rect">
            <a:avLst/>
          </a:prstGeom>
          <a:solidFill>
            <a:schemeClr val="accent6">
              <a:lumMod val="20000"/>
              <a:lumOff val="80000"/>
            </a:schemeClr>
          </a:solidFill>
          <a:ln>
            <a:solidFill>
              <a:schemeClr val="accent6">
                <a:lumMod val="75000"/>
              </a:schemeClr>
            </a:solidFill>
          </a:ln>
        </p:spPr>
        <p:txBody>
          <a:bodyPr wrap="square">
            <a:spAutoFit/>
          </a:bodyPr>
          <a:lstStyle/>
          <a:p>
            <a:r>
              <a:rPr lang="en-GB" sz="2000" i="1" dirty="0"/>
              <a:t>What is the volume of 3.5g of hydrogen?</a:t>
            </a:r>
            <a:r>
              <a:rPr lang="en-GB" sz="2000" dirty="0"/>
              <a:t> </a:t>
            </a:r>
            <a:endParaRPr lang="en-GB" sz="2000" b="1" dirty="0">
              <a:solidFill>
                <a:schemeClr val="accent6">
                  <a:lumMod val="75000"/>
                </a:schemeClr>
              </a:solidFill>
            </a:endParaRPr>
          </a:p>
          <a:p>
            <a:r>
              <a:rPr lang="en-GB" sz="2000" b="1" dirty="0" err="1">
                <a:solidFill>
                  <a:schemeClr val="accent6">
                    <a:lumMod val="75000"/>
                  </a:schemeClr>
                </a:solidFill>
              </a:rPr>
              <a:t>A</a:t>
            </a:r>
            <a:r>
              <a:rPr lang="en-GB" sz="2000" b="1" baseline="-25000" dirty="0" err="1">
                <a:solidFill>
                  <a:schemeClr val="accent6">
                    <a:lumMod val="75000"/>
                  </a:schemeClr>
                </a:solidFill>
              </a:rPr>
              <a:t>r</a:t>
            </a:r>
            <a:r>
              <a:rPr lang="en-GB" sz="2000" b="1" dirty="0">
                <a:solidFill>
                  <a:schemeClr val="accent6">
                    <a:lumMod val="75000"/>
                  </a:schemeClr>
                </a:solidFill>
              </a:rPr>
              <a:t> :  H (1) </a:t>
            </a: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 H</a:t>
            </a:r>
            <a:r>
              <a:rPr lang="en-GB" sz="2000" b="1" baseline="-25000" dirty="0">
                <a:solidFill>
                  <a:schemeClr val="accent6">
                    <a:lumMod val="75000"/>
                  </a:schemeClr>
                </a:solidFill>
              </a:rPr>
              <a:t>2</a:t>
            </a:r>
            <a:r>
              <a:rPr lang="en-GB" sz="2000" b="1" dirty="0">
                <a:solidFill>
                  <a:schemeClr val="accent6">
                    <a:lumMod val="75000"/>
                  </a:schemeClr>
                </a:solidFill>
              </a:rPr>
              <a:t> = 2</a:t>
            </a:r>
          </a:p>
          <a:p>
            <a:r>
              <a:rPr lang="en-GB" sz="2000" b="1" dirty="0">
                <a:solidFill>
                  <a:schemeClr val="accent6">
                    <a:lumMod val="75000"/>
                  </a:schemeClr>
                </a:solidFill>
              </a:rPr>
              <a:t>1 mole in g = </a:t>
            </a:r>
            <a:r>
              <a:rPr lang="en-GB" sz="2000" b="1" dirty="0" smtClean="0">
                <a:solidFill>
                  <a:schemeClr val="accent6">
                    <a:lumMod val="75000"/>
                  </a:schemeClr>
                </a:solidFill>
              </a:rPr>
              <a:t>2g</a:t>
            </a:r>
            <a:endParaRPr lang="en-GB" sz="2000" b="1" dirty="0">
              <a:solidFill>
                <a:schemeClr val="accent6">
                  <a:lumMod val="75000"/>
                </a:schemeClr>
              </a:solidFill>
            </a:endParaRPr>
          </a:p>
          <a:p>
            <a:r>
              <a:rPr lang="en-GB" sz="2000" b="1" dirty="0">
                <a:solidFill>
                  <a:schemeClr val="accent6">
                    <a:lumMod val="75000"/>
                  </a:schemeClr>
                </a:solidFill>
              </a:rPr>
              <a:t>3.5/2 = 1.75 </a:t>
            </a:r>
            <a:r>
              <a:rPr lang="en-GB" sz="2000" b="1" dirty="0" err="1">
                <a:solidFill>
                  <a:schemeClr val="accent6">
                    <a:lumMod val="75000"/>
                  </a:schemeClr>
                </a:solidFill>
              </a:rPr>
              <a:t>mol</a:t>
            </a:r>
            <a:endParaRPr lang="en-GB" sz="2000" b="1" dirty="0">
              <a:solidFill>
                <a:schemeClr val="accent6">
                  <a:lumMod val="75000"/>
                </a:schemeClr>
              </a:solidFill>
            </a:endParaRPr>
          </a:p>
          <a:p>
            <a:endParaRPr lang="en-GB" sz="2000" b="1" dirty="0">
              <a:solidFill>
                <a:schemeClr val="accent6">
                  <a:lumMod val="75000"/>
                </a:schemeClr>
              </a:solidFill>
            </a:endParaRPr>
          </a:p>
          <a:p>
            <a:r>
              <a:rPr lang="en-GB" sz="2000" b="1" dirty="0">
                <a:solidFill>
                  <a:schemeClr val="accent6">
                    <a:lumMod val="75000"/>
                  </a:schemeClr>
                </a:solidFill>
              </a:rPr>
              <a:t>volume H</a:t>
            </a:r>
            <a:r>
              <a:rPr lang="en-GB" sz="2000" b="1" baseline="-25000" dirty="0">
                <a:solidFill>
                  <a:schemeClr val="accent6">
                    <a:lumMod val="75000"/>
                  </a:schemeClr>
                </a:solidFill>
              </a:rPr>
              <a:t>2</a:t>
            </a:r>
            <a:r>
              <a:rPr lang="en-GB" sz="2000" b="1" dirty="0">
                <a:solidFill>
                  <a:schemeClr val="accent6">
                    <a:lumMod val="75000"/>
                  </a:schemeClr>
                </a:solidFill>
              </a:rPr>
              <a:t> = 1.75 x 24 = 42 dm</a:t>
            </a:r>
            <a:r>
              <a:rPr lang="en-GB" sz="2000" b="1" baseline="30000" dirty="0">
                <a:solidFill>
                  <a:schemeClr val="accent6">
                    <a:lumMod val="75000"/>
                  </a:schemeClr>
                </a:solidFill>
              </a:rPr>
              <a:t>3</a:t>
            </a:r>
            <a:r>
              <a:rPr lang="en-GB" sz="2000" b="1" dirty="0">
                <a:solidFill>
                  <a:schemeClr val="accent6">
                    <a:lumMod val="75000"/>
                  </a:schemeClr>
                </a:solidFill>
              </a:rPr>
              <a:t> </a:t>
            </a:r>
            <a:endParaRPr lang="en-GB" sz="2000" b="1" i="0" dirty="0">
              <a:solidFill>
                <a:schemeClr val="accent6">
                  <a:lumMod val="75000"/>
                </a:schemeClr>
              </a:solidFill>
              <a:effectLst/>
            </a:endParaRPr>
          </a:p>
        </p:txBody>
      </p:sp>
      <p:sp>
        <p:nvSpPr>
          <p:cNvPr id="13" name="Rectangle 12">
            <a:extLst>
              <a:ext uri="{FF2B5EF4-FFF2-40B4-BE49-F238E27FC236}">
                <a16:creationId xmlns:a16="http://schemas.microsoft.com/office/drawing/2014/main" xmlns="" id="{FCF454E6-6D85-4DE7-A5EE-9AA6BC805958}"/>
              </a:ext>
            </a:extLst>
          </p:cNvPr>
          <p:cNvSpPr/>
          <p:nvPr/>
        </p:nvSpPr>
        <p:spPr>
          <a:xfrm>
            <a:off x="3765920" y="948402"/>
            <a:ext cx="5283696" cy="1938992"/>
          </a:xfrm>
          <a:prstGeom prst="rect">
            <a:avLst/>
          </a:prstGeom>
          <a:solidFill>
            <a:schemeClr val="accent6">
              <a:lumMod val="20000"/>
              <a:lumOff val="80000"/>
            </a:schemeClr>
          </a:solidFill>
          <a:ln>
            <a:solidFill>
              <a:schemeClr val="accent6">
                <a:lumMod val="75000"/>
              </a:schemeClr>
            </a:solidFill>
          </a:ln>
        </p:spPr>
        <p:txBody>
          <a:bodyPr wrap="square">
            <a:spAutoFit/>
          </a:bodyPr>
          <a:lstStyle/>
          <a:p>
            <a:r>
              <a:rPr lang="en-GB" sz="2000" i="1" dirty="0">
                <a:solidFill>
                  <a:srgbClr val="000000"/>
                </a:solidFill>
              </a:rPr>
              <a:t>6g of a hydrocarbon gas had a volume of 4.8 dm</a:t>
            </a:r>
            <a:r>
              <a:rPr lang="en-GB" sz="2000" i="1" baseline="30000" dirty="0">
                <a:solidFill>
                  <a:srgbClr val="000000"/>
                </a:solidFill>
              </a:rPr>
              <a:t>3</a:t>
            </a:r>
            <a:r>
              <a:rPr lang="en-GB" sz="2000" i="1" dirty="0">
                <a:solidFill>
                  <a:srgbClr val="000000"/>
                </a:solidFill>
              </a:rPr>
              <a:t>. Calculate its molecular mass.</a:t>
            </a:r>
          </a:p>
          <a:p>
            <a:endParaRPr lang="en-GB" sz="2000" i="1" dirty="0">
              <a:solidFill>
                <a:srgbClr val="000000"/>
              </a:solidFill>
            </a:endParaRPr>
          </a:p>
          <a:p>
            <a:r>
              <a:rPr lang="en-GB" sz="2000" b="1" dirty="0">
                <a:solidFill>
                  <a:schemeClr val="accent6">
                    <a:lumMod val="75000"/>
                  </a:schemeClr>
                </a:solidFill>
              </a:rPr>
              <a:t>1 mole = 24 dm</a:t>
            </a:r>
            <a:r>
              <a:rPr lang="en-GB" sz="2000" b="1" baseline="30000" dirty="0">
                <a:solidFill>
                  <a:schemeClr val="accent6">
                    <a:lumMod val="75000"/>
                  </a:schemeClr>
                </a:solidFill>
              </a:rPr>
              <a:t>3</a:t>
            </a:r>
            <a:r>
              <a:rPr lang="en-GB" sz="2000" b="1" dirty="0">
                <a:solidFill>
                  <a:schemeClr val="accent6">
                    <a:lumMod val="75000"/>
                  </a:schemeClr>
                </a:solidFill>
              </a:rPr>
              <a:t>, so 4.8/24 = 0.2 </a:t>
            </a:r>
            <a:r>
              <a:rPr lang="en-GB" sz="2000" b="1" dirty="0" err="1" smtClean="0">
                <a:solidFill>
                  <a:schemeClr val="accent6">
                    <a:lumMod val="75000"/>
                  </a:schemeClr>
                </a:solidFill>
              </a:rPr>
              <a:t>mol</a:t>
            </a:r>
            <a:endParaRPr lang="en-GB" sz="2000" b="1" dirty="0">
              <a:solidFill>
                <a:schemeClr val="accent6">
                  <a:lumMod val="75000"/>
                </a:schemeClr>
              </a:solidFill>
            </a:endParaRPr>
          </a:p>
          <a:p>
            <a:r>
              <a:rPr lang="en-GB" sz="2000" b="1" dirty="0">
                <a:solidFill>
                  <a:schemeClr val="accent6">
                    <a:lumMod val="75000"/>
                  </a:schemeClr>
                </a:solidFill>
              </a:rPr>
              <a:t>M</a:t>
            </a:r>
            <a:r>
              <a:rPr lang="en-GB" sz="2000" b="1" baseline="-25000" dirty="0">
                <a:solidFill>
                  <a:schemeClr val="accent6">
                    <a:lumMod val="75000"/>
                  </a:schemeClr>
                </a:solidFill>
              </a:rPr>
              <a:t>r</a:t>
            </a:r>
            <a:r>
              <a:rPr lang="en-GB" sz="2000" b="1" dirty="0">
                <a:solidFill>
                  <a:schemeClr val="accent6">
                    <a:lumMod val="75000"/>
                  </a:schemeClr>
                </a:solidFill>
              </a:rPr>
              <a:t> = 6 / 0.2 = </a:t>
            </a:r>
            <a:r>
              <a:rPr lang="en-GB" sz="2000" b="1" dirty="0" smtClean="0">
                <a:solidFill>
                  <a:schemeClr val="accent6">
                    <a:lumMod val="75000"/>
                  </a:schemeClr>
                </a:solidFill>
              </a:rPr>
              <a:t>30</a:t>
            </a:r>
            <a:endParaRPr lang="en-GB" sz="2000" b="1" dirty="0">
              <a:solidFill>
                <a:schemeClr val="accent6">
                  <a:lumMod val="75000"/>
                </a:schemeClr>
              </a:solidFill>
            </a:endParaRPr>
          </a:p>
          <a:p>
            <a:r>
              <a:rPr lang="en-GB" sz="2000" b="1" dirty="0">
                <a:solidFill>
                  <a:schemeClr val="accent6">
                    <a:lumMod val="75000"/>
                  </a:schemeClr>
                </a:solidFill>
              </a:rPr>
              <a:t>if 6g = 0.2 </a:t>
            </a:r>
            <a:r>
              <a:rPr lang="en-GB" sz="2000" b="1" dirty="0" err="1">
                <a:solidFill>
                  <a:schemeClr val="accent6">
                    <a:lumMod val="75000"/>
                  </a:schemeClr>
                </a:solidFill>
              </a:rPr>
              <a:t>mol</a:t>
            </a:r>
            <a:r>
              <a:rPr lang="en-GB" sz="2000" b="1" dirty="0">
                <a:solidFill>
                  <a:schemeClr val="accent6">
                    <a:lumMod val="75000"/>
                  </a:schemeClr>
                </a:solidFill>
              </a:rPr>
              <a:t>, 1 </a:t>
            </a:r>
            <a:r>
              <a:rPr lang="en-GB" sz="2000" b="1" dirty="0" err="1">
                <a:solidFill>
                  <a:schemeClr val="accent6">
                    <a:lumMod val="75000"/>
                  </a:schemeClr>
                </a:solidFill>
              </a:rPr>
              <a:t>mol</a:t>
            </a:r>
            <a:r>
              <a:rPr lang="en-GB" sz="2000" b="1" dirty="0">
                <a:solidFill>
                  <a:schemeClr val="accent6">
                    <a:lumMod val="75000"/>
                  </a:schemeClr>
                </a:solidFill>
              </a:rPr>
              <a:t> equals 30 g </a:t>
            </a:r>
            <a:endParaRPr lang="en-GB" sz="2000" b="1" i="0" dirty="0">
              <a:solidFill>
                <a:schemeClr val="accent6">
                  <a:lumMod val="75000"/>
                </a:schemeClr>
              </a:solidFill>
              <a:effectLst/>
            </a:endParaRPr>
          </a:p>
        </p:txBody>
      </p:sp>
      <p:sp>
        <p:nvSpPr>
          <p:cNvPr id="12" name="Rectangle 11">
            <a:extLst>
              <a:ext uri="{FF2B5EF4-FFF2-40B4-BE49-F238E27FC236}">
                <a16:creationId xmlns:a16="http://schemas.microsoft.com/office/drawing/2014/main" xmlns="" id="{A3175E69-2430-4AD5-99AE-F3899B0E9E9B}"/>
              </a:ext>
            </a:extLst>
          </p:cNvPr>
          <p:cNvSpPr/>
          <p:nvPr/>
        </p:nvSpPr>
        <p:spPr>
          <a:xfrm>
            <a:off x="197768" y="3607524"/>
            <a:ext cx="3024336" cy="2554545"/>
          </a:xfrm>
          <a:prstGeom prst="rect">
            <a:avLst/>
          </a:prstGeom>
          <a:solidFill>
            <a:schemeClr val="accent6">
              <a:lumMod val="20000"/>
              <a:lumOff val="80000"/>
            </a:schemeClr>
          </a:solidFill>
          <a:ln>
            <a:solidFill>
              <a:schemeClr val="accent6">
                <a:lumMod val="75000"/>
              </a:schemeClr>
            </a:solidFill>
          </a:ln>
        </p:spPr>
        <p:txBody>
          <a:bodyPr wrap="square">
            <a:spAutoFit/>
          </a:bodyPr>
          <a:lstStyle/>
          <a:p>
            <a:r>
              <a:rPr lang="en-GB" sz="2000" i="1" dirty="0"/>
              <a:t>What is the volume of 11.6 g of </a:t>
            </a:r>
          </a:p>
          <a:p>
            <a:r>
              <a:rPr lang="en-GB" sz="2000" i="1" dirty="0"/>
              <a:t>butane (C</a:t>
            </a:r>
            <a:r>
              <a:rPr lang="en-GB" sz="2000" i="1" baseline="-25000" dirty="0"/>
              <a:t>4</a:t>
            </a:r>
            <a:r>
              <a:rPr lang="en-GB" sz="2000" i="1" dirty="0"/>
              <a:t>H</a:t>
            </a:r>
            <a:r>
              <a:rPr lang="en-GB" sz="2000" i="1" baseline="-25000" dirty="0"/>
              <a:t>10</a:t>
            </a:r>
            <a:r>
              <a:rPr lang="en-GB" sz="2000" i="1" dirty="0"/>
              <a:t>) gas at RTP?</a:t>
            </a:r>
          </a:p>
          <a:p>
            <a:endParaRPr lang="en-GB" sz="2000" dirty="0"/>
          </a:p>
          <a:p>
            <a:r>
              <a:rPr lang="en-GB" sz="2000" b="1" dirty="0">
                <a:solidFill>
                  <a:schemeClr val="accent6">
                    <a:lumMod val="75000"/>
                  </a:schemeClr>
                </a:solidFill>
              </a:rPr>
              <a:t>M</a:t>
            </a:r>
            <a:r>
              <a:rPr lang="en-GB" sz="2000" b="1" baseline="-25000" dirty="0">
                <a:solidFill>
                  <a:schemeClr val="accent6">
                    <a:lumMod val="75000"/>
                  </a:schemeClr>
                </a:solidFill>
              </a:rPr>
              <a:t>r </a:t>
            </a:r>
            <a:r>
              <a:rPr lang="en-GB" sz="2000" b="1" dirty="0">
                <a:solidFill>
                  <a:schemeClr val="accent6">
                    <a:lumMod val="75000"/>
                  </a:schemeClr>
                </a:solidFill>
              </a:rPr>
              <a:t>: (4 x 12) + (10 x 1) = </a:t>
            </a:r>
            <a:r>
              <a:rPr lang="en-GB" sz="2000" b="1" dirty="0" smtClean="0">
                <a:solidFill>
                  <a:schemeClr val="accent6">
                    <a:lumMod val="75000"/>
                  </a:schemeClr>
                </a:solidFill>
              </a:rPr>
              <a:t>58</a:t>
            </a:r>
            <a:endParaRPr lang="en-GB" sz="2000" b="1" dirty="0">
              <a:solidFill>
                <a:schemeClr val="accent6">
                  <a:lumMod val="75000"/>
                </a:schemeClr>
              </a:solidFill>
            </a:endParaRPr>
          </a:p>
          <a:p>
            <a:r>
              <a:rPr lang="en-GB" sz="2000" b="1" dirty="0">
                <a:solidFill>
                  <a:schemeClr val="accent6">
                    <a:lumMod val="75000"/>
                  </a:schemeClr>
                </a:solidFill>
              </a:rPr>
              <a:t>11.6/58 = 0.20 </a:t>
            </a:r>
            <a:r>
              <a:rPr lang="en-GB" sz="2000" b="1" dirty="0" err="1" smtClean="0">
                <a:solidFill>
                  <a:schemeClr val="accent6">
                    <a:lumMod val="75000"/>
                  </a:schemeClr>
                </a:solidFill>
              </a:rPr>
              <a:t>mol</a:t>
            </a:r>
            <a:endParaRPr lang="en-GB" sz="2000" b="1" dirty="0">
              <a:solidFill>
                <a:schemeClr val="accent6">
                  <a:lumMod val="75000"/>
                </a:schemeClr>
              </a:solidFill>
            </a:endParaRPr>
          </a:p>
          <a:p>
            <a:r>
              <a:rPr lang="en-GB" sz="2000" b="1" dirty="0">
                <a:solidFill>
                  <a:schemeClr val="accent6">
                    <a:lumMod val="75000"/>
                  </a:schemeClr>
                </a:solidFill>
              </a:rPr>
              <a:t>volume =  0.20 x 24 = 4.8 dm</a:t>
            </a:r>
            <a:r>
              <a:rPr lang="en-GB" sz="2000" b="1" baseline="30000" dirty="0">
                <a:solidFill>
                  <a:schemeClr val="accent6">
                    <a:lumMod val="75000"/>
                  </a:schemeClr>
                </a:solidFill>
              </a:rPr>
              <a:t>3</a:t>
            </a:r>
            <a:endParaRPr lang="en-GB" sz="2000" b="1" dirty="0">
              <a:solidFill>
                <a:schemeClr val="accent6">
                  <a:lumMod val="75000"/>
                </a:schemeClr>
              </a:solidFill>
            </a:endParaRPr>
          </a:p>
        </p:txBody>
      </p:sp>
      <p:sp>
        <p:nvSpPr>
          <p:cNvPr id="6" name="Rectangle 5">
            <a:extLst>
              <a:ext uri="{FF2B5EF4-FFF2-40B4-BE49-F238E27FC236}">
                <a16:creationId xmlns:a16="http://schemas.microsoft.com/office/drawing/2014/main" xmlns="" id="{CDB23334-C148-49CD-B4E7-9CF432EA89DA}"/>
              </a:ext>
            </a:extLst>
          </p:cNvPr>
          <p:cNvSpPr/>
          <p:nvPr/>
        </p:nvSpPr>
        <p:spPr>
          <a:xfrm>
            <a:off x="3419872" y="3015118"/>
            <a:ext cx="5616624" cy="3477875"/>
          </a:xfrm>
          <a:prstGeom prst="rect">
            <a:avLst/>
          </a:prstGeom>
          <a:solidFill>
            <a:schemeClr val="accent6">
              <a:lumMod val="20000"/>
              <a:lumOff val="80000"/>
            </a:schemeClr>
          </a:solidFill>
          <a:ln>
            <a:solidFill>
              <a:schemeClr val="accent6">
                <a:lumMod val="75000"/>
              </a:schemeClr>
            </a:solidFill>
          </a:ln>
        </p:spPr>
        <p:txBody>
          <a:bodyPr wrap="square">
            <a:spAutoFit/>
          </a:bodyPr>
          <a:lstStyle/>
          <a:p>
            <a:r>
              <a:rPr lang="en-GB" sz="2000" i="1" dirty="0">
                <a:solidFill>
                  <a:srgbClr val="000000"/>
                </a:solidFill>
              </a:rPr>
              <a:t>What mass of magnesium carbonate is needed to make 6 dm</a:t>
            </a:r>
            <a:r>
              <a:rPr lang="en-GB" sz="2000" i="1" baseline="30000" dirty="0">
                <a:solidFill>
                  <a:srgbClr val="000000"/>
                </a:solidFill>
              </a:rPr>
              <a:t>3</a:t>
            </a:r>
            <a:r>
              <a:rPr lang="en-GB" sz="2000" i="1" dirty="0">
                <a:solidFill>
                  <a:srgbClr val="000000"/>
                </a:solidFill>
              </a:rPr>
              <a:t> of carbon dioxide?</a:t>
            </a:r>
          </a:p>
          <a:p>
            <a:r>
              <a:rPr lang="pt-BR" sz="2000" dirty="0"/>
              <a:t>        MgCO</a:t>
            </a:r>
            <a:r>
              <a:rPr lang="pt-BR" sz="2000" baseline="-25000" dirty="0"/>
              <a:t>3(s)</a:t>
            </a:r>
            <a:r>
              <a:rPr lang="pt-BR" sz="2000" dirty="0"/>
              <a:t> + H</a:t>
            </a:r>
            <a:r>
              <a:rPr lang="pt-BR" sz="2000" baseline="-25000" dirty="0"/>
              <a:t>2</a:t>
            </a:r>
            <a:r>
              <a:rPr lang="pt-BR" sz="2000" dirty="0"/>
              <a:t>SO</a:t>
            </a:r>
            <a:r>
              <a:rPr lang="pt-BR" sz="2000" baseline="-25000" dirty="0"/>
              <a:t>4(aq)</a:t>
            </a:r>
            <a:r>
              <a:rPr lang="pt-BR" sz="2000" dirty="0"/>
              <a:t> </a:t>
            </a:r>
            <a:r>
              <a:rPr lang="pt-BR" sz="2000" dirty="0">
                <a:sym typeface="Wingdings" panose="05000000000000000000" pitchFamily="2" charset="2"/>
              </a:rPr>
              <a:t></a:t>
            </a:r>
            <a:r>
              <a:rPr lang="pt-BR" sz="2000" dirty="0"/>
              <a:t> MgSO</a:t>
            </a:r>
            <a:r>
              <a:rPr lang="pt-BR" sz="2000" baseline="-25000" dirty="0"/>
              <a:t>4(aq)</a:t>
            </a:r>
            <a:r>
              <a:rPr lang="pt-BR" sz="2000" dirty="0"/>
              <a:t> + H</a:t>
            </a:r>
            <a:r>
              <a:rPr lang="pt-BR" sz="2000" baseline="-25000" dirty="0"/>
              <a:t>2</a:t>
            </a:r>
            <a:r>
              <a:rPr lang="pt-BR" sz="2000" dirty="0"/>
              <a:t>O</a:t>
            </a:r>
            <a:r>
              <a:rPr lang="pt-BR" sz="2000" baseline="-25000" dirty="0"/>
              <a:t>(l)</a:t>
            </a:r>
            <a:r>
              <a:rPr lang="pt-BR" sz="2000" dirty="0"/>
              <a:t> +CO</a:t>
            </a:r>
            <a:r>
              <a:rPr lang="pt-BR" sz="2000" baseline="-25000" dirty="0"/>
              <a:t>2(g)</a:t>
            </a:r>
          </a:p>
          <a:p>
            <a:r>
              <a:rPr lang="en-GB" sz="2000" b="1" dirty="0">
                <a:solidFill>
                  <a:schemeClr val="accent6">
                    <a:lumMod val="75000"/>
                  </a:schemeClr>
                </a:solidFill>
              </a:rPr>
              <a:t>1 mole = 24 dm</a:t>
            </a:r>
            <a:r>
              <a:rPr lang="en-GB" sz="2000" b="1" baseline="30000" dirty="0">
                <a:solidFill>
                  <a:schemeClr val="accent6">
                    <a:lumMod val="75000"/>
                  </a:schemeClr>
                </a:solidFill>
              </a:rPr>
              <a:t>3</a:t>
            </a:r>
            <a:r>
              <a:rPr lang="en-GB" sz="2000" b="1" dirty="0">
                <a:solidFill>
                  <a:schemeClr val="accent6">
                    <a:lumMod val="75000"/>
                  </a:schemeClr>
                </a:solidFill>
              </a:rPr>
              <a:t>, 6 dm</a:t>
            </a:r>
            <a:r>
              <a:rPr lang="en-GB" sz="2000" b="1" baseline="30000" dirty="0">
                <a:solidFill>
                  <a:schemeClr val="accent6">
                    <a:lumMod val="75000"/>
                  </a:schemeClr>
                </a:solidFill>
              </a:rPr>
              <a:t>3</a:t>
            </a:r>
            <a:r>
              <a:rPr lang="en-GB" sz="2000" b="1" dirty="0">
                <a:solidFill>
                  <a:schemeClr val="accent6">
                    <a:lumMod val="75000"/>
                  </a:schemeClr>
                </a:solidFill>
              </a:rPr>
              <a:t> is equal to 6/24 = 0.25 </a:t>
            </a:r>
            <a:r>
              <a:rPr lang="en-GB" sz="2000" b="1" dirty="0" err="1">
                <a:solidFill>
                  <a:schemeClr val="accent6">
                    <a:lumMod val="75000"/>
                  </a:schemeClr>
                </a:solidFill>
              </a:rPr>
              <a:t>mol</a:t>
            </a:r>
            <a:r>
              <a:rPr lang="en-GB" sz="2000" b="1" dirty="0">
                <a:solidFill>
                  <a:schemeClr val="accent6">
                    <a:lumMod val="75000"/>
                  </a:schemeClr>
                </a:solidFill>
              </a:rPr>
              <a:t> of gas</a:t>
            </a:r>
          </a:p>
          <a:p>
            <a:r>
              <a:rPr lang="en-GB" sz="2000" b="1" dirty="0">
                <a:solidFill>
                  <a:schemeClr val="accent6">
                    <a:lumMod val="75000"/>
                  </a:schemeClr>
                </a:solidFill>
              </a:rPr>
              <a:t>From the equation, 1 mole of MgCO</a:t>
            </a:r>
            <a:r>
              <a:rPr lang="en-GB" sz="2000" b="1" baseline="-25000" dirty="0">
                <a:solidFill>
                  <a:schemeClr val="accent6">
                    <a:lumMod val="75000"/>
                  </a:schemeClr>
                </a:solidFill>
              </a:rPr>
              <a:t>3</a:t>
            </a:r>
            <a:r>
              <a:rPr lang="en-GB" sz="2000" b="1" dirty="0">
                <a:solidFill>
                  <a:schemeClr val="accent6">
                    <a:lumMod val="75000"/>
                  </a:schemeClr>
                </a:solidFill>
              </a:rPr>
              <a:t> produces 1 mole of CO</a:t>
            </a:r>
            <a:r>
              <a:rPr lang="en-GB" sz="2000" b="1" baseline="-25000" dirty="0">
                <a:solidFill>
                  <a:schemeClr val="accent6">
                    <a:lumMod val="75000"/>
                  </a:schemeClr>
                </a:solidFill>
              </a:rPr>
              <a:t>2</a:t>
            </a:r>
            <a:r>
              <a:rPr lang="en-GB" sz="2000" b="1" dirty="0">
                <a:solidFill>
                  <a:schemeClr val="accent6">
                    <a:lumMod val="75000"/>
                  </a:schemeClr>
                </a:solidFill>
              </a:rPr>
              <a:t>, which occupies a volume of 24 dm</a:t>
            </a:r>
            <a:r>
              <a:rPr lang="en-GB" sz="2000" b="1" baseline="30000" dirty="0">
                <a:solidFill>
                  <a:schemeClr val="accent6">
                    <a:lumMod val="75000"/>
                  </a:schemeClr>
                </a:solidFill>
              </a:rPr>
              <a:t>3</a:t>
            </a:r>
            <a:r>
              <a:rPr lang="en-GB" sz="2000" b="1" dirty="0">
                <a:solidFill>
                  <a:schemeClr val="accent6">
                    <a:lumMod val="75000"/>
                  </a:schemeClr>
                </a:solidFill>
              </a:rPr>
              <a:t>.</a:t>
            </a:r>
          </a:p>
          <a:p>
            <a:r>
              <a:rPr lang="en-GB" sz="2000" b="1" dirty="0">
                <a:solidFill>
                  <a:schemeClr val="accent6">
                    <a:lumMod val="75000"/>
                  </a:schemeClr>
                </a:solidFill>
              </a:rPr>
              <a:t>so 0.25 moles of MgCO</a:t>
            </a:r>
            <a:r>
              <a:rPr lang="en-GB" sz="2000" b="1" baseline="-25000" dirty="0">
                <a:solidFill>
                  <a:schemeClr val="accent6">
                    <a:lumMod val="75000"/>
                  </a:schemeClr>
                </a:solidFill>
              </a:rPr>
              <a:t>3</a:t>
            </a:r>
            <a:r>
              <a:rPr lang="en-GB" sz="2000" b="1" dirty="0">
                <a:solidFill>
                  <a:schemeClr val="accent6">
                    <a:lumMod val="75000"/>
                  </a:schemeClr>
                </a:solidFill>
              </a:rPr>
              <a:t> is needed to make 0.25 </a:t>
            </a:r>
            <a:r>
              <a:rPr lang="en-GB" sz="2000" b="1" dirty="0" err="1">
                <a:solidFill>
                  <a:schemeClr val="accent6">
                    <a:lumMod val="75000"/>
                  </a:schemeClr>
                </a:solidFill>
              </a:rPr>
              <a:t>mol</a:t>
            </a:r>
            <a:r>
              <a:rPr lang="en-GB" sz="2000" b="1" dirty="0">
                <a:solidFill>
                  <a:schemeClr val="accent6">
                    <a:lumMod val="75000"/>
                  </a:schemeClr>
                </a:solidFill>
              </a:rPr>
              <a:t> of CO</a:t>
            </a:r>
            <a:r>
              <a:rPr lang="en-GB" sz="2000" b="1" baseline="-25000" dirty="0">
                <a:solidFill>
                  <a:schemeClr val="accent6">
                    <a:lumMod val="75000"/>
                  </a:schemeClr>
                </a:solidFill>
              </a:rPr>
              <a:t>2</a:t>
            </a:r>
            <a:r>
              <a:rPr lang="en-GB" sz="2000" b="1" dirty="0">
                <a:solidFill>
                  <a:schemeClr val="accent6">
                    <a:lumMod val="75000"/>
                  </a:schemeClr>
                </a:solidFill>
              </a:rPr>
              <a:t> </a:t>
            </a:r>
          </a:p>
          <a:p>
            <a:r>
              <a:rPr lang="en-GB" sz="2000" b="1" dirty="0">
                <a:solidFill>
                  <a:schemeClr val="accent6">
                    <a:lumMod val="75000"/>
                  </a:schemeClr>
                </a:solidFill>
              </a:rPr>
              <a:t>M</a:t>
            </a:r>
            <a:r>
              <a:rPr lang="en-GB" sz="2000" b="1" baseline="-25000" dirty="0">
                <a:solidFill>
                  <a:schemeClr val="accent6">
                    <a:lumMod val="75000"/>
                  </a:schemeClr>
                </a:solidFill>
              </a:rPr>
              <a:t>r </a:t>
            </a:r>
            <a:r>
              <a:rPr lang="en-GB" sz="2000" b="1" dirty="0">
                <a:solidFill>
                  <a:schemeClr val="accent6">
                    <a:lumMod val="75000"/>
                  </a:schemeClr>
                </a:solidFill>
              </a:rPr>
              <a:t>: MgCO</a:t>
            </a:r>
            <a:r>
              <a:rPr lang="en-GB" sz="2000" b="1" baseline="-25000" dirty="0">
                <a:solidFill>
                  <a:schemeClr val="accent6">
                    <a:lumMod val="75000"/>
                  </a:schemeClr>
                </a:solidFill>
              </a:rPr>
              <a:t>3</a:t>
            </a:r>
            <a:r>
              <a:rPr lang="en-GB" sz="2000" b="1" dirty="0">
                <a:solidFill>
                  <a:schemeClr val="accent6">
                    <a:lumMod val="75000"/>
                  </a:schemeClr>
                </a:solidFill>
              </a:rPr>
              <a:t> = 24 + 12 + (3 x 16) = 84,</a:t>
            </a:r>
          </a:p>
          <a:p>
            <a:r>
              <a:rPr lang="en-GB" sz="2000" b="1" dirty="0">
                <a:solidFill>
                  <a:schemeClr val="accent6">
                    <a:lumMod val="75000"/>
                  </a:schemeClr>
                </a:solidFill>
              </a:rPr>
              <a:t>Mass of MgCO</a:t>
            </a:r>
            <a:r>
              <a:rPr lang="en-GB" sz="2000" b="1" baseline="-25000" dirty="0">
                <a:solidFill>
                  <a:schemeClr val="accent6">
                    <a:lumMod val="75000"/>
                  </a:schemeClr>
                </a:solidFill>
              </a:rPr>
              <a:t>3</a:t>
            </a:r>
            <a:r>
              <a:rPr lang="en-GB" sz="2000" b="1" dirty="0">
                <a:solidFill>
                  <a:schemeClr val="accent6">
                    <a:lumMod val="75000"/>
                  </a:schemeClr>
                </a:solidFill>
              </a:rPr>
              <a:t>  = 0.25 x 84 = 21g</a:t>
            </a:r>
          </a:p>
        </p:txBody>
      </p:sp>
    </p:spTree>
    <p:extLst>
      <p:ext uri="{BB962C8B-B14F-4D97-AF65-F5344CB8AC3E}">
        <p14:creationId xmlns:p14="http://schemas.microsoft.com/office/powerpoint/2010/main" val="11800820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308872"/>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r>
              <a:rPr lang="en-GB" sz="3600" b="1" dirty="0">
                <a:solidFill>
                  <a:schemeClr val="tx1">
                    <a:lumMod val="50000"/>
                    <a:lumOff val="50000"/>
                  </a:schemeClr>
                </a:solidFill>
              </a:rPr>
              <a:t>Quantities</a:t>
            </a:r>
          </a:p>
          <a:p>
            <a:r>
              <a:rPr lang="en-GB" sz="3600" b="1" i="1" dirty="0" smtClean="0">
                <a:solidFill>
                  <a:schemeClr val="tx1">
                    <a:lumMod val="50000"/>
                    <a:lumOff val="50000"/>
                  </a:schemeClr>
                </a:solidFill>
              </a:rPr>
              <a:t>CHEMISTRY </a:t>
            </a:r>
            <a:r>
              <a:rPr lang="en-GB" sz="3600" b="1" i="1" dirty="0">
                <a:solidFill>
                  <a:schemeClr val="tx1">
                    <a:lumMod val="50000"/>
                    <a:lumOff val="50000"/>
                  </a:schemeClr>
                </a:solidFill>
              </a:rPr>
              <a:t>ONLY</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Moles of solution and gases </a:t>
            </a:r>
          </a:p>
          <a:p>
            <a:pPr marL="342900" lvl="1"/>
            <a:r>
              <a:rPr lang="en-US" sz="2400" b="1" dirty="0">
                <a:solidFill>
                  <a:schemeClr val="bg1">
                    <a:lumMod val="50000"/>
                  </a:schemeClr>
                </a:solidFill>
              </a:rPr>
              <a:t>     (HT)</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11386223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Quantities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5509200"/>
          </a:xfrm>
          <a:prstGeom prst="rect">
            <a:avLst/>
          </a:prstGeom>
          <a:noFill/>
        </p:spPr>
        <p:txBody>
          <a:bodyPr wrap="square" rtlCol="0">
            <a:spAutoFit/>
          </a:bodyPr>
          <a:lstStyle/>
          <a:p>
            <a:pPr marL="457200" indent="-457200">
              <a:buAutoNum type="arabicPeriod"/>
            </a:pPr>
            <a:r>
              <a:rPr lang="en-GB" sz="2400" dirty="0" smtClean="0"/>
              <a:t>What are the units for concentration? </a:t>
            </a:r>
          </a:p>
          <a:p>
            <a:pPr marL="457200" indent="-457200">
              <a:buAutoNum type="arabicPeriod"/>
            </a:pPr>
            <a:endParaRPr lang="en-GB" sz="2400" dirty="0" smtClean="0"/>
          </a:p>
          <a:p>
            <a:pPr marL="457200" indent="-457200">
              <a:buAutoNum type="arabicPeriod"/>
            </a:pPr>
            <a:r>
              <a:rPr lang="en-GB" sz="2400" dirty="0" smtClean="0"/>
              <a:t>What is the equation for the calculation of concentration from the moles and volume of solution?</a:t>
            </a:r>
          </a:p>
          <a:p>
            <a:pPr marL="457200" indent="-457200">
              <a:buAutoNum type="arabicPeriod"/>
            </a:pPr>
            <a:endParaRPr lang="en-GB" sz="2400" dirty="0" smtClean="0"/>
          </a:p>
          <a:p>
            <a:pPr marL="457200" indent="-457200">
              <a:buAutoNum type="arabicPeriod"/>
            </a:pPr>
            <a:r>
              <a:rPr lang="en-GB" sz="2400" dirty="0" smtClean="0"/>
              <a:t>What can be said about equal amounts of moles of gases and the volume they occupy?</a:t>
            </a:r>
          </a:p>
          <a:p>
            <a:pPr marL="457200" indent="-457200">
              <a:buAutoNum type="arabicPeriod"/>
            </a:pPr>
            <a:endParaRPr lang="en-GB" sz="2400" dirty="0" smtClean="0"/>
          </a:p>
          <a:p>
            <a:pPr marL="457200" indent="-457200">
              <a:buAutoNum type="arabicPeriod"/>
            </a:pPr>
            <a:r>
              <a:rPr lang="en-GB" sz="2400" dirty="0" smtClean="0"/>
              <a:t>What is meant by RTP?</a:t>
            </a:r>
          </a:p>
          <a:p>
            <a:pPr marL="457200" indent="-457200">
              <a:buAutoNum type="arabicPeriod"/>
            </a:pPr>
            <a:endParaRPr lang="en-GB" sz="2400" dirty="0" smtClean="0"/>
          </a:p>
          <a:p>
            <a:pPr marL="457200" indent="-457200">
              <a:buAutoNum type="arabicPeriod"/>
            </a:pPr>
            <a:r>
              <a:rPr lang="en-GB" sz="2400" dirty="0" smtClean="0"/>
              <a:t>What are the values for RTP?</a:t>
            </a:r>
          </a:p>
          <a:p>
            <a:pPr marL="457200" indent="-457200">
              <a:buAutoNum type="arabicPeriod"/>
            </a:pPr>
            <a:endParaRPr lang="en-GB" sz="2400" dirty="0" smtClean="0"/>
          </a:p>
          <a:p>
            <a:endParaRPr lang="en-GB" sz="2400" dirty="0"/>
          </a:p>
          <a:p>
            <a:pPr marL="457200" indent="-457200">
              <a:buAutoNum type="arabicPeriod" startAt="3"/>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902428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Quantities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4031873"/>
          </a:xfrm>
          <a:prstGeom prst="rect">
            <a:avLst/>
          </a:prstGeom>
          <a:noFill/>
        </p:spPr>
        <p:txBody>
          <a:bodyPr wrap="square" rtlCol="0">
            <a:spAutoFit/>
          </a:bodyPr>
          <a:lstStyle/>
          <a:p>
            <a:pPr marL="457200" indent="-457200">
              <a:buFont typeface="+mj-lt"/>
              <a:buAutoNum type="arabicPeriod" startAt="6"/>
            </a:pPr>
            <a:r>
              <a:rPr lang="en-GB" sz="2400" dirty="0"/>
              <a:t>What is the </a:t>
            </a:r>
            <a:r>
              <a:rPr lang="en-GB" sz="2400" dirty="0" smtClean="0"/>
              <a:t>concentration, in </a:t>
            </a:r>
            <a:r>
              <a:rPr lang="en-GB" sz="2400" dirty="0"/>
              <a:t>g/ </a:t>
            </a:r>
            <a:r>
              <a:rPr lang="en-GB" sz="2400" dirty="0" smtClean="0"/>
              <a:t>dm</a:t>
            </a:r>
            <a:r>
              <a:rPr lang="en-GB" sz="2400" baseline="30000" dirty="0" smtClean="0"/>
              <a:t>3</a:t>
            </a:r>
            <a:r>
              <a:rPr lang="en-GB" sz="2400" dirty="0" smtClean="0"/>
              <a:t>, of </a:t>
            </a:r>
            <a:r>
              <a:rPr lang="en-GB" sz="2400" dirty="0"/>
              <a:t>a solution that has 40g of solute in </a:t>
            </a:r>
            <a:r>
              <a:rPr lang="en-GB" sz="2400" dirty="0" smtClean="0"/>
              <a:t>2dm</a:t>
            </a:r>
            <a:r>
              <a:rPr lang="en-GB" sz="2400" baseline="30000" dirty="0" smtClean="0"/>
              <a:t>3</a:t>
            </a:r>
            <a:r>
              <a:rPr lang="en-GB" sz="2400" dirty="0" smtClean="0"/>
              <a:t> </a:t>
            </a:r>
            <a:r>
              <a:rPr lang="en-GB" sz="2400" dirty="0"/>
              <a:t>of </a:t>
            </a:r>
            <a:r>
              <a:rPr lang="en-GB" sz="2400" dirty="0" smtClean="0"/>
              <a:t>solution?</a:t>
            </a:r>
          </a:p>
          <a:p>
            <a:pPr marL="457200" indent="-457200">
              <a:buFont typeface="+mj-lt"/>
              <a:buAutoNum type="arabicPeriod" startAt="6"/>
            </a:pPr>
            <a:endParaRPr lang="en-GB" sz="2400" dirty="0"/>
          </a:p>
          <a:p>
            <a:pPr marL="457200" indent="-457200">
              <a:buFont typeface="+mj-lt"/>
              <a:buAutoNum type="arabicPeriod" startAt="6"/>
            </a:pPr>
            <a:endParaRPr lang="en-GB" sz="2400" dirty="0" smtClean="0"/>
          </a:p>
          <a:p>
            <a:pPr marL="457200" indent="-457200">
              <a:buFont typeface="+mj-lt"/>
              <a:buAutoNum type="arabicPeriod" startAt="6"/>
            </a:pPr>
            <a:endParaRPr lang="en-GB" sz="2400" dirty="0"/>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Calculate </a:t>
            </a:r>
            <a:r>
              <a:rPr lang="en-GB" sz="2400" dirty="0"/>
              <a:t>the concentration in </a:t>
            </a:r>
            <a:r>
              <a:rPr lang="en-GB" sz="2400" dirty="0" err="1"/>
              <a:t>mol</a:t>
            </a:r>
            <a:r>
              <a:rPr lang="en-GB" sz="2400" dirty="0"/>
              <a:t>/dm</a:t>
            </a:r>
            <a:r>
              <a:rPr lang="en-GB" sz="2400" baseline="30000" dirty="0"/>
              <a:t>3  </a:t>
            </a:r>
            <a:r>
              <a:rPr lang="en-GB" sz="2400" dirty="0"/>
              <a:t>of a solution that has  </a:t>
            </a:r>
          </a:p>
          <a:p>
            <a:r>
              <a:rPr lang="en-GB" sz="2400" dirty="0"/>
              <a:t>       0.75 </a:t>
            </a:r>
            <a:r>
              <a:rPr lang="en-GB" sz="2400" dirty="0" err="1"/>
              <a:t>mol</a:t>
            </a:r>
            <a:r>
              <a:rPr lang="en-GB" sz="2400" dirty="0"/>
              <a:t> of an acid in </a:t>
            </a:r>
            <a:r>
              <a:rPr lang="en-GB" sz="2400" dirty="0" smtClean="0"/>
              <a:t>3dm</a:t>
            </a:r>
            <a:r>
              <a:rPr lang="en-GB" sz="2400" baseline="30000" dirty="0" smtClean="0"/>
              <a:t>3</a:t>
            </a:r>
            <a:r>
              <a:rPr lang="en-GB" sz="2400" dirty="0" smtClean="0"/>
              <a:t> </a:t>
            </a:r>
            <a:r>
              <a:rPr lang="en-GB" sz="2400" dirty="0"/>
              <a:t>of </a:t>
            </a:r>
            <a:r>
              <a:rPr lang="en-GB" sz="2400" dirty="0" smtClean="0"/>
              <a:t>solution.</a:t>
            </a:r>
            <a:endParaRPr lang="en-GB" sz="2400" dirty="0"/>
          </a:p>
          <a:p>
            <a:pPr lvl="0"/>
            <a:r>
              <a:rPr lang="en-GB" sz="2400" b="1" dirty="0">
                <a:solidFill>
                  <a:srgbClr val="00B050"/>
                </a:solidFill>
              </a:rPr>
              <a:t>       </a:t>
            </a:r>
          </a:p>
          <a:p>
            <a:pPr marL="457200" indent="-457200">
              <a:buAutoNum type="arabicPeriod" startAt="3"/>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6701354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Quantities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4770537"/>
          </a:xfrm>
          <a:prstGeom prst="rect">
            <a:avLst/>
          </a:prstGeom>
          <a:noFill/>
        </p:spPr>
        <p:txBody>
          <a:bodyPr wrap="square" rtlCol="0">
            <a:spAutoFit/>
          </a:bodyPr>
          <a:lstStyle/>
          <a:p>
            <a:pPr marL="457200" lvl="0" indent="-457200">
              <a:buFont typeface="+mj-lt"/>
              <a:buAutoNum type="arabicPeriod" startAt="8"/>
            </a:pPr>
            <a:r>
              <a:rPr lang="en-GB" sz="2400" dirty="0">
                <a:latin typeface="Calibri"/>
              </a:rPr>
              <a:t>It takes 28.0cm</a:t>
            </a:r>
            <a:r>
              <a:rPr lang="en-GB" sz="2400" baseline="30000" dirty="0"/>
              <a:t>3</a:t>
            </a:r>
            <a:r>
              <a:rPr lang="en-GB" sz="2400" dirty="0">
                <a:latin typeface="Calibri"/>
              </a:rPr>
              <a:t> of potassium hydroxide to neutralise 25.00cm</a:t>
            </a:r>
            <a:r>
              <a:rPr lang="en-GB" sz="2400" baseline="30000" dirty="0"/>
              <a:t>3</a:t>
            </a:r>
            <a:r>
              <a:rPr lang="en-GB" sz="2400" dirty="0">
                <a:latin typeface="Calibri"/>
              </a:rPr>
              <a:t> of nitric acid at a concentration </a:t>
            </a:r>
            <a:r>
              <a:rPr lang="en-GB" sz="2400" dirty="0" smtClean="0">
                <a:latin typeface="Calibri"/>
              </a:rPr>
              <a:t>of 0.50 </a:t>
            </a:r>
            <a:r>
              <a:rPr lang="en-GB" sz="2400" dirty="0" err="1">
                <a:latin typeface="Calibri"/>
              </a:rPr>
              <a:t>mol</a:t>
            </a:r>
            <a:r>
              <a:rPr lang="en-GB" sz="2400" dirty="0">
                <a:latin typeface="Calibri"/>
              </a:rPr>
              <a:t>/dm</a:t>
            </a:r>
            <a:r>
              <a:rPr lang="en-GB" sz="2400" baseline="30000" dirty="0"/>
              <a:t>3</a:t>
            </a:r>
            <a:r>
              <a:rPr lang="en-GB" sz="2400" dirty="0">
                <a:latin typeface="Calibri"/>
              </a:rPr>
              <a:t>.  </a:t>
            </a:r>
          </a:p>
          <a:p>
            <a:pPr lvl="0" algn="ctr"/>
            <a:r>
              <a:rPr lang="en-GB" sz="2400" b="1" dirty="0"/>
              <a:t>HNO</a:t>
            </a:r>
            <a:r>
              <a:rPr lang="en-GB" sz="2400" b="1" baseline="-25000" dirty="0"/>
              <a:t>3 </a:t>
            </a:r>
            <a:r>
              <a:rPr lang="en-GB" sz="2400" b="1" dirty="0"/>
              <a:t> + KOH → KNO</a:t>
            </a:r>
            <a:r>
              <a:rPr lang="en-GB" sz="2400" b="1" baseline="-25000" dirty="0"/>
              <a:t>3</a:t>
            </a:r>
            <a:r>
              <a:rPr lang="en-GB" sz="2400" b="1" dirty="0"/>
              <a:t> + </a:t>
            </a:r>
            <a:r>
              <a:rPr lang="en-GB" sz="2400" b="1" dirty="0" smtClean="0"/>
              <a:t>H</a:t>
            </a:r>
            <a:r>
              <a:rPr lang="en-GB" sz="2400" b="1" baseline="-25000" dirty="0" smtClean="0"/>
              <a:t>2</a:t>
            </a:r>
            <a:r>
              <a:rPr lang="en-GB" sz="2400" b="1" dirty="0" smtClean="0"/>
              <a:t>O</a:t>
            </a:r>
          </a:p>
          <a:p>
            <a:pPr lvl="0" algn="ctr"/>
            <a:r>
              <a:rPr lang="en-GB" sz="2400" dirty="0" smtClean="0">
                <a:latin typeface="Calibri"/>
              </a:rPr>
              <a:t>Calculate </a:t>
            </a:r>
            <a:r>
              <a:rPr lang="en-GB" sz="2400" dirty="0">
                <a:latin typeface="Calibri"/>
              </a:rPr>
              <a:t>the concentration </a:t>
            </a:r>
            <a:r>
              <a:rPr lang="en-GB" sz="2400" dirty="0" smtClean="0">
                <a:latin typeface="Calibri"/>
              </a:rPr>
              <a:t>of </a:t>
            </a:r>
            <a:r>
              <a:rPr lang="en-GB" sz="2400" dirty="0">
                <a:latin typeface="Calibri"/>
              </a:rPr>
              <a:t>the potassium hydroxide</a:t>
            </a:r>
            <a:r>
              <a:rPr lang="en-GB" sz="2400" dirty="0" smtClean="0">
                <a:latin typeface="Calibri"/>
              </a:rPr>
              <a:t>.</a:t>
            </a:r>
            <a:r>
              <a:rPr lang="en-GB" sz="2400" dirty="0"/>
              <a:t> </a:t>
            </a:r>
            <a:endParaRPr lang="en-GB" sz="2400" dirty="0" smtClean="0"/>
          </a:p>
          <a:p>
            <a:pPr lvl="0" algn="ctr"/>
            <a:endParaRPr lang="en-GB" sz="2400" dirty="0"/>
          </a:p>
          <a:p>
            <a:pPr marL="457200" lvl="0" indent="-457200">
              <a:buFont typeface="+mj-lt"/>
              <a:buAutoNum type="arabicPeriod" startAt="9"/>
            </a:pPr>
            <a:r>
              <a:rPr lang="en-GB" sz="2400" dirty="0" smtClean="0"/>
              <a:t>What is the </a:t>
            </a:r>
            <a:r>
              <a:rPr lang="en-GB" sz="2400" dirty="0"/>
              <a:t>volume of 4.5g of oxygen? </a:t>
            </a:r>
            <a:endParaRPr lang="en-GB" sz="2400" dirty="0" smtClean="0"/>
          </a:p>
          <a:p>
            <a:pPr marL="457200" lvl="0" indent="-457200">
              <a:buFont typeface="+mj-lt"/>
              <a:buAutoNum type="arabicPeriod" startAt="9"/>
            </a:pPr>
            <a:endParaRPr lang="en-GB" sz="2400" dirty="0"/>
          </a:p>
          <a:p>
            <a:pPr marL="457200" lvl="0" indent="-457200">
              <a:buFont typeface="+mj-lt"/>
              <a:buAutoNum type="arabicPeriod" startAt="9"/>
            </a:pPr>
            <a:endParaRPr lang="en-GB" sz="2400" dirty="0" smtClean="0"/>
          </a:p>
          <a:p>
            <a:pPr marL="457200" lvl="0" indent="-457200">
              <a:buFont typeface="+mj-lt"/>
              <a:buAutoNum type="arabicPeriod" startAt="9"/>
            </a:pPr>
            <a:r>
              <a:rPr lang="en-GB" sz="2400" dirty="0" smtClean="0"/>
              <a:t>Calculate </a:t>
            </a:r>
            <a:r>
              <a:rPr lang="en-GB" sz="2400" dirty="0"/>
              <a:t>the number of moles of hydrogen that occupy 6dm</a:t>
            </a:r>
            <a:r>
              <a:rPr lang="en-GB" sz="2400" baseline="30000" dirty="0"/>
              <a:t>3</a:t>
            </a:r>
            <a:r>
              <a:rPr lang="en-GB" sz="2400" dirty="0"/>
              <a:t> at  </a:t>
            </a:r>
          </a:p>
          <a:p>
            <a:r>
              <a:rPr lang="en-GB" sz="2400" dirty="0"/>
              <a:t>       RTP.</a:t>
            </a:r>
          </a:p>
          <a:p>
            <a:pPr lvl="0"/>
            <a:endParaRPr lang="en-GB" sz="2400" dirty="0">
              <a:latin typeface="Calibri"/>
            </a:endParaRPr>
          </a:p>
          <a:p>
            <a:r>
              <a:rPr lang="en-GB" sz="2400" b="1" dirty="0">
                <a:solidFill>
                  <a:schemeClr val="accent6">
                    <a:lumMod val="75000"/>
                  </a:schemeClr>
                </a:solidFill>
                <a:latin typeface="Calibri"/>
              </a:rPr>
              <a:t>       </a:t>
            </a: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835775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955203"/>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Quantities</a:t>
            </a:r>
          </a:p>
          <a:p>
            <a:r>
              <a:rPr lang="en-GB" sz="3600" b="1" i="1" dirty="0" smtClean="0">
                <a:solidFill>
                  <a:schemeClr val="tx1">
                    <a:lumMod val="50000"/>
                    <a:lumOff val="50000"/>
                  </a:schemeClr>
                </a:solidFill>
              </a:rPr>
              <a:t>CHEMISTRY </a:t>
            </a:r>
            <a:r>
              <a:rPr lang="en-GB" sz="3600" b="1" i="1" dirty="0">
                <a:solidFill>
                  <a:schemeClr val="tx1">
                    <a:lumMod val="50000"/>
                    <a:lumOff val="50000"/>
                  </a:schemeClr>
                </a:solidFill>
              </a:rPr>
              <a:t>ONLY</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Moles of solution and gases (HT)</a:t>
            </a:r>
          </a:p>
          <a:p>
            <a:pPr marL="685800" lvl="1" indent="-342900">
              <a:buFont typeface="Arial" charset="0"/>
              <a:buChar char="•"/>
            </a:pPr>
            <a:endParaRPr lang="en-US" sz="2400" b="1" dirty="0">
              <a:solidFill>
                <a:schemeClr val="bg1">
                  <a:lumMod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7984" y="784286"/>
            <a:ext cx="4824536" cy="5257800"/>
          </a:xfrm>
          <a:prstGeom prst="rect">
            <a:avLst/>
          </a:prstGeom>
        </p:spPr>
      </p:pic>
    </p:spTree>
    <p:extLst>
      <p:ext uri="{BB962C8B-B14F-4D97-AF65-F5344CB8AC3E}">
        <p14:creationId xmlns:p14="http://schemas.microsoft.com/office/powerpoint/2010/main" val="4923781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Quantities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mc:AlternateContent xmlns:mc="http://schemas.openxmlformats.org/markup-compatibility/2006" xmlns:a14="http://schemas.microsoft.com/office/drawing/2010/main">
        <mc:Choice Requires="a14">
          <p:sp>
            <p:nvSpPr>
              <p:cNvPr id="6" name="TextBox 5"/>
              <p:cNvSpPr txBox="1"/>
              <p:nvPr/>
            </p:nvSpPr>
            <p:spPr>
              <a:xfrm>
                <a:off x="149087" y="697936"/>
                <a:ext cx="8743393" cy="4201663"/>
              </a:xfrm>
              <a:prstGeom prst="rect">
                <a:avLst/>
              </a:prstGeom>
              <a:noFill/>
            </p:spPr>
            <p:txBody>
              <a:bodyPr wrap="square" rtlCol="0">
                <a:spAutoFit/>
              </a:bodyPr>
              <a:lstStyle/>
              <a:p>
                <a:pPr marL="457200" indent="-457200">
                  <a:buAutoNum type="arabicPeriod"/>
                </a:pPr>
                <a:r>
                  <a:rPr lang="en-GB" sz="2400" dirty="0" smtClean="0"/>
                  <a:t>What are the units for concentration? </a:t>
                </a:r>
              </a:p>
              <a:p>
                <a:pPr lvl="1"/>
                <a:r>
                  <a:rPr lang="en-GB" sz="2400" b="1" dirty="0" err="1">
                    <a:solidFill>
                      <a:srgbClr val="00B050"/>
                    </a:solidFill>
                  </a:rPr>
                  <a:t>m</a:t>
                </a:r>
                <a:r>
                  <a:rPr lang="en-GB" sz="2400" b="1" dirty="0" err="1" smtClean="0">
                    <a:solidFill>
                      <a:srgbClr val="00B050"/>
                    </a:solidFill>
                  </a:rPr>
                  <a:t>ol</a:t>
                </a:r>
                <a:r>
                  <a:rPr lang="en-GB" sz="2400" b="1" dirty="0" smtClean="0">
                    <a:solidFill>
                      <a:srgbClr val="00B050"/>
                    </a:solidFill>
                  </a:rPr>
                  <a:t>/dm</a:t>
                </a:r>
                <a:r>
                  <a:rPr lang="en-GB" sz="2400" b="1" baseline="30000" dirty="0" smtClean="0">
                    <a:solidFill>
                      <a:srgbClr val="00B050"/>
                    </a:solidFill>
                  </a:rPr>
                  <a:t>3</a:t>
                </a:r>
                <a:r>
                  <a:rPr lang="en-GB" sz="2400" b="1" dirty="0" smtClean="0">
                    <a:solidFill>
                      <a:srgbClr val="00B050"/>
                    </a:solidFill>
                  </a:rPr>
                  <a:t> (g/dm</a:t>
                </a:r>
                <a:r>
                  <a:rPr lang="en-GB" sz="2400" b="1" baseline="30000" dirty="0" smtClean="0">
                    <a:solidFill>
                      <a:srgbClr val="00B050"/>
                    </a:solidFill>
                  </a:rPr>
                  <a:t>3</a:t>
                </a:r>
                <a:r>
                  <a:rPr lang="en-GB" sz="2400" b="1" dirty="0" smtClean="0">
                    <a:solidFill>
                      <a:srgbClr val="00B050"/>
                    </a:solidFill>
                  </a:rPr>
                  <a:t>)</a:t>
                </a:r>
                <a:endParaRPr lang="en-GB" sz="2400" dirty="0" smtClean="0"/>
              </a:p>
              <a:p>
                <a:pPr marL="457200" indent="-457200">
                  <a:buAutoNum type="arabicPeriod"/>
                </a:pPr>
                <a:r>
                  <a:rPr lang="en-GB" sz="2400" dirty="0" smtClean="0"/>
                  <a:t>What is the equation for the calculation of concentration from the moles and volume of solution?</a:t>
                </a:r>
              </a:p>
              <a:p>
                <a:pPr lvl="1"/>
                <a:r>
                  <a:rPr lang="en-GB" sz="2400" b="1" dirty="0" smtClean="0">
                    <a:solidFill>
                      <a:srgbClr val="00B050"/>
                    </a:solidFill>
                  </a:rPr>
                  <a:t>Concentration = </a:t>
                </a:r>
                <a14:m>
                  <m:oMath xmlns:m="http://schemas.openxmlformats.org/officeDocument/2006/math">
                    <m:f>
                      <m:fPr>
                        <m:ctrlPr>
                          <a:rPr lang="en-GB" sz="2400" b="1" i="1" smtClean="0">
                            <a:solidFill>
                              <a:srgbClr val="00B050"/>
                            </a:solidFill>
                            <a:latin typeface="Cambria Math" panose="02040503050406030204" pitchFamily="18" charset="0"/>
                          </a:rPr>
                        </m:ctrlPr>
                      </m:fPr>
                      <m:num>
                        <m:r>
                          <a:rPr lang="en-GB" sz="2400" b="1" i="0" smtClean="0">
                            <a:solidFill>
                              <a:srgbClr val="00B050"/>
                            </a:solidFill>
                            <a:latin typeface="Cambria Math" panose="02040503050406030204" pitchFamily="18" charset="0"/>
                          </a:rPr>
                          <m:t>𝐌𝐨𝐥𝐞𝐬</m:t>
                        </m:r>
                      </m:num>
                      <m:den>
                        <m:r>
                          <a:rPr lang="en-GB" sz="2400" b="1" i="0" smtClean="0">
                            <a:solidFill>
                              <a:srgbClr val="00B050"/>
                            </a:solidFill>
                            <a:latin typeface="Cambria Math" panose="02040503050406030204" pitchFamily="18" charset="0"/>
                          </a:rPr>
                          <m:t>𝐕𝐨𝐥𝐮𝐦𝐞</m:t>
                        </m:r>
                      </m:den>
                    </m:f>
                  </m:oMath>
                </a14:m>
                <a:endParaRPr lang="en-GB" sz="2400" dirty="0" smtClean="0"/>
              </a:p>
              <a:p>
                <a:pPr marL="457200" indent="-457200">
                  <a:buAutoNum type="arabicPeriod"/>
                </a:pPr>
                <a:r>
                  <a:rPr lang="en-GB" sz="2400" dirty="0" smtClean="0"/>
                  <a:t>What can be said about equal amounts of moles of gases and the volume they occupy?</a:t>
                </a:r>
              </a:p>
              <a:p>
                <a:pPr lvl="1"/>
                <a:r>
                  <a:rPr lang="en-GB" sz="2400" b="1" dirty="0" smtClean="0">
                    <a:solidFill>
                      <a:srgbClr val="00B050"/>
                    </a:solidFill>
                  </a:rPr>
                  <a:t>Equal amounts of moles of gases occupy the same volume under the same conditions of temperature and pressure.</a:t>
                </a:r>
                <a:endParaRPr lang="en-GB" sz="2400" dirty="0" smtClean="0"/>
              </a:p>
              <a:p>
                <a:pPr marL="457200" indent="-457200">
                  <a:buAutoNum type="arabicPeriod" startAt="3"/>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49087" y="697936"/>
                <a:ext cx="8743393" cy="4201663"/>
              </a:xfrm>
              <a:prstGeom prst="rect">
                <a:avLst/>
              </a:prstGeom>
              <a:blipFill rotWithShape="0">
                <a:blip r:embed="rId3"/>
                <a:stretch>
                  <a:fillRect l="-1115" t="-1304" r="-1254"/>
                </a:stretch>
              </a:blipFill>
            </p:spPr>
            <p:txBody>
              <a:bodyPr/>
              <a:lstStyle/>
              <a:p>
                <a:r>
                  <a:rPr lang="en-GB">
                    <a:noFill/>
                  </a:rPr>
                  <a:t> </a:t>
                </a:r>
              </a:p>
            </p:txBody>
          </p:sp>
        </mc:Fallback>
      </mc:AlternateContent>
    </p:spTree>
    <p:extLst>
      <p:ext uri="{BB962C8B-B14F-4D97-AF65-F5344CB8AC3E}">
        <p14:creationId xmlns:p14="http://schemas.microsoft.com/office/powerpoint/2010/main" val="26613330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Quantities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2554545"/>
          </a:xfrm>
          <a:prstGeom prst="rect">
            <a:avLst/>
          </a:prstGeom>
          <a:noFill/>
        </p:spPr>
        <p:txBody>
          <a:bodyPr wrap="square" rtlCol="0">
            <a:spAutoFit/>
          </a:bodyPr>
          <a:lstStyle/>
          <a:p>
            <a:pPr marL="457200" indent="-457200">
              <a:buFont typeface="+mj-lt"/>
              <a:buAutoNum type="arabicPeriod" startAt="4"/>
            </a:pPr>
            <a:r>
              <a:rPr lang="en-GB" sz="2400" dirty="0" smtClean="0"/>
              <a:t>What is meant by RTP?</a:t>
            </a:r>
          </a:p>
          <a:p>
            <a:pPr lvl="1"/>
            <a:r>
              <a:rPr lang="en-GB" sz="2400" b="1" dirty="0" smtClean="0">
                <a:solidFill>
                  <a:srgbClr val="00B050"/>
                </a:solidFill>
              </a:rPr>
              <a:t>Room temperature and pressure</a:t>
            </a:r>
          </a:p>
          <a:p>
            <a:pPr lvl="1"/>
            <a:endParaRPr lang="en-GB" sz="2400" dirty="0" smtClean="0"/>
          </a:p>
          <a:p>
            <a:pPr marL="457200" indent="-457200">
              <a:buAutoNum type="arabicPeriod" startAt="4"/>
            </a:pPr>
            <a:r>
              <a:rPr lang="en-GB" sz="2400" dirty="0" smtClean="0"/>
              <a:t>What are the values for RTP?</a:t>
            </a:r>
          </a:p>
          <a:p>
            <a:pPr lvl="1"/>
            <a:r>
              <a:rPr lang="en-GB" sz="2400" b="1" dirty="0" smtClean="0">
                <a:solidFill>
                  <a:srgbClr val="00B050"/>
                </a:solidFill>
              </a:rPr>
              <a:t>20</a:t>
            </a:r>
            <a:r>
              <a:rPr lang="en-GB" sz="2400" b="1" baseline="30000" dirty="0" smtClean="0">
                <a:solidFill>
                  <a:srgbClr val="00B050"/>
                </a:solidFill>
              </a:rPr>
              <a:t>o</a:t>
            </a:r>
            <a:r>
              <a:rPr lang="en-GB" sz="2400" b="1" dirty="0" smtClean="0">
                <a:solidFill>
                  <a:srgbClr val="00B050"/>
                </a:solidFill>
              </a:rPr>
              <a:t>C ; 1 atmosphere pressure</a:t>
            </a:r>
            <a:endParaRPr lang="en-GB" sz="2400" dirty="0" smtClean="0"/>
          </a:p>
          <a:p>
            <a:pPr marL="457200" indent="-457200">
              <a:buAutoNum type="arabicPeriod" startAt="3"/>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4841691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Quantities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3662541"/>
          </a:xfrm>
          <a:prstGeom prst="rect">
            <a:avLst/>
          </a:prstGeom>
          <a:noFill/>
        </p:spPr>
        <p:txBody>
          <a:bodyPr wrap="square" rtlCol="0">
            <a:spAutoFit/>
          </a:bodyPr>
          <a:lstStyle/>
          <a:p>
            <a:pPr marL="457200" indent="-457200">
              <a:buFont typeface="+mj-lt"/>
              <a:buAutoNum type="arabicPeriod" startAt="6"/>
            </a:pPr>
            <a:r>
              <a:rPr lang="en-GB" sz="2400" dirty="0"/>
              <a:t>What is the </a:t>
            </a:r>
            <a:r>
              <a:rPr lang="en-GB" sz="2400" dirty="0" smtClean="0"/>
              <a:t>concentration, in </a:t>
            </a:r>
            <a:r>
              <a:rPr lang="en-GB" sz="2400" dirty="0"/>
              <a:t>g/ </a:t>
            </a:r>
            <a:r>
              <a:rPr lang="en-GB" sz="2400" dirty="0" smtClean="0"/>
              <a:t>dm</a:t>
            </a:r>
            <a:r>
              <a:rPr lang="en-GB" sz="2400" baseline="30000" dirty="0" smtClean="0"/>
              <a:t>3</a:t>
            </a:r>
            <a:r>
              <a:rPr lang="en-GB" sz="2400" dirty="0" smtClean="0"/>
              <a:t>, of </a:t>
            </a:r>
            <a:r>
              <a:rPr lang="en-GB" sz="2400" dirty="0"/>
              <a:t>a solution that has 40g of solute in </a:t>
            </a:r>
            <a:r>
              <a:rPr lang="en-GB" sz="2400" dirty="0" smtClean="0"/>
              <a:t>2dm</a:t>
            </a:r>
            <a:r>
              <a:rPr lang="en-GB" sz="2400" baseline="30000" dirty="0" smtClean="0"/>
              <a:t>3</a:t>
            </a:r>
            <a:r>
              <a:rPr lang="en-GB" sz="2400" dirty="0" smtClean="0"/>
              <a:t> </a:t>
            </a:r>
            <a:r>
              <a:rPr lang="en-GB" sz="2400" dirty="0"/>
              <a:t>of solution?</a:t>
            </a:r>
          </a:p>
          <a:p>
            <a:r>
              <a:rPr lang="en-GB" dirty="0"/>
              <a:t>         </a:t>
            </a:r>
            <a:r>
              <a:rPr lang="en-GB" sz="2400" b="1" dirty="0">
                <a:solidFill>
                  <a:srgbClr val="00B050"/>
                </a:solidFill>
              </a:rPr>
              <a:t>Concentration = mass ÷ volume = 40 g ÷ 2 dm</a:t>
            </a:r>
            <a:r>
              <a:rPr lang="en-GB" sz="2400" b="1" baseline="30000" dirty="0">
                <a:solidFill>
                  <a:srgbClr val="00B050"/>
                </a:solidFill>
              </a:rPr>
              <a:t>3</a:t>
            </a:r>
            <a:r>
              <a:rPr lang="en-GB" sz="2400" b="1" dirty="0">
                <a:solidFill>
                  <a:srgbClr val="00B050"/>
                </a:solidFill>
              </a:rPr>
              <a:t> = 20 g/dm</a:t>
            </a:r>
            <a:r>
              <a:rPr lang="en-GB" sz="2400" b="1" baseline="30000" dirty="0">
                <a:solidFill>
                  <a:srgbClr val="00B050"/>
                </a:solidFill>
              </a:rPr>
              <a:t>3</a:t>
            </a:r>
            <a:endParaRPr lang="en-GB" sz="2400" b="1" dirty="0">
              <a:solidFill>
                <a:srgbClr val="00B050"/>
              </a:solidFill>
            </a:endParaRPr>
          </a:p>
          <a:p>
            <a:pPr marL="457200" indent="-457200">
              <a:buAutoNum type="arabicPeriod"/>
            </a:pPr>
            <a:endParaRPr lang="en-GB" sz="2400" dirty="0"/>
          </a:p>
          <a:p>
            <a:pPr marL="457200" indent="-457200">
              <a:buFont typeface="+mj-lt"/>
              <a:buAutoNum type="arabicPeriod" startAt="7"/>
            </a:pPr>
            <a:r>
              <a:rPr lang="en-GB" sz="2400" dirty="0" smtClean="0"/>
              <a:t>Calculate </a:t>
            </a:r>
            <a:r>
              <a:rPr lang="en-GB" sz="2400" dirty="0"/>
              <a:t>the concentration in </a:t>
            </a:r>
            <a:r>
              <a:rPr lang="en-GB" sz="2400" dirty="0" err="1"/>
              <a:t>mol</a:t>
            </a:r>
            <a:r>
              <a:rPr lang="en-GB" sz="2400" dirty="0"/>
              <a:t>/dm</a:t>
            </a:r>
            <a:r>
              <a:rPr lang="en-GB" sz="2400" baseline="30000" dirty="0"/>
              <a:t>3  </a:t>
            </a:r>
            <a:r>
              <a:rPr lang="en-GB" sz="2400" dirty="0"/>
              <a:t>of a solution that has  </a:t>
            </a:r>
          </a:p>
          <a:p>
            <a:r>
              <a:rPr lang="en-GB" sz="2400" dirty="0"/>
              <a:t>       0.75 </a:t>
            </a:r>
            <a:r>
              <a:rPr lang="en-GB" sz="2400" dirty="0" err="1"/>
              <a:t>mol</a:t>
            </a:r>
            <a:r>
              <a:rPr lang="en-GB" sz="2400" dirty="0"/>
              <a:t> of an acid in </a:t>
            </a:r>
            <a:r>
              <a:rPr lang="en-GB" sz="2400" dirty="0" smtClean="0"/>
              <a:t>3dm</a:t>
            </a:r>
            <a:r>
              <a:rPr lang="en-GB" sz="2400" baseline="30000" dirty="0" smtClean="0"/>
              <a:t>3</a:t>
            </a:r>
            <a:r>
              <a:rPr lang="en-GB" sz="2400" dirty="0" smtClean="0"/>
              <a:t> </a:t>
            </a:r>
            <a:r>
              <a:rPr lang="en-GB" sz="2400" dirty="0"/>
              <a:t>of solution</a:t>
            </a:r>
          </a:p>
          <a:p>
            <a:r>
              <a:rPr lang="en-GB" sz="2400" dirty="0"/>
              <a:t>       </a:t>
            </a:r>
            <a:r>
              <a:rPr lang="en-GB" sz="2400" b="1" dirty="0">
                <a:solidFill>
                  <a:srgbClr val="00B050"/>
                </a:solidFill>
              </a:rPr>
              <a:t>0.75 </a:t>
            </a:r>
            <a:r>
              <a:rPr lang="en-GB" sz="2400" b="1" dirty="0" err="1">
                <a:solidFill>
                  <a:srgbClr val="00B050"/>
                </a:solidFill>
              </a:rPr>
              <a:t>mol</a:t>
            </a:r>
            <a:r>
              <a:rPr lang="en-GB" sz="2400" b="1" dirty="0">
                <a:solidFill>
                  <a:srgbClr val="00B050"/>
                </a:solidFill>
              </a:rPr>
              <a:t>/3 dm</a:t>
            </a:r>
            <a:r>
              <a:rPr lang="en-GB" sz="2400" b="1" baseline="30000" dirty="0">
                <a:solidFill>
                  <a:srgbClr val="00B050"/>
                </a:solidFill>
              </a:rPr>
              <a:t>3</a:t>
            </a:r>
            <a:r>
              <a:rPr lang="en-GB" sz="2400" b="1" dirty="0">
                <a:solidFill>
                  <a:srgbClr val="00B050"/>
                </a:solidFill>
              </a:rPr>
              <a:t> = 0.25 </a:t>
            </a:r>
            <a:r>
              <a:rPr lang="en-GB" sz="2400" b="1" dirty="0" err="1">
                <a:solidFill>
                  <a:srgbClr val="00B050"/>
                </a:solidFill>
              </a:rPr>
              <a:t>mol</a:t>
            </a:r>
            <a:r>
              <a:rPr lang="en-GB" sz="2400" b="1" dirty="0">
                <a:solidFill>
                  <a:srgbClr val="00B050"/>
                </a:solidFill>
              </a:rPr>
              <a:t>/dm</a:t>
            </a:r>
            <a:r>
              <a:rPr lang="en-GB" sz="2400" b="1" baseline="30000" dirty="0">
                <a:solidFill>
                  <a:srgbClr val="00B050"/>
                </a:solidFill>
              </a:rPr>
              <a:t>3</a:t>
            </a:r>
            <a:r>
              <a:rPr lang="en-GB" sz="2400" b="1" dirty="0">
                <a:solidFill>
                  <a:srgbClr val="00B050"/>
                </a:solidFill>
              </a:rPr>
              <a:t> </a:t>
            </a:r>
          </a:p>
          <a:p>
            <a:pPr lvl="0"/>
            <a:r>
              <a:rPr lang="en-GB" sz="2400" b="1" dirty="0">
                <a:solidFill>
                  <a:srgbClr val="00B050"/>
                </a:solidFill>
              </a:rPr>
              <a:t>       </a:t>
            </a:r>
          </a:p>
          <a:p>
            <a:pPr marL="457200" indent="-457200">
              <a:buAutoNum type="arabicPeriod" startAt="3"/>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679792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Quantities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4770537"/>
          </a:xfrm>
          <a:prstGeom prst="rect">
            <a:avLst/>
          </a:prstGeom>
          <a:noFill/>
        </p:spPr>
        <p:txBody>
          <a:bodyPr wrap="square" rtlCol="0">
            <a:spAutoFit/>
          </a:bodyPr>
          <a:lstStyle/>
          <a:p>
            <a:pPr marL="457200" lvl="0" indent="-457200">
              <a:buFont typeface="+mj-lt"/>
              <a:buAutoNum type="arabicPeriod" startAt="8"/>
            </a:pPr>
            <a:r>
              <a:rPr lang="en-GB" sz="2400" dirty="0"/>
              <a:t>It takes 28.0cm</a:t>
            </a:r>
            <a:r>
              <a:rPr lang="en-GB" sz="2400" baseline="30000" dirty="0"/>
              <a:t>3</a:t>
            </a:r>
            <a:r>
              <a:rPr lang="en-GB" sz="2400" dirty="0"/>
              <a:t> of potassium hydroxide to neutralise 25.00cm</a:t>
            </a:r>
            <a:r>
              <a:rPr lang="en-GB" sz="2400" baseline="30000" dirty="0"/>
              <a:t>3</a:t>
            </a:r>
            <a:r>
              <a:rPr lang="en-GB" sz="2400" dirty="0"/>
              <a:t> of nitric acid at a concentration </a:t>
            </a:r>
            <a:r>
              <a:rPr lang="en-GB" sz="2400" dirty="0" smtClean="0"/>
              <a:t>of 0.50 </a:t>
            </a:r>
            <a:r>
              <a:rPr lang="en-GB" sz="2400" dirty="0" err="1"/>
              <a:t>mol</a:t>
            </a:r>
            <a:r>
              <a:rPr lang="en-GB" sz="2400" dirty="0"/>
              <a:t>/dm</a:t>
            </a:r>
            <a:r>
              <a:rPr lang="en-GB" sz="2400" baseline="30000" dirty="0"/>
              <a:t>3</a:t>
            </a:r>
            <a:r>
              <a:rPr lang="en-GB" sz="2400" dirty="0"/>
              <a:t>.  </a:t>
            </a:r>
          </a:p>
          <a:p>
            <a:pPr lvl="0" algn="ctr"/>
            <a:r>
              <a:rPr lang="en-GB" sz="2400" b="1" dirty="0"/>
              <a:t>HNO</a:t>
            </a:r>
            <a:r>
              <a:rPr lang="en-GB" sz="2400" b="1" baseline="-25000" dirty="0"/>
              <a:t>3 </a:t>
            </a:r>
            <a:r>
              <a:rPr lang="en-GB" sz="2400" b="1" dirty="0"/>
              <a:t> + KOH → KNO</a:t>
            </a:r>
            <a:r>
              <a:rPr lang="en-GB" sz="2400" b="1" baseline="-25000" dirty="0"/>
              <a:t>3</a:t>
            </a:r>
            <a:r>
              <a:rPr lang="en-GB" sz="2400" b="1" dirty="0"/>
              <a:t> + H</a:t>
            </a:r>
            <a:r>
              <a:rPr lang="en-GB" sz="2400" b="1" baseline="-25000" dirty="0"/>
              <a:t>2</a:t>
            </a:r>
            <a:r>
              <a:rPr lang="en-GB" sz="2400" b="1" dirty="0"/>
              <a:t>O</a:t>
            </a:r>
            <a:endParaRPr lang="en-GB" sz="2400" dirty="0"/>
          </a:p>
          <a:p>
            <a:pPr lvl="0"/>
            <a:r>
              <a:rPr lang="en-GB" sz="2400" dirty="0"/>
              <a:t>       Calculate the concentration </a:t>
            </a:r>
            <a:r>
              <a:rPr lang="en-GB" sz="2400" dirty="0" smtClean="0"/>
              <a:t>of </a:t>
            </a:r>
            <a:r>
              <a:rPr lang="en-GB" sz="2400" dirty="0"/>
              <a:t>the potassium hydroxide.</a:t>
            </a:r>
          </a:p>
          <a:p>
            <a:r>
              <a:rPr lang="en-GB" sz="2400" b="1" dirty="0">
                <a:solidFill>
                  <a:srgbClr val="00B050"/>
                </a:solidFill>
                <a:latin typeface="Calibri"/>
              </a:rPr>
              <a:t>       </a:t>
            </a:r>
            <a:r>
              <a:rPr lang="en-GB" sz="2400" b="1" dirty="0">
                <a:solidFill>
                  <a:srgbClr val="00B050"/>
                </a:solidFill>
              </a:rPr>
              <a:t>Number of moles of nitric acid = concentration × volume </a:t>
            </a:r>
          </a:p>
          <a:p>
            <a:r>
              <a:rPr lang="en-GB" sz="2400" b="1" dirty="0">
                <a:solidFill>
                  <a:srgbClr val="00B050"/>
                </a:solidFill>
              </a:rPr>
              <a:t>       = 0.5 </a:t>
            </a:r>
            <a:r>
              <a:rPr lang="en-GB" sz="2400" b="1" dirty="0" err="1">
                <a:solidFill>
                  <a:srgbClr val="00B050"/>
                </a:solidFill>
              </a:rPr>
              <a:t>mol</a:t>
            </a:r>
            <a:r>
              <a:rPr lang="en-GB" sz="2400" b="1" dirty="0">
                <a:solidFill>
                  <a:srgbClr val="00B050"/>
                </a:solidFill>
              </a:rPr>
              <a:t>/dm</a:t>
            </a:r>
            <a:r>
              <a:rPr lang="en-GB" sz="2400" b="1" baseline="30000" dirty="0">
                <a:solidFill>
                  <a:srgbClr val="00B050"/>
                </a:solidFill>
              </a:rPr>
              <a:t>3 </a:t>
            </a:r>
            <a:r>
              <a:rPr lang="en-GB" sz="2400" b="1" dirty="0">
                <a:solidFill>
                  <a:srgbClr val="00B050"/>
                </a:solidFill>
              </a:rPr>
              <a:t>× (25 ÷ 1000) dm</a:t>
            </a:r>
            <a:r>
              <a:rPr lang="en-GB" sz="2400" b="1" baseline="30000" dirty="0">
                <a:solidFill>
                  <a:srgbClr val="00B050"/>
                </a:solidFill>
              </a:rPr>
              <a:t>3</a:t>
            </a:r>
            <a:r>
              <a:rPr lang="en-GB" sz="2400" b="1" dirty="0">
                <a:solidFill>
                  <a:srgbClr val="00B050"/>
                </a:solidFill>
              </a:rPr>
              <a:t> = 0.0125 </a:t>
            </a:r>
            <a:r>
              <a:rPr lang="en-GB" sz="2400" b="1" dirty="0" err="1">
                <a:solidFill>
                  <a:srgbClr val="00B050"/>
                </a:solidFill>
              </a:rPr>
              <a:t>mol</a:t>
            </a:r>
            <a:r>
              <a:rPr lang="en-GB" sz="2400" b="1" dirty="0">
                <a:solidFill>
                  <a:srgbClr val="00B050"/>
                </a:solidFill>
              </a:rPr>
              <a:t/>
            </a:r>
            <a:br>
              <a:rPr lang="en-GB" sz="2400" b="1" dirty="0">
                <a:solidFill>
                  <a:srgbClr val="00B050"/>
                </a:solidFill>
              </a:rPr>
            </a:br>
            <a:r>
              <a:rPr lang="en-GB" sz="2400" b="1" dirty="0">
                <a:solidFill>
                  <a:srgbClr val="00B050"/>
                </a:solidFill>
              </a:rPr>
              <a:t>       The equation for the reaction shows that 1 mole of potassium    </a:t>
            </a:r>
          </a:p>
          <a:p>
            <a:r>
              <a:rPr lang="en-GB" sz="2400" b="1" dirty="0">
                <a:solidFill>
                  <a:srgbClr val="00B050"/>
                </a:solidFill>
              </a:rPr>
              <a:t>       hydroxide reacts with 1 mole of nitric acid. So there is 0.0125  </a:t>
            </a:r>
          </a:p>
          <a:p>
            <a:r>
              <a:rPr lang="en-GB" sz="2400" b="1" dirty="0">
                <a:solidFill>
                  <a:srgbClr val="00B050"/>
                </a:solidFill>
              </a:rPr>
              <a:t>       </a:t>
            </a:r>
            <a:r>
              <a:rPr lang="en-GB" sz="2400" b="1" dirty="0" err="1">
                <a:solidFill>
                  <a:srgbClr val="00B050"/>
                </a:solidFill>
              </a:rPr>
              <a:t>mol</a:t>
            </a:r>
            <a:r>
              <a:rPr lang="en-GB" sz="2400" b="1" dirty="0">
                <a:solidFill>
                  <a:srgbClr val="00B050"/>
                </a:solidFill>
              </a:rPr>
              <a:t> of KOH in 28 cm</a:t>
            </a:r>
            <a:r>
              <a:rPr lang="en-GB" sz="2400" b="1" baseline="30000" dirty="0">
                <a:solidFill>
                  <a:srgbClr val="00B050"/>
                </a:solidFill>
              </a:rPr>
              <a:t>3</a:t>
            </a:r>
            <a:r>
              <a:rPr lang="en-GB" sz="2400" b="1" dirty="0">
                <a:solidFill>
                  <a:srgbClr val="00B050"/>
                </a:solidFill>
              </a:rPr>
              <a:t> of solution.</a:t>
            </a:r>
            <a:br>
              <a:rPr lang="en-GB" sz="2400" b="1" dirty="0">
                <a:solidFill>
                  <a:srgbClr val="00B050"/>
                </a:solidFill>
              </a:rPr>
            </a:br>
            <a:r>
              <a:rPr lang="en-GB" sz="2400" b="1" dirty="0">
                <a:solidFill>
                  <a:srgbClr val="00B050"/>
                </a:solidFill>
              </a:rPr>
              <a:t>       So the concentration of KOH in </a:t>
            </a:r>
            <a:r>
              <a:rPr lang="en-GB" sz="2400" b="1" dirty="0" err="1">
                <a:solidFill>
                  <a:srgbClr val="00B050"/>
                </a:solidFill>
              </a:rPr>
              <a:t>mol</a:t>
            </a:r>
            <a:r>
              <a:rPr lang="en-GB" sz="2400" b="1" dirty="0">
                <a:solidFill>
                  <a:srgbClr val="00B050"/>
                </a:solidFill>
              </a:rPr>
              <a:t>/dm</a:t>
            </a:r>
            <a:r>
              <a:rPr lang="en-GB" sz="2400" b="1" baseline="30000" dirty="0">
                <a:solidFill>
                  <a:srgbClr val="00B050"/>
                </a:solidFill>
              </a:rPr>
              <a:t>3</a:t>
            </a:r>
            <a:r>
              <a:rPr lang="en-GB" sz="2400" b="1" dirty="0">
                <a:solidFill>
                  <a:srgbClr val="00B050"/>
                </a:solidFill>
              </a:rPr>
              <a:t> = number of moles ÷   </a:t>
            </a:r>
          </a:p>
          <a:p>
            <a:r>
              <a:rPr lang="en-GB" sz="2400" b="1" dirty="0">
                <a:solidFill>
                  <a:srgbClr val="00B050"/>
                </a:solidFill>
              </a:rPr>
              <a:t>       volume = 0.0125 </a:t>
            </a:r>
            <a:r>
              <a:rPr lang="en-GB" sz="2400" b="1" dirty="0" err="1">
                <a:solidFill>
                  <a:srgbClr val="00B050"/>
                </a:solidFill>
              </a:rPr>
              <a:t>mol</a:t>
            </a:r>
            <a:r>
              <a:rPr lang="en-GB" sz="2400" b="1" dirty="0">
                <a:solidFill>
                  <a:srgbClr val="00B050"/>
                </a:solidFill>
              </a:rPr>
              <a:t> ÷ (28 ÷ 1000) dm</a:t>
            </a:r>
            <a:r>
              <a:rPr lang="en-GB" sz="2400" b="1" baseline="30000" dirty="0">
                <a:solidFill>
                  <a:srgbClr val="00B050"/>
                </a:solidFill>
              </a:rPr>
              <a:t>3</a:t>
            </a:r>
            <a:r>
              <a:rPr lang="en-GB" sz="2400" b="1" dirty="0">
                <a:solidFill>
                  <a:srgbClr val="00B050"/>
                </a:solidFill>
              </a:rPr>
              <a:t> = 0.45 </a:t>
            </a:r>
            <a:r>
              <a:rPr lang="en-GB" sz="2400" b="1" dirty="0" err="1">
                <a:solidFill>
                  <a:srgbClr val="00B050"/>
                </a:solidFill>
              </a:rPr>
              <a:t>mol</a:t>
            </a:r>
            <a:r>
              <a:rPr lang="en-GB" sz="2400" b="1" dirty="0">
                <a:solidFill>
                  <a:srgbClr val="00B050"/>
                </a:solidFill>
              </a:rPr>
              <a:t>/dm</a:t>
            </a:r>
            <a:r>
              <a:rPr lang="en-GB" sz="2400" b="1" baseline="30000" dirty="0">
                <a:solidFill>
                  <a:srgbClr val="00B050"/>
                </a:solidFill>
              </a:rPr>
              <a:t>3</a:t>
            </a:r>
            <a:endParaRPr lang="en-GB" sz="2400" b="1" dirty="0">
              <a:solidFill>
                <a:srgbClr val="00B050"/>
              </a:solidFill>
            </a:endParaRPr>
          </a:p>
          <a:p>
            <a:pPr marL="457200" indent="-457200">
              <a:buAutoNum type="arabicPeriod" startAt="3"/>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639317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Quantities (Chemistry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algn="l" defTabSz="914400" rtl="0" eaLnBrk="1" fontAlgn="auto" latinLnBrk="0" hangingPunct="1">
              <a:lnSpc>
                <a:spcPct val="100000"/>
              </a:lnSpc>
              <a:spcBef>
                <a:spcPts val="0"/>
              </a:spcBef>
              <a:spcAft>
                <a:spcPts val="0"/>
              </a:spcAft>
              <a:buClrTx/>
              <a:buSzTx/>
              <a:buFont typeface="+mj-lt"/>
              <a:buNone/>
              <a:tabLst/>
              <a:defRPr/>
            </a:pPr>
            <a:endParaRPr kumimoji="0" lang="en-GB" sz="2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TextBox 5"/>
          <p:cNvSpPr txBox="1"/>
          <p:nvPr/>
        </p:nvSpPr>
        <p:spPr>
          <a:xfrm>
            <a:off x="149087" y="697936"/>
            <a:ext cx="8743393" cy="4031873"/>
          </a:xfrm>
          <a:prstGeom prst="rect">
            <a:avLst/>
          </a:prstGeom>
          <a:noFill/>
        </p:spPr>
        <p:txBody>
          <a:bodyPr wrap="square" rtlCol="0">
            <a:spAutoFit/>
          </a:bodyPr>
          <a:lstStyle/>
          <a:p>
            <a:pPr marL="457200" indent="-457200">
              <a:buFont typeface="+mj-lt"/>
              <a:buAutoNum type="arabicPeriod" startAt="9"/>
            </a:pPr>
            <a:r>
              <a:rPr lang="en-GB" sz="2400" dirty="0"/>
              <a:t>What is the volume of 4.5g of oxygen? </a:t>
            </a:r>
          </a:p>
          <a:p>
            <a:r>
              <a:rPr lang="en-GB" sz="2400" b="1" dirty="0">
                <a:solidFill>
                  <a:srgbClr val="00B050"/>
                </a:solidFill>
              </a:rPr>
              <a:t>       </a:t>
            </a:r>
            <a:r>
              <a:rPr lang="en-GB" sz="2400" b="1" dirty="0" err="1">
                <a:solidFill>
                  <a:srgbClr val="00B050"/>
                </a:solidFill>
              </a:rPr>
              <a:t>A</a:t>
            </a:r>
            <a:r>
              <a:rPr lang="en-GB" sz="2400" b="1" baseline="-25000" dirty="0" err="1">
                <a:solidFill>
                  <a:srgbClr val="00B050"/>
                </a:solidFill>
              </a:rPr>
              <a:t>r</a:t>
            </a:r>
            <a:r>
              <a:rPr lang="en-GB" sz="2400" b="1" dirty="0">
                <a:solidFill>
                  <a:srgbClr val="00B050"/>
                </a:solidFill>
              </a:rPr>
              <a:t> :  O (16) </a:t>
            </a:r>
          </a:p>
          <a:p>
            <a:r>
              <a:rPr lang="en-GB" sz="2400" b="1" dirty="0">
                <a:solidFill>
                  <a:srgbClr val="00B050"/>
                </a:solidFill>
              </a:rPr>
              <a:t>       M</a:t>
            </a:r>
            <a:r>
              <a:rPr lang="en-GB" sz="2400" b="1" baseline="-25000" dirty="0">
                <a:solidFill>
                  <a:srgbClr val="00B050"/>
                </a:solidFill>
              </a:rPr>
              <a:t>r</a:t>
            </a:r>
            <a:r>
              <a:rPr lang="en-GB" sz="2400" b="1" dirty="0">
                <a:solidFill>
                  <a:srgbClr val="00B050"/>
                </a:solidFill>
              </a:rPr>
              <a:t> : O</a:t>
            </a:r>
            <a:r>
              <a:rPr lang="en-GB" sz="2400" b="1" baseline="-25000" dirty="0">
                <a:solidFill>
                  <a:srgbClr val="00B050"/>
                </a:solidFill>
              </a:rPr>
              <a:t>2</a:t>
            </a:r>
            <a:r>
              <a:rPr lang="en-GB" sz="2400" b="1" dirty="0">
                <a:solidFill>
                  <a:srgbClr val="00B050"/>
                </a:solidFill>
              </a:rPr>
              <a:t> = 32</a:t>
            </a:r>
          </a:p>
          <a:p>
            <a:r>
              <a:rPr lang="en-GB" sz="2400" b="1" dirty="0">
                <a:solidFill>
                  <a:srgbClr val="00B050"/>
                </a:solidFill>
              </a:rPr>
              <a:t>       1 mole in g = 32g</a:t>
            </a:r>
          </a:p>
          <a:p>
            <a:r>
              <a:rPr lang="en-GB" sz="2400" b="1" dirty="0">
                <a:solidFill>
                  <a:srgbClr val="00B050"/>
                </a:solidFill>
              </a:rPr>
              <a:t>       4.5/32 = 0.14 </a:t>
            </a:r>
            <a:r>
              <a:rPr lang="en-GB" sz="2400" b="1" dirty="0" err="1">
                <a:solidFill>
                  <a:srgbClr val="00B050"/>
                </a:solidFill>
              </a:rPr>
              <a:t>mol</a:t>
            </a:r>
            <a:endParaRPr lang="en-GB" sz="2400" b="1" dirty="0">
              <a:solidFill>
                <a:srgbClr val="00B050"/>
              </a:solidFill>
            </a:endParaRPr>
          </a:p>
          <a:p>
            <a:r>
              <a:rPr lang="en-GB" sz="2400" b="1" dirty="0">
                <a:solidFill>
                  <a:srgbClr val="00B050"/>
                </a:solidFill>
              </a:rPr>
              <a:t>       Volume O</a:t>
            </a:r>
            <a:r>
              <a:rPr lang="en-GB" sz="2400" b="1" baseline="-25000" dirty="0">
                <a:solidFill>
                  <a:srgbClr val="00B050"/>
                </a:solidFill>
              </a:rPr>
              <a:t>2</a:t>
            </a:r>
            <a:r>
              <a:rPr lang="en-GB" sz="2400" b="1" dirty="0">
                <a:solidFill>
                  <a:srgbClr val="00B050"/>
                </a:solidFill>
              </a:rPr>
              <a:t> = 0.14 x 24 = 3.38 dm</a:t>
            </a:r>
            <a:r>
              <a:rPr lang="en-GB" sz="2400" b="1" baseline="30000" dirty="0">
                <a:solidFill>
                  <a:srgbClr val="00B050"/>
                </a:solidFill>
              </a:rPr>
              <a:t>3</a:t>
            </a:r>
            <a:r>
              <a:rPr lang="en-GB" sz="2400" b="1" dirty="0">
                <a:solidFill>
                  <a:srgbClr val="00B050"/>
                </a:solidFill>
              </a:rPr>
              <a:t> </a:t>
            </a:r>
            <a:endParaRPr lang="en-GB" sz="1000" b="1" dirty="0">
              <a:solidFill>
                <a:srgbClr val="00B050"/>
              </a:solidFill>
            </a:endParaRPr>
          </a:p>
          <a:p>
            <a:pPr marL="457200" indent="-457200">
              <a:buAutoNum type="arabicPeriod" startAt="4"/>
            </a:pPr>
            <a:endParaRPr kumimoji="0" lang="en-GB" sz="2400" b="0" i="0" u="none" strike="noStrike" kern="1200" cap="none" spc="0" normalizeH="0" baseline="0" noProof="0" dirty="0">
              <a:ln>
                <a:noFill/>
              </a:ln>
              <a:solidFill>
                <a:prstClr val="black"/>
              </a:solidFill>
              <a:effectLst/>
              <a:uLnTx/>
              <a:uFillTx/>
              <a:latin typeface="Calibri"/>
              <a:ea typeface="+mn-ea"/>
              <a:cs typeface="+mn-cs"/>
            </a:endParaRPr>
          </a:p>
          <a:p>
            <a:pPr marL="457200" indent="-457200">
              <a:buFont typeface="+mj-lt"/>
              <a:buAutoNum type="arabicPeriod" startAt="10"/>
            </a:pPr>
            <a:r>
              <a:rPr lang="en-GB" sz="2400" dirty="0" smtClean="0"/>
              <a:t>Calculate </a:t>
            </a:r>
            <a:r>
              <a:rPr lang="en-GB" sz="2400" dirty="0"/>
              <a:t>the number of moles of hydrogen that occupy </a:t>
            </a:r>
            <a:r>
              <a:rPr lang="en-GB" sz="2400" dirty="0" smtClean="0"/>
              <a:t>6dm</a:t>
            </a:r>
            <a:r>
              <a:rPr lang="en-GB" sz="2400" baseline="30000" dirty="0" smtClean="0"/>
              <a:t>3</a:t>
            </a:r>
            <a:r>
              <a:rPr lang="en-GB" sz="2400" dirty="0"/>
              <a:t> at  </a:t>
            </a:r>
          </a:p>
          <a:p>
            <a:r>
              <a:rPr lang="en-GB" sz="2400" dirty="0"/>
              <a:t>       </a:t>
            </a:r>
            <a:r>
              <a:rPr lang="en-GB" sz="2400" dirty="0" smtClean="0"/>
              <a:t>RTP.</a:t>
            </a:r>
            <a:endParaRPr lang="en-GB" sz="2400" dirty="0"/>
          </a:p>
          <a:p>
            <a:r>
              <a:rPr lang="en-GB" sz="2400" dirty="0"/>
              <a:t>       </a:t>
            </a:r>
            <a:r>
              <a:rPr lang="en-GB" sz="2400" b="1" dirty="0">
                <a:solidFill>
                  <a:srgbClr val="00B050"/>
                </a:solidFill>
              </a:rPr>
              <a:t>Number of moles = 6 ÷ 24 = 0.25 </a:t>
            </a:r>
            <a:r>
              <a:rPr lang="en-GB" sz="2400" b="1" dirty="0" err="1">
                <a:solidFill>
                  <a:srgbClr val="00B050"/>
                </a:solidFill>
              </a:rPr>
              <a:t>mol</a:t>
            </a:r>
            <a:endParaRPr lang="en-GB" sz="2400" b="1" dirty="0">
              <a:solidFill>
                <a:srgbClr val="00B050"/>
              </a:solidFill>
            </a:endParaRPr>
          </a:p>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endParaRPr kumimoji="0" lang="en-GB" sz="16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664532092"/>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38189</TotalTime>
  <Words>7687</Words>
  <Application>Microsoft Office PowerPoint</Application>
  <PresentationFormat>On-screen Show (4:3)</PresentationFormat>
  <Paragraphs>957</Paragraphs>
  <Slides>76</Slides>
  <Notes>70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76</vt:i4>
      </vt:variant>
    </vt:vector>
  </HeadingPairs>
  <TitlesOfParts>
    <vt:vector size="89" baseType="lpstr">
      <vt:lpstr>Arial</vt:lpstr>
      <vt:lpstr>Beirut</vt:lpstr>
      <vt:lpstr>Calibri</vt:lpstr>
      <vt:lpstr>Calibri Light</vt:lpstr>
      <vt:lpstr>Cambria Math</vt:lpstr>
      <vt:lpstr>Gill Sans</vt:lpstr>
      <vt:lpstr>Lato Medium</vt:lpstr>
      <vt:lpstr>News Gothic MT</vt:lpstr>
      <vt:lpstr>Times New Roman</vt:lpstr>
      <vt:lpstr>Wingdings</vt:lpstr>
      <vt:lpstr>1_Office Theme</vt:lpstr>
      <vt:lpstr>Custom Design</vt:lpstr>
      <vt:lpstr>PIXL Sci</vt:lpstr>
      <vt:lpstr>PowerPoint Presentation</vt:lpstr>
      <vt:lpstr>Overview   Quantitative chemistry</vt:lpstr>
      <vt:lpstr>PowerPoint Presentation</vt:lpstr>
      <vt:lpstr>Chemical measurements - PART 1</vt:lpstr>
      <vt:lpstr>Chemical measurements - PART 1</vt:lpstr>
      <vt:lpstr>Chemical measurements - PART 1</vt:lpstr>
      <vt:lpstr>Chemical measurements - PART 1</vt:lpstr>
      <vt:lpstr>PowerPoint Presentation</vt:lpstr>
      <vt:lpstr>Chemical measurements – QuestionIT</vt:lpstr>
      <vt:lpstr>Chemical measurements – QuestionIT</vt:lpstr>
      <vt:lpstr>PowerPoint Presentation</vt:lpstr>
      <vt:lpstr>Chemical measurements – QuestionIT</vt:lpstr>
      <vt:lpstr>Chemical measurements – QuestionIT</vt:lpstr>
      <vt:lpstr>Chemical measurements – QuestionIT</vt:lpstr>
      <vt:lpstr>PowerPoint Presentation</vt:lpstr>
      <vt:lpstr>Chemical measurements - PART 2</vt:lpstr>
      <vt:lpstr>PowerPoint Presentation</vt:lpstr>
      <vt:lpstr>Chemical measurements– QuestionIT</vt:lpstr>
      <vt:lpstr>PowerPoint Presentation</vt:lpstr>
      <vt:lpstr>Chemical measurements– QuestionIT</vt:lpstr>
      <vt:lpstr>Chemical measurements– QuestionIT</vt:lpstr>
      <vt:lpstr>PowerPoint Presentation</vt:lpstr>
      <vt:lpstr>Use of amount of substance - PART 1</vt:lpstr>
      <vt:lpstr>Use of amount of substance - PART 1 HIGHER TIER</vt:lpstr>
      <vt:lpstr>Use of amount of substance - PART 1 HIGHER TIER</vt:lpstr>
      <vt:lpstr>Use of amount of substance - PART 1 HIGHER TIER</vt:lpstr>
      <vt:lpstr>Use of amount of substance - PART 1 HIGHER TIER</vt:lpstr>
      <vt:lpstr>PowerPoint Presentation</vt:lpstr>
      <vt:lpstr>Use of amount of substance (HT) – QuestionIT</vt:lpstr>
      <vt:lpstr>Use of amount of substance (HT) – QuestionIT</vt:lpstr>
      <vt:lpstr>Use of amount of substance (HT) – QuestionIT</vt:lpstr>
      <vt:lpstr>Use of amount of substance (HT) – QuestionIT</vt:lpstr>
      <vt:lpstr>Use of amount of substance (HT) – QuestionIT</vt:lpstr>
      <vt:lpstr>PowerPoint Presentation</vt:lpstr>
      <vt:lpstr>Use of amount of substance (HT) – QuestionIT</vt:lpstr>
      <vt:lpstr>Use of amount of substance (HT) – QuestionIT</vt:lpstr>
      <vt:lpstr>Use of amount of substance (HT) – QuestionIT</vt:lpstr>
      <vt:lpstr>Use of amount of substance (HT) – QuestionIT</vt:lpstr>
      <vt:lpstr>Use of amount of substance (HT) – QuestionIT</vt:lpstr>
      <vt:lpstr>PowerPoint Presentation</vt:lpstr>
      <vt:lpstr>Calculations - PART 2</vt:lpstr>
      <vt:lpstr>Calculations - PART 2</vt:lpstr>
      <vt:lpstr>PowerPoint Presentation</vt:lpstr>
      <vt:lpstr>Use of amount of substance – QuestionIT</vt:lpstr>
      <vt:lpstr>Use of amount of substance – QuestionIT</vt:lpstr>
      <vt:lpstr>PowerPoint Presentation</vt:lpstr>
      <vt:lpstr>Use of amount of substance – QuestionIT</vt:lpstr>
      <vt:lpstr>Use of amount of substance – QuestionIT</vt:lpstr>
      <vt:lpstr>PowerPoint Presentation</vt:lpstr>
      <vt:lpstr>Yield and atom economy - CHEMISTRY ONLY</vt:lpstr>
      <vt:lpstr>Yield and atom economy - CHEMISTRY ONLY</vt:lpstr>
      <vt:lpstr>Yield and atom economy - CHEMISTRY ONLY</vt:lpstr>
      <vt:lpstr>PowerPoint Presentation</vt:lpstr>
      <vt:lpstr>Yield and atom economy (Chemistry only) – QuestionIT</vt:lpstr>
      <vt:lpstr>Yield and atom economy (Chemistry only) – QuestionIT</vt:lpstr>
      <vt:lpstr>Yield and atom economy (Chemistry only) – QuestionIT</vt:lpstr>
      <vt:lpstr>PowerPoint Presentation</vt:lpstr>
      <vt:lpstr>Yield and atom economy (Chemistry only) – QuestionIT</vt:lpstr>
      <vt:lpstr>Yield and atom economy (Chemistry only) – QuestionIT</vt:lpstr>
      <vt:lpstr>Yield and atom economy (Chemistry only) – QuestionIT</vt:lpstr>
      <vt:lpstr>Yield and atom economy (Chemistry only) – QuestionIT</vt:lpstr>
      <vt:lpstr>PowerPoint Presentation</vt:lpstr>
      <vt:lpstr>Quantities – CHEMISTRY ONLY Higher</vt:lpstr>
      <vt:lpstr>Quantities - CHEMISTRY ONLY Higher</vt:lpstr>
      <vt:lpstr>Quantities - CHEMISTRY ONLY Higher</vt:lpstr>
      <vt:lpstr>Quantities - CHEMISTRY ONLY Higher</vt:lpstr>
      <vt:lpstr>PowerPoint Presentation</vt:lpstr>
      <vt:lpstr>Quantities (Chemistry only) – QuestionIT</vt:lpstr>
      <vt:lpstr>Quantities (Chemistry only) – QuestionIT</vt:lpstr>
      <vt:lpstr>Quantities (Chemistry only) – QuestionIT</vt:lpstr>
      <vt:lpstr>PowerPoint Presentation</vt:lpstr>
      <vt:lpstr>Quantities (Chemistry only) – QuestionIT</vt:lpstr>
      <vt:lpstr>Quantities (Chemistry only) – QuestionIT</vt:lpstr>
      <vt:lpstr>Quantities (Chemistry only) – QuestionIT</vt:lpstr>
      <vt:lpstr>Quantities (Chemistry only) – QuestionIT</vt:lpstr>
      <vt:lpstr>Quantities (Chemistry only) – QuestionIT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Karen Collins</cp:lastModifiedBy>
  <cp:revision>348</cp:revision>
  <dcterms:created xsi:type="dcterms:W3CDTF">2016-03-05T09:38:04Z</dcterms:created>
  <dcterms:modified xsi:type="dcterms:W3CDTF">2018-05-15T08:23:51Z</dcterms:modified>
</cp:coreProperties>
</file>