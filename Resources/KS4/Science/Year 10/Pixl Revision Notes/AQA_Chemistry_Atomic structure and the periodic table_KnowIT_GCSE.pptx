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90"/>
  </p:notesMasterIdLst>
  <p:sldIdLst>
    <p:sldId id="256" r:id="rId4"/>
    <p:sldId id="281" r:id="rId5"/>
    <p:sldId id="314" r:id="rId6"/>
    <p:sldId id="339" r:id="rId7"/>
    <p:sldId id="434" r:id="rId8"/>
    <p:sldId id="340" r:id="rId9"/>
    <p:sldId id="341" r:id="rId10"/>
    <p:sldId id="323" r:id="rId11"/>
    <p:sldId id="324" r:id="rId12"/>
    <p:sldId id="443" r:id="rId13"/>
    <p:sldId id="356" r:id="rId14"/>
    <p:sldId id="350" r:id="rId15"/>
    <p:sldId id="357" r:id="rId16"/>
    <p:sldId id="444" r:id="rId17"/>
    <p:sldId id="358" r:id="rId18"/>
    <p:sldId id="316" r:id="rId19"/>
    <p:sldId id="342" r:id="rId20"/>
    <p:sldId id="348" r:id="rId21"/>
    <p:sldId id="349" r:id="rId22"/>
    <p:sldId id="325" r:id="rId23"/>
    <p:sldId id="326" r:id="rId24"/>
    <p:sldId id="438" r:id="rId25"/>
    <p:sldId id="419" r:id="rId26"/>
    <p:sldId id="351" r:id="rId27"/>
    <p:sldId id="420" r:id="rId28"/>
    <p:sldId id="430" r:id="rId29"/>
    <p:sldId id="435" r:id="rId30"/>
    <p:sldId id="317" r:id="rId31"/>
    <p:sldId id="368" r:id="rId32"/>
    <p:sldId id="401" r:id="rId33"/>
    <p:sldId id="445" r:id="rId34"/>
    <p:sldId id="403" r:id="rId35"/>
    <p:sldId id="404" r:id="rId36"/>
    <p:sldId id="405" r:id="rId37"/>
    <p:sldId id="422" r:id="rId38"/>
    <p:sldId id="431" r:id="rId39"/>
    <p:sldId id="379" r:id="rId40"/>
    <p:sldId id="446" r:id="rId41"/>
    <p:sldId id="436" r:id="rId42"/>
    <p:sldId id="381" r:id="rId43"/>
    <p:sldId id="437" r:id="rId44"/>
    <p:sldId id="382" r:id="rId45"/>
    <p:sldId id="447" r:id="rId46"/>
    <p:sldId id="406" r:id="rId47"/>
    <p:sldId id="451" r:id="rId48"/>
    <p:sldId id="452" r:id="rId49"/>
    <p:sldId id="407" r:id="rId50"/>
    <p:sldId id="408" r:id="rId51"/>
    <p:sldId id="449" r:id="rId52"/>
    <p:sldId id="450" r:id="rId53"/>
    <p:sldId id="424" r:id="rId54"/>
    <p:sldId id="383" r:id="rId55"/>
    <p:sldId id="453" r:id="rId56"/>
    <p:sldId id="390" r:id="rId57"/>
    <p:sldId id="454" r:id="rId58"/>
    <p:sldId id="440" r:id="rId59"/>
    <p:sldId id="457" r:id="rId60"/>
    <p:sldId id="455" r:id="rId61"/>
    <p:sldId id="441" r:id="rId62"/>
    <p:sldId id="458" r:id="rId63"/>
    <p:sldId id="459" r:id="rId64"/>
    <p:sldId id="433" r:id="rId65"/>
    <p:sldId id="388" r:id="rId66"/>
    <p:sldId id="385" r:id="rId67"/>
    <p:sldId id="386" r:id="rId68"/>
    <p:sldId id="387" r:id="rId69"/>
    <p:sldId id="394" r:id="rId70"/>
    <p:sldId id="395" r:id="rId71"/>
    <p:sldId id="413" r:id="rId72"/>
    <p:sldId id="460" r:id="rId73"/>
    <p:sldId id="461" r:id="rId74"/>
    <p:sldId id="462" r:id="rId75"/>
    <p:sldId id="415" r:id="rId76"/>
    <p:sldId id="463" r:id="rId77"/>
    <p:sldId id="464" r:id="rId78"/>
    <p:sldId id="465" r:id="rId79"/>
    <p:sldId id="402" r:id="rId80"/>
    <p:sldId id="396" r:id="rId81"/>
    <p:sldId id="439" r:id="rId82"/>
    <p:sldId id="400" r:id="rId83"/>
    <p:sldId id="416" r:id="rId84"/>
    <p:sldId id="466" r:id="rId85"/>
    <p:sldId id="467" r:id="rId86"/>
    <p:sldId id="418" r:id="rId87"/>
    <p:sldId id="468" r:id="rId88"/>
    <p:sldId id="469"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55" clrIdx="0">
    <p:extLst/>
  </p:cmAuthor>
  <p:cmAuthor id="2" name="Amanda Fleck" initials="AF" lastIdx="1" clrIdx="1">
    <p:extLst/>
  </p:cmAuthor>
  <p:cmAuthor id="3" name="Amanda Fleck" initials="AF [2]" lastIdx="1" clrIdx="2">
    <p:extLst/>
  </p:cmAuthor>
  <p:cmAuthor id="4" name="Amanda Fleck" initials="AF [3]" lastIdx="1" clrIdx="3">
    <p:extLst/>
  </p:cmAuthor>
  <p:cmAuthor id="5" name="Amanda Fleck" initials="AF [4]" lastIdx="1" clrIdx="4">
    <p:extLst/>
  </p:cmAuthor>
  <p:cmAuthor id="6" name="Amanda Fleck" initials="AF [5]" lastIdx="1" clrIdx="5">
    <p:extLst/>
  </p:cmAuthor>
  <p:cmAuthor id="7" name="Amanda Fleck" initials="AF [6]" lastIdx="1" clrIdx="6">
    <p:extLst/>
  </p:cmAuthor>
  <p:cmAuthor id="8" name="Amanda Fleck" initials="AF [7]" lastIdx="1" clrIdx="7">
    <p:extLst/>
  </p:cmAuthor>
  <p:cmAuthor id="9" name="Amanda Fleck" initials="AF [8]" lastIdx="1" clrIdx="8">
    <p:extLst/>
  </p:cmAuthor>
  <p:cmAuthor id="10" name="Amanda Fleck" initials="AF [9]" lastIdx="1" clrIdx="9">
    <p:extLst/>
  </p:cmAuthor>
  <p:cmAuthor id="11" name="Amanda Fleck" initials="AF [10]" lastIdx="1" clrIdx="10">
    <p:extLst/>
  </p:cmAuthor>
  <p:cmAuthor id="12" name="Amanda Fleck" initials="AF [11]" lastIdx="1" clrIdx="11">
    <p:extLst/>
  </p:cmAuthor>
  <p:cmAuthor id="13" name="Tracy Barrett" initials="TB" lastIdx="68" clrIdx="1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autoAdjust="0"/>
    <p:restoredTop sz="83642" autoAdjust="0"/>
  </p:normalViewPr>
  <p:slideViewPr>
    <p:cSldViewPr>
      <p:cViewPr varScale="1">
        <p:scale>
          <a:sx n="64" d="100"/>
          <a:sy n="64" d="100"/>
        </p:scale>
        <p:origin x="90" y="73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10232"/>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351712-D3D6-4097-A988-0A5CF1C4252A}" type="doc">
      <dgm:prSet loTypeId="urn:microsoft.com/office/officeart/2005/8/layout/chevron2" loCatId="process" qsTypeId="urn:microsoft.com/office/officeart/2005/8/quickstyle/simple1" qsCatId="simple" csTypeId="urn:microsoft.com/office/officeart/2005/8/colors/accent6_1" csCatId="accent6" phldr="1"/>
      <dgm:spPr/>
      <dgm:t>
        <a:bodyPr/>
        <a:lstStyle/>
        <a:p>
          <a:endParaRPr lang="en-GB"/>
        </a:p>
      </dgm:t>
    </dgm:pt>
    <dgm:pt modelId="{419FFCC8-3EEE-471A-9F3E-13629411B4AD}">
      <dgm:prSet phldrT="[Text]"/>
      <dgm:spPr/>
      <dgm:t>
        <a:bodyPr/>
        <a:lstStyle/>
        <a:p>
          <a:r>
            <a:rPr lang="en-GB" dirty="0" smtClean="0"/>
            <a:t>1800s</a:t>
          </a:r>
          <a:endParaRPr lang="en-GB" dirty="0"/>
        </a:p>
      </dgm:t>
    </dgm:pt>
    <dgm:pt modelId="{C795942D-C805-46FF-A173-718FDFC09A04}" type="parTrans" cxnId="{9E82925B-E93E-4DA4-A48E-96F1849C41ED}">
      <dgm:prSet/>
      <dgm:spPr/>
      <dgm:t>
        <a:bodyPr/>
        <a:lstStyle/>
        <a:p>
          <a:endParaRPr lang="en-GB"/>
        </a:p>
      </dgm:t>
    </dgm:pt>
    <dgm:pt modelId="{28C61728-54A2-4004-A973-DC1EF31B1176}" type="sibTrans" cxnId="{9E82925B-E93E-4DA4-A48E-96F1849C41ED}">
      <dgm:prSet/>
      <dgm:spPr/>
      <dgm:t>
        <a:bodyPr/>
        <a:lstStyle/>
        <a:p>
          <a:endParaRPr lang="en-GB"/>
        </a:p>
      </dgm:t>
    </dgm:pt>
    <dgm:pt modelId="{9C097B88-5133-4F14-BC02-67DEAE6E5833}">
      <dgm:prSet phldrT="[Text]" custT="1"/>
      <dgm:spPr/>
      <dgm:t>
        <a:bodyPr/>
        <a:lstStyle/>
        <a:p>
          <a:r>
            <a:rPr lang="en-GB" sz="2000" dirty="0" smtClean="0"/>
            <a:t>John Dalton – </a:t>
          </a:r>
          <a:r>
            <a:rPr lang="en-GB" sz="2000" b="1" dirty="0" smtClean="0">
              <a:solidFill>
                <a:schemeClr val="accent6">
                  <a:lumMod val="75000"/>
                </a:schemeClr>
              </a:solidFill>
            </a:rPr>
            <a:t>tiny spheres that could not be divided</a:t>
          </a:r>
          <a:r>
            <a:rPr lang="en-GB" sz="2000" dirty="0" smtClean="0"/>
            <a:t>.</a:t>
          </a:r>
          <a:endParaRPr lang="en-GB" sz="2000" dirty="0"/>
        </a:p>
      </dgm:t>
    </dgm:pt>
    <dgm:pt modelId="{54E56190-013B-4FEC-8E0A-0BFE0323703E}" type="parTrans" cxnId="{5F80CAF8-2874-4ABE-A24A-A7821FBE3AED}">
      <dgm:prSet/>
      <dgm:spPr/>
      <dgm:t>
        <a:bodyPr/>
        <a:lstStyle/>
        <a:p>
          <a:endParaRPr lang="en-GB"/>
        </a:p>
      </dgm:t>
    </dgm:pt>
    <dgm:pt modelId="{5A5B2960-97DC-4E5F-961D-41D344B7B84C}" type="sibTrans" cxnId="{5F80CAF8-2874-4ABE-A24A-A7821FBE3AED}">
      <dgm:prSet/>
      <dgm:spPr/>
      <dgm:t>
        <a:bodyPr/>
        <a:lstStyle/>
        <a:p>
          <a:endParaRPr lang="en-GB"/>
        </a:p>
      </dgm:t>
    </dgm:pt>
    <dgm:pt modelId="{F97BE9D5-C8E4-4EB4-B719-AF0607F1CFAF}">
      <dgm:prSet phldrT="[Text]"/>
      <dgm:spPr/>
      <dgm:t>
        <a:bodyPr/>
        <a:lstStyle/>
        <a:p>
          <a:r>
            <a:rPr lang="en-GB" dirty="0" smtClean="0"/>
            <a:t>1890s</a:t>
          </a:r>
          <a:endParaRPr lang="en-GB" dirty="0"/>
        </a:p>
      </dgm:t>
    </dgm:pt>
    <dgm:pt modelId="{D9640E4A-CDC4-4BD9-8515-49774107CE1C}" type="parTrans" cxnId="{13984778-12BD-47F4-B3A5-24A5CC185F98}">
      <dgm:prSet/>
      <dgm:spPr/>
      <dgm:t>
        <a:bodyPr/>
        <a:lstStyle/>
        <a:p>
          <a:endParaRPr lang="en-GB"/>
        </a:p>
      </dgm:t>
    </dgm:pt>
    <dgm:pt modelId="{D1CBAF1A-E5A4-4617-B2CF-3BCC287E3D77}" type="sibTrans" cxnId="{13984778-12BD-47F4-B3A5-24A5CC185F98}">
      <dgm:prSet/>
      <dgm:spPr/>
      <dgm:t>
        <a:bodyPr/>
        <a:lstStyle/>
        <a:p>
          <a:endParaRPr lang="en-GB"/>
        </a:p>
      </dgm:t>
    </dgm:pt>
    <dgm:pt modelId="{BB7851F5-93BB-4CAA-913E-5DD1D7AB0F33}">
      <dgm:prSet phldrT="[Text]" custT="1"/>
      <dgm:spPr/>
      <dgm:t>
        <a:bodyPr/>
        <a:lstStyle/>
        <a:p>
          <a:r>
            <a:rPr lang="en-GB" sz="2000" dirty="0" smtClean="0"/>
            <a:t>JJ Thomson – </a:t>
          </a:r>
          <a:r>
            <a:rPr lang="en-GB" sz="2000" b="1" dirty="0" smtClean="0">
              <a:solidFill>
                <a:schemeClr val="accent6">
                  <a:lumMod val="75000"/>
                </a:schemeClr>
              </a:solidFill>
            </a:rPr>
            <a:t>electron</a:t>
          </a:r>
          <a:r>
            <a:rPr lang="en-GB" sz="2000" dirty="0" smtClean="0"/>
            <a:t> discovered. </a:t>
          </a:r>
          <a:r>
            <a:rPr lang="en-GB" sz="2000" b="1" dirty="0" smtClean="0">
              <a:solidFill>
                <a:schemeClr val="accent6">
                  <a:lumMod val="75000"/>
                </a:schemeClr>
              </a:solidFill>
            </a:rPr>
            <a:t>Plum pudding model </a:t>
          </a:r>
          <a:r>
            <a:rPr lang="en-GB" sz="2000" dirty="0" smtClean="0"/>
            <a:t>- spheres of positive charge with negative charges spread evenly though.</a:t>
          </a:r>
          <a:endParaRPr lang="en-GB" sz="2000" dirty="0"/>
        </a:p>
      </dgm:t>
    </dgm:pt>
    <dgm:pt modelId="{4848CDD7-D81B-4FA0-AACD-9652D20EDD20}" type="parTrans" cxnId="{3C16694D-A8BC-417A-BF22-2606975DB974}">
      <dgm:prSet/>
      <dgm:spPr/>
      <dgm:t>
        <a:bodyPr/>
        <a:lstStyle/>
        <a:p>
          <a:endParaRPr lang="en-GB"/>
        </a:p>
      </dgm:t>
    </dgm:pt>
    <dgm:pt modelId="{0BEAD2DF-3B87-4FFF-B720-B2ABFD2881DB}" type="sibTrans" cxnId="{3C16694D-A8BC-417A-BF22-2606975DB974}">
      <dgm:prSet/>
      <dgm:spPr/>
      <dgm:t>
        <a:bodyPr/>
        <a:lstStyle/>
        <a:p>
          <a:endParaRPr lang="en-GB"/>
        </a:p>
      </dgm:t>
    </dgm:pt>
    <dgm:pt modelId="{D2462341-E80D-4236-A5C2-812A29F0E19E}">
      <dgm:prSet phldrT="[Text]"/>
      <dgm:spPr/>
      <dgm:t>
        <a:bodyPr/>
        <a:lstStyle/>
        <a:p>
          <a:r>
            <a:rPr lang="en-GB" dirty="0" smtClean="0"/>
            <a:t>1908 -1913</a:t>
          </a:r>
          <a:endParaRPr lang="en-GB" dirty="0"/>
        </a:p>
      </dgm:t>
    </dgm:pt>
    <dgm:pt modelId="{08BE086D-39F8-469F-A394-22125068BFB9}" type="parTrans" cxnId="{24983DEE-B32E-411B-9942-3F583E7B4398}">
      <dgm:prSet/>
      <dgm:spPr/>
      <dgm:t>
        <a:bodyPr/>
        <a:lstStyle/>
        <a:p>
          <a:endParaRPr lang="en-GB"/>
        </a:p>
      </dgm:t>
    </dgm:pt>
    <dgm:pt modelId="{7F9A710B-C616-46EC-88C3-02D7CE7E9B42}" type="sibTrans" cxnId="{24983DEE-B32E-411B-9942-3F583E7B4398}">
      <dgm:prSet/>
      <dgm:spPr/>
      <dgm:t>
        <a:bodyPr/>
        <a:lstStyle/>
        <a:p>
          <a:endParaRPr lang="en-GB"/>
        </a:p>
      </dgm:t>
    </dgm:pt>
    <dgm:pt modelId="{F2A8048A-B3FC-4AE8-AFEF-8D993769B559}">
      <dgm:prSet phldrT="[Text]" custT="1"/>
      <dgm:spPr/>
      <dgm:t>
        <a:bodyPr/>
        <a:lstStyle/>
        <a:p>
          <a:r>
            <a:rPr lang="en-GB" sz="2000" dirty="0" smtClean="0"/>
            <a:t>E. Rutherford, Geiger and  Marsden - </a:t>
          </a:r>
          <a:r>
            <a:rPr lang="en-GB" sz="2000" b="1" dirty="0" smtClean="0">
              <a:solidFill>
                <a:schemeClr val="accent6">
                  <a:lumMod val="75000"/>
                </a:schemeClr>
              </a:solidFill>
            </a:rPr>
            <a:t>alpha particle scattering experiment</a:t>
          </a:r>
          <a:r>
            <a:rPr lang="en-GB" sz="2000" dirty="0" smtClean="0"/>
            <a:t>. Nuclear model - mass of atom concentrated in a </a:t>
          </a:r>
          <a:r>
            <a:rPr lang="en-GB" sz="2000" b="1" dirty="0" smtClean="0">
              <a:solidFill>
                <a:schemeClr val="accent6">
                  <a:lumMod val="75000"/>
                </a:schemeClr>
              </a:solidFill>
            </a:rPr>
            <a:t>charged nucleus, </a:t>
          </a:r>
          <a:r>
            <a:rPr lang="en-GB" sz="2000" b="0" dirty="0" smtClean="0">
              <a:solidFill>
                <a:schemeClr val="tx1"/>
              </a:solidFill>
            </a:rPr>
            <a:t>with </a:t>
          </a:r>
          <a:r>
            <a:rPr lang="en-GB" sz="2000" b="1" dirty="0" smtClean="0">
              <a:solidFill>
                <a:schemeClr val="accent6">
                  <a:lumMod val="75000"/>
                </a:schemeClr>
              </a:solidFill>
            </a:rPr>
            <a:t>orbiting electrons</a:t>
          </a:r>
          <a:r>
            <a:rPr lang="en-GB" sz="2000" dirty="0" smtClean="0"/>
            <a:t>.</a:t>
          </a:r>
          <a:endParaRPr lang="en-GB" sz="2000" dirty="0"/>
        </a:p>
      </dgm:t>
    </dgm:pt>
    <dgm:pt modelId="{71BD6EA5-BC49-44BE-A6EF-4D7BA85041EE}" type="parTrans" cxnId="{307F323D-B3EB-41CB-BB65-06BFFDA6831C}">
      <dgm:prSet/>
      <dgm:spPr/>
      <dgm:t>
        <a:bodyPr/>
        <a:lstStyle/>
        <a:p>
          <a:endParaRPr lang="en-GB"/>
        </a:p>
      </dgm:t>
    </dgm:pt>
    <dgm:pt modelId="{CA043D2E-7A2B-4860-BD26-5F2DB4012BD6}" type="sibTrans" cxnId="{307F323D-B3EB-41CB-BB65-06BFFDA6831C}">
      <dgm:prSet/>
      <dgm:spPr/>
      <dgm:t>
        <a:bodyPr/>
        <a:lstStyle/>
        <a:p>
          <a:endParaRPr lang="en-GB"/>
        </a:p>
      </dgm:t>
    </dgm:pt>
    <dgm:pt modelId="{89633070-E57E-4083-AC23-95F17BF497BA}" type="pres">
      <dgm:prSet presAssocID="{09351712-D3D6-4097-A988-0A5CF1C4252A}" presName="linearFlow" presStyleCnt="0">
        <dgm:presLayoutVars>
          <dgm:dir/>
          <dgm:animLvl val="lvl"/>
          <dgm:resizeHandles val="exact"/>
        </dgm:presLayoutVars>
      </dgm:prSet>
      <dgm:spPr/>
    </dgm:pt>
    <dgm:pt modelId="{E71F235F-7514-4A84-9691-F6B211ABE6D3}" type="pres">
      <dgm:prSet presAssocID="{419FFCC8-3EEE-471A-9F3E-13629411B4AD}" presName="composite" presStyleCnt="0"/>
      <dgm:spPr/>
    </dgm:pt>
    <dgm:pt modelId="{C86B85B9-39B2-4467-A815-999B185866C7}" type="pres">
      <dgm:prSet presAssocID="{419FFCC8-3EEE-471A-9F3E-13629411B4AD}" presName="parentText" presStyleLbl="alignNode1" presStyleIdx="0" presStyleCnt="3">
        <dgm:presLayoutVars>
          <dgm:chMax val="1"/>
          <dgm:bulletEnabled val="1"/>
        </dgm:presLayoutVars>
      </dgm:prSet>
      <dgm:spPr/>
    </dgm:pt>
    <dgm:pt modelId="{2567EEC3-6E07-4CDD-BBFD-CBC1B590ABDC}" type="pres">
      <dgm:prSet presAssocID="{419FFCC8-3EEE-471A-9F3E-13629411B4AD}" presName="descendantText" presStyleLbl="alignAcc1" presStyleIdx="0" presStyleCnt="3">
        <dgm:presLayoutVars>
          <dgm:bulletEnabled val="1"/>
        </dgm:presLayoutVars>
      </dgm:prSet>
      <dgm:spPr/>
      <dgm:t>
        <a:bodyPr/>
        <a:lstStyle/>
        <a:p>
          <a:endParaRPr lang="en-GB"/>
        </a:p>
      </dgm:t>
    </dgm:pt>
    <dgm:pt modelId="{F5276A83-2B73-41F6-8AB4-5C1D3B6B9B79}" type="pres">
      <dgm:prSet presAssocID="{28C61728-54A2-4004-A973-DC1EF31B1176}" presName="sp" presStyleCnt="0"/>
      <dgm:spPr/>
    </dgm:pt>
    <dgm:pt modelId="{49874479-1FEF-4D05-8258-CC6A6A9BEB45}" type="pres">
      <dgm:prSet presAssocID="{F97BE9D5-C8E4-4EB4-B719-AF0607F1CFAF}" presName="composite" presStyleCnt="0"/>
      <dgm:spPr/>
    </dgm:pt>
    <dgm:pt modelId="{F9F71143-315A-4448-975D-B4A933ECA0E0}" type="pres">
      <dgm:prSet presAssocID="{F97BE9D5-C8E4-4EB4-B719-AF0607F1CFAF}" presName="parentText" presStyleLbl="alignNode1" presStyleIdx="1" presStyleCnt="3">
        <dgm:presLayoutVars>
          <dgm:chMax val="1"/>
          <dgm:bulletEnabled val="1"/>
        </dgm:presLayoutVars>
      </dgm:prSet>
      <dgm:spPr/>
    </dgm:pt>
    <dgm:pt modelId="{F134FDCA-C82A-4E91-A769-F4E9E3DEA128}" type="pres">
      <dgm:prSet presAssocID="{F97BE9D5-C8E4-4EB4-B719-AF0607F1CFAF}" presName="descendantText" presStyleLbl="alignAcc1" presStyleIdx="1" presStyleCnt="3" custLinFactNeighborX="0">
        <dgm:presLayoutVars>
          <dgm:bulletEnabled val="1"/>
        </dgm:presLayoutVars>
      </dgm:prSet>
      <dgm:spPr/>
      <dgm:t>
        <a:bodyPr/>
        <a:lstStyle/>
        <a:p>
          <a:endParaRPr lang="en-GB"/>
        </a:p>
      </dgm:t>
    </dgm:pt>
    <dgm:pt modelId="{E7FB4FF7-7FB6-4919-9D08-032948D252C9}" type="pres">
      <dgm:prSet presAssocID="{D1CBAF1A-E5A4-4617-B2CF-3BCC287E3D77}" presName="sp" presStyleCnt="0"/>
      <dgm:spPr/>
    </dgm:pt>
    <dgm:pt modelId="{D7F62F87-36C9-4B12-B120-0BBDCFD3BE43}" type="pres">
      <dgm:prSet presAssocID="{D2462341-E80D-4236-A5C2-812A29F0E19E}" presName="composite" presStyleCnt="0"/>
      <dgm:spPr/>
    </dgm:pt>
    <dgm:pt modelId="{62B25CC5-9A7F-4EB7-974E-496AC3DBDEFB}" type="pres">
      <dgm:prSet presAssocID="{D2462341-E80D-4236-A5C2-812A29F0E19E}" presName="parentText" presStyleLbl="alignNode1" presStyleIdx="2" presStyleCnt="3" custLinFactNeighborX="0" custLinFactNeighborY="-11684">
        <dgm:presLayoutVars>
          <dgm:chMax val="1"/>
          <dgm:bulletEnabled val="1"/>
        </dgm:presLayoutVars>
      </dgm:prSet>
      <dgm:spPr/>
    </dgm:pt>
    <dgm:pt modelId="{E765B879-0C10-480B-BDD3-1A6E378BC473}" type="pres">
      <dgm:prSet presAssocID="{D2462341-E80D-4236-A5C2-812A29F0E19E}" presName="descendantText" presStyleLbl="alignAcc1" presStyleIdx="2" presStyleCnt="3" custScaleY="142527">
        <dgm:presLayoutVars>
          <dgm:bulletEnabled val="1"/>
        </dgm:presLayoutVars>
      </dgm:prSet>
      <dgm:spPr/>
      <dgm:t>
        <a:bodyPr/>
        <a:lstStyle/>
        <a:p>
          <a:endParaRPr lang="en-GB"/>
        </a:p>
      </dgm:t>
    </dgm:pt>
  </dgm:ptLst>
  <dgm:cxnLst>
    <dgm:cxn modelId="{9E82925B-E93E-4DA4-A48E-96F1849C41ED}" srcId="{09351712-D3D6-4097-A988-0A5CF1C4252A}" destId="{419FFCC8-3EEE-471A-9F3E-13629411B4AD}" srcOrd="0" destOrd="0" parTransId="{C795942D-C805-46FF-A173-718FDFC09A04}" sibTransId="{28C61728-54A2-4004-A973-DC1EF31B1176}"/>
    <dgm:cxn modelId="{13984778-12BD-47F4-B3A5-24A5CC185F98}" srcId="{09351712-D3D6-4097-A988-0A5CF1C4252A}" destId="{F97BE9D5-C8E4-4EB4-B719-AF0607F1CFAF}" srcOrd="1" destOrd="0" parTransId="{D9640E4A-CDC4-4BD9-8515-49774107CE1C}" sibTransId="{D1CBAF1A-E5A4-4617-B2CF-3BCC287E3D77}"/>
    <dgm:cxn modelId="{24983DEE-B32E-411B-9942-3F583E7B4398}" srcId="{09351712-D3D6-4097-A988-0A5CF1C4252A}" destId="{D2462341-E80D-4236-A5C2-812A29F0E19E}" srcOrd="2" destOrd="0" parTransId="{08BE086D-39F8-469F-A394-22125068BFB9}" sibTransId="{7F9A710B-C616-46EC-88C3-02D7CE7E9B42}"/>
    <dgm:cxn modelId="{B673CDB2-955E-431C-8384-FC8C42D44FCA}" type="presOf" srcId="{F2A8048A-B3FC-4AE8-AFEF-8D993769B559}" destId="{E765B879-0C10-480B-BDD3-1A6E378BC473}" srcOrd="0" destOrd="0" presId="urn:microsoft.com/office/officeart/2005/8/layout/chevron2"/>
    <dgm:cxn modelId="{78A400F2-1079-46FD-953E-8E92C953355E}" type="presOf" srcId="{9C097B88-5133-4F14-BC02-67DEAE6E5833}" destId="{2567EEC3-6E07-4CDD-BBFD-CBC1B590ABDC}" srcOrd="0" destOrd="0" presId="urn:microsoft.com/office/officeart/2005/8/layout/chevron2"/>
    <dgm:cxn modelId="{5F80CAF8-2874-4ABE-A24A-A7821FBE3AED}" srcId="{419FFCC8-3EEE-471A-9F3E-13629411B4AD}" destId="{9C097B88-5133-4F14-BC02-67DEAE6E5833}" srcOrd="0" destOrd="0" parTransId="{54E56190-013B-4FEC-8E0A-0BFE0323703E}" sibTransId="{5A5B2960-97DC-4E5F-961D-41D344B7B84C}"/>
    <dgm:cxn modelId="{AF757521-8FED-4B76-84A6-FAA96517E143}" type="presOf" srcId="{419FFCC8-3EEE-471A-9F3E-13629411B4AD}" destId="{C86B85B9-39B2-4467-A815-999B185866C7}" srcOrd="0" destOrd="0" presId="urn:microsoft.com/office/officeart/2005/8/layout/chevron2"/>
    <dgm:cxn modelId="{9EB64769-0E78-48EC-83AB-DE0A8AFA5B01}" type="presOf" srcId="{D2462341-E80D-4236-A5C2-812A29F0E19E}" destId="{62B25CC5-9A7F-4EB7-974E-496AC3DBDEFB}" srcOrd="0" destOrd="0" presId="urn:microsoft.com/office/officeart/2005/8/layout/chevron2"/>
    <dgm:cxn modelId="{D65930C3-D683-4ADB-A088-822C039BC910}" type="presOf" srcId="{09351712-D3D6-4097-A988-0A5CF1C4252A}" destId="{89633070-E57E-4083-AC23-95F17BF497BA}" srcOrd="0" destOrd="0" presId="urn:microsoft.com/office/officeart/2005/8/layout/chevron2"/>
    <dgm:cxn modelId="{3C16694D-A8BC-417A-BF22-2606975DB974}" srcId="{F97BE9D5-C8E4-4EB4-B719-AF0607F1CFAF}" destId="{BB7851F5-93BB-4CAA-913E-5DD1D7AB0F33}" srcOrd="0" destOrd="0" parTransId="{4848CDD7-D81B-4FA0-AACD-9652D20EDD20}" sibTransId="{0BEAD2DF-3B87-4FFF-B720-B2ABFD2881DB}"/>
    <dgm:cxn modelId="{2C0D84AB-7AF5-4FCC-81E6-B530173CF1F1}" type="presOf" srcId="{F97BE9D5-C8E4-4EB4-B719-AF0607F1CFAF}" destId="{F9F71143-315A-4448-975D-B4A933ECA0E0}" srcOrd="0" destOrd="0" presId="urn:microsoft.com/office/officeart/2005/8/layout/chevron2"/>
    <dgm:cxn modelId="{C43C1373-143A-40A0-99AD-3A7A7E7A0956}" type="presOf" srcId="{BB7851F5-93BB-4CAA-913E-5DD1D7AB0F33}" destId="{F134FDCA-C82A-4E91-A769-F4E9E3DEA128}" srcOrd="0" destOrd="0" presId="urn:microsoft.com/office/officeart/2005/8/layout/chevron2"/>
    <dgm:cxn modelId="{307F323D-B3EB-41CB-BB65-06BFFDA6831C}" srcId="{D2462341-E80D-4236-A5C2-812A29F0E19E}" destId="{F2A8048A-B3FC-4AE8-AFEF-8D993769B559}" srcOrd="0" destOrd="0" parTransId="{71BD6EA5-BC49-44BE-A6EF-4D7BA85041EE}" sibTransId="{CA043D2E-7A2B-4860-BD26-5F2DB4012BD6}"/>
    <dgm:cxn modelId="{0212A02D-9DF8-46B0-B759-449DE28E3DBD}" type="presParOf" srcId="{89633070-E57E-4083-AC23-95F17BF497BA}" destId="{E71F235F-7514-4A84-9691-F6B211ABE6D3}" srcOrd="0" destOrd="0" presId="urn:microsoft.com/office/officeart/2005/8/layout/chevron2"/>
    <dgm:cxn modelId="{E7C94AAC-B283-4114-8B61-EC829B7F31A7}" type="presParOf" srcId="{E71F235F-7514-4A84-9691-F6B211ABE6D3}" destId="{C86B85B9-39B2-4467-A815-999B185866C7}" srcOrd="0" destOrd="0" presId="urn:microsoft.com/office/officeart/2005/8/layout/chevron2"/>
    <dgm:cxn modelId="{EB2B70AD-B5AC-4C25-A3DE-5A9325241795}" type="presParOf" srcId="{E71F235F-7514-4A84-9691-F6B211ABE6D3}" destId="{2567EEC3-6E07-4CDD-BBFD-CBC1B590ABDC}" srcOrd="1" destOrd="0" presId="urn:microsoft.com/office/officeart/2005/8/layout/chevron2"/>
    <dgm:cxn modelId="{43400EA4-01A0-4A13-AEC4-B6213D44EC6D}" type="presParOf" srcId="{89633070-E57E-4083-AC23-95F17BF497BA}" destId="{F5276A83-2B73-41F6-8AB4-5C1D3B6B9B79}" srcOrd="1" destOrd="0" presId="urn:microsoft.com/office/officeart/2005/8/layout/chevron2"/>
    <dgm:cxn modelId="{512DA702-7E3E-43DA-9DBA-751A4D37F7BE}" type="presParOf" srcId="{89633070-E57E-4083-AC23-95F17BF497BA}" destId="{49874479-1FEF-4D05-8258-CC6A6A9BEB45}" srcOrd="2" destOrd="0" presId="urn:microsoft.com/office/officeart/2005/8/layout/chevron2"/>
    <dgm:cxn modelId="{61B6392B-609B-49B1-A51D-BDF7102B39E8}" type="presParOf" srcId="{49874479-1FEF-4D05-8258-CC6A6A9BEB45}" destId="{F9F71143-315A-4448-975D-B4A933ECA0E0}" srcOrd="0" destOrd="0" presId="urn:microsoft.com/office/officeart/2005/8/layout/chevron2"/>
    <dgm:cxn modelId="{5AB09B93-8D7B-4CE2-AF2A-91D208C56245}" type="presParOf" srcId="{49874479-1FEF-4D05-8258-CC6A6A9BEB45}" destId="{F134FDCA-C82A-4E91-A769-F4E9E3DEA128}" srcOrd="1" destOrd="0" presId="urn:microsoft.com/office/officeart/2005/8/layout/chevron2"/>
    <dgm:cxn modelId="{E52509AD-04F9-47C4-BDE2-2ECC72B59770}" type="presParOf" srcId="{89633070-E57E-4083-AC23-95F17BF497BA}" destId="{E7FB4FF7-7FB6-4919-9D08-032948D252C9}" srcOrd="3" destOrd="0" presId="urn:microsoft.com/office/officeart/2005/8/layout/chevron2"/>
    <dgm:cxn modelId="{7DC6BAD3-5D7A-4BE6-952B-2724E8FEC43D}" type="presParOf" srcId="{89633070-E57E-4083-AC23-95F17BF497BA}" destId="{D7F62F87-36C9-4B12-B120-0BBDCFD3BE43}" srcOrd="4" destOrd="0" presId="urn:microsoft.com/office/officeart/2005/8/layout/chevron2"/>
    <dgm:cxn modelId="{F5063B55-9099-4352-AE3C-FB36214818CC}" type="presParOf" srcId="{D7F62F87-36C9-4B12-B120-0BBDCFD3BE43}" destId="{62B25CC5-9A7F-4EB7-974E-496AC3DBDEFB}" srcOrd="0" destOrd="0" presId="urn:microsoft.com/office/officeart/2005/8/layout/chevron2"/>
    <dgm:cxn modelId="{C19515E1-0E54-478B-89C0-E6E6BCE0261E}" type="presParOf" srcId="{D7F62F87-36C9-4B12-B120-0BBDCFD3BE43}" destId="{E765B879-0C10-480B-BDD3-1A6E378BC47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351712-D3D6-4097-A988-0A5CF1C4252A}" type="doc">
      <dgm:prSet loTypeId="urn:microsoft.com/office/officeart/2005/8/layout/chevron2" loCatId="process" qsTypeId="urn:microsoft.com/office/officeart/2005/8/quickstyle/simple1" qsCatId="simple" csTypeId="urn:microsoft.com/office/officeart/2005/8/colors/accent6_1" csCatId="accent6" phldr="1"/>
      <dgm:spPr/>
      <dgm:t>
        <a:bodyPr/>
        <a:lstStyle/>
        <a:p>
          <a:endParaRPr lang="en-GB"/>
        </a:p>
      </dgm:t>
    </dgm:pt>
    <dgm:pt modelId="{419FFCC8-3EEE-471A-9F3E-13629411B4AD}">
      <dgm:prSet phldrT="[Text]"/>
      <dgm:spPr/>
      <dgm:t>
        <a:bodyPr/>
        <a:lstStyle/>
        <a:p>
          <a:r>
            <a:rPr lang="en-GB" dirty="0" smtClean="0"/>
            <a:t>1914</a:t>
          </a:r>
          <a:endParaRPr lang="en-GB" dirty="0"/>
        </a:p>
      </dgm:t>
    </dgm:pt>
    <dgm:pt modelId="{C795942D-C805-46FF-A173-718FDFC09A04}" type="parTrans" cxnId="{9E82925B-E93E-4DA4-A48E-96F1849C41ED}">
      <dgm:prSet/>
      <dgm:spPr/>
      <dgm:t>
        <a:bodyPr/>
        <a:lstStyle/>
        <a:p>
          <a:endParaRPr lang="en-GB"/>
        </a:p>
      </dgm:t>
    </dgm:pt>
    <dgm:pt modelId="{28C61728-54A2-4004-A973-DC1EF31B1176}" type="sibTrans" cxnId="{9E82925B-E93E-4DA4-A48E-96F1849C41ED}">
      <dgm:prSet/>
      <dgm:spPr/>
      <dgm:t>
        <a:bodyPr/>
        <a:lstStyle/>
        <a:p>
          <a:endParaRPr lang="en-GB"/>
        </a:p>
      </dgm:t>
    </dgm:pt>
    <dgm:pt modelId="{9C097B88-5133-4F14-BC02-67DEAE6E5833}">
      <dgm:prSet phldrT="[Text]" custT="1"/>
      <dgm:spPr/>
      <dgm:t>
        <a:bodyPr/>
        <a:lstStyle/>
        <a:p>
          <a:r>
            <a:rPr lang="en-GB" sz="2100" b="1" dirty="0" smtClean="0">
              <a:solidFill>
                <a:schemeClr val="accent6">
                  <a:lumMod val="75000"/>
                </a:schemeClr>
              </a:solidFill>
            </a:rPr>
            <a:t>Niels Bohr </a:t>
          </a:r>
          <a:r>
            <a:rPr lang="en-GB" sz="2100" dirty="0" smtClean="0"/>
            <a:t>– </a:t>
          </a:r>
          <a:r>
            <a:rPr lang="en-GB" sz="2100" b="1" dirty="0" smtClean="0">
              <a:solidFill>
                <a:schemeClr val="accent6">
                  <a:lumMod val="75000"/>
                </a:schemeClr>
              </a:solidFill>
            </a:rPr>
            <a:t>electrons orbit nucleus at specific distances in fixed energy levels </a:t>
          </a:r>
          <a:r>
            <a:rPr lang="en-GB" sz="2100" dirty="0" smtClean="0"/>
            <a:t>(shells). Energy given </a:t>
          </a:r>
          <a:r>
            <a:rPr lang="en-GB" sz="2000" dirty="0" smtClean="0"/>
            <a:t>out</a:t>
          </a:r>
          <a:r>
            <a:rPr lang="en-GB" sz="2100" dirty="0" smtClean="0"/>
            <a:t> when electrons change level.</a:t>
          </a:r>
          <a:endParaRPr lang="en-GB" sz="2100" dirty="0"/>
        </a:p>
      </dgm:t>
    </dgm:pt>
    <dgm:pt modelId="{54E56190-013B-4FEC-8E0A-0BFE0323703E}" type="parTrans" cxnId="{5F80CAF8-2874-4ABE-A24A-A7821FBE3AED}">
      <dgm:prSet/>
      <dgm:spPr/>
      <dgm:t>
        <a:bodyPr/>
        <a:lstStyle/>
        <a:p>
          <a:endParaRPr lang="en-GB"/>
        </a:p>
      </dgm:t>
    </dgm:pt>
    <dgm:pt modelId="{5A5B2960-97DC-4E5F-961D-41D344B7B84C}" type="sibTrans" cxnId="{5F80CAF8-2874-4ABE-A24A-A7821FBE3AED}">
      <dgm:prSet/>
      <dgm:spPr/>
      <dgm:t>
        <a:bodyPr/>
        <a:lstStyle/>
        <a:p>
          <a:endParaRPr lang="en-GB"/>
        </a:p>
      </dgm:t>
    </dgm:pt>
    <dgm:pt modelId="{F97BE9D5-C8E4-4EB4-B719-AF0607F1CFAF}">
      <dgm:prSet phldrT="[Text]"/>
      <dgm:spPr/>
      <dgm:t>
        <a:bodyPr/>
        <a:lstStyle/>
        <a:p>
          <a:r>
            <a:rPr lang="en-GB" dirty="0" smtClean="0"/>
            <a:t>Later…</a:t>
          </a:r>
          <a:endParaRPr lang="en-GB" dirty="0"/>
        </a:p>
      </dgm:t>
    </dgm:pt>
    <dgm:pt modelId="{D9640E4A-CDC4-4BD9-8515-49774107CE1C}" type="parTrans" cxnId="{13984778-12BD-47F4-B3A5-24A5CC185F98}">
      <dgm:prSet/>
      <dgm:spPr/>
      <dgm:t>
        <a:bodyPr/>
        <a:lstStyle/>
        <a:p>
          <a:endParaRPr lang="en-GB"/>
        </a:p>
      </dgm:t>
    </dgm:pt>
    <dgm:pt modelId="{D1CBAF1A-E5A4-4617-B2CF-3BCC287E3D77}" type="sibTrans" cxnId="{13984778-12BD-47F4-B3A5-24A5CC185F98}">
      <dgm:prSet/>
      <dgm:spPr/>
      <dgm:t>
        <a:bodyPr/>
        <a:lstStyle/>
        <a:p>
          <a:endParaRPr lang="en-GB"/>
        </a:p>
      </dgm:t>
    </dgm:pt>
    <dgm:pt modelId="{BB7851F5-93BB-4CAA-913E-5DD1D7AB0F33}">
      <dgm:prSet phldrT="[Text]" custT="1"/>
      <dgm:spPr/>
      <dgm:t>
        <a:bodyPr/>
        <a:lstStyle/>
        <a:p>
          <a:r>
            <a:rPr lang="en-GB" sz="2000" dirty="0" smtClean="0"/>
            <a:t>Positive charge of nucleus could be subdivided into particles of positive charge – </a:t>
          </a:r>
          <a:r>
            <a:rPr lang="en-GB" sz="2000" b="1" dirty="0" smtClean="0">
              <a:solidFill>
                <a:schemeClr val="accent6">
                  <a:lumMod val="75000"/>
                </a:schemeClr>
              </a:solidFill>
            </a:rPr>
            <a:t>protons</a:t>
          </a:r>
          <a:r>
            <a:rPr lang="en-GB" sz="2000" dirty="0" smtClean="0"/>
            <a:t>. </a:t>
          </a:r>
          <a:endParaRPr lang="en-GB" sz="2000" dirty="0"/>
        </a:p>
      </dgm:t>
    </dgm:pt>
    <dgm:pt modelId="{4848CDD7-D81B-4FA0-AACD-9652D20EDD20}" type="parTrans" cxnId="{3C16694D-A8BC-417A-BF22-2606975DB974}">
      <dgm:prSet/>
      <dgm:spPr/>
      <dgm:t>
        <a:bodyPr/>
        <a:lstStyle/>
        <a:p>
          <a:endParaRPr lang="en-GB"/>
        </a:p>
      </dgm:t>
    </dgm:pt>
    <dgm:pt modelId="{0BEAD2DF-3B87-4FFF-B720-B2ABFD2881DB}" type="sibTrans" cxnId="{3C16694D-A8BC-417A-BF22-2606975DB974}">
      <dgm:prSet/>
      <dgm:spPr/>
      <dgm:t>
        <a:bodyPr/>
        <a:lstStyle/>
        <a:p>
          <a:endParaRPr lang="en-GB"/>
        </a:p>
      </dgm:t>
    </dgm:pt>
    <dgm:pt modelId="{D2462341-E80D-4236-A5C2-812A29F0E19E}">
      <dgm:prSet phldrT="[Text]"/>
      <dgm:spPr/>
      <dgm:t>
        <a:bodyPr/>
        <a:lstStyle/>
        <a:p>
          <a:r>
            <a:rPr lang="en-GB" dirty="0" smtClean="0"/>
            <a:t>1932</a:t>
          </a:r>
          <a:endParaRPr lang="en-GB" dirty="0"/>
        </a:p>
      </dgm:t>
    </dgm:pt>
    <dgm:pt modelId="{08BE086D-39F8-469F-A394-22125068BFB9}" type="parTrans" cxnId="{24983DEE-B32E-411B-9942-3F583E7B4398}">
      <dgm:prSet/>
      <dgm:spPr/>
      <dgm:t>
        <a:bodyPr/>
        <a:lstStyle/>
        <a:p>
          <a:endParaRPr lang="en-GB"/>
        </a:p>
      </dgm:t>
    </dgm:pt>
    <dgm:pt modelId="{7F9A710B-C616-46EC-88C3-02D7CE7E9B42}" type="sibTrans" cxnId="{24983DEE-B32E-411B-9942-3F583E7B4398}">
      <dgm:prSet/>
      <dgm:spPr/>
      <dgm:t>
        <a:bodyPr/>
        <a:lstStyle/>
        <a:p>
          <a:endParaRPr lang="en-GB"/>
        </a:p>
      </dgm:t>
    </dgm:pt>
    <dgm:pt modelId="{F2A8048A-B3FC-4AE8-AFEF-8D993769B559}">
      <dgm:prSet phldrT="[Text]" custT="1"/>
      <dgm:spPr/>
      <dgm:t>
        <a:bodyPr/>
        <a:lstStyle/>
        <a:p>
          <a:r>
            <a:rPr lang="en-GB" sz="2000" b="1" dirty="0" smtClean="0">
              <a:solidFill>
                <a:schemeClr val="accent6">
                  <a:lumMod val="75000"/>
                </a:schemeClr>
              </a:solidFill>
            </a:rPr>
            <a:t>James Chadwick </a:t>
          </a:r>
          <a:r>
            <a:rPr lang="en-GB" sz="2000" dirty="0" smtClean="0"/>
            <a:t>– provided evidence for the existence of </a:t>
          </a:r>
          <a:r>
            <a:rPr lang="en-GB" sz="2000" b="1" dirty="0" smtClean="0">
              <a:solidFill>
                <a:schemeClr val="accent6">
                  <a:lumMod val="75000"/>
                </a:schemeClr>
              </a:solidFill>
            </a:rPr>
            <a:t>neutrons</a:t>
          </a:r>
          <a:r>
            <a:rPr lang="en-GB" sz="2000" dirty="0" smtClean="0"/>
            <a:t> within the nucleus.</a:t>
          </a:r>
          <a:endParaRPr lang="en-GB" sz="2000" dirty="0"/>
        </a:p>
      </dgm:t>
    </dgm:pt>
    <dgm:pt modelId="{71BD6EA5-BC49-44BE-A6EF-4D7BA85041EE}" type="parTrans" cxnId="{307F323D-B3EB-41CB-BB65-06BFFDA6831C}">
      <dgm:prSet/>
      <dgm:spPr/>
      <dgm:t>
        <a:bodyPr/>
        <a:lstStyle/>
        <a:p>
          <a:endParaRPr lang="en-GB"/>
        </a:p>
      </dgm:t>
    </dgm:pt>
    <dgm:pt modelId="{CA043D2E-7A2B-4860-BD26-5F2DB4012BD6}" type="sibTrans" cxnId="{307F323D-B3EB-41CB-BB65-06BFFDA6831C}">
      <dgm:prSet/>
      <dgm:spPr/>
      <dgm:t>
        <a:bodyPr/>
        <a:lstStyle/>
        <a:p>
          <a:endParaRPr lang="en-GB"/>
        </a:p>
      </dgm:t>
    </dgm:pt>
    <dgm:pt modelId="{89633070-E57E-4083-AC23-95F17BF497BA}" type="pres">
      <dgm:prSet presAssocID="{09351712-D3D6-4097-A988-0A5CF1C4252A}" presName="linearFlow" presStyleCnt="0">
        <dgm:presLayoutVars>
          <dgm:dir/>
          <dgm:animLvl val="lvl"/>
          <dgm:resizeHandles val="exact"/>
        </dgm:presLayoutVars>
      </dgm:prSet>
      <dgm:spPr/>
    </dgm:pt>
    <dgm:pt modelId="{E71F235F-7514-4A84-9691-F6B211ABE6D3}" type="pres">
      <dgm:prSet presAssocID="{419FFCC8-3EEE-471A-9F3E-13629411B4AD}" presName="composite" presStyleCnt="0"/>
      <dgm:spPr/>
    </dgm:pt>
    <dgm:pt modelId="{C86B85B9-39B2-4467-A815-999B185866C7}" type="pres">
      <dgm:prSet presAssocID="{419FFCC8-3EEE-471A-9F3E-13629411B4AD}" presName="parentText" presStyleLbl="alignNode1" presStyleIdx="0" presStyleCnt="3">
        <dgm:presLayoutVars>
          <dgm:chMax val="1"/>
          <dgm:bulletEnabled val="1"/>
        </dgm:presLayoutVars>
      </dgm:prSet>
      <dgm:spPr/>
    </dgm:pt>
    <dgm:pt modelId="{2567EEC3-6E07-4CDD-BBFD-CBC1B590ABDC}" type="pres">
      <dgm:prSet presAssocID="{419FFCC8-3EEE-471A-9F3E-13629411B4AD}" presName="descendantText" presStyleLbl="alignAcc1" presStyleIdx="0" presStyleCnt="3">
        <dgm:presLayoutVars>
          <dgm:bulletEnabled val="1"/>
        </dgm:presLayoutVars>
      </dgm:prSet>
      <dgm:spPr/>
      <dgm:t>
        <a:bodyPr/>
        <a:lstStyle/>
        <a:p>
          <a:endParaRPr lang="en-GB"/>
        </a:p>
      </dgm:t>
    </dgm:pt>
    <dgm:pt modelId="{F5276A83-2B73-41F6-8AB4-5C1D3B6B9B79}" type="pres">
      <dgm:prSet presAssocID="{28C61728-54A2-4004-A973-DC1EF31B1176}" presName="sp" presStyleCnt="0"/>
      <dgm:spPr/>
    </dgm:pt>
    <dgm:pt modelId="{49874479-1FEF-4D05-8258-CC6A6A9BEB45}" type="pres">
      <dgm:prSet presAssocID="{F97BE9D5-C8E4-4EB4-B719-AF0607F1CFAF}" presName="composite" presStyleCnt="0"/>
      <dgm:spPr/>
    </dgm:pt>
    <dgm:pt modelId="{F9F71143-315A-4448-975D-B4A933ECA0E0}" type="pres">
      <dgm:prSet presAssocID="{F97BE9D5-C8E4-4EB4-B719-AF0607F1CFAF}" presName="parentText" presStyleLbl="alignNode1" presStyleIdx="1" presStyleCnt="3">
        <dgm:presLayoutVars>
          <dgm:chMax val="1"/>
          <dgm:bulletEnabled val="1"/>
        </dgm:presLayoutVars>
      </dgm:prSet>
      <dgm:spPr/>
    </dgm:pt>
    <dgm:pt modelId="{F134FDCA-C82A-4E91-A769-F4E9E3DEA128}" type="pres">
      <dgm:prSet presAssocID="{F97BE9D5-C8E4-4EB4-B719-AF0607F1CFAF}" presName="descendantText" presStyleLbl="alignAcc1" presStyleIdx="1" presStyleCnt="3">
        <dgm:presLayoutVars>
          <dgm:bulletEnabled val="1"/>
        </dgm:presLayoutVars>
      </dgm:prSet>
      <dgm:spPr/>
      <dgm:t>
        <a:bodyPr/>
        <a:lstStyle/>
        <a:p>
          <a:endParaRPr lang="en-GB"/>
        </a:p>
      </dgm:t>
    </dgm:pt>
    <dgm:pt modelId="{E7FB4FF7-7FB6-4919-9D08-032948D252C9}" type="pres">
      <dgm:prSet presAssocID="{D1CBAF1A-E5A4-4617-B2CF-3BCC287E3D77}" presName="sp" presStyleCnt="0"/>
      <dgm:spPr/>
    </dgm:pt>
    <dgm:pt modelId="{D7F62F87-36C9-4B12-B120-0BBDCFD3BE43}" type="pres">
      <dgm:prSet presAssocID="{D2462341-E80D-4236-A5C2-812A29F0E19E}" presName="composite" presStyleCnt="0"/>
      <dgm:spPr/>
    </dgm:pt>
    <dgm:pt modelId="{62B25CC5-9A7F-4EB7-974E-496AC3DBDEFB}" type="pres">
      <dgm:prSet presAssocID="{D2462341-E80D-4236-A5C2-812A29F0E19E}" presName="parentText" presStyleLbl="alignNode1" presStyleIdx="2" presStyleCnt="3">
        <dgm:presLayoutVars>
          <dgm:chMax val="1"/>
          <dgm:bulletEnabled val="1"/>
        </dgm:presLayoutVars>
      </dgm:prSet>
      <dgm:spPr/>
    </dgm:pt>
    <dgm:pt modelId="{E765B879-0C10-480B-BDD3-1A6E378BC473}" type="pres">
      <dgm:prSet presAssocID="{D2462341-E80D-4236-A5C2-812A29F0E19E}" presName="descendantText" presStyleLbl="alignAcc1" presStyleIdx="2" presStyleCnt="3">
        <dgm:presLayoutVars>
          <dgm:bulletEnabled val="1"/>
        </dgm:presLayoutVars>
      </dgm:prSet>
      <dgm:spPr/>
      <dgm:t>
        <a:bodyPr/>
        <a:lstStyle/>
        <a:p>
          <a:endParaRPr lang="en-GB"/>
        </a:p>
      </dgm:t>
    </dgm:pt>
  </dgm:ptLst>
  <dgm:cxnLst>
    <dgm:cxn modelId="{9E82925B-E93E-4DA4-A48E-96F1849C41ED}" srcId="{09351712-D3D6-4097-A988-0A5CF1C4252A}" destId="{419FFCC8-3EEE-471A-9F3E-13629411B4AD}" srcOrd="0" destOrd="0" parTransId="{C795942D-C805-46FF-A173-718FDFC09A04}" sibTransId="{28C61728-54A2-4004-A973-DC1EF31B1176}"/>
    <dgm:cxn modelId="{99BFD5C8-F484-48CF-8363-040B4AF25656}" type="presOf" srcId="{F2A8048A-B3FC-4AE8-AFEF-8D993769B559}" destId="{E765B879-0C10-480B-BDD3-1A6E378BC473}" srcOrd="0" destOrd="0" presId="urn:microsoft.com/office/officeart/2005/8/layout/chevron2"/>
    <dgm:cxn modelId="{CC2CA7C9-AAEB-43DE-995B-3E6DF4C84CD6}" type="presOf" srcId="{F97BE9D5-C8E4-4EB4-B719-AF0607F1CFAF}" destId="{F9F71143-315A-4448-975D-B4A933ECA0E0}" srcOrd="0" destOrd="0" presId="urn:microsoft.com/office/officeart/2005/8/layout/chevron2"/>
    <dgm:cxn modelId="{13984778-12BD-47F4-B3A5-24A5CC185F98}" srcId="{09351712-D3D6-4097-A988-0A5CF1C4252A}" destId="{F97BE9D5-C8E4-4EB4-B719-AF0607F1CFAF}" srcOrd="1" destOrd="0" parTransId="{D9640E4A-CDC4-4BD9-8515-49774107CE1C}" sibTransId="{D1CBAF1A-E5A4-4617-B2CF-3BCC287E3D77}"/>
    <dgm:cxn modelId="{00E525ED-0400-458E-A553-40365688A86D}" type="presOf" srcId="{BB7851F5-93BB-4CAA-913E-5DD1D7AB0F33}" destId="{F134FDCA-C82A-4E91-A769-F4E9E3DEA128}" srcOrd="0" destOrd="0" presId="urn:microsoft.com/office/officeart/2005/8/layout/chevron2"/>
    <dgm:cxn modelId="{24983DEE-B32E-411B-9942-3F583E7B4398}" srcId="{09351712-D3D6-4097-A988-0A5CF1C4252A}" destId="{D2462341-E80D-4236-A5C2-812A29F0E19E}" srcOrd="2" destOrd="0" parTransId="{08BE086D-39F8-469F-A394-22125068BFB9}" sibTransId="{7F9A710B-C616-46EC-88C3-02D7CE7E9B42}"/>
    <dgm:cxn modelId="{34991875-3428-489A-8E6D-974FDAFA56E8}" type="presOf" srcId="{09351712-D3D6-4097-A988-0A5CF1C4252A}" destId="{89633070-E57E-4083-AC23-95F17BF497BA}" srcOrd="0" destOrd="0" presId="urn:microsoft.com/office/officeart/2005/8/layout/chevron2"/>
    <dgm:cxn modelId="{5F80CAF8-2874-4ABE-A24A-A7821FBE3AED}" srcId="{419FFCC8-3EEE-471A-9F3E-13629411B4AD}" destId="{9C097B88-5133-4F14-BC02-67DEAE6E5833}" srcOrd="0" destOrd="0" parTransId="{54E56190-013B-4FEC-8E0A-0BFE0323703E}" sibTransId="{5A5B2960-97DC-4E5F-961D-41D344B7B84C}"/>
    <dgm:cxn modelId="{B0A83AE9-2625-46D7-B37A-EE57AC984F59}" type="presOf" srcId="{D2462341-E80D-4236-A5C2-812A29F0E19E}" destId="{62B25CC5-9A7F-4EB7-974E-496AC3DBDEFB}" srcOrd="0" destOrd="0" presId="urn:microsoft.com/office/officeart/2005/8/layout/chevron2"/>
    <dgm:cxn modelId="{0578BAE0-415A-46DE-BD0D-6153F356EC77}" type="presOf" srcId="{419FFCC8-3EEE-471A-9F3E-13629411B4AD}" destId="{C86B85B9-39B2-4467-A815-999B185866C7}" srcOrd="0" destOrd="0" presId="urn:microsoft.com/office/officeart/2005/8/layout/chevron2"/>
    <dgm:cxn modelId="{3C16694D-A8BC-417A-BF22-2606975DB974}" srcId="{F97BE9D5-C8E4-4EB4-B719-AF0607F1CFAF}" destId="{BB7851F5-93BB-4CAA-913E-5DD1D7AB0F33}" srcOrd="0" destOrd="0" parTransId="{4848CDD7-D81B-4FA0-AACD-9652D20EDD20}" sibTransId="{0BEAD2DF-3B87-4FFF-B720-B2ABFD2881DB}"/>
    <dgm:cxn modelId="{E7DA3481-8493-4527-B4AC-0CD308ED5A03}" type="presOf" srcId="{9C097B88-5133-4F14-BC02-67DEAE6E5833}" destId="{2567EEC3-6E07-4CDD-BBFD-CBC1B590ABDC}" srcOrd="0" destOrd="0" presId="urn:microsoft.com/office/officeart/2005/8/layout/chevron2"/>
    <dgm:cxn modelId="{307F323D-B3EB-41CB-BB65-06BFFDA6831C}" srcId="{D2462341-E80D-4236-A5C2-812A29F0E19E}" destId="{F2A8048A-B3FC-4AE8-AFEF-8D993769B559}" srcOrd="0" destOrd="0" parTransId="{71BD6EA5-BC49-44BE-A6EF-4D7BA85041EE}" sibTransId="{CA043D2E-7A2B-4860-BD26-5F2DB4012BD6}"/>
    <dgm:cxn modelId="{43615AA5-E1B3-4143-89CC-47DB830EAA15}" type="presParOf" srcId="{89633070-E57E-4083-AC23-95F17BF497BA}" destId="{E71F235F-7514-4A84-9691-F6B211ABE6D3}" srcOrd="0" destOrd="0" presId="urn:microsoft.com/office/officeart/2005/8/layout/chevron2"/>
    <dgm:cxn modelId="{91EE839A-CADB-407B-BDFF-60F88ED60268}" type="presParOf" srcId="{E71F235F-7514-4A84-9691-F6B211ABE6D3}" destId="{C86B85B9-39B2-4467-A815-999B185866C7}" srcOrd="0" destOrd="0" presId="urn:microsoft.com/office/officeart/2005/8/layout/chevron2"/>
    <dgm:cxn modelId="{FE9CB157-D1FF-4DA4-BEB5-7180FCFD62DC}" type="presParOf" srcId="{E71F235F-7514-4A84-9691-F6B211ABE6D3}" destId="{2567EEC3-6E07-4CDD-BBFD-CBC1B590ABDC}" srcOrd="1" destOrd="0" presId="urn:microsoft.com/office/officeart/2005/8/layout/chevron2"/>
    <dgm:cxn modelId="{D92D56F5-374B-4841-91DB-C62015978E57}" type="presParOf" srcId="{89633070-E57E-4083-AC23-95F17BF497BA}" destId="{F5276A83-2B73-41F6-8AB4-5C1D3B6B9B79}" srcOrd="1" destOrd="0" presId="urn:microsoft.com/office/officeart/2005/8/layout/chevron2"/>
    <dgm:cxn modelId="{9D332E11-60BB-46A0-96F0-556FAEA29B2F}" type="presParOf" srcId="{89633070-E57E-4083-AC23-95F17BF497BA}" destId="{49874479-1FEF-4D05-8258-CC6A6A9BEB45}" srcOrd="2" destOrd="0" presId="urn:microsoft.com/office/officeart/2005/8/layout/chevron2"/>
    <dgm:cxn modelId="{1C77384B-FEA6-45A6-87B8-F3397982B0CB}" type="presParOf" srcId="{49874479-1FEF-4D05-8258-CC6A6A9BEB45}" destId="{F9F71143-315A-4448-975D-B4A933ECA0E0}" srcOrd="0" destOrd="0" presId="urn:microsoft.com/office/officeart/2005/8/layout/chevron2"/>
    <dgm:cxn modelId="{F7BDADEC-43E5-4EBA-9DE7-1B0D0142E4E1}" type="presParOf" srcId="{49874479-1FEF-4D05-8258-CC6A6A9BEB45}" destId="{F134FDCA-C82A-4E91-A769-F4E9E3DEA128}" srcOrd="1" destOrd="0" presId="urn:microsoft.com/office/officeart/2005/8/layout/chevron2"/>
    <dgm:cxn modelId="{5FFCD05E-F58A-472B-AF22-BFA6130DE7CB}" type="presParOf" srcId="{89633070-E57E-4083-AC23-95F17BF497BA}" destId="{E7FB4FF7-7FB6-4919-9D08-032948D252C9}" srcOrd="3" destOrd="0" presId="urn:microsoft.com/office/officeart/2005/8/layout/chevron2"/>
    <dgm:cxn modelId="{4B9B2542-2FF8-4DB5-9688-5BDEE695BEAD}" type="presParOf" srcId="{89633070-E57E-4083-AC23-95F17BF497BA}" destId="{D7F62F87-36C9-4B12-B120-0BBDCFD3BE43}" srcOrd="4" destOrd="0" presId="urn:microsoft.com/office/officeart/2005/8/layout/chevron2"/>
    <dgm:cxn modelId="{69F61ABE-FD02-4143-A26F-5122A32BA085}" type="presParOf" srcId="{D7F62F87-36C9-4B12-B120-0BBDCFD3BE43}" destId="{62B25CC5-9A7F-4EB7-974E-496AC3DBDEFB}" srcOrd="0" destOrd="0" presId="urn:microsoft.com/office/officeart/2005/8/layout/chevron2"/>
    <dgm:cxn modelId="{645CEB2E-A21C-4B58-9C9E-A6060641B6D5}" type="presParOf" srcId="{D7F62F87-36C9-4B12-B120-0BBDCFD3BE43}" destId="{E765B879-0C10-480B-BDD3-1A6E378BC473}"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B85B9-39B2-4467-A815-999B185866C7}">
      <dsp:nvSpPr>
        <dsp:cNvPr id="0" name=""/>
        <dsp:cNvSpPr/>
      </dsp:nvSpPr>
      <dsp:spPr>
        <a:xfrm rot="5400000">
          <a:off x="-172401" y="175471"/>
          <a:ext cx="1149344" cy="804541"/>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GB" sz="1300" kern="1200" dirty="0" smtClean="0"/>
            <a:t>1800s</a:t>
          </a:r>
          <a:endParaRPr lang="en-GB" sz="1300" kern="1200" dirty="0"/>
        </a:p>
      </dsp:txBody>
      <dsp:txXfrm rot="-5400000">
        <a:off x="1" y="405341"/>
        <a:ext cx="804541" cy="344803"/>
      </dsp:txXfrm>
    </dsp:sp>
    <dsp:sp modelId="{2567EEC3-6E07-4CDD-BBFD-CBC1B590ABDC}">
      <dsp:nvSpPr>
        <dsp:cNvPr id="0" name=""/>
        <dsp:cNvSpPr/>
      </dsp:nvSpPr>
      <dsp:spPr>
        <a:xfrm rot="5400000">
          <a:off x="4421221" y="-3613610"/>
          <a:ext cx="747073" cy="7980434"/>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smtClean="0"/>
            <a:t>John Dalton – </a:t>
          </a:r>
          <a:r>
            <a:rPr lang="en-GB" sz="2000" b="1" kern="1200" dirty="0" smtClean="0">
              <a:solidFill>
                <a:schemeClr val="accent6">
                  <a:lumMod val="75000"/>
                </a:schemeClr>
              </a:solidFill>
            </a:rPr>
            <a:t>tiny spheres that could not be divided</a:t>
          </a:r>
          <a:r>
            <a:rPr lang="en-GB" sz="2000" kern="1200" dirty="0" smtClean="0"/>
            <a:t>.</a:t>
          </a:r>
          <a:endParaRPr lang="en-GB" sz="2000" kern="1200" dirty="0"/>
        </a:p>
      </dsp:txBody>
      <dsp:txXfrm rot="-5400000">
        <a:off x="804541" y="39539"/>
        <a:ext cx="7943965" cy="674135"/>
      </dsp:txXfrm>
    </dsp:sp>
    <dsp:sp modelId="{F9F71143-315A-4448-975D-B4A933ECA0E0}">
      <dsp:nvSpPr>
        <dsp:cNvPr id="0" name=""/>
        <dsp:cNvSpPr/>
      </dsp:nvSpPr>
      <dsp:spPr>
        <a:xfrm rot="5400000">
          <a:off x="-172401" y="1134323"/>
          <a:ext cx="1149344" cy="804541"/>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GB" sz="1300" kern="1200" dirty="0" smtClean="0"/>
            <a:t>1890s</a:t>
          </a:r>
          <a:endParaRPr lang="en-GB" sz="1300" kern="1200" dirty="0"/>
        </a:p>
      </dsp:txBody>
      <dsp:txXfrm rot="-5400000">
        <a:off x="1" y="1364193"/>
        <a:ext cx="804541" cy="344803"/>
      </dsp:txXfrm>
    </dsp:sp>
    <dsp:sp modelId="{F134FDCA-C82A-4E91-A769-F4E9E3DEA128}">
      <dsp:nvSpPr>
        <dsp:cNvPr id="0" name=""/>
        <dsp:cNvSpPr/>
      </dsp:nvSpPr>
      <dsp:spPr>
        <a:xfrm rot="5400000">
          <a:off x="4421221" y="-2654758"/>
          <a:ext cx="747073" cy="7980434"/>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smtClean="0"/>
            <a:t>JJ Thomson – </a:t>
          </a:r>
          <a:r>
            <a:rPr lang="en-GB" sz="2000" b="1" kern="1200" dirty="0" smtClean="0">
              <a:solidFill>
                <a:schemeClr val="accent6">
                  <a:lumMod val="75000"/>
                </a:schemeClr>
              </a:solidFill>
            </a:rPr>
            <a:t>electron</a:t>
          </a:r>
          <a:r>
            <a:rPr lang="en-GB" sz="2000" kern="1200" dirty="0" smtClean="0"/>
            <a:t> discovered. </a:t>
          </a:r>
          <a:r>
            <a:rPr lang="en-GB" sz="2000" b="1" kern="1200" dirty="0" smtClean="0">
              <a:solidFill>
                <a:schemeClr val="accent6">
                  <a:lumMod val="75000"/>
                </a:schemeClr>
              </a:solidFill>
            </a:rPr>
            <a:t>Plum pudding model </a:t>
          </a:r>
          <a:r>
            <a:rPr lang="en-GB" sz="2000" kern="1200" dirty="0" smtClean="0"/>
            <a:t>- spheres of positive charge with negative charges spread evenly though.</a:t>
          </a:r>
          <a:endParaRPr lang="en-GB" sz="2000" kern="1200" dirty="0"/>
        </a:p>
      </dsp:txBody>
      <dsp:txXfrm rot="-5400000">
        <a:off x="804541" y="998391"/>
        <a:ext cx="7943965" cy="674135"/>
      </dsp:txXfrm>
    </dsp:sp>
    <dsp:sp modelId="{62B25CC5-9A7F-4EB7-974E-496AC3DBDEFB}">
      <dsp:nvSpPr>
        <dsp:cNvPr id="0" name=""/>
        <dsp:cNvSpPr/>
      </dsp:nvSpPr>
      <dsp:spPr>
        <a:xfrm rot="5400000">
          <a:off x="-172401" y="2117739"/>
          <a:ext cx="1149344" cy="804541"/>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GB" sz="1300" kern="1200" dirty="0" smtClean="0"/>
            <a:t>1908 -1913</a:t>
          </a:r>
          <a:endParaRPr lang="en-GB" sz="1300" kern="1200" dirty="0"/>
        </a:p>
      </dsp:txBody>
      <dsp:txXfrm rot="-5400000">
        <a:off x="1" y="2347609"/>
        <a:ext cx="804541" cy="344803"/>
      </dsp:txXfrm>
    </dsp:sp>
    <dsp:sp modelId="{E765B879-0C10-480B-BDD3-1A6E378BC473}">
      <dsp:nvSpPr>
        <dsp:cNvPr id="0" name=""/>
        <dsp:cNvSpPr/>
      </dsp:nvSpPr>
      <dsp:spPr>
        <a:xfrm rot="5400000">
          <a:off x="4262367" y="-1537052"/>
          <a:ext cx="1064782" cy="7980434"/>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smtClean="0"/>
            <a:t>E. Rutherford, Geiger and  Marsden - </a:t>
          </a:r>
          <a:r>
            <a:rPr lang="en-GB" sz="2000" b="1" kern="1200" dirty="0" smtClean="0">
              <a:solidFill>
                <a:schemeClr val="accent6">
                  <a:lumMod val="75000"/>
                </a:schemeClr>
              </a:solidFill>
            </a:rPr>
            <a:t>alpha particle scattering experiment</a:t>
          </a:r>
          <a:r>
            <a:rPr lang="en-GB" sz="2000" kern="1200" dirty="0" smtClean="0"/>
            <a:t>. Nuclear model - mass of atom concentrated in a </a:t>
          </a:r>
          <a:r>
            <a:rPr lang="en-GB" sz="2000" b="1" kern="1200" dirty="0" smtClean="0">
              <a:solidFill>
                <a:schemeClr val="accent6">
                  <a:lumMod val="75000"/>
                </a:schemeClr>
              </a:solidFill>
            </a:rPr>
            <a:t>charged nucleus, </a:t>
          </a:r>
          <a:r>
            <a:rPr lang="en-GB" sz="2000" b="0" kern="1200" dirty="0" smtClean="0">
              <a:solidFill>
                <a:schemeClr val="tx1"/>
              </a:solidFill>
            </a:rPr>
            <a:t>with </a:t>
          </a:r>
          <a:r>
            <a:rPr lang="en-GB" sz="2000" b="1" kern="1200" dirty="0" smtClean="0">
              <a:solidFill>
                <a:schemeClr val="accent6">
                  <a:lumMod val="75000"/>
                </a:schemeClr>
              </a:solidFill>
            </a:rPr>
            <a:t>orbiting electrons</a:t>
          </a:r>
          <a:r>
            <a:rPr lang="en-GB" sz="2000" kern="1200" dirty="0" smtClean="0"/>
            <a:t>.</a:t>
          </a:r>
          <a:endParaRPr lang="en-GB" sz="2000" kern="1200" dirty="0"/>
        </a:p>
      </dsp:txBody>
      <dsp:txXfrm rot="-5400000">
        <a:off x="804541" y="1972752"/>
        <a:ext cx="7928456" cy="960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B85B9-39B2-4467-A815-999B185866C7}">
      <dsp:nvSpPr>
        <dsp:cNvPr id="0" name=""/>
        <dsp:cNvSpPr/>
      </dsp:nvSpPr>
      <dsp:spPr>
        <a:xfrm rot="5400000">
          <a:off x="-169009" y="170362"/>
          <a:ext cx="1126731" cy="788712"/>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1914</a:t>
          </a:r>
          <a:endParaRPr lang="en-GB" sz="2100" kern="1200" dirty="0"/>
        </a:p>
      </dsp:txBody>
      <dsp:txXfrm rot="-5400000">
        <a:off x="1" y="395708"/>
        <a:ext cx="788712" cy="338019"/>
      </dsp:txXfrm>
    </dsp:sp>
    <dsp:sp modelId="{2567EEC3-6E07-4CDD-BBFD-CBC1B590ABDC}">
      <dsp:nvSpPr>
        <dsp:cNvPr id="0" name=""/>
        <dsp:cNvSpPr/>
      </dsp:nvSpPr>
      <dsp:spPr>
        <a:xfrm rot="5400000">
          <a:off x="4420656" y="-3630590"/>
          <a:ext cx="732375" cy="7996263"/>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GB" sz="2100" b="1" kern="1200" dirty="0" smtClean="0">
              <a:solidFill>
                <a:schemeClr val="accent6">
                  <a:lumMod val="75000"/>
                </a:schemeClr>
              </a:solidFill>
            </a:rPr>
            <a:t>Niels Bohr </a:t>
          </a:r>
          <a:r>
            <a:rPr lang="en-GB" sz="2100" kern="1200" dirty="0" smtClean="0"/>
            <a:t>– </a:t>
          </a:r>
          <a:r>
            <a:rPr lang="en-GB" sz="2100" b="1" kern="1200" dirty="0" smtClean="0">
              <a:solidFill>
                <a:schemeClr val="accent6">
                  <a:lumMod val="75000"/>
                </a:schemeClr>
              </a:solidFill>
            </a:rPr>
            <a:t>electrons orbit nucleus at specific distances in fixed energy levels </a:t>
          </a:r>
          <a:r>
            <a:rPr lang="en-GB" sz="2100" kern="1200" dirty="0" smtClean="0"/>
            <a:t>(shells). Energy given </a:t>
          </a:r>
          <a:r>
            <a:rPr lang="en-GB" sz="2000" kern="1200" dirty="0" smtClean="0"/>
            <a:t>out</a:t>
          </a:r>
          <a:r>
            <a:rPr lang="en-GB" sz="2100" kern="1200" dirty="0" smtClean="0"/>
            <a:t> when electrons change level.</a:t>
          </a:r>
          <a:endParaRPr lang="en-GB" sz="2100" kern="1200" dirty="0"/>
        </a:p>
      </dsp:txBody>
      <dsp:txXfrm rot="-5400000">
        <a:off x="788712" y="37106"/>
        <a:ext cx="7960511" cy="660871"/>
      </dsp:txXfrm>
    </dsp:sp>
    <dsp:sp modelId="{F9F71143-315A-4448-975D-B4A933ECA0E0}">
      <dsp:nvSpPr>
        <dsp:cNvPr id="0" name=""/>
        <dsp:cNvSpPr/>
      </dsp:nvSpPr>
      <dsp:spPr>
        <a:xfrm rot="5400000">
          <a:off x="-169009" y="1094383"/>
          <a:ext cx="1126731" cy="788712"/>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Later…</a:t>
          </a:r>
          <a:endParaRPr lang="en-GB" sz="2100" kern="1200" dirty="0"/>
        </a:p>
      </dsp:txBody>
      <dsp:txXfrm rot="-5400000">
        <a:off x="1" y="1319729"/>
        <a:ext cx="788712" cy="338019"/>
      </dsp:txXfrm>
    </dsp:sp>
    <dsp:sp modelId="{F134FDCA-C82A-4E91-A769-F4E9E3DEA128}">
      <dsp:nvSpPr>
        <dsp:cNvPr id="0" name=""/>
        <dsp:cNvSpPr/>
      </dsp:nvSpPr>
      <dsp:spPr>
        <a:xfrm rot="5400000">
          <a:off x="4420656" y="-2706569"/>
          <a:ext cx="732375" cy="7996263"/>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smtClean="0"/>
            <a:t>Positive charge of nucleus could be subdivided into particles of positive charge – </a:t>
          </a:r>
          <a:r>
            <a:rPr lang="en-GB" sz="2000" b="1" kern="1200" dirty="0" smtClean="0">
              <a:solidFill>
                <a:schemeClr val="accent6">
                  <a:lumMod val="75000"/>
                </a:schemeClr>
              </a:solidFill>
            </a:rPr>
            <a:t>protons</a:t>
          </a:r>
          <a:r>
            <a:rPr lang="en-GB" sz="2000" kern="1200" dirty="0" smtClean="0"/>
            <a:t>. </a:t>
          </a:r>
          <a:endParaRPr lang="en-GB" sz="2000" kern="1200" dirty="0"/>
        </a:p>
      </dsp:txBody>
      <dsp:txXfrm rot="-5400000">
        <a:off x="788712" y="961127"/>
        <a:ext cx="7960511" cy="660871"/>
      </dsp:txXfrm>
    </dsp:sp>
    <dsp:sp modelId="{62B25CC5-9A7F-4EB7-974E-496AC3DBDEFB}">
      <dsp:nvSpPr>
        <dsp:cNvPr id="0" name=""/>
        <dsp:cNvSpPr/>
      </dsp:nvSpPr>
      <dsp:spPr>
        <a:xfrm rot="5400000">
          <a:off x="-169009" y="2018404"/>
          <a:ext cx="1126731" cy="788712"/>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1932</a:t>
          </a:r>
          <a:endParaRPr lang="en-GB" sz="2100" kern="1200" dirty="0"/>
        </a:p>
      </dsp:txBody>
      <dsp:txXfrm rot="-5400000">
        <a:off x="1" y="2243750"/>
        <a:ext cx="788712" cy="338019"/>
      </dsp:txXfrm>
    </dsp:sp>
    <dsp:sp modelId="{E765B879-0C10-480B-BDD3-1A6E378BC473}">
      <dsp:nvSpPr>
        <dsp:cNvPr id="0" name=""/>
        <dsp:cNvSpPr/>
      </dsp:nvSpPr>
      <dsp:spPr>
        <a:xfrm rot="5400000">
          <a:off x="4420656" y="-1782548"/>
          <a:ext cx="732375" cy="7996263"/>
        </a:xfrm>
        <a:prstGeom prst="round2Same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b="1" kern="1200" dirty="0" smtClean="0">
              <a:solidFill>
                <a:schemeClr val="accent6">
                  <a:lumMod val="75000"/>
                </a:schemeClr>
              </a:solidFill>
            </a:rPr>
            <a:t>James Chadwick </a:t>
          </a:r>
          <a:r>
            <a:rPr lang="en-GB" sz="2000" kern="1200" dirty="0" smtClean="0"/>
            <a:t>– provided evidence for the existence of </a:t>
          </a:r>
          <a:r>
            <a:rPr lang="en-GB" sz="2000" b="1" kern="1200" dirty="0" smtClean="0">
              <a:solidFill>
                <a:schemeClr val="accent6">
                  <a:lumMod val="75000"/>
                </a:schemeClr>
              </a:solidFill>
            </a:rPr>
            <a:t>neutrons</a:t>
          </a:r>
          <a:r>
            <a:rPr lang="en-GB" sz="2000" kern="1200" dirty="0" smtClean="0"/>
            <a:t> within the nucleus.</a:t>
          </a:r>
          <a:endParaRPr lang="en-GB" sz="2000" kern="1200" dirty="0"/>
        </a:p>
      </dsp:txBody>
      <dsp:txXfrm rot="-5400000">
        <a:off x="788712" y="1885148"/>
        <a:ext cx="7960511" cy="66087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11/15/2017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1896096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343550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796401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a:p>
        </p:txBody>
      </p:sp>
    </p:spTree>
    <p:extLst>
      <p:ext uri="{BB962C8B-B14F-4D97-AF65-F5344CB8AC3E}">
        <p14:creationId xmlns:p14="http://schemas.microsoft.com/office/powerpoint/2010/main" val="1335008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2159034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704945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2932569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689660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https://qph.ec.quoracdn.net/main-qimg-171088c70ca34c66600fb6b1a115fc62-c</a:t>
            </a:r>
          </a:p>
          <a:p>
            <a:r>
              <a:rPr lang="en-GB" dirty="0"/>
              <a:t>http://www.micromountain.com/sci_diagrams/sci_app/sci_app_assets/ctography_lab_eng.jpg</a:t>
            </a:r>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a:p>
        </p:txBody>
      </p:sp>
    </p:spTree>
    <p:extLst>
      <p:ext uri="{BB962C8B-B14F-4D97-AF65-F5344CB8AC3E}">
        <p14:creationId xmlns:p14="http://schemas.microsoft.com/office/powerpoint/2010/main" val="967872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3209414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2863206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a:p>
        </p:txBody>
      </p:sp>
    </p:spTree>
    <p:extLst>
      <p:ext uri="{BB962C8B-B14F-4D97-AF65-F5344CB8AC3E}">
        <p14:creationId xmlns:p14="http://schemas.microsoft.com/office/powerpoint/2010/main" val="4199203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a:p>
        </p:txBody>
      </p:sp>
    </p:spTree>
    <p:extLst>
      <p:ext uri="{BB962C8B-B14F-4D97-AF65-F5344CB8AC3E}">
        <p14:creationId xmlns:p14="http://schemas.microsoft.com/office/powerpoint/2010/main" val="211582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a:p>
        </p:txBody>
      </p:sp>
    </p:spTree>
    <p:extLst>
      <p:ext uri="{BB962C8B-B14F-4D97-AF65-F5344CB8AC3E}">
        <p14:creationId xmlns:p14="http://schemas.microsoft.com/office/powerpoint/2010/main" val="2331870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a:p>
        </p:txBody>
      </p:sp>
    </p:spTree>
    <p:extLst>
      <p:ext uri="{BB962C8B-B14F-4D97-AF65-F5344CB8AC3E}">
        <p14:creationId xmlns:p14="http://schemas.microsoft.com/office/powerpoint/2010/main" val="1152339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141252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4139235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a:p>
        </p:txBody>
      </p:sp>
    </p:spTree>
    <p:extLst>
      <p:ext uri="{BB962C8B-B14F-4D97-AF65-F5344CB8AC3E}">
        <p14:creationId xmlns:p14="http://schemas.microsoft.com/office/powerpoint/2010/main" val="37200617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a:p>
        </p:txBody>
      </p:sp>
    </p:spTree>
    <p:extLst>
      <p:ext uri="{BB962C8B-B14F-4D97-AF65-F5344CB8AC3E}">
        <p14:creationId xmlns:p14="http://schemas.microsoft.com/office/powerpoint/2010/main" val="15389706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a:p>
        </p:txBody>
      </p:sp>
    </p:spTree>
    <p:extLst>
      <p:ext uri="{BB962C8B-B14F-4D97-AF65-F5344CB8AC3E}">
        <p14:creationId xmlns:p14="http://schemas.microsoft.com/office/powerpoint/2010/main" val="117088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a:p>
        </p:txBody>
      </p:sp>
    </p:spTree>
    <p:extLst>
      <p:ext uri="{BB962C8B-B14F-4D97-AF65-F5344CB8AC3E}">
        <p14:creationId xmlns:p14="http://schemas.microsoft.com/office/powerpoint/2010/main" val="3715325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a:p>
        </p:txBody>
      </p:sp>
    </p:spTree>
    <p:extLst>
      <p:ext uri="{BB962C8B-B14F-4D97-AF65-F5344CB8AC3E}">
        <p14:creationId xmlns:p14="http://schemas.microsoft.com/office/powerpoint/2010/main" val="305610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a:p>
        </p:txBody>
      </p:sp>
    </p:spTree>
    <p:extLst>
      <p:ext uri="{BB962C8B-B14F-4D97-AF65-F5344CB8AC3E}">
        <p14:creationId xmlns:p14="http://schemas.microsoft.com/office/powerpoint/2010/main" val="21920884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a:p>
        </p:txBody>
      </p:sp>
    </p:spTree>
    <p:extLst>
      <p:ext uri="{BB962C8B-B14F-4D97-AF65-F5344CB8AC3E}">
        <p14:creationId xmlns:p14="http://schemas.microsoft.com/office/powerpoint/2010/main" val="3531425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a:p>
        </p:txBody>
      </p:sp>
    </p:spTree>
    <p:extLst>
      <p:ext uri="{BB962C8B-B14F-4D97-AF65-F5344CB8AC3E}">
        <p14:creationId xmlns:p14="http://schemas.microsoft.com/office/powerpoint/2010/main" val="41704599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1572386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a:p>
        </p:txBody>
      </p:sp>
    </p:spTree>
    <p:extLst>
      <p:ext uri="{BB962C8B-B14F-4D97-AF65-F5344CB8AC3E}">
        <p14:creationId xmlns:p14="http://schemas.microsoft.com/office/powerpoint/2010/main" val="3028968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a:p>
        </p:txBody>
      </p:sp>
    </p:spTree>
    <p:extLst>
      <p:ext uri="{BB962C8B-B14F-4D97-AF65-F5344CB8AC3E}">
        <p14:creationId xmlns:p14="http://schemas.microsoft.com/office/powerpoint/2010/main" val="2303030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54</a:t>
            </a:fld>
            <a:endParaRPr lang="en-US"/>
          </a:p>
        </p:txBody>
      </p:sp>
    </p:spTree>
    <p:extLst>
      <p:ext uri="{BB962C8B-B14F-4D97-AF65-F5344CB8AC3E}">
        <p14:creationId xmlns:p14="http://schemas.microsoft.com/office/powerpoint/2010/main" val="3668222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55</a:t>
            </a:fld>
            <a:endParaRPr lang="en-US"/>
          </a:p>
        </p:txBody>
      </p:sp>
    </p:spTree>
    <p:extLst>
      <p:ext uri="{BB962C8B-B14F-4D97-AF65-F5344CB8AC3E}">
        <p14:creationId xmlns:p14="http://schemas.microsoft.com/office/powerpoint/2010/main" val="17610806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56</a:t>
            </a:fld>
            <a:endParaRPr lang="en-US"/>
          </a:p>
        </p:txBody>
      </p:sp>
    </p:spTree>
    <p:extLst>
      <p:ext uri="{BB962C8B-B14F-4D97-AF65-F5344CB8AC3E}">
        <p14:creationId xmlns:p14="http://schemas.microsoft.com/office/powerpoint/2010/main" val="3021112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59</a:t>
            </a:fld>
            <a:endParaRPr lang="en-US" dirty="0"/>
          </a:p>
        </p:txBody>
      </p:sp>
    </p:spTree>
    <p:extLst>
      <p:ext uri="{BB962C8B-B14F-4D97-AF65-F5344CB8AC3E}">
        <p14:creationId xmlns:p14="http://schemas.microsoft.com/office/powerpoint/2010/main" val="1482433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63</a:t>
            </a:fld>
            <a:endParaRPr lang="en-US"/>
          </a:p>
        </p:txBody>
      </p:sp>
    </p:spTree>
    <p:extLst>
      <p:ext uri="{BB962C8B-B14F-4D97-AF65-F5344CB8AC3E}">
        <p14:creationId xmlns:p14="http://schemas.microsoft.com/office/powerpoint/2010/main" val="39795689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a:p>
        </p:txBody>
      </p:sp>
    </p:spTree>
    <p:extLst>
      <p:ext uri="{BB962C8B-B14F-4D97-AF65-F5344CB8AC3E}">
        <p14:creationId xmlns:p14="http://schemas.microsoft.com/office/powerpoint/2010/main" val="28485419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65</a:t>
            </a:fld>
            <a:endParaRPr lang="en-US"/>
          </a:p>
        </p:txBody>
      </p:sp>
    </p:spTree>
    <p:extLst>
      <p:ext uri="{BB962C8B-B14F-4D97-AF65-F5344CB8AC3E}">
        <p14:creationId xmlns:p14="http://schemas.microsoft.com/office/powerpoint/2010/main" val="30485914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66</a:t>
            </a:fld>
            <a:endParaRPr lang="en-US"/>
          </a:p>
        </p:txBody>
      </p:sp>
    </p:spTree>
    <p:extLst>
      <p:ext uri="{BB962C8B-B14F-4D97-AF65-F5344CB8AC3E}">
        <p14:creationId xmlns:p14="http://schemas.microsoft.com/office/powerpoint/2010/main" val="2209004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67</a:t>
            </a:fld>
            <a:endParaRPr lang="en-US"/>
          </a:p>
        </p:txBody>
      </p:sp>
    </p:spTree>
    <p:extLst>
      <p:ext uri="{BB962C8B-B14F-4D97-AF65-F5344CB8AC3E}">
        <p14:creationId xmlns:p14="http://schemas.microsoft.com/office/powerpoint/2010/main" val="3458901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68</a:t>
            </a:fld>
            <a:endParaRPr lang="en-US"/>
          </a:p>
        </p:txBody>
      </p:sp>
    </p:spTree>
    <p:extLst>
      <p:ext uri="{BB962C8B-B14F-4D97-AF65-F5344CB8AC3E}">
        <p14:creationId xmlns:p14="http://schemas.microsoft.com/office/powerpoint/2010/main" val="785344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69</a:t>
            </a:fld>
            <a:endParaRPr lang="en-US"/>
          </a:p>
        </p:txBody>
      </p:sp>
    </p:spTree>
    <p:extLst>
      <p:ext uri="{BB962C8B-B14F-4D97-AF65-F5344CB8AC3E}">
        <p14:creationId xmlns:p14="http://schemas.microsoft.com/office/powerpoint/2010/main" val="20710985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73</a:t>
            </a:fld>
            <a:endParaRPr lang="en-US" dirty="0"/>
          </a:p>
        </p:txBody>
      </p:sp>
    </p:spTree>
    <p:extLst>
      <p:ext uri="{BB962C8B-B14F-4D97-AF65-F5344CB8AC3E}">
        <p14:creationId xmlns:p14="http://schemas.microsoft.com/office/powerpoint/2010/main" val="1603619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77</a:t>
            </a:fld>
            <a:endParaRPr lang="en-US"/>
          </a:p>
        </p:txBody>
      </p:sp>
    </p:spTree>
    <p:extLst>
      <p:ext uri="{BB962C8B-B14F-4D97-AF65-F5344CB8AC3E}">
        <p14:creationId xmlns:p14="http://schemas.microsoft.com/office/powerpoint/2010/main" val="17467356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78</a:t>
            </a:fld>
            <a:endParaRPr lang="en-US"/>
          </a:p>
        </p:txBody>
      </p:sp>
    </p:spTree>
    <p:extLst>
      <p:ext uri="{BB962C8B-B14F-4D97-AF65-F5344CB8AC3E}">
        <p14:creationId xmlns:p14="http://schemas.microsoft.com/office/powerpoint/2010/main" val="17701002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79</a:t>
            </a:fld>
            <a:endParaRPr lang="en-US"/>
          </a:p>
        </p:txBody>
      </p:sp>
    </p:spTree>
    <p:extLst>
      <p:ext uri="{BB962C8B-B14F-4D97-AF65-F5344CB8AC3E}">
        <p14:creationId xmlns:p14="http://schemas.microsoft.com/office/powerpoint/2010/main" val="3308389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80</a:t>
            </a:fld>
            <a:endParaRPr lang="en-US"/>
          </a:p>
        </p:txBody>
      </p:sp>
    </p:spTree>
    <p:extLst>
      <p:ext uri="{BB962C8B-B14F-4D97-AF65-F5344CB8AC3E}">
        <p14:creationId xmlns:p14="http://schemas.microsoft.com/office/powerpoint/2010/main" val="26317726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81</a:t>
            </a:fld>
            <a:endParaRPr lang="en-US"/>
          </a:p>
        </p:txBody>
      </p:sp>
    </p:spTree>
    <p:extLst>
      <p:ext uri="{BB962C8B-B14F-4D97-AF65-F5344CB8AC3E}">
        <p14:creationId xmlns:p14="http://schemas.microsoft.com/office/powerpoint/2010/main" val="15389462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84</a:t>
            </a:fld>
            <a:endParaRPr lang="en-US" dirty="0"/>
          </a:p>
        </p:txBody>
      </p:sp>
    </p:spTree>
    <p:extLst>
      <p:ext uri="{BB962C8B-B14F-4D97-AF65-F5344CB8AC3E}">
        <p14:creationId xmlns:p14="http://schemas.microsoft.com/office/powerpoint/2010/main" val="27924971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86</a:t>
            </a:fld>
            <a:endParaRPr lang="en-US"/>
          </a:p>
        </p:txBody>
      </p:sp>
    </p:spTree>
    <p:extLst>
      <p:ext uri="{BB962C8B-B14F-4D97-AF65-F5344CB8AC3E}">
        <p14:creationId xmlns:p14="http://schemas.microsoft.com/office/powerpoint/2010/main" val="3555916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15/11/2017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15/11/2017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15/11/2017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15/11/2017</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15/11/2017</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15/11/2017</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15/11/2017</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jpe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8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Atomic structure and the periodic table</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Atomic structure and the periodic table</a:t>
            </a:r>
          </a:p>
        </p:txBody>
      </p:sp>
      <p:sp>
        <p:nvSpPr>
          <p:cNvPr id="3" name="Subtitle 2"/>
          <p:cNvSpPr>
            <a:spLocks noGrp="1"/>
          </p:cNvSpPr>
          <p:nvPr>
            <p:ph type="subTitle" idx="1"/>
          </p:nvPr>
        </p:nvSpPr>
        <p:spPr>
          <a:xfrm>
            <a:off x="0" y="1052736"/>
            <a:ext cx="5544617" cy="5472608"/>
          </a:xfrm>
        </p:spPr>
        <p:txBody>
          <a:bodyPr>
            <a:normAutofit/>
          </a:bodyPr>
          <a:lstStyle/>
          <a:p>
            <a:pPr algn="l"/>
            <a:r>
              <a:rPr lang="en-US" sz="2200" b="1" dirty="0">
                <a:solidFill>
                  <a:schemeClr val="tx1"/>
                </a:solidFill>
                <a:latin typeface="+mn-lt"/>
              </a:rPr>
              <a:t>Atoms, elements, compounds and mixtures</a:t>
            </a:r>
          </a:p>
          <a:p>
            <a:pPr marL="685800" lvl="1" indent="-342900" algn="l">
              <a:buFont typeface="Arial" charset="0"/>
              <a:buChar char="•"/>
            </a:pPr>
            <a:r>
              <a:rPr lang="en-US" dirty="0">
                <a:solidFill>
                  <a:schemeClr val="tx1"/>
                </a:solidFill>
              </a:rPr>
              <a:t>Atoms, elements and compounds</a:t>
            </a:r>
          </a:p>
          <a:p>
            <a:pPr marL="685800" lvl="1" indent="-342900" algn="l">
              <a:buFont typeface="Arial" charset="0"/>
              <a:buChar char="•"/>
            </a:pPr>
            <a:r>
              <a:rPr lang="en-US" dirty="0">
                <a:solidFill>
                  <a:schemeClr val="tx1"/>
                </a:solidFill>
              </a:rPr>
              <a:t>Word and symbol equations</a:t>
            </a:r>
          </a:p>
          <a:p>
            <a:pPr marL="685800" lvl="1" indent="-342900" algn="l">
              <a:buFont typeface="Arial" charset="0"/>
              <a:buChar char="•"/>
            </a:pPr>
            <a:r>
              <a:rPr lang="en-US" dirty="0">
                <a:solidFill>
                  <a:schemeClr val="tx1"/>
                </a:solidFill>
              </a:rPr>
              <a:t>Separation techniques</a:t>
            </a:r>
          </a:p>
          <a:p>
            <a:pPr marL="685800" lvl="1" indent="-342900" algn="l">
              <a:buFont typeface="Arial" charset="0"/>
              <a:buChar char="•"/>
            </a:pPr>
            <a:endParaRPr lang="en-US" dirty="0">
              <a:solidFill>
                <a:schemeClr val="tx1"/>
              </a:solidFill>
            </a:endParaRPr>
          </a:p>
          <a:p>
            <a:pPr algn="l"/>
            <a:r>
              <a:rPr lang="en-US" sz="2200" b="1" dirty="0">
                <a:solidFill>
                  <a:schemeClr val="tx1"/>
                </a:solidFill>
              </a:rPr>
              <a:t>Atomic model</a:t>
            </a:r>
          </a:p>
          <a:p>
            <a:pPr marL="685800" lvl="1" indent="-342900" algn="l">
              <a:buFont typeface="Arial" charset="0"/>
              <a:buChar char="•"/>
            </a:pPr>
            <a:r>
              <a:rPr lang="en-US" dirty="0">
                <a:solidFill>
                  <a:schemeClr val="tx1"/>
                </a:solidFill>
              </a:rPr>
              <a:t>History of the atomic model</a:t>
            </a:r>
          </a:p>
          <a:p>
            <a:pPr marL="685800" lvl="1" indent="-342900" algn="l">
              <a:buFont typeface="Arial" charset="0"/>
              <a:buChar char="•"/>
            </a:pPr>
            <a:r>
              <a:rPr lang="en-US" dirty="0">
                <a:solidFill>
                  <a:schemeClr val="tx1"/>
                </a:solidFill>
              </a:rPr>
              <a:t>Size and mass of atoms</a:t>
            </a:r>
          </a:p>
          <a:p>
            <a:pPr marL="685800" lvl="1" indent="-342900" algn="l">
              <a:buFont typeface="Arial" charset="0"/>
              <a:buChar char="•"/>
            </a:pPr>
            <a:r>
              <a:rPr lang="en-US" dirty="0">
                <a:solidFill>
                  <a:schemeClr val="tx1"/>
                </a:solidFill>
              </a:rPr>
              <a:t>Atomic structure</a:t>
            </a:r>
          </a:p>
          <a:p>
            <a:pPr marL="685800" lvl="1" indent="-342900" algn="l">
              <a:buFont typeface="Arial" charset="0"/>
              <a:buChar char="•"/>
            </a:pPr>
            <a:endParaRPr lang="en-US" dirty="0">
              <a:solidFill>
                <a:schemeClr val="tx1"/>
              </a:solidFill>
            </a:endParaRPr>
          </a:p>
          <a:p>
            <a:pPr algn="l"/>
            <a:r>
              <a:rPr lang="en-US" sz="2200" b="1" dirty="0">
                <a:solidFill>
                  <a:schemeClr val="tx1"/>
                </a:solidFill>
              </a:rPr>
              <a:t>Periodic table</a:t>
            </a:r>
          </a:p>
          <a:p>
            <a:pPr marL="685800" lvl="1" indent="-342900" algn="l">
              <a:buFont typeface="Arial" charset="0"/>
              <a:buChar char="•"/>
            </a:pPr>
            <a:r>
              <a:rPr lang="en-US" dirty="0">
                <a:solidFill>
                  <a:schemeClr val="tx1"/>
                </a:solidFill>
              </a:rPr>
              <a:t>History of the periodic table</a:t>
            </a:r>
          </a:p>
          <a:p>
            <a:pPr marL="685800" lvl="1" indent="-342900" algn="l">
              <a:buFont typeface="Arial" charset="0"/>
              <a:buChar char="•"/>
            </a:pPr>
            <a:r>
              <a:rPr lang="en-US" dirty="0">
                <a:solidFill>
                  <a:schemeClr val="tx1"/>
                </a:solidFill>
              </a:rPr>
              <a:t>Group 0, group 1 and group 7</a:t>
            </a:r>
          </a:p>
          <a:p>
            <a:pPr marL="685800" lvl="1" indent="-342900" algn="l">
              <a:buFont typeface="Arial" charset="0"/>
              <a:buChar char="•"/>
            </a:pPr>
            <a:r>
              <a:rPr lang="en-US" i="1" dirty="0">
                <a:solidFill>
                  <a:schemeClr val="tx1"/>
                </a:solidFill>
              </a:rPr>
              <a:t>Transition metals (chemistry only)</a:t>
            </a:r>
          </a:p>
          <a:p>
            <a:pPr marL="685800" lvl="1" indent="-342900" algn="l">
              <a:buFont typeface="Arial" charset="0"/>
              <a:buChar char="•"/>
            </a:pPr>
            <a:endParaRPr lang="en-US" dirty="0">
              <a:solidFill>
                <a:schemeClr val="tx1"/>
              </a:solidFill>
            </a:endParaRPr>
          </a:p>
          <a:p>
            <a:pPr marL="685800" lvl="1" indent="-342900" algn="l">
              <a:buFont typeface="Arial" charset="0"/>
              <a:buChar char="•"/>
            </a:pP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819" y="1322940"/>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652120" cy="569386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a:t>
            </a:r>
          </a:p>
          <a:p>
            <a:r>
              <a:rPr lang="en-GB" sz="3600" b="1" dirty="0">
                <a:solidFill>
                  <a:schemeClr val="tx1">
                    <a:lumMod val="50000"/>
                    <a:lumOff val="50000"/>
                  </a:schemeClr>
                </a:solidFill>
              </a:rPr>
              <a:t>mixtures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Atoms, elements and compounds</a:t>
            </a:r>
          </a:p>
          <a:p>
            <a:pPr marL="685800" lvl="1" indent="-342900">
              <a:buFont typeface="Arial" charset="0"/>
              <a:buChar char="•"/>
            </a:pPr>
            <a:r>
              <a:rPr lang="en-US" sz="2400" b="1" dirty="0">
                <a:solidFill>
                  <a:schemeClr val="bg1">
                    <a:lumMod val="50000"/>
                  </a:schemeClr>
                </a:solidFill>
              </a:rPr>
              <a:t>Word and symbol equations</a:t>
            </a:r>
          </a:p>
          <a:p>
            <a:endParaRPr lang="en-GB" dirty="0"/>
          </a:p>
        </p:txBody>
      </p:sp>
    </p:spTree>
    <p:extLst>
      <p:ext uri="{BB962C8B-B14F-4D97-AF65-F5344CB8AC3E}">
        <p14:creationId xmlns:p14="http://schemas.microsoft.com/office/powerpoint/2010/main" val="632385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1</a:t>
            </a:r>
            <a:endParaRPr lang="en-GB" sz="2400" b="1" dirty="0">
              <a:solidFill>
                <a:schemeClr val="accent6"/>
              </a:solidFill>
            </a:endParaRPr>
          </a:p>
        </p:txBody>
      </p:sp>
      <p:sp>
        <p:nvSpPr>
          <p:cNvPr id="4" name="Rectangle 3"/>
          <p:cNvSpPr/>
          <p:nvPr/>
        </p:nvSpPr>
        <p:spPr>
          <a:xfrm>
            <a:off x="132745" y="720123"/>
            <a:ext cx="4200846" cy="2554545"/>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cs typeface="Arial" pitchFamily="34" charset="0"/>
              </a:rPr>
              <a:t>All substances are made of </a:t>
            </a:r>
            <a:r>
              <a:rPr lang="en-GB" sz="2000" b="1" dirty="0">
                <a:cs typeface="Arial" pitchFamily="34" charset="0"/>
              </a:rPr>
              <a:t>atoms</a:t>
            </a:r>
            <a:r>
              <a:rPr lang="en-GB" sz="2000" dirty="0">
                <a:cs typeface="Arial" pitchFamily="34" charset="0"/>
              </a:rPr>
              <a:t> that cannot be chemically broken down. </a:t>
            </a:r>
            <a:r>
              <a:rPr lang="en-GB" sz="2000" dirty="0" smtClean="0">
                <a:cs typeface="Arial" pitchFamily="34" charset="0"/>
              </a:rPr>
              <a:t>It </a:t>
            </a:r>
            <a:r>
              <a:rPr lang="en-GB" sz="2000" dirty="0">
                <a:cs typeface="Arial" pitchFamily="34" charset="0"/>
              </a:rPr>
              <a:t>is the smallest part of an </a:t>
            </a:r>
            <a:r>
              <a:rPr lang="en-GB" sz="2000" b="1" dirty="0">
                <a:cs typeface="Arial" pitchFamily="34" charset="0"/>
              </a:rPr>
              <a:t>element</a:t>
            </a:r>
            <a:r>
              <a:rPr lang="en-GB" sz="2000" dirty="0">
                <a:cs typeface="Arial" pitchFamily="34" charset="0"/>
              </a:rPr>
              <a:t>. </a:t>
            </a:r>
          </a:p>
          <a:p>
            <a:pPr algn="ctr"/>
            <a:endParaRPr lang="en-GB" sz="2000" b="1" dirty="0">
              <a:solidFill>
                <a:schemeClr val="tx1"/>
              </a:solidFill>
              <a:cs typeface="Arial" pitchFamily="34" charset="0"/>
            </a:endParaRPr>
          </a:p>
          <a:p>
            <a:pPr algn="ctr"/>
            <a:r>
              <a:rPr lang="en-GB" sz="2000" b="1" dirty="0">
                <a:solidFill>
                  <a:schemeClr val="tx1"/>
                </a:solidFill>
                <a:cs typeface="Arial" pitchFamily="34" charset="0"/>
              </a:rPr>
              <a:t>Elements</a:t>
            </a:r>
            <a:r>
              <a:rPr lang="en-GB" sz="2000" dirty="0">
                <a:solidFill>
                  <a:schemeClr val="tx1"/>
                </a:solidFill>
                <a:cs typeface="Arial" pitchFamily="34" charset="0"/>
              </a:rPr>
              <a:t> are made of only one type of atom. </a:t>
            </a:r>
            <a:r>
              <a:rPr lang="en-GB" sz="2000" dirty="0">
                <a:cs typeface="Arial" pitchFamily="34" charset="0"/>
              </a:rPr>
              <a:t>Each element has its own </a:t>
            </a:r>
            <a:r>
              <a:rPr lang="en-GB" sz="2000" b="1" dirty="0">
                <a:cs typeface="Arial" pitchFamily="34" charset="0"/>
              </a:rPr>
              <a:t>symbol. </a:t>
            </a:r>
          </a:p>
          <a:p>
            <a:pPr algn="ctr"/>
            <a:r>
              <a:rPr lang="en-GB" sz="2000" dirty="0" smtClean="0">
                <a:cs typeface="Arial" pitchFamily="34" charset="0"/>
              </a:rPr>
              <a:t>e.g. </a:t>
            </a:r>
            <a:r>
              <a:rPr lang="en-GB" sz="2000" dirty="0">
                <a:cs typeface="Arial" pitchFamily="34" charset="0"/>
              </a:rPr>
              <a:t>Na is sodium.</a:t>
            </a:r>
            <a:endParaRPr lang="en-GB" sz="2000" dirty="0">
              <a:solidFill>
                <a:schemeClr val="tx1"/>
              </a:solidFill>
              <a:cs typeface="Arial" pitchFamily="34" charset="0"/>
            </a:endParaRPr>
          </a:p>
        </p:txBody>
      </p:sp>
      <p:sp>
        <p:nvSpPr>
          <p:cNvPr id="5" name="Rectangle 4"/>
          <p:cNvSpPr/>
          <p:nvPr/>
        </p:nvSpPr>
        <p:spPr>
          <a:xfrm>
            <a:off x="53273" y="3331437"/>
            <a:ext cx="4548286" cy="3170099"/>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Compounds</a:t>
            </a:r>
            <a:r>
              <a:rPr lang="en-GB" sz="2000" dirty="0">
                <a:cs typeface="Arial" pitchFamily="34" charset="0"/>
              </a:rPr>
              <a:t> contain more than one type of atom. </a:t>
            </a:r>
            <a:r>
              <a:rPr lang="en-GB" sz="2000" dirty="0" smtClean="0">
                <a:cs typeface="Arial" pitchFamily="34" charset="0"/>
              </a:rPr>
              <a:t>They </a:t>
            </a:r>
            <a:r>
              <a:rPr lang="en-GB" sz="2000" dirty="0">
                <a:cs typeface="Arial" pitchFamily="34" charset="0"/>
              </a:rPr>
              <a:t>are formed from elements by </a:t>
            </a:r>
            <a:r>
              <a:rPr lang="en-GB" sz="2000" b="1" dirty="0">
                <a:cs typeface="Arial" pitchFamily="34" charset="0"/>
              </a:rPr>
              <a:t>chemical reactions</a:t>
            </a:r>
            <a:r>
              <a:rPr lang="en-GB" sz="2000" dirty="0">
                <a:cs typeface="Arial" pitchFamily="34" charset="0"/>
              </a:rPr>
              <a:t>, which always involve the formation of one or more new substance, often involving an </a:t>
            </a:r>
            <a:r>
              <a:rPr lang="en-GB" sz="2000" b="1" dirty="0">
                <a:cs typeface="Arial" pitchFamily="34" charset="0"/>
              </a:rPr>
              <a:t>energy change</a:t>
            </a:r>
            <a:r>
              <a:rPr lang="en-GB" sz="2000" dirty="0">
                <a:cs typeface="Arial" pitchFamily="34" charset="0"/>
              </a:rPr>
              <a:t>.</a:t>
            </a:r>
          </a:p>
          <a:p>
            <a:pPr algn="ctr"/>
            <a:endParaRPr lang="en-GB" sz="2000" dirty="0">
              <a:cs typeface="Arial" pitchFamily="34" charset="0"/>
            </a:endParaRPr>
          </a:p>
          <a:p>
            <a:pPr algn="ctr"/>
            <a:r>
              <a:rPr lang="en-GB" sz="2000" dirty="0"/>
              <a:t>The components of a compound </a:t>
            </a:r>
            <a:r>
              <a:rPr lang="en-GB" sz="2000" b="1" dirty="0"/>
              <a:t>cannot </a:t>
            </a:r>
            <a:r>
              <a:rPr lang="en-GB" sz="2000" dirty="0"/>
              <a:t>be </a:t>
            </a:r>
            <a:r>
              <a:rPr lang="en-GB" sz="2000" b="1" dirty="0"/>
              <a:t>separated </a:t>
            </a:r>
            <a:r>
              <a:rPr lang="en-GB" sz="2000" dirty="0"/>
              <a:t>by </a:t>
            </a:r>
            <a:r>
              <a:rPr lang="en-GB" sz="2000" b="1" dirty="0"/>
              <a:t>physical</a:t>
            </a:r>
            <a:r>
              <a:rPr lang="en-GB" sz="2000" dirty="0"/>
              <a:t> </a:t>
            </a:r>
            <a:r>
              <a:rPr lang="en-GB" sz="2000" dirty="0" smtClean="0"/>
              <a:t>means. They </a:t>
            </a:r>
            <a:r>
              <a:rPr lang="en-GB" sz="2000" dirty="0"/>
              <a:t>can be separated only by </a:t>
            </a:r>
            <a:r>
              <a:rPr lang="en-GB" sz="2000" b="1" dirty="0"/>
              <a:t>chemical</a:t>
            </a:r>
            <a:r>
              <a:rPr lang="en-GB" sz="2000" dirty="0"/>
              <a:t> means.</a:t>
            </a:r>
            <a:endParaRPr lang="en-GB" sz="2000" dirty="0">
              <a:cs typeface="Arial" pitchFamily="34" charset="0"/>
            </a:endParaRPr>
          </a:p>
        </p:txBody>
      </p:sp>
      <p:pic>
        <p:nvPicPr>
          <p:cNvPr id="121" name="Picture 120"/>
          <p:cNvPicPr>
            <a:picLocks noChangeAspect="1"/>
          </p:cNvPicPr>
          <p:nvPr/>
        </p:nvPicPr>
        <p:blipFill>
          <a:blip r:embed="rId3"/>
          <a:stretch>
            <a:fillRect/>
          </a:stretch>
        </p:blipFill>
        <p:spPr>
          <a:xfrm>
            <a:off x="4413063" y="1153962"/>
            <a:ext cx="4655536" cy="2172919"/>
          </a:xfrm>
          <a:prstGeom prst="rect">
            <a:avLst/>
          </a:prstGeom>
          <a:effectLst/>
        </p:spPr>
      </p:pic>
      <p:sp>
        <p:nvSpPr>
          <p:cNvPr id="122" name="Rectangle 121"/>
          <p:cNvSpPr/>
          <p:nvPr/>
        </p:nvSpPr>
        <p:spPr>
          <a:xfrm>
            <a:off x="4413063" y="717421"/>
            <a:ext cx="4551425" cy="400110"/>
          </a:xfrm>
          <a:prstGeom prst="rect">
            <a:avLst/>
          </a:prstGeom>
          <a:solidFill>
            <a:schemeClr val="bg1"/>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There are </a:t>
            </a:r>
            <a:r>
              <a:rPr lang="en-GB" sz="2000" b="1" dirty="0" smtClean="0">
                <a:cs typeface="Arial" pitchFamily="34" charset="0"/>
              </a:rPr>
              <a:t>about </a:t>
            </a:r>
            <a:r>
              <a:rPr lang="en-GB" sz="2000" b="1" dirty="0" smtClean="0">
                <a:solidFill>
                  <a:schemeClr val="accent6"/>
                </a:solidFill>
                <a:cs typeface="Arial" pitchFamily="34" charset="0"/>
              </a:rPr>
              <a:t>100</a:t>
            </a:r>
            <a:r>
              <a:rPr lang="en-GB" sz="2000" b="1" dirty="0" smtClean="0">
                <a:cs typeface="Arial" pitchFamily="34" charset="0"/>
              </a:rPr>
              <a:t> </a:t>
            </a:r>
            <a:r>
              <a:rPr lang="en-GB" sz="2000" b="1" dirty="0">
                <a:cs typeface="Arial" pitchFamily="34" charset="0"/>
              </a:rPr>
              <a:t>different elements</a:t>
            </a:r>
          </a:p>
        </p:txBody>
      </p:sp>
      <p:sp>
        <p:nvSpPr>
          <p:cNvPr id="123" name="Rectangle 122"/>
          <p:cNvSpPr/>
          <p:nvPr/>
        </p:nvSpPr>
        <p:spPr>
          <a:xfrm>
            <a:off x="4788024" y="3428939"/>
            <a:ext cx="4326327" cy="1938992"/>
          </a:xfrm>
          <a:prstGeom prst="rect">
            <a:avLst/>
          </a:prstGeom>
          <a:solidFill>
            <a:schemeClr val="bg1"/>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You need to:</a:t>
            </a:r>
          </a:p>
          <a:p>
            <a:pPr marL="285750" indent="-285750" algn="ctr">
              <a:buFont typeface="Arial" panose="020B0604020202020204" pitchFamily="34" charset="0"/>
              <a:buChar char="•"/>
            </a:pPr>
            <a:r>
              <a:rPr lang="en-GB" sz="2000" b="1" dirty="0">
                <a:cs typeface="Arial" pitchFamily="34" charset="0"/>
              </a:rPr>
              <a:t>Know the names and symbols for the first 20 elements and all </a:t>
            </a:r>
            <a:r>
              <a:rPr lang="en-GB" sz="2000" b="1" dirty="0" smtClean="0">
                <a:cs typeface="Arial" pitchFamily="34" charset="0"/>
              </a:rPr>
              <a:t>of </a:t>
            </a:r>
            <a:r>
              <a:rPr lang="en-GB" sz="2000" b="1" dirty="0">
                <a:cs typeface="Arial" pitchFamily="34" charset="0"/>
              </a:rPr>
              <a:t>group 1, 7 and 0 </a:t>
            </a:r>
          </a:p>
          <a:p>
            <a:pPr marL="285750" indent="-285750" algn="ctr">
              <a:buFont typeface="Arial" panose="020B0604020202020204" pitchFamily="34" charset="0"/>
              <a:buChar char="•"/>
            </a:pPr>
            <a:r>
              <a:rPr lang="en-GB" sz="2000" b="1" dirty="0">
                <a:cs typeface="Arial" pitchFamily="34" charset="0"/>
              </a:rPr>
              <a:t>Name compounds when given the formulae or symbol equations</a:t>
            </a:r>
          </a:p>
        </p:txBody>
      </p:sp>
      <p:grpSp>
        <p:nvGrpSpPr>
          <p:cNvPr id="3" name="Group 2"/>
          <p:cNvGrpSpPr/>
          <p:nvPr/>
        </p:nvGrpSpPr>
        <p:grpSpPr>
          <a:xfrm>
            <a:off x="4601559" y="5328572"/>
            <a:ext cx="5250300" cy="1229733"/>
            <a:chOff x="4117667" y="5373216"/>
            <a:chExt cx="5350877" cy="1200328"/>
          </a:xfrm>
        </p:grpSpPr>
        <p:sp>
          <p:nvSpPr>
            <p:cNvPr id="124" name="TextBox 123"/>
            <p:cNvSpPr txBox="1"/>
            <p:nvPr/>
          </p:nvSpPr>
          <p:spPr>
            <a:xfrm>
              <a:off x="5773851" y="5373216"/>
              <a:ext cx="2520280" cy="830997"/>
            </a:xfrm>
            <a:prstGeom prst="rect">
              <a:avLst/>
            </a:prstGeom>
            <a:noFill/>
            <a:effectLst/>
          </p:spPr>
          <p:txBody>
            <a:bodyPr wrap="square" rtlCol="0">
              <a:spAutoFit/>
            </a:bodyPr>
            <a:lstStyle/>
            <a:p>
              <a:r>
                <a:rPr lang="en-GB" sz="4800" b="1" dirty="0"/>
                <a:t>MgCl</a:t>
              </a:r>
              <a:r>
                <a:rPr lang="en-GB" sz="4800" b="1" baseline="-25000" dirty="0"/>
                <a:t>2</a:t>
              </a:r>
            </a:p>
          </p:txBody>
        </p:sp>
        <p:sp>
          <p:nvSpPr>
            <p:cNvPr id="125" name="TextBox 124"/>
            <p:cNvSpPr txBox="1"/>
            <p:nvPr/>
          </p:nvSpPr>
          <p:spPr>
            <a:xfrm>
              <a:off x="4117667" y="5604048"/>
              <a:ext cx="1656184" cy="369332"/>
            </a:xfrm>
            <a:prstGeom prst="rect">
              <a:avLst/>
            </a:prstGeom>
            <a:noFill/>
            <a:effectLst/>
          </p:spPr>
          <p:txBody>
            <a:bodyPr wrap="square" rtlCol="0">
              <a:spAutoFit/>
            </a:bodyPr>
            <a:lstStyle/>
            <a:p>
              <a:r>
                <a:rPr lang="en-GB" b="1" dirty="0">
                  <a:solidFill>
                    <a:schemeClr val="accent6"/>
                  </a:solidFill>
                </a:rPr>
                <a:t>magnesium</a:t>
              </a:r>
            </a:p>
          </p:txBody>
        </p:sp>
        <p:sp>
          <p:nvSpPr>
            <p:cNvPr id="126" name="TextBox 125"/>
            <p:cNvSpPr txBox="1"/>
            <p:nvPr/>
          </p:nvSpPr>
          <p:spPr>
            <a:xfrm>
              <a:off x="7812360" y="5623729"/>
              <a:ext cx="1656184" cy="369332"/>
            </a:xfrm>
            <a:prstGeom prst="rect">
              <a:avLst/>
            </a:prstGeom>
            <a:noFill/>
            <a:effectLst/>
          </p:spPr>
          <p:txBody>
            <a:bodyPr wrap="square" rtlCol="0">
              <a:spAutoFit/>
            </a:bodyPr>
            <a:lstStyle/>
            <a:p>
              <a:r>
                <a:rPr lang="en-GB" b="1" dirty="0">
                  <a:solidFill>
                    <a:schemeClr val="accent6"/>
                  </a:solidFill>
                </a:rPr>
                <a:t>chlorine</a:t>
              </a:r>
            </a:p>
          </p:txBody>
        </p:sp>
        <p:sp>
          <p:nvSpPr>
            <p:cNvPr id="127" name="TextBox 126"/>
            <p:cNvSpPr txBox="1"/>
            <p:nvPr/>
          </p:nvSpPr>
          <p:spPr>
            <a:xfrm>
              <a:off x="5416638" y="6204212"/>
              <a:ext cx="2447282" cy="369332"/>
            </a:xfrm>
            <a:prstGeom prst="rect">
              <a:avLst/>
            </a:prstGeom>
            <a:noFill/>
            <a:effectLst/>
          </p:spPr>
          <p:txBody>
            <a:bodyPr wrap="square" rtlCol="0">
              <a:spAutoFit/>
            </a:bodyPr>
            <a:lstStyle/>
            <a:p>
              <a:r>
                <a:rPr lang="en-GB" b="1" dirty="0">
                  <a:solidFill>
                    <a:schemeClr val="accent6"/>
                  </a:solidFill>
                </a:rPr>
                <a:t>Magnesium chloride</a:t>
              </a:r>
            </a:p>
          </p:txBody>
        </p:sp>
        <p:cxnSp>
          <p:nvCxnSpPr>
            <p:cNvPr id="129" name="Straight Arrow Connector 128"/>
            <p:cNvCxnSpPr>
              <a:cxnSpLocks/>
            </p:cNvCxnSpPr>
            <p:nvPr/>
          </p:nvCxnSpPr>
          <p:spPr>
            <a:xfrm>
              <a:off x="7164288" y="5788714"/>
              <a:ext cx="699632" cy="0"/>
            </a:xfrm>
            <a:prstGeom prst="straightConnector1">
              <a:avLst/>
            </a:prstGeom>
            <a:ln>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Arrow Connector 130"/>
            <p:cNvCxnSpPr>
              <a:stCxn id="124" idx="1"/>
            </p:cNvCxnSpPr>
            <p:nvPr/>
          </p:nvCxnSpPr>
          <p:spPr>
            <a:xfrm flipH="1" flipV="1">
              <a:off x="5416638" y="5788714"/>
              <a:ext cx="357213" cy="1"/>
            </a:xfrm>
            <a:prstGeom prst="straightConnector1">
              <a:avLst/>
            </a:prstGeom>
            <a:ln>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683819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1</a:t>
            </a:r>
            <a:endParaRPr lang="en-GB" sz="2400" b="1" dirty="0">
              <a:solidFill>
                <a:schemeClr val="accent6"/>
              </a:solidFill>
            </a:endParaRPr>
          </a:p>
        </p:txBody>
      </p:sp>
      <p:sp>
        <p:nvSpPr>
          <p:cNvPr id="4" name="Rectangle 3"/>
          <p:cNvSpPr/>
          <p:nvPr/>
        </p:nvSpPr>
        <p:spPr>
          <a:xfrm>
            <a:off x="251520" y="728956"/>
            <a:ext cx="8607667" cy="1015663"/>
          </a:xfrm>
          <a:prstGeom prst="rect">
            <a:avLst/>
          </a:prstGeom>
          <a:solidFill>
            <a:schemeClr val="accent6">
              <a:lumMod val="20000"/>
              <a:lumOff val="80000"/>
            </a:schemeClr>
          </a:solidFill>
          <a:ln>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cs typeface="Arial" pitchFamily="34" charset="0"/>
              </a:rPr>
              <a:t>Compounds contain </a:t>
            </a:r>
            <a:r>
              <a:rPr lang="en-GB" sz="2000" b="1" dirty="0">
                <a:cs typeface="Arial" pitchFamily="34" charset="0"/>
              </a:rPr>
              <a:t>two or more </a:t>
            </a:r>
            <a:r>
              <a:rPr lang="en-GB" sz="2000" dirty="0">
                <a:cs typeface="Arial" pitchFamily="34" charset="0"/>
              </a:rPr>
              <a:t>elements </a:t>
            </a:r>
            <a:r>
              <a:rPr lang="en-GB" sz="2000" b="1" dirty="0">
                <a:cs typeface="Arial" pitchFamily="34" charset="0"/>
              </a:rPr>
              <a:t>chemically</a:t>
            </a:r>
            <a:r>
              <a:rPr lang="en-GB" sz="2000" dirty="0">
                <a:cs typeface="Arial" pitchFamily="34" charset="0"/>
              </a:rPr>
              <a:t> combined in</a:t>
            </a:r>
            <a:r>
              <a:rPr lang="en-GB" sz="2000" b="1" dirty="0">
                <a:cs typeface="Arial" pitchFamily="34" charset="0"/>
              </a:rPr>
              <a:t> fixed proportions </a:t>
            </a:r>
            <a:r>
              <a:rPr lang="en-GB" sz="2000" dirty="0">
                <a:cs typeface="Arial" pitchFamily="34" charset="0"/>
              </a:rPr>
              <a:t>and can be represented by formulae using the symbols of atoms from which they formed.</a:t>
            </a:r>
            <a:endParaRPr lang="en-GB" sz="2000" dirty="0">
              <a:solidFill>
                <a:schemeClr val="tx1"/>
              </a:solidFill>
              <a:cs typeface="Arial" pitchFamily="34" charset="0"/>
            </a:endParaRPr>
          </a:p>
        </p:txBody>
      </p:sp>
      <p:sp>
        <p:nvSpPr>
          <p:cNvPr id="123" name="Rectangle 122"/>
          <p:cNvSpPr/>
          <p:nvPr/>
        </p:nvSpPr>
        <p:spPr>
          <a:xfrm>
            <a:off x="251520" y="1846451"/>
            <a:ext cx="5040560" cy="1631216"/>
          </a:xfrm>
          <a:prstGeom prst="rect">
            <a:avLst/>
          </a:prstGeom>
          <a:solidFill>
            <a:schemeClr val="bg1"/>
          </a:solidFill>
          <a:ln>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lvl="0" eaLnBrk="0" fontAlgn="base" hangingPunct="0">
              <a:spcBef>
                <a:spcPct val="0"/>
              </a:spcBef>
              <a:spcAft>
                <a:spcPct val="0"/>
              </a:spcAft>
            </a:pPr>
            <a:r>
              <a:rPr lang="en-US" altLang="en-US" sz="2000" dirty="0">
                <a:solidFill>
                  <a:srgbClr val="000000"/>
                </a:solidFill>
                <a:cs typeface="Times New Roman" panose="02020603050405020304" pitchFamily="18" charset="0"/>
              </a:rPr>
              <a:t>Naming a compound with </a:t>
            </a:r>
            <a:r>
              <a:rPr lang="en-US" altLang="en-US" sz="2000" b="1" dirty="0">
                <a:solidFill>
                  <a:srgbClr val="000000"/>
                </a:solidFill>
                <a:cs typeface="Times New Roman" panose="02020603050405020304" pitchFamily="18" charset="0"/>
              </a:rPr>
              <a:t>two elements </a:t>
            </a:r>
            <a:r>
              <a:rPr lang="en-US" altLang="en-US" sz="2000" dirty="0">
                <a:solidFill>
                  <a:srgbClr val="000000"/>
                </a:solidFill>
                <a:cs typeface="Times New Roman" panose="02020603050405020304" pitchFamily="18" charset="0"/>
              </a:rPr>
              <a:t>(usually a metal and a non metal) apply these rules:</a:t>
            </a:r>
            <a:endParaRPr lang="en-US" altLang="en-US" sz="2000" dirty="0">
              <a:solidFill>
                <a:schemeClr val="tx1"/>
              </a:solidFill>
            </a:endParaRP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rgbClr val="000000"/>
                </a:solidFill>
                <a:cs typeface="Times New Roman" panose="02020603050405020304" pitchFamily="18" charset="0"/>
              </a:rPr>
              <a:t>The metal name does not change</a:t>
            </a: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rgbClr val="000000"/>
                </a:solidFill>
                <a:cs typeface="Times New Roman" panose="02020603050405020304" pitchFamily="18" charset="0"/>
              </a:rPr>
              <a:t>The non-metal's name ends in </a:t>
            </a:r>
            <a:r>
              <a:rPr lang="en-US" altLang="en-US" sz="2000" b="1" dirty="0">
                <a:solidFill>
                  <a:schemeClr val="accent6">
                    <a:lumMod val="75000"/>
                  </a:schemeClr>
                </a:solidFill>
                <a:cs typeface="Times New Roman" panose="02020603050405020304" pitchFamily="18" charset="0"/>
              </a:rPr>
              <a:t>ide</a:t>
            </a:r>
            <a:endParaRPr lang="en-GB" sz="2000" b="1" dirty="0">
              <a:solidFill>
                <a:schemeClr val="accent6">
                  <a:lumMod val="75000"/>
                </a:schemeClr>
              </a:solidFill>
              <a:cs typeface="Arial" pitchFamily="34" charset="0"/>
            </a:endParaRPr>
          </a:p>
        </p:txBody>
      </p:sp>
      <p:sp>
        <p:nvSpPr>
          <p:cNvPr id="22" name="Rectangle 2">
            <a:extLst>
              <a:ext uri="{FF2B5EF4-FFF2-40B4-BE49-F238E27FC236}">
                <a16:creationId xmlns:a16="http://schemas.microsoft.com/office/drawing/2014/main" xmlns="" id="{633FB2BD-3127-4D1B-81C9-5C714ECF69A5}"/>
              </a:ext>
            </a:extLst>
          </p:cNvPr>
          <p:cNvSpPr>
            <a:spLocks noChangeArrowheads="1"/>
          </p:cNvSpPr>
          <p:nvPr/>
        </p:nvSpPr>
        <p:spPr bwMode="auto">
          <a:xfrm>
            <a:off x="4646204" y="1474512"/>
            <a:ext cx="4158382" cy="1677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mn-lt"/>
                <a:cs typeface="Times New Roman" panose="02020603050405020304" pitchFamily="18" charset="0"/>
              </a:rPr>
              <a:t>             For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example:    </a:t>
            </a:r>
            <a:endParaRPr kumimoji="0" lang="en-US" altLang="en-US" sz="2000" b="0" i="0" u="none" strike="noStrike" cap="none" normalizeH="0" baseline="0" dirty="0" smtClean="0">
              <a:ln>
                <a:noFill/>
              </a:ln>
              <a:solidFill>
                <a:srgbClr val="000000"/>
              </a:solidFill>
              <a:effectLst/>
              <a:latin typeface="+mn-lt"/>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mn-lt"/>
                <a:cs typeface="Times New Roman" panose="02020603050405020304" pitchFamily="18" charset="0"/>
              </a:rPr>
              <a:t>	 </a:t>
            </a:r>
            <a:r>
              <a:rPr lang="en-US" altLang="en-US" sz="2000" dirty="0" smtClean="0">
                <a:solidFill>
                  <a:srgbClr val="000000"/>
                </a:solidFill>
                <a:latin typeface="+mn-lt"/>
                <a:cs typeface="Times New Roman" panose="02020603050405020304" pitchFamily="18" charset="0"/>
              </a:rPr>
              <a:t>       </a:t>
            </a:r>
            <a:r>
              <a:rPr kumimoji="0" lang="en-US" altLang="en-US" sz="2000" b="0" u="none" strike="noStrike" cap="none" normalizeH="0" baseline="0" dirty="0" smtClean="0">
                <a:ln>
                  <a:noFill/>
                </a:ln>
                <a:solidFill>
                  <a:srgbClr val="000000"/>
                </a:solidFill>
                <a:effectLst/>
                <a:latin typeface="+mn-lt"/>
                <a:cs typeface="Times New Roman" panose="02020603050405020304" pitchFamily="18" charset="0"/>
              </a:rPr>
              <a:t>Na</a:t>
            </a:r>
            <a:r>
              <a:rPr kumimoji="0" lang="en-US" altLang="en-US" sz="2000" b="0" u="none" strike="noStrike" cap="none" normalizeH="0" baseline="-30000" dirty="0" smtClean="0">
                <a:ln>
                  <a:noFill/>
                </a:ln>
                <a:solidFill>
                  <a:srgbClr val="000000"/>
                </a:solidFill>
                <a:effectLst/>
                <a:latin typeface="+mn-lt"/>
                <a:cs typeface="Times New Roman" panose="02020603050405020304" pitchFamily="18" charset="0"/>
              </a:rPr>
              <a:t>2</a:t>
            </a:r>
            <a:r>
              <a:rPr kumimoji="0" lang="en-US" altLang="en-US" sz="2000" b="0" u="none" strike="noStrike" cap="none" normalizeH="0" baseline="0" dirty="0" smtClean="0">
                <a:ln>
                  <a:noFill/>
                </a:ln>
                <a:solidFill>
                  <a:srgbClr val="000000"/>
                </a:solidFill>
                <a:effectLst/>
                <a:latin typeface="+mn-lt"/>
                <a:cs typeface="Times New Roman" panose="02020603050405020304" pitchFamily="18" charset="0"/>
              </a:rPr>
              <a:t>S </a:t>
            </a:r>
            <a:r>
              <a:rPr kumimoji="0" lang="en-US" altLang="en-US" sz="2000" b="0" u="none" strike="noStrike" cap="none" normalizeH="0" baseline="0" dirty="0">
                <a:ln>
                  <a:noFill/>
                </a:ln>
                <a:solidFill>
                  <a:srgbClr val="000000"/>
                </a:solidFill>
                <a:effectLst/>
                <a:latin typeface="+mn-lt"/>
                <a:cs typeface="Times New Roman" panose="02020603050405020304" pitchFamily="18" charset="0"/>
              </a:rPr>
              <a:t>= sodium sulf</a:t>
            </a:r>
            <a:r>
              <a:rPr kumimoji="0" lang="en-US" altLang="en-US" sz="2000" b="1" u="none" strike="noStrike" cap="none" normalizeH="0" baseline="0" dirty="0">
                <a:ln>
                  <a:noFill/>
                </a:ln>
                <a:solidFill>
                  <a:srgbClr val="000000"/>
                </a:solidFill>
                <a:effectLst/>
                <a:latin typeface="+mn-lt"/>
                <a:cs typeface="Times New Roman" panose="02020603050405020304" pitchFamily="18" charset="0"/>
              </a:rPr>
              <a:t>ide</a:t>
            </a:r>
            <a:endParaRPr kumimoji="0" lang="en-US" altLang="en-US" sz="2000" b="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30000" dirty="0">
                <a:ln>
                  <a:noFill/>
                </a:ln>
                <a:solidFill>
                  <a:srgbClr val="000000"/>
                </a:solidFill>
                <a:effectLst/>
                <a:latin typeface="+mn-lt"/>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K</a:t>
            </a:r>
            <a:r>
              <a:rPr kumimoji="0" lang="en-US" altLang="en-US" sz="2000" b="0" i="0" u="none" strike="noStrike" cap="none" normalizeH="0" baseline="-30000" dirty="0">
                <a:ln>
                  <a:noFill/>
                </a:ln>
                <a:solidFill>
                  <a:srgbClr val="000000"/>
                </a:solidFill>
                <a:effectLst/>
                <a:latin typeface="+mn-lt"/>
                <a:cs typeface="Times New Roman" panose="02020603050405020304" pitchFamily="18" charset="0"/>
              </a:rPr>
              <a:t>2</a:t>
            </a:r>
            <a:r>
              <a:rPr kumimoji="0" lang="en-US" altLang="en-US" sz="2000" b="0" i="0" u="none" strike="noStrike" cap="none" normalizeH="0" baseline="0" dirty="0">
                <a:ln>
                  <a:noFill/>
                </a:ln>
                <a:solidFill>
                  <a:srgbClr val="000000"/>
                </a:solidFill>
                <a:effectLst/>
                <a:latin typeface="+mn-lt"/>
                <a:cs typeface="Times New Roman" panose="02020603050405020304" pitchFamily="18" charset="0"/>
              </a:rPr>
              <a:t>O  = potassium ox</a:t>
            </a:r>
            <a:r>
              <a:rPr kumimoji="0" lang="en-US" altLang="en-US" sz="2000" b="1" i="0" u="none" strike="noStrike" cap="none" normalizeH="0" baseline="0" dirty="0">
                <a:ln>
                  <a:noFill/>
                </a:ln>
                <a:solidFill>
                  <a:srgbClr val="000000"/>
                </a:solidFill>
                <a:effectLst/>
                <a:latin typeface="+mn-lt"/>
                <a:cs typeface="Times New Roman" panose="02020603050405020304" pitchFamily="18" charset="0"/>
              </a:rPr>
              <a:t>ide</a:t>
            </a:r>
            <a:endParaRPr kumimoji="0" lang="en-US" altLang="en-US" sz="2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xmlns="" id="{70CD362C-37C9-4D82-A79C-074E2F9F8FE0}"/>
              </a:ext>
            </a:extLst>
          </p:cNvPr>
          <p:cNvSpPr/>
          <p:nvPr/>
        </p:nvSpPr>
        <p:spPr>
          <a:xfrm>
            <a:off x="3777997" y="5326906"/>
            <a:ext cx="5079608" cy="984885"/>
          </a:xfrm>
          <a:prstGeom prst="rect">
            <a:avLst/>
          </a:prstGeom>
        </p:spPr>
        <p:txBody>
          <a:bodyPr wrap="square">
            <a:spAutoFit/>
          </a:bodyPr>
          <a:lstStyle/>
          <a:p>
            <a:pPr marL="457200"/>
            <a:r>
              <a:rPr lang="en-GB" dirty="0">
                <a:solidFill>
                  <a:srgbClr val="000000"/>
                </a:solidFill>
                <a:latin typeface="Times New Roman" panose="02020603050405020304" pitchFamily="18" charset="0"/>
              </a:rPr>
              <a:t/>
            </a:r>
            <a:br>
              <a:rPr lang="en-GB" dirty="0">
                <a:solidFill>
                  <a:srgbClr val="000000"/>
                </a:solidFill>
                <a:latin typeface="Times New Roman" panose="02020603050405020304" pitchFamily="18" charset="0"/>
              </a:rPr>
            </a:br>
            <a:r>
              <a:rPr lang="en-GB" sz="2000" dirty="0">
                <a:solidFill>
                  <a:srgbClr val="000000"/>
                </a:solidFill>
              </a:rPr>
              <a:t>For example:   Na</a:t>
            </a:r>
            <a:r>
              <a:rPr lang="en-GB" sz="2000" baseline="-25000" dirty="0">
                <a:solidFill>
                  <a:srgbClr val="000000"/>
                </a:solidFill>
              </a:rPr>
              <a:t>2</a:t>
            </a:r>
            <a:r>
              <a:rPr lang="en-GB" sz="2000" dirty="0">
                <a:solidFill>
                  <a:srgbClr val="000000"/>
                </a:solidFill>
              </a:rPr>
              <a:t>CO</a:t>
            </a:r>
            <a:r>
              <a:rPr lang="en-GB" sz="2000" baseline="-25000" dirty="0">
                <a:solidFill>
                  <a:srgbClr val="000000"/>
                </a:solidFill>
              </a:rPr>
              <a:t>3</a:t>
            </a:r>
            <a:r>
              <a:rPr lang="en-GB" sz="2000" dirty="0">
                <a:solidFill>
                  <a:srgbClr val="000000"/>
                </a:solidFill>
              </a:rPr>
              <a:t> = sodium carbon</a:t>
            </a:r>
            <a:r>
              <a:rPr lang="en-GB" sz="2000" b="1" dirty="0">
                <a:solidFill>
                  <a:srgbClr val="000000"/>
                </a:solidFill>
              </a:rPr>
              <a:t>ate</a:t>
            </a:r>
          </a:p>
          <a:p>
            <a:pPr marL="457200"/>
            <a:r>
              <a:rPr lang="en-GB" sz="2000" dirty="0">
                <a:solidFill>
                  <a:srgbClr val="000000"/>
                </a:solidFill>
              </a:rPr>
              <a:t>                          KNO</a:t>
            </a:r>
            <a:r>
              <a:rPr lang="en-GB" sz="2000" baseline="-25000" dirty="0">
                <a:solidFill>
                  <a:srgbClr val="000000"/>
                </a:solidFill>
              </a:rPr>
              <a:t>3</a:t>
            </a:r>
            <a:r>
              <a:rPr lang="en-GB" sz="2000" dirty="0">
                <a:solidFill>
                  <a:srgbClr val="000000"/>
                </a:solidFill>
              </a:rPr>
              <a:t>    = potassium nitr</a:t>
            </a:r>
            <a:r>
              <a:rPr lang="en-GB" sz="2000" b="1" dirty="0">
                <a:solidFill>
                  <a:srgbClr val="000000"/>
                </a:solidFill>
              </a:rPr>
              <a:t>ate</a:t>
            </a:r>
            <a:endParaRPr lang="en-GB" sz="2000" b="1" i="0" dirty="0">
              <a:solidFill>
                <a:srgbClr val="000000"/>
              </a:solidFill>
              <a:effectLst/>
            </a:endParaRPr>
          </a:p>
        </p:txBody>
      </p:sp>
      <p:sp>
        <p:nvSpPr>
          <p:cNvPr id="24" name="Rectangle 23">
            <a:extLst>
              <a:ext uri="{FF2B5EF4-FFF2-40B4-BE49-F238E27FC236}">
                <a16:creationId xmlns:a16="http://schemas.microsoft.com/office/drawing/2014/main" xmlns="" id="{9443A84F-1ACE-4628-A5B2-91BBFA3E703D}"/>
              </a:ext>
            </a:extLst>
          </p:cNvPr>
          <p:cNvSpPr/>
          <p:nvPr/>
        </p:nvSpPr>
        <p:spPr>
          <a:xfrm>
            <a:off x="251520" y="3686758"/>
            <a:ext cx="3960441" cy="2554545"/>
          </a:xfrm>
          <a:prstGeom prst="rect">
            <a:avLst/>
          </a:prstGeom>
          <a:solidFill>
            <a:schemeClr val="bg1"/>
          </a:solidFill>
          <a:ln>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lvl="0" eaLnBrk="0" fontAlgn="base" hangingPunct="0">
              <a:spcBef>
                <a:spcPct val="0"/>
              </a:spcBef>
              <a:spcAft>
                <a:spcPct val="0"/>
              </a:spcAft>
            </a:pPr>
            <a:r>
              <a:rPr lang="en-GB" sz="2000" dirty="0"/>
              <a:t>Naming a compound with a metal that reacts with ions that consist of </a:t>
            </a:r>
            <a:r>
              <a:rPr lang="en-GB" sz="2000" b="1" dirty="0"/>
              <a:t>two or more </a:t>
            </a:r>
            <a:r>
              <a:rPr lang="en-GB" sz="2000" dirty="0"/>
              <a:t>non-metal atoms covalently bonded together apply these rules:</a:t>
            </a: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rgbClr val="000000"/>
                </a:solidFill>
                <a:cs typeface="Times New Roman" panose="02020603050405020304" pitchFamily="18" charset="0"/>
              </a:rPr>
              <a:t>The metal name does not change</a:t>
            </a:r>
          </a:p>
          <a:p>
            <a:pPr marL="285750" lvl="0" indent="-285750" eaLnBrk="0" fontAlgn="base" hangingPunct="0">
              <a:spcBef>
                <a:spcPct val="0"/>
              </a:spcBef>
              <a:spcAft>
                <a:spcPct val="0"/>
              </a:spcAft>
              <a:buFont typeface="Arial" panose="020B0604020202020204" pitchFamily="34" charset="0"/>
              <a:buChar char="•"/>
            </a:pPr>
            <a:r>
              <a:rPr lang="en-US" altLang="en-US" sz="2000" dirty="0">
                <a:solidFill>
                  <a:srgbClr val="000000"/>
                </a:solidFill>
                <a:cs typeface="Times New Roman" panose="02020603050405020304" pitchFamily="18" charset="0"/>
              </a:rPr>
              <a:t>The non-metal's name ends in </a:t>
            </a:r>
            <a:r>
              <a:rPr lang="en-US" altLang="en-US" sz="2000" b="1" dirty="0">
                <a:solidFill>
                  <a:schemeClr val="accent6">
                    <a:lumMod val="75000"/>
                  </a:schemeClr>
                </a:solidFill>
                <a:cs typeface="Times New Roman" panose="02020603050405020304" pitchFamily="18" charset="0"/>
              </a:rPr>
              <a:t>ate</a:t>
            </a:r>
            <a:r>
              <a:rPr lang="en-US" altLang="en-US" sz="2000" dirty="0">
                <a:solidFill>
                  <a:srgbClr val="000000"/>
                </a:solidFill>
                <a:cs typeface="Times New Roman" panose="02020603050405020304" pitchFamily="18" charset="0"/>
              </a:rPr>
              <a:t> if oxygen is present</a:t>
            </a:r>
            <a:endParaRPr lang="en-GB" sz="2000" dirty="0"/>
          </a:p>
        </p:txBody>
      </p:sp>
      <p:sp>
        <p:nvSpPr>
          <p:cNvPr id="9" name="Rectangle 8">
            <a:extLst>
              <a:ext uri="{FF2B5EF4-FFF2-40B4-BE49-F238E27FC236}">
                <a16:creationId xmlns:a16="http://schemas.microsoft.com/office/drawing/2014/main" xmlns="" id="{8DD19BAE-620A-46EB-B358-9634FAA1737F}"/>
              </a:ext>
            </a:extLst>
          </p:cNvPr>
          <p:cNvSpPr/>
          <p:nvPr/>
        </p:nvSpPr>
        <p:spPr>
          <a:xfrm>
            <a:off x="5436096" y="2974289"/>
            <a:ext cx="3456384" cy="255454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GB" sz="2000" dirty="0"/>
              <a:t>When </a:t>
            </a:r>
            <a:r>
              <a:rPr lang="en-GB" sz="2000" dirty="0" smtClean="0"/>
              <a:t>a </a:t>
            </a:r>
            <a:r>
              <a:rPr lang="en-GB" sz="2000" dirty="0"/>
              <a:t>compound contains a transition metal, the names become a bit more complicated. To distinguish them, Roman numerals indicate the charge on the metal ion </a:t>
            </a:r>
          </a:p>
          <a:p>
            <a:pPr algn="ctr"/>
            <a:r>
              <a:rPr lang="en-GB" sz="2000" dirty="0" smtClean="0"/>
              <a:t>e.g</a:t>
            </a:r>
            <a:r>
              <a:rPr lang="en-GB" sz="2000" dirty="0"/>
              <a:t>.</a:t>
            </a:r>
            <a:r>
              <a:rPr lang="en-GB" sz="2000" dirty="0" smtClean="0"/>
              <a:t> </a:t>
            </a:r>
            <a:r>
              <a:rPr lang="en-GB" sz="2000" dirty="0"/>
              <a:t>iron(II) chloride. </a:t>
            </a:r>
          </a:p>
        </p:txBody>
      </p:sp>
    </p:spTree>
    <p:extLst>
      <p:ext uri="{BB962C8B-B14F-4D97-AF65-F5344CB8AC3E}">
        <p14:creationId xmlns:p14="http://schemas.microsoft.com/office/powerpoint/2010/main" val="32496025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1</a:t>
            </a:r>
            <a:endParaRPr lang="en-GB" sz="2400" b="1" dirty="0">
              <a:solidFill>
                <a:schemeClr val="accent6"/>
              </a:solidFill>
            </a:endParaRPr>
          </a:p>
        </p:txBody>
      </p:sp>
      <p:sp>
        <p:nvSpPr>
          <p:cNvPr id="123" name="Rectangle 122"/>
          <p:cNvSpPr/>
          <p:nvPr/>
        </p:nvSpPr>
        <p:spPr>
          <a:xfrm>
            <a:off x="7009580" y="755805"/>
            <a:ext cx="1944216" cy="1938992"/>
          </a:xfrm>
          <a:prstGeom prst="rect">
            <a:avLst/>
          </a:prstGeom>
          <a:solidFill>
            <a:schemeClr val="bg1"/>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You need to:</a:t>
            </a:r>
          </a:p>
          <a:p>
            <a:pPr marL="285750" indent="-285750">
              <a:buFont typeface="Arial" panose="020B0604020202020204" pitchFamily="34" charset="0"/>
              <a:buChar char="•"/>
            </a:pPr>
            <a:r>
              <a:rPr lang="en-GB" sz="2000" b="1" dirty="0">
                <a:cs typeface="Arial" pitchFamily="34" charset="0"/>
              </a:rPr>
              <a:t>Write word </a:t>
            </a:r>
            <a:r>
              <a:rPr lang="en-GB" sz="2000" b="1" dirty="0" smtClean="0">
                <a:cs typeface="Arial" pitchFamily="34" charset="0"/>
              </a:rPr>
              <a:t>equations</a:t>
            </a:r>
          </a:p>
          <a:p>
            <a:pPr marL="285750" indent="-285750">
              <a:buFont typeface="Arial" panose="020B0604020202020204" pitchFamily="34" charset="0"/>
              <a:buChar char="•"/>
            </a:pPr>
            <a:r>
              <a:rPr lang="en-GB" sz="2000" b="1" dirty="0">
                <a:cs typeface="Arial" pitchFamily="34" charset="0"/>
              </a:rPr>
              <a:t>B</a:t>
            </a:r>
            <a:r>
              <a:rPr lang="en-GB" sz="2000" b="1" dirty="0" smtClean="0">
                <a:cs typeface="Arial" pitchFamily="34" charset="0"/>
              </a:rPr>
              <a:t>alanced </a:t>
            </a:r>
            <a:r>
              <a:rPr lang="en-GB" sz="2000" b="1" dirty="0">
                <a:cs typeface="Arial" pitchFamily="34" charset="0"/>
              </a:rPr>
              <a:t>symbol equations</a:t>
            </a:r>
          </a:p>
        </p:txBody>
      </p:sp>
      <p:sp>
        <p:nvSpPr>
          <p:cNvPr id="14" name="Rectangle 13"/>
          <p:cNvSpPr/>
          <p:nvPr/>
        </p:nvSpPr>
        <p:spPr>
          <a:xfrm>
            <a:off x="179511" y="768926"/>
            <a:ext cx="6720821" cy="1323439"/>
          </a:xfrm>
          <a:prstGeom prst="rect">
            <a:avLst/>
          </a:prstGeom>
          <a:solidFill>
            <a:schemeClr val="accent6">
              <a:lumMod val="20000"/>
              <a:lumOff val="80000"/>
            </a:schemeClr>
          </a:solidFill>
          <a:ln>
            <a:solidFill>
              <a:schemeClr val="accent6"/>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Chemical equations: </a:t>
            </a:r>
            <a:r>
              <a:rPr lang="en-GB" sz="2000" dirty="0">
                <a:cs typeface="Arial" pitchFamily="34" charset="0"/>
              </a:rPr>
              <a:t>Show the </a:t>
            </a:r>
            <a:r>
              <a:rPr lang="en-GB" sz="2000" b="1" u="sng" dirty="0">
                <a:cs typeface="Arial" pitchFamily="34" charset="0"/>
              </a:rPr>
              <a:t>reactants</a:t>
            </a:r>
            <a:r>
              <a:rPr lang="en-GB" sz="2000" dirty="0">
                <a:cs typeface="Arial" pitchFamily="34" charset="0"/>
              </a:rPr>
              <a:t> (what we start with) and the </a:t>
            </a:r>
            <a:r>
              <a:rPr lang="en-GB" sz="2000" b="1" u="sng" dirty="0">
                <a:cs typeface="Arial" pitchFamily="34" charset="0"/>
              </a:rPr>
              <a:t>products</a:t>
            </a:r>
            <a:r>
              <a:rPr lang="en-GB" sz="2000" dirty="0">
                <a:cs typeface="Arial" pitchFamily="34" charset="0"/>
              </a:rPr>
              <a:t> (what we end with). </a:t>
            </a:r>
            <a:endParaRPr lang="en-GB" sz="2000" dirty="0" smtClean="0">
              <a:cs typeface="Arial" pitchFamily="34" charset="0"/>
            </a:endParaRPr>
          </a:p>
          <a:p>
            <a:pPr algn="ctr"/>
            <a:r>
              <a:rPr lang="en-GB" sz="2000" dirty="0" smtClean="0">
                <a:cs typeface="Arial" pitchFamily="34" charset="0"/>
              </a:rPr>
              <a:t>No </a:t>
            </a:r>
            <a:r>
              <a:rPr lang="en-GB" sz="2000" b="1" dirty="0">
                <a:cs typeface="Arial" pitchFamily="34" charset="0"/>
              </a:rPr>
              <a:t>atoms</a:t>
            </a:r>
            <a:r>
              <a:rPr lang="en-GB" sz="2000" dirty="0">
                <a:cs typeface="Arial" pitchFamily="34" charset="0"/>
              </a:rPr>
              <a:t> are </a:t>
            </a:r>
            <a:r>
              <a:rPr lang="en-GB" sz="2000" b="1" dirty="0">
                <a:cs typeface="Arial" pitchFamily="34" charset="0"/>
              </a:rPr>
              <a:t>lost</a:t>
            </a:r>
            <a:r>
              <a:rPr lang="en-GB" sz="2000" dirty="0">
                <a:cs typeface="Arial" pitchFamily="34" charset="0"/>
              </a:rPr>
              <a:t> or </a:t>
            </a:r>
            <a:r>
              <a:rPr lang="en-GB" sz="2000" b="1" dirty="0">
                <a:cs typeface="Arial" pitchFamily="34" charset="0"/>
              </a:rPr>
              <a:t>made</a:t>
            </a:r>
            <a:r>
              <a:rPr lang="en-GB" sz="2000" dirty="0">
                <a:cs typeface="Arial" pitchFamily="34" charset="0"/>
              </a:rPr>
              <a:t>. The </a:t>
            </a:r>
            <a:r>
              <a:rPr lang="en-GB" sz="2000" b="1" dirty="0">
                <a:cs typeface="Arial" pitchFamily="34" charset="0"/>
              </a:rPr>
              <a:t>mass</a:t>
            </a:r>
            <a:r>
              <a:rPr lang="en-GB" sz="2000" dirty="0">
                <a:cs typeface="Arial" pitchFamily="34" charset="0"/>
              </a:rPr>
              <a:t> of the </a:t>
            </a:r>
            <a:r>
              <a:rPr lang="en-GB" sz="2000" b="1" dirty="0">
                <a:cs typeface="Arial" pitchFamily="34" charset="0"/>
              </a:rPr>
              <a:t>products</a:t>
            </a:r>
            <a:r>
              <a:rPr lang="en-GB" sz="2000" dirty="0">
                <a:cs typeface="Arial" pitchFamily="34" charset="0"/>
              </a:rPr>
              <a:t> equals the </a:t>
            </a:r>
            <a:r>
              <a:rPr lang="en-GB" sz="2000" b="1" dirty="0">
                <a:cs typeface="Arial" pitchFamily="34" charset="0"/>
              </a:rPr>
              <a:t>mass</a:t>
            </a:r>
            <a:r>
              <a:rPr lang="en-GB" sz="2000" dirty="0">
                <a:cs typeface="Arial" pitchFamily="34" charset="0"/>
              </a:rPr>
              <a:t> of the </a:t>
            </a:r>
            <a:r>
              <a:rPr lang="en-GB" sz="2000" b="1" dirty="0">
                <a:cs typeface="Arial" pitchFamily="34" charset="0"/>
              </a:rPr>
              <a:t>reactants</a:t>
            </a:r>
            <a:r>
              <a:rPr lang="en-GB" sz="2000" dirty="0">
                <a:cs typeface="Arial" pitchFamily="34" charset="0"/>
              </a:rPr>
              <a:t>.</a:t>
            </a:r>
          </a:p>
        </p:txBody>
      </p:sp>
      <p:sp>
        <p:nvSpPr>
          <p:cNvPr id="17" name="TextBox 16"/>
          <p:cNvSpPr txBox="1"/>
          <p:nvPr/>
        </p:nvSpPr>
        <p:spPr>
          <a:xfrm>
            <a:off x="155697" y="2164470"/>
            <a:ext cx="6720822" cy="646331"/>
          </a:xfrm>
          <a:prstGeom prst="rect">
            <a:avLst/>
          </a:prstGeom>
          <a:solidFill>
            <a:schemeClr val="bg1"/>
          </a:solidFill>
          <a:ln>
            <a:solidFill>
              <a:schemeClr val="accent6"/>
            </a:solidFill>
          </a:ln>
          <a:effectLst/>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dirty="0"/>
              <a:t> </a:t>
            </a:r>
            <a:r>
              <a:rPr lang="en-GB" b="1" dirty="0">
                <a:solidFill>
                  <a:schemeClr val="accent6"/>
                </a:solidFill>
              </a:rPr>
              <a:t>Word equation:</a:t>
            </a:r>
            <a:r>
              <a:rPr lang="en-GB" b="1" dirty="0"/>
              <a:t>	methane + oxygen  </a:t>
            </a:r>
            <a:r>
              <a:rPr lang="en-GB" b="1" dirty="0">
                <a:sym typeface="Wingdings" panose="05000000000000000000" pitchFamily="2" charset="2"/>
              </a:rPr>
              <a:t> </a:t>
            </a:r>
            <a:r>
              <a:rPr lang="en-GB" b="1" dirty="0"/>
              <a:t>   carbon dioxide  +  water</a:t>
            </a:r>
          </a:p>
          <a:p>
            <a:r>
              <a:rPr lang="en-GB" b="1" dirty="0">
                <a:solidFill>
                  <a:schemeClr val="accent6"/>
                </a:solidFill>
              </a:rPr>
              <a:t>Symbol equation:</a:t>
            </a:r>
            <a:r>
              <a:rPr lang="en-GB" b="1" dirty="0"/>
              <a:t>	     CH</a:t>
            </a:r>
            <a:r>
              <a:rPr lang="en-GB" b="1" baseline="-25000" dirty="0"/>
              <a:t>4</a:t>
            </a:r>
            <a:r>
              <a:rPr lang="en-GB" b="1" dirty="0"/>
              <a:t>      +    </a:t>
            </a:r>
            <a:r>
              <a:rPr lang="en-GB" b="1" dirty="0">
                <a:solidFill>
                  <a:schemeClr val="accent6"/>
                </a:solidFill>
              </a:rPr>
              <a:t>2</a:t>
            </a:r>
            <a:r>
              <a:rPr lang="en-GB" b="1" dirty="0"/>
              <a:t>O</a:t>
            </a:r>
            <a:r>
              <a:rPr lang="en-GB" b="1" baseline="-25000" dirty="0"/>
              <a:t>2</a:t>
            </a:r>
            <a:r>
              <a:rPr lang="en-GB" b="1" dirty="0"/>
              <a:t>     </a:t>
            </a:r>
            <a:r>
              <a:rPr lang="en-GB" b="1" dirty="0">
                <a:sym typeface="Wingdings" panose="05000000000000000000" pitchFamily="2" charset="2"/>
              </a:rPr>
              <a:t>                 CO</a:t>
            </a:r>
            <a:r>
              <a:rPr lang="en-GB" b="1" baseline="-25000" dirty="0">
                <a:sym typeface="Wingdings" panose="05000000000000000000" pitchFamily="2" charset="2"/>
              </a:rPr>
              <a:t>2</a:t>
            </a:r>
            <a:r>
              <a:rPr lang="en-GB" b="1" dirty="0">
                <a:sym typeface="Wingdings" panose="05000000000000000000" pitchFamily="2" charset="2"/>
              </a:rPr>
              <a:t>          +  </a:t>
            </a:r>
            <a:r>
              <a:rPr lang="en-GB" b="1" dirty="0">
                <a:solidFill>
                  <a:schemeClr val="accent6"/>
                </a:solidFill>
                <a:sym typeface="Wingdings" panose="05000000000000000000" pitchFamily="2" charset="2"/>
              </a:rPr>
              <a:t>2</a:t>
            </a:r>
            <a:r>
              <a:rPr lang="en-GB" b="1" dirty="0">
                <a:sym typeface="Wingdings" panose="05000000000000000000" pitchFamily="2" charset="2"/>
              </a:rPr>
              <a:t>H</a:t>
            </a:r>
            <a:r>
              <a:rPr lang="en-GB" b="1" baseline="-25000" dirty="0">
                <a:sym typeface="Wingdings" panose="05000000000000000000" pitchFamily="2" charset="2"/>
              </a:rPr>
              <a:t>2</a:t>
            </a:r>
            <a:r>
              <a:rPr lang="en-GB" b="1" dirty="0">
                <a:sym typeface="Wingdings" panose="05000000000000000000" pitchFamily="2" charset="2"/>
              </a:rPr>
              <a:t>O</a:t>
            </a:r>
            <a:endParaRPr lang="en-GB" b="1" dirty="0"/>
          </a:p>
        </p:txBody>
      </p:sp>
      <p:grpSp>
        <p:nvGrpSpPr>
          <p:cNvPr id="18" name="Group 17"/>
          <p:cNvGrpSpPr/>
          <p:nvPr/>
        </p:nvGrpSpPr>
        <p:grpSpPr>
          <a:xfrm>
            <a:off x="971600" y="3676983"/>
            <a:ext cx="6672666" cy="1220815"/>
            <a:chOff x="684280" y="670618"/>
            <a:chExt cx="7632848" cy="1532326"/>
          </a:xfrm>
          <a:effectLst/>
        </p:grpSpPr>
        <p:sp>
          <p:nvSpPr>
            <p:cNvPr id="19" name="Oval 18"/>
            <p:cNvSpPr/>
            <p:nvPr/>
          </p:nvSpPr>
          <p:spPr>
            <a:xfrm>
              <a:off x="1044320" y="1304764"/>
              <a:ext cx="360040" cy="36004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Oval 19"/>
            <p:cNvSpPr/>
            <p:nvPr/>
          </p:nvSpPr>
          <p:spPr>
            <a:xfrm>
              <a:off x="1404360" y="130476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Oval 20"/>
            <p:cNvSpPr/>
            <p:nvPr/>
          </p:nvSpPr>
          <p:spPr>
            <a:xfrm>
              <a:off x="684280" y="130476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Oval 21"/>
            <p:cNvSpPr/>
            <p:nvPr/>
          </p:nvSpPr>
          <p:spPr>
            <a:xfrm>
              <a:off x="1044320" y="94472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Oval 22"/>
            <p:cNvSpPr/>
            <p:nvPr/>
          </p:nvSpPr>
          <p:spPr>
            <a:xfrm>
              <a:off x="1044320" y="1680828"/>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Oval 23"/>
            <p:cNvSpPr/>
            <p:nvPr/>
          </p:nvSpPr>
          <p:spPr>
            <a:xfrm>
              <a:off x="2674907" y="1066738"/>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Oval 24"/>
            <p:cNvSpPr/>
            <p:nvPr/>
          </p:nvSpPr>
          <p:spPr>
            <a:xfrm>
              <a:off x="3034947" y="1066738"/>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6" name="Straight Arrow Connector 25"/>
            <p:cNvCxnSpPr/>
            <p:nvPr/>
          </p:nvCxnSpPr>
          <p:spPr>
            <a:xfrm>
              <a:off x="3708616" y="1484784"/>
              <a:ext cx="864096" cy="0"/>
            </a:xfrm>
            <a:prstGeom prst="straightConnector1">
              <a:avLst/>
            </a:prstGeom>
            <a:ln>
              <a:solidFill>
                <a:schemeClr val="accent6"/>
              </a:solidFill>
              <a:tailEnd type="arrow"/>
            </a:ln>
          </p:spPr>
          <p:style>
            <a:lnRef idx="3">
              <a:schemeClr val="accent2"/>
            </a:lnRef>
            <a:fillRef idx="0">
              <a:schemeClr val="accent2"/>
            </a:fillRef>
            <a:effectRef idx="2">
              <a:schemeClr val="accent2"/>
            </a:effectRef>
            <a:fontRef idx="minor">
              <a:schemeClr val="tx1"/>
            </a:fontRef>
          </p:style>
        </p:cxnSp>
        <p:sp>
          <p:nvSpPr>
            <p:cNvPr id="27" name="Oval 26"/>
            <p:cNvSpPr/>
            <p:nvPr/>
          </p:nvSpPr>
          <p:spPr>
            <a:xfrm>
              <a:off x="2700504" y="1579178"/>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Oval 27"/>
            <p:cNvSpPr/>
            <p:nvPr/>
          </p:nvSpPr>
          <p:spPr>
            <a:xfrm>
              <a:off x="3060544" y="1579178"/>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Oval 28"/>
            <p:cNvSpPr/>
            <p:nvPr/>
          </p:nvSpPr>
          <p:spPr>
            <a:xfrm>
              <a:off x="5411211" y="1320788"/>
              <a:ext cx="360040" cy="36004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Oval 29"/>
            <p:cNvSpPr/>
            <p:nvPr/>
          </p:nvSpPr>
          <p:spPr>
            <a:xfrm>
              <a:off x="7957088" y="1764432"/>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Oval 30"/>
            <p:cNvSpPr/>
            <p:nvPr/>
          </p:nvSpPr>
          <p:spPr>
            <a:xfrm>
              <a:off x="7237008" y="112474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Oval 31"/>
            <p:cNvSpPr/>
            <p:nvPr/>
          </p:nvSpPr>
          <p:spPr>
            <a:xfrm>
              <a:off x="7957088" y="112474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Oval 32"/>
            <p:cNvSpPr/>
            <p:nvPr/>
          </p:nvSpPr>
          <p:spPr>
            <a:xfrm>
              <a:off x="7237008" y="1768504"/>
              <a:ext cx="360040" cy="360040"/>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Oval 33"/>
            <p:cNvSpPr/>
            <p:nvPr/>
          </p:nvSpPr>
          <p:spPr>
            <a:xfrm>
              <a:off x="5051171" y="1304764"/>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Oval 34"/>
            <p:cNvSpPr/>
            <p:nvPr/>
          </p:nvSpPr>
          <p:spPr>
            <a:xfrm>
              <a:off x="5780856" y="1320788"/>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Oval 35"/>
            <p:cNvSpPr/>
            <p:nvPr/>
          </p:nvSpPr>
          <p:spPr>
            <a:xfrm>
              <a:off x="7597048" y="1764432"/>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Oval 36"/>
            <p:cNvSpPr/>
            <p:nvPr/>
          </p:nvSpPr>
          <p:spPr>
            <a:xfrm>
              <a:off x="7597048" y="1124744"/>
              <a:ext cx="360040" cy="360040"/>
            </a:xfrm>
            <a:prstGeom prst="ellipse">
              <a:avLst/>
            </a:prstGeom>
            <a:pattFill prst="wdUpDiag">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 name="TextBox 37"/>
            <p:cNvSpPr txBox="1"/>
            <p:nvPr/>
          </p:nvSpPr>
          <p:spPr>
            <a:xfrm>
              <a:off x="1798434" y="670618"/>
              <a:ext cx="504056" cy="1506613"/>
            </a:xfrm>
            <a:prstGeom prst="rect">
              <a:avLst/>
            </a:prstGeom>
            <a:noFill/>
          </p:spPr>
          <p:txBody>
            <a:bodyPr wrap="square" rtlCol="0">
              <a:spAutoFit/>
            </a:bodyPr>
            <a:lstStyle/>
            <a:p>
              <a:r>
                <a:rPr lang="en-GB" sz="7200" dirty="0">
                  <a:solidFill>
                    <a:schemeClr val="accent6"/>
                  </a:solidFill>
                </a:rPr>
                <a:t>+</a:t>
              </a:r>
            </a:p>
          </p:txBody>
        </p:sp>
        <p:sp>
          <p:nvSpPr>
            <p:cNvPr id="39" name="TextBox 38"/>
            <p:cNvSpPr txBox="1"/>
            <p:nvPr/>
          </p:nvSpPr>
          <p:spPr>
            <a:xfrm>
              <a:off x="6300904" y="696331"/>
              <a:ext cx="504056" cy="1506613"/>
            </a:xfrm>
            <a:prstGeom prst="rect">
              <a:avLst/>
            </a:prstGeom>
            <a:noFill/>
          </p:spPr>
          <p:txBody>
            <a:bodyPr wrap="square" rtlCol="0">
              <a:spAutoFit/>
            </a:bodyPr>
            <a:lstStyle/>
            <a:p>
              <a:r>
                <a:rPr lang="en-GB" sz="7200" dirty="0">
                  <a:solidFill>
                    <a:schemeClr val="accent6"/>
                  </a:solidFill>
                </a:rPr>
                <a:t>+</a:t>
              </a:r>
            </a:p>
          </p:txBody>
        </p:sp>
      </p:grpSp>
      <p:sp>
        <p:nvSpPr>
          <p:cNvPr id="40" name="Rectangle 39"/>
          <p:cNvSpPr/>
          <p:nvPr/>
        </p:nvSpPr>
        <p:spPr>
          <a:xfrm>
            <a:off x="192876" y="4871750"/>
            <a:ext cx="8771612" cy="1631216"/>
          </a:xfrm>
          <a:prstGeom prst="rect">
            <a:avLst/>
          </a:prstGeom>
          <a:ln w="3175">
            <a:solidFill>
              <a:schemeClr val="accent6"/>
            </a:solidFill>
          </a:ln>
          <a:effectLst/>
        </p:spPr>
        <p:txBody>
          <a:bodyPr wrap="square">
            <a:spAutoFit/>
          </a:bodyPr>
          <a:lstStyle/>
          <a:p>
            <a:r>
              <a:rPr lang="en-GB" sz="2000" b="1" dirty="0">
                <a:cs typeface="Arial" charset="0"/>
              </a:rPr>
              <a:t>Equations </a:t>
            </a:r>
            <a:r>
              <a:rPr lang="en-GB" sz="2000" b="1" dirty="0">
                <a:solidFill>
                  <a:schemeClr val="accent6"/>
                </a:solidFill>
                <a:cs typeface="Arial" charset="0"/>
              </a:rPr>
              <a:t>MUST </a:t>
            </a:r>
            <a:r>
              <a:rPr lang="en-GB" sz="2000" b="1" dirty="0">
                <a:cs typeface="Arial" charset="0"/>
              </a:rPr>
              <a:t>balance</a:t>
            </a:r>
          </a:p>
          <a:p>
            <a:pPr marL="285750" indent="-285750">
              <a:buFont typeface="Arial" panose="020B0604020202020204" pitchFamily="34" charset="0"/>
              <a:buChar char="•"/>
            </a:pPr>
            <a:r>
              <a:rPr lang="en-GB" sz="2000" b="1" dirty="0">
                <a:cs typeface="Arial" charset="0"/>
              </a:rPr>
              <a:t>We can </a:t>
            </a:r>
            <a:r>
              <a:rPr lang="en-GB" sz="2000" b="1" dirty="0">
                <a:solidFill>
                  <a:schemeClr val="accent6"/>
                </a:solidFill>
                <a:cs typeface="Arial" charset="0"/>
              </a:rPr>
              <a:t>ONLY </a:t>
            </a:r>
            <a:r>
              <a:rPr lang="en-GB" sz="2000" b="1" dirty="0">
                <a:cs typeface="Arial" charset="0"/>
              </a:rPr>
              <a:t>add </a:t>
            </a:r>
            <a:r>
              <a:rPr lang="en-GB" sz="2000" b="1" dirty="0">
                <a:solidFill>
                  <a:schemeClr val="accent6"/>
                </a:solidFill>
                <a:cs typeface="Arial" charset="0"/>
              </a:rPr>
              <a:t>BIG </a:t>
            </a:r>
            <a:r>
              <a:rPr lang="en-GB" sz="2000" b="1" dirty="0">
                <a:cs typeface="Arial" charset="0"/>
              </a:rPr>
              <a:t>numbers to the front of a substance</a:t>
            </a:r>
          </a:p>
          <a:p>
            <a:pPr marL="285750" indent="-285750">
              <a:buFont typeface="Arial" panose="020B0604020202020204" pitchFamily="34" charset="0"/>
              <a:buChar char="•"/>
            </a:pPr>
            <a:r>
              <a:rPr lang="en-GB" sz="2000" b="1" dirty="0">
                <a:cs typeface="Arial" charset="0"/>
              </a:rPr>
              <a:t>We can tell elements within a compound by </a:t>
            </a:r>
            <a:r>
              <a:rPr lang="en-GB" sz="2000" b="1" dirty="0">
                <a:solidFill>
                  <a:schemeClr val="accent6"/>
                </a:solidFill>
                <a:cs typeface="Arial" charset="0"/>
              </a:rPr>
              <a:t>BIG</a:t>
            </a:r>
            <a:r>
              <a:rPr lang="en-GB" sz="2000" b="1" dirty="0">
                <a:cs typeface="Arial" charset="0"/>
              </a:rPr>
              <a:t> letters</a:t>
            </a:r>
          </a:p>
          <a:p>
            <a:pPr marL="285750" indent="-285750">
              <a:buFont typeface="Arial" panose="020B0604020202020204" pitchFamily="34" charset="0"/>
              <a:buChar char="•"/>
            </a:pPr>
            <a:r>
              <a:rPr lang="en-GB" sz="2000" b="1" dirty="0">
                <a:cs typeface="Arial" charset="0"/>
              </a:rPr>
              <a:t>We can check an equation is balanced by counting the number of each type of atom on either side</a:t>
            </a:r>
          </a:p>
        </p:txBody>
      </p:sp>
      <p:sp>
        <p:nvSpPr>
          <p:cNvPr id="41" name="TextBox 40"/>
          <p:cNvSpPr txBox="1"/>
          <p:nvPr/>
        </p:nvSpPr>
        <p:spPr>
          <a:xfrm>
            <a:off x="256184" y="2886493"/>
            <a:ext cx="2275453" cy="1015663"/>
          </a:xfrm>
          <a:prstGeom prst="rect">
            <a:avLst/>
          </a:prstGeom>
          <a:ln>
            <a:solidFill>
              <a:schemeClr val="accent6"/>
            </a:solidFill>
          </a:ln>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b="1" dirty="0"/>
              <a:t>There are 4 hydrogens here, bonded together</a:t>
            </a:r>
            <a:r>
              <a:rPr lang="en-GB" b="1" dirty="0"/>
              <a:t>.</a:t>
            </a:r>
          </a:p>
        </p:txBody>
      </p:sp>
      <p:sp>
        <p:nvSpPr>
          <p:cNvPr id="42" name="TextBox 41"/>
          <p:cNvSpPr txBox="1"/>
          <p:nvPr/>
        </p:nvSpPr>
        <p:spPr>
          <a:xfrm>
            <a:off x="2810278" y="2931124"/>
            <a:ext cx="2767721" cy="1015663"/>
          </a:xfrm>
          <a:prstGeom prst="rect">
            <a:avLst/>
          </a:prstGeom>
          <a:ln>
            <a:solidFill>
              <a:schemeClr val="accent6"/>
            </a:solidFill>
          </a:ln>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b="1" dirty="0"/>
              <a:t>There are 2 molecules of oxygen not bonded together.</a:t>
            </a:r>
          </a:p>
        </p:txBody>
      </p:sp>
      <p:sp>
        <p:nvSpPr>
          <p:cNvPr id="43" name="TextBox 42"/>
          <p:cNvSpPr txBox="1"/>
          <p:nvPr/>
        </p:nvSpPr>
        <p:spPr>
          <a:xfrm>
            <a:off x="5736606" y="2931123"/>
            <a:ext cx="3237326" cy="1015663"/>
          </a:xfrm>
          <a:prstGeom prst="rect">
            <a:avLst/>
          </a:prstGeom>
          <a:ln>
            <a:solidFill>
              <a:schemeClr val="accent6"/>
            </a:solidFill>
          </a:ln>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b="1" dirty="0"/>
              <a:t>There are 4 hydrogens here.  You multiply the big number by the little number.</a:t>
            </a:r>
          </a:p>
        </p:txBody>
      </p:sp>
      <p:cxnSp>
        <p:nvCxnSpPr>
          <p:cNvPr id="6" name="Straight Arrow Connector 5"/>
          <p:cNvCxnSpPr/>
          <p:nvPr/>
        </p:nvCxnSpPr>
        <p:spPr>
          <a:xfrm flipV="1">
            <a:off x="2003790" y="2677366"/>
            <a:ext cx="352752" cy="291495"/>
          </a:xfrm>
          <a:prstGeom prst="straightConnector1">
            <a:avLst/>
          </a:prstGeom>
          <a:ln w="28575">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flipV="1">
            <a:off x="3476618" y="2717446"/>
            <a:ext cx="264068" cy="314213"/>
          </a:xfrm>
          <a:prstGeom prst="straightConnector1">
            <a:avLst/>
          </a:prstGeom>
          <a:ln w="28575">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flipV="1">
            <a:off x="6582367" y="2724394"/>
            <a:ext cx="264068" cy="314213"/>
          </a:xfrm>
          <a:prstGeom prst="straightConnector1">
            <a:avLst/>
          </a:prstGeom>
          <a:ln w="28575">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36575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8"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1</a:t>
            </a:r>
            <a:endParaRPr lang="en-GB" sz="2400" b="1" dirty="0">
              <a:solidFill>
                <a:schemeClr val="accent6"/>
              </a:solidFill>
            </a:endParaRPr>
          </a:p>
        </p:txBody>
      </p:sp>
      <p:sp>
        <p:nvSpPr>
          <p:cNvPr id="9" name="Rectangle 8"/>
          <p:cNvSpPr/>
          <p:nvPr/>
        </p:nvSpPr>
        <p:spPr>
          <a:xfrm>
            <a:off x="179511" y="2953264"/>
            <a:ext cx="8884976" cy="3247043"/>
          </a:xfrm>
          <a:prstGeom prst="rect">
            <a:avLst/>
          </a:prstGeom>
          <a:solidFill>
            <a:schemeClr val="accent6">
              <a:lumMod val="20000"/>
              <a:lumOff val="80000"/>
            </a:schemeClr>
          </a:solidFill>
          <a:ln>
            <a:solidFill>
              <a:schemeClr val="accent6"/>
            </a:solidFill>
          </a:ln>
          <a:effectLst/>
        </p:spPr>
        <p:txBody>
          <a:bodyPr wrap="square">
            <a:spAutoFit/>
          </a:bodyPr>
          <a:lstStyle/>
          <a:p>
            <a:r>
              <a:rPr lang="en-GB" sz="2000" dirty="0">
                <a:solidFill>
                  <a:srgbClr val="333333"/>
                </a:solidFill>
              </a:rPr>
              <a:t>The reaction between copper </a:t>
            </a:r>
            <a:r>
              <a:rPr lang="en-GB" sz="2000" dirty="0" err="1">
                <a:solidFill>
                  <a:srgbClr val="333333"/>
                </a:solidFill>
              </a:rPr>
              <a:t>sulfate</a:t>
            </a:r>
            <a:r>
              <a:rPr lang="en-GB" sz="2000" dirty="0">
                <a:solidFill>
                  <a:srgbClr val="333333"/>
                </a:solidFill>
              </a:rPr>
              <a:t> and sodium hydroxide is</a:t>
            </a:r>
            <a:r>
              <a:rPr lang="en-GB" sz="2000" dirty="0" smtClean="0">
                <a:solidFill>
                  <a:srgbClr val="333333"/>
                </a:solidFill>
              </a:rPr>
              <a:t>:</a:t>
            </a:r>
            <a:endParaRPr lang="en-GB" sz="2000" dirty="0">
              <a:solidFill>
                <a:srgbClr val="333333"/>
              </a:solidFill>
            </a:endParaRPr>
          </a:p>
          <a:p>
            <a:r>
              <a:rPr lang="en-GB" sz="2000" b="1" dirty="0">
                <a:solidFill>
                  <a:srgbClr val="333333"/>
                </a:solidFill>
              </a:rPr>
              <a:t>	copper </a:t>
            </a:r>
            <a:r>
              <a:rPr lang="en-GB" sz="2000" b="1" dirty="0" err="1">
                <a:solidFill>
                  <a:srgbClr val="333333"/>
                </a:solidFill>
              </a:rPr>
              <a:t>sulfate</a:t>
            </a:r>
            <a:r>
              <a:rPr lang="en-GB" sz="2000" b="1" dirty="0">
                <a:solidFill>
                  <a:srgbClr val="333333"/>
                </a:solidFill>
              </a:rPr>
              <a:t> + sodium hydroxide → sodium </a:t>
            </a:r>
            <a:r>
              <a:rPr lang="en-GB" sz="2000" b="1" dirty="0" err="1">
                <a:solidFill>
                  <a:srgbClr val="333333"/>
                </a:solidFill>
              </a:rPr>
              <a:t>sulfate</a:t>
            </a:r>
            <a:r>
              <a:rPr lang="en-GB" sz="2000" b="1" dirty="0">
                <a:solidFill>
                  <a:srgbClr val="333333"/>
                </a:solidFill>
              </a:rPr>
              <a:t> + copper hydroxide</a:t>
            </a:r>
          </a:p>
          <a:p>
            <a:r>
              <a:rPr lang="en-GB" sz="2000" b="1" dirty="0">
                <a:solidFill>
                  <a:srgbClr val="333333"/>
                </a:solidFill>
              </a:rPr>
              <a:t>                      CuSO</a:t>
            </a:r>
            <a:r>
              <a:rPr lang="en-GB" sz="2000" b="1" baseline="-25000" dirty="0">
                <a:solidFill>
                  <a:srgbClr val="333333"/>
                </a:solidFill>
              </a:rPr>
              <a:t>4</a:t>
            </a:r>
            <a:r>
              <a:rPr lang="en-GB" sz="2000" b="1" dirty="0">
                <a:solidFill>
                  <a:srgbClr val="333333"/>
                </a:solidFill>
              </a:rPr>
              <a:t>(</a:t>
            </a:r>
            <a:r>
              <a:rPr lang="en-GB" sz="2000" b="1" dirty="0" err="1">
                <a:solidFill>
                  <a:srgbClr val="333333"/>
                </a:solidFill>
              </a:rPr>
              <a:t>aq</a:t>
            </a:r>
            <a:r>
              <a:rPr lang="en-GB" sz="2000" b="1" dirty="0">
                <a:solidFill>
                  <a:srgbClr val="333333"/>
                </a:solidFill>
              </a:rPr>
              <a:t>)    +       2NaOH(</a:t>
            </a:r>
            <a:r>
              <a:rPr lang="en-GB" sz="2000" b="1" dirty="0" err="1">
                <a:solidFill>
                  <a:srgbClr val="333333"/>
                </a:solidFill>
              </a:rPr>
              <a:t>aq</a:t>
            </a:r>
            <a:r>
              <a:rPr lang="en-GB" sz="2000" b="1" dirty="0">
                <a:solidFill>
                  <a:srgbClr val="333333"/>
                </a:solidFill>
              </a:rPr>
              <a:t>)       →     Na</a:t>
            </a:r>
            <a:r>
              <a:rPr lang="en-GB" sz="2000" b="1" baseline="-25000" dirty="0">
                <a:solidFill>
                  <a:srgbClr val="333333"/>
                </a:solidFill>
              </a:rPr>
              <a:t>2</a:t>
            </a:r>
            <a:r>
              <a:rPr lang="en-GB" sz="2000" b="1" dirty="0">
                <a:solidFill>
                  <a:srgbClr val="333333"/>
                </a:solidFill>
              </a:rPr>
              <a:t>SO</a:t>
            </a:r>
            <a:r>
              <a:rPr lang="en-GB" sz="2000" b="1" baseline="-25000" dirty="0">
                <a:solidFill>
                  <a:srgbClr val="333333"/>
                </a:solidFill>
              </a:rPr>
              <a:t>4</a:t>
            </a:r>
            <a:r>
              <a:rPr lang="en-GB" sz="2000" b="1" dirty="0">
                <a:solidFill>
                  <a:srgbClr val="333333"/>
                </a:solidFill>
              </a:rPr>
              <a:t>(</a:t>
            </a:r>
            <a:r>
              <a:rPr lang="en-GB" sz="2000" b="1" dirty="0" err="1">
                <a:solidFill>
                  <a:srgbClr val="333333"/>
                </a:solidFill>
              </a:rPr>
              <a:t>aq</a:t>
            </a:r>
            <a:r>
              <a:rPr lang="en-GB" sz="2000" b="1" dirty="0">
                <a:solidFill>
                  <a:srgbClr val="333333"/>
                </a:solidFill>
              </a:rPr>
              <a:t>)   +       Cu(OH)</a:t>
            </a:r>
            <a:r>
              <a:rPr lang="en-GB" sz="2000" b="1" baseline="-25000" dirty="0">
                <a:solidFill>
                  <a:srgbClr val="333333"/>
                </a:solidFill>
              </a:rPr>
              <a:t>2</a:t>
            </a:r>
            <a:r>
              <a:rPr lang="en-GB" sz="2000" b="1" dirty="0">
                <a:solidFill>
                  <a:srgbClr val="333333"/>
                </a:solidFill>
              </a:rPr>
              <a:t>(s)</a:t>
            </a:r>
          </a:p>
          <a:p>
            <a:endParaRPr lang="en-GB" sz="2000" dirty="0">
              <a:solidFill>
                <a:srgbClr val="333333"/>
              </a:solidFill>
            </a:endParaRPr>
          </a:p>
          <a:p>
            <a:r>
              <a:rPr lang="en-GB" sz="2000" dirty="0">
                <a:solidFill>
                  <a:srgbClr val="333333"/>
                </a:solidFill>
              </a:rPr>
              <a:t>You can tell that the copper hydroxide forms a solid (the precipitate) because its state symbol is (s) for solid, rather than (</a:t>
            </a:r>
            <a:r>
              <a:rPr lang="en-GB" sz="2000" dirty="0" err="1">
                <a:solidFill>
                  <a:srgbClr val="333333"/>
                </a:solidFill>
              </a:rPr>
              <a:t>aq</a:t>
            </a:r>
            <a:r>
              <a:rPr lang="en-GB" sz="2000" dirty="0">
                <a:solidFill>
                  <a:srgbClr val="333333"/>
                </a:solidFill>
              </a:rPr>
              <a:t>) for aqueous (dissolved in water</a:t>
            </a:r>
            <a:r>
              <a:rPr lang="en-GB" sz="2000" dirty="0" smtClean="0">
                <a:solidFill>
                  <a:srgbClr val="333333"/>
                </a:solidFill>
              </a:rPr>
              <a:t>).</a:t>
            </a:r>
            <a:endParaRPr lang="en-GB" dirty="0">
              <a:solidFill>
                <a:srgbClr val="333333"/>
              </a:solidFill>
            </a:endParaRPr>
          </a:p>
          <a:p>
            <a:endParaRPr lang="en-GB" sz="500" dirty="0">
              <a:solidFill>
                <a:srgbClr val="333333"/>
              </a:solidFill>
            </a:endParaRPr>
          </a:p>
          <a:p>
            <a:endParaRPr lang="en-GB" sz="2000" dirty="0" smtClean="0">
              <a:solidFill>
                <a:srgbClr val="333333"/>
              </a:solidFill>
            </a:endParaRPr>
          </a:p>
          <a:p>
            <a:endParaRPr lang="en-GB" sz="2000" dirty="0" smtClean="0">
              <a:solidFill>
                <a:srgbClr val="333333"/>
              </a:solidFill>
            </a:endParaRPr>
          </a:p>
          <a:p>
            <a:r>
              <a:rPr lang="en-GB" sz="2000" dirty="0" smtClean="0">
                <a:solidFill>
                  <a:srgbClr val="333333"/>
                </a:solidFill>
              </a:rPr>
              <a:t>The </a:t>
            </a:r>
            <a:r>
              <a:rPr lang="en-GB" sz="2000" dirty="0">
                <a:solidFill>
                  <a:srgbClr val="333333"/>
                </a:solidFill>
              </a:rPr>
              <a:t>reaction can also be shown by an </a:t>
            </a:r>
            <a:r>
              <a:rPr lang="en-GB" sz="2000" b="1" dirty="0">
                <a:solidFill>
                  <a:srgbClr val="333333"/>
                </a:solidFill>
              </a:rPr>
              <a:t>ionic equation</a:t>
            </a:r>
            <a:r>
              <a:rPr lang="en-GB" sz="2000" dirty="0" smtClean="0">
                <a:solidFill>
                  <a:srgbClr val="333333"/>
                </a:solidFill>
              </a:rPr>
              <a:t>:</a:t>
            </a:r>
            <a:endParaRPr lang="en-GB" sz="2000" dirty="0">
              <a:solidFill>
                <a:srgbClr val="333333"/>
              </a:solidFill>
            </a:endParaRPr>
          </a:p>
          <a:p>
            <a:pPr algn="ctr"/>
            <a:r>
              <a:rPr lang="en-GB" sz="2000" b="1" dirty="0">
                <a:solidFill>
                  <a:srgbClr val="333333"/>
                </a:solidFill>
              </a:rPr>
              <a:t>Cu</a:t>
            </a:r>
            <a:r>
              <a:rPr lang="en-GB" sz="2000" b="1" baseline="30000" dirty="0">
                <a:solidFill>
                  <a:srgbClr val="333333"/>
                </a:solidFill>
              </a:rPr>
              <a:t>2+</a:t>
            </a:r>
            <a:r>
              <a:rPr lang="en-GB" sz="2000" b="1" dirty="0">
                <a:solidFill>
                  <a:srgbClr val="333333"/>
                </a:solidFill>
              </a:rPr>
              <a:t>(</a:t>
            </a:r>
            <a:r>
              <a:rPr lang="en-GB" sz="2000" b="1" dirty="0" err="1">
                <a:solidFill>
                  <a:srgbClr val="333333"/>
                </a:solidFill>
              </a:rPr>
              <a:t>aq</a:t>
            </a:r>
            <a:r>
              <a:rPr lang="en-GB" sz="2000" b="1" dirty="0">
                <a:solidFill>
                  <a:srgbClr val="333333"/>
                </a:solidFill>
              </a:rPr>
              <a:t>) + 2OH</a:t>
            </a:r>
            <a:r>
              <a:rPr lang="en-GB" sz="2000" b="1" baseline="30000" dirty="0">
                <a:solidFill>
                  <a:srgbClr val="333333"/>
                </a:solidFill>
              </a:rPr>
              <a:t>–</a:t>
            </a:r>
            <a:r>
              <a:rPr lang="en-GB" sz="2000" b="1" dirty="0">
                <a:solidFill>
                  <a:srgbClr val="333333"/>
                </a:solidFill>
              </a:rPr>
              <a:t>(</a:t>
            </a:r>
            <a:r>
              <a:rPr lang="en-GB" sz="2000" b="1" dirty="0" err="1">
                <a:solidFill>
                  <a:srgbClr val="333333"/>
                </a:solidFill>
              </a:rPr>
              <a:t>aq</a:t>
            </a:r>
            <a:r>
              <a:rPr lang="en-GB" sz="2000" b="1" dirty="0">
                <a:solidFill>
                  <a:srgbClr val="333333"/>
                </a:solidFill>
              </a:rPr>
              <a:t>) → Cu(OH)</a:t>
            </a:r>
            <a:r>
              <a:rPr lang="en-GB" sz="2000" b="1" baseline="-25000" dirty="0">
                <a:solidFill>
                  <a:srgbClr val="333333"/>
                </a:solidFill>
              </a:rPr>
              <a:t>2</a:t>
            </a:r>
            <a:r>
              <a:rPr lang="en-GB" sz="2000" b="1" dirty="0">
                <a:solidFill>
                  <a:srgbClr val="333333"/>
                </a:solidFill>
              </a:rPr>
              <a:t>(s)</a:t>
            </a:r>
            <a:endParaRPr lang="en-GB" sz="2000" b="1" i="0" dirty="0">
              <a:solidFill>
                <a:srgbClr val="333333"/>
              </a:solidFill>
            </a:endParaRPr>
          </a:p>
        </p:txBody>
      </p:sp>
      <p:sp>
        <p:nvSpPr>
          <p:cNvPr id="10" name="Rectangle 9"/>
          <p:cNvSpPr/>
          <p:nvPr/>
        </p:nvSpPr>
        <p:spPr>
          <a:xfrm>
            <a:off x="164299" y="4941168"/>
            <a:ext cx="8884976" cy="400110"/>
          </a:xfrm>
          <a:prstGeom prst="rect">
            <a:avLst/>
          </a:prstGeom>
          <a:solidFill>
            <a:schemeClr val="bg1"/>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HT only – write balanced half equations and ionic equations</a:t>
            </a:r>
          </a:p>
        </p:txBody>
      </p:sp>
      <p:sp>
        <p:nvSpPr>
          <p:cNvPr id="11" name="TextBox 10"/>
          <p:cNvSpPr txBox="1"/>
          <p:nvPr/>
        </p:nvSpPr>
        <p:spPr>
          <a:xfrm>
            <a:off x="179511" y="2168593"/>
            <a:ext cx="8884976" cy="707886"/>
          </a:xfrm>
          <a:prstGeom prst="rect">
            <a:avLst/>
          </a:prstGeom>
          <a:solidFill>
            <a:schemeClr val="bg1"/>
          </a:solidFill>
          <a:ln>
            <a:solidFill>
              <a:schemeClr val="accent6"/>
            </a:solidFill>
          </a:ln>
          <a:effectLst/>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GB" b="1" dirty="0"/>
              <a:t> </a:t>
            </a:r>
            <a:r>
              <a:rPr lang="en-GB" sz="2000" b="1" dirty="0">
                <a:solidFill>
                  <a:schemeClr val="accent6"/>
                </a:solidFill>
              </a:rPr>
              <a:t>Word equation:</a:t>
            </a:r>
            <a:r>
              <a:rPr lang="en-GB" sz="2000" b="1" dirty="0"/>
              <a:t>	</a:t>
            </a:r>
            <a:r>
              <a:rPr lang="en-GB" sz="2000" b="1" dirty="0" smtClean="0"/>
              <a:t>	sodium </a:t>
            </a:r>
            <a:r>
              <a:rPr lang="en-GB" sz="2000" b="1" dirty="0"/>
              <a:t>+  water   </a:t>
            </a:r>
            <a:r>
              <a:rPr lang="en-GB" sz="2000" b="1" dirty="0">
                <a:sym typeface="Wingdings" panose="05000000000000000000" pitchFamily="2" charset="2"/>
              </a:rPr>
              <a:t>   sodium hydroxide + hydrogen</a:t>
            </a:r>
            <a:endParaRPr lang="en-GB" sz="2000" b="1" dirty="0"/>
          </a:p>
          <a:p>
            <a:r>
              <a:rPr lang="en-GB" sz="2000" b="1" dirty="0">
                <a:solidFill>
                  <a:schemeClr val="accent6"/>
                </a:solidFill>
              </a:rPr>
              <a:t>Symbol equation:</a:t>
            </a:r>
            <a:r>
              <a:rPr lang="en-GB" sz="2000" b="1" dirty="0"/>
              <a:t>	    </a:t>
            </a:r>
            <a:r>
              <a:rPr lang="pt-BR" sz="2000" b="1" dirty="0" smtClean="0"/>
              <a:t>2Na</a:t>
            </a:r>
            <a:r>
              <a:rPr lang="pt-BR" sz="2000" b="1" dirty="0" smtClean="0">
                <a:solidFill>
                  <a:schemeClr val="accent6"/>
                </a:solidFill>
              </a:rPr>
              <a:t>(s</a:t>
            </a:r>
            <a:r>
              <a:rPr lang="pt-BR" sz="2000" b="1" dirty="0">
                <a:solidFill>
                  <a:schemeClr val="accent6"/>
                </a:solidFill>
              </a:rPr>
              <a:t>) </a:t>
            </a:r>
            <a:r>
              <a:rPr lang="pt-BR" sz="2000" b="1" dirty="0"/>
              <a:t>+  2H</a:t>
            </a:r>
            <a:r>
              <a:rPr lang="pt-BR" sz="2000" b="1" baseline="-25000" dirty="0"/>
              <a:t>2</a:t>
            </a:r>
            <a:r>
              <a:rPr lang="pt-BR" sz="2000" b="1" dirty="0"/>
              <a:t>O</a:t>
            </a:r>
            <a:r>
              <a:rPr lang="pt-BR" sz="2000" b="1" dirty="0">
                <a:solidFill>
                  <a:schemeClr val="accent6"/>
                </a:solidFill>
              </a:rPr>
              <a:t>(l) </a:t>
            </a:r>
            <a:r>
              <a:rPr lang="pt-BR" sz="2000" b="1" dirty="0"/>
              <a:t>→          2NaOH</a:t>
            </a:r>
            <a:r>
              <a:rPr lang="pt-BR" sz="2000" b="1" dirty="0">
                <a:solidFill>
                  <a:schemeClr val="accent6"/>
                </a:solidFill>
              </a:rPr>
              <a:t>(aq)     </a:t>
            </a:r>
            <a:r>
              <a:rPr lang="pt-BR" sz="2000" b="1" dirty="0"/>
              <a:t>+     H</a:t>
            </a:r>
            <a:r>
              <a:rPr lang="pt-BR" sz="2000" b="1" baseline="-25000" dirty="0"/>
              <a:t>2</a:t>
            </a:r>
            <a:r>
              <a:rPr lang="pt-BR" sz="2000" b="1" dirty="0">
                <a:solidFill>
                  <a:schemeClr val="accent6"/>
                </a:solidFill>
              </a:rPr>
              <a:t>(g)</a:t>
            </a:r>
            <a:endParaRPr lang="en-GB" sz="2000" b="1" dirty="0">
              <a:solidFill>
                <a:schemeClr val="accent6"/>
              </a:solidFill>
            </a:endParaRPr>
          </a:p>
        </p:txBody>
      </p:sp>
      <p:sp>
        <p:nvSpPr>
          <p:cNvPr id="12" name="Rectangle 11"/>
          <p:cNvSpPr/>
          <p:nvPr/>
        </p:nvSpPr>
        <p:spPr>
          <a:xfrm>
            <a:off x="179511" y="768926"/>
            <a:ext cx="4826215" cy="1323439"/>
          </a:xfrm>
          <a:prstGeom prst="rect">
            <a:avLst/>
          </a:prstGeom>
          <a:solidFill>
            <a:schemeClr val="accent6">
              <a:lumMod val="20000"/>
              <a:lumOff val="80000"/>
            </a:schemeClr>
          </a:solidFill>
          <a:ln>
            <a:solidFill>
              <a:schemeClr val="accent6"/>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2000" dirty="0"/>
              <a:t>We can add </a:t>
            </a:r>
            <a:r>
              <a:rPr lang="en-GB" sz="2000" b="1" dirty="0"/>
              <a:t>state symbols</a:t>
            </a:r>
            <a:r>
              <a:rPr lang="en-GB" sz="2000" dirty="0"/>
              <a:t> to a symbol equation to show whether the reactants and products in a chemical reaction are solids, gases, liquids or dissolved in water. </a:t>
            </a:r>
            <a:endParaRPr lang="en-GB" sz="2000" dirty="0">
              <a:cs typeface="Arial" pitchFamily="34" charset="0"/>
            </a:endParaRPr>
          </a:p>
        </p:txBody>
      </p:sp>
      <p:sp>
        <p:nvSpPr>
          <p:cNvPr id="13" name="Rectangle 12"/>
          <p:cNvSpPr/>
          <p:nvPr/>
        </p:nvSpPr>
        <p:spPr>
          <a:xfrm>
            <a:off x="5051362" y="768925"/>
            <a:ext cx="4028337" cy="1323439"/>
          </a:xfrm>
          <a:prstGeom prst="rect">
            <a:avLst/>
          </a:prstGeom>
          <a:solidFill>
            <a:schemeClr val="bg1"/>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dirty="0">
                <a:cs typeface="Arial" pitchFamily="34" charset="0"/>
              </a:rPr>
              <a:t>Solid =</a:t>
            </a:r>
            <a:r>
              <a:rPr lang="en-GB" sz="2000" b="1" dirty="0">
                <a:solidFill>
                  <a:schemeClr val="accent6"/>
                </a:solidFill>
                <a:cs typeface="Arial" pitchFamily="34" charset="0"/>
              </a:rPr>
              <a:t> s</a:t>
            </a:r>
          </a:p>
          <a:p>
            <a:pPr algn="ctr"/>
            <a:r>
              <a:rPr lang="en-GB" sz="2000" b="1" dirty="0">
                <a:cs typeface="Arial" pitchFamily="34" charset="0"/>
              </a:rPr>
              <a:t>Liquid = </a:t>
            </a:r>
            <a:r>
              <a:rPr lang="en-GB" sz="2000" b="1" dirty="0">
                <a:solidFill>
                  <a:schemeClr val="accent6"/>
                </a:solidFill>
                <a:cs typeface="Arial" pitchFamily="34" charset="0"/>
              </a:rPr>
              <a:t>l</a:t>
            </a:r>
          </a:p>
          <a:p>
            <a:pPr algn="ctr"/>
            <a:r>
              <a:rPr lang="en-GB" sz="2000" b="1" dirty="0">
                <a:cs typeface="Arial" pitchFamily="34" charset="0"/>
              </a:rPr>
              <a:t>Gas = </a:t>
            </a:r>
            <a:r>
              <a:rPr lang="en-GB" sz="2000" b="1" dirty="0">
                <a:solidFill>
                  <a:schemeClr val="accent6"/>
                </a:solidFill>
                <a:cs typeface="Arial" pitchFamily="34" charset="0"/>
              </a:rPr>
              <a:t>g</a:t>
            </a:r>
          </a:p>
          <a:p>
            <a:pPr algn="ctr"/>
            <a:r>
              <a:rPr lang="en-GB" sz="2000" b="1" dirty="0">
                <a:cs typeface="Arial" pitchFamily="34" charset="0"/>
              </a:rPr>
              <a:t>Aqueous (dissolved in water) = </a:t>
            </a:r>
            <a:r>
              <a:rPr lang="en-GB" sz="2000" b="1" dirty="0" err="1">
                <a:solidFill>
                  <a:schemeClr val="accent6"/>
                </a:solidFill>
                <a:cs typeface="Arial" pitchFamily="34" charset="0"/>
              </a:rPr>
              <a:t>aq</a:t>
            </a:r>
            <a:endParaRPr lang="en-GB" sz="2000" b="1" dirty="0">
              <a:solidFill>
                <a:schemeClr val="accent6"/>
              </a:solidFill>
              <a:cs typeface="Arial" pitchFamily="34" charset="0"/>
            </a:endParaRPr>
          </a:p>
        </p:txBody>
      </p:sp>
    </p:spTree>
    <p:extLst>
      <p:ext uri="{BB962C8B-B14F-4D97-AF65-F5344CB8AC3E}">
        <p14:creationId xmlns:p14="http://schemas.microsoft.com/office/powerpoint/2010/main" val="23222883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509200"/>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 mixtures </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Atoms, elements and compounds</a:t>
            </a:r>
          </a:p>
          <a:p>
            <a:pPr marL="685800" lvl="1" indent="-342900">
              <a:buFont typeface="Arial" charset="0"/>
              <a:buChar char="•"/>
            </a:pPr>
            <a:r>
              <a:rPr lang="en-US" sz="2400" b="1" dirty="0">
                <a:solidFill>
                  <a:schemeClr val="bg1">
                    <a:lumMod val="50000"/>
                  </a:schemeClr>
                </a:solidFill>
              </a:rPr>
              <a:t>Word and symbol equations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4263445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770537"/>
          </a:xfrm>
          <a:prstGeom prst="rect">
            <a:avLst/>
          </a:prstGeom>
          <a:noFill/>
        </p:spPr>
        <p:txBody>
          <a:bodyPr wrap="square" rtlCol="0">
            <a:spAutoFit/>
          </a:bodyPr>
          <a:lstStyle/>
          <a:p>
            <a:pPr marL="457200" indent="-457200">
              <a:buAutoNum type="arabicPeriod"/>
            </a:pPr>
            <a:r>
              <a:rPr lang="en-GB" sz="2400" dirty="0" smtClean="0"/>
              <a:t>Around how many </a:t>
            </a:r>
            <a:r>
              <a:rPr lang="en-GB" sz="2400" dirty="0"/>
              <a:t>different types of </a:t>
            </a:r>
            <a:r>
              <a:rPr lang="en-GB" sz="2400" dirty="0" smtClean="0"/>
              <a:t>element are there in the periodic table?</a:t>
            </a:r>
            <a:endParaRPr lang="en-GB" sz="2400" dirty="0"/>
          </a:p>
          <a:p>
            <a:pPr marL="457200" indent="-457200">
              <a:buAutoNum type="arabicPeriod"/>
            </a:pPr>
            <a:endParaRPr lang="en-GB" sz="2400" dirty="0"/>
          </a:p>
          <a:p>
            <a:pPr marL="457200" indent="-457200">
              <a:buFont typeface="+mj-lt"/>
              <a:buAutoNum type="arabicPeriod" startAt="2"/>
            </a:pPr>
            <a:r>
              <a:rPr lang="en-GB" sz="2400" dirty="0"/>
              <a:t>What does it mean if a compound ends in –ide?</a:t>
            </a:r>
          </a:p>
          <a:p>
            <a:endParaRPr lang="en-GB" sz="2400" dirty="0"/>
          </a:p>
          <a:p>
            <a:pPr marL="457200" indent="-457200">
              <a:buFont typeface="+mj-lt"/>
              <a:buAutoNum type="arabicPeriod" startAt="3"/>
            </a:pPr>
            <a:r>
              <a:rPr lang="en-GB" sz="2400" dirty="0"/>
              <a:t>What does it mean if a compound ends in –ate</a:t>
            </a:r>
            <a:r>
              <a:rPr lang="en-GB" sz="2400" dirty="0" smtClean="0"/>
              <a:t>?</a:t>
            </a:r>
          </a:p>
          <a:p>
            <a:pPr marL="457200" indent="-457200">
              <a:buFont typeface="+mj-lt"/>
              <a:buAutoNum type="arabicPeriod" startAt="3"/>
            </a:pPr>
            <a:endParaRPr lang="en-GB" sz="2400" dirty="0"/>
          </a:p>
          <a:p>
            <a:pPr marL="457200" indent="-457200">
              <a:buFont typeface="+mj-lt"/>
              <a:buAutoNum type="arabicPeriod" startAt="3"/>
            </a:pPr>
            <a:r>
              <a:rPr lang="en-GB" sz="2400" dirty="0"/>
              <a:t>What does a chemical reaction involve</a:t>
            </a:r>
            <a:r>
              <a:rPr lang="en-GB" sz="2400" dirty="0" smtClean="0"/>
              <a:t>?</a:t>
            </a:r>
          </a:p>
          <a:p>
            <a:pPr marL="457200" indent="-457200">
              <a:buFont typeface="+mj-lt"/>
              <a:buAutoNum type="arabicPeriod" startAt="3"/>
            </a:pPr>
            <a:endParaRPr lang="en-GB" sz="2400" dirty="0"/>
          </a:p>
          <a:p>
            <a:pPr marL="457200" indent="-457200">
              <a:buFont typeface="+mj-lt"/>
              <a:buAutoNum type="arabicPeriod" startAt="3"/>
            </a:pPr>
            <a:r>
              <a:rPr lang="en-GB" sz="2400" dirty="0"/>
              <a:t>Name the following substances:</a:t>
            </a:r>
          </a:p>
          <a:p>
            <a:pPr marL="914400" lvl="1" indent="-457200">
              <a:buFont typeface="Arial" panose="020B0604020202020204" pitchFamily="34" charset="0"/>
              <a:buChar char="•"/>
            </a:pPr>
            <a:r>
              <a:rPr lang="en-GB" sz="2400" dirty="0"/>
              <a:t>NaCl</a:t>
            </a:r>
          </a:p>
          <a:p>
            <a:pPr marL="914400" lvl="1" indent="-457200">
              <a:buFont typeface="Arial" panose="020B0604020202020204" pitchFamily="34" charset="0"/>
              <a:buChar char="•"/>
            </a:pPr>
            <a:r>
              <a:rPr lang="en-GB" sz="2400" dirty="0" smtClean="0"/>
              <a:t>NaSO</a:t>
            </a:r>
            <a:r>
              <a:rPr lang="en-GB" sz="2400" baseline="-25000" dirty="0" smtClean="0"/>
              <a:t>4</a:t>
            </a: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8148069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16703"/>
          </a:xfrm>
          <a:prstGeom prst="rect">
            <a:avLst/>
          </a:prstGeom>
          <a:noFill/>
        </p:spPr>
        <p:txBody>
          <a:bodyPr wrap="square" rtlCol="0">
            <a:spAutoFit/>
          </a:bodyPr>
          <a:lstStyle/>
          <a:p>
            <a:pPr marL="457200" indent="-457200">
              <a:lnSpc>
                <a:spcPct val="150000"/>
              </a:lnSpc>
              <a:buFont typeface="+mj-lt"/>
              <a:buAutoNum type="arabicPeriod" startAt="6"/>
            </a:pPr>
            <a:r>
              <a:rPr lang="en-GB" sz="2400" dirty="0" smtClean="0"/>
              <a:t>Why </a:t>
            </a:r>
            <a:r>
              <a:rPr lang="en-GB" sz="2400" dirty="0"/>
              <a:t>is it useful to have symbols for atoms of different elements</a:t>
            </a:r>
            <a:r>
              <a:rPr lang="en-GB" sz="2400" dirty="0" smtClean="0"/>
              <a:t>?</a:t>
            </a:r>
          </a:p>
          <a:p>
            <a:pPr>
              <a:lnSpc>
                <a:spcPct val="150000"/>
              </a:lnSpc>
            </a:pPr>
            <a:endParaRPr lang="en-GB" sz="2400" dirty="0"/>
          </a:p>
          <a:p>
            <a:pPr marL="457200" indent="-457200">
              <a:lnSpc>
                <a:spcPct val="150000"/>
              </a:lnSpc>
              <a:buFont typeface="+mj-lt"/>
              <a:buAutoNum type="arabicPeriod" startAt="7"/>
            </a:pPr>
            <a:r>
              <a:rPr lang="en-GB" sz="2400" dirty="0"/>
              <a:t>What is the difference between an element and a compound?</a:t>
            </a:r>
          </a:p>
          <a:p>
            <a:pPr marL="457200" indent="-457200">
              <a:lnSpc>
                <a:spcPct val="150000"/>
              </a:lnSpc>
              <a:buAutoNum type="arabicPeriod" startAt="7"/>
            </a:pPr>
            <a:endParaRPr lang="en-GB" sz="2400" dirty="0"/>
          </a:p>
          <a:p>
            <a:pPr marL="457200" indent="-457200">
              <a:lnSpc>
                <a:spcPct val="150000"/>
              </a:lnSpc>
              <a:buAutoNum type="arabicPeriod" startAt="7"/>
            </a:pPr>
            <a:endParaRPr lang="en-GB" sz="2400" dirty="0"/>
          </a:p>
          <a:p>
            <a:pPr marL="457200" indent="-457200">
              <a:buAutoNum type="arabicPeriod" startAt="7"/>
            </a:pPr>
            <a:r>
              <a:rPr lang="en-GB" sz="2400" dirty="0"/>
              <a:t>Explain why it is difficult to separate a compound, compared to an </a:t>
            </a:r>
            <a:r>
              <a:rPr lang="en-GB" sz="2400" dirty="0" smtClean="0"/>
              <a:t>element.</a:t>
            </a:r>
            <a:endParaRPr lang="en-GB" sz="2400" dirty="0"/>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6111945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478697"/>
          </a:xfrm>
          <a:prstGeom prst="rect">
            <a:avLst/>
          </a:prstGeom>
          <a:noFill/>
        </p:spPr>
        <p:txBody>
          <a:bodyPr wrap="square" rtlCol="0">
            <a:spAutoFit/>
          </a:bodyPr>
          <a:lstStyle/>
          <a:p>
            <a:pPr marL="457200" indent="-457200">
              <a:buFont typeface="+mj-lt"/>
              <a:buAutoNum type="arabicPeriod" startAt="9"/>
            </a:pPr>
            <a:r>
              <a:rPr lang="en-GB" sz="2400" dirty="0"/>
              <a:t>Solid sodium reacts with water to form a sodium hydroxide (NaOH) solution and hydrogen </a:t>
            </a:r>
            <a:r>
              <a:rPr lang="en-GB" sz="2400" dirty="0" smtClean="0"/>
              <a:t>gas.</a:t>
            </a:r>
            <a:endParaRPr lang="en-GB" sz="2400" dirty="0"/>
          </a:p>
          <a:p>
            <a:endParaRPr lang="en-GB" sz="2400" dirty="0"/>
          </a:p>
          <a:p>
            <a:r>
              <a:rPr lang="en-GB" sz="2400" dirty="0"/>
              <a:t>	a) Write a word equation to represent this </a:t>
            </a:r>
            <a:r>
              <a:rPr lang="en-GB" sz="2400" dirty="0" smtClean="0"/>
              <a:t>reaction.</a:t>
            </a:r>
            <a:endParaRPr lang="en-GB" sz="2400" dirty="0"/>
          </a:p>
          <a:p>
            <a:endParaRPr lang="en-GB" sz="2400" dirty="0"/>
          </a:p>
          <a:p>
            <a:r>
              <a:rPr lang="en-GB" sz="2400" dirty="0"/>
              <a:t>	b) Give the balance symbol equation for the </a:t>
            </a:r>
            <a:r>
              <a:rPr lang="en-GB" sz="2400" dirty="0" smtClean="0"/>
              <a:t>reaction.</a:t>
            </a:r>
            <a:endParaRPr lang="en-GB" sz="2400" dirty="0"/>
          </a:p>
          <a:p>
            <a:endParaRPr lang="en-GB" sz="2400" dirty="0"/>
          </a:p>
          <a:p>
            <a:r>
              <a:rPr lang="en-GB" sz="2400" b="1" dirty="0"/>
              <a:t>HT only:</a:t>
            </a:r>
          </a:p>
          <a:p>
            <a:pPr marL="457200" indent="-457200">
              <a:buFont typeface="+mj-lt"/>
              <a:buAutoNum type="arabicPeriod" startAt="10"/>
            </a:pPr>
            <a:r>
              <a:rPr lang="en-GB" sz="2400" dirty="0"/>
              <a:t>When magnesium reacts with sulfuric acid, the hydrogen ions in the acid will be displaced from the solution by magnesium.</a:t>
            </a:r>
          </a:p>
          <a:p>
            <a:pPr marL="457200" indent="-457200">
              <a:buFont typeface="+mj-lt"/>
              <a:buAutoNum type="arabicPeriod" startAt="10"/>
            </a:pPr>
            <a:endParaRPr lang="en-GB" sz="2400" dirty="0"/>
          </a:p>
          <a:p>
            <a:r>
              <a:rPr lang="en-GB" sz="2400" dirty="0"/>
              <a:t>       Balance the following ionic </a:t>
            </a:r>
            <a:r>
              <a:rPr lang="en-GB" sz="2400" dirty="0" smtClean="0"/>
              <a:t>equation.</a:t>
            </a:r>
            <a:endParaRPr lang="en-GB" sz="2400" dirty="0"/>
          </a:p>
          <a:p>
            <a:endParaRPr lang="en-GB" sz="2400" dirty="0"/>
          </a:p>
          <a:p>
            <a:pPr algn="ctr"/>
            <a:r>
              <a:rPr lang="en-GB" sz="2400" dirty="0"/>
              <a:t>Mg(s)    +    </a:t>
            </a:r>
            <a:r>
              <a:rPr lang="en-GB" sz="2400" dirty="0" smtClean="0"/>
              <a:t>H</a:t>
            </a:r>
            <a:r>
              <a:rPr lang="en-GB" sz="2400" baseline="30000" dirty="0"/>
              <a:t>+</a:t>
            </a:r>
            <a:r>
              <a:rPr lang="en-GB" sz="2400" dirty="0"/>
              <a:t>(</a:t>
            </a:r>
            <a:r>
              <a:rPr lang="en-GB" sz="2400" dirty="0" err="1"/>
              <a:t>aq</a:t>
            </a:r>
            <a:r>
              <a:rPr lang="en-GB" sz="2400" dirty="0"/>
              <a:t>)    </a:t>
            </a:r>
            <a:r>
              <a:rPr lang="en-GB" sz="2400" dirty="0">
                <a:sym typeface="Wingdings" panose="05000000000000000000" pitchFamily="2" charset="2"/>
              </a:rPr>
              <a:t>    Mg</a:t>
            </a:r>
            <a:r>
              <a:rPr lang="en-GB" sz="2400" baseline="30000" dirty="0">
                <a:sym typeface="Wingdings" panose="05000000000000000000" pitchFamily="2" charset="2"/>
              </a:rPr>
              <a:t>2+</a:t>
            </a:r>
            <a:r>
              <a:rPr lang="en-GB" sz="2400" dirty="0">
                <a:sym typeface="Wingdings" panose="05000000000000000000" pitchFamily="2" charset="2"/>
              </a:rPr>
              <a:t>(</a:t>
            </a:r>
            <a:r>
              <a:rPr lang="en-GB" sz="2400" dirty="0" err="1">
                <a:sym typeface="Wingdings" panose="05000000000000000000" pitchFamily="2" charset="2"/>
              </a:rPr>
              <a:t>aq</a:t>
            </a:r>
            <a:r>
              <a:rPr lang="en-GB" sz="2400" dirty="0">
                <a:sym typeface="Wingdings" panose="05000000000000000000" pitchFamily="2" charset="2"/>
              </a:rPr>
              <a:t>)     +    H</a:t>
            </a:r>
            <a:r>
              <a:rPr lang="en-GB" sz="2400" baseline="-25000" dirty="0">
                <a:sym typeface="Wingdings" panose="05000000000000000000" pitchFamily="2" charset="2"/>
              </a:rPr>
              <a:t>2</a:t>
            </a:r>
            <a:r>
              <a:rPr lang="en-GB" sz="2400" dirty="0">
                <a:sym typeface="Wingdings" panose="05000000000000000000" pitchFamily="2" charset="2"/>
              </a:rPr>
              <a:t>(g)</a:t>
            </a:r>
            <a:endParaRPr lang="en-GB" sz="2400" dirty="0"/>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3890284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464" y="62068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940152" cy="541686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 </a:t>
            </a:r>
          </a:p>
          <a:p>
            <a:r>
              <a:rPr lang="en-GB" sz="3600" b="1" dirty="0">
                <a:solidFill>
                  <a:schemeClr val="tx1">
                    <a:lumMod val="50000"/>
                    <a:lumOff val="50000"/>
                  </a:schemeClr>
                </a:solidFill>
              </a:rPr>
              <a:t>mixtures </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Atoms, elements and compounds</a:t>
            </a:r>
          </a:p>
          <a:p>
            <a:pPr marL="685800" lvl="1" indent="-342900">
              <a:buFont typeface="Arial" charset="0"/>
              <a:buChar char="•"/>
            </a:pPr>
            <a:r>
              <a:rPr lang="en-US" sz="2400" b="1" dirty="0">
                <a:solidFill>
                  <a:schemeClr val="bg1">
                    <a:lumMod val="50000"/>
                  </a:schemeClr>
                </a:solidFill>
              </a:rPr>
              <a:t>Word and symbol equations</a:t>
            </a:r>
            <a:endParaRPr lang="en-GB" dirty="0"/>
          </a:p>
        </p:txBody>
      </p:sp>
    </p:spTree>
    <p:extLst>
      <p:ext uri="{BB962C8B-B14F-4D97-AF65-F5344CB8AC3E}">
        <p14:creationId xmlns:p14="http://schemas.microsoft.com/office/powerpoint/2010/main" val="15353065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915400" cy="5139869"/>
          </a:xfrm>
          <a:prstGeom prst="rect">
            <a:avLst/>
          </a:prstGeom>
          <a:noFill/>
        </p:spPr>
        <p:txBody>
          <a:bodyPr wrap="square" rtlCol="0">
            <a:spAutoFit/>
          </a:bodyPr>
          <a:lstStyle/>
          <a:p>
            <a:pPr marL="457200" indent="-457200">
              <a:buAutoNum type="arabicPeriod"/>
            </a:pPr>
            <a:r>
              <a:rPr lang="en-GB" sz="2400" dirty="0" smtClean="0"/>
              <a:t>Around how many </a:t>
            </a:r>
            <a:r>
              <a:rPr lang="en-GB" sz="2400" dirty="0"/>
              <a:t>different types of </a:t>
            </a:r>
            <a:r>
              <a:rPr lang="en-GB" sz="2400" dirty="0" smtClean="0"/>
              <a:t>elements are there in the periodic table?</a:t>
            </a:r>
            <a:endParaRPr lang="en-GB" sz="2400" dirty="0"/>
          </a:p>
          <a:p>
            <a:r>
              <a:rPr lang="en-GB" sz="2400" b="1" dirty="0">
                <a:solidFill>
                  <a:srgbClr val="00B050"/>
                </a:solidFill>
              </a:rPr>
              <a:t>       </a:t>
            </a:r>
            <a:r>
              <a:rPr lang="en-GB" sz="2400" b="1" dirty="0" smtClean="0">
                <a:solidFill>
                  <a:srgbClr val="00B050"/>
                </a:solidFill>
              </a:rPr>
              <a:t>1000</a:t>
            </a:r>
            <a:endParaRPr lang="en-GB" sz="2400" b="1" dirty="0">
              <a:solidFill>
                <a:srgbClr val="00B050"/>
              </a:solidFill>
            </a:endParaRPr>
          </a:p>
          <a:p>
            <a:pPr marL="457200" indent="-457200">
              <a:buFont typeface="+mj-lt"/>
              <a:buAutoNum type="arabicPeriod" startAt="2"/>
            </a:pPr>
            <a:r>
              <a:rPr lang="en-GB" sz="2400" dirty="0" smtClean="0"/>
              <a:t>What does it mean if a compound ends in –ide?</a:t>
            </a:r>
          </a:p>
          <a:p>
            <a:r>
              <a:rPr lang="en-GB" sz="2400" b="1" dirty="0">
                <a:solidFill>
                  <a:srgbClr val="00B050"/>
                </a:solidFill>
              </a:rPr>
              <a:t>  </a:t>
            </a:r>
            <a:r>
              <a:rPr lang="en-GB" sz="2400" b="1" dirty="0" smtClean="0">
                <a:solidFill>
                  <a:srgbClr val="00B050"/>
                </a:solidFill>
              </a:rPr>
              <a:t>     Contains 2 elements; usually metal and non-metal.</a:t>
            </a:r>
            <a:endParaRPr lang="en-GB" sz="2400" dirty="0" smtClean="0"/>
          </a:p>
          <a:p>
            <a:pPr marL="457200" indent="-457200">
              <a:buFont typeface="+mj-lt"/>
              <a:buAutoNum type="arabicPeriod" startAt="3"/>
            </a:pPr>
            <a:r>
              <a:rPr lang="en-GB" sz="2400" dirty="0" smtClean="0"/>
              <a:t>What does it mean if a compound ends in –ate?</a:t>
            </a:r>
          </a:p>
          <a:p>
            <a:r>
              <a:rPr lang="en-GB" sz="2400" b="1" dirty="0" smtClean="0">
                <a:solidFill>
                  <a:srgbClr val="00B050"/>
                </a:solidFill>
              </a:rPr>
              <a:t>       Contains 3 or more elements, 1 of which is always oxygen.</a:t>
            </a:r>
            <a:endParaRPr lang="en-GB" sz="2400" dirty="0" smtClean="0"/>
          </a:p>
          <a:p>
            <a:pPr marL="457200" indent="-457200">
              <a:buFont typeface="+mj-lt"/>
              <a:buAutoNum type="arabicPeriod" startAt="4"/>
            </a:pPr>
            <a:r>
              <a:rPr lang="en-GB" sz="2400" dirty="0" smtClean="0"/>
              <a:t>What does a chemical reaction involve?</a:t>
            </a:r>
          </a:p>
          <a:p>
            <a:r>
              <a:rPr lang="en-GB" sz="2400" b="1" dirty="0">
                <a:solidFill>
                  <a:srgbClr val="00B050"/>
                </a:solidFill>
              </a:rPr>
              <a:t> </a:t>
            </a:r>
            <a:r>
              <a:rPr lang="en-GB" sz="2400" b="1" dirty="0" smtClean="0">
                <a:solidFill>
                  <a:srgbClr val="00B050"/>
                </a:solidFill>
              </a:rPr>
              <a:t>      The formation of one or more new substances; usually with an   	energy change.</a:t>
            </a:r>
            <a:endParaRPr lang="en-GB" sz="2400" dirty="0" smtClean="0"/>
          </a:p>
          <a:p>
            <a:pPr marL="457200" indent="-457200">
              <a:buFont typeface="+mj-lt"/>
              <a:buAutoNum type="arabicPeriod" startAt="5"/>
            </a:pPr>
            <a:r>
              <a:rPr lang="en-GB" sz="2400" dirty="0" smtClean="0"/>
              <a:t>Name the following substances:</a:t>
            </a:r>
          </a:p>
          <a:p>
            <a:pPr marL="914400" lvl="1" indent="-457200">
              <a:buFont typeface="Arial" panose="020B0604020202020204" pitchFamily="34" charset="0"/>
              <a:buChar char="•"/>
            </a:pPr>
            <a:r>
              <a:rPr lang="en-GB" sz="2400" dirty="0" smtClean="0"/>
              <a:t>NaCl  </a:t>
            </a:r>
            <a:r>
              <a:rPr lang="en-GB" sz="2400" b="1" dirty="0">
                <a:solidFill>
                  <a:srgbClr val="00B050"/>
                </a:solidFill>
              </a:rPr>
              <a:t> </a:t>
            </a:r>
            <a:r>
              <a:rPr lang="en-GB" sz="2400" b="1" dirty="0" smtClean="0">
                <a:solidFill>
                  <a:srgbClr val="00B050"/>
                </a:solidFill>
              </a:rPr>
              <a:t>Sodium chloride.</a:t>
            </a:r>
            <a:endParaRPr lang="en-GB" sz="2400" dirty="0" smtClean="0"/>
          </a:p>
          <a:p>
            <a:pPr marL="914400" lvl="1" indent="-457200">
              <a:buFont typeface="Arial" panose="020B0604020202020204" pitchFamily="34" charset="0"/>
              <a:buChar char="•"/>
            </a:pPr>
            <a:r>
              <a:rPr lang="en-GB" sz="2400" dirty="0" smtClean="0"/>
              <a:t>NaSO</a:t>
            </a:r>
            <a:r>
              <a:rPr lang="en-GB" sz="2400" baseline="-25000" dirty="0" smtClean="0"/>
              <a:t>4  </a:t>
            </a:r>
            <a:r>
              <a:rPr lang="en-GB" sz="2400" b="1" dirty="0">
                <a:solidFill>
                  <a:srgbClr val="00B050"/>
                </a:solidFill>
              </a:rPr>
              <a:t> </a:t>
            </a:r>
            <a:r>
              <a:rPr lang="en-GB" sz="2400" b="1" dirty="0" smtClean="0">
                <a:solidFill>
                  <a:srgbClr val="00B050"/>
                </a:solidFill>
              </a:rPr>
              <a:t>Sodium </a:t>
            </a:r>
            <a:r>
              <a:rPr lang="en-GB" sz="2400" b="1" dirty="0" err="1" smtClean="0">
                <a:solidFill>
                  <a:srgbClr val="00B050"/>
                </a:solidFill>
              </a:rPr>
              <a:t>sulfate</a:t>
            </a:r>
            <a:r>
              <a:rPr lang="en-GB" sz="2400" b="1" dirty="0" smtClean="0">
                <a:solidFill>
                  <a:srgbClr val="00B050"/>
                </a:solidFill>
              </a:rPr>
              <a:t>.</a:t>
            </a:r>
            <a:endParaRPr lang="en-GB" sz="2400" baseline="-25000" dirty="0" smtClean="0"/>
          </a:p>
          <a:p>
            <a:endParaRPr lang="en-GB" sz="1600" dirty="0"/>
          </a:p>
        </p:txBody>
      </p:sp>
    </p:spTree>
    <p:extLst>
      <p:ext uri="{BB962C8B-B14F-4D97-AF65-F5344CB8AC3E}">
        <p14:creationId xmlns:p14="http://schemas.microsoft.com/office/powerpoint/2010/main" val="27202054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915400" cy="4031873"/>
          </a:xfrm>
          <a:prstGeom prst="rect">
            <a:avLst/>
          </a:prstGeom>
          <a:noFill/>
        </p:spPr>
        <p:txBody>
          <a:bodyPr wrap="square" rtlCol="0">
            <a:spAutoFit/>
          </a:bodyPr>
          <a:lstStyle/>
          <a:p>
            <a:pPr marL="457200" indent="-457200">
              <a:buFont typeface="+mj-lt"/>
              <a:buAutoNum type="arabicPeriod" startAt="6"/>
            </a:pPr>
            <a:r>
              <a:rPr lang="en-GB" sz="2400" dirty="0" smtClean="0"/>
              <a:t>Why </a:t>
            </a:r>
            <a:r>
              <a:rPr lang="en-GB" sz="2400" dirty="0"/>
              <a:t>is it useful to have symbols for atoms of different elements?</a:t>
            </a:r>
          </a:p>
          <a:p>
            <a:r>
              <a:rPr lang="en-GB" sz="2400" b="1" dirty="0">
                <a:solidFill>
                  <a:srgbClr val="00B050"/>
                </a:solidFill>
              </a:rPr>
              <a:t>       When elements join together to form a compound, it tells you    </a:t>
            </a:r>
          </a:p>
          <a:p>
            <a:r>
              <a:rPr lang="en-GB" sz="2400" b="1" dirty="0">
                <a:solidFill>
                  <a:srgbClr val="00B050"/>
                </a:solidFill>
              </a:rPr>
              <a:t>       how many atoms there </a:t>
            </a:r>
            <a:r>
              <a:rPr lang="en-GB" sz="2400" b="1" dirty="0" smtClean="0">
                <a:solidFill>
                  <a:srgbClr val="00B050"/>
                </a:solidFill>
              </a:rPr>
              <a:t>are.</a:t>
            </a:r>
            <a:endParaRPr lang="en-GB" sz="2400" b="1" dirty="0">
              <a:solidFill>
                <a:srgbClr val="00B050"/>
              </a:solidFill>
            </a:endParaRPr>
          </a:p>
          <a:p>
            <a:endParaRPr lang="en-GB" sz="2400" b="1" dirty="0">
              <a:solidFill>
                <a:srgbClr val="00B050"/>
              </a:solidFill>
            </a:endParaRPr>
          </a:p>
          <a:p>
            <a:pPr marL="457200" indent="-457200">
              <a:buFont typeface="+mj-lt"/>
              <a:buAutoNum type="arabicPeriod" startAt="7"/>
            </a:pPr>
            <a:r>
              <a:rPr lang="en-GB" sz="2400" dirty="0"/>
              <a:t>What is the difference between an element and a compound?</a:t>
            </a:r>
          </a:p>
          <a:p>
            <a:r>
              <a:rPr lang="en-GB" sz="2400" b="1" dirty="0">
                <a:solidFill>
                  <a:srgbClr val="00B050"/>
                </a:solidFill>
              </a:rPr>
              <a:t>        Elements contain one type of atom and compounds contain </a:t>
            </a:r>
          </a:p>
          <a:p>
            <a:r>
              <a:rPr lang="en-GB" sz="2400" b="1" dirty="0">
                <a:solidFill>
                  <a:srgbClr val="00B050"/>
                </a:solidFill>
              </a:rPr>
              <a:t>        more than one </a:t>
            </a:r>
            <a:r>
              <a:rPr lang="en-GB" sz="2400" b="1" dirty="0" smtClean="0">
                <a:solidFill>
                  <a:srgbClr val="00B050"/>
                </a:solidFill>
              </a:rPr>
              <a:t>type.</a:t>
            </a:r>
            <a:endParaRPr lang="en-GB" sz="2400" b="1" dirty="0">
              <a:solidFill>
                <a:srgbClr val="00B050"/>
              </a:solidFill>
            </a:endParaRPr>
          </a:p>
          <a:p>
            <a:endParaRPr lang="en-GB" sz="2400" b="1" dirty="0">
              <a:solidFill>
                <a:srgbClr val="00B050"/>
              </a:solidFill>
            </a:endParaRPr>
          </a:p>
          <a:p>
            <a:pPr marL="457200" indent="-457200">
              <a:buFont typeface="+mj-lt"/>
              <a:buAutoNum type="arabicPeriod" startAt="8"/>
            </a:pPr>
            <a:r>
              <a:rPr lang="en-GB" sz="2400" dirty="0"/>
              <a:t>W</a:t>
            </a:r>
            <a:r>
              <a:rPr lang="en-GB" sz="2400" dirty="0" smtClean="0"/>
              <a:t>hy is it </a:t>
            </a:r>
            <a:r>
              <a:rPr lang="en-GB" sz="2400" dirty="0"/>
              <a:t>difficult to separate a </a:t>
            </a:r>
            <a:r>
              <a:rPr lang="en-GB" sz="2400" dirty="0" smtClean="0"/>
              <a:t>compound?</a:t>
            </a:r>
            <a:endParaRPr lang="en-GB" sz="2400" dirty="0"/>
          </a:p>
          <a:p>
            <a:r>
              <a:rPr lang="en-GB" sz="2400" b="1" dirty="0">
                <a:solidFill>
                  <a:srgbClr val="00B050"/>
                </a:solidFill>
              </a:rPr>
              <a:t>       A compounds elements are chemically joined </a:t>
            </a:r>
            <a:r>
              <a:rPr lang="en-GB" sz="2400" b="1" dirty="0" smtClean="0">
                <a:solidFill>
                  <a:srgbClr val="00B050"/>
                </a:solidFill>
              </a:rPr>
              <a:t>together.</a:t>
            </a:r>
            <a:endParaRPr lang="en-GB" sz="2400" b="1" dirty="0">
              <a:solidFill>
                <a:srgbClr val="00B050"/>
              </a:solidFill>
            </a:endParaRPr>
          </a:p>
          <a:p>
            <a:endParaRPr lang="en-GB" sz="1600" dirty="0"/>
          </a:p>
        </p:txBody>
      </p:sp>
    </p:spTree>
    <p:extLst>
      <p:ext uri="{BB962C8B-B14F-4D97-AF65-F5344CB8AC3E}">
        <p14:creationId xmlns:p14="http://schemas.microsoft.com/office/powerpoint/2010/main" val="19727863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854236" cy="5632311"/>
          </a:xfrm>
          <a:prstGeom prst="rect">
            <a:avLst/>
          </a:prstGeom>
          <a:noFill/>
        </p:spPr>
        <p:txBody>
          <a:bodyPr wrap="square" rtlCol="0">
            <a:spAutoFit/>
          </a:bodyPr>
          <a:lstStyle/>
          <a:p>
            <a:pPr marL="457200" indent="-457200">
              <a:buFont typeface="+mj-lt"/>
              <a:buAutoNum type="arabicPeriod" startAt="9"/>
            </a:pPr>
            <a:r>
              <a:rPr lang="en-GB" sz="2400" dirty="0"/>
              <a:t>Solid sodium reacts with water to form a sodium hydroxide solution and hydrogen </a:t>
            </a:r>
            <a:r>
              <a:rPr lang="en-GB" sz="2400" dirty="0" smtClean="0"/>
              <a:t>gas.</a:t>
            </a:r>
            <a:endParaRPr lang="en-GB" sz="2400" dirty="0"/>
          </a:p>
          <a:p>
            <a:pPr marL="457200" indent="-457200">
              <a:buFont typeface="+mj-lt"/>
              <a:buAutoNum type="arabicPeriod" startAt="9"/>
            </a:pPr>
            <a:endParaRPr lang="en-GB" sz="2400" dirty="0"/>
          </a:p>
          <a:p>
            <a:r>
              <a:rPr lang="en-GB" sz="2400" dirty="0"/>
              <a:t>	a) Write a word equation to represent this </a:t>
            </a:r>
            <a:r>
              <a:rPr lang="en-GB" sz="2400" dirty="0" smtClean="0"/>
              <a:t>reaction.</a:t>
            </a:r>
            <a:endParaRPr lang="en-GB" sz="2400" dirty="0"/>
          </a:p>
          <a:p>
            <a:pPr algn="ctr"/>
            <a:r>
              <a:rPr lang="en-GB" sz="2400" b="1" dirty="0">
                <a:solidFill>
                  <a:srgbClr val="00B050"/>
                </a:solidFill>
              </a:rPr>
              <a:t>Sodium + water </a:t>
            </a:r>
            <a:r>
              <a:rPr lang="en-GB" sz="2400" b="1" dirty="0">
                <a:solidFill>
                  <a:srgbClr val="00B050"/>
                </a:solidFill>
                <a:sym typeface="Wingdings" panose="05000000000000000000" pitchFamily="2" charset="2"/>
              </a:rPr>
              <a:t> sodium hydroxide + hydrogen</a:t>
            </a:r>
          </a:p>
          <a:p>
            <a:pPr algn="ctr"/>
            <a:endParaRPr lang="en-GB" sz="2400" b="1" dirty="0">
              <a:solidFill>
                <a:srgbClr val="00B050"/>
              </a:solidFill>
            </a:endParaRPr>
          </a:p>
          <a:p>
            <a:r>
              <a:rPr lang="en-GB" sz="2400" dirty="0"/>
              <a:t>	b) Give the balance symbol equation for the </a:t>
            </a:r>
            <a:r>
              <a:rPr lang="en-GB" sz="2400" dirty="0" smtClean="0"/>
              <a:t>reaction.</a:t>
            </a:r>
            <a:endParaRPr lang="en-GB" sz="2400" dirty="0"/>
          </a:p>
          <a:p>
            <a:pPr algn="ctr"/>
            <a:r>
              <a:rPr lang="en-GB" sz="2400" b="1" dirty="0">
                <a:solidFill>
                  <a:srgbClr val="00B050"/>
                </a:solidFill>
              </a:rPr>
              <a:t>2Na(s) + 2H</a:t>
            </a:r>
            <a:r>
              <a:rPr lang="en-GB" sz="2400" b="1" baseline="-25000" dirty="0">
                <a:solidFill>
                  <a:srgbClr val="00B050"/>
                </a:solidFill>
              </a:rPr>
              <a:t>2</a:t>
            </a:r>
            <a:r>
              <a:rPr lang="en-GB" sz="2400" b="1" dirty="0">
                <a:solidFill>
                  <a:srgbClr val="00B050"/>
                </a:solidFill>
              </a:rPr>
              <a:t>O(l) </a:t>
            </a:r>
            <a:r>
              <a:rPr lang="en-GB" sz="2400" b="1" dirty="0">
                <a:solidFill>
                  <a:srgbClr val="00B050"/>
                </a:solidFill>
                <a:sym typeface="Wingdings" panose="05000000000000000000" pitchFamily="2" charset="2"/>
              </a:rPr>
              <a:t> 2NaOH(</a:t>
            </a:r>
            <a:r>
              <a:rPr lang="en-GB" sz="2400" b="1" dirty="0" err="1">
                <a:solidFill>
                  <a:srgbClr val="00B050"/>
                </a:solidFill>
                <a:sym typeface="Wingdings" panose="05000000000000000000" pitchFamily="2" charset="2"/>
              </a:rPr>
              <a:t>aq</a:t>
            </a:r>
            <a:r>
              <a:rPr lang="en-GB" sz="2400" b="1" dirty="0">
                <a:solidFill>
                  <a:srgbClr val="00B050"/>
                </a:solidFill>
                <a:sym typeface="Wingdings" panose="05000000000000000000" pitchFamily="2" charset="2"/>
              </a:rPr>
              <a:t>) + H</a:t>
            </a:r>
            <a:r>
              <a:rPr lang="en-GB" sz="2400" b="1" baseline="-25000" dirty="0">
                <a:solidFill>
                  <a:srgbClr val="00B050"/>
                </a:solidFill>
                <a:sym typeface="Wingdings" panose="05000000000000000000" pitchFamily="2" charset="2"/>
              </a:rPr>
              <a:t>2</a:t>
            </a:r>
            <a:r>
              <a:rPr lang="en-GB" sz="2400" b="1" dirty="0">
                <a:solidFill>
                  <a:srgbClr val="00B050"/>
                </a:solidFill>
                <a:sym typeface="Wingdings" panose="05000000000000000000" pitchFamily="2" charset="2"/>
              </a:rPr>
              <a:t>(g)</a:t>
            </a:r>
            <a:endParaRPr lang="en-GB" sz="2400" b="1" dirty="0">
              <a:solidFill>
                <a:srgbClr val="00B050"/>
              </a:solidFill>
            </a:endParaRPr>
          </a:p>
          <a:p>
            <a:endParaRPr lang="en-GB" sz="2400" b="1" dirty="0"/>
          </a:p>
          <a:p>
            <a:r>
              <a:rPr lang="en-GB" sz="2400" b="1" dirty="0"/>
              <a:t>HT only:</a:t>
            </a:r>
          </a:p>
          <a:p>
            <a:pPr marL="457200" indent="-457200">
              <a:buFont typeface="+mj-lt"/>
              <a:buAutoNum type="arabicPeriod" startAt="10"/>
            </a:pPr>
            <a:r>
              <a:rPr lang="en-GB" sz="2400" dirty="0"/>
              <a:t>When magnesium reacts with sulfuric acid, the hydrogen ions in the acid will be displaced from the solution by magnesium.</a:t>
            </a:r>
          </a:p>
          <a:p>
            <a:r>
              <a:rPr lang="en-GB" sz="2400" dirty="0"/>
              <a:t>       Balance the following ionic </a:t>
            </a:r>
            <a:r>
              <a:rPr lang="en-GB" sz="2400" dirty="0" smtClean="0"/>
              <a:t>equation.</a:t>
            </a:r>
            <a:endParaRPr lang="en-GB" sz="2400" dirty="0"/>
          </a:p>
          <a:p>
            <a:endParaRPr lang="en-GB" sz="2400" dirty="0"/>
          </a:p>
          <a:p>
            <a:pPr algn="ctr"/>
            <a:r>
              <a:rPr lang="en-GB" sz="2400" dirty="0"/>
              <a:t>Mg(s)    +    </a:t>
            </a:r>
            <a:r>
              <a:rPr lang="en-GB" sz="2400" b="1" dirty="0">
                <a:solidFill>
                  <a:srgbClr val="00B050"/>
                </a:solidFill>
              </a:rPr>
              <a:t>2</a:t>
            </a:r>
            <a:r>
              <a:rPr lang="en-GB" sz="2400" dirty="0"/>
              <a:t>H</a:t>
            </a:r>
            <a:r>
              <a:rPr lang="en-GB" sz="2400" baseline="30000" dirty="0"/>
              <a:t>+</a:t>
            </a:r>
            <a:r>
              <a:rPr lang="en-GB" sz="2400" dirty="0"/>
              <a:t>(</a:t>
            </a:r>
            <a:r>
              <a:rPr lang="en-GB" sz="2400" dirty="0" err="1"/>
              <a:t>aq</a:t>
            </a:r>
            <a:r>
              <a:rPr lang="en-GB" sz="2400" dirty="0"/>
              <a:t>)    </a:t>
            </a:r>
            <a:r>
              <a:rPr lang="en-GB" sz="2400" dirty="0">
                <a:sym typeface="Wingdings" panose="05000000000000000000" pitchFamily="2" charset="2"/>
              </a:rPr>
              <a:t>    Mg</a:t>
            </a:r>
            <a:r>
              <a:rPr lang="en-GB" sz="2400" baseline="30000" dirty="0">
                <a:sym typeface="Wingdings" panose="05000000000000000000" pitchFamily="2" charset="2"/>
              </a:rPr>
              <a:t>2+</a:t>
            </a:r>
            <a:r>
              <a:rPr lang="en-GB" sz="2400" dirty="0">
                <a:sym typeface="Wingdings" panose="05000000000000000000" pitchFamily="2" charset="2"/>
              </a:rPr>
              <a:t>(</a:t>
            </a:r>
            <a:r>
              <a:rPr lang="en-GB" sz="2400" dirty="0" err="1">
                <a:sym typeface="Wingdings" panose="05000000000000000000" pitchFamily="2" charset="2"/>
              </a:rPr>
              <a:t>aq</a:t>
            </a:r>
            <a:r>
              <a:rPr lang="en-GB" sz="2400" dirty="0">
                <a:sym typeface="Wingdings" panose="05000000000000000000" pitchFamily="2" charset="2"/>
              </a:rPr>
              <a:t>)     +    H</a:t>
            </a:r>
            <a:r>
              <a:rPr lang="en-GB" sz="2400" baseline="-25000" dirty="0">
                <a:sym typeface="Wingdings" panose="05000000000000000000" pitchFamily="2" charset="2"/>
              </a:rPr>
              <a:t>2</a:t>
            </a:r>
            <a:r>
              <a:rPr lang="en-GB" sz="2400" dirty="0">
                <a:sym typeface="Wingdings" panose="05000000000000000000" pitchFamily="2" charset="2"/>
              </a:rPr>
              <a:t>(g</a:t>
            </a:r>
            <a:r>
              <a:rPr lang="en-GB" sz="2400" dirty="0" smtClean="0">
                <a:sym typeface="Wingdings" panose="05000000000000000000" pitchFamily="2" charset="2"/>
              </a:rPr>
              <a:t>)</a:t>
            </a:r>
            <a:endParaRPr lang="en-GB" sz="2400" dirty="0"/>
          </a:p>
        </p:txBody>
      </p:sp>
    </p:spTree>
    <p:extLst>
      <p:ext uri="{BB962C8B-B14F-4D97-AF65-F5344CB8AC3E}">
        <p14:creationId xmlns:p14="http://schemas.microsoft.com/office/powerpoint/2010/main" val="36425788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324535"/>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a:t>
            </a:r>
          </a:p>
          <a:p>
            <a:r>
              <a:rPr lang="en-GB" sz="3600" b="1" dirty="0">
                <a:solidFill>
                  <a:schemeClr val="tx1">
                    <a:lumMod val="50000"/>
                    <a:lumOff val="50000"/>
                  </a:schemeClr>
                </a:solidFill>
              </a:rPr>
              <a:t>mixtures PART 2</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Mixtures</a:t>
            </a:r>
          </a:p>
          <a:p>
            <a:endParaRPr lang="en-GB" dirty="0"/>
          </a:p>
        </p:txBody>
      </p:sp>
    </p:spTree>
    <p:extLst>
      <p:ext uri="{BB962C8B-B14F-4D97-AF65-F5344CB8AC3E}">
        <p14:creationId xmlns:p14="http://schemas.microsoft.com/office/powerpoint/2010/main" val="9853515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4" name="Rectangle 3"/>
          <p:cNvSpPr/>
          <p:nvPr/>
        </p:nvSpPr>
        <p:spPr>
          <a:xfrm>
            <a:off x="198525" y="757251"/>
            <a:ext cx="8765962"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A mixture consists of </a:t>
            </a:r>
            <a:r>
              <a:rPr lang="en-GB" sz="2000" b="1" dirty="0"/>
              <a:t>two or more </a:t>
            </a:r>
            <a:r>
              <a:rPr lang="en-GB" sz="2000" dirty="0"/>
              <a:t>elements or compounds </a:t>
            </a:r>
            <a:r>
              <a:rPr lang="en-GB" sz="2000" b="1" dirty="0"/>
              <a:t>not</a:t>
            </a:r>
            <a:r>
              <a:rPr lang="en-GB" sz="2000" dirty="0"/>
              <a:t> chemically combined together. The chemical properties of each substance in the mixture are </a:t>
            </a:r>
            <a:r>
              <a:rPr lang="en-GB" sz="2000" b="1" dirty="0"/>
              <a:t>unchanged</a:t>
            </a:r>
            <a:r>
              <a:rPr lang="en-GB" sz="2000" dirty="0"/>
              <a:t>.</a:t>
            </a:r>
            <a:endParaRPr lang="en-GB" sz="2000" dirty="0">
              <a:solidFill>
                <a:schemeClr val="tx1"/>
              </a:solidFill>
              <a:cs typeface="Arial" pitchFamily="34" charset="0"/>
            </a:endParaRPr>
          </a:p>
        </p:txBody>
      </p:sp>
      <p:sp>
        <p:nvSpPr>
          <p:cNvPr id="11" name="Rectangle 10">
            <a:extLst>
              <a:ext uri="{FF2B5EF4-FFF2-40B4-BE49-F238E27FC236}">
                <a16:creationId xmlns:a16="http://schemas.microsoft.com/office/drawing/2014/main" xmlns="" id="{4E90E6A1-E496-4BA0-83B8-FF6FCDE34DE9}"/>
              </a:ext>
            </a:extLst>
          </p:cNvPr>
          <p:cNvSpPr/>
          <p:nvPr/>
        </p:nvSpPr>
        <p:spPr>
          <a:xfrm>
            <a:off x="198524" y="5157192"/>
            <a:ext cx="5021547"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u="sng" dirty="0" smtClean="0"/>
              <a:t>FILTRATION</a:t>
            </a:r>
            <a:r>
              <a:rPr lang="en-GB" sz="2000" dirty="0" smtClean="0"/>
              <a:t>: This </a:t>
            </a:r>
            <a:r>
              <a:rPr lang="en-GB" sz="2000" dirty="0"/>
              <a:t>technique separates substances that are insoluble in a solvent from those that are soluble</a:t>
            </a:r>
            <a:endParaRPr lang="en-GB" sz="2000" dirty="0">
              <a:solidFill>
                <a:schemeClr val="accent6"/>
              </a:solidFill>
              <a:cs typeface="Arial" pitchFamily="34" charset="0"/>
            </a:endParaRPr>
          </a:p>
        </p:txBody>
      </p:sp>
      <p:graphicFrame>
        <p:nvGraphicFramePr>
          <p:cNvPr id="5" name="Table 4">
            <a:extLst>
              <a:ext uri="{FF2B5EF4-FFF2-40B4-BE49-F238E27FC236}">
                <a16:creationId xmlns:a16="http://schemas.microsoft.com/office/drawing/2014/main" xmlns="" id="{976AEF3E-F3DD-44D3-A9F7-EB6A1DA61E27}"/>
              </a:ext>
            </a:extLst>
          </p:cNvPr>
          <p:cNvGraphicFramePr>
            <a:graphicFrameLocks noGrp="1"/>
          </p:cNvGraphicFramePr>
          <p:nvPr>
            <p:extLst>
              <p:ext uri="{D42A27DB-BD31-4B8C-83A1-F6EECF244321}">
                <p14:modId xmlns:p14="http://schemas.microsoft.com/office/powerpoint/2010/main" val="2345969197"/>
              </p:ext>
            </p:extLst>
          </p:nvPr>
        </p:nvGraphicFramePr>
        <p:xfrm>
          <a:off x="198524" y="2103742"/>
          <a:ext cx="5021547" cy="2670810"/>
        </p:xfrm>
        <a:graphic>
          <a:graphicData uri="http://schemas.openxmlformats.org/drawingml/2006/table">
            <a:tbl>
              <a:tblPr>
                <a:tableStyleId>{E8B1032C-EA38-4F05-BA0D-38AFFFC7BED3}</a:tableStyleId>
              </a:tblPr>
              <a:tblGrid>
                <a:gridCol w="1044022">
                  <a:extLst>
                    <a:ext uri="{9D8B030D-6E8A-4147-A177-3AD203B41FA5}">
                      <a16:colId xmlns:a16="http://schemas.microsoft.com/office/drawing/2014/main" xmlns="" val="3060657768"/>
                    </a:ext>
                  </a:extLst>
                </a:gridCol>
                <a:gridCol w="3977525">
                  <a:extLst>
                    <a:ext uri="{9D8B030D-6E8A-4147-A177-3AD203B41FA5}">
                      <a16:colId xmlns:a16="http://schemas.microsoft.com/office/drawing/2014/main" xmlns="" val="2480230326"/>
                    </a:ext>
                  </a:extLst>
                </a:gridCol>
              </a:tblGrid>
              <a:tr h="308521">
                <a:tc>
                  <a:txBody>
                    <a:bodyPr/>
                    <a:lstStyle/>
                    <a:p>
                      <a:pPr algn="ctr" fontAlgn="t"/>
                      <a:r>
                        <a:rPr lang="en-GB" sz="1800" b="1" dirty="0">
                          <a:effectLst/>
                        </a:rPr>
                        <a:t>Solvent</a:t>
                      </a:r>
                    </a:p>
                  </a:txBody>
                  <a:tcPr marL="76200" marR="47625" marT="76200" marB="19050" anchor="ctr"/>
                </a:tc>
                <a:tc>
                  <a:txBody>
                    <a:bodyPr/>
                    <a:lstStyle/>
                    <a:p>
                      <a:pPr algn="ctr" fontAlgn="t"/>
                      <a:r>
                        <a:rPr lang="en-GB" sz="1800" dirty="0">
                          <a:effectLst/>
                        </a:rPr>
                        <a:t>the liquid in which a solute dissolves</a:t>
                      </a:r>
                      <a:endParaRPr lang="en-GB" sz="1800" b="0" dirty="0">
                        <a:effectLst/>
                      </a:endParaRPr>
                    </a:p>
                  </a:txBody>
                  <a:tcPr marL="76200" marR="47625" marT="76200" marB="19050" anchor="ctr"/>
                </a:tc>
                <a:extLst>
                  <a:ext uri="{0D108BD9-81ED-4DB2-BD59-A6C34878D82A}">
                    <a16:rowId xmlns:a16="http://schemas.microsoft.com/office/drawing/2014/main" xmlns="" val="467051256"/>
                  </a:ext>
                </a:extLst>
              </a:tr>
              <a:tr h="521819">
                <a:tc>
                  <a:txBody>
                    <a:bodyPr/>
                    <a:lstStyle/>
                    <a:p>
                      <a:pPr algn="ctr" fontAlgn="t"/>
                      <a:r>
                        <a:rPr lang="en-GB" sz="1800" b="1" dirty="0">
                          <a:effectLst/>
                        </a:rPr>
                        <a:t>Solute</a:t>
                      </a:r>
                    </a:p>
                  </a:txBody>
                  <a:tcPr marL="76200" marR="47625" marT="76200" marB="19050" anchor="ctr"/>
                </a:tc>
                <a:tc>
                  <a:txBody>
                    <a:bodyPr/>
                    <a:lstStyle/>
                    <a:p>
                      <a:pPr algn="ctr" fontAlgn="t"/>
                      <a:r>
                        <a:rPr lang="en-GB" sz="1800" dirty="0">
                          <a:effectLst/>
                        </a:rPr>
                        <a:t>the substance that dissolves in a liquid to form a solution</a:t>
                      </a:r>
                      <a:endParaRPr lang="en-GB" sz="1800" b="0" dirty="0">
                        <a:effectLst/>
                      </a:endParaRPr>
                    </a:p>
                  </a:txBody>
                  <a:tcPr marL="76200" marR="47625" marT="76200" marB="19050" anchor="ctr"/>
                </a:tc>
                <a:extLst>
                  <a:ext uri="{0D108BD9-81ED-4DB2-BD59-A6C34878D82A}">
                    <a16:rowId xmlns:a16="http://schemas.microsoft.com/office/drawing/2014/main" xmlns="" val="348651441"/>
                  </a:ext>
                </a:extLst>
              </a:tr>
              <a:tr h="300079">
                <a:tc>
                  <a:txBody>
                    <a:bodyPr/>
                    <a:lstStyle/>
                    <a:p>
                      <a:pPr algn="ctr" fontAlgn="t"/>
                      <a:r>
                        <a:rPr lang="en-GB" sz="1800" b="1" dirty="0">
                          <a:effectLst/>
                        </a:rPr>
                        <a:t>Solution</a:t>
                      </a:r>
                    </a:p>
                  </a:txBody>
                  <a:tcPr marL="76200" marR="47625" marT="76200" marB="19050" anchor="ctr"/>
                </a:tc>
                <a:tc>
                  <a:txBody>
                    <a:bodyPr/>
                    <a:lstStyle/>
                    <a:p>
                      <a:pPr algn="ctr" fontAlgn="t"/>
                      <a:r>
                        <a:rPr lang="en-GB" sz="1800" dirty="0">
                          <a:effectLst/>
                        </a:rPr>
                        <a:t>is the mixture formed when a solute has dissolved in a solvent</a:t>
                      </a:r>
                      <a:endParaRPr lang="en-GB" sz="1800" b="0" dirty="0">
                        <a:effectLst/>
                      </a:endParaRPr>
                    </a:p>
                  </a:txBody>
                  <a:tcPr marL="76200" marR="47625" marT="76200" marB="19050" anchor="ctr"/>
                </a:tc>
                <a:extLst>
                  <a:ext uri="{0D108BD9-81ED-4DB2-BD59-A6C34878D82A}">
                    <a16:rowId xmlns:a16="http://schemas.microsoft.com/office/drawing/2014/main" xmlns="" val="1333993652"/>
                  </a:ext>
                </a:extLst>
              </a:tr>
              <a:tr h="308521">
                <a:tc>
                  <a:txBody>
                    <a:bodyPr/>
                    <a:lstStyle/>
                    <a:p>
                      <a:pPr algn="ctr" fontAlgn="t"/>
                      <a:r>
                        <a:rPr lang="en-GB" sz="1800" b="1" dirty="0">
                          <a:effectLst/>
                        </a:rPr>
                        <a:t>Soluble</a:t>
                      </a:r>
                    </a:p>
                  </a:txBody>
                  <a:tcPr marL="76200" marR="47625" marT="76200" marB="19050" anchor="ctr"/>
                </a:tc>
                <a:tc>
                  <a:txBody>
                    <a:bodyPr/>
                    <a:lstStyle/>
                    <a:p>
                      <a:pPr algn="ctr" fontAlgn="t"/>
                      <a:r>
                        <a:rPr lang="en-GB" sz="1800" dirty="0">
                          <a:effectLst/>
                        </a:rPr>
                        <a:t>describes a substance that will dissolve</a:t>
                      </a:r>
                      <a:endParaRPr lang="en-GB" sz="1800" b="0" dirty="0">
                        <a:effectLst/>
                      </a:endParaRPr>
                    </a:p>
                  </a:txBody>
                  <a:tcPr marL="76200" marR="47625" marT="76200" marB="19050" anchor="ctr"/>
                </a:tc>
                <a:extLst>
                  <a:ext uri="{0D108BD9-81ED-4DB2-BD59-A6C34878D82A}">
                    <a16:rowId xmlns:a16="http://schemas.microsoft.com/office/drawing/2014/main" xmlns="" val="1322543045"/>
                  </a:ext>
                </a:extLst>
              </a:tr>
              <a:tr h="308521">
                <a:tc>
                  <a:txBody>
                    <a:bodyPr/>
                    <a:lstStyle/>
                    <a:p>
                      <a:pPr algn="ctr" fontAlgn="t"/>
                      <a:r>
                        <a:rPr lang="en-GB" sz="1800" b="1" dirty="0">
                          <a:effectLst/>
                        </a:rPr>
                        <a:t>Insoluble</a:t>
                      </a:r>
                    </a:p>
                  </a:txBody>
                  <a:tcPr marL="76200" marR="47625" marT="76200" marB="19050" anchor="ctr"/>
                </a:tc>
                <a:tc>
                  <a:txBody>
                    <a:bodyPr/>
                    <a:lstStyle/>
                    <a:p>
                      <a:pPr algn="ctr" fontAlgn="t"/>
                      <a:r>
                        <a:rPr lang="en-GB" sz="1800" dirty="0">
                          <a:effectLst/>
                        </a:rPr>
                        <a:t>describes a substance that will not dissolve</a:t>
                      </a:r>
                      <a:endParaRPr lang="en-GB" sz="1800" b="0" dirty="0">
                        <a:effectLst/>
                      </a:endParaRPr>
                    </a:p>
                  </a:txBody>
                  <a:tcPr marL="76200" marR="47625" marT="76200" marB="19050" anchor="ctr"/>
                </a:tc>
                <a:extLst>
                  <a:ext uri="{0D108BD9-81ED-4DB2-BD59-A6C34878D82A}">
                    <a16:rowId xmlns:a16="http://schemas.microsoft.com/office/drawing/2014/main" xmlns="" val="2366580011"/>
                  </a:ext>
                </a:extLst>
              </a:tr>
            </a:tbl>
          </a:graphicData>
        </a:graphic>
      </p:graphicFrame>
      <p:sp>
        <p:nvSpPr>
          <p:cNvPr id="12" name="Rectangle 11"/>
          <p:cNvSpPr/>
          <p:nvPr/>
        </p:nvSpPr>
        <p:spPr>
          <a:xfrm>
            <a:off x="5436096" y="2470063"/>
            <a:ext cx="3528391" cy="3170099"/>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2000" dirty="0"/>
              <a:t>Mixtures can be separated by </a:t>
            </a:r>
            <a:r>
              <a:rPr lang="en-GB" sz="2000" b="1" dirty="0"/>
              <a:t>physical processes</a:t>
            </a:r>
            <a:r>
              <a:rPr lang="en-GB" sz="2000" dirty="0"/>
              <a:t> including:</a:t>
            </a:r>
          </a:p>
          <a:p>
            <a:pPr marL="342900" indent="-342900">
              <a:buAutoNum type="arabicPeriod"/>
            </a:pPr>
            <a:r>
              <a:rPr lang="en-GB" sz="2000" dirty="0">
                <a:solidFill>
                  <a:schemeClr val="accent6"/>
                </a:solidFill>
              </a:rPr>
              <a:t>Filtration</a:t>
            </a:r>
          </a:p>
          <a:p>
            <a:pPr marL="342900" indent="-342900">
              <a:buAutoNum type="arabicPeriod"/>
            </a:pPr>
            <a:r>
              <a:rPr lang="en-GB" sz="2000" dirty="0">
                <a:solidFill>
                  <a:schemeClr val="accent6"/>
                </a:solidFill>
              </a:rPr>
              <a:t>Crystallisation</a:t>
            </a:r>
          </a:p>
          <a:p>
            <a:pPr marL="342900" indent="-342900">
              <a:buAutoNum type="arabicPeriod"/>
            </a:pPr>
            <a:r>
              <a:rPr lang="en-GB" sz="2000" dirty="0">
                <a:solidFill>
                  <a:schemeClr val="accent6"/>
                </a:solidFill>
              </a:rPr>
              <a:t>Simple distillation</a:t>
            </a:r>
          </a:p>
          <a:p>
            <a:pPr marL="342900" indent="-342900">
              <a:buAutoNum type="arabicPeriod"/>
            </a:pPr>
            <a:r>
              <a:rPr lang="en-GB" sz="2000" dirty="0">
                <a:solidFill>
                  <a:schemeClr val="accent6"/>
                </a:solidFill>
              </a:rPr>
              <a:t>Fractional distillation</a:t>
            </a:r>
          </a:p>
          <a:p>
            <a:pPr marL="342900" indent="-342900">
              <a:buAutoNum type="arabicPeriod"/>
            </a:pPr>
            <a:r>
              <a:rPr lang="en-GB" sz="2000" dirty="0">
                <a:solidFill>
                  <a:schemeClr val="accent6"/>
                </a:solidFill>
              </a:rPr>
              <a:t>Chromatography</a:t>
            </a:r>
          </a:p>
          <a:p>
            <a:r>
              <a:rPr lang="en-GB" sz="2000" dirty="0"/>
              <a:t>These physical processes do not involve chemical reactions and no new substances are made.</a:t>
            </a:r>
          </a:p>
        </p:txBody>
      </p:sp>
    </p:spTree>
    <p:extLst>
      <p:ext uri="{BB962C8B-B14F-4D97-AF65-F5344CB8AC3E}">
        <p14:creationId xmlns:p14="http://schemas.microsoft.com/office/powerpoint/2010/main" val="18273289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6" name="TextBox 5"/>
          <p:cNvSpPr txBox="1"/>
          <p:nvPr/>
        </p:nvSpPr>
        <p:spPr>
          <a:xfrm>
            <a:off x="179513" y="722802"/>
            <a:ext cx="8712968" cy="400110"/>
          </a:xfrm>
          <a:prstGeom prst="rect">
            <a:avLst/>
          </a:prstGeom>
          <a:noFill/>
          <a:effectLst/>
        </p:spPr>
        <p:txBody>
          <a:bodyPr wrap="square" rtlCol="0">
            <a:spAutoFit/>
          </a:bodyPr>
          <a:lstStyle/>
          <a:p>
            <a:r>
              <a:rPr lang="en-GB" sz="2000" b="1" dirty="0">
                <a:solidFill>
                  <a:schemeClr val="accent6"/>
                </a:solidFill>
              </a:rPr>
              <a:t>Crystallisation                                                      </a:t>
            </a:r>
            <a:r>
              <a:rPr lang="en-GB" sz="2000" b="1" dirty="0" smtClean="0">
                <a:solidFill>
                  <a:schemeClr val="accent6"/>
                </a:solidFill>
              </a:rPr>
              <a:t>Simple </a:t>
            </a:r>
            <a:r>
              <a:rPr lang="en-GB" sz="2000" b="1" dirty="0">
                <a:solidFill>
                  <a:schemeClr val="accent6"/>
                </a:solidFill>
              </a:rPr>
              <a:t>distillation</a:t>
            </a:r>
          </a:p>
        </p:txBody>
      </p:sp>
      <p:sp>
        <p:nvSpPr>
          <p:cNvPr id="17" name="Rectangle 16"/>
          <p:cNvSpPr/>
          <p:nvPr/>
        </p:nvSpPr>
        <p:spPr>
          <a:xfrm>
            <a:off x="179513" y="1122912"/>
            <a:ext cx="4176464"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a soluble substance from a solvent by </a:t>
            </a:r>
            <a:r>
              <a:rPr lang="en-GB" sz="2000" dirty="0" smtClean="0"/>
              <a:t>evaporation  </a:t>
            </a:r>
            <a:endParaRPr lang="en-GB" sz="2000" dirty="0">
              <a:solidFill>
                <a:schemeClr val="accent6"/>
              </a:solidFill>
              <a:cs typeface="Arial" pitchFamily="34" charset="0"/>
            </a:endParaRPr>
          </a:p>
        </p:txBody>
      </p:sp>
      <p:sp>
        <p:nvSpPr>
          <p:cNvPr id="7" name="Rectangle 6"/>
          <p:cNvSpPr/>
          <p:nvPr/>
        </p:nvSpPr>
        <p:spPr>
          <a:xfrm>
            <a:off x="4805083" y="1091585"/>
            <a:ext cx="4176464"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a liquid from a mixture by evaporation follow by condensation </a:t>
            </a:r>
            <a:endParaRPr lang="en-GB" sz="2000" dirty="0">
              <a:solidFill>
                <a:schemeClr val="accent6"/>
              </a:solidFill>
              <a:cs typeface="Arial" pitchFamily="34" charset="0"/>
            </a:endParaRPr>
          </a:p>
        </p:txBody>
      </p:sp>
      <p:pic>
        <p:nvPicPr>
          <p:cNvPr id="1028" name="Picture 4" descr="Image result for simple distill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997" y="2408174"/>
            <a:ext cx="4466094" cy="2344699"/>
          </a:xfrm>
          <a:prstGeom prst="rect">
            <a:avLst/>
          </a:prstGeom>
          <a:noFill/>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xmlns="" id="{64879C7D-8B45-492D-8059-7DB972BD5D04}"/>
              </a:ext>
            </a:extLst>
          </p:cNvPr>
          <p:cNvSpPr/>
          <p:nvPr/>
        </p:nvSpPr>
        <p:spPr>
          <a:xfrm>
            <a:off x="5293350" y="5229200"/>
            <a:ext cx="3199929"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obtaining water </a:t>
            </a:r>
            <a:r>
              <a:rPr lang="en-GB" sz="2000">
                <a:solidFill>
                  <a:schemeClr val="accent6"/>
                </a:solidFill>
              </a:rPr>
              <a:t>from </a:t>
            </a:r>
            <a:r>
              <a:rPr lang="en-GB" sz="2000" smtClean="0">
                <a:solidFill>
                  <a:schemeClr val="accent6"/>
                </a:solidFill>
              </a:rPr>
              <a:t>sea </a:t>
            </a:r>
            <a:r>
              <a:rPr lang="en-GB" sz="2000" dirty="0" smtClean="0">
                <a:solidFill>
                  <a:schemeClr val="accent6"/>
                </a:solidFill>
              </a:rPr>
              <a:t>water</a:t>
            </a:r>
          </a:p>
        </p:txBody>
      </p:sp>
      <p:sp>
        <p:nvSpPr>
          <p:cNvPr id="9" name="Rectangle 8">
            <a:extLst>
              <a:ext uri="{FF2B5EF4-FFF2-40B4-BE49-F238E27FC236}">
                <a16:creationId xmlns:a16="http://schemas.microsoft.com/office/drawing/2014/main" xmlns="" id="{4B6A3487-233F-465B-A95D-24DAF7E13C48}"/>
              </a:ext>
            </a:extLst>
          </p:cNvPr>
          <p:cNvSpPr/>
          <p:nvPr/>
        </p:nvSpPr>
        <p:spPr>
          <a:xfrm>
            <a:off x="404147" y="5229200"/>
            <a:ext cx="3727195"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crystallisation of sodium chloride from salt solution</a:t>
            </a:r>
            <a:endParaRPr lang="en-GB" sz="2000" dirty="0"/>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4" y="2455664"/>
            <a:ext cx="2304256" cy="2297209"/>
          </a:xfrm>
          <a:prstGeom prst="rect">
            <a:avLst/>
          </a:prstGeom>
        </p:spPr>
      </p:pic>
    </p:spTree>
    <p:extLst>
      <p:ext uri="{BB962C8B-B14F-4D97-AF65-F5344CB8AC3E}">
        <p14:creationId xmlns:p14="http://schemas.microsoft.com/office/powerpoint/2010/main" val="4299899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distillation of ethan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878" y="3589440"/>
            <a:ext cx="2015392" cy="2953431"/>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6" name="TextBox 5"/>
          <p:cNvSpPr txBox="1"/>
          <p:nvPr/>
        </p:nvSpPr>
        <p:spPr>
          <a:xfrm>
            <a:off x="-5444" y="683241"/>
            <a:ext cx="8712968" cy="369332"/>
          </a:xfrm>
          <a:prstGeom prst="rect">
            <a:avLst/>
          </a:prstGeom>
          <a:noFill/>
          <a:effectLst/>
        </p:spPr>
        <p:txBody>
          <a:bodyPr wrap="square" rtlCol="0">
            <a:spAutoFit/>
          </a:bodyPr>
          <a:lstStyle/>
          <a:p>
            <a:r>
              <a:rPr lang="en-GB" b="1" dirty="0">
                <a:solidFill>
                  <a:schemeClr val="accent6"/>
                </a:solidFill>
              </a:rPr>
              <a:t>Fractional distillation                                                          Chromatography</a:t>
            </a:r>
          </a:p>
        </p:txBody>
      </p:sp>
      <p:sp>
        <p:nvSpPr>
          <p:cNvPr id="17" name="Rectangle 16"/>
          <p:cNvSpPr/>
          <p:nvPr/>
        </p:nvSpPr>
        <p:spPr>
          <a:xfrm>
            <a:off x="72310" y="1036837"/>
            <a:ext cx="5147762" cy="2554545"/>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a:t>
            </a:r>
            <a:r>
              <a:rPr lang="en-GB" sz="2000" dirty="0" smtClean="0">
                <a:solidFill>
                  <a:srgbClr val="333333"/>
                </a:solidFill>
              </a:rPr>
              <a:t>separates </a:t>
            </a:r>
            <a:r>
              <a:rPr lang="en-GB" sz="2000" dirty="0">
                <a:solidFill>
                  <a:srgbClr val="333333"/>
                </a:solidFill>
              </a:rPr>
              <a:t>a mixture into a number of different parts, called </a:t>
            </a:r>
            <a:r>
              <a:rPr lang="en-GB" sz="2000" b="1" dirty="0">
                <a:solidFill>
                  <a:schemeClr val="accent6">
                    <a:lumMod val="75000"/>
                  </a:schemeClr>
                </a:solidFill>
              </a:rPr>
              <a:t>fractions</a:t>
            </a:r>
            <a:r>
              <a:rPr lang="en-GB" sz="2000" dirty="0">
                <a:solidFill>
                  <a:srgbClr val="333333"/>
                </a:solidFill>
              </a:rPr>
              <a:t>. Substances with </a:t>
            </a:r>
            <a:r>
              <a:rPr lang="en-GB" sz="2000" b="1" dirty="0">
                <a:solidFill>
                  <a:schemeClr val="accent6">
                    <a:lumMod val="75000"/>
                  </a:schemeClr>
                </a:solidFill>
              </a:rPr>
              <a:t>high</a:t>
            </a:r>
            <a:r>
              <a:rPr lang="en-GB" sz="2000" dirty="0">
                <a:solidFill>
                  <a:srgbClr val="333333"/>
                </a:solidFill>
              </a:rPr>
              <a:t> boiling points </a:t>
            </a:r>
            <a:r>
              <a:rPr lang="en-GB" sz="2000" b="1" dirty="0">
                <a:solidFill>
                  <a:schemeClr val="accent6">
                    <a:lumMod val="75000"/>
                  </a:schemeClr>
                </a:solidFill>
              </a:rPr>
              <a:t>condense at the bottom</a:t>
            </a:r>
            <a:r>
              <a:rPr lang="en-GB" sz="2000" dirty="0">
                <a:solidFill>
                  <a:srgbClr val="333333"/>
                </a:solidFill>
              </a:rPr>
              <a:t> and substances with </a:t>
            </a:r>
            <a:r>
              <a:rPr lang="en-GB" sz="2000" b="1" dirty="0">
                <a:solidFill>
                  <a:schemeClr val="accent6">
                    <a:lumMod val="75000"/>
                  </a:schemeClr>
                </a:solidFill>
              </a:rPr>
              <a:t>low</a:t>
            </a:r>
            <a:r>
              <a:rPr lang="en-GB" sz="2000" dirty="0">
                <a:solidFill>
                  <a:srgbClr val="333333"/>
                </a:solidFill>
              </a:rPr>
              <a:t> boiling points </a:t>
            </a:r>
            <a:r>
              <a:rPr lang="en-GB" sz="2000" b="1" dirty="0">
                <a:solidFill>
                  <a:schemeClr val="accent6">
                    <a:lumMod val="75000"/>
                  </a:schemeClr>
                </a:solidFill>
              </a:rPr>
              <a:t>condense at the top</a:t>
            </a:r>
            <a:r>
              <a:rPr lang="en-GB" sz="2000" dirty="0">
                <a:solidFill>
                  <a:srgbClr val="333333"/>
                </a:solidFill>
              </a:rPr>
              <a:t>. </a:t>
            </a:r>
            <a:endParaRPr lang="en-GB" sz="2000" dirty="0" smtClean="0">
              <a:solidFill>
                <a:srgbClr val="333333"/>
              </a:solidFill>
            </a:endParaRPr>
          </a:p>
          <a:p>
            <a:pPr algn="ctr"/>
            <a:r>
              <a:rPr lang="en-GB" sz="2000" dirty="0" smtClean="0">
                <a:solidFill>
                  <a:srgbClr val="333333"/>
                </a:solidFill>
              </a:rPr>
              <a:t>F</a:t>
            </a:r>
            <a:r>
              <a:rPr lang="en-GB" sz="2000" dirty="0" smtClean="0">
                <a:solidFill>
                  <a:srgbClr val="333333"/>
                </a:solidFill>
              </a:rPr>
              <a:t>ractional </a:t>
            </a:r>
            <a:r>
              <a:rPr lang="en-GB" sz="2000" dirty="0">
                <a:solidFill>
                  <a:srgbClr val="333333"/>
                </a:solidFill>
              </a:rPr>
              <a:t>distillation works because the different substances in the mixture have different boiling points.</a:t>
            </a:r>
            <a:endParaRPr lang="en-GB" sz="2000" dirty="0"/>
          </a:p>
        </p:txBody>
      </p:sp>
      <p:sp>
        <p:nvSpPr>
          <p:cNvPr id="7" name="Rectangle 6"/>
          <p:cNvSpPr/>
          <p:nvPr/>
        </p:nvSpPr>
        <p:spPr>
          <a:xfrm>
            <a:off x="5423712" y="1216040"/>
            <a:ext cx="3614446" cy="1323439"/>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small amounts of dissolved substances by running a solvent along absorbent paper </a:t>
            </a:r>
            <a:endParaRPr lang="en-GB" sz="2000" dirty="0">
              <a:solidFill>
                <a:schemeClr val="accent6"/>
              </a:solidFill>
              <a:cs typeface="Arial" pitchFamily="34" charset="0"/>
            </a:endParaRPr>
          </a:p>
        </p:txBody>
      </p:sp>
      <p:pic>
        <p:nvPicPr>
          <p:cNvPr id="3" name="Picture 2"/>
          <p:cNvPicPr>
            <a:picLocks noChangeAspect="1"/>
          </p:cNvPicPr>
          <p:nvPr/>
        </p:nvPicPr>
        <p:blipFill>
          <a:blip r:embed="rId4"/>
          <a:stretch>
            <a:fillRect/>
          </a:stretch>
        </p:blipFill>
        <p:spPr>
          <a:xfrm>
            <a:off x="5423712" y="2584712"/>
            <a:ext cx="3625349" cy="1973613"/>
          </a:xfrm>
          <a:prstGeom prst="rect">
            <a:avLst/>
          </a:prstGeom>
          <a:effectLst/>
        </p:spPr>
      </p:pic>
      <p:sp>
        <p:nvSpPr>
          <p:cNvPr id="8" name="Rectangle 7">
            <a:extLst>
              <a:ext uri="{FF2B5EF4-FFF2-40B4-BE49-F238E27FC236}">
                <a16:creationId xmlns:a16="http://schemas.microsoft.com/office/drawing/2014/main" xmlns="" id="{A49B3F7F-0529-4CDA-B850-35AA4E2803AE}"/>
              </a:ext>
            </a:extLst>
          </p:cNvPr>
          <p:cNvSpPr/>
          <p:nvPr/>
        </p:nvSpPr>
        <p:spPr>
          <a:xfrm>
            <a:off x="2294370" y="4558325"/>
            <a:ext cx="2583410"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obtaining ethanol from a mixture of ethanol and water</a:t>
            </a:r>
            <a:endParaRPr lang="en-GB" sz="2000" dirty="0"/>
          </a:p>
        </p:txBody>
      </p:sp>
      <p:sp>
        <p:nvSpPr>
          <p:cNvPr id="9" name="Rectangle 8">
            <a:extLst>
              <a:ext uri="{FF2B5EF4-FFF2-40B4-BE49-F238E27FC236}">
                <a16:creationId xmlns:a16="http://schemas.microsoft.com/office/drawing/2014/main" xmlns="" id="{51481914-0E4A-4C84-90C9-33576ED12913}"/>
              </a:ext>
            </a:extLst>
          </p:cNvPr>
          <p:cNvSpPr/>
          <p:nvPr/>
        </p:nvSpPr>
        <p:spPr>
          <a:xfrm>
            <a:off x="5423712" y="4603558"/>
            <a:ext cx="3644386"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separating the different colours in ink</a:t>
            </a:r>
            <a:endParaRPr lang="en-GB" sz="2000" dirty="0"/>
          </a:p>
        </p:txBody>
      </p:sp>
    </p:spTree>
    <p:extLst>
      <p:ext uri="{BB962C8B-B14F-4D97-AF65-F5344CB8AC3E}">
        <p14:creationId xmlns:p14="http://schemas.microsoft.com/office/powerpoint/2010/main" val="39264033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770537"/>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 mixtures </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Mixtures</a:t>
            </a:r>
            <a:endParaRPr lang="en-US" sz="2400" b="1" dirty="0">
              <a:solidFill>
                <a:schemeClr val="bg1">
                  <a:lumMod val="50000"/>
                </a:schemeClr>
              </a:solidFill>
            </a:endParaRP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0782223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186035"/>
          </a:xfrm>
          <a:prstGeom prst="rect">
            <a:avLst/>
          </a:prstGeom>
          <a:noFill/>
        </p:spPr>
        <p:txBody>
          <a:bodyPr wrap="square" rtlCol="0">
            <a:spAutoFit/>
          </a:bodyPr>
          <a:lstStyle/>
          <a:p>
            <a:pPr marL="457200" indent="-457200">
              <a:buAutoNum type="arabicPeriod"/>
            </a:pPr>
            <a:r>
              <a:rPr lang="en-GB" sz="2400" dirty="0"/>
              <a:t>What is the difference between a compound and a mixture?</a:t>
            </a:r>
          </a:p>
          <a:p>
            <a:pPr marL="457200" indent="-457200">
              <a:buAutoNum type="arabicPeriod"/>
            </a:pPr>
            <a:endParaRPr lang="en-GB" sz="2400" dirty="0"/>
          </a:p>
          <a:p>
            <a:pPr marL="457200" indent="-457200">
              <a:buAutoNum type="arabicPeriod"/>
            </a:pPr>
            <a:endParaRPr lang="en-GB" sz="2400" dirty="0"/>
          </a:p>
          <a:p>
            <a:pPr marL="457200" indent="-457200">
              <a:buAutoNum type="arabicPeriod"/>
            </a:pPr>
            <a:endParaRPr lang="en-GB" sz="2400" dirty="0"/>
          </a:p>
          <a:p>
            <a:pPr marL="457200" indent="-457200">
              <a:buAutoNum type="arabicPeriod"/>
            </a:pPr>
            <a:r>
              <a:rPr lang="en-GB" sz="2400" dirty="0"/>
              <a:t>Describe the method used to collect the salt from </a:t>
            </a:r>
            <a:r>
              <a:rPr lang="en-GB" sz="2400" dirty="0" smtClean="0"/>
              <a:t>a </a:t>
            </a:r>
            <a:r>
              <a:rPr lang="en-GB" sz="2400" dirty="0"/>
              <a:t>mixture of sand and </a:t>
            </a:r>
            <a:r>
              <a:rPr lang="en-GB" sz="2400" dirty="0" smtClean="0"/>
              <a:t>salt.</a:t>
            </a:r>
            <a:endParaRPr lang="en-GB" sz="2400" dirty="0"/>
          </a:p>
          <a:p>
            <a:pPr marL="457200" indent="-457200">
              <a:buAutoNum type="arabicPeriod"/>
            </a:pPr>
            <a:endParaRPr lang="en-GB" sz="2400" dirty="0"/>
          </a:p>
          <a:p>
            <a:pPr marL="457200" indent="-457200">
              <a:buAutoNum type="arabicPeriod"/>
            </a:pPr>
            <a:endParaRPr lang="en-GB" sz="2400" dirty="0"/>
          </a:p>
          <a:p>
            <a:pPr marL="457200" indent="-457200">
              <a:buAutoNum type="arabicPeriod"/>
            </a:pPr>
            <a:endParaRPr lang="en-GB" sz="2400" dirty="0"/>
          </a:p>
          <a:p>
            <a:pPr marL="457200" indent="-457200">
              <a:buAutoNum type="arabicPeriod"/>
            </a:pPr>
            <a:endParaRPr lang="en-GB" sz="2400" dirty="0"/>
          </a:p>
          <a:p>
            <a:pPr marL="457200" indent="-457200">
              <a:buAutoNum type="arabicPeriod"/>
            </a:pPr>
            <a:r>
              <a:rPr lang="en-GB" sz="2400" dirty="0"/>
              <a:t>What process is used to purify seawater to obtain usable water?</a:t>
            </a:r>
          </a:p>
          <a:p>
            <a:pPr marL="457200" indent="-457200">
              <a:buAutoNum type="arabicPeriod"/>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997596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492716"/>
          </a:xfrm>
          <a:prstGeom prst="rect">
            <a:avLst/>
          </a:prstGeom>
          <a:noFill/>
        </p:spPr>
        <p:txBody>
          <a:bodyPr wrap="square" rtlCol="0">
            <a:spAutoFit/>
          </a:bodyPr>
          <a:lstStyle/>
          <a:p>
            <a:r>
              <a:rPr lang="en-GB" sz="2400" dirty="0"/>
              <a:t>4.  Describe how the following equipment is used to separate water  </a:t>
            </a:r>
          </a:p>
          <a:p>
            <a:r>
              <a:rPr lang="en-GB" sz="2400" dirty="0"/>
              <a:t>     and </a:t>
            </a:r>
            <a:r>
              <a:rPr lang="en-GB" sz="2400" dirty="0" smtClean="0"/>
              <a:t>ethanol.</a:t>
            </a:r>
            <a:endParaRPr lang="en-GB" sz="2400" dirty="0"/>
          </a:p>
          <a:p>
            <a:pPr>
              <a:lnSpc>
                <a:spcPct val="150000"/>
              </a:lnSpc>
            </a:pPr>
            <a:endParaRPr lang="en-GB" dirty="0"/>
          </a:p>
          <a:p>
            <a:pPr marL="342900" indent="-342900">
              <a:buFont typeface="+mj-lt"/>
              <a:buAutoNum type="arabicPeriod"/>
            </a:pPr>
            <a:endParaRPr lang="en-GB" sz="1600" dirty="0"/>
          </a:p>
        </p:txBody>
      </p:sp>
      <p:pic>
        <p:nvPicPr>
          <p:cNvPr id="7" name="Picture 2" descr="Image result for distillation of ethanol">
            <a:extLst>
              <a:ext uri="{FF2B5EF4-FFF2-40B4-BE49-F238E27FC236}">
                <a16:creationId xmlns:a16="http://schemas.microsoft.com/office/drawing/2014/main" xmlns="" id="{80605123-73A3-4C7F-81D8-8DAEA871B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412776"/>
            <a:ext cx="3312368" cy="4854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3761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509200"/>
          </a:xfrm>
          <a:prstGeom prst="rect">
            <a:avLst/>
          </a:prstGeom>
          <a:noFill/>
        </p:spPr>
        <p:txBody>
          <a:bodyPr wrap="square" rtlCol="0">
            <a:spAutoFit/>
          </a:bodyPr>
          <a:lstStyle/>
          <a:p>
            <a:pPr marL="457200" indent="-457200">
              <a:buFont typeface="+mj-lt"/>
              <a:buAutoNum type="arabicPeriod" startAt="5"/>
            </a:pPr>
            <a:r>
              <a:rPr lang="en-GB" sz="2400" dirty="0"/>
              <a:t>A mixture and six colours are tested using chromatography. </a:t>
            </a:r>
            <a:r>
              <a:rPr lang="en-GB" sz="2400" dirty="0" smtClean="0"/>
              <a:t>The </a:t>
            </a:r>
            <a:r>
              <a:rPr lang="en-GB" sz="2400" dirty="0"/>
              <a:t>following chromatogram was </a:t>
            </a:r>
            <a:r>
              <a:rPr lang="en-GB" sz="2400" dirty="0" smtClean="0"/>
              <a:t>produced.</a:t>
            </a:r>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      a) What can you conclude about the mixture?</a:t>
            </a:r>
          </a:p>
          <a:p>
            <a:endParaRPr lang="en-GB" sz="2400" dirty="0"/>
          </a:p>
          <a:p>
            <a:r>
              <a:rPr lang="en-GB" sz="2400" dirty="0"/>
              <a:t>      b) Why do the inks separate?</a:t>
            </a:r>
          </a:p>
          <a:p>
            <a:r>
              <a:rPr lang="en-GB" sz="2400" dirty="0"/>
              <a:t> </a:t>
            </a:r>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xmlns="" id="{6EE77C87-4478-48D1-826D-B11AAFDFB1C0}"/>
              </a:ext>
            </a:extLst>
          </p:cNvPr>
          <p:cNvPicPr>
            <a:picLocks noChangeAspect="1"/>
          </p:cNvPicPr>
          <p:nvPr/>
        </p:nvPicPr>
        <p:blipFill>
          <a:blip r:embed="rId2"/>
          <a:stretch>
            <a:fillRect/>
          </a:stretch>
        </p:blipFill>
        <p:spPr>
          <a:xfrm>
            <a:off x="1403648" y="1484784"/>
            <a:ext cx="6521921" cy="2946942"/>
          </a:xfrm>
          <a:prstGeom prst="rect">
            <a:avLst/>
          </a:prstGeom>
        </p:spPr>
      </p:pic>
    </p:spTree>
    <p:extLst>
      <p:ext uri="{BB962C8B-B14F-4D97-AF65-F5344CB8AC3E}">
        <p14:creationId xmlns:p14="http://schemas.microsoft.com/office/powerpoint/2010/main" val="692625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Atoms, elements, </a:t>
            </a:r>
          </a:p>
          <a:p>
            <a:r>
              <a:rPr lang="en-GB" sz="3600" b="1" dirty="0">
                <a:solidFill>
                  <a:schemeClr val="tx1">
                    <a:lumMod val="50000"/>
                    <a:lumOff val="50000"/>
                  </a:schemeClr>
                </a:solidFill>
              </a:rPr>
              <a:t>compounds and mixtures </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Mixtures</a:t>
            </a: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7591142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186035"/>
          </a:xfrm>
          <a:prstGeom prst="rect">
            <a:avLst/>
          </a:prstGeom>
          <a:noFill/>
        </p:spPr>
        <p:txBody>
          <a:bodyPr wrap="square" rtlCol="0">
            <a:spAutoFit/>
          </a:bodyPr>
          <a:lstStyle/>
          <a:p>
            <a:pPr marL="457200" indent="-457200">
              <a:buAutoNum type="arabicPeriod"/>
            </a:pPr>
            <a:r>
              <a:rPr lang="en-GB" sz="2400" dirty="0"/>
              <a:t>What is the difference between a compound and a mixture?</a:t>
            </a:r>
          </a:p>
          <a:p>
            <a:r>
              <a:rPr lang="en-GB" sz="2400" dirty="0"/>
              <a:t>       </a:t>
            </a:r>
            <a:r>
              <a:rPr lang="en-GB" sz="2400" b="1" dirty="0">
                <a:solidFill>
                  <a:srgbClr val="00B050"/>
                </a:solidFill>
              </a:rPr>
              <a:t>The substances in a mixture are not chemically bonded together,    </a:t>
            </a:r>
          </a:p>
          <a:p>
            <a:r>
              <a:rPr lang="en-GB" sz="2400" b="1" dirty="0">
                <a:solidFill>
                  <a:srgbClr val="00B050"/>
                </a:solidFill>
              </a:rPr>
              <a:t>       but they are in a </a:t>
            </a:r>
            <a:r>
              <a:rPr lang="en-GB" sz="2400" b="1" dirty="0" smtClean="0">
                <a:solidFill>
                  <a:srgbClr val="00B050"/>
                </a:solidFill>
              </a:rPr>
              <a:t>compound.</a:t>
            </a:r>
            <a:endParaRPr lang="en-GB" sz="2400" b="1" dirty="0">
              <a:solidFill>
                <a:srgbClr val="00B050"/>
              </a:solidFill>
            </a:endParaRPr>
          </a:p>
          <a:p>
            <a:endParaRPr lang="en-GB" sz="2400" dirty="0"/>
          </a:p>
          <a:p>
            <a:r>
              <a:rPr lang="en-GB" sz="2400" dirty="0"/>
              <a:t>2.  Describe the method used to collect the salt from  a mixture of   </a:t>
            </a:r>
          </a:p>
          <a:p>
            <a:r>
              <a:rPr lang="en-GB" sz="2400" dirty="0"/>
              <a:t>      sand and </a:t>
            </a:r>
            <a:r>
              <a:rPr lang="en-GB" sz="2400" dirty="0" smtClean="0"/>
              <a:t>salt.</a:t>
            </a:r>
            <a:endParaRPr lang="en-GB" sz="2400" dirty="0"/>
          </a:p>
          <a:p>
            <a:r>
              <a:rPr lang="en-GB" sz="2400" dirty="0"/>
              <a:t>      </a:t>
            </a:r>
            <a:r>
              <a:rPr lang="en-GB" sz="2400" b="1" dirty="0">
                <a:solidFill>
                  <a:srgbClr val="00B050"/>
                </a:solidFill>
              </a:rPr>
              <a:t>Add water and stir to dissolve the salt</a:t>
            </a:r>
            <a:r>
              <a:rPr lang="en-GB" sz="2400" b="1" dirty="0" smtClean="0">
                <a:solidFill>
                  <a:srgbClr val="00B050"/>
                </a:solidFill>
              </a:rPr>
              <a:t>. </a:t>
            </a:r>
            <a:r>
              <a:rPr lang="en-GB" sz="2400" b="1" dirty="0">
                <a:solidFill>
                  <a:srgbClr val="00B050"/>
                </a:solidFill>
              </a:rPr>
              <a:t>Use filtration to remove     </a:t>
            </a:r>
          </a:p>
          <a:p>
            <a:r>
              <a:rPr lang="en-GB" sz="2400" b="1" dirty="0">
                <a:solidFill>
                  <a:srgbClr val="00B050"/>
                </a:solidFill>
              </a:rPr>
              <a:t>      the sand</a:t>
            </a:r>
            <a:r>
              <a:rPr lang="en-GB" sz="2400" b="1" dirty="0" smtClean="0">
                <a:solidFill>
                  <a:srgbClr val="00B050"/>
                </a:solidFill>
              </a:rPr>
              <a:t>. </a:t>
            </a:r>
            <a:r>
              <a:rPr lang="en-GB" sz="2400" b="1" dirty="0">
                <a:solidFill>
                  <a:srgbClr val="00B050"/>
                </a:solidFill>
              </a:rPr>
              <a:t>Heat the water (gently) to allow the salt to crystallise </a:t>
            </a:r>
          </a:p>
          <a:p>
            <a:r>
              <a:rPr lang="en-GB" sz="2400" b="1" dirty="0">
                <a:solidFill>
                  <a:srgbClr val="00B050"/>
                </a:solidFill>
              </a:rPr>
              <a:t>      (to avoid dryness</a:t>
            </a:r>
            <a:r>
              <a:rPr lang="en-GB" sz="2400" b="1" dirty="0" smtClean="0">
                <a:solidFill>
                  <a:srgbClr val="00B050"/>
                </a:solidFill>
              </a:rPr>
              <a:t>).</a:t>
            </a:r>
            <a:endParaRPr lang="en-GB" sz="2400" b="1" dirty="0">
              <a:solidFill>
                <a:srgbClr val="00B050"/>
              </a:solidFill>
            </a:endParaRPr>
          </a:p>
          <a:p>
            <a:endParaRPr lang="en-GB" sz="2400" dirty="0"/>
          </a:p>
          <a:p>
            <a:r>
              <a:rPr lang="en-GB" sz="2400" dirty="0"/>
              <a:t>3.  What process is used to purify seawater to obtain usable water?</a:t>
            </a:r>
          </a:p>
          <a:p>
            <a:r>
              <a:rPr lang="en-GB" sz="2400" b="1" dirty="0">
                <a:solidFill>
                  <a:srgbClr val="00B050"/>
                </a:solidFill>
              </a:rPr>
              <a:t>      Simple </a:t>
            </a:r>
            <a:r>
              <a:rPr lang="en-GB" sz="2400" b="1" dirty="0" smtClean="0">
                <a:solidFill>
                  <a:srgbClr val="00B050"/>
                </a:solidFill>
              </a:rPr>
              <a:t>distillation.</a:t>
            </a:r>
            <a:endParaRPr lang="en-GB" sz="2400" b="1" dirty="0">
              <a:solidFill>
                <a:srgbClr val="00B050"/>
              </a:solidFill>
            </a:endParaRP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9932340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924699"/>
          </a:xfrm>
          <a:prstGeom prst="rect">
            <a:avLst/>
          </a:prstGeom>
          <a:noFill/>
        </p:spPr>
        <p:txBody>
          <a:bodyPr wrap="square" rtlCol="0">
            <a:spAutoFit/>
          </a:bodyPr>
          <a:lstStyle/>
          <a:p>
            <a:r>
              <a:rPr lang="en-GB" sz="2400" dirty="0"/>
              <a:t>4.  Describe how the following equipment is used to separate water </a:t>
            </a:r>
          </a:p>
          <a:p>
            <a:r>
              <a:rPr lang="en-GB" sz="2400" dirty="0"/>
              <a:t>      and </a:t>
            </a:r>
            <a:r>
              <a:rPr lang="en-GB" sz="2400" dirty="0" smtClean="0"/>
              <a:t>ethanol.</a:t>
            </a:r>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b="1" dirty="0">
                <a:solidFill>
                  <a:srgbClr val="00B050"/>
                </a:solidFill>
              </a:rPr>
              <a:t>The ethanol and water mixture are heated. </a:t>
            </a:r>
            <a:r>
              <a:rPr lang="en-GB" sz="2400" b="1" dirty="0" smtClean="0">
                <a:solidFill>
                  <a:srgbClr val="00B050"/>
                </a:solidFill>
              </a:rPr>
              <a:t>Ethanol </a:t>
            </a:r>
            <a:r>
              <a:rPr lang="en-GB" sz="2400" b="1" dirty="0">
                <a:solidFill>
                  <a:srgbClr val="00B050"/>
                </a:solidFill>
              </a:rPr>
              <a:t>has a boiling point of 78°C and will vaporise first. </a:t>
            </a:r>
            <a:r>
              <a:rPr lang="en-GB" sz="2400" b="1" dirty="0" smtClean="0">
                <a:solidFill>
                  <a:srgbClr val="00B050"/>
                </a:solidFill>
              </a:rPr>
              <a:t>The </a:t>
            </a:r>
            <a:r>
              <a:rPr lang="en-GB" sz="2400" b="1" dirty="0">
                <a:solidFill>
                  <a:srgbClr val="00B050"/>
                </a:solidFill>
              </a:rPr>
              <a:t>gas passes over the fractionating column and into the condenser</a:t>
            </a:r>
            <a:r>
              <a:rPr lang="en-GB" sz="2400" b="1" dirty="0" smtClean="0">
                <a:solidFill>
                  <a:srgbClr val="00B050"/>
                </a:solidFill>
              </a:rPr>
              <a:t>. </a:t>
            </a:r>
            <a:r>
              <a:rPr lang="en-GB" sz="2400" b="1" dirty="0">
                <a:solidFill>
                  <a:srgbClr val="00B050"/>
                </a:solidFill>
              </a:rPr>
              <a:t>Here it will condense, turning back into it’s liquid </a:t>
            </a:r>
            <a:r>
              <a:rPr lang="en-GB" sz="2400" b="1" dirty="0" smtClean="0">
                <a:solidFill>
                  <a:srgbClr val="00B050"/>
                </a:solidFill>
              </a:rPr>
              <a:t>state.</a:t>
            </a:r>
            <a:endParaRPr lang="en-GB" sz="2400" b="1" dirty="0">
              <a:solidFill>
                <a:srgbClr val="00B050"/>
              </a:solidFill>
            </a:endParaRPr>
          </a:p>
          <a:p>
            <a:pPr>
              <a:lnSpc>
                <a:spcPct val="150000"/>
              </a:lnSpc>
            </a:pPr>
            <a:endParaRPr lang="en-GB" dirty="0"/>
          </a:p>
          <a:p>
            <a:pPr marL="342900" indent="-342900">
              <a:buFont typeface="+mj-lt"/>
              <a:buAutoNum type="arabicPeriod"/>
            </a:pPr>
            <a:endParaRPr lang="en-GB" sz="1600" dirty="0"/>
          </a:p>
        </p:txBody>
      </p:sp>
      <p:pic>
        <p:nvPicPr>
          <p:cNvPr id="7" name="Picture 2" descr="Image result for distillation of ethanol">
            <a:extLst>
              <a:ext uri="{FF2B5EF4-FFF2-40B4-BE49-F238E27FC236}">
                <a16:creationId xmlns:a16="http://schemas.microsoft.com/office/drawing/2014/main" xmlns="" id="{80605123-73A3-4C7F-81D8-8DAEA871B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357881"/>
            <a:ext cx="1872208" cy="2743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6023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Atoms, elements, compounds and mixtures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9103433" cy="5878532"/>
          </a:xfrm>
          <a:prstGeom prst="rect">
            <a:avLst/>
          </a:prstGeom>
          <a:noFill/>
        </p:spPr>
        <p:txBody>
          <a:bodyPr wrap="square" rtlCol="0">
            <a:spAutoFit/>
          </a:bodyPr>
          <a:lstStyle/>
          <a:p>
            <a:pPr marL="457200" indent="-457200">
              <a:buFont typeface="+mj-lt"/>
              <a:buAutoNum type="arabicPeriod" startAt="5"/>
            </a:pPr>
            <a:r>
              <a:rPr lang="en-GB" sz="2400" dirty="0"/>
              <a:t>A mixture and six colours are tested using chromatography.  The following chromatogram was produced:</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      a) What can you conclude about the mixture?</a:t>
            </a:r>
          </a:p>
          <a:p>
            <a:r>
              <a:rPr lang="en-GB" sz="2400" b="1" dirty="0">
                <a:solidFill>
                  <a:srgbClr val="00B050"/>
                </a:solidFill>
              </a:rPr>
              <a:t>           The mixture is made up from substance 1 and </a:t>
            </a:r>
            <a:r>
              <a:rPr lang="en-GB" sz="2400" b="1" dirty="0" smtClean="0">
                <a:solidFill>
                  <a:srgbClr val="00B050"/>
                </a:solidFill>
              </a:rPr>
              <a:t>4.</a:t>
            </a:r>
            <a:endParaRPr lang="en-GB" sz="2400" dirty="0"/>
          </a:p>
          <a:p>
            <a:r>
              <a:rPr lang="en-GB" sz="2400" dirty="0"/>
              <a:t>      b) Why do the inks separate to produce a chromatogram?</a:t>
            </a:r>
          </a:p>
          <a:p>
            <a:r>
              <a:rPr lang="en-GB" sz="2400" b="1" dirty="0">
                <a:solidFill>
                  <a:srgbClr val="00B050"/>
                </a:solidFill>
              </a:rPr>
              <a:t>           The separation depends on how soluble the chemical is in the  </a:t>
            </a:r>
          </a:p>
          <a:p>
            <a:r>
              <a:rPr lang="en-GB" sz="2400" b="1" dirty="0">
                <a:solidFill>
                  <a:srgbClr val="00B050"/>
                </a:solidFill>
              </a:rPr>
              <a:t>           solvent and how strongly the chemical is attracted to the </a:t>
            </a:r>
            <a:r>
              <a:rPr lang="en-GB" sz="2400" b="1" dirty="0" smtClean="0">
                <a:solidFill>
                  <a:srgbClr val="00B050"/>
                </a:solidFill>
              </a:rPr>
              <a:t>paper.</a:t>
            </a:r>
            <a:endParaRPr lang="en-GB" sz="2400" b="1" dirty="0">
              <a:solidFill>
                <a:srgbClr val="00B050"/>
              </a:solidFill>
            </a:endParaRPr>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xmlns="" id="{6EE77C87-4478-48D1-826D-B11AAFDFB1C0}"/>
              </a:ext>
            </a:extLst>
          </p:cNvPr>
          <p:cNvPicPr>
            <a:picLocks noChangeAspect="1"/>
          </p:cNvPicPr>
          <p:nvPr/>
        </p:nvPicPr>
        <p:blipFill>
          <a:blip r:embed="rId2"/>
          <a:stretch>
            <a:fillRect/>
          </a:stretch>
        </p:blipFill>
        <p:spPr>
          <a:xfrm>
            <a:off x="1403648" y="1484784"/>
            <a:ext cx="6521921" cy="2946942"/>
          </a:xfrm>
          <a:prstGeom prst="rect">
            <a:avLst/>
          </a:prstGeom>
        </p:spPr>
      </p:pic>
    </p:spTree>
    <p:extLst>
      <p:ext uri="{BB962C8B-B14F-4D97-AF65-F5344CB8AC3E}">
        <p14:creationId xmlns:p14="http://schemas.microsoft.com/office/powerpoint/2010/main" val="31033434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Development of the atomic model</a:t>
            </a:r>
          </a:p>
          <a:p>
            <a:endParaRPr lang="en-GB" dirty="0"/>
          </a:p>
        </p:txBody>
      </p:sp>
    </p:spTree>
    <p:extLst>
      <p:ext uri="{BB962C8B-B14F-4D97-AF65-F5344CB8AC3E}">
        <p14:creationId xmlns:p14="http://schemas.microsoft.com/office/powerpoint/2010/main" val="5623275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1</a:t>
            </a:r>
            <a:endParaRPr lang="en-GB" sz="2400" b="1" dirty="0">
              <a:solidFill>
                <a:schemeClr val="accent6"/>
              </a:solidFill>
            </a:endParaRPr>
          </a:p>
        </p:txBody>
      </p:sp>
      <p:sp>
        <p:nvSpPr>
          <p:cNvPr id="3" name="TextBox 2">
            <a:extLst>
              <a:ext uri="{FF2B5EF4-FFF2-40B4-BE49-F238E27FC236}">
                <a16:creationId xmlns:a16="http://schemas.microsoft.com/office/drawing/2014/main" xmlns="" id="{BFB9488D-9EAF-4EF5-AB57-642A3E74A244}"/>
              </a:ext>
            </a:extLst>
          </p:cNvPr>
          <p:cNvSpPr txBox="1"/>
          <p:nvPr/>
        </p:nvSpPr>
        <p:spPr>
          <a:xfrm>
            <a:off x="26700" y="681915"/>
            <a:ext cx="8856983" cy="3170099"/>
          </a:xfrm>
          <a:prstGeom prst="rect">
            <a:avLst/>
          </a:prstGeom>
          <a:noFill/>
        </p:spPr>
        <p:txBody>
          <a:bodyPr wrap="square" rtlCol="0">
            <a:spAutoFit/>
          </a:bodyPr>
          <a:lstStyle/>
          <a:p>
            <a:r>
              <a:rPr lang="en-GB" sz="2000" b="1" dirty="0"/>
              <a:t>Early 1800s</a:t>
            </a:r>
          </a:p>
          <a:p>
            <a:r>
              <a:rPr lang="en-GB" sz="2000" dirty="0"/>
              <a:t>Before the discovery of electrons, John Dalton’s experiments led to the idea that atoms were </a:t>
            </a:r>
            <a:r>
              <a:rPr lang="en-GB" sz="2000" b="1" dirty="0">
                <a:solidFill>
                  <a:schemeClr val="accent6">
                    <a:lumMod val="75000"/>
                  </a:schemeClr>
                </a:solidFill>
              </a:rPr>
              <a:t>tiny spheres </a:t>
            </a:r>
            <a:r>
              <a:rPr lang="en-GB" sz="2000" dirty="0">
                <a:solidFill>
                  <a:schemeClr val="accent6">
                    <a:lumMod val="75000"/>
                  </a:schemeClr>
                </a:solidFill>
              </a:rPr>
              <a:t>that could </a:t>
            </a:r>
            <a:r>
              <a:rPr lang="en-GB" sz="2000" b="1" dirty="0">
                <a:solidFill>
                  <a:schemeClr val="accent6">
                    <a:lumMod val="75000"/>
                  </a:schemeClr>
                </a:solidFill>
              </a:rPr>
              <a:t>not</a:t>
            </a:r>
            <a:r>
              <a:rPr lang="en-GB" sz="2000" dirty="0">
                <a:solidFill>
                  <a:schemeClr val="accent6">
                    <a:lumMod val="75000"/>
                  </a:schemeClr>
                </a:solidFill>
              </a:rPr>
              <a:t> be </a:t>
            </a:r>
            <a:r>
              <a:rPr lang="en-GB" sz="2000" b="1" dirty="0">
                <a:solidFill>
                  <a:schemeClr val="accent6">
                    <a:lumMod val="75000"/>
                  </a:schemeClr>
                </a:solidFill>
              </a:rPr>
              <a:t>divided</a:t>
            </a:r>
            <a:r>
              <a:rPr lang="en-GB" sz="2000" dirty="0"/>
              <a:t>.</a:t>
            </a:r>
          </a:p>
          <a:p>
            <a:endParaRPr lang="en-GB" sz="2000" dirty="0"/>
          </a:p>
          <a:p>
            <a:r>
              <a:rPr lang="en-GB" sz="2000" b="1" dirty="0"/>
              <a:t>End of 1800s</a:t>
            </a:r>
          </a:p>
          <a:p>
            <a:r>
              <a:rPr lang="en-GB" altLang="en-US" sz="2000" dirty="0">
                <a:latin typeface="+mj-lt"/>
              </a:rPr>
              <a:t>The </a:t>
            </a:r>
            <a:r>
              <a:rPr lang="en-GB" altLang="en-US" sz="2000" dirty="0">
                <a:solidFill>
                  <a:schemeClr val="accent6">
                    <a:lumMod val="75000"/>
                  </a:schemeClr>
                </a:solidFill>
                <a:latin typeface="+mj-lt"/>
              </a:rPr>
              <a:t>electron was discovered </a:t>
            </a:r>
            <a:r>
              <a:rPr lang="en-GB" altLang="en-US" sz="2000" dirty="0">
                <a:latin typeface="+mj-lt"/>
              </a:rPr>
              <a:t>by </a:t>
            </a:r>
            <a:r>
              <a:rPr lang="en-GB" altLang="en-US" sz="2000" b="1" dirty="0"/>
              <a:t>JJ Thomson</a:t>
            </a:r>
            <a:r>
              <a:rPr lang="en-GB" altLang="en-US" sz="2000" dirty="0">
                <a:latin typeface="+mj-lt"/>
              </a:rPr>
              <a:t>. </a:t>
            </a:r>
            <a:r>
              <a:rPr lang="en-GB" altLang="en-US" sz="2000" dirty="0" smtClean="0">
                <a:latin typeface="+mj-lt"/>
              </a:rPr>
              <a:t>Scientists </a:t>
            </a:r>
            <a:r>
              <a:rPr lang="en-GB" altLang="en-US" sz="2000" dirty="0">
                <a:latin typeface="+mj-lt"/>
              </a:rPr>
              <a:t>believed </a:t>
            </a:r>
          </a:p>
          <a:p>
            <a:r>
              <a:rPr lang="en-GB" altLang="en-US" sz="2000" dirty="0">
                <a:latin typeface="+mj-lt"/>
              </a:rPr>
              <a:t>that atoms were</a:t>
            </a:r>
            <a:r>
              <a:rPr lang="en-GB" altLang="en-US" sz="2000" b="1" dirty="0">
                <a:latin typeface="+mj-lt"/>
              </a:rPr>
              <a:t> </a:t>
            </a:r>
            <a:r>
              <a:rPr lang="en-GB" altLang="en-US" sz="2000" b="1" dirty="0">
                <a:solidFill>
                  <a:schemeClr val="accent6">
                    <a:lumMod val="75000"/>
                  </a:schemeClr>
                </a:solidFill>
                <a:latin typeface="+mj-lt"/>
              </a:rPr>
              <a:t>spheres</a:t>
            </a:r>
            <a:r>
              <a:rPr lang="en-GB" altLang="en-US" sz="2000" dirty="0">
                <a:solidFill>
                  <a:schemeClr val="accent6">
                    <a:lumMod val="75000"/>
                  </a:schemeClr>
                </a:solidFill>
                <a:latin typeface="+mj-lt"/>
              </a:rPr>
              <a:t> of </a:t>
            </a:r>
            <a:r>
              <a:rPr lang="en-GB" altLang="en-US" sz="2000" b="1" dirty="0">
                <a:solidFill>
                  <a:schemeClr val="accent6">
                    <a:lumMod val="75000"/>
                  </a:schemeClr>
                </a:solidFill>
                <a:latin typeface="+mj-lt"/>
              </a:rPr>
              <a:t>positive charge </a:t>
            </a:r>
            <a:r>
              <a:rPr lang="en-GB" altLang="en-US" sz="2000" dirty="0">
                <a:solidFill>
                  <a:schemeClr val="accent6">
                    <a:lumMod val="75000"/>
                  </a:schemeClr>
                </a:solidFill>
                <a:latin typeface="+mj-lt"/>
              </a:rPr>
              <a:t>with </a:t>
            </a:r>
            <a:r>
              <a:rPr lang="en-GB" altLang="en-US" sz="2000" b="1" dirty="0">
                <a:solidFill>
                  <a:schemeClr val="accent6">
                    <a:lumMod val="75000"/>
                  </a:schemeClr>
                </a:solidFill>
                <a:latin typeface="+mj-lt"/>
              </a:rPr>
              <a:t>negative </a:t>
            </a:r>
          </a:p>
          <a:p>
            <a:r>
              <a:rPr lang="en-GB" altLang="en-US" sz="2000" b="1" dirty="0">
                <a:solidFill>
                  <a:schemeClr val="accent6">
                    <a:lumMod val="75000"/>
                  </a:schemeClr>
                </a:solidFill>
                <a:latin typeface="+mj-lt"/>
              </a:rPr>
              <a:t>charges spread</a:t>
            </a:r>
            <a:r>
              <a:rPr lang="en-GB" altLang="en-US" sz="2000" dirty="0">
                <a:solidFill>
                  <a:schemeClr val="accent6">
                    <a:lumMod val="75000"/>
                  </a:schemeClr>
                </a:solidFill>
                <a:latin typeface="+mj-lt"/>
              </a:rPr>
              <a:t> throughout - the </a:t>
            </a:r>
            <a:r>
              <a:rPr lang="en-GB" altLang="en-US" sz="2000" b="1" dirty="0">
                <a:solidFill>
                  <a:schemeClr val="accent6">
                    <a:lumMod val="75000"/>
                  </a:schemeClr>
                </a:solidFill>
                <a:latin typeface="+mj-lt"/>
              </a:rPr>
              <a:t>‘plum-pudding’ model</a:t>
            </a:r>
            <a:r>
              <a:rPr lang="en-GB" altLang="en-US" sz="2000" dirty="0">
                <a:latin typeface="+mj-lt"/>
              </a:rPr>
              <a:t>.</a:t>
            </a:r>
          </a:p>
          <a:p>
            <a:endParaRPr lang="en-GB" altLang="en-US" sz="2000" dirty="0">
              <a:latin typeface="+mj-lt"/>
            </a:endParaRPr>
          </a:p>
          <a:p>
            <a:r>
              <a:rPr lang="en-GB" altLang="en-US" sz="2000" b="1" dirty="0"/>
              <a:t>1908-1913</a:t>
            </a: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xmlns="" id="{0D6FC013-D70D-46A7-86F4-1EC26C65E064}"/>
              </a:ext>
            </a:extLst>
          </p:cNvPr>
          <p:cNvPicPr>
            <a:picLocks noChangeAspect="1"/>
          </p:cNvPicPr>
          <p:nvPr/>
        </p:nvPicPr>
        <p:blipFill>
          <a:blip r:embed="rId3"/>
          <a:stretch>
            <a:fillRect/>
          </a:stretch>
        </p:blipFill>
        <p:spPr>
          <a:xfrm>
            <a:off x="6836221" y="1962090"/>
            <a:ext cx="2307779" cy="1228939"/>
          </a:xfrm>
          <a:prstGeom prst="rect">
            <a:avLst/>
          </a:prstGeom>
        </p:spPr>
      </p:pic>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xmlns="" id="{07460352-8FB2-49A9-AB7C-21ABF2DF3B30}"/>
              </a:ext>
            </a:extLst>
          </p:cNvPr>
          <p:cNvPicPr>
            <a:picLocks noChangeAspect="1"/>
          </p:cNvPicPr>
          <p:nvPr/>
        </p:nvPicPr>
        <p:blipFill>
          <a:blip r:embed="rId4"/>
          <a:stretch>
            <a:fillRect/>
          </a:stretch>
        </p:blipFill>
        <p:spPr>
          <a:xfrm>
            <a:off x="2575633" y="5552049"/>
            <a:ext cx="1329535" cy="932658"/>
          </a:xfrm>
          <a:prstGeom prst="rect">
            <a:avLst/>
          </a:prstGeom>
        </p:spPr>
      </p:pic>
      <p:pic>
        <p:nvPicPr>
          <p:cNvPr id="3074" name="Picture 2" descr="Image result for deflection/non-deflection of the alpha particle">
            <a:extLst>
              <a:ext uri="{FF2B5EF4-FFF2-40B4-BE49-F238E27FC236}">
                <a16:creationId xmlns:a16="http://schemas.microsoft.com/office/drawing/2014/main" xmlns="" id="{313E36D7-66B5-4BB2-845E-A5060EC1021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11960" y="4367522"/>
            <a:ext cx="4950372" cy="217094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8F114823-F6E5-45EC-AE32-D3433C6FE9B0}"/>
              </a:ext>
            </a:extLst>
          </p:cNvPr>
          <p:cNvSpPr txBox="1"/>
          <p:nvPr/>
        </p:nvSpPr>
        <p:spPr>
          <a:xfrm>
            <a:off x="26699" y="3706537"/>
            <a:ext cx="8856983" cy="2523768"/>
          </a:xfrm>
          <a:prstGeom prst="rect">
            <a:avLst/>
          </a:prstGeom>
          <a:noFill/>
        </p:spPr>
        <p:txBody>
          <a:bodyPr wrap="square" rtlCol="0">
            <a:spAutoFit/>
          </a:bodyPr>
          <a:lstStyle/>
          <a:p>
            <a:r>
              <a:rPr lang="en-GB" sz="2000" b="1" dirty="0" smtClean="0"/>
              <a:t>Ernst Rutherford </a:t>
            </a:r>
            <a:r>
              <a:rPr lang="en-GB" sz="2000" dirty="0" smtClean="0"/>
              <a:t>designed an experiment carried out by</a:t>
            </a:r>
            <a:r>
              <a:rPr lang="en-GB" sz="2000" dirty="0"/>
              <a:t> </a:t>
            </a:r>
            <a:r>
              <a:rPr lang="en-GB" sz="2000" b="1" dirty="0" smtClean="0"/>
              <a:t>Geiger</a:t>
            </a:r>
            <a:r>
              <a:rPr lang="en-GB" sz="2000" dirty="0"/>
              <a:t> </a:t>
            </a:r>
            <a:r>
              <a:rPr lang="en-GB" sz="2000" dirty="0" smtClean="0"/>
              <a:t>and </a:t>
            </a:r>
            <a:r>
              <a:rPr lang="en-GB" sz="2000" b="1" dirty="0" smtClean="0"/>
              <a:t>Marsden. They</a:t>
            </a:r>
            <a:r>
              <a:rPr lang="en-GB" sz="2000" dirty="0"/>
              <a:t> </a:t>
            </a:r>
            <a:r>
              <a:rPr lang="en-GB" altLang="en-US" sz="2000" dirty="0"/>
              <a:t>fired </a:t>
            </a:r>
            <a:r>
              <a:rPr lang="en-GB" altLang="en-US" sz="2000" b="1" dirty="0">
                <a:solidFill>
                  <a:schemeClr val="accent6">
                    <a:lumMod val="75000"/>
                  </a:schemeClr>
                </a:solidFill>
              </a:rPr>
              <a:t>alpha</a:t>
            </a:r>
            <a:r>
              <a:rPr lang="en-GB" altLang="en-US" sz="2000" dirty="0">
                <a:solidFill>
                  <a:schemeClr val="accent6">
                    <a:lumMod val="75000"/>
                  </a:schemeClr>
                </a:solidFill>
              </a:rPr>
              <a:t> particles </a:t>
            </a:r>
            <a:r>
              <a:rPr lang="en-GB" altLang="en-US" sz="2000" dirty="0"/>
              <a:t>at a piece of very thin </a:t>
            </a:r>
            <a:r>
              <a:rPr lang="en-GB" altLang="en-US" sz="2000" b="1" dirty="0"/>
              <a:t>gold foil </a:t>
            </a:r>
            <a:r>
              <a:rPr lang="en-GB" altLang="en-US" sz="2000" dirty="0"/>
              <a:t>(only a few atoms thick) which </a:t>
            </a:r>
            <a:r>
              <a:rPr lang="en-GB" altLang="en-US" sz="2000" b="1" dirty="0">
                <a:solidFill>
                  <a:schemeClr val="accent6">
                    <a:lumMod val="75000"/>
                  </a:schemeClr>
                </a:solidFill>
              </a:rPr>
              <a:t>scattered</a:t>
            </a:r>
            <a:r>
              <a:rPr lang="en-GB" altLang="en-US" sz="2000" dirty="0"/>
              <a:t>, </a:t>
            </a:r>
            <a:r>
              <a:rPr lang="en-GB" altLang="en-US" sz="2000" dirty="0" smtClean="0"/>
              <a:t>leading to the conclusion that the </a:t>
            </a:r>
          </a:p>
          <a:p>
            <a:r>
              <a:rPr lang="en-GB" altLang="en-US" sz="2000" dirty="0" smtClean="0">
                <a:solidFill>
                  <a:schemeClr val="accent6">
                    <a:lumMod val="75000"/>
                  </a:schemeClr>
                </a:solidFill>
              </a:rPr>
              <a:t>mass of an atom was concentrated in a </a:t>
            </a:r>
            <a:r>
              <a:rPr lang="en-GB" altLang="en-US" sz="2000" b="1" dirty="0" smtClean="0">
                <a:solidFill>
                  <a:schemeClr val="accent6">
                    <a:lumMod val="75000"/>
                  </a:schemeClr>
                </a:solidFill>
              </a:rPr>
              <a:t>nucleus</a:t>
            </a:r>
            <a:r>
              <a:rPr lang="en-GB" altLang="en-US" sz="2000" dirty="0" smtClean="0"/>
              <a:t>, </a:t>
            </a:r>
          </a:p>
          <a:p>
            <a:r>
              <a:rPr lang="en-GB" altLang="en-US" sz="2000" dirty="0" smtClean="0"/>
              <a:t>which was </a:t>
            </a:r>
            <a:r>
              <a:rPr lang="en-GB" altLang="en-US" sz="2000" dirty="0" smtClean="0">
                <a:solidFill>
                  <a:schemeClr val="accent6">
                    <a:lumMod val="75000"/>
                  </a:schemeClr>
                </a:solidFill>
              </a:rPr>
              <a:t>charged</a:t>
            </a:r>
            <a:r>
              <a:rPr lang="en-GB" sz="2000" dirty="0" smtClean="0"/>
              <a:t>. </a:t>
            </a:r>
          </a:p>
          <a:p>
            <a:r>
              <a:rPr lang="en-GB" sz="2000" dirty="0" smtClean="0"/>
              <a:t>It </a:t>
            </a:r>
            <a:r>
              <a:rPr lang="en-GB" sz="2000" dirty="0"/>
              <a:t>proposed that </a:t>
            </a:r>
            <a:r>
              <a:rPr lang="en-GB" sz="2000" b="1" dirty="0" smtClean="0">
                <a:solidFill>
                  <a:schemeClr val="accent6">
                    <a:lumMod val="75000"/>
                  </a:schemeClr>
                </a:solidFill>
              </a:rPr>
              <a:t>electrons</a:t>
            </a:r>
            <a:r>
              <a:rPr lang="en-GB" sz="2000" dirty="0" smtClean="0">
                <a:solidFill>
                  <a:schemeClr val="accent6">
                    <a:lumMod val="75000"/>
                  </a:schemeClr>
                </a:solidFill>
              </a:rPr>
              <a:t> </a:t>
            </a:r>
            <a:r>
              <a:rPr lang="en-GB" sz="2000" b="1" dirty="0">
                <a:solidFill>
                  <a:schemeClr val="accent6">
                    <a:lumMod val="75000"/>
                  </a:schemeClr>
                </a:solidFill>
              </a:rPr>
              <a:t>orbited </a:t>
            </a:r>
            <a:endParaRPr lang="en-GB" sz="2000" b="1" dirty="0" smtClean="0">
              <a:solidFill>
                <a:schemeClr val="accent6">
                  <a:lumMod val="75000"/>
                </a:schemeClr>
              </a:solidFill>
            </a:endParaRPr>
          </a:p>
          <a:p>
            <a:r>
              <a:rPr lang="en-GB" sz="2000" dirty="0" smtClean="0">
                <a:solidFill>
                  <a:schemeClr val="accent6">
                    <a:lumMod val="75000"/>
                  </a:schemeClr>
                </a:solidFill>
              </a:rPr>
              <a:t>around </a:t>
            </a:r>
            <a:r>
              <a:rPr lang="en-GB" sz="2000" dirty="0">
                <a:solidFill>
                  <a:schemeClr val="accent6">
                    <a:lumMod val="75000"/>
                  </a:schemeClr>
                </a:solidFill>
              </a:rPr>
              <a:t>the nucleus</a:t>
            </a:r>
            <a:r>
              <a:rPr lang="en-GB" sz="2000" dirty="0"/>
              <a:t>.  </a:t>
            </a:r>
          </a:p>
          <a:p>
            <a:endParaRPr lang="en-GB" dirty="0"/>
          </a:p>
        </p:txBody>
      </p:sp>
    </p:spTree>
    <p:extLst>
      <p:ext uri="{BB962C8B-B14F-4D97-AF65-F5344CB8AC3E}">
        <p14:creationId xmlns:p14="http://schemas.microsoft.com/office/powerpoint/2010/main" val="6820765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1</a:t>
            </a:r>
            <a:endParaRPr lang="en-GB" sz="2400" b="1" dirty="0">
              <a:solidFill>
                <a:schemeClr val="accent6"/>
              </a:solidFill>
            </a:endParaRPr>
          </a:p>
        </p:txBody>
      </p:sp>
      <p:sp>
        <p:nvSpPr>
          <p:cNvPr id="3" name="TextBox 2">
            <a:extLst>
              <a:ext uri="{FF2B5EF4-FFF2-40B4-BE49-F238E27FC236}">
                <a16:creationId xmlns:a16="http://schemas.microsoft.com/office/drawing/2014/main" xmlns="" id="{BFB9488D-9EAF-4EF5-AB57-642A3E74A244}"/>
              </a:ext>
            </a:extLst>
          </p:cNvPr>
          <p:cNvSpPr txBox="1"/>
          <p:nvPr/>
        </p:nvSpPr>
        <p:spPr>
          <a:xfrm>
            <a:off x="107504" y="700871"/>
            <a:ext cx="6841957" cy="5940088"/>
          </a:xfrm>
          <a:prstGeom prst="rect">
            <a:avLst/>
          </a:prstGeom>
          <a:noFill/>
        </p:spPr>
        <p:txBody>
          <a:bodyPr wrap="square" rtlCol="0">
            <a:spAutoFit/>
          </a:bodyPr>
          <a:lstStyle/>
          <a:p>
            <a:r>
              <a:rPr lang="en-GB" sz="2000" b="1" dirty="0"/>
              <a:t>1914</a:t>
            </a:r>
          </a:p>
          <a:p>
            <a:r>
              <a:rPr lang="en-GB" sz="2000" b="1" dirty="0">
                <a:solidFill>
                  <a:schemeClr val="accent6">
                    <a:lumMod val="75000"/>
                  </a:schemeClr>
                </a:solidFill>
              </a:rPr>
              <a:t>Niels Bohr </a:t>
            </a:r>
            <a:r>
              <a:rPr lang="en-GB" sz="2000" dirty="0"/>
              <a:t>noticed that the </a:t>
            </a:r>
            <a:r>
              <a:rPr lang="en-GB" sz="2000" b="1" dirty="0"/>
              <a:t>light</a:t>
            </a:r>
            <a:r>
              <a:rPr lang="en-GB" sz="2000" dirty="0"/>
              <a:t> given out when atoms were </a:t>
            </a:r>
            <a:r>
              <a:rPr lang="en-GB" sz="2000" b="1" dirty="0"/>
              <a:t>heated</a:t>
            </a:r>
            <a:r>
              <a:rPr lang="en-GB" sz="2000" dirty="0"/>
              <a:t> only had </a:t>
            </a:r>
            <a:r>
              <a:rPr lang="en-GB" sz="2000" b="1" dirty="0"/>
              <a:t>specific</a:t>
            </a:r>
            <a:r>
              <a:rPr lang="en-GB" sz="2000" dirty="0"/>
              <a:t> amounts of</a:t>
            </a:r>
            <a:r>
              <a:rPr lang="en-GB" sz="2000" b="1" dirty="0"/>
              <a:t> energy </a:t>
            </a:r>
            <a:r>
              <a:rPr lang="en-GB" sz="2000" dirty="0"/>
              <a:t>and he adapted the nuclear model by suggesting that </a:t>
            </a:r>
            <a:r>
              <a:rPr lang="en-GB" sz="2000" dirty="0">
                <a:solidFill>
                  <a:schemeClr val="accent6">
                    <a:lumMod val="75000"/>
                  </a:schemeClr>
                </a:solidFill>
              </a:rPr>
              <a:t>electrons</a:t>
            </a:r>
            <a:r>
              <a:rPr lang="en-GB" sz="2000" b="1" dirty="0">
                <a:solidFill>
                  <a:schemeClr val="accent6">
                    <a:lumMod val="75000"/>
                  </a:schemeClr>
                </a:solidFill>
              </a:rPr>
              <a:t> orbit </a:t>
            </a:r>
            <a:r>
              <a:rPr lang="en-GB" sz="2000" dirty="0">
                <a:solidFill>
                  <a:schemeClr val="accent6">
                    <a:lumMod val="75000"/>
                  </a:schemeClr>
                </a:solidFill>
              </a:rPr>
              <a:t>the nucleus at </a:t>
            </a:r>
            <a:r>
              <a:rPr lang="en-GB" sz="2000" b="1" dirty="0">
                <a:solidFill>
                  <a:schemeClr val="accent6">
                    <a:lumMod val="75000"/>
                  </a:schemeClr>
                </a:solidFill>
              </a:rPr>
              <a:t>specific distances </a:t>
            </a:r>
            <a:r>
              <a:rPr lang="en-GB" sz="2000" dirty="0">
                <a:solidFill>
                  <a:schemeClr val="accent6">
                    <a:lumMod val="75000"/>
                  </a:schemeClr>
                </a:solidFill>
              </a:rPr>
              <a:t>in certain </a:t>
            </a:r>
            <a:r>
              <a:rPr lang="en-GB" sz="2000" b="1" dirty="0">
                <a:solidFill>
                  <a:schemeClr val="accent6">
                    <a:lumMod val="75000"/>
                  </a:schemeClr>
                </a:solidFill>
              </a:rPr>
              <a:t>fixed energy levels </a:t>
            </a:r>
            <a:r>
              <a:rPr lang="en-GB" sz="2000" dirty="0">
                <a:solidFill>
                  <a:schemeClr val="accent6">
                    <a:lumMod val="75000"/>
                  </a:schemeClr>
                </a:solidFill>
              </a:rPr>
              <a:t>(or shells</a:t>
            </a:r>
            <a:r>
              <a:rPr lang="en-GB" sz="2000" dirty="0" smtClean="0">
                <a:solidFill>
                  <a:schemeClr val="accent6">
                    <a:lumMod val="75000"/>
                  </a:schemeClr>
                </a:solidFill>
              </a:rPr>
              <a:t>)</a:t>
            </a:r>
            <a:r>
              <a:rPr lang="en-GB" sz="2000" dirty="0" smtClean="0"/>
              <a:t>. </a:t>
            </a:r>
            <a:r>
              <a:rPr lang="en-GB" sz="2000" dirty="0"/>
              <a:t>The energy must be given out when excited electrons </a:t>
            </a:r>
            <a:r>
              <a:rPr lang="en-GB" sz="2000" b="1" dirty="0"/>
              <a:t>fall</a:t>
            </a:r>
            <a:r>
              <a:rPr lang="en-GB" sz="2000" dirty="0"/>
              <a:t> from a </a:t>
            </a:r>
            <a:r>
              <a:rPr lang="en-GB" sz="2000" b="1" dirty="0"/>
              <a:t>high</a:t>
            </a:r>
            <a:r>
              <a:rPr lang="en-GB" sz="2000" dirty="0"/>
              <a:t> to </a:t>
            </a:r>
            <a:r>
              <a:rPr lang="en-GB" sz="2000" b="1" dirty="0"/>
              <a:t>low </a:t>
            </a:r>
            <a:r>
              <a:rPr lang="en-GB" sz="2000" dirty="0"/>
              <a:t>energy level.  </a:t>
            </a:r>
            <a:endParaRPr lang="en-GB" sz="2000" dirty="0" smtClean="0"/>
          </a:p>
          <a:p>
            <a:endParaRPr lang="en-GB" sz="2000" dirty="0"/>
          </a:p>
          <a:p>
            <a:r>
              <a:rPr lang="en-GB" sz="2000" dirty="0"/>
              <a:t>Later experiments led to the idea that the </a:t>
            </a:r>
            <a:r>
              <a:rPr lang="en-GB" sz="2000" b="1" dirty="0">
                <a:solidFill>
                  <a:schemeClr val="accent6">
                    <a:lumMod val="75000"/>
                  </a:schemeClr>
                </a:solidFill>
              </a:rPr>
              <a:t>positive charge </a:t>
            </a:r>
            <a:r>
              <a:rPr lang="en-GB" sz="2000" dirty="0">
                <a:solidFill>
                  <a:schemeClr val="accent6">
                    <a:lumMod val="75000"/>
                  </a:schemeClr>
                </a:solidFill>
              </a:rPr>
              <a:t>of the nucleus could be </a:t>
            </a:r>
            <a:r>
              <a:rPr lang="en-GB" sz="2000" b="1" dirty="0">
                <a:solidFill>
                  <a:schemeClr val="accent6">
                    <a:lumMod val="75000"/>
                  </a:schemeClr>
                </a:solidFill>
              </a:rPr>
              <a:t>subdivided</a:t>
            </a:r>
            <a:r>
              <a:rPr lang="en-GB" sz="2000" dirty="0"/>
              <a:t> into a </a:t>
            </a:r>
            <a:r>
              <a:rPr lang="en-GB" sz="2000" b="1" dirty="0"/>
              <a:t>whole number </a:t>
            </a:r>
            <a:r>
              <a:rPr lang="en-GB" sz="2000" dirty="0"/>
              <a:t>of </a:t>
            </a:r>
            <a:r>
              <a:rPr lang="en-GB" sz="2000" b="1" dirty="0"/>
              <a:t>smaller particles</a:t>
            </a:r>
            <a:r>
              <a:rPr lang="en-GB" sz="2000" dirty="0"/>
              <a:t>, each particle having the </a:t>
            </a:r>
            <a:r>
              <a:rPr lang="en-GB" sz="2000" b="1" dirty="0"/>
              <a:t>same</a:t>
            </a:r>
            <a:r>
              <a:rPr lang="en-GB" sz="2000" dirty="0"/>
              <a:t> amount of </a:t>
            </a:r>
            <a:r>
              <a:rPr lang="en-GB" sz="2000" b="1" dirty="0">
                <a:solidFill>
                  <a:schemeClr val="accent6">
                    <a:lumMod val="75000"/>
                  </a:schemeClr>
                </a:solidFill>
              </a:rPr>
              <a:t>positive </a:t>
            </a:r>
            <a:r>
              <a:rPr lang="en-GB" sz="2000" dirty="0">
                <a:solidFill>
                  <a:schemeClr val="accent6">
                    <a:lumMod val="75000"/>
                  </a:schemeClr>
                </a:solidFill>
              </a:rPr>
              <a:t>charge</a:t>
            </a:r>
            <a:r>
              <a:rPr lang="en-GB" sz="2000" dirty="0"/>
              <a:t>. </a:t>
            </a:r>
            <a:r>
              <a:rPr lang="en-GB" sz="2000" dirty="0" smtClean="0"/>
              <a:t>The </a:t>
            </a:r>
            <a:r>
              <a:rPr lang="en-GB" sz="2000" dirty="0"/>
              <a:t>name </a:t>
            </a:r>
            <a:r>
              <a:rPr lang="en-GB" sz="2000" b="1" dirty="0">
                <a:solidFill>
                  <a:schemeClr val="accent6">
                    <a:lumMod val="75000"/>
                  </a:schemeClr>
                </a:solidFill>
              </a:rPr>
              <a:t>proton</a:t>
            </a:r>
            <a:r>
              <a:rPr lang="en-GB" sz="2000" dirty="0"/>
              <a:t> was given to these particles</a:t>
            </a:r>
            <a:r>
              <a:rPr lang="en-GB" sz="2000" dirty="0" smtClean="0"/>
              <a:t>.</a:t>
            </a:r>
          </a:p>
          <a:p>
            <a:endParaRPr lang="en-GB" sz="2000" dirty="0"/>
          </a:p>
          <a:p>
            <a:r>
              <a:rPr lang="en-GB" sz="2000" b="1" dirty="0"/>
              <a:t>1932</a:t>
            </a:r>
          </a:p>
          <a:p>
            <a:r>
              <a:rPr lang="en-GB" altLang="en-US" sz="2000" b="1" dirty="0">
                <a:solidFill>
                  <a:schemeClr val="accent6">
                    <a:lumMod val="75000"/>
                  </a:schemeClr>
                </a:solidFill>
                <a:latin typeface="+mj-lt"/>
              </a:rPr>
              <a:t>James Chadwick </a:t>
            </a:r>
            <a:r>
              <a:rPr lang="en-GB" sz="2000" dirty="0"/>
              <a:t>bombarded </a:t>
            </a:r>
            <a:r>
              <a:rPr lang="en-GB" sz="2000" b="1" dirty="0"/>
              <a:t>beryllium </a:t>
            </a:r>
            <a:r>
              <a:rPr lang="en-GB" sz="2000" dirty="0"/>
              <a:t>atoms with </a:t>
            </a:r>
            <a:r>
              <a:rPr lang="en-GB" sz="2000" b="1" dirty="0"/>
              <a:t>alpha</a:t>
            </a:r>
            <a:r>
              <a:rPr lang="en-GB" sz="2000" dirty="0"/>
              <a:t> particles. An unknown radiation was produced. Chadwick interpreted this radiation as being composed of particles with a </a:t>
            </a:r>
            <a:r>
              <a:rPr lang="en-GB" sz="2000" b="1" dirty="0"/>
              <a:t>neutral electrical charge </a:t>
            </a:r>
            <a:r>
              <a:rPr lang="en-GB" sz="2000" dirty="0"/>
              <a:t>and the approximate </a:t>
            </a:r>
            <a:r>
              <a:rPr lang="en-GB" sz="2000" b="1" dirty="0"/>
              <a:t>mass of a proton</a:t>
            </a:r>
            <a:r>
              <a:rPr lang="en-GB" sz="2000" dirty="0"/>
              <a:t>. This particle became known as the </a:t>
            </a:r>
            <a:r>
              <a:rPr lang="en-GB" sz="2000" b="1" dirty="0">
                <a:solidFill>
                  <a:schemeClr val="accent6">
                    <a:lumMod val="75000"/>
                  </a:schemeClr>
                </a:solidFill>
              </a:rPr>
              <a:t>neutron</a:t>
            </a:r>
            <a:r>
              <a:rPr lang="en-GB" sz="2000" dirty="0"/>
              <a:t>.</a:t>
            </a: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1506" name="Picture 2" descr="Image result for bohr model of the atom">
            <a:extLst>
              <a:ext uri="{FF2B5EF4-FFF2-40B4-BE49-F238E27FC236}">
                <a16:creationId xmlns:a16="http://schemas.microsoft.com/office/drawing/2014/main" xmlns="" id="{52A30CA3-F3D0-4632-8A35-176B79A58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0355" y="1239107"/>
            <a:ext cx="2139833" cy="2037493"/>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4" descr="Image result for james chadwick model">
            <a:extLst>
              <a:ext uri="{FF2B5EF4-FFF2-40B4-BE49-F238E27FC236}">
                <a16:creationId xmlns:a16="http://schemas.microsoft.com/office/drawing/2014/main" xmlns="" id="{7790C294-F4E1-494B-B8D0-1EEDFFE4EB36}"/>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xmlns="" id="{B18F3876-A4D2-4B36-AD8B-CDEF427851FF}"/>
              </a:ext>
            </a:extLst>
          </p:cNvPr>
          <p:cNvPicPr>
            <a:picLocks noChangeAspect="1"/>
          </p:cNvPicPr>
          <p:nvPr/>
        </p:nvPicPr>
        <p:blipFill>
          <a:blip r:embed="rId4"/>
          <a:stretch>
            <a:fillRect/>
          </a:stretch>
        </p:blipFill>
        <p:spPr>
          <a:xfrm>
            <a:off x="6949461" y="4869161"/>
            <a:ext cx="1746577" cy="1080120"/>
          </a:xfrm>
          <a:prstGeom prst="rect">
            <a:avLst/>
          </a:prstGeom>
        </p:spPr>
      </p:pic>
    </p:spTree>
    <p:extLst>
      <p:ext uri="{BB962C8B-B14F-4D97-AF65-F5344CB8AC3E}">
        <p14:creationId xmlns:p14="http://schemas.microsoft.com/office/powerpoint/2010/main" val="30049302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Image result for james chadwick model">
            <a:extLst>
              <a:ext uri="{FF2B5EF4-FFF2-40B4-BE49-F238E27FC236}">
                <a16:creationId xmlns:a16="http://schemas.microsoft.com/office/drawing/2014/main" xmlns="" id="{7790C294-F4E1-494B-B8D0-1EEDFFE4EB36}"/>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7" name="Diagram 6"/>
          <p:cNvGraphicFramePr/>
          <p:nvPr>
            <p:extLst>
              <p:ext uri="{D42A27DB-BD31-4B8C-83A1-F6EECF244321}">
                <p14:modId xmlns:p14="http://schemas.microsoft.com/office/powerpoint/2010/main" val="501516680"/>
              </p:ext>
            </p:extLst>
          </p:nvPr>
        </p:nvGraphicFramePr>
        <p:xfrm>
          <a:off x="171417" y="756591"/>
          <a:ext cx="8784976" cy="3232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p:cNvGraphicFramePr/>
          <p:nvPr>
            <p:extLst>
              <p:ext uri="{D42A27DB-BD31-4B8C-83A1-F6EECF244321}">
                <p14:modId xmlns:p14="http://schemas.microsoft.com/office/powerpoint/2010/main" val="3043217177"/>
              </p:ext>
            </p:extLst>
          </p:nvPr>
        </p:nvGraphicFramePr>
        <p:xfrm>
          <a:off x="155875" y="3835962"/>
          <a:ext cx="8784976" cy="29774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409180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Development </a:t>
            </a:r>
            <a:r>
              <a:rPr lang="en-US" sz="2400" b="1" dirty="0">
                <a:solidFill>
                  <a:schemeClr val="bg1">
                    <a:lumMod val="50000"/>
                  </a:schemeClr>
                </a:solidFill>
              </a:rPr>
              <a:t>of the atomic model</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7283297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924699"/>
          </a:xfrm>
          <a:prstGeom prst="rect">
            <a:avLst/>
          </a:prstGeom>
          <a:noFill/>
        </p:spPr>
        <p:txBody>
          <a:bodyPr wrap="square" rtlCol="0">
            <a:spAutoFit/>
          </a:bodyPr>
          <a:lstStyle/>
          <a:p>
            <a:pPr marL="457200" indent="-457200">
              <a:buAutoNum type="arabicPeriod"/>
            </a:pPr>
            <a:r>
              <a:rPr lang="en-GB" sz="2400" dirty="0" smtClean="0"/>
              <a:t>What was the earliest model of the atom?</a:t>
            </a:r>
          </a:p>
          <a:p>
            <a:pPr marL="457200" indent="-457200">
              <a:buAutoNum type="arabicPeriod"/>
            </a:pPr>
            <a:endParaRPr lang="en-GB" sz="2400" dirty="0" smtClean="0"/>
          </a:p>
          <a:p>
            <a:pPr marL="457200" indent="-457200">
              <a:buAutoNum type="arabicPeriod"/>
            </a:pPr>
            <a:r>
              <a:rPr lang="en-GB" sz="2400" dirty="0" smtClean="0"/>
              <a:t>Which </a:t>
            </a:r>
            <a:r>
              <a:rPr lang="en-GB" sz="2400" dirty="0"/>
              <a:t>subatomic particle did JJ. Thomson discover</a:t>
            </a:r>
            <a:r>
              <a:rPr lang="en-GB" sz="2400" dirty="0" smtClean="0"/>
              <a:t>?</a:t>
            </a:r>
          </a:p>
          <a:p>
            <a:pPr marL="457200" indent="-457200">
              <a:buAutoNum type="arabicPeriod"/>
            </a:pPr>
            <a:endParaRPr lang="en-GB" sz="2400" dirty="0"/>
          </a:p>
          <a:p>
            <a:pPr marL="457200" indent="-457200">
              <a:buAutoNum type="arabicPeriod"/>
            </a:pPr>
            <a:r>
              <a:rPr lang="en-GB" sz="2400" dirty="0"/>
              <a:t>Which early atomic model does the following diagram </a:t>
            </a:r>
            <a:r>
              <a:rPr lang="en-GB" sz="2400" dirty="0" smtClean="0"/>
              <a:t>show?</a:t>
            </a:r>
          </a:p>
          <a:p>
            <a:pPr marL="457200" indent="-457200">
              <a:buAutoNum type="arabicPeriod"/>
            </a:pPr>
            <a:endParaRPr lang="en-GB" sz="2400" dirty="0" smtClean="0"/>
          </a:p>
          <a:p>
            <a:pPr marL="457200" indent="-457200">
              <a:buAutoNum type="arabicPeriod"/>
            </a:pPr>
            <a:r>
              <a:rPr lang="en-GB" sz="2400" dirty="0" smtClean="0"/>
              <a:t>Name Rutherford’s experiment.</a:t>
            </a:r>
          </a:p>
          <a:p>
            <a:pPr marL="457200" indent="-457200">
              <a:buAutoNum type="arabicPeriod"/>
            </a:pPr>
            <a:endParaRPr lang="en-GB" sz="2400" dirty="0" smtClean="0"/>
          </a:p>
          <a:p>
            <a:pPr marL="457200" indent="-457200">
              <a:buFont typeface="+mj-lt"/>
              <a:buAutoNum type="arabicPeriod" startAt="5"/>
            </a:pPr>
            <a:r>
              <a:rPr lang="en-GB" sz="2400" dirty="0" smtClean="0"/>
              <a:t>State </a:t>
            </a:r>
            <a:r>
              <a:rPr lang="en-GB" sz="2400" dirty="0"/>
              <a:t>two ways in which </a:t>
            </a:r>
            <a:r>
              <a:rPr lang="en-GB" sz="2400" dirty="0" smtClean="0"/>
              <a:t>Rutherford’s experiment </a:t>
            </a:r>
            <a:r>
              <a:rPr lang="en-GB" sz="2400" dirty="0"/>
              <a:t>changed Thomson’s model of the </a:t>
            </a:r>
            <a:r>
              <a:rPr lang="en-GB" sz="2400" dirty="0" smtClean="0"/>
              <a:t>atom</a:t>
            </a:r>
            <a:r>
              <a:rPr lang="en-GB" sz="2400" dirty="0" smtClean="0"/>
              <a:t>.</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How did Bohr adapt the nuclear model?</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Explain </a:t>
            </a:r>
            <a:r>
              <a:rPr lang="en-GB" sz="2400" dirty="0"/>
              <a:t>why Bohr revised Rutherford’s model of the </a:t>
            </a:r>
            <a:r>
              <a:rPr lang="en-GB" sz="2400" dirty="0" smtClean="0"/>
              <a:t>atom.</a:t>
            </a:r>
            <a:endParaRPr lang="en-GB" sz="2400" dirty="0"/>
          </a:p>
          <a:p>
            <a:pPr>
              <a:lnSpc>
                <a:spcPct val="150000"/>
              </a:lnSpc>
            </a:pPr>
            <a:endParaRPr lang="en-GB" dirty="0"/>
          </a:p>
          <a:p>
            <a:pPr marL="342900" indent="-342900">
              <a:buFont typeface="+mj-lt"/>
              <a:buAutoNum type="arabicPeriod"/>
            </a:pPr>
            <a:endParaRPr lang="en-GB" sz="1600" dirty="0"/>
          </a:p>
        </p:txBody>
      </p:sp>
      <p:pic>
        <p:nvPicPr>
          <p:cNvPr id="5" name="Picture 4">
            <a:extLst>
              <a:ext uri="{FF2B5EF4-FFF2-40B4-BE49-F238E27FC236}">
                <a16:creationId xmlns:a16="http://schemas.microsoft.com/office/drawing/2014/main" xmlns="" id="{0BC50CEE-A7AA-49BD-853A-FCEC5FE81CF9}"/>
              </a:ext>
            </a:extLst>
          </p:cNvPr>
          <p:cNvPicPr>
            <a:picLocks noChangeAspect="1"/>
          </p:cNvPicPr>
          <p:nvPr/>
        </p:nvPicPr>
        <p:blipFill>
          <a:blip r:embed="rId2"/>
          <a:stretch>
            <a:fillRect/>
          </a:stretch>
        </p:blipFill>
        <p:spPr>
          <a:xfrm>
            <a:off x="6444208" y="2636912"/>
            <a:ext cx="1681236" cy="895293"/>
          </a:xfrm>
          <a:prstGeom prst="rect">
            <a:avLst/>
          </a:prstGeom>
        </p:spPr>
      </p:pic>
    </p:spTree>
    <p:extLst>
      <p:ext uri="{BB962C8B-B14F-4D97-AF65-F5344CB8AC3E}">
        <p14:creationId xmlns:p14="http://schemas.microsoft.com/office/powerpoint/2010/main" val="18539955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Development of the atomic model</a:t>
            </a:r>
          </a:p>
          <a:p>
            <a:endParaRPr lang="en-GB" dirty="0"/>
          </a:p>
        </p:txBody>
      </p:sp>
    </p:spTree>
    <p:extLst>
      <p:ext uri="{BB962C8B-B14F-4D97-AF65-F5344CB8AC3E}">
        <p14:creationId xmlns:p14="http://schemas.microsoft.com/office/powerpoint/2010/main" val="41928422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6370975"/>
          </a:xfrm>
          <a:prstGeom prst="rect">
            <a:avLst/>
          </a:prstGeom>
          <a:noFill/>
        </p:spPr>
        <p:txBody>
          <a:bodyPr wrap="square" rtlCol="0">
            <a:spAutoFit/>
          </a:bodyPr>
          <a:lstStyle/>
          <a:p>
            <a:pPr marL="457200" indent="-457200">
              <a:buAutoNum type="arabicPeriod"/>
            </a:pPr>
            <a:r>
              <a:rPr lang="en-GB" sz="2400" dirty="0" smtClean="0"/>
              <a:t>What was the earliest model of the atom?</a:t>
            </a:r>
          </a:p>
          <a:p>
            <a:r>
              <a:rPr lang="en-GB" sz="2400" b="1" dirty="0" smtClean="0">
                <a:solidFill>
                  <a:srgbClr val="00B050"/>
                </a:solidFill>
              </a:rPr>
              <a:t>       Tiny spheres that could not be divided.</a:t>
            </a:r>
            <a:endParaRPr lang="en-GB" sz="2400" dirty="0" smtClean="0"/>
          </a:p>
          <a:p>
            <a:pPr marL="457200" indent="-457200">
              <a:buFont typeface="+mj-lt"/>
              <a:buAutoNum type="arabicPeriod" startAt="2"/>
            </a:pPr>
            <a:r>
              <a:rPr lang="en-GB" sz="2400" dirty="0" smtClean="0"/>
              <a:t>Which </a:t>
            </a:r>
            <a:r>
              <a:rPr lang="en-GB" sz="2400" dirty="0"/>
              <a:t>subatomic particle did JJ. Thomson discover?</a:t>
            </a:r>
          </a:p>
          <a:p>
            <a:r>
              <a:rPr lang="en-GB" sz="2400" dirty="0"/>
              <a:t>       </a:t>
            </a:r>
            <a:r>
              <a:rPr lang="en-GB" sz="2400" b="1" dirty="0">
                <a:solidFill>
                  <a:srgbClr val="00B050"/>
                </a:solidFill>
              </a:rPr>
              <a:t>The </a:t>
            </a:r>
            <a:r>
              <a:rPr lang="en-GB" sz="2400" b="1" dirty="0" smtClean="0">
                <a:solidFill>
                  <a:srgbClr val="00B050"/>
                </a:solidFill>
              </a:rPr>
              <a:t>electron</a:t>
            </a:r>
            <a:endParaRPr lang="en-GB" sz="2400" b="1" dirty="0">
              <a:solidFill>
                <a:srgbClr val="00B050"/>
              </a:solidFill>
            </a:endParaRPr>
          </a:p>
          <a:p>
            <a:pPr marL="457200" indent="-457200">
              <a:buAutoNum type="arabicPeriod"/>
            </a:pPr>
            <a:endParaRPr lang="en-GB" sz="2400" dirty="0"/>
          </a:p>
          <a:p>
            <a:r>
              <a:rPr lang="en-GB" sz="2400" dirty="0" smtClean="0"/>
              <a:t>3.    </a:t>
            </a:r>
            <a:r>
              <a:rPr lang="en-GB" sz="2400" dirty="0" smtClean="0"/>
              <a:t>Which </a:t>
            </a:r>
            <a:r>
              <a:rPr lang="en-GB" sz="2400" dirty="0"/>
              <a:t>early atomic model does the following diagram </a:t>
            </a:r>
            <a:r>
              <a:rPr lang="en-GB" sz="2400" dirty="0" smtClean="0"/>
              <a:t>show?</a:t>
            </a:r>
            <a:endParaRPr lang="en-GB" sz="2400" dirty="0"/>
          </a:p>
          <a:p>
            <a:r>
              <a:rPr lang="en-GB" sz="2400" dirty="0"/>
              <a:t>       </a:t>
            </a:r>
            <a:r>
              <a:rPr lang="en-GB" sz="2400" b="1" dirty="0">
                <a:solidFill>
                  <a:srgbClr val="00B050"/>
                </a:solidFill>
              </a:rPr>
              <a:t>The plum pudding </a:t>
            </a:r>
            <a:r>
              <a:rPr lang="en-GB" sz="2400" b="1" dirty="0" smtClean="0">
                <a:solidFill>
                  <a:srgbClr val="00B050"/>
                </a:solidFill>
              </a:rPr>
              <a:t>model.</a:t>
            </a:r>
            <a:endParaRPr lang="en-GB" sz="2400" b="1" dirty="0">
              <a:solidFill>
                <a:srgbClr val="00B050"/>
              </a:solidFill>
            </a:endParaRPr>
          </a:p>
          <a:p>
            <a:pPr marL="457200" indent="-457200">
              <a:buAutoNum type="arabicPeriod"/>
            </a:pPr>
            <a:endParaRPr lang="en-GB" sz="2400" dirty="0"/>
          </a:p>
          <a:p>
            <a:endParaRPr lang="en-GB" sz="2400" dirty="0"/>
          </a:p>
          <a:p>
            <a:pPr marL="457200" indent="-457200">
              <a:buAutoNum type="arabicPeriod" startAt="4"/>
            </a:pPr>
            <a:r>
              <a:rPr lang="en-GB" sz="2400" dirty="0" smtClean="0"/>
              <a:t>Name Rutherford’s experiment. </a:t>
            </a:r>
          </a:p>
          <a:p>
            <a:r>
              <a:rPr lang="en-GB" sz="2400" b="1" dirty="0" smtClean="0">
                <a:solidFill>
                  <a:srgbClr val="00B050"/>
                </a:solidFill>
              </a:rPr>
              <a:t>       Alpha particle scattering.</a:t>
            </a:r>
            <a:endParaRPr lang="en-GB" sz="2400" dirty="0" smtClean="0"/>
          </a:p>
          <a:p>
            <a:pPr marL="457200" indent="-457200">
              <a:buFont typeface="+mj-lt"/>
              <a:buAutoNum type="arabicPeriod" startAt="5"/>
            </a:pPr>
            <a:r>
              <a:rPr lang="en-GB" sz="2400" dirty="0" smtClean="0"/>
              <a:t>State </a:t>
            </a:r>
            <a:r>
              <a:rPr lang="en-GB" sz="2400" dirty="0"/>
              <a:t>two ways in which </a:t>
            </a:r>
            <a:r>
              <a:rPr lang="en-GB" sz="2400" dirty="0" smtClean="0"/>
              <a:t>Rutherford’s experiment </a:t>
            </a:r>
            <a:r>
              <a:rPr lang="en-GB" sz="2400" dirty="0"/>
              <a:t>changed </a:t>
            </a:r>
            <a:r>
              <a:rPr lang="en-GB" sz="2400" dirty="0" smtClean="0"/>
              <a:t> 	Thomson’s </a:t>
            </a:r>
            <a:r>
              <a:rPr lang="en-GB" sz="2400" dirty="0"/>
              <a:t>model of </a:t>
            </a:r>
            <a:r>
              <a:rPr lang="en-GB" sz="2400" dirty="0" smtClean="0"/>
              <a:t>the </a:t>
            </a:r>
            <a:r>
              <a:rPr lang="en-GB" sz="2400" dirty="0" smtClean="0"/>
              <a:t>atom.</a:t>
            </a:r>
            <a:endParaRPr lang="en-GB" sz="2400" dirty="0"/>
          </a:p>
          <a:p>
            <a:r>
              <a:rPr lang="en-GB" sz="2400" dirty="0"/>
              <a:t>       </a:t>
            </a:r>
            <a:r>
              <a:rPr lang="en-GB" sz="2400" b="1" dirty="0">
                <a:solidFill>
                  <a:srgbClr val="00B050"/>
                </a:solidFill>
              </a:rPr>
              <a:t>He said the positive charge was concentrated into very small    </a:t>
            </a:r>
          </a:p>
          <a:p>
            <a:r>
              <a:rPr lang="en-GB" sz="2400" b="1" dirty="0">
                <a:solidFill>
                  <a:srgbClr val="00B050"/>
                </a:solidFill>
              </a:rPr>
              <a:t>       volume at centre of atom (nucleus) and the electrons orbit </a:t>
            </a:r>
          </a:p>
          <a:p>
            <a:r>
              <a:rPr lang="en-GB" sz="2400" b="1" dirty="0">
                <a:solidFill>
                  <a:srgbClr val="00B050"/>
                </a:solidFill>
              </a:rPr>
              <a:t>       </a:t>
            </a:r>
            <a:r>
              <a:rPr lang="en-GB" sz="2400" b="1" dirty="0" smtClean="0">
                <a:solidFill>
                  <a:srgbClr val="00B050"/>
                </a:solidFill>
              </a:rPr>
              <a:t>nucleus.</a:t>
            </a:r>
            <a:endParaRPr lang="en-GB" sz="2400" b="1" dirty="0">
              <a:solidFill>
                <a:srgbClr val="00B050"/>
              </a:solidFill>
            </a:endParaRPr>
          </a:p>
          <a:p>
            <a:pPr marL="457200" indent="-457200">
              <a:buAutoNum type="arabicPeriod"/>
            </a:pPr>
            <a:endParaRPr lang="en-GB" sz="2400" dirty="0"/>
          </a:p>
        </p:txBody>
      </p:sp>
      <p:pic>
        <p:nvPicPr>
          <p:cNvPr id="5" name="Picture 4">
            <a:extLst>
              <a:ext uri="{FF2B5EF4-FFF2-40B4-BE49-F238E27FC236}">
                <a16:creationId xmlns:a16="http://schemas.microsoft.com/office/drawing/2014/main" xmlns="" id="{0BC50CEE-A7AA-49BD-853A-FCEC5FE81CF9}"/>
              </a:ext>
            </a:extLst>
          </p:cNvPr>
          <p:cNvPicPr>
            <a:picLocks noChangeAspect="1"/>
          </p:cNvPicPr>
          <p:nvPr/>
        </p:nvPicPr>
        <p:blipFill>
          <a:blip r:embed="rId2"/>
          <a:stretch>
            <a:fillRect/>
          </a:stretch>
        </p:blipFill>
        <p:spPr>
          <a:xfrm>
            <a:off x="4716016" y="2924944"/>
            <a:ext cx="2123728" cy="1130928"/>
          </a:xfrm>
          <a:prstGeom prst="rect">
            <a:avLst/>
          </a:prstGeom>
        </p:spPr>
      </p:pic>
    </p:spTree>
    <p:extLst>
      <p:ext uri="{BB962C8B-B14F-4D97-AF65-F5344CB8AC3E}">
        <p14:creationId xmlns:p14="http://schemas.microsoft.com/office/powerpoint/2010/main" val="464455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662541"/>
          </a:xfrm>
          <a:prstGeom prst="rect">
            <a:avLst/>
          </a:prstGeom>
          <a:noFill/>
        </p:spPr>
        <p:txBody>
          <a:bodyPr wrap="square" rtlCol="0">
            <a:spAutoFit/>
          </a:bodyPr>
          <a:lstStyle/>
          <a:p>
            <a:pPr marL="457200" indent="-457200">
              <a:buFont typeface="+mj-lt"/>
              <a:buAutoNum type="arabicPeriod" startAt="6"/>
            </a:pPr>
            <a:r>
              <a:rPr lang="en-GB" sz="2400" dirty="0"/>
              <a:t>Explain why Bohr revised Rutherford’s model of the </a:t>
            </a:r>
            <a:r>
              <a:rPr lang="en-GB" sz="2400" dirty="0" smtClean="0"/>
              <a:t>atom.</a:t>
            </a:r>
            <a:endParaRPr lang="en-GB" sz="2400" dirty="0"/>
          </a:p>
          <a:p>
            <a:r>
              <a:rPr lang="en-GB" sz="2400" b="1" dirty="0">
                <a:solidFill>
                  <a:srgbClr val="00B050"/>
                </a:solidFill>
              </a:rPr>
              <a:t>       </a:t>
            </a:r>
            <a:r>
              <a:rPr lang="en-GB" sz="2400" b="1" dirty="0" smtClean="0">
                <a:solidFill>
                  <a:srgbClr val="00B050"/>
                </a:solidFill>
              </a:rPr>
              <a:t>Suggesting electrons orbit the nucleus at different distances.</a:t>
            </a:r>
          </a:p>
          <a:p>
            <a:endParaRPr lang="en-GB" sz="2400" b="1" dirty="0" smtClean="0">
              <a:solidFill>
                <a:srgbClr val="00B050"/>
              </a:solidFill>
            </a:endParaRPr>
          </a:p>
          <a:p>
            <a:pPr marL="457200" indent="-457200">
              <a:buFont typeface="+mj-lt"/>
              <a:buAutoNum type="arabicPeriod" startAt="7"/>
            </a:pPr>
            <a:r>
              <a:rPr lang="en-GB" sz="2400" dirty="0"/>
              <a:t>Explain why Bohr revised Rutherford’s model of the atom.</a:t>
            </a:r>
          </a:p>
          <a:p>
            <a:r>
              <a:rPr lang="en-GB" sz="2400" b="1" dirty="0">
                <a:solidFill>
                  <a:srgbClr val="00B050"/>
                </a:solidFill>
              </a:rPr>
              <a:t>       Energy emitted from electron transitions can only have certain</a:t>
            </a:r>
          </a:p>
          <a:p>
            <a:r>
              <a:rPr lang="en-GB" sz="2400" b="1" dirty="0">
                <a:solidFill>
                  <a:srgbClr val="00B050"/>
                </a:solidFill>
              </a:rPr>
              <a:t>       fixed energies, so he refined the ‘orbiting electrons’ in</a:t>
            </a:r>
          </a:p>
          <a:p>
            <a:r>
              <a:rPr lang="en-GB" sz="2400" b="1" dirty="0">
                <a:solidFill>
                  <a:srgbClr val="00B050"/>
                </a:solidFill>
              </a:rPr>
              <a:t>       Rutherford’s nuclear model to ‘orbiting electrons in energy levels</a:t>
            </a:r>
          </a:p>
          <a:p>
            <a:r>
              <a:rPr lang="en-GB" sz="2400" b="1" dirty="0">
                <a:solidFill>
                  <a:srgbClr val="00B050"/>
                </a:solidFill>
              </a:rPr>
              <a:t>       (or shells) at fixed distances from the nucleus’.</a:t>
            </a:r>
          </a:p>
          <a:p>
            <a:endParaRPr lang="en-GB" sz="2400" b="1" dirty="0">
              <a:solidFill>
                <a:srgbClr val="00B050"/>
              </a:solidFill>
            </a:endParaRPr>
          </a:p>
          <a:p>
            <a:pPr marL="342900" indent="-342900">
              <a:buFont typeface="+mj-lt"/>
              <a:buAutoNum type="arabicPeriod"/>
            </a:pPr>
            <a:endParaRPr lang="en-GB" sz="1600" dirty="0"/>
          </a:p>
        </p:txBody>
      </p:sp>
    </p:spTree>
    <p:extLst>
      <p:ext uri="{BB962C8B-B14F-4D97-AF65-F5344CB8AC3E}">
        <p14:creationId xmlns:p14="http://schemas.microsoft.com/office/powerpoint/2010/main" val="41543619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6247864"/>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Relative electrical charges of subatomic particles.</a:t>
            </a:r>
          </a:p>
          <a:p>
            <a:pPr marL="685800" lvl="1" indent="-342900">
              <a:buFont typeface="Arial" charset="0"/>
              <a:buChar char="•"/>
            </a:pPr>
            <a:r>
              <a:rPr lang="en-US" sz="2400" b="1" dirty="0" smtClean="0">
                <a:solidFill>
                  <a:schemeClr val="bg1">
                    <a:lumMod val="50000"/>
                  </a:schemeClr>
                </a:solidFill>
              </a:rPr>
              <a:t>Size </a:t>
            </a:r>
            <a:r>
              <a:rPr lang="en-US" sz="2400" b="1" dirty="0">
                <a:solidFill>
                  <a:schemeClr val="bg1">
                    <a:lumMod val="50000"/>
                  </a:schemeClr>
                </a:solidFill>
              </a:rPr>
              <a:t>and mass of atoms</a:t>
            </a:r>
          </a:p>
          <a:p>
            <a:pPr marL="685800" lvl="1" indent="-342900">
              <a:buFont typeface="Arial" charset="0"/>
              <a:buChar char="•"/>
            </a:pPr>
            <a:r>
              <a:rPr lang="en-US" sz="2400" b="1" dirty="0">
                <a:solidFill>
                  <a:schemeClr val="bg1">
                    <a:lumMod val="50000"/>
                  </a:schemeClr>
                </a:solidFill>
              </a:rPr>
              <a:t>Atomic structure</a:t>
            </a: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40381779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2</a:t>
            </a:r>
            <a:endParaRPr lang="en-GB" sz="2400" b="1" dirty="0">
              <a:solidFill>
                <a:schemeClr val="accent6"/>
              </a:solidFill>
            </a:endParaRPr>
          </a:p>
        </p:txBody>
      </p:sp>
      <p:sp>
        <p:nvSpPr>
          <p:cNvPr id="5" name="TextBox 4">
            <a:extLst>
              <a:ext uri="{FF2B5EF4-FFF2-40B4-BE49-F238E27FC236}">
                <a16:creationId xmlns:a16="http://schemas.microsoft.com/office/drawing/2014/main" xmlns="" id="{32F7FF75-B8C5-4946-B9C3-1BDB05EE1188}"/>
              </a:ext>
            </a:extLst>
          </p:cNvPr>
          <p:cNvSpPr txBox="1"/>
          <p:nvPr/>
        </p:nvSpPr>
        <p:spPr>
          <a:xfrm>
            <a:off x="179512" y="2996952"/>
            <a:ext cx="8700424" cy="2431435"/>
          </a:xfrm>
          <a:prstGeom prst="rect">
            <a:avLst/>
          </a:prstGeom>
          <a:solidFill>
            <a:schemeClr val="accent6">
              <a:lumMod val="20000"/>
              <a:lumOff val="80000"/>
            </a:schemeClr>
          </a:solidFill>
          <a:ln w="3175">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Arial" panose="020B0604020202020204" pitchFamily="34" charset="0"/>
              <a:buChar char="•"/>
            </a:pPr>
            <a:r>
              <a:rPr lang="en-GB" sz="2400" dirty="0"/>
              <a:t>An atom contains </a:t>
            </a:r>
            <a:r>
              <a:rPr lang="en-GB" sz="2400" b="1" dirty="0"/>
              <a:t>equal</a:t>
            </a:r>
            <a:r>
              <a:rPr lang="en-GB" sz="2400" dirty="0"/>
              <a:t> numbers of </a:t>
            </a:r>
            <a:r>
              <a:rPr lang="en-GB" sz="2400" b="1" dirty="0"/>
              <a:t>protons</a:t>
            </a:r>
            <a:r>
              <a:rPr lang="en-GB" sz="2400" dirty="0"/>
              <a:t> and </a:t>
            </a:r>
            <a:r>
              <a:rPr lang="en-GB" sz="2400" b="1" dirty="0"/>
              <a:t>electrons</a:t>
            </a:r>
            <a:r>
              <a:rPr lang="en-GB" sz="2400" dirty="0"/>
              <a:t>. </a:t>
            </a:r>
            <a:endParaRPr lang="en-GB" sz="2400" dirty="0" smtClean="0"/>
          </a:p>
          <a:p>
            <a:pPr marL="342900" indent="-342900">
              <a:buFont typeface="Arial" panose="020B0604020202020204" pitchFamily="34" charset="0"/>
              <a:buChar char="•"/>
            </a:pPr>
            <a:r>
              <a:rPr lang="en-GB" sz="2400" dirty="0" smtClean="0"/>
              <a:t>Atoms </a:t>
            </a:r>
            <a:r>
              <a:rPr lang="en-GB" sz="2400" dirty="0"/>
              <a:t>have </a:t>
            </a:r>
            <a:r>
              <a:rPr lang="en-GB" sz="2400" b="1" dirty="0"/>
              <a:t>no</a:t>
            </a:r>
            <a:r>
              <a:rPr lang="en-GB" sz="2400" dirty="0"/>
              <a:t> overall electrical charge because the number of positive protons equals the number of negative electrons. </a:t>
            </a:r>
            <a:endParaRPr lang="en-GB" sz="2400" dirty="0" smtClean="0"/>
          </a:p>
          <a:p>
            <a:pPr algn="ctr"/>
            <a:r>
              <a:rPr lang="en-GB" sz="3200" b="1" dirty="0" smtClean="0"/>
              <a:t>Number of protons = atomic number.</a:t>
            </a:r>
            <a:endParaRPr lang="en-GB" sz="3200" b="1" dirty="0" smtClean="0"/>
          </a:p>
          <a:p>
            <a:pPr marL="342900" indent="-342900">
              <a:buFont typeface="Arial" panose="020B0604020202020204" pitchFamily="34" charset="0"/>
              <a:buChar char="•"/>
            </a:pPr>
            <a:r>
              <a:rPr lang="en-GB" sz="2400" dirty="0" smtClean="0"/>
              <a:t>All </a:t>
            </a:r>
            <a:r>
              <a:rPr lang="en-GB" sz="2400" dirty="0"/>
              <a:t>atoms of an </a:t>
            </a:r>
            <a:r>
              <a:rPr lang="en-GB" sz="2400" dirty="0" smtClean="0"/>
              <a:t>element </a:t>
            </a:r>
            <a:r>
              <a:rPr lang="en-GB" sz="2400" dirty="0"/>
              <a:t>have the </a:t>
            </a:r>
            <a:r>
              <a:rPr lang="en-GB" sz="2400" b="1" dirty="0"/>
              <a:t>same </a:t>
            </a:r>
            <a:r>
              <a:rPr lang="en-GB" sz="2400" dirty="0"/>
              <a:t>number of </a:t>
            </a:r>
            <a:r>
              <a:rPr lang="en-GB" sz="2400" b="1" dirty="0"/>
              <a:t>protons</a:t>
            </a:r>
            <a:r>
              <a:rPr lang="en-GB" sz="2400" dirty="0" smtClean="0"/>
              <a:t>. </a:t>
            </a:r>
            <a:endParaRPr lang="en-GB" sz="2400" dirty="0" smtClean="0"/>
          </a:p>
          <a:p>
            <a:pPr marL="342900" indent="-342900">
              <a:buFont typeface="Arial" panose="020B0604020202020204" pitchFamily="34" charset="0"/>
              <a:buChar char="•"/>
            </a:pPr>
            <a:r>
              <a:rPr lang="en-GB" sz="2400" dirty="0" smtClean="0"/>
              <a:t>Atoms </a:t>
            </a:r>
            <a:r>
              <a:rPr lang="en-GB" sz="2400" dirty="0"/>
              <a:t>of </a:t>
            </a:r>
            <a:r>
              <a:rPr lang="en-GB" sz="2400" b="1" dirty="0"/>
              <a:t>different</a:t>
            </a:r>
            <a:r>
              <a:rPr lang="en-GB" sz="2400" dirty="0"/>
              <a:t> elements have </a:t>
            </a:r>
            <a:r>
              <a:rPr lang="en-GB" sz="2400" b="1" dirty="0"/>
              <a:t>different</a:t>
            </a:r>
            <a:r>
              <a:rPr lang="en-GB" sz="2400" dirty="0"/>
              <a:t> </a:t>
            </a:r>
            <a:r>
              <a:rPr lang="en-GB" sz="2400" b="1" dirty="0"/>
              <a:t>numbers</a:t>
            </a:r>
            <a:r>
              <a:rPr lang="en-GB" sz="2400" dirty="0"/>
              <a:t> of </a:t>
            </a:r>
            <a:r>
              <a:rPr lang="en-GB" sz="2400" b="1" dirty="0"/>
              <a:t>protons</a:t>
            </a:r>
            <a:r>
              <a:rPr lang="en-GB" sz="2400" dirty="0"/>
              <a:t>.</a:t>
            </a:r>
          </a:p>
        </p:txBody>
      </p:sp>
      <p:graphicFrame>
        <p:nvGraphicFramePr>
          <p:cNvPr id="6" name="Table 5">
            <a:extLst>
              <a:ext uri="{FF2B5EF4-FFF2-40B4-BE49-F238E27FC236}">
                <a16:creationId xmlns:a16="http://schemas.microsoft.com/office/drawing/2014/main" xmlns="" id="{346006FD-6D5B-4FB4-8B85-4C19114D5050}"/>
              </a:ext>
            </a:extLst>
          </p:cNvPr>
          <p:cNvGraphicFramePr>
            <a:graphicFrameLocks noGrp="1"/>
          </p:cNvGraphicFramePr>
          <p:nvPr>
            <p:extLst>
              <p:ext uri="{D42A27DB-BD31-4B8C-83A1-F6EECF244321}">
                <p14:modId xmlns:p14="http://schemas.microsoft.com/office/powerpoint/2010/main" val="347721154"/>
              </p:ext>
            </p:extLst>
          </p:nvPr>
        </p:nvGraphicFramePr>
        <p:xfrm>
          <a:off x="2756973" y="1052344"/>
          <a:ext cx="6122963" cy="1584960"/>
        </p:xfrm>
        <a:graphic>
          <a:graphicData uri="http://schemas.openxmlformats.org/drawingml/2006/table">
            <a:tbl>
              <a:tblPr firstRow="1" bandRow="1">
                <a:tableStyleId>{5C22544A-7EE6-4342-B048-85BDC9FD1C3A}</a:tableStyleId>
              </a:tblPr>
              <a:tblGrid>
                <a:gridCol w="1507190">
                  <a:extLst>
                    <a:ext uri="{9D8B030D-6E8A-4147-A177-3AD203B41FA5}">
                      <a16:colId xmlns:a16="http://schemas.microsoft.com/office/drawing/2014/main" xmlns="" val="20000"/>
                    </a:ext>
                  </a:extLst>
                </a:gridCol>
                <a:gridCol w="1554291">
                  <a:extLst>
                    <a:ext uri="{9D8B030D-6E8A-4147-A177-3AD203B41FA5}">
                      <a16:colId xmlns:a16="http://schemas.microsoft.com/office/drawing/2014/main" xmlns="" val="20001"/>
                    </a:ext>
                  </a:extLst>
                </a:gridCol>
                <a:gridCol w="1530741">
                  <a:extLst>
                    <a:ext uri="{9D8B030D-6E8A-4147-A177-3AD203B41FA5}">
                      <a16:colId xmlns:a16="http://schemas.microsoft.com/office/drawing/2014/main" xmlns="" val="20002"/>
                    </a:ext>
                  </a:extLst>
                </a:gridCol>
                <a:gridCol w="1530741">
                  <a:extLst>
                    <a:ext uri="{9D8B030D-6E8A-4147-A177-3AD203B41FA5}">
                      <a16:colId xmlns:a16="http://schemas.microsoft.com/office/drawing/2014/main" xmlns="" val="20003"/>
                    </a:ext>
                  </a:extLst>
                </a:gridCol>
              </a:tblGrid>
              <a:tr h="333605">
                <a:tc>
                  <a:txBody>
                    <a:bodyPr/>
                    <a:lstStyle/>
                    <a:p>
                      <a:pPr algn="ctr"/>
                      <a:endParaRPr lang="en-GB" sz="20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solidFill>
                            <a:schemeClr val="tx1"/>
                          </a:solidFill>
                          <a:latin typeface="+mn-lt"/>
                        </a:rPr>
                        <a:t>Mass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solidFill>
                            <a:schemeClr val="tx1"/>
                          </a:solidFill>
                          <a:latin typeface="+mn-lt"/>
                        </a:rPr>
                        <a:t>Charge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solidFill>
                            <a:schemeClr val="tx1"/>
                          </a:solidFill>
                          <a:latin typeface="+mn-lt"/>
                        </a:rPr>
                        <a:t>Location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0"/>
                  </a:ext>
                </a:extLst>
              </a:tr>
              <a:tr h="333605">
                <a:tc>
                  <a:txBody>
                    <a:bodyPr/>
                    <a:lstStyle/>
                    <a:p>
                      <a:pPr algn="ctr"/>
                      <a:r>
                        <a:rPr lang="en-GB" sz="2000" b="1" dirty="0">
                          <a:latin typeface="+mn-lt"/>
                        </a:rPr>
                        <a:t>Proton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solidFill>
                            <a:schemeClr val="tx1"/>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solidFill>
                            <a:schemeClr val="tx1"/>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solidFill>
                            <a:schemeClr val="tx1"/>
                          </a:solidFill>
                          <a:latin typeface="+mn-lt"/>
                        </a:rPr>
                        <a:t>nucleus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333605">
                <a:tc>
                  <a:txBody>
                    <a:bodyPr/>
                    <a:lstStyle/>
                    <a:p>
                      <a:pPr algn="ctr"/>
                      <a:r>
                        <a:rPr lang="en-GB" sz="2000" b="1" dirty="0">
                          <a:latin typeface="+mn-lt"/>
                        </a:rPr>
                        <a:t>Neutron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nucleus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33605">
                <a:tc>
                  <a:txBody>
                    <a:bodyPr/>
                    <a:lstStyle/>
                    <a:p>
                      <a:pPr algn="ctr"/>
                      <a:r>
                        <a:rPr lang="en-GB" sz="2000" b="1" dirty="0">
                          <a:latin typeface="+mn-lt"/>
                        </a:rPr>
                        <a:t>Electron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Very small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000" b="0" dirty="0">
                          <a:latin typeface="+mn-lt"/>
                        </a:rPr>
                        <a:t>shells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sp>
        <p:nvSpPr>
          <p:cNvPr id="11" name="TextBox 10">
            <a:extLst>
              <a:ext uri="{FF2B5EF4-FFF2-40B4-BE49-F238E27FC236}">
                <a16:creationId xmlns:a16="http://schemas.microsoft.com/office/drawing/2014/main" xmlns="" id="{32F7FF75-B8C5-4946-B9C3-1BDB05EE1188}"/>
              </a:ext>
            </a:extLst>
          </p:cNvPr>
          <p:cNvSpPr txBox="1"/>
          <p:nvPr/>
        </p:nvSpPr>
        <p:spPr>
          <a:xfrm>
            <a:off x="179512" y="812611"/>
            <a:ext cx="2304256" cy="400110"/>
          </a:xfrm>
          <a:prstGeom prst="rect">
            <a:avLst/>
          </a:prstGeom>
          <a:solidFill>
            <a:schemeClr val="accent6">
              <a:lumMod val="20000"/>
              <a:lumOff val="80000"/>
            </a:schemeClr>
          </a:solidFill>
          <a:ln w="3175">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2000" b="1" dirty="0" smtClean="0"/>
              <a:t>Subatomic particles</a:t>
            </a:r>
            <a:endParaRPr lang="en-GB" sz="2000" b="1" dirty="0"/>
          </a:p>
        </p:txBody>
      </p:sp>
      <p:pic>
        <p:nvPicPr>
          <p:cNvPr id="12" name="Picture 11">
            <a:extLst>
              <a:ext uri="{FF2B5EF4-FFF2-40B4-BE49-F238E27FC236}">
                <a16:creationId xmlns:a16="http://schemas.microsoft.com/office/drawing/2014/main" xmlns="" id="{07460352-8FB2-49A9-AB7C-21ABF2DF3B30}"/>
              </a:ext>
            </a:extLst>
          </p:cNvPr>
          <p:cNvPicPr>
            <a:picLocks noChangeAspect="1"/>
          </p:cNvPicPr>
          <p:nvPr/>
        </p:nvPicPr>
        <p:blipFill>
          <a:blip r:embed="rId3"/>
          <a:stretch>
            <a:fillRect/>
          </a:stretch>
        </p:blipFill>
        <p:spPr>
          <a:xfrm>
            <a:off x="611560" y="1407404"/>
            <a:ext cx="1737957" cy="1219163"/>
          </a:xfrm>
          <a:prstGeom prst="rect">
            <a:avLst/>
          </a:prstGeom>
        </p:spPr>
      </p:pic>
    </p:spTree>
    <p:extLst>
      <p:ext uri="{BB962C8B-B14F-4D97-AF65-F5344CB8AC3E}">
        <p14:creationId xmlns:p14="http://schemas.microsoft.com/office/powerpoint/2010/main" val="31967987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xmlns="" id="{BDB418A2-AF05-4F2A-A9A1-42DE8C399B29}"/>
              </a:ext>
            </a:extLst>
          </p:cNvPr>
          <p:cNvPicPr>
            <a:picLocks noChangeAspect="1"/>
          </p:cNvPicPr>
          <p:nvPr/>
        </p:nvPicPr>
        <p:blipFill>
          <a:blip r:embed="rId3"/>
          <a:stretch>
            <a:fillRect/>
          </a:stretch>
        </p:blipFill>
        <p:spPr>
          <a:xfrm>
            <a:off x="2101678" y="1722782"/>
            <a:ext cx="4661002" cy="2664794"/>
          </a:xfrm>
          <a:prstGeom prst="rect">
            <a:avLst/>
          </a:prstGeom>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2</a:t>
            </a:r>
            <a:endParaRPr lang="en-GB" sz="2400" b="1" dirty="0">
              <a:solidFill>
                <a:schemeClr val="accent6"/>
              </a:solidFill>
            </a:endParaRPr>
          </a:p>
        </p:txBody>
      </p:sp>
      <p:sp>
        <p:nvSpPr>
          <p:cNvPr id="10" name="Rectangle 9">
            <a:extLst>
              <a:ext uri="{FF2B5EF4-FFF2-40B4-BE49-F238E27FC236}">
                <a16:creationId xmlns:a16="http://schemas.microsoft.com/office/drawing/2014/main" xmlns="" id="{33F61882-D9E2-4FB3-998D-D9349EDFE123}"/>
              </a:ext>
            </a:extLst>
          </p:cNvPr>
          <p:cNvSpPr/>
          <p:nvPr/>
        </p:nvSpPr>
        <p:spPr>
          <a:xfrm>
            <a:off x="102175" y="888407"/>
            <a:ext cx="8953172" cy="624143"/>
          </a:xfrm>
          <a:prstGeom prst="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000" dirty="0">
                <a:solidFill>
                  <a:schemeClr val="tx1"/>
                </a:solidFill>
              </a:rPr>
              <a:t>Atoms are very small, having a radius of about </a:t>
            </a:r>
            <a:r>
              <a:rPr lang="en-GB" sz="2000" b="1" dirty="0">
                <a:solidFill>
                  <a:schemeClr val="tx1"/>
                </a:solidFill>
              </a:rPr>
              <a:t>0.1nm</a:t>
            </a:r>
            <a:r>
              <a:rPr lang="en-GB" sz="2000" dirty="0">
                <a:solidFill>
                  <a:schemeClr val="tx1"/>
                </a:solidFill>
              </a:rPr>
              <a:t> (1 x 10 </a:t>
            </a:r>
            <a:r>
              <a:rPr lang="en-GB" sz="2000" baseline="30000" dirty="0">
                <a:solidFill>
                  <a:schemeClr val="tx1"/>
                </a:solidFill>
              </a:rPr>
              <a:t>-10m</a:t>
            </a:r>
            <a:r>
              <a:rPr lang="en-GB" sz="2000" dirty="0">
                <a:solidFill>
                  <a:schemeClr val="tx1"/>
                </a:solidFill>
              </a:rPr>
              <a:t>). </a:t>
            </a:r>
          </a:p>
          <a:p>
            <a:pPr algn="ctr"/>
            <a:r>
              <a:rPr lang="en-GB" sz="2000" dirty="0">
                <a:solidFill>
                  <a:schemeClr val="tx1"/>
                </a:solidFill>
              </a:rPr>
              <a:t>Protons and Neutrons are found in the </a:t>
            </a:r>
            <a:r>
              <a:rPr lang="en-GB" sz="2000" b="1" dirty="0">
                <a:solidFill>
                  <a:schemeClr val="tx1"/>
                </a:solidFill>
              </a:rPr>
              <a:t>nucleus</a:t>
            </a:r>
            <a:r>
              <a:rPr lang="en-GB" sz="2000" dirty="0">
                <a:solidFill>
                  <a:schemeClr val="tx1"/>
                </a:solidFill>
              </a:rPr>
              <a:t>. Electrons orbit the nucleus in </a:t>
            </a:r>
            <a:r>
              <a:rPr lang="en-GB" sz="2000" b="1" dirty="0">
                <a:solidFill>
                  <a:schemeClr val="tx1"/>
                </a:solidFill>
              </a:rPr>
              <a:t>shells</a:t>
            </a:r>
            <a:r>
              <a:rPr lang="en-GB" dirty="0">
                <a:solidFill>
                  <a:schemeClr val="tx1"/>
                </a:solidFill>
              </a:rPr>
              <a:t>.</a:t>
            </a:r>
          </a:p>
        </p:txBody>
      </p:sp>
      <p:grpSp>
        <p:nvGrpSpPr>
          <p:cNvPr id="11" name="Group 10"/>
          <p:cNvGrpSpPr/>
          <p:nvPr/>
        </p:nvGrpSpPr>
        <p:grpSpPr>
          <a:xfrm>
            <a:off x="210984" y="4725144"/>
            <a:ext cx="8784676" cy="1402509"/>
            <a:chOff x="227707" y="628165"/>
            <a:chExt cx="8784676" cy="1402509"/>
          </a:xfrm>
        </p:grpSpPr>
        <p:sp>
          <p:nvSpPr>
            <p:cNvPr id="12" name="Rectangle 11">
              <a:extLst>
                <a:ext uri="{FF2B5EF4-FFF2-40B4-BE49-F238E27FC236}">
                  <a16:creationId xmlns:a16="http://schemas.microsoft.com/office/drawing/2014/main" xmlns="" id="{5A4DC6C8-6E17-439F-B7F4-317F1DB502F0}"/>
                </a:ext>
              </a:extLst>
            </p:cNvPr>
            <p:cNvSpPr/>
            <p:nvPr/>
          </p:nvSpPr>
          <p:spPr>
            <a:xfrm>
              <a:off x="1067460" y="1630564"/>
              <a:ext cx="7944923" cy="400110"/>
            </a:xfrm>
            <a:prstGeom prst="rect">
              <a:avLst/>
            </a:prstGeom>
            <a:noFill/>
            <a:ln w="12700">
              <a:solidFill>
                <a:schemeClr val="bg1"/>
              </a:solidFill>
            </a:ln>
            <a:effectLst/>
          </p:spPr>
          <p:txBody>
            <a:bodyPr wrap="square">
              <a:spAutoFit/>
            </a:bodyPr>
            <a:lstStyle/>
            <a:p>
              <a:pPr algn="ctr"/>
              <a:r>
                <a:rPr lang="en-GB" sz="2000" b="1" dirty="0">
                  <a:sym typeface="Wingdings" pitchFamily="2" charset="2"/>
                </a:rPr>
                <a:t>To calculate the number of neutrons = </a:t>
              </a:r>
              <a:r>
                <a:rPr lang="en-GB" sz="2000" b="1" dirty="0">
                  <a:solidFill>
                    <a:schemeClr val="accent6">
                      <a:lumMod val="75000"/>
                    </a:schemeClr>
                  </a:solidFill>
                  <a:sym typeface="Wingdings" pitchFamily="2" charset="2"/>
                </a:rPr>
                <a:t>Mass Number – Atomic Number</a:t>
              </a:r>
              <a:endParaRPr lang="en-GB" sz="2000" b="1" dirty="0">
                <a:solidFill>
                  <a:schemeClr val="accent6">
                    <a:lumMod val="75000"/>
                  </a:schemeClr>
                </a:solidFill>
              </a:endParaRPr>
            </a:p>
          </p:txBody>
        </p:sp>
        <p:grpSp>
          <p:nvGrpSpPr>
            <p:cNvPr id="13" name="Group 12"/>
            <p:cNvGrpSpPr/>
            <p:nvPr/>
          </p:nvGrpSpPr>
          <p:grpSpPr>
            <a:xfrm>
              <a:off x="227707" y="628165"/>
              <a:ext cx="8772656" cy="1041898"/>
              <a:chOff x="227707" y="628165"/>
              <a:chExt cx="8772656" cy="1041898"/>
            </a:xfrm>
          </p:grpSpPr>
          <p:grpSp>
            <p:nvGrpSpPr>
              <p:cNvPr id="14" name="Group 13"/>
              <p:cNvGrpSpPr/>
              <p:nvPr/>
            </p:nvGrpSpPr>
            <p:grpSpPr>
              <a:xfrm>
                <a:off x="227707" y="628165"/>
                <a:ext cx="6551696" cy="977865"/>
                <a:chOff x="100170" y="583164"/>
                <a:chExt cx="6551696" cy="977865"/>
              </a:xfrm>
            </p:grpSpPr>
            <p:grpSp>
              <p:nvGrpSpPr>
                <p:cNvPr id="16" name="Group 15"/>
                <p:cNvGrpSpPr/>
                <p:nvPr/>
              </p:nvGrpSpPr>
              <p:grpSpPr>
                <a:xfrm>
                  <a:off x="100170" y="583164"/>
                  <a:ext cx="6551696" cy="977865"/>
                  <a:chOff x="105754" y="594940"/>
                  <a:chExt cx="6551696" cy="977865"/>
                </a:xfrm>
              </p:grpSpPr>
              <p:grpSp>
                <p:nvGrpSpPr>
                  <p:cNvPr id="18" name="Group 17">
                    <a:extLst>
                      <a:ext uri="{FF2B5EF4-FFF2-40B4-BE49-F238E27FC236}">
                        <a16:creationId xmlns:a16="http://schemas.microsoft.com/office/drawing/2014/main" xmlns="" id="{22B527B2-53C9-424B-96E2-D0D504A7AA0A}"/>
                      </a:ext>
                    </a:extLst>
                  </p:cNvPr>
                  <p:cNvGrpSpPr/>
                  <p:nvPr/>
                </p:nvGrpSpPr>
                <p:grpSpPr>
                  <a:xfrm>
                    <a:off x="5603569" y="594940"/>
                    <a:ext cx="1053881" cy="959292"/>
                    <a:chOff x="7752340" y="4460576"/>
                    <a:chExt cx="1053881" cy="938973"/>
                  </a:xfrm>
                  <a:effectLst/>
                </p:grpSpPr>
                <p:sp>
                  <p:nvSpPr>
                    <p:cNvPr id="21" name="Rectangle 20">
                      <a:extLst>
                        <a:ext uri="{FF2B5EF4-FFF2-40B4-BE49-F238E27FC236}">
                          <a16:creationId xmlns:a16="http://schemas.microsoft.com/office/drawing/2014/main" xmlns="" id="{31A32819-DC6A-4E8C-B3E7-D214792C3D94}"/>
                        </a:ext>
                      </a:extLst>
                    </p:cNvPr>
                    <p:cNvSpPr/>
                    <p:nvPr/>
                  </p:nvSpPr>
                  <p:spPr>
                    <a:xfrm>
                      <a:off x="8144114" y="4479218"/>
                      <a:ext cx="662107" cy="9203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xmlns="" id="{3550ABDC-A025-4B17-B71C-7E2E45030425}"/>
                        </a:ext>
                      </a:extLst>
                    </p:cNvPr>
                    <p:cNvSpPr txBox="1"/>
                    <p:nvPr/>
                  </p:nvSpPr>
                  <p:spPr>
                    <a:xfrm>
                      <a:off x="8288130" y="4541451"/>
                      <a:ext cx="518091" cy="707886"/>
                    </a:xfrm>
                    <a:prstGeom prst="rect">
                      <a:avLst/>
                    </a:prstGeom>
                    <a:noFill/>
                  </p:spPr>
                  <p:txBody>
                    <a:bodyPr wrap="none" rtlCol="0">
                      <a:spAutoFit/>
                    </a:bodyPr>
                    <a:lstStyle/>
                    <a:p>
                      <a:r>
                        <a:rPr lang="en-GB" sz="4000" dirty="0"/>
                        <a:t>Li</a:t>
                      </a:r>
                    </a:p>
                  </p:txBody>
                </p:sp>
                <p:sp>
                  <p:nvSpPr>
                    <p:cNvPr id="24" name="TextBox 23">
                      <a:extLst>
                        <a:ext uri="{FF2B5EF4-FFF2-40B4-BE49-F238E27FC236}">
                          <a16:creationId xmlns:a16="http://schemas.microsoft.com/office/drawing/2014/main" xmlns="" id="{DAC126CF-7039-40C5-A9E7-FE7D7936C985}"/>
                        </a:ext>
                      </a:extLst>
                    </p:cNvPr>
                    <p:cNvSpPr txBox="1"/>
                    <p:nvPr/>
                  </p:nvSpPr>
                  <p:spPr>
                    <a:xfrm>
                      <a:off x="8144114" y="4460576"/>
                      <a:ext cx="301686" cy="369332"/>
                    </a:xfrm>
                    <a:prstGeom prst="rect">
                      <a:avLst/>
                    </a:prstGeom>
                    <a:noFill/>
                  </p:spPr>
                  <p:txBody>
                    <a:bodyPr wrap="none" rtlCol="0">
                      <a:spAutoFit/>
                    </a:bodyPr>
                    <a:lstStyle/>
                    <a:p>
                      <a:r>
                        <a:rPr lang="en-GB" dirty="0"/>
                        <a:t>7</a:t>
                      </a:r>
                    </a:p>
                  </p:txBody>
                </p:sp>
                <p:sp>
                  <p:nvSpPr>
                    <p:cNvPr id="26" name="TextBox 25">
                      <a:extLst>
                        <a:ext uri="{FF2B5EF4-FFF2-40B4-BE49-F238E27FC236}">
                          <a16:creationId xmlns:a16="http://schemas.microsoft.com/office/drawing/2014/main" xmlns="" id="{5BFE32C3-040B-4FCC-B78F-74D148B444B5}"/>
                        </a:ext>
                      </a:extLst>
                    </p:cNvPr>
                    <p:cNvSpPr txBox="1"/>
                    <p:nvPr/>
                  </p:nvSpPr>
                  <p:spPr>
                    <a:xfrm>
                      <a:off x="8144114" y="5003884"/>
                      <a:ext cx="301686" cy="369332"/>
                    </a:xfrm>
                    <a:prstGeom prst="rect">
                      <a:avLst/>
                    </a:prstGeom>
                    <a:noFill/>
                  </p:spPr>
                  <p:txBody>
                    <a:bodyPr wrap="none" rtlCol="0">
                      <a:spAutoFit/>
                    </a:bodyPr>
                    <a:lstStyle/>
                    <a:p>
                      <a:r>
                        <a:rPr lang="en-GB" dirty="0"/>
                        <a:t>3</a:t>
                      </a:r>
                    </a:p>
                  </p:txBody>
                </p:sp>
                <p:sp>
                  <p:nvSpPr>
                    <p:cNvPr id="27" name="Right Arrow 89">
                      <a:extLst>
                        <a:ext uri="{FF2B5EF4-FFF2-40B4-BE49-F238E27FC236}">
                          <a16:creationId xmlns:a16="http://schemas.microsoft.com/office/drawing/2014/main" xmlns="" id="{6784F83D-5FD9-46E1-B59A-60566FFB0EBD}"/>
                        </a:ext>
                      </a:extLst>
                    </p:cNvPr>
                    <p:cNvSpPr/>
                    <p:nvPr/>
                  </p:nvSpPr>
                  <p:spPr>
                    <a:xfrm>
                      <a:off x="7752340" y="4564882"/>
                      <a:ext cx="342900" cy="216024"/>
                    </a:xfrm>
                    <a:prstGeom prst="rightArrow">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 name="TextBox 18">
                    <a:extLst>
                      <a:ext uri="{FF2B5EF4-FFF2-40B4-BE49-F238E27FC236}">
                        <a16:creationId xmlns:a16="http://schemas.microsoft.com/office/drawing/2014/main" xmlns="" id="{C6E5B323-B481-42D6-8673-0A36090AB0D2}"/>
                      </a:ext>
                    </a:extLst>
                  </p:cNvPr>
                  <p:cNvSpPr txBox="1"/>
                  <p:nvPr/>
                </p:nvSpPr>
                <p:spPr>
                  <a:xfrm>
                    <a:off x="105754" y="619584"/>
                    <a:ext cx="5472608" cy="400110"/>
                  </a:xfrm>
                  <a:prstGeom prst="rect">
                    <a:avLst/>
                  </a:prstGeom>
                  <a:noFill/>
                  <a:ln w="12700">
                    <a:solidFill>
                      <a:schemeClr val="bg1"/>
                    </a:solidFill>
                  </a:ln>
                  <a:effectLst/>
                </p:spPr>
                <p:txBody>
                  <a:bodyPr wrap="square" rtlCol="0">
                    <a:spAutoFit/>
                  </a:bodyPr>
                  <a:lstStyle/>
                  <a:p>
                    <a:pPr algn="ctr"/>
                    <a:r>
                      <a:rPr lang="en-GB" sz="2000" b="1" u="sng" dirty="0">
                        <a:solidFill>
                          <a:schemeClr val="accent6">
                            <a:lumMod val="75000"/>
                          </a:schemeClr>
                        </a:solidFill>
                      </a:rPr>
                      <a:t>Mass number </a:t>
                    </a:r>
                    <a:r>
                      <a:rPr lang="en-GB" sz="2000" dirty="0">
                        <a:solidFill>
                          <a:schemeClr val="accent6">
                            <a:lumMod val="75000"/>
                          </a:schemeClr>
                        </a:solidFill>
                      </a:rPr>
                      <a:t> = Number of </a:t>
                    </a:r>
                    <a:r>
                      <a:rPr lang="en-GB" sz="2000" b="1" dirty="0">
                        <a:solidFill>
                          <a:schemeClr val="accent6">
                            <a:lumMod val="75000"/>
                          </a:schemeClr>
                        </a:solidFill>
                      </a:rPr>
                      <a:t>protons</a:t>
                    </a:r>
                    <a:r>
                      <a:rPr lang="en-GB" sz="2000" dirty="0">
                        <a:solidFill>
                          <a:schemeClr val="accent6">
                            <a:lumMod val="75000"/>
                          </a:schemeClr>
                        </a:solidFill>
                      </a:rPr>
                      <a:t> and </a:t>
                    </a:r>
                    <a:r>
                      <a:rPr lang="en-GB" sz="2000" b="1" dirty="0">
                        <a:solidFill>
                          <a:schemeClr val="accent6">
                            <a:lumMod val="75000"/>
                          </a:schemeClr>
                        </a:solidFill>
                      </a:rPr>
                      <a:t>neutrons</a:t>
                    </a:r>
                  </a:p>
                </p:txBody>
              </p:sp>
              <p:sp>
                <p:nvSpPr>
                  <p:cNvPr id="20" name="TextBox 19">
                    <a:extLst>
                      <a:ext uri="{FF2B5EF4-FFF2-40B4-BE49-F238E27FC236}">
                        <a16:creationId xmlns:a16="http://schemas.microsoft.com/office/drawing/2014/main" xmlns="" id="{807D715D-DF9A-4B4D-9659-46D50D52DC8F}"/>
                      </a:ext>
                    </a:extLst>
                  </p:cNvPr>
                  <p:cNvSpPr txBox="1"/>
                  <p:nvPr/>
                </p:nvSpPr>
                <p:spPr>
                  <a:xfrm>
                    <a:off x="865785" y="1172695"/>
                    <a:ext cx="4712577" cy="400110"/>
                  </a:xfrm>
                  <a:prstGeom prst="rect">
                    <a:avLst/>
                  </a:prstGeom>
                  <a:noFill/>
                  <a:ln w="12700">
                    <a:solidFill>
                      <a:schemeClr val="bg1"/>
                    </a:solidFill>
                  </a:ln>
                  <a:effectLst/>
                </p:spPr>
                <p:txBody>
                  <a:bodyPr wrap="square" rtlCol="0">
                    <a:spAutoFit/>
                  </a:bodyPr>
                  <a:lstStyle/>
                  <a:p>
                    <a:pPr algn="ctr"/>
                    <a:r>
                      <a:rPr lang="en-GB" sz="2000" b="1" u="sng" dirty="0">
                        <a:solidFill>
                          <a:schemeClr val="accent6">
                            <a:lumMod val="75000"/>
                          </a:schemeClr>
                        </a:solidFill>
                      </a:rPr>
                      <a:t>Atomic number  </a:t>
                    </a:r>
                    <a:r>
                      <a:rPr lang="en-GB" sz="2000" dirty="0">
                        <a:solidFill>
                          <a:schemeClr val="accent6">
                            <a:lumMod val="75000"/>
                          </a:schemeClr>
                        </a:solidFill>
                      </a:rPr>
                      <a:t>= Number of protons</a:t>
                    </a:r>
                  </a:p>
                </p:txBody>
              </p:sp>
            </p:grpSp>
            <p:sp>
              <p:nvSpPr>
                <p:cNvPr id="17" name="Right Arrow 89">
                  <a:extLst>
                    <a:ext uri="{FF2B5EF4-FFF2-40B4-BE49-F238E27FC236}">
                      <a16:creationId xmlns:a16="http://schemas.microsoft.com/office/drawing/2014/main" xmlns="" id="{17C11FB4-5373-400A-9E60-B3815A6F1A61}"/>
                    </a:ext>
                  </a:extLst>
                </p:cNvPr>
                <p:cNvSpPr/>
                <p:nvPr/>
              </p:nvSpPr>
              <p:spPr>
                <a:xfrm>
                  <a:off x="5578362" y="1240069"/>
                  <a:ext cx="342900" cy="220699"/>
                </a:xfrm>
                <a:prstGeom prst="rightArrow">
                  <a:avLst/>
                </a:prstGeom>
                <a:solidFill>
                  <a:schemeClr val="accent6"/>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Rectangle 14">
                <a:extLst>
                  <a:ext uri="{FF2B5EF4-FFF2-40B4-BE49-F238E27FC236}">
                    <a16:creationId xmlns:a16="http://schemas.microsoft.com/office/drawing/2014/main" xmlns="" id="{94F3126C-5DB0-4609-98E6-FC8F869BC9D8}"/>
                  </a:ext>
                </a:extLst>
              </p:cNvPr>
              <p:cNvSpPr/>
              <p:nvPr/>
            </p:nvSpPr>
            <p:spPr>
              <a:xfrm>
                <a:off x="6849037" y="654400"/>
                <a:ext cx="2151326" cy="1015663"/>
              </a:xfrm>
              <a:prstGeom prst="rect">
                <a:avLst/>
              </a:prstGeom>
              <a:noFill/>
              <a:ln w="12700">
                <a:solidFill>
                  <a:schemeClr val="bg1"/>
                </a:solidFill>
              </a:ln>
              <a:effectLst/>
            </p:spPr>
            <p:txBody>
              <a:bodyPr wrap="square">
                <a:spAutoFit/>
              </a:bodyPr>
              <a:lstStyle/>
              <a:p>
                <a:r>
                  <a:rPr lang="en-GB" sz="2000" b="1" dirty="0"/>
                  <a:t>Protons    = 3</a:t>
                </a:r>
              </a:p>
              <a:p>
                <a:r>
                  <a:rPr lang="en-GB" sz="2000" b="1" dirty="0"/>
                  <a:t>Electrons  = 3</a:t>
                </a:r>
              </a:p>
              <a:p>
                <a:r>
                  <a:rPr lang="en-GB" sz="2000" b="1" dirty="0"/>
                  <a:t>Neutrons  = 4</a:t>
                </a:r>
              </a:p>
            </p:txBody>
          </p:sp>
        </p:grpSp>
      </p:grpSp>
    </p:spTree>
    <p:extLst>
      <p:ext uri="{BB962C8B-B14F-4D97-AF65-F5344CB8AC3E}">
        <p14:creationId xmlns:p14="http://schemas.microsoft.com/office/powerpoint/2010/main" val="10738709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2</a:t>
            </a:r>
            <a:endParaRPr lang="en-GB" sz="2400" b="1" dirty="0">
              <a:solidFill>
                <a:schemeClr val="accent6"/>
              </a:solidFill>
            </a:endParaRPr>
          </a:p>
        </p:txBody>
      </p:sp>
      <p:sp>
        <p:nvSpPr>
          <p:cNvPr id="14" name="Rectangle 13">
            <a:extLst>
              <a:ext uri="{FF2B5EF4-FFF2-40B4-BE49-F238E27FC236}">
                <a16:creationId xmlns:a16="http://schemas.microsoft.com/office/drawing/2014/main" xmlns="" id="{FD792BD6-AA36-4139-A646-A79C93567DC4}"/>
              </a:ext>
            </a:extLst>
          </p:cNvPr>
          <p:cNvSpPr/>
          <p:nvPr/>
        </p:nvSpPr>
        <p:spPr>
          <a:xfrm>
            <a:off x="5039922" y="2094827"/>
            <a:ext cx="3960440" cy="3508653"/>
          </a:xfrm>
          <a:prstGeom prst="rect">
            <a:avLst/>
          </a:prstGeom>
          <a:effectLst/>
        </p:spPr>
        <p:txBody>
          <a:bodyPr wrap="square">
            <a:spAutoFit/>
          </a:bodyPr>
          <a:lstStyle/>
          <a:p>
            <a:pPr algn="ctr"/>
            <a:r>
              <a:rPr lang="en-GB" sz="2400" dirty="0"/>
              <a:t>If an atom gains one or more electrons, it gains a </a:t>
            </a:r>
            <a:r>
              <a:rPr lang="en-GB" sz="2400" b="1" dirty="0"/>
              <a:t>negative</a:t>
            </a:r>
            <a:r>
              <a:rPr lang="en-GB" sz="2400" dirty="0"/>
              <a:t> charge because it has more electrons than protons.  </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17" name="Rectangle 16">
            <a:extLst>
              <a:ext uri="{FF2B5EF4-FFF2-40B4-BE49-F238E27FC236}">
                <a16:creationId xmlns:a16="http://schemas.microsoft.com/office/drawing/2014/main" xmlns="" id="{89539DB9-675C-4020-B01D-2EF0EF5DD0B2}"/>
              </a:ext>
            </a:extLst>
          </p:cNvPr>
          <p:cNvSpPr/>
          <p:nvPr/>
        </p:nvSpPr>
        <p:spPr>
          <a:xfrm>
            <a:off x="260187" y="1026978"/>
            <a:ext cx="8820851" cy="707886"/>
          </a:xfrm>
          <a:prstGeom prst="rect">
            <a:avLst/>
          </a:prstGeom>
          <a:solidFill>
            <a:schemeClr val="accent6">
              <a:lumMod val="20000"/>
              <a:lumOff val="80000"/>
            </a:schemeClr>
          </a:solidFill>
          <a:ln>
            <a:solidFill>
              <a:schemeClr val="accent6"/>
            </a:solidFill>
          </a:ln>
          <a:effectLst/>
        </p:spPr>
        <p:txBody>
          <a:bodyPr wrap="square">
            <a:spAutoFit/>
          </a:bodyPr>
          <a:lstStyle/>
          <a:p>
            <a:pPr algn="ctr"/>
            <a:r>
              <a:rPr lang="en-GB" sz="2000" dirty="0"/>
              <a:t>Atoms sometimes </a:t>
            </a:r>
            <a:r>
              <a:rPr lang="en-GB" sz="2000" b="1" dirty="0"/>
              <a:t>lose or gain </a:t>
            </a:r>
            <a:r>
              <a:rPr lang="en-GB" sz="2000" dirty="0"/>
              <a:t>electrons (</a:t>
            </a:r>
            <a:r>
              <a:rPr lang="en-GB" sz="2000" dirty="0" smtClean="0"/>
              <a:t>e.g. </a:t>
            </a:r>
            <a:r>
              <a:rPr lang="en-GB" sz="2000" dirty="0"/>
              <a:t>when a metal reacts with a none metal</a:t>
            </a:r>
            <a:r>
              <a:rPr lang="en-GB" sz="2000" dirty="0" smtClean="0"/>
              <a:t>). </a:t>
            </a:r>
            <a:r>
              <a:rPr lang="en-GB" sz="2000" dirty="0"/>
              <a:t>When they do this they become a charge atom or an</a:t>
            </a:r>
            <a:r>
              <a:rPr lang="en-GB" sz="2000" b="1" dirty="0"/>
              <a:t> ion</a:t>
            </a:r>
            <a:r>
              <a:rPr lang="en-GB" sz="2000" dirty="0"/>
              <a:t>.</a:t>
            </a:r>
          </a:p>
        </p:txBody>
      </p:sp>
      <p:sp>
        <p:nvSpPr>
          <p:cNvPr id="19" name="Rectangle 18">
            <a:extLst>
              <a:ext uri="{FF2B5EF4-FFF2-40B4-BE49-F238E27FC236}">
                <a16:creationId xmlns:a16="http://schemas.microsoft.com/office/drawing/2014/main" xmlns="" id="{1FC5D21C-D0B1-4476-B12A-1EE14F22EB81}"/>
              </a:ext>
            </a:extLst>
          </p:cNvPr>
          <p:cNvSpPr/>
          <p:nvPr/>
        </p:nvSpPr>
        <p:spPr>
          <a:xfrm>
            <a:off x="4931656" y="4000740"/>
            <a:ext cx="4176972" cy="1569660"/>
          </a:xfrm>
          <a:prstGeom prst="rect">
            <a:avLst/>
          </a:prstGeom>
          <a:effectLst/>
        </p:spPr>
        <p:txBody>
          <a:bodyPr wrap="square">
            <a:spAutoFit/>
          </a:bodyPr>
          <a:lstStyle/>
          <a:p>
            <a:pPr algn="ctr"/>
            <a:r>
              <a:rPr lang="en-GB" sz="2400" dirty="0" smtClean="0">
                <a:solidFill>
                  <a:schemeClr val="accent6">
                    <a:lumMod val="75000"/>
                  </a:schemeClr>
                </a:solidFill>
              </a:rPr>
              <a:t>e.g. </a:t>
            </a:r>
            <a:r>
              <a:rPr lang="en-GB" sz="2400" dirty="0">
                <a:solidFill>
                  <a:schemeClr val="accent6">
                    <a:lumMod val="75000"/>
                  </a:schemeClr>
                </a:solidFill>
              </a:rPr>
              <a:t>If an oxygen atom gains two electrons, it forms a </a:t>
            </a:r>
            <a:r>
              <a:rPr lang="en-GB" sz="2400" b="1" dirty="0">
                <a:solidFill>
                  <a:schemeClr val="accent6">
                    <a:lumMod val="75000"/>
                  </a:schemeClr>
                </a:solidFill>
              </a:rPr>
              <a:t>O</a:t>
            </a:r>
            <a:r>
              <a:rPr lang="en-GB" sz="2400" b="1" baseline="30000" dirty="0">
                <a:solidFill>
                  <a:schemeClr val="accent6">
                    <a:lumMod val="75000"/>
                  </a:schemeClr>
                </a:solidFill>
              </a:rPr>
              <a:t>2-</a:t>
            </a:r>
            <a:r>
              <a:rPr lang="en-GB" sz="2400" b="1" dirty="0">
                <a:solidFill>
                  <a:schemeClr val="accent6">
                    <a:lumMod val="75000"/>
                  </a:schemeClr>
                </a:solidFill>
              </a:rPr>
              <a:t> ion</a:t>
            </a:r>
            <a:r>
              <a:rPr lang="en-GB" sz="2400" dirty="0">
                <a:solidFill>
                  <a:schemeClr val="accent6">
                    <a:lumMod val="75000"/>
                  </a:schemeClr>
                </a:solidFill>
              </a:rPr>
              <a:t>.</a:t>
            </a:r>
          </a:p>
          <a:p>
            <a:pPr algn="ctr"/>
            <a:r>
              <a:rPr lang="en-GB" sz="2400" b="1" dirty="0">
                <a:solidFill>
                  <a:schemeClr val="accent6">
                    <a:lumMod val="75000"/>
                  </a:schemeClr>
                </a:solidFill>
              </a:rPr>
              <a:t>It has 8 protons, 8 neutrons and 10 electrons.</a:t>
            </a:r>
          </a:p>
        </p:txBody>
      </p:sp>
      <p:sp>
        <p:nvSpPr>
          <p:cNvPr id="20" name="Rectangle 19">
            <a:extLst>
              <a:ext uri="{FF2B5EF4-FFF2-40B4-BE49-F238E27FC236}">
                <a16:creationId xmlns:a16="http://schemas.microsoft.com/office/drawing/2014/main" xmlns="" id="{49E51A42-887C-4E19-94E0-8CCEC1DFC326}"/>
              </a:ext>
            </a:extLst>
          </p:cNvPr>
          <p:cNvSpPr/>
          <p:nvPr/>
        </p:nvSpPr>
        <p:spPr>
          <a:xfrm>
            <a:off x="312122" y="4005064"/>
            <a:ext cx="4176972" cy="1569660"/>
          </a:xfrm>
          <a:prstGeom prst="rect">
            <a:avLst/>
          </a:prstGeom>
          <a:effectLst/>
        </p:spPr>
        <p:txBody>
          <a:bodyPr wrap="square">
            <a:spAutoFit/>
          </a:bodyPr>
          <a:lstStyle/>
          <a:p>
            <a:pPr algn="ctr"/>
            <a:r>
              <a:rPr lang="en-GB" sz="2400" dirty="0" smtClean="0">
                <a:solidFill>
                  <a:schemeClr val="accent6">
                    <a:lumMod val="75000"/>
                  </a:schemeClr>
                </a:solidFill>
              </a:rPr>
              <a:t>e.g. </a:t>
            </a:r>
            <a:r>
              <a:rPr lang="en-GB" sz="2400" dirty="0">
                <a:solidFill>
                  <a:schemeClr val="accent6">
                    <a:lumMod val="75000"/>
                  </a:schemeClr>
                </a:solidFill>
              </a:rPr>
              <a:t>If sodium atom loses one electron, it forms a </a:t>
            </a:r>
            <a:r>
              <a:rPr lang="en-GB" sz="2400" b="1" dirty="0">
                <a:solidFill>
                  <a:schemeClr val="accent6">
                    <a:lumMod val="75000"/>
                  </a:schemeClr>
                </a:solidFill>
              </a:rPr>
              <a:t>Na</a:t>
            </a:r>
            <a:r>
              <a:rPr lang="en-GB" sz="2400" b="1" baseline="30000" dirty="0">
                <a:solidFill>
                  <a:schemeClr val="accent6">
                    <a:lumMod val="75000"/>
                  </a:schemeClr>
                </a:solidFill>
              </a:rPr>
              <a:t>+</a:t>
            </a:r>
            <a:r>
              <a:rPr lang="en-GB" sz="2400" b="1" dirty="0">
                <a:solidFill>
                  <a:schemeClr val="accent6">
                    <a:lumMod val="75000"/>
                  </a:schemeClr>
                </a:solidFill>
              </a:rPr>
              <a:t> ion</a:t>
            </a:r>
            <a:r>
              <a:rPr lang="en-GB" sz="2400" dirty="0">
                <a:solidFill>
                  <a:schemeClr val="accent6">
                    <a:lumMod val="75000"/>
                  </a:schemeClr>
                </a:solidFill>
              </a:rPr>
              <a:t>.</a:t>
            </a:r>
          </a:p>
          <a:p>
            <a:pPr algn="ctr"/>
            <a:r>
              <a:rPr lang="en-GB" sz="2400" b="1" dirty="0">
                <a:solidFill>
                  <a:schemeClr val="accent6">
                    <a:lumMod val="75000"/>
                  </a:schemeClr>
                </a:solidFill>
              </a:rPr>
              <a:t>It has 11 protons,  12 neutrons and 10 electrons.</a:t>
            </a:r>
          </a:p>
        </p:txBody>
      </p:sp>
      <p:sp>
        <p:nvSpPr>
          <p:cNvPr id="5" name="Rectangle 4">
            <a:extLst>
              <a:ext uri="{FF2B5EF4-FFF2-40B4-BE49-F238E27FC236}">
                <a16:creationId xmlns:a16="http://schemas.microsoft.com/office/drawing/2014/main" xmlns="" id="{0C51DDD7-372C-4678-9770-1DD3384047A9}"/>
              </a:ext>
            </a:extLst>
          </p:cNvPr>
          <p:cNvSpPr/>
          <p:nvPr/>
        </p:nvSpPr>
        <p:spPr>
          <a:xfrm>
            <a:off x="192508" y="2069146"/>
            <a:ext cx="4572000" cy="1569660"/>
          </a:xfrm>
          <a:prstGeom prst="rect">
            <a:avLst/>
          </a:prstGeom>
          <a:effectLst/>
        </p:spPr>
        <p:txBody>
          <a:bodyPr>
            <a:spAutoFit/>
          </a:bodyPr>
          <a:lstStyle/>
          <a:p>
            <a:pPr algn="ctr"/>
            <a:r>
              <a:rPr lang="en-GB" sz="2400" dirty="0"/>
              <a:t>If an atom loses one or more electrons, it gains a </a:t>
            </a:r>
            <a:r>
              <a:rPr lang="en-GB" sz="2400" b="1" dirty="0"/>
              <a:t>positive</a:t>
            </a:r>
            <a:r>
              <a:rPr lang="en-GB" sz="2400" dirty="0"/>
              <a:t> charge because it has less electrons than protons.  </a:t>
            </a:r>
          </a:p>
        </p:txBody>
      </p:sp>
    </p:spTree>
    <p:extLst>
      <p:ext uri="{BB962C8B-B14F-4D97-AF65-F5344CB8AC3E}">
        <p14:creationId xmlns:p14="http://schemas.microsoft.com/office/powerpoint/2010/main" val="6595179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relate size and scale of atoms to objects in the physical world.">
            <a:extLst>
              <a:ext uri="{FF2B5EF4-FFF2-40B4-BE49-F238E27FC236}">
                <a16:creationId xmlns:a16="http://schemas.microsoft.com/office/drawing/2014/main" xmlns="" id="{F48F128C-EEFD-4CD1-AD5B-1AFD50E3A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914" y="1340768"/>
            <a:ext cx="8296668" cy="5176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68386CBB-B86B-450E-85F6-2BE0F2ED3BCE}"/>
              </a:ext>
            </a:extLst>
          </p:cNvPr>
          <p:cNvSpPr txBox="1"/>
          <p:nvPr/>
        </p:nvSpPr>
        <p:spPr>
          <a:xfrm>
            <a:off x="256965" y="764704"/>
            <a:ext cx="8522566" cy="400110"/>
          </a:xfrm>
          <a:prstGeom prst="rect">
            <a:avLst/>
          </a:prstGeom>
          <a:noFill/>
        </p:spPr>
        <p:txBody>
          <a:bodyPr wrap="square" rtlCol="0">
            <a:spAutoFit/>
          </a:bodyPr>
          <a:lstStyle/>
          <a:p>
            <a:pPr algn="ctr"/>
            <a:r>
              <a:rPr lang="en-GB" sz="2000" dirty="0"/>
              <a:t>Atoms are tiny - the radius of a typical atom is </a:t>
            </a:r>
            <a:r>
              <a:rPr lang="en-GB" sz="2000" b="1" dirty="0"/>
              <a:t>one tenth</a:t>
            </a:r>
            <a:r>
              <a:rPr lang="en-GB" sz="2000" dirty="0"/>
              <a:t> of a billionth of a meter. </a:t>
            </a:r>
          </a:p>
        </p:txBody>
      </p:sp>
    </p:spTree>
    <p:extLst>
      <p:ext uri="{BB962C8B-B14F-4D97-AF65-F5344CB8AC3E}">
        <p14:creationId xmlns:p14="http://schemas.microsoft.com/office/powerpoint/2010/main" val="18638266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2</a:t>
            </a:r>
            <a:endParaRPr lang="en-GB" sz="2400" b="1" dirty="0">
              <a:solidFill>
                <a:schemeClr val="accent6"/>
              </a:solidFill>
            </a:endParaRPr>
          </a:p>
        </p:txBody>
      </p:sp>
      <p:sp>
        <p:nvSpPr>
          <p:cNvPr id="14" name="Rectangle 13">
            <a:extLst>
              <a:ext uri="{FF2B5EF4-FFF2-40B4-BE49-F238E27FC236}">
                <a16:creationId xmlns:a16="http://schemas.microsoft.com/office/drawing/2014/main" xmlns="" id="{FD792BD6-AA36-4139-A646-A79C93567DC4}"/>
              </a:ext>
            </a:extLst>
          </p:cNvPr>
          <p:cNvSpPr/>
          <p:nvPr/>
        </p:nvSpPr>
        <p:spPr>
          <a:xfrm>
            <a:off x="107504" y="908720"/>
            <a:ext cx="8928992" cy="400110"/>
          </a:xfrm>
          <a:prstGeom prst="rect">
            <a:avLst/>
          </a:prstGeom>
          <a:solidFill>
            <a:schemeClr val="accent6">
              <a:lumMod val="20000"/>
              <a:lumOff val="80000"/>
            </a:schemeClr>
          </a:solidFill>
          <a:ln>
            <a:solidFill>
              <a:schemeClr val="accent6"/>
            </a:solidFill>
          </a:ln>
        </p:spPr>
        <p:txBody>
          <a:bodyPr wrap="square">
            <a:spAutoFit/>
          </a:bodyPr>
          <a:lstStyle/>
          <a:p>
            <a:pPr algn="ctr"/>
            <a:r>
              <a:rPr lang="en-GB" sz="2000" dirty="0"/>
              <a:t>Atoms of the </a:t>
            </a:r>
            <a:r>
              <a:rPr lang="en-GB" sz="2000" b="1" dirty="0"/>
              <a:t>same element </a:t>
            </a:r>
            <a:r>
              <a:rPr lang="en-GB" sz="2000" dirty="0"/>
              <a:t>can have </a:t>
            </a:r>
            <a:r>
              <a:rPr lang="en-GB" sz="2000" b="1" dirty="0"/>
              <a:t>different numbers </a:t>
            </a:r>
            <a:r>
              <a:rPr lang="en-GB" sz="2000" dirty="0"/>
              <a:t>of </a:t>
            </a:r>
            <a:r>
              <a:rPr lang="en-GB" sz="2000" b="1" dirty="0"/>
              <a:t>neutrons</a:t>
            </a:r>
            <a:r>
              <a:rPr lang="en-GB" sz="2000" dirty="0"/>
              <a:t> – an </a:t>
            </a:r>
            <a:r>
              <a:rPr lang="en-GB" sz="2000" b="1" u="sng" dirty="0"/>
              <a:t>isotope</a:t>
            </a:r>
            <a:r>
              <a:rPr lang="en-GB" dirty="0"/>
              <a:t>.</a:t>
            </a:r>
          </a:p>
        </p:txBody>
      </p:sp>
      <p:sp>
        <p:nvSpPr>
          <p:cNvPr id="5" name="Rectangle 4">
            <a:extLst>
              <a:ext uri="{FF2B5EF4-FFF2-40B4-BE49-F238E27FC236}">
                <a16:creationId xmlns:a16="http://schemas.microsoft.com/office/drawing/2014/main" xmlns="" id="{C922A155-0B59-4B19-AE8C-2815DC71737D}"/>
              </a:ext>
            </a:extLst>
          </p:cNvPr>
          <p:cNvSpPr/>
          <p:nvPr/>
        </p:nvSpPr>
        <p:spPr>
          <a:xfrm>
            <a:off x="107504" y="5236823"/>
            <a:ext cx="8928992" cy="1323439"/>
          </a:xfrm>
          <a:prstGeom prst="rect">
            <a:avLst/>
          </a:prstGeom>
          <a:effectLst/>
        </p:spPr>
        <p:txBody>
          <a:bodyPr wrap="square">
            <a:spAutoFit/>
          </a:bodyPr>
          <a:lstStyle/>
          <a:p>
            <a:r>
              <a:rPr lang="en-GB" sz="2000" b="1" dirty="0">
                <a:solidFill>
                  <a:schemeClr val="accent6">
                    <a:lumMod val="75000"/>
                  </a:schemeClr>
                </a:solidFill>
                <a:latin typeface="+mj-lt"/>
              </a:rPr>
              <a:t>Chlorine’s relative atomic mass of 35.5 is an average of the masses of the different isotopes of chlorine.</a:t>
            </a:r>
          </a:p>
          <a:p>
            <a:r>
              <a:rPr lang="en-GB" sz="2000" b="1" dirty="0">
                <a:solidFill>
                  <a:schemeClr val="accent6">
                    <a:lumMod val="75000"/>
                  </a:schemeClr>
                </a:solidFill>
                <a:latin typeface="+mj-lt"/>
              </a:rPr>
              <a:t>For example, in any sample of Chlorine 25% will be </a:t>
            </a:r>
            <a:r>
              <a:rPr lang="en-GB" sz="2000" b="1" baseline="30000" dirty="0">
                <a:solidFill>
                  <a:schemeClr val="accent6">
                    <a:lumMod val="75000"/>
                  </a:schemeClr>
                </a:solidFill>
                <a:latin typeface="+mj-lt"/>
              </a:rPr>
              <a:t>37</a:t>
            </a:r>
            <a:r>
              <a:rPr lang="en-GB" sz="2000" b="1" dirty="0">
                <a:solidFill>
                  <a:schemeClr val="accent6">
                    <a:lumMod val="75000"/>
                  </a:schemeClr>
                </a:solidFill>
                <a:latin typeface="+mj-lt"/>
              </a:rPr>
              <a:t>Cl and 75% </a:t>
            </a:r>
            <a:r>
              <a:rPr lang="en-GB" sz="2000" b="1" baseline="30000" dirty="0">
                <a:solidFill>
                  <a:schemeClr val="accent6">
                    <a:lumMod val="75000"/>
                  </a:schemeClr>
                </a:solidFill>
                <a:latin typeface="+mj-lt"/>
              </a:rPr>
              <a:t>35</a:t>
            </a:r>
            <a:r>
              <a:rPr lang="en-GB" sz="2000" b="1" dirty="0">
                <a:solidFill>
                  <a:schemeClr val="accent6">
                    <a:lumMod val="75000"/>
                  </a:schemeClr>
                </a:solidFill>
                <a:latin typeface="+mj-lt"/>
              </a:rPr>
              <a:t>Cl. </a:t>
            </a:r>
          </a:p>
          <a:p>
            <a:r>
              <a:rPr lang="en-GB" sz="2000" b="1" dirty="0">
                <a:solidFill>
                  <a:schemeClr val="accent6">
                    <a:lumMod val="75000"/>
                  </a:schemeClr>
                </a:solidFill>
                <a:latin typeface="+mj-lt"/>
              </a:rPr>
              <a:t>(25 x 37) + (75 x 35) </a:t>
            </a:r>
            <a:r>
              <a:rPr lang="en-GB" sz="2000" b="1" dirty="0">
                <a:solidFill>
                  <a:schemeClr val="accent6">
                    <a:lumMod val="75000"/>
                  </a:schemeClr>
                </a:solidFill>
              </a:rPr>
              <a:t>÷ </a:t>
            </a:r>
            <a:r>
              <a:rPr lang="en-GB" sz="2000" b="1" dirty="0">
                <a:solidFill>
                  <a:schemeClr val="accent6">
                    <a:lumMod val="75000"/>
                  </a:schemeClr>
                </a:solidFill>
                <a:latin typeface="+mj-lt"/>
              </a:rPr>
              <a:t>100 = 35.5</a:t>
            </a:r>
          </a:p>
        </p:txBody>
      </p:sp>
      <p:sp>
        <p:nvSpPr>
          <p:cNvPr id="6" name="AutoShape 2" descr="Image result for isotope">
            <a:extLst>
              <a:ext uri="{FF2B5EF4-FFF2-40B4-BE49-F238E27FC236}">
                <a16:creationId xmlns:a16="http://schemas.microsoft.com/office/drawing/2014/main" xmlns="" id="{7E6FB3B4-4B6C-4CA8-9E3E-4F55244BDCC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7" name="Picture 16">
            <a:extLst>
              <a:ext uri="{FF2B5EF4-FFF2-40B4-BE49-F238E27FC236}">
                <a16:creationId xmlns:a16="http://schemas.microsoft.com/office/drawing/2014/main" xmlns="" id="{B99D16A5-E33C-4E33-96F2-B6A98D9C9528}"/>
              </a:ext>
            </a:extLst>
          </p:cNvPr>
          <p:cNvPicPr>
            <a:picLocks noChangeAspect="1"/>
          </p:cNvPicPr>
          <p:nvPr/>
        </p:nvPicPr>
        <p:blipFill>
          <a:blip r:embed="rId3"/>
          <a:stretch>
            <a:fillRect/>
          </a:stretch>
        </p:blipFill>
        <p:spPr>
          <a:xfrm>
            <a:off x="2339752" y="1384143"/>
            <a:ext cx="3649269" cy="1261004"/>
          </a:xfrm>
          <a:prstGeom prst="rect">
            <a:avLst/>
          </a:prstGeom>
        </p:spPr>
      </p:pic>
      <p:sp>
        <p:nvSpPr>
          <p:cNvPr id="18" name="Rectangle 17">
            <a:extLst>
              <a:ext uri="{FF2B5EF4-FFF2-40B4-BE49-F238E27FC236}">
                <a16:creationId xmlns:a16="http://schemas.microsoft.com/office/drawing/2014/main" xmlns="" id="{03C261A3-8E1B-4AE8-8DE9-0153CE5F74F4}"/>
              </a:ext>
            </a:extLst>
          </p:cNvPr>
          <p:cNvSpPr/>
          <p:nvPr/>
        </p:nvSpPr>
        <p:spPr>
          <a:xfrm>
            <a:off x="107504" y="2682278"/>
            <a:ext cx="8928992" cy="2554545"/>
          </a:xfrm>
          <a:prstGeom prst="rect">
            <a:avLst/>
          </a:prstGeom>
          <a:solidFill>
            <a:schemeClr val="accent6">
              <a:lumMod val="20000"/>
              <a:lumOff val="80000"/>
            </a:schemeClr>
          </a:solidFill>
          <a:ln>
            <a:solidFill>
              <a:schemeClr val="accent6"/>
            </a:solidFill>
          </a:ln>
        </p:spPr>
        <p:txBody>
          <a:bodyPr wrap="square">
            <a:spAutoFit/>
          </a:bodyPr>
          <a:lstStyle/>
          <a:p>
            <a:pPr algn="ctr"/>
            <a:r>
              <a:rPr lang="en-GB" sz="2000" dirty="0"/>
              <a:t>The </a:t>
            </a:r>
            <a:r>
              <a:rPr lang="en-GB" sz="2000" b="1" dirty="0"/>
              <a:t>relative atomic mass </a:t>
            </a:r>
            <a:r>
              <a:rPr lang="en-GB" sz="2000" dirty="0"/>
              <a:t>of an element is an </a:t>
            </a:r>
            <a:r>
              <a:rPr lang="en-GB" sz="2000" b="1" dirty="0"/>
              <a:t>average</a:t>
            </a:r>
            <a:r>
              <a:rPr lang="en-GB" sz="2000" dirty="0"/>
              <a:t> value that takes account of the </a:t>
            </a:r>
            <a:r>
              <a:rPr lang="en-GB" sz="2000" b="1" dirty="0"/>
              <a:t>abundance</a:t>
            </a:r>
            <a:r>
              <a:rPr lang="en-GB" sz="2000" dirty="0"/>
              <a:t> of the isotopes of the element</a:t>
            </a:r>
            <a:r>
              <a:rPr lang="en-GB" sz="2000" dirty="0" smtClean="0"/>
              <a:t>. </a:t>
            </a:r>
            <a:r>
              <a:rPr lang="en-GB" sz="2000" dirty="0"/>
              <a:t>Samples of </a:t>
            </a:r>
            <a:r>
              <a:rPr lang="en-GB" sz="2000" b="1" dirty="0"/>
              <a:t>different</a:t>
            </a:r>
            <a:r>
              <a:rPr lang="en-GB" sz="2000" dirty="0"/>
              <a:t> isotopes of an element have different </a:t>
            </a:r>
            <a:r>
              <a:rPr lang="en-GB" sz="2000" b="1" dirty="0"/>
              <a:t>physical properties </a:t>
            </a:r>
            <a:r>
              <a:rPr lang="en-GB" sz="2000" dirty="0"/>
              <a:t>(</a:t>
            </a:r>
            <a:r>
              <a:rPr lang="en-GB" sz="2000" dirty="0" smtClean="0"/>
              <a:t>e.g. </a:t>
            </a:r>
            <a:r>
              <a:rPr lang="en-GB" sz="2000" dirty="0"/>
              <a:t>different density), however, they always have the </a:t>
            </a:r>
            <a:r>
              <a:rPr lang="en-GB" sz="2000" b="1" dirty="0"/>
              <a:t>same</a:t>
            </a:r>
            <a:r>
              <a:rPr lang="en-GB" sz="2000" dirty="0"/>
              <a:t> </a:t>
            </a:r>
            <a:r>
              <a:rPr lang="en-GB" sz="2000" b="1" dirty="0"/>
              <a:t>chemical properties</a:t>
            </a:r>
            <a:r>
              <a:rPr lang="en-GB" sz="2000" dirty="0"/>
              <a:t>. </a:t>
            </a:r>
            <a:r>
              <a:rPr lang="en-GB" sz="2000" dirty="0">
                <a:solidFill>
                  <a:srgbClr val="333333"/>
                </a:solidFill>
              </a:rPr>
              <a:t>It is calculated by working out the relative </a:t>
            </a:r>
            <a:r>
              <a:rPr lang="en-GB" sz="2000" b="1" dirty="0">
                <a:solidFill>
                  <a:srgbClr val="333333"/>
                </a:solidFill>
              </a:rPr>
              <a:t>abundance</a:t>
            </a:r>
            <a:r>
              <a:rPr lang="en-GB" sz="2000" dirty="0">
                <a:solidFill>
                  <a:srgbClr val="333333"/>
                </a:solidFill>
              </a:rPr>
              <a:t> of each isotope. </a:t>
            </a:r>
          </a:p>
          <a:p>
            <a:endParaRPr lang="en-GB" sz="2000" dirty="0">
              <a:solidFill>
                <a:srgbClr val="333333"/>
              </a:solidFill>
            </a:endParaRPr>
          </a:p>
          <a:p>
            <a:pPr algn="ctr"/>
            <a:r>
              <a:rPr lang="en-GB" sz="2000" dirty="0">
                <a:solidFill>
                  <a:srgbClr val="333333"/>
                </a:solidFill>
              </a:rPr>
              <a:t>The relative atomic mass is therefore calculated using the equation:</a:t>
            </a:r>
          </a:p>
          <a:p>
            <a:pPr algn="ctr"/>
            <a:r>
              <a:rPr lang="en-GB" sz="2000" b="1" dirty="0">
                <a:solidFill>
                  <a:srgbClr val="333333"/>
                </a:solidFill>
              </a:rPr>
              <a:t>(% of isotope 1 × mass of isotope 1) + (% of isotope 2 × mass of isotope 2) ÷ 100</a:t>
            </a:r>
            <a:endParaRPr lang="en-GB" sz="2000" dirty="0"/>
          </a:p>
        </p:txBody>
      </p:sp>
      <p:sp>
        <p:nvSpPr>
          <p:cNvPr id="19" name="Rectangle 18">
            <a:extLst>
              <a:ext uri="{FF2B5EF4-FFF2-40B4-BE49-F238E27FC236}">
                <a16:creationId xmlns:a16="http://schemas.microsoft.com/office/drawing/2014/main" xmlns="" id="{F5157C55-AE8C-458A-9E78-2EAB4C16512C}"/>
              </a:ext>
            </a:extLst>
          </p:cNvPr>
          <p:cNvSpPr/>
          <p:nvPr/>
        </p:nvSpPr>
        <p:spPr>
          <a:xfrm>
            <a:off x="6228184" y="1997280"/>
            <a:ext cx="2454454" cy="400110"/>
          </a:xfrm>
          <a:prstGeom prst="rect">
            <a:avLst/>
          </a:prstGeom>
          <a:effectLst/>
        </p:spPr>
        <p:txBody>
          <a:bodyPr wrap="none">
            <a:spAutoFit/>
          </a:bodyPr>
          <a:lstStyle/>
          <a:p>
            <a:r>
              <a:rPr lang="en-GB" sz="2000" b="1" dirty="0">
                <a:solidFill>
                  <a:schemeClr val="accent6">
                    <a:lumMod val="75000"/>
                  </a:schemeClr>
                </a:solidFill>
              </a:rPr>
              <a:t>Isotopes of Hydrogen</a:t>
            </a:r>
          </a:p>
        </p:txBody>
      </p:sp>
    </p:spTree>
    <p:extLst>
      <p:ext uri="{BB962C8B-B14F-4D97-AF65-F5344CB8AC3E}">
        <p14:creationId xmlns:p14="http://schemas.microsoft.com/office/powerpoint/2010/main" val="10775857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Atomic model - PART 2</a:t>
            </a:r>
            <a:endParaRPr lang="en-GB" sz="2400" b="1" dirty="0">
              <a:solidFill>
                <a:schemeClr val="accent6"/>
              </a:solidFill>
            </a:endParaRPr>
          </a:p>
        </p:txBody>
      </p:sp>
      <p:grpSp>
        <p:nvGrpSpPr>
          <p:cNvPr id="18" name="Group 17"/>
          <p:cNvGrpSpPr/>
          <p:nvPr/>
        </p:nvGrpSpPr>
        <p:grpSpPr>
          <a:xfrm>
            <a:off x="323528" y="1124744"/>
            <a:ext cx="8463192" cy="5016758"/>
            <a:chOff x="323528" y="1124744"/>
            <a:chExt cx="8463192" cy="5016758"/>
          </a:xfrm>
        </p:grpSpPr>
        <p:sp>
          <p:nvSpPr>
            <p:cNvPr id="3" name="TextBox 2">
              <a:extLst>
                <a:ext uri="{FF2B5EF4-FFF2-40B4-BE49-F238E27FC236}">
                  <a16:creationId xmlns:a16="http://schemas.microsoft.com/office/drawing/2014/main" xmlns="" id="{D533F2BA-6821-4DF5-928F-8BD3313C088F}"/>
                </a:ext>
              </a:extLst>
            </p:cNvPr>
            <p:cNvSpPr txBox="1"/>
            <p:nvPr/>
          </p:nvSpPr>
          <p:spPr>
            <a:xfrm>
              <a:off x="323528" y="1124744"/>
              <a:ext cx="8463192" cy="501675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dirty="0"/>
                <a:t>The electrons in an atom occupy the lowest available </a:t>
              </a:r>
              <a:r>
                <a:rPr lang="en-GB" sz="2000" b="1" dirty="0"/>
                <a:t>energy levels </a:t>
              </a:r>
              <a:r>
                <a:rPr lang="en-GB" sz="2000" dirty="0"/>
                <a:t>(innermost available shells). The electronic structure of an atom can be represented by numbers or by a diagram </a:t>
              </a:r>
              <a:r>
                <a:rPr lang="en-GB" sz="2000" dirty="0" smtClean="0"/>
                <a:t>e.g.</a:t>
              </a:r>
              <a:endParaRPr lang="en-GB" sz="2000" dirty="0"/>
            </a:p>
            <a:p>
              <a:endParaRPr lang="en-GB" sz="2000" dirty="0"/>
            </a:p>
            <a:p>
              <a:endParaRPr lang="en-GB" sz="2000" dirty="0" smtClean="0"/>
            </a:p>
            <a:p>
              <a:endParaRPr lang="en-GB" sz="2000" dirty="0"/>
            </a:p>
            <a:p>
              <a:endParaRPr lang="en-GB" sz="2000" dirty="0" smtClean="0"/>
            </a:p>
            <a:p>
              <a:endParaRPr lang="en-GB" sz="2000" dirty="0"/>
            </a:p>
            <a:p>
              <a:endParaRPr lang="en-GB" sz="2000" dirty="0"/>
            </a:p>
            <a:p>
              <a:endParaRPr lang="en-GB" sz="2000" dirty="0" smtClean="0"/>
            </a:p>
            <a:p>
              <a:endParaRPr lang="en-GB" sz="2000" dirty="0"/>
            </a:p>
            <a:p>
              <a:endParaRPr lang="en-GB" sz="2000" dirty="0" smtClean="0"/>
            </a:p>
            <a:p>
              <a:endParaRPr lang="en-GB" sz="2000" dirty="0" smtClean="0"/>
            </a:p>
            <a:p>
              <a:endParaRPr lang="en-GB" sz="2000" dirty="0"/>
            </a:p>
            <a:p>
              <a:endParaRPr lang="en-GB" sz="2000" dirty="0" smtClean="0"/>
            </a:p>
            <a:p>
              <a:endParaRPr lang="en-GB" sz="2000" dirty="0"/>
            </a:p>
          </p:txBody>
        </p:sp>
        <p:sp>
          <p:nvSpPr>
            <p:cNvPr id="4" name="TextBox 3"/>
            <p:cNvSpPr txBox="1"/>
            <p:nvPr/>
          </p:nvSpPr>
          <p:spPr>
            <a:xfrm>
              <a:off x="2983760" y="2348880"/>
              <a:ext cx="5802960" cy="2246769"/>
            </a:xfrm>
            <a:prstGeom prst="rect">
              <a:avLst/>
            </a:prstGeom>
            <a:noFill/>
          </p:spPr>
          <p:txBody>
            <a:bodyPr wrap="square" rtlCol="0">
              <a:spAutoFit/>
            </a:bodyPr>
            <a:lstStyle/>
            <a:p>
              <a:r>
                <a:rPr lang="en-GB" sz="2000" dirty="0"/>
                <a:t>Calcium has 2 electrons on its lowest energy level</a:t>
              </a:r>
              <a:r>
                <a:rPr lang="en-GB" sz="2000" dirty="0" smtClean="0"/>
                <a:t>,</a:t>
              </a:r>
            </a:p>
            <a:p>
              <a:r>
                <a:rPr lang="en-GB" sz="2000" dirty="0" smtClean="0"/>
                <a:t> </a:t>
              </a:r>
              <a:endParaRPr lang="en-GB" sz="2000" dirty="0"/>
            </a:p>
            <a:p>
              <a:r>
                <a:rPr lang="en-GB" sz="2000" dirty="0"/>
                <a:t>8 on the second energy level</a:t>
              </a:r>
              <a:r>
                <a:rPr lang="en-GB" sz="2000" dirty="0" smtClean="0"/>
                <a:t>,</a:t>
              </a:r>
            </a:p>
            <a:p>
              <a:endParaRPr lang="en-GB" sz="2000" dirty="0"/>
            </a:p>
            <a:p>
              <a:r>
                <a:rPr lang="en-GB" sz="2000" dirty="0"/>
                <a:t>8 on the third energy level </a:t>
              </a:r>
              <a:endParaRPr lang="en-GB" sz="2000" dirty="0" smtClean="0"/>
            </a:p>
            <a:p>
              <a:endParaRPr lang="en-GB" sz="2000" dirty="0"/>
            </a:p>
            <a:p>
              <a:r>
                <a:rPr lang="en-GB" sz="2000" dirty="0"/>
                <a:t>and 2 on the fourth (the highest) energy level.</a:t>
              </a:r>
              <a:endParaRPr lang="en-GB" sz="2000" dirty="0"/>
            </a:p>
          </p:txBody>
        </p:sp>
        <p:cxnSp>
          <p:nvCxnSpPr>
            <p:cNvPr id="6" name="Straight Arrow Connector 5"/>
            <p:cNvCxnSpPr/>
            <p:nvPr/>
          </p:nvCxnSpPr>
          <p:spPr>
            <a:xfrm flipH="1">
              <a:off x="1657490" y="2537826"/>
              <a:ext cx="1358338" cy="68353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p:cNvCxnSpPr/>
            <p:nvPr/>
          </p:nvCxnSpPr>
          <p:spPr>
            <a:xfrm flipH="1">
              <a:off x="2051720" y="3179844"/>
              <a:ext cx="933117" cy="35840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p:cNvCxnSpPr/>
            <p:nvPr/>
          </p:nvCxnSpPr>
          <p:spPr>
            <a:xfrm flipH="1">
              <a:off x="2204120" y="3780335"/>
              <a:ext cx="779640" cy="11279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p:cNvCxnSpPr/>
            <p:nvPr/>
          </p:nvCxnSpPr>
          <p:spPr>
            <a:xfrm flipH="1" flipV="1">
              <a:off x="2051720" y="4292303"/>
              <a:ext cx="932040" cy="10263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13155" t="13099" r="14832" b="12981"/>
            <a:stretch/>
          </p:blipFill>
          <p:spPr>
            <a:xfrm>
              <a:off x="429507" y="2399149"/>
              <a:ext cx="2088233" cy="2304256"/>
            </a:xfrm>
            <a:prstGeom prst="rect">
              <a:avLst/>
            </a:prstGeom>
          </p:spPr>
        </p:pic>
      </p:grpSp>
      <p:sp>
        <p:nvSpPr>
          <p:cNvPr id="9" name="Rectangle 8">
            <a:extLst>
              <a:ext uri="{FF2B5EF4-FFF2-40B4-BE49-F238E27FC236}">
                <a16:creationId xmlns:a16="http://schemas.microsoft.com/office/drawing/2014/main" xmlns="" id="{25065178-7D0B-49A3-AC40-2C848851DF8A}"/>
              </a:ext>
            </a:extLst>
          </p:cNvPr>
          <p:cNvSpPr/>
          <p:nvPr/>
        </p:nvSpPr>
        <p:spPr>
          <a:xfrm>
            <a:off x="1109636" y="5270292"/>
            <a:ext cx="6924728" cy="461665"/>
          </a:xfrm>
          <a:prstGeom prst="rect">
            <a:avLst/>
          </a:prstGeom>
        </p:spPr>
        <p:txBody>
          <a:bodyPr wrap="square">
            <a:spAutoFit/>
          </a:bodyPr>
          <a:lstStyle/>
          <a:p>
            <a:r>
              <a:rPr lang="en-GB" sz="2400" b="1" dirty="0" smtClean="0">
                <a:solidFill>
                  <a:schemeClr val="accent6">
                    <a:lumMod val="75000"/>
                  </a:schemeClr>
                </a:solidFill>
              </a:rPr>
              <a:t>So the e</a:t>
            </a:r>
            <a:r>
              <a:rPr lang="en-GB" sz="2400" b="1" dirty="0" smtClean="0">
                <a:solidFill>
                  <a:schemeClr val="accent6">
                    <a:lumMod val="75000"/>
                  </a:schemeClr>
                </a:solidFill>
              </a:rPr>
              <a:t>lectron configuration for Calcium = 2,8,8,2 </a:t>
            </a:r>
            <a:endParaRPr lang="en-GB" sz="2400" b="1" dirty="0">
              <a:solidFill>
                <a:schemeClr val="accent6">
                  <a:lumMod val="75000"/>
                </a:schemeClr>
              </a:solidFill>
            </a:endParaRPr>
          </a:p>
        </p:txBody>
      </p:sp>
    </p:spTree>
    <p:extLst>
      <p:ext uri="{BB962C8B-B14F-4D97-AF65-F5344CB8AC3E}">
        <p14:creationId xmlns:p14="http://schemas.microsoft.com/office/powerpoint/2010/main" val="6298726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32453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Relative electrical charges of subatomic particles.</a:t>
            </a:r>
          </a:p>
          <a:p>
            <a:pPr marL="685800" lvl="1" indent="-342900">
              <a:buFont typeface="Arial" charset="0"/>
              <a:buChar char="•"/>
            </a:pPr>
            <a:r>
              <a:rPr lang="en-US" sz="2400" b="1" dirty="0">
                <a:solidFill>
                  <a:schemeClr val="bg1">
                    <a:lumMod val="50000"/>
                  </a:schemeClr>
                </a:solidFill>
              </a:rPr>
              <a:t>Size and mass of atoms</a:t>
            </a:r>
          </a:p>
          <a:p>
            <a:pPr marL="685800" lvl="1" indent="-342900">
              <a:buFont typeface="Arial" charset="0"/>
              <a:buChar char="•"/>
            </a:pPr>
            <a:r>
              <a:rPr lang="en-US" sz="2400" b="1" dirty="0">
                <a:solidFill>
                  <a:schemeClr val="bg1">
                    <a:lumMod val="50000"/>
                  </a:schemeClr>
                </a:solidFill>
              </a:rPr>
              <a:t>Atomic structure</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236300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9154" y="802524"/>
            <a:ext cx="8915400" cy="5555367"/>
          </a:xfrm>
          <a:prstGeom prst="rect">
            <a:avLst/>
          </a:prstGeom>
          <a:noFill/>
        </p:spPr>
        <p:txBody>
          <a:bodyPr wrap="square" rtlCol="0">
            <a:spAutoFit/>
          </a:bodyPr>
          <a:lstStyle/>
          <a:p>
            <a:pPr marL="457200" indent="-457200">
              <a:buFont typeface="+mj-lt"/>
              <a:buAutoNum type="arabicPeriod"/>
            </a:pPr>
            <a:r>
              <a:rPr lang="en-GB" sz="2400" dirty="0" smtClean="0"/>
              <a:t>Name three subatomic particles and their charges.</a:t>
            </a:r>
          </a:p>
          <a:p>
            <a:pPr lvl="1"/>
            <a:endParaRPr lang="en-GB" sz="2400" dirty="0" smtClean="0"/>
          </a:p>
          <a:p>
            <a:pPr marL="457200" indent="-457200">
              <a:buFont typeface="+mj-lt"/>
              <a:buAutoNum type="arabicPeriod"/>
            </a:pPr>
            <a:r>
              <a:rPr lang="en-GB" sz="2400" dirty="0" smtClean="0"/>
              <a:t>Complete the sentence ‘All atoms of one type of element have the same number of…’</a:t>
            </a:r>
          </a:p>
          <a:p>
            <a:pPr lvl="1"/>
            <a:endParaRPr lang="en-GB" sz="2400" dirty="0" smtClean="0"/>
          </a:p>
          <a:p>
            <a:pPr marL="457200" indent="-457200">
              <a:buFont typeface="+mj-lt"/>
              <a:buAutoNum type="arabicPeriod"/>
            </a:pPr>
            <a:r>
              <a:rPr lang="en-GB" sz="2400" dirty="0" smtClean="0"/>
              <a:t>What does the atomic number tell us about an atom?</a:t>
            </a:r>
          </a:p>
          <a:p>
            <a:pPr lvl="1"/>
            <a:endParaRPr lang="en-GB" sz="2400" dirty="0" smtClean="0"/>
          </a:p>
          <a:p>
            <a:pPr marL="457200" indent="-457200">
              <a:buFont typeface="+mj-lt"/>
              <a:buAutoNum type="arabicPeriod"/>
            </a:pPr>
            <a:r>
              <a:rPr lang="en-GB" sz="2400" dirty="0" smtClean="0"/>
              <a:t>What does the mass number tell us about an atom?</a:t>
            </a:r>
          </a:p>
          <a:p>
            <a:pPr lvl="1"/>
            <a:endParaRPr lang="en-GB" sz="2400" dirty="0" smtClean="0"/>
          </a:p>
          <a:p>
            <a:pPr marL="457200" indent="-457200">
              <a:buFont typeface="+mj-lt"/>
              <a:buAutoNum type="arabicPeriod"/>
            </a:pPr>
            <a:r>
              <a:rPr lang="en-GB" sz="2400" dirty="0" smtClean="0"/>
              <a:t>How is an isotope different to an atom?</a:t>
            </a:r>
          </a:p>
          <a:p>
            <a:pPr lvl="1"/>
            <a:endParaRPr lang="en-GB" sz="2400" dirty="0" smtClean="0"/>
          </a:p>
          <a:p>
            <a:pPr marL="457200" indent="-457200">
              <a:buFont typeface="+mj-lt"/>
              <a:buAutoNum type="arabicPeriod"/>
            </a:pPr>
            <a:r>
              <a:rPr lang="en-GB" sz="2400" dirty="0" smtClean="0"/>
              <a:t>What is the electron configuration for sodium?</a:t>
            </a:r>
          </a:p>
          <a:p>
            <a:pPr lvl="1"/>
            <a:endParaRPr lang="en-GB" sz="2400" dirty="0" smtClean="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5913002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9154" y="802524"/>
            <a:ext cx="8915400" cy="3708708"/>
          </a:xfrm>
          <a:prstGeom prst="rect">
            <a:avLst/>
          </a:prstGeom>
          <a:noFill/>
        </p:spPr>
        <p:txBody>
          <a:bodyPr wrap="square" rtlCol="0">
            <a:spAutoFit/>
          </a:bodyPr>
          <a:lstStyle/>
          <a:p>
            <a:pPr marL="457200" indent="-457200">
              <a:buFont typeface="+mj-lt"/>
              <a:buAutoNum type="arabicPeriod" startAt="7"/>
            </a:pPr>
            <a:r>
              <a:rPr lang="en-GB" sz="2400" dirty="0" smtClean="0"/>
              <a:t>Why is the overall charge of an atom zero?</a:t>
            </a:r>
          </a:p>
          <a:p>
            <a:pPr lvl="1"/>
            <a:endParaRPr lang="en-GB" sz="2400" dirty="0" smtClean="0"/>
          </a:p>
          <a:p>
            <a:pPr marL="457200" indent="-457200">
              <a:buFont typeface="+mj-lt"/>
              <a:buAutoNum type="arabicPeriod" startAt="7"/>
            </a:pPr>
            <a:r>
              <a:rPr lang="en-GB" sz="2400" dirty="0" smtClean="0"/>
              <a:t>Draw the electron configuration for a chlorine atom.</a:t>
            </a:r>
          </a:p>
          <a:p>
            <a:pPr lvl="1"/>
            <a:endParaRPr lang="en-GB" sz="2400" dirty="0" smtClean="0"/>
          </a:p>
          <a:p>
            <a:pPr marL="457200" indent="-457200">
              <a:buFont typeface="+mj-lt"/>
              <a:buAutoNum type="arabicPeriod" startAt="7"/>
            </a:pPr>
            <a:r>
              <a:rPr lang="en-GB" sz="2400" dirty="0" smtClean="0"/>
              <a:t>Write the electron configuration for potassium.</a:t>
            </a:r>
          </a:p>
          <a:p>
            <a:pPr lvl="1"/>
            <a:endParaRPr lang="en-GB" sz="2400" dirty="0" smtClean="0"/>
          </a:p>
          <a:p>
            <a:pPr marL="457200" indent="-457200">
              <a:buFont typeface="+mj-lt"/>
              <a:buAutoNum type="arabicPeriod" startAt="7"/>
            </a:pPr>
            <a:r>
              <a:rPr lang="en-GB" sz="2400" dirty="0" smtClean="0"/>
              <a:t>How many electrons does potassium have on its highest energy level?</a:t>
            </a:r>
            <a:endParaRPr lang="en-GB" sz="2400" dirty="0"/>
          </a:p>
          <a:p>
            <a:pPr marL="342900" indent="-342900">
              <a:lnSpc>
                <a:spcPct val="150000"/>
              </a:lnSpc>
              <a:buFont typeface="+mj-lt"/>
              <a:buAutoNum type="arabicPeriod" startAt="7"/>
            </a:pPr>
            <a:endParaRPr lang="en-GB" dirty="0"/>
          </a:p>
          <a:p>
            <a:pPr marL="342900" indent="-342900">
              <a:buFont typeface="+mj-lt"/>
              <a:buAutoNum type="arabicPeriod" startAt="7"/>
            </a:pPr>
            <a:endParaRPr lang="en-GB" sz="1600" dirty="0"/>
          </a:p>
        </p:txBody>
      </p:sp>
    </p:spTree>
    <p:extLst>
      <p:ext uri="{BB962C8B-B14F-4D97-AF65-F5344CB8AC3E}">
        <p14:creationId xmlns:p14="http://schemas.microsoft.com/office/powerpoint/2010/main" val="41742347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20688"/>
            <a:ext cx="8915400" cy="4816703"/>
          </a:xfrm>
          <a:prstGeom prst="rect">
            <a:avLst/>
          </a:prstGeom>
          <a:noFill/>
        </p:spPr>
        <p:txBody>
          <a:bodyPr wrap="square" rtlCol="0">
            <a:spAutoFit/>
          </a:bodyPr>
          <a:lstStyle/>
          <a:p>
            <a:pPr marL="457200" indent="-457200">
              <a:buFont typeface="+mj-lt"/>
              <a:buAutoNum type="arabicPeriod" startAt="11"/>
            </a:pPr>
            <a:r>
              <a:rPr lang="en-GB" sz="2400" dirty="0"/>
              <a:t>Calculate how many protons, electrons and neutrons there are </a:t>
            </a:r>
            <a:r>
              <a:rPr lang="en-GB" sz="2400" dirty="0" smtClean="0"/>
              <a:t>in</a:t>
            </a:r>
            <a:endParaRPr lang="en-GB" sz="2400" dirty="0"/>
          </a:p>
          <a:p>
            <a:r>
              <a:rPr lang="en-GB" sz="2400" dirty="0"/>
              <a:t>	a) A silver atom with atomic number 47 and mass number 108 	    </a:t>
            </a:r>
          </a:p>
          <a:p>
            <a:r>
              <a:rPr lang="en-GB" sz="2400" dirty="0"/>
              <a:t>	b)</a:t>
            </a:r>
          </a:p>
          <a:p>
            <a:endParaRPr lang="en-GB" sz="2400" dirty="0"/>
          </a:p>
          <a:p>
            <a:pPr marL="457200" indent="-457200">
              <a:buFont typeface="+mj-lt"/>
              <a:buAutoNum type="arabicPeriod" startAt="12"/>
            </a:pPr>
            <a:r>
              <a:rPr lang="en-GB" sz="2400" dirty="0"/>
              <a:t>The atomic radius of a bromine atom is 9 x 10 </a:t>
            </a:r>
            <a:r>
              <a:rPr lang="en-GB" sz="2400" baseline="30000" dirty="0"/>
              <a:t>-</a:t>
            </a:r>
            <a:r>
              <a:rPr lang="en-GB" sz="2400" baseline="30000" dirty="0" smtClean="0"/>
              <a:t>11</a:t>
            </a:r>
            <a:r>
              <a:rPr lang="en-GB" sz="2400" dirty="0" smtClean="0"/>
              <a:t>m</a:t>
            </a:r>
            <a:r>
              <a:rPr lang="en-GB" sz="2400" dirty="0"/>
              <a:t>	</a:t>
            </a:r>
          </a:p>
          <a:p>
            <a:r>
              <a:rPr lang="en-GB" sz="2400" dirty="0"/>
              <a:t>       a) Give its atomic radius in </a:t>
            </a:r>
            <a:r>
              <a:rPr lang="en-GB" sz="2400" dirty="0" smtClean="0"/>
              <a:t>nanometres</a:t>
            </a:r>
            <a:endParaRPr lang="en-GB" sz="2400" dirty="0"/>
          </a:p>
          <a:p>
            <a:r>
              <a:rPr lang="en-GB" sz="2400" dirty="0"/>
              <a:t>       b) Calculate the radius of the nucleus (in nm), given that it will be     </a:t>
            </a:r>
          </a:p>
          <a:p>
            <a:r>
              <a:rPr lang="en-GB" sz="2400" dirty="0"/>
              <a:t>           about 1/10,000 the radius of the atom</a:t>
            </a:r>
            <a:r>
              <a:rPr lang="en-GB" sz="2400" dirty="0" smtClean="0"/>
              <a:t>. </a:t>
            </a:r>
            <a:r>
              <a:rPr lang="en-GB" sz="2400" dirty="0"/>
              <a:t>Give your answer in  </a:t>
            </a:r>
          </a:p>
          <a:p>
            <a:r>
              <a:rPr lang="en-GB" sz="2400" dirty="0"/>
              <a:t>           standard </a:t>
            </a:r>
            <a:r>
              <a:rPr lang="en-GB" sz="2400" dirty="0" smtClean="0"/>
              <a:t>form.</a:t>
            </a:r>
            <a:endParaRPr lang="en-GB" sz="2400" dirty="0"/>
          </a:p>
          <a:p>
            <a:pPr marL="457200" indent="-457200">
              <a:buAutoNum type="arabicPeriod" startAt="2"/>
            </a:pPr>
            <a:endParaRPr lang="en-GB" sz="2400" dirty="0"/>
          </a:p>
          <a:p>
            <a:pPr>
              <a:lnSpc>
                <a:spcPct val="150000"/>
              </a:lnSpc>
            </a:pPr>
            <a:endParaRPr lang="en-GB" dirty="0"/>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xmlns="" id="{D78FF9CB-EB78-44E6-AC1B-82DE21814CBF}"/>
              </a:ext>
            </a:extLst>
          </p:cNvPr>
          <p:cNvPicPr>
            <a:picLocks noChangeAspect="1"/>
          </p:cNvPicPr>
          <p:nvPr/>
        </p:nvPicPr>
        <p:blipFill>
          <a:blip r:embed="rId2"/>
          <a:stretch>
            <a:fillRect/>
          </a:stretch>
        </p:blipFill>
        <p:spPr>
          <a:xfrm>
            <a:off x="1475656" y="1772816"/>
            <a:ext cx="686956" cy="648072"/>
          </a:xfrm>
          <a:prstGeom prst="rect">
            <a:avLst/>
          </a:prstGeom>
        </p:spPr>
      </p:pic>
    </p:spTree>
    <p:extLst>
      <p:ext uri="{BB962C8B-B14F-4D97-AF65-F5344CB8AC3E}">
        <p14:creationId xmlns:p14="http://schemas.microsoft.com/office/powerpoint/2010/main" val="5363198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9386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Atomic model</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Relative electrical charges of subatomic particles.</a:t>
            </a:r>
          </a:p>
          <a:p>
            <a:pPr marL="685800" lvl="1" indent="-342900">
              <a:buFont typeface="Arial" charset="0"/>
              <a:buChar char="•"/>
            </a:pPr>
            <a:r>
              <a:rPr lang="en-US" sz="2400" b="1" dirty="0">
                <a:solidFill>
                  <a:schemeClr val="bg1">
                    <a:lumMod val="50000"/>
                  </a:schemeClr>
                </a:solidFill>
              </a:rPr>
              <a:t>Size and mass of atoms</a:t>
            </a:r>
          </a:p>
          <a:p>
            <a:pPr marL="685800" lvl="1" indent="-342900">
              <a:buFont typeface="Arial" charset="0"/>
              <a:buChar char="•"/>
            </a:pPr>
            <a:r>
              <a:rPr lang="en-US" sz="2400" b="1" dirty="0">
                <a:solidFill>
                  <a:schemeClr val="bg1">
                    <a:lumMod val="50000"/>
                  </a:schemeClr>
                </a:solidFill>
              </a:rPr>
              <a:t>Atomic structure</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76136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9154" y="802524"/>
            <a:ext cx="8915400" cy="5555367"/>
          </a:xfrm>
          <a:prstGeom prst="rect">
            <a:avLst/>
          </a:prstGeom>
          <a:noFill/>
        </p:spPr>
        <p:txBody>
          <a:bodyPr wrap="square" rtlCol="0">
            <a:spAutoFit/>
          </a:bodyPr>
          <a:lstStyle/>
          <a:p>
            <a:pPr marL="457200" indent="-457200">
              <a:buFont typeface="+mj-lt"/>
              <a:buAutoNum type="arabicPeriod"/>
            </a:pPr>
            <a:r>
              <a:rPr lang="en-GB" sz="2400" dirty="0" smtClean="0"/>
              <a:t>Name three subatomic particles and their charges.</a:t>
            </a:r>
          </a:p>
          <a:p>
            <a:pPr lvl="1"/>
            <a:r>
              <a:rPr lang="en-GB" sz="2400" b="1" dirty="0" smtClean="0">
                <a:solidFill>
                  <a:srgbClr val="00B050"/>
                </a:solidFill>
              </a:rPr>
              <a:t>Proton – positive; neutron – no charge; electron – negative.</a:t>
            </a:r>
            <a:endParaRPr lang="en-GB" sz="2400" dirty="0" smtClean="0"/>
          </a:p>
          <a:p>
            <a:pPr marL="457200" indent="-457200">
              <a:buFont typeface="+mj-lt"/>
              <a:buAutoNum type="arabicPeriod"/>
            </a:pPr>
            <a:r>
              <a:rPr lang="en-GB" sz="2400" dirty="0" smtClean="0"/>
              <a:t>Complete the sentence ‘All atoms of one type of element have the same number of…’</a:t>
            </a:r>
          </a:p>
          <a:p>
            <a:pPr lvl="1"/>
            <a:r>
              <a:rPr lang="en-GB" sz="2400" b="1" dirty="0" smtClean="0">
                <a:solidFill>
                  <a:srgbClr val="00B050"/>
                </a:solidFill>
              </a:rPr>
              <a:t>Protons.</a:t>
            </a:r>
            <a:endParaRPr lang="en-GB" sz="2400" dirty="0" smtClean="0"/>
          </a:p>
          <a:p>
            <a:pPr marL="457200" indent="-457200">
              <a:buFont typeface="+mj-lt"/>
              <a:buAutoNum type="arabicPeriod"/>
            </a:pPr>
            <a:r>
              <a:rPr lang="en-GB" sz="2400" dirty="0" smtClean="0"/>
              <a:t>What does the atomic number tell us about an atom?</a:t>
            </a:r>
          </a:p>
          <a:p>
            <a:pPr lvl="1"/>
            <a:r>
              <a:rPr lang="en-GB" sz="2400" b="1" dirty="0" smtClean="0">
                <a:solidFill>
                  <a:srgbClr val="00B050"/>
                </a:solidFill>
              </a:rPr>
              <a:t>Number of protons.</a:t>
            </a:r>
            <a:endParaRPr lang="en-GB" sz="2400" dirty="0" smtClean="0"/>
          </a:p>
          <a:p>
            <a:pPr marL="457200" indent="-457200">
              <a:buFont typeface="+mj-lt"/>
              <a:buAutoNum type="arabicPeriod"/>
            </a:pPr>
            <a:r>
              <a:rPr lang="en-GB" sz="2400" dirty="0" smtClean="0"/>
              <a:t>What does the mass number tell us about an atom?</a:t>
            </a:r>
          </a:p>
          <a:p>
            <a:pPr lvl="1"/>
            <a:r>
              <a:rPr lang="en-GB" sz="2400" b="1" dirty="0" smtClean="0">
                <a:solidFill>
                  <a:srgbClr val="00B050"/>
                </a:solidFill>
              </a:rPr>
              <a:t>Number of protons + number of neutrons.</a:t>
            </a:r>
            <a:endParaRPr lang="en-GB" sz="2400" dirty="0" smtClean="0"/>
          </a:p>
          <a:p>
            <a:pPr marL="457200" indent="-457200">
              <a:buFont typeface="+mj-lt"/>
              <a:buAutoNum type="arabicPeriod"/>
            </a:pPr>
            <a:r>
              <a:rPr lang="en-GB" sz="2400" dirty="0" smtClean="0"/>
              <a:t>How is an isotope different to an atom?</a:t>
            </a:r>
          </a:p>
          <a:p>
            <a:pPr lvl="1"/>
            <a:r>
              <a:rPr lang="en-GB" sz="2400" b="1" dirty="0" smtClean="0">
                <a:solidFill>
                  <a:srgbClr val="00B050"/>
                </a:solidFill>
              </a:rPr>
              <a:t>Different number of neutrons.</a:t>
            </a:r>
            <a:endParaRPr lang="en-GB" sz="2400" dirty="0" smtClean="0"/>
          </a:p>
          <a:p>
            <a:pPr marL="457200" indent="-457200">
              <a:buFont typeface="+mj-lt"/>
              <a:buAutoNum type="arabicPeriod"/>
            </a:pPr>
            <a:r>
              <a:rPr lang="en-GB" sz="2400" dirty="0" smtClean="0"/>
              <a:t>What is the electron configuration for sodium?</a:t>
            </a:r>
          </a:p>
          <a:p>
            <a:pPr lvl="1"/>
            <a:r>
              <a:rPr lang="en-GB" sz="2400" b="1" dirty="0" smtClean="0">
                <a:solidFill>
                  <a:srgbClr val="00B050"/>
                </a:solidFill>
              </a:rPr>
              <a:t>2,8,1</a:t>
            </a:r>
            <a:endParaRPr lang="en-GB" sz="2400" dirty="0" smtClean="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4257490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9154" y="802524"/>
            <a:ext cx="8915400" cy="4955203"/>
          </a:xfrm>
          <a:prstGeom prst="rect">
            <a:avLst/>
          </a:prstGeom>
          <a:noFill/>
        </p:spPr>
        <p:txBody>
          <a:bodyPr wrap="square" rtlCol="0">
            <a:spAutoFit/>
          </a:bodyPr>
          <a:lstStyle/>
          <a:p>
            <a:pPr marL="457200" indent="-457200">
              <a:buFont typeface="+mj-lt"/>
              <a:buAutoNum type="arabicPeriod" startAt="7"/>
            </a:pPr>
            <a:r>
              <a:rPr lang="en-GB" sz="2400" dirty="0" smtClean="0"/>
              <a:t>Why is the overall charge of an atom zero?</a:t>
            </a:r>
          </a:p>
          <a:p>
            <a:pPr lvl="1"/>
            <a:r>
              <a:rPr lang="en-GB" sz="2400" b="1" dirty="0" smtClean="0">
                <a:solidFill>
                  <a:srgbClr val="00B050"/>
                </a:solidFill>
              </a:rPr>
              <a:t>Number of protons (positive) = number electrons (negative).</a:t>
            </a:r>
            <a:endParaRPr lang="en-GB" sz="2400" dirty="0" smtClean="0"/>
          </a:p>
          <a:p>
            <a:pPr marL="457200" indent="-457200">
              <a:buFont typeface="+mj-lt"/>
              <a:buAutoNum type="arabicPeriod" startAt="7"/>
            </a:pPr>
            <a:r>
              <a:rPr lang="en-GB" sz="2400" dirty="0" smtClean="0"/>
              <a:t>Draw the electron configuration for a chlorine atom.</a:t>
            </a:r>
          </a:p>
          <a:p>
            <a:pPr lvl="1"/>
            <a:endParaRPr lang="en-GB" sz="2400" b="1" dirty="0" smtClean="0">
              <a:solidFill>
                <a:srgbClr val="00B050"/>
              </a:solidFill>
            </a:endParaRPr>
          </a:p>
          <a:p>
            <a:pPr marL="457200" indent="-457200">
              <a:buFont typeface="+mj-lt"/>
              <a:buAutoNum type="arabicPeriod" startAt="7"/>
            </a:pPr>
            <a:endParaRPr lang="en-GB" sz="2400" b="1" dirty="0">
              <a:solidFill>
                <a:srgbClr val="00B050"/>
              </a:solidFill>
            </a:endParaRPr>
          </a:p>
          <a:p>
            <a:pPr marL="457200" indent="-457200">
              <a:buFont typeface="+mj-lt"/>
              <a:buAutoNum type="arabicPeriod" startAt="7"/>
            </a:pPr>
            <a:endParaRPr lang="en-GB" sz="2400" b="1" dirty="0" smtClean="0">
              <a:solidFill>
                <a:srgbClr val="00B050"/>
              </a:solidFill>
            </a:endParaRPr>
          </a:p>
          <a:p>
            <a:pPr marL="457200" indent="-457200">
              <a:buFont typeface="+mj-lt"/>
              <a:buAutoNum type="arabicPeriod" startAt="7"/>
            </a:pPr>
            <a:endParaRPr lang="en-GB" sz="2400" b="1" dirty="0">
              <a:solidFill>
                <a:srgbClr val="00B050"/>
              </a:solidFill>
            </a:endParaRPr>
          </a:p>
          <a:p>
            <a:pPr marL="457200" indent="-457200">
              <a:buFont typeface="+mj-lt"/>
              <a:buAutoNum type="arabicPeriod" startAt="7"/>
            </a:pPr>
            <a:r>
              <a:rPr lang="en-GB" sz="2400" dirty="0" smtClean="0"/>
              <a:t>Write the electron configuration for potassium.</a:t>
            </a:r>
          </a:p>
          <a:p>
            <a:pPr lvl="1"/>
            <a:r>
              <a:rPr lang="en-GB" sz="2400" b="1" dirty="0" smtClean="0">
                <a:solidFill>
                  <a:srgbClr val="00B050"/>
                </a:solidFill>
              </a:rPr>
              <a:t>2,8,8,1</a:t>
            </a:r>
            <a:endParaRPr lang="en-GB" sz="2400" dirty="0" smtClean="0"/>
          </a:p>
          <a:p>
            <a:pPr marL="457200" indent="-457200">
              <a:buFont typeface="+mj-lt"/>
              <a:buAutoNum type="arabicPeriod" startAt="7"/>
            </a:pPr>
            <a:r>
              <a:rPr lang="en-GB" sz="2400" dirty="0" smtClean="0"/>
              <a:t>How many electrons does potassium have on its highest energy level?</a:t>
            </a:r>
            <a:endParaRPr lang="en-GB" sz="2400" dirty="0"/>
          </a:p>
          <a:p>
            <a:pPr lvl="1">
              <a:lnSpc>
                <a:spcPct val="150000"/>
              </a:lnSpc>
            </a:pPr>
            <a:r>
              <a:rPr lang="en-GB" sz="2400" b="1" dirty="0" smtClean="0">
                <a:solidFill>
                  <a:srgbClr val="00B050"/>
                </a:solidFill>
              </a:rPr>
              <a:t>1</a:t>
            </a:r>
            <a:endParaRPr lang="en-GB" sz="2400" dirty="0"/>
          </a:p>
          <a:p>
            <a:pPr marL="342900" indent="-342900">
              <a:buFont typeface="+mj-lt"/>
              <a:buAutoNum type="arabicPeriod" startAt="7"/>
            </a:pPr>
            <a:endParaRPr lang="en-GB" sz="1600" dirty="0"/>
          </a:p>
        </p:txBody>
      </p:sp>
      <p:pic>
        <p:nvPicPr>
          <p:cNvPr id="7" name="Picture 2" descr="Image result for chlorine atom">
            <a:extLst>
              <a:ext uri="{FF2B5EF4-FFF2-40B4-BE49-F238E27FC236}">
                <a16:creationId xmlns:a16="http://schemas.microsoft.com/office/drawing/2014/main" xmlns="" id="{3ACF8B78-B5ED-4273-A42D-1E598B85120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3526" y="1926735"/>
            <a:ext cx="1502266" cy="1502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0529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Atomic model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startAt="11"/>
            </a:pPr>
            <a:r>
              <a:rPr lang="en-GB" sz="2400" dirty="0"/>
              <a:t>Calculate how many protons, electrons and neutrons there are in:</a:t>
            </a:r>
          </a:p>
          <a:p>
            <a:r>
              <a:rPr lang="en-GB" sz="2400" dirty="0"/>
              <a:t>	a) A silver atom with atomic number 47 and mass number </a:t>
            </a:r>
            <a:r>
              <a:rPr lang="en-GB" sz="2400" dirty="0" smtClean="0"/>
              <a:t>108</a:t>
            </a:r>
            <a:endParaRPr lang="en-GB" sz="2400" dirty="0"/>
          </a:p>
          <a:p>
            <a:r>
              <a:rPr lang="en-GB" sz="2400" dirty="0"/>
              <a:t>	</a:t>
            </a:r>
            <a:r>
              <a:rPr lang="en-GB" sz="2400" b="1" dirty="0">
                <a:solidFill>
                  <a:srgbClr val="00B050"/>
                </a:solidFill>
              </a:rPr>
              <a:t>Protons = 47   Electrons = 47   Neutrons = 61</a:t>
            </a:r>
            <a:endParaRPr lang="en-GB" sz="2400" dirty="0"/>
          </a:p>
          <a:p>
            <a:r>
              <a:rPr lang="en-GB" sz="2400" dirty="0"/>
              <a:t>	b)</a:t>
            </a:r>
          </a:p>
          <a:p>
            <a:r>
              <a:rPr lang="en-GB" sz="2400" dirty="0"/>
              <a:t>	</a:t>
            </a:r>
          </a:p>
          <a:p>
            <a:r>
              <a:rPr lang="en-GB" sz="2400" dirty="0"/>
              <a:t>	</a:t>
            </a:r>
            <a:r>
              <a:rPr lang="en-GB" sz="2400" b="1" dirty="0">
                <a:solidFill>
                  <a:srgbClr val="00B050"/>
                </a:solidFill>
              </a:rPr>
              <a:t>Protons = 19   Electrons = 18   Neutrons = 20</a:t>
            </a:r>
          </a:p>
          <a:p>
            <a:endParaRPr lang="en-GB" sz="2400" b="1" dirty="0">
              <a:solidFill>
                <a:srgbClr val="00B050"/>
              </a:solidFill>
            </a:endParaRPr>
          </a:p>
          <a:p>
            <a:r>
              <a:rPr lang="en-GB" sz="2400" dirty="0" smtClean="0"/>
              <a:t>12. The </a:t>
            </a:r>
            <a:r>
              <a:rPr lang="en-GB" sz="2400" dirty="0"/>
              <a:t>atomic radius of a bromine atom is 9 x 10 </a:t>
            </a:r>
            <a:r>
              <a:rPr lang="en-GB" sz="2400" baseline="30000" dirty="0"/>
              <a:t>-11</a:t>
            </a:r>
            <a:r>
              <a:rPr lang="en-GB" sz="2400" dirty="0"/>
              <a:t>m	</a:t>
            </a:r>
          </a:p>
          <a:p>
            <a:r>
              <a:rPr lang="en-GB" sz="2400" dirty="0"/>
              <a:t>       a) Give its atomic radius in nanometres.</a:t>
            </a:r>
          </a:p>
          <a:p>
            <a:r>
              <a:rPr lang="en-GB" sz="2400" dirty="0"/>
              <a:t>            </a:t>
            </a:r>
            <a:r>
              <a:rPr lang="en-GB" sz="2400" b="1" dirty="0">
                <a:solidFill>
                  <a:srgbClr val="00B050"/>
                </a:solidFill>
              </a:rPr>
              <a:t>0.09 nm </a:t>
            </a:r>
          </a:p>
          <a:p>
            <a:r>
              <a:rPr lang="en-GB" sz="2400" dirty="0"/>
              <a:t>       </a:t>
            </a:r>
          </a:p>
          <a:p>
            <a:r>
              <a:rPr lang="en-GB" sz="2400" dirty="0"/>
              <a:t>       b) Calculate the radius of the nucleus (in nm), given that it will be     </a:t>
            </a:r>
          </a:p>
          <a:p>
            <a:r>
              <a:rPr lang="en-GB" sz="2400" dirty="0"/>
              <a:t>           about 1/10,000 the radius of the atom.  Give your answer in  </a:t>
            </a:r>
          </a:p>
          <a:p>
            <a:r>
              <a:rPr lang="en-GB" sz="2400" dirty="0"/>
              <a:t>           standard form.</a:t>
            </a:r>
          </a:p>
          <a:p>
            <a:r>
              <a:rPr lang="en-GB" sz="2400" dirty="0"/>
              <a:t>           </a:t>
            </a:r>
            <a:r>
              <a:rPr lang="en-GB" sz="2400" b="1" dirty="0">
                <a:solidFill>
                  <a:srgbClr val="00B050"/>
                </a:solidFill>
              </a:rPr>
              <a:t>9 × 10</a:t>
            </a:r>
            <a:r>
              <a:rPr lang="en-GB" sz="2400" b="1" baseline="30000" dirty="0">
                <a:solidFill>
                  <a:srgbClr val="00B050"/>
                </a:solidFill>
              </a:rPr>
              <a:t>−</a:t>
            </a:r>
            <a:r>
              <a:rPr lang="en-GB" sz="2400" b="1" baseline="30000" dirty="0" smtClean="0">
                <a:solidFill>
                  <a:srgbClr val="00B050"/>
                </a:solidFill>
              </a:rPr>
              <a:t>6</a:t>
            </a:r>
            <a:r>
              <a:rPr lang="en-GB" sz="2400" b="1" dirty="0" smtClean="0">
                <a:solidFill>
                  <a:srgbClr val="00B050"/>
                </a:solidFill>
              </a:rPr>
              <a:t>nm</a:t>
            </a:r>
            <a:endParaRPr lang="en-GB" sz="2400" b="1" dirty="0">
              <a:solidFill>
                <a:srgbClr val="00B050"/>
              </a:solidFill>
            </a:endParaRPr>
          </a:p>
        </p:txBody>
      </p:sp>
      <p:pic>
        <p:nvPicPr>
          <p:cNvPr id="3" name="Picture 2">
            <a:extLst>
              <a:ext uri="{FF2B5EF4-FFF2-40B4-BE49-F238E27FC236}">
                <a16:creationId xmlns:a16="http://schemas.microsoft.com/office/drawing/2014/main" xmlns="" id="{D78FF9CB-EB78-44E6-AC1B-82DE21814CBF}"/>
              </a:ext>
            </a:extLst>
          </p:cNvPr>
          <p:cNvPicPr>
            <a:picLocks noChangeAspect="1"/>
          </p:cNvPicPr>
          <p:nvPr/>
        </p:nvPicPr>
        <p:blipFill>
          <a:blip r:embed="rId2"/>
          <a:stretch>
            <a:fillRect/>
          </a:stretch>
        </p:blipFill>
        <p:spPr>
          <a:xfrm>
            <a:off x="1475656" y="1916832"/>
            <a:ext cx="686956" cy="648072"/>
          </a:xfrm>
          <a:prstGeom prst="rect">
            <a:avLst/>
          </a:prstGeom>
        </p:spPr>
      </p:pic>
    </p:spTree>
    <p:extLst>
      <p:ext uri="{BB962C8B-B14F-4D97-AF65-F5344CB8AC3E}">
        <p14:creationId xmlns:p14="http://schemas.microsoft.com/office/powerpoint/2010/main" val="8307782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601533"/>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The periodic table</a:t>
            </a:r>
          </a:p>
          <a:p>
            <a:pPr marL="685800" lvl="1" indent="-342900">
              <a:buFont typeface="Arial" charset="0"/>
              <a:buChar char="•"/>
            </a:pPr>
            <a:r>
              <a:rPr lang="en-US" sz="2400" b="1" dirty="0" smtClean="0">
                <a:solidFill>
                  <a:schemeClr val="bg1">
                    <a:lumMod val="50000"/>
                  </a:schemeClr>
                </a:solidFill>
              </a:rPr>
              <a:t>Development </a:t>
            </a:r>
            <a:r>
              <a:rPr lang="en-US" sz="2400" b="1" dirty="0">
                <a:solidFill>
                  <a:schemeClr val="bg1">
                    <a:lumMod val="50000"/>
                  </a:schemeClr>
                </a:solidFill>
              </a:rPr>
              <a:t>of the periodic </a:t>
            </a:r>
            <a:r>
              <a:rPr lang="en-US" sz="2400" b="1" dirty="0" smtClean="0">
                <a:solidFill>
                  <a:schemeClr val="bg1">
                    <a:lumMod val="50000"/>
                  </a:schemeClr>
                </a:solidFill>
              </a:rPr>
              <a:t>table</a:t>
            </a:r>
          </a:p>
          <a:p>
            <a:pPr marL="685800" lvl="1" indent="-342900">
              <a:buFont typeface="Arial" charset="0"/>
              <a:buChar char="•"/>
            </a:pPr>
            <a:r>
              <a:rPr lang="en-US" sz="2400" b="1" dirty="0" smtClean="0">
                <a:solidFill>
                  <a:schemeClr val="bg1">
                    <a:lumMod val="50000"/>
                  </a:schemeClr>
                </a:solidFill>
              </a:rPr>
              <a:t>Metals and non-metals</a:t>
            </a:r>
            <a:endParaRPr lang="en-GB" dirty="0"/>
          </a:p>
        </p:txBody>
      </p:sp>
    </p:spTree>
    <p:extLst>
      <p:ext uri="{BB962C8B-B14F-4D97-AF65-F5344CB8AC3E}">
        <p14:creationId xmlns:p14="http://schemas.microsoft.com/office/powerpoint/2010/main" val="7969827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1</a:t>
            </a:r>
            <a:endParaRPr lang="en-GB" sz="2400" b="1" dirty="0">
              <a:solidFill>
                <a:schemeClr val="accent6"/>
              </a:solidFill>
            </a:endParaRPr>
          </a:p>
        </p:txBody>
      </p:sp>
      <p:sp>
        <p:nvSpPr>
          <p:cNvPr id="3" name="TextBox 2">
            <a:extLst>
              <a:ext uri="{FF2B5EF4-FFF2-40B4-BE49-F238E27FC236}">
                <a16:creationId xmlns:a16="http://schemas.microsoft.com/office/drawing/2014/main" xmlns="" id="{AFF58D8F-580D-4EBC-B1E5-7CBA451EFDE1}"/>
              </a:ext>
            </a:extLst>
          </p:cNvPr>
          <p:cNvSpPr txBox="1"/>
          <p:nvPr/>
        </p:nvSpPr>
        <p:spPr>
          <a:xfrm>
            <a:off x="1030503" y="773171"/>
            <a:ext cx="7082994" cy="40011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b="1" dirty="0" smtClean="0"/>
              <a:t>The elements are arranged in orde</a:t>
            </a:r>
            <a:r>
              <a:rPr lang="en-GB" sz="2000" b="1" dirty="0" smtClean="0"/>
              <a:t>r </a:t>
            </a:r>
            <a:r>
              <a:rPr lang="en-GB" sz="2000" b="1" dirty="0" smtClean="0"/>
              <a:t>of increasing </a:t>
            </a:r>
            <a:r>
              <a:rPr lang="en-GB" sz="2000" b="1" dirty="0" smtClean="0">
                <a:solidFill>
                  <a:schemeClr val="tx1"/>
                </a:solidFill>
              </a:rPr>
              <a:t>atomic number</a:t>
            </a:r>
            <a:r>
              <a:rPr lang="en-GB" sz="2000" b="1" dirty="0" smtClean="0"/>
              <a:t>.</a:t>
            </a:r>
          </a:p>
        </p:txBody>
      </p:sp>
      <p:sp>
        <p:nvSpPr>
          <p:cNvPr id="4" name="AutoShape 4" descr="Image result for law of octaves">
            <a:extLst>
              <a:ext uri="{FF2B5EF4-FFF2-40B4-BE49-F238E27FC236}">
                <a16:creationId xmlns:a16="http://schemas.microsoft.com/office/drawing/2014/main" xmlns="" id="{07EAEC56-9E46-4E61-BAC5-1DF65B91F96B}"/>
              </a:ext>
            </a:extLst>
          </p:cNvPr>
          <p:cNvSpPr>
            <a:spLocks noChangeAspect="1" noChangeArrowheads="1"/>
          </p:cNvSpPr>
          <p:nvPr/>
        </p:nvSpPr>
        <p:spPr bwMode="auto">
          <a:xfrm>
            <a:off x="4419600" y="3276600"/>
            <a:ext cx="304800" cy="304800"/>
          </a:xfrm>
          <a:prstGeom prst="rect">
            <a:avLst/>
          </a:prstGeom>
          <a:noFill/>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Image result for mendeleev">
            <a:extLst>
              <a:ext uri="{FF2B5EF4-FFF2-40B4-BE49-F238E27FC236}">
                <a16:creationId xmlns:a16="http://schemas.microsoft.com/office/drawing/2014/main" xmlns="" id="{A35D8AB4-0467-4C1D-9307-CD83E13F6CFF}"/>
              </a:ext>
            </a:extLst>
          </p:cNvPr>
          <p:cNvSpPr>
            <a:spLocks noChangeAspect="1" noChangeArrowheads="1"/>
          </p:cNvSpPr>
          <p:nvPr/>
        </p:nvSpPr>
        <p:spPr bwMode="auto">
          <a:xfrm>
            <a:off x="4572000" y="3429000"/>
            <a:ext cx="304800" cy="304800"/>
          </a:xfrm>
          <a:prstGeom prst="rect">
            <a:avLst/>
          </a:prstGeom>
          <a:noFill/>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TextBox 15">
            <a:extLst>
              <a:ext uri="{FF2B5EF4-FFF2-40B4-BE49-F238E27FC236}">
                <a16:creationId xmlns:a16="http://schemas.microsoft.com/office/drawing/2014/main" xmlns="" id="{AFF58D8F-580D-4EBC-B1E5-7CBA451EFDE1}"/>
              </a:ext>
            </a:extLst>
          </p:cNvPr>
          <p:cNvSpPr txBox="1"/>
          <p:nvPr/>
        </p:nvSpPr>
        <p:spPr>
          <a:xfrm>
            <a:off x="5646932" y="1329883"/>
            <a:ext cx="3245548" cy="221599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smtClean="0"/>
              <a:t>Elements with similar properties are in </a:t>
            </a:r>
            <a:r>
              <a:rPr lang="en-GB" sz="2000" b="1" dirty="0" smtClean="0">
                <a:solidFill>
                  <a:schemeClr val="accent6">
                    <a:lumMod val="75000"/>
                  </a:schemeClr>
                </a:solidFill>
              </a:rPr>
              <a:t>columns</a:t>
            </a:r>
            <a:r>
              <a:rPr lang="en-GB" sz="2000" b="1" dirty="0" smtClean="0"/>
              <a:t>, known as </a:t>
            </a:r>
            <a:r>
              <a:rPr lang="en-GB" sz="2000" b="1" dirty="0" smtClean="0">
                <a:solidFill>
                  <a:schemeClr val="accent6">
                    <a:lumMod val="75000"/>
                  </a:schemeClr>
                </a:solidFill>
              </a:rPr>
              <a:t>groups</a:t>
            </a:r>
            <a:r>
              <a:rPr lang="en-GB" sz="2000" b="1" dirty="0" smtClean="0"/>
              <a:t>.</a:t>
            </a:r>
          </a:p>
          <a:p>
            <a:pPr algn="ctr"/>
            <a:endParaRPr lang="en-GB" b="1" dirty="0"/>
          </a:p>
          <a:p>
            <a:pPr algn="ctr"/>
            <a:r>
              <a:rPr lang="en-GB" sz="2000" b="1" dirty="0" smtClean="0"/>
              <a:t>Elements in the same group have the </a:t>
            </a:r>
            <a:r>
              <a:rPr lang="en-GB" sz="2000" b="1" dirty="0" smtClean="0">
                <a:solidFill>
                  <a:schemeClr val="accent6">
                    <a:lumMod val="75000"/>
                  </a:schemeClr>
                </a:solidFill>
              </a:rPr>
              <a:t>same number of electrons in their outer shell.</a:t>
            </a:r>
          </a:p>
        </p:txBody>
      </p:sp>
      <p:sp>
        <p:nvSpPr>
          <p:cNvPr id="17" name="TextBox 16">
            <a:extLst>
              <a:ext uri="{FF2B5EF4-FFF2-40B4-BE49-F238E27FC236}">
                <a16:creationId xmlns:a16="http://schemas.microsoft.com/office/drawing/2014/main" xmlns="" id="{AFF58D8F-580D-4EBC-B1E5-7CBA451EFDE1}"/>
              </a:ext>
            </a:extLst>
          </p:cNvPr>
          <p:cNvSpPr txBox="1"/>
          <p:nvPr/>
        </p:nvSpPr>
        <p:spPr>
          <a:xfrm>
            <a:off x="5646932" y="3686904"/>
            <a:ext cx="3245548" cy="101566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b="1" dirty="0" smtClean="0"/>
              <a:t>It is called a periodic table because similar properties occur at regular intervals</a:t>
            </a:r>
          </a:p>
        </p:txBody>
      </p:sp>
      <p:sp>
        <p:nvSpPr>
          <p:cNvPr id="19" name="TextBox 18">
            <a:extLst>
              <a:ext uri="{FF2B5EF4-FFF2-40B4-BE49-F238E27FC236}">
                <a16:creationId xmlns:a16="http://schemas.microsoft.com/office/drawing/2014/main" xmlns="" id="{AFF58D8F-580D-4EBC-B1E5-7CBA451EFDE1}"/>
              </a:ext>
            </a:extLst>
          </p:cNvPr>
          <p:cNvSpPr txBox="1"/>
          <p:nvPr/>
        </p:nvSpPr>
        <p:spPr>
          <a:xfrm>
            <a:off x="787471" y="4011488"/>
            <a:ext cx="4414543"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smtClean="0"/>
              <a:t>The </a:t>
            </a:r>
            <a:r>
              <a:rPr lang="en-GB" sz="2000" b="1" dirty="0" smtClean="0">
                <a:solidFill>
                  <a:schemeClr val="accent6">
                    <a:lumMod val="75000"/>
                  </a:schemeClr>
                </a:solidFill>
              </a:rPr>
              <a:t>rows</a:t>
            </a:r>
            <a:r>
              <a:rPr lang="en-GB" sz="2000" b="1" dirty="0" smtClean="0"/>
              <a:t> in the table are called </a:t>
            </a:r>
            <a:r>
              <a:rPr lang="en-GB" sz="2000" b="1" dirty="0" smtClean="0">
                <a:solidFill>
                  <a:schemeClr val="accent6">
                    <a:lumMod val="75000"/>
                  </a:schemeClr>
                </a:solidFill>
              </a:rPr>
              <a:t>periods</a:t>
            </a:r>
          </a:p>
        </p:txBody>
      </p:sp>
      <p:grpSp>
        <p:nvGrpSpPr>
          <p:cNvPr id="11264" name="Group 11263"/>
          <p:cNvGrpSpPr/>
          <p:nvPr/>
        </p:nvGrpSpPr>
        <p:grpSpPr>
          <a:xfrm>
            <a:off x="-347107" y="4837342"/>
            <a:ext cx="10143013" cy="1502266"/>
            <a:chOff x="-314429" y="4847172"/>
            <a:chExt cx="10143013" cy="1502266"/>
          </a:xfrm>
        </p:grpSpPr>
        <p:sp>
          <p:nvSpPr>
            <p:cNvPr id="18" name="TextBox 17">
              <a:extLst>
                <a:ext uri="{FF2B5EF4-FFF2-40B4-BE49-F238E27FC236}">
                  <a16:creationId xmlns:a16="http://schemas.microsoft.com/office/drawing/2014/main" xmlns="" id="{AFF58D8F-580D-4EBC-B1E5-7CBA451EFDE1}"/>
                </a:ext>
              </a:extLst>
            </p:cNvPr>
            <p:cNvSpPr txBox="1"/>
            <p:nvPr/>
          </p:nvSpPr>
          <p:spPr>
            <a:xfrm>
              <a:off x="-314429" y="5182807"/>
              <a:ext cx="5544616" cy="830997"/>
            </a:xfrm>
            <a:prstGeom prst="rect">
              <a:avLst/>
            </a:prstGeom>
            <a:noFill/>
            <a:effectLst/>
          </p:spPr>
          <p:txBody>
            <a:bodyPr wrap="square" rtlCol="0">
              <a:spAutoFit/>
            </a:bodyPr>
            <a:lstStyle/>
            <a:p>
              <a:pPr algn="ctr"/>
              <a:r>
                <a:rPr lang="en-GB" sz="2400" b="1" dirty="0" smtClean="0"/>
                <a:t>Group = electrons in outer shell</a:t>
              </a:r>
            </a:p>
            <a:p>
              <a:pPr algn="ctr"/>
              <a:r>
                <a:rPr lang="en-GB" sz="2400" b="1" dirty="0" smtClean="0"/>
                <a:t>Period = number of shells</a:t>
              </a:r>
              <a:endParaRPr lang="en-GB" sz="2400" b="1" dirty="0" smtClean="0"/>
            </a:p>
          </p:txBody>
        </p:sp>
        <p:pic>
          <p:nvPicPr>
            <p:cNvPr id="20" name="Picture 2" descr="Image result for chlorine atom">
              <a:extLst>
                <a:ext uri="{FF2B5EF4-FFF2-40B4-BE49-F238E27FC236}">
                  <a16:creationId xmlns:a16="http://schemas.microsoft.com/office/drawing/2014/main" xmlns="" id="{3ACF8B78-B5ED-4273-A42D-1E598B8512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5800" y="4847172"/>
              <a:ext cx="1502266" cy="1502266"/>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xmlns="" id="{AFF58D8F-580D-4EBC-B1E5-7CBA451EFDE1}"/>
                </a:ext>
              </a:extLst>
            </p:cNvPr>
            <p:cNvSpPr txBox="1"/>
            <p:nvPr/>
          </p:nvSpPr>
          <p:spPr>
            <a:xfrm>
              <a:off x="4283968" y="5182807"/>
              <a:ext cx="5544616" cy="830997"/>
            </a:xfrm>
            <a:prstGeom prst="rect">
              <a:avLst/>
            </a:prstGeom>
            <a:noFill/>
            <a:effectLst/>
          </p:spPr>
          <p:txBody>
            <a:bodyPr wrap="square" rtlCol="0">
              <a:spAutoFit/>
            </a:bodyPr>
            <a:lstStyle/>
            <a:p>
              <a:pPr algn="ctr"/>
              <a:r>
                <a:rPr lang="en-GB" sz="2400" b="1" dirty="0" smtClean="0"/>
                <a:t>Group = 7 </a:t>
              </a:r>
            </a:p>
            <a:p>
              <a:pPr algn="ctr"/>
              <a:r>
                <a:rPr lang="en-GB" sz="2400" b="1" dirty="0" smtClean="0"/>
                <a:t>Period = 3</a:t>
              </a:r>
              <a:endParaRPr lang="en-GB" sz="2400" b="1" dirty="0" smtClean="0"/>
            </a:p>
          </p:txBody>
        </p:sp>
      </p:grpSp>
      <p:pic>
        <p:nvPicPr>
          <p:cNvPr id="14" name="Picture 13"/>
          <p:cNvPicPr>
            <a:picLocks noChangeAspect="1"/>
          </p:cNvPicPr>
          <p:nvPr/>
        </p:nvPicPr>
        <p:blipFill>
          <a:blip r:embed="rId4"/>
          <a:stretch>
            <a:fillRect/>
          </a:stretch>
        </p:blipFill>
        <p:spPr>
          <a:xfrm>
            <a:off x="107504" y="1238985"/>
            <a:ext cx="5432007" cy="2280102"/>
          </a:xfrm>
          <a:prstGeom prst="rect">
            <a:avLst/>
          </a:prstGeom>
        </p:spPr>
      </p:pic>
    </p:spTree>
    <p:extLst>
      <p:ext uri="{BB962C8B-B14F-4D97-AF65-F5344CB8AC3E}">
        <p14:creationId xmlns:p14="http://schemas.microsoft.com/office/powerpoint/2010/main" val="318409654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1</a:t>
            </a:r>
            <a:endParaRPr lang="en-GB" sz="2400" b="1" dirty="0">
              <a:solidFill>
                <a:schemeClr val="accent6"/>
              </a:solidFill>
            </a:endParaRPr>
          </a:p>
        </p:txBody>
      </p:sp>
      <p:pic>
        <p:nvPicPr>
          <p:cNvPr id="11266" name="Picture 2" descr="Image result for john dalton's table of elements">
            <a:extLst>
              <a:ext uri="{FF2B5EF4-FFF2-40B4-BE49-F238E27FC236}">
                <a16:creationId xmlns:a16="http://schemas.microsoft.com/office/drawing/2014/main" xmlns="" id="{E153811B-EA1D-42C9-ABC1-CC63F5D7F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16" y="2839669"/>
            <a:ext cx="2381250" cy="350520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AFF58D8F-580D-4EBC-B1E5-7CBA451EFDE1}"/>
              </a:ext>
            </a:extLst>
          </p:cNvPr>
          <p:cNvSpPr txBox="1"/>
          <p:nvPr/>
        </p:nvSpPr>
        <p:spPr>
          <a:xfrm>
            <a:off x="-62243" y="675240"/>
            <a:ext cx="3312368" cy="2246769"/>
          </a:xfrm>
          <a:prstGeom prst="rect">
            <a:avLst/>
          </a:prstGeom>
          <a:noFill/>
          <a:effectLst/>
        </p:spPr>
        <p:txBody>
          <a:bodyPr wrap="square" rtlCol="0">
            <a:spAutoFit/>
          </a:bodyPr>
          <a:lstStyle/>
          <a:p>
            <a:pPr algn="ctr"/>
            <a:r>
              <a:rPr lang="en-GB" sz="2000" b="1" dirty="0"/>
              <a:t>1808 </a:t>
            </a:r>
          </a:p>
          <a:p>
            <a:pPr algn="ctr"/>
            <a:r>
              <a:rPr lang="en-GB" sz="2000" b="1" dirty="0"/>
              <a:t>John Dalton </a:t>
            </a:r>
            <a:r>
              <a:rPr lang="en-GB" sz="2000" dirty="0"/>
              <a:t>published a table of elements that were arranged in order of their atomic weights, which had been measured in various chemical reactions</a:t>
            </a:r>
          </a:p>
        </p:txBody>
      </p:sp>
      <p:sp>
        <p:nvSpPr>
          <p:cNvPr id="4" name="AutoShape 4" descr="Image result for law of octaves">
            <a:extLst>
              <a:ext uri="{FF2B5EF4-FFF2-40B4-BE49-F238E27FC236}">
                <a16:creationId xmlns:a16="http://schemas.microsoft.com/office/drawing/2014/main" xmlns="" id="{07EAEC56-9E46-4E61-BAC5-1DF65B91F96B}"/>
              </a:ext>
            </a:extLst>
          </p:cNvPr>
          <p:cNvSpPr>
            <a:spLocks noChangeAspect="1" noChangeArrowheads="1"/>
          </p:cNvSpPr>
          <p:nvPr/>
        </p:nvSpPr>
        <p:spPr bwMode="auto">
          <a:xfrm>
            <a:off x="4419600" y="3276600"/>
            <a:ext cx="304800" cy="304800"/>
          </a:xfrm>
          <a:prstGeom prst="rect">
            <a:avLst/>
          </a:prstGeom>
          <a:noFill/>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Rectangle 6">
            <a:extLst>
              <a:ext uri="{FF2B5EF4-FFF2-40B4-BE49-F238E27FC236}">
                <a16:creationId xmlns:a16="http://schemas.microsoft.com/office/drawing/2014/main" xmlns="" id="{8234DFCB-BBAD-4C49-8A2D-4C6294F2C7A2}"/>
              </a:ext>
            </a:extLst>
          </p:cNvPr>
          <p:cNvSpPr/>
          <p:nvPr/>
        </p:nvSpPr>
        <p:spPr>
          <a:xfrm>
            <a:off x="0" y="692696"/>
            <a:ext cx="3187882" cy="5760639"/>
          </a:xfrm>
          <a:prstGeom prst="rect">
            <a:avLst/>
          </a:prstGeom>
          <a:no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4" name="Group 13"/>
          <p:cNvGrpSpPr/>
          <p:nvPr/>
        </p:nvGrpSpPr>
        <p:grpSpPr>
          <a:xfrm>
            <a:off x="3187882" y="536145"/>
            <a:ext cx="5956118" cy="1938992"/>
            <a:chOff x="3187882" y="669385"/>
            <a:chExt cx="5956118" cy="1938992"/>
          </a:xfrm>
        </p:grpSpPr>
        <p:sp>
          <p:nvSpPr>
            <p:cNvPr id="5" name="TextBox 4">
              <a:extLst>
                <a:ext uri="{FF2B5EF4-FFF2-40B4-BE49-F238E27FC236}">
                  <a16:creationId xmlns:a16="http://schemas.microsoft.com/office/drawing/2014/main" xmlns="" id="{E374786B-1B17-4285-B4CE-7B80E225DE68}"/>
                </a:ext>
              </a:extLst>
            </p:cNvPr>
            <p:cNvSpPr txBox="1"/>
            <p:nvPr/>
          </p:nvSpPr>
          <p:spPr>
            <a:xfrm>
              <a:off x="3187882" y="669385"/>
              <a:ext cx="3511624" cy="1938992"/>
            </a:xfrm>
            <a:prstGeom prst="rect">
              <a:avLst/>
            </a:prstGeom>
            <a:noFill/>
            <a:effectLst/>
          </p:spPr>
          <p:txBody>
            <a:bodyPr wrap="square" rtlCol="0">
              <a:spAutoFit/>
            </a:bodyPr>
            <a:lstStyle/>
            <a:p>
              <a:pPr algn="ctr"/>
              <a:r>
                <a:rPr lang="en-GB" sz="2000" b="1" dirty="0"/>
                <a:t>1864</a:t>
              </a:r>
            </a:p>
            <a:p>
              <a:pPr algn="ctr"/>
              <a:r>
                <a:rPr lang="en-GB" sz="2000" b="1" dirty="0"/>
                <a:t>John Newlands </a:t>
              </a:r>
              <a:r>
                <a:rPr lang="en-GB" sz="2000" dirty="0"/>
                <a:t>published the law of </a:t>
              </a:r>
              <a:r>
                <a:rPr lang="en-GB" sz="2000" dirty="0" smtClean="0"/>
                <a:t>octaves. </a:t>
              </a:r>
              <a:r>
                <a:rPr lang="en-GB" sz="2000" dirty="0"/>
                <a:t>However the </a:t>
              </a:r>
              <a:r>
                <a:rPr lang="en-GB" sz="2000" b="1" dirty="0">
                  <a:solidFill>
                    <a:schemeClr val="accent6">
                      <a:lumMod val="75000"/>
                    </a:schemeClr>
                  </a:solidFill>
                </a:rPr>
                <a:t>table was incomplete and elements were placed in inappropriate groups</a:t>
              </a:r>
            </a:p>
          </p:txBody>
        </p:sp>
        <p:pic>
          <p:nvPicPr>
            <p:cNvPr id="6" name="Picture 5">
              <a:extLst>
                <a:ext uri="{FF2B5EF4-FFF2-40B4-BE49-F238E27FC236}">
                  <a16:creationId xmlns:a16="http://schemas.microsoft.com/office/drawing/2014/main" xmlns="" id="{BBF28A94-4ADB-4FF3-BE9B-E406AAEFF50A}"/>
                </a:ext>
              </a:extLst>
            </p:cNvPr>
            <p:cNvPicPr>
              <a:picLocks noChangeAspect="1"/>
            </p:cNvPicPr>
            <p:nvPr/>
          </p:nvPicPr>
          <p:blipFill>
            <a:blip r:embed="rId4"/>
            <a:stretch>
              <a:fillRect/>
            </a:stretch>
          </p:blipFill>
          <p:spPr>
            <a:xfrm>
              <a:off x="6485131" y="1108159"/>
              <a:ext cx="2592288" cy="1350324"/>
            </a:xfrm>
            <a:prstGeom prst="rect">
              <a:avLst/>
            </a:prstGeom>
            <a:effectLst/>
          </p:spPr>
        </p:pic>
        <p:sp>
          <p:nvSpPr>
            <p:cNvPr id="8" name="Rectangle 7">
              <a:extLst>
                <a:ext uri="{FF2B5EF4-FFF2-40B4-BE49-F238E27FC236}">
                  <a16:creationId xmlns:a16="http://schemas.microsoft.com/office/drawing/2014/main" xmlns="" id="{E819743F-CA39-4E69-8E55-DB7BEFDF3D8F}"/>
                </a:ext>
              </a:extLst>
            </p:cNvPr>
            <p:cNvSpPr/>
            <p:nvPr/>
          </p:nvSpPr>
          <p:spPr>
            <a:xfrm>
              <a:off x="3250125" y="692104"/>
              <a:ext cx="5893875" cy="1879923"/>
            </a:xfrm>
            <a:prstGeom prst="rect">
              <a:avLst/>
            </a:prstGeom>
            <a:no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9" name="AutoShape 6" descr="Image result for mendeleev">
            <a:extLst>
              <a:ext uri="{FF2B5EF4-FFF2-40B4-BE49-F238E27FC236}">
                <a16:creationId xmlns:a16="http://schemas.microsoft.com/office/drawing/2014/main" xmlns="" id="{A35D8AB4-0467-4C1D-9307-CD83E13F6CFF}"/>
              </a:ext>
            </a:extLst>
          </p:cNvPr>
          <p:cNvSpPr>
            <a:spLocks noChangeAspect="1" noChangeArrowheads="1"/>
          </p:cNvSpPr>
          <p:nvPr/>
        </p:nvSpPr>
        <p:spPr bwMode="auto">
          <a:xfrm>
            <a:off x="4572000" y="3429000"/>
            <a:ext cx="304800" cy="304800"/>
          </a:xfrm>
          <a:prstGeom prst="rect">
            <a:avLst/>
          </a:prstGeom>
          <a:noFill/>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6" name="Group 15"/>
          <p:cNvGrpSpPr/>
          <p:nvPr/>
        </p:nvGrpSpPr>
        <p:grpSpPr>
          <a:xfrm>
            <a:off x="3239344" y="2475137"/>
            <a:ext cx="5912619" cy="2884483"/>
            <a:chOff x="3239344" y="2669685"/>
            <a:chExt cx="5912619" cy="2884483"/>
          </a:xfrm>
        </p:grpSpPr>
        <p:sp>
          <p:nvSpPr>
            <p:cNvPr id="10" name="TextBox 9">
              <a:extLst>
                <a:ext uri="{FF2B5EF4-FFF2-40B4-BE49-F238E27FC236}">
                  <a16:creationId xmlns:a16="http://schemas.microsoft.com/office/drawing/2014/main" xmlns="" id="{9C3F0E23-4B81-476D-890E-8D12C65EB330}"/>
                </a:ext>
              </a:extLst>
            </p:cNvPr>
            <p:cNvSpPr txBox="1"/>
            <p:nvPr/>
          </p:nvSpPr>
          <p:spPr>
            <a:xfrm>
              <a:off x="3239344" y="2691846"/>
              <a:ext cx="4429000" cy="2862322"/>
            </a:xfrm>
            <a:prstGeom prst="rect">
              <a:avLst/>
            </a:prstGeom>
            <a:noFill/>
            <a:effectLst/>
          </p:spPr>
          <p:txBody>
            <a:bodyPr wrap="square" rtlCol="0">
              <a:spAutoFit/>
            </a:bodyPr>
            <a:lstStyle/>
            <a:p>
              <a:pPr algn="ctr"/>
              <a:r>
                <a:rPr lang="en-GB" sz="2000" b="1" dirty="0"/>
                <a:t>1869</a:t>
              </a:r>
            </a:p>
            <a:p>
              <a:pPr algn="ctr"/>
              <a:r>
                <a:rPr lang="en-GB" sz="2000" b="1" dirty="0">
                  <a:solidFill>
                    <a:schemeClr val="accent6">
                      <a:lumMod val="75000"/>
                    </a:schemeClr>
                  </a:solidFill>
                </a:rPr>
                <a:t>Dmitri Mendeleev </a:t>
              </a:r>
              <a:r>
                <a:rPr lang="en-GB" sz="2000" dirty="0"/>
                <a:t>overcame Dalton’s problem by </a:t>
              </a:r>
              <a:r>
                <a:rPr lang="en-GB" sz="2000" b="1" dirty="0">
                  <a:solidFill>
                    <a:schemeClr val="accent6">
                      <a:lumMod val="75000"/>
                    </a:schemeClr>
                  </a:solidFill>
                </a:rPr>
                <a:t>leaving gaps for the elements that he thought had not been discovered </a:t>
              </a:r>
              <a:r>
                <a:rPr lang="en-GB" sz="2000" dirty="0"/>
                <a:t>and </a:t>
              </a:r>
              <a:r>
                <a:rPr lang="en-GB" sz="2000" b="1" dirty="0">
                  <a:solidFill>
                    <a:schemeClr val="accent6">
                      <a:lumMod val="75000"/>
                    </a:schemeClr>
                  </a:solidFill>
                </a:rPr>
                <a:t>in some places changed the order based on atomic weight </a:t>
              </a:r>
              <a:r>
                <a:rPr lang="en-GB" sz="2000" dirty="0"/>
                <a:t>(</a:t>
              </a:r>
              <a:r>
                <a:rPr lang="en-GB" sz="2000" dirty="0" smtClean="0"/>
                <a:t>e.g. </a:t>
              </a:r>
              <a:r>
                <a:rPr lang="en-GB" sz="2000" dirty="0"/>
                <a:t>Argon and Potassium).  Elements with properties predicted by Mendeleev were eventually discovered.</a:t>
              </a:r>
            </a:p>
          </p:txBody>
        </p:sp>
        <p:sp>
          <p:nvSpPr>
            <p:cNvPr id="11" name="Rectangle 10">
              <a:extLst>
                <a:ext uri="{FF2B5EF4-FFF2-40B4-BE49-F238E27FC236}">
                  <a16:creationId xmlns:a16="http://schemas.microsoft.com/office/drawing/2014/main" xmlns="" id="{9CCF5762-0608-404D-A74E-8C37988A5DA1}"/>
                </a:ext>
              </a:extLst>
            </p:cNvPr>
            <p:cNvSpPr/>
            <p:nvPr/>
          </p:nvSpPr>
          <p:spPr>
            <a:xfrm>
              <a:off x="3258088" y="2669685"/>
              <a:ext cx="5893875" cy="2884483"/>
            </a:xfrm>
            <a:prstGeom prst="rect">
              <a:avLst/>
            </a:prstGeom>
            <a:no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xmlns="" id="{9A525544-BD86-4BAE-8356-85ACC6BC538C}"/>
                </a:ext>
              </a:extLst>
            </p:cNvPr>
            <p:cNvPicPr>
              <a:picLocks noChangeAspect="1"/>
            </p:cNvPicPr>
            <p:nvPr/>
          </p:nvPicPr>
          <p:blipFill>
            <a:blip r:embed="rId5"/>
            <a:stretch>
              <a:fillRect/>
            </a:stretch>
          </p:blipFill>
          <p:spPr>
            <a:xfrm>
              <a:off x="7635150" y="3243976"/>
              <a:ext cx="1442269" cy="1874218"/>
            </a:xfrm>
            <a:prstGeom prst="rect">
              <a:avLst/>
            </a:prstGeom>
            <a:effectLst/>
          </p:spPr>
        </p:pic>
      </p:grpSp>
      <p:sp>
        <p:nvSpPr>
          <p:cNvPr id="13" name="Rectangle 12">
            <a:extLst>
              <a:ext uri="{FF2B5EF4-FFF2-40B4-BE49-F238E27FC236}">
                <a16:creationId xmlns:a16="http://schemas.microsoft.com/office/drawing/2014/main" xmlns="" id="{DDC3E28C-47AC-4F52-8770-79DD6092240A}"/>
              </a:ext>
            </a:extLst>
          </p:cNvPr>
          <p:cNvSpPr/>
          <p:nvPr/>
        </p:nvSpPr>
        <p:spPr>
          <a:xfrm>
            <a:off x="3250125" y="5426079"/>
            <a:ext cx="5893875" cy="1015663"/>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lang="en-GB" sz="2000" b="1" dirty="0" smtClean="0"/>
              <a:t>Early</a:t>
            </a:r>
            <a:r>
              <a:rPr lang="en-GB" sz="2000" b="1" dirty="0" smtClean="0"/>
              <a:t>20</a:t>
            </a:r>
            <a:r>
              <a:rPr lang="en-GB" sz="2000" b="1" baseline="30000" dirty="0" smtClean="0"/>
              <a:t>th</a:t>
            </a:r>
            <a:r>
              <a:rPr lang="en-GB" sz="2000" b="1" dirty="0" smtClean="0"/>
              <a:t> </a:t>
            </a:r>
            <a:r>
              <a:rPr lang="en-GB" sz="2000" b="1" dirty="0"/>
              <a:t>Century - </a:t>
            </a:r>
            <a:r>
              <a:rPr lang="en-GB" sz="2000" dirty="0"/>
              <a:t>Scientists began to find out more about the atom and knowledge of </a:t>
            </a:r>
            <a:r>
              <a:rPr lang="en-GB" sz="2000" b="1" dirty="0"/>
              <a:t>isotopes </a:t>
            </a:r>
            <a:r>
              <a:rPr lang="en-GB" sz="2000" dirty="0"/>
              <a:t>explained why the order was not always correct.</a:t>
            </a:r>
          </a:p>
        </p:txBody>
      </p:sp>
    </p:spTree>
    <p:extLst>
      <p:ext uri="{BB962C8B-B14F-4D97-AF65-F5344CB8AC3E}">
        <p14:creationId xmlns:p14="http://schemas.microsoft.com/office/powerpoint/2010/main" val="8904317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1</a:t>
            </a:r>
            <a:endParaRPr lang="en-GB" sz="2400" b="1" dirty="0">
              <a:solidFill>
                <a:schemeClr val="accent6"/>
              </a:solidFill>
            </a:endParaRPr>
          </a:p>
        </p:txBody>
      </p:sp>
      <p:sp>
        <p:nvSpPr>
          <p:cNvPr id="3" name="TextBox 2">
            <a:extLst>
              <a:ext uri="{FF2B5EF4-FFF2-40B4-BE49-F238E27FC236}">
                <a16:creationId xmlns:a16="http://schemas.microsoft.com/office/drawing/2014/main" xmlns="" id="{AFF58D8F-580D-4EBC-B1E5-7CBA451EFDE1}"/>
              </a:ext>
            </a:extLst>
          </p:cNvPr>
          <p:cNvSpPr txBox="1"/>
          <p:nvPr/>
        </p:nvSpPr>
        <p:spPr>
          <a:xfrm>
            <a:off x="1030503" y="773171"/>
            <a:ext cx="7082994" cy="40011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b="1" dirty="0" smtClean="0"/>
              <a:t>The elements can be divided into </a:t>
            </a:r>
            <a:r>
              <a:rPr lang="en-GB" sz="2000" b="1" dirty="0" smtClean="0">
                <a:solidFill>
                  <a:schemeClr val="tx1"/>
                </a:solidFill>
              </a:rPr>
              <a:t>metals</a:t>
            </a:r>
            <a:r>
              <a:rPr lang="en-GB" sz="2000" b="1" dirty="0" smtClean="0"/>
              <a:t> and </a:t>
            </a:r>
            <a:r>
              <a:rPr lang="en-GB" sz="2000" b="1" dirty="0" smtClean="0">
                <a:solidFill>
                  <a:schemeClr val="tx1"/>
                </a:solidFill>
              </a:rPr>
              <a:t>non-metals</a:t>
            </a:r>
            <a:r>
              <a:rPr lang="en-GB" sz="2000" b="1" dirty="0" smtClean="0"/>
              <a:t>.</a:t>
            </a:r>
          </a:p>
        </p:txBody>
      </p:sp>
      <p:sp>
        <p:nvSpPr>
          <p:cNvPr id="9" name="AutoShape 6" descr="Image result for mendeleev">
            <a:extLst>
              <a:ext uri="{FF2B5EF4-FFF2-40B4-BE49-F238E27FC236}">
                <a16:creationId xmlns:a16="http://schemas.microsoft.com/office/drawing/2014/main" xmlns="" id="{A35D8AB4-0467-4C1D-9307-CD83E13F6CFF}"/>
              </a:ext>
            </a:extLst>
          </p:cNvPr>
          <p:cNvSpPr>
            <a:spLocks noChangeAspect="1" noChangeArrowheads="1"/>
          </p:cNvSpPr>
          <p:nvPr/>
        </p:nvSpPr>
        <p:spPr bwMode="auto">
          <a:xfrm>
            <a:off x="4572000" y="3429000"/>
            <a:ext cx="304800" cy="304800"/>
          </a:xfrm>
          <a:prstGeom prst="rect">
            <a:avLst/>
          </a:prstGeom>
          <a:noFill/>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TextBox 15">
            <a:extLst>
              <a:ext uri="{FF2B5EF4-FFF2-40B4-BE49-F238E27FC236}">
                <a16:creationId xmlns:a16="http://schemas.microsoft.com/office/drawing/2014/main" xmlns="" id="{AFF58D8F-580D-4EBC-B1E5-7CBA451EFDE1}"/>
              </a:ext>
            </a:extLst>
          </p:cNvPr>
          <p:cNvSpPr txBox="1"/>
          <p:nvPr/>
        </p:nvSpPr>
        <p:spPr>
          <a:xfrm>
            <a:off x="5697737" y="1304429"/>
            <a:ext cx="3245548" cy="163121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b="1" dirty="0"/>
              <a:t>Elements that </a:t>
            </a:r>
            <a:r>
              <a:rPr lang="en-GB" sz="2000" b="1" dirty="0" smtClean="0"/>
              <a:t>do not form positive ions </a:t>
            </a:r>
            <a:r>
              <a:rPr lang="en-GB" sz="2000" b="1" dirty="0"/>
              <a:t>are non-metals</a:t>
            </a:r>
          </a:p>
          <a:p>
            <a:pPr algn="ctr"/>
            <a:endParaRPr lang="en-GB" sz="2000" b="1" dirty="0" smtClean="0"/>
          </a:p>
          <a:p>
            <a:pPr algn="ctr"/>
            <a:r>
              <a:rPr lang="en-GB" sz="2000" b="1" dirty="0" smtClean="0"/>
              <a:t>Elements that tend to form positive ions are metals</a:t>
            </a:r>
          </a:p>
        </p:txBody>
      </p:sp>
      <p:sp>
        <p:nvSpPr>
          <p:cNvPr id="19" name="TextBox 18">
            <a:extLst>
              <a:ext uri="{FF2B5EF4-FFF2-40B4-BE49-F238E27FC236}">
                <a16:creationId xmlns:a16="http://schemas.microsoft.com/office/drawing/2014/main" xmlns="" id="{AFF58D8F-580D-4EBC-B1E5-7CBA451EFDE1}"/>
              </a:ext>
            </a:extLst>
          </p:cNvPr>
          <p:cNvSpPr txBox="1"/>
          <p:nvPr/>
        </p:nvSpPr>
        <p:spPr>
          <a:xfrm>
            <a:off x="5696843" y="4199984"/>
            <a:ext cx="3248456" cy="132343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smtClean="0"/>
              <a:t>Most elements are metals – found towards the left and towards the bottom of the periodic table</a:t>
            </a:r>
          </a:p>
        </p:txBody>
      </p:sp>
      <p:grpSp>
        <p:nvGrpSpPr>
          <p:cNvPr id="15" name="Group 14">
            <a:extLst>
              <a:ext uri="{FF2B5EF4-FFF2-40B4-BE49-F238E27FC236}">
                <a16:creationId xmlns:a16="http://schemas.microsoft.com/office/drawing/2014/main" xmlns="" id="{74848C62-FBB1-4EEA-9E2C-EE68FF970869}"/>
              </a:ext>
            </a:extLst>
          </p:cNvPr>
          <p:cNvGrpSpPr/>
          <p:nvPr/>
        </p:nvGrpSpPr>
        <p:grpSpPr>
          <a:xfrm>
            <a:off x="110628" y="1301407"/>
            <a:ext cx="5314846" cy="2221981"/>
            <a:chOff x="446601" y="2352577"/>
            <a:chExt cx="8243374" cy="3668713"/>
          </a:xfrm>
        </p:grpSpPr>
        <p:grpSp>
          <p:nvGrpSpPr>
            <p:cNvPr id="22" name="Group 21">
              <a:extLst>
                <a:ext uri="{FF2B5EF4-FFF2-40B4-BE49-F238E27FC236}">
                  <a16:creationId xmlns:a16="http://schemas.microsoft.com/office/drawing/2014/main" xmlns="" id="{9BE89CFF-B848-48CF-97EB-DB6E937BE75B}"/>
                </a:ext>
              </a:extLst>
            </p:cNvPr>
            <p:cNvGrpSpPr/>
            <p:nvPr/>
          </p:nvGrpSpPr>
          <p:grpSpPr>
            <a:xfrm>
              <a:off x="446601" y="2352577"/>
              <a:ext cx="8243374" cy="3668713"/>
              <a:chOff x="446601" y="2352577"/>
              <a:chExt cx="8243374" cy="3668713"/>
            </a:xfrm>
          </p:grpSpPr>
          <p:grpSp>
            <p:nvGrpSpPr>
              <p:cNvPr id="32" name="Group 4">
                <a:extLst>
                  <a:ext uri="{FF2B5EF4-FFF2-40B4-BE49-F238E27FC236}">
                    <a16:creationId xmlns:a16="http://schemas.microsoft.com/office/drawing/2014/main" xmlns="" id="{9CC73611-F149-46E6-9F34-253E20935DC7}"/>
                  </a:ext>
                </a:extLst>
              </p:cNvPr>
              <p:cNvGrpSpPr>
                <a:grpSpLocks/>
              </p:cNvGrpSpPr>
              <p:nvPr/>
            </p:nvGrpSpPr>
            <p:grpSpPr bwMode="auto">
              <a:xfrm>
                <a:off x="460375" y="2352577"/>
                <a:ext cx="8229600" cy="3668713"/>
                <a:chOff x="279" y="1213"/>
                <a:chExt cx="5184" cy="2311"/>
              </a:xfrm>
            </p:grpSpPr>
            <p:sp>
              <p:nvSpPr>
                <p:cNvPr id="41" name="Rectangle 5">
                  <a:extLst>
                    <a:ext uri="{FF2B5EF4-FFF2-40B4-BE49-F238E27FC236}">
                      <a16:creationId xmlns:a16="http://schemas.microsoft.com/office/drawing/2014/main" xmlns="" id="{A5E653F9-483D-44E8-A6E7-5FE8EBEBF6E2}"/>
                    </a:ext>
                  </a:extLst>
                </p:cNvPr>
                <p:cNvSpPr>
                  <a:spLocks noChangeArrowheads="1"/>
                </p:cNvSpPr>
                <p:nvPr/>
              </p:nvSpPr>
              <p:spPr bwMode="auto">
                <a:xfrm>
                  <a:off x="1716" y="1213"/>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a:t>
                  </a:r>
                </a:p>
              </p:txBody>
            </p:sp>
            <p:sp>
              <p:nvSpPr>
                <p:cNvPr id="42" name="Rectangle 6">
                  <a:extLst>
                    <a:ext uri="{FF2B5EF4-FFF2-40B4-BE49-F238E27FC236}">
                      <a16:creationId xmlns:a16="http://schemas.microsoft.com/office/drawing/2014/main" xmlns="" id="{51F914F5-571B-43DC-B521-761C7B0595E0}"/>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43" name="Rectangle 7">
                  <a:extLst>
                    <a:ext uri="{FF2B5EF4-FFF2-40B4-BE49-F238E27FC236}">
                      <a16:creationId xmlns:a16="http://schemas.microsoft.com/office/drawing/2014/main" xmlns="" id="{40EE3F1C-FCE1-47E9-8D0A-072E44DE0466}"/>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44" name="Rectangle 8">
                  <a:extLst>
                    <a:ext uri="{FF2B5EF4-FFF2-40B4-BE49-F238E27FC236}">
                      <a16:creationId xmlns:a16="http://schemas.microsoft.com/office/drawing/2014/main" xmlns="" id="{9FF08AF0-5A88-462D-874B-6604CE305414}"/>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45" name="Rectangle 9">
                  <a:extLst>
                    <a:ext uri="{FF2B5EF4-FFF2-40B4-BE49-F238E27FC236}">
                      <a16:creationId xmlns:a16="http://schemas.microsoft.com/office/drawing/2014/main" xmlns="" id="{859DCBBA-70DA-4033-A196-08B1B1AA4162}"/>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46" name="Rectangle 10">
                  <a:extLst>
                    <a:ext uri="{FF2B5EF4-FFF2-40B4-BE49-F238E27FC236}">
                      <a16:creationId xmlns:a16="http://schemas.microsoft.com/office/drawing/2014/main" xmlns="" id="{A32B7032-25F0-4F1F-A899-F80938782799}"/>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47" name="Rectangle 11">
                  <a:extLst>
                    <a:ext uri="{FF2B5EF4-FFF2-40B4-BE49-F238E27FC236}">
                      <a16:creationId xmlns:a16="http://schemas.microsoft.com/office/drawing/2014/main" xmlns="" id="{BA6367D4-1B9D-4D9F-A220-0BF2BC0CA848}"/>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48" name="Rectangle 12">
                  <a:extLst>
                    <a:ext uri="{FF2B5EF4-FFF2-40B4-BE49-F238E27FC236}">
                      <a16:creationId xmlns:a16="http://schemas.microsoft.com/office/drawing/2014/main" xmlns="" id="{3A56A806-0E04-4C32-8BFA-F9BF08414E10}"/>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49" name="Rectangle 13">
                  <a:extLst>
                    <a:ext uri="{FF2B5EF4-FFF2-40B4-BE49-F238E27FC236}">
                      <a16:creationId xmlns:a16="http://schemas.microsoft.com/office/drawing/2014/main" xmlns="" id="{84560938-92ED-4DA0-BDFC-80481162A554}"/>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50" name="Rectangle 14">
                  <a:extLst>
                    <a:ext uri="{FF2B5EF4-FFF2-40B4-BE49-F238E27FC236}">
                      <a16:creationId xmlns:a16="http://schemas.microsoft.com/office/drawing/2014/main" xmlns="" id="{05FF1A02-205A-4039-99F3-C2E830470DE6}"/>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51" name="Rectangle 15">
                  <a:extLst>
                    <a:ext uri="{FF2B5EF4-FFF2-40B4-BE49-F238E27FC236}">
                      <a16:creationId xmlns:a16="http://schemas.microsoft.com/office/drawing/2014/main" xmlns="" id="{D7727F25-43A5-46AF-A2AC-A0323DECB4B5}"/>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52" name="Rectangle 16">
                  <a:extLst>
                    <a:ext uri="{FF2B5EF4-FFF2-40B4-BE49-F238E27FC236}">
                      <a16:creationId xmlns:a16="http://schemas.microsoft.com/office/drawing/2014/main" xmlns="" id="{A9509520-2D5D-4D3F-B572-691C4F148AD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53" name="Rectangle 17">
                  <a:extLst>
                    <a:ext uri="{FF2B5EF4-FFF2-40B4-BE49-F238E27FC236}">
                      <a16:creationId xmlns:a16="http://schemas.microsoft.com/office/drawing/2014/main" xmlns="" id="{A4D8ECCE-9331-4C75-AA55-9CF3A11D211B}"/>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54" name="Rectangle 18">
                  <a:extLst>
                    <a:ext uri="{FF2B5EF4-FFF2-40B4-BE49-F238E27FC236}">
                      <a16:creationId xmlns:a16="http://schemas.microsoft.com/office/drawing/2014/main" xmlns="" id="{3C84F275-811F-45CE-90B8-9714128DD30B}"/>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55" name="Rectangle 19">
                  <a:extLst>
                    <a:ext uri="{FF2B5EF4-FFF2-40B4-BE49-F238E27FC236}">
                      <a16:creationId xmlns:a16="http://schemas.microsoft.com/office/drawing/2014/main" xmlns="" id="{4BCDB80C-8D2E-4502-8658-D896D401DE7D}"/>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56" name="Rectangle 20">
                  <a:extLst>
                    <a:ext uri="{FF2B5EF4-FFF2-40B4-BE49-F238E27FC236}">
                      <a16:creationId xmlns:a16="http://schemas.microsoft.com/office/drawing/2014/main" xmlns="" id="{A3D6ECF8-D713-4F05-BBF5-CD172D4AA3A6}"/>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57" name="Rectangle 21">
                  <a:extLst>
                    <a:ext uri="{FF2B5EF4-FFF2-40B4-BE49-F238E27FC236}">
                      <a16:creationId xmlns:a16="http://schemas.microsoft.com/office/drawing/2014/main" xmlns="" id="{A2C475F2-4B8E-4DAC-B7A0-55916B76EEFF}"/>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58" name="Rectangle 22">
                  <a:extLst>
                    <a:ext uri="{FF2B5EF4-FFF2-40B4-BE49-F238E27FC236}">
                      <a16:creationId xmlns:a16="http://schemas.microsoft.com/office/drawing/2014/main" xmlns="" id="{43AFCD5D-B471-4E79-8C66-A4C2B5E2FB56}"/>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59" name="Rectangle 23">
                  <a:extLst>
                    <a:ext uri="{FF2B5EF4-FFF2-40B4-BE49-F238E27FC236}">
                      <a16:creationId xmlns:a16="http://schemas.microsoft.com/office/drawing/2014/main" xmlns="" id="{FA1D7341-EE06-4A36-B5B9-4877B7ADC47B}"/>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60" name="Rectangle 24">
                  <a:extLst>
                    <a:ext uri="{FF2B5EF4-FFF2-40B4-BE49-F238E27FC236}">
                      <a16:creationId xmlns:a16="http://schemas.microsoft.com/office/drawing/2014/main" xmlns="" id="{0D8E15D5-AADA-4729-98EB-CF45169CAB4F}"/>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61" name="Rectangle 25">
                  <a:extLst>
                    <a:ext uri="{FF2B5EF4-FFF2-40B4-BE49-F238E27FC236}">
                      <a16:creationId xmlns:a16="http://schemas.microsoft.com/office/drawing/2014/main" xmlns="" id="{5682FB4B-94D0-47E4-8746-4CEB5F361520}"/>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62" name="Rectangle 26">
                  <a:extLst>
                    <a:ext uri="{FF2B5EF4-FFF2-40B4-BE49-F238E27FC236}">
                      <a16:creationId xmlns:a16="http://schemas.microsoft.com/office/drawing/2014/main" xmlns="" id="{DE064B60-1B9E-4CFF-B0FA-137DB7336CE8}"/>
                    </a:ext>
                  </a:extLst>
                </p:cNvPr>
                <p:cNvSpPr>
                  <a:spLocks noChangeArrowheads="1"/>
                </p:cNvSpPr>
                <p:nvPr/>
              </p:nvSpPr>
              <p:spPr bwMode="auto">
                <a:xfrm>
                  <a:off x="4599" y="2372"/>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Se</a:t>
                  </a:r>
                </a:p>
              </p:txBody>
            </p:sp>
            <p:sp>
              <p:nvSpPr>
                <p:cNvPr id="63" name="Rectangle 27">
                  <a:extLst>
                    <a:ext uri="{FF2B5EF4-FFF2-40B4-BE49-F238E27FC236}">
                      <a16:creationId xmlns:a16="http://schemas.microsoft.com/office/drawing/2014/main" xmlns="" id="{B65986F2-C000-4982-864A-4F86BDA4CFFE}"/>
                    </a:ext>
                  </a:extLst>
                </p:cNvPr>
                <p:cNvSpPr>
                  <a:spLocks noChangeArrowheads="1"/>
                </p:cNvSpPr>
                <p:nvPr/>
              </p:nvSpPr>
              <p:spPr bwMode="auto">
                <a:xfrm>
                  <a:off x="4887" y="2372"/>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Br</a:t>
                  </a:r>
                </a:p>
              </p:txBody>
            </p:sp>
            <p:sp>
              <p:nvSpPr>
                <p:cNvPr id="64" name="Rectangle 28">
                  <a:extLst>
                    <a:ext uri="{FF2B5EF4-FFF2-40B4-BE49-F238E27FC236}">
                      <a16:creationId xmlns:a16="http://schemas.microsoft.com/office/drawing/2014/main" xmlns="" id="{C7854360-E1CE-4994-B0C3-6F3A90CDE8C1}"/>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65" name="Rectangle 29">
                  <a:extLst>
                    <a:ext uri="{FF2B5EF4-FFF2-40B4-BE49-F238E27FC236}">
                      <a16:creationId xmlns:a16="http://schemas.microsoft.com/office/drawing/2014/main" xmlns="" id="{261EE0F6-0366-4BD3-B5E1-126817B185BB}"/>
                    </a:ext>
                  </a:extLst>
                </p:cNvPr>
                <p:cNvSpPr>
                  <a:spLocks noChangeArrowheads="1"/>
                </p:cNvSpPr>
                <p:nvPr/>
              </p:nvSpPr>
              <p:spPr bwMode="auto">
                <a:xfrm>
                  <a:off x="5175" y="2372"/>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Kr</a:t>
                  </a:r>
                </a:p>
              </p:txBody>
            </p:sp>
            <p:sp>
              <p:nvSpPr>
                <p:cNvPr id="66" name="Rectangle 30">
                  <a:extLst>
                    <a:ext uri="{FF2B5EF4-FFF2-40B4-BE49-F238E27FC236}">
                      <a16:creationId xmlns:a16="http://schemas.microsoft.com/office/drawing/2014/main" xmlns="" id="{448549F5-1495-425E-881B-484EF0EB8853}"/>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67" name="Rectangle 31">
                  <a:extLst>
                    <a:ext uri="{FF2B5EF4-FFF2-40B4-BE49-F238E27FC236}">
                      <a16:creationId xmlns:a16="http://schemas.microsoft.com/office/drawing/2014/main" xmlns="" id="{330FCA82-CC45-4EED-92C2-C66AFFE75D93}"/>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68" name="Rectangle 32">
                  <a:extLst>
                    <a:ext uri="{FF2B5EF4-FFF2-40B4-BE49-F238E27FC236}">
                      <a16:creationId xmlns:a16="http://schemas.microsoft.com/office/drawing/2014/main" xmlns="" id="{37322A30-C613-4333-B6B3-A1F4F9FF7309}"/>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69" name="Rectangle 33">
                  <a:extLst>
                    <a:ext uri="{FF2B5EF4-FFF2-40B4-BE49-F238E27FC236}">
                      <a16:creationId xmlns:a16="http://schemas.microsoft.com/office/drawing/2014/main" xmlns="" id="{E945816B-C40C-49D8-9549-1FC4990B72AF}"/>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70" name="Rectangle 34">
                  <a:extLst>
                    <a:ext uri="{FF2B5EF4-FFF2-40B4-BE49-F238E27FC236}">
                      <a16:creationId xmlns:a16="http://schemas.microsoft.com/office/drawing/2014/main" xmlns="" id="{B1357CD9-AB40-43B9-9CC7-0B1CB485FCD4}"/>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71" name="Rectangle 35">
                  <a:extLst>
                    <a:ext uri="{FF2B5EF4-FFF2-40B4-BE49-F238E27FC236}">
                      <a16:creationId xmlns:a16="http://schemas.microsoft.com/office/drawing/2014/main" xmlns="" id="{41A09651-9AF7-4AB3-B1D8-A049E23ED804}"/>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72" name="Rectangle 36">
                  <a:extLst>
                    <a:ext uri="{FF2B5EF4-FFF2-40B4-BE49-F238E27FC236}">
                      <a16:creationId xmlns:a16="http://schemas.microsoft.com/office/drawing/2014/main" xmlns="" id="{7ECF6F7F-F168-4F10-8C6A-399003704968}"/>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73" name="Rectangle 37">
                  <a:extLst>
                    <a:ext uri="{FF2B5EF4-FFF2-40B4-BE49-F238E27FC236}">
                      <a16:creationId xmlns:a16="http://schemas.microsoft.com/office/drawing/2014/main" xmlns="" id="{1F5CF049-CEC6-4E34-A385-AE4EEA92DB4B}"/>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74" name="Rectangle 38">
                  <a:extLst>
                    <a:ext uri="{FF2B5EF4-FFF2-40B4-BE49-F238E27FC236}">
                      <a16:creationId xmlns:a16="http://schemas.microsoft.com/office/drawing/2014/main" xmlns="" id="{BE9B66A3-E27A-41BA-A813-45F82F11B313}"/>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75" name="Rectangle 39">
                  <a:extLst>
                    <a:ext uri="{FF2B5EF4-FFF2-40B4-BE49-F238E27FC236}">
                      <a16:creationId xmlns:a16="http://schemas.microsoft.com/office/drawing/2014/main" xmlns="" id="{E7EB24DA-DDB4-4864-913A-3DDBB4C3BCE6}"/>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76" name="Rectangle 40">
                  <a:extLst>
                    <a:ext uri="{FF2B5EF4-FFF2-40B4-BE49-F238E27FC236}">
                      <a16:creationId xmlns:a16="http://schemas.microsoft.com/office/drawing/2014/main" xmlns="" id="{5F5B037B-4FB5-410C-B3CD-8D5E3D303441}"/>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77" name="Rectangle 41">
                  <a:extLst>
                    <a:ext uri="{FF2B5EF4-FFF2-40B4-BE49-F238E27FC236}">
                      <a16:creationId xmlns:a16="http://schemas.microsoft.com/office/drawing/2014/main" xmlns="" id="{14F53FC7-A7AC-4473-8CC7-2106337E1447}"/>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78" name="Rectangle 42">
                  <a:extLst>
                    <a:ext uri="{FF2B5EF4-FFF2-40B4-BE49-F238E27FC236}">
                      <a16:creationId xmlns:a16="http://schemas.microsoft.com/office/drawing/2014/main" xmlns="" id="{FC84AC9F-A803-4C12-8D6F-F4153468DA8F}"/>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79" name="Rectangle 43">
                  <a:extLst>
                    <a:ext uri="{FF2B5EF4-FFF2-40B4-BE49-F238E27FC236}">
                      <a16:creationId xmlns:a16="http://schemas.microsoft.com/office/drawing/2014/main" xmlns="" id="{2235EBF4-4FEB-414C-BB70-BBEBB3D596EE}"/>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80" name="Rectangle 44">
                  <a:extLst>
                    <a:ext uri="{FF2B5EF4-FFF2-40B4-BE49-F238E27FC236}">
                      <a16:creationId xmlns:a16="http://schemas.microsoft.com/office/drawing/2014/main" xmlns="" id="{3A00C62E-E2D9-4E74-8142-A434A6AF0F09}"/>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81" name="Rectangle 45">
                  <a:extLst>
                    <a:ext uri="{FF2B5EF4-FFF2-40B4-BE49-F238E27FC236}">
                      <a16:creationId xmlns:a16="http://schemas.microsoft.com/office/drawing/2014/main" xmlns="" id="{E9D0339A-D248-4FCB-8A18-60DDCA694DD2}"/>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82" name="Rectangle 46">
                  <a:extLst>
                    <a:ext uri="{FF2B5EF4-FFF2-40B4-BE49-F238E27FC236}">
                      <a16:creationId xmlns:a16="http://schemas.microsoft.com/office/drawing/2014/main" xmlns="" id="{4DA0A382-40A7-4B14-8100-A3F03D685E58}"/>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83" name="Rectangle 47">
                  <a:extLst>
                    <a:ext uri="{FF2B5EF4-FFF2-40B4-BE49-F238E27FC236}">
                      <a16:creationId xmlns:a16="http://schemas.microsoft.com/office/drawing/2014/main" xmlns="" id="{CC51870B-0741-4578-A726-B09B295CF4F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84" name="Rectangle 48">
                  <a:extLst>
                    <a:ext uri="{FF2B5EF4-FFF2-40B4-BE49-F238E27FC236}">
                      <a16:creationId xmlns:a16="http://schemas.microsoft.com/office/drawing/2014/main" xmlns="" id="{F493CD6D-2A47-40CB-9C7E-262A074E1C2A}"/>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85" name="Rectangle 49">
                  <a:extLst>
                    <a:ext uri="{FF2B5EF4-FFF2-40B4-BE49-F238E27FC236}">
                      <a16:creationId xmlns:a16="http://schemas.microsoft.com/office/drawing/2014/main" xmlns="" id="{1376D528-FE88-4D75-9B9F-85518ADD6300}"/>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86" name="Rectangle 50">
                  <a:extLst>
                    <a:ext uri="{FF2B5EF4-FFF2-40B4-BE49-F238E27FC236}">
                      <a16:creationId xmlns:a16="http://schemas.microsoft.com/office/drawing/2014/main" xmlns="" id="{BC0E2017-0F5B-49A7-8A4F-88437A464E2A}"/>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87" name="Rectangle 51">
                  <a:extLst>
                    <a:ext uri="{FF2B5EF4-FFF2-40B4-BE49-F238E27FC236}">
                      <a16:creationId xmlns:a16="http://schemas.microsoft.com/office/drawing/2014/main" xmlns="" id="{C85262DD-1DC1-4B55-B117-1BD525D03123}"/>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88" name="Rectangle 52">
                  <a:extLst>
                    <a:ext uri="{FF2B5EF4-FFF2-40B4-BE49-F238E27FC236}">
                      <a16:creationId xmlns:a16="http://schemas.microsoft.com/office/drawing/2014/main" xmlns="" id="{93099FE8-EF9E-4422-A85E-91AC6001F592}"/>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Au</a:t>
                  </a:r>
                </a:p>
              </p:txBody>
            </p:sp>
            <p:sp>
              <p:nvSpPr>
                <p:cNvPr id="89" name="Rectangle 53">
                  <a:extLst>
                    <a:ext uri="{FF2B5EF4-FFF2-40B4-BE49-F238E27FC236}">
                      <a16:creationId xmlns:a16="http://schemas.microsoft.com/office/drawing/2014/main" xmlns="" id="{4539E259-26D0-4423-B36E-D5DE8D4DCC2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90" name="Rectangle 54">
                  <a:extLst>
                    <a:ext uri="{FF2B5EF4-FFF2-40B4-BE49-F238E27FC236}">
                      <a16:creationId xmlns:a16="http://schemas.microsoft.com/office/drawing/2014/main" xmlns="" id="{882272AE-203B-4890-AD35-9DFCD89F5367}"/>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91" name="Rectangle 55">
                  <a:extLst>
                    <a:ext uri="{FF2B5EF4-FFF2-40B4-BE49-F238E27FC236}">
                      <a16:creationId xmlns:a16="http://schemas.microsoft.com/office/drawing/2014/main" xmlns="" id="{F206E8C6-54D6-4944-9365-845F134E935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92" name="Rectangle 56">
                  <a:extLst>
                    <a:ext uri="{FF2B5EF4-FFF2-40B4-BE49-F238E27FC236}">
                      <a16:creationId xmlns:a16="http://schemas.microsoft.com/office/drawing/2014/main" xmlns="" id="{55D7146F-1E2E-4548-8AAB-C05A44AA0270}"/>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93" name="Rectangle 57">
                  <a:extLst>
                    <a:ext uri="{FF2B5EF4-FFF2-40B4-BE49-F238E27FC236}">
                      <a16:creationId xmlns:a16="http://schemas.microsoft.com/office/drawing/2014/main" xmlns="" id="{F0E57BF1-258A-471C-A8CE-17511B7031A5}"/>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94" name="Rectangle 58">
                  <a:extLst>
                    <a:ext uri="{FF2B5EF4-FFF2-40B4-BE49-F238E27FC236}">
                      <a16:creationId xmlns:a16="http://schemas.microsoft.com/office/drawing/2014/main" xmlns="" id="{468E5D51-A286-4B81-8000-2D367788D3E8}"/>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95" name="Rectangle 59">
                  <a:extLst>
                    <a:ext uri="{FF2B5EF4-FFF2-40B4-BE49-F238E27FC236}">
                      <a16:creationId xmlns:a16="http://schemas.microsoft.com/office/drawing/2014/main" xmlns="" id="{74886C56-4149-4A1A-9BD8-829DEB9EB885}"/>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96" name="Rectangle 60">
                  <a:extLst>
                    <a:ext uri="{FF2B5EF4-FFF2-40B4-BE49-F238E27FC236}">
                      <a16:creationId xmlns:a16="http://schemas.microsoft.com/office/drawing/2014/main" xmlns="" id="{A098A3D7-C2A8-4674-BD6C-4C732BE59E07}"/>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97" name="Rectangle 61">
                  <a:extLst>
                    <a:ext uri="{FF2B5EF4-FFF2-40B4-BE49-F238E27FC236}">
                      <a16:creationId xmlns:a16="http://schemas.microsoft.com/office/drawing/2014/main" xmlns="" id="{CA126C9F-09F3-44AD-AEC9-377FF1D708BB}"/>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98" name="Rectangle 62">
                  <a:extLst>
                    <a:ext uri="{FF2B5EF4-FFF2-40B4-BE49-F238E27FC236}">
                      <a16:creationId xmlns:a16="http://schemas.microsoft.com/office/drawing/2014/main" xmlns="" id="{757E413C-A027-4C71-83A2-347BC68B9574}"/>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99" name="Rectangle 63">
                  <a:extLst>
                    <a:ext uri="{FF2B5EF4-FFF2-40B4-BE49-F238E27FC236}">
                      <a16:creationId xmlns:a16="http://schemas.microsoft.com/office/drawing/2014/main" xmlns="" id="{CC03A615-F3FF-4681-85F7-853348DE2357}"/>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100" name="Rectangle 64">
                  <a:extLst>
                    <a:ext uri="{FF2B5EF4-FFF2-40B4-BE49-F238E27FC236}">
                      <a16:creationId xmlns:a16="http://schemas.microsoft.com/office/drawing/2014/main" xmlns="" id="{3564F727-A296-4F9D-8BB0-B116D9317CE9}"/>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101" name="Rectangle 65">
                  <a:extLst>
                    <a:ext uri="{FF2B5EF4-FFF2-40B4-BE49-F238E27FC236}">
                      <a16:creationId xmlns:a16="http://schemas.microsoft.com/office/drawing/2014/main" xmlns="" id="{830278CE-EF6A-4071-8514-57110F03DC50}"/>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102" name="Rectangle 66">
                  <a:extLst>
                    <a:ext uri="{FF2B5EF4-FFF2-40B4-BE49-F238E27FC236}">
                      <a16:creationId xmlns:a16="http://schemas.microsoft.com/office/drawing/2014/main" xmlns="" id="{78589864-8197-4B44-8D52-89779F298D1D}"/>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103" name="Rectangle 67">
                  <a:extLst>
                    <a:ext uri="{FF2B5EF4-FFF2-40B4-BE49-F238E27FC236}">
                      <a16:creationId xmlns:a16="http://schemas.microsoft.com/office/drawing/2014/main" xmlns="" id="{7B05CF32-A0AD-4D7B-B632-DD280290B7EF}"/>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104" name="Rectangle 68">
                  <a:extLst>
                    <a:ext uri="{FF2B5EF4-FFF2-40B4-BE49-F238E27FC236}">
                      <a16:creationId xmlns:a16="http://schemas.microsoft.com/office/drawing/2014/main" xmlns="" id="{FE00FEEE-314B-43B9-8224-C0A1E1630491}"/>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105" name="Rectangle 69">
                  <a:extLst>
                    <a:ext uri="{FF2B5EF4-FFF2-40B4-BE49-F238E27FC236}">
                      <a16:creationId xmlns:a16="http://schemas.microsoft.com/office/drawing/2014/main" xmlns="" id="{F4E4A520-30CC-431A-ABC1-A73A949BAAE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106" name="Rectangle 70">
                  <a:extLst>
                    <a:ext uri="{FF2B5EF4-FFF2-40B4-BE49-F238E27FC236}">
                      <a16:creationId xmlns:a16="http://schemas.microsoft.com/office/drawing/2014/main" xmlns="" id="{1B00FD40-9F04-4742-99A7-C37D0FCA2F3C}"/>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107" name="Rectangle 71">
                  <a:extLst>
                    <a:ext uri="{FF2B5EF4-FFF2-40B4-BE49-F238E27FC236}">
                      <a16:creationId xmlns:a16="http://schemas.microsoft.com/office/drawing/2014/main" xmlns="" id="{B2E40F56-FC61-4557-8692-338C06EB889E}"/>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108" name="Rectangle 72">
                  <a:extLst>
                    <a:ext uri="{FF2B5EF4-FFF2-40B4-BE49-F238E27FC236}">
                      <a16:creationId xmlns:a16="http://schemas.microsoft.com/office/drawing/2014/main" xmlns="" id="{38DF2BD5-C9A7-4616-8F51-957D1CCE7078}"/>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109" name="Rectangle 73">
                  <a:extLst>
                    <a:ext uri="{FF2B5EF4-FFF2-40B4-BE49-F238E27FC236}">
                      <a16:creationId xmlns:a16="http://schemas.microsoft.com/office/drawing/2014/main" xmlns="" id="{0D1356FA-D16E-46C1-AD61-51919E184E22}"/>
                    </a:ext>
                  </a:extLst>
                </p:cNvPr>
                <p:cNvSpPr>
                  <a:spLocks noChangeArrowheads="1"/>
                </p:cNvSpPr>
                <p:nvPr/>
              </p:nvSpPr>
              <p:spPr bwMode="auto">
                <a:xfrm>
                  <a:off x="4311" y="2084"/>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P</a:t>
                  </a:r>
                </a:p>
              </p:txBody>
            </p:sp>
            <p:sp>
              <p:nvSpPr>
                <p:cNvPr id="110" name="Rectangle 74">
                  <a:extLst>
                    <a:ext uri="{FF2B5EF4-FFF2-40B4-BE49-F238E27FC236}">
                      <a16:creationId xmlns:a16="http://schemas.microsoft.com/office/drawing/2014/main" xmlns="" id="{E484A4EF-6AF0-44DC-B443-A15D25308089}"/>
                    </a:ext>
                  </a:extLst>
                </p:cNvPr>
                <p:cNvSpPr>
                  <a:spLocks noChangeArrowheads="1"/>
                </p:cNvSpPr>
                <p:nvPr/>
              </p:nvSpPr>
              <p:spPr bwMode="auto">
                <a:xfrm>
                  <a:off x="4311" y="1796"/>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a:t>N</a:t>
                  </a:r>
                </a:p>
              </p:txBody>
            </p:sp>
            <p:sp>
              <p:nvSpPr>
                <p:cNvPr id="111" name="Rectangle 75">
                  <a:extLst>
                    <a:ext uri="{FF2B5EF4-FFF2-40B4-BE49-F238E27FC236}">
                      <a16:creationId xmlns:a16="http://schemas.microsoft.com/office/drawing/2014/main" xmlns="" id="{53BF5EF9-C04F-45A2-9578-33DB1F4A431D}"/>
                    </a:ext>
                  </a:extLst>
                </p:cNvPr>
                <p:cNvSpPr>
                  <a:spLocks noChangeArrowheads="1"/>
                </p:cNvSpPr>
                <p:nvPr/>
              </p:nvSpPr>
              <p:spPr bwMode="auto">
                <a:xfrm>
                  <a:off x="4599" y="1796"/>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a:t>O</a:t>
                  </a:r>
                </a:p>
              </p:txBody>
            </p:sp>
            <p:sp>
              <p:nvSpPr>
                <p:cNvPr id="112" name="Rectangle 76">
                  <a:extLst>
                    <a:ext uri="{FF2B5EF4-FFF2-40B4-BE49-F238E27FC236}">
                      <a16:creationId xmlns:a16="http://schemas.microsoft.com/office/drawing/2014/main" xmlns="" id="{79209A75-822D-49B6-A03C-AF76BDE592EE}"/>
                    </a:ext>
                  </a:extLst>
                </p:cNvPr>
                <p:cNvSpPr>
                  <a:spLocks noChangeArrowheads="1"/>
                </p:cNvSpPr>
                <p:nvPr/>
              </p:nvSpPr>
              <p:spPr bwMode="auto">
                <a:xfrm>
                  <a:off x="4599" y="2084"/>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S</a:t>
                  </a:r>
                </a:p>
              </p:txBody>
            </p:sp>
            <p:sp>
              <p:nvSpPr>
                <p:cNvPr id="113" name="Rectangle 77">
                  <a:extLst>
                    <a:ext uri="{FF2B5EF4-FFF2-40B4-BE49-F238E27FC236}">
                      <a16:creationId xmlns:a16="http://schemas.microsoft.com/office/drawing/2014/main" xmlns="" id="{D317550D-D662-46FE-90E7-A440BE77F1E2}"/>
                    </a:ext>
                  </a:extLst>
                </p:cNvPr>
                <p:cNvSpPr>
                  <a:spLocks noChangeArrowheads="1"/>
                </p:cNvSpPr>
                <p:nvPr/>
              </p:nvSpPr>
              <p:spPr bwMode="auto">
                <a:xfrm>
                  <a:off x="4887" y="2084"/>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Cl</a:t>
                  </a:r>
                </a:p>
              </p:txBody>
            </p:sp>
            <p:sp>
              <p:nvSpPr>
                <p:cNvPr id="114" name="Rectangle 78">
                  <a:extLst>
                    <a:ext uri="{FF2B5EF4-FFF2-40B4-BE49-F238E27FC236}">
                      <a16:creationId xmlns:a16="http://schemas.microsoft.com/office/drawing/2014/main" xmlns="" id="{2C9AE4AC-591D-4CF8-990A-07D4239D6749}"/>
                    </a:ext>
                  </a:extLst>
                </p:cNvPr>
                <p:cNvSpPr>
                  <a:spLocks noChangeArrowheads="1"/>
                </p:cNvSpPr>
                <p:nvPr/>
              </p:nvSpPr>
              <p:spPr bwMode="auto">
                <a:xfrm>
                  <a:off x="4887" y="1796"/>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F</a:t>
                  </a:r>
                </a:p>
              </p:txBody>
            </p:sp>
            <p:sp>
              <p:nvSpPr>
                <p:cNvPr id="115" name="Rectangle 79">
                  <a:extLst>
                    <a:ext uri="{FF2B5EF4-FFF2-40B4-BE49-F238E27FC236}">
                      <a16:creationId xmlns:a16="http://schemas.microsoft.com/office/drawing/2014/main" xmlns="" id="{F8376040-8041-4823-BCC2-C2E6FC610F6D}"/>
                    </a:ext>
                  </a:extLst>
                </p:cNvPr>
                <p:cNvSpPr>
                  <a:spLocks noChangeArrowheads="1"/>
                </p:cNvSpPr>
                <p:nvPr/>
              </p:nvSpPr>
              <p:spPr bwMode="auto">
                <a:xfrm>
                  <a:off x="5175" y="1796"/>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Ne</a:t>
                  </a:r>
                </a:p>
              </p:txBody>
            </p:sp>
            <p:sp>
              <p:nvSpPr>
                <p:cNvPr id="116" name="Rectangle 80">
                  <a:extLst>
                    <a:ext uri="{FF2B5EF4-FFF2-40B4-BE49-F238E27FC236}">
                      <a16:creationId xmlns:a16="http://schemas.microsoft.com/office/drawing/2014/main" xmlns="" id="{39DDD54D-7F6D-49A9-83F2-8354D3271B84}"/>
                    </a:ext>
                  </a:extLst>
                </p:cNvPr>
                <p:cNvSpPr>
                  <a:spLocks noChangeArrowheads="1"/>
                </p:cNvSpPr>
                <p:nvPr/>
              </p:nvSpPr>
              <p:spPr bwMode="auto">
                <a:xfrm>
                  <a:off x="5175" y="2084"/>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err="1"/>
                    <a:t>Ar</a:t>
                  </a:r>
                  <a:endParaRPr lang="en-GB" sz="1400" dirty="0"/>
                </a:p>
              </p:txBody>
            </p:sp>
            <p:sp>
              <p:nvSpPr>
                <p:cNvPr id="117" name="Rectangle 81">
                  <a:extLst>
                    <a:ext uri="{FF2B5EF4-FFF2-40B4-BE49-F238E27FC236}">
                      <a16:creationId xmlns:a16="http://schemas.microsoft.com/office/drawing/2014/main" xmlns="" id="{D2B263EE-B596-4B88-BC83-B66F4695FB9B}"/>
                    </a:ext>
                  </a:extLst>
                </p:cNvPr>
                <p:cNvSpPr>
                  <a:spLocks noChangeArrowheads="1"/>
                </p:cNvSpPr>
                <p:nvPr/>
              </p:nvSpPr>
              <p:spPr bwMode="auto">
                <a:xfrm>
                  <a:off x="5175" y="2948"/>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Rn</a:t>
                  </a:r>
                </a:p>
              </p:txBody>
            </p:sp>
            <p:sp>
              <p:nvSpPr>
                <p:cNvPr id="118" name="Rectangle 82">
                  <a:extLst>
                    <a:ext uri="{FF2B5EF4-FFF2-40B4-BE49-F238E27FC236}">
                      <a16:creationId xmlns:a16="http://schemas.microsoft.com/office/drawing/2014/main" xmlns="" id="{9D5A79B9-FD23-43B1-B1AD-7A168197656A}"/>
                    </a:ext>
                  </a:extLst>
                </p:cNvPr>
                <p:cNvSpPr>
                  <a:spLocks noChangeArrowheads="1"/>
                </p:cNvSpPr>
                <p:nvPr/>
              </p:nvSpPr>
              <p:spPr bwMode="auto">
                <a:xfrm>
                  <a:off x="4887" y="2660"/>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I</a:t>
                  </a:r>
                </a:p>
              </p:txBody>
            </p:sp>
            <p:sp>
              <p:nvSpPr>
                <p:cNvPr id="119" name="Rectangle 83">
                  <a:extLst>
                    <a:ext uri="{FF2B5EF4-FFF2-40B4-BE49-F238E27FC236}">
                      <a16:creationId xmlns:a16="http://schemas.microsoft.com/office/drawing/2014/main" xmlns="" id="{C7B2232C-D784-4E1C-A915-02CDCCAADDB8}"/>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120" name="Rectangle 84">
                  <a:extLst>
                    <a:ext uri="{FF2B5EF4-FFF2-40B4-BE49-F238E27FC236}">
                      <a16:creationId xmlns:a16="http://schemas.microsoft.com/office/drawing/2014/main" xmlns="" id="{35674455-2543-4ADB-8F17-B657540AE0F1}"/>
                    </a:ext>
                  </a:extLst>
                </p:cNvPr>
                <p:cNvSpPr>
                  <a:spLocks noChangeArrowheads="1"/>
                </p:cNvSpPr>
                <p:nvPr/>
              </p:nvSpPr>
              <p:spPr bwMode="auto">
                <a:xfrm>
                  <a:off x="5175" y="2660"/>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err="1"/>
                    <a:t>Xe</a:t>
                  </a:r>
                  <a:endParaRPr lang="en-GB" sz="1400" dirty="0"/>
                </a:p>
              </p:txBody>
            </p:sp>
            <p:sp>
              <p:nvSpPr>
                <p:cNvPr id="121" name="Rectangle 85">
                  <a:extLst>
                    <a:ext uri="{FF2B5EF4-FFF2-40B4-BE49-F238E27FC236}">
                      <a16:creationId xmlns:a16="http://schemas.microsoft.com/office/drawing/2014/main" xmlns="" id="{99D877E7-6C46-4548-853C-5074522699F7}"/>
                    </a:ext>
                  </a:extLst>
                </p:cNvPr>
                <p:cNvSpPr>
                  <a:spLocks noChangeArrowheads="1"/>
                </p:cNvSpPr>
                <p:nvPr/>
              </p:nvSpPr>
              <p:spPr bwMode="auto">
                <a:xfrm>
                  <a:off x="5175" y="1508"/>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dirty="0"/>
                    <a:t>He</a:t>
                  </a:r>
                </a:p>
              </p:txBody>
            </p:sp>
            <p:sp>
              <p:nvSpPr>
                <p:cNvPr id="122" name="Rectangle 86">
                  <a:extLst>
                    <a:ext uri="{FF2B5EF4-FFF2-40B4-BE49-F238E27FC236}">
                      <a16:creationId xmlns:a16="http://schemas.microsoft.com/office/drawing/2014/main" xmlns="" id="{9FF74BAF-A633-4E77-8F59-2660CD1ED940}"/>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123" name="Rectangle 87">
                  <a:extLst>
                    <a:ext uri="{FF2B5EF4-FFF2-40B4-BE49-F238E27FC236}">
                      <a16:creationId xmlns:a16="http://schemas.microsoft.com/office/drawing/2014/main" xmlns="" id="{AF541F12-D2AA-4138-8872-EAAFB281537A}"/>
                    </a:ext>
                  </a:extLst>
                </p:cNvPr>
                <p:cNvSpPr>
                  <a:spLocks noChangeArrowheads="1"/>
                </p:cNvSpPr>
                <p:nvPr/>
              </p:nvSpPr>
              <p:spPr bwMode="auto">
                <a:xfrm>
                  <a:off x="4023" y="1796"/>
                  <a:ext cx="288" cy="288"/>
                </a:xfrm>
                <a:prstGeom prst="rect">
                  <a:avLst/>
                </a:pr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r>
                    <a:rPr lang="en-GB" sz="1400"/>
                    <a:t>C</a:t>
                  </a:r>
                </a:p>
              </p:txBody>
            </p:sp>
            <p:sp>
              <p:nvSpPr>
                <p:cNvPr id="124" name="Rectangle 88">
                  <a:extLst>
                    <a:ext uri="{FF2B5EF4-FFF2-40B4-BE49-F238E27FC236}">
                      <a16:creationId xmlns:a16="http://schemas.microsoft.com/office/drawing/2014/main" xmlns="" id="{6EB5810E-7FCA-4C10-96DB-D22F3B57D37F}"/>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125" name="Line 89">
                  <a:extLst>
                    <a:ext uri="{FF2B5EF4-FFF2-40B4-BE49-F238E27FC236}">
                      <a16:creationId xmlns:a16="http://schemas.microsoft.com/office/drawing/2014/main" xmlns="" id="{21752450-E268-4695-A91D-36787FE17F6A}"/>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26" name="Line 90">
                  <a:extLst>
                    <a:ext uri="{FF2B5EF4-FFF2-40B4-BE49-F238E27FC236}">
                      <a16:creationId xmlns:a16="http://schemas.microsoft.com/office/drawing/2014/main" xmlns="" id="{E253D80E-C399-432E-A124-77C5F2F8176A}"/>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27" name="Line 91">
                  <a:extLst>
                    <a:ext uri="{FF2B5EF4-FFF2-40B4-BE49-F238E27FC236}">
                      <a16:creationId xmlns:a16="http://schemas.microsoft.com/office/drawing/2014/main" xmlns="" id="{BBAC87F5-CBDE-477C-8CB2-69969796FF6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28" name="Line 92">
                  <a:extLst>
                    <a:ext uri="{FF2B5EF4-FFF2-40B4-BE49-F238E27FC236}">
                      <a16:creationId xmlns:a16="http://schemas.microsoft.com/office/drawing/2014/main" xmlns="" id="{7FEFA856-EC21-42FF-9355-8B3BC100AE50}"/>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29" name="Line 93">
                  <a:extLst>
                    <a:ext uri="{FF2B5EF4-FFF2-40B4-BE49-F238E27FC236}">
                      <a16:creationId xmlns:a16="http://schemas.microsoft.com/office/drawing/2014/main" xmlns="" id="{C1AB43F8-5389-4939-9E7A-1C094201EF70}"/>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30" name="Line 94">
                  <a:extLst>
                    <a:ext uri="{FF2B5EF4-FFF2-40B4-BE49-F238E27FC236}">
                      <a16:creationId xmlns:a16="http://schemas.microsoft.com/office/drawing/2014/main" xmlns="" id="{61AAF764-A382-4613-94EC-5B4A88F54803}"/>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31" name="Line 95">
                  <a:extLst>
                    <a:ext uri="{FF2B5EF4-FFF2-40B4-BE49-F238E27FC236}">
                      <a16:creationId xmlns:a16="http://schemas.microsoft.com/office/drawing/2014/main" xmlns="" id="{1CECC3CB-E8CC-4D7A-AB19-748A94A658F2}"/>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32" name="Line 96">
                  <a:extLst>
                    <a:ext uri="{FF2B5EF4-FFF2-40B4-BE49-F238E27FC236}">
                      <a16:creationId xmlns:a16="http://schemas.microsoft.com/office/drawing/2014/main" xmlns="" id="{8D66D095-9150-4A55-BF69-9240E0F6EC1D}"/>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33" name="Line 97">
                  <a:extLst>
                    <a:ext uri="{FF2B5EF4-FFF2-40B4-BE49-F238E27FC236}">
                      <a16:creationId xmlns:a16="http://schemas.microsoft.com/office/drawing/2014/main" xmlns="" id="{0126B852-4ED5-42E0-B5BE-AE090E8452B7}"/>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34" name="Line 98">
                  <a:extLst>
                    <a:ext uri="{FF2B5EF4-FFF2-40B4-BE49-F238E27FC236}">
                      <a16:creationId xmlns:a16="http://schemas.microsoft.com/office/drawing/2014/main" xmlns="" id="{418E7713-2DCC-482B-AE9B-A5CACC14A315}"/>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33" name="TextBox 32">
                <a:extLst>
                  <a:ext uri="{FF2B5EF4-FFF2-40B4-BE49-F238E27FC236}">
                    <a16:creationId xmlns:a16="http://schemas.microsoft.com/office/drawing/2014/main" xmlns="" id="{FDF8E8A5-A1E4-4ACA-86F9-C22F09C9B61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34" name="TextBox 33">
                <a:extLst>
                  <a:ext uri="{FF2B5EF4-FFF2-40B4-BE49-F238E27FC236}">
                    <a16:creationId xmlns:a16="http://schemas.microsoft.com/office/drawing/2014/main" xmlns="" id="{946B5E8B-9335-43FC-AD1A-0A4F49E3EF3A}"/>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35" name="TextBox 34">
                <a:extLst>
                  <a:ext uri="{FF2B5EF4-FFF2-40B4-BE49-F238E27FC236}">
                    <a16:creationId xmlns:a16="http://schemas.microsoft.com/office/drawing/2014/main" xmlns="" id="{7ED48B56-D19D-455F-A423-BC63A3CBB84B}"/>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36" name="TextBox 35">
                <a:extLst>
                  <a:ext uri="{FF2B5EF4-FFF2-40B4-BE49-F238E27FC236}">
                    <a16:creationId xmlns:a16="http://schemas.microsoft.com/office/drawing/2014/main" xmlns="" id="{974114C5-F7C6-40BA-ADD8-1272B200B325}"/>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37" name="TextBox 36">
                <a:extLst>
                  <a:ext uri="{FF2B5EF4-FFF2-40B4-BE49-F238E27FC236}">
                    <a16:creationId xmlns:a16="http://schemas.microsoft.com/office/drawing/2014/main" xmlns="" id="{45F6912C-7CB5-427B-8CDC-9F387F342955}"/>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38" name="TextBox 37">
                <a:extLst>
                  <a:ext uri="{FF2B5EF4-FFF2-40B4-BE49-F238E27FC236}">
                    <a16:creationId xmlns:a16="http://schemas.microsoft.com/office/drawing/2014/main" xmlns="" id="{EBAFB779-D5E1-480A-8EAB-BDD01E5C87CF}"/>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39" name="TextBox 38">
                <a:extLst>
                  <a:ext uri="{FF2B5EF4-FFF2-40B4-BE49-F238E27FC236}">
                    <a16:creationId xmlns:a16="http://schemas.microsoft.com/office/drawing/2014/main" xmlns="" id="{B4B3AC8D-5643-403A-9F4D-02B8F89D5BE7}"/>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40" name="TextBox 39">
                <a:extLst>
                  <a:ext uri="{FF2B5EF4-FFF2-40B4-BE49-F238E27FC236}">
                    <a16:creationId xmlns:a16="http://schemas.microsoft.com/office/drawing/2014/main" xmlns="" id="{FA1E64EA-E976-4919-84E3-2DBA670312C5}"/>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23" name="Straight Connector 22">
              <a:extLst>
                <a:ext uri="{FF2B5EF4-FFF2-40B4-BE49-F238E27FC236}">
                  <a16:creationId xmlns:a16="http://schemas.microsoft.com/office/drawing/2014/main" xmlns="" id="{2D79E1F6-139D-41C6-9239-6701BE4FAD24}"/>
                </a:ext>
              </a:extLst>
            </p:cNvPr>
            <p:cNvCxnSpPr>
              <a:endCxn id="127"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8A68E19D-2B2C-4C92-B82B-EBD883F68A46}"/>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1BA8D40E-93D9-43D2-8612-0E88C9DB9096}"/>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E4D050F9-606F-4A81-9305-98D172FC40AE}"/>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2634697A-F7D7-4ABE-9521-AF49F4ADC2DD}"/>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C97A1A57-EB0E-4077-B2DC-782053AE39EC}"/>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xmlns="" id="{81EE9B04-5622-44F7-B4DD-5D665881492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7CE168B6-B532-4ACE-9395-C35E3F5C6714}"/>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C85F11EA-095F-49AA-822A-40F5237C7373}"/>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5" name="Straight Arrow Connector 134"/>
          <p:cNvCxnSpPr>
            <a:endCxn id="93" idx="2"/>
          </p:cNvCxnSpPr>
          <p:nvPr/>
        </p:nvCxnSpPr>
        <p:spPr>
          <a:xfrm flipH="1" flipV="1">
            <a:off x="4688534" y="3246481"/>
            <a:ext cx="1008310" cy="16300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6" name="TextBox 135">
            <a:extLst>
              <a:ext uri="{FF2B5EF4-FFF2-40B4-BE49-F238E27FC236}">
                <a16:creationId xmlns:a16="http://schemas.microsoft.com/office/drawing/2014/main" xmlns="" id="{AFF58D8F-580D-4EBC-B1E5-7CBA451EFDE1}"/>
              </a:ext>
            </a:extLst>
          </p:cNvPr>
          <p:cNvSpPr txBox="1"/>
          <p:nvPr/>
        </p:nvSpPr>
        <p:spPr>
          <a:xfrm>
            <a:off x="5696843" y="3039546"/>
            <a:ext cx="3267275" cy="101566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smtClean="0"/>
              <a:t>Non metals – found towards the right and towards the top of the periodic table</a:t>
            </a:r>
          </a:p>
        </p:txBody>
      </p:sp>
      <p:cxnSp>
        <p:nvCxnSpPr>
          <p:cNvPr id="137" name="Straight Arrow Connector 136"/>
          <p:cNvCxnSpPr>
            <a:stCxn id="136" idx="1"/>
          </p:cNvCxnSpPr>
          <p:nvPr/>
        </p:nvCxnSpPr>
        <p:spPr>
          <a:xfrm flipH="1" flipV="1">
            <a:off x="5179837" y="2756461"/>
            <a:ext cx="517006" cy="7909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1267" name="Table 11266"/>
          <p:cNvGraphicFramePr>
            <a:graphicFrameLocks noGrp="1"/>
          </p:cNvGraphicFramePr>
          <p:nvPr>
            <p:extLst>
              <p:ext uri="{D42A27DB-BD31-4B8C-83A1-F6EECF244321}">
                <p14:modId xmlns:p14="http://schemas.microsoft.com/office/powerpoint/2010/main" val="1337409037"/>
              </p:ext>
            </p:extLst>
          </p:nvPr>
        </p:nvGraphicFramePr>
        <p:xfrm>
          <a:off x="122658" y="3961489"/>
          <a:ext cx="4713264" cy="2316480"/>
        </p:xfrm>
        <a:graphic>
          <a:graphicData uri="http://schemas.openxmlformats.org/drawingml/2006/table">
            <a:tbl>
              <a:tblPr firstRow="1" bandRow="1">
                <a:tableStyleId>{10A1B5D5-9B99-4C35-A422-299274C87663}</a:tableStyleId>
              </a:tblPr>
              <a:tblGrid>
                <a:gridCol w="2356632"/>
                <a:gridCol w="2356632"/>
              </a:tblGrid>
              <a:tr h="370840">
                <a:tc>
                  <a:txBody>
                    <a:bodyPr/>
                    <a:lstStyle/>
                    <a:p>
                      <a:pPr algn="ctr"/>
                      <a:r>
                        <a:rPr lang="en-GB" sz="2000" dirty="0" smtClean="0"/>
                        <a:t>Metals</a:t>
                      </a:r>
                      <a:endParaRPr lang="en-GB"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smtClean="0"/>
                        <a:t>Non-metals</a:t>
                      </a:r>
                      <a:endParaRPr lang="en-GB"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l"/>
                      <a:r>
                        <a:rPr lang="en-GB" sz="2000" dirty="0" smtClean="0"/>
                        <a:t>Shiny</a:t>
                      </a:r>
                    </a:p>
                    <a:p>
                      <a:pPr algn="l"/>
                      <a:r>
                        <a:rPr lang="en-GB" sz="2000" dirty="0" smtClean="0"/>
                        <a:t>Mostly solid</a:t>
                      </a:r>
                    </a:p>
                    <a:p>
                      <a:pPr algn="l"/>
                      <a:r>
                        <a:rPr lang="en-GB" sz="2000" dirty="0" smtClean="0"/>
                        <a:t>Dense and strong</a:t>
                      </a:r>
                    </a:p>
                    <a:p>
                      <a:pPr algn="l"/>
                      <a:r>
                        <a:rPr lang="en-GB" sz="2000" dirty="0" smtClean="0"/>
                        <a:t>Malleable</a:t>
                      </a:r>
                    </a:p>
                    <a:p>
                      <a:pPr algn="l"/>
                      <a:r>
                        <a:rPr lang="en-GB" sz="2000" dirty="0" smtClean="0"/>
                        <a:t>Good</a:t>
                      </a:r>
                      <a:r>
                        <a:rPr lang="en-GB" sz="2000" baseline="0" dirty="0" smtClean="0"/>
                        <a:t> heat and electrical conductors</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sz="2000" dirty="0" smtClean="0"/>
                        <a:t>Dull</a:t>
                      </a:r>
                    </a:p>
                    <a:p>
                      <a:pPr algn="l"/>
                      <a:r>
                        <a:rPr lang="en-GB" sz="2000" dirty="0" smtClean="0"/>
                        <a:t>Low</a:t>
                      </a:r>
                      <a:r>
                        <a:rPr lang="en-GB" sz="2000" baseline="0" dirty="0" smtClean="0"/>
                        <a:t> density</a:t>
                      </a:r>
                    </a:p>
                    <a:p>
                      <a:pPr algn="l"/>
                      <a:r>
                        <a:rPr lang="en-GB" sz="2000" baseline="0" dirty="0" smtClean="0"/>
                        <a:t>Weak</a:t>
                      </a:r>
                    </a:p>
                    <a:p>
                      <a:pPr algn="l"/>
                      <a:r>
                        <a:rPr lang="en-GB" sz="2000" baseline="0" dirty="0" smtClean="0"/>
                        <a:t>Brittle</a:t>
                      </a:r>
                    </a:p>
                    <a:p>
                      <a:pPr algn="l"/>
                      <a:r>
                        <a:rPr lang="en-GB" sz="2000" baseline="0" dirty="0" smtClean="0"/>
                        <a:t>Poor heat and electrical conductors</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305811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32453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periodic table</a:t>
            </a:r>
          </a:p>
          <a:p>
            <a:pPr marL="685800" lvl="1" indent="-342900">
              <a:buFont typeface="Arial" charset="0"/>
              <a:buChar char="•"/>
            </a:pPr>
            <a:r>
              <a:rPr lang="en-US" sz="2400" b="1" dirty="0">
                <a:solidFill>
                  <a:schemeClr val="bg1">
                    <a:lumMod val="50000"/>
                  </a:schemeClr>
                </a:solidFill>
              </a:rPr>
              <a:t>Development of the periodic table</a:t>
            </a:r>
          </a:p>
          <a:p>
            <a:pPr marL="685800" lvl="1" indent="-342900">
              <a:buFont typeface="Arial" charset="0"/>
              <a:buChar char="•"/>
            </a:pPr>
            <a:r>
              <a:rPr lang="en-US" sz="2400" b="1" dirty="0">
                <a:solidFill>
                  <a:schemeClr val="bg1">
                    <a:lumMod val="50000"/>
                  </a:schemeClr>
                </a:solidFill>
              </a:rPr>
              <a:t>Metals and non-metals</a:t>
            </a:r>
            <a:endParaRPr lang="en-GB" sz="2400" dirty="0"/>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771820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lnSpc>
                <a:spcPct val="250000"/>
              </a:lnSpc>
              <a:buAutoNum type="arabicPeriod"/>
            </a:pPr>
            <a:r>
              <a:rPr lang="en-GB" sz="2400" dirty="0" smtClean="0"/>
              <a:t>How are elements arranged in the periodic table?</a:t>
            </a:r>
          </a:p>
          <a:p>
            <a:pPr marL="457200" indent="-457200">
              <a:lnSpc>
                <a:spcPct val="250000"/>
              </a:lnSpc>
              <a:buAutoNum type="arabicPeriod"/>
            </a:pPr>
            <a:r>
              <a:rPr lang="en-GB" sz="2400" dirty="0" smtClean="0"/>
              <a:t>What are the columns of the periodic table called?</a:t>
            </a:r>
          </a:p>
          <a:p>
            <a:pPr marL="457200" indent="-457200">
              <a:lnSpc>
                <a:spcPct val="250000"/>
              </a:lnSpc>
              <a:buAutoNum type="arabicPeriod"/>
            </a:pPr>
            <a:r>
              <a:rPr lang="en-GB" sz="2400" dirty="0" smtClean="0"/>
              <a:t>What are the rows of a periodic table called?</a:t>
            </a:r>
          </a:p>
          <a:p>
            <a:pPr marL="457200" indent="-457200">
              <a:lnSpc>
                <a:spcPct val="250000"/>
              </a:lnSpc>
              <a:buAutoNum type="arabicPeriod"/>
            </a:pPr>
            <a:r>
              <a:rPr lang="en-GB" sz="2400" dirty="0" smtClean="0"/>
              <a:t>What does the column an element is in tell you about the atoms?</a:t>
            </a:r>
          </a:p>
          <a:p>
            <a:pPr marL="457200" indent="-457200">
              <a:lnSpc>
                <a:spcPct val="250000"/>
              </a:lnSpc>
              <a:buFontTx/>
              <a:buAutoNum type="arabicPeriod"/>
            </a:pPr>
            <a:r>
              <a:rPr lang="en-GB" sz="2400" dirty="0"/>
              <a:t>What does the </a:t>
            </a:r>
            <a:r>
              <a:rPr lang="en-GB" sz="2400" dirty="0" smtClean="0"/>
              <a:t>row </a:t>
            </a:r>
            <a:r>
              <a:rPr lang="en-GB" sz="2400" dirty="0"/>
              <a:t>an element is in tell you about the atoms</a:t>
            </a:r>
            <a:r>
              <a:rPr lang="en-GB" sz="2400" dirty="0" smtClean="0"/>
              <a:t>?</a:t>
            </a:r>
          </a:p>
          <a:p>
            <a:pPr marL="457200" indent="-457200">
              <a:lnSpc>
                <a:spcPct val="250000"/>
              </a:lnSpc>
              <a:buFontTx/>
              <a:buAutoNum type="arabicPeriod"/>
            </a:pPr>
            <a:r>
              <a:rPr lang="en-GB" sz="2400" dirty="0" smtClean="0"/>
              <a:t>Which side of the periodic table are the non-metals found?</a:t>
            </a:r>
          </a:p>
        </p:txBody>
      </p:sp>
    </p:spTree>
    <p:extLst>
      <p:ext uri="{BB962C8B-B14F-4D97-AF65-F5344CB8AC3E}">
        <p14:creationId xmlns:p14="http://schemas.microsoft.com/office/powerpoint/2010/main" val="18501600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374724"/>
          </a:xfrm>
          <a:prstGeom prst="rect">
            <a:avLst/>
          </a:prstGeom>
          <a:noFill/>
        </p:spPr>
        <p:txBody>
          <a:bodyPr wrap="square" rtlCol="0">
            <a:spAutoFit/>
          </a:bodyPr>
          <a:lstStyle/>
          <a:p>
            <a:pPr marL="457200" indent="-457200">
              <a:buFont typeface="+mj-lt"/>
              <a:buAutoNum type="arabicPeriod" startAt="7"/>
            </a:pPr>
            <a:r>
              <a:rPr lang="en-GB" sz="2400" dirty="0" smtClean="0"/>
              <a:t>How were elements classified before the discovery of subatomic particles?</a:t>
            </a:r>
          </a:p>
          <a:p>
            <a:pPr marL="457200" indent="-457200">
              <a:lnSpc>
                <a:spcPct val="250000"/>
              </a:lnSpc>
              <a:buFontTx/>
              <a:buAutoNum type="arabicPeriod" startAt="7"/>
            </a:pPr>
            <a:r>
              <a:rPr lang="en-GB" sz="2400" dirty="0" smtClean="0"/>
              <a:t>What was the problem with early periodic tables?</a:t>
            </a:r>
          </a:p>
          <a:p>
            <a:pPr marL="457200" indent="-457200">
              <a:lnSpc>
                <a:spcPct val="250000"/>
              </a:lnSpc>
              <a:buFontTx/>
              <a:buAutoNum type="arabicPeriod" startAt="7"/>
            </a:pPr>
            <a:r>
              <a:rPr lang="en-GB" sz="2400" dirty="0" smtClean="0"/>
              <a:t>How did Mendeleev overcome these problems?</a:t>
            </a:r>
          </a:p>
          <a:p>
            <a:pPr marL="457200" indent="-457200">
              <a:lnSpc>
                <a:spcPct val="250000"/>
              </a:lnSpc>
              <a:buFontTx/>
              <a:buAutoNum type="arabicPeriod" startAt="7"/>
            </a:pPr>
            <a:r>
              <a:rPr lang="en-GB" sz="2400" dirty="0" smtClean="0"/>
              <a:t>Why is the order based on atomic masses not always correct?</a:t>
            </a:r>
          </a:p>
          <a:p>
            <a:pPr marL="457200" indent="-457200">
              <a:lnSpc>
                <a:spcPct val="250000"/>
              </a:lnSpc>
              <a:buFontTx/>
              <a:buAutoNum type="arabicPeriod" startAt="7"/>
            </a:pPr>
            <a:r>
              <a:rPr lang="en-GB" sz="2400" dirty="0" smtClean="0"/>
              <a:t>What do we call elements that tend to form positive ions?</a:t>
            </a:r>
          </a:p>
        </p:txBody>
      </p:sp>
    </p:spTree>
    <p:extLst>
      <p:ext uri="{BB962C8B-B14F-4D97-AF65-F5344CB8AC3E}">
        <p14:creationId xmlns:p14="http://schemas.microsoft.com/office/powerpoint/2010/main" val="7338323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periodic table</a:t>
            </a:r>
          </a:p>
          <a:p>
            <a:pPr marL="685800" lvl="1" indent="-342900">
              <a:buFont typeface="Arial" charset="0"/>
              <a:buChar char="•"/>
            </a:pPr>
            <a:r>
              <a:rPr lang="en-US" sz="2400" b="1" dirty="0">
                <a:solidFill>
                  <a:schemeClr val="bg1">
                    <a:lumMod val="50000"/>
                  </a:schemeClr>
                </a:solidFill>
              </a:rPr>
              <a:t>Development of the periodic table</a:t>
            </a:r>
          </a:p>
          <a:p>
            <a:pPr marL="685800" lvl="1" indent="-342900">
              <a:buFont typeface="Arial" charset="0"/>
              <a:buChar char="•"/>
            </a:pPr>
            <a:r>
              <a:rPr lang="en-US" sz="2400" b="1" dirty="0">
                <a:solidFill>
                  <a:schemeClr val="bg1">
                    <a:lumMod val="50000"/>
                  </a:schemeClr>
                </a:solidFill>
              </a:rPr>
              <a:t>Metals and non-metals</a:t>
            </a:r>
            <a:endParaRPr lang="en-GB" sz="2400"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199179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lnSpc>
                <a:spcPct val="150000"/>
              </a:lnSpc>
              <a:buAutoNum type="arabicPeriod"/>
            </a:pPr>
            <a:r>
              <a:rPr lang="en-GB" sz="2400" dirty="0" smtClean="0"/>
              <a:t>How are elements arranged in the modern periodic table?</a:t>
            </a:r>
          </a:p>
          <a:p>
            <a:pPr lvl="1">
              <a:lnSpc>
                <a:spcPct val="150000"/>
              </a:lnSpc>
            </a:pPr>
            <a:r>
              <a:rPr lang="en-GB" sz="2400" b="1" dirty="0" smtClean="0">
                <a:solidFill>
                  <a:srgbClr val="00B050"/>
                </a:solidFill>
              </a:rPr>
              <a:t>Increasing atomic number.</a:t>
            </a:r>
            <a:endParaRPr lang="en-GB" sz="2400" dirty="0" smtClean="0"/>
          </a:p>
          <a:p>
            <a:pPr marL="457200" indent="-457200">
              <a:lnSpc>
                <a:spcPct val="150000"/>
              </a:lnSpc>
              <a:buAutoNum type="arabicPeriod"/>
            </a:pPr>
            <a:r>
              <a:rPr lang="en-GB" sz="2400" dirty="0" smtClean="0"/>
              <a:t>What are the columns of the periodic table called?</a:t>
            </a:r>
          </a:p>
          <a:p>
            <a:pPr lvl="1">
              <a:lnSpc>
                <a:spcPct val="150000"/>
              </a:lnSpc>
            </a:pPr>
            <a:r>
              <a:rPr lang="en-GB" sz="2400" b="1" dirty="0" smtClean="0">
                <a:solidFill>
                  <a:srgbClr val="00B050"/>
                </a:solidFill>
              </a:rPr>
              <a:t>Groups.</a:t>
            </a:r>
            <a:endParaRPr lang="en-GB" sz="2400" dirty="0" smtClean="0"/>
          </a:p>
          <a:p>
            <a:pPr marL="457200" indent="-457200">
              <a:lnSpc>
                <a:spcPct val="150000"/>
              </a:lnSpc>
              <a:buAutoNum type="arabicPeriod"/>
            </a:pPr>
            <a:r>
              <a:rPr lang="en-GB" sz="2400" dirty="0" smtClean="0"/>
              <a:t>What are the rows of a periodic table called?</a:t>
            </a:r>
          </a:p>
          <a:p>
            <a:pPr lvl="1">
              <a:lnSpc>
                <a:spcPct val="150000"/>
              </a:lnSpc>
            </a:pPr>
            <a:r>
              <a:rPr lang="en-GB" sz="2400" b="1" dirty="0" smtClean="0">
                <a:solidFill>
                  <a:srgbClr val="00B050"/>
                </a:solidFill>
              </a:rPr>
              <a:t>Periods.</a:t>
            </a:r>
            <a:endParaRPr lang="en-GB" sz="2400" dirty="0" smtClean="0"/>
          </a:p>
          <a:p>
            <a:pPr marL="457200" indent="-457200">
              <a:lnSpc>
                <a:spcPct val="150000"/>
              </a:lnSpc>
              <a:buAutoNum type="arabicPeriod"/>
            </a:pPr>
            <a:r>
              <a:rPr lang="en-GB" sz="2400" dirty="0" smtClean="0"/>
              <a:t>What does the column an element is in tell you about the atoms?</a:t>
            </a:r>
          </a:p>
          <a:p>
            <a:pPr lvl="1">
              <a:lnSpc>
                <a:spcPct val="150000"/>
              </a:lnSpc>
            </a:pPr>
            <a:r>
              <a:rPr lang="en-GB" sz="2400" b="1" dirty="0" smtClean="0">
                <a:solidFill>
                  <a:srgbClr val="00B050"/>
                </a:solidFill>
              </a:rPr>
              <a:t>Number of electrons in outer shell.</a:t>
            </a:r>
            <a:endParaRPr lang="en-GB" sz="2400" dirty="0" smtClean="0"/>
          </a:p>
          <a:p>
            <a:pPr marL="457200" indent="-457200">
              <a:lnSpc>
                <a:spcPct val="150000"/>
              </a:lnSpc>
              <a:buFontTx/>
              <a:buAutoNum type="arabicPeriod"/>
            </a:pPr>
            <a:r>
              <a:rPr lang="en-GB" sz="2400" dirty="0"/>
              <a:t>What does the </a:t>
            </a:r>
            <a:r>
              <a:rPr lang="en-GB" sz="2400" dirty="0" smtClean="0"/>
              <a:t>row </a:t>
            </a:r>
            <a:r>
              <a:rPr lang="en-GB" sz="2400" dirty="0"/>
              <a:t>an element is in tell you about the atoms</a:t>
            </a:r>
            <a:r>
              <a:rPr lang="en-GB" sz="2400" dirty="0" smtClean="0"/>
              <a:t>?</a:t>
            </a:r>
          </a:p>
          <a:p>
            <a:pPr lvl="1">
              <a:lnSpc>
                <a:spcPct val="150000"/>
              </a:lnSpc>
            </a:pPr>
            <a:r>
              <a:rPr lang="en-GB" sz="2400" b="1" dirty="0" smtClean="0">
                <a:solidFill>
                  <a:srgbClr val="00B050"/>
                </a:solidFill>
              </a:rPr>
              <a:t>Number of electron shells.</a:t>
            </a:r>
            <a:endParaRPr lang="en-GB" sz="2400" dirty="0" smtClean="0"/>
          </a:p>
        </p:txBody>
      </p:sp>
    </p:spTree>
    <p:extLst>
      <p:ext uri="{BB962C8B-B14F-4D97-AF65-F5344CB8AC3E}">
        <p14:creationId xmlns:p14="http://schemas.microsoft.com/office/powerpoint/2010/main" val="14015315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78313"/>
          </a:xfrm>
          <a:prstGeom prst="rect">
            <a:avLst/>
          </a:prstGeom>
          <a:noFill/>
        </p:spPr>
        <p:txBody>
          <a:bodyPr wrap="square" rtlCol="0">
            <a:spAutoFit/>
          </a:bodyPr>
          <a:lstStyle/>
          <a:p>
            <a:pPr marL="457200" indent="-457200">
              <a:lnSpc>
                <a:spcPct val="150000"/>
              </a:lnSpc>
              <a:buFont typeface="+mj-lt"/>
              <a:buAutoNum type="arabicPeriod" startAt="6"/>
            </a:pPr>
            <a:r>
              <a:rPr lang="en-GB" sz="2400" dirty="0"/>
              <a:t>Which side of the periodic table are the non-metals found?</a:t>
            </a:r>
          </a:p>
          <a:p>
            <a:pPr lvl="1">
              <a:lnSpc>
                <a:spcPct val="150000"/>
              </a:lnSpc>
            </a:pPr>
            <a:r>
              <a:rPr lang="en-GB" sz="2400" b="1" dirty="0">
                <a:solidFill>
                  <a:srgbClr val="00B050"/>
                </a:solidFill>
              </a:rPr>
              <a:t>Right and </a:t>
            </a:r>
            <a:r>
              <a:rPr lang="en-GB" sz="2400" b="1" dirty="0" smtClean="0">
                <a:solidFill>
                  <a:srgbClr val="00B050"/>
                </a:solidFill>
              </a:rPr>
              <a:t>top.</a:t>
            </a:r>
            <a:endParaRPr lang="en-GB" sz="2400" dirty="0"/>
          </a:p>
          <a:p>
            <a:pPr marL="457200" indent="-457200">
              <a:buFont typeface="+mj-lt"/>
              <a:buAutoNum type="arabicPeriod" startAt="7"/>
            </a:pPr>
            <a:r>
              <a:rPr lang="en-GB" sz="2400" dirty="0" smtClean="0"/>
              <a:t>How were elements classified before the discovery of subatomic particles?</a:t>
            </a:r>
          </a:p>
          <a:p>
            <a:pPr lvl="1"/>
            <a:r>
              <a:rPr lang="en-GB" sz="2400" b="1" dirty="0" smtClean="0">
                <a:solidFill>
                  <a:srgbClr val="00B050"/>
                </a:solidFill>
              </a:rPr>
              <a:t>Arranging in order of their atomic weights.</a:t>
            </a:r>
            <a:endParaRPr lang="en-GB" sz="2400" dirty="0" smtClean="0"/>
          </a:p>
          <a:p>
            <a:pPr marL="457200" indent="-457200">
              <a:lnSpc>
                <a:spcPct val="150000"/>
              </a:lnSpc>
              <a:buFontTx/>
              <a:buAutoNum type="arabicPeriod" startAt="7"/>
            </a:pPr>
            <a:r>
              <a:rPr lang="en-GB" sz="2400" dirty="0" smtClean="0"/>
              <a:t>What was the problem with early periodic tables?</a:t>
            </a:r>
          </a:p>
          <a:p>
            <a:pPr lvl="1">
              <a:lnSpc>
                <a:spcPct val="150000"/>
              </a:lnSpc>
            </a:pPr>
            <a:r>
              <a:rPr lang="en-GB" sz="2400" b="1" dirty="0" smtClean="0">
                <a:solidFill>
                  <a:srgbClr val="00B050"/>
                </a:solidFill>
              </a:rPr>
              <a:t>Incomplete; some elements placed in inappropriate groups.</a:t>
            </a:r>
            <a:endParaRPr lang="en-GB" sz="2400" dirty="0" smtClean="0"/>
          </a:p>
          <a:p>
            <a:pPr marL="457200" indent="-457200">
              <a:lnSpc>
                <a:spcPct val="150000"/>
              </a:lnSpc>
              <a:buFontTx/>
              <a:buAutoNum type="arabicPeriod" startAt="7"/>
            </a:pPr>
            <a:r>
              <a:rPr lang="en-GB" sz="2400" dirty="0" smtClean="0"/>
              <a:t>How did Mendeleev overcome these problems?</a:t>
            </a:r>
          </a:p>
          <a:p>
            <a:pPr lvl="1"/>
            <a:r>
              <a:rPr lang="en-GB" sz="2400" b="1" dirty="0" smtClean="0">
                <a:solidFill>
                  <a:srgbClr val="00B050"/>
                </a:solidFill>
              </a:rPr>
              <a:t>Left gaps for elements he thought had not yet been discovered; changed the order based on atomic weights for some elements if they did not fit the pattern.</a:t>
            </a:r>
            <a:endParaRPr lang="en-GB" sz="2400" dirty="0" smtClean="0"/>
          </a:p>
        </p:txBody>
      </p:sp>
    </p:spTree>
    <p:extLst>
      <p:ext uri="{BB962C8B-B14F-4D97-AF65-F5344CB8AC3E}">
        <p14:creationId xmlns:p14="http://schemas.microsoft.com/office/powerpoint/2010/main" val="18990493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524042"/>
          </a:xfrm>
          <a:prstGeom prst="rect">
            <a:avLst/>
          </a:prstGeom>
          <a:noFill/>
        </p:spPr>
        <p:txBody>
          <a:bodyPr wrap="square" rtlCol="0">
            <a:spAutoFit/>
          </a:bodyPr>
          <a:lstStyle/>
          <a:p>
            <a:pPr marL="457200" indent="-457200">
              <a:lnSpc>
                <a:spcPct val="150000"/>
              </a:lnSpc>
              <a:buFont typeface="+mj-lt"/>
              <a:buAutoNum type="arabicPeriod" startAt="10"/>
            </a:pPr>
            <a:r>
              <a:rPr lang="en-GB" sz="2400" dirty="0"/>
              <a:t>Why is the order based on atomic masses not always correct?</a:t>
            </a:r>
          </a:p>
          <a:p>
            <a:pPr lvl="1">
              <a:lnSpc>
                <a:spcPct val="150000"/>
              </a:lnSpc>
            </a:pPr>
            <a:r>
              <a:rPr lang="en-GB" sz="2400" b="1" dirty="0">
                <a:solidFill>
                  <a:srgbClr val="00B050"/>
                </a:solidFill>
              </a:rPr>
              <a:t>The presence of </a:t>
            </a:r>
            <a:r>
              <a:rPr lang="en-GB" sz="2400" b="1" dirty="0" smtClean="0">
                <a:solidFill>
                  <a:srgbClr val="00B050"/>
                </a:solidFill>
              </a:rPr>
              <a:t>isotopes.</a:t>
            </a:r>
            <a:endParaRPr lang="en-GB" sz="2400" dirty="0"/>
          </a:p>
          <a:p>
            <a:pPr marL="457200" indent="-457200">
              <a:lnSpc>
                <a:spcPct val="150000"/>
              </a:lnSpc>
              <a:buFontTx/>
              <a:buAutoNum type="arabicPeriod" startAt="10"/>
            </a:pPr>
            <a:r>
              <a:rPr lang="en-GB" sz="2400" dirty="0"/>
              <a:t>What do we call elements that tend to form positive ions?</a:t>
            </a:r>
          </a:p>
          <a:p>
            <a:pPr lvl="1">
              <a:lnSpc>
                <a:spcPct val="150000"/>
              </a:lnSpc>
            </a:pPr>
            <a:r>
              <a:rPr lang="en-GB" sz="2400" b="1" dirty="0" smtClean="0">
                <a:solidFill>
                  <a:srgbClr val="00B050"/>
                </a:solidFill>
              </a:rPr>
              <a:t>Metals.</a:t>
            </a:r>
            <a:endParaRPr lang="en-GB" sz="2400" dirty="0"/>
          </a:p>
          <a:p>
            <a:pPr marL="457200" indent="-457200">
              <a:lnSpc>
                <a:spcPct val="150000"/>
              </a:lnSpc>
              <a:buAutoNum type="arabicPeriod"/>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6282880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486287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Group 0, </a:t>
            </a:r>
            <a:r>
              <a:rPr lang="en-US" sz="2400" b="1" dirty="0" smtClean="0">
                <a:solidFill>
                  <a:schemeClr val="bg1">
                    <a:lumMod val="50000"/>
                  </a:schemeClr>
                </a:solidFill>
              </a:rPr>
              <a:t>Group </a:t>
            </a:r>
            <a:r>
              <a:rPr lang="en-US" sz="2400" b="1" dirty="0">
                <a:solidFill>
                  <a:schemeClr val="bg1">
                    <a:lumMod val="50000"/>
                  </a:schemeClr>
                </a:solidFill>
              </a:rPr>
              <a:t>1 </a:t>
            </a:r>
            <a:endParaRPr lang="en-US" sz="2400" b="1" dirty="0" smtClean="0">
              <a:solidFill>
                <a:schemeClr val="bg1">
                  <a:lumMod val="50000"/>
                </a:schemeClr>
              </a:solidFill>
            </a:endParaRPr>
          </a:p>
          <a:p>
            <a:pPr marL="342900" lvl="1"/>
            <a:r>
              <a:rPr lang="en-US" sz="2400" b="1" dirty="0">
                <a:solidFill>
                  <a:schemeClr val="bg1">
                    <a:lumMod val="50000"/>
                  </a:schemeClr>
                </a:solidFill>
              </a:rPr>
              <a:t>	</a:t>
            </a:r>
            <a:r>
              <a:rPr lang="en-US" sz="2400" b="1" dirty="0" smtClean="0">
                <a:solidFill>
                  <a:schemeClr val="bg1">
                    <a:lumMod val="50000"/>
                  </a:schemeClr>
                </a:solidFill>
              </a:rPr>
              <a:t>and Group </a:t>
            </a:r>
            <a:r>
              <a:rPr lang="en-US" sz="2400" b="1" dirty="0">
                <a:solidFill>
                  <a:schemeClr val="bg1">
                    <a:lumMod val="50000"/>
                  </a:schemeClr>
                </a:solidFill>
              </a:rPr>
              <a:t>7</a:t>
            </a:r>
            <a:endParaRPr lang="en-GB" dirty="0"/>
          </a:p>
        </p:txBody>
      </p:sp>
    </p:spTree>
    <p:extLst>
      <p:ext uri="{BB962C8B-B14F-4D97-AF65-F5344CB8AC3E}">
        <p14:creationId xmlns:p14="http://schemas.microsoft.com/office/powerpoint/2010/main" val="38578665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angle 133">
            <a:extLst>
              <a:ext uri="{FF2B5EF4-FFF2-40B4-BE49-F238E27FC236}">
                <a16:creationId xmlns:a16="http://schemas.microsoft.com/office/drawing/2014/main" xmlns="" id="{275979F2-98AE-4EDF-ABF7-ABBA9088970D}"/>
              </a:ext>
            </a:extLst>
          </p:cNvPr>
          <p:cNvSpPr/>
          <p:nvPr/>
        </p:nvSpPr>
        <p:spPr>
          <a:xfrm>
            <a:off x="182948" y="3371944"/>
            <a:ext cx="8714381" cy="2862322"/>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2</a:t>
            </a:r>
            <a:endParaRPr lang="en-GB" sz="2400" b="1" dirty="0">
              <a:solidFill>
                <a:schemeClr val="accent6"/>
              </a:solidFill>
            </a:endParaRPr>
          </a:p>
        </p:txBody>
      </p:sp>
      <p:grpSp>
        <p:nvGrpSpPr>
          <p:cNvPr id="5" name="Group 4">
            <a:extLst>
              <a:ext uri="{FF2B5EF4-FFF2-40B4-BE49-F238E27FC236}">
                <a16:creationId xmlns:a16="http://schemas.microsoft.com/office/drawing/2014/main" xmlns="" id="{74848C62-FBB1-4EEA-9E2C-EE68FF970869}"/>
              </a:ext>
            </a:extLst>
          </p:cNvPr>
          <p:cNvGrpSpPr/>
          <p:nvPr/>
        </p:nvGrpSpPr>
        <p:grpSpPr>
          <a:xfrm>
            <a:off x="301096" y="976483"/>
            <a:ext cx="5314846" cy="2186592"/>
            <a:chOff x="446601" y="2411007"/>
            <a:chExt cx="8243374" cy="3610282"/>
          </a:xfrm>
        </p:grpSpPr>
        <p:grpSp>
          <p:nvGrpSpPr>
            <p:cNvPr id="6" name="Group 5">
              <a:extLst>
                <a:ext uri="{FF2B5EF4-FFF2-40B4-BE49-F238E27FC236}">
                  <a16:creationId xmlns:a16="http://schemas.microsoft.com/office/drawing/2014/main" xmlns="" id="{9BE89CFF-B848-48CF-97EB-DB6E937BE75B}"/>
                </a:ext>
              </a:extLst>
            </p:cNvPr>
            <p:cNvGrpSpPr/>
            <p:nvPr/>
          </p:nvGrpSpPr>
          <p:grpSpPr>
            <a:xfrm>
              <a:off x="446601" y="2411007"/>
              <a:ext cx="8243374" cy="3610282"/>
              <a:chOff x="446601" y="2411007"/>
              <a:chExt cx="8243374" cy="3610282"/>
            </a:xfrm>
          </p:grpSpPr>
          <p:grpSp>
            <p:nvGrpSpPr>
              <p:cNvPr id="16" name="Group 4">
                <a:extLst>
                  <a:ext uri="{FF2B5EF4-FFF2-40B4-BE49-F238E27FC236}">
                    <a16:creationId xmlns:a16="http://schemas.microsoft.com/office/drawing/2014/main" xmlns="" id="{9CC73611-F149-46E6-9F34-253E20935DC7}"/>
                  </a:ext>
                </a:extLst>
              </p:cNvPr>
              <p:cNvGrpSpPr>
                <a:grpSpLocks/>
              </p:cNvGrpSpPr>
              <p:nvPr/>
            </p:nvGrpSpPr>
            <p:grpSpPr bwMode="auto">
              <a:xfrm>
                <a:off x="460375" y="2820889"/>
                <a:ext cx="8229600" cy="3200400"/>
                <a:chOff x="279" y="1508"/>
                <a:chExt cx="5184" cy="2016"/>
              </a:xfrm>
            </p:grpSpPr>
            <p:sp>
              <p:nvSpPr>
                <p:cNvPr id="25" name="Rectangle 5">
                  <a:extLst>
                    <a:ext uri="{FF2B5EF4-FFF2-40B4-BE49-F238E27FC236}">
                      <a16:creationId xmlns:a16="http://schemas.microsoft.com/office/drawing/2014/main" xmlns="" id="{A5E653F9-483D-44E8-A6E7-5FE8EBEBF6E2}"/>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26" name="Rectangle 6">
                  <a:extLst>
                    <a:ext uri="{FF2B5EF4-FFF2-40B4-BE49-F238E27FC236}">
                      <a16:creationId xmlns:a16="http://schemas.microsoft.com/office/drawing/2014/main" xmlns="" id="{51F914F5-571B-43DC-B521-761C7B0595E0}"/>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27" name="Rectangle 7">
                  <a:extLst>
                    <a:ext uri="{FF2B5EF4-FFF2-40B4-BE49-F238E27FC236}">
                      <a16:creationId xmlns:a16="http://schemas.microsoft.com/office/drawing/2014/main" xmlns="" id="{40EE3F1C-FCE1-47E9-8D0A-072E44DE0466}"/>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28" name="Rectangle 8">
                  <a:extLst>
                    <a:ext uri="{FF2B5EF4-FFF2-40B4-BE49-F238E27FC236}">
                      <a16:creationId xmlns:a16="http://schemas.microsoft.com/office/drawing/2014/main" xmlns="" id="{9FF08AF0-5A88-462D-874B-6604CE305414}"/>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29" name="Rectangle 9">
                  <a:extLst>
                    <a:ext uri="{FF2B5EF4-FFF2-40B4-BE49-F238E27FC236}">
                      <a16:creationId xmlns:a16="http://schemas.microsoft.com/office/drawing/2014/main" xmlns="" id="{859DCBBA-70DA-4033-A196-08B1B1AA4162}"/>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30" name="Rectangle 10">
                  <a:extLst>
                    <a:ext uri="{FF2B5EF4-FFF2-40B4-BE49-F238E27FC236}">
                      <a16:creationId xmlns:a16="http://schemas.microsoft.com/office/drawing/2014/main" xmlns="" id="{A32B7032-25F0-4F1F-A899-F80938782799}"/>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31" name="Rectangle 11">
                  <a:extLst>
                    <a:ext uri="{FF2B5EF4-FFF2-40B4-BE49-F238E27FC236}">
                      <a16:creationId xmlns:a16="http://schemas.microsoft.com/office/drawing/2014/main" xmlns="" id="{BA6367D4-1B9D-4D9F-A220-0BF2BC0CA848}"/>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32" name="Rectangle 12">
                  <a:extLst>
                    <a:ext uri="{FF2B5EF4-FFF2-40B4-BE49-F238E27FC236}">
                      <a16:creationId xmlns:a16="http://schemas.microsoft.com/office/drawing/2014/main" xmlns="" id="{3A56A806-0E04-4C32-8BFA-F9BF08414E10}"/>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33" name="Rectangle 13">
                  <a:extLst>
                    <a:ext uri="{FF2B5EF4-FFF2-40B4-BE49-F238E27FC236}">
                      <a16:creationId xmlns:a16="http://schemas.microsoft.com/office/drawing/2014/main" xmlns="" id="{84560938-92ED-4DA0-BDFC-80481162A554}"/>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34" name="Rectangle 14">
                  <a:extLst>
                    <a:ext uri="{FF2B5EF4-FFF2-40B4-BE49-F238E27FC236}">
                      <a16:creationId xmlns:a16="http://schemas.microsoft.com/office/drawing/2014/main" xmlns="" id="{05FF1A02-205A-4039-99F3-C2E830470DE6}"/>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35" name="Rectangle 15">
                  <a:extLst>
                    <a:ext uri="{FF2B5EF4-FFF2-40B4-BE49-F238E27FC236}">
                      <a16:creationId xmlns:a16="http://schemas.microsoft.com/office/drawing/2014/main" xmlns="" id="{D7727F25-43A5-46AF-A2AC-A0323DECB4B5}"/>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36" name="Rectangle 16">
                  <a:extLst>
                    <a:ext uri="{FF2B5EF4-FFF2-40B4-BE49-F238E27FC236}">
                      <a16:creationId xmlns:a16="http://schemas.microsoft.com/office/drawing/2014/main" xmlns="" id="{A9509520-2D5D-4D3F-B572-691C4F148AD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37" name="Rectangle 17">
                  <a:extLst>
                    <a:ext uri="{FF2B5EF4-FFF2-40B4-BE49-F238E27FC236}">
                      <a16:creationId xmlns:a16="http://schemas.microsoft.com/office/drawing/2014/main" xmlns="" id="{A4D8ECCE-9331-4C75-AA55-9CF3A11D211B}"/>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38" name="Rectangle 18">
                  <a:extLst>
                    <a:ext uri="{FF2B5EF4-FFF2-40B4-BE49-F238E27FC236}">
                      <a16:creationId xmlns:a16="http://schemas.microsoft.com/office/drawing/2014/main" xmlns="" id="{3C84F275-811F-45CE-90B8-9714128DD30B}"/>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39" name="Rectangle 19">
                  <a:extLst>
                    <a:ext uri="{FF2B5EF4-FFF2-40B4-BE49-F238E27FC236}">
                      <a16:creationId xmlns:a16="http://schemas.microsoft.com/office/drawing/2014/main" xmlns="" id="{4BCDB80C-8D2E-4502-8658-D896D401DE7D}"/>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40" name="Rectangle 20">
                  <a:extLst>
                    <a:ext uri="{FF2B5EF4-FFF2-40B4-BE49-F238E27FC236}">
                      <a16:creationId xmlns:a16="http://schemas.microsoft.com/office/drawing/2014/main" xmlns="" id="{A3D6ECF8-D713-4F05-BBF5-CD172D4AA3A6}"/>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41" name="Rectangle 21">
                  <a:extLst>
                    <a:ext uri="{FF2B5EF4-FFF2-40B4-BE49-F238E27FC236}">
                      <a16:creationId xmlns:a16="http://schemas.microsoft.com/office/drawing/2014/main" xmlns="" id="{A2C475F2-4B8E-4DAC-B7A0-55916B76EEFF}"/>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42" name="Rectangle 22">
                  <a:extLst>
                    <a:ext uri="{FF2B5EF4-FFF2-40B4-BE49-F238E27FC236}">
                      <a16:creationId xmlns:a16="http://schemas.microsoft.com/office/drawing/2014/main" xmlns="" id="{43AFCD5D-B471-4E79-8C66-A4C2B5E2FB56}"/>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43" name="Rectangle 23">
                  <a:extLst>
                    <a:ext uri="{FF2B5EF4-FFF2-40B4-BE49-F238E27FC236}">
                      <a16:creationId xmlns:a16="http://schemas.microsoft.com/office/drawing/2014/main" xmlns="" id="{FA1D7341-EE06-4A36-B5B9-4877B7ADC47B}"/>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44" name="Rectangle 24">
                  <a:extLst>
                    <a:ext uri="{FF2B5EF4-FFF2-40B4-BE49-F238E27FC236}">
                      <a16:creationId xmlns:a16="http://schemas.microsoft.com/office/drawing/2014/main" xmlns="" id="{0D8E15D5-AADA-4729-98EB-CF45169CAB4F}"/>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45" name="Rectangle 25">
                  <a:extLst>
                    <a:ext uri="{FF2B5EF4-FFF2-40B4-BE49-F238E27FC236}">
                      <a16:creationId xmlns:a16="http://schemas.microsoft.com/office/drawing/2014/main" xmlns="" id="{5682FB4B-94D0-47E4-8746-4CEB5F361520}"/>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46" name="Rectangle 26">
                  <a:extLst>
                    <a:ext uri="{FF2B5EF4-FFF2-40B4-BE49-F238E27FC236}">
                      <a16:creationId xmlns:a16="http://schemas.microsoft.com/office/drawing/2014/main" xmlns="" id="{DE064B60-1B9E-4CFF-B0FA-137DB7336CE8}"/>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47" name="Rectangle 27">
                  <a:extLst>
                    <a:ext uri="{FF2B5EF4-FFF2-40B4-BE49-F238E27FC236}">
                      <a16:creationId xmlns:a16="http://schemas.microsoft.com/office/drawing/2014/main" xmlns="" id="{B65986F2-C000-4982-864A-4F86BDA4CFFE}"/>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48" name="Rectangle 28">
                  <a:extLst>
                    <a:ext uri="{FF2B5EF4-FFF2-40B4-BE49-F238E27FC236}">
                      <a16:creationId xmlns:a16="http://schemas.microsoft.com/office/drawing/2014/main" xmlns="" id="{C7854360-E1CE-4994-B0C3-6F3A90CDE8C1}"/>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49" name="Rectangle 29">
                  <a:extLst>
                    <a:ext uri="{FF2B5EF4-FFF2-40B4-BE49-F238E27FC236}">
                      <a16:creationId xmlns:a16="http://schemas.microsoft.com/office/drawing/2014/main" xmlns="" id="{261EE0F6-0366-4BD3-B5E1-126817B185BB}"/>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50" name="Rectangle 30">
                  <a:extLst>
                    <a:ext uri="{FF2B5EF4-FFF2-40B4-BE49-F238E27FC236}">
                      <a16:creationId xmlns:a16="http://schemas.microsoft.com/office/drawing/2014/main" xmlns="" id="{448549F5-1495-425E-881B-484EF0EB8853}"/>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51" name="Rectangle 31">
                  <a:extLst>
                    <a:ext uri="{FF2B5EF4-FFF2-40B4-BE49-F238E27FC236}">
                      <a16:creationId xmlns:a16="http://schemas.microsoft.com/office/drawing/2014/main" xmlns="" id="{330FCA82-CC45-4EED-92C2-C66AFFE75D93}"/>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52" name="Rectangle 32">
                  <a:extLst>
                    <a:ext uri="{FF2B5EF4-FFF2-40B4-BE49-F238E27FC236}">
                      <a16:creationId xmlns:a16="http://schemas.microsoft.com/office/drawing/2014/main" xmlns="" id="{37322A30-C613-4333-B6B3-A1F4F9FF7309}"/>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53" name="Rectangle 33">
                  <a:extLst>
                    <a:ext uri="{FF2B5EF4-FFF2-40B4-BE49-F238E27FC236}">
                      <a16:creationId xmlns:a16="http://schemas.microsoft.com/office/drawing/2014/main" xmlns="" id="{E945816B-C40C-49D8-9549-1FC4990B72AF}"/>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54" name="Rectangle 34">
                  <a:extLst>
                    <a:ext uri="{FF2B5EF4-FFF2-40B4-BE49-F238E27FC236}">
                      <a16:creationId xmlns:a16="http://schemas.microsoft.com/office/drawing/2014/main" xmlns="" id="{B1357CD9-AB40-43B9-9CC7-0B1CB485FCD4}"/>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55" name="Rectangle 35">
                  <a:extLst>
                    <a:ext uri="{FF2B5EF4-FFF2-40B4-BE49-F238E27FC236}">
                      <a16:creationId xmlns:a16="http://schemas.microsoft.com/office/drawing/2014/main" xmlns="" id="{41A09651-9AF7-4AB3-B1D8-A049E23ED804}"/>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56" name="Rectangle 36">
                  <a:extLst>
                    <a:ext uri="{FF2B5EF4-FFF2-40B4-BE49-F238E27FC236}">
                      <a16:creationId xmlns:a16="http://schemas.microsoft.com/office/drawing/2014/main" xmlns="" id="{7ECF6F7F-F168-4F10-8C6A-399003704968}"/>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57" name="Rectangle 37">
                  <a:extLst>
                    <a:ext uri="{FF2B5EF4-FFF2-40B4-BE49-F238E27FC236}">
                      <a16:creationId xmlns:a16="http://schemas.microsoft.com/office/drawing/2014/main" xmlns="" id="{1F5CF049-CEC6-4E34-A385-AE4EEA92DB4B}"/>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58" name="Rectangle 38">
                  <a:extLst>
                    <a:ext uri="{FF2B5EF4-FFF2-40B4-BE49-F238E27FC236}">
                      <a16:creationId xmlns:a16="http://schemas.microsoft.com/office/drawing/2014/main" xmlns="" id="{BE9B66A3-E27A-41BA-A813-45F82F11B313}"/>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59" name="Rectangle 39">
                  <a:extLst>
                    <a:ext uri="{FF2B5EF4-FFF2-40B4-BE49-F238E27FC236}">
                      <a16:creationId xmlns:a16="http://schemas.microsoft.com/office/drawing/2014/main" xmlns="" id="{E7EB24DA-DDB4-4864-913A-3DDBB4C3BCE6}"/>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60" name="Rectangle 40">
                  <a:extLst>
                    <a:ext uri="{FF2B5EF4-FFF2-40B4-BE49-F238E27FC236}">
                      <a16:creationId xmlns:a16="http://schemas.microsoft.com/office/drawing/2014/main" xmlns="" id="{5F5B037B-4FB5-410C-B3CD-8D5E3D303441}"/>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61" name="Rectangle 41">
                  <a:extLst>
                    <a:ext uri="{FF2B5EF4-FFF2-40B4-BE49-F238E27FC236}">
                      <a16:creationId xmlns:a16="http://schemas.microsoft.com/office/drawing/2014/main" xmlns="" id="{14F53FC7-A7AC-4473-8CC7-2106337E1447}"/>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62" name="Rectangle 42">
                  <a:extLst>
                    <a:ext uri="{FF2B5EF4-FFF2-40B4-BE49-F238E27FC236}">
                      <a16:creationId xmlns:a16="http://schemas.microsoft.com/office/drawing/2014/main" xmlns="" id="{FC84AC9F-A803-4C12-8D6F-F4153468DA8F}"/>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63" name="Rectangle 43">
                  <a:extLst>
                    <a:ext uri="{FF2B5EF4-FFF2-40B4-BE49-F238E27FC236}">
                      <a16:creationId xmlns:a16="http://schemas.microsoft.com/office/drawing/2014/main" xmlns="" id="{2235EBF4-4FEB-414C-BB70-BBEBB3D596EE}"/>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64" name="Rectangle 44">
                  <a:extLst>
                    <a:ext uri="{FF2B5EF4-FFF2-40B4-BE49-F238E27FC236}">
                      <a16:creationId xmlns:a16="http://schemas.microsoft.com/office/drawing/2014/main" xmlns="" id="{3A00C62E-E2D9-4E74-8142-A434A6AF0F09}"/>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65" name="Rectangle 45">
                  <a:extLst>
                    <a:ext uri="{FF2B5EF4-FFF2-40B4-BE49-F238E27FC236}">
                      <a16:creationId xmlns:a16="http://schemas.microsoft.com/office/drawing/2014/main" xmlns="" id="{E9D0339A-D248-4FCB-8A18-60DDCA694DD2}"/>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66" name="Rectangle 46">
                  <a:extLst>
                    <a:ext uri="{FF2B5EF4-FFF2-40B4-BE49-F238E27FC236}">
                      <a16:creationId xmlns:a16="http://schemas.microsoft.com/office/drawing/2014/main" xmlns="" id="{4DA0A382-40A7-4B14-8100-A3F03D685E58}"/>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67" name="Rectangle 47">
                  <a:extLst>
                    <a:ext uri="{FF2B5EF4-FFF2-40B4-BE49-F238E27FC236}">
                      <a16:creationId xmlns:a16="http://schemas.microsoft.com/office/drawing/2014/main" xmlns="" id="{CC51870B-0741-4578-A726-B09B295CF4F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68" name="Rectangle 48">
                  <a:extLst>
                    <a:ext uri="{FF2B5EF4-FFF2-40B4-BE49-F238E27FC236}">
                      <a16:creationId xmlns:a16="http://schemas.microsoft.com/office/drawing/2014/main" xmlns="" id="{F493CD6D-2A47-40CB-9C7E-262A074E1C2A}"/>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69" name="Rectangle 49">
                  <a:extLst>
                    <a:ext uri="{FF2B5EF4-FFF2-40B4-BE49-F238E27FC236}">
                      <a16:creationId xmlns:a16="http://schemas.microsoft.com/office/drawing/2014/main" xmlns="" id="{1376D528-FE88-4D75-9B9F-85518ADD6300}"/>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70" name="Rectangle 50">
                  <a:extLst>
                    <a:ext uri="{FF2B5EF4-FFF2-40B4-BE49-F238E27FC236}">
                      <a16:creationId xmlns:a16="http://schemas.microsoft.com/office/drawing/2014/main" xmlns="" id="{BC0E2017-0F5B-49A7-8A4F-88437A464E2A}"/>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71" name="Rectangle 51">
                  <a:extLst>
                    <a:ext uri="{FF2B5EF4-FFF2-40B4-BE49-F238E27FC236}">
                      <a16:creationId xmlns:a16="http://schemas.microsoft.com/office/drawing/2014/main" xmlns="" id="{C85262DD-1DC1-4B55-B117-1BD525D03123}"/>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72" name="Rectangle 52">
                  <a:extLst>
                    <a:ext uri="{FF2B5EF4-FFF2-40B4-BE49-F238E27FC236}">
                      <a16:creationId xmlns:a16="http://schemas.microsoft.com/office/drawing/2014/main" xmlns="" id="{93099FE8-EF9E-4422-A85E-91AC6001F592}"/>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Au</a:t>
                  </a:r>
                </a:p>
              </p:txBody>
            </p:sp>
            <p:sp>
              <p:nvSpPr>
                <p:cNvPr id="73" name="Rectangle 53">
                  <a:extLst>
                    <a:ext uri="{FF2B5EF4-FFF2-40B4-BE49-F238E27FC236}">
                      <a16:creationId xmlns:a16="http://schemas.microsoft.com/office/drawing/2014/main" xmlns="" id="{4539E259-26D0-4423-B36E-D5DE8D4DCC2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74" name="Rectangle 54">
                  <a:extLst>
                    <a:ext uri="{FF2B5EF4-FFF2-40B4-BE49-F238E27FC236}">
                      <a16:creationId xmlns:a16="http://schemas.microsoft.com/office/drawing/2014/main" xmlns="" id="{882272AE-203B-4890-AD35-9DFCD89F5367}"/>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75" name="Rectangle 55">
                  <a:extLst>
                    <a:ext uri="{FF2B5EF4-FFF2-40B4-BE49-F238E27FC236}">
                      <a16:creationId xmlns:a16="http://schemas.microsoft.com/office/drawing/2014/main" xmlns="" id="{F206E8C6-54D6-4944-9365-845F134E935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76" name="Rectangle 56">
                  <a:extLst>
                    <a:ext uri="{FF2B5EF4-FFF2-40B4-BE49-F238E27FC236}">
                      <a16:creationId xmlns:a16="http://schemas.microsoft.com/office/drawing/2014/main" xmlns="" id="{55D7146F-1E2E-4548-8AAB-C05A44AA0270}"/>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77" name="Rectangle 57">
                  <a:extLst>
                    <a:ext uri="{FF2B5EF4-FFF2-40B4-BE49-F238E27FC236}">
                      <a16:creationId xmlns:a16="http://schemas.microsoft.com/office/drawing/2014/main" xmlns="" id="{F0E57BF1-258A-471C-A8CE-17511B7031A5}"/>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78" name="Rectangle 58">
                  <a:extLst>
                    <a:ext uri="{FF2B5EF4-FFF2-40B4-BE49-F238E27FC236}">
                      <a16:creationId xmlns:a16="http://schemas.microsoft.com/office/drawing/2014/main" xmlns="" id="{468E5D51-A286-4B81-8000-2D367788D3E8}"/>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79" name="Rectangle 59">
                  <a:extLst>
                    <a:ext uri="{FF2B5EF4-FFF2-40B4-BE49-F238E27FC236}">
                      <a16:creationId xmlns:a16="http://schemas.microsoft.com/office/drawing/2014/main" xmlns="" id="{74886C56-4149-4A1A-9BD8-829DEB9EB885}"/>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80" name="Rectangle 60">
                  <a:extLst>
                    <a:ext uri="{FF2B5EF4-FFF2-40B4-BE49-F238E27FC236}">
                      <a16:creationId xmlns:a16="http://schemas.microsoft.com/office/drawing/2014/main" xmlns="" id="{A098A3D7-C2A8-4674-BD6C-4C732BE59E07}"/>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81" name="Rectangle 61">
                  <a:extLst>
                    <a:ext uri="{FF2B5EF4-FFF2-40B4-BE49-F238E27FC236}">
                      <a16:creationId xmlns:a16="http://schemas.microsoft.com/office/drawing/2014/main" xmlns="" id="{CA126C9F-09F3-44AD-AEC9-377FF1D708BB}"/>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82" name="Rectangle 62">
                  <a:extLst>
                    <a:ext uri="{FF2B5EF4-FFF2-40B4-BE49-F238E27FC236}">
                      <a16:creationId xmlns:a16="http://schemas.microsoft.com/office/drawing/2014/main" xmlns="" id="{757E413C-A027-4C71-83A2-347BC68B9574}"/>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83" name="Rectangle 63">
                  <a:extLst>
                    <a:ext uri="{FF2B5EF4-FFF2-40B4-BE49-F238E27FC236}">
                      <a16:creationId xmlns:a16="http://schemas.microsoft.com/office/drawing/2014/main" xmlns="" id="{CC03A615-F3FF-4681-85F7-853348DE2357}"/>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84" name="Rectangle 64">
                  <a:extLst>
                    <a:ext uri="{FF2B5EF4-FFF2-40B4-BE49-F238E27FC236}">
                      <a16:creationId xmlns:a16="http://schemas.microsoft.com/office/drawing/2014/main" xmlns="" id="{3564F727-A296-4F9D-8BB0-B116D9317CE9}"/>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85" name="Rectangle 65">
                  <a:extLst>
                    <a:ext uri="{FF2B5EF4-FFF2-40B4-BE49-F238E27FC236}">
                      <a16:creationId xmlns:a16="http://schemas.microsoft.com/office/drawing/2014/main" xmlns="" id="{830278CE-EF6A-4071-8514-57110F03DC50}"/>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86" name="Rectangle 66">
                  <a:extLst>
                    <a:ext uri="{FF2B5EF4-FFF2-40B4-BE49-F238E27FC236}">
                      <a16:creationId xmlns:a16="http://schemas.microsoft.com/office/drawing/2014/main" xmlns="" id="{78589864-8197-4B44-8D52-89779F298D1D}"/>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87" name="Rectangle 67">
                  <a:extLst>
                    <a:ext uri="{FF2B5EF4-FFF2-40B4-BE49-F238E27FC236}">
                      <a16:creationId xmlns:a16="http://schemas.microsoft.com/office/drawing/2014/main" xmlns="" id="{7B05CF32-A0AD-4D7B-B632-DD280290B7EF}"/>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88" name="Rectangle 68">
                  <a:extLst>
                    <a:ext uri="{FF2B5EF4-FFF2-40B4-BE49-F238E27FC236}">
                      <a16:creationId xmlns:a16="http://schemas.microsoft.com/office/drawing/2014/main" xmlns="" id="{FE00FEEE-314B-43B9-8224-C0A1E1630491}"/>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89" name="Rectangle 69">
                  <a:extLst>
                    <a:ext uri="{FF2B5EF4-FFF2-40B4-BE49-F238E27FC236}">
                      <a16:creationId xmlns:a16="http://schemas.microsoft.com/office/drawing/2014/main" xmlns="" id="{F4E4A520-30CC-431A-ABC1-A73A949BAAE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90" name="Rectangle 70">
                  <a:extLst>
                    <a:ext uri="{FF2B5EF4-FFF2-40B4-BE49-F238E27FC236}">
                      <a16:creationId xmlns:a16="http://schemas.microsoft.com/office/drawing/2014/main" xmlns="" id="{1B00FD40-9F04-4742-99A7-C37D0FCA2F3C}"/>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91" name="Rectangle 71">
                  <a:extLst>
                    <a:ext uri="{FF2B5EF4-FFF2-40B4-BE49-F238E27FC236}">
                      <a16:creationId xmlns:a16="http://schemas.microsoft.com/office/drawing/2014/main" xmlns="" id="{B2E40F56-FC61-4557-8692-338C06EB889E}"/>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92" name="Rectangle 72">
                  <a:extLst>
                    <a:ext uri="{FF2B5EF4-FFF2-40B4-BE49-F238E27FC236}">
                      <a16:creationId xmlns:a16="http://schemas.microsoft.com/office/drawing/2014/main" xmlns="" id="{38DF2BD5-C9A7-4616-8F51-957D1CCE7078}"/>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93" name="Rectangle 73">
                  <a:extLst>
                    <a:ext uri="{FF2B5EF4-FFF2-40B4-BE49-F238E27FC236}">
                      <a16:creationId xmlns:a16="http://schemas.microsoft.com/office/drawing/2014/main" xmlns="" id="{0D1356FA-D16E-46C1-AD61-51919E184E22}"/>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94" name="Rectangle 74">
                  <a:extLst>
                    <a:ext uri="{FF2B5EF4-FFF2-40B4-BE49-F238E27FC236}">
                      <a16:creationId xmlns:a16="http://schemas.microsoft.com/office/drawing/2014/main" xmlns="" id="{E484A4EF-6AF0-44DC-B443-A15D25308089}"/>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95" name="Rectangle 75">
                  <a:extLst>
                    <a:ext uri="{FF2B5EF4-FFF2-40B4-BE49-F238E27FC236}">
                      <a16:creationId xmlns:a16="http://schemas.microsoft.com/office/drawing/2014/main" xmlns="" id="{53BF5EF9-C04F-45A2-9578-33DB1F4A431D}"/>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96" name="Rectangle 76">
                  <a:extLst>
                    <a:ext uri="{FF2B5EF4-FFF2-40B4-BE49-F238E27FC236}">
                      <a16:creationId xmlns:a16="http://schemas.microsoft.com/office/drawing/2014/main" xmlns="" id="{79209A75-822D-49B6-A03C-AF76BDE592EE}"/>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97" name="Rectangle 77">
                  <a:extLst>
                    <a:ext uri="{FF2B5EF4-FFF2-40B4-BE49-F238E27FC236}">
                      <a16:creationId xmlns:a16="http://schemas.microsoft.com/office/drawing/2014/main" xmlns="" id="{D317550D-D662-46FE-90E7-A440BE77F1E2}"/>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98" name="Rectangle 78">
                  <a:extLst>
                    <a:ext uri="{FF2B5EF4-FFF2-40B4-BE49-F238E27FC236}">
                      <a16:creationId xmlns:a16="http://schemas.microsoft.com/office/drawing/2014/main" xmlns="" id="{2C9AE4AC-591D-4CF8-990A-07D4239D6749}"/>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99" name="Rectangle 79">
                  <a:extLst>
                    <a:ext uri="{FF2B5EF4-FFF2-40B4-BE49-F238E27FC236}">
                      <a16:creationId xmlns:a16="http://schemas.microsoft.com/office/drawing/2014/main" xmlns="" id="{F8376040-8041-4823-BCC2-C2E6FC610F6D}"/>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100" name="Rectangle 80">
                  <a:extLst>
                    <a:ext uri="{FF2B5EF4-FFF2-40B4-BE49-F238E27FC236}">
                      <a16:creationId xmlns:a16="http://schemas.microsoft.com/office/drawing/2014/main" xmlns="" id="{39DDD54D-7F6D-49A9-83F2-8354D3271B84}"/>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101" name="Rectangle 81">
                  <a:extLst>
                    <a:ext uri="{FF2B5EF4-FFF2-40B4-BE49-F238E27FC236}">
                      <a16:creationId xmlns:a16="http://schemas.microsoft.com/office/drawing/2014/main" xmlns="" id="{D2B263EE-B596-4B88-BC83-B66F4695FB9B}"/>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102" name="Rectangle 82">
                  <a:extLst>
                    <a:ext uri="{FF2B5EF4-FFF2-40B4-BE49-F238E27FC236}">
                      <a16:creationId xmlns:a16="http://schemas.microsoft.com/office/drawing/2014/main" xmlns="" id="{9D5A79B9-FD23-43B1-B1AD-7A168197656A}"/>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103" name="Rectangle 83">
                  <a:extLst>
                    <a:ext uri="{FF2B5EF4-FFF2-40B4-BE49-F238E27FC236}">
                      <a16:creationId xmlns:a16="http://schemas.microsoft.com/office/drawing/2014/main" xmlns="" id="{C7B2232C-D784-4E1C-A915-02CDCCAADDB8}"/>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104" name="Rectangle 84">
                  <a:extLst>
                    <a:ext uri="{FF2B5EF4-FFF2-40B4-BE49-F238E27FC236}">
                      <a16:creationId xmlns:a16="http://schemas.microsoft.com/office/drawing/2014/main" xmlns="" id="{35674455-2543-4ADB-8F17-B657540AE0F1}"/>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105" name="Rectangle 85">
                  <a:extLst>
                    <a:ext uri="{FF2B5EF4-FFF2-40B4-BE49-F238E27FC236}">
                      <a16:creationId xmlns:a16="http://schemas.microsoft.com/office/drawing/2014/main" xmlns="" id="{99D877E7-6C46-4548-853C-5074522699F7}"/>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106" name="Rectangle 86">
                  <a:extLst>
                    <a:ext uri="{FF2B5EF4-FFF2-40B4-BE49-F238E27FC236}">
                      <a16:creationId xmlns:a16="http://schemas.microsoft.com/office/drawing/2014/main" xmlns="" id="{9FF74BAF-A633-4E77-8F59-2660CD1ED940}"/>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107" name="Rectangle 87">
                  <a:extLst>
                    <a:ext uri="{FF2B5EF4-FFF2-40B4-BE49-F238E27FC236}">
                      <a16:creationId xmlns:a16="http://schemas.microsoft.com/office/drawing/2014/main" xmlns="" id="{AF541F12-D2AA-4138-8872-EAAFB281537A}"/>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108" name="Rectangle 88">
                  <a:extLst>
                    <a:ext uri="{FF2B5EF4-FFF2-40B4-BE49-F238E27FC236}">
                      <a16:creationId xmlns:a16="http://schemas.microsoft.com/office/drawing/2014/main" xmlns="" id="{6EB5810E-7FCA-4C10-96DB-D22F3B57D37F}"/>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109" name="Line 89">
                  <a:extLst>
                    <a:ext uri="{FF2B5EF4-FFF2-40B4-BE49-F238E27FC236}">
                      <a16:creationId xmlns:a16="http://schemas.microsoft.com/office/drawing/2014/main" xmlns="" id="{21752450-E268-4695-A91D-36787FE17F6A}"/>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0" name="Line 90">
                  <a:extLst>
                    <a:ext uri="{FF2B5EF4-FFF2-40B4-BE49-F238E27FC236}">
                      <a16:creationId xmlns:a16="http://schemas.microsoft.com/office/drawing/2014/main" xmlns="" id="{E253D80E-C399-432E-A124-77C5F2F8176A}"/>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1" name="Line 91">
                  <a:extLst>
                    <a:ext uri="{FF2B5EF4-FFF2-40B4-BE49-F238E27FC236}">
                      <a16:creationId xmlns:a16="http://schemas.microsoft.com/office/drawing/2014/main" xmlns="" id="{BBAC87F5-CBDE-477C-8CB2-69969796FF6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2" name="Line 92">
                  <a:extLst>
                    <a:ext uri="{FF2B5EF4-FFF2-40B4-BE49-F238E27FC236}">
                      <a16:creationId xmlns:a16="http://schemas.microsoft.com/office/drawing/2014/main" xmlns="" id="{7FEFA856-EC21-42FF-9355-8B3BC100AE50}"/>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3" name="Line 93">
                  <a:extLst>
                    <a:ext uri="{FF2B5EF4-FFF2-40B4-BE49-F238E27FC236}">
                      <a16:creationId xmlns:a16="http://schemas.microsoft.com/office/drawing/2014/main" xmlns="" id="{C1AB43F8-5389-4939-9E7A-1C094201EF70}"/>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4" name="Line 94">
                  <a:extLst>
                    <a:ext uri="{FF2B5EF4-FFF2-40B4-BE49-F238E27FC236}">
                      <a16:creationId xmlns:a16="http://schemas.microsoft.com/office/drawing/2014/main" xmlns="" id="{61AAF764-A382-4613-94EC-5B4A88F54803}"/>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5" name="Line 95">
                  <a:extLst>
                    <a:ext uri="{FF2B5EF4-FFF2-40B4-BE49-F238E27FC236}">
                      <a16:creationId xmlns:a16="http://schemas.microsoft.com/office/drawing/2014/main" xmlns="" id="{1CECC3CB-E8CC-4D7A-AB19-748A94A658F2}"/>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6" name="Line 96">
                  <a:extLst>
                    <a:ext uri="{FF2B5EF4-FFF2-40B4-BE49-F238E27FC236}">
                      <a16:creationId xmlns:a16="http://schemas.microsoft.com/office/drawing/2014/main" xmlns="" id="{8D66D095-9150-4A55-BF69-9240E0F6EC1D}"/>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7" name="Line 97">
                  <a:extLst>
                    <a:ext uri="{FF2B5EF4-FFF2-40B4-BE49-F238E27FC236}">
                      <a16:creationId xmlns:a16="http://schemas.microsoft.com/office/drawing/2014/main" xmlns="" id="{0126B852-4ED5-42E0-B5BE-AE090E8452B7}"/>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8" name="Line 98">
                  <a:extLst>
                    <a:ext uri="{FF2B5EF4-FFF2-40B4-BE49-F238E27FC236}">
                      <a16:creationId xmlns:a16="http://schemas.microsoft.com/office/drawing/2014/main" xmlns="" id="{418E7713-2DCC-482B-AE9B-A5CACC14A315}"/>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7" name="TextBox 16">
                <a:extLst>
                  <a:ext uri="{FF2B5EF4-FFF2-40B4-BE49-F238E27FC236}">
                    <a16:creationId xmlns:a16="http://schemas.microsoft.com/office/drawing/2014/main" xmlns="" id="{FDF8E8A5-A1E4-4ACA-86F9-C22F09C9B61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8" name="TextBox 17">
                <a:extLst>
                  <a:ext uri="{FF2B5EF4-FFF2-40B4-BE49-F238E27FC236}">
                    <a16:creationId xmlns:a16="http://schemas.microsoft.com/office/drawing/2014/main" xmlns="" id="{946B5E8B-9335-43FC-AD1A-0A4F49E3EF3A}"/>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9" name="TextBox 18">
                <a:extLst>
                  <a:ext uri="{FF2B5EF4-FFF2-40B4-BE49-F238E27FC236}">
                    <a16:creationId xmlns:a16="http://schemas.microsoft.com/office/drawing/2014/main" xmlns="" id="{7ED48B56-D19D-455F-A423-BC63A3CBB84B}"/>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20" name="TextBox 19">
                <a:extLst>
                  <a:ext uri="{FF2B5EF4-FFF2-40B4-BE49-F238E27FC236}">
                    <a16:creationId xmlns:a16="http://schemas.microsoft.com/office/drawing/2014/main" xmlns="" id="{974114C5-F7C6-40BA-ADD8-1272B200B325}"/>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21" name="TextBox 20">
                <a:extLst>
                  <a:ext uri="{FF2B5EF4-FFF2-40B4-BE49-F238E27FC236}">
                    <a16:creationId xmlns:a16="http://schemas.microsoft.com/office/drawing/2014/main" xmlns="" id="{45F6912C-7CB5-427B-8CDC-9F387F342955}"/>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22" name="TextBox 21">
                <a:extLst>
                  <a:ext uri="{FF2B5EF4-FFF2-40B4-BE49-F238E27FC236}">
                    <a16:creationId xmlns:a16="http://schemas.microsoft.com/office/drawing/2014/main" xmlns="" id="{EBAFB779-D5E1-480A-8EAB-BDD01E5C87CF}"/>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23" name="TextBox 22">
                <a:extLst>
                  <a:ext uri="{FF2B5EF4-FFF2-40B4-BE49-F238E27FC236}">
                    <a16:creationId xmlns:a16="http://schemas.microsoft.com/office/drawing/2014/main" xmlns="" id="{B4B3AC8D-5643-403A-9F4D-02B8F89D5BE7}"/>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24" name="TextBox 23">
                <a:extLst>
                  <a:ext uri="{FF2B5EF4-FFF2-40B4-BE49-F238E27FC236}">
                    <a16:creationId xmlns:a16="http://schemas.microsoft.com/office/drawing/2014/main" xmlns="" id="{FA1E64EA-E976-4919-84E3-2DBA670312C5}"/>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7" name="Straight Connector 6">
              <a:extLst>
                <a:ext uri="{FF2B5EF4-FFF2-40B4-BE49-F238E27FC236}">
                  <a16:creationId xmlns:a16="http://schemas.microsoft.com/office/drawing/2014/main" xmlns="" id="{2D79E1F6-139D-41C6-9239-6701BE4FAD24}"/>
                </a:ext>
              </a:extLst>
            </p:cNvPr>
            <p:cNvCxnSpPr>
              <a:endCxn id="111"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8A68E19D-2B2C-4C92-B82B-EBD883F68A46}"/>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BA8D40E-93D9-43D2-8612-0E88C9DB9096}"/>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E4D050F9-606F-4A81-9305-98D172FC40AE}"/>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2634697A-F7D7-4ABE-9521-AF49F4ADC2DD}"/>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C97A1A57-EB0E-4077-B2DC-782053AE39EC}"/>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81EE9B04-5622-44F7-B4DD-5D665881492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7CE168B6-B532-4ACE-9395-C35E3F5C6714}"/>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C85F11EA-095F-49AA-822A-40F5237C7373}"/>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0" name="Rectangle 119">
            <a:extLst>
              <a:ext uri="{FF2B5EF4-FFF2-40B4-BE49-F238E27FC236}">
                <a16:creationId xmlns:a16="http://schemas.microsoft.com/office/drawing/2014/main" xmlns="" id="{229B2A54-F7C2-4CDB-8DE6-651ED3F48E4C}"/>
              </a:ext>
            </a:extLst>
          </p:cNvPr>
          <p:cNvSpPr/>
          <p:nvPr/>
        </p:nvSpPr>
        <p:spPr>
          <a:xfrm>
            <a:off x="182948" y="3371944"/>
            <a:ext cx="8819093" cy="2900794"/>
          </a:xfrm>
          <a:prstGeom prst="rect">
            <a:avLst/>
          </a:prstGeom>
        </p:spPr>
        <p:txBody>
          <a:bodyPr wrap="square">
            <a:spAutoFit/>
          </a:bodyPr>
          <a:lstStyle/>
          <a:p>
            <a:pPr algn="ctr"/>
            <a:r>
              <a:rPr lang="en-GB" sz="2000" dirty="0"/>
              <a:t>Elements in </a:t>
            </a:r>
            <a:r>
              <a:rPr lang="en-GB" sz="2000" b="1" dirty="0"/>
              <a:t>Group</a:t>
            </a:r>
            <a:r>
              <a:rPr lang="en-GB" sz="2000" dirty="0"/>
              <a:t> </a:t>
            </a:r>
            <a:r>
              <a:rPr lang="en-GB" sz="2000" b="1" dirty="0"/>
              <a:t>0</a:t>
            </a:r>
            <a:r>
              <a:rPr lang="en-GB" sz="2000" dirty="0"/>
              <a:t> of the periodic table are called the </a:t>
            </a:r>
            <a:r>
              <a:rPr lang="en-GB" sz="2000" b="1" dirty="0"/>
              <a:t>noble</a:t>
            </a:r>
            <a:r>
              <a:rPr lang="en-GB" sz="2000" dirty="0"/>
              <a:t> </a:t>
            </a:r>
            <a:r>
              <a:rPr lang="en-GB" sz="2000" b="1" dirty="0"/>
              <a:t>gases</a:t>
            </a:r>
            <a:r>
              <a:rPr lang="en-GB" sz="2000" dirty="0"/>
              <a:t>. They are unreactive because their atoms have </a:t>
            </a:r>
            <a:r>
              <a:rPr lang="en-GB" sz="2000" b="1" dirty="0"/>
              <a:t>stable</a:t>
            </a:r>
            <a:r>
              <a:rPr lang="en-GB" sz="2000" dirty="0"/>
              <a:t> arrangements of </a:t>
            </a:r>
            <a:r>
              <a:rPr lang="en-GB" sz="2000" b="1" dirty="0"/>
              <a:t>electrons</a:t>
            </a:r>
            <a:r>
              <a:rPr lang="en-GB" sz="2000" dirty="0" smtClean="0"/>
              <a:t>. </a:t>
            </a:r>
            <a:r>
              <a:rPr lang="en-GB" sz="2000" dirty="0"/>
              <a:t>The atoms have</a:t>
            </a:r>
            <a:r>
              <a:rPr lang="en-GB" sz="2000" b="1" dirty="0"/>
              <a:t> eight </a:t>
            </a:r>
            <a:r>
              <a:rPr lang="en-GB" sz="2000" dirty="0"/>
              <a:t>electrons in their outermost shell, apart from </a:t>
            </a:r>
            <a:r>
              <a:rPr lang="en-GB" sz="2000" dirty="0" smtClean="0"/>
              <a:t>helium</a:t>
            </a:r>
            <a:r>
              <a:rPr lang="en-GB" sz="2000" dirty="0"/>
              <a:t>, which has just </a:t>
            </a:r>
            <a:r>
              <a:rPr lang="en-GB" sz="2000" b="1" dirty="0"/>
              <a:t>two</a:t>
            </a:r>
            <a:r>
              <a:rPr lang="en-GB" sz="2000" dirty="0"/>
              <a:t>, but still has a complete outer shell</a:t>
            </a:r>
            <a:r>
              <a:rPr lang="en-GB" sz="2000" dirty="0" smtClean="0"/>
              <a:t>.</a:t>
            </a:r>
          </a:p>
          <a:p>
            <a:pPr algn="ctr"/>
            <a:endParaRPr lang="en-GB" sz="1050" dirty="0" smtClean="0"/>
          </a:p>
          <a:p>
            <a:pPr algn="ctr"/>
            <a:r>
              <a:rPr lang="en-GB" sz="2000" dirty="0" smtClean="0"/>
              <a:t>The </a:t>
            </a:r>
            <a:r>
              <a:rPr lang="en-GB" sz="2000" dirty="0"/>
              <a:t>stable electronic structure explains why they exist as </a:t>
            </a:r>
            <a:r>
              <a:rPr lang="en-GB" sz="2000" b="1" dirty="0"/>
              <a:t>single atoms</a:t>
            </a:r>
            <a:r>
              <a:rPr lang="en-GB" sz="2000" dirty="0"/>
              <a:t>, they have no tendency to react to form </a:t>
            </a:r>
            <a:r>
              <a:rPr lang="en-GB" sz="2000" b="1" dirty="0"/>
              <a:t>molecules</a:t>
            </a:r>
            <a:r>
              <a:rPr lang="en-GB" sz="2000" dirty="0"/>
              <a:t>.</a:t>
            </a:r>
          </a:p>
          <a:p>
            <a:pPr algn="ctr"/>
            <a:endParaRPr lang="en-GB" sz="1000" dirty="0"/>
          </a:p>
          <a:p>
            <a:pPr algn="ctr"/>
            <a:r>
              <a:rPr lang="en-GB" sz="2000" dirty="0"/>
              <a:t>The </a:t>
            </a:r>
            <a:r>
              <a:rPr lang="en-GB" sz="2000" b="1" dirty="0"/>
              <a:t>boiling points </a:t>
            </a:r>
            <a:r>
              <a:rPr lang="en-GB" sz="2000" dirty="0"/>
              <a:t>of the noble gases get </a:t>
            </a:r>
            <a:r>
              <a:rPr lang="en-GB" sz="2000" b="1" dirty="0"/>
              <a:t>higher</a:t>
            </a:r>
            <a:r>
              <a:rPr lang="en-GB" sz="2000" dirty="0"/>
              <a:t> going </a:t>
            </a:r>
            <a:r>
              <a:rPr lang="en-GB" sz="2000" b="1" dirty="0"/>
              <a:t>down</a:t>
            </a:r>
            <a:r>
              <a:rPr lang="en-GB" sz="2000" dirty="0"/>
              <a:t> the group. </a:t>
            </a:r>
            <a:r>
              <a:rPr lang="en-GB" sz="2000" dirty="0" smtClean="0"/>
              <a:t>For </a:t>
            </a:r>
            <a:r>
              <a:rPr lang="en-GB" sz="2000" dirty="0"/>
              <a:t>example </a:t>
            </a:r>
            <a:r>
              <a:rPr lang="en-GB" sz="2000" dirty="0" smtClean="0"/>
              <a:t>helium </a:t>
            </a:r>
            <a:r>
              <a:rPr lang="en-GB" sz="2000" dirty="0"/>
              <a:t>boils at -269 °C and </a:t>
            </a:r>
            <a:r>
              <a:rPr lang="en-GB" sz="2000" dirty="0" smtClean="0"/>
              <a:t>radon </a:t>
            </a:r>
            <a:r>
              <a:rPr lang="en-GB" sz="2000" dirty="0"/>
              <a:t>boils at -62°C.</a:t>
            </a:r>
          </a:p>
        </p:txBody>
      </p:sp>
      <p:sp>
        <p:nvSpPr>
          <p:cNvPr id="123" name="Rectangle 122">
            <a:extLst>
              <a:ext uri="{FF2B5EF4-FFF2-40B4-BE49-F238E27FC236}">
                <a16:creationId xmlns:a16="http://schemas.microsoft.com/office/drawing/2014/main" xmlns="" id="{05F73A03-3FE2-4A26-8736-14F52A35F7F7}"/>
              </a:ext>
            </a:extLst>
          </p:cNvPr>
          <p:cNvSpPr/>
          <p:nvPr/>
        </p:nvSpPr>
        <p:spPr>
          <a:xfrm>
            <a:off x="6220180" y="692873"/>
            <a:ext cx="2376095" cy="936124"/>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a:t>
            </a:r>
            <a:r>
              <a:rPr lang="en-GB" sz="2800" b="1" dirty="0" smtClean="0">
                <a:solidFill>
                  <a:schemeClr val="accent6">
                    <a:lumMod val="75000"/>
                  </a:schemeClr>
                </a:solidFill>
              </a:rPr>
              <a:t>NOBLE GASES</a:t>
            </a:r>
            <a:endParaRPr lang="en-GB" sz="2800" b="1" dirty="0">
              <a:solidFill>
                <a:schemeClr val="accent6">
                  <a:lumMod val="75000"/>
                </a:schemeClr>
              </a:solidFill>
            </a:endParaRPr>
          </a:p>
        </p:txBody>
      </p:sp>
      <p:cxnSp>
        <p:nvCxnSpPr>
          <p:cNvPr id="126" name="Straight Arrow Connector 125">
            <a:extLst>
              <a:ext uri="{FF2B5EF4-FFF2-40B4-BE49-F238E27FC236}">
                <a16:creationId xmlns:a16="http://schemas.microsoft.com/office/drawing/2014/main" xmlns="" id="{4042ED77-1356-4F17-A8E1-0FE16CA3AD76}"/>
              </a:ext>
            </a:extLst>
          </p:cNvPr>
          <p:cNvCxnSpPr>
            <a:cxnSpLocks/>
          </p:cNvCxnSpPr>
          <p:nvPr/>
        </p:nvCxnSpPr>
        <p:spPr>
          <a:xfrm flipH="1">
            <a:off x="5589671" y="1154450"/>
            <a:ext cx="603791" cy="12971"/>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3" name="Rectangle 132">
            <a:extLst>
              <a:ext uri="{FF2B5EF4-FFF2-40B4-BE49-F238E27FC236}">
                <a16:creationId xmlns:a16="http://schemas.microsoft.com/office/drawing/2014/main" xmlns="" id="{8F3A07A3-823A-4378-BB01-54608A4C4B65}"/>
              </a:ext>
            </a:extLst>
          </p:cNvPr>
          <p:cNvSpPr/>
          <p:nvPr/>
        </p:nvSpPr>
        <p:spPr>
          <a:xfrm>
            <a:off x="5321166" y="1224731"/>
            <a:ext cx="294776" cy="1661437"/>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920860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oup 131">
            <a:extLst>
              <a:ext uri="{FF2B5EF4-FFF2-40B4-BE49-F238E27FC236}">
                <a16:creationId xmlns:a16="http://schemas.microsoft.com/office/drawing/2014/main" xmlns="" id="{23AAB444-ED14-4E4D-A643-B0B564704AAC}"/>
              </a:ext>
            </a:extLst>
          </p:cNvPr>
          <p:cNvGrpSpPr/>
          <p:nvPr/>
        </p:nvGrpSpPr>
        <p:grpSpPr>
          <a:xfrm>
            <a:off x="3544920" y="592331"/>
            <a:ext cx="5314846" cy="2186592"/>
            <a:chOff x="446601" y="2411007"/>
            <a:chExt cx="8243374" cy="3610282"/>
          </a:xfrm>
        </p:grpSpPr>
        <p:grpSp>
          <p:nvGrpSpPr>
            <p:cNvPr id="133" name="Group 132">
              <a:extLst>
                <a:ext uri="{FF2B5EF4-FFF2-40B4-BE49-F238E27FC236}">
                  <a16:creationId xmlns:a16="http://schemas.microsoft.com/office/drawing/2014/main" xmlns="" id="{148B2D68-B91D-415A-9EA3-F1039DCDFAE4}"/>
                </a:ext>
              </a:extLst>
            </p:cNvPr>
            <p:cNvGrpSpPr/>
            <p:nvPr/>
          </p:nvGrpSpPr>
          <p:grpSpPr>
            <a:xfrm>
              <a:off x="446601" y="2411007"/>
              <a:ext cx="8243374" cy="3610282"/>
              <a:chOff x="446601" y="2411007"/>
              <a:chExt cx="8243374" cy="3610282"/>
            </a:xfrm>
          </p:grpSpPr>
          <p:grpSp>
            <p:nvGrpSpPr>
              <p:cNvPr id="143" name="Group 4">
                <a:extLst>
                  <a:ext uri="{FF2B5EF4-FFF2-40B4-BE49-F238E27FC236}">
                    <a16:creationId xmlns:a16="http://schemas.microsoft.com/office/drawing/2014/main" xmlns="" id="{880E8332-3A94-4EF3-861B-D9CB8337F4D1}"/>
                  </a:ext>
                </a:extLst>
              </p:cNvPr>
              <p:cNvGrpSpPr>
                <a:grpSpLocks/>
              </p:cNvGrpSpPr>
              <p:nvPr/>
            </p:nvGrpSpPr>
            <p:grpSpPr bwMode="auto">
              <a:xfrm>
                <a:off x="460375" y="2820889"/>
                <a:ext cx="8229600" cy="3200400"/>
                <a:chOff x="279" y="1508"/>
                <a:chExt cx="5184" cy="2016"/>
              </a:xfrm>
            </p:grpSpPr>
            <p:sp>
              <p:nvSpPr>
                <p:cNvPr id="152" name="Rectangle 5">
                  <a:extLst>
                    <a:ext uri="{FF2B5EF4-FFF2-40B4-BE49-F238E27FC236}">
                      <a16:creationId xmlns:a16="http://schemas.microsoft.com/office/drawing/2014/main" xmlns="" id="{DBFDA8E4-10FA-473E-89BF-67478CB40D25}"/>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53" name="Rectangle 6">
                  <a:extLst>
                    <a:ext uri="{FF2B5EF4-FFF2-40B4-BE49-F238E27FC236}">
                      <a16:creationId xmlns:a16="http://schemas.microsoft.com/office/drawing/2014/main" xmlns="" id="{C9D0812E-1A7F-4F52-8B4D-1067D173E774}"/>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54" name="Rectangle 7">
                  <a:extLst>
                    <a:ext uri="{FF2B5EF4-FFF2-40B4-BE49-F238E27FC236}">
                      <a16:creationId xmlns:a16="http://schemas.microsoft.com/office/drawing/2014/main" xmlns="" id="{5E86BBD7-5217-4E91-9E7E-AEC2D2D9C841}"/>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55" name="Rectangle 8">
                  <a:extLst>
                    <a:ext uri="{FF2B5EF4-FFF2-40B4-BE49-F238E27FC236}">
                      <a16:creationId xmlns:a16="http://schemas.microsoft.com/office/drawing/2014/main" xmlns="" id="{B5A912C2-7339-4870-A420-110D1F5702BC}"/>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56" name="Rectangle 9">
                  <a:extLst>
                    <a:ext uri="{FF2B5EF4-FFF2-40B4-BE49-F238E27FC236}">
                      <a16:creationId xmlns:a16="http://schemas.microsoft.com/office/drawing/2014/main" xmlns="" id="{11A794ED-90D3-46F7-8D1B-693196629029}"/>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57" name="Rectangle 10">
                  <a:extLst>
                    <a:ext uri="{FF2B5EF4-FFF2-40B4-BE49-F238E27FC236}">
                      <a16:creationId xmlns:a16="http://schemas.microsoft.com/office/drawing/2014/main" xmlns="" id="{06B05E9A-B9E6-49AD-BA79-EC3692BBECA9}"/>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58" name="Rectangle 11">
                  <a:extLst>
                    <a:ext uri="{FF2B5EF4-FFF2-40B4-BE49-F238E27FC236}">
                      <a16:creationId xmlns:a16="http://schemas.microsoft.com/office/drawing/2014/main" xmlns="" id="{146C193A-536D-4905-B22E-5F520C8A58CD}"/>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59" name="Rectangle 12">
                  <a:extLst>
                    <a:ext uri="{FF2B5EF4-FFF2-40B4-BE49-F238E27FC236}">
                      <a16:creationId xmlns:a16="http://schemas.microsoft.com/office/drawing/2014/main" xmlns="" id="{31E88F0A-390C-446B-9652-2FEE5182A34B}"/>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60" name="Rectangle 13">
                  <a:extLst>
                    <a:ext uri="{FF2B5EF4-FFF2-40B4-BE49-F238E27FC236}">
                      <a16:creationId xmlns:a16="http://schemas.microsoft.com/office/drawing/2014/main" xmlns="" id="{5C18AEDA-C586-42A3-B079-B766C53942A5}"/>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61" name="Rectangle 14">
                  <a:extLst>
                    <a:ext uri="{FF2B5EF4-FFF2-40B4-BE49-F238E27FC236}">
                      <a16:creationId xmlns:a16="http://schemas.microsoft.com/office/drawing/2014/main" xmlns="" id="{E2ECF5E3-6482-4852-9FFD-3685365D06EF}"/>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62" name="Rectangle 15">
                  <a:extLst>
                    <a:ext uri="{FF2B5EF4-FFF2-40B4-BE49-F238E27FC236}">
                      <a16:creationId xmlns:a16="http://schemas.microsoft.com/office/drawing/2014/main" xmlns="" id="{74263AE6-93C6-409B-99B0-C7A914826972}"/>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63" name="Rectangle 16">
                  <a:extLst>
                    <a:ext uri="{FF2B5EF4-FFF2-40B4-BE49-F238E27FC236}">
                      <a16:creationId xmlns:a16="http://schemas.microsoft.com/office/drawing/2014/main" xmlns="" id="{87707A5A-BED0-4200-8548-ACA46F3E3B49}"/>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64" name="Rectangle 17">
                  <a:extLst>
                    <a:ext uri="{FF2B5EF4-FFF2-40B4-BE49-F238E27FC236}">
                      <a16:creationId xmlns:a16="http://schemas.microsoft.com/office/drawing/2014/main" xmlns="" id="{7D45E65F-40EF-4862-80E7-3716C6BEF4B7}"/>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65" name="Rectangle 18">
                  <a:extLst>
                    <a:ext uri="{FF2B5EF4-FFF2-40B4-BE49-F238E27FC236}">
                      <a16:creationId xmlns:a16="http://schemas.microsoft.com/office/drawing/2014/main" xmlns="" id="{D7C848B9-A32E-468B-9F7A-06CDA6D6530F}"/>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66" name="Rectangle 19">
                  <a:extLst>
                    <a:ext uri="{FF2B5EF4-FFF2-40B4-BE49-F238E27FC236}">
                      <a16:creationId xmlns:a16="http://schemas.microsoft.com/office/drawing/2014/main" xmlns="" id="{F5080766-856C-49B2-9985-02431A3ACC8E}"/>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67" name="Rectangle 20">
                  <a:extLst>
                    <a:ext uri="{FF2B5EF4-FFF2-40B4-BE49-F238E27FC236}">
                      <a16:creationId xmlns:a16="http://schemas.microsoft.com/office/drawing/2014/main" xmlns="" id="{BE8AAC07-3E70-4B8A-9CC9-2BCA126E8847}"/>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68" name="Rectangle 21">
                  <a:extLst>
                    <a:ext uri="{FF2B5EF4-FFF2-40B4-BE49-F238E27FC236}">
                      <a16:creationId xmlns:a16="http://schemas.microsoft.com/office/drawing/2014/main" xmlns="" id="{4F3E4261-0832-4DDA-B044-17EF00254F50}"/>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69" name="Rectangle 22">
                  <a:extLst>
                    <a:ext uri="{FF2B5EF4-FFF2-40B4-BE49-F238E27FC236}">
                      <a16:creationId xmlns:a16="http://schemas.microsoft.com/office/drawing/2014/main" xmlns="" id="{84DC098C-0DA1-4C25-A86C-F08DD9D3BEBB}"/>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70" name="Rectangle 23">
                  <a:extLst>
                    <a:ext uri="{FF2B5EF4-FFF2-40B4-BE49-F238E27FC236}">
                      <a16:creationId xmlns:a16="http://schemas.microsoft.com/office/drawing/2014/main" xmlns="" id="{B36F30A5-53C5-4411-ABD5-3ED4D83329B8}"/>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71" name="Rectangle 24">
                  <a:extLst>
                    <a:ext uri="{FF2B5EF4-FFF2-40B4-BE49-F238E27FC236}">
                      <a16:creationId xmlns:a16="http://schemas.microsoft.com/office/drawing/2014/main" xmlns="" id="{59404013-74F0-4A0D-BD22-932C0D70139F}"/>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72" name="Rectangle 25">
                  <a:extLst>
                    <a:ext uri="{FF2B5EF4-FFF2-40B4-BE49-F238E27FC236}">
                      <a16:creationId xmlns:a16="http://schemas.microsoft.com/office/drawing/2014/main" xmlns="" id="{150B9082-759F-4387-936F-D4CCC5E829A0}"/>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73" name="Rectangle 26">
                  <a:extLst>
                    <a:ext uri="{FF2B5EF4-FFF2-40B4-BE49-F238E27FC236}">
                      <a16:creationId xmlns:a16="http://schemas.microsoft.com/office/drawing/2014/main" xmlns="" id="{40BECCCA-54B1-48A3-A189-CE505309FA92}"/>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74" name="Rectangle 27">
                  <a:extLst>
                    <a:ext uri="{FF2B5EF4-FFF2-40B4-BE49-F238E27FC236}">
                      <a16:creationId xmlns:a16="http://schemas.microsoft.com/office/drawing/2014/main" xmlns="" id="{646ACF76-11A8-489C-A860-44CD6AB65241}"/>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75" name="Rectangle 28">
                  <a:extLst>
                    <a:ext uri="{FF2B5EF4-FFF2-40B4-BE49-F238E27FC236}">
                      <a16:creationId xmlns:a16="http://schemas.microsoft.com/office/drawing/2014/main" xmlns="" id="{D71D9D7F-B862-4DFA-9421-4704A3711C9A}"/>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76" name="Rectangle 29">
                  <a:extLst>
                    <a:ext uri="{FF2B5EF4-FFF2-40B4-BE49-F238E27FC236}">
                      <a16:creationId xmlns:a16="http://schemas.microsoft.com/office/drawing/2014/main" xmlns="" id="{59F54909-A99E-4876-9030-45E21277714A}"/>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77" name="Rectangle 30">
                  <a:extLst>
                    <a:ext uri="{FF2B5EF4-FFF2-40B4-BE49-F238E27FC236}">
                      <a16:creationId xmlns:a16="http://schemas.microsoft.com/office/drawing/2014/main" xmlns="" id="{B8122C82-E93B-4894-BAFA-7A4AFAF4EEA9}"/>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78" name="Rectangle 31">
                  <a:extLst>
                    <a:ext uri="{FF2B5EF4-FFF2-40B4-BE49-F238E27FC236}">
                      <a16:creationId xmlns:a16="http://schemas.microsoft.com/office/drawing/2014/main" xmlns="" id="{C0C067FF-56CC-4DC7-BD2A-85AB9C123BB9}"/>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79" name="Rectangle 32">
                  <a:extLst>
                    <a:ext uri="{FF2B5EF4-FFF2-40B4-BE49-F238E27FC236}">
                      <a16:creationId xmlns:a16="http://schemas.microsoft.com/office/drawing/2014/main" xmlns="" id="{248E24B5-212B-4099-88D4-A06357418079}"/>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80" name="Rectangle 33">
                  <a:extLst>
                    <a:ext uri="{FF2B5EF4-FFF2-40B4-BE49-F238E27FC236}">
                      <a16:creationId xmlns:a16="http://schemas.microsoft.com/office/drawing/2014/main" xmlns="" id="{922EA89F-FA73-4095-A4B8-CB1D64F98F40}"/>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81" name="Rectangle 34">
                  <a:extLst>
                    <a:ext uri="{FF2B5EF4-FFF2-40B4-BE49-F238E27FC236}">
                      <a16:creationId xmlns:a16="http://schemas.microsoft.com/office/drawing/2014/main" xmlns="" id="{D50B1447-FB13-40D1-A121-CB1B66C997D5}"/>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82" name="Rectangle 35">
                  <a:extLst>
                    <a:ext uri="{FF2B5EF4-FFF2-40B4-BE49-F238E27FC236}">
                      <a16:creationId xmlns:a16="http://schemas.microsoft.com/office/drawing/2014/main" xmlns="" id="{F64E171C-FBF7-4B2E-8686-FCE14A5E7098}"/>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83" name="Rectangle 36">
                  <a:extLst>
                    <a:ext uri="{FF2B5EF4-FFF2-40B4-BE49-F238E27FC236}">
                      <a16:creationId xmlns:a16="http://schemas.microsoft.com/office/drawing/2014/main" xmlns="" id="{68E2FD83-56AB-4CB4-A115-42214B2723BD}"/>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84" name="Rectangle 37">
                  <a:extLst>
                    <a:ext uri="{FF2B5EF4-FFF2-40B4-BE49-F238E27FC236}">
                      <a16:creationId xmlns:a16="http://schemas.microsoft.com/office/drawing/2014/main" xmlns="" id="{C2D60476-1EA5-4B39-873C-41AC136A6619}"/>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85" name="Rectangle 38">
                  <a:extLst>
                    <a:ext uri="{FF2B5EF4-FFF2-40B4-BE49-F238E27FC236}">
                      <a16:creationId xmlns:a16="http://schemas.microsoft.com/office/drawing/2014/main" xmlns="" id="{552272CB-9EF6-4A10-AEC1-FA3DAFFFF6E2}"/>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186" name="Rectangle 39">
                  <a:extLst>
                    <a:ext uri="{FF2B5EF4-FFF2-40B4-BE49-F238E27FC236}">
                      <a16:creationId xmlns:a16="http://schemas.microsoft.com/office/drawing/2014/main" xmlns="" id="{0EE42B16-0A43-47DD-B5EF-D55C7C5AF600}"/>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187" name="Rectangle 40">
                  <a:extLst>
                    <a:ext uri="{FF2B5EF4-FFF2-40B4-BE49-F238E27FC236}">
                      <a16:creationId xmlns:a16="http://schemas.microsoft.com/office/drawing/2014/main" xmlns="" id="{6D37E515-F363-4220-8B99-4E0FCAB7F864}"/>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188" name="Rectangle 41">
                  <a:extLst>
                    <a:ext uri="{FF2B5EF4-FFF2-40B4-BE49-F238E27FC236}">
                      <a16:creationId xmlns:a16="http://schemas.microsoft.com/office/drawing/2014/main" xmlns="" id="{2DBA1FE0-58C3-4541-88BB-1E0978971AA1}"/>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189" name="Rectangle 42">
                  <a:extLst>
                    <a:ext uri="{FF2B5EF4-FFF2-40B4-BE49-F238E27FC236}">
                      <a16:creationId xmlns:a16="http://schemas.microsoft.com/office/drawing/2014/main" xmlns="" id="{A3C4707B-95F1-4A10-8372-FB526E7ECC5C}"/>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190" name="Rectangle 43">
                  <a:extLst>
                    <a:ext uri="{FF2B5EF4-FFF2-40B4-BE49-F238E27FC236}">
                      <a16:creationId xmlns:a16="http://schemas.microsoft.com/office/drawing/2014/main" xmlns="" id="{FF2B6405-8AB2-4AF3-82AB-EEA4A8CAED0D}"/>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191" name="Rectangle 44">
                  <a:extLst>
                    <a:ext uri="{FF2B5EF4-FFF2-40B4-BE49-F238E27FC236}">
                      <a16:creationId xmlns:a16="http://schemas.microsoft.com/office/drawing/2014/main" xmlns="" id="{D137BCD2-9744-465E-BCFE-237E86236E8B}"/>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192" name="Rectangle 45">
                  <a:extLst>
                    <a:ext uri="{FF2B5EF4-FFF2-40B4-BE49-F238E27FC236}">
                      <a16:creationId xmlns:a16="http://schemas.microsoft.com/office/drawing/2014/main" xmlns="" id="{AE1D5C78-AC7D-4741-8275-4900537A97CC}"/>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193" name="Rectangle 46">
                  <a:extLst>
                    <a:ext uri="{FF2B5EF4-FFF2-40B4-BE49-F238E27FC236}">
                      <a16:creationId xmlns:a16="http://schemas.microsoft.com/office/drawing/2014/main" xmlns="" id="{3AF9CB77-92AD-432F-B059-1CD6F6E9CD0C}"/>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194" name="Rectangle 47">
                  <a:extLst>
                    <a:ext uri="{FF2B5EF4-FFF2-40B4-BE49-F238E27FC236}">
                      <a16:creationId xmlns:a16="http://schemas.microsoft.com/office/drawing/2014/main" xmlns="" id="{6EBF8961-1FA6-42B9-BAC8-69FB0B70E12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195" name="Rectangle 48">
                  <a:extLst>
                    <a:ext uri="{FF2B5EF4-FFF2-40B4-BE49-F238E27FC236}">
                      <a16:creationId xmlns:a16="http://schemas.microsoft.com/office/drawing/2014/main" xmlns="" id="{AB588417-462D-4D5E-83AB-CBC41902E19C}"/>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196" name="Rectangle 49">
                  <a:extLst>
                    <a:ext uri="{FF2B5EF4-FFF2-40B4-BE49-F238E27FC236}">
                      <a16:creationId xmlns:a16="http://schemas.microsoft.com/office/drawing/2014/main" xmlns="" id="{283229A2-DE33-4DF4-A324-2C55943D7C6F}"/>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197" name="Rectangle 50">
                  <a:extLst>
                    <a:ext uri="{FF2B5EF4-FFF2-40B4-BE49-F238E27FC236}">
                      <a16:creationId xmlns:a16="http://schemas.microsoft.com/office/drawing/2014/main" xmlns="" id="{957EAA01-FF71-42A7-9C16-5CEDC520E0B8}"/>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198" name="Rectangle 51">
                  <a:extLst>
                    <a:ext uri="{FF2B5EF4-FFF2-40B4-BE49-F238E27FC236}">
                      <a16:creationId xmlns:a16="http://schemas.microsoft.com/office/drawing/2014/main" xmlns="" id="{BC355B94-238A-43CB-A1A7-F82919E2B16C}"/>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199" name="Rectangle 52">
                  <a:extLst>
                    <a:ext uri="{FF2B5EF4-FFF2-40B4-BE49-F238E27FC236}">
                      <a16:creationId xmlns:a16="http://schemas.microsoft.com/office/drawing/2014/main" xmlns="" id="{41FB6AD2-F63F-4523-AA73-C2041EFB55C8}"/>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00" name="Rectangle 53">
                  <a:extLst>
                    <a:ext uri="{FF2B5EF4-FFF2-40B4-BE49-F238E27FC236}">
                      <a16:creationId xmlns:a16="http://schemas.microsoft.com/office/drawing/2014/main" xmlns="" id="{37743D47-5DCB-4791-99AD-99F01D37A14A}"/>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01" name="Rectangle 54">
                  <a:extLst>
                    <a:ext uri="{FF2B5EF4-FFF2-40B4-BE49-F238E27FC236}">
                      <a16:creationId xmlns:a16="http://schemas.microsoft.com/office/drawing/2014/main" xmlns="" id="{1E7763B9-147A-47E9-A9BF-99F3C8A47FD3}"/>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02" name="Rectangle 55">
                  <a:extLst>
                    <a:ext uri="{FF2B5EF4-FFF2-40B4-BE49-F238E27FC236}">
                      <a16:creationId xmlns:a16="http://schemas.microsoft.com/office/drawing/2014/main" xmlns="" id="{0A52EAE6-2DA9-4DDB-8EBD-15E6164ADB7D}"/>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03" name="Rectangle 56">
                  <a:extLst>
                    <a:ext uri="{FF2B5EF4-FFF2-40B4-BE49-F238E27FC236}">
                      <a16:creationId xmlns:a16="http://schemas.microsoft.com/office/drawing/2014/main" xmlns="" id="{5DDDFEAF-5965-44C3-873D-779B70BE08B9}"/>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04" name="Rectangle 57">
                  <a:extLst>
                    <a:ext uri="{FF2B5EF4-FFF2-40B4-BE49-F238E27FC236}">
                      <a16:creationId xmlns:a16="http://schemas.microsoft.com/office/drawing/2014/main" xmlns="" id="{B45C9A0F-810F-4A59-A495-5B7A943D951A}"/>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05" name="Rectangle 58">
                  <a:extLst>
                    <a:ext uri="{FF2B5EF4-FFF2-40B4-BE49-F238E27FC236}">
                      <a16:creationId xmlns:a16="http://schemas.microsoft.com/office/drawing/2014/main" xmlns="" id="{7721D865-1DFD-402A-BF86-4389BC4BB7A4}"/>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06" name="Rectangle 59">
                  <a:extLst>
                    <a:ext uri="{FF2B5EF4-FFF2-40B4-BE49-F238E27FC236}">
                      <a16:creationId xmlns:a16="http://schemas.microsoft.com/office/drawing/2014/main" xmlns="" id="{5CC5CD1B-B77B-4010-B0D4-76DAA0DF81D0}"/>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207" name="Rectangle 60">
                  <a:extLst>
                    <a:ext uri="{FF2B5EF4-FFF2-40B4-BE49-F238E27FC236}">
                      <a16:creationId xmlns:a16="http://schemas.microsoft.com/office/drawing/2014/main" xmlns="" id="{059AB42E-E34A-47C4-9FEC-6071507F83A4}"/>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08" name="Rectangle 61">
                  <a:extLst>
                    <a:ext uri="{FF2B5EF4-FFF2-40B4-BE49-F238E27FC236}">
                      <a16:creationId xmlns:a16="http://schemas.microsoft.com/office/drawing/2014/main" xmlns="" id="{D8E3D171-DAB8-4543-BD33-F64328F6665E}"/>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09" name="Rectangle 62">
                  <a:extLst>
                    <a:ext uri="{FF2B5EF4-FFF2-40B4-BE49-F238E27FC236}">
                      <a16:creationId xmlns:a16="http://schemas.microsoft.com/office/drawing/2014/main" xmlns="" id="{64FA0C74-0E92-4D57-8A60-51DD444F99D7}"/>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10" name="Rectangle 63">
                  <a:extLst>
                    <a:ext uri="{FF2B5EF4-FFF2-40B4-BE49-F238E27FC236}">
                      <a16:creationId xmlns:a16="http://schemas.microsoft.com/office/drawing/2014/main" xmlns="" id="{E419EAB7-4609-4FFD-AAEF-41F0A92E7F9E}"/>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11" name="Rectangle 64">
                  <a:extLst>
                    <a:ext uri="{FF2B5EF4-FFF2-40B4-BE49-F238E27FC236}">
                      <a16:creationId xmlns:a16="http://schemas.microsoft.com/office/drawing/2014/main" xmlns="" id="{58246B18-E24D-43B1-BE88-83F5A5D35972}"/>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12" name="Rectangle 65">
                  <a:extLst>
                    <a:ext uri="{FF2B5EF4-FFF2-40B4-BE49-F238E27FC236}">
                      <a16:creationId xmlns:a16="http://schemas.microsoft.com/office/drawing/2014/main" xmlns="" id="{5F74A6C9-AF7D-40ED-B8B8-33B675AB80EF}"/>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13" name="Rectangle 66">
                  <a:extLst>
                    <a:ext uri="{FF2B5EF4-FFF2-40B4-BE49-F238E27FC236}">
                      <a16:creationId xmlns:a16="http://schemas.microsoft.com/office/drawing/2014/main" xmlns="" id="{50E0240C-EF60-4148-BEED-FF457F74F850}"/>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14" name="Rectangle 67">
                  <a:extLst>
                    <a:ext uri="{FF2B5EF4-FFF2-40B4-BE49-F238E27FC236}">
                      <a16:creationId xmlns:a16="http://schemas.microsoft.com/office/drawing/2014/main" xmlns="" id="{B1F6FFD4-D2E4-448C-8F70-47F9E08D7B54}"/>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15" name="Rectangle 68">
                  <a:extLst>
                    <a:ext uri="{FF2B5EF4-FFF2-40B4-BE49-F238E27FC236}">
                      <a16:creationId xmlns:a16="http://schemas.microsoft.com/office/drawing/2014/main" xmlns="" id="{832B4F7D-A6FA-4CB6-AB8B-4BA5BB9CF5AD}"/>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6" name="Rectangle 69">
                  <a:extLst>
                    <a:ext uri="{FF2B5EF4-FFF2-40B4-BE49-F238E27FC236}">
                      <a16:creationId xmlns:a16="http://schemas.microsoft.com/office/drawing/2014/main" xmlns="" id="{0E1C05B5-6247-445C-A11D-33DFEBAD4F37}"/>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7" name="Rectangle 70">
                  <a:extLst>
                    <a:ext uri="{FF2B5EF4-FFF2-40B4-BE49-F238E27FC236}">
                      <a16:creationId xmlns:a16="http://schemas.microsoft.com/office/drawing/2014/main" xmlns="" id="{1606FC73-2D20-4907-91CC-AA5DD0C147E4}"/>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18" name="Rectangle 71">
                  <a:extLst>
                    <a:ext uri="{FF2B5EF4-FFF2-40B4-BE49-F238E27FC236}">
                      <a16:creationId xmlns:a16="http://schemas.microsoft.com/office/drawing/2014/main" xmlns="" id="{8EB0DB6A-D15D-4882-AE0F-21BD31F5611C}"/>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9" name="Rectangle 72">
                  <a:extLst>
                    <a:ext uri="{FF2B5EF4-FFF2-40B4-BE49-F238E27FC236}">
                      <a16:creationId xmlns:a16="http://schemas.microsoft.com/office/drawing/2014/main" xmlns="" id="{B56A38CD-DE12-40DB-AB3F-D6915915C241}"/>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20" name="Rectangle 73">
                  <a:extLst>
                    <a:ext uri="{FF2B5EF4-FFF2-40B4-BE49-F238E27FC236}">
                      <a16:creationId xmlns:a16="http://schemas.microsoft.com/office/drawing/2014/main" xmlns="" id="{7D140807-598F-4EB1-80EC-9B42CAF06843}"/>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21" name="Rectangle 74">
                  <a:extLst>
                    <a:ext uri="{FF2B5EF4-FFF2-40B4-BE49-F238E27FC236}">
                      <a16:creationId xmlns:a16="http://schemas.microsoft.com/office/drawing/2014/main" xmlns="" id="{2A56B69A-6602-4DD4-AF34-9FA8CCF826D2}"/>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22" name="Rectangle 75">
                  <a:extLst>
                    <a:ext uri="{FF2B5EF4-FFF2-40B4-BE49-F238E27FC236}">
                      <a16:creationId xmlns:a16="http://schemas.microsoft.com/office/drawing/2014/main" xmlns="" id="{EC58C83C-D55D-4CD7-B59A-8AEB6552B7A7}"/>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23" name="Rectangle 76">
                  <a:extLst>
                    <a:ext uri="{FF2B5EF4-FFF2-40B4-BE49-F238E27FC236}">
                      <a16:creationId xmlns:a16="http://schemas.microsoft.com/office/drawing/2014/main" xmlns="" id="{CD548D29-88E2-4F77-9B1E-8204A02C8143}"/>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24" name="Rectangle 77">
                  <a:extLst>
                    <a:ext uri="{FF2B5EF4-FFF2-40B4-BE49-F238E27FC236}">
                      <a16:creationId xmlns:a16="http://schemas.microsoft.com/office/drawing/2014/main" xmlns="" id="{B57FCC82-D4AA-4651-9FF8-572D7CF72828}"/>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25" name="Rectangle 78">
                  <a:extLst>
                    <a:ext uri="{FF2B5EF4-FFF2-40B4-BE49-F238E27FC236}">
                      <a16:creationId xmlns:a16="http://schemas.microsoft.com/office/drawing/2014/main" xmlns="" id="{DABFCC42-F8D8-4845-88F4-52480CBF110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26" name="Rectangle 79">
                  <a:extLst>
                    <a:ext uri="{FF2B5EF4-FFF2-40B4-BE49-F238E27FC236}">
                      <a16:creationId xmlns:a16="http://schemas.microsoft.com/office/drawing/2014/main" xmlns="" id="{4FD01CAF-1F29-4E89-91AC-08624B0EFE28}"/>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27" name="Rectangle 80">
                  <a:extLst>
                    <a:ext uri="{FF2B5EF4-FFF2-40B4-BE49-F238E27FC236}">
                      <a16:creationId xmlns:a16="http://schemas.microsoft.com/office/drawing/2014/main" xmlns="" id="{DB943306-332E-4A63-8F81-B424B744CDC1}"/>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28" name="Rectangle 81">
                  <a:extLst>
                    <a:ext uri="{FF2B5EF4-FFF2-40B4-BE49-F238E27FC236}">
                      <a16:creationId xmlns:a16="http://schemas.microsoft.com/office/drawing/2014/main" xmlns="" id="{4CB46192-0426-4062-B56D-F8DA3245676D}"/>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29" name="Rectangle 82">
                  <a:extLst>
                    <a:ext uri="{FF2B5EF4-FFF2-40B4-BE49-F238E27FC236}">
                      <a16:creationId xmlns:a16="http://schemas.microsoft.com/office/drawing/2014/main" xmlns="" id="{0BFCB3CD-AE1D-490F-B207-85D5AEF1AA1A}"/>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30" name="Rectangle 83">
                  <a:extLst>
                    <a:ext uri="{FF2B5EF4-FFF2-40B4-BE49-F238E27FC236}">
                      <a16:creationId xmlns:a16="http://schemas.microsoft.com/office/drawing/2014/main" xmlns="" id="{BDE548EC-460C-470A-9172-920A32D433C6}"/>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31" name="Rectangle 84">
                  <a:extLst>
                    <a:ext uri="{FF2B5EF4-FFF2-40B4-BE49-F238E27FC236}">
                      <a16:creationId xmlns:a16="http://schemas.microsoft.com/office/drawing/2014/main" xmlns="" id="{12F47F32-080D-4D25-A09E-798E59A47E66}"/>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32" name="Rectangle 85">
                  <a:extLst>
                    <a:ext uri="{FF2B5EF4-FFF2-40B4-BE49-F238E27FC236}">
                      <a16:creationId xmlns:a16="http://schemas.microsoft.com/office/drawing/2014/main" xmlns="" id="{F0187CFE-6310-4B7C-B17D-5FA4465F6A22}"/>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33" name="Rectangle 86">
                  <a:extLst>
                    <a:ext uri="{FF2B5EF4-FFF2-40B4-BE49-F238E27FC236}">
                      <a16:creationId xmlns:a16="http://schemas.microsoft.com/office/drawing/2014/main" xmlns="" id="{B6430583-E5DA-4E84-A91D-DACFEC5CE9AD}"/>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34" name="Rectangle 87">
                  <a:extLst>
                    <a:ext uri="{FF2B5EF4-FFF2-40B4-BE49-F238E27FC236}">
                      <a16:creationId xmlns:a16="http://schemas.microsoft.com/office/drawing/2014/main" xmlns="" id="{A3F15A82-0028-44E0-B370-15F725DFBF5B}"/>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35" name="Rectangle 88">
                  <a:extLst>
                    <a:ext uri="{FF2B5EF4-FFF2-40B4-BE49-F238E27FC236}">
                      <a16:creationId xmlns:a16="http://schemas.microsoft.com/office/drawing/2014/main" xmlns="" id="{1204F96A-25FA-44AF-9272-D8C945A01999}"/>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36" name="Line 89">
                  <a:extLst>
                    <a:ext uri="{FF2B5EF4-FFF2-40B4-BE49-F238E27FC236}">
                      <a16:creationId xmlns:a16="http://schemas.microsoft.com/office/drawing/2014/main" xmlns="" id="{ABA50F90-EE3B-456F-A47E-E18FF945A13B}"/>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7" name="Line 90">
                  <a:extLst>
                    <a:ext uri="{FF2B5EF4-FFF2-40B4-BE49-F238E27FC236}">
                      <a16:creationId xmlns:a16="http://schemas.microsoft.com/office/drawing/2014/main" xmlns="" id="{EFE6D940-3FAC-43C7-A66A-E079E9897737}"/>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8" name="Line 91">
                  <a:extLst>
                    <a:ext uri="{FF2B5EF4-FFF2-40B4-BE49-F238E27FC236}">
                      <a16:creationId xmlns:a16="http://schemas.microsoft.com/office/drawing/2014/main" xmlns="" id="{E3C2CAD5-AA41-40AA-8912-A46487B73311}"/>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9" name="Line 92">
                  <a:extLst>
                    <a:ext uri="{FF2B5EF4-FFF2-40B4-BE49-F238E27FC236}">
                      <a16:creationId xmlns:a16="http://schemas.microsoft.com/office/drawing/2014/main" xmlns="" id="{06F1D53D-6547-4DCE-8FDA-3142A92B7806}"/>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0" name="Line 93">
                  <a:extLst>
                    <a:ext uri="{FF2B5EF4-FFF2-40B4-BE49-F238E27FC236}">
                      <a16:creationId xmlns:a16="http://schemas.microsoft.com/office/drawing/2014/main" xmlns="" id="{E33083EF-9C65-4968-8C6C-5D517DD5EB14}"/>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1" name="Line 94">
                  <a:extLst>
                    <a:ext uri="{FF2B5EF4-FFF2-40B4-BE49-F238E27FC236}">
                      <a16:creationId xmlns:a16="http://schemas.microsoft.com/office/drawing/2014/main" xmlns="" id="{1E7BAAF6-E885-456C-9643-51618343B739}"/>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2" name="Line 95">
                  <a:extLst>
                    <a:ext uri="{FF2B5EF4-FFF2-40B4-BE49-F238E27FC236}">
                      <a16:creationId xmlns:a16="http://schemas.microsoft.com/office/drawing/2014/main" xmlns="" id="{C0020F50-9F6F-4BDC-A9E2-4EC3EF69A527}"/>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3" name="Line 96">
                  <a:extLst>
                    <a:ext uri="{FF2B5EF4-FFF2-40B4-BE49-F238E27FC236}">
                      <a16:creationId xmlns:a16="http://schemas.microsoft.com/office/drawing/2014/main" xmlns="" id="{156EB8C9-48FD-4690-912B-05E891BA4EEA}"/>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4" name="Line 97">
                  <a:extLst>
                    <a:ext uri="{FF2B5EF4-FFF2-40B4-BE49-F238E27FC236}">
                      <a16:creationId xmlns:a16="http://schemas.microsoft.com/office/drawing/2014/main" xmlns="" id="{5CC5C705-7540-4102-94FE-EC7CAF3DA6B5}"/>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5" name="Line 98">
                  <a:extLst>
                    <a:ext uri="{FF2B5EF4-FFF2-40B4-BE49-F238E27FC236}">
                      <a16:creationId xmlns:a16="http://schemas.microsoft.com/office/drawing/2014/main" xmlns="" id="{E43287F2-03E7-4351-AA3E-A474A97C23E9}"/>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44" name="TextBox 143">
                <a:extLst>
                  <a:ext uri="{FF2B5EF4-FFF2-40B4-BE49-F238E27FC236}">
                    <a16:creationId xmlns:a16="http://schemas.microsoft.com/office/drawing/2014/main" xmlns="" id="{D1629958-6FCF-43A5-9C85-9842D25D4A1E}"/>
                  </a:ext>
                </a:extLst>
              </p:cNvPr>
              <p:cNvSpPr txBox="1"/>
              <p:nvPr/>
            </p:nvSpPr>
            <p:spPr>
              <a:xfrm>
                <a:off x="446601" y="2411009"/>
                <a:ext cx="428137" cy="508171"/>
              </a:xfrm>
              <a:prstGeom prst="rect">
                <a:avLst/>
              </a:prstGeom>
              <a:noFill/>
            </p:spPr>
            <p:txBody>
              <a:bodyPr wrap="none" rtlCol="0">
                <a:spAutoFit/>
              </a:bodyPr>
              <a:lstStyle/>
              <a:p>
                <a:r>
                  <a:rPr lang="en-GB" sz="1400" dirty="0"/>
                  <a:t>1</a:t>
                </a:r>
              </a:p>
            </p:txBody>
          </p:sp>
          <p:sp>
            <p:nvSpPr>
              <p:cNvPr id="145" name="TextBox 144">
                <a:extLst>
                  <a:ext uri="{FF2B5EF4-FFF2-40B4-BE49-F238E27FC236}">
                    <a16:creationId xmlns:a16="http://schemas.microsoft.com/office/drawing/2014/main" xmlns="" id="{A8250F6C-B3E6-42A3-8BB2-7F9290705221}"/>
                  </a:ext>
                </a:extLst>
              </p:cNvPr>
              <p:cNvSpPr txBox="1"/>
              <p:nvPr/>
            </p:nvSpPr>
            <p:spPr>
              <a:xfrm>
                <a:off x="882960" y="2411007"/>
                <a:ext cx="428137" cy="508171"/>
              </a:xfrm>
              <a:prstGeom prst="rect">
                <a:avLst/>
              </a:prstGeom>
              <a:noFill/>
            </p:spPr>
            <p:txBody>
              <a:bodyPr wrap="none" rtlCol="0">
                <a:spAutoFit/>
              </a:bodyPr>
              <a:lstStyle/>
              <a:p>
                <a:r>
                  <a:rPr lang="en-GB" sz="1400" dirty="0"/>
                  <a:t>2</a:t>
                </a:r>
              </a:p>
            </p:txBody>
          </p:sp>
          <p:sp>
            <p:nvSpPr>
              <p:cNvPr id="146" name="TextBox 145">
                <a:extLst>
                  <a:ext uri="{FF2B5EF4-FFF2-40B4-BE49-F238E27FC236}">
                    <a16:creationId xmlns:a16="http://schemas.microsoft.com/office/drawing/2014/main" xmlns="" id="{473BA9C3-F766-49CE-A0ED-A44D813BDED1}"/>
                  </a:ext>
                </a:extLst>
              </p:cNvPr>
              <p:cNvSpPr txBox="1"/>
              <p:nvPr/>
            </p:nvSpPr>
            <p:spPr>
              <a:xfrm>
                <a:off x="5912161" y="2411010"/>
                <a:ext cx="428137" cy="508171"/>
              </a:xfrm>
              <a:prstGeom prst="rect">
                <a:avLst/>
              </a:prstGeom>
              <a:noFill/>
            </p:spPr>
            <p:txBody>
              <a:bodyPr wrap="none" rtlCol="0">
                <a:spAutoFit/>
              </a:bodyPr>
              <a:lstStyle/>
              <a:p>
                <a:r>
                  <a:rPr lang="en-GB" sz="1400" dirty="0"/>
                  <a:t>3</a:t>
                </a:r>
              </a:p>
            </p:txBody>
          </p:sp>
          <p:sp>
            <p:nvSpPr>
              <p:cNvPr id="147" name="TextBox 146">
                <a:extLst>
                  <a:ext uri="{FF2B5EF4-FFF2-40B4-BE49-F238E27FC236}">
                    <a16:creationId xmlns:a16="http://schemas.microsoft.com/office/drawing/2014/main" xmlns="" id="{662A2AD1-A7E2-4BCB-AECC-F12C7791127D}"/>
                  </a:ext>
                </a:extLst>
              </p:cNvPr>
              <p:cNvSpPr txBox="1"/>
              <p:nvPr/>
            </p:nvSpPr>
            <p:spPr>
              <a:xfrm>
                <a:off x="6369362" y="2411015"/>
                <a:ext cx="428137" cy="508171"/>
              </a:xfrm>
              <a:prstGeom prst="rect">
                <a:avLst/>
              </a:prstGeom>
              <a:noFill/>
            </p:spPr>
            <p:txBody>
              <a:bodyPr wrap="none" rtlCol="0">
                <a:spAutoFit/>
              </a:bodyPr>
              <a:lstStyle/>
              <a:p>
                <a:r>
                  <a:rPr lang="en-GB" sz="1400" dirty="0"/>
                  <a:t>4</a:t>
                </a:r>
              </a:p>
            </p:txBody>
          </p:sp>
          <p:sp>
            <p:nvSpPr>
              <p:cNvPr id="148" name="TextBox 147">
                <a:extLst>
                  <a:ext uri="{FF2B5EF4-FFF2-40B4-BE49-F238E27FC236}">
                    <a16:creationId xmlns:a16="http://schemas.microsoft.com/office/drawing/2014/main" xmlns="" id="{2F235881-D451-49BC-B57D-343449ABA2E8}"/>
                  </a:ext>
                </a:extLst>
              </p:cNvPr>
              <p:cNvSpPr txBox="1"/>
              <p:nvPr/>
            </p:nvSpPr>
            <p:spPr>
              <a:xfrm>
                <a:off x="6826562" y="2411015"/>
                <a:ext cx="428137" cy="508171"/>
              </a:xfrm>
              <a:prstGeom prst="rect">
                <a:avLst/>
              </a:prstGeom>
              <a:noFill/>
            </p:spPr>
            <p:txBody>
              <a:bodyPr wrap="none" rtlCol="0">
                <a:spAutoFit/>
              </a:bodyPr>
              <a:lstStyle/>
              <a:p>
                <a:r>
                  <a:rPr lang="en-GB" sz="1400" dirty="0"/>
                  <a:t>5</a:t>
                </a:r>
              </a:p>
            </p:txBody>
          </p:sp>
          <p:sp>
            <p:nvSpPr>
              <p:cNvPr id="149" name="TextBox 148">
                <a:extLst>
                  <a:ext uri="{FF2B5EF4-FFF2-40B4-BE49-F238E27FC236}">
                    <a16:creationId xmlns:a16="http://schemas.microsoft.com/office/drawing/2014/main" xmlns="" id="{AA99681B-D36A-4985-8A06-AF1FFBD79DAC}"/>
                  </a:ext>
                </a:extLst>
              </p:cNvPr>
              <p:cNvSpPr txBox="1"/>
              <p:nvPr/>
            </p:nvSpPr>
            <p:spPr>
              <a:xfrm>
                <a:off x="7283760" y="2411015"/>
                <a:ext cx="428137" cy="508171"/>
              </a:xfrm>
              <a:prstGeom prst="rect">
                <a:avLst/>
              </a:prstGeom>
              <a:noFill/>
            </p:spPr>
            <p:txBody>
              <a:bodyPr wrap="none" rtlCol="0">
                <a:spAutoFit/>
              </a:bodyPr>
              <a:lstStyle/>
              <a:p>
                <a:r>
                  <a:rPr lang="en-GB" sz="1400" dirty="0"/>
                  <a:t>6</a:t>
                </a:r>
              </a:p>
            </p:txBody>
          </p:sp>
          <p:sp>
            <p:nvSpPr>
              <p:cNvPr id="150" name="TextBox 149">
                <a:extLst>
                  <a:ext uri="{FF2B5EF4-FFF2-40B4-BE49-F238E27FC236}">
                    <a16:creationId xmlns:a16="http://schemas.microsoft.com/office/drawing/2014/main" xmlns="" id="{EA27C234-2999-42A6-B3FD-7249CFDA108A}"/>
                  </a:ext>
                </a:extLst>
              </p:cNvPr>
              <p:cNvSpPr txBox="1"/>
              <p:nvPr/>
            </p:nvSpPr>
            <p:spPr>
              <a:xfrm>
                <a:off x="7756914" y="2411015"/>
                <a:ext cx="428137" cy="508171"/>
              </a:xfrm>
              <a:prstGeom prst="rect">
                <a:avLst/>
              </a:prstGeom>
              <a:noFill/>
            </p:spPr>
            <p:txBody>
              <a:bodyPr wrap="none" rtlCol="0">
                <a:spAutoFit/>
              </a:bodyPr>
              <a:lstStyle/>
              <a:p>
                <a:r>
                  <a:rPr lang="en-GB" sz="1400" dirty="0"/>
                  <a:t>7</a:t>
                </a:r>
              </a:p>
            </p:txBody>
          </p:sp>
          <p:sp>
            <p:nvSpPr>
              <p:cNvPr id="151" name="TextBox 150">
                <a:extLst>
                  <a:ext uri="{FF2B5EF4-FFF2-40B4-BE49-F238E27FC236}">
                    <a16:creationId xmlns:a16="http://schemas.microsoft.com/office/drawing/2014/main" xmlns="" id="{238A5212-B400-4811-99AF-6384A0F31341}"/>
                  </a:ext>
                </a:extLst>
              </p:cNvPr>
              <p:cNvSpPr txBox="1"/>
              <p:nvPr/>
            </p:nvSpPr>
            <p:spPr>
              <a:xfrm>
                <a:off x="8198161" y="2411012"/>
                <a:ext cx="428137" cy="508171"/>
              </a:xfrm>
              <a:prstGeom prst="rect">
                <a:avLst/>
              </a:prstGeom>
              <a:noFill/>
            </p:spPr>
            <p:txBody>
              <a:bodyPr wrap="none" rtlCol="0">
                <a:spAutoFit/>
              </a:bodyPr>
              <a:lstStyle/>
              <a:p>
                <a:r>
                  <a:rPr lang="en-GB" sz="1400" dirty="0"/>
                  <a:t>0</a:t>
                </a:r>
              </a:p>
            </p:txBody>
          </p:sp>
        </p:grpSp>
        <p:cxnSp>
          <p:nvCxnSpPr>
            <p:cNvPr id="134" name="Straight Connector 133">
              <a:extLst>
                <a:ext uri="{FF2B5EF4-FFF2-40B4-BE49-F238E27FC236}">
                  <a16:creationId xmlns:a16="http://schemas.microsoft.com/office/drawing/2014/main" xmlns="" id="{3F968ADF-127F-443E-A8C3-2C2B427ACCAC}"/>
                </a:ext>
              </a:extLst>
            </p:cNvPr>
            <p:cNvCxnSpPr>
              <a:endCxn id="238"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xmlns="" id="{C5EEEFF9-723A-4482-BBF1-290FB495B252}"/>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xmlns="" id="{4EBB4AFB-59B1-4D8B-97E1-E77D147F7DA7}"/>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xmlns="" id="{477AE520-10E0-402B-9711-E743A498EC7C}"/>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xmlns="" id="{6A7E1A9E-D6DD-46A1-9F74-C878E3E13F79}"/>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xmlns="" id="{BE1A8EB9-7194-4BFA-A4EC-00CF3A91FB23}"/>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xmlns="" id="{43E5930D-85A0-493C-A876-452B859F8C3C}"/>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xmlns="" id="{8D666138-72DD-4B6C-876F-89C8D1E9AAFB}"/>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xmlns="" id="{2B954080-6049-422B-A554-674B9FA6CB41}"/>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xmlns="" id="{5586F595-8425-4292-81E9-C70DE61741D8}"/>
              </a:ext>
            </a:extLst>
          </p:cNvPr>
          <p:cNvSpPr/>
          <p:nvPr/>
        </p:nvSpPr>
        <p:spPr>
          <a:xfrm>
            <a:off x="94390" y="2865665"/>
            <a:ext cx="8964487" cy="1474033"/>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2</a:t>
            </a:r>
            <a:endParaRPr lang="en-GB" sz="2400" b="1" dirty="0">
              <a:solidFill>
                <a:schemeClr val="accent6"/>
              </a:solidFill>
            </a:endParaRPr>
          </a:p>
        </p:txBody>
      </p:sp>
      <p:sp>
        <p:nvSpPr>
          <p:cNvPr id="120" name="Rectangle 119">
            <a:extLst>
              <a:ext uri="{FF2B5EF4-FFF2-40B4-BE49-F238E27FC236}">
                <a16:creationId xmlns:a16="http://schemas.microsoft.com/office/drawing/2014/main" xmlns="" id="{229B2A54-F7C2-4CDB-8DE6-651ED3F48E4C}"/>
              </a:ext>
            </a:extLst>
          </p:cNvPr>
          <p:cNvSpPr/>
          <p:nvPr/>
        </p:nvSpPr>
        <p:spPr>
          <a:xfrm>
            <a:off x="103487" y="2875569"/>
            <a:ext cx="8964487" cy="1754326"/>
          </a:xfrm>
          <a:prstGeom prst="rect">
            <a:avLst/>
          </a:prstGeom>
        </p:spPr>
        <p:txBody>
          <a:bodyPr wrap="square">
            <a:spAutoFit/>
          </a:bodyPr>
          <a:lstStyle/>
          <a:p>
            <a:pPr algn="ctr"/>
            <a:r>
              <a:rPr lang="en-GB" dirty="0"/>
              <a:t>The alkali metals are very reactive. </a:t>
            </a:r>
            <a:r>
              <a:rPr lang="en-GB" dirty="0" smtClean="0"/>
              <a:t>They </a:t>
            </a:r>
            <a:r>
              <a:rPr lang="en-GB" dirty="0"/>
              <a:t>need to be stored under </a:t>
            </a:r>
            <a:r>
              <a:rPr lang="en-GB" b="1" dirty="0"/>
              <a:t>oi</a:t>
            </a:r>
            <a:r>
              <a:rPr lang="en-GB" dirty="0"/>
              <a:t>l to prevent them reacting with </a:t>
            </a:r>
            <a:r>
              <a:rPr lang="en-GB" b="1" dirty="0"/>
              <a:t>oxygen</a:t>
            </a:r>
            <a:r>
              <a:rPr lang="en-GB" dirty="0"/>
              <a:t> and </a:t>
            </a:r>
            <a:r>
              <a:rPr lang="en-GB" b="1" dirty="0"/>
              <a:t>water</a:t>
            </a:r>
            <a:r>
              <a:rPr lang="en-GB" dirty="0"/>
              <a:t> vapour in the </a:t>
            </a:r>
            <a:r>
              <a:rPr lang="en-GB" b="1" dirty="0"/>
              <a:t>air</a:t>
            </a:r>
            <a:r>
              <a:rPr lang="en-GB" dirty="0" smtClean="0"/>
              <a:t>. </a:t>
            </a:r>
            <a:r>
              <a:rPr lang="en-GB" dirty="0"/>
              <a:t>The alkali metals have </a:t>
            </a:r>
            <a:r>
              <a:rPr lang="en-GB" b="1" dirty="0"/>
              <a:t>low densities</a:t>
            </a:r>
            <a:r>
              <a:rPr lang="en-GB" dirty="0"/>
              <a:t>. </a:t>
            </a:r>
            <a:r>
              <a:rPr lang="en-GB" dirty="0" smtClean="0"/>
              <a:t>The </a:t>
            </a:r>
            <a:r>
              <a:rPr lang="en-GB" dirty="0"/>
              <a:t>metals are very </a:t>
            </a:r>
            <a:r>
              <a:rPr lang="en-GB" b="1" dirty="0"/>
              <a:t>soft</a:t>
            </a:r>
            <a:r>
              <a:rPr lang="en-GB" dirty="0"/>
              <a:t> and can be </a:t>
            </a:r>
            <a:r>
              <a:rPr lang="en-GB" b="1" dirty="0"/>
              <a:t>cut</a:t>
            </a:r>
            <a:r>
              <a:rPr lang="en-GB" dirty="0"/>
              <a:t> with a knife</a:t>
            </a:r>
            <a:r>
              <a:rPr lang="en-GB" dirty="0" smtClean="0"/>
              <a:t>. </a:t>
            </a:r>
            <a:r>
              <a:rPr lang="en-GB" dirty="0"/>
              <a:t>They also have </a:t>
            </a:r>
            <a:r>
              <a:rPr lang="en-GB" b="1" dirty="0"/>
              <a:t>low melting </a:t>
            </a:r>
            <a:r>
              <a:rPr lang="en-GB" dirty="0"/>
              <a:t>and </a:t>
            </a:r>
            <a:r>
              <a:rPr lang="en-GB" b="1" dirty="0"/>
              <a:t>boiling points</a:t>
            </a:r>
            <a:r>
              <a:rPr lang="en-GB" dirty="0"/>
              <a:t>.</a:t>
            </a:r>
          </a:p>
          <a:p>
            <a:pPr algn="ctr"/>
            <a:r>
              <a:rPr lang="en-GB" dirty="0"/>
              <a:t>The properties are due to all the atoms having just </a:t>
            </a:r>
            <a:r>
              <a:rPr lang="en-GB" b="1" dirty="0"/>
              <a:t>one</a:t>
            </a:r>
            <a:r>
              <a:rPr lang="en-GB" dirty="0"/>
              <a:t> electron in their outermost shell</a:t>
            </a:r>
            <a:r>
              <a:rPr lang="en-GB" dirty="0" smtClean="0"/>
              <a:t>. </a:t>
            </a:r>
            <a:r>
              <a:rPr lang="en-GB" dirty="0"/>
              <a:t>They only need to </a:t>
            </a:r>
            <a:r>
              <a:rPr lang="en-GB" b="1" dirty="0"/>
              <a:t>lose</a:t>
            </a:r>
            <a:r>
              <a:rPr lang="en-GB" dirty="0"/>
              <a:t> one electron to get the stable electronic structure of a noble gas.</a:t>
            </a:r>
          </a:p>
          <a:p>
            <a:pPr algn="ctr"/>
            <a:endParaRPr lang="en-GB" b="1" dirty="0"/>
          </a:p>
        </p:txBody>
      </p:sp>
      <p:sp>
        <p:nvSpPr>
          <p:cNvPr id="123" name="Rectangle 122">
            <a:extLst>
              <a:ext uri="{FF2B5EF4-FFF2-40B4-BE49-F238E27FC236}">
                <a16:creationId xmlns:a16="http://schemas.microsoft.com/office/drawing/2014/main" xmlns="" id="{05F73A03-3FE2-4A26-8736-14F52A35F7F7}"/>
              </a:ext>
            </a:extLst>
          </p:cNvPr>
          <p:cNvSpPr/>
          <p:nvPr/>
        </p:nvSpPr>
        <p:spPr>
          <a:xfrm>
            <a:off x="330778" y="1295500"/>
            <a:ext cx="2376095" cy="936124"/>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ALKALI METALS</a:t>
            </a:r>
          </a:p>
        </p:txBody>
      </p:sp>
      <p:cxnSp>
        <p:nvCxnSpPr>
          <p:cNvPr id="126" name="Straight Arrow Connector 125">
            <a:extLst>
              <a:ext uri="{FF2B5EF4-FFF2-40B4-BE49-F238E27FC236}">
                <a16:creationId xmlns:a16="http://schemas.microsoft.com/office/drawing/2014/main" xmlns="" id="{4042ED77-1356-4F17-A8E1-0FE16CA3AD76}"/>
              </a:ext>
            </a:extLst>
          </p:cNvPr>
          <p:cNvCxnSpPr>
            <a:cxnSpLocks/>
          </p:cNvCxnSpPr>
          <p:nvPr/>
        </p:nvCxnSpPr>
        <p:spPr>
          <a:xfrm flipV="1">
            <a:off x="2734132" y="1735652"/>
            <a:ext cx="718625" cy="4679"/>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xmlns="" id="{EDD9FAB0-ABD7-4AE9-881C-F4AED9786127}"/>
              </a:ext>
            </a:extLst>
          </p:cNvPr>
          <p:cNvSpPr/>
          <p:nvPr/>
        </p:nvSpPr>
        <p:spPr>
          <a:xfrm>
            <a:off x="3544920" y="1117485"/>
            <a:ext cx="294776" cy="1661438"/>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24" name="Group 4">
            <a:extLst>
              <a:ext uri="{FF2B5EF4-FFF2-40B4-BE49-F238E27FC236}">
                <a16:creationId xmlns:a16="http://schemas.microsoft.com/office/drawing/2014/main" xmlns="" id="{DAE373E3-D3DA-4F4B-8C22-8767CD0F4762}"/>
              </a:ext>
            </a:extLst>
          </p:cNvPr>
          <p:cNvGrpSpPr>
            <a:grpSpLocks/>
          </p:cNvGrpSpPr>
          <p:nvPr/>
        </p:nvGrpSpPr>
        <p:grpSpPr bwMode="auto">
          <a:xfrm>
            <a:off x="129515" y="4746310"/>
            <a:ext cx="790263" cy="1206132"/>
            <a:chOff x="733" y="774"/>
            <a:chExt cx="652" cy="2228"/>
          </a:xfrm>
          <a:solidFill>
            <a:srgbClr val="C00000"/>
          </a:solidFill>
        </p:grpSpPr>
        <p:sp>
          <p:nvSpPr>
            <p:cNvPr id="125" name="Rectangle 5">
              <a:extLst>
                <a:ext uri="{FF2B5EF4-FFF2-40B4-BE49-F238E27FC236}">
                  <a16:creationId xmlns:a16="http://schemas.microsoft.com/office/drawing/2014/main" xmlns="" id="{9DBA9F53-43E2-4668-8ACD-8CCE41BF85C8}"/>
                </a:ext>
              </a:extLst>
            </p:cNvPr>
            <p:cNvSpPr>
              <a:spLocks noChangeArrowheads="1"/>
            </p:cNvSpPr>
            <p:nvPr/>
          </p:nvSpPr>
          <p:spPr bwMode="auto">
            <a:xfrm>
              <a:off x="733" y="774"/>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Li</a:t>
              </a:r>
            </a:p>
          </p:txBody>
        </p:sp>
        <p:sp>
          <p:nvSpPr>
            <p:cNvPr id="127" name="Rectangle 6">
              <a:extLst>
                <a:ext uri="{FF2B5EF4-FFF2-40B4-BE49-F238E27FC236}">
                  <a16:creationId xmlns:a16="http://schemas.microsoft.com/office/drawing/2014/main" xmlns="" id="{DF8BB305-DE65-437C-9613-67A6CF0B2F42}"/>
                </a:ext>
              </a:extLst>
            </p:cNvPr>
            <p:cNvSpPr>
              <a:spLocks noChangeArrowheads="1"/>
            </p:cNvSpPr>
            <p:nvPr/>
          </p:nvSpPr>
          <p:spPr bwMode="auto">
            <a:xfrm>
              <a:off x="733" y="1220"/>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Na</a:t>
              </a:r>
            </a:p>
          </p:txBody>
        </p:sp>
        <p:sp>
          <p:nvSpPr>
            <p:cNvPr id="128" name="Rectangle 7">
              <a:extLst>
                <a:ext uri="{FF2B5EF4-FFF2-40B4-BE49-F238E27FC236}">
                  <a16:creationId xmlns:a16="http://schemas.microsoft.com/office/drawing/2014/main" xmlns="" id="{38994A49-43E4-4EE2-81E2-3ECA1688147E}"/>
                </a:ext>
              </a:extLst>
            </p:cNvPr>
            <p:cNvSpPr>
              <a:spLocks noChangeArrowheads="1"/>
            </p:cNvSpPr>
            <p:nvPr/>
          </p:nvSpPr>
          <p:spPr bwMode="auto">
            <a:xfrm>
              <a:off x="733" y="1665"/>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K</a:t>
              </a:r>
            </a:p>
          </p:txBody>
        </p:sp>
        <p:sp>
          <p:nvSpPr>
            <p:cNvPr id="129" name="Rectangle 8">
              <a:extLst>
                <a:ext uri="{FF2B5EF4-FFF2-40B4-BE49-F238E27FC236}">
                  <a16:creationId xmlns:a16="http://schemas.microsoft.com/office/drawing/2014/main" xmlns="" id="{583340BD-B528-4948-8184-1F0BCB37A9E9}"/>
                </a:ext>
              </a:extLst>
            </p:cNvPr>
            <p:cNvSpPr>
              <a:spLocks noChangeArrowheads="1"/>
            </p:cNvSpPr>
            <p:nvPr/>
          </p:nvSpPr>
          <p:spPr bwMode="auto">
            <a:xfrm>
              <a:off x="733" y="2111"/>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Rb</a:t>
              </a:r>
            </a:p>
          </p:txBody>
        </p:sp>
        <p:sp>
          <p:nvSpPr>
            <p:cNvPr id="130" name="Rectangle 9">
              <a:extLst>
                <a:ext uri="{FF2B5EF4-FFF2-40B4-BE49-F238E27FC236}">
                  <a16:creationId xmlns:a16="http://schemas.microsoft.com/office/drawing/2014/main" xmlns="" id="{8E46492D-E016-430E-9F34-0664614150CB}"/>
                </a:ext>
              </a:extLst>
            </p:cNvPr>
            <p:cNvSpPr>
              <a:spLocks noChangeArrowheads="1"/>
            </p:cNvSpPr>
            <p:nvPr/>
          </p:nvSpPr>
          <p:spPr bwMode="auto">
            <a:xfrm>
              <a:off x="733" y="2556"/>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Cs</a:t>
              </a:r>
            </a:p>
          </p:txBody>
        </p:sp>
      </p:grpSp>
      <p:sp>
        <p:nvSpPr>
          <p:cNvPr id="131" name="AutoShape 10">
            <a:extLst>
              <a:ext uri="{FF2B5EF4-FFF2-40B4-BE49-F238E27FC236}">
                <a16:creationId xmlns:a16="http://schemas.microsoft.com/office/drawing/2014/main" xmlns="" id="{89238990-4169-4E19-A009-CA83F3EA3373}"/>
              </a:ext>
            </a:extLst>
          </p:cNvPr>
          <p:cNvSpPr>
            <a:spLocks noChangeArrowheads="1"/>
          </p:cNvSpPr>
          <p:nvPr/>
        </p:nvSpPr>
        <p:spPr bwMode="auto">
          <a:xfrm>
            <a:off x="954902" y="4744247"/>
            <a:ext cx="985433" cy="1271040"/>
          </a:xfrm>
          <a:prstGeom prst="downArrow">
            <a:avLst>
              <a:gd name="adj1" fmla="val 50000"/>
              <a:gd name="adj2" fmla="val 66105"/>
            </a:avLst>
          </a:prstGeom>
          <a:solidFill>
            <a:schemeClr val="accent6">
              <a:lumMod val="20000"/>
              <a:lumOff val="80000"/>
            </a:schemeClr>
          </a:solidFill>
          <a:ln w="9525">
            <a:solidFill>
              <a:schemeClr val="tx1"/>
            </a:solidFill>
            <a:miter lim="800000"/>
            <a:headEnd/>
            <a:tailEnd/>
          </a:ln>
        </p:spPr>
        <p:txBody>
          <a:bodyPr rot="10800000" vert="eaVert" wrap="none" anchor="ctr"/>
          <a:lstStyle/>
          <a:p>
            <a:pPr algn="ctr"/>
            <a:r>
              <a:rPr lang="en-GB" b="1" dirty="0"/>
              <a:t>Reactivity </a:t>
            </a:r>
          </a:p>
          <a:p>
            <a:pPr algn="ctr"/>
            <a:r>
              <a:rPr lang="en-GB" b="1" dirty="0"/>
              <a:t>Increases</a:t>
            </a:r>
          </a:p>
        </p:txBody>
      </p:sp>
      <p:sp>
        <p:nvSpPr>
          <p:cNvPr id="121" name="Rectangle 120">
            <a:extLst>
              <a:ext uri="{FF2B5EF4-FFF2-40B4-BE49-F238E27FC236}">
                <a16:creationId xmlns:a16="http://schemas.microsoft.com/office/drawing/2014/main" xmlns="" id="{C6F797FD-12F4-4306-825B-69957807A5A9}"/>
              </a:ext>
            </a:extLst>
          </p:cNvPr>
          <p:cNvSpPr/>
          <p:nvPr/>
        </p:nvSpPr>
        <p:spPr>
          <a:xfrm>
            <a:off x="2051720" y="4463954"/>
            <a:ext cx="7007159" cy="2139047"/>
          </a:xfrm>
          <a:prstGeom prst="rect">
            <a:avLst/>
          </a:prstGeom>
          <a:ln>
            <a:solidFill>
              <a:schemeClr val="accent6"/>
            </a:solidFill>
          </a:ln>
        </p:spPr>
        <p:txBody>
          <a:bodyPr wrap="square">
            <a:spAutoFit/>
          </a:bodyPr>
          <a:lstStyle/>
          <a:p>
            <a:pPr algn="ctr"/>
            <a:r>
              <a:rPr lang="en-GB" sz="1900" dirty="0">
                <a:solidFill>
                  <a:schemeClr val="accent6">
                    <a:lumMod val="75000"/>
                  </a:schemeClr>
                </a:solidFill>
              </a:rPr>
              <a:t>The atoms get </a:t>
            </a:r>
            <a:r>
              <a:rPr lang="en-GB" sz="1900" b="1" dirty="0">
                <a:solidFill>
                  <a:schemeClr val="accent6">
                    <a:lumMod val="75000"/>
                  </a:schemeClr>
                </a:solidFill>
              </a:rPr>
              <a:t>larger</a:t>
            </a:r>
            <a:r>
              <a:rPr lang="en-GB" sz="1900" dirty="0">
                <a:solidFill>
                  <a:schemeClr val="accent6">
                    <a:lumMod val="75000"/>
                  </a:schemeClr>
                </a:solidFill>
              </a:rPr>
              <a:t> as you go </a:t>
            </a:r>
            <a:r>
              <a:rPr lang="en-GB" sz="1900" b="1" dirty="0">
                <a:solidFill>
                  <a:schemeClr val="accent6">
                    <a:lumMod val="75000"/>
                  </a:schemeClr>
                </a:solidFill>
              </a:rPr>
              <a:t>down</a:t>
            </a:r>
            <a:r>
              <a:rPr lang="en-GB" sz="1900" dirty="0">
                <a:solidFill>
                  <a:schemeClr val="accent6">
                    <a:lumMod val="75000"/>
                  </a:schemeClr>
                </a:solidFill>
              </a:rPr>
              <a:t>, so the </a:t>
            </a:r>
            <a:r>
              <a:rPr lang="en-GB" sz="1900" b="1" dirty="0">
                <a:solidFill>
                  <a:schemeClr val="accent6">
                    <a:lumMod val="75000"/>
                  </a:schemeClr>
                </a:solidFill>
              </a:rPr>
              <a:t>single</a:t>
            </a:r>
            <a:r>
              <a:rPr lang="en-GB" sz="1900" dirty="0">
                <a:solidFill>
                  <a:schemeClr val="accent6">
                    <a:lumMod val="75000"/>
                  </a:schemeClr>
                </a:solidFill>
              </a:rPr>
              <a:t> electron in the outermost shell (highest energy level) is attracted</a:t>
            </a:r>
            <a:r>
              <a:rPr lang="en-GB" sz="1900" b="1" dirty="0">
                <a:solidFill>
                  <a:schemeClr val="accent6">
                    <a:lumMod val="75000"/>
                  </a:schemeClr>
                </a:solidFill>
              </a:rPr>
              <a:t> less </a:t>
            </a:r>
            <a:r>
              <a:rPr lang="en-GB" sz="1900" dirty="0">
                <a:solidFill>
                  <a:schemeClr val="accent6">
                    <a:lumMod val="75000"/>
                  </a:schemeClr>
                </a:solidFill>
              </a:rPr>
              <a:t>strongly to the positive nucleus. </a:t>
            </a:r>
            <a:r>
              <a:rPr lang="en-GB" sz="1900" dirty="0" smtClean="0">
                <a:solidFill>
                  <a:schemeClr val="accent6">
                    <a:lumMod val="75000"/>
                  </a:schemeClr>
                </a:solidFill>
              </a:rPr>
              <a:t>The </a:t>
            </a:r>
            <a:r>
              <a:rPr lang="en-GB" sz="1900" b="1" dirty="0">
                <a:solidFill>
                  <a:schemeClr val="accent6">
                    <a:lumMod val="75000"/>
                  </a:schemeClr>
                </a:solidFill>
              </a:rPr>
              <a:t>electrostatic attraction </a:t>
            </a:r>
            <a:r>
              <a:rPr lang="en-GB" sz="1900" dirty="0">
                <a:solidFill>
                  <a:schemeClr val="accent6">
                    <a:lumMod val="75000"/>
                  </a:schemeClr>
                </a:solidFill>
              </a:rPr>
              <a:t>with the nucleus gets </a:t>
            </a:r>
            <a:r>
              <a:rPr lang="en-GB" sz="1900" b="1" dirty="0">
                <a:solidFill>
                  <a:schemeClr val="accent6">
                    <a:lumMod val="75000"/>
                  </a:schemeClr>
                </a:solidFill>
              </a:rPr>
              <a:t>weaker</a:t>
            </a:r>
            <a:r>
              <a:rPr lang="en-GB" sz="1900" dirty="0">
                <a:solidFill>
                  <a:schemeClr val="accent6">
                    <a:lumMod val="75000"/>
                  </a:schemeClr>
                </a:solidFill>
              </a:rPr>
              <a:t> because the </a:t>
            </a:r>
            <a:r>
              <a:rPr lang="en-GB" sz="1900" b="1" dirty="0">
                <a:solidFill>
                  <a:schemeClr val="accent6">
                    <a:lumMod val="75000"/>
                  </a:schemeClr>
                </a:solidFill>
              </a:rPr>
              <a:t>distance</a:t>
            </a:r>
            <a:r>
              <a:rPr lang="en-GB" sz="1900" dirty="0">
                <a:solidFill>
                  <a:schemeClr val="accent6">
                    <a:lumMod val="75000"/>
                  </a:schemeClr>
                </a:solidFill>
              </a:rPr>
              <a:t> between the outer electron and the nucleus </a:t>
            </a:r>
            <a:r>
              <a:rPr lang="en-GB" sz="1900" b="1" dirty="0">
                <a:solidFill>
                  <a:schemeClr val="accent6">
                    <a:lumMod val="75000"/>
                  </a:schemeClr>
                </a:solidFill>
              </a:rPr>
              <a:t>increases</a:t>
            </a:r>
            <a:r>
              <a:rPr lang="en-GB" sz="1900" dirty="0" smtClean="0">
                <a:solidFill>
                  <a:schemeClr val="accent6">
                    <a:lumMod val="75000"/>
                  </a:schemeClr>
                </a:solidFill>
              </a:rPr>
              <a:t>. </a:t>
            </a:r>
            <a:r>
              <a:rPr lang="en-GB" sz="1900" dirty="0">
                <a:solidFill>
                  <a:schemeClr val="accent6">
                    <a:lumMod val="75000"/>
                  </a:schemeClr>
                </a:solidFill>
              </a:rPr>
              <a:t>Also the outer electron experiences a </a:t>
            </a:r>
            <a:r>
              <a:rPr lang="en-GB" sz="1900" b="1" dirty="0">
                <a:solidFill>
                  <a:schemeClr val="accent6">
                    <a:lumMod val="75000"/>
                  </a:schemeClr>
                </a:solidFill>
              </a:rPr>
              <a:t>shielding effect </a:t>
            </a:r>
            <a:r>
              <a:rPr lang="en-GB" sz="1900" dirty="0">
                <a:solidFill>
                  <a:schemeClr val="accent6">
                    <a:lumMod val="75000"/>
                  </a:schemeClr>
                </a:solidFill>
              </a:rPr>
              <a:t>from the inner electrons, </a:t>
            </a:r>
            <a:r>
              <a:rPr lang="en-GB" sz="1900" b="1" dirty="0">
                <a:solidFill>
                  <a:schemeClr val="accent6">
                    <a:lumMod val="75000"/>
                  </a:schemeClr>
                </a:solidFill>
              </a:rPr>
              <a:t>reducing</a:t>
            </a:r>
            <a:r>
              <a:rPr lang="en-GB" sz="1900" dirty="0">
                <a:solidFill>
                  <a:schemeClr val="accent6">
                    <a:lumMod val="75000"/>
                  </a:schemeClr>
                </a:solidFill>
              </a:rPr>
              <a:t> the attraction between the oppositely charged outer electron and the nucleus.</a:t>
            </a:r>
            <a:endParaRPr lang="en-GB" sz="1900" dirty="0"/>
          </a:p>
        </p:txBody>
      </p:sp>
    </p:spTree>
    <p:extLst>
      <p:ext uri="{BB962C8B-B14F-4D97-AF65-F5344CB8AC3E}">
        <p14:creationId xmlns:p14="http://schemas.microsoft.com/office/powerpoint/2010/main" val="22506951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alkali metals fresh cut">
            <a:extLst>
              <a:ext uri="{FF2B5EF4-FFF2-40B4-BE49-F238E27FC236}">
                <a16:creationId xmlns:a16="http://schemas.microsoft.com/office/drawing/2014/main" xmlns="" id="{FABC7F5C-EA79-4184-ABD7-4A27422D0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826" y="1219776"/>
            <a:ext cx="1872208" cy="11545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2</a:t>
            </a:r>
            <a:endParaRPr lang="en-GB" sz="2400" b="1" dirty="0">
              <a:solidFill>
                <a:schemeClr val="accent6"/>
              </a:solidFill>
            </a:endParaRPr>
          </a:p>
        </p:txBody>
      </p:sp>
      <p:sp>
        <p:nvSpPr>
          <p:cNvPr id="120" name="Rectangle 119">
            <a:extLst>
              <a:ext uri="{FF2B5EF4-FFF2-40B4-BE49-F238E27FC236}">
                <a16:creationId xmlns:a16="http://schemas.microsoft.com/office/drawing/2014/main" xmlns="" id="{229B2A54-F7C2-4CDB-8DE6-651ED3F48E4C}"/>
              </a:ext>
            </a:extLst>
          </p:cNvPr>
          <p:cNvSpPr/>
          <p:nvPr/>
        </p:nvSpPr>
        <p:spPr>
          <a:xfrm>
            <a:off x="143508" y="671691"/>
            <a:ext cx="8856983" cy="6186309"/>
          </a:xfrm>
          <a:prstGeom prst="rect">
            <a:avLst/>
          </a:prstGeom>
        </p:spPr>
        <p:txBody>
          <a:bodyPr wrap="square">
            <a:spAutoFit/>
          </a:bodyPr>
          <a:lstStyle/>
          <a:p>
            <a:r>
              <a:rPr lang="en-GB" dirty="0"/>
              <a:t>The alkali metals have a </a:t>
            </a:r>
            <a:r>
              <a:rPr lang="en-GB" b="1" dirty="0"/>
              <a:t>silvery</a:t>
            </a:r>
            <a:r>
              <a:rPr lang="en-GB" dirty="0"/>
              <a:t>, </a:t>
            </a:r>
            <a:r>
              <a:rPr lang="en-GB" b="1" dirty="0"/>
              <a:t>shiny</a:t>
            </a:r>
            <a:r>
              <a:rPr lang="en-GB" dirty="0"/>
              <a:t> surface when they are first cut. </a:t>
            </a:r>
            <a:r>
              <a:rPr lang="en-GB" dirty="0" smtClean="0"/>
              <a:t>However</a:t>
            </a:r>
            <a:r>
              <a:rPr lang="en-GB" dirty="0"/>
              <a:t>, this goes </a:t>
            </a:r>
            <a:r>
              <a:rPr lang="en-GB" b="1" dirty="0"/>
              <a:t>dull</a:t>
            </a:r>
            <a:r>
              <a:rPr lang="en-GB" dirty="0"/>
              <a:t> very quickly as the metals reacts with the oxygen in the air.</a:t>
            </a:r>
          </a:p>
          <a:p>
            <a:endParaRPr lang="en-GB" dirty="0"/>
          </a:p>
          <a:p>
            <a:r>
              <a:rPr lang="en-GB" dirty="0" smtClean="0"/>
              <a:t>e.g.   </a:t>
            </a:r>
            <a:r>
              <a:rPr lang="en-GB" b="1" dirty="0">
                <a:solidFill>
                  <a:schemeClr val="accent6">
                    <a:lumMod val="75000"/>
                  </a:schemeClr>
                </a:solidFill>
              </a:rPr>
              <a:t>sodium  +  oxygen  </a:t>
            </a:r>
            <a:r>
              <a:rPr lang="en-GB" b="1" dirty="0">
                <a:solidFill>
                  <a:schemeClr val="accent6">
                    <a:lumMod val="75000"/>
                  </a:schemeClr>
                </a:solidFill>
                <a:sym typeface="Wingdings" panose="05000000000000000000" pitchFamily="2" charset="2"/>
              </a:rPr>
              <a:t>  sodium oxide</a:t>
            </a:r>
          </a:p>
          <a:p>
            <a:r>
              <a:rPr lang="en-GB" b="1" dirty="0">
                <a:solidFill>
                  <a:schemeClr val="accent6">
                    <a:lumMod val="75000"/>
                  </a:schemeClr>
                </a:solidFill>
              </a:rPr>
              <a:t>          4Na(s)  +    O</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2Na</a:t>
            </a:r>
            <a:r>
              <a:rPr lang="en-GB" b="1" baseline="-25000" dirty="0">
                <a:solidFill>
                  <a:schemeClr val="accent6">
                    <a:lumMod val="75000"/>
                  </a:schemeClr>
                </a:solidFill>
                <a:sym typeface="Wingdings" panose="05000000000000000000" pitchFamily="2" charset="2"/>
              </a:rPr>
              <a:t>2</a:t>
            </a:r>
            <a:r>
              <a:rPr lang="en-GB" b="1" dirty="0">
                <a:solidFill>
                  <a:schemeClr val="accent6">
                    <a:lumMod val="75000"/>
                  </a:schemeClr>
                </a:solidFill>
                <a:sym typeface="Wingdings" panose="05000000000000000000" pitchFamily="2" charset="2"/>
              </a:rPr>
              <a:t>O(s)</a:t>
            </a:r>
            <a:endParaRPr lang="en-GB" b="1" dirty="0">
              <a:solidFill>
                <a:schemeClr val="accent6">
                  <a:lumMod val="75000"/>
                </a:schemeClr>
              </a:solidFill>
            </a:endParaRPr>
          </a:p>
          <a:p>
            <a:endParaRPr lang="en-GB" dirty="0"/>
          </a:p>
          <a:p>
            <a:endParaRPr lang="en-GB" dirty="0"/>
          </a:p>
          <a:p>
            <a:r>
              <a:rPr lang="en-GB" dirty="0"/>
              <a:t>Lithium, sodium and potassium all react </a:t>
            </a:r>
            <a:r>
              <a:rPr lang="en-GB" b="1" dirty="0"/>
              <a:t>vigorously</a:t>
            </a:r>
            <a:r>
              <a:rPr lang="en-GB" dirty="0"/>
              <a:t> with water</a:t>
            </a:r>
            <a:r>
              <a:rPr lang="en-GB" dirty="0" smtClean="0"/>
              <a:t>. </a:t>
            </a:r>
            <a:r>
              <a:rPr lang="en-GB" dirty="0"/>
              <a:t>When you add them to water, the metal </a:t>
            </a:r>
            <a:r>
              <a:rPr lang="en-GB" b="1" dirty="0"/>
              <a:t>floats</a:t>
            </a:r>
            <a:r>
              <a:rPr lang="en-GB" dirty="0"/>
              <a:t>, </a:t>
            </a:r>
            <a:r>
              <a:rPr lang="en-GB" b="1" dirty="0"/>
              <a:t>moves</a:t>
            </a:r>
            <a:r>
              <a:rPr lang="en-GB" dirty="0"/>
              <a:t> around and </a:t>
            </a:r>
            <a:r>
              <a:rPr lang="en-GB" b="1" dirty="0"/>
              <a:t>fizzes</a:t>
            </a:r>
            <a:r>
              <a:rPr lang="en-GB" dirty="0"/>
              <a:t>.</a:t>
            </a:r>
          </a:p>
          <a:p>
            <a:endParaRPr lang="en-GB" b="1" dirty="0"/>
          </a:p>
          <a:p>
            <a:r>
              <a:rPr lang="en-GB" dirty="0" smtClean="0"/>
              <a:t>e.g.   </a:t>
            </a:r>
            <a:r>
              <a:rPr lang="en-GB" b="1" dirty="0">
                <a:solidFill>
                  <a:schemeClr val="accent6">
                    <a:lumMod val="75000"/>
                  </a:schemeClr>
                </a:solidFill>
              </a:rPr>
              <a:t>potassium  +    water    </a:t>
            </a:r>
            <a:r>
              <a:rPr lang="en-GB" b="1" dirty="0">
                <a:solidFill>
                  <a:schemeClr val="accent6">
                    <a:lumMod val="75000"/>
                  </a:schemeClr>
                </a:solidFill>
                <a:sym typeface="Wingdings" panose="05000000000000000000" pitchFamily="2" charset="2"/>
              </a:rPr>
              <a:t>   potassium hydroxide + hydrogen</a:t>
            </a:r>
          </a:p>
          <a:p>
            <a:r>
              <a:rPr lang="en-GB" b="1" dirty="0">
                <a:solidFill>
                  <a:schemeClr val="accent6">
                    <a:lumMod val="75000"/>
                  </a:schemeClr>
                </a:solidFill>
              </a:rPr>
              <a:t>              2K(s)      +  2H</a:t>
            </a:r>
            <a:r>
              <a:rPr lang="en-GB" b="1" baseline="-25000" dirty="0">
                <a:solidFill>
                  <a:schemeClr val="accent6">
                    <a:lumMod val="75000"/>
                  </a:schemeClr>
                </a:solidFill>
              </a:rPr>
              <a:t>2</a:t>
            </a:r>
            <a:r>
              <a:rPr lang="en-GB" b="1" dirty="0">
                <a:solidFill>
                  <a:schemeClr val="accent6">
                    <a:lumMod val="75000"/>
                  </a:schemeClr>
                </a:solidFill>
              </a:rPr>
              <a:t>O(l)   </a:t>
            </a:r>
            <a:r>
              <a:rPr lang="en-GB" b="1" dirty="0">
                <a:solidFill>
                  <a:schemeClr val="accent6">
                    <a:lumMod val="75000"/>
                  </a:schemeClr>
                </a:solidFill>
                <a:sym typeface="Wingdings" panose="05000000000000000000" pitchFamily="2" charset="2"/>
              </a:rPr>
              <a:t>              2KOH(</a:t>
            </a:r>
            <a:r>
              <a:rPr lang="en-GB" b="1" dirty="0" err="1">
                <a:solidFill>
                  <a:schemeClr val="accent6">
                    <a:lumMod val="75000"/>
                  </a:schemeClr>
                </a:solidFill>
                <a:sym typeface="Wingdings" panose="05000000000000000000" pitchFamily="2" charset="2"/>
              </a:rPr>
              <a:t>aq</a:t>
            </a:r>
            <a:r>
              <a:rPr lang="en-GB" b="1" dirty="0">
                <a:solidFill>
                  <a:schemeClr val="accent6">
                    <a:lumMod val="75000"/>
                  </a:schemeClr>
                </a:solidFill>
                <a:sym typeface="Wingdings" panose="05000000000000000000" pitchFamily="2" charset="2"/>
              </a:rPr>
              <a:t>)           +    </a:t>
            </a:r>
            <a:r>
              <a:rPr lang="en-GB" b="1" dirty="0">
                <a:solidFill>
                  <a:schemeClr val="accent6">
                    <a:lumMod val="75000"/>
                  </a:schemeClr>
                </a:solidFill>
              </a:rPr>
              <a:t>H</a:t>
            </a:r>
            <a:r>
              <a:rPr lang="en-GB" b="1" baseline="-25000" dirty="0">
                <a:solidFill>
                  <a:schemeClr val="accent6">
                    <a:lumMod val="75000"/>
                  </a:schemeClr>
                </a:solidFill>
              </a:rPr>
              <a:t>2</a:t>
            </a:r>
            <a:r>
              <a:rPr lang="en-GB" b="1" dirty="0">
                <a:solidFill>
                  <a:schemeClr val="accent6">
                    <a:lumMod val="75000"/>
                  </a:schemeClr>
                </a:solidFill>
              </a:rPr>
              <a:t>(g)</a:t>
            </a:r>
          </a:p>
          <a:p>
            <a:endParaRPr lang="en-GB" b="1" dirty="0"/>
          </a:p>
          <a:p>
            <a:pPr algn="r"/>
            <a:r>
              <a:rPr lang="en-GB" b="1" dirty="0">
                <a:solidFill>
                  <a:schemeClr val="accent6">
                    <a:lumMod val="75000"/>
                  </a:schemeClr>
                </a:solidFill>
              </a:rPr>
              <a:t>Potassium ignites with a lilac flame</a:t>
            </a:r>
          </a:p>
          <a:p>
            <a:endParaRPr lang="en-GB" b="1" dirty="0">
              <a:solidFill>
                <a:schemeClr val="accent6">
                  <a:lumMod val="75000"/>
                </a:schemeClr>
              </a:solidFill>
            </a:endParaRPr>
          </a:p>
          <a:p>
            <a:r>
              <a:rPr lang="en-GB" b="1" dirty="0">
                <a:solidFill>
                  <a:schemeClr val="accent6">
                    <a:lumMod val="75000"/>
                  </a:schemeClr>
                </a:solidFill>
              </a:rPr>
              <a:t>		   </a:t>
            </a:r>
            <a:r>
              <a:rPr lang="en-GB" dirty="0"/>
              <a:t>They also react vigorously with non metals, such as group seven. </a:t>
            </a:r>
            <a:r>
              <a:rPr lang="en-GB" dirty="0" smtClean="0"/>
              <a:t>They </a:t>
            </a:r>
            <a:r>
              <a:rPr lang="en-GB" dirty="0"/>
              <a:t>		   form </a:t>
            </a:r>
            <a:r>
              <a:rPr lang="en-GB" b="1" dirty="0"/>
              <a:t>1+ </a:t>
            </a:r>
            <a:r>
              <a:rPr lang="en-GB" dirty="0"/>
              <a:t>ions in the reactions to make </a:t>
            </a:r>
            <a:r>
              <a:rPr lang="en-GB" b="1" dirty="0"/>
              <a:t>ionic compounds</a:t>
            </a:r>
            <a:r>
              <a:rPr lang="en-GB" dirty="0"/>
              <a:t>. </a:t>
            </a:r>
            <a:r>
              <a:rPr lang="en-GB" dirty="0" smtClean="0"/>
              <a:t>These </a:t>
            </a:r>
            <a:r>
              <a:rPr lang="en-GB" dirty="0"/>
              <a:t>are 			   generally </a:t>
            </a:r>
            <a:r>
              <a:rPr lang="en-GB" b="1" dirty="0"/>
              <a:t>white</a:t>
            </a:r>
            <a:r>
              <a:rPr lang="en-GB" dirty="0"/>
              <a:t> and </a:t>
            </a:r>
            <a:r>
              <a:rPr lang="en-GB" b="1" dirty="0"/>
              <a:t>dissolve</a:t>
            </a:r>
            <a:r>
              <a:rPr lang="en-GB" dirty="0"/>
              <a:t> in water, </a:t>
            </a:r>
            <a:r>
              <a:rPr lang="en-GB" b="1" dirty="0"/>
              <a:t>giving colourless solutions</a:t>
            </a:r>
            <a:r>
              <a:rPr lang="en-GB" dirty="0"/>
              <a:t>.</a:t>
            </a:r>
          </a:p>
          <a:p>
            <a:endParaRPr lang="en-GB" dirty="0"/>
          </a:p>
          <a:p>
            <a:r>
              <a:rPr lang="en-GB" dirty="0"/>
              <a:t>		   </a:t>
            </a:r>
            <a:r>
              <a:rPr lang="en-GB" dirty="0" smtClean="0"/>
              <a:t>e.g.   </a:t>
            </a:r>
            <a:r>
              <a:rPr lang="en-GB" b="1" dirty="0">
                <a:solidFill>
                  <a:schemeClr val="accent6">
                    <a:lumMod val="75000"/>
                  </a:schemeClr>
                </a:solidFill>
              </a:rPr>
              <a:t>sodium + chlorine </a:t>
            </a:r>
            <a:r>
              <a:rPr lang="en-GB" b="1" dirty="0">
                <a:solidFill>
                  <a:schemeClr val="accent6">
                    <a:lumMod val="75000"/>
                  </a:schemeClr>
                </a:solidFill>
                <a:sym typeface="Wingdings" panose="05000000000000000000" pitchFamily="2" charset="2"/>
              </a:rPr>
              <a:t> sodium chloride</a:t>
            </a:r>
          </a:p>
          <a:p>
            <a:r>
              <a:rPr lang="en-GB" b="1" dirty="0">
                <a:solidFill>
                  <a:schemeClr val="accent6">
                    <a:lumMod val="75000"/>
                  </a:schemeClr>
                </a:solidFill>
              </a:rPr>
              <a:t>              		            2Na(s)  +    Cl</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2NaCl(s)     </a:t>
            </a:r>
            <a:endParaRPr lang="en-GB" b="1" dirty="0">
              <a:solidFill>
                <a:schemeClr val="accent6">
                  <a:lumMod val="75000"/>
                </a:schemeClr>
              </a:solidFill>
            </a:endParaRPr>
          </a:p>
          <a:p>
            <a:endParaRPr lang="en-GB" dirty="0"/>
          </a:p>
        </p:txBody>
      </p:sp>
      <p:sp>
        <p:nvSpPr>
          <p:cNvPr id="3" name="TextBox 2">
            <a:extLst>
              <a:ext uri="{FF2B5EF4-FFF2-40B4-BE49-F238E27FC236}">
                <a16:creationId xmlns:a16="http://schemas.microsoft.com/office/drawing/2014/main" xmlns="" id="{CC5A5965-DAD4-4B06-84E9-16890F597DC8}"/>
              </a:ext>
            </a:extLst>
          </p:cNvPr>
          <p:cNvSpPr txBox="1"/>
          <p:nvPr/>
        </p:nvSpPr>
        <p:spPr>
          <a:xfrm>
            <a:off x="8100078" y="1316137"/>
            <a:ext cx="1152128" cy="369332"/>
          </a:xfrm>
          <a:prstGeom prst="rect">
            <a:avLst/>
          </a:prstGeom>
          <a:noFill/>
        </p:spPr>
        <p:txBody>
          <a:bodyPr wrap="square" rtlCol="0">
            <a:spAutoFit/>
          </a:bodyPr>
          <a:lstStyle/>
          <a:p>
            <a:r>
              <a:rPr lang="en-GB" b="1" dirty="0">
                <a:solidFill>
                  <a:schemeClr val="accent6">
                    <a:lumMod val="75000"/>
                  </a:schemeClr>
                </a:solidFill>
              </a:rPr>
              <a:t>shiny</a:t>
            </a:r>
          </a:p>
        </p:txBody>
      </p:sp>
      <p:cxnSp>
        <p:nvCxnSpPr>
          <p:cNvPr id="2049" name="Straight Arrow Connector 2048">
            <a:extLst>
              <a:ext uri="{FF2B5EF4-FFF2-40B4-BE49-F238E27FC236}">
                <a16:creationId xmlns:a16="http://schemas.microsoft.com/office/drawing/2014/main" xmlns="" id="{41CE7076-1672-41A4-BAB4-1C67517AEB41}"/>
              </a:ext>
            </a:extLst>
          </p:cNvPr>
          <p:cNvCxnSpPr/>
          <p:nvPr/>
        </p:nvCxnSpPr>
        <p:spPr>
          <a:xfrm>
            <a:off x="7307990" y="1556792"/>
            <a:ext cx="792088"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052" name="Straight Arrow Connector 2051">
            <a:extLst>
              <a:ext uri="{FF2B5EF4-FFF2-40B4-BE49-F238E27FC236}">
                <a16:creationId xmlns:a16="http://schemas.microsoft.com/office/drawing/2014/main" xmlns="" id="{6803A33E-63B6-4ED9-B25A-E326C4BB2937}"/>
              </a:ext>
            </a:extLst>
          </p:cNvPr>
          <p:cNvCxnSpPr>
            <a:cxnSpLocks/>
          </p:cNvCxnSpPr>
          <p:nvPr/>
        </p:nvCxnSpPr>
        <p:spPr>
          <a:xfrm flipH="1">
            <a:off x="5724128" y="1844824"/>
            <a:ext cx="720080"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xmlns="" id="{198E21C8-ADB0-46B6-9200-85FF4BDA80D7}"/>
              </a:ext>
            </a:extLst>
          </p:cNvPr>
          <p:cNvSpPr txBox="1"/>
          <p:nvPr/>
        </p:nvSpPr>
        <p:spPr>
          <a:xfrm>
            <a:off x="4953565" y="1689981"/>
            <a:ext cx="1152128" cy="646331"/>
          </a:xfrm>
          <a:prstGeom prst="rect">
            <a:avLst/>
          </a:prstGeom>
          <a:noFill/>
        </p:spPr>
        <p:txBody>
          <a:bodyPr wrap="square" rtlCol="0">
            <a:spAutoFit/>
          </a:bodyPr>
          <a:lstStyle/>
          <a:p>
            <a:r>
              <a:rPr lang="en-GB" b="1" dirty="0">
                <a:solidFill>
                  <a:schemeClr val="accent6">
                    <a:lumMod val="75000"/>
                  </a:schemeClr>
                </a:solidFill>
              </a:rPr>
              <a:t>metal</a:t>
            </a:r>
          </a:p>
          <a:p>
            <a:r>
              <a:rPr lang="en-GB" b="1" dirty="0">
                <a:solidFill>
                  <a:schemeClr val="accent6">
                    <a:lumMod val="75000"/>
                  </a:schemeClr>
                </a:solidFill>
              </a:rPr>
              <a:t>oxide</a:t>
            </a:r>
          </a:p>
        </p:txBody>
      </p:sp>
      <p:pic>
        <p:nvPicPr>
          <p:cNvPr id="2053" name="Picture 4" descr="Image result for potassium in water">
            <a:extLst>
              <a:ext uri="{FF2B5EF4-FFF2-40B4-BE49-F238E27FC236}">
                <a16:creationId xmlns:a16="http://schemas.microsoft.com/office/drawing/2014/main" xmlns="" id="{79B6BAEF-4060-4ED8-A401-FD2F99983B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87910" y="3071664"/>
            <a:ext cx="2232248" cy="1255640"/>
          </a:xfrm>
          <a:prstGeom prst="rect">
            <a:avLst/>
          </a:prstGeom>
          <a:noFill/>
          <a:extLst>
            <a:ext uri="{909E8E84-426E-40DD-AFC4-6F175D3DCCD1}">
              <a14:hiddenFill xmlns:a14="http://schemas.microsoft.com/office/drawing/2010/main">
                <a:solidFill>
                  <a:srgbClr val="FFFFFF"/>
                </a:solidFill>
              </a14:hiddenFill>
            </a:ext>
          </a:extLst>
        </p:spPr>
      </p:pic>
      <p:cxnSp>
        <p:nvCxnSpPr>
          <p:cNvPr id="2055" name="Straight Arrow Connector 2054">
            <a:extLst>
              <a:ext uri="{FF2B5EF4-FFF2-40B4-BE49-F238E27FC236}">
                <a16:creationId xmlns:a16="http://schemas.microsoft.com/office/drawing/2014/main" xmlns="" id="{FB81353F-C147-41B3-9737-7C79F7C4A675}"/>
              </a:ext>
            </a:extLst>
          </p:cNvPr>
          <p:cNvCxnSpPr>
            <a:cxnSpLocks/>
          </p:cNvCxnSpPr>
          <p:nvPr/>
        </p:nvCxnSpPr>
        <p:spPr>
          <a:xfrm flipH="1">
            <a:off x="7704034" y="3933056"/>
            <a:ext cx="108326" cy="394248"/>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056" name="AutoShape 6" descr="Image result for potassium and chlorine">
            <a:extLst>
              <a:ext uri="{FF2B5EF4-FFF2-40B4-BE49-F238E27FC236}">
                <a16:creationId xmlns:a16="http://schemas.microsoft.com/office/drawing/2014/main" xmlns="" id="{9F0D59DD-BBD3-450A-B822-C8FDDA7F0E3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7" name="Picture 2056">
            <a:extLst>
              <a:ext uri="{FF2B5EF4-FFF2-40B4-BE49-F238E27FC236}">
                <a16:creationId xmlns:a16="http://schemas.microsoft.com/office/drawing/2014/main" xmlns="" id="{84E28246-BE38-4A55-9026-B793BE0FB675}"/>
              </a:ext>
            </a:extLst>
          </p:cNvPr>
          <p:cNvPicPr>
            <a:picLocks noChangeAspect="1"/>
          </p:cNvPicPr>
          <p:nvPr/>
        </p:nvPicPr>
        <p:blipFill>
          <a:blip r:embed="rId5"/>
          <a:stretch>
            <a:fillRect/>
          </a:stretch>
        </p:blipFill>
        <p:spPr>
          <a:xfrm>
            <a:off x="251520" y="4355223"/>
            <a:ext cx="1700049" cy="1850286"/>
          </a:xfrm>
          <a:prstGeom prst="rect">
            <a:avLst/>
          </a:prstGeom>
        </p:spPr>
      </p:pic>
      <p:cxnSp>
        <p:nvCxnSpPr>
          <p:cNvPr id="2061" name="Straight Arrow Connector 2060">
            <a:extLst>
              <a:ext uri="{FF2B5EF4-FFF2-40B4-BE49-F238E27FC236}">
                <a16:creationId xmlns:a16="http://schemas.microsoft.com/office/drawing/2014/main" xmlns="" id="{2CBC2F10-4A68-44C9-A9FF-150F994310EF}"/>
              </a:ext>
            </a:extLst>
          </p:cNvPr>
          <p:cNvCxnSpPr/>
          <p:nvPr/>
        </p:nvCxnSpPr>
        <p:spPr>
          <a:xfrm flipH="1" flipV="1">
            <a:off x="1547664" y="5877272"/>
            <a:ext cx="576064" cy="504056"/>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43727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oup 131">
            <a:extLst>
              <a:ext uri="{FF2B5EF4-FFF2-40B4-BE49-F238E27FC236}">
                <a16:creationId xmlns:a16="http://schemas.microsoft.com/office/drawing/2014/main" xmlns="" id="{1EFBEF0B-94BE-4C24-993E-74D4FF64DD7E}"/>
              </a:ext>
            </a:extLst>
          </p:cNvPr>
          <p:cNvGrpSpPr/>
          <p:nvPr/>
        </p:nvGrpSpPr>
        <p:grpSpPr>
          <a:xfrm>
            <a:off x="105959" y="627196"/>
            <a:ext cx="5314846" cy="2186592"/>
            <a:chOff x="446601" y="2411007"/>
            <a:chExt cx="8243374" cy="3610282"/>
          </a:xfrm>
        </p:grpSpPr>
        <p:grpSp>
          <p:nvGrpSpPr>
            <p:cNvPr id="133" name="Group 132">
              <a:extLst>
                <a:ext uri="{FF2B5EF4-FFF2-40B4-BE49-F238E27FC236}">
                  <a16:creationId xmlns:a16="http://schemas.microsoft.com/office/drawing/2014/main" xmlns="" id="{3B122F6E-7E62-4165-B8B7-63C1A2EF3D7A}"/>
                </a:ext>
              </a:extLst>
            </p:cNvPr>
            <p:cNvGrpSpPr/>
            <p:nvPr/>
          </p:nvGrpSpPr>
          <p:grpSpPr>
            <a:xfrm>
              <a:off x="446601" y="2411007"/>
              <a:ext cx="8243374" cy="3610282"/>
              <a:chOff x="446601" y="2411007"/>
              <a:chExt cx="8243374" cy="3610282"/>
            </a:xfrm>
          </p:grpSpPr>
          <p:grpSp>
            <p:nvGrpSpPr>
              <p:cNvPr id="143" name="Group 4">
                <a:extLst>
                  <a:ext uri="{FF2B5EF4-FFF2-40B4-BE49-F238E27FC236}">
                    <a16:creationId xmlns:a16="http://schemas.microsoft.com/office/drawing/2014/main" xmlns="" id="{606663DA-0D4F-4F4E-9561-2F7DA6490BE8}"/>
                  </a:ext>
                </a:extLst>
              </p:cNvPr>
              <p:cNvGrpSpPr>
                <a:grpSpLocks/>
              </p:cNvGrpSpPr>
              <p:nvPr/>
            </p:nvGrpSpPr>
            <p:grpSpPr bwMode="auto">
              <a:xfrm>
                <a:off x="460375" y="2820889"/>
                <a:ext cx="8229600" cy="3200400"/>
                <a:chOff x="279" y="1508"/>
                <a:chExt cx="5184" cy="2016"/>
              </a:xfrm>
            </p:grpSpPr>
            <p:sp>
              <p:nvSpPr>
                <p:cNvPr id="152" name="Rectangle 5">
                  <a:extLst>
                    <a:ext uri="{FF2B5EF4-FFF2-40B4-BE49-F238E27FC236}">
                      <a16:creationId xmlns:a16="http://schemas.microsoft.com/office/drawing/2014/main" xmlns="" id="{71194EAD-1AD0-47E7-B1CA-9EA5E45C6013}"/>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53" name="Rectangle 6">
                  <a:extLst>
                    <a:ext uri="{FF2B5EF4-FFF2-40B4-BE49-F238E27FC236}">
                      <a16:creationId xmlns:a16="http://schemas.microsoft.com/office/drawing/2014/main" xmlns="" id="{604C5882-AB38-4700-BA19-705E515000D4}"/>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54" name="Rectangle 7">
                  <a:extLst>
                    <a:ext uri="{FF2B5EF4-FFF2-40B4-BE49-F238E27FC236}">
                      <a16:creationId xmlns:a16="http://schemas.microsoft.com/office/drawing/2014/main" xmlns="" id="{DF80B2E6-0A19-450C-8B41-39941E9408A1}"/>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55" name="Rectangle 8">
                  <a:extLst>
                    <a:ext uri="{FF2B5EF4-FFF2-40B4-BE49-F238E27FC236}">
                      <a16:creationId xmlns:a16="http://schemas.microsoft.com/office/drawing/2014/main" xmlns="" id="{4F6B2571-10E3-4E6E-8D56-27521FBBDB89}"/>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56" name="Rectangle 9">
                  <a:extLst>
                    <a:ext uri="{FF2B5EF4-FFF2-40B4-BE49-F238E27FC236}">
                      <a16:creationId xmlns:a16="http://schemas.microsoft.com/office/drawing/2014/main" xmlns="" id="{9D3E18D5-8DF9-454F-8EE1-420D4254FC70}"/>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57" name="Rectangle 10">
                  <a:extLst>
                    <a:ext uri="{FF2B5EF4-FFF2-40B4-BE49-F238E27FC236}">
                      <a16:creationId xmlns:a16="http://schemas.microsoft.com/office/drawing/2014/main" xmlns="" id="{70B3F859-F6F7-4475-AB86-38615A27B242}"/>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58" name="Rectangle 11">
                  <a:extLst>
                    <a:ext uri="{FF2B5EF4-FFF2-40B4-BE49-F238E27FC236}">
                      <a16:creationId xmlns:a16="http://schemas.microsoft.com/office/drawing/2014/main" xmlns="" id="{9938F7EF-49B1-461E-8588-5DE60BF92654}"/>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59" name="Rectangle 12">
                  <a:extLst>
                    <a:ext uri="{FF2B5EF4-FFF2-40B4-BE49-F238E27FC236}">
                      <a16:creationId xmlns:a16="http://schemas.microsoft.com/office/drawing/2014/main" xmlns="" id="{E42F46C7-60E4-4EF8-86FF-C28AC206ED93}"/>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60" name="Rectangle 13">
                  <a:extLst>
                    <a:ext uri="{FF2B5EF4-FFF2-40B4-BE49-F238E27FC236}">
                      <a16:creationId xmlns:a16="http://schemas.microsoft.com/office/drawing/2014/main" xmlns="" id="{20D71D8A-84B9-4F0E-B9C4-A662E75FD114}"/>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61" name="Rectangle 14">
                  <a:extLst>
                    <a:ext uri="{FF2B5EF4-FFF2-40B4-BE49-F238E27FC236}">
                      <a16:creationId xmlns:a16="http://schemas.microsoft.com/office/drawing/2014/main" xmlns="" id="{26D62231-D1C3-43ED-92CF-0C8D326CEE51}"/>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62" name="Rectangle 15">
                  <a:extLst>
                    <a:ext uri="{FF2B5EF4-FFF2-40B4-BE49-F238E27FC236}">
                      <a16:creationId xmlns:a16="http://schemas.microsoft.com/office/drawing/2014/main" xmlns="" id="{968F58A5-3BA3-4BFB-B323-36A48C2A6410}"/>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63" name="Rectangle 16">
                  <a:extLst>
                    <a:ext uri="{FF2B5EF4-FFF2-40B4-BE49-F238E27FC236}">
                      <a16:creationId xmlns:a16="http://schemas.microsoft.com/office/drawing/2014/main" xmlns="" id="{77FE0D4B-8EC4-4862-8D76-FDD1C872EEDA}"/>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64" name="Rectangle 17">
                  <a:extLst>
                    <a:ext uri="{FF2B5EF4-FFF2-40B4-BE49-F238E27FC236}">
                      <a16:creationId xmlns:a16="http://schemas.microsoft.com/office/drawing/2014/main" xmlns="" id="{2562E846-660F-4185-88FE-5DA877233740}"/>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65" name="Rectangle 18">
                  <a:extLst>
                    <a:ext uri="{FF2B5EF4-FFF2-40B4-BE49-F238E27FC236}">
                      <a16:creationId xmlns:a16="http://schemas.microsoft.com/office/drawing/2014/main" xmlns="" id="{D28E218A-BE8A-4BA2-9141-5ED332B3A32C}"/>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66" name="Rectangle 19">
                  <a:extLst>
                    <a:ext uri="{FF2B5EF4-FFF2-40B4-BE49-F238E27FC236}">
                      <a16:creationId xmlns:a16="http://schemas.microsoft.com/office/drawing/2014/main" xmlns="" id="{5C7169E9-1A17-4E82-B78F-0A63C8FC51DB}"/>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67" name="Rectangle 20">
                  <a:extLst>
                    <a:ext uri="{FF2B5EF4-FFF2-40B4-BE49-F238E27FC236}">
                      <a16:creationId xmlns:a16="http://schemas.microsoft.com/office/drawing/2014/main" xmlns="" id="{F0FF2CB7-AD0B-4B4A-AB9C-854C0F19A4D6}"/>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68" name="Rectangle 21">
                  <a:extLst>
                    <a:ext uri="{FF2B5EF4-FFF2-40B4-BE49-F238E27FC236}">
                      <a16:creationId xmlns:a16="http://schemas.microsoft.com/office/drawing/2014/main" xmlns="" id="{52DA76F9-449A-4C9F-A391-47C1128A9D12}"/>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69" name="Rectangle 22">
                  <a:extLst>
                    <a:ext uri="{FF2B5EF4-FFF2-40B4-BE49-F238E27FC236}">
                      <a16:creationId xmlns:a16="http://schemas.microsoft.com/office/drawing/2014/main" xmlns="" id="{E790F5E3-BA25-4B02-8BF4-DDC3A21AE834}"/>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70" name="Rectangle 23">
                  <a:extLst>
                    <a:ext uri="{FF2B5EF4-FFF2-40B4-BE49-F238E27FC236}">
                      <a16:creationId xmlns:a16="http://schemas.microsoft.com/office/drawing/2014/main" xmlns="" id="{ACFC98F0-FDE8-4EFF-9B9E-DEE1598125AC}"/>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71" name="Rectangle 24">
                  <a:extLst>
                    <a:ext uri="{FF2B5EF4-FFF2-40B4-BE49-F238E27FC236}">
                      <a16:creationId xmlns:a16="http://schemas.microsoft.com/office/drawing/2014/main" xmlns="" id="{4110E2CC-3034-4073-8287-D23B530C3186}"/>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72" name="Rectangle 25">
                  <a:extLst>
                    <a:ext uri="{FF2B5EF4-FFF2-40B4-BE49-F238E27FC236}">
                      <a16:creationId xmlns:a16="http://schemas.microsoft.com/office/drawing/2014/main" xmlns="" id="{562F726E-94AC-42DC-80EE-4F00CD39846E}"/>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73" name="Rectangle 26">
                  <a:extLst>
                    <a:ext uri="{FF2B5EF4-FFF2-40B4-BE49-F238E27FC236}">
                      <a16:creationId xmlns:a16="http://schemas.microsoft.com/office/drawing/2014/main" xmlns="" id="{DA25FE35-A83A-48B9-8304-AB6A46B33575}"/>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74" name="Rectangle 27">
                  <a:extLst>
                    <a:ext uri="{FF2B5EF4-FFF2-40B4-BE49-F238E27FC236}">
                      <a16:creationId xmlns:a16="http://schemas.microsoft.com/office/drawing/2014/main" xmlns="" id="{9BC1A614-3AD9-4490-ACEA-70344644FAA7}"/>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75" name="Rectangle 28">
                  <a:extLst>
                    <a:ext uri="{FF2B5EF4-FFF2-40B4-BE49-F238E27FC236}">
                      <a16:creationId xmlns:a16="http://schemas.microsoft.com/office/drawing/2014/main" xmlns="" id="{3C29D05F-3E42-471A-9D6D-D11A3EF5560A}"/>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76" name="Rectangle 29">
                  <a:extLst>
                    <a:ext uri="{FF2B5EF4-FFF2-40B4-BE49-F238E27FC236}">
                      <a16:creationId xmlns:a16="http://schemas.microsoft.com/office/drawing/2014/main" xmlns="" id="{ABF9ACCD-E458-4BC9-8D31-F3CDF764392E}"/>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77" name="Rectangle 30">
                  <a:extLst>
                    <a:ext uri="{FF2B5EF4-FFF2-40B4-BE49-F238E27FC236}">
                      <a16:creationId xmlns:a16="http://schemas.microsoft.com/office/drawing/2014/main" xmlns="" id="{0987B47F-DACB-403B-B47E-E1DD854A87A9}"/>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78" name="Rectangle 31">
                  <a:extLst>
                    <a:ext uri="{FF2B5EF4-FFF2-40B4-BE49-F238E27FC236}">
                      <a16:creationId xmlns:a16="http://schemas.microsoft.com/office/drawing/2014/main" xmlns="" id="{410BE6FF-9103-44F0-8030-DECA48FB269D}"/>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79" name="Rectangle 32">
                  <a:extLst>
                    <a:ext uri="{FF2B5EF4-FFF2-40B4-BE49-F238E27FC236}">
                      <a16:creationId xmlns:a16="http://schemas.microsoft.com/office/drawing/2014/main" xmlns="" id="{B6CA1720-763A-4D67-895B-383402E40C4A}"/>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80" name="Rectangle 33">
                  <a:extLst>
                    <a:ext uri="{FF2B5EF4-FFF2-40B4-BE49-F238E27FC236}">
                      <a16:creationId xmlns:a16="http://schemas.microsoft.com/office/drawing/2014/main" xmlns="" id="{A0581431-92EF-42AE-A021-ED10A26934AD}"/>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81" name="Rectangle 34">
                  <a:extLst>
                    <a:ext uri="{FF2B5EF4-FFF2-40B4-BE49-F238E27FC236}">
                      <a16:creationId xmlns:a16="http://schemas.microsoft.com/office/drawing/2014/main" xmlns="" id="{F1B9A297-BB95-4B3F-9D24-8675B69AAB5B}"/>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82" name="Rectangle 35">
                  <a:extLst>
                    <a:ext uri="{FF2B5EF4-FFF2-40B4-BE49-F238E27FC236}">
                      <a16:creationId xmlns:a16="http://schemas.microsoft.com/office/drawing/2014/main" xmlns="" id="{773FEC91-DBFC-4CD5-987A-7F04228F6668}"/>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83" name="Rectangle 36">
                  <a:extLst>
                    <a:ext uri="{FF2B5EF4-FFF2-40B4-BE49-F238E27FC236}">
                      <a16:creationId xmlns:a16="http://schemas.microsoft.com/office/drawing/2014/main" xmlns="" id="{F7C46C36-C8E0-4390-AB86-ABC79EE729D9}"/>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84" name="Rectangle 37">
                  <a:extLst>
                    <a:ext uri="{FF2B5EF4-FFF2-40B4-BE49-F238E27FC236}">
                      <a16:creationId xmlns:a16="http://schemas.microsoft.com/office/drawing/2014/main" xmlns="" id="{E1920994-CF1E-4406-989B-3B425F04C462}"/>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85" name="Rectangle 38">
                  <a:extLst>
                    <a:ext uri="{FF2B5EF4-FFF2-40B4-BE49-F238E27FC236}">
                      <a16:creationId xmlns:a16="http://schemas.microsoft.com/office/drawing/2014/main" xmlns="" id="{E3878312-E385-4983-A9CC-A7DB39B0CE9D}"/>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186" name="Rectangle 39">
                  <a:extLst>
                    <a:ext uri="{FF2B5EF4-FFF2-40B4-BE49-F238E27FC236}">
                      <a16:creationId xmlns:a16="http://schemas.microsoft.com/office/drawing/2014/main" xmlns="" id="{A60818AE-64E6-4A0A-8FF2-181D591A5318}"/>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187" name="Rectangle 40">
                  <a:extLst>
                    <a:ext uri="{FF2B5EF4-FFF2-40B4-BE49-F238E27FC236}">
                      <a16:creationId xmlns:a16="http://schemas.microsoft.com/office/drawing/2014/main" xmlns="" id="{B9F2464F-F400-4CC1-B265-249FEAA355E2}"/>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188" name="Rectangle 41">
                  <a:extLst>
                    <a:ext uri="{FF2B5EF4-FFF2-40B4-BE49-F238E27FC236}">
                      <a16:creationId xmlns:a16="http://schemas.microsoft.com/office/drawing/2014/main" xmlns="" id="{DEDC90DB-469E-47C0-8447-F1F8C279BBFB}"/>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189" name="Rectangle 42">
                  <a:extLst>
                    <a:ext uri="{FF2B5EF4-FFF2-40B4-BE49-F238E27FC236}">
                      <a16:creationId xmlns:a16="http://schemas.microsoft.com/office/drawing/2014/main" xmlns="" id="{90F58CCC-F981-4511-92C4-B93D8831680A}"/>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190" name="Rectangle 43">
                  <a:extLst>
                    <a:ext uri="{FF2B5EF4-FFF2-40B4-BE49-F238E27FC236}">
                      <a16:creationId xmlns:a16="http://schemas.microsoft.com/office/drawing/2014/main" xmlns="" id="{CBF22DE2-309F-401F-93AA-C813F32BD188}"/>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191" name="Rectangle 44">
                  <a:extLst>
                    <a:ext uri="{FF2B5EF4-FFF2-40B4-BE49-F238E27FC236}">
                      <a16:creationId xmlns:a16="http://schemas.microsoft.com/office/drawing/2014/main" xmlns="" id="{5461B94D-CE27-4C64-9AE0-A6C1E2D8A7E8}"/>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192" name="Rectangle 45">
                  <a:extLst>
                    <a:ext uri="{FF2B5EF4-FFF2-40B4-BE49-F238E27FC236}">
                      <a16:creationId xmlns:a16="http://schemas.microsoft.com/office/drawing/2014/main" xmlns="" id="{400FCBED-1FD6-46F0-BCA6-576C15526599}"/>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193" name="Rectangle 46">
                  <a:extLst>
                    <a:ext uri="{FF2B5EF4-FFF2-40B4-BE49-F238E27FC236}">
                      <a16:creationId xmlns:a16="http://schemas.microsoft.com/office/drawing/2014/main" xmlns="" id="{B38CB5BB-D320-47EE-BE1A-DF368895BB1F}"/>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194" name="Rectangle 47">
                  <a:extLst>
                    <a:ext uri="{FF2B5EF4-FFF2-40B4-BE49-F238E27FC236}">
                      <a16:creationId xmlns:a16="http://schemas.microsoft.com/office/drawing/2014/main" xmlns="" id="{CDBC38F6-86F0-47E3-B78E-2F034F9F4FB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195" name="Rectangle 48">
                  <a:extLst>
                    <a:ext uri="{FF2B5EF4-FFF2-40B4-BE49-F238E27FC236}">
                      <a16:creationId xmlns:a16="http://schemas.microsoft.com/office/drawing/2014/main" xmlns="" id="{294CD475-3E20-4266-B6B5-F27920F3DB3D}"/>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196" name="Rectangle 49">
                  <a:extLst>
                    <a:ext uri="{FF2B5EF4-FFF2-40B4-BE49-F238E27FC236}">
                      <a16:creationId xmlns:a16="http://schemas.microsoft.com/office/drawing/2014/main" xmlns="" id="{3B062F8B-9657-456A-9F9D-65FF8AEA7AAB}"/>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197" name="Rectangle 50">
                  <a:extLst>
                    <a:ext uri="{FF2B5EF4-FFF2-40B4-BE49-F238E27FC236}">
                      <a16:creationId xmlns:a16="http://schemas.microsoft.com/office/drawing/2014/main" xmlns="" id="{DAB6BF35-7FAE-418A-BA63-B40AD0086936}"/>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198" name="Rectangle 51">
                  <a:extLst>
                    <a:ext uri="{FF2B5EF4-FFF2-40B4-BE49-F238E27FC236}">
                      <a16:creationId xmlns:a16="http://schemas.microsoft.com/office/drawing/2014/main" xmlns="" id="{4F337824-9474-402D-9FE6-EDB918907565}"/>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199" name="Rectangle 52">
                  <a:extLst>
                    <a:ext uri="{FF2B5EF4-FFF2-40B4-BE49-F238E27FC236}">
                      <a16:creationId xmlns:a16="http://schemas.microsoft.com/office/drawing/2014/main" xmlns="" id="{E8C0C240-2E09-4B99-B94E-2BF1306B166D}"/>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00" name="Rectangle 53">
                  <a:extLst>
                    <a:ext uri="{FF2B5EF4-FFF2-40B4-BE49-F238E27FC236}">
                      <a16:creationId xmlns:a16="http://schemas.microsoft.com/office/drawing/2014/main" xmlns="" id="{30141B3F-0EF8-4848-8EFF-6C9A403EBD02}"/>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01" name="Rectangle 54">
                  <a:extLst>
                    <a:ext uri="{FF2B5EF4-FFF2-40B4-BE49-F238E27FC236}">
                      <a16:creationId xmlns:a16="http://schemas.microsoft.com/office/drawing/2014/main" xmlns="" id="{5424B756-2F3E-4576-A7B8-4DC6B396E307}"/>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02" name="Rectangle 55">
                  <a:extLst>
                    <a:ext uri="{FF2B5EF4-FFF2-40B4-BE49-F238E27FC236}">
                      <a16:creationId xmlns:a16="http://schemas.microsoft.com/office/drawing/2014/main" xmlns="" id="{1747150F-57AC-43E8-ACEC-D04F70C6019C}"/>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03" name="Rectangle 56">
                  <a:extLst>
                    <a:ext uri="{FF2B5EF4-FFF2-40B4-BE49-F238E27FC236}">
                      <a16:creationId xmlns:a16="http://schemas.microsoft.com/office/drawing/2014/main" xmlns="" id="{7C8A98EF-765B-4BA9-9BF1-6203F2C7392E}"/>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04" name="Rectangle 57">
                  <a:extLst>
                    <a:ext uri="{FF2B5EF4-FFF2-40B4-BE49-F238E27FC236}">
                      <a16:creationId xmlns:a16="http://schemas.microsoft.com/office/drawing/2014/main" xmlns="" id="{BE5D2102-4895-4AAD-BA89-251B35D4F829}"/>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05" name="Rectangle 58">
                  <a:extLst>
                    <a:ext uri="{FF2B5EF4-FFF2-40B4-BE49-F238E27FC236}">
                      <a16:creationId xmlns:a16="http://schemas.microsoft.com/office/drawing/2014/main" xmlns="" id="{7B3BFE8A-6DEE-48F8-8FC4-76B4972C6A6B}"/>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06" name="Rectangle 59">
                  <a:extLst>
                    <a:ext uri="{FF2B5EF4-FFF2-40B4-BE49-F238E27FC236}">
                      <a16:creationId xmlns:a16="http://schemas.microsoft.com/office/drawing/2014/main" xmlns="" id="{D127BE60-71D4-4A42-B802-F385BBD5F89F}"/>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At</a:t>
                  </a:r>
                </a:p>
              </p:txBody>
            </p:sp>
            <p:sp>
              <p:nvSpPr>
                <p:cNvPr id="207" name="Rectangle 60">
                  <a:extLst>
                    <a:ext uri="{FF2B5EF4-FFF2-40B4-BE49-F238E27FC236}">
                      <a16:creationId xmlns:a16="http://schemas.microsoft.com/office/drawing/2014/main" xmlns="" id="{06811C53-4172-48C2-962D-AF2888BE9D40}"/>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08" name="Rectangle 61">
                  <a:extLst>
                    <a:ext uri="{FF2B5EF4-FFF2-40B4-BE49-F238E27FC236}">
                      <a16:creationId xmlns:a16="http://schemas.microsoft.com/office/drawing/2014/main" xmlns="" id="{6D447A23-A5E5-4146-937D-D9E0AEC472A9}"/>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09" name="Rectangle 62">
                  <a:extLst>
                    <a:ext uri="{FF2B5EF4-FFF2-40B4-BE49-F238E27FC236}">
                      <a16:creationId xmlns:a16="http://schemas.microsoft.com/office/drawing/2014/main" xmlns="" id="{5604F9E4-62BF-461D-AD6F-356D72D33E67}"/>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10" name="Rectangle 63">
                  <a:extLst>
                    <a:ext uri="{FF2B5EF4-FFF2-40B4-BE49-F238E27FC236}">
                      <a16:creationId xmlns:a16="http://schemas.microsoft.com/office/drawing/2014/main" xmlns="" id="{1809E832-A758-4AD8-B0E3-5139A1C4662D}"/>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11" name="Rectangle 64">
                  <a:extLst>
                    <a:ext uri="{FF2B5EF4-FFF2-40B4-BE49-F238E27FC236}">
                      <a16:creationId xmlns:a16="http://schemas.microsoft.com/office/drawing/2014/main" xmlns="" id="{D946FF65-4D47-4214-A173-9B55159A4E42}"/>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12" name="Rectangle 65">
                  <a:extLst>
                    <a:ext uri="{FF2B5EF4-FFF2-40B4-BE49-F238E27FC236}">
                      <a16:creationId xmlns:a16="http://schemas.microsoft.com/office/drawing/2014/main" xmlns="" id="{FB6BD31A-A08F-4982-ABA6-C8A1F064491B}"/>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13" name="Rectangle 66">
                  <a:extLst>
                    <a:ext uri="{FF2B5EF4-FFF2-40B4-BE49-F238E27FC236}">
                      <a16:creationId xmlns:a16="http://schemas.microsoft.com/office/drawing/2014/main" xmlns="" id="{8C6FD087-5B0F-453A-BFEA-E75C729D1A39}"/>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14" name="Rectangle 67">
                  <a:extLst>
                    <a:ext uri="{FF2B5EF4-FFF2-40B4-BE49-F238E27FC236}">
                      <a16:creationId xmlns:a16="http://schemas.microsoft.com/office/drawing/2014/main" xmlns="" id="{E09068D9-72B1-493E-BAEE-501FF95EF75F}"/>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15" name="Rectangle 68">
                  <a:extLst>
                    <a:ext uri="{FF2B5EF4-FFF2-40B4-BE49-F238E27FC236}">
                      <a16:creationId xmlns:a16="http://schemas.microsoft.com/office/drawing/2014/main" xmlns="" id="{F324DF59-831F-4640-A191-6B496B9E33CB}"/>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6" name="Rectangle 69">
                  <a:extLst>
                    <a:ext uri="{FF2B5EF4-FFF2-40B4-BE49-F238E27FC236}">
                      <a16:creationId xmlns:a16="http://schemas.microsoft.com/office/drawing/2014/main" xmlns="" id="{118F6D7C-8E21-4C06-8E7E-78F16435F7AF}"/>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7" name="Rectangle 70">
                  <a:extLst>
                    <a:ext uri="{FF2B5EF4-FFF2-40B4-BE49-F238E27FC236}">
                      <a16:creationId xmlns:a16="http://schemas.microsoft.com/office/drawing/2014/main" xmlns="" id="{BF03F828-F651-4BD2-8448-82BF1173C5D2}"/>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18" name="Rectangle 71">
                  <a:extLst>
                    <a:ext uri="{FF2B5EF4-FFF2-40B4-BE49-F238E27FC236}">
                      <a16:creationId xmlns:a16="http://schemas.microsoft.com/office/drawing/2014/main" xmlns="" id="{4B3B53C4-8866-4224-B327-501CB0AF7E29}"/>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9" name="Rectangle 72">
                  <a:extLst>
                    <a:ext uri="{FF2B5EF4-FFF2-40B4-BE49-F238E27FC236}">
                      <a16:creationId xmlns:a16="http://schemas.microsoft.com/office/drawing/2014/main" xmlns="" id="{55744AF6-CE86-4F7D-A2DA-3D21AC5498D9}"/>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20" name="Rectangle 73">
                  <a:extLst>
                    <a:ext uri="{FF2B5EF4-FFF2-40B4-BE49-F238E27FC236}">
                      <a16:creationId xmlns:a16="http://schemas.microsoft.com/office/drawing/2014/main" xmlns="" id="{73EF7EFF-B168-422F-B73B-1038534A32D1}"/>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21" name="Rectangle 74">
                  <a:extLst>
                    <a:ext uri="{FF2B5EF4-FFF2-40B4-BE49-F238E27FC236}">
                      <a16:creationId xmlns:a16="http://schemas.microsoft.com/office/drawing/2014/main" xmlns="" id="{244A2E36-BD5A-4372-B787-1787E20241D0}"/>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22" name="Rectangle 75">
                  <a:extLst>
                    <a:ext uri="{FF2B5EF4-FFF2-40B4-BE49-F238E27FC236}">
                      <a16:creationId xmlns:a16="http://schemas.microsoft.com/office/drawing/2014/main" xmlns="" id="{46C5563E-47A2-4179-91BB-4DFA097D1FEC}"/>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23" name="Rectangle 76">
                  <a:extLst>
                    <a:ext uri="{FF2B5EF4-FFF2-40B4-BE49-F238E27FC236}">
                      <a16:creationId xmlns:a16="http://schemas.microsoft.com/office/drawing/2014/main" xmlns="" id="{9814489D-1BF7-4690-BA8B-6F2161EE7E08}"/>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24" name="Rectangle 77">
                  <a:extLst>
                    <a:ext uri="{FF2B5EF4-FFF2-40B4-BE49-F238E27FC236}">
                      <a16:creationId xmlns:a16="http://schemas.microsoft.com/office/drawing/2014/main" xmlns="" id="{ED37FE48-6B66-48CB-925B-742D3005C260}"/>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25" name="Rectangle 78">
                  <a:extLst>
                    <a:ext uri="{FF2B5EF4-FFF2-40B4-BE49-F238E27FC236}">
                      <a16:creationId xmlns:a16="http://schemas.microsoft.com/office/drawing/2014/main" xmlns="" id="{2C0F057C-31B7-49CE-B0C2-DAF47C638E7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26" name="Rectangle 79">
                  <a:extLst>
                    <a:ext uri="{FF2B5EF4-FFF2-40B4-BE49-F238E27FC236}">
                      <a16:creationId xmlns:a16="http://schemas.microsoft.com/office/drawing/2014/main" xmlns="" id="{06308D92-14E3-422A-900B-67B807322C53}"/>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27" name="Rectangle 80">
                  <a:extLst>
                    <a:ext uri="{FF2B5EF4-FFF2-40B4-BE49-F238E27FC236}">
                      <a16:creationId xmlns:a16="http://schemas.microsoft.com/office/drawing/2014/main" xmlns="" id="{B4D501CC-1DB8-469D-ADAA-F432CDEE8330}"/>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28" name="Rectangle 81">
                  <a:extLst>
                    <a:ext uri="{FF2B5EF4-FFF2-40B4-BE49-F238E27FC236}">
                      <a16:creationId xmlns:a16="http://schemas.microsoft.com/office/drawing/2014/main" xmlns="" id="{138F863C-44FE-4D45-967F-656F23C4F22F}"/>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29" name="Rectangle 82">
                  <a:extLst>
                    <a:ext uri="{FF2B5EF4-FFF2-40B4-BE49-F238E27FC236}">
                      <a16:creationId xmlns:a16="http://schemas.microsoft.com/office/drawing/2014/main" xmlns="" id="{7177A118-89F3-4C9D-8AAD-D5733C72A4E9}"/>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30" name="Rectangle 83">
                  <a:extLst>
                    <a:ext uri="{FF2B5EF4-FFF2-40B4-BE49-F238E27FC236}">
                      <a16:creationId xmlns:a16="http://schemas.microsoft.com/office/drawing/2014/main" xmlns="" id="{987B6E28-807C-42B3-85CD-009FE1090742}"/>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31" name="Rectangle 84">
                  <a:extLst>
                    <a:ext uri="{FF2B5EF4-FFF2-40B4-BE49-F238E27FC236}">
                      <a16:creationId xmlns:a16="http://schemas.microsoft.com/office/drawing/2014/main" xmlns="" id="{92624874-D6B2-42AB-812A-572F6C1CB864}"/>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32" name="Rectangle 85">
                  <a:extLst>
                    <a:ext uri="{FF2B5EF4-FFF2-40B4-BE49-F238E27FC236}">
                      <a16:creationId xmlns:a16="http://schemas.microsoft.com/office/drawing/2014/main" xmlns="" id="{919106FF-E6F5-493C-99B7-CFB73640F8F3}"/>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33" name="Rectangle 86">
                  <a:extLst>
                    <a:ext uri="{FF2B5EF4-FFF2-40B4-BE49-F238E27FC236}">
                      <a16:creationId xmlns:a16="http://schemas.microsoft.com/office/drawing/2014/main" xmlns="" id="{A0DA5EE7-37D0-4D74-A5B8-9A17E68D4764}"/>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34" name="Rectangle 87">
                  <a:extLst>
                    <a:ext uri="{FF2B5EF4-FFF2-40B4-BE49-F238E27FC236}">
                      <a16:creationId xmlns:a16="http://schemas.microsoft.com/office/drawing/2014/main" xmlns="" id="{BAECD177-F2CF-4CAC-A930-AC03C7E2E6F6}"/>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35" name="Rectangle 88">
                  <a:extLst>
                    <a:ext uri="{FF2B5EF4-FFF2-40B4-BE49-F238E27FC236}">
                      <a16:creationId xmlns:a16="http://schemas.microsoft.com/office/drawing/2014/main" xmlns="" id="{3EBB1639-4A75-445F-9C44-2C0773DC2D6F}"/>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36" name="Line 89">
                  <a:extLst>
                    <a:ext uri="{FF2B5EF4-FFF2-40B4-BE49-F238E27FC236}">
                      <a16:creationId xmlns:a16="http://schemas.microsoft.com/office/drawing/2014/main" xmlns="" id="{DCB68C13-98A0-4CE9-B641-F47D2EB111BC}"/>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7" name="Line 90">
                  <a:extLst>
                    <a:ext uri="{FF2B5EF4-FFF2-40B4-BE49-F238E27FC236}">
                      <a16:creationId xmlns:a16="http://schemas.microsoft.com/office/drawing/2014/main" xmlns="" id="{F51110F8-4396-4D24-9018-1786AC0A6007}"/>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8" name="Line 91">
                  <a:extLst>
                    <a:ext uri="{FF2B5EF4-FFF2-40B4-BE49-F238E27FC236}">
                      <a16:creationId xmlns:a16="http://schemas.microsoft.com/office/drawing/2014/main" xmlns="" id="{587E6A9C-406A-40ED-8345-01D9BB16EF39}"/>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9" name="Line 92">
                  <a:extLst>
                    <a:ext uri="{FF2B5EF4-FFF2-40B4-BE49-F238E27FC236}">
                      <a16:creationId xmlns:a16="http://schemas.microsoft.com/office/drawing/2014/main" xmlns="" id="{99BA0013-4395-43D9-8420-684D984D6816}"/>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0" name="Line 93">
                  <a:extLst>
                    <a:ext uri="{FF2B5EF4-FFF2-40B4-BE49-F238E27FC236}">
                      <a16:creationId xmlns:a16="http://schemas.microsoft.com/office/drawing/2014/main" xmlns="" id="{95EE77DF-D9A1-4F01-8196-8EFB1945D18A}"/>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1" name="Line 94">
                  <a:extLst>
                    <a:ext uri="{FF2B5EF4-FFF2-40B4-BE49-F238E27FC236}">
                      <a16:creationId xmlns:a16="http://schemas.microsoft.com/office/drawing/2014/main" xmlns="" id="{28472A70-B08D-4C1C-A728-299486982FFA}"/>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2" name="Line 95">
                  <a:extLst>
                    <a:ext uri="{FF2B5EF4-FFF2-40B4-BE49-F238E27FC236}">
                      <a16:creationId xmlns:a16="http://schemas.microsoft.com/office/drawing/2014/main" xmlns="" id="{CC13717C-664D-40DC-B584-FBCEBEFC237B}"/>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3" name="Line 96">
                  <a:extLst>
                    <a:ext uri="{FF2B5EF4-FFF2-40B4-BE49-F238E27FC236}">
                      <a16:creationId xmlns:a16="http://schemas.microsoft.com/office/drawing/2014/main" xmlns="" id="{0E3ACE0E-2AD7-44D2-AA8D-21B210C3A7AF}"/>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4" name="Line 97">
                  <a:extLst>
                    <a:ext uri="{FF2B5EF4-FFF2-40B4-BE49-F238E27FC236}">
                      <a16:creationId xmlns:a16="http://schemas.microsoft.com/office/drawing/2014/main" xmlns="" id="{AA042977-F698-497E-8CB2-3A5BA0B9E411}"/>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5" name="Line 98">
                  <a:extLst>
                    <a:ext uri="{FF2B5EF4-FFF2-40B4-BE49-F238E27FC236}">
                      <a16:creationId xmlns:a16="http://schemas.microsoft.com/office/drawing/2014/main" xmlns="" id="{5B88AC13-11B5-440E-AFB9-B8917957156D}"/>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44" name="TextBox 143">
                <a:extLst>
                  <a:ext uri="{FF2B5EF4-FFF2-40B4-BE49-F238E27FC236}">
                    <a16:creationId xmlns:a16="http://schemas.microsoft.com/office/drawing/2014/main" xmlns="" id="{09950B1C-4D3C-4FA9-B770-A90CB7CF91C3}"/>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45" name="TextBox 144">
                <a:extLst>
                  <a:ext uri="{FF2B5EF4-FFF2-40B4-BE49-F238E27FC236}">
                    <a16:creationId xmlns:a16="http://schemas.microsoft.com/office/drawing/2014/main" xmlns="" id="{025B2DF9-605F-403D-818A-FD11B76DCB4D}"/>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46" name="TextBox 145">
                <a:extLst>
                  <a:ext uri="{FF2B5EF4-FFF2-40B4-BE49-F238E27FC236}">
                    <a16:creationId xmlns:a16="http://schemas.microsoft.com/office/drawing/2014/main" xmlns="" id="{BDA6C23E-E98C-49F4-9B61-3559FA95EFC6}"/>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147" name="TextBox 146">
                <a:extLst>
                  <a:ext uri="{FF2B5EF4-FFF2-40B4-BE49-F238E27FC236}">
                    <a16:creationId xmlns:a16="http://schemas.microsoft.com/office/drawing/2014/main" xmlns="" id="{50AE4ACA-F58D-4E7E-A1D6-BA4B74335405}"/>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148" name="TextBox 147">
                <a:extLst>
                  <a:ext uri="{FF2B5EF4-FFF2-40B4-BE49-F238E27FC236}">
                    <a16:creationId xmlns:a16="http://schemas.microsoft.com/office/drawing/2014/main" xmlns="" id="{743BC12E-E6AD-42A9-8FAF-EF3F2A69D7C3}"/>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149" name="TextBox 148">
                <a:extLst>
                  <a:ext uri="{FF2B5EF4-FFF2-40B4-BE49-F238E27FC236}">
                    <a16:creationId xmlns:a16="http://schemas.microsoft.com/office/drawing/2014/main" xmlns="" id="{A285C5C7-DF16-4EF9-B46E-1FA53D8066B1}"/>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150" name="TextBox 149">
                <a:extLst>
                  <a:ext uri="{FF2B5EF4-FFF2-40B4-BE49-F238E27FC236}">
                    <a16:creationId xmlns:a16="http://schemas.microsoft.com/office/drawing/2014/main" xmlns="" id="{D00120FA-DA3A-4306-B18E-25D56A7AED8E}"/>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151" name="TextBox 150">
                <a:extLst>
                  <a:ext uri="{FF2B5EF4-FFF2-40B4-BE49-F238E27FC236}">
                    <a16:creationId xmlns:a16="http://schemas.microsoft.com/office/drawing/2014/main" xmlns="" id="{47644956-703B-4C57-94F6-04CB4C5B3368}"/>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134" name="Straight Connector 133">
              <a:extLst>
                <a:ext uri="{FF2B5EF4-FFF2-40B4-BE49-F238E27FC236}">
                  <a16:creationId xmlns:a16="http://schemas.microsoft.com/office/drawing/2014/main" xmlns="" id="{DC0C1413-A445-4DD0-8AA6-5C5C54486C51}"/>
                </a:ext>
              </a:extLst>
            </p:cNvPr>
            <p:cNvCxnSpPr>
              <a:endCxn id="238"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xmlns="" id="{1EA314D9-B75E-45F9-AA4A-4176FA8C2AD3}"/>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xmlns="" id="{8A356E07-3196-4F67-9963-0314538B3437}"/>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xmlns="" id="{7BB5B239-C19C-4496-BBA1-4D55253ECE94}"/>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xmlns="" id="{69945EA7-2D90-45A8-A8F0-B2B7BE529D39}"/>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xmlns="" id="{41110315-1B9B-4AA6-90CD-785DA06821E4}"/>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xmlns="" id="{B0B4CFA2-E463-43D5-A05C-CF3488918A87}"/>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xmlns="" id="{D4FFC56B-1683-4C62-A13D-FA9EA2ED1F84}"/>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xmlns="" id="{9BB8616A-758D-46C2-8914-0C115CF63F69}"/>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2</a:t>
            </a:r>
            <a:endParaRPr lang="en-GB" sz="2400" b="1" dirty="0">
              <a:solidFill>
                <a:schemeClr val="accent6"/>
              </a:solidFill>
            </a:endParaRPr>
          </a:p>
        </p:txBody>
      </p:sp>
      <p:sp>
        <p:nvSpPr>
          <p:cNvPr id="120" name="Rectangle 119">
            <a:extLst>
              <a:ext uri="{FF2B5EF4-FFF2-40B4-BE49-F238E27FC236}">
                <a16:creationId xmlns:a16="http://schemas.microsoft.com/office/drawing/2014/main" xmlns="" id="{229B2A54-F7C2-4CDB-8DE6-651ED3F48E4C}"/>
              </a:ext>
            </a:extLst>
          </p:cNvPr>
          <p:cNvSpPr/>
          <p:nvPr/>
        </p:nvSpPr>
        <p:spPr>
          <a:xfrm>
            <a:off x="45150" y="2917640"/>
            <a:ext cx="5376768" cy="3462486"/>
          </a:xfrm>
          <a:prstGeom prst="rect">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sz="1900" dirty="0"/>
              <a:t>The halogens are a group of</a:t>
            </a:r>
            <a:r>
              <a:rPr lang="en-GB" sz="1900" b="1" dirty="0"/>
              <a:t> toxic </a:t>
            </a:r>
            <a:r>
              <a:rPr lang="en-GB" sz="1900" dirty="0"/>
              <a:t>non-metals that have </a:t>
            </a:r>
            <a:r>
              <a:rPr lang="en-GB" sz="1900" b="1" dirty="0"/>
              <a:t>coloured</a:t>
            </a:r>
            <a:r>
              <a:rPr lang="en-GB" sz="1900" dirty="0"/>
              <a:t> </a:t>
            </a:r>
            <a:r>
              <a:rPr lang="en-GB" sz="1900" dirty="0" smtClean="0"/>
              <a:t>vapours. They </a:t>
            </a:r>
            <a:r>
              <a:rPr lang="en-GB" sz="1900" dirty="0"/>
              <a:t>have </a:t>
            </a:r>
            <a:r>
              <a:rPr lang="en-GB" sz="1900" b="1" dirty="0"/>
              <a:t>low melting </a:t>
            </a:r>
            <a:r>
              <a:rPr lang="en-GB" sz="1900" dirty="0"/>
              <a:t>and </a:t>
            </a:r>
            <a:r>
              <a:rPr lang="en-GB" sz="1900" b="1" dirty="0"/>
              <a:t>boiling </a:t>
            </a:r>
            <a:r>
              <a:rPr lang="en-GB" sz="1900" dirty="0"/>
              <a:t>points, which </a:t>
            </a:r>
            <a:r>
              <a:rPr lang="en-GB" sz="1900" b="1" dirty="0"/>
              <a:t>increase</a:t>
            </a:r>
            <a:r>
              <a:rPr lang="en-GB" sz="1900" dirty="0"/>
              <a:t> down the group. </a:t>
            </a:r>
            <a:r>
              <a:rPr lang="en-GB" sz="1900" dirty="0" smtClean="0"/>
              <a:t>They </a:t>
            </a:r>
            <a:r>
              <a:rPr lang="en-GB" sz="1900" dirty="0"/>
              <a:t>are </a:t>
            </a:r>
            <a:r>
              <a:rPr lang="en-GB" sz="1900" b="1" dirty="0"/>
              <a:t>poor conductors </a:t>
            </a:r>
            <a:r>
              <a:rPr lang="en-GB" sz="1900" dirty="0"/>
              <a:t>of </a:t>
            </a:r>
            <a:r>
              <a:rPr lang="en-GB" sz="1900" b="1" dirty="0"/>
              <a:t>heat</a:t>
            </a:r>
            <a:r>
              <a:rPr lang="en-GB" sz="1900" dirty="0"/>
              <a:t> and </a:t>
            </a:r>
            <a:r>
              <a:rPr lang="en-GB" sz="1900" b="1" dirty="0"/>
              <a:t>electricity</a:t>
            </a:r>
            <a:r>
              <a:rPr lang="en-GB" sz="1900" dirty="0"/>
              <a:t>. </a:t>
            </a:r>
            <a:endParaRPr lang="en-GB" sz="1900" dirty="0" smtClean="0"/>
          </a:p>
          <a:p>
            <a:pPr algn="ctr"/>
            <a:r>
              <a:rPr lang="en-GB" sz="900" dirty="0" smtClean="0"/>
              <a:t> </a:t>
            </a:r>
            <a:endParaRPr lang="en-GB" sz="900" dirty="0"/>
          </a:p>
          <a:p>
            <a:pPr algn="ctr"/>
            <a:endParaRPr lang="en-GB" sz="100" dirty="0"/>
          </a:p>
          <a:p>
            <a:pPr algn="ctr"/>
            <a:r>
              <a:rPr lang="en-GB" sz="1900" dirty="0"/>
              <a:t>As elements, the halogens exist as </a:t>
            </a:r>
            <a:r>
              <a:rPr lang="en-GB" sz="1900" b="1" dirty="0"/>
              <a:t>molecules</a:t>
            </a:r>
            <a:r>
              <a:rPr lang="en-GB" sz="1900" dirty="0"/>
              <a:t> made up of pairs of atoms</a:t>
            </a:r>
            <a:r>
              <a:rPr lang="en-GB" sz="1900" dirty="0" smtClean="0"/>
              <a:t>. </a:t>
            </a:r>
            <a:r>
              <a:rPr lang="en-GB" sz="1900" dirty="0"/>
              <a:t>These are called </a:t>
            </a:r>
            <a:r>
              <a:rPr lang="en-GB" sz="1900" b="1" dirty="0"/>
              <a:t>diatomic </a:t>
            </a:r>
            <a:r>
              <a:rPr lang="en-GB" sz="1900" dirty="0"/>
              <a:t>molecules </a:t>
            </a:r>
            <a:r>
              <a:rPr lang="en-GB" sz="1900" b="1" dirty="0"/>
              <a:t>F</a:t>
            </a:r>
            <a:r>
              <a:rPr lang="en-GB" sz="1900" b="1" baseline="-25000" dirty="0"/>
              <a:t>2</a:t>
            </a:r>
            <a:r>
              <a:rPr lang="en-GB" sz="1900" b="1" dirty="0"/>
              <a:t>, Cl</a:t>
            </a:r>
            <a:r>
              <a:rPr lang="en-GB" sz="1900" b="1" baseline="-25000" dirty="0"/>
              <a:t>2</a:t>
            </a:r>
            <a:r>
              <a:rPr lang="en-GB" sz="1900" b="1" dirty="0"/>
              <a:t>, Br</a:t>
            </a:r>
            <a:r>
              <a:rPr lang="en-GB" sz="1900" b="1" baseline="-25000" dirty="0"/>
              <a:t>2</a:t>
            </a:r>
            <a:r>
              <a:rPr lang="en-GB" sz="1900" b="1" dirty="0"/>
              <a:t>, I</a:t>
            </a:r>
            <a:r>
              <a:rPr lang="en-GB" sz="1900" b="1" baseline="-25000" dirty="0"/>
              <a:t>2</a:t>
            </a:r>
            <a:r>
              <a:rPr lang="en-GB" sz="1900" b="1" dirty="0"/>
              <a:t> and At</a:t>
            </a:r>
            <a:r>
              <a:rPr lang="en-GB" sz="1900" b="1" baseline="-25000" dirty="0"/>
              <a:t>2</a:t>
            </a:r>
            <a:r>
              <a:rPr lang="en-GB" sz="1900" dirty="0" smtClean="0"/>
              <a:t>. </a:t>
            </a:r>
            <a:r>
              <a:rPr lang="en-GB" sz="1900" dirty="0"/>
              <a:t>The halogens have</a:t>
            </a:r>
            <a:r>
              <a:rPr lang="en-GB" sz="1900" b="1" dirty="0"/>
              <a:t> seven </a:t>
            </a:r>
            <a:r>
              <a:rPr lang="en-GB" sz="1900" dirty="0"/>
              <a:t>electrons in their outermost shell and need to </a:t>
            </a:r>
            <a:r>
              <a:rPr lang="en-GB" sz="1900" b="1" dirty="0"/>
              <a:t>gain</a:t>
            </a:r>
            <a:r>
              <a:rPr lang="en-GB" sz="1900" dirty="0"/>
              <a:t> one electron to achieve the stable electronic structure of a noble </a:t>
            </a:r>
            <a:r>
              <a:rPr lang="en-GB" sz="1900" dirty="0" smtClean="0"/>
              <a:t>gas</a:t>
            </a:r>
            <a:r>
              <a:rPr lang="en-GB" sz="1900" dirty="0"/>
              <a:t>.</a:t>
            </a:r>
            <a:r>
              <a:rPr lang="en-GB" sz="1900" dirty="0" smtClean="0"/>
              <a:t> </a:t>
            </a:r>
            <a:r>
              <a:rPr lang="en-GB" sz="1900" dirty="0"/>
              <a:t>When they react with non metals, they are joined together by a </a:t>
            </a:r>
            <a:r>
              <a:rPr lang="en-GB" sz="1900" b="1" dirty="0"/>
              <a:t>covalent</a:t>
            </a:r>
            <a:r>
              <a:rPr lang="en-GB" sz="1900" dirty="0"/>
              <a:t> bon</a:t>
            </a:r>
            <a:r>
              <a:rPr lang="en-GB" dirty="0"/>
              <a:t>d.  </a:t>
            </a:r>
            <a:endParaRPr lang="en-GB" b="1" dirty="0"/>
          </a:p>
        </p:txBody>
      </p:sp>
      <p:sp>
        <p:nvSpPr>
          <p:cNvPr id="123" name="Rectangle 122">
            <a:extLst>
              <a:ext uri="{FF2B5EF4-FFF2-40B4-BE49-F238E27FC236}">
                <a16:creationId xmlns:a16="http://schemas.microsoft.com/office/drawing/2014/main" xmlns="" id="{05F73A03-3FE2-4A26-8736-14F52A35F7F7}"/>
              </a:ext>
            </a:extLst>
          </p:cNvPr>
          <p:cNvSpPr/>
          <p:nvPr/>
        </p:nvSpPr>
        <p:spPr>
          <a:xfrm>
            <a:off x="5544238" y="637283"/>
            <a:ext cx="3496418" cy="592628"/>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HALOGENS</a:t>
            </a:r>
          </a:p>
        </p:txBody>
      </p:sp>
      <p:cxnSp>
        <p:nvCxnSpPr>
          <p:cNvPr id="126" name="Straight Arrow Connector 125">
            <a:extLst>
              <a:ext uri="{FF2B5EF4-FFF2-40B4-BE49-F238E27FC236}">
                <a16:creationId xmlns:a16="http://schemas.microsoft.com/office/drawing/2014/main" xmlns="" id="{4042ED77-1356-4F17-A8E1-0FE16CA3AD76}"/>
              </a:ext>
            </a:extLst>
          </p:cNvPr>
          <p:cNvCxnSpPr>
            <a:cxnSpLocks/>
            <a:stCxn id="123" idx="1"/>
          </p:cNvCxnSpPr>
          <p:nvPr/>
        </p:nvCxnSpPr>
        <p:spPr>
          <a:xfrm flipH="1">
            <a:off x="5103711" y="933597"/>
            <a:ext cx="440527" cy="31812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xmlns="" id="{EDD9FAB0-ABD7-4AE9-881C-F4AED9786127}"/>
              </a:ext>
            </a:extLst>
          </p:cNvPr>
          <p:cNvSpPr/>
          <p:nvPr/>
        </p:nvSpPr>
        <p:spPr>
          <a:xfrm>
            <a:off x="4846827" y="1155411"/>
            <a:ext cx="278691" cy="1410127"/>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24" name="Group 4">
            <a:extLst>
              <a:ext uri="{FF2B5EF4-FFF2-40B4-BE49-F238E27FC236}">
                <a16:creationId xmlns:a16="http://schemas.microsoft.com/office/drawing/2014/main" xmlns="" id="{DAE373E3-D3DA-4F4B-8C22-8767CD0F4762}"/>
              </a:ext>
            </a:extLst>
          </p:cNvPr>
          <p:cNvGrpSpPr>
            <a:grpSpLocks/>
          </p:cNvGrpSpPr>
          <p:nvPr/>
        </p:nvGrpSpPr>
        <p:grpSpPr bwMode="auto">
          <a:xfrm>
            <a:off x="6331372" y="5316220"/>
            <a:ext cx="790263" cy="1206132"/>
            <a:chOff x="733" y="774"/>
            <a:chExt cx="652" cy="2228"/>
          </a:xfrm>
          <a:solidFill>
            <a:srgbClr val="C00000"/>
          </a:solidFill>
        </p:grpSpPr>
        <p:sp>
          <p:nvSpPr>
            <p:cNvPr id="125" name="Rectangle 5">
              <a:extLst>
                <a:ext uri="{FF2B5EF4-FFF2-40B4-BE49-F238E27FC236}">
                  <a16:creationId xmlns:a16="http://schemas.microsoft.com/office/drawing/2014/main" xmlns="" id="{9DBA9F53-43E2-4668-8ACD-8CCE41BF85C8}"/>
                </a:ext>
              </a:extLst>
            </p:cNvPr>
            <p:cNvSpPr>
              <a:spLocks noChangeArrowheads="1"/>
            </p:cNvSpPr>
            <p:nvPr/>
          </p:nvSpPr>
          <p:spPr bwMode="auto">
            <a:xfrm>
              <a:off x="733" y="774"/>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F</a:t>
              </a:r>
            </a:p>
          </p:txBody>
        </p:sp>
        <p:sp>
          <p:nvSpPr>
            <p:cNvPr id="127" name="Rectangle 6">
              <a:extLst>
                <a:ext uri="{FF2B5EF4-FFF2-40B4-BE49-F238E27FC236}">
                  <a16:creationId xmlns:a16="http://schemas.microsoft.com/office/drawing/2014/main" xmlns="" id="{DF8BB305-DE65-437C-9613-67A6CF0B2F42}"/>
                </a:ext>
              </a:extLst>
            </p:cNvPr>
            <p:cNvSpPr>
              <a:spLocks noChangeArrowheads="1"/>
            </p:cNvSpPr>
            <p:nvPr/>
          </p:nvSpPr>
          <p:spPr bwMode="auto">
            <a:xfrm>
              <a:off x="733" y="1220"/>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Cl</a:t>
              </a:r>
            </a:p>
          </p:txBody>
        </p:sp>
        <p:sp>
          <p:nvSpPr>
            <p:cNvPr id="128" name="Rectangle 7">
              <a:extLst>
                <a:ext uri="{FF2B5EF4-FFF2-40B4-BE49-F238E27FC236}">
                  <a16:creationId xmlns:a16="http://schemas.microsoft.com/office/drawing/2014/main" xmlns="" id="{38994A49-43E4-4EE2-81E2-3ECA1688147E}"/>
                </a:ext>
              </a:extLst>
            </p:cNvPr>
            <p:cNvSpPr>
              <a:spLocks noChangeArrowheads="1"/>
            </p:cNvSpPr>
            <p:nvPr/>
          </p:nvSpPr>
          <p:spPr bwMode="auto">
            <a:xfrm>
              <a:off x="733" y="1665"/>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Br</a:t>
              </a:r>
            </a:p>
          </p:txBody>
        </p:sp>
        <p:sp>
          <p:nvSpPr>
            <p:cNvPr id="129" name="Rectangle 8">
              <a:extLst>
                <a:ext uri="{FF2B5EF4-FFF2-40B4-BE49-F238E27FC236}">
                  <a16:creationId xmlns:a16="http://schemas.microsoft.com/office/drawing/2014/main" xmlns="" id="{583340BD-B528-4948-8184-1F0BCB37A9E9}"/>
                </a:ext>
              </a:extLst>
            </p:cNvPr>
            <p:cNvSpPr>
              <a:spLocks noChangeArrowheads="1"/>
            </p:cNvSpPr>
            <p:nvPr/>
          </p:nvSpPr>
          <p:spPr bwMode="auto">
            <a:xfrm>
              <a:off x="733" y="2111"/>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I</a:t>
              </a:r>
            </a:p>
          </p:txBody>
        </p:sp>
        <p:sp>
          <p:nvSpPr>
            <p:cNvPr id="130" name="Rectangle 9">
              <a:extLst>
                <a:ext uri="{FF2B5EF4-FFF2-40B4-BE49-F238E27FC236}">
                  <a16:creationId xmlns:a16="http://schemas.microsoft.com/office/drawing/2014/main" xmlns="" id="{8E46492D-E016-430E-9F34-0664614150CB}"/>
                </a:ext>
              </a:extLst>
            </p:cNvPr>
            <p:cNvSpPr>
              <a:spLocks noChangeArrowheads="1"/>
            </p:cNvSpPr>
            <p:nvPr/>
          </p:nvSpPr>
          <p:spPr bwMode="auto">
            <a:xfrm>
              <a:off x="733" y="2556"/>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At</a:t>
              </a:r>
            </a:p>
          </p:txBody>
        </p:sp>
      </p:grpSp>
      <p:sp>
        <p:nvSpPr>
          <p:cNvPr id="131" name="AutoShape 10">
            <a:extLst>
              <a:ext uri="{FF2B5EF4-FFF2-40B4-BE49-F238E27FC236}">
                <a16:creationId xmlns:a16="http://schemas.microsoft.com/office/drawing/2014/main" xmlns="" id="{89238990-4169-4E19-A009-CA83F3EA3373}"/>
              </a:ext>
            </a:extLst>
          </p:cNvPr>
          <p:cNvSpPr>
            <a:spLocks noChangeArrowheads="1"/>
          </p:cNvSpPr>
          <p:nvPr/>
        </p:nvSpPr>
        <p:spPr bwMode="auto">
          <a:xfrm>
            <a:off x="7262037" y="5316220"/>
            <a:ext cx="1471005" cy="1190762"/>
          </a:xfrm>
          <a:prstGeom prst="downArrow">
            <a:avLst>
              <a:gd name="adj1" fmla="val 50000"/>
              <a:gd name="adj2" fmla="val 35996"/>
            </a:avLst>
          </a:prstGeom>
          <a:solidFill>
            <a:schemeClr val="accent6">
              <a:lumMod val="20000"/>
              <a:lumOff val="80000"/>
            </a:schemeClr>
          </a:solidFill>
          <a:ln w="9525">
            <a:solidFill>
              <a:schemeClr val="tx1"/>
            </a:solidFill>
            <a:miter lim="800000"/>
            <a:headEnd/>
            <a:tailEnd/>
          </a:ln>
        </p:spPr>
        <p:txBody>
          <a:bodyPr rot="10800000" vert="eaVert" wrap="none" anchor="ctr"/>
          <a:lstStyle/>
          <a:p>
            <a:pPr algn="ctr"/>
            <a:r>
              <a:rPr lang="en-GB" b="1" dirty="0"/>
              <a:t>Reactivity </a:t>
            </a:r>
          </a:p>
          <a:p>
            <a:pPr algn="ctr"/>
            <a:r>
              <a:rPr lang="en-GB" b="1" dirty="0"/>
              <a:t>Decreases</a:t>
            </a:r>
          </a:p>
        </p:txBody>
      </p:sp>
      <p:sp>
        <p:nvSpPr>
          <p:cNvPr id="121" name="Rectangle 120">
            <a:extLst>
              <a:ext uri="{FF2B5EF4-FFF2-40B4-BE49-F238E27FC236}">
                <a16:creationId xmlns:a16="http://schemas.microsoft.com/office/drawing/2014/main" xmlns="" id="{C6F797FD-12F4-4306-825B-69957807A5A9}"/>
              </a:ext>
            </a:extLst>
          </p:cNvPr>
          <p:cNvSpPr/>
          <p:nvPr/>
        </p:nvSpPr>
        <p:spPr>
          <a:xfrm>
            <a:off x="5530788" y="1326378"/>
            <a:ext cx="3523318" cy="3893374"/>
          </a:xfrm>
          <a:prstGeom prst="rect">
            <a:avLst/>
          </a:prstGeom>
          <a:ln>
            <a:solidFill>
              <a:schemeClr val="accent6"/>
            </a:solidFill>
          </a:ln>
        </p:spPr>
        <p:txBody>
          <a:bodyPr wrap="square">
            <a:spAutoFit/>
          </a:bodyPr>
          <a:lstStyle/>
          <a:p>
            <a:pPr algn="ctr"/>
            <a:r>
              <a:rPr lang="en-GB" sz="1900" dirty="0">
                <a:solidFill>
                  <a:schemeClr val="accent6">
                    <a:lumMod val="75000"/>
                  </a:schemeClr>
                </a:solidFill>
              </a:rPr>
              <a:t>When Group 7 elements react, the atoms </a:t>
            </a:r>
            <a:r>
              <a:rPr lang="en-GB" sz="1900" b="1" dirty="0">
                <a:solidFill>
                  <a:schemeClr val="accent6">
                    <a:lumMod val="75000"/>
                  </a:schemeClr>
                </a:solidFill>
              </a:rPr>
              <a:t>gain</a:t>
            </a:r>
            <a:r>
              <a:rPr lang="en-GB" sz="1900" dirty="0">
                <a:solidFill>
                  <a:schemeClr val="accent6">
                    <a:lumMod val="75000"/>
                  </a:schemeClr>
                </a:solidFill>
              </a:rPr>
              <a:t> an electron in their outermost shell. </a:t>
            </a:r>
            <a:r>
              <a:rPr lang="en-GB" sz="1900" dirty="0" smtClean="0">
                <a:solidFill>
                  <a:schemeClr val="accent6">
                    <a:lumMod val="75000"/>
                  </a:schemeClr>
                </a:solidFill>
              </a:rPr>
              <a:t>Going </a:t>
            </a:r>
            <a:r>
              <a:rPr lang="en-GB" sz="1900" dirty="0">
                <a:solidFill>
                  <a:schemeClr val="accent6">
                    <a:lumMod val="75000"/>
                  </a:schemeClr>
                </a:solidFill>
              </a:rPr>
              <a:t>down the group, the outermost shell’s electrons get </a:t>
            </a:r>
            <a:r>
              <a:rPr lang="en-GB" sz="1900" b="1" dirty="0">
                <a:solidFill>
                  <a:schemeClr val="accent6">
                    <a:lumMod val="75000"/>
                  </a:schemeClr>
                </a:solidFill>
              </a:rPr>
              <a:t>further away </a:t>
            </a:r>
            <a:r>
              <a:rPr lang="en-GB" sz="1900" dirty="0">
                <a:solidFill>
                  <a:schemeClr val="accent6">
                    <a:lumMod val="75000"/>
                  </a:schemeClr>
                </a:solidFill>
              </a:rPr>
              <a:t>from the attractive force of the nucleus, so it is </a:t>
            </a:r>
            <a:r>
              <a:rPr lang="en-GB" sz="1900" b="1" dirty="0">
                <a:solidFill>
                  <a:schemeClr val="accent6">
                    <a:lumMod val="75000"/>
                  </a:schemeClr>
                </a:solidFill>
              </a:rPr>
              <a:t>harder</a:t>
            </a:r>
            <a:r>
              <a:rPr lang="en-GB" sz="1900" dirty="0">
                <a:solidFill>
                  <a:schemeClr val="accent6">
                    <a:lumMod val="75000"/>
                  </a:schemeClr>
                </a:solidFill>
              </a:rPr>
              <a:t> to </a:t>
            </a:r>
            <a:r>
              <a:rPr lang="en-GB" sz="1900" b="1" dirty="0">
                <a:solidFill>
                  <a:schemeClr val="accent6">
                    <a:lumMod val="75000"/>
                  </a:schemeClr>
                </a:solidFill>
              </a:rPr>
              <a:t>attract</a:t>
            </a:r>
            <a:r>
              <a:rPr lang="en-GB" sz="1900" dirty="0">
                <a:solidFill>
                  <a:schemeClr val="accent6">
                    <a:lumMod val="75000"/>
                  </a:schemeClr>
                </a:solidFill>
              </a:rPr>
              <a:t> and </a:t>
            </a:r>
            <a:r>
              <a:rPr lang="en-GB" sz="1900" b="1" dirty="0">
                <a:solidFill>
                  <a:schemeClr val="accent6">
                    <a:lumMod val="75000"/>
                  </a:schemeClr>
                </a:solidFill>
              </a:rPr>
              <a:t>gain</a:t>
            </a:r>
            <a:r>
              <a:rPr lang="en-GB" sz="1900" dirty="0">
                <a:solidFill>
                  <a:schemeClr val="accent6">
                    <a:lumMod val="75000"/>
                  </a:schemeClr>
                </a:solidFill>
              </a:rPr>
              <a:t> an extra electron. </a:t>
            </a:r>
            <a:r>
              <a:rPr lang="en-GB" sz="1900" dirty="0" smtClean="0">
                <a:solidFill>
                  <a:schemeClr val="accent6">
                    <a:lumMod val="75000"/>
                  </a:schemeClr>
                </a:solidFill>
              </a:rPr>
              <a:t>The </a:t>
            </a:r>
            <a:r>
              <a:rPr lang="en-GB" sz="1900" dirty="0">
                <a:solidFill>
                  <a:schemeClr val="accent6">
                    <a:lumMod val="75000"/>
                  </a:schemeClr>
                </a:solidFill>
              </a:rPr>
              <a:t>outer shell will also be </a:t>
            </a:r>
            <a:r>
              <a:rPr lang="en-GB" sz="1900" b="1" dirty="0">
                <a:solidFill>
                  <a:schemeClr val="accent6">
                    <a:lumMod val="75000"/>
                  </a:schemeClr>
                </a:solidFill>
              </a:rPr>
              <a:t>shielded</a:t>
            </a:r>
            <a:r>
              <a:rPr lang="en-GB" sz="1900" dirty="0">
                <a:solidFill>
                  <a:schemeClr val="accent6">
                    <a:lumMod val="75000"/>
                  </a:schemeClr>
                </a:solidFill>
              </a:rPr>
              <a:t> by more inner shells of electrons, again </a:t>
            </a:r>
            <a:r>
              <a:rPr lang="en-GB" sz="1900" b="1" dirty="0">
                <a:solidFill>
                  <a:schemeClr val="accent6">
                    <a:lumMod val="75000"/>
                  </a:schemeClr>
                </a:solidFill>
              </a:rPr>
              <a:t>reducing</a:t>
            </a:r>
            <a:r>
              <a:rPr lang="en-GB" sz="1900" dirty="0">
                <a:solidFill>
                  <a:schemeClr val="accent6">
                    <a:lumMod val="75000"/>
                  </a:schemeClr>
                </a:solidFill>
              </a:rPr>
              <a:t> the </a:t>
            </a:r>
            <a:r>
              <a:rPr lang="en-GB" sz="1900" b="1" dirty="0">
                <a:solidFill>
                  <a:schemeClr val="accent6">
                    <a:lumMod val="75000"/>
                  </a:schemeClr>
                </a:solidFill>
              </a:rPr>
              <a:t>electrostatic attraction </a:t>
            </a:r>
            <a:r>
              <a:rPr lang="en-GB" sz="1900" dirty="0">
                <a:solidFill>
                  <a:schemeClr val="accent6">
                    <a:lumMod val="75000"/>
                  </a:schemeClr>
                </a:solidFill>
              </a:rPr>
              <a:t>of the nucleus for an incoming electron.</a:t>
            </a:r>
            <a:endParaRPr lang="en-GB" sz="1900" dirty="0"/>
          </a:p>
        </p:txBody>
      </p:sp>
    </p:spTree>
    <p:extLst>
      <p:ext uri="{BB962C8B-B14F-4D97-AF65-F5344CB8AC3E}">
        <p14:creationId xmlns:p14="http://schemas.microsoft.com/office/powerpoint/2010/main" val="31695803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2</a:t>
            </a:r>
            <a:endParaRPr lang="en-GB" sz="2400" b="1" dirty="0">
              <a:solidFill>
                <a:schemeClr val="accent6"/>
              </a:solidFill>
            </a:endParaRPr>
          </a:p>
        </p:txBody>
      </p:sp>
      <p:sp>
        <p:nvSpPr>
          <p:cNvPr id="120" name="Rectangle 119">
            <a:extLst>
              <a:ext uri="{FF2B5EF4-FFF2-40B4-BE49-F238E27FC236}">
                <a16:creationId xmlns:a16="http://schemas.microsoft.com/office/drawing/2014/main" xmlns="" id="{229B2A54-F7C2-4CDB-8DE6-651ED3F48E4C}"/>
              </a:ext>
            </a:extLst>
          </p:cNvPr>
          <p:cNvSpPr/>
          <p:nvPr/>
        </p:nvSpPr>
        <p:spPr>
          <a:xfrm>
            <a:off x="143508" y="679176"/>
            <a:ext cx="8856983" cy="6340197"/>
          </a:xfrm>
          <a:prstGeom prst="rect">
            <a:avLst/>
          </a:prstGeom>
        </p:spPr>
        <p:txBody>
          <a:bodyPr wrap="square">
            <a:spAutoFit/>
          </a:bodyPr>
          <a:lstStyle/>
          <a:p>
            <a:r>
              <a:rPr lang="en-GB" sz="2000" dirty="0"/>
              <a:t>The halogens react with </a:t>
            </a:r>
            <a:r>
              <a:rPr lang="en-GB" sz="2000" b="1" dirty="0"/>
              <a:t>hydrogen</a:t>
            </a:r>
            <a:r>
              <a:rPr lang="en-GB" sz="2000" dirty="0"/>
              <a:t>. </a:t>
            </a:r>
            <a:r>
              <a:rPr lang="en-GB" sz="2000" dirty="0" smtClean="0"/>
              <a:t>The </a:t>
            </a:r>
            <a:r>
              <a:rPr lang="en-GB" sz="2000" dirty="0"/>
              <a:t>reactions with hydrogen become</a:t>
            </a:r>
            <a:r>
              <a:rPr lang="en-GB" sz="2000" b="1" dirty="0"/>
              <a:t> less </a:t>
            </a:r>
            <a:r>
              <a:rPr lang="en-GB" sz="2000" dirty="0"/>
              <a:t>reactive as you go </a:t>
            </a:r>
            <a:r>
              <a:rPr lang="en-GB" sz="2000" b="1" dirty="0"/>
              <a:t>down</a:t>
            </a:r>
            <a:r>
              <a:rPr lang="en-GB" sz="2000" dirty="0"/>
              <a:t> the group.</a:t>
            </a:r>
          </a:p>
          <a:p>
            <a:r>
              <a:rPr lang="en-GB" dirty="0" smtClean="0"/>
              <a:t>e.g.   </a:t>
            </a:r>
            <a:r>
              <a:rPr lang="en-GB" b="1" dirty="0">
                <a:solidFill>
                  <a:schemeClr val="accent6">
                    <a:lumMod val="75000"/>
                  </a:schemeClr>
                </a:solidFill>
              </a:rPr>
              <a:t>fluorine  +  hydrogen  </a:t>
            </a:r>
            <a:r>
              <a:rPr lang="en-GB" b="1" dirty="0">
                <a:solidFill>
                  <a:schemeClr val="accent6">
                    <a:lumMod val="75000"/>
                  </a:schemeClr>
                </a:solidFill>
                <a:sym typeface="Wingdings" panose="05000000000000000000" pitchFamily="2" charset="2"/>
              </a:rPr>
              <a:t>  hydrogen fluoride </a:t>
            </a:r>
          </a:p>
          <a:p>
            <a:r>
              <a:rPr lang="en-GB" b="1" dirty="0">
                <a:solidFill>
                  <a:schemeClr val="accent6">
                    <a:lumMod val="75000"/>
                  </a:schemeClr>
                </a:solidFill>
              </a:rPr>
              <a:t>           F</a:t>
            </a:r>
            <a:r>
              <a:rPr lang="en-GB" b="1" baseline="-25000" dirty="0">
                <a:solidFill>
                  <a:schemeClr val="accent6">
                    <a:lumMod val="75000"/>
                  </a:schemeClr>
                </a:solidFill>
              </a:rPr>
              <a:t>2</a:t>
            </a:r>
            <a:r>
              <a:rPr lang="en-GB" b="1" dirty="0">
                <a:solidFill>
                  <a:schemeClr val="accent6">
                    <a:lumMod val="75000"/>
                  </a:schemeClr>
                </a:solidFill>
              </a:rPr>
              <a:t>(g)     +     H</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2HF(g)</a:t>
            </a:r>
            <a:endParaRPr lang="en-GB" b="1" dirty="0">
              <a:solidFill>
                <a:schemeClr val="accent6">
                  <a:lumMod val="75000"/>
                </a:schemeClr>
              </a:solidFill>
            </a:endParaRPr>
          </a:p>
          <a:p>
            <a:endParaRPr lang="en-GB" sz="1400" dirty="0"/>
          </a:p>
          <a:p>
            <a:r>
              <a:rPr lang="en-GB" sz="2000" dirty="0"/>
              <a:t>The halogens also react with </a:t>
            </a:r>
            <a:r>
              <a:rPr lang="en-GB" sz="2000" b="1" dirty="0"/>
              <a:t>metals</a:t>
            </a:r>
            <a:r>
              <a:rPr lang="en-GB" sz="2000" dirty="0"/>
              <a:t>. </a:t>
            </a:r>
            <a:r>
              <a:rPr lang="en-GB" sz="2000" dirty="0" smtClean="0"/>
              <a:t>The </a:t>
            </a:r>
            <a:r>
              <a:rPr lang="en-GB" sz="2000" dirty="0"/>
              <a:t>halogen atoms</a:t>
            </a:r>
            <a:r>
              <a:rPr lang="en-GB" sz="2000" b="1" dirty="0"/>
              <a:t> gain </a:t>
            </a:r>
            <a:r>
              <a:rPr lang="en-GB" sz="2000" dirty="0"/>
              <a:t>a single electron to give them a stable arrangement of electrons. </a:t>
            </a:r>
            <a:r>
              <a:rPr lang="en-GB" sz="2000" dirty="0" smtClean="0"/>
              <a:t>They </a:t>
            </a:r>
            <a:r>
              <a:rPr lang="en-GB" sz="2000" dirty="0"/>
              <a:t>form </a:t>
            </a:r>
            <a:r>
              <a:rPr lang="en-GB" sz="2000" b="1" dirty="0"/>
              <a:t>ionic compound</a:t>
            </a:r>
            <a:r>
              <a:rPr lang="en-GB" sz="2000" dirty="0"/>
              <a:t>.</a:t>
            </a:r>
          </a:p>
          <a:p>
            <a:endParaRPr lang="en-GB" sz="1400" b="1" dirty="0"/>
          </a:p>
          <a:p>
            <a:r>
              <a:rPr lang="en-GB" dirty="0" smtClean="0"/>
              <a:t>e.g.   </a:t>
            </a:r>
            <a:r>
              <a:rPr lang="en-GB" b="1" dirty="0">
                <a:solidFill>
                  <a:schemeClr val="accent6">
                    <a:lumMod val="75000"/>
                  </a:schemeClr>
                </a:solidFill>
              </a:rPr>
              <a:t>sodium + chlorine </a:t>
            </a:r>
            <a:r>
              <a:rPr lang="en-GB" b="1" dirty="0">
                <a:solidFill>
                  <a:schemeClr val="accent6">
                    <a:lumMod val="75000"/>
                  </a:schemeClr>
                </a:solidFill>
                <a:sym typeface="Wingdings" panose="05000000000000000000" pitchFamily="2" charset="2"/>
              </a:rPr>
              <a:t> sodium chloride</a:t>
            </a:r>
          </a:p>
          <a:p>
            <a:r>
              <a:rPr lang="en-GB" b="1" dirty="0">
                <a:solidFill>
                  <a:schemeClr val="accent6">
                    <a:lumMod val="75000"/>
                  </a:schemeClr>
                </a:solidFill>
              </a:rPr>
              <a:t>         2Na(s)  +    Cl</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2NaCl(s)     </a:t>
            </a:r>
            <a:endParaRPr lang="en-GB" b="1" dirty="0">
              <a:solidFill>
                <a:schemeClr val="accent6">
                  <a:lumMod val="75000"/>
                </a:schemeClr>
              </a:solidFill>
            </a:endParaRPr>
          </a:p>
          <a:p>
            <a:endParaRPr lang="en-GB" sz="1200" b="1" dirty="0">
              <a:solidFill>
                <a:schemeClr val="accent6">
                  <a:lumMod val="75000"/>
                </a:schemeClr>
              </a:solidFill>
            </a:endParaRPr>
          </a:p>
          <a:p>
            <a:r>
              <a:rPr lang="en-GB" sz="2000" dirty="0"/>
              <a:t>A more reactive halogen will also </a:t>
            </a:r>
            <a:r>
              <a:rPr lang="en-GB" sz="2000" b="1" dirty="0"/>
              <a:t>displace</a:t>
            </a:r>
            <a:r>
              <a:rPr lang="en-GB" sz="2000" dirty="0"/>
              <a:t> a less reactive halogen from solutions of its </a:t>
            </a:r>
            <a:r>
              <a:rPr lang="en-GB" sz="2000" b="1" dirty="0"/>
              <a:t>salts</a:t>
            </a:r>
            <a:r>
              <a:rPr lang="en-GB" sz="2000" dirty="0"/>
              <a:t>.</a:t>
            </a:r>
          </a:p>
          <a:p>
            <a:endParaRPr lang="en-GB" dirty="0"/>
          </a:p>
          <a:p>
            <a:r>
              <a:rPr lang="en-GB" dirty="0" smtClean="0"/>
              <a:t>e.g.   </a:t>
            </a:r>
            <a:r>
              <a:rPr lang="en-GB" b="1" dirty="0">
                <a:solidFill>
                  <a:schemeClr val="accent6">
                    <a:lumMod val="75000"/>
                  </a:schemeClr>
                </a:solidFill>
              </a:rPr>
              <a:t>chlorine + potassium bromide </a:t>
            </a:r>
            <a:r>
              <a:rPr lang="en-GB" b="1" dirty="0">
                <a:solidFill>
                  <a:schemeClr val="accent6">
                    <a:lumMod val="75000"/>
                  </a:schemeClr>
                </a:solidFill>
                <a:sym typeface="Wingdings" panose="05000000000000000000" pitchFamily="2" charset="2"/>
              </a:rPr>
              <a:t> potassium chloride + bromine</a:t>
            </a:r>
          </a:p>
          <a:p>
            <a:r>
              <a:rPr lang="en-GB" b="1" dirty="0">
                <a:solidFill>
                  <a:schemeClr val="accent6">
                    <a:lumMod val="75000"/>
                  </a:schemeClr>
                </a:solidFill>
              </a:rPr>
              <a:t>          Cl</a:t>
            </a:r>
            <a:r>
              <a:rPr lang="en-GB" b="1" baseline="-25000" dirty="0">
                <a:solidFill>
                  <a:schemeClr val="accent6">
                    <a:lumMod val="75000"/>
                  </a:schemeClr>
                </a:solidFill>
              </a:rPr>
              <a:t>2</a:t>
            </a:r>
            <a:r>
              <a:rPr lang="en-GB" b="1" dirty="0">
                <a:solidFill>
                  <a:schemeClr val="accent6">
                    <a:lumMod val="75000"/>
                  </a:schemeClr>
                </a:solidFill>
              </a:rPr>
              <a:t>(g)     +             2KBr(</a:t>
            </a:r>
            <a:r>
              <a:rPr lang="en-GB" b="1" dirty="0" err="1">
                <a:solidFill>
                  <a:schemeClr val="accent6">
                    <a:lumMod val="75000"/>
                  </a:schemeClr>
                </a:solidFill>
              </a:rPr>
              <a:t>aq</a:t>
            </a:r>
            <a:r>
              <a:rPr lang="en-GB" b="1" dirty="0">
                <a:solidFill>
                  <a:schemeClr val="accent6">
                    <a:lumMod val="75000"/>
                  </a:schemeClr>
                </a:solidFill>
              </a:rPr>
              <a:t>)       </a:t>
            </a:r>
            <a:r>
              <a:rPr lang="en-GB" b="1" dirty="0">
                <a:solidFill>
                  <a:schemeClr val="accent6">
                    <a:lumMod val="75000"/>
                  </a:schemeClr>
                </a:solidFill>
                <a:sym typeface="Wingdings" panose="05000000000000000000" pitchFamily="2" charset="2"/>
              </a:rPr>
              <a:t>             2KCl(</a:t>
            </a:r>
            <a:r>
              <a:rPr lang="en-GB" b="1" dirty="0" err="1">
                <a:solidFill>
                  <a:schemeClr val="accent6">
                    <a:lumMod val="75000"/>
                  </a:schemeClr>
                </a:solidFill>
                <a:sym typeface="Wingdings" panose="05000000000000000000" pitchFamily="2" charset="2"/>
              </a:rPr>
              <a:t>aq</a:t>
            </a:r>
            <a:r>
              <a:rPr lang="en-GB" b="1" dirty="0">
                <a:solidFill>
                  <a:schemeClr val="accent6">
                    <a:lumMod val="75000"/>
                  </a:schemeClr>
                </a:solidFill>
                <a:sym typeface="Wingdings" panose="05000000000000000000" pitchFamily="2" charset="2"/>
              </a:rPr>
              <a:t>)         +   </a:t>
            </a:r>
            <a:r>
              <a:rPr lang="en-GB" b="1" dirty="0">
                <a:solidFill>
                  <a:schemeClr val="accent6">
                    <a:lumMod val="75000"/>
                  </a:schemeClr>
                </a:solidFill>
              </a:rPr>
              <a:t> Br</a:t>
            </a:r>
            <a:r>
              <a:rPr lang="en-GB" b="1" baseline="-25000" dirty="0">
                <a:solidFill>
                  <a:schemeClr val="accent6">
                    <a:lumMod val="75000"/>
                  </a:schemeClr>
                </a:solidFill>
              </a:rPr>
              <a:t>2</a:t>
            </a:r>
            <a:r>
              <a:rPr lang="en-GB" b="1" dirty="0">
                <a:solidFill>
                  <a:schemeClr val="accent6">
                    <a:lumMod val="75000"/>
                  </a:schemeClr>
                </a:solidFill>
              </a:rPr>
              <a:t>(</a:t>
            </a:r>
            <a:r>
              <a:rPr lang="en-GB" b="1" dirty="0" err="1">
                <a:solidFill>
                  <a:schemeClr val="accent6">
                    <a:lumMod val="75000"/>
                  </a:schemeClr>
                </a:solidFill>
              </a:rPr>
              <a:t>aq</a:t>
            </a:r>
            <a:r>
              <a:rPr lang="en-GB" b="1" dirty="0">
                <a:solidFill>
                  <a:schemeClr val="accent6">
                    <a:lumMod val="75000"/>
                  </a:schemeClr>
                </a:solidFill>
              </a:rPr>
              <a:t>) </a:t>
            </a:r>
          </a:p>
          <a:p>
            <a:endParaRPr lang="en-GB" sz="2000" b="1" dirty="0">
              <a:solidFill>
                <a:schemeClr val="accent6">
                  <a:lumMod val="75000"/>
                </a:schemeClr>
              </a:solidFill>
            </a:endParaRPr>
          </a:p>
          <a:p>
            <a:r>
              <a:rPr lang="en-GB" sz="2000" dirty="0"/>
              <a:t>The </a:t>
            </a:r>
            <a:r>
              <a:rPr lang="en-GB" sz="2000" b="1" dirty="0"/>
              <a:t>colour</a:t>
            </a:r>
            <a:r>
              <a:rPr lang="en-GB" sz="2000" dirty="0"/>
              <a:t> of the solution after mixing depends on the </a:t>
            </a:r>
            <a:r>
              <a:rPr lang="en-GB" sz="2000" b="1" dirty="0"/>
              <a:t>less</a:t>
            </a:r>
            <a:r>
              <a:rPr lang="en-GB" sz="2000" dirty="0"/>
              <a:t> reactive pair of halogens.</a:t>
            </a:r>
          </a:p>
          <a:p>
            <a:pPr algn="ctr"/>
            <a:r>
              <a:rPr lang="en-GB" sz="2800" b="1" dirty="0">
                <a:solidFill>
                  <a:schemeClr val="accent3">
                    <a:lumMod val="75000"/>
                  </a:schemeClr>
                </a:solidFill>
              </a:rPr>
              <a:t>Cl</a:t>
            </a:r>
            <a:r>
              <a:rPr lang="en-GB" sz="2800" b="1" baseline="-25000" dirty="0">
                <a:solidFill>
                  <a:schemeClr val="accent3">
                    <a:lumMod val="75000"/>
                  </a:schemeClr>
                </a:solidFill>
              </a:rPr>
              <a:t>2</a:t>
            </a:r>
            <a:r>
              <a:rPr lang="en-GB" sz="2800" b="1" dirty="0">
                <a:solidFill>
                  <a:schemeClr val="accent3">
                    <a:lumMod val="75000"/>
                  </a:schemeClr>
                </a:solidFill>
              </a:rPr>
              <a:t>(</a:t>
            </a:r>
            <a:r>
              <a:rPr lang="en-GB" sz="2800" b="1" dirty="0" err="1">
                <a:solidFill>
                  <a:schemeClr val="accent3">
                    <a:lumMod val="75000"/>
                  </a:schemeClr>
                </a:solidFill>
              </a:rPr>
              <a:t>aq</a:t>
            </a:r>
            <a:r>
              <a:rPr lang="en-GB" sz="2800" b="1" dirty="0">
                <a:solidFill>
                  <a:schemeClr val="accent3">
                    <a:lumMod val="75000"/>
                  </a:schemeClr>
                </a:solidFill>
              </a:rPr>
              <a:t>)           </a:t>
            </a:r>
            <a:r>
              <a:rPr lang="en-GB" sz="2800" b="1" dirty="0">
                <a:solidFill>
                  <a:srgbClr val="FFFF00"/>
                </a:solidFill>
              </a:rPr>
              <a:t>Br</a:t>
            </a:r>
            <a:r>
              <a:rPr lang="en-GB" sz="2800" b="1" baseline="-25000" dirty="0">
                <a:solidFill>
                  <a:srgbClr val="FFFF00"/>
                </a:solidFill>
              </a:rPr>
              <a:t>2</a:t>
            </a:r>
            <a:r>
              <a:rPr lang="en-GB" sz="2800" b="1" dirty="0">
                <a:solidFill>
                  <a:srgbClr val="FFFF00"/>
                </a:solidFill>
              </a:rPr>
              <a:t>(</a:t>
            </a:r>
            <a:r>
              <a:rPr lang="en-GB" sz="2800" b="1" dirty="0" err="1">
                <a:solidFill>
                  <a:srgbClr val="FFFF00"/>
                </a:solidFill>
              </a:rPr>
              <a:t>aq</a:t>
            </a:r>
            <a:r>
              <a:rPr lang="en-GB" sz="2800" b="1" dirty="0">
                <a:solidFill>
                  <a:srgbClr val="FFFF00"/>
                </a:solidFill>
              </a:rPr>
              <a:t>)           </a:t>
            </a:r>
            <a:r>
              <a:rPr lang="en-GB" sz="2800" b="1" dirty="0">
                <a:solidFill>
                  <a:schemeClr val="accent6">
                    <a:lumMod val="75000"/>
                  </a:schemeClr>
                </a:solidFill>
              </a:rPr>
              <a:t>I</a:t>
            </a:r>
            <a:r>
              <a:rPr lang="en-GB" sz="2800" b="1" baseline="-25000" dirty="0">
                <a:solidFill>
                  <a:schemeClr val="accent6">
                    <a:lumMod val="75000"/>
                  </a:schemeClr>
                </a:solidFill>
              </a:rPr>
              <a:t>2</a:t>
            </a:r>
            <a:r>
              <a:rPr lang="en-GB" sz="2800" b="1" dirty="0">
                <a:solidFill>
                  <a:schemeClr val="accent6">
                    <a:lumMod val="75000"/>
                  </a:schemeClr>
                </a:solidFill>
              </a:rPr>
              <a:t>(</a:t>
            </a:r>
            <a:r>
              <a:rPr lang="en-GB" sz="2800" b="1" dirty="0" err="1">
                <a:solidFill>
                  <a:schemeClr val="accent6">
                    <a:lumMod val="75000"/>
                  </a:schemeClr>
                </a:solidFill>
              </a:rPr>
              <a:t>aq</a:t>
            </a:r>
            <a:r>
              <a:rPr lang="en-GB" sz="2800" b="1" dirty="0">
                <a:solidFill>
                  <a:schemeClr val="accent6">
                    <a:lumMod val="75000"/>
                  </a:schemeClr>
                </a:solidFill>
              </a:rPr>
              <a:t>)</a:t>
            </a:r>
            <a:endParaRPr lang="en-GB" sz="2800" dirty="0"/>
          </a:p>
          <a:p>
            <a:endParaRPr lang="en-GB" dirty="0"/>
          </a:p>
        </p:txBody>
      </p:sp>
      <p:sp>
        <p:nvSpPr>
          <p:cNvPr id="2056" name="AutoShape 6" descr="Image result for potassium and chlorine">
            <a:extLst>
              <a:ext uri="{FF2B5EF4-FFF2-40B4-BE49-F238E27FC236}">
                <a16:creationId xmlns:a16="http://schemas.microsoft.com/office/drawing/2014/main" xmlns="" id="{9F0D59DD-BBD3-450A-B822-C8FDDA7F0E3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1265585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Group 0, Group 1 </a:t>
            </a:r>
          </a:p>
          <a:p>
            <a:pPr marL="342900" lvl="1"/>
            <a:r>
              <a:rPr lang="en-US" sz="2400" b="1" dirty="0">
                <a:solidFill>
                  <a:schemeClr val="bg1">
                    <a:lumMod val="50000"/>
                  </a:schemeClr>
                </a:solidFill>
              </a:rPr>
              <a:t>	and Group 7</a:t>
            </a:r>
            <a:endParaRPr lang="en-GB" sz="2400" dirty="0"/>
          </a:p>
          <a:p>
            <a:endParaRPr lang="en-GB" dirty="0"/>
          </a:p>
        </p:txBody>
      </p:sp>
    </p:spTree>
    <p:extLst>
      <p:ext uri="{BB962C8B-B14F-4D97-AF65-F5344CB8AC3E}">
        <p14:creationId xmlns:p14="http://schemas.microsoft.com/office/powerpoint/2010/main" val="7686947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smtClean="0"/>
              <a:t>What are the elements in Group 0 called?</a:t>
            </a:r>
          </a:p>
          <a:p>
            <a:pPr marL="457200" indent="-457200">
              <a:buAutoNum type="arabicPeriod"/>
            </a:pPr>
            <a:endParaRPr lang="en-GB" sz="2400" dirty="0" smtClean="0"/>
          </a:p>
          <a:p>
            <a:pPr marL="457200" indent="-457200">
              <a:buAutoNum type="arabicPeriod"/>
            </a:pPr>
            <a:r>
              <a:rPr lang="en-GB" sz="2400" dirty="0" smtClean="0"/>
              <a:t>What are the elements in Group 1 called?</a:t>
            </a:r>
          </a:p>
          <a:p>
            <a:pPr marL="457200" indent="-457200">
              <a:buAutoNum type="arabicPeriod"/>
            </a:pPr>
            <a:endParaRPr lang="en-GB" sz="2400" dirty="0" smtClean="0"/>
          </a:p>
          <a:p>
            <a:pPr marL="457200" indent="-457200">
              <a:buAutoNum type="arabicPeriod"/>
            </a:pPr>
            <a:r>
              <a:rPr lang="en-GB" sz="2400" dirty="0" smtClean="0"/>
              <a:t>What are the elements in Group 7 called?</a:t>
            </a:r>
          </a:p>
          <a:p>
            <a:pPr marL="457200" indent="-457200">
              <a:buAutoNum type="arabicPeriod"/>
            </a:pPr>
            <a:endParaRPr lang="en-GB" sz="2400" dirty="0" smtClean="0"/>
          </a:p>
          <a:p>
            <a:pPr marL="457200" indent="-457200">
              <a:buAutoNum type="arabicPeriod"/>
            </a:pPr>
            <a:r>
              <a:rPr lang="en-GB" sz="2400" dirty="0" smtClean="0"/>
              <a:t>What happens to the boiling point of elements in Group 0 as you go down the group?</a:t>
            </a:r>
          </a:p>
          <a:p>
            <a:pPr marL="457200" indent="-457200">
              <a:buAutoNum type="arabicPeriod"/>
            </a:pPr>
            <a:endParaRPr lang="en-GB" sz="2400" dirty="0" smtClean="0"/>
          </a:p>
          <a:p>
            <a:pPr marL="457200" indent="-457200">
              <a:buAutoNum type="arabicPeriod"/>
            </a:pPr>
            <a:r>
              <a:rPr lang="en-GB" sz="2400" dirty="0" smtClean="0"/>
              <a:t>Why are the elements in Group 0 so unreactive?</a:t>
            </a:r>
          </a:p>
          <a:p>
            <a:pPr marL="457200" indent="-457200">
              <a:buAutoNum type="arabicPeriod"/>
            </a:pPr>
            <a:endParaRPr lang="en-GB" sz="2400" dirty="0" smtClean="0"/>
          </a:p>
          <a:p>
            <a:pPr marL="457200" indent="-457200">
              <a:buAutoNum type="arabicPeriod"/>
            </a:pPr>
            <a:r>
              <a:rPr lang="en-GB" sz="2400" dirty="0" smtClean="0"/>
              <a:t>Why do all elements in Group 1 react in a similar way to each other?</a:t>
            </a:r>
          </a:p>
          <a:p>
            <a:endParaRPr lang="en-GB" sz="2400" dirty="0" smtClean="0"/>
          </a:p>
        </p:txBody>
      </p:sp>
    </p:spTree>
    <p:extLst>
      <p:ext uri="{BB962C8B-B14F-4D97-AF65-F5344CB8AC3E}">
        <p14:creationId xmlns:p14="http://schemas.microsoft.com/office/powerpoint/2010/main" val="19521855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startAt="7"/>
            </a:pPr>
            <a:r>
              <a:rPr lang="en-GB" sz="2400" dirty="0" smtClean="0"/>
              <a:t>What happens to the reactivity of the elements as you go down Group 1?</a:t>
            </a:r>
          </a:p>
          <a:p>
            <a:pPr marL="457200" indent="-457200">
              <a:buFont typeface="+mj-lt"/>
              <a:buAutoNum type="arabicPeriod" startAt="7"/>
            </a:pPr>
            <a:endParaRPr lang="en-GB" sz="2400" dirty="0" smtClean="0"/>
          </a:p>
          <a:p>
            <a:pPr marL="457200" indent="-457200">
              <a:buAutoNum type="arabicPeriod" startAt="7"/>
            </a:pPr>
            <a:r>
              <a:rPr lang="en-GB" sz="2400" dirty="0" smtClean="0"/>
              <a:t>Write a word equation for the reaction between sodium and oxygen.</a:t>
            </a:r>
          </a:p>
          <a:p>
            <a:pPr marL="457200" indent="-457200">
              <a:buAutoNum type="arabicPeriod" startAt="7"/>
            </a:pPr>
            <a:endParaRPr lang="en-GB" sz="2400" dirty="0" smtClean="0"/>
          </a:p>
          <a:p>
            <a:pPr marL="457200" indent="-457200">
              <a:buAutoNum type="arabicPeriod" startAt="7"/>
            </a:pPr>
            <a:r>
              <a:rPr lang="en-GB" sz="2400" dirty="0" smtClean="0"/>
              <a:t>Why do all the elements in Group 7 react in a similar way to each other?</a:t>
            </a:r>
          </a:p>
          <a:p>
            <a:pPr marL="457200" indent="-457200">
              <a:buAutoNum type="arabicPeriod" startAt="7"/>
            </a:pPr>
            <a:endParaRPr lang="en-GB" sz="2400" dirty="0" smtClean="0"/>
          </a:p>
          <a:p>
            <a:pPr marL="457200" indent="-457200">
              <a:buAutoNum type="arabicPeriod" startAt="7"/>
            </a:pPr>
            <a:r>
              <a:rPr lang="en-GB" sz="2400" dirty="0" smtClean="0"/>
              <a:t>Halogens are diatomic. What does the word ‘diatomic’ mean?</a:t>
            </a:r>
          </a:p>
          <a:p>
            <a:pPr marL="457200" indent="-457200">
              <a:buAutoNum type="arabicPeriod" startAt="7"/>
            </a:pPr>
            <a:endParaRPr lang="en-GB" sz="2400" dirty="0" smtClean="0"/>
          </a:p>
          <a:p>
            <a:pPr marL="457200" indent="-457200">
              <a:buAutoNum type="arabicPeriod" startAt="7"/>
            </a:pPr>
            <a:r>
              <a:rPr lang="en-GB" sz="2400" dirty="0" smtClean="0"/>
              <a:t>What happens to the reactivity as you go down Group 7?</a:t>
            </a:r>
          </a:p>
          <a:p>
            <a:endParaRPr lang="en-GB" sz="2400" dirty="0" smtClean="0"/>
          </a:p>
        </p:txBody>
      </p:sp>
    </p:spTree>
    <p:extLst>
      <p:ext uri="{BB962C8B-B14F-4D97-AF65-F5344CB8AC3E}">
        <p14:creationId xmlns:p14="http://schemas.microsoft.com/office/powerpoint/2010/main" val="32103099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046988"/>
          </a:xfrm>
          <a:prstGeom prst="rect">
            <a:avLst/>
          </a:prstGeom>
          <a:noFill/>
        </p:spPr>
        <p:txBody>
          <a:bodyPr wrap="square" rtlCol="0">
            <a:spAutoFit/>
          </a:bodyPr>
          <a:lstStyle/>
          <a:p>
            <a:pPr marL="457200" indent="-457200">
              <a:buFont typeface="+mj-lt"/>
              <a:buAutoNum type="arabicPeriod" startAt="12"/>
            </a:pPr>
            <a:r>
              <a:rPr lang="en-GB" sz="2400" dirty="0" smtClean="0"/>
              <a:t>What happens to the melting point and boiling point as you go down Group 7?</a:t>
            </a:r>
          </a:p>
          <a:p>
            <a:pPr marL="457200" indent="-457200">
              <a:buFont typeface="+mj-lt"/>
              <a:buAutoNum type="arabicPeriod" startAt="12"/>
            </a:pPr>
            <a:endParaRPr lang="en-GB" sz="2400" dirty="0" smtClean="0"/>
          </a:p>
          <a:p>
            <a:pPr marL="457200" indent="-457200">
              <a:buFont typeface="+mj-lt"/>
              <a:buAutoNum type="arabicPeriod" startAt="13"/>
            </a:pPr>
            <a:r>
              <a:rPr lang="en-GB" sz="2400" dirty="0" smtClean="0"/>
              <a:t>Write a word equation for the reaction between lithium and chlorine.</a:t>
            </a:r>
          </a:p>
          <a:p>
            <a:pPr marL="457200" indent="-457200">
              <a:buFont typeface="+mj-lt"/>
              <a:buAutoNum type="arabicPeriod" startAt="13"/>
            </a:pPr>
            <a:endParaRPr lang="en-GB" sz="2400" dirty="0" smtClean="0"/>
          </a:p>
          <a:p>
            <a:pPr marL="457200" indent="-457200">
              <a:buAutoNum type="arabicPeriod" startAt="13"/>
            </a:pPr>
            <a:r>
              <a:rPr lang="en-GB" sz="2400" dirty="0" smtClean="0"/>
              <a:t>Write a balanced chemical equation for the reaction between lithium and chlorine gas.</a:t>
            </a:r>
          </a:p>
        </p:txBody>
      </p:sp>
    </p:spTree>
    <p:extLst>
      <p:ext uri="{BB962C8B-B14F-4D97-AF65-F5344CB8AC3E}">
        <p14:creationId xmlns:p14="http://schemas.microsoft.com/office/powerpoint/2010/main" val="27877653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Group 0, Group 1 </a:t>
            </a:r>
          </a:p>
          <a:p>
            <a:pPr marL="342900" lvl="1"/>
            <a:r>
              <a:rPr lang="en-US" sz="2400" b="1" dirty="0">
                <a:solidFill>
                  <a:schemeClr val="bg1">
                    <a:lumMod val="50000"/>
                  </a:schemeClr>
                </a:solidFill>
              </a:rPr>
              <a:t>	and Group 7</a:t>
            </a:r>
            <a:endParaRPr lang="en-GB" sz="2400"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279795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smtClean="0"/>
              <a:t>What are the elements in Group 0 called?</a:t>
            </a:r>
          </a:p>
          <a:p>
            <a:pPr lvl="1"/>
            <a:r>
              <a:rPr lang="en-GB" sz="2400" b="1" dirty="0" smtClean="0">
                <a:solidFill>
                  <a:srgbClr val="00B050"/>
                </a:solidFill>
              </a:rPr>
              <a:t>Noble gases.</a:t>
            </a:r>
            <a:endParaRPr lang="en-GB" sz="2400" dirty="0" smtClean="0"/>
          </a:p>
          <a:p>
            <a:pPr marL="457200" indent="-457200">
              <a:buAutoNum type="arabicPeriod"/>
            </a:pPr>
            <a:r>
              <a:rPr lang="en-GB" sz="2400" dirty="0" smtClean="0"/>
              <a:t>What are the elements in Group 1 called?</a:t>
            </a:r>
          </a:p>
          <a:p>
            <a:pPr lvl="1"/>
            <a:r>
              <a:rPr lang="en-GB" sz="2400" b="1" dirty="0" smtClean="0">
                <a:solidFill>
                  <a:srgbClr val="00B050"/>
                </a:solidFill>
              </a:rPr>
              <a:t>Alkali metals.</a:t>
            </a:r>
            <a:endParaRPr lang="en-GB" sz="2400" dirty="0" smtClean="0"/>
          </a:p>
          <a:p>
            <a:pPr marL="457200" indent="-457200">
              <a:buAutoNum type="arabicPeriod"/>
            </a:pPr>
            <a:r>
              <a:rPr lang="en-GB" sz="2400" dirty="0" smtClean="0"/>
              <a:t>What are the elements in Group 7 called?</a:t>
            </a:r>
          </a:p>
          <a:p>
            <a:pPr lvl="1"/>
            <a:r>
              <a:rPr lang="en-GB" sz="2400" b="1" dirty="0" smtClean="0">
                <a:solidFill>
                  <a:srgbClr val="00B050"/>
                </a:solidFill>
              </a:rPr>
              <a:t>Halogens.</a:t>
            </a:r>
            <a:endParaRPr lang="en-GB" sz="2400" dirty="0" smtClean="0"/>
          </a:p>
          <a:p>
            <a:pPr marL="457200" indent="-457200">
              <a:buAutoNum type="arabicPeriod"/>
            </a:pPr>
            <a:r>
              <a:rPr lang="en-GB" sz="2400" dirty="0" smtClean="0"/>
              <a:t>What happens to the boiling point of elements in Group 0 as you go down the group?</a:t>
            </a:r>
          </a:p>
          <a:p>
            <a:pPr lvl="1"/>
            <a:r>
              <a:rPr lang="en-GB" sz="2400" b="1" dirty="0" smtClean="0">
                <a:solidFill>
                  <a:srgbClr val="00B050"/>
                </a:solidFill>
              </a:rPr>
              <a:t>Increase.</a:t>
            </a:r>
            <a:endParaRPr lang="en-GB" sz="2400" dirty="0" smtClean="0"/>
          </a:p>
          <a:p>
            <a:pPr marL="457200" indent="-457200">
              <a:buAutoNum type="arabicPeriod"/>
            </a:pPr>
            <a:r>
              <a:rPr lang="en-GB" sz="2400" dirty="0" smtClean="0"/>
              <a:t>Why are the elements in Group 0 so unreactive?</a:t>
            </a:r>
          </a:p>
          <a:p>
            <a:pPr lvl="1"/>
            <a:r>
              <a:rPr lang="en-GB" sz="2400" b="1" dirty="0" smtClean="0">
                <a:solidFill>
                  <a:srgbClr val="00B050"/>
                </a:solidFill>
              </a:rPr>
              <a:t>Full outer shell of electrons.</a:t>
            </a:r>
            <a:endParaRPr lang="en-GB" sz="2400" dirty="0" smtClean="0"/>
          </a:p>
          <a:p>
            <a:pPr marL="457200" indent="-457200">
              <a:buAutoNum type="arabicPeriod"/>
            </a:pPr>
            <a:r>
              <a:rPr lang="en-GB" sz="2400" dirty="0" smtClean="0"/>
              <a:t>Why do all elements in Group 1 react in a similar way to each other?</a:t>
            </a:r>
            <a:endParaRPr lang="en-GB" sz="2400" dirty="0"/>
          </a:p>
          <a:p>
            <a:pPr lvl="1"/>
            <a:r>
              <a:rPr lang="en-GB" sz="2400" b="1" dirty="0" smtClean="0">
                <a:solidFill>
                  <a:srgbClr val="00B050"/>
                </a:solidFill>
              </a:rPr>
              <a:t>1 electron in outer shell.</a:t>
            </a:r>
            <a:endParaRPr lang="en-GB" sz="2400" dirty="0" smtClean="0"/>
          </a:p>
        </p:txBody>
      </p:sp>
    </p:spTree>
    <p:extLst>
      <p:ext uri="{BB962C8B-B14F-4D97-AF65-F5344CB8AC3E}">
        <p14:creationId xmlns:p14="http://schemas.microsoft.com/office/powerpoint/2010/main" val="17637185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startAt="7"/>
            </a:pPr>
            <a:r>
              <a:rPr lang="en-GB" sz="2400" dirty="0" smtClean="0"/>
              <a:t>What happens to the reactivity of the elements as you go down Group 1?</a:t>
            </a:r>
          </a:p>
          <a:p>
            <a:pPr lvl="1"/>
            <a:r>
              <a:rPr lang="en-GB" sz="2400" b="1" dirty="0" smtClean="0">
                <a:solidFill>
                  <a:srgbClr val="00B050"/>
                </a:solidFill>
              </a:rPr>
              <a:t>Increases.</a:t>
            </a:r>
            <a:endParaRPr lang="en-GB" sz="2400" dirty="0" smtClean="0"/>
          </a:p>
          <a:p>
            <a:pPr marL="457200" indent="-457200">
              <a:buAutoNum type="arabicPeriod" startAt="7"/>
            </a:pPr>
            <a:r>
              <a:rPr lang="en-GB" sz="2400" dirty="0" smtClean="0"/>
              <a:t>Write a word equation for the reaction between sodium and oxygen.</a:t>
            </a:r>
          </a:p>
          <a:p>
            <a:pPr lvl="1"/>
            <a:r>
              <a:rPr lang="en-GB" sz="2400" b="1" dirty="0" smtClean="0">
                <a:solidFill>
                  <a:srgbClr val="00B050"/>
                </a:solidFill>
              </a:rPr>
              <a:t>sodium </a:t>
            </a:r>
            <a:r>
              <a:rPr lang="en-GB" sz="2400" b="1" dirty="0">
                <a:solidFill>
                  <a:srgbClr val="00B050"/>
                </a:solidFill>
              </a:rPr>
              <a:t>+ oxygen </a:t>
            </a:r>
            <a:r>
              <a:rPr lang="en-GB" sz="2400" b="1" dirty="0">
                <a:solidFill>
                  <a:srgbClr val="00B050"/>
                </a:solidFill>
                <a:sym typeface="Wingdings" panose="05000000000000000000" pitchFamily="2" charset="2"/>
              </a:rPr>
              <a:t> sodium oxide</a:t>
            </a:r>
            <a:endParaRPr lang="en-GB" sz="2400" b="1" dirty="0">
              <a:solidFill>
                <a:srgbClr val="00B050"/>
              </a:solidFill>
            </a:endParaRPr>
          </a:p>
          <a:p>
            <a:pPr marL="457200" indent="-457200">
              <a:buAutoNum type="arabicPeriod" startAt="7"/>
            </a:pPr>
            <a:r>
              <a:rPr lang="en-GB" sz="2400" dirty="0" smtClean="0"/>
              <a:t>Why do all the elements in Group 7 react in a similar way to each other?</a:t>
            </a:r>
          </a:p>
          <a:p>
            <a:pPr lvl="1"/>
            <a:r>
              <a:rPr lang="en-GB" sz="2400" b="1" dirty="0" smtClean="0">
                <a:solidFill>
                  <a:srgbClr val="00B050"/>
                </a:solidFill>
              </a:rPr>
              <a:t>7 electrons in outer shell.</a:t>
            </a:r>
            <a:endParaRPr lang="en-GB" sz="2400" dirty="0" smtClean="0"/>
          </a:p>
          <a:p>
            <a:pPr marL="457200" indent="-457200">
              <a:buAutoNum type="arabicPeriod" startAt="7"/>
            </a:pPr>
            <a:r>
              <a:rPr lang="en-GB" sz="2400" dirty="0" smtClean="0"/>
              <a:t>Halogens are diatomic. What does the word ‘diatomic’ mean?</a:t>
            </a:r>
          </a:p>
          <a:p>
            <a:pPr lvl="1"/>
            <a:r>
              <a:rPr lang="en-GB" sz="2400" b="1" dirty="0" smtClean="0">
                <a:solidFill>
                  <a:srgbClr val="00B050"/>
                </a:solidFill>
              </a:rPr>
              <a:t>There molecules contain 2 atoms.</a:t>
            </a:r>
            <a:endParaRPr lang="en-GB" sz="2400" dirty="0" smtClean="0"/>
          </a:p>
          <a:p>
            <a:pPr marL="457200" indent="-457200">
              <a:buAutoNum type="arabicPeriod" startAt="7"/>
            </a:pPr>
            <a:r>
              <a:rPr lang="en-GB" sz="2400" dirty="0" smtClean="0"/>
              <a:t>What happens to the reactivity as you go down Group 7?</a:t>
            </a:r>
          </a:p>
          <a:p>
            <a:pPr lvl="1"/>
            <a:r>
              <a:rPr lang="en-GB" sz="2400" b="1" dirty="0" smtClean="0">
                <a:solidFill>
                  <a:srgbClr val="00B050"/>
                </a:solidFill>
              </a:rPr>
              <a:t>Decreases.</a:t>
            </a:r>
            <a:endParaRPr lang="en-GB" sz="2400" dirty="0" smtClean="0"/>
          </a:p>
          <a:p>
            <a:endParaRPr lang="en-GB" sz="2400" dirty="0" smtClean="0"/>
          </a:p>
        </p:txBody>
      </p:sp>
    </p:spTree>
    <p:extLst>
      <p:ext uri="{BB962C8B-B14F-4D97-AF65-F5344CB8AC3E}">
        <p14:creationId xmlns:p14="http://schemas.microsoft.com/office/powerpoint/2010/main" val="6662355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12"/>
            </a:pPr>
            <a:r>
              <a:rPr lang="en-GB" sz="2400" dirty="0" smtClean="0"/>
              <a:t>What happens to the melting point and boiling point as you go down Group 7?</a:t>
            </a:r>
          </a:p>
          <a:p>
            <a:pPr lvl="1"/>
            <a:r>
              <a:rPr lang="en-GB" sz="2400" b="1" dirty="0" smtClean="0">
                <a:solidFill>
                  <a:srgbClr val="00B050"/>
                </a:solidFill>
              </a:rPr>
              <a:t>Increases.</a:t>
            </a:r>
            <a:endParaRPr lang="en-GB" sz="2400" dirty="0" smtClean="0"/>
          </a:p>
          <a:p>
            <a:pPr marL="457200" indent="-457200">
              <a:buFont typeface="+mj-lt"/>
              <a:buAutoNum type="arabicPeriod" startAt="13"/>
            </a:pPr>
            <a:r>
              <a:rPr lang="en-GB" sz="2400" dirty="0" smtClean="0"/>
              <a:t>Write a word equation for the reaction between lithium and chlorine.</a:t>
            </a:r>
          </a:p>
          <a:p>
            <a:pPr lvl="1"/>
            <a:r>
              <a:rPr lang="en-GB" sz="2400" b="1" dirty="0" smtClean="0">
                <a:solidFill>
                  <a:srgbClr val="00B050"/>
                </a:solidFill>
              </a:rPr>
              <a:t>lithium </a:t>
            </a:r>
            <a:r>
              <a:rPr lang="en-GB" sz="2400" b="1" dirty="0">
                <a:solidFill>
                  <a:srgbClr val="00B050"/>
                </a:solidFill>
              </a:rPr>
              <a:t>+ </a:t>
            </a:r>
            <a:r>
              <a:rPr lang="en-GB" sz="2400" b="1" dirty="0" smtClean="0">
                <a:solidFill>
                  <a:srgbClr val="00B050"/>
                </a:solidFill>
              </a:rPr>
              <a:t>chlorine </a:t>
            </a:r>
            <a:r>
              <a:rPr lang="en-GB" sz="2400" b="1" dirty="0">
                <a:solidFill>
                  <a:srgbClr val="00B050"/>
                </a:solidFill>
                <a:sym typeface="Wingdings" panose="05000000000000000000" pitchFamily="2" charset="2"/>
              </a:rPr>
              <a:t> </a:t>
            </a:r>
            <a:r>
              <a:rPr lang="en-GB" sz="2400" b="1" dirty="0" smtClean="0">
                <a:solidFill>
                  <a:srgbClr val="00B050"/>
                </a:solidFill>
                <a:sym typeface="Wingdings" panose="05000000000000000000" pitchFamily="2" charset="2"/>
              </a:rPr>
              <a:t>lithium chloride</a:t>
            </a:r>
            <a:endParaRPr lang="en-GB" sz="2400" dirty="0" smtClean="0"/>
          </a:p>
          <a:p>
            <a:pPr marL="457200" indent="-457200">
              <a:buAutoNum type="arabicPeriod" startAt="13"/>
            </a:pPr>
            <a:r>
              <a:rPr lang="en-GB" sz="2400" dirty="0" smtClean="0"/>
              <a:t>Write a balanced chemical equation for the reaction between lithium and chlorine gas.</a:t>
            </a:r>
          </a:p>
          <a:p>
            <a:pPr lvl="1"/>
            <a:r>
              <a:rPr lang="en-GB" sz="2400" b="1" dirty="0">
                <a:solidFill>
                  <a:srgbClr val="00B050"/>
                </a:solidFill>
              </a:rPr>
              <a:t>2Li(s) + Cl</a:t>
            </a:r>
            <a:r>
              <a:rPr lang="en-GB" sz="2400" b="1" baseline="-25000" dirty="0">
                <a:solidFill>
                  <a:srgbClr val="00B050"/>
                </a:solidFill>
              </a:rPr>
              <a:t>2</a:t>
            </a:r>
            <a:r>
              <a:rPr lang="en-GB" sz="2400" b="1" dirty="0">
                <a:solidFill>
                  <a:srgbClr val="00B050"/>
                </a:solidFill>
              </a:rPr>
              <a:t>(g) </a:t>
            </a:r>
            <a:r>
              <a:rPr lang="en-GB" sz="2400" b="1" dirty="0">
                <a:solidFill>
                  <a:srgbClr val="00B050"/>
                </a:solidFill>
                <a:sym typeface="Wingdings" panose="05000000000000000000" pitchFamily="2" charset="2"/>
              </a:rPr>
              <a:t> 2LiCl(s)</a:t>
            </a:r>
            <a:endParaRPr lang="en-GB" sz="2400" b="1" dirty="0">
              <a:solidFill>
                <a:srgbClr val="00B050"/>
              </a:solidFill>
            </a:endParaRPr>
          </a:p>
          <a:p>
            <a:pPr lvl="1"/>
            <a:endParaRPr lang="en-GB" sz="2400" dirty="0" smtClean="0"/>
          </a:p>
        </p:txBody>
      </p:sp>
    </p:spTree>
    <p:extLst>
      <p:ext uri="{BB962C8B-B14F-4D97-AF65-F5344CB8AC3E}">
        <p14:creationId xmlns:p14="http://schemas.microsoft.com/office/powerpoint/2010/main" val="1483620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486287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a:t>
            </a:r>
            <a:r>
              <a:rPr lang="en-US" sz="2400" b="1" dirty="0" smtClean="0">
                <a:solidFill>
                  <a:schemeClr val="bg1">
                    <a:lumMod val="50000"/>
                  </a:schemeClr>
                </a:solidFill>
              </a:rPr>
              <a:t>Metals</a:t>
            </a:r>
            <a:endParaRPr lang="en-US" sz="2400" b="1" dirty="0">
              <a:solidFill>
                <a:schemeClr val="bg1">
                  <a:lumMod val="50000"/>
                </a:schemeClr>
              </a:solidFill>
            </a:endParaRPr>
          </a:p>
          <a:p>
            <a:pPr marL="342900" lvl="1"/>
            <a:r>
              <a:rPr lang="en-US" sz="2400" b="1" dirty="0">
                <a:solidFill>
                  <a:schemeClr val="bg1">
                    <a:lumMod val="50000"/>
                  </a:schemeClr>
                </a:solidFill>
              </a:rPr>
              <a:t>     (chemistry only)</a:t>
            </a:r>
            <a:endParaRPr lang="en-GB" dirty="0"/>
          </a:p>
        </p:txBody>
      </p:sp>
    </p:spTree>
    <p:extLst>
      <p:ext uri="{BB962C8B-B14F-4D97-AF65-F5344CB8AC3E}">
        <p14:creationId xmlns:p14="http://schemas.microsoft.com/office/powerpoint/2010/main" val="4233832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xmlns="" id="{E79E6199-25F7-4C17-A993-AC93F8BA14DD}"/>
              </a:ext>
            </a:extLst>
          </p:cNvPr>
          <p:cNvGrpSpPr/>
          <p:nvPr/>
        </p:nvGrpSpPr>
        <p:grpSpPr>
          <a:xfrm>
            <a:off x="192194" y="1663948"/>
            <a:ext cx="5314846" cy="2186592"/>
            <a:chOff x="446601" y="2411007"/>
            <a:chExt cx="8243374" cy="3610282"/>
          </a:xfrm>
        </p:grpSpPr>
        <p:grpSp>
          <p:nvGrpSpPr>
            <p:cNvPr id="147" name="Group 146">
              <a:extLst>
                <a:ext uri="{FF2B5EF4-FFF2-40B4-BE49-F238E27FC236}">
                  <a16:creationId xmlns:a16="http://schemas.microsoft.com/office/drawing/2014/main" xmlns="" id="{E4EA4089-802B-4ACD-AD75-5638527F72AE}"/>
                </a:ext>
              </a:extLst>
            </p:cNvPr>
            <p:cNvGrpSpPr/>
            <p:nvPr/>
          </p:nvGrpSpPr>
          <p:grpSpPr>
            <a:xfrm>
              <a:off x="446601" y="2411007"/>
              <a:ext cx="8243374" cy="3610282"/>
              <a:chOff x="446601" y="2411007"/>
              <a:chExt cx="8243374" cy="3610282"/>
            </a:xfrm>
          </p:grpSpPr>
          <p:grpSp>
            <p:nvGrpSpPr>
              <p:cNvPr id="157" name="Group 4">
                <a:extLst>
                  <a:ext uri="{FF2B5EF4-FFF2-40B4-BE49-F238E27FC236}">
                    <a16:creationId xmlns:a16="http://schemas.microsoft.com/office/drawing/2014/main" xmlns="" id="{6F7802A3-9FF4-46B3-94D1-31AB710BB76C}"/>
                  </a:ext>
                </a:extLst>
              </p:cNvPr>
              <p:cNvGrpSpPr>
                <a:grpSpLocks/>
              </p:cNvGrpSpPr>
              <p:nvPr/>
            </p:nvGrpSpPr>
            <p:grpSpPr bwMode="auto">
              <a:xfrm>
                <a:off x="460375" y="2820889"/>
                <a:ext cx="8229600" cy="3200400"/>
                <a:chOff x="279" y="1508"/>
                <a:chExt cx="5184" cy="2016"/>
              </a:xfrm>
            </p:grpSpPr>
            <p:sp>
              <p:nvSpPr>
                <p:cNvPr id="166" name="Rectangle 5">
                  <a:extLst>
                    <a:ext uri="{FF2B5EF4-FFF2-40B4-BE49-F238E27FC236}">
                      <a16:creationId xmlns:a16="http://schemas.microsoft.com/office/drawing/2014/main" xmlns="" id="{B96546F7-63B0-46A4-9E69-E7686E524F9B}"/>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67" name="Rectangle 6">
                  <a:extLst>
                    <a:ext uri="{FF2B5EF4-FFF2-40B4-BE49-F238E27FC236}">
                      <a16:creationId xmlns:a16="http://schemas.microsoft.com/office/drawing/2014/main" xmlns="" id="{97F1180E-E8EE-4885-902F-9F122B25C0C8}"/>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68" name="Rectangle 7">
                  <a:extLst>
                    <a:ext uri="{FF2B5EF4-FFF2-40B4-BE49-F238E27FC236}">
                      <a16:creationId xmlns:a16="http://schemas.microsoft.com/office/drawing/2014/main" xmlns="" id="{A814870C-1C8F-458A-8080-F245E1E64A48}"/>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69" name="Rectangle 8">
                  <a:extLst>
                    <a:ext uri="{FF2B5EF4-FFF2-40B4-BE49-F238E27FC236}">
                      <a16:creationId xmlns:a16="http://schemas.microsoft.com/office/drawing/2014/main" xmlns="" id="{ECA1DCCE-6452-4803-875D-A48C4003EF79}"/>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70" name="Rectangle 9">
                  <a:extLst>
                    <a:ext uri="{FF2B5EF4-FFF2-40B4-BE49-F238E27FC236}">
                      <a16:creationId xmlns:a16="http://schemas.microsoft.com/office/drawing/2014/main" xmlns="" id="{94B3EC36-E898-4BEC-A1BE-EDC2BC9B7D4F}"/>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71" name="Rectangle 10">
                  <a:extLst>
                    <a:ext uri="{FF2B5EF4-FFF2-40B4-BE49-F238E27FC236}">
                      <a16:creationId xmlns:a16="http://schemas.microsoft.com/office/drawing/2014/main" xmlns="" id="{384157D7-5F6E-4F4C-A041-1DA767F8533A}"/>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72" name="Rectangle 11">
                  <a:extLst>
                    <a:ext uri="{FF2B5EF4-FFF2-40B4-BE49-F238E27FC236}">
                      <a16:creationId xmlns:a16="http://schemas.microsoft.com/office/drawing/2014/main" xmlns="" id="{90682CD4-7010-4E87-BE93-2B4ACA014C1B}"/>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73" name="Rectangle 12">
                  <a:extLst>
                    <a:ext uri="{FF2B5EF4-FFF2-40B4-BE49-F238E27FC236}">
                      <a16:creationId xmlns:a16="http://schemas.microsoft.com/office/drawing/2014/main" xmlns="" id="{852E874C-58DC-4096-9C6A-6172AE7B3086}"/>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74" name="Rectangle 13">
                  <a:extLst>
                    <a:ext uri="{FF2B5EF4-FFF2-40B4-BE49-F238E27FC236}">
                      <a16:creationId xmlns:a16="http://schemas.microsoft.com/office/drawing/2014/main" xmlns="" id="{CD18AB6A-2806-4B1C-B703-D19A6B7EA0CE}"/>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75" name="Rectangle 14">
                  <a:extLst>
                    <a:ext uri="{FF2B5EF4-FFF2-40B4-BE49-F238E27FC236}">
                      <a16:creationId xmlns:a16="http://schemas.microsoft.com/office/drawing/2014/main" xmlns="" id="{5A14FCAA-0805-4AB1-B735-C64757539B39}"/>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76" name="Rectangle 15">
                  <a:extLst>
                    <a:ext uri="{FF2B5EF4-FFF2-40B4-BE49-F238E27FC236}">
                      <a16:creationId xmlns:a16="http://schemas.microsoft.com/office/drawing/2014/main" xmlns="" id="{C7C202C0-B922-4D5C-AE63-52AE1B2942E2}"/>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77" name="Rectangle 16">
                  <a:extLst>
                    <a:ext uri="{FF2B5EF4-FFF2-40B4-BE49-F238E27FC236}">
                      <a16:creationId xmlns:a16="http://schemas.microsoft.com/office/drawing/2014/main" xmlns="" id="{5E46B36C-8C96-46A5-ADFD-1F38F6A4295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78" name="Rectangle 17">
                  <a:extLst>
                    <a:ext uri="{FF2B5EF4-FFF2-40B4-BE49-F238E27FC236}">
                      <a16:creationId xmlns:a16="http://schemas.microsoft.com/office/drawing/2014/main" xmlns="" id="{293BD8FE-AC65-4B6A-AE5A-72D1D9AA38F4}"/>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79" name="Rectangle 18">
                  <a:extLst>
                    <a:ext uri="{FF2B5EF4-FFF2-40B4-BE49-F238E27FC236}">
                      <a16:creationId xmlns:a16="http://schemas.microsoft.com/office/drawing/2014/main" xmlns="" id="{F6BE1D3F-5A8E-4FE5-9F96-F31ED3AF0BBD}"/>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80" name="Rectangle 19">
                  <a:extLst>
                    <a:ext uri="{FF2B5EF4-FFF2-40B4-BE49-F238E27FC236}">
                      <a16:creationId xmlns:a16="http://schemas.microsoft.com/office/drawing/2014/main" xmlns="" id="{5B651AA2-9D75-4EA1-AD17-5B94124B5F85}"/>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81" name="Rectangle 20">
                  <a:extLst>
                    <a:ext uri="{FF2B5EF4-FFF2-40B4-BE49-F238E27FC236}">
                      <a16:creationId xmlns:a16="http://schemas.microsoft.com/office/drawing/2014/main" xmlns="" id="{5AED5F5B-E2D1-42D2-A512-99AB7C05770C}"/>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82" name="Rectangle 21">
                  <a:extLst>
                    <a:ext uri="{FF2B5EF4-FFF2-40B4-BE49-F238E27FC236}">
                      <a16:creationId xmlns:a16="http://schemas.microsoft.com/office/drawing/2014/main" xmlns="" id="{B7F978D0-CD76-4E47-AB42-02C3BC31E1E3}"/>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83" name="Rectangle 22">
                  <a:extLst>
                    <a:ext uri="{FF2B5EF4-FFF2-40B4-BE49-F238E27FC236}">
                      <a16:creationId xmlns:a16="http://schemas.microsoft.com/office/drawing/2014/main" xmlns="" id="{485A4143-C629-444E-BB0D-DF4F67E033FF}"/>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84" name="Rectangle 23">
                  <a:extLst>
                    <a:ext uri="{FF2B5EF4-FFF2-40B4-BE49-F238E27FC236}">
                      <a16:creationId xmlns:a16="http://schemas.microsoft.com/office/drawing/2014/main" xmlns="" id="{E6A1B244-3748-4716-9351-C336447EC679}"/>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85" name="Rectangle 24">
                  <a:extLst>
                    <a:ext uri="{FF2B5EF4-FFF2-40B4-BE49-F238E27FC236}">
                      <a16:creationId xmlns:a16="http://schemas.microsoft.com/office/drawing/2014/main" xmlns="" id="{62786334-4071-44DD-80E6-B1E91464918A}"/>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86" name="Rectangle 25">
                  <a:extLst>
                    <a:ext uri="{FF2B5EF4-FFF2-40B4-BE49-F238E27FC236}">
                      <a16:creationId xmlns:a16="http://schemas.microsoft.com/office/drawing/2014/main" xmlns="" id="{FE060110-A69A-4153-A806-91037F95E495}"/>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87" name="Rectangle 26">
                  <a:extLst>
                    <a:ext uri="{FF2B5EF4-FFF2-40B4-BE49-F238E27FC236}">
                      <a16:creationId xmlns:a16="http://schemas.microsoft.com/office/drawing/2014/main" xmlns="" id="{7C50D03A-E173-44E1-8DAF-6A8B0ACB1228}"/>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88" name="Rectangle 27">
                  <a:extLst>
                    <a:ext uri="{FF2B5EF4-FFF2-40B4-BE49-F238E27FC236}">
                      <a16:creationId xmlns:a16="http://schemas.microsoft.com/office/drawing/2014/main" xmlns="" id="{F9B7A593-24FE-4456-A325-B910A8BB3667}"/>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89" name="Rectangle 28">
                  <a:extLst>
                    <a:ext uri="{FF2B5EF4-FFF2-40B4-BE49-F238E27FC236}">
                      <a16:creationId xmlns:a16="http://schemas.microsoft.com/office/drawing/2014/main" xmlns="" id="{6051798F-A03B-4CE8-B56F-A42CD4D0404F}"/>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90" name="Rectangle 29">
                  <a:extLst>
                    <a:ext uri="{FF2B5EF4-FFF2-40B4-BE49-F238E27FC236}">
                      <a16:creationId xmlns:a16="http://schemas.microsoft.com/office/drawing/2014/main" xmlns="" id="{6FC3A6A6-ACA1-489C-BC9B-A0E7F4CEEE19}"/>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91" name="Rectangle 30">
                  <a:extLst>
                    <a:ext uri="{FF2B5EF4-FFF2-40B4-BE49-F238E27FC236}">
                      <a16:creationId xmlns:a16="http://schemas.microsoft.com/office/drawing/2014/main" xmlns="" id="{8343349F-6CF9-4E81-8F1C-13B4A951F26D}"/>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92" name="Rectangle 31">
                  <a:extLst>
                    <a:ext uri="{FF2B5EF4-FFF2-40B4-BE49-F238E27FC236}">
                      <a16:creationId xmlns:a16="http://schemas.microsoft.com/office/drawing/2014/main" xmlns="" id="{16579B63-32DC-4189-8395-86F169E43B07}"/>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93" name="Rectangle 32">
                  <a:extLst>
                    <a:ext uri="{FF2B5EF4-FFF2-40B4-BE49-F238E27FC236}">
                      <a16:creationId xmlns:a16="http://schemas.microsoft.com/office/drawing/2014/main" xmlns="" id="{AB80C673-DECD-4AF8-8935-AE70D1877292}"/>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94" name="Rectangle 33">
                  <a:extLst>
                    <a:ext uri="{FF2B5EF4-FFF2-40B4-BE49-F238E27FC236}">
                      <a16:creationId xmlns:a16="http://schemas.microsoft.com/office/drawing/2014/main" xmlns="" id="{1F464366-8514-42F9-9D3F-6E0143D31F07}"/>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95" name="Rectangle 34">
                  <a:extLst>
                    <a:ext uri="{FF2B5EF4-FFF2-40B4-BE49-F238E27FC236}">
                      <a16:creationId xmlns:a16="http://schemas.microsoft.com/office/drawing/2014/main" xmlns="" id="{9F3EA6D0-8FF6-468B-BD27-A4C643BFD296}"/>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96" name="Rectangle 35">
                  <a:extLst>
                    <a:ext uri="{FF2B5EF4-FFF2-40B4-BE49-F238E27FC236}">
                      <a16:creationId xmlns:a16="http://schemas.microsoft.com/office/drawing/2014/main" xmlns="" id="{B20FEAB1-A2E7-4AE9-9FA3-E7EA6981C981}"/>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97" name="Rectangle 36">
                  <a:extLst>
                    <a:ext uri="{FF2B5EF4-FFF2-40B4-BE49-F238E27FC236}">
                      <a16:creationId xmlns:a16="http://schemas.microsoft.com/office/drawing/2014/main" xmlns="" id="{3DF797B9-1B73-4C52-BBB0-DC3C505B02C7}"/>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98" name="Rectangle 37">
                  <a:extLst>
                    <a:ext uri="{FF2B5EF4-FFF2-40B4-BE49-F238E27FC236}">
                      <a16:creationId xmlns:a16="http://schemas.microsoft.com/office/drawing/2014/main" xmlns="" id="{DB3E6CA7-49FD-4617-99C6-D78246C5C46C}"/>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99" name="Rectangle 38">
                  <a:extLst>
                    <a:ext uri="{FF2B5EF4-FFF2-40B4-BE49-F238E27FC236}">
                      <a16:creationId xmlns:a16="http://schemas.microsoft.com/office/drawing/2014/main" xmlns="" id="{C175068C-72E9-4DAF-8335-FAED2A37AE76}"/>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200" name="Rectangle 39">
                  <a:extLst>
                    <a:ext uri="{FF2B5EF4-FFF2-40B4-BE49-F238E27FC236}">
                      <a16:creationId xmlns:a16="http://schemas.microsoft.com/office/drawing/2014/main" xmlns="" id="{B37E53DE-8774-4B35-8104-79A5C15C7BD2}"/>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201" name="Rectangle 40">
                  <a:extLst>
                    <a:ext uri="{FF2B5EF4-FFF2-40B4-BE49-F238E27FC236}">
                      <a16:creationId xmlns:a16="http://schemas.microsoft.com/office/drawing/2014/main" xmlns="" id="{3EE97B8E-EFBF-40B2-A153-B883BF2E5278}"/>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202" name="Rectangle 41">
                  <a:extLst>
                    <a:ext uri="{FF2B5EF4-FFF2-40B4-BE49-F238E27FC236}">
                      <a16:creationId xmlns:a16="http://schemas.microsoft.com/office/drawing/2014/main" xmlns="" id="{582F0D00-3584-46E4-BDD3-2D3CEC94A64C}"/>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203" name="Rectangle 42">
                  <a:extLst>
                    <a:ext uri="{FF2B5EF4-FFF2-40B4-BE49-F238E27FC236}">
                      <a16:creationId xmlns:a16="http://schemas.microsoft.com/office/drawing/2014/main" xmlns="" id="{25FF33B6-6F9D-4651-9270-2A1AA9640DCA}"/>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204" name="Rectangle 43">
                  <a:extLst>
                    <a:ext uri="{FF2B5EF4-FFF2-40B4-BE49-F238E27FC236}">
                      <a16:creationId xmlns:a16="http://schemas.microsoft.com/office/drawing/2014/main" xmlns="" id="{5656A08A-7714-4816-B139-E675087623FF}"/>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205" name="Rectangle 44">
                  <a:extLst>
                    <a:ext uri="{FF2B5EF4-FFF2-40B4-BE49-F238E27FC236}">
                      <a16:creationId xmlns:a16="http://schemas.microsoft.com/office/drawing/2014/main" xmlns="" id="{0FC38AE7-5ACD-45BE-8CAA-2BAFF9BCBA20}"/>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206" name="Rectangle 45">
                  <a:extLst>
                    <a:ext uri="{FF2B5EF4-FFF2-40B4-BE49-F238E27FC236}">
                      <a16:creationId xmlns:a16="http://schemas.microsoft.com/office/drawing/2014/main" xmlns="" id="{73602226-C7E3-49DA-80B7-5AA09E350E35}"/>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207" name="Rectangle 46">
                  <a:extLst>
                    <a:ext uri="{FF2B5EF4-FFF2-40B4-BE49-F238E27FC236}">
                      <a16:creationId xmlns:a16="http://schemas.microsoft.com/office/drawing/2014/main" xmlns="" id="{D1DC2478-80A5-4308-A72F-0ECE60B066FD}"/>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208" name="Rectangle 47">
                  <a:extLst>
                    <a:ext uri="{FF2B5EF4-FFF2-40B4-BE49-F238E27FC236}">
                      <a16:creationId xmlns:a16="http://schemas.microsoft.com/office/drawing/2014/main" xmlns="" id="{8C1229AE-62BF-4B68-BBA4-CBF366896973}"/>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209" name="Rectangle 48">
                  <a:extLst>
                    <a:ext uri="{FF2B5EF4-FFF2-40B4-BE49-F238E27FC236}">
                      <a16:creationId xmlns:a16="http://schemas.microsoft.com/office/drawing/2014/main" xmlns="" id="{5845C39F-8AE8-49BC-8078-5B324B49A107}"/>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210" name="Rectangle 49">
                  <a:extLst>
                    <a:ext uri="{FF2B5EF4-FFF2-40B4-BE49-F238E27FC236}">
                      <a16:creationId xmlns:a16="http://schemas.microsoft.com/office/drawing/2014/main" xmlns="" id="{A7F9C3FB-E8D9-4B99-A125-7DA723F22C9B}"/>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211" name="Rectangle 50">
                  <a:extLst>
                    <a:ext uri="{FF2B5EF4-FFF2-40B4-BE49-F238E27FC236}">
                      <a16:creationId xmlns:a16="http://schemas.microsoft.com/office/drawing/2014/main" xmlns="" id="{A98467C7-D0AB-4D86-9FFA-96659B8D2BA6}"/>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212" name="Rectangle 51">
                  <a:extLst>
                    <a:ext uri="{FF2B5EF4-FFF2-40B4-BE49-F238E27FC236}">
                      <a16:creationId xmlns:a16="http://schemas.microsoft.com/office/drawing/2014/main" xmlns="" id="{B9C24338-74A5-4386-9C4C-F0EF6835E075}"/>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213" name="Rectangle 52">
                  <a:extLst>
                    <a:ext uri="{FF2B5EF4-FFF2-40B4-BE49-F238E27FC236}">
                      <a16:creationId xmlns:a16="http://schemas.microsoft.com/office/drawing/2014/main" xmlns="" id="{28BF82EA-7419-438B-954B-2B4ED18D02C6}"/>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14" name="Rectangle 53">
                  <a:extLst>
                    <a:ext uri="{FF2B5EF4-FFF2-40B4-BE49-F238E27FC236}">
                      <a16:creationId xmlns:a16="http://schemas.microsoft.com/office/drawing/2014/main" xmlns="" id="{C641C2E3-60B7-4970-8FFD-0FFFB0D2B3E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15" name="Rectangle 54">
                  <a:extLst>
                    <a:ext uri="{FF2B5EF4-FFF2-40B4-BE49-F238E27FC236}">
                      <a16:creationId xmlns:a16="http://schemas.microsoft.com/office/drawing/2014/main" xmlns="" id="{2F9754B0-FFF9-4635-9197-B4F3E9F78F74}"/>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16" name="Rectangle 55">
                  <a:extLst>
                    <a:ext uri="{FF2B5EF4-FFF2-40B4-BE49-F238E27FC236}">
                      <a16:creationId xmlns:a16="http://schemas.microsoft.com/office/drawing/2014/main" xmlns="" id="{D6D20911-A333-4709-9609-5124F788046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17" name="Rectangle 56">
                  <a:extLst>
                    <a:ext uri="{FF2B5EF4-FFF2-40B4-BE49-F238E27FC236}">
                      <a16:creationId xmlns:a16="http://schemas.microsoft.com/office/drawing/2014/main" xmlns="" id="{6E613557-6823-4B11-853A-874D65CE9B89}"/>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18" name="Rectangle 57">
                  <a:extLst>
                    <a:ext uri="{FF2B5EF4-FFF2-40B4-BE49-F238E27FC236}">
                      <a16:creationId xmlns:a16="http://schemas.microsoft.com/office/drawing/2014/main" xmlns="" id="{07F03B6B-0929-4399-92ED-2D5FF15D1C0E}"/>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19" name="Rectangle 58">
                  <a:extLst>
                    <a:ext uri="{FF2B5EF4-FFF2-40B4-BE49-F238E27FC236}">
                      <a16:creationId xmlns:a16="http://schemas.microsoft.com/office/drawing/2014/main" xmlns="" id="{73932BC6-E12F-4F20-9F45-84C711BB9D16}"/>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20" name="Rectangle 59">
                  <a:extLst>
                    <a:ext uri="{FF2B5EF4-FFF2-40B4-BE49-F238E27FC236}">
                      <a16:creationId xmlns:a16="http://schemas.microsoft.com/office/drawing/2014/main" xmlns="" id="{728F05A0-B819-416E-8394-B8C4325AFE83}"/>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221" name="Rectangle 60">
                  <a:extLst>
                    <a:ext uri="{FF2B5EF4-FFF2-40B4-BE49-F238E27FC236}">
                      <a16:creationId xmlns:a16="http://schemas.microsoft.com/office/drawing/2014/main" xmlns="" id="{55FC7EF9-4929-4C9D-AA2F-429E322767CA}"/>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22" name="Rectangle 61">
                  <a:extLst>
                    <a:ext uri="{FF2B5EF4-FFF2-40B4-BE49-F238E27FC236}">
                      <a16:creationId xmlns:a16="http://schemas.microsoft.com/office/drawing/2014/main" xmlns="" id="{82049523-625F-4A6F-A84B-3E115C4ADB98}"/>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23" name="Rectangle 62">
                  <a:extLst>
                    <a:ext uri="{FF2B5EF4-FFF2-40B4-BE49-F238E27FC236}">
                      <a16:creationId xmlns:a16="http://schemas.microsoft.com/office/drawing/2014/main" xmlns="" id="{EA964EE8-AD6D-4A1B-9DF5-CBDD529C4605}"/>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24" name="Rectangle 63">
                  <a:extLst>
                    <a:ext uri="{FF2B5EF4-FFF2-40B4-BE49-F238E27FC236}">
                      <a16:creationId xmlns:a16="http://schemas.microsoft.com/office/drawing/2014/main" xmlns="" id="{EFEF01BA-9078-495D-A380-7D0892EDB229}"/>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25" name="Rectangle 64">
                  <a:extLst>
                    <a:ext uri="{FF2B5EF4-FFF2-40B4-BE49-F238E27FC236}">
                      <a16:creationId xmlns:a16="http://schemas.microsoft.com/office/drawing/2014/main" xmlns="" id="{CE033C09-4605-45BF-870A-D05CCFE8FE85}"/>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26" name="Rectangle 65">
                  <a:extLst>
                    <a:ext uri="{FF2B5EF4-FFF2-40B4-BE49-F238E27FC236}">
                      <a16:creationId xmlns:a16="http://schemas.microsoft.com/office/drawing/2014/main" xmlns="" id="{594BB123-AF01-4F98-93E3-A5989CC7E01E}"/>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27" name="Rectangle 66">
                  <a:extLst>
                    <a:ext uri="{FF2B5EF4-FFF2-40B4-BE49-F238E27FC236}">
                      <a16:creationId xmlns:a16="http://schemas.microsoft.com/office/drawing/2014/main" xmlns="" id="{A631339F-E08C-413B-B7DB-646B072C1F1E}"/>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28" name="Rectangle 67">
                  <a:extLst>
                    <a:ext uri="{FF2B5EF4-FFF2-40B4-BE49-F238E27FC236}">
                      <a16:creationId xmlns:a16="http://schemas.microsoft.com/office/drawing/2014/main" xmlns="" id="{73E9D29D-5EE2-4C74-B3BE-A7E80EB163CE}"/>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29" name="Rectangle 68">
                  <a:extLst>
                    <a:ext uri="{FF2B5EF4-FFF2-40B4-BE49-F238E27FC236}">
                      <a16:creationId xmlns:a16="http://schemas.microsoft.com/office/drawing/2014/main" xmlns="" id="{23E678BC-A94E-4E62-B6D4-55D6813A7A14}"/>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0" name="Rectangle 69">
                  <a:extLst>
                    <a:ext uri="{FF2B5EF4-FFF2-40B4-BE49-F238E27FC236}">
                      <a16:creationId xmlns:a16="http://schemas.microsoft.com/office/drawing/2014/main" xmlns="" id="{8CB0124C-3DFD-4307-9C8B-604AE2A1462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1" name="Rectangle 70">
                  <a:extLst>
                    <a:ext uri="{FF2B5EF4-FFF2-40B4-BE49-F238E27FC236}">
                      <a16:creationId xmlns:a16="http://schemas.microsoft.com/office/drawing/2014/main" xmlns="" id="{B9D1EE2C-ED9A-4950-ADC3-9E1784EB50E3}"/>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32" name="Rectangle 71">
                  <a:extLst>
                    <a:ext uri="{FF2B5EF4-FFF2-40B4-BE49-F238E27FC236}">
                      <a16:creationId xmlns:a16="http://schemas.microsoft.com/office/drawing/2014/main" xmlns="" id="{F34F023A-9D01-4B71-BAA3-8EDEC2FBA8D0}"/>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3" name="Rectangle 72">
                  <a:extLst>
                    <a:ext uri="{FF2B5EF4-FFF2-40B4-BE49-F238E27FC236}">
                      <a16:creationId xmlns:a16="http://schemas.microsoft.com/office/drawing/2014/main" xmlns="" id="{6D5CD598-6EC3-4B8B-8325-8A405E657A4F}"/>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34" name="Rectangle 73">
                  <a:extLst>
                    <a:ext uri="{FF2B5EF4-FFF2-40B4-BE49-F238E27FC236}">
                      <a16:creationId xmlns:a16="http://schemas.microsoft.com/office/drawing/2014/main" xmlns="" id="{FDC46D31-00FB-442D-B620-B074D78FC309}"/>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35" name="Rectangle 74">
                  <a:extLst>
                    <a:ext uri="{FF2B5EF4-FFF2-40B4-BE49-F238E27FC236}">
                      <a16:creationId xmlns:a16="http://schemas.microsoft.com/office/drawing/2014/main" xmlns="" id="{7294A9AC-9E06-4B0E-AC37-B2F0B3BCB591}"/>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36" name="Rectangle 75">
                  <a:extLst>
                    <a:ext uri="{FF2B5EF4-FFF2-40B4-BE49-F238E27FC236}">
                      <a16:creationId xmlns:a16="http://schemas.microsoft.com/office/drawing/2014/main" xmlns="" id="{CAB1E2EA-9778-4255-BF76-8C4C121F22CF}"/>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37" name="Rectangle 76">
                  <a:extLst>
                    <a:ext uri="{FF2B5EF4-FFF2-40B4-BE49-F238E27FC236}">
                      <a16:creationId xmlns:a16="http://schemas.microsoft.com/office/drawing/2014/main" xmlns="" id="{0C144717-922B-417F-A17D-69C462C3FF8C}"/>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38" name="Rectangle 77">
                  <a:extLst>
                    <a:ext uri="{FF2B5EF4-FFF2-40B4-BE49-F238E27FC236}">
                      <a16:creationId xmlns:a16="http://schemas.microsoft.com/office/drawing/2014/main" xmlns="" id="{594003BD-0FDA-4594-A380-DAB9AF9720B6}"/>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39" name="Rectangle 78">
                  <a:extLst>
                    <a:ext uri="{FF2B5EF4-FFF2-40B4-BE49-F238E27FC236}">
                      <a16:creationId xmlns:a16="http://schemas.microsoft.com/office/drawing/2014/main" xmlns="" id="{DCAFA5FE-46A2-42DD-A124-AD2CF174A56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40" name="Rectangle 79">
                  <a:extLst>
                    <a:ext uri="{FF2B5EF4-FFF2-40B4-BE49-F238E27FC236}">
                      <a16:creationId xmlns:a16="http://schemas.microsoft.com/office/drawing/2014/main" xmlns="" id="{A54330CB-16D0-425C-B91A-D2BB01C5E5D5}"/>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41" name="Rectangle 80">
                  <a:extLst>
                    <a:ext uri="{FF2B5EF4-FFF2-40B4-BE49-F238E27FC236}">
                      <a16:creationId xmlns:a16="http://schemas.microsoft.com/office/drawing/2014/main" xmlns="" id="{2AB33B00-357A-4A5F-BC61-45AE6BEC121B}"/>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42" name="Rectangle 81">
                  <a:extLst>
                    <a:ext uri="{FF2B5EF4-FFF2-40B4-BE49-F238E27FC236}">
                      <a16:creationId xmlns:a16="http://schemas.microsoft.com/office/drawing/2014/main" xmlns="" id="{3A318481-76A2-454F-AFA0-888A554DE7E0}"/>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43" name="Rectangle 82">
                  <a:extLst>
                    <a:ext uri="{FF2B5EF4-FFF2-40B4-BE49-F238E27FC236}">
                      <a16:creationId xmlns:a16="http://schemas.microsoft.com/office/drawing/2014/main" xmlns="" id="{80311247-5961-484B-8A0D-671AA1688CA2}"/>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44" name="Rectangle 83">
                  <a:extLst>
                    <a:ext uri="{FF2B5EF4-FFF2-40B4-BE49-F238E27FC236}">
                      <a16:creationId xmlns:a16="http://schemas.microsoft.com/office/drawing/2014/main" xmlns="" id="{CEA5B51C-8BF7-4FDE-8714-9EAD3FBE5C71}"/>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45" name="Rectangle 84">
                  <a:extLst>
                    <a:ext uri="{FF2B5EF4-FFF2-40B4-BE49-F238E27FC236}">
                      <a16:creationId xmlns:a16="http://schemas.microsoft.com/office/drawing/2014/main" xmlns="" id="{DBED7BC8-6B6B-4B03-8F7A-E6B2951E6E3F}"/>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46" name="Rectangle 85">
                  <a:extLst>
                    <a:ext uri="{FF2B5EF4-FFF2-40B4-BE49-F238E27FC236}">
                      <a16:creationId xmlns:a16="http://schemas.microsoft.com/office/drawing/2014/main" xmlns="" id="{1EEA893F-F455-43C7-A6A4-968DE299AB0C}"/>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47" name="Rectangle 86">
                  <a:extLst>
                    <a:ext uri="{FF2B5EF4-FFF2-40B4-BE49-F238E27FC236}">
                      <a16:creationId xmlns:a16="http://schemas.microsoft.com/office/drawing/2014/main" xmlns="" id="{13A3DC11-91E3-411C-8936-D7DCBB1EE411}"/>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48" name="Rectangle 87">
                  <a:extLst>
                    <a:ext uri="{FF2B5EF4-FFF2-40B4-BE49-F238E27FC236}">
                      <a16:creationId xmlns:a16="http://schemas.microsoft.com/office/drawing/2014/main" xmlns="" id="{CAEE8EF6-07FA-40D5-8C78-2A48F2638D54}"/>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49" name="Rectangle 88">
                  <a:extLst>
                    <a:ext uri="{FF2B5EF4-FFF2-40B4-BE49-F238E27FC236}">
                      <a16:creationId xmlns:a16="http://schemas.microsoft.com/office/drawing/2014/main" xmlns="" id="{73E7617E-3867-4E49-BC11-D7666E6B3807}"/>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50" name="Line 89">
                  <a:extLst>
                    <a:ext uri="{FF2B5EF4-FFF2-40B4-BE49-F238E27FC236}">
                      <a16:creationId xmlns:a16="http://schemas.microsoft.com/office/drawing/2014/main" xmlns="" id="{0D7092BC-E7BC-4744-9314-A504328A80CB}"/>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1" name="Line 90">
                  <a:extLst>
                    <a:ext uri="{FF2B5EF4-FFF2-40B4-BE49-F238E27FC236}">
                      <a16:creationId xmlns:a16="http://schemas.microsoft.com/office/drawing/2014/main" xmlns="" id="{0D57BA3F-6ED3-4BFD-9D79-408C153F89A4}"/>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2" name="Line 91">
                  <a:extLst>
                    <a:ext uri="{FF2B5EF4-FFF2-40B4-BE49-F238E27FC236}">
                      <a16:creationId xmlns:a16="http://schemas.microsoft.com/office/drawing/2014/main" xmlns="" id="{71F4882E-1746-4C8C-B15F-37ACDA0F37C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3" name="Line 92">
                  <a:extLst>
                    <a:ext uri="{FF2B5EF4-FFF2-40B4-BE49-F238E27FC236}">
                      <a16:creationId xmlns:a16="http://schemas.microsoft.com/office/drawing/2014/main" xmlns="" id="{2CED2A84-5467-46A3-89C9-BD21D934B5C2}"/>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4" name="Line 93">
                  <a:extLst>
                    <a:ext uri="{FF2B5EF4-FFF2-40B4-BE49-F238E27FC236}">
                      <a16:creationId xmlns:a16="http://schemas.microsoft.com/office/drawing/2014/main" xmlns="" id="{7BCA0461-B842-448C-8FFC-F69E2F49E4B2}"/>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5" name="Line 94">
                  <a:extLst>
                    <a:ext uri="{FF2B5EF4-FFF2-40B4-BE49-F238E27FC236}">
                      <a16:creationId xmlns:a16="http://schemas.microsoft.com/office/drawing/2014/main" xmlns="" id="{1F6396AD-93CB-4323-9E7E-69157B5BC286}"/>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6" name="Line 95">
                  <a:extLst>
                    <a:ext uri="{FF2B5EF4-FFF2-40B4-BE49-F238E27FC236}">
                      <a16:creationId xmlns:a16="http://schemas.microsoft.com/office/drawing/2014/main" xmlns="" id="{C2071074-DFB2-4CCE-ADDA-D0EF39B93C4E}"/>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7" name="Line 96">
                  <a:extLst>
                    <a:ext uri="{FF2B5EF4-FFF2-40B4-BE49-F238E27FC236}">
                      <a16:creationId xmlns:a16="http://schemas.microsoft.com/office/drawing/2014/main" xmlns="" id="{26795DE5-2502-4605-BD72-BCF508B62546}"/>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8" name="Line 97">
                  <a:extLst>
                    <a:ext uri="{FF2B5EF4-FFF2-40B4-BE49-F238E27FC236}">
                      <a16:creationId xmlns:a16="http://schemas.microsoft.com/office/drawing/2014/main" xmlns="" id="{63DEDE05-CEDC-47C0-B819-EA2E27BD22FE}"/>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9" name="Line 98">
                  <a:extLst>
                    <a:ext uri="{FF2B5EF4-FFF2-40B4-BE49-F238E27FC236}">
                      <a16:creationId xmlns:a16="http://schemas.microsoft.com/office/drawing/2014/main" xmlns="" id="{2383C46B-6F9C-4CAA-BF25-6E46812E37BD}"/>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58" name="TextBox 157">
                <a:extLst>
                  <a:ext uri="{FF2B5EF4-FFF2-40B4-BE49-F238E27FC236}">
                    <a16:creationId xmlns:a16="http://schemas.microsoft.com/office/drawing/2014/main" xmlns="" id="{7AA0293A-2BA6-4595-8377-7FC5CC89FDC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59" name="TextBox 158">
                <a:extLst>
                  <a:ext uri="{FF2B5EF4-FFF2-40B4-BE49-F238E27FC236}">
                    <a16:creationId xmlns:a16="http://schemas.microsoft.com/office/drawing/2014/main" xmlns="" id="{FFE08ED3-E070-4798-A2E2-F189D27BA619}"/>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60" name="TextBox 159">
                <a:extLst>
                  <a:ext uri="{FF2B5EF4-FFF2-40B4-BE49-F238E27FC236}">
                    <a16:creationId xmlns:a16="http://schemas.microsoft.com/office/drawing/2014/main" xmlns="" id="{0CF3E031-49D0-4B73-B27A-07F4BFB123F4}"/>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161" name="TextBox 160">
                <a:extLst>
                  <a:ext uri="{FF2B5EF4-FFF2-40B4-BE49-F238E27FC236}">
                    <a16:creationId xmlns:a16="http://schemas.microsoft.com/office/drawing/2014/main" xmlns="" id="{6B52B478-526B-41F9-90D7-64ECF78E5E2B}"/>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162" name="TextBox 161">
                <a:extLst>
                  <a:ext uri="{FF2B5EF4-FFF2-40B4-BE49-F238E27FC236}">
                    <a16:creationId xmlns:a16="http://schemas.microsoft.com/office/drawing/2014/main" xmlns="" id="{036A6264-76A3-4112-879B-FC899849E02B}"/>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163" name="TextBox 162">
                <a:extLst>
                  <a:ext uri="{FF2B5EF4-FFF2-40B4-BE49-F238E27FC236}">
                    <a16:creationId xmlns:a16="http://schemas.microsoft.com/office/drawing/2014/main" xmlns="" id="{4756CC2C-D8E1-4DCB-90D0-53E9D7C21450}"/>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164" name="TextBox 163">
                <a:extLst>
                  <a:ext uri="{FF2B5EF4-FFF2-40B4-BE49-F238E27FC236}">
                    <a16:creationId xmlns:a16="http://schemas.microsoft.com/office/drawing/2014/main" xmlns="" id="{1AB0B0C6-23E5-45C4-8C11-C738A6CD2E5C}"/>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165" name="TextBox 164">
                <a:extLst>
                  <a:ext uri="{FF2B5EF4-FFF2-40B4-BE49-F238E27FC236}">
                    <a16:creationId xmlns:a16="http://schemas.microsoft.com/office/drawing/2014/main" xmlns="" id="{58FAA7CD-1A66-454A-BD2B-6D39CB433796}"/>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148" name="Straight Connector 147">
              <a:extLst>
                <a:ext uri="{FF2B5EF4-FFF2-40B4-BE49-F238E27FC236}">
                  <a16:creationId xmlns:a16="http://schemas.microsoft.com/office/drawing/2014/main" xmlns="" id="{1BCEF7C3-FB1A-4E3E-8AA6-D292A5D22A3B}"/>
                </a:ext>
              </a:extLst>
            </p:cNvPr>
            <p:cNvCxnSpPr>
              <a:endCxn id="252"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xmlns="" id="{19F9D6D0-A8BE-4FBC-B3FA-992E9842D7C0}"/>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xmlns="" id="{E263CAC4-B036-42DC-93DD-D00C54B0727D}"/>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xmlns="" id="{8597D85C-50C3-4D58-91F9-BA1B8E7F2308}"/>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xmlns="" id="{4B9B3CB0-5E55-4E56-B529-598CAD618724}"/>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xmlns="" id="{40772533-3E5A-4055-A0CB-3C4D1E90C3F2}"/>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xmlns="" id="{CD5DF52E-F06D-4E86-B22A-46C6B238858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xmlns="" id="{1E540BAF-14F7-4C26-B4C5-376F5B67B11D}"/>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xmlns="" id="{AEEDE4E2-B658-42EF-B76E-EF2E065AC112}"/>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xmlns="" id="{5586F595-8425-4292-81E9-C70DE61741D8}"/>
              </a:ext>
            </a:extLst>
          </p:cNvPr>
          <p:cNvSpPr/>
          <p:nvPr/>
        </p:nvSpPr>
        <p:spPr>
          <a:xfrm>
            <a:off x="5617456" y="918918"/>
            <a:ext cx="3408099" cy="5403344"/>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35655"/>
            <a:ext cx="8497271" cy="889826"/>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3</a:t>
            </a:r>
            <a:br>
              <a:rPr lang="en-US" sz="2400" b="1" dirty="0">
                <a:solidFill>
                  <a:schemeClr val="accent6"/>
                </a:solidFill>
              </a:rPr>
            </a:br>
            <a:r>
              <a:rPr lang="en-US" sz="2400" b="1" dirty="0">
                <a:solidFill>
                  <a:schemeClr val="accent6"/>
                </a:solidFill>
              </a:rPr>
              <a:t>Chemistry only</a:t>
            </a:r>
            <a:endParaRPr lang="en-GB" sz="2400" b="1" dirty="0">
              <a:solidFill>
                <a:schemeClr val="accent6"/>
              </a:solidFill>
            </a:endParaRPr>
          </a:p>
        </p:txBody>
      </p:sp>
      <p:sp>
        <p:nvSpPr>
          <p:cNvPr id="120" name="Rectangle 119">
            <a:extLst>
              <a:ext uri="{FF2B5EF4-FFF2-40B4-BE49-F238E27FC236}">
                <a16:creationId xmlns:a16="http://schemas.microsoft.com/office/drawing/2014/main" xmlns="" id="{229B2A54-F7C2-4CDB-8DE6-651ED3F48E4C}"/>
              </a:ext>
            </a:extLst>
          </p:cNvPr>
          <p:cNvSpPr/>
          <p:nvPr/>
        </p:nvSpPr>
        <p:spPr>
          <a:xfrm>
            <a:off x="5546920" y="940202"/>
            <a:ext cx="3569365" cy="5632311"/>
          </a:xfrm>
          <a:prstGeom prst="rect">
            <a:avLst/>
          </a:prstGeom>
        </p:spPr>
        <p:txBody>
          <a:bodyPr wrap="square">
            <a:spAutoFit/>
          </a:bodyPr>
          <a:lstStyle/>
          <a:p>
            <a:pPr algn="ctr"/>
            <a:r>
              <a:rPr lang="en-GB" dirty="0"/>
              <a:t>The transition metals are located</a:t>
            </a:r>
            <a:r>
              <a:rPr lang="en-GB" b="1" dirty="0"/>
              <a:t> between group 2 </a:t>
            </a:r>
            <a:r>
              <a:rPr lang="en-GB" dirty="0"/>
              <a:t>and </a:t>
            </a:r>
            <a:r>
              <a:rPr lang="en-GB" b="1" dirty="0"/>
              <a:t>group 3</a:t>
            </a:r>
            <a:r>
              <a:rPr lang="en-GB" dirty="0"/>
              <a:t>.  </a:t>
            </a:r>
          </a:p>
          <a:p>
            <a:pPr algn="ctr"/>
            <a:endParaRPr lang="en-GB" dirty="0"/>
          </a:p>
          <a:p>
            <a:r>
              <a:rPr lang="en-GB" dirty="0"/>
              <a:t>The transition metals have:</a:t>
            </a:r>
          </a:p>
          <a:p>
            <a:r>
              <a:rPr lang="en-GB" b="1" dirty="0"/>
              <a:t>High melting points</a:t>
            </a:r>
          </a:p>
          <a:p>
            <a:r>
              <a:rPr lang="en-GB" b="1" dirty="0"/>
              <a:t>High boiling points </a:t>
            </a:r>
          </a:p>
          <a:p>
            <a:r>
              <a:rPr lang="en-GB" b="1" dirty="0"/>
              <a:t>High</a:t>
            </a:r>
            <a:r>
              <a:rPr lang="en-GB" dirty="0"/>
              <a:t> </a:t>
            </a:r>
            <a:r>
              <a:rPr lang="en-GB" b="1" dirty="0"/>
              <a:t>densities</a:t>
            </a:r>
            <a:endParaRPr lang="en-GB" dirty="0"/>
          </a:p>
          <a:p>
            <a:endParaRPr lang="en-GB" dirty="0"/>
          </a:p>
          <a:p>
            <a:r>
              <a:rPr lang="en-GB" dirty="0"/>
              <a:t>They are:</a:t>
            </a:r>
          </a:p>
          <a:p>
            <a:r>
              <a:rPr lang="en-GB" b="1" dirty="0"/>
              <a:t>Shiny</a:t>
            </a:r>
            <a:r>
              <a:rPr lang="en-GB" dirty="0"/>
              <a:t> when polished</a:t>
            </a:r>
          </a:p>
          <a:p>
            <a:r>
              <a:rPr lang="en-GB" b="1" dirty="0"/>
              <a:t>Malleable</a:t>
            </a:r>
            <a:r>
              <a:rPr lang="en-GB" dirty="0"/>
              <a:t> – can be hammered into a shape</a:t>
            </a:r>
          </a:p>
          <a:p>
            <a:r>
              <a:rPr lang="en-GB" b="1" dirty="0"/>
              <a:t>Strong</a:t>
            </a:r>
            <a:r>
              <a:rPr lang="en-GB" dirty="0"/>
              <a:t> – don’t break easily when  a force is applied</a:t>
            </a:r>
          </a:p>
          <a:p>
            <a:r>
              <a:rPr lang="en-GB" b="1" dirty="0"/>
              <a:t>Sonorous</a:t>
            </a:r>
            <a:r>
              <a:rPr lang="en-GB" dirty="0"/>
              <a:t> – makes a ringing sound when hit</a:t>
            </a:r>
          </a:p>
          <a:p>
            <a:r>
              <a:rPr lang="en-GB" b="1" dirty="0"/>
              <a:t>Ductile</a:t>
            </a:r>
            <a:r>
              <a:rPr lang="en-GB" dirty="0"/>
              <a:t> – can be stretched into wires </a:t>
            </a:r>
          </a:p>
          <a:p>
            <a:r>
              <a:rPr lang="en-GB" dirty="0"/>
              <a:t>Conductors of </a:t>
            </a:r>
            <a:r>
              <a:rPr lang="en-GB" b="1" dirty="0"/>
              <a:t>electricity</a:t>
            </a:r>
            <a:r>
              <a:rPr lang="en-GB" dirty="0"/>
              <a:t> and </a:t>
            </a:r>
            <a:r>
              <a:rPr lang="en-GB" b="1" dirty="0" smtClean="0"/>
              <a:t>heat</a:t>
            </a:r>
            <a:endParaRPr lang="en-GB" b="1" dirty="0"/>
          </a:p>
          <a:p>
            <a:pPr algn="ctr"/>
            <a:endParaRPr lang="en-GB" b="1" dirty="0"/>
          </a:p>
        </p:txBody>
      </p:sp>
      <p:sp>
        <p:nvSpPr>
          <p:cNvPr id="123" name="Rectangle 122">
            <a:extLst>
              <a:ext uri="{FF2B5EF4-FFF2-40B4-BE49-F238E27FC236}">
                <a16:creationId xmlns:a16="http://schemas.microsoft.com/office/drawing/2014/main" xmlns="" id="{05F73A03-3FE2-4A26-8736-14F52A35F7F7}"/>
              </a:ext>
            </a:extLst>
          </p:cNvPr>
          <p:cNvSpPr/>
          <p:nvPr/>
        </p:nvSpPr>
        <p:spPr>
          <a:xfrm>
            <a:off x="854899" y="869724"/>
            <a:ext cx="2782093" cy="847156"/>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TRANSITION METALS</a:t>
            </a:r>
          </a:p>
        </p:txBody>
      </p:sp>
      <p:cxnSp>
        <p:nvCxnSpPr>
          <p:cNvPr id="126" name="Straight Arrow Connector 125">
            <a:extLst>
              <a:ext uri="{FF2B5EF4-FFF2-40B4-BE49-F238E27FC236}">
                <a16:creationId xmlns:a16="http://schemas.microsoft.com/office/drawing/2014/main" xmlns="" id="{4042ED77-1356-4F17-A8E1-0FE16CA3AD76}"/>
              </a:ext>
            </a:extLst>
          </p:cNvPr>
          <p:cNvCxnSpPr>
            <a:cxnSpLocks/>
          </p:cNvCxnSpPr>
          <p:nvPr/>
        </p:nvCxnSpPr>
        <p:spPr>
          <a:xfrm>
            <a:off x="3168368" y="1715415"/>
            <a:ext cx="21837" cy="107332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xmlns="" id="{EDD9FAB0-ABD7-4AE9-881C-F4AED9786127}"/>
              </a:ext>
            </a:extLst>
          </p:cNvPr>
          <p:cNvSpPr/>
          <p:nvPr/>
        </p:nvSpPr>
        <p:spPr>
          <a:xfrm>
            <a:off x="799160" y="2749342"/>
            <a:ext cx="2927830" cy="1101198"/>
          </a:xfrm>
          <a:prstGeom prst="rect">
            <a:avLst/>
          </a:prstGeom>
          <a:noFill/>
          <a:ln w="381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1" name="AutoShape 10">
            <a:extLst>
              <a:ext uri="{FF2B5EF4-FFF2-40B4-BE49-F238E27FC236}">
                <a16:creationId xmlns:a16="http://schemas.microsoft.com/office/drawing/2014/main" xmlns="" id="{89238990-4169-4E19-A009-CA83F3EA3373}"/>
              </a:ext>
            </a:extLst>
          </p:cNvPr>
          <p:cNvSpPr>
            <a:spLocks noChangeArrowheads="1"/>
          </p:cNvSpPr>
          <p:nvPr/>
        </p:nvSpPr>
        <p:spPr bwMode="auto">
          <a:xfrm rot="16200000">
            <a:off x="2693939" y="3738145"/>
            <a:ext cx="487138" cy="4572001"/>
          </a:xfrm>
          <a:prstGeom prst="downArrow">
            <a:avLst>
              <a:gd name="adj1" fmla="val 50000"/>
              <a:gd name="adj2" fmla="val 66105"/>
            </a:avLst>
          </a:prstGeom>
          <a:solidFill>
            <a:schemeClr val="accent6">
              <a:lumMod val="20000"/>
              <a:lumOff val="80000"/>
            </a:schemeClr>
          </a:solidFill>
          <a:ln w="9525">
            <a:solidFill>
              <a:schemeClr val="tx1"/>
            </a:solidFill>
            <a:miter lim="800000"/>
            <a:headEnd/>
            <a:tailEnd/>
          </a:ln>
        </p:spPr>
        <p:txBody>
          <a:bodyPr rot="10800000" vert="vert270" wrap="none" anchor="ctr" anchorCtr="0"/>
          <a:lstStyle/>
          <a:p>
            <a:pPr algn="ctr"/>
            <a:r>
              <a:rPr lang="en-GB" b="1" dirty="0"/>
              <a:t>Reactivity decreases</a:t>
            </a:r>
          </a:p>
        </p:txBody>
      </p:sp>
      <p:sp>
        <p:nvSpPr>
          <p:cNvPr id="121" name="Rectangle 120">
            <a:extLst>
              <a:ext uri="{FF2B5EF4-FFF2-40B4-BE49-F238E27FC236}">
                <a16:creationId xmlns:a16="http://schemas.microsoft.com/office/drawing/2014/main" xmlns="" id="{C6F797FD-12F4-4306-825B-69957807A5A9}"/>
              </a:ext>
            </a:extLst>
          </p:cNvPr>
          <p:cNvSpPr/>
          <p:nvPr/>
        </p:nvSpPr>
        <p:spPr>
          <a:xfrm>
            <a:off x="215204" y="4082686"/>
            <a:ext cx="5311522" cy="923330"/>
          </a:xfrm>
          <a:prstGeom prst="rect">
            <a:avLst/>
          </a:prstGeom>
          <a:ln>
            <a:noFill/>
          </a:ln>
        </p:spPr>
        <p:txBody>
          <a:bodyPr wrap="square">
            <a:spAutoFit/>
          </a:bodyPr>
          <a:lstStyle/>
          <a:p>
            <a:pPr algn="ctr"/>
            <a:r>
              <a:rPr lang="en-GB" dirty="0">
                <a:solidFill>
                  <a:schemeClr val="accent6">
                    <a:lumMod val="75000"/>
                  </a:schemeClr>
                </a:solidFill>
              </a:rPr>
              <a:t>The general trend is the reactivity </a:t>
            </a:r>
            <a:r>
              <a:rPr lang="en-GB" b="1" dirty="0">
                <a:solidFill>
                  <a:schemeClr val="accent6">
                    <a:lumMod val="75000"/>
                  </a:schemeClr>
                </a:solidFill>
              </a:rPr>
              <a:t>decreases across</a:t>
            </a:r>
            <a:r>
              <a:rPr lang="en-GB" dirty="0">
                <a:solidFill>
                  <a:schemeClr val="accent6">
                    <a:lumMod val="75000"/>
                  </a:schemeClr>
                </a:solidFill>
              </a:rPr>
              <a:t> the </a:t>
            </a:r>
            <a:r>
              <a:rPr lang="en-GB" b="1" dirty="0">
                <a:solidFill>
                  <a:schemeClr val="accent6">
                    <a:lumMod val="75000"/>
                  </a:schemeClr>
                </a:solidFill>
              </a:rPr>
              <a:t>period</a:t>
            </a:r>
            <a:r>
              <a:rPr lang="en-GB" dirty="0">
                <a:solidFill>
                  <a:schemeClr val="accent6">
                    <a:lumMod val="75000"/>
                  </a:schemeClr>
                </a:solidFill>
              </a:rPr>
              <a:t>, but there are exceptions, for example Zinc is very reactive.</a:t>
            </a:r>
            <a:endParaRPr lang="en-GB" dirty="0"/>
          </a:p>
        </p:txBody>
      </p:sp>
      <p:grpSp>
        <p:nvGrpSpPr>
          <p:cNvPr id="136" name="Group 4">
            <a:extLst>
              <a:ext uri="{FF2B5EF4-FFF2-40B4-BE49-F238E27FC236}">
                <a16:creationId xmlns:a16="http://schemas.microsoft.com/office/drawing/2014/main" xmlns="" id="{C2F7E3F4-33AF-44D8-8EB4-5E6E39291B8F}"/>
              </a:ext>
            </a:extLst>
          </p:cNvPr>
          <p:cNvGrpSpPr>
            <a:grpSpLocks/>
          </p:cNvGrpSpPr>
          <p:nvPr/>
        </p:nvGrpSpPr>
        <p:grpSpPr bwMode="auto">
          <a:xfrm>
            <a:off x="646061" y="5092618"/>
            <a:ext cx="4572000" cy="457200"/>
            <a:chOff x="855" y="2756"/>
            <a:chExt cx="2880" cy="288"/>
          </a:xfrm>
          <a:solidFill>
            <a:schemeClr val="accent6">
              <a:lumMod val="75000"/>
            </a:schemeClr>
          </a:solidFill>
        </p:grpSpPr>
        <p:sp>
          <p:nvSpPr>
            <p:cNvPr id="137" name="Rectangle 5">
              <a:extLst>
                <a:ext uri="{FF2B5EF4-FFF2-40B4-BE49-F238E27FC236}">
                  <a16:creationId xmlns:a16="http://schemas.microsoft.com/office/drawing/2014/main" xmlns="" id="{1CC9A9D2-2D77-464B-A4E6-91A5E3AFEF4C}"/>
                </a:ext>
              </a:extLst>
            </p:cNvPr>
            <p:cNvSpPr>
              <a:spLocks noChangeArrowheads="1"/>
            </p:cNvSpPr>
            <p:nvPr/>
          </p:nvSpPr>
          <p:spPr bwMode="auto">
            <a:xfrm>
              <a:off x="855"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err="1">
                  <a:solidFill>
                    <a:schemeClr val="bg1"/>
                  </a:solidFill>
                </a:rPr>
                <a:t>Sc</a:t>
              </a:r>
              <a:endParaRPr lang="en-GB" altLang="en-US" b="1" dirty="0">
                <a:solidFill>
                  <a:schemeClr val="bg1"/>
                </a:solidFill>
              </a:endParaRPr>
            </a:p>
          </p:txBody>
        </p:sp>
        <p:sp>
          <p:nvSpPr>
            <p:cNvPr id="138" name="Rectangle 6">
              <a:extLst>
                <a:ext uri="{FF2B5EF4-FFF2-40B4-BE49-F238E27FC236}">
                  <a16:creationId xmlns:a16="http://schemas.microsoft.com/office/drawing/2014/main" xmlns="" id="{5B4F12A7-7CF1-48A8-9D8D-D7A95AEF6433}"/>
                </a:ext>
              </a:extLst>
            </p:cNvPr>
            <p:cNvSpPr>
              <a:spLocks noChangeArrowheads="1"/>
            </p:cNvSpPr>
            <p:nvPr/>
          </p:nvSpPr>
          <p:spPr bwMode="auto">
            <a:xfrm>
              <a:off x="1143"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err="1">
                  <a:solidFill>
                    <a:schemeClr val="bg1"/>
                  </a:solidFill>
                  <a:latin typeface="+mj-lt"/>
                </a:rPr>
                <a:t>Ti</a:t>
              </a:r>
              <a:endParaRPr lang="en-GB" altLang="en-US" b="1" dirty="0">
                <a:solidFill>
                  <a:schemeClr val="bg1"/>
                </a:solidFill>
                <a:latin typeface="+mj-lt"/>
              </a:endParaRPr>
            </a:p>
          </p:txBody>
        </p:sp>
        <p:sp>
          <p:nvSpPr>
            <p:cNvPr id="139" name="Rectangle 7">
              <a:extLst>
                <a:ext uri="{FF2B5EF4-FFF2-40B4-BE49-F238E27FC236}">
                  <a16:creationId xmlns:a16="http://schemas.microsoft.com/office/drawing/2014/main" xmlns="" id="{47D80236-5062-48CA-AAE7-E44FE2438881}"/>
                </a:ext>
              </a:extLst>
            </p:cNvPr>
            <p:cNvSpPr>
              <a:spLocks noChangeArrowheads="1"/>
            </p:cNvSpPr>
            <p:nvPr/>
          </p:nvSpPr>
          <p:spPr bwMode="auto">
            <a:xfrm>
              <a:off x="1431"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rPr>
                <a:t>V</a:t>
              </a:r>
            </a:p>
          </p:txBody>
        </p:sp>
        <p:sp>
          <p:nvSpPr>
            <p:cNvPr id="140" name="Rectangle 8">
              <a:extLst>
                <a:ext uri="{FF2B5EF4-FFF2-40B4-BE49-F238E27FC236}">
                  <a16:creationId xmlns:a16="http://schemas.microsoft.com/office/drawing/2014/main" xmlns="" id="{D7C20357-50F6-4E72-B496-0D1E3C27DB59}"/>
                </a:ext>
              </a:extLst>
            </p:cNvPr>
            <p:cNvSpPr>
              <a:spLocks noChangeArrowheads="1"/>
            </p:cNvSpPr>
            <p:nvPr/>
          </p:nvSpPr>
          <p:spPr bwMode="auto">
            <a:xfrm>
              <a:off x="1719"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Cr</a:t>
              </a:r>
            </a:p>
          </p:txBody>
        </p:sp>
        <p:sp>
          <p:nvSpPr>
            <p:cNvPr id="141" name="Rectangle 9">
              <a:extLst>
                <a:ext uri="{FF2B5EF4-FFF2-40B4-BE49-F238E27FC236}">
                  <a16:creationId xmlns:a16="http://schemas.microsoft.com/office/drawing/2014/main" xmlns="" id="{7E794E8C-E57A-44AF-8A7A-B8A608CBA4B7}"/>
                </a:ext>
              </a:extLst>
            </p:cNvPr>
            <p:cNvSpPr>
              <a:spLocks noChangeArrowheads="1"/>
            </p:cNvSpPr>
            <p:nvPr/>
          </p:nvSpPr>
          <p:spPr bwMode="auto">
            <a:xfrm>
              <a:off x="2007"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err="1">
                  <a:solidFill>
                    <a:schemeClr val="bg1"/>
                  </a:solidFill>
                  <a:latin typeface="+mj-lt"/>
                </a:rPr>
                <a:t>Mn</a:t>
              </a:r>
              <a:endParaRPr lang="en-GB" altLang="en-US" b="1" dirty="0">
                <a:solidFill>
                  <a:schemeClr val="bg1"/>
                </a:solidFill>
                <a:latin typeface="+mj-lt"/>
              </a:endParaRPr>
            </a:p>
          </p:txBody>
        </p:sp>
        <p:sp>
          <p:nvSpPr>
            <p:cNvPr id="142" name="Rectangle 10">
              <a:extLst>
                <a:ext uri="{FF2B5EF4-FFF2-40B4-BE49-F238E27FC236}">
                  <a16:creationId xmlns:a16="http://schemas.microsoft.com/office/drawing/2014/main" xmlns="" id="{9DA27CBF-FF5F-4503-8444-DBB7C664B6E8}"/>
                </a:ext>
              </a:extLst>
            </p:cNvPr>
            <p:cNvSpPr>
              <a:spLocks noChangeArrowheads="1"/>
            </p:cNvSpPr>
            <p:nvPr/>
          </p:nvSpPr>
          <p:spPr bwMode="auto">
            <a:xfrm>
              <a:off x="2295"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Fe</a:t>
              </a:r>
            </a:p>
          </p:txBody>
        </p:sp>
        <p:sp>
          <p:nvSpPr>
            <p:cNvPr id="143" name="Rectangle 11">
              <a:extLst>
                <a:ext uri="{FF2B5EF4-FFF2-40B4-BE49-F238E27FC236}">
                  <a16:creationId xmlns:a16="http://schemas.microsoft.com/office/drawing/2014/main" xmlns="" id="{1387F8CD-566D-4968-9EA6-48CA451D408E}"/>
                </a:ext>
              </a:extLst>
            </p:cNvPr>
            <p:cNvSpPr>
              <a:spLocks noChangeArrowheads="1"/>
            </p:cNvSpPr>
            <p:nvPr/>
          </p:nvSpPr>
          <p:spPr bwMode="auto">
            <a:xfrm>
              <a:off x="2583"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Co</a:t>
              </a:r>
            </a:p>
          </p:txBody>
        </p:sp>
        <p:sp>
          <p:nvSpPr>
            <p:cNvPr id="144" name="Rectangle 12">
              <a:extLst>
                <a:ext uri="{FF2B5EF4-FFF2-40B4-BE49-F238E27FC236}">
                  <a16:creationId xmlns:a16="http://schemas.microsoft.com/office/drawing/2014/main" xmlns="" id="{D268C184-A7FD-4729-973F-4AA847E661D8}"/>
                </a:ext>
              </a:extLst>
            </p:cNvPr>
            <p:cNvSpPr>
              <a:spLocks noChangeArrowheads="1"/>
            </p:cNvSpPr>
            <p:nvPr/>
          </p:nvSpPr>
          <p:spPr bwMode="auto">
            <a:xfrm>
              <a:off x="2871"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Ni</a:t>
              </a:r>
            </a:p>
          </p:txBody>
        </p:sp>
        <p:sp>
          <p:nvSpPr>
            <p:cNvPr id="145" name="Rectangle 13">
              <a:extLst>
                <a:ext uri="{FF2B5EF4-FFF2-40B4-BE49-F238E27FC236}">
                  <a16:creationId xmlns:a16="http://schemas.microsoft.com/office/drawing/2014/main" xmlns="" id="{C27F4EF2-FCFB-4E79-90A6-5B8E0E337ACC}"/>
                </a:ext>
              </a:extLst>
            </p:cNvPr>
            <p:cNvSpPr>
              <a:spLocks noChangeArrowheads="1"/>
            </p:cNvSpPr>
            <p:nvPr/>
          </p:nvSpPr>
          <p:spPr bwMode="auto">
            <a:xfrm>
              <a:off x="3159"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Cu</a:t>
              </a:r>
            </a:p>
          </p:txBody>
        </p:sp>
        <p:sp>
          <p:nvSpPr>
            <p:cNvPr id="146" name="Rectangle 14">
              <a:extLst>
                <a:ext uri="{FF2B5EF4-FFF2-40B4-BE49-F238E27FC236}">
                  <a16:creationId xmlns:a16="http://schemas.microsoft.com/office/drawing/2014/main" xmlns="" id="{B9CF38E0-16D4-4F01-9AC0-91ACBDC437E7}"/>
                </a:ext>
              </a:extLst>
            </p:cNvPr>
            <p:cNvSpPr>
              <a:spLocks noChangeArrowheads="1"/>
            </p:cNvSpPr>
            <p:nvPr/>
          </p:nvSpPr>
          <p:spPr bwMode="auto">
            <a:xfrm>
              <a:off x="3447" y="2756"/>
              <a:ext cx="288"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b="1" dirty="0">
                  <a:solidFill>
                    <a:schemeClr val="bg1"/>
                  </a:solidFill>
                  <a:latin typeface="+mj-lt"/>
                </a:rPr>
                <a:t>Zn</a:t>
              </a:r>
            </a:p>
          </p:txBody>
        </p:sp>
      </p:grpSp>
    </p:spTree>
    <p:extLst>
      <p:ext uri="{BB962C8B-B14F-4D97-AF65-F5344CB8AC3E}">
        <p14:creationId xmlns:p14="http://schemas.microsoft.com/office/powerpoint/2010/main" val="38457164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xmlns="" id="{E79E6199-25F7-4C17-A993-AC93F8BA14DD}"/>
              </a:ext>
            </a:extLst>
          </p:cNvPr>
          <p:cNvGrpSpPr/>
          <p:nvPr/>
        </p:nvGrpSpPr>
        <p:grpSpPr>
          <a:xfrm>
            <a:off x="3527950" y="932451"/>
            <a:ext cx="5314846" cy="2186592"/>
            <a:chOff x="446601" y="2411007"/>
            <a:chExt cx="8243374" cy="3610282"/>
          </a:xfrm>
        </p:grpSpPr>
        <p:grpSp>
          <p:nvGrpSpPr>
            <p:cNvPr id="147" name="Group 146">
              <a:extLst>
                <a:ext uri="{FF2B5EF4-FFF2-40B4-BE49-F238E27FC236}">
                  <a16:creationId xmlns:a16="http://schemas.microsoft.com/office/drawing/2014/main" xmlns="" id="{E4EA4089-802B-4ACD-AD75-5638527F72AE}"/>
                </a:ext>
              </a:extLst>
            </p:cNvPr>
            <p:cNvGrpSpPr/>
            <p:nvPr/>
          </p:nvGrpSpPr>
          <p:grpSpPr>
            <a:xfrm>
              <a:off x="446601" y="2411007"/>
              <a:ext cx="8243374" cy="3610282"/>
              <a:chOff x="446601" y="2411007"/>
              <a:chExt cx="8243374" cy="3610282"/>
            </a:xfrm>
          </p:grpSpPr>
          <p:grpSp>
            <p:nvGrpSpPr>
              <p:cNvPr id="157" name="Group 4">
                <a:extLst>
                  <a:ext uri="{FF2B5EF4-FFF2-40B4-BE49-F238E27FC236}">
                    <a16:creationId xmlns:a16="http://schemas.microsoft.com/office/drawing/2014/main" xmlns="" id="{6F7802A3-9FF4-46B3-94D1-31AB710BB76C}"/>
                  </a:ext>
                </a:extLst>
              </p:cNvPr>
              <p:cNvGrpSpPr>
                <a:grpSpLocks/>
              </p:cNvGrpSpPr>
              <p:nvPr/>
            </p:nvGrpSpPr>
            <p:grpSpPr bwMode="auto">
              <a:xfrm>
                <a:off x="460375" y="2820889"/>
                <a:ext cx="8229600" cy="3200400"/>
                <a:chOff x="279" y="1508"/>
                <a:chExt cx="5184" cy="2016"/>
              </a:xfrm>
            </p:grpSpPr>
            <p:sp>
              <p:nvSpPr>
                <p:cNvPr id="166" name="Rectangle 5">
                  <a:extLst>
                    <a:ext uri="{FF2B5EF4-FFF2-40B4-BE49-F238E27FC236}">
                      <a16:creationId xmlns:a16="http://schemas.microsoft.com/office/drawing/2014/main" xmlns="" id="{B96546F7-63B0-46A4-9E69-E7686E524F9B}"/>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67" name="Rectangle 6">
                  <a:extLst>
                    <a:ext uri="{FF2B5EF4-FFF2-40B4-BE49-F238E27FC236}">
                      <a16:creationId xmlns:a16="http://schemas.microsoft.com/office/drawing/2014/main" xmlns="" id="{97F1180E-E8EE-4885-902F-9F122B25C0C8}"/>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68" name="Rectangle 7">
                  <a:extLst>
                    <a:ext uri="{FF2B5EF4-FFF2-40B4-BE49-F238E27FC236}">
                      <a16:creationId xmlns:a16="http://schemas.microsoft.com/office/drawing/2014/main" xmlns="" id="{A814870C-1C8F-458A-8080-F245E1E64A48}"/>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69" name="Rectangle 8">
                  <a:extLst>
                    <a:ext uri="{FF2B5EF4-FFF2-40B4-BE49-F238E27FC236}">
                      <a16:creationId xmlns:a16="http://schemas.microsoft.com/office/drawing/2014/main" xmlns="" id="{ECA1DCCE-6452-4803-875D-A48C4003EF79}"/>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70" name="Rectangle 9">
                  <a:extLst>
                    <a:ext uri="{FF2B5EF4-FFF2-40B4-BE49-F238E27FC236}">
                      <a16:creationId xmlns:a16="http://schemas.microsoft.com/office/drawing/2014/main" xmlns="" id="{94B3EC36-E898-4BEC-A1BE-EDC2BC9B7D4F}"/>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71" name="Rectangle 10">
                  <a:extLst>
                    <a:ext uri="{FF2B5EF4-FFF2-40B4-BE49-F238E27FC236}">
                      <a16:creationId xmlns:a16="http://schemas.microsoft.com/office/drawing/2014/main" xmlns="" id="{384157D7-5F6E-4F4C-A041-1DA767F8533A}"/>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72" name="Rectangle 11">
                  <a:extLst>
                    <a:ext uri="{FF2B5EF4-FFF2-40B4-BE49-F238E27FC236}">
                      <a16:creationId xmlns:a16="http://schemas.microsoft.com/office/drawing/2014/main" xmlns="" id="{90682CD4-7010-4E87-BE93-2B4ACA014C1B}"/>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73" name="Rectangle 12">
                  <a:extLst>
                    <a:ext uri="{FF2B5EF4-FFF2-40B4-BE49-F238E27FC236}">
                      <a16:creationId xmlns:a16="http://schemas.microsoft.com/office/drawing/2014/main" xmlns="" id="{852E874C-58DC-4096-9C6A-6172AE7B3086}"/>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74" name="Rectangle 13">
                  <a:extLst>
                    <a:ext uri="{FF2B5EF4-FFF2-40B4-BE49-F238E27FC236}">
                      <a16:creationId xmlns:a16="http://schemas.microsoft.com/office/drawing/2014/main" xmlns="" id="{CD18AB6A-2806-4B1C-B703-D19A6B7EA0CE}"/>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75" name="Rectangle 14">
                  <a:extLst>
                    <a:ext uri="{FF2B5EF4-FFF2-40B4-BE49-F238E27FC236}">
                      <a16:creationId xmlns:a16="http://schemas.microsoft.com/office/drawing/2014/main" xmlns="" id="{5A14FCAA-0805-4AB1-B735-C64757539B39}"/>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76" name="Rectangle 15">
                  <a:extLst>
                    <a:ext uri="{FF2B5EF4-FFF2-40B4-BE49-F238E27FC236}">
                      <a16:creationId xmlns:a16="http://schemas.microsoft.com/office/drawing/2014/main" xmlns="" id="{C7C202C0-B922-4D5C-AE63-52AE1B2942E2}"/>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77" name="Rectangle 16">
                  <a:extLst>
                    <a:ext uri="{FF2B5EF4-FFF2-40B4-BE49-F238E27FC236}">
                      <a16:creationId xmlns:a16="http://schemas.microsoft.com/office/drawing/2014/main" xmlns="" id="{5E46B36C-8C96-46A5-ADFD-1F38F6A4295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78" name="Rectangle 17">
                  <a:extLst>
                    <a:ext uri="{FF2B5EF4-FFF2-40B4-BE49-F238E27FC236}">
                      <a16:creationId xmlns:a16="http://schemas.microsoft.com/office/drawing/2014/main" xmlns="" id="{293BD8FE-AC65-4B6A-AE5A-72D1D9AA38F4}"/>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79" name="Rectangle 18">
                  <a:extLst>
                    <a:ext uri="{FF2B5EF4-FFF2-40B4-BE49-F238E27FC236}">
                      <a16:creationId xmlns:a16="http://schemas.microsoft.com/office/drawing/2014/main" xmlns="" id="{F6BE1D3F-5A8E-4FE5-9F96-F31ED3AF0BBD}"/>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80" name="Rectangle 19">
                  <a:extLst>
                    <a:ext uri="{FF2B5EF4-FFF2-40B4-BE49-F238E27FC236}">
                      <a16:creationId xmlns:a16="http://schemas.microsoft.com/office/drawing/2014/main" xmlns="" id="{5B651AA2-9D75-4EA1-AD17-5B94124B5F85}"/>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81" name="Rectangle 20">
                  <a:extLst>
                    <a:ext uri="{FF2B5EF4-FFF2-40B4-BE49-F238E27FC236}">
                      <a16:creationId xmlns:a16="http://schemas.microsoft.com/office/drawing/2014/main" xmlns="" id="{5AED5F5B-E2D1-42D2-A512-99AB7C05770C}"/>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82" name="Rectangle 21">
                  <a:extLst>
                    <a:ext uri="{FF2B5EF4-FFF2-40B4-BE49-F238E27FC236}">
                      <a16:creationId xmlns:a16="http://schemas.microsoft.com/office/drawing/2014/main" xmlns="" id="{B7F978D0-CD76-4E47-AB42-02C3BC31E1E3}"/>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83" name="Rectangle 22">
                  <a:extLst>
                    <a:ext uri="{FF2B5EF4-FFF2-40B4-BE49-F238E27FC236}">
                      <a16:creationId xmlns:a16="http://schemas.microsoft.com/office/drawing/2014/main" xmlns="" id="{485A4143-C629-444E-BB0D-DF4F67E033FF}"/>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84" name="Rectangle 23">
                  <a:extLst>
                    <a:ext uri="{FF2B5EF4-FFF2-40B4-BE49-F238E27FC236}">
                      <a16:creationId xmlns:a16="http://schemas.microsoft.com/office/drawing/2014/main" xmlns="" id="{E6A1B244-3748-4716-9351-C336447EC679}"/>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85" name="Rectangle 24">
                  <a:extLst>
                    <a:ext uri="{FF2B5EF4-FFF2-40B4-BE49-F238E27FC236}">
                      <a16:creationId xmlns:a16="http://schemas.microsoft.com/office/drawing/2014/main" xmlns="" id="{62786334-4071-44DD-80E6-B1E91464918A}"/>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86" name="Rectangle 25">
                  <a:extLst>
                    <a:ext uri="{FF2B5EF4-FFF2-40B4-BE49-F238E27FC236}">
                      <a16:creationId xmlns:a16="http://schemas.microsoft.com/office/drawing/2014/main" xmlns="" id="{FE060110-A69A-4153-A806-91037F95E495}"/>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87" name="Rectangle 26">
                  <a:extLst>
                    <a:ext uri="{FF2B5EF4-FFF2-40B4-BE49-F238E27FC236}">
                      <a16:creationId xmlns:a16="http://schemas.microsoft.com/office/drawing/2014/main" xmlns="" id="{7C50D03A-E173-44E1-8DAF-6A8B0ACB1228}"/>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88" name="Rectangle 27">
                  <a:extLst>
                    <a:ext uri="{FF2B5EF4-FFF2-40B4-BE49-F238E27FC236}">
                      <a16:creationId xmlns:a16="http://schemas.microsoft.com/office/drawing/2014/main" xmlns="" id="{F9B7A593-24FE-4456-A325-B910A8BB3667}"/>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89" name="Rectangle 28">
                  <a:extLst>
                    <a:ext uri="{FF2B5EF4-FFF2-40B4-BE49-F238E27FC236}">
                      <a16:creationId xmlns:a16="http://schemas.microsoft.com/office/drawing/2014/main" xmlns="" id="{6051798F-A03B-4CE8-B56F-A42CD4D0404F}"/>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90" name="Rectangle 29">
                  <a:extLst>
                    <a:ext uri="{FF2B5EF4-FFF2-40B4-BE49-F238E27FC236}">
                      <a16:creationId xmlns:a16="http://schemas.microsoft.com/office/drawing/2014/main" xmlns="" id="{6FC3A6A6-ACA1-489C-BC9B-A0E7F4CEEE19}"/>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91" name="Rectangle 30">
                  <a:extLst>
                    <a:ext uri="{FF2B5EF4-FFF2-40B4-BE49-F238E27FC236}">
                      <a16:creationId xmlns:a16="http://schemas.microsoft.com/office/drawing/2014/main" xmlns="" id="{8343349F-6CF9-4E81-8F1C-13B4A951F26D}"/>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92" name="Rectangle 31">
                  <a:extLst>
                    <a:ext uri="{FF2B5EF4-FFF2-40B4-BE49-F238E27FC236}">
                      <a16:creationId xmlns:a16="http://schemas.microsoft.com/office/drawing/2014/main" xmlns="" id="{16579B63-32DC-4189-8395-86F169E43B07}"/>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93" name="Rectangle 32">
                  <a:extLst>
                    <a:ext uri="{FF2B5EF4-FFF2-40B4-BE49-F238E27FC236}">
                      <a16:creationId xmlns:a16="http://schemas.microsoft.com/office/drawing/2014/main" xmlns="" id="{AB80C673-DECD-4AF8-8935-AE70D1877292}"/>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94" name="Rectangle 33">
                  <a:extLst>
                    <a:ext uri="{FF2B5EF4-FFF2-40B4-BE49-F238E27FC236}">
                      <a16:creationId xmlns:a16="http://schemas.microsoft.com/office/drawing/2014/main" xmlns="" id="{1F464366-8514-42F9-9D3F-6E0143D31F07}"/>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95" name="Rectangle 34">
                  <a:extLst>
                    <a:ext uri="{FF2B5EF4-FFF2-40B4-BE49-F238E27FC236}">
                      <a16:creationId xmlns:a16="http://schemas.microsoft.com/office/drawing/2014/main" xmlns="" id="{9F3EA6D0-8FF6-468B-BD27-A4C643BFD296}"/>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96" name="Rectangle 35">
                  <a:extLst>
                    <a:ext uri="{FF2B5EF4-FFF2-40B4-BE49-F238E27FC236}">
                      <a16:creationId xmlns:a16="http://schemas.microsoft.com/office/drawing/2014/main" xmlns="" id="{B20FEAB1-A2E7-4AE9-9FA3-E7EA6981C981}"/>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97" name="Rectangle 36">
                  <a:extLst>
                    <a:ext uri="{FF2B5EF4-FFF2-40B4-BE49-F238E27FC236}">
                      <a16:creationId xmlns:a16="http://schemas.microsoft.com/office/drawing/2014/main" xmlns="" id="{3DF797B9-1B73-4C52-BBB0-DC3C505B02C7}"/>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98" name="Rectangle 37">
                  <a:extLst>
                    <a:ext uri="{FF2B5EF4-FFF2-40B4-BE49-F238E27FC236}">
                      <a16:creationId xmlns:a16="http://schemas.microsoft.com/office/drawing/2014/main" xmlns="" id="{DB3E6CA7-49FD-4617-99C6-D78246C5C46C}"/>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99" name="Rectangle 38">
                  <a:extLst>
                    <a:ext uri="{FF2B5EF4-FFF2-40B4-BE49-F238E27FC236}">
                      <a16:creationId xmlns:a16="http://schemas.microsoft.com/office/drawing/2014/main" xmlns="" id="{C175068C-72E9-4DAF-8335-FAED2A37AE76}"/>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200" name="Rectangle 39">
                  <a:extLst>
                    <a:ext uri="{FF2B5EF4-FFF2-40B4-BE49-F238E27FC236}">
                      <a16:creationId xmlns:a16="http://schemas.microsoft.com/office/drawing/2014/main" xmlns="" id="{B37E53DE-8774-4B35-8104-79A5C15C7BD2}"/>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201" name="Rectangle 40">
                  <a:extLst>
                    <a:ext uri="{FF2B5EF4-FFF2-40B4-BE49-F238E27FC236}">
                      <a16:creationId xmlns:a16="http://schemas.microsoft.com/office/drawing/2014/main" xmlns="" id="{3EE97B8E-EFBF-40B2-A153-B883BF2E5278}"/>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202" name="Rectangle 41">
                  <a:extLst>
                    <a:ext uri="{FF2B5EF4-FFF2-40B4-BE49-F238E27FC236}">
                      <a16:creationId xmlns:a16="http://schemas.microsoft.com/office/drawing/2014/main" xmlns="" id="{582F0D00-3584-46E4-BDD3-2D3CEC94A64C}"/>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203" name="Rectangle 42">
                  <a:extLst>
                    <a:ext uri="{FF2B5EF4-FFF2-40B4-BE49-F238E27FC236}">
                      <a16:creationId xmlns:a16="http://schemas.microsoft.com/office/drawing/2014/main" xmlns="" id="{25FF33B6-6F9D-4651-9270-2A1AA9640DCA}"/>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204" name="Rectangle 43">
                  <a:extLst>
                    <a:ext uri="{FF2B5EF4-FFF2-40B4-BE49-F238E27FC236}">
                      <a16:creationId xmlns:a16="http://schemas.microsoft.com/office/drawing/2014/main" xmlns="" id="{5656A08A-7714-4816-B139-E675087623FF}"/>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205" name="Rectangle 44">
                  <a:extLst>
                    <a:ext uri="{FF2B5EF4-FFF2-40B4-BE49-F238E27FC236}">
                      <a16:creationId xmlns:a16="http://schemas.microsoft.com/office/drawing/2014/main" xmlns="" id="{0FC38AE7-5ACD-45BE-8CAA-2BAFF9BCBA20}"/>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206" name="Rectangle 45">
                  <a:extLst>
                    <a:ext uri="{FF2B5EF4-FFF2-40B4-BE49-F238E27FC236}">
                      <a16:creationId xmlns:a16="http://schemas.microsoft.com/office/drawing/2014/main" xmlns="" id="{73602226-C7E3-49DA-80B7-5AA09E350E35}"/>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207" name="Rectangle 46">
                  <a:extLst>
                    <a:ext uri="{FF2B5EF4-FFF2-40B4-BE49-F238E27FC236}">
                      <a16:creationId xmlns:a16="http://schemas.microsoft.com/office/drawing/2014/main" xmlns="" id="{D1DC2478-80A5-4308-A72F-0ECE60B066FD}"/>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208" name="Rectangle 47">
                  <a:extLst>
                    <a:ext uri="{FF2B5EF4-FFF2-40B4-BE49-F238E27FC236}">
                      <a16:creationId xmlns:a16="http://schemas.microsoft.com/office/drawing/2014/main" xmlns="" id="{8C1229AE-62BF-4B68-BBA4-CBF366896973}"/>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209" name="Rectangle 48">
                  <a:extLst>
                    <a:ext uri="{FF2B5EF4-FFF2-40B4-BE49-F238E27FC236}">
                      <a16:creationId xmlns:a16="http://schemas.microsoft.com/office/drawing/2014/main" xmlns="" id="{5845C39F-8AE8-49BC-8078-5B324B49A107}"/>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210" name="Rectangle 49">
                  <a:extLst>
                    <a:ext uri="{FF2B5EF4-FFF2-40B4-BE49-F238E27FC236}">
                      <a16:creationId xmlns:a16="http://schemas.microsoft.com/office/drawing/2014/main" xmlns="" id="{A7F9C3FB-E8D9-4B99-A125-7DA723F22C9B}"/>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211" name="Rectangle 50">
                  <a:extLst>
                    <a:ext uri="{FF2B5EF4-FFF2-40B4-BE49-F238E27FC236}">
                      <a16:creationId xmlns:a16="http://schemas.microsoft.com/office/drawing/2014/main" xmlns="" id="{A98467C7-D0AB-4D86-9FFA-96659B8D2BA6}"/>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212" name="Rectangle 51">
                  <a:extLst>
                    <a:ext uri="{FF2B5EF4-FFF2-40B4-BE49-F238E27FC236}">
                      <a16:creationId xmlns:a16="http://schemas.microsoft.com/office/drawing/2014/main" xmlns="" id="{B9C24338-74A5-4386-9C4C-F0EF6835E075}"/>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213" name="Rectangle 52">
                  <a:extLst>
                    <a:ext uri="{FF2B5EF4-FFF2-40B4-BE49-F238E27FC236}">
                      <a16:creationId xmlns:a16="http://schemas.microsoft.com/office/drawing/2014/main" xmlns="" id="{28BF82EA-7419-438B-954B-2B4ED18D02C6}"/>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14" name="Rectangle 53">
                  <a:extLst>
                    <a:ext uri="{FF2B5EF4-FFF2-40B4-BE49-F238E27FC236}">
                      <a16:creationId xmlns:a16="http://schemas.microsoft.com/office/drawing/2014/main" xmlns="" id="{C641C2E3-60B7-4970-8FFD-0FFFB0D2B3E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15" name="Rectangle 54">
                  <a:extLst>
                    <a:ext uri="{FF2B5EF4-FFF2-40B4-BE49-F238E27FC236}">
                      <a16:creationId xmlns:a16="http://schemas.microsoft.com/office/drawing/2014/main" xmlns="" id="{2F9754B0-FFF9-4635-9197-B4F3E9F78F74}"/>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16" name="Rectangle 55">
                  <a:extLst>
                    <a:ext uri="{FF2B5EF4-FFF2-40B4-BE49-F238E27FC236}">
                      <a16:creationId xmlns:a16="http://schemas.microsoft.com/office/drawing/2014/main" xmlns="" id="{D6D20911-A333-4709-9609-5124F788046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17" name="Rectangle 56">
                  <a:extLst>
                    <a:ext uri="{FF2B5EF4-FFF2-40B4-BE49-F238E27FC236}">
                      <a16:creationId xmlns:a16="http://schemas.microsoft.com/office/drawing/2014/main" xmlns="" id="{6E613557-6823-4B11-853A-874D65CE9B89}"/>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18" name="Rectangle 57">
                  <a:extLst>
                    <a:ext uri="{FF2B5EF4-FFF2-40B4-BE49-F238E27FC236}">
                      <a16:creationId xmlns:a16="http://schemas.microsoft.com/office/drawing/2014/main" xmlns="" id="{07F03B6B-0929-4399-92ED-2D5FF15D1C0E}"/>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19" name="Rectangle 58">
                  <a:extLst>
                    <a:ext uri="{FF2B5EF4-FFF2-40B4-BE49-F238E27FC236}">
                      <a16:creationId xmlns:a16="http://schemas.microsoft.com/office/drawing/2014/main" xmlns="" id="{73932BC6-E12F-4F20-9F45-84C711BB9D16}"/>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20" name="Rectangle 59">
                  <a:extLst>
                    <a:ext uri="{FF2B5EF4-FFF2-40B4-BE49-F238E27FC236}">
                      <a16:creationId xmlns:a16="http://schemas.microsoft.com/office/drawing/2014/main" xmlns="" id="{728F05A0-B819-416E-8394-B8C4325AFE83}"/>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221" name="Rectangle 60">
                  <a:extLst>
                    <a:ext uri="{FF2B5EF4-FFF2-40B4-BE49-F238E27FC236}">
                      <a16:creationId xmlns:a16="http://schemas.microsoft.com/office/drawing/2014/main" xmlns="" id="{55FC7EF9-4929-4C9D-AA2F-429E322767CA}"/>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22" name="Rectangle 61">
                  <a:extLst>
                    <a:ext uri="{FF2B5EF4-FFF2-40B4-BE49-F238E27FC236}">
                      <a16:creationId xmlns:a16="http://schemas.microsoft.com/office/drawing/2014/main" xmlns="" id="{82049523-625F-4A6F-A84B-3E115C4ADB98}"/>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23" name="Rectangle 62">
                  <a:extLst>
                    <a:ext uri="{FF2B5EF4-FFF2-40B4-BE49-F238E27FC236}">
                      <a16:creationId xmlns:a16="http://schemas.microsoft.com/office/drawing/2014/main" xmlns="" id="{EA964EE8-AD6D-4A1B-9DF5-CBDD529C4605}"/>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24" name="Rectangle 63">
                  <a:extLst>
                    <a:ext uri="{FF2B5EF4-FFF2-40B4-BE49-F238E27FC236}">
                      <a16:creationId xmlns:a16="http://schemas.microsoft.com/office/drawing/2014/main" xmlns="" id="{EFEF01BA-9078-495D-A380-7D0892EDB229}"/>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25" name="Rectangle 64">
                  <a:extLst>
                    <a:ext uri="{FF2B5EF4-FFF2-40B4-BE49-F238E27FC236}">
                      <a16:creationId xmlns:a16="http://schemas.microsoft.com/office/drawing/2014/main" xmlns="" id="{CE033C09-4605-45BF-870A-D05CCFE8FE85}"/>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26" name="Rectangle 65">
                  <a:extLst>
                    <a:ext uri="{FF2B5EF4-FFF2-40B4-BE49-F238E27FC236}">
                      <a16:creationId xmlns:a16="http://schemas.microsoft.com/office/drawing/2014/main" xmlns="" id="{594BB123-AF01-4F98-93E3-A5989CC7E01E}"/>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27" name="Rectangle 66">
                  <a:extLst>
                    <a:ext uri="{FF2B5EF4-FFF2-40B4-BE49-F238E27FC236}">
                      <a16:creationId xmlns:a16="http://schemas.microsoft.com/office/drawing/2014/main" xmlns="" id="{A631339F-E08C-413B-B7DB-646B072C1F1E}"/>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28" name="Rectangle 67">
                  <a:extLst>
                    <a:ext uri="{FF2B5EF4-FFF2-40B4-BE49-F238E27FC236}">
                      <a16:creationId xmlns:a16="http://schemas.microsoft.com/office/drawing/2014/main" xmlns="" id="{73E9D29D-5EE2-4C74-B3BE-A7E80EB163CE}"/>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29" name="Rectangle 68">
                  <a:extLst>
                    <a:ext uri="{FF2B5EF4-FFF2-40B4-BE49-F238E27FC236}">
                      <a16:creationId xmlns:a16="http://schemas.microsoft.com/office/drawing/2014/main" xmlns="" id="{23E678BC-A94E-4E62-B6D4-55D6813A7A14}"/>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0" name="Rectangle 69">
                  <a:extLst>
                    <a:ext uri="{FF2B5EF4-FFF2-40B4-BE49-F238E27FC236}">
                      <a16:creationId xmlns:a16="http://schemas.microsoft.com/office/drawing/2014/main" xmlns="" id="{8CB0124C-3DFD-4307-9C8B-604AE2A1462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1" name="Rectangle 70">
                  <a:extLst>
                    <a:ext uri="{FF2B5EF4-FFF2-40B4-BE49-F238E27FC236}">
                      <a16:creationId xmlns:a16="http://schemas.microsoft.com/office/drawing/2014/main" xmlns="" id="{B9D1EE2C-ED9A-4950-ADC3-9E1784EB50E3}"/>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32" name="Rectangle 71">
                  <a:extLst>
                    <a:ext uri="{FF2B5EF4-FFF2-40B4-BE49-F238E27FC236}">
                      <a16:creationId xmlns:a16="http://schemas.microsoft.com/office/drawing/2014/main" xmlns="" id="{F34F023A-9D01-4B71-BAA3-8EDEC2FBA8D0}"/>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33" name="Rectangle 72">
                  <a:extLst>
                    <a:ext uri="{FF2B5EF4-FFF2-40B4-BE49-F238E27FC236}">
                      <a16:creationId xmlns:a16="http://schemas.microsoft.com/office/drawing/2014/main" xmlns="" id="{6D5CD598-6EC3-4B8B-8325-8A405E657A4F}"/>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34" name="Rectangle 73">
                  <a:extLst>
                    <a:ext uri="{FF2B5EF4-FFF2-40B4-BE49-F238E27FC236}">
                      <a16:creationId xmlns:a16="http://schemas.microsoft.com/office/drawing/2014/main" xmlns="" id="{FDC46D31-00FB-442D-B620-B074D78FC309}"/>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35" name="Rectangle 74">
                  <a:extLst>
                    <a:ext uri="{FF2B5EF4-FFF2-40B4-BE49-F238E27FC236}">
                      <a16:creationId xmlns:a16="http://schemas.microsoft.com/office/drawing/2014/main" xmlns="" id="{7294A9AC-9E06-4B0E-AC37-B2F0B3BCB591}"/>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36" name="Rectangle 75">
                  <a:extLst>
                    <a:ext uri="{FF2B5EF4-FFF2-40B4-BE49-F238E27FC236}">
                      <a16:creationId xmlns:a16="http://schemas.microsoft.com/office/drawing/2014/main" xmlns="" id="{CAB1E2EA-9778-4255-BF76-8C4C121F22CF}"/>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37" name="Rectangle 76">
                  <a:extLst>
                    <a:ext uri="{FF2B5EF4-FFF2-40B4-BE49-F238E27FC236}">
                      <a16:creationId xmlns:a16="http://schemas.microsoft.com/office/drawing/2014/main" xmlns="" id="{0C144717-922B-417F-A17D-69C462C3FF8C}"/>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38" name="Rectangle 77">
                  <a:extLst>
                    <a:ext uri="{FF2B5EF4-FFF2-40B4-BE49-F238E27FC236}">
                      <a16:creationId xmlns:a16="http://schemas.microsoft.com/office/drawing/2014/main" xmlns="" id="{594003BD-0FDA-4594-A380-DAB9AF9720B6}"/>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39" name="Rectangle 78">
                  <a:extLst>
                    <a:ext uri="{FF2B5EF4-FFF2-40B4-BE49-F238E27FC236}">
                      <a16:creationId xmlns:a16="http://schemas.microsoft.com/office/drawing/2014/main" xmlns="" id="{DCAFA5FE-46A2-42DD-A124-AD2CF174A56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40" name="Rectangle 79">
                  <a:extLst>
                    <a:ext uri="{FF2B5EF4-FFF2-40B4-BE49-F238E27FC236}">
                      <a16:creationId xmlns:a16="http://schemas.microsoft.com/office/drawing/2014/main" xmlns="" id="{A54330CB-16D0-425C-B91A-D2BB01C5E5D5}"/>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41" name="Rectangle 80">
                  <a:extLst>
                    <a:ext uri="{FF2B5EF4-FFF2-40B4-BE49-F238E27FC236}">
                      <a16:creationId xmlns:a16="http://schemas.microsoft.com/office/drawing/2014/main" xmlns="" id="{2AB33B00-357A-4A5F-BC61-45AE6BEC121B}"/>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42" name="Rectangle 81">
                  <a:extLst>
                    <a:ext uri="{FF2B5EF4-FFF2-40B4-BE49-F238E27FC236}">
                      <a16:creationId xmlns:a16="http://schemas.microsoft.com/office/drawing/2014/main" xmlns="" id="{3A318481-76A2-454F-AFA0-888A554DE7E0}"/>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43" name="Rectangle 82">
                  <a:extLst>
                    <a:ext uri="{FF2B5EF4-FFF2-40B4-BE49-F238E27FC236}">
                      <a16:creationId xmlns:a16="http://schemas.microsoft.com/office/drawing/2014/main" xmlns="" id="{80311247-5961-484B-8A0D-671AA1688CA2}"/>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44" name="Rectangle 83">
                  <a:extLst>
                    <a:ext uri="{FF2B5EF4-FFF2-40B4-BE49-F238E27FC236}">
                      <a16:creationId xmlns:a16="http://schemas.microsoft.com/office/drawing/2014/main" xmlns="" id="{CEA5B51C-8BF7-4FDE-8714-9EAD3FBE5C71}"/>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45" name="Rectangle 84">
                  <a:extLst>
                    <a:ext uri="{FF2B5EF4-FFF2-40B4-BE49-F238E27FC236}">
                      <a16:creationId xmlns:a16="http://schemas.microsoft.com/office/drawing/2014/main" xmlns="" id="{DBED7BC8-6B6B-4B03-8F7A-E6B2951E6E3F}"/>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46" name="Rectangle 85">
                  <a:extLst>
                    <a:ext uri="{FF2B5EF4-FFF2-40B4-BE49-F238E27FC236}">
                      <a16:creationId xmlns:a16="http://schemas.microsoft.com/office/drawing/2014/main" xmlns="" id="{1EEA893F-F455-43C7-A6A4-968DE299AB0C}"/>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47" name="Rectangle 86">
                  <a:extLst>
                    <a:ext uri="{FF2B5EF4-FFF2-40B4-BE49-F238E27FC236}">
                      <a16:creationId xmlns:a16="http://schemas.microsoft.com/office/drawing/2014/main" xmlns="" id="{13A3DC11-91E3-411C-8936-D7DCBB1EE411}"/>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48" name="Rectangle 87">
                  <a:extLst>
                    <a:ext uri="{FF2B5EF4-FFF2-40B4-BE49-F238E27FC236}">
                      <a16:creationId xmlns:a16="http://schemas.microsoft.com/office/drawing/2014/main" xmlns="" id="{CAEE8EF6-07FA-40D5-8C78-2A48F2638D54}"/>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49" name="Rectangle 88">
                  <a:extLst>
                    <a:ext uri="{FF2B5EF4-FFF2-40B4-BE49-F238E27FC236}">
                      <a16:creationId xmlns:a16="http://schemas.microsoft.com/office/drawing/2014/main" xmlns="" id="{73E7617E-3867-4E49-BC11-D7666E6B3807}"/>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50" name="Line 89">
                  <a:extLst>
                    <a:ext uri="{FF2B5EF4-FFF2-40B4-BE49-F238E27FC236}">
                      <a16:creationId xmlns:a16="http://schemas.microsoft.com/office/drawing/2014/main" xmlns="" id="{0D7092BC-E7BC-4744-9314-A504328A80CB}"/>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1" name="Line 90">
                  <a:extLst>
                    <a:ext uri="{FF2B5EF4-FFF2-40B4-BE49-F238E27FC236}">
                      <a16:creationId xmlns:a16="http://schemas.microsoft.com/office/drawing/2014/main" xmlns="" id="{0D57BA3F-6ED3-4BFD-9D79-408C153F89A4}"/>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2" name="Line 91">
                  <a:extLst>
                    <a:ext uri="{FF2B5EF4-FFF2-40B4-BE49-F238E27FC236}">
                      <a16:creationId xmlns:a16="http://schemas.microsoft.com/office/drawing/2014/main" xmlns="" id="{71F4882E-1746-4C8C-B15F-37ACDA0F37C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3" name="Line 92">
                  <a:extLst>
                    <a:ext uri="{FF2B5EF4-FFF2-40B4-BE49-F238E27FC236}">
                      <a16:creationId xmlns:a16="http://schemas.microsoft.com/office/drawing/2014/main" xmlns="" id="{2CED2A84-5467-46A3-89C9-BD21D934B5C2}"/>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4" name="Line 93">
                  <a:extLst>
                    <a:ext uri="{FF2B5EF4-FFF2-40B4-BE49-F238E27FC236}">
                      <a16:creationId xmlns:a16="http://schemas.microsoft.com/office/drawing/2014/main" xmlns="" id="{7BCA0461-B842-448C-8FFC-F69E2F49E4B2}"/>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5" name="Line 94">
                  <a:extLst>
                    <a:ext uri="{FF2B5EF4-FFF2-40B4-BE49-F238E27FC236}">
                      <a16:creationId xmlns:a16="http://schemas.microsoft.com/office/drawing/2014/main" xmlns="" id="{1F6396AD-93CB-4323-9E7E-69157B5BC286}"/>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6" name="Line 95">
                  <a:extLst>
                    <a:ext uri="{FF2B5EF4-FFF2-40B4-BE49-F238E27FC236}">
                      <a16:creationId xmlns:a16="http://schemas.microsoft.com/office/drawing/2014/main" xmlns="" id="{C2071074-DFB2-4CCE-ADDA-D0EF39B93C4E}"/>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7" name="Line 96">
                  <a:extLst>
                    <a:ext uri="{FF2B5EF4-FFF2-40B4-BE49-F238E27FC236}">
                      <a16:creationId xmlns:a16="http://schemas.microsoft.com/office/drawing/2014/main" xmlns="" id="{26795DE5-2502-4605-BD72-BCF508B62546}"/>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8" name="Line 97">
                  <a:extLst>
                    <a:ext uri="{FF2B5EF4-FFF2-40B4-BE49-F238E27FC236}">
                      <a16:creationId xmlns:a16="http://schemas.microsoft.com/office/drawing/2014/main" xmlns="" id="{63DEDE05-CEDC-47C0-B819-EA2E27BD22FE}"/>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59" name="Line 98">
                  <a:extLst>
                    <a:ext uri="{FF2B5EF4-FFF2-40B4-BE49-F238E27FC236}">
                      <a16:creationId xmlns:a16="http://schemas.microsoft.com/office/drawing/2014/main" xmlns="" id="{2383C46B-6F9C-4CAA-BF25-6E46812E37BD}"/>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58" name="TextBox 157">
                <a:extLst>
                  <a:ext uri="{FF2B5EF4-FFF2-40B4-BE49-F238E27FC236}">
                    <a16:creationId xmlns:a16="http://schemas.microsoft.com/office/drawing/2014/main" xmlns="" id="{7AA0293A-2BA6-4595-8377-7FC5CC89FDC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59" name="TextBox 158">
                <a:extLst>
                  <a:ext uri="{FF2B5EF4-FFF2-40B4-BE49-F238E27FC236}">
                    <a16:creationId xmlns:a16="http://schemas.microsoft.com/office/drawing/2014/main" xmlns="" id="{FFE08ED3-E070-4798-A2E2-F189D27BA619}"/>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60" name="TextBox 159">
                <a:extLst>
                  <a:ext uri="{FF2B5EF4-FFF2-40B4-BE49-F238E27FC236}">
                    <a16:creationId xmlns:a16="http://schemas.microsoft.com/office/drawing/2014/main" xmlns="" id="{0CF3E031-49D0-4B73-B27A-07F4BFB123F4}"/>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161" name="TextBox 160">
                <a:extLst>
                  <a:ext uri="{FF2B5EF4-FFF2-40B4-BE49-F238E27FC236}">
                    <a16:creationId xmlns:a16="http://schemas.microsoft.com/office/drawing/2014/main" xmlns="" id="{6B52B478-526B-41F9-90D7-64ECF78E5E2B}"/>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162" name="TextBox 161">
                <a:extLst>
                  <a:ext uri="{FF2B5EF4-FFF2-40B4-BE49-F238E27FC236}">
                    <a16:creationId xmlns:a16="http://schemas.microsoft.com/office/drawing/2014/main" xmlns="" id="{036A6264-76A3-4112-879B-FC899849E02B}"/>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163" name="TextBox 162">
                <a:extLst>
                  <a:ext uri="{FF2B5EF4-FFF2-40B4-BE49-F238E27FC236}">
                    <a16:creationId xmlns:a16="http://schemas.microsoft.com/office/drawing/2014/main" xmlns="" id="{4756CC2C-D8E1-4DCB-90D0-53E9D7C21450}"/>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164" name="TextBox 163">
                <a:extLst>
                  <a:ext uri="{FF2B5EF4-FFF2-40B4-BE49-F238E27FC236}">
                    <a16:creationId xmlns:a16="http://schemas.microsoft.com/office/drawing/2014/main" xmlns="" id="{1AB0B0C6-23E5-45C4-8C11-C738A6CD2E5C}"/>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165" name="TextBox 164">
                <a:extLst>
                  <a:ext uri="{FF2B5EF4-FFF2-40B4-BE49-F238E27FC236}">
                    <a16:creationId xmlns:a16="http://schemas.microsoft.com/office/drawing/2014/main" xmlns="" id="{58FAA7CD-1A66-454A-BD2B-6D39CB433796}"/>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148" name="Straight Connector 147">
              <a:extLst>
                <a:ext uri="{FF2B5EF4-FFF2-40B4-BE49-F238E27FC236}">
                  <a16:creationId xmlns:a16="http://schemas.microsoft.com/office/drawing/2014/main" xmlns="" id="{1BCEF7C3-FB1A-4E3E-8AA6-D292A5D22A3B}"/>
                </a:ext>
              </a:extLst>
            </p:cNvPr>
            <p:cNvCxnSpPr>
              <a:endCxn id="252"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xmlns="" id="{19F9D6D0-A8BE-4FBC-B3FA-992E9842D7C0}"/>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xmlns="" id="{E263CAC4-B036-42DC-93DD-D00C54B0727D}"/>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xmlns="" id="{8597D85C-50C3-4D58-91F9-BA1B8E7F2308}"/>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xmlns="" id="{4B9B3CB0-5E55-4E56-B529-598CAD618724}"/>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xmlns="" id="{40772533-3E5A-4055-A0CB-3C4D1E90C3F2}"/>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xmlns="" id="{CD5DF52E-F06D-4E86-B22A-46C6B238858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xmlns="" id="{1E540BAF-14F7-4C26-B4C5-376F5B67B11D}"/>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xmlns="" id="{AEEDE4E2-B658-42EF-B76E-EF2E065AC112}"/>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611560" y="35655"/>
            <a:ext cx="8497271" cy="889826"/>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3</a:t>
            </a:r>
            <a:br>
              <a:rPr lang="en-US" sz="2400" b="1" dirty="0">
                <a:solidFill>
                  <a:schemeClr val="accent6"/>
                </a:solidFill>
              </a:rPr>
            </a:br>
            <a:r>
              <a:rPr lang="en-US" sz="2400" b="1" dirty="0">
                <a:solidFill>
                  <a:schemeClr val="accent6"/>
                </a:solidFill>
              </a:rPr>
              <a:t>Chemistry only</a:t>
            </a:r>
            <a:endParaRPr lang="en-GB" sz="2400" b="1" dirty="0">
              <a:solidFill>
                <a:schemeClr val="accent6"/>
              </a:solidFill>
            </a:endParaRPr>
          </a:p>
        </p:txBody>
      </p:sp>
      <p:sp>
        <p:nvSpPr>
          <p:cNvPr id="4" name="Rectangle 3">
            <a:extLst>
              <a:ext uri="{FF2B5EF4-FFF2-40B4-BE49-F238E27FC236}">
                <a16:creationId xmlns:a16="http://schemas.microsoft.com/office/drawing/2014/main" xmlns="" id="{EDD9FAB0-ABD7-4AE9-881C-F4AED9786127}"/>
              </a:ext>
            </a:extLst>
          </p:cNvPr>
          <p:cNvSpPr/>
          <p:nvPr/>
        </p:nvSpPr>
        <p:spPr>
          <a:xfrm>
            <a:off x="4130434" y="2017845"/>
            <a:ext cx="2927830" cy="1101198"/>
          </a:xfrm>
          <a:prstGeom prst="rect">
            <a:avLst/>
          </a:prstGeom>
          <a:solidFill>
            <a:schemeClr val="accent6">
              <a:lumMod val="40000"/>
              <a:lumOff val="60000"/>
              <a:alpha val="50000"/>
            </a:schemeClr>
          </a:solidFill>
          <a:ln w="381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2" name="Rectangle 261">
            <a:extLst>
              <a:ext uri="{FF2B5EF4-FFF2-40B4-BE49-F238E27FC236}">
                <a16:creationId xmlns:a16="http://schemas.microsoft.com/office/drawing/2014/main" xmlns="" id="{232A0454-0E7B-444D-8283-2A56CFCC8CEC}"/>
              </a:ext>
            </a:extLst>
          </p:cNvPr>
          <p:cNvSpPr/>
          <p:nvPr/>
        </p:nvSpPr>
        <p:spPr>
          <a:xfrm>
            <a:off x="3520954" y="1439408"/>
            <a:ext cx="310254" cy="1665274"/>
          </a:xfrm>
          <a:prstGeom prst="rect">
            <a:avLst/>
          </a:prstGeom>
          <a:solidFill>
            <a:schemeClr val="accent6">
              <a:lumMod val="40000"/>
              <a:lumOff val="60000"/>
              <a:alpha val="50000"/>
            </a:schemeClr>
          </a:solidFill>
          <a:ln w="381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aphicFrame>
        <p:nvGraphicFramePr>
          <p:cNvPr id="7" name="Table 6">
            <a:extLst>
              <a:ext uri="{FF2B5EF4-FFF2-40B4-BE49-F238E27FC236}">
                <a16:creationId xmlns:a16="http://schemas.microsoft.com/office/drawing/2014/main" xmlns="" id="{94B1E794-BDC1-4600-BFAC-BBCBE5A0F205}"/>
              </a:ext>
            </a:extLst>
          </p:cNvPr>
          <p:cNvGraphicFramePr>
            <a:graphicFrameLocks noGrp="1"/>
          </p:cNvGraphicFramePr>
          <p:nvPr>
            <p:extLst>
              <p:ext uri="{D42A27DB-BD31-4B8C-83A1-F6EECF244321}">
                <p14:modId xmlns:p14="http://schemas.microsoft.com/office/powerpoint/2010/main" val="3402156647"/>
              </p:ext>
            </p:extLst>
          </p:nvPr>
        </p:nvGraphicFramePr>
        <p:xfrm>
          <a:off x="225676" y="3356064"/>
          <a:ext cx="8626584" cy="2996375"/>
        </p:xfrm>
        <a:graphic>
          <a:graphicData uri="http://schemas.openxmlformats.org/drawingml/2006/table">
            <a:tbl>
              <a:tblPr>
                <a:tableStyleId>{E8B1032C-EA38-4F05-BA0D-38AFFFC7BED3}</a:tableStyleId>
              </a:tblPr>
              <a:tblGrid>
                <a:gridCol w="2315044">
                  <a:extLst>
                    <a:ext uri="{9D8B030D-6E8A-4147-A177-3AD203B41FA5}">
                      <a16:colId xmlns:a16="http://schemas.microsoft.com/office/drawing/2014/main" xmlns="" val="2043823180"/>
                    </a:ext>
                  </a:extLst>
                </a:gridCol>
                <a:gridCol w="2315044">
                  <a:extLst>
                    <a:ext uri="{9D8B030D-6E8A-4147-A177-3AD203B41FA5}">
                      <a16:colId xmlns:a16="http://schemas.microsoft.com/office/drawing/2014/main" xmlns="" val="3379293370"/>
                    </a:ext>
                  </a:extLst>
                </a:gridCol>
                <a:gridCol w="3996496">
                  <a:extLst>
                    <a:ext uri="{9D8B030D-6E8A-4147-A177-3AD203B41FA5}">
                      <a16:colId xmlns:a16="http://schemas.microsoft.com/office/drawing/2014/main" xmlns="" val="4112382310"/>
                    </a:ext>
                  </a:extLst>
                </a:gridCol>
              </a:tblGrid>
              <a:tr h="190057">
                <a:tc>
                  <a:txBody>
                    <a:bodyPr/>
                    <a:lstStyle/>
                    <a:p>
                      <a:pPr algn="l" fontAlgn="t"/>
                      <a:endParaRPr lang="en-GB" sz="1800" b="1" dirty="0">
                        <a:effectLst/>
                        <a:latin typeface="+mn-lt"/>
                      </a:endParaRPr>
                    </a:p>
                  </a:txBody>
                  <a:tcPr marL="47625" marR="47625" marT="76200" marB="38100"/>
                </a:tc>
                <a:tc>
                  <a:txBody>
                    <a:bodyPr/>
                    <a:lstStyle/>
                    <a:p>
                      <a:pPr algn="ctr" fontAlgn="t"/>
                      <a:r>
                        <a:rPr lang="en-GB" sz="1800" b="1" dirty="0">
                          <a:effectLst/>
                          <a:latin typeface="+mn-lt"/>
                        </a:rPr>
                        <a:t>Alkali metals</a:t>
                      </a:r>
                    </a:p>
                  </a:txBody>
                  <a:tcPr marL="47625" marR="47625" marT="76200" marB="38100"/>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1800" b="1" dirty="0">
                          <a:effectLst/>
                        </a:rPr>
                        <a:t>Transition metals</a:t>
                      </a:r>
                      <a:endParaRPr lang="en-GB" sz="1800" b="1" dirty="0">
                        <a:effectLst/>
                        <a:latin typeface="+mn-lt"/>
                      </a:endParaRPr>
                    </a:p>
                  </a:txBody>
                  <a:tcPr/>
                </a:tc>
                <a:extLst>
                  <a:ext uri="{0D108BD9-81ED-4DB2-BD59-A6C34878D82A}">
                    <a16:rowId xmlns:a16="http://schemas.microsoft.com/office/drawing/2014/main" xmlns="" val="4266579853"/>
                  </a:ext>
                </a:extLst>
              </a:tr>
              <a:tr h="450756">
                <a:tc>
                  <a:txBody>
                    <a:bodyPr/>
                    <a:lstStyle/>
                    <a:p>
                      <a:pPr algn="ctr"/>
                      <a:r>
                        <a:rPr lang="en-GB" sz="1800" b="1">
                          <a:effectLst/>
                        </a:rPr>
                        <a:t>Melting points</a:t>
                      </a:r>
                      <a:endParaRPr lang="en-GB" sz="1800" b="1">
                        <a:effectLst/>
                        <a:latin typeface="+mn-lt"/>
                      </a:endParaRPr>
                    </a:p>
                  </a:txBody>
                  <a:tcPr marL="95250" marR="0" marT="0" marB="0" anchor="ctr"/>
                </a:tc>
                <a:tc>
                  <a:txBody>
                    <a:bodyPr/>
                    <a:lstStyle/>
                    <a:p>
                      <a:pPr algn="ctr" fontAlgn="t"/>
                      <a:r>
                        <a:rPr lang="en-GB" sz="1800">
                          <a:effectLst/>
                        </a:rPr>
                        <a:t>Low</a:t>
                      </a:r>
                      <a:endParaRPr lang="en-GB" sz="1800">
                        <a:effectLst/>
                        <a:latin typeface="+mn-lt"/>
                      </a:endParaRPr>
                    </a:p>
                  </a:txBody>
                  <a:tcPr marL="47625" marR="47625" marT="38100" marB="38100"/>
                </a:tc>
                <a:tc>
                  <a:txBody>
                    <a:bodyPr/>
                    <a:lstStyle/>
                    <a:p>
                      <a:pPr algn="ctr" fontAlgn="t"/>
                      <a:r>
                        <a:rPr lang="en-GB" sz="1800" dirty="0">
                          <a:effectLst/>
                        </a:rPr>
                        <a:t>High (except mercury, which is liquid at room temperature)</a:t>
                      </a:r>
                      <a:endParaRPr lang="en-GB" sz="1800" dirty="0">
                        <a:effectLst/>
                        <a:latin typeface="+mn-lt"/>
                      </a:endParaRPr>
                    </a:p>
                  </a:txBody>
                  <a:tcPr marL="47625" marR="47625" marT="38100" marB="38100"/>
                </a:tc>
                <a:extLst>
                  <a:ext uri="{0D108BD9-81ED-4DB2-BD59-A6C34878D82A}">
                    <a16:rowId xmlns:a16="http://schemas.microsoft.com/office/drawing/2014/main" xmlns="" val="2659415563"/>
                  </a:ext>
                </a:extLst>
              </a:tr>
              <a:tr h="657035">
                <a:tc>
                  <a:txBody>
                    <a:bodyPr/>
                    <a:lstStyle/>
                    <a:p>
                      <a:pPr algn="ctr"/>
                      <a:r>
                        <a:rPr lang="en-GB" sz="1800" b="1">
                          <a:effectLst/>
                        </a:rPr>
                        <a:t>Reactivity</a:t>
                      </a:r>
                      <a:endParaRPr lang="en-GB" sz="1800" b="1">
                        <a:effectLst/>
                        <a:latin typeface="+mn-lt"/>
                      </a:endParaRPr>
                    </a:p>
                  </a:txBody>
                  <a:tcPr marL="95250" marR="0" marT="0" marB="0" anchor="ctr"/>
                </a:tc>
                <a:tc>
                  <a:txBody>
                    <a:bodyPr/>
                    <a:lstStyle/>
                    <a:p>
                      <a:pPr algn="ctr" fontAlgn="t"/>
                      <a:r>
                        <a:rPr lang="en-GB" sz="1800">
                          <a:effectLst/>
                        </a:rPr>
                        <a:t>High (react vigorously with water or oxygen)</a:t>
                      </a:r>
                      <a:endParaRPr lang="en-GB" sz="1800">
                        <a:effectLst/>
                        <a:latin typeface="+mn-lt"/>
                      </a:endParaRPr>
                    </a:p>
                  </a:txBody>
                  <a:tcPr marL="47625" marR="47625" marT="38100" marB="38100"/>
                </a:tc>
                <a:tc>
                  <a:txBody>
                    <a:bodyPr/>
                    <a:lstStyle/>
                    <a:p>
                      <a:pPr algn="ctr" fontAlgn="t"/>
                      <a:r>
                        <a:rPr lang="en-GB" sz="1800" dirty="0">
                          <a:effectLst/>
                        </a:rPr>
                        <a:t>Low (do not react so vigorously with water or oxygen)</a:t>
                      </a:r>
                      <a:endParaRPr lang="en-GB" sz="1800" dirty="0">
                        <a:effectLst/>
                        <a:latin typeface="+mn-lt"/>
                      </a:endParaRPr>
                    </a:p>
                  </a:txBody>
                  <a:tcPr marL="47625" marR="47625" marT="38100" marB="38100"/>
                </a:tc>
                <a:extLst>
                  <a:ext uri="{0D108BD9-81ED-4DB2-BD59-A6C34878D82A}">
                    <a16:rowId xmlns:a16="http://schemas.microsoft.com/office/drawing/2014/main" xmlns="" val="3923418326"/>
                  </a:ext>
                </a:extLst>
              </a:tr>
              <a:tr h="553895">
                <a:tc>
                  <a:txBody>
                    <a:bodyPr/>
                    <a:lstStyle/>
                    <a:p>
                      <a:pPr algn="ctr"/>
                      <a:r>
                        <a:rPr lang="en-GB" sz="1800" b="1">
                          <a:effectLst/>
                        </a:rPr>
                        <a:t>Strength</a:t>
                      </a:r>
                      <a:endParaRPr lang="en-GB" sz="1800" b="1">
                        <a:effectLst/>
                        <a:latin typeface="+mn-lt"/>
                      </a:endParaRPr>
                    </a:p>
                  </a:txBody>
                  <a:tcPr marL="95250" marR="0" marT="0" marB="0" anchor="ctr"/>
                </a:tc>
                <a:tc>
                  <a:txBody>
                    <a:bodyPr/>
                    <a:lstStyle/>
                    <a:p>
                      <a:pPr algn="ctr" fontAlgn="t"/>
                      <a:r>
                        <a:rPr lang="en-GB" sz="1800">
                          <a:effectLst/>
                        </a:rPr>
                        <a:t>Soft or liquid so cannot withstand force</a:t>
                      </a:r>
                      <a:endParaRPr lang="en-GB" sz="1800">
                        <a:effectLst/>
                        <a:latin typeface="+mn-lt"/>
                      </a:endParaRPr>
                    </a:p>
                  </a:txBody>
                  <a:tcPr marL="47625" marR="47625" marT="38100" marB="38100"/>
                </a:tc>
                <a:tc>
                  <a:txBody>
                    <a:bodyPr/>
                    <a:lstStyle/>
                    <a:p>
                      <a:pPr algn="ctr" fontAlgn="t"/>
                      <a:r>
                        <a:rPr lang="en-GB" sz="1800">
                          <a:effectLst/>
                        </a:rPr>
                        <a:t>Strong and hard</a:t>
                      </a:r>
                      <a:endParaRPr lang="en-GB" sz="1800">
                        <a:effectLst/>
                        <a:latin typeface="+mn-lt"/>
                      </a:endParaRPr>
                    </a:p>
                  </a:txBody>
                  <a:tcPr marL="47625" marR="47625" marT="38100" marB="38100"/>
                </a:tc>
                <a:extLst>
                  <a:ext uri="{0D108BD9-81ED-4DB2-BD59-A6C34878D82A}">
                    <a16:rowId xmlns:a16="http://schemas.microsoft.com/office/drawing/2014/main" xmlns="" val="824058928"/>
                  </a:ext>
                </a:extLst>
              </a:tr>
              <a:tr h="189554">
                <a:tc>
                  <a:txBody>
                    <a:bodyPr/>
                    <a:lstStyle/>
                    <a:p>
                      <a:pPr algn="ctr"/>
                      <a:r>
                        <a:rPr lang="en-GB" sz="1800" b="1">
                          <a:effectLst/>
                        </a:rPr>
                        <a:t>Density</a:t>
                      </a:r>
                      <a:endParaRPr lang="en-GB" sz="1800" b="1">
                        <a:effectLst/>
                        <a:latin typeface="+mn-lt"/>
                      </a:endParaRPr>
                    </a:p>
                  </a:txBody>
                  <a:tcPr marL="95250" marR="0" marT="0" marB="0" anchor="ctr"/>
                </a:tc>
                <a:tc>
                  <a:txBody>
                    <a:bodyPr/>
                    <a:lstStyle/>
                    <a:p>
                      <a:pPr algn="ctr" fontAlgn="t"/>
                      <a:r>
                        <a:rPr lang="en-GB" sz="1800">
                          <a:effectLst/>
                        </a:rPr>
                        <a:t>Low</a:t>
                      </a:r>
                      <a:endParaRPr lang="en-GB" sz="1800">
                        <a:effectLst/>
                        <a:latin typeface="+mn-lt"/>
                      </a:endParaRPr>
                    </a:p>
                  </a:txBody>
                  <a:tcPr marL="47625" marR="47625" marT="38100" marB="38100"/>
                </a:tc>
                <a:tc>
                  <a:txBody>
                    <a:bodyPr/>
                    <a:lstStyle/>
                    <a:p>
                      <a:pPr algn="ctr" fontAlgn="t"/>
                      <a:r>
                        <a:rPr lang="en-GB" sz="1800">
                          <a:effectLst/>
                        </a:rPr>
                        <a:t>High</a:t>
                      </a:r>
                      <a:endParaRPr lang="en-GB" sz="1800">
                        <a:effectLst/>
                        <a:latin typeface="+mn-lt"/>
                      </a:endParaRPr>
                    </a:p>
                  </a:txBody>
                  <a:tcPr marL="47625" marR="47625" marT="38100" marB="38100"/>
                </a:tc>
                <a:extLst>
                  <a:ext uri="{0D108BD9-81ED-4DB2-BD59-A6C34878D82A}">
                    <a16:rowId xmlns:a16="http://schemas.microsoft.com/office/drawing/2014/main" xmlns="" val="2075937067"/>
                  </a:ext>
                </a:extLst>
              </a:tr>
              <a:tr h="347617">
                <a:tc>
                  <a:txBody>
                    <a:bodyPr/>
                    <a:lstStyle/>
                    <a:p>
                      <a:pPr algn="ctr"/>
                      <a:r>
                        <a:rPr lang="en-GB" sz="1800" b="1" dirty="0">
                          <a:effectLst/>
                        </a:rPr>
                        <a:t>Compounds formed</a:t>
                      </a:r>
                      <a:endParaRPr lang="en-GB" sz="1800" b="1" dirty="0">
                        <a:effectLst/>
                        <a:latin typeface="+mn-lt"/>
                      </a:endParaRPr>
                    </a:p>
                  </a:txBody>
                  <a:tcPr marL="95250" marR="0" marT="0" marB="0" anchor="ctr"/>
                </a:tc>
                <a:tc>
                  <a:txBody>
                    <a:bodyPr/>
                    <a:lstStyle/>
                    <a:p>
                      <a:pPr algn="ctr" fontAlgn="t"/>
                      <a:r>
                        <a:rPr lang="en-GB" sz="1800">
                          <a:effectLst/>
                        </a:rPr>
                        <a:t>White or colourless</a:t>
                      </a:r>
                      <a:endParaRPr lang="en-GB" sz="1800">
                        <a:effectLst/>
                        <a:latin typeface="+mn-lt"/>
                      </a:endParaRPr>
                    </a:p>
                  </a:txBody>
                  <a:tcPr marL="47625" marR="47625" marT="38100" marB="38100"/>
                </a:tc>
                <a:tc>
                  <a:txBody>
                    <a:bodyPr/>
                    <a:lstStyle/>
                    <a:p>
                      <a:pPr algn="ctr" fontAlgn="t"/>
                      <a:r>
                        <a:rPr lang="en-GB" sz="1800" dirty="0">
                          <a:effectLst/>
                        </a:rPr>
                        <a:t>Coloured</a:t>
                      </a:r>
                      <a:endParaRPr lang="en-GB" sz="1800" dirty="0">
                        <a:effectLst/>
                        <a:latin typeface="+mn-lt"/>
                      </a:endParaRPr>
                    </a:p>
                  </a:txBody>
                  <a:tcPr marL="47625" marR="47625" marT="38100" marB="38100"/>
                </a:tc>
                <a:extLst>
                  <a:ext uri="{0D108BD9-81ED-4DB2-BD59-A6C34878D82A}">
                    <a16:rowId xmlns:a16="http://schemas.microsoft.com/office/drawing/2014/main" xmlns="" val="571793551"/>
                  </a:ext>
                </a:extLst>
              </a:tr>
            </a:tbl>
          </a:graphicData>
        </a:graphic>
      </p:graphicFrame>
      <p:sp>
        <p:nvSpPr>
          <p:cNvPr id="8" name="Rectangle 7">
            <a:extLst>
              <a:ext uri="{FF2B5EF4-FFF2-40B4-BE49-F238E27FC236}">
                <a16:creationId xmlns:a16="http://schemas.microsoft.com/office/drawing/2014/main" xmlns="" id="{EA3E707B-564D-4CA4-BA32-8D4B321ECD56}"/>
              </a:ext>
            </a:extLst>
          </p:cNvPr>
          <p:cNvSpPr/>
          <p:nvPr/>
        </p:nvSpPr>
        <p:spPr>
          <a:xfrm>
            <a:off x="266864" y="1555003"/>
            <a:ext cx="3024971" cy="1200329"/>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dirty="0"/>
              <a:t> </a:t>
            </a:r>
            <a:r>
              <a:rPr lang="en-GB" b="1" dirty="0"/>
              <a:t>Transition</a:t>
            </a:r>
            <a:r>
              <a:rPr lang="en-GB" dirty="0"/>
              <a:t> metals have </a:t>
            </a:r>
            <a:r>
              <a:rPr lang="en-GB" b="1" dirty="0"/>
              <a:t>different properties </a:t>
            </a:r>
            <a:r>
              <a:rPr lang="en-GB" dirty="0"/>
              <a:t>compared to the</a:t>
            </a:r>
            <a:r>
              <a:rPr lang="en-GB" b="1" dirty="0"/>
              <a:t> alkali</a:t>
            </a:r>
            <a:r>
              <a:rPr lang="en-GB" dirty="0"/>
              <a:t> metals (group 1). </a:t>
            </a:r>
          </a:p>
        </p:txBody>
      </p:sp>
    </p:spTree>
    <p:extLst>
      <p:ext uri="{BB962C8B-B14F-4D97-AF65-F5344CB8AC3E}">
        <p14:creationId xmlns:p14="http://schemas.microsoft.com/office/powerpoint/2010/main" val="34516245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88640"/>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PART 3</a:t>
            </a:r>
            <a:br>
              <a:rPr lang="en-US" sz="2400" b="1" dirty="0">
                <a:solidFill>
                  <a:schemeClr val="accent6"/>
                </a:solidFill>
              </a:rPr>
            </a:br>
            <a:r>
              <a:rPr lang="en-US" sz="2400" b="1" dirty="0">
                <a:solidFill>
                  <a:schemeClr val="accent6"/>
                </a:solidFill>
              </a:rPr>
              <a:t>Chemistry only</a:t>
            </a:r>
            <a:endParaRPr lang="en-GB" sz="2400" b="1" dirty="0">
              <a:solidFill>
                <a:schemeClr val="accent6"/>
              </a:solidFill>
            </a:endParaRPr>
          </a:p>
        </p:txBody>
      </p:sp>
      <p:sp>
        <p:nvSpPr>
          <p:cNvPr id="3" name="Rectangle 2">
            <a:extLst>
              <a:ext uri="{FF2B5EF4-FFF2-40B4-BE49-F238E27FC236}">
                <a16:creationId xmlns:a16="http://schemas.microsoft.com/office/drawing/2014/main" xmlns="" id="{F9673B00-7893-4BAB-A815-C76AE9BD2503}"/>
              </a:ext>
            </a:extLst>
          </p:cNvPr>
          <p:cNvSpPr/>
          <p:nvPr/>
        </p:nvSpPr>
        <p:spPr>
          <a:xfrm>
            <a:off x="179512" y="1124744"/>
            <a:ext cx="8856984"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sz="2000" dirty="0"/>
              <a:t>The transition metals have many different </a:t>
            </a:r>
            <a:r>
              <a:rPr lang="en-GB" sz="2000" b="1" dirty="0"/>
              <a:t>uses</a:t>
            </a:r>
            <a:r>
              <a:rPr lang="en-GB" sz="2000" dirty="0"/>
              <a:t> due to their </a:t>
            </a:r>
            <a:r>
              <a:rPr lang="en-GB" sz="2000" b="1" dirty="0"/>
              <a:t>properties</a:t>
            </a:r>
            <a:r>
              <a:rPr lang="en-GB" sz="2000" dirty="0"/>
              <a:t>. </a:t>
            </a:r>
            <a:r>
              <a:rPr lang="en-GB" sz="2000" b="1" dirty="0"/>
              <a:t>Copper</a:t>
            </a:r>
            <a:r>
              <a:rPr lang="en-GB" sz="2000" dirty="0"/>
              <a:t> has </a:t>
            </a:r>
            <a:r>
              <a:rPr lang="en-GB" sz="2000" b="1" dirty="0"/>
              <a:t>properties</a:t>
            </a:r>
            <a:r>
              <a:rPr lang="en-GB" sz="2000" dirty="0"/>
              <a:t> that make it useful for </a:t>
            </a:r>
            <a:r>
              <a:rPr lang="en-GB" sz="2000" b="1" dirty="0"/>
              <a:t>electrical wiring </a:t>
            </a:r>
            <a:r>
              <a:rPr lang="en-GB" sz="2000" dirty="0"/>
              <a:t>and </a:t>
            </a:r>
            <a:r>
              <a:rPr lang="en-GB" sz="2000" b="1" dirty="0"/>
              <a:t>plumbing</a:t>
            </a:r>
            <a:r>
              <a:rPr lang="en-GB" sz="2000" dirty="0"/>
              <a:t>. Not very reactive, </a:t>
            </a:r>
            <a:r>
              <a:rPr lang="en-GB" sz="2000" b="1" dirty="0"/>
              <a:t>excellent conductor of electricity</a:t>
            </a:r>
            <a:r>
              <a:rPr lang="en-GB" sz="2000" dirty="0"/>
              <a:t>, easily </a:t>
            </a:r>
            <a:r>
              <a:rPr lang="en-GB" sz="2000" b="1" dirty="0"/>
              <a:t>bent</a:t>
            </a:r>
            <a:r>
              <a:rPr lang="en-GB" sz="2000" dirty="0"/>
              <a:t> into shape for </a:t>
            </a:r>
            <a:r>
              <a:rPr lang="en-GB" sz="2000" b="1" dirty="0"/>
              <a:t>water pipes </a:t>
            </a:r>
            <a:r>
              <a:rPr lang="en-GB" sz="2000" dirty="0"/>
              <a:t>in plumbing. </a:t>
            </a:r>
          </a:p>
          <a:p>
            <a:pPr algn="ctr"/>
            <a:endParaRPr lang="en-GB" sz="2000" dirty="0"/>
          </a:p>
          <a:p>
            <a:pPr algn="ctr"/>
            <a:r>
              <a:rPr lang="en-GB" sz="2000" dirty="0"/>
              <a:t>They can also be useful as </a:t>
            </a:r>
            <a:r>
              <a:rPr lang="en-GB" sz="2000" b="1" dirty="0"/>
              <a:t>catalysts</a:t>
            </a:r>
            <a:r>
              <a:rPr lang="en-GB" sz="2000" dirty="0"/>
              <a:t>. </a:t>
            </a:r>
            <a:r>
              <a:rPr lang="en-GB" sz="2000" dirty="0" smtClean="0"/>
              <a:t>A </a:t>
            </a:r>
            <a:r>
              <a:rPr lang="en-GB" sz="2000" dirty="0"/>
              <a:t>catalyst is a substance that </a:t>
            </a:r>
            <a:r>
              <a:rPr lang="en-GB" sz="2000" b="1" dirty="0"/>
              <a:t>speeds up </a:t>
            </a:r>
            <a:r>
              <a:rPr lang="en-GB" sz="2000" dirty="0"/>
              <a:t>a </a:t>
            </a:r>
            <a:r>
              <a:rPr lang="en-GB" sz="2000" b="1" dirty="0"/>
              <a:t>chemical reaction </a:t>
            </a:r>
            <a:r>
              <a:rPr lang="en-GB" sz="2000" dirty="0"/>
              <a:t>without being used up. </a:t>
            </a:r>
            <a:r>
              <a:rPr lang="en-GB" altLang="en-US" sz="2000" dirty="0">
                <a:latin typeface="+mj-lt"/>
              </a:rPr>
              <a:t>Catalysts are hugely valuable in industry where they can </a:t>
            </a:r>
            <a:r>
              <a:rPr lang="en-GB" altLang="en-US" sz="2000" b="1" dirty="0">
                <a:latin typeface="+mj-lt"/>
              </a:rPr>
              <a:t>save time </a:t>
            </a:r>
            <a:r>
              <a:rPr lang="en-GB" altLang="en-US" sz="2000" dirty="0">
                <a:latin typeface="+mj-lt"/>
              </a:rPr>
              <a:t>and </a:t>
            </a:r>
            <a:r>
              <a:rPr lang="en-GB" altLang="en-US" sz="2000" b="1" dirty="0">
                <a:latin typeface="+mj-lt"/>
              </a:rPr>
              <a:t>energy</a:t>
            </a:r>
            <a:r>
              <a:rPr lang="en-GB" altLang="en-US" sz="2000" dirty="0">
                <a:latin typeface="+mj-lt"/>
              </a:rPr>
              <a:t>.</a:t>
            </a:r>
            <a:endParaRPr lang="en-GB" sz="2000" dirty="0">
              <a:latin typeface="+mj-lt"/>
            </a:endParaRPr>
          </a:p>
        </p:txBody>
      </p:sp>
      <p:sp>
        <p:nvSpPr>
          <p:cNvPr id="4" name="TextBox 3">
            <a:extLst>
              <a:ext uri="{FF2B5EF4-FFF2-40B4-BE49-F238E27FC236}">
                <a16:creationId xmlns:a16="http://schemas.microsoft.com/office/drawing/2014/main" xmlns="" id="{B4A55578-3A9D-4B52-812D-7F2703588736}"/>
              </a:ext>
            </a:extLst>
          </p:cNvPr>
          <p:cNvSpPr txBox="1"/>
          <p:nvPr/>
        </p:nvSpPr>
        <p:spPr>
          <a:xfrm>
            <a:off x="539552" y="3789040"/>
            <a:ext cx="3384376" cy="1015663"/>
          </a:xfrm>
          <a:prstGeom prst="rect">
            <a:avLst/>
          </a:prstGeom>
          <a:noFill/>
        </p:spPr>
        <p:txBody>
          <a:bodyPr wrap="square" rtlCol="0">
            <a:spAutoFit/>
          </a:bodyPr>
          <a:lstStyle/>
          <a:p>
            <a:pPr algn="ctr"/>
            <a:r>
              <a:rPr lang="en-GB" sz="2000" b="1" dirty="0">
                <a:solidFill>
                  <a:schemeClr val="accent6">
                    <a:lumMod val="75000"/>
                  </a:schemeClr>
                </a:solidFill>
              </a:rPr>
              <a:t>Nickel</a:t>
            </a:r>
            <a:r>
              <a:rPr lang="en-GB" sz="2000" dirty="0">
                <a:solidFill>
                  <a:schemeClr val="accent6">
                    <a:lumMod val="75000"/>
                  </a:schemeClr>
                </a:solidFill>
              </a:rPr>
              <a:t> is the catalyst used in the hydrogenation of oil to produce </a:t>
            </a:r>
            <a:r>
              <a:rPr lang="en-GB" sz="2000" b="1" dirty="0">
                <a:solidFill>
                  <a:schemeClr val="accent6">
                    <a:lumMod val="75000"/>
                  </a:schemeClr>
                </a:solidFill>
              </a:rPr>
              <a:t>margarine</a:t>
            </a:r>
          </a:p>
        </p:txBody>
      </p:sp>
      <p:sp>
        <p:nvSpPr>
          <p:cNvPr id="5" name="TextBox 4">
            <a:extLst>
              <a:ext uri="{FF2B5EF4-FFF2-40B4-BE49-F238E27FC236}">
                <a16:creationId xmlns:a16="http://schemas.microsoft.com/office/drawing/2014/main" xmlns="" id="{08B41313-0E98-4120-9C74-B5A951C37707}"/>
              </a:ext>
            </a:extLst>
          </p:cNvPr>
          <p:cNvSpPr txBox="1"/>
          <p:nvPr/>
        </p:nvSpPr>
        <p:spPr>
          <a:xfrm>
            <a:off x="5292080" y="3789040"/>
            <a:ext cx="3384376" cy="1015663"/>
          </a:xfrm>
          <a:prstGeom prst="rect">
            <a:avLst/>
          </a:prstGeom>
          <a:noFill/>
        </p:spPr>
        <p:txBody>
          <a:bodyPr wrap="square" rtlCol="0">
            <a:spAutoFit/>
          </a:bodyPr>
          <a:lstStyle/>
          <a:p>
            <a:pPr algn="ctr"/>
            <a:r>
              <a:rPr lang="en-GB" sz="2000" b="1" dirty="0">
                <a:solidFill>
                  <a:schemeClr val="accent6">
                    <a:lumMod val="75000"/>
                  </a:schemeClr>
                </a:solidFill>
              </a:rPr>
              <a:t>Iron</a:t>
            </a:r>
            <a:r>
              <a:rPr lang="en-GB" sz="2000" dirty="0">
                <a:solidFill>
                  <a:schemeClr val="accent6">
                    <a:lumMod val="75000"/>
                  </a:schemeClr>
                </a:solidFill>
              </a:rPr>
              <a:t> is the catalyst used in the Haber process to produce </a:t>
            </a:r>
            <a:r>
              <a:rPr lang="en-GB" sz="2000" b="1" dirty="0">
                <a:solidFill>
                  <a:schemeClr val="accent6">
                    <a:lumMod val="75000"/>
                  </a:schemeClr>
                </a:solidFill>
              </a:rPr>
              <a:t>ammonia</a:t>
            </a:r>
          </a:p>
        </p:txBody>
      </p:sp>
      <p:pic>
        <p:nvPicPr>
          <p:cNvPr id="10244" name="Picture 4" descr="Image result for margarine">
            <a:extLst>
              <a:ext uri="{FF2B5EF4-FFF2-40B4-BE49-F238E27FC236}">
                <a16:creationId xmlns:a16="http://schemas.microsoft.com/office/drawing/2014/main" xmlns="" id="{731EF215-9EA8-40AA-8326-B3172659F9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240" y="4929336"/>
            <a:ext cx="1905000" cy="152400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6" descr="Image result for ammonia">
            <a:extLst>
              <a:ext uri="{FF2B5EF4-FFF2-40B4-BE49-F238E27FC236}">
                <a16:creationId xmlns:a16="http://schemas.microsoft.com/office/drawing/2014/main" xmlns="" id="{1D83DD94-C476-4204-A6E9-A5C29B2C27B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xmlns="" id="{1D3107CB-5B98-4283-BDB7-D33879D4515C}"/>
              </a:ext>
            </a:extLst>
          </p:cNvPr>
          <p:cNvPicPr>
            <a:picLocks noChangeAspect="1"/>
          </p:cNvPicPr>
          <p:nvPr/>
        </p:nvPicPr>
        <p:blipFill>
          <a:blip r:embed="rId4"/>
          <a:stretch>
            <a:fillRect/>
          </a:stretch>
        </p:blipFill>
        <p:spPr>
          <a:xfrm>
            <a:off x="5436096" y="4824561"/>
            <a:ext cx="2800350" cy="1628775"/>
          </a:xfrm>
          <a:prstGeom prst="rect">
            <a:avLst/>
          </a:prstGeom>
        </p:spPr>
      </p:pic>
    </p:spTree>
    <p:extLst>
      <p:ext uri="{BB962C8B-B14F-4D97-AF65-F5344CB8AC3E}">
        <p14:creationId xmlns:p14="http://schemas.microsoft.com/office/powerpoint/2010/main" val="29473392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308872"/>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a:t>
            </a:r>
            <a:r>
              <a:rPr lang="en-US" sz="2400" b="1" dirty="0" smtClean="0">
                <a:solidFill>
                  <a:schemeClr val="bg1">
                    <a:lumMod val="50000"/>
                  </a:schemeClr>
                </a:solidFill>
              </a:rPr>
              <a:t>Metals</a:t>
            </a:r>
            <a:endParaRPr lang="en-US" sz="2400" b="1" dirty="0">
              <a:solidFill>
                <a:schemeClr val="bg1">
                  <a:lumMod val="50000"/>
                </a:schemeClr>
              </a:solidFill>
            </a:endParaRPr>
          </a:p>
          <a:p>
            <a:pPr marL="342900" lvl="1"/>
            <a:r>
              <a:rPr lang="en-US" sz="2400" b="1" dirty="0">
                <a:solidFill>
                  <a:schemeClr val="bg1">
                    <a:lumMod val="50000"/>
                  </a:schemeClr>
                </a:solidFill>
              </a:rPr>
              <a:t>     (chemistry only)</a:t>
            </a:r>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5344792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AutoNum type="arabicPeriod"/>
            </a:pPr>
            <a:r>
              <a:rPr lang="en-GB" sz="2400" dirty="0" smtClean="0"/>
              <a:t>Where are transition metals found on th</a:t>
            </a:r>
            <a:r>
              <a:rPr lang="en-GB" sz="2400" dirty="0" smtClean="0"/>
              <a:t>e periodic table?</a:t>
            </a:r>
          </a:p>
          <a:p>
            <a:pPr marL="457200" indent="-457200">
              <a:buAutoNum type="arabicPeriod"/>
            </a:pPr>
            <a:endParaRPr lang="en-GB" sz="2400" dirty="0" smtClean="0"/>
          </a:p>
          <a:p>
            <a:pPr marL="457200" indent="-457200">
              <a:buAutoNum type="arabicPeriod"/>
            </a:pPr>
            <a:r>
              <a:rPr lang="en-GB" sz="2400" dirty="0" smtClean="0"/>
              <a:t>How do the melting points of transition metals compare to Group 1 metals?</a:t>
            </a:r>
          </a:p>
          <a:p>
            <a:pPr marL="457200" indent="-457200">
              <a:buAutoNum type="arabicPeriod"/>
            </a:pPr>
            <a:endParaRPr lang="en-GB" sz="2400" dirty="0" smtClean="0"/>
          </a:p>
          <a:p>
            <a:pPr marL="457200" indent="-457200">
              <a:buFontTx/>
              <a:buAutoNum type="arabicPeriod"/>
            </a:pPr>
            <a:r>
              <a:rPr lang="en-GB" sz="2400" dirty="0"/>
              <a:t>How do the </a:t>
            </a:r>
            <a:r>
              <a:rPr lang="en-GB" sz="2400" dirty="0" smtClean="0"/>
              <a:t>densities of </a:t>
            </a:r>
            <a:r>
              <a:rPr lang="en-GB" sz="2400" dirty="0"/>
              <a:t>transition metals compare to Group 1 metals</a:t>
            </a:r>
            <a:r>
              <a:rPr lang="en-GB" sz="2400" dirty="0" smtClean="0"/>
              <a:t>?</a:t>
            </a:r>
          </a:p>
          <a:p>
            <a:pPr marL="457200" indent="-457200">
              <a:buFontTx/>
              <a:buAutoNum type="arabicPeriod"/>
            </a:pPr>
            <a:endParaRPr lang="en-GB" sz="2400" dirty="0"/>
          </a:p>
          <a:p>
            <a:pPr marL="457200" indent="-457200">
              <a:buFontTx/>
              <a:buAutoNum type="arabicPeriod"/>
            </a:pPr>
            <a:r>
              <a:rPr lang="en-GB" sz="2400" dirty="0"/>
              <a:t>How </a:t>
            </a:r>
            <a:r>
              <a:rPr lang="en-GB" sz="2400" dirty="0" smtClean="0"/>
              <a:t>does </a:t>
            </a:r>
            <a:r>
              <a:rPr lang="en-GB" sz="2400" dirty="0"/>
              <a:t>the </a:t>
            </a:r>
            <a:r>
              <a:rPr lang="en-GB" sz="2400" dirty="0" smtClean="0"/>
              <a:t>strength of </a:t>
            </a:r>
            <a:r>
              <a:rPr lang="en-GB" sz="2400" dirty="0"/>
              <a:t>transition metals compare to Group 1 metals</a:t>
            </a:r>
            <a:r>
              <a:rPr lang="en-GB" sz="2400" dirty="0" smtClean="0"/>
              <a:t>?</a:t>
            </a:r>
          </a:p>
          <a:p>
            <a:pPr marL="457200" indent="-457200">
              <a:buFontTx/>
              <a:buAutoNum type="arabicPeriod"/>
            </a:pPr>
            <a:endParaRPr lang="en-GB" sz="2400" dirty="0" smtClean="0"/>
          </a:p>
        </p:txBody>
      </p:sp>
    </p:spTree>
    <p:extLst>
      <p:ext uri="{BB962C8B-B14F-4D97-AF65-F5344CB8AC3E}">
        <p14:creationId xmlns:p14="http://schemas.microsoft.com/office/powerpoint/2010/main" val="37238002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046988"/>
          </a:xfrm>
          <a:prstGeom prst="rect">
            <a:avLst/>
          </a:prstGeom>
          <a:noFill/>
        </p:spPr>
        <p:txBody>
          <a:bodyPr wrap="square" rtlCol="0">
            <a:spAutoFit/>
          </a:bodyPr>
          <a:lstStyle/>
          <a:p>
            <a:pPr marL="457200" indent="-457200">
              <a:buFont typeface="+mj-lt"/>
              <a:buAutoNum type="arabicPeriod" startAt="5"/>
            </a:pPr>
            <a:r>
              <a:rPr lang="en-GB" sz="2400" dirty="0" smtClean="0"/>
              <a:t>Describe the differences between the reactions of the alkali metals and the reactions of transition metals.</a:t>
            </a:r>
          </a:p>
          <a:p>
            <a:pPr marL="457200" indent="-457200">
              <a:buFont typeface="+mj-lt"/>
              <a:buAutoNum type="arabicPeriod" startAt="5"/>
            </a:pPr>
            <a:endParaRPr lang="en-GB" sz="2400" dirty="0" smtClean="0"/>
          </a:p>
          <a:p>
            <a:pPr marL="457200" indent="-457200">
              <a:buFontTx/>
              <a:buAutoNum type="arabicPeriod" startAt="5"/>
            </a:pPr>
            <a:r>
              <a:rPr lang="en-GB" sz="2400" dirty="0" smtClean="0"/>
              <a:t>State two typical properties of transition metals.</a:t>
            </a:r>
          </a:p>
          <a:p>
            <a:pPr marL="457200" indent="-457200">
              <a:buFontTx/>
              <a:buAutoNum type="arabicPeriod" startAt="5"/>
            </a:pPr>
            <a:endParaRPr lang="en-GB" sz="2400" dirty="0" smtClean="0"/>
          </a:p>
          <a:p>
            <a:pPr marL="457200" indent="-457200">
              <a:buFontTx/>
              <a:buAutoNum type="arabicPeriod" startAt="5"/>
            </a:pPr>
            <a:r>
              <a:rPr lang="en-GB" sz="2400" dirty="0" smtClean="0"/>
              <a:t>State one use of transition metals.</a:t>
            </a:r>
          </a:p>
          <a:p>
            <a:pPr marL="457200" indent="-457200">
              <a:buFontTx/>
              <a:buAutoNum type="arabicPeriod" startAt="5"/>
            </a:pPr>
            <a:endParaRPr lang="en-GB" sz="2400" dirty="0" smtClean="0"/>
          </a:p>
          <a:p>
            <a:pPr marL="457200" indent="-457200">
              <a:buFontTx/>
              <a:buAutoNum type="arabicPeriod" startAt="5"/>
            </a:pPr>
            <a:r>
              <a:rPr lang="en-GB" sz="2400" dirty="0" smtClean="0"/>
              <a:t>Explain why copper is used for plumbing.</a:t>
            </a:r>
          </a:p>
        </p:txBody>
      </p:sp>
    </p:spTree>
    <p:extLst>
      <p:ext uri="{BB962C8B-B14F-4D97-AF65-F5344CB8AC3E}">
        <p14:creationId xmlns:p14="http://schemas.microsoft.com/office/powerpoint/2010/main" val="2563651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Periodic table</a:t>
            </a:r>
          </a:p>
          <a:p>
            <a:r>
              <a:rPr lang="en-GB" sz="3600" b="1" dirty="0">
                <a:solidFill>
                  <a:schemeClr val="tx1">
                    <a:lumMod val="50000"/>
                    <a:lumOff val="50000"/>
                  </a:schemeClr>
                </a:solidFill>
              </a:rPr>
              <a:t>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Transition </a:t>
            </a:r>
            <a:r>
              <a:rPr lang="en-US" sz="2400" b="1" dirty="0" smtClean="0">
                <a:solidFill>
                  <a:schemeClr val="bg1">
                    <a:lumMod val="50000"/>
                  </a:schemeClr>
                </a:solidFill>
              </a:rPr>
              <a:t>Metals</a:t>
            </a:r>
            <a:endParaRPr lang="en-US" sz="2400" b="1" dirty="0">
              <a:solidFill>
                <a:schemeClr val="bg1">
                  <a:lumMod val="50000"/>
                </a:schemeClr>
              </a:solidFill>
            </a:endParaRPr>
          </a:p>
          <a:p>
            <a:pPr marL="342900" lvl="1"/>
            <a:r>
              <a:rPr lang="en-US" sz="2400" b="1" dirty="0">
                <a:solidFill>
                  <a:schemeClr val="bg1">
                    <a:lumMod val="50000"/>
                  </a:schemeClr>
                </a:solidFill>
              </a:rPr>
              <a:t>     (chemistry only)</a:t>
            </a:r>
            <a:endParaRPr lang="en-GB"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3630695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AutoNum type="arabicPeriod"/>
            </a:pPr>
            <a:r>
              <a:rPr lang="en-GB" sz="2400" dirty="0" smtClean="0"/>
              <a:t>Where are transition metals found on th</a:t>
            </a:r>
            <a:r>
              <a:rPr lang="en-GB" sz="2400" dirty="0" smtClean="0"/>
              <a:t>e periodic table?</a:t>
            </a:r>
          </a:p>
          <a:p>
            <a:pPr lvl="1"/>
            <a:r>
              <a:rPr lang="en-GB" sz="2400" b="1" dirty="0" smtClean="0">
                <a:solidFill>
                  <a:srgbClr val="00B050"/>
                </a:solidFill>
              </a:rPr>
              <a:t>Between Group 2 and Group 3.</a:t>
            </a:r>
            <a:endParaRPr lang="en-GB" sz="2400" dirty="0" smtClean="0"/>
          </a:p>
          <a:p>
            <a:pPr marL="457200" indent="-457200">
              <a:buAutoNum type="arabicPeriod"/>
            </a:pPr>
            <a:r>
              <a:rPr lang="en-GB" sz="2400" dirty="0" smtClean="0"/>
              <a:t>How do the melting points of transition metals compare to Group 1 metals?</a:t>
            </a:r>
          </a:p>
          <a:p>
            <a:pPr lvl="1"/>
            <a:r>
              <a:rPr lang="en-GB" sz="2400" b="1" dirty="0" smtClean="0">
                <a:solidFill>
                  <a:srgbClr val="00B050"/>
                </a:solidFill>
              </a:rPr>
              <a:t>Transition metals have a higher melting point than alkali metals.</a:t>
            </a:r>
            <a:endParaRPr lang="en-GB" sz="2400" dirty="0" smtClean="0"/>
          </a:p>
          <a:p>
            <a:pPr marL="457200" indent="-457200">
              <a:buFontTx/>
              <a:buAutoNum type="arabicPeriod"/>
            </a:pPr>
            <a:r>
              <a:rPr lang="en-GB" sz="2400" dirty="0"/>
              <a:t>How do the </a:t>
            </a:r>
            <a:r>
              <a:rPr lang="en-GB" sz="2400" dirty="0" smtClean="0"/>
              <a:t>densities of </a:t>
            </a:r>
            <a:r>
              <a:rPr lang="en-GB" sz="2400" dirty="0"/>
              <a:t>transition metals compare to Group 1 metals</a:t>
            </a:r>
            <a:r>
              <a:rPr lang="en-GB" sz="2400" dirty="0" smtClean="0"/>
              <a:t>?</a:t>
            </a:r>
          </a:p>
          <a:p>
            <a:pPr lvl="1"/>
            <a:r>
              <a:rPr lang="en-GB" sz="2400" b="1" dirty="0" smtClean="0">
                <a:solidFill>
                  <a:srgbClr val="00B050"/>
                </a:solidFill>
              </a:rPr>
              <a:t>Transition metals are more dense than alkali metals.</a:t>
            </a:r>
            <a:endParaRPr lang="en-GB" sz="2400" dirty="0"/>
          </a:p>
          <a:p>
            <a:pPr marL="457200" indent="-457200">
              <a:buFontTx/>
              <a:buAutoNum type="arabicPeriod"/>
            </a:pPr>
            <a:r>
              <a:rPr lang="en-GB" sz="2400" dirty="0"/>
              <a:t>How </a:t>
            </a:r>
            <a:r>
              <a:rPr lang="en-GB" sz="2400" dirty="0" smtClean="0"/>
              <a:t>does </a:t>
            </a:r>
            <a:r>
              <a:rPr lang="en-GB" sz="2400" dirty="0"/>
              <a:t>the </a:t>
            </a:r>
            <a:r>
              <a:rPr lang="en-GB" sz="2400" dirty="0" smtClean="0"/>
              <a:t>strength of </a:t>
            </a:r>
            <a:r>
              <a:rPr lang="en-GB" sz="2400" dirty="0"/>
              <a:t>transition metals compare to Group 1 metals</a:t>
            </a:r>
            <a:r>
              <a:rPr lang="en-GB" sz="2400" dirty="0" smtClean="0"/>
              <a:t>?</a:t>
            </a:r>
          </a:p>
          <a:p>
            <a:pPr lvl="1"/>
            <a:r>
              <a:rPr lang="en-GB" sz="2400" b="1" dirty="0" smtClean="0">
                <a:solidFill>
                  <a:srgbClr val="00B050"/>
                </a:solidFill>
              </a:rPr>
              <a:t>Transition metals are stronger than alkali metals.</a:t>
            </a:r>
            <a:endParaRPr lang="en-GB" sz="2400" dirty="0"/>
          </a:p>
          <a:p>
            <a:pPr lvl="1"/>
            <a:endParaRPr lang="en-GB" sz="2400" dirty="0" smtClean="0"/>
          </a:p>
        </p:txBody>
      </p:sp>
    </p:spTree>
    <p:extLst>
      <p:ext uri="{BB962C8B-B14F-4D97-AF65-F5344CB8AC3E}">
        <p14:creationId xmlns:p14="http://schemas.microsoft.com/office/powerpoint/2010/main" val="3588578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startAt="5"/>
            </a:pPr>
            <a:r>
              <a:rPr lang="en-GB" sz="2400" dirty="0" smtClean="0"/>
              <a:t>Describe the differences between the reactions of the alkali metals and the reactions of transition metals.</a:t>
            </a:r>
          </a:p>
          <a:p>
            <a:pPr lvl="1"/>
            <a:r>
              <a:rPr lang="en-GB" sz="2400" b="1" dirty="0" smtClean="0">
                <a:solidFill>
                  <a:srgbClr val="00B050"/>
                </a:solidFill>
              </a:rPr>
              <a:t>Alkali </a:t>
            </a:r>
            <a:r>
              <a:rPr lang="en-GB" sz="2400" b="1" dirty="0">
                <a:solidFill>
                  <a:srgbClr val="00B050"/>
                </a:solidFill>
              </a:rPr>
              <a:t>metals react vigorously with water and with oxygen from    </a:t>
            </a:r>
          </a:p>
          <a:p>
            <a:r>
              <a:rPr lang="en-GB" sz="2400" b="1" dirty="0">
                <a:solidFill>
                  <a:srgbClr val="00B050"/>
                </a:solidFill>
              </a:rPr>
              <a:t>      the air. The transition elements react slowly with these reagents    </a:t>
            </a:r>
          </a:p>
          <a:p>
            <a:r>
              <a:rPr lang="en-GB" sz="2400" b="1" dirty="0">
                <a:solidFill>
                  <a:srgbClr val="00B050"/>
                </a:solidFill>
              </a:rPr>
              <a:t>      if at all.</a:t>
            </a:r>
          </a:p>
          <a:p>
            <a:pPr marL="457200" indent="-457200">
              <a:buFont typeface="+mj-lt"/>
              <a:buAutoNum type="arabicPeriod" startAt="6"/>
            </a:pPr>
            <a:r>
              <a:rPr lang="en-GB" sz="2400" dirty="0" smtClean="0"/>
              <a:t>State two typical properties of transition metals.</a:t>
            </a:r>
          </a:p>
          <a:p>
            <a:pPr lvl="1"/>
            <a:r>
              <a:rPr lang="en-GB" sz="2400" b="1" dirty="0" smtClean="0">
                <a:solidFill>
                  <a:srgbClr val="00B050"/>
                </a:solidFill>
              </a:rPr>
              <a:t>Have ions with different charges; form coloured compounds.</a:t>
            </a:r>
            <a:endParaRPr lang="en-GB" sz="2400" dirty="0" smtClean="0"/>
          </a:p>
          <a:p>
            <a:pPr marL="457200" indent="-457200">
              <a:buFontTx/>
              <a:buAutoNum type="arabicPeriod" startAt="6"/>
            </a:pPr>
            <a:r>
              <a:rPr lang="en-GB" sz="2400" dirty="0" smtClean="0"/>
              <a:t>State one use of transition metals.</a:t>
            </a:r>
          </a:p>
          <a:p>
            <a:pPr lvl="1"/>
            <a:r>
              <a:rPr lang="en-GB" sz="2400" b="1" dirty="0">
                <a:solidFill>
                  <a:srgbClr val="00B050"/>
                </a:solidFill>
              </a:rPr>
              <a:t>Transition metals can be used as </a:t>
            </a:r>
            <a:r>
              <a:rPr lang="en-GB" sz="2400" b="1" dirty="0" smtClean="0">
                <a:solidFill>
                  <a:srgbClr val="00B050"/>
                </a:solidFill>
              </a:rPr>
              <a:t>catalysts.</a:t>
            </a:r>
            <a:endParaRPr lang="en-GB" sz="2400" dirty="0" smtClean="0"/>
          </a:p>
          <a:p>
            <a:pPr marL="457200" indent="-457200">
              <a:buFontTx/>
              <a:buAutoNum type="arabicPeriod" startAt="6"/>
            </a:pPr>
            <a:r>
              <a:rPr lang="en-GB" sz="2400" dirty="0" smtClean="0"/>
              <a:t>Explain why copper is used for plumbing.</a:t>
            </a:r>
          </a:p>
          <a:p>
            <a:pPr lvl="1"/>
            <a:r>
              <a:rPr lang="en-GB" sz="2400" b="1" dirty="0" smtClean="0">
                <a:solidFill>
                  <a:srgbClr val="00B050"/>
                </a:solidFill>
              </a:rPr>
              <a:t>It </a:t>
            </a:r>
            <a:r>
              <a:rPr lang="en-GB" sz="2400" b="1" dirty="0">
                <a:solidFill>
                  <a:srgbClr val="00B050"/>
                </a:solidFill>
              </a:rPr>
              <a:t>has a high melting point, it conducts heat and is strong and  </a:t>
            </a:r>
          </a:p>
          <a:p>
            <a:r>
              <a:rPr lang="en-GB" sz="2400" b="1" dirty="0">
                <a:solidFill>
                  <a:srgbClr val="00B050"/>
                </a:solidFill>
              </a:rPr>
              <a:t>       malleable. It also does not react with water.</a:t>
            </a:r>
          </a:p>
          <a:p>
            <a:pPr lvl="1"/>
            <a:endParaRPr lang="en-GB" sz="2400" dirty="0" smtClean="0"/>
          </a:p>
        </p:txBody>
      </p:sp>
    </p:spTree>
    <p:extLst>
      <p:ext uri="{BB962C8B-B14F-4D97-AF65-F5344CB8AC3E}">
        <p14:creationId xmlns:p14="http://schemas.microsoft.com/office/powerpoint/2010/main" val="88257930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25842</TotalTime>
  <Words>8680</Words>
  <Application>Microsoft Office PowerPoint</Application>
  <PresentationFormat>On-screen Show (4:3)</PresentationFormat>
  <Paragraphs>1596</Paragraphs>
  <Slides>86</Slides>
  <Notes>49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86</vt:i4>
      </vt:variant>
    </vt:vector>
  </HeadingPairs>
  <TitlesOfParts>
    <vt:vector size="98"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Atomic structure and the periodic table</vt:lpstr>
      <vt:lpstr>PowerPoint Presentation</vt:lpstr>
      <vt:lpstr>Atoms, elements, compounds and mixtures - PART 1</vt:lpstr>
      <vt:lpstr>Atoms, elements, compounds and mixtures - PART 1</vt:lpstr>
      <vt:lpstr>Atoms, elements, compounds and mixtures - PART 1</vt:lpstr>
      <vt:lpstr>Atoms, elements, compounds and mixtures - PART 1</vt:lpstr>
      <vt:lpstr>PowerPoint Presentation</vt:lpstr>
      <vt:lpstr>Atoms, elements, compounds and mixtures PART 1 – QuestionIT</vt:lpstr>
      <vt:lpstr>Atoms, elements, compounds and mixtures PART 1 – QuestionIT</vt:lpstr>
      <vt:lpstr>Atoms, elements, compounds and mixtures PART 1 – QuestionIT</vt:lpstr>
      <vt:lpstr>PowerPoint Presentation</vt:lpstr>
      <vt:lpstr>Atoms, elements, compounds and mixtures PART 1 – QuestionIT</vt:lpstr>
      <vt:lpstr>Atoms, elements, compounds and mixtures PART 1 – QuestionIT</vt:lpstr>
      <vt:lpstr>Atoms, elements, compounds and mixtures PART 1 – QuestionIT</vt:lpstr>
      <vt:lpstr>PowerPoint Presentation</vt:lpstr>
      <vt:lpstr>Atoms, elements, compounds and mixtures - PART 2</vt:lpstr>
      <vt:lpstr>Atoms, elements, compounds and mixtures - PART 2</vt:lpstr>
      <vt:lpstr>Atoms, elements, compounds and mixtures - PART 2</vt:lpstr>
      <vt:lpstr>PowerPoint Presentation</vt:lpstr>
      <vt:lpstr>Atoms, elements, compounds and mixtures PART 2 – QuestionIT</vt:lpstr>
      <vt:lpstr>Atoms, elements, compounds and mixtures PART 2 – QuestionIT</vt:lpstr>
      <vt:lpstr>Atoms, elements, compounds and mixtures PART 2 – QuestionIT</vt:lpstr>
      <vt:lpstr>PowerPoint Presentation</vt:lpstr>
      <vt:lpstr>Atoms, elements, compounds and mixtures PART 2 – QuestionIT</vt:lpstr>
      <vt:lpstr>Atoms, elements, compounds and mixtures PART 2 – QuestionIT</vt:lpstr>
      <vt:lpstr>Atoms, elements, compounds and mixtures PART 2 – QuestionIT</vt:lpstr>
      <vt:lpstr>PowerPoint Presentation</vt:lpstr>
      <vt:lpstr>Atomic model - PART 1</vt:lpstr>
      <vt:lpstr>Atomic model - PART 1</vt:lpstr>
      <vt:lpstr>Atomic model - PART 1</vt:lpstr>
      <vt:lpstr>PowerPoint Presentation</vt:lpstr>
      <vt:lpstr>Atomic model PART 1 – QuestionIT</vt:lpstr>
      <vt:lpstr>PowerPoint Presentation</vt:lpstr>
      <vt:lpstr>Atomic model PART 1 – QuestionIT</vt:lpstr>
      <vt:lpstr>Atomic model PART 1 – QuestionIT</vt:lpstr>
      <vt:lpstr>PowerPoint Presentation</vt:lpstr>
      <vt:lpstr>Atomic model - PART 2</vt:lpstr>
      <vt:lpstr>Atomic model - PART 2</vt:lpstr>
      <vt:lpstr>Atomic model - PART 2</vt:lpstr>
      <vt:lpstr>PowerPoint Presentation</vt:lpstr>
      <vt:lpstr>Atomic model - PART 2</vt:lpstr>
      <vt:lpstr>Atomic model - PART 2</vt:lpstr>
      <vt:lpstr>PowerPoint Presentation</vt:lpstr>
      <vt:lpstr>Atomic model PART 2 – QuestionIT</vt:lpstr>
      <vt:lpstr>Atomic model PART 2 – QuestionIT</vt:lpstr>
      <vt:lpstr>Atomic model PART 2 – QuestionIT</vt:lpstr>
      <vt:lpstr>PowerPoint Presentation</vt:lpstr>
      <vt:lpstr>Atomic model PART 2 – QuestionIT</vt:lpstr>
      <vt:lpstr>Atomic model PART 2 – QuestionIT</vt:lpstr>
      <vt:lpstr>Atomic model PART 2 – QuestionIT</vt:lpstr>
      <vt:lpstr>PowerPoint Presentation</vt:lpstr>
      <vt:lpstr>Periodic table - PART 1</vt:lpstr>
      <vt:lpstr>Periodic table - PART 1</vt:lpstr>
      <vt:lpstr>Periodic table - PART 1</vt:lpstr>
      <vt:lpstr>PowerPoint Presentation</vt:lpstr>
      <vt:lpstr>Periodic table PART 1 – QuestionIT</vt:lpstr>
      <vt:lpstr>Periodic table PART 1 – QuestionIT</vt:lpstr>
      <vt:lpstr>PowerPoint Presentation</vt:lpstr>
      <vt:lpstr>Periodic table PART 1 – QuestionIT</vt:lpstr>
      <vt:lpstr>Periodic table PART 1 – QuestionIT</vt:lpstr>
      <vt:lpstr>Periodic table PART 1 – QuestionIT</vt:lpstr>
      <vt:lpstr>PowerPoint Presentation</vt:lpstr>
      <vt:lpstr>Periodic table - PART 2</vt:lpstr>
      <vt:lpstr>Periodic table - PART 2</vt:lpstr>
      <vt:lpstr>Periodic table - PART 2</vt:lpstr>
      <vt:lpstr>Periodic table - PART 2</vt:lpstr>
      <vt:lpstr>Periodic table - PART 2</vt:lpstr>
      <vt:lpstr>PowerPoint Presentation</vt:lpstr>
      <vt:lpstr>Periodic table PART 2 – QuestionIT</vt:lpstr>
      <vt:lpstr>Periodic table PART 2 – QuestionIT</vt:lpstr>
      <vt:lpstr>Periodic table PART 2 – QuestionIT</vt:lpstr>
      <vt:lpstr>PowerPoint Presentation</vt:lpstr>
      <vt:lpstr>Periodic table PART 2 – QuestionIT</vt:lpstr>
      <vt:lpstr>Periodic table PART 2 – QuestionIT</vt:lpstr>
      <vt:lpstr>Periodic table PART 2 – QuestionIT</vt:lpstr>
      <vt:lpstr>PowerPoint Presentation</vt:lpstr>
      <vt:lpstr>Periodic table - PART 3 Chemistry only</vt:lpstr>
      <vt:lpstr>Periodic table - PART 3 Chemistry only</vt:lpstr>
      <vt:lpstr>Periodic table - PART 3 Chemistry only</vt:lpstr>
      <vt:lpstr>PowerPoint Presentation</vt:lpstr>
      <vt:lpstr>Periodic table PART 3  – QuestionIT</vt:lpstr>
      <vt:lpstr>Periodic table PART 3  – QuestionIT</vt:lpstr>
      <vt:lpstr>PowerPoint Presentation</vt:lpstr>
      <vt:lpstr>Periodic table PART 3  – QuestionIT</vt:lpstr>
      <vt:lpstr>Periodic table PART 3  – QuestionIT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329</cp:revision>
  <dcterms:created xsi:type="dcterms:W3CDTF">2016-03-05T09:38:04Z</dcterms:created>
  <dcterms:modified xsi:type="dcterms:W3CDTF">2017-11-15T14:19:46Z</dcterms:modified>
</cp:coreProperties>
</file>