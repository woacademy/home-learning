
<file path=[Content_Types].xml><?xml version="1.0" encoding="utf-8"?>
<Types xmlns="http://schemas.openxmlformats.org/package/2006/content-types">
  <Default Extension="xml" ContentType="application/xml"/>
  <Default Extension="jpeg" ContentType="image/jpeg"/>
  <Default Extension="jpg" ContentType="image/jpeg"/>
  <Default Extension="tiff" ContentType="image/tiff"/>
  <Default Extension="emf" ContentType="image/x-emf"/>
  <Default Extension="rels" ContentType="application/vnd.openxmlformats-package.relationships+xml"/>
  <Default Extension="gif" ContentType="image/gif"/>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Lst>
  <p:notesMasterIdLst>
    <p:notesMasterId r:id="rId82"/>
  </p:notesMasterIdLst>
  <p:sldIdLst>
    <p:sldId id="256" r:id="rId3"/>
    <p:sldId id="281" r:id="rId4"/>
    <p:sldId id="314" r:id="rId5"/>
    <p:sldId id="282" r:id="rId6"/>
    <p:sldId id="283" r:id="rId7"/>
    <p:sldId id="407" r:id="rId8"/>
    <p:sldId id="406" r:id="rId9"/>
    <p:sldId id="295" r:id="rId10"/>
    <p:sldId id="404" r:id="rId11"/>
    <p:sldId id="342" r:id="rId12"/>
    <p:sldId id="343" r:id="rId13"/>
    <p:sldId id="344" r:id="rId14"/>
    <p:sldId id="315" r:id="rId15"/>
    <p:sldId id="399" r:id="rId16"/>
    <p:sldId id="400" r:id="rId17"/>
    <p:sldId id="401" r:id="rId18"/>
    <p:sldId id="402" r:id="rId19"/>
    <p:sldId id="403" r:id="rId20"/>
    <p:sldId id="330" r:id="rId21"/>
    <p:sldId id="348" r:id="rId22"/>
    <p:sldId id="349" r:id="rId23"/>
    <p:sldId id="350" r:id="rId24"/>
    <p:sldId id="351" r:id="rId25"/>
    <p:sldId id="352" r:id="rId26"/>
    <p:sldId id="313" r:id="rId27"/>
    <p:sldId id="312" r:id="rId28"/>
    <p:sldId id="296" r:id="rId29"/>
    <p:sldId id="285" r:id="rId30"/>
    <p:sldId id="353" r:id="rId31"/>
    <p:sldId id="316" r:id="rId32"/>
    <p:sldId id="395" r:id="rId33"/>
    <p:sldId id="396" r:id="rId34"/>
    <p:sldId id="397" r:id="rId35"/>
    <p:sldId id="398" r:id="rId36"/>
    <p:sldId id="334" r:id="rId37"/>
    <p:sldId id="355" r:id="rId38"/>
    <p:sldId id="356" r:id="rId39"/>
    <p:sldId id="357" r:id="rId40"/>
    <p:sldId id="358" r:id="rId41"/>
    <p:sldId id="317" r:id="rId42"/>
    <p:sldId id="286" r:id="rId43"/>
    <p:sldId id="359" r:id="rId44"/>
    <p:sldId id="300" r:id="rId45"/>
    <p:sldId id="320" r:id="rId46"/>
    <p:sldId id="360" r:id="rId47"/>
    <p:sldId id="361" r:id="rId48"/>
    <p:sldId id="390" r:id="rId49"/>
    <p:sldId id="391" r:id="rId50"/>
    <p:sldId id="392" r:id="rId51"/>
    <p:sldId id="393" r:id="rId52"/>
    <p:sldId id="394" r:id="rId53"/>
    <p:sldId id="335" r:id="rId54"/>
    <p:sldId id="408" r:id="rId55"/>
    <p:sldId id="409" r:id="rId56"/>
    <p:sldId id="410" r:id="rId57"/>
    <p:sldId id="411" r:id="rId58"/>
    <p:sldId id="412" r:id="rId59"/>
    <p:sldId id="371" r:id="rId60"/>
    <p:sldId id="318" r:id="rId61"/>
    <p:sldId id="372" r:id="rId62"/>
    <p:sldId id="413" r:id="rId63"/>
    <p:sldId id="373" r:id="rId64"/>
    <p:sldId id="374" r:id="rId65"/>
    <p:sldId id="414" r:id="rId66"/>
    <p:sldId id="415" r:id="rId67"/>
    <p:sldId id="376" r:id="rId68"/>
    <p:sldId id="375" r:id="rId69"/>
    <p:sldId id="377" r:id="rId70"/>
    <p:sldId id="385" r:id="rId71"/>
    <p:sldId id="386" r:id="rId72"/>
    <p:sldId id="387" r:id="rId73"/>
    <p:sldId id="388" r:id="rId74"/>
    <p:sldId id="389" r:id="rId75"/>
    <p:sldId id="379" r:id="rId76"/>
    <p:sldId id="380" r:id="rId77"/>
    <p:sldId id="381" r:id="rId78"/>
    <p:sldId id="382" r:id="rId79"/>
    <p:sldId id="383" r:id="rId80"/>
    <p:sldId id="384"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extLst/>
  </p:cmAuthor>
  <p:cmAuthor id="2" name="Microsoft Office User" initials="Office [2]" lastIdx="1" clrIdx="1">
    <p:extLst/>
  </p:cmAuthor>
  <p:cmAuthor id="3" name="Microsoft Office User" initials="Office [3]" lastIdx="1" clrIdx="2">
    <p:extLst/>
  </p:cmAuthor>
  <p:cmAuthor id="4" name="Microsoft Office User" initials="Office [4]" lastIdx="1" clrIdx="3">
    <p:extLst/>
  </p:cmAuthor>
  <p:cmAuthor id="5" name="Microsoft Office User" initials="Office [5]" lastIdx="1" clrIdx="4">
    <p:extLst/>
  </p:cmAuthor>
  <p:cmAuthor id="6" name="Microsoft Office User" initials="Office [6]" lastIdx="1" clrIdx="5">
    <p:extLst/>
  </p:cmAuthor>
  <p:cmAuthor id="7" name="Microsoft Office User" initials="Office [7]" lastIdx="1" clrIdx="6">
    <p:extLst/>
  </p:cmAuthor>
  <p:cmAuthor id="8" name="Microsoft Office User" initials="Office [8]" lastIdx="1" clrIdx="7">
    <p:extLst/>
  </p:cmAuthor>
  <p:cmAuthor id="9" name="Microsoft Office User" initials="Office [9]" lastIdx="1" clrIdx="8">
    <p:extLst/>
  </p:cmAuthor>
  <p:cmAuthor id="10" name="Microsoft Office User" initials="Office [10]" lastIdx="1" clrIdx="9">
    <p:extLst/>
  </p:cmAuthor>
  <p:cmAuthor id="11" name="Microsoft Office User" initials="Office [11]" lastIdx="1" clrIdx="10">
    <p:extLst/>
  </p:cmAuthor>
  <p:cmAuthor id="12" name="Microsoft Office User" initials="Office [12]" lastIdx="1" clrIdx="11">
    <p:extLst/>
  </p:cmAuthor>
  <p:cmAuthor id="13" name="Microsoft Office User" initials="Office [13]" lastIdx="1" clrIdx="12">
    <p:extLst/>
  </p:cmAuthor>
  <p:cmAuthor id="14" name="Microsoft Office User" initials="Office [14]" lastIdx="1" clrIdx="13">
    <p:extLst/>
  </p:cmAuthor>
  <p:cmAuthor id="15" name="Microsoft Office User" initials="Office [15]" lastIdx="1" clrIdx="14">
    <p:extLst/>
  </p:cmAuthor>
  <p:cmAuthor id="16" name="Microsoft Office User" initials="Office [16]" lastIdx="1" clrIdx="15">
    <p:extLst/>
  </p:cmAuthor>
  <p:cmAuthor id="17" name="Microsoft Office User" initials="Office [17]" lastIdx="1" clrIdx="16">
    <p:extLst/>
  </p:cmAuthor>
  <p:cmAuthor id="18" name="Microsoft Office User" initials="Office [18]" lastIdx="1" clrIdx="17">
    <p:extLst/>
  </p:cmAuthor>
  <p:cmAuthor id="19" name="Microsoft Office User" initials="Office [19]" lastIdx="1" clrIdx="18">
    <p:extLst/>
  </p:cmAuthor>
  <p:cmAuthor id="20" name="Microsoft Office User" initials="Office [20]" lastIdx="1" clrIdx="19">
    <p:extLst/>
  </p:cmAuthor>
  <p:cmAuthor id="21" name="Microsoft Office User" initials="Office [21]" lastIdx="1" clrIdx="20">
    <p:extLst/>
  </p:cmAuthor>
  <p:cmAuthor id="22" name="Microsoft Office User" initials="Office [22]" lastIdx="1" clrIdx="21">
    <p:extLst/>
  </p:cmAuthor>
  <p:cmAuthor id="23" name="Microsoft Office User" initials="Office [23]" lastIdx="1" clrIdx="22">
    <p:extLst/>
  </p:cmAuthor>
  <p:cmAuthor id="24" name="Microsoft Office User" initials="Office [24]" lastIdx="1" clrIdx="23">
    <p:extLst/>
  </p:cmAuthor>
  <p:cmAuthor id="25" name="Microsoft Office User" initials="Office [25]" lastIdx="1" clrIdx="24">
    <p:extLst/>
  </p:cmAuthor>
  <p:cmAuthor id="26" name="Microsoft Office User" initials="Office [26]" lastIdx="1" clrIdx="25">
    <p:extLst/>
  </p:cmAuthor>
  <p:cmAuthor id="27" name="Microsoft Office User" initials="Office [27]" lastIdx="1" clrIdx="26">
    <p:extLst/>
  </p:cmAuthor>
  <p:cmAuthor id="28" name="Microsoft Office User" initials="Office [28]" lastIdx="1" clrIdx="27">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493" autoAdjust="0"/>
    <p:restoredTop sz="83666" autoAdjust="0"/>
  </p:normalViewPr>
  <p:slideViewPr>
    <p:cSldViewPr>
      <p:cViewPr varScale="1">
        <p:scale>
          <a:sx n="77" d="100"/>
          <a:sy n="77" d="100"/>
        </p:scale>
        <p:origin x="1472"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notesMaster" Target="notesMasters/notesMaster1.xml"/><Relationship Id="rId83" Type="http://schemas.openxmlformats.org/officeDocument/2006/relationships/commentAuthors" Target="commentAuthors.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 Id="rId8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12/5/17</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1631337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6605410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dirty="0"/>
          </a:p>
        </p:txBody>
      </p:sp>
    </p:spTree>
    <p:extLst>
      <p:ext uri="{BB962C8B-B14F-4D97-AF65-F5344CB8AC3E}">
        <p14:creationId xmlns:p14="http://schemas.microsoft.com/office/powerpoint/2010/main" val="20106087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dirty="0"/>
          </a:p>
        </p:txBody>
      </p:sp>
    </p:spTree>
    <p:extLst>
      <p:ext uri="{BB962C8B-B14F-4D97-AF65-F5344CB8AC3E}">
        <p14:creationId xmlns:p14="http://schemas.microsoft.com/office/powerpoint/2010/main" val="7705998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dirty="0"/>
          </a:p>
        </p:txBody>
      </p:sp>
    </p:spTree>
    <p:extLst>
      <p:ext uri="{BB962C8B-B14F-4D97-AF65-F5344CB8AC3E}">
        <p14:creationId xmlns:p14="http://schemas.microsoft.com/office/powerpoint/2010/main" val="891235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11</a:t>
            </a:fld>
            <a:endParaRPr lang="en-US" dirty="0"/>
          </a:p>
        </p:txBody>
      </p:sp>
    </p:spTree>
    <p:extLst>
      <p:ext uri="{BB962C8B-B14F-4D97-AF65-F5344CB8AC3E}">
        <p14:creationId xmlns:p14="http://schemas.microsoft.com/office/powerpoint/2010/main" val="1174064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8955824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dirty="0"/>
          </a:p>
        </p:txBody>
      </p:sp>
    </p:spTree>
    <p:extLst>
      <p:ext uri="{BB962C8B-B14F-4D97-AF65-F5344CB8AC3E}">
        <p14:creationId xmlns:p14="http://schemas.microsoft.com/office/powerpoint/2010/main" val="1435805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dirty="0"/>
          </a:p>
        </p:txBody>
      </p:sp>
    </p:spTree>
    <p:extLst>
      <p:ext uri="{BB962C8B-B14F-4D97-AF65-F5344CB8AC3E}">
        <p14:creationId xmlns:p14="http://schemas.microsoft.com/office/powerpoint/2010/main" val="1216111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dirty="0"/>
          </a:p>
        </p:txBody>
      </p:sp>
    </p:spTree>
    <p:extLst>
      <p:ext uri="{BB962C8B-B14F-4D97-AF65-F5344CB8AC3E}">
        <p14:creationId xmlns:p14="http://schemas.microsoft.com/office/powerpoint/2010/main" val="1559025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dirty="0"/>
          </a:p>
        </p:txBody>
      </p:sp>
    </p:spTree>
    <p:extLst>
      <p:ext uri="{BB962C8B-B14F-4D97-AF65-F5344CB8AC3E}">
        <p14:creationId xmlns:p14="http://schemas.microsoft.com/office/powerpoint/2010/main" val="69367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dirty="0"/>
          </a:p>
        </p:txBody>
      </p:sp>
    </p:spTree>
    <p:extLst>
      <p:ext uri="{BB962C8B-B14F-4D97-AF65-F5344CB8AC3E}">
        <p14:creationId xmlns:p14="http://schemas.microsoft.com/office/powerpoint/2010/main" val="3928853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dirty="0"/>
          </a:p>
        </p:txBody>
      </p:sp>
    </p:spTree>
    <p:extLst>
      <p:ext uri="{BB962C8B-B14F-4D97-AF65-F5344CB8AC3E}">
        <p14:creationId xmlns:p14="http://schemas.microsoft.com/office/powerpoint/2010/main" val="11469403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dirty="0"/>
          </a:p>
        </p:txBody>
      </p:sp>
    </p:spTree>
    <p:extLst>
      <p:ext uri="{BB962C8B-B14F-4D97-AF65-F5344CB8AC3E}">
        <p14:creationId xmlns:p14="http://schemas.microsoft.com/office/powerpoint/2010/main" val="966555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dirty="0"/>
          </a:p>
        </p:txBody>
      </p:sp>
    </p:spTree>
    <p:extLst>
      <p:ext uri="{BB962C8B-B14F-4D97-AF65-F5344CB8AC3E}">
        <p14:creationId xmlns:p14="http://schemas.microsoft.com/office/powerpoint/2010/main" val="1638206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dirty="0"/>
          </a:p>
        </p:txBody>
      </p:sp>
    </p:spTree>
    <p:extLst>
      <p:ext uri="{BB962C8B-B14F-4D97-AF65-F5344CB8AC3E}">
        <p14:creationId xmlns:p14="http://schemas.microsoft.com/office/powerpoint/2010/main" val="20246237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dirty="0"/>
          </a:p>
        </p:txBody>
      </p:sp>
    </p:spTree>
    <p:extLst>
      <p:ext uri="{BB962C8B-B14F-4D97-AF65-F5344CB8AC3E}">
        <p14:creationId xmlns:p14="http://schemas.microsoft.com/office/powerpoint/2010/main" val="17273413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7502795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dirty="0"/>
          </a:p>
        </p:txBody>
      </p:sp>
    </p:spTree>
    <p:extLst>
      <p:ext uri="{BB962C8B-B14F-4D97-AF65-F5344CB8AC3E}">
        <p14:creationId xmlns:p14="http://schemas.microsoft.com/office/powerpoint/2010/main" val="895102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1712654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dirty="0"/>
          </a:p>
        </p:txBody>
      </p:sp>
    </p:spTree>
    <p:extLst>
      <p:ext uri="{BB962C8B-B14F-4D97-AF65-F5344CB8AC3E}">
        <p14:creationId xmlns:p14="http://schemas.microsoft.com/office/powerpoint/2010/main" val="17779672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13228200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9404634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dirty="0"/>
          </a:p>
        </p:txBody>
      </p:sp>
    </p:spTree>
    <p:extLst>
      <p:ext uri="{BB962C8B-B14F-4D97-AF65-F5344CB8AC3E}">
        <p14:creationId xmlns:p14="http://schemas.microsoft.com/office/powerpoint/2010/main" val="4135722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dirty="0"/>
          </a:p>
        </p:txBody>
      </p:sp>
    </p:spTree>
    <p:extLst>
      <p:ext uri="{BB962C8B-B14F-4D97-AF65-F5344CB8AC3E}">
        <p14:creationId xmlns:p14="http://schemas.microsoft.com/office/powerpoint/2010/main" val="12390468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dirty="0"/>
          </a:p>
        </p:txBody>
      </p:sp>
    </p:spTree>
    <p:extLst>
      <p:ext uri="{BB962C8B-B14F-4D97-AF65-F5344CB8AC3E}">
        <p14:creationId xmlns:p14="http://schemas.microsoft.com/office/powerpoint/2010/main" val="15203380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dirty="0"/>
          </a:p>
        </p:txBody>
      </p:sp>
    </p:spTree>
    <p:extLst>
      <p:ext uri="{BB962C8B-B14F-4D97-AF65-F5344CB8AC3E}">
        <p14:creationId xmlns:p14="http://schemas.microsoft.com/office/powerpoint/2010/main" val="28136971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dirty="0"/>
          </a:p>
        </p:txBody>
      </p:sp>
    </p:spTree>
    <p:extLst>
      <p:ext uri="{BB962C8B-B14F-4D97-AF65-F5344CB8AC3E}">
        <p14:creationId xmlns:p14="http://schemas.microsoft.com/office/powerpoint/2010/main" val="6706969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dirty="0"/>
          </a:p>
        </p:txBody>
      </p:sp>
    </p:spTree>
    <p:extLst>
      <p:ext uri="{BB962C8B-B14F-4D97-AF65-F5344CB8AC3E}">
        <p14:creationId xmlns:p14="http://schemas.microsoft.com/office/powerpoint/2010/main" val="3415106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dirty="0"/>
          </a:p>
        </p:txBody>
      </p:sp>
    </p:spTree>
    <p:extLst>
      <p:ext uri="{BB962C8B-B14F-4D97-AF65-F5344CB8AC3E}">
        <p14:creationId xmlns:p14="http://schemas.microsoft.com/office/powerpoint/2010/main" val="3527903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46</a:t>
            </a:fld>
            <a:endParaRPr lang="en-US" dirty="0"/>
          </a:p>
        </p:txBody>
      </p:sp>
    </p:spTree>
    <p:extLst>
      <p:ext uri="{BB962C8B-B14F-4D97-AF65-F5344CB8AC3E}">
        <p14:creationId xmlns:p14="http://schemas.microsoft.com/office/powerpoint/2010/main" val="31987154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dirty="0"/>
          </a:p>
        </p:txBody>
      </p:sp>
    </p:spTree>
    <p:extLst>
      <p:ext uri="{BB962C8B-B14F-4D97-AF65-F5344CB8AC3E}">
        <p14:creationId xmlns:p14="http://schemas.microsoft.com/office/powerpoint/2010/main" val="3387509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1375527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49</a:t>
            </a:fld>
            <a:endParaRPr lang="en-US" dirty="0"/>
          </a:p>
        </p:txBody>
      </p:sp>
    </p:spTree>
    <p:extLst>
      <p:ext uri="{BB962C8B-B14F-4D97-AF65-F5344CB8AC3E}">
        <p14:creationId xmlns:p14="http://schemas.microsoft.com/office/powerpoint/2010/main" val="14306487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50</a:t>
            </a:fld>
            <a:endParaRPr lang="en-US" dirty="0"/>
          </a:p>
        </p:txBody>
      </p:sp>
    </p:spTree>
    <p:extLst>
      <p:ext uri="{BB962C8B-B14F-4D97-AF65-F5344CB8AC3E}">
        <p14:creationId xmlns:p14="http://schemas.microsoft.com/office/powerpoint/2010/main" val="20371957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51</a:t>
            </a:fld>
            <a:endParaRPr lang="en-US" dirty="0"/>
          </a:p>
        </p:txBody>
      </p:sp>
    </p:spTree>
    <p:extLst>
      <p:ext uri="{BB962C8B-B14F-4D97-AF65-F5344CB8AC3E}">
        <p14:creationId xmlns:p14="http://schemas.microsoft.com/office/powerpoint/2010/main" val="2717975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dirty="0"/>
          </a:p>
        </p:txBody>
      </p:sp>
    </p:spTree>
    <p:extLst>
      <p:ext uri="{BB962C8B-B14F-4D97-AF65-F5344CB8AC3E}">
        <p14:creationId xmlns:p14="http://schemas.microsoft.com/office/powerpoint/2010/main" val="18809822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dirty="0"/>
          </a:p>
        </p:txBody>
      </p:sp>
    </p:spTree>
    <p:extLst>
      <p:ext uri="{BB962C8B-B14F-4D97-AF65-F5344CB8AC3E}">
        <p14:creationId xmlns:p14="http://schemas.microsoft.com/office/powerpoint/2010/main" val="8953150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54</a:t>
            </a:fld>
            <a:endParaRPr lang="en-US" dirty="0"/>
          </a:p>
        </p:txBody>
      </p:sp>
    </p:spTree>
    <p:extLst>
      <p:ext uri="{BB962C8B-B14F-4D97-AF65-F5344CB8AC3E}">
        <p14:creationId xmlns:p14="http://schemas.microsoft.com/office/powerpoint/2010/main" val="13172714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55</a:t>
            </a:fld>
            <a:endParaRPr lang="en-US" dirty="0"/>
          </a:p>
        </p:txBody>
      </p:sp>
    </p:spTree>
    <p:extLst>
      <p:ext uri="{BB962C8B-B14F-4D97-AF65-F5344CB8AC3E}">
        <p14:creationId xmlns:p14="http://schemas.microsoft.com/office/powerpoint/2010/main" val="19792762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56</a:t>
            </a:fld>
            <a:endParaRPr lang="en-US" dirty="0"/>
          </a:p>
        </p:txBody>
      </p:sp>
    </p:spTree>
    <p:extLst>
      <p:ext uri="{BB962C8B-B14F-4D97-AF65-F5344CB8AC3E}">
        <p14:creationId xmlns:p14="http://schemas.microsoft.com/office/powerpoint/2010/main" val="7656128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57</a:t>
            </a:fld>
            <a:endParaRPr lang="en-US" dirty="0"/>
          </a:p>
        </p:txBody>
      </p:sp>
    </p:spTree>
    <p:extLst>
      <p:ext uri="{BB962C8B-B14F-4D97-AF65-F5344CB8AC3E}">
        <p14:creationId xmlns:p14="http://schemas.microsoft.com/office/powerpoint/2010/main" val="10185351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58</a:t>
            </a:fld>
            <a:endParaRPr lang="en-US" dirty="0"/>
          </a:p>
        </p:txBody>
      </p:sp>
    </p:spTree>
    <p:extLst>
      <p:ext uri="{BB962C8B-B14F-4D97-AF65-F5344CB8AC3E}">
        <p14:creationId xmlns:p14="http://schemas.microsoft.com/office/powerpoint/2010/main" val="2036653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59</a:t>
            </a:fld>
            <a:endParaRPr lang="en-US" dirty="0"/>
          </a:p>
        </p:txBody>
      </p:sp>
    </p:spTree>
    <p:extLst>
      <p:ext uri="{BB962C8B-B14F-4D97-AF65-F5344CB8AC3E}">
        <p14:creationId xmlns:p14="http://schemas.microsoft.com/office/powerpoint/2010/main" val="11103832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60</a:t>
            </a:fld>
            <a:endParaRPr lang="en-US" dirty="0"/>
          </a:p>
        </p:txBody>
      </p:sp>
    </p:spTree>
    <p:extLst>
      <p:ext uri="{BB962C8B-B14F-4D97-AF65-F5344CB8AC3E}">
        <p14:creationId xmlns:p14="http://schemas.microsoft.com/office/powerpoint/2010/main" val="8210490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61</a:t>
            </a:fld>
            <a:endParaRPr lang="en-US" dirty="0"/>
          </a:p>
        </p:txBody>
      </p:sp>
    </p:spTree>
    <p:extLst>
      <p:ext uri="{BB962C8B-B14F-4D97-AF65-F5344CB8AC3E}">
        <p14:creationId xmlns:p14="http://schemas.microsoft.com/office/powerpoint/2010/main" val="7597682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62</a:t>
            </a:fld>
            <a:endParaRPr lang="en-US" dirty="0"/>
          </a:p>
        </p:txBody>
      </p:sp>
    </p:spTree>
    <p:extLst>
      <p:ext uri="{BB962C8B-B14F-4D97-AF65-F5344CB8AC3E}">
        <p14:creationId xmlns:p14="http://schemas.microsoft.com/office/powerpoint/2010/main" val="25873844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63</a:t>
            </a:fld>
            <a:endParaRPr lang="en-US" dirty="0"/>
          </a:p>
        </p:txBody>
      </p:sp>
    </p:spTree>
    <p:extLst>
      <p:ext uri="{BB962C8B-B14F-4D97-AF65-F5344CB8AC3E}">
        <p14:creationId xmlns:p14="http://schemas.microsoft.com/office/powerpoint/2010/main" val="31142601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64</a:t>
            </a:fld>
            <a:endParaRPr lang="en-US" dirty="0"/>
          </a:p>
        </p:txBody>
      </p:sp>
    </p:spTree>
    <p:extLst>
      <p:ext uri="{BB962C8B-B14F-4D97-AF65-F5344CB8AC3E}">
        <p14:creationId xmlns:p14="http://schemas.microsoft.com/office/powerpoint/2010/main" val="14767532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65</a:t>
            </a:fld>
            <a:endParaRPr lang="en-US" dirty="0"/>
          </a:p>
        </p:txBody>
      </p:sp>
    </p:spTree>
    <p:extLst>
      <p:ext uri="{BB962C8B-B14F-4D97-AF65-F5344CB8AC3E}">
        <p14:creationId xmlns:p14="http://schemas.microsoft.com/office/powerpoint/2010/main" val="5304435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66</a:t>
            </a:fld>
            <a:endParaRPr lang="en-US" dirty="0"/>
          </a:p>
        </p:txBody>
      </p:sp>
    </p:spTree>
    <p:extLst>
      <p:ext uri="{BB962C8B-B14F-4D97-AF65-F5344CB8AC3E}">
        <p14:creationId xmlns:p14="http://schemas.microsoft.com/office/powerpoint/2010/main" val="191794675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67</a:t>
            </a:fld>
            <a:endParaRPr lang="en-US" dirty="0"/>
          </a:p>
        </p:txBody>
      </p:sp>
    </p:spTree>
    <p:extLst>
      <p:ext uri="{BB962C8B-B14F-4D97-AF65-F5344CB8AC3E}">
        <p14:creationId xmlns:p14="http://schemas.microsoft.com/office/powerpoint/2010/main" val="373972402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68</a:t>
            </a:fld>
            <a:endParaRPr lang="en-US" dirty="0"/>
          </a:p>
        </p:txBody>
      </p:sp>
    </p:spTree>
    <p:extLst>
      <p:ext uri="{BB962C8B-B14F-4D97-AF65-F5344CB8AC3E}">
        <p14:creationId xmlns:p14="http://schemas.microsoft.com/office/powerpoint/2010/main" val="3062387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72</a:t>
            </a:fld>
            <a:endParaRPr lang="en-US" dirty="0"/>
          </a:p>
        </p:txBody>
      </p:sp>
    </p:spTree>
    <p:extLst>
      <p:ext uri="{BB962C8B-B14F-4D97-AF65-F5344CB8AC3E}">
        <p14:creationId xmlns:p14="http://schemas.microsoft.com/office/powerpoint/2010/main" val="12894699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73</a:t>
            </a:fld>
            <a:endParaRPr lang="en-US" dirty="0"/>
          </a:p>
        </p:txBody>
      </p:sp>
    </p:spTree>
    <p:extLst>
      <p:ext uri="{BB962C8B-B14F-4D97-AF65-F5344CB8AC3E}">
        <p14:creationId xmlns:p14="http://schemas.microsoft.com/office/powerpoint/2010/main" val="2182771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74</a:t>
            </a:fld>
            <a:endParaRPr lang="en-US" dirty="0"/>
          </a:p>
        </p:txBody>
      </p:sp>
    </p:spTree>
    <p:extLst>
      <p:ext uri="{BB962C8B-B14F-4D97-AF65-F5344CB8AC3E}">
        <p14:creationId xmlns:p14="http://schemas.microsoft.com/office/powerpoint/2010/main" val="143576808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9D32D9-63A9-423F-8B77-368638260D4D}" type="slidenum">
              <a:rPr lang="en-US" smtClean="0"/>
              <a:t>78</a:t>
            </a:fld>
            <a:endParaRPr lang="en-US" dirty="0"/>
          </a:p>
        </p:txBody>
      </p:sp>
    </p:spTree>
    <p:extLst>
      <p:ext uri="{BB962C8B-B14F-4D97-AF65-F5344CB8AC3E}">
        <p14:creationId xmlns:p14="http://schemas.microsoft.com/office/powerpoint/2010/main" val="8808999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79</a:t>
            </a:fld>
            <a:endParaRPr lang="en-US" dirty="0"/>
          </a:p>
        </p:txBody>
      </p:sp>
    </p:spTree>
    <p:extLst>
      <p:ext uri="{BB962C8B-B14F-4D97-AF65-F5344CB8AC3E}">
        <p14:creationId xmlns:p14="http://schemas.microsoft.com/office/powerpoint/2010/main" val="536252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B595F713-2110-964B-A68E-481EBA276186}" type="datetimeFigureOut">
              <a:rPr lang="en-GB" smtClean="0"/>
              <a:t>05/12/2017</a:t>
            </a:fld>
            <a:endParaRPr lang="en-GB" dirty="0"/>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GB" dirty="0"/>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36414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ext uri="{BB962C8B-B14F-4D97-AF65-F5344CB8AC3E}">
        <p14:creationId xmlns:p14="http://schemas.microsoft.com/office/powerpoint/2010/main" val="175657820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05/12/2017</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6.xml"/><Relationship Id="rId12" Type="http://schemas.openxmlformats.org/officeDocument/2006/relationships/theme" Target="../theme/theme2.xml"/><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 Id="rId9" Type="http://schemas.openxmlformats.org/officeDocument/2006/relationships/slideLayout" Target="../slideLayouts/slideLayout14.xml"/><Relationship Id="rId10"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 id="2147483693" r:id="rId4"/>
    <p:sldLayoutId id="2147483694" r:id="rId5"/>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05/12/2017</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4" Type="http://schemas.openxmlformats.org/officeDocument/2006/relationships/hyperlink" Target="http://www.pixl.org.uk/" TargetMode="External"/><Relationship Id="rId5" Type="http://schemas.openxmlformats.org/officeDocument/2006/relationships/image" Target="../media/image3.jpeg"/><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tif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jp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tiff"/></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jpg"/><Relationship Id="rId5" Type="http://schemas.openxmlformats.org/officeDocument/2006/relationships/image" Target="../media/image16.jpeg"/><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4" Type="http://schemas.openxmlformats.org/officeDocument/2006/relationships/image" Target="../media/image15.jpg"/><Relationship Id="rId5" Type="http://schemas.openxmlformats.org/officeDocument/2006/relationships/image" Target="../media/image16.jpeg"/><Relationship Id="rId6" Type="http://schemas.openxmlformats.org/officeDocument/2006/relationships/image" Target="../media/image20.gif"/><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7.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tif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3.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8.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tif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4"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4.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3.tif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5.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3" Type="http://schemas.openxmlformats.org/officeDocument/2006/relationships/image" Target="../media/image36.jpeg"/><Relationship Id="rId4"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8.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9.jpg"/></Relationships>
</file>

<file path=ppt/slides/_rels/slide53.xml.rels><?xml version="1.0" encoding="UTF-8" standalone="yes"?>
<Relationships xmlns="http://schemas.openxmlformats.org/package/2006/relationships"><Relationship Id="rId3" Type="http://schemas.openxmlformats.org/officeDocument/2006/relationships/image" Target="../media/image35.gif"/><Relationship Id="rId4" Type="http://schemas.openxmlformats.org/officeDocument/2006/relationships/image" Target="../media/image20.gif"/><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55.xml.rels><?xml version="1.0" encoding="UTF-8" standalone="yes"?>
<Relationships xmlns="http://schemas.openxmlformats.org/package/2006/relationships"><Relationship Id="rId3" Type="http://schemas.openxmlformats.org/officeDocument/2006/relationships/image" Target="../media/image36.jpeg"/><Relationship Id="rId4" Type="http://schemas.openxmlformats.org/officeDocument/2006/relationships/image" Target="../media/image37.png"/><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9.e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8.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5.tif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66.xml.rels><?xml version="1.0" encoding="UTF-8" standalone="yes"?>
<Relationships xmlns="http://schemas.openxmlformats.org/package/2006/relationships"><Relationship Id="rId3" Type="http://schemas.openxmlformats.org/officeDocument/2006/relationships/hyperlink" Target="https://www.edfenergy.com/future-energy/energy-mix" TargetMode="External"/><Relationship Id="rId4" Type="http://schemas.openxmlformats.org/officeDocument/2006/relationships/image" Target="../media/image40.png"/><Relationship Id="rId5" Type="http://schemas.openxmlformats.org/officeDocument/2006/relationships/image" Target="../media/image41.jpg"/><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3.tif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gif"/></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19.jp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gif"/></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3.gif"/></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Physics</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Energy</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987824" y="35655"/>
            <a:ext cx="6156176" cy="1017081"/>
          </a:xfrm>
        </p:spPr>
        <p:txBody>
          <a:bodyPr>
            <a:normAutofit fontScale="90000"/>
          </a:bodyPr>
          <a:lstStyle/>
          <a:p>
            <a:pPr algn="ctr"/>
            <a:r>
              <a:rPr lang="en-GB" b="1" dirty="0">
                <a:solidFill>
                  <a:schemeClr val="accent6"/>
                </a:solidFill>
              </a:rPr>
              <a:t>												Overview </a:t>
            </a:r>
            <a:br>
              <a:rPr lang="en-GB" b="1" dirty="0">
                <a:solidFill>
                  <a:schemeClr val="accent6"/>
                </a:solidFill>
              </a:rPr>
            </a:br>
            <a:r>
              <a:rPr lang="en-GB" b="1" dirty="0">
                <a:solidFill>
                  <a:schemeClr val="accent6"/>
                </a:solidFill>
              </a:rPr>
              <a:t>											Energy </a:t>
            </a:r>
          </a:p>
        </p:txBody>
      </p:sp>
      <p:sp>
        <p:nvSpPr>
          <p:cNvPr id="3" name="Subtitle 2"/>
          <p:cNvSpPr>
            <a:spLocks noGrp="1"/>
          </p:cNvSpPr>
          <p:nvPr>
            <p:ph type="subTitle" idx="1"/>
          </p:nvPr>
        </p:nvSpPr>
        <p:spPr>
          <a:xfrm>
            <a:off x="179512" y="908720"/>
            <a:ext cx="5256584" cy="5472608"/>
          </a:xfrm>
        </p:spPr>
        <p:txBody>
          <a:bodyPr>
            <a:normAutofit/>
          </a:bodyPr>
          <a:lstStyle/>
          <a:p>
            <a:pPr algn="l"/>
            <a:r>
              <a:rPr lang="en-US" b="1" dirty="0">
                <a:solidFill>
                  <a:schemeClr val="tx1"/>
                </a:solidFill>
                <a:latin typeface="+mn-lt"/>
              </a:rPr>
              <a:t>Energy changes and energy stores</a:t>
            </a:r>
          </a:p>
          <a:p>
            <a:pPr marL="685800" lvl="1" indent="-342900" algn="l">
              <a:buFont typeface="Arial" charset="0"/>
              <a:buChar char="•"/>
            </a:pPr>
            <a:r>
              <a:rPr lang="en-US" sz="2000" dirty="0">
                <a:solidFill>
                  <a:schemeClr val="tx1"/>
                </a:solidFill>
              </a:rPr>
              <a:t>Energy stores and systems</a:t>
            </a:r>
          </a:p>
          <a:p>
            <a:pPr marL="685800" lvl="1" indent="-342900" algn="l">
              <a:buFont typeface="Arial" charset="0"/>
              <a:buChar char="•"/>
            </a:pPr>
            <a:r>
              <a:rPr lang="en-US" sz="2000" dirty="0">
                <a:solidFill>
                  <a:schemeClr val="tx1"/>
                </a:solidFill>
              </a:rPr>
              <a:t>Changes in energy</a:t>
            </a:r>
          </a:p>
          <a:p>
            <a:pPr marL="685800" lvl="1" indent="-342900" algn="l">
              <a:buFont typeface="Arial" charset="0"/>
              <a:buChar char="•"/>
            </a:pPr>
            <a:r>
              <a:rPr lang="en-US" sz="2000" dirty="0">
                <a:solidFill>
                  <a:schemeClr val="tx1"/>
                </a:solidFill>
              </a:rPr>
              <a:t>Energy changes in systems</a:t>
            </a:r>
          </a:p>
          <a:p>
            <a:pPr marL="685800" lvl="1" indent="-342900" algn="l">
              <a:buFont typeface="Arial" charset="0"/>
              <a:buChar char="•"/>
            </a:pPr>
            <a:r>
              <a:rPr lang="en-US" sz="2000" dirty="0">
                <a:solidFill>
                  <a:schemeClr val="tx1"/>
                </a:solidFill>
              </a:rPr>
              <a:t>Power</a:t>
            </a:r>
          </a:p>
          <a:p>
            <a:pPr algn="l"/>
            <a:r>
              <a:rPr lang="en-US" b="1" dirty="0">
                <a:solidFill>
                  <a:schemeClr val="tx1"/>
                </a:solidFill>
                <a:latin typeface="+mn-lt"/>
              </a:rPr>
              <a:t>Conservation and dissipation of energy</a:t>
            </a:r>
          </a:p>
          <a:p>
            <a:pPr marL="685800" lvl="1" indent="-342900" algn="l">
              <a:buFont typeface="Arial" charset="0"/>
              <a:buChar char="•"/>
            </a:pPr>
            <a:r>
              <a:rPr lang="en-US" sz="2000" dirty="0">
                <a:solidFill>
                  <a:schemeClr val="tx1"/>
                </a:solidFill>
              </a:rPr>
              <a:t>Energy transfers in a system</a:t>
            </a:r>
          </a:p>
          <a:p>
            <a:pPr marL="685800" lvl="1" indent="-342900" algn="l">
              <a:buFont typeface="Arial" charset="0"/>
              <a:buChar char="•"/>
            </a:pPr>
            <a:r>
              <a:rPr lang="en-US" sz="2000" dirty="0">
                <a:solidFill>
                  <a:schemeClr val="tx1"/>
                </a:solidFill>
              </a:rPr>
              <a:t>Efficiency</a:t>
            </a:r>
          </a:p>
          <a:p>
            <a:pPr algn="l"/>
            <a:r>
              <a:rPr lang="en-US" b="1" dirty="0">
                <a:solidFill>
                  <a:schemeClr val="tx1"/>
                </a:solidFill>
                <a:latin typeface="+mn-lt"/>
              </a:rPr>
              <a:t>Energy resources</a:t>
            </a:r>
          </a:p>
          <a:p>
            <a:pPr marL="685800" lvl="1" indent="-342900" algn="l">
              <a:buFont typeface="Arial" charset="0"/>
              <a:buChar char="•"/>
            </a:pPr>
            <a:r>
              <a:rPr lang="en-US" sz="2000" dirty="0">
                <a:solidFill>
                  <a:schemeClr val="tx1"/>
                </a:solidFill>
              </a:rPr>
              <a:t>Renewable and non renewable energy resources</a:t>
            </a:r>
          </a:p>
          <a:p>
            <a:pPr marL="685800" lvl="1" indent="-342900" algn="l">
              <a:buFont typeface="Arial" charset="0"/>
              <a:buChar char="•"/>
            </a:pPr>
            <a:r>
              <a:rPr lang="en-US" sz="2000" dirty="0">
                <a:solidFill>
                  <a:schemeClr val="tx1"/>
                </a:solidFill>
              </a:rPr>
              <a:t>Environmental impact of energy resources</a:t>
            </a:r>
          </a:p>
          <a:p>
            <a:pPr marL="685800" lvl="1" indent="-342900" algn="l">
              <a:buFont typeface="Arial" charset="0"/>
              <a:buChar char="•"/>
            </a:pPr>
            <a:r>
              <a:rPr lang="en-US" sz="2000" dirty="0">
                <a:solidFill>
                  <a:schemeClr val="tx1"/>
                </a:solidFill>
              </a:rPr>
              <a:t>Patterns and trends in the use of energy resources</a:t>
            </a:r>
          </a:p>
          <a:p>
            <a:pPr marL="685800" lvl="1" indent="-342900" algn="l">
              <a:buFont typeface="Arial" charset="0"/>
              <a:buChar char="•"/>
            </a:pPr>
            <a:endParaRPr lang="en-US" sz="1900"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6" name="Picture 5">
            <a:extLst>
              <a:ext uri="{FF2B5EF4-FFF2-40B4-BE49-F238E27FC236}">
                <a16:creationId xmlns:a16="http://schemas.microsoft.com/office/drawing/2014/main" xmlns="" id="{9D1CDD26-07C0-49AD-A3DA-1637D1127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5416" y="1772816"/>
            <a:ext cx="3121152" cy="3744416"/>
          </a:xfrm>
          <a:prstGeom prst="rect">
            <a:avLst/>
          </a:prstGeom>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632311"/>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Energy changes and</a:t>
            </a:r>
          </a:p>
          <a:p>
            <a:r>
              <a:rPr lang="en-GB" sz="3600" b="1" dirty="0">
                <a:solidFill>
                  <a:schemeClr val="tx1">
                    <a:lumMod val="50000"/>
                    <a:lumOff val="50000"/>
                  </a:schemeClr>
                </a:solidFill>
              </a:rPr>
              <a:t>energy stores </a:t>
            </a:r>
          </a:p>
          <a:p>
            <a:r>
              <a:rPr lang="en-GB" sz="3600" b="1" dirty="0">
                <a:solidFill>
                  <a:schemeClr val="tx1">
                    <a:lumMod val="50000"/>
                    <a:lumOff val="50000"/>
                  </a:schemeClr>
                </a:solidFill>
              </a:rPr>
              <a:t>Part 1</a:t>
            </a:r>
          </a:p>
          <a:p>
            <a:pPr marL="457200" indent="-457200">
              <a:lnSpc>
                <a:spcPct val="150000"/>
              </a:lnSpc>
              <a:buFont typeface="Arial" charset="0"/>
              <a:buChar char="•"/>
            </a:pPr>
            <a:r>
              <a:rPr lang="en-GB" sz="2400" b="1" dirty="0">
                <a:solidFill>
                  <a:schemeClr val="tx1">
                    <a:lumMod val="50000"/>
                    <a:lumOff val="50000"/>
                  </a:schemeClr>
                </a:solidFill>
              </a:rPr>
              <a:t>Energy stores and systems</a:t>
            </a:r>
          </a:p>
          <a:p>
            <a:pPr marL="457200" indent="-457200">
              <a:lnSpc>
                <a:spcPct val="150000"/>
              </a:lnSpc>
              <a:buFont typeface="Arial" charset="0"/>
              <a:buChar char="•"/>
            </a:pPr>
            <a:r>
              <a:rPr lang="en-GB" sz="2400" b="1" dirty="0">
                <a:solidFill>
                  <a:schemeClr val="tx1">
                    <a:lumMod val="50000"/>
                    <a:lumOff val="50000"/>
                  </a:schemeClr>
                </a:solidFill>
              </a:rPr>
              <a:t>Changes in energy</a:t>
            </a:r>
          </a:p>
          <a:p>
            <a:endParaRPr lang="en-GB" dirty="0"/>
          </a:p>
        </p:txBody>
      </p:sp>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3059832" y="0"/>
            <a:ext cx="6120680" cy="6525344"/>
          </a:xfrm>
          <a:prstGeom prst="rect">
            <a:avLst/>
          </a:prstGeom>
        </p:spPr>
      </p:pic>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624" y="35655"/>
            <a:ext cx="7956376"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800" b="1" dirty="0">
                <a:solidFill>
                  <a:schemeClr val="accent6"/>
                </a:solidFill>
                <a:latin typeface="+mn-lt"/>
              </a:rPr>
              <a:t>Energy stores and systems</a:t>
            </a:r>
          </a:p>
        </p:txBody>
      </p:sp>
      <p:sp>
        <p:nvSpPr>
          <p:cNvPr id="7" name="TextBox 6"/>
          <p:cNvSpPr txBox="1"/>
          <p:nvPr/>
        </p:nvSpPr>
        <p:spPr>
          <a:xfrm>
            <a:off x="460153" y="734992"/>
            <a:ext cx="8496944" cy="430887"/>
          </a:xfrm>
          <a:prstGeom prst="rect">
            <a:avLst/>
          </a:prstGeom>
          <a:noFill/>
          <a:effectLst/>
        </p:spPr>
        <p:txBody>
          <a:bodyPr wrap="square" rtlCol="0">
            <a:spAutoFit/>
          </a:bodyPr>
          <a:lstStyle/>
          <a:p>
            <a:r>
              <a:rPr lang="en-GB" sz="2200" b="1" dirty="0"/>
              <a:t>An</a:t>
            </a:r>
            <a:r>
              <a:rPr lang="en-GB" sz="2200" b="1" dirty="0">
                <a:solidFill>
                  <a:schemeClr val="accent6">
                    <a:lumMod val="75000"/>
                  </a:schemeClr>
                </a:solidFill>
              </a:rPr>
              <a:t> energy system </a:t>
            </a:r>
            <a:r>
              <a:rPr lang="en-GB" sz="2200" b="1" dirty="0"/>
              <a:t>is a </a:t>
            </a:r>
            <a:r>
              <a:rPr lang="en-GB" sz="2200" b="1" dirty="0">
                <a:solidFill>
                  <a:schemeClr val="accent6">
                    <a:lumMod val="75000"/>
                  </a:schemeClr>
                </a:solidFill>
              </a:rPr>
              <a:t>group of objects </a:t>
            </a:r>
            <a:r>
              <a:rPr lang="en-GB" sz="2200" b="1" dirty="0"/>
              <a:t>that have the ability to do </a:t>
            </a:r>
            <a:r>
              <a:rPr lang="en-GB" sz="2200" b="1" dirty="0">
                <a:solidFill>
                  <a:schemeClr val="accent6">
                    <a:lumMod val="75000"/>
                  </a:schemeClr>
                </a:solidFill>
              </a:rPr>
              <a:t>work. </a:t>
            </a:r>
          </a:p>
        </p:txBody>
      </p:sp>
      <p:sp>
        <p:nvSpPr>
          <p:cNvPr id="8" name="TextBox 7"/>
          <p:cNvSpPr txBox="1"/>
          <p:nvPr/>
        </p:nvSpPr>
        <p:spPr>
          <a:xfrm>
            <a:off x="179512" y="1165879"/>
            <a:ext cx="8496944" cy="707886"/>
          </a:xfrm>
          <a:prstGeom prst="rect">
            <a:avLst/>
          </a:prstGeom>
          <a:noFill/>
          <a:ln>
            <a:noFill/>
          </a:ln>
          <a:effectLst/>
        </p:spPr>
        <p:style>
          <a:lnRef idx="1">
            <a:schemeClr val="accent6"/>
          </a:lnRef>
          <a:fillRef idx="2">
            <a:schemeClr val="accent6"/>
          </a:fillRef>
          <a:effectRef idx="1">
            <a:schemeClr val="accent6"/>
          </a:effectRef>
          <a:fontRef idx="minor">
            <a:schemeClr val="dk1"/>
          </a:fontRef>
        </p:style>
        <p:txBody>
          <a:bodyPr wrap="square" rtlCol="0">
            <a:spAutoFit/>
          </a:bodyPr>
          <a:lstStyle/>
          <a:p>
            <a:pPr algn="ctr"/>
            <a:r>
              <a:rPr lang="en-US" sz="2000" b="1" dirty="0">
                <a:solidFill>
                  <a:schemeClr val="accent6">
                    <a:lumMod val="75000"/>
                  </a:schemeClr>
                </a:solidFill>
              </a:rPr>
              <a:t> </a:t>
            </a:r>
            <a:r>
              <a:rPr lang="en-US" sz="2000" b="1" dirty="0">
                <a:solidFill>
                  <a:schemeClr val="tx1"/>
                </a:solidFill>
              </a:rPr>
              <a:t>Remember: </a:t>
            </a:r>
            <a:r>
              <a:rPr lang="en-US" sz="2000" b="1" dirty="0">
                <a:solidFill>
                  <a:schemeClr val="accent6">
                    <a:lumMod val="75000"/>
                  </a:schemeClr>
                </a:solidFill>
              </a:rPr>
              <a:t>energy can not be created or destroyed </a:t>
            </a:r>
            <a:r>
              <a:rPr lang="en-US" sz="2000" b="1" dirty="0">
                <a:solidFill>
                  <a:schemeClr val="tx1"/>
                </a:solidFill>
              </a:rPr>
              <a:t>so when work is done,</a:t>
            </a:r>
            <a:r>
              <a:rPr lang="en-US" sz="2000" b="1" dirty="0">
                <a:solidFill>
                  <a:schemeClr val="accent6">
                    <a:lumMod val="75000"/>
                  </a:schemeClr>
                </a:solidFill>
              </a:rPr>
              <a:t> </a:t>
            </a:r>
            <a:r>
              <a:rPr lang="en-US" sz="2000" b="1" dirty="0">
                <a:solidFill>
                  <a:schemeClr val="tx1"/>
                </a:solidFill>
              </a:rPr>
              <a:t>energy from one </a:t>
            </a:r>
            <a:r>
              <a:rPr lang="en-US" sz="2000" b="1" dirty="0">
                <a:solidFill>
                  <a:schemeClr val="accent6">
                    <a:lumMod val="75000"/>
                  </a:schemeClr>
                </a:solidFill>
              </a:rPr>
              <a:t>store is </a:t>
            </a:r>
            <a:r>
              <a:rPr lang="en-US" sz="2000" b="1" dirty="0">
                <a:solidFill>
                  <a:schemeClr val="tx1"/>
                </a:solidFill>
              </a:rPr>
              <a:t>carried along a </a:t>
            </a:r>
            <a:r>
              <a:rPr lang="en-US" sz="2000" b="1" dirty="0">
                <a:solidFill>
                  <a:schemeClr val="accent6">
                    <a:lumMod val="75000"/>
                  </a:schemeClr>
                </a:solidFill>
              </a:rPr>
              <a:t>pathway to </a:t>
            </a:r>
            <a:r>
              <a:rPr lang="en-US" sz="2000" b="1" dirty="0">
                <a:solidFill>
                  <a:schemeClr val="tx1"/>
                </a:solidFill>
              </a:rPr>
              <a:t>another energy </a:t>
            </a:r>
            <a:r>
              <a:rPr lang="en-US" sz="2000" b="1" dirty="0">
                <a:solidFill>
                  <a:schemeClr val="accent6">
                    <a:lumMod val="75000"/>
                  </a:schemeClr>
                </a:solidFill>
              </a:rPr>
              <a:t>store.</a:t>
            </a:r>
          </a:p>
        </p:txBody>
      </p:sp>
      <p:sp>
        <p:nvSpPr>
          <p:cNvPr id="13" name="TextBox 12"/>
          <p:cNvSpPr txBox="1"/>
          <p:nvPr/>
        </p:nvSpPr>
        <p:spPr>
          <a:xfrm>
            <a:off x="395536" y="2060848"/>
            <a:ext cx="8280920" cy="4401205"/>
          </a:xfrm>
          <a:prstGeom prst="rect">
            <a:avLst/>
          </a:prstGeom>
          <a:noFill/>
          <a:ln w="25400"/>
          <a:effectLst/>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2000" b="1" dirty="0"/>
              <a:t> Consider the energy flow diagram for an electric shaver.</a:t>
            </a:r>
          </a:p>
          <a:p>
            <a:r>
              <a:rPr lang="en-GB" sz="2000" b="1" dirty="0"/>
              <a:t>			     The battery has a store of </a:t>
            </a:r>
            <a:r>
              <a:rPr lang="en-GB" sz="2000" b="1" dirty="0">
                <a:solidFill>
                  <a:schemeClr val="accent6">
                    <a:lumMod val="75000"/>
                  </a:schemeClr>
                </a:solidFill>
              </a:rPr>
              <a:t>chemical</a:t>
            </a:r>
            <a:r>
              <a:rPr lang="en-GB" sz="2000" b="1" dirty="0"/>
              <a:t> energy.</a:t>
            </a:r>
          </a:p>
          <a:p>
            <a:r>
              <a:rPr lang="en-GB" sz="2000" b="1" dirty="0"/>
              <a:t>			     The current flows through an </a:t>
            </a:r>
            <a:r>
              <a:rPr lang="en-GB" sz="2000" b="1" dirty="0">
                <a:solidFill>
                  <a:schemeClr val="tx2">
                    <a:lumMod val="60000"/>
                    <a:lumOff val="40000"/>
                  </a:schemeClr>
                </a:solidFill>
              </a:rPr>
              <a:t>electrical </a:t>
            </a:r>
            <a:r>
              <a:rPr lang="en-GB" sz="2000" b="1" dirty="0"/>
              <a:t>pathway 			     to the motor.</a:t>
            </a:r>
          </a:p>
          <a:p>
            <a:r>
              <a:rPr lang="en-GB" sz="2000" b="1" dirty="0"/>
              <a:t>			     Energy from the motor follows a </a:t>
            </a:r>
            <a:r>
              <a:rPr lang="en-GB" sz="2000" b="1" dirty="0">
                <a:solidFill>
                  <a:schemeClr val="tx2">
                    <a:lumMod val="60000"/>
                    <a:lumOff val="40000"/>
                  </a:schemeClr>
                </a:solidFill>
              </a:rPr>
              <a:t>mechanical</a:t>
            </a:r>
            <a:r>
              <a:rPr lang="en-GB" sz="2000" b="1" dirty="0"/>
              <a:t> 			     pathway to  a </a:t>
            </a:r>
            <a:r>
              <a:rPr lang="en-GB" sz="2000" b="1" dirty="0">
                <a:solidFill>
                  <a:schemeClr val="accent6">
                    <a:lumMod val="75000"/>
                  </a:schemeClr>
                </a:solidFill>
              </a:rPr>
              <a:t>kinetic</a:t>
            </a:r>
            <a:r>
              <a:rPr lang="en-GB" sz="2000" b="1" dirty="0"/>
              <a:t> store of the moving 			     blades, a </a:t>
            </a:r>
            <a:r>
              <a:rPr lang="en-GB" sz="2000" b="1" dirty="0">
                <a:solidFill>
                  <a:schemeClr val="tx2">
                    <a:lumMod val="60000"/>
                    <a:lumOff val="40000"/>
                  </a:schemeClr>
                </a:solidFill>
              </a:rPr>
              <a:t>heat</a:t>
            </a:r>
            <a:r>
              <a:rPr lang="en-GB" sz="2000" b="1" dirty="0"/>
              <a:t> pathway to a </a:t>
            </a:r>
            <a:r>
              <a:rPr lang="en-GB" sz="2000" b="1" dirty="0">
                <a:solidFill>
                  <a:schemeClr val="accent6">
                    <a:lumMod val="75000"/>
                  </a:schemeClr>
                </a:solidFill>
              </a:rPr>
              <a:t>thermal</a:t>
            </a:r>
            <a:r>
              <a:rPr lang="en-GB" sz="2000" b="1" dirty="0"/>
              <a:t> store and a 			     </a:t>
            </a:r>
            <a:r>
              <a:rPr lang="en-GB" sz="2000" b="1" dirty="0">
                <a:solidFill>
                  <a:schemeClr val="tx2">
                    <a:lumMod val="60000"/>
                    <a:lumOff val="40000"/>
                  </a:schemeClr>
                </a:solidFill>
              </a:rPr>
              <a:t>radiation</a:t>
            </a:r>
            <a:r>
              <a:rPr lang="en-GB" sz="2000" b="1" dirty="0"/>
              <a:t> pathway to a </a:t>
            </a:r>
            <a:r>
              <a:rPr lang="en-GB" sz="2000" b="1" dirty="0">
                <a:solidFill>
                  <a:schemeClr val="accent6">
                    <a:lumMod val="75000"/>
                  </a:schemeClr>
                </a:solidFill>
              </a:rPr>
              <a:t>sound</a:t>
            </a:r>
            <a:r>
              <a:rPr lang="en-GB" sz="2000" b="1" dirty="0"/>
              <a:t> store</a:t>
            </a:r>
            <a:r>
              <a:rPr lang="en-GB" sz="2000" b="1" dirty="0" smtClean="0"/>
              <a:t>.</a:t>
            </a:r>
            <a:endParaRPr lang="en-GB" sz="2000" b="1" dirty="0"/>
          </a:p>
          <a:p>
            <a:r>
              <a:rPr lang="en-GB" sz="2000" b="1" dirty="0"/>
              <a:t>				    	  </a:t>
            </a:r>
            <a:r>
              <a:rPr lang="en-GB" sz="2000" b="1" i="1" dirty="0">
                <a:solidFill>
                  <a:schemeClr val="tx2">
                    <a:lumMod val="60000"/>
                    <a:lumOff val="40000"/>
                  </a:schemeClr>
                </a:solidFill>
              </a:rPr>
              <a:t>mechanical</a:t>
            </a:r>
            <a:r>
              <a:rPr lang="en-GB" sz="2000" b="1" dirty="0"/>
              <a:t>	</a:t>
            </a:r>
            <a:r>
              <a:rPr lang="en-GB" sz="2000" b="1" i="1" dirty="0" smtClean="0">
                <a:solidFill>
                  <a:schemeClr val="accent6">
                    <a:lumMod val="75000"/>
                  </a:schemeClr>
                </a:solidFill>
              </a:rPr>
              <a:t>Kinetic</a:t>
            </a:r>
            <a:endParaRPr lang="en-GB" sz="2000" b="1" i="1" dirty="0">
              <a:solidFill>
                <a:schemeClr val="accent6">
                  <a:lumMod val="75000"/>
                </a:schemeClr>
              </a:solidFill>
            </a:endParaRPr>
          </a:p>
          <a:p>
            <a:r>
              <a:rPr lang="en-GB" sz="2000" b="1" dirty="0"/>
              <a:t>               	           </a:t>
            </a:r>
            <a:r>
              <a:rPr lang="en-GB" sz="2000" b="1" dirty="0">
                <a:solidFill>
                  <a:schemeClr val="tx2">
                    <a:lumMod val="60000"/>
                    <a:lumOff val="40000"/>
                  </a:schemeClr>
                </a:solidFill>
              </a:rPr>
              <a:t>e</a:t>
            </a:r>
            <a:r>
              <a:rPr lang="en-GB" sz="2000" b="1" i="1" dirty="0">
                <a:solidFill>
                  <a:schemeClr val="tx2">
                    <a:lumMod val="60000"/>
                    <a:lumOff val="40000"/>
                  </a:schemeClr>
                </a:solidFill>
              </a:rPr>
              <a:t>lectrical</a:t>
            </a:r>
            <a:r>
              <a:rPr lang="en-GB" sz="2000" b="1" i="1" dirty="0"/>
              <a:t>					     	</a:t>
            </a:r>
          </a:p>
          <a:p>
            <a:r>
              <a:rPr lang="en-GB" sz="2000" b="1" dirty="0">
                <a:solidFill>
                  <a:schemeClr val="accent6">
                    <a:lumMod val="75000"/>
                  </a:schemeClr>
                </a:solidFill>
              </a:rPr>
              <a:t>       Chemical </a:t>
            </a:r>
            <a:r>
              <a:rPr lang="en-GB" sz="2000" b="1" dirty="0"/>
              <a:t>			       </a:t>
            </a:r>
            <a:r>
              <a:rPr lang="en-GB" sz="2000" b="1" i="1" dirty="0"/>
              <a:t>     	       </a:t>
            </a:r>
            <a:r>
              <a:rPr lang="en-GB" sz="2000" b="1" i="1" dirty="0">
                <a:solidFill>
                  <a:schemeClr val="tx2">
                    <a:lumMod val="60000"/>
                    <a:lumOff val="40000"/>
                  </a:schemeClr>
                </a:solidFill>
              </a:rPr>
              <a:t>heat</a:t>
            </a:r>
            <a:r>
              <a:rPr lang="en-GB" sz="2000" b="1" i="1" dirty="0"/>
              <a:t>		</a:t>
            </a:r>
            <a:r>
              <a:rPr lang="en-GB" sz="2000" b="1" i="1" dirty="0">
                <a:solidFill>
                  <a:schemeClr val="accent6">
                    <a:lumMod val="75000"/>
                  </a:schemeClr>
                </a:solidFill>
              </a:rPr>
              <a:t>Thermal</a:t>
            </a:r>
            <a:r>
              <a:rPr lang="en-GB" sz="2000" b="1" dirty="0"/>
              <a:t>	</a:t>
            </a:r>
          </a:p>
          <a:p>
            <a:r>
              <a:rPr lang="en-GB" sz="2000" b="1" dirty="0"/>
              <a:t>					</a:t>
            </a:r>
          </a:p>
          <a:p>
            <a:r>
              <a:rPr lang="en-GB" sz="2000" b="1" dirty="0"/>
              <a:t>				      	  </a:t>
            </a:r>
            <a:r>
              <a:rPr lang="en-GB" sz="2000" b="1" i="1" dirty="0">
                <a:solidFill>
                  <a:schemeClr val="tx2">
                    <a:lumMod val="60000"/>
                    <a:lumOff val="40000"/>
                  </a:schemeClr>
                </a:solidFill>
              </a:rPr>
              <a:t>radiation</a:t>
            </a:r>
            <a:r>
              <a:rPr lang="en-GB" sz="2000" b="1" dirty="0"/>
              <a:t>	</a:t>
            </a:r>
            <a:r>
              <a:rPr lang="en-GB" sz="2000" b="1" dirty="0">
                <a:solidFill>
                  <a:schemeClr val="accent6">
                    <a:lumMod val="75000"/>
                  </a:schemeClr>
                </a:solidFill>
              </a:rPr>
              <a:t>Sound</a:t>
            </a:r>
            <a:r>
              <a:rPr lang="en-GB" sz="2000" b="1" dirty="0"/>
              <a:t>    			      		</a:t>
            </a:r>
          </a:p>
        </p:txBody>
      </p:sp>
      <p:pic>
        <p:nvPicPr>
          <p:cNvPr id="4" name="Picture 3">
            <a:extLst>
              <a:ext uri="{FF2B5EF4-FFF2-40B4-BE49-F238E27FC236}">
                <a16:creationId xmlns:a16="http://schemas.microsoft.com/office/drawing/2014/main" xmlns="" id="{6497DA83-A2D7-421B-A7AF-C87C9CD5C7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654955" y="2564904"/>
            <a:ext cx="2585396" cy="1723597"/>
          </a:xfrm>
          <a:prstGeom prst="rect">
            <a:avLst/>
          </a:prstGeom>
          <a:effectLst/>
        </p:spPr>
      </p:pic>
      <p:cxnSp>
        <p:nvCxnSpPr>
          <p:cNvPr id="15" name="Straight Arrow Connector 14">
            <a:extLst>
              <a:ext uri="{FF2B5EF4-FFF2-40B4-BE49-F238E27FC236}">
                <a16:creationId xmlns:a16="http://schemas.microsoft.com/office/drawing/2014/main" xmlns="" id="{B2D24020-C290-4850-9277-7AC676F3E4DE}"/>
              </a:ext>
            </a:extLst>
          </p:cNvPr>
          <p:cNvCxnSpPr/>
          <p:nvPr/>
        </p:nvCxnSpPr>
        <p:spPr>
          <a:xfrm>
            <a:off x="2023107" y="5301208"/>
            <a:ext cx="1080120" cy="0"/>
          </a:xfrm>
          <a:prstGeom prst="straightConnector1">
            <a:avLst/>
          </a:prstGeom>
          <a:ln w="50800">
            <a:tailEnd type="triangle"/>
          </a:ln>
          <a:effectLst/>
        </p:spPr>
        <p:style>
          <a:lnRef idx="2">
            <a:schemeClr val="accent1"/>
          </a:lnRef>
          <a:fillRef idx="0">
            <a:schemeClr val="accent1"/>
          </a:fillRef>
          <a:effectRef idx="1">
            <a:schemeClr val="accent1"/>
          </a:effectRef>
          <a:fontRef idx="minor">
            <a:schemeClr val="tx1"/>
          </a:fontRef>
        </p:style>
      </p:cxnSp>
      <p:sp>
        <p:nvSpPr>
          <p:cNvPr id="16" name="Oval 15">
            <a:extLst>
              <a:ext uri="{FF2B5EF4-FFF2-40B4-BE49-F238E27FC236}">
                <a16:creationId xmlns:a16="http://schemas.microsoft.com/office/drawing/2014/main" xmlns="" id="{A165E1F1-691A-45AE-B7E7-E0FFAC449447}"/>
              </a:ext>
            </a:extLst>
          </p:cNvPr>
          <p:cNvSpPr/>
          <p:nvPr/>
        </p:nvSpPr>
        <p:spPr>
          <a:xfrm>
            <a:off x="3242251" y="4612776"/>
            <a:ext cx="1760098" cy="1656184"/>
          </a:xfrm>
          <a:prstGeom prst="ellipse">
            <a:avLst/>
          </a:prstGeom>
          <a:no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xmlns="" id="{8E463714-F491-4125-9467-CA7DB730DFC7}"/>
              </a:ext>
            </a:extLst>
          </p:cNvPr>
          <p:cNvSpPr txBox="1"/>
          <p:nvPr/>
        </p:nvSpPr>
        <p:spPr>
          <a:xfrm>
            <a:off x="3474228" y="5062904"/>
            <a:ext cx="1296144" cy="584775"/>
          </a:xfrm>
          <a:prstGeom prst="rect">
            <a:avLst/>
          </a:prstGeom>
          <a:noFill/>
          <a:effectLst/>
        </p:spPr>
        <p:txBody>
          <a:bodyPr wrap="square" rtlCol="0">
            <a:spAutoFit/>
          </a:bodyPr>
          <a:lstStyle/>
          <a:p>
            <a:r>
              <a:rPr lang="en-GB" sz="3200" b="1" dirty="0"/>
              <a:t>Motor</a:t>
            </a:r>
          </a:p>
        </p:txBody>
      </p:sp>
      <p:cxnSp>
        <p:nvCxnSpPr>
          <p:cNvPr id="18" name="Straight Arrow Connector 17">
            <a:extLst>
              <a:ext uri="{FF2B5EF4-FFF2-40B4-BE49-F238E27FC236}">
                <a16:creationId xmlns:a16="http://schemas.microsoft.com/office/drawing/2014/main" xmlns="" id="{13BB736D-A88B-46BC-A07B-88C8D4C4AD30}"/>
              </a:ext>
            </a:extLst>
          </p:cNvPr>
          <p:cNvCxnSpPr>
            <a:cxnSpLocks/>
          </p:cNvCxnSpPr>
          <p:nvPr/>
        </p:nvCxnSpPr>
        <p:spPr>
          <a:xfrm>
            <a:off x="5163353" y="4869160"/>
            <a:ext cx="1314400" cy="0"/>
          </a:xfrm>
          <a:prstGeom prst="straightConnector1">
            <a:avLst/>
          </a:prstGeom>
          <a:ln w="50800">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xmlns="" id="{9704FEDA-5DE9-4670-B589-00FAFF2898F0}"/>
              </a:ext>
            </a:extLst>
          </p:cNvPr>
          <p:cNvCxnSpPr>
            <a:cxnSpLocks/>
          </p:cNvCxnSpPr>
          <p:nvPr/>
        </p:nvCxnSpPr>
        <p:spPr>
          <a:xfrm>
            <a:off x="5163353" y="5445224"/>
            <a:ext cx="1314400" cy="0"/>
          </a:xfrm>
          <a:prstGeom prst="straightConnector1">
            <a:avLst/>
          </a:prstGeom>
          <a:ln w="50800">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xmlns="" id="{E9EE2DB1-90D2-4C1B-88EC-D09B1F6AD4B0}"/>
              </a:ext>
            </a:extLst>
          </p:cNvPr>
          <p:cNvCxnSpPr>
            <a:cxnSpLocks/>
          </p:cNvCxnSpPr>
          <p:nvPr/>
        </p:nvCxnSpPr>
        <p:spPr>
          <a:xfrm>
            <a:off x="5163353" y="6093296"/>
            <a:ext cx="1314400" cy="0"/>
          </a:xfrm>
          <a:prstGeom prst="straightConnector1">
            <a:avLst/>
          </a:prstGeom>
          <a:ln w="50800">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04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xmlns="" id="{F00027F4-6D89-4930-8F8B-33594E97883A}"/>
              </a:ext>
            </a:extLst>
          </p:cNvPr>
          <p:cNvGraphicFramePr>
            <a:graphicFrameLocks noGrp="1"/>
          </p:cNvGraphicFramePr>
          <p:nvPr>
            <p:extLst>
              <p:ext uri="{D42A27DB-BD31-4B8C-83A1-F6EECF244321}">
                <p14:modId xmlns:p14="http://schemas.microsoft.com/office/powerpoint/2010/main" val="1994572114"/>
              </p:ext>
            </p:extLst>
          </p:nvPr>
        </p:nvGraphicFramePr>
        <p:xfrm>
          <a:off x="251520" y="836712"/>
          <a:ext cx="8712968" cy="5491124"/>
        </p:xfrm>
        <a:graphic>
          <a:graphicData uri="http://schemas.openxmlformats.org/drawingml/2006/table">
            <a:tbl>
              <a:tblPr>
                <a:tableStyleId>{5940675A-B579-460E-94D1-54222C63F5DA}</a:tableStyleId>
              </a:tblPr>
              <a:tblGrid>
                <a:gridCol w="2776053">
                  <a:extLst>
                    <a:ext uri="{9D8B030D-6E8A-4147-A177-3AD203B41FA5}">
                      <a16:colId xmlns:a16="http://schemas.microsoft.com/office/drawing/2014/main" xmlns="" val="20000"/>
                    </a:ext>
                  </a:extLst>
                </a:gridCol>
                <a:gridCol w="5936915">
                  <a:extLst>
                    <a:ext uri="{9D8B030D-6E8A-4147-A177-3AD203B41FA5}">
                      <a16:colId xmlns:a16="http://schemas.microsoft.com/office/drawing/2014/main" xmlns="" val="20001"/>
                    </a:ext>
                  </a:extLst>
                </a:gridCol>
              </a:tblGrid>
              <a:tr h="437540">
                <a:tc>
                  <a:txBody>
                    <a:bodyPr/>
                    <a:lstStyle/>
                    <a:p>
                      <a:pPr marL="0" marR="0" algn="ctr">
                        <a:spcBef>
                          <a:spcPts val="0"/>
                        </a:spcBef>
                        <a:spcAft>
                          <a:spcPts val="0"/>
                        </a:spcAft>
                      </a:pPr>
                      <a:r>
                        <a:rPr lang="en-GB" sz="2000" b="1" dirty="0">
                          <a:solidFill>
                            <a:schemeClr val="tx1"/>
                          </a:solidFill>
                          <a:effectLst/>
                          <a:latin typeface="+mn-lt"/>
                        </a:rPr>
                        <a:t>Energy stores</a:t>
                      </a:r>
                    </a:p>
                  </a:txBody>
                  <a:tcPr anchor="ctr">
                    <a:solidFill>
                      <a:schemeClr val="accent6">
                        <a:lumMod val="60000"/>
                        <a:lumOff val="40000"/>
                      </a:schemeClr>
                    </a:solidFill>
                  </a:tcPr>
                </a:tc>
                <a:tc>
                  <a:txBody>
                    <a:bodyPr/>
                    <a:lstStyle/>
                    <a:p>
                      <a:pPr marL="0" marR="0" algn="ctr">
                        <a:spcBef>
                          <a:spcPts val="0"/>
                        </a:spcBef>
                        <a:spcAft>
                          <a:spcPts val="0"/>
                        </a:spcAft>
                      </a:pPr>
                      <a:r>
                        <a:rPr lang="en-GB" sz="2000" b="1" dirty="0">
                          <a:solidFill>
                            <a:schemeClr val="tx1"/>
                          </a:solidFill>
                          <a:effectLst/>
                          <a:latin typeface="+mn-lt"/>
                        </a:rPr>
                        <a:t>Examples</a:t>
                      </a:r>
                    </a:p>
                  </a:txBody>
                  <a:tcPr anchor="ctr">
                    <a:solidFill>
                      <a:schemeClr val="accent6">
                        <a:lumMod val="60000"/>
                        <a:lumOff val="40000"/>
                      </a:schemeClr>
                    </a:solidFill>
                  </a:tcPr>
                </a:tc>
                <a:extLst>
                  <a:ext uri="{0D108BD9-81ED-4DB2-BD59-A6C34878D82A}">
                    <a16:rowId xmlns:a16="http://schemas.microsoft.com/office/drawing/2014/main" xmlns="" val="10000"/>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Chemical</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food, fuel and electric batteries</a:t>
                      </a:r>
                    </a:p>
                  </a:txBody>
                  <a:tcPr anchor="ctr"/>
                </a:tc>
                <a:extLst>
                  <a:ext uri="{0D108BD9-81ED-4DB2-BD59-A6C34878D82A}">
                    <a16:rowId xmlns:a16="http://schemas.microsoft.com/office/drawing/2014/main" xmlns="" val="10001"/>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Kinetic</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moving objects</a:t>
                      </a:r>
                    </a:p>
                  </a:txBody>
                  <a:tcPr anchor="ctr"/>
                </a:tc>
                <a:extLst>
                  <a:ext uri="{0D108BD9-81ED-4DB2-BD59-A6C34878D82A}">
                    <a16:rowId xmlns:a16="http://schemas.microsoft.com/office/drawing/2014/main" xmlns="" val="10002"/>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Gravitational potential</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objects raised above a planets surface</a:t>
                      </a:r>
                    </a:p>
                  </a:txBody>
                  <a:tcPr anchor="ctr"/>
                </a:tc>
                <a:extLst>
                  <a:ext uri="{0D108BD9-81ED-4DB2-BD59-A6C34878D82A}">
                    <a16:rowId xmlns:a16="http://schemas.microsoft.com/office/drawing/2014/main" xmlns="" val="10003"/>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Elastic potential</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a stretched, compressed or twisted object</a:t>
                      </a:r>
                    </a:p>
                  </a:txBody>
                  <a:tcPr anchor="ctr"/>
                </a:tc>
                <a:extLst>
                  <a:ext uri="{0D108BD9-81ED-4DB2-BD59-A6C34878D82A}">
                    <a16:rowId xmlns:a16="http://schemas.microsoft.com/office/drawing/2014/main" xmlns="" val="10004"/>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Internal (thermal)</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any heated object</a:t>
                      </a:r>
                    </a:p>
                  </a:txBody>
                  <a:tcPr anchor="ctr"/>
                </a:tc>
                <a:extLst>
                  <a:ext uri="{0D108BD9-81ED-4DB2-BD59-A6C34878D82A}">
                    <a16:rowId xmlns:a16="http://schemas.microsoft.com/office/drawing/2014/main" xmlns="" val="10005"/>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Magnetic</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any object with a magnetic field</a:t>
                      </a:r>
                    </a:p>
                  </a:txBody>
                  <a:tcPr anchor="ctr"/>
                </a:tc>
                <a:extLst>
                  <a:ext uri="{0D108BD9-81ED-4DB2-BD59-A6C34878D82A}">
                    <a16:rowId xmlns:a16="http://schemas.microsoft.com/office/drawing/2014/main" xmlns="" val="10006"/>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Electrostatic</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In electrostatic forces between charges</a:t>
                      </a:r>
                    </a:p>
                  </a:txBody>
                  <a:tcPr anchor="ctr"/>
                </a:tc>
                <a:extLst>
                  <a:ext uri="{0D108BD9-81ED-4DB2-BD59-A6C34878D82A}">
                    <a16:rowId xmlns:a16="http://schemas.microsoft.com/office/drawing/2014/main" xmlns="" val="10007"/>
                  </a:ext>
                </a:extLst>
              </a:tr>
              <a:tr h="429768">
                <a:tc>
                  <a:txBody>
                    <a:bodyPr/>
                    <a:lstStyle/>
                    <a:p>
                      <a:pPr marL="0" marR="0" algn="ctr">
                        <a:spcBef>
                          <a:spcPts val="0"/>
                        </a:spcBef>
                        <a:spcAft>
                          <a:spcPts val="0"/>
                        </a:spcAft>
                      </a:pPr>
                      <a:r>
                        <a:rPr lang="en-GB" sz="2000" b="1" dirty="0" smtClean="0">
                          <a:solidFill>
                            <a:schemeClr val="accent6">
                              <a:lumMod val="75000"/>
                            </a:schemeClr>
                          </a:solidFill>
                          <a:effectLst/>
                          <a:latin typeface="+mn-lt"/>
                        </a:rPr>
                        <a:t>Nuclear</a:t>
                      </a:r>
                      <a:endParaRPr lang="en-GB" sz="2000" b="1" dirty="0">
                        <a:solidFill>
                          <a:schemeClr val="accent6">
                            <a:lumMod val="75000"/>
                          </a:schemeClr>
                        </a:solidFill>
                        <a:effectLst/>
                        <a:latin typeface="+mn-lt"/>
                      </a:endParaRPr>
                    </a:p>
                  </a:txBody>
                  <a:tcPr anchor="ctr"/>
                </a:tc>
                <a:tc>
                  <a:txBody>
                    <a:bodyPr/>
                    <a:lstStyle/>
                    <a:p>
                      <a:pPr marL="0" marR="0" algn="l">
                        <a:spcBef>
                          <a:spcPts val="0"/>
                        </a:spcBef>
                        <a:spcAft>
                          <a:spcPts val="0"/>
                        </a:spcAft>
                      </a:pPr>
                      <a:r>
                        <a:rPr lang="en-GB" sz="2000" b="1" dirty="0">
                          <a:solidFill>
                            <a:schemeClr val="tx1"/>
                          </a:solidFill>
                          <a:effectLst/>
                          <a:latin typeface="+mn-lt"/>
                        </a:rPr>
                        <a:t>The forces acting between atomic nuclei</a:t>
                      </a:r>
                    </a:p>
                  </a:txBody>
                  <a:tcPr anchor="ctr"/>
                </a:tc>
                <a:extLst>
                  <a:ext uri="{0D108BD9-81ED-4DB2-BD59-A6C34878D82A}">
                    <a16:rowId xmlns:a16="http://schemas.microsoft.com/office/drawing/2014/main" xmlns="" val="10008"/>
                  </a:ext>
                </a:extLst>
              </a:tr>
              <a:tr h="1040698">
                <a:tc gridSpan="2">
                  <a:txBody>
                    <a:bodyPr/>
                    <a:lstStyle/>
                    <a:p>
                      <a:pPr marL="0" marR="0" algn="l">
                        <a:spcBef>
                          <a:spcPts val="0"/>
                        </a:spcBef>
                        <a:spcAft>
                          <a:spcPts val="0"/>
                        </a:spcAft>
                      </a:pPr>
                      <a:r>
                        <a:rPr lang="en-GB" sz="2000" b="1" dirty="0">
                          <a:solidFill>
                            <a:schemeClr val="tx1"/>
                          </a:solidFill>
                          <a:effectLst/>
                          <a:latin typeface="+mn-lt"/>
                        </a:rPr>
                        <a:t>Force pathways include:</a:t>
                      </a:r>
                    </a:p>
                    <a:p>
                      <a:pPr marL="0" marR="0" algn="l">
                        <a:spcBef>
                          <a:spcPts val="0"/>
                        </a:spcBef>
                        <a:spcAft>
                          <a:spcPts val="0"/>
                        </a:spcAft>
                      </a:pPr>
                      <a:r>
                        <a:rPr lang="en-GB" sz="2000" b="1" dirty="0">
                          <a:solidFill>
                            <a:srgbClr val="0070C0"/>
                          </a:solidFill>
                          <a:effectLst/>
                          <a:latin typeface="+mn-lt"/>
                        </a:rPr>
                        <a:t>     Mechanically</a:t>
                      </a:r>
                      <a:r>
                        <a:rPr lang="en-GB" sz="2000" b="1" dirty="0">
                          <a:solidFill>
                            <a:schemeClr val="tx1"/>
                          </a:solidFill>
                          <a:effectLst/>
                          <a:latin typeface="+mn-lt"/>
                        </a:rPr>
                        <a:t>     –  when a force acts and an object moves</a:t>
                      </a:r>
                    </a:p>
                    <a:p>
                      <a:pPr marL="0" marR="0" algn="l">
                        <a:spcBef>
                          <a:spcPts val="0"/>
                        </a:spcBef>
                        <a:spcAft>
                          <a:spcPts val="0"/>
                        </a:spcAft>
                      </a:pPr>
                      <a:r>
                        <a:rPr lang="en-GB" sz="2000" b="1" dirty="0">
                          <a:solidFill>
                            <a:srgbClr val="0070C0"/>
                          </a:solidFill>
                          <a:effectLst/>
                          <a:latin typeface="+mn-lt"/>
                        </a:rPr>
                        <a:t>     Electrically</a:t>
                      </a:r>
                      <a:r>
                        <a:rPr lang="en-GB" sz="2000" b="1" dirty="0">
                          <a:solidFill>
                            <a:schemeClr val="tx1"/>
                          </a:solidFill>
                          <a:effectLst/>
                          <a:latin typeface="+mn-lt"/>
                        </a:rPr>
                        <a:t>         –  when an electric current flows</a:t>
                      </a:r>
                    </a:p>
                    <a:p>
                      <a:pPr marL="0" marR="0" algn="l">
                        <a:spcBef>
                          <a:spcPts val="0"/>
                        </a:spcBef>
                        <a:spcAft>
                          <a:spcPts val="0"/>
                        </a:spcAft>
                      </a:pPr>
                      <a:r>
                        <a:rPr lang="en-GB" sz="2000" b="1" dirty="0">
                          <a:solidFill>
                            <a:srgbClr val="0070C0"/>
                          </a:solidFill>
                          <a:effectLst/>
                          <a:latin typeface="+mn-lt"/>
                        </a:rPr>
                        <a:t>     Heating </a:t>
                      </a:r>
                      <a:r>
                        <a:rPr lang="en-GB" sz="2000" b="1" dirty="0">
                          <a:solidFill>
                            <a:schemeClr val="tx1"/>
                          </a:solidFill>
                          <a:effectLst/>
                          <a:latin typeface="+mn-lt"/>
                        </a:rPr>
                        <a:t>             –  a temperature difference between objects</a:t>
                      </a:r>
                    </a:p>
                    <a:p>
                      <a:pPr marL="0" marR="0" algn="l">
                        <a:spcBef>
                          <a:spcPts val="0"/>
                        </a:spcBef>
                        <a:spcAft>
                          <a:spcPts val="0"/>
                        </a:spcAft>
                      </a:pPr>
                      <a:r>
                        <a:rPr lang="en-GB" sz="2000" b="1" dirty="0">
                          <a:solidFill>
                            <a:srgbClr val="0070C0"/>
                          </a:solidFill>
                          <a:effectLst/>
                          <a:latin typeface="+mn-lt"/>
                        </a:rPr>
                        <a:t>     Radiation  </a:t>
                      </a:r>
                      <a:r>
                        <a:rPr lang="en-GB" sz="2000" b="1" dirty="0">
                          <a:solidFill>
                            <a:schemeClr val="tx1"/>
                          </a:solidFill>
                          <a:effectLst/>
                          <a:latin typeface="+mn-lt"/>
                        </a:rPr>
                        <a:t>         –  electromagnetic waves or sound</a:t>
                      </a:r>
                    </a:p>
                  </a:txBody>
                  <a:tcPr/>
                </a:tc>
                <a:tc hMerge="1">
                  <a:txBody>
                    <a:bodyPr/>
                    <a:lstStyle/>
                    <a:p>
                      <a:pPr marL="0" marR="0" algn="l">
                        <a:spcBef>
                          <a:spcPts val="0"/>
                        </a:spcBef>
                        <a:spcAft>
                          <a:spcPts val="0"/>
                        </a:spcAft>
                      </a:pPr>
                      <a:endParaRPr lang="en-GB" sz="1600" b="1" dirty="0">
                        <a:solidFill>
                          <a:schemeClr val="tx1"/>
                        </a:solidFill>
                        <a:effectLst/>
                        <a:latin typeface="+mn-lt"/>
                      </a:endParaRPr>
                    </a:p>
                  </a:txBody>
                  <a:tcPr anchor="ctr"/>
                </a:tc>
                <a:extLst>
                  <a:ext uri="{0D108BD9-81ED-4DB2-BD59-A6C34878D82A}">
                    <a16:rowId xmlns:a16="http://schemas.microsoft.com/office/drawing/2014/main" xmlns="" val="10009"/>
                  </a:ext>
                </a:extLst>
              </a:tr>
            </a:tbl>
          </a:graphicData>
        </a:graphic>
      </p:graphicFrame>
      <p:sp>
        <p:nvSpPr>
          <p:cNvPr id="4" name="Title 1"/>
          <p:cNvSpPr txBox="1">
            <a:spLocks/>
          </p:cNvSpPr>
          <p:nvPr/>
        </p:nvSpPr>
        <p:spPr>
          <a:xfrm>
            <a:off x="1187624" y="35655"/>
            <a:ext cx="795637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800" b="1" kern="0" dirty="0" smtClean="0">
                <a:solidFill>
                  <a:schemeClr val="accent6">
                    <a:lumMod val="75000"/>
                  </a:schemeClr>
                </a:solidFill>
                <a:latin typeface="+mn-lt"/>
              </a:rPr>
              <a:t>Energy stores and systems</a:t>
            </a:r>
            <a:endParaRPr lang="en-US" sz="2800" b="1" kern="0" dirty="0">
              <a:solidFill>
                <a:schemeClr val="accent6">
                  <a:lumMod val="75000"/>
                </a:schemeClr>
              </a:solidFill>
              <a:latin typeface="+mn-lt"/>
            </a:endParaRPr>
          </a:p>
        </p:txBody>
      </p:sp>
    </p:spTree>
    <p:extLst>
      <p:ext uri="{BB962C8B-B14F-4D97-AF65-F5344CB8AC3E}">
        <p14:creationId xmlns:p14="http://schemas.microsoft.com/office/powerpoint/2010/main" val="1113305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7624" y="35655"/>
            <a:ext cx="795637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800" b="1" kern="0" dirty="0" smtClean="0">
                <a:solidFill>
                  <a:schemeClr val="accent6">
                    <a:lumMod val="75000"/>
                  </a:schemeClr>
                </a:solidFill>
                <a:latin typeface="+mn-lt"/>
              </a:rPr>
              <a:t>Energy stores and systems</a:t>
            </a:r>
            <a:endParaRPr lang="en-US" sz="2800" b="1" kern="0" dirty="0">
              <a:solidFill>
                <a:schemeClr val="accent6">
                  <a:lumMod val="75000"/>
                </a:schemeClr>
              </a:solidFill>
              <a:latin typeface="+mn-lt"/>
            </a:endParaRPr>
          </a:p>
        </p:txBody>
      </p:sp>
      <p:sp>
        <p:nvSpPr>
          <p:cNvPr id="2" name="Rectangle 1"/>
          <p:cNvSpPr/>
          <p:nvPr/>
        </p:nvSpPr>
        <p:spPr>
          <a:xfrm>
            <a:off x="196542" y="692696"/>
            <a:ext cx="8784977" cy="5447645"/>
          </a:xfrm>
          <a:prstGeom prst="rect">
            <a:avLst/>
          </a:prstGeom>
        </p:spPr>
        <p:txBody>
          <a:bodyPr wrap="square">
            <a:spAutoFit/>
          </a:bodyPr>
          <a:lstStyle/>
          <a:p>
            <a:r>
              <a:rPr lang="en-US" sz="2000" dirty="0" smtClean="0"/>
              <a:t>Examples of energy changes in a system: </a:t>
            </a:r>
          </a:p>
          <a:p>
            <a:r>
              <a:rPr lang="en-US" sz="2000" b="1" dirty="0" smtClean="0"/>
              <a:t>An </a:t>
            </a:r>
            <a:r>
              <a:rPr lang="en-US" sz="2000" b="1" dirty="0"/>
              <a:t>object </a:t>
            </a:r>
            <a:r>
              <a:rPr lang="en-US" sz="2000" b="1" dirty="0" smtClean="0"/>
              <a:t>thrown (projected) upwards e.g.  You throw a tennis ball upwards.</a:t>
            </a:r>
          </a:p>
          <a:p>
            <a:pPr>
              <a:lnSpc>
                <a:spcPct val="150000"/>
              </a:lnSpc>
            </a:pPr>
            <a:endParaRPr lang="en-US" sz="2000" dirty="0" smtClean="0"/>
          </a:p>
          <a:p>
            <a:pPr>
              <a:lnSpc>
                <a:spcPct val="150000"/>
              </a:lnSpc>
            </a:pPr>
            <a:endParaRPr lang="en-US" sz="2000" dirty="0" smtClean="0"/>
          </a:p>
          <a:p>
            <a:pPr>
              <a:lnSpc>
                <a:spcPct val="150000"/>
              </a:lnSpc>
            </a:pPr>
            <a:endParaRPr lang="en-US" sz="2000" dirty="0"/>
          </a:p>
          <a:p>
            <a:endParaRPr lang="en-US" sz="2800" b="1" dirty="0" smtClean="0"/>
          </a:p>
          <a:p>
            <a:r>
              <a:rPr lang="en-US" sz="2000" b="1" dirty="0" smtClean="0"/>
              <a:t>A </a:t>
            </a:r>
            <a:r>
              <a:rPr lang="en-US" sz="2000" b="1" dirty="0"/>
              <a:t>moving object hitting an </a:t>
            </a:r>
            <a:r>
              <a:rPr lang="en-US" sz="2000" b="1" dirty="0" smtClean="0"/>
              <a:t>obstacle e.g. A bowling ball hitting a pin</a:t>
            </a:r>
          </a:p>
          <a:p>
            <a:endParaRPr lang="en-US" sz="2000" b="1" dirty="0" smtClean="0"/>
          </a:p>
          <a:p>
            <a:pPr>
              <a:lnSpc>
                <a:spcPct val="150000"/>
              </a:lnSpc>
            </a:pPr>
            <a:endParaRPr lang="en-US" sz="2000" b="1" dirty="0"/>
          </a:p>
          <a:p>
            <a:pPr>
              <a:lnSpc>
                <a:spcPct val="150000"/>
              </a:lnSpc>
            </a:pPr>
            <a:endParaRPr lang="en-US" sz="2000" b="1" dirty="0" smtClean="0"/>
          </a:p>
          <a:p>
            <a:pPr>
              <a:lnSpc>
                <a:spcPct val="150000"/>
              </a:lnSpc>
            </a:pPr>
            <a:endParaRPr lang="en-US" sz="2000" b="1" dirty="0"/>
          </a:p>
          <a:p>
            <a:pPr>
              <a:lnSpc>
                <a:spcPct val="150000"/>
              </a:lnSpc>
            </a:pPr>
            <a:endParaRPr lang="en-US" sz="2000" b="1" dirty="0" smtClean="0"/>
          </a:p>
          <a:p>
            <a:pPr>
              <a:lnSpc>
                <a:spcPct val="150000"/>
              </a:lnSpc>
            </a:pPr>
            <a:endParaRPr lang="en-US" sz="2000" b="1" dirty="0"/>
          </a:p>
        </p:txBody>
      </p:sp>
      <p:pic>
        <p:nvPicPr>
          <p:cNvPr id="3" name="Picture 2"/>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813168" y="752062"/>
            <a:ext cx="1330832" cy="2001771"/>
          </a:xfrm>
          <a:prstGeom prst="rect">
            <a:avLst/>
          </a:prstGeom>
        </p:spPr>
      </p:pic>
      <p:sp>
        <p:nvSpPr>
          <p:cNvPr id="5" name="Rectangle 4"/>
          <p:cNvSpPr/>
          <p:nvPr/>
        </p:nvSpPr>
        <p:spPr>
          <a:xfrm>
            <a:off x="196542" y="1431001"/>
            <a:ext cx="8858374" cy="1323439"/>
          </a:xfrm>
          <a:prstGeom prst="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buFont typeface="Arial" charset="0"/>
              <a:buChar char="•"/>
            </a:pPr>
            <a:r>
              <a:rPr lang="en-US" sz="2000" dirty="0"/>
              <a:t>As the </a:t>
            </a:r>
            <a:r>
              <a:rPr lang="en-US" sz="2000" b="1" dirty="0">
                <a:solidFill>
                  <a:schemeClr val="accent6">
                    <a:lumMod val="75000"/>
                  </a:schemeClr>
                </a:solidFill>
              </a:rPr>
              <a:t>ball </a:t>
            </a:r>
            <a:r>
              <a:rPr lang="en-US" sz="2000" b="1" dirty="0" smtClean="0">
                <a:solidFill>
                  <a:schemeClr val="accent6">
                    <a:lumMod val="75000"/>
                  </a:schemeClr>
                </a:solidFill>
              </a:rPr>
              <a:t>leaves </a:t>
            </a:r>
            <a:r>
              <a:rPr lang="en-US" sz="2000" dirty="0" smtClean="0"/>
              <a:t>your </a:t>
            </a:r>
            <a:r>
              <a:rPr lang="en-US" sz="2000" b="1" dirty="0" smtClean="0">
                <a:solidFill>
                  <a:schemeClr val="accent6">
                    <a:lumMod val="75000"/>
                  </a:schemeClr>
                </a:solidFill>
              </a:rPr>
              <a:t>hand</a:t>
            </a:r>
            <a:r>
              <a:rPr lang="en-US" sz="2000" dirty="0" smtClean="0">
                <a:solidFill>
                  <a:schemeClr val="accent6">
                    <a:lumMod val="75000"/>
                  </a:schemeClr>
                </a:solidFill>
              </a:rPr>
              <a:t> </a:t>
            </a:r>
            <a:r>
              <a:rPr lang="en-US" sz="2000" dirty="0"/>
              <a:t>it has a </a:t>
            </a:r>
            <a:r>
              <a:rPr lang="en-US" sz="2000" b="1" dirty="0">
                <a:solidFill>
                  <a:schemeClr val="accent6">
                    <a:lumMod val="75000"/>
                  </a:schemeClr>
                </a:solidFill>
              </a:rPr>
              <a:t>store</a:t>
            </a:r>
            <a:r>
              <a:rPr lang="en-US" sz="2000" dirty="0">
                <a:solidFill>
                  <a:schemeClr val="accent6">
                    <a:lumMod val="75000"/>
                  </a:schemeClr>
                </a:solidFill>
              </a:rPr>
              <a:t> </a:t>
            </a:r>
            <a:r>
              <a:rPr lang="en-US" sz="2000" dirty="0"/>
              <a:t>of </a:t>
            </a:r>
            <a:r>
              <a:rPr lang="en-US" sz="2000" b="1" dirty="0" smtClean="0">
                <a:solidFill>
                  <a:schemeClr val="accent6">
                    <a:lumMod val="75000"/>
                  </a:schemeClr>
                </a:solidFill>
              </a:rPr>
              <a:t>kinetic </a:t>
            </a:r>
            <a:r>
              <a:rPr lang="en-US" sz="2000" b="1" dirty="0">
                <a:solidFill>
                  <a:schemeClr val="accent6">
                    <a:lumMod val="75000"/>
                  </a:schemeClr>
                </a:solidFill>
              </a:rPr>
              <a:t>energy</a:t>
            </a:r>
            <a:r>
              <a:rPr lang="en-US" sz="2000" dirty="0"/>
              <a:t>. </a:t>
            </a:r>
          </a:p>
          <a:p>
            <a:pPr marL="342900" indent="-342900">
              <a:buFont typeface="Arial" charset="0"/>
              <a:buChar char="•"/>
            </a:pPr>
            <a:r>
              <a:rPr lang="en-US" sz="2000" dirty="0"/>
              <a:t>At its </a:t>
            </a:r>
            <a:r>
              <a:rPr lang="en-US" sz="2000" b="1" dirty="0">
                <a:solidFill>
                  <a:schemeClr val="accent6">
                    <a:lumMod val="75000"/>
                  </a:schemeClr>
                </a:solidFill>
              </a:rPr>
              <a:t>highest</a:t>
            </a:r>
            <a:r>
              <a:rPr lang="en-US" sz="2000" dirty="0">
                <a:solidFill>
                  <a:schemeClr val="accent6">
                    <a:lumMod val="75000"/>
                  </a:schemeClr>
                </a:solidFill>
              </a:rPr>
              <a:t> </a:t>
            </a:r>
            <a:r>
              <a:rPr lang="en-US" sz="2000" b="1" dirty="0">
                <a:solidFill>
                  <a:schemeClr val="accent6">
                    <a:lumMod val="75000"/>
                  </a:schemeClr>
                </a:solidFill>
              </a:rPr>
              <a:t>point</a:t>
            </a:r>
            <a:r>
              <a:rPr lang="en-US" sz="2000" dirty="0">
                <a:solidFill>
                  <a:schemeClr val="accent6">
                    <a:lumMod val="75000"/>
                  </a:schemeClr>
                </a:solidFill>
              </a:rPr>
              <a:t> </a:t>
            </a:r>
            <a:r>
              <a:rPr lang="en-US" sz="2000" dirty="0"/>
              <a:t>it has a </a:t>
            </a:r>
            <a:r>
              <a:rPr lang="en-US" sz="2000" b="1" dirty="0">
                <a:solidFill>
                  <a:schemeClr val="accent6">
                    <a:lumMod val="75000"/>
                  </a:schemeClr>
                </a:solidFill>
              </a:rPr>
              <a:t>store</a:t>
            </a:r>
            <a:r>
              <a:rPr lang="en-US" sz="2000" dirty="0">
                <a:solidFill>
                  <a:schemeClr val="accent6">
                    <a:lumMod val="75000"/>
                  </a:schemeClr>
                </a:solidFill>
              </a:rPr>
              <a:t> </a:t>
            </a:r>
            <a:r>
              <a:rPr lang="en-US" sz="2000" dirty="0"/>
              <a:t>of </a:t>
            </a:r>
            <a:r>
              <a:rPr lang="en-US" sz="2000" b="1" dirty="0">
                <a:solidFill>
                  <a:schemeClr val="accent6">
                    <a:lumMod val="75000"/>
                  </a:schemeClr>
                </a:solidFill>
              </a:rPr>
              <a:t>gravitational potential </a:t>
            </a:r>
            <a:r>
              <a:rPr lang="en-US" sz="2000" b="1" dirty="0" smtClean="0">
                <a:solidFill>
                  <a:schemeClr val="accent6">
                    <a:lumMod val="75000"/>
                  </a:schemeClr>
                </a:solidFill>
              </a:rPr>
              <a:t>energy (G.P.E)</a:t>
            </a:r>
            <a:r>
              <a:rPr lang="en-US" sz="2000" dirty="0" smtClean="0"/>
              <a:t>. </a:t>
            </a:r>
            <a:endParaRPr lang="en-US" sz="2000" dirty="0"/>
          </a:p>
          <a:p>
            <a:pPr marL="342900" indent="-342900">
              <a:buFont typeface="Arial" charset="0"/>
              <a:buChar char="•"/>
            </a:pPr>
            <a:r>
              <a:rPr lang="en-US" sz="2000" dirty="0"/>
              <a:t>As you are about to catch it </a:t>
            </a:r>
            <a:r>
              <a:rPr lang="en-US" sz="2000" dirty="0" smtClean="0"/>
              <a:t>just </a:t>
            </a:r>
            <a:r>
              <a:rPr lang="en-US" sz="2000" b="1" dirty="0" smtClean="0">
                <a:solidFill>
                  <a:schemeClr val="accent6">
                    <a:lumMod val="75000"/>
                  </a:schemeClr>
                </a:solidFill>
              </a:rPr>
              <a:t>before it hits your hand </a:t>
            </a:r>
            <a:r>
              <a:rPr lang="en-US" sz="2000" dirty="0" smtClean="0"/>
              <a:t>it </a:t>
            </a:r>
            <a:r>
              <a:rPr lang="en-US" sz="2000" dirty="0"/>
              <a:t>has a </a:t>
            </a:r>
            <a:endParaRPr lang="en-US" sz="2000" dirty="0" smtClean="0"/>
          </a:p>
          <a:p>
            <a:r>
              <a:rPr lang="en-US" sz="2000" b="1" dirty="0">
                <a:solidFill>
                  <a:schemeClr val="accent6">
                    <a:lumMod val="75000"/>
                  </a:schemeClr>
                </a:solidFill>
              </a:rPr>
              <a:t> </a:t>
            </a:r>
            <a:r>
              <a:rPr lang="en-US" sz="2000" b="1" dirty="0" smtClean="0">
                <a:solidFill>
                  <a:schemeClr val="accent6">
                    <a:lumMod val="75000"/>
                  </a:schemeClr>
                </a:solidFill>
              </a:rPr>
              <a:t>    store</a:t>
            </a:r>
            <a:r>
              <a:rPr lang="en-US" sz="2000" dirty="0" smtClean="0">
                <a:solidFill>
                  <a:schemeClr val="accent6">
                    <a:lumMod val="75000"/>
                  </a:schemeClr>
                </a:solidFill>
              </a:rPr>
              <a:t> </a:t>
            </a:r>
            <a:r>
              <a:rPr lang="en-US" sz="2000" dirty="0" smtClean="0"/>
              <a:t>of </a:t>
            </a:r>
            <a:r>
              <a:rPr lang="en-US" sz="2000" b="1" dirty="0">
                <a:solidFill>
                  <a:schemeClr val="accent6">
                    <a:lumMod val="75000"/>
                  </a:schemeClr>
                </a:solidFill>
              </a:rPr>
              <a:t>kinetic energy.</a:t>
            </a:r>
          </a:p>
        </p:txBody>
      </p:sp>
      <p:sp>
        <p:nvSpPr>
          <p:cNvPr id="6" name="Rectangle 5"/>
          <p:cNvSpPr/>
          <p:nvPr/>
        </p:nvSpPr>
        <p:spPr>
          <a:xfrm>
            <a:off x="196541" y="3573016"/>
            <a:ext cx="8821675" cy="2554545"/>
          </a:xfrm>
          <a:prstGeom prst="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buFont typeface="Arial" charset="0"/>
              <a:buChar char="•"/>
            </a:pPr>
            <a:r>
              <a:rPr lang="en-US" sz="2000" dirty="0" smtClean="0"/>
              <a:t>As you move the muscles of your arm to throw the ball the </a:t>
            </a:r>
            <a:r>
              <a:rPr lang="en-US" sz="2000" b="1" dirty="0" smtClean="0">
                <a:solidFill>
                  <a:schemeClr val="accent6">
                    <a:lumMod val="75000"/>
                  </a:schemeClr>
                </a:solidFill>
              </a:rPr>
              <a:t>chemical energy store </a:t>
            </a:r>
            <a:r>
              <a:rPr lang="en-US" sz="2000" dirty="0" smtClean="0"/>
              <a:t>in your muscles </a:t>
            </a:r>
            <a:r>
              <a:rPr lang="en-US" sz="2000" b="1" dirty="0" smtClean="0">
                <a:solidFill>
                  <a:schemeClr val="accent6">
                    <a:lumMod val="75000"/>
                  </a:schemeClr>
                </a:solidFill>
              </a:rPr>
              <a:t>decreases</a:t>
            </a:r>
            <a:r>
              <a:rPr lang="en-US" sz="2000" dirty="0" smtClean="0">
                <a:solidFill>
                  <a:schemeClr val="accent6">
                    <a:lumMod val="75000"/>
                  </a:schemeClr>
                </a:solidFill>
              </a:rPr>
              <a:t> </a:t>
            </a:r>
            <a:r>
              <a:rPr lang="en-US" sz="2000" dirty="0" smtClean="0"/>
              <a:t>and the </a:t>
            </a:r>
            <a:r>
              <a:rPr lang="en-US" sz="2000" b="1" dirty="0" smtClean="0">
                <a:solidFill>
                  <a:schemeClr val="accent6">
                    <a:lumMod val="75000"/>
                  </a:schemeClr>
                </a:solidFill>
              </a:rPr>
              <a:t>kinetic energy store </a:t>
            </a:r>
            <a:r>
              <a:rPr lang="en-US" sz="2000" dirty="0" smtClean="0"/>
              <a:t>of the bowling ball </a:t>
            </a:r>
            <a:r>
              <a:rPr lang="en-US" sz="2000" b="1" dirty="0" smtClean="0">
                <a:solidFill>
                  <a:schemeClr val="accent6">
                    <a:lumMod val="75000"/>
                  </a:schemeClr>
                </a:solidFill>
              </a:rPr>
              <a:t>increases</a:t>
            </a:r>
            <a:r>
              <a:rPr lang="en-US" sz="2000" dirty="0" smtClean="0">
                <a:solidFill>
                  <a:schemeClr val="accent6">
                    <a:lumMod val="75000"/>
                  </a:schemeClr>
                </a:solidFill>
              </a:rPr>
              <a:t>.  </a:t>
            </a:r>
            <a:endParaRPr lang="en-US" sz="2000" dirty="0">
              <a:solidFill>
                <a:schemeClr val="accent6">
                  <a:lumMod val="75000"/>
                </a:schemeClr>
              </a:solidFill>
            </a:endParaRPr>
          </a:p>
          <a:p>
            <a:pPr marL="342900" indent="-342900">
              <a:buFont typeface="Arial" charset="0"/>
              <a:buChar char="•"/>
            </a:pPr>
            <a:r>
              <a:rPr lang="en-US" sz="2000" dirty="0"/>
              <a:t>At </a:t>
            </a:r>
            <a:r>
              <a:rPr lang="en-US" sz="2000" dirty="0" smtClean="0"/>
              <a:t>the ball hits a pin some of the </a:t>
            </a:r>
            <a:r>
              <a:rPr lang="en-US" sz="2000" b="1" dirty="0" smtClean="0">
                <a:solidFill>
                  <a:schemeClr val="accent6">
                    <a:lumMod val="75000"/>
                  </a:schemeClr>
                </a:solidFill>
              </a:rPr>
              <a:t>kinetic energy </a:t>
            </a:r>
            <a:r>
              <a:rPr lang="en-US" sz="2000" dirty="0" smtClean="0"/>
              <a:t>has been transferred  to a </a:t>
            </a:r>
            <a:r>
              <a:rPr lang="en-US" sz="2000" b="1" dirty="0" smtClean="0">
                <a:solidFill>
                  <a:schemeClr val="accent6">
                    <a:lumMod val="75000"/>
                  </a:schemeClr>
                </a:solidFill>
              </a:rPr>
              <a:t>store</a:t>
            </a:r>
            <a:r>
              <a:rPr lang="en-US" sz="2000" dirty="0" smtClean="0">
                <a:solidFill>
                  <a:schemeClr val="accent6">
                    <a:lumMod val="75000"/>
                  </a:schemeClr>
                </a:solidFill>
              </a:rPr>
              <a:t> </a:t>
            </a:r>
            <a:r>
              <a:rPr lang="en-US" sz="2000" dirty="0" smtClean="0"/>
              <a:t>of </a:t>
            </a:r>
            <a:r>
              <a:rPr lang="en-US" sz="2000" b="1" dirty="0" smtClean="0">
                <a:solidFill>
                  <a:schemeClr val="accent6">
                    <a:lumMod val="75000"/>
                  </a:schemeClr>
                </a:solidFill>
              </a:rPr>
              <a:t>internal</a:t>
            </a:r>
            <a:r>
              <a:rPr lang="en-US" sz="2000" dirty="0" smtClean="0">
                <a:solidFill>
                  <a:schemeClr val="accent6">
                    <a:lumMod val="75000"/>
                  </a:schemeClr>
                </a:solidFill>
              </a:rPr>
              <a:t> </a:t>
            </a:r>
            <a:r>
              <a:rPr lang="en-US" sz="2000" b="1" dirty="0" smtClean="0">
                <a:solidFill>
                  <a:schemeClr val="accent6">
                    <a:lumMod val="75000"/>
                  </a:schemeClr>
                </a:solidFill>
              </a:rPr>
              <a:t>(thermal) energy </a:t>
            </a:r>
            <a:r>
              <a:rPr lang="en-US" sz="2000" dirty="0" smtClean="0"/>
              <a:t>this causes the ball and its surroundings to warm up a little. </a:t>
            </a:r>
          </a:p>
          <a:p>
            <a:pPr marL="342900" indent="-342900">
              <a:buFont typeface="Arial" charset="0"/>
              <a:buChar char="•"/>
            </a:pPr>
            <a:r>
              <a:rPr lang="en-US" sz="2000" dirty="0" smtClean="0"/>
              <a:t>You will hear a </a:t>
            </a:r>
            <a:r>
              <a:rPr lang="en-US" sz="2000" b="1" dirty="0" smtClean="0">
                <a:solidFill>
                  <a:schemeClr val="accent6">
                    <a:lumMod val="75000"/>
                  </a:schemeClr>
                </a:solidFill>
              </a:rPr>
              <a:t>sound</a:t>
            </a:r>
            <a:r>
              <a:rPr lang="en-US" sz="2000" dirty="0" smtClean="0"/>
              <a:t> when the ball hits the pin, the </a:t>
            </a:r>
            <a:r>
              <a:rPr lang="en-US" sz="2000" b="1" dirty="0" smtClean="0">
                <a:solidFill>
                  <a:schemeClr val="accent6">
                    <a:lumMod val="75000"/>
                  </a:schemeClr>
                </a:solidFill>
              </a:rPr>
              <a:t>energy of the sound </a:t>
            </a:r>
            <a:r>
              <a:rPr lang="en-US" sz="2000" dirty="0" smtClean="0"/>
              <a:t>is also transferred to the </a:t>
            </a:r>
            <a:r>
              <a:rPr lang="en-US" sz="2000" b="1" dirty="0" smtClean="0">
                <a:solidFill>
                  <a:schemeClr val="accent6">
                    <a:lumMod val="75000"/>
                  </a:schemeClr>
                </a:solidFill>
              </a:rPr>
              <a:t>internal energy store </a:t>
            </a:r>
            <a:r>
              <a:rPr lang="en-US" sz="2000" dirty="0" smtClean="0"/>
              <a:t>of the </a:t>
            </a:r>
            <a:r>
              <a:rPr lang="en-US" sz="2000" b="1" dirty="0" smtClean="0">
                <a:solidFill>
                  <a:schemeClr val="accent6">
                    <a:lumMod val="75000"/>
                  </a:schemeClr>
                </a:solidFill>
              </a:rPr>
              <a:t>surroundings</a:t>
            </a:r>
            <a:r>
              <a:rPr lang="en-US" sz="2000" dirty="0" smtClean="0"/>
              <a:t>.</a:t>
            </a:r>
          </a:p>
        </p:txBody>
      </p:sp>
    </p:spTree>
    <p:extLst>
      <p:ext uri="{BB962C8B-B14F-4D97-AF65-F5344CB8AC3E}">
        <p14:creationId xmlns:p14="http://schemas.microsoft.com/office/powerpoint/2010/main" val="155803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7624" y="35655"/>
            <a:ext cx="795637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800" b="1" kern="0" dirty="0" smtClean="0">
                <a:solidFill>
                  <a:schemeClr val="accent6">
                    <a:lumMod val="75000"/>
                  </a:schemeClr>
                </a:solidFill>
                <a:latin typeface="+mn-lt"/>
              </a:rPr>
              <a:t>Energy stores and systems</a:t>
            </a:r>
            <a:endParaRPr lang="en-US" sz="2800" b="1" kern="0" dirty="0">
              <a:solidFill>
                <a:schemeClr val="accent6">
                  <a:lumMod val="75000"/>
                </a:schemeClr>
              </a:solidFill>
              <a:latin typeface="+mn-lt"/>
            </a:endParaRPr>
          </a:p>
        </p:txBody>
      </p:sp>
      <p:sp>
        <p:nvSpPr>
          <p:cNvPr id="2" name="Rectangle 1"/>
          <p:cNvSpPr/>
          <p:nvPr/>
        </p:nvSpPr>
        <p:spPr>
          <a:xfrm>
            <a:off x="115106" y="692696"/>
            <a:ext cx="8866413" cy="3477875"/>
          </a:xfrm>
          <a:prstGeom prst="rect">
            <a:avLst/>
          </a:prstGeom>
        </p:spPr>
        <p:txBody>
          <a:bodyPr wrap="square">
            <a:spAutoFit/>
          </a:bodyPr>
          <a:lstStyle/>
          <a:p>
            <a:r>
              <a:rPr lang="en-US" sz="2000" b="1" dirty="0" smtClean="0"/>
              <a:t>Examples of energy changes in a system: </a:t>
            </a:r>
          </a:p>
          <a:p>
            <a:r>
              <a:rPr lang="en-US" sz="2000" b="1" dirty="0" smtClean="0"/>
              <a:t> A </a:t>
            </a:r>
            <a:r>
              <a:rPr lang="en-US" sz="2000" b="1" dirty="0"/>
              <a:t>vehicle slowing </a:t>
            </a:r>
            <a:r>
              <a:rPr lang="en-US" sz="2000" b="1" dirty="0" smtClean="0"/>
              <a:t>down e.g.  When you apply the brakes in a lorry</a:t>
            </a:r>
          </a:p>
          <a:p>
            <a:pPr>
              <a:lnSpc>
                <a:spcPct val="150000"/>
              </a:lnSpc>
            </a:pPr>
            <a:endParaRPr lang="en-US" sz="2000" b="1" dirty="0" smtClean="0"/>
          </a:p>
          <a:p>
            <a:pPr>
              <a:lnSpc>
                <a:spcPct val="150000"/>
              </a:lnSpc>
            </a:pPr>
            <a:endParaRPr lang="en-US" sz="2000" b="1" dirty="0" smtClean="0"/>
          </a:p>
          <a:p>
            <a:pPr>
              <a:lnSpc>
                <a:spcPct val="150000"/>
              </a:lnSpc>
            </a:pPr>
            <a:endParaRPr lang="en-US" sz="2000" b="1" dirty="0"/>
          </a:p>
          <a:p>
            <a:pPr>
              <a:lnSpc>
                <a:spcPct val="150000"/>
              </a:lnSpc>
            </a:pPr>
            <a:endParaRPr lang="en-US" sz="2000" b="1" dirty="0" smtClean="0"/>
          </a:p>
          <a:p>
            <a:pPr>
              <a:lnSpc>
                <a:spcPct val="150000"/>
              </a:lnSpc>
            </a:pPr>
            <a:endParaRPr lang="en-US" sz="2000" b="1" dirty="0"/>
          </a:p>
          <a:p>
            <a:pPr>
              <a:lnSpc>
                <a:spcPct val="150000"/>
              </a:lnSpc>
            </a:pPr>
            <a:r>
              <a:rPr lang="en-US" sz="2000" b="1" dirty="0" smtClean="0"/>
              <a:t>Bringing </a:t>
            </a:r>
            <a:r>
              <a:rPr lang="en-US" sz="2000" b="1" dirty="0"/>
              <a:t>water to a </a:t>
            </a:r>
            <a:r>
              <a:rPr lang="en-US" sz="2000" b="1" dirty="0" smtClean="0"/>
              <a:t>boil on a camping stove.</a:t>
            </a:r>
            <a:endParaRPr lang="en-US" sz="2000" b="1" dirty="0">
              <a:effectLst/>
            </a:endParaRPr>
          </a:p>
        </p:txBody>
      </p:sp>
      <p:sp>
        <p:nvSpPr>
          <p:cNvPr id="5" name="Rectangle 4"/>
          <p:cNvSpPr/>
          <p:nvPr/>
        </p:nvSpPr>
        <p:spPr>
          <a:xfrm>
            <a:off x="115106" y="1443548"/>
            <a:ext cx="8858374" cy="2246769"/>
          </a:xfrm>
          <a:prstGeom prst="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buFont typeface="Arial" charset="0"/>
              <a:buChar char="•"/>
            </a:pPr>
            <a:r>
              <a:rPr lang="en-US" sz="2000" dirty="0" smtClean="0"/>
              <a:t>The </a:t>
            </a:r>
            <a:r>
              <a:rPr lang="en-US" sz="2000" b="1" dirty="0" smtClean="0">
                <a:solidFill>
                  <a:schemeClr val="accent6">
                    <a:lumMod val="75000"/>
                  </a:schemeClr>
                </a:solidFill>
              </a:rPr>
              <a:t>moving</a:t>
            </a:r>
            <a:r>
              <a:rPr lang="en-US" sz="2000" dirty="0" smtClean="0">
                <a:solidFill>
                  <a:schemeClr val="accent6">
                    <a:lumMod val="75000"/>
                  </a:schemeClr>
                </a:solidFill>
              </a:rPr>
              <a:t> </a:t>
            </a:r>
            <a:r>
              <a:rPr lang="en-US" sz="2000" dirty="0" smtClean="0"/>
              <a:t>lorry has </a:t>
            </a:r>
            <a:r>
              <a:rPr lang="en-US" sz="2000" dirty="0"/>
              <a:t>a </a:t>
            </a:r>
            <a:r>
              <a:rPr lang="en-US" sz="2000" b="1" dirty="0">
                <a:solidFill>
                  <a:schemeClr val="accent6">
                    <a:lumMod val="75000"/>
                  </a:schemeClr>
                </a:solidFill>
              </a:rPr>
              <a:t>store</a:t>
            </a:r>
            <a:r>
              <a:rPr lang="en-US" sz="2000" dirty="0">
                <a:solidFill>
                  <a:schemeClr val="accent6">
                    <a:lumMod val="75000"/>
                  </a:schemeClr>
                </a:solidFill>
              </a:rPr>
              <a:t> </a:t>
            </a:r>
            <a:r>
              <a:rPr lang="en-US" sz="2000" dirty="0"/>
              <a:t>of </a:t>
            </a:r>
            <a:r>
              <a:rPr lang="en-US" sz="2000" b="1" dirty="0" smtClean="0">
                <a:solidFill>
                  <a:schemeClr val="accent6">
                    <a:lumMod val="75000"/>
                  </a:schemeClr>
                </a:solidFill>
              </a:rPr>
              <a:t>kinetic </a:t>
            </a:r>
            <a:r>
              <a:rPr lang="en-US" sz="2000" b="1" dirty="0">
                <a:solidFill>
                  <a:schemeClr val="accent6">
                    <a:lumMod val="75000"/>
                  </a:schemeClr>
                </a:solidFill>
              </a:rPr>
              <a:t>energy</a:t>
            </a:r>
            <a:r>
              <a:rPr lang="en-US" sz="2000" dirty="0"/>
              <a:t>. </a:t>
            </a:r>
          </a:p>
          <a:p>
            <a:pPr marL="342900" indent="-342900">
              <a:buFont typeface="Arial" charset="0"/>
              <a:buChar char="•"/>
            </a:pPr>
            <a:r>
              <a:rPr lang="en-US" sz="2000" dirty="0" smtClean="0"/>
              <a:t>At the </a:t>
            </a:r>
            <a:r>
              <a:rPr lang="en-US" sz="2000" b="1" dirty="0" smtClean="0">
                <a:solidFill>
                  <a:schemeClr val="accent6">
                    <a:lumMod val="75000"/>
                  </a:schemeClr>
                </a:solidFill>
              </a:rPr>
              <a:t>brakes</a:t>
            </a:r>
            <a:r>
              <a:rPr lang="en-US" sz="2000" dirty="0" smtClean="0">
                <a:solidFill>
                  <a:schemeClr val="accent6">
                    <a:lumMod val="75000"/>
                  </a:schemeClr>
                </a:solidFill>
              </a:rPr>
              <a:t> </a:t>
            </a:r>
            <a:r>
              <a:rPr lang="en-US" sz="2000" dirty="0" smtClean="0"/>
              <a:t>are applied the </a:t>
            </a:r>
            <a:r>
              <a:rPr lang="en-US" sz="2000" b="1" dirty="0" smtClean="0">
                <a:solidFill>
                  <a:schemeClr val="accent6">
                    <a:lumMod val="75000"/>
                  </a:schemeClr>
                </a:solidFill>
              </a:rPr>
              <a:t>kinetic energy store decreases </a:t>
            </a:r>
            <a:r>
              <a:rPr lang="en-US" sz="2000" dirty="0" smtClean="0"/>
              <a:t>the energy is transferred to the </a:t>
            </a:r>
            <a:r>
              <a:rPr lang="en-US" sz="2000" b="1" dirty="0" smtClean="0">
                <a:solidFill>
                  <a:schemeClr val="accent6">
                    <a:lumMod val="75000"/>
                  </a:schemeClr>
                </a:solidFill>
              </a:rPr>
              <a:t>internal (thermal) energy store </a:t>
            </a:r>
            <a:r>
              <a:rPr lang="en-US" sz="2000" dirty="0" smtClean="0"/>
              <a:t>in the brakes and the brakes get hot.</a:t>
            </a:r>
          </a:p>
          <a:p>
            <a:pPr marL="342900" indent="-342900">
              <a:buFont typeface="Arial" charset="0"/>
              <a:buChar char="•"/>
            </a:pPr>
            <a:r>
              <a:rPr lang="en-US" sz="2000" dirty="0"/>
              <a:t>You will hear a </a:t>
            </a:r>
            <a:r>
              <a:rPr lang="en-US" sz="2000" b="1" dirty="0">
                <a:solidFill>
                  <a:schemeClr val="accent6">
                    <a:lumMod val="75000"/>
                  </a:schemeClr>
                </a:solidFill>
              </a:rPr>
              <a:t>sound</a:t>
            </a:r>
            <a:r>
              <a:rPr lang="en-US" sz="2000" dirty="0"/>
              <a:t> when the </a:t>
            </a:r>
            <a:r>
              <a:rPr lang="en-US" sz="2000" dirty="0" smtClean="0"/>
              <a:t>brakes of the lorry are applied, </a:t>
            </a:r>
            <a:r>
              <a:rPr lang="en-US" sz="2000" dirty="0"/>
              <a:t>the </a:t>
            </a:r>
            <a:r>
              <a:rPr lang="en-US" sz="2000" b="1" dirty="0">
                <a:solidFill>
                  <a:schemeClr val="accent6">
                    <a:lumMod val="75000"/>
                  </a:schemeClr>
                </a:solidFill>
              </a:rPr>
              <a:t>energy of the sound </a:t>
            </a:r>
            <a:r>
              <a:rPr lang="en-US" sz="2000" dirty="0"/>
              <a:t>is also transferred to the </a:t>
            </a:r>
            <a:r>
              <a:rPr lang="en-US" sz="2000" b="1" dirty="0">
                <a:solidFill>
                  <a:schemeClr val="accent6">
                    <a:lumMod val="75000"/>
                  </a:schemeClr>
                </a:solidFill>
              </a:rPr>
              <a:t>internal energy store </a:t>
            </a:r>
            <a:r>
              <a:rPr lang="en-US" sz="2000" dirty="0"/>
              <a:t>of the </a:t>
            </a:r>
            <a:r>
              <a:rPr lang="en-US" sz="2000" b="1" dirty="0">
                <a:solidFill>
                  <a:schemeClr val="accent6">
                    <a:lumMod val="75000"/>
                  </a:schemeClr>
                </a:solidFill>
              </a:rPr>
              <a:t>surroundings</a:t>
            </a:r>
            <a:r>
              <a:rPr lang="en-US" sz="2000" dirty="0" smtClean="0"/>
              <a:t>.</a:t>
            </a:r>
          </a:p>
          <a:p>
            <a:pPr marL="342900" indent="-342900">
              <a:buFont typeface="Arial" charset="0"/>
              <a:buChar char="•"/>
            </a:pPr>
            <a:r>
              <a:rPr lang="en-US" sz="2000" dirty="0" smtClean="0"/>
              <a:t>When the lorry </a:t>
            </a:r>
            <a:r>
              <a:rPr lang="en-US" sz="2000" b="1" dirty="0" smtClean="0">
                <a:solidFill>
                  <a:schemeClr val="accent6">
                    <a:lumMod val="75000"/>
                  </a:schemeClr>
                </a:solidFill>
              </a:rPr>
              <a:t>stops</a:t>
            </a:r>
            <a:r>
              <a:rPr lang="en-US" sz="2000" dirty="0" smtClean="0">
                <a:solidFill>
                  <a:schemeClr val="accent6">
                    <a:lumMod val="75000"/>
                  </a:schemeClr>
                </a:solidFill>
              </a:rPr>
              <a:t> </a:t>
            </a:r>
            <a:r>
              <a:rPr lang="en-US" sz="2000" dirty="0" smtClean="0"/>
              <a:t>its </a:t>
            </a:r>
            <a:r>
              <a:rPr lang="en-US" sz="2000" b="1" dirty="0" smtClean="0">
                <a:solidFill>
                  <a:schemeClr val="accent6">
                    <a:lumMod val="75000"/>
                  </a:schemeClr>
                </a:solidFill>
              </a:rPr>
              <a:t>kinetic energy store </a:t>
            </a:r>
            <a:r>
              <a:rPr lang="en-US" sz="2000" dirty="0" smtClean="0"/>
              <a:t>is </a:t>
            </a:r>
            <a:r>
              <a:rPr lang="en-US" sz="2000" b="1" dirty="0" smtClean="0">
                <a:solidFill>
                  <a:schemeClr val="accent6">
                    <a:lumMod val="75000"/>
                  </a:schemeClr>
                </a:solidFill>
              </a:rPr>
              <a:t>zero</a:t>
            </a:r>
            <a:r>
              <a:rPr lang="en-US" sz="2000" dirty="0" smtClean="0"/>
              <a:t>.</a:t>
            </a:r>
          </a:p>
        </p:txBody>
      </p:sp>
      <p:sp>
        <p:nvSpPr>
          <p:cNvPr id="8" name="Rectangle 7"/>
          <p:cNvSpPr/>
          <p:nvPr/>
        </p:nvSpPr>
        <p:spPr>
          <a:xfrm>
            <a:off x="100171" y="4170571"/>
            <a:ext cx="8858374" cy="1323439"/>
          </a:xfrm>
          <a:prstGeom prst="rect">
            <a:avLst/>
          </a:prstGeom>
          <a:noFill/>
        </p:spPr>
        <p:style>
          <a:lnRef idx="2">
            <a:schemeClr val="accent6"/>
          </a:lnRef>
          <a:fillRef idx="1">
            <a:schemeClr val="lt1"/>
          </a:fillRef>
          <a:effectRef idx="0">
            <a:schemeClr val="accent6"/>
          </a:effectRef>
          <a:fontRef idx="minor">
            <a:schemeClr val="dk1"/>
          </a:fontRef>
        </p:style>
        <p:txBody>
          <a:bodyPr wrap="square">
            <a:spAutoFit/>
          </a:bodyPr>
          <a:lstStyle/>
          <a:p>
            <a:pPr marL="342900" indent="-342900">
              <a:buFont typeface="Arial" charset="0"/>
              <a:buChar char="•"/>
            </a:pPr>
            <a:r>
              <a:rPr lang="en-US" sz="2000" dirty="0"/>
              <a:t>As </a:t>
            </a:r>
            <a:r>
              <a:rPr lang="en-US" sz="2000" dirty="0" smtClean="0"/>
              <a:t>the fuel burns the </a:t>
            </a:r>
            <a:r>
              <a:rPr lang="en-US" sz="2000" b="1" dirty="0" smtClean="0">
                <a:solidFill>
                  <a:schemeClr val="accent6">
                    <a:lumMod val="75000"/>
                  </a:schemeClr>
                </a:solidFill>
              </a:rPr>
              <a:t>chemical </a:t>
            </a:r>
            <a:r>
              <a:rPr lang="en-US" sz="2000" b="1" dirty="0">
                <a:solidFill>
                  <a:schemeClr val="accent6">
                    <a:lumMod val="75000"/>
                  </a:schemeClr>
                </a:solidFill>
              </a:rPr>
              <a:t>energy </a:t>
            </a:r>
            <a:r>
              <a:rPr lang="en-US" sz="2000" b="1" dirty="0" smtClean="0">
                <a:solidFill>
                  <a:schemeClr val="accent6">
                    <a:lumMod val="75000"/>
                  </a:schemeClr>
                </a:solidFill>
              </a:rPr>
              <a:t>store </a:t>
            </a:r>
            <a:r>
              <a:rPr lang="en-US" sz="2000" dirty="0"/>
              <a:t>in </a:t>
            </a:r>
            <a:r>
              <a:rPr lang="en-US" sz="2000" dirty="0" smtClean="0"/>
              <a:t>the fuel </a:t>
            </a:r>
            <a:r>
              <a:rPr lang="en-US" sz="2000" b="1" dirty="0" smtClean="0">
                <a:solidFill>
                  <a:schemeClr val="accent6">
                    <a:lumMod val="75000"/>
                  </a:schemeClr>
                </a:solidFill>
              </a:rPr>
              <a:t>decreases</a:t>
            </a:r>
            <a:r>
              <a:rPr lang="en-US" sz="2000" dirty="0" smtClean="0">
                <a:solidFill>
                  <a:schemeClr val="accent6">
                    <a:lumMod val="75000"/>
                  </a:schemeClr>
                </a:solidFill>
              </a:rPr>
              <a:t> </a:t>
            </a:r>
            <a:r>
              <a:rPr lang="en-US" sz="2000" dirty="0" smtClean="0">
                <a:solidFill>
                  <a:schemeClr val="tx1"/>
                </a:solidFill>
              </a:rPr>
              <a:t>and the </a:t>
            </a:r>
            <a:r>
              <a:rPr lang="en-US" sz="2000" b="1" dirty="0" smtClean="0">
                <a:solidFill>
                  <a:schemeClr val="accent6">
                    <a:lumMod val="75000"/>
                  </a:schemeClr>
                </a:solidFill>
              </a:rPr>
              <a:t>internal (thermal) energy store </a:t>
            </a:r>
            <a:r>
              <a:rPr lang="en-US" sz="2000" dirty="0" smtClean="0">
                <a:solidFill>
                  <a:schemeClr val="tx1"/>
                </a:solidFill>
              </a:rPr>
              <a:t>of the water</a:t>
            </a:r>
            <a:r>
              <a:rPr lang="en-US" sz="2000" b="1" dirty="0" smtClean="0">
                <a:solidFill>
                  <a:schemeClr val="accent6">
                    <a:lumMod val="75000"/>
                  </a:schemeClr>
                </a:solidFill>
              </a:rPr>
              <a:t> increases.</a:t>
            </a:r>
            <a:endParaRPr lang="en-US" sz="2000" b="1" dirty="0">
              <a:solidFill>
                <a:schemeClr val="accent6">
                  <a:lumMod val="75000"/>
                </a:schemeClr>
              </a:solidFill>
            </a:endParaRPr>
          </a:p>
          <a:p>
            <a:pPr marL="342900" indent="-342900">
              <a:buFont typeface="Arial" charset="0"/>
              <a:buChar char="•"/>
            </a:pPr>
            <a:r>
              <a:rPr lang="en-US" sz="2000" dirty="0" smtClean="0"/>
              <a:t>The temperature of the water increases and as bubbles form the </a:t>
            </a:r>
            <a:r>
              <a:rPr lang="en-US" sz="2000" b="1" dirty="0" smtClean="0">
                <a:solidFill>
                  <a:schemeClr val="accent6">
                    <a:lumMod val="75000"/>
                  </a:schemeClr>
                </a:solidFill>
              </a:rPr>
              <a:t>kinetic energy store</a:t>
            </a:r>
            <a:r>
              <a:rPr lang="en-US" sz="2000" dirty="0" smtClean="0"/>
              <a:t> of the water increases.</a:t>
            </a:r>
            <a:endParaRPr lang="en-US" sz="2000" dirty="0"/>
          </a:p>
        </p:txBody>
      </p:sp>
      <p:sp>
        <p:nvSpPr>
          <p:cNvPr id="10" name="Rectangle 9"/>
          <p:cNvSpPr/>
          <p:nvPr/>
        </p:nvSpPr>
        <p:spPr>
          <a:xfrm>
            <a:off x="100171" y="5453107"/>
            <a:ext cx="8858374" cy="1107996"/>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algn="ctr">
              <a:lnSpc>
                <a:spcPct val="150000"/>
              </a:lnSpc>
            </a:pPr>
            <a:r>
              <a:rPr lang="en-US" sz="2400" b="1" dirty="0" smtClean="0">
                <a:solidFill>
                  <a:schemeClr val="accent6">
                    <a:lumMod val="75000"/>
                  </a:schemeClr>
                </a:solidFill>
              </a:rPr>
              <a:t>Energy is measured in Joules (J)</a:t>
            </a:r>
          </a:p>
          <a:p>
            <a:pPr algn="ctr">
              <a:lnSpc>
                <a:spcPct val="150000"/>
              </a:lnSpc>
            </a:pPr>
            <a:r>
              <a:rPr lang="en-US" sz="2000" b="1" dirty="0" smtClean="0"/>
              <a:t>1 kilojoule (kJ) = 1000 J (10</a:t>
            </a:r>
            <a:r>
              <a:rPr lang="en-US" sz="2000" b="1" baseline="30000" dirty="0" smtClean="0"/>
              <a:t>3</a:t>
            </a:r>
            <a:r>
              <a:rPr lang="en-US" sz="2000" b="1" dirty="0" smtClean="0"/>
              <a:t>J)		1  </a:t>
            </a:r>
            <a:r>
              <a:rPr lang="en-US" sz="2000" b="1" dirty="0" err="1" smtClean="0"/>
              <a:t>megajoule</a:t>
            </a:r>
            <a:r>
              <a:rPr lang="en-US" sz="2000" b="1" dirty="0" smtClean="0"/>
              <a:t> = 1000 000 J (10</a:t>
            </a:r>
            <a:r>
              <a:rPr lang="en-US" sz="2000" b="1" baseline="30000" dirty="0" smtClean="0"/>
              <a:t>6</a:t>
            </a:r>
            <a:r>
              <a:rPr lang="en-US" sz="2000" b="1" dirty="0" smtClean="0"/>
              <a:t>J)</a:t>
            </a:r>
            <a:endParaRPr lang="en-US" sz="2000" b="1" dirty="0"/>
          </a:p>
        </p:txBody>
      </p:sp>
    </p:spTree>
    <p:extLst>
      <p:ext uri="{BB962C8B-B14F-4D97-AF65-F5344CB8AC3E}">
        <p14:creationId xmlns:p14="http://schemas.microsoft.com/office/powerpoint/2010/main" val="1012338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E4C9ACB5-A3F2-4D80-9381-FF7C8098016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23459" y="679105"/>
            <a:ext cx="3325005" cy="1483261"/>
          </a:xfrm>
          <a:prstGeom prst="rect">
            <a:avLst/>
          </a:prstGeom>
        </p:spPr>
      </p:pic>
      <p:sp>
        <p:nvSpPr>
          <p:cNvPr id="12" name="TextBox 11">
            <a:extLst>
              <a:ext uri="{FF2B5EF4-FFF2-40B4-BE49-F238E27FC236}">
                <a16:creationId xmlns:a16="http://schemas.microsoft.com/office/drawing/2014/main" xmlns="" id="{2DAB5C6E-8CAB-44BA-88DD-C8FB3EE75DC0}"/>
              </a:ext>
            </a:extLst>
          </p:cNvPr>
          <p:cNvSpPr txBox="1"/>
          <p:nvPr/>
        </p:nvSpPr>
        <p:spPr>
          <a:xfrm>
            <a:off x="221968" y="679105"/>
            <a:ext cx="5070112" cy="1200329"/>
          </a:xfrm>
          <a:prstGeom prst="rect">
            <a:avLst/>
          </a:prstGeom>
          <a:noFill/>
        </p:spPr>
        <p:txBody>
          <a:bodyPr wrap="square" rtlCol="0">
            <a:spAutoFit/>
          </a:bodyPr>
          <a:lstStyle/>
          <a:p>
            <a:r>
              <a:rPr lang="en-GB" sz="2400" b="1" dirty="0" smtClean="0"/>
              <a:t>Energy </a:t>
            </a:r>
            <a:r>
              <a:rPr lang="en-GB" sz="2400" b="1" dirty="0"/>
              <a:t>change – </a:t>
            </a:r>
            <a:r>
              <a:rPr lang="en-GB" sz="2400" b="1" dirty="0">
                <a:solidFill>
                  <a:schemeClr val="accent6">
                    <a:lumMod val="75000"/>
                  </a:schemeClr>
                </a:solidFill>
              </a:rPr>
              <a:t>mechanical work</a:t>
            </a:r>
            <a:r>
              <a:rPr lang="en-GB" sz="2400" b="1" dirty="0">
                <a:solidFill>
                  <a:schemeClr val="accent6"/>
                </a:solidFill>
              </a:rPr>
              <a:t> </a:t>
            </a:r>
            <a:r>
              <a:rPr lang="en-GB" sz="2400" b="1" dirty="0"/>
              <a:t>is the amount of</a:t>
            </a:r>
            <a:r>
              <a:rPr lang="en-GB" sz="2400" b="1" dirty="0">
                <a:solidFill>
                  <a:schemeClr val="accent6"/>
                </a:solidFill>
              </a:rPr>
              <a:t> </a:t>
            </a:r>
            <a:r>
              <a:rPr lang="en-GB" sz="2400" b="1" dirty="0">
                <a:solidFill>
                  <a:schemeClr val="accent6">
                    <a:lumMod val="75000"/>
                  </a:schemeClr>
                </a:solidFill>
              </a:rPr>
              <a:t>energy transferred </a:t>
            </a:r>
            <a:r>
              <a:rPr lang="en-GB" sz="2400" b="1" dirty="0"/>
              <a:t>by a</a:t>
            </a:r>
            <a:r>
              <a:rPr lang="en-GB" sz="2400" b="1" dirty="0">
                <a:solidFill>
                  <a:schemeClr val="accent6"/>
                </a:solidFill>
              </a:rPr>
              <a:t> </a:t>
            </a:r>
            <a:r>
              <a:rPr lang="en-GB" sz="2400" b="1" dirty="0">
                <a:solidFill>
                  <a:schemeClr val="accent6">
                    <a:lumMod val="75000"/>
                  </a:schemeClr>
                </a:solidFill>
              </a:rPr>
              <a:t>force</a:t>
            </a:r>
          </a:p>
        </p:txBody>
      </p:sp>
      <p:sp>
        <p:nvSpPr>
          <p:cNvPr id="13" name="Title 1"/>
          <p:cNvSpPr txBox="1">
            <a:spLocks/>
          </p:cNvSpPr>
          <p:nvPr/>
        </p:nvSpPr>
        <p:spPr>
          <a:xfrm>
            <a:off x="1187624" y="35655"/>
            <a:ext cx="795637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800" b="1" kern="0" dirty="0" smtClean="0">
                <a:solidFill>
                  <a:schemeClr val="accent6">
                    <a:lumMod val="75000"/>
                  </a:schemeClr>
                </a:solidFill>
                <a:latin typeface="+mn-lt"/>
              </a:rPr>
              <a:t>Energy stores and systems</a:t>
            </a:r>
            <a:endParaRPr lang="en-US" sz="2800" b="1" kern="0" dirty="0">
              <a:solidFill>
                <a:schemeClr val="accent6">
                  <a:lumMod val="75000"/>
                </a:schemeClr>
              </a:solidFill>
              <a:latin typeface="+mn-lt"/>
            </a:endParaRPr>
          </a:p>
        </p:txBody>
      </p:sp>
      <p:sp>
        <p:nvSpPr>
          <p:cNvPr id="8" name="Rectangle 7"/>
          <p:cNvSpPr/>
          <p:nvPr/>
        </p:nvSpPr>
        <p:spPr>
          <a:xfrm>
            <a:off x="251520" y="2272592"/>
            <a:ext cx="8496944" cy="41807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GB" sz="2000" dirty="0"/>
          </a:p>
          <a:p>
            <a:r>
              <a:rPr lang="en-GB" sz="2000" b="1" dirty="0"/>
              <a:t>When a pushback truck is used to move an </a:t>
            </a:r>
            <a:r>
              <a:rPr lang="en-GB" sz="2000" b="1" dirty="0" smtClean="0"/>
              <a:t>aircraft</a:t>
            </a:r>
            <a:r>
              <a:rPr lang="en-GB" sz="2000" b="1" dirty="0"/>
              <a:t>, it does work</a:t>
            </a:r>
            <a:r>
              <a:rPr lang="en-GB" sz="2000" dirty="0" smtClean="0"/>
              <a:t>.</a:t>
            </a:r>
          </a:p>
          <a:p>
            <a:endParaRPr lang="en-GB" sz="1050" dirty="0">
              <a:solidFill>
                <a:schemeClr val="accent6"/>
              </a:solidFill>
            </a:endParaRPr>
          </a:p>
          <a:p>
            <a:pPr algn="ctr">
              <a:spcBef>
                <a:spcPts val="0"/>
              </a:spcBef>
            </a:pPr>
            <a:r>
              <a:rPr lang="en-GB" sz="2000" dirty="0" smtClean="0">
                <a:solidFill>
                  <a:schemeClr val="accent6"/>
                </a:solidFill>
              </a:rPr>
              <a:t> </a:t>
            </a:r>
            <a:r>
              <a:rPr lang="en-GB" sz="2000" b="1" dirty="0">
                <a:solidFill>
                  <a:schemeClr val="accent6">
                    <a:lumMod val="75000"/>
                  </a:schemeClr>
                </a:solidFill>
              </a:rPr>
              <a:t>Work (J)  </a:t>
            </a:r>
            <a:r>
              <a:rPr lang="en-GB" sz="2000" b="1" dirty="0" smtClean="0">
                <a:solidFill>
                  <a:schemeClr val="accent6">
                    <a:lumMod val="75000"/>
                  </a:schemeClr>
                </a:solidFill>
              </a:rPr>
              <a:t>=  Force (</a:t>
            </a:r>
            <a:r>
              <a:rPr lang="en-GB" sz="2000" b="1" dirty="0">
                <a:solidFill>
                  <a:schemeClr val="accent6">
                    <a:lumMod val="75000"/>
                  </a:schemeClr>
                </a:solidFill>
              </a:rPr>
              <a:t>N)  x </a:t>
            </a:r>
            <a:r>
              <a:rPr lang="en-GB" sz="2000" b="1" dirty="0" smtClean="0">
                <a:solidFill>
                  <a:schemeClr val="accent6">
                    <a:lumMod val="75000"/>
                  </a:schemeClr>
                </a:solidFill>
              </a:rPr>
              <a:t> </a:t>
            </a:r>
            <a:r>
              <a:rPr lang="en-GB" sz="2000" b="1" dirty="0">
                <a:solidFill>
                  <a:schemeClr val="accent6">
                    <a:lumMod val="75000"/>
                  </a:schemeClr>
                </a:solidFill>
              </a:rPr>
              <a:t>Distance </a:t>
            </a:r>
            <a:r>
              <a:rPr lang="en-GB" sz="2000" b="1" dirty="0" smtClean="0">
                <a:solidFill>
                  <a:schemeClr val="accent6">
                    <a:lumMod val="75000"/>
                  </a:schemeClr>
                </a:solidFill>
              </a:rPr>
              <a:t>(along the line of the force) </a:t>
            </a:r>
            <a:r>
              <a:rPr lang="en-GB" sz="2000" b="1" dirty="0">
                <a:solidFill>
                  <a:schemeClr val="accent6">
                    <a:lumMod val="75000"/>
                  </a:schemeClr>
                </a:solidFill>
              </a:rPr>
              <a:t>(m</a:t>
            </a:r>
            <a:r>
              <a:rPr lang="en-GB" sz="2000" b="1" dirty="0" smtClean="0">
                <a:solidFill>
                  <a:schemeClr val="accent6">
                    <a:lumMod val="75000"/>
                  </a:schemeClr>
                </a:solidFill>
              </a:rPr>
              <a:t>).</a:t>
            </a:r>
          </a:p>
          <a:p>
            <a:pPr algn="ctr">
              <a:spcBef>
                <a:spcPts val="0"/>
              </a:spcBef>
            </a:pPr>
            <a:r>
              <a:rPr lang="en-GB" sz="2400" b="1" i="1" dirty="0" smtClean="0">
                <a:solidFill>
                  <a:schemeClr val="accent6">
                    <a:lumMod val="75000"/>
                  </a:schemeClr>
                </a:solidFill>
              </a:rPr>
              <a:t>W = F s</a:t>
            </a:r>
          </a:p>
          <a:p>
            <a:pPr algn="ctr">
              <a:spcBef>
                <a:spcPts val="0"/>
              </a:spcBef>
            </a:pPr>
            <a:endParaRPr lang="en-GB" sz="900" b="1" dirty="0">
              <a:solidFill>
                <a:schemeClr val="accent6">
                  <a:lumMod val="75000"/>
                </a:schemeClr>
              </a:solidFill>
            </a:endParaRPr>
          </a:p>
          <a:p>
            <a:pPr>
              <a:spcBef>
                <a:spcPts val="0"/>
              </a:spcBef>
            </a:pPr>
            <a:r>
              <a:rPr lang="en-GB" sz="2000" b="1" dirty="0"/>
              <a:t>If the aircraft has a mass of 30 000kg and it is moved a distance of 20m, calculate the work done by the pushback truck.</a:t>
            </a:r>
          </a:p>
          <a:p>
            <a:pPr algn="ctr">
              <a:spcBef>
                <a:spcPts val="0"/>
              </a:spcBef>
            </a:pPr>
            <a:endParaRPr lang="en-GB" sz="800" b="1" dirty="0">
              <a:solidFill>
                <a:schemeClr val="bg1">
                  <a:lumMod val="50000"/>
                </a:schemeClr>
              </a:solidFill>
            </a:endParaRPr>
          </a:p>
          <a:p>
            <a:pPr algn="ctr">
              <a:spcBef>
                <a:spcPts val="0"/>
              </a:spcBef>
            </a:pPr>
            <a:r>
              <a:rPr lang="en-GB" sz="2000" b="1" dirty="0">
                <a:solidFill>
                  <a:schemeClr val="bg1">
                    <a:lumMod val="50000"/>
                  </a:schemeClr>
                </a:solidFill>
              </a:rPr>
              <a:t>Force (</a:t>
            </a:r>
            <a:r>
              <a:rPr lang="en-GB" sz="2000" b="1" dirty="0" smtClean="0">
                <a:solidFill>
                  <a:schemeClr val="bg1">
                    <a:lumMod val="50000"/>
                  </a:schemeClr>
                </a:solidFill>
              </a:rPr>
              <a:t>weight) =  </a:t>
            </a:r>
            <a:r>
              <a:rPr lang="en-GB" sz="2000" b="1" dirty="0">
                <a:solidFill>
                  <a:schemeClr val="bg1">
                    <a:lumMod val="50000"/>
                  </a:schemeClr>
                </a:solidFill>
              </a:rPr>
              <a:t>mass x </a:t>
            </a:r>
            <a:r>
              <a:rPr lang="en-GB" sz="2000" b="1" dirty="0" smtClean="0">
                <a:solidFill>
                  <a:schemeClr val="bg1">
                    <a:lumMod val="50000"/>
                  </a:schemeClr>
                </a:solidFill>
              </a:rPr>
              <a:t>gravitational field strength</a:t>
            </a:r>
            <a:endParaRPr lang="en-GB" sz="2000" b="1" dirty="0">
              <a:solidFill>
                <a:schemeClr val="bg1">
                  <a:lumMod val="50000"/>
                </a:schemeClr>
              </a:solidFill>
            </a:endParaRPr>
          </a:p>
          <a:p>
            <a:pPr algn="ctr">
              <a:spcBef>
                <a:spcPts val="0"/>
              </a:spcBef>
            </a:pPr>
            <a:r>
              <a:rPr lang="en-GB" sz="2000" b="1" dirty="0">
                <a:solidFill>
                  <a:schemeClr val="bg1">
                    <a:lumMod val="50000"/>
                  </a:schemeClr>
                </a:solidFill>
              </a:rPr>
              <a:t>                 </a:t>
            </a:r>
          </a:p>
          <a:p>
            <a:pPr algn="ctr">
              <a:spcBef>
                <a:spcPts val="0"/>
              </a:spcBef>
            </a:pPr>
            <a:r>
              <a:rPr lang="en-GB" sz="2000" b="1" dirty="0">
                <a:solidFill>
                  <a:schemeClr val="bg1">
                    <a:lumMod val="50000"/>
                  </a:schemeClr>
                </a:solidFill>
              </a:rPr>
              <a:t>               	 </a:t>
            </a:r>
            <a:r>
              <a:rPr lang="en-GB" sz="2000" b="1" dirty="0" smtClean="0">
                <a:solidFill>
                  <a:schemeClr val="bg1">
                    <a:lumMod val="50000"/>
                  </a:schemeClr>
                </a:solidFill>
              </a:rPr>
              <a:t>Force  </a:t>
            </a:r>
            <a:r>
              <a:rPr lang="en-GB" sz="2000" b="1" dirty="0">
                <a:solidFill>
                  <a:schemeClr val="bg1">
                    <a:lumMod val="50000"/>
                  </a:schemeClr>
                </a:solidFill>
              </a:rPr>
              <a:t>=   30 000 x 10 = 300 000 N</a:t>
            </a:r>
          </a:p>
          <a:p>
            <a:pPr>
              <a:spcBef>
                <a:spcPts val="0"/>
              </a:spcBef>
            </a:pPr>
            <a:endParaRPr lang="en-GB" sz="1050" b="1" dirty="0">
              <a:solidFill>
                <a:schemeClr val="accent6">
                  <a:lumMod val="75000"/>
                </a:schemeClr>
              </a:solidFill>
            </a:endParaRPr>
          </a:p>
          <a:p>
            <a:pPr algn="ctr">
              <a:spcBef>
                <a:spcPts val="0"/>
              </a:spcBef>
            </a:pPr>
            <a:r>
              <a:rPr lang="en-GB" sz="2400" b="1" i="1" dirty="0" smtClean="0">
                <a:solidFill>
                  <a:schemeClr val="accent6">
                    <a:lumMod val="75000"/>
                  </a:schemeClr>
                </a:solidFill>
              </a:rPr>
              <a:t>W = </a:t>
            </a:r>
            <a:r>
              <a:rPr lang="en-GB" sz="2400" b="1" i="1" dirty="0">
                <a:solidFill>
                  <a:schemeClr val="accent6">
                    <a:lumMod val="75000"/>
                  </a:schemeClr>
                </a:solidFill>
              </a:rPr>
              <a:t>F </a:t>
            </a:r>
            <a:r>
              <a:rPr lang="en-GB" sz="2400" b="1" i="1" dirty="0" smtClean="0">
                <a:solidFill>
                  <a:schemeClr val="accent6">
                    <a:lumMod val="75000"/>
                  </a:schemeClr>
                </a:solidFill>
              </a:rPr>
              <a:t> </a:t>
            </a:r>
            <a:r>
              <a:rPr lang="en-GB" sz="2400" b="1" i="1" dirty="0">
                <a:solidFill>
                  <a:schemeClr val="accent6">
                    <a:lumMod val="75000"/>
                  </a:schemeClr>
                </a:solidFill>
              </a:rPr>
              <a:t>s</a:t>
            </a:r>
            <a:r>
              <a:rPr lang="en-GB" sz="2400" b="1" i="1" dirty="0" smtClean="0">
                <a:solidFill>
                  <a:schemeClr val="accent6">
                    <a:lumMod val="75000"/>
                  </a:schemeClr>
                </a:solidFill>
              </a:rPr>
              <a:t>    </a:t>
            </a:r>
          </a:p>
          <a:p>
            <a:pPr algn="ctr">
              <a:spcBef>
                <a:spcPts val="0"/>
              </a:spcBef>
            </a:pPr>
            <a:r>
              <a:rPr lang="en-GB" sz="2000" b="1" dirty="0" smtClean="0">
                <a:solidFill>
                  <a:schemeClr val="accent6">
                    <a:lumMod val="75000"/>
                  </a:schemeClr>
                </a:solidFill>
              </a:rPr>
              <a:t> </a:t>
            </a:r>
            <a:endParaRPr lang="en-GB" sz="2000" b="1" dirty="0">
              <a:solidFill>
                <a:schemeClr val="accent6">
                  <a:lumMod val="75000"/>
                </a:schemeClr>
              </a:solidFill>
            </a:endParaRPr>
          </a:p>
          <a:p>
            <a:pPr algn="ctr">
              <a:spcBef>
                <a:spcPts val="0"/>
              </a:spcBef>
            </a:pPr>
            <a:r>
              <a:rPr lang="en-GB" sz="2000" b="1" dirty="0">
                <a:solidFill>
                  <a:schemeClr val="accent6">
                    <a:lumMod val="75000"/>
                  </a:schemeClr>
                </a:solidFill>
              </a:rPr>
              <a:t>Work = 300 000 x 20    =   </a:t>
            </a:r>
            <a:r>
              <a:rPr lang="en-GB" sz="2000" b="1" u="sng" dirty="0">
                <a:solidFill>
                  <a:schemeClr val="accent6">
                    <a:lumMod val="75000"/>
                  </a:schemeClr>
                </a:solidFill>
              </a:rPr>
              <a:t>6 000 000 J  (6 MJ</a:t>
            </a:r>
            <a:r>
              <a:rPr lang="en-GB" sz="2000" b="1" u="sng" dirty="0" smtClean="0">
                <a:solidFill>
                  <a:schemeClr val="accent6">
                    <a:lumMod val="75000"/>
                  </a:schemeClr>
                </a:solidFill>
              </a:rPr>
              <a:t>)</a:t>
            </a:r>
          </a:p>
          <a:p>
            <a:pPr algn="ctr">
              <a:spcBef>
                <a:spcPts val="0"/>
              </a:spcBef>
            </a:pPr>
            <a:endParaRPr lang="en-GB" sz="2000" b="1" dirty="0">
              <a:solidFill>
                <a:schemeClr val="accent6">
                  <a:lumMod val="75000"/>
                </a:schemeClr>
              </a:solidFill>
            </a:endParaRPr>
          </a:p>
        </p:txBody>
      </p:sp>
    </p:spTree>
    <p:extLst>
      <p:ext uri="{BB962C8B-B14F-4D97-AF65-F5344CB8AC3E}">
        <p14:creationId xmlns:p14="http://schemas.microsoft.com/office/powerpoint/2010/main" val="1368381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xmlns="" id="{2DAB5C6E-8CAB-44BA-88DD-C8FB3EE75DC0}"/>
              </a:ext>
            </a:extLst>
          </p:cNvPr>
          <p:cNvSpPr txBox="1"/>
          <p:nvPr/>
        </p:nvSpPr>
        <p:spPr>
          <a:xfrm>
            <a:off x="196191" y="693588"/>
            <a:ext cx="4735849" cy="1938992"/>
          </a:xfrm>
          <a:prstGeom prst="rect">
            <a:avLst/>
          </a:prstGeom>
          <a:noFill/>
        </p:spPr>
        <p:txBody>
          <a:bodyPr wrap="square" rtlCol="0">
            <a:spAutoFit/>
          </a:bodyPr>
          <a:lstStyle/>
          <a:p>
            <a:r>
              <a:rPr lang="en-GB" sz="2400" b="1" dirty="0" smtClean="0"/>
              <a:t>Energy change – </a:t>
            </a:r>
            <a:r>
              <a:rPr lang="en-GB" sz="2400" b="1" dirty="0" smtClean="0">
                <a:solidFill>
                  <a:schemeClr val="accent6">
                    <a:lumMod val="75000"/>
                  </a:schemeClr>
                </a:solidFill>
              </a:rPr>
              <a:t>Electrical work </a:t>
            </a:r>
            <a:r>
              <a:rPr lang="en-GB" sz="2400" b="1" dirty="0"/>
              <a:t>is done when charge flows in a </a:t>
            </a:r>
            <a:r>
              <a:rPr lang="en-GB" sz="2400" b="1" dirty="0" smtClean="0"/>
              <a:t>circuit is the </a:t>
            </a:r>
            <a:r>
              <a:rPr lang="en-GB" sz="2400" b="1" dirty="0">
                <a:solidFill>
                  <a:schemeClr val="accent6">
                    <a:lumMod val="75000"/>
                  </a:schemeClr>
                </a:solidFill>
              </a:rPr>
              <a:t>amount of energy </a:t>
            </a:r>
            <a:r>
              <a:rPr lang="en-GB" sz="2400" b="1" dirty="0" smtClean="0">
                <a:solidFill>
                  <a:schemeClr val="accent6">
                    <a:lumMod val="75000"/>
                  </a:schemeClr>
                </a:solidFill>
              </a:rPr>
              <a:t>transferred.</a:t>
            </a:r>
            <a:endParaRPr lang="en-GB" sz="2400" b="1" dirty="0">
              <a:solidFill>
                <a:schemeClr val="accent6">
                  <a:lumMod val="75000"/>
                </a:schemeClr>
              </a:solidFill>
            </a:endParaRPr>
          </a:p>
          <a:p>
            <a:endParaRPr lang="en-GB" sz="2400" b="1" dirty="0"/>
          </a:p>
        </p:txBody>
      </p:sp>
      <p:pic>
        <p:nvPicPr>
          <p:cNvPr id="5" name="Picture 4">
            <a:extLst>
              <a:ext uri="{FF2B5EF4-FFF2-40B4-BE49-F238E27FC236}">
                <a16:creationId xmlns:a16="http://schemas.microsoft.com/office/drawing/2014/main" xmlns="" id="{8AFA44AD-5074-4CCF-AECC-0F31B670F36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54373" y="692696"/>
            <a:ext cx="4106262" cy="1627413"/>
          </a:xfrm>
          <a:prstGeom prst="rect">
            <a:avLst/>
          </a:prstGeom>
        </p:spPr>
      </p:pic>
      <p:sp>
        <p:nvSpPr>
          <p:cNvPr id="13" name="Title 1"/>
          <p:cNvSpPr txBox="1">
            <a:spLocks/>
          </p:cNvSpPr>
          <p:nvPr/>
        </p:nvSpPr>
        <p:spPr>
          <a:xfrm>
            <a:off x="1187624" y="35655"/>
            <a:ext cx="795637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800" b="1" kern="0" dirty="0" smtClean="0">
                <a:solidFill>
                  <a:schemeClr val="accent6">
                    <a:lumMod val="75000"/>
                  </a:schemeClr>
                </a:solidFill>
                <a:latin typeface="+mn-lt"/>
              </a:rPr>
              <a:t>Energy stores and systems</a:t>
            </a:r>
            <a:endParaRPr lang="en-US" sz="2800" b="1" kern="0" dirty="0">
              <a:solidFill>
                <a:schemeClr val="accent6">
                  <a:lumMod val="75000"/>
                </a:schemeClr>
              </a:solidFill>
              <a:latin typeface="+mn-lt"/>
            </a:endParaRPr>
          </a:p>
        </p:txBody>
      </p:sp>
      <p:sp>
        <p:nvSpPr>
          <p:cNvPr id="8" name="Rectangle 7"/>
          <p:cNvSpPr/>
          <p:nvPr/>
        </p:nvSpPr>
        <p:spPr>
          <a:xfrm>
            <a:off x="107504" y="2632580"/>
            <a:ext cx="8947808" cy="387694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sz="2000" b="1" dirty="0"/>
              <a:t>When a current flows through a circuit, work is done </a:t>
            </a:r>
            <a:r>
              <a:rPr lang="en-GB" sz="2000" b="1" dirty="0" smtClean="0"/>
              <a:t>(energy is transferred) and </a:t>
            </a:r>
            <a:r>
              <a:rPr lang="en-GB" sz="2000" b="1" dirty="0"/>
              <a:t>the energy store changes.</a:t>
            </a:r>
          </a:p>
          <a:p>
            <a:endParaRPr lang="en-GB" sz="2000" b="1" dirty="0"/>
          </a:p>
          <a:p>
            <a:pPr algn="ctr"/>
            <a:r>
              <a:rPr lang="en-GB" sz="2000" b="1" dirty="0" smtClean="0">
                <a:solidFill>
                  <a:schemeClr val="accent6">
                    <a:lumMod val="75000"/>
                  </a:schemeClr>
                </a:solidFill>
              </a:rPr>
              <a:t> Energy transferred  (Work) (J) </a:t>
            </a:r>
            <a:r>
              <a:rPr lang="en-GB" sz="2000" b="1" dirty="0">
                <a:solidFill>
                  <a:schemeClr val="accent6">
                    <a:lumMod val="75000"/>
                  </a:schemeClr>
                </a:solidFill>
              </a:rPr>
              <a:t>= </a:t>
            </a:r>
            <a:r>
              <a:rPr lang="en-GB" sz="2000" b="1" dirty="0" smtClean="0">
                <a:solidFill>
                  <a:schemeClr val="accent6">
                    <a:lumMod val="75000"/>
                  </a:schemeClr>
                </a:solidFill>
              </a:rPr>
              <a:t>Charge flow  (Q) x Potential </a:t>
            </a:r>
            <a:r>
              <a:rPr lang="en-GB" sz="2000" b="1" dirty="0">
                <a:solidFill>
                  <a:schemeClr val="accent6">
                    <a:lumMod val="75000"/>
                  </a:schemeClr>
                </a:solidFill>
              </a:rPr>
              <a:t>difference (V) </a:t>
            </a:r>
          </a:p>
          <a:p>
            <a:pPr algn="ctr"/>
            <a:r>
              <a:rPr lang="en-GB" sz="2000" b="1" i="1" dirty="0" smtClean="0">
                <a:solidFill>
                  <a:schemeClr val="accent6">
                    <a:lumMod val="75000"/>
                  </a:schemeClr>
                </a:solidFill>
              </a:rPr>
              <a:t>E = Q V</a:t>
            </a:r>
          </a:p>
          <a:p>
            <a:pPr algn="ctr"/>
            <a:endParaRPr lang="en-GB" sz="800" b="1" dirty="0"/>
          </a:p>
          <a:p>
            <a:r>
              <a:rPr lang="en-GB" sz="2000" b="1" dirty="0"/>
              <a:t>In one minute, 30 Coulombs of charge flows through the bulb when a potential difference of 3 V is placed across it</a:t>
            </a:r>
            <a:r>
              <a:rPr lang="en-GB" sz="2000" b="1" dirty="0" smtClean="0"/>
              <a:t>. Calculate the work done (energy transferred).</a:t>
            </a:r>
            <a:endParaRPr lang="en-GB" sz="2000" b="1" dirty="0"/>
          </a:p>
          <a:p>
            <a:endParaRPr lang="en-GB" sz="800" b="1" dirty="0"/>
          </a:p>
          <a:p>
            <a:pPr algn="ctr"/>
            <a:r>
              <a:rPr lang="en-GB" sz="2000" b="1" i="1" dirty="0">
                <a:solidFill>
                  <a:schemeClr val="accent6">
                    <a:lumMod val="75000"/>
                  </a:schemeClr>
                </a:solidFill>
              </a:rPr>
              <a:t>     </a:t>
            </a:r>
            <a:r>
              <a:rPr lang="en-GB" sz="2000" b="1" i="1" dirty="0" smtClean="0">
                <a:solidFill>
                  <a:schemeClr val="accent6">
                    <a:lumMod val="75000"/>
                  </a:schemeClr>
                </a:solidFill>
              </a:rPr>
              <a:t>E = Q V</a:t>
            </a:r>
            <a:endParaRPr lang="en-GB" sz="2000" b="1" i="1" dirty="0">
              <a:solidFill>
                <a:schemeClr val="accent6">
                  <a:lumMod val="75000"/>
                </a:schemeClr>
              </a:solidFill>
            </a:endParaRPr>
          </a:p>
          <a:p>
            <a:pPr algn="ctr"/>
            <a:r>
              <a:rPr lang="en-GB" sz="2000" b="1" dirty="0">
                <a:solidFill>
                  <a:schemeClr val="accent6">
                    <a:lumMod val="75000"/>
                  </a:schemeClr>
                </a:solidFill>
              </a:rPr>
              <a:t>    </a:t>
            </a:r>
            <a:r>
              <a:rPr lang="en-GB" sz="2000" b="1" dirty="0" smtClean="0">
                <a:solidFill>
                  <a:schemeClr val="accent6">
                    <a:lumMod val="75000"/>
                  </a:schemeClr>
                </a:solidFill>
              </a:rPr>
              <a:t>E = </a:t>
            </a:r>
            <a:r>
              <a:rPr lang="en-GB" sz="2000" b="1" dirty="0">
                <a:solidFill>
                  <a:schemeClr val="accent6">
                    <a:lumMod val="75000"/>
                  </a:schemeClr>
                </a:solidFill>
              </a:rPr>
              <a:t>3 x </a:t>
            </a:r>
            <a:r>
              <a:rPr lang="en-GB" sz="2000" b="1" dirty="0" smtClean="0">
                <a:solidFill>
                  <a:schemeClr val="accent6">
                    <a:lumMod val="75000"/>
                  </a:schemeClr>
                </a:solidFill>
              </a:rPr>
              <a:t>30</a:t>
            </a:r>
          </a:p>
          <a:p>
            <a:pPr algn="ctr"/>
            <a:endParaRPr lang="en-GB" sz="800" b="1" dirty="0">
              <a:solidFill>
                <a:schemeClr val="accent6">
                  <a:lumMod val="75000"/>
                </a:schemeClr>
              </a:solidFill>
            </a:endParaRPr>
          </a:p>
          <a:p>
            <a:pPr algn="ctr"/>
            <a:r>
              <a:rPr lang="en-GB" sz="2000" b="1" dirty="0">
                <a:solidFill>
                  <a:schemeClr val="accent6">
                    <a:lumMod val="75000"/>
                  </a:schemeClr>
                </a:solidFill>
              </a:rPr>
              <a:t>     </a:t>
            </a:r>
            <a:r>
              <a:rPr lang="en-GB" sz="2000" b="1" dirty="0" smtClean="0">
                <a:solidFill>
                  <a:schemeClr val="accent6">
                    <a:lumMod val="75000"/>
                  </a:schemeClr>
                </a:solidFill>
              </a:rPr>
              <a:t>Energy transferred (Work)  </a:t>
            </a:r>
            <a:r>
              <a:rPr lang="en-GB" sz="2000" b="1" dirty="0">
                <a:solidFill>
                  <a:schemeClr val="accent6">
                    <a:lumMod val="75000"/>
                  </a:schemeClr>
                </a:solidFill>
              </a:rPr>
              <a:t>= </a:t>
            </a:r>
            <a:r>
              <a:rPr lang="en-GB" sz="2000" b="1" u="sng" dirty="0">
                <a:solidFill>
                  <a:schemeClr val="accent6">
                    <a:lumMod val="75000"/>
                  </a:schemeClr>
                </a:solidFill>
              </a:rPr>
              <a:t>90 J</a:t>
            </a:r>
          </a:p>
        </p:txBody>
      </p:sp>
    </p:spTree>
    <p:extLst>
      <p:ext uri="{BB962C8B-B14F-4D97-AF65-F5344CB8AC3E}">
        <p14:creationId xmlns:p14="http://schemas.microsoft.com/office/powerpoint/2010/main" val="1204315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877EB6-5057-4682-85F2-622D08223BF9}"/>
              </a:ext>
            </a:extLst>
          </p:cNvPr>
          <p:cNvSpPr>
            <a:spLocks noGrp="1"/>
          </p:cNvSpPr>
          <p:nvPr>
            <p:ph type="title"/>
          </p:nvPr>
        </p:nvSpPr>
        <p:spPr>
          <a:xfrm>
            <a:off x="755576" y="0"/>
            <a:ext cx="8229600" cy="692696"/>
          </a:xfrm>
        </p:spPr>
        <p:txBody>
          <a:bodyPr anchor="ctr"/>
          <a:lstStyle/>
          <a:p>
            <a:pPr algn="r"/>
            <a:r>
              <a:rPr lang="en-GB" sz="2400" dirty="0">
                <a:latin typeface="+mn-lt"/>
              </a:rPr>
              <a:t>         </a:t>
            </a:r>
            <a:r>
              <a:rPr lang="en-GB" sz="2400" b="1" dirty="0">
                <a:solidFill>
                  <a:schemeClr val="accent6">
                    <a:lumMod val="75000"/>
                  </a:schemeClr>
                </a:solidFill>
                <a:latin typeface="+mn-lt"/>
              </a:rPr>
              <a:t>Changes in Energy - Kinetic Energy</a:t>
            </a:r>
          </a:p>
        </p:txBody>
      </p:sp>
      <p:sp>
        <p:nvSpPr>
          <p:cNvPr id="3" name="Text Placeholder 2">
            <a:extLst>
              <a:ext uri="{FF2B5EF4-FFF2-40B4-BE49-F238E27FC236}">
                <a16:creationId xmlns:a16="http://schemas.microsoft.com/office/drawing/2014/main" xmlns="" xmlns:a14="http://schemas.microsoft.com/office/drawing/2010/main" xmlns:mc="http://schemas.openxmlformats.org/markup-compatibility/2006" id="{26050DFD-E555-4EE4-B12C-D2AE5FAFF2A2}"/>
              </a:ext>
            </a:extLst>
          </p:cNvPr>
          <p:cNvSpPr>
            <a:spLocks noGrp="1"/>
          </p:cNvSpPr>
          <p:nvPr>
            <p:ph type="body" idx="1"/>
          </p:nvPr>
        </p:nvSpPr>
        <p:spPr>
          <a:xfrm>
            <a:off x="179512" y="724338"/>
            <a:ext cx="8964488" cy="5949280"/>
          </a:xfrm>
        </p:spPr>
        <p:txBody>
          <a:bodyPr/>
          <a:lstStyle/>
          <a:p>
            <a:pPr algn="l">
              <a:spcBef>
                <a:spcPts val="0"/>
              </a:spcBef>
            </a:pPr>
            <a:r>
              <a:rPr lang="en-GB" sz="2000" dirty="0">
                <a:latin typeface="+mn-lt"/>
              </a:rPr>
              <a:t>Moving objects have kinetic energy.</a:t>
            </a:r>
          </a:p>
          <a:p>
            <a:pPr algn="l">
              <a:spcBef>
                <a:spcPts val="0"/>
              </a:spcBef>
            </a:pPr>
            <a:endParaRPr lang="en-GB" sz="800" dirty="0">
              <a:latin typeface="+mn-lt"/>
            </a:endParaRPr>
          </a:p>
          <a:p>
            <a:pPr algn="l">
              <a:spcBef>
                <a:spcPts val="0"/>
              </a:spcBef>
            </a:pPr>
            <a:r>
              <a:rPr lang="en-GB" sz="2000" dirty="0" smtClean="0">
                <a:latin typeface="+mn-lt"/>
              </a:rPr>
              <a:t>The </a:t>
            </a:r>
            <a:r>
              <a:rPr lang="en-GB" sz="2000" dirty="0">
                <a:latin typeface="+mn-lt"/>
              </a:rPr>
              <a:t>long-jumper is using her </a:t>
            </a:r>
            <a:r>
              <a:rPr lang="en-GB" sz="2000" b="1" dirty="0">
                <a:solidFill>
                  <a:schemeClr val="accent6">
                    <a:lumMod val="75000"/>
                  </a:schemeClr>
                </a:solidFill>
                <a:latin typeface="+mn-lt"/>
              </a:rPr>
              <a:t>kinetic energy </a:t>
            </a:r>
            <a:r>
              <a:rPr lang="en-GB" sz="2000" dirty="0">
                <a:latin typeface="+mn-lt"/>
              </a:rPr>
              <a:t>to</a:t>
            </a:r>
          </a:p>
          <a:p>
            <a:pPr algn="l">
              <a:spcBef>
                <a:spcPts val="0"/>
              </a:spcBef>
            </a:pPr>
            <a:r>
              <a:rPr lang="en-GB" sz="2000" dirty="0" smtClean="0">
                <a:latin typeface="+mn-lt"/>
              </a:rPr>
              <a:t>carry </a:t>
            </a:r>
            <a:r>
              <a:rPr lang="en-GB" sz="2000" dirty="0">
                <a:latin typeface="+mn-lt"/>
              </a:rPr>
              <a:t>her body as far as possible. The more</a:t>
            </a:r>
          </a:p>
          <a:p>
            <a:pPr algn="l">
              <a:spcBef>
                <a:spcPts val="0"/>
              </a:spcBef>
            </a:pPr>
            <a:r>
              <a:rPr lang="en-GB" sz="2000" dirty="0" smtClean="0">
                <a:latin typeface="+mn-lt"/>
              </a:rPr>
              <a:t>kinetic </a:t>
            </a:r>
            <a:r>
              <a:rPr lang="en-GB" sz="2000" dirty="0">
                <a:latin typeface="+mn-lt"/>
              </a:rPr>
              <a:t>energy she has, the longer her jump will</a:t>
            </a:r>
          </a:p>
          <a:p>
            <a:pPr algn="l">
              <a:spcBef>
                <a:spcPts val="0"/>
              </a:spcBef>
            </a:pPr>
            <a:r>
              <a:rPr lang="en-GB" sz="2000" dirty="0" smtClean="0">
                <a:latin typeface="+mn-lt"/>
              </a:rPr>
              <a:t>be</a:t>
            </a:r>
            <a:r>
              <a:rPr lang="en-GB" sz="2000" dirty="0">
                <a:latin typeface="+mn-lt"/>
              </a:rPr>
              <a:t>. Her kinetic energy depends on her mass</a:t>
            </a:r>
          </a:p>
          <a:p>
            <a:pPr algn="l">
              <a:spcBef>
                <a:spcPts val="0"/>
              </a:spcBef>
            </a:pPr>
            <a:r>
              <a:rPr lang="en-GB" sz="2000" dirty="0" smtClean="0">
                <a:latin typeface="+mn-lt"/>
              </a:rPr>
              <a:t>(</a:t>
            </a:r>
            <a:r>
              <a:rPr lang="en-GB" sz="2000" dirty="0">
                <a:latin typeface="+mn-lt"/>
              </a:rPr>
              <a:t>which she can not change) and her velocity (</a:t>
            </a:r>
            <a:r>
              <a:rPr lang="en-GB" sz="2000" dirty="0" smtClean="0">
                <a:latin typeface="+mn-lt"/>
              </a:rPr>
              <a:t>she can </a:t>
            </a:r>
            <a:r>
              <a:rPr lang="en-GB" sz="2000" dirty="0">
                <a:latin typeface="+mn-lt"/>
              </a:rPr>
              <a:t>run faster!).</a:t>
            </a:r>
          </a:p>
          <a:p>
            <a:pPr algn="l">
              <a:spcBef>
                <a:spcPts val="0"/>
              </a:spcBef>
            </a:pPr>
            <a:endParaRPr lang="en-GB" sz="2000" dirty="0">
              <a:latin typeface="+mn-lt"/>
            </a:endParaRPr>
          </a:p>
          <a:p>
            <a:pPr algn="l">
              <a:spcBef>
                <a:spcPts val="0"/>
              </a:spcBef>
            </a:pPr>
            <a:r>
              <a:rPr lang="en-GB" sz="2000" baseline="30000" dirty="0">
                <a:latin typeface="+mn-lt"/>
              </a:rPr>
              <a:t>	</a:t>
            </a:r>
          </a:p>
        </p:txBody>
      </p:sp>
      <p:pic>
        <p:nvPicPr>
          <p:cNvPr id="7" name="Picture 6">
            <a:extLst>
              <a:ext uri="{FF2B5EF4-FFF2-40B4-BE49-F238E27FC236}">
                <a16:creationId xmlns:a16="http://schemas.microsoft.com/office/drawing/2014/main" xmlns="" id="{665BD5D9-528D-419F-9197-B3ACB2991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724338"/>
            <a:ext cx="3200400" cy="1624542"/>
          </a:xfrm>
          <a:prstGeom prst="rect">
            <a:avLst/>
          </a:prstGeom>
        </p:spPr>
      </p:pic>
      <mc:AlternateContent xmlns:mc="http://schemas.openxmlformats.org/markup-compatibility/2006" xmlns:a14="http://schemas.microsoft.com/office/drawing/2010/main">
        <mc:Choice Requires="a14">
          <p:sp>
            <p:nvSpPr>
              <p:cNvPr id="6" name="Rectangle 5"/>
              <p:cNvSpPr/>
              <p:nvPr/>
            </p:nvSpPr>
            <p:spPr>
              <a:xfrm>
                <a:off x="179512" y="2924944"/>
                <a:ext cx="8805664" cy="363116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t>The kinetic energy of a moving object can be calculated using </a:t>
                </a:r>
                <a:r>
                  <a:rPr lang="en-US" sz="2000" dirty="0" smtClean="0"/>
                  <a:t>the equation</a:t>
                </a:r>
                <a:r>
                  <a:rPr lang="en-US" sz="2000" dirty="0"/>
                  <a:t>:</a:t>
                </a:r>
              </a:p>
              <a:p>
                <a:endParaRPr lang="en-GB" sz="2000" dirty="0" smtClean="0"/>
              </a:p>
              <a:p>
                <a:pPr algn="ctr"/>
                <a:r>
                  <a:rPr lang="en-GB" sz="2000" b="1" dirty="0">
                    <a:solidFill>
                      <a:schemeClr val="accent6">
                        <a:lumMod val="75000"/>
                      </a:schemeClr>
                    </a:solidFill>
                  </a:rPr>
                  <a:t>K</a:t>
                </a:r>
                <a:r>
                  <a:rPr lang="en-GB" sz="2000" b="1" dirty="0" smtClean="0">
                    <a:solidFill>
                      <a:schemeClr val="accent6">
                        <a:lumMod val="75000"/>
                      </a:schemeClr>
                    </a:solidFill>
                  </a:rPr>
                  <a:t>inetic energy (J) </a:t>
                </a:r>
                <a:r>
                  <a:rPr lang="en-GB" sz="2000" b="1" dirty="0">
                    <a:solidFill>
                      <a:schemeClr val="accent6">
                        <a:lumMod val="75000"/>
                      </a:schemeClr>
                    </a:solidFill>
                  </a:rPr>
                  <a:t>= 0.5 × </a:t>
                </a:r>
                <a:r>
                  <a:rPr lang="en-GB" sz="2000" b="1" dirty="0" smtClean="0">
                    <a:solidFill>
                      <a:schemeClr val="accent6">
                        <a:lumMod val="75000"/>
                      </a:schemeClr>
                    </a:solidFill>
                  </a:rPr>
                  <a:t>Mass (kg)× Speed</a:t>
                </a:r>
                <a:r>
                  <a:rPr lang="en-GB" sz="2000" b="1" baseline="30000" dirty="0" smtClean="0">
                    <a:solidFill>
                      <a:schemeClr val="accent6">
                        <a:lumMod val="75000"/>
                      </a:schemeClr>
                    </a:solidFill>
                  </a:rPr>
                  <a:t>2 </a:t>
                </a:r>
                <a:r>
                  <a:rPr lang="en-GB" sz="2000" b="1" dirty="0" smtClean="0">
                    <a:solidFill>
                      <a:schemeClr val="accent6">
                        <a:lumMod val="75000"/>
                      </a:schemeClr>
                    </a:solidFill>
                  </a:rPr>
                  <a:t>(m/s)</a:t>
                </a:r>
                <a:endParaRPr lang="en-GB" sz="2000" b="1" dirty="0">
                  <a:solidFill>
                    <a:schemeClr val="accent6">
                      <a:lumMod val="75000"/>
                    </a:schemeClr>
                  </a:solidFill>
                </a:endParaRPr>
              </a:p>
              <a:p>
                <a:pPr algn="ctr"/>
                <a:r>
                  <a:rPr lang="en-GB" sz="2000" b="1" i="1" dirty="0" err="1" smtClean="0">
                    <a:solidFill>
                      <a:schemeClr val="accent6">
                        <a:lumMod val="75000"/>
                      </a:schemeClr>
                    </a:solidFill>
                  </a:rPr>
                  <a:t>E</a:t>
                </a:r>
                <a:r>
                  <a:rPr lang="en-GB" sz="2000" b="1" i="1" baseline="-25000" dirty="0" err="1" smtClean="0">
                    <a:solidFill>
                      <a:schemeClr val="accent6">
                        <a:lumMod val="75000"/>
                      </a:schemeClr>
                    </a:solidFill>
                  </a:rPr>
                  <a:t>k</a:t>
                </a:r>
                <a:r>
                  <a:rPr lang="en-GB" sz="2000" b="1" i="1" dirty="0" smtClean="0">
                    <a:solidFill>
                      <a:schemeClr val="accent6">
                        <a:lumMod val="75000"/>
                      </a:schemeClr>
                    </a:solidFill>
                  </a:rPr>
                  <a:t> </a:t>
                </a:r>
                <a:r>
                  <a:rPr lang="en-GB" sz="2000" b="1" i="1" dirty="0">
                    <a:solidFill>
                      <a:schemeClr val="accent6">
                        <a:lumMod val="75000"/>
                      </a:schemeClr>
                    </a:solidFill>
                  </a:rPr>
                  <a:t>= </a:t>
                </a:r>
                <a14:m>
                  <m:oMath xmlns:m="http://schemas.openxmlformats.org/officeDocument/2006/math">
                    <m:r>
                      <a:rPr lang="en-GB" sz="2000" b="1" i="1">
                        <a:solidFill>
                          <a:schemeClr val="accent6">
                            <a:lumMod val="75000"/>
                          </a:schemeClr>
                        </a:solidFill>
                        <a:latin typeface="Cambria Math" charset="0"/>
                      </a:rPr>
                      <m:t>½</m:t>
                    </m:r>
                  </m:oMath>
                </a14:m>
                <a:r>
                  <a:rPr lang="en-GB" sz="2000" b="1" i="1" dirty="0">
                    <a:solidFill>
                      <a:schemeClr val="accent6">
                        <a:lumMod val="75000"/>
                      </a:schemeClr>
                    </a:solidFill>
                  </a:rPr>
                  <a:t> m </a:t>
                </a:r>
                <a:r>
                  <a:rPr lang="en-GB" sz="2000" b="1" i="1" dirty="0" smtClean="0">
                    <a:solidFill>
                      <a:schemeClr val="accent6">
                        <a:lumMod val="75000"/>
                      </a:schemeClr>
                    </a:solidFill>
                  </a:rPr>
                  <a:t>v</a:t>
                </a:r>
                <a:r>
                  <a:rPr lang="en-GB" sz="2000" b="1" i="1" baseline="30000" dirty="0" smtClean="0">
                    <a:solidFill>
                      <a:schemeClr val="accent6">
                        <a:lumMod val="75000"/>
                      </a:schemeClr>
                    </a:solidFill>
                  </a:rPr>
                  <a:t>2</a:t>
                </a:r>
              </a:p>
              <a:p>
                <a:pPr algn="ctr"/>
                <a:endParaRPr lang="en-GB" sz="2000" dirty="0"/>
              </a:p>
              <a:p>
                <a:r>
                  <a:rPr lang="en-GB" sz="2000" dirty="0"/>
                  <a:t>If her mass is 46 kg and she is travelling at 8 m/s, her kinetic energy during her jump will </a:t>
                </a:r>
                <a:r>
                  <a:rPr lang="en-GB" sz="2000" dirty="0" smtClean="0"/>
                  <a:t>be:</a:t>
                </a:r>
                <a:endParaRPr lang="en-GB" sz="2000" dirty="0"/>
              </a:p>
              <a:p>
                <a:pPr algn="ctr"/>
                <a:r>
                  <a:rPr lang="en-GB" sz="2000" b="1" i="1" dirty="0" err="1" smtClean="0">
                    <a:solidFill>
                      <a:schemeClr val="accent6">
                        <a:lumMod val="75000"/>
                      </a:schemeClr>
                    </a:solidFill>
                  </a:rPr>
                  <a:t>E</a:t>
                </a:r>
                <a:r>
                  <a:rPr lang="en-GB" sz="2000" b="1" i="1" baseline="-25000" dirty="0" err="1" smtClean="0">
                    <a:solidFill>
                      <a:schemeClr val="accent6">
                        <a:lumMod val="75000"/>
                      </a:schemeClr>
                    </a:solidFill>
                  </a:rPr>
                  <a:t>k</a:t>
                </a:r>
                <a:r>
                  <a:rPr lang="en-GB" sz="2000" b="1" i="1" dirty="0" smtClean="0">
                    <a:solidFill>
                      <a:schemeClr val="accent6">
                        <a:lumMod val="75000"/>
                      </a:schemeClr>
                    </a:solidFill>
                  </a:rPr>
                  <a:t> </a:t>
                </a:r>
                <a:r>
                  <a:rPr lang="en-GB" sz="2000" b="1" i="1" dirty="0">
                    <a:solidFill>
                      <a:schemeClr val="accent6">
                        <a:lumMod val="75000"/>
                      </a:schemeClr>
                    </a:solidFill>
                  </a:rPr>
                  <a:t>= ½ m v</a:t>
                </a:r>
                <a:r>
                  <a:rPr lang="en-GB" sz="2000" b="1" i="1" baseline="30000" dirty="0">
                    <a:solidFill>
                      <a:schemeClr val="accent6">
                        <a:lumMod val="75000"/>
                      </a:schemeClr>
                    </a:solidFill>
                  </a:rPr>
                  <a:t>2</a:t>
                </a:r>
                <a:r>
                  <a:rPr lang="en-GB" sz="2000" b="1" i="1" dirty="0">
                    <a:solidFill>
                      <a:schemeClr val="accent6">
                        <a:lumMod val="75000"/>
                      </a:schemeClr>
                    </a:solidFill>
                  </a:rPr>
                  <a:t>  </a:t>
                </a:r>
                <a:endParaRPr lang="en-GB" sz="2000" b="1" i="1" dirty="0" smtClean="0">
                  <a:solidFill>
                    <a:schemeClr val="accent6">
                      <a:lumMod val="75000"/>
                    </a:schemeClr>
                  </a:solidFill>
                </a:endParaRPr>
              </a:p>
              <a:p>
                <a:pPr algn="ctr"/>
                <a:endParaRPr lang="en-GB" sz="800" b="1" i="1" dirty="0" smtClean="0">
                  <a:solidFill>
                    <a:schemeClr val="accent6">
                      <a:lumMod val="75000"/>
                    </a:schemeClr>
                  </a:solidFill>
                </a:endParaRPr>
              </a:p>
              <a:p>
                <a:pPr algn="ctr"/>
                <a:r>
                  <a:rPr lang="en-GB" sz="2000" b="1" dirty="0" err="1">
                    <a:solidFill>
                      <a:schemeClr val="accent6">
                        <a:lumMod val="75000"/>
                      </a:schemeClr>
                    </a:solidFill>
                  </a:rPr>
                  <a:t>E</a:t>
                </a:r>
                <a:r>
                  <a:rPr lang="en-GB" sz="2000" b="1" baseline="-25000" dirty="0" err="1">
                    <a:solidFill>
                      <a:schemeClr val="accent6">
                        <a:lumMod val="75000"/>
                      </a:schemeClr>
                    </a:solidFill>
                  </a:rPr>
                  <a:t>k</a:t>
                </a:r>
                <a:r>
                  <a:rPr lang="en-GB" sz="2000" b="1" dirty="0" smtClean="0">
                    <a:solidFill>
                      <a:schemeClr val="accent6">
                        <a:lumMod val="75000"/>
                      </a:schemeClr>
                    </a:solidFill>
                  </a:rPr>
                  <a:t> </a:t>
                </a:r>
                <a:r>
                  <a:rPr lang="en-GB" sz="2000" b="1" dirty="0">
                    <a:solidFill>
                      <a:schemeClr val="accent6">
                        <a:lumMod val="75000"/>
                      </a:schemeClr>
                    </a:solidFill>
                  </a:rPr>
                  <a:t>= ½ x 46 x 8</a:t>
                </a:r>
                <a:r>
                  <a:rPr lang="en-GB" sz="2000" b="1" baseline="30000" dirty="0">
                    <a:solidFill>
                      <a:schemeClr val="accent6">
                        <a:lumMod val="75000"/>
                      </a:schemeClr>
                    </a:solidFill>
                  </a:rPr>
                  <a:t>2  </a:t>
                </a:r>
                <a:endParaRPr lang="en-GB" sz="2000" b="1" baseline="30000" dirty="0" smtClean="0">
                  <a:solidFill>
                    <a:schemeClr val="accent6">
                      <a:lumMod val="75000"/>
                    </a:schemeClr>
                  </a:solidFill>
                </a:endParaRPr>
              </a:p>
              <a:p>
                <a:pPr algn="ctr"/>
                <a:endParaRPr lang="en-GB" sz="2000" b="1" baseline="30000" dirty="0" smtClean="0">
                  <a:solidFill>
                    <a:schemeClr val="accent6">
                      <a:lumMod val="75000"/>
                    </a:schemeClr>
                  </a:solidFill>
                </a:endParaRPr>
              </a:p>
              <a:p>
                <a:r>
                  <a:rPr lang="en-GB" sz="2000" b="1" baseline="30000" dirty="0">
                    <a:solidFill>
                      <a:schemeClr val="accent6">
                        <a:lumMod val="75000"/>
                      </a:schemeClr>
                    </a:solidFill>
                  </a:rPr>
                  <a:t> </a:t>
                </a:r>
                <a:r>
                  <a:rPr lang="en-GB" sz="2000" b="1" dirty="0" smtClean="0">
                    <a:solidFill>
                      <a:schemeClr val="accent6">
                        <a:lumMod val="75000"/>
                      </a:schemeClr>
                    </a:solidFill>
                  </a:rPr>
                  <a:t>    </a:t>
                </a:r>
                <a:r>
                  <a:rPr lang="en-GB" sz="2000" b="1" dirty="0" smtClean="0">
                    <a:solidFill>
                      <a:schemeClr val="tx1"/>
                    </a:solidFill>
                  </a:rPr>
                  <a:t>The energy transferred in the jump is:   </a:t>
                </a:r>
                <a:r>
                  <a:rPr lang="en-GB" sz="2000" b="1" dirty="0" err="1" smtClean="0">
                    <a:solidFill>
                      <a:schemeClr val="accent6">
                        <a:lumMod val="75000"/>
                      </a:schemeClr>
                    </a:solidFill>
                  </a:rPr>
                  <a:t>E</a:t>
                </a:r>
                <a:r>
                  <a:rPr lang="en-GB" sz="2000" b="1" baseline="-25000" dirty="0" err="1" smtClean="0">
                    <a:solidFill>
                      <a:schemeClr val="accent6">
                        <a:lumMod val="75000"/>
                      </a:schemeClr>
                    </a:solidFill>
                  </a:rPr>
                  <a:t>k</a:t>
                </a:r>
                <a:r>
                  <a:rPr lang="en-GB" sz="2000" b="1" dirty="0" smtClean="0">
                    <a:solidFill>
                      <a:schemeClr val="accent6">
                        <a:lumMod val="75000"/>
                      </a:schemeClr>
                    </a:solidFill>
                  </a:rPr>
                  <a:t> = </a:t>
                </a:r>
                <a:r>
                  <a:rPr lang="en-GB" sz="2000" b="1" u="sng" dirty="0">
                    <a:solidFill>
                      <a:schemeClr val="accent6">
                        <a:lumMod val="75000"/>
                      </a:schemeClr>
                    </a:solidFill>
                  </a:rPr>
                  <a:t>1472 </a:t>
                </a:r>
                <a:r>
                  <a:rPr lang="en-GB" sz="2000" b="1" u="sng" dirty="0" smtClean="0">
                    <a:solidFill>
                      <a:schemeClr val="accent6">
                        <a:lumMod val="75000"/>
                      </a:schemeClr>
                    </a:solidFill>
                  </a:rPr>
                  <a:t>J</a:t>
                </a:r>
                <a:endParaRPr lang="en-GB" sz="2000" u="sng" dirty="0"/>
              </a:p>
            </p:txBody>
          </p:sp>
        </mc:Choice>
        <mc:Fallback xmlns="">
          <p:sp>
            <p:nvSpPr>
              <p:cNvPr id="6" name="Rectangle 5"/>
              <p:cNvSpPr>
                <a:spLocks noRot="1" noChangeAspect="1" noMove="1" noResize="1" noEditPoints="1" noAdjustHandles="1" noChangeArrowheads="1" noChangeShapeType="1" noTextEdit="1"/>
              </p:cNvSpPr>
              <p:nvPr/>
            </p:nvSpPr>
            <p:spPr>
              <a:xfrm>
                <a:off x="179512" y="2924944"/>
                <a:ext cx="8805664" cy="3631169"/>
              </a:xfrm>
              <a:prstGeom prst="rect">
                <a:avLst/>
              </a:prstGeom>
              <a:blipFill rotWithShape="0">
                <a:blip r:embed="rId3"/>
                <a:stretch>
                  <a:fillRect l="-552" b="-334"/>
                </a:stretch>
              </a:blipFill>
            </p:spPr>
            <p:txBody>
              <a:bodyPr/>
              <a:lstStyle/>
              <a:p>
                <a:r>
                  <a:rPr lang="en-GB">
                    <a:noFill/>
                  </a:rPr>
                  <a:t> </a:t>
                </a:r>
              </a:p>
            </p:txBody>
          </p:sp>
        </mc:Fallback>
      </mc:AlternateContent>
    </p:spTree>
    <p:extLst>
      <p:ext uri="{BB962C8B-B14F-4D97-AF65-F5344CB8AC3E}">
        <p14:creationId xmlns:p14="http://schemas.microsoft.com/office/powerpoint/2010/main" val="339200678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877EB6-5057-4682-85F2-622D08223BF9}"/>
              </a:ext>
            </a:extLst>
          </p:cNvPr>
          <p:cNvSpPr>
            <a:spLocks noGrp="1"/>
          </p:cNvSpPr>
          <p:nvPr>
            <p:ph type="title"/>
          </p:nvPr>
        </p:nvSpPr>
        <p:spPr>
          <a:xfrm>
            <a:off x="755576" y="0"/>
            <a:ext cx="8229600" cy="618457"/>
          </a:xfrm>
        </p:spPr>
        <p:txBody>
          <a:bodyPr anchor="ctr"/>
          <a:lstStyle/>
          <a:p>
            <a:pPr algn="r"/>
            <a:r>
              <a:rPr lang="en-GB" sz="2400" dirty="0">
                <a:latin typeface="+mn-lt"/>
              </a:rPr>
              <a:t>         </a:t>
            </a:r>
            <a:r>
              <a:rPr lang="en-GB" sz="2400" b="1" dirty="0">
                <a:solidFill>
                  <a:schemeClr val="accent6">
                    <a:lumMod val="75000"/>
                  </a:schemeClr>
                </a:solidFill>
                <a:latin typeface="+mn-lt"/>
              </a:rPr>
              <a:t>Changes in Energy - Elastic Energy</a:t>
            </a:r>
          </a:p>
        </p:txBody>
      </p:sp>
      <p:sp>
        <p:nvSpPr>
          <p:cNvPr id="3" name="Text Placeholder 2">
            <a:extLst>
              <a:ext uri="{FF2B5EF4-FFF2-40B4-BE49-F238E27FC236}">
                <a16:creationId xmlns:a16="http://schemas.microsoft.com/office/drawing/2014/main" xmlns="" id="{26050DFD-E555-4EE4-B12C-D2AE5FAFF2A2}"/>
              </a:ext>
            </a:extLst>
          </p:cNvPr>
          <p:cNvSpPr>
            <a:spLocks noGrp="1"/>
          </p:cNvSpPr>
          <p:nvPr>
            <p:ph type="body" idx="1"/>
          </p:nvPr>
        </p:nvSpPr>
        <p:spPr>
          <a:xfrm>
            <a:off x="179512" y="764704"/>
            <a:ext cx="8805664" cy="5616624"/>
          </a:xfrm>
        </p:spPr>
        <p:txBody>
          <a:bodyPr/>
          <a:lstStyle/>
          <a:p>
            <a:pPr algn="l">
              <a:spcBef>
                <a:spcPts val="0"/>
              </a:spcBef>
            </a:pPr>
            <a:r>
              <a:rPr lang="en-GB" sz="2000" dirty="0">
                <a:latin typeface="+mn-lt"/>
              </a:rPr>
              <a:t>Stretched or bent objects have </a:t>
            </a:r>
            <a:r>
              <a:rPr lang="en-GB" sz="2000" b="1" dirty="0">
                <a:solidFill>
                  <a:schemeClr val="accent6">
                    <a:lumMod val="75000"/>
                  </a:schemeClr>
                </a:solidFill>
                <a:latin typeface="+mn-lt"/>
              </a:rPr>
              <a:t>elastic </a:t>
            </a:r>
            <a:r>
              <a:rPr lang="en-GB" sz="2000" b="1" dirty="0" smtClean="0">
                <a:solidFill>
                  <a:schemeClr val="accent6">
                    <a:lumMod val="75000"/>
                  </a:schemeClr>
                </a:solidFill>
                <a:latin typeface="+mn-lt"/>
              </a:rPr>
              <a:t>energy (</a:t>
            </a:r>
            <a:r>
              <a:rPr lang="en-GB" sz="2000" b="1" dirty="0" err="1" smtClean="0">
                <a:solidFill>
                  <a:schemeClr val="accent6">
                    <a:lumMod val="75000"/>
                  </a:schemeClr>
                </a:solidFill>
                <a:latin typeface="+mn-lt"/>
              </a:rPr>
              <a:t>E</a:t>
            </a:r>
            <a:r>
              <a:rPr lang="en-GB" sz="2000" b="1" baseline="-25000" dirty="0" err="1" smtClean="0">
                <a:solidFill>
                  <a:schemeClr val="accent6">
                    <a:lumMod val="75000"/>
                  </a:schemeClr>
                </a:solidFill>
                <a:latin typeface="+mn-lt"/>
              </a:rPr>
              <a:t>e</a:t>
            </a:r>
            <a:r>
              <a:rPr lang="en-GB" sz="2000" b="1" dirty="0" smtClean="0">
                <a:solidFill>
                  <a:schemeClr val="accent6">
                    <a:lumMod val="75000"/>
                  </a:schemeClr>
                </a:solidFill>
                <a:latin typeface="+mn-lt"/>
              </a:rPr>
              <a:t>) </a:t>
            </a:r>
            <a:r>
              <a:rPr lang="en-GB" sz="2000" dirty="0">
                <a:latin typeface="+mn-lt"/>
              </a:rPr>
              <a:t>if they have the ability to </a:t>
            </a:r>
            <a:r>
              <a:rPr lang="en-GB" sz="2000" b="1" dirty="0">
                <a:solidFill>
                  <a:schemeClr val="accent6">
                    <a:lumMod val="75000"/>
                  </a:schemeClr>
                </a:solidFill>
                <a:latin typeface="+mn-lt"/>
              </a:rPr>
              <a:t>recover</a:t>
            </a:r>
            <a:r>
              <a:rPr lang="en-GB" sz="2000" dirty="0">
                <a:latin typeface="+mn-lt"/>
              </a:rPr>
              <a:t> to their original shape and dimensions.</a:t>
            </a:r>
          </a:p>
          <a:p>
            <a:pPr algn="l">
              <a:spcBef>
                <a:spcPts val="0"/>
              </a:spcBef>
            </a:pPr>
            <a:endParaRPr lang="en-GB" sz="2000" dirty="0">
              <a:latin typeface="+mn-lt"/>
            </a:endParaRPr>
          </a:p>
          <a:p>
            <a:pPr algn="l">
              <a:spcBef>
                <a:spcPts val="0"/>
              </a:spcBef>
            </a:pPr>
            <a:r>
              <a:rPr lang="en-GB" sz="2000" dirty="0" smtClean="0">
                <a:latin typeface="+mn-lt"/>
              </a:rPr>
              <a:t>When </a:t>
            </a:r>
            <a:r>
              <a:rPr lang="en-GB" sz="2000" dirty="0">
                <a:latin typeface="+mn-lt"/>
              </a:rPr>
              <a:t>a weight (force) is added to a spring </a:t>
            </a:r>
            <a:r>
              <a:rPr lang="en-GB" sz="2000" dirty="0" smtClean="0">
                <a:latin typeface="+mn-lt"/>
              </a:rPr>
              <a:t>it</a:t>
            </a:r>
          </a:p>
          <a:p>
            <a:pPr algn="l">
              <a:spcBef>
                <a:spcPts val="0"/>
              </a:spcBef>
            </a:pPr>
            <a:r>
              <a:rPr lang="en-GB" sz="2000" dirty="0" smtClean="0">
                <a:latin typeface="+mn-lt"/>
              </a:rPr>
              <a:t>extends </a:t>
            </a:r>
            <a:r>
              <a:rPr lang="en-GB" sz="2000" dirty="0">
                <a:latin typeface="+mn-lt"/>
              </a:rPr>
              <a:t>(gets longer).</a:t>
            </a:r>
          </a:p>
          <a:p>
            <a:pPr algn="l">
              <a:spcBef>
                <a:spcPts val="0"/>
              </a:spcBef>
            </a:pPr>
            <a:r>
              <a:rPr lang="en-GB" sz="2000" dirty="0" smtClean="0">
                <a:latin typeface="+mn-lt"/>
              </a:rPr>
              <a:t>The </a:t>
            </a:r>
            <a:r>
              <a:rPr lang="en-GB" sz="2000" dirty="0">
                <a:latin typeface="+mn-lt"/>
              </a:rPr>
              <a:t>spring now has a store of elastic potential </a:t>
            </a:r>
            <a:endParaRPr lang="en-GB" sz="2000" dirty="0" smtClean="0">
              <a:latin typeface="+mn-lt"/>
            </a:endParaRPr>
          </a:p>
          <a:p>
            <a:pPr algn="l">
              <a:spcBef>
                <a:spcPts val="0"/>
              </a:spcBef>
            </a:pPr>
            <a:r>
              <a:rPr lang="en-GB" sz="2000" dirty="0" smtClean="0">
                <a:latin typeface="+mn-lt"/>
              </a:rPr>
              <a:t>energy </a:t>
            </a:r>
            <a:r>
              <a:rPr lang="en-GB" sz="2000" dirty="0">
                <a:latin typeface="+mn-lt"/>
              </a:rPr>
              <a:t>which will be released if the weight </a:t>
            </a:r>
            <a:r>
              <a:rPr lang="en-GB" sz="2000" dirty="0" smtClean="0">
                <a:latin typeface="+mn-lt"/>
              </a:rPr>
              <a:t>is removed</a:t>
            </a:r>
            <a:r>
              <a:rPr lang="en-GB" sz="2000" dirty="0">
                <a:latin typeface="+mn-lt"/>
              </a:rPr>
              <a:t>.</a:t>
            </a:r>
          </a:p>
          <a:p>
            <a:pPr algn="l">
              <a:spcBef>
                <a:spcPts val="0"/>
              </a:spcBef>
            </a:pPr>
            <a:endParaRPr lang="en-GB" sz="2000" dirty="0">
              <a:latin typeface="+mn-lt"/>
            </a:endParaRPr>
          </a:p>
          <a:p>
            <a:pPr algn="l">
              <a:spcBef>
                <a:spcPts val="0"/>
              </a:spcBef>
            </a:pPr>
            <a:r>
              <a:rPr lang="en-GB" sz="2000" dirty="0">
                <a:latin typeface="+mn-lt"/>
              </a:rPr>
              <a:t>			</a:t>
            </a:r>
            <a:r>
              <a:rPr lang="en-GB" sz="2800" b="1" dirty="0">
                <a:solidFill>
                  <a:schemeClr val="accent6">
                    <a:lumMod val="75000"/>
                  </a:schemeClr>
                </a:solidFill>
                <a:latin typeface="+mn-lt"/>
              </a:rPr>
              <a:t>	</a:t>
            </a:r>
            <a:endParaRPr lang="en-GB" sz="600" dirty="0">
              <a:latin typeface="+mn-lt"/>
            </a:endParaRPr>
          </a:p>
        </p:txBody>
      </p:sp>
      <p:pic>
        <p:nvPicPr>
          <p:cNvPr id="5" name="Picture 4">
            <a:extLst>
              <a:ext uri="{FF2B5EF4-FFF2-40B4-BE49-F238E27FC236}">
                <a16:creationId xmlns:a16="http://schemas.microsoft.com/office/drawing/2014/main" xmlns="" id="{4D6C9430-FA86-4197-887F-E51422CE5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184" y="1157198"/>
            <a:ext cx="2180624" cy="1848476"/>
          </a:xfrm>
          <a:prstGeom prst="rect">
            <a:avLst/>
          </a:prstGeom>
        </p:spPr>
      </p:pic>
      <p:sp>
        <p:nvSpPr>
          <p:cNvPr id="6" name="Rectangle 5"/>
          <p:cNvSpPr/>
          <p:nvPr/>
        </p:nvSpPr>
        <p:spPr>
          <a:xfrm>
            <a:off x="113994" y="3140968"/>
            <a:ext cx="8805664" cy="3324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GB" sz="2000" dirty="0"/>
              <a:t>The amount of stored elastic energy (</a:t>
            </a:r>
            <a:r>
              <a:rPr lang="en-GB" sz="2000" dirty="0" err="1"/>
              <a:t>E</a:t>
            </a:r>
            <a:r>
              <a:rPr lang="en-GB" sz="2000" i="1" baseline="-25000" dirty="0" err="1"/>
              <a:t>e</a:t>
            </a:r>
            <a:r>
              <a:rPr lang="en-GB" sz="2000" dirty="0"/>
              <a:t>) can be calculated using the following equation:</a:t>
            </a:r>
          </a:p>
          <a:p>
            <a:pPr algn="ctr"/>
            <a:r>
              <a:rPr lang="en-GB" sz="2000" b="1" dirty="0" smtClean="0">
                <a:solidFill>
                  <a:schemeClr val="accent6">
                    <a:lumMod val="75000"/>
                  </a:schemeClr>
                </a:solidFill>
              </a:rPr>
              <a:t>Elastic </a:t>
            </a:r>
            <a:r>
              <a:rPr lang="en-GB" sz="2000" b="1" dirty="0">
                <a:solidFill>
                  <a:schemeClr val="accent6">
                    <a:lumMod val="75000"/>
                  </a:schemeClr>
                </a:solidFill>
              </a:rPr>
              <a:t>potential </a:t>
            </a:r>
            <a:r>
              <a:rPr lang="en-GB" sz="2000" b="1" dirty="0" smtClean="0">
                <a:solidFill>
                  <a:schemeClr val="accent6">
                    <a:lumMod val="75000"/>
                  </a:schemeClr>
                </a:solidFill>
              </a:rPr>
              <a:t>energy (J) </a:t>
            </a:r>
            <a:r>
              <a:rPr lang="en-GB" sz="2000" b="1" dirty="0">
                <a:solidFill>
                  <a:schemeClr val="accent6">
                    <a:lumMod val="75000"/>
                  </a:schemeClr>
                </a:solidFill>
              </a:rPr>
              <a:t>= 0.5 × </a:t>
            </a:r>
            <a:r>
              <a:rPr lang="en-GB" sz="2000" b="1" dirty="0" smtClean="0">
                <a:solidFill>
                  <a:schemeClr val="accent6">
                    <a:lumMod val="75000"/>
                  </a:schemeClr>
                </a:solidFill>
              </a:rPr>
              <a:t>Spring constant (N/m) </a:t>
            </a:r>
            <a:r>
              <a:rPr lang="en-GB" sz="2000" b="1" dirty="0">
                <a:solidFill>
                  <a:schemeClr val="accent6">
                    <a:lumMod val="75000"/>
                  </a:schemeClr>
                </a:solidFill>
              </a:rPr>
              <a:t>× </a:t>
            </a:r>
            <a:r>
              <a:rPr lang="en-GB" sz="2000" b="1" dirty="0" smtClean="0">
                <a:solidFill>
                  <a:schemeClr val="accent6">
                    <a:lumMod val="75000"/>
                  </a:schemeClr>
                </a:solidFill>
              </a:rPr>
              <a:t>Extension</a:t>
            </a:r>
            <a:r>
              <a:rPr lang="en-GB" sz="2000" b="1" baseline="30000" dirty="0" smtClean="0">
                <a:solidFill>
                  <a:schemeClr val="accent6">
                    <a:lumMod val="75000"/>
                  </a:schemeClr>
                </a:solidFill>
              </a:rPr>
              <a:t>2 </a:t>
            </a:r>
            <a:r>
              <a:rPr lang="en-GB" sz="2000" b="1" dirty="0" smtClean="0">
                <a:solidFill>
                  <a:schemeClr val="accent6">
                    <a:lumMod val="75000"/>
                  </a:schemeClr>
                </a:solidFill>
              </a:rPr>
              <a:t>(m)</a:t>
            </a:r>
            <a:endParaRPr lang="en-GB" sz="2000" b="1" baseline="30000" dirty="0">
              <a:solidFill>
                <a:schemeClr val="accent6">
                  <a:lumMod val="75000"/>
                </a:schemeClr>
              </a:solidFill>
            </a:endParaRPr>
          </a:p>
          <a:p>
            <a:endParaRPr lang="en-GB" sz="800" b="1" dirty="0" smtClean="0">
              <a:solidFill>
                <a:schemeClr val="accent6">
                  <a:lumMod val="75000"/>
                </a:schemeClr>
              </a:solidFill>
            </a:endParaRPr>
          </a:p>
          <a:p>
            <a:pPr algn="ctr"/>
            <a:r>
              <a:rPr lang="en-GB" sz="2000" b="1" i="1" dirty="0" err="1">
                <a:solidFill>
                  <a:schemeClr val="accent6">
                    <a:lumMod val="75000"/>
                  </a:schemeClr>
                </a:solidFill>
              </a:rPr>
              <a:t>E</a:t>
            </a:r>
            <a:r>
              <a:rPr lang="en-GB" sz="2000" b="1" i="1" baseline="-25000" dirty="0" err="1">
                <a:solidFill>
                  <a:schemeClr val="accent6">
                    <a:lumMod val="75000"/>
                  </a:schemeClr>
                </a:solidFill>
              </a:rPr>
              <a:t>e</a:t>
            </a:r>
            <a:r>
              <a:rPr lang="en-GB" sz="2000" b="1" i="1" dirty="0">
                <a:solidFill>
                  <a:schemeClr val="accent6">
                    <a:lumMod val="75000"/>
                  </a:schemeClr>
                </a:solidFill>
              </a:rPr>
              <a:t> = ½ k e</a:t>
            </a:r>
            <a:r>
              <a:rPr lang="en-GB" sz="2000" b="1" i="1" baseline="30000" dirty="0">
                <a:solidFill>
                  <a:schemeClr val="accent6">
                    <a:lumMod val="75000"/>
                  </a:schemeClr>
                </a:solidFill>
              </a:rPr>
              <a:t>2</a:t>
            </a:r>
            <a:r>
              <a:rPr lang="en-GB" sz="2000" b="1" i="1" dirty="0">
                <a:solidFill>
                  <a:schemeClr val="accent6">
                    <a:lumMod val="75000"/>
                  </a:schemeClr>
                </a:solidFill>
              </a:rPr>
              <a:t> </a:t>
            </a:r>
          </a:p>
          <a:p>
            <a:pPr algn="ctr"/>
            <a:endParaRPr lang="en-GB" sz="800" dirty="0"/>
          </a:p>
          <a:p>
            <a:r>
              <a:rPr lang="en-GB" sz="2000" dirty="0"/>
              <a:t>In the above example the spring has a spring constant of 670 N/m. The elastic potential energy of the spring when a 50 N load is hung from it is:</a:t>
            </a:r>
          </a:p>
          <a:p>
            <a:pPr algn="ctr"/>
            <a:r>
              <a:rPr lang="en-GB" sz="2000" b="1" i="1" dirty="0" err="1">
                <a:solidFill>
                  <a:schemeClr val="accent6">
                    <a:lumMod val="75000"/>
                  </a:schemeClr>
                </a:solidFill>
              </a:rPr>
              <a:t>E</a:t>
            </a:r>
            <a:r>
              <a:rPr lang="en-GB" sz="2000" b="1" i="1" baseline="-25000" dirty="0" err="1">
                <a:solidFill>
                  <a:schemeClr val="accent6">
                    <a:lumMod val="75000"/>
                  </a:schemeClr>
                </a:solidFill>
              </a:rPr>
              <a:t>e</a:t>
            </a:r>
            <a:r>
              <a:rPr lang="en-GB" sz="2000" b="1" i="1" dirty="0">
                <a:solidFill>
                  <a:schemeClr val="accent6">
                    <a:lumMod val="75000"/>
                  </a:schemeClr>
                </a:solidFill>
              </a:rPr>
              <a:t> = ½ k e</a:t>
            </a:r>
            <a:r>
              <a:rPr lang="en-GB" sz="2000" b="1" i="1" baseline="30000" dirty="0">
                <a:solidFill>
                  <a:schemeClr val="accent6">
                    <a:lumMod val="75000"/>
                  </a:schemeClr>
                </a:solidFill>
              </a:rPr>
              <a:t>2</a:t>
            </a:r>
            <a:r>
              <a:rPr lang="en-GB" sz="2000" b="1" i="1" dirty="0">
                <a:solidFill>
                  <a:schemeClr val="accent6">
                    <a:lumMod val="75000"/>
                  </a:schemeClr>
                </a:solidFill>
              </a:rPr>
              <a:t> </a:t>
            </a:r>
          </a:p>
          <a:p>
            <a:pPr algn="ctr"/>
            <a:endParaRPr lang="en-GB" sz="800" b="1" i="1" dirty="0" smtClean="0">
              <a:solidFill>
                <a:schemeClr val="accent6">
                  <a:lumMod val="75000"/>
                </a:schemeClr>
              </a:solidFill>
            </a:endParaRPr>
          </a:p>
          <a:p>
            <a:pPr algn="ctr"/>
            <a:r>
              <a:rPr lang="en-GB" sz="2000" b="1" dirty="0" err="1">
                <a:solidFill>
                  <a:schemeClr val="accent6">
                    <a:lumMod val="75000"/>
                  </a:schemeClr>
                </a:solidFill>
              </a:rPr>
              <a:t>E</a:t>
            </a:r>
            <a:r>
              <a:rPr lang="en-GB" sz="2000" b="1" i="1" baseline="-25000" dirty="0" err="1">
                <a:solidFill>
                  <a:schemeClr val="accent6">
                    <a:lumMod val="75000"/>
                  </a:schemeClr>
                </a:solidFill>
              </a:rPr>
              <a:t>e</a:t>
            </a:r>
            <a:r>
              <a:rPr lang="en-GB" sz="2000" b="1" dirty="0">
                <a:solidFill>
                  <a:schemeClr val="accent6">
                    <a:lumMod val="75000"/>
                  </a:schemeClr>
                </a:solidFill>
              </a:rPr>
              <a:t> = </a:t>
            </a:r>
            <a:r>
              <a:rPr lang="en-GB" sz="2000" b="1" dirty="0" smtClean="0">
                <a:solidFill>
                  <a:schemeClr val="accent6">
                    <a:lumMod val="75000"/>
                  </a:schemeClr>
                </a:solidFill>
              </a:rPr>
              <a:t>0.5 x  670 </a:t>
            </a:r>
            <a:r>
              <a:rPr lang="en-GB" sz="2000" b="1" dirty="0">
                <a:solidFill>
                  <a:schemeClr val="accent6">
                    <a:lumMod val="75000"/>
                  </a:schemeClr>
                </a:solidFill>
              </a:rPr>
              <a:t>x 0.075</a:t>
            </a:r>
            <a:r>
              <a:rPr lang="en-GB" sz="2000" b="1" baseline="30000" dirty="0">
                <a:solidFill>
                  <a:schemeClr val="accent6">
                    <a:lumMod val="75000"/>
                  </a:schemeClr>
                </a:solidFill>
              </a:rPr>
              <a:t>2</a:t>
            </a:r>
          </a:p>
          <a:p>
            <a:pPr algn="ctr"/>
            <a:endParaRPr lang="en-GB" sz="1050" b="1" baseline="30000" dirty="0" smtClean="0">
              <a:solidFill>
                <a:schemeClr val="accent6">
                  <a:lumMod val="75000"/>
                </a:schemeClr>
              </a:solidFill>
            </a:endParaRPr>
          </a:p>
          <a:p>
            <a:r>
              <a:rPr lang="en-GB" sz="2000" b="1" baseline="30000" dirty="0">
                <a:solidFill>
                  <a:schemeClr val="accent6">
                    <a:lumMod val="75000"/>
                  </a:schemeClr>
                </a:solidFill>
              </a:rPr>
              <a:t> </a:t>
            </a:r>
            <a:r>
              <a:rPr lang="en-GB" sz="2000" b="1" dirty="0" smtClean="0">
                <a:solidFill>
                  <a:schemeClr val="accent6">
                    <a:lumMod val="75000"/>
                  </a:schemeClr>
                </a:solidFill>
              </a:rPr>
              <a:t>   </a:t>
            </a:r>
            <a:r>
              <a:rPr lang="en-GB" sz="2000" b="1" dirty="0" smtClean="0">
                <a:solidFill>
                  <a:schemeClr val="tx1"/>
                </a:solidFill>
              </a:rPr>
              <a:t>The elastic energy stored in the spring is:    </a:t>
            </a:r>
            <a:r>
              <a:rPr lang="en-GB" sz="2000" b="1" dirty="0" err="1" smtClean="0">
                <a:solidFill>
                  <a:schemeClr val="accent6">
                    <a:lumMod val="75000"/>
                  </a:schemeClr>
                </a:solidFill>
              </a:rPr>
              <a:t>E</a:t>
            </a:r>
            <a:r>
              <a:rPr lang="en-GB" sz="2000" b="1" baseline="-25000" dirty="0" err="1" smtClean="0">
                <a:solidFill>
                  <a:schemeClr val="accent6">
                    <a:lumMod val="75000"/>
                  </a:schemeClr>
                </a:solidFill>
              </a:rPr>
              <a:t>e</a:t>
            </a:r>
            <a:r>
              <a:rPr lang="en-GB" sz="2000" b="1" dirty="0" smtClean="0">
                <a:solidFill>
                  <a:schemeClr val="accent6">
                    <a:lumMod val="75000"/>
                  </a:schemeClr>
                </a:solidFill>
              </a:rPr>
              <a:t> = </a:t>
            </a:r>
            <a:r>
              <a:rPr lang="en-GB" sz="2000" b="1" u="sng" dirty="0">
                <a:solidFill>
                  <a:schemeClr val="accent6">
                    <a:lumMod val="75000"/>
                  </a:schemeClr>
                </a:solidFill>
              </a:rPr>
              <a:t>1.88 J</a:t>
            </a:r>
          </a:p>
        </p:txBody>
      </p:sp>
    </p:spTree>
    <p:extLst>
      <p:ext uri="{BB962C8B-B14F-4D97-AF65-F5344CB8AC3E}">
        <p14:creationId xmlns:p14="http://schemas.microsoft.com/office/powerpoint/2010/main" val="39287488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9877EB6-5057-4682-85F2-622D08223BF9}"/>
              </a:ext>
            </a:extLst>
          </p:cNvPr>
          <p:cNvSpPr>
            <a:spLocks noGrp="1"/>
          </p:cNvSpPr>
          <p:nvPr>
            <p:ph type="title"/>
          </p:nvPr>
        </p:nvSpPr>
        <p:spPr>
          <a:xfrm>
            <a:off x="703529" y="2230"/>
            <a:ext cx="8229600" cy="618457"/>
          </a:xfrm>
        </p:spPr>
        <p:txBody>
          <a:bodyPr anchor="ctr"/>
          <a:lstStyle/>
          <a:p>
            <a:pPr algn="r"/>
            <a:r>
              <a:rPr lang="en-GB" sz="2400" dirty="0">
                <a:latin typeface="+mn-lt"/>
              </a:rPr>
              <a:t>         </a:t>
            </a:r>
            <a:r>
              <a:rPr lang="en-GB" sz="2400" b="1" dirty="0">
                <a:solidFill>
                  <a:schemeClr val="accent6">
                    <a:lumMod val="75000"/>
                  </a:schemeClr>
                </a:solidFill>
                <a:latin typeface="+mn-lt"/>
              </a:rPr>
              <a:t>Changes in Energy – Gravitational potential energy</a:t>
            </a:r>
          </a:p>
        </p:txBody>
      </p:sp>
      <p:sp>
        <p:nvSpPr>
          <p:cNvPr id="3" name="Text Placeholder 2">
            <a:extLst>
              <a:ext uri="{FF2B5EF4-FFF2-40B4-BE49-F238E27FC236}">
                <a16:creationId xmlns:a16="http://schemas.microsoft.com/office/drawing/2014/main" xmlns="" id="{26050DFD-E555-4EE4-B12C-D2AE5FAFF2A2}"/>
              </a:ext>
            </a:extLst>
          </p:cNvPr>
          <p:cNvSpPr>
            <a:spLocks noGrp="1"/>
          </p:cNvSpPr>
          <p:nvPr>
            <p:ph type="body" idx="1"/>
          </p:nvPr>
        </p:nvSpPr>
        <p:spPr>
          <a:xfrm>
            <a:off x="131189" y="729130"/>
            <a:ext cx="6601052" cy="2304256"/>
          </a:xfrm>
        </p:spPr>
        <p:txBody>
          <a:bodyPr/>
          <a:lstStyle/>
          <a:p>
            <a:pPr algn="l">
              <a:spcBef>
                <a:spcPts val="0"/>
              </a:spcBef>
            </a:pPr>
            <a:r>
              <a:rPr lang="en-GB" sz="2000" dirty="0">
                <a:latin typeface="+mn-lt"/>
              </a:rPr>
              <a:t>When an object is raised above ground level it gains </a:t>
            </a:r>
            <a:r>
              <a:rPr lang="en-GB" sz="2000" b="1" dirty="0">
                <a:solidFill>
                  <a:schemeClr val="accent6">
                    <a:lumMod val="75000"/>
                  </a:schemeClr>
                </a:solidFill>
                <a:latin typeface="+mn-lt"/>
              </a:rPr>
              <a:t>gravitational potential energy </a:t>
            </a:r>
            <a:r>
              <a:rPr lang="en-GB" sz="2000" dirty="0">
                <a:latin typeface="+mn-lt"/>
              </a:rPr>
              <a:t>(GPE). This </a:t>
            </a:r>
            <a:r>
              <a:rPr lang="en-GB" sz="2000" b="1" dirty="0">
                <a:solidFill>
                  <a:schemeClr val="accent6">
                    <a:lumMod val="75000"/>
                  </a:schemeClr>
                </a:solidFill>
                <a:latin typeface="+mn-lt"/>
              </a:rPr>
              <a:t>stored energy </a:t>
            </a:r>
            <a:r>
              <a:rPr lang="en-GB" sz="2000" dirty="0">
                <a:latin typeface="+mn-lt"/>
              </a:rPr>
              <a:t>can be released if the object is allowed to </a:t>
            </a:r>
            <a:r>
              <a:rPr lang="en-GB" sz="2000" b="1" dirty="0">
                <a:solidFill>
                  <a:schemeClr val="accent6">
                    <a:lumMod val="75000"/>
                  </a:schemeClr>
                </a:solidFill>
                <a:latin typeface="+mn-lt"/>
              </a:rPr>
              <a:t>fall</a:t>
            </a:r>
            <a:r>
              <a:rPr lang="en-GB" sz="2000" dirty="0">
                <a:latin typeface="+mn-lt"/>
              </a:rPr>
              <a:t>.</a:t>
            </a:r>
          </a:p>
          <a:p>
            <a:pPr algn="l">
              <a:spcBef>
                <a:spcPts val="0"/>
              </a:spcBef>
            </a:pPr>
            <a:endParaRPr lang="en-GB" sz="2000" dirty="0">
              <a:latin typeface="+mn-lt"/>
            </a:endParaRPr>
          </a:p>
          <a:p>
            <a:pPr algn="l">
              <a:spcBef>
                <a:spcPts val="0"/>
              </a:spcBef>
            </a:pPr>
            <a:r>
              <a:rPr lang="en-GB" sz="2000" dirty="0">
                <a:latin typeface="+mn-lt"/>
              </a:rPr>
              <a:t>A pile driver is a machine that lifts a heavy </a:t>
            </a:r>
            <a:r>
              <a:rPr lang="en-GB" sz="2000" dirty="0" smtClean="0">
                <a:latin typeface="+mn-lt"/>
              </a:rPr>
              <a:t> weight </a:t>
            </a:r>
            <a:r>
              <a:rPr lang="en-GB" sz="2000" dirty="0">
                <a:latin typeface="+mn-lt"/>
              </a:rPr>
              <a:t>then drops it on a post to drive it into </a:t>
            </a:r>
            <a:r>
              <a:rPr lang="en-GB" sz="2000" dirty="0" smtClean="0">
                <a:latin typeface="+mn-lt"/>
              </a:rPr>
              <a:t> the </a:t>
            </a:r>
            <a:r>
              <a:rPr lang="en-GB" sz="2000" dirty="0">
                <a:latin typeface="+mn-lt"/>
              </a:rPr>
              <a:t>ground. </a:t>
            </a:r>
          </a:p>
          <a:p>
            <a:pPr algn="l">
              <a:spcBef>
                <a:spcPts val="0"/>
              </a:spcBef>
            </a:pPr>
            <a:endParaRPr lang="en-GB" sz="2000" dirty="0">
              <a:latin typeface="+mn-lt"/>
            </a:endParaRPr>
          </a:p>
          <a:p>
            <a:pPr algn="l">
              <a:spcBef>
                <a:spcPts val="0"/>
              </a:spcBef>
            </a:pPr>
            <a:endParaRPr lang="en-GB" sz="2000" dirty="0">
              <a:latin typeface="+mn-lt"/>
            </a:endParaRPr>
          </a:p>
          <a:p>
            <a:pPr algn="l">
              <a:spcBef>
                <a:spcPts val="0"/>
              </a:spcBef>
            </a:pPr>
            <a:endParaRPr lang="en-GB" sz="2000" dirty="0">
              <a:latin typeface="+mn-lt"/>
            </a:endParaRPr>
          </a:p>
          <a:p>
            <a:pPr algn="l">
              <a:spcBef>
                <a:spcPts val="0"/>
              </a:spcBef>
            </a:pPr>
            <a:r>
              <a:rPr lang="en-GB" sz="2000" dirty="0">
                <a:latin typeface="+mn-lt"/>
              </a:rPr>
              <a:t>   </a:t>
            </a:r>
          </a:p>
        </p:txBody>
      </p:sp>
      <p:pic>
        <p:nvPicPr>
          <p:cNvPr id="8" name="Picture 7">
            <a:extLst>
              <a:ext uri="{FF2B5EF4-FFF2-40B4-BE49-F238E27FC236}">
                <a16:creationId xmlns:a16="http://schemas.microsoft.com/office/drawing/2014/main" xmlns="" id="{8F139F6A-8069-49F9-B9CF-604B268933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6393" y="620688"/>
            <a:ext cx="1832072" cy="2059700"/>
          </a:xfrm>
          <a:prstGeom prst="rect">
            <a:avLst/>
          </a:prstGeom>
        </p:spPr>
      </p:pic>
      <p:sp>
        <p:nvSpPr>
          <p:cNvPr id="7" name="Rectangle 6"/>
          <p:cNvSpPr/>
          <p:nvPr/>
        </p:nvSpPr>
        <p:spPr>
          <a:xfrm>
            <a:off x="149979" y="2919208"/>
            <a:ext cx="8805664" cy="352839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t>The amount of gravitational potential </a:t>
            </a:r>
            <a:r>
              <a:rPr lang="en-US" sz="2000" dirty="0" smtClean="0"/>
              <a:t>energy (G.P.E) </a:t>
            </a:r>
            <a:r>
              <a:rPr lang="en-US" sz="2000" dirty="0"/>
              <a:t>gained by an </a:t>
            </a:r>
            <a:r>
              <a:rPr lang="en-US" sz="2000" dirty="0" smtClean="0"/>
              <a:t>object raised </a:t>
            </a:r>
            <a:r>
              <a:rPr lang="en-US" sz="2000" dirty="0"/>
              <a:t>above ground level can be calculated using the equation</a:t>
            </a:r>
            <a:r>
              <a:rPr lang="en-US" sz="2000" dirty="0" smtClean="0"/>
              <a:t>:</a:t>
            </a:r>
          </a:p>
          <a:p>
            <a:endParaRPr lang="en-US" sz="800" dirty="0"/>
          </a:p>
          <a:p>
            <a:pPr algn="ctr"/>
            <a:r>
              <a:rPr lang="en-GB" sz="2000" b="1" dirty="0" smtClean="0">
                <a:solidFill>
                  <a:schemeClr val="accent6">
                    <a:lumMod val="75000"/>
                  </a:schemeClr>
                </a:solidFill>
              </a:rPr>
              <a:t>G.P.E (J) </a:t>
            </a:r>
            <a:r>
              <a:rPr lang="en-GB" sz="2000" b="1" dirty="0">
                <a:solidFill>
                  <a:schemeClr val="accent6">
                    <a:lumMod val="75000"/>
                  </a:schemeClr>
                </a:solidFill>
              </a:rPr>
              <a:t>=  </a:t>
            </a:r>
            <a:r>
              <a:rPr lang="en-GB" sz="2000" b="1" dirty="0" smtClean="0">
                <a:solidFill>
                  <a:schemeClr val="accent6">
                    <a:lumMod val="75000"/>
                  </a:schemeClr>
                </a:solidFill>
              </a:rPr>
              <a:t>Mass  (kg) × Gravitational field strength (N/kg) </a:t>
            </a:r>
            <a:r>
              <a:rPr lang="en-GB" sz="2000" b="1" dirty="0">
                <a:solidFill>
                  <a:schemeClr val="accent6">
                    <a:lumMod val="75000"/>
                  </a:schemeClr>
                </a:solidFill>
              </a:rPr>
              <a:t>× </a:t>
            </a:r>
            <a:r>
              <a:rPr lang="en-GB" sz="2000" b="1" dirty="0" smtClean="0">
                <a:solidFill>
                  <a:schemeClr val="accent6">
                    <a:lumMod val="75000"/>
                  </a:schemeClr>
                </a:solidFill>
              </a:rPr>
              <a:t>Height (m)</a:t>
            </a:r>
            <a:endParaRPr lang="en-GB" sz="2000" b="1" dirty="0">
              <a:solidFill>
                <a:schemeClr val="accent6">
                  <a:lumMod val="75000"/>
                </a:schemeClr>
              </a:solidFill>
            </a:endParaRPr>
          </a:p>
          <a:p>
            <a:pPr algn="ctr"/>
            <a:endParaRPr lang="en-GB" sz="800" b="1" dirty="0" smtClean="0">
              <a:solidFill>
                <a:schemeClr val="accent6">
                  <a:lumMod val="75000"/>
                </a:schemeClr>
              </a:solidFill>
            </a:endParaRPr>
          </a:p>
          <a:p>
            <a:pPr algn="ctr"/>
            <a:r>
              <a:rPr lang="en-GB" sz="2000" b="1" i="1" dirty="0" smtClean="0">
                <a:solidFill>
                  <a:schemeClr val="accent6">
                    <a:lumMod val="75000"/>
                  </a:schemeClr>
                </a:solidFill>
              </a:rPr>
              <a:t>E</a:t>
            </a:r>
            <a:r>
              <a:rPr lang="en-GB" sz="2000" b="1" i="1" baseline="-25000" dirty="0" smtClean="0">
                <a:solidFill>
                  <a:schemeClr val="accent6">
                    <a:lumMod val="75000"/>
                  </a:schemeClr>
                </a:solidFill>
              </a:rPr>
              <a:t>p</a:t>
            </a:r>
            <a:r>
              <a:rPr lang="en-GB" sz="2000" b="1" i="1" dirty="0" smtClean="0">
                <a:solidFill>
                  <a:schemeClr val="accent6">
                    <a:lumMod val="75000"/>
                  </a:schemeClr>
                </a:solidFill>
              </a:rPr>
              <a:t> </a:t>
            </a:r>
            <a:r>
              <a:rPr lang="en-GB" sz="2000" b="1" i="1" dirty="0">
                <a:solidFill>
                  <a:schemeClr val="accent6">
                    <a:lumMod val="75000"/>
                  </a:schemeClr>
                </a:solidFill>
              </a:rPr>
              <a:t>= </a:t>
            </a:r>
            <a:r>
              <a:rPr lang="en-GB" sz="2000" b="1" i="1" dirty="0" smtClean="0">
                <a:solidFill>
                  <a:schemeClr val="accent6">
                    <a:lumMod val="75000"/>
                  </a:schemeClr>
                </a:solidFill>
              </a:rPr>
              <a:t>m g h</a:t>
            </a:r>
            <a:endParaRPr lang="en-GB" sz="2000" b="1" i="1" dirty="0">
              <a:solidFill>
                <a:schemeClr val="accent6">
                  <a:lumMod val="75000"/>
                </a:schemeClr>
              </a:solidFill>
            </a:endParaRPr>
          </a:p>
          <a:p>
            <a:pPr algn="ctr"/>
            <a:endParaRPr lang="en-GB" sz="800" dirty="0"/>
          </a:p>
          <a:p>
            <a:r>
              <a:rPr lang="en-GB" sz="2000" dirty="0"/>
              <a:t>The pile driver hammer has a mass of 120 kg </a:t>
            </a:r>
            <a:r>
              <a:rPr lang="en-GB" sz="2000" dirty="0" smtClean="0"/>
              <a:t>and </a:t>
            </a:r>
            <a:r>
              <a:rPr lang="en-GB" sz="2000" dirty="0"/>
              <a:t>it is raised to a height of 4 m above the </a:t>
            </a:r>
            <a:r>
              <a:rPr lang="en-GB" sz="2000" dirty="0" smtClean="0"/>
              <a:t>ground</a:t>
            </a:r>
            <a:r>
              <a:rPr lang="en-GB" sz="2000" dirty="0"/>
              <a:t>. How much </a:t>
            </a:r>
            <a:r>
              <a:rPr lang="en-GB" sz="2000" dirty="0" smtClean="0"/>
              <a:t>G.P.E </a:t>
            </a:r>
            <a:r>
              <a:rPr lang="en-GB" sz="2000" dirty="0"/>
              <a:t>will it have?</a:t>
            </a:r>
          </a:p>
          <a:p>
            <a:pPr algn="ctr"/>
            <a:r>
              <a:rPr lang="en-GB" sz="2000" b="1" i="1" dirty="0">
                <a:solidFill>
                  <a:schemeClr val="accent6">
                    <a:lumMod val="75000"/>
                  </a:schemeClr>
                </a:solidFill>
              </a:rPr>
              <a:t>E</a:t>
            </a:r>
            <a:r>
              <a:rPr lang="en-GB" sz="2000" b="1" i="1" baseline="-25000" dirty="0">
                <a:solidFill>
                  <a:schemeClr val="accent6">
                    <a:lumMod val="75000"/>
                  </a:schemeClr>
                </a:solidFill>
              </a:rPr>
              <a:t>p</a:t>
            </a:r>
            <a:r>
              <a:rPr lang="en-GB" sz="2000" b="1" i="1" dirty="0">
                <a:solidFill>
                  <a:schemeClr val="accent6">
                    <a:lumMod val="75000"/>
                  </a:schemeClr>
                </a:solidFill>
              </a:rPr>
              <a:t> = </a:t>
            </a:r>
            <a:r>
              <a:rPr lang="en-GB" sz="2000" b="1" i="1" dirty="0" smtClean="0">
                <a:solidFill>
                  <a:schemeClr val="accent6">
                    <a:lumMod val="75000"/>
                  </a:schemeClr>
                </a:solidFill>
              </a:rPr>
              <a:t>m g h</a:t>
            </a:r>
            <a:endParaRPr lang="en-GB" sz="2000" b="1" i="1" dirty="0">
              <a:solidFill>
                <a:schemeClr val="accent6">
                  <a:lumMod val="75000"/>
                </a:schemeClr>
              </a:solidFill>
            </a:endParaRPr>
          </a:p>
          <a:p>
            <a:pPr algn="ctr"/>
            <a:endParaRPr lang="en-GB" sz="800" b="1" i="1" dirty="0" smtClean="0">
              <a:solidFill>
                <a:schemeClr val="accent6">
                  <a:lumMod val="75000"/>
                </a:schemeClr>
              </a:solidFill>
            </a:endParaRPr>
          </a:p>
          <a:p>
            <a:pPr algn="ctr"/>
            <a:r>
              <a:rPr lang="en-GB" sz="2000" b="1" dirty="0" smtClean="0">
                <a:solidFill>
                  <a:schemeClr val="accent6">
                    <a:lumMod val="75000"/>
                  </a:schemeClr>
                </a:solidFill>
              </a:rPr>
              <a:t>E</a:t>
            </a:r>
            <a:r>
              <a:rPr lang="en-GB" sz="2000" b="1" i="1" baseline="-25000" dirty="0" smtClean="0">
                <a:solidFill>
                  <a:schemeClr val="accent6">
                    <a:lumMod val="75000"/>
                  </a:schemeClr>
                </a:solidFill>
              </a:rPr>
              <a:t>p</a:t>
            </a:r>
            <a:r>
              <a:rPr lang="en-GB" sz="2000" b="1" dirty="0" smtClean="0">
                <a:solidFill>
                  <a:schemeClr val="accent6">
                    <a:lumMod val="75000"/>
                  </a:schemeClr>
                </a:solidFill>
              </a:rPr>
              <a:t> </a:t>
            </a:r>
            <a:r>
              <a:rPr lang="en-GB" sz="2000" b="1" dirty="0">
                <a:solidFill>
                  <a:schemeClr val="accent6">
                    <a:lumMod val="75000"/>
                  </a:schemeClr>
                </a:solidFill>
              </a:rPr>
              <a:t>= </a:t>
            </a:r>
            <a:r>
              <a:rPr lang="en-GB" sz="2000" b="1" dirty="0" smtClean="0">
                <a:solidFill>
                  <a:schemeClr val="accent6">
                    <a:lumMod val="75000"/>
                  </a:schemeClr>
                </a:solidFill>
              </a:rPr>
              <a:t>120 x 10 x 4</a:t>
            </a:r>
            <a:endParaRPr lang="en-GB" sz="2000" b="1" baseline="30000" dirty="0">
              <a:solidFill>
                <a:schemeClr val="accent6">
                  <a:lumMod val="75000"/>
                </a:schemeClr>
              </a:solidFill>
            </a:endParaRPr>
          </a:p>
          <a:p>
            <a:pPr algn="ctr"/>
            <a:endParaRPr lang="en-GB" sz="1050" b="1" baseline="30000" dirty="0" smtClean="0">
              <a:solidFill>
                <a:schemeClr val="accent6">
                  <a:lumMod val="75000"/>
                </a:schemeClr>
              </a:solidFill>
            </a:endParaRPr>
          </a:p>
          <a:p>
            <a:r>
              <a:rPr lang="en-GB" sz="2000" b="1" baseline="30000" dirty="0">
                <a:solidFill>
                  <a:schemeClr val="accent6">
                    <a:lumMod val="75000"/>
                  </a:schemeClr>
                </a:solidFill>
              </a:rPr>
              <a:t> </a:t>
            </a:r>
            <a:r>
              <a:rPr lang="en-GB" sz="2000" b="1" dirty="0" smtClean="0">
                <a:solidFill>
                  <a:schemeClr val="accent6">
                    <a:lumMod val="75000"/>
                  </a:schemeClr>
                </a:solidFill>
              </a:rPr>
              <a:t>                          </a:t>
            </a:r>
            <a:r>
              <a:rPr lang="en-GB" sz="2000" b="1" dirty="0" smtClean="0">
                <a:solidFill>
                  <a:schemeClr val="tx1"/>
                </a:solidFill>
              </a:rPr>
              <a:t>The G.P.E gained is:    </a:t>
            </a:r>
            <a:r>
              <a:rPr lang="en-GB" sz="2000" b="1" dirty="0" smtClean="0">
                <a:solidFill>
                  <a:schemeClr val="accent6">
                    <a:lumMod val="75000"/>
                  </a:schemeClr>
                </a:solidFill>
              </a:rPr>
              <a:t>E</a:t>
            </a:r>
            <a:r>
              <a:rPr lang="en-GB" sz="2000" b="1" baseline="-25000" dirty="0">
                <a:solidFill>
                  <a:schemeClr val="accent6">
                    <a:lumMod val="75000"/>
                  </a:schemeClr>
                </a:solidFill>
              </a:rPr>
              <a:t>p</a:t>
            </a:r>
            <a:r>
              <a:rPr lang="en-GB" sz="2000" b="1" dirty="0" smtClean="0">
                <a:solidFill>
                  <a:schemeClr val="accent6">
                    <a:lumMod val="75000"/>
                  </a:schemeClr>
                </a:solidFill>
              </a:rPr>
              <a:t> = </a:t>
            </a:r>
            <a:r>
              <a:rPr lang="en-GB" sz="2000" b="1" dirty="0">
                <a:solidFill>
                  <a:schemeClr val="accent6">
                    <a:lumMod val="75000"/>
                  </a:schemeClr>
                </a:solidFill>
              </a:rPr>
              <a:t>4800 J</a:t>
            </a:r>
          </a:p>
        </p:txBody>
      </p:sp>
    </p:spTree>
    <p:extLst>
      <p:ext uri="{BB962C8B-B14F-4D97-AF65-F5344CB8AC3E}">
        <p14:creationId xmlns:p14="http://schemas.microsoft.com/office/powerpoint/2010/main" val="93145681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878532"/>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GB" sz="4000" b="1" dirty="0">
                <a:solidFill>
                  <a:schemeClr val="tx1">
                    <a:lumMod val="50000"/>
                    <a:lumOff val="50000"/>
                  </a:schemeClr>
                </a:solidFill>
              </a:rPr>
              <a:t>Energy changes and</a:t>
            </a:r>
          </a:p>
          <a:p>
            <a:r>
              <a:rPr lang="en-GB" sz="4000" b="1" dirty="0">
                <a:solidFill>
                  <a:schemeClr val="tx1">
                    <a:lumMod val="50000"/>
                    <a:lumOff val="50000"/>
                  </a:schemeClr>
                </a:solidFill>
              </a:rPr>
              <a:t>energy stores </a:t>
            </a:r>
          </a:p>
          <a:p>
            <a:r>
              <a:rPr lang="en-GB" sz="4000" b="1" dirty="0">
                <a:solidFill>
                  <a:schemeClr val="tx1">
                    <a:lumMod val="50000"/>
                    <a:lumOff val="50000"/>
                  </a:schemeClr>
                </a:solidFill>
              </a:rPr>
              <a:t>Part 1</a:t>
            </a:r>
          </a:p>
          <a:p>
            <a:pPr marL="457200" indent="-457200">
              <a:lnSpc>
                <a:spcPct val="150000"/>
              </a:lnSpc>
              <a:buFont typeface="Arial" charset="0"/>
              <a:buChar char="•"/>
            </a:pPr>
            <a:r>
              <a:rPr lang="en-GB" sz="2800" b="1" dirty="0">
                <a:solidFill>
                  <a:schemeClr val="tx1">
                    <a:lumMod val="50000"/>
                    <a:lumOff val="50000"/>
                  </a:schemeClr>
                </a:solidFill>
              </a:rPr>
              <a:t>Energy stores and systems</a:t>
            </a:r>
          </a:p>
          <a:p>
            <a:pPr marL="457200" indent="-457200">
              <a:lnSpc>
                <a:spcPct val="150000"/>
              </a:lnSpc>
              <a:buFont typeface="Arial" charset="0"/>
              <a:buChar char="•"/>
            </a:pPr>
            <a:r>
              <a:rPr lang="en-GB" sz="2800" b="1" dirty="0">
                <a:solidFill>
                  <a:schemeClr val="tx1">
                    <a:lumMod val="50000"/>
                    <a:lumOff val="50000"/>
                  </a:schemeClr>
                </a:solidFill>
              </a:rPr>
              <a:t>Changes in energy</a:t>
            </a:r>
          </a:p>
          <a:p>
            <a:endParaRPr lang="en-GB" sz="2800" dirty="0">
              <a:solidFill>
                <a:schemeClr val="tx1">
                  <a:lumMod val="50000"/>
                  <a:lumOff val="50000"/>
                </a:schemeClr>
              </a:solidFill>
            </a:endParaRP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994288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0"/>
            <a:ext cx="8388424"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tx1"/>
                </a:solidFill>
                <a:latin typeface="+mn-lt"/>
              </a:rPr>
              <a:t>Answer</a:t>
            </a:r>
            <a:r>
              <a:rPr kumimoji="0" lang="en-US" sz="2400" b="1" i="0" u="none" strike="noStrike" kern="1200" cap="none" spc="0" normalizeH="0" baseline="0" noProof="0" dirty="0">
                <a:ln>
                  <a:noFill/>
                </a:ln>
                <a:solidFill>
                  <a:schemeClr val="tx1"/>
                </a:solidFill>
                <a:effectLst/>
                <a:uLnTx/>
                <a:uFillTx/>
                <a:latin typeface="+mn-lt"/>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047809"/>
          </a:xfrm>
          <a:prstGeom prst="rect">
            <a:avLst/>
          </a:prstGeom>
          <a:noFill/>
        </p:spPr>
        <p:txBody>
          <a:bodyPr wrap="square" rtlCol="0">
            <a:spAutoFit/>
          </a:bodyPr>
          <a:lstStyle/>
          <a:p>
            <a:pPr marL="457200" indent="-457200">
              <a:lnSpc>
                <a:spcPct val="150000"/>
              </a:lnSpc>
              <a:buAutoNum type="arabicPeriod"/>
            </a:pPr>
            <a:r>
              <a:rPr lang="en-GB" sz="2400" dirty="0"/>
              <a:t>What sort of energy store do the following examples have?</a:t>
            </a:r>
          </a:p>
          <a:p>
            <a:pPr marL="3657600" lvl="7" indent="-457200">
              <a:lnSpc>
                <a:spcPct val="150000"/>
              </a:lnSpc>
              <a:buAutoNum type="arabicPeriod"/>
            </a:pPr>
            <a:endParaRPr lang="en-GB" sz="1200" dirty="0"/>
          </a:p>
          <a:p>
            <a:pPr>
              <a:lnSpc>
                <a:spcPct val="150000"/>
              </a:lnSpc>
            </a:pPr>
            <a:r>
              <a:rPr lang="en-GB" sz="2400" dirty="0"/>
              <a:t>	a.                      b.                    c. </a:t>
            </a:r>
          </a:p>
          <a:p>
            <a:endParaRPr lang="en-GB" sz="2400" dirty="0"/>
          </a:p>
          <a:p>
            <a:r>
              <a:rPr lang="en-GB" sz="2400" dirty="0"/>
              <a:t>2. Write down the correct answer to complete the statement.</a:t>
            </a:r>
          </a:p>
          <a:p>
            <a:r>
              <a:rPr lang="en-GB" sz="2400" dirty="0"/>
              <a:t>	</a:t>
            </a:r>
            <a:r>
              <a:rPr lang="en-GB" sz="2400" b="1" dirty="0">
                <a:solidFill>
                  <a:schemeClr val="accent6">
                    <a:lumMod val="75000"/>
                  </a:schemeClr>
                </a:solidFill>
              </a:rPr>
              <a:t>Energy can </a:t>
            </a:r>
            <a:r>
              <a:rPr lang="en-GB" sz="2400" b="1" dirty="0" smtClean="0">
                <a:solidFill>
                  <a:schemeClr val="accent6">
                    <a:lumMod val="75000"/>
                  </a:schemeClr>
                </a:solidFill>
              </a:rPr>
              <a:t>not</a:t>
            </a:r>
            <a:r>
              <a:rPr lang="is-IS" sz="2400" dirty="0" smtClean="0"/>
              <a:t>…</a:t>
            </a:r>
            <a:endParaRPr lang="en-GB" sz="2400" dirty="0"/>
          </a:p>
          <a:p>
            <a:pPr>
              <a:lnSpc>
                <a:spcPct val="150000"/>
              </a:lnSpc>
            </a:pPr>
            <a:r>
              <a:rPr lang="en-GB" sz="2400" dirty="0"/>
              <a:t>	</a:t>
            </a:r>
            <a:r>
              <a:rPr lang="en-GB" sz="2200" dirty="0"/>
              <a:t>be transferred from one source to another.</a:t>
            </a:r>
          </a:p>
          <a:p>
            <a:pPr>
              <a:lnSpc>
                <a:spcPct val="150000"/>
              </a:lnSpc>
            </a:pPr>
            <a:r>
              <a:rPr lang="en-GB" sz="2200" dirty="0"/>
              <a:t>	be created or destroyed.</a:t>
            </a:r>
          </a:p>
          <a:p>
            <a:pPr>
              <a:lnSpc>
                <a:spcPct val="150000"/>
              </a:lnSpc>
            </a:pPr>
            <a:r>
              <a:rPr lang="en-GB" sz="2200" dirty="0"/>
              <a:t>	travel along a pathway to another stor</a:t>
            </a:r>
            <a:r>
              <a:rPr lang="en-GB" sz="2400" dirty="0"/>
              <a:t>e. </a:t>
            </a:r>
          </a:p>
          <a:p>
            <a:pPr>
              <a:lnSpc>
                <a:spcPct val="150000"/>
              </a:lnSpc>
            </a:pPr>
            <a:endParaRPr lang="en-GB" sz="1400" dirty="0"/>
          </a:p>
          <a:p>
            <a:r>
              <a:rPr lang="en-GB" sz="2400" dirty="0"/>
              <a:t>3. A basketball player throws the ball into the hoop. Describe the      </a:t>
            </a:r>
          </a:p>
          <a:p>
            <a:r>
              <a:rPr lang="en-GB" sz="2400" dirty="0"/>
              <a:t>    energy store change which has taken place.</a:t>
            </a:r>
          </a:p>
          <a:p>
            <a:r>
              <a:rPr lang="en-GB" sz="2400" b="1" dirty="0">
                <a:solidFill>
                  <a:srgbClr val="00B050"/>
                </a:solidFill>
              </a:rPr>
              <a:t>		</a:t>
            </a:r>
          </a:p>
          <a:p>
            <a:pPr>
              <a:lnSpc>
                <a:spcPct val="150000"/>
              </a:lnSpc>
            </a:pPr>
            <a:r>
              <a:rPr lang="en-GB" dirty="0"/>
              <a:t>	</a:t>
            </a:r>
            <a:endParaRPr lang="en-GB" sz="1600" dirty="0"/>
          </a:p>
        </p:txBody>
      </p:sp>
      <p:pic>
        <p:nvPicPr>
          <p:cNvPr id="7" name="Picture 6">
            <a:extLst>
              <a:ext uri="{FF2B5EF4-FFF2-40B4-BE49-F238E27FC236}">
                <a16:creationId xmlns:a16="http://schemas.microsoft.com/office/drawing/2014/main" xmlns="" id="{940BBDF7-7CCA-4619-A708-1A8B80ADFC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20333" y="1619671"/>
            <a:ext cx="1115616" cy="557808"/>
          </a:xfrm>
          <a:prstGeom prst="rect">
            <a:avLst/>
          </a:prstGeom>
        </p:spPr>
      </p:pic>
      <p:pic>
        <p:nvPicPr>
          <p:cNvPr id="9" name="Picture 8">
            <a:extLst>
              <a:ext uri="{FF2B5EF4-FFF2-40B4-BE49-F238E27FC236}">
                <a16:creationId xmlns:a16="http://schemas.microsoft.com/office/drawing/2014/main" xmlns="" id="{77221E8C-BA29-404E-B204-08F32B7932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7712" y="1385326"/>
            <a:ext cx="930313" cy="769623"/>
          </a:xfrm>
          <a:prstGeom prst="rect">
            <a:avLst/>
          </a:prstGeom>
        </p:spPr>
      </p:pic>
      <p:pic>
        <p:nvPicPr>
          <p:cNvPr id="11" name="Picture 10">
            <a:extLst>
              <a:ext uri="{FF2B5EF4-FFF2-40B4-BE49-F238E27FC236}">
                <a16:creationId xmlns:a16="http://schemas.microsoft.com/office/drawing/2014/main" xmlns="" id="{810EDF79-D882-4346-BCFD-AF48BBC775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49788" y="1368846"/>
            <a:ext cx="1085879" cy="760115"/>
          </a:xfrm>
          <a:prstGeom prst="rect">
            <a:avLst/>
          </a:prstGeom>
        </p:spPr>
      </p:pic>
    </p:spTree>
    <p:extLst>
      <p:ext uri="{BB962C8B-B14F-4D97-AF65-F5344CB8AC3E}">
        <p14:creationId xmlns:p14="http://schemas.microsoft.com/office/powerpoint/2010/main" val="855385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0"/>
            <a:ext cx="8388424"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400" dirty="0">
                <a:solidFill>
                  <a:schemeClr val="tx1"/>
                </a:solidFill>
              </a:rPr>
              <a:t>4</a:t>
            </a:r>
            <a:r>
              <a:rPr lang="en-GB" sz="2000" dirty="0">
                <a:solidFill>
                  <a:schemeClr val="tx1"/>
                </a:solidFill>
              </a:rPr>
              <a:t>. </a:t>
            </a:r>
            <a:r>
              <a:rPr lang="en-GB" sz="1900" dirty="0">
                <a:solidFill>
                  <a:schemeClr val="tx1"/>
                </a:solidFill>
              </a:rPr>
              <a:t>Copy and Complete the </a:t>
            </a:r>
            <a:r>
              <a:rPr lang="en-GB" sz="1900" b="1" dirty="0">
                <a:solidFill>
                  <a:schemeClr val="accent6">
                    <a:lumMod val="75000"/>
                  </a:schemeClr>
                </a:solidFill>
              </a:rPr>
              <a:t>energy store </a:t>
            </a:r>
            <a:r>
              <a:rPr lang="en-GB" sz="1900" dirty="0">
                <a:solidFill>
                  <a:schemeClr val="tx1"/>
                </a:solidFill>
              </a:rPr>
              <a:t>and </a:t>
            </a:r>
            <a:r>
              <a:rPr lang="en-GB" sz="1900" b="1" dirty="0">
                <a:solidFill>
                  <a:schemeClr val="accent6">
                    <a:lumMod val="75000"/>
                  </a:schemeClr>
                </a:solidFill>
              </a:rPr>
              <a:t>pathway </a:t>
            </a:r>
            <a:r>
              <a:rPr lang="en-GB" sz="1900" dirty="0">
                <a:solidFill>
                  <a:schemeClr val="tx1"/>
                </a:solidFill>
              </a:rPr>
              <a:t>diagrams for the objects described.</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19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a. A </a:t>
            </a:r>
            <a:r>
              <a:rPr lang="en-GB" sz="2000" b="1" dirty="0">
                <a:solidFill>
                  <a:schemeClr val="accent6">
                    <a:lumMod val="75000"/>
                  </a:schemeClr>
                </a:solidFill>
              </a:rPr>
              <a:t>moving</a:t>
            </a:r>
            <a:r>
              <a:rPr lang="en-GB" sz="2000" dirty="0">
                <a:solidFill>
                  <a:schemeClr val="tx1"/>
                </a:solidFill>
              </a:rPr>
              <a:t> car </a:t>
            </a:r>
            <a:r>
              <a:rPr lang="en-GB" sz="2000" b="1" dirty="0">
                <a:solidFill>
                  <a:schemeClr val="accent6">
                    <a:lumMod val="75000"/>
                  </a:schemeClr>
                </a:solidFill>
              </a:rPr>
              <a:t>braking</a:t>
            </a:r>
            <a:r>
              <a:rPr lang="en-GB" sz="2000" dirty="0">
                <a:solidFill>
                  <a:schemeClr val="tx1"/>
                </a:solidFill>
              </a:rPr>
              <a:t> to a stop.</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lvl="0" indent="-342900">
              <a:defRPr/>
            </a:pPr>
            <a:r>
              <a:rPr lang="en-GB" sz="2000" dirty="0">
                <a:solidFill>
                  <a:schemeClr val="tx1"/>
                </a:solidFill>
              </a:rPr>
              <a:t>		        CAR	 		</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b. Bringing water to the</a:t>
            </a:r>
            <a:r>
              <a:rPr lang="en-GB" sz="2000" b="1" dirty="0">
                <a:solidFill>
                  <a:schemeClr val="accent6">
                    <a:lumMod val="75000"/>
                  </a:schemeClr>
                </a:solidFill>
              </a:rPr>
              <a:t> boil </a:t>
            </a:r>
            <a:r>
              <a:rPr lang="en-GB" sz="2000" dirty="0">
                <a:solidFill>
                  <a:schemeClr val="tx1"/>
                </a:solidFill>
              </a:rPr>
              <a:t>on a gas hob.</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a:t>
            </a: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a:t>
            </a:r>
          </a:p>
        </p:txBody>
      </p:sp>
      <p:sp>
        <p:nvSpPr>
          <p:cNvPr id="3" name="Oval 2">
            <a:extLst>
              <a:ext uri="{FF2B5EF4-FFF2-40B4-BE49-F238E27FC236}">
                <a16:creationId xmlns:a16="http://schemas.microsoft.com/office/drawing/2014/main" xmlns="" id="{D4DAA39A-1A90-41CE-8F27-A3BB186BD295}"/>
              </a:ext>
            </a:extLst>
          </p:cNvPr>
          <p:cNvSpPr/>
          <p:nvPr/>
        </p:nvSpPr>
        <p:spPr>
          <a:xfrm>
            <a:off x="1171131" y="2176724"/>
            <a:ext cx="1296144" cy="1224136"/>
          </a:xfrm>
          <a:prstGeom prst="ellipse">
            <a:avLst/>
          </a:prstGeom>
          <a:noFill/>
          <a:ln w="317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xmlns="" id="{26BB4075-4953-4960-B7C9-BAD244705710}"/>
              </a:ext>
            </a:extLst>
          </p:cNvPr>
          <p:cNvSpPr/>
          <p:nvPr/>
        </p:nvSpPr>
        <p:spPr>
          <a:xfrm>
            <a:off x="2878641" y="2517663"/>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xmlns="" id="{FD8E8681-1C3D-4610-86C2-DD10F604D4A3}"/>
              </a:ext>
            </a:extLst>
          </p:cNvPr>
          <p:cNvCxnSpPr>
            <a:cxnSpLocks/>
          </p:cNvCxnSpPr>
          <p:nvPr/>
        </p:nvCxnSpPr>
        <p:spPr>
          <a:xfrm flipV="1">
            <a:off x="5020350" y="2994881"/>
            <a:ext cx="1512168" cy="464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xmlns="" id="{206CF331-58C1-4C58-862F-E6FC08C18ABF}"/>
              </a:ext>
            </a:extLst>
          </p:cNvPr>
          <p:cNvSpPr/>
          <p:nvPr/>
        </p:nvSpPr>
        <p:spPr>
          <a:xfrm>
            <a:off x="6852921" y="2507709"/>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xmlns="" id="{6026770D-7D80-417B-9AE4-ED980F56543A}"/>
              </a:ext>
            </a:extLst>
          </p:cNvPr>
          <p:cNvSpPr/>
          <p:nvPr/>
        </p:nvSpPr>
        <p:spPr>
          <a:xfrm>
            <a:off x="3310643" y="4677564"/>
            <a:ext cx="1296144" cy="1224136"/>
          </a:xfrm>
          <a:prstGeom prst="ellipse">
            <a:avLst/>
          </a:prstGeom>
          <a:noFill/>
          <a:ln w="317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xmlns="" id="{F9DAB7ED-8921-4EE9-B478-6561108E0637}"/>
              </a:ext>
            </a:extLst>
          </p:cNvPr>
          <p:cNvSpPr/>
          <p:nvPr/>
        </p:nvSpPr>
        <p:spPr>
          <a:xfrm>
            <a:off x="1099077" y="5029859"/>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xmlns="" id="{39DF1179-21CF-45C9-9013-ECAE457A4229}"/>
              </a:ext>
            </a:extLst>
          </p:cNvPr>
          <p:cNvCxnSpPr>
            <a:cxnSpLocks/>
          </p:cNvCxnSpPr>
          <p:nvPr/>
        </p:nvCxnSpPr>
        <p:spPr>
          <a:xfrm flipV="1">
            <a:off x="5148064" y="5445224"/>
            <a:ext cx="1512168" cy="464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xmlns="" id="{F71D1EEB-E450-477B-817D-182B894FE4B8}"/>
              </a:ext>
            </a:extLst>
          </p:cNvPr>
          <p:cNvSpPr/>
          <p:nvPr/>
        </p:nvSpPr>
        <p:spPr>
          <a:xfrm>
            <a:off x="6852921" y="5039307"/>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9574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94579"/>
            <a:ext cx="8388424"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71015"/>
            <a:ext cx="8915400" cy="4154984"/>
          </a:xfrm>
          <a:prstGeom prst="rect">
            <a:avLst/>
          </a:prstGeom>
          <a:noFill/>
        </p:spPr>
        <p:txBody>
          <a:bodyPr wrap="square" rtlCol="0">
            <a:spAutoFit/>
          </a:bodyPr>
          <a:lstStyle/>
          <a:p>
            <a:r>
              <a:rPr lang="en-GB" sz="2400" dirty="0"/>
              <a:t> 5. D</a:t>
            </a:r>
            <a:r>
              <a:rPr lang="en-GB" sz="2400" dirty="0" smtClean="0"/>
              <a:t>escribes </a:t>
            </a:r>
            <a:r>
              <a:rPr lang="en-GB" sz="2400" dirty="0"/>
              <a:t>the main change in </a:t>
            </a:r>
            <a:r>
              <a:rPr lang="en-GB" sz="2400" b="1" dirty="0">
                <a:solidFill>
                  <a:schemeClr val="accent6">
                    <a:lumMod val="75000"/>
                  </a:schemeClr>
                </a:solidFill>
              </a:rPr>
              <a:t>energy stores </a:t>
            </a:r>
            <a:r>
              <a:rPr lang="en-GB" sz="2400" dirty="0" smtClean="0"/>
              <a:t>for </a:t>
            </a:r>
            <a:r>
              <a:rPr lang="en-GB" sz="2400" dirty="0"/>
              <a:t>a </a:t>
            </a:r>
            <a:r>
              <a:rPr lang="en-GB" sz="2400" b="1" dirty="0">
                <a:solidFill>
                  <a:schemeClr val="accent6">
                    <a:lumMod val="75000"/>
                  </a:schemeClr>
                </a:solidFill>
              </a:rPr>
              <a:t>coal fired power station</a:t>
            </a:r>
            <a:r>
              <a:rPr lang="en-GB" sz="2400" dirty="0"/>
              <a:t>.</a:t>
            </a:r>
          </a:p>
          <a:p>
            <a:r>
              <a:rPr lang="en-GB" sz="2400" dirty="0" smtClean="0"/>
              <a:t>     </a:t>
            </a:r>
            <a:r>
              <a:rPr lang="en-GB" sz="2400" dirty="0"/>
              <a:t>a. Name the energy sources for:</a:t>
            </a:r>
          </a:p>
          <a:p>
            <a:r>
              <a:rPr lang="en-GB" sz="2400" dirty="0"/>
              <a:t>	</a:t>
            </a:r>
            <a:r>
              <a:rPr lang="en-GB" sz="2400" dirty="0" err="1"/>
              <a:t>i</a:t>
            </a:r>
            <a:r>
              <a:rPr lang="en-GB" sz="2400" dirty="0"/>
              <a:t>   Input energy	          	</a:t>
            </a:r>
          </a:p>
          <a:p>
            <a:r>
              <a:rPr lang="en-GB" sz="2400" dirty="0"/>
              <a:t>	ii  Useful output energy        	</a:t>
            </a:r>
          </a:p>
          <a:p>
            <a:r>
              <a:rPr lang="en-GB" sz="2400" dirty="0"/>
              <a:t>	iii Wasted output energy.     </a:t>
            </a:r>
          </a:p>
          <a:p>
            <a:endParaRPr lang="en-GB" sz="2400" dirty="0"/>
          </a:p>
          <a:p>
            <a:r>
              <a:rPr lang="en-GB" sz="2400" dirty="0"/>
              <a:t>     b. In one hour, coal supplies 500 000 J of energy. The wasted energy</a:t>
            </a:r>
          </a:p>
          <a:p>
            <a:r>
              <a:rPr lang="en-GB" sz="2400" dirty="0"/>
              <a:t>         amounts to 380 000 J. </a:t>
            </a:r>
            <a:endParaRPr lang="en-GB" sz="2400" dirty="0" smtClean="0"/>
          </a:p>
          <a:p>
            <a:pPr lvl="1"/>
            <a:r>
              <a:rPr lang="en-GB" sz="2400" dirty="0" smtClean="0"/>
              <a:t>  Calculate </a:t>
            </a:r>
            <a:r>
              <a:rPr lang="en-GB" sz="2400" dirty="0"/>
              <a:t>how much useful energy is </a:t>
            </a:r>
            <a:r>
              <a:rPr lang="en-GB" sz="2400" dirty="0" smtClean="0"/>
              <a:t>produced </a:t>
            </a:r>
            <a:r>
              <a:rPr lang="en-GB" sz="2400" dirty="0"/>
              <a:t>in one hour.</a:t>
            </a:r>
          </a:p>
          <a:p>
            <a:r>
              <a:rPr lang="en-GB" sz="2400" dirty="0"/>
              <a:t>             </a:t>
            </a:r>
            <a:endParaRPr lang="en-GB" sz="1600" dirty="0"/>
          </a:p>
        </p:txBody>
      </p:sp>
      <p:sp>
        <p:nvSpPr>
          <p:cNvPr id="3" name="TextBox 2"/>
          <p:cNvSpPr txBox="1"/>
          <p:nvPr/>
        </p:nvSpPr>
        <p:spPr>
          <a:xfrm>
            <a:off x="1639957" y="1878496"/>
            <a:ext cx="184731" cy="369332"/>
          </a:xfrm>
          <a:prstGeom prst="rect">
            <a:avLst/>
          </a:prstGeom>
          <a:noFill/>
        </p:spPr>
        <p:txBody>
          <a:bodyPr wrap="none" rtlCol="0">
            <a:spAutoFit/>
          </a:bodyPr>
          <a:lstStyle/>
          <a:p>
            <a:endParaRPr lang="en-GB" dirty="0"/>
          </a:p>
        </p:txBody>
      </p:sp>
    </p:spTree>
    <p:extLst>
      <p:ext uri="{BB962C8B-B14F-4D97-AF65-F5344CB8AC3E}">
        <p14:creationId xmlns:p14="http://schemas.microsoft.com/office/powerpoint/2010/main" val="12782880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94579"/>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8983" y="692696"/>
            <a:ext cx="8915400" cy="6247864"/>
          </a:xfrm>
          <a:prstGeom prst="rect">
            <a:avLst/>
          </a:prstGeom>
          <a:noFill/>
        </p:spPr>
        <p:txBody>
          <a:bodyPr wrap="square" rtlCol="0">
            <a:spAutoFit/>
          </a:bodyPr>
          <a:lstStyle/>
          <a:p>
            <a:r>
              <a:rPr lang="en-GB" sz="2400" dirty="0"/>
              <a:t>6. </a:t>
            </a:r>
            <a:r>
              <a:rPr lang="en-US" sz="2400" dirty="0"/>
              <a:t>When a football is kicked it gains </a:t>
            </a:r>
            <a:r>
              <a:rPr lang="en-US" sz="2400" b="1" dirty="0">
                <a:solidFill>
                  <a:schemeClr val="accent6">
                    <a:lumMod val="75000"/>
                  </a:schemeClr>
                </a:solidFill>
              </a:rPr>
              <a:t>kinetic energy</a:t>
            </a:r>
            <a:r>
              <a:rPr lang="en-US" sz="2400" dirty="0"/>
              <a:t>. </a:t>
            </a:r>
            <a:endParaRPr lang="en-GB" sz="2400" dirty="0"/>
          </a:p>
          <a:p>
            <a:r>
              <a:rPr lang="en-US" sz="2400" dirty="0"/>
              <a:t>     a. What is the</a:t>
            </a:r>
            <a:r>
              <a:rPr lang="en-US" sz="2400" b="1" dirty="0">
                <a:solidFill>
                  <a:schemeClr val="accent6">
                    <a:lumMod val="75000"/>
                  </a:schemeClr>
                </a:solidFill>
              </a:rPr>
              <a:t> formula </a:t>
            </a:r>
            <a:r>
              <a:rPr lang="en-US" sz="2400" dirty="0"/>
              <a:t>used to calculate kinetic energy?</a:t>
            </a:r>
          </a:p>
          <a:p>
            <a:endParaRPr lang="en-US" sz="2400" dirty="0"/>
          </a:p>
          <a:p>
            <a:r>
              <a:rPr lang="en-US" sz="2400" dirty="0"/>
              <a:t>     b. The football has a mass of 0.4 kg. When the football is kicked, it</a:t>
            </a:r>
          </a:p>
          <a:p>
            <a:r>
              <a:rPr lang="en-US" sz="2400" dirty="0"/>
              <a:t>          has a velocity of 15 m/s. </a:t>
            </a:r>
            <a:endParaRPr lang="en-US" sz="2400" dirty="0" smtClean="0"/>
          </a:p>
          <a:p>
            <a:r>
              <a:rPr lang="en-US" sz="2400" dirty="0"/>
              <a:t> </a:t>
            </a:r>
            <a:r>
              <a:rPr lang="en-US" sz="2400" dirty="0" smtClean="0"/>
              <a:t>         Calculate the </a:t>
            </a:r>
            <a:r>
              <a:rPr lang="en-US" sz="2400" b="1" dirty="0">
                <a:solidFill>
                  <a:schemeClr val="accent6">
                    <a:lumMod val="75000"/>
                  </a:schemeClr>
                </a:solidFill>
              </a:rPr>
              <a:t>kinetic energy </a:t>
            </a:r>
            <a:r>
              <a:rPr lang="en-US" sz="2400" dirty="0"/>
              <a:t>of </a:t>
            </a:r>
            <a:r>
              <a:rPr lang="en-US" sz="2400" dirty="0" smtClean="0"/>
              <a:t>the </a:t>
            </a:r>
            <a:r>
              <a:rPr lang="en-US" sz="2400" dirty="0"/>
              <a:t>moving football?</a:t>
            </a:r>
            <a:endParaRPr lang="en-GB" sz="2400" dirty="0"/>
          </a:p>
          <a:p>
            <a:pPr algn="ctr"/>
            <a:r>
              <a:rPr lang="en-US" sz="2400" dirty="0"/>
              <a:t>          </a:t>
            </a:r>
            <a:endParaRPr lang="en-GB" sz="2400" b="1" dirty="0">
              <a:solidFill>
                <a:srgbClr val="00B050"/>
              </a:solidFill>
            </a:endParaRPr>
          </a:p>
          <a:p>
            <a:endParaRPr lang="en-GB" sz="2400" b="1" dirty="0">
              <a:solidFill>
                <a:srgbClr val="00B050"/>
              </a:solidFill>
            </a:endParaRPr>
          </a:p>
          <a:p>
            <a:r>
              <a:rPr lang="en-GB" sz="2400" dirty="0"/>
              <a:t>7. </a:t>
            </a:r>
            <a:r>
              <a:rPr lang="en-US" sz="2400" dirty="0"/>
              <a:t>The un-stretched spring opposite has a length</a:t>
            </a:r>
          </a:p>
          <a:p>
            <a:r>
              <a:rPr lang="en-US" sz="2400" dirty="0"/>
              <a:t>     of 0.5 m but after a mass is added it is 0.6 m long.</a:t>
            </a:r>
          </a:p>
          <a:p>
            <a:r>
              <a:rPr lang="en-US" sz="2400" dirty="0"/>
              <a:t>     If the spring constant is 800 </a:t>
            </a:r>
            <a:r>
              <a:rPr lang="en-US" sz="2400" dirty="0" smtClean="0"/>
              <a:t>N/m.</a:t>
            </a:r>
          </a:p>
          <a:p>
            <a:r>
              <a:rPr lang="en-US" sz="2400" dirty="0"/>
              <a:t> </a:t>
            </a:r>
            <a:r>
              <a:rPr lang="en-US" sz="2400" dirty="0" smtClean="0"/>
              <a:t>    Calculate the stored </a:t>
            </a:r>
            <a:r>
              <a:rPr lang="en-US" sz="2400" b="1" dirty="0">
                <a:solidFill>
                  <a:schemeClr val="accent6">
                    <a:lumMod val="75000"/>
                  </a:schemeClr>
                </a:solidFill>
              </a:rPr>
              <a:t>elastic potential energy</a:t>
            </a:r>
            <a:r>
              <a:rPr lang="en-US" sz="2400" dirty="0"/>
              <a:t>.  </a:t>
            </a:r>
            <a:endParaRPr lang="en-US" sz="2400" dirty="0" smtClean="0"/>
          </a:p>
          <a:p>
            <a:r>
              <a:rPr lang="en-US" sz="2400" dirty="0" smtClean="0"/>
              <a:t>     </a:t>
            </a:r>
            <a:r>
              <a:rPr lang="en-US" sz="2400" b="1" dirty="0">
                <a:solidFill>
                  <a:schemeClr val="accent6">
                    <a:lumMod val="75000"/>
                  </a:schemeClr>
                </a:solidFill>
              </a:rPr>
              <a:t>E</a:t>
            </a:r>
            <a:r>
              <a:rPr lang="en-US" sz="2400" b="1" i="1" baseline="-25000" dirty="0">
                <a:solidFill>
                  <a:schemeClr val="accent6">
                    <a:lumMod val="75000"/>
                  </a:schemeClr>
                </a:solidFill>
              </a:rPr>
              <a:t>e</a:t>
            </a:r>
            <a:r>
              <a:rPr lang="en-US" sz="2400" b="1" dirty="0">
                <a:solidFill>
                  <a:schemeClr val="accent6">
                    <a:lumMod val="75000"/>
                  </a:schemeClr>
                </a:solidFill>
              </a:rPr>
              <a:t> = ½ </a:t>
            </a:r>
            <a:r>
              <a:rPr lang="en-US" sz="2400" b="1" i="1" dirty="0">
                <a:solidFill>
                  <a:schemeClr val="accent6">
                    <a:lumMod val="75000"/>
                  </a:schemeClr>
                </a:solidFill>
              </a:rPr>
              <a:t>k e</a:t>
            </a:r>
            <a:r>
              <a:rPr lang="en-US" sz="2400" b="1" baseline="30000" dirty="0">
                <a:solidFill>
                  <a:schemeClr val="accent6">
                    <a:lumMod val="75000"/>
                  </a:schemeClr>
                </a:solidFill>
              </a:rPr>
              <a:t>2</a:t>
            </a:r>
          </a:p>
          <a:p>
            <a:endParaRPr lang="en-US" sz="2400" b="1" baseline="30000" dirty="0">
              <a:solidFill>
                <a:schemeClr val="accent6">
                  <a:lumMod val="75000"/>
                </a:schemeClr>
              </a:solidFill>
            </a:endParaRPr>
          </a:p>
          <a:p>
            <a:r>
              <a:rPr lang="en-US" sz="2400" b="1" dirty="0">
                <a:solidFill>
                  <a:schemeClr val="accent6">
                    <a:lumMod val="75000"/>
                  </a:schemeClr>
                </a:solidFill>
              </a:rPr>
              <a:t>        	</a:t>
            </a:r>
          </a:p>
          <a:p>
            <a:endParaRPr lang="en-US" sz="2400" b="1" dirty="0">
              <a:solidFill>
                <a:schemeClr val="accent6">
                  <a:lumMod val="75000"/>
                </a:schemeClr>
              </a:solidFill>
            </a:endParaRPr>
          </a:p>
          <a:p>
            <a:endParaRPr lang="en-GB" sz="2400" b="1" dirty="0">
              <a:solidFill>
                <a:srgbClr val="00B050"/>
              </a:solidFill>
            </a:endParaRPr>
          </a:p>
        </p:txBody>
      </p:sp>
      <p:sp>
        <p:nvSpPr>
          <p:cNvPr id="3" name="TextBox 2"/>
          <p:cNvSpPr txBox="1"/>
          <p:nvPr/>
        </p:nvSpPr>
        <p:spPr>
          <a:xfrm>
            <a:off x="1639957" y="1878496"/>
            <a:ext cx="184731" cy="369332"/>
          </a:xfrm>
          <a:prstGeom prst="rect">
            <a:avLst/>
          </a:prstGeom>
          <a:noFill/>
        </p:spPr>
        <p:txBody>
          <a:bodyPr wrap="none" rtlCol="0">
            <a:spAutoFit/>
          </a:bodyPr>
          <a:lstStyle/>
          <a:p>
            <a:endParaRPr lang="en-GB" dirty="0"/>
          </a:p>
        </p:txBody>
      </p:sp>
      <p:pic>
        <p:nvPicPr>
          <p:cNvPr id="8" name="Picture 7" descr="Image result for stretched and unstretched spring diagram">
            <a:extLst>
              <a:ext uri="{FF2B5EF4-FFF2-40B4-BE49-F238E27FC236}">
                <a16:creationId xmlns:a16="http://schemas.microsoft.com/office/drawing/2014/main" xmlns="" id="{EF93CD1E-EED4-4810-957D-90A0F78E3DE8}"/>
              </a:ext>
            </a:extLst>
          </p:cNvPr>
          <p:cNvPicPr/>
          <p:nvPr/>
        </p:nvPicPr>
        <p:blipFill>
          <a:blip r:embed="rId2" cstate="print"/>
          <a:srcRect/>
          <a:stretch>
            <a:fillRect/>
          </a:stretch>
        </p:blipFill>
        <p:spPr bwMode="auto">
          <a:xfrm>
            <a:off x="6732240" y="3747858"/>
            <a:ext cx="2194560" cy="1371600"/>
          </a:xfrm>
          <a:prstGeom prst="rect">
            <a:avLst/>
          </a:prstGeom>
          <a:noFill/>
          <a:ln w="9525">
            <a:noFill/>
            <a:miter lim="800000"/>
            <a:headEnd/>
            <a:tailEnd/>
          </a:ln>
        </p:spPr>
      </p:pic>
    </p:spTree>
    <p:extLst>
      <p:ext uri="{BB962C8B-B14F-4D97-AF65-F5344CB8AC3E}">
        <p14:creationId xmlns:p14="http://schemas.microsoft.com/office/powerpoint/2010/main" val="760885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94579"/>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8983" y="692696"/>
            <a:ext cx="8915400" cy="6001643"/>
          </a:xfrm>
          <a:prstGeom prst="rect">
            <a:avLst/>
          </a:prstGeom>
          <a:noFill/>
        </p:spPr>
        <p:txBody>
          <a:bodyPr wrap="square" rtlCol="0">
            <a:spAutoFit/>
          </a:bodyPr>
          <a:lstStyle/>
          <a:p>
            <a:r>
              <a:rPr lang="en-GB" sz="2400" dirty="0"/>
              <a:t>8. A pole vaulter just clears the bar which is 5.1 m high. His mass is</a:t>
            </a:r>
          </a:p>
          <a:p>
            <a:r>
              <a:rPr lang="en-GB" sz="2400" dirty="0"/>
              <a:t>     62 kg.                       </a:t>
            </a:r>
            <a:r>
              <a:rPr lang="en-GB" sz="2400" b="1" dirty="0">
                <a:solidFill>
                  <a:schemeClr val="accent6">
                    <a:lumMod val="75000"/>
                  </a:schemeClr>
                </a:solidFill>
              </a:rPr>
              <a:t>(g = 10N/kg)</a:t>
            </a:r>
          </a:p>
          <a:p>
            <a:endParaRPr lang="en-GB" sz="2400" dirty="0"/>
          </a:p>
          <a:p>
            <a:r>
              <a:rPr lang="en-GB" sz="2400" dirty="0"/>
              <a:t>     a. What type of stored energy does he have</a:t>
            </a:r>
          </a:p>
          <a:p>
            <a:r>
              <a:rPr lang="en-GB" sz="2400" dirty="0"/>
              <a:t>          as he </a:t>
            </a:r>
            <a:r>
              <a:rPr lang="en-GB" sz="2400" dirty="0" smtClean="0"/>
              <a:t>just clears </a:t>
            </a:r>
            <a:r>
              <a:rPr lang="en-GB" sz="2400" dirty="0"/>
              <a:t>the bar?</a:t>
            </a:r>
          </a:p>
          <a:p>
            <a:r>
              <a:rPr lang="en-GB" sz="2400" dirty="0"/>
              <a:t>	</a:t>
            </a:r>
            <a:r>
              <a:rPr lang="en-GB" sz="2400" b="1" dirty="0">
                <a:solidFill>
                  <a:srgbClr val="00B050"/>
                </a:solidFill>
              </a:rPr>
              <a:t> </a:t>
            </a:r>
          </a:p>
          <a:p>
            <a:r>
              <a:rPr lang="en-GB" sz="2400" dirty="0"/>
              <a:t>    b.  Work out how much stored energy the</a:t>
            </a:r>
          </a:p>
          <a:p>
            <a:r>
              <a:rPr lang="en-GB" sz="2400" dirty="0"/>
              <a:t>          pole </a:t>
            </a:r>
            <a:r>
              <a:rPr lang="en-GB" sz="2400" dirty="0" err="1"/>
              <a:t>vaulter</a:t>
            </a:r>
            <a:r>
              <a:rPr lang="en-GB" sz="2400" dirty="0"/>
              <a:t> has due to his position </a:t>
            </a:r>
          </a:p>
          <a:p>
            <a:r>
              <a:rPr lang="en-GB" sz="2400" dirty="0"/>
              <a:t>          above the ground.</a:t>
            </a:r>
          </a:p>
          <a:p>
            <a:r>
              <a:rPr lang="en-GB" sz="2400" b="1" dirty="0">
                <a:solidFill>
                  <a:srgbClr val="00B050"/>
                </a:solidFill>
              </a:rPr>
              <a:t> </a:t>
            </a:r>
          </a:p>
          <a:p>
            <a:r>
              <a:rPr lang="en-GB" sz="2400" dirty="0"/>
              <a:t>     c. As he falls back to the ground, this energy store will be</a:t>
            </a:r>
          </a:p>
          <a:p>
            <a:r>
              <a:rPr lang="en-GB" sz="2400" dirty="0"/>
              <a:t>         transferred into a new energy store. Name this new energy store.</a:t>
            </a:r>
          </a:p>
          <a:p>
            <a:r>
              <a:rPr lang="en-GB" sz="2400" dirty="0"/>
              <a:t>	</a:t>
            </a:r>
            <a:r>
              <a:rPr lang="en-GB" sz="2400" b="1" dirty="0">
                <a:solidFill>
                  <a:srgbClr val="00B050"/>
                </a:solidFill>
              </a:rPr>
              <a:t> </a:t>
            </a:r>
          </a:p>
          <a:p>
            <a:r>
              <a:rPr lang="en-GB" sz="2400" dirty="0"/>
              <a:t>     d. When he lands, what happens to the energy stores described</a:t>
            </a:r>
          </a:p>
          <a:p>
            <a:r>
              <a:rPr lang="en-GB" sz="2400" dirty="0"/>
              <a:t>          above?</a:t>
            </a:r>
          </a:p>
          <a:p>
            <a:r>
              <a:rPr lang="en-GB" sz="2400" dirty="0"/>
              <a:t>	</a:t>
            </a:r>
            <a:r>
              <a:rPr lang="en-GB" sz="2400" b="1" dirty="0">
                <a:solidFill>
                  <a:srgbClr val="00B050"/>
                </a:solidFill>
              </a:rPr>
              <a:t> </a:t>
            </a:r>
          </a:p>
        </p:txBody>
      </p:sp>
      <p:sp>
        <p:nvSpPr>
          <p:cNvPr id="3" name="TextBox 2"/>
          <p:cNvSpPr txBox="1"/>
          <p:nvPr/>
        </p:nvSpPr>
        <p:spPr>
          <a:xfrm>
            <a:off x="1639957" y="1878496"/>
            <a:ext cx="184731" cy="369332"/>
          </a:xfrm>
          <a:prstGeom prst="rect">
            <a:avLst/>
          </a:prstGeom>
          <a:noFill/>
        </p:spPr>
        <p:txBody>
          <a:bodyPr wrap="none" rtlCol="0">
            <a:spAutoFit/>
          </a:bodyPr>
          <a:lstStyle/>
          <a:p>
            <a:endParaRPr lang="en-GB" dirty="0"/>
          </a:p>
        </p:txBody>
      </p:sp>
      <p:pic>
        <p:nvPicPr>
          <p:cNvPr id="9" name="Picture 8" descr="Image result for pole vaulter">
            <a:extLst>
              <a:ext uri="{FF2B5EF4-FFF2-40B4-BE49-F238E27FC236}">
                <a16:creationId xmlns:a16="http://schemas.microsoft.com/office/drawing/2014/main" xmlns="" id="{C6B0434C-3C49-4431-B735-EB59A6A6C02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012160" y="1557265"/>
            <a:ext cx="2664296" cy="2159767"/>
          </a:xfrm>
          <a:prstGeom prst="rect">
            <a:avLst/>
          </a:prstGeom>
          <a:noFill/>
          <a:ln>
            <a:noFill/>
          </a:ln>
        </p:spPr>
      </p:pic>
    </p:spTree>
    <p:extLst>
      <p:ext uri="{BB962C8B-B14F-4D97-AF65-F5344CB8AC3E}">
        <p14:creationId xmlns:p14="http://schemas.microsoft.com/office/powerpoint/2010/main" val="2082880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44764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4000" b="1" dirty="0">
                <a:solidFill>
                  <a:schemeClr val="tx1">
                    <a:lumMod val="50000"/>
                    <a:lumOff val="50000"/>
                  </a:schemeClr>
                </a:solidFill>
              </a:rPr>
              <a:t>Energy changes and</a:t>
            </a:r>
          </a:p>
          <a:p>
            <a:r>
              <a:rPr lang="en-GB" sz="4000" b="1" dirty="0">
                <a:solidFill>
                  <a:schemeClr val="tx1">
                    <a:lumMod val="50000"/>
                    <a:lumOff val="50000"/>
                  </a:schemeClr>
                </a:solidFill>
              </a:rPr>
              <a:t>energy stores </a:t>
            </a:r>
          </a:p>
          <a:p>
            <a:r>
              <a:rPr lang="en-GB" sz="4000" b="1" dirty="0">
                <a:solidFill>
                  <a:schemeClr val="tx1">
                    <a:lumMod val="50000"/>
                    <a:lumOff val="50000"/>
                  </a:schemeClr>
                </a:solidFill>
              </a:rPr>
              <a:t>Part 1</a:t>
            </a:r>
          </a:p>
          <a:p>
            <a:pPr marL="457200" indent="-457200">
              <a:lnSpc>
                <a:spcPct val="150000"/>
              </a:lnSpc>
              <a:buFont typeface="Arial" charset="0"/>
              <a:buChar char="•"/>
            </a:pPr>
            <a:r>
              <a:rPr lang="en-GB" sz="2800" b="1" dirty="0">
                <a:solidFill>
                  <a:schemeClr val="tx1">
                    <a:lumMod val="50000"/>
                    <a:lumOff val="50000"/>
                  </a:schemeClr>
                </a:solidFill>
              </a:rPr>
              <a:t>Energy stores and systems</a:t>
            </a:r>
          </a:p>
          <a:p>
            <a:pPr marL="457200" indent="-457200">
              <a:lnSpc>
                <a:spcPct val="150000"/>
              </a:lnSpc>
              <a:buFont typeface="Arial" charset="0"/>
              <a:buChar char="•"/>
            </a:pPr>
            <a:r>
              <a:rPr lang="en-GB" sz="2800" b="1" dirty="0">
                <a:solidFill>
                  <a:schemeClr val="tx1">
                    <a:lumMod val="50000"/>
                    <a:lumOff val="50000"/>
                  </a:schemeClr>
                </a:solidFill>
              </a:rPr>
              <a:t>Changes in energy</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968" y="704918"/>
            <a:ext cx="4680520" cy="5257800"/>
          </a:xfrm>
          <a:prstGeom prst="rect">
            <a:avLst/>
          </a:prstGeom>
        </p:spPr>
      </p:pic>
    </p:spTree>
    <p:extLst>
      <p:ext uri="{BB962C8B-B14F-4D97-AF65-F5344CB8AC3E}">
        <p14:creationId xmlns:p14="http://schemas.microsoft.com/office/powerpoint/2010/main" val="1921545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0"/>
            <a:ext cx="8388424"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tx1"/>
                </a:solidFill>
                <a:latin typeface="+mn-lt"/>
              </a:rPr>
              <a:t>Answer</a:t>
            </a:r>
            <a:r>
              <a:rPr kumimoji="0" lang="en-US" sz="2400" b="1" i="0" u="none" strike="noStrike" kern="1200" cap="none" spc="0" normalizeH="0" baseline="0" noProof="0" dirty="0">
                <a:ln>
                  <a:noFill/>
                </a:ln>
                <a:solidFill>
                  <a:schemeClr val="tx1"/>
                </a:solidFill>
                <a:effectLst/>
                <a:uLnTx/>
                <a:uFillTx/>
                <a:latin typeface="+mn-lt"/>
                <a:ea typeface=""/>
                <a:cs typeface="News Gothic MT"/>
              </a:rPr>
              <a:t>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232475"/>
          </a:xfrm>
          <a:prstGeom prst="rect">
            <a:avLst/>
          </a:prstGeom>
          <a:noFill/>
        </p:spPr>
        <p:txBody>
          <a:bodyPr wrap="square" rtlCol="0">
            <a:spAutoFit/>
          </a:bodyPr>
          <a:lstStyle/>
          <a:p>
            <a:pPr marL="457200" indent="-457200">
              <a:lnSpc>
                <a:spcPct val="150000"/>
              </a:lnSpc>
              <a:buAutoNum type="arabicPeriod"/>
            </a:pPr>
            <a:r>
              <a:rPr lang="en-GB" sz="2400" dirty="0"/>
              <a:t>What sort of energy store do the following examples have?</a:t>
            </a:r>
          </a:p>
          <a:p>
            <a:pPr marL="3657600" lvl="7" indent="-457200">
              <a:lnSpc>
                <a:spcPct val="150000"/>
              </a:lnSpc>
              <a:buAutoNum type="arabicPeriod"/>
            </a:pPr>
            <a:endParaRPr lang="en-GB" sz="1200" dirty="0"/>
          </a:p>
          <a:p>
            <a:pPr>
              <a:lnSpc>
                <a:spcPct val="150000"/>
              </a:lnSpc>
            </a:pPr>
            <a:r>
              <a:rPr lang="en-GB" sz="2400" dirty="0"/>
              <a:t>	a.                      </a:t>
            </a:r>
            <a:r>
              <a:rPr lang="en-GB" sz="2400" dirty="0" smtClean="0"/>
              <a:t>         b</a:t>
            </a:r>
            <a:r>
              <a:rPr lang="en-GB" sz="2400" dirty="0"/>
              <a:t>.                    </a:t>
            </a:r>
            <a:r>
              <a:rPr lang="en-GB" sz="2400" dirty="0" smtClean="0"/>
              <a:t>      c</a:t>
            </a:r>
            <a:r>
              <a:rPr lang="en-GB" sz="2400" dirty="0"/>
              <a:t>. </a:t>
            </a:r>
          </a:p>
          <a:p>
            <a:pPr>
              <a:lnSpc>
                <a:spcPct val="150000"/>
              </a:lnSpc>
            </a:pPr>
            <a:r>
              <a:rPr lang="en-GB" sz="2400" dirty="0"/>
              <a:t>                      </a:t>
            </a:r>
            <a:r>
              <a:rPr lang="en-GB" b="1" dirty="0">
                <a:solidFill>
                  <a:srgbClr val="00B050"/>
                </a:solidFill>
              </a:rPr>
              <a:t>Chemical                  </a:t>
            </a:r>
            <a:r>
              <a:rPr lang="en-GB" b="1" dirty="0" smtClean="0">
                <a:solidFill>
                  <a:srgbClr val="00B050"/>
                </a:solidFill>
              </a:rPr>
              <a:t>Elastic potential                </a:t>
            </a:r>
            <a:r>
              <a:rPr lang="en-GB" b="1" dirty="0">
                <a:solidFill>
                  <a:srgbClr val="00B050"/>
                </a:solidFill>
              </a:rPr>
              <a:t>Thermal</a:t>
            </a:r>
          </a:p>
          <a:p>
            <a:r>
              <a:rPr lang="en-GB" sz="2400" dirty="0"/>
              <a:t>2. Write down the correct answer to complete the statement.</a:t>
            </a:r>
          </a:p>
          <a:p>
            <a:r>
              <a:rPr lang="en-GB" sz="2400" dirty="0"/>
              <a:t>	</a:t>
            </a:r>
            <a:r>
              <a:rPr lang="en-GB" sz="2400" b="1" dirty="0">
                <a:solidFill>
                  <a:schemeClr val="accent6">
                    <a:lumMod val="75000"/>
                  </a:schemeClr>
                </a:solidFill>
              </a:rPr>
              <a:t>Energy can </a:t>
            </a:r>
            <a:r>
              <a:rPr lang="en-GB" sz="2400" b="1" dirty="0" smtClean="0">
                <a:solidFill>
                  <a:schemeClr val="accent6">
                    <a:lumMod val="75000"/>
                  </a:schemeClr>
                </a:solidFill>
              </a:rPr>
              <a:t>not</a:t>
            </a:r>
            <a:r>
              <a:rPr lang="is-IS" sz="2400" dirty="0" smtClean="0"/>
              <a:t>…..</a:t>
            </a:r>
            <a:endParaRPr lang="en-GB" sz="2400" dirty="0"/>
          </a:p>
          <a:p>
            <a:pPr>
              <a:lnSpc>
                <a:spcPct val="150000"/>
              </a:lnSpc>
            </a:pPr>
            <a:r>
              <a:rPr lang="en-GB" sz="2400" dirty="0"/>
              <a:t>	</a:t>
            </a:r>
            <a:r>
              <a:rPr lang="en-GB" sz="2200" dirty="0"/>
              <a:t>be transferred from one source to another.</a:t>
            </a:r>
          </a:p>
          <a:p>
            <a:pPr>
              <a:lnSpc>
                <a:spcPct val="150000"/>
              </a:lnSpc>
            </a:pPr>
            <a:r>
              <a:rPr lang="en-GB" sz="2200" dirty="0"/>
              <a:t>	be created or destroyed.</a:t>
            </a:r>
          </a:p>
          <a:p>
            <a:pPr>
              <a:lnSpc>
                <a:spcPct val="150000"/>
              </a:lnSpc>
            </a:pPr>
            <a:r>
              <a:rPr lang="en-GB" sz="2200" dirty="0"/>
              <a:t>	travel along a pathway to another stor</a:t>
            </a:r>
            <a:r>
              <a:rPr lang="en-GB" sz="2400" dirty="0"/>
              <a:t>e. </a:t>
            </a:r>
          </a:p>
          <a:p>
            <a:pPr>
              <a:lnSpc>
                <a:spcPct val="150000"/>
              </a:lnSpc>
            </a:pPr>
            <a:endParaRPr lang="en-GB" sz="1400" dirty="0"/>
          </a:p>
          <a:p>
            <a:r>
              <a:rPr lang="en-GB" sz="2400" dirty="0"/>
              <a:t>3. A basketball player throws the ball into the hoop. Describe the      </a:t>
            </a:r>
          </a:p>
          <a:p>
            <a:r>
              <a:rPr lang="en-GB" sz="2400" dirty="0"/>
              <a:t>    change in energy store that has taken </a:t>
            </a:r>
            <a:r>
              <a:rPr lang="en-GB" sz="2400" dirty="0" smtClean="0"/>
              <a:t>place as the ball </a:t>
            </a:r>
            <a:endParaRPr lang="en-GB" sz="2400" dirty="0"/>
          </a:p>
          <a:p>
            <a:r>
              <a:rPr lang="en-GB" sz="2400" b="1" dirty="0">
                <a:solidFill>
                  <a:srgbClr val="00B050"/>
                </a:solidFill>
              </a:rPr>
              <a:t>		Kinetic 		     Gravitational	</a:t>
            </a:r>
          </a:p>
          <a:p>
            <a:pPr>
              <a:lnSpc>
                <a:spcPct val="150000"/>
              </a:lnSpc>
            </a:pPr>
            <a:r>
              <a:rPr lang="en-GB" dirty="0"/>
              <a:t>	</a:t>
            </a:r>
            <a:endParaRPr lang="en-GB" sz="1600" dirty="0"/>
          </a:p>
        </p:txBody>
      </p:sp>
      <p:pic>
        <p:nvPicPr>
          <p:cNvPr id="7" name="Picture 6">
            <a:extLst>
              <a:ext uri="{FF2B5EF4-FFF2-40B4-BE49-F238E27FC236}">
                <a16:creationId xmlns:a16="http://schemas.microsoft.com/office/drawing/2014/main" xmlns="" id="{940BBDF7-7CCA-4619-A708-1A8B80ADFC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20333" y="1619671"/>
            <a:ext cx="1115616" cy="557808"/>
          </a:xfrm>
          <a:prstGeom prst="rect">
            <a:avLst/>
          </a:prstGeom>
        </p:spPr>
      </p:pic>
      <p:pic>
        <p:nvPicPr>
          <p:cNvPr id="9" name="Picture 8">
            <a:extLst>
              <a:ext uri="{FF2B5EF4-FFF2-40B4-BE49-F238E27FC236}">
                <a16:creationId xmlns:a16="http://schemas.microsoft.com/office/drawing/2014/main" xmlns="" id="{77221E8C-BA29-404E-B204-08F32B7932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7163" y="1373181"/>
            <a:ext cx="930313" cy="769623"/>
          </a:xfrm>
          <a:prstGeom prst="rect">
            <a:avLst/>
          </a:prstGeom>
        </p:spPr>
      </p:pic>
      <p:pic>
        <p:nvPicPr>
          <p:cNvPr id="11" name="Picture 10">
            <a:extLst>
              <a:ext uri="{FF2B5EF4-FFF2-40B4-BE49-F238E27FC236}">
                <a16:creationId xmlns:a16="http://schemas.microsoft.com/office/drawing/2014/main" xmlns="" id="{810EDF79-D882-4346-BCFD-AF48BBC7754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96136" y="1382689"/>
            <a:ext cx="1085879" cy="760115"/>
          </a:xfrm>
          <a:prstGeom prst="rect">
            <a:avLst/>
          </a:prstGeom>
        </p:spPr>
      </p:pic>
      <p:cxnSp>
        <p:nvCxnSpPr>
          <p:cNvPr id="16" name="Straight Arrow Connector 15">
            <a:extLst>
              <a:ext uri="{FF2B5EF4-FFF2-40B4-BE49-F238E27FC236}">
                <a16:creationId xmlns:a16="http://schemas.microsoft.com/office/drawing/2014/main" xmlns="" id="{6CF87BCB-3D6B-4C88-94CA-F50ADC982918}"/>
              </a:ext>
            </a:extLst>
          </p:cNvPr>
          <p:cNvCxnSpPr/>
          <p:nvPr/>
        </p:nvCxnSpPr>
        <p:spPr>
          <a:xfrm>
            <a:off x="3377712" y="6237312"/>
            <a:ext cx="1258924" cy="0"/>
          </a:xfrm>
          <a:prstGeom prst="straightConnector1">
            <a:avLst/>
          </a:prstGeom>
          <a:ln w="508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xmlns="" id="{494DE0FC-7B89-43E0-B7FA-44174BB21D6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92529" y="3976361"/>
            <a:ext cx="488378" cy="439540"/>
          </a:xfrm>
          <a:prstGeom prst="rect">
            <a:avLst/>
          </a:prstGeom>
          <a:ln>
            <a:noFill/>
          </a:ln>
        </p:spPr>
      </p:pic>
    </p:spTree>
    <p:extLst>
      <p:ext uri="{BB962C8B-B14F-4D97-AF65-F5344CB8AC3E}">
        <p14:creationId xmlns:p14="http://schemas.microsoft.com/office/powerpoint/2010/main" val="3936392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0"/>
            <a:ext cx="8388424"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400" dirty="0">
                <a:solidFill>
                  <a:schemeClr val="tx1"/>
                </a:solidFill>
              </a:rPr>
              <a:t>4</a:t>
            </a:r>
            <a:r>
              <a:rPr lang="en-GB" sz="2000" dirty="0">
                <a:solidFill>
                  <a:schemeClr val="tx1"/>
                </a:solidFill>
              </a:rPr>
              <a:t>. </a:t>
            </a:r>
            <a:r>
              <a:rPr lang="en-GB" sz="1900" dirty="0">
                <a:solidFill>
                  <a:schemeClr val="tx1"/>
                </a:solidFill>
              </a:rPr>
              <a:t>Copy and Complete the </a:t>
            </a:r>
            <a:r>
              <a:rPr lang="en-GB" sz="1900" b="1" dirty="0">
                <a:solidFill>
                  <a:schemeClr val="accent6">
                    <a:lumMod val="75000"/>
                  </a:schemeClr>
                </a:solidFill>
              </a:rPr>
              <a:t>energy store </a:t>
            </a:r>
            <a:r>
              <a:rPr lang="en-GB" sz="1900" dirty="0">
                <a:solidFill>
                  <a:schemeClr val="tx1"/>
                </a:solidFill>
              </a:rPr>
              <a:t>and </a:t>
            </a:r>
            <a:r>
              <a:rPr lang="en-GB" sz="1900" b="1" dirty="0">
                <a:solidFill>
                  <a:schemeClr val="accent6">
                    <a:lumMod val="75000"/>
                  </a:schemeClr>
                </a:solidFill>
              </a:rPr>
              <a:t>pathway </a:t>
            </a:r>
            <a:r>
              <a:rPr lang="en-GB" sz="1900" dirty="0">
                <a:solidFill>
                  <a:schemeClr val="tx1"/>
                </a:solidFill>
              </a:rPr>
              <a:t>diagrams for the objects described.</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19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a. A </a:t>
            </a:r>
            <a:r>
              <a:rPr lang="en-GB" sz="2000" b="1" dirty="0">
                <a:solidFill>
                  <a:schemeClr val="accent6">
                    <a:lumMod val="75000"/>
                  </a:schemeClr>
                </a:solidFill>
              </a:rPr>
              <a:t>moving</a:t>
            </a:r>
            <a:r>
              <a:rPr lang="en-GB" sz="2000" dirty="0">
                <a:solidFill>
                  <a:schemeClr val="tx1"/>
                </a:solidFill>
              </a:rPr>
              <a:t> car </a:t>
            </a:r>
            <a:r>
              <a:rPr lang="en-GB" sz="2000" b="1" dirty="0">
                <a:solidFill>
                  <a:schemeClr val="accent6">
                    <a:lumMod val="75000"/>
                  </a:schemeClr>
                </a:solidFill>
              </a:rPr>
              <a:t>braking</a:t>
            </a:r>
            <a:r>
              <a:rPr lang="en-GB" sz="2000" dirty="0">
                <a:solidFill>
                  <a:schemeClr val="tx1"/>
                </a:solidFill>
              </a:rPr>
              <a:t> to a stop.</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lvl="0" indent="-342900">
              <a:defRPr/>
            </a:pPr>
            <a:r>
              <a:rPr lang="en-GB" sz="2000" dirty="0">
                <a:solidFill>
                  <a:schemeClr val="tx1"/>
                </a:solidFill>
              </a:rPr>
              <a:t>		        CAR	 	</a:t>
            </a:r>
            <a:r>
              <a:rPr lang="en-GB" sz="2000" dirty="0" err="1">
                <a:solidFill>
                  <a:schemeClr val="tx1"/>
                </a:solidFill>
              </a:rPr>
              <a:t>i</a:t>
            </a:r>
            <a:r>
              <a:rPr lang="en-GB" sz="2000" dirty="0">
                <a:solidFill>
                  <a:schemeClr val="tx1"/>
                </a:solidFill>
              </a:rPr>
              <a:t>       </a:t>
            </a:r>
            <a:r>
              <a:rPr lang="en-GB" sz="2000" b="1" dirty="0">
                <a:solidFill>
                  <a:srgbClr val="00B050"/>
                </a:solidFill>
              </a:rPr>
              <a:t>Kinetic </a:t>
            </a:r>
            <a:r>
              <a:rPr lang="en-GB" sz="2000" dirty="0">
                <a:solidFill>
                  <a:schemeClr val="tx1"/>
                </a:solidFill>
              </a:rPr>
              <a:t>	  ii  </a:t>
            </a:r>
            <a:r>
              <a:rPr lang="en-GB" sz="2000" b="1" dirty="0">
                <a:solidFill>
                  <a:srgbClr val="00B050"/>
                </a:solidFill>
              </a:rPr>
              <a:t>Mechanical</a:t>
            </a:r>
            <a:r>
              <a:rPr lang="en-GB" sz="2000" dirty="0">
                <a:solidFill>
                  <a:schemeClr val="tx1"/>
                </a:solidFill>
              </a:rPr>
              <a:t>	     iii   </a:t>
            </a:r>
            <a:r>
              <a:rPr lang="en-GB" sz="2000" b="1" dirty="0">
                <a:solidFill>
                  <a:srgbClr val="00B050"/>
                </a:solidFill>
              </a:rPr>
              <a:t>Thermal</a:t>
            </a:r>
            <a:r>
              <a:rPr lang="en-GB" sz="2000" dirty="0">
                <a:solidFill>
                  <a:schemeClr val="tx1"/>
                </a:solidFill>
              </a:rPr>
              <a:t>		</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b. Bringing water to the</a:t>
            </a:r>
            <a:r>
              <a:rPr lang="en-GB" sz="2000" b="1" dirty="0">
                <a:solidFill>
                  <a:schemeClr val="accent6">
                    <a:lumMod val="75000"/>
                  </a:schemeClr>
                </a:solidFill>
              </a:rPr>
              <a:t> boil </a:t>
            </a:r>
            <a:r>
              <a:rPr lang="en-GB" sz="2000" dirty="0">
                <a:solidFill>
                  <a:schemeClr val="tx1"/>
                </a:solidFill>
              </a:rPr>
              <a:t>on a gas hob.</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a:t>
            </a:r>
            <a:r>
              <a:rPr lang="en-GB" sz="2000" dirty="0" err="1">
                <a:solidFill>
                  <a:schemeClr val="tx1"/>
                </a:solidFill>
              </a:rPr>
              <a:t>i</a:t>
            </a:r>
            <a:r>
              <a:rPr lang="en-GB" sz="2000" dirty="0">
                <a:solidFill>
                  <a:schemeClr val="tx1"/>
                </a:solidFill>
              </a:rPr>
              <a:t>      </a:t>
            </a:r>
            <a:r>
              <a:rPr lang="en-GB" sz="2000" b="1" dirty="0">
                <a:solidFill>
                  <a:srgbClr val="00B050"/>
                </a:solidFill>
              </a:rPr>
              <a:t>Chemical</a:t>
            </a:r>
            <a:r>
              <a:rPr lang="en-GB" sz="2000" dirty="0">
                <a:solidFill>
                  <a:schemeClr val="tx1"/>
                </a:solidFill>
              </a:rPr>
              <a:t>	         GAS HOB	   ii    </a:t>
            </a:r>
            <a:r>
              <a:rPr lang="en-GB" sz="2000" b="1" dirty="0">
                <a:solidFill>
                  <a:srgbClr val="00B050"/>
                </a:solidFill>
              </a:rPr>
              <a:t>Heating</a:t>
            </a:r>
            <a:r>
              <a:rPr lang="en-GB" sz="2000" dirty="0">
                <a:solidFill>
                  <a:schemeClr val="tx1"/>
                </a:solidFill>
              </a:rPr>
              <a:t>	     iii   </a:t>
            </a:r>
            <a:r>
              <a:rPr lang="en-GB" sz="2000" b="1" dirty="0">
                <a:solidFill>
                  <a:srgbClr val="00B050"/>
                </a:solidFill>
              </a:rPr>
              <a:t>Thermal</a:t>
            </a:r>
          </a:p>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a:p>
            <a:pPr marL="342900" marR="0" lvl="0" indent="-342900" defTabSz="914400" eaLnBrk="1" fontAlgn="auto" latinLnBrk="0" hangingPunct="1">
              <a:lnSpc>
                <a:spcPct val="100000"/>
              </a:lnSpc>
              <a:spcBef>
                <a:spcPts val="0"/>
              </a:spcBef>
              <a:spcAft>
                <a:spcPts val="0"/>
              </a:spcAft>
              <a:buClrTx/>
              <a:buSzTx/>
              <a:buFont typeface="+mj-lt"/>
              <a:buNone/>
              <a:tabLst/>
              <a:defRPr/>
            </a:pPr>
            <a:r>
              <a:rPr lang="en-GB" sz="2000" dirty="0">
                <a:solidFill>
                  <a:schemeClr val="tx1"/>
                </a:solidFill>
              </a:rPr>
              <a:t> 	</a:t>
            </a:r>
          </a:p>
        </p:txBody>
      </p:sp>
      <p:sp>
        <p:nvSpPr>
          <p:cNvPr id="3" name="Oval 2">
            <a:extLst>
              <a:ext uri="{FF2B5EF4-FFF2-40B4-BE49-F238E27FC236}">
                <a16:creationId xmlns:a16="http://schemas.microsoft.com/office/drawing/2014/main" xmlns="" id="{D4DAA39A-1A90-41CE-8F27-A3BB186BD295}"/>
              </a:ext>
            </a:extLst>
          </p:cNvPr>
          <p:cNvSpPr/>
          <p:nvPr/>
        </p:nvSpPr>
        <p:spPr>
          <a:xfrm>
            <a:off x="1171131" y="2176724"/>
            <a:ext cx="1296144" cy="1224136"/>
          </a:xfrm>
          <a:prstGeom prst="ellipse">
            <a:avLst/>
          </a:prstGeom>
          <a:noFill/>
          <a:ln w="317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xmlns="" id="{26BB4075-4953-4960-B7C9-BAD244705710}"/>
              </a:ext>
            </a:extLst>
          </p:cNvPr>
          <p:cNvSpPr/>
          <p:nvPr/>
        </p:nvSpPr>
        <p:spPr>
          <a:xfrm>
            <a:off x="2878641" y="2517663"/>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xmlns="" id="{FD8E8681-1C3D-4610-86C2-DD10F604D4A3}"/>
              </a:ext>
            </a:extLst>
          </p:cNvPr>
          <p:cNvCxnSpPr>
            <a:cxnSpLocks/>
          </p:cNvCxnSpPr>
          <p:nvPr/>
        </p:nvCxnSpPr>
        <p:spPr>
          <a:xfrm flipV="1">
            <a:off x="5020350" y="2994881"/>
            <a:ext cx="1512168" cy="464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xmlns="" id="{206CF331-58C1-4C58-862F-E6FC08C18ABF}"/>
              </a:ext>
            </a:extLst>
          </p:cNvPr>
          <p:cNvSpPr/>
          <p:nvPr/>
        </p:nvSpPr>
        <p:spPr>
          <a:xfrm>
            <a:off x="6852921" y="2507709"/>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xmlns="" id="{6026770D-7D80-417B-9AE4-ED980F56543A}"/>
              </a:ext>
            </a:extLst>
          </p:cNvPr>
          <p:cNvSpPr/>
          <p:nvPr/>
        </p:nvSpPr>
        <p:spPr>
          <a:xfrm>
            <a:off x="3310643" y="4677564"/>
            <a:ext cx="1296144" cy="1224136"/>
          </a:xfrm>
          <a:prstGeom prst="ellipse">
            <a:avLst/>
          </a:prstGeom>
          <a:noFill/>
          <a:ln w="3175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xmlns="" id="{F9DAB7ED-8921-4EE9-B478-6561108E0637}"/>
              </a:ext>
            </a:extLst>
          </p:cNvPr>
          <p:cNvSpPr/>
          <p:nvPr/>
        </p:nvSpPr>
        <p:spPr>
          <a:xfrm>
            <a:off x="1099077" y="5029859"/>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xmlns="" id="{39DF1179-21CF-45C9-9013-ECAE457A4229}"/>
              </a:ext>
            </a:extLst>
          </p:cNvPr>
          <p:cNvCxnSpPr>
            <a:cxnSpLocks/>
          </p:cNvCxnSpPr>
          <p:nvPr/>
        </p:nvCxnSpPr>
        <p:spPr>
          <a:xfrm flipV="1">
            <a:off x="5148064" y="5445224"/>
            <a:ext cx="1512168" cy="4645"/>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xmlns="" id="{F71D1EEB-E450-477B-817D-182B894FE4B8}"/>
              </a:ext>
            </a:extLst>
          </p:cNvPr>
          <p:cNvSpPr/>
          <p:nvPr/>
        </p:nvSpPr>
        <p:spPr>
          <a:xfrm>
            <a:off x="6852921" y="5039307"/>
            <a:ext cx="1800200" cy="504056"/>
          </a:xfrm>
          <a:prstGeom prst="rect">
            <a:avLst/>
          </a:prstGeom>
          <a:noFill/>
          <a:ln w="2540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46266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94579"/>
            <a:ext cx="8388424"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71015"/>
            <a:ext cx="8915400" cy="5509200"/>
          </a:xfrm>
          <a:prstGeom prst="rect">
            <a:avLst/>
          </a:prstGeom>
          <a:noFill/>
        </p:spPr>
        <p:txBody>
          <a:bodyPr wrap="square" rtlCol="0">
            <a:spAutoFit/>
          </a:bodyPr>
          <a:lstStyle/>
          <a:p>
            <a:r>
              <a:rPr lang="en-GB" sz="2400" dirty="0"/>
              <a:t> 5. Describes the main change in </a:t>
            </a:r>
            <a:r>
              <a:rPr lang="en-GB" sz="2400" b="1" dirty="0">
                <a:solidFill>
                  <a:schemeClr val="accent6">
                    <a:lumMod val="75000"/>
                  </a:schemeClr>
                </a:solidFill>
              </a:rPr>
              <a:t>energy stores </a:t>
            </a:r>
            <a:r>
              <a:rPr lang="en-GB" sz="2400" dirty="0"/>
              <a:t>for a </a:t>
            </a:r>
            <a:r>
              <a:rPr lang="en-GB" sz="2400" b="1" dirty="0">
                <a:solidFill>
                  <a:schemeClr val="accent6">
                    <a:lumMod val="75000"/>
                  </a:schemeClr>
                </a:solidFill>
              </a:rPr>
              <a:t>coal fired power station</a:t>
            </a:r>
            <a:r>
              <a:rPr lang="en-GB" sz="2400" dirty="0" smtClean="0"/>
              <a:t>.</a:t>
            </a:r>
            <a:endParaRPr lang="en-GB" sz="2400" dirty="0"/>
          </a:p>
          <a:p>
            <a:endParaRPr lang="en-GB" sz="2400" dirty="0"/>
          </a:p>
          <a:p>
            <a:endParaRPr lang="en-GB" sz="2400" dirty="0"/>
          </a:p>
          <a:p>
            <a:r>
              <a:rPr lang="en-GB" sz="2400" dirty="0"/>
              <a:t>     a. Name the energy sources for:</a:t>
            </a:r>
          </a:p>
          <a:p>
            <a:r>
              <a:rPr lang="en-GB" sz="2400" dirty="0"/>
              <a:t>	</a:t>
            </a:r>
            <a:r>
              <a:rPr lang="en-GB" sz="2400" dirty="0" err="1"/>
              <a:t>i</a:t>
            </a:r>
            <a:r>
              <a:rPr lang="en-GB" sz="2400" dirty="0"/>
              <a:t>   Input energy	          </a:t>
            </a:r>
            <a:r>
              <a:rPr lang="en-GB" sz="2400" b="1" dirty="0">
                <a:solidFill>
                  <a:srgbClr val="00B050"/>
                </a:solidFill>
              </a:rPr>
              <a:t>Chemical (Coal)	</a:t>
            </a:r>
          </a:p>
          <a:p>
            <a:r>
              <a:rPr lang="en-GB" sz="2400" dirty="0"/>
              <a:t>	ii  Useful output energy        </a:t>
            </a:r>
            <a:r>
              <a:rPr lang="en-GB" sz="2400" b="1" dirty="0">
                <a:solidFill>
                  <a:srgbClr val="00B050"/>
                </a:solidFill>
              </a:rPr>
              <a:t>Electrostatic (Electric current)</a:t>
            </a:r>
          </a:p>
          <a:p>
            <a:r>
              <a:rPr lang="en-GB" sz="2400" dirty="0"/>
              <a:t>	iii Wasted output energy.     </a:t>
            </a:r>
            <a:r>
              <a:rPr lang="en-GB" sz="2400" b="1" dirty="0">
                <a:solidFill>
                  <a:srgbClr val="00B050"/>
                </a:solidFill>
              </a:rPr>
              <a:t>Thermal (Waste heat)</a:t>
            </a:r>
          </a:p>
          <a:p>
            <a:endParaRPr lang="en-GB" sz="2400" dirty="0"/>
          </a:p>
          <a:p>
            <a:r>
              <a:rPr lang="en-GB" sz="2400" dirty="0"/>
              <a:t>     b. In one hour, coal supplies 500 000 J of energy. The wasted energy</a:t>
            </a:r>
          </a:p>
          <a:p>
            <a:r>
              <a:rPr lang="en-GB" sz="2400" dirty="0"/>
              <a:t>         amounts to 380 000 J. </a:t>
            </a:r>
            <a:endParaRPr lang="en-GB" sz="2400" dirty="0" smtClean="0"/>
          </a:p>
          <a:p>
            <a:r>
              <a:rPr lang="en-GB" sz="2400" dirty="0"/>
              <a:t> </a:t>
            </a:r>
            <a:r>
              <a:rPr lang="en-GB" sz="2400" dirty="0" smtClean="0"/>
              <a:t>       Calculate </a:t>
            </a:r>
            <a:r>
              <a:rPr lang="en-GB" sz="2400" dirty="0"/>
              <a:t>how much useful energy is   </a:t>
            </a:r>
          </a:p>
          <a:p>
            <a:r>
              <a:rPr lang="en-GB" sz="2400" dirty="0"/>
              <a:t>         produced in one hour.</a:t>
            </a:r>
          </a:p>
          <a:p>
            <a:r>
              <a:rPr lang="en-GB" sz="2400" dirty="0"/>
              <a:t>             </a:t>
            </a:r>
            <a:r>
              <a:rPr lang="en-GB" sz="2400" b="1" dirty="0">
                <a:solidFill>
                  <a:srgbClr val="00B050"/>
                </a:solidFill>
              </a:rPr>
              <a:t>500 000 – 380 000  =  120 000 J</a:t>
            </a:r>
          </a:p>
          <a:p>
            <a:endParaRPr lang="en-GB" sz="1600" dirty="0"/>
          </a:p>
        </p:txBody>
      </p:sp>
      <p:sp>
        <p:nvSpPr>
          <p:cNvPr id="3" name="TextBox 2"/>
          <p:cNvSpPr txBox="1"/>
          <p:nvPr/>
        </p:nvSpPr>
        <p:spPr>
          <a:xfrm>
            <a:off x="1639957" y="1878496"/>
            <a:ext cx="184731" cy="369332"/>
          </a:xfrm>
          <a:prstGeom prst="rect">
            <a:avLst/>
          </a:prstGeom>
          <a:noFill/>
        </p:spPr>
        <p:txBody>
          <a:bodyPr wrap="none" rtlCol="0">
            <a:spAutoFit/>
          </a:bodyPr>
          <a:lstStyle/>
          <a:p>
            <a:endParaRPr lang="en-GB" dirty="0"/>
          </a:p>
        </p:txBody>
      </p:sp>
    </p:spTree>
    <p:extLst>
      <p:ext uri="{BB962C8B-B14F-4D97-AF65-F5344CB8AC3E}">
        <p14:creationId xmlns:p14="http://schemas.microsoft.com/office/powerpoint/2010/main" val="827369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94579"/>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8983" y="692696"/>
            <a:ext cx="8915400" cy="5878532"/>
          </a:xfrm>
          <a:prstGeom prst="rect">
            <a:avLst/>
          </a:prstGeom>
          <a:noFill/>
        </p:spPr>
        <p:txBody>
          <a:bodyPr wrap="square" rtlCol="0">
            <a:spAutoFit/>
          </a:bodyPr>
          <a:lstStyle/>
          <a:p>
            <a:r>
              <a:rPr lang="en-GB" sz="2400" dirty="0"/>
              <a:t>6. </a:t>
            </a:r>
            <a:r>
              <a:rPr lang="en-US" sz="2400" dirty="0"/>
              <a:t>When a football is kicked it gains </a:t>
            </a:r>
            <a:r>
              <a:rPr lang="en-US" sz="2400" b="1" dirty="0">
                <a:solidFill>
                  <a:schemeClr val="accent6">
                    <a:lumMod val="75000"/>
                  </a:schemeClr>
                </a:solidFill>
              </a:rPr>
              <a:t>kinetic energy</a:t>
            </a:r>
            <a:r>
              <a:rPr lang="en-US" sz="2400" dirty="0"/>
              <a:t>. </a:t>
            </a:r>
            <a:endParaRPr lang="en-GB" sz="2400" dirty="0"/>
          </a:p>
          <a:p>
            <a:r>
              <a:rPr lang="en-US" sz="2400" dirty="0"/>
              <a:t>     a. What is the</a:t>
            </a:r>
            <a:r>
              <a:rPr lang="en-US" sz="2400" b="1" dirty="0">
                <a:solidFill>
                  <a:schemeClr val="accent6">
                    <a:lumMod val="75000"/>
                  </a:schemeClr>
                </a:solidFill>
              </a:rPr>
              <a:t> formula </a:t>
            </a:r>
            <a:r>
              <a:rPr lang="en-US" sz="2400" dirty="0"/>
              <a:t>used to calculate kinetic energy?</a:t>
            </a:r>
          </a:p>
          <a:p>
            <a:r>
              <a:rPr lang="en-US" sz="2400" b="1" dirty="0">
                <a:solidFill>
                  <a:srgbClr val="00B050"/>
                </a:solidFill>
              </a:rPr>
              <a:t>                                                   </a:t>
            </a:r>
            <a:r>
              <a:rPr lang="en-US" sz="2400" b="1" dirty="0" err="1">
                <a:solidFill>
                  <a:srgbClr val="00B050"/>
                </a:solidFill>
              </a:rPr>
              <a:t>E</a:t>
            </a:r>
            <a:r>
              <a:rPr lang="en-US" sz="2400" b="1" baseline="-25000" dirty="0" err="1">
                <a:solidFill>
                  <a:srgbClr val="00B050"/>
                </a:solidFill>
              </a:rPr>
              <a:t>k</a:t>
            </a:r>
            <a:r>
              <a:rPr lang="en-US" sz="2400" b="1" dirty="0">
                <a:solidFill>
                  <a:srgbClr val="00B050"/>
                </a:solidFill>
              </a:rPr>
              <a:t> = ½ </a:t>
            </a:r>
            <a:r>
              <a:rPr lang="en-US" sz="2400" b="1" i="1" dirty="0">
                <a:solidFill>
                  <a:srgbClr val="00B050"/>
                </a:solidFill>
              </a:rPr>
              <a:t>m v</a:t>
            </a:r>
            <a:r>
              <a:rPr lang="en-US" sz="2400" b="1" baseline="30000" dirty="0">
                <a:solidFill>
                  <a:srgbClr val="00B050"/>
                </a:solidFill>
              </a:rPr>
              <a:t>2</a:t>
            </a:r>
            <a:endParaRPr lang="en-GB" sz="2400" b="1" baseline="30000" dirty="0">
              <a:solidFill>
                <a:srgbClr val="00B050"/>
              </a:solidFill>
            </a:endParaRPr>
          </a:p>
          <a:p>
            <a:r>
              <a:rPr lang="en-US" sz="2400" dirty="0"/>
              <a:t>     b. The football has a mass of 0.4 kg and when kicked has a velocity </a:t>
            </a:r>
          </a:p>
          <a:p>
            <a:r>
              <a:rPr lang="en-US" sz="2400" dirty="0"/>
              <a:t>          of 15 m/s. Work out the </a:t>
            </a:r>
            <a:r>
              <a:rPr lang="en-US" sz="2400" b="1" dirty="0">
                <a:solidFill>
                  <a:schemeClr val="accent6">
                    <a:lumMod val="75000"/>
                  </a:schemeClr>
                </a:solidFill>
              </a:rPr>
              <a:t>kinetic energy </a:t>
            </a:r>
            <a:r>
              <a:rPr lang="en-US" sz="2400" dirty="0"/>
              <a:t>of the moving ball?</a:t>
            </a:r>
            <a:endParaRPr lang="en-GB" sz="2400" dirty="0"/>
          </a:p>
          <a:p>
            <a:pPr algn="ctr"/>
            <a:r>
              <a:rPr lang="en-US" sz="2400" dirty="0"/>
              <a:t>          </a:t>
            </a:r>
            <a:r>
              <a:rPr lang="en-US" sz="2400" b="1" dirty="0" err="1">
                <a:solidFill>
                  <a:srgbClr val="00B050"/>
                </a:solidFill>
              </a:rPr>
              <a:t>E</a:t>
            </a:r>
            <a:r>
              <a:rPr lang="en-US" sz="2400" b="1" baseline="-25000" dirty="0" err="1">
                <a:solidFill>
                  <a:srgbClr val="00B050"/>
                </a:solidFill>
              </a:rPr>
              <a:t>k</a:t>
            </a:r>
            <a:r>
              <a:rPr lang="en-US" sz="2400" b="1" dirty="0">
                <a:solidFill>
                  <a:srgbClr val="00B050"/>
                </a:solidFill>
              </a:rPr>
              <a:t> = ½ x 0.4 x 15</a:t>
            </a:r>
            <a:r>
              <a:rPr lang="en-US" sz="2400" b="1" baseline="30000" dirty="0">
                <a:solidFill>
                  <a:srgbClr val="00B050"/>
                </a:solidFill>
              </a:rPr>
              <a:t>2</a:t>
            </a:r>
          </a:p>
          <a:p>
            <a:r>
              <a:rPr lang="en-US" sz="2400" dirty="0"/>
              <a:t>                                                      </a:t>
            </a:r>
            <a:r>
              <a:rPr lang="en-US" sz="2400" b="1" dirty="0" err="1">
                <a:solidFill>
                  <a:srgbClr val="00B050"/>
                </a:solidFill>
              </a:rPr>
              <a:t>E</a:t>
            </a:r>
            <a:r>
              <a:rPr lang="en-US" sz="2400" b="1" baseline="-25000" dirty="0" err="1">
                <a:solidFill>
                  <a:srgbClr val="00B050"/>
                </a:solidFill>
              </a:rPr>
              <a:t>k</a:t>
            </a:r>
            <a:r>
              <a:rPr lang="en-US" sz="2400" b="1" dirty="0">
                <a:solidFill>
                  <a:srgbClr val="00B050"/>
                </a:solidFill>
              </a:rPr>
              <a:t> = 45 J</a:t>
            </a:r>
            <a:endParaRPr lang="en-GB" sz="2400" b="1" dirty="0">
              <a:solidFill>
                <a:srgbClr val="00B050"/>
              </a:solidFill>
            </a:endParaRPr>
          </a:p>
          <a:p>
            <a:r>
              <a:rPr lang="en-GB" sz="2400" dirty="0"/>
              <a:t>7. </a:t>
            </a:r>
            <a:r>
              <a:rPr lang="en-US" sz="2400" dirty="0"/>
              <a:t>The un-stretched spring opposite has a length</a:t>
            </a:r>
          </a:p>
          <a:p>
            <a:r>
              <a:rPr lang="en-US" sz="2400" dirty="0"/>
              <a:t>     of 0.5m but after a mass is added it is 0.6 m long.</a:t>
            </a:r>
          </a:p>
          <a:p>
            <a:r>
              <a:rPr lang="en-US" sz="2400" dirty="0"/>
              <a:t>     If the spring constant is 800 </a:t>
            </a:r>
            <a:r>
              <a:rPr lang="en-US" sz="2400" dirty="0" smtClean="0"/>
              <a:t>N/m.     </a:t>
            </a:r>
          </a:p>
          <a:p>
            <a:r>
              <a:rPr lang="en-US" sz="2400" dirty="0" smtClean="0"/>
              <a:t>     Calculate the stored </a:t>
            </a:r>
            <a:r>
              <a:rPr lang="en-US" sz="2400" b="1" dirty="0">
                <a:solidFill>
                  <a:schemeClr val="accent6">
                    <a:lumMod val="75000"/>
                  </a:schemeClr>
                </a:solidFill>
              </a:rPr>
              <a:t>elastic potential energy</a:t>
            </a:r>
            <a:r>
              <a:rPr lang="en-US" sz="2400" dirty="0"/>
              <a:t>. </a:t>
            </a:r>
            <a:endParaRPr lang="en-US" sz="2400" dirty="0" smtClean="0"/>
          </a:p>
          <a:p>
            <a:r>
              <a:rPr lang="en-US" sz="2400" dirty="0" smtClean="0"/>
              <a:t>         </a:t>
            </a:r>
            <a:r>
              <a:rPr lang="en-US" sz="2400" b="1" dirty="0">
                <a:solidFill>
                  <a:schemeClr val="accent6">
                    <a:lumMod val="75000"/>
                  </a:schemeClr>
                </a:solidFill>
              </a:rPr>
              <a:t>E</a:t>
            </a:r>
            <a:r>
              <a:rPr lang="en-US" sz="2400" b="1" i="1" baseline="-25000" dirty="0">
                <a:solidFill>
                  <a:schemeClr val="accent6">
                    <a:lumMod val="75000"/>
                  </a:schemeClr>
                </a:solidFill>
              </a:rPr>
              <a:t>e</a:t>
            </a:r>
            <a:r>
              <a:rPr lang="en-US" sz="2400" b="1" dirty="0">
                <a:solidFill>
                  <a:schemeClr val="accent6">
                    <a:lumMod val="75000"/>
                  </a:schemeClr>
                </a:solidFill>
              </a:rPr>
              <a:t> = ½ </a:t>
            </a:r>
            <a:r>
              <a:rPr lang="en-US" sz="2400" b="1" i="1" dirty="0">
                <a:solidFill>
                  <a:schemeClr val="accent6">
                    <a:lumMod val="75000"/>
                  </a:schemeClr>
                </a:solidFill>
              </a:rPr>
              <a:t>k e</a:t>
            </a:r>
            <a:r>
              <a:rPr lang="en-US" sz="2400" b="1" baseline="30000" dirty="0">
                <a:solidFill>
                  <a:schemeClr val="accent6">
                    <a:lumMod val="75000"/>
                  </a:schemeClr>
                </a:solidFill>
              </a:rPr>
              <a:t>2</a:t>
            </a:r>
          </a:p>
          <a:p>
            <a:endParaRPr lang="en-US" sz="2400" b="1" baseline="30000" dirty="0">
              <a:solidFill>
                <a:schemeClr val="accent6">
                  <a:lumMod val="75000"/>
                </a:schemeClr>
              </a:solidFill>
            </a:endParaRPr>
          </a:p>
          <a:p>
            <a:r>
              <a:rPr lang="en-US" sz="2400" b="1" dirty="0">
                <a:solidFill>
                  <a:schemeClr val="accent6">
                    <a:lumMod val="75000"/>
                  </a:schemeClr>
                </a:solidFill>
              </a:rPr>
              <a:t>        	</a:t>
            </a:r>
            <a:r>
              <a:rPr lang="en-US" sz="2400" b="1" dirty="0">
                <a:solidFill>
                  <a:srgbClr val="00B050"/>
                </a:solidFill>
              </a:rPr>
              <a:t>extension of spring = 0.6 – 0.5 = 0.1 m</a:t>
            </a:r>
          </a:p>
          <a:p>
            <a:r>
              <a:rPr lang="en-US" sz="2400" b="1" dirty="0">
                <a:solidFill>
                  <a:srgbClr val="00B050"/>
                </a:solidFill>
              </a:rPr>
              <a:t>	E</a:t>
            </a:r>
            <a:r>
              <a:rPr lang="en-US" sz="2400" b="1" i="1" baseline="-25000" dirty="0">
                <a:solidFill>
                  <a:srgbClr val="00B050"/>
                </a:solidFill>
              </a:rPr>
              <a:t>e</a:t>
            </a:r>
            <a:r>
              <a:rPr lang="en-US" sz="2400" b="1" dirty="0">
                <a:solidFill>
                  <a:srgbClr val="00B050"/>
                </a:solidFill>
              </a:rPr>
              <a:t> = ½ x 800 x 0.1</a:t>
            </a:r>
            <a:r>
              <a:rPr lang="en-US" sz="2400" b="1" baseline="30000" dirty="0">
                <a:solidFill>
                  <a:srgbClr val="00B050"/>
                </a:solidFill>
              </a:rPr>
              <a:t>2</a:t>
            </a:r>
            <a:r>
              <a:rPr lang="en-US" sz="2400" b="1" dirty="0">
                <a:solidFill>
                  <a:srgbClr val="00B050"/>
                </a:solidFill>
              </a:rPr>
              <a:t>       </a:t>
            </a:r>
          </a:p>
          <a:p>
            <a:r>
              <a:rPr lang="en-US" sz="2400" b="1" dirty="0">
                <a:solidFill>
                  <a:srgbClr val="00B050"/>
                </a:solidFill>
              </a:rPr>
              <a:t> 	Stored elastic potential energy of the spring = 4 J</a:t>
            </a:r>
            <a:endParaRPr lang="en-GB" sz="2400" b="1" dirty="0">
              <a:solidFill>
                <a:srgbClr val="00B050"/>
              </a:solidFill>
            </a:endParaRPr>
          </a:p>
        </p:txBody>
      </p:sp>
      <p:sp>
        <p:nvSpPr>
          <p:cNvPr id="3" name="TextBox 2"/>
          <p:cNvSpPr txBox="1"/>
          <p:nvPr/>
        </p:nvSpPr>
        <p:spPr>
          <a:xfrm>
            <a:off x="1639957" y="1878496"/>
            <a:ext cx="184731" cy="369332"/>
          </a:xfrm>
          <a:prstGeom prst="rect">
            <a:avLst/>
          </a:prstGeom>
          <a:noFill/>
        </p:spPr>
        <p:txBody>
          <a:bodyPr wrap="none" rtlCol="0">
            <a:spAutoFit/>
          </a:bodyPr>
          <a:lstStyle/>
          <a:p>
            <a:endParaRPr lang="en-GB" dirty="0"/>
          </a:p>
        </p:txBody>
      </p:sp>
      <p:pic>
        <p:nvPicPr>
          <p:cNvPr id="8" name="Picture 7" descr="Image result for stretched and unstretched spring diagram">
            <a:extLst>
              <a:ext uri="{FF2B5EF4-FFF2-40B4-BE49-F238E27FC236}">
                <a16:creationId xmlns:a16="http://schemas.microsoft.com/office/drawing/2014/main" xmlns="" id="{EF93CD1E-EED4-4810-957D-90A0F78E3DE8}"/>
              </a:ext>
            </a:extLst>
          </p:cNvPr>
          <p:cNvPicPr/>
          <p:nvPr/>
        </p:nvPicPr>
        <p:blipFill>
          <a:blip r:embed="rId2" cstate="print"/>
          <a:srcRect/>
          <a:stretch>
            <a:fillRect/>
          </a:stretch>
        </p:blipFill>
        <p:spPr bwMode="auto">
          <a:xfrm>
            <a:off x="6732240" y="3747858"/>
            <a:ext cx="2194560" cy="1371600"/>
          </a:xfrm>
          <a:prstGeom prst="rect">
            <a:avLst/>
          </a:prstGeom>
          <a:noFill/>
          <a:ln w="9525">
            <a:noFill/>
            <a:miter lim="800000"/>
            <a:headEnd/>
            <a:tailEnd/>
          </a:ln>
        </p:spPr>
      </p:pic>
    </p:spTree>
    <p:extLst>
      <p:ext uri="{BB962C8B-B14F-4D97-AF65-F5344CB8AC3E}">
        <p14:creationId xmlns:p14="http://schemas.microsoft.com/office/powerpoint/2010/main" val="345182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94579"/>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1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8983" y="692696"/>
            <a:ext cx="8915400" cy="6001643"/>
          </a:xfrm>
          <a:prstGeom prst="rect">
            <a:avLst/>
          </a:prstGeom>
          <a:noFill/>
        </p:spPr>
        <p:txBody>
          <a:bodyPr wrap="square" rtlCol="0">
            <a:spAutoFit/>
          </a:bodyPr>
          <a:lstStyle/>
          <a:p>
            <a:r>
              <a:rPr lang="en-GB" sz="2400" dirty="0"/>
              <a:t>8. The pole vaulter just clears the bar which is 5.1 m high. His mass is</a:t>
            </a:r>
          </a:p>
          <a:p>
            <a:r>
              <a:rPr lang="en-GB" sz="2400" dirty="0"/>
              <a:t>     62 kg.                       </a:t>
            </a:r>
            <a:r>
              <a:rPr lang="en-GB" sz="2400" b="1" dirty="0">
                <a:solidFill>
                  <a:schemeClr val="accent6">
                    <a:lumMod val="75000"/>
                  </a:schemeClr>
                </a:solidFill>
              </a:rPr>
              <a:t>(g = 10N/kg)</a:t>
            </a:r>
          </a:p>
          <a:p>
            <a:endParaRPr lang="en-GB" sz="2400" dirty="0"/>
          </a:p>
          <a:p>
            <a:r>
              <a:rPr lang="en-GB" sz="2400" dirty="0"/>
              <a:t>     a. What type of stored energy does he have</a:t>
            </a:r>
          </a:p>
          <a:p>
            <a:r>
              <a:rPr lang="en-GB" sz="2400" dirty="0"/>
              <a:t>          as he clears the bar?</a:t>
            </a:r>
          </a:p>
          <a:p>
            <a:r>
              <a:rPr lang="en-GB" sz="2400" dirty="0"/>
              <a:t>	</a:t>
            </a:r>
            <a:r>
              <a:rPr lang="en-GB" sz="2400" b="1" dirty="0">
                <a:solidFill>
                  <a:srgbClr val="00B050"/>
                </a:solidFill>
              </a:rPr>
              <a:t>gravitational potential energy</a:t>
            </a:r>
          </a:p>
          <a:p>
            <a:r>
              <a:rPr lang="en-GB" sz="2400" dirty="0"/>
              <a:t>    b. Work out how much stored energy the</a:t>
            </a:r>
          </a:p>
          <a:p>
            <a:r>
              <a:rPr lang="en-GB" sz="2400" dirty="0"/>
              <a:t>          pole vaulter has due to his position </a:t>
            </a:r>
          </a:p>
          <a:p>
            <a:r>
              <a:rPr lang="en-GB" sz="2400" dirty="0"/>
              <a:t>          above the ground.</a:t>
            </a:r>
          </a:p>
          <a:p>
            <a:r>
              <a:rPr lang="en-GB" sz="2400" dirty="0"/>
              <a:t>	</a:t>
            </a:r>
            <a:r>
              <a:rPr lang="en-GB" sz="2400" b="1" dirty="0">
                <a:solidFill>
                  <a:srgbClr val="00B050"/>
                </a:solidFill>
              </a:rPr>
              <a:t>GPE = m g h    = 62 x 10 x 5.1  = 3162 J</a:t>
            </a:r>
          </a:p>
          <a:p>
            <a:r>
              <a:rPr lang="en-GB" sz="2400" dirty="0"/>
              <a:t>     c. As he falls back to the ground, this energy store will be</a:t>
            </a:r>
          </a:p>
          <a:p>
            <a:r>
              <a:rPr lang="en-GB" sz="2400" dirty="0"/>
              <a:t>         transferred into a new energy store. Name this new energy store.</a:t>
            </a:r>
          </a:p>
          <a:p>
            <a:r>
              <a:rPr lang="en-GB" sz="2400" dirty="0"/>
              <a:t>	</a:t>
            </a:r>
            <a:r>
              <a:rPr lang="en-GB" sz="2400" b="1" dirty="0">
                <a:solidFill>
                  <a:srgbClr val="00B050"/>
                </a:solidFill>
              </a:rPr>
              <a:t>kinetic energy</a:t>
            </a:r>
          </a:p>
          <a:p>
            <a:r>
              <a:rPr lang="en-GB" sz="2400" dirty="0"/>
              <a:t>     d. When he lands, what happens to the energy stores described</a:t>
            </a:r>
          </a:p>
          <a:p>
            <a:r>
              <a:rPr lang="en-GB" sz="2400" dirty="0"/>
              <a:t>          above?</a:t>
            </a:r>
          </a:p>
          <a:p>
            <a:r>
              <a:rPr lang="en-GB" sz="2400" dirty="0"/>
              <a:t>	</a:t>
            </a:r>
            <a:r>
              <a:rPr lang="en-GB" sz="2400" b="1" dirty="0">
                <a:solidFill>
                  <a:srgbClr val="00B050"/>
                </a:solidFill>
              </a:rPr>
              <a:t>dissipated as heat and sound</a:t>
            </a:r>
          </a:p>
        </p:txBody>
      </p:sp>
      <p:sp>
        <p:nvSpPr>
          <p:cNvPr id="3" name="TextBox 2"/>
          <p:cNvSpPr txBox="1"/>
          <p:nvPr/>
        </p:nvSpPr>
        <p:spPr>
          <a:xfrm>
            <a:off x="1639957" y="1878496"/>
            <a:ext cx="184731" cy="369332"/>
          </a:xfrm>
          <a:prstGeom prst="rect">
            <a:avLst/>
          </a:prstGeom>
          <a:noFill/>
        </p:spPr>
        <p:txBody>
          <a:bodyPr wrap="none" rtlCol="0">
            <a:spAutoFit/>
          </a:bodyPr>
          <a:lstStyle/>
          <a:p>
            <a:endParaRPr lang="en-GB" dirty="0"/>
          </a:p>
        </p:txBody>
      </p:sp>
      <p:pic>
        <p:nvPicPr>
          <p:cNvPr id="9" name="Picture 8" descr="Image result for pole vaulter">
            <a:extLst>
              <a:ext uri="{FF2B5EF4-FFF2-40B4-BE49-F238E27FC236}">
                <a16:creationId xmlns:a16="http://schemas.microsoft.com/office/drawing/2014/main" xmlns="" id="{C6B0434C-3C49-4431-B735-EB59A6A6C02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012160" y="1557265"/>
            <a:ext cx="2664296" cy="2159767"/>
          </a:xfrm>
          <a:prstGeom prst="rect">
            <a:avLst/>
          </a:prstGeom>
          <a:noFill/>
          <a:ln>
            <a:noFill/>
          </a:ln>
        </p:spPr>
      </p:pic>
    </p:spTree>
    <p:extLst>
      <p:ext uri="{BB962C8B-B14F-4D97-AF65-F5344CB8AC3E}">
        <p14:creationId xmlns:p14="http://schemas.microsoft.com/office/powerpoint/2010/main" val="30063262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802524"/>
            <a:ext cx="3635896" cy="5539978"/>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r>
              <a:rPr lang="en-GB" sz="3600" b="1" dirty="0">
                <a:solidFill>
                  <a:schemeClr val="tx1">
                    <a:lumMod val="50000"/>
                    <a:lumOff val="50000"/>
                  </a:schemeClr>
                </a:solidFill>
              </a:rPr>
              <a:t>Energy changes and energy stores </a:t>
            </a:r>
          </a:p>
          <a:p>
            <a:r>
              <a:rPr lang="en-GB" sz="3600" b="1" dirty="0">
                <a:solidFill>
                  <a:schemeClr val="tx1">
                    <a:lumMod val="50000"/>
                    <a:lumOff val="50000"/>
                  </a:schemeClr>
                </a:solidFill>
              </a:rPr>
              <a:t>Part 2 </a:t>
            </a:r>
          </a:p>
          <a:p>
            <a:pPr marL="457200" indent="-457200">
              <a:buFont typeface="Arial" charset="0"/>
              <a:buChar char="•"/>
            </a:pPr>
            <a:r>
              <a:rPr lang="en-US" sz="2400" b="1" dirty="0">
                <a:solidFill>
                  <a:schemeClr val="tx1">
                    <a:lumMod val="50000"/>
                    <a:lumOff val="50000"/>
                  </a:schemeClr>
                </a:solidFill>
              </a:rPr>
              <a:t>Energy changes in systems</a:t>
            </a:r>
          </a:p>
          <a:p>
            <a:pPr marL="457200" indent="-457200">
              <a:lnSpc>
                <a:spcPct val="150000"/>
              </a:lnSpc>
              <a:buFont typeface="Arial" charset="0"/>
              <a:buChar char="•"/>
            </a:pPr>
            <a:r>
              <a:rPr lang="en-GB" sz="2400" b="1" dirty="0">
                <a:solidFill>
                  <a:schemeClr val="tx1">
                    <a:lumMod val="50000"/>
                    <a:lumOff val="50000"/>
                  </a:schemeClr>
                </a:solidFill>
              </a:rPr>
              <a:t>Power</a:t>
            </a:r>
          </a:p>
          <a:p>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3563888" y="0"/>
            <a:ext cx="5616624" cy="6525344"/>
          </a:xfrm>
          <a:prstGeom prst="rect">
            <a:avLst/>
          </a:prstGeom>
        </p:spPr>
      </p:pic>
    </p:spTree>
    <p:extLst>
      <p:ext uri="{BB962C8B-B14F-4D97-AF65-F5344CB8AC3E}">
        <p14:creationId xmlns:p14="http://schemas.microsoft.com/office/powerpoint/2010/main" val="1386293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13224" y="684988"/>
            <a:ext cx="8805664" cy="5624332"/>
          </a:xfrm>
          <a:prstGeom prst="rect">
            <a:avLst/>
          </a:prstGeom>
          <a:noFill/>
        </p:spPr>
        <p:style>
          <a:lnRef idx="2">
            <a:schemeClr val="accent6"/>
          </a:lnRef>
          <a:fillRef idx="1">
            <a:schemeClr val="lt1"/>
          </a:fillRef>
          <a:effectRef idx="0">
            <a:schemeClr val="accent6"/>
          </a:effectRef>
          <a:fontRef idx="minor">
            <a:schemeClr val="dk1"/>
          </a:fontRef>
        </p:style>
        <p:txBody>
          <a:bodyPr rtlCol="0" anchor="t"/>
          <a:lstStyle/>
          <a:p>
            <a:r>
              <a:rPr lang="en-GB" sz="2000" dirty="0">
                <a:solidFill>
                  <a:schemeClr val="tx1"/>
                </a:solidFill>
              </a:rPr>
              <a:t>The </a:t>
            </a:r>
            <a:r>
              <a:rPr lang="en-GB" sz="2000" b="1" dirty="0">
                <a:solidFill>
                  <a:schemeClr val="accent6">
                    <a:lumMod val="75000"/>
                  </a:schemeClr>
                </a:solidFill>
              </a:rPr>
              <a:t>thermal (</a:t>
            </a:r>
            <a:r>
              <a:rPr lang="en-GB" sz="2000" b="1" dirty="0" smtClean="0">
                <a:solidFill>
                  <a:schemeClr val="accent6">
                    <a:lumMod val="75000"/>
                  </a:schemeClr>
                </a:solidFill>
              </a:rPr>
              <a:t>internal)</a:t>
            </a:r>
            <a:r>
              <a:rPr lang="en-GB" sz="2000" dirty="0" smtClean="0">
                <a:solidFill>
                  <a:schemeClr val="tx1"/>
                </a:solidFill>
              </a:rPr>
              <a:t> </a:t>
            </a:r>
            <a:r>
              <a:rPr lang="en-GB" sz="2000" b="1" dirty="0">
                <a:solidFill>
                  <a:schemeClr val="accent6">
                    <a:lumMod val="75000"/>
                  </a:schemeClr>
                </a:solidFill>
              </a:rPr>
              <a:t>energy store </a:t>
            </a:r>
            <a:r>
              <a:rPr lang="en-GB" sz="2000" dirty="0">
                <a:solidFill>
                  <a:schemeClr val="tx1"/>
                </a:solidFill>
              </a:rPr>
              <a:t>in a system changes if its </a:t>
            </a:r>
            <a:r>
              <a:rPr lang="en-GB" sz="2000" b="1" dirty="0">
                <a:solidFill>
                  <a:schemeClr val="accent6">
                    <a:lumMod val="75000"/>
                  </a:schemeClr>
                </a:solidFill>
              </a:rPr>
              <a:t>temperature</a:t>
            </a:r>
            <a:r>
              <a:rPr lang="en-GB" sz="2000" dirty="0">
                <a:solidFill>
                  <a:schemeClr val="tx1"/>
                </a:solidFill>
              </a:rPr>
              <a:t> </a:t>
            </a:r>
            <a:r>
              <a:rPr lang="en-GB" sz="2000" b="1" dirty="0">
                <a:solidFill>
                  <a:schemeClr val="accent6">
                    <a:lumMod val="75000"/>
                  </a:schemeClr>
                </a:solidFill>
              </a:rPr>
              <a:t>changes</a:t>
            </a:r>
            <a:r>
              <a:rPr lang="en-GB" sz="2000" b="1" dirty="0">
                <a:solidFill>
                  <a:schemeClr val="tx1"/>
                </a:solidFill>
              </a:rPr>
              <a:t>.</a:t>
            </a:r>
          </a:p>
          <a:p>
            <a:endParaRPr lang="en-GB" sz="2000" b="1" dirty="0">
              <a:solidFill>
                <a:schemeClr val="tx1"/>
              </a:solidFill>
            </a:endParaRPr>
          </a:p>
          <a:p>
            <a:r>
              <a:rPr lang="en-GB" sz="2000" dirty="0">
                <a:solidFill>
                  <a:schemeClr val="tx1"/>
                </a:solidFill>
              </a:rPr>
              <a:t>When metal is heated in a furnace the </a:t>
            </a:r>
            <a:r>
              <a:rPr lang="en-GB" sz="2000" b="1" dirty="0">
                <a:solidFill>
                  <a:schemeClr val="accent6">
                    <a:lumMod val="75000"/>
                  </a:schemeClr>
                </a:solidFill>
              </a:rPr>
              <a:t>thermal </a:t>
            </a:r>
          </a:p>
          <a:p>
            <a:r>
              <a:rPr lang="en-GB" sz="2000" b="1" dirty="0">
                <a:solidFill>
                  <a:schemeClr val="accent6">
                    <a:lumMod val="75000"/>
                  </a:schemeClr>
                </a:solidFill>
              </a:rPr>
              <a:t>energy store</a:t>
            </a:r>
            <a:r>
              <a:rPr lang="en-GB" sz="2000" b="1" dirty="0">
                <a:solidFill>
                  <a:schemeClr val="accent6"/>
                </a:solidFill>
              </a:rPr>
              <a:t> </a:t>
            </a:r>
            <a:r>
              <a:rPr lang="en-GB" sz="2000" dirty="0">
                <a:solidFill>
                  <a:schemeClr val="tx1"/>
                </a:solidFill>
              </a:rPr>
              <a:t>increases. The amount of energy gained</a:t>
            </a:r>
          </a:p>
          <a:p>
            <a:r>
              <a:rPr lang="en-GB" sz="2000" dirty="0">
                <a:solidFill>
                  <a:schemeClr val="tx1"/>
                </a:solidFill>
              </a:rPr>
              <a:t>depends on the</a:t>
            </a:r>
            <a:r>
              <a:rPr lang="en-GB" sz="2000" b="1" dirty="0">
                <a:solidFill>
                  <a:schemeClr val="accent6">
                    <a:lumMod val="75000"/>
                  </a:schemeClr>
                </a:solidFill>
              </a:rPr>
              <a:t> mass </a:t>
            </a:r>
            <a:r>
              <a:rPr lang="en-GB" sz="2000" dirty="0">
                <a:solidFill>
                  <a:schemeClr val="tx1"/>
                </a:solidFill>
              </a:rPr>
              <a:t>of the metal, how much the </a:t>
            </a:r>
          </a:p>
          <a:p>
            <a:r>
              <a:rPr lang="en-GB" sz="2000" b="1" dirty="0">
                <a:solidFill>
                  <a:schemeClr val="accent6">
                    <a:lumMod val="75000"/>
                  </a:schemeClr>
                </a:solidFill>
              </a:rPr>
              <a:t>temperature increases </a:t>
            </a:r>
            <a:r>
              <a:rPr lang="en-GB" sz="2000" dirty="0">
                <a:solidFill>
                  <a:schemeClr val="tx1"/>
                </a:solidFill>
              </a:rPr>
              <a:t>and</a:t>
            </a:r>
            <a:r>
              <a:rPr lang="en-GB" sz="2000" dirty="0">
                <a:solidFill>
                  <a:schemeClr val="accent6">
                    <a:lumMod val="75000"/>
                  </a:schemeClr>
                </a:solidFill>
              </a:rPr>
              <a:t> </a:t>
            </a:r>
            <a:r>
              <a:rPr lang="en-GB" sz="2000" dirty="0">
                <a:solidFill>
                  <a:schemeClr val="tx1"/>
                </a:solidFill>
              </a:rPr>
              <a:t>the</a:t>
            </a:r>
            <a:r>
              <a:rPr lang="en-GB" sz="2000" dirty="0">
                <a:solidFill>
                  <a:schemeClr val="accent6">
                    <a:lumMod val="75000"/>
                  </a:schemeClr>
                </a:solidFill>
              </a:rPr>
              <a:t> </a:t>
            </a:r>
            <a:r>
              <a:rPr lang="en-GB" sz="2000" b="1" dirty="0">
                <a:solidFill>
                  <a:schemeClr val="accent6">
                    <a:lumMod val="75000"/>
                  </a:schemeClr>
                </a:solidFill>
              </a:rPr>
              <a:t>specific heat capacity</a:t>
            </a:r>
          </a:p>
          <a:p>
            <a:r>
              <a:rPr lang="en-GB" sz="2000" dirty="0">
                <a:solidFill>
                  <a:schemeClr val="tx1"/>
                </a:solidFill>
              </a:rPr>
              <a:t>of the metal.</a:t>
            </a:r>
          </a:p>
          <a:p>
            <a:endParaRPr lang="en-GB" sz="2000" dirty="0" smtClean="0">
              <a:solidFill>
                <a:schemeClr val="tx1"/>
              </a:solidFill>
            </a:endParaRPr>
          </a:p>
          <a:p>
            <a:endParaRPr lang="en-GB" sz="2000" dirty="0">
              <a:solidFill>
                <a:schemeClr val="tx1"/>
              </a:solidFill>
            </a:endParaRPr>
          </a:p>
          <a:p>
            <a:r>
              <a:rPr lang="en-GB" sz="2000" b="1" dirty="0">
                <a:solidFill>
                  <a:schemeClr val="accent6">
                    <a:lumMod val="75000"/>
                  </a:schemeClr>
                </a:solidFill>
              </a:rPr>
              <a:t>Specific Heat Capacity ( </a:t>
            </a:r>
            <a:r>
              <a:rPr lang="en-GB" sz="2000" b="1" i="1" dirty="0">
                <a:solidFill>
                  <a:schemeClr val="accent6">
                    <a:lumMod val="75000"/>
                  </a:schemeClr>
                </a:solidFill>
              </a:rPr>
              <a:t>c</a:t>
            </a:r>
            <a:r>
              <a:rPr lang="en-GB" sz="2000" i="1" dirty="0">
                <a:solidFill>
                  <a:schemeClr val="tx1"/>
                </a:solidFill>
              </a:rPr>
              <a:t> </a:t>
            </a:r>
            <a:r>
              <a:rPr lang="en-GB" sz="2000" b="1" dirty="0">
                <a:solidFill>
                  <a:schemeClr val="accent6">
                    <a:lumMod val="75000"/>
                  </a:schemeClr>
                </a:solidFill>
              </a:rPr>
              <a:t>)</a:t>
            </a:r>
            <a:r>
              <a:rPr lang="en-GB" sz="2000" i="1" dirty="0">
                <a:solidFill>
                  <a:schemeClr val="tx1"/>
                </a:solidFill>
              </a:rPr>
              <a:t> – </a:t>
            </a:r>
            <a:r>
              <a:rPr lang="en-GB" sz="2000" dirty="0">
                <a:solidFill>
                  <a:schemeClr val="tx1"/>
                </a:solidFill>
              </a:rPr>
              <a:t>the amount of energy required to raise the temperature of 1 kg of a substance by one degree Celsius.</a:t>
            </a:r>
          </a:p>
          <a:p>
            <a:endParaRPr lang="en-GB" sz="2000" dirty="0">
              <a:solidFill>
                <a:schemeClr val="tx1"/>
              </a:solidFill>
            </a:endParaRPr>
          </a:p>
          <a:p>
            <a:pPr algn="ctr"/>
            <a:r>
              <a:rPr lang="en-GB" sz="2400" b="1" u="sng" dirty="0">
                <a:solidFill>
                  <a:schemeClr val="accent6">
                    <a:lumMod val="75000"/>
                  </a:schemeClr>
                </a:solidFill>
              </a:rPr>
              <a:t>Steel has a specific heat capacity of 450 J/kg </a:t>
            </a:r>
            <a:r>
              <a:rPr lang="en-GB" sz="2400" b="1" u="sng" baseline="30000" dirty="0" err="1">
                <a:solidFill>
                  <a:schemeClr val="accent6">
                    <a:lumMod val="75000"/>
                  </a:schemeClr>
                </a:solidFill>
              </a:rPr>
              <a:t>o</a:t>
            </a:r>
            <a:r>
              <a:rPr lang="en-GB" sz="2400" b="1" u="sng" dirty="0" err="1">
                <a:solidFill>
                  <a:schemeClr val="accent6">
                    <a:lumMod val="75000"/>
                  </a:schemeClr>
                </a:solidFill>
              </a:rPr>
              <a:t>C</a:t>
            </a:r>
            <a:r>
              <a:rPr lang="en-GB" sz="2400" b="1" u="sng" dirty="0">
                <a:solidFill>
                  <a:schemeClr val="accent6">
                    <a:lumMod val="75000"/>
                  </a:schemeClr>
                </a:solidFill>
              </a:rPr>
              <a:t> </a:t>
            </a:r>
          </a:p>
          <a:p>
            <a:endParaRPr lang="en-GB" sz="2400" b="1" dirty="0">
              <a:solidFill>
                <a:schemeClr val="tx1"/>
              </a:solidFill>
            </a:endParaRPr>
          </a:p>
          <a:p>
            <a:r>
              <a:rPr lang="en-GB" sz="2400" b="1" dirty="0">
                <a:solidFill>
                  <a:schemeClr val="tx1"/>
                </a:solidFill>
              </a:rPr>
              <a:t>Therefore a 1 kg block of steel needs 450 J of thermal energy adding to it to raise the temperature from 20 </a:t>
            </a:r>
            <a:r>
              <a:rPr lang="en-GB" sz="2400" b="1" baseline="30000" dirty="0" err="1">
                <a:solidFill>
                  <a:schemeClr val="tx1"/>
                </a:solidFill>
              </a:rPr>
              <a:t>o</a:t>
            </a:r>
            <a:r>
              <a:rPr lang="en-GB" sz="2400" b="1" dirty="0" err="1">
                <a:solidFill>
                  <a:schemeClr val="tx1"/>
                </a:solidFill>
              </a:rPr>
              <a:t>C</a:t>
            </a:r>
            <a:r>
              <a:rPr lang="en-GB" sz="2400" b="1" dirty="0">
                <a:solidFill>
                  <a:schemeClr val="tx1"/>
                </a:solidFill>
              </a:rPr>
              <a:t> to 21 </a:t>
            </a:r>
            <a:r>
              <a:rPr lang="en-GB" sz="2400" b="1" baseline="30000" dirty="0" err="1">
                <a:solidFill>
                  <a:schemeClr val="tx1"/>
                </a:solidFill>
              </a:rPr>
              <a:t>o</a:t>
            </a:r>
            <a:r>
              <a:rPr lang="en-GB" sz="2400" b="1" dirty="0" err="1">
                <a:solidFill>
                  <a:schemeClr val="tx1"/>
                </a:solidFill>
              </a:rPr>
              <a:t>C</a:t>
            </a:r>
            <a:r>
              <a:rPr lang="en-GB" sz="2400" b="1" dirty="0">
                <a:solidFill>
                  <a:schemeClr val="tx1"/>
                </a:solidFill>
              </a:rPr>
              <a:t> (1 </a:t>
            </a:r>
            <a:r>
              <a:rPr lang="en-GB" sz="2400" b="1" baseline="30000" dirty="0" err="1">
                <a:solidFill>
                  <a:schemeClr val="tx1"/>
                </a:solidFill>
              </a:rPr>
              <a:t>o</a:t>
            </a:r>
            <a:r>
              <a:rPr lang="en-GB" sz="2400" b="1" dirty="0" err="1">
                <a:solidFill>
                  <a:schemeClr val="tx1"/>
                </a:solidFill>
              </a:rPr>
              <a:t>C</a:t>
            </a:r>
            <a:r>
              <a:rPr lang="en-GB" sz="2400" b="1" dirty="0">
                <a:solidFill>
                  <a:schemeClr val="tx1"/>
                </a:solidFill>
              </a:rPr>
              <a:t> rise).</a:t>
            </a:r>
          </a:p>
        </p:txBody>
      </p:sp>
      <p:sp>
        <p:nvSpPr>
          <p:cNvPr id="2" name="Title 1"/>
          <p:cNvSpPr>
            <a:spLocks noGrp="1"/>
          </p:cNvSpPr>
          <p:nvPr>
            <p:ph type="ctrTitle"/>
          </p:nvPr>
        </p:nvSpPr>
        <p:spPr>
          <a:xfrm>
            <a:off x="1043608" y="0"/>
            <a:ext cx="8004286" cy="684988"/>
          </a:xfrm>
        </p:spPr>
        <p:txBody>
          <a:bodyPr anchor="ct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smtClean="0">
                <a:solidFill>
                  <a:schemeClr val="accent6">
                    <a:lumMod val="75000"/>
                  </a:schemeClr>
                </a:solidFill>
                <a:latin typeface="+mn-lt"/>
              </a:rPr>
              <a:t>                                       </a:t>
            </a:r>
            <a:r>
              <a:rPr lang="en-US" sz="2400" b="1" dirty="0">
                <a:solidFill>
                  <a:schemeClr val="accent6">
                    <a:lumMod val="75000"/>
                  </a:schemeClr>
                </a:solidFill>
                <a:latin typeface="+mn-lt"/>
              </a:rPr>
              <a:t>Energy changes </a:t>
            </a:r>
            <a:r>
              <a:rPr lang="en-US" sz="2400" b="1">
                <a:solidFill>
                  <a:schemeClr val="accent6">
                    <a:lumMod val="75000"/>
                  </a:schemeClr>
                </a:solidFill>
                <a:latin typeface="+mn-lt"/>
              </a:rPr>
              <a:t>in </a:t>
            </a:r>
            <a:r>
              <a:rPr lang="en-US" sz="2400" b="1" smtClean="0">
                <a:solidFill>
                  <a:schemeClr val="accent6">
                    <a:lumMod val="75000"/>
                  </a:schemeClr>
                </a:solidFill>
                <a:latin typeface="+mn-lt"/>
              </a:rPr>
              <a:t>systems</a:t>
            </a:r>
            <a:endParaRPr kumimoji="0" lang="en-US" sz="2800" b="1" i="0" u="none" strike="noStrike" kern="1200" cap="none" spc="0" normalizeH="0" baseline="0" noProof="0" dirty="0">
              <a:ln>
                <a:noFill/>
              </a:ln>
              <a:solidFill>
                <a:schemeClr val="accent6">
                  <a:lumMod val="75000"/>
                </a:schemeClr>
              </a:solidFill>
              <a:effectLst/>
              <a:uLnTx/>
              <a:uFillTx/>
              <a:latin typeface="+mn-lt"/>
              <a:ea typeface=""/>
              <a:cs typeface="News Gothic MT"/>
            </a:endParaRPr>
          </a:p>
        </p:txBody>
      </p:sp>
      <p:pic>
        <p:nvPicPr>
          <p:cNvPr id="8" name="Picture 7">
            <a:extLst>
              <a:ext uri="{FF2B5EF4-FFF2-40B4-BE49-F238E27FC236}">
                <a16:creationId xmlns:a16="http://schemas.microsoft.com/office/drawing/2014/main" xmlns="" id="{B0BE3D5E-B578-4C9B-9DD0-7F66FE99F1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1340768"/>
            <a:ext cx="2856317" cy="2142238"/>
          </a:xfrm>
          <a:prstGeom prst="rect">
            <a:avLst/>
          </a:prstGeom>
        </p:spPr>
      </p:pic>
    </p:spTree>
    <p:extLst>
      <p:ext uri="{BB962C8B-B14F-4D97-AF65-F5344CB8AC3E}">
        <p14:creationId xmlns:p14="http://schemas.microsoft.com/office/powerpoint/2010/main" val="434794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220310" cy="761053"/>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lumMod val="75000"/>
                  </a:schemeClr>
                </a:solidFill>
                <a:latin typeface="+mn-lt"/>
              </a:rPr>
              <a:t>                                       </a:t>
            </a:r>
            <a:r>
              <a:rPr lang="en-US" sz="2400" b="1" dirty="0">
                <a:solidFill>
                  <a:schemeClr val="accent6">
                    <a:lumMod val="75000"/>
                  </a:schemeClr>
                </a:solidFill>
                <a:latin typeface="+mn-lt"/>
              </a:rPr>
              <a:t>Energy changes in systems and power</a:t>
            </a:r>
            <a:endParaRPr kumimoji="0" lang="en-US" sz="2400" b="1" i="0" u="none" strike="noStrike" kern="1200" cap="none" spc="0" normalizeH="0" baseline="0" noProof="0" dirty="0">
              <a:ln>
                <a:noFill/>
              </a:ln>
              <a:solidFill>
                <a:schemeClr val="accent6">
                  <a:lumMod val="75000"/>
                </a:schemeClr>
              </a:solidFill>
              <a:effectLst/>
              <a:uLnTx/>
              <a:uFillTx/>
              <a:latin typeface="+mn-lt"/>
              <a:ea typeface=""/>
              <a:cs typeface="News Gothic MT"/>
            </a:endParaRPr>
          </a:p>
        </p:txBody>
      </p:sp>
      <p:sp>
        <p:nvSpPr>
          <p:cNvPr id="6" name="Subtitle 5">
            <a:extLst>
              <a:ext uri="{FF2B5EF4-FFF2-40B4-BE49-F238E27FC236}">
                <a16:creationId xmlns:a16="http://schemas.microsoft.com/office/drawing/2014/main" xmlns="" id="{F7D638C2-A847-4CE8-8769-556E8272E96E}"/>
              </a:ext>
            </a:extLst>
          </p:cNvPr>
          <p:cNvSpPr>
            <a:spLocks noGrp="1"/>
          </p:cNvSpPr>
          <p:nvPr>
            <p:ph type="subTitle" idx="1"/>
          </p:nvPr>
        </p:nvSpPr>
        <p:spPr>
          <a:xfrm>
            <a:off x="179512" y="761053"/>
            <a:ext cx="8964488" cy="5544616"/>
          </a:xfrm>
        </p:spPr>
        <p:txBody>
          <a:bodyPr>
            <a:normAutofit/>
          </a:bodyPr>
          <a:lstStyle/>
          <a:p>
            <a:pPr algn="l"/>
            <a:r>
              <a:rPr lang="en-GB" sz="2000" b="1" dirty="0">
                <a:solidFill>
                  <a:schemeClr val="accent6">
                    <a:lumMod val="75000"/>
                  </a:schemeClr>
                </a:solidFill>
                <a:latin typeface="+mn-lt"/>
              </a:rPr>
              <a:t>Specific heat capacity</a:t>
            </a:r>
          </a:p>
          <a:p>
            <a:pPr algn="l"/>
            <a:r>
              <a:rPr lang="en-GB" sz="2000" dirty="0">
                <a:solidFill>
                  <a:schemeClr val="tx1"/>
                </a:solidFill>
                <a:latin typeface="+mn-lt"/>
              </a:rPr>
              <a:t>The apparatus shown can be used to </a:t>
            </a:r>
          </a:p>
          <a:p>
            <a:pPr algn="l"/>
            <a:r>
              <a:rPr lang="en-GB" sz="2000" dirty="0">
                <a:solidFill>
                  <a:schemeClr val="tx1"/>
                </a:solidFill>
                <a:latin typeface="+mn-lt"/>
              </a:rPr>
              <a:t>determine the specific heat capacity of</a:t>
            </a:r>
          </a:p>
          <a:p>
            <a:pPr algn="l"/>
            <a:r>
              <a:rPr lang="en-GB" sz="2000" dirty="0">
                <a:solidFill>
                  <a:schemeClr val="tx1"/>
                </a:solidFill>
                <a:latin typeface="+mn-lt"/>
              </a:rPr>
              <a:t>aluminium.</a:t>
            </a:r>
          </a:p>
          <a:p>
            <a:pPr algn="l"/>
            <a:r>
              <a:rPr lang="en-GB" sz="2000" b="1" dirty="0">
                <a:solidFill>
                  <a:schemeClr val="tx1"/>
                </a:solidFill>
                <a:latin typeface="+mn-lt"/>
              </a:rPr>
              <a:t>Example: </a:t>
            </a:r>
            <a:r>
              <a:rPr lang="en-GB" sz="2000" dirty="0" smtClean="0">
                <a:solidFill>
                  <a:schemeClr val="tx1"/>
                </a:solidFill>
                <a:latin typeface="+mn-lt"/>
              </a:rPr>
              <a:t>When </a:t>
            </a:r>
            <a:r>
              <a:rPr lang="en-GB" sz="2000" dirty="0">
                <a:solidFill>
                  <a:schemeClr val="tx1"/>
                </a:solidFill>
                <a:latin typeface="+mn-lt"/>
              </a:rPr>
              <a:t>the heater was left on for 5 mins, the heater supplied 10 800 J of thermal energy to the aluminium block. </a:t>
            </a:r>
          </a:p>
          <a:p>
            <a:pPr algn="l"/>
            <a:r>
              <a:rPr lang="en-GB" sz="2000" dirty="0">
                <a:solidFill>
                  <a:schemeClr val="tx1"/>
                </a:solidFill>
                <a:latin typeface="+mn-lt"/>
              </a:rPr>
              <a:t>The temperature of the 2 kg block of aluminium rose by 6 </a:t>
            </a:r>
            <a:r>
              <a:rPr lang="en-GB" sz="2000" b="1" baseline="30000" dirty="0" err="1">
                <a:solidFill>
                  <a:schemeClr val="tx1"/>
                </a:solidFill>
                <a:latin typeface="+mn-lt"/>
              </a:rPr>
              <a:t>o</a:t>
            </a:r>
            <a:r>
              <a:rPr lang="en-GB" sz="2000" dirty="0" err="1">
                <a:solidFill>
                  <a:schemeClr val="tx1"/>
                </a:solidFill>
                <a:latin typeface="+mn-lt"/>
              </a:rPr>
              <a:t>C.</a:t>
            </a:r>
            <a:endParaRPr lang="en-GB" sz="2000" dirty="0">
              <a:solidFill>
                <a:schemeClr val="tx1"/>
              </a:solidFill>
              <a:latin typeface="+mn-lt"/>
            </a:endParaRPr>
          </a:p>
          <a:p>
            <a:pPr algn="l"/>
            <a:endParaRPr lang="en-GB" sz="2000" b="1" dirty="0">
              <a:solidFill>
                <a:schemeClr val="accent6">
                  <a:lumMod val="75000"/>
                </a:schemeClr>
              </a:solidFill>
              <a:latin typeface="+mn-lt"/>
            </a:endParaRPr>
          </a:p>
        </p:txBody>
      </p:sp>
      <p:pic>
        <p:nvPicPr>
          <p:cNvPr id="8" name="Picture 7">
            <a:extLst>
              <a:ext uri="{FF2B5EF4-FFF2-40B4-BE49-F238E27FC236}">
                <a16:creationId xmlns:a16="http://schemas.microsoft.com/office/drawing/2014/main" xmlns="" id="{66093084-A546-4796-95DB-A15AEF512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20072" y="620688"/>
            <a:ext cx="3240360" cy="1562879"/>
          </a:xfrm>
          <a:prstGeom prst="rect">
            <a:avLst/>
          </a:prstGeom>
        </p:spPr>
      </p:pic>
      <p:sp>
        <p:nvSpPr>
          <p:cNvPr id="5" name="Rectangle 4"/>
          <p:cNvSpPr/>
          <p:nvPr/>
        </p:nvSpPr>
        <p:spPr>
          <a:xfrm>
            <a:off x="179512" y="3425349"/>
            <a:ext cx="8892520" cy="288032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t>The amount of energy stored in or released from a system as its</a:t>
            </a:r>
          </a:p>
          <a:p>
            <a:r>
              <a:rPr lang="en-US" sz="2000" dirty="0"/>
              <a:t>temperature changes can be calculated using the equation</a:t>
            </a:r>
            <a:r>
              <a:rPr lang="en-US" sz="2000" dirty="0" smtClean="0"/>
              <a:t>:</a:t>
            </a:r>
          </a:p>
          <a:p>
            <a:endParaRPr lang="en-US" sz="2000" dirty="0"/>
          </a:p>
          <a:p>
            <a:pPr algn="ctr"/>
            <a:r>
              <a:rPr lang="en-GB" sz="1700" dirty="0">
                <a:solidFill>
                  <a:schemeClr val="tx1"/>
                </a:solidFill>
              </a:rPr>
              <a:t> </a:t>
            </a:r>
            <a:r>
              <a:rPr lang="en-GB" sz="1600" b="1" dirty="0">
                <a:solidFill>
                  <a:schemeClr val="accent6">
                    <a:lumMod val="75000"/>
                  </a:schemeClr>
                </a:solidFill>
              </a:rPr>
              <a:t>Change in thermal energy </a:t>
            </a:r>
            <a:r>
              <a:rPr lang="en-GB" sz="1600" b="1" dirty="0" smtClean="0">
                <a:solidFill>
                  <a:schemeClr val="accent6">
                    <a:lumMod val="75000"/>
                  </a:schemeClr>
                </a:solidFill>
              </a:rPr>
              <a:t> (J) = Mass (kg) x Specific Heat Capacity J/</a:t>
            </a:r>
            <a:r>
              <a:rPr lang="en-GB" sz="1600" b="1" dirty="0" err="1" smtClean="0">
                <a:solidFill>
                  <a:schemeClr val="accent6">
                    <a:lumMod val="75000"/>
                  </a:schemeClr>
                </a:solidFill>
              </a:rPr>
              <a:t>kg</a:t>
            </a:r>
            <a:r>
              <a:rPr lang="en-GB" sz="1600" b="1" baseline="30000" dirty="0" err="1" smtClean="0">
                <a:solidFill>
                  <a:schemeClr val="accent6">
                    <a:lumMod val="75000"/>
                  </a:schemeClr>
                </a:solidFill>
              </a:rPr>
              <a:t>o</a:t>
            </a:r>
            <a:r>
              <a:rPr lang="en-GB" sz="1600" b="1" dirty="0" err="1" smtClean="0">
                <a:solidFill>
                  <a:schemeClr val="accent6">
                    <a:lumMod val="75000"/>
                  </a:schemeClr>
                </a:solidFill>
              </a:rPr>
              <a:t>C</a:t>
            </a:r>
            <a:r>
              <a:rPr lang="en-GB" sz="1600" b="1" dirty="0" smtClean="0">
                <a:solidFill>
                  <a:schemeClr val="accent6">
                    <a:lumMod val="75000"/>
                  </a:schemeClr>
                </a:solidFill>
              </a:rPr>
              <a:t> </a:t>
            </a:r>
            <a:r>
              <a:rPr lang="en-GB" sz="1600" b="1" dirty="0">
                <a:solidFill>
                  <a:schemeClr val="accent6">
                    <a:lumMod val="75000"/>
                  </a:schemeClr>
                </a:solidFill>
              </a:rPr>
              <a:t>x </a:t>
            </a:r>
            <a:r>
              <a:rPr lang="en-GB" sz="1600" b="1" dirty="0" smtClean="0">
                <a:solidFill>
                  <a:schemeClr val="accent6">
                    <a:lumMod val="75000"/>
                  </a:schemeClr>
                </a:solidFill>
              </a:rPr>
              <a:t>Temperature Change (</a:t>
            </a:r>
            <a:r>
              <a:rPr lang="en-GB" sz="1600" b="1" baseline="30000" dirty="0" err="1" smtClean="0">
                <a:solidFill>
                  <a:schemeClr val="accent6">
                    <a:lumMod val="75000"/>
                  </a:schemeClr>
                </a:solidFill>
              </a:rPr>
              <a:t>o</a:t>
            </a:r>
            <a:r>
              <a:rPr lang="en-GB" sz="1600" b="1" dirty="0" err="1" smtClean="0">
                <a:solidFill>
                  <a:schemeClr val="accent6">
                    <a:lumMod val="75000"/>
                  </a:schemeClr>
                </a:solidFill>
              </a:rPr>
              <a:t>C</a:t>
            </a:r>
            <a:r>
              <a:rPr lang="en-GB" sz="1600" b="1" dirty="0" smtClean="0">
                <a:solidFill>
                  <a:schemeClr val="accent6">
                    <a:lumMod val="75000"/>
                  </a:schemeClr>
                </a:solidFill>
              </a:rPr>
              <a:t>)</a:t>
            </a:r>
          </a:p>
          <a:p>
            <a:pPr algn="ctr"/>
            <a:endParaRPr lang="en-GB" sz="1600" b="1" dirty="0">
              <a:solidFill>
                <a:schemeClr val="accent6">
                  <a:lumMod val="75000"/>
                </a:schemeClr>
              </a:solidFill>
            </a:endParaRPr>
          </a:p>
          <a:p>
            <a:pPr algn="ctr"/>
            <a:endParaRPr lang="en-GB" sz="1600" b="1" dirty="0" smtClean="0">
              <a:solidFill>
                <a:schemeClr val="accent6">
                  <a:lumMod val="75000"/>
                </a:schemeClr>
              </a:solidFill>
            </a:endParaRPr>
          </a:p>
          <a:p>
            <a:pPr algn="ctr"/>
            <a:r>
              <a:rPr lang="en-GB" sz="2000" b="1" i="1" dirty="0" smtClean="0">
                <a:solidFill>
                  <a:schemeClr val="accent6">
                    <a:lumMod val="75000"/>
                  </a:schemeClr>
                </a:solidFill>
              </a:rPr>
              <a:t>ΔE </a:t>
            </a:r>
            <a:r>
              <a:rPr lang="en-GB" sz="2000" b="1" i="1" dirty="0">
                <a:solidFill>
                  <a:schemeClr val="accent6">
                    <a:lumMod val="75000"/>
                  </a:schemeClr>
                </a:solidFill>
              </a:rPr>
              <a:t>= m x c x </a:t>
            </a:r>
            <a:r>
              <a:rPr lang="el-GR" sz="2000" b="1" i="1" dirty="0" err="1" smtClean="0">
                <a:solidFill>
                  <a:schemeClr val="accent6">
                    <a:lumMod val="75000"/>
                  </a:schemeClr>
                </a:solidFill>
              </a:rPr>
              <a:t>Δ</a:t>
            </a:r>
            <a:r>
              <a:rPr lang="el-GR" sz="2000" b="1" dirty="0" err="1" smtClean="0">
                <a:solidFill>
                  <a:schemeClr val="accent6">
                    <a:lumMod val="75000"/>
                  </a:schemeClr>
                </a:solidFill>
              </a:rPr>
              <a:t>θ</a:t>
            </a:r>
            <a:r>
              <a:rPr lang="en-GB" sz="2000" b="1" dirty="0" smtClean="0">
                <a:solidFill>
                  <a:schemeClr val="accent6">
                    <a:lumMod val="75000"/>
                  </a:schemeClr>
                </a:solidFill>
              </a:rPr>
              <a:t> 	</a:t>
            </a:r>
            <a:r>
              <a:rPr lang="en-GB" sz="2000" dirty="0" smtClean="0">
                <a:solidFill>
                  <a:schemeClr val="tx1"/>
                </a:solidFill>
              </a:rPr>
              <a:t>rearrange to give 	</a:t>
            </a:r>
            <a:r>
              <a:rPr lang="el-GR" sz="2000" b="1" dirty="0" smtClean="0">
                <a:solidFill>
                  <a:schemeClr val="accent6">
                    <a:lumMod val="75000"/>
                  </a:schemeClr>
                </a:solidFill>
              </a:rPr>
              <a:t>c </a:t>
            </a:r>
            <a:r>
              <a:rPr lang="el-GR" sz="2000" b="1" dirty="0">
                <a:solidFill>
                  <a:schemeClr val="accent6">
                    <a:lumMod val="75000"/>
                  </a:schemeClr>
                </a:solidFill>
              </a:rPr>
              <a:t>= ΔE / m x </a:t>
            </a:r>
            <a:r>
              <a:rPr lang="el-GR" sz="2000" b="1" dirty="0" err="1" smtClean="0">
                <a:solidFill>
                  <a:schemeClr val="accent6">
                    <a:lumMod val="75000"/>
                  </a:schemeClr>
                </a:solidFill>
              </a:rPr>
              <a:t>Δθ</a:t>
            </a:r>
            <a:endParaRPr lang="en-GB" sz="2000" b="1" dirty="0" smtClean="0">
              <a:solidFill>
                <a:schemeClr val="accent6">
                  <a:lumMod val="75000"/>
                </a:schemeClr>
              </a:solidFill>
            </a:endParaRPr>
          </a:p>
          <a:p>
            <a:pPr algn="ctr"/>
            <a:endParaRPr lang="en-GB" sz="2000" b="1" dirty="0">
              <a:solidFill>
                <a:schemeClr val="accent6">
                  <a:lumMod val="75000"/>
                </a:schemeClr>
              </a:solidFill>
            </a:endParaRPr>
          </a:p>
          <a:p>
            <a:pPr algn="ctr"/>
            <a:r>
              <a:rPr lang="en-GB" sz="2000" b="1" dirty="0">
                <a:solidFill>
                  <a:schemeClr val="accent6">
                    <a:lumMod val="75000"/>
                  </a:schemeClr>
                </a:solidFill>
              </a:rPr>
              <a:t>c = 10 800 / 2 x 6          Specific heat capacity of aluminium = 900 J/kg </a:t>
            </a:r>
            <a:r>
              <a:rPr lang="en-GB" sz="2000" b="1" baseline="30000" dirty="0" err="1" smtClean="0">
                <a:solidFill>
                  <a:schemeClr val="accent6">
                    <a:lumMod val="75000"/>
                  </a:schemeClr>
                </a:solidFill>
              </a:rPr>
              <a:t>o</a:t>
            </a:r>
            <a:r>
              <a:rPr lang="en-GB" sz="2000" b="1" dirty="0" err="1" smtClean="0">
                <a:solidFill>
                  <a:schemeClr val="accent6">
                    <a:lumMod val="75000"/>
                  </a:schemeClr>
                </a:solidFill>
              </a:rPr>
              <a:t>C</a:t>
            </a:r>
            <a:endParaRPr lang="en-GB" sz="2000" b="1" dirty="0">
              <a:solidFill>
                <a:schemeClr val="accent6">
                  <a:lumMod val="75000"/>
                </a:schemeClr>
              </a:solidFill>
            </a:endParaRPr>
          </a:p>
        </p:txBody>
      </p:sp>
    </p:spTree>
    <p:extLst>
      <p:ext uri="{BB962C8B-B14F-4D97-AF65-F5344CB8AC3E}">
        <p14:creationId xmlns:p14="http://schemas.microsoft.com/office/powerpoint/2010/main" val="60267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xmlns="" id="{BDF22081-C0BF-464A-9790-F9DE8ECBC7B1}"/>
              </a:ext>
            </a:extLst>
          </p:cNvPr>
          <p:cNvSpPr>
            <a:spLocks noGrp="1"/>
          </p:cNvSpPr>
          <p:nvPr>
            <p:ph type="subTitle" idx="1"/>
          </p:nvPr>
        </p:nvSpPr>
        <p:spPr>
          <a:xfrm>
            <a:off x="179511" y="836711"/>
            <a:ext cx="8683765" cy="1368153"/>
          </a:xfrm>
          <a:gradFill>
            <a:gsLst>
              <a:gs pos="0">
                <a:schemeClr val="accent6">
                  <a:lumMod val="60000"/>
                  <a:lumOff val="40000"/>
                </a:schemeClr>
              </a:gs>
              <a:gs pos="35000">
                <a:schemeClr val="accent6">
                  <a:tint val="37000"/>
                  <a:satMod val="300000"/>
                </a:schemeClr>
              </a:gs>
              <a:gs pos="100000">
                <a:schemeClr val="accent6">
                  <a:tint val="15000"/>
                  <a:satMod val="350000"/>
                </a:schemeClr>
              </a:gs>
            </a:gsLst>
            <a:lin ang="16200000" scaled="1"/>
          </a:gradFill>
          <a:ln w="12700">
            <a:solidFill>
              <a:schemeClr val="accent6"/>
            </a:solidFill>
          </a:ln>
        </p:spPr>
        <p:txBody>
          <a:bodyPr>
            <a:normAutofit lnSpcReduction="10000"/>
          </a:bodyPr>
          <a:lstStyle/>
          <a:p>
            <a:pPr algn="l"/>
            <a:r>
              <a:rPr lang="en-GB" sz="2600" b="1" dirty="0">
                <a:solidFill>
                  <a:schemeClr val="tx1"/>
                </a:solidFill>
                <a:latin typeface="+mn-lt"/>
              </a:rPr>
              <a:t>Power</a:t>
            </a:r>
            <a:r>
              <a:rPr lang="en-GB" sz="2600" dirty="0">
                <a:solidFill>
                  <a:schemeClr val="tx1"/>
                </a:solidFill>
                <a:latin typeface="+mn-lt"/>
              </a:rPr>
              <a:t>  - the rate at which energy is transferred</a:t>
            </a:r>
          </a:p>
          <a:p>
            <a:pPr algn="l"/>
            <a:r>
              <a:rPr lang="en-GB" sz="2600" dirty="0">
                <a:solidFill>
                  <a:schemeClr val="tx1"/>
                </a:solidFill>
                <a:latin typeface="+mn-lt"/>
              </a:rPr>
              <a:t>                the rate at which work is done     </a:t>
            </a:r>
            <a:r>
              <a:rPr lang="en-GB" sz="1800" dirty="0">
                <a:solidFill>
                  <a:schemeClr val="tx1"/>
                </a:solidFill>
                <a:latin typeface="+mn-lt"/>
              </a:rPr>
              <a:t>(rate means “how quickly”)</a:t>
            </a:r>
          </a:p>
          <a:p>
            <a:pPr algn="l"/>
            <a:r>
              <a:rPr lang="en-GB" sz="2600" b="1" dirty="0">
                <a:solidFill>
                  <a:schemeClr val="tx1"/>
                </a:solidFill>
                <a:latin typeface="+mn-lt"/>
              </a:rPr>
              <a:t>Power</a:t>
            </a:r>
            <a:r>
              <a:rPr lang="en-GB" sz="2600" dirty="0">
                <a:solidFill>
                  <a:schemeClr val="tx1"/>
                </a:solidFill>
                <a:latin typeface="+mn-lt"/>
              </a:rPr>
              <a:t> is measured in Joules / second		1 J/s = 1 Watt</a:t>
            </a:r>
          </a:p>
          <a:p>
            <a:pPr algn="l"/>
            <a:endParaRPr lang="en-GB" sz="1800" dirty="0">
              <a:solidFill>
                <a:schemeClr val="tx1"/>
              </a:solidFill>
              <a:latin typeface="+mn-lt"/>
            </a:endParaRPr>
          </a:p>
          <a:p>
            <a:pPr algn="l"/>
            <a:endParaRPr lang="en-GB" sz="1800" dirty="0">
              <a:solidFill>
                <a:schemeClr val="tx1"/>
              </a:solidFill>
              <a:latin typeface="+mn-lt"/>
            </a:endParaRPr>
          </a:p>
        </p:txBody>
      </p:sp>
      <p:sp>
        <p:nvSpPr>
          <p:cNvPr id="9" name="TextBox 8">
            <a:extLst>
              <a:ext uri="{FF2B5EF4-FFF2-40B4-BE49-F238E27FC236}">
                <a16:creationId xmlns:a16="http://schemas.microsoft.com/office/drawing/2014/main" xmlns="" id="{7D76D768-01C6-4EE7-882D-D32BB62500E8}"/>
              </a:ext>
            </a:extLst>
          </p:cNvPr>
          <p:cNvSpPr txBox="1"/>
          <p:nvPr/>
        </p:nvSpPr>
        <p:spPr>
          <a:xfrm>
            <a:off x="191886" y="2281753"/>
            <a:ext cx="8671391" cy="1938992"/>
          </a:xfrm>
          <a:prstGeom prst="rect">
            <a:avLst/>
          </a:prstGeom>
          <a:noFill/>
          <a:ln w="12700">
            <a:noFill/>
          </a:ln>
        </p:spPr>
        <p:txBody>
          <a:bodyPr wrap="square" rtlCol="0">
            <a:spAutoFit/>
          </a:bodyPr>
          <a:lstStyle/>
          <a:p>
            <a:r>
              <a:rPr lang="en-GB" sz="2400" dirty="0"/>
              <a:t>An object which transfers energy does so at a certain rate. </a:t>
            </a:r>
          </a:p>
          <a:p>
            <a:r>
              <a:rPr lang="en-GB" sz="2400" dirty="0"/>
              <a:t>The metal filament in this light bulb transfers the</a:t>
            </a:r>
          </a:p>
          <a:p>
            <a:r>
              <a:rPr lang="en-GB" sz="2400" dirty="0"/>
              <a:t>electrical energy store into heat and light.</a:t>
            </a:r>
          </a:p>
          <a:p>
            <a:r>
              <a:rPr lang="en-GB" sz="2400" dirty="0" smtClean="0"/>
              <a:t>This </a:t>
            </a:r>
            <a:r>
              <a:rPr lang="en-GB" sz="2400" dirty="0"/>
              <a:t>bulb transfers 2400 joules of energy in </a:t>
            </a:r>
            <a:r>
              <a:rPr lang="en-GB" sz="2400" dirty="0" smtClean="0"/>
              <a:t>60 seconds.</a:t>
            </a:r>
            <a:endParaRPr lang="en-GB" sz="2400" dirty="0"/>
          </a:p>
          <a:p>
            <a:endParaRPr lang="en-GB" sz="2400" dirty="0"/>
          </a:p>
        </p:txBody>
      </p:sp>
      <p:pic>
        <p:nvPicPr>
          <p:cNvPr id="1028" name="Picture 4" descr="Image result for light bulb">
            <a:extLst>
              <a:ext uri="{FF2B5EF4-FFF2-40B4-BE49-F238E27FC236}">
                <a16:creationId xmlns:a16="http://schemas.microsoft.com/office/drawing/2014/main" xmlns="" id="{BAF21EE5-D73B-435E-AD4A-1ADA59ED6B4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400911" y="1963264"/>
            <a:ext cx="1572930" cy="2059322"/>
          </a:xfrm>
          <a:prstGeom prst="rect">
            <a:avLst/>
          </a:prstGeom>
          <a:noFill/>
          <a:ln>
            <a:noFill/>
          </a:ln>
          <a:extLst/>
        </p:spPr>
      </p:pic>
      <p:sp>
        <p:nvSpPr>
          <p:cNvPr id="3" name="Title 2"/>
          <p:cNvSpPr>
            <a:spLocks noGrp="1"/>
          </p:cNvSpPr>
          <p:nvPr>
            <p:ph type="ctrTitle"/>
          </p:nvPr>
        </p:nvSpPr>
        <p:spPr>
          <a:xfrm>
            <a:off x="359024" y="5546"/>
            <a:ext cx="8784976" cy="642167"/>
          </a:xfrm>
        </p:spPr>
        <p:txBody>
          <a:bodyPr anchor="ctr"/>
          <a:lstStyle/>
          <a:p>
            <a:pPr algn="r"/>
            <a:r>
              <a:rPr lang="en-GB" b="1" dirty="0" smtClean="0">
                <a:solidFill>
                  <a:schemeClr val="accent6">
                    <a:lumMod val="75000"/>
                  </a:schemeClr>
                </a:solidFill>
              </a:rPr>
              <a:t>Power</a:t>
            </a:r>
            <a:endParaRPr lang="en-GB" b="1" dirty="0">
              <a:solidFill>
                <a:schemeClr val="accent6">
                  <a:lumMod val="75000"/>
                </a:schemeClr>
              </a:solidFill>
            </a:endParaRPr>
          </a:p>
        </p:txBody>
      </p:sp>
      <p:sp>
        <p:nvSpPr>
          <p:cNvPr id="7" name="Rectangle 6"/>
          <p:cNvSpPr/>
          <p:nvPr/>
        </p:nvSpPr>
        <p:spPr>
          <a:xfrm>
            <a:off x="179511" y="3903523"/>
            <a:ext cx="8892520" cy="2880320"/>
          </a:xfrm>
          <a:prstGeom prst="rect">
            <a:avLst/>
          </a:prstGeom>
          <a:noFill/>
        </p:spPr>
        <p:style>
          <a:lnRef idx="2">
            <a:schemeClr val="accent6"/>
          </a:lnRef>
          <a:fillRef idx="1">
            <a:schemeClr val="lt1"/>
          </a:fillRef>
          <a:effectRef idx="0">
            <a:schemeClr val="accent6"/>
          </a:effectRef>
          <a:fontRef idx="minor">
            <a:schemeClr val="dk1"/>
          </a:fontRef>
        </p:style>
        <p:txBody>
          <a:bodyPr rtlCol="0" anchor="t"/>
          <a:lstStyle/>
          <a:p>
            <a:r>
              <a:rPr lang="en-US" sz="2000" dirty="0" smtClean="0"/>
              <a:t>Power can be calculated </a:t>
            </a:r>
            <a:r>
              <a:rPr lang="en-US" sz="2000" dirty="0"/>
              <a:t>using the </a:t>
            </a:r>
            <a:r>
              <a:rPr lang="en-US" sz="2000" dirty="0" smtClean="0"/>
              <a:t>following equation:</a:t>
            </a:r>
          </a:p>
          <a:p>
            <a:endParaRPr lang="en-US" sz="800" dirty="0"/>
          </a:p>
          <a:p>
            <a:pPr algn="ctr"/>
            <a:r>
              <a:rPr lang="en-GB" sz="2000" dirty="0">
                <a:solidFill>
                  <a:schemeClr val="tx1"/>
                </a:solidFill>
              </a:rPr>
              <a:t> </a:t>
            </a:r>
            <a:r>
              <a:rPr lang="en-GB" sz="2400" b="1" dirty="0" smtClean="0">
                <a:solidFill>
                  <a:schemeClr val="accent6">
                    <a:lumMod val="75000"/>
                  </a:schemeClr>
                </a:solidFill>
              </a:rPr>
              <a:t>Power (W) = </a:t>
            </a:r>
            <a:r>
              <a:rPr lang="en-GB" sz="2400" b="1" u="sng" dirty="0" smtClean="0">
                <a:solidFill>
                  <a:schemeClr val="accent6">
                    <a:lumMod val="75000"/>
                  </a:schemeClr>
                </a:solidFill>
              </a:rPr>
              <a:t>Energy transferred (J)</a:t>
            </a:r>
          </a:p>
          <a:p>
            <a:pPr algn="ctr"/>
            <a:endParaRPr lang="en-GB" sz="2000" b="1" i="1" u="sng" dirty="0">
              <a:solidFill>
                <a:schemeClr val="accent6">
                  <a:lumMod val="75000"/>
                </a:schemeClr>
              </a:solidFill>
            </a:endParaRPr>
          </a:p>
          <a:p>
            <a:r>
              <a:rPr lang="en-GB" sz="2000" b="1" i="1" dirty="0" smtClean="0">
                <a:solidFill>
                  <a:schemeClr val="accent6">
                    <a:lumMod val="75000"/>
                  </a:schemeClr>
                </a:solidFill>
              </a:rPr>
              <a:t>		</a:t>
            </a:r>
          </a:p>
          <a:p>
            <a:r>
              <a:rPr lang="en-GB" sz="2000" b="1" i="1" dirty="0">
                <a:solidFill>
                  <a:schemeClr val="accent6">
                    <a:lumMod val="75000"/>
                  </a:schemeClr>
                </a:solidFill>
              </a:rPr>
              <a:t>	</a:t>
            </a:r>
            <a:r>
              <a:rPr lang="en-GB" sz="2000" b="1" i="1" dirty="0" smtClean="0">
                <a:solidFill>
                  <a:schemeClr val="accent6">
                    <a:lumMod val="75000"/>
                  </a:schemeClr>
                </a:solidFill>
              </a:rPr>
              <a:t>	</a:t>
            </a:r>
            <a:r>
              <a:rPr lang="en-GB" sz="2400" b="1" i="1" dirty="0" smtClean="0">
                <a:solidFill>
                  <a:schemeClr val="accent6">
                    <a:lumMod val="75000"/>
                  </a:schemeClr>
                </a:solidFill>
              </a:rPr>
              <a:t>P = </a:t>
            </a:r>
            <a:r>
              <a:rPr lang="en-GB" sz="2400" b="1" i="1" u="sng" dirty="0" smtClean="0">
                <a:solidFill>
                  <a:schemeClr val="accent6">
                    <a:lumMod val="75000"/>
                  </a:schemeClr>
                </a:solidFill>
              </a:rPr>
              <a:t>E</a:t>
            </a:r>
          </a:p>
        </p:txBody>
      </p:sp>
      <p:sp>
        <p:nvSpPr>
          <p:cNvPr id="4" name="Rectangle 3"/>
          <p:cNvSpPr/>
          <p:nvPr/>
        </p:nvSpPr>
        <p:spPr>
          <a:xfrm>
            <a:off x="4106587" y="4797152"/>
            <a:ext cx="2160240" cy="288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dirty="0" smtClean="0">
                <a:solidFill>
                  <a:schemeClr val="accent6">
                    <a:lumMod val="75000"/>
                  </a:schemeClr>
                </a:solidFill>
              </a:rPr>
              <a:t>Time (s)</a:t>
            </a:r>
            <a:endParaRPr lang="en-GB" sz="2400" b="1" dirty="0">
              <a:solidFill>
                <a:schemeClr val="accent6">
                  <a:lumMod val="75000"/>
                </a:schemeClr>
              </a:solidFill>
            </a:endParaRPr>
          </a:p>
        </p:txBody>
      </p:sp>
      <p:sp>
        <p:nvSpPr>
          <p:cNvPr id="10" name="Rectangle 9"/>
          <p:cNvSpPr/>
          <p:nvPr/>
        </p:nvSpPr>
        <p:spPr>
          <a:xfrm>
            <a:off x="2297868" y="5661248"/>
            <a:ext cx="631439" cy="313777"/>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i="1" smtClean="0">
                <a:solidFill>
                  <a:schemeClr val="accent6">
                    <a:lumMod val="75000"/>
                  </a:schemeClr>
                </a:solidFill>
              </a:rPr>
              <a:t>t</a:t>
            </a:r>
            <a:endParaRPr lang="en-GB" sz="2400" b="1" i="1" dirty="0">
              <a:solidFill>
                <a:schemeClr val="accent6">
                  <a:lumMod val="75000"/>
                </a:schemeClr>
              </a:solidFill>
            </a:endParaRPr>
          </a:p>
        </p:txBody>
      </p:sp>
      <p:sp>
        <p:nvSpPr>
          <p:cNvPr id="5" name="Rectangle 4"/>
          <p:cNvSpPr/>
          <p:nvPr/>
        </p:nvSpPr>
        <p:spPr>
          <a:xfrm>
            <a:off x="2613587" y="5467193"/>
            <a:ext cx="4572000" cy="1015663"/>
          </a:xfrm>
          <a:prstGeom prst="rect">
            <a:avLst/>
          </a:prstGeom>
        </p:spPr>
        <p:txBody>
          <a:bodyPr>
            <a:spAutoFit/>
          </a:bodyPr>
          <a:lstStyle/>
          <a:p>
            <a:pPr algn="ctr"/>
            <a:r>
              <a:rPr lang="en-GB" sz="2000" b="1" dirty="0" smtClean="0">
                <a:solidFill>
                  <a:schemeClr val="accent6">
                    <a:lumMod val="75000"/>
                  </a:schemeClr>
                </a:solidFill>
              </a:rPr>
              <a:t>P= </a:t>
            </a:r>
            <a:r>
              <a:rPr lang="en-GB" sz="2000" b="1" dirty="0">
                <a:solidFill>
                  <a:schemeClr val="accent6">
                    <a:lumMod val="75000"/>
                  </a:schemeClr>
                </a:solidFill>
              </a:rPr>
              <a:t>2400 / 60  = 40 J/s</a:t>
            </a:r>
          </a:p>
          <a:p>
            <a:pPr algn="ctr"/>
            <a:endParaRPr lang="en-GB" sz="2000" dirty="0"/>
          </a:p>
          <a:p>
            <a:pPr algn="ctr"/>
            <a:r>
              <a:rPr lang="en-GB" sz="2000" dirty="0"/>
              <a:t>So this is a </a:t>
            </a:r>
            <a:r>
              <a:rPr lang="en-GB" sz="2000" b="1" dirty="0">
                <a:solidFill>
                  <a:schemeClr val="accent6">
                    <a:lumMod val="75000"/>
                  </a:schemeClr>
                </a:solidFill>
              </a:rPr>
              <a:t>40 Watt </a:t>
            </a:r>
            <a:r>
              <a:rPr lang="en-GB" sz="2000" dirty="0"/>
              <a:t>light bulb.</a:t>
            </a:r>
          </a:p>
        </p:txBody>
      </p:sp>
    </p:spTree>
    <p:extLst>
      <p:ext uri="{BB962C8B-B14F-4D97-AF65-F5344CB8AC3E}">
        <p14:creationId xmlns:p14="http://schemas.microsoft.com/office/powerpoint/2010/main" val="794197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xmlns="" id="{BDF22081-C0BF-464A-9790-F9DE8ECBC7B1}"/>
              </a:ext>
            </a:extLst>
          </p:cNvPr>
          <p:cNvSpPr>
            <a:spLocks noGrp="1"/>
          </p:cNvSpPr>
          <p:nvPr>
            <p:ph type="subTitle" idx="1"/>
          </p:nvPr>
        </p:nvSpPr>
        <p:spPr>
          <a:xfrm>
            <a:off x="117632" y="836711"/>
            <a:ext cx="8702840" cy="936105"/>
          </a:xfrm>
          <a:gradFill>
            <a:gsLst>
              <a:gs pos="0">
                <a:schemeClr val="accent6">
                  <a:tint val="50000"/>
                  <a:satMod val="300000"/>
                </a:schemeClr>
              </a:gs>
              <a:gs pos="35000">
                <a:schemeClr val="accent6">
                  <a:tint val="37000"/>
                  <a:satMod val="300000"/>
                </a:schemeClr>
              </a:gs>
              <a:gs pos="100000">
                <a:schemeClr val="accent6">
                  <a:tint val="15000"/>
                  <a:satMod val="350000"/>
                </a:schemeClr>
              </a:gs>
            </a:gsLst>
            <a:lin ang="16200000" scaled="1"/>
          </a:gradFill>
          <a:ln w="12700">
            <a:solidFill>
              <a:schemeClr val="accent6"/>
            </a:solidFill>
          </a:ln>
        </p:spPr>
        <p:txBody>
          <a:bodyPr>
            <a:normAutofit lnSpcReduction="10000"/>
          </a:bodyPr>
          <a:lstStyle/>
          <a:p>
            <a:pPr algn="l"/>
            <a:r>
              <a:rPr lang="en-GB" sz="2600" b="1" dirty="0">
                <a:solidFill>
                  <a:schemeClr val="tx1"/>
                </a:solidFill>
                <a:latin typeface="+mn-lt"/>
              </a:rPr>
              <a:t>Power</a:t>
            </a:r>
            <a:r>
              <a:rPr lang="en-GB" sz="2600" dirty="0">
                <a:solidFill>
                  <a:schemeClr val="tx1"/>
                </a:solidFill>
                <a:latin typeface="+mn-lt"/>
              </a:rPr>
              <a:t>  - the rate at which energy is transferred</a:t>
            </a:r>
          </a:p>
          <a:p>
            <a:pPr algn="l"/>
            <a:r>
              <a:rPr lang="en-GB" sz="2600" dirty="0">
                <a:solidFill>
                  <a:schemeClr val="tx1"/>
                </a:solidFill>
                <a:latin typeface="+mn-lt"/>
              </a:rPr>
              <a:t>                the rate at which work is done     </a:t>
            </a:r>
            <a:r>
              <a:rPr lang="en-GB" sz="1800" dirty="0">
                <a:solidFill>
                  <a:schemeClr val="tx1"/>
                </a:solidFill>
                <a:latin typeface="+mn-lt"/>
              </a:rPr>
              <a:t>(rate means “how quickly”)</a:t>
            </a:r>
          </a:p>
          <a:p>
            <a:pPr algn="l"/>
            <a:endParaRPr lang="en-GB" sz="1800" dirty="0">
              <a:solidFill>
                <a:schemeClr val="tx1"/>
              </a:solidFill>
              <a:latin typeface="+mn-lt"/>
            </a:endParaRPr>
          </a:p>
          <a:p>
            <a:pPr algn="l"/>
            <a:endParaRPr lang="en-GB" sz="1800" dirty="0">
              <a:solidFill>
                <a:schemeClr val="tx1"/>
              </a:solidFill>
              <a:latin typeface="+mn-lt"/>
            </a:endParaRPr>
          </a:p>
        </p:txBody>
      </p:sp>
      <p:sp>
        <p:nvSpPr>
          <p:cNvPr id="9" name="TextBox 8">
            <a:extLst>
              <a:ext uri="{FF2B5EF4-FFF2-40B4-BE49-F238E27FC236}">
                <a16:creationId xmlns:a16="http://schemas.microsoft.com/office/drawing/2014/main" xmlns="" id="{7D76D768-01C6-4EE7-882D-D32BB62500E8}"/>
              </a:ext>
            </a:extLst>
          </p:cNvPr>
          <p:cNvSpPr txBox="1"/>
          <p:nvPr/>
        </p:nvSpPr>
        <p:spPr>
          <a:xfrm>
            <a:off x="117632" y="1840756"/>
            <a:ext cx="8671391" cy="4493538"/>
          </a:xfrm>
          <a:prstGeom prst="rect">
            <a:avLst/>
          </a:prstGeom>
          <a:noFill/>
          <a:ln w="12700">
            <a:solidFill>
              <a:schemeClr val="accent6"/>
            </a:solidFill>
          </a:ln>
        </p:spPr>
        <p:txBody>
          <a:bodyPr wrap="square" rtlCol="0">
            <a:spAutoFit/>
          </a:bodyPr>
          <a:lstStyle/>
          <a:p>
            <a:r>
              <a:rPr lang="en-GB" sz="2400" b="1" dirty="0"/>
              <a:t>Mechanical power</a:t>
            </a:r>
          </a:p>
          <a:p>
            <a:endParaRPr lang="en-GB" b="1" dirty="0"/>
          </a:p>
          <a:p>
            <a:endParaRPr lang="en-GB" b="1" dirty="0"/>
          </a:p>
          <a:p>
            <a:endParaRPr lang="en-GB" b="1" dirty="0"/>
          </a:p>
          <a:p>
            <a:r>
              <a:rPr lang="en-GB" dirty="0"/>
              <a:t>    </a:t>
            </a:r>
            <a:r>
              <a:rPr lang="en-GB" sz="2400" b="1" dirty="0">
                <a:solidFill>
                  <a:schemeClr val="accent6">
                    <a:lumMod val="75000"/>
                  </a:schemeClr>
                </a:solidFill>
              </a:rPr>
              <a:t>Power = work done / time</a:t>
            </a:r>
          </a:p>
          <a:p>
            <a:endParaRPr lang="en-GB" sz="1200" b="1" dirty="0">
              <a:solidFill>
                <a:schemeClr val="accent6">
                  <a:lumMod val="75000"/>
                </a:schemeClr>
              </a:solidFill>
            </a:endParaRPr>
          </a:p>
          <a:p>
            <a:endParaRPr lang="en-GB" sz="1200" b="1" dirty="0">
              <a:solidFill>
                <a:schemeClr val="accent6">
                  <a:lumMod val="75000"/>
                </a:schemeClr>
              </a:solidFill>
            </a:endParaRPr>
          </a:p>
          <a:p>
            <a:r>
              <a:rPr lang="en-GB" b="1" dirty="0">
                <a:solidFill>
                  <a:schemeClr val="accent6">
                    <a:lumMod val="75000"/>
                  </a:schemeClr>
                </a:solidFill>
              </a:rPr>
              <a:t>    </a:t>
            </a:r>
            <a:endParaRPr lang="en-GB" sz="900" b="1" dirty="0">
              <a:solidFill>
                <a:schemeClr val="accent6">
                  <a:lumMod val="75000"/>
                </a:schemeClr>
              </a:solidFill>
            </a:endParaRPr>
          </a:p>
          <a:p>
            <a:endParaRPr lang="en-GB" sz="1000" b="1" dirty="0">
              <a:solidFill>
                <a:schemeClr val="accent6">
                  <a:lumMod val="75000"/>
                </a:schemeClr>
              </a:solidFill>
            </a:endParaRPr>
          </a:p>
          <a:p>
            <a:r>
              <a:rPr lang="en-GB" sz="2000" dirty="0"/>
              <a:t>The crane lifts the 2000 kg container through a height of 5.4m in 30s.</a:t>
            </a:r>
          </a:p>
          <a:p>
            <a:r>
              <a:rPr lang="en-GB" sz="2000" dirty="0"/>
              <a:t>The power of the crane is:</a:t>
            </a:r>
          </a:p>
          <a:p>
            <a:r>
              <a:rPr lang="en-GB" sz="2000" b="1" dirty="0">
                <a:solidFill>
                  <a:schemeClr val="accent6">
                    <a:lumMod val="75000"/>
                  </a:schemeClr>
                </a:solidFill>
              </a:rPr>
              <a:t>Power = Work / time                                But: Work  = force x distance   </a:t>
            </a:r>
          </a:p>
          <a:p>
            <a:r>
              <a:rPr lang="en-GB" sz="2000" dirty="0"/>
              <a:t>                                                                                           =  20 000 N x 5.4 m  = 108 000 J</a:t>
            </a:r>
          </a:p>
          <a:p>
            <a:r>
              <a:rPr lang="en-GB" sz="2000" dirty="0"/>
              <a:t>Power = 108 000 J / 30 s</a:t>
            </a:r>
          </a:p>
          <a:p>
            <a:endParaRPr lang="en-GB" sz="1200" dirty="0"/>
          </a:p>
          <a:p>
            <a:r>
              <a:rPr lang="en-GB" sz="2000" dirty="0"/>
              <a:t>The Power of the crane is 3600 J/s       or 3600 Watts</a:t>
            </a:r>
            <a:endParaRPr lang="en-GB" dirty="0"/>
          </a:p>
        </p:txBody>
      </p:sp>
      <p:pic>
        <p:nvPicPr>
          <p:cNvPr id="4" name="Picture 3">
            <a:extLst>
              <a:ext uri="{FF2B5EF4-FFF2-40B4-BE49-F238E27FC236}">
                <a16:creationId xmlns:a16="http://schemas.microsoft.com/office/drawing/2014/main" xmlns="" id="{9BC92D32-D512-454C-B3F9-8D0D9CD2B2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4048" y="1916830"/>
            <a:ext cx="3802072" cy="1901038"/>
          </a:xfrm>
          <a:prstGeom prst="rect">
            <a:avLst/>
          </a:prstGeom>
        </p:spPr>
      </p:pic>
      <p:sp>
        <p:nvSpPr>
          <p:cNvPr id="7" name="Title 2"/>
          <p:cNvSpPr>
            <a:spLocks noGrp="1"/>
          </p:cNvSpPr>
          <p:nvPr>
            <p:ph type="ctrTitle"/>
          </p:nvPr>
        </p:nvSpPr>
        <p:spPr>
          <a:xfrm>
            <a:off x="359024" y="5546"/>
            <a:ext cx="8784976" cy="642167"/>
          </a:xfrm>
        </p:spPr>
        <p:txBody>
          <a:bodyPr anchor="ctr"/>
          <a:lstStyle/>
          <a:p>
            <a:pPr algn="r"/>
            <a:r>
              <a:rPr lang="en-GB" b="1" dirty="0" smtClean="0">
                <a:solidFill>
                  <a:schemeClr val="accent6">
                    <a:lumMod val="75000"/>
                  </a:schemeClr>
                </a:solidFill>
              </a:rPr>
              <a:t>Power</a:t>
            </a:r>
            <a:endParaRPr lang="en-GB" b="1" dirty="0">
              <a:solidFill>
                <a:schemeClr val="accent6">
                  <a:lumMod val="75000"/>
                </a:schemeClr>
              </a:solidFill>
            </a:endParaRPr>
          </a:p>
        </p:txBody>
      </p:sp>
    </p:spTree>
    <p:extLst>
      <p:ext uri="{BB962C8B-B14F-4D97-AF65-F5344CB8AC3E}">
        <p14:creationId xmlns:p14="http://schemas.microsoft.com/office/powerpoint/2010/main" val="2040775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70646"/>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r>
              <a:rPr lang="en-GB" sz="3600" b="1" dirty="0">
                <a:solidFill>
                  <a:schemeClr val="tx1">
                    <a:lumMod val="50000"/>
                    <a:lumOff val="50000"/>
                  </a:schemeClr>
                </a:solidFill>
              </a:rPr>
              <a:t>Energy changes and energy stores </a:t>
            </a:r>
          </a:p>
          <a:p>
            <a:r>
              <a:rPr lang="en-GB" sz="3600" b="1" dirty="0">
                <a:solidFill>
                  <a:schemeClr val="tx1">
                    <a:lumMod val="50000"/>
                    <a:lumOff val="50000"/>
                  </a:schemeClr>
                </a:solidFill>
              </a:rPr>
              <a:t>Part 2 </a:t>
            </a:r>
          </a:p>
          <a:p>
            <a:endParaRPr lang="en-GB" sz="3600" b="1" dirty="0">
              <a:solidFill>
                <a:schemeClr val="tx1">
                  <a:lumMod val="50000"/>
                  <a:lumOff val="50000"/>
                </a:schemeClr>
              </a:solidFill>
            </a:endParaRPr>
          </a:p>
          <a:p>
            <a:pPr marL="457200" indent="-457200">
              <a:buFont typeface="Arial" charset="0"/>
              <a:buChar char="•"/>
            </a:pPr>
            <a:r>
              <a:rPr lang="en-US" sz="2400" b="1" dirty="0">
                <a:solidFill>
                  <a:schemeClr val="tx1">
                    <a:lumMod val="50000"/>
                    <a:lumOff val="50000"/>
                  </a:schemeClr>
                </a:solidFill>
              </a:rPr>
              <a:t>Energy changes in systems</a:t>
            </a:r>
          </a:p>
          <a:p>
            <a:pPr marL="457200" indent="-457200">
              <a:lnSpc>
                <a:spcPct val="150000"/>
              </a:lnSpc>
              <a:buFont typeface="Arial" charset="0"/>
              <a:buChar char="•"/>
            </a:pPr>
            <a:r>
              <a:rPr lang="en-GB" sz="2400" b="1" dirty="0">
                <a:solidFill>
                  <a:schemeClr val="tx1">
                    <a:lumMod val="50000"/>
                    <a:lumOff val="50000"/>
                  </a:schemeClr>
                </a:solidFill>
              </a:rPr>
              <a:t>Power</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149587" y="802524"/>
            <a:ext cx="4914900" cy="5638800"/>
          </a:xfrm>
          <a:prstGeom prst="rect">
            <a:avLst/>
          </a:prstGeom>
        </p:spPr>
      </p:pic>
    </p:spTree>
    <p:extLst>
      <p:ext uri="{BB962C8B-B14F-4D97-AF65-F5344CB8AC3E}">
        <p14:creationId xmlns:p14="http://schemas.microsoft.com/office/powerpoint/2010/main" val="15447526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33832"/>
            <a:ext cx="8316415"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5501506"/>
          </a:xfrm>
          <a:prstGeom prst="rect">
            <a:avLst/>
          </a:prstGeom>
          <a:noFill/>
        </p:spPr>
        <p:txBody>
          <a:bodyPr wrap="square" rtlCol="0">
            <a:spAutoFit/>
          </a:bodyPr>
          <a:lstStyle/>
          <a:p>
            <a:pPr marL="457200" indent="-457200">
              <a:lnSpc>
                <a:spcPct val="150000"/>
              </a:lnSpc>
              <a:buAutoNum type="arabicPeriod"/>
            </a:pPr>
            <a:r>
              <a:rPr lang="en-GB" sz="2300" dirty="0"/>
              <a:t>The specific heat capacity of a substance </a:t>
            </a:r>
            <a:r>
              <a:rPr lang="en-GB" sz="2300" dirty="0" smtClean="0"/>
              <a:t>is</a:t>
            </a:r>
            <a:r>
              <a:rPr lang="is-IS" sz="2300" dirty="0" smtClean="0"/>
              <a:t>…......</a:t>
            </a:r>
            <a:endParaRPr lang="en-GB" sz="2300" dirty="0"/>
          </a:p>
          <a:p>
            <a:pPr marL="914400" lvl="1" indent="-457200">
              <a:buFont typeface="+mj-lt"/>
              <a:buAutoNum type="alphaUcPeriod"/>
            </a:pPr>
            <a:r>
              <a:rPr lang="en-GB" sz="2300" dirty="0" smtClean="0"/>
              <a:t>the </a:t>
            </a:r>
            <a:r>
              <a:rPr lang="en-GB" sz="2300" dirty="0"/>
              <a:t>ability of a 1 kg object to store transferred energy</a:t>
            </a:r>
          </a:p>
          <a:p>
            <a:pPr marL="914400" lvl="1" indent="-457200">
              <a:buFont typeface="+mj-lt"/>
              <a:buAutoNum type="alphaUcPeriod"/>
            </a:pPr>
            <a:r>
              <a:rPr lang="en-GB" sz="2300" dirty="0" smtClean="0"/>
              <a:t>the </a:t>
            </a:r>
            <a:r>
              <a:rPr lang="en-GB" sz="2300" dirty="0"/>
              <a:t>total amount of stored energy in an object</a:t>
            </a:r>
          </a:p>
          <a:p>
            <a:pPr marL="914400" lvl="1" indent="-457200">
              <a:buFont typeface="+mj-lt"/>
              <a:buAutoNum type="alphaUcPeriod"/>
            </a:pPr>
            <a:r>
              <a:rPr lang="en-GB" sz="2300" dirty="0" smtClean="0"/>
              <a:t>the  </a:t>
            </a:r>
            <a:r>
              <a:rPr lang="en-GB" sz="2300" dirty="0"/>
              <a:t>energy needed to raise the temperature of 1 kg of a </a:t>
            </a:r>
            <a:r>
              <a:rPr lang="en-GB" sz="2300" dirty="0" smtClean="0"/>
              <a:t>substance </a:t>
            </a:r>
            <a:r>
              <a:rPr lang="en-GB" sz="2300" dirty="0"/>
              <a:t>by 1 </a:t>
            </a:r>
            <a:r>
              <a:rPr lang="en-GB" sz="2300" b="1" baseline="30000" dirty="0" smtClean="0"/>
              <a:t>o</a:t>
            </a:r>
            <a:r>
              <a:rPr lang="en-GB" sz="2300" dirty="0" smtClean="0"/>
              <a:t>C.</a:t>
            </a:r>
            <a:endParaRPr lang="en-GB" sz="2300" dirty="0"/>
          </a:p>
          <a:p>
            <a:endParaRPr lang="en-GB" dirty="0"/>
          </a:p>
          <a:p>
            <a:pPr marL="457200" indent="-457200">
              <a:buAutoNum type="arabicPeriod" startAt="2"/>
            </a:pPr>
            <a:r>
              <a:rPr lang="en-GB" sz="2300" dirty="0"/>
              <a:t>When a bowl of water and a stone are left in hot sunshine, the stone feels much hotter than the water. Which one has the highest specific heat capacity?  Explain your answer.</a:t>
            </a:r>
          </a:p>
          <a:p>
            <a:pPr>
              <a:lnSpc>
                <a:spcPct val="150000"/>
              </a:lnSpc>
            </a:pPr>
            <a:r>
              <a:rPr lang="en-GB" sz="2300" dirty="0"/>
              <a:t>        </a:t>
            </a:r>
            <a:endParaRPr lang="en-GB" sz="2300" b="1" dirty="0">
              <a:solidFill>
                <a:srgbClr val="00B050"/>
              </a:solidFill>
            </a:endParaRPr>
          </a:p>
          <a:p>
            <a:pPr>
              <a:lnSpc>
                <a:spcPct val="150000"/>
              </a:lnSpc>
            </a:pPr>
            <a:endParaRPr lang="en-GB" sz="2300" b="1" dirty="0">
              <a:solidFill>
                <a:srgbClr val="00B050"/>
              </a:solidFill>
            </a:endParaRPr>
          </a:p>
          <a:p>
            <a:pPr>
              <a:lnSpc>
                <a:spcPct val="150000"/>
              </a:lnSpc>
            </a:pPr>
            <a:r>
              <a:rPr lang="en-GB" sz="2300" dirty="0"/>
              <a:t>3. Give two alternative units of power?</a:t>
            </a:r>
          </a:p>
          <a:p>
            <a:pPr>
              <a:lnSpc>
                <a:spcPct val="150000"/>
              </a:lnSpc>
            </a:pPr>
            <a:r>
              <a:rPr lang="en-GB" sz="2300" b="1" dirty="0">
                <a:solidFill>
                  <a:srgbClr val="00B050"/>
                </a:solidFill>
              </a:rPr>
              <a:t>        </a:t>
            </a:r>
            <a:endParaRPr lang="en-GB" sz="2300" dirty="0"/>
          </a:p>
        </p:txBody>
      </p:sp>
    </p:spTree>
    <p:extLst>
      <p:ext uri="{BB962C8B-B14F-4D97-AF65-F5344CB8AC3E}">
        <p14:creationId xmlns:p14="http://schemas.microsoft.com/office/powerpoint/2010/main" val="998161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3832"/>
            <a:ext cx="8388423"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3" name="Rectangle 2">
            <a:extLst>
              <a:ext uri="{FF2B5EF4-FFF2-40B4-BE49-F238E27FC236}">
                <a16:creationId xmlns:a16="http://schemas.microsoft.com/office/drawing/2014/main" xmlns="" id="{0DDBBCAE-4555-4E2C-8436-D1411A4D0918}"/>
              </a:ext>
            </a:extLst>
          </p:cNvPr>
          <p:cNvSpPr/>
          <p:nvPr/>
        </p:nvSpPr>
        <p:spPr>
          <a:xfrm>
            <a:off x="149087" y="802524"/>
            <a:ext cx="8599377" cy="5693866"/>
          </a:xfrm>
          <a:prstGeom prst="rect">
            <a:avLst/>
          </a:prstGeom>
        </p:spPr>
        <p:txBody>
          <a:bodyPr wrap="square">
            <a:spAutoFit/>
          </a:bodyPr>
          <a:lstStyle/>
          <a:p>
            <a:r>
              <a:rPr lang="en-GB" sz="2400" dirty="0"/>
              <a:t>4.  A blowtorch burns butane gas to heat metal pipes.</a:t>
            </a:r>
          </a:p>
          <a:p>
            <a:r>
              <a:rPr lang="en-GB" sz="2400" dirty="0"/>
              <a:t>   a. Describe the energy transfers which occur as it is used. </a:t>
            </a:r>
          </a:p>
          <a:p>
            <a:pPr>
              <a:lnSpc>
                <a:spcPct val="150000"/>
              </a:lnSpc>
            </a:pPr>
            <a:r>
              <a:rPr lang="en-GB" sz="2400" b="1" dirty="0">
                <a:solidFill>
                  <a:srgbClr val="00B050"/>
                </a:solidFill>
              </a:rPr>
              <a:t>        </a:t>
            </a:r>
            <a:r>
              <a:rPr lang="en-GB" sz="2400" b="1" u="sng" dirty="0">
                <a:solidFill>
                  <a:srgbClr val="00B050"/>
                </a:solidFill>
              </a:rPr>
              <a:t>    		         </a:t>
            </a:r>
            <a:r>
              <a:rPr lang="en-GB" sz="2400" b="1" dirty="0">
                <a:solidFill>
                  <a:srgbClr val="00B050"/>
                </a:solidFill>
              </a:rPr>
              <a:t> </a:t>
            </a:r>
            <a:r>
              <a:rPr lang="en-GB" sz="2400" dirty="0"/>
              <a:t>energy is transferred into</a:t>
            </a:r>
          </a:p>
          <a:p>
            <a:r>
              <a:rPr lang="en-GB" sz="2400" dirty="0"/>
              <a:t>        </a:t>
            </a:r>
            <a:r>
              <a:rPr lang="en-GB" sz="2400" u="sng" dirty="0">
                <a:solidFill>
                  <a:srgbClr val="00B050"/>
                </a:solidFill>
              </a:rPr>
              <a:t>                            </a:t>
            </a:r>
            <a:r>
              <a:rPr lang="en-GB" sz="2400" dirty="0"/>
              <a:t> energy usefully and     </a:t>
            </a:r>
            <a:r>
              <a:rPr lang="en-GB" sz="2400" b="1" dirty="0">
                <a:solidFill>
                  <a:srgbClr val="00B050"/>
                </a:solidFill>
              </a:rPr>
              <a:t>	</a:t>
            </a:r>
            <a:endParaRPr lang="en-GB" sz="2400" dirty="0"/>
          </a:p>
          <a:p>
            <a:r>
              <a:rPr lang="en-GB" sz="2400" dirty="0"/>
              <a:t>        </a:t>
            </a:r>
            <a:r>
              <a:rPr lang="en-GB" sz="2400" u="sng" dirty="0">
                <a:solidFill>
                  <a:srgbClr val="00B050"/>
                </a:solidFill>
              </a:rPr>
              <a:t>                            </a:t>
            </a:r>
            <a:r>
              <a:rPr lang="en-GB" sz="2400" dirty="0"/>
              <a:t> energy is wasted. </a:t>
            </a:r>
          </a:p>
          <a:p>
            <a:endParaRPr lang="en-GB" sz="1600" dirty="0"/>
          </a:p>
          <a:p>
            <a:r>
              <a:rPr lang="en-GB" sz="2400" dirty="0"/>
              <a:t>    b. Explain how some of the transferred energy</a:t>
            </a:r>
          </a:p>
          <a:p>
            <a:r>
              <a:rPr lang="en-GB" sz="2400" dirty="0"/>
              <a:t>         is wasted.</a:t>
            </a:r>
          </a:p>
          <a:p>
            <a:r>
              <a:rPr lang="en-GB" sz="2400" dirty="0"/>
              <a:t>         </a:t>
            </a:r>
            <a:r>
              <a:rPr lang="en-GB" sz="2400" b="1" dirty="0">
                <a:solidFill>
                  <a:srgbClr val="00B050"/>
                </a:solidFill>
              </a:rPr>
              <a:t> </a:t>
            </a:r>
          </a:p>
          <a:p>
            <a:endParaRPr lang="en-GB" sz="2400" dirty="0"/>
          </a:p>
          <a:p>
            <a:r>
              <a:rPr lang="en-GB" sz="2400" dirty="0"/>
              <a:t>    c. The blowtorch transfers 2 kJ of energy in 4 mins. Work out the</a:t>
            </a:r>
          </a:p>
          <a:p>
            <a:r>
              <a:rPr lang="en-GB" sz="2400" dirty="0"/>
              <a:t>        power of the blowtorch?</a:t>
            </a:r>
          </a:p>
          <a:p>
            <a:endParaRPr lang="en-GB" sz="2400" b="1" dirty="0">
              <a:solidFill>
                <a:srgbClr val="00B050"/>
              </a:solidFill>
            </a:endParaRPr>
          </a:p>
          <a:p>
            <a:r>
              <a:rPr lang="en-GB" sz="2400" b="1" dirty="0">
                <a:solidFill>
                  <a:srgbClr val="00B050"/>
                </a:solidFill>
              </a:rPr>
              <a:t>	</a:t>
            </a:r>
          </a:p>
          <a:p>
            <a:endParaRPr lang="en-GB" sz="2400" dirty="0"/>
          </a:p>
        </p:txBody>
      </p:sp>
      <p:pic>
        <p:nvPicPr>
          <p:cNvPr id="5" name="Picture 4">
            <a:extLst>
              <a:ext uri="{FF2B5EF4-FFF2-40B4-BE49-F238E27FC236}">
                <a16:creationId xmlns:a16="http://schemas.microsoft.com/office/drawing/2014/main" xmlns="" id="{BFA1F852-8438-4D94-BAEA-82283E98D073}"/>
              </a:ext>
            </a:extLst>
          </p:cNvPr>
          <p:cNvPicPr>
            <a:picLocks noChangeAspect="1"/>
          </p:cNvPicPr>
          <p:nvPr/>
        </p:nvPicPr>
        <p:blipFill>
          <a:blip r:embed="rId3"/>
          <a:stretch>
            <a:fillRect/>
          </a:stretch>
        </p:blipFill>
        <p:spPr>
          <a:xfrm>
            <a:off x="6436405" y="1556792"/>
            <a:ext cx="2304256" cy="2736304"/>
          </a:xfrm>
          <a:prstGeom prst="rect">
            <a:avLst/>
          </a:prstGeom>
        </p:spPr>
      </p:pic>
    </p:spTree>
    <p:extLst>
      <p:ext uri="{BB962C8B-B14F-4D97-AF65-F5344CB8AC3E}">
        <p14:creationId xmlns:p14="http://schemas.microsoft.com/office/powerpoint/2010/main" val="21127739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386090"/>
          </a:xfrm>
          <a:prstGeom prst="rect">
            <a:avLst/>
          </a:prstGeom>
          <a:noFill/>
        </p:spPr>
        <p:txBody>
          <a:bodyPr wrap="square" rtlCol="0">
            <a:spAutoFit/>
          </a:bodyPr>
          <a:lstStyle/>
          <a:p>
            <a:pPr>
              <a:lnSpc>
                <a:spcPct val="150000"/>
              </a:lnSpc>
            </a:pPr>
            <a:r>
              <a:rPr lang="en-GB" sz="2400" dirty="0"/>
              <a:t>5. </a:t>
            </a:r>
            <a:r>
              <a:rPr lang="en-US" sz="2400" dirty="0"/>
              <a:t>Two cranes are lifting the same load of 120 kg to a height of 15 m.</a:t>
            </a:r>
          </a:p>
          <a:p>
            <a:pPr>
              <a:lnSpc>
                <a:spcPct val="150000"/>
              </a:lnSpc>
            </a:pPr>
            <a:endParaRPr lang="en-US" dirty="0"/>
          </a:p>
          <a:p>
            <a:pPr>
              <a:lnSpc>
                <a:spcPct val="150000"/>
              </a:lnSpc>
            </a:pPr>
            <a:r>
              <a:rPr lang="en-US" dirty="0"/>
              <a:t>                   Crane A</a:t>
            </a:r>
          </a:p>
          <a:p>
            <a:pPr>
              <a:lnSpc>
                <a:spcPct val="150000"/>
              </a:lnSpc>
            </a:pPr>
            <a:r>
              <a:rPr lang="en-US" dirty="0"/>
              <a:t>							Crane B</a:t>
            </a:r>
          </a:p>
          <a:p>
            <a:pPr>
              <a:lnSpc>
                <a:spcPct val="150000"/>
              </a:lnSpc>
            </a:pPr>
            <a:endParaRPr lang="en-US" dirty="0"/>
          </a:p>
          <a:p>
            <a:r>
              <a:rPr lang="en-GB" sz="2400" dirty="0"/>
              <a:t>     </a:t>
            </a:r>
            <a:r>
              <a:rPr lang="en-US" sz="2400" dirty="0"/>
              <a:t>Crane A takes 30 s</a:t>
            </a:r>
            <a:r>
              <a:rPr lang="en-GB" sz="2400" dirty="0"/>
              <a:t> </a:t>
            </a:r>
            <a:r>
              <a:rPr lang="en-US" sz="2400" dirty="0"/>
              <a:t>to lift the load. Crane B lifts the same load in 9 s. </a:t>
            </a:r>
            <a:r>
              <a:rPr lang="en-GB" sz="2400" dirty="0"/>
              <a:t> </a:t>
            </a:r>
          </a:p>
          <a:p>
            <a:r>
              <a:rPr lang="en-GB" sz="2400" dirty="0"/>
              <a:t> </a:t>
            </a:r>
            <a:endParaRPr lang="en-US" sz="1600" dirty="0"/>
          </a:p>
          <a:p>
            <a:r>
              <a:rPr lang="en-US" sz="2400" dirty="0"/>
              <a:t>     Calculate the </a:t>
            </a:r>
            <a:r>
              <a:rPr lang="en-US" sz="2400" b="1" dirty="0">
                <a:solidFill>
                  <a:schemeClr val="accent6">
                    <a:lumMod val="75000"/>
                  </a:schemeClr>
                </a:solidFill>
              </a:rPr>
              <a:t>difference in power </a:t>
            </a:r>
            <a:r>
              <a:rPr lang="en-US" sz="2400" dirty="0"/>
              <a:t>of the two cranes.</a:t>
            </a:r>
            <a:endParaRPr lang="en-GB" sz="2400" dirty="0"/>
          </a:p>
          <a:p>
            <a:endParaRPr lang="en-US" sz="1600" dirty="0"/>
          </a:p>
          <a:p>
            <a:r>
              <a:rPr lang="en-US" sz="1600" dirty="0"/>
              <a:t>             </a:t>
            </a:r>
            <a:endParaRPr lang="en-US" sz="2400" b="1" dirty="0">
              <a:solidFill>
                <a:srgbClr val="00B050"/>
              </a:solidFill>
            </a:endParaRPr>
          </a:p>
          <a:p>
            <a:endParaRPr lang="en-US" sz="2400" b="1" dirty="0">
              <a:solidFill>
                <a:srgbClr val="00B050"/>
              </a:solidFill>
            </a:endParaRPr>
          </a:p>
          <a:p>
            <a:endParaRPr lang="en-US" sz="2400" b="1" dirty="0">
              <a:solidFill>
                <a:srgbClr val="00B050"/>
              </a:solidFill>
            </a:endParaRPr>
          </a:p>
          <a:p>
            <a:endParaRPr lang="en-US" sz="2400" b="1" dirty="0">
              <a:solidFill>
                <a:srgbClr val="00B050"/>
              </a:solidFill>
            </a:endParaRPr>
          </a:p>
          <a:p>
            <a:r>
              <a:rPr lang="en-US" sz="2400" b="1" dirty="0">
                <a:solidFill>
                  <a:srgbClr val="00B050"/>
                </a:solidFill>
              </a:rPr>
              <a:t>	</a:t>
            </a:r>
            <a:endParaRPr lang="en-GB" sz="2400" b="1" dirty="0">
              <a:solidFill>
                <a:srgbClr val="00B050"/>
              </a:solidFill>
            </a:endParaRPr>
          </a:p>
        </p:txBody>
      </p:sp>
      <p:pic>
        <p:nvPicPr>
          <p:cNvPr id="7" name="Picture 6" descr="Image result for Crane Clip Art">
            <a:extLst>
              <a:ext uri="{FF2B5EF4-FFF2-40B4-BE49-F238E27FC236}">
                <a16:creationId xmlns:a16="http://schemas.microsoft.com/office/drawing/2014/main" xmlns="" id="{3695C8D9-624A-4BB0-AEC9-2B2FD2CBF182}"/>
              </a:ext>
            </a:extLst>
          </p:cNvPr>
          <p:cNvPicPr/>
          <p:nvPr/>
        </p:nvPicPr>
        <p:blipFill>
          <a:blip r:embed="rId3" cstate="print"/>
          <a:srcRect/>
          <a:stretch>
            <a:fillRect/>
          </a:stretch>
        </p:blipFill>
        <p:spPr bwMode="auto">
          <a:xfrm>
            <a:off x="2123728" y="1412776"/>
            <a:ext cx="1028700" cy="1038225"/>
          </a:xfrm>
          <a:prstGeom prst="rect">
            <a:avLst/>
          </a:prstGeom>
          <a:noFill/>
          <a:ln w="9525">
            <a:noFill/>
            <a:miter lim="800000"/>
            <a:headEnd/>
            <a:tailEnd/>
          </a:ln>
        </p:spPr>
      </p:pic>
      <p:pic>
        <p:nvPicPr>
          <p:cNvPr id="8" name="Picture 7" descr="Image result for Crane Clip Art">
            <a:extLst>
              <a:ext uri="{FF2B5EF4-FFF2-40B4-BE49-F238E27FC236}">
                <a16:creationId xmlns:a16="http://schemas.microsoft.com/office/drawing/2014/main" xmlns="" id="{08E3668B-D390-4963-A678-8F4584E0EF79}"/>
              </a:ext>
            </a:extLst>
          </p:cNvPr>
          <p:cNvPicPr/>
          <p:nvPr/>
        </p:nvPicPr>
        <p:blipFill>
          <a:blip r:embed="rId4" cstate="print"/>
          <a:srcRect/>
          <a:stretch>
            <a:fillRect/>
          </a:stretch>
        </p:blipFill>
        <p:spPr bwMode="auto">
          <a:xfrm>
            <a:off x="5220072" y="1556792"/>
            <a:ext cx="1314450" cy="1323975"/>
          </a:xfrm>
          <a:prstGeom prst="rect">
            <a:avLst/>
          </a:prstGeom>
          <a:noFill/>
          <a:ln w="9525">
            <a:noFill/>
            <a:miter lim="800000"/>
            <a:headEnd/>
            <a:tailEnd/>
          </a:ln>
          <a:scene3d>
            <a:camera prst="orthographicFront">
              <a:rot lat="0" lon="8700000" rev="0"/>
            </a:camera>
            <a:lightRig rig="threePt" dir="t"/>
          </a:scene3d>
        </p:spPr>
      </p:pic>
    </p:spTree>
    <p:extLst>
      <p:ext uri="{BB962C8B-B14F-4D97-AF65-F5344CB8AC3E}">
        <p14:creationId xmlns:p14="http://schemas.microsoft.com/office/powerpoint/2010/main" val="20720229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0" y="657041"/>
            <a:ext cx="9144000" cy="6678751"/>
          </a:xfrm>
          <a:prstGeom prst="rect">
            <a:avLst/>
          </a:prstGeom>
          <a:noFill/>
        </p:spPr>
        <p:txBody>
          <a:bodyPr wrap="square" rtlCol="0">
            <a:spAutoFit/>
          </a:bodyPr>
          <a:lstStyle/>
          <a:p>
            <a:r>
              <a:rPr lang="en-GB" sz="2400" dirty="0"/>
              <a:t>6.    Storage heaters contain bricks which </a:t>
            </a:r>
          </a:p>
          <a:p>
            <a:r>
              <a:rPr lang="en-GB" sz="2400" dirty="0"/>
              <a:t>       warm up and </a:t>
            </a:r>
            <a:r>
              <a:rPr lang="en-GB" sz="2400" b="1" dirty="0">
                <a:solidFill>
                  <a:schemeClr val="accent6">
                    <a:lumMod val="75000"/>
                  </a:schemeClr>
                </a:solidFill>
              </a:rPr>
              <a:t>store the heat energy</a:t>
            </a:r>
            <a:r>
              <a:rPr lang="en-GB" sz="2400" dirty="0"/>
              <a:t>.</a:t>
            </a:r>
          </a:p>
          <a:p>
            <a:endParaRPr lang="en-GB" sz="1200" dirty="0"/>
          </a:p>
          <a:p>
            <a:endParaRPr lang="en-GB" sz="1200" dirty="0"/>
          </a:p>
          <a:p>
            <a:r>
              <a:rPr lang="en-GB" sz="2400" dirty="0"/>
              <a:t>       The bricks in this heater have a mass of</a:t>
            </a:r>
          </a:p>
          <a:p>
            <a:r>
              <a:rPr lang="en-GB" sz="2400" dirty="0"/>
              <a:t>       40 kg and are heated from 18 </a:t>
            </a:r>
            <a:r>
              <a:rPr lang="en-GB" sz="2400" b="1" baseline="30000" dirty="0"/>
              <a:t>o</a:t>
            </a:r>
            <a:r>
              <a:rPr lang="en-GB" sz="2400" dirty="0"/>
              <a:t>C to 40 </a:t>
            </a:r>
            <a:r>
              <a:rPr lang="en-GB" sz="2400" b="1" baseline="30000" dirty="0"/>
              <a:t>o</a:t>
            </a:r>
            <a:r>
              <a:rPr lang="en-GB" sz="2400" dirty="0"/>
              <a:t>C.</a:t>
            </a:r>
          </a:p>
          <a:p>
            <a:r>
              <a:rPr lang="en-GB" sz="2400" dirty="0"/>
              <a:t>       If the specific heat capacity of the brick </a:t>
            </a:r>
          </a:p>
          <a:p>
            <a:r>
              <a:rPr lang="en-GB" sz="2400" dirty="0"/>
              <a:t>       material is 850 J/kg </a:t>
            </a:r>
            <a:r>
              <a:rPr lang="en-GB" sz="2400" b="1" baseline="30000" dirty="0" smtClean="0"/>
              <a:t>o</a:t>
            </a:r>
            <a:r>
              <a:rPr lang="en-GB" sz="2400" dirty="0" smtClean="0"/>
              <a:t>C.</a:t>
            </a:r>
          </a:p>
          <a:p>
            <a:r>
              <a:rPr lang="en-GB" sz="2400" dirty="0" smtClean="0"/>
              <a:t>       </a:t>
            </a:r>
          </a:p>
          <a:p>
            <a:r>
              <a:rPr lang="en-GB" sz="2400" dirty="0"/>
              <a:t> </a:t>
            </a:r>
            <a:r>
              <a:rPr lang="en-GB" sz="2400" dirty="0" smtClean="0"/>
              <a:t>      Calculate </a:t>
            </a:r>
            <a:r>
              <a:rPr lang="en-GB" sz="2400" dirty="0"/>
              <a:t>the </a:t>
            </a:r>
            <a:r>
              <a:rPr lang="en-GB" sz="2400" b="1" dirty="0" smtClean="0">
                <a:solidFill>
                  <a:schemeClr val="accent6">
                    <a:lumMod val="75000"/>
                  </a:schemeClr>
                </a:solidFill>
              </a:rPr>
              <a:t>change </a:t>
            </a:r>
            <a:r>
              <a:rPr lang="en-GB" sz="2400" b="1" dirty="0">
                <a:solidFill>
                  <a:schemeClr val="accent6">
                    <a:lumMod val="75000"/>
                  </a:schemeClr>
                </a:solidFill>
              </a:rPr>
              <a:t>in thermal energy </a:t>
            </a:r>
            <a:r>
              <a:rPr lang="en-GB" sz="2400" dirty="0"/>
              <a:t>during heating.</a:t>
            </a:r>
          </a:p>
          <a:p>
            <a:endParaRPr lang="en-GB" sz="2400" dirty="0"/>
          </a:p>
          <a:p>
            <a:pPr algn="ctr"/>
            <a:r>
              <a:rPr lang="en-GB" sz="2000" b="1" dirty="0">
                <a:solidFill>
                  <a:schemeClr val="accent6">
                    <a:lumMod val="75000"/>
                  </a:schemeClr>
                </a:solidFill>
              </a:rPr>
              <a:t>Change in thermal energy </a:t>
            </a:r>
            <a:r>
              <a:rPr lang="en-GB" sz="2000" b="1" dirty="0" smtClean="0">
                <a:solidFill>
                  <a:schemeClr val="accent6">
                    <a:lumMod val="75000"/>
                  </a:schemeClr>
                </a:solidFill>
              </a:rPr>
              <a:t>= Mass </a:t>
            </a:r>
            <a:r>
              <a:rPr lang="en-GB" sz="2000" b="1" dirty="0">
                <a:solidFill>
                  <a:schemeClr val="accent6">
                    <a:lumMod val="75000"/>
                  </a:schemeClr>
                </a:solidFill>
              </a:rPr>
              <a:t>x Specific Heat </a:t>
            </a:r>
            <a:r>
              <a:rPr lang="en-GB" sz="2000" b="1" dirty="0" smtClean="0">
                <a:solidFill>
                  <a:schemeClr val="accent6">
                    <a:lumMod val="75000"/>
                  </a:schemeClr>
                </a:solidFill>
              </a:rPr>
              <a:t>Capacity </a:t>
            </a:r>
            <a:r>
              <a:rPr lang="en-GB" sz="2000" b="1" dirty="0">
                <a:solidFill>
                  <a:schemeClr val="accent6">
                    <a:lumMod val="75000"/>
                  </a:schemeClr>
                </a:solidFill>
              </a:rPr>
              <a:t>x Temperature </a:t>
            </a:r>
            <a:r>
              <a:rPr lang="en-GB" sz="2000" b="1" dirty="0" smtClean="0">
                <a:solidFill>
                  <a:schemeClr val="accent6">
                    <a:lumMod val="75000"/>
                  </a:schemeClr>
                </a:solidFill>
              </a:rPr>
              <a:t>Change</a:t>
            </a:r>
            <a:endParaRPr lang="en-GB" sz="2000" b="1" dirty="0">
              <a:solidFill>
                <a:schemeClr val="accent6">
                  <a:lumMod val="75000"/>
                </a:schemeClr>
              </a:solidFill>
            </a:endParaRPr>
          </a:p>
          <a:p>
            <a:pPr algn="ctr"/>
            <a:r>
              <a:rPr lang="en-GB" sz="3200" b="1" i="1" dirty="0" smtClean="0">
                <a:solidFill>
                  <a:schemeClr val="accent6">
                    <a:lumMod val="75000"/>
                  </a:schemeClr>
                </a:solidFill>
              </a:rPr>
              <a:t>ΔE </a:t>
            </a:r>
            <a:r>
              <a:rPr lang="en-GB" sz="3200" b="1" i="1" dirty="0">
                <a:solidFill>
                  <a:schemeClr val="accent6">
                    <a:lumMod val="75000"/>
                  </a:schemeClr>
                </a:solidFill>
              </a:rPr>
              <a:t>= m x c x </a:t>
            </a:r>
            <a:r>
              <a:rPr lang="el-GR" sz="3200" b="1" i="1" dirty="0" err="1">
                <a:solidFill>
                  <a:schemeClr val="accent6">
                    <a:lumMod val="75000"/>
                  </a:schemeClr>
                </a:solidFill>
              </a:rPr>
              <a:t>Δ</a:t>
            </a:r>
            <a:r>
              <a:rPr lang="el-GR" sz="3200" b="1" dirty="0" err="1">
                <a:solidFill>
                  <a:schemeClr val="accent6">
                    <a:lumMod val="75000"/>
                  </a:schemeClr>
                </a:solidFill>
              </a:rPr>
              <a:t>θ</a:t>
            </a:r>
            <a:endParaRPr lang="en-GB" sz="2400" dirty="0"/>
          </a:p>
          <a:p>
            <a:r>
              <a:rPr lang="en-GB" sz="2400" dirty="0"/>
              <a:t>        	</a:t>
            </a:r>
            <a:endParaRPr lang="en-GB" sz="2400" b="1" dirty="0">
              <a:solidFill>
                <a:srgbClr val="00B050"/>
              </a:solidFill>
            </a:endParaRPr>
          </a:p>
          <a:p>
            <a:endParaRPr lang="en-GB" sz="2400" b="1" dirty="0">
              <a:solidFill>
                <a:srgbClr val="00B050"/>
              </a:solidFill>
            </a:endParaRPr>
          </a:p>
          <a:p>
            <a:endParaRPr lang="en-GB" sz="2400" b="1" dirty="0">
              <a:solidFill>
                <a:srgbClr val="00B050"/>
              </a:solidFill>
            </a:endParaRPr>
          </a:p>
          <a:p>
            <a:endParaRPr lang="en-GB" sz="2400" b="1" dirty="0">
              <a:solidFill>
                <a:srgbClr val="00B050"/>
              </a:solidFill>
            </a:endParaRPr>
          </a:p>
          <a:p>
            <a:endParaRPr lang="en-GB" sz="2400" b="1" dirty="0">
              <a:solidFill>
                <a:srgbClr val="00B050"/>
              </a:solidFill>
            </a:endParaRPr>
          </a:p>
          <a:p>
            <a:endParaRPr lang="en-GB" sz="1600" dirty="0"/>
          </a:p>
        </p:txBody>
      </p:sp>
      <p:pic>
        <p:nvPicPr>
          <p:cNvPr id="5" name="Picture 4">
            <a:extLst>
              <a:ext uri="{FF2B5EF4-FFF2-40B4-BE49-F238E27FC236}">
                <a16:creationId xmlns:a16="http://schemas.microsoft.com/office/drawing/2014/main" xmlns="" id="{934DDED4-7431-42D6-B1DB-3481E48E3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524" y="802524"/>
            <a:ext cx="3226570" cy="2232248"/>
          </a:xfrm>
          <a:prstGeom prst="rect">
            <a:avLst/>
          </a:prstGeom>
        </p:spPr>
      </p:pic>
    </p:spTree>
    <p:extLst>
      <p:ext uri="{BB962C8B-B14F-4D97-AF65-F5344CB8AC3E}">
        <p14:creationId xmlns:p14="http://schemas.microsoft.com/office/powerpoint/2010/main" val="866148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7064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Energy changes and energy stores </a:t>
            </a:r>
          </a:p>
          <a:p>
            <a:r>
              <a:rPr lang="en-GB" sz="3600" b="1" dirty="0">
                <a:solidFill>
                  <a:schemeClr val="tx1">
                    <a:lumMod val="50000"/>
                    <a:lumOff val="50000"/>
                  </a:schemeClr>
                </a:solidFill>
              </a:rPr>
              <a:t>Part 2 </a:t>
            </a:r>
          </a:p>
          <a:p>
            <a:endParaRPr lang="en-GB" b="1" dirty="0">
              <a:solidFill>
                <a:schemeClr val="tx1">
                  <a:lumMod val="50000"/>
                  <a:lumOff val="50000"/>
                </a:schemeClr>
              </a:solidFill>
            </a:endParaRPr>
          </a:p>
          <a:p>
            <a:pPr marL="457200" indent="-457200">
              <a:buFont typeface="Arial" charset="0"/>
              <a:buChar char="•"/>
            </a:pPr>
            <a:r>
              <a:rPr lang="en-US" sz="2400" b="1" dirty="0">
                <a:solidFill>
                  <a:schemeClr val="tx1">
                    <a:lumMod val="50000"/>
                    <a:lumOff val="50000"/>
                  </a:schemeClr>
                </a:solidFill>
              </a:rPr>
              <a:t>Energy changes in systems</a:t>
            </a:r>
          </a:p>
          <a:p>
            <a:pPr marL="457200" indent="-457200">
              <a:lnSpc>
                <a:spcPct val="150000"/>
              </a:lnSpc>
              <a:buFont typeface="Arial" charset="0"/>
              <a:buChar char="•"/>
            </a:pPr>
            <a:r>
              <a:rPr lang="en-GB" sz="2400" b="1" dirty="0">
                <a:solidFill>
                  <a:schemeClr val="tx1">
                    <a:lumMod val="50000"/>
                    <a:lumOff val="50000"/>
                  </a:schemeClr>
                </a:solidFill>
              </a:rPr>
              <a:t>Power</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6787" y="802524"/>
            <a:ext cx="4824536" cy="5257800"/>
          </a:xfrm>
          <a:prstGeom prst="rect">
            <a:avLst/>
          </a:prstGeom>
        </p:spPr>
      </p:pic>
    </p:spTree>
    <p:extLst>
      <p:ext uri="{BB962C8B-B14F-4D97-AF65-F5344CB8AC3E}">
        <p14:creationId xmlns:p14="http://schemas.microsoft.com/office/powerpoint/2010/main" val="5874790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33832"/>
            <a:ext cx="8316415"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0480"/>
            <a:ext cx="8994912" cy="6032421"/>
          </a:xfrm>
          <a:prstGeom prst="rect">
            <a:avLst/>
          </a:prstGeom>
          <a:noFill/>
        </p:spPr>
        <p:txBody>
          <a:bodyPr wrap="square" rtlCol="0">
            <a:spAutoFit/>
          </a:bodyPr>
          <a:lstStyle/>
          <a:p>
            <a:pPr marL="457200" indent="-457200">
              <a:lnSpc>
                <a:spcPct val="150000"/>
              </a:lnSpc>
              <a:buAutoNum type="arabicPeriod"/>
            </a:pPr>
            <a:r>
              <a:rPr lang="en-GB" sz="2300" dirty="0"/>
              <a:t>The specific heat capacity of a substance is </a:t>
            </a:r>
            <a:r>
              <a:rPr lang="is-IS" sz="2300" dirty="0" smtClean="0"/>
              <a:t>…........</a:t>
            </a:r>
            <a:endParaRPr lang="en-GB" sz="2300" dirty="0"/>
          </a:p>
          <a:p>
            <a:pPr marL="914400" lvl="1" indent="-457200">
              <a:buFont typeface="+mj-lt"/>
              <a:buAutoNum type="alphaUcPeriod"/>
            </a:pPr>
            <a:r>
              <a:rPr lang="en-GB" sz="2300" dirty="0" smtClean="0"/>
              <a:t>the </a:t>
            </a:r>
            <a:r>
              <a:rPr lang="en-GB" sz="2300" dirty="0"/>
              <a:t>ability of a 1kg object to store transferred energy</a:t>
            </a:r>
          </a:p>
          <a:p>
            <a:pPr marL="914400" lvl="1" indent="-457200">
              <a:buFont typeface="+mj-lt"/>
              <a:buAutoNum type="alphaUcPeriod"/>
            </a:pPr>
            <a:r>
              <a:rPr lang="en-GB" sz="2300" dirty="0" smtClean="0"/>
              <a:t>the </a:t>
            </a:r>
            <a:r>
              <a:rPr lang="en-GB" sz="2300" dirty="0"/>
              <a:t>total amount of stored energy in an object</a:t>
            </a:r>
          </a:p>
          <a:p>
            <a:pPr marL="914400" lvl="1" indent="-457200">
              <a:buFont typeface="+mj-lt"/>
              <a:buAutoNum type="alphaUcPeriod"/>
            </a:pPr>
            <a:r>
              <a:rPr lang="en-GB" sz="2300" dirty="0" smtClean="0"/>
              <a:t>the  </a:t>
            </a:r>
            <a:r>
              <a:rPr lang="en-GB" sz="2300" dirty="0"/>
              <a:t>energy needed to raise the temperature of 1kg of a </a:t>
            </a:r>
            <a:r>
              <a:rPr lang="en-GB" sz="2300" dirty="0" smtClean="0"/>
              <a:t>substance </a:t>
            </a:r>
            <a:r>
              <a:rPr lang="en-GB" sz="2300" dirty="0"/>
              <a:t>by 1</a:t>
            </a:r>
            <a:r>
              <a:rPr lang="en-GB" sz="2300" b="1" baseline="30000" dirty="0"/>
              <a:t>o</a:t>
            </a:r>
            <a:r>
              <a:rPr lang="en-GB" sz="2300" dirty="0"/>
              <a:t>C</a:t>
            </a:r>
          </a:p>
          <a:p>
            <a:endParaRPr lang="en-GB" dirty="0"/>
          </a:p>
          <a:p>
            <a:pPr marL="457200" indent="-457200">
              <a:buAutoNum type="arabicPeriod" startAt="2"/>
            </a:pPr>
            <a:r>
              <a:rPr lang="en-GB" sz="2300" dirty="0"/>
              <a:t>When a bowl of water and a stone are left in hot sunshine, the stone feels much hotter than the water. Which one has the highest specific heat capacity?  Explain your answer.</a:t>
            </a:r>
          </a:p>
          <a:p>
            <a:pPr>
              <a:lnSpc>
                <a:spcPct val="150000"/>
              </a:lnSpc>
            </a:pPr>
            <a:r>
              <a:rPr lang="en-GB" sz="2300" dirty="0"/>
              <a:t>        </a:t>
            </a:r>
            <a:r>
              <a:rPr lang="en-GB" sz="2300" b="1" dirty="0">
                <a:solidFill>
                  <a:srgbClr val="00B050"/>
                </a:solidFill>
              </a:rPr>
              <a:t>The water has a higher heat capacity as it takes more heat energy to</a:t>
            </a:r>
          </a:p>
          <a:p>
            <a:pPr>
              <a:lnSpc>
                <a:spcPct val="150000"/>
              </a:lnSpc>
            </a:pPr>
            <a:r>
              <a:rPr lang="en-GB" sz="2300" b="1" dirty="0">
                <a:solidFill>
                  <a:srgbClr val="00B050"/>
                </a:solidFill>
              </a:rPr>
              <a:t>        raise its temperature to that of the stone</a:t>
            </a:r>
          </a:p>
          <a:p>
            <a:pPr>
              <a:lnSpc>
                <a:spcPct val="150000"/>
              </a:lnSpc>
            </a:pPr>
            <a:r>
              <a:rPr lang="en-GB" sz="2300" dirty="0"/>
              <a:t>3. Give two alternative units of power?</a:t>
            </a:r>
          </a:p>
          <a:p>
            <a:pPr>
              <a:lnSpc>
                <a:spcPct val="150000"/>
              </a:lnSpc>
            </a:pPr>
            <a:r>
              <a:rPr lang="en-GB" sz="2300" b="1" dirty="0">
                <a:solidFill>
                  <a:srgbClr val="00B050"/>
                </a:solidFill>
              </a:rPr>
              <a:t>         Joules/second or Watts</a:t>
            </a:r>
          </a:p>
          <a:p>
            <a:pPr marL="457200" indent="-457200">
              <a:lnSpc>
                <a:spcPct val="150000"/>
              </a:lnSpc>
              <a:buAutoNum type="arabicPeriod" startAt="2"/>
            </a:pPr>
            <a:endParaRPr lang="en-GB" sz="2300" dirty="0"/>
          </a:p>
        </p:txBody>
      </p:sp>
      <p:pic>
        <p:nvPicPr>
          <p:cNvPr id="8" name="Picture 7">
            <a:extLst>
              <a:ext uri="{FF2B5EF4-FFF2-40B4-BE49-F238E27FC236}">
                <a16:creationId xmlns:a16="http://schemas.microsoft.com/office/drawing/2014/main" xmlns="" id="{CB645334-0351-4FC6-B70D-D3195AB26D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7704" y="2276872"/>
            <a:ext cx="488378" cy="439540"/>
          </a:xfrm>
          <a:prstGeom prst="rect">
            <a:avLst/>
          </a:prstGeom>
        </p:spPr>
      </p:pic>
    </p:spTree>
    <p:extLst>
      <p:ext uri="{BB962C8B-B14F-4D97-AF65-F5344CB8AC3E}">
        <p14:creationId xmlns:p14="http://schemas.microsoft.com/office/powerpoint/2010/main" val="3848123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33832"/>
            <a:ext cx="8388423"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3" name="Rectangle 2">
            <a:extLst>
              <a:ext uri="{FF2B5EF4-FFF2-40B4-BE49-F238E27FC236}">
                <a16:creationId xmlns:a16="http://schemas.microsoft.com/office/drawing/2014/main" xmlns="" id="{0DDBBCAE-4555-4E2C-8436-D1411A4D0918}"/>
              </a:ext>
            </a:extLst>
          </p:cNvPr>
          <p:cNvSpPr/>
          <p:nvPr/>
        </p:nvSpPr>
        <p:spPr>
          <a:xfrm>
            <a:off x="149087" y="802524"/>
            <a:ext cx="8599377" cy="5878532"/>
          </a:xfrm>
          <a:prstGeom prst="rect">
            <a:avLst/>
          </a:prstGeom>
        </p:spPr>
        <p:txBody>
          <a:bodyPr wrap="square">
            <a:spAutoFit/>
          </a:bodyPr>
          <a:lstStyle/>
          <a:p>
            <a:r>
              <a:rPr lang="en-GB" sz="2400" dirty="0"/>
              <a:t>4.  A blowtorch burns butane gas to heat metal pipes.</a:t>
            </a:r>
          </a:p>
          <a:p>
            <a:r>
              <a:rPr lang="en-GB" sz="2400" dirty="0"/>
              <a:t>   a. Describe the energy transfers which occur as it is used. </a:t>
            </a:r>
          </a:p>
          <a:p>
            <a:pPr>
              <a:lnSpc>
                <a:spcPct val="150000"/>
              </a:lnSpc>
            </a:pPr>
            <a:r>
              <a:rPr lang="en-GB" sz="2400" b="1" dirty="0">
                <a:solidFill>
                  <a:srgbClr val="00B050"/>
                </a:solidFill>
              </a:rPr>
              <a:t>           Chemical    </a:t>
            </a:r>
            <a:r>
              <a:rPr lang="en-GB" sz="2400" dirty="0"/>
              <a:t>energy is transferred into</a:t>
            </a:r>
          </a:p>
          <a:p>
            <a:r>
              <a:rPr lang="en-GB" sz="2400" dirty="0"/>
              <a:t>            </a:t>
            </a:r>
            <a:r>
              <a:rPr lang="en-GB" sz="2400" b="1" dirty="0">
                <a:solidFill>
                  <a:srgbClr val="00B050"/>
                </a:solidFill>
              </a:rPr>
              <a:t>thermal</a:t>
            </a:r>
            <a:r>
              <a:rPr lang="en-GB" sz="2400" dirty="0"/>
              <a:t>     energy usefully and     </a:t>
            </a:r>
          </a:p>
          <a:p>
            <a:r>
              <a:rPr lang="en-GB" sz="2400" b="1" dirty="0">
                <a:solidFill>
                  <a:srgbClr val="00B050"/>
                </a:solidFill>
              </a:rPr>
              <a:t>            light</a:t>
            </a:r>
            <a:r>
              <a:rPr lang="en-GB" sz="2400" dirty="0"/>
              <a:t>            energy is wasted. </a:t>
            </a:r>
          </a:p>
          <a:p>
            <a:endParaRPr lang="en-GB" sz="1600" dirty="0"/>
          </a:p>
          <a:p>
            <a:r>
              <a:rPr lang="en-GB" sz="2400" dirty="0"/>
              <a:t>    b. Explain how some of the transferred energy</a:t>
            </a:r>
          </a:p>
          <a:p>
            <a:r>
              <a:rPr lang="en-GB" sz="2400" dirty="0"/>
              <a:t>         is wasted.</a:t>
            </a:r>
          </a:p>
          <a:p>
            <a:r>
              <a:rPr lang="en-GB" sz="2400" dirty="0"/>
              <a:t>         </a:t>
            </a:r>
            <a:r>
              <a:rPr lang="en-GB" sz="2400" b="1" dirty="0">
                <a:solidFill>
                  <a:srgbClr val="00B050"/>
                </a:solidFill>
              </a:rPr>
              <a:t>As thermal energy to the environment</a:t>
            </a:r>
          </a:p>
          <a:p>
            <a:endParaRPr lang="en-GB" sz="2400" dirty="0"/>
          </a:p>
          <a:p>
            <a:r>
              <a:rPr lang="en-GB" sz="2400" dirty="0"/>
              <a:t>    c. The blowtorch transfers 2 kJ of energy in 4 mins. Work out the</a:t>
            </a:r>
          </a:p>
          <a:p>
            <a:r>
              <a:rPr lang="en-GB" sz="2400" dirty="0"/>
              <a:t>        power of the blowtorch?</a:t>
            </a:r>
          </a:p>
          <a:p>
            <a:r>
              <a:rPr lang="en-GB" sz="2400" dirty="0"/>
              <a:t>        </a:t>
            </a:r>
            <a:r>
              <a:rPr lang="en-GB" sz="2400" b="1" dirty="0">
                <a:solidFill>
                  <a:srgbClr val="00B050"/>
                </a:solidFill>
              </a:rPr>
              <a:t> Power = energy transferred / time   = 2000 / 240</a:t>
            </a:r>
          </a:p>
          <a:p>
            <a:endParaRPr lang="en-GB" sz="1200" b="1" dirty="0">
              <a:solidFill>
                <a:srgbClr val="00B050"/>
              </a:solidFill>
            </a:endParaRPr>
          </a:p>
          <a:p>
            <a:r>
              <a:rPr lang="en-GB" sz="2400" b="1" dirty="0">
                <a:solidFill>
                  <a:srgbClr val="00B050"/>
                </a:solidFill>
              </a:rPr>
              <a:t>         Power of the blowtorch = 8.33Watts	</a:t>
            </a:r>
          </a:p>
          <a:p>
            <a:endParaRPr lang="en-GB" sz="2400" dirty="0"/>
          </a:p>
        </p:txBody>
      </p:sp>
      <p:pic>
        <p:nvPicPr>
          <p:cNvPr id="5" name="Picture 4">
            <a:extLst>
              <a:ext uri="{FF2B5EF4-FFF2-40B4-BE49-F238E27FC236}">
                <a16:creationId xmlns:a16="http://schemas.microsoft.com/office/drawing/2014/main" xmlns="" id="{BFA1F852-8438-4D94-BAEA-82283E98D073}"/>
              </a:ext>
            </a:extLst>
          </p:cNvPr>
          <p:cNvPicPr>
            <a:picLocks noChangeAspect="1"/>
          </p:cNvPicPr>
          <p:nvPr/>
        </p:nvPicPr>
        <p:blipFill>
          <a:blip r:embed="rId3"/>
          <a:stretch>
            <a:fillRect/>
          </a:stretch>
        </p:blipFill>
        <p:spPr>
          <a:xfrm>
            <a:off x="6300192" y="1628800"/>
            <a:ext cx="2304256" cy="2736304"/>
          </a:xfrm>
          <a:prstGeom prst="rect">
            <a:avLst/>
          </a:prstGeom>
        </p:spPr>
      </p:pic>
    </p:spTree>
    <p:extLst>
      <p:ext uri="{BB962C8B-B14F-4D97-AF65-F5344CB8AC3E}">
        <p14:creationId xmlns:p14="http://schemas.microsoft.com/office/powerpoint/2010/main" val="20797684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509200"/>
          </a:xfrm>
          <a:prstGeom prst="rect">
            <a:avLst/>
          </a:prstGeom>
          <a:noFill/>
        </p:spPr>
        <p:txBody>
          <a:bodyPr wrap="square" rtlCol="0">
            <a:spAutoFit/>
          </a:bodyPr>
          <a:lstStyle/>
          <a:p>
            <a:pPr>
              <a:lnSpc>
                <a:spcPct val="150000"/>
              </a:lnSpc>
            </a:pPr>
            <a:r>
              <a:rPr lang="en-GB" sz="2400" dirty="0"/>
              <a:t>5. </a:t>
            </a:r>
            <a:r>
              <a:rPr lang="en-US" sz="2400" dirty="0"/>
              <a:t>Two cranes are lifting the same load of 120 kg to a height of 15 m.</a:t>
            </a:r>
          </a:p>
          <a:p>
            <a:pPr>
              <a:lnSpc>
                <a:spcPct val="150000"/>
              </a:lnSpc>
            </a:pPr>
            <a:endParaRPr lang="en-US" dirty="0"/>
          </a:p>
          <a:p>
            <a:pPr>
              <a:lnSpc>
                <a:spcPct val="150000"/>
              </a:lnSpc>
            </a:pPr>
            <a:r>
              <a:rPr lang="en-US" dirty="0"/>
              <a:t>                   Crane A</a:t>
            </a:r>
          </a:p>
          <a:p>
            <a:pPr>
              <a:lnSpc>
                <a:spcPct val="150000"/>
              </a:lnSpc>
            </a:pPr>
            <a:r>
              <a:rPr lang="en-US" dirty="0"/>
              <a:t>							Crane B</a:t>
            </a:r>
          </a:p>
          <a:p>
            <a:pPr>
              <a:lnSpc>
                <a:spcPct val="150000"/>
              </a:lnSpc>
            </a:pPr>
            <a:endParaRPr lang="en-US" dirty="0"/>
          </a:p>
          <a:p>
            <a:r>
              <a:rPr lang="en-GB" sz="2400" dirty="0"/>
              <a:t>     </a:t>
            </a:r>
            <a:r>
              <a:rPr lang="en-US" sz="2400" dirty="0"/>
              <a:t>Crane A takes 30 s</a:t>
            </a:r>
            <a:r>
              <a:rPr lang="en-GB" sz="2400" dirty="0"/>
              <a:t> </a:t>
            </a:r>
            <a:r>
              <a:rPr lang="en-US" sz="2400" dirty="0"/>
              <a:t>to lift the load. Crane B lifts the same load in 9 s. </a:t>
            </a:r>
            <a:endParaRPr lang="en-GB" sz="2400" dirty="0"/>
          </a:p>
          <a:p>
            <a:r>
              <a:rPr lang="en-US" sz="2400" dirty="0"/>
              <a:t>     </a:t>
            </a:r>
            <a:endParaRPr lang="en-US" sz="1600" dirty="0"/>
          </a:p>
          <a:p>
            <a:r>
              <a:rPr lang="en-US" sz="2400" dirty="0"/>
              <a:t>     Calculate the </a:t>
            </a:r>
            <a:r>
              <a:rPr lang="en-US" sz="2400" b="1" dirty="0">
                <a:solidFill>
                  <a:schemeClr val="accent6">
                    <a:lumMod val="75000"/>
                  </a:schemeClr>
                </a:solidFill>
              </a:rPr>
              <a:t>difference in power </a:t>
            </a:r>
            <a:r>
              <a:rPr lang="en-US" sz="2400" dirty="0"/>
              <a:t>of the two cranes.</a:t>
            </a:r>
            <a:endParaRPr lang="en-GB" sz="2400" dirty="0"/>
          </a:p>
          <a:p>
            <a:endParaRPr lang="en-US" sz="1600" dirty="0"/>
          </a:p>
          <a:p>
            <a:r>
              <a:rPr lang="en-US" sz="1600" dirty="0"/>
              <a:t>             </a:t>
            </a:r>
            <a:r>
              <a:rPr lang="en-US" sz="2400" b="1" dirty="0">
                <a:solidFill>
                  <a:srgbClr val="00B050"/>
                </a:solidFill>
              </a:rPr>
              <a:t>Crane A power = 1200 x 15 / 30 = 600 W</a:t>
            </a:r>
          </a:p>
          <a:p>
            <a:endParaRPr lang="en-US" sz="2400" b="1" dirty="0">
              <a:solidFill>
                <a:srgbClr val="00B050"/>
              </a:solidFill>
            </a:endParaRPr>
          </a:p>
          <a:p>
            <a:r>
              <a:rPr lang="en-US" sz="2400" b="1" dirty="0">
                <a:solidFill>
                  <a:srgbClr val="00B050"/>
                </a:solidFill>
              </a:rPr>
              <a:t>         Crane B power = 1200 x 15 / 9 = 2000W</a:t>
            </a:r>
          </a:p>
          <a:p>
            <a:endParaRPr lang="en-US" sz="2400" b="1" dirty="0">
              <a:solidFill>
                <a:srgbClr val="00B050"/>
              </a:solidFill>
            </a:endParaRPr>
          </a:p>
          <a:p>
            <a:r>
              <a:rPr lang="en-US" sz="2400" b="1" dirty="0">
                <a:solidFill>
                  <a:srgbClr val="00B050"/>
                </a:solidFill>
              </a:rPr>
              <a:t>         Difference in power = 2000 – 600 = 1400 Watts	</a:t>
            </a:r>
            <a:endParaRPr lang="en-GB" sz="2400" b="1" dirty="0">
              <a:solidFill>
                <a:srgbClr val="00B050"/>
              </a:solidFill>
            </a:endParaRPr>
          </a:p>
        </p:txBody>
      </p:sp>
      <p:pic>
        <p:nvPicPr>
          <p:cNvPr id="7" name="Picture 6" descr="Image result for Crane Clip Art">
            <a:extLst>
              <a:ext uri="{FF2B5EF4-FFF2-40B4-BE49-F238E27FC236}">
                <a16:creationId xmlns:a16="http://schemas.microsoft.com/office/drawing/2014/main" xmlns="" id="{3695C8D9-624A-4BB0-AEC9-2B2FD2CBF182}"/>
              </a:ext>
            </a:extLst>
          </p:cNvPr>
          <p:cNvPicPr/>
          <p:nvPr/>
        </p:nvPicPr>
        <p:blipFill>
          <a:blip r:embed="rId3" cstate="print"/>
          <a:srcRect/>
          <a:stretch>
            <a:fillRect/>
          </a:stretch>
        </p:blipFill>
        <p:spPr bwMode="auto">
          <a:xfrm>
            <a:off x="2123728" y="1412776"/>
            <a:ext cx="1028700" cy="1038225"/>
          </a:xfrm>
          <a:prstGeom prst="rect">
            <a:avLst/>
          </a:prstGeom>
          <a:noFill/>
          <a:ln w="9525">
            <a:noFill/>
            <a:miter lim="800000"/>
            <a:headEnd/>
            <a:tailEnd/>
          </a:ln>
        </p:spPr>
      </p:pic>
      <p:pic>
        <p:nvPicPr>
          <p:cNvPr id="8" name="Picture 7" descr="Image result for Crane Clip Art">
            <a:extLst>
              <a:ext uri="{FF2B5EF4-FFF2-40B4-BE49-F238E27FC236}">
                <a16:creationId xmlns:a16="http://schemas.microsoft.com/office/drawing/2014/main" xmlns="" id="{08E3668B-D390-4963-A678-8F4584E0EF79}"/>
              </a:ext>
            </a:extLst>
          </p:cNvPr>
          <p:cNvPicPr/>
          <p:nvPr/>
        </p:nvPicPr>
        <p:blipFill>
          <a:blip r:embed="rId4" cstate="print"/>
          <a:srcRect/>
          <a:stretch>
            <a:fillRect/>
          </a:stretch>
        </p:blipFill>
        <p:spPr bwMode="auto">
          <a:xfrm>
            <a:off x="5220072" y="1556792"/>
            <a:ext cx="1314450" cy="1323975"/>
          </a:xfrm>
          <a:prstGeom prst="rect">
            <a:avLst/>
          </a:prstGeom>
          <a:noFill/>
          <a:ln w="9525">
            <a:noFill/>
            <a:miter lim="800000"/>
            <a:headEnd/>
            <a:tailEnd/>
          </a:ln>
          <a:scene3d>
            <a:camera prst="orthographicFront">
              <a:rot lat="0" lon="8700000" rev="0"/>
            </a:camera>
            <a:lightRig rig="threePt" dir="t"/>
          </a:scene3d>
        </p:spPr>
      </p:pic>
    </p:spTree>
    <p:extLst>
      <p:ext uri="{BB962C8B-B14F-4D97-AF65-F5344CB8AC3E}">
        <p14:creationId xmlns:p14="http://schemas.microsoft.com/office/powerpoint/2010/main" val="30514529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l" defTabSz="342900" rtl="0">
              <a:spcBef>
                <a:spcPct val="20000"/>
              </a:spcBef>
            </a:pPr>
            <a:r>
              <a:rPr lang="en-US" sz="2400" b="1" dirty="0">
                <a:solidFill>
                  <a:schemeClr val="accent6"/>
                </a:solidFill>
                <a:latin typeface="+mn-lt"/>
              </a:rPr>
              <a:t>           Energy stores and Energy systems part 2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14694" y="657041"/>
            <a:ext cx="8915400" cy="5693866"/>
          </a:xfrm>
          <a:prstGeom prst="rect">
            <a:avLst/>
          </a:prstGeom>
          <a:noFill/>
        </p:spPr>
        <p:txBody>
          <a:bodyPr wrap="square" rtlCol="0">
            <a:spAutoFit/>
          </a:bodyPr>
          <a:lstStyle/>
          <a:p>
            <a:r>
              <a:rPr lang="en-GB" sz="2400" dirty="0"/>
              <a:t>6.    Storage heaters contain bricks which </a:t>
            </a:r>
          </a:p>
          <a:p>
            <a:r>
              <a:rPr lang="en-GB" sz="2400" dirty="0"/>
              <a:t>       warm up and </a:t>
            </a:r>
            <a:r>
              <a:rPr lang="en-GB" sz="2400" b="1" dirty="0">
                <a:solidFill>
                  <a:schemeClr val="accent6">
                    <a:lumMod val="75000"/>
                  </a:schemeClr>
                </a:solidFill>
              </a:rPr>
              <a:t>store heat energy</a:t>
            </a:r>
            <a:r>
              <a:rPr lang="en-GB" sz="2400" dirty="0"/>
              <a:t>.</a:t>
            </a:r>
          </a:p>
          <a:p>
            <a:endParaRPr lang="en-GB" sz="1200" dirty="0"/>
          </a:p>
          <a:p>
            <a:r>
              <a:rPr lang="en-GB" sz="2400" dirty="0"/>
              <a:t>       The bricks in this heater have a mass of</a:t>
            </a:r>
          </a:p>
          <a:p>
            <a:r>
              <a:rPr lang="en-GB" sz="2400" dirty="0"/>
              <a:t>       40 kg and are heated from 18 </a:t>
            </a:r>
            <a:r>
              <a:rPr lang="en-GB" sz="2400" b="1" baseline="30000" dirty="0"/>
              <a:t>o</a:t>
            </a:r>
            <a:r>
              <a:rPr lang="en-GB" sz="2400" dirty="0"/>
              <a:t>C to 40 </a:t>
            </a:r>
            <a:r>
              <a:rPr lang="en-GB" sz="2400" b="1" baseline="30000" dirty="0"/>
              <a:t>o</a:t>
            </a:r>
            <a:r>
              <a:rPr lang="en-GB" sz="2400" dirty="0"/>
              <a:t>C.</a:t>
            </a:r>
          </a:p>
          <a:p>
            <a:r>
              <a:rPr lang="en-GB" sz="2400" dirty="0"/>
              <a:t>       If the specific heat capacity of the brick </a:t>
            </a:r>
          </a:p>
          <a:p>
            <a:r>
              <a:rPr lang="en-GB" sz="2400" dirty="0"/>
              <a:t>       material is 850 J/kg </a:t>
            </a:r>
            <a:r>
              <a:rPr lang="en-GB" sz="2400" b="1" baseline="30000" dirty="0"/>
              <a:t>o</a:t>
            </a:r>
            <a:r>
              <a:rPr lang="en-GB" sz="2400" dirty="0"/>
              <a:t>C, calculate the </a:t>
            </a:r>
          </a:p>
          <a:p>
            <a:r>
              <a:rPr lang="en-GB" sz="2400" dirty="0"/>
              <a:t>       </a:t>
            </a:r>
            <a:r>
              <a:rPr lang="en-GB" sz="2400" b="1" dirty="0">
                <a:solidFill>
                  <a:schemeClr val="accent6">
                    <a:lumMod val="75000"/>
                  </a:schemeClr>
                </a:solidFill>
              </a:rPr>
              <a:t>change in thermal energy </a:t>
            </a:r>
            <a:r>
              <a:rPr lang="en-GB" sz="2400" dirty="0"/>
              <a:t>during heating</a:t>
            </a:r>
            <a:r>
              <a:rPr lang="en-GB" sz="2400" dirty="0" smtClean="0"/>
              <a:t>.</a:t>
            </a:r>
          </a:p>
          <a:p>
            <a:endParaRPr lang="en-GB" sz="2400" dirty="0"/>
          </a:p>
          <a:p>
            <a:endParaRPr lang="en-GB" sz="2400" dirty="0"/>
          </a:p>
          <a:p>
            <a:endParaRPr lang="en-GB" sz="2400" dirty="0"/>
          </a:p>
          <a:p>
            <a:r>
              <a:rPr lang="en-GB" sz="2400" dirty="0"/>
              <a:t>        	</a:t>
            </a:r>
            <a:r>
              <a:rPr lang="en-GB" sz="2400" b="1" dirty="0" smtClean="0">
                <a:solidFill>
                  <a:srgbClr val="00B050"/>
                </a:solidFill>
              </a:rPr>
              <a:t>temperature </a:t>
            </a:r>
            <a:r>
              <a:rPr lang="en-GB" sz="2400" b="1" dirty="0">
                <a:solidFill>
                  <a:srgbClr val="00B050"/>
                </a:solidFill>
              </a:rPr>
              <a:t>change </a:t>
            </a:r>
            <a:r>
              <a:rPr lang="el-GR" sz="2400" b="1" dirty="0">
                <a:solidFill>
                  <a:srgbClr val="00B050"/>
                </a:solidFill>
              </a:rPr>
              <a:t>Δθ</a:t>
            </a:r>
            <a:r>
              <a:rPr lang="en-GB" sz="2400" b="1" dirty="0">
                <a:solidFill>
                  <a:srgbClr val="00B050"/>
                </a:solidFill>
              </a:rPr>
              <a:t> = 40 – 18 = 22 </a:t>
            </a:r>
            <a:r>
              <a:rPr lang="en-GB" sz="2400" b="1" baseline="30000" dirty="0">
                <a:solidFill>
                  <a:srgbClr val="00B050"/>
                </a:solidFill>
              </a:rPr>
              <a:t>o</a:t>
            </a:r>
            <a:r>
              <a:rPr lang="en-GB" sz="2400" b="1" dirty="0">
                <a:solidFill>
                  <a:srgbClr val="00B050"/>
                </a:solidFill>
              </a:rPr>
              <a:t>C</a:t>
            </a:r>
          </a:p>
          <a:p>
            <a:r>
              <a:rPr lang="en-GB" sz="2400" b="1" dirty="0">
                <a:solidFill>
                  <a:srgbClr val="00B050"/>
                </a:solidFill>
              </a:rPr>
              <a:t>	change in thermal energy </a:t>
            </a:r>
            <a:r>
              <a:rPr lang="el-GR" sz="2400" b="1" dirty="0">
                <a:solidFill>
                  <a:srgbClr val="00B050"/>
                </a:solidFill>
              </a:rPr>
              <a:t>Δ</a:t>
            </a:r>
            <a:r>
              <a:rPr lang="en-GB" sz="2400" b="1" dirty="0">
                <a:solidFill>
                  <a:srgbClr val="00B050"/>
                </a:solidFill>
              </a:rPr>
              <a:t>E = 40 x 850 x 22</a:t>
            </a:r>
          </a:p>
          <a:p>
            <a:endParaRPr lang="en-GB" sz="2400" b="1" dirty="0">
              <a:solidFill>
                <a:srgbClr val="00B050"/>
              </a:solidFill>
            </a:endParaRPr>
          </a:p>
          <a:p>
            <a:r>
              <a:rPr lang="en-GB" sz="2400" b="1" dirty="0">
                <a:solidFill>
                  <a:srgbClr val="00B050"/>
                </a:solidFill>
              </a:rPr>
              <a:t>	</a:t>
            </a:r>
            <a:r>
              <a:rPr lang="el-GR" sz="2400" b="1" dirty="0">
                <a:solidFill>
                  <a:srgbClr val="00B050"/>
                </a:solidFill>
              </a:rPr>
              <a:t>Δ</a:t>
            </a:r>
            <a:r>
              <a:rPr lang="en-GB" sz="2400" b="1" dirty="0">
                <a:solidFill>
                  <a:srgbClr val="00B050"/>
                </a:solidFill>
              </a:rPr>
              <a:t>E = 748 000 J    or     748 kJ</a:t>
            </a:r>
          </a:p>
          <a:p>
            <a:endParaRPr lang="en-GB" sz="1600" dirty="0"/>
          </a:p>
        </p:txBody>
      </p:sp>
      <p:pic>
        <p:nvPicPr>
          <p:cNvPr id="5" name="Picture 4">
            <a:extLst>
              <a:ext uri="{FF2B5EF4-FFF2-40B4-BE49-F238E27FC236}">
                <a16:creationId xmlns:a16="http://schemas.microsoft.com/office/drawing/2014/main" xmlns="" id="{934DDED4-7431-42D6-B1DB-3481E48E3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524" y="974544"/>
            <a:ext cx="3226570" cy="2232248"/>
          </a:xfrm>
          <a:prstGeom prst="rect">
            <a:avLst/>
          </a:prstGeom>
        </p:spPr>
      </p:pic>
      <p:sp>
        <p:nvSpPr>
          <p:cNvPr id="3" name="Rectangle 2"/>
          <p:cNvSpPr/>
          <p:nvPr/>
        </p:nvSpPr>
        <p:spPr>
          <a:xfrm>
            <a:off x="-180528" y="3598718"/>
            <a:ext cx="9324528" cy="800219"/>
          </a:xfrm>
          <a:prstGeom prst="rect">
            <a:avLst/>
          </a:prstGeom>
        </p:spPr>
        <p:txBody>
          <a:bodyPr wrap="square">
            <a:spAutoFit/>
          </a:bodyPr>
          <a:lstStyle/>
          <a:p>
            <a:pPr algn="ctr"/>
            <a:r>
              <a:rPr lang="en-GB" b="1" dirty="0">
                <a:solidFill>
                  <a:schemeClr val="accent6">
                    <a:lumMod val="75000"/>
                  </a:schemeClr>
                </a:solidFill>
              </a:rPr>
              <a:t>Change in thermal energy = Mass x Specific Heat Capacity x Temperature Change</a:t>
            </a:r>
          </a:p>
          <a:p>
            <a:pPr algn="ctr"/>
            <a:r>
              <a:rPr lang="en-GB" sz="2800" b="1" i="1" dirty="0">
                <a:solidFill>
                  <a:schemeClr val="accent6">
                    <a:lumMod val="75000"/>
                  </a:schemeClr>
                </a:solidFill>
              </a:rPr>
              <a:t>ΔE = m x c x </a:t>
            </a:r>
            <a:r>
              <a:rPr lang="el-GR" sz="2800" b="1" i="1" dirty="0" err="1">
                <a:solidFill>
                  <a:schemeClr val="accent6">
                    <a:lumMod val="75000"/>
                  </a:schemeClr>
                </a:solidFill>
              </a:rPr>
              <a:t>Δ</a:t>
            </a:r>
            <a:r>
              <a:rPr lang="el-GR" sz="2800" b="1" dirty="0" err="1">
                <a:solidFill>
                  <a:schemeClr val="accent6">
                    <a:lumMod val="75000"/>
                  </a:schemeClr>
                </a:solidFill>
              </a:rPr>
              <a:t>θ</a:t>
            </a:r>
            <a:endParaRPr lang="en-GB" sz="2000" dirty="0"/>
          </a:p>
        </p:txBody>
      </p:sp>
    </p:spTree>
    <p:extLst>
      <p:ext uri="{BB962C8B-B14F-4D97-AF65-F5344CB8AC3E}">
        <p14:creationId xmlns:p14="http://schemas.microsoft.com/office/powerpoint/2010/main" val="1231861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51520" y="738066"/>
            <a:ext cx="4499992" cy="572464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GB" sz="3600" b="1" dirty="0">
                <a:solidFill>
                  <a:schemeClr val="tx1">
                    <a:lumMod val="50000"/>
                    <a:lumOff val="50000"/>
                  </a:schemeClr>
                </a:solidFill>
              </a:rPr>
              <a:t>Conservation and</a:t>
            </a:r>
          </a:p>
          <a:p>
            <a:r>
              <a:rPr lang="en-GB" sz="3600" b="1" dirty="0">
                <a:solidFill>
                  <a:schemeClr val="tx1">
                    <a:lumMod val="50000"/>
                    <a:lumOff val="50000"/>
                  </a:schemeClr>
                </a:solidFill>
              </a:rPr>
              <a:t>Dissipation of </a:t>
            </a:r>
          </a:p>
          <a:p>
            <a:r>
              <a:rPr lang="en-GB" sz="3600" b="1" dirty="0">
                <a:solidFill>
                  <a:schemeClr val="tx1">
                    <a:lumMod val="50000"/>
                    <a:lumOff val="50000"/>
                  </a:schemeClr>
                </a:solidFill>
              </a:rPr>
              <a:t>Energy </a:t>
            </a:r>
          </a:p>
          <a:p>
            <a:endParaRPr lang="en-GB" sz="2400" b="1"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Energy transfers in a system</a:t>
            </a:r>
          </a:p>
          <a:p>
            <a:pPr marL="685800" lvl="1" indent="-342900">
              <a:buFont typeface="Arial" charset="0"/>
              <a:buChar char="•"/>
            </a:pPr>
            <a:endParaRPr lang="en-US" sz="2400" b="1" dirty="0">
              <a:solidFill>
                <a:schemeClr val="bg1">
                  <a:lumMod val="50000"/>
                </a:schemeClr>
              </a:solidFill>
            </a:endParaRPr>
          </a:p>
          <a:p>
            <a:pPr marL="685800" lvl="1" indent="-342900">
              <a:buFont typeface="Arial" charset="0"/>
              <a:buChar char="•"/>
            </a:pPr>
            <a:r>
              <a:rPr lang="en-US" sz="2400" b="1" dirty="0">
                <a:solidFill>
                  <a:schemeClr val="bg1">
                    <a:lumMod val="50000"/>
                  </a:schemeClr>
                </a:solidFill>
              </a:rPr>
              <a:t>Efficiency</a:t>
            </a:r>
            <a:endParaRPr lang="en-GB" dirty="0"/>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3059832" y="1011899"/>
            <a:ext cx="6084168" cy="5176979"/>
          </a:xfrm>
          <a:prstGeom prst="rect">
            <a:avLst/>
          </a:prstGeom>
        </p:spPr>
      </p:pic>
    </p:spTree>
    <p:extLst>
      <p:ext uri="{BB962C8B-B14F-4D97-AF65-F5344CB8AC3E}">
        <p14:creationId xmlns:p14="http://schemas.microsoft.com/office/powerpoint/2010/main" val="1670452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1811" y="52786"/>
            <a:ext cx="8070286" cy="657041"/>
          </a:xfrm>
        </p:spPr>
        <p:txBody>
          <a:bodyPr>
            <a:noAutofit/>
          </a:bodyPr>
          <a:lstStyle/>
          <a:p>
            <a:pPr marL="342900" lvl="1" algn="l" defTabSz="342900" rtl="0">
              <a:spcBef>
                <a:spcPct val="20000"/>
              </a:spcBef>
            </a:pPr>
            <a:r>
              <a:rPr lang="en-US" sz="2400" b="1" dirty="0" smtClean="0">
                <a:solidFill>
                  <a:schemeClr val="accent6"/>
                </a:solidFill>
              </a:rPr>
              <a:t>                              </a:t>
            </a:r>
            <a:r>
              <a:rPr lang="en-US" sz="2800" b="1" dirty="0" smtClean="0">
                <a:solidFill>
                  <a:schemeClr val="accent6"/>
                </a:solidFill>
              </a:rPr>
              <a:t>Energy </a:t>
            </a:r>
            <a:r>
              <a:rPr lang="en-US" sz="2800" b="1" dirty="0">
                <a:solidFill>
                  <a:schemeClr val="accent6"/>
                </a:solidFill>
              </a:rPr>
              <a:t>transfers in a system</a:t>
            </a:r>
            <a:endParaRPr kumimoji="0" lang="en-US" sz="28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5" name="TextBox 4">
            <a:extLst>
              <a:ext uri="{FF2B5EF4-FFF2-40B4-BE49-F238E27FC236}">
                <a16:creationId xmlns:a16="http://schemas.microsoft.com/office/drawing/2014/main" xmlns="" id="{3DEAB0C6-4110-4BFC-B0D4-BB2F5EB292C8}"/>
              </a:ext>
            </a:extLst>
          </p:cNvPr>
          <p:cNvSpPr txBox="1"/>
          <p:nvPr/>
        </p:nvSpPr>
        <p:spPr>
          <a:xfrm>
            <a:off x="179512" y="747560"/>
            <a:ext cx="8784976" cy="954107"/>
          </a:xfrm>
          <a:prstGeom prst="rect">
            <a:avLst/>
          </a:prstGeom>
          <a:gradFill>
            <a:gsLst>
              <a:gs pos="0">
                <a:schemeClr val="accent6">
                  <a:lumMod val="60000"/>
                  <a:lumOff val="40000"/>
                </a:schemeClr>
              </a:gs>
              <a:gs pos="35000">
                <a:schemeClr val="accent6">
                  <a:tint val="37000"/>
                  <a:satMod val="300000"/>
                </a:schemeClr>
              </a:gs>
              <a:gs pos="100000">
                <a:schemeClr val="accent6">
                  <a:tint val="15000"/>
                  <a:satMod val="350000"/>
                </a:schemeClr>
              </a:gs>
            </a:gsLst>
            <a:lin ang="16200000" scaled="1"/>
          </a:gradFill>
        </p:spPr>
        <p:txBody>
          <a:bodyPr wrap="square" rtlCol="0">
            <a:spAutoFit/>
          </a:bodyPr>
          <a:lstStyle/>
          <a:p>
            <a:r>
              <a:rPr lang="en-GB" sz="2800" b="1" dirty="0"/>
              <a:t>Energy can be stored, transferred </a:t>
            </a:r>
            <a:r>
              <a:rPr lang="en-GB" sz="2800" b="1"/>
              <a:t>or </a:t>
            </a:r>
            <a:r>
              <a:rPr lang="en-GB" sz="2800" b="1" smtClean="0"/>
              <a:t>dissipated </a:t>
            </a:r>
            <a:r>
              <a:rPr lang="en-GB" sz="2800" b="1" dirty="0"/>
              <a:t>- but can not be created or destroyed.</a:t>
            </a:r>
          </a:p>
        </p:txBody>
      </p:sp>
      <p:sp>
        <p:nvSpPr>
          <p:cNvPr id="6" name="Oval 5">
            <a:extLst>
              <a:ext uri="{FF2B5EF4-FFF2-40B4-BE49-F238E27FC236}">
                <a16:creationId xmlns:a16="http://schemas.microsoft.com/office/drawing/2014/main" xmlns="" id="{AE1202BB-DBBC-4D0F-807A-CB2B6D6E3BB8}"/>
              </a:ext>
            </a:extLst>
          </p:cNvPr>
          <p:cNvSpPr/>
          <p:nvPr/>
        </p:nvSpPr>
        <p:spPr>
          <a:xfrm>
            <a:off x="3895168" y="2329865"/>
            <a:ext cx="1476378" cy="1356826"/>
          </a:xfrm>
          <a:prstGeom prst="ellipse">
            <a:avLst/>
          </a:prstGeom>
          <a:gradFill>
            <a:gsLst>
              <a:gs pos="16000">
                <a:schemeClr val="accent6">
                  <a:lumMod val="60000"/>
                  <a:lumOff val="40000"/>
                </a:schemeClr>
              </a:gs>
              <a:gs pos="100000">
                <a:schemeClr val="accent6">
                  <a:lumMod val="20000"/>
                  <a:lumOff val="80000"/>
                </a:schemeClr>
              </a:gs>
            </a:gsLst>
            <a:lin ang="16200000" scaled="0"/>
          </a:gradFill>
          <a:ln>
            <a:solidFill>
              <a:schemeClr val="accent6">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a:p>
        </p:txBody>
      </p:sp>
      <p:sp>
        <p:nvSpPr>
          <p:cNvPr id="9" name="TextBox 8">
            <a:extLst>
              <a:ext uri="{FF2B5EF4-FFF2-40B4-BE49-F238E27FC236}">
                <a16:creationId xmlns:a16="http://schemas.microsoft.com/office/drawing/2014/main" xmlns="" id="{80D4315C-C9FD-476F-8133-C2FED72B4029}"/>
              </a:ext>
            </a:extLst>
          </p:cNvPr>
          <p:cNvSpPr txBox="1"/>
          <p:nvPr/>
        </p:nvSpPr>
        <p:spPr>
          <a:xfrm>
            <a:off x="4139952" y="2590456"/>
            <a:ext cx="1021183" cy="923330"/>
          </a:xfrm>
          <a:prstGeom prst="rect">
            <a:avLst/>
          </a:prstGeom>
          <a:noFill/>
        </p:spPr>
        <p:txBody>
          <a:bodyPr wrap="square" rtlCol="0">
            <a:spAutoFit/>
          </a:bodyPr>
          <a:lstStyle/>
          <a:p>
            <a:pPr algn="ctr"/>
            <a:r>
              <a:rPr lang="en-GB" b="1" dirty="0"/>
              <a:t>Closed </a:t>
            </a:r>
          </a:p>
          <a:p>
            <a:pPr algn="ctr"/>
            <a:r>
              <a:rPr lang="en-GB" b="1" dirty="0"/>
              <a:t>Energy</a:t>
            </a:r>
          </a:p>
          <a:p>
            <a:pPr algn="ctr"/>
            <a:r>
              <a:rPr lang="en-GB" b="1" dirty="0"/>
              <a:t>system</a:t>
            </a:r>
          </a:p>
        </p:txBody>
      </p:sp>
      <p:sp>
        <p:nvSpPr>
          <p:cNvPr id="12" name="Arrow: Right 11">
            <a:extLst>
              <a:ext uri="{FF2B5EF4-FFF2-40B4-BE49-F238E27FC236}">
                <a16:creationId xmlns:a16="http://schemas.microsoft.com/office/drawing/2014/main" xmlns="" id="{708BA02A-8FD2-446D-A75D-3551132E510A}"/>
              </a:ext>
            </a:extLst>
          </p:cNvPr>
          <p:cNvSpPr/>
          <p:nvPr/>
        </p:nvSpPr>
        <p:spPr>
          <a:xfrm>
            <a:off x="2585698" y="2708921"/>
            <a:ext cx="1266221" cy="725308"/>
          </a:xfrm>
          <a:prstGeom prst="rightArrow">
            <a:avLst/>
          </a:prstGeom>
          <a:gradFill>
            <a:gsLst>
              <a:gs pos="0">
                <a:schemeClr val="accent6">
                  <a:lumMod val="75000"/>
                </a:schemeClr>
              </a:gs>
              <a:gs pos="100000">
                <a:schemeClr val="accent6">
                  <a:lumMod val="20000"/>
                  <a:lumOff val="80000"/>
                </a:schemeClr>
              </a:gs>
            </a:gsLst>
          </a:gradFill>
          <a:ln>
            <a:solidFill>
              <a:schemeClr val="accent6">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a:p>
        </p:txBody>
      </p:sp>
      <p:sp>
        <p:nvSpPr>
          <p:cNvPr id="18" name="Arrow: Right 17">
            <a:extLst>
              <a:ext uri="{FF2B5EF4-FFF2-40B4-BE49-F238E27FC236}">
                <a16:creationId xmlns:a16="http://schemas.microsoft.com/office/drawing/2014/main" xmlns="" id="{0406EACB-106B-4DB6-849F-3F3D455F9A88}"/>
              </a:ext>
            </a:extLst>
          </p:cNvPr>
          <p:cNvSpPr/>
          <p:nvPr/>
        </p:nvSpPr>
        <p:spPr>
          <a:xfrm>
            <a:off x="5457265" y="2721399"/>
            <a:ext cx="1346983" cy="700351"/>
          </a:xfrm>
          <a:prstGeom prst="rightArrow">
            <a:avLst/>
          </a:prstGeom>
          <a:gradFill>
            <a:gsLst>
              <a:gs pos="0">
                <a:schemeClr val="accent6">
                  <a:lumMod val="75000"/>
                </a:schemeClr>
              </a:gs>
              <a:gs pos="100000">
                <a:schemeClr val="accent6">
                  <a:lumMod val="20000"/>
                  <a:lumOff val="80000"/>
                </a:schemeClr>
              </a:gs>
            </a:gsLst>
          </a:gradFill>
          <a:ln>
            <a:solidFill>
              <a:schemeClr val="accent6">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a:p>
        </p:txBody>
      </p:sp>
      <p:sp>
        <p:nvSpPr>
          <p:cNvPr id="15" name="TextBox 14">
            <a:extLst>
              <a:ext uri="{FF2B5EF4-FFF2-40B4-BE49-F238E27FC236}">
                <a16:creationId xmlns:a16="http://schemas.microsoft.com/office/drawing/2014/main" xmlns="" id="{E93642A4-503F-4DC3-98B7-90CCE073962D}"/>
              </a:ext>
            </a:extLst>
          </p:cNvPr>
          <p:cNvSpPr txBox="1"/>
          <p:nvPr/>
        </p:nvSpPr>
        <p:spPr>
          <a:xfrm>
            <a:off x="179512" y="1916832"/>
            <a:ext cx="2304256" cy="2246769"/>
          </a:xfrm>
          <a:prstGeom prst="rect">
            <a:avLst/>
          </a:prstGeom>
          <a:noFill/>
          <a:ln w="25400">
            <a:solidFill>
              <a:schemeClr val="accent6">
                <a:lumMod val="75000"/>
              </a:schemeClr>
            </a:solidFill>
          </a:ln>
        </p:spPr>
        <p:txBody>
          <a:bodyPr wrap="square" rtlCol="0">
            <a:spAutoFit/>
          </a:bodyPr>
          <a:lstStyle/>
          <a:p>
            <a:r>
              <a:rPr lang="en-GB" sz="2000" dirty="0"/>
              <a:t>In a closed energy system there can be transfer of energy but not mass. There is </a:t>
            </a:r>
            <a:r>
              <a:rPr lang="en-GB" sz="2000" b="1" dirty="0">
                <a:solidFill>
                  <a:schemeClr val="accent6">
                    <a:lumMod val="75000"/>
                  </a:schemeClr>
                </a:solidFill>
              </a:rPr>
              <a:t>no change to the total energy in the system.</a:t>
            </a:r>
          </a:p>
        </p:txBody>
      </p:sp>
      <p:sp>
        <p:nvSpPr>
          <p:cNvPr id="19" name="TextBox 18">
            <a:extLst>
              <a:ext uri="{FF2B5EF4-FFF2-40B4-BE49-F238E27FC236}">
                <a16:creationId xmlns:a16="http://schemas.microsoft.com/office/drawing/2014/main" xmlns="" id="{4A606975-27C9-4B4B-BD3A-EB44B42CB1E0}"/>
              </a:ext>
            </a:extLst>
          </p:cNvPr>
          <p:cNvSpPr txBox="1"/>
          <p:nvPr/>
        </p:nvSpPr>
        <p:spPr>
          <a:xfrm>
            <a:off x="2728552" y="2912308"/>
            <a:ext cx="936104" cy="369332"/>
          </a:xfrm>
          <a:prstGeom prst="rect">
            <a:avLst/>
          </a:prstGeom>
          <a:noFill/>
        </p:spPr>
        <p:txBody>
          <a:bodyPr wrap="square" rtlCol="0">
            <a:spAutoFit/>
          </a:bodyPr>
          <a:lstStyle/>
          <a:p>
            <a:r>
              <a:rPr lang="en-GB" b="1" dirty="0"/>
              <a:t>E in</a:t>
            </a:r>
          </a:p>
        </p:txBody>
      </p:sp>
      <p:sp>
        <p:nvSpPr>
          <p:cNvPr id="20" name="TextBox 19">
            <a:extLst>
              <a:ext uri="{FF2B5EF4-FFF2-40B4-BE49-F238E27FC236}">
                <a16:creationId xmlns:a16="http://schemas.microsoft.com/office/drawing/2014/main" xmlns="" id="{EE609888-FCAC-43E2-B1E7-8CB690BFB2C9}"/>
              </a:ext>
            </a:extLst>
          </p:cNvPr>
          <p:cNvSpPr txBox="1"/>
          <p:nvPr/>
        </p:nvSpPr>
        <p:spPr>
          <a:xfrm>
            <a:off x="5559196" y="2886909"/>
            <a:ext cx="761911" cy="369332"/>
          </a:xfrm>
          <a:prstGeom prst="rect">
            <a:avLst/>
          </a:prstGeom>
          <a:noFill/>
        </p:spPr>
        <p:txBody>
          <a:bodyPr wrap="square" rtlCol="0">
            <a:spAutoFit/>
          </a:bodyPr>
          <a:lstStyle/>
          <a:p>
            <a:r>
              <a:rPr lang="en-GB" b="1" dirty="0"/>
              <a:t>E out</a:t>
            </a:r>
          </a:p>
        </p:txBody>
      </p:sp>
      <p:sp>
        <p:nvSpPr>
          <p:cNvPr id="21" name="TextBox 20">
            <a:extLst>
              <a:ext uri="{FF2B5EF4-FFF2-40B4-BE49-F238E27FC236}">
                <a16:creationId xmlns:a16="http://schemas.microsoft.com/office/drawing/2014/main" xmlns="" id="{AF317567-4609-4A5F-9E19-B848B174E5C7}"/>
              </a:ext>
            </a:extLst>
          </p:cNvPr>
          <p:cNvSpPr txBox="1"/>
          <p:nvPr/>
        </p:nvSpPr>
        <p:spPr>
          <a:xfrm>
            <a:off x="3851920" y="1916832"/>
            <a:ext cx="1296144" cy="276999"/>
          </a:xfrm>
          <a:prstGeom prst="rect">
            <a:avLst/>
          </a:prstGeom>
          <a:noFill/>
        </p:spPr>
        <p:txBody>
          <a:bodyPr wrap="square" rtlCol="0">
            <a:spAutoFit/>
          </a:bodyPr>
          <a:lstStyle/>
          <a:p>
            <a:r>
              <a:rPr lang="en-GB" sz="1200" dirty="0"/>
              <a:t>No mass change</a:t>
            </a:r>
          </a:p>
        </p:txBody>
      </p:sp>
      <p:sp>
        <p:nvSpPr>
          <p:cNvPr id="22" name="TextBox 21">
            <a:extLst>
              <a:ext uri="{FF2B5EF4-FFF2-40B4-BE49-F238E27FC236}">
                <a16:creationId xmlns:a16="http://schemas.microsoft.com/office/drawing/2014/main" xmlns="" id="{4886B668-81D1-482A-9A82-A971311090A2}"/>
              </a:ext>
            </a:extLst>
          </p:cNvPr>
          <p:cNvSpPr txBox="1"/>
          <p:nvPr/>
        </p:nvSpPr>
        <p:spPr>
          <a:xfrm>
            <a:off x="6906179" y="1928736"/>
            <a:ext cx="2058309" cy="2246769"/>
          </a:xfrm>
          <a:prstGeom prst="rect">
            <a:avLst/>
          </a:prstGeom>
          <a:noFill/>
          <a:ln w="25400">
            <a:solidFill>
              <a:schemeClr val="accent6">
                <a:lumMod val="75000"/>
              </a:schemeClr>
            </a:solidFill>
          </a:ln>
        </p:spPr>
        <p:txBody>
          <a:bodyPr wrap="square" rtlCol="0">
            <a:spAutoFit/>
          </a:bodyPr>
          <a:lstStyle/>
          <a:p>
            <a:r>
              <a:rPr lang="en-GB" sz="2000" dirty="0"/>
              <a:t>In a </a:t>
            </a:r>
            <a:r>
              <a:rPr lang="en-GB" sz="2000" b="1" dirty="0">
                <a:solidFill>
                  <a:schemeClr val="accent6">
                    <a:lumMod val="75000"/>
                  </a:schemeClr>
                </a:solidFill>
              </a:rPr>
              <a:t>closed energy system</a:t>
            </a:r>
            <a:r>
              <a:rPr lang="en-GB" sz="2000" dirty="0"/>
              <a:t> all the energy can be accounted for even when energy stores change.</a:t>
            </a:r>
          </a:p>
        </p:txBody>
      </p:sp>
      <p:pic>
        <p:nvPicPr>
          <p:cNvPr id="24" name="Picture 23">
            <a:extLst>
              <a:ext uri="{FF2B5EF4-FFF2-40B4-BE49-F238E27FC236}">
                <a16:creationId xmlns:a16="http://schemas.microsoft.com/office/drawing/2014/main" xmlns="" id="{CA5F6F45-5EED-4D9B-B187-247A839A1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34147" y="4439611"/>
            <a:ext cx="3002371" cy="1859433"/>
          </a:xfrm>
          <a:prstGeom prst="rect">
            <a:avLst/>
          </a:prstGeom>
        </p:spPr>
      </p:pic>
      <p:sp>
        <p:nvSpPr>
          <p:cNvPr id="25" name="TextBox 24">
            <a:extLst>
              <a:ext uri="{FF2B5EF4-FFF2-40B4-BE49-F238E27FC236}">
                <a16:creationId xmlns:a16="http://schemas.microsoft.com/office/drawing/2014/main" xmlns="" id="{44E28796-BD6D-436E-BB73-201F8C20EDFC}"/>
              </a:ext>
            </a:extLst>
          </p:cNvPr>
          <p:cNvSpPr txBox="1"/>
          <p:nvPr/>
        </p:nvSpPr>
        <p:spPr>
          <a:xfrm>
            <a:off x="35496" y="4439611"/>
            <a:ext cx="8208912" cy="1938992"/>
          </a:xfrm>
          <a:prstGeom prst="rect">
            <a:avLst/>
          </a:prstGeom>
          <a:noFill/>
        </p:spPr>
        <p:txBody>
          <a:bodyPr wrap="square" rtlCol="0">
            <a:spAutoFit/>
          </a:bodyPr>
          <a:lstStyle/>
          <a:p>
            <a:r>
              <a:rPr lang="en-GB" sz="2400" b="1" dirty="0"/>
              <a:t>The diagram shows the energy transfer for a light</a:t>
            </a:r>
          </a:p>
          <a:p>
            <a:r>
              <a:rPr lang="en-GB" sz="2400" b="1" dirty="0"/>
              <a:t>bulb. All the </a:t>
            </a:r>
            <a:r>
              <a:rPr lang="en-GB" sz="2400" b="1" dirty="0">
                <a:solidFill>
                  <a:schemeClr val="accent6">
                    <a:lumMod val="75000"/>
                  </a:schemeClr>
                </a:solidFill>
              </a:rPr>
              <a:t>electrical energy </a:t>
            </a:r>
            <a:r>
              <a:rPr lang="en-GB" sz="2400" b="1" dirty="0"/>
              <a:t>store can be accounted</a:t>
            </a:r>
          </a:p>
          <a:p>
            <a:r>
              <a:rPr lang="en-GB" sz="2400" b="1" dirty="0"/>
              <a:t> for as </a:t>
            </a:r>
            <a:r>
              <a:rPr lang="en-GB" sz="2400" b="1" dirty="0">
                <a:solidFill>
                  <a:schemeClr val="accent6">
                    <a:lumMod val="75000"/>
                  </a:schemeClr>
                </a:solidFill>
              </a:rPr>
              <a:t>light energy </a:t>
            </a:r>
            <a:r>
              <a:rPr lang="en-GB" sz="2400" b="1" dirty="0"/>
              <a:t>and </a:t>
            </a:r>
            <a:r>
              <a:rPr lang="en-GB" sz="2400" b="1" dirty="0">
                <a:solidFill>
                  <a:schemeClr val="accent6">
                    <a:lumMod val="75000"/>
                  </a:schemeClr>
                </a:solidFill>
              </a:rPr>
              <a:t>thermal energy</a:t>
            </a:r>
            <a:r>
              <a:rPr lang="en-GB" sz="2400" b="1" dirty="0"/>
              <a:t>.</a:t>
            </a:r>
          </a:p>
          <a:p>
            <a:r>
              <a:rPr lang="en-GB" sz="2400" b="1" dirty="0"/>
              <a:t>The thermal energy is not useful in this case and can be </a:t>
            </a:r>
          </a:p>
          <a:p>
            <a:r>
              <a:rPr lang="en-GB" sz="2400" b="1" dirty="0"/>
              <a:t>considered to be </a:t>
            </a:r>
            <a:r>
              <a:rPr lang="en-GB" sz="2400" b="1" dirty="0">
                <a:solidFill>
                  <a:schemeClr val="accent6">
                    <a:lumMod val="75000"/>
                  </a:schemeClr>
                </a:solidFill>
              </a:rPr>
              <a:t>dissipated</a:t>
            </a:r>
            <a:r>
              <a:rPr lang="en-GB" sz="2400" b="1" dirty="0"/>
              <a:t> or “waste” energy.</a:t>
            </a:r>
          </a:p>
        </p:txBody>
      </p:sp>
    </p:spTree>
    <p:extLst>
      <p:ext uri="{BB962C8B-B14F-4D97-AF65-F5344CB8AC3E}">
        <p14:creationId xmlns:p14="http://schemas.microsoft.com/office/powerpoint/2010/main" val="20007492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3DEAB0C6-4110-4BFC-B0D4-BB2F5EB292C8}"/>
              </a:ext>
            </a:extLst>
          </p:cNvPr>
          <p:cNvSpPr txBox="1"/>
          <p:nvPr/>
        </p:nvSpPr>
        <p:spPr>
          <a:xfrm>
            <a:off x="428020" y="784653"/>
            <a:ext cx="8424936" cy="430887"/>
          </a:xfrm>
          <a:prstGeom prst="rect">
            <a:avLst/>
          </a:prstGeom>
          <a:gradFill>
            <a:gsLst>
              <a:gs pos="0">
                <a:schemeClr val="accent6">
                  <a:lumMod val="60000"/>
                  <a:lumOff val="40000"/>
                </a:schemeClr>
              </a:gs>
              <a:gs pos="35000">
                <a:schemeClr val="accent6">
                  <a:tint val="37000"/>
                  <a:satMod val="300000"/>
                </a:schemeClr>
              </a:gs>
              <a:gs pos="100000">
                <a:schemeClr val="accent6">
                  <a:tint val="15000"/>
                  <a:satMod val="350000"/>
                </a:schemeClr>
              </a:gs>
            </a:gsLst>
            <a:lin ang="16200000" scaled="1"/>
          </a:gradFill>
          <a:ln>
            <a:solidFill>
              <a:schemeClr val="accent6">
                <a:lumMod val="75000"/>
              </a:schemeClr>
            </a:solidFill>
          </a:ln>
        </p:spPr>
        <p:txBody>
          <a:bodyPr wrap="square" rtlCol="0">
            <a:spAutoFit/>
          </a:bodyPr>
          <a:lstStyle/>
          <a:p>
            <a:r>
              <a:rPr lang="en-GB" sz="2200" b="1" u="sng" dirty="0"/>
              <a:t>Unwanted energy </a:t>
            </a:r>
            <a:r>
              <a:rPr lang="en-GB" sz="2200" b="1" dirty="0"/>
              <a:t>transfers result in energy stores that are not useful. </a:t>
            </a:r>
          </a:p>
        </p:txBody>
      </p:sp>
      <p:sp>
        <p:nvSpPr>
          <p:cNvPr id="4" name="TextBox 3">
            <a:extLst>
              <a:ext uri="{FF2B5EF4-FFF2-40B4-BE49-F238E27FC236}">
                <a16:creationId xmlns:a16="http://schemas.microsoft.com/office/drawing/2014/main" xmlns="" id="{7ADDAED6-57C0-4C72-8833-C16BF79D6746}"/>
              </a:ext>
            </a:extLst>
          </p:cNvPr>
          <p:cNvSpPr txBox="1"/>
          <p:nvPr/>
        </p:nvSpPr>
        <p:spPr>
          <a:xfrm>
            <a:off x="179511" y="1467587"/>
            <a:ext cx="8972585" cy="5170646"/>
          </a:xfrm>
          <a:prstGeom prst="rect">
            <a:avLst/>
          </a:prstGeom>
          <a:noFill/>
        </p:spPr>
        <p:txBody>
          <a:bodyPr wrap="square" rtlCol="0">
            <a:spAutoFit/>
          </a:bodyPr>
          <a:lstStyle/>
          <a:p>
            <a:r>
              <a:rPr lang="en-GB" sz="2200" b="1" dirty="0"/>
              <a:t>The F1 car below shows that eventually all the chemical energy (fuel) put in the car ends up as </a:t>
            </a:r>
            <a:r>
              <a:rPr lang="en-GB" sz="2200" b="1" u="sng" dirty="0">
                <a:solidFill>
                  <a:schemeClr val="accent6">
                    <a:lumMod val="75000"/>
                  </a:schemeClr>
                </a:solidFill>
              </a:rPr>
              <a:t>unwanted</a:t>
            </a:r>
            <a:r>
              <a:rPr lang="en-GB" sz="2200" b="1" dirty="0"/>
              <a:t> thermal energy which is dissipated to the surroundings. </a:t>
            </a:r>
            <a:r>
              <a:rPr lang="en-GB" sz="2200" b="1" dirty="0" smtClean="0">
                <a:solidFill>
                  <a:schemeClr val="accent6">
                    <a:lumMod val="75000"/>
                  </a:schemeClr>
                </a:solidFill>
              </a:rPr>
              <a:t>Unwanted</a:t>
            </a:r>
            <a:r>
              <a:rPr lang="en-GB" sz="2200" b="1" dirty="0" smtClean="0"/>
              <a:t> energy </a:t>
            </a:r>
            <a:r>
              <a:rPr lang="en-GB" sz="2200" b="1" dirty="0"/>
              <a:t>is often described as being </a:t>
            </a:r>
            <a:r>
              <a:rPr lang="en-GB" sz="2200" b="1" dirty="0" smtClean="0">
                <a:solidFill>
                  <a:schemeClr val="accent6">
                    <a:lumMod val="75000"/>
                  </a:schemeClr>
                </a:solidFill>
              </a:rPr>
              <a:t>‘wasted’</a:t>
            </a:r>
          </a:p>
          <a:p>
            <a:endParaRPr lang="en-GB" sz="2200" b="1" dirty="0">
              <a:solidFill>
                <a:schemeClr val="accent6">
                  <a:lumMod val="75000"/>
                </a:schemeClr>
              </a:solidFill>
            </a:endParaRPr>
          </a:p>
          <a:p>
            <a:endParaRPr lang="en-GB" sz="2200" b="1" dirty="0"/>
          </a:p>
          <a:p>
            <a:r>
              <a:rPr lang="en-GB" sz="1600" dirty="0"/>
              <a:t>								</a:t>
            </a:r>
            <a:endParaRPr lang="en-GB" sz="1600" dirty="0" smtClean="0"/>
          </a:p>
          <a:p>
            <a:endParaRPr lang="en-GB" sz="1600" b="1" dirty="0">
              <a:solidFill>
                <a:schemeClr val="accent6">
                  <a:lumMod val="75000"/>
                </a:schemeClr>
              </a:solidFill>
            </a:endParaRPr>
          </a:p>
          <a:p>
            <a:endParaRPr lang="en-GB" sz="1600" b="1" dirty="0">
              <a:solidFill>
                <a:schemeClr val="accent6">
                  <a:lumMod val="75000"/>
                </a:schemeClr>
              </a:solidFill>
            </a:endParaRPr>
          </a:p>
          <a:p>
            <a:endParaRPr lang="en-GB" sz="1600" dirty="0"/>
          </a:p>
          <a:p>
            <a:r>
              <a:rPr lang="en-GB" sz="2200" b="1" dirty="0" smtClean="0">
                <a:solidFill>
                  <a:schemeClr val="accent6">
                    <a:lumMod val="75000"/>
                  </a:schemeClr>
                </a:solidFill>
              </a:rPr>
              <a:t>Kinetic </a:t>
            </a:r>
            <a:r>
              <a:rPr lang="en-GB" sz="2200" b="1" dirty="0">
                <a:solidFill>
                  <a:schemeClr val="accent6">
                    <a:lumMod val="75000"/>
                  </a:schemeClr>
                </a:solidFill>
              </a:rPr>
              <a:t>energy </a:t>
            </a:r>
            <a:r>
              <a:rPr lang="en-GB" sz="2200" b="1" dirty="0"/>
              <a:t>is dissipated by the tyres, brakes and air resistance to become </a:t>
            </a:r>
            <a:r>
              <a:rPr lang="en-GB" sz="2400" b="1" u="sng" dirty="0"/>
              <a:t>unwanted</a:t>
            </a:r>
            <a:r>
              <a:rPr lang="en-GB" sz="2400" b="1" dirty="0"/>
              <a:t> </a:t>
            </a:r>
            <a:r>
              <a:rPr lang="en-GB" sz="2200" b="1" dirty="0"/>
              <a:t>thermal</a:t>
            </a:r>
            <a:r>
              <a:rPr lang="en-GB" sz="2200" b="1" dirty="0">
                <a:solidFill>
                  <a:schemeClr val="accent6">
                    <a:lumMod val="75000"/>
                  </a:schemeClr>
                </a:solidFill>
              </a:rPr>
              <a:t> </a:t>
            </a:r>
            <a:r>
              <a:rPr lang="en-GB" sz="2200" b="1" dirty="0"/>
              <a:t>energy stores.</a:t>
            </a:r>
          </a:p>
          <a:p>
            <a:r>
              <a:rPr lang="en-GB" sz="2200" b="1" dirty="0">
                <a:solidFill>
                  <a:schemeClr val="accent6">
                    <a:lumMod val="75000"/>
                  </a:schemeClr>
                </a:solidFill>
              </a:rPr>
              <a:t>Sound energy </a:t>
            </a:r>
            <a:r>
              <a:rPr lang="en-GB" sz="2200" b="1" dirty="0"/>
              <a:t>is absorbed by materials and becomes </a:t>
            </a:r>
            <a:r>
              <a:rPr lang="en-GB" sz="2200" b="1" dirty="0">
                <a:solidFill>
                  <a:schemeClr val="accent6">
                    <a:lumMod val="75000"/>
                  </a:schemeClr>
                </a:solidFill>
              </a:rPr>
              <a:t>thermal</a:t>
            </a:r>
            <a:r>
              <a:rPr lang="en-GB" sz="2200" b="1" dirty="0"/>
              <a:t> energy.</a:t>
            </a:r>
            <a:r>
              <a:rPr lang="en-GB" sz="2200" dirty="0"/>
              <a:t>	</a:t>
            </a:r>
          </a:p>
          <a:p>
            <a:r>
              <a:rPr lang="en-GB" sz="2200" b="1" dirty="0">
                <a:solidFill>
                  <a:schemeClr val="accent6">
                    <a:lumMod val="75000"/>
                  </a:schemeClr>
                </a:solidFill>
              </a:rPr>
              <a:t>Thermal energy </a:t>
            </a:r>
            <a:r>
              <a:rPr lang="en-GB" sz="2200" b="1" dirty="0"/>
              <a:t>is produced by the engine as fuel is burnt.</a:t>
            </a:r>
          </a:p>
          <a:p>
            <a:endParaRPr lang="en-GB" sz="2200" b="1" dirty="0"/>
          </a:p>
          <a:p>
            <a:r>
              <a:rPr lang="en-GB" sz="2200" b="1" dirty="0"/>
              <a:t>Oil is used in the engine, gearbox and other moving parts as a </a:t>
            </a:r>
            <a:r>
              <a:rPr lang="en-GB" sz="2200" b="1" dirty="0">
                <a:solidFill>
                  <a:schemeClr val="accent6">
                    <a:lumMod val="75000"/>
                  </a:schemeClr>
                </a:solidFill>
              </a:rPr>
              <a:t>lubricant</a:t>
            </a:r>
            <a:r>
              <a:rPr lang="en-GB" sz="2200" b="1" dirty="0"/>
              <a:t> to reduce friction and </a:t>
            </a:r>
            <a:r>
              <a:rPr lang="en-GB" sz="2200" b="1" dirty="0">
                <a:solidFill>
                  <a:schemeClr val="accent6">
                    <a:lumMod val="75000"/>
                  </a:schemeClr>
                </a:solidFill>
              </a:rPr>
              <a:t>reduce unwanted thermal energy </a:t>
            </a:r>
            <a:r>
              <a:rPr lang="en-GB" sz="2200" b="1" dirty="0"/>
              <a:t>in these parts.</a:t>
            </a:r>
            <a:endParaRPr lang="en-GB" sz="2400" dirty="0"/>
          </a:p>
        </p:txBody>
      </p:sp>
      <p:pic>
        <p:nvPicPr>
          <p:cNvPr id="7" name="Picture 6">
            <a:extLst>
              <a:ext uri="{FF2B5EF4-FFF2-40B4-BE49-F238E27FC236}">
                <a16:creationId xmlns:a16="http://schemas.microsoft.com/office/drawing/2014/main" xmlns="" id="{B3A6F46B-A79F-4918-AE72-20F000D111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59955" y="2852936"/>
            <a:ext cx="2399948" cy="1199974"/>
          </a:xfrm>
          <a:prstGeom prst="rect">
            <a:avLst/>
          </a:prstGeom>
          <a:ln w="12700">
            <a:noFill/>
          </a:ln>
        </p:spPr>
      </p:pic>
      <p:sp>
        <p:nvSpPr>
          <p:cNvPr id="8" name="Arrow: Right 7">
            <a:extLst>
              <a:ext uri="{FF2B5EF4-FFF2-40B4-BE49-F238E27FC236}">
                <a16:creationId xmlns:a16="http://schemas.microsoft.com/office/drawing/2014/main" xmlns="" id="{2B0BB73F-A68A-4465-9CA4-3D27514BE633}"/>
              </a:ext>
            </a:extLst>
          </p:cNvPr>
          <p:cNvSpPr/>
          <p:nvPr/>
        </p:nvSpPr>
        <p:spPr>
          <a:xfrm>
            <a:off x="498379" y="3502433"/>
            <a:ext cx="1008112" cy="14401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Arrow: Right 8">
            <a:extLst>
              <a:ext uri="{FF2B5EF4-FFF2-40B4-BE49-F238E27FC236}">
                <a16:creationId xmlns:a16="http://schemas.microsoft.com/office/drawing/2014/main" xmlns="" id="{0241CFFC-7577-4D6A-BD53-34A2C0577DFD}"/>
              </a:ext>
            </a:extLst>
          </p:cNvPr>
          <p:cNvSpPr/>
          <p:nvPr/>
        </p:nvSpPr>
        <p:spPr>
          <a:xfrm>
            <a:off x="4584534" y="2960948"/>
            <a:ext cx="699680" cy="14401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Arrow: Right 11">
            <a:extLst>
              <a:ext uri="{FF2B5EF4-FFF2-40B4-BE49-F238E27FC236}">
                <a16:creationId xmlns:a16="http://schemas.microsoft.com/office/drawing/2014/main" xmlns="" id="{C0F83753-8FDF-444B-A92E-40825CB3DAAA}"/>
              </a:ext>
            </a:extLst>
          </p:cNvPr>
          <p:cNvSpPr/>
          <p:nvPr/>
        </p:nvSpPr>
        <p:spPr>
          <a:xfrm>
            <a:off x="6915092" y="2996952"/>
            <a:ext cx="639036" cy="14401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Arrow: Right 12">
            <a:extLst>
              <a:ext uri="{FF2B5EF4-FFF2-40B4-BE49-F238E27FC236}">
                <a16:creationId xmlns:a16="http://schemas.microsoft.com/office/drawing/2014/main" xmlns="" id="{4DAA3C01-1328-4906-9B35-7429DA6935D5}"/>
              </a:ext>
            </a:extLst>
          </p:cNvPr>
          <p:cNvSpPr/>
          <p:nvPr/>
        </p:nvSpPr>
        <p:spPr>
          <a:xfrm>
            <a:off x="4570702" y="3452923"/>
            <a:ext cx="699680" cy="14401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4" name="Arrow: Right 13">
            <a:extLst>
              <a:ext uri="{FF2B5EF4-FFF2-40B4-BE49-F238E27FC236}">
                <a16:creationId xmlns:a16="http://schemas.microsoft.com/office/drawing/2014/main" xmlns="" id="{EB6A50D9-78EE-4489-A9F6-91A9D774BB70}"/>
              </a:ext>
            </a:extLst>
          </p:cNvPr>
          <p:cNvSpPr/>
          <p:nvPr/>
        </p:nvSpPr>
        <p:spPr>
          <a:xfrm>
            <a:off x="4609439" y="3944898"/>
            <a:ext cx="699680" cy="14401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5" name="Arrow: Right 14">
            <a:extLst>
              <a:ext uri="{FF2B5EF4-FFF2-40B4-BE49-F238E27FC236}">
                <a16:creationId xmlns:a16="http://schemas.microsoft.com/office/drawing/2014/main" xmlns="" id="{DADFE3C9-B813-4ACF-BCF3-5D877108CEF5}"/>
              </a:ext>
            </a:extLst>
          </p:cNvPr>
          <p:cNvSpPr/>
          <p:nvPr/>
        </p:nvSpPr>
        <p:spPr>
          <a:xfrm>
            <a:off x="6854448" y="3502433"/>
            <a:ext cx="699680" cy="144016"/>
          </a:xfrm>
          <a:prstGeom prst="rightArrow">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6" name="Title 1"/>
          <p:cNvSpPr>
            <a:spLocks noGrp="1"/>
          </p:cNvSpPr>
          <p:nvPr>
            <p:ph type="ctrTitle"/>
          </p:nvPr>
        </p:nvSpPr>
        <p:spPr>
          <a:xfrm>
            <a:off x="1081811" y="52786"/>
            <a:ext cx="8070286" cy="657041"/>
          </a:xfrm>
        </p:spPr>
        <p:txBody>
          <a:bodyPr>
            <a:noAutofit/>
          </a:bodyPr>
          <a:lstStyle/>
          <a:p>
            <a:pPr marL="342900" lvl="1" algn="l" defTabSz="342900" rtl="0">
              <a:spcBef>
                <a:spcPct val="20000"/>
              </a:spcBef>
            </a:pPr>
            <a:r>
              <a:rPr lang="en-US" sz="2400" b="1" dirty="0" smtClean="0">
                <a:solidFill>
                  <a:schemeClr val="accent6"/>
                </a:solidFill>
              </a:rPr>
              <a:t>                              </a:t>
            </a:r>
            <a:r>
              <a:rPr lang="en-US" sz="2800" b="1" dirty="0" smtClean="0">
                <a:solidFill>
                  <a:schemeClr val="accent6"/>
                </a:solidFill>
              </a:rPr>
              <a:t>Energy </a:t>
            </a:r>
            <a:r>
              <a:rPr lang="en-US" sz="2800" b="1" dirty="0">
                <a:solidFill>
                  <a:schemeClr val="accent6"/>
                </a:solidFill>
              </a:rPr>
              <a:t>transfers in a system</a:t>
            </a:r>
            <a:endParaRPr kumimoji="0" lang="en-US" sz="2800" b="1"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6" name="TextBox 5"/>
          <p:cNvSpPr txBox="1"/>
          <p:nvPr/>
        </p:nvSpPr>
        <p:spPr>
          <a:xfrm>
            <a:off x="428020" y="3088817"/>
            <a:ext cx="1148829" cy="400110"/>
          </a:xfrm>
          <a:prstGeom prst="rect">
            <a:avLst/>
          </a:prstGeom>
          <a:noFill/>
        </p:spPr>
        <p:txBody>
          <a:bodyPr wrap="square" rtlCol="0">
            <a:spAutoFit/>
          </a:bodyPr>
          <a:lstStyle/>
          <a:p>
            <a:r>
              <a:rPr lang="en-GB" sz="2000" b="1"/>
              <a:t>Chemical</a:t>
            </a:r>
            <a:endParaRPr lang="en-GB" sz="1600" b="1" dirty="0"/>
          </a:p>
        </p:txBody>
      </p:sp>
      <p:sp>
        <p:nvSpPr>
          <p:cNvPr id="17" name="TextBox 16"/>
          <p:cNvSpPr txBox="1"/>
          <p:nvPr/>
        </p:nvSpPr>
        <p:spPr>
          <a:xfrm>
            <a:off x="5528910" y="2866647"/>
            <a:ext cx="1148829" cy="400110"/>
          </a:xfrm>
          <a:prstGeom prst="rect">
            <a:avLst/>
          </a:prstGeom>
          <a:noFill/>
        </p:spPr>
        <p:txBody>
          <a:bodyPr wrap="square" rtlCol="0">
            <a:spAutoFit/>
          </a:bodyPr>
          <a:lstStyle/>
          <a:p>
            <a:r>
              <a:rPr lang="en-GB" sz="2000" b="1" dirty="0" smtClean="0"/>
              <a:t>Kinetic</a:t>
            </a:r>
            <a:endParaRPr lang="en-GB" sz="1600" b="1" dirty="0"/>
          </a:p>
        </p:txBody>
      </p:sp>
      <p:sp>
        <p:nvSpPr>
          <p:cNvPr id="18" name="TextBox 17"/>
          <p:cNvSpPr txBox="1"/>
          <p:nvPr/>
        </p:nvSpPr>
        <p:spPr>
          <a:xfrm>
            <a:off x="5552613" y="3302378"/>
            <a:ext cx="1148829" cy="400110"/>
          </a:xfrm>
          <a:prstGeom prst="rect">
            <a:avLst/>
          </a:prstGeom>
          <a:noFill/>
        </p:spPr>
        <p:txBody>
          <a:bodyPr wrap="square" rtlCol="0">
            <a:spAutoFit/>
          </a:bodyPr>
          <a:lstStyle/>
          <a:p>
            <a:r>
              <a:rPr lang="en-GB" sz="2000" b="1" dirty="0" smtClean="0"/>
              <a:t>Sound</a:t>
            </a:r>
            <a:endParaRPr lang="en-GB" sz="1600" b="1" dirty="0"/>
          </a:p>
        </p:txBody>
      </p:sp>
      <p:sp>
        <p:nvSpPr>
          <p:cNvPr id="19" name="TextBox 18"/>
          <p:cNvSpPr txBox="1"/>
          <p:nvPr/>
        </p:nvSpPr>
        <p:spPr>
          <a:xfrm>
            <a:off x="5528909" y="3771909"/>
            <a:ext cx="1148829" cy="400110"/>
          </a:xfrm>
          <a:prstGeom prst="rect">
            <a:avLst/>
          </a:prstGeom>
          <a:noFill/>
        </p:spPr>
        <p:txBody>
          <a:bodyPr wrap="square" rtlCol="0">
            <a:spAutoFit/>
          </a:bodyPr>
          <a:lstStyle/>
          <a:p>
            <a:r>
              <a:rPr lang="en-GB" sz="2000" b="1" dirty="0" smtClean="0">
                <a:solidFill>
                  <a:schemeClr val="accent6">
                    <a:lumMod val="75000"/>
                  </a:schemeClr>
                </a:solidFill>
              </a:rPr>
              <a:t>Thermal</a:t>
            </a:r>
            <a:endParaRPr lang="en-GB" sz="1600" b="1" dirty="0">
              <a:solidFill>
                <a:schemeClr val="accent6">
                  <a:lumMod val="75000"/>
                </a:schemeClr>
              </a:solidFill>
            </a:endParaRPr>
          </a:p>
        </p:txBody>
      </p:sp>
      <p:sp>
        <p:nvSpPr>
          <p:cNvPr id="21" name="TextBox 20"/>
          <p:cNvSpPr txBox="1"/>
          <p:nvPr/>
        </p:nvSpPr>
        <p:spPr>
          <a:xfrm>
            <a:off x="7664207" y="3374386"/>
            <a:ext cx="1148829" cy="400110"/>
          </a:xfrm>
          <a:prstGeom prst="rect">
            <a:avLst/>
          </a:prstGeom>
          <a:noFill/>
        </p:spPr>
        <p:txBody>
          <a:bodyPr wrap="square" rtlCol="0">
            <a:spAutoFit/>
          </a:bodyPr>
          <a:lstStyle/>
          <a:p>
            <a:r>
              <a:rPr lang="en-GB" sz="2000" b="1" dirty="0" smtClean="0">
                <a:solidFill>
                  <a:schemeClr val="accent6">
                    <a:lumMod val="75000"/>
                  </a:schemeClr>
                </a:solidFill>
              </a:rPr>
              <a:t>Thermal</a:t>
            </a:r>
            <a:endParaRPr lang="en-GB" sz="1600" b="1" dirty="0">
              <a:solidFill>
                <a:schemeClr val="accent6">
                  <a:lumMod val="75000"/>
                </a:schemeClr>
              </a:solidFill>
            </a:endParaRPr>
          </a:p>
        </p:txBody>
      </p:sp>
      <p:sp>
        <p:nvSpPr>
          <p:cNvPr id="22" name="TextBox 21"/>
          <p:cNvSpPr txBox="1"/>
          <p:nvPr/>
        </p:nvSpPr>
        <p:spPr>
          <a:xfrm>
            <a:off x="7651883" y="2860727"/>
            <a:ext cx="1148829" cy="400110"/>
          </a:xfrm>
          <a:prstGeom prst="rect">
            <a:avLst/>
          </a:prstGeom>
          <a:noFill/>
        </p:spPr>
        <p:txBody>
          <a:bodyPr wrap="square" rtlCol="0">
            <a:spAutoFit/>
          </a:bodyPr>
          <a:lstStyle/>
          <a:p>
            <a:r>
              <a:rPr lang="en-GB" sz="2000" b="1" dirty="0" smtClean="0">
                <a:solidFill>
                  <a:schemeClr val="accent6">
                    <a:lumMod val="75000"/>
                  </a:schemeClr>
                </a:solidFill>
              </a:rPr>
              <a:t>Thermal</a:t>
            </a:r>
            <a:endParaRPr lang="en-GB" sz="1600" b="1" dirty="0">
              <a:solidFill>
                <a:schemeClr val="accent6">
                  <a:lumMod val="75000"/>
                </a:schemeClr>
              </a:solidFill>
            </a:endParaRPr>
          </a:p>
        </p:txBody>
      </p:sp>
    </p:spTree>
    <p:extLst>
      <p:ext uri="{BB962C8B-B14F-4D97-AF65-F5344CB8AC3E}">
        <p14:creationId xmlns:p14="http://schemas.microsoft.com/office/powerpoint/2010/main" val="33163768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a:gsLst>
            <a:gs pos="0">
              <a:schemeClr val="accent6">
                <a:lumMod val="60000"/>
                <a:lumOff val="40000"/>
              </a:schemeClr>
            </a:gs>
            <a:gs pos="35000">
              <a:schemeClr val="accent6">
                <a:tint val="37000"/>
                <a:satMod val="300000"/>
              </a:schemeClr>
            </a:gs>
            <a:gs pos="100000">
              <a:schemeClr val="accent6">
                <a:tint val="15000"/>
                <a:satMod val="350000"/>
              </a:schemeClr>
            </a:gs>
          </a:gsLst>
          <a:lin ang="16200000" scaled="1"/>
        </a:gradFill>
        <a:effectLst/>
      </p:bgPr>
    </p:bg>
    <p:spTree>
      <p:nvGrpSpPr>
        <p:cNvPr id="1" name=""/>
        <p:cNvGrpSpPr/>
        <p:nvPr/>
      </p:nvGrpSpPr>
      <p:grpSpPr>
        <a:xfrm>
          <a:off x="0" y="0"/>
          <a:ext cx="0" cy="0"/>
          <a:chOff x="0" y="0"/>
          <a:chExt cx="0" cy="0"/>
        </a:xfrm>
      </p:grpSpPr>
      <p:sp>
        <p:nvSpPr>
          <p:cNvPr id="3" name="Rectangle 2"/>
          <p:cNvSpPr/>
          <p:nvPr/>
        </p:nvSpPr>
        <p:spPr>
          <a:xfrm>
            <a:off x="107504" y="764659"/>
            <a:ext cx="8856984" cy="446276"/>
          </a:xfrm>
          <a:prstGeom prst="rect">
            <a:avLst/>
          </a:prstGeom>
          <a:gradFill>
            <a:gsLst>
              <a:gs pos="0">
                <a:schemeClr val="accent6">
                  <a:lumMod val="60000"/>
                  <a:lumOff val="40000"/>
                </a:schemeClr>
              </a:gs>
              <a:gs pos="35000">
                <a:schemeClr val="accent6">
                  <a:tint val="37000"/>
                  <a:satMod val="300000"/>
                </a:schemeClr>
              </a:gs>
              <a:gs pos="100000">
                <a:schemeClr val="accent6">
                  <a:tint val="15000"/>
                  <a:satMod val="350000"/>
                </a:schemeClr>
              </a:gs>
            </a:gsLst>
            <a:lin ang="16200000" scaled="1"/>
          </a:gradFill>
          <a:ln>
            <a:solidFill>
              <a:schemeClr val="accent6">
                <a:lumMod val="75000"/>
              </a:schemeClr>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2300" dirty="0"/>
              <a:t>Thermal insulation is often used to reduce </a:t>
            </a:r>
            <a:r>
              <a:rPr lang="en-US" sz="2300" u="sng" dirty="0"/>
              <a:t>unwanted</a:t>
            </a:r>
            <a:r>
              <a:rPr lang="en-US" sz="2300" dirty="0"/>
              <a:t> energy transfers.</a:t>
            </a:r>
          </a:p>
        </p:txBody>
      </p:sp>
      <p:pic>
        <p:nvPicPr>
          <p:cNvPr id="8" name="Picture 7">
            <a:extLst>
              <a:ext uri="{FF2B5EF4-FFF2-40B4-BE49-F238E27FC236}">
                <a16:creationId xmlns:a16="http://schemas.microsoft.com/office/drawing/2014/main" xmlns="" id="{0145C9BB-A9E9-4401-9D08-CD3BD03F71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869" y="1300610"/>
            <a:ext cx="2477619" cy="2266758"/>
          </a:xfrm>
          <a:prstGeom prst="rect">
            <a:avLst/>
          </a:prstGeom>
        </p:spPr>
      </p:pic>
      <p:sp>
        <p:nvSpPr>
          <p:cNvPr id="10" name="TextBox 9">
            <a:extLst>
              <a:ext uri="{FF2B5EF4-FFF2-40B4-BE49-F238E27FC236}">
                <a16:creationId xmlns:a16="http://schemas.microsoft.com/office/drawing/2014/main" xmlns="" id="{7D6F40EC-5603-42B7-B2C1-60EEF7A05740}"/>
              </a:ext>
            </a:extLst>
          </p:cNvPr>
          <p:cNvSpPr txBox="1"/>
          <p:nvPr/>
        </p:nvSpPr>
        <p:spPr>
          <a:xfrm>
            <a:off x="108894" y="1265767"/>
            <a:ext cx="6479330" cy="2246769"/>
          </a:xfrm>
          <a:prstGeom prst="rect">
            <a:avLst/>
          </a:prstGeom>
          <a:noFill/>
        </p:spPr>
        <p:txBody>
          <a:bodyPr wrap="square" rtlCol="0">
            <a:spAutoFit/>
          </a:bodyPr>
          <a:lstStyle/>
          <a:p>
            <a:r>
              <a:rPr lang="en-GB" sz="2800" dirty="0"/>
              <a:t>All the </a:t>
            </a:r>
            <a:r>
              <a:rPr lang="en-GB" sz="2800" b="1" dirty="0">
                <a:solidFill>
                  <a:schemeClr val="accent6">
                    <a:lumMod val="75000"/>
                  </a:schemeClr>
                </a:solidFill>
              </a:rPr>
              <a:t>energy</a:t>
            </a:r>
            <a:r>
              <a:rPr lang="en-GB" sz="2800" dirty="0">
                <a:solidFill>
                  <a:schemeClr val="accent6">
                    <a:lumMod val="75000"/>
                  </a:schemeClr>
                </a:solidFill>
              </a:rPr>
              <a:t> </a:t>
            </a:r>
            <a:r>
              <a:rPr lang="en-GB" sz="2800" dirty="0"/>
              <a:t>used to </a:t>
            </a:r>
            <a:r>
              <a:rPr lang="en-GB" sz="2800" b="1" dirty="0">
                <a:solidFill>
                  <a:schemeClr val="accent6">
                    <a:lumMod val="75000"/>
                  </a:schemeClr>
                </a:solidFill>
              </a:rPr>
              <a:t>heat a home </a:t>
            </a:r>
            <a:r>
              <a:rPr lang="en-GB" sz="2800" dirty="0"/>
              <a:t>is eventually </a:t>
            </a:r>
            <a:r>
              <a:rPr lang="en-GB" sz="2800" b="1" dirty="0">
                <a:solidFill>
                  <a:schemeClr val="accent6">
                    <a:lumMod val="75000"/>
                  </a:schemeClr>
                </a:solidFill>
              </a:rPr>
              <a:t>transferred</a:t>
            </a:r>
            <a:r>
              <a:rPr lang="en-GB" sz="2800" dirty="0">
                <a:solidFill>
                  <a:schemeClr val="accent6">
                    <a:lumMod val="75000"/>
                  </a:schemeClr>
                </a:solidFill>
              </a:rPr>
              <a:t> </a:t>
            </a:r>
            <a:r>
              <a:rPr lang="en-GB" sz="2800" dirty="0"/>
              <a:t>as </a:t>
            </a:r>
            <a:r>
              <a:rPr lang="en-GB" sz="2800" b="1" dirty="0">
                <a:solidFill>
                  <a:schemeClr val="accent6">
                    <a:lumMod val="75000"/>
                  </a:schemeClr>
                </a:solidFill>
              </a:rPr>
              <a:t>thermal energy </a:t>
            </a:r>
            <a:r>
              <a:rPr lang="en-GB" sz="2800" dirty="0"/>
              <a:t>to the </a:t>
            </a:r>
            <a:r>
              <a:rPr lang="en-GB" sz="2800" b="1" dirty="0">
                <a:solidFill>
                  <a:schemeClr val="accent6">
                    <a:lumMod val="75000"/>
                  </a:schemeClr>
                </a:solidFill>
              </a:rPr>
              <a:t>surroundings</a:t>
            </a:r>
            <a:r>
              <a:rPr lang="en-GB" sz="2800" dirty="0"/>
              <a:t>.</a:t>
            </a:r>
          </a:p>
          <a:p>
            <a:r>
              <a:rPr lang="en-GB" sz="2800" dirty="0"/>
              <a:t>The diagram, shows the percentage energy lost through different parts of the building</a:t>
            </a:r>
            <a:r>
              <a:rPr lang="en-GB" sz="2000" dirty="0"/>
              <a:t>.</a:t>
            </a:r>
          </a:p>
        </p:txBody>
      </p:sp>
      <p:graphicFrame>
        <p:nvGraphicFramePr>
          <p:cNvPr id="20" name="Table 19">
            <a:extLst>
              <a:ext uri="{FF2B5EF4-FFF2-40B4-BE49-F238E27FC236}">
                <a16:creationId xmlns:a16="http://schemas.microsoft.com/office/drawing/2014/main" xmlns="" id="{06983B7C-4126-4F3B-A3BD-7FB79944ABCA}"/>
              </a:ext>
            </a:extLst>
          </p:cNvPr>
          <p:cNvGraphicFramePr>
            <a:graphicFrameLocks noGrp="1"/>
          </p:cNvGraphicFramePr>
          <p:nvPr>
            <p:extLst>
              <p:ext uri="{D42A27DB-BD31-4B8C-83A1-F6EECF244321}">
                <p14:modId xmlns:p14="http://schemas.microsoft.com/office/powerpoint/2010/main" val="1918941368"/>
              </p:ext>
            </p:extLst>
          </p:nvPr>
        </p:nvGraphicFramePr>
        <p:xfrm>
          <a:off x="121617" y="3600228"/>
          <a:ext cx="2312673" cy="2799080"/>
        </p:xfrm>
        <a:graphic>
          <a:graphicData uri="http://schemas.openxmlformats.org/drawingml/2006/table">
            <a:tbl>
              <a:tblPr firstRow="1" firstCol="1" bandRow="1">
                <a:tableStyleId>{5C22544A-7EE6-4342-B048-85BDC9FD1C3A}</a:tableStyleId>
              </a:tblPr>
              <a:tblGrid>
                <a:gridCol w="1216705">
                  <a:extLst>
                    <a:ext uri="{9D8B030D-6E8A-4147-A177-3AD203B41FA5}">
                      <a16:colId xmlns:a16="http://schemas.microsoft.com/office/drawing/2014/main" xmlns="" val="3730845726"/>
                    </a:ext>
                  </a:extLst>
                </a:gridCol>
                <a:gridCol w="1095968">
                  <a:extLst>
                    <a:ext uri="{9D8B030D-6E8A-4147-A177-3AD203B41FA5}">
                      <a16:colId xmlns:a16="http://schemas.microsoft.com/office/drawing/2014/main" xmlns="" val="2182333119"/>
                    </a:ext>
                  </a:extLst>
                </a:gridCol>
              </a:tblGrid>
              <a:tr h="611470">
                <a:tc>
                  <a:txBody>
                    <a:bodyPr/>
                    <a:lstStyle/>
                    <a:p>
                      <a:pPr>
                        <a:spcBef>
                          <a:spcPts val="140"/>
                        </a:spcBef>
                        <a:spcAft>
                          <a:spcPts val="0"/>
                        </a:spcAft>
                      </a:pPr>
                      <a:r>
                        <a:rPr lang="en-GB" sz="1400" dirty="0">
                          <a:solidFill>
                            <a:schemeClr val="tx1"/>
                          </a:solidFill>
                          <a:effectLst/>
                        </a:rPr>
                        <a:t>Material</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spcBef>
                          <a:spcPts val="140"/>
                        </a:spcBef>
                        <a:spcAft>
                          <a:spcPts val="0"/>
                        </a:spcAft>
                      </a:pPr>
                      <a:r>
                        <a:rPr lang="en-GB" sz="1400" dirty="0">
                          <a:solidFill>
                            <a:schemeClr val="tx1"/>
                          </a:solidFill>
                          <a:effectLst/>
                        </a:rPr>
                        <a:t>Thermal </a:t>
                      </a:r>
                      <a:endParaRPr lang="en-GB" sz="1800" dirty="0">
                        <a:solidFill>
                          <a:schemeClr val="tx1"/>
                        </a:solidFill>
                        <a:effectLst/>
                      </a:endParaRPr>
                    </a:p>
                    <a:p>
                      <a:pPr>
                        <a:spcBef>
                          <a:spcPts val="140"/>
                        </a:spcBef>
                        <a:spcAft>
                          <a:spcPts val="0"/>
                        </a:spcAft>
                      </a:pPr>
                      <a:r>
                        <a:rPr lang="en-GB" sz="1400" dirty="0">
                          <a:solidFill>
                            <a:schemeClr val="tx1"/>
                          </a:solidFill>
                          <a:effectLst/>
                        </a:rPr>
                        <a:t>Conductivity</a:t>
                      </a:r>
                      <a:endParaRPr lang="en-GB" sz="1800" dirty="0">
                        <a:solidFill>
                          <a:schemeClr val="tx1"/>
                        </a:solidFill>
                        <a:effectLst/>
                      </a:endParaRPr>
                    </a:p>
                    <a:p>
                      <a:pPr>
                        <a:spcBef>
                          <a:spcPts val="140"/>
                        </a:spcBef>
                        <a:spcAft>
                          <a:spcPts val="0"/>
                        </a:spcAft>
                      </a:pPr>
                      <a:r>
                        <a:rPr lang="en-GB" sz="1400" dirty="0">
                          <a:solidFill>
                            <a:schemeClr val="tx1"/>
                          </a:solidFill>
                          <a:effectLst/>
                        </a:rPr>
                        <a:t>W/m C</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185826186"/>
                  </a:ext>
                </a:extLst>
              </a:tr>
              <a:tr h="193095">
                <a:tc>
                  <a:txBody>
                    <a:bodyPr/>
                    <a:lstStyle/>
                    <a:p>
                      <a:pPr>
                        <a:spcBef>
                          <a:spcPts val="140"/>
                        </a:spcBef>
                        <a:spcAft>
                          <a:spcPts val="0"/>
                        </a:spcAft>
                      </a:pPr>
                      <a:r>
                        <a:rPr lang="en-GB" sz="1400" dirty="0">
                          <a:solidFill>
                            <a:schemeClr val="tx1"/>
                          </a:solidFill>
                          <a:effectLst/>
                        </a:rPr>
                        <a:t>Air</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0.03</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4125272282"/>
                  </a:ext>
                </a:extLst>
              </a:tr>
              <a:tr h="193095">
                <a:tc>
                  <a:txBody>
                    <a:bodyPr/>
                    <a:lstStyle/>
                    <a:p>
                      <a:pPr>
                        <a:spcBef>
                          <a:spcPts val="140"/>
                        </a:spcBef>
                        <a:spcAft>
                          <a:spcPts val="0"/>
                        </a:spcAft>
                      </a:pPr>
                      <a:r>
                        <a:rPr lang="en-GB" sz="1400" dirty="0">
                          <a:solidFill>
                            <a:schemeClr val="tx1"/>
                          </a:solidFill>
                          <a:effectLst/>
                        </a:rPr>
                        <a:t>Polyurethane foam</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0.03</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234692273"/>
                  </a:ext>
                </a:extLst>
              </a:tr>
              <a:tr h="193095">
                <a:tc>
                  <a:txBody>
                    <a:bodyPr/>
                    <a:lstStyle/>
                    <a:p>
                      <a:pPr>
                        <a:spcBef>
                          <a:spcPts val="140"/>
                        </a:spcBef>
                        <a:spcAft>
                          <a:spcPts val="0"/>
                        </a:spcAft>
                      </a:pPr>
                      <a:r>
                        <a:rPr lang="en-GB" sz="1400" dirty="0">
                          <a:solidFill>
                            <a:schemeClr val="tx1"/>
                          </a:solidFill>
                          <a:effectLst/>
                        </a:rPr>
                        <a:t>Fibreglass</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0.04</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3740862800"/>
                  </a:ext>
                </a:extLst>
              </a:tr>
              <a:tr h="193095">
                <a:tc>
                  <a:txBody>
                    <a:bodyPr/>
                    <a:lstStyle/>
                    <a:p>
                      <a:pPr>
                        <a:spcBef>
                          <a:spcPts val="140"/>
                        </a:spcBef>
                        <a:spcAft>
                          <a:spcPts val="0"/>
                        </a:spcAft>
                      </a:pPr>
                      <a:r>
                        <a:rPr lang="en-GB" sz="1400">
                          <a:solidFill>
                            <a:schemeClr val="tx1"/>
                          </a:solidFill>
                          <a:effectLst/>
                        </a:rPr>
                        <a:t>Wool felt</a:t>
                      </a:r>
                      <a:endParaRPr lang="en-GB" sz="180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0.05</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755197549"/>
                  </a:ext>
                </a:extLst>
              </a:tr>
              <a:tr h="193095">
                <a:tc>
                  <a:txBody>
                    <a:bodyPr/>
                    <a:lstStyle/>
                    <a:p>
                      <a:pPr>
                        <a:spcBef>
                          <a:spcPts val="140"/>
                        </a:spcBef>
                        <a:spcAft>
                          <a:spcPts val="0"/>
                        </a:spcAft>
                      </a:pPr>
                      <a:r>
                        <a:rPr lang="en-GB" sz="1400">
                          <a:solidFill>
                            <a:schemeClr val="tx1"/>
                          </a:solidFill>
                          <a:effectLst/>
                        </a:rPr>
                        <a:t>Wood</a:t>
                      </a:r>
                      <a:endParaRPr lang="en-GB" sz="180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0.15</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244121816"/>
                  </a:ext>
                </a:extLst>
              </a:tr>
              <a:tr h="193095">
                <a:tc>
                  <a:txBody>
                    <a:bodyPr/>
                    <a:lstStyle/>
                    <a:p>
                      <a:pPr>
                        <a:spcBef>
                          <a:spcPts val="140"/>
                        </a:spcBef>
                        <a:spcAft>
                          <a:spcPts val="0"/>
                        </a:spcAft>
                      </a:pPr>
                      <a:r>
                        <a:rPr lang="en-GB" sz="1400">
                          <a:solidFill>
                            <a:schemeClr val="tx1"/>
                          </a:solidFill>
                          <a:effectLst/>
                        </a:rPr>
                        <a:t>Plaster</a:t>
                      </a:r>
                      <a:endParaRPr lang="en-GB" sz="180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0.50</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480491188"/>
                  </a:ext>
                </a:extLst>
              </a:tr>
              <a:tr h="193095">
                <a:tc>
                  <a:txBody>
                    <a:bodyPr/>
                    <a:lstStyle/>
                    <a:p>
                      <a:pPr>
                        <a:spcBef>
                          <a:spcPts val="140"/>
                        </a:spcBef>
                        <a:spcAft>
                          <a:spcPts val="0"/>
                        </a:spcAft>
                      </a:pPr>
                      <a:r>
                        <a:rPr lang="en-GB" sz="1400">
                          <a:solidFill>
                            <a:schemeClr val="tx1"/>
                          </a:solidFill>
                          <a:effectLst/>
                        </a:rPr>
                        <a:t>Glass</a:t>
                      </a:r>
                      <a:endParaRPr lang="en-GB" sz="180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0.80</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1976927703"/>
                  </a:ext>
                </a:extLst>
              </a:tr>
              <a:tr h="193095">
                <a:tc>
                  <a:txBody>
                    <a:bodyPr/>
                    <a:lstStyle/>
                    <a:p>
                      <a:pPr>
                        <a:spcBef>
                          <a:spcPts val="140"/>
                        </a:spcBef>
                        <a:spcAft>
                          <a:spcPts val="0"/>
                        </a:spcAft>
                      </a:pPr>
                      <a:r>
                        <a:rPr lang="en-GB" sz="1400">
                          <a:solidFill>
                            <a:schemeClr val="tx1"/>
                          </a:solidFill>
                          <a:effectLst/>
                        </a:rPr>
                        <a:t>Brick</a:t>
                      </a:r>
                      <a:endParaRPr lang="en-GB" sz="180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1.00</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2147723854"/>
                  </a:ext>
                </a:extLst>
              </a:tr>
              <a:tr h="193095">
                <a:tc>
                  <a:txBody>
                    <a:bodyPr/>
                    <a:lstStyle/>
                    <a:p>
                      <a:pPr>
                        <a:spcBef>
                          <a:spcPts val="140"/>
                        </a:spcBef>
                        <a:spcAft>
                          <a:spcPts val="0"/>
                        </a:spcAft>
                      </a:pPr>
                      <a:r>
                        <a:rPr lang="en-GB" sz="1400">
                          <a:solidFill>
                            <a:schemeClr val="tx1"/>
                          </a:solidFill>
                          <a:effectLst/>
                        </a:rPr>
                        <a:t>Concrete</a:t>
                      </a:r>
                      <a:endParaRPr lang="en-GB" sz="180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spcBef>
                          <a:spcPts val="140"/>
                        </a:spcBef>
                        <a:spcAft>
                          <a:spcPts val="0"/>
                        </a:spcAft>
                      </a:pPr>
                      <a:r>
                        <a:rPr lang="en-GB" sz="1400" dirty="0">
                          <a:solidFill>
                            <a:schemeClr val="tx1"/>
                          </a:solidFill>
                          <a:effectLst/>
                        </a:rPr>
                        <a:t>1.04</a:t>
                      </a:r>
                      <a:endParaRPr lang="en-GB" sz="18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xmlns="" val="3657552280"/>
                  </a:ext>
                </a:extLst>
              </a:tr>
            </a:tbl>
          </a:graphicData>
        </a:graphic>
      </p:graphicFrame>
      <p:sp>
        <p:nvSpPr>
          <p:cNvPr id="22" name="TextBox 21">
            <a:extLst>
              <a:ext uri="{FF2B5EF4-FFF2-40B4-BE49-F238E27FC236}">
                <a16:creationId xmlns:a16="http://schemas.microsoft.com/office/drawing/2014/main" xmlns="" id="{EB76D068-58ED-4550-B392-F8FD89915956}"/>
              </a:ext>
            </a:extLst>
          </p:cNvPr>
          <p:cNvSpPr txBox="1"/>
          <p:nvPr/>
        </p:nvSpPr>
        <p:spPr>
          <a:xfrm>
            <a:off x="2540499" y="3681402"/>
            <a:ext cx="6437526" cy="830997"/>
          </a:xfrm>
          <a:prstGeom prst="rect">
            <a:avLst/>
          </a:prstGeom>
          <a:solidFill>
            <a:schemeClr val="accent6">
              <a:lumMod val="60000"/>
              <a:lumOff val="40000"/>
            </a:schemeClr>
          </a:solidFill>
          <a:ln w="12700">
            <a:solidFill>
              <a:schemeClr val="accent6">
                <a:lumMod val="75000"/>
              </a:schemeClr>
            </a:solidFill>
          </a:ln>
        </p:spPr>
        <p:txBody>
          <a:bodyPr wrap="square" rtlCol="0">
            <a:spAutoFit/>
          </a:bodyPr>
          <a:lstStyle/>
          <a:p>
            <a:r>
              <a:rPr lang="en-GB" sz="2400" dirty="0"/>
              <a:t>The higher the thermal conductivity, the quicker heat is transferred through the material.</a:t>
            </a:r>
          </a:p>
        </p:txBody>
      </p:sp>
      <p:sp>
        <p:nvSpPr>
          <p:cNvPr id="23" name="TextBox 22">
            <a:extLst>
              <a:ext uri="{FF2B5EF4-FFF2-40B4-BE49-F238E27FC236}">
                <a16:creationId xmlns:a16="http://schemas.microsoft.com/office/drawing/2014/main" xmlns="" id="{2B74EC47-E300-4487-94ED-CF34E32B9F99}"/>
              </a:ext>
            </a:extLst>
          </p:cNvPr>
          <p:cNvSpPr txBox="1"/>
          <p:nvPr/>
        </p:nvSpPr>
        <p:spPr>
          <a:xfrm>
            <a:off x="2471028" y="4512399"/>
            <a:ext cx="6536880" cy="1938992"/>
          </a:xfrm>
          <a:prstGeom prst="rect">
            <a:avLst/>
          </a:prstGeom>
          <a:noFill/>
        </p:spPr>
        <p:txBody>
          <a:bodyPr wrap="square" rtlCol="0">
            <a:spAutoFit/>
          </a:bodyPr>
          <a:lstStyle/>
          <a:p>
            <a:r>
              <a:rPr lang="en-GB" sz="2400" dirty="0"/>
              <a:t>Houses are often built from brick, concrete, wood and glass. All have quite </a:t>
            </a:r>
            <a:r>
              <a:rPr lang="en-GB" sz="2400" b="1" dirty="0">
                <a:solidFill>
                  <a:schemeClr val="accent6">
                    <a:lumMod val="75000"/>
                  </a:schemeClr>
                </a:solidFill>
              </a:rPr>
              <a:t>high thermal conductivity </a:t>
            </a:r>
            <a:r>
              <a:rPr lang="en-GB" sz="2400" dirty="0" smtClean="0"/>
              <a:t>values. </a:t>
            </a:r>
            <a:r>
              <a:rPr lang="en-GB" sz="2400" b="1" dirty="0" smtClean="0">
                <a:solidFill>
                  <a:schemeClr val="accent6">
                    <a:lumMod val="75000"/>
                  </a:schemeClr>
                </a:solidFill>
              </a:rPr>
              <a:t>Insulation</a:t>
            </a:r>
            <a:r>
              <a:rPr lang="en-GB" sz="2400" dirty="0" smtClean="0"/>
              <a:t> </a:t>
            </a:r>
            <a:r>
              <a:rPr lang="en-GB" sz="2400" dirty="0"/>
              <a:t>uses materials with low thermal conductivity, such as fibreglass in the loft, foam in wall cavities and trapped </a:t>
            </a:r>
            <a:r>
              <a:rPr lang="en-GB" sz="2400" dirty="0" smtClean="0"/>
              <a:t>gases in </a:t>
            </a:r>
            <a:r>
              <a:rPr lang="en-GB" sz="2400" dirty="0"/>
              <a:t>double glazing.</a:t>
            </a:r>
          </a:p>
        </p:txBody>
      </p:sp>
      <p:sp>
        <p:nvSpPr>
          <p:cNvPr id="11" name="Title 1"/>
          <p:cNvSpPr>
            <a:spLocks noGrp="1"/>
          </p:cNvSpPr>
          <p:nvPr>
            <p:ph type="ctrTitle"/>
          </p:nvPr>
        </p:nvSpPr>
        <p:spPr>
          <a:xfrm>
            <a:off x="1079541" y="23185"/>
            <a:ext cx="8070286" cy="657041"/>
          </a:xfrm>
        </p:spPr>
        <p:txBody>
          <a:bodyPr>
            <a:noAutofit/>
          </a:bodyPr>
          <a:lstStyle/>
          <a:p>
            <a:pPr marL="342900" lvl="1" algn="l" defTabSz="342900" rtl="0">
              <a:spcBef>
                <a:spcPct val="20000"/>
              </a:spcBef>
            </a:pPr>
            <a:r>
              <a:rPr lang="en-US" sz="2400" b="1" dirty="0" smtClean="0">
                <a:solidFill>
                  <a:schemeClr val="accent6"/>
                </a:solidFill>
              </a:rPr>
              <a:t>                              </a:t>
            </a:r>
            <a:r>
              <a:rPr lang="en-US" sz="2800" b="1" dirty="0" smtClean="0">
                <a:solidFill>
                  <a:schemeClr val="accent6"/>
                </a:solidFill>
              </a:rPr>
              <a:t>Energy </a:t>
            </a:r>
            <a:r>
              <a:rPr lang="en-US" sz="2800" b="1" dirty="0">
                <a:solidFill>
                  <a:schemeClr val="accent6"/>
                </a:solidFill>
              </a:rPr>
              <a:t>transfers in a system</a:t>
            </a:r>
            <a:endParaRPr kumimoji="0" lang="en-US" sz="2800" b="1" i="0" u="none" strike="noStrike" kern="1200" cap="none" spc="0" normalizeH="0" baseline="0" noProof="0" dirty="0">
              <a:ln>
                <a:noFill/>
              </a:ln>
              <a:solidFill>
                <a:schemeClr val="accent6"/>
              </a:solidFill>
              <a:effectLst/>
              <a:uLnTx/>
              <a:uFillTx/>
              <a:latin typeface="Calibri"/>
              <a:ea typeface=""/>
              <a:cs typeface="News Gothic MT"/>
            </a:endParaRPr>
          </a:p>
        </p:txBody>
      </p:sp>
    </p:spTree>
    <p:extLst>
      <p:ext uri="{BB962C8B-B14F-4D97-AF65-F5344CB8AC3E}">
        <p14:creationId xmlns:p14="http://schemas.microsoft.com/office/powerpoint/2010/main" val="13987727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128544" y="685634"/>
            <a:ext cx="8835944" cy="830997"/>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2400" dirty="0">
                <a:solidFill>
                  <a:schemeClr val="tx1"/>
                </a:solidFill>
              </a:rPr>
              <a:t>The amount of useful energy you get from an energy transfer, compared to the energy put in, is called the </a:t>
            </a:r>
            <a:r>
              <a:rPr lang="en-GB" sz="2400" b="1" dirty="0">
                <a:solidFill>
                  <a:schemeClr val="accent6">
                    <a:lumMod val="75000"/>
                  </a:schemeClr>
                </a:solidFill>
              </a:rPr>
              <a:t>EFFICIENCY</a:t>
            </a:r>
            <a:endParaRPr lang="en-GB" sz="2400" dirty="0"/>
          </a:p>
        </p:txBody>
      </p:sp>
      <p:sp>
        <p:nvSpPr>
          <p:cNvPr id="23" name="Rectangle 22"/>
          <p:cNvSpPr/>
          <p:nvPr/>
        </p:nvSpPr>
        <p:spPr>
          <a:xfrm>
            <a:off x="128544" y="1566263"/>
            <a:ext cx="5456357" cy="830997"/>
          </a:xfrm>
          <a:prstGeom prst="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r>
              <a:rPr lang="en-GB" sz="2400" dirty="0"/>
              <a:t>Efficiency = </a:t>
            </a:r>
            <a:r>
              <a:rPr lang="en-GB" sz="2400" u="sng" dirty="0"/>
              <a:t>useful output energy transfer            </a:t>
            </a:r>
            <a:r>
              <a:rPr lang="en-GB" sz="2400" dirty="0"/>
              <a:t>	        total input energy transfer</a:t>
            </a:r>
            <a:endParaRPr lang="en-GB" sz="2400" u="sng" dirty="0"/>
          </a:p>
        </p:txBody>
      </p:sp>
      <p:sp>
        <p:nvSpPr>
          <p:cNvPr id="3" name="Right Brace 2">
            <a:extLst>
              <a:ext uri="{FF2B5EF4-FFF2-40B4-BE49-F238E27FC236}">
                <a16:creationId xmlns:a16="http://schemas.microsoft.com/office/drawing/2014/main" xmlns="" id="{C13C4110-EDBF-4382-B171-F6467EC6E7CE}"/>
              </a:ext>
            </a:extLst>
          </p:cNvPr>
          <p:cNvSpPr/>
          <p:nvPr/>
        </p:nvSpPr>
        <p:spPr>
          <a:xfrm>
            <a:off x="5668531" y="1552412"/>
            <a:ext cx="78055" cy="835631"/>
          </a:xfrm>
          <a:prstGeom prst="rightBrac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4" name="TextBox 3">
            <a:extLst>
              <a:ext uri="{FF2B5EF4-FFF2-40B4-BE49-F238E27FC236}">
                <a16:creationId xmlns:a16="http://schemas.microsoft.com/office/drawing/2014/main" xmlns="" id="{35C3FD87-2264-4C8C-8E5E-6FD7133A6CCD}"/>
              </a:ext>
            </a:extLst>
          </p:cNvPr>
          <p:cNvSpPr txBox="1"/>
          <p:nvPr/>
        </p:nvSpPr>
        <p:spPr>
          <a:xfrm>
            <a:off x="5806800" y="1440977"/>
            <a:ext cx="3661743" cy="1200329"/>
          </a:xfrm>
          <a:prstGeom prst="rect">
            <a:avLst/>
          </a:prstGeom>
          <a:noFill/>
        </p:spPr>
        <p:txBody>
          <a:bodyPr wrap="square" rtlCol="0">
            <a:spAutoFit/>
          </a:bodyPr>
          <a:lstStyle/>
          <a:p>
            <a:r>
              <a:rPr lang="en-GB" b="1" dirty="0"/>
              <a:t>This calculation will result in a decimal value which can be multiplied by 100 to give a percentage efficiency.</a:t>
            </a:r>
          </a:p>
        </p:txBody>
      </p:sp>
      <p:pic>
        <p:nvPicPr>
          <p:cNvPr id="6" name="Picture 5">
            <a:extLst>
              <a:ext uri="{FF2B5EF4-FFF2-40B4-BE49-F238E27FC236}">
                <a16:creationId xmlns:a16="http://schemas.microsoft.com/office/drawing/2014/main" xmlns="" id="{67B3D546-23AF-4829-A020-D1A5096639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6" y="5156362"/>
            <a:ext cx="5113804" cy="1247768"/>
          </a:xfrm>
          <a:prstGeom prst="rect">
            <a:avLst/>
          </a:prstGeom>
        </p:spPr>
      </p:pic>
      <p:pic>
        <p:nvPicPr>
          <p:cNvPr id="9" name="Picture 8">
            <a:extLst>
              <a:ext uri="{FF2B5EF4-FFF2-40B4-BE49-F238E27FC236}">
                <a16:creationId xmlns:a16="http://schemas.microsoft.com/office/drawing/2014/main" xmlns="" id="{89C4A155-8C1F-45D5-B2C8-0AAAE956A79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33026" y="3147789"/>
            <a:ext cx="1440160" cy="1839062"/>
          </a:xfrm>
          <a:prstGeom prst="rect">
            <a:avLst/>
          </a:prstGeom>
        </p:spPr>
      </p:pic>
      <p:sp>
        <p:nvSpPr>
          <p:cNvPr id="11" name="TextBox 10">
            <a:extLst>
              <a:ext uri="{FF2B5EF4-FFF2-40B4-BE49-F238E27FC236}">
                <a16:creationId xmlns:a16="http://schemas.microsoft.com/office/drawing/2014/main" xmlns="" id="{F3DEE81E-5B0F-4E57-945F-B1891EF10DD3}"/>
              </a:ext>
            </a:extLst>
          </p:cNvPr>
          <p:cNvSpPr txBox="1"/>
          <p:nvPr/>
        </p:nvSpPr>
        <p:spPr>
          <a:xfrm>
            <a:off x="329037" y="2727432"/>
            <a:ext cx="3909125" cy="400110"/>
          </a:xfrm>
          <a:prstGeom prst="rect">
            <a:avLst/>
          </a:prstGeom>
          <a:noFill/>
        </p:spPr>
        <p:txBody>
          <a:bodyPr wrap="square" rtlCol="0">
            <a:spAutoFit/>
          </a:bodyPr>
          <a:lstStyle/>
          <a:p>
            <a:r>
              <a:rPr lang="en-GB" sz="2000" b="1" dirty="0"/>
              <a:t>A wind turbine energy transfer</a:t>
            </a:r>
          </a:p>
        </p:txBody>
      </p:sp>
      <p:sp>
        <p:nvSpPr>
          <p:cNvPr id="13" name="TextBox 12">
            <a:extLst>
              <a:ext uri="{FF2B5EF4-FFF2-40B4-BE49-F238E27FC236}">
                <a16:creationId xmlns:a16="http://schemas.microsoft.com/office/drawing/2014/main" xmlns="" id="{BF0037AD-0A10-4A00-A75D-3971A5A5B9BC}"/>
              </a:ext>
            </a:extLst>
          </p:cNvPr>
          <p:cNvSpPr txBox="1"/>
          <p:nvPr/>
        </p:nvSpPr>
        <p:spPr>
          <a:xfrm>
            <a:off x="4499992" y="2739078"/>
            <a:ext cx="4644008" cy="3323987"/>
          </a:xfrm>
          <a:prstGeom prst="rect">
            <a:avLst/>
          </a:prstGeom>
          <a:noFill/>
          <a:ln w="22225">
            <a:noFill/>
          </a:ln>
        </p:spPr>
        <p:txBody>
          <a:bodyPr wrap="square" rtlCol="0">
            <a:spAutoFit/>
          </a:bodyPr>
          <a:lstStyle/>
          <a:p>
            <a:r>
              <a:rPr lang="en-GB" b="1" dirty="0"/>
              <a:t>The wind turbine produces 120 MW of electrical energy for every 500 MW of kinetic energy provided by the wind.</a:t>
            </a:r>
          </a:p>
          <a:p>
            <a:endParaRPr lang="en-GB" b="1" dirty="0"/>
          </a:p>
          <a:p>
            <a:r>
              <a:rPr lang="en-GB" sz="2000" b="1" dirty="0">
                <a:solidFill>
                  <a:schemeClr val="accent6">
                    <a:lumMod val="75000"/>
                  </a:schemeClr>
                </a:solidFill>
              </a:rPr>
              <a:t>Efficiency = </a:t>
            </a:r>
            <a:r>
              <a:rPr lang="en-GB" sz="2000" b="1" u="sng" dirty="0">
                <a:solidFill>
                  <a:schemeClr val="accent6">
                    <a:lumMod val="75000"/>
                  </a:schemeClr>
                </a:solidFill>
              </a:rPr>
              <a:t>Useful output energy transfer</a:t>
            </a:r>
          </a:p>
          <a:p>
            <a:r>
              <a:rPr lang="en-GB" sz="2000" b="1" dirty="0">
                <a:solidFill>
                  <a:schemeClr val="accent6">
                    <a:lumMod val="75000"/>
                  </a:schemeClr>
                </a:solidFill>
              </a:rPr>
              <a:t>                         total input energy transfer</a:t>
            </a:r>
          </a:p>
          <a:p>
            <a:endParaRPr lang="en-GB" b="1" dirty="0"/>
          </a:p>
          <a:p>
            <a:r>
              <a:rPr lang="en-GB" b="1" dirty="0"/>
              <a:t>                  </a:t>
            </a:r>
            <a:r>
              <a:rPr lang="en-GB" b="1" dirty="0" smtClean="0"/>
              <a:t>          </a:t>
            </a:r>
            <a:r>
              <a:rPr lang="en-GB" sz="2000" b="1" dirty="0"/>
              <a:t>= </a:t>
            </a:r>
            <a:r>
              <a:rPr lang="en-GB" sz="2000" b="1" u="sng" dirty="0"/>
              <a:t>120 </a:t>
            </a:r>
            <a:r>
              <a:rPr lang="en-GB" sz="2000" b="1" dirty="0"/>
              <a:t>     = 0.24 efficient</a:t>
            </a:r>
          </a:p>
          <a:p>
            <a:r>
              <a:rPr lang="en-GB" sz="2000" b="1" dirty="0"/>
              <a:t>	     </a:t>
            </a:r>
            <a:r>
              <a:rPr lang="en-GB" sz="2000" b="1" dirty="0" smtClean="0"/>
              <a:t>        500</a:t>
            </a:r>
            <a:endParaRPr lang="en-GB" sz="2000" b="1" dirty="0"/>
          </a:p>
          <a:p>
            <a:endParaRPr lang="en-GB" sz="2000" b="1" dirty="0"/>
          </a:p>
          <a:p>
            <a:r>
              <a:rPr lang="en-GB" sz="2000" b="1" dirty="0"/>
              <a:t>                </a:t>
            </a:r>
            <a:r>
              <a:rPr lang="en-GB" sz="2000" b="1" dirty="0" smtClean="0"/>
              <a:t>        </a:t>
            </a:r>
            <a:r>
              <a:rPr lang="en-GB" sz="2000" b="1" dirty="0">
                <a:solidFill>
                  <a:schemeClr val="accent6">
                    <a:lumMod val="75000"/>
                  </a:schemeClr>
                </a:solidFill>
              </a:rPr>
              <a:t>or 0.24 x 100 = 24 % efficient</a:t>
            </a:r>
          </a:p>
        </p:txBody>
      </p:sp>
      <p:sp>
        <p:nvSpPr>
          <p:cNvPr id="14" name="Title 1"/>
          <p:cNvSpPr>
            <a:spLocks noGrp="1"/>
          </p:cNvSpPr>
          <p:nvPr>
            <p:ph type="ctrTitle"/>
          </p:nvPr>
        </p:nvSpPr>
        <p:spPr>
          <a:xfrm>
            <a:off x="894202" y="60442"/>
            <a:ext cx="8070286" cy="657041"/>
          </a:xfrm>
        </p:spPr>
        <p:txBody>
          <a:bodyPr>
            <a:noAutofit/>
          </a:bodyPr>
          <a:lstStyle/>
          <a:p>
            <a:pPr marL="342900" lvl="1" algn="r" defTabSz="342900" rtl="0">
              <a:spcBef>
                <a:spcPct val="20000"/>
              </a:spcBef>
            </a:pPr>
            <a:r>
              <a:rPr lang="en-US" sz="2400" b="1" smtClean="0">
                <a:solidFill>
                  <a:schemeClr val="accent6"/>
                </a:solidFill>
              </a:rPr>
              <a:t>                              </a:t>
            </a:r>
            <a:r>
              <a:rPr lang="en-US" sz="2800" b="1" smtClean="0">
                <a:solidFill>
                  <a:schemeClr val="accent6"/>
                </a:solidFill>
              </a:rPr>
              <a:t>Efficiency</a:t>
            </a:r>
            <a:endParaRPr kumimoji="0" lang="en-US" sz="2800" b="1" i="0" u="none" strike="noStrike" kern="1200" cap="none" spc="0" normalizeH="0" baseline="0" noProof="0" dirty="0">
              <a:ln>
                <a:noFill/>
              </a:ln>
              <a:solidFill>
                <a:schemeClr val="accent6"/>
              </a:solidFill>
              <a:effectLst/>
              <a:uLnTx/>
              <a:uFillTx/>
              <a:latin typeface="Calibri"/>
              <a:ea typeface=""/>
              <a:cs typeface="News Gothic MT"/>
            </a:endParaRPr>
          </a:p>
        </p:txBody>
      </p:sp>
    </p:spTree>
    <p:extLst>
      <p:ext uri="{BB962C8B-B14F-4D97-AF65-F5344CB8AC3E}">
        <p14:creationId xmlns:p14="http://schemas.microsoft.com/office/powerpoint/2010/main" val="21342155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447260" y="737398"/>
            <a:ext cx="8619360" cy="461665"/>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GB" sz="2400" b="1" dirty="0">
                <a:solidFill>
                  <a:schemeClr val="accent6">
                    <a:lumMod val="75000"/>
                  </a:schemeClr>
                </a:solidFill>
              </a:rPr>
              <a:t>Efficiency </a:t>
            </a:r>
            <a:r>
              <a:rPr lang="en-GB" sz="2400" dirty="0">
                <a:solidFill>
                  <a:schemeClr val="tx1"/>
                </a:solidFill>
              </a:rPr>
              <a:t>can also be calculated from the power transferred.</a:t>
            </a:r>
          </a:p>
        </p:txBody>
      </p:sp>
      <p:sp>
        <p:nvSpPr>
          <p:cNvPr id="23" name="Rectangle 22"/>
          <p:cNvSpPr/>
          <p:nvPr/>
        </p:nvSpPr>
        <p:spPr>
          <a:xfrm>
            <a:off x="200116" y="1279420"/>
            <a:ext cx="4227869" cy="830997"/>
          </a:xfrm>
          <a:prstGeom prst="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wrap="square">
            <a:spAutoFit/>
          </a:bodyPr>
          <a:lstStyle/>
          <a:p>
            <a:r>
              <a:rPr lang="en-GB" sz="2400" dirty="0"/>
              <a:t>Efficiency = </a:t>
            </a:r>
            <a:r>
              <a:rPr lang="en-GB" sz="2400" u="sng" dirty="0"/>
              <a:t>useful power output</a:t>
            </a:r>
          </a:p>
          <a:p>
            <a:r>
              <a:rPr lang="en-GB" sz="2400" dirty="0"/>
              <a:t>                        total power input </a:t>
            </a:r>
          </a:p>
        </p:txBody>
      </p:sp>
      <p:sp>
        <p:nvSpPr>
          <p:cNvPr id="11" name="TextBox 10">
            <a:extLst>
              <a:ext uri="{FF2B5EF4-FFF2-40B4-BE49-F238E27FC236}">
                <a16:creationId xmlns:a16="http://schemas.microsoft.com/office/drawing/2014/main" xmlns="" id="{F3DEE81E-5B0F-4E57-945F-B1891EF10DD3}"/>
              </a:ext>
            </a:extLst>
          </p:cNvPr>
          <p:cNvSpPr txBox="1"/>
          <p:nvPr/>
        </p:nvSpPr>
        <p:spPr>
          <a:xfrm>
            <a:off x="447260" y="2228463"/>
            <a:ext cx="3959434" cy="461665"/>
          </a:xfrm>
          <a:prstGeom prst="rect">
            <a:avLst/>
          </a:prstGeom>
          <a:noFill/>
        </p:spPr>
        <p:txBody>
          <a:bodyPr wrap="square" rtlCol="0">
            <a:spAutoFit/>
          </a:bodyPr>
          <a:lstStyle/>
          <a:p>
            <a:pPr algn="ctr"/>
            <a:r>
              <a:rPr lang="en-GB" sz="2400" b="1" dirty="0"/>
              <a:t>A water pump lifting water</a:t>
            </a:r>
          </a:p>
        </p:txBody>
      </p:sp>
      <p:sp>
        <p:nvSpPr>
          <p:cNvPr id="13" name="TextBox 12">
            <a:extLst>
              <a:ext uri="{FF2B5EF4-FFF2-40B4-BE49-F238E27FC236}">
                <a16:creationId xmlns:a16="http://schemas.microsoft.com/office/drawing/2014/main" xmlns="" id="{BF0037AD-0A10-4A00-A75D-3971A5A5B9BC}"/>
              </a:ext>
            </a:extLst>
          </p:cNvPr>
          <p:cNvSpPr txBox="1"/>
          <p:nvPr/>
        </p:nvSpPr>
        <p:spPr>
          <a:xfrm>
            <a:off x="4427985" y="2702090"/>
            <a:ext cx="4536504" cy="3477875"/>
          </a:xfrm>
          <a:prstGeom prst="rect">
            <a:avLst/>
          </a:prstGeom>
          <a:noFill/>
          <a:ln w="22225">
            <a:solidFill>
              <a:schemeClr val="accent6"/>
            </a:solidFill>
          </a:ln>
        </p:spPr>
        <p:txBody>
          <a:bodyPr wrap="square" rtlCol="0">
            <a:spAutoFit/>
          </a:bodyPr>
          <a:lstStyle/>
          <a:p>
            <a:r>
              <a:rPr lang="en-GB" sz="2000" b="1" dirty="0"/>
              <a:t>The 300 W water pump raises 200 kg of water to a height of 2 m in one minute.</a:t>
            </a:r>
          </a:p>
          <a:p>
            <a:r>
              <a:rPr lang="en-GB" sz="2000" b="1" dirty="0"/>
              <a:t>The efficiency of the pump is:</a:t>
            </a:r>
          </a:p>
          <a:p>
            <a:endParaRPr lang="en-GB" b="1" dirty="0"/>
          </a:p>
          <a:p>
            <a:r>
              <a:rPr lang="en-GB" b="1" dirty="0"/>
              <a:t>      </a:t>
            </a:r>
            <a:r>
              <a:rPr lang="en-GB" b="1" dirty="0">
                <a:solidFill>
                  <a:schemeClr val="accent6">
                    <a:lumMod val="75000"/>
                  </a:schemeClr>
                </a:solidFill>
              </a:rPr>
              <a:t>Efficiency = </a:t>
            </a:r>
            <a:r>
              <a:rPr lang="en-GB" b="1" u="sng" dirty="0">
                <a:solidFill>
                  <a:schemeClr val="accent6">
                    <a:lumMod val="75000"/>
                  </a:schemeClr>
                </a:solidFill>
              </a:rPr>
              <a:t>useful power output</a:t>
            </a:r>
          </a:p>
          <a:p>
            <a:r>
              <a:rPr lang="en-GB" b="1" dirty="0">
                <a:solidFill>
                  <a:schemeClr val="accent6">
                    <a:lumMod val="75000"/>
                  </a:schemeClr>
                </a:solidFill>
              </a:rPr>
              <a:t>                             total power input </a:t>
            </a:r>
          </a:p>
          <a:p>
            <a:endParaRPr lang="en-GB" dirty="0"/>
          </a:p>
          <a:p>
            <a:r>
              <a:rPr lang="en-GB" b="1" dirty="0"/>
              <a:t>Power in                               = 300 W</a:t>
            </a:r>
          </a:p>
          <a:p>
            <a:r>
              <a:rPr lang="en-GB" b="1" dirty="0"/>
              <a:t>Power out = </a:t>
            </a:r>
            <a:r>
              <a:rPr lang="en-GB" b="1" u="sng" dirty="0"/>
              <a:t>2000 N x 2 m</a:t>
            </a:r>
            <a:r>
              <a:rPr lang="en-GB" b="1" dirty="0">
                <a:effectLst>
                  <a:outerShdw blurRad="38100" dist="38100" dir="2700000" algn="tl">
                    <a:srgbClr val="000000">
                      <a:alpha val="43137"/>
                    </a:srgbClr>
                  </a:outerShdw>
                </a:effectLst>
              </a:rPr>
              <a:t>   </a:t>
            </a:r>
            <a:r>
              <a:rPr lang="en-GB" b="1" dirty="0"/>
              <a:t>=</a:t>
            </a:r>
            <a:r>
              <a:rPr lang="en-GB" b="1" dirty="0">
                <a:effectLst>
                  <a:outerShdw blurRad="38100" dist="38100" dir="2700000" algn="tl">
                    <a:srgbClr val="000000">
                      <a:alpha val="43137"/>
                    </a:srgbClr>
                  </a:outerShdw>
                </a:effectLst>
              </a:rPr>
              <a:t> </a:t>
            </a:r>
            <a:r>
              <a:rPr lang="en-GB" b="1" dirty="0"/>
              <a:t>66.7 W</a:t>
            </a:r>
          </a:p>
          <a:p>
            <a:r>
              <a:rPr lang="en-GB" b="1" dirty="0"/>
              <a:t>                                60</a:t>
            </a:r>
          </a:p>
          <a:p>
            <a:r>
              <a:rPr lang="en-GB" b="1" dirty="0"/>
              <a:t>Efficiency = </a:t>
            </a:r>
            <a:r>
              <a:rPr lang="en-GB" b="1" u="sng" dirty="0"/>
              <a:t>66.7 x 100</a:t>
            </a:r>
            <a:r>
              <a:rPr lang="en-GB" b="1" dirty="0"/>
              <a:t>        = 22.2 %</a:t>
            </a:r>
            <a:endParaRPr lang="en-GB" b="1" u="sng" dirty="0"/>
          </a:p>
          <a:p>
            <a:r>
              <a:rPr lang="en-GB" b="1" dirty="0"/>
              <a:t>	        300</a:t>
            </a:r>
          </a:p>
        </p:txBody>
      </p:sp>
      <p:pic>
        <p:nvPicPr>
          <p:cNvPr id="7" name="Picture 6">
            <a:extLst>
              <a:ext uri="{FF2B5EF4-FFF2-40B4-BE49-F238E27FC236}">
                <a16:creationId xmlns:a16="http://schemas.microsoft.com/office/drawing/2014/main" xmlns="" id="{4B99B1C6-0C64-40A7-8741-BE01B6E9F4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260" y="2924944"/>
            <a:ext cx="3804592" cy="2970613"/>
          </a:xfrm>
          <a:prstGeom prst="rect">
            <a:avLst/>
          </a:prstGeom>
        </p:spPr>
      </p:pic>
      <p:sp>
        <p:nvSpPr>
          <p:cNvPr id="8" name="TextBox 7">
            <a:extLst>
              <a:ext uri="{FF2B5EF4-FFF2-40B4-BE49-F238E27FC236}">
                <a16:creationId xmlns:a16="http://schemas.microsoft.com/office/drawing/2014/main" xmlns="" id="{422A718E-DA46-4F82-B3DB-D41992103795}"/>
              </a:ext>
            </a:extLst>
          </p:cNvPr>
          <p:cNvSpPr txBox="1"/>
          <p:nvPr/>
        </p:nvSpPr>
        <p:spPr>
          <a:xfrm>
            <a:off x="4572000" y="1306670"/>
            <a:ext cx="4704706" cy="1200329"/>
          </a:xfrm>
          <a:prstGeom prst="rect">
            <a:avLst/>
          </a:prstGeom>
          <a:noFill/>
        </p:spPr>
        <p:txBody>
          <a:bodyPr wrap="square" rtlCol="0">
            <a:spAutoFit/>
          </a:bodyPr>
          <a:lstStyle/>
          <a:p>
            <a:pPr algn="ctr"/>
            <a:r>
              <a:rPr lang="en-GB" sz="2400" b="1" dirty="0">
                <a:solidFill>
                  <a:schemeClr val="accent6">
                    <a:lumMod val="75000"/>
                  </a:schemeClr>
                </a:solidFill>
              </a:rPr>
              <a:t>Remember that power is the time it takes to do work.</a:t>
            </a:r>
          </a:p>
          <a:p>
            <a:pPr algn="ctr"/>
            <a:r>
              <a:rPr lang="en-GB" sz="2400" b="1" dirty="0">
                <a:solidFill>
                  <a:schemeClr val="accent6">
                    <a:lumMod val="75000"/>
                  </a:schemeClr>
                </a:solidFill>
              </a:rPr>
              <a:t>Work = Force x distance</a:t>
            </a:r>
          </a:p>
        </p:txBody>
      </p:sp>
      <p:sp>
        <p:nvSpPr>
          <p:cNvPr id="10" name="Title 1"/>
          <p:cNvSpPr>
            <a:spLocks noGrp="1"/>
          </p:cNvSpPr>
          <p:nvPr>
            <p:ph type="ctrTitle"/>
          </p:nvPr>
        </p:nvSpPr>
        <p:spPr>
          <a:xfrm>
            <a:off x="894203" y="0"/>
            <a:ext cx="8070286" cy="657041"/>
          </a:xfrm>
        </p:spPr>
        <p:txBody>
          <a:bodyPr>
            <a:noAutofit/>
          </a:bodyPr>
          <a:lstStyle/>
          <a:p>
            <a:pPr marL="342900" lvl="1" algn="r" defTabSz="342900" rtl="0">
              <a:spcBef>
                <a:spcPct val="20000"/>
              </a:spcBef>
            </a:pPr>
            <a:r>
              <a:rPr lang="en-US" sz="2400" b="1" smtClean="0">
                <a:solidFill>
                  <a:schemeClr val="accent6"/>
                </a:solidFill>
              </a:rPr>
              <a:t>                              </a:t>
            </a:r>
            <a:r>
              <a:rPr lang="en-US" sz="2800" b="1" smtClean="0">
                <a:solidFill>
                  <a:schemeClr val="accent6"/>
                </a:solidFill>
              </a:rPr>
              <a:t>Efficiency</a:t>
            </a:r>
            <a:endParaRPr kumimoji="0" lang="en-US" sz="2800" b="1" i="0" u="none" strike="noStrike" kern="1200" cap="none" spc="0" normalizeH="0" baseline="0" noProof="0" dirty="0">
              <a:ln>
                <a:noFill/>
              </a:ln>
              <a:solidFill>
                <a:schemeClr val="accent6"/>
              </a:solidFill>
              <a:effectLst/>
              <a:uLnTx/>
              <a:uFillTx/>
              <a:latin typeface="Calibri"/>
              <a:ea typeface=""/>
              <a:cs typeface="News Gothic MT"/>
            </a:endParaRPr>
          </a:p>
        </p:txBody>
      </p:sp>
    </p:spTree>
    <p:extLst>
      <p:ext uri="{BB962C8B-B14F-4D97-AF65-F5344CB8AC3E}">
        <p14:creationId xmlns:p14="http://schemas.microsoft.com/office/powerpoint/2010/main" val="23980015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70646"/>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r>
              <a:rPr lang="en-GB" sz="3600" b="1" dirty="0">
                <a:solidFill>
                  <a:schemeClr val="tx1">
                    <a:lumMod val="50000"/>
                    <a:lumOff val="50000"/>
                  </a:schemeClr>
                </a:solidFill>
              </a:rPr>
              <a:t>Conservation and</a:t>
            </a:r>
          </a:p>
          <a:p>
            <a:r>
              <a:rPr lang="en-GB" sz="3600" b="1" dirty="0">
                <a:solidFill>
                  <a:schemeClr val="tx1">
                    <a:lumMod val="50000"/>
                    <a:lumOff val="50000"/>
                  </a:schemeClr>
                </a:solidFill>
              </a:rPr>
              <a:t>Dissipation of </a:t>
            </a:r>
          </a:p>
          <a:p>
            <a:r>
              <a:rPr lang="en-GB" sz="3600" b="1" dirty="0">
                <a:solidFill>
                  <a:schemeClr val="tx1">
                    <a:lumMod val="50000"/>
                    <a:lumOff val="50000"/>
                  </a:schemeClr>
                </a:solidFill>
              </a:rPr>
              <a:t>Energy </a:t>
            </a:r>
          </a:p>
          <a:p>
            <a:endParaRPr lang="en-GB" sz="2400" b="1"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Energy transfers in a system</a:t>
            </a:r>
          </a:p>
          <a:p>
            <a:pPr marL="685800" lvl="1" indent="-342900">
              <a:buFont typeface="Arial" charset="0"/>
              <a:buChar char="•"/>
            </a:pPr>
            <a:endParaRPr lang="en-US" sz="2400" b="1" dirty="0">
              <a:solidFill>
                <a:schemeClr val="bg1">
                  <a:lumMod val="50000"/>
                </a:schemeClr>
              </a:solidFill>
            </a:endParaRPr>
          </a:p>
          <a:p>
            <a:pPr marL="685800" lvl="1" indent="-342900">
              <a:buFont typeface="Arial" charset="0"/>
              <a:buChar char="•"/>
            </a:pPr>
            <a:r>
              <a:rPr lang="en-US" sz="2400" b="1" dirty="0">
                <a:solidFill>
                  <a:schemeClr val="bg1">
                    <a:lumMod val="50000"/>
                  </a:schemeClr>
                </a:solidFill>
              </a:rPr>
              <a:t>Efficiency</a:t>
            </a:r>
            <a:endParaRPr lang="en-GB" dirty="0"/>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149587" y="802524"/>
            <a:ext cx="4914900" cy="5638800"/>
          </a:xfrm>
          <a:prstGeom prst="rect">
            <a:avLst/>
          </a:prstGeom>
        </p:spPr>
      </p:pic>
    </p:spTree>
    <p:extLst>
      <p:ext uri="{BB962C8B-B14F-4D97-AF65-F5344CB8AC3E}">
        <p14:creationId xmlns:p14="http://schemas.microsoft.com/office/powerpoint/2010/main" val="5436857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0E5B3FF-3FA0-44E6-B9E3-92874D1698AD}"/>
              </a:ext>
            </a:extLst>
          </p:cNvPr>
          <p:cNvSpPr txBox="1"/>
          <p:nvPr/>
        </p:nvSpPr>
        <p:spPr>
          <a:xfrm>
            <a:off x="251520" y="836712"/>
            <a:ext cx="8784976" cy="4893647"/>
          </a:xfrm>
          <a:prstGeom prst="rect">
            <a:avLst/>
          </a:prstGeom>
          <a:noFill/>
        </p:spPr>
        <p:txBody>
          <a:bodyPr wrap="square" rtlCol="0">
            <a:spAutoFit/>
          </a:bodyPr>
          <a:lstStyle/>
          <a:p>
            <a:pPr marL="342900" indent="-342900">
              <a:buAutoNum type="arabicPeriod"/>
            </a:pPr>
            <a:r>
              <a:rPr lang="en-GB" sz="2400" dirty="0"/>
              <a:t>In a “closed” </a:t>
            </a:r>
            <a:r>
              <a:rPr lang="en-GB" sz="2400" dirty="0" smtClean="0"/>
              <a:t>system </a:t>
            </a:r>
            <a:r>
              <a:rPr lang="is-IS" sz="2400" dirty="0" smtClean="0"/>
              <a:t>…..........</a:t>
            </a:r>
            <a:r>
              <a:rPr lang="en-GB" sz="2400" dirty="0" smtClean="0"/>
              <a:t>         </a:t>
            </a:r>
            <a:endParaRPr lang="en-GB" sz="2400" dirty="0"/>
          </a:p>
          <a:p>
            <a:pPr marL="800100" lvl="1" indent="-342900">
              <a:buFont typeface="+mj-lt"/>
              <a:buAutoNum type="alphaUcPeriod"/>
            </a:pPr>
            <a:r>
              <a:rPr lang="en-GB" sz="2400" dirty="0" smtClean="0"/>
              <a:t>energy </a:t>
            </a:r>
            <a:r>
              <a:rPr lang="en-GB" sz="2400" dirty="0"/>
              <a:t>can be transferred but there is no net energy loss.</a:t>
            </a:r>
          </a:p>
          <a:p>
            <a:pPr marL="800100" lvl="1" indent="-342900">
              <a:buFont typeface="+mj-lt"/>
              <a:buAutoNum type="alphaUcPeriod"/>
            </a:pPr>
            <a:r>
              <a:rPr lang="en-GB" sz="2400" dirty="0" smtClean="0"/>
              <a:t>energy </a:t>
            </a:r>
            <a:r>
              <a:rPr lang="en-GB" sz="2400" dirty="0"/>
              <a:t>and mass are transferred in and out of the system.</a:t>
            </a:r>
          </a:p>
          <a:p>
            <a:pPr marL="800100" lvl="1" indent="-342900">
              <a:buFont typeface="+mj-lt"/>
              <a:buAutoNum type="alphaUcPeriod"/>
            </a:pPr>
            <a:r>
              <a:rPr lang="en-GB" sz="2400" dirty="0" smtClean="0"/>
              <a:t>energy </a:t>
            </a:r>
            <a:r>
              <a:rPr lang="en-GB" sz="2400" dirty="0"/>
              <a:t>cannot be transferred between different energy stores.</a:t>
            </a:r>
          </a:p>
          <a:p>
            <a:endParaRPr lang="en-GB" sz="2400" dirty="0"/>
          </a:p>
          <a:p>
            <a:r>
              <a:rPr lang="en-GB" sz="2400" dirty="0"/>
              <a:t>2. The energy transfer diagram for a mobile phone shows that 100 J of electrical </a:t>
            </a:r>
            <a:r>
              <a:rPr lang="en-GB" sz="2400" dirty="0" smtClean="0"/>
              <a:t>energy produces </a:t>
            </a:r>
            <a:r>
              <a:rPr lang="en-GB" sz="2400" dirty="0"/>
              <a:t>45 J of light energy and 36 J of sound energy. </a:t>
            </a:r>
            <a:endParaRPr lang="en-GB" sz="2400" dirty="0" smtClean="0"/>
          </a:p>
          <a:p>
            <a:r>
              <a:rPr lang="en-GB" sz="2400" dirty="0" smtClean="0"/>
              <a:t>How </a:t>
            </a:r>
            <a:r>
              <a:rPr lang="en-GB" sz="2400" dirty="0"/>
              <a:t>much </a:t>
            </a:r>
            <a:r>
              <a:rPr lang="en-GB" sz="2400" dirty="0" smtClean="0"/>
              <a:t>thermal energy </a:t>
            </a:r>
            <a:r>
              <a:rPr lang="en-GB" sz="2400" dirty="0"/>
              <a:t>will </a:t>
            </a:r>
            <a:r>
              <a:rPr lang="en-GB" sz="2400" dirty="0" smtClean="0"/>
              <a:t>be </a:t>
            </a:r>
            <a:r>
              <a:rPr lang="en-GB" sz="2400" dirty="0"/>
              <a:t>dissipated by the phone?</a:t>
            </a:r>
          </a:p>
          <a:p>
            <a:endParaRPr lang="en-GB" sz="2400" dirty="0"/>
          </a:p>
          <a:p>
            <a:r>
              <a:rPr lang="en-GB" sz="2400" dirty="0"/>
              <a:t>					              </a:t>
            </a:r>
          </a:p>
          <a:p>
            <a:r>
              <a:rPr lang="en-GB" sz="2400" dirty="0"/>
              <a:t>					         </a:t>
            </a:r>
            <a:r>
              <a:rPr lang="en-GB" sz="2400" b="1" dirty="0">
                <a:solidFill>
                  <a:srgbClr val="00B050"/>
                </a:solidFill>
              </a:rPr>
              <a:t>	</a:t>
            </a:r>
          </a:p>
          <a:p>
            <a:endParaRPr lang="en-GB" sz="2400" dirty="0"/>
          </a:p>
        </p:txBody>
      </p:sp>
      <p:pic>
        <p:nvPicPr>
          <p:cNvPr id="34" name="Picture 33" descr="Image result for energy transfer diagram for a car">
            <a:extLst>
              <a:ext uri="{FF2B5EF4-FFF2-40B4-BE49-F238E27FC236}">
                <a16:creationId xmlns:a16="http://schemas.microsoft.com/office/drawing/2014/main" xmlns="" id="{430B67B4-10B3-480D-AD16-98BD0D622C7B}"/>
              </a:ext>
            </a:extLst>
          </p:cNvPr>
          <p:cNvPicPr>
            <a:picLocks noChangeAspect="1"/>
          </p:cNvPicPr>
          <p:nvPr/>
        </p:nvPicPr>
        <p:blipFill rotWithShape="1">
          <a:blip r:embed="rId3">
            <a:extLst>
              <a:ext uri="{28A0092B-C50C-407E-A947-70E740481C1C}">
                <a14:useLocalDpi xmlns:a14="http://schemas.microsoft.com/office/drawing/2010/main" val="0"/>
              </a:ext>
            </a:extLst>
          </a:blip>
          <a:srcRect t="20896" b="16415"/>
          <a:stretch/>
        </p:blipFill>
        <p:spPr bwMode="auto">
          <a:xfrm>
            <a:off x="2061197" y="4220628"/>
            <a:ext cx="5892480" cy="2232000"/>
          </a:xfrm>
          <a:prstGeom prst="rect">
            <a:avLst/>
          </a:prstGeom>
          <a:noFill/>
          <a:ln>
            <a:solidFill>
              <a:schemeClr val="accent6">
                <a:lumMod val="75000"/>
              </a:schemeClr>
            </a:solidFill>
          </a:ln>
        </p:spPr>
      </p:pic>
      <p:sp>
        <p:nvSpPr>
          <p:cNvPr id="38" name="TextBox 37">
            <a:extLst>
              <a:ext uri="{FF2B5EF4-FFF2-40B4-BE49-F238E27FC236}">
                <a16:creationId xmlns:a16="http://schemas.microsoft.com/office/drawing/2014/main" xmlns="" id="{946BE1A5-EDD5-4DD3-BB01-BF7AC07FC209}"/>
              </a:ext>
            </a:extLst>
          </p:cNvPr>
          <p:cNvSpPr txBox="1"/>
          <p:nvPr/>
        </p:nvSpPr>
        <p:spPr>
          <a:xfrm>
            <a:off x="7120139" y="1268760"/>
            <a:ext cx="432048" cy="432048"/>
          </a:xfrm>
          <a:prstGeom prst="rect">
            <a:avLst/>
          </a:prstGeom>
          <a:noFill/>
          <a:ln>
            <a:noFill/>
          </a:ln>
        </p:spPr>
        <p:txBody>
          <a:bodyPr wrap="square" rtlCol="0">
            <a:spAutoFit/>
          </a:bodyPr>
          <a:lstStyle/>
          <a:p>
            <a:endParaRPr lang="en-GB" dirty="0"/>
          </a:p>
        </p:txBody>
      </p:sp>
      <p:sp>
        <p:nvSpPr>
          <p:cNvPr id="9"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a:t>
            </a:r>
            <a:r>
              <a:rPr lang="en-US" sz="2800" b="1" smtClean="0">
                <a:solidFill>
                  <a:schemeClr val="accent6"/>
                </a:solidFill>
                <a:latin typeface="+mn-lt"/>
              </a:rPr>
              <a:t>Conservation and Dissipation of Energy - </a:t>
            </a:r>
            <a:r>
              <a:rPr lang="en-US" sz="2800" b="1" dirty="0" smtClean="0">
                <a:solidFill>
                  <a:schemeClr val="tx1"/>
                </a:solidFill>
                <a:latin typeface="+mn-lt"/>
              </a:rPr>
              <a:t>QuestionIT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3791231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D865BE3B-3475-478A-8C5B-CAC02D134167}"/>
              </a:ext>
            </a:extLst>
          </p:cNvPr>
          <p:cNvSpPr/>
          <p:nvPr/>
        </p:nvSpPr>
        <p:spPr>
          <a:xfrm>
            <a:off x="2656832" y="3381227"/>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xmlns="" id="{3865020C-C5E0-4770-A0E0-C314947DE9A7}"/>
              </a:ext>
            </a:extLst>
          </p:cNvPr>
          <p:cNvSpPr/>
          <p:nvPr/>
        </p:nvSpPr>
        <p:spPr>
          <a:xfrm>
            <a:off x="4695463" y="4165765"/>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xmlns="" id="{114FCB36-D030-4AAD-A551-64CE52A920F2}"/>
              </a:ext>
            </a:extLst>
          </p:cNvPr>
          <p:cNvSpPr/>
          <p:nvPr/>
        </p:nvSpPr>
        <p:spPr>
          <a:xfrm>
            <a:off x="4695463" y="3381227"/>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xmlns="" id="{DF539FFC-E4D1-4E25-9585-DA99C38C96F2}"/>
              </a:ext>
            </a:extLst>
          </p:cNvPr>
          <p:cNvSpPr/>
          <p:nvPr/>
        </p:nvSpPr>
        <p:spPr>
          <a:xfrm>
            <a:off x="4695463" y="2596689"/>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xmlns="" id="{F267796C-2EFE-4A69-B999-7774278D48F8}"/>
              </a:ext>
            </a:extLst>
          </p:cNvPr>
          <p:cNvSpPr/>
          <p:nvPr/>
        </p:nvSpPr>
        <p:spPr>
          <a:xfrm rot="20174161">
            <a:off x="3351465" y="3072796"/>
            <a:ext cx="1367200" cy="184879"/>
          </a:xfrm>
          <a:prstGeom prst="rightArrow">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xmlns="" id="{1DC9B177-C660-450D-BABA-918981664929}"/>
              </a:ext>
            </a:extLst>
          </p:cNvPr>
          <p:cNvSpPr/>
          <p:nvPr/>
        </p:nvSpPr>
        <p:spPr>
          <a:xfrm>
            <a:off x="3409424" y="3488453"/>
            <a:ext cx="1251281" cy="496506"/>
          </a:xfrm>
          <a:prstGeom prst="rightArrow">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xmlns="" id="{E9E212EE-AB4A-4D52-A79A-C6F14E22194D}"/>
              </a:ext>
            </a:extLst>
          </p:cNvPr>
          <p:cNvSpPr/>
          <p:nvPr/>
        </p:nvSpPr>
        <p:spPr>
          <a:xfrm rot="1798937">
            <a:off x="3338767" y="4338349"/>
            <a:ext cx="1382884" cy="45719"/>
          </a:xfrm>
          <a:prstGeom prst="rightArrow">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TextBox 8"/>
          <p:cNvSpPr txBox="1"/>
          <p:nvPr/>
        </p:nvSpPr>
        <p:spPr>
          <a:xfrm>
            <a:off x="4787969" y="2720823"/>
            <a:ext cx="576064" cy="461665"/>
          </a:xfrm>
          <a:prstGeom prst="rect">
            <a:avLst/>
          </a:prstGeom>
          <a:noFill/>
        </p:spPr>
        <p:txBody>
          <a:bodyPr wrap="square" rtlCol="0">
            <a:spAutoFit/>
          </a:bodyPr>
          <a:lstStyle/>
          <a:p>
            <a:r>
              <a:rPr lang="en-GB" sz="2400" dirty="0"/>
              <a:t> B </a:t>
            </a:r>
          </a:p>
        </p:txBody>
      </p:sp>
      <p:sp>
        <p:nvSpPr>
          <p:cNvPr id="14" name="TextBox 13"/>
          <p:cNvSpPr txBox="1"/>
          <p:nvPr/>
        </p:nvSpPr>
        <p:spPr>
          <a:xfrm>
            <a:off x="4831807" y="3474430"/>
            <a:ext cx="576064" cy="461665"/>
          </a:xfrm>
          <a:prstGeom prst="rect">
            <a:avLst/>
          </a:prstGeom>
          <a:noFill/>
        </p:spPr>
        <p:txBody>
          <a:bodyPr wrap="square" rtlCol="0">
            <a:spAutoFit/>
          </a:bodyPr>
          <a:lstStyle/>
          <a:p>
            <a:r>
              <a:rPr lang="en-GB" sz="2400" dirty="0"/>
              <a:t> </a:t>
            </a:r>
            <a:r>
              <a:rPr lang="en-GB" sz="2400" dirty="0" smtClean="0"/>
              <a:t>C </a:t>
            </a:r>
            <a:endParaRPr lang="en-GB" sz="2400" dirty="0"/>
          </a:p>
        </p:txBody>
      </p:sp>
      <p:sp>
        <p:nvSpPr>
          <p:cNvPr id="15" name="TextBox 14"/>
          <p:cNvSpPr txBox="1"/>
          <p:nvPr/>
        </p:nvSpPr>
        <p:spPr>
          <a:xfrm>
            <a:off x="4831807" y="4258968"/>
            <a:ext cx="576064" cy="461665"/>
          </a:xfrm>
          <a:prstGeom prst="rect">
            <a:avLst/>
          </a:prstGeom>
          <a:noFill/>
          <a:ln>
            <a:noFill/>
          </a:ln>
        </p:spPr>
        <p:txBody>
          <a:bodyPr wrap="square" rtlCol="0">
            <a:spAutoFit/>
          </a:bodyPr>
          <a:lstStyle/>
          <a:p>
            <a:r>
              <a:rPr lang="en-GB" sz="2400" dirty="0"/>
              <a:t> </a:t>
            </a:r>
            <a:r>
              <a:rPr lang="en-GB" sz="2400" dirty="0" smtClean="0"/>
              <a:t>D </a:t>
            </a:r>
            <a:endParaRPr lang="en-GB" sz="2400" dirty="0"/>
          </a:p>
        </p:txBody>
      </p:sp>
      <p:sp>
        <p:nvSpPr>
          <p:cNvPr id="16" name="TextBox 15"/>
          <p:cNvSpPr txBox="1"/>
          <p:nvPr/>
        </p:nvSpPr>
        <p:spPr>
          <a:xfrm>
            <a:off x="2778731" y="3503840"/>
            <a:ext cx="576064" cy="461665"/>
          </a:xfrm>
          <a:prstGeom prst="rect">
            <a:avLst/>
          </a:prstGeom>
          <a:noFill/>
        </p:spPr>
        <p:txBody>
          <a:bodyPr wrap="square" rtlCol="0">
            <a:spAutoFit/>
          </a:bodyPr>
          <a:lstStyle/>
          <a:p>
            <a:r>
              <a:rPr lang="en-GB" sz="2400" dirty="0"/>
              <a:t> </a:t>
            </a:r>
            <a:r>
              <a:rPr lang="en-GB" sz="2400" dirty="0" smtClean="0"/>
              <a:t>A </a:t>
            </a:r>
            <a:endParaRPr lang="en-GB" sz="2400" dirty="0"/>
          </a:p>
        </p:txBody>
      </p:sp>
      <p:sp>
        <p:nvSpPr>
          <p:cNvPr id="10" name="Rectangle 9"/>
          <p:cNvSpPr/>
          <p:nvPr/>
        </p:nvSpPr>
        <p:spPr>
          <a:xfrm>
            <a:off x="0" y="799073"/>
            <a:ext cx="9144000" cy="1859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GB" sz="2400" dirty="0">
                <a:solidFill>
                  <a:schemeClr val="tx1"/>
                </a:solidFill>
              </a:rPr>
              <a:t>3. </a:t>
            </a:r>
            <a:r>
              <a:rPr lang="en-GB" sz="2400" dirty="0" smtClean="0">
                <a:solidFill>
                  <a:schemeClr val="tx1"/>
                </a:solidFill>
              </a:rPr>
              <a:t>Describe how </a:t>
            </a:r>
            <a:r>
              <a:rPr lang="en-GB" sz="2400" dirty="0">
                <a:solidFill>
                  <a:schemeClr val="tx1"/>
                </a:solidFill>
              </a:rPr>
              <a:t>the </a:t>
            </a:r>
            <a:r>
              <a:rPr lang="en-GB" sz="2400" dirty="0" smtClean="0">
                <a:solidFill>
                  <a:schemeClr val="tx1"/>
                </a:solidFill>
              </a:rPr>
              <a:t>thermal energy </a:t>
            </a:r>
            <a:r>
              <a:rPr lang="en-GB" sz="2400" dirty="0">
                <a:solidFill>
                  <a:schemeClr val="tx1"/>
                </a:solidFill>
              </a:rPr>
              <a:t>produced by a bus driving along a road is dissipated.</a:t>
            </a:r>
          </a:p>
          <a:p>
            <a:r>
              <a:rPr lang="en-GB" sz="2400" dirty="0">
                <a:solidFill>
                  <a:schemeClr val="tx1"/>
                </a:solidFill>
              </a:rPr>
              <a:t>4. a. The diagram shows the main energy transfers for an electric fan. Complete boxes A </a:t>
            </a:r>
            <a:r>
              <a:rPr lang="en-GB" sz="2400" dirty="0" smtClean="0">
                <a:solidFill>
                  <a:schemeClr val="tx1"/>
                </a:solidFill>
              </a:rPr>
              <a:t>to D </a:t>
            </a:r>
            <a:r>
              <a:rPr lang="en-GB" sz="2400" dirty="0">
                <a:solidFill>
                  <a:schemeClr val="tx1"/>
                </a:solidFill>
              </a:rPr>
              <a:t>showing the energy stores involved. Use the size of the arrows to help you.</a:t>
            </a:r>
          </a:p>
        </p:txBody>
      </p:sp>
      <p:sp>
        <p:nvSpPr>
          <p:cNvPr id="19" name="Rectangle 18"/>
          <p:cNvSpPr/>
          <p:nvPr/>
        </p:nvSpPr>
        <p:spPr>
          <a:xfrm>
            <a:off x="16839" y="5042377"/>
            <a:ext cx="9144000" cy="108685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GB" sz="2400" dirty="0">
                <a:solidFill>
                  <a:schemeClr val="tx1"/>
                </a:solidFill>
              </a:rPr>
              <a:t>b. State why the total energy supplied </a:t>
            </a:r>
            <a:r>
              <a:rPr lang="en-GB" sz="2400" dirty="0" smtClean="0">
                <a:solidFill>
                  <a:schemeClr val="tx1"/>
                </a:solidFill>
              </a:rPr>
              <a:t>an electric </a:t>
            </a:r>
            <a:r>
              <a:rPr lang="en-GB" sz="2400" dirty="0">
                <a:solidFill>
                  <a:schemeClr val="tx1"/>
                </a:solidFill>
              </a:rPr>
              <a:t>fan must always equal the total energy transferred by the electric fan. 	</a:t>
            </a:r>
          </a:p>
          <a:p>
            <a:r>
              <a:rPr lang="en-GB" sz="2400" dirty="0">
                <a:solidFill>
                  <a:schemeClr val="tx1"/>
                </a:solidFill>
              </a:rPr>
              <a:t>         </a:t>
            </a:r>
            <a:endParaRPr lang="en-GB" sz="2400" b="1" dirty="0">
              <a:solidFill>
                <a:schemeClr val="tx1"/>
              </a:solidFill>
            </a:endParaRPr>
          </a:p>
        </p:txBody>
      </p:sp>
      <p:sp>
        <p:nvSpPr>
          <p:cNvPr id="23"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a:t>
            </a:r>
            <a:r>
              <a:rPr lang="en-US" sz="2800" b="1" smtClean="0">
                <a:solidFill>
                  <a:schemeClr val="accent6"/>
                </a:solidFill>
                <a:latin typeface="+mn-lt"/>
              </a:rPr>
              <a:t>Conservation and Dissipation of Energy - </a:t>
            </a:r>
            <a:r>
              <a:rPr lang="en-US" sz="2800" b="1" dirty="0" smtClean="0">
                <a:solidFill>
                  <a:schemeClr val="tx1"/>
                </a:solidFill>
                <a:latin typeface="+mn-lt"/>
              </a:rPr>
              <a:t>QuestionIT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4085726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7504" y="836712"/>
            <a:ext cx="9036496" cy="574350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lvl="0" eaLnBrk="0" fontAlgn="base" hangingPunct="0">
              <a:spcBef>
                <a:spcPct val="0"/>
              </a:spcBef>
              <a:spcAft>
                <a:spcPct val="0"/>
              </a:spcAft>
            </a:pPr>
            <a:r>
              <a:rPr lang="en-US" altLang="en-US" sz="2400" dirty="0">
                <a:solidFill>
                  <a:schemeClr val="tx1"/>
                </a:solidFill>
                <a:ea typeface="Times New Roman" panose="02020603050405020304" pitchFamily="18" charset="0"/>
                <a:cs typeface="Times New Roman" panose="02020603050405020304" pitchFamily="18" charset="0"/>
              </a:rPr>
              <a:t>5. a. The diagrams show two different types of loft insulation.</a:t>
            </a:r>
            <a:endParaRPr lang="en-GB" altLang="en-US" sz="2400" dirty="0">
              <a:solidFill>
                <a:schemeClr val="tx1"/>
              </a:solidFill>
            </a:endParaRPr>
          </a:p>
          <a:p>
            <a:pPr lvl="0" eaLnBrk="0" fontAlgn="base" hangingPunct="0">
              <a:spcBef>
                <a:spcPct val="0"/>
              </a:spcBef>
              <a:spcAft>
                <a:spcPct val="0"/>
              </a:spcAft>
            </a:pPr>
            <a:r>
              <a:rPr lang="en-US" altLang="en-US" sz="2400" dirty="0">
                <a:solidFill>
                  <a:schemeClr val="tx1"/>
                </a:solidFill>
                <a:ea typeface="Times New Roman" panose="02020603050405020304" pitchFamily="18" charset="0"/>
                <a:cs typeface="Times New Roman" panose="02020603050405020304" pitchFamily="18" charset="0"/>
              </a:rPr>
              <a:t>		Fiberglass insulation	Wool insulation</a:t>
            </a:r>
          </a:p>
          <a:p>
            <a:pPr lvl="0" eaLnBrk="0" fontAlgn="base" hangingPunct="0">
              <a:spcBef>
                <a:spcPct val="0"/>
              </a:spcBef>
              <a:spcAft>
                <a:spcPct val="0"/>
              </a:spcAft>
            </a:pPr>
            <a:endParaRPr lang="en-US" alt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altLang="en-US" sz="2400" dirty="0" smtClean="0">
              <a:solidFill>
                <a:schemeClr val="tx1"/>
              </a:solidFill>
              <a:cs typeface="Times New Roman" panose="02020603050405020304" pitchFamily="18" charset="0"/>
            </a:endParaRPr>
          </a:p>
          <a:p>
            <a:pPr lvl="0" eaLnBrk="0" fontAlgn="base" hangingPunct="0">
              <a:spcBef>
                <a:spcPct val="0"/>
              </a:spcBef>
              <a:spcAft>
                <a:spcPct val="0"/>
              </a:spcAft>
            </a:pPr>
            <a:endParaRPr lang="en-US" altLang="en-US" sz="2400" dirty="0">
              <a:solidFill>
                <a:schemeClr val="tx1"/>
              </a:solidFill>
              <a:cs typeface="Times New Roman" panose="02020603050405020304" pitchFamily="18" charset="0"/>
            </a:endParaRPr>
          </a:p>
          <a:p>
            <a:r>
              <a:rPr lang="en-US" sz="2400" dirty="0" smtClean="0">
                <a:solidFill>
                  <a:schemeClr val="tx1"/>
                </a:solidFill>
              </a:rPr>
              <a:t>The </a:t>
            </a:r>
            <a:r>
              <a:rPr lang="en-US" sz="2400" dirty="0">
                <a:solidFill>
                  <a:schemeClr val="tx1"/>
                </a:solidFill>
              </a:rPr>
              <a:t>wool needs to be thicker to have the same insulating properties. </a:t>
            </a:r>
            <a:r>
              <a:rPr lang="en-US" sz="2400" dirty="0" smtClean="0">
                <a:solidFill>
                  <a:schemeClr val="tx1"/>
                </a:solidFill>
              </a:rPr>
              <a:t>Explain </a:t>
            </a:r>
            <a:r>
              <a:rPr lang="en-US" sz="2400" dirty="0">
                <a:solidFill>
                  <a:schemeClr val="tx1"/>
                </a:solidFill>
              </a:rPr>
              <a:t>which material has the highest thermal conductivity?</a:t>
            </a:r>
          </a:p>
          <a:p>
            <a:endParaRPr lang="en-US" sz="2400" dirty="0">
              <a:solidFill>
                <a:schemeClr val="tx1"/>
              </a:solidFill>
            </a:endParaRPr>
          </a:p>
          <a:p>
            <a:r>
              <a:rPr lang="en-US" sz="2400" dirty="0">
                <a:solidFill>
                  <a:schemeClr val="tx1"/>
                </a:solidFill>
              </a:rPr>
              <a:t>         </a:t>
            </a:r>
            <a:endParaRPr lang="en-US" sz="2400" b="1" dirty="0">
              <a:solidFill>
                <a:schemeClr val="tx1"/>
              </a:solidFill>
            </a:endParaRPr>
          </a:p>
          <a:p>
            <a:endParaRPr lang="en-US" sz="2400" b="1" dirty="0">
              <a:solidFill>
                <a:schemeClr val="tx1"/>
              </a:solidFill>
            </a:endParaRPr>
          </a:p>
          <a:p>
            <a:endParaRPr lang="en-US" sz="2400" dirty="0">
              <a:solidFill>
                <a:schemeClr val="tx1"/>
              </a:solidFill>
            </a:endParaRPr>
          </a:p>
          <a:p>
            <a:endParaRPr lang="en-US" sz="2400" dirty="0">
              <a:solidFill>
                <a:schemeClr val="tx1"/>
              </a:solidFill>
            </a:endParaRPr>
          </a:p>
          <a:p>
            <a:r>
              <a:rPr lang="en-US" sz="2400" dirty="0" smtClean="0">
                <a:solidFill>
                  <a:schemeClr val="tx1"/>
                </a:solidFill>
              </a:rPr>
              <a:t>b</a:t>
            </a:r>
            <a:r>
              <a:rPr lang="en-US" sz="2400" dirty="0">
                <a:solidFill>
                  <a:schemeClr val="tx1"/>
                </a:solidFill>
              </a:rPr>
              <a:t>. </a:t>
            </a:r>
            <a:r>
              <a:rPr lang="en-GB" sz="2400" dirty="0">
                <a:solidFill>
                  <a:schemeClr val="tx1"/>
                </a:solidFill>
              </a:rPr>
              <a:t>Explain how trapped air reduces the rate of heat loss, in terms of </a:t>
            </a:r>
            <a:r>
              <a:rPr lang="en-GB" sz="2400" dirty="0" smtClean="0">
                <a:solidFill>
                  <a:schemeClr val="tx1"/>
                </a:solidFill>
              </a:rPr>
              <a:t>thermal </a:t>
            </a:r>
            <a:r>
              <a:rPr lang="en-GB" sz="2400" dirty="0">
                <a:solidFill>
                  <a:schemeClr val="tx1"/>
                </a:solidFill>
              </a:rPr>
              <a:t>conductivity.</a:t>
            </a:r>
          </a:p>
          <a:p>
            <a:endParaRPr lang="en-US" sz="2400" dirty="0">
              <a:solidFill>
                <a:schemeClr val="tx1"/>
              </a:solidFill>
            </a:endParaRPr>
          </a:p>
          <a:p>
            <a:endParaRPr lang="en-US" sz="2400" dirty="0">
              <a:solidFill>
                <a:schemeClr val="tx1"/>
              </a:solidFill>
            </a:endParaRPr>
          </a:p>
        </p:txBody>
      </p:sp>
      <p:pic>
        <p:nvPicPr>
          <p:cNvPr id="14" name="Picture 13" descr="Image result for comparing loft insulation ">
            <a:extLst>
              <a:ext uri="{FF2B5EF4-FFF2-40B4-BE49-F238E27FC236}">
                <a16:creationId xmlns:a16="http://schemas.microsoft.com/office/drawing/2014/main" xmlns="" id="{1B1CE272-1F9A-4AB8-ABFB-427A3742872E}"/>
              </a:ext>
            </a:extLst>
          </p:cNvPr>
          <p:cNvPicPr/>
          <p:nvPr/>
        </p:nvPicPr>
        <p:blipFill>
          <a:blip r:embed="rId3"/>
          <a:srcRect/>
          <a:stretch>
            <a:fillRect/>
          </a:stretch>
        </p:blipFill>
        <p:spPr bwMode="auto">
          <a:xfrm>
            <a:off x="2411760" y="1556792"/>
            <a:ext cx="1228725" cy="952500"/>
          </a:xfrm>
          <a:prstGeom prst="rect">
            <a:avLst/>
          </a:prstGeom>
          <a:noFill/>
          <a:ln w="9525">
            <a:noFill/>
            <a:miter lim="800000"/>
            <a:headEnd/>
            <a:tailEnd/>
          </a:ln>
        </p:spPr>
      </p:pic>
      <p:pic>
        <p:nvPicPr>
          <p:cNvPr id="15" name="Picture 14" descr="Image result for comparing loft insulation ">
            <a:extLst>
              <a:ext uri="{FF2B5EF4-FFF2-40B4-BE49-F238E27FC236}">
                <a16:creationId xmlns:a16="http://schemas.microsoft.com/office/drawing/2014/main" xmlns="" id="{A3072BCA-353F-462E-8164-2B02B7209B5D}"/>
              </a:ext>
            </a:extLst>
          </p:cNvPr>
          <p:cNvPicPr/>
          <p:nvPr/>
        </p:nvPicPr>
        <p:blipFill>
          <a:blip r:embed="rId4"/>
          <a:srcRect/>
          <a:stretch>
            <a:fillRect/>
          </a:stretch>
        </p:blipFill>
        <p:spPr bwMode="auto">
          <a:xfrm>
            <a:off x="4860032" y="1556792"/>
            <a:ext cx="1238250" cy="962025"/>
          </a:xfrm>
          <a:prstGeom prst="rect">
            <a:avLst/>
          </a:prstGeom>
          <a:noFill/>
          <a:ln w="9525">
            <a:noFill/>
            <a:miter lim="800000"/>
            <a:headEnd/>
            <a:tailEnd/>
          </a:ln>
        </p:spPr>
      </p:pic>
      <p:sp>
        <p:nvSpPr>
          <p:cNvPr id="7"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a:t>
            </a:r>
            <a:r>
              <a:rPr lang="en-US" sz="2800" b="1" smtClean="0">
                <a:solidFill>
                  <a:schemeClr val="accent6"/>
                </a:solidFill>
                <a:latin typeface="+mn-lt"/>
              </a:rPr>
              <a:t>Conservation and Dissipation of Energy - </a:t>
            </a:r>
            <a:r>
              <a:rPr lang="en-US" sz="2800" b="1" dirty="0" smtClean="0">
                <a:solidFill>
                  <a:schemeClr val="tx1"/>
                </a:solidFill>
                <a:latin typeface="+mn-lt"/>
              </a:rPr>
              <a:t>QuestionIT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8306107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Rectangle 143"/>
          <p:cNvSpPr/>
          <p:nvPr/>
        </p:nvSpPr>
        <p:spPr>
          <a:xfrm>
            <a:off x="107504" y="741508"/>
            <a:ext cx="8928992" cy="32781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lvl="0" eaLnBrk="0" fontAlgn="base" hangingPunct="0">
              <a:spcBef>
                <a:spcPct val="0"/>
              </a:spcBef>
              <a:spcAft>
                <a:spcPct val="0"/>
              </a:spcAft>
            </a:pPr>
            <a:r>
              <a:rPr lang="en-US" altLang="en-US" sz="2800" dirty="0">
                <a:solidFill>
                  <a:schemeClr val="tx1"/>
                </a:solidFill>
                <a:ea typeface="Times New Roman" panose="02020603050405020304" pitchFamily="18" charset="0"/>
                <a:cs typeface="Times New Roman" panose="02020603050405020304" pitchFamily="18" charset="0"/>
              </a:rPr>
              <a:t>6. </a:t>
            </a:r>
            <a:r>
              <a:rPr lang="en-US" altLang="en-US" sz="2400" dirty="0">
                <a:solidFill>
                  <a:schemeClr val="tx1"/>
                </a:solidFill>
                <a:ea typeface="Times New Roman" panose="02020603050405020304" pitchFamily="18" charset="0"/>
                <a:cs typeface="Times New Roman" panose="02020603050405020304" pitchFamily="18" charset="0"/>
              </a:rPr>
              <a:t>The diagram represents the energy store transfers when a motor is lifting a weight.</a:t>
            </a: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smtClean="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smtClean="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marL="457200" indent="-457200">
              <a:buAutoNum type="alphaLcPeriod"/>
            </a:pPr>
            <a:r>
              <a:rPr lang="en-US" sz="2400" dirty="0" smtClean="0">
                <a:solidFill>
                  <a:schemeClr val="tx1"/>
                </a:solidFill>
              </a:rPr>
              <a:t>How </a:t>
            </a:r>
            <a:r>
              <a:rPr lang="en-US" sz="2400" dirty="0">
                <a:solidFill>
                  <a:schemeClr val="tx1"/>
                </a:solidFill>
              </a:rPr>
              <a:t>much electrical energy is transferred to a thermal energy store</a:t>
            </a:r>
            <a:r>
              <a:rPr lang="en-US" sz="2400" dirty="0" smtClean="0">
                <a:solidFill>
                  <a:schemeClr val="tx1"/>
                </a:solidFill>
              </a:rPr>
              <a:t>?</a:t>
            </a:r>
            <a:r>
              <a:rPr lang="en-US" sz="2400" dirty="0">
                <a:solidFill>
                  <a:schemeClr val="tx1"/>
                </a:solidFill>
              </a:rPr>
              <a:t>  </a:t>
            </a:r>
          </a:p>
          <a:p>
            <a:r>
              <a:rPr lang="en-US" sz="2400" dirty="0">
                <a:solidFill>
                  <a:schemeClr val="tx1"/>
                </a:solidFill>
              </a:rPr>
              <a:t>b. </a:t>
            </a:r>
            <a:r>
              <a:rPr lang="en-US" sz="2400" dirty="0" smtClean="0">
                <a:solidFill>
                  <a:schemeClr val="tx1"/>
                </a:solidFill>
              </a:rPr>
              <a:t>  What </a:t>
            </a:r>
            <a:r>
              <a:rPr lang="en-US" sz="2400" dirty="0">
                <a:solidFill>
                  <a:schemeClr val="tx1"/>
                </a:solidFill>
              </a:rPr>
              <a:t>is the total amount of dissipated energy? </a:t>
            </a:r>
          </a:p>
          <a:p>
            <a:r>
              <a:rPr lang="en-US" sz="2400" dirty="0">
                <a:solidFill>
                  <a:schemeClr val="tx1"/>
                </a:solidFill>
              </a:rPr>
              <a:t>c. </a:t>
            </a:r>
            <a:r>
              <a:rPr lang="en-US" sz="2400" dirty="0" smtClean="0">
                <a:solidFill>
                  <a:schemeClr val="tx1"/>
                </a:solidFill>
              </a:rPr>
              <a:t>   Calculate </a:t>
            </a:r>
            <a:r>
              <a:rPr lang="en-US" sz="2400" dirty="0">
                <a:solidFill>
                  <a:schemeClr val="tx1"/>
                </a:solidFill>
              </a:rPr>
              <a:t>the efficiency the of the useful energy transfer </a:t>
            </a:r>
          </a:p>
          <a:p>
            <a:endParaRPr lang="en-US" sz="2400" dirty="0">
              <a:solidFill>
                <a:schemeClr val="tx1"/>
              </a:solidFill>
            </a:endParaRPr>
          </a:p>
          <a:p>
            <a:endParaRPr lang="en-US" sz="2400" dirty="0">
              <a:solidFill>
                <a:schemeClr val="tx1"/>
              </a:solidFill>
            </a:endParaRPr>
          </a:p>
        </p:txBody>
      </p:sp>
      <p:grpSp>
        <p:nvGrpSpPr>
          <p:cNvPr id="15" name="Group 14"/>
          <p:cNvGrpSpPr/>
          <p:nvPr/>
        </p:nvGrpSpPr>
        <p:grpSpPr>
          <a:xfrm>
            <a:off x="1859654" y="1882306"/>
            <a:ext cx="7176842" cy="2564515"/>
            <a:chOff x="1859654" y="1882306"/>
            <a:chExt cx="7176842" cy="2564515"/>
          </a:xfrm>
        </p:grpSpPr>
        <p:grpSp>
          <p:nvGrpSpPr>
            <p:cNvPr id="3" name="Group 985">
              <a:extLst>
                <a:ext uri="{FF2B5EF4-FFF2-40B4-BE49-F238E27FC236}">
                  <a16:creationId xmlns:a16="http://schemas.microsoft.com/office/drawing/2014/main" xmlns="" id="{A6F95B9C-F200-4AA6-BDDA-0449445BBDA0}"/>
                </a:ext>
              </a:extLst>
            </p:cNvPr>
            <p:cNvGrpSpPr>
              <a:grpSpLocks/>
            </p:cNvGrpSpPr>
            <p:nvPr/>
          </p:nvGrpSpPr>
          <p:grpSpPr bwMode="auto">
            <a:xfrm>
              <a:off x="2681511" y="1950234"/>
              <a:ext cx="3636962" cy="2024063"/>
              <a:chOff x="2160" y="1260"/>
              <a:chExt cx="7560" cy="4680"/>
            </a:xfrm>
          </p:grpSpPr>
          <p:sp>
            <p:nvSpPr>
              <p:cNvPr id="4" name="Line 136">
                <a:extLst>
                  <a:ext uri="{FF2B5EF4-FFF2-40B4-BE49-F238E27FC236}">
                    <a16:creationId xmlns:a16="http://schemas.microsoft.com/office/drawing/2014/main" xmlns="" id="{43956040-C4D1-46F5-A504-47AC22BBF382}"/>
                  </a:ext>
                </a:extLst>
              </p:cNvPr>
              <p:cNvSpPr>
                <a:spLocks noChangeShapeType="1"/>
              </p:cNvSpPr>
              <p:nvPr/>
            </p:nvSpPr>
            <p:spPr bwMode="auto">
              <a:xfrm>
                <a:off x="2160" y="1260"/>
                <a:ext cx="73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Line 137">
                <a:extLst>
                  <a:ext uri="{FF2B5EF4-FFF2-40B4-BE49-F238E27FC236}">
                    <a16:creationId xmlns:a16="http://schemas.microsoft.com/office/drawing/2014/main" xmlns="" id="{2A611584-8201-4D47-B08F-66B0C151940F}"/>
                  </a:ext>
                </a:extLst>
              </p:cNvPr>
              <p:cNvSpPr>
                <a:spLocks noChangeShapeType="1"/>
              </p:cNvSpPr>
              <p:nvPr/>
            </p:nvSpPr>
            <p:spPr bwMode="auto">
              <a:xfrm>
                <a:off x="2160" y="1440"/>
                <a:ext cx="73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Line 138">
                <a:extLst>
                  <a:ext uri="{FF2B5EF4-FFF2-40B4-BE49-F238E27FC236}">
                    <a16:creationId xmlns:a16="http://schemas.microsoft.com/office/drawing/2014/main" xmlns="" id="{3A15B426-782A-44EF-AF91-AE4BE90A9F5F}"/>
                  </a:ext>
                </a:extLst>
              </p:cNvPr>
              <p:cNvSpPr>
                <a:spLocks noChangeShapeType="1"/>
              </p:cNvSpPr>
              <p:nvPr/>
            </p:nvSpPr>
            <p:spPr bwMode="auto">
              <a:xfrm>
                <a:off x="2160" y="1620"/>
                <a:ext cx="73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Line 139">
                <a:extLst>
                  <a:ext uri="{FF2B5EF4-FFF2-40B4-BE49-F238E27FC236}">
                    <a16:creationId xmlns:a16="http://schemas.microsoft.com/office/drawing/2014/main" xmlns="" id="{E1B35949-7CB2-442F-A7C2-484B1D2E3281}"/>
                  </a:ext>
                </a:extLst>
              </p:cNvPr>
              <p:cNvSpPr>
                <a:spLocks noChangeShapeType="1"/>
              </p:cNvSpPr>
              <p:nvPr/>
            </p:nvSpPr>
            <p:spPr bwMode="auto">
              <a:xfrm>
                <a:off x="2160" y="1800"/>
                <a:ext cx="73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Line 140">
                <a:extLst>
                  <a:ext uri="{FF2B5EF4-FFF2-40B4-BE49-F238E27FC236}">
                    <a16:creationId xmlns:a16="http://schemas.microsoft.com/office/drawing/2014/main" xmlns="" id="{296251D7-6068-4654-A678-CCB60F3F3FBA}"/>
                  </a:ext>
                </a:extLst>
              </p:cNvPr>
              <p:cNvSpPr>
                <a:spLocks noChangeShapeType="1"/>
              </p:cNvSpPr>
              <p:nvPr/>
            </p:nvSpPr>
            <p:spPr bwMode="auto">
              <a:xfrm>
                <a:off x="2160" y="1980"/>
                <a:ext cx="73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Line 141">
                <a:extLst>
                  <a:ext uri="{FF2B5EF4-FFF2-40B4-BE49-F238E27FC236}">
                    <a16:creationId xmlns:a16="http://schemas.microsoft.com/office/drawing/2014/main" xmlns="" id="{68B67588-CC8B-41CB-B325-667D455652B3}"/>
                  </a:ext>
                </a:extLst>
              </p:cNvPr>
              <p:cNvSpPr>
                <a:spLocks noChangeShapeType="1"/>
              </p:cNvSpPr>
              <p:nvPr/>
            </p:nvSpPr>
            <p:spPr bwMode="auto">
              <a:xfrm>
                <a:off x="2160" y="2160"/>
                <a:ext cx="738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 name="Line 142">
                <a:extLst>
                  <a:ext uri="{FF2B5EF4-FFF2-40B4-BE49-F238E27FC236}">
                    <a16:creationId xmlns:a16="http://schemas.microsoft.com/office/drawing/2014/main" xmlns="" id="{754ACEFA-2205-46FD-9ED8-E9D441CE0E72}"/>
                  </a:ext>
                </a:extLst>
              </p:cNvPr>
              <p:cNvSpPr>
                <a:spLocks noChangeShapeType="1"/>
              </p:cNvSpPr>
              <p:nvPr/>
            </p:nvSpPr>
            <p:spPr bwMode="auto">
              <a:xfrm>
                <a:off x="2160" y="2340"/>
                <a:ext cx="55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 name="Line 143">
                <a:extLst>
                  <a:ext uri="{FF2B5EF4-FFF2-40B4-BE49-F238E27FC236}">
                    <a16:creationId xmlns:a16="http://schemas.microsoft.com/office/drawing/2014/main" xmlns="" id="{C0384469-0D6D-4818-9990-74C89B2F3176}"/>
                  </a:ext>
                </a:extLst>
              </p:cNvPr>
              <p:cNvSpPr>
                <a:spLocks noChangeShapeType="1"/>
              </p:cNvSpPr>
              <p:nvPr/>
            </p:nvSpPr>
            <p:spPr bwMode="auto">
              <a:xfrm>
                <a:off x="216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 name="Line 144">
                <a:extLst>
                  <a:ext uri="{FF2B5EF4-FFF2-40B4-BE49-F238E27FC236}">
                    <a16:creationId xmlns:a16="http://schemas.microsoft.com/office/drawing/2014/main" xmlns="" id="{7680249D-C421-491E-BDA7-8CF805D0F670}"/>
                  </a:ext>
                </a:extLst>
              </p:cNvPr>
              <p:cNvSpPr>
                <a:spLocks noChangeShapeType="1"/>
              </p:cNvSpPr>
              <p:nvPr/>
            </p:nvSpPr>
            <p:spPr bwMode="auto">
              <a:xfrm>
                <a:off x="234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6" name="Line 145">
                <a:extLst>
                  <a:ext uri="{FF2B5EF4-FFF2-40B4-BE49-F238E27FC236}">
                    <a16:creationId xmlns:a16="http://schemas.microsoft.com/office/drawing/2014/main" xmlns="" id="{9E3A9205-6102-4EFA-9EC2-DEDB2AE64A8E}"/>
                  </a:ext>
                </a:extLst>
              </p:cNvPr>
              <p:cNvSpPr>
                <a:spLocks noChangeShapeType="1"/>
              </p:cNvSpPr>
              <p:nvPr/>
            </p:nvSpPr>
            <p:spPr bwMode="auto">
              <a:xfrm>
                <a:off x="252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7" name="Line 146">
                <a:extLst>
                  <a:ext uri="{FF2B5EF4-FFF2-40B4-BE49-F238E27FC236}">
                    <a16:creationId xmlns:a16="http://schemas.microsoft.com/office/drawing/2014/main" xmlns="" id="{79EFFAD8-1CE6-4DE2-A25D-9F5F7ECC56DD}"/>
                  </a:ext>
                </a:extLst>
              </p:cNvPr>
              <p:cNvSpPr>
                <a:spLocks noChangeShapeType="1"/>
              </p:cNvSpPr>
              <p:nvPr/>
            </p:nvSpPr>
            <p:spPr bwMode="auto">
              <a:xfrm>
                <a:off x="270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8" name="Line 147">
                <a:extLst>
                  <a:ext uri="{FF2B5EF4-FFF2-40B4-BE49-F238E27FC236}">
                    <a16:creationId xmlns:a16="http://schemas.microsoft.com/office/drawing/2014/main" xmlns="" id="{5CCE8BD3-703C-4AEB-A711-9BD695BBA8A2}"/>
                  </a:ext>
                </a:extLst>
              </p:cNvPr>
              <p:cNvSpPr>
                <a:spLocks noChangeShapeType="1"/>
              </p:cNvSpPr>
              <p:nvPr/>
            </p:nvSpPr>
            <p:spPr bwMode="auto">
              <a:xfrm>
                <a:off x="288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9" name="Line 148">
                <a:extLst>
                  <a:ext uri="{FF2B5EF4-FFF2-40B4-BE49-F238E27FC236}">
                    <a16:creationId xmlns:a16="http://schemas.microsoft.com/office/drawing/2014/main" xmlns="" id="{052D7210-D717-4BCD-9E9F-C59DFF5E5C83}"/>
                  </a:ext>
                </a:extLst>
              </p:cNvPr>
              <p:cNvSpPr>
                <a:spLocks noChangeShapeType="1"/>
              </p:cNvSpPr>
              <p:nvPr/>
            </p:nvSpPr>
            <p:spPr bwMode="auto">
              <a:xfrm>
                <a:off x="306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0" name="Line 149">
                <a:extLst>
                  <a:ext uri="{FF2B5EF4-FFF2-40B4-BE49-F238E27FC236}">
                    <a16:creationId xmlns:a16="http://schemas.microsoft.com/office/drawing/2014/main" xmlns="" id="{4B321CCA-A6E9-45CB-9182-3C53FD3B9650}"/>
                  </a:ext>
                </a:extLst>
              </p:cNvPr>
              <p:cNvSpPr>
                <a:spLocks noChangeShapeType="1"/>
              </p:cNvSpPr>
              <p:nvPr/>
            </p:nvSpPr>
            <p:spPr bwMode="auto">
              <a:xfrm>
                <a:off x="324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1" name="Line 150">
                <a:extLst>
                  <a:ext uri="{FF2B5EF4-FFF2-40B4-BE49-F238E27FC236}">
                    <a16:creationId xmlns:a16="http://schemas.microsoft.com/office/drawing/2014/main" xmlns="" id="{A7C8E75C-D3D6-4246-841B-BE555ACBA083}"/>
                  </a:ext>
                </a:extLst>
              </p:cNvPr>
              <p:cNvSpPr>
                <a:spLocks noChangeShapeType="1"/>
              </p:cNvSpPr>
              <p:nvPr/>
            </p:nvSpPr>
            <p:spPr bwMode="auto">
              <a:xfrm>
                <a:off x="342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2" name="Line 151">
                <a:extLst>
                  <a:ext uri="{FF2B5EF4-FFF2-40B4-BE49-F238E27FC236}">
                    <a16:creationId xmlns:a16="http://schemas.microsoft.com/office/drawing/2014/main" xmlns="" id="{AB4F389A-089E-4883-B896-02BE9658DE71}"/>
                  </a:ext>
                </a:extLst>
              </p:cNvPr>
              <p:cNvSpPr>
                <a:spLocks noChangeShapeType="1"/>
              </p:cNvSpPr>
              <p:nvPr/>
            </p:nvSpPr>
            <p:spPr bwMode="auto">
              <a:xfrm>
                <a:off x="360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3" name="Line 152">
                <a:extLst>
                  <a:ext uri="{FF2B5EF4-FFF2-40B4-BE49-F238E27FC236}">
                    <a16:creationId xmlns:a16="http://schemas.microsoft.com/office/drawing/2014/main" xmlns="" id="{1D0342AA-60C0-485F-BA16-99AC1114508B}"/>
                  </a:ext>
                </a:extLst>
              </p:cNvPr>
              <p:cNvSpPr>
                <a:spLocks noChangeShapeType="1"/>
              </p:cNvSpPr>
              <p:nvPr/>
            </p:nvSpPr>
            <p:spPr bwMode="auto">
              <a:xfrm>
                <a:off x="378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4" name="Line 153">
                <a:extLst>
                  <a:ext uri="{FF2B5EF4-FFF2-40B4-BE49-F238E27FC236}">
                    <a16:creationId xmlns:a16="http://schemas.microsoft.com/office/drawing/2014/main" xmlns="" id="{4491ABBC-B417-4C8D-9C71-19F6D7BB6494}"/>
                  </a:ext>
                </a:extLst>
              </p:cNvPr>
              <p:cNvSpPr>
                <a:spLocks noChangeShapeType="1"/>
              </p:cNvSpPr>
              <p:nvPr/>
            </p:nvSpPr>
            <p:spPr bwMode="auto">
              <a:xfrm>
                <a:off x="396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5" name="Line 154">
                <a:extLst>
                  <a:ext uri="{FF2B5EF4-FFF2-40B4-BE49-F238E27FC236}">
                    <a16:creationId xmlns:a16="http://schemas.microsoft.com/office/drawing/2014/main" xmlns="" id="{3149DD8F-DFCF-44E5-ADF3-FBF80BAB86C4}"/>
                  </a:ext>
                </a:extLst>
              </p:cNvPr>
              <p:cNvSpPr>
                <a:spLocks noChangeShapeType="1"/>
              </p:cNvSpPr>
              <p:nvPr/>
            </p:nvSpPr>
            <p:spPr bwMode="auto">
              <a:xfrm>
                <a:off x="414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6" name="Line 155">
                <a:extLst>
                  <a:ext uri="{FF2B5EF4-FFF2-40B4-BE49-F238E27FC236}">
                    <a16:creationId xmlns:a16="http://schemas.microsoft.com/office/drawing/2014/main" xmlns="" id="{AA03FF7E-6F6C-4827-96C2-AE6CC1685E12}"/>
                  </a:ext>
                </a:extLst>
              </p:cNvPr>
              <p:cNvSpPr>
                <a:spLocks noChangeShapeType="1"/>
              </p:cNvSpPr>
              <p:nvPr/>
            </p:nvSpPr>
            <p:spPr bwMode="auto">
              <a:xfrm>
                <a:off x="432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7" name="Line 156">
                <a:extLst>
                  <a:ext uri="{FF2B5EF4-FFF2-40B4-BE49-F238E27FC236}">
                    <a16:creationId xmlns:a16="http://schemas.microsoft.com/office/drawing/2014/main" xmlns="" id="{3C065FF9-B93B-401D-9CDA-E343448F6C47}"/>
                  </a:ext>
                </a:extLst>
              </p:cNvPr>
              <p:cNvSpPr>
                <a:spLocks noChangeShapeType="1"/>
              </p:cNvSpPr>
              <p:nvPr/>
            </p:nvSpPr>
            <p:spPr bwMode="auto">
              <a:xfrm>
                <a:off x="4500" y="1260"/>
                <a:ext cx="0" cy="30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8" name="Line 157">
                <a:extLst>
                  <a:ext uri="{FF2B5EF4-FFF2-40B4-BE49-F238E27FC236}">
                    <a16:creationId xmlns:a16="http://schemas.microsoft.com/office/drawing/2014/main" xmlns="" id="{379BDBEF-A531-4116-85DE-D9205DF0DB52}"/>
                  </a:ext>
                </a:extLst>
              </p:cNvPr>
              <p:cNvSpPr>
                <a:spLocks noChangeShapeType="1"/>
              </p:cNvSpPr>
              <p:nvPr/>
            </p:nvSpPr>
            <p:spPr bwMode="auto">
              <a:xfrm>
                <a:off x="468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29" name="Line 158">
                <a:extLst>
                  <a:ext uri="{FF2B5EF4-FFF2-40B4-BE49-F238E27FC236}">
                    <a16:creationId xmlns:a16="http://schemas.microsoft.com/office/drawing/2014/main" xmlns="" id="{B8464C6A-F337-40FF-BF16-97075000570F}"/>
                  </a:ext>
                </a:extLst>
              </p:cNvPr>
              <p:cNvSpPr>
                <a:spLocks noChangeShapeType="1"/>
              </p:cNvSpPr>
              <p:nvPr/>
            </p:nvSpPr>
            <p:spPr bwMode="auto">
              <a:xfrm>
                <a:off x="648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0" name="Line 159">
                <a:extLst>
                  <a:ext uri="{FF2B5EF4-FFF2-40B4-BE49-F238E27FC236}">
                    <a16:creationId xmlns:a16="http://schemas.microsoft.com/office/drawing/2014/main" xmlns="" id="{C86D661C-0D05-4E7F-9D35-100E302E10BA}"/>
                  </a:ext>
                </a:extLst>
              </p:cNvPr>
              <p:cNvSpPr>
                <a:spLocks noChangeShapeType="1"/>
              </p:cNvSpPr>
              <p:nvPr/>
            </p:nvSpPr>
            <p:spPr bwMode="auto">
              <a:xfrm>
                <a:off x="2160" y="3060"/>
                <a:ext cx="252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1" name="Line 160">
                <a:extLst>
                  <a:ext uri="{FF2B5EF4-FFF2-40B4-BE49-F238E27FC236}">
                    <a16:creationId xmlns:a16="http://schemas.microsoft.com/office/drawing/2014/main" xmlns="" id="{11A522D1-1806-4B79-A755-5D87EFEC8EE5}"/>
                  </a:ext>
                </a:extLst>
              </p:cNvPr>
              <p:cNvSpPr>
                <a:spLocks noChangeShapeType="1"/>
              </p:cNvSpPr>
              <p:nvPr/>
            </p:nvSpPr>
            <p:spPr bwMode="auto">
              <a:xfrm>
                <a:off x="2160" y="3957"/>
                <a:ext cx="252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2" name="Line 161">
                <a:extLst>
                  <a:ext uri="{FF2B5EF4-FFF2-40B4-BE49-F238E27FC236}">
                    <a16:creationId xmlns:a16="http://schemas.microsoft.com/office/drawing/2014/main" xmlns="" id="{7A220C90-B7F4-48CF-9450-C87065D57FA5}"/>
                  </a:ext>
                </a:extLst>
              </p:cNvPr>
              <p:cNvSpPr>
                <a:spLocks noChangeShapeType="1"/>
              </p:cNvSpPr>
              <p:nvPr/>
            </p:nvSpPr>
            <p:spPr bwMode="auto">
              <a:xfrm>
                <a:off x="2160" y="2520"/>
                <a:ext cx="55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3" name="Line 162">
                <a:extLst>
                  <a:ext uri="{FF2B5EF4-FFF2-40B4-BE49-F238E27FC236}">
                    <a16:creationId xmlns:a16="http://schemas.microsoft.com/office/drawing/2014/main" xmlns="" id="{9D7B6565-7B9B-4530-B7D3-5A489503344D}"/>
                  </a:ext>
                </a:extLst>
              </p:cNvPr>
              <p:cNvSpPr>
                <a:spLocks noChangeShapeType="1"/>
              </p:cNvSpPr>
              <p:nvPr/>
            </p:nvSpPr>
            <p:spPr bwMode="auto">
              <a:xfrm>
                <a:off x="2160" y="2700"/>
                <a:ext cx="55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4" name="Line 163">
                <a:extLst>
                  <a:ext uri="{FF2B5EF4-FFF2-40B4-BE49-F238E27FC236}">
                    <a16:creationId xmlns:a16="http://schemas.microsoft.com/office/drawing/2014/main" xmlns="" id="{B3C33942-BF78-4748-8297-E784BE3770D8}"/>
                  </a:ext>
                </a:extLst>
              </p:cNvPr>
              <p:cNvSpPr>
                <a:spLocks noChangeShapeType="1"/>
              </p:cNvSpPr>
              <p:nvPr/>
            </p:nvSpPr>
            <p:spPr bwMode="auto">
              <a:xfrm>
                <a:off x="2160" y="2880"/>
                <a:ext cx="558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5" name="Line 164">
                <a:extLst>
                  <a:ext uri="{FF2B5EF4-FFF2-40B4-BE49-F238E27FC236}">
                    <a16:creationId xmlns:a16="http://schemas.microsoft.com/office/drawing/2014/main" xmlns="" id="{5BA9A512-D7C3-44F4-BEC2-C2A51B69F2B2}"/>
                  </a:ext>
                </a:extLst>
              </p:cNvPr>
              <p:cNvSpPr>
                <a:spLocks noChangeShapeType="1"/>
              </p:cNvSpPr>
              <p:nvPr/>
            </p:nvSpPr>
            <p:spPr bwMode="auto">
              <a:xfrm>
                <a:off x="7740" y="2160"/>
                <a:ext cx="0" cy="21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6" name="Line 165">
                <a:extLst>
                  <a:ext uri="{FF2B5EF4-FFF2-40B4-BE49-F238E27FC236}">
                    <a16:creationId xmlns:a16="http://schemas.microsoft.com/office/drawing/2014/main" xmlns="" id="{951315BD-1CA3-438A-BB54-516593F14A34}"/>
                  </a:ext>
                </a:extLst>
              </p:cNvPr>
              <p:cNvSpPr>
                <a:spLocks noChangeShapeType="1"/>
              </p:cNvSpPr>
              <p:nvPr/>
            </p:nvSpPr>
            <p:spPr bwMode="auto">
              <a:xfrm>
                <a:off x="7560" y="2160"/>
                <a:ext cx="0" cy="21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7" name="Line 166">
                <a:extLst>
                  <a:ext uri="{FF2B5EF4-FFF2-40B4-BE49-F238E27FC236}">
                    <a16:creationId xmlns:a16="http://schemas.microsoft.com/office/drawing/2014/main" xmlns="" id="{E0D70E1B-F71E-4359-994D-06CA56C498ED}"/>
                  </a:ext>
                </a:extLst>
              </p:cNvPr>
              <p:cNvSpPr>
                <a:spLocks noChangeShapeType="1"/>
              </p:cNvSpPr>
              <p:nvPr/>
            </p:nvSpPr>
            <p:spPr bwMode="auto">
              <a:xfrm>
                <a:off x="7380" y="2160"/>
                <a:ext cx="0" cy="21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8" name="Line 167">
                <a:extLst>
                  <a:ext uri="{FF2B5EF4-FFF2-40B4-BE49-F238E27FC236}">
                    <a16:creationId xmlns:a16="http://schemas.microsoft.com/office/drawing/2014/main" xmlns="" id="{10DBABCB-7CC6-470B-A14D-C75B4E728DDC}"/>
                  </a:ext>
                </a:extLst>
              </p:cNvPr>
              <p:cNvSpPr>
                <a:spLocks noChangeShapeType="1"/>
              </p:cNvSpPr>
              <p:nvPr/>
            </p:nvSpPr>
            <p:spPr bwMode="auto">
              <a:xfrm>
                <a:off x="7200" y="2160"/>
                <a:ext cx="0" cy="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9" name="Line 168">
                <a:extLst>
                  <a:ext uri="{FF2B5EF4-FFF2-40B4-BE49-F238E27FC236}">
                    <a16:creationId xmlns:a16="http://schemas.microsoft.com/office/drawing/2014/main" xmlns="" id="{B5D0E088-227C-4CCD-AF5F-94294E8821E1}"/>
                  </a:ext>
                </a:extLst>
              </p:cNvPr>
              <p:cNvSpPr>
                <a:spLocks noChangeShapeType="1"/>
              </p:cNvSpPr>
              <p:nvPr/>
            </p:nvSpPr>
            <p:spPr bwMode="auto">
              <a:xfrm>
                <a:off x="7200" y="306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0" name="Line 169">
                <a:extLst>
                  <a:ext uri="{FF2B5EF4-FFF2-40B4-BE49-F238E27FC236}">
                    <a16:creationId xmlns:a16="http://schemas.microsoft.com/office/drawing/2014/main" xmlns="" id="{70E2EF74-AE2E-4689-88A3-B79C12D6C095}"/>
                  </a:ext>
                </a:extLst>
              </p:cNvPr>
              <p:cNvSpPr>
                <a:spLocks noChangeShapeType="1"/>
              </p:cNvSpPr>
              <p:nvPr/>
            </p:nvSpPr>
            <p:spPr bwMode="auto">
              <a:xfrm>
                <a:off x="7200" y="324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1" name="Line 170">
                <a:extLst>
                  <a:ext uri="{FF2B5EF4-FFF2-40B4-BE49-F238E27FC236}">
                    <a16:creationId xmlns:a16="http://schemas.microsoft.com/office/drawing/2014/main" xmlns="" id="{A7493277-261D-4AB2-A414-6E767BBD5667}"/>
                  </a:ext>
                </a:extLst>
              </p:cNvPr>
              <p:cNvSpPr>
                <a:spLocks noChangeShapeType="1"/>
              </p:cNvSpPr>
              <p:nvPr/>
            </p:nvSpPr>
            <p:spPr bwMode="auto">
              <a:xfrm>
                <a:off x="7200" y="342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2" name="Line 171">
                <a:extLst>
                  <a:ext uri="{FF2B5EF4-FFF2-40B4-BE49-F238E27FC236}">
                    <a16:creationId xmlns:a16="http://schemas.microsoft.com/office/drawing/2014/main" xmlns="" id="{F8DE613A-1FCB-4165-A1D7-479E2F55130E}"/>
                  </a:ext>
                </a:extLst>
              </p:cNvPr>
              <p:cNvSpPr>
                <a:spLocks noChangeShapeType="1"/>
              </p:cNvSpPr>
              <p:nvPr/>
            </p:nvSpPr>
            <p:spPr bwMode="auto">
              <a:xfrm>
                <a:off x="7200" y="360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3" name="Line 172">
                <a:extLst>
                  <a:ext uri="{FF2B5EF4-FFF2-40B4-BE49-F238E27FC236}">
                    <a16:creationId xmlns:a16="http://schemas.microsoft.com/office/drawing/2014/main" xmlns="" id="{BDE8F996-9C12-4087-83B1-0984B42B26A8}"/>
                  </a:ext>
                </a:extLst>
              </p:cNvPr>
              <p:cNvSpPr>
                <a:spLocks noChangeShapeType="1"/>
              </p:cNvSpPr>
              <p:nvPr/>
            </p:nvSpPr>
            <p:spPr bwMode="auto">
              <a:xfrm>
                <a:off x="7200" y="378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4" name="Line 173">
                <a:extLst>
                  <a:ext uri="{FF2B5EF4-FFF2-40B4-BE49-F238E27FC236}">
                    <a16:creationId xmlns:a16="http://schemas.microsoft.com/office/drawing/2014/main" xmlns="" id="{43002063-CB0F-47AA-A209-15A31001EF5D}"/>
                  </a:ext>
                </a:extLst>
              </p:cNvPr>
              <p:cNvSpPr>
                <a:spLocks noChangeShapeType="1"/>
              </p:cNvSpPr>
              <p:nvPr/>
            </p:nvSpPr>
            <p:spPr bwMode="auto">
              <a:xfrm>
                <a:off x="7200" y="396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5" name="Line 174">
                <a:extLst>
                  <a:ext uri="{FF2B5EF4-FFF2-40B4-BE49-F238E27FC236}">
                    <a16:creationId xmlns:a16="http://schemas.microsoft.com/office/drawing/2014/main" xmlns="" id="{B421E694-3866-4C42-AE70-5FF7D2047A1C}"/>
                  </a:ext>
                </a:extLst>
              </p:cNvPr>
              <p:cNvSpPr>
                <a:spLocks noChangeShapeType="1"/>
              </p:cNvSpPr>
              <p:nvPr/>
            </p:nvSpPr>
            <p:spPr bwMode="auto">
              <a:xfrm>
                <a:off x="7200" y="414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6" name="Line 175">
                <a:extLst>
                  <a:ext uri="{FF2B5EF4-FFF2-40B4-BE49-F238E27FC236}">
                    <a16:creationId xmlns:a16="http://schemas.microsoft.com/office/drawing/2014/main" xmlns="" id="{FCC3E09E-798D-45F7-B46E-42936A66F70E}"/>
                  </a:ext>
                </a:extLst>
              </p:cNvPr>
              <p:cNvSpPr>
                <a:spLocks noChangeShapeType="1"/>
              </p:cNvSpPr>
              <p:nvPr/>
            </p:nvSpPr>
            <p:spPr bwMode="auto">
              <a:xfrm>
                <a:off x="7200" y="432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7" name="Line 176">
                <a:extLst>
                  <a:ext uri="{FF2B5EF4-FFF2-40B4-BE49-F238E27FC236}">
                    <a16:creationId xmlns:a16="http://schemas.microsoft.com/office/drawing/2014/main" xmlns="" id="{79453F9F-FF11-4D0C-8E71-A3AE00260DE2}"/>
                  </a:ext>
                </a:extLst>
              </p:cNvPr>
              <p:cNvSpPr>
                <a:spLocks noChangeShapeType="1"/>
              </p:cNvSpPr>
              <p:nvPr/>
            </p:nvSpPr>
            <p:spPr bwMode="auto">
              <a:xfrm>
                <a:off x="666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8" name="Line 177">
                <a:extLst>
                  <a:ext uri="{FF2B5EF4-FFF2-40B4-BE49-F238E27FC236}">
                    <a16:creationId xmlns:a16="http://schemas.microsoft.com/office/drawing/2014/main" xmlns="" id="{A439810D-3E95-4353-9F9D-A1554EAC01B1}"/>
                  </a:ext>
                </a:extLst>
              </p:cNvPr>
              <p:cNvSpPr>
                <a:spLocks noChangeShapeType="1"/>
              </p:cNvSpPr>
              <p:nvPr/>
            </p:nvSpPr>
            <p:spPr bwMode="auto">
              <a:xfrm>
                <a:off x="7020" y="2160"/>
                <a:ext cx="0" cy="7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49" name="Line 178">
                <a:extLst>
                  <a:ext uri="{FF2B5EF4-FFF2-40B4-BE49-F238E27FC236}">
                    <a16:creationId xmlns:a16="http://schemas.microsoft.com/office/drawing/2014/main" xmlns="" id="{E5AAFF3F-70E1-4424-BC6B-F41758AAC961}"/>
                  </a:ext>
                </a:extLst>
              </p:cNvPr>
              <p:cNvSpPr>
                <a:spLocks noChangeShapeType="1"/>
              </p:cNvSpPr>
              <p:nvPr/>
            </p:nvSpPr>
            <p:spPr bwMode="auto">
              <a:xfrm>
                <a:off x="684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0" name="Line 179">
                <a:extLst>
                  <a:ext uri="{FF2B5EF4-FFF2-40B4-BE49-F238E27FC236}">
                    <a16:creationId xmlns:a16="http://schemas.microsoft.com/office/drawing/2014/main" xmlns="" id="{F7BE7D76-94B3-45A9-8E83-E15CB5A1691F}"/>
                  </a:ext>
                </a:extLst>
              </p:cNvPr>
              <p:cNvSpPr>
                <a:spLocks noChangeShapeType="1"/>
              </p:cNvSpPr>
              <p:nvPr/>
            </p:nvSpPr>
            <p:spPr bwMode="auto">
              <a:xfrm>
                <a:off x="702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1" name="Line 180">
                <a:extLst>
                  <a:ext uri="{FF2B5EF4-FFF2-40B4-BE49-F238E27FC236}">
                    <a16:creationId xmlns:a16="http://schemas.microsoft.com/office/drawing/2014/main" xmlns="" id="{4FDC8ED4-8DA3-4481-890A-CD83C23F130F}"/>
                  </a:ext>
                </a:extLst>
              </p:cNvPr>
              <p:cNvSpPr>
                <a:spLocks noChangeShapeType="1"/>
              </p:cNvSpPr>
              <p:nvPr/>
            </p:nvSpPr>
            <p:spPr bwMode="auto">
              <a:xfrm>
                <a:off x="720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2" name="Line 181">
                <a:extLst>
                  <a:ext uri="{FF2B5EF4-FFF2-40B4-BE49-F238E27FC236}">
                    <a16:creationId xmlns:a16="http://schemas.microsoft.com/office/drawing/2014/main" xmlns="" id="{5C6FC876-8ED4-422C-86C6-0FBC9409DAF5}"/>
                  </a:ext>
                </a:extLst>
              </p:cNvPr>
              <p:cNvSpPr>
                <a:spLocks noChangeShapeType="1"/>
              </p:cNvSpPr>
              <p:nvPr/>
            </p:nvSpPr>
            <p:spPr bwMode="auto">
              <a:xfrm>
                <a:off x="738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3" name="Line 182">
                <a:extLst>
                  <a:ext uri="{FF2B5EF4-FFF2-40B4-BE49-F238E27FC236}">
                    <a16:creationId xmlns:a16="http://schemas.microsoft.com/office/drawing/2014/main" xmlns="" id="{2BC85166-AC1A-438F-A9B9-2B3888CD9FCC}"/>
                  </a:ext>
                </a:extLst>
              </p:cNvPr>
              <p:cNvSpPr>
                <a:spLocks noChangeShapeType="1"/>
              </p:cNvSpPr>
              <p:nvPr/>
            </p:nvSpPr>
            <p:spPr bwMode="auto">
              <a:xfrm>
                <a:off x="756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4" name="Line 183">
                <a:extLst>
                  <a:ext uri="{FF2B5EF4-FFF2-40B4-BE49-F238E27FC236}">
                    <a16:creationId xmlns:a16="http://schemas.microsoft.com/office/drawing/2014/main" xmlns="" id="{56BEFC10-94FC-42C7-A7F7-13FA35BE33B1}"/>
                  </a:ext>
                </a:extLst>
              </p:cNvPr>
              <p:cNvSpPr>
                <a:spLocks noChangeShapeType="1"/>
              </p:cNvSpPr>
              <p:nvPr/>
            </p:nvSpPr>
            <p:spPr bwMode="auto">
              <a:xfrm>
                <a:off x="774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5" name="Line 184">
                <a:extLst>
                  <a:ext uri="{FF2B5EF4-FFF2-40B4-BE49-F238E27FC236}">
                    <a16:creationId xmlns:a16="http://schemas.microsoft.com/office/drawing/2014/main" xmlns="" id="{4C68AA32-30D0-46FA-AA92-9415478C0098}"/>
                  </a:ext>
                </a:extLst>
              </p:cNvPr>
              <p:cNvSpPr>
                <a:spLocks noChangeShapeType="1"/>
              </p:cNvSpPr>
              <p:nvPr/>
            </p:nvSpPr>
            <p:spPr bwMode="auto">
              <a:xfrm>
                <a:off x="792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6" name="Line 185">
                <a:extLst>
                  <a:ext uri="{FF2B5EF4-FFF2-40B4-BE49-F238E27FC236}">
                    <a16:creationId xmlns:a16="http://schemas.microsoft.com/office/drawing/2014/main" xmlns="" id="{5E726819-2646-4013-B465-F1D3E4EFC834}"/>
                  </a:ext>
                </a:extLst>
              </p:cNvPr>
              <p:cNvSpPr>
                <a:spLocks noChangeShapeType="1"/>
              </p:cNvSpPr>
              <p:nvPr/>
            </p:nvSpPr>
            <p:spPr bwMode="auto">
              <a:xfrm>
                <a:off x="810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7" name="Line 186">
                <a:extLst>
                  <a:ext uri="{FF2B5EF4-FFF2-40B4-BE49-F238E27FC236}">
                    <a16:creationId xmlns:a16="http://schemas.microsoft.com/office/drawing/2014/main" xmlns="" id="{3A261C70-E8BC-4A9B-889E-D4237C20AB44}"/>
                  </a:ext>
                </a:extLst>
              </p:cNvPr>
              <p:cNvSpPr>
                <a:spLocks noChangeShapeType="1"/>
              </p:cNvSpPr>
              <p:nvPr/>
            </p:nvSpPr>
            <p:spPr bwMode="auto">
              <a:xfrm>
                <a:off x="828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8" name="Line 187">
                <a:extLst>
                  <a:ext uri="{FF2B5EF4-FFF2-40B4-BE49-F238E27FC236}">
                    <a16:creationId xmlns:a16="http://schemas.microsoft.com/office/drawing/2014/main" xmlns="" id="{9A784B2C-BDDC-424C-B05C-FCFB55716C09}"/>
                  </a:ext>
                </a:extLst>
              </p:cNvPr>
              <p:cNvSpPr>
                <a:spLocks noChangeShapeType="1"/>
              </p:cNvSpPr>
              <p:nvPr/>
            </p:nvSpPr>
            <p:spPr bwMode="auto">
              <a:xfrm>
                <a:off x="846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9" name="Line 188">
                <a:extLst>
                  <a:ext uri="{FF2B5EF4-FFF2-40B4-BE49-F238E27FC236}">
                    <a16:creationId xmlns:a16="http://schemas.microsoft.com/office/drawing/2014/main" xmlns="" id="{EDCDE01E-6152-4F06-A5F4-CE71863E83F6}"/>
                  </a:ext>
                </a:extLst>
              </p:cNvPr>
              <p:cNvSpPr>
                <a:spLocks noChangeShapeType="1"/>
              </p:cNvSpPr>
              <p:nvPr/>
            </p:nvSpPr>
            <p:spPr bwMode="auto">
              <a:xfrm>
                <a:off x="864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0" name="Line 189">
                <a:extLst>
                  <a:ext uri="{FF2B5EF4-FFF2-40B4-BE49-F238E27FC236}">
                    <a16:creationId xmlns:a16="http://schemas.microsoft.com/office/drawing/2014/main" xmlns="" id="{36983646-69A1-4806-888A-46C40A522AFB}"/>
                  </a:ext>
                </a:extLst>
              </p:cNvPr>
              <p:cNvSpPr>
                <a:spLocks noChangeShapeType="1"/>
              </p:cNvSpPr>
              <p:nvPr/>
            </p:nvSpPr>
            <p:spPr bwMode="auto">
              <a:xfrm>
                <a:off x="882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1" name="Line 190">
                <a:extLst>
                  <a:ext uri="{FF2B5EF4-FFF2-40B4-BE49-F238E27FC236}">
                    <a16:creationId xmlns:a16="http://schemas.microsoft.com/office/drawing/2014/main" xmlns="" id="{DEF46FDF-0185-48CA-B56F-153EB183872D}"/>
                  </a:ext>
                </a:extLst>
              </p:cNvPr>
              <p:cNvSpPr>
                <a:spLocks noChangeShapeType="1"/>
              </p:cNvSpPr>
              <p:nvPr/>
            </p:nvSpPr>
            <p:spPr bwMode="auto">
              <a:xfrm>
                <a:off x="900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2" name="Line 191">
                <a:extLst>
                  <a:ext uri="{FF2B5EF4-FFF2-40B4-BE49-F238E27FC236}">
                    <a16:creationId xmlns:a16="http://schemas.microsoft.com/office/drawing/2014/main" xmlns="" id="{11D4826E-3CF2-4449-9276-9B6BF4DB4FD8}"/>
                  </a:ext>
                </a:extLst>
              </p:cNvPr>
              <p:cNvSpPr>
                <a:spLocks noChangeShapeType="1"/>
              </p:cNvSpPr>
              <p:nvPr/>
            </p:nvSpPr>
            <p:spPr bwMode="auto">
              <a:xfrm>
                <a:off x="918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3" name="Line 192">
                <a:extLst>
                  <a:ext uri="{FF2B5EF4-FFF2-40B4-BE49-F238E27FC236}">
                    <a16:creationId xmlns:a16="http://schemas.microsoft.com/office/drawing/2014/main" xmlns="" id="{2D90ADD2-5DF3-4333-B545-211B906172D8}"/>
                  </a:ext>
                </a:extLst>
              </p:cNvPr>
              <p:cNvSpPr>
                <a:spLocks noChangeShapeType="1"/>
              </p:cNvSpPr>
              <p:nvPr/>
            </p:nvSpPr>
            <p:spPr bwMode="auto">
              <a:xfrm>
                <a:off x="936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4" name="Line 193">
                <a:extLst>
                  <a:ext uri="{FF2B5EF4-FFF2-40B4-BE49-F238E27FC236}">
                    <a16:creationId xmlns:a16="http://schemas.microsoft.com/office/drawing/2014/main" xmlns="" id="{E4F867A7-556D-42D5-A43D-07D2BE223BA3}"/>
                  </a:ext>
                </a:extLst>
              </p:cNvPr>
              <p:cNvSpPr>
                <a:spLocks noChangeShapeType="1"/>
              </p:cNvSpPr>
              <p:nvPr/>
            </p:nvSpPr>
            <p:spPr bwMode="auto">
              <a:xfrm>
                <a:off x="9540" y="1260"/>
                <a:ext cx="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5" name="Line 194">
                <a:extLst>
                  <a:ext uri="{FF2B5EF4-FFF2-40B4-BE49-F238E27FC236}">
                    <a16:creationId xmlns:a16="http://schemas.microsoft.com/office/drawing/2014/main" xmlns="" id="{A490ACD7-8EC2-430F-BBF9-D5D7B359BC7F}"/>
                  </a:ext>
                </a:extLst>
              </p:cNvPr>
              <p:cNvSpPr>
                <a:spLocks noChangeShapeType="1"/>
              </p:cNvSpPr>
              <p:nvPr/>
            </p:nvSpPr>
            <p:spPr bwMode="auto">
              <a:xfrm>
                <a:off x="486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6" name="Line 195">
                <a:extLst>
                  <a:ext uri="{FF2B5EF4-FFF2-40B4-BE49-F238E27FC236}">
                    <a16:creationId xmlns:a16="http://schemas.microsoft.com/office/drawing/2014/main" xmlns="" id="{082E79AC-DBBC-4786-A31A-5DCECDD318DF}"/>
                  </a:ext>
                </a:extLst>
              </p:cNvPr>
              <p:cNvSpPr>
                <a:spLocks noChangeShapeType="1"/>
              </p:cNvSpPr>
              <p:nvPr/>
            </p:nvSpPr>
            <p:spPr bwMode="auto">
              <a:xfrm>
                <a:off x="504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7" name="Line 196">
                <a:extLst>
                  <a:ext uri="{FF2B5EF4-FFF2-40B4-BE49-F238E27FC236}">
                    <a16:creationId xmlns:a16="http://schemas.microsoft.com/office/drawing/2014/main" xmlns="" id="{511543C3-9346-4B21-A967-9A74F83E3B38}"/>
                  </a:ext>
                </a:extLst>
              </p:cNvPr>
              <p:cNvSpPr>
                <a:spLocks noChangeShapeType="1"/>
              </p:cNvSpPr>
              <p:nvPr/>
            </p:nvSpPr>
            <p:spPr bwMode="auto">
              <a:xfrm>
                <a:off x="522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8" name="Line 197">
                <a:extLst>
                  <a:ext uri="{FF2B5EF4-FFF2-40B4-BE49-F238E27FC236}">
                    <a16:creationId xmlns:a16="http://schemas.microsoft.com/office/drawing/2014/main" xmlns="" id="{96BA0860-D77E-49D8-9D8A-74445EFBFBFB}"/>
                  </a:ext>
                </a:extLst>
              </p:cNvPr>
              <p:cNvSpPr>
                <a:spLocks noChangeShapeType="1"/>
              </p:cNvSpPr>
              <p:nvPr/>
            </p:nvSpPr>
            <p:spPr bwMode="auto">
              <a:xfrm>
                <a:off x="540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9" name="Line 198">
                <a:extLst>
                  <a:ext uri="{FF2B5EF4-FFF2-40B4-BE49-F238E27FC236}">
                    <a16:creationId xmlns:a16="http://schemas.microsoft.com/office/drawing/2014/main" xmlns="" id="{1D351947-A62B-4B59-8E91-5A8EC46D7300}"/>
                  </a:ext>
                </a:extLst>
              </p:cNvPr>
              <p:cNvSpPr>
                <a:spLocks noChangeShapeType="1"/>
              </p:cNvSpPr>
              <p:nvPr/>
            </p:nvSpPr>
            <p:spPr bwMode="auto">
              <a:xfrm>
                <a:off x="558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0" name="Line 199">
                <a:extLst>
                  <a:ext uri="{FF2B5EF4-FFF2-40B4-BE49-F238E27FC236}">
                    <a16:creationId xmlns:a16="http://schemas.microsoft.com/office/drawing/2014/main" xmlns="" id="{044B4D90-6B52-4B36-A2E8-53B20A220A87}"/>
                  </a:ext>
                </a:extLst>
              </p:cNvPr>
              <p:cNvSpPr>
                <a:spLocks noChangeShapeType="1"/>
              </p:cNvSpPr>
              <p:nvPr/>
            </p:nvSpPr>
            <p:spPr bwMode="auto">
              <a:xfrm>
                <a:off x="576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1" name="Line 200">
                <a:extLst>
                  <a:ext uri="{FF2B5EF4-FFF2-40B4-BE49-F238E27FC236}">
                    <a16:creationId xmlns:a16="http://schemas.microsoft.com/office/drawing/2014/main" xmlns="" id="{B9EBA998-3950-4800-BF83-61FAE48BA9DC}"/>
                  </a:ext>
                </a:extLst>
              </p:cNvPr>
              <p:cNvSpPr>
                <a:spLocks noChangeShapeType="1"/>
              </p:cNvSpPr>
              <p:nvPr/>
            </p:nvSpPr>
            <p:spPr bwMode="auto">
              <a:xfrm>
                <a:off x="594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2" name="Line 201">
                <a:extLst>
                  <a:ext uri="{FF2B5EF4-FFF2-40B4-BE49-F238E27FC236}">
                    <a16:creationId xmlns:a16="http://schemas.microsoft.com/office/drawing/2014/main" xmlns="" id="{0B8B428C-EFA6-4DBF-94E5-551C2EA30519}"/>
                  </a:ext>
                </a:extLst>
              </p:cNvPr>
              <p:cNvSpPr>
                <a:spLocks noChangeShapeType="1"/>
              </p:cNvSpPr>
              <p:nvPr/>
            </p:nvSpPr>
            <p:spPr bwMode="auto">
              <a:xfrm>
                <a:off x="612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3" name="Line 202">
                <a:extLst>
                  <a:ext uri="{FF2B5EF4-FFF2-40B4-BE49-F238E27FC236}">
                    <a16:creationId xmlns:a16="http://schemas.microsoft.com/office/drawing/2014/main" xmlns="" id="{93D4ACCF-35E7-4FEE-8AA8-9B019123E784}"/>
                  </a:ext>
                </a:extLst>
              </p:cNvPr>
              <p:cNvSpPr>
                <a:spLocks noChangeShapeType="1"/>
              </p:cNvSpPr>
              <p:nvPr/>
            </p:nvSpPr>
            <p:spPr bwMode="auto">
              <a:xfrm>
                <a:off x="630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4" name="Line 203">
                <a:extLst>
                  <a:ext uri="{FF2B5EF4-FFF2-40B4-BE49-F238E27FC236}">
                    <a16:creationId xmlns:a16="http://schemas.microsoft.com/office/drawing/2014/main" xmlns="" id="{7A30F5A8-0387-4A3B-A27C-5E8ADF42215A}"/>
                  </a:ext>
                </a:extLst>
              </p:cNvPr>
              <p:cNvSpPr>
                <a:spLocks noChangeShapeType="1"/>
              </p:cNvSpPr>
              <p:nvPr/>
            </p:nvSpPr>
            <p:spPr bwMode="auto">
              <a:xfrm flipH="1">
                <a:off x="2160" y="432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5" name="Line 204">
                <a:extLst>
                  <a:ext uri="{FF2B5EF4-FFF2-40B4-BE49-F238E27FC236}">
                    <a16:creationId xmlns:a16="http://schemas.microsoft.com/office/drawing/2014/main" xmlns="" id="{5765073B-648B-49E0-92C5-6E844F5234A4}"/>
                  </a:ext>
                </a:extLst>
              </p:cNvPr>
              <p:cNvSpPr>
                <a:spLocks noChangeShapeType="1"/>
              </p:cNvSpPr>
              <p:nvPr/>
            </p:nvSpPr>
            <p:spPr bwMode="auto">
              <a:xfrm flipH="1">
                <a:off x="2160" y="414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6" name="Line 205">
                <a:extLst>
                  <a:ext uri="{FF2B5EF4-FFF2-40B4-BE49-F238E27FC236}">
                    <a16:creationId xmlns:a16="http://schemas.microsoft.com/office/drawing/2014/main" xmlns="" id="{5CA1A1BB-1C8E-4B03-9754-154F329C53C8}"/>
                  </a:ext>
                </a:extLst>
              </p:cNvPr>
              <p:cNvSpPr>
                <a:spLocks noChangeShapeType="1"/>
              </p:cNvSpPr>
              <p:nvPr/>
            </p:nvSpPr>
            <p:spPr bwMode="auto">
              <a:xfrm flipH="1">
                <a:off x="2160" y="378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7" name="Line 206">
                <a:extLst>
                  <a:ext uri="{FF2B5EF4-FFF2-40B4-BE49-F238E27FC236}">
                    <a16:creationId xmlns:a16="http://schemas.microsoft.com/office/drawing/2014/main" xmlns="" id="{117113B2-0597-44E9-8352-49944CD6FA56}"/>
                  </a:ext>
                </a:extLst>
              </p:cNvPr>
              <p:cNvSpPr>
                <a:spLocks noChangeShapeType="1"/>
              </p:cNvSpPr>
              <p:nvPr/>
            </p:nvSpPr>
            <p:spPr bwMode="auto">
              <a:xfrm flipH="1">
                <a:off x="2160" y="378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8" name="Line 207">
                <a:extLst>
                  <a:ext uri="{FF2B5EF4-FFF2-40B4-BE49-F238E27FC236}">
                    <a16:creationId xmlns:a16="http://schemas.microsoft.com/office/drawing/2014/main" xmlns="" id="{7D3C5F62-D7C8-4A7D-9CD3-54F38BFE592C}"/>
                  </a:ext>
                </a:extLst>
              </p:cNvPr>
              <p:cNvSpPr>
                <a:spLocks noChangeShapeType="1"/>
              </p:cNvSpPr>
              <p:nvPr/>
            </p:nvSpPr>
            <p:spPr bwMode="auto">
              <a:xfrm>
                <a:off x="7380" y="2160"/>
                <a:ext cx="0" cy="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9" name="Line 208">
                <a:extLst>
                  <a:ext uri="{FF2B5EF4-FFF2-40B4-BE49-F238E27FC236}">
                    <a16:creationId xmlns:a16="http://schemas.microsoft.com/office/drawing/2014/main" xmlns="" id="{001751E1-36BE-402E-91C5-079DAF56ACF5}"/>
                  </a:ext>
                </a:extLst>
              </p:cNvPr>
              <p:cNvSpPr>
                <a:spLocks noChangeShapeType="1"/>
              </p:cNvSpPr>
              <p:nvPr/>
            </p:nvSpPr>
            <p:spPr bwMode="auto">
              <a:xfrm>
                <a:off x="7560" y="2160"/>
                <a:ext cx="0" cy="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0" name="Line 209">
                <a:extLst>
                  <a:ext uri="{FF2B5EF4-FFF2-40B4-BE49-F238E27FC236}">
                    <a16:creationId xmlns:a16="http://schemas.microsoft.com/office/drawing/2014/main" xmlns="" id="{E5B7B84D-13A3-4A29-ADDC-4E3DDC7466FD}"/>
                  </a:ext>
                </a:extLst>
              </p:cNvPr>
              <p:cNvSpPr>
                <a:spLocks noChangeShapeType="1"/>
              </p:cNvSpPr>
              <p:nvPr/>
            </p:nvSpPr>
            <p:spPr bwMode="auto">
              <a:xfrm>
                <a:off x="7740" y="2160"/>
                <a:ext cx="0" cy="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1" name="Line 210">
                <a:extLst>
                  <a:ext uri="{FF2B5EF4-FFF2-40B4-BE49-F238E27FC236}">
                    <a16:creationId xmlns:a16="http://schemas.microsoft.com/office/drawing/2014/main" xmlns="" id="{D70924C1-47A6-49E0-9D0D-782D7039D2BC}"/>
                  </a:ext>
                </a:extLst>
              </p:cNvPr>
              <p:cNvSpPr>
                <a:spLocks noChangeShapeType="1"/>
              </p:cNvSpPr>
              <p:nvPr/>
            </p:nvSpPr>
            <p:spPr bwMode="auto">
              <a:xfrm>
                <a:off x="7200" y="450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2" name="Line 211">
                <a:extLst>
                  <a:ext uri="{FF2B5EF4-FFF2-40B4-BE49-F238E27FC236}">
                    <a16:creationId xmlns:a16="http://schemas.microsoft.com/office/drawing/2014/main" xmlns="" id="{CB729399-9275-4D59-A7F0-1D3E14A1D396}"/>
                  </a:ext>
                </a:extLst>
              </p:cNvPr>
              <p:cNvSpPr>
                <a:spLocks noChangeShapeType="1"/>
              </p:cNvSpPr>
              <p:nvPr/>
            </p:nvSpPr>
            <p:spPr bwMode="auto">
              <a:xfrm>
                <a:off x="7200" y="468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3" name="Line 212">
                <a:extLst>
                  <a:ext uri="{FF2B5EF4-FFF2-40B4-BE49-F238E27FC236}">
                    <a16:creationId xmlns:a16="http://schemas.microsoft.com/office/drawing/2014/main" xmlns="" id="{7136C95B-BEF1-4F00-BC90-3ADD116EA0DC}"/>
                  </a:ext>
                </a:extLst>
              </p:cNvPr>
              <p:cNvSpPr>
                <a:spLocks noChangeShapeType="1"/>
              </p:cNvSpPr>
              <p:nvPr/>
            </p:nvSpPr>
            <p:spPr bwMode="auto">
              <a:xfrm>
                <a:off x="7200" y="486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4" name="Line 213">
                <a:extLst>
                  <a:ext uri="{FF2B5EF4-FFF2-40B4-BE49-F238E27FC236}">
                    <a16:creationId xmlns:a16="http://schemas.microsoft.com/office/drawing/2014/main" xmlns="" id="{773AEFBB-ABA8-42D4-8875-43D630EF6B5C}"/>
                  </a:ext>
                </a:extLst>
              </p:cNvPr>
              <p:cNvSpPr>
                <a:spLocks noChangeShapeType="1"/>
              </p:cNvSpPr>
              <p:nvPr/>
            </p:nvSpPr>
            <p:spPr bwMode="auto">
              <a:xfrm>
                <a:off x="7200" y="504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5" name="Line 214">
                <a:extLst>
                  <a:ext uri="{FF2B5EF4-FFF2-40B4-BE49-F238E27FC236}">
                    <a16:creationId xmlns:a16="http://schemas.microsoft.com/office/drawing/2014/main" xmlns="" id="{03FCE636-CBEB-4673-B652-38AB1D972CFC}"/>
                  </a:ext>
                </a:extLst>
              </p:cNvPr>
              <p:cNvSpPr>
                <a:spLocks noChangeShapeType="1"/>
              </p:cNvSpPr>
              <p:nvPr/>
            </p:nvSpPr>
            <p:spPr bwMode="auto">
              <a:xfrm>
                <a:off x="7200" y="522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6" name="Line 215">
                <a:extLst>
                  <a:ext uri="{FF2B5EF4-FFF2-40B4-BE49-F238E27FC236}">
                    <a16:creationId xmlns:a16="http://schemas.microsoft.com/office/drawing/2014/main" xmlns="" id="{6F213DFB-2D9A-4CD8-B589-6D40D083F077}"/>
                  </a:ext>
                </a:extLst>
              </p:cNvPr>
              <p:cNvSpPr>
                <a:spLocks noChangeShapeType="1"/>
              </p:cNvSpPr>
              <p:nvPr/>
            </p:nvSpPr>
            <p:spPr bwMode="auto">
              <a:xfrm>
                <a:off x="7200" y="540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7" name="Line 216">
                <a:extLst>
                  <a:ext uri="{FF2B5EF4-FFF2-40B4-BE49-F238E27FC236}">
                    <a16:creationId xmlns:a16="http://schemas.microsoft.com/office/drawing/2014/main" xmlns="" id="{7661A214-3858-46C9-89CD-424CA3CF4B17}"/>
                  </a:ext>
                </a:extLst>
              </p:cNvPr>
              <p:cNvSpPr>
                <a:spLocks noChangeShapeType="1"/>
              </p:cNvSpPr>
              <p:nvPr/>
            </p:nvSpPr>
            <p:spPr bwMode="auto">
              <a:xfrm>
                <a:off x="7200" y="5580"/>
                <a:ext cx="5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8" name="Line 217">
                <a:extLst>
                  <a:ext uri="{FF2B5EF4-FFF2-40B4-BE49-F238E27FC236}">
                    <a16:creationId xmlns:a16="http://schemas.microsoft.com/office/drawing/2014/main" xmlns="" id="{B42DCFD5-3964-4601-9B6F-F932B96431BE}"/>
                  </a:ext>
                </a:extLst>
              </p:cNvPr>
              <p:cNvSpPr>
                <a:spLocks noChangeShapeType="1"/>
              </p:cNvSpPr>
              <p:nvPr/>
            </p:nvSpPr>
            <p:spPr bwMode="auto">
              <a:xfrm>
                <a:off x="7020" y="576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9" name="Line 218">
                <a:extLst>
                  <a:ext uri="{FF2B5EF4-FFF2-40B4-BE49-F238E27FC236}">
                    <a16:creationId xmlns:a16="http://schemas.microsoft.com/office/drawing/2014/main" xmlns="" id="{AD0207F6-382E-4B4E-8E37-53AF746DCC5A}"/>
                  </a:ext>
                </a:extLst>
              </p:cNvPr>
              <p:cNvSpPr>
                <a:spLocks noChangeShapeType="1"/>
              </p:cNvSpPr>
              <p:nvPr/>
            </p:nvSpPr>
            <p:spPr bwMode="auto">
              <a:xfrm>
                <a:off x="450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0" name="Line 219">
                <a:extLst>
                  <a:ext uri="{FF2B5EF4-FFF2-40B4-BE49-F238E27FC236}">
                    <a16:creationId xmlns:a16="http://schemas.microsoft.com/office/drawing/2014/main" xmlns="" id="{9F581BCD-8048-414C-983E-C4327478692B}"/>
                  </a:ext>
                </a:extLst>
              </p:cNvPr>
              <p:cNvSpPr>
                <a:spLocks noChangeShapeType="1"/>
              </p:cNvSpPr>
              <p:nvPr/>
            </p:nvSpPr>
            <p:spPr bwMode="auto">
              <a:xfrm>
                <a:off x="432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1" name="Line 220">
                <a:extLst>
                  <a:ext uri="{FF2B5EF4-FFF2-40B4-BE49-F238E27FC236}">
                    <a16:creationId xmlns:a16="http://schemas.microsoft.com/office/drawing/2014/main" xmlns="" id="{20EE9215-096B-407B-827B-599DF2693166}"/>
                  </a:ext>
                </a:extLst>
              </p:cNvPr>
              <p:cNvSpPr>
                <a:spLocks noChangeShapeType="1"/>
              </p:cNvSpPr>
              <p:nvPr/>
            </p:nvSpPr>
            <p:spPr bwMode="auto">
              <a:xfrm>
                <a:off x="414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2" name="Line 221">
                <a:extLst>
                  <a:ext uri="{FF2B5EF4-FFF2-40B4-BE49-F238E27FC236}">
                    <a16:creationId xmlns:a16="http://schemas.microsoft.com/office/drawing/2014/main" xmlns="" id="{144E2458-75E3-4414-93DF-9C36010B37E7}"/>
                  </a:ext>
                </a:extLst>
              </p:cNvPr>
              <p:cNvSpPr>
                <a:spLocks noChangeShapeType="1"/>
              </p:cNvSpPr>
              <p:nvPr/>
            </p:nvSpPr>
            <p:spPr bwMode="auto">
              <a:xfrm>
                <a:off x="396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3" name="Line 222">
                <a:extLst>
                  <a:ext uri="{FF2B5EF4-FFF2-40B4-BE49-F238E27FC236}">
                    <a16:creationId xmlns:a16="http://schemas.microsoft.com/office/drawing/2014/main" xmlns="" id="{7B255011-95BA-4CD1-99B1-8A23720A9777}"/>
                  </a:ext>
                </a:extLst>
              </p:cNvPr>
              <p:cNvSpPr>
                <a:spLocks noChangeShapeType="1"/>
              </p:cNvSpPr>
              <p:nvPr/>
            </p:nvSpPr>
            <p:spPr bwMode="auto">
              <a:xfrm>
                <a:off x="378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4" name="Line 223">
                <a:extLst>
                  <a:ext uri="{FF2B5EF4-FFF2-40B4-BE49-F238E27FC236}">
                    <a16:creationId xmlns:a16="http://schemas.microsoft.com/office/drawing/2014/main" xmlns="" id="{7E228886-62D2-4B8F-90AE-C0ACC2B7708B}"/>
                  </a:ext>
                </a:extLst>
              </p:cNvPr>
              <p:cNvSpPr>
                <a:spLocks noChangeShapeType="1"/>
              </p:cNvSpPr>
              <p:nvPr/>
            </p:nvSpPr>
            <p:spPr bwMode="auto">
              <a:xfrm>
                <a:off x="360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5" name="Line 224">
                <a:extLst>
                  <a:ext uri="{FF2B5EF4-FFF2-40B4-BE49-F238E27FC236}">
                    <a16:creationId xmlns:a16="http://schemas.microsoft.com/office/drawing/2014/main" xmlns="" id="{DAB78F79-5467-4026-A67C-E85847E92BBA}"/>
                  </a:ext>
                </a:extLst>
              </p:cNvPr>
              <p:cNvSpPr>
                <a:spLocks noChangeShapeType="1"/>
              </p:cNvSpPr>
              <p:nvPr/>
            </p:nvSpPr>
            <p:spPr bwMode="auto">
              <a:xfrm>
                <a:off x="342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6" name="Line 225">
                <a:extLst>
                  <a:ext uri="{FF2B5EF4-FFF2-40B4-BE49-F238E27FC236}">
                    <a16:creationId xmlns:a16="http://schemas.microsoft.com/office/drawing/2014/main" xmlns="" id="{508EDB80-B14F-495D-B8B9-EC656EF94F93}"/>
                  </a:ext>
                </a:extLst>
              </p:cNvPr>
              <p:cNvSpPr>
                <a:spLocks noChangeShapeType="1"/>
              </p:cNvSpPr>
              <p:nvPr/>
            </p:nvSpPr>
            <p:spPr bwMode="auto">
              <a:xfrm>
                <a:off x="3240" y="1260"/>
                <a:ext cx="0" cy="45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7" name="Line 226">
                <a:extLst>
                  <a:ext uri="{FF2B5EF4-FFF2-40B4-BE49-F238E27FC236}">
                    <a16:creationId xmlns:a16="http://schemas.microsoft.com/office/drawing/2014/main" xmlns="" id="{B0C9619D-1BBE-4EDD-8483-3176C306362C}"/>
                  </a:ext>
                </a:extLst>
              </p:cNvPr>
              <p:cNvSpPr>
                <a:spLocks noChangeShapeType="1"/>
              </p:cNvSpPr>
              <p:nvPr/>
            </p:nvSpPr>
            <p:spPr bwMode="auto">
              <a:xfrm>
                <a:off x="3240" y="576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8" name="Line 227">
                <a:extLst>
                  <a:ext uri="{FF2B5EF4-FFF2-40B4-BE49-F238E27FC236}">
                    <a16:creationId xmlns:a16="http://schemas.microsoft.com/office/drawing/2014/main" xmlns="" id="{A2618C58-8F00-4358-A84B-1B88D39DED85}"/>
                  </a:ext>
                </a:extLst>
              </p:cNvPr>
              <p:cNvSpPr>
                <a:spLocks noChangeShapeType="1"/>
              </p:cNvSpPr>
              <p:nvPr/>
            </p:nvSpPr>
            <p:spPr bwMode="auto">
              <a:xfrm>
                <a:off x="3240" y="558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9" name="Line 228">
                <a:extLst>
                  <a:ext uri="{FF2B5EF4-FFF2-40B4-BE49-F238E27FC236}">
                    <a16:creationId xmlns:a16="http://schemas.microsoft.com/office/drawing/2014/main" xmlns="" id="{866F0845-734D-4130-863C-E347FB861049}"/>
                  </a:ext>
                </a:extLst>
              </p:cNvPr>
              <p:cNvSpPr>
                <a:spLocks noChangeShapeType="1"/>
              </p:cNvSpPr>
              <p:nvPr/>
            </p:nvSpPr>
            <p:spPr bwMode="auto">
              <a:xfrm>
                <a:off x="3240" y="540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0" name="Line 229">
                <a:extLst>
                  <a:ext uri="{FF2B5EF4-FFF2-40B4-BE49-F238E27FC236}">
                    <a16:creationId xmlns:a16="http://schemas.microsoft.com/office/drawing/2014/main" xmlns="" id="{0DBC8FF6-AFD9-457C-A573-EF2FC777403D}"/>
                  </a:ext>
                </a:extLst>
              </p:cNvPr>
              <p:cNvSpPr>
                <a:spLocks noChangeShapeType="1"/>
              </p:cNvSpPr>
              <p:nvPr/>
            </p:nvSpPr>
            <p:spPr bwMode="auto">
              <a:xfrm>
                <a:off x="3240" y="522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1" name="Line 230">
                <a:extLst>
                  <a:ext uri="{FF2B5EF4-FFF2-40B4-BE49-F238E27FC236}">
                    <a16:creationId xmlns:a16="http://schemas.microsoft.com/office/drawing/2014/main" xmlns="" id="{1AAA986A-DCB6-4789-9E6C-A417A71B1BCA}"/>
                  </a:ext>
                </a:extLst>
              </p:cNvPr>
              <p:cNvSpPr>
                <a:spLocks noChangeShapeType="1"/>
              </p:cNvSpPr>
              <p:nvPr/>
            </p:nvSpPr>
            <p:spPr bwMode="auto">
              <a:xfrm>
                <a:off x="3240" y="504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2" name="Line 231">
                <a:extLst>
                  <a:ext uri="{FF2B5EF4-FFF2-40B4-BE49-F238E27FC236}">
                    <a16:creationId xmlns:a16="http://schemas.microsoft.com/office/drawing/2014/main" xmlns="" id="{58E6800A-BFC3-4F97-8C30-99A1844CDAAB}"/>
                  </a:ext>
                </a:extLst>
              </p:cNvPr>
              <p:cNvSpPr>
                <a:spLocks noChangeShapeType="1"/>
              </p:cNvSpPr>
              <p:nvPr/>
            </p:nvSpPr>
            <p:spPr bwMode="auto">
              <a:xfrm>
                <a:off x="3240" y="486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3" name="Line 232">
                <a:extLst>
                  <a:ext uri="{FF2B5EF4-FFF2-40B4-BE49-F238E27FC236}">
                    <a16:creationId xmlns:a16="http://schemas.microsoft.com/office/drawing/2014/main" xmlns="" id="{6A0607BC-55A2-42F1-8237-C35007F82835}"/>
                  </a:ext>
                </a:extLst>
              </p:cNvPr>
              <p:cNvSpPr>
                <a:spLocks noChangeShapeType="1"/>
              </p:cNvSpPr>
              <p:nvPr/>
            </p:nvSpPr>
            <p:spPr bwMode="auto">
              <a:xfrm>
                <a:off x="3240" y="468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4" name="Line 233">
                <a:extLst>
                  <a:ext uri="{FF2B5EF4-FFF2-40B4-BE49-F238E27FC236}">
                    <a16:creationId xmlns:a16="http://schemas.microsoft.com/office/drawing/2014/main" xmlns="" id="{6E8FA691-11FD-4A2A-8764-725FE95275C3}"/>
                  </a:ext>
                </a:extLst>
              </p:cNvPr>
              <p:cNvSpPr>
                <a:spLocks noChangeShapeType="1"/>
              </p:cNvSpPr>
              <p:nvPr/>
            </p:nvSpPr>
            <p:spPr bwMode="auto">
              <a:xfrm>
                <a:off x="3240" y="4500"/>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5" name="Line 234">
                <a:extLst>
                  <a:ext uri="{FF2B5EF4-FFF2-40B4-BE49-F238E27FC236}">
                    <a16:creationId xmlns:a16="http://schemas.microsoft.com/office/drawing/2014/main" xmlns="" id="{D5C7D5E7-4612-4011-9126-98F8AF0B6F13}"/>
                  </a:ext>
                </a:extLst>
              </p:cNvPr>
              <p:cNvSpPr>
                <a:spLocks noChangeShapeType="1"/>
              </p:cNvSpPr>
              <p:nvPr/>
            </p:nvSpPr>
            <p:spPr bwMode="auto">
              <a:xfrm flipH="1">
                <a:off x="2160" y="360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6" name="Line 235">
                <a:extLst>
                  <a:ext uri="{FF2B5EF4-FFF2-40B4-BE49-F238E27FC236}">
                    <a16:creationId xmlns:a16="http://schemas.microsoft.com/office/drawing/2014/main" xmlns="" id="{351A7EC6-BC86-49DF-91C4-8960F5415C96}"/>
                  </a:ext>
                </a:extLst>
              </p:cNvPr>
              <p:cNvSpPr>
                <a:spLocks noChangeShapeType="1"/>
              </p:cNvSpPr>
              <p:nvPr/>
            </p:nvSpPr>
            <p:spPr bwMode="auto">
              <a:xfrm flipH="1">
                <a:off x="2160" y="342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7" name="Line 236">
                <a:extLst>
                  <a:ext uri="{FF2B5EF4-FFF2-40B4-BE49-F238E27FC236}">
                    <a16:creationId xmlns:a16="http://schemas.microsoft.com/office/drawing/2014/main" xmlns="" id="{661498EE-091F-40F5-9D90-EC8DEA2808B3}"/>
                  </a:ext>
                </a:extLst>
              </p:cNvPr>
              <p:cNvSpPr>
                <a:spLocks noChangeShapeType="1"/>
              </p:cNvSpPr>
              <p:nvPr/>
            </p:nvSpPr>
            <p:spPr bwMode="auto">
              <a:xfrm flipH="1">
                <a:off x="2160" y="3240"/>
                <a:ext cx="25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dirty="0"/>
              </a:p>
            </p:txBody>
          </p:sp>
          <p:sp>
            <p:nvSpPr>
              <p:cNvPr id="108" name="Line 237">
                <a:extLst>
                  <a:ext uri="{FF2B5EF4-FFF2-40B4-BE49-F238E27FC236}">
                    <a16:creationId xmlns:a16="http://schemas.microsoft.com/office/drawing/2014/main" xmlns="" id="{AA61AECE-BA2A-4CC0-87F4-EC1D2FB0B55F}"/>
                  </a:ext>
                </a:extLst>
              </p:cNvPr>
              <p:cNvSpPr>
                <a:spLocks noChangeShapeType="1"/>
              </p:cNvSpPr>
              <p:nvPr/>
            </p:nvSpPr>
            <p:spPr bwMode="auto">
              <a:xfrm>
                <a:off x="3060" y="1260"/>
                <a:ext cx="0" cy="306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9" name="Line 238">
                <a:extLst>
                  <a:ext uri="{FF2B5EF4-FFF2-40B4-BE49-F238E27FC236}">
                    <a16:creationId xmlns:a16="http://schemas.microsoft.com/office/drawing/2014/main" xmlns="" id="{37E363A1-A090-403B-B979-469C856DEBF5}"/>
                  </a:ext>
                </a:extLst>
              </p:cNvPr>
              <p:cNvSpPr>
                <a:spLocks noChangeShapeType="1"/>
              </p:cNvSpPr>
              <p:nvPr/>
            </p:nvSpPr>
            <p:spPr bwMode="auto">
              <a:xfrm>
                <a:off x="3960" y="1260"/>
                <a:ext cx="0" cy="45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0" name="Line 239">
                <a:extLst>
                  <a:ext uri="{FF2B5EF4-FFF2-40B4-BE49-F238E27FC236}">
                    <a16:creationId xmlns:a16="http://schemas.microsoft.com/office/drawing/2014/main" xmlns="" id="{42CE4FEC-B2D2-4AC4-9CF1-3F88A097D8A1}"/>
                  </a:ext>
                </a:extLst>
              </p:cNvPr>
              <p:cNvSpPr>
                <a:spLocks noChangeShapeType="1"/>
              </p:cNvSpPr>
              <p:nvPr/>
            </p:nvSpPr>
            <p:spPr bwMode="auto">
              <a:xfrm>
                <a:off x="4860" y="1260"/>
                <a:ext cx="0" cy="162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1" name="Line 240">
                <a:extLst>
                  <a:ext uri="{FF2B5EF4-FFF2-40B4-BE49-F238E27FC236}">
                    <a16:creationId xmlns:a16="http://schemas.microsoft.com/office/drawing/2014/main" xmlns="" id="{6EEA50A0-B8A3-493F-806F-033335B4B815}"/>
                  </a:ext>
                </a:extLst>
              </p:cNvPr>
              <p:cNvSpPr>
                <a:spLocks noChangeShapeType="1"/>
              </p:cNvSpPr>
              <p:nvPr/>
            </p:nvSpPr>
            <p:spPr bwMode="auto">
              <a:xfrm>
                <a:off x="6660" y="1260"/>
                <a:ext cx="0" cy="162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2" name="Line 241">
                <a:extLst>
                  <a:ext uri="{FF2B5EF4-FFF2-40B4-BE49-F238E27FC236}">
                    <a16:creationId xmlns:a16="http://schemas.microsoft.com/office/drawing/2014/main" xmlns="" id="{04AD6080-D828-45AA-A287-2FEC6D50485C}"/>
                  </a:ext>
                </a:extLst>
              </p:cNvPr>
              <p:cNvSpPr>
                <a:spLocks noChangeShapeType="1"/>
              </p:cNvSpPr>
              <p:nvPr/>
            </p:nvSpPr>
            <p:spPr bwMode="auto">
              <a:xfrm>
                <a:off x="7560" y="1260"/>
                <a:ext cx="0" cy="45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3" name="Line 242">
                <a:extLst>
                  <a:ext uri="{FF2B5EF4-FFF2-40B4-BE49-F238E27FC236}">
                    <a16:creationId xmlns:a16="http://schemas.microsoft.com/office/drawing/2014/main" xmlns="" id="{23A9867D-60D5-47BA-A2D2-3E6BC1D30974}"/>
                  </a:ext>
                </a:extLst>
              </p:cNvPr>
              <p:cNvSpPr>
                <a:spLocks noChangeShapeType="1"/>
              </p:cNvSpPr>
              <p:nvPr/>
            </p:nvSpPr>
            <p:spPr bwMode="auto">
              <a:xfrm>
                <a:off x="8460" y="1260"/>
                <a:ext cx="0" cy="9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4" name="Line 243">
                <a:extLst>
                  <a:ext uri="{FF2B5EF4-FFF2-40B4-BE49-F238E27FC236}">
                    <a16:creationId xmlns:a16="http://schemas.microsoft.com/office/drawing/2014/main" xmlns="" id="{459557AB-A209-4F38-9B5E-F298F1AE66BF}"/>
                  </a:ext>
                </a:extLst>
              </p:cNvPr>
              <p:cNvSpPr>
                <a:spLocks noChangeShapeType="1"/>
              </p:cNvSpPr>
              <p:nvPr/>
            </p:nvSpPr>
            <p:spPr bwMode="auto">
              <a:xfrm>
                <a:off x="9360" y="1260"/>
                <a:ext cx="0" cy="90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5" name="Line 244">
                <a:extLst>
                  <a:ext uri="{FF2B5EF4-FFF2-40B4-BE49-F238E27FC236}">
                    <a16:creationId xmlns:a16="http://schemas.microsoft.com/office/drawing/2014/main" xmlns="" id="{F7AE81B3-DCE9-4940-BE1F-1B3F6806E553}"/>
                  </a:ext>
                </a:extLst>
              </p:cNvPr>
              <p:cNvSpPr>
                <a:spLocks noChangeShapeType="1"/>
              </p:cNvSpPr>
              <p:nvPr/>
            </p:nvSpPr>
            <p:spPr bwMode="auto">
              <a:xfrm>
                <a:off x="7020" y="2160"/>
                <a:ext cx="0" cy="36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6" name="Line 245">
                <a:extLst>
                  <a:ext uri="{FF2B5EF4-FFF2-40B4-BE49-F238E27FC236}">
                    <a16:creationId xmlns:a16="http://schemas.microsoft.com/office/drawing/2014/main" xmlns="" id="{1FA7553E-B0D1-4F82-A5A7-6DD7E451C932}"/>
                  </a:ext>
                </a:extLst>
              </p:cNvPr>
              <p:cNvSpPr>
                <a:spLocks noChangeShapeType="1"/>
              </p:cNvSpPr>
              <p:nvPr/>
            </p:nvSpPr>
            <p:spPr bwMode="auto">
              <a:xfrm>
                <a:off x="7020" y="558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7" name="Line 246">
                <a:extLst>
                  <a:ext uri="{FF2B5EF4-FFF2-40B4-BE49-F238E27FC236}">
                    <a16:creationId xmlns:a16="http://schemas.microsoft.com/office/drawing/2014/main" xmlns="" id="{895A24F3-3141-4DB8-B426-EC7C7309201B}"/>
                  </a:ext>
                </a:extLst>
              </p:cNvPr>
              <p:cNvSpPr>
                <a:spLocks noChangeShapeType="1"/>
              </p:cNvSpPr>
              <p:nvPr/>
            </p:nvSpPr>
            <p:spPr bwMode="auto">
              <a:xfrm>
                <a:off x="7020" y="540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8" name="Line 247">
                <a:extLst>
                  <a:ext uri="{FF2B5EF4-FFF2-40B4-BE49-F238E27FC236}">
                    <a16:creationId xmlns:a16="http://schemas.microsoft.com/office/drawing/2014/main" xmlns="" id="{194B72EF-A89E-4631-A5E4-653FF3AA7327}"/>
                  </a:ext>
                </a:extLst>
              </p:cNvPr>
              <p:cNvSpPr>
                <a:spLocks noChangeShapeType="1"/>
              </p:cNvSpPr>
              <p:nvPr/>
            </p:nvSpPr>
            <p:spPr bwMode="auto">
              <a:xfrm>
                <a:off x="7020" y="522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19" name="Line 248">
                <a:extLst>
                  <a:ext uri="{FF2B5EF4-FFF2-40B4-BE49-F238E27FC236}">
                    <a16:creationId xmlns:a16="http://schemas.microsoft.com/office/drawing/2014/main" xmlns="" id="{702C22B5-70BA-46E9-BCF2-210B98D032B2}"/>
                  </a:ext>
                </a:extLst>
              </p:cNvPr>
              <p:cNvSpPr>
                <a:spLocks noChangeShapeType="1"/>
              </p:cNvSpPr>
              <p:nvPr/>
            </p:nvSpPr>
            <p:spPr bwMode="auto">
              <a:xfrm>
                <a:off x="7020" y="504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0" name="Line 249">
                <a:extLst>
                  <a:ext uri="{FF2B5EF4-FFF2-40B4-BE49-F238E27FC236}">
                    <a16:creationId xmlns:a16="http://schemas.microsoft.com/office/drawing/2014/main" xmlns="" id="{BFB256C0-40C6-4648-96A1-1B4E07093CE5}"/>
                  </a:ext>
                </a:extLst>
              </p:cNvPr>
              <p:cNvSpPr>
                <a:spLocks noChangeShapeType="1"/>
              </p:cNvSpPr>
              <p:nvPr/>
            </p:nvSpPr>
            <p:spPr bwMode="auto">
              <a:xfrm>
                <a:off x="7020" y="486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1" name="Line 250">
                <a:extLst>
                  <a:ext uri="{FF2B5EF4-FFF2-40B4-BE49-F238E27FC236}">
                    <a16:creationId xmlns:a16="http://schemas.microsoft.com/office/drawing/2014/main" xmlns="" id="{A055B0B7-984A-4E5B-8CC7-2AAD8CC77C93}"/>
                  </a:ext>
                </a:extLst>
              </p:cNvPr>
              <p:cNvSpPr>
                <a:spLocks noChangeShapeType="1"/>
              </p:cNvSpPr>
              <p:nvPr/>
            </p:nvSpPr>
            <p:spPr bwMode="auto">
              <a:xfrm>
                <a:off x="7020" y="468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2" name="Line 251">
                <a:extLst>
                  <a:ext uri="{FF2B5EF4-FFF2-40B4-BE49-F238E27FC236}">
                    <a16:creationId xmlns:a16="http://schemas.microsoft.com/office/drawing/2014/main" xmlns="" id="{14677B37-4CA8-4B29-A5E5-83A4DFC09CFA}"/>
                  </a:ext>
                </a:extLst>
              </p:cNvPr>
              <p:cNvSpPr>
                <a:spLocks noChangeShapeType="1"/>
              </p:cNvSpPr>
              <p:nvPr/>
            </p:nvSpPr>
            <p:spPr bwMode="auto">
              <a:xfrm>
                <a:off x="7020" y="450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3" name="Line 252">
                <a:extLst>
                  <a:ext uri="{FF2B5EF4-FFF2-40B4-BE49-F238E27FC236}">
                    <a16:creationId xmlns:a16="http://schemas.microsoft.com/office/drawing/2014/main" xmlns="" id="{127215FE-4FE1-4FB1-9DBD-7A75DEB61F38}"/>
                  </a:ext>
                </a:extLst>
              </p:cNvPr>
              <p:cNvSpPr>
                <a:spLocks noChangeShapeType="1"/>
              </p:cNvSpPr>
              <p:nvPr/>
            </p:nvSpPr>
            <p:spPr bwMode="auto">
              <a:xfrm>
                <a:off x="7020" y="324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4" name="Line 253">
                <a:extLst>
                  <a:ext uri="{FF2B5EF4-FFF2-40B4-BE49-F238E27FC236}">
                    <a16:creationId xmlns:a16="http://schemas.microsoft.com/office/drawing/2014/main" xmlns="" id="{2CFF77D9-1E4A-4566-8378-A5C39154CA26}"/>
                  </a:ext>
                </a:extLst>
              </p:cNvPr>
              <p:cNvSpPr>
                <a:spLocks noChangeShapeType="1"/>
              </p:cNvSpPr>
              <p:nvPr/>
            </p:nvSpPr>
            <p:spPr bwMode="auto">
              <a:xfrm>
                <a:off x="7020" y="342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5" name="Line 254">
                <a:extLst>
                  <a:ext uri="{FF2B5EF4-FFF2-40B4-BE49-F238E27FC236}">
                    <a16:creationId xmlns:a16="http://schemas.microsoft.com/office/drawing/2014/main" xmlns="" id="{80C69F49-5135-4467-9641-BF8CFEA6F1B6}"/>
                  </a:ext>
                </a:extLst>
              </p:cNvPr>
              <p:cNvSpPr>
                <a:spLocks noChangeShapeType="1"/>
              </p:cNvSpPr>
              <p:nvPr/>
            </p:nvSpPr>
            <p:spPr bwMode="auto">
              <a:xfrm>
                <a:off x="7020" y="360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6" name="Line 255">
                <a:extLst>
                  <a:ext uri="{FF2B5EF4-FFF2-40B4-BE49-F238E27FC236}">
                    <a16:creationId xmlns:a16="http://schemas.microsoft.com/office/drawing/2014/main" xmlns="" id="{B5AA321D-660A-4BB1-9B92-CD5F52C94133}"/>
                  </a:ext>
                </a:extLst>
              </p:cNvPr>
              <p:cNvSpPr>
                <a:spLocks noChangeShapeType="1"/>
              </p:cNvSpPr>
              <p:nvPr/>
            </p:nvSpPr>
            <p:spPr bwMode="auto">
              <a:xfrm>
                <a:off x="7020" y="378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7" name="Line 256">
                <a:extLst>
                  <a:ext uri="{FF2B5EF4-FFF2-40B4-BE49-F238E27FC236}">
                    <a16:creationId xmlns:a16="http://schemas.microsoft.com/office/drawing/2014/main" xmlns="" id="{F0C1400A-A1EC-4428-9524-A409D495F266}"/>
                  </a:ext>
                </a:extLst>
              </p:cNvPr>
              <p:cNvSpPr>
                <a:spLocks noChangeShapeType="1"/>
              </p:cNvSpPr>
              <p:nvPr/>
            </p:nvSpPr>
            <p:spPr bwMode="auto">
              <a:xfrm>
                <a:off x="7020" y="3957"/>
                <a:ext cx="720" cy="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8" name="Line 257">
                <a:extLst>
                  <a:ext uri="{FF2B5EF4-FFF2-40B4-BE49-F238E27FC236}">
                    <a16:creationId xmlns:a16="http://schemas.microsoft.com/office/drawing/2014/main" xmlns="" id="{BBA4F542-CBFD-485F-8A55-C4AFCD2ABA2F}"/>
                  </a:ext>
                </a:extLst>
              </p:cNvPr>
              <p:cNvSpPr>
                <a:spLocks noChangeShapeType="1"/>
              </p:cNvSpPr>
              <p:nvPr/>
            </p:nvSpPr>
            <p:spPr bwMode="auto">
              <a:xfrm>
                <a:off x="7020" y="414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29" name="Line 258">
                <a:extLst>
                  <a:ext uri="{FF2B5EF4-FFF2-40B4-BE49-F238E27FC236}">
                    <a16:creationId xmlns:a16="http://schemas.microsoft.com/office/drawing/2014/main" xmlns="" id="{BA0A55B8-AA22-4CEF-BD23-FECC5C02E8DC}"/>
                  </a:ext>
                </a:extLst>
              </p:cNvPr>
              <p:cNvSpPr>
                <a:spLocks noChangeShapeType="1"/>
              </p:cNvSpPr>
              <p:nvPr/>
            </p:nvSpPr>
            <p:spPr bwMode="auto">
              <a:xfrm>
                <a:off x="7020" y="432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0" name="Line 259">
                <a:extLst>
                  <a:ext uri="{FF2B5EF4-FFF2-40B4-BE49-F238E27FC236}">
                    <a16:creationId xmlns:a16="http://schemas.microsoft.com/office/drawing/2014/main" xmlns="" id="{A7F6B20E-3A3A-46ED-B052-7CEBBED56B04}"/>
                  </a:ext>
                </a:extLst>
              </p:cNvPr>
              <p:cNvSpPr>
                <a:spLocks noChangeShapeType="1"/>
              </p:cNvSpPr>
              <p:nvPr/>
            </p:nvSpPr>
            <p:spPr bwMode="auto">
              <a:xfrm>
                <a:off x="522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1" name="Line 260">
                <a:extLst>
                  <a:ext uri="{FF2B5EF4-FFF2-40B4-BE49-F238E27FC236}">
                    <a16:creationId xmlns:a16="http://schemas.microsoft.com/office/drawing/2014/main" xmlns="" id="{8A4FC53F-1AAB-4B0B-BB9E-4E5754D13D64}"/>
                  </a:ext>
                </a:extLst>
              </p:cNvPr>
              <p:cNvSpPr>
                <a:spLocks noChangeShapeType="1"/>
              </p:cNvSpPr>
              <p:nvPr/>
            </p:nvSpPr>
            <p:spPr bwMode="auto">
              <a:xfrm>
                <a:off x="540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2" name="Line 261">
                <a:extLst>
                  <a:ext uri="{FF2B5EF4-FFF2-40B4-BE49-F238E27FC236}">
                    <a16:creationId xmlns:a16="http://schemas.microsoft.com/office/drawing/2014/main" xmlns="" id="{CD91244C-38B9-42DB-9EE8-CEECEB4C4996}"/>
                  </a:ext>
                </a:extLst>
              </p:cNvPr>
              <p:cNvSpPr>
                <a:spLocks noChangeShapeType="1"/>
              </p:cNvSpPr>
              <p:nvPr/>
            </p:nvSpPr>
            <p:spPr bwMode="auto">
              <a:xfrm>
                <a:off x="558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3" name="Line 262">
                <a:extLst>
                  <a:ext uri="{FF2B5EF4-FFF2-40B4-BE49-F238E27FC236}">
                    <a16:creationId xmlns:a16="http://schemas.microsoft.com/office/drawing/2014/main" xmlns="" id="{D5798249-0FA6-41E4-9699-78FB12A0A665}"/>
                  </a:ext>
                </a:extLst>
              </p:cNvPr>
              <p:cNvSpPr>
                <a:spLocks noChangeShapeType="1"/>
              </p:cNvSpPr>
              <p:nvPr/>
            </p:nvSpPr>
            <p:spPr bwMode="auto">
              <a:xfrm>
                <a:off x="594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4" name="AutoShape 263">
                <a:extLst>
                  <a:ext uri="{FF2B5EF4-FFF2-40B4-BE49-F238E27FC236}">
                    <a16:creationId xmlns:a16="http://schemas.microsoft.com/office/drawing/2014/main" xmlns="" id="{BB3A19D5-D121-491C-A4CD-A1E8772B9880}"/>
                  </a:ext>
                </a:extLst>
              </p:cNvPr>
              <p:cNvSpPr>
                <a:spLocks noChangeArrowheads="1"/>
              </p:cNvSpPr>
              <p:nvPr/>
            </p:nvSpPr>
            <p:spPr bwMode="auto">
              <a:xfrm rot="5400000">
                <a:off x="9180" y="1620"/>
                <a:ext cx="900" cy="180"/>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35" name="AutoShape 264">
                <a:extLst>
                  <a:ext uri="{FF2B5EF4-FFF2-40B4-BE49-F238E27FC236}">
                    <a16:creationId xmlns:a16="http://schemas.microsoft.com/office/drawing/2014/main" xmlns="" id="{839AEA07-E4FE-4B92-AF80-767B25D11463}"/>
                  </a:ext>
                </a:extLst>
              </p:cNvPr>
              <p:cNvSpPr>
                <a:spLocks noChangeArrowheads="1"/>
              </p:cNvSpPr>
              <p:nvPr/>
            </p:nvSpPr>
            <p:spPr bwMode="auto">
              <a:xfrm rot="10800000">
                <a:off x="3240" y="5760"/>
                <a:ext cx="1440" cy="180"/>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36" name="AutoShape 265">
                <a:extLst>
                  <a:ext uri="{FF2B5EF4-FFF2-40B4-BE49-F238E27FC236}">
                    <a16:creationId xmlns:a16="http://schemas.microsoft.com/office/drawing/2014/main" xmlns="" id="{CCFE0D3C-639E-4FFA-8B28-52BCDE6EBF38}"/>
                  </a:ext>
                </a:extLst>
              </p:cNvPr>
              <p:cNvSpPr>
                <a:spLocks noChangeArrowheads="1"/>
              </p:cNvSpPr>
              <p:nvPr/>
            </p:nvSpPr>
            <p:spPr bwMode="auto">
              <a:xfrm rot="10800000">
                <a:off x="7020" y="5760"/>
                <a:ext cx="720" cy="180"/>
              </a:xfrm>
              <a:prstGeom prst="triangle">
                <a:avLst>
                  <a:gd name="adj" fmla="val 50000"/>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GB"/>
              </a:p>
            </p:txBody>
          </p:sp>
          <p:sp>
            <p:nvSpPr>
              <p:cNvPr id="137" name="Line 266">
                <a:extLst>
                  <a:ext uri="{FF2B5EF4-FFF2-40B4-BE49-F238E27FC236}">
                    <a16:creationId xmlns:a16="http://schemas.microsoft.com/office/drawing/2014/main" xmlns="" id="{517177DB-60D1-4BD8-9A45-D0B2B5C5ADC3}"/>
                  </a:ext>
                </a:extLst>
              </p:cNvPr>
              <p:cNvSpPr>
                <a:spLocks noChangeShapeType="1"/>
              </p:cNvSpPr>
              <p:nvPr/>
            </p:nvSpPr>
            <p:spPr bwMode="auto">
              <a:xfrm>
                <a:off x="6840" y="1260"/>
                <a:ext cx="0" cy="16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38" name="Line 267">
                <a:extLst>
                  <a:ext uri="{FF2B5EF4-FFF2-40B4-BE49-F238E27FC236}">
                    <a16:creationId xmlns:a16="http://schemas.microsoft.com/office/drawing/2014/main" xmlns="" id="{0F11A5EC-B24B-42B2-9DE2-B389ED7648BD}"/>
                  </a:ext>
                </a:extLst>
              </p:cNvPr>
              <p:cNvSpPr>
                <a:spLocks noChangeShapeType="1"/>
              </p:cNvSpPr>
              <p:nvPr/>
            </p:nvSpPr>
            <p:spPr bwMode="auto">
              <a:xfrm>
                <a:off x="7020" y="3060"/>
                <a:ext cx="7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GB"/>
              </a:p>
            </p:txBody>
          </p:sp>
        </p:grpSp>
        <p:sp>
          <p:nvSpPr>
            <p:cNvPr id="139" name="Text Box 139">
              <a:extLst>
                <a:ext uri="{FF2B5EF4-FFF2-40B4-BE49-F238E27FC236}">
                  <a16:creationId xmlns:a16="http://schemas.microsoft.com/office/drawing/2014/main" xmlns="" id="{ED244BC3-87AF-43CF-AA8E-2CA0973B118E}"/>
                </a:ext>
              </a:extLst>
            </p:cNvPr>
            <p:cNvSpPr txBox="1">
              <a:spLocks noChangeArrowheads="1"/>
            </p:cNvSpPr>
            <p:nvPr/>
          </p:nvSpPr>
          <p:spPr bwMode="auto">
            <a:xfrm>
              <a:off x="1859654" y="1922819"/>
              <a:ext cx="735899"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270"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ts val="800"/>
                </a:spcAft>
                <a:buClrTx/>
                <a:buSzTx/>
                <a:buFontTx/>
                <a:buNone/>
                <a:tabLst/>
              </a:pPr>
              <a:r>
                <a:rPr kumimoji="0" lang="en-GB" altLang="en-US" sz="2000" b="1" i="0" u="none" strike="noStrike" cap="none" normalizeH="0" baseline="0" dirty="0">
                  <a:ln>
                    <a:noFill/>
                  </a:ln>
                  <a:solidFill>
                    <a:schemeClr val="tx1"/>
                  </a:solidFill>
                  <a:effectLst/>
                </a:rPr>
                <a:t>Electrical energy 340 J</a:t>
              </a:r>
              <a:endParaRPr kumimoji="0" lang="en-US" altLang="en-US" sz="2000" b="1" i="0" u="none" strike="noStrike" cap="none" normalizeH="0" baseline="0" dirty="0">
                <a:ln>
                  <a:noFill/>
                </a:ln>
                <a:solidFill>
                  <a:schemeClr val="tx1"/>
                </a:solidFill>
                <a:effectLst/>
              </a:endParaRPr>
            </a:p>
          </p:txBody>
        </p:sp>
        <p:sp>
          <p:nvSpPr>
            <p:cNvPr id="140" name="Text Box 2279">
              <a:extLst>
                <a:ext uri="{FF2B5EF4-FFF2-40B4-BE49-F238E27FC236}">
                  <a16:creationId xmlns:a16="http://schemas.microsoft.com/office/drawing/2014/main" xmlns="" id="{A01B0765-92F0-4F8B-ACA6-2DEBCDEE8D72}"/>
                </a:ext>
              </a:extLst>
            </p:cNvPr>
            <p:cNvSpPr txBox="1">
              <a:spLocks noChangeArrowheads="1"/>
            </p:cNvSpPr>
            <p:nvPr/>
          </p:nvSpPr>
          <p:spPr bwMode="auto">
            <a:xfrm>
              <a:off x="6491660" y="1882306"/>
              <a:ext cx="2544836" cy="535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ts val="800"/>
                </a:spcAft>
                <a:buClrTx/>
                <a:buSzTx/>
                <a:buFontTx/>
                <a:buNone/>
                <a:tabLst/>
              </a:pPr>
              <a:r>
                <a:rPr kumimoji="0" lang="en-GB" altLang="en-US" sz="2000" b="1" i="0" u="none" strike="noStrike" cap="none" normalizeH="0" baseline="0" dirty="0" smtClean="0">
                  <a:ln>
                    <a:noFill/>
                  </a:ln>
                  <a:solidFill>
                    <a:schemeClr val="tx1"/>
                  </a:solidFill>
                  <a:effectLst/>
                  <a:latin typeface="Calibri" panose="020F0502020204030204" pitchFamily="34" charset="0"/>
                </a:rPr>
                <a:t>Gravitational </a:t>
              </a:r>
              <a:r>
                <a:rPr kumimoji="0" lang="en-GB" altLang="en-US" sz="2000" b="1" i="0" u="none" strike="noStrike" cap="none" normalizeH="0" baseline="0" dirty="0">
                  <a:ln>
                    <a:noFill/>
                  </a:ln>
                  <a:solidFill>
                    <a:schemeClr val="tx1"/>
                  </a:solidFill>
                  <a:effectLst/>
                  <a:latin typeface="Calibri" panose="020F0502020204030204" pitchFamily="34" charset="0"/>
                </a:rPr>
                <a:t>potential energy 100 J </a:t>
              </a:r>
              <a:endParaRPr kumimoji="0" lang="en-US" altLang="en-US" sz="3600" b="1" i="0" u="none" strike="noStrike" cap="none" normalizeH="0" baseline="0" dirty="0">
                <a:ln>
                  <a:noFill/>
                </a:ln>
                <a:solidFill>
                  <a:schemeClr val="tx1"/>
                </a:solidFill>
                <a:effectLst/>
                <a:latin typeface="Arial" panose="020B0604020202020204" pitchFamily="34" charset="0"/>
              </a:endParaRPr>
            </a:p>
          </p:txBody>
        </p:sp>
        <p:sp>
          <p:nvSpPr>
            <p:cNvPr id="141" name="TextBox 140">
              <a:extLst>
                <a:ext uri="{FF2B5EF4-FFF2-40B4-BE49-F238E27FC236}">
                  <a16:creationId xmlns:a16="http://schemas.microsoft.com/office/drawing/2014/main" xmlns="" id="{A3FD215C-63C3-4FB9-B3A2-07D0837840D6}"/>
                </a:ext>
              </a:extLst>
            </p:cNvPr>
            <p:cNvSpPr txBox="1"/>
            <p:nvPr/>
          </p:nvSpPr>
          <p:spPr>
            <a:xfrm>
              <a:off x="3114482" y="4035844"/>
              <a:ext cx="1298915" cy="400110"/>
            </a:xfrm>
            <a:prstGeom prst="rect">
              <a:avLst/>
            </a:prstGeom>
            <a:noFill/>
          </p:spPr>
          <p:txBody>
            <a:bodyPr wrap="square" rtlCol="0">
              <a:spAutoFit/>
            </a:bodyPr>
            <a:lstStyle/>
            <a:p>
              <a:r>
                <a:rPr lang="en-GB" sz="2000" b="1" smtClean="0"/>
                <a:t>Thermal?</a:t>
              </a:r>
              <a:endParaRPr lang="en-GB" sz="2000" b="1" dirty="0"/>
            </a:p>
          </p:txBody>
        </p:sp>
        <p:sp>
          <p:nvSpPr>
            <p:cNvPr id="142" name="TextBox 141">
              <a:extLst>
                <a:ext uri="{FF2B5EF4-FFF2-40B4-BE49-F238E27FC236}">
                  <a16:creationId xmlns:a16="http://schemas.microsoft.com/office/drawing/2014/main" xmlns="" id="{1E1937C7-9D5C-4565-8294-B4BF307A610E}"/>
                </a:ext>
              </a:extLst>
            </p:cNvPr>
            <p:cNvSpPr txBox="1"/>
            <p:nvPr/>
          </p:nvSpPr>
          <p:spPr>
            <a:xfrm>
              <a:off x="4759775" y="4046711"/>
              <a:ext cx="1586817" cy="400110"/>
            </a:xfrm>
            <a:prstGeom prst="rect">
              <a:avLst/>
            </a:prstGeom>
            <a:noFill/>
          </p:spPr>
          <p:txBody>
            <a:bodyPr wrap="square" rtlCol="0">
              <a:spAutoFit/>
            </a:bodyPr>
            <a:lstStyle/>
            <a:p>
              <a:r>
                <a:rPr lang="en-GB" sz="2000" b="1" dirty="0"/>
                <a:t>Sound 80 J</a:t>
              </a:r>
            </a:p>
          </p:txBody>
        </p:sp>
      </p:grpSp>
      <p:sp>
        <p:nvSpPr>
          <p:cNvPr id="143"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a:t>
            </a:r>
            <a:r>
              <a:rPr lang="en-US" sz="2800" b="1" smtClean="0">
                <a:solidFill>
                  <a:schemeClr val="accent6"/>
                </a:solidFill>
                <a:latin typeface="+mn-lt"/>
              </a:rPr>
              <a:t>Conservation and Dissipation of Energy - </a:t>
            </a:r>
            <a:r>
              <a:rPr lang="en-US" sz="2800" b="1" dirty="0" smtClean="0">
                <a:solidFill>
                  <a:schemeClr val="tx1"/>
                </a:solidFill>
                <a:latin typeface="+mn-lt"/>
              </a:rPr>
              <a:t>QuestionIT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16863437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xmlns="" id="{05B9A42E-A284-4D33-8E21-D83BA6287A31}"/>
              </a:ext>
            </a:extLst>
          </p:cNvPr>
          <p:cNvSpPr>
            <a:spLocks noChangeArrowheads="1"/>
          </p:cNvSpPr>
          <p:nvPr/>
        </p:nvSpPr>
        <p:spPr bwMode="auto">
          <a:xfrm>
            <a:off x="179512" y="918592"/>
            <a:ext cx="8856984"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a:p>
            <a:r>
              <a:rPr lang="en-US" dirty="0"/>
              <a:t> </a:t>
            </a:r>
          </a:p>
          <a:p>
            <a:endParaRPr lang="en-GB"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xmlns="" id="{1397B152-5732-44F0-BEDE-974D31D9ADF1}"/>
              </a:ext>
            </a:extLst>
          </p:cNvPr>
          <p:cNvSpPr/>
          <p:nvPr/>
        </p:nvSpPr>
        <p:spPr>
          <a:xfrm>
            <a:off x="179512" y="872425"/>
            <a:ext cx="8712968" cy="7478970"/>
          </a:xfrm>
          <a:prstGeom prst="rect">
            <a:avLst/>
          </a:prstGeom>
        </p:spPr>
        <p:txBody>
          <a:bodyPr wrap="square">
            <a:spAutoFit/>
          </a:bodyPr>
          <a:lstStyle/>
          <a:p>
            <a:r>
              <a:rPr lang="en-GB" sz="2400" dirty="0">
                <a:ea typeface="Times New Roman" panose="02020603050405020304" pitchFamily="18" charset="0"/>
                <a:cs typeface="Times New Roman" panose="02020603050405020304" pitchFamily="18" charset="0"/>
              </a:rPr>
              <a:t>7. The motor for a lift in a tall building uses 12 000 W of power. The lift and </a:t>
            </a:r>
            <a:r>
              <a:rPr lang="en-GB" sz="2400" dirty="0" smtClean="0">
                <a:ea typeface="Times New Roman" panose="02020603050405020304" pitchFamily="18" charset="0"/>
                <a:cs typeface="Times New Roman" panose="02020603050405020304" pitchFamily="18" charset="0"/>
              </a:rPr>
              <a:t>its </a:t>
            </a:r>
            <a:r>
              <a:rPr lang="en-GB" sz="2400" dirty="0">
                <a:ea typeface="Times New Roman" panose="02020603050405020304" pitchFamily="18" charset="0"/>
                <a:cs typeface="Times New Roman" panose="02020603050405020304" pitchFamily="18" charset="0"/>
              </a:rPr>
              <a:t>passengers has a mass of 500 kg. </a:t>
            </a:r>
            <a:r>
              <a:rPr lang="en-GB" sz="2400" dirty="0" smtClean="0">
                <a:ea typeface="Times New Roman" panose="02020603050405020304" pitchFamily="18" charset="0"/>
                <a:cs typeface="Times New Roman" panose="02020603050405020304" pitchFamily="18" charset="0"/>
              </a:rPr>
              <a:t>The </a:t>
            </a:r>
            <a:r>
              <a:rPr lang="en-GB" sz="2400" dirty="0">
                <a:ea typeface="Times New Roman" panose="02020603050405020304" pitchFamily="18" charset="0"/>
                <a:cs typeface="Times New Roman" panose="02020603050405020304" pitchFamily="18" charset="0"/>
              </a:rPr>
              <a:t>lift motor takes 10 s to raise the lift and </a:t>
            </a:r>
            <a:r>
              <a:rPr lang="en-GB" sz="2400" dirty="0" smtClean="0">
                <a:ea typeface="Times New Roman" panose="02020603050405020304" pitchFamily="18" charset="0"/>
                <a:cs typeface="Times New Roman" panose="02020603050405020304" pitchFamily="18" charset="0"/>
              </a:rPr>
              <a:t>its passengers </a:t>
            </a:r>
            <a:r>
              <a:rPr lang="en-GB" sz="2400" dirty="0">
                <a:ea typeface="Times New Roman" panose="02020603050405020304" pitchFamily="18" charset="0"/>
                <a:cs typeface="Times New Roman" panose="02020603050405020304" pitchFamily="18" charset="0"/>
              </a:rPr>
              <a:t>through a height of 20 m</a:t>
            </a:r>
            <a:r>
              <a:rPr lang="en-GB" sz="2400" dirty="0" smtClean="0">
                <a:ea typeface="Times New Roman" panose="02020603050405020304" pitchFamily="18" charset="0"/>
                <a:cs typeface="Times New Roman" panose="02020603050405020304" pitchFamily="18" charset="0"/>
              </a:rPr>
              <a:t>.</a:t>
            </a:r>
          </a:p>
          <a:p>
            <a:r>
              <a:rPr lang="en-GB" sz="2400" dirty="0" smtClean="0">
                <a:ea typeface="Times New Roman" panose="02020603050405020304" pitchFamily="18" charset="0"/>
                <a:cs typeface="Times New Roman" panose="02020603050405020304" pitchFamily="18" charset="0"/>
              </a:rPr>
              <a:t> </a:t>
            </a:r>
          </a:p>
          <a:p>
            <a:r>
              <a:rPr lang="en-GB" sz="2400" dirty="0" smtClean="0">
                <a:ea typeface="Times New Roman" panose="02020603050405020304" pitchFamily="18" charset="0"/>
                <a:cs typeface="Times New Roman" panose="02020603050405020304" pitchFamily="18" charset="0"/>
              </a:rPr>
              <a:t>Work </a:t>
            </a:r>
            <a:r>
              <a:rPr lang="en-GB" sz="2400" dirty="0">
                <a:ea typeface="Times New Roman" panose="02020603050405020304" pitchFamily="18" charset="0"/>
                <a:cs typeface="Times New Roman" panose="02020603050405020304" pitchFamily="18" charset="0"/>
              </a:rPr>
              <a:t>out the percentage efficiency of </a:t>
            </a:r>
            <a:r>
              <a:rPr lang="en-GB" sz="2400" dirty="0" smtClean="0">
                <a:ea typeface="Times New Roman" panose="02020603050405020304" pitchFamily="18" charset="0"/>
                <a:cs typeface="Times New Roman" panose="02020603050405020304" pitchFamily="18" charset="0"/>
              </a:rPr>
              <a:t>the </a:t>
            </a:r>
            <a:r>
              <a:rPr lang="en-GB" sz="2400" dirty="0">
                <a:ea typeface="Times New Roman" panose="02020603050405020304" pitchFamily="18" charset="0"/>
                <a:cs typeface="Times New Roman" panose="02020603050405020304" pitchFamily="18" charset="0"/>
              </a:rPr>
              <a:t>lift motor. </a:t>
            </a:r>
          </a:p>
          <a:p>
            <a:r>
              <a:rPr lang="en-GB" sz="2400" dirty="0">
                <a:cs typeface="Times New Roman" panose="02020603050405020304" pitchFamily="18" charset="0"/>
              </a:rPr>
              <a:t>       </a:t>
            </a:r>
          </a:p>
          <a:p>
            <a:endParaRPr lang="en-GB" sz="2400" dirty="0">
              <a:cs typeface="Times New Roman" panose="02020603050405020304" pitchFamily="18" charset="0"/>
            </a:endParaRPr>
          </a:p>
          <a:p>
            <a:endParaRPr lang="en-GB" sz="2400" dirty="0">
              <a:cs typeface="Times New Roman" panose="02020603050405020304" pitchFamily="18" charset="0"/>
            </a:endParaRPr>
          </a:p>
          <a:p>
            <a:endParaRPr lang="en-GB" sz="2400" dirty="0">
              <a:cs typeface="Times New Roman" panose="02020603050405020304" pitchFamily="18" charset="0"/>
            </a:endParaRPr>
          </a:p>
          <a:p>
            <a:r>
              <a:rPr lang="en-GB" sz="2400" dirty="0">
                <a:cs typeface="Times New Roman" panose="02020603050405020304" pitchFamily="18" charset="0"/>
              </a:rPr>
              <a:t>8. The low energy bulb below uses 18 000 J of energy in one hour. If the </a:t>
            </a:r>
            <a:r>
              <a:rPr lang="en-GB" sz="2400" dirty="0" smtClean="0">
                <a:cs typeface="Times New Roman" panose="02020603050405020304" pitchFamily="18" charset="0"/>
              </a:rPr>
              <a:t>efficiency of </a:t>
            </a:r>
            <a:r>
              <a:rPr lang="en-GB" sz="2400" dirty="0">
                <a:cs typeface="Times New Roman" panose="02020603050405020304" pitchFamily="18" charset="0"/>
              </a:rPr>
              <a:t>the low energy bulb is 78 </a:t>
            </a:r>
            <a:r>
              <a:rPr lang="en-GB" sz="2400" dirty="0" smtClean="0">
                <a:cs typeface="Times New Roman" panose="02020603050405020304" pitchFamily="18" charset="0"/>
              </a:rPr>
              <a:t>%.</a:t>
            </a:r>
          </a:p>
          <a:p>
            <a:endParaRPr lang="en-GB" sz="2400" dirty="0" smtClean="0">
              <a:cs typeface="Times New Roman" panose="02020603050405020304" pitchFamily="18" charset="0"/>
            </a:endParaRPr>
          </a:p>
          <a:p>
            <a:r>
              <a:rPr lang="en-GB" sz="2400" dirty="0" smtClean="0">
                <a:cs typeface="Times New Roman" panose="02020603050405020304" pitchFamily="18" charset="0"/>
              </a:rPr>
              <a:t>Work </a:t>
            </a:r>
            <a:r>
              <a:rPr lang="en-GB" sz="2400" dirty="0">
                <a:cs typeface="Times New Roman" panose="02020603050405020304" pitchFamily="18" charset="0"/>
              </a:rPr>
              <a:t>out the amount of light energy given off by </a:t>
            </a:r>
            <a:r>
              <a:rPr lang="en-GB" sz="2400" dirty="0" smtClean="0">
                <a:cs typeface="Times New Roman" panose="02020603050405020304" pitchFamily="18" charset="0"/>
              </a:rPr>
              <a:t>the </a:t>
            </a:r>
            <a:r>
              <a:rPr lang="en-GB" sz="2400" dirty="0">
                <a:cs typeface="Times New Roman" panose="02020603050405020304" pitchFamily="18" charset="0"/>
              </a:rPr>
              <a:t>bulb </a:t>
            </a:r>
            <a:endParaRPr lang="en-GB" sz="2400" dirty="0" smtClean="0">
              <a:cs typeface="Times New Roman" panose="02020603050405020304" pitchFamily="18" charset="0"/>
            </a:endParaRPr>
          </a:p>
          <a:p>
            <a:r>
              <a:rPr lang="en-GB" sz="2400" dirty="0" smtClean="0">
                <a:cs typeface="Times New Roman" panose="02020603050405020304" pitchFamily="18" charset="0"/>
              </a:rPr>
              <a:t>in </a:t>
            </a:r>
            <a:r>
              <a:rPr lang="en-GB" sz="2400" dirty="0">
                <a:cs typeface="Times New Roman" panose="02020603050405020304" pitchFamily="18" charset="0"/>
              </a:rPr>
              <a:t>one </a:t>
            </a:r>
            <a:r>
              <a:rPr lang="en-GB" sz="2400" dirty="0" smtClean="0">
                <a:cs typeface="Times New Roman" panose="02020603050405020304" pitchFamily="18" charset="0"/>
              </a:rPr>
              <a:t>hour.</a:t>
            </a:r>
            <a:endParaRPr lang="en-GB" sz="2400" dirty="0">
              <a:cs typeface="Times New Roman" panose="02020603050405020304" pitchFamily="18" charset="0"/>
            </a:endParaRPr>
          </a:p>
          <a:p>
            <a:endParaRPr lang="en-GB" sz="2400" dirty="0">
              <a:cs typeface="Times New Roman" panose="02020603050405020304" pitchFamily="18" charset="0"/>
            </a:endParaRPr>
          </a:p>
          <a:p>
            <a:r>
              <a:rPr lang="en-GB" sz="2400" dirty="0">
                <a:cs typeface="Times New Roman" panose="02020603050405020304" pitchFamily="18" charset="0"/>
              </a:rPr>
              <a:t>   </a:t>
            </a:r>
          </a:p>
          <a:p>
            <a:endParaRPr lang="en-GB" sz="2400" dirty="0">
              <a:solidFill>
                <a:srgbClr val="00B050"/>
              </a:solidFill>
              <a:cs typeface="Times New Roman" panose="02020603050405020304" pitchFamily="18" charset="0"/>
            </a:endParaRPr>
          </a:p>
          <a:p>
            <a:endParaRPr lang="en-GB" sz="2400" dirty="0">
              <a:solidFill>
                <a:srgbClr val="00B050"/>
              </a:solidFill>
              <a:cs typeface="Times New Roman" panose="02020603050405020304" pitchFamily="18" charset="0"/>
            </a:endParaRPr>
          </a:p>
          <a:p>
            <a:endParaRPr lang="en-GB" sz="2400" dirty="0">
              <a:solidFill>
                <a:srgbClr val="00B050"/>
              </a:solidFill>
              <a:cs typeface="Times New Roman" panose="02020603050405020304" pitchFamily="18" charset="0"/>
            </a:endParaRPr>
          </a:p>
          <a:p>
            <a:endParaRPr lang="en-GB" sz="2400" dirty="0">
              <a:solidFill>
                <a:srgbClr val="00B050"/>
              </a:solidFill>
            </a:endParaRPr>
          </a:p>
        </p:txBody>
      </p:sp>
      <p:pic>
        <p:nvPicPr>
          <p:cNvPr id="143" name="Picture 142" descr="https://upload.wikimedia.org/wikipedia/commons/3/31/06_Spiral_CFL_Bulb_2010-03-08_(white_back).jpg">
            <a:extLst>
              <a:ext uri="{FF2B5EF4-FFF2-40B4-BE49-F238E27FC236}">
                <a16:creationId xmlns:a16="http://schemas.microsoft.com/office/drawing/2014/main" xmlns="" id="{94E50BA6-12B5-49C7-89BD-77F5DB7B45C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5825" y="4581128"/>
            <a:ext cx="1176655" cy="1758950"/>
          </a:xfrm>
          <a:prstGeom prst="rect">
            <a:avLst/>
          </a:prstGeom>
          <a:noFill/>
          <a:ln>
            <a:noFill/>
          </a:ln>
        </p:spPr>
      </p:pic>
      <p:sp>
        <p:nvSpPr>
          <p:cNvPr id="7"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a:t>
            </a:r>
            <a:r>
              <a:rPr lang="en-US" sz="2800" b="1" smtClean="0">
                <a:solidFill>
                  <a:schemeClr val="accent6"/>
                </a:solidFill>
                <a:latin typeface="+mn-lt"/>
              </a:rPr>
              <a:t>Conservation and Dissipation of Energy - </a:t>
            </a:r>
            <a:r>
              <a:rPr lang="en-US" sz="2800" b="1" dirty="0" smtClean="0">
                <a:solidFill>
                  <a:schemeClr val="tx1"/>
                </a:solidFill>
                <a:latin typeface="+mn-lt"/>
              </a:rPr>
              <a:t>QuestionIT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18175894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447645"/>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Conservation and</a:t>
            </a:r>
          </a:p>
          <a:p>
            <a:r>
              <a:rPr lang="en-GB" sz="3600" b="1" dirty="0">
                <a:solidFill>
                  <a:schemeClr val="tx1">
                    <a:lumMod val="50000"/>
                    <a:lumOff val="50000"/>
                  </a:schemeClr>
                </a:solidFill>
              </a:rPr>
              <a:t>Dissipation of </a:t>
            </a:r>
          </a:p>
          <a:p>
            <a:r>
              <a:rPr lang="en-GB" sz="3600" b="1" dirty="0">
                <a:solidFill>
                  <a:schemeClr val="tx1">
                    <a:lumMod val="50000"/>
                    <a:lumOff val="50000"/>
                  </a:schemeClr>
                </a:solidFill>
              </a:rPr>
              <a:t>Energy </a:t>
            </a:r>
          </a:p>
          <a:p>
            <a:endParaRPr lang="en-GB" sz="2400" b="1"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Energy transfers in a system</a:t>
            </a:r>
          </a:p>
          <a:p>
            <a:pPr marL="685800" lvl="1" indent="-342900">
              <a:buFont typeface="Arial" charset="0"/>
              <a:buChar char="•"/>
            </a:pPr>
            <a:endParaRPr lang="en-US" sz="2400" b="1" dirty="0">
              <a:solidFill>
                <a:schemeClr val="bg1">
                  <a:lumMod val="50000"/>
                </a:schemeClr>
              </a:solidFill>
            </a:endParaRPr>
          </a:p>
          <a:p>
            <a:pPr marL="685800" lvl="1" indent="-342900">
              <a:buFont typeface="Arial" charset="0"/>
              <a:buChar char="•"/>
            </a:pPr>
            <a:r>
              <a:rPr lang="en-US" sz="2400" b="1" dirty="0">
                <a:solidFill>
                  <a:schemeClr val="bg1">
                    <a:lumMod val="50000"/>
                  </a:schemeClr>
                </a:solidFill>
              </a:rPr>
              <a:t>Efficiency</a:t>
            </a:r>
            <a:endParaRPr lang="en-GB"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5353065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D0E5B3FF-3FA0-44E6-B9E3-92874D1698AD}"/>
              </a:ext>
            </a:extLst>
          </p:cNvPr>
          <p:cNvSpPr txBox="1"/>
          <p:nvPr/>
        </p:nvSpPr>
        <p:spPr>
          <a:xfrm>
            <a:off x="251520" y="836712"/>
            <a:ext cx="8784976" cy="4893647"/>
          </a:xfrm>
          <a:prstGeom prst="rect">
            <a:avLst/>
          </a:prstGeom>
          <a:noFill/>
        </p:spPr>
        <p:txBody>
          <a:bodyPr wrap="square" rtlCol="0">
            <a:spAutoFit/>
          </a:bodyPr>
          <a:lstStyle/>
          <a:p>
            <a:pPr marL="342900" indent="-342900">
              <a:buAutoNum type="arabicPeriod"/>
            </a:pPr>
            <a:r>
              <a:rPr lang="en-GB" sz="2400" dirty="0"/>
              <a:t>In a “closed” </a:t>
            </a:r>
            <a:r>
              <a:rPr lang="en-GB" sz="2400" dirty="0" smtClean="0"/>
              <a:t>system </a:t>
            </a:r>
            <a:r>
              <a:rPr lang="is-IS" sz="2400" dirty="0" smtClean="0"/>
              <a:t>…..........</a:t>
            </a:r>
            <a:r>
              <a:rPr lang="en-GB" sz="2400" dirty="0" smtClean="0"/>
              <a:t>         </a:t>
            </a:r>
            <a:endParaRPr lang="en-GB" sz="2400" dirty="0"/>
          </a:p>
          <a:p>
            <a:pPr marL="800100" lvl="1" indent="-342900">
              <a:buFont typeface="+mj-lt"/>
              <a:buAutoNum type="alphaUcPeriod"/>
            </a:pPr>
            <a:r>
              <a:rPr lang="en-GB" sz="2400" dirty="0" smtClean="0"/>
              <a:t>energy </a:t>
            </a:r>
            <a:r>
              <a:rPr lang="en-GB" sz="2400" dirty="0"/>
              <a:t>can be transferred but there is no net energy loss.</a:t>
            </a:r>
          </a:p>
          <a:p>
            <a:pPr marL="800100" lvl="1" indent="-342900">
              <a:buFont typeface="+mj-lt"/>
              <a:buAutoNum type="alphaUcPeriod"/>
            </a:pPr>
            <a:r>
              <a:rPr lang="en-GB" sz="2400" dirty="0" smtClean="0"/>
              <a:t>energy </a:t>
            </a:r>
            <a:r>
              <a:rPr lang="en-GB" sz="2400" dirty="0"/>
              <a:t>and mass are transferred in and out of the system.</a:t>
            </a:r>
          </a:p>
          <a:p>
            <a:pPr marL="800100" lvl="1" indent="-342900">
              <a:buFont typeface="+mj-lt"/>
              <a:buAutoNum type="alphaUcPeriod"/>
            </a:pPr>
            <a:r>
              <a:rPr lang="en-GB" sz="2400" dirty="0" smtClean="0"/>
              <a:t>energy </a:t>
            </a:r>
            <a:r>
              <a:rPr lang="en-GB" sz="2400" dirty="0"/>
              <a:t>cannot be transferred between different energy stores.</a:t>
            </a:r>
          </a:p>
          <a:p>
            <a:endParaRPr lang="en-GB" sz="2400" dirty="0"/>
          </a:p>
          <a:p>
            <a:r>
              <a:rPr lang="en-GB" sz="2400" dirty="0"/>
              <a:t>2. The energy transfer diagram for a mobile phone shows that 100 J of electrical </a:t>
            </a:r>
            <a:r>
              <a:rPr lang="en-GB" sz="2400" dirty="0" smtClean="0"/>
              <a:t>energy produces </a:t>
            </a:r>
            <a:r>
              <a:rPr lang="en-GB" sz="2400" dirty="0"/>
              <a:t>45 J of light energy and 36 J of sound energy. </a:t>
            </a:r>
            <a:endParaRPr lang="en-GB" sz="2400" dirty="0" smtClean="0"/>
          </a:p>
          <a:p>
            <a:r>
              <a:rPr lang="en-GB" sz="2400" dirty="0" smtClean="0"/>
              <a:t>How </a:t>
            </a:r>
            <a:r>
              <a:rPr lang="en-GB" sz="2400" dirty="0"/>
              <a:t>much </a:t>
            </a:r>
            <a:r>
              <a:rPr lang="en-GB" sz="2400" dirty="0" smtClean="0"/>
              <a:t>thermal energy </a:t>
            </a:r>
            <a:r>
              <a:rPr lang="en-GB" sz="2400" dirty="0"/>
              <a:t>will </a:t>
            </a:r>
            <a:r>
              <a:rPr lang="en-GB" sz="2400" dirty="0" smtClean="0"/>
              <a:t>be </a:t>
            </a:r>
            <a:r>
              <a:rPr lang="en-GB" sz="2400" dirty="0"/>
              <a:t>dissipated by the phone?</a:t>
            </a:r>
          </a:p>
          <a:p>
            <a:endParaRPr lang="en-GB" sz="2400" dirty="0"/>
          </a:p>
          <a:p>
            <a:r>
              <a:rPr lang="en-GB" sz="2400" dirty="0"/>
              <a:t>					              </a:t>
            </a:r>
          </a:p>
          <a:p>
            <a:r>
              <a:rPr lang="en-GB" sz="2400" dirty="0"/>
              <a:t>					         </a:t>
            </a:r>
            <a:r>
              <a:rPr lang="en-GB" sz="2400" b="1" dirty="0">
                <a:solidFill>
                  <a:srgbClr val="00B050"/>
                </a:solidFill>
              </a:rPr>
              <a:t>	</a:t>
            </a:r>
          </a:p>
          <a:p>
            <a:endParaRPr lang="en-GB" sz="2400" dirty="0"/>
          </a:p>
        </p:txBody>
      </p:sp>
      <p:pic>
        <p:nvPicPr>
          <p:cNvPr id="34" name="Picture 33" descr="Image result for energy transfer diagram for a car">
            <a:extLst>
              <a:ext uri="{FF2B5EF4-FFF2-40B4-BE49-F238E27FC236}">
                <a16:creationId xmlns:a16="http://schemas.microsoft.com/office/drawing/2014/main" xmlns="" id="{430B67B4-10B3-480D-AD16-98BD0D622C7B}"/>
              </a:ext>
            </a:extLst>
          </p:cNvPr>
          <p:cNvPicPr>
            <a:picLocks noChangeAspect="1"/>
          </p:cNvPicPr>
          <p:nvPr/>
        </p:nvPicPr>
        <p:blipFill rotWithShape="1">
          <a:blip r:embed="rId3">
            <a:extLst>
              <a:ext uri="{28A0092B-C50C-407E-A947-70E740481C1C}">
                <a14:useLocalDpi xmlns:a14="http://schemas.microsoft.com/office/drawing/2010/main" val="0"/>
              </a:ext>
            </a:extLst>
          </a:blip>
          <a:srcRect t="20896" b="16415"/>
          <a:stretch/>
        </p:blipFill>
        <p:spPr bwMode="auto">
          <a:xfrm>
            <a:off x="395536" y="4221088"/>
            <a:ext cx="5892480" cy="2232000"/>
          </a:xfrm>
          <a:prstGeom prst="rect">
            <a:avLst/>
          </a:prstGeom>
          <a:noFill/>
          <a:ln>
            <a:solidFill>
              <a:schemeClr val="accent6">
                <a:lumMod val="75000"/>
              </a:schemeClr>
            </a:solidFill>
          </a:ln>
        </p:spPr>
      </p:pic>
      <p:sp>
        <p:nvSpPr>
          <p:cNvPr id="38" name="TextBox 37">
            <a:extLst>
              <a:ext uri="{FF2B5EF4-FFF2-40B4-BE49-F238E27FC236}">
                <a16:creationId xmlns:a16="http://schemas.microsoft.com/office/drawing/2014/main" xmlns="" id="{946BE1A5-EDD5-4DD3-BB01-BF7AC07FC209}"/>
              </a:ext>
            </a:extLst>
          </p:cNvPr>
          <p:cNvSpPr txBox="1"/>
          <p:nvPr/>
        </p:nvSpPr>
        <p:spPr>
          <a:xfrm>
            <a:off x="7120139" y="1268760"/>
            <a:ext cx="432048" cy="432048"/>
          </a:xfrm>
          <a:prstGeom prst="rect">
            <a:avLst/>
          </a:prstGeom>
          <a:noFill/>
          <a:ln>
            <a:noFill/>
          </a:ln>
        </p:spPr>
        <p:txBody>
          <a:bodyPr wrap="square" rtlCol="0">
            <a:spAutoFit/>
          </a:bodyPr>
          <a:lstStyle/>
          <a:p>
            <a:endParaRPr lang="en-GB" dirty="0"/>
          </a:p>
        </p:txBody>
      </p:sp>
      <p:sp>
        <p:nvSpPr>
          <p:cNvPr id="9"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Conservation and Dissipation of Energy - </a:t>
            </a:r>
            <a:r>
              <a:rPr lang="en-US" sz="2800" b="1" dirty="0" smtClean="0">
                <a:solidFill>
                  <a:schemeClr val="tx1"/>
                </a:solidFill>
                <a:latin typeface="+mn-lt"/>
              </a:rPr>
              <a:t>AnswerIT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pic>
        <p:nvPicPr>
          <p:cNvPr id="6" name="Picture 5">
            <a:extLst>
              <a:ext uri="{FF2B5EF4-FFF2-40B4-BE49-F238E27FC236}">
                <a16:creationId xmlns:a16="http://schemas.microsoft.com/office/drawing/2014/main" xmlns="" id="{AF88D702-6146-4453-8C07-8480EA4196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6416" y="1255267"/>
            <a:ext cx="488378" cy="439540"/>
          </a:xfrm>
          <a:prstGeom prst="rect">
            <a:avLst/>
          </a:prstGeom>
        </p:spPr>
      </p:pic>
      <p:sp>
        <p:nvSpPr>
          <p:cNvPr id="2" name="Rectangle 1"/>
          <p:cNvSpPr/>
          <p:nvPr/>
        </p:nvSpPr>
        <p:spPr>
          <a:xfrm>
            <a:off x="6403012" y="4321425"/>
            <a:ext cx="2740988" cy="1938992"/>
          </a:xfrm>
          <a:prstGeom prst="rect">
            <a:avLst/>
          </a:prstGeom>
        </p:spPr>
        <p:txBody>
          <a:bodyPr wrap="square">
            <a:spAutoFit/>
          </a:bodyPr>
          <a:lstStyle/>
          <a:p>
            <a:r>
              <a:rPr lang="en-US" sz="2000" b="1" dirty="0">
                <a:solidFill>
                  <a:srgbClr val="00B050"/>
                </a:solidFill>
              </a:rPr>
              <a:t>45 J + 36 J = 81 J</a:t>
            </a:r>
          </a:p>
          <a:p>
            <a:endParaRPr lang="en-US" sz="2000" b="1" dirty="0">
              <a:solidFill>
                <a:srgbClr val="00B050"/>
              </a:solidFill>
            </a:endParaRPr>
          </a:p>
          <a:p>
            <a:r>
              <a:rPr lang="en-US" sz="2000" b="1" dirty="0" smtClean="0">
                <a:solidFill>
                  <a:srgbClr val="00B050"/>
                </a:solidFill>
              </a:rPr>
              <a:t>100 </a:t>
            </a:r>
            <a:r>
              <a:rPr lang="en-US" sz="2000" b="1" dirty="0">
                <a:solidFill>
                  <a:srgbClr val="00B050"/>
                </a:solidFill>
              </a:rPr>
              <a:t>J – 81 J  = 19 J	</a:t>
            </a:r>
          </a:p>
          <a:p>
            <a:r>
              <a:rPr lang="en-US" sz="2000" b="1" dirty="0" smtClean="0">
                <a:solidFill>
                  <a:srgbClr val="00B050"/>
                </a:solidFill>
              </a:rPr>
              <a:t>19 </a:t>
            </a:r>
            <a:r>
              <a:rPr lang="en-US" sz="2000" b="1" dirty="0">
                <a:solidFill>
                  <a:srgbClr val="00B050"/>
                </a:solidFill>
              </a:rPr>
              <a:t>J of </a:t>
            </a:r>
            <a:r>
              <a:rPr lang="en-US" sz="2000" b="1" dirty="0" smtClean="0">
                <a:solidFill>
                  <a:srgbClr val="00B050"/>
                </a:solidFill>
              </a:rPr>
              <a:t>thermal energy </a:t>
            </a:r>
            <a:r>
              <a:rPr lang="en-US" sz="2000" b="1" dirty="0">
                <a:solidFill>
                  <a:srgbClr val="00B050"/>
                </a:solidFill>
              </a:rPr>
              <a:t>will be dissipated</a:t>
            </a:r>
            <a:endParaRPr lang="en-GB" sz="2000" b="1" dirty="0">
              <a:solidFill>
                <a:srgbClr val="00B050"/>
              </a:solidFill>
            </a:endParaRPr>
          </a:p>
        </p:txBody>
      </p:sp>
    </p:spTree>
    <p:extLst>
      <p:ext uri="{BB962C8B-B14F-4D97-AF65-F5344CB8AC3E}">
        <p14:creationId xmlns:p14="http://schemas.microsoft.com/office/powerpoint/2010/main" val="1315318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86003" y="2877714"/>
            <a:ext cx="2681371" cy="2217148"/>
            <a:chOff x="2656832" y="2596689"/>
            <a:chExt cx="2758711" cy="2217148"/>
          </a:xfrm>
        </p:grpSpPr>
        <p:sp>
          <p:nvSpPr>
            <p:cNvPr id="5" name="Rectangle 4">
              <a:extLst>
                <a:ext uri="{FF2B5EF4-FFF2-40B4-BE49-F238E27FC236}">
                  <a16:creationId xmlns:a16="http://schemas.microsoft.com/office/drawing/2014/main" xmlns="" id="{D865BE3B-3475-478A-8C5B-CAC02D134167}"/>
                </a:ext>
              </a:extLst>
            </p:cNvPr>
            <p:cNvSpPr/>
            <p:nvPr/>
          </p:nvSpPr>
          <p:spPr>
            <a:xfrm>
              <a:off x="2656832" y="3381227"/>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xmlns="" id="{3865020C-C5E0-4770-A0E0-C314947DE9A7}"/>
                </a:ext>
              </a:extLst>
            </p:cNvPr>
            <p:cNvSpPr/>
            <p:nvPr/>
          </p:nvSpPr>
          <p:spPr>
            <a:xfrm>
              <a:off x="4695463" y="4165765"/>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xmlns="" id="{114FCB36-D030-4AAD-A551-64CE52A920F2}"/>
                </a:ext>
              </a:extLst>
            </p:cNvPr>
            <p:cNvSpPr/>
            <p:nvPr/>
          </p:nvSpPr>
          <p:spPr>
            <a:xfrm>
              <a:off x="4695463" y="3381227"/>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xmlns="" id="{DF539FFC-E4D1-4E25-9585-DA99C38C96F2}"/>
                </a:ext>
              </a:extLst>
            </p:cNvPr>
            <p:cNvSpPr/>
            <p:nvPr/>
          </p:nvSpPr>
          <p:spPr>
            <a:xfrm>
              <a:off x="4695463" y="2596689"/>
              <a:ext cx="720080" cy="64807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Arrow: Right 5">
              <a:extLst>
                <a:ext uri="{FF2B5EF4-FFF2-40B4-BE49-F238E27FC236}">
                  <a16:creationId xmlns:a16="http://schemas.microsoft.com/office/drawing/2014/main" xmlns="" id="{F267796C-2EFE-4A69-B999-7774278D48F8}"/>
                </a:ext>
              </a:extLst>
            </p:cNvPr>
            <p:cNvSpPr/>
            <p:nvPr/>
          </p:nvSpPr>
          <p:spPr>
            <a:xfrm rot="20174161">
              <a:off x="3351465" y="3072796"/>
              <a:ext cx="1367200" cy="184879"/>
            </a:xfrm>
            <a:prstGeom prst="rightArrow">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 name="Arrow: Right 6">
              <a:extLst>
                <a:ext uri="{FF2B5EF4-FFF2-40B4-BE49-F238E27FC236}">
                  <a16:creationId xmlns:a16="http://schemas.microsoft.com/office/drawing/2014/main" xmlns="" id="{1DC9B177-C660-450D-BABA-918981664929}"/>
                </a:ext>
              </a:extLst>
            </p:cNvPr>
            <p:cNvSpPr/>
            <p:nvPr/>
          </p:nvSpPr>
          <p:spPr>
            <a:xfrm>
              <a:off x="3409424" y="3488453"/>
              <a:ext cx="1251281" cy="496506"/>
            </a:xfrm>
            <a:prstGeom prst="rightArrow">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 name="Arrow: Right 7">
              <a:extLst>
                <a:ext uri="{FF2B5EF4-FFF2-40B4-BE49-F238E27FC236}">
                  <a16:creationId xmlns:a16="http://schemas.microsoft.com/office/drawing/2014/main" xmlns="" id="{E9E212EE-AB4A-4D52-A79A-C6F14E22194D}"/>
                </a:ext>
              </a:extLst>
            </p:cNvPr>
            <p:cNvSpPr/>
            <p:nvPr/>
          </p:nvSpPr>
          <p:spPr>
            <a:xfrm rot="1798937">
              <a:off x="3338767" y="4338349"/>
              <a:ext cx="1382884" cy="45719"/>
            </a:xfrm>
            <a:prstGeom prst="rightArrow">
              <a:avLst/>
            </a:prstGeom>
            <a:solidFill>
              <a:schemeClr val="accent6">
                <a:lumMod val="75000"/>
              </a:schemeClr>
            </a:solidFill>
            <a:ln>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9" name="TextBox 8"/>
            <p:cNvSpPr txBox="1"/>
            <p:nvPr/>
          </p:nvSpPr>
          <p:spPr>
            <a:xfrm>
              <a:off x="4787969" y="2720823"/>
              <a:ext cx="576064" cy="461665"/>
            </a:xfrm>
            <a:prstGeom prst="rect">
              <a:avLst/>
            </a:prstGeom>
            <a:noFill/>
          </p:spPr>
          <p:txBody>
            <a:bodyPr wrap="square" rtlCol="0">
              <a:spAutoFit/>
            </a:bodyPr>
            <a:lstStyle/>
            <a:p>
              <a:r>
                <a:rPr lang="en-GB" sz="2400" dirty="0"/>
                <a:t> B </a:t>
              </a:r>
            </a:p>
          </p:txBody>
        </p:sp>
        <p:sp>
          <p:nvSpPr>
            <p:cNvPr id="14" name="TextBox 13"/>
            <p:cNvSpPr txBox="1"/>
            <p:nvPr/>
          </p:nvSpPr>
          <p:spPr>
            <a:xfrm>
              <a:off x="4831807" y="3474430"/>
              <a:ext cx="576064" cy="461665"/>
            </a:xfrm>
            <a:prstGeom prst="rect">
              <a:avLst/>
            </a:prstGeom>
            <a:noFill/>
          </p:spPr>
          <p:txBody>
            <a:bodyPr wrap="square" rtlCol="0">
              <a:spAutoFit/>
            </a:bodyPr>
            <a:lstStyle/>
            <a:p>
              <a:r>
                <a:rPr lang="en-GB" sz="2400" dirty="0"/>
                <a:t> </a:t>
              </a:r>
              <a:r>
                <a:rPr lang="en-GB" sz="2400" dirty="0" smtClean="0"/>
                <a:t>C </a:t>
              </a:r>
              <a:endParaRPr lang="en-GB" sz="2400" dirty="0"/>
            </a:p>
          </p:txBody>
        </p:sp>
        <p:sp>
          <p:nvSpPr>
            <p:cNvPr id="15" name="TextBox 14"/>
            <p:cNvSpPr txBox="1"/>
            <p:nvPr/>
          </p:nvSpPr>
          <p:spPr>
            <a:xfrm>
              <a:off x="4831807" y="4258968"/>
              <a:ext cx="576064" cy="461665"/>
            </a:xfrm>
            <a:prstGeom prst="rect">
              <a:avLst/>
            </a:prstGeom>
            <a:noFill/>
            <a:ln>
              <a:noFill/>
            </a:ln>
          </p:spPr>
          <p:txBody>
            <a:bodyPr wrap="square" rtlCol="0">
              <a:spAutoFit/>
            </a:bodyPr>
            <a:lstStyle/>
            <a:p>
              <a:r>
                <a:rPr lang="en-GB" sz="2400" dirty="0"/>
                <a:t> </a:t>
              </a:r>
              <a:r>
                <a:rPr lang="en-GB" sz="2400" dirty="0" smtClean="0"/>
                <a:t>D </a:t>
              </a:r>
              <a:endParaRPr lang="en-GB" sz="2400" dirty="0"/>
            </a:p>
          </p:txBody>
        </p:sp>
        <p:sp>
          <p:nvSpPr>
            <p:cNvPr id="16" name="TextBox 15"/>
            <p:cNvSpPr txBox="1"/>
            <p:nvPr/>
          </p:nvSpPr>
          <p:spPr>
            <a:xfrm>
              <a:off x="2778731" y="3503840"/>
              <a:ext cx="576064" cy="461665"/>
            </a:xfrm>
            <a:prstGeom prst="rect">
              <a:avLst/>
            </a:prstGeom>
            <a:noFill/>
          </p:spPr>
          <p:txBody>
            <a:bodyPr wrap="square" rtlCol="0">
              <a:spAutoFit/>
            </a:bodyPr>
            <a:lstStyle/>
            <a:p>
              <a:r>
                <a:rPr lang="en-GB" sz="2400" dirty="0"/>
                <a:t> </a:t>
              </a:r>
              <a:r>
                <a:rPr lang="en-GB" sz="2400" dirty="0" smtClean="0"/>
                <a:t>A </a:t>
              </a:r>
              <a:endParaRPr lang="en-GB" sz="2400" dirty="0"/>
            </a:p>
          </p:txBody>
        </p:sp>
      </p:grpSp>
      <p:sp>
        <p:nvSpPr>
          <p:cNvPr id="10" name="Rectangle 9"/>
          <p:cNvSpPr/>
          <p:nvPr/>
        </p:nvSpPr>
        <p:spPr>
          <a:xfrm>
            <a:off x="0" y="1017802"/>
            <a:ext cx="9144000" cy="1859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GB" sz="2400" dirty="0">
                <a:solidFill>
                  <a:schemeClr val="tx1"/>
                </a:solidFill>
              </a:rPr>
              <a:t>3. </a:t>
            </a:r>
            <a:r>
              <a:rPr lang="en-GB" sz="2400" dirty="0" smtClean="0">
                <a:solidFill>
                  <a:schemeClr val="tx1"/>
                </a:solidFill>
              </a:rPr>
              <a:t>Describe how </a:t>
            </a:r>
            <a:r>
              <a:rPr lang="en-GB" sz="2400" dirty="0">
                <a:solidFill>
                  <a:schemeClr val="tx1"/>
                </a:solidFill>
              </a:rPr>
              <a:t>the </a:t>
            </a:r>
            <a:r>
              <a:rPr lang="en-GB" sz="2400" dirty="0" smtClean="0">
                <a:solidFill>
                  <a:schemeClr val="tx1"/>
                </a:solidFill>
              </a:rPr>
              <a:t>thermal energy </a:t>
            </a:r>
            <a:r>
              <a:rPr lang="en-GB" sz="2400" dirty="0">
                <a:solidFill>
                  <a:schemeClr val="tx1"/>
                </a:solidFill>
              </a:rPr>
              <a:t>produced by a bus driving along a road is dissipated</a:t>
            </a:r>
            <a:r>
              <a:rPr lang="en-GB" sz="2400" dirty="0" smtClean="0">
                <a:solidFill>
                  <a:schemeClr val="tx1"/>
                </a:solidFill>
              </a:rPr>
              <a:t>. </a:t>
            </a:r>
          </a:p>
          <a:p>
            <a:r>
              <a:rPr lang="en-GB" sz="2400" b="1" dirty="0" smtClean="0">
                <a:solidFill>
                  <a:srgbClr val="00B050"/>
                </a:solidFill>
              </a:rPr>
              <a:t>The thermal energy increases the kinetic energy of the air particles therefore warming </a:t>
            </a:r>
            <a:r>
              <a:rPr lang="en-GB" sz="2400" b="1" dirty="0">
                <a:solidFill>
                  <a:srgbClr val="00B050"/>
                </a:solidFill>
              </a:rPr>
              <a:t>up the surroundings.</a:t>
            </a:r>
            <a:endParaRPr lang="en-GB" sz="2400" dirty="0">
              <a:solidFill>
                <a:schemeClr val="tx1"/>
              </a:solidFill>
            </a:endParaRPr>
          </a:p>
          <a:p>
            <a:r>
              <a:rPr lang="en-GB" sz="2400" dirty="0">
                <a:solidFill>
                  <a:schemeClr val="tx1"/>
                </a:solidFill>
              </a:rPr>
              <a:t>4. a. The diagram shows the main energy transfers for an electric fan. Complete boxes A </a:t>
            </a:r>
            <a:r>
              <a:rPr lang="en-GB" sz="2400" dirty="0" smtClean="0">
                <a:solidFill>
                  <a:schemeClr val="tx1"/>
                </a:solidFill>
              </a:rPr>
              <a:t>to D </a:t>
            </a:r>
            <a:r>
              <a:rPr lang="en-GB" sz="2400" dirty="0">
                <a:solidFill>
                  <a:schemeClr val="tx1"/>
                </a:solidFill>
              </a:rPr>
              <a:t>showing the energy stores involved. Use the size of the arrows to help you.</a:t>
            </a:r>
          </a:p>
        </p:txBody>
      </p:sp>
      <p:sp>
        <p:nvSpPr>
          <p:cNvPr id="19" name="Rectangle 18"/>
          <p:cNvSpPr/>
          <p:nvPr/>
        </p:nvSpPr>
        <p:spPr>
          <a:xfrm>
            <a:off x="8097" y="5585682"/>
            <a:ext cx="9144000" cy="108685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GB" sz="2400" dirty="0">
                <a:solidFill>
                  <a:schemeClr val="tx1"/>
                </a:solidFill>
              </a:rPr>
              <a:t>b. State why the total energy supplied to </a:t>
            </a:r>
            <a:r>
              <a:rPr lang="en-GB" sz="2400" dirty="0" smtClean="0">
                <a:solidFill>
                  <a:schemeClr val="tx1"/>
                </a:solidFill>
              </a:rPr>
              <a:t>an electric </a:t>
            </a:r>
            <a:r>
              <a:rPr lang="en-GB" sz="2400" dirty="0">
                <a:solidFill>
                  <a:schemeClr val="tx1"/>
                </a:solidFill>
              </a:rPr>
              <a:t>fan must always equal the total energy transferred by the electric fan. </a:t>
            </a:r>
            <a:endParaRPr lang="en-GB" sz="2400" dirty="0" smtClean="0">
              <a:solidFill>
                <a:schemeClr val="tx1"/>
              </a:solidFill>
            </a:endParaRPr>
          </a:p>
          <a:p>
            <a:r>
              <a:rPr lang="en-GB" sz="2400" b="1" dirty="0">
                <a:solidFill>
                  <a:srgbClr val="00B050"/>
                </a:solidFill>
              </a:rPr>
              <a:t>Energy can not be created or destroyed </a:t>
            </a:r>
            <a:r>
              <a:rPr lang="en-GB" sz="2400" b="1" dirty="0" smtClean="0">
                <a:solidFill>
                  <a:srgbClr val="00B050"/>
                </a:solidFill>
              </a:rPr>
              <a:t>so:</a:t>
            </a:r>
          </a:p>
          <a:p>
            <a:r>
              <a:rPr lang="en-GB" sz="2400" b="1" dirty="0" smtClean="0">
                <a:solidFill>
                  <a:srgbClr val="00B050"/>
                </a:solidFill>
              </a:rPr>
              <a:t>total </a:t>
            </a:r>
            <a:r>
              <a:rPr lang="en-GB" sz="2400" b="1" u="sng" dirty="0">
                <a:solidFill>
                  <a:srgbClr val="00B050"/>
                </a:solidFill>
              </a:rPr>
              <a:t>energy in = total energy out</a:t>
            </a:r>
          </a:p>
          <a:p>
            <a:r>
              <a:rPr lang="en-GB" sz="2400" dirty="0">
                <a:solidFill>
                  <a:schemeClr val="tx1"/>
                </a:solidFill>
              </a:rPr>
              <a:t>	</a:t>
            </a:r>
          </a:p>
          <a:p>
            <a:r>
              <a:rPr lang="en-GB" sz="2400" dirty="0">
                <a:solidFill>
                  <a:schemeClr val="tx1"/>
                </a:solidFill>
              </a:rPr>
              <a:t>         </a:t>
            </a:r>
            <a:endParaRPr lang="en-GB" sz="2400" b="1" dirty="0">
              <a:solidFill>
                <a:schemeClr val="tx1"/>
              </a:solidFill>
            </a:endParaRPr>
          </a:p>
        </p:txBody>
      </p:sp>
      <p:sp>
        <p:nvSpPr>
          <p:cNvPr id="23"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Conservation and Dissipation of Energy - </a:t>
            </a:r>
            <a:r>
              <a:rPr lang="en-US" sz="2800" b="1" dirty="0" smtClean="0">
                <a:solidFill>
                  <a:schemeClr val="tx1"/>
                </a:solidFill>
                <a:latin typeface="+mn-lt"/>
              </a:rPr>
              <a:t>AnswerIT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
        <p:nvSpPr>
          <p:cNvPr id="2" name="Rectangle 1"/>
          <p:cNvSpPr/>
          <p:nvPr/>
        </p:nvSpPr>
        <p:spPr>
          <a:xfrm>
            <a:off x="5009694" y="3018828"/>
            <a:ext cx="4572000" cy="1891287"/>
          </a:xfrm>
          <a:prstGeom prst="rect">
            <a:avLst/>
          </a:prstGeom>
        </p:spPr>
        <p:txBody>
          <a:bodyPr>
            <a:spAutoFit/>
          </a:bodyPr>
          <a:lstStyle/>
          <a:p>
            <a:pPr>
              <a:lnSpc>
                <a:spcPct val="150000"/>
              </a:lnSpc>
            </a:pPr>
            <a:r>
              <a:rPr lang="de-DE" sz="2000" b="1" dirty="0">
                <a:solidFill>
                  <a:srgbClr val="00B050"/>
                </a:solidFill>
              </a:rPr>
              <a:t>A    -  	</a:t>
            </a:r>
            <a:r>
              <a:rPr lang="de-DE" sz="2000" b="1" dirty="0" err="1">
                <a:solidFill>
                  <a:srgbClr val="00B050"/>
                </a:solidFill>
              </a:rPr>
              <a:t>Electrical</a:t>
            </a:r>
            <a:r>
              <a:rPr lang="de-DE" sz="2000" b="1" dirty="0">
                <a:solidFill>
                  <a:srgbClr val="00B050"/>
                </a:solidFill>
              </a:rPr>
              <a:t> </a:t>
            </a:r>
            <a:r>
              <a:rPr lang="de-DE" sz="2000" b="1" dirty="0" err="1">
                <a:solidFill>
                  <a:srgbClr val="00B050"/>
                </a:solidFill>
              </a:rPr>
              <a:t>energy</a:t>
            </a:r>
            <a:r>
              <a:rPr lang="de-DE" sz="2000" b="1" dirty="0">
                <a:solidFill>
                  <a:srgbClr val="00B050"/>
                </a:solidFill>
              </a:rPr>
              <a:t>	</a:t>
            </a:r>
          </a:p>
          <a:p>
            <a:pPr>
              <a:lnSpc>
                <a:spcPct val="150000"/>
              </a:lnSpc>
            </a:pPr>
            <a:r>
              <a:rPr lang="de-DE" sz="2000" b="1" dirty="0" smtClean="0">
                <a:solidFill>
                  <a:srgbClr val="00B050"/>
                </a:solidFill>
              </a:rPr>
              <a:t>B    </a:t>
            </a:r>
            <a:r>
              <a:rPr lang="de-DE" sz="2000" b="1" dirty="0">
                <a:solidFill>
                  <a:srgbClr val="00B050"/>
                </a:solidFill>
              </a:rPr>
              <a:t>-  	</a:t>
            </a:r>
            <a:r>
              <a:rPr lang="de-DE" sz="2000" b="1" dirty="0" smtClean="0">
                <a:solidFill>
                  <a:srgbClr val="00B050"/>
                </a:solidFill>
              </a:rPr>
              <a:t>Thermal </a:t>
            </a:r>
            <a:r>
              <a:rPr lang="de-DE" sz="2000" b="1" dirty="0" err="1" smtClean="0">
                <a:solidFill>
                  <a:srgbClr val="00B050"/>
                </a:solidFill>
              </a:rPr>
              <a:t>energy</a:t>
            </a:r>
            <a:endParaRPr lang="de-DE" sz="2000" b="1" dirty="0">
              <a:solidFill>
                <a:srgbClr val="00B050"/>
              </a:solidFill>
            </a:endParaRPr>
          </a:p>
          <a:p>
            <a:pPr>
              <a:lnSpc>
                <a:spcPct val="150000"/>
              </a:lnSpc>
            </a:pPr>
            <a:r>
              <a:rPr lang="de-DE" sz="2000" b="1" dirty="0" smtClean="0">
                <a:solidFill>
                  <a:srgbClr val="00B050"/>
                </a:solidFill>
              </a:rPr>
              <a:t>C    </a:t>
            </a:r>
            <a:r>
              <a:rPr lang="de-DE" sz="2000" b="1" dirty="0">
                <a:solidFill>
                  <a:srgbClr val="00B050"/>
                </a:solidFill>
              </a:rPr>
              <a:t>-	</a:t>
            </a:r>
            <a:r>
              <a:rPr lang="de-DE" sz="2000" b="1" dirty="0" err="1">
                <a:solidFill>
                  <a:srgbClr val="00B050"/>
                </a:solidFill>
              </a:rPr>
              <a:t>Kinetic</a:t>
            </a:r>
            <a:r>
              <a:rPr lang="de-DE" sz="2000" b="1" dirty="0">
                <a:solidFill>
                  <a:srgbClr val="00B050"/>
                </a:solidFill>
              </a:rPr>
              <a:t> </a:t>
            </a:r>
            <a:r>
              <a:rPr lang="de-DE" sz="2000" b="1" dirty="0" err="1">
                <a:solidFill>
                  <a:srgbClr val="00B050"/>
                </a:solidFill>
              </a:rPr>
              <a:t>energy</a:t>
            </a:r>
            <a:endParaRPr lang="de-DE" sz="2000" b="1" dirty="0">
              <a:solidFill>
                <a:srgbClr val="00B050"/>
              </a:solidFill>
            </a:endParaRPr>
          </a:p>
          <a:p>
            <a:pPr>
              <a:lnSpc>
                <a:spcPct val="150000"/>
              </a:lnSpc>
            </a:pPr>
            <a:r>
              <a:rPr lang="de-DE" sz="2000" b="1" dirty="0" smtClean="0">
                <a:solidFill>
                  <a:srgbClr val="00B050"/>
                </a:solidFill>
              </a:rPr>
              <a:t>D    </a:t>
            </a:r>
            <a:r>
              <a:rPr lang="de-DE" sz="2000" b="1" dirty="0">
                <a:solidFill>
                  <a:srgbClr val="00B050"/>
                </a:solidFill>
              </a:rPr>
              <a:t>-	Sound </a:t>
            </a:r>
            <a:r>
              <a:rPr lang="de-DE" sz="2000" b="1" dirty="0" err="1">
                <a:solidFill>
                  <a:srgbClr val="00B050"/>
                </a:solidFill>
              </a:rPr>
              <a:t>energy</a:t>
            </a:r>
            <a:endParaRPr lang="de-DE" sz="2000" b="1" dirty="0">
              <a:solidFill>
                <a:srgbClr val="00B050"/>
              </a:solidFill>
            </a:endParaRPr>
          </a:p>
        </p:txBody>
      </p:sp>
    </p:spTree>
    <p:extLst>
      <p:ext uri="{BB962C8B-B14F-4D97-AF65-F5344CB8AC3E}">
        <p14:creationId xmlns:p14="http://schemas.microsoft.com/office/powerpoint/2010/main" val="2084442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83560" y="709827"/>
            <a:ext cx="9036496" cy="574350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lvl="0" eaLnBrk="0" fontAlgn="base" hangingPunct="0">
              <a:spcBef>
                <a:spcPct val="0"/>
              </a:spcBef>
              <a:spcAft>
                <a:spcPct val="0"/>
              </a:spcAft>
            </a:pPr>
            <a:r>
              <a:rPr lang="en-US" altLang="en-US" sz="2400" dirty="0">
                <a:solidFill>
                  <a:schemeClr val="tx1"/>
                </a:solidFill>
                <a:ea typeface="Times New Roman" panose="02020603050405020304" pitchFamily="18" charset="0"/>
                <a:cs typeface="Times New Roman" panose="02020603050405020304" pitchFamily="18" charset="0"/>
              </a:rPr>
              <a:t>5. a. The diagrams show two different types of loft insulation.</a:t>
            </a:r>
            <a:endParaRPr lang="en-GB" altLang="en-US" sz="2400" dirty="0">
              <a:solidFill>
                <a:schemeClr val="tx1"/>
              </a:solidFill>
            </a:endParaRPr>
          </a:p>
          <a:p>
            <a:pPr lvl="0" eaLnBrk="0" fontAlgn="base" hangingPunct="0">
              <a:spcBef>
                <a:spcPct val="0"/>
              </a:spcBef>
              <a:spcAft>
                <a:spcPct val="0"/>
              </a:spcAft>
            </a:pPr>
            <a:r>
              <a:rPr lang="en-US" altLang="en-US" sz="2400" dirty="0">
                <a:solidFill>
                  <a:schemeClr val="tx1"/>
                </a:solidFill>
                <a:ea typeface="Times New Roman" panose="02020603050405020304" pitchFamily="18" charset="0"/>
                <a:cs typeface="Times New Roman" panose="02020603050405020304" pitchFamily="18" charset="0"/>
              </a:rPr>
              <a:t>		Fiberglass insulation	Wool insulation</a:t>
            </a:r>
          </a:p>
          <a:p>
            <a:pPr lvl="0" eaLnBrk="0" fontAlgn="base" hangingPunct="0">
              <a:spcBef>
                <a:spcPct val="0"/>
              </a:spcBef>
              <a:spcAft>
                <a:spcPct val="0"/>
              </a:spcAft>
            </a:pPr>
            <a:endParaRPr lang="en-US" alt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altLang="en-US" sz="2400" dirty="0" smtClean="0">
              <a:solidFill>
                <a:schemeClr val="tx1"/>
              </a:solidFill>
              <a:cs typeface="Times New Roman" panose="02020603050405020304" pitchFamily="18" charset="0"/>
            </a:endParaRPr>
          </a:p>
          <a:p>
            <a:pPr lvl="0" eaLnBrk="0" fontAlgn="base" hangingPunct="0">
              <a:spcBef>
                <a:spcPct val="0"/>
              </a:spcBef>
              <a:spcAft>
                <a:spcPct val="0"/>
              </a:spcAft>
            </a:pPr>
            <a:endParaRPr lang="en-US" altLang="en-US" sz="2400" dirty="0">
              <a:solidFill>
                <a:schemeClr val="tx1"/>
              </a:solidFill>
              <a:cs typeface="Times New Roman" panose="02020603050405020304" pitchFamily="18" charset="0"/>
            </a:endParaRPr>
          </a:p>
          <a:p>
            <a:r>
              <a:rPr lang="en-US" sz="2400" dirty="0" smtClean="0">
                <a:solidFill>
                  <a:schemeClr val="tx1"/>
                </a:solidFill>
              </a:rPr>
              <a:t>The </a:t>
            </a:r>
            <a:r>
              <a:rPr lang="en-US" sz="2400" dirty="0">
                <a:solidFill>
                  <a:schemeClr val="tx1"/>
                </a:solidFill>
              </a:rPr>
              <a:t>wool needs to be thicker to have the same insulating properties. </a:t>
            </a:r>
            <a:r>
              <a:rPr lang="en-US" sz="2400" dirty="0" smtClean="0">
                <a:solidFill>
                  <a:schemeClr val="tx1"/>
                </a:solidFill>
              </a:rPr>
              <a:t>Explain </a:t>
            </a:r>
            <a:r>
              <a:rPr lang="en-US" sz="2400" dirty="0">
                <a:solidFill>
                  <a:schemeClr val="tx1"/>
                </a:solidFill>
              </a:rPr>
              <a:t>which material has the highest thermal conductivity</a:t>
            </a:r>
            <a:r>
              <a:rPr lang="en-US" sz="2400" dirty="0" smtClean="0">
                <a:solidFill>
                  <a:schemeClr val="tx1"/>
                </a:solidFill>
              </a:rPr>
              <a:t>?</a:t>
            </a:r>
          </a:p>
          <a:p>
            <a:r>
              <a:rPr lang="en-US" sz="2400" b="1" dirty="0" smtClean="0">
                <a:solidFill>
                  <a:srgbClr val="00B050"/>
                </a:solidFill>
              </a:rPr>
              <a:t>Wool </a:t>
            </a:r>
            <a:r>
              <a:rPr lang="en-US" sz="2400" b="1" dirty="0">
                <a:solidFill>
                  <a:srgbClr val="00B050"/>
                </a:solidFill>
              </a:rPr>
              <a:t>has the highest thermal conductivity as it lets </a:t>
            </a:r>
            <a:r>
              <a:rPr lang="en-US" sz="2400" b="1" dirty="0" smtClean="0">
                <a:solidFill>
                  <a:srgbClr val="00B050"/>
                </a:solidFill>
              </a:rPr>
              <a:t>thermal energy through </a:t>
            </a:r>
            <a:r>
              <a:rPr lang="en-US" sz="2400" b="1" dirty="0">
                <a:solidFill>
                  <a:srgbClr val="00B050"/>
                </a:solidFill>
              </a:rPr>
              <a:t>at a </a:t>
            </a:r>
            <a:r>
              <a:rPr lang="en-US" sz="2400" b="1" dirty="0" smtClean="0">
                <a:solidFill>
                  <a:srgbClr val="00B050"/>
                </a:solidFill>
              </a:rPr>
              <a:t>faster  </a:t>
            </a:r>
            <a:r>
              <a:rPr lang="en-US" sz="2400" b="1" dirty="0">
                <a:solidFill>
                  <a:srgbClr val="00B050"/>
                </a:solidFill>
              </a:rPr>
              <a:t>rate so a thicker layer is needed for the same insulation as the fiberglass.</a:t>
            </a:r>
          </a:p>
          <a:p>
            <a:r>
              <a:rPr lang="en-US" sz="2400" dirty="0" smtClean="0">
                <a:solidFill>
                  <a:schemeClr val="tx1"/>
                </a:solidFill>
              </a:rPr>
              <a:t>b</a:t>
            </a:r>
            <a:r>
              <a:rPr lang="en-US" sz="2400" dirty="0">
                <a:solidFill>
                  <a:schemeClr val="tx1"/>
                </a:solidFill>
              </a:rPr>
              <a:t>. </a:t>
            </a:r>
            <a:r>
              <a:rPr lang="en-GB" sz="2400" dirty="0">
                <a:solidFill>
                  <a:schemeClr val="tx1"/>
                </a:solidFill>
              </a:rPr>
              <a:t>Explain how trapped air reduces the rate of heat loss, in terms of </a:t>
            </a:r>
            <a:r>
              <a:rPr lang="en-GB" sz="2400" dirty="0" smtClean="0">
                <a:solidFill>
                  <a:schemeClr val="tx1"/>
                </a:solidFill>
              </a:rPr>
              <a:t>thermal </a:t>
            </a:r>
            <a:r>
              <a:rPr lang="en-GB" sz="2400" dirty="0">
                <a:solidFill>
                  <a:schemeClr val="tx1"/>
                </a:solidFill>
              </a:rPr>
              <a:t>conductivity.</a:t>
            </a:r>
          </a:p>
          <a:p>
            <a:r>
              <a:rPr lang="en-US" sz="2400" b="1" dirty="0">
                <a:solidFill>
                  <a:srgbClr val="00B050"/>
                </a:solidFill>
              </a:rPr>
              <a:t>The air trapped inside the fiberglass acts as an insulator because air has </a:t>
            </a:r>
            <a:r>
              <a:rPr lang="en-US" sz="2400" b="1" dirty="0" smtClean="0">
                <a:solidFill>
                  <a:srgbClr val="00B050"/>
                </a:solidFill>
              </a:rPr>
              <a:t>a </a:t>
            </a:r>
            <a:r>
              <a:rPr lang="en-US" sz="2400" b="1" dirty="0">
                <a:solidFill>
                  <a:srgbClr val="00B050"/>
                </a:solidFill>
              </a:rPr>
              <a:t>very low thermal conductivity and thermal energy can not pass through </a:t>
            </a:r>
            <a:r>
              <a:rPr lang="en-US" sz="2400" b="1" dirty="0" smtClean="0">
                <a:solidFill>
                  <a:srgbClr val="00B050"/>
                </a:solidFill>
              </a:rPr>
              <a:t>it </a:t>
            </a:r>
            <a:r>
              <a:rPr lang="en-US" sz="2400" b="1" dirty="0">
                <a:solidFill>
                  <a:srgbClr val="00B050"/>
                </a:solidFill>
              </a:rPr>
              <a:t>easily.    </a:t>
            </a:r>
            <a:endParaRPr lang="en-US" altLang="en-US" sz="2400" b="1" dirty="0">
              <a:solidFill>
                <a:srgbClr val="00B050"/>
              </a:solidFill>
              <a:latin typeface="Calibri" panose="020F0502020204030204" pitchFamily="34" charset="0"/>
              <a:cs typeface="Times New Roman" panose="02020603050405020304" pitchFamily="18" charset="0"/>
            </a:endParaRPr>
          </a:p>
          <a:p>
            <a:endParaRPr lang="en-US" sz="2400" dirty="0">
              <a:solidFill>
                <a:schemeClr val="tx1"/>
              </a:solidFill>
            </a:endParaRPr>
          </a:p>
          <a:p>
            <a:endParaRPr lang="en-US" sz="2400" dirty="0">
              <a:solidFill>
                <a:schemeClr val="tx1"/>
              </a:solidFill>
            </a:endParaRPr>
          </a:p>
        </p:txBody>
      </p:sp>
      <p:pic>
        <p:nvPicPr>
          <p:cNvPr id="14" name="Picture 13" descr="Image result for comparing loft insulation ">
            <a:extLst>
              <a:ext uri="{FF2B5EF4-FFF2-40B4-BE49-F238E27FC236}">
                <a16:creationId xmlns:a16="http://schemas.microsoft.com/office/drawing/2014/main" xmlns="" id="{1B1CE272-1F9A-4AB8-ABFB-427A3742872E}"/>
              </a:ext>
            </a:extLst>
          </p:cNvPr>
          <p:cNvPicPr/>
          <p:nvPr/>
        </p:nvPicPr>
        <p:blipFill>
          <a:blip r:embed="rId3"/>
          <a:srcRect/>
          <a:stretch>
            <a:fillRect/>
          </a:stretch>
        </p:blipFill>
        <p:spPr bwMode="auto">
          <a:xfrm>
            <a:off x="2411760" y="1556792"/>
            <a:ext cx="1228725" cy="952500"/>
          </a:xfrm>
          <a:prstGeom prst="rect">
            <a:avLst/>
          </a:prstGeom>
          <a:noFill/>
          <a:ln w="9525">
            <a:noFill/>
            <a:miter lim="800000"/>
            <a:headEnd/>
            <a:tailEnd/>
          </a:ln>
        </p:spPr>
      </p:pic>
      <p:pic>
        <p:nvPicPr>
          <p:cNvPr id="15" name="Picture 14" descr="Image result for comparing loft insulation ">
            <a:extLst>
              <a:ext uri="{FF2B5EF4-FFF2-40B4-BE49-F238E27FC236}">
                <a16:creationId xmlns:a16="http://schemas.microsoft.com/office/drawing/2014/main" xmlns="" id="{A3072BCA-353F-462E-8164-2B02B7209B5D}"/>
              </a:ext>
            </a:extLst>
          </p:cNvPr>
          <p:cNvPicPr/>
          <p:nvPr/>
        </p:nvPicPr>
        <p:blipFill>
          <a:blip r:embed="rId4"/>
          <a:srcRect/>
          <a:stretch>
            <a:fillRect/>
          </a:stretch>
        </p:blipFill>
        <p:spPr bwMode="auto">
          <a:xfrm>
            <a:off x="4860032" y="1556792"/>
            <a:ext cx="1238250" cy="962025"/>
          </a:xfrm>
          <a:prstGeom prst="rect">
            <a:avLst/>
          </a:prstGeom>
          <a:noFill/>
          <a:ln w="9525">
            <a:noFill/>
            <a:miter lim="800000"/>
            <a:headEnd/>
            <a:tailEnd/>
          </a:ln>
        </p:spPr>
      </p:pic>
      <p:sp>
        <p:nvSpPr>
          <p:cNvPr id="7"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Conservation and Dissipation of Energy - </a:t>
            </a:r>
            <a:r>
              <a:rPr lang="en-US" sz="2800" b="1" dirty="0" smtClean="0">
                <a:solidFill>
                  <a:schemeClr val="tx1"/>
                </a:solidFill>
                <a:latin typeface="+mn-lt"/>
              </a:rPr>
              <a:t>AnswerIT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2060881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Rectangle 143"/>
          <p:cNvSpPr/>
          <p:nvPr/>
        </p:nvSpPr>
        <p:spPr>
          <a:xfrm>
            <a:off x="107504" y="741508"/>
            <a:ext cx="8928992" cy="32781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lvl="0" eaLnBrk="0" fontAlgn="base" hangingPunct="0">
              <a:spcBef>
                <a:spcPct val="0"/>
              </a:spcBef>
              <a:spcAft>
                <a:spcPct val="0"/>
              </a:spcAft>
            </a:pPr>
            <a:r>
              <a:rPr lang="en-US" altLang="en-US" sz="2800" dirty="0">
                <a:solidFill>
                  <a:schemeClr val="tx1"/>
                </a:solidFill>
                <a:ea typeface="Times New Roman" panose="02020603050405020304" pitchFamily="18" charset="0"/>
                <a:cs typeface="Times New Roman" panose="02020603050405020304" pitchFamily="18" charset="0"/>
              </a:rPr>
              <a:t>6. </a:t>
            </a:r>
            <a:r>
              <a:rPr lang="en-US" altLang="en-US" sz="2400" dirty="0">
                <a:solidFill>
                  <a:schemeClr val="tx1"/>
                </a:solidFill>
                <a:ea typeface="Times New Roman" panose="02020603050405020304" pitchFamily="18" charset="0"/>
                <a:cs typeface="Times New Roman" panose="02020603050405020304" pitchFamily="18" charset="0"/>
              </a:rPr>
              <a:t>The diagram represents the energy store transfers when a motor is lifting a weight.</a:t>
            </a: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lvl="0" eaLnBrk="0" fontAlgn="base" hangingPunct="0">
              <a:spcBef>
                <a:spcPct val="0"/>
              </a:spcBef>
              <a:spcAft>
                <a:spcPct val="0"/>
              </a:spcAft>
            </a:pPr>
            <a:endParaRPr lang="en-US" sz="2400" dirty="0">
              <a:solidFill>
                <a:schemeClr val="tx1"/>
              </a:solidFill>
              <a:cs typeface="Times New Roman" panose="02020603050405020304" pitchFamily="18" charset="0"/>
            </a:endParaRPr>
          </a:p>
          <a:p>
            <a:pPr marL="457200" indent="-457200">
              <a:buAutoNum type="alphaLcPeriod"/>
            </a:pPr>
            <a:r>
              <a:rPr lang="en-US" sz="2400" dirty="0" smtClean="0">
                <a:solidFill>
                  <a:schemeClr val="tx1"/>
                </a:solidFill>
              </a:rPr>
              <a:t>How </a:t>
            </a:r>
            <a:r>
              <a:rPr lang="en-US" sz="2400" dirty="0">
                <a:solidFill>
                  <a:schemeClr val="tx1"/>
                </a:solidFill>
              </a:rPr>
              <a:t>much electrical energy is transferred to a thermal energy store</a:t>
            </a:r>
            <a:r>
              <a:rPr lang="en-US" sz="2400" dirty="0" smtClean="0">
                <a:solidFill>
                  <a:schemeClr val="tx1"/>
                </a:solidFill>
              </a:rPr>
              <a:t>?</a:t>
            </a:r>
          </a:p>
          <a:p>
            <a:pPr lvl="0" algn="ctr"/>
            <a:r>
              <a:rPr lang="en-US" sz="2400" dirty="0">
                <a:solidFill>
                  <a:schemeClr val="tx1"/>
                </a:solidFill>
              </a:rPr>
              <a:t>  </a:t>
            </a:r>
            <a:r>
              <a:rPr lang="en-US" sz="2400" dirty="0"/>
              <a:t> </a:t>
            </a:r>
            <a:r>
              <a:rPr lang="en-US" sz="2400" b="1" dirty="0">
                <a:solidFill>
                  <a:srgbClr val="00B050"/>
                </a:solidFill>
              </a:rPr>
              <a:t>340 – (100 + 80)   = 160 </a:t>
            </a:r>
            <a:r>
              <a:rPr lang="en-US" sz="2400" b="1" dirty="0" smtClean="0">
                <a:solidFill>
                  <a:srgbClr val="00B050"/>
                </a:solidFill>
              </a:rPr>
              <a:t>J</a:t>
            </a:r>
          </a:p>
          <a:p>
            <a:pPr marL="457200" indent="-457200">
              <a:buAutoNum type="alphaLcPeriod" startAt="2"/>
            </a:pPr>
            <a:r>
              <a:rPr lang="en-US" sz="2400" dirty="0" smtClean="0">
                <a:solidFill>
                  <a:schemeClr val="tx1"/>
                </a:solidFill>
              </a:rPr>
              <a:t>What </a:t>
            </a:r>
            <a:r>
              <a:rPr lang="en-US" sz="2400" dirty="0">
                <a:solidFill>
                  <a:schemeClr val="tx1"/>
                </a:solidFill>
              </a:rPr>
              <a:t>is the total amount of dissipated energy? </a:t>
            </a:r>
            <a:endParaRPr lang="en-US" sz="2400" dirty="0" smtClean="0">
              <a:solidFill>
                <a:schemeClr val="tx1"/>
              </a:solidFill>
            </a:endParaRPr>
          </a:p>
          <a:p>
            <a:pPr algn="ctr"/>
            <a:r>
              <a:rPr lang="en-US" sz="2400" b="1" dirty="0">
                <a:solidFill>
                  <a:srgbClr val="00B050"/>
                </a:solidFill>
              </a:rPr>
              <a:t>160 + 80 = 240 J</a:t>
            </a:r>
            <a:endParaRPr lang="en-US" sz="2400" dirty="0">
              <a:solidFill>
                <a:schemeClr val="tx1"/>
              </a:solidFill>
            </a:endParaRPr>
          </a:p>
          <a:p>
            <a:r>
              <a:rPr lang="en-US" sz="2400" dirty="0">
                <a:solidFill>
                  <a:schemeClr val="tx1"/>
                </a:solidFill>
              </a:rPr>
              <a:t>c. </a:t>
            </a:r>
            <a:r>
              <a:rPr lang="en-US" sz="2400" dirty="0" smtClean="0">
                <a:solidFill>
                  <a:schemeClr val="tx1"/>
                </a:solidFill>
              </a:rPr>
              <a:t>   Calculate </a:t>
            </a:r>
            <a:r>
              <a:rPr lang="en-US" sz="2400" dirty="0">
                <a:solidFill>
                  <a:schemeClr val="tx1"/>
                </a:solidFill>
              </a:rPr>
              <a:t>the efficiency the of the useful energy transfer </a:t>
            </a:r>
          </a:p>
          <a:p>
            <a:r>
              <a:rPr lang="en-GB" sz="2400" b="1" dirty="0">
                <a:solidFill>
                  <a:srgbClr val="00B050"/>
                </a:solidFill>
              </a:rPr>
              <a:t>Efficiency = </a:t>
            </a:r>
            <a:r>
              <a:rPr lang="en-GB" sz="2400" b="1" u="sng" dirty="0">
                <a:solidFill>
                  <a:srgbClr val="00B050"/>
                </a:solidFill>
              </a:rPr>
              <a:t>useful output energy transferred</a:t>
            </a:r>
            <a:r>
              <a:rPr lang="en-GB" sz="2400" b="1" dirty="0">
                <a:solidFill>
                  <a:srgbClr val="00B050"/>
                </a:solidFill>
              </a:rPr>
              <a:t>  =  </a:t>
            </a:r>
            <a:r>
              <a:rPr lang="en-GB" sz="2400" b="1" u="sng" dirty="0">
                <a:solidFill>
                  <a:srgbClr val="00B050"/>
                </a:solidFill>
              </a:rPr>
              <a:t>100</a:t>
            </a:r>
            <a:r>
              <a:rPr lang="en-GB" sz="2400" b="1" dirty="0">
                <a:solidFill>
                  <a:srgbClr val="00B050"/>
                </a:solidFill>
              </a:rPr>
              <a:t>   =   0.294</a:t>
            </a:r>
          </a:p>
          <a:p>
            <a:r>
              <a:rPr lang="en-GB" sz="2400" b="1" dirty="0">
                <a:solidFill>
                  <a:srgbClr val="00B050"/>
                </a:solidFill>
              </a:rPr>
              <a:t>                          	 total energy transfer input             340</a:t>
            </a:r>
            <a:endParaRPr lang="en-GB" sz="2400" b="1" u="sng" dirty="0">
              <a:solidFill>
                <a:srgbClr val="00B050"/>
              </a:solidFill>
            </a:endParaRPr>
          </a:p>
          <a:p>
            <a:endParaRPr lang="en-US" sz="2400" dirty="0">
              <a:solidFill>
                <a:schemeClr val="tx1"/>
              </a:solidFill>
            </a:endParaRPr>
          </a:p>
          <a:p>
            <a:endParaRPr lang="en-US" sz="2400" dirty="0">
              <a:solidFill>
                <a:schemeClr val="tx1"/>
              </a:solidFill>
            </a:endParaRPr>
          </a:p>
        </p:txBody>
      </p:sp>
      <p:sp>
        <p:nvSpPr>
          <p:cNvPr id="143" name="Title 1"/>
          <p:cNvSpPr>
            <a:spLocks noGrp="1"/>
          </p:cNvSpPr>
          <p:nvPr>
            <p:ph type="ctrTitle"/>
          </p:nvPr>
        </p:nvSpPr>
        <p:spPr>
          <a:xfrm>
            <a:off x="251521" y="52786"/>
            <a:ext cx="8784976" cy="657041"/>
          </a:xfrm>
        </p:spPr>
        <p:txBody>
          <a:bodyPr>
            <a:noAutofit/>
          </a:bodyPr>
          <a:lstStyle/>
          <a:p>
            <a:pPr marL="342900" lvl="1" algn="r" defTabSz="342900" rtl="0">
              <a:spcBef>
                <a:spcPct val="20000"/>
              </a:spcBef>
            </a:pPr>
            <a:r>
              <a:rPr lang="en-US" sz="2800" b="1" dirty="0" smtClean="0">
                <a:solidFill>
                  <a:schemeClr val="accent6"/>
                </a:solidFill>
                <a:latin typeface="+mn-lt"/>
              </a:rPr>
              <a:t>    Conservation and Dissipation of Energy - </a:t>
            </a:r>
            <a:r>
              <a:rPr lang="en-US" sz="2800" b="1" dirty="0" smtClean="0">
                <a:solidFill>
                  <a:schemeClr val="tx1"/>
                </a:solidFill>
                <a:latin typeface="+mn-lt"/>
              </a:rPr>
              <a:t>AnswerIT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pic>
        <p:nvPicPr>
          <p:cNvPr id="2" name="Picture 1"/>
          <p:cNvPicPr>
            <a:picLocks noChangeAspect="1"/>
          </p:cNvPicPr>
          <p:nvPr/>
        </p:nvPicPr>
        <p:blipFill>
          <a:blip r:embed="rId3"/>
          <a:stretch>
            <a:fillRect/>
          </a:stretch>
        </p:blipFill>
        <p:spPr>
          <a:xfrm>
            <a:off x="2071824" y="1445226"/>
            <a:ext cx="5000352" cy="1870761"/>
          </a:xfrm>
          <a:prstGeom prst="rect">
            <a:avLst/>
          </a:prstGeom>
        </p:spPr>
      </p:pic>
    </p:spTree>
    <p:extLst>
      <p:ext uri="{BB962C8B-B14F-4D97-AF65-F5344CB8AC3E}">
        <p14:creationId xmlns:p14="http://schemas.microsoft.com/office/powerpoint/2010/main" val="20830037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xmlns="" id="{05B9A42E-A284-4D33-8E21-D83BA6287A31}"/>
              </a:ext>
            </a:extLst>
          </p:cNvPr>
          <p:cNvSpPr>
            <a:spLocks noChangeArrowheads="1"/>
          </p:cNvSpPr>
          <p:nvPr/>
        </p:nvSpPr>
        <p:spPr bwMode="auto">
          <a:xfrm>
            <a:off x="179512" y="918592"/>
            <a:ext cx="8856984"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a:p>
            <a:r>
              <a:rPr lang="en-US" dirty="0"/>
              <a:t> </a:t>
            </a:r>
          </a:p>
          <a:p>
            <a:endParaRPr lang="en-GB"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latin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xmlns="" id="{1397B152-5732-44F0-BEDE-974D31D9ADF1}"/>
              </a:ext>
            </a:extLst>
          </p:cNvPr>
          <p:cNvSpPr/>
          <p:nvPr/>
        </p:nvSpPr>
        <p:spPr>
          <a:xfrm>
            <a:off x="22909" y="709827"/>
            <a:ext cx="8972585" cy="5878532"/>
          </a:xfrm>
          <a:prstGeom prst="rect">
            <a:avLst/>
          </a:prstGeom>
        </p:spPr>
        <p:txBody>
          <a:bodyPr wrap="square">
            <a:spAutoFit/>
          </a:bodyPr>
          <a:lstStyle/>
          <a:p>
            <a:r>
              <a:rPr lang="en-GB" sz="2400" dirty="0">
                <a:ea typeface="Times New Roman" panose="02020603050405020304" pitchFamily="18" charset="0"/>
                <a:cs typeface="Times New Roman" panose="02020603050405020304" pitchFamily="18" charset="0"/>
              </a:rPr>
              <a:t>7. The motor for a lift in a tall building uses 12 000 W of power. The lift and </a:t>
            </a:r>
            <a:r>
              <a:rPr lang="en-GB" sz="2400" dirty="0" smtClean="0">
                <a:ea typeface="Times New Roman" panose="02020603050405020304" pitchFamily="18" charset="0"/>
                <a:cs typeface="Times New Roman" panose="02020603050405020304" pitchFamily="18" charset="0"/>
              </a:rPr>
              <a:t>its </a:t>
            </a:r>
            <a:r>
              <a:rPr lang="en-GB" sz="2400" dirty="0">
                <a:ea typeface="Times New Roman" panose="02020603050405020304" pitchFamily="18" charset="0"/>
                <a:cs typeface="Times New Roman" panose="02020603050405020304" pitchFamily="18" charset="0"/>
              </a:rPr>
              <a:t>passengers has a mass of 500 kg. </a:t>
            </a:r>
            <a:r>
              <a:rPr lang="en-GB" sz="2400" dirty="0" smtClean="0">
                <a:ea typeface="Times New Roman" panose="02020603050405020304" pitchFamily="18" charset="0"/>
                <a:cs typeface="Times New Roman" panose="02020603050405020304" pitchFamily="18" charset="0"/>
              </a:rPr>
              <a:t>The </a:t>
            </a:r>
            <a:r>
              <a:rPr lang="en-GB" sz="2400" dirty="0">
                <a:ea typeface="Times New Roman" panose="02020603050405020304" pitchFamily="18" charset="0"/>
                <a:cs typeface="Times New Roman" panose="02020603050405020304" pitchFamily="18" charset="0"/>
              </a:rPr>
              <a:t>lift motor takes 10 s to raise the lift and </a:t>
            </a:r>
            <a:r>
              <a:rPr lang="en-GB" sz="2400" dirty="0" smtClean="0">
                <a:ea typeface="Times New Roman" panose="02020603050405020304" pitchFamily="18" charset="0"/>
                <a:cs typeface="Times New Roman" panose="02020603050405020304" pitchFamily="18" charset="0"/>
              </a:rPr>
              <a:t>its passengers </a:t>
            </a:r>
            <a:r>
              <a:rPr lang="en-GB" sz="2400" dirty="0">
                <a:ea typeface="Times New Roman" panose="02020603050405020304" pitchFamily="18" charset="0"/>
                <a:cs typeface="Times New Roman" panose="02020603050405020304" pitchFamily="18" charset="0"/>
              </a:rPr>
              <a:t>through a height of 20 m</a:t>
            </a:r>
            <a:r>
              <a:rPr lang="en-GB" sz="2400" dirty="0" smtClean="0">
                <a:ea typeface="Times New Roman" panose="02020603050405020304" pitchFamily="18" charset="0"/>
                <a:cs typeface="Times New Roman" panose="02020603050405020304" pitchFamily="18" charset="0"/>
              </a:rPr>
              <a:t>.</a:t>
            </a:r>
          </a:p>
          <a:p>
            <a:r>
              <a:rPr lang="en-GB" sz="2400" dirty="0" smtClean="0">
                <a:ea typeface="Times New Roman" panose="02020603050405020304" pitchFamily="18" charset="0"/>
                <a:cs typeface="Times New Roman" panose="02020603050405020304" pitchFamily="18" charset="0"/>
              </a:rPr>
              <a:t> Work </a:t>
            </a:r>
            <a:r>
              <a:rPr lang="en-GB" sz="2400" dirty="0">
                <a:ea typeface="Times New Roman" panose="02020603050405020304" pitchFamily="18" charset="0"/>
                <a:cs typeface="Times New Roman" panose="02020603050405020304" pitchFamily="18" charset="0"/>
              </a:rPr>
              <a:t>out the percentage efficiency of </a:t>
            </a:r>
            <a:r>
              <a:rPr lang="en-GB" sz="2400" dirty="0" smtClean="0">
                <a:ea typeface="Times New Roman" panose="02020603050405020304" pitchFamily="18" charset="0"/>
                <a:cs typeface="Times New Roman" panose="02020603050405020304" pitchFamily="18" charset="0"/>
              </a:rPr>
              <a:t>the </a:t>
            </a:r>
            <a:r>
              <a:rPr lang="en-GB" sz="2400" dirty="0">
                <a:ea typeface="Times New Roman" panose="02020603050405020304" pitchFamily="18" charset="0"/>
                <a:cs typeface="Times New Roman" panose="02020603050405020304" pitchFamily="18" charset="0"/>
              </a:rPr>
              <a:t>lift motor. </a:t>
            </a:r>
          </a:p>
          <a:p>
            <a:r>
              <a:rPr lang="en-GB" sz="2400" dirty="0">
                <a:cs typeface="Times New Roman" panose="02020603050405020304" pitchFamily="18" charset="0"/>
              </a:rPr>
              <a:t>     </a:t>
            </a:r>
            <a:r>
              <a:rPr lang="en-GB" sz="2000" b="1" dirty="0">
                <a:solidFill>
                  <a:srgbClr val="00B050"/>
                </a:solidFill>
                <a:cs typeface="Times New Roman" panose="02020603050405020304" pitchFamily="18" charset="0"/>
              </a:rPr>
              <a:t>Efficiency = </a:t>
            </a:r>
            <a:r>
              <a:rPr lang="en-GB" sz="2000" b="1" u="sng" dirty="0">
                <a:solidFill>
                  <a:srgbClr val="00B050"/>
                </a:solidFill>
                <a:cs typeface="Times New Roman" panose="02020603050405020304" pitchFamily="18" charset="0"/>
              </a:rPr>
              <a:t>power out x 100</a:t>
            </a:r>
            <a:r>
              <a:rPr lang="en-GB" sz="2000" b="1" dirty="0">
                <a:solidFill>
                  <a:srgbClr val="00B050"/>
                </a:solidFill>
                <a:cs typeface="Times New Roman" panose="02020603050405020304" pitchFamily="18" charset="0"/>
              </a:rPr>
              <a:t>      Power out = </a:t>
            </a:r>
            <a:r>
              <a:rPr lang="en-GB" sz="2000" b="1" u="sng" dirty="0">
                <a:solidFill>
                  <a:srgbClr val="00B050"/>
                </a:solidFill>
                <a:cs typeface="Times New Roman" panose="02020603050405020304" pitchFamily="18" charset="0"/>
              </a:rPr>
              <a:t>work</a:t>
            </a:r>
            <a:r>
              <a:rPr lang="en-GB" sz="2000" b="1" dirty="0">
                <a:solidFill>
                  <a:srgbClr val="00B050"/>
                </a:solidFill>
                <a:cs typeface="Times New Roman" panose="02020603050405020304" pitchFamily="18" charset="0"/>
              </a:rPr>
              <a:t>   </a:t>
            </a:r>
            <a:r>
              <a:rPr lang="en-GB" sz="2000" b="1" i="1" dirty="0">
                <a:solidFill>
                  <a:srgbClr val="00B050"/>
                </a:solidFill>
                <a:cs typeface="Times New Roman" panose="02020603050405020304" pitchFamily="18" charset="0"/>
              </a:rPr>
              <a:t>work = force x distance</a:t>
            </a:r>
          </a:p>
          <a:p>
            <a:r>
              <a:rPr lang="en-GB" sz="2000" b="1" dirty="0">
                <a:solidFill>
                  <a:srgbClr val="00B050"/>
                </a:solidFill>
                <a:cs typeface="Times New Roman" panose="02020603050405020304" pitchFamily="18" charset="0"/>
              </a:rPr>
              <a:t>                                  power in 		        time</a:t>
            </a:r>
          </a:p>
          <a:p>
            <a:endParaRPr lang="en-GB" sz="2000" b="1" dirty="0">
              <a:solidFill>
                <a:srgbClr val="00B050"/>
              </a:solidFill>
              <a:cs typeface="Times New Roman" panose="02020603050405020304" pitchFamily="18" charset="0"/>
            </a:endParaRPr>
          </a:p>
          <a:p>
            <a:r>
              <a:rPr lang="en-GB" sz="2000" b="1" dirty="0">
                <a:solidFill>
                  <a:srgbClr val="00B050"/>
                </a:solidFill>
                <a:cs typeface="Times New Roman" panose="02020603050405020304" pitchFamily="18" charset="0"/>
              </a:rPr>
              <a:t>       Power out = </a:t>
            </a:r>
            <a:r>
              <a:rPr lang="en-GB" sz="2000" b="1" u="sng" dirty="0">
                <a:solidFill>
                  <a:srgbClr val="00B050"/>
                </a:solidFill>
                <a:cs typeface="Times New Roman" panose="02020603050405020304" pitchFamily="18" charset="0"/>
              </a:rPr>
              <a:t>5000 N x 20 m</a:t>
            </a:r>
            <a:r>
              <a:rPr lang="en-GB" sz="2000" b="1" dirty="0">
                <a:solidFill>
                  <a:srgbClr val="00B050"/>
                </a:solidFill>
                <a:cs typeface="Times New Roman" panose="02020603050405020304" pitchFamily="18" charset="0"/>
              </a:rPr>
              <a:t>  = 10 000 W         Efficiency = </a:t>
            </a:r>
            <a:r>
              <a:rPr lang="en-GB" sz="2000" b="1" u="sng" dirty="0">
                <a:solidFill>
                  <a:srgbClr val="00B050"/>
                </a:solidFill>
                <a:cs typeface="Times New Roman" panose="02020603050405020304" pitchFamily="18" charset="0"/>
              </a:rPr>
              <a:t>10 000 x 100</a:t>
            </a:r>
            <a:r>
              <a:rPr lang="en-GB" sz="2000" b="1" dirty="0">
                <a:solidFill>
                  <a:srgbClr val="00B050"/>
                </a:solidFill>
                <a:cs typeface="Times New Roman" panose="02020603050405020304" pitchFamily="18" charset="0"/>
              </a:rPr>
              <a:t>  = 83 %</a:t>
            </a:r>
          </a:p>
          <a:p>
            <a:r>
              <a:rPr lang="en-GB" sz="2000" b="1" dirty="0">
                <a:solidFill>
                  <a:srgbClr val="00B050"/>
                </a:solidFill>
                <a:cs typeface="Times New Roman" panose="02020603050405020304" pitchFamily="18" charset="0"/>
              </a:rPr>
              <a:t>		      10 s				                12 000</a:t>
            </a:r>
          </a:p>
          <a:p>
            <a:r>
              <a:rPr lang="en-GB" sz="2400" dirty="0" smtClean="0">
                <a:cs typeface="Times New Roman" panose="02020603050405020304" pitchFamily="18" charset="0"/>
              </a:rPr>
              <a:t>8</a:t>
            </a:r>
            <a:r>
              <a:rPr lang="en-GB" sz="2400" dirty="0">
                <a:cs typeface="Times New Roman" panose="02020603050405020304" pitchFamily="18" charset="0"/>
              </a:rPr>
              <a:t>. The low energy bulb below uses 18 000 J of energy in one hour. If the </a:t>
            </a:r>
            <a:r>
              <a:rPr lang="en-GB" sz="2400" dirty="0" smtClean="0">
                <a:cs typeface="Times New Roman" panose="02020603050405020304" pitchFamily="18" charset="0"/>
              </a:rPr>
              <a:t>efficiency of </a:t>
            </a:r>
            <a:r>
              <a:rPr lang="en-GB" sz="2400" dirty="0">
                <a:cs typeface="Times New Roman" panose="02020603050405020304" pitchFamily="18" charset="0"/>
              </a:rPr>
              <a:t>the low energy bulb is 78 </a:t>
            </a:r>
            <a:r>
              <a:rPr lang="en-GB" sz="2400" dirty="0" smtClean="0">
                <a:cs typeface="Times New Roman" panose="02020603050405020304" pitchFamily="18" charset="0"/>
              </a:rPr>
              <a:t>%.</a:t>
            </a:r>
          </a:p>
          <a:p>
            <a:r>
              <a:rPr lang="en-GB" sz="2400" dirty="0" smtClean="0">
                <a:cs typeface="Times New Roman" panose="02020603050405020304" pitchFamily="18" charset="0"/>
              </a:rPr>
              <a:t>Work </a:t>
            </a:r>
            <a:r>
              <a:rPr lang="en-GB" sz="2400" dirty="0">
                <a:cs typeface="Times New Roman" panose="02020603050405020304" pitchFamily="18" charset="0"/>
              </a:rPr>
              <a:t>out the amount of light energy given off by </a:t>
            </a:r>
            <a:r>
              <a:rPr lang="en-GB" sz="2400" dirty="0" smtClean="0">
                <a:cs typeface="Times New Roman" panose="02020603050405020304" pitchFamily="18" charset="0"/>
              </a:rPr>
              <a:t>the </a:t>
            </a:r>
            <a:r>
              <a:rPr lang="en-GB" sz="2400" dirty="0">
                <a:cs typeface="Times New Roman" panose="02020603050405020304" pitchFamily="18" charset="0"/>
              </a:rPr>
              <a:t>bulb in one </a:t>
            </a:r>
            <a:r>
              <a:rPr lang="en-GB" sz="2400" dirty="0" smtClean="0">
                <a:cs typeface="Times New Roman" panose="02020603050405020304" pitchFamily="18" charset="0"/>
              </a:rPr>
              <a:t>hours.</a:t>
            </a:r>
            <a:endParaRPr lang="en-GB" sz="2400" dirty="0">
              <a:cs typeface="Times New Roman" panose="02020603050405020304" pitchFamily="18" charset="0"/>
            </a:endParaRPr>
          </a:p>
          <a:p>
            <a:r>
              <a:rPr lang="en-GB" sz="2000" b="1" dirty="0">
                <a:solidFill>
                  <a:srgbClr val="00B050"/>
                </a:solidFill>
                <a:cs typeface="Times New Roman" panose="02020603050405020304" pitchFamily="18" charset="0"/>
              </a:rPr>
              <a:t>Efficiency = </a:t>
            </a:r>
            <a:r>
              <a:rPr lang="en-GB" sz="2000" b="1" u="sng" dirty="0">
                <a:solidFill>
                  <a:srgbClr val="00B050"/>
                </a:solidFill>
                <a:cs typeface="Times New Roman" panose="02020603050405020304" pitchFamily="18" charset="0"/>
              </a:rPr>
              <a:t>energy out x 100</a:t>
            </a:r>
            <a:r>
              <a:rPr lang="en-GB" sz="2000" b="1" dirty="0">
                <a:solidFill>
                  <a:srgbClr val="00B050"/>
                </a:solidFill>
                <a:cs typeface="Times New Roman" panose="02020603050405020304" pitchFamily="18" charset="0"/>
              </a:rPr>
              <a:t>        energy out = </a:t>
            </a:r>
            <a:r>
              <a:rPr lang="en-GB" sz="2000" b="1" u="sng" dirty="0">
                <a:solidFill>
                  <a:srgbClr val="00B050"/>
                </a:solidFill>
                <a:cs typeface="Times New Roman" panose="02020603050405020304" pitchFamily="18" charset="0"/>
              </a:rPr>
              <a:t>efficiency x energy in</a:t>
            </a:r>
          </a:p>
          <a:p>
            <a:r>
              <a:rPr lang="en-GB" sz="2000" b="1" dirty="0">
                <a:solidFill>
                  <a:srgbClr val="00B050"/>
                </a:solidFill>
                <a:cs typeface="Times New Roman" panose="02020603050405020304" pitchFamily="18" charset="0"/>
              </a:rPr>
              <a:t>	             energy in				    100</a:t>
            </a:r>
          </a:p>
          <a:p>
            <a:r>
              <a:rPr lang="en-GB" sz="2000" b="1" dirty="0" smtClean="0">
                <a:solidFill>
                  <a:srgbClr val="00B050"/>
                </a:solidFill>
                <a:cs typeface="Times New Roman" panose="02020603050405020304" pitchFamily="18" charset="0"/>
              </a:rPr>
              <a:t>                                      </a:t>
            </a:r>
            <a:r>
              <a:rPr lang="en-GB" sz="2000" b="1" dirty="0">
                <a:solidFill>
                  <a:srgbClr val="00B050"/>
                </a:solidFill>
                <a:cs typeface="Times New Roman" panose="02020603050405020304" pitchFamily="18" charset="0"/>
              </a:rPr>
              <a:t>Energy out = </a:t>
            </a:r>
            <a:r>
              <a:rPr lang="en-GB" sz="2000" b="1" u="sng" dirty="0">
                <a:solidFill>
                  <a:srgbClr val="00B050"/>
                </a:solidFill>
                <a:cs typeface="Times New Roman" panose="02020603050405020304" pitchFamily="18" charset="0"/>
              </a:rPr>
              <a:t>78 x 18 000 J</a:t>
            </a:r>
            <a:r>
              <a:rPr lang="en-GB" sz="2000" b="1" dirty="0">
                <a:solidFill>
                  <a:srgbClr val="00B050"/>
                </a:solidFill>
                <a:cs typeface="Times New Roman" panose="02020603050405020304" pitchFamily="18" charset="0"/>
              </a:rPr>
              <a:t>  = 14 040 J		                                                                    </a:t>
            </a:r>
          </a:p>
          <a:p>
            <a:r>
              <a:rPr lang="en-GB" sz="2000" b="1" dirty="0">
                <a:solidFill>
                  <a:srgbClr val="00B050"/>
                </a:solidFill>
                <a:cs typeface="Times New Roman" panose="02020603050405020304" pitchFamily="18" charset="0"/>
              </a:rPr>
              <a:t> 				      100     </a:t>
            </a:r>
            <a:endParaRPr lang="en-GB" sz="2400" dirty="0">
              <a:solidFill>
                <a:srgbClr val="00B050"/>
              </a:solidFill>
            </a:endParaRPr>
          </a:p>
        </p:txBody>
      </p:sp>
      <p:pic>
        <p:nvPicPr>
          <p:cNvPr id="143" name="Picture 142" descr="https://upload.wikimedia.org/wikipedia/commons/3/31/06_Spiral_CFL_Bulb_2010-03-08_(white_back).jpg">
            <a:extLst>
              <a:ext uri="{FF2B5EF4-FFF2-40B4-BE49-F238E27FC236}">
                <a16:creationId xmlns:a16="http://schemas.microsoft.com/office/drawing/2014/main" xmlns="" id="{94E50BA6-12B5-49C7-89BD-77F5DB7B45C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84368" y="4941168"/>
            <a:ext cx="857617" cy="1440160"/>
          </a:xfrm>
          <a:prstGeom prst="rect">
            <a:avLst/>
          </a:prstGeom>
          <a:noFill/>
          <a:ln>
            <a:noFill/>
          </a:ln>
        </p:spPr>
      </p:pic>
      <p:sp>
        <p:nvSpPr>
          <p:cNvPr id="7" name="Title 1"/>
          <p:cNvSpPr>
            <a:spLocks noGrp="1"/>
          </p:cNvSpPr>
          <p:nvPr>
            <p:ph type="ctrTitle"/>
          </p:nvPr>
        </p:nvSpPr>
        <p:spPr>
          <a:xfrm>
            <a:off x="251520" y="52786"/>
            <a:ext cx="8900577" cy="657041"/>
          </a:xfrm>
        </p:spPr>
        <p:txBody>
          <a:bodyPr>
            <a:noAutofit/>
          </a:bodyPr>
          <a:lstStyle/>
          <a:p>
            <a:pPr marL="342900" lvl="1" algn="r" defTabSz="342900" rtl="0">
              <a:spcBef>
                <a:spcPct val="20000"/>
              </a:spcBef>
            </a:pPr>
            <a:r>
              <a:rPr lang="en-US" sz="2800" b="1" dirty="0" smtClean="0">
                <a:solidFill>
                  <a:schemeClr val="accent6"/>
                </a:solidFill>
                <a:latin typeface="+mn-lt"/>
              </a:rPr>
              <a:t>    </a:t>
            </a:r>
            <a:r>
              <a:rPr lang="en-US" sz="2800" b="1" smtClean="0">
                <a:solidFill>
                  <a:schemeClr val="accent6"/>
                </a:solidFill>
                <a:latin typeface="+mn-lt"/>
              </a:rPr>
              <a:t>Conservation and Dissipation of Energy - </a:t>
            </a:r>
            <a:r>
              <a:rPr lang="en-US" sz="2800" b="1" dirty="0" smtClean="0">
                <a:solidFill>
                  <a:schemeClr val="tx1"/>
                </a:solidFill>
                <a:latin typeface="+mn-lt"/>
              </a:rPr>
              <a:t>QuestionIT</a:t>
            </a:r>
            <a:endParaRPr kumimoji="0" lang="en-US" sz="2800" b="1" i="0" u="none" strike="noStrike" kern="1200" cap="none" spc="0" normalizeH="0" baseline="0" noProof="0" dirty="0">
              <a:ln>
                <a:noFill/>
              </a:ln>
              <a:solidFill>
                <a:schemeClr val="tx1"/>
              </a:solidFill>
              <a:effectLst/>
              <a:uLnTx/>
              <a:uFillTx/>
              <a:latin typeface="+mn-lt"/>
              <a:ea typeface=""/>
              <a:cs typeface="News Gothic MT"/>
            </a:endParaRPr>
          </a:p>
        </p:txBody>
      </p:sp>
    </p:spTree>
    <p:extLst>
      <p:ext uri="{BB962C8B-B14F-4D97-AF65-F5344CB8AC3E}">
        <p14:creationId xmlns:p14="http://schemas.microsoft.com/office/powerpoint/2010/main" val="9345935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51520" y="682977"/>
            <a:ext cx="4499992" cy="369331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3600" b="1" dirty="0">
                <a:solidFill>
                  <a:schemeClr val="bg1">
                    <a:lumMod val="50000"/>
                  </a:schemeClr>
                </a:solidFill>
              </a:rPr>
              <a:t>National and Global Energy </a:t>
            </a:r>
            <a:r>
              <a:rPr lang="en-US" sz="3600" b="1" dirty="0" smtClean="0">
                <a:solidFill>
                  <a:schemeClr val="bg1">
                    <a:lumMod val="50000"/>
                  </a:schemeClr>
                </a:solidFill>
              </a:rPr>
              <a:t>resources</a:t>
            </a:r>
            <a:endParaRPr lang="en-US" sz="3600" b="1" dirty="0">
              <a:solidFill>
                <a:schemeClr val="bg1">
                  <a:lumMod val="50000"/>
                </a:schemeClr>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4427984" y="1371067"/>
            <a:ext cx="4738936" cy="5176979"/>
          </a:xfrm>
          <a:prstGeom prst="rect">
            <a:avLst/>
          </a:prstGeom>
        </p:spPr>
      </p:pic>
    </p:spTree>
    <p:extLst>
      <p:ext uri="{BB962C8B-B14F-4D97-AF65-F5344CB8AC3E}">
        <p14:creationId xmlns:p14="http://schemas.microsoft.com/office/powerpoint/2010/main" val="18706815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719512"/>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2" name="TextBox 1">
            <a:extLst>
              <a:ext uri="{FF2B5EF4-FFF2-40B4-BE49-F238E27FC236}">
                <a16:creationId xmlns:a16="http://schemas.microsoft.com/office/drawing/2014/main" xmlns="" id="{94C75E0B-D596-4838-B461-D38285C0AA6A}"/>
              </a:ext>
            </a:extLst>
          </p:cNvPr>
          <p:cNvSpPr txBox="1"/>
          <p:nvPr/>
        </p:nvSpPr>
        <p:spPr>
          <a:xfrm>
            <a:off x="1309369" y="45328"/>
            <a:ext cx="7804855" cy="461665"/>
          </a:xfrm>
          <a:prstGeom prst="rect">
            <a:avLst/>
          </a:prstGeom>
          <a:noFill/>
        </p:spPr>
        <p:txBody>
          <a:bodyPr wrap="square" rtlCol="0">
            <a:spAutoFit/>
          </a:bodyPr>
          <a:lstStyle/>
          <a:p>
            <a:pPr algn="r"/>
            <a:r>
              <a:rPr lang="en-US" sz="2400" b="1">
                <a:solidFill>
                  <a:schemeClr val="accent6">
                    <a:lumMod val="75000"/>
                  </a:schemeClr>
                </a:solidFill>
              </a:rPr>
              <a:t>   National and global energy resources</a:t>
            </a:r>
          </a:p>
        </p:txBody>
      </p:sp>
      <p:graphicFrame>
        <p:nvGraphicFramePr>
          <p:cNvPr id="5" name="Table 4">
            <a:extLst>
              <a:ext uri="{FF2B5EF4-FFF2-40B4-BE49-F238E27FC236}">
                <a16:creationId xmlns:a16="http://schemas.microsoft.com/office/drawing/2014/main" xmlns="" id="{AFEB4460-B8F6-481C-BBA6-B05702331876}"/>
              </a:ext>
            </a:extLst>
          </p:cNvPr>
          <p:cNvGraphicFramePr>
            <a:graphicFrameLocks noGrp="1"/>
          </p:cNvGraphicFramePr>
          <p:nvPr>
            <p:extLst>
              <p:ext uri="{D42A27DB-BD31-4B8C-83A1-F6EECF244321}">
                <p14:modId xmlns:p14="http://schemas.microsoft.com/office/powerpoint/2010/main" val="115189451"/>
              </p:ext>
            </p:extLst>
          </p:nvPr>
        </p:nvGraphicFramePr>
        <p:xfrm>
          <a:off x="198824" y="861216"/>
          <a:ext cx="8915400" cy="5547824"/>
        </p:xfrm>
        <a:graphic>
          <a:graphicData uri="http://schemas.openxmlformats.org/drawingml/2006/table">
            <a:tbl>
              <a:tblPr firstRow="1" bandRow="1">
                <a:solidFill>
                  <a:schemeClr val="accent6">
                    <a:lumMod val="60000"/>
                    <a:lumOff val="40000"/>
                  </a:schemeClr>
                </a:solidFill>
                <a:tableStyleId>{5C22544A-7EE6-4342-B048-85BDC9FD1C3A}</a:tableStyleId>
              </a:tblPr>
              <a:tblGrid>
                <a:gridCol w="1937632">
                  <a:extLst>
                    <a:ext uri="{9D8B030D-6E8A-4147-A177-3AD203B41FA5}">
                      <a16:colId xmlns:a16="http://schemas.microsoft.com/office/drawing/2014/main" xmlns="" val="4214209625"/>
                    </a:ext>
                  </a:extLst>
                </a:gridCol>
                <a:gridCol w="6977768">
                  <a:extLst>
                    <a:ext uri="{9D8B030D-6E8A-4147-A177-3AD203B41FA5}">
                      <a16:colId xmlns:a16="http://schemas.microsoft.com/office/drawing/2014/main" xmlns="" val="1068693623"/>
                    </a:ext>
                  </a:extLst>
                </a:gridCol>
              </a:tblGrid>
              <a:tr h="335378">
                <a:tc gridSpan="2">
                  <a:txBody>
                    <a:bodyPr/>
                    <a:lstStyle/>
                    <a:p>
                      <a:pPr algn="ctr"/>
                      <a:r>
                        <a:rPr lang="en-GB" sz="2000" dirty="0">
                          <a:solidFill>
                            <a:schemeClr val="tx1"/>
                          </a:solidFill>
                        </a:rPr>
                        <a:t>ENERGY RESOURCES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xmlns="" val="3193152572"/>
                  </a:ext>
                </a:extLst>
              </a:tr>
              <a:tr h="335378">
                <a:tc gridSpan="2">
                  <a:txBody>
                    <a:bodyPr/>
                    <a:lstStyle/>
                    <a:p>
                      <a:r>
                        <a:rPr lang="en-GB" sz="2000" b="1" dirty="0"/>
                        <a:t>Non-renewable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963798571"/>
                  </a:ext>
                </a:extLst>
              </a:tr>
              <a:tr h="396356">
                <a:tc>
                  <a:txBody>
                    <a:bodyPr/>
                    <a:lstStyle/>
                    <a:p>
                      <a:r>
                        <a:rPr lang="en-GB" sz="2000" dirty="0"/>
                        <a:t>Coal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3">
                  <a:txBody>
                    <a:bodyPr/>
                    <a:lstStyle/>
                    <a:p>
                      <a:r>
                        <a:rPr lang="en-GB" sz="2000" dirty="0"/>
                        <a:t> </a:t>
                      </a:r>
                    </a:p>
                    <a:p>
                      <a:r>
                        <a:rPr lang="en-GB" sz="2000" dirty="0"/>
                        <a:t>        Fossil fuels</a:t>
                      </a:r>
                    </a:p>
                    <a:p>
                      <a:r>
                        <a:rPr lang="en-GB" sz="2000" dirty="0"/>
                        <a:t>        They are becoming more difficult to find and extract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54868637"/>
                  </a:ext>
                </a:extLst>
              </a:tr>
              <a:tr h="396356">
                <a:tc>
                  <a:txBody>
                    <a:bodyPr/>
                    <a:lstStyle/>
                    <a:p>
                      <a:r>
                        <a:rPr lang="en-GB" sz="2000" dirty="0"/>
                        <a:t>Oil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135879958"/>
                  </a:ext>
                </a:extLst>
              </a:tr>
              <a:tr h="396356">
                <a:tc>
                  <a:txBody>
                    <a:bodyPr/>
                    <a:lstStyle/>
                    <a:p>
                      <a:r>
                        <a:rPr lang="en-GB" sz="2000" dirty="0"/>
                        <a:t>Gas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737335958"/>
                  </a:ext>
                </a:extLst>
              </a:tr>
              <a:tr h="396356">
                <a:tc>
                  <a:txBody>
                    <a:bodyPr/>
                    <a:lstStyle/>
                    <a:p>
                      <a:r>
                        <a:rPr lang="en-GB" sz="2000" dirty="0"/>
                        <a:t>Nuclear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Plentiful but difficult to extract / purify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36438358"/>
                  </a:ext>
                </a:extLst>
              </a:tr>
              <a:tr h="335378">
                <a:tc gridSpan="2">
                  <a:txBody>
                    <a:bodyPr/>
                    <a:lstStyle/>
                    <a:p>
                      <a:r>
                        <a:rPr lang="en-GB" sz="2000" b="1" dirty="0"/>
                        <a:t>Renewable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h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4059364498"/>
                  </a:ext>
                </a:extLst>
              </a:tr>
              <a:tr h="335378">
                <a:tc>
                  <a:txBody>
                    <a:bodyPr/>
                    <a:lstStyle/>
                    <a:p>
                      <a:r>
                        <a:rPr lang="en-GB" sz="2000" dirty="0"/>
                        <a:t>Bio-fuel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Plant matter usually used as a fuel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650867242"/>
                  </a:ext>
                </a:extLst>
              </a:tr>
              <a:tr h="335378">
                <a:tc>
                  <a:txBody>
                    <a:bodyPr/>
                    <a:lstStyle/>
                    <a:p>
                      <a:r>
                        <a:rPr lang="en-GB" sz="2000" dirty="0"/>
                        <a:t>Wind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Turbines spin a generator to produce 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620625935"/>
                  </a:ext>
                </a:extLst>
              </a:tr>
              <a:tr h="335378">
                <a:tc>
                  <a:txBody>
                    <a:bodyPr/>
                    <a:lstStyle/>
                    <a:p>
                      <a:r>
                        <a:rPr lang="en-GB" sz="2000" dirty="0"/>
                        <a:t>Hydro-electric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Falling water spins a turbine to produce 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75280521"/>
                  </a:ext>
                </a:extLst>
              </a:tr>
              <a:tr h="335378">
                <a:tc>
                  <a:txBody>
                    <a:bodyPr/>
                    <a:lstStyle/>
                    <a:p>
                      <a:r>
                        <a:rPr lang="en-GB" sz="2000" dirty="0"/>
                        <a:t>Geothermal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Hot rocks underground produce steam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56318868"/>
                  </a:ext>
                </a:extLst>
              </a:tr>
              <a:tr h="335378">
                <a:tc>
                  <a:txBody>
                    <a:bodyPr/>
                    <a:lstStyle/>
                    <a:p>
                      <a:r>
                        <a:rPr lang="en-GB" sz="2000" dirty="0"/>
                        <a:t>Tides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Rise and fall of the tide can be used to turn a turbine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581162416"/>
                  </a:ext>
                </a:extLst>
              </a:tr>
              <a:tr h="335378">
                <a:tc>
                  <a:txBody>
                    <a:bodyPr/>
                    <a:lstStyle/>
                    <a:p>
                      <a:r>
                        <a:rPr lang="en-GB" sz="2000" dirty="0"/>
                        <a:t>Sun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To directly heat things or produce 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3842014752"/>
                  </a:ext>
                </a:extLst>
              </a:tr>
              <a:tr h="335378">
                <a:tc>
                  <a:txBody>
                    <a:bodyPr/>
                    <a:lstStyle/>
                    <a:p>
                      <a:r>
                        <a:rPr lang="en-GB" sz="2000" dirty="0"/>
                        <a:t>Waves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GB" sz="2000" dirty="0"/>
                        <a:t>Up and down movement can turn turbines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47049989"/>
                  </a:ext>
                </a:extLst>
              </a:tr>
            </a:tbl>
          </a:graphicData>
        </a:graphic>
      </p:graphicFrame>
      <p:sp>
        <p:nvSpPr>
          <p:cNvPr id="8" name="Right Brace 7">
            <a:extLst>
              <a:ext uri="{FF2B5EF4-FFF2-40B4-BE49-F238E27FC236}">
                <a16:creationId xmlns:a16="http://schemas.microsoft.com/office/drawing/2014/main" xmlns="" id="{75793B18-EF62-4862-A969-595D3DFE54FC}"/>
              </a:ext>
            </a:extLst>
          </p:cNvPr>
          <p:cNvSpPr/>
          <p:nvPr/>
        </p:nvSpPr>
        <p:spPr>
          <a:xfrm>
            <a:off x="2195736" y="1700808"/>
            <a:ext cx="216024" cy="1106485"/>
          </a:xfrm>
          <a:prstGeom prst="rightBrace">
            <a:avLst/>
          </a:prstGeom>
          <a:ln w="158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447387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719512"/>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3" name="TextBox 2">
            <a:extLst>
              <a:ext uri="{FF2B5EF4-FFF2-40B4-BE49-F238E27FC236}">
                <a16:creationId xmlns:a16="http://schemas.microsoft.com/office/drawing/2014/main" xmlns="" id="{32CBE354-DB22-4008-920B-2E8A1D41228E}"/>
              </a:ext>
            </a:extLst>
          </p:cNvPr>
          <p:cNvSpPr txBox="1"/>
          <p:nvPr/>
        </p:nvSpPr>
        <p:spPr>
          <a:xfrm>
            <a:off x="251520" y="813311"/>
            <a:ext cx="8568951" cy="2677656"/>
          </a:xfrm>
          <a:prstGeom prst="rect">
            <a:avLst/>
          </a:prstGeom>
          <a:noFill/>
          <a:ln w="25400">
            <a:solidFill>
              <a:schemeClr val="accent6">
                <a:lumMod val="75000"/>
              </a:schemeClr>
            </a:solidFill>
          </a:ln>
        </p:spPr>
        <p:txBody>
          <a:bodyPr wrap="square" rtlCol="0">
            <a:spAutoFit/>
          </a:bodyPr>
          <a:lstStyle/>
          <a:p>
            <a:r>
              <a:rPr lang="en-GB" sz="2400" b="1" dirty="0">
                <a:solidFill>
                  <a:schemeClr val="accent6">
                    <a:lumMod val="75000"/>
                  </a:schemeClr>
                </a:solidFill>
              </a:rPr>
              <a:t>Non-renewable </a:t>
            </a:r>
            <a:r>
              <a:rPr lang="en-GB" sz="2400" dirty="0"/>
              <a:t>energy sources are those which will </a:t>
            </a:r>
            <a:r>
              <a:rPr lang="en-GB" sz="2400" b="1" dirty="0">
                <a:solidFill>
                  <a:schemeClr val="accent6">
                    <a:lumMod val="75000"/>
                  </a:schemeClr>
                </a:solidFill>
              </a:rPr>
              <a:t>eventually run out</a:t>
            </a:r>
            <a:r>
              <a:rPr lang="en-GB" sz="2400" dirty="0"/>
              <a:t> – there is a finite supply. New supplies are more difficult to find and extract.</a:t>
            </a:r>
          </a:p>
          <a:p>
            <a:r>
              <a:rPr lang="en-GB" sz="2400" b="1" dirty="0">
                <a:solidFill>
                  <a:schemeClr val="accent6">
                    <a:lumMod val="75000"/>
                  </a:schemeClr>
                </a:solidFill>
              </a:rPr>
              <a:t>Renewable</a:t>
            </a:r>
            <a:r>
              <a:rPr lang="en-GB" sz="2400" dirty="0"/>
              <a:t> energy sources are those which can </a:t>
            </a:r>
            <a:r>
              <a:rPr lang="en-GB" sz="2400" b="1" dirty="0">
                <a:solidFill>
                  <a:schemeClr val="accent6">
                    <a:lumMod val="75000"/>
                  </a:schemeClr>
                </a:solidFill>
              </a:rPr>
              <a:t>replenish themselves in the short term, </a:t>
            </a:r>
            <a:r>
              <a:rPr lang="en-GB" sz="2400" dirty="0"/>
              <a:t>and so will never run out.</a:t>
            </a:r>
          </a:p>
          <a:p>
            <a:r>
              <a:rPr lang="en-GB" sz="2400" b="1" dirty="0">
                <a:solidFill>
                  <a:schemeClr val="accent6">
                    <a:lumMod val="75000"/>
                  </a:schemeClr>
                </a:solidFill>
              </a:rPr>
              <a:t>Nuclear energy </a:t>
            </a:r>
            <a:r>
              <a:rPr lang="en-GB" sz="2400" dirty="0"/>
              <a:t>resources are technically non-renewable but they can be produced on an almost indefinite basis.</a:t>
            </a:r>
          </a:p>
        </p:txBody>
      </p:sp>
      <p:sp>
        <p:nvSpPr>
          <p:cNvPr id="5" name="TextBox 4">
            <a:extLst>
              <a:ext uri="{FF2B5EF4-FFF2-40B4-BE49-F238E27FC236}">
                <a16:creationId xmlns:a16="http://schemas.microsoft.com/office/drawing/2014/main" xmlns="" id="{1F22025E-8D3C-437A-8E6D-D8E2FBDA8B2C}"/>
              </a:ext>
            </a:extLst>
          </p:cNvPr>
          <p:cNvSpPr txBox="1"/>
          <p:nvPr/>
        </p:nvSpPr>
        <p:spPr>
          <a:xfrm>
            <a:off x="222312" y="3642133"/>
            <a:ext cx="8568951" cy="2677656"/>
          </a:xfrm>
          <a:prstGeom prst="rect">
            <a:avLst/>
          </a:prstGeom>
          <a:noFill/>
          <a:ln w="25400">
            <a:solidFill>
              <a:schemeClr val="accent6">
                <a:lumMod val="75000"/>
              </a:schemeClr>
            </a:solidFill>
          </a:ln>
        </p:spPr>
        <p:txBody>
          <a:bodyPr wrap="square" rtlCol="0">
            <a:spAutoFit/>
          </a:bodyPr>
          <a:lstStyle/>
          <a:p>
            <a:r>
              <a:rPr lang="en-GB" sz="2400" dirty="0"/>
              <a:t>How energy resources are used.</a:t>
            </a:r>
          </a:p>
          <a:p>
            <a:r>
              <a:rPr lang="en-GB" sz="2400" b="1" dirty="0">
                <a:solidFill>
                  <a:schemeClr val="accent6">
                    <a:lumMod val="75000"/>
                  </a:schemeClr>
                </a:solidFill>
              </a:rPr>
              <a:t>Transport</a:t>
            </a:r>
            <a:r>
              <a:rPr lang="en-GB" sz="2400" dirty="0"/>
              <a:t> – cars, trains, buses, planes etc.</a:t>
            </a:r>
          </a:p>
          <a:p>
            <a:r>
              <a:rPr lang="en-GB" sz="2400" b="1" dirty="0">
                <a:solidFill>
                  <a:schemeClr val="accent6">
                    <a:lumMod val="75000"/>
                  </a:schemeClr>
                </a:solidFill>
              </a:rPr>
              <a:t>Electricity generation </a:t>
            </a:r>
            <a:r>
              <a:rPr lang="en-GB" sz="2400" dirty="0"/>
              <a:t>– industry, homes, commerce, lighting etc.</a:t>
            </a:r>
          </a:p>
          <a:p>
            <a:r>
              <a:rPr lang="en-GB" sz="2400" b="1" dirty="0">
                <a:solidFill>
                  <a:schemeClr val="accent6">
                    <a:lumMod val="75000"/>
                  </a:schemeClr>
                </a:solidFill>
              </a:rPr>
              <a:t>Heating</a:t>
            </a:r>
            <a:r>
              <a:rPr lang="en-GB" sz="2400" dirty="0"/>
              <a:t> – homes, industrial processes, schools and hospitals etc.</a:t>
            </a:r>
          </a:p>
          <a:p>
            <a:endParaRPr lang="en-GB" sz="2400" dirty="0"/>
          </a:p>
          <a:p>
            <a:r>
              <a:rPr lang="en-GB" sz="2400" dirty="0"/>
              <a:t>Energy use is usually divided between  the four economic sectors - </a:t>
            </a:r>
            <a:r>
              <a:rPr lang="en-GB" sz="2400" b="1" dirty="0">
                <a:solidFill>
                  <a:schemeClr val="accent6">
                    <a:lumMod val="75000"/>
                  </a:schemeClr>
                </a:solidFill>
              </a:rPr>
              <a:t>residential, commercial, transportation</a:t>
            </a:r>
            <a:r>
              <a:rPr lang="en-GB" sz="2400" dirty="0"/>
              <a:t>, and</a:t>
            </a:r>
            <a:r>
              <a:rPr lang="en-GB" sz="2400" b="1" dirty="0">
                <a:solidFill>
                  <a:schemeClr val="accent6">
                    <a:lumMod val="75000"/>
                  </a:schemeClr>
                </a:solidFill>
              </a:rPr>
              <a:t> industrial</a:t>
            </a:r>
            <a:r>
              <a:rPr lang="en-GB" sz="2400" b="1" dirty="0" smtClean="0"/>
              <a:t>.</a:t>
            </a:r>
            <a:endParaRPr lang="en-GB" sz="2400" dirty="0">
              <a:solidFill>
                <a:schemeClr val="accent6">
                  <a:lumMod val="75000"/>
                </a:schemeClr>
              </a:solidFill>
            </a:endParaRPr>
          </a:p>
        </p:txBody>
      </p:sp>
      <p:sp>
        <p:nvSpPr>
          <p:cNvPr id="6" name="TextBox 5">
            <a:extLst>
              <a:ext uri="{FF2B5EF4-FFF2-40B4-BE49-F238E27FC236}">
                <a16:creationId xmlns:a16="http://schemas.microsoft.com/office/drawing/2014/main" xmlns="" id="{94C75E0B-D596-4838-B461-D38285C0AA6A}"/>
              </a:ext>
            </a:extLst>
          </p:cNvPr>
          <p:cNvSpPr txBox="1"/>
          <p:nvPr/>
        </p:nvSpPr>
        <p:spPr>
          <a:xfrm>
            <a:off x="1309369" y="45328"/>
            <a:ext cx="7804855" cy="461665"/>
          </a:xfrm>
          <a:prstGeom prst="rect">
            <a:avLst/>
          </a:prstGeom>
          <a:noFill/>
        </p:spPr>
        <p:txBody>
          <a:bodyPr wrap="square" rtlCol="0">
            <a:spAutoFit/>
          </a:bodyPr>
          <a:lstStyle/>
          <a:p>
            <a:pPr algn="r"/>
            <a:r>
              <a:rPr lang="en-US" sz="2400" b="1">
                <a:solidFill>
                  <a:schemeClr val="accent6">
                    <a:lumMod val="75000"/>
                  </a:schemeClr>
                </a:solidFill>
              </a:rPr>
              <a:t>   National and global energy resources</a:t>
            </a:r>
          </a:p>
        </p:txBody>
      </p:sp>
    </p:spTree>
    <p:extLst>
      <p:ext uri="{BB962C8B-B14F-4D97-AF65-F5344CB8AC3E}">
        <p14:creationId xmlns:p14="http://schemas.microsoft.com/office/powerpoint/2010/main" val="11679225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719512"/>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graphicFrame>
        <p:nvGraphicFramePr>
          <p:cNvPr id="5" name="Table 4">
            <a:extLst>
              <a:ext uri="{FF2B5EF4-FFF2-40B4-BE49-F238E27FC236}">
                <a16:creationId xmlns:a16="http://schemas.microsoft.com/office/drawing/2014/main" xmlns="" id="{9B8788FE-4880-481B-A133-6183B0D44495}"/>
              </a:ext>
            </a:extLst>
          </p:cNvPr>
          <p:cNvGraphicFramePr>
            <a:graphicFrameLocks noGrp="1"/>
          </p:cNvGraphicFramePr>
          <p:nvPr>
            <p:extLst>
              <p:ext uri="{D42A27DB-BD31-4B8C-83A1-F6EECF244321}">
                <p14:modId xmlns:p14="http://schemas.microsoft.com/office/powerpoint/2010/main" val="1820428210"/>
              </p:ext>
            </p:extLst>
          </p:nvPr>
        </p:nvGraphicFramePr>
        <p:xfrm>
          <a:off x="179512" y="1124744"/>
          <a:ext cx="8784975" cy="4787900"/>
        </p:xfrm>
        <a:graphic>
          <a:graphicData uri="http://schemas.openxmlformats.org/drawingml/2006/table">
            <a:tbl>
              <a:tblPr firstRow="1" firstCol="1" bandRow="1">
                <a:tableStyleId>{5C22544A-7EE6-4342-B048-85BDC9FD1C3A}</a:tableStyleId>
              </a:tblPr>
              <a:tblGrid>
                <a:gridCol w="1364656">
                  <a:extLst>
                    <a:ext uri="{9D8B030D-6E8A-4147-A177-3AD203B41FA5}">
                      <a16:colId xmlns:a16="http://schemas.microsoft.com/office/drawing/2014/main" xmlns="" val="1835266119"/>
                    </a:ext>
                  </a:extLst>
                </a:gridCol>
                <a:gridCol w="2163736">
                  <a:extLst>
                    <a:ext uri="{9D8B030D-6E8A-4147-A177-3AD203B41FA5}">
                      <a16:colId xmlns:a16="http://schemas.microsoft.com/office/drawing/2014/main" xmlns="" val="1571838429"/>
                    </a:ext>
                  </a:extLst>
                </a:gridCol>
                <a:gridCol w="2448272">
                  <a:extLst>
                    <a:ext uri="{9D8B030D-6E8A-4147-A177-3AD203B41FA5}">
                      <a16:colId xmlns:a16="http://schemas.microsoft.com/office/drawing/2014/main" xmlns="" val="2094875476"/>
                    </a:ext>
                  </a:extLst>
                </a:gridCol>
                <a:gridCol w="2808311">
                  <a:extLst>
                    <a:ext uri="{9D8B030D-6E8A-4147-A177-3AD203B41FA5}">
                      <a16:colId xmlns:a16="http://schemas.microsoft.com/office/drawing/2014/main" xmlns="" val="2190913431"/>
                    </a:ext>
                  </a:extLst>
                </a:gridCol>
              </a:tblGrid>
              <a:tr h="1181846">
                <a:tc>
                  <a:txBody>
                    <a:bodyPr/>
                    <a:lstStyle/>
                    <a:p>
                      <a:pPr>
                        <a:spcBef>
                          <a:spcPts val="140"/>
                        </a:spcBef>
                        <a:spcAft>
                          <a:spcPts val="600"/>
                        </a:spcAft>
                      </a:pPr>
                      <a:r>
                        <a:rPr lang="en-GB" sz="2000" dirty="0">
                          <a:solidFill>
                            <a:schemeClr val="tx1"/>
                          </a:solidFill>
                          <a:effectLst/>
                        </a:rPr>
                        <a:t>Coal</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lvl="0" indent="0">
                        <a:spcBef>
                          <a:spcPts val="140"/>
                        </a:spcBef>
                        <a:spcAft>
                          <a:spcPts val="0"/>
                        </a:spcAft>
                        <a:buSzPts val="1000"/>
                        <a:buFontTx/>
                        <a:buNone/>
                        <a:tabLst>
                          <a:tab pos="457200" algn="l"/>
                        </a:tabLst>
                      </a:pPr>
                      <a:r>
                        <a:rPr lang="en-GB" sz="2000" b="1" dirty="0">
                          <a:solidFill>
                            <a:schemeClr val="tx1"/>
                          </a:solidFill>
                          <a:effectLst/>
                        </a:rPr>
                        <a:t>Coal is mined then burnt to provide heat or used to generate electricity. </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indent="0">
                        <a:spcBef>
                          <a:spcPts val="140"/>
                        </a:spcBef>
                        <a:spcAft>
                          <a:spcPts val="0"/>
                        </a:spcAft>
                        <a:buFontTx/>
                        <a:buNone/>
                        <a:tabLst>
                          <a:tab pos="457200" algn="l"/>
                        </a:tabLst>
                      </a:pPr>
                      <a:r>
                        <a:rPr lang="en-GB" sz="2000" b="1" dirty="0">
                          <a:solidFill>
                            <a:schemeClr val="tx1"/>
                          </a:solidFill>
                          <a:effectLst/>
                        </a:rPr>
                        <a:t>Large reserves of coal which are relatively inexpensive to mine.</a:t>
                      </a:r>
                    </a:p>
                    <a:p>
                      <a:pPr marL="0" indent="0">
                        <a:spcBef>
                          <a:spcPts val="140"/>
                        </a:spcBef>
                        <a:spcAft>
                          <a:spcPts val="0"/>
                        </a:spcAft>
                        <a:buFontTx/>
                        <a:buNone/>
                        <a:tabLst>
                          <a:tab pos="457200" algn="l"/>
                        </a:tabLst>
                      </a:pPr>
                      <a:r>
                        <a:rPr lang="en-GB" sz="2000" b="1" dirty="0">
                          <a:solidFill>
                            <a:schemeClr val="tx1"/>
                          </a:solidFill>
                          <a:effectLst/>
                        </a:rPr>
                        <a:t>All major coal mines have now closed in the UK.</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Coal mining is dangerous and burning coal contributes to global warming.</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553709738"/>
                  </a:ext>
                </a:extLst>
              </a:tr>
              <a:tr h="1454239">
                <a:tc>
                  <a:txBody>
                    <a:bodyPr/>
                    <a:lstStyle/>
                    <a:p>
                      <a:pPr>
                        <a:spcBef>
                          <a:spcPts val="140"/>
                        </a:spcBef>
                        <a:spcAft>
                          <a:spcPts val="600"/>
                        </a:spcAft>
                      </a:pPr>
                      <a:r>
                        <a:rPr lang="en-GB" sz="2000" dirty="0">
                          <a:solidFill>
                            <a:schemeClr val="tx1"/>
                          </a:solidFill>
                          <a:effectLst/>
                        </a:rPr>
                        <a:t>Oil</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indent="0">
                        <a:spcBef>
                          <a:spcPts val="140"/>
                        </a:spcBef>
                        <a:spcAft>
                          <a:spcPts val="0"/>
                        </a:spcAft>
                        <a:buFontTx/>
                        <a:buNone/>
                        <a:tabLst>
                          <a:tab pos="457200" algn="l"/>
                        </a:tabLst>
                      </a:pPr>
                      <a:r>
                        <a:rPr lang="en-GB" sz="2000" b="1" dirty="0">
                          <a:effectLst/>
                        </a:rPr>
                        <a:t>Frequently burnt to produce electricity. Large quantities of oil are refined to provide fuels for transport.</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Tx/>
                        <a:buNone/>
                        <a:tabLst>
                          <a:tab pos="457200" algn="l"/>
                        </a:tabLst>
                      </a:pPr>
                      <a:r>
                        <a:rPr lang="en-GB" sz="2000" b="1" dirty="0">
                          <a:effectLst/>
                        </a:rPr>
                        <a:t>Large reserves becoming more difficult to find and extract. Transport and refinement are relatively easy.</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effectLst/>
                        </a:rPr>
                        <a:t>Oil reserves becoming more difficult to find and extract.</a:t>
                      </a:r>
                    </a:p>
                    <a:p>
                      <a:pPr marL="0" lvl="0" indent="0">
                        <a:spcBef>
                          <a:spcPts val="140"/>
                        </a:spcBef>
                        <a:spcAft>
                          <a:spcPts val="0"/>
                        </a:spcAft>
                        <a:buSzPts val="1000"/>
                        <a:buFont typeface="Symbol" panose="05050102010706020507" pitchFamily="18" charset="2"/>
                        <a:buNone/>
                        <a:tabLst>
                          <a:tab pos="457200" algn="l"/>
                        </a:tabLst>
                      </a:pPr>
                      <a:r>
                        <a:rPr lang="en-GB" sz="2000" b="1" dirty="0">
                          <a:effectLst/>
                        </a:rPr>
                        <a:t>The need for oil in developed countries means supplies are politically </a:t>
                      </a:r>
                      <a:r>
                        <a:rPr lang="en-GB" sz="2000" b="1" dirty="0" smtClean="0">
                          <a:effectLst/>
                        </a:rPr>
                        <a:t>sensitive. Releases </a:t>
                      </a:r>
                      <a:r>
                        <a:rPr lang="en-GB" sz="2000" b="1" dirty="0">
                          <a:effectLst/>
                        </a:rPr>
                        <a:t>greenhouse gases when burnt.</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2683167531"/>
                  </a:ext>
                </a:extLst>
              </a:tr>
            </a:tbl>
          </a:graphicData>
        </a:graphic>
      </p:graphicFrame>
      <p:sp>
        <p:nvSpPr>
          <p:cNvPr id="6" name="TextBox 5">
            <a:extLst>
              <a:ext uri="{FF2B5EF4-FFF2-40B4-BE49-F238E27FC236}">
                <a16:creationId xmlns:a16="http://schemas.microsoft.com/office/drawing/2014/main" xmlns="" id="{94C75E0B-D596-4838-B461-D38285C0AA6A}"/>
              </a:ext>
            </a:extLst>
          </p:cNvPr>
          <p:cNvSpPr txBox="1"/>
          <p:nvPr/>
        </p:nvSpPr>
        <p:spPr>
          <a:xfrm>
            <a:off x="1309369" y="45328"/>
            <a:ext cx="7804855" cy="461665"/>
          </a:xfrm>
          <a:prstGeom prst="rect">
            <a:avLst/>
          </a:prstGeom>
          <a:noFill/>
        </p:spPr>
        <p:txBody>
          <a:bodyPr wrap="square" rtlCol="0">
            <a:spAutoFit/>
          </a:bodyPr>
          <a:lstStyle/>
          <a:p>
            <a:pPr algn="r"/>
            <a:r>
              <a:rPr lang="en-US" sz="2400" b="1" smtClean="0">
                <a:solidFill>
                  <a:schemeClr val="accent6">
                    <a:lumMod val="75000"/>
                  </a:schemeClr>
                </a:solidFill>
              </a:rPr>
              <a:t>Energy </a:t>
            </a:r>
            <a:r>
              <a:rPr lang="en-US" sz="2400" b="1" dirty="0" smtClean="0">
                <a:solidFill>
                  <a:schemeClr val="accent6">
                    <a:lumMod val="75000"/>
                  </a:schemeClr>
                </a:solidFill>
              </a:rPr>
              <a:t>resources – Non-renewable </a:t>
            </a:r>
            <a:endParaRPr lang="en-US" sz="2400" b="1" dirty="0">
              <a:solidFill>
                <a:schemeClr val="accent6">
                  <a:lumMod val="75000"/>
                </a:schemeClr>
              </a:solidFill>
            </a:endParaRPr>
          </a:p>
        </p:txBody>
      </p:sp>
    </p:spTree>
    <p:extLst>
      <p:ext uri="{BB962C8B-B14F-4D97-AF65-F5344CB8AC3E}">
        <p14:creationId xmlns:p14="http://schemas.microsoft.com/office/powerpoint/2010/main" val="9371336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719512"/>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graphicFrame>
        <p:nvGraphicFramePr>
          <p:cNvPr id="5" name="Table 4">
            <a:extLst>
              <a:ext uri="{FF2B5EF4-FFF2-40B4-BE49-F238E27FC236}">
                <a16:creationId xmlns:a16="http://schemas.microsoft.com/office/drawing/2014/main" xmlns="" id="{9B8788FE-4880-481B-A133-6183B0D44495}"/>
              </a:ext>
            </a:extLst>
          </p:cNvPr>
          <p:cNvGraphicFramePr>
            <a:graphicFrameLocks noGrp="1"/>
          </p:cNvGraphicFramePr>
          <p:nvPr>
            <p:extLst>
              <p:ext uri="{D42A27DB-BD31-4B8C-83A1-F6EECF244321}">
                <p14:modId xmlns:p14="http://schemas.microsoft.com/office/powerpoint/2010/main" val="391553115"/>
              </p:ext>
            </p:extLst>
          </p:nvPr>
        </p:nvGraphicFramePr>
        <p:xfrm>
          <a:off x="-10905" y="857897"/>
          <a:ext cx="9138280" cy="5981700"/>
        </p:xfrm>
        <a:graphic>
          <a:graphicData uri="http://schemas.openxmlformats.org/drawingml/2006/table">
            <a:tbl>
              <a:tblPr firstRow="1" firstCol="1" bandRow="1">
                <a:tableStyleId>{5C22544A-7EE6-4342-B048-85BDC9FD1C3A}</a:tableStyleId>
              </a:tblPr>
              <a:tblGrid>
                <a:gridCol w="994520">
                  <a:extLst>
                    <a:ext uri="{9D8B030D-6E8A-4147-A177-3AD203B41FA5}">
                      <a16:colId xmlns:a16="http://schemas.microsoft.com/office/drawing/2014/main" xmlns="" val="1835266119"/>
                    </a:ext>
                  </a:extLst>
                </a:gridCol>
                <a:gridCol w="2887176">
                  <a:extLst>
                    <a:ext uri="{9D8B030D-6E8A-4147-A177-3AD203B41FA5}">
                      <a16:colId xmlns:a16="http://schemas.microsoft.com/office/drawing/2014/main" xmlns="" val="1571838429"/>
                    </a:ext>
                  </a:extLst>
                </a:gridCol>
                <a:gridCol w="2232248">
                  <a:extLst>
                    <a:ext uri="{9D8B030D-6E8A-4147-A177-3AD203B41FA5}">
                      <a16:colId xmlns:a16="http://schemas.microsoft.com/office/drawing/2014/main" xmlns="" val="2094875476"/>
                    </a:ext>
                  </a:extLst>
                </a:gridCol>
                <a:gridCol w="3024336">
                  <a:extLst>
                    <a:ext uri="{9D8B030D-6E8A-4147-A177-3AD203B41FA5}">
                      <a16:colId xmlns:a16="http://schemas.microsoft.com/office/drawing/2014/main" xmlns="" val="2190913431"/>
                    </a:ext>
                  </a:extLst>
                </a:gridCol>
              </a:tblGrid>
              <a:tr h="1383718">
                <a:tc>
                  <a:txBody>
                    <a:bodyPr/>
                    <a:lstStyle/>
                    <a:p>
                      <a:pPr>
                        <a:spcBef>
                          <a:spcPts val="140"/>
                        </a:spcBef>
                        <a:spcAft>
                          <a:spcPts val="600"/>
                        </a:spcAft>
                      </a:pPr>
                      <a:r>
                        <a:rPr lang="en-GB" sz="2000" dirty="0">
                          <a:solidFill>
                            <a:schemeClr val="tx1"/>
                          </a:solidFill>
                          <a:effectLst/>
                        </a:rPr>
                        <a:t>Gas</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Extracted from underground gas fields sometimes alongside oil extraction. Mainly used for electricity production, domestic heating and industrial processes that require heat.</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Cleaner than burning oil or coal. Relatively easy to transport and store.</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UK has good gas reserves but extraction is expensive (often under the sea) and becoming more difficult to reach.</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13008033"/>
                  </a:ext>
                </a:extLst>
              </a:tr>
              <a:tr h="2010620">
                <a:tc>
                  <a:txBody>
                    <a:bodyPr/>
                    <a:lstStyle/>
                    <a:p>
                      <a:pPr>
                        <a:spcBef>
                          <a:spcPts val="140"/>
                        </a:spcBef>
                        <a:spcAft>
                          <a:spcPts val="600"/>
                        </a:spcAft>
                      </a:pPr>
                      <a:r>
                        <a:rPr lang="en-GB" sz="2000" dirty="0">
                          <a:solidFill>
                            <a:schemeClr val="tx1"/>
                          </a:solidFill>
                          <a:effectLst/>
                        </a:rPr>
                        <a:t>Nuclear</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Nuclear supplies (Uranium) are mined and purified. The nuclear fission releases heat which is used to produce steam. This spins a turbine and generator to make electricity</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Potentially </a:t>
                      </a:r>
                      <a:r>
                        <a:rPr lang="en-GB" sz="2000" b="1" dirty="0" smtClean="0">
                          <a:solidFill>
                            <a:schemeClr val="tx1"/>
                          </a:solidFill>
                          <a:effectLst/>
                        </a:rPr>
                        <a:t>in-</a:t>
                      </a:r>
                      <a:r>
                        <a:rPr lang="en-GB" sz="2000" b="1" dirty="0" err="1" smtClean="0">
                          <a:solidFill>
                            <a:schemeClr val="tx1"/>
                          </a:solidFill>
                          <a:effectLst/>
                        </a:rPr>
                        <a:t>exhaustable</a:t>
                      </a:r>
                      <a:r>
                        <a:rPr lang="en-GB" sz="2000" b="1" dirty="0" smtClean="0">
                          <a:solidFill>
                            <a:schemeClr val="tx1"/>
                          </a:solidFill>
                          <a:effectLst/>
                        </a:rPr>
                        <a:t> </a:t>
                      </a:r>
                      <a:r>
                        <a:rPr lang="en-GB" sz="2000" b="1" dirty="0">
                          <a:solidFill>
                            <a:schemeClr val="tx1"/>
                          </a:solidFill>
                          <a:effectLst/>
                        </a:rPr>
                        <a:t>energy supply even though it is extracted form resources in the </a:t>
                      </a:r>
                      <a:r>
                        <a:rPr lang="en-GB" sz="2000" b="1" dirty="0" err="1" smtClean="0">
                          <a:solidFill>
                            <a:schemeClr val="tx1"/>
                          </a:solidFill>
                          <a:effectLst/>
                        </a:rPr>
                        <a:t>ground.Very</a:t>
                      </a:r>
                      <a:r>
                        <a:rPr lang="en-GB" sz="2000" b="1" dirty="0" smtClean="0">
                          <a:solidFill>
                            <a:schemeClr val="tx1"/>
                          </a:solidFill>
                          <a:effectLst/>
                        </a:rPr>
                        <a:t> </a:t>
                      </a:r>
                      <a:r>
                        <a:rPr lang="en-GB" sz="2000" b="1" dirty="0">
                          <a:solidFill>
                            <a:schemeClr val="tx1"/>
                          </a:solidFill>
                          <a:effectLst/>
                        </a:rPr>
                        <a:t>efficient process which produces lots of electricity from little nuclear fuel.</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lvl="0" indent="0">
                        <a:spcBef>
                          <a:spcPts val="140"/>
                        </a:spcBef>
                        <a:spcAft>
                          <a:spcPts val="0"/>
                        </a:spcAft>
                        <a:buSzPts val="1000"/>
                        <a:buFont typeface="Symbol" panose="05050102010706020507" pitchFamily="18" charset="2"/>
                        <a:buNone/>
                        <a:tabLst>
                          <a:tab pos="457200" algn="l"/>
                        </a:tabLst>
                      </a:pPr>
                      <a:r>
                        <a:rPr lang="en-GB" sz="2000" b="1" dirty="0">
                          <a:solidFill>
                            <a:schemeClr val="tx1"/>
                          </a:solidFill>
                          <a:effectLst/>
                        </a:rPr>
                        <a:t>Danger of nuclear accidents releasing radioactive materials into the air or water. Security of nuclear sites can be a </a:t>
                      </a:r>
                      <a:r>
                        <a:rPr lang="en-GB" sz="2000" b="1" dirty="0" err="1" smtClean="0">
                          <a:solidFill>
                            <a:schemeClr val="tx1"/>
                          </a:solidFill>
                          <a:effectLst/>
                        </a:rPr>
                        <a:t>problem.Start</a:t>
                      </a:r>
                      <a:r>
                        <a:rPr lang="en-GB" sz="2000" b="1" dirty="0" smtClean="0">
                          <a:solidFill>
                            <a:schemeClr val="tx1"/>
                          </a:solidFill>
                          <a:effectLst/>
                        </a:rPr>
                        <a:t>-up </a:t>
                      </a:r>
                      <a:r>
                        <a:rPr lang="en-GB" sz="2000" b="1" dirty="0">
                          <a:solidFill>
                            <a:schemeClr val="tx1"/>
                          </a:solidFill>
                          <a:effectLst/>
                        </a:rPr>
                        <a:t>costs and decommissioning are very expensive and no real solution to managing radioactive waste has been found.</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76200" marR="47625" marT="76200" marB="1905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547253529"/>
                  </a:ext>
                </a:extLst>
              </a:tr>
            </a:tbl>
          </a:graphicData>
        </a:graphic>
      </p:graphicFrame>
      <p:sp>
        <p:nvSpPr>
          <p:cNvPr id="6" name="TextBox 5">
            <a:extLst>
              <a:ext uri="{FF2B5EF4-FFF2-40B4-BE49-F238E27FC236}">
                <a16:creationId xmlns:a16="http://schemas.microsoft.com/office/drawing/2014/main" xmlns="" id="{94C75E0B-D596-4838-B461-D38285C0AA6A}"/>
              </a:ext>
            </a:extLst>
          </p:cNvPr>
          <p:cNvSpPr txBox="1"/>
          <p:nvPr/>
        </p:nvSpPr>
        <p:spPr>
          <a:xfrm>
            <a:off x="1309369" y="45328"/>
            <a:ext cx="7804855" cy="461665"/>
          </a:xfrm>
          <a:prstGeom prst="rect">
            <a:avLst/>
          </a:prstGeom>
          <a:noFill/>
        </p:spPr>
        <p:txBody>
          <a:bodyPr wrap="square" rtlCol="0">
            <a:spAutoFit/>
          </a:bodyPr>
          <a:lstStyle/>
          <a:p>
            <a:pPr algn="r"/>
            <a:r>
              <a:rPr lang="en-US" sz="2400" b="1" smtClean="0">
                <a:solidFill>
                  <a:schemeClr val="accent6">
                    <a:lumMod val="75000"/>
                  </a:schemeClr>
                </a:solidFill>
              </a:rPr>
              <a:t>Energy </a:t>
            </a:r>
            <a:r>
              <a:rPr lang="en-US" sz="2400" b="1" dirty="0" smtClean="0">
                <a:solidFill>
                  <a:schemeClr val="accent6">
                    <a:lumMod val="75000"/>
                  </a:schemeClr>
                </a:solidFill>
              </a:rPr>
              <a:t>resources – Non-renewable </a:t>
            </a:r>
            <a:endParaRPr lang="en-US" sz="2400" b="1" dirty="0">
              <a:solidFill>
                <a:schemeClr val="accent6">
                  <a:lumMod val="75000"/>
                </a:schemeClr>
              </a:solidFill>
            </a:endParaRPr>
          </a:p>
        </p:txBody>
      </p:sp>
    </p:spTree>
    <p:extLst>
      <p:ext uri="{BB962C8B-B14F-4D97-AF65-F5344CB8AC3E}">
        <p14:creationId xmlns:p14="http://schemas.microsoft.com/office/powerpoint/2010/main" val="229795492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620688"/>
            <a:ext cx="8915400" cy="581400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graphicFrame>
        <p:nvGraphicFramePr>
          <p:cNvPr id="5" name="Table 4">
            <a:extLst>
              <a:ext uri="{FF2B5EF4-FFF2-40B4-BE49-F238E27FC236}">
                <a16:creationId xmlns:a16="http://schemas.microsoft.com/office/drawing/2014/main" xmlns="" id="{C118A8BA-6E3D-4CC2-BF75-A74D28A3D06C}"/>
              </a:ext>
            </a:extLst>
          </p:cNvPr>
          <p:cNvGraphicFramePr>
            <a:graphicFrameLocks noGrp="1"/>
          </p:cNvGraphicFramePr>
          <p:nvPr>
            <p:extLst>
              <p:ext uri="{D42A27DB-BD31-4B8C-83A1-F6EECF244321}">
                <p14:modId xmlns:p14="http://schemas.microsoft.com/office/powerpoint/2010/main" val="1577706862"/>
              </p:ext>
            </p:extLst>
          </p:nvPr>
        </p:nvGraphicFramePr>
        <p:xfrm>
          <a:off x="-15877" y="836712"/>
          <a:ext cx="9159342" cy="5776887"/>
        </p:xfrm>
        <a:graphic>
          <a:graphicData uri="http://schemas.openxmlformats.org/drawingml/2006/table">
            <a:tbl>
              <a:tblPr firstRow="1" firstCol="1" bandRow="1">
                <a:tableStyleId>{5C22544A-7EE6-4342-B048-85BDC9FD1C3A}</a:tableStyleId>
              </a:tblPr>
              <a:tblGrid>
                <a:gridCol w="1501531">
                  <a:extLst>
                    <a:ext uri="{9D8B030D-6E8A-4147-A177-3AD203B41FA5}">
                      <a16:colId xmlns:a16="http://schemas.microsoft.com/office/drawing/2014/main" xmlns="" val="1554120338"/>
                    </a:ext>
                  </a:extLst>
                </a:gridCol>
                <a:gridCol w="2852910">
                  <a:extLst>
                    <a:ext uri="{9D8B030D-6E8A-4147-A177-3AD203B41FA5}">
                      <a16:colId xmlns:a16="http://schemas.microsoft.com/office/drawing/2014/main" xmlns="" val="2317170148"/>
                    </a:ext>
                  </a:extLst>
                </a:gridCol>
                <a:gridCol w="2321668">
                  <a:extLst>
                    <a:ext uri="{9D8B030D-6E8A-4147-A177-3AD203B41FA5}">
                      <a16:colId xmlns:a16="http://schemas.microsoft.com/office/drawing/2014/main" xmlns="" val="605792317"/>
                    </a:ext>
                  </a:extLst>
                </a:gridCol>
                <a:gridCol w="2483233">
                  <a:extLst>
                    <a:ext uri="{9D8B030D-6E8A-4147-A177-3AD203B41FA5}">
                      <a16:colId xmlns:a16="http://schemas.microsoft.com/office/drawing/2014/main" xmlns="" val="1559289919"/>
                    </a:ext>
                  </a:extLst>
                </a:gridCol>
              </a:tblGrid>
              <a:tr h="756329">
                <a:tc>
                  <a:txBody>
                    <a:bodyPr/>
                    <a:lstStyle/>
                    <a:p>
                      <a:pPr>
                        <a:spcBef>
                          <a:spcPts val="140"/>
                        </a:spcBef>
                        <a:spcAft>
                          <a:spcPts val="600"/>
                        </a:spcAft>
                      </a:pPr>
                      <a:r>
                        <a:rPr lang="en-GB" sz="2000" dirty="0">
                          <a:solidFill>
                            <a:schemeClr val="tx1"/>
                          </a:solidFill>
                          <a:effectLst/>
                        </a:rPr>
                        <a:t>Solar</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dirty="0">
                          <a:solidFill>
                            <a:schemeClr val="tx1"/>
                          </a:solidFill>
                          <a:effectLst/>
                        </a:rPr>
                        <a:t>Energy from sunlight is captured in photovoltaic cells and converted into electricity.</a:t>
                      </a:r>
                    </a:p>
                    <a:p>
                      <a:pPr marL="0" lvl="0" indent="0">
                        <a:spcBef>
                          <a:spcPts val="140"/>
                        </a:spcBef>
                        <a:spcAft>
                          <a:spcPts val="0"/>
                        </a:spcAft>
                        <a:buSzPts val="1000"/>
                        <a:buFont typeface="Arial" panose="020B0604020202020204" pitchFamily="34" charset="0"/>
                        <a:buNone/>
                        <a:tabLst>
                          <a:tab pos="457200" algn="l"/>
                        </a:tabLst>
                      </a:pPr>
                      <a:r>
                        <a:rPr lang="en-GB" sz="2000" dirty="0">
                          <a:solidFill>
                            <a:schemeClr val="tx1"/>
                          </a:solidFill>
                          <a:effectLst/>
                        </a:rPr>
                        <a:t>Hot water from solar panels</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dirty="0">
                          <a:solidFill>
                            <a:schemeClr val="tx1"/>
                          </a:solidFill>
                          <a:effectLst/>
                        </a:rPr>
                        <a:t>Renewable energy resource.</a:t>
                      </a:r>
                    </a:p>
                    <a:p>
                      <a:pPr marL="0" indent="0">
                        <a:spcBef>
                          <a:spcPts val="140"/>
                        </a:spcBef>
                        <a:spcAft>
                          <a:spcPts val="0"/>
                        </a:spcAft>
                        <a:buFont typeface="Arial" panose="020B0604020202020204" pitchFamily="34" charset="0"/>
                        <a:buNone/>
                        <a:tabLst>
                          <a:tab pos="457200" algn="l"/>
                        </a:tabLst>
                      </a:pPr>
                      <a:r>
                        <a:rPr lang="en-GB" sz="2000" dirty="0">
                          <a:solidFill>
                            <a:schemeClr val="tx1"/>
                          </a:solidFill>
                          <a:effectLst/>
                        </a:rPr>
                        <a:t>Individual houses can have their own electricity/hot water supply.</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dirty="0">
                          <a:solidFill>
                            <a:schemeClr val="tx1"/>
                          </a:solidFill>
                          <a:effectLst/>
                        </a:rPr>
                        <a:t>Manufacture and installation of solar panels/cells can be costly.</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2648722273"/>
                  </a:ext>
                </a:extLst>
              </a:tr>
              <a:tr h="601516">
                <a:tc>
                  <a:txBody>
                    <a:bodyPr/>
                    <a:lstStyle/>
                    <a:p>
                      <a:pPr>
                        <a:spcBef>
                          <a:spcPts val="140"/>
                        </a:spcBef>
                        <a:spcAft>
                          <a:spcPts val="600"/>
                        </a:spcAft>
                      </a:pPr>
                      <a:r>
                        <a:rPr lang="en-GB" sz="2000" dirty="0">
                          <a:solidFill>
                            <a:schemeClr val="tx1"/>
                          </a:solidFill>
                          <a:effectLst/>
                        </a:rPr>
                        <a:t>Wind</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effectLst/>
                        </a:rPr>
                        <a:t>Wind turbines turn wind energy </a:t>
                      </a:r>
                      <a:r>
                        <a:rPr lang="en-GB" sz="2000" b="1" dirty="0" smtClean="0">
                          <a:effectLst/>
                        </a:rPr>
                        <a:t>into electricity </a:t>
                      </a:r>
                      <a:r>
                        <a:rPr lang="en-GB" sz="2000" b="1" dirty="0">
                          <a:effectLst/>
                        </a:rPr>
                        <a:t>by turning a generator.</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effectLst/>
                        </a:rPr>
                        <a:t>Renewable energy resource and can be used as individual units.</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effectLst/>
                        </a:rPr>
                        <a:t>Manufacture and installation of wind farms can be costly.</a:t>
                      </a:r>
                    </a:p>
                    <a:p>
                      <a:pPr marL="0" lvl="0" indent="0">
                        <a:spcBef>
                          <a:spcPts val="140"/>
                        </a:spcBef>
                        <a:spcAft>
                          <a:spcPts val="0"/>
                        </a:spcAft>
                        <a:buSzPts val="1000"/>
                        <a:buFont typeface="Arial" panose="020B0604020202020204" pitchFamily="34" charset="0"/>
                        <a:buNone/>
                        <a:tabLst>
                          <a:tab pos="457200" algn="l"/>
                        </a:tabLst>
                      </a:pPr>
                      <a:r>
                        <a:rPr lang="en-GB" sz="2000" b="1" dirty="0">
                          <a:effectLst/>
                        </a:rPr>
                        <a:t>Some consider an eyesore.</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644241898"/>
                  </a:ext>
                </a:extLst>
              </a:tr>
              <a:tr h="601516">
                <a:tc>
                  <a:txBody>
                    <a:bodyPr/>
                    <a:lstStyle/>
                    <a:p>
                      <a:pPr>
                        <a:spcBef>
                          <a:spcPts val="140"/>
                        </a:spcBef>
                        <a:spcAft>
                          <a:spcPts val="600"/>
                        </a:spcAft>
                      </a:pPr>
                      <a:r>
                        <a:rPr lang="en-GB" sz="2000" dirty="0">
                          <a:solidFill>
                            <a:schemeClr val="tx1"/>
                          </a:solidFill>
                          <a:effectLst/>
                        </a:rPr>
                        <a:t>Tidal</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effectLst/>
                        </a:rPr>
                        <a:t>The movement of tides drives </a:t>
                      </a:r>
                      <a:r>
                        <a:rPr lang="en-GB" sz="2000" b="1" dirty="0" smtClean="0">
                          <a:effectLst/>
                        </a:rPr>
                        <a:t>turbines</a:t>
                      </a:r>
                      <a:r>
                        <a:rPr lang="en-GB" sz="2000" b="1" dirty="0">
                          <a:effectLst/>
                        </a:rPr>
                        <a:t>.</a:t>
                      </a:r>
                    </a:p>
                    <a:p>
                      <a:pPr marL="0" indent="0">
                        <a:spcBef>
                          <a:spcPts val="140"/>
                        </a:spcBef>
                        <a:spcAft>
                          <a:spcPts val="0"/>
                        </a:spcAft>
                        <a:buFont typeface="Arial" panose="020B0604020202020204" pitchFamily="34" charset="0"/>
                        <a:buNone/>
                        <a:tabLst>
                          <a:tab pos="457200" algn="l"/>
                        </a:tabLst>
                      </a:pPr>
                      <a:r>
                        <a:rPr lang="en-GB" sz="2000" b="1" dirty="0">
                          <a:effectLst/>
                        </a:rPr>
                        <a:t>A tidal barrage is built across estuaries</a:t>
                      </a:r>
                    </a:p>
                    <a:p>
                      <a:pPr marL="0" indent="0">
                        <a:spcBef>
                          <a:spcPts val="140"/>
                        </a:spcBef>
                        <a:spcAft>
                          <a:spcPts val="0"/>
                        </a:spcAft>
                        <a:buFont typeface="Arial" panose="020B0604020202020204" pitchFamily="34" charset="0"/>
                        <a:buNone/>
                        <a:tabLst>
                          <a:tab pos="457200" algn="l"/>
                        </a:tabLst>
                      </a:pPr>
                      <a:r>
                        <a:rPr lang="en-GB" sz="2000" b="1" dirty="0">
                          <a:effectLst/>
                        </a:rPr>
                        <a:t>to trap water.</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effectLst/>
                        </a:rPr>
                        <a:t>Ideal for an island such as the UK to potentially generate a lot of energy.</a:t>
                      </a:r>
                    </a:p>
                    <a:p>
                      <a:pPr marL="0" lvl="0" indent="0">
                        <a:spcBef>
                          <a:spcPts val="140"/>
                        </a:spcBef>
                        <a:spcAft>
                          <a:spcPts val="0"/>
                        </a:spcAft>
                        <a:buSzPts val="1000"/>
                        <a:buFont typeface="Arial" panose="020B0604020202020204" pitchFamily="34" charset="0"/>
                        <a:buNone/>
                        <a:tabLst>
                          <a:tab pos="457200" algn="l"/>
                        </a:tabLst>
                      </a:pPr>
                      <a:r>
                        <a:rPr lang="en-GB" sz="2000" b="1" dirty="0">
                          <a:effectLst/>
                        </a:rPr>
                        <a:t>Tidal barrage can help prevent flooding.</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effectLst/>
                        </a:rPr>
                        <a:t>Construction of barrage is very costly and can impact on wildlife.</a:t>
                      </a:r>
                    </a:p>
                    <a:p>
                      <a:pPr marL="0" indent="0">
                        <a:spcBef>
                          <a:spcPts val="140"/>
                        </a:spcBef>
                        <a:spcAft>
                          <a:spcPts val="0"/>
                        </a:spcAft>
                        <a:buFont typeface="Arial" panose="020B0604020202020204" pitchFamily="34" charset="0"/>
                        <a:buNone/>
                        <a:tabLst>
                          <a:tab pos="457200" algn="l"/>
                        </a:tabLst>
                      </a:pPr>
                      <a:r>
                        <a:rPr lang="en-GB" sz="2000" b="1" dirty="0">
                          <a:effectLst/>
                        </a:rPr>
                        <a:t>Only a few estuaries are suitable.</a:t>
                      </a:r>
                      <a:endParaRPr lang="en-GB" sz="2000" b="1" dirty="0">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1346976903"/>
                  </a:ext>
                </a:extLst>
              </a:tr>
            </a:tbl>
          </a:graphicData>
        </a:graphic>
      </p:graphicFrame>
      <p:sp>
        <p:nvSpPr>
          <p:cNvPr id="7" name="TextBox 6">
            <a:extLst>
              <a:ext uri="{FF2B5EF4-FFF2-40B4-BE49-F238E27FC236}">
                <a16:creationId xmlns:a16="http://schemas.microsoft.com/office/drawing/2014/main" xmlns="" id="{94C75E0B-D596-4838-B461-D38285C0AA6A}"/>
              </a:ext>
            </a:extLst>
          </p:cNvPr>
          <p:cNvSpPr txBox="1"/>
          <p:nvPr/>
        </p:nvSpPr>
        <p:spPr>
          <a:xfrm>
            <a:off x="1338610" y="0"/>
            <a:ext cx="7804855" cy="461665"/>
          </a:xfrm>
          <a:prstGeom prst="rect">
            <a:avLst/>
          </a:prstGeom>
          <a:noFill/>
        </p:spPr>
        <p:txBody>
          <a:bodyPr wrap="square" rtlCol="0">
            <a:spAutoFit/>
          </a:bodyPr>
          <a:lstStyle/>
          <a:p>
            <a:pPr algn="r"/>
            <a:r>
              <a:rPr lang="en-US" sz="2400" b="1" dirty="0" smtClean="0">
                <a:solidFill>
                  <a:schemeClr val="accent6">
                    <a:lumMod val="75000"/>
                  </a:schemeClr>
                </a:solidFill>
              </a:rPr>
              <a:t>Energy resources – Renewable </a:t>
            </a:r>
            <a:endParaRPr lang="en-US" sz="2400" b="1" dirty="0">
              <a:solidFill>
                <a:schemeClr val="accent6">
                  <a:lumMod val="75000"/>
                </a:schemeClr>
              </a:solidFill>
            </a:endParaRPr>
          </a:p>
        </p:txBody>
      </p:sp>
    </p:spTree>
    <p:extLst>
      <p:ext uri="{BB962C8B-B14F-4D97-AF65-F5344CB8AC3E}">
        <p14:creationId xmlns:p14="http://schemas.microsoft.com/office/powerpoint/2010/main" val="179863156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620688"/>
            <a:ext cx="8915400" cy="581400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graphicFrame>
        <p:nvGraphicFramePr>
          <p:cNvPr id="5" name="Table 4">
            <a:extLst>
              <a:ext uri="{FF2B5EF4-FFF2-40B4-BE49-F238E27FC236}">
                <a16:creationId xmlns:a16="http://schemas.microsoft.com/office/drawing/2014/main" xmlns="" id="{C118A8BA-6E3D-4CC2-BF75-A74D28A3D06C}"/>
              </a:ext>
            </a:extLst>
          </p:cNvPr>
          <p:cNvGraphicFramePr>
            <a:graphicFrameLocks noGrp="1"/>
          </p:cNvGraphicFramePr>
          <p:nvPr>
            <p:extLst>
              <p:ext uri="{D42A27DB-BD31-4B8C-83A1-F6EECF244321}">
                <p14:modId xmlns:p14="http://schemas.microsoft.com/office/powerpoint/2010/main" val="1386596088"/>
              </p:ext>
            </p:extLst>
          </p:nvPr>
        </p:nvGraphicFramePr>
        <p:xfrm>
          <a:off x="179512" y="908720"/>
          <a:ext cx="8784976" cy="4156058"/>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xmlns="" val="1554120338"/>
                    </a:ext>
                  </a:extLst>
                </a:gridCol>
                <a:gridCol w="2808312">
                  <a:extLst>
                    <a:ext uri="{9D8B030D-6E8A-4147-A177-3AD203B41FA5}">
                      <a16:colId xmlns:a16="http://schemas.microsoft.com/office/drawing/2014/main" xmlns="" val="2317170148"/>
                    </a:ext>
                  </a:extLst>
                </a:gridCol>
                <a:gridCol w="2232248">
                  <a:extLst>
                    <a:ext uri="{9D8B030D-6E8A-4147-A177-3AD203B41FA5}">
                      <a16:colId xmlns:a16="http://schemas.microsoft.com/office/drawing/2014/main" xmlns="" val="605792317"/>
                    </a:ext>
                  </a:extLst>
                </a:gridCol>
                <a:gridCol w="2088232">
                  <a:extLst>
                    <a:ext uri="{9D8B030D-6E8A-4147-A177-3AD203B41FA5}">
                      <a16:colId xmlns:a16="http://schemas.microsoft.com/office/drawing/2014/main" xmlns="" val="1559289919"/>
                    </a:ext>
                  </a:extLst>
                </a:gridCol>
              </a:tblGrid>
              <a:tr h="911143">
                <a:tc>
                  <a:txBody>
                    <a:bodyPr/>
                    <a:lstStyle/>
                    <a:p>
                      <a:pPr>
                        <a:spcBef>
                          <a:spcPts val="140"/>
                        </a:spcBef>
                        <a:spcAft>
                          <a:spcPts val="600"/>
                        </a:spcAft>
                      </a:pPr>
                      <a:r>
                        <a:rPr lang="en-GB" sz="2000" dirty="0">
                          <a:solidFill>
                            <a:schemeClr val="tx1"/>
                          </a:solidFill>
                          <a:effectLst/>
                        </a:rPr>
                        <a:t>Geothermal</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In volcanic regions, cold water is pumped underground and comes out as </a:t>
                      </a:r>
                      <a:r>
                        <a:rPr lang="en-GB" sz="2000" b="1" dirty="0" smtClean="0">
                          <a:solidFill>
                            <a:schemeClr val="tx1"/>
                          </a:solidFill>
                          <a:effectLst/>
                        </a:rPr>
                        <a:t>steam. Steam </a:t>
                      </a:r>
                      <a:r>
                        <a:rPr lang="en-GB" sz="2000" b="1" dirty="0">
                          <a:solidFill>
                            <a:schemeClr val="tx1"/>
                          </a:solidFill>
                          <a:effectLst/>
                        </a:rPr>
                        <a:t>can be used for heating or to power turbines creating electricity.</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Renewable energy resource.</a:t>
                      </a:r>
                    </a:p>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Used successfully in some countries, such as New Zealand and Iceland.</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Can be expensive to set up and only works in areas of volcanic activity.</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1170171295"/>
                  </a:ext>
                </a:extLst>
              </a:tr>
              <a:tr h="740203">
                <a:tc>
                  <a:txBody>
                    <a:bodyPr/>
                    <a:lstStyle/>
                    <a:p>
                      <a:pPr>
                        <a:spcBef>
                          <a:spcPts val="140"/>
                        </a:spcBef>
                        <a:spcAft>
                          <a:spcPts val="600"/>
                        </a:spcAft>
                      </a:pPr>
                      <a:r>
                        <a:rPr lang="en-GB" sz="2000" dirty="0">
                          <a:solidFill>
                            <a:schemeClr val="tx1"/>
                          </a:solidFill>
                          <a:effectLst/>
                        </a:rPr>
                        <a:t>Hydroelectric Power (HEP)</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Energy harnessed from the movement of water through rivers, lakes and dams. Used to turn turbines for electricity production.</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Creates water reserves as well as energy supplies.</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Costly to build.</a:t>
                      </a:r>
                    </a:p>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Can cause the flooding of surrounding communities and landscapes.</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1968509999"/>
                  </a:ext>
                </a:extLst>
              </a:tr>
            </a:tbl>
          </a:graphicData>
        </a:graphic>
      </p:graphicFrame>
      <p:sp>
        <p:nvSpPr>
          <p:cNvPr id="7" name="TextBox 6">
            <a:extLst>
              <a:ext uri="{FF2B5EF4-FFF2-40B4-BE49-F238E27FC236}">
                <a16:creationId xmlns:a16="http://schemas.microsoft.com/office/drawing/2014/main" xmlns="" id="{94C75E0B-D596-4838-B461-D38285C0AA6A}"/>
              </a:ext>
            </a:extLst>
          </p:cNvPr>
          <p:cNvSpPr txBox="1"/>
          <p:nvPr/>
        </p:nvSpPr>
        <p:spPr>
          <a:xfrm>
            <a:off x="1338610" y="0"/>
            <a:ext cx="7804855" cy="461665"/>
          </a:xfrm>
          <a:prstGeom prst="rect">
            <a:avLst/>
          </a:prstGeom>
          <a:noFill/>
        </p:spPr>
        <p:txBody>
          <a:bodyPr wrap="square" rtlCol="0">
            <a:spAutoFit/>
          </a:bodyPr>
          <a:lstStyle/>
          <a:p>
            <a:pPr algn="r"/>
            <a:r>
              <a:rPr lang="en-US" sz="2400" b="1" dirty="0" smtClean="0">
                <a:solidFill>
                  <a:schemeClr val="accent6">
                    <a:lumMod val="75000"/>
                  </a:schemeClr>
                </a:solidFill>
              </a:rPr>
              <a:t>Energy resources – Renewable </a:t>
            </a:r>
            <a:endParaRPr lang="en-US" sz="2400" b="1" dirty="0">
              <a:solidFill>
                <a:schemeClr val="accent6">
                  <a:lumMod val="75000"/>
                </a:schemeClr>
              </a:solidFill>
            </a:endParaRPr>
          </a:p>
        </p:txBody>
      </p:sp>
    </p:spTree>
    <p:extLst>
      <p:ext uri="{BB962C8B-B14F-4D97-AF65-F5344CB8AC3E}">
        <p14:creationId xmlns:p14="http://schemas.microsoft.com/office/powerpoint/2010/main" val="9433093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620688"/>
            <a:ext cx="8915400" cy="581400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graphicFrame>
        <p:nvGraphicFramePr>
          <p:cNvPr id="5" name="Table 4">
            <a:extLst>
              <a:ext uri="{FF2B5EF4-FFF2-40B4-BE49-F238E27FC236}">
                <a16:creationId xmlns:a16="http://schemas.microsoft.com/office/drawing/2014/main" xmlns="" id="{C118A8BA-6E3D-4CC2-BF75-A74D28A3D06C}"/>
              </a:ext>
            </a:extLst>
          </p:cNvPr>
          <p:cNvGraphicFramePr>
            <a:graphicFrameLocks noGrp="1"/>
          </p:cNvGraphicFramePr>
          <p:nvPr>
            <p:extLst>
              <p:ext uri="{D42A27DB-BD31-4B8C-83A1-F6EECF244321}">
                <p14:modId xmlns:p14="http://schemas.microsoft.com/office/powerpoint/2010/main" val="995330958"/>
              </p:ext>
            </p:extLst>
          </p:nvPr>
        </p:nvGraphicFramePr>
        <p:xfrm>
          <a:off x="179512" y="908720"/>
          <a:ext cx="8784976" cy="4156058"/>
        </p:xfrm>
        <a:graphic>
          <a:graphicData uri="http://schemas.openxmlformats.org/drawingml/2006/table">
            <a:tbl>
              <a:tblPr firstRow="1" firstCol="1" bandRow="1">
                <a:tableStyleId>{5C22544A-7EE6-4342-B048-85BDC9FD1C3A}</a:tableStyleId>
              </a:tblPr>
              <a:tblGrid>
                <a:gridCol w="1656184">
                  <a:extLst>
                    <a:ext uri="{9D8B030D-6E8A-4147-A177-3AD203B41FA5}">
                      <a16:colId xmlns:a16="http://schemas.microsoft.com/office/drawing/2014/main" xmlns="" val="1554120338"/>
                    </a:ext>
                  </a:extLst>
                </a:gridCol>
                <a:gridCol w="2808312">
                  <a:extLst>
                    <a:ext uri="{9D8B030D-6E8A-4147-A177-3AD203B41FA5}">
                      <a16:colId xmlns:a16="http://schemas.microsoft.com/office/drawing/2014/main" xmlns="" val="2317170148"/>
                    </a:ext>
                  </a:extLst>
                </a:gridCol>
                <a:gridCol w="2232248">
                  <a:extLst>
                    <a:ext uri="{9D8B030D-6E8A-4147-A177-3AD203B41FA5}">
                      <a16:colId xmlns:a16="http://schemas.microsoft.com/office/drawing/2014/main" xmlns="" val="605792317"/>
                    </a:ext>
                  </a:extLst>
                </a:gridCol>
                <a:gridCol w="2088232">
                  <a:extLst>
                    <a:ext uri="{9D8B030D-6E8A-4147-A177-3AD203B41FA5}">
                      <a16:colId xmlns:a16="http://schemas.microsoft.com/office/drawing/2014/main" xmlns="" val="1559289919"/>
                    </a:ext>
                  </a:extLst>
                </a:gridCol>
              </a:tblGrid>
              <a:tr h="756329">
                <a:tc>
                  <a:txBody>
                    <a:bodyPr/>
                    <a:lstStyle/>
                    <a:p>
                      <a:pPr>
                        <a:spcBef>
                          <a:spcPts val="140"/>
                        </a:spcBef>
                        <a:spcAft>
                          <a:spcPts val="600"/>
                        </a:spcAft>
                      </a:pPr>
                      <a:r>
                        <a:rPr lang="en-GB" sz="2000" dirty="0">
                          <a:solidFill>
                            <a:schemeClr val="tx1"/>
                          </a:solidFill>
                          <a:effectLst/>
                        </a:rPr>
                        <a:t>Biomass</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An organic material, which can be burned to provide energy, </a:t>
                      </a:r>
                      <a:r>
                        <a:rPr lang="en-GB" sz="2000" b="1" dirty="0" err="1">
                          <a:solidFill>
                            <a:schemeClr val="tx1"/>
                          </a:solidFill>
                          <a:effectLst/>
                        </a:rPr>
                        <a:t>eg</a:t>
                      </a:r>
                      <a:r>
                        <a:rPr lang="en-GB" sz="2000" b="1" dirty="0">
                          <a:solidFill>
                            <a:schemeClr val="tx1"/>
                          </a:solidFill>
                          <a:effectLst/>
                        </a:rPr>
                        <a:t> heat or electricity.</a:t>
                      </a:r>
                    </a:p>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After treatment with chemicals it can be used as a fuel in vehicle engines.</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It is a cheap and readily available source of energy.</a:t>
                      </a:r>
                    </a:p>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If replaced, biomass can be a long-term, sustainable energy source.</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When burned, it gives off greenhouse gases.</a:t>
                      </a:r>
                    </a:p>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Growing takes up large amounts of arable land..</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2066015469"/>
                  </a:ext>
                </a:extLst>
              </a:tr>
              <a:tr h="601516">
                <a:tc>
                  <a:txBody>
                    <a:bodyPr/>
                    <a:lstStyle/>
                    <a:p>
                      <a:pPr>
                        <a:spcBef>
                          <a:spcPts val="140"/>
                        </a:spcBef>
                        <a:spcAft>
                          <a:spcPts val="600"/>
                        </a:spcAft>
                      </a:pPr>
                      <a:r>
                        <a:rPr lang="en-GB" sz="2000" dirty="0">
                          <a:solidFill>
                            <a:schemeClr val="tx1"/>
                          </a:solidFill>
                          <a:effectLst/>
                        </a:rPr>
                        <a:t>Wave</a:t>
                      </a:r>
                      <a:endParaRPr lang="en-GB" sz="2000"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The movement of water in and out of a cavity on the shore compresses trapped air, driving a turbine.</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indent="0">
                        <a:spcBef>
                          <a:spcPts val="140"/>
                        </a:spcBef>
                        <a:spcAft>
                          <a:spcPts val="0"/>
                        </a:spcAft>
                        <a:buFont typeface="Arial" panose="020B0604020202020204" pitchFamily="34" charset="0"/>
                        <a:buNone/>
                        <a:tabLst>
                          <a:tab pos="457200" algn="l"/>
                        </a:tabLst>
                      </a:pPr>
                      <a:r>
                        <a:rPr lang="en-GB" sz="2000" b="1" dirty="0">
                          <a:solidFill>
                            <a:schemeClr val="tx1"/>
                          </a:solidFill>
                          <a:effectLst/>
                        </a:rPr>
                        <a:t>More likely to be small local operations, rather than done on a national scale.</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Construction can be costly.</a:t>
                      </a:r>
                    </a:p>
                    <a:p>
                      <a:pPr marL="0" lvl="0" indent="0">
                        <a:spcBef>
                          <a:spcPts val="140"/>
                        </a:spcBef>
                        <a:spcAft>
                          <a:spcPts val="0"/>
                        </a:spcAft>
                        <a:buSzPts val="1000"/>
                        <a:buFont typeface="Arial" panose="020B0604020202020204" pitchFamily="34" charset="0"/>
                        <a:buNone/>
                        <a:tabLst>
                          <a:tab pos="457200" algn="l"/>
                        </a:tabLst>
                      </a:pPr>
                      <a:r>
                        <a:rPr lang="en-GB" sz="2000" b="1" dirty="0">
                          <a:solidFill>
                            <a:schemeClr val="tx1"/>
                          </a:solidFill>
                          <a:effectLst/>
                        </a:rPr>
                        <a:t>Only produces small amounts of electricity.</a:t>
                      </a:r>
                      <a:endParaRPr lang="en-GB" sz="2000" b="1" dirty="0">
                        <a:solidFill>
                          <a:schemeClr val="tx1"/>
                        </a:solidFill>
                        <a:effectLst/>
                        <a:latin typeface="Tahoma" panose="020B0604030504040204" pitchFamily="34" charset="0"/>
                        <a:ea typeface="Calibri" panose="020F0502020204030204" pitchFamily="34" charset="0"/>
                        <a:cs typeface="Times New Roman" panose="02020603050405020304" pitchFamily="18" charset="0"/>
                      </a:endParaRPr>
                    </a:p>
                  </a:txBody>
                  <a:tcPr marL="67303" marR="42064" marT="67303" marB="1682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xmlns="" val="4047727367"/>
                  </a:ext>
                </a:extLst>
              </a:tr>
            </a:tbl>
          </a:graphicData>
        </a:graphic>
      </p:graphicFrame>
      <p:sp>
        <p:nvSpPr>
          <p:cNvPr id="7" name="TextBox 6">
            <a:extLst>
              <a:ext uri="{FF2B5EF4-FFF2-40B4-BE49-F238E27FC236}">
                <a16:creationId xmlns:a16="http://schemas.microsoft.com/office/drawing/2014/main" xmlns="" id="{94C75E0B-D596-4838-B461-D38285C0AA6A}"/>
              </a:ext>
            </a:extLst>
          </p:cNvPr>
          <p:cNvSpPr txBox="1"/>
          <p:nvPr/>
        </p:nvSpPr>
        <p:spPr>
          <a:xfrm>
            <a:off x="1338610" y="0"/>
            <a:ext cx="7804855" cy="461665"/>
          </a:xfrm>
          <a:prstGeom prst="rect">
            <a:avLst/>
          </a:prstGeom>
          <a:noFill/>
        </p:spPr>
        <p:txBody>
          <a:bodyPr wrap="square" rtlCol="0">
            <a:spAutoFit/>
          </a:bodyPr>
          <a:lstStyle/>
          <a:p>
            <a:pPr algn="r"/>
            <a:r>
              <a:rPr lang="en-US" sz="2400" b="1" dirty="0" smtClean="0">
                <a:solidFill>
                  <a:schemeClr val="accent6">
                    <a:lumMod val="75000"/>
                  </a:schemeClr>
                </a:solidFill>
              </a:rPr>
              <a:t>Energy resources – Renewable </a:t>
            </a:r>
            <a:endParaRPr lang="en-US" sz="2400" b="1" dirty="0">
              <a:solidFill>
                <a:schemeClr val="accent6">
                  <a:lumMod val="75000"/>
                </a:schemeClr>
              </a:solidFill>
            </a:endParaRPr>
          </a:p>
        </p:txBody>
      </p:sp>
    </p:spTree>
    <p:extLst>
      <p:ext uri="{BB962C8B-B14F-4D97-AF65-F5344CB8AC3E}">
        <p14:creationId xmlns:p14="http://schemas.microsoft.com/office/powerpoint/2010/main" val="16932815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088" y="620688"/>
            <a:ext cx="8915400" cy="581400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a:extLst>
              <a:ext uri="{FF2B5EF4-FFF2-40B4-BE49-F238E27FC236}">
                <a16:creationId xmlns:a16="http://schemas.microsoft.com/office/drawing/2014/main" xmlns="" id="{13EEA61D-3DE0-46D6-947B-F445CCBDD5BD}"/>
              </a:ext>
            </a:extLst>
          </p:cNvPr>
          <p:cNvSpPr txBox="1"/>
          <p:nvPr/>
        </p:nvSpPr>
        <p:spPr>
          <a:xfrm>
            <a:off x="251520" y="1283294"/>
            <a:ext cx="5256584" cy="2554545"/>
          </a:xfrm>
          <a:prstGeom prst="rect">
            <a:avLst/>
          </a:prstGeom>
          <a:noFill/>
          <a:ln w="25400">
            <a:solidFill>
              <a:schemeClr val="accent6">
                <a:lumMod val="75000"/>
              </a:schemeClr>
            </a:solidFill>
          </a:ln>
        </p:spPr>
        <p:txBody>
          <a:bodyPr wrap="square" rtlCol="0">
            <a:spAutoFit/>
          </a:bodyPr>
          <a:lstStyle/>
          <a:p>
            <a:r>
              <a:rPr lang="en-GB" sz="2000" dirty="0"/>
              <a:t>In the UK a </a:t>
            </a:r>
            <a:r>
              <a:rPr lang="en-GB" sz="2000" b="1" dirty="0">
                <a:solidFill>
                  <a:schemeClr val="accent6">
                    <a:lumMod val="75000"/>
                  </a:schemeClr>
                </a:solidFill>
              </a:rPr>
              <a:t>mix</a:t>
            </a:r>
            <a:r>
              <a:rPr lang="en-GB" sz="2000" dirty="0"/>
              <a:t> of energy supplies are used so should one supply become </a:t>
            </a:r>
            <a:r>
              <a:rPr lang="en-GB" sz="2000" b="1" dirty="0">
                <a:solidFill>
                  <a:schemeClr val="accent6">
                    <a:lumMod val="75000"/>
                  </a:schemeClr>
                </a:solidFill>
              </a:rPr>
              <a:t>unavailable</a:t>
            </a:r>
            <a:r>
              <a:rPr lang="en-GB" sz="2000" dirty="0"/>
              <a:t>, others can be used without </a:t>
            </a:r>
            <a:r>
              <a:rPr lang="en-GB" sz="2000" b="1" dirty="0">
                <a:solidFill>
                  <a:schemeClr val="accent6">
                    <a:lumMod val="75000"/>
                  </a:schemeClr>
                </a:solidFill>
              </a:rPr>
              <a:t>disruption</a:t>
            </a:r>
            <a:r>
              <a:rPr lang="en-GB" sz="2000" dirty="0"/>
              <a:t> to supplies.</a:t>
            </a:r>
          </a:p>
          <a:p>
            <a:endParaRPr lang="en-GB" sz="2000" dirty="0"/>
          </a:p>
          <a:p>
            <a:r>
              <a:rPr lang="en-GB" sz="2000" dirty="0"/>
              <a:t>Some energy sources are more </a:t>
            </a:r>
            <a:r>
              <a:rPr lang="en-GB" sz="2000" b="1" dirty="0">
                <a:solidFill>
                  <a:schemeClr val="accent6">
                    <a:lumMod val="75000"/>
                  </a:schemeClr>
                </a:solidFill>
              </a:rPr>
              <a:t>reliable</a:t>
            </a:r>
            <a:r>
              <a:rPr lang="en-GB" sz="2000" dirty="0"/>
              <a:t> than others. Coal, oil, gas and nuclear  are reliable sources as they can supply a </a:t>
            </a:r>
            <a:r>
              <a:rPr lang="en-GB" sz="2000" b="1" dirty="0">
                <a:solidFill>
                  <a:schemeClr val="accent6">
                    <a:lumMod val="75000"/>
                  </a:schemeClr>
                </a:solidFill>
              </a:rPr>
              <a:t>continuous</a:t>
            </a:r>
            <a:r>
              <a:rPr lang="en-GB" sz="2000" dirty="0"/>
              <a:t> flow of electricity. </a:t>
            </a:r>
          </a:p>
        </p:txBody>
      </p:sp>
      <p:pic>
        <p:nvPicPr>
          <p:cNvPr id="2050" name="Picture 2" descr="https://www.edfenergy.com/sites/default/files/styles/spire_tile__media__one_quarter__media/public/screenshot_2015-09-09_14.45.50_0.png?itok=E17u0sIa">
            <a:hlinkClick r:id="rId3"/>
            <a:extLst>
              <a:ext uri="{FF2B5EF4-FFF2-40B4-BE49-F238E27FC236}">
                <a16:creationId xmlns:a16="http://schemas.microsoft.com/office/drawing/2014/main" xmlns="" id="{34C18D6D-5D58-4F89-9BDC-01F82AA480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9937" y="1261548"/>
            <a:ext cx="3024336" cy="169041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xmlns="" id="{49292366-C866-4B17-B4C7-D84BAFD87DC8}"/>
              </a:ext>
            </a:extLst>
          </p:cNvPr>
          <p:cNvSpPr txBox="1"/>
          <p:nvPr/>
        </p:nvSpPr>
        <p:spPr>
          <a:xfrm rot="19035962">
            <a:off x="5551631" y="1162904"/>
            <a:ext cx="1481487" cy="707886"/>
          </a:xfrm>
          <a:prstGeom prst="rect">
            <a:avLst/>
          </a:prstGeom>
          <a:noFill/>
        </p:spPr>
        <p:txBody>
          <a:bodyPr vert="horz" wrap="square" rtlCol="0">
            <a:spAutoFit/>
          </a:bodyPr>
          <a:lstStyle/>
          <a:p>
            <a:pPr algn="ctr"/>
            <a:r>
              <a:rPr lang="en-GB" sz="2000" b="1" dirty="0"/>
              <a:t>The Energy mix</a:t>
            </a:r>
          </a:p>
        </p:txBody>
      </p:sp>
      <p:sp>
        <p:nvSpPr>
          <p:cNvPr id="10" name="TextBox 9">
            <a:extLst>
              <a:ext uri="{FF2B5EF4-FFF2-40B4-BE49-F238E27FC236}">
                <a16:creationId xmlns:a16="http://schemas.microsoft.com/office/drawing/2014/main" xmlns="" id="{74E795B4-F44A-4B89-B60E-C7B7C52397F0}"/>
              </a:ext>
            </a:extLst>
          </p:cNvPr>
          <p:cNvSpPr txBox="1"/>
          <p:nvPr/>
        </p:nvSpPr>
        <p:spPr>
          <a:xfrm>
            <a:off x="5543913" y="3941677"/>
            <a:ext cx="3456384" cy="2246769"/>
          </a:xfrm>
          <a:prstGeom prst="rect">
            <a:avLst/>
          </a:prstGeom>
          <a:noFill/>
          <a:ln w="25400">
            <a:solidFill>
              <a:schemeClr val="accent6">
                <a:lumMod val="75000"/>
              </a:schemeClr>
            </a:solidFill>
          </a:ln>
        </p:spPr>
        <p:txBody>
          <a:bodyPr wrap="square" rtlCol="0">
            <a:spAutoFit/>
          </a:bodyPr>
          <a:lstStyle/>
          <a:p>
            <a:r>
              <a:rPr lang="en-GB" sz="2000" dirty="0"/>
              <a:t>Electricity  from wind turbines relies on the wind blowing, solar power does not work at night and hydro-electric requires a continuous supply of water. These are considered </a:t>
            </a:r>
            <a:r>
              <a:rPr lang="en-GB" sz="2000" b="1" dirty="0">
                <a:solidFill>
                  <a:schemeClr val="accent6">
                    <a:lumMod val="75000"/>
                  </a:schemeClr>
                </a:solidFill>
              </a:rPr>
              <a:t>unreliable</a:t>
            </a:r>
            <a:r>
              <a:rPr lang="en-GB" sz="2000" dirty="0"/>
              <a:t> sources.</a:t>
            </a:r>
          </a:p>
        </p:txBody>
      </p:sp>
      <p:pic>
        <p:nvPicPr>
          <p:cNvPr id="14" name="Picture 13">
            <a:extLst>
              <a:ext uri="{FF2B5EF4-FFF2-40B4-BE49-F238E27FC236}">
                <a16:creationId xmlns:a16="http://schemas.microsoft.com/office/drawing/2014/main" xmlns="" id="{B58DF027-9238-458D-898A-B8D3B0E020DF}"/>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9874" y="3835741"/>
            <a:ext cx="4853253" cy="3012605"/>
          </a:xfrm>
          <a:prstGeom prst="rect">
            <a:avLst/>
          </a:prstGeom>
        </p:spPr>
      </p:pic>
      <p:sp>
        <p:nvSpPr>
          <p:cNvPr id="15" name="TextBox 14">
            <a:extLst>
              <a:ext uri="{FF2B5EF4-FFF2-40B4-BE49-F238E27FC236}">
                <a16:creationId xmlns:a16="http://schemas.microsoft.com/office/drawing/2014/main" xmlns="" id="{60702FA2-9FA5-4A7C-AC20-17DAD923EE67}"/>
              </a:ext>
            </a:extLst>
          </p:cNvPr>
          <p:cNvSpPr txBox="1"/>
          <p:nvPr/>
        </p:nvSpPr>
        <p:spPr>
          <a:xfrm>
            <a:off x="251519" y="749141"/>
            <a:ext cx="5256585" cy="400110"/>
          </a:xfrm>
          <a:prstGeom prst="rect">
            <a:avLst/>
          </a:prstGeom>
          <a:solidFill>
            <a:schemeClr val="accent6">
              <a:lumMod val="60000"/>
              <a:lumOff val="40000"/>
            </a:schemeClr>
          </a:solidFill>
        </p:spPr>
        <p:txBody>
          <a:bodyPr wrap="square" rtlCol="0">
            <a:spAutoFit/>
          </a:bodyPr>
          <a:lstStyle/>
          <a:p>
            <a:pPr algn="ctr"/>
            <a:r>
              <a:rPr lang="en-GB" sz="2000" b="1" dirty="0"/>
              <a:t>Security and reliability of energy supplies</a:t>
            </a:r>
          </a:p>
        </p:txBody>
      </p:sp>
      <p:sp>
        <p:nvSpPr>
          <p:cNvPr id="11" name="TextBox 10">
            <a:extLst>
              <a:ext uri="{FF2B5EF4-FFF2-40B4-BE49-F238E27FC236}">
                <a16:creationId xmlns:a16="http://schemas.microsoft.com/office/drawing/2014/main" xmlns="" id="{94C75E0B-D596-4838-B461-D38285C0AA6A}"/>
              </a:ext>
            </a:extLst>
          </p:cNvPr>
          <p:cNvSpPr txBox="1"/>
          <p:nvPr/>
        </p:nvSpPr>
        <p:spPr>
          <a:xfrm>
            <a:off x="1309369" y="45328"/>
            <a:ext cx="7804855" cy="461665"/>
          </a:xfrm>
          <a:prstGeom prst="rect">
            <a:avLst/>
          </a:prstGeom>
          <a:noFill/>
        </p:spPr>
        <p:txBody>
          <a:bodyPr wrap="square" rtlCol="0">
            <a:spAutoFit/>
          </a:bodyPr>
          <a:lstStyle/>
          <a:p>
            <a:pPr algn="r"/>
            <a:r>
              <a:rPr lang="en-US" sz="2400" b="1">
                <a:solidFill>
                  <a:schemeClr val="accent6">
                    <a:lumMod val="75000"/>
                  </a:schemeClr>
                </a:solidFill>
              </a:rPr>
              <a:t>   National and global energy resources</a:t>
            </a:r>
          </a:p>
        </p:txBody>
      </p:sp>
    </p:spTree>
    <p:extLst>
      <p:ext uri="{BB962C8B-B14F-4D97-AF65-F5344CB8AC3E}">
        <p14:creationId xmlns:p14="http://schemas.microsoft.com/office/powerpoint/2010/main" val="4382328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4" name="Rectangle 3"/>
          <p:cNvSpPr/>
          <p:nvPr/>
        </p:nvSpPr>
        <p:spPr>
          <a:xfrm>
            <a:off x="49088" y="620688"/>
            <a:ext cx="8915400" cy="581400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2" name="TextBox 1">
            <a:extLst>
              <a:ext uri="{FF2B5EF4-FFF2-40B4-BE49-F238E27FC236}">
                <a16:creationId xmlns:a16="http://schemas.microsoft.com/office/drawing/2014/main" xmlns="" id="{94C75E0B-D596-4838-B461-D38285C0AA6A}"/>
              </a:ext>
            </a:extLst>
          </p:cNvPr>
          <p:cNvSpPr txBox="1"/>
          <p:nvPr/>
        </p:nvSpPr>
        <p:spPr>
          <a:xfrm>
            <a:off x="1159633" y="0"/>
            <a:ext cx="7804855" cy="461665"/>
          </a:xfrm>
          <a:prstGeom prst="rect">
            <a:avLst/>
          </a:prstGeom>
          <a:noFill/>
        </p:spPr>
        <p:txBody>
          <a:bodyPr wrap="square" rtlCol="0">
            <a:spAutoFit/>
          </a:bodyPr>
          <a:lstStyle/>
          <a:p>
            <a:r>
              <a:rPr lang="en-US" sz="2400" b="1" dirty="0" smtClean="0">
                <a:solidFill>
                  <a:schemeClr val="accent6">
                    <a:lumMod val="75000"/>
                  </a:schemeClr>
                </a:solidFill>
              </a:rPr>
              <a:t>National </a:t>
            </a:r>
            <a:r>
              <a:rPr lang="en-US" sz="2400" b="1" dirty="0">
                <a:solidFill>
                  <a:schemeClr val="accent6">
                    <a:lumMod val="75000"/>
                  </a:schemeClr>
                </a:solidFill>
              </a:rPr>
              <a:t>and Global energy resources – Trends in energy use</a:t>
            </a:r>
          </a:p>
        </p:txBody>
      </p:sp>
      <p:sp>
        <p:nvSpPr>
          <p:cNvPr id="7" name="TextBox 6">
            <a:extLst>
              <a:ext uri="{FF2B5EF4-FFF2-40B4-BE49-F238E27FC236}">
                <a16:creationId xmlns:a16="http://schemas.microsoft.com/office/drawing/2014/main" xmlns="" id="{9F4C9CA8-A649-4BD8-BC6F-B3533D6B7D22}"/>
              </a:ext>
            </a:extLst>
          </p:cNvPr>
          <p:cNvSpPr txBox="1"/>
          <p:nvPr/>
        </p:nvSpPr>
        <p:spPr>
          <a:xfrm>
            <a:off x="1878496" y="832012"/>
            <a:ext cx="5256584" cy="461665"/>
          </a:xfrm>
          <a:prstGeom prst="rect">
            <a:avLst/>
          </a:prstGeom>
          <a:solidFill>
            <a:schemeClr val="accent6">
              <a:lumMod val="60000"/>
              <a:lumOff val="40000"/>
            </a:schemeClr>
          </a:solidFill>
        </p:spPr>
        <p:txBody>
          <a:bodyPr wrap="square" rtlCol="0">
            <a:spAutoFit/>
          </a:bodyPr>
          <a:lstStyle/>
          <a:p>
            <a:r>
              <a:rPr lang="en-GB" sz="2400" dirty="0"/>
              <a:t>World energy use trends and predictions</a:t>
            </a:r>
          </a:p>
        </p:txBody>
      </p:sp>
      <p:pic>
        <p:nvPicPr>
          <p:cNvPr id="8" name="Picture 7">
            <a:extLst>
              <a:ext uri="{FF2B5EF4-FFF2-40B4-BE49-F238E27FC236}">
                <a16:creationId xmlns:a16="http://schemas.microsoft.com/office/drawing/2014/main" xmlns="" id="{BDD64C3F-1CB0-4716-B916-6EFB2D0D990B}"/>
              </a:ext>
            </a:extLst>
          </p:cNvPr>
          <p:cNvPicPr>
            <a:picLocks noChangeAspect="1"/>
          </p:cNvPicPr>
          <p:nvPr/>
        </p:nvPicPr>
        <p:blipFill>
          <a:blip r:embed="rId3"/>
          <a:stretch>
            <a:fillRect/>
          </a:stretch>
        </p:blipFill>
        <p:spPr>
          <a:xfrm>
            <a:off x="248527" y="1452700"/>
            <a:ext cx="4751317" cy="3216122"/>
          </a:xfrm>
          <a:prstGeom prst="rect">
            <a:avLst/>
          </a:prstGeom>
        </p:spPr>
      </p:pic>
      <p:sp>
        <p:nvSpPr>
          <p:cNvPr id="9" name="TextBox 8">
            <a:extLst>
              <a:ext uri="{FF2B5EF4-FFF2-40B4-BE49-F238E27FC236}">
                <a16:creationId xmlns:a16="http://schemas.microsoft.com/office/drawing/2014/main" xmlns="" id="{F7BE4301-0235-4C80-9601-38AC06AC0002}"/>
              </a:ext>
            </a:extLst>
          </p:cNvPr>
          <p:cNvSpPr txBox="1"/>
          <p:nvPr/>
        </p:nvSpPr>
        <p:spPr>
          <a:xfrm>
            <a:off x="5198746" y="1448755"/>
            <a:ext cx="3765206" cy="3170099"/>
          </a:xfrm>
          <a:prstGeom prst="rect">
            <a:avLst/>
          </a:prstGeom>
          <a:noFill/>
          <a:ln w="19050">
            <a:solidFill>
              <a:schemeClr val="accent6">
                <a:lumMod val="75000"/>
              </a:schemeClr>
            </a:solidFill>
          </a:ln>
        </p:spPr>
        <p:txBody>
          <a:bodyPr wrap="square" rtlCol="0">
            <a:spAutoFit/>
          </a:bodyPr>
          <a:lstStyle/>
          <a:p>
            <a:r>
              <a:rPr lang="en-GB" sz="2000" dirty="0"/>
              <a:t>The </a:t>
            </a:r>
            <a:r>
              <a:rPr lang="en-GB" sz="2000" dirty="0">
                <a:solidFill>
                  <a:schemeClr val="accent6"/>
                </a:solidFill>
              </a:rPr>
              <a:t>total amount of energy used </a:t>
            </a:r>
            <a:r>
              <a:rPr lang="en-GB" sz="2000" dirty="0"/>
              <a:t>in the world is increasing as the population increases and each person is using more energy.</a:t>
            </a:r>
          </a:p>
          <a:p>
            <a:endParaRPr lang="en-GB" sz="2000" dirty="0"/>
          </a:p>
          <a:p>
            <a:r>
              <a:rPr lang="en-GB" sz="2000" b="1" dirty="0">
                <a:solidFill>
                  <a:schemeClr val="accent6"/>
                </a:solidFill>
              </a:rPr>
              <a:t>Renewable energies </a:t>
            </a:r>
            <a:r>
              <a:rPr lang="en-GB" sz="2000" dirty="0"/>
              <a:t>only make up around 20% of total energy consumption and this trend is unlikely to change until after 2035.</a:t>
            </a:r>
          </a:p>
          <a:p>
            <a:endParaRPr lang="en-GB" sz="2000" dirty="0"/>
          </a:p>
        </p:txBody>
      </p:sp>
      <p:sp>
        <p:nvSpPr>
          <p:cNvPr id="3" name="Rectangle 2"/>
          <p:cNvSpPr/>
          <p:nvPr/>
        </p:nvSpPr>
        <p:spPr>
          <a:xfrm>
            <a:off x="145840" y="4894752"/>
            <a:ext cx="8721895" cy="1569660"/>
          </a:xfrm>
          <a:prstGeom prst="rect">
            <a:avLst/>
          </a:prstGeom>
        </p:spPr>
        <p:txBody>
          <a:bodyPr wrap="square">
            <a:spAutoFit/>
          </a:bodyPr>
          <a:lstStyle/>
          <a:p>
            <a:pPr marL="342900" indent="-342900">
              <a:buFont typeface="Arial" charset="0"/>
              <a:buChar char="•"/>
            </a:pPr>
            <a:r>
              <a:rPr lang="en-GB" sz="2400" b="1" dirty="0"/>
              <a:t>Future world agreements on emissions are likely to determine the trend of using fossil </a:t>
            </a:r>
            <a:r>
              <a:rPr lang="en-GB" sz="2400" b="1"/>
              <a:t>fuels</a:t>
            </a:r>
            <a:r>
              <a:rPr lang="en-GB" sz="2400" b="1" smtClean="0"/>
              <a:t>.</a:t>
            </a:r>
            <a:endParaRPr lang="en-GB" sz="2400" b="1" dirty="0"/>
          </a:p>
          <a:p>
            <a:pPr marL="342900" indent="-342900">
              <a:buFont typeface="Arial" charset="0"/>
              <a:buChar char="•"/>
            </a:pPr>
            <a:r>
              <a:rPr lang="en-GB" sz="2400" b="1" dirty="0"/>
              <a:t>As reserves of coal, oil and gas dwindle, an increase in the use of renewable energies is likely. </a:t>
            </a:r>
          </a:p>
        </p:txBody>
      </p:sp>
    </p:spTree>
    <p:extLst>
      <p:ext uri="{BB962C8B-B14F-4D97-AF65-F5344CB8AC3E}">
        <p14:creationId xmlns:p14="http://schemas.microsoft.com/office/powerpoint/2010/main" val="7326635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693319"/>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r>
              <a:rPr lang="en-US" sz="3600" b="1" dirty="0">
                <a:solidFill>
                  <a:schemeClr val="bg1">
                    <a:lumMod val="50000"/>
                  </a:schemeClr>
                </a:solidFill>
              </a:rPr>
              <a:t>National and Global Energy resources</a:t>
            </a:r>
          </a:p>
          <a:p>
            <a:endParaRPr lang="en-US" sz="3600" b="1" dirty="0">
              <a:solidFill>
                <a:schemeClr val="bg1">
                  <a:lumMod val="50000"/>
                </a:schemeClr>
              </a:solidFill>
            </a:endParaRP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571999" y="802524"/>
            <a:ext cx="4492487" cy="5638800"/>
          </a:xfrm>
          <a:prstGeom prst="rect">
            <a:avLst/>
          </a:prstGeom>
        </p:spPr>
      </p:pic>
    </p:spTree>
    <p:extLst>
      <p:ext uri="{BB962C8B-B14F-4D97-AF65-F5344CB8AC3E}">
        <p14:creationId xmlns:p14="http://schemas.microsoft.com/office/powerpoint/2010/main" val="10816008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2400" b="1" dirty="0">
                <a:solidFill>
                  <a:schemeClr val="accent6">
                    <a:lumMod val="75000"/>
                  </a:schemeClr>
                </a:solidFill>
                <a:latin typeface="+mn-lt"/>
              </a:rPr>
              <a:t>     National and Global Energy resources </a:t>
            </a:r>
            <a:r>
              <a:rPr lang="en-US" sz="2400" b="1" dirty="0">
                <a:solidFill>
                  <a:schemeClr val="accent6"/>
                </a:solidFill>
              </a:rPr>
              <a:t>– </a:t>
            </a:r>
            <a:r>
              <a:rPr kumimoji="0" lang="en-US" sz="24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5886" y="657041"/>
            <a:ext cx="8915400" cy="6078587"/>
          </a:xfrm>
          <a:prstGeom prst="rect">
            <a:avLst/>
          </a:prstGeom>
          <a:noFill/>
        </p:spPr>
        <p:txBody>
          <a:bodyPr wrap="square" rtlCol="0">
            <a:spAutoFit/>
          </a:bodyPr>
          <a:lstStyle/>
          <a:p>
            <a:pPr marL="457200" indent="-457200">
              <a:buAutoNum type="arabicPeriod"/>
            </a:pPr>
            <a:r>
              <a:rPr lang="en-GB" sz="2400" dirty="0"/>
              <a:t>What is a fossil fuel?</a:t>
            </a:r>
          </a:p>
          <a:p>
            <a:r>
              <a:rPr lang="en-GB" sz="2000" b="1" dirty="0">
                <a:solidFill>
                  <a:srgbClr val="00B050"/>
                </a:solidFill>
              </a:rPr>
              <a:t>          </a:t>
            </a:r>
            <a:endParaRPr lang="en-GB" sz="600" dirty="0"/>
          </a:p>
          <a:p>
            <a:r>
              <a:rPr lang="en-GB" sz="2400" dirty="0"/>
              <a:t>2.   Copy and complete the table below by ticking the correct box for</a:t>
            </a:r>
          </a:p>
          <a:p>
            <a:r>
              <a:rPr lang="en-GB" sz="2400" dirty="0"/>
              <a:t>       each energy source.</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3.   What is a renewable energy source?</a:t>
            </a:r>
          </a:p>
          <a:p>
            <a:r>
              <a:rPr lang="en-GB" sz="2400" dirty="0"/>
              <a:t>     </a:t>
            </a:r>
            <a:r>
              <a:rPr lang="en-GB" sz="2400" b="1" dirty="0">
                <a:solidFill>
                  <a:srgbClr val="00B050"/>
                </a:solidFill>
              </a:rPr>
              <a:t> </a:t>
            </a:r>
          </a:p>
        </p:txBody>
      </p:sp>
      <p:graphicFrame>
        <p:nvGraphicFramePr>
          <p:cNvPr id="5" name="Table 4"/>
          <p:cNvGraphicFramePr>
            <a:graphicFrameLocks noGrp="1"/>
          </p:cNvGraphicFramePr>
          <p:nvPr>
            <p:extLst/>
          </p:nvPr>
        </p:nvGraphicFramePr>
        <p:xfrm>
          <a:off x="1547664" y="2132856"/>
          <a:ext cx="6437717" cy="3396272"/>
        </p:xfrm>
        <a:graphic>
          <a:graphicData uri="http://schemas.openxmlformats.org/drawingml/2006/table">
            <a:tbl>
              <a:tblPr firstRow="1" bandRow="1">
                <a:tableStyleId>{2D5ABB26-0587-4C30-8999-92F81FD0307C}</a:tableStyleId>
              </a:tblPr>
              <a:tblGrid>
                <a:gridCol w="3031970">
                  <a:extLst>
                    <a:ext uri="{9D8B030D-6E8A-4147-A177-3AD203B41FA5}">
                      <a16:colId xmlns:a16="http://schemas.microsoft.com/office/drawing/2014/main" xmlns="" val="20000"/>
                    </a:ext>
                  </a:extLst>
                </a:gridCol>
                <a:gridCol w="1602705">
                  <a:extLst>
                    <a:ext uri="{9D8B030D-6E8A-4147-A177-3AD203B41FA5}">
                      <a16:colId xmlns:a16="http://schemas.microsoft.com/office/drawing/2014/main" xmlns="" val="20001"/>
                    </a:ext>
                  </a:extLst>
                </a:gridCol>
                <a:gridCol w="1803042">
                  <a:extLst>
                    <a:ext uri="{9D8B030D-6E8A-4147-A177-3AD203B41FA5}">
                      <a16:colId xmlns:a16="http://schemas.microsoft.com/office/drawing/2014/main" xmlns="" val="20002"/>
                    </a:ext>
                  </a:extLst>
                </a:gridCol>
              </a:tblGrid>
              <a:tr h="0">
                <a:tc>
                  <a:txBody>
                    <a:bodyPr/>
                    <a:lstStyle/>
                    <a:p>
                      <a:pPr algn="ctr"/>
                      <a:r>
                        <a:rPr lang="en-GB" sz="1800" dirty="0"/>
                        <a:t>Energy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GB" sz="1800" dirty="0"/>
                        <a:t>Renewable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GB" sz="1800" dirty="0"/>
                        <a:t>Non-renewable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xmlns="" val="10000"/>
                  </a:ext>
                </a:extLst>
              </a:tr>
              <a:tr h="282312">
                <a:tc>
                  <a:txBody>
                    <a:bodyPr/>
                    <a:lstStyle/>
                    <a:p>
                      <a:pPr algn="ctr"/>
                      <a:r>
                        <a:rPr lang="en-GB" sz="1600" b="1" dirty="0"/>
                        <a:t>Bio-fuels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1"/>
                  </a:ext>
                </a:extLst>
              </a:tr>
              <a:tr h="231816">
                <a:tc>
                  <a:txBody>
                    <a:bodyPr/>
                    <a:lstStyle/>
                    <a:p>
                      <a:pPr algn="ctr"/>
                      <a:r>
                        <a:rPr lang="en-GB" sz="1600" b="1" dirty="0"/>
                        <a:t>Oil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2"/>
                  </a:ext>
                </a:extLst>
              </a:tr>
              <a:tr h="338528">
                <a:tc>
                  <a:txBody>
                    <a:bodyPr/>
                    <a:lstStyle/>
                    <a:p>
                      <a:pPr algn="ctr"/>
                      <a:r>
                        <a:rPr lang="en-GB" sz="1600" b="1" dirty="0"/>
                        <a:t>Nuclear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338528">
                <a:tc>
                  <a:txBody>
                    <a:bodyPr/>
                    <a:lstStyle/>
                    <a:p>
                      <a:pPr algn="ctr"/>
                      <a:r>
                        <a:rPr lang="en-GB" sz="1600" b="1" dirty="0"/>
                        <a:t>Hydro-electricity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4"/>
                  </a:ext>
                </a:extLst>
              </a:tr>
              <a:tr h="302848">
                <a:tc>
                  <a:txBody>
                    <a:bodyPr/>
                    <a:lstStyle/>
                    <a:p>
                      <a:pPr algn="ctr"/>
                      <a:r>
                        <a:rPr lang="en-GB" sz="1600" b="1" dirty="0"/>
                        <a:t>Wind turbines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5"/>
                  </a:ext>
                </a:extLst>
              </a:tr>
              <a:tr h="338528">
                <a:tc>
                  <a:txBody>
                    <a:bodyPr/>
                    <a:lstStyle/>
                    <a:p>
                      <a:pPr algn="ctr"/>
                      <a:r>
                        <a:rPr lang="en-GB" sz="1600" b="1" dirty="0"/>
                        <a:t>Coal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238989308"/>
                  </a:ext>
                </a:extLst>
              </a:tr>
              <a:tr h="338528">
                <a:tc>
                  <a:txBody>
                    <a:bodyPr/>
                    <a:lstStyle/>
                    <a:p>
                      <a:pPr algn="ctr"/>
                      <a:r>
                        <a:rPr lang="en-GB" sz="1600" b="1" dirty="0"/>
                        <a:t>Solar power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762345313"/>
                  </a:ext>
                </a:extLst>
              </a:tr>
              <a:tr h="298624">
                <a:tc>
                  <a:txBody>
                    <a:bodyPr/>
                    <a:lstStyle/>
                    <a:p>
                      <a:pPr algn="ctr"/>
                      <a:r>
                        <a:rPr lang="en-GB" sz="1600" b="1" dirty="0"/>
                        <a:t>Wave energy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221095035"/>
                  </a:ext>
                </a:extLst>
              </a:tr>
              <a:tr h="166376">
                <a:tc>
                  <a:txBody>
                    <a:bodyPr/>
                    <a:lstStyle/>
                    <a:p>
                      <a:pPr algn="ctr"/>
                      <a:r>
                        <a:rPr lang="en-GB" sz="1600" b="1" dirty="0"/>
                        <a:t>Natural gas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7789968"/>
                  </a:ext>
                </a:extLst>
              </a:tr>
            </a:tbl>
          </a:graphicData>
        </a:graphic>
      </p:graphicFrame>
    </p:spTree>
    <p:extLst>
      <p:ext uri="{BB962C8B-B14F-4D97-AF65-F5344CB8AC3E}">
        <p14:creationId xmlns:p14="http://schemas.microsoft.com/office/powerpoint/2010/main" val="15987563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National and Global Energy resources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48160"/>
            <a:ext cx="8915400" cy="5262979"/>
          </a:xfrm>
          <a:prstGeom prst="rect">
            <a:avLst/>
          </a:prstGeom>
          <a:noFill/>
        </p:spPr>
        <p:txBody>
          <a:bodyPr wrap="square" rtlCol="0">
            <a:spAutoFit/>
          </a:bodyPr>
          <a:lstStyle/>
          <a:p>
            <a:r>
              <a:rPr lang="en-GB" sz="2400" dirty="0"/>
              <a:t>4. Why are fossil fuels considered to be a more reliable energy</a:t>
            </a:r>
          </a:p>
          <a:p>
            <a:r>
              <a:rPr lang="en-GB" sz="2400" dirty="0"/>
              <a:t>    resource than renewable energy resources?</a:t>
            </a:r>
          </a:p>
          <a:p>
            <a:pPr>
              <a:lnSpc>
                <a:spcPct val="150000"/>
              </a:lnSpc>
            </a:pPr>
            <a:r>
              <a:rPr lang="en-GB" sz="2400" dirty="0"/>
              <a:t>    </a:t>
            </a:r>
            <a:r>
              <a:rPr lang="en-GB" sz="2300" b="1" dirty="0">
                <a:solidFill>
                  <a:srgbClr val="00B050"/>
                </a:solidFill>
              </a:rPr>
              <a:t> </a:t>
            </a:r>
          </a:p>
          <a:p>
            <a:r>
              <a:rPr lang="en-GB" sz="2400" dirty="0"/>
              <a:t>5. </a:t>
            </a:r>
            <a:r>
              <a:rPr lang="en-US" sz="2400" dirty="0"/>
              <a:t>Despite a large investment by the UK government in wind power,</a:t>
            </a:r>
          </a:p>
          <a:p>
            <a:r>
              <a:rPr lang="en-US" sz="2400" dirty="0"/>
              <a:t>    the amount of fossil fuel used has not seen a decline. Give a</a:t>
            </a:r>
          </a:p>
          <a:p>
            <a:r>
              <a:rPr lang="en-US" sz="2400" dirty="0"/>
              <a:t>    possible explanation for this.</a:t>
            </a:r>
          </a:p>
          <a:p>
            <a:r>
              <a:rPr lang="en-US" sz="2400" dirty="0"/>
              <a:t>    </a:t>
            </a:r>
            <a:r>
              <a:rPr lang="en-US" sz="2400" b="1" dirty="0">
                <a:solidFill>
                  <a:srgbClr val="00B050"/>
                </a:solidFill>
              </a:rPr>
              <a:t> </a:t>
            </a:r>
          </a:p>
          <a:p>
            <a:r>
              <a:rPr lang="en-US" sz="2400" b="1" dirty="0">
                <a:solidFill>
                  <a:srgbClr val="00B050"/>
                </a:solidFill>
              </a:rPr>
              <a:t>     </a:t>
            </a:r>
          </a:p>
          <a:p>
            <a:r>
              <a:rPr lang="en-US" sz="2400" dirty="0"/>
              <a:t>6. The UK government is committed to investing in a "blend" of energy</a:t>
            </a:r>
          </a:p>
          <a:p>
            <a:r>
              <a:rPr lang="en-US" sz="2400" dirty="0"/>
              <a:t>     supply types to provide the UK’s energy needs for the next 100</a:t>
            </a:r>
          </a:p>
          <a:p>
            <a:r>
              <a:rPr lang="en-US" sz="2400" dirty="0"/>
              <a:t>     years. Give an advantage of this rather than using just coal.</a:t>
            </a:r>
            <a:endParaRPr lang="en-GB" sz="2400" dirty="0"/>
          </a:p>
          <a:p>
            <a:r>
              <a:rPr lang="en-GB" sz="2400" dirty="0"/>
              <a:t>     </a:t>
            </a:r>
          </a:p>
          <a:p>
            <a:pPr>
              <a:lnSpc>
                <a:spcPct val="150000"/>
              </a:lnSpc>
            </a:pPr>
            <a:endParaRPr lang="en-GB" sz="2400" dirty="0"/>
          </a:p>
        </p:txBody>
      </p:sp>
    </p:spTree>
    <p:extLst>
      <p:ext uri="{BB962C8B-B14F-4D97-AF65-F5344CB8AC3E}">
        <p14:creationId xmlns:p14="http://schemas.microsoft.com/office/powerpoint/2010/main" val="9830873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l" defTabSz="342900" rtl="0">
              <a:spcBef>
                <a:spcPct val="20000"/>
              </a:spcBef>
            </a:pPr>
            <a:r>
              <a:rPr lang="en-US" sz="2400" b="1" dirty="0">
                <a:solidFill>
                  <a:schemeClr val="accent6">
                    <a:lumMod val="75000"/>
                  </a:schemeClr>
                </a:solidFill>
                <a:latin typeface="+mn-lt"/>
              </a:rPr>
              <a:t>       National and Global Energy resources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69946" y="548680"/>
            <a:ext cx="8915400" cy="7478970"/>
          </a:xfrm>
          <a:prstGeom prst="rect">
            <a:avLst/>
          </a:prstGeom>
          <a:noFill/>
        </p:spPr>
        <p:txBody>
          <a:bodyPr wrap="square" rtlCol="0">
            <a:spAutoFit/>
          </a:bodyPr>
          <a:lstStyle/>
          <a:p>
            <a:pPr>
              <a:lnSpc>
                <a:spcPct val="150000"/>
              </a:lnSpc>
            </a:pPr>
            <a:r>
              <a:rPr lang="en-GB" sz="2400" dirty="0"/>
              <a:t>7. </a:t>
            </a:r>
            <a:r>
              <a:rPr lang="en-US" sz="2400" dirty="0"/>
              <a:t>The graph shows the world use of renewable energies over the past sixty years.</a:t>
            </a:r>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r>
              <a:rPr lang="en-US" sz="2400" dirty="0" smtClean="0"/>
              <a:t>a</a:t>
            </a:r>
            <a:r>
              <a:rPr lang="en-US" sz="2400" dirty="0"/>
              <a:t>. Why has the use of wood increased very little over this time?</a:t>
            </a:r>
          </a:p>
          <a:p>
            <a:r>
              <a:rPr lang="en-US" sz="2400" dirty="0"/>
              <a:t>          </a:t>
            </a:r>
            <a:r>
              <a:rPr lang="en-US" sz="2400" b="1" dirty="0">
                <a:solidFill>
                  <a:srgbClr val="00B050"/>
                </a:solidFill>
              </a:rPr>
              <a:t> </a:t>
            </a:r>
          </a:p>
          <a:p>
            <a:r>
              <a:rPr lang="en-US" sz="2400" dirty="0" smtClean="0"/>
              <a:t>b</a:t>
            </a:r>
            <a:r>
              <a:rPr lang="en-US" sz="2400" dirty="0"/>
              <a:t>. A lot of money has been invested in wind turbines. Why does this </a:t>
            </a:r>
            <a:r>
              <a:rPr lang="en-US" sz="2400" dirty="0" smtClean="0"/>
              <a:t>energy </a:t>
            </a:r>
            <a:r>
              <a:rPr lang="en-US" sz="2400" dirty="0"/>
              <a:t>source not produce as much as any other renewable resource?</a:t>
            </a:r>
            <a:r>
              <a:rPr lang="en-US" sz="2400" b="1" dirty="0">
                <a:solidFill>
                  <a:srgbClr val="00B050"/>
                </a:solidFill>
              </a:rPr>
              <a:t>          </a:t>
            </a:r>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pic>
        <p:nvPicPr>
          <p:cNvPr id="7" name="Picture 6" descr="Image result for energy source trends">
            <a:extLst>
              <a:ext uri="{FF2B5EF4-FFF2-40B4-BE49-F238E27FC236}">
                <a16:creationId xmlns:a16="http://schemas.microsoft.com/office/drawing/2014/main" xmlns="" id="{D4FF3180-BBEF-421A-B480-A0CC832B44D3}"/>
              </a:ext>
            </a:extLst>
          </p:cNvPr>
          <p:cNvPicPr/>
          <p:nvPr/>
        </p:nvPicPr>
        <p:blipFill>
          <a:blip r:embed="rId2"/>
          <a:srcRect/>
          <a:stretch>
            <a:fillRect/>
          </a:stretch>
        </p:blipFill>
        <p:spPr bwMode="auto">
          <a:xfrm>
            <a:off x="2112757" y="1417970"/>
            <a:ext cx="4685814" cy="2160240"/>
          </a:xfrm>
          <a:prstGeom prst="rect">
            <a:avLst/>
          </a:prstGeom>
          <a:noFill/>
          <a:ln w="9525">
            <a:noFill/>
            <a:miter lim="800000"/>
            <a:headEnd/>
            <a:tailEnd/>
          </a:ln>
        </p:spPr>
      </p:pic>
    </p:spTree>
    <p:extLst>
      <p:ext uri="{BB962C8B-B14F-4D97-AF65-F5344CB8AC3E}">
        <p14:creationId xmlns:p14="http://schemas.microsoft.com/office/powerpoint/2010/main" val="1068455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National and Global Energy resources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802524"/>
            <a:ext cx="8994913" cy="5632311"/>
          </a:xfrm>
          <a:prstGeom prst="rect">
            <a:avLst/>
          </a:prstGeom>
          <a:noFill/>
        </p:spPr>
        <p:txBody>
          <a:bodyPr wrap="square" rtlCol="0">
            <a:spAutoFit/>
          </a:bodyPr>
          <a:lstStyle/>
          <a:p>
            <a:r>
              <a:rPr lang="en-GB" sz="2400" dirty="0"/>
              <a:t>8. Copy and complete the table to give </a:t>
            </a:r>
            <a:r>
              <a:rPr lang="en-GB" sz="2400" b="1" dirty="0"/>
              <a:t>energy sources </a:t>
            </a:r>
            <a:r>
              <a:rPr lang="en-GB" sz="2400" dirty="0"/>
              <a:t>that could</a:t>
            </a:r>
          </a:p>
          <a:p>
            <a:r>
              <a:rPr lang="en-GB" sz="2400" dirty="0"/>
              <a:t>    be used in each situation.</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9. Describe how human activities have contributed to the greenhouse     </a:t>
            </a:r>
          </a:p>
          <a:p>
            <a:r>
              <a:rPr lang="en-GB" sz="2400" dirty="0"/>
              <a:t>     effect?</a:t>
            </a:r>
          </a:p>
          <a:p>
            <a:r>
              <a:rPr lang="en-GB" sz="2400" dirty="0"/>
              <a:t>     </a:t>
            </a:r>
            <a:endParaRPr lang="en-GB" sz="2400" b="1" dirty="0">
              <a:solidFill>
                <a:srgbClr val="00B050"/>
              </a:solidFill>
            </a:endParaRPr>
          </a:p>
          <a:p>
            <a:endParaRPr lang="en-GB" sz="2400" b="1" dirty="0">
              <a:solidFill>
                <a:srgbClr val="00B050"/>
              </a:solidFill>
            </a:endParaRPr>
          </a:p>
        </p:txBody>
      </p:sp>
      <p:graphicFrame>
        <p:nvGraphicFramePr>
          <p:cNvPr id="5" name="Table 4">
            <a:extLst>
              <a:ext uri="{FF2B5EF4-FFF2-40B4-BE49-F238E27FC236}">
                <a16:creationId xmlns:a16="http://schemas.microsoft.com/office/drawing/2014/main" xmlns="" id="{4843B1A0-1530-4525-AF59-9AD4B0A9865D}"/>
              </a:ext>
            </a:extLst>
          </p:cNvPr>
          <p:cNvGraphicFramePr>
            <a:graphicFrameLocks noGrp="1"/>
          </p:cNvGraphicFramePr>
          <p:nvPr>
            <p:extLst>
              <p:ext uri="{D42A27DB-BD31-4B8C-83A1-F6EECF244321}">
                <p14:modId xmlns:p14="http://schemas.microsoft.com/office/powerpoint/2010/main" val="340487396"/>
              </p:ext>
            </p:extLst>
          </p:nvPr>
        </p:nvGraphicFramePr>
        <p:xfrm>
          <a:off x="899592" y="1628800"/>
          <a:ext cx="7272807" cy="3208308"/>
        </p:xfrm>
        <a:graphic>
          <a:graphicData uri="http://schemas.openxmlformats.org/drawingml/2006/table">
            <a:tbl>
              <a:tblPr firstRow="1" bandRow="1">
                <a:tableStyleId>{2D5ABB26-0587-4C30-8999-92F81FD0307C}</a:tableStyleId>
              </a:tblPr>
              <a:tblGrid>
                <a:gridCol w="3425272">
                  <a:extLst>
                    <a:ext uri="{9D8B030D-6E8A-4147-A177-3AD203B41FA5}">
                      <a16:colId xmlns:a16="http://schemas.microsoft.com/office/drawing/2014/main" xmlns="" val="20000"/>
                    </a:ext>
                  </a:extLst>
                </a:gridCol>
                <a:gridCol w="1943746">
                  <a:extLst>
                    <a:ext uri="{9D8B030D-6E8A-4147-A177-3AD203B41FA5}">
                      <a16:colId xmlns:a16="http://schemas.microsoft.com/office/drawing/2014/main" xmlns="" val="20001"/>
                    </a:ext>
                  </a:extLst>
                </a:gridCol>
                <a:gridCol w="1903789">
                  <a:extLst>
                    <a:ext uri="{9D8B030D-6E8A-4147-A177-3AD203B41FA5}">
                      <a16:colId xmlns:a16="http://schemas.microsoft.com/office/drawing/2014/main" xmlns="" val="20002"/>
                    </a:ext>
                  </a:extLst>
                </a:gridCol>
              </a:tblGrid>
              <a:tr h="404148">
                <a:tc>
                  <a:txBody>
                    <a:bodyPr/>
                    <a:lstStyle/>
                    <a:p>
                      <a:pPr algn="ctr"/>
                      <a:r>
                        <a:rPr lang="en-GB" sz="2000" b="1" dirty="0"/>
                        <a:t>Energy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GB" sz="2000" b="1" dirty="0"/>
                        <a:t>Energy source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t>Energy source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xmlns="" val="10000"/>
                  </a:ext>
                </a:extLst>
              </a:tr>
              <a:tr h="282312">
                <a:tc>
                  <a:txBody>
                    <a:bodyPr/>
                    <a:lstStyle/>
                    <a:p>
                      <a:pPr algn="ctr"/>
                      <a:r>
                        <a:rPr lang="en-GB" sz="2000" b="1" dirty="0"/>
                        <a:t>Running a car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 </a:t>
                      </a:r>
                    </a:p>
                    <a:p>
                      <a:pPr algn="l"/>
                      <a:endParaRPr lang="en-GB" sz="2000" b="1"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1"/>
                  </a:ext>
                </a:extLst>
              </a:tr>
              <a:tr h="231816">
                <a:tc>
                  <a:txBody>
                    <a:bodyPr/>
                    <a:lstStyle/>
                    <a:p>
                      <a:pPr algn="ctr"/>
                      <a:r>
                        <a:rPr lang="en-GB" sz="2000" b="1" dirty="0"/>
                        <a:t>Producing 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endParaRPr lang="en-GB" sz="2000" b="1" dirty="0">
                        <a:solidFill>
                          <a:srgbClr val="00B050"/>
                        </a:solidFill>
                      </a:endParaRPr>
                    </a:p>
                    <a:p>
                      <a:pPr algn="l"/>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2"/>
                  </a:ext>
                </a:extLst>
              </a:tr>
              <a:tr h="338528">
                <a:tc>
                  <a:txBody>
                    <a:bodyPr/>
                    <a:lstStyle/>
                    <a:p>
                      <a:pPr algn="ctr"/>
                      <a:r>
                        <a:rPr lang="en-GB" sz="2000" b="1" dirty="0"/>
                        <a:t>Heating the home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lang="en-GB" sz="2000" b="1" dirty="0">
                        <a:solidFill>
                          <a:srgbClr val="00B050"/>
                        </a:solidFill>
                      </a:endParaRP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338528">
                <a:tc>
                  <a:txBody>
                    <a:bodyPr/>
                    <a:lstStyle/>
                    <a:p>
                      <a:pPr algn="ctr"/>
                      <a:r>
                        <a:rPr lang="en-GB" sz="2000" b="1" dirty="0"/>
                        <a:t>Powering a train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endParaRPr lang="en-GB" sz="2000" b="1" dirty="0">
                        <a:solidFill>
                          <a:srgbClr val="00B050"/>
                        </a:solidFill>
                      </a:endParaRPr>
                    </a:p>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rgbClr val="00B050"/>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13341563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National and Global Energy resources</a:t>
            </a:r>
            <a:r>
              <a:rPr lang="en-US" sz="2400" b="1" dirty="0">
                <a:solidFill>
                  <a:schemeClr val="accent6"/>
                </a:solidFill>
                <a:latin typeface="+mn-lt"/>
              </a:rPr>
              <a:t> </a:t>
            </a:r>
            <a:r>
              <a:rPr lang="en-US" sz="2400" b="1" dirty="0">
                <a:solidFill>
                  <a:schemeClr val="accent6"/>
                </a:solidFill>
              </a:rPr>
              <a:t>– </a:t>
            </a:r>
            <a:r>
              <a:rPr kumimoji="0" lang="en-US" sz="2400" b="1" i="0" u="none" strike="noStrike" kern="1200" cap="none" spc="0" normalizeH="0" baseline="0" noProof="0" dirty="0">
                <a:ln>
                  <a:noFill/>
                </a:ln>
                <a:solidFill>
                  <a:schemeClr val="tx1"/>
                </a:solidFill>
                <a:effectLst/>
                <a:uLnTx/>
                <a:uFillTx/>
                <a:latin typeface="Calibri"/>
                <a:ea typeface=""/>
                <a:cs typeface="News Gothic MT"/>
              </a:rPr>
              <a:t>QuestionIT</a:t>
            </a: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57041"/>
            <a:ext cx="8927266" cy="5632311"/>
          </a:xfrm>
          <a:prstGeom prst="rect">
            <a:avLst/>
          </a:prstGeom>
          <a:noFill/>
        </p:spPr>
        <p:txBody>
          <a:bodyPr wrap="square" rtlCol="0">
            <a:spAutoFit/>
          </a:bodyPr>
          <a:lstStyle/>
          <a:p>
            <a:r>
              <a:rPr lang="en-GB" sz="2400" dirty="0"/>
              <a:t>10. Explain how burning coal in power stations contributes to global</a:t>
            </a:r>
          </a:p>
          <a:p>
            <a:r>
              <a:rPr lang="en-GB" sz="2400" dirty="0"/>
              <a:t>      warming.</a:t>
            </a:r>
          </a:p>
          <a:p>
            <a:r>
              <a:rPr lang="en-GB" sz="2400" dirty="0"/>
              <a:t>       </a:t>
            </a:r>
            <a:endParaRPr lang="en-GB" sz="2400" b="1" dirty="0">
              <a:solidFill>
                <a:srgbClr val="00B050"/>
              </a:solidFill>
            </a:endParaRPr>
          </a:p>
          <a:p>
            <a:endParaRPr lang="en-GB" sz="2400" b="1" dirty="0">
              <a:solidFill>
                <a:srgbClr val="00B050"/>
              </a:solidFill>
            </a:endParaRPr>
          </a:p>
          <a:p>
            <a:r>
              <a:rPr lang="en-GB" sz="2400" dirty="0"/>
              <a:t>11. Describe </a:t>
            </a:r>
            <a:r>
              <a:rPr lang="en-GB" sz="2400" b="1" dirty="0"/>
              <a:t>two</a:t>
            </a:r>
            <a:r>
              <a:rPr lang="en-GB" sz="2400" dirty="0"/>
              <a:t> problems associated with the storage of waste from</a:t>
            </a:r>
          </a:p>
          <a:p>
            <a:r>
              <a:rPr lang="en-GB" sz="2400" dirty="0"/>
              <a:t>      nuclear power stations.</a:t>
            </a:r>
          </a:p>
          <a:p>
            <a:r>
              <a:rPr lang="en-GB" sz="2400" dirty="0"/>
              <a:t>      </a:t>
            </a:r>
            <a:endParaRPr lang="en-GB" sz="2400" b="1" dirty="0">
              <a:solidFill>
                <a:srgbClr val="00B050"/>
              </a:solidFill>
            </a:endParaRPr>
          </a:p>
          <a:p>
            <a:endParaRPr lang="en-GB" sz="2400" b="1" dirty="0">
              <a:solidFill>
                <a:srgbClr val="00B050"/>
              </a:solidFill>
            </a:endParaRPr>
          </a:p>
          <a:p>
            <a:r>
              <a:rPr lang="en-GB" sz="2400" dirty="0"/>
              <a:t>	 </a:t>
            </a:r>
          </a:p>
          <a:p>
            <a:r>
              <a:rPr lang="en-GB" sz="2400" dirty="0"/>
              <a:t>12. State </a:t>
            </a:r>
            <a:r>
              <a:rPr lang="en-GB" sz="2400" b="1" dirty="0"/>
              <a:t>two</a:t>
            </a:r>
            <a:r>
              <a:rPr lang="en-GB" sz="2400" dirty="0"/>
              <a:t> reasons why people might object to having a wind farm</a:t>
            </a:r>
          </a:p>
          <a:p>
            <a:r>
              <a:rPr lang="en-GB" sz="2400" dirty="0"/>
              <a:t>      built close to their homes.</a:t>
            </a:r>
          </a:p>
          <a:p>
            <a:r>
              <a:rPr lang="en-GB" sz="2400" dirty="0"/>
              <a:t>      </a:t>
            </a:r>
          </a:p>
          <a:p>
            <a:endParaRPr lang="en-GB" sz="2400" b="1" dirty="0">
              <a:solidFill>
                <a:srgbClr val="00B050"/>
              </a:solidFill>
            </a:endParaRPr>
          </a:p>
          <a:p>
            <a:endParaRPr lang="en-GB" sz="2400" b="1" dirty="0">
              <a:solidFill>
                <a:srgbClr val="00B050"/>
              </a:solidFill>
            </a:endParaRPr>
          </a:p>
          <a:p>
            <a:endParaRPr lang="en-GB" sz="2400" b="1" dirty="0">
              <a:solidFill>
                <a:srgbClr val="00B050"/>
              </a:solidFill>
            </a:endParaRPr>
          </a:p>
        </p:txBody>
      </p:sp>
    </p:spTree>
    <p:extLst>
      <p:ext uri="{BB962C8B-B14F-4D97-AF65-F5344CB8AC3E}">
        <p14:creationId xmlns:p14="http://schemas.microsoft.com/office/powerpoint/2010/main" val="18633291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69331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3600" b="1" dirty="0">
                <a:solidFill>
                  <a:schemeClr val="bg1">
                    <a:lumMod val="50000"/>
                  </a:schemeClr>
                </a:solidFill>
              </a:rPr>
              <a:t>National and Global Energy resources</a:t>
            </a:r>
          </a:p>
          <a:p>
            <a:endParaRPr lang="en-US"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417" y="802524"/>
            <a:ext cx="4392488" cy="5257800"/>
          </a:xfrm>
          <a:prstGeom prst="rect">
            <a:avLst/>
          </a:prstGeom>
        </p:spPr>
      </p:pic>
    </p:spTree>
    <p:extLst>
      <p:ext uri="{BB962C8B-B14F-4D97-AF65-F5344CB8AC3E}">
        <p14:creationId xmlns:p14="http://schemas.microsoft.com/office/powerpoint/2010/main" val="1082159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     National and Global Energy resources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5886" y="657041"/>
            <a:ext cx="8915400" cy="6001643"/>
          </a:xfrm>
          <a:prstGeom prst="rect">
            <a:avLst/>
          </a:prstGeom>
          <a:noFill/>
        </p:spPr>
        <p:txBody>
          <a:bodyPr wrap="square" rtlCol="0">
            <a:spAutoFit/>
          </a:bodyPr>
          <a:lstStyle/>
          <a:p>
            <a:pPr marL="457200" indent="-457200">
              <a:buAutoNum type="arabicPeriod"/>
            </a:pPr>
            <a:r>
              <a:rPr lang="en-GB" sz="2400" dirty="0"/>
              <a:t>What is a fossil </a:t>
            </a:r>
            <a:r>
              <a:rPr lang="en-GB" sz="2400" dirty="0" smtClean="0"/>
              <a:t>fuel? </a:t>
            </a:r>
            <a:r>
              <a:rPr lang="en-GB" sz="2400" b="1" dirty="0" smtClean="0">
                <a:solidFill>
                  <a:srgbClr val="00B050"/>
                </a:solidFill>
              </a:rPr>
              <a:t>A fuel formed in the geological past from the remains of living organisms.</a:t>
            </a:r>
            <a:endParaRPr lang="en-GB" sz="700" dirty="0"/>
          </a:p>
          <a:p>
            <a:r>
              <a:rPr lang="en-GB" sz="2400" dirty="0"/>
              <a:t>2.   Copy and complete the table below by ticking the </a:t>
            </a:r>
            <a:r>
              <a:rPr lang="en-GB" sz="2400" dirty="0" smtClean="0"/>
              <a:t>correct </a:t>
            </a:r>
            <a:r>
              <a:rPr lang="en-GB" sz="2400" dirty="0"/>
              <a:t>box for</a:t>
            </a:r>
          </a:p>
          <a:p>
            <a:r>
              <a:rPr lang="en-GB" sz="2400" dirty="0"/>
              <a:t>       each energy source.</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3.   What is a renewable energy source?</a:t>
            </a:r>
          </a:p>
          <a:p>
            <a:r>
              <a:rPr lang="en-GB" sz="2400" dirty="0"/>
              <a:t>      </a:t>
            </a:r>
            <a:r>
              <a:rPr lang="en-GB" sz="2400" b="1" dirty="0">
                <a:solidFill>
                  <a:srgbClr val="00B050"/>
                </a:solidFill>
              </a:rPr>
              <a:t>An energy source that can be replenished as it is used.</a:t>
            </a:r>
          </a:p>
        </p:txBody>
      </p:sp>
      <p:graphicFrame>
        <p:nvGraphicFramePr>
          <p:cNvPr id="5" name="Table 4"/>
          <p:cNvGraphicFramePr>
            <a:graphicFrameLocks noGrp="1"/>
          </p:cNvGraphicFramePr>
          <p:nvPr>
            <p:extLst>
              <p:ext uri="{D42A27DB-BD31-4B8C-83A1-F6EECF244321}">
                <p14:modId xmlns:p14="http://schemas.microsoft.com/office/powerpoint/2010/main" val="849347819"/>
              </p:ext>
            </p:extLst>
          </p:nvPr>
        </p:nvGraphicFramePr>
        <p:xfrm>
          <a:off x="1187624" y="2197100"/>
          <a:ext cx="6437717" cy="3657600"/>
        </p:xfrm>
        <a:graphic>
          <a:graphicData uri="http://schemas.openxmlformats.org/drawingml/2006/table">
            <a:tbl>
              <a:tblPr firstRow="1" bandRow="1">
                <a:tableStyleId>{2D5ABB26-0587-4C30-8999-92F81FD0307C}</a:tableStyleId>
              </a:tblPr>
              <a:tblGrid>
                <a:gridCol w="3031970">
                  <a:extLst>
                    <a:ext uri="{9D8B030D-6E8A-4147-A177-3AD203B41FA5}">
                      <a16:colId xmlns:a16="http://schemas.microsoft.com/office/drawing/2014/main" xmlns="" val="20000"/>
                    </a:ext>
                  </a:extLst>
                </a:gridCol>
                <a:gridCol w="1602705">
                  <a:extLst>
                    <a:ext uri="{9D8B030D-6E8A-4147-A177-3AD203B41FA5}">
                      <a16:colId xmlns:a16="http://schemas.microsoft.com/office/drawing/2014/main" xmlns="" val="20001"/>
                    </a:ext>
                  </a:extLst>
                </a:gridCol>
                <a:gridCol w="1803042">
                  <a:extLst>
                    <a:ext uri="{9D8B030D-6E8A-4147-A177-3AD203B41FA5}">
                      <a16:colId xmlns:a16="http://schemas.microsoft.com/office/drawing/2014/main" xmlns="" val="20002"/>
                    </a:ext>
                  </a:extLst>
                </a:gridCol>
              </a:tblGrid>
              <a:tr h="0">
                <a:tc>
                  <a:txBody>
                    <a:bodyPr/>
                    <a:lstStyle/>
                    <a:p>
                      <a:pPr algn="ctr"/>
                      <a:r>
                        <a:rPr lang="en-GB" sz="1800" dirty="0"/>
                        <a:t>Energy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GB" sz="1800" dirty="0"/>
                        <a:t>Renewable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GB" sz="1800" dirty="0"/>
                        <a:t>Non-renewable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xmlns="" val="10000"/>
                  </a:ext>
                </a:extLst>
              </a:tr>
              <a:tr h="282312">
                <a:tc>
                  <a:txBody>
                    <a:bodyPr/>
                    <a:lstStyle/>
                    <a:p>
                      <a:pPr algn="ctr"/>
                      <a:r>
                        <a:rPr lang="en-GB" sz="1800" b="1" dirty="0"/>
                        <a:t>Bio-fuels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1"/>
                  </a:ext>
                </a:extLst>
              </a:tr>
              <a:tr h="231816">
                <a:tc>
                  <a:txBody>
                    <a:bodyPr/>
                    <a:lstStyle/>
                    <a:p>
                      <a:pPr algn="ctr"/>
                      <a:r>
                        <a:rPr lang="en-GB" sz="1800" b="1" dirty="0"/>
                        <a:t>Oil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2"/>
                  </a:ext>
                </a:extLst>
              </a:tr>
              <a:tr h="338528">
                <a:tc>
                  <a:txBody>
                    <a:bodyPr/>
                    <a:lstStyle/>
                    <a:p>
                      <a:pPr algn="ctr"/>
                      <a:r>
                        <a:rPr lang="en-GB" sz="1800" b="1" dirty="0"/>
                        <a:t>Nuclear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338528">
                <a:tc>
                  <a:txBody>
                    <a:bodyPr/>
                    <a:lstStyle/>
                    <a:p>
                      <a:pPr algn="ctr"/>
                      <a:r>
                        <a:rPr lang="en-GB" sz="1800" b="1" dirty="0"/>
                        <a:t>Hydro-electricity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4"/>
                  </a:ext>
                </a:extLst>
              </a:tr>
              <a:tr h="302848">
                <a:tc>
                  <a:txBody>
                    <a:bodyPr/>
                    <a:lstStyle/>
                    <a:p>
                      <a:pPr algn="ctr"/>
                      <a:r>
                        <a:rPr lang="en-GB" sz="1800" b="1" dirty="0"/>
                        <a:t>Wind turbines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5"/>
                  </a:ext>
                </a:extLst>
              </a:tr>
              <a:tr h="338528">
                <a:tc>
                  <a:txBody>
                    <a:bodyPr/>
                    <a:lstStyle/>
                    <a:p>
                      <a:pPr algn="ctr"/>
                      <a:r>
                        <a:rPr lang="en-GB" sz="1800" b="1" dirty="0"/>
                        <a:t>Coal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238989308"/>
                  </a:ext>
                </a:extLst>
              </a:tr>
              <a:tr h="338528">
                <a:tc>
                  <a:txBody>
                    <a:bodyPr/>
                    <a:lstStyle/>
                    <a:p>
                      <a:pPr algn="ctr"/>
                      <a:r>
                        <a:rPr lang="en-GB" sz="1800" b="1" dirty="0"/>
                        <a:t>Solar power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3762345313"/>
                  </a:ext>
                </a:extLst>
              </a:tr>
              <a:tr h="298624">
                <a:tc>
                  <a:txBody>
                    <a:bodyPr/>
                    <a:lstStyle/>
                    <a:p>
                      <a:pPr algn="ctr"/>
                      <a:r>
                        <a:rPr lang="en-GB" sz="1800" b="1" dirty="0"/>
                        <a:t>Wave energy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221095035"/>
                  </a:ext>
                </a:extLst>
              </a:tr>
              <a:tr h="166376">
                <a:tc>
                  <a:txBody>
                    <a:bodyPr/>
                    <a:lstStyle/>
                    <a:p>
                      <a:pPr algn="ctr"/>
                      <a:r>
                        <a:rPr lang="en-GB" sz="1800" b="1" dirty="0"/>
                        <a:t>Natural gas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GB"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47789968"/>
                  </a:ext>
                </a:extLst>
              </a:tr>
            </a:tbl>
          </a:graphicData>
        </a:graphic>
      </p:graphicFrame>
      <p:pic>
        <p:nvPicPr>
          <p:cNvPr id="7" name="Picture 6">
            <a:extLst>
              <a:ext uri="{FF2B5EF4-FFF2-40B4-BE49-F238E27FC236}">
                <a16:creationId xmlns:a16="http://schemas.microsoft.com/office/drawing/2014/main" xmlns="" id="{7916B91A-1E1F-4035-A5AF-19F50195CD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1477" y="2564904"/>
            <a:ext cx="314403" cy="282963"/>
          </a:xfrm>
          <a:prstGeom prst="rect">
            <a:avLst/>
          </a:prstGeom>
        </p:spPr>
      </p:pic>
      <p:pic>
        <p:nvPicPr>
          <p:cNvPr id="8" name="Picture 7">
            <a:extLst>
              <a:ext uri="{FF2B5EF4-FFF2-40B4-BE49-F238E27FC236}">
                <a16:creationId xmlns:a16="http://schemas.microsoft.com/office/drawing/2014/main" xmlns="" id="{AB3C7AAF-AA6A-4479-B86E-D4C8A7D13CF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8229" y="2885161"/>
            <a:ext cx="314403" cy="282963"/>
          </a:xfrm>
          <a:prstGeom prst="rect">
            <a:avLst/>
          </a:prstGeom>
        </p:spPr>
      </p:pic>
      <p:pic>
        <p:nvPicPr>
          <p:cNvPr id="9" name="Picture 8">
            <a:extLst>
              <a:ext uri="{FF2B5EF4-FFF2-40B4-BE49-F238E27FC236}">
                <a16:creationId xmlns:a16="http://schemas.microsoft.com/office/drawing/2014/main" xmlns="" id="{375F35B7-BE3C-4BB6-A88D-5D8584C28DA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8229" y="3243455"/>
            <a:ext cx="314403" cy="282963"/>
          </a:xfrm>
          <a:prstGeom prst="rect">
            <a:avLst/>
          </a:prstGeom>
        </p:spPr>
      </p:pic>
      <p:pic>
        <p:nvPicPr>
          <p:cNvPr id="10" name="Picture 9">
            <a:extLst>
              <a:ext uri="{FF2B5EF4-FFF2-40B4-BE49-F238E27FC236}">
                <a16:creationId xmlns:a16="http://schemas.microsoft.com/office/drawing/2014/main" xmlns="" id="{F48ECFBD-5FB7-4876-9D72-92DE5DA4C3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37820" y="3566970"/>
            <a:ext cx="314403" cy="282963"/>
          </a:xfrm>
          <a:prstGeom prst="rect">
            <a:avLst/>
          </a:prstGeom>
        </p:spPr>
      </p:pic>
      <p:pic>
        <p:nvPicPr>
          <p:cNvPr id="11" name="Picture 10">
            <a:extLst>
              <a:ext uri="{FF2B5EF4-FFF2-40B4-BE49-F238E27FC236}">
                <a16:creationId xmlns:a16="http://schemas.microsoft.com/office/drawing/2014/main" xmlns="" id="{1FE30226-F5FA-4515-9508-18CEA79B8E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37819" y="3895236"/>
            <a:ext cx="314403" cy="282963"/>
          </a:xfrm>
          <a:prstGeom prst="rect">
            <a:avLst/>
          </a:prstGeom>
        </p:spPr>
      </p:pic>
      <p:pic>
        <p:nvPicPr>
          <p:cNvPr id="12" name="Picture 11">
            <a:extLst>
              <a:ext uri="{FF2B5EF4-FFF2-40B4-BE49-F238E27FC236}">
                <a16:creationId xmlns:a16="http://schemas.microsoft.com/office/drawing/2014/main" xmlns="" id="{D917D625-C720-45B1-8E2D-3CA396EC53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7072" y="4618530"/>
            <a:ext cx="314403" cy="282963"/>
          </a:xfrm>
          <a:prstGeom prst="rect">
            <a:avLst/>
          </a:prstGeom>
        </p:spPr>
      </p:pic>
      <p:pic>
        <p:nvPicPr>
          <p:cNvPr id="13" name="Picture 12">
            <a:extLst>
              <a:ext uri="{FF2B5EF4-FFF2-40B4-BE49-F238E27FC236}">
                <a16:creationId xmlns:a16="http://schemas.microsoft.com/office/drawing/2014/main" xmlns="" id="{D4678A0C-3D77-4618-97AA-6517C00A44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8228" y="4223283"/>
            <a:ext cx="314403" cy="282963"/>
          </a:xfrm>
          <a:prstGeom prst="rect">
            <a:avLst/>
          </a:prstGeom>
        </p:spPr>
      </p:pic>
      <p:pic>
        <p:nvPicPr>
          <p:cNvPr id="14" name="Picture 13">
            <a:extLst>
              <a:ext uri="{FF2B5EF4-FFF2-40B4-BE49-F238E27FC236}">
                <a16:creationId xmlns:a16="http://schemas.microsoft.com/office/drawing/2014/main" xmlns="" id="{70650160-5B7E-4A18-9F13-3E18BCC81A1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27071" y="4946796"/>
            <a:ext cx="314403" cy="282963"/>
          </a:xfrm>
          <a:prstGeom prst="rect">
            <a:avLst/>
          </a:prstGeom>
        </p:spPr>
      </p:pic>
      <p:pic>
        <p:nvPicPr>
          <p:cNvPr id="15" name="Picture 14">
            <a:extLst>
              <a:ext uri="{FF2B5EF4-FFF2-40B4-BE49-F238E27FC236}">
                <a16:creationId xmlns:a16="http://schemas.microsoft.com/office/drawing/2014/main" xmlns="" id="{1A2F8DAF-578F-4A53-BED0-8DE1A81762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18228" y="5204321"/>
            <a:ext cx="314403" cy="282963"/>
          </a:xfrm>
          <a:prstGeom prst="rect">
            <a:avLst/>
          </a:prstGeom>
        </p:spPr>
      </p:pic>
    </p:spTree>
    <p:extLst>
      <p:ext uri="{BB962C8B-B14F-4D97-AF65-F5344CB8AC3E}">
        <p14:creationId xmlns:p14="http://schemas.microsoft.com/office/powerpoint/2010/main" val="27658648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National and Global Energy resources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48160"/>
            <a:ext cx="8915400" cy="7848302"/>
          </a:xfrm>
          <a:prstGeom prst="rect">
            <a:avLst/>
          </a:prstGeom>
          <a:noFill/>
        </p:spPr>
        <p:txBody>
          <a:bodyPr wrap="square" rtlCol="0">
            <a:spAutoFit/>
          </a:bodyPr>
          <a:lstStyle/>
          <a:p>
            <a:r>
              <a:rPr lang="en-GB" sz="2400" dirty="0"/>
              <a:t>4. Why are fossil fuels considered to be a more reliable energy</a:t>
            </a:r>
          </a:p>
          <a:p>
            <a:r>
              <a:rPr lang="en-GB" sz="2400" dirty="0"/>
              <a:t>    resource than renewable energy sources?</a:t>
            </a:r>
          </a:p>
          <a:p>
            <a:pPr>
              <a:lnSpc>
                <a:spcPct val="150000"/>
              </a:lnSpc>
            </a:pPr>
            <a:r>
              <a:rPr lang="en-GB" sz="2400" dirty="0"/>
              <a:t>    </a:t>
            </a:r>
            <a:r>
              <a:rPr lang="en-GB" sz="2300" b="1" dirty="0">
                <a:solidFill>
                  <a:srgbClr val="00B050"/>
                </a:solidFill>
              </a:rPr>
              <a:t>Produce a consistent energy supply with no gaps in energy delivery.</a:t>
            </a:r>
          </a:p>
          <a:p>
            <a:r>
              <a:rPr lang="en-GB" sz="2400" dirty="0"/>
              <a:t>5. </a:t>
            </a:r>
            <a:r>
              <a:rPr lang="en-US" sz="2400" dirty="0"/>
              <a:t>Despite a large investment by the UK government in wind power,</a:t>
            </a:r>
          </a:p>
          <a:p>
            <a:r>
              <a:rPr lang="en-US" sz="2400" dirty="0"/>
              <a:t>    the amount of fossil fuel used has not seen a decline. Give a</a:t>
            </a:r>
          </a:p>
          <a:p>
            <a:r>
              <a:rPr lang="en-US" sz="2400" dirty="0"/>
              <a:t>    possible explanation for this.</a:t>
            </a:r>
          </a:p>
          <a:p>
            <a:r>
              <a:rPr lang="en-US" sz="2400" dirty="0"/>
              <a:t>    </a:t>
            </a:r>
            <a:r>
              <a:rPr lang="en-US" sz="2400" b="1" dirty="0">
                <a:solidFill>
                  <a:srgbClr val="00B050"/>
                </a:solidFill>
              </a:rPr>
              <a:t>UK is using more energy and wind power can not meet this rise in</a:t>
            </a:r>
          </a:p>
          <a:p>
            <a:r>
              <a:rPr lang="en-US" sz="2400" b="1" dirty="0">
                <a:solidFill>
                  <a:srgbClr val="00B050"/>
                </a:solidFill>
              </a:rPr>
              <a:t>    demand.</a:t>
            </a:r>
          </a:p>
          <a:p>
            <a:r>
              <a:rPr lang="en-US" sz="2400" dirty="0"/>
              <a:t>6. The UK government is committed to investing in a "blend" of energy</a:t>
            </a:r>
          </a:p>
          <a:p>
            <a:r>
              <a:rPr lang="en-US" sz="2400" dirty="0"/>
              <a:t>     supply types to provide the UK’s energy needs for the next 100</a:t>
            </a:r>
          </a:p>
          <a:p>
            <a:r>
              <a:rPr lang="en-US" sz="2400" dirty="0"/>
              <a:t>     years. Give an advantage of this rather than using just coal.</a:t>
            </a:r>
            <a:endParaRPr lang="en-GB" sz="2400" dirty="0"/>
          </a:p>
          <a:p>
            <a:r>
              <a:rPr lang="en-GB" sz="2400" dirty="0"/>
              <a:t>     </a:t>
            </a:r>
            <a:r>
              <a:rPr lang="en-GB" sz="2400" b="1" dirty="0">
                <a:solidFill>
                  <a:srgbClr val="00B050"/>
                </a:solidFill>
              </a:rPr>
              <a:t>Evens out any variations in supply or cost of the energy source.</a:t>
            </a:r>
          </a:p>
          <a:p>
            <a:r>
              <a:rPr lang="en-GB" sz="2400" b="1" dirty="0">
                <a:solidFill>
                  <a:srgbClr val="00B050"/>
                </a:solidFill>
              </a:rPr>
              <a:t>     Using only coal, if supplies stopped or the cost went up greatly, </a:t>
            </a:r>
          </a:p>
          <a:p>
            <a:r>
              <a:rPr lang="en-GB" sz="2400" b="1" dirty="0">
                <a:solidFill>
                  <a:srgbClr val="00B050"/>
                </a:solidFill>
              </a:rPr>
              <a:t>     this would have a great impact on the consumer.</a:t>
            </a:r>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spTree>
    <p:extLst>
      <p:ext uri="{BB962C8B-B14F-4D97-AF65-F5344CB8AC3E}">
        <p14:creationId xmlns:p14="http://schemas.microsoft.com/office/powerpoint/2010/main" val="245402245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       National and Global Energy resources </a:t>
            </a:r>
            <a:r>
              <a:rPr lang="en-US" sz="2400" b="1">
                <a:solidFill>
                  <a:schemeClr val="accent6"/>
                </a:solidFill>
              </a:rPr>
              <a:t>– </a:t>
            </a:r>
            <a:r>
              <a:rPr lang="en-US" sz="2400" b="1" kern="1200" smtClean="0">
                <a:solidFill>
                  <a:schemeClr val="tx1"/>
                </a:solidFill>
                <a:latin typeface="Calibri"/>
                <a:ea typeface=""/>
                <a:cs typeface="News Gothic MT"/>
              </a:rPr>
              <a:t>Answer</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04340" y="690332"/>
            <a:ext cx="8915400" cy="9264075"/>
          </a:xfrm>
          <a:prstGeom prst="rect">
            <a:avLst/>
          </a:prstGeom>
          <a:noFill/>
        </p:spPr>
        <p:txBody>
          <a:bodyPr wrap="square" rtlCol="0">
            <a:spAutoFit/>
          </a:bodyPr>
          <a:lstStyle/>
          <a:p>
            <a:r>
              <a:rPr lang="en-GB" sz="2400" dirty="0"/>
              <a:t>7. </a:t>
            </a:r>
            <a:r>
              <a:rPr lang="en-US" sz="2400" dirty="0"/>
              <a:t>The graph shows the world use of renewable energies over the past sixty years.</a:t>
            </a:r>
          </a:p>
          <a:p>
            <a:pPr>
              <a:lnSpc>
                <a:spcPct val="150000"/>
              </a:lnSpc>
            </a:pPr>
            <a:endParaRPr lang="en-US" sz="2400" dirty="0"/>
          </a:p>
          <a:p>
            <a:pPr>
              <a:lnSpc>
                <a:spcPct val="150000"/>
              </a:lnSpc>
            </a:pPr>
            <a:endParaRPr lang="en-US" sz="2400" dirty="0" smtClean="0"/>
          </a:p>
          <a:p>
            <a:pPr>
              <a:lnSpc>
                <a:spcPct val="150000"/>
              </a:lnSpc>
            </a:pPr>
            <a:endParaRPr lang="en-US" sz="2400" dirty="0"/>
          </a:p>
          <a:p>
            <a:pPr>
              <a:lnSpc>
                <a:spcPct val="150000"/>
              </a:lnSpc>
            </a:pPr>
            <a:r>
              <a:rPr lang="en-US" sz="2400" dirty="0" smtClean="0"/>
              <a:t>a</a:t>
            </a:r>
            <a:r>
              <a:rPr lang="en-US" sz="2400" dirty="0"/>
              <a:t>. Why has the use of wood increased very little over this time?</a:t>
            </a:r>
          </a:p>
          <a:p>
            <a:r>
              <a:rPr lang="en-US" sz="2400" b="1" dirty="0" smtClean="0">
                <a:solidFill>
                  <a:srgbClr val="00B050"/>
                </a:solidFill>
              </a:rPr>
              <a:t>Limited </a:t>
            </a:r>
            <a:r>
              <a:rPr lang="en-US" sz="2400" b="1" dirty="0">
                <a:solidFill>
                  <a:srgbClr val="00B050"/>
                </a:solidFill>
              </a:rPr>
              <a:t>supplies of wood and it takes a long time to grow new supplies</a:t>
            </a:r>
            <a:r>
              <a:rPr lang="en-US" sz="2400" b="1" dirty="0" smtClean="0">
                <a:solidFill>
                  <a:srgbClr val="00B050"/>
                </a:solidFill>
              </a:rPr>
              <a:t>. Also</a:t>
            </a:r>
            <a:r>
              <a:rPr lang="en-US" sz="2400" b="1" dirty="0">
                <a:solidFill>
                  <a:srgbClr val="00B050"/>
                </a:solidFill>
              </a:rPr>
              <a:t>, pressure and legislation to prevent many trees from being cut down.</a:t>
            </a:r>
          </a:p>
          <a:p>
            <a:r>
              <a:rPr lang="en-US" sz="2400" dirty="0" smtClean="0"/>
              <a:t>b</a:t>
            </a:r>
            <a:r>
              <a:rPr lang="en-US" sz="2400" dirty="0"/>
              <a:t>. A lot of money has been invested in wind turbines. Why does this </a:t>
            </a:r>
            <a:r>
              <a:rPr lang="en-US" sz="2400" dirty="0" smtClean="0"/>
              <a:t>energy </a:t>
            </a:r>
            <a:r>
              <a:rPr lang="en-US" sz="2400" dirty="0"/>
              <a:t>source not produce as much as any other renewable resource?</a:t>
            </a:r>
          </a:p>
          <a:p>
            <a:r>
              <a:rPr lang="en-US" sz="2400" b="1" dirty="0" smtClean="0">
                <a:solidFill>
                  <a:srgbClr val="00B050"/>
                </a:solidFill>
              </a:rPr>
              <a:t>Each </a:t>
            </a:r>
            <a:r>
              <a:rPr lang="en-US" sz="2400" b="1" dirty="0">
                <a:solidFill>
                  <a:srgbClr val="00B050"/>
                </a:solidFill>
              </a:rPr>
              <a:t>wind turbine only produces a small amount of electricity and </a:t>
            </a:r>
            <a:r>
              <a:rPr lang="en-US" sz="2400" b="1" dirty="0" smtClean="0">
                <a:solidFill>
                  <a:srgbClr val="00B050"/>
                </a:solidFill>
              </a:rPr>
              <a:t>not </a:t>
            </a:r>
            <a:r>
              <a:rPr lang="en-US" sz="2400" b="1" dirty="0">
                <a:solidFill>
                  <a:srgbClr val="00B050"/>
                </a:solidFill>
              </a:rPr>
              <a:t>enough have been installed to match production from other </a:t>
            </a:r>
            <a:r>
              <a:rPr lang="en-US" sz="2400" b="1" dirty="0" smtClean="0">
                <a:solidFill>
                  <a:srgbClr val="00B050"/>
                </a:solidFill>
              </a:rPr>
              <a:t>renewable </a:t>
            </a:r>
            <a:r>
              <a:rPr lang="en-US" sz="2400" b="1" dirty="0">
                <a:solidFill>
                  <a:srgbClr val="00B050"/>
                </a:solidFill>
              </a:rPr>
              <a:t>resources. </a:t>
            </a:r>
          </a:p>
          <a:p>
            <a:r>
              <a:rPr lang="en-US" sz="2000" dirty="0"/>
              <a:t>         </a:t>
            </a:r>
            <a:endParaRPr lang="en-GB" sz="2000" dirty="0"/>
          </a:p>
          <a:p>
            <a:pPr>
              <a:lnSpc>
                <a:spcPct val="150000"/>
              </a:lnSpc>
            </a:pPr>
            <a:endParaRPr lang="en-GB" sz="2400" dirty="0"/>
          </a:p>
          <a:p>
            <a:endParaRPr lang="en-GB" sz="2400" dirty="0"/>
          </a:p>
          <a:p>
            <a:endParaRPr lang="en-GB" sz="2400" dirty="0"/>
          </a:p>
          <a:p>
            <a:pPr>
              <a:lnSpc>
                <a:spcPct val="150000"/>
              </a:lnSpc>
            </a:pPr>
            <a:endParaRPr lang="en-GB" sz="2400" dirty="0"/>
          </a:p>
          <a:p>
            <a:pPr>
              <a:lnSpc>
                <a:spcPct val="150000"/>
              </a:lnSpc>
            </a:pPr>
            <a:endParaRPr lang="en-GB" sz="2400" dirty="0"/>
          </a:p>
          <a:p>
            <a:pPr>
              <a:lnSpc>
                <a:spcPct val="150000"/>
              </a:lnSpc>
            </a:pPr>
            <a:endParaRPr lang="en-GB" sz="2400" dirty="0"/>
          </a:p>
        </p:txBody>
      </p:sp>
      <p:pic>
        <p:nvPicPr>
          <p:cNvPr id="7" name="Picture 6" descr="Image result for energy source trends">
            <a:extLst>
              <a:ext uri="{FF2B5EF4-FFF2-40B4-BE49-F238E27FC236}">
                <a16:creationId xmlns:a16="http://schemas.microsoft.com/office/drawing/2014/main" xmlns="" id="{D4FF3180-BBEF-421A-B480-A0CC832B44D3}"/>
              </a:ext>
            </a:extLst>
          </p:cNvPr>
          <p:cNvPicPr/>
          <p:nvPr/>
        </p:nvPicPr>
        <p:blipFill>
          <a:blip r:embed="rId2"/>
          <a:srcRect/>
          <a:stretch>
            <a:fillRect/>
          </a:stretch>
        </p:blipFill>
        <p:spPr bwMode="auto">
          <a:xfrm>
            <a:off x="2483768" y="1184902"/>
            <a:ext cx="3738739" cy="1733386"/>
          </a:xfrm>
          <a:prstGeom prst="rect">
            <a:avLst/>
          </a:prstGeom>
          <a:noFill/>
          <a:ln w="9525">
            <a:noFill/>
            <a:miter lim="800000"/>
            <a:headEnd/>
            <a:tailEnd/>
          </a:ln>
        </p:spPr>
      </p:pic>
    </p:spTree>
    <p:extLst>
      <p:ext uri="{BB962C8B-B14F-4D97-AF65-F5344CB8AC3E}">
        <p14:creationId xmlns:p14="http://schemas.microsoft.com/office/powerpoint/2010/main" val="29207983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National and Global Energy resources </a:t>
            </a:r>
            <a:r>
              <a:rPr lang="en-US" sz="2400" b="1" dirty="0">
                <a:solidFill>
                  <a:schemeClr val="accent6"/>
                </a:solidFill>
              </a:rPr>
              <a:t>– </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AnswerIT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786901"/>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69648" y="657041"/>
            <a:ext cx="8994913" cy="6001643"/>
          </a:xfrm>
          <a:prstGeom prst="rect">
            <a:avLst/>
          </a:prstGeom>
          <a:noFill/>
        </p:spPr>
        <p:txBody>
          <a:bodyPr wrap="square" rtlCol="0">
            <a:spAutoFit/>
          </a:bodyPr>
          <a:lstStyle/>
          <a:p>
            <a:r>
              <a:rPr lang="en-GB" sz="2400" dirty="0"/>
              <a:t>8. Copy and complete the table to give </a:t>
            </a:r>
            <a:r>
              <a:rPr lang="en-GB" sz="2400" b="1" dirty="0"/>
              <a:t>energy sources </a:t>
            </a:r>
            <a:r>
              <a:rPr lang="en-GB" sz="2400" dirty="0"/>
              <a:t>that could</a:t>
            </a:r>
          </a:p>
          <a:p>
            <a:r>
              <a:rPr lang="en-GB" sz="2400" dirty="0"/>
              <a:t>    be used in each situation.</a:t>
            </a:r>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endParaRPr lang="en-GB" sz="2400" dirty="0"/>
          </a:p>
          <a:p>
            <a:r>
              <a:rPr lang="en-GB" sz="2400" dirty="0"/>
              <a:t>9. Describe how human activities have contributed to the greenhouse     </a:t>
            </a:r>
          </a:p>
          <a:p>
            <a:r>
              <a:rPr lang="en-GB" sz="2400" dirty="0"/>
              <a:t>     effect.?</a:t>
            </a:r>
          </a:p>
          <a:p>
            <a:r>
              <a:rPr lang="en-GB" sz="2400" dirty="0"/>
              <a:t>     </a:t>
            </a:r>
            <a:r>
              <a:rPr lang="en-GB" sz="2400" b="1" dirty="0">
                <a:solidFill>
                  <a:srgbClr val="00B050"/>
                </a:solidFill>
              </a:rPr>
              <a:t>Burning fossil fuels for heating, transport and industry has led to a </a:t>
            </a:r>
          </a:p>
          <a:p>
            <a:r>
              <a:rPr lang="en-GB" sz="2400" b="1" dirty="0">
                <a:solidFill>
                  <a:srgbClr val="00B050"/>
                </a:solidFill>
              </a:rPr>
              <a:t>      build up of carbon dioxide in the atmosphere (along with other </a:t>
            </a:r>
          </a:p>
          <a:p>
            <a:r>
              <a:rPr lang="en-GB" sz="2400" b="1" dirty="0">
                <a:solidFill>
                  <a:srgbClr val="00B050"/>
                </a:solidFill>
              </a:rPr>
              <a:t>      greenhouse gases).</a:t>
            </a:r>
          </a:p>
        </p:txBody>
      </p:sp>
      <p:graphicFrame>
        <p:nvGraphicFramePr>
          <p:cNvPr id="5" name="Table 4">
            <a:extLst>
              <a:ext uri="{FF2B5EF4-FFF2-40B4-BE49-F238E27FC236}">
                <a16:creationId xmlns:a16="http://schemas.microsoft.com/office/drawing/2014/main" xmlns="" id="{4843B1A0-1530-4525-AF59-9AD4B0A9865D}"/>
              </a:ext>
            </a:extLst>
          </p:cNvPr>
          <p:cNvGraphicFramePr>
            <a:graphicFrameLocks noGrp="1"/>
          </p:cNvGraphicFramePr>
          <p:nvPr>
            <p:extLst>
              <p:ext uri="{D42A27DB-BD31-4B8C-83A1-F6EECF244321}">
                <p14:modId xmlns:p14="http://schemas.microsoft.com/office/powerpoint/2010/main" val="2045587489"/>
              </p:ext>
            </p:extLst>
          </p:nvPr>
        </p:nvGraphicFramePr>
        <p:xfrm>
          <a:off x="899592" y="1628800"/>
          <a:ext cx="7560839" cy="2903508"/>
        </p:xfrm>
        <a:graphic>
          <a:graphicData uri="http://schemas.openxmlformats.org/drawingml/2006/table">
            <a:tbl>
              <a:tblPr firstRow="1" bandRow="1">
                <a:tableStyleId>{2D5ABB26-0587-4C30-8999-92F81FD0307C}</a:tableStyleId>
              </a:tblPr>
              <a:tblGrid>
                <a:gridCol w="2694953">
                  <a:extLst>
                    <a:ext uri="{9D8B030D-6E8A-4147-A177-3AD203B41FA5}">
                      <a16:colId xmlns:a16="http://schemas.microsoft.com/office/drawing/2014/main" xmlns="" val="20000"/>
                    </a:ext>
                  </a:extLst>
                </a:gridCol>
                <a:gridCol w="2245794">
                  <a:extLst>
                    <a:ext uri="{9D8B030D-6E8A-4147-A177-3AD203B41FA5}">
                      <a16:colId xmlns:a16="http://schemas.microsoft.com/office/drawing/2014/main" xmlns="" val="20001"/>
                    </a:ext>
                  </a:extLst>
                </a:gridCol>
                <a:gridCol w="2620092">
                  <a:extLst>
                    <a:ext uri="{9D8B030D-6E8A-4147-A177-3AD203B41FA5}">
                      <a16:colId xmlns:a16="http://schemas.microsoft.com/office/drawing/2014/main" xmlns="" val="20002"/>
                    </a:ext>
                  </a:extLst>
                </a:gridCol>
              </a:tblGrid>
              <a:tr h="404148">
                <a:tc>
                  <a:txBody>
                    <a:bodyPr/>
                    <a:lstStyle/>
                    <a:p>
                      <a:pPr algn="ctr"/>
                      <a:r>
                        <a:rPr lang="en-GB" sz="2000" b="1" dirty="0"/>
                        <a:t>Energy use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algn="ctr"/>
                      <a:r>
                        <a:rPr lang="en-GB" sz="2000" b="1" dirty="0"/>
                        <a:t>Energy source 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tc>
                  <a:txBody>
                    <a:bodyPr/>
                    <a:lstStyle/>
                    <a:p>
                      <a:pPr marL="0" marR="0" lvl="0" indent="0" algn="ctr" defTabSz="342900" rtl="0" eaLnBrk="1" fontAlgn="auto" latinLnBrk="0" hangingPunct="1">
                        <a:lnSpc>
                          <a:spcPct val="100000"/>
                        </a:lnSpc>
                        <a:spcBef>
                          <a:spcPts val="0"/>
                        </a:spcBef>
                        <a:spcAft>
                          <a:spcPts val="0"/>
                        </a:spcAft>
                        <a:buClrTx/>
                        <a:buSzTx/>
                        <a:buFontTx/>
                        <a:buNone/>
                        <a:tabLst/>
                        <a:defRPr/>
                      </a:pPr>
                      <a:r>
                        <a:rPr lang="en-GB" sz="2000" b="1" dirty="0"/>
                        <a:t>Energy source 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xmlns="" val="10000"/>
                  </a:ext>
                </a:extLst>
              </a:tr>
              <a:tr h="282312">
                <a:tc>
                  <a:txBody>
                    <a:bodyPr/>
                    <a:lstStyle/>
                    <a:p>
                      <a:pPr algn="ctr"/>
                      <a:r>
                        <a:rPr lang="en-GB" sz="2000" b="1" dirty="0"/>
                        <a:t>Running a car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Petrol, Diesel, LPG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Any electricity producing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1"/>
                  </a:ext>
                </a:extLst>
              </a:tr>
              <a:tr h="231816">
                <a:tc>
                  <a:txBody>
                    <a:bodyPr/>
                    <a:lstStyle/>
                    <a:p>
                      <a:pPr algn="ctr"/>
                      <a:r>
                        <a:rPr lang="en-GB" sz="2000" b="1" dirty="0"/>
                        <a:t>Producing electricity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Coal, oil, gas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Renewable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2"/>
                  </a:ext>
                </a:extLst>
              </a:tr>
              <a:tr h="338528">
                <a:tc>
                  <a:txBody>
                    <a:bodyPr/>
                    <a:lstStyle/>
                    <a:p>
                      <a:pPr algn="ctr"/>
                      <a:r>
                        <a:rPr lang="en-GB" sz="2000" b="1" dirty="0"/>
                        <a:t>Heating the home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Coal, gas, wood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rgbClr val="00B050"/>
                          </a:solidFill>
                        </a:rPr>
                        <a:t>Any electricity producing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3"/>
                  </a:ext>
                </a:extLst>
              </a:tr>
              <a:tr h="338528">
                <a:tc>
                  <a:txBody>
                    <a:bodyPr/>
                    <a:lstStyle/>
                    <a:p>
                      <a:pPr algn="ctr"/>
                      <a:r>
                        <a:rPr lang="en-GB" sz="2000" b="1" dirty="0"/>
                        <a:t>Powering a train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r>
                        <a:rPr lang="en-GB" sz="2000" b="1" dirty="0">
                          <a:solidFill>
                            <a:srgbClr val="00B050"/>
                          </a:solidFill>
                        </a:rPr>
                        <a:t>Coal, Diesel, oil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342900" rtl="0" eaLnBrk="1" fontAlgn="auto" latinLnBrk="0" hangingPunct="1">
                        <a:lnSpc>
                          <a:spcPct val="100000"/>
                        </a:lnSpc>
                        <a:spcBef>
                          <a:spcPts val="0"/>
                        </a:spcBef>
                        <a:spcAft>
                          <a:spcPts val="0"/>
                        </a:spcAft>
                        <a:buClrTx/>
                        <a:buSzTx/>
                        <a:buFontTx/>
                        <a:buNone/>
                        <a:tabLst/>
                        <a:defRPr/>
                      </a:pPr>
                      <a:r>
                        <a:rPr lang="en-GB" sz="2000" b="1" dirty="0">
                          <a:solidFill>
                            <a:srgbClr val="00B050"/>
                          </a:solidFill>
                        </a:rPr>
                        <a:t>Any electricity producing source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xmlns="" val="10004"/>
                  </a:ext>
                </a:extLst>
              </a:tr>
            </a:tbl>
          </a:graphicData>
        </a:graphic>
      </p:graphicFrame>
    </p:spTree>
    <p:extLst>
      <p:ext uri="{BB962C8B-B14F-4D97-AF65-F5344CB8AC3E}">
        <p14:creationId xmlns:p14="http://schemas.microsoft.com/office/powerpoint/2010/main" val="34598178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b="1" dirty="0">
                <a:solidFill>
                  <a:schemeClr val="accent6">
                    <a:lumMod val="75000"/>
                  </a:schemeClr>
                </a:solidFill>
                <a:latin typeface="+mn-lt"/>
              </a:rPr>
              <a:t>National and Global Energy resources</a:t>
            </a:r>
            <a:r>
              <a:rPr lang="en-US" sz="2400" b="1" dirty="0">
                <a:solidFill>
                  <a:schemeClr val="accent6"/>
                </a:solidFill>
                <a:latin typeface="+mn-lt"/>
              </a:rPr>
              <a:t> </a:t>
            </a:r>
            <a:r>
              <a:rPr lang="en-US" sz="2400" b="1" dirty="0">
                <a:solidFill>
                  <a:schemeClr val="accent6"/>
                </a:solidFill>
              </a:rPr>
              <a:t>– </a:t>
            </a:r>
            <a:r>
              <a:rPr lang="en-US" sz="2400" b="1" dirty="0" smtClean="0">
                <a:solidFill>
                  <a:schemeClr val="tx1"/>
                </a:solidFill>
              </a:rPr>
              <a:t>Answer</a:t>
            </a:r>
            <a:r>
              <a:rPr kumimoji="0" lang="en-US" sz="2400" b="1" i="0" u="none" strike="noStrike" kern="1200" cap="none" spc="0" normalizeH="0" baseline="0" noProof="0" dirty="0" smtClean="0">
                <a:ln>
                  <a:noFill/>
                </a:ln>
                <a:solidFill>
                  <a:schemeClr val="tx1"/>
                </a:solidFill>
                <a:effectLst/>
                <a:uLnTx/>
                <a:uFillTx/>
                <a:latin typeface="Calibri"/>
                <a:ea typeface=""/>
                <a:cs typeface="News Gothic MT"/>
              </a:rPr>
              <a:t>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251520" y="657041"/>
            <a:ext cx="8927266" cy="5262979"/>
          </a:xfrm>
          <a:prstGeom prst="rect">
            <a:avLst/>
          </a:prstGeom>
          <a:noFill/>
        </p:spPr>
        <p:txBody>
          <a:bodyPr wrap="square" rtlCol="0">
            <a:spAutoFit/>
          </a:bodyPr>
          <a:lstStyle/>
          <a:p>
            <a:r>
              <a:rPr lang="en-GB" sz="2400" dirty="0"/>
              <a:t>10. Explain how burning coal in power stations contributes to global</a:t>
            </a:r>
          </a:p>
          <a:p>
            <a:r>
              <a:rPr lang="en-GB" sz="2400" dirty="0"/>
              <a:t>      warming.</a:t>
            </a:r>
          </a:p>
          <a:p>
            <a:r>
              <a:rPr lang="en-GB" sz="2400" dirty="0"/>
              <a:t>       </a:t>
            </a:r>
            <a:r>
              <a:rPr lang="en-GB" sz="2400" b="1" dirty="0">
                <a:solidFill>
                  <a:srgbClr val="00B050"/>
                </a:solidFill>
              </a:rPr>
              <a:t>Carbon dioxide produced.  Carbon dioxide absorbs and reflects </a:t>
            </a:r>
          </a:p>
          <a:p>
            <a:r>
              <a:rPr lang="en-GB" sz="2400" b="1" dirty="0">
                <a:solidFill>
                  <a:srgbClr val="00B050"/>
                </a:solidFill>
              </a:rPr>
              <a:t>       infrared radiation leading to additional warming.</a:t>
            </a:r>
            <a:endParaRPr lang="en-GB" sz="2400" dirty="0"/>
          </a:p>
          <a:p>
            <a:r>
              <a:rPr lang="en-GB" sz="2400" dirty="0"/>
              <a:t>11. Describe </a:t>
            </a:r>
            <a:r>
              <a:rPr lang="en-GB" sz="2400" b="1" dirty="0"/>
              <a:t>two</a:t>
            </a:r>
            <a:r>
              <a:rPr lang="en-GB" sz="2400" dirty="0"/>
              <a:t> problems associated with the storage of waste from</a:t>
            </a:r>
          </a:p>
          <a:p>
            <a:r>
              <a:rPr lang="en-GB" sz="2400" dirty="0"/>
              <a:t>      nuclear power stations.</a:t>
            </a:r>
          </a:p>
          <a:p>
            <a:r>
              <a:rPr lang="en-GB" sz="2400" dirty="0"/>
              <a:t>      </a:t>
            </a:r>
            <a:r>
              <a:rPr lang="en-GB" sz="2400" b="1" dirty="0">
                <a:solidFill>
                  <a:srgbClr val="00B050"/>
                </a:solidFill>
              </a:rPr>
              <a:t>Waste is radioactive can cause cells to mutate.</a:t>
            </a:r>
          </a:p>
          <a:p>
            <a:r>
              <a:rPr lang="en-GB" sz="2400" b="1" dirty="0">
                <a:solidFill>
                  <a:srgbClr val="00B050"/>
                </a:solidFill>
              </a:rPr>
              <a:t>      Radioactivity lasts for thousands of yeas so needs long term</a:t>
            </a:r>
          </a:p>
          <a:p>
            <a:r>
              <a:rPr lang="en-GB" sz="2400" b="1" dirty="0">
                <a:solidFill>
                  <a:srgbClr val="00B050"/>
                </a:solidFill>
              </a:rPr>
              <a:t>      storage.</a:t>
            </a:r>
            <a:r>
              <a:rPr lang="en-GB" sz="2400" dirty="0"/>
              <a:t> 	 </a:t>
            </a:r>
          </a:p>
          <a:p>
            <a:r>
              <a:rPr lang="en-GB" sz="2400" dirty="0"/>
              <a:t>12. State </a:t>
            </a:r>
            <a:r>
              <a:rPr lang="en-GB" sz="2400" b="1" dirty="0"/>
              <a:t>two</a:t>
            </a:r>
            <a:r>
              <a:rPr lang="en-GB" sz="2400" dirty="0"/>
              <a:t> reasons why people might object to having a wind farm</a:t>
            </a:r>
          </a:p>
          <a:p>
            <a:r>
              <a:rPr lang="en-GB" sz="2400" dirty="0"/>
              <a:t>      built close to their homes.</a:t>
            </a:r>
          </a:p>
          <a:p>
            <a:r>
              <a:rPr lang="en-GB" sz="2400" dirty="0"/>
              <a:t>      </a:t>
            </a:r>
            <a:r>
              <a:rPr lang="en-GB" sz="2400" b="1" dirty="0">
                <a:solidFill>
                  <a:srgbClr val="00B050"/>
                </a:solidFill>
              </a:rPr>
              <a:t>Considered unsightly by some. Can be noisy.</a:t>
            </a:r>
          </a:p>
          <a:p>
            <a:r>
              <a:rPr lang="en-GB" sz="2400" b="1" dirty="0">
                <a:solidFill>
                  <a:srgbClr val="00B050"/>
                </a:solidFill>
              </a:rPr>
              <a:t>      Disruption whilst installing and maintaining.</a:t>
            </a:r>
          </a:p>
          <a:p>
            <a:r>
              <a:rPr lang="en-GB" sz="2400" b="1" dirty="0">
                <a:solidFill>
                  <a:srgbClr val="00B050"/>
                </a:solidFill>
              </a:rPr>
              <a:t>      Produce little energy for their environmental impact.</a:t>
            </a:r>
          </a:p>
        </p:txBody>
      </p:sp>
    </p:spTree>
    <p:extLst>
      <p:ext uri="{BB962C8B-B14F-4D97-AF65-F5344CB8AC3E}">
        <p14:creationId xmlns:p14="http://schemas.microsoft.com/office/powerpoint/2010/main" val="372831571"/>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41063</TotalTime>
  <Words>8681</Words>
  <Application>Microsoft Macintosh PowerPoint</Application>
  <PresentationFormat>On-screen Show (4:3)</PresentationFormat>
  <Paragraphs>1251</Paragraphs>
  <Slides>79</Slides>
  <Notes>61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79</vt:i4>
      </vt:variant>
    </vt:vector>
  </HeadingPairs>
  <TitlesOfParts>
    <vt:vector size="92" baseType="lpstr">
      <vt:lpstr>Beirut</vt:lpstr>
      <vt:lpstr>Calibri</vt:lpstr>
      <vt:lpstr>Calibri Light</vt:lpstr>
      <vt:lpstr>Cambria Math</vt:lpstr>
      <vt:lpstr>Gill Sans</vt:lpstr>
      <vt:lpstr>Lato Medium</vt:lpstr>
      <vt:lpstr>News Gothic MT</vt:lpstr>
      <vt:lpstr>Symbol</vt:lpstr>
      <vt:lpstr>Tahoma</vt:lpstr>
      <vt:lpstr>Times New Roman</vt:lpstr>
      <vt:lpstr>Arial</vt:lpstr>
      <vt:lpstr>1_Office Theme</vt:lpstr>
      <vt:lpstr>Custom Design</vt:lpstr>
      <vt:lpstr>PowerPoint Presentation</vt:lpstr>
      <vt:lpstr>            Overview             Energy </vt:lpstr>
      <vt:lpstr>PowerPoint Presentation</vt:lpstr>
      <vt:lpstr>Energy stores and systems</vt:lpstr>
      <vt:lpstr>PowerPoint Presentation</vt:lpstr>
      <vt:lpstr>PowerPoint Presentation</vt:lpstr>
      <vt:lpstr>PowerPoint Presentation</vt:lpstr>
      <vt:lpstr>PowerPoint Presentation</vt:lpstr>
      <vt:lpstr>PowerPoint Presentation</vt:lpstr>
      <vt:lpstr>         Changes in Energy - Kinetic Energy</vt:lpstr>
      <vt:lpstr>         Changes in Energy - Elastic Energy</vt:lpstr>
      <vt:lpstr>         Changes in Energy – Gravitational potential energy</vt:lpstr>
      <vt:lpstr>PowerPoint Presentation</vt:lpstr>
      <vt:lpstr>                 Energy stores and Energy systems part 1– AnswerIT</vt:lpstr>
      <vt:lpstr>             Energy stores and Energy systems  part 1– QuestionIT</vt:lpstr>
      <vt:lpstr>            Energy stores and Energy systems part 1 – QuestionIT</vt:lpstr>
      <vt:lpstr>            Energy stores and Energy systems part 1 – QuestionIT</vt:lpstr>
      <vt:lpstr>          Energy stores and Energy systems part 1 – QuestionIT</vt:lpstr>
      <vt:lpstr>PowerPoint Presentation</vt:lpstr>
      <vt:lpstr>                 Energy stores and Energy systems part 1– AnswerIT</vt:lpstr>
      <vt:lpstr>             Energy stores and Energy systems  part 1– QuestionIT</vt:lpstr>
      <vt:lpstr>            Energy stores and Energy systems part 1 – QuestionIT</vt:lpstr>
      <vt:lpstr>            Energy stores and Energy systems part 1 – QuestionIT</vt:lpstr>
      <vt:lpstr>          Energy stores and Energy systems part 1 – QuestionIT</vt:lpstr>
      <vt:lpstr>PowerPoint Presentation</vt:lpstr>
      <vt:lpstr>                                       Energy changes in systems</vt:lpstr>
      <vt:lpstr>                                       Energy changes in systems and power</vt:lpstr>
      <vt:lpstr>Power</vt:lpstr>
      <vt:lpstr>Power</vt:lpstr>
      <vt:lpstr>PowerPoint Presentation</vt:lpstr>
      <vt:lpstr>           Energy stores and Energy systems part 2 – QuestionIT</vt:lpstr>
      <vt:lpstr>            Energy stores and Energy systems part 2 – QuestionIT</vt:lpstr>
      <vt:lpstr>       Energy stores and Energy systems part 2 – QuestionIT</vt:lpstr>
      <vt:lpstr>           Energy stores and Energy systems part 2 – QuestionIT</vt:lpstr>
      <vt:lpstr>PowerPoint Presentation</vt:lpstr>
      <vt:lpstr>           Energy stores and Energy systems part 2 – AnswerIT</vt:lpstr>
      <vt:lpstr>            Energy stores and Energy systems part 2 – AnswerIT</vt:lpstr>
      <vt:lpstr>       Energy stores and Energy systems part 2 – AnswerIT</vt:lpstr>
      <vt:lpstr>           Energy stores and Energy systems part 2 – AnswerIT</vt:lpstr>
      <vt:lpstr>PowerPoint Presentation</vt:lpstr>
      <vt:lpstr>                              Energy transfers in a system</vt:lpstr>
      <vt:lpstr>                              Energy transfers in a system</vt:lpstr>
      <vt:lpstr>                              Energy transfers in a system</vt:lpstr>
      <vt:lpstr>                              Efficiency</vt:lpstr>
      <vt:lpstr>                              Efficiency</vt:lpstr>
      <vt:lpstr>PowerPoint Presentation</vt:lpstr>
      <vt:lpstr>    Conservation and Dissipation of Energy - QuestionIT</vt:lpstr>
      <vt:lpstr>    Conservation and Dissipation of Energy - QuestionIT</vt:lpstr>
      <vt:lpstr>    Conservation and Dissipation of Energy - QuestionIT</vt:lpstr>
      <vt:lpstr>    Conservation and Dissipation of Energy - QuestionIT</vt:lpstr>
      <vt:lpstr>    Conservation and Dissipation of Energy - QuestionIT</vt:lpstr>
      <vt:lpstr>PowerPoint Presentation</vt:lpstr>
      <vt:lpstr>    Conservation and Dissipation of Energy - AnswerIT</vt:lpstr>
      <vt:lpstr>    Conservation and Dissipation of Energy - AnswerIT</vt:lpstr>
      <vt:lpstr>    Conservation and Dissipation of Energy - AnswerIT</vt:lpstr>
      <vt:lpstr>    Conservation and Dissipation of Energy - AnswerIT</vt:lpstr>
      <vt:lpstr>    Conservation and Dissipation of Energy - QuestionIT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National and Global Energy resources – QuestionIT</vt:lpstr>
      <vt:lpstr>National and Global Energy resources – QuestionIT</vt:lpstr>
      <vt:lpstr>       National and Global Energy resources – QuestionIT</vt:lpstr>
      <vt:lpstr>National and Global Energy resources – QuestionIT</vt:lpstr>
      <vt:lpstr>National and Global Energy resources – QuestionIT</vt:lpstr>
      <vt:lpstr>PowerPoint Presentation</vt:lpstr>
      <vt:lpstr>     National and Global Energy resources – AnswerIT</vt:lpstr>
      <vt:lpstr>National and Global Energy resources – AnswerIT</vt:lpstr>
      <vt:lpstr>       National and Global Energy resources – AnswerIT</vt:lpstr>
      <vt:lpstr>National and Global Energy resources – AnswerIT</vt:lpstr>
      <vt:lpstr>National and Global Energy resources – AnswerIT</vt:lpstr>
    </vt:vector>
  </TitlesOfParts>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Amanda Fleck</cp:lastModifiedBy>
  <cp:revision>595</cp:revision>
  <cp:lastPrinted>2017-05-23T14:15:43Z</cp:lastPrinted>
  <dcterms:created xsi:type="dcterms:W3CDTF">2016-03-05T09:38:04Z</dcterms:created>
  <dcterms:modified xsi:type="dcterms:W3CDTF">2017-12-05T18:52:08Z</dcterms:modified>
</cp:coreProperties>
</file>