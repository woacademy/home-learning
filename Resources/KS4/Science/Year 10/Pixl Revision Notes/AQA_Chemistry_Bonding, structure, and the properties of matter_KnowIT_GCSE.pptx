
<file path=[Content_Types].xml><?xml version="1.0" encoding="utf-8"?>
<Types xmlns="http://schemas.openxmlformats.org/package/2006/content-types">
  <Default Extension="xml" ContentType="application/xml"/>
  <Default Extension="jpeg" ContentType="image/jpeg"/>
  <Default Extension="png" ContentType="image/png"/>
  <Default Extension="jpg" ContentType="image/jpeg"/>
  <Default Extension="gif" ContentType="image/gif"/>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80"/>
  </p:notesMasterIdLst>
  <p:sldIdLst>
    <p:sldId id="256" r:id="rId4"/>
    <p:sldId id="281" r:id="rId5"/>
    <p:sldId id="316" r:id="rId6"/>
    <p:sldId id="511" r:id="rId7"/>
    <p:sldId id="457" r:id="rId8"/>
    <p:sldId id="458" r:id="rId9"/>
    <p:sldId id="459" r:id="rId10"/>
    <p:sldId id="500" r:id="rId11"/>
    <p:sldId id="325" r:id="rId12"/>
    <p:sldId id="513" r:id="rId13"/>
    <p:sldId id="512" r:id="rId14"/>
    <p:sldId id="514" r:id="rId15"/>
    <p:sldId id="467" r:id="rId16"/>
    <p:sldId id="515" r:id="rId17"/>
    <p:sldId id="516" r:id="rId18"/>
    <p:sldId id="517" r:id="rId19"/>
    <p:sldId id="503" r:id="rId20"/>
    <p:sldId id="379" r:id="rId21"/>
    <p:sldId id="439" r:id="rId22"/>
    <p:sldId id="440" r:id="rId23"/>
    <p:sldId id="506" r:id="rId24"/>
    <p:sldId id="406" r:id="rId25"/>
    <p:sldId id="518" r:id="rId26"/>
    <p:sldId id="519" r:id="rId27"/>
    <p:sldId id="498" r:id="rId28"/>
    <p:sldId id="408" r:id="rId29"/>
    <p:sldId id="520" r:id="rId30"/>
    <p:sldId id="521" r:id="rId31"/>
    <p:sldId id="522" r:id="rId32"/>
    <p:sldId id="526" r:id="rId33"/>
    <p:sldId id="527" r:id="rId34"/>
    <p:sldId id="528" r:id="rId35"/>
    <p:sldId id="529" r:id="rId36"/>
    <p:sldId id="530" r:id="rId37"/>
    <p:sldId id="538" r:id="rId38"/>
    <p:sldId id="539" r:id="rId39"/>
    <p:sldId id="532" r:id="rId40"/>
    <p:sldId id="534" r:id="rId41"/>
    <p:sldId id="540" r:id="rId42"/>
    <p:sldId id="541" r:id="rId43"/>
    <p:sldId id="542" r:id="rId44"/>
    <p:sldId id="543" r:id="rId45"/>
    <p:sldId id="546" r:id="rId46"/>
    <p:sldId id="550" r:id="rId47"/>
    <p:sldId id="548" r:id="rId48"/>
    <p:sldId id="551" r:id="rId49"/>
    <p:sldId id="549" r:id="rId50"/>
    <p:sldId id="544" r:id="rId51"/>
    <p:sldId id="552" r:id="rId52"/>
    <p:sldId id="553" r:id="rId53"/>
    <p:sldId id="554" r:id="rId54"/>
    <p:sldId id="555" r:id="rId55"/>
    <p:sldId id="545" r:id="rId56"/>
    <p:sldId id="556" r:id="rId57"/>
    <p:sldId id="557" r:id="rId58"/>
    <p:sldId id="558" r:id="rId59"/>
    <p:sldId id="559" r:id="rId60"/>
    <p:sldId id="523" r:id="rId61"/>
    <p:sldId id="444" r:id="rId62"/>
    <p:sldId id="445" r:id="rId63"/>
    <p:sldId id="560" r:id="rId64"/>
    <p:sldId id="446" r:id="rId65"/>
    <p:sldId id="476" r:id="rId66"/>
    <p:sldId id="488" r:id="rId67"/>
    <p:sldId id="561" r:id="rId68"/>
    <p:sldId id="477" r:id="rId69"/>
    <p:sldId id="562" r:id="rId70"/>
    <p:sldId id="563" r:id="rId71"/>
    <p:sldId id="475" r:id="rId72"/>
    <p:sldId id="447" r:id="rId73"/>
    <p:sldId id="449" r:id="rId74"/>
    <p:sldId id="448" r:id="rId75"/>
    <p:sldId id="478" r:id="rId76"/>
    <p:sldId id="491" r:id="rId77"/>
    <p:sldId id="479" r:id="rId78"/>
    <p:sldId id="564" r:id="rId7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Simpkins" initials="MS" lastIdx="43" clrIdx="0">
    <p:extLst/>
  </p:cmAuthor>
  <p:cmAuthor id="2" name="Vicki Pugh" initials="VP" lastIdx="1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20" autoAdjust="0"/>
    <p:restoredTop sz="92922" autoAdjust="0"/>
  </p:normalViewPr>
  <p:slideViewPr>
    <p:cSldViewPr>
      <p:cViewPr varScale="1">
        <p:scale>
          <a:sx n="87" d="100"/>
          <a:sy n="87" d="100"/>
        </p:scale>
        <p:origin x="1544" y="19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200" d="100"/>
        <a:sy n="200" d="100"/>
      </p:scale>
      <p:origin x="0" y="0"/>
    </p:cViewPr>
  </p:sorter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80" Type="http://schemas.openxmlformats.org/officeDocument/2006/relationships/notesMaster" Target="notesMasters/notesMaster1.xml"/><Relationship Id="rId81" Type="http://schemas.openxmlformats.org/officeDocument/2006/relationships/commentAuthors" Target="commentAuthors.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 Id="rId86"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1/10/18</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https://c2.staticflickr.com/4/3178/4076380768_03994aed44_b.jpg</a:t>
            </a:r>
          </a:p>
        </p:txBody>
      </p:sp>
      <p:sp>
        <p:nvSpPr>
          <p:cNvPr id="4" name="Slide Number Placeholder 3"/>
          <p:cNvSpPr>
            <a:spLocks noGrp="1"/>
          </p:cNvSpPr>
          <p:nvPr>
            <p:ph type="sldNum" sz="quarter" idx="10"/>
          </p:nvPr>
        </p:nvSpPr>
        <p:spPr/>
        <p:txBody>
          <a:bodyPr/>
          <a:lstStyle/>
          <a:p>
            <a:fld id="{2C9D32D9-63A9-423F-8B77-368638260D4D}" type="slidenum">
              <a:rPr lang="en-US" smtClean="0"/>
              <a:t>2</a:t>
            </a:fld>
            <a:endParaRPr lang="en-US"/>
          </a:p>
        </p:txBody>
      </p:sp>
    </p:spTree>
    <p:extLst>
      <p:ext uri="{BB962C8B-B14F-4D97-AF65-F5344CB8AC3E}">
        <p14:creationId xmlns:p14="http://schemas.microsoft.com/office/powerpoint/2010/main" val="2536047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a:p>
        </p:txBody>
      </p:sp>
    </p:spTree>
    <p:extLst>
      <p:ext uri="{BB962C8B-B14F-4D97-AF65-F5344CB8AC3E}">
        <p14:creationId xmlns:p14="http://schemas.microsoft.com/office/powerpoint/2010/main" val="704945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a:p>
        </p:txBody>
      </p:sp>
    </p:spTree>
    <p:extLst>
      <p:ext uri="{BB962C8B-B14F-4D97-AF65-F5344CB8AC3E}">
        <p14:creationId xmlns:p14="http://schemas.microsoft.com/office/powerpoint/2010/main" val="1162945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https://examhints.files.wordpress.com/2014/10/ions-list.png</a:t>
            </a:r>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a:p>
        </p:txBody>
      </p:sp>
    </p:spTree>
    <p:extLst>
      <p:ext uri="{BB962C8B-B14F-4D97-AF65-F5344CB8AC3E}">
        <p14:creationId xmlns:p14="http://schemas.microsoft.com/office/powerpoint/2010/main" val="3139973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a:p>
        </p:txBody>
      </p:sp>
    </p:spTree>
    <p:extLst>
      <p:ext uri="{BB962C8B-B14F-4D97-AF65-F5344CB8AC3E}">
        <p14:creationId xmlns:p14="http://schemas.microsoft.com/office/powerpoint/2010/main" val="24732212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j83_7Kp7nVAhViDMAKHUa-BjEQjRwIBw&amp;url=http%3A%2F%2Fwww.bbc.co.uk%2Feducation%2Fguides%2Fzccmn39%2Frevision&amp;psig=AFQjCNEgBoTtwHYRcEQ-aOWdYS2_agBv1g&amp;ust=1501789374706607</a:t>
            </a:r>
          </a:p>
        </p:txBody>
      </p:sp>
      <p:sp>
        <p:nvSpPr>
          <p:cNvPr id="4" name="Slide Number Placeholder 3"/>
          <p:cNvSpPr>
            <a:spLocks noGrp="1"/>
          </p:cNvSpPr>
          <p:nvPr>
            <p:ph type="sldNum" sz="quarter" idx="10"/>
          </p:nvPr>
        </p:nvSpPr>
        <p:spPr/>
        <p:txBody>
          <a:bodyPr/>
          <a:lstStyle/>
          <a:p>
            <a:fld id="{2C9D32D9-63A9-423F-8B77-368638260D4D}" type="slidenum">
              <a:rPr lang="en-US" smtClean="0"/>
              <a:t>7</a:t>
            </a:fld>
            <a:endParaRPr lang="en-US"/>
          </a:p>
        </p:txBody>
      </p:sp>
    </p:spTree>
    <p:extLst>
      <p:ext uri="{BB962C8B-B14F-4D97-AF65-F5344CB8AC3E}">
        <p14:creationId xmlns:p14="http://schemas.microsoft.com/office/powerpoint/2010/main" val="24994240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9</a:t>
            </a:fld>
            <a:endParaRPr lang="en-US"/>
          </a:p>
        </p:txBody>
      </p:sp>
    </p:spTree>
    <p:extLst>
      <p:ext uri="{BB962C8B-B14F-4D97-AF65-F5344CB8AC3E}">
        <p14:creationId xmlns:p14="http://schemas.microsoft.com/office/powerpoint/2010/main" val="3209414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10</a:t>
            </a:fld>
            <a:endParaRPr lang="en-US"/>
          </a:p>
        </p:txBody>
      </p:sp>
    </p:spTree>
    <p:extLst>
      <p:ext uri="{BB962C8B-B14F-4D97-AF65-F5344CB8AC3E}">
        <p14:creationId xmlns:p14="http://schemas.microsoft.com/office/powerpoint/2010/main" val="761645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11</a:t>
            </a:fld>
            <a:endParaRPr lang="en-US"/>
          </a:p>
        </p:txBody>
      </p:sp>
    </p:spTree>
    <p:extLst>
      <p:ext uri="{BB962C8B-B14F-4D97-AF65-F5344CB8AC3E}">
        <p14:creationId xmlns:p14="http://schemas.microsoft.com/office/powerpoint/2010/main" val="2280280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12</a:t>
            </a:fld>
            <a:endParaRPr lang="en-US"/>
          </a:p>
        </p:txBody>
      </p:sp>
    </p:spTree>
    <p:extLst>
      <p:ext uri="{BB962C8B-B14F-4D97-AF65-F5344CB8AC3E}">
        <p14:creationId xmlns:p14="http://schemas.microsoft.com/office/powerpoint/2010/main" val="9461826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13</a:t>
            </a:fld>
            <a:endParaRPr lang="en-US" dirty="0"/>
          </a:p>
        </p:txBody>
      </p:sp>
    </p:spTree>
    <p:extLst>
      <p:ext uri="{BB962C8B-B14F-4D97-AF65-F5344CB8AC3E}">
        <p14:creationId xmlns:p14="http://schemas.microsoft.com/office/powerpoint/2010/main" val="42943487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14</a:t>
            </a:fld>
            <a:endParaRPr lang="en-US"/>
          </a:p>
        </p:txBody>
      </p:sp>
    </p:spTree>
    <p:extLst>
      <p:ext uri="{BB962C8B-B14F-4D97-AF65-F5344CB8AC3E}">
        <p14:creationId xmlns:p14="http://schemas.microsoft.com/office/powerpoint/2010/main" val="14249397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15</a:t>
            </a:fld>
            <a:endParaRPr lang="en-US"/>
          </a:p>
        </p:txBody>
      </p:sp>
    </p:spTree>
    <p:extLst>
      <p:ext uri="{BB962C8B-B14F-4D97-AF65-F5344CB8AC3E}">
        <p14:creationId xmlns:p14="http://schemas.microsoft.com/office/powerpoint/2010/main" val="34316044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16</a:t>
            </a:fld>
            <a:endParaRPr lang="en-US"/>
          </a:p>
        </p:txBody>
      </p:sp>
    </p:spTree>
    <p:extLst>
      <p:ext uri="{BB962C8B-B14F-4D97-AF65-F5344CB8AC3E}">
        <p14:creationId xmlns:p14="http://schemas.microsoft.com/office/powerpoint/2010/main" val="41186659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17</a:t>
            </a:fld>
            <a:endParaRPr lang="en-US"/>
          </a:p>
        </p:txBody>
      </p:sp>
    </p:spTree>
    <p:extLst>
      <p:ext uri="{BB962C8B-B14F-4D97-AF65-F5344CB8AC3E}">
        <p14:creationId xmlns:p14="http://schemas.microsoft.com/office/powerpoint/2010/main" val="24184715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18</a:t>
            </a:fld>
            <a:endParaRPr lang="en-US"/>
          </a:p>
        </p:txBody>
      </p:sp>
    </p:spTree>
    <p:extLst>
      <p:ext uri="{BB962C8B-B14F-4D97-AF65-F5344CB8AC3E}">
        <p14:creationId xmlns:p14="http://schemas.microsoft.com/office/powerpoint/2010/main" val="3720061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iPu_Gf4bjVAhWpqVQKHT5nDzwQjRwIBw&amp;url=http%3A%2F%2Fwww.historyoftheuniverse.com%2Findex.php%3Fp%3Dnitrogen.htm&amp;psig=AFQjCNHbB72WgjFaiV6T9gpkLrR0o42JUQ&amp;ust=1501770468520684</a:t>
            </a:r>
          </a:p>
          <a:p>
            <a:r>
              <a:rPr lang="en-GB" dirty="0"/>
              <a:t>https://www.google.co.uk/url?sa=i&amp;rct=j&amp;q=&amp;esrc=s&amp;source=images&amp;cd=&amp;cad=rja&amp;uact=8&amp;ved=0ahUKEwjR96uG97jVAhXHK8AKHTJtCvkQjRwIBw&amp;url=https%3A%2F%2Fwww.quora.com%2FBoth-H2O-and-CO2-are-covalently-bonded-particles-Which-experiences-stronger-forces-of-attraction-between-its-particles-H2O-or-CO2&amp;psig=AFQjCNHgR7lQOEvAsLNkknh2W390tWdutQ&amp;ust=1501776343501473</a:t>
            </a:r>
          </a:p>
        </p:txBody>
      </p:sp>
      <p:sp>
        <p:nvSpPr>
          <p:cNvPr id="4" name="Slide Number Placeholder 3"/>
          <p:cNvSpPr>
            <a:spLocks noGrp="1"/>
          </p:cNvSpPr>
          <p:nvPr>
            <p:ph type="sldNum" sz="quarter" idx="10"/>
          </p:nvPr>
        </p:nvSpPr>
        <p:spPr/>
        <p:txBody>
          <a:bodyPr/>
          <a:lstStyle/>
          <a:p>
            <a:fld id="{2C9D32D9-63A9-423F-8B77-368638260D4D}" type="slidenum">
              <a:rPr lang="en-US" smtClean="0"/>
              <a:t>19</a:t>
            </a:fld>
            <a:endParaRPr lang="en-US"/>
          </a:p>
        </p:txBody>
      </p:sp>
    </p:spTree>
    <p:extLst>
      <p:ext uri="{BB962C8B-B14F-4D97-AF65-F5344CB8AC3E}">
        <p14:creationId xmlns:p14="http://schemas.microsoft.com/office/powerpoint/2010/main" val="18798214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iPu_Gf4bjVAhWpqVQKHT5nDzwQjRwIBw&amp;url=http%3A%2F%2Fwww.historyoftheuniverse.com%2Findex.php%3Fp%3Dnitrogen.htm&amp;psig=AFQjCNHbB72WgjFaiV6T9gpkLrR0o42JUQ&amp;ust=1501770468520684</a:t>
            </a:r>
          </a:p>
        </p:txBody>
      </p:sp>
      <p:sp>
        <p:nvSpPr>
          <p:cNvPr id="4" name="Slide Number Placeholder 3"/>
          <p:cNvSpPr>
            <a:spLocks noGrp="1"/>
          </p:cNvSpPr>
          <p:nvPr>
            <p:ph type="sldNum" sz="quarter" idx="10"/>
          </p:nvPr>
        </p:nvSpPr>
        <p:spPr/>
        <p:txBody>
          <a:bodyPr/>
          <a:lstStyle/>
          <a:p>
            <a:fld id="{2C9D32D9-63A9-423F-8B77-368638260D4D}" type="slidenum">
              <a:rPr lang="en-US" smtClean="0"/>
              <a:t>20</a:t>
            </a:fld>
            <a:endParaRPr lang="en-US"/>
          </a:p>
        </p:txBody>
      </p:sp>
    </p:spTree>
    <p:extLst>
      <p:ext uri="{BB962C8B-B14F-4D97-AF65-F5344CB8AC3E}">
        <p14:creationId xmlns:p14="http://schemas.microsoft.com/office/powerpoint/2010/main" val="13669313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21</a:t>
            </a:fld>
            <a:endParaRPr lang="en-US"/>
          </a:p>
        </p:txBody>
      </p:sp>
    </p:spTree>
    <p:extLst>
      <p:ext uri="{BB962C8B-B14F-4D97-AF65-F5344CB8AC3E}">
        <p14:creationId xmlns:p14="http://schemas.microsoft.com/office/powerpoint/2010/main" val="29926947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22</a:t>
            </a:fld>
            <a:endParaRPr lang="en-US"/>
          </a:p>
        </p:txBody>
      </p:sp>
    </p:spTree>
    <p:extLst>
      <p:ext uri="{BB962C8B-B14F-4D97-AF65-F5344CB8AC3E}">
        <p14:creationId xmlns:p14="http://schemas.microsoft.com/office/powerpoint/2010/main" val="41704599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25</a:t>
            </a:fld>
            <a:endParaRPr lang="en-US"/>
          </a:p>
        </p:txBody>
      </p:sp>
    </p:spTree>
    <p:extLst>
      <p:ext uri="{BB962C8B-B14F-4D97-AF65-F5344CB8AC3E}">
        <p14:creationId xmlns:p14="http://schemas.microsoft.com/office/powerpoint/2010/main" val="40903257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26</a:t>
            </a:fld>
            <a:endParaRPr lang="en-US" dirty="0"/>
          </a:p>
        </p:txBody>
      </p:sp>
    </p:spTree>
    <p:extLst>
      <p:ext uri="{BB962C8B-B14F-4D97-AF65-F5344CB8AC3E}">
        <p14:creationId xmlns:p14="http://schemas.microsoft.com/office/powerpoint/2010/main" val="15723860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29</a:t>
            </a:fld>
            <a:endParaRPr lang="en-US"/>
          </a:p>
        </p:txBody>
      </p:sp>
    </p:spTree>
    <p:extLst>
      <p:ext uri="{BB962C8B-B14F-4D97-AF65-F5344CB8AC3E}">
        <p14:creationId xmlns:p14="http://schemas.microsoft.com/office/powerpoint/2010/main" val="18772458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30</a:t>
            </a:fld>
            <a:endParaRPr lang="en-US"/>
          </a:p>
        </p:txBody>
      </p:sp>
    </p:spTree>
    <p:extLst>
      <p:ext uri="{BB962C8B-B14F-4D97-AF65-F5344CB8AC3E}">
        <p14:creationId xmlns:p14="http://schemas.microsoft.com/office/powerpoint/2010/main" val="41500853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31</a:t>
            </a:fld>
            <a:endParaRPr lang="en-US"/>
          </a:p>
        </p:txBody>
      </p:sp>
    </p:spTree>
    <p:extLst>
      <p:ext uri="{BB962C8B-B14F-4D97-AF65-F5344CB8AC3E}">
        <p14:creationId xmlns:p14="http://schemas.microsoft.com/office/powerpoint/2010/main" val="356280866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a:p>
        </p:txBody>
      </p:sp>
    </p:spTree>
    <p:extLst>
      <p:ext uri="{BB962C8B-B14F-4D97-AF65-F5344CB8AC3E}">
        <p14:creationId xmlns:p14="http://schemas.microsoft.com/office/powerpoint/2010/main" val="35468341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33</a:t>
            </a:fld>
            <a:endParaRPr lang="en-US"/>
          </a:p>
        </p:txBody>
      </p:sp>
    </p:spTree>
    <p:extLst>
      <p:ext uri="{BB962C8B-B14F-4D97-AF65-F5344CB8AC3E}">
        <p14:creationId xmlns:p14="http://schemas.microsoft.com/office/powerpoint/2010/main" val="32681145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34</a:t>
            </a:fld>
            <a:endParaRPr lang="en-US"/>
          </a:p>
        </p:txBody>
      </p:sp>
    </p:spTree>
    <p:extLst>
      <p:ext uri="{BB962C8B-B14F-4D97-AF65-F5344CB8AC3E}">
        <p14:creationId xmlns:p14="http://schemas.microsoft.com/office/powerpoint/2010/main" val="361270687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38</a:t>
            </a:fld>
            <a:endParaRPr lang="en-US" dirty="0"/>
          </a:p>
        </p:txBody>
      </p:sp>
    </p:spTree>
    <p:extLst>
      <p:ext uri="{BB962C8B-B14F-4D97-AF65-F5344CB8AC3E}">
        <p14:creationId xmlns:p14="http://schemas.microsoft.com/office/powerpoint/2010/main" val="31498708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42</a:t>
            </a:fld>
            <a:endParaRPr lang="en-US"/>
          </a:p>
        </p:txBody>
      </p:sp>
    </p:spTree>
    <p:extLst>
      <p:ext uri="{BB962C8B-B14F-4D97-AF65-F5344CB8AC3E}">
        <p14:creationId xmlns:p14="http://schemas.microsoft.com/office/powerpoint/2010/main" val="1768974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45</a:t>
            </a:fld>
            <a:endParaRPr lang="en-US"/>
          </a:p>
        </p:txBody>
      </p:sp>
    </p:spTree>
    <p:extLst>
      <p:ext uri="{BB962C8B-B14F-4D97-AF65-F5344CB8AC3E}">
        <p14:creationId xmlns:p14="http://schemas.microsoft.com/office/powerpoint/2010/main" val="32019878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47</a:t>
            </a:fld>
            <a:endParaRPr lang="en-US"/>
          </a:p>
        </p:txBody>
      </p:sp>
    </p:spTree>
    <p:extLst>
      <p:ext uri="{BB962C8B-B14F-4D97-AF65-F5344CB8AC3E}">
        <p14:creationId xmlns:p14="http://schemas.microsoft.com/office/powerpoint/2010/main" val="39387435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48</a:t>
            </a:fld>
            <a:endParaRPr lang="en-US"/>
          </a:p>
        </p:txBody>
      </p:sp>
    </p:spTree>
    <p:extLst>
      <p:ext uri="{BB962C8B-B14F-4D97-AF65-F5344CB8AC3E}">
        <p14:creationId xmlns:p14="http://schemas.microsoft.com/office/powerpoint/2010/main" val="14073962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53</a:t>
            </a:fld>
            <a:endParaRPr lang="en-US" dirty="0"/>
          </a:p>
        </p:txBody>
      </p:sp>
    </p:spTree>
    <p:extLst>
      <p:ext uri="{BB962C8B-B14F-4D97-AF65-F5344CB8AC3E}">
        <p14:creationId xmlns:p14="http://schemas.microsoft.com/office/powerpoint/2010/main" val="33599065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58</a:t>
            </a:fld>
            <a:endParaRPr lang="en-US"/>
          </a:p>
        </p:txBody>
      </p:sp>
    </p:spTree>
    <p:extLst>
      <p:ext uri="{BB962C8B-B14F-4D97-AF65-F5344CB8AC3E}">
        <p14:creationId xmlns:p14="http://schemas.microsoft.com/office/powerpoint/2010/main" val="28882255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google.co.uk/url?sa=i&amp;rct=j&amp;q=&amp;esrc=s&amp;source=images&amp;cd=&amp;cad=rja&amp;uact=8&amp;ved=0ahUKEwjb_7i7gbnVAhUBohQKHTa6AYMQjRwIBw&amp;url=http%3A%2F%2Fweknownyourdreamz.com%2Fsymbols%2Fsymbol-for-silicon-dioxide.html&amp;psig=AFQjCNF6pkoi_opTPCYLPtR-tFf3ucWV1g&amp;ust=1501779137465594</a:t>
            </a:r>
          </a:p>
        </p:txBody>
      </p:sp>
      <p:sp>
        <p:nvSpPr>
          <p:cNvPr id="4" name="Slide Number Placeholder 3"/>
          <p:cNvSpPr>
            <a:spLocks noGrp="1"/>
          </p:cNvSpPr>
          <p:nvPr>
            <p:ph type="sldNum" sz="quarter" idx="10"/>
          </p:nvPr>
        </p:nvSpPr>
        <p:spPr/>
        <p:txBody>
          <a:bodyPr/>
          <a:lstStyle/>
          <a:p>
            <a:fld id="{2C9D32D9-63A9-423F-8B77-368638260D4D}" type="slidenum">
              <a:rPr lang="en-US" smtClean="0"/>
              <a:t>59</a:t>
            </a:fld>
            <a:endParaRPr lang="en-US"/>
          </a:p>
        </p:txBody>
      </p:sp>
    </p:spTree>
    <p:extLst>
      <p:ext uri="{BB962C8B-B14F-4D97-AF65-F5344CB8AC3E}">
        <p14:creationId xmlns:p14="http://schemas.microsoft.com/office/powerpoint/2010/main" val="198529137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60</a:t>
            </a:fld>
            <a:endParaRPr lang="en-US"/>
          </a:p>
        </p:txBody>
      </p:sp>
    </p:spTree>
    <p:extLst>
      <p:ext uri="{BB962C8B-B14F-4D97-AF65-F5344CB8AC3E}">
        <p14:creationId xmlns:p14="http://schemas.microsoft.com/office/powerpoint/2010/main" val="229470016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https://images.techhive.com/images/article/2014/04/graphene_structure-100263091-orig.png</a:t>
            </a:r>
          </a:p>
        </p:txBody>
      </p:sp>
      <p:sp>
        <p:nvSpPr>
          <p:cNvPr id="4" name="Slide Number Placeholder 3"/>
          <p:cNvSpPr>
            <a:spLocks noGrp="1"/>
          </p:cNvSpPr>
          <p:nvPr>
            <p:ph type="sldNum" sz="quarter" idx="10"/>
          </p:nvPr>
        </p:nvSpPr>
        <p:spPr/>
        <p:txBody>
          <a:bodyPr/>
          <a:lstStyle/>
          <a:p>
            <a:fld id="{2C9D32D9-63A9-423F-8B77-368638260D4D}" type="slidenum">
              <a:rPr lang="en-US" smtClean="0"/>
              <a:t>61</a:t>
            </a:fld>
            <a:endParaRPr lang="en-US"/>
          </a:p>
        </p:txBody>
      </p:sp>
    </p:spTree>
    <p:extLst>
      <p:ext uri="{BB962C8B-B14F-4D97-AF65-F5344CB8AC3E}">
        <p14:creationId xmlns:p14="http://schemas.microsoft.com/office/powerpoint/2010/main" val="41597303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62</a:t>
            </a:fld>
            <a:endParaRPr lang="en-US"/>
          </a:p>
        </p:txBody>
      </p:sp>
    </p:spTree>
    <p:extLst>
      <p:ext uri="{BB962C8B-B14F-4D97-AF65-F5344CB8AC3E}">
        <p14:creationId xmlns:p14="http://schemas.microsoft.com/office/powerpoint/2010/main" val="102206708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63</a:t>
            </a:fld>
            <a:endParaRPr lang="en-US"/>
          </a:p>
        </p:txBody>
      </p:sp>
    </p:spTree>
    <p:extLst>
      <p:ext uri="{BB962C8B-B14F-4D97-AF65-F5344CB8AC3E}">
        <p14:creationId xmlns:p14="http://schemas.microsoft.com/office/powerpoint/2010/main" val="106945258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64</a:t>
            </a:fld>
            <a:endParaRPr lang="en-US"/>
          </a:p>
        </p:txBody>
      </p:sp>
    </p:spTree>
    <p:extLst>
      <p:ext uri="{BB962C8B-B14F-4D97-AF65-F5344CB8AC3E}">
        <p14:creationId xmlns:p14="http://schemas.microsoft.com/office/powerpoint/2010/main" val="93235486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65</a:t>
            </a:fld>
            <a:endParaRPr lang="en-US"/>
          </a:p>
        </p:txBody>
      </p:sp>
    </p:spTree>
    <p:extLst>
      <p:ext uri="{BB962C8B-B14F-4D97-AF65-F5344CB8AC3E}">
        <p14:creationId xmlns:p14="http://schemas.microsoft.com/office/powerpoint/2010/main" val="7508938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66</a:t>
            </a:fld>
            <a:endParaRPr lang="en-US" dirty="0"/>
          </a:p>
        </p:txBody>
      </p:sp>
    </p:spTree>
    <p:extLst>
      <p:ext uri="{BB962C8B-B14F-4D97-AF65-F5344CB8AC3E}">
        <p14:creationId xmlns:p14="http://schemas.microsoft.com/office/powerpoint/2010/main" val="121929466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67</a:t>
            </a:fld>
            <a:endParaRPr lang="en-US"/>
          </a:p>
        </p:txBody>
      </p:sp>
    </p:spTree>
    <p:extLst>
      <p:ext uri="{BB962C8B-B14F-4D97-AF65-F5344CB8AC3E}">
        <p14:creationId xmlns:p14="http://schemas.microsoft.com/office/powerpoint/2010/main" val="33902720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68</a:t>
            </a:fld>
            <a:endParaRPr lang="en-US"/>
          </a:p>
        </p:txBody>
      </p:sp>
    </p:spTree>
    <p:extLst>
      <p:ext uri="{BB962C8B-B14F-4D97-AF65-F5344CB8AC3E}">
        <p14:creationId xmlns:p14="http://schemas.microsoft.com/office/powerpoint/2010/main" val="156224286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69</a:t>
            </a:fld>
            <a:endParaRPr lang="en-US"/>
          </a:p>
        </p:txBody>
      </p:sp>
    </p:spTree>
    <p:extLst>
      <p:ext uri="{BB962C8B-B14F-4D97-AF65-F5344CB8AC3E}">
        <p14:creationId xmlns:p14="http://schemas.microsoft.com/office/powerpoint/2010/main" val="347741786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70</a:t>
            </a:fld>
            <a:endParaRPr lang="en-US"/>
          </a:p>
        </p:txBody>
      </p:sp>
    </p:spTree>
    <p:extLst>
      <p:ext uri="{BB962C8B-B14F-4D97-AF65-F5344CB8AC3E}">
        <p14:creationId xmlns:p14="http://schemas.microsoft.com/office/powerpoint/2010/main" val="13904274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71</a:t>
            </a:fld>
            <a:endParaRPr lang="en-US"/>
          </a:p>
        </p:txBody>
      </p:sp>
    </p:spTree>
    <p:extLst>
      <p:ext uri="{BB962C8B-B14F-4D97-AF65-F5344CB8AC3E}">
        <p14:creationId xmlns:p14="http://schemas.microsoft.com/office/powerpoint/2010/main" val="248476637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72</a:t>
            </a:fld>
            <a:endParaRPr lang="en-US"/>
          </a:p>
        </p:txBody>
      </p:sp>
    </p:spTree>
    <p:extLst>
      <p:ext uri="{BB962C8B-B14F-4D97-AF65-F5344CB8AC3E}">
        <p14:creationId xmlns:p14="http://schemas.microsoft.com/office/powerpoint/2010/main" val="64291531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73</a:t>
            </a:fld>
            <a:endParaRPr lang="en-US"/>
          </a:p>
        </p:txBody>
      </p:sp>
    </p:spTree>
    <p:extLst>
      <p:ext uri="{BB962C8B-B14F-4D97-AF65-F5344CB8AC3E}">
        <p14:creationId xmlns:p14="http://schemas.microsoft.com/office/powerpoint/2010/main" val="95774576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75</a:t>
            </a:fld>
            <a:endParaRPr lang="en-US" dirty="0"/>
          </a:p>
        </p:txBody>
      </p:sp>
    </p:spTree>
    <p:extLst>
      <p:ext uri="{BB962C8B-B14F-4D97-AF65-F5344CB8AC3E}">
        <p14:creationId xmlns:p14="http://schemas.microsoft.com/office/powerpoint/2010/main" val="2427751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10/01/2018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10/01/2018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10/01/2018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10/01/2018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10/01/2018</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10/01/2018</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10/01/2018</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10/01/2018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10/01/2018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10/01/2018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10/01/2018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10/01/2018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Drag picture to placeholder or click icon to add</a:t>
            </a:r>
            <a:endParaRPr lang="en-GB"/>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10/01/2018</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10/01/2018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10/01/2018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10/01/2018</a:t>
            </a:fld>
            <a:endParaRPr lang="en-GB"/>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10/01/2018</a:t>
            </a:fld>
            <a:endParaRPr lang="en-GB"/>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jpeg"/><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4.xml"/><Relationship Id="rId12" Type="http://schemas.openxmlformats.org/officeDocument/2006/relationships/theme" Target="../theme/theme2.xml"/><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 Id="rId9" Type="http://schemas.openxmlformats.org/officeDocument/2006/relationships/slideLayout" Target="../slideLayouts/slideLayout12.xml"/><Relationship Id="rId10"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slideLayout" Target="../slideLayouts/slideLayout30.xml"/><Relationship Id="rId17" Type="http://schemas.openxmlformats.org/officeDocument/2006/relationships/theme" Target="../theme/theme3.xml"/><Relationship Id="rId18" Type="http://schemas.openxmlformats.org/officeDocument/2006/relationships/image" Target="../media/image2.jpeg"/><Relationship Id="rId19" Type="http://schemas.openxmlformats.org/officeDocument/2006/relationships/image" Target="../media/image3.jpeg"/><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10/01/2018</a:t>
            </a:fld>
            <a:endParaRPr lang="en-GB"/>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10/01/2018</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pixl.org.uk/" TargetMode="External"/><Relationship Id="rId4" Type="http://schemas.openxmlformats.org/officeDocument/2006/relationships/image" Target="../media/image5.jpeg"/><Relationship Id="rId1" Type="http://schemas.openxmlformats.org/officeDocument/2006/relationships/slideLayout" Target="../slideLayouts/slideLayout10.xml"/><Relationship Id="rId2"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hyperlink" Target="NUL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9.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0.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jpe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4" Type="http://schemas.openxmlformats.org/officeDocument/2006/relationships/image" Target="../media/image23.jpeg"/><Relationship Id="rId5" Type="http://schemas.openxmlformats.org/officeDocument/2006/relationships/image" Target="../media/image24.png"/><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3" Type="http://schemas.openxmlformats.org/officeDocument/2006/relationships/hyperlink" Target="http://www.google.co.uk/url?sa=i&amp;rct=j&amp;q=annonia&amp;source=images&amp;cd=&amp;cad=rja&amp;uact=8&amp;docid=moiDl4E4ouE7xM&amp;tbnid=IfDIgXl-pr43sM:&amp;ved=0CAUQjRw&amp;url=http://commons.wikimedia.org/wiki/File:Ammonia-2D-dot-cross.png&amp;ei=2-SzU5OHCNOP0wW8goCoCA&amp;psig=AFQjCNHV5zpqGGvx7FiCn7B0GbLUaEg-jQ&amp;ust=1404384856969841" TargetMode="External"/><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4" Type="http://schemas.openxmlformats.org/officeDocument/2006/relationships/image" Target="../media/image30.png"/><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9.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1.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2.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7.jpeg"/></Relationships>
</file>

<file path=ppt/slides/_rels/slide31.xml.rels><?xml version="1.0" encoding="UTF-8" standalone="yes"?>
<Relationships xmlns="http://schemas.openxmlformats.org/package/2006/relationships"><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3" Type="http://schemas.openxmlformats.org/officeDocument/2006/relationships/image" Target="../media/image36.jpe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7.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9.jpe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0.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7.jpeg"/></Relationships>
</file>

<file path=ppt/slides/_rels/slide43.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8.png"/><Relationship Id="rId1" Type="http://schemas.openxmlformats.org/officeDocument/2006/relationships/slideLayout" Target="../slideLayouts/slideLayout2.xml"/><Relationship Id="rId2" Type="http://schemas.openxmlformats.org/officeDocument/2006/relationships/hyperlink" Target="NULL"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9.png"/><Relationship Id="rId3" Type="http://schemas.openxmlformats.org/officeDocument/2006/relationships/image" Target="../media/image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1.png"/></Relationships>
</file>

<file path=ppt/slides/_rels/slide46.xml.rels><?xml version="1.0" encoding="UTF-8" standalone="yes"?>
<Relationships xmlns="http://schemas.openxmlformats.org/package/2006/relationships"><Relationship Id="rId3" Type="http://schemas.openxmlformats.org/officeDocument/2006/relationships/hyperlink" Target="http://www.google.co.uk/url?sa=i&amp;rct=j&amp;q=graphite+sturcture&amp;source=images&amp;cd=&amp;cad=rja&amp;uact=8&amp;docid=SEoYbm6i_5bAEM&amp;tbnid=_oy7eMnzXc_QyM:&amp;ved=0CAUQjRw&amp;url=http://lpmmc.grenoble.cnrs.fr/spip.php?article407&amp;ei=SeazU8ybELSc0wXj1IEo&amp;psig=AFQjCNEisg7BoU4Ug9jzxrSdvnhxUSP9EA&amp;ust=1404385215395506" TargetMode="External"/><Relationship Id="rId4" Type="http://schemas.openxmlformats.org/officeDocument/2006/relationships/image" Target="../media/image43.jpeg"/><Relationship Id="rId1" Type="http://schemas.openxmlformats.org/officeDocument/2006/relationships/slideLayout" Target="../slideLayouts/slideLayout2.xml"/><Relationship Id="rId2" Type="http://schemas.openxmlformats.org/officeDocument/2006/relationships/image" Target="../media/image42.png"/></Relationships>
</file>

<file path=ppt/slides/_rels/slide47.xml.rels><?xml version="1.0" encoding="UTF-8" standalone="yes"?>
<Relationships xmlns="http://schemas.openxmlformats.org/package/2006/relationships"><Relationship Id="rId3" Type="http://schemas.openxmlformats.org/officeDocument/2006/relationships/hyperlink" Target="http://www.google.co.uk/url?sa=i&amp;rct=j&amp;q=metals+conducting+electricy&amp;source=images&amp;cd=&amp;cad=rja&amp;uact=8&amp;docid=RUkvxDAIrxn0nM&amp;tbnid=VKyvh3y1-Ld-KM:&amp;ved=0CAUQjRw&amp;url=http://www.bbc.co.uk/schools/gcsebitesize/science/add_ocr_gateway/periodic_table/metalsrev2.shtml&amp;ei=nOezU8r6J7OZ0QX3_oHwDQ&amp;psig=AFQjCNG99EvPsnKr2apjXHAGCrE1J228_w&amp;ust=1404385549322745" TargetMode="External"/><Relationship Id="rId4" Type="http://schemas.openxmlformats.org/officeDocument/2006/relationships/image" Target="../media/image44.gif"/><Relationship Id="rId5" Type="http://schemas.openxmlformats.org/officeDocument/2006/relationships/image" Target="../media/image45.png"/><Relationship Id="rId6" Type="http://schemas.openxmlformats.org/officeDocument/2006/relationships/image" Target="../media/image46.png"/><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9.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0.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7.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47.gif"/></Relationships>
</file>

<file path=ppt/slides/_rels/slide60.xml.rels><?xml version="1.0" encoding="UTF-8" standalone="yes"?>
<Relationships xmlns="http://schemas.openxmlformats.org/package/2006/relationships"><Relationship Id="rId3" Type="http://schemas.openxmlformats.org/officeDocument/2006/relationships/hyperlink" Target="http://www.google.co.uk/url?sa=i&amp;rct=j&amp;q=graphite+sturcture&amp;source=images&amp;cd=&amp;cad=rja&amp;uact=8&amp;docid=SEoYbm6i_5bAEM&amp;tbnid=_oy7eMnzXc_QyM:&amp;ved=0CAUQjRw&amp;url=http://lpmmc.grenoble.cnrs.fr/spip.php?article407&amp;ei=SeazU8ybELSc0wXj1IEo&amp;psig=AFQjCNEisg7BoU4Ug9jzxrSdvnhxUSP9EA&amp;ust=1404385215395506" TargetMode="External"/><Relationship Id="rId4" Type="http://schemas.openxmlformats.org/officeDocument/2006/relationships/image" Target="../media/image43.jpeg"/><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8.png"/></Relationships>
</file>

<file path=ppt/slides/_rels/slide62.xml.rels><?xml version="1.0" encoding="UTF-8" standalone="yes"?>
<Relationships xmlns="http://schemas.openxmlformats.org/package/2006/relationships"><Relationship Id="rId3" Type="http://schemas.openxmlformats.org/officeDocument/2006/relationships/image" Target="../media/image49.png"/><Relationship Id="rId4" Type="http://schemas.openxmlformats.org/officeDocument/2006/relationships/image" Target="../media/image50.jpeg"/><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9.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0.jp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7.jpeg"/></Relationships>
</file>

<file path=ppt/slides/_rels/slide70.xml.rels><?xml version="1.0" encoding="UTF-8" standalone="yes"?>
<Relationships xmlns="http://schemas.openxmlformats.org/package/2006/relationships"><Relationship Id="rId3"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5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19.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20.jp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a:t>
            </a:r>
            <a:r>
              <a:rPr lang="en-GB" sz="900">
                <a:solidFill>
                  <a:schemeClr val="bg1">
                    <a:lumMod val="85000"/>
                  </a:schemeClr>
                </a:solidFill>
              </a:rPr>
              <a:t>Club XL </a:t>
            </a:r>
            <a:r>
              <a:rPr lang="en-GB" sz="900" dirty="0">
                <a:solidFill>
                  <a:schemeClr val="bg1">
                    <a:lumMod val="85000"/>
                  </a:schemeClr>
                </a:solidFill>
              </a:rPr>
              <a:t>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 xmlns:a14="http://schemas.microsoft.com/office/drawing/2010/main">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3"/>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742837"/>
          </a:xfrm>
          <a:prstGeom prst="rect">
            <a:avLst/>
          </a:prstGeom>
          <a:noFill/>
        </p:spPr>
        <p:txBody>
          <a:bodyPr wrap="square" rtlCol="0">
            <a:spAutoFit/>
          </a:bodyPr>
          <a:lstStyle/>
          <a:p>
            <a:pPr algn="ctr">
              <a:lnSpc>
                <a:spcPct val="115000"/>
              </a:lnSpc>
              <a:spcAft>
                <a:spcPts val="0"/>
              </a:spcAft>
            </a:pPr>
            <a:r>
              <a:rPr lang="en-GB" sz="7200" b="1" dirty="0"/>
              <a:t>PiXL </a:t>
            </a:r>
            <a:r>
              <a:rPr lang="en-GB" sz="7200" b="1" dirty="0" err="1"/>
              <a:t>KnowIT</a:t>
            </a:r>
            <a:r>
              <a:rPr lang="en-GB" sz="7200" b="1" dirty="0"/>
              <a: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AQA Topic – Bonding, structure and the properties of matter</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83768" y="35655"/>
            <a:ext cx="6660232" cy="1017081"/>
          </a:xfrm>
        </p:spPr>
        <p:txBody>
          <a:bodyPr>
            <a:normAutofit fontScale="90000"/>
          </a:bodyPr>
          <a:lstStyle/>
          <a:p>
            <a:pPr algn="r"/>
            <a:r>
              <a:rPr lang="en-GB" b="1" dirty="0">
                <a:solidFill>
                  <a:schemeClr val="accent6"/>
                </a:solidFill>
              </a:rPr>
              <a:t>Overview </a:t>
            </a:r>
            <a:br>
              <a:rPr lang="en-GB" b="1" dirty="0">
                <a:solidFill>
                  <a:schemeClr val="accent6"/>
                </a:solidFill>
              </a:rPr>
            </a:br>
            <a:r>
              <a:rPr lang="en-GB" b="1" dirty="0">
                <a:solidFill>
                  <a:schemeClr val="accent6"/>
                </a:solidFill>
              </a:rPr>
              <a:t> </a:t>
            </a:r>
            <a:r>
              <a:rPr lang="en-GB" sz="2700" b="1" dirty="0">
                <a:solidFill>
                  <a:schemeClr val="accent6"/>
                </a:solidFill>
              </a:rPr>
              <a:t>Bonding, Structure and the properties of matter</a:t>
            </a:r>
          </a:p>
        </p:txBody>
      </p:sp>
      <p:sp>
        <p:nvSpPr>
          <p:cNvPr id="3" name="Subtitle 2"/>
          <p:cNvSpPr>
            <a:spLocks noGrp="1"/>
          </p:cNvSpPr>
          <p:nvPr>
            <p:ph type="subTitle" idx="1"/>
          </p:nvPr>
        </p:nvSpPr>
        <p:spPr>
          <a:xfrm>
            <a:off x="261065" y="764704"/>
            <a:ext cx="5552819" cy="5688632"/>
          </a:xfrm>
        </p:spPr>
        <p:txBody>
          <a:bodyPr>
            <a:normAutofit fontScale="85000" lnSpcReduction="20000"/>
          </a:bodyPr>
          <a:lstStyle/>
          <a:p>
            <a:pPr algn="l"/>
            <a:r>
              <a:rPr lang="en-US" sz="2100" b="1" dirty="0" smtClean="0">
                <a:solidFill>
                  <a:schemeClr val="tx1"/>
                </a:solidFill>
                <a:latin typeface="+mn-lt"/>
              </a:rPr>
              <a:t>Bonding </a:t>
            </a:r>
          </a:p>
          <a:p>
            <a:pPr marL="685800" lvl="1" indent="-342900" algn="l">
              <a:buFont typeface="Arial" charset="0"/>
              <a:buChar char="•"/>
            </a:pPr>
            <a:r>
              <a:rPr lang="en-US" dirty="0" smtClean="0">
                <a:solidFill>
                  <a:schemeClr val="tx1"/>
                </a:solidFill>
              </a:rPr>
              <a:t>Chemical bonds</a:t>
            </a:r>
          </a:p>
          <a:p>
            <a:pPr marL="685800" lvl="1" indent="-342900" algn="l">
              <a:buFont typeface="Arial" charset="0"/>
              <a:buChar char="•"/>
            </a:pPr>
            <a:r>
              <a:rPr lang="en-US" dirty="0" smtClean="0">
                <a:solidFill>
                  <a:schemeClr val="tx1"/>
                </a:solidFill>
              </a:rPr>
              <a:t>Ionic bonding</a:t>
            </a:r>
          </a:p>
          <a:p>
            <a:pPr marL="685800" lvl="1" indent="-342900" algn="l">
              <a:buFont typeface="Arial" charset="0"/>
              <a:buChar char="•"/>
            </a:pPr>
            <a:r>
              <a:rPr lang="en-US" dirty="0" smtClean="0">
                <a:solidFill>
                  <a:schemeClr val="tx1"/>
                </a:solidFill>
              </a:rPr>
              <a:t>Ionic compounds</a:t>
            </a:r>
          </a:p>
          <a:p>
            <a:pPr marL="685800" lvl="1" indent="-342900" algn="l">
              <a:buFont typeface="Arial" charset="0"/>
              <a:buChar char="•"/>
            </a:pPr>
            <a:r>
              <a:rPr lang="en-US" dirty="0" smtClean="0">
                <a:solidFill>
                  <a:schemeClr val="tx1"/>
                </a:solidFill>
              </a:rPr>
              <a:t>Covalent bonding</a:t>
            </a:r>
          </a:p>
          <a:p>
            <a:pPr marL="685800" lvl="1" indent="-342900" algn="l">
              <a:buFont typeface="Arial" charset="0"/>
              <a:buChar char="•"/>
            </a:pPr>
            <a:r>
              <a:rPr lang="en-US" dirty="0" smtClean="0">
                <a:solidFill>
                  <a:schemeClr val="tx1"/>
                </a:solidFill>
              </a:rPr>
              <a:t>Metallic bonding</a:t>
            </a:r>
          </a:p>
          <a:p>
            <a:pPr algn="l"/>
            <a:r>
              <a:rPr lang="en-US" sz="2100" b="1" dirty="0" smtClean="0">
                <a:solidFill>
                  <a:schemeClr val="tx1"/>
                </a:solidFill>
                <a:latin typeface="+mn-lt"/>
              </a:rPr>
              <a:t>Properties of substances</a:t>
            </a:r>
            <a:endParaRPr lang="en-US" sz="2100" b="1" dirty="0">
              <a:solidFill>
                <a:schemeClr val="tx1"/>
              </a:solidFill>
            </a:endParaRPr>
          </a:p>
          <a:p>
            <a:pPr marL="685800" lvl="1" indent="-342900" algn="l">
              <a:buFont typeface="Arial" charset="0"/>
              <a:buChar char="•"/>
            </a:pPr>
            <a:r>
              <a:rPr lang="en-US" dirty="0" smtClean="0">
                <a:solidFill>
                  <a:schemeClr val="tx1"/>
                </a:solidFill>
              </a:rPr>
              <a:t>States of matter</a:t>
            </a:r>
            <a:endParaRPr lang="en-US" dirty="0">
              <a:solidFill>
                <a:schemeClr val="tx1"/>
              </a:solidFill>
            </a:endParaRPr>
          </a:p>
          <a:p>
            <a:pPr marL="685800" lvl="1" indent="-342900" algn="l">
              <a:buFont typeface="Arial" charset="0"/>
              <a:buChar char="•"/>
            </a:pPr>
            <a:r>
              <a:rPr lang="en-US" dirty="0" smtClean="0">
                <a:solidFill>
                  <a:schemeClr val="tx1"/>
                </a:solidFill>
              </a:rPr>
              <a:t>State symbols</a:t>
            </a:r>
          </a:p>
          <a:p>
            <a:pPr marL="685800" lvl="1" indent="-342900" algn="l">
              <a:buFont typeface="Arial" charset="0"/>
              <a:buChar char="•"/>
            </a:pPr>
            <a:r>
              <a:rPr lang="en-US" dirty="0" smtClean="0">
                <a:solidFill>
                  <a:schemeClr val="tx1"/>
                </a:solidFill>
              </a:rPr>
              <a:t>Properties of ionic compounds</a:t>
            </a:r>
          </a:p>
          <a:p>
            <a:pPr marL="685800" lvl="1" indent="-342900" algn="l">
              <a:buFont typeface="Arial" charset="0"/>
              <a:buChar char="•"/>
            </a:pPr>
            <a:r>
              <a:rPr lang="en-US" dirty="0" smtClean="0">
                <a:solidFill>
                  <a:schemeClr val="tx1"/>
                </a:solidFill>
              </a:rPr>
              <a:t>Properties of small molecules</a:t>
            </a:r>
          </a:p>
          <a:p>
            <a:pPr marL="685800" lvl="1" indent="-342900" algn="l">
              <a:buFont typeface="Arial" charset="0"/>
              <a:buChar char="•"/>
            </a:pPr>
            <a:r>
              <a:rPr lang="en-US" dirty="0" smtClean="0">
                <a:solidFill>
                  <a:schemeClr val="tx1"/>
                </a:solidFill>
              </a:rPr>
              <a:t>Polymers</a:t>
            </a:r>
          </a:p>
          <a:p>
            <a:pPr marL="685800" lvl="1" indent="-342900" algn="l">
              <a:buFont typeface="Arial" charset="0"/>
              <a:buChar char="•"/>
            </a:pPr>
            <a:r>
              <a:rPr lang="en-US" dirty="0" smtClean="0">
                <a:solidFill>
                  <a:schemeClr val="tx1"/>
                </a:solidFill>
              </a:rPr>
              <a:t>Giant covalent structures</a:t>
            </a:r>
          </a:p>
          <a:p>
            <a:pPr marL="685800" lvl="1" indent="-342900" algn="l">
              <a:buFont typeface="Arial" charset="0"/>
              <a:buChar char="•"/>
            </a:pPr>
            <a:r>
              <a:rPr lang="en-US" dirty="0" smtClean="0">
                <a:solidFill>
                  <a:schemeClr val="tx1"/>
                </a:solidFill>
              </a:rPr>
              <a:t>Properties of metals and alloys</a:t>
            </a:r>
            <a:endParaRPr lang="en-US" dirty="0">
              <a:solidFill>
                <a:schemeClr val="tx1"/>
              </a:solidFill>
            </a:endParaRPr>
          </a:p>
          <a:p>
            <a:pPr algn="l"/>
            <a:r>
              <a:rPr lang="en-US" sz="2100" b="1" dirty="0" smtClean="0">
                <a:solidFill>
                  <a:schemeClr val="tx1"/>
                </a:solidFill>
                <a:latin typeface="+mn-lt"/>
              </a:rPr>
              <a:t>Structure and bonding of carbon</a:t>
            </a:r>
            <a:endParaRPr lang="en-US" sz="2100" b="1" dirty="0">
              <a:solidFill>
                <a:schemeClr val="tx1"/>
              </a:solidFill>
              <a:latin typeface="+mn-lt"/>
            </a:endParaRPr>
          </a:p>
          <a:p>
            <a:pPr marL="685800" lvl="1" indent="-342900" algn="l">
              <a:buFont typeface="Arial" charset="0"/>
              <a:buChar char="•"/>
            </a:pPr>
            <a:r>
              <a:rPr lang="en-US" dirty="0" smtClean="0">
                <a:solidFill>
                  <a:schemeClr val="tx1"/>
                </a:solidFill>
              </a:rPr>
              <a:t>Diamond, graphite</a:t>
            </a:r>
          </a:p>
          <a:p>
            <a:pPr marL="685800" lvl="1" indent="-342900" algn="l">
              <a:buFont typeface="Arial" charset="0"/>
              <a:buChar char="•"/>
            </a:pPr>
            <a:r>
              <a:rPr lang="en-US" dirty="0" smtClean="0">
                <a:solidFill>
                  <a:schemeClr val="tx1"/>
                </a:solidFill>
              </a:rPr>
              <a:t>Graphene and fullerenes</a:t>
            </a:r>
            <a:endParaRPr lang="en-US" dirty="0">
              <a:solidFill>
                <a:schemeClr val="tx1"/>
              </a:solidFill>
            </a:endParaRPr>
          </a:p>
          <a:p>
            <a:pPr algn="l"/>
            <a:r>
              <a:rPr lang="en-US" sz="2100" b="1" dirty="0" smtClean="0">
                <a:solidFill>
                  <a:schemeClr val="tx1"/>
                </a:solidFill>
                <a:latin typeface="+mn-lt"/>
              </a:rPr>
              <a:t>Nanoparticles (Chemistry ONLY)</a:t>
            </a:r>
            <a:endParaRPr lang="en-US" sz="2100" b="1" dirty="0">
              <a:solidFill>
                <a:schemeClr val="tx1"/>
              </a:solidFill>
              <a:latin typeface="+mn-lt"/>
            </a:endParaRPr>
          </a:p>
          <a:p>
            <a:pPr marL="685800" lvl="1" indent="-342900" algn="l">
              <a:buFont typeface="Arial" charset="0"/>
              <a:buChar char="•"/>
            </a:pPr>
            <a:r>
              <a:rPr lang="en-US" dirty="0" smtClean="0">
                <a:solidFill>
                  <a:schemeClr val="tx1"/>
                </a:solidFill>
              </a:rPr>
              <a:t>Size of particles</a:t>
            </a:r>
          </a:p>
          <a:p>
            <a:pPr marL="685800" lvl="1" indent="-342900" algn="l">
              <a:buFont typeface="Arial" charset="0"/>
              <a:buChar char="•"/>
            </a:pPr>
            <a:r>
              <a:rPr lang="en-US" dirty="0" smtClean="0">
                <a:solidFill>
                  <a:schemeClr val="tx1"/>
                </a:solidFill>
              </a:rPr>
              <a:t>Uses of nanoparticles</a:t>
            </a:r>
            <a:endParaRPr lang="en-US" dirty="0">
              <a:solidFill>
                <a:schemeClr val="tx1"/>
              </a:solidFill>
            </a:endParaRPr>
          </a:p>
          <a:p>
            <a:pPr lvl="1" algn="l"/>
            <a:endParaRPr lang="en-US" sz="2000" dirty="0">
              <a:solidFill>
                <a:srgbClr val="FF0000"/>
              </a:solidFill>
            </a:endParaRPr>
          </a:p>
          <a:p>
            <a:pPr lvl="1" algn="l"/>
            <a:endParaRPr lang="en-US" sz="800" dirty="0">
              <a:solidFill>
                <a:srgbClr val="FF0000"/>
              </a:solidFill>
            </a:endParaRPr>
          </a:p>
          <a:p>
            <a:pPr marL="685800" lvl="1" indent="-342900" algn="l">
              <a:buFont typeface="Arial" charset="0"/>
              <a:buChar char="•"/>
            </a:pPr>
            <a:endParaRPr lang="en-US" sz="800" dirty="0">
              <a:solidFill>
                <a:schemeClr val="tx1"/>
              </a:solidFill>
            </a:endParaRPr>
          </a:p>
          <a:p>
            <a:pPr algn="l"/>
            <a:endParaRPr lang="en-GB" dirty="0">
              <a:solidFill>
                <a:schemeClr val="tx1"/>
              </a:solidFill>
            </a:endParaRPr>
          </a:p>
        </p:txBody>
      </p:sp>
      <p:pic>
        <p:nvPicPr>
          <p:cNvPr id="1026" name="Picture 2"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1322939"/>
            <a:ext cx="3473090" cy="4932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24485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262979"/>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smtClean="0">
                <a:solidFill>
                  <a:schemeClr val="tx1">
                    <a:lumMod val="50000"/>
                    <a:lumOff val="50000"/>
                  </a:schemeClr>
                </a:solidFill>
              </a:rPr>
              <a:t>Bonding part 1</a:t>
            </a:r>
          </a:p>
          <a:p>
            <a:endParaRPr lang="en-GB" sz="3600" b="1" dirty="0">
              <a:solidFill>
                <a:schemeClr val="tx1">
                  <a:lumMod val="50000"/>
                  <a:lumOff val="50000"/>
                </a:schemeClr>
              </a:solidFill>
            </a:endParaRPr>
          </a:p>
          <a:p>
            <a:pPr marL="342900" indent="-342900">
              <a:buFont typeface="Arial" panose="020B0604020202020204" pitchFamily="34" charset="0"/>
              <a:buChar char="•"/>
            </a:pPr>
            <a:r>
              <a:rPr lang="en-GB" sz="2800" b="1" dirty="0" smtClean="0">
                <a:solidFill>
                  <a:schemeClr val="tx1">
                    <a:lumMod val="50000"/>
                    <a:lumOff val="50000"/>
                  </a:schemeClr>
                </a:solidFill>
              </a:rPr>
              <a:t>Chemical bonds</a:t>
            </a:r>
          </a:p>
          <a:p>
            <a:pPr marL="342900" indent="-342900">
              <a:buFont typeface="Arial" panose="020B0604020202020204" pitchFamily="34" charset="0"/>
              <a:buChar char="•"/>
            </a:pPr>
            <a:r>
              <a:rPr lang="en-GB" sz="2800" b="1" dirty="0" smtClean="0">
                <a:solidFill>
                  <a:schemeClr val="tx1">
                    <a:lumMod val="50000"/>
                    <a:lumOff val="50000"/>
                  </a:schemeClr>
                </a:solidFill>
              </a:rPr>
              <a:t>Ionic bonding</a:t>
            </a:r>
          </a:p>
          <a:p>
            <a:pPr marL="342900" indent="-342900">
              <a:buFont typeface="Arial" panose="020B0604020202020204" pitchFamily="34" charset="0"/>
              <a:buChar char="•"/>
            </a:pPr>
            <a:r>
              <a:rPr lang="en-GB" sz="2800" b="1" dirty="0" smtClean="0">
                <a:solidFill>
                  <a:schemeClr val="tx1">
                    <a:lumMod val="50000"/>
                    <a:lumOff val="50000"/>
                  </a:schemeClr>
                </a:solidFill>
              </a:rPr>
              <a:t>Ionic compounds</a:t>
            </a:r>
            <a:endParaRPr lang="en-US" b="1" dirty="0">
              <a:solidFill>
                <a:schemeClr val="bg1">
                  <a:lumMod val="50000"/>
                </a:schemeClr>
              </a:solidFill>
            </a:endParaRPr>
          </a:p>
          <a:p>
            <a:endParaRPr lang="en-GB" dirty="0"/>
          </a:p>
        </p:txBody>
      </p:sp>
    </p:spTree>
    <p:extLst>
      <p:ext uri="{BB962C8B-B14F-4D97-AF65-F5344CB8AC3E}">
        <p14:creationId xmlns:p14="http://schemas.microsoft.com/office/powerpoint/2010/main" val="98535150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Chemical bonds</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Rectangle 4">
            <a:extLst>
              <a:ext uri="{FF2B5EF4-FFF2-40B4-BE49-F238E27FC236}">
                <a16:creationId xmlns:a16="http://schemas.microsoft.com/office/drawing/2014/main" xmlns="" id="{9DC43C51-D1F0-4B14-8838-1C9DB1FD3B60}"/>
              </a:ext>
            </a:extLst>
          </p:cNvPr>
          <p:cNvSpPr/>
          <p:nvPr/>
        </p:nvSpPr>
        <p:spPr>
          <a:xfrm>
            <a:off x="215515" y="850464"/>
            <a:ext cx="8712969" cy="1323439"/>
          </a:xfrm>
          <a:prstGeom prst="rect">
            <a:avLst/>
          </a:prstGeom>
          <a:noFill/>
          <a:ln>
            <a:noFill/>
          </a:ln>
          <a:effectLst/>
        </p:spPr>
        <p:style>
          <a:lnRef idx="1">
            <a:schemeClr val="accent5"/>
          </a:lnRef>
          <a:fillRef idx="2">
            <a:schemeClr val="accent5"/>
          </a:fillRef>
          <a:effectRef idx="1">
            <a:schemeClr val="accent5"/>
          </a:effectRef>
          <a:fontRef idx="minor">
            <a:schemeClr val="dk1"/>
          </a:fontRef>
        </p:style>
        <p:txBody>
          <a:bodyPr wrap="square">
            <a:spAutoFit/>
          </a:bodyPr>
          <a:lstStyle/>
          <a:p>
            <a:r>
              <a:rPr lang="en-GB" sz="2000" dirty="0" smtClean="0">
                <a:solidFill>
                  <a:schemeClr val="tx1"/>
                </a:solidFill>
              </a:rPr>
              <a:t>There are three types of strong chemical bonds:</a:t>
            </a:r>
          </a:p>
          <a:p>
            <a:pPr marL="4000500" lvl="8" indent="-342900">
              <a:buFont typeface="Arial" panose="020B0604020202020204" pitchFamily="34" charset="0"/>
              <a:buChar char="•"/>
            </a:pPr>
            <a:r>
              <a:rPr lang="en-GB" sz="2000" dirty="0" smtClean="0">
                <a:solidFill>
                  <a:schemeClr val="accent6">
                    <a:lumMod val="75000"/>
                  </a:schemeClr>
                </a:solidFill>
              </a:rPr>
              <a:t>Ionic</a:t>
            </a:r>
          </a:p>
          <a:p>
            <a:pPr marL="4000500" lvl="8" indent="-342900">
              <a:buFont typeface="Arial" panose="020B0604020202020204" pitchFamily="34" charset="0"/>
              <a:buChar char="•"/>
            </a:pPr>
            <a:r>
              <a:rPr lang="en-GB" sz="2000" dirty="0" smtClean="0">
                <a:solidFill>
                  <a:schemeClr val="accent6">
                    <a:lumMod val="75000"/>
                  </a:schemeClr>
                </a:solidFill>
              </a:rPr>
              <a:t>Covalent</a:t>
            </a:r>
          </a:p>
          <a:p>
            <a:pPr marL="4000500" lvl="8" indent="-342900">
              <a:buFont typeface="Arial" panose="020B0604020202020204" pitchFamily="34" charset="0"/>
              <a:buChar char="•"/>
            </a:pPr>
            <a:r>
              <a:rPr lang="en-GB" sz="2000" dirty="0" smtClean="0">
                <a:solidFill>
                  <a:schemeClr val="accent6">
                    <a:lumMod val="75000"/>
                  </a:schemeClr>
                </a:solidFill>
              </a:rPr>
              <a:t>Metallic</a:t>
            </a:r>
            <a:endParaRPr lang="en-GB" sz="2000" dirty="0">
              <a:solidFill>
                <a:schemeClr val="accent6">
                  <a:lumMod val="75000"/>
                </a:schemeClr>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1457227007"/>
              </p:ext>
            </p:extLst>
          </p:nvPr>
        </p:nvGraphicFramePr>
        <p:xfrm>
          <a:off x="215515" y="2183815"/>
          <a:ext cx="8712969" cy="3322320"/>
        </p:xfrm>
        <a:graphic>
          <a:graphicData uri="http://schemas.openxmlformats.org/drawingml/2006/table">
            <a:tbl>
              <a:tblPr firstRow="1" bandRow="1">
                <a:tableStyleId>{10A1B5D5-9B99-4C35-A422-299274C87663}</a:tableStyleId>
              </a:tblPr>
              <a:tblGrid>
                <a:gridCol w="2904323"/>
                <a:gridCol w="2904323"/>
                <a:gridCol w="2904323"/>
              </a:tblGrid>
              <a:tr h="330696">
                <a:tc>
                  <a:txBody>
                    <a:bodyPr/>
                    <a:lstStyle/>
                    <a:p>
                      <a:pPr algn="ctr"/>
                      <a:r>
                        <a:rPr lang="en-GB" sz="3200" dirty="0" smtClean="0"/>
                        <a:t>Ionic</a:t>
                      </a:r>
                      <a:endParaRPr lang="en-GB"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3200" dirty="0" smtClean="0"/>
                        <a:t>Covalent</a:t>
                      </a:r>
                      <a:endParaRPr lang="en-GB"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3200" dirty="0" smtClean="0"/>
                        <a:t>Metallic</a:t>
                      </a:r>
                      <a:endParaRPr lang="en-GB"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GB" sz="2400" dirty="0" smtClean="0"/>
                        <a:t>Particles are </a:t>
                      </a:r>
                      <a:r>
                        <a:rPr lang="en-GB" sz="2400" dirty="0" smtClean="0">
                          <a:solidFill>
                            <a:schemeClr val="accent6">
                              <a:lumMod val="75000"/>
                            </a:schemeClr>
                          </a:solidFill>
                        </a:rPr>
                        <a:t>oppositely charged ions</a:t>
                      </a:r>
                      <a:endParaRPr lang="en-GB" sz="2400" dirty="0">
                        <a:solidFill>
                          <a:schemeClr val="accent6">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smtClean="0"/>
                        <a:t>Particles are atoms which</a:t>
                      </a:r>
                      <a:r>
                        <a:rPr lang="en-GB" sz="2400" baseline="0" dirty="0" smtClean="0"/>
                        <a:t> </a:t>
                      </a:r>
                      <a:r>
                        <a:rPr lang="en-GB" sz="2400" baseline="0" dirty="0" smtClean="0">
                          <a:solidFill>
                            <a:schemeClr val="accent6">
                              <a:lumMod val="75000"/>
                            </a:schemeClr>
                          </a:solidFill>
                        </a:rPr>
                        <a:t>share pairs of electrons</a:t>
                      </a:r>
                      <a:endParaRPr lang="en-GB" sz="2400" dirty="0">
                        <a:solidFill>
                          <a:schemeClr val="accent6">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smtClean="0"/>
                        <a:t>Particles are atoms which </a:t>
                      </a:r>
                      <a:r>
                        <a:rPr lang="en-GB" sz="2400" dirty="0" smtClean="0">
                          <a:solidFill>
                            <a:schemeClr val="accent6">
                              <a:lumMod val="75000"/>
                            </a:schemeClr>
                          </a:solidFill>
                        </a:rPr>
                        <a:t>share delocalised electrons</a:t>
                      </a:r>
                      <a:endParaRPr lang="en-GB" sz="2400" dirty="0">
                        <a:solidFill>
                          <a:schemeClr val="accent6">
                            <a:lumMod val="75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GB" sz="2400" dirty="0" smtClean="0"/>
                        <a:t>Between</a:t>
                      </a:r>
                      <a:r>
                        <a:rPr lang="en-GB" sz="2400" baseline="0" dirty="0" smtClean="0"/>
                        <a:t> </a:t>
                      </a:r>
                      <a:r>
                        <a:rPr lang="en-GB" sz="2400" baseline="0" dirty="0" smtClean="0">
                          <a:solidFill>
                            <a:schemeClr val="accent6">
                              <a:lumMod val="75000"/>
                            </a:schemeClr>
                          </a:solidFill>
                        </a:rPr>
                        <a:t>m</a:t>
                      </a:r>
                      <a:r>
                        <a:rPr lang="en-GB" sz="2400" dirty="0" smtClean="0">
                          <a:solidFill>
                            <a:schemeClr val="accent6">
                              <a:lumMod val="75000"/>
                            </a:schemeClr>
                          </a:solidFill>
                        </a:rPr>
                        <a:t>etals</a:t>
                      </a:r>
                      <a:r>
                        <a:rPr lang="en-GB" sz="2400" baseline="0" dirty="0" smtClean="0"/>
                        <a:t> and </a:t>
                      </a:r>
                      <a:r>
                        <a:rPr lang="en-GB" sz="2400" baseline="0" dirty="0" smtClean="0">
                          <a:solidFill>
                            <a:schemeClr val="accent6">
                              <a:lumMod val="75000"/>
                            </a:schemeClr>
                          </a:solidFill>
                        </a:rPr>
                        <a:t>non-metals</a:t>
                      </a:r>
                      <a:endParaRPr lang="en-GB" sz="2400"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smtClean="0"/>
                        <a:t>Most </a:t>
                      </a:r>
                      <a:r>
                        <a:rPr lang="en-GB" sz="2400" dirty="0" smtClean="0">
                          <a:solidFill>
                            <a:schemeClr val="accent6">
                              <a:lumMod val="75000"/>
                            </a:schemeClr>
                          </a:solidFill>
                        </a:rPr>
                        <a:t>non-metallic elements </a:t>
                      </a:r>
                    </a:p>
                    <a:p>
                      <a:pPr algn="ctr"/>
                      <a:r>
                        <a:rPr lang="en-GB" sz="2400" dirty="0" smtClean="0"/>
                        <a:t>Between</a:t>
                      </a:r>
                      <a:r>
                        <a:rPr lang="en-GB" sz="2400" baseline="0" dirty="0" smtClean="0"/>
                        <a:t> </a:t>
                      </a:r>
                      <a:r>
                        <a:rPr lang="en-GB" sz="2400" baseline="0" dirty="0" smtClean="0">
                          <a:solidFill>
                            <a:schemeClr val="accent6">
                              <a:lumMod val="75000"/>
                            </a:schemeClr>
                          </a:solidFill>
                        </a:rPr>
                        <a:t>non-metals</a:t>
                      </a:r>
                      <a:r>
                        <a:rPr lang="en-GB" sz="2400" baseline="0" dirty="0" smtClean="0"/>
                        <a:t> and </a:t>
                      </a:r>
                      <a:r>
                        <a:rPr lang="en-GB" sz="2400" baseline="0" dirty="0" smtClean="0">
                          <a:solidFill>
                            <a:schemeClr val="accent6">
                              <a:lumMod val="75000"/>
                            </a:schemeClr>
                          </a:solidFill>
                        </a:rPr>
                        <a:t>non-metals</a:t>
                      </a:r>
                      <a:endParaRPr lang="en-GB" sz="2400" dirty="0" smtClean="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smtClean="0"/>
                        <a:t>In </a:t>
                      </a:r>
                      <a:r>
                        <a:rPr lang="en-GB" sz="2400" dirty="0" smtClean="0">
                          <a:solidFill>
                            <a:schemeClr val="accent6">
                              <a:lumMod val="75000"/>
                            </a:schemeClr>
                          </a:solidFill>
                        </a:rPr>
                        <a:t>metallic elements</a:t>
                      </a:r>
                      <a:r>
                        <a:rPr lang="en-GB" sz="2400" dirty="0" smtClean="0"/>
                        <a:t> and </a:t>
                      </a:r>
                      <a:r>
                        <a:rPr lang="en-GB" sz="2400" dirty="0" smtClean="0">
                          <a:solidFill>
                            <a:schemeClr val="accent6">
                              <a:lumMod val="75000"/>
                            </a:schemeClr>
                          </a:solidFill>
                        </a:rPr>
                        <a:t>alloys</a:t>
                      </a:r>
                      <a:endParaRPr lang="en-GB" sz="2400" dirty="0">
                        <a:solidFill>
                          <a:schemeClr val="accent6">
                            <a:lumMod val="75000"/>
                          </a:schemeClr>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
        <p:nvSpPr>
          <p:cNvPr id="14" name="Rectangle 13">
            <a:extLst>
              <a:ext uri="{FF2B5EF4-FFF2-40B4-BE49-F238E27FC236}">
                <a16:creationId xmlns:a16="http://schemas.microsoft.com/office/drawing/2014/main" xmlns="" id="{9DC43C51-D1F0-4B14-8838-1C9DB1FD3B60}"/>
              </a:ext>
            </a:extLst>
          </p:cNvPr>
          <p:cNvSpPr/>
          <p:nvPr/>
        </p:nvSpPr>
        <p:spPr>
          <a:xfrm>
            <a:off x="215516" y="5658535"/>
            <a:ext cx="8712969" cy="707886"/>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GB" sz="2000" dirty="0" smtClean="0">
                <a:solidFill>
                  <a:schemeClr val="tx1"/>
                </a:solidFill>
              </a:rPr>
              <a:t>You need to be able to explain chemical bonding in terms of </a:t>
            </a:r>
            <a:r>
              <a:rPr lang="en-GB" sz="2000" b="1" dirty="0" smtClean="0">
                <a:solidFill>
                  <a:schemeClr val="tx1"/>
                </a:solidFill>
              </a:rPr>
              <a:t>electrostatic forces </a:t>
            </a:r>
            <a:r>
              <a:rPr lang="en-GB" sz="2000" dirty="0" smtClean="0">
                <a:solidFill>
                  <a:schemeClr val="tx1"/>
                </a:solidFill>
              </a:rPr>
              <a:t>and the </a:t>
            </a:r>
            <a:r>
              <a:rPr lang="en-GB" sz="2000" b="1" dirty="0" smtClean="0">
                <a:solidFill>
                  <a:schemeClr val="tx1"/>
                </a:solidFill>
              </a:rPr>
              <a:t>transfer of electrons</a:t>
            </a:r>
            <a:r>
              <a:rPr lang="en-GB" sz="2000" dirty="0" smtClean="0">
                <a:solidFill>
                  <a:schemeClr val="tx1"/>
                </a:solidFill>
              </a:rPr>
              <a:t>.</a:t>
            </a:r>
            <a:endParaRPr lang="en-GB" sz="2000" dirty="0">
              <a:solidFill>
                <a:schemeClr val="accent6">
                  <a:lumMod val="75000"/>
                </a:schemeClr>
              </a:solidFill>
            </a:endParaRPr>
          </a:p>
        </p:txBody>
      </p:sp>
    </p:spTree>
    <p:extLst>
      <p:ext uri="{BB962C8B-B14F-4D97-AF65-F5344CB8AC3E}">
        <p14:creationId xmlns:p14="http://schemas.microsoft.com/office/powerpoint/2010/main" val="7298262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Ionic </a:t>
            </a:r>
            <a:r>
              <a:rPr lang="en-US" sz="2400" b="1" dirty="0" smtClean="0">
                <a:solidFill>
                  <a:schemeClr val="accent6"/>
                </a:solidFill>
              </a:rPr>
              <a:t>bonding</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Rectangle 4">
            <a:extLst>
              <a:ext uri="{FF2B5EF4-FFF2-40B4-BE49-F238E27FC236}">
                <a16:creationId xmlns:a16="http://schemas.microsoft.com/office/drawing/2014/main" xmlns="" id="{9DC43C51-D1F0-4B14-8838-1C9DB1FD3B60}"/>
              </a:ext>
            </a:extLst>
          </p:cNvPr>
          <p:cNvSpPr/>
          <p:nvPr/>
        </p:nvSpPr>
        <p:spPr>
          <a:xfrm>
            <a:off x="179511" y="962080"/>
            <a:ext cx="8712969" cy="1631216"/>
          </a:xfrm>
          <a:prstGeom prst="rect">
            <a:avLst/>
          </a:prstGeom>
          <a:noFill/>
          <a:ln>
            <a:noFill/>
          </a:ln>
          <a:effectLst/>
        </p:spPr>
        <p:style>
          <a:lnRef idx="1">
            <a:schemeClr val="accent5"/>
          </a:lnRef>
          <a:fillRef idx="2">
            <a:schemeClr val="accent5"/>
          </a:fillRef>
          <a:effectRef idx="1">
            <a:schemeClr val="accent5"/>
          </a:effectRef>
          <a:fontRef idx="minor">
            <a:schemeClr val="dk1"/>
          </a:fontRef>
        </p:style>
        <p:txBody>
          <a:bodyPr wrap="square">
            <a:spAutoFit/>
          </a:bodyPr>
          <a:lstStyle/>
          <a:p>
            <a:r>
              <a:rPr lang="en-GB" sz="2000" dirty="0">
                <a:solidFill>
                  <a:schemeClr val="tx1"/>
                </a:solidFill>
              </a:rPr>
              <a:t>Ionic bonds form between </a:t>
            </a:r>
            <a:r>
              <a:rPr lang="en-GB" sz="2000" b="1" dirty="0">
                <a:solidFill>
                  <a:schemeClr val="accent6">
                    <a:lumMod val="75000"/>
                  </a:schemeClr>
                </a:solidFill>
              </a:rPr>
              <a:t>metals and non-metals</a:t>
            </a:r>
            <a:r>
              <a:rPr lang="en-GB" sz="2000" dirty="0">
                <a:solidFill>
                  <a:schemeClr val="tx1"/>
                </a:solidFill>
              </a:rPr>
              <a:t>. Ionic bonding involves the </a:t>
            </a:r>
            <a:r>
              <a:rPr lang="en-GB" sz="2000" dirty="0">
                <a:solidFill>
                  <a:schemeClr val="accent6">
                    <a:lumMod val="75000"/>
                  </a:schemeClr>
                </a:solidFill>
              </a:rPr>
              <a:t>transfer of electrons</a:t>
            </a:r>
            <a:r>
              <a:rPr lang="en-GB" sz="2000" dirty="0">
                <a:solidFill>
                  <a:schemeClr val="tx1"/>
                </a:solidFill>
              </a:rPr>
              <a:t> in the </a:t>
            </a:r>
            <a:r>
              <a:rPr lang="en-GB" sz="2000" b="1" dirty="0">
                <a:solidFill>
                  <a:schemeClr val="tx1"/>
                </a:solidFill>
              </a:rPr>
              <a:t>outer</a:t>
            </a:r>
            <a:r>
              <a:rPr lang="en-GB" sz="2000" dirty="0">
                <a:solidFill>
                  <a:schemeClr val="tx1"/>
                </a:solidFill>
              </a:rPr>
              <a:t> shells</a:t>
            </a:r>
            <a:r>
              <a:rPr lang="en-GB" sz="2000" dirty="0" smtClean="0">
                <a:solidFill>
                  <a:schemeClr val="tx1"/>
                </a:solidFill>
              </a:rPr>
              <a:t>.</a:t>
            </a:r>
            <a:endParaRPr lang="en-GB" sz="2800" dirty="0">
              <a:solidFill>
                <a:schemeClr val="tx1"/>
              </a:solidFill>
            </a:endParaRPr>
          </a:p>
          <a:p>
            <a:r>
              <a:rPr lang="en-GB" sz="2000" dirty="0">
                <a:solidFill>
                  <a:schemeClr val="tx1"/>
                </a:solidFill>
              </a:rPr>
              <a:t>Metals </a:t>
            </a:r>
            <a:r>
              <a:rPr lang="en-GB" sz="2000" b="1" dirty="0">
                <a:solidFill>
                  <a:schemeClr val="tx1"/>
                </a:solidFill>
              </a:rPr>
              <a:t>lose</a:t>
            </a:r>
            <a:r>
              <a:rPr lang="en-GB" sz="2000" dirty="0">
                <a:solidFill>
                  <a:schemeClr val="tx1"/>
                </a:solidFill>
              </a:rPr>
              <a:t> electrons to become </a:t>
            </a:r>
            <a:r>
              <a:rPr lang="en-GB" sz="2000" b="1" dirty="0">
                <a:solidFill>
                  <a:schemeClr val="tx1"/>
                </a:solidFill>
              </a:rPr>
              <a:t>positively</a:t>
            </a:r>
            <a:r>
              <a:rPr lang="en-GB" sz="2000" dirty="0">
                <a:solidFill>
                  <a:schemeClr val="tx1"/>
                </a:solidFill>
              </a:rPr>
              <a:t> charged ions </a:t>
            </a:r>
          </a:p>
          <a:p>
            <a:r>
              <a:rPr lang="en-GB" sz="2000" dirty="0">
                <a:solidFill>
                  <a:schemeClr val="tx1"/>
                </a:solidFill>
              </a:rPr>
              <a:t>and non-metals </a:t>
            </a:r>
            <a:r>
              <a:rPr lang="en-GB" sz="2000" b="1" dirty="0">
                <a:solidFill>
                  <a:schemeClr val="tx1"/>
                </a:solidFill>
              </a:rPr>
              <a:t>gain</a:t>
            </a:r>
            <a:r>
              <a:rPr lang="en-GB" sz="2000" dirty="0">
                <a:solidFill>
                  <a:schemeClr val="tx1"/>
                </a:solidFill>
              </a:rPr>
              <a:t> electrons to become </a:t>
            </a:r>
            <a:r>
              <a:rPr lang="en-GB" sz="2000" b="1" dirty="0">
                <a:solidFill>
                  <a:schemeClr val="tx1"/>
                </a:solidFill>
              </a:rPr>
              <a:t>negatively </a:t>
            </a:r>
          </a:p>
          <a:p>
            <a:r>
              <a:rPr lang="en-GB" sz="2000" dirty="0">
                <a:solidFill>
                  <a:schemeClr val="tx1"/>
                </a:solidFill>
              </a:rPr>
              <a:t>charged ions.</a:t>
            </a:r>
          </a:p>
        </p:txBody>
      </p:sp>
      <p:pic>
        <p:nvPicPr>
          <p:cNvPr id="11" name="Picture 1">
            <a:extLst>
              <a:ext uri="{FF2B5EF4-FFF2-40B4-BE49-F238E27FC236}">
                <a16:creationId xmlns:a16="http://schemas.microsoft.com/office/drawing/2014/main" xmlns="" id="{C5BA21FD-1DF7-4FE5-A2A3-18B649337267}"/>
              </a:ext>
            </a:extLst>
          </p:cNvPr>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5936766" y="1801208"/>
            <a:ext cx="1368152" cy="792088"/>
          </a:xfrm>
          <a:prstGeom prst="rect">
            <a:avLst/>
          </a:prstGeom>
          <a:noFill/>
          <a:ln w="9525">
            <a:noFill/>
            <a:miter lim="800000"/>
            <a:headEnd/>
            <a:tailEnd/>
          </a:ln>
        </p:spPr>
      </p:pic>
      <p:pic>
        <p:nvPicPr>
          <p:cNvPr id="12" name="Picture 2">
            <a:extLst>
              <a:ext uri="{FF2B5EF4-FFF2-40B4-BE49-F238E27FC236}">
                <a16:creationId xmlns:a16="http://schemas.microsoft.com/office/drawing/2014/main" xmlns="" id="{F3F7909D-ED31-432B-B271-F33708BF9833}"/>
              </a:ext>
            </a:extLst>
          </p:cNvPr>
          <p:cNvPicPr>
            <a:picLocks noChangeAspect="1" noChangeArrowheads="1"/>
          </p:cNvPicPr>
          <p:nvPr/>
        </p:nvPicPr>
        <p:blipFill>
          <a:blip r:embed="rId4" cstate="print"/>
          <a:srcRect/>
          <a:stretch>
            <a:fillRect/>
          </a:stretch>
        </p:blipFill>
        <p:spPr bwMode="auto">
          <a:xfrm>
            <a:off x="7667946" y="1769970"/>
            <a:ext cx="1115616" cy="983169"/>
          </a:xfrm>
          <a:prstGeom prst="rect">
            <a:avLst/>
          </a:prstGeom>
          <a:noFill/>
          <a:ln w="9525">
            <a:noFill/>
            <a:miter lim="800000"/>
            <a:headEnd/>
            <a:tailEnd/>
          </a:ln>
        </p:spPr>
      </p:pic>
      <p:cxnSp>
        <p:nvCxnSpPr>
          <p:cNvPr id="13" name="Straight Arrow Connector 12">
            <a:extLst>
              <a:ext uri="{FF2B5EF4-FFF2-40B4-BE49-F238E27FC236}">
                <a16:creationId xmlns:a16="http://schemas.microsoft.com/office/drawing/2014/main" xmlns="" id="{77C4B1B2-BED6-479B-BC0F-7310D957FB94}"/>
              </a:ext>
            </a:extLst>
          </p:cNvPr>
          <p:cNvCxnSpPr/>
          <p:nvPr/>
        </p:nvCxnSpPr>
        <p:spPr>
          <a:xfrm>
            <a:off x="6857602" y="2194660"/>
            <a:ext cx="738734" cy="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xmlns="" id="{3FDCEFCE-B733-43B8-A9CD-CE130E331A57}"/>
              </a:ext>
            </a:extLst>
          </p:cNvPr>
          <p:cNvSpPr/>
          <p:nvPr/>
        </p:nvSpPr>
        <p:spPr>
          <a:xfrm>
            <a:off x="5896418" y="2985790"/>
            <a:ext cx="2887144" cy="3477875"/>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gn="ctr"/>
            <a:r>
              <a:rPr lang="en-GB" sz="2000" dirty="0"/>
              <a:t>The elements in </a:t>
            </a:r>
            <a:r>
              <a:rPr lang="en-GB" sz="2000" b="1" dirty="0"/>
              <a:t>Group 1 </a:t>
            </a:r>
            <a:r>
              <a:rPr lang="en-GB" sz="2000" dirty="0"/>
              <a:t>react with the elements in </a:t>
            </a:r>
            <a:r>
              <a:rPr lang="en-GB" sz="2000" b="1" dirty="0"/>
              <a:t>Group 7.</a:t>
            </a:r>
          </a:p>
          <a:p>
            <a:pPr algn="ctr"/>
            <a:endParaRPr lang="en-GB" sz="2000" dirty="0" smtClean="0"/>
          </a:p>
          <a:p>
            <a:pPr algn="ctr"/>
            <a:r>
              <a:rPr lang="en-GB" sz="2000" dirty="0" smtClean="0"/>
              <a:t>Groups </a:t>
            </a:r>
            <a:r>
              <a:rPr lang="en-GB" sz="2000" dirty="0"/>
              <a:t>1 elements can each lose </a:t>
            </a:r>
            <a:r>
              <a:rPr lang="en-GB" sz="2000" b="1" dirty="0"/>
              <a:t>one </a:t>
            </a:r>
            <a:r>
              <a:rPr lang="en-GB" sz="2000" dirty="0" smtClean="0"/>
              <a:t>electron.</a:t>
            </a:r>
            <a:endParaRPr lang="en-GB" sz="2000" b="1" dirty="0"/>
          </a:p>
          <a:p>
            <a:pPr algn="ctr"/>
            <a:r>
              <a:rPr lang="en-GB" sz="2000" dirty="0"/>
              <a:t>This electron can be given to an atom from Group 7, </a:t>
            </a:r>
            <a:r>
              <a:rPr lang="en-GB" sz="2000" dirty="0" smtClean="0"/>
              <a:t>they both achieve </a:t>
            </a:r>
            <a:r>
              <a:rPr lang="en-GB" sz="2000" dirty="0"/>
              <a:t>the stable electronic structure of a noble gas.</a:t>
            </a:r>
          </a:p>
        </p:txBody>
      </p:sp>
      <p:pic>
        <p:nvPicPr>
          <p:cNvPr id="19" name="Picture 18">
            <a:extLst>
              <a:ext uri="{FF2B5EF4-FFF2-40B4-BE49-F238E27FC236}">
                <a16:creationId xmlns:a16="http://schemas.microsoft.com/office/drawing/2014/main" xmlns="" id="{D816B88D-8FEA-4563-B53D-3E7778EBB05B}"/>
              </a:ext>
            </a:extLst>
          </p:cNvPr>
          <p:cNvPicPr>
            <a:picLocks noChangeAspect="1"/>
          </p:cNvPicPr>
          <p:nvPr/>
        </p:nvPicPr>
        <p:blipFill>
          <a:blip r:embed="rId5"/>
          <a:stretch>
            <a:fillRect/>
          </a:stretch>
        </p:blipFill>
        <p:spPr>
          <a:xfrm>
            <a:off x="210684" y="2985790"/>
            <a:ext cx="5483192" cy="3416319"/>
          </a:xfrm>
          <a:prstGeom prst="rect">
            <a:avLst/>
          </a:prstGeom>
          <a:ln>
            <a:solidFill>
              <a:schemeClr val="accent6">
                <a:lumMod val="75000"/>
              </a:schemeClr>
            </a:solidFill>
          </a:ln>
        </p:spPr>
      </p:pic>
    </p:spTree>
    <p:extLst>
      <p:ext uri="{BB962C8B-B14F-4D97-AF65-F5344CB8AC3E}">
        <p14:creationId xmlns:p14="http://schemas.microsoft.com/office/powerpoint/2010/main" val="18159194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Ionic </a:t>
            </a:r>
            <a:r>
              <a:rPr lang="en-US" sz="2400" b="1" dirty="0" smtClean="0">
                <a:solidFill>
                  <a:schemeClr val="accent6"/>
                </a:solidFill>
              </a:rPr>
              <a:t>bonding</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5" name="Rectangle 4">
            <a:extLst>
              <a:ext uri="{FF2B5EF4-FFF2-40B4-BE49-F238E27FC236}">
                <a16:creationId xmlns:a16="http://schemas.microsoft.com/office/drawing/2014/main" xmlns="" id="{9DC43C51-D1F0-4B14-8838-1C9DB1FD3B60}"/>
              </a:ext>
            </a:extLst>
          </p:cNvPr>
          <p:cNvSpPr/>
          <p:nvPr/>
        </p:nvSpPr>
        <p:spPr>
          <a:xfrm>
            <a:off x="215515" y="710898"/>
            <a:ext cx="8712969" cy="5847755"/>
          </a:xfrm>
          <a:prstGeom prst="rect">
            <a:avLst/>
          </a:prstGeom>
          <a:noFill/>
          <a:ln>
            <a:noFill/>
          </a:ln>
          <a:effectLst/>
        </p:spPr>
        <p:style>
          <a:lnRef idx="1">
            <a:schemeClr val="accent5"/>
          </a:lnRef>
          <a:fillRef idx="2">
            <a:schemeClr val="accent5"/>
          </a:fillRef>
          <a:effectRef idx="1">
            <a:schemeClr val="accent5"/>
          </a:effectRef>
          <a:fontRef idx="minor">
            <a:schemeClr val="dk1"/>
          </a:fontRef>
        </p:style>
        <p:txBody>
          <a:bodyPr wrap="square">
            <a:spAutoFit/>
          </a:bodyPr>
          <a:lstStyle/>
          <a:p>
            <a:pPr algn="ctr"/>
            <a:r>
              <a:rPr lang="en-GB" sz="2000" dirty="0"/>
              <a:t>The electrostatic attraction between the oppositely charged Na</a:t>
            </a:r>
            <a:r>
              <a:rPr lang="en-GB" sz="2000" baseline="30000" dirty="0"/>
              <a:t>+</a:t>
            </a:r>
            <a:r>
              <a:rPr lang="en-GB" sz="2000" dirty="0"/>
              <a:t> ions and Cl</a:t>
            </a:r>
            <a:r>
              <a:rPr lang="en-GB" sz="2000" baseline="30000" dirty="0"/>
              <a:t>-</a:t>
            </a:r>
            <a:r>
              <a:rPr lang="en-GB" sz="2000" dirty="0"/>
              <a:t> ions is called </a:t>
            </a:r>
            <a:r>
              <a:rPr lang="en-GB" sz="2000" b="1" dirty="0"/>
              <a:t>ionic bonding</a:t>
            </a:r>
            <a:r>
              <a:rPr lang="en-GB" sz="2000" dirty="0"/>
              <a:t>.  The electron transfer during the formation of an ionic compound can be represented by a </a:t>
            </a:r>
            <a:r>
              <a:rPr lang="en-GB" sz="2000" b="1" dirty="0"/>
              <a:t>dot and cross diagram</a:t>
            </a:r>
            <a:r>
              <a:rPr lang="en-GB" sz="2000" dirty="0"/>
              <a:t>:</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r>
              <a:rPr lang="en-GB" sz="2000" dirty="0" smtClean="0"/>
              <a:t>The </a:t>
            </a:r>
            <a:r>
              <a:rPr lang="en-GB" sz="2000" b="1" dirty="0"/>
              <a:t>charge</a:t>
            </a:r>
            <a:r>
              <a:rPr lang="en-GB" sz="2000" dirty="0"/>
              <a:t> on the ions produced by metals in group 1 and 2 and by non-metals in group 6 and 7 relates to the </a:t>
            </a:r>
            <a:r>
              <a:rPr lang="en-GB" sz="2000" b="1" dirty="0"/>
              <a:t>group number </a:t>
            </a:r>
            <a:r>
              <a:rPr lang="en-GB" sz="2000" dirty="0"/>
              <a:t>of the element in the periodic table. For example </a:t>
            </a:r>
            <a:r>
              <a:rPr lang="en-GB" sz="2000" b="1" dirty="0"/>
              <a:t>group 1 </a:t>
            </a:r>
            <a:r>
              <a:rPr lang="en-GB" sz="2000" dirty="0"/>
              <a:t>form </a:t>
            </a:r>
            <a:r>
              <a:rPr lang="en-GB" sz="2000" b="1" dirty="0"/>
              <a:t>1+ ions</a:t>
            </a:r>
            <a:r>
              <a:rPr lang="en-GB" sz="2000" dirty="0"/>
              <a:t>, </a:t>
            </a:r>
            <a:r>
              <a:rPr lang="en-GB" sz="2000" b="1" dirty="0"/>
              <a:t>group 3 </a:t>
            </a:r>
            <a:r>
              <a:rPr lang="en-GB" sz="2000" dirty="0"/>
              <a:t>form </a:t>
            </a:r>
            <a:r>
              <a:rPr lang="en-GB" sz="2000" b="1" dirty="0"/>
              <a:t>3+ ions</a:t>
            </a:r>
            <a:r>
              <a:rPr lang="en-GB" sz="2000" dirty="0"/>
              <a:t>, </a:t>
            </a:r>
            <a:r>
              <a:rPr lang="en-GB" sz="2000" b="1" dirty="0"/>
              <a:t>group 6 </a:t>
            </a:r>
            <a:r>
              <a:rPr lang="en-GB" sz="2000" dirty="0"/>
              <a:t>form </a:t>
            </a:r>
            <a:r>
              <a:rPr lang="en-GB" sz="2000" b="1" dirty="0"/>
              <a:t>2- ions </a:t>
            </a:r>
            <a:r>
              <a:rPr lang="en-GB" sz="2000" dirty="0"/>
              <a:t>and </a:t>
            </a:r>
            <a:r>
              <a:rPr lang="en-GB" sz="2000" b="1" dirty="0"/>
              <a:t>group 7 </a:t>
            </a:r>
            <a:r>
              <a:rPr lang="en-GB" sz="2000" dirty="0"/>
              <a:t>form </a:t>
            </a:r>
            <a:r>
              <a:rPr lang="en-GB" sz="2000" b="1" dirty="0"/>
              <a:t>1- ions</a:t>
            </a:r>
            <a:r>
              <a:rPr lang="en-GB" sz="2000" dirty="0"/>
              <a:t>.</a:t>
            </a:r>
          </a:p>
        </p:txBody>
      </p:sp>
      <p:pic>
        <p:nvPicPr>
          <p:cNvPr id="10" name="Picture 4">
            <a:extLst>
              <a:ext uri="{FF2B5EF4-FFF2-40B4-BE49-F238E27FC236}">
                <a16:creationId xmlns:a16="http://schemas.microsoft.com/office/drawing/2014/main" xmlns="" id="{2E5E0B4A-2A7B-466E-A2F5-3BDA8E625C95}"/>
              </a:ext>
            </a:extLst>
          </p:cNvPr>
          <p:cNvPicPr>
            <a:picLocks noChangeAspect="1" noChangeArrowheads="1"/>
          </p:cNvPicPr>
          <p:nvPr/>
        </p:nvPicPr>
        <p:blipFill>
          <a:blip r:embed="rId3" cstate="print"/>
          <a:srcRect/>
          <a:stretch>
            <a:fillRect/>
          </a:stretch>
        </p:blipFill>
        <p:spPr bwMode="auto">
          <a:xfrm>
            <a:off x="4200713" y="1658707"/>
            <a:ext cx="3103603" cy="2052648"/>
          </a:xfrm>
          <a:prstGeom prst="rect">
            <a:avLst/>
          </a:prstGeom>
          <a:noFill/>
          <a:ln w="9525">
            <a:noFill/>
            <a:miter lim="800000"/>
            <a:headEnd/>
            <a:tailEnd/>
          </a:ln>
        </p:spPr>
      </p:pic>
      <p:pic>
        <p:nvPicPr>
          <p:cNvPr id="14" name="Picture 13">
            <a:extLst>
              <a:ext uri="{FF2B5EF4-FFF2-40B4-BE49-F238E27FC236}">
                <a16:creationId xmlns:a16="http://schemas.microsoft.com/office/drawing/2014/main" xmlns="" id="{5EE300C7-6F89-4702-A44E-991A2202A2F7}"/>
              </a:ext>
            </a:extLst>
          </p:cNvPr>
          <p:cNvPicPr>
            <a:picLocks noChangeAspect="1"/>
          </p:cNvPicPr>
          <p:nvPr/>
        </p:nvPicPr>
        <p:blipFill>
          <a:blip r:embed="rId4"/>
          <a:stretch>
            <a:fillRect/>
          </a:stretch>
        </p:blipFill>
        <p:spPr>
          <a:xfrm>
            <a:off x="406972" y="3588609"/>
            <a:ext cx="2860681" cy="1656184"/>
          </a:xfrm>
          <a:prstGeom prst="rect">
            <a:avLst/>
          </a:prstGeom>
        </p:spPr>
      </p:pic>
      <p:pic>
        <p:nvPicPr>
          <p:cNvPr id="15" name="Picture 14">
            <a:extLst>
              <a:ext uri="{FF2B5EF4-FFF2-40B4-BE49-F238E27FC236}">
                <a16:creationId xmlns:a16="http://schemas.microsoft.com/office/drawing/2014/main" xmlns="" id="{F55B5E61-3568-402E-B18A-420EDFA6040D}"/>
              </a:ext>
            </a:extLst>
          </p:cNvPr>
          <p:cNvPicPr>
            <a:picLocks noChangeAspect="1"/>
          </p:cNvPicPr>
          <p:nvPr/>
        </p:nvPicPr>
        <p:blipFill>
          <a:blip r:embed="rId5"/>
          <a:stretch>
            <a:fillRect/>
          </a:stretch>
        </p:blipFill>
        <p:spPr>
          <a:xfrm>
            <a:off x="4571999" y="3599602"/>
            <a:ext cx="2630591" cy="1676237"/>
          </a:xfrm>
          <a:prstGeom prst="rect">
            <a:avLst/>
          </a:prstGeom>
        </p:spPr>
      </p:pic>
      <p:sp>
        <p:nvSpPr>
          <p:cNvPr id="16" name="Rectangle 15">
            <a:extLst>
              <a:ext uri="{FF2B5EF4-FFF2-40B4-BE49-F238E27FC236}">
                <a16:creationId xmlns:a16="http://schemas.microsoft.com/office/drawing/2014/main" xmlns="" id="{296F3571-EF36-4842-99B5-BB91AEA1AEFE}"/>
              </a:ext>
            </a:extLst>
          </p:cNvPr>
          <p:cNvSpPr/>
          <p:nvPr/>
        </p:nvSpPr>
        <p:spPr>
          <a:xfrm>
            <a:off x="1657292" y="3867248"/>
            <a:ext cx="360040" cy="57606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22" name="Straight Arrow Connector 21">
            <a:extLst>
              <a:ext uri="{FF2B5EF4-FFF2-40B4-BE49-F238E27FC236}">
                <a16:creationId xmlns:a16="http://schemas.microsoft.com/office/drawing/2014/main" xmlns="" id="{18B262B8-7723-49AA-9B0C-8F63130F3557}"/>
              </a:ext>
            </a:extLst>
          </p:cNvPr>
          <p:cNvCxnSpPr>
            <a:cxnSpLocks/>
          </p:cNvCxnSpPr>
          <p:nvPr/>
        </p:nvCxnSpPr>
        <p:spPr>
          <a:xfrm flipV="1">
            <a:off x="3267653" y="2722087"/>
            <a:ext cx="952872" cy="1"/>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xmlns="" id="{FA66621C-CE93-4118-9F6F-4F4327BB5E79}"/>
              </a:ext>
            </a:extLst>
          </p:cNvPr>
          <p:cNvCxnSpPr>
            <a:cxnSpLocks/>
          </p:cNvCxnSpPr>
          <p:nvPr/>
        </p:nvCxnSpPr>
        <p:spPr>
          <a:xfrm flipV="1">
            <a:off x="3267652" y="4323838"/>
            <a:ext cx="952872" cy="1"/>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xmlns="" id="{7814AF88-4C56-4601-B57B-7A0C0CD05DA0}"/>
              </a:ext>
            </a:extLst>
          </p:cNvPr>
          <p:cNvPicPr>
            <a:picLocks noChangeAspect="1"/>
          </p:cNvPicPr>
          <p:nvPr/>
        </p:nvPicPr>
        <p:blipFill>
          <a:blip r:embed="rId6"/>
          <a:stretch>
            <a:fillRect/>
          </a:stretch>
        </p:blipFill>
        <p:spPr>
          <a:xfrm>
            <a:off x="219653" y="1930205"/>
            <a:ext cx="3048000" cy="1628775"/>
          </a:xfrm>
          <a:prstGeom prst="rect">
            <a:avLst/>
          </a:prstGeom>
        </p:spPr>
      </p:pic>
      <p:sp>
        <p:nvSpPr>
          <p:cNvPr id="7" name="TextBox 6">
            <a:extLst>
              <a:ext uri="{FF2B5EF4-FFF2-40B4-BE49-F238E27FC236}">
                <a16:creationId xmlns:a16="http://schemas.microsoft.com/office/drawing/2014/main" xmlns="" id="{6D32E358-CAA0-412A-A6CD-F650B73954BB}"/>
              </a:ext>
            </a:extLst>
          </p:cNvPr>
          <p:cNvSpPr txBox="1"/>
          <p:nvPr/>
        </p:nvSpPr>
        <p:spPr>
          <a:xfrm>
            <a:off x="7268524" y="1873240"/>
            <a:ext cx="1707363" cy="2585323"/>
          </a:xfrm>
          <a:prstGeom prst="rect">
            <a:avLst/>
          </a:prstGeom>
          <a:solidFill>
            <a:schemeClr val="accent6">
              <a:lumMod val="60000"/>
              <a:lumOff val="40000"/>
            </a:schemeClr>
          </a:solidFill>
          <a:ln>
            <a:solidFill>
              <a:schemeClr val="accent6">
                <a:lumMod val="50000"/>
              </a:schemeClr>
            </a:solidFill>
          </a:ln>
        </p:spPr>
        <p:txBody>
          <a:bodyPr wrap="square" rtlCol="0">
            <a:spAutoFit/>
          </a:bodyPr>
          <a:lstStyle/>
          <a:p>
            <a:r>
              <a:rPr lang="en-GB" b="1" dirty="0"/>
              <a:t>When completing diagrams always include</a:t>
            </a:r>
            <a:r>
              <a:rPr lang="en-GB" b="1" dirty="0" smtClean="0"/>
              <a:t>:</a:t>
            </a:r>
            <a:endParaRPr lang="en-GB" b="1" dirty="0"/>
          </a:p>
          <a:p>
            <a:pPr marL="285750" indent="-285750">
              <a:buFont typeface="Arial" panose="020B0604020202020204" pitchFamily="34" charset="0"/>
              <a:buChar char="•"/>
            </a:pPr>
            <a:r>
              <a:rPr lang="en-GB" b="1" dirty="0"/>
              <a:t>The correct number of electrons on outer </a:t>
            </a:r>
            <a:r>
              <a:rPr lang="en-GB" b="1" dirty="0" smtClean="0"/>
              <a:t>shells</a:t>
            </a:r>
            <a:endParaRPr lang="en-GB" b="1" dirty="0"/>
          </a:p>
          <a:p>
            <a:pPr marL="285750" indent="-285750">
              <a:buFont typeface="Arial" panose="020B0604020202020204" pitchFamily="34" charset="0"/>
              <a:buChar char="•"/>
            </a:pPr>
            <a:r>
              <a:rPr lang="en-GB" b="1" dirty="0"/>
              <a:t>The charge</a:t>
            </a:r>
          </a:p>
        </p:txBody>
      </p:sp>
    </p:spTree>
    <p:extLst>
      <p:ext uri="{BB962C8B-B14F-4D97-AF65-F5344CB8AC3E}">
        <p14:creationId xmlns:p14="http://schemas.microsoft.com/office/powerpoint/2010/main" val="25577685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Ionic </a:t>
            </a:r>
            <a:r>
              <a:rPr lang="en-US" sz="2400" b="1" dirty="0" smtClean="0">
                <a:solidFill>
                  <a:schemeClr val="accent6"/>
                </a:solidFill>
              </a:rPr>
              <a:t>bonding</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Rectangle 6">
            <a:extLst>
              <a:ext uri="{FF2B5EF4-FFF2-40B4-BE49-F238E27FC236}">
                <a16:creationId xmlns:a16="http://schemas.microsoft.com/office/drawing/2014/main" xmlns="" id="{EE8C732A-BEB8-490D-BD12-5D4FA6AB80ED}"/>
              </a:ext>
            </a:extLst>
          </p:cNvPr>
          <p:cNvSpPr/>
          <p:nvPr/>
        </p:nvSpPr>
        <p:spPr>
          <a:xfrm>
            <a:off x="179512" y="829069"/>
            <a:ext cx="4104456" cy="3785652"/>
          </a:xfrm>
          <a:prstGeom prst="rect">
            <a:avLst/>
          </a:prstGeom>
          <a:solidFill>
            <a:schemeClr val="bg1"/>
          </a:solidFill>
          <a:ln>
            <a:noFill/>
          </a:ln>
          <a:effectLst/>
        </p:spPr>
        <p:style>
          <a:lnRef idx="1">
            <a:schemeClr val="accent5"/>
          </a:lnRef>
          <a:fillRef idx="2">
            <a:schemeClr val="accent5"/>
          </a:fillRef>
          <a:effectRef idx="1">
            <a:schemeClr val="accent5"/>
          </a:effectRef>
          <a:fontRef idx="minor">
            <a:schemeClr val="dk1"/>
          </a:fontRef>
        </p:style>
        <p:txBody>
          <a:bodyPr wrap="square">
            <a:spAutoFit/>
          </a:bodyPr>
          <a:lstStyle/>
          <a:p>
            <a:r>
              <a:rPr lang="en-GB" sz="2000" b="1" dirty="0"/>
              <a:t>Magnesium oxide:  </a:t>
            </a:r>
          </a:p>
          <a:p>
            <a:r>
              <a:rPr lang="en-GB" sz="2000" dirty="0"/>
              <a:t>Sometimes the atoms reacting need to gain or lose </a:t>
            </a:r>
            <a:r>
              <a:rPr lang="en-GB" sz="2000" b="1" dirty="0"/>
              <a:t>two electrons</a:t>
            </a:r>
            <a:r>
              <a:rPr lang="en-GB" sz="2000" dirty="0"/>
              <a:t> to gain a stable noble gas structure. Each magnesium loses two electrons and each oxygen gains two electrons</a:t>
            </a:r>
            <a:r>
              <a:rPr lang="en-GB" sz="2000" dirty="0" smtClean="0"/>
              <a:t>.</a:t>
            </a:r>
            <a:endParaRPr lang="en-GB" sz="2000" dirty="0"/>
          </a:p>
          <a:p>
            <a:r>
              <a:rPr lang="en-GB" sz="2000" dirty="0"/>
              <a:t>Magnesium ions have the formula Mg</a:t>
            </a:r>
            <a:r>
              <a:rPr lang="en-GB" sz="2000" baseline="30000" dirty="0"/>
              <a:t>2+</a:t>
            </a:r>
            <a:r>
              <a:rPr lang="en-GB" sz="2000" dirty="0"/>
              <a:t>, while oxide ions have the formula O</a:t>
            </a:r>
            <a:r>
              <a:rPr lang="en-GB" sz="2000" baseline="30000" dirty="0"/>
              <a:t>2- </a:t>
            </a:r>
            <a:r>
              <a:rPr lang="en-GB" sz="2000" dirty="0"/>
              <a:t>.</a:t>
            </a:r>
          </a:p>
          <a:p>
            <a:r>
              <a:rPr lang="en-GB" sz="2000" dirty="0"/>
              <a:t>This means that one magnesium atom reacts with one oxygen atom, giving the formula </a:t>
            </a:r>
            <a:r>
              <a:rPr lang="en-GB" sz="2000" b="1" dirty="0" err="1"/>
              <a:t>MgO</a:t>
            </a:r>
            <a:endParaRPr lang="en-GB" sz="2000" b="1" dirty="0"/>
          </a:p>
        </p:txBody>
      </p:sp>
      <p:sp>
        <p:nvSpPr>
          <p:cNvPr id="9" name="TextBox 8">
            <a:extLst>
              <a:ext uri="{FF2B5EF4-FFF2-40B4-BE49-F238E27FC236}">
                <a16:creationId xmlns:a16="http://schemas.microsoft.com/office/drawing/2014/main" xmlns="" id="{0F48F02C-EB80-471E-8E8A-16F054EEA839}"/>
              </a:ext>
            </a:extLst>
          </p:cNvPr>
          <p:cNvSpPr txBox="1"/>
          <p:nvPr/>
        </p:nvSpPr>
        <p:spPr>
          <a:xfrm>
            <a:off x="4721859" y="815041"/>
            <a:ext cx="4173996" cy="2831544"/>
          </a:xfrm>
          <a:prstGeom prst="rect">
            <a:avLst/>
          </a:prstGeom>
          <a:solidFill>
            <a:schemeClr val="bg1"/>
          </a:solidFill>
          <a:ln>
            <a:noFill/>
          </a:ln>
          <a:effectLst/>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en-GB" sz="2000" b="1" dirty="0"/>
              <a:t>Calcium Chloride:  </a:t>
            </a:r>
          </a:p>
          <a:p>
            <a:r>
              <a:rPr lang="en-GB" sz="2000" dirty="0"/>
              <a:t>Each calcium atom (2, 8, 8, 2) needs to lose two electrons but each chlorine atom (2, 8, 7) needs to gain only one electron.  </a:t>
            </a:r>
          </a:p>
          <a:p>
            <a:r>
              <a:rPr lang="en-GB" sz="2000" dirty="0"/>
              <a:t>This means that two chlorine atoms </a:t>
            </a:r>
          </a:p>
          <a:p>
            <a:r>
              <a:rPr lang="en-GB" sz="2000" dirty="0"/>
              <a:t>react with every one calcium atom, giving the formula </a:t>
            </a:r>
            <a:r>
              <a:rPr lang="en-GB" sz="2000" b="1" dirty="0"/>
              <a:t>CaCl</a:t>
            </a:r>
            <a:r>
              <a:rPr lang="en-GB" sz="2000" b="1" baseline="-25000" dirty="0"/>
              <a:t>2</a:t>
            </a:r>
          </a:p>
          <a:p>
            <a:endParaRPr lang="en-GB" dirty="0"/>
          </a:p>
        </p:txBody>
      </p:sp>
      <p:pic>
        <p:nvPicPr>
          <p:cNvPr id="10" name="Picture 6">
            <a:extLst>
              <a:ext uri="{FF2B5EF4-FFF2-40B4-BE49-F238E27FC236}">
                <a16:creationId xmlns:a16="http://schemas.microsoft.com/office/drawing/2014/main" xmlns="" id="{E25F9066-EC9C-4F56-B8FF-A27A7A726233}"/>
              </a:ext>
            </a:extLst>
          </p:cNvPr>
          <p:cNvPicPr>
            <a:picLocks noChangeAspect="1" noChangeArrowheads="1"/>
          </p:cNvPicPr>
          <p:nvPr/>
        </p:nvPicPr>
        <p:blipFill rotWithShape="1">
          <a:blip r:embed="rId3" cstate="print"/>
          <a:srcRect t="9082" b="762"/>
          <a:stretch/>
        </p:blipFill>
        <p:spPr bwMode="auto">
          <a:xfrm>
            <a:off x="514467" y="4625529"/>
            <a:ext cx="3434545" cy="1810912"/>
          </a:xfrm>
          <a:prstGeom prst="rect">
            <a:avLst/>
          </a:prstGeom>
          <a:noFill/>
          <a:ln w="9525">
            <a:noFill/>
            <a:miter lim="800000"/>
            <a:headEnd/>
            <a:tailEnd/>
          </a:ln>
        </p:spPr>
      </p:pic>
      <p:pic>
        <p:nvPicPr>
          <p:cNvPr id="11" name="Picture 7">
            <a:extLst>
              <a:ext uri="{FF2B5EF4-FFF2-40B4-BE49-F238E27FC236}">
                <a16:creationId xmlns:a16="http://schemas.microsoft.com/office/drawing/2014/main" xmlns="" id="{8892F598-DCAF-45D3-8C0D-45568D1211C7}"/>
              </a:ext>
            </a:extLst>
          </p:cNvPr>
          <p:cNvPicPr>
            <a:picLocks noChangeAspect="1" noChangeArrowheads="1"/>
          </p:cNvPicPr>
          <p:nvPr/>
        </p:nvPicPr>
        <p:blipFill>
          <a:blip r:embed="rId4" cstate="print"/>
          <a:srcRect/>
          <a:stretch>
            <a:fillRect/>
          </a:stretch>
        </p:blipFill>
        <p:spPr bwMode="auto">
          <a:xfrm>
            <a:off x="4806306" y="3068960"/>
            <a:ext cx="3987193" cy="3431689"/>
          </a:xfrm>
          <a:prstGeom prst="rect">
            <a:avLst/>
          </a:prstGeom>
          <a:noFill/>
          <a:ln w="9525">
            <a:noFill/>
            <a:miter lim="800000"/>
            <a:headEnd/>
            <a:tailEnd/>
          </a:ln>
        </p:spPr>
      </p:pic>
    </p:spTree>
    <p:extLst>
      <p:ext uri="{BB962C8B-B14F-4D97-AF65-F5344CB8AC3E}">
        <p14:creationId xmlns:p14="http://schemas.microsoft.com/office/powerpoint/2010/main" val="35213956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62968" y="798717"/>
            <a:ext cx="4740841" cy="5509200"/>
          </a:xfrm>
          <a:prstGeom prst="rect">
            <a:avLst/>
          </a:prstGeom>
          <a:solidFill>
            <a:schemeClr val="bg1"/>
          </a:solidFill>
        </p:spPr>
        <p:style>
          <a:lnRef idx="1">
            <a:schemeClr val="accent6"/>
          </a:lnRef>
          <a:fillRef idx="2">
            <a:schemeClr val="accent6"/>
          </a:fillRef>
          <a:effectRef idx="1">
            <a:schemeClr val="accent6"/>
          </a:effectRef>
          <a:fontRef idx="minor">
            <a:schemeClr val="dk1"/>
          </a:fontRef>
        </p:style>
        <p:txBody>
          <a:bodyPr wrap="square">
            <a:spAutoFit/>
          </a:bodyPr>
          <a:lstStyle/>
          <a:p>
            <a:r>
              <a:rPr lang="en-GB" sz="2000" dirty="0" smtClean="0">
                <a:solidFill>
                  <a:schemeClr val="tx1"/>
                </a:solidFill>
              </a:rPr>
              <a:t>An ionic compound is a </a:t>
            </a:r>
            <a:r>
              <a:rPr lang="en-GB" sz="2000" b="1" dirty="0" smtClean="0">
                <a:solidFill>
                  <a:schemeClr val="accent6">
                    <a:lumMod val="75000"/>
                  </a:schemeClr>
                </a:solidFill>
              </a:rPr>
              <a:t>giant structure of ions.</a:t>
            </a:r>
          </a:p>
          <a:p>
            <a:endParaRPr lang="en-GB" sz="2000" dirty="0" smtClean="0">
              <a:solidFill>
                <a:schemeClr val="tx1"/>
              </a:solidFill>
            </a:endParaRPr>
          </a:p>
          <a:p>
            <a:r>
              <a:rPr lang="en-GB" sz="2000" dirty="0" smtClean="0">
                <a:solidFill>
                  <a:schemeClr val="tx1"/>
                </a:solidFill>
              </a:rPr>
              <a:t>Ionic compounds are held together by </a:t>
            </a:r>
            <a:r>
              <a:rPr lang="en-GB" sz="2000" b="1" dirty="0" smtClean="0">
                <a:solidFill>
                  <a:schemeClr val="accent6">
                    <a:lumMod val="75000"/>
                  </a:schemeClr>
                </a:solidFill>
              </a:rPr>
              <a:t>strong electrostatic forces of attraction between oppositely charges ions.</a:t>
            </a:r>
            <a:r>
              <a:rPr lang="en-GB" sz="2000" dirty="0" smtClean="0">
                <a:solidFill>
                  <a:schemeClr val="tx1"/>
                </a:solidFill>
              </a:rPr>
              <a:t> These forces act in all directions in the lattice – this is called </a:t>
            </a:r>
            <a:r>
              <a:rPr lang="en-GB" sz="2000" b="1" dirty="0" smtClean="0">
                <a:solidFill>
                  <a:schemeClr val="accent6">
                    <a:lumMod val="75000"/>
                  </a:schemeClr>
                </a:solidFill>
              </a:rPr>
              <a:t>ionic bonding</a:t>
            </a:r>
            <a:r>
              <a:rPr lang="en-GB" sz="2000" dirty="0" smtClean="0">
                <a:solidFill>
                  <a:schemeClr val="tx1"/>
                </a:solidFill>
              </a:rPr>
              <a:t>. </a:t>
            </a:r>
            <a:endParaRPr lang="en-GB" sz="2000" dirty="0">
              <a:solidFill>
                <a:schemeClr val="tx1"/>
              </a:solidFill>
            </a:endParaRPr>
          </a:p>
          <a:p>
            <a:endParaRPr lang="en-GB" sz="1200" dirty="0">
              <a:solidFill>
                <a:schemeClr val="tx1"/>
              </a:solidFill>
            </a:endParaRPr>
          </a:p>
          <a:p>
            <a:r>
              <a:rPr lang="en-GB" sz="2000" b="1" u="sng" dirty="0" smtClean="0">
                <a:solidFill>
                  <a:schemeClr val="tx1"/>
                </a:solidFill>
              </a:rPr>
              <a:t>Empirical formula</a:t>
            </a:r>
            <a:endParaRPr lang="en-GB" sz="2000" b="1" u="sng" dirty="0">
              <a:solidFill>
                <a:schemeClr val="tx1"/>
              </a:solidFill>
            </a:endParaRPr>
          </a:p>
          <a:p>
            <a:r>
              <a:rPr lang="en-GB" sz="2000" dirty="0">
                <a:solidFill>
                  <a:schemeClr val="tx1"/>
                </a:solidFill>
              </a:rPr>
              <a:t>The models can indicate the chemical formula of a compound by the </a:t>
            </a:r>
            <a:r>
              <a:rPr lang="en-GB" sz="2000" b="1" dirty="0">
                <a:solidFill>
                  <a:schemeClr val="accent6">
                    <a:lumMod val="75000"/>
                  </a:schemeClr>
                </a:solidFill>
              </a:rPr>
              <a:t>simplest ratio</a:t>
            </a:r>
            <a:r>
              <a:rPr lang="en-GB" sz="2000" b="1" dirty="0">
                <a:solidFill>
                  <a:schemeClr val="tx1"/>
                </a:solidFill>
              </a:rPr>
              <a:t> </a:t>
            </a:r>
            <a:r>
              <a:rPr lang="en-GB" sz="2000" dirty="0">
                <a:solidFill>
                  <a:schemeClr val="tx1"/>
                </a:solidFill>
              </a:rPr>
              <a:t>of atoms or ions in models of their giant structure – this is called the </a:t>
            </a:r>
            <a:r>
              <a:rPr lang="en-GB" sz="2000" b="1" dirty="0">
                <a:solidFill>
                  <a:schemeClr val="accent6">
                    <a:lumMod val="75000"/>
                  </a:schemeClr>
                </a:solidFill>
              </a:rPr>
              <a:t>empirical formula</a:t>
            </a:r>
            <a:r>
              <a:rPr lang="en-GB" sz="2000" dirty="0">
                <a:solidFill>
                  <a:schemeClr val="tx1"/>
                </a:solidFill>
              </a:rPr>
              <a:t>.</a:t>
            </a:r>
          </a:p>
          <a:p>
            <a:r>
              <a:rPr lang="en-GB" sz="2000" dirty="0">
                <a:solidFill>
                  <a:schemeClr val="tx1"/>
                </a:solidFill>
              </a:rPr>
              <a:t>e</a:t>
            </a:r>
            <a:r>
              <a:rPr lang="en-GB" sz="2000" dirty="0" smtClean="0">
                <a:solidFill>
                  <a:schemeClr val="tx1"/>
                </a:solidFill>
              </a:rPr>
              <a:t>.g</a:t>
            </a:r>
            <a:r>
              <a:rPr lang="en-GB" sz="2000" dirty="0">
                <a:solidFill>
                  <a:schemeClr val="tx1"/>
                </a:solidFill>
              </a:rPr>
              <a:t>. there is a 1:1 ratio of sodium to chlorine in sodium chloride, so the formula is </a:t>
            </a:r>
            <a:r>
              <a:rPr lang="en-GB" sz="2000" b="1" dirty="0" err="1">
                <a:solidFill>
                  <a:schemeClr val="tx1"/>
                </a:solidFill>
              </a:rPr>
              <a:t>NaCl</a:t>
            </a:r>
            <a:r>
              <a:rPr lang="en-GB" dirty="0">
                <a:solidFill>
                  <a:schemeClr val="tx1"/>
                </a:solidFill>
              </a:rPr>
              <a:t>.</a:t>
            </a:r>
          </a:p>
        </p:txBody>
      </p:sp>
      <p:pic>
        <p:nvPicPr>
          <p:cNvPr id="1026" name="Picture 2" descr="http://www.bbc.co.uk/schools/gcsebitesize/science/images/triple_science/309_bitesize_gcse_tschemistry_chemistryoutthere_ioniclattice_304.gif">
            <a:hlinkClick r:id="rId2" invalidUrl="http://www.google.co.uk/url?sa=i&amp;rct=j&amp;q=giant ioic lattice&amp;source=images&amp;cd=&amp;cad=rja&amp;uact=8&amp;docid=po8_mXPlYO2LHM&amp;tbnid=GOR97c5rt0YdJM:&amp;ved=0CAUQjRw&amp;url=http://www.bbc.co.uk/schools/gcsebitesize/science/triple_ocr_gateway/chemistry_out_there/electrolysis/revision/4/&amp;ei=PeCzU7qhMrKa0QWs6oCYCg&amp;psig=AFQjCNHa3jqGX2VAEY0oXJVvRJBIHixeZQ&amp;ust=1404383674623940"/>
          </p:cNvPr>
          <p:cNvPicPr>
            <a:picLocks noChangeAspect="1" noChangeArrowheads="1"/>
          </p:cNvPicPr>
          <p:nvPr/>
        </p:nvPicPr>
        <p:blipFill>
          <a:blip r:embed="rId3" cstate="print"/>
          <a:srcRect/>
          <a:stretch>
            <a:fillRect/>
          </a:stretch>
        </p:blipFill>
        <p:spPr bwMode="auto">
          <a:xfrm>
            <a:off x="6168314" y="3276719"/>
            <a:ext cx="1751644" cy="1751645"/>
          </a:xfrm>
          <a:prstGeom prst="rect">
            <a:avLst/>
          </a:prstGeom>
          <a:noFill/>
        </p:spPr>
      </p:pic>
      <p:pic>
        <p:nvPicPr>
          <p:cNvPr id="10" name="Picture 9">
            <a:extLst>
              <a:ext uri="{FF2B5EF4-FFF2-40B4-BE49-F238E27FC236}">
                <a16:creationId xmlns:a16="http://schemas.microsoft.com/office/drawing/2014/main" xmlns="" id="{08838C9E-E103-43AD-8D69-3AA8A6956664}"/>
              </a:ext>
            </a:extLst>
          </p:cNvPr>
          <p:cNvPicPr>
            <a:picLocks noChangeAspect="1"/>
          </p:cNvPicPr>
          <p:nvPr/>
        </p:nvPicPr>
        <p:blipFill>
          <a:blip r:embed="rId4"/>
          <a:stretch>
            <a:fillRect/>
          </a:stretch>
        </p:blipFill>
        <p:spPr>
          <a:xfrm>
            <a:off x="6168314" y="1821030"/>
            <a:ext cx="2139604" cy="1361009"/>
          </a:xfrm>
          <a:prstGeom prst="rect">
            <a:avLst/>
          </a:prstGeom>
        </p:spPr>
      </p:pic>
      <p:sp>
        <p:nvSpPr>
          <p:cNvPr id="12" name="Rectangle 11">
            <a:extLst>
              <a:ext uri="{FF2B5EF4-FFF2-40B4-BE49-F238E27FC236}">
                <a16:creationId xmlns:a16="http://schemas.microsoft.com/office/drawing/2014/main" xmlns="" id="{037DDD46-3963-463C-B34E-C2DE0F9ACA81}"/>
              </a:ext>
            </a:extLst>
          </p:cNvPr>
          <p:cNvSpPr/>
          <p:nvPr/>
        </p:nvSpPr>
        <p:spPr>
          <a:xfrm>
            <a:off x="5203808" y="710687"/>
            <a:ext cx="3883681" cy="1015663"/>
          </a:xfrm>
          <a:prstGeom prst="rect">
            <a:avLst/>
          </a:prstGeom>
        </p:spPr>
        <p:txBody>
          <a:bodyPr wrap="square">
            <a:spAutoFit/>
          </a:bodyPr>
          <a:lstStyle/>
          <a:p>
            <a:pPr algn="ctr"/>
            <a:r>
              <a:rPr lang="en-GB" sz="2000" dirty="0"/>
              <a:t> The structure of sodium chloride can be represented in the following forms:</a:t>
            </a:r>
          </a:p>
        </p:txBody>
      </p:sp>
      <p:sp>
        <p:nvSpPr>
          <p:cNvPr id="13" name="Rectangle 12">
            <a:extLst>
              <a:ext uri="{FF2B5EF4-FFF2-40B4-BE49-F238E27FC236}">
                <a16:creationId xmlns:a16="http://schemas.microsoft.com/office/drawing/2014/main" xmlns="" id="{5D07A693-90BB-433D-8F57-53D6BA6F05FF}"/>
              </a:ext>
            </a:extLst>
          </p:cNvPr>
          <p:cNvSpPr/>
          <p:nvPr/>
        </p:nvSpPr>
        <p:spPr>
          <a:xfrm>
            <a:off x="5617936" y="5123773"/>
            <a:ext cx="3240360" cy="1200329"/>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GB" b="1" dirty="0">
                <a:solidFill>
                  <a:schemeClr val="accent6">
                    <a:lumMod val="75000"/>
                  </a:schemeClr>
                </a:solidFill>
              </a:rPr>
              <a:t>- The models never accurately reflect the </a:t>
            </a:r>
            <a:r>
              <a:rPr lang="en-GB" b="1" dirty="0" smtClean="0">
                <a:solidFill>
                  <a:schemeClr val="accent6">
                    <a:lumMod val="75000"/>
                  </a:schemeClr>
                </a:solidFill>
              </a:rPr>
              <a:t>many </a:t>
            </a:r>
            <a:r>
              <a:rPr lang="en-GB" b="1" dirty="0">
                <a:solidFill>
                  <a:schemeClr val="accent6">
                    <a:lumMod val="75000"/>
                  </a:schemeClr>
                </a:solidFill>
              </a:rPr>
              <a:t>millions of atoms/ions bonded </a:t>
            </a:r>
            <a:r>
              <a:rPr lang="en-GB" b="1" dirty="0" smtClean="0">
                <a:solidFill>
                  <a:schemeClr val="accent6">
                    <a:lumMod val="75000"/>
                  </a:schemeClr>
                </a:solidFill>
              </a:rPr>
              <a:t>together </a:t>
            </a:r>
            <a:r>
              <a:rPr lang="en-GB" b="1" dirty="0">
                <a:solidFill>
                  <a:schemeClr val="accent6">
                    <a:lumMod val="75000"/>
                  </a:schemeClr>
                </a:solidFill>
              </a:rPr>
              <a:t>in the giant lattices</a:t>
            </a:r>
          </a:p>
        </p:txBody>
      </p:sp>
      <p:sp>
        <p:nvSpPr>
          <p:cNvPr id="8" name="Title 1">
            <a:extLst>
              <a:ext uri="{FF2B5EF4-FFF2-40B4-BE49-F238E27FC236}">
                <a16:creationId xmlns:a16="http://schemas.microsoft.com/office/drawing/2014/main" xmlns="" id="{3340E38A-1F6D-4492-8C54-3942F6E66CD7}"/>
              </a:ext>
            </a:extLst>
          </p:cNvPr>
          <p:cNvSpPr txBox="1">
            <a:spLocks/>
          </p:cNvSpPr>
          <p:nvPr/>
        </p:nvSpPr>
        <p:spPr>
          <a:xfrm>
            <a:off x="467544" y="35656"/>
            <a:ext cx="8676456" cy="628624"/>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defRPr/>
            </a:pPr>
            <a:r>
              <a:rPr lang="en-US" sz="2400" b="1" kern="0" dirty="0">
                <a:solidFill>
                  <a:schemeClr val="accent6"/>
                </a:solidFill>
              </a:rPr>
              <a:t>Ionic </a:t>
            </a:r>
            <a:r>
              <a:rPr lang="en-US" sz="2400" b="1" kern="0" dirty="0" smtClean="0">
                <a:solidFill>
                  <a:schemeClr val="accent6"/>
                </a:solidFill>
              </a:rPr>
              <a:t>compounds</a:t>
            </a:r>
            <a:endParaRPr lang="en-GB" sz="2400" b="1" kern="0" dirty="0">
              <a:solidFill>
                <a:schemeClr val="accent6"/>
              </a:solidFill>
            </a:endParaRPr>
          </a:p>
        </p:txBody>
      </p:sp>
    </p:spTree>
    <p:extLst>
      <p:ext uri="{BB962C8B-B14F-4D97-AF65-F5344CB8AC3E}">
        <p14:creationId xmlns:p14="http://schemas.microsoft.com/office/powerpoint/2010/main" val="37820253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955203"/>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4400" b="1" dirty="0">
                <a:solidFill>
                  <a:schemeClr val="tx1">
                    <a:lumMod val="50000"/>
                    <a:lumOff val="50000"/>
                  </a:schemeClr>
                </a:solidFill>
              </a:rPr>
              <a:t>Bonding part 1</a:t>
            </a:r>
          </a:p>
          <a:p>
            <a:endParaRPr lang="en-GB" sz="4400" b="1" dirty="0">
              <a:solidFill>
                <a:schemeClr val="tx1">
                  <a:lumMod val="50000"/>
                  <a:lumOff val="50000"/>
                </a:schemeClr>
              </a:solidFill>
            </a:endParaRPr>
          </a:p>
          <a:p>
            <a:pPr marL="342900" indent="-342900">
              <a:buFont typeface="Arial" panose="020B0604020202020204" pitchFamily="34" charset="0"/>
              <a:buChar char="•"/>
            </a:pPr>
            <a:r>
              <a:rPr lang="en-GB" sz="2800" b="1" dirty="0">
                <a:solidFill>
                  <a:schemeClr val="tx1">
                    <a:lumMod val="50000"/>
                    <a:lumOff val="50000"/>
                  </a:schemeClr>
                </a:solidFill>
              </a:rPr>
              <a:t>Chemical bonds</a:t>
            </a:r>
          </a:p>
          <a:p>
            <a:pPr marL="342900" indent="-342900">
              <a:buFont typeface="Arial" panose="020B0604020202020204" pitchFamily="34" charset="0"/>
              <a:buChar char="•"/>
            </a:pPr>
            <a:r>
              <a:rPr lang="en-GB" sz="2800" b="1" dirty="0">
                <a:solidFill>
                  <a:schemeClr val="tx1">
                    <a:lumMod val="50000"/>
                    <a:lumOff val="50000"/>
                  </a:schemeClr>
                </a:solidFill>
              </a:rPr>
              <a:t>Ionic bonding</a:t>
            </a:r>
          </a:p>
          <a:p>
            <a:pPr marL="342900" indent="-342900">
              <a:buFont typeface="Arial" panose="020B0604020202020204" pitchFamily="34" charset="0"/>
              <a:buChar char="•"/>
            </a:pPr>
            <a:r>
              <a:rPr lang="en-GB" sz="2800" b="1" dirty="0">
                <a:solidFill>
                  <a:schemeClr val="tx1">
                    <a:lumMod val="50000"/>
                    <a:lumOff val="50000"/>
                  </a:schemeClr>
                </a:solidFill>
              </a:rPr>
              <a:t>Ionic compounds</a:t>
            </a:r>
            <a:endParaRPr lang="en-US" sz="2800" b="1" dirty="0">
              <a:solidFill>
                <a:schemeClr val="bg1">
                  <a:lumMod val="50000"/>
                </a:schemeClr>
              </a:solidFill>
            </a:endParaRP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20782223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B</a:t>
            </a:r>
            <a:r>
              <a:rPr lang="en-US" sz="2000" b="1" dirty="0" smtClean="0">
                <a:solidFill>
                  <a:schemeClr val="accent6"/>
                </a:solidFill>
              </a:rPr>
              <a:t>onding </a:t>
            </a:r>
            <a:r>
              <a:rPr lang="en-US" sz="2000" b="1" dirty="0">
                <a:solidFill>
                  <a:schemeClr val="accent6"/>
                </a:solidFill>
              </a:rPr>
              <a:t>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buFont typeface="+mj-lt"/>
              <a:buAutoNum type="arabicPeriod"/>
            </a:pPr>
            <a:r>
              <a:rPr lang="en-GB" sz="2400" dirty="0" smtClean="0"/>
              <a:t>What are the three types of strong chemical bond?</a:t>
            </a:r>
          </a:p>
          <a:p>
            <a:pPr marL="457200" indent="-457200">
              <a:buFont typeface="+mj-lt"/>
              <a:buAutoNum type="arabicPeriod"/>
            </a:pPr>
            <a:endParaRPr lang="en-GB" sz="2400" dirty="0" smtClean="0"/>
          </a:p>
          <a:p>
            <a:pPr marL="457200" indent="-457200">
              <a:buFont typeface="+mj-lt"/>
              <a:buAutoNum type="arabicPeriod"/>
            </a:pPr>
            <a:r>
              <a:rPr lang="en-GB" sz="2400" dirty="0" smtClean="0"/>
              <a:t>What particles are found in:</a:t>
            </a:r>
          </a:p>
          <a:p>
            <a:pPr marL="914400" lvl="1" indent="-457200">
              <a:buFont typeface="+mj-lt"/>
              <a:buAutoNum type="alphaLcParenR"/>
            </a:pPr>
            <a:r>
              <a:rPr lang="en-GB" sz="2400" dirty="0" smtClean="0"/>
              <a:t>Ionic bonding</a:t>
            </a:r>
          </a:p>
          <a:p>
            <a:pPr marL="914400" lvl="1" indent="-457200">
              <a:buFont typeface="+mj-lt"/>
              <a:buAutoNum type="alphaLcParenR"/>
            </a:pPr>
            <a:r>
              <a:rPr lang="en-GB" sz="2400" dirty="0" smtClean="0"/>
              <a:t>Covalent bonding</a:t>
            </a:r>
          </a:p>
          <a:p>
            <a:pPr marL="914400" lvl="1" indent="-457200">
              <a:buFont typeface="+mj-lt"/>
              <a:buAutoNum type="alphaLcParenR"/>
            </a:pPr>
            <a:r>
              <a:rPr lang="en-GB" sz="2400" dirty="0" smtClean="0"/>
              <a:t>Metallic bonding?</a:t>
            </a:r>
          </a:p>
          <a:p>
            <a:pPr marL="914400" lvl="1" indent="-457200">
              <a:buFont typeface="+mj-lt"/>
              <a:buAutoNum type="alphaLcParenR"/>
            </a:pPr>
            <a:endParaRPr lang="en-GB" sz="2400" dirty="0" smtClean="0"/>
          </a:p>
          <a:p>
            <a:pPr marL="457200" indent="-457200">
              <a:buFont typeface="+mj-lt"/>
              <a:buAutoNum type="arabicPeriod"/>
            </a:pPr>
            <a:r>
              <a:rPr lang="en-GB" sz="2400" dirty="0" smtClean="0"/>
              <a:t>Which type of bonds occurs when metals combine with non-metals?</a:t>
            </a:r>
          </a:p>
          <a:p>
            <a:pPr marL="457200" indent="-457200">
              <a:buFont typeface="+mj-lt"/>
              <a:buAutoNum type="arabicPeriod"/>
            </a:pPr>
            <a:endParaRPr lang="en-GB" sz="2400" dirty="0" smtClean="0"/>
          </a:p>
          <a:p>
            <a:pPr marL="457200" indent="-457200">
              <a:buFont typeface="+mj-lt"/>
              <a:buAutoNum type="arabicPeriod"/>
            </a:pPr>
            <a:r>
              <a:rPr lang="en-GB" sz="2400" dirty="0" smtClean="0"/>
              <a:t>What type of bonding occurs in carbon dioxide? Why?</a:t>
            </a:r>
          </a:p>
          <a:p>
            <a:pPr marL="457200" indent="-457200">
              <a:buFont typeface="+mj-lt"/>
              <a:buAutoNum type="arabicPeriod"/>
            </a:pPr>
            <a:endParaRPr lang="en-GB" sz="2400" dirty="0" smtClean="0"/>
          </a:p>
          <a:p>
            <a:pPr marL="457200" indent="-457200">
              <a:buFont typeface="+mj-lt"/>
              <a:buAutoNum type="arabicPeriod"/>
            </a:pPr>
            <a:r>
              <a:rPr lang="en-GB" sz="2400" dirty="0" smtClean="0"/>
              <a:t>What type of bonding occurs in alloys?</a:t>
            </a:r>
          </a:p>
          <a:p>
            <a:pPr marL="457200" indent="-457200">
              <a:buFont typeface="+mj-lt"/>
              <a:buAutoNum type="arabicPeriod"/>
            </a:pPr>
            <a:endParaRPr lang="en-GB" sz="2400" dirty="0" smtClean="0"/>
          </a:p>
        </p:txBody>
      </p:sp>
    </p:spTree>
    <p:extLst>
      <p:ext uri="{BB962C8B-B14F-4D97-AF65-F5344CB8AC3E}">
        <p14:creationId xmlns:p14="http://schemas.microsoft.com/office/powerpoint/2010/main" val="31345595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B</a:t>
            </a:r>
            <a:r>
              <a:rPr lang="en-US" sz="2000" b="1" dirty="0" smtClean="0">
                <a:solidFill>
                  <a:schemeClr val="accent6"/>
                </a:solidFill>
              </a:rPr>
              <a:t>onding </a:t>
            </a:r>
            <a:r>
              <a:rPr lang="en-US" sz="2000" b="1" dirty="0">
                <a:solidFill>
                  <a:schemeClr val="accent6"/>
                </a:solidFill>
              </a:rPr>
              <a:t>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404664"/>
            <a:ext cx="8915400" cy="4893647"/>
          </a:xfrm>
          <a:prstGeom prst="rect">
            <a:avLst/>
          </a:prstGeom>
          <a:noFill/>
        </p:spPr>
        <p:txBody>
          <a:bodyPr wrap="square" rtlCol="0">
            <a:spAutoFit/>
          </a:bodyPr>
          <a:lstStyle/>
          <a:p>
            <a:endParaRPr lang="en-GB" sz="2400" dirty="0" smtClean="0"/>
          </a:p>
          <a:p>
            <a:pPr marL="457200" indent="-457200">
              <a:buFont typeface="+mj-lt"/>
              <a:buAutoNum type="arabicPeriod" startAt="6"/>
            </a:pPr>
            <a:r>
              <a:rPr lang="en-GB" sz="2400" dirty="0" smtClean="0"/>
              <a:t>What happens to the electrons in ionic bonding?</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What electronic structure do the ions produced by metals in Groups 1 and 2 and the non-metals in Groups 6 and 7 have?</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What is the link between the charge number on the ions in </a:t>
            </a:r>
            <a:r>
              <a:rPr lang="en-GB" sz="2400" dirty="0" smtClean="0"/>
              <a:t>groups </a:t>
            </a:r>
            <a:r>
              <a:rPr lang="en-GB" sz="2400" dirty="0" smtClean="0"/>
              <a:t>1, </a:t>
            </a:r>
            <a:r>
              <a:rPr lang="en-GB" sz="2400" dirty="0" smtClean="0"/>
              <a:t>2 and 3 and </a:t>
            </a:r>
            <a:r>
              <a:rPr lang="en-GB" sz="2400" dirty="0" smtClean="0"/>
              <a:t>their </a:t>
            </a:r>
            <a:r>
              <a:rPr lang="en-GB" sz="2400" dirty="0" smtClean="0"/>
              <a:t>group number ? </a:t>
            </a:r>
            <a:endParaRPr lang="en-GB" sz="2400" dirty="0" smtClean="0"/>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What is an ionic compound? </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How are ionic compounds held together?</a:t>
            </a:r>
          </a:p>
          <a:p>
            <a:pPr marL="457200" indent="-457200">
              <a:buFont typeface="+mj-lt"/>
              <a:buAutoNum type="arabicPeriod" startAt="6"/>
            </a:pPr>
            <a:endParaRPr lang="en-GB" sz="2400" dirty="0" smtClean="0"/>
          </a:p>
        </p:txBody>
      </p:sp>
    </p:spTree>
    <p:extLst>
      <p:ext uri="{BB962C8B-B14F-4D97-AF65-F5344CB8AC3E}">
        <p14:creationId xmlns:p14="http://schemas.microsoft.com/office/powerpoint/2010/main" val="11161663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B</a:t>
            </a:r>
            <a:r>
              <a:rPr lang="en-US" sz="2000" b="1" dirty="0" smtClean="0">
                <a:solidFill>
                  <a:schemeClr val="accent6"/>
                </a:solidFill>
              </a:rPr>
              <a:t>onding </a:t>
            </a:r>
            <a:r>
              <a:rPr lang="en-US" sz="2000" b="1" dirty="0">
                <a:solidFill>
                  <a:schemeClr val="accent6"/>
                </a:solidFill>
              </a:rPr>
              <a:t>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404664"/>
            <a:ext cx="8915400" cy="4154984"/>
          </a:xfrm>
          <a:prstGeom prst="rect">
            <a:avLst/>
          </a:prstGeom>
          <a:noFill/>
        </p:spPr>
        <p:txBody>
          <a:bodyPr wrap="square" rtlCol="0">
            <a:spAutoFit/>
          </a:bodyPr>
          <a:lstStyle/>
          <a:p>
            <a:endParaRPr lang="en-GB" sz="2400" dirty="0" smtClean="0"/>
          </a:p>
          <a:p>
            <a:pPr marL="457200" indent="-457200">
              <a:buFont typeface="+mj-lt"/>
              <a:buAutoNum type="arabicPeriod" startAt="11"/>
            </a:pPr>
            <a:r>
              <a:rPr lang="en-GB" sz="2400" dirty="0" smtClean="0"/>
              <a:t>Why is the ball and stick model not an accurate representation of the structure of an ionic compound? </a:t>
            </a:r>
          </a:p>
          <a:p>
            <a:pPr marL="457200" indent="-457200">
              <a:buFont typeface="+mj-lt"/>
              <a:buAutoNum type="arabicPeriod" startAt="11"/>
            </a:pPr>
            <a:endParaRPr lang="en-GB" sz="2400" dirty="0" smtClean="0"/>
          </a:p>
          <a:p>
            <a:pPr marL="457200" indent="-457200">
              <a:buFont typeface="+mj-lt"/>
              <a:buAutoNum type="arabicPeriod" startAt="11"/>
            </a:pPr>
            <a:r>
              <a:rPr lang="en-GB" sz="2400" dirty="0" smtClean="0"/>
              <a:t>Draw </a:t>
            </a:r>
            <a:r>
              <a:rPr lang="en-GB" sz="2400" dirty="0"/>
              <a:t>a diagram to show how potassium and chlorine atoms  </a:t>
            </a:r>
          </a:p>
          <a:p>
            <a:r>
              <a:rPr lang="en-GB" sz="2400" dirty="0"/>
              <a:t>       join together to form </a:t>
            </a:r>
            <a:r>
              <a:rPr lang="en-GB" sz="2400" dirty="0" smtClean="0"/>
              <a:t>ions.</a:t>
            </a:r>
          </a:p>
          <a:p>
            <a:endParaRPr lang="en-GB" sz="2400" dirty="0"/>
          </a:p>
          <a:p>
            <a:endParaRPr lang="en-GB" sz="2400" dirty="0" smtClean="0"/>
          </a:p>
          <a:p>
            <a:pPr marL="457200" indent="-457200">
              <a:buFont typeface="+mj-lt"/>
              <a:buAutoNum type="arabicPeriod" startAt="13"/>
            </a:pPr>
            <a:r>
              <a:rPr lang="en-GB" sz="2400" dirty="0" smtClean="0"/>
              <a:t>Explain </a:t>
            </a:r>
            <a:r>
              <a:rPr lang="en-GB" sz="2400" dirty="0"/>
              <a:t>how you can use the following model to work out the </a:t>
            </a:r>
            <a:r>
              <a:rPr lang="en-GB" sz="2400" dirty="0" smtClean="0"/>
              <a:t>empirical formula </a:t>
            </a:r>
            <a:r>
              <a:rPr lang="en-GB" sz="2400" dirty="0"/>
              <a:t>of sodium chloride.</a:t>
            </a:r>
          </a:p>
          <a:p>
            <a:endParaRPr lang="en-GB" sz="2400" dirty="0"/>
          </a:p>
        </p:txBody>
      </p:sp>
      <p:pic>
        <p:nvPicPr>
          <p:cNvPr id="5" name="Picture 4">
            <a:extLst>
              <a:ext uri="{FF2B5EF4-FFF2-40B4-BE49-F238E27FC236}">
                <a16:creationId xmlns:a16="http://schemas.microsoft.com/office/drawing/2014/main" xmlns="" id="{6CC8F6A8-0EF2-4924-A875-69D7938815E6}"/>
              </a:ext>
            </a:extLst>
          </p:cNvPr>
          <p:cNvPicPr>
            <a:picLocks noChangeAspect="1"/>
          </p:cNvPicPr>
          <p:nvPr/>
        </p:nvPicPr>
        <p:blipFill>
          <a:blip r:embed="rId3"/>
          <a:stretch>
            <a:fillRect/>
          </a:stretch>
        </p:blipFill>
        <p:spPr>
          <a:xfrm>
            <a:off x="683568" y="4277003"/>
            <a:ext cx="2139604" cy="1361009"/>
          </a:xfrm>
          <a:prstGeom prst="rect">
            <a:avLst/>
          </a:prstGeom>
        </p:spPr>
      </p:pic>
    </p:spTree>
    <p:extLst>
      <p:ext uri="{BB962C8B-B14F-4D97-AF65-F5344CB8AC3E}">
        <p14:creationId xmlns:p14="http://schemas.microsoft.com/office/powerpoint/2010/main" val="13464885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955203"/>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4400" b="1" dirty="0">
                <a:solidFill>
                  <a:schemeClr val="tx1">
                    <a:lumMod val="50000"/>
                    <a:lumOff val="50000"/>
                  </a:schemeClr>
                </a:solidFill>
              </a:rPr>
              <a:t>Bonding part 1</a:t>
            </a:r>
          </a:p>
          <a:p>
            <a:endParaRPr lang="en-GB" sz="4400" b="1" dirty="0">
              <a:solidFill>
                <a:schemeClr val="tx1">
                  <a:lumMod val="50000"/>
                  <a:lumOff val="50000"/>
                </a:schemeClr>
              </a:solidFill>
            </a:endParaRPr>
          </a:p>
          <a:p>
            <a:pPr marL="342900" indent="-342900">
              <a:buFont typeface="Arial" panose="020B0604020202020204" pitchFamily="34" charset="0"/>
              <a:buChar char="•"/>
            </a:pPr>
            <a:r>
              <a:rPr lang="en-GB" sz="2800" b="1" dirty="0">
                <a:solidFill>
                  <a:schemeClr val="tx1">
                    <a:lumMod val="50000"/>
                    <a:lumOff val="50000"/>
                  </a:schemeClr>
                </a:solidFill>
              </a:rPr>
              <a:t>Chemical bonds</a:t>
            </a:r>
          </a:p>
          <a:p>
            <a:pPr marL="342900" indent="-342900">
              <a:buFont typeface="Arial" panose="020B0604020202020204" pitchFamily="34" charset="0"/>
              <a:buChar char="•"/>
            </a:pPr>
            <a:r>
              <a:rPr lang="en-GB" sz="2800" b="1" dirty="0">
                <a:solidFill>
                  <a:schemeClr val="tx1">
                    <a:lumMod val="50000"/>
                    <a:lumOff val="50000"/>
                  </a:schemeClr>
                </a:solidFill>
              </a:rPr>
              <a:t>Ionic bonding</a:t>
            </a:r>
          </a:p>
          <a:p>
            <a:pPr marL="342900" indent="-342900">
              <a:buFont typeface="Arial" panose="020B0604020202020204" pitchFamily="34" charset="0"/>
              <a:buChar char="•"/>
            </a:pPr>
            <a:r>
              <a:rPr lang="en-GB" sz="2800" b="1" dirty="0">
                <a:solidFill>
                  <a:schemeClr val="tx1">
                    <a:lumMod val="50000"/>
                    <a:lumOff val="50000"/>
                  </a:schemeClr>
                </a:solidFill>
              </a:rPr>
              <a:t>Ionic compounds</a:t>
            </a:r>
            <a:endParaRPr lang="en-US" sz="2800" b="1" dirty="0">
              <a:solidFill>
                <a:schemeClr val="bg1">
                  <a:lumMod val="50000"/>
                </a:schemeClr>
              </a:solidFill>
            </a:endParaRP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4697291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B</a:t>
            </a:r>
            <a:r>
              <a:rPr lang="en-US" sz="2000" b="1" dirty="0" smtClean="0">
                <a:solidFill>
                  <a:schemeClr val="accent6"/>
                </a:solidFill>
              </a:rPr>
              <a:t>onding </a:t>
            </a:r>
            <a:r>
              <a:rPr lang="en-US" sz="2000" b="1" dirty="0">
                <a:solidFill>
                  <a:schemeClr val="accent6"/>
                </a:solidFill>
              </a:rPr>
              <a:t>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buFont typeface="+mj-lt"/>
              <a:buAutoNum type="arabicPeriod"/>
            </a:pPr>
            <a:r>
              <a:rPr lang="en-GB" sz="2400" dirty="0" smtClean="0"/>
              <a:t>What are the three types of strong chemical bond?</a:t>
            </a:r>
          </a:p>
          <a:p>
            <a:pPr lvl="1"/>
            <a:r>
              <a:rPr lang="en-GB" sz="2400" b="1" dirty="0" smtClean="0">
                <a:solidFill>
                  <a:srgbClr val="00B050"/>
                </a:solidFill>
              </a:rPr>
              <a:t>Ionic, covalent, metallic.</a:t>
            </a:r>
            <a:endParaRPr lang="en-GB" sz="2400" dirty="0" smtClean="0"/>
          </a:p>
          <a:p>
            <a:pPr marL="457200" indent="-457200">
              <a:buFont typeface="+mj-lt"/>
              <a:buAutoNum type="arabicPeriod"/>
            </a:pPr>
            <a:r>
              <a:rPr lang="en-GB" sz="2400" dirty="0" smtClean="0"/>
              <a:t>What particles are found in:</a:t>
            </a:r>
          </a:p>
          <a:p>
            <a:pPr marL="914400" lvl="1" indent="-457200">
              <a:buFont typeface="+mj-lt"/>
              <a:buAutoNum type="alphaLcParenR"/>
            </a:pPr>
            <a:r>
              <a:rPr lang="en-GB" sz="2400" dirty="0" smtClean="0"/>
              <a:t>Ionic bonding </a:t>
            </a:r>
            <a:r>
              <a:rPr lang="en-GB" sz="2400" b="1" dirty="0" smtClean="0">
                <a:solidFill>
                  <a:srgbClr val="00B050"/>
                </a:solidFill>
              </a:rPr>
              <a:t>oppositely charged ions.</a:t>
            </a:r>
            <a:endParaRPr lang="en-GB" sz="2400" dirty="0" smtClean="0"/>
          </a:p>
          <a:p>
            <a:pPr marL="914400" lvl="1" indent="-457200">
              <a:buFont typeface="+mj-lt"/>
              <a:buAutoNum type="alphaLcParenR"/>
            </a:pPr>
            <a:r>
              <a:rPr lang="en-GB" sz="2400" dirty="0" smtClean="0"/>
              <a:t>Covalent bonding </a:t>
            </a:r>
            <a:r>
              <a:rPr lang="en-GB" sz="2400" b="1" dirty="0" smtClean="0">
                <a:solidFill>
                  <a:srgbClr val="00B050"/>
                </a:solidFill>
              </a:rPr>
              <a:t>atoms which share electrons. </a:t>
            </a:r>
            <a:endParaRPr lang="en-GB" sz="2400" dirty="0" smtClean="0"/>
          </a:p>
          <a:p>
            <a:pPr marL="914400" lvl="1" indent="-457200">
              <a:buFont typeface="+mj-lt"/>
              <a:buAutoNum type="alphaLcParenR"/>
            </a:pPr>
            <a:r>
              <a:rPr lang="en-GB" sz="2400" dirty="0" smtClean="0"/>
              <a:t>Metallic bonding? </a:t>
            </a:r>
            <a:r>
              <a:rPr lang="en-GB" sz="2400" b="1" dirty="0" smtClean="0">
                <a:solidFill>
                  <a:srgbClr val="00B050"/>
                </a:solidFill>
              </a:rPr>
              <a:t>Atoms which share delocalised electrons. </a:t>
            </a:r>
            <a:endParaRPr lang="en-GB" sz="2400" dirty="0" smtClean="0"/>
          </a:p>
          <a:p>
            <a:pPr marL="914400" lvl="1" indent="-457200">
              <a:buFont typeface="+mj-lt"/>
              <a:buAutoNum type="alphaLcParenR"/>
            </a:pPr>
            <a:endParaRPr lang="en-GB" sz="2400" dirty="0" smtClean="0"/>
          </a:p>
          <a:p>
            <a:pPr marL="457200" indent="-457200">
              <a:buFont typeface="+mj-lt"/>
              <a:buAutoNum type="arabicPeriod"/>
            </a:pPr>
            <a:r>
              <a:rPr lang="en-GB" sz="2400" dirty="0" smtClean="0"/>
              <a:t>Which type of bonds occurs when metals combine with non-metals?</a:t>
            </a:r>
          </a:p>
          <a:p>
            <a:pPr lvl="1"/>
            <a:r>
              <a:rPr lang="en-GB" sz="2400" b="1" dirty="0" smtClean="0">
                <a:solidFill>
                  <a:srgbClr val="00B050"/>
                </a:solidFill>
              </a:rPr>
              <a:t>Ionic.</a:t>
            </a:r>
            <a:endParaRPr lang="en-GB" sz="2400" dirty="0" smtClean="0"/>
          </a:p>
          <a:p>
            <a:pPr marL="457200" indent="-457200">
              <a:buFont typeface="+mj-lt"/>
              <a:buAutoNum type="arabicPeriod"/>
            </a:pPr>
            <a:r>
              <a:rPr lang="en-GB" sz="2400" dirty="0" smtClean="0"/>
              <a:t>What type of bonding occurs in carbon dioxide? Why?</a:t>
            </a:r>
          </a:p>
          <a:p>
            <a:pPr lvl="1"/>
            <a:r>
              <a:rPr lang="en-GB" sz="2400" b="1" dirty="0" smtClean="0">
                <a:solidFill>
                  <a:srgbClr val="00B050"/>
                </a:solidFill>
              </a:rPr>
              <a:t>Covalent; two non-metals.</a:t>
            </a:r>
            <a:endParaRPr lang="en-GB" sz="2400" dirty="0" smtClean="0"/>
          </a:p>
          <a:p>
            <a:pPr marL="457200" indent="-457200">
              <a:buFont typeface="+mj-lt"/>
              <a:buAutoNum type="arabicPeriod"/>
            </a:pPr>
            <a:r>
              <a:rPr lang="en-GB" sz="2400" dirty="0" smtClean="0"/>
              <a:t>What type of bonding occurs in alloys?</a:t>
            </a:r>
          </a:p>
          <a:p>
            <a:pPr lvl="1"/>
            <a:r>
              <a:rPr lang="en-GB" sz="2400" b="1" dirty="0" smtClean="0">
                <a:solidFill>
                  <a:srgbClr val="00B050"/>
                </a:solidFill>
              </a:rPr>
              <a:t>Metallic.</a:t>
            </a:r>
            <a:endParaRPr lang="en-GB" sz="2400" dirty="0" smtClean="0"/>
          </a:p>
        </p:txBody>
      </p:sp>
    </p:spTree>
    <p:extLst>
      <p:ext uri="{BB962C8B-B14F-4D97-AF65-F5344CB8AC3E}">
        <p14:creationId xmlns:p14="http://schemas.microsoft.com/office/powerpoint/2010/main" val="200145133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B</a:t>
            </a:r>
            <a:r>
              <a:rPr lang="en-US" sz="2000" b="1" dirty="0" smtClean="0">
                <a:solidFill>
                  <a:schemeClr val="accent6"/>
                </a:solidFill>
              </a:rPr>
              <a:t>onding </a:t>
            </a:r>
            <a:r>
              <a:rPr lang="en-US" sz="2000" b="1" dirty="0">
                <a:solidFill>
                  <a:schemeClr val="accent6"/>
                </a:solidFill>
              </a:rPr>
              <a:t>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404664"/>
            <a:ext cx="8915400" cy="5262979"/>
          </a:xfrm>
          <a:prstGeom prst="rect">
            <a:avLst/>
          </a:prstGeom>
          <a:noFill/>
        </p:spPr>
        <p:txBody>
          <a:bodyPr wrap="square" rtlCol="0">
            <a:spAutoFit/>
          </a:bodyPr>
          <a:lstStyle/>
          <a:p>
            <a:endParaRPr lang="en-GB" sz="2400" dirty="0" smtClean="0"/>
          </a:p>
          <a:p>
            <a:pPr marL="457200" indent="-457200">
              <a:buFont typeface="+mj-lt"/>
              <a:buAutoNum type="arabicPeriod" startAt="6"/>
            </a:pPr>
            <a:r>
              <a:rPr lang="en-GB" sz="2400" dirty="0" smtClean="0"/>
              <a:t>What happens to the electrons in ionic bonding?</a:t>
            </a:r>
          </a:p>
          <a:p>
            <a:pPr lvl="1"/>
            <a:r>
              <a:rPr lang="en-GB" sz="2400" b="1" dirty="0" smtClean="0">
                <a:solidFill>
                  <a:srgbClr val="00B050"/>
                </a:solidFill>
              </a:rPr>
              <a:t>Transferred.</a:t>
            </a:r>
            <a:endParaRPr lang="en-GB" sz="2400" dirty="0" smtClean="0"/>
          </a:p>
          <a:p>
            <a:pPr marL="457200" indent="-457200">
              <a:buFont typeface="+mj-lt"/>
              <a:buAutoNum type="arabicPeriod" startAt="6"/>
            </a:pPr>
            <a:r>
              <a:rPr lang="en-GB" sz="2400" dirty="0" smtClean="0"/>
              <a:t>What electronic structure do the ions produced by metals in Groups 1 and 2 and the non-metals in Groups 6 and 7 have?</a:t>
            </a:r>
          </a:p>
          <a:p>
            <a:pPr lvl="1"/>
            <a:r>
              <a:rPr lang="en-GB" sz="2400" b="1" dirty="0" smtClean="0">
                <a:solidFill>
                  <a:srgbClr val="00B050"/>
                </a:solidFill>
              </a:rPr>
              <a:t>Electronic structure of a noble gas.</a:t>
            </a:r>
            <a:endParaRPr lang="en-GB" sz="2400" dirty="0" smtClean="0"/>
          </a:p>
          <a:p>
            <a:pPr marL="457200" indent="-457200">
              <a:buFont typeface="+mj-lt"/>
              <a:buAutoNum type="arabicPeriod" startAt="6"/>
            </a:pPr>
            <a:r>
              <a:rPr lang="en-GB" sz="2400"/>
              <a:t>What is the link between the charge number on the ions in groups 1, 2 and 3 and their group number ? </a:t>
            </a:r>
          </a:p>
          <a:p>
            <a:pPr lvl="1"/>
            <a:r>
              <a:rPr lang="en-GB" sz="2400" b="1" smtClean="0">
                <a:solidFill>
                  <a:srgbClr val="00B050"/>
                </a:solidFill>
              </a:rPr>
              <a:t>Charge </a:t>
            </a:r>
            <a:r>
              <a:rPr lang="en-GB" sz="2400" b="1" u="sng" dirty="0" smtClean="0">
                <a:solidFill>
                  <a:srgbClr val="00B050"/>
                </a:solidFill>
              </a:rPr>
              <a:t>number</a:t>
            </a:r>
            <a:r>
              <a:rPr lang="en-GB" sz="2400" b="1" dirty="0" smtClean="0">
                <a:solidFill>
                  <a:srgbClr val="00B050"/>
                </a:solidFill>
              </a:rPr>
              <a:t> is same as Group number.</a:t>
            </a:r>
            <a:endParaRPr lang="en-GB" sz="2400" dirty="0" smtClean="0"/>
          </a:p>
          <a:p>
            <a:pPr marL="457200" indent="-457200">
              <a:buFont typeface="+mj-lt"/>
              <a:buAutoNum type="arabicPeriod" startAt="6"/>
            </a:pPr>
            <a:r>
              <a:rPr lang="en-GB" sz="2400" dirty="0" smtClean="0"/>
              <a:t>What is an ionic compound? </a:t>
            </a:r>
          </a:p>
          <a:p>
            <a:pPr lvl="1"/>
            <a:r>
              <a:rPr lang="en-GB" sz="2400" b="1" dirty="0" smtClean="0">
                <a:solidFill>
                  <a:srgbClr val="00B050"/>
                </a:solidFill>
              </a:rPr>
              <a:t>Giant structure of ions.</a:t>
            </a:r>
            <a:endParaRPr lang="en-GB" sz="2400" dirty="0" smtClean="0"/>
          </a:p>
          <a:p>
            <a:pPr marL="457200" indent="-457200">
              <a:buFont typeface="+mj-lt"/>
              <a:buAutoNum type="arabicPeriod" startAt="6"/>
            </a:pPr>
            <a:r>
              <a:rPr lang="en-GB" sz="2400" dirty="0" smtClean="0"/>
              <a:t>How are ionic compounds held together?</a:t>
            </a:r>
          </a:p>
          <a:p>
            <a:pPr lvl="1"/>
            <a:r>
              <a:rPr lang="en-GB" sz="2400" b="1" dirty="0" smtClean="0">
                <a:solidFill>
                  <a:srgbClr val="00B050"/>
                </a:solidFill>
              </a:rPr>
              <a:t>Strong electrostatic forces of attraction; between oppositely charged ions.</a:t>
            </a:r>
            <a:endParaRPr lang="en-GB" sz="2400" dirty="0" smtClean="0"/>
          </a:p>
        </p:txBody>
      </p:sp>
    </p:spTree>
    <p:extLst>
      <p:ext uri="{BB962C8B-B14F-4D97-AF65-F5344CB8AC3E}">
        <p14:creationId xmlns:p14="http://schemas.microsoft.com/office/powerpoint/2010/main" val="40987364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B</a:t>
            </a:r>
            <a:r>
              <a:rPr lang="en-US" sz="2000" b="1" dirty="0" smtClean="0">
                <a:solidFill>
                  <a:schemeClr val="accent6"/>
                </a:solidFill>
              </a:rPr>
              <a:t>onding </a:t>
            </a:r>
            <a:r>
              <a:rPr lang="en-US" sz="2000" b="1" dirty="0">
                <a:solidFill>
                  <a:schemeClr val="accent6"/>
                </a:solidFill>
              </a:rPr>
              <a:t>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404664"/>
            <a:ext cx="8915400" cy="4893647"/>
          </a:xfrm>
          <a:prstGeom prst="rect">
            <a:avLst/>
          </a:prstGeom>
          <a:noFill/>
        </p:spPr>
        <p:txBody>
          <a:bodyPr wrap="square" rtlCol="0">
            <a:spAutoFit/>
          </a:bodyPr>
          <a:lstStyle/>
          <a:p>
            <a:endParaRPr lang="en-GB" sz="2400" dirty="0" smtClean="0"/>
          </a:p>
          <a:p>
            <a:pPr marL="457200" indent="-457200">
              <a:buFont typeface="+mj-lt"/>
              <a:buAutoNum type="arabicPeriod" startAt="11"/>
            </a:pPr>
            <a:r>
              <a:rPr lang="en-GB" sz="2400" dirty="0" smtClean="0"/>
              <a:t>Why is the ball and stick model not an accurate representation of the structure of an ionic compound? </a:t>
            </a:r>
          </a:p>
          <a:p>
            <a:pPr lvl="1"/>
            <a:r>
              <a:rPr lang="en-GB" sz="2400" b="1" dirty="0" smtClean="0">
                <a:solidFill>
                  <a:srgbClr val="00B050"/>
                </a:solidFill>
              </a:rPr>
              <a:t>Does not accurately depict the millions of ions in the lattice. The ions should touch each other/ there are no gaps between the ions.</a:t>
            </a:r>
            <a:endParaRPr lang="en-GB" sz="2400" dirty="0" smtClean="0"/>
          </a:p>
          <a:p>
            <a:pPr marL="457200" indent="-457200">
              <a:buFont typeface="+mj-lt"/>
              <a:buAutoNum type="arabicPeriod" startAt="11"/>
            </a:pPr>
            <a:r>
              <a:rPr lang="en-GB" sz="2400" dirty="0" smtClean="0"/>
              <a:t>Draw </a:t>
            </a:r>
            <a:r>
              <a:rPr lang="en-GB" sz="2400" dirty="0"/>
              <a:t>a diagram to show how potassium and chlorine atoms  </a:t>
            </a:r>
          </a:p>
          <a:p>
            <a:r>
              <a:rPr lang="en-GB" sz="2400" dirty="0"/>
              <a:t>       join together to form </a:t>
            </a:r>
            <a:r>
              <a:rPr lang="en-GB" sz="2400" dirty="0" smtClean="0"/>
              <a:t>ions.</a:t>
            </a:r>
          </a:p>
          <a:p>
            <a:endParaRPr lang="en-GB" sz="2400" dirty="0"/>
          </a:p>
          <a:p>
            <a:endParaRPr lang="en-GB" sz="2400" dirty="0" smtClean="0"/>
          </a:p>
          <a:p>
            <a:endParaRPr lang="en-GB" sz="2400" dirty="0"/>
          </a:p>
          <a:p>
            <a:endParaRPr lang="en-GB" sz="2400" dirty="0" smtClean="0"/>
          </a:p>
          <a:p>
            <a:endParaRPr lang="en-GB" sz="2400" dirty="0"/>
          </a:p>
        </p:txBody>
      </p:sp>
      <p:grpSp>
        <p:nvGrpSpPr>
          <p:cNvPr id="3" name="Group 2"/>
          <p:cNvGrpSpPr/>
          <p:nvPr/>
        </p:nvGrpSpPr>
        <p:grpSpPr>
          <a:xfrm>
            <a:off x="1619672" y="3594463"/>
            <a:ext cx="5877694" cy="1130681"/>
            <a:chOff x="1115616" y="2952689"/>
            <a:chExt cx="6381750" cy="1295400"/>
          </a:xfrm>
        </p:grpSpPr>
        <p:pic>
          <p:nvPicPr>
            <p:cNvPr id="5" name="Picture 4">
              <a:extLst>
                <a:ext uri="{FF2B5EF4-FFF2-40B4-BE49-F238E27FC236}">
                  <a16:creationId xmlns:a16="http://schemas.microsoft.com/office/drawing/2014/main" xmlns="" id="{ABF0AEE6-80AE-4BD0-8E41-861F8D22BC74}"/>
                </a:ext>
              </a:extLst>
            </p:cNvPr>
            <p:cNvPicPr>
              <a:picLocks noChangeAspect="1"/>
            </p:cNvPicPr>
            <p:nvPr/>
          </p:nvPicPr>
          <p:blipFill>
            <a:blip r:embed="rId3"/>
            <a:stretch>
              <a:fillRect/>
            </a:stretch>
          </p:blipFill>
          <p:spPr>
            <a:xfrm>
              <a:off x="1115616" y="2952689"/>
              <a:ext cx="6381750" cy="1295400"/>
            </a:xfrm>
            <a:prstGeom prst="rect">
              <a:avLst/>
            </a:prstGeom>
          </p:spPr>
        </p:pic>
        <p:cxnSp>
          <p:nvCxnSpPr>
            <p:cNvPr id="7" name="Straight Arrow Connector 6">
              <a:extLst>
                <a:ext uri="{FF2B5EF4-FFF2-40B4-BE49-F238E27FC236}">
                  <a16:creationId xmlns:a16="http://schemas.microsoft.com/office/drawing/2014/main" xmlns="" id="{CBEECE90-1CEB-4938-8BB2-8452229EF545}"/>
                </a:ext>
              </a:extLst>
            </p:cNvPr>
            <p:cNvCxnSpPr/>
            <p:nvPr/>
          </p:nvCxnSpPr>
          <p:spPr>
            <a:xfrm>
              <a:off x="3563888" y="3573016"/>
              <a:ext cx="864096"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grpSp>
    </p:spTree>
    <p:extLst>
      <p:ext uri="{BB962C8B-B14F-4D97-AF65-F5344CB8AC3E}">
        <p14:creationId xmlns:p14="http://schemas.microsoft.com/office/powerpoint/2010/main" val="4949469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Ionic bonding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6" y="697936"/>
            <a:ext cx="8994913" cy="3293209"/>
          </a:xfrm>
          <a:prstGeom prst="rect">
            <a:avLst/>
          </a:prstGeom>
          <a:noFill/>
        </p:spPr>
        <p:txBody>
          <a:bodyPr wrap="square" rtlCol="0">
            <a:spAutoFit/>
          </a:bodyPr>
          <a:lstStyle/>
          <a:p>
            <a:pPr marL="457200" indent="-457200">
              <a:buFont typeface="+mj-lt"/>
              <a:buAutoNum type="arabicPeriod" startAt="13"/>
            </a:pPr>
            <a:r>
              <a:rPr lang="en-GB" sz="2400" dirty="0"/>
              <a:t>Explain how you can use the following model of sodium chloride to work out the </a:t>
            </a:r>
            <a:r>
              <a:rPr lang="en-GB" sz="2400" dirty="0" smtClean="0"/>
              <a:t>empirical formula</a:t>
            </a:r>
            <a:r>
              <a:rPr lang="en-GB" sz="2400" dirty="0"/>
              <a:t>.</a:t>
            </a:r>
          </a:p>
          <a:p>
            <a:endParaRPr lang="en-GB" sz="2400" dirty="0"/>
          </a:p>
          <a:p>
            <a:pPr marL="342900" indent="-342900">
              <a:buFont typeface="+mj-lt"/>
              <a:buAutoNum type="arabicPeriod"/>
            </a:pPr>
            <a:endParaRPr lang="en-GB" sz="2400" dirty="0"/>
          </a:p>
          <a:p>
            <a:pPr marL="342900" indent="-342900">
              <a:buFont typeface="+mj-lt"/>
              <a:buAutoNum type="arabicPeriod"/>
            </a:pPr>
            <a:endParaRPr lang="en-GB" sz="2400" dirty="0"/>
          </a:p>
          <a:p>
            <a:pPr marL="342900" indent="-342900">
              <a:buFont typeface="+mj-lt"/>
              <a:buAutoNum type="arabicPeriod"/>
            </a:pPr>
            <a:endParaRPr lang="en-GB" sz="2400" dirty="0"/>
          </a:p>
          <a:p>
            <a:pPr marL="342900" indent="-342900">
              <a:buFont typeface="+mj-lt"/>
              <a:buAutoNum type="arabicPeriod"/>
            </a:pPr>
            <a:endParaRPr lang="en-GB" sz="2400" dirty="0"/>
          </a:p>
          <a:p>
            <a:endParaRPr lang="en-GB" sz="2400" dirty="0"/>
          </a:p>
          <a:p>
            <a:endParaRPr lang="en-GB" sz="1600" dirty="0"/>
          </a:p>
        </p:txBody>
      </p:sp>
      <p:pic>
        <p:nvPicPr>
          <p:cNvPr id="5" name="Picture 4">
            <a:extLst>
              <a:ext uri="{FF2B5EF4-FFF2-40B4-BE49-F238E27FC236}">
                <a16:creationId xmlns:a16="http://schemas.microsoft.com/office/drawing/2014/main" xmlns="" id="{6CC8F6A8-0EF2-4924-A875-69D7938815E6}"/>
              </a:ext>
            </a:extLst>
          </p:cNvPr>
          <p:cNvPicPr>
            <a:picLocks noChangeAspect="1"/>
          </p:cNvPicPr>
          <p:nvPr/>
        </p:nvPicPr>
        <p:blipFill>
          <a:blip r:embed="rId3"/>
          <a:stretch>
            <a:fillRect/>
          </a:stretch>
        </p:blipFill>
        <p:spPr>
          <a:xfrm>
            <a:off x="827584" y="1628800"/>
            <a:ext cx="2139604" cy="1361009"/>
          </a:xfrm>
          <a:prstGeom prst="rect">
            <a:avLst/>
          </a:prstGeom>
        </p:spPr>
      </p:pic>
      <p:sp>
        <p:nvSpPr>
          <p:cNvPr id="3" name="TextBox 2">
            <a:extLst>
              <a:ext uri="{FF2B5EF4-FFF2-40B4-BE49-F238E27FC236}">
                <a16:creationId xmlns:a16="http://schemas.microsoft.com/office/drawing/2014/main" xmlns="" id="{77EE9C03-BA3E-402F-98B5-0B6FC262E599}"/>
              </a:ext>
            </a:extLst>
          </p:cNvPr>
          <p:cNvSpPr txBox="1"/>
          <p:nvPr/>
        </p:nvSpPr>
        <p:spPr>
          <a:xfrm>
            <a:off x="3645685" y="1717558"/>
            <a:ext cx="4931816" cy="1477328"/>
          </a:xfrm>
          <a:prstGeom prst="rect">
            <a:avLst/>
          </a:prstGeom>
          <a:noFill/>
        </p:spPr>
        <p:txBody>
          <a:bodyPr wrap="square" rtlCol="0">
            <a:spAutoFit/>
          </a:bodyPr>
          <a:lstStyle/>
          <a:p>
            <a:r>
              <a:rPr lang="en-GB" sz="2400" b="1" dirty="0">
                <a:solidFill>
                  <a:srgbClr val="00B050"/>
                </a:solidFill>
              </a:rPr>
              <a:t>Count the number of each type of atom in the giant structure and work out simplest whole number ratio.</a:t>
            </a:r>
            <a:r>
              <a:rPr lang="en-GB" dirty="0"/>
              <a:t>	</a:t>
            </a:r>
          </a:p>
          <a:p>
            <a:endParaRPr lang="en-GB" dirty="0"/>
          </a:p>
        </p:txBody>
      </p:sp>
    </p:spTree>
    <p:extLst>
      <p:ext uri="{BB962C8B-B14F-4D97-AF65-F5344CB8AC3E}">
        <p14:creationId xmlns:p14="http://schemas.microsoft.com/office/powerpoint/2010/main" val="72297706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632311"/>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a:solidFill>
                  <a:schemeClr val="tx1">
                    <a:lumMod val="50000"/>
                    <a:lumOff val="50000"/>
                  </a:schemeClr>
                </a:solidFill>
              </a:rPr>
              <a:t>B</a:t>
            </a:r>
            <a:r>
              <a:rPr lang="en-GB" sz="3600" b="1" dirty="0" smtClean="0">
                <a:solidFill>
                  <a:schemeClr val="tx1">
                    <a:lumMod val="50000"/>
                    <a:lumOff val="50000"/>
                  </a:schemeClr>
                </a:solidFill>
              </a:rPr>
              <a:t>onding</a:t>
            </a:r>
            <a:endParaRPr lang="en-GB" sz="3600" b="1" dirty="0">
              <a:solidFill>
                <a:schemeClr val="tx1">
                  <a:lumMod val="50000"/>
                  <a:lumOff val="50000"/>
                </a:schemeClr>
              </a:solidFill>
            </a:endParaRPr>
          </a:p>
          <a:p>
            <a:r>
              <a:rPr lang="en-GB" sz="3600" b="1" dirty="0">
                <a:solidFill>
                  <a:schemeClr val="tx1">
                    <a:lumMod val="50000"/>
                    <a:lumOff val="50000"/>
                  </a:schemeClr>
                </a:solidFill>
              </a:rPr>
              <a:t>PART </a:t>
            </a:r>
            <a:r>
              <a:rPr lang="en-GB" sz="3600" b="1" dirty="0" smtClean="0">
                <a:solidFill>
                  <a:schemeClr val="tx1">
                    <a:lumMod val="50000"/>
                    <a:lumOff val="50000"/>
                  </a:schemeClr>
                </a:solidFill>
              </a:rPr>
              <a:t>2</a:t>
            </a:r>
            <a:endParaRPr lang="en-GB" sz="3600" b="1" dirty="0">
              <a:solidFill>
                <a:schemeClr val="tx1">
                  <a:lumMod val="50000"/>
                  <a:lumOff val="50000"/>
                </a:schemeClr>
              </a:solidFill>
            </a:endParaRPr>
          </a:p>
          <a:p>
            <a:endParaRPr lang="en-GB" sz="2800" dirty="0">
              <a:solidFill>
                <a:schemeClr val="tx1">
                  <a:lumMod val="50000"/>
                  <a:lumOff val="50000"/>
                </a:schemeClr>
              </a:solidFill>
            </a:endParaRPr>
          </a:p>
          <a:p>
            <a:pPr marL="685800" lvl="1" indent="-342900">
              <a:buFont typeface="Arial" charset="0"/>
              <a:buChar char="•"/>
            </a:pPr>
            <a:r>
              <a:rPr lang="en-US" sz="2800" b="1" dirty="0" smtClean="0">
                <a:solidFill>
                  <a:schemeClr val="bg1">
                    <a:lumMod val="50000"/>
                  </a:schemeClr>
                </a:solidFill>
              </a:rPr>
              <a:t>Covalent bonding</a:t>
            </a:r>
          </a:p>
          <a:p>
            <a:pPr marL="685800" lvl="1" indent="-342900">
              <a:buFont typeface="Arial" charset="0"/>
              <a:buChar char="•"/>
            </a:pPr>
            <a:r>
              <a:rPr lang="en-US" sz="2800" b="1" dirty="0" smtClean="0">
                <a:solidFill>
                  <a:schemeClr val="bg1">
                    <a:lumMod val="50000"/>
                  </a:schemeClr>
                </a:solidFill>
              </a:rPr>
              <a:t>Metallic bonding</a:t>
            </a:r>
            <a:endParaRPr lang="en-US" sz="2800" b="1" dirty="0">
              <a:solidFill>
                <a:schemeClr val="bg1">
                  <a:lumMod val="50000"/>
                </a:schemeClr>
              </a:solidFill>
            </a:endParaRPr>
          </a:p>
          <a:p>
            <a:pPr marL="685800" lvl="1" indent="-342900">
              <a:buFont typeface="Arial" charset="0"/>
              <a:buChar char="•"/>
            </a:pPr>
            <a:endParaRPr lang="en-US" sz="2400" b="1" dirty="0">
              <a:solidFill>
                <a:schemeClr val="bg1">
                  <a:lumMod val="50000"/>
                </a:schemeClr>
              </a:solidFill>
            </a:endParaRPr>
          </a:p>
          <a:p>
            <a:endParaRPr lang="en-GB" dirty="0"/>
          </a:p>
        </p:txBody>
      </p:sp>
    </p:spTree>
    <p:extLst>
      <p:ext uri="{BB962C8B-B14F-4D97-AF65-F5344CB8AC3E}">
        <p14:creationId xmlns:p14="http://schemas.microsoft.com/office/powerpoint/2010/main" val="40381779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914010" y="1884704"/>
            <a:ext cx="4803977" cy="2506851"/>
            <a:chOff x="-1097747" y="1874865"/>
            <a:chExt cx="4803977" cy="2506851"/>
          </a:xfrm>
        </p:grpSpPr>
        <p:pic>
          <p:nvPicPr>
            <p:cNvPr id="3074" name="Picture 2" descr="Related image">
              <a:extLst>
                <a:ext uri="{FF2B5EF4-FFF2-40B4-BE49-F238E27FC236}">
                  <a16:creationId xmlns:a16="http://schemas.microsoft.com/office/drawing/2014/main" xmlns="" id="{8AB5EE3D-E486-4EE3-8FF8-667EAB0886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747" y="1931687"/>
              <a:ext cx="4803977" cy="245002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xmlns="" id="{A4DAECA6-DB3C-4E3B-9709-5ADFE24C3E6F}"/>
                </a:ext>
              </a:extLst>
            </p:cNvPr>
            <p:cNvSpPr txBox="1"/>
            <p:nvPr/>
          </p:nvSpPr>
          <p:spPr>
            <a:xfrm>
              <a:off x="1040738" y="3087469"/>
              <a:ext cx="489236" cy="646331"/>
            </a:xfrm>
            <a:prstGeom prst="rect">
              <a:avLst/>
            </a:prstGeom>
            <a:noFill/>
          </p:spPr>
          <p:txBody>
            <a:bodyPr wrap="none" rtlCol="0">
              <a:spAutoFit/>
            </a:bodyPr>
            <a:lstStyle/>
            <a:p>
              <a:r>
                <a:rPr lang="en-GB" sz="3600" b="1" dirty="0"/>
                <a:t>N</a:t>
              </a:r>
            </a:p>
          </p:txBody>
        </p:sp>
        <p:sp>
          <p:nvSpPr>
            <p:cNvPr id="23" name="TextBox 22">
              <a:extLst>
                <a:ext uri="{FF2B5EF4-FFF2-40B4-BE49-F238E27FC236}">
                  <a16:creationId xmlns:a16="http://schemas.microsoft.com/office/drawing/2014/main" xmlns="" id="{539F76E5-E790-4443-919A-A73418A72ABE}"/>
                </a:ext>
              </a:extLst>
            </p:cNvPr>
            <p:cNvSpPr txBox="1"/>
            <p:nvPr/>
          </p:nvSpPr>
          <p:spPr>
            <a:xfrm>
              <a:off x="1040738" y="2091136"/>
              <a:ext cx="476412" cy="646331"/>
            </a:xfrm>
            <a:prstGeom prst="rect">
              <a:avLst/>
            </a:prstGeom>
            <a:noFill/>
          </p:spPr>
          <p:txBody>
            <a:bodyPr wrap="none" rtlCol="0">
              <a:spAutoFit/>
            </a:bodyPr>
            <a:lstStyle/>
            <a:p>
              <a:r>
                <a:rPr lang="en-GB" sz="3600" b="1" dirty="0"/>
                <a:t>H</a:t>
              </a:r>
            </a:p>
          </p:txBody>
        </p:sp>
        <p:sp>
          <p:nvSpPr>
            <p:cNvPr id="25" name="TextBox 24">
              <a:extLst>
                <a:ext uri="{FF2B5EF4-FFF2-40B4-BE49-F238E27FC236}">
                  <a16:creationId xmlns:a16="http://schemas.microsoft.com/office/drawing/2014/main" xmlns="" id="{213B3A95-9DC7-4911-8A5F-2CF9212CA7E4}"/>
                </a:ext>
              </a:extLst>
            </p:cNvPr>
            <p:cNvSpPr txBox="1"/>
            <p:nvPr/>
          </p:nvSpPr>
          <p:spPr>
            <a:xfrm>
              <a:off x="156083" y="3581400"/>
              <a:ext cx="476412" cy="646331"/>
            </a:xfrm>
            <a:prstGeom prst="rect">
              <a:avLst/>
            </a:prstGeom>
            <a:noFill/>
          </p:spPr>
          <p:txBody>
            <a:bodyPr wrap="none" rtlCol="0">
              <a:spAutoFit/>
            </a:bodyPr>
            <a:lstStyle/>
            <a:p>
              <a:r>
                <a:rPr lang="en-GB" sz="3600" b="1" dirty="0"/>
                <a:t>H</a:t>
              </a:r>
            </a:p>
          </p:txBody>
        </p:sp>
        <p:sp>
          <p:nvSpPr>
            <p:cNvPr id="26" name="TextBox 25">
              <a:extLst>
                <a:ext uri="{FF2B5EF4-FFF2-40B4-BE49-F238E27FC236}">
                  <a16:creationId xmlns:a16="http://schemas.microsoft.com/office/drawing/2014/main" xmlns="" id="{AE261CDE-6821-47C9-AC7F-27C12E970B4A}"/>
                </a:ext>
              </a:extLst>
            </p:cNvPr>
            <p:cNvSpPr txBox="1"/>
            <p:nvPr/>
          </p:nvSpPr>
          <p:spPr>
            <a:xfrm>
              <a:off x="1926018" y="3523828"/>
              <a:ext cx="476412" cy="646331"/>
            </a:xfrm>
            <a:prstGeom prst="rect">
              <a:avLst/>
            </a:prstGeom>
            <a:noFill/>
          </p:spPr>
          <p:txBody>
            <a:bodyPr wrap="none" rtlCol="0">
              <a:spAutoFit/>
            </a:bodyPr>
            <a:lstStyle/>
            <a:p>
              <a:r>
                <a:rPr lang="en-GB" sz="3600" b="1" dirty="0"/>
                <a:t>H</a:t>
              </a:r>
            </a:p>
          </p:txBody>
        </p:sp>
        <p:sp>
          <p:nvSpPr>
            <p:cNvPr id="28" name="TextBox 27">
              <a:extLst>
                <a:ext uri="{FF2B5EF4-FFF2-40B4-BE49-F238E27FC236}">
                  <a16:creationId xmlns:a16="http://schemas.microsoft.com/office/drawing/2014/main" xmlns="" id="{D4606C6C-9B36-490A-9775-568B94C439C1}"/>
                </a:ext>
              </a:extLst>
            </p:cNvPr>
            <p:cNvSpPr txBox="1"/>
            <p:nvPr/>
          </p:nvSpPr>
          <p:spPr>
            <a:xfrm>
              <a:off x="1650138" y="1874865"/>
              <a:ext cx="1103187" cy="769441"/>
            </a:xfrm>
            <a:prstGeom prst="rect">
              <a:avLst/>
            </a:prstGeom>
            <a:noFill/>
          </p:spPr>
          <p:txBody>
            <a:bodyPr wrap="square" rtlCol="0">
              <a:spAutoFit/>
            </a:bodyPr>
            <a:lstStyle/>
            <a:p>
              <a:r>
                <a:rPr lang="en-GB" sz="4400" b="1" dirty="0">
                  <a:solidFill>
                    <a:schemeClr val="accent6">
                      <a:lumMod val="75000"/>
                    </a:schemeClr>
                  </a:solidFill>
                  <a:effectLst>
                    <a:outerShdw blurRad="38100" dist="38100" dir="2700000" algn="tl">
                      <a:srgbClr val="000000">
                        <a:alpha val="43137"/>
                      </a:srgbClr>
                    </a:outerShdw>
                  </a:effectLst>
                </a:rPr>
                <a:t>NH</a:t>
              </a:r>
              <a:r>
                <a:rPr lang="en-GB" sz="4400" b="1" baseline="-25000" dirty="0">
                  <a:solidFill>
                    <a:schemeClr val="accent6">
                      <a:lumMod val="75000"/>
                    </a:schemeClr>
                  </a:solidFill>
                  <a:effectLst>
                    <a:outerShdw blurRad="38100" dist="38100" dir="2700000" algn="tl">
                      <a:srgbClr val="000000">
                        <a:alpha val="43137"/>
                      </a:srgbClr>
                    </a:outerShdw>
                  </a:effectLst>
                </a:rPr>
                <a:t>3</a:t>
              </a:r>
              <a:endParaRPr lang="en-GB" sz="4400" dirty="0"/>
            </a:p>
          </p:txBody>
        </p:sp>
      </p:grpSp>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Covalent bonding - PART 1</a:t>
            </a:r>
            <a:endParaRPr lang="en-GB" sz="2400" b="1" dirty="0">
              <a:solidFill>
                <a:schemeClr val="accent6"/>
              </a:solidFill>
            </a:endParaRPr>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8" name="Rectangle 7">
            <a:extLst>
              <a:ext uri="{FF2B5EF4-FFF2-40B4-BE49-F238E27FC236}">
                <a16:creationId xmlns:a16="http://schemas.microsoft.com/office/drawing/2014/main" xmlns="" id="{FB4E91E2-CC2F-4A95-BBF0-FE59DE224C1F}"/>
              </a:ext>
            </a:extLst>
          </p:cNvPr>
          <p:cNvSpPr/>
          <p:nvPr/>
        </p:nvSpPr>
        <p:spPr>
          <a:xfrm>
            <a:off x="204516" y="754467"/>
            <a:ext cx="8734968" cy="1323439"/>
          </a:xfrm>
          <a:prstGeom prst="rect">
            <a:avLst/>
          </a:prstGeom>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en-GB" sz="2000" dirty="0" smtClean="0"/>
              <a:t>When atoms </a:t>
            </a:r>
            <a:r>
              <a:rPr lang="en-GB" sz="2000" b="1" dirty="0" smtClean="0">
                <a:solidFill>
                  <a:schemeClr val="accent6">
                    <a:lumMod val="75000"/>
                  </a:schemeClr>
                </a:solidFill>
              </a:rPr>
              <a:t>share pairs of electrons</a:t>
            </a:r>
            <a:r>
              <a:rPr lang="en-GB" sz="2000" dirty="0" smtClean="0"/>
              <a:t>, they form </a:t>
            </a:r>
            <a:r>
              <a:rPr lang="en-GB" sz="2000" b="1" dirty="0" smtClean="0">
                <a:solidFill>
                  <a:schemeClr val="accent6">
                    <a:lumMod val="75000"/>
                  </a:schemeClr>
                </a:solidFill>
              </a:rPr>
              <a:t>covalent bonds</a:t>
            </a:r>
            <a:r>
              <a:rPr lang="en-GB" sz="2000" dirty="0" smtClean="0"/>
              <a:t>. </a:t>
            </a:r>
          </a:p>
          <a:p>
            <a:pPr algn="ctr"/>
            <a:r>
              <a:rPr lang="en-GB" sz="2000" dirty="0" smtClean="0"/>
              <a:t>These are </a:t>
            </a:r>
            <a:r>
              <a:rPr lang="en-GB" sz="2000" b="1" dirty="0" smtClean="0">
                <a:solidFill>
                  <a:schemeClr val="accent6">
                    <a:lumMod val="75000"/>
                  </a:schemeClr>
                </a:solidFill>
              </a:rPr>
              <a:t>STRONG</a:t>
            </a:r>
            <a:r>
              <a:rPr lang="en-GB" sz="2000" dirty="0" smtClean="0"/>
              <a:t> bonds.</a:t>
            </a:r>
          </a:p>
          <a:p>
            <a:r>
              <a:rPr lang="en-GB" sz="2000" dirty="0" smtClean="0"/>
              <a:t>Covalently bonded substances may be: </a:t>
            </a:r>
            <a:r>
              <a:rPr lang="en-GB" sz="2000" b="1" dirty="0" smtClean="0"/>
              <a:t>Small molecules</a:t>
            </a:r>
            <a:r>
              <a:rPr lang="en-GB" sz="2000" dirty="0" smtClean="0"/>
              <a:t>, </a:t>
            </a:r>
            <a:r>
              <a:rPr lang="en-GB" sz="2000" b="1" dirty="0" smtClean="0"/>
              <a:t>very large molecules </a:t>
            </a:r>
            <a:r>
              <a:rPr lang="en-GB" sz="2000" dirty="0" smtClean="0"/>
              <a:t>or </a:t>
            </a:r>
            <a:r>
              <a:rPr lang="en-GB" sz="2000" b="1" dirty="0" smtClean="0"/>
              <a:t>giant covalent structures.</a:t>
            </a:r>
            <a:endParaRPr lang="en-GB" sz="2000" b="1" dirty="0"/>
          </a:p>
        </p:txBody>
      </p:sp>
      <p:sp>
        <p:nvSpPr>
          <p:cNvPr id="11" name="TextBox 10">
            <a:extLst>
              <a:ext uri="{FF2B5EF4-FFF2-40B4-BE49-F238E27FC236}">
                <a16:creationId xmlns:a16="http://schemas.microsoft.com/office/drawing/2014/main" xmlns="" id="{04C79507-8AD5-4447-929A-3A78BB30D75D}"/>
              </a:ext>
            </a:extLst>
          </p:cNvPr>
          <p:cNvSpPr txBox="1"/>
          <p:nvPr/>
        </p:nvSpPr>
        <p:spPr>
          <a:xfrm>
            <a:off x="2955130" y="2253884"/>
            <a:ext cx="3240360" cy="1754326"/>
          </a:xfrm>
          <a:prstGeom prst="rect">
            <a:avLst/>
          </a:prstGeom>
          <a:noFill/>
        </p:spPr>
        <p:txBody>
          <a:bodyPr wrap="square" rtlCol="0">
            <a:spAutoFit/>
          </a:bodyPr>
          <a:lstStyle/>
          <a:p>
            <a:pPr algn="ctr"/>
            <a:r>
              <a:rPr lang="en-GB" b="1" dirty="0">
                <a:solidFill>
                  <a:schemeClr val="accent6">
                    <a:lumMod val="75000"/>
                  </a:schemeClr>
                </a:solidFill>
              </a:rPr>
              <a:t>You can deduce the molecular formula of a substance from a given model or diagram showing the atoms and bonds in the molecule by counting the number of atoms.</a:t>
            </a:r>
          </a:p>
        </p:txBody>
      </p:sp>
      <p:grpSp>
        <p:nvGrpSpPr>
          <p:cNvPr id="5" name="Group 4"/>
          <p:cNvGrpSpPr/>
          <p:nvPr/>
        </p:nvGrpSpPr>
        <p:grpSpPr>
          <a:xfrm>
            <a:off x="6195490" y="2038644"/>
            <a:ext cx="2743994" cy="2352866"/>
            <a:chOff x="6420434" y="1874865"/>
            <a:chExt cx="2743994" cy="2352866"/>
          </a:xfrm>
        </p:grpSpPr>
        <p:pic>
          <p:nvPicPr>
            <p:cNvPr id="34" name="Picture 2" descr="Related image">
              <a:extLst>
                <a:ext uri="{FF2B5EF4-FFF2-40B4-BE49-F238E27FC236}">
                  <a16:creationId xmlns:a16="http://schemas.microsoft.com/office/drawing/2014/main" xmlns="" id="{F637975C-E46E-489A-AB04-5E345232F4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0434" y="2112759"/>
              <a:ext cx="2743994" cy="2114972"/>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xmlns="" id="{FA3959E6-B64C-49FC-A43A-71E5E69AE924}"/>
                </a:ext>
              </a:extLst>
            </p:cNvPr>
            <p:cNvSpPr txBox="1"/>
            <p:nvPr/>
          </p:nvSpPr>
          <p:spPr>
            <a:xfrm>
              <a:off x="6524097" y="1874865"/>
              <a:ext cx="1720311" cy="769441"/>
            </a:xfrm>
            <a:prstGeom prst="rect">
              <a:avLst/>
            </a:prstGeom>
            <a:noFill/>
          </p:spPr>
          <p:txBody>
            <a:bodyPr wrap="square" rtlCol="0">
              <a:spAutoFit/>
            </a:bodyPr>
            <a:lstStyle/>
            <a:p>
              <a:r>
                <a:rPr lang="en-GB" sz="4400" b="1" dirty="0">
                  <a:solidFill>
                    <a:schemeClr val="accent6">
                      <a:lumMod val="75000"/>
                    </a:schemeClr>
                  </a:solidFill>
                  <a:effectLst>
                    <a:outerShdw blurRad="38100" dist="38100" dir="2700000" algn="tl">
                      <a:srgbClr val="000000">
                        <a:alpha val="43137"/>
                      </a:srgbClr>
                    </a:outerShdw>
                  </a:effectLst>
                </a:rPr>
                <a:t>H</a:t>
              </a:r>
              <a:r>
                <a:rPr lang="en-GB" sz="4400" b="1" baseline="-25000" dirty="0">
                  <a:solidFill>
                    <a:schemeClr val="accent6">
                      <a:lumMod val="75000"/>
                    </a:schemeClr>
                  </a:solidFill>
                  <a:effectLst>
                    <a:outerShdw blurRad="38100" dist="38100" dir="2700000" algn="tl">
                      <a:srgbClr val="000000">
                        <a:alpha val="43137"/>
                      </a:srgbClr>
                    </a:outerShdw>
                  </a:effectLst>
                </a:rPr>
                <a:t>2</a:t>
              </a:r>
              <a:r>
                <a:rPr lang="en-GB" sz="4400" b="1" dirty="0">
                  <a:solidFill>
                    <a:schemeClr val="accent6">
                      <a:lumMod val="75000"/>
                    </a:schemeClr>
                  </a:solidFill>
                  <a:effectLst>
                    <a:outerShdw blurRad="38100" dist="38100" dir="2700000" algn="tl">
                      <a:srgbClr val="000000">
                        <a:alpha val="43137"/>
                      </a:srgbClr>
                    </a:outerShdw>
                  </a:effectLst>
                </a:rPr>
                <a:t>O</a:t>
              </a:r>
              <a:endParaRPr lang="en-GB" sz="4400" dirty="0"/>
            </a:p>
          </p:txBody>
        </p:sp>
        <p:sp>
          <p:nvSpPr>
            <p:cNvPr id="35" name="TextBox 34">
              <a:extLst>
                <a:ext uri="{FF2B5EF4-FFF2-40B4-BE49-F238E27FC236}">
                  <a16:creationId xmlns:a16="http://schemas.microsoft.com/office/drawing/2014/main" xmlns="" id="{A260BB3B-7246-4BDD-9316-01D6974AD42E}"/>
                </a:ext>
              </a:extLst>
            </p:cNvPr>
            <p:cNvSpPr txBox="1"/>
            <p:nvPr/>
          </p:nvSpPr>
          <p:spPr>
            <a:xfrm>
              <a:off x="6623282" y="3156703"/>
              <a:ext cx="476412" cy="646331"/>
            </a:xfrm>
            <a:prstGeom prst="rect">
              <a:avLst/>
            </a:prstGeom>
            <a:noFill/>
          </p:spPr>
          <p:txBody>
            <a:bodyPr wrap="none" rtlCol="0">
              <a:spAutoFit/>
            </a:bodyPr>
            <a:lstStyle/>
            <a:p>
              <a:r>
                <a:rPr lang="en-GB" sz="3600" b="1" dirty="0"/>
                <a:t>H</a:t>
              </a:r>
            </a:p>
          </p:txBody>
        </p:sp>
        <p:sp>
          <p:nvSpPr>
            <p:cNvPr id="36" name="TextBox 35">
              <a:extLst>
                <a:ext uri="{FF2B5EF4-FFF2-40B4-BE49-F238E27FC236}">
                  <a16:creationId xmlns:a16="http://schemas.microsoft.com/office/drawing/2014/main" xmlns="" id="{E1E9B7CB-6545-4C18-98DA-88EF2A91F03D}"/>
                </a:ext>
              </a:extLst>
            </p:cNvPr>
            <p:cNvSpPr txBox="1"/>
            <p:nvPr/>
          </p:nvSpPr>
          <p:spPr>
            <a:xfrm>
              <a:off x="8486842" y="3156702"/>
              <a:ext cx="476412" cy="646331"/>
            </a:xfrm>
            <a:prstGeom prst="rect">
              <a:avLst/>
            </a:prstGeom>
            <a:noFill/>
          </p:spPr>
          <p:txBody>
            <a:bodyPr wrap="none" rtlCol="0">
              <a:spAutoFit/>
            </a:bodyPr>
            <a:lstStyle/>
            <a:p>
              <a:r>
                <a:rPr lang="en-GB" sz="3600" b="1" dirty="0"/>
                <a:t>H</a:t>
              </a:r>
            </a:p>
          </p:txBody>
        </p:sp>
        <p:sp>
          <p:nvSpPr>
            <p:cNvPr id="37" name="TextBox 36">
              <a:extLst>
                <a:ext uri="{FF2B5EF4-FFF2-40B4-BE49-F238E27FC236}">
                  <a16:creationId xmlns:a16="http://schemas.microsoft.com/office/drawing/2014/main" xmlns="" id="{5B3B4060-8014-47BA-BF5A-D7CFFA65C62C}"/>
                </a:ext>
              </a:extLst>
            </p:cNvPr>
            <p:cNvSpPr txBox="1"/>
            <p:nvPr/>
          </p:nvSpPr>
          <p:spPr>
            <a:xfrm>
              <a:off x="7554225" y="2409523"/>
              <a:ext cx="497252" cy="646331"/>
            </a:xfrm>
            <a:prstGeom prst="rect">
              <a:avLst/>
            </a:prstGeom>
            <a:noFill/>
          </p:spPr>
          <p:txBody>
            <a:bodyPr wrap="none" rtlCol="0">
              <a:spAutoFit/>
            </a:bodyPr>
            <a:lstStyle/>
            <a:p>
              <a:r>
                <a:rPr lang="en-GB" sz="3600" b="1" dirty="0"/>
                <a:t>O</a:t>
              </a:r>
            </a:p>
          </p:txBody>
        </p:sp>
      </p:grpSp>
      <p:grpSp>
        <p:nvGrpSpPr>
          <p:cNvPr id="9" name="Group 8"/>
          <p:cNvGrpSpPr/>
          <p:nvPr/>
        </p:nvGrpSpPr>
        <p:grpSpPr>
          <a:xfrm>
            <a:off x="204516" y="4287527"/>
            <a:ext cx="8734968" cy="2246769"/>
            <a:chOff x="204516" y="4287527"/>
            <a:chExt cx="8734968" cy="2246769"/>
          </a:xfrm>
        </p:grpSpPr>
        <p:sp>
          <p:nvSpPr>
            <p:cNvPr id="29" name="Rectangle 28">
              <a:extLst>
                <a:ext uri="{FF2B5EF4-FFF2-40B4-BE49-F238E27FC236}">
                  <a16:creationId xmlns:a16="http://schemas.microsoft.com/office/drawing/2014/main" xmlns="" id="{C300DEE6-9006-47B1-AA95-4A909CC3BBAD}"/>
                </a:ext>
              </a:extLst>
            </p:cNvPr>
            <p:cNvSpPr/>
            <p:nvPr/>
          </p:nvSpPr>
          <p:spPr>
            <a:xfrm>
              <a:off x="204516" y="4287527"/>
              <a:ext cx="8734968" cy="2246769"/>
            </a:xfrm>
            <a:prstGeom prst="rect">
              <a:avLst/>
            </a:prstGeom>
            <a:ln w="12700">
              <a:solidFill>
                <a:schemeClr val="accent6">
                  <a:lumMod val="75000"/>
                </a:schemeClr>
              </a:solidFill>
            </a:ln>
          </p:spPr>
          <p:txBody>
            <a:bodyPr wrap="square">
              <a:spAutoFit/>
            </a:bodyPr>
            <a:lstStyle/>
            <a:p>
              <a:r>
                <a:rPr lang="en-GB" sz="2000" b="1" dirty="0" smtClean="0">
                  <a:solidFill>
                    <a:schemeClr val="accent6">
                      <a:lumMod val="75000"/>
                    </a:schemeClr>
                  </a:solidFill>
                </a:rPr>
                <a:t>Polymers</a:t>
              </a:r>
              <a:r>
                <a:rPr lang="en-GB" sz="2000" dirty="0" smtClean="0"/>
                <a:t> are examples of very large covalent molecules, they can be represented in the form:                       where ‘</a:t>
              </a:r>
              <a:r>
                <a:rPr lang="en-GB" sz="2000" b="1" dirty="0" smtClean="0">
                  <a:solidFill>
                    <a:schemeClr val="accent6">
                      <a:lumMod val="75000"/>
                    </a:schemeClr>
                  </a:solidFill>
                </a:rPr>
                <a:t>n</a:t>
              </a:r>
              <a:r>
                <a:rPr lang="en-GB" sz="2000" dirty="0" smtClean="0"/>
                <a:t>’ = a </a:t>
              </a:r>
              <a:r>
                <a:rPr lang="en-GB" sz="2000" b="1" dirty="0" smtClean="0">
                  <a:solidFill>
                    <a:schemeClr val="accent6">
                      <a:lumMod val="75000"/>
                    </a:schemeClr>
                  </a:solidFill>
                </a:rPr>
                <a:t>very large number</a:t>
              </a:r>
              <a:r>
                <a:rPr lang="en-GB" sz="2000" dirty="0" smtClean="0"/>
                <a:t>!</a:t>
              </a:r>
            </a:p>
            <a:p>
              <a:endParaRPr lang="en-GB" sz="2000" dirty="0"/>
            </a:p>
            <a:p>
              <a:endParaRPr lang="en-GB" sz="2000" dirty="0" smtClean="0"/>
            </a:p>
            <a:p>
              <a:endParaRPr lang="en-GB" sz="2000" dirty="0" smtClean="0"/>
            </a:p>
            <a:p>
              <a:r>
                <a:rPr lang="en-GB" sz="2000" dirty="0" smtClean="0"/>
                <a:t>Examples of covalently bonded substances with </a:t>
              </a:r>
              <a:r>
                <a:rPr lang="en-GB" sz="2000" b="1" dirty="0" smtClean="0"/>
                <a:t>giant covalent structures </a:t>
              </a:r>
              <a:r>
                <a:rPr lang="en-GB" sz="2000" dirty="0" smtClean="0"/>
                <a:t>are </a:t>
              </a:r>
              <a:r>
                <a:rPr lang="en-GB" sz="2000" b="1" dirty="0" smtClean="0">
                  <a:solidFill>
                    <a:schemeClr val="accent6">
                      <a:lumMod val="75000"/>
                    </a:schemeClr>
                  </a:solidFill>
                </a:rPr>
                <a:t>diamond</a:t>
              </a:r>
              <a:r>
                <a:rPr lang="en-GB" sz="2000" dirty="0" smtClean="0"/>
                <a:t> and </a:t>
              </a:r>
              <a:r>
                <a:rPr lang="en-GB" sz="2000" b="1" dirty="0" smtClean="0">
                  <a:solidFill>
                    <a:schemeClr val="accent6">
                      <a:lumMod val="75000"/>
                    </a:schemeClr>
                  </a:solidFill>
                </a:rPr>
                <a:t>silicon dioxide</a:t>
              </a:r>
              <a:r>
                <a:rPr lang="en-GB" sz="2000" dirty="0" smtClean="0"/>
                <a:t>.</a:t>
              </a:r>
            </a:p>
          </p:txBody>
        </p:sp>
        <p:pic>
          <p:nvPicPr>
            <p:cNvPr id="7" name="Picture 6"/>
            <p:cNvPicPr>
              <a:picLocks noChangeAspect="1"/>
            </p:cNvPicPr>
            <p:nvPr/>
          </p:nvPicPr>
          <p:blipFill>
            <a:blip r:embed="rId5"/>
            <a:stretch>
              <a:fillRect/>
            </a:stretch>
          </p:blipFill>
          <p:spPr>
            <a:xfrm>
              <a:off x="1661350" y="4768123"/>
              <a:ext cx="942628" cy="1104073"/>
            </a:xfrm>
            <a:prstGeom prst="rect">
              <a:avLst/>
            </a:prstGeom>
          </p:spPr>
        </p:pic>
      </p:grpSp>
    </p:spTree>
    <p:extLst>
      <p:ext uri="{BB962C8B-B14F-4D97-AF65-F5344CB8AC3E}">
        <p14:creationId xmlns:p14="http://schemas.microsoft.com/office/powerpoint/2010/main" val="6349695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xmlns="" id="{59D713BE-271D-4540-94D4-DD9FDB56EC60}"/>
              </a:ext>
            </a:extLst>
          </p:cNvPr>
          <p:cNvSpPr txBox="1"/>
          <p:nvPr/>
        </p:nvSpPr>
        <p:spPr>
          <a:xfrm>
            <a:off x="5725477" y="2017030"/>
            <a:ext cx="3229314" cy="4370427"/>
          </a:xfrm>
          <a:prstGeom prst="rect">
            <a:avLst/>
          </a:prstGeom>
          <a:noFill/>
        </p:spPr>
        <p:txBody>
          <a:bodyPr wrap="square" rtlCol="0">
            <a:spAutoFit/>
          </a:bodyPr>
          <a:lstStyle/>
          <a:p>
            <a:pPr algn="ctr"/>
            <a:endParaRPr lang="en-GB" dirty="0"/>
          </a:p>
          <a:p>
            <a:pPr algn="ctr"/>
            <a:endParaRPr lang="en-GB" dirty="0"/>
          </a:p>
          <a:p>
            <a:pPr algn="ctr"/>
            <a:endParaRPr lang="en-GB" dirty="0"/>
          </a:p>
          <a:p>
            <a:pPr algn="ctr"/>
            <a:endParaRPr lang="en-GB" dirty="0"/>
          </a:p>
          <a:p>
            <a:pPr algn="ctr"/>
            <a:r>
              <a:rPr lang="en-GB" dirty="0"/>
              <a:t>3D ball and stick model:</a:t>
            </a:r>
          </a:p>
          <a:p>
            <a:pPr algn="ctr"/>
            <a:endParaRPr lang="en-GB" dirty="0"/>
          </a:p>
          <a:p>
            <a:pPr algn="ctr"/>
            <a:endParaRPr lang="en-GB" dirty="0"/>
          </a:p>
          <a:p>
            <a:pPr algn="ctr"/>
            <a:endParaRPr lang="en-GB" dirty="0"/>
          </a:p>
          <a:p>
            <a:pPr algn="ctr"/>
            <a:endParaRPr lang="en-GB" sz="800" dirty="0"/>
          </a:p>
          <a:p>
            <a:pPr algn="ctr"/>
            <a:endParaRPr lang="en-GB" dirty="0"/>
          </a:p>
          <a:p>
            <a:pPr algn="ctr"/>
            <a:endParaRPr lang="en-GB" dirty="0"/>
          </a:p>
          <a:p>
            <a:pPr algn="ctr"/>
            <a:endParaRPr lang="en-GB" dirty="0"/>
          </a:p>
          <a:p>
            <a:pPr algn="ctr"/>
            <a:r>
              <a:rPr lang="en-GB" b="1" dirty="0">
                <a:solidFill>
                  <a:schemeClr val="accent6">
                    <a:lumMod val="75000"/>
                  </a:schemeClr>
                </a:solidFill>
              </a:rPr>
              <a:t>+ Attempts to show </a:t>
            </a:r>
            <a:r>
              <a:rPr lang="en-GB" b="1" dirty="0" smtClean="0">
                <a:solidFill>
                  <a:schemeClr val="accent6">
                    <a:lumMod val="75000"/>
                  </a:schemeClr>
                </a:solidFill>
              </a:rPr>
              <a:t>the correct  H-N-H </a:t>
            </a:r>
            <a:r>
              <a:rPr lang="en-GB" b="1" dirty="0">
                <a:solidFill>
                  <a:schemeClr val="accent6">
                    <a:lumMod val="75000"/>
                  </a:schemeClr>
                </a:solidFill>
              </a:rPr>
              <a:t>bond angle is </a:t>
            </a:r>
            <a:r>
              <a:rPr lang="en-GB" b="1" dirty="0" smtClean="0">
                <a:solidFill>
                  <a:schemeClr val="accent6">
                    <a:lumMod val="75000"/>
                  </a:schemeClr>
                </a:solidFill>
              </a:rPr>
              <a:t>107.8°</a:t>
            </a:r>
          </a:p>
          <a:p>
            <a:pPr algn="ctr"/>
            <a:r>
              <a:rPr lang="en-GB" b="1" dirty="0" smtClean="0">
                <a:solidFill>
                  <a:schemeClr val="accent6">
                    <a:lumMod val="75000"/>
                  </a:schemeClr>
                </a:solidFill>
              </a:rPr>
              <a:t>+ Shows the impact of the lone pair </a:t>
            </a:r>
            <a:endParaRPr lang="en-GB" b="1" dirty="0">
              <a:solidFill>
                <a:schemeClr val="accent6">
                  <a:lumMod val="75000"/>
                </a:schemeClr>
              </a:solidFill>
            </a:endParaRPr>
          </a:p>
        </p:txBody>
      </p:sp>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Covalent bonding - PART 1</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9" name="Picture 2" descr="http://upload.wikimedia.org/wikipedia/commons/9/96/Ammonia-2D-dot-cross.png">
            <a:hlinkClick r:id="rId3"/>
            <a:extLst>
              <a:ext uri="{FF2B5EF4-FFF2-40B4-BE49-F238E27FC236}">
                <a16:creationId xmlns:a16="http://schemas.microsoft.com/office/drawing/2014/main" xmlns="" id="{3AA06EE4-C430-4EFD-B05D-6BB9CA83CE70}"/>
              </a:ext>
            </a:extLst>
          </p:cNvPr>
          <p:cNvPicPr>
            <a:picLocks noChangeAspect="1" noChangeArrowheads="1"/>
          </p:cNvPicPr>
          <p:nvPr/>
        </p:nvPicPr>
        <p:blipFill>
          <a:blip r:embed="rId4" cstate="print"/>
          <a:srcRect/>
          <a:stretch>
            <a:fillRect/>
          </a:stretch>
        </p:blipFill>
        <p:spPr bwMode="auto">
          <a:xfrm>
            <a:off x="307794" y="2508313"/>
            <a:ext cx="3096344" cy="2472082"/>
          </a:xfrm>
          <a:prstGeom prst="rect">
            <a:avLst/>
          </a:prstGeom>
          <a:noFill/>
        </p:spPr>
      </p:pic>
      <p:sp>
        <p:nvSpPr>
          <p:cNvPr id="12" name="Rectangle 11">
            <a:extLst>
              <a:ext uri="{FF2B5EF4-FFF2-40B4-BE49-F238E27FC236}">
                <a16:creationId xmlns:a16="http://schemas.microsoft.com/office/drawing/2014/main" xmlns="" id="{CB2CB522-E3E9-40D8-A8D4-D48270CF3F2C}"/>
              </a:ext>
            </a:extLst>
          </p:cNvPr>
          <p:cNvSpPr/>
          <p:nvPr/>
        </p:nvSpPr>
        <p:spPr>
          <a:xfrm>
            <a:off x="87215" y="791981"/>
            <a:ext cx="8969569" cy="1292662"/>
          </a:xfrm>
          <a:prstGeom prst="rect">
            <a:avLst/>
          </a:prstGeom>
        </p:spPr>
        <p:txBody>
          <a:bodyPr wrap="square">
            <a:spAutoFit/>
          </a:bodyPr>
          <a:lstStyle/>
          <a:p>
            <a:pPr algn="ctr"/>
            <a:r>
              <a:rPr lang="en-GB" sz="2000" dirty="0"/>
              <a:t>Covalently bonded substances may consist of small molecules.  The covalent bond in molecules can be represented in the following models.  Like all models, each one is useful but has some limitations.</a:t>
            </a:r>
          </a:p>
          <a:p>
            <a:r>
              <a:rPr lang="en-GB" b="1" dirty="0">
                <a:solidFill>
                  <a:schemeClr val="accent6">
                    <a:lumMod val="75000"/>
                  </a:schemeClr>
                </a:solidFill>
                <a:effectLst>
                  <a:outerShdw blurRad="38100" dist="38100" dir="2700000" algn="tl">
                    <a:srgbClr val="000000">
                      <a:alpha val="43137"/>
                    </a:srgbClr>
                  </a:outerShdw>
                </a:effectLst>
              </a:rPr>
              <a:t>Ammonia NH</a:t>
            </a:r>
            <a:r>
              <a:rPr lang="en-GB" b="1" baseline="-25000" dirty="0">
                <a:solidFill>
                  <a:schemeClr val="accent6">
                    <a:lumMod val="75000"/>
                  </a:schemeClr>
                </a:solidFill>
                <a:effectLst>
                  <a:outerShdw blurRad="38100" dist="38100" dir="2700000" algn="tl">
                    <a:srgbClr val="000000">
                      <a:alpha val="43137"/>
                    </a:srgbClr>
                  </a:outerShdw>
                </a:effectLst>
              </a:rPr>
              <a:t>3</a:t>
            </a:r>
          </a:p>
        </p:txBody>
      </p:sp>
      <p:pic>
        <p:nvPicPr>
          <p:cNvPr id="13" name="Picture 12">
            <a:extLst>
              <a:ext uri="{FF2B5EF4-FFF2-40B4-BE49-F238E27FC236}">
                <a16:creationId xmlns:a16="http://schemas.microsoft.com/office/drawing/2014/main" xmlns="" id="{A438411B-EB7F-497F-8641-4A16BD486FD3}"/>
              </a:ext>
            </a:extLst>
          </p:cNvPr>
          <p:cNvPicPr>
            <a:picLocks noChangeAspect="1"/>
          </p:cNvPicPr>
          <p:nvPr/>
        </p:nvPicPr>
        <p:blipFill>
          <a:blip r:embed="rId5"/>
          <a:stretch>
            <a:fillRect/>
          </a:stretch>
        </p:blipFill>
        <p:spPr>
          <a:xfrm>
            <a:off x="3806238" y="2450794"/>
            <a:ext cx="1605803" cy="956397"/>
          </a:xfrm>
          <a:prstGeom prst="rect">
            <a:avLst/>
          </a:prstGeom>
        </p:spPr>
      </p:pic>
      <p:pic>
        <p:nvPicPr>
          <p:cNvPr id="14" name="Picture 13">
            <a:extLst>
              <a:ext uri="{FF2B5EF4-FFF2-40B4-BE49-F238E27FC236}">
                <a16:creationId xmlns:a16="http://schemas.microsoft.com/office/drawing/2014/main" xmlns="" id="{3C7E050F-D47F-4E7E-BB04-F776A05FEAED}"/>
              </a:ext>
            </a:extLst>
          </p:cNvPr>
          <p:cNvPicPr>
            <a:picLocks noChangeAspect="1"/>
          </p:cNvPicPr>
          <p:nvPr/>
        </p:nvPicPr>
        <p:blipFill>
          <a:blip r:embed="rId6"/>
          <a:stretch>
            <a:fillRect/>
          </a:stretch>
        </p:blipFill>
        <p:spPr>
          <a:xfrm>
            <a:off x="3756338" y="5204201"/>
            <a:ext cx="1569515" cy="1333498"/>
          </a:xfrm>
          <a:prstGeom prst="rect">
            <a:avLst/>
          </a:prstGeom>
        </p:spPr>
      </p:pic>
      <p:sp>
        <p:nvSpPr>
          <p:cNvPr id="15" name="Rectangle 14">
            <a:extLst>
              <a:ext uri="{FF2B5EF4-FFF2-40B4-BE49-F238E27FC236}">
                <a16:creationId xmlns:a16="http://schemas.microsoft.com/office/drawing/2014/main" xmlns="" id="{66864D69-A836-49C0-8E76-3560BE5F7080}"/>
              </a:ext>
            </a:extLst>
          </p:cNvPr>
          <p:cNvSpPr/>
          <p:nvPr/>
        </p:nvSpPr>
        <p:spPr>
          <a:xfrm>
            <a:off x="194055" y="2017030"/>
            <a:ext cx="8784976" cy="4453822"/>
          </a:xfrm>
          <a:prstGeom prst="rect">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cxnSp>
        <p:nvCxnSpPr>
          <p:cNvPr id="17" name="Straight Connector 16">
            <a:extLst>
              <a:ext uri="{FF2B5EF4-FFF2-40B4-BE49-F238E27FC236}">
                <a16:creationId xmlns:a16="http://schemas.microsoft.com/office/drawing/2014/main" xmlns="" id="{93828AB6-361A-448A-AC19-209B0520D1D0}"/>
              </a:ext>
            </a:extLst>
          </p:cNvPr>
          <p:cNvCxnSpPr>
            <a:cxnSpLocks/>
          </p:cNvCxnSpPr>
          <p:nvPr/>
        </p:nvCxnSpPr>
        <p:spPr>
          <a:xfrm flipH="1">
            <a:off x="3451978" y="1986445"/>
            <a:ext cx="4434" cy="2447884"/>
          </a:xfrm>
          <a:prstGeom prst="line">
            <a:avLst/>
          </a:prstGeom>
          <a:ln w="6350">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xmlns="" id="{DD88AD53-A4E9-4F8D-A16C-B717BAC444AE}"/>
              </a:ext>
            </a:extLst>
          </p:cNvPr>
          <p:cNvCxnSpPr>
            <a:cxnSpLocks/>
          </p:cNvCxnSpPr>
          <p:nvPr/>
        </p:nvCxnSpPr>
        <p:spPr>
          <a:xfrm flipH="1">
            <a:off x="5611854" y="3068960"/>
            <a:ext cx="967" cy="3358266"/>
          </a:xfrm>
          <a:prstGeom prst="line">
            <a:avLst/>
          </a:prstGeom>
          <a:ln w="6350">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xmlns="" id="{E9ABB90E-B22C-4EB1-8DA8-682F5C8C0C04}"/>
              </a:ext>
            </a:extLst>
          </p:cNvPr>
          <p:cNvCxnSpPr>
            <a:cxnSpLocks/>
          </p:cNvCxnSpPr>
          <p:nvPr/>
        </p:nvCxnSpPr>
        <p:spPr>
          <a:xfrm>
            <a:off x="3456412" y="4434329"/>
            <a:ext cx="2169378" cy="0"/>
          </a:xfrm>
          <a:prstGeom prst="line">
            <a:avLst/>
          </a:prstGeom>
          <a:ln w="3175">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sp>
        <p:nvSpPr>
          <p:cNvPr id="21" name="TextBox 20">
            <a:extLst>
              <a:ext uri="{FF2B5EF4-FFF2-40B4-BE49-F238E27FC236}">
                <a16:creationId xmlns:a16="http://schemas.microsoft.com/office/drawing/2014/main" xmlns="" id="{EA100E7F-BDB2-4710-9194-36299E9B960D}"/>
              </a:ext>
            </a:extLst>
          </p:cNvPr>
          <p:cNvSpPr txBox="1"/>
          <p:nvPr/>
        </p:nvSpPr>
        <p:spPr>
          <a:xfrm>
            <a:off x="174824" y="2020362"/>
            <a:ext cx="3229314" cy="4247317"/>
          </a:xfrm>
          <a:prstGeom prst="rect">
            <a:avLst/>
          </a:prstGeom>
          <a:noFill/>
        </p:spPr>
        <p:txBody>
          <a:bodyPr wrap="square" rtlCol="0">
            <a:spAutoFit/>
          </a:bodyPr>
          <a:lstStyle/>
          <a:p>
            <a:pPr algn="ctr"/>
            <a:r>
              <a:rPr lang="en-GB" dirty="0"/>
              <a:t>Dot and cross with outer shells as circles:</a:t>
            </a:r>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pPr algn="ctr"/>
            <a:endParaRPr lang="en-GB" dirty="0"/>
          </a:p>
          <a:p>
            <a:r>
              <a:rPr lang="en-GB" b="1" dirty="0">
                <a:solidFill>
                  <a:schemeClr val="accent6">
                    <a:lumMod val="75000"/>
                  </a:schemeClr>
                </a:solidFill>
              </a:rPr>
              <a:t>+ Show which atom the  </a:t>
            </a:r>
          </a:p>
          <a:p>
            <a:r>
              <a:rPr lang="en-GB" b="1" dirty="0">
                <a:solidFill>
                  <a:schemeClr val="accent6">
                    <a:lumMod val="75000"/>
                  </a:schemeClr>
                </a:solidFill>
              </a:rPr>
              <a:t>   electrons in the bonds come </a:t>
            </a:r>
          </a:p>
          <a:p>
            <a:r>
              <a:rPr lang="en-GB" b="1" dirty="0">
                <a:solidFill>
                  <a:schemeClr val="accent6">
                    <a:lumMod val="75000"/>
                  </a:schemeClr>
                </a:solidFill>
              </a:rPr>
              <a:t>   from</a:t>
            </a:r>
          </a:p>
          <a:p>
            <a:r>
              <a:rPr lang="en-GB" b="1" dirty="0">
                <a:solidFill>
                  <a:schemeClr val="accent6">
                    <a:lumMod val="75000"/>
                  </a:schemeClr>
                </a:solidFill>
              </a:rPr>
              <a:t>- All electrons are identical</a:t>
            </a:r>
          </a:p>
        </p:txBody>
      </p:sp>
      <p:sp>
        <p:nvSpPr>
          <p:cNvPr id="18" name="TextBox 17">
            <a:extLst>
              <a:ext uri="{FF2B5EF4-FFF2-40B4-BE49-F238E27FC236}">
                <a16:creationId xmlns:a16="http://schemas.microsoft.com/office/drawing/2014/main" xmlns="" id="{B2616FFA-2850-4B42-B184-4CE8EB71ACA9}"/>
              </a:ext>
            </a:extLst>
          </p:cNvPr>
          <p:cNvSpPr txBox="1"/>
          <p:nvPr/>
        </p:nvSpPr>
        <p:spPr>
          <a:xfrm>
            <a:off x="3319841" y="4691482"/>
            <a:ext cx="2416189" cy="646331"/>
          </a:xfrm>
          <a:prstGeom prst="rect">
            <a:avLst/>
          </a:prstGeom>
          <a:noFill/>
        </p:spPr>
        <p:txBody>
          <a:bodyPr wrap="square" rtlCol="0">
            <a:spAutoFit/>
          </a:bodyPr>
          <a:lstStyle/>
          <a:p>
            <a:pPr algn="ctr"/>
            <a:r>
              <a:rPr lang="en-GB" dirty="0"/>
              <a:t>Dot and cross with outer shells electrons:</a:t>
            </a:r>
          </a:p>
        </p:txBody>
      </p:sp>
      <p:sp>
        <p:nvSpPr>
          <p:cNvPr id="22" name="TextBox 21">
            <a:extLst>
              <a:ext uri="{FF2B5EF4-FFF2-40B4-BE49-F238E27FC236}">
                <a16:creationId xmlns:a16="http://schemas.microsoft.com/office/drawing/2014/main" xmlns="" id="{F132EFF3-B120-4957-A79C-CAA962CDB3AD}"/>
              </a:ext>
            </a:extLst>
          </p:cNvPr>
          <p:cNvSpPr txBox="1"/>
          <p:nvPr/>
        </p:nvSpPr>
        <p:spPr>
          <a:xfrm>
            <a:off x="3474355" y="2033403"/>
            <a:ext cx="2165372" cy="2031325"/>
          </a:xfrm>
          <a:prstGeom prst="rect">
            <a:avLst/>
          </a:prstGeom>
          <a:noFill/>
        </p:spPr>
        <p:txBody>
          <a:bodyPr wrap="square" rtlCol="0">
            <a:spAutoFit/>
          </a:bodyPr>
          <a:lstStyle/>
          <a:p>
            <a:pPr algn="ctr"/>
            <a:r>
              <a:rPr lang="en-GB" dirty="0"/>
              <a:t>2D with bonds:</a:t>
            </a:r>
          </a:p>
          <a:p>
            <a:pPr algn="ctr"/>
            <a:endParaRPr lang="en-GB" dirty="0"/>
          </a:p>
          <a:p>
            <a:pPr algn="ctr"/>
            <a:endParaRPr lang="en-GB" dirty="0"/>
          </a:p>
          <a:p>
            <a:pPr algn="ctr"/>
            <a:endParaRPr lang="en-GB" dirty="0"/>
          </a:p>
          <a:p>
            <a:pPr algn="ctr"/>
            <a:endParaRPr lang="en-GB" dirty="0"/>
          </a:p>
          <a:p>
            <a:pPr algn="ctr"/>
            <a:r>
              <a:rPr lang="en-GB" b="1" dirty="0">
                <a:solidFill>
                  <a:schemeClr val="accent6">
                    <a:lumMod val="75000"/>
                  </a:schemeClr>
                </a:solidFill>
              </a:rPr>
              <a:t>+ Show which atoms are bonded together</a:t>
            </a:r>
          </a:p>
        </p:txBody>
      </p:sp>
      <p:cxnSp>
        <p:nvCxnSpPr>
          <p:cNvPr id="25" name="Straight Arrow Connector 24">
            <a:extLst>
              <a:ext uri="{FF2B5EF4-FFF2-40B4-BE49-F238E27FC236}">
                <a16:creationId xmlns:a16="http://schemas.microsoft.com/office/drawing/2014/main" xmlns="" id="{46C21594-AE4F-4F70-AEB8-90209928E854}"/>
              </a:ext>
            </a:extLst>
          </p:cNvPr>
          <p:cNvCxnSpPr>
            <a:cxnSpLocks/>
          </p:cNvCxnSpPr>
          <p:nvPr/>
        </p:nvCxnSpPr>
        <p:spPr>
          <a:xfrm flipV="1">
            <a:off x="467544" y="3845992"/>
            <a:ext cx="0" cy="1134403"/>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xmlns="" id="{C4E704B3-9133-4033-9675-2C994296EF36}"/>
              </a:ext>
            </a:extLst>
          </p:cNvPr>
          <p:cNvCxnSpPr/>
          <p:nvPr/>
        </p:nvCxnSpPr>
        <p:spPr>
          <a:xfrm>
            <a:off x="2987824" y="6093296"/>
            <a:ext cx="1080120" cy="0"/>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xmlns="" id="{7C3B5DF6-5404-495C-A006-7CC90A6BA701}"/>
              </a:ext>
            </a:extLst>
          </p:cNvPr>
          <p:cNvCxnSpPr>
            <a:cxnSpLocks/>
          </p:cNvCxnSpPr>
          <p:nvPr/>
        </p:nvCxnSpPr>
        <p:spPr>
          <a:xfrm>
            <a:off x="5611854" y="3068960"/>
            <a:ext cx="3352634" cy="0"/>
          </a:xfrm>
          <a:prstGeom prst="line">
            <a:avLst/>
          </a:prstGeom>
          <a:ln w="3175">
            <a:solidFill>
              <a:schemeClr val="accent6">
                <a:lumMod val="50000"/>
              </a:schemeClr>
            </a:solidFill>
          </a:ln>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xmlns="" id="{AECFC71B-8208-48D4-8886-03F186CD26A4}"/>
              </a:ext>
            </a:extLst>
          </p:cNvPr>
          <p:cNvSpPr txBox="1"/>
          <p:nvPr/>
        </p:nvSpPr>
        <p:spPr>
          <a:xfrm>
            <a:off x="5611855" y="2166479"/>
            <a:ext cx="3370576" cy="646331"/>
          </a:xfrm>
          <a:prstGeom prst="rect">
            <a:avLst/>
          </a:prstGeom>
          <a:noFill/>
        </p:spPr>
        <p:txBody>
          <a:bodyPr wrap="square" rtlCol="0">
            <a:spAutoFit/>
          </a:bodyPr>
          <a:lstStyle/>
          <a:p>
            <a:r>
              <a:rPr lang="en-GB" b="1" dirty="0">
                <a:solidFill>
                  <a:schemeClr val="accent6">
                    <a:lumMod val="75000"/>
                  </a:schemeClr>
                </a:solidFill>
              </a:rPr>
              <a:t>- It shows the </a:t>
            </a:r>
            <a:r>
              <a:rPr lang="en-GB" b="1" dirty="0" smtClean="0">
                <a:solidFill>
                  <a:schemeClr val="accent6">
                    <a:lumMod val="75000"/>
                  </a:schemeClr>
                </a:solidFill>
              </a:rPr>
              <a:t>H-N-H </a:t>
            </a:r>
            <a:r>
              <a:rPr lang="en-GB" b="1" dirty="0">
                <a:solidFill>
                  <a:schemeClr val="accent6">
                    <a:lumMod val="75000"/>
                  </a:schemeClr>
                </a:solidFill>
              </a:rPr>
              <a:t>bond </a:t>
            </a:r>
          </a:p>
          <a:p>
            <a:r>
              <a:rPr lang="en-GB" b="1" dirty="0">
                <a:solidFill>
                  <a:schemeClr val="accent6">
                    <a:lumMod val="75000"/>
                  </a:schemeClr>
                </a:solidFill>
              </a:rPr>
              <a:t>  incorrectly at 90°</a:t>
            </a:r>
          </a:p>
        </p:txBody>
      </p:sp>
      <p:pic>
        <p:nvPicPr>
          <p:cNvPr id="5" name="Picture 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158189" y="3407191"/>
            <a:ext cx="2432704" cy="1877605"/>
          </a:xfrm>
          <a:prstGeom prst="rect">
            <a:avLst/>
          </a:prstGeom>
        </p:spPr>
      </p:pic>
    </p:spTree>
    <p:extLst>
      <p:ext uri="{BB962C8B-B14F-4D97-AF65-F5344CB8AC3E}">
        <p14:creationId xmlns:p14="http://schemas.microsoft.com/office/powerpoint/2010/main" val="215166414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xmlns="" id="{0E06C345-6673-4022-BC9A-437A82A1D4DF}"/>
              </a:ext>
            </a:extLst>
          </p:cNvPr>
          <p:cNvSpPr txBox="1">
            <a:spLocks/>
          </p:cNvSpPr>
          <p:nvPr/>
        </p:nvSpPr>
        <p:spPr>
          <a:xfrm>
            <a:off x="251519" y="2348879"/>
            <a:ext cx="8640960" cy="3888057"/>
          </a:xfrm>
          <a:prstGeom prst="rect">
            <a:avLst/>
          </a:prstGeom>
          <a:noFill/>
          <a:ln>
            <a:solidFill>
              <a:schemeClr val="accent6">
                <a:lumMod val="75000"/>
              </a:schemeClr>
            </a:solidFill>
          </a:ln>
          <a:effectLst/>
        </p:spPr>
        <p:style>
          <a:lnRef idx="1">
            <a:schemeClr val="accent5"/>
          </a:lnRef>
          <a:fillRef idx="2">
            <a:schemeClr val="accent5"/>
          </a:fillRef>
          <a:effectRef idx="1">
            <a:schemeClr val="accent5"/>
          </a:effectRef>
          <a:fontRef idx="minor">
            <a:schemeClr val="dk1"/>
          </a:fontRef>
        </p:style>
        <p:txBody>
          <a:bodyPr vert="horz" lIns="91440" tIns="45720" rIns="91440" bIns="45720" rtlCol="0">
            <a:normAutofit/>
          </a:bodyPr>
          <a:lstStyle>
            <a:lvl1pPr marL="0" indent="0" algn="ctr" defTabSz="342900" rtl="0" eaLnBrk="1" latinLnBrk="0" hangingPunct="1">
              <a:spcBef>
                <a:spcPct val="20000"/>
              </a:spcBef>
              <a:buFont typeface="Arial"/>
              <a:buNone/>
              <a:defRPr sz="2400" kern="1200">
                <a:solidFill>
                  <a:schemeClr val="tx1">
                    <a:tint val="75000"/>
                  </a:schemeClr>
                </a:solidFill>
                <a:latin typeface="News Gothic MT"/>
                <a:ea typeface="+mn-ea"/>
                <a:cs typeface="News Gothic MT"/>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mn-cs"/>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r>
              <a:rPr lang="en-GB" sz="2000" dirty="0" smtClean="0">
                <a:solidFill>
                  <a:schemeClr val="tx1"/>
                </a:solidFill>
                <a:latin typeface="+mn-lt"/>
                <a:cs typeface="Calibri Light" panose="020F0302020204030204" pitchFamily="34" charset="0"/>
              </a:rPr>
              <a:t>The electrons in the </a:t>
            </a:r>
            <a:r>
              <a:rPr lang="en-GB" sz="2000" b="1" dirty="0" smtClean="0">
                <a:solidFill>
                  <a:schemeClr val="accent6">
                    <a:lumMod val="75000"/>
                  </a:schemeClr>
                </a:solidFill>
                <a:latin typeface="+mn-lt"/>
                <a:cs typeface="Calibri Light" panose="020F0302020204030204" pitchFamily="34" charset="0"/>
              </a:rPr>
              <a:t>outer shell</a:t>
            </a:r>
            <a:r>
              <a:rPr lang="en-GB" sz="2000" dirty="0" smtClean="0">
                <a:solidFill>
                  <a:schemeClr val="tx1"/>
                </a:solidFill>
                <a:latin typeface="+mn-lt"/>
                <a:cs typeface="Calibri Light" panose="020F0302020204030204" pitchFamily="34" charset="0"/>
              </a:rPr>
              <a:t> of metal atoms are </a:t>
            </a:r>
            <a:r>
              <a:rPr lang="en-GB" sz="2000" b="1" dirty="0" smtClean="0">
                <a:solidFill>
                  <a:schemeClr val="accent6">
                    <a:lumMod val="75000"/>
                  </a:schemeClr>
                </a:solidFill>
                <a:latin typeface="+mn-lt"/>
                <a:cs typeface="Calibri Light" panose="020F0302020204030204" pitchFamily="34" charset="0"/>
              </a:rPr>
              <a:t>delocalised</a:t>
            </a:r>
            <a:r>
              <a:rPr lang="en-GB" sz="2000" dirty="0" smtClean="0">
                <a:solidFill>
                  <a:schemeClr val="tx1"/>
                </a:solidFill>
                <a:latin typeface="+mn-lt"/>
                <a:cs typeface="Calibri Light" panose="020F0302020204030204" pitchFamily="34" charset="0"/>
              </a:rPr>
              <a:t> and are </a:t>
            </a:r>
            <a:r>
              <a:rPr lang="en-GB" sz="2000" b="1" dirty="0" smtClean="0">
                <a:solidFill>
                  <a:schemeClr val="accent6">
                    <a:lumMod val="75000"/>
                  </a:schemeClr>
                </a:solidFill>
                <a:latin typeface="+mn-lt"/>
                <a:cs typeface="Calibri Light" panose="020F0302020204030204" pitchFamily="34" charset="0"/>
              </a:rPr>
              <a:t>free to move </a:t>
            </a:r>
            <a:r>
              <a:rPr lang="en-GB" sz="2000" dirty="0" smtClean="0">
                <a:solidFill>
                  <a:schemeClr val="tx1"/>
                </a:solidFill>
                <a:latin typeface="+mn-lt"/>
                <a:cs typeface="Calibri Light" panose="020F0302020204030204" pitchFamily="34" charset="0"/>
              </a:rPr>
              <a:t>throughout the structure. </a:t>
            </a:r>
          </a:p>
          <a:p>
            <a:r>
              <a:rPr lang="en-GB" sz="2000" dirty="0" smtClean="0">
                <a:solidFill>
                  <a:schemeClr val="tx1"/>
                </a:solidFill>
                <a:latin typeface="+mn-lt"/>
                <a:cs typeface="Calibri Light" panose="020F0302020204030204" pitchFamily="34" charset="0"/>
              </a:rPr>
              <a:t>The sharing of delocalised electrons leads to </a:t>
            </a:r>
            <a:r>
              <a:rPr lang="en-GB" sz="2000" b="1" dirty="0" smtClean="0">
                <a:solidFill>
                  <a:schemeClr val="accent6">
                    <a:lumMod val="75000"/>
                  </a:schemeClr>
                </a:solidFill>
                <a:latin typeface="+mn-lt"/>
                <a:cs typeface="Calibri Light" panose="020F0302020204030204" pitchFamily="34" charset="0"/>
              </a:rPr>
              <a:t>strong metallic bonds</a:t>
            </a:r>
            <a:r>
              <a:rPr lang="en-GB" sz="2000" dirty="0" smtClean="0">
                <a:solidFill>
                  <a:schemeClr val="tx1"/>
                </a:solidFill>
                <a:latin typeface="+mn-lt"/>
                <a:cs typeface="Calibri Light" panose="020F0302020204030204" pitchFamily="34" charset="0"/>
              </a:rPr>
              <a:t>.</a:t>
            </a:r>
          </a:p>
          <a:p>
            <a:r>
              <a:rPr lang="en-GB" sz="2000" dirty="0" smtClean="0">
                <a:solidFill>
                  <a:schemeClr val="tx1"/>
                </a:solidFill>
                <a:latin typeface="+mn-lt"/>
                <a:cs typeface="Calibri Light" panose="020F0302020204030204" pitchFamily="34" charset="0"/>
              </a:rPr>
              <a:t>Metallic bonding can be represented in the following form:</a:t>
            </a:r>
            <a:endParaRPr lang="en-GB" sz="2000" dirty="0">
              <a:solidFill>
                <a:schemeClr val="tx1"/>
              </a:solidFill>
              <a:latin typeface="+mn-lt"/>
              <a:cs typeface="Calibri Light" panose="020F0302020204030204" pitchFamily="34" charset="0"/>
            </a:endParaRPr>
          </a:p>
          <a:p>
            <a:endParaRPr lang="en-GB" sz="1800" dirty="0">
              <a:solidFill>
                <a:schemeClr val="tx1"/>
              </a:solidFill>
            </a:endParaRPr>
          </a:p>
          <a:p>
            <a:endParaRPr lang="en-GB" sz="1800" dirty="0">
              <a:solidFill>
                <a:schemeClr val="tx1"/>
              </a:solidFill>
            </a:endParaRPr>
          </a:p>
          <a:p>
            <a:endParaRPr lang="en-GB" sz="1800" dirty="0"/>
          </a:p>
          <a:p>
            <a:pPr>
              <a:buFont typeface="Wingdings" pitchFamily="2" charset="2"/>
              <a:buChar char="ü"/>
            </a:pPr>
            <a:endParaRPr lang="en-GB" sz="1800" dirty="0"/>
          </a:p>
          <a:p>
            <a:endParaRPr lang="en-GB" sz="1800" dirty="0"/>
          </a:p>
        </p:txBody>
      </p:sp>
      <p:sp>
        <p:nvSpPr>
          <p:cNvPr id="10" name="Rectangle 9">
            <a:extLst>
              <a:ext uri="{FF2B5EF4-FFF2-40B4-BE49-F238E27FC236}">
                <a16:creationId xmlns:a16="http://schemas.microsoft.com/office/drawing/2014/main" xmlns="" id="{90F99D39-86FA-4471-ADB9-62991A784818}"/>
              </a:ext>
            </a:extLst>
          </p:cNvPr>
          <p:cNvSpPr/>
          <p:nvPr/>
        </p:nvSpPr>
        <p:spPr>
          <a:xfrm>
            <a:off x="251519" y="1015748"/>
            <a:ext cx="6624735" cy="707886"/>
          </a:xfrm>
          <a:prstGeom prst="rect">
            <a:avLst/>
          </a:prstGeom>
          <a:ln w="3175">
            <a:solidFill>
              <a:schemeClr val="bg1"/>
            </a:solidFill>
          </a:ln>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GB" sz="2000" dirty="0"/>
              <a:t>The atoms in metals are built up </a:t>
            </a:r>
            <a:r>
              <a:rPr lang="en-GB" sz="2000" b="1" dirty="0"/>
              <a:t>layer upon layer </a:t>
            </a:r>
            <a:r>
              <a:rPr lang="en-GB" sz="2000" dirty="0"/>
              <a:t>in a </a:t>
            </a:r>
            <a:r>
              <a:rPr lang="en-GB" sz="2000" b="1" dirty="0"/>
              <a:t>regular</a:t>
            </a:r>
            <a:r>
              <a:rPr lang="en-GB" sz="2000" dirty="0"/>
              <a:t> pattern. They are another example of a </a:t>
            </a:r>
            <a:r>
              <a:rPr lang="en-GB" sz="2000" b="1" dirty="0"/>
              <a:t>giant structure</a:t>
            </a:r>
            <a:r>
              <a:rPr lang="en-GB" sz="2000" dirty="0"/>
              <a:t>.</a:t>
            </a:r>
          </a:p>
        </p:txBody>
      </p:sp>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Metallic bonding</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5">
            <a:extLst>
              <a:ext uri="{FF2B5EF4-FFF2-40B4-BE49-F238E27FC236}">
                <a16:creationId xmlns:a16="http://schemas.microsoft.com/office/drawing/2014/main" xmlns="" id="{C2757D77-7BE6-453D-B2F9-1E6A6B4BBF69}"/>
              </a:ext>
            </a:extLst>
          </p:cNvPr>
          <p:cNvPicPr>
            <a:picLocks noChangeAspect="1" noChangeArrowheads="1"/>
          </p:cNvPicPr>
          <p:nvPr/>
        </p:nvPicPr>
        <p:blipFill>
          <a:blip r:embed="rId3" cstate="print">
            <a:duotone>
              <a:schemeClr val="accent6">
                <a:shade val="45000"/>
                <a:satMod val="135000"/>
              </a:schemeClr>
              <a:prstClr val="white"/>
            </a:duotone>
          </a:blip>
          <a:srcRect/>
          <a:stretch>
            <a:fillRect/>
          </a:stretch>
        </p:blipFill>
        <p:spPr bwMode="auto">
          <a:xfrm>
            <a:off x="6876255" y="804922"/>
            <a:ext cx="1800200" cy="1075982"/>
          </a:xfrm>
          <a:prstGeom prst="rect">
            <a:avLst/>
          </a:prstGeom>
          <a:noFill/>
          <a:ln w="9525">
            <a:noFill/>
            <a:miter lim="800000"/>
            <a:headEnd/>
            <a:tailEnd/>
          </a:ln>
        </p:spPr>
      </p:pic>
      <p:sp>
        <p:nvSpPr>
          <p:cNvPr id="3" name="Rectangle 2">
            <a:extLst>
              <a:ext uri="{FF2B5EF4-FFF2-40B4-BE49-F238E27FC236}">
                <a16:creationId xmlns:a16="http://schemas.microsoft.com/office/drawing/2014/main" xmlns="" id="{750EB6EF-3C75-4207-8512-44E990F8B9A7}"/>
              </a:ext>
            </a:extLst>
          </p:cNvPr>
          <p:cNvSpPr/>
          <p:nvPr/>
        </p:nvSpPr>
        <p:spPr>
          <a:xfrm>
            <a:off x="251520" y="821081"/>
            <a:ext cx="8640960" cy="1075982"/>
          </a:xfrm>
          <a:prstGeom prst="rect">
            <a:avLst/>
          </a:prstGeom>
          <a:noFill/>
          <a:ln>
            <a:solidFill>
              <a:schemeClr val="accent6">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pic>
        <p:nvPicPr>
          <p:cNvPr id="8" name="Picture 7"/>
          <p:cNvPicPr>
            <a:picLocks noChangeAspect="1"/>
          </p:cNvPicPr>
          <p:nvPr/>
        </p:nvPicPr>
        <p:blipFill>
          <a:blip r:embed="rId4">
            <a:duotone>
              <a:schemeClr val="accent6">
                <a:shade val="45000"/>
                <a:satMod val="135000"/>
              </a:schemeClr>
              <a:prstClr val="white"/>
            </a:duotone>
          </a:blip>
          <a:stretch>
            <a:fillRect/>
          </a:stretch>
        </p:blipFill>
        <p:spPr>
          <a:xfrm>
            <a:off x="2535360" y="3961130"/>
            <a:ext cx="4073277" cy="1993581"/>
          </a:xfrm>
          <a:prstGeom prst="rect">
            <a:avLst/>
          </a:prstGeom>
        </p:spPr>
      </p:pic>
    </p:spTree>
    <p:extLst>
      <p:ext uri="{BB962C8B-B14F-4D97-AF65-F5344CB8AC3E}">
        <p14:creationId xmlns:p14="http://schemas.microsoft.com/office/powerpoint/2010/main" val="113685416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708981"/>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Bonding</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800" b="1" dirty="0">
                <a:solidFill>
                  <a:schemeClr val="bg1">
                    <a:lumMod val="50000"/>
                  </a:schemeClr>
                </a:solidFill>
              </a:rPr>
              <a:t>Covalent bonding</a:t>
            </a:r>
          </a:p>
          <a:p>
            <a:pPr marL="685800" lvl="1" indent="-342900">
              <a:buFont typeface="Arial" charset="0"/>
              <a:buChar char="•"/>
            </a:pPr>
            <a:r>
              <a:rPr lang="en-US" sz="2800" b="1" dirty="0">
                <a:solidFill>
                  <a:schemeClr val="bg1">
                    <a:lumMod val="50000"/>
                  </a:schemeClr>
                </a:solidFill>
              </a:rPr>
              <a:t>Metallic bonding</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37236300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Bonding –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32311"/>
          </a:xfrm>
          <a:prstGeom prst="rect">
            <a:avLst/>
          </a:prstGeom>
          <a:noFill/>
        </p:spPr>
        <p:txBody>
          <a:bodyPr wrap="square" rtlCol="0">
            <a:spAutoFit/>
          </a:bodyPr>
          <a:lstStyle/>
          <a:p>
            <a:pPr marL="457200" indent="-457200">
              <a:buFont typeface="+mj-lt"/>
              <a:buAutoNum type="arabicPeriod"/>
            </a:pPr>
            <a:r>
              <a:rPr lang="en-GB" sz="2400" dirty="0" smtClean="0"/>
              <a:t>How are strong covalent bonds formed?</a:t>
            </a:r>
          </a:p>
          <a:p>
            <a:pPr marL="457200" indent="-457200">
              <a:buFont typeface="+mj-lt"/>
              <a:buAutoNum type="arabicPeriod"/>
            </a:pPr>
            <a:endParaRPr lang="en-GB" sz="2400" dirty="0" smtClean="0"/>
          </a:p>
          <a:p>
            <a:pPr marL="457200" indent="-457200">
              <a:buFont typeface="+mj-lt"/>
              <a:buAutoNum type="arabicPeriod"/>
            </a:pPr>
            <a:r>
              <a:rPr lang="en-GB" sz="2400" dirty="0" smtClean="0"/>
              <a:t>What are the three types of structure that can be formed by covalent bonding?</a:t>
            </a:r>
          </a:p>
          <a:p>
            <a:pPr marL="457200" indent="-457200">
              <a:buFont typeface="+mj-lt"/>
              <a:buAutoNum type="arabicPeriod"/>
            </a:pPr>
            <a:endParaRPr lang="en-GB" sz="2400" dirty="0" smtClean="0"/>
          </a:p>
          <a:p>
            <a:pPr marL="457200" indent="-457200">
              <a:buFont typeface="+mj-lt"/>
              <a:buAutoNum type="arabicPeriod"/>
            </a:pPr>
            <a:r>
              <a:rPr lang="en-GB" sz="2400" dirty="0" smtClean="0"/>
              <a:t>What are polymers an example of?</a:t>
            </a:r>
          </a:p>
          <a:p>
            <a:pPr marL="457200" indent="-457200">
              <a:buFont typeface="+mj-lt"/>
              <a:buAutoNum type="arabicPeriod"/>
            </a:pPr>
            <a:endParaRPr lang="en-GB" sz="2400" dirty="0" smtClean="0"/>
          </a:p>
          <a:p>
            <a:pPr marL="457200" indent="-457200">
              <a:buFont typeface="+mj-lt"/>
              <a:buAutoNum type="arabicPeriod"/>
            </a:pPr>
            <a:r>
              <a:rPr lang="en-GB" sz="2400" dirty="0" smtClean="0"/>
              <a:t>What type of structure do the following covalently bonded substances have?</a:t>
            </a:r>
          </a:p>
          <a:p>
            <a:pPr marL="914400" lvl="1" indent="-457200">
              <a:buFont typeface="+mj-lt"/>
              <a:buAutoNum type="alphaLcParenR"/>
            </a:pPr>
            <a:r>
              <a:rPr lang="en-GB" sz="2400" dirty="0" smtClean="0"/>
              <a:t>Water H</a:t>
            </a:r>
            <a:r>
              <a:rPr lang="en-GB" sz="2400" baseline="-25000" dirty="0" smtClean="0"/>
              <a:t>2</a:t>
            </a:r>
            <a:r>
              <a:rPr lang="en-GB" sz="2400" dirty="0" smtClean="0"/>
              <a:t>O</a:t>
            </a:r>
          </a:p>
          <a:p>
            <a:pPr marL="914400" lvl="1" indent="-457200">
              <a:buFont typeface="+mj-lt"/>
              <a:buAutoNum type="alphaLcParenR"/>
            </a:pPr>
            <a:r>
              <a:rPr lang="en-GB" sz="2400" dirty="0" smtClean="0"/>
              <a:t>Silicon dioxide SO</a:t>
            </a:r>
            <a:r>
              <a:rPr lang="en-GB" sz="2400" baseline="-25000" dirty="0" smtClean="0"/>
              <a:t>2</a:t>
            </a:r>
          </a:p>
          <a:p>
            <a:pPr marL="914400" lvl="1" indent="-457200">
              <a:buFont typeface="+mj-lt"/>
              <a:buAutoNum type="alphaLcParenR"/>
            </a:pPr>
            <a:r>
              <a:rPr lang="en-GB" sz="2400" dirty="0" smtClean="0"/>
              <a:t>Diamond C</a:t>
            </a:r>
          </a:p>
          <a:p>
            <a:pPr marL="914400" lvl="1" indent="-457200">
              <a:buFont typeface="+mj-lt"/>
              <a:buAutoNum type="alphaLcParenR"/>
            </a:pPr>
            <a:r>
              <a:rPr lang="en-GB" sz="2400" dirty="0" smtClean="0"/>
              <a:t>Poly(</a:t>
            </a:r>
            <a:r>
              <a:rPr lang="en-GB" sz="2400" dirty="0" err="1" smtClean="0"/>
              <a:t>ethene</a:t>
            </a:r>
            <a:r>
              <a:rPr lang="en-GB" sz="2400" dirty="0" smtClean="0"/>
              <a:t>)</a:t>
            </a:r>
          </a:p>
          <a:p>
            <a:pPr marL="457200" indent="-457200">
              <a:buFont typeface="+mj-lt"/>
              <a:buAutoNum type="arabicPeriod"/>
            </a:pPr>
            <a:endParaRPr lang="en-GB" sz="2400" dirty="0" smtClean="0"/>
          </a:p>
          <a:p>
            <a:pPr marL="457200" indent="-457200">
              <a:buFont typeface="+mj-lt"/>
              <a:buAutoNum type="arabicPeriod"/>
            </a:pPr>
            <a:endParaRPr lang="en-GB" sz="2400" dirty="0"/>
          </a:p>
        </p:txBody>
      </p:sp>
      <p:pic>
        <p:nvPicPr>
          <p:cNvPr id="5" name="Picture 4"/>
          <p:cNvPicPr>
            <a:picLocks noChangeAspect="1"/>
          </p:cNvPicPr>
          <p:nvPr/>
        </p:nvPicPr>
        <p:blipFill>
          <a:blip r:embed="rId2"/>
          <a:stretch>
            <a:fillRect/>
          </a:stretch>
        </p:blipFill>
        <p:spPr>
          <a:xfrm>
            <a:off x="2915816" y="5157192"/>
            <a:ext cx="942628" cy="1104073"/>
          </a:xfrm>
          <a:prstGeom prst="rect">
            <a:avLst/>
          </a:prstGeom>
        </p:spPr>
      </p:pic>
    </p:spTree>
    <p:extLst>
      <p:ext uri="{BB962C8B-B14F-4D97-AF65-F5344CB8AC3E}">
        <p14:creationId xmlns:p14="http://schemas.microsoft.com/office/powerpoint/2010/main" val="413426065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Bonding –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785652"/>
          </a:xfrm>
          <a:prstGeom prst="rect">
            <a:avLst/>
          </a:prstGeom>
          <a:noFill/>
        </p:spPr>
        <p:txBody>
          <a:bodyPr wrap="square" rtlCol="0">
            <a:spAutoFit/>
          </a:bodyPr>
          <a:lstStyle/>
          <a:p>
            <a:endParaRPr lang="en-GB" sz="2400" dirty="0"/>
          </a:p>
          <a:p>
            <a:pPr marL="457200" indent="-457200">
              <a:buFont typeface="+mj-lt"/>
              <a:buAutoNum type="arabicPeriod" startAt="5"/>
            </a:pPr>
            <a:r>
              <a:rPr lang="en-GB" sz="2400" dirty="0" smtClean="0"/>
              <a:t>What are the limitations of using dot and cross diagrams to represent covalent bonds?</a:t>
            </a:r>
          </a:p>
          <a:p>
            <a:pPr marL="457200" indent="-457200">
              <a:buFont typeface="+mj-lt"/>
              <a:buAutoNum type="arabicPeriod" startAt="5"/>
            </a:pPr>
            <a:endParaRPr lang="en-GB" sz="2400" dirty="0" smtClean="0"/>
          </a:p>
          <a:p>
            <a:pPr marL="457200" indent="-457200">
              <a:buFont typeface="+mj-lt"/>
              <a:buAutoNum type="arabicPeriod" startAt="5"/>
            </a:pPr>
            <a:r>
              <a:rPr lang="en-GB" sz="2400" dirty="0" smtClean="0"/>
              <a:t>How are atoms arranged in a metal?</a:t>
            </a:r>
          </a:p>
          <a:p>
            <a:pPr marL="457200" indent="-457200">
              <a:buFont typeface="+mj-lt"/>
              <a:buAutoNum type="arabicPeriod" startAt="5"/>
            </a:pPr>
            <a:endParaRPr lang="en-GB" sz="2400" dirty="0" smtClean="0"/>
          </a:p>
          <a:p>
            <a:pPr marL="457200" indent="-457200">
              <a:buFont typeface="+mj-lt"/>
              <a:buAutoNum type="arabicPeriod" startAt="5"/>
            </a:pPr>
            <a:r>
              <a:rPr lang="en-GB" sz="2400" dirty="0" smtClean="0"/>
              <a:t>Why are metallic bonds so strong?</a:t>
            </a:r>
          </a:p>
          <a:p>
            <a:pPr marL="457200" indent="-457200">
              <a:buFont typeface="+mj-lt"/>
              <a:buAutoNum type="arabicPeriod" startAt="5"/>
            </a:pPr>
            <a:endParaRPr lang="en-GB" sz="2400" dirty="0" smtClean="0"/>
          </a:p>
          <a:p>
            <a:pPr marL="457200" indent="-457200">
              <a:buFont typeface="+mj-lt"/>
              <a:buAutoNum type="arabicPeriod" startAt="5"/>
            </a:pPr>
            <a:r>
              <a:rPr lang="en-GB" sz="2400" dirty="0"/>
              <a:t>What is the formula of the following model?</a:t>
            </a:r>
          </a:p>
          <a:p>
            <a:r>
              <a:rPr lang="en-GB" sz="2400" dirty="0"/>
              <a:t>	</a:t>
            </a:r>
          </a:p>
        </p:txBody>
      </p:sp>
      <p:pic>
        <p:nvPicPr>
          <p:cNvPr id="7" name="Picture 6" descr="Related image">
            <a:extLst>
              <a:ext uri="{FF2B5EF4-FFF2-40B4-BE49-F238E27FC236}">
                <a16:creationId xmlns:a16="http://schemas.microsoft.com/office/drawing/2014/main" xmlns="" id="{69C2EDE8-6281-4DB9-919D-8448A92DDE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4483588"/>
            <a:ext cx="3086100" cy="160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003817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a:solidFill>
                  <a:schemeClr val="accent6"/>
                </a:solidFill>
              </a:rPr>
              <a:t>Covalent bonding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6" y="697936"/>
            <a:ext cx="8994913" cy="4154984"/>
          </a:xfrm>
          <a:prstGeom prst="rect">
            <a:avLst/>
          </a:prstGeom>
          <a:noFill/>
        </p:spPr>
        <p:txBody>
          <a:bodyPr wrap="square" rtlCol="0">
            <a:spAutoFit/>
          </a:bodyPr>
          <a:lstStyle/>
          <a:p>
            <a:endParaRPr lang="en-GB" sz="2400" dirty="0"/>
          </a:p>
          <a:p>
            <a:pPr marL="457200" indent="-457200">
              <a:buFont typeface="+mj-lt"/>
              <a:buAutoNum type="arabicPeriod" startAt="9"/>
            </a:pPr>
            <a:r>
              <a:rPr lang="en-GB" sz="2400" dirty="0"/>
              <a:t>Draw a dot and cross diagram for water. </a:t>
            </a:r>
            <a:endParaRPr lang="en-GB" sz="2400" dirty="0" smtClean="0"/>
          </a:p>
          <a:p>
            <a:pPr marL="457200" indent="-457200">
              <a:buAutoNum type="arabicPeriod" startAt="9"/>
            </a:pPr>
            <a:endParaRPr lang="en-GB" sz="2400" dirty="0" smtClean="0"/>
          </a:p>
          <a:p>
            <a:pPr marL="457200" indent="-457200">
              <a:buAutoNum type="arabicPeriod" startAt="9"/>
            </a:pPr>
            <a:r>
              <a:rPr lang="en-GB" sz="2400" dirty="0" smtClean="0"/>
              <a:t>Describe </a:t>
            </a:r>
            <a:r>
              <a:rPr lang="en-GB" sz="2400" dirty="0"/>
              <a:t>the arrangement of particles in a metal</a:t>
            </a:r>
            <a:r>
              <a:rPr lang="en-GB" sz="2400" dirty="0" smtClean="0"/>
              <a:t>.</a:t>
            </a:r>
          </a:p>
          <a:p>
            <a:pPr marL="457200" indent="-457200">
              <a:buAutoNum type="arabicPeriod" startAt="9"/>
            </a:pPr>
            <a:endParaRPr lang="en-GB" sz="2400" dirty="0"/>
          </a:p>
          <a:p>
            <a:pPr marL="457200" indent="-457200">
              <a:buFont typeface="+mj-lt"/>
              <a:buAutoNum type="arabicPeriod" startAt="11"/>
            </a:pPr>
            <a:r>
              <a:rPr lang="en-GB" sz="2400" dirty="0"/>
              <a:t>Why are the particles that make up a metal described as positively charged</a:t>
            </a:r>
            <a:r>
              <a:rPr lang="en-GB" sz="2400" dirty="0" smtClean="0"/>
              <a:t>?</a:t>
            </a:r>
          </a:p>
          <a:p>
            <a:pPr marL="457200" indent="-457200">
              <a:buAutoNum type="arabicPeriod" startAt="11"/>
            </a:pPr>
            <a:endParaRPr lang="en-GB" sz="2400" dirty="0"/>
          </a:p>
          <a:p>
            <a:pPr marL="457200" indent="-457200">
              <a:buFont typeface="+mj-lt"/>
              <a:buAutoNum type="arabicPeriod" startAt="12"/>
            </a:pPr>
            <a:r>
              <a:rPr lang="en-GB" sz="2400" dirty="0"/>
              <a:t>What are delocalised electrons?</a:t>
            </a:r>
          </a:p>
          <a:p>
            <a:pPr marL="457200" indent="-457200">
              <a:buAutoNum type="arabicPeriod" startAt="2"/>
            </a:pPr>
            <a:endParaRPr lang="en-GB" sz="2400" dirty="0"/>
          </a:p>
          <a:p>
            <a:endParaRPr lang="en-GB" sz="2400" dirty="0"/>
          </a:p>
        </p:txBody>
      </p:sp>
    </p:spTree>
    <p:extLst>
      <p:ext uri="{BB962C8B-B14F-4D97-AF65-F5344CB8AC3E}">
        <p14:creationId xmlns:p14="http://schemas.microsoft.com/office/powerpoint/2010/main" val="153292283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078313"/>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Bonding</a:t>
            </a:r>
          </a:p>
          <a:p>
            <a:r>
              <a:rPr lang="en-GB" sz="3600" b="1" dirty="0">
                <a:solidFill>
                  <a:schemeClr val="tx1">
                    <a:lumMod val="50000"/>
                    <a:lumOff val="50000"/>
                  </a:schemeClr>
                </a:solidFill>
              </a:rPr>
              <a:t>PART 2</a:t>
            </a:r>
          </a:p>
          <a:p>
            <a:endParaRPr lang="en-GB" sz="2800" dirty="0">
              <a:solidFill>
                <a:schemeClr val="tx1">
                  <a:lumMod val="50000"/>
                  <a:lumOff val="50000"/>
                </a:schemeClr>
              </a:solidFill>
            </a:endParaRPr>
          </a:p>
          <a:p>
            <a:pPr marL="685800" lvl="1" indent="-342900">
              <a:buFont typeface="Arial" charset="0"/>
              <a:buChar char="•"/>
            </a:pPr>
            <a:r>
              <a:rPr lang="en-US" sz="2800" b="1" dirty="0">
                <a:solidFill>
                  <a:schemeClr val="bg1">
                    <a:lumMod val="50000"/>
                  </a:schemeClr>
                </a:solidFill>
              </a:rPr>
              <a:t>Covalent bonding</a:t>
            </a:r>
          </a:p>
          <a:p>
            <a:pPr marL="685800" lvl="1" indent="-342900">
              <a:buFont typeface="Arial" charset="0"/>
              <a:buChar char="•"/>
            </a:pPr>
            <a:r>
              <a:rPr lang="en-US" sz="2800" b="1" dirty="0">
                <a:solidFill>
                  <a:schemeClr val="bg1">
                    <a:lumMod val="50000"/>
                  </a:schemeClr>
                </a:solidFill>
              </a:rPr>
              <a:t>Metallic bonding</a:t>
            </a:r>
          </a:p>
          <a:p>
            <a:pPr marL="685800" lvl="1" indent="-342900">
              <a:buFont typeface="Arial" charset="0"/>
              <a:buChar char="•"/>
            </a:pPr>
            <a:endParaRPr lang="en-US" sz="2400" b="1" dirty="0">
              <a:solidFill>
                <a:schemeClr val="bg1">
                  <a:lumMod val="50000"/>
                </a:schemeClr>
              </a:solidFill>
            </a:endParaRP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8761364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Bonding –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32311"/>
          </a:xfrm>
          <a:prstGeom prst="rect">
            <a:avLst/>
          </a:prstGeom>
          <a:noFill/>
        </p:spPr>
        <p:txBody>
          <a:bodyPr wrap="square" rtlCol="0">
            <a:spAutoFit/>
          </a:bodyPr>
          <a:lstStyle/>
          <a:p>
            <a:pPr marL="457200" indent="-457200">
              <a:buFont typeface="+mj-lt"/>
              <a:buAutoNum type="arabicPeriod"/>
            </a:pPr>
            <a:r>
              <a:rPr lang="en-GB" sz="2400" dirty="0" smtClean="0"/>
              <a:t>How are strong covalent bonds formed?</a:t>
            </a:r>
          </a:p>
          <a:p>
            <a:pPr lvl="1"/>
            <a:r>
              <a:rPr lang="en-GB" sz="2400" b="1" dirty="0" smtClean="0">
                <a:solidFill>
                  <a:srgbClr val="00B050"/>
                </a:solidFill>
              </a:rPr>
              <a:t>Atoms share pairs of electrons.</a:t>
            </a:r>
            <a:endParaRPr lang="en-GB" sz="2400" dirty="0" smtClean="0"/>
          </a:p>
          <a:p>
            <a:pPr marL="457200" indent="-457200">
              <a:buFont typeface="+mj-lt"/>
              <a:buAutoNum type="arabicPeriod"/>
            </a:pPr>
            <a:r>
              <a:rPr lang="en-GB" sz="2400" dirty="0" smtClean="0"/>
              <a:t>What are the three types of structure that can be formed by covalent bonding?</a:t>
            </a:r>
          </a:p>
          <a:p>
            <a:pPr lvl="1"/>
            <a:r>
              <a:rPr lang="en-GB" sz="2400" b="1" dirty="0" smtClean="0">
                <a:solidFill>
                  <a:srgbClr val="00B050"/>
                </a:solidFill>
              </a:rPr>
              <a:t>Small molecules, very large molecules, giant covalent molecules.</a:t>
            </a:r>
            <a:endParaRPr lang="en-GB" sz="2400" dirty="0" smtClean="0"/>
          </a:p>
          <a:p>
            <a:pPr marL="457200" indent="-457200">
              <a:buFont typeface="+mj-lt"/>
              <a:buAutoNum type="arabicPeriod"/>
            </a:pPr>
            <a:r>
              <a:rPr lang="en-GB" sz="2400" dirty="0" smtClean="0"/>
              <a:t>What are polymers an example of?</a:t>
            </a:r>
          </a:p>
          <a:p>
            <a:pPr lvl="1"/>
            <a:r>
              <a:rPr lang="en-GB" sz="2400" b="1" dirty="0" smtClean="0">
                <a:solidFill>
                  <a:srgbClr val="00B050"/>
                </a:solidFill>
              </a:rPr>
              <a:t>Very large molecules.</a:t>
            </a:r>
            <a:endParaRPr lang="en-GB" sz="2400" dirty="0" smtClean="0"/>
          </a:p>
          <a:p>
            <a:pPr marL="457200" indent="-457200">
              <a:buFont typeface="+mj-lt"/>
              <a:buAutoNum type="arabicPeriod"/>
            </a:pPr>
            <a:r>
              <a:rPr lang="en-GB" sz="2400" dirty="0" smtClean="0"/>
              <a:t>What type of structure do the following covalently bonded substances have?</a:t>
            </a:r>
          </a:p>
          <a:p>
            <a:pPr marL="914400" lvl="1" indent="-457200">
              <a:buFont typeface="+mj-lt"/>
              <a:buAutoNum type="alphaLcParenR"/>
            </a:pPr>
            <a:r>
              <a:rPr lang="en-GB" sz="2400" dirty="0" smtClean="0"/>
              <a:t>Water H</a:t>
            </a:r>
            <a:r>
              <a:rPr lang="en-GB" sz="2400" baseline="-25000" dirty="0" smtClean="0"/>
              <a:t>2</a:t>
            </a:r>
            <a:r>
              <a:rPr lang="en-GB" sz="2400" dirty="0" smtClean="0"/>
              <a:t>O </a:t>
            </a:r>
            <a:r>
              <a:rPr lang="en-GB" sz="2400" b="1" dirty="0" smtClean="0">
                <a:solidFill>
                  <a:srgbClr val="00B050"/>
                </a:solidFill>
              </a:rPr>
              <a:t>Small covalent.</a:t>
            </a:r>
            <a:endParaRPr lang="en-GB" sz="2400" dirty="0" smtClean="0"/>
          </a:p>
          <a:p>
            <a:pPr marL="914400" lvl="1" indent="-457200">
              <a:buFont typeface="+mj-lt"/>
              <a:buAutoNum type="alphaLcParenR"/>
            </a:pPr>
            <a:r>
              <a:rPr lang="en-GB" sz="2400" dirty="0" smtClean="0"/>
              <a:t>Silicon dioxide SO</a:t>
            </a:r>
            <a:r>
              <a:rPr lang="en-GB" sz="2400" baseline="-25000" dirty="0" smtClean="0"/>
              <a:t>2 </a:t>
            </a:r>
            <a:r>
              <a:rPr lang="en-GB" sz="2400" b="1" dirty="0" smtClean="0">
                <a:solidFill>
                  <a:srgbClr val="00B050"/>
                </a:solidFill>
              </a:rPr>
              <a:t>Giant covalent.</a:t>
            </a:r>
            <a:endParaRPr lang="en-GB" sz="2400" baseline="-25000" dirty="0" smtClean="0"/>
          </a:p>
          <a:p>
            <a:pPr marL="914400" lvl="1" indent="-457200">
              <a:buFont typeface="+mj-lt"/>
              <a:buAutoNum type="alphaLcParenR"/>
            </a:pPr>
            <a:r>
              <a:rPr lang="en-GB" sz="2400" dirty="0" smtClean="0"/>
              <a:t>Diamond C </a:t>
            </a:r>
            <a:r>
              <a:rPr lang="en-GB" sz="2400" b="1" dirty="0" smtClean="0">
                <a:solidFill>
                  <a:srgbClr val="00B050"/>
                </a:solidFill>
              </a:rPr>
              <a:t>Giant covalent.</a:t>
            </a:r>
            <a:endParaRPr lang="en-GB" sz="2400" dirty="0" smtClean="0"/>
          </a:p>
          <a:p>
            <a:pPr marL="914400" lvl="1" indent="-457200">
              <a:buFont typeface="+mj-lt"/>
              <a:buAutoNum type="alphaLcParenR"/>
            </a:pPr>
            <a:r>
              <a:rPr lang="en-GB" sz="2400" dirty="0" smtClean="0"/>
              <a:t>Poly(</a:t>
            </a:r>
            <a:r>
              <a:rPr lang="en-GB" sz="2400" dirty="0" err="1" smtClean="0"/>
              <a:t>ethene</a:t>
            </a:r>
            <a:r>
              <a:rPr lang="en-GB" sz="2400" dirty="0" smtClean="0"/>
              <a:t>)                  </a:t>
            </a:r>
            <a:r>
              <a:rPr lang="en-GB" sz="2400" b="1" dirty="0" smtClean="0">
                <a:solidFill>
                  <a:srgbClr val="00B050"/>
                </a:solidFill>
              </a:rPr>
              <a:t>Very large molecule.</a:t>
            </a:r>
            <a:endParaRPr lang="en-GB" sz="2400" dirty="0" smtClean="0"/>
          </a:p>
          <a:p>
            <a:pPr marL="457200" indent="-457200">
              <a:buFont typeface="+mj-lt"/>
              <a:buAutoNum type="arabicPeriod"/>
            </a:pPr>
            <a:endParaRPr lang="en-GB" sz="2400" dirty="0" smtClean="0"/>
          </a:p>
          <a:p>
            <a:pPr marL="457200" indent="-457200">
              <a:buFont typeface="+mj-lt"/>
              <a:buAutoNum type="arabicPeriod"/>
            </a:pPr>
            <a:endParaRPr lang="en-GB" sz="2400" dirty="0"/>
          </a:p>
        </p:txBody>
      </p:sp>
      <p:pic>
        <p:nvPicPr>
          <p:cNvPr id="5" name="Picture 4"/>
          <p:cNvPicPr>
            <a:picLocks noChangeAspect="1"/>
          </p:cNvPicPr>
          <p:nvPr/>
        </p:nvPicPr>
        <p:blipFill>
          <a:blip r:embed="rId2"/>
          <a:stretch>
            <a:fillRect/>
          </a:stretch>
        </p:blipFill>
        <p:spPr>
          <a:xfrm>
            <a:off x="2915816" y="5157192"/>
            <a:ext cx="942628" cy="1104073"/>
          </a:xfrm>
          <a:prstGeom prst="rect">
            <a:avLst/>
          </a:prstGeom>
        </p:spPr>
      </p:pic>
    </p:spTree>
    <p:extLst>
      <p:ext uri="{BB962C8B-B14F-4D97-AF65-F5344CB8AC3E}">
        <p14:creationId xmlns:p14="http://schemas.microsoft.com/office/powerpoint/2010/main" val="24592392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Bonding –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524315"/>
          </a:xfrm>
          <a:prstGeom prst="rect">
            <a:avLst/>
          </a:prstGeom>
          <a:noFill/>
        </p:spPr>
        <p:txBody>
          <a:bodyPr wrap="square" rtlCol="0">
            <a:spAutoFit/>
          </a:bodyPr>
          <a:lstStyle/>
          <a:p>
            <a:endParaRPr lang="en-GB" sz="2400" dirty="0"/>
          </a:p>
          <a:p>
            <a:pPr marL="457200" indent="-457200">
              <a:buFont typeface="+mj-lt"/>
              <a:buAutoNum type="arabicPeriod" startAt="5"/>
            </a:pPr>
            <a:r>
              <a:rPr lang="en-GB" sz="2400" dirty="0" smtClean="0"/>
              <a:t>What are the limitations of using dot and cross diagrams to represent covalent bonds?</a:t>
            </a:r>
          </a:p>
          <a:p>
            <a:pPr lvl="1"/>
            <a:r>
              <a:rPr lang="en-GB" sz="2400" b="1" dirty="0" smtClean="0">
                <a:solidFill>
                  <a:srgbClr val="00B050"/>
                </a:solidFill>
              </a:rPr>
              <a:t>It </a:t>
            </a:r>
            <a:r>
              <a:rPr lang="en-GB" sz="2400" b="1" dirty="0">
                <a:solidFill>
                  <a:srgbClr val="00B050"/>
                </a:solidFill>
              </a:rPr>
              <a:t>shows the electrons differently, when they are the same and it </a:t>
            </a:r>
            <a:r>
              <a:rPr lang="en-GB" sz="2400" b="1" dirty="0" smtClean="0">
                <a:solidFill>
                  <a:srgbClr val="00B050"/>
                </a:solidFill>
              </a:rPr>
              <a:t>does </a:t>
            </a:r>
            <a:r>
              <a:rPr lang="en-GB" sz="2400" b="1" dirty="0">
                <a:solidFill>
                  <a:srgbClr val="00B050"/>
                </a:solidFill>
              </a:rPr>
              <a:t>not show the </a:t>
            </a:r>
            <a:r>
              <a:rPr lang="en-GB" sz="2400" b="1" dirty="0" smtClean="0">
                <a:solidFill>
                  <a:srgbClr val="00B050"/>
                </a:solidFill>
              </a:rPr>
              <a:t>bond angles or shape of the molecule.</a:t>
            </a:r>
            <a:endParaRPr lang="en-GB" sz="2400" dirty="0" smtClean="0"/>
          </a:p>
          <a:p>
            <a:pPr marL="457200" indent="-457200">
              <a:buFont typeface="+mj-lt"/>
              <a:buAutoNum type="arabicPeriod" startAt="5"/>
            </a:pPr>
            <a:r>
              <a:rPr lang="en-GB" sz="2400" dirty="0" smtClean="0"/>
              <a:t>How are atoms arranged in a metal?</a:t>
            </a:r>
          </a:p>
          <a:p>
            <a:pPr lvl="1"/>
            <a:r>
              <a:rPr lang="en-GB" sz="2400" b="1" dirty="0" smtClean="0">
                <a:solidFill>
                  <a:srgbClr val="00B050"/>
                </a:solidFill>
              </a:rPr>
              <a:t>Giant structures of atoms, arranged in a regular pattern, delocalised electrons.</a:t>
            </a:r>
            <a:endParaRPr lang="en-GB" sz="2400" dirty="0" smtClean="0"/>
          </a:p>
          <a:p>
            <a:pPr marL="457200" indent="-457200">
              <a:buFont typeface="+mj-lt"/>
              <a:buAutoNum type="arabicPeriod" startAt="5"/>
            </a:pPr>
            <a:r>
              <a:rPr lang="en-GB" sz="2400" dirty="0" smtClean="0"/>
              <a:t>Why are metallic bonds so strong?</a:t>
            </a:r>
          </a:p>
          <a:p>
            <a:pPr lvl="1"/>
            <a:r>
              <a:rPr lang="en-GB" sz="2400" b="1" dirty="0" smtClean="0">
                <a:solidFill>
                  <a:srgbClr val="00B050"/>
                </a:solidFill>
              </a:rPr>
              <a:t>Sharing of delocalised electrons.</a:t>
            </a:r>
            <a:endParaRPr lang="en-GB" sz="2400" dirty="0" smtClean="0"/>
          </a:p>
          <a:p>
            <a:pPr marL="457200" indent="-457200">
              <a:buFont typeface="+mj-lt"/>
              <a:buAutoNum type="arabicPeriod" startAt="5"/>
            </a:pPr>
            <a:r>
              <a:rPr lang="en-GB" sz="2400" dirty="0"/>
              <a:t>What is the formula of the following model</a:t>
            </a:r>
            <a:r>
              <a:rPr lang="en-GB" sz="2400" dirty="0" smtClean="0"/>
              <a:t>?</a:t>
            </a:r>
            <a:endParaRPr lang="en-GB" sz="2400" dirty="0"/>
          </a:p>
          <a:p>
            <a:pPr lvl="1"/>
            <a:r>
              <a:rPr lang="en-GB" sz="2400" b="1" dirty="0" smtClean="0">
                <a:solidFill>
                  <a:srgbClr val="00B050"/>
                </a:solidFill>
              </a:rPr>
              <a:t>CO</a:t>
            </a:r>
            <a:r>
              <a:rPr lang="en-GB" sz="2400" b="1" baseline="-25000" dirty="0" smtClean="0">
                <a:solidFill>
                  <a:srgbClr val="00B050"/>
                </a:solidFill>
              </a:rPr>
              <a:t>2</a:t>
            </a:r>
            <a:endParaRPr lang="en-GB" sz="2400" baseline="-25000" dirty="0"/>
          </a:p>
        </p:txBody>
      </p:sp>
      <p:pic>
        <p:nvPicPr>
          <p:cNvPr id="7" name="Picture 6" descr="Related image">
            <a:extLst>
              <a:ext uri="{FF2B5EF4-FFF2-40B4-BE49-F238E27FC236}">
                <a16:creationId xmlns:a16="http://schemas.microsoft.com/office/drawing/2014/main" xmlns="" id="{69C2EDE8-6281-4DB9-919D-8448A92DDE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720" y="4878614"/>
            <a:ext cx="3086100" cy="160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427204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Bonding –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6" y="697936"/>
            <a:ext cx="8994913" cy="5632311"/>
          </a:xfrm>
          <a:prstGeom prst="rect">
            <a:avLst/>
          </a:prstGeom>
          <a:noFill/>
        </p:spPr>
        <p:txBody>
          <a:bodyPr wrap="square" rtlCol="0">
            <a:spAutoFit/>
          </a:bodyPr>
          <a:lstStyle/>
          <a:p>
            <a:endParaRPr lang="en-GB" sz="2400" dirty="0"/>
          </a:p>
          <a:p>
            <a:pPr marL="457200" indent="-457200">
              <a:buFont typeface="+mj-lt"/>
              <a:buAutoNum type="arabicPeriod" startAt="9"/>
            </a:pPr>
            <a:r>
              <a:rPr lang="en-GB" sz="2400" dirty="0"/>
              <a:t>Draw a dot and cross diagram for water. </a:t>
            </a:r>
            <a:endParaRPr lang="en-GB" sz="2400" dirty="0" smtClean="0"/>
          </a:p>
          <a:p>
            <a:pPr marL="457200" indent="-457200">
              <a:buFont typeface="+mj-lt"/>
              <a:buAutoNum type="arabicPeriod" startAt="9"/>
            </a:pPr>
            <a:endParaRPr lang="en-GB" sz="2400" dirty="0" smtClean="0"/>
          </a:p>
          <a:p>
            <a:pPr marL="457200" indent="-457200">
              <a:buFont typeface="+mj-lt"/>
              <a:buAutoNum type="arabicPeriod" startAt="9"/>
            </a:pPr>
            <a:endParaRPr lang="en-GB" sz="2400" dirty="0" smtClean="0"/>
          </a:p>
          <a:p>
            <a:endParaRPr lang="en-GB" sz="2400" dirty="0" smtClean="0"/>
          </a:p>
          <a:p>
            <a:pPr marL="457200" indent="-457200">
              <a:buAutoNum type="arabicPeriod" startAt="9"/>
            </a:pPr>
            <a:endParaRPr lang="en-GB" sz="2400" dirty="0" smtClean="0"/>
          </a:p>
          <a:p>
            <a:pPr marL="457200" indent="-457200">
              <a:buFont typeface="+mj-lt"/>
              <a:buAutoNum type="arabicPeriod" startAt="10"/>
            </a:pPr>
            <a:r>
              <a:rPr lang="en-GB" sz="2400" dirty="0" smtClean="0"/>
              <a:t>Describe </a:t>
            </a:r>
            <a:r>
              <a:rPr lang="en-GB" sz="2400" dirty="0"/>
              <a:t>the arrangement of particles in a metal</a:t>
            </a:r>
            <a:r>
              <a:rPr lang="en-GB" sz="2400" dirty="0" smtClean="0"/>
              <a:t>.</a:t>
            </a:r>
          </a:p>
          <a:p>
            <a:pPr lvl="1"/>
            <a:r>
              <a:rPr lang="en-GB" sz="2400" b="1" dirty="0" smtClean="0">
                <a:solidFill>
                  <a:srgbClr val="00B050"/>
                </a:solidFill>
              </a:rPr>
              <a:t>Atoms arranged neatly in rows; sea of delocalised electrons.</a:t>
            </a:r>
            <a:endParaRPr lang="en-GB" sz="2400" dirty="0"/>
          </a:p>
          <a:p>
            <a:pPr marL="457200" indent="-457200">
              <a:buFont typeface="+mj-lt"/>
              <a:buAutoNum type="arabicPeriod" startAt="11"/>
            </a:pPr>
            <a:r>
              <a:rPr lang="en-GB" sz="2400" dirty="0"/>
              <a:t>Why are the particles that make up a metal described as positively </a:t>
            </a:r>
            <a:r>
              <a:rPr lang="en-GB" sz="2400" dirty="0" smtClean="0"/>
              <a:t>charged?</a:t>
            </a:r>
          </a:p>
          <a:p>
            <a:pPr lvl="1"/>
            <a:r>
              <a:rPr lang="en-GB" sz="2400" b="1" dirty="0" smtClean="0">
                <a:solidFill>
                  <a:srgbClr val="00B050"/>
                </a:solidFill>
              </a:rPr>
              <a:t>The</a:t>
            </a:r>
            <a:r>
              <a:rPr lang="en-GB" sz="2400" dirty="0" smtClean="0"/>
              <a:t> </a:t>
            </a:r>
            <a:r>
              <a:rPr lang="en-GB" sz="2400" b="1" dirty="0">
                <a:solidFill>
                  <a:srgbClr val="00B050"/>
                </a:solidFill>
              </a:rPr>
              <a:t>metal atoms lose outer shell electrons and therefore there </a:t>
            </a:r>
          </a:p>
          <a:p>
            <a:r>
              <a:rPr lang="en-GB" sz="2400" b="1" dirty="0">
                <a:solidFill>
                  <a:srgbClr val="00B050"/>
                </a:solidFill>
              </a:rPr>
              <a:t>       are more protons (+) than electrons (−).</a:t>
            </a:r>
          </a:p>
          <a:p>
            <a:pPr marL="457200" indent="-457200">
              <a:buFont typeface="+mj-lt"/>
              <a:buAutoNum type="arabicPeriod" startAt="12"/>
            </a:pPr>
            <a:r>
              <a:rPr lang="en-GB" sz="2400" dirty="0" smtClean="0"/>
              <a:t>What </a:t>
            </a:r>
            <a:r>
              <a:rPr lang="en-GB" sz="2400" dirty="0"/>
              <a:t>are delocalised </a:t>
            </a:r>
            <a:r>
              <a:rPr lang="en-GB" sz="2400" dirty="0" smtClean="0"/>
              <a:t>electrons?</a:t>
            </a:r>
          </a:p>
          <a:p>
            <a:pPr lvl="1"/>
            <a:r>
              <a:rPr lang="en-GB" sz="2400" b="1" dirty="0" smtClean="0">
                <a:solidFill>
                  <a:srgbClr val="00B050"/>
                </a:solidFill>
              </a:rPr>
              <a:t>They </a:t>
            </a:r>
            <a:r>
              <a:rPr lang="en-GB" sz="2400" b="1" dirty="0">
                <a:solidFill>
                  <a:srgbClr val="00B050"/>
                </a:solidFill>
              </a:rPr>
              <a:t>are free-moving electrons within structure; not associated </a:t>
            </a:r>
          </a:p>
          <a:p>
            <a:r>
              <a:rPr lang="en-GB" sz="2400" b="1" dirty="0">
                <a:solidFill>
                  <a:srgbClr val="00B050"/>
                </a:solidFill>
              </a:rPr>
              <a:t>       with a particular atom</a:t>
            </a:r>
            <a:r>
              <a:rPr lang="en-GB" sz="2400" b="1" dirty="0" smtClean="0">
                <a:solidFill>
                  <a:srgbClr val="00B050"/>
                </a:solidFill>
              </a:rPr>
              <a:t>.</a:t>
            </a:r>
            <a:endParaRPr lang="en-GB" sz="2400" b="1" dirty="0">
              <a:solidFill>
                <a:srgbClr val="00B050"/>
              </a:solidFill>
            </a:endParaRPr>
          </a:p>
        </p:txBody>
      </p:sp>
      <p:pic>
        <p:nvPicPr>
          <p:cNvPr id="5" name="Picture 2" descr="Image result for dot and cross water">
            <a:extLst>
              <a:ext uri="{FF2B5EF4-FFF2-40B4-BE49-F238E27FC236}">
                <a16:creationId xmlns:a16="http://schemas.microsoft.com/office/drawing/2014/main" xmlns="" id="{74951093-0789-4A32-A908-3E1B55589D28}"/>
              </a:ext>
            </a:extLst>
          </p:cNvPr>
          <p:cNvPicPr>
            <a:picLocks noChangeAspect="1" noChangeArrowheads="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598792" y="1556792"/>
            <a:ext cx="2095500" cy="1238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77511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652120" cy="5139869"/>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smtClean="0">
                <a:solidFill>
                  <a:schemeClr val="tx1">
                    <a:lumMod val="50000"/>
                    <a:lumOff val="50000"/>
                  </a:schemeClr>
                </a:solidFill>
              </a:rPr>
              <a:t>Properties of </a:t>
            </a:r>
          </a:p>
          <a:p>
            <a:r>
              <a:rPr lang="en-GB" sz="3600" b="1" dirty="0" smtClean="0">
                <a:solidFill>
                  <a:schemeClr val="tx1">
                    <a:lumMod val="50000"/>
                    <a:lumOff val="50000"/>
                  </a:schemeClr>
                </a:solidFill>
              </a:rPr>
              <a:t>substances Part 1</a:t>
            </a:r>
            <a:endParaRPr lang="en-GB" sz="3600" b="1" dirty="0">
              <a:solidFill>
                <a:schemeClr val="tx1">
                  <a:lumMod val="50000"/>
                  <a:lumOff val="50000"/>
                </a:schemeClr>
              </a:solidFill>
            </a:endParaRP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States of </a:t>
            </a:r>
            <a:r>
              <a:rPr lang="en-US" sz="2400" b="1" dirty="0" smtClean="0">
                <a:solidFill>
                  <a:schemeClr val="bg1">
                    <a:lumMod val="50000"/>
                  </a:schemeClr>
                </a:solidFill>
              </a:rPr>
              <a:t>matter</a:t>
            </a:r>
          </a:p>
          <a:p>
            <a:pPr marL="685800" lvl="1" indent="-342900">
              <a:buFont typeface="Arial" charset="0"/>
              <a:buChar char="•"/>
            </a:pPr>
            <a:r>
              <a:rPr lang="en-US" sz="2400" b="1" dirty="0" smtClean="0">
                <a:solidFill>
                  <a:schemeClr val="bg1">
                    <a:lumMod val="50000"/>
                  </a:schemeClr>
                </a:solidFill>
              </a:rPr>
              <a:t>State symbols</a:t>
            </a:r>
            <a:endParaRPr lang="en-US" sz="2400" b="1" dirty="0">
              <a:solidFill>
                <a:schemeClr val="bg1">
                  <a:lumMod val="50000"/>
                </a:schemeClr>
              </a:solidFill>
            </a:endParaRPr>
          </a:p>
          <a:p>
            <a:endParaRPr lang="en-GB" dirty="0"/>
          </a:p>
        </p:txBody>
      </p:sp>
    </p:spTree>
    <p:extLst>
      <p:ext uri="{BB962C8B-B14F-4D97-AF65-F5344CB8AC3E}">
        <p14:creationId xmlns:p14="http://schemas.microsoft.com/office/powerpoint/2010/main" val="351258485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States of matter and state symbols</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251520" y="718374"/>
            <a:ext cx="8640960" cy="1323439"/>
          </a:xfrm>
          <a:prstGeom prst="rect">
            <a:avLst/>
          </a:prstGeom>
          <a:noFill/>
        </p:spPr>
        <p:txBody>
          <a:bodyPr wrap="square" rtlCol="0">
            <a:spAutoFit/>
          </a:bodyPr>
          <a:lstStyle/>
          <a:p>
            <a:pPr algn="ctr"/>
            <a:r>
              <a:rPr lang="en-GB" sz="2000" dirty="0"/>
              <a:t>There are </a:t>
            </a:r>
            <a:r>
              <a:rPr lang="en-GB" sz="2000" b="1" dirty="0"/>
              <a:t>three</a:t>
            </a:r>
            <a:r>
              <a:rPr lang="en-GB" sz="2000" dirty="0"/>
              <a:t> states of matter – </a:t>
            </a:r>
            <a:r>
              <a:rPr lang="en-GB" sz="2000" b="1" dirty="0"/>
              <a:t>solid, liquid </a:t>
            </a:r>
            <a:r>
              <a:rPr lang="en-GB" sz="2000" dirty="0"/>
              <a:t>and </a:t>
            </a:r>
            <a:r>
              <a:rPr lang="en-GB" sz="2000" b="1" dirty="0"/>
              <a:t>gas</a:t>
            </a:r>
            <a:r>
              <a:rPr lang="en-GB" sz="2000" dirty="0"/>
              <a:t>.  To explain the properties of the states, the </a:t>
            </a:r>
            <a:r>
              <a:rPr lang="en-GB" sz="2000" b="1" dirty="0"/>
              <a:t>particle theory </a:t>
            </a:r>
            <a:r>
              <a:rPr lang="en-GB" sz="2000" dirty="0"/>
              <a:t>is used.  It is based on the fact that all matter is made up of tiny particles and describes the </a:t>
            </a:r>
            <a:r>
              <a:rPr lang="en-GB" sz="2000" b="1" dirty="0"/>
              <a:t>movement</a:t>
            </a:r>
            <a:r>
              <a:rPr lang="en-GB" sz="2000" dirty="0"/>
              <a:t> and </a:t>
            </a:r>
            <a:r>
              <a:rPr lang="en-GB" sz="2000" b="1" dirty="0"/>
              <a:t>distance</a:t>
            </a:r>
            <a:r>
              <a:rPr lang="en-GB" sz="2000" dirty="0"/>
              <a:t> between particles.</a:t>
            </a:r>
          </a:p>
        </p:txBody>
      </p:sp>
      <p:sp>
        <p:nvSpPr>
          <p:cNvPr id="8" name="TextBox 7">
            <a:extLst>
              <a:ext uri="{FF2B5EF4-FFF2-40B4-BE49-F238E27FC236}">
                <a16:creationId xmlns:a16="http://schemas.microsoft.com/office/drawing/2014/main" xmlns="" id="{25CB107A-DC70-4D21-99C9-EBCAA3C871E0}"/>
              </a:ext>
            </a:extLst>
          </p:cNvPr>
          <p:cNvSpPr txBox="1"/>
          <p:nvPr/>
        </p:nvSpPr>
        <p:spPr>
          <a:xfrm>
            <a:off x="251520" y="5554735"/>
            <a:ext cx="8640960" cy="83099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pPr algn="ctr"/>
            <a:r>
              <a:rPr lang="en-GB" sz="2400" dirty="0" smtClean="0"/>
              <a:t>In chemical </a:t>
            </a:r>
            <a:r>
              <a:rPr lang="en-GB" sz="2400" dirty="0"/>
              <a:t>equations, the three states are shown as </a:t>
            </a:r>
            <a:r>
              <a:rPr lang="en-GB" sz="2400" b="1" dirty="0"/>
              <a:t>(s), (l), (g) </a:t>
            </a:r>
            <a:endParaRPr lang="en-GB" sz="2400" b="1" dirty="0" smtClean="0"/>
          </a:p>
          <a:p>
            <a:pPr algn="ctr"/>
            <a:r>
              <a:rPr lang="en-GB" sz="2400" dirty="0" smtClean="0"/>
              <a:t>and </a:t>
            </a:r>
            <a:r>
              <a:rPr lang="en-GB" sz="2400" b="1" dirty="0"/>
              <a:t>(</a:t>
            </a:r>
            <a:r>
              <a:rPr lang="en-GB" sz="2400" b="1" dirty="0" err="1"/>
              <a:t>aq</a:t>
            </a:r>
            <a:r>
              <a:rPr lang="en-GB" sz="2400" b="1" dirty="0"/>
              <a:t>) </a:t>
            </a:r>
            <a:r>
              <a:rPr lang="en-GB" sz="2400" dirty="0"/>
              <a:t>for aqueous solutions.</a:t>
            </a:r>
          </a:p>
        </p:txBody>
      </p:sp>
      <p:graphicFrame>
        <p:nvGraphicFramePr>
          <p:cNvPr id="5" name="Table 4"/>
          <p:cNvGraphicFramePr>
            <a:graphicFrameLocks noGrp="1"/>
          </p:cNvGraphicFramePr>
          <p:nvPr>
            <p:extLst>
              <p:ext uri="{D42A27DB-BD31-4B8C-83A1-F6EECF244321}">
                <p14:modId xmlns:p14="http://schemas.microsoft.com/office/powerpoint/2010/main" val="3482740430"/>
              </p:ext>
            </p:extLst>
          </p:nvPr>
        </p:nvGraphicFramePr>
        <p:xfrm>
          <a:off x="266392" y="2067491"/>
          <a:ext cx="8640960" cy="3322320"/>
        </p:xfrm>
        <a:graphic>
          <a:graphicData uri="http://schemas.openxmlformats.org/drawingml/2006/table">
            <a:tbl>
              <a:tblPr firstRow="1" bandRow="1">
                <a:tableStyleId>{912C8C85-51F0-491E-9774-3900AFEF0FD7}</a:tableStyleId>
              </a:tblPr>
              <a:tblGrid>
                <a:gridCol w="2880320"/>
                <a:gridCol w="2880320"/>
                <a:gridCol w="2880320"/>
              </a:tblGrid>
              <a:tr h="370840">
                <a:tc>
                  <a:txBody>
                    <a:bodyPr/>
                    <a:lstStyle/>
                    <a:p>
                      <a:pPr algn="ctr"/>
                      <a:r>
                        <a:rPr lang="en-GB" sz="2000" dirty="0" smtClean="0"/>
                        <a:t>Solid</a:t>
                      </a:r>
                      <a:endParaRPr lang="en-GB"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dirty="0" smtClean="0"/>
                        <a:t>Liquid</a:t>
                      </a:r>
                      <a:endParaRPr lang="en-GB"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dirty="0" smtClean="0"/>
                        <a:t>Gas</a:t>
                      </a:r>
                      <a:endParaRPr lang="en-GB"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pPr algn="ctr"/>
                      <a:r>
                        <a:rPr lang="en-GB" sz="2000" dirty="0" smtClean="0"/>
                        <a:t>Close together, regular pattern, vibrate on the spot.</a:t>
                      </a:r>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dirty="0" smtClean="0"/>
                        <a:t>Close together, random arrangement, move around each other.</a:t>
                      </a:r>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000" dirty="0" smtClean="0"/>
                        <a:t>Far apart, random arrangement, move quickly.</a:t>
                      </a:r>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70840">
                <a:tc>
                  <a:txBody>
                    <a:bodyPr/>
                    <a:lstStyle/>
                    <a:p>
                      <a:endParaRPr lang="en-GB" sz="2000" dirty="0" smtClean="0"/>
                    </a:p>
                    <a:p>
                      <a:endParaRPr lang="en-GB" sz="2000" dirty="0" smtClean="0"/>
                    </a:p>
                    <a:p>
                      <a:endParaRPr lang="en-GB" sz="2000" dirty="0" smtClean="0"/>
                    </a:p>
                    <a:p>
                      <a:endParaRPr lang="en-GB" sz="2000" dirty="0" smtClean="0"/>
                    </a:p>
                    <a:p>
                      <a:endParaRPr lang="en-GB" sz="2000" dirty="0" smtClean="0"/>
                    </a:p>
                    <a:p>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GB" sz="2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6" name="Picture 5"/>
          <p:cNvPicPr>
            <a:picLocks noChangeAspect="1"/>
          </p:cNvPicPr>
          <p:nvPr/>
        </p:nvPicPr>
        <p:blipFill>
          <a:blip r:embed="rId3">
            <a:duotone>
              <a:schemeClr val="accent6">
                <a:shade val="45000"/>
                <a:satMod val="135000"/>
              </a:schemeClr>
              <a:prstClr val="white"/>
            </a:duotone>
          </a:blip>
          <a:stretch>
            <a:fillRect/>
          </a:stretch>
        </p:blipFill>
        <p:spPr>
          <a:xfrm>
            <a:off x="899592" y="3692818"/>
            <a:ext cx="1476375" cy="1438275"/>
          </a:xfrm>
          <a:prstGeom prst="rect">
            <a:avLst/>
          </a:prstGeom>
        </p:spPr>
      </p:pic>
      <p:pic>
        <p:nvPicPr>
          <p:cNvPr id="7" name="Picture 6"/>
          <p:cNvPicPr>
            <a:picLocks noChangeAspect="1"/>
          </p:cNvPicPr>
          <p:nvPr/>
        </p:nvPicPr>
        <p:blipFill>
          <a:blip r:embed="rId4">
            <a:duotone>
              <a:schemeClr val="accent6">
                <a:shade val="45000"/>
                <a:satMod val="135000"/>
              </a:schemeClr>
              <a:prstClr val="white"/>
            </a:duotone>
          </a:blip>
          <a:stretch>
            <a:fillRect/>
          </a:stretch>
        </p:blipFill>
        <p:spPr>
          <a:xfrm>
            <a:off x="3862387" y="3692818"/>
            <a:ext cx="1419225" cy="1428750"/>
          </a:xfrm>
          <a:prstGeom prst="rect">
            <a:avLst/>
          </a:prstGeom>
        </p:spPr>
      </p:pic>
      <p:pic>
        <p:nvPicPr>
          <p:cNvPr id="9" name="Picture 8"/>
          <p:cNvPicPr>
            <a:picLocks noChangeAspect="1"/>
          </p:cNvPicPr>
          <p:nvPr/>
        </p:nvPicPr>
        <p:blipFill>
          <a:blip r:embed="rId5">
            <a:duotone>
              <a:schemeClr val="accent6">
                <a:shade val="45000"/>
                <a:satMod val="135000"/>
              </a:schemeClr>
              <a:prstClr val="white"/>
            </a:duotone>
          </a:blip>
          <a:stretch>
            <a:fillRect/>
          </a:stretch>
        </p:blipFill>
        <p:spPr>
          <a:xfrm>
            <a:off x="6768032" y="3692818"/>
            <a:ext cx="1400175" cy="1428750"/>
          </a:xfrm>
          <a:prstGeom prst="rect">
            <a:avLst/>
          </a:prstGeom>
        </p:spPr>
      </p:pic>
    </p:spTree>
    <p:extLst>
      <p:ext uri="{BB962C8B-B14F-4D97-AF65-F5344CB8AC3E}">
        <p14:creationId xmlns:p14="http://schemas.microsoft.com/office/powerpoint/2010/main" val="317471426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Changes of </a:t>
            </a:r>
            <a:r>
              <a:rPr lang="en-US" sz="2400" b="1" dirty="0" smtClean="0">
                <a:solidFill>
                  <a:schemeClr val="accent6"/>
                </a:solidFill>
              </a:rPr>
              <a:t>state</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TextBox 2">
            <a:extLst>
              <a:ext uri="{FF2B5EF4-FFF2-40B4-BE49-F238E27FC236}">
                <a16:creationId xmlns:a16="http://schemas.microsoft.com/office/drawing/2014/main" xmlns="" id="{069D24D6-BF3E-48D1-A1E3-FB8C618604DE}"/>
              </a:ext>
            </a:extLst>
          </p:cNvPr>
          <p:cNvSpPr txBox="1"/>
          <p:nvPr/>
        </p:nvSpPr>
        <p:spPr>
          <a:xfrm>
            <a:off x="2956337" y="986291"/>
            <a:ext cx="6004254" cy="3785652"/>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GB" sz="2000" b="1" dirty="0" smtClean="0">
                <a:solidFill>
                  <a:schemeClr val="accent6">
                    <a:lumMod val="75000"/>
                  </a:schemeClr>
                </a:solidFill>
              </a:rPr>
              <a:t>Melting</a:t>
            </a:r>
            <a:r>
              <a:rPr lang="en-GB" sz="2000" dirty="0" smtClean="0"/>
              <a:t> and </a:t>
            </a:r>
            <a:r>
              <a:rPr lang="en-GB" sz="2000" b="1" dirty="0" smtClean="0">
                <a:solidFill>
                  <a:schemeClr val="accent6">
                    <a:lumMod val="75000"/>
                  </a:schemeClr>
                </a:solidFill>
              </a:rPr>
              <a:t>freezing</a:t>
            </a:r>
            <a:r>
              <a:rPr lang="en-GB" sz="2000" dirty="0" smtClean="0"/>
              <a:t> take place at the </a:t>
            </a:r>
            <a:r>
              <a:rPr lang="en-GB" sz="2000" b="1" dirty="0" smtClean="0">
                <a:solidFill>
                  <a:schemeClr val="accent6">
                    <a:lumMod val="75000"/>
                  </a:schemeClr>
                </a:solidFill>
              </a:rPr>
              <a:t>melting point</a:t>
            </a:r>
            <a:r>
              <a:rPr lang="en-GB" sz="2000" dirty="0" smtClean="0"/>
              <a:t>.</a:t>
            </a:r>
          </a:p>
          <a:p>
            <a:r>
              <a:rPr lang="en-GB" sz="2000" b="1" dirty="0" smtClean="0">
                <a:solidFill>
                  <a:schemeClr val="accent6">
                    <a:lumMod val="75000"/>
                  </a:schemeClr>
                </a:solidFill>
              </a:rPr>
              <a:t>Boiling </a:t>
            </a:r>
            <a:r>
              <a:rPr lang="en-GB" sz="2000" dirty="0" smtClean="0"/>
              <a:t>and </a:t>
            </a:r>
            <a:r>
              <a:rPr lang="en-GB" sz="2000" b="1" dirty="0" smtClean="0">
                <a:solidFill>
                  <a:schemeClr val="accent6">
                    <a:lumMod val="75000"/>
                  </a:schemeClr>
                </a:solidFill>
              </a:rPr>
              <a:t>condensing</a:t>
            </a:r>
            <a:r>
              <a:rPr lang="en-GB" sz="2000" dirty="0" smtClean="0"/>
              <a:t> take place at the </a:t>
            </a:r>
            <a:r>
              <a:rPr lang="en-GB" sz="2000" b="1" dirty="0" smtClean="0">
                <a:solidFill>
                  <a:schemeClr val="accent6">
                    <a:lumMod val="75000"/>
                  </a:schemeClr>
                </a:solidFill>
              </a:rPr>
              <a:t>boiling point</a:t>
            </a:r>
            <a:r>
              <a:rPr lang="en-GB" sz="2000" dirty="0" smtClean="0"/>
              <a:t>.</a:t>
            </a:r>
          </a:p>
          <a:p>
            <a:endParaRPr lang="en-GB" sz="2000" dirty="0"/>
          </a:p>
          <a:p>
            <a:r>
              <a:rPr lang="en-GB" sz="2000" dirty="0" smtClean="0"/>
              <a:t>The </a:t>
            </a:r>
            <a:r>
              <a:rPr lang="en-GB" sz="2000" b="1" dirty="0" smtClean="0">
                <a:solidFill>
                  <a:schemeClr val="accent6">
                    <a:lumMod val="75000"/>
                  </a:schemeClr>
                </a:solidFill>
              </a:rPr>
              <a:t>amount of energy </a:t>
            </a:r>
            <a:r>
              <a:rPr lang="en-GB" sz="2000" dirty="0" smtClean="0"/>
              <a:t>required to change the state depends on the </a:t>
            </a:r>
            <a:r>
              <a:rPr lang="en-GB" sz="2000" b="1" dirty="0" smtClean="0">
                <a:solidFill>
                  <a:schemeClr val="accent6">
                    <a:lumMod val="75000"/>
                  </a:schemeClr>
                </a:solidFill>
              </a:rPr>
              <a:t>strength of the forces </a:t>
            </a:r>
            <a:r>
              <a:rPr lang="en-GB" sz="2000" dirty="0" smtClean="0"/>
              <a:t>between the particles of the substance.</a:t>
            </a:r>
          </a:p>
          <a:p>
            <a:endParaRPr lang="en-GB" sz="2000" dirty="0"/>
          </a:p>
          <a:p>
            <a:r>
              <a:rPr lang="en-GB" sz="2000" dirty="0"/>
              <a:t>The </a:t>
            </a:r>
            <a:r>
              <a:rPr lang="en-GB" sz="2000" b="1" dirty="0" smtClean="0">
                <a:solidFill>
                  <a:schemeClr val="accent6">
                    <a:lumMod val="75000"/>
                  </a:schemeClr>
                </a:solidFill>
              </a:rPr>
              <a:t>stronger the forces </a:t>
            </a:r>
            <a:r>
              <a:rPr lang="en-GB" sz="2000" dirty="0" smtClean="0"/>
              <a:t>between the particles the </a:t>
            </a:r>
            <a:r>
              <a:rPr lang="en-GB" sz="2000" b="1" dirty="0" smtClean="0">
                <a:solidFill>
                  <a:schemeClr val="accent6">
                    <a:lumMod val="75000"/>
                  </a:schemeClr>
                </a:solidFill>
              </a:rPr>
              <a:t>higher the melting and boiling point </a:t>
            </a:r>
            <a:r>
              <a:rPr lang="en-GB" sz="2000" dirty="0" smtClean="0"/>
              <a:t>of the substance.</a:t>
            </a:r>
            <a:endParaRPr lang="en-GB" sz="2000" dirty="0"/>
          </a:p>
          <a:p>
            <a:endParaRPr lang="en-GB" sz="2000" dirty="0" smtClean="0"/>
          </a:p>
          <a:p>
            <a:r>
              <a:rPr lang="en-GB" sz="2000" dirty="0" smtClean="0"/>
              <a:t>The type of bonding and the structure of the substance depend on the particles involved.</a:t>
            </a:r>
          </a:p>
        </p:txBody>
      </p:sp>
      <p:grpSp>
        <p:nvGrpSpPr>
          <p:cNvPr id="11" name="Group 10"/>
          <p:cNvGrpSpPr/>
          <p:nvPr/>
        </p:nvGrpSpPr>
        <p:grpSpPr>
          <a:xfrm>
            <a:off x="-9254" y="930411"/>
            <a:ext cx="2477565" cy="5301977"/>
            <a:chOff x="27993" y="923925"/>
            <a:chExt cx="2477565" cy="5301977"/>
          </a:xfrm>
        </p:grpSpPr>
        <p:pic>
          <p:nvPicPr>
            <p:cNvPr id="10" name="Picture 9"/>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rot="16200000">
              <a:off x="1059842" y="4291380"/>
              <a:ext cx="655930" cy="510168"/>
            </a:xfrm>
            <a:prstGeom prst="rect">
              <a:avLst/>
            </a:prstGeom>
          </p:spPr>
        </p:pic>
        <p:pic>
          <p:nvPicPr>
            <p:cNvPr id="5" name="Picture 4"/>
            <p:cNvPicPr>
              <a:picLocks noChangeAspect="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rot="16200000">
              <a:off x="1021781" y="2357805"/>
              <a:ext cx="655930" cy="510168"/>
            </a:xfrm>
            <a:prstGeom prst="rect">
              <a:avLst/>
            </a:prstGeom>
          </p:spPr>
        </p:pic>
        <p:pic>
          <p:nvPicPr>
            <p:cNvPr id="6" name="Picture 5"/>
            <p:cNvPicPr>
              <a:picLocks noChangeAspect="1"/>
            </p:cNvPicPr>
            <p:nvPr/>
          </p:nvPicPr>
          <p:blipFill>
            <a:blip r:embed="rId4">
              <a:duotone>
                <a:schemeClr val="accent6">
                  <a:shade val="45000"/>
                  <a:satMod val="135000"/>
                </a:schemeClr>
                <a:prstClr val="white"/>
              </a:duotone>
            </a:blip>
            <a:stretch>
              <a:fillRect/>
            </a:stretch>
          </p:blipFill>
          <p:spPr>
            <a:xfrm>
              <a:off x="611560" y="923925"/>
              <a:ext cx="1476375" cy="1438275"/>
            </a:xfrm>
            <a:prstGeom prst="rect">
              <a:avLst/>
            </a:prstGeom>
          </p:spPr>
        </p:pic>
        <p:pic>
          <p:nvPicPr>
            <p:cNvPr id="7" name="Picture 6"/>
            <p:cNvPicPr>
              <a:picLocks noChangeAspect="1"/>
            </p:cNvPicPr>
            <p:nvPr/>
          </p:nvPicPr>
          <p:blipFill>
            <a:blip r:embed="rId5">
              <a:duotone>
                <a:schemeClr val="accent6">
                  <a:shade val="45000"/>
                  <a:satMod val="135000"/>
                </a:schemeClr>
                <a:prstClr val="white"/>
              </a:duotone>
            </a:blip>
            <a:stretch>
              <a:fillRect/>
            </a:stretch>
          </p:blipFill>
          <p:spPr>
            <a:xfrm>
              <a:off x="640134" y="2867025"/>
              <a:ext cx="1419225" cy="1428750"/>
            </a:xfrm>
            <a:prstGeom prst="rect">
              <a:avLst/>
            </a:prstGeom>
          </p:spPr>
        </p:pic>
        <p:pic>
          <p:nvPicPr>
            <p:cNvPr id="8" name="Picture 7"/>
            <p:cNvPicPr>
              <a:picLocks noChangeAspect="1"/>
            </p:cNvPicPr>
            <p:nvPr/>
          </p:nvPicPr>
          <p:blipFill>
            <a:blip r:embed="rId6">
              <a:duotone>
                <a:schemeClr val="accent6">
                  <a:shade val="45000"/>
                  <a:satMod val="135000"/>
                </a:schemeClr>
                <a:prstClr val="white"/>
              </a:duotone>
            </a:blip>
            <a:stretch>
              <a:fillRect/>
            </a:stretch>
          </p:blipFill>
          <p:spPr>
            <a:xfrm>
              <a:off x="687720" y="4797152"/>
              <a:ext cx="1400175" cy="1428750"/>
            </a:xfrm>
            <a:prstGeom prst="rect">
              <a:avLst/>
            </a:prstGeom>
          </p:spPr>
        </p:pic>
        <p:sp>
          <p:nvSpPr>
            <p:cNvPr id="9" name="TextBox 8"/>
            <p:cNvSpPr txBox="1"/>
            <p:nvPr/>
          </p:nvSpPr>
          <p:spPr>
            <a:xfrm>
              <a:off x="1592673" y="2375592"/>
              <a:ext cx="912885" cy="369332"/>
            </a:xfrm>
            <a:prstGeom prst="rect">
              <a:avLst/>
            </a:prstGeom>
            <a:noFill/>
          </p:spPr>
          <p:txBody>
            <a:bodyPr wrap="square" rtlCol="0">
              <a:spAutoFit/>
            </a:bodyPr>
            <a:lstStyle/>
            <a:p>
              <a:r>
                <a:rPr lang="en-GB" dirty="0" smtClean="0"/>
                <a:t>Melting</a:t>
              </a:r>
              <a:endParaRPr lang="en-GB" dirty="0"/>
            </a:p>
          </p:txBody>
        </p:sp>
        <p:sp>
          <p:nvSpPr>
            <p:cNvPr id="12" name="TextBox 11"/>
            <p:cNvSpPr txBox="1"/>
            <p:nvPr/>
          </p:nvSpPr>
          <p:spPr>
            <a:xfrm>
              <a:off x="160437" y="2375592"/>
              <a:ext cx="1054566" cy="369332"/>
            </a:xfrm>
            <a:prstGeom prst="rect">
              <a:avLst/>
            </a:prstGeom>
            <a:noFill/>
          </p:spPr>
          <p:txBody>
            <a:bodyPr wrap="square" rtlCol="0">
              <a:spAutoFit/>
            </a:bodyPr>
            <a:lstStyle/>
            <a:p>
              <a:r>
                <a:rPr lang="en-GB" dirty="0" smtClean="0"/>
                <a:t>Freezing</a:t>
              </a:r>
              <a:endParaRPr lang="en-GB" dirty="0"/>
            </a:p>
          </p:txBody>
        </p:sp>
        <p:sp>
          <p:nvSpPr>
            <p:cNvPr id="13" name="TextBox 12"/>
            <p:cNvSpPr txBox="1"/>
            <p:nvPr/>
          </p:nvSpPr>
          <p:spPr>
            <a:xfrm>
              <a:off x="27993" y="4361797"/>
              <a:ext cx="1376524" cy="369332"/>
            </a:xfrm>
            <a:prstGeom prst="rect">
              <a:avLst/>
            </a:prstGeom>
            <a:noFill/>
          </p:spPr>
          <p:txBody>
            <a:bodyPr wrap="square" rtlCol="0">
              <a:spAutoFit/>
            </a:bodyPr>
            <a:lstStyle/>
            <a:p>
              <a:r>
                <a:rPr lang="en-GB" dirty="0" smtClean="0"/>
                <a:t>Condensing</a:t>
              </a:r>
              <a:endParaRPr lang="en-GB" dirty="0"/>
            </a:p>
          </p:txBody>
        </p:sp>
        <p:sp>
          <p:nvSpPr>
            <p:cNvPr id="14" name="TextBox 13"/>
            <p:cNvSpPr txBox="1"/>
            <p:nvPr/>
          </p:nvSpPr>
          <p:spPr>
            <a:xfrm>
              <a:off x="1592672" y="4361797"/>
              <a:ext cx="912885" cy="369332"/>
            </a:xfrm>
            <a:prstGeom prst="rect">
              <a:avLst/>
            </a:prstGeom>
            <a:noFill/>
          </p:spPr>
          <p:txBody>
            <a:bodyPr wrap="square" rtlCol="0">
              <a:spAutoFit/>
            </a:bodyPr>
            <a:lstStyle/>
            <a:p>
              <a:r>
                <a:rPr lang="en-GB" dirty="0" smtClean="0"/>
                <a:t>Boiling</a:t>
              </a:r>
              <a:endParaRPr lang="en-GB" dirty="0"/>
            </a:p>
          </p:txBody>
        </p:sp>
      </p:grpSp>
      <p:sp>
        <p:nvSpPr>
          <p:cNvPr id="16" name="TextBox 15">
            <a:extLst>
              <a:ext uri="{FF2B5EF4-FFF2-40B4-BE49-F238E27FC236}">
                <a16:creationId xmlns:a16="http://schemas.microsoft.com/office/drawing/2014/main" xmlns="" id="{069D24D6-BF3E-48D1-A1E3-FB8C618604DE}"/>
              </a:ext>
            </a:extLst>
          </p:cNvPr>
          <p:cNvSpPr txBox="1"/>
          <p:nvPr/>
        </p:nvSpPr>
        <p:spPr>
          <a:xfrm>
            <a:off x="2146301" y="5035958"/>
            <a:ext cx="6832578" cy="132343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rtlCol="0">
            <a:spAutoFit/>
          </a:bodyPr>
          <a:lstStyle/>
          <a:p>
            <a:r>
              <a:rPr lang="en-GB" sz="2000" dirty="0" smtClean="0"/>
              <a:t>HT ONLY - There are limitations of the particle model of matter:</a:t>
            </a:r>
            <a:endParaRPr lang="en-GB" sz="2000" dirty="0"/>
          </a:p>
          <a:p>
            <a:pPr marL="342900" indent="-342900">
              <a:buFont typeface="Arial" panose="020B0604020202020204" pitchFamily="34" charset="0"/>
              <a:buChar char="•"/>
            </a:pPr>
            <a:r>
              <a:rPr lang="en-GB" sz="2000" dirty="0" smtClean="0"/>
              <a:t>There are no forces</a:t>
            </a:r>
          </a:p>
          <a:p>
            <a:pPr marL="342900" indent="-342900">
              <a:buFont typeface="Arial" panose="020B0604020202020204" pitchFamily="34" charset="0"/>
              <a:buChar char="•"/>
            </a:pPr>
            <a:r>
              <a:rPr lang="en-GB" sz="2000" dirty="0" smtClean="0"/>
              <a:t>All particles are shown as spheres</a:t>
            </a:r>
          </a:p>
          <a:p>
            <a:pPr marL="342900" indent="-342900">
              <a:buFont typeface="Arial" panose="020B0604020202020204" pitchFamily="34" charset="0"/>
              <a:buChar char="•"/>
            </a:pPr>
            <a:r>
              <a:rPr lang="en-GB" sz="2000" dirty="0" smtClean="0"/>
              <a:t>The spheres are solid</a:t>
            </a:r>
          </a:p>
        </p:txBody>
      </p:sp>
    </p:spTree>
    <p:extLst>
      <p:ext uri="{BB962C8B-B14F-4D97-AF65-F5344CB8AC3E}">
        <p14:creationId xmlns:p14="http://schemas.microsoft.com/office/powerpoint/2010/main" val="5578834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Changes of </a:t>
            </a:r>
            <a:r>
              <a:rPr lang="en-US" sz="2400" b="1" dirty="0" smtClean="0">
                <a:solidFill>
                  <a:schemeClr val="accent6"/>
                </a:solidFill>
              </a:rPr>
              <a:t>state</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17410" name="Picture 2" descr="Water changes from solid ice to liquid water at zero degrees celcius. Water turns from liquid water to water vapour gas at 100 degrees celcius.">
            <a:extLst>
              <a:ext uri="{FF2B5EF4-FFF2-40B4-BE49-F238E27FC236}">
                <a16:creationId xmlns:a16="http://schemas.microsoft.com/office/drawing/2014/main" xmlns="" id="{A1201FC4-6A05-469F-AD12-503E26476B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754" y="2564904"/>
            <a:ext cx="4578026" cy="326565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xmlns="" id="{91290B59-4FC8-4BAE-9B5D-00A24AAACE43}"/>
              </a:ext>
            </a:extLst>
          </p:cNvPr>
          <p:cNvSpPr/>
          <p:nvPr/>
        </p:nvSpPr>
        <p:spPr>
          <a:xfrm>
            <a:off x="5283705" y="2852936"/>
            <a:ext cx="3274858" cy="2554545"/>
          </a:xfrm>
          <a:prstGeom prst="rect">
            <a:avLst/>
          </a:prstGeom>
        </p:spPr>
        <p:txBody>
          <a:bodyPr wrap="square">
            <a:spAutoFit/>
          </a:bodyPr>
          <a:lstStyle/>
          <a:p>
            <a:pPr algn="ctr"/>
            <a:r>
              <a:rPr lang="en-GB" sz="2000" dirty="0"/>
              <a:t>A substance must </a:t>
            </a:r>
            <a:r>
              <a:rPr lang="en-GB" sz="2000" b="1" dirty="0"/>
              <a:t>absorb</a:t>
            </a:r>
            <a:r>
              <a:rPr lang="en-GB" sz="2000" dirty="0"/>
              <a:t> heat energy so that it can</a:t>
            </a:r>
            <a:r>
              <a:rPr lang="en-GB" sz="2000" b="1" dirty="0"/>
              <a:t> melt </a:t>
            </a:r>
            <a:r>
              <a:rPr lang="en-GB" sz="2000" dirty="0"/>
              <a:t>or </a:t>
            </a:r>
            <a:r>
              <a:rPr lang="en-GB" sz="2000" b="1" dirty="0"/>
              <a:t>boil</a:t>
            </a:r>
            <a:r>
              <a:rPr lang="en-GB" sz="2000" dirty="0"/>
              <a:t>. The </a:t>
            </a:r>
            <a:r>
              <a:rPr lang="en-GB" sz="2000" b="1" dirty="0"/>
              <a:t>temperature</a:t>
            </a:r>
            <a:r>
              <a:rPr lang="en-GB" sz="2000" dirty="0"/>
              <a:t> of the substance does </a:t>
            </a:r>
            <a:r>
              <a:rPr lang="en-GB" sz="2000" b="1" dirty="0"/>
              <a:t>not change </a:t>
            </a:r>
            <a:r>
              <a:rPr lang="en-GB" sz="2000" dirty="0"/>
              <a:t>during</a:t>
            </a:r>
            <a:r>
              <a:rPr lang="en-GB" sz="2000" b="1" dirty="0"/>
              <a:t> melting</a:t>
            </a:r>
            <a:r>
              <a:rPr lang="en-GB" sz="2000" dirty="0"/>
              <a:t>, </a:t>
            </a:r>
            <a:r>
              <a:rPr lang="en-GB" sz="2000" b="1" dirty="0"/>
              <a:t>boiling </a:t>
            </a:r>
            <a:r>
              <a:rPr lang="en-GB" sz="2000" dirty="0"/>
              <a:t>or </a:t>
            </a:r>
            <a:r>
              <a:rPr lang="en-GB" sz="2000" b="1" dirty="0"/>
              <a:t>freezing</a:t>
            </a:r>
            <a:r>
              <a:rPr lang="en-GB" sz="2000" dirty="0"/>
              <a:t>, even though energy is still being transferred</a:t>
            </a:r>
            <a:r>
              <a:rPr lang="en-GB" sz="2000" dirty="0" smtClean="0"/>
              <a:t>.</a:t>
            </a:r>
            <a:endParaRPr lang="en-GB" sz="2000" dirty="0"/>
          </a:p>
        </p:txBody>
      </p:sp>
      <p:sp>
        <p:nvSpPr>
          <p:cNvPr id="6" name="Rectangle 5">
            <a:extLst>
              <a:ext uri="{FF2B5EF4-FFF2-40B4-BE49-F238E27FC236}">
                <a16:creationId xmlns:a16="http://schemas.microsoft.com/office/drawing/2014/main" xmlns="" id="{D07008D0-5FD8-4609-8D1C-92F9957B6A92}"/>
              </a:ext>
            </a:extLst>
          </p:cNvPr>
          <p:cNvSpPr/>
          <p:nvPr/>
        </p:nvSpPr>
        <p:spPr>
          <a:xfrm>
            <a:off x="305780" y="1135760"/>
            <a:ext cx="4572000" cy="1323439"/>
          </a:xfrm>
          <a:prstGeom prst="rect">
            <a:avLst/>
          </a:prstGeom>
        </p:spPr>
        <p:txBody>
          <a:bodyPr>
            <a:spAutoFit/>
          </a:bodyPr>
          <a:lstStyle/>
          <a:p>
            <a:pPr algn="ctr"/>
            <a:r>
              <a:rPr lang="en-GB" sz="2000" dirty="0"/>
              <a:t>The graph shows a </a:t>
            </a:r>
            <a:r>
              <a:rPr lang="en-GB" sz="2000" b="1" dirty="0"/>
              <a:t>heating curve </a:t>
            </a:r>
            <a:r>
              <a:rPr lang="en-GB" sz="2000" dirty="0"/>
              <a:t>of a solid, which shows the temperature of a substance plotted against the amount of energy it has absorbed:</a:t>
            </a:r>
          </a:p>
        </p:txBody>
      </p:sp>
      <p:sp>
        <p:nvSpPr>
          <p:cNvPr id="7" name="Rectangle 6">
            <a:extLst>
              <a:ext uri="{FF2B5EF4-FFF2-40B4-BE49-F238E27FC236}">
                <a16:creationId xmlns:a16="http://schemas.microsoft.com/office/drawing/2014/main" xmlns="" id="{E56C3CFF-AE3B-4459-8CF7-5DEFEAB25631}"/>
              </a:ext>
            </a:extLst>
          </p:cNvPr>
          <p:cNvSpPr/>
          <p:nvPr/>
        </p:nvSpPr>
        <p:spPr>
          <a:xfrm>
            <a:off x="146374" y="830486"/>
            <a:ext cx="8818114" cy="5550842"/>
          </a:xfrm>
          <a:prstGeom prst="rect">
            <a:avLst/>
          </a:prstGeom>
          <a:noFill/>
          <a:ln>
            <a:solidFill>
              <a:schemeClr val="accent6">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4671420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585871"/>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Properties of </a:t>
            </a:r>
          </a:p>
          <a:p>
            <a:r>
              <a:rPr lang="en-GB" sz="3600" b="1" dirty="0">
                <a:solidFill>
                  <a:schemeClr val="tx1">
                    <a:lumMod val="50000"/>
                    <a:lumOff val="50000"/>
                  </a:schemeClr>
                </a:solidFill>
              </a:rPr>
              <a:t>substances 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States of matter</a:t>
            </a:r>
          </a:p>
          <a:p>
            <a:pPr marL="685800" lvl="1" indent="-342900">
              <a:buFont typeface="Arial" charset="0"/>
              <a:buChar char="•"/>
            </a:pPr>
            <a:r>
              <a:rPr lang="en-US" sz="2400" b="1" dirty="0">
                <a:solidFill>
                  <a:schemeClr val="bg1">
                    <a:lumMod val="50000"/>
                  </a:schemeClr>
                </a:solidFill>
              </a:rPr>
              <a:t>State symbols</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9076289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1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743393" cy="4678204"/>
          </a:xfrm>
          <a:prstGeom prst="rect">
            <a:avLst/>
          </a:prstGeom>
          <a:noFill/>
        </p:spPr>
        <p:txBody>
          <a:bodyPr wrap="square" rtlCol="0">
            <a:spAutoFit/>
          </a:bodyPr>
          <a:lstStyle/>
          <a:p>
            <a:pPr marL="457200" indent="-457200">
              <a:buFont typeface="+mj-lt"/>
              <a:buAutoNum type="arabicPeriod"/>
            </a:pPr>
            <a:r>
              <a:rPr lang="en-GB" sz="2400" dirty="0" smtClean="0"/>
              <a:t>What are the three states of matter?</a:t>
            </a:r>
          </a:p>
          <a:p>
            <a:pPr marL="457200" indent="-457200">
              <a:buFont typeface="+mj-lt"/>
              <a:buAutoNum type="arabicPeriod"/>
            </a:pPr>
            <a:endParaRPr lang="en-GB" sz="2400" dirty="0" smtClean="0"/>
          </a:p>
          <a:p>
            <a:pPr marL="457200" indent="-457200">
              <a:buFont typeface="+mj-lt"/>
              <a:buAutoNum type="arabicPeriod"/>
            </a:pPr>
            <a:r>
              <a:rPr lang="en-GB" sz="2400" dirty="0" smtClean="0"/>
              <a:t>What is used to represent particles in the simple particle model?</a:t>
            </a:r>
          </a:p>
          <a:p>
            <a:pPr marL="457200" indent="-457200">
              <a:buFont typeface="+mj-lt"/>
              <a:buAutoNum type="arabicPeriod"/>
            </a:pPr>
            <a:endParaRPr lang="en-GB" sz="2400" dirty="0" smtClean="0"/>
          </a:p>
          <a:p>
            <a:pPr marL="457200" indent="-457200">
              <a:buFont typeface="+mj-lt"/>
              <a:buAutoNum type="arabicPeriod"/>
            </a:pPr>
            <a:r>
              <a:rPr lang="en-GB" sz="2400" dirty="0" smtClean="0"/>
              <a:t>What takes place at the melting point?</a:t>
            </a:r>
          </a:p>
          <a:p>
            <a:pPr marL="457200" indent="-457200">
              <a:buFont typeface="+mj-lt"/>
              <a:buAutoNum type="arabicPeriod"/>
            </a:pPr>
            <a:endParaRPr lang="en-GB" sz="2400" dirty="0" smtClean="0"/>
          </a:p>
          <a:p>
            <a:pPr marL="457200" indent="-457200">
              <a:buFont typeface="+mj-lt"/>
              <a:buAutoNum type="arabicPeriod"/>
            </a:pPr>
            <a:r>
              <a:rPr lang="en-GB" sz="2400" dirty="0" smtClean="0"/>
              <a:t>What takes place at the boiling point?</a:t>
            </a:r>
          </a:p>
          <a:p>
            <a:pPr marL="457200" indent="-457200">
              <a:buFont typeface="+mj-lt"/>
              <a:buAutoNum type="arabicPeriod"/>
            </a:pPr>
            <a:endParaRPr lang="en-GB" sz="2400" dirty="0" smtClean="0"/>
          </a:p>
          <a:p>
            <a:pPr marL="457200" indent="-457200">
              <a:buFont typeface="+mj-lt"/>
              <a:buAutoNum type="arabicPeriod"/>
            </a:pPr>
            <a:r>
              <a:rPr lang="en-GB" sz="2400" dirty="0" smtClean="0"/>
              <a:t>What factor affects the amount of energy needed to change state?</a:t>
            </a:r>
          </a:p>
          <a:p>
            <a:pPr marL="457200" indent="-457200">
              <a:buFont typeface="+mj-lt"/>
              <a:buAutoNum type="arabicPeriod"/>
            </a:pPr>
            <a:endParaRPr lang="en-GB" sz="2400" dirty="0" smtClean="0"/>
          </a:p>
          <a:p>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10781642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1–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743393" cy="3939540"/>
          </a:xfrm>
          <a:prstGeom prst="rect">
            <a:avLst/>
          </a:prstGeom>
          <a:noFill/>
        </p:spPr>
        <p:txBody>
          <a:bodyPr wrap="square" rtlCol="0">
            <a:spAutoFit/>
          </a:bodyPr>
          <a:lstStyle/>
          <a:p>
            <a:pPr marL="457200" indent="-457200">
              <a:buFont typeface="+mj-lt"/>
              <a:buAutoNum type="arabicPeriod" startAt="6"/>
            </a:pPr>
            <a:r>
              <a:rPr lang="en-GB" sz="2400" dirty="0" smtClean="0"/>
              <a:t>In chemical equations what symbols are used to show the states of matter?   </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In what state of matter do particles have the most energy?</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What would eventually happen to a gas if pressure is increased?</a:t>
            </a:r>
          </a:p>
          <a:p>
            <a:pPr marL="457200" indent="-457200">
              <a:buFont typeface="+mj-lt"/>
              <a:buAutoNum type="arabicPeriod" startAt="6"/>
            </a:pPr>
            <a:endParaRPr lang="en-GB" sz="2400" dirty="0" smtClean="0"/>
          </a:p>
          <a:p>
            <a:pPr marL="457200" indent="-457200">
              <a:buFont typeface="+mj-lt"/>
              <a:buAutoNum type="arabicPeriod" startAt="6"/>
            </a:pPr>
            <a:r>
              <a:rPr lang="en-GB" sz="2400" b="1" dirty="0" smtClean="0"/>
              <a:t>HT ONLY</a:t>
            </a:r>
            <a:r>
              <a:rPr lang="en-GB" sz="2400" dirty="0" smtClean="0"/>
              <a:t>: Explain the limitations of the particle model.</a:t>
            </a:r>
          </a:p>
          <a:p>
            <a:pPr marL="457200" indent="-457200">
              <a:buFont typeface="+mj-lt"/>
              <a:buAutoNum type="arabicPeriod" startAt="6"/>
            </a:pPr>
            <a:endParaRPr lang="en-GB" sz="2400" dirty="0"/>
          </a:p>
          <a:p>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11404996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1 </a:t>
            </a:r>
            <a:r>
              <a:rPr kumimoji="0" lang="en-US" sz="2000" b="1" i="0" u="none" strike="noStrike" kern="1200" cap="none" spc="0" normalizeH="0" baseline="0" noProof="0" dirty="0" err="1" smtClean="0">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1769715"/>
          </a:xfrm>
          <a:prstGeom prst="rect">
            <a:avLst/>
          </a:prstGeom>
          <a:noFill/>
        </p:spPr>
        <p:txBody>
          <a:bodyPr wrap="square" rtlCol="0">
            <a:spAutoFit/>
          </a:bodyPr>
          <a:lstStyle/>
          <a:p>
            <a:pPr marL="457200" indent="-457200">
              <a:buFont typeface="+mj-lt"/>
              <a:buAutoNum type="arabicPeriod" startAt="10"/>
            </a:pPr>
            <a:r>
              <a:rPr lang="en-GB" sz="2400" dirty="0" smtClean="0"/>
              <a:t>The </a:t>
            </a:r>
            <a:r>
              <a:rPr lang="en-GB" sz="2400" dirty="0"/>
              <a:t>following represents the heating of ice:</a:t>
            </a:r>
          </a:p>
          <a:p>
            <a:endParaRPr lang="en-GB" dirty="0"/>
          </a:p>
          <a:p>
            <a:endParaRPr lang="en-GB" sz="2400" dirty="0">
              <a:solidFill>
                <a:srgbClr val="00B050"/>
              </a:solidFill>
            </a:endParaRPr>
          </a:p>
          <a:p>
            <a:pPr>
              <a:lnSpc>
                <a:spcPct val="150000"/>
              </a:lnSpc>
            </a:pPr>
            <a:endParaRPr lang="en-GB" dirty="0"/>
          </a:p>
          <a:p>
            <a:pPr marL="342900" indent="-342900">
              <a:buFont typeface="+mj-lt"/>
              <a:buAutoNum type="arabicPeriod"/>
            </a:pPr>
            <a:endParaRPr lang="en-GB" sz="1600" dirty="0"/>
          </a:p>
        </p:txBody>
      </p:sp>
      <p:pic>
        <p:nvPicPr>
          <p:cNvPr id="3" name="Picture 2">
            <a:extLst>
              <a:ext uri="{FF2B5EF4-FFF2-40B4-BE49-F238E27FC236}">
                <a16:creationId xmlns:a16="http://schemas.microsoft.com/office/drawing/2014/main" xmlns="" id="{411DE91A-3EB7-4AAC-A061-758D9996F120}"/>
              </a:ext>
            </a:extLst>
          </p:cNvPr>
          <p:cNvPicPr>
            <a:picLocks noChangeAspect="1"/>
          </p:cNvPicPr>
          <p:nvPr/>
        </p:nvPicPr>
        <p:blipFill>
          <a:blip r:embed="rId2"/>
          <a:stretch>
            <a:fillRect/>
          </a:stretch>
        </p:blipFill>
        <p:spPr>
          <a:xfrm>
            <a:off x="406811" y="1952706"/>
            <a:ext cx="4648200" cy="2876550"/>
          </a:xfrm>
          <a:prstGeom prst="rect">
            <a:avLst/>
          </a:prstGeom>
        </p:spPr>
      </p:pic>
      <p:sp>
        <p:nvSpPr>
          <p:cNvPr id="5" name="TextBox 4">
            <a:extLst>
              <a:ext uri="{FF2B5EF4-FFF2-40B4-BE49-F238E27FC236}">
                <a16:creationId xmlns:a16="http://schemas.microsoft.com/office/drawing/2014/main" xmlns="" id="{F99590B1-4B9E-497F-B58E-3574FA65F4F5}"/>
              </a:ext>
            </a:extLst>
          </p:cNvPr>
          <p:cNvSpPr txBox="1"/>
          <p:nvPr/>
        </p:nvSpPr>
        <p:spPr>
          <a:xfrm>
            <a:off x="5277960" y="2421485"/>
            <a:ext cx="3772407" cy="1938992"/>
          </a:xfrm>
          <a:prstGeom prst="rect">
            <a:avLst/>
          </a:prstGeom>
          <a:noFill/>
        </p:spPr>
        <p:txBody>
          <a:bodyPr wrap="square" rtlCol="0">
            <a:spAutoFit/>
          </a:bodyPr>
          <a:lstStyle/>
          <a:p>
            <a:pPr marL="342900" indent="-342900">
              <a:buAutoNum type="alphaLcParenR"/>
            </a:pPr>
            <a:r>
              <a:rPr lang="en-GB" sz="2400" dirty="0"/>
              <a:t>What change in state happens at stage 2?</a:t>
            </a:r>
          </a:p>
          <a:p>
            <a:endParaRPr lang="en-GB" sz="2400" dirty="0"/>
          </a:p>
          <a:p>
            <a:r>
              <a:rPr lang="en-GB" sz="2400" dirty="0"/>
              <a:t>b) What is happening at   </a:t>
            </a:r>
          </a:p>
          <a:p>
            <a:r>
              <a:rPr lang="en-GB" sz="2400" dirty="0"/>
              <a:t>     stage 4?</a:t>
            </a:r>
          </a:p>
        </p:txBody>
      </p:sp>
    </p:spTree>
    <p:extLst>
      <p:ext uri="{BB962C8B-B14F-4D97-AF65-F5344CB8AC3E}">
        <p14:creationId xmlns:p14="http://schemas.microsoft.com/office/powerpoint/2010/main" val="3722805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9464" y="62068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940152" cy="4308872"/>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Properties of </a:t>
            </a:r>
          </a:p>
          <a:p>
            <a:r>
              <a:rPr lang="en-GB" sz="3600" b="1" dirty="0">
                <a:solidFill>
                  <a:schemeClr val="tx1">
                    <a:lumMod val="50000"/>
                    <a:lumOff val="50000"/>
                  </a:schemeClr>
                </a:solidFill>
              </a:rPr>
              <a:t>substances Part 1</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States of matter</a:t>
            </a:r>
          </a:p>
          <a:p>
            <a:pPr marL="685800" lvl="1" indent="-342900">
              <a:buFont typeface="Arial" charset="0"/>
              <a:buChar char="•"/>
            </a:pPr>
            <a:r>
              <a:rPr lang="en-US" sz="2400" b="1" dirty="0">
                <a:solidFill>
                  <a:schemeClr val="bg1">
                    <a:lumMod val="50000"/>
                  </a:schemeClr>
                </a:solidFill>
              </a:rPr>
              <a:t>State symbols</a:t>
            </a:r>
          </a:p>
        </p:txBody>
      </p:sp>
    </p:spTree>
    <p:extLst>
      <p:ext uri="{BB962C8B-B14F-4D97-AF65-F5344CB8AC3E}">
        <p14:creationId xmlns:p14="http://schemas.microsoft.com/office/powerpoint/2010/main" val="141755715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1–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743393" cy="4678204"/>
          </a:xfrm>
          <a:prstGeom prst="rect">
            <a:avLst/>
          </a:prstGeom>
          <a:noFill/>
        </p:spPr>
        <p:txBody>
          <a:bodyPr wrap="square" rtlCol="0">
            <a:spAutoFit/>
          </a:bodyPr>
          <a:lstStyle/>
          <a:p>
            <a:pPr marL="457200" indent="-457200">
              <a:buFont typeface="+mj-lt"/>
              <a:buAutoNum type="arabicPeriod"/>
            </a:pPr>
            <a:r>
              <a:rPr lang="en-GB" sz="2400" dirty="0" smtClean="0"/>
              <a:t>What are the three states of matter?</a:t>
            </a:r>
          </a:p>
          <a:p>
            <a:pPr lvl="1"/>
            <a:r>
              <a:rPr lang="en-GB" sz="2400" b="1" dirty="0" smtClean="0">
                <a:solidFill>
                  <a:srgbClr val="00B050"/>
                </a:solidFill>
              </a:rPr>
              <a:t>Solid, liquid, gas.</a:t>
            </a:r>
            <a:endParaRPr lang="en-GB" sz="2400" dirty="0" smtClean="0"/>
          </a:p>
          <a:p>
            <a:pPr marL="457200" indent="-457200">
              <a:buFont typeface="+mj-lt"/>
              <a:buAutoNum type="arabicPeriod"/>
            </a:pPr>
            <a:r>
              <a:rPr lang="en-GB" sz="2400" dirty="0" smtClean="0"/>
              <a:t>What is used to represent particles in the simple particle model?</a:t>
            </a:r>
          </a:p>
          <a:p>
            <a:pPr lvl="1"/>
            <a:r>
              <a:rPr lang="en-GB" sz="2400" b="1" dirty="0" smtClean="0">
                <a:solidFill>
                  <a:srgbClr val="00B050"/>
                </a:solidFill>
              </a:rPr>
              <a:t>Small solid spheres.</a:t>
            </a:r>
            <a:endParaRPr lang="en-GB" sz="2400" dirty="0" smtClean="0"/>
          </a:p>
          <a:p>
            <a:pPr marL="457200" indent="-457200">
              <a:buFont typeface="+mj-lt"/>
              <a:buAutoNum type="arabicPeriod"/>
            </a:pPr>
            <a:r>
              <a:rPr lang="en-GB" sz="2400" dirty="0" smtClean="0"/>
              <a:t>What takes place at the melting point?</a:t>
            </a:r>
          </a:p>
          <a:p>
            <a:pPr lvl="1"/>
            <a:r>
              <a:rPr lang="en-GB" sz="2400" b="1" dirty="0" smtClean="0">
                <a:solidFill>
                  <a:srgbClr val="00B050"/>
                </a:solidFill>
              </a:rPr>
              <a:t>Melting and freezing.</a:t>
            </a:r>
            <a:endParaRPr lang="en-GB" sz="2400" dirty="0" smtClean="0"/>
          </a:p>
          <a:p>
            <a:pPr marL="457200" indent="-457200">
              <a:buFont typeface="+mj-lt"/>
              <a:buAutoNum type="arabicPeriod"/>
            </a:pPr>
            <a:r>
              <a:rPr lang="en-GB" sz="2400" dirty="0" smtClean="0"/>
              <a:t>What takes place at the boiling point?</a:t>
            </a:r>
          </a:p>
          <a:p>
            <a:pPr lvl="1"/>
            <a:r>
              <a:rPr lang="en-GB" sz="2400" b="1" dirty="0" smtClean="0">
                <a:solidFill>
                  <a:srgbClr val="00B050"/>
                </a:solidFill>
              </a:rPr>
              <a:t>Boiling and condensing.</a:t>
            </a:r>
            <a:endParaRPr lang="en-GB" sz="2400" dirty="0" smtClean="0"/>
          </a:p>
          <a:p>
            <a:pPr marL="457200" indent="-457200">
              <a:buFont typeface="+mj-lt"/>
              <a:buAutoNum type="arabicPeriod"/>
            </a:pPr>
            <a:r>
              <a:rPr lang="en-GB" sz="2400" dirty="0" smtClean="0"/>
              <a:t>What factor affects the amount of energy needed to change state?</a:t>
            </a:r>
          </a:p>
          <a:p>
            <a:pPr lvl="1"/>
            <a:r>
              <a:rPr lang="en-GB" sz="2400" b="1" dirty="0" smtClean="0">
                <a:solidFill>
                  <a:srgbClr val="00B050"/>
                </a:solidFill>
              </a:rPr>
              <a:t>Forces between molecules.</a:t>
            </a:r>
            <a:endParaRPr lang="en-GB" sz="2400" dirty="0" smtClean="0"/>
          </a:p>
          <a:p>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110587676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1–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743393" cy="3939540"/>
          </a:xfrm>
          <a:prstGeom prst="rect">
            <a:avLst/>
          </a:prstGeom>
          <a:noFill/>
        </p:spPr>
        <p:txBody>
          <a:bodyPr wrap="square" rtlCol="0">
            <a:spAutoFit/>
          </a:bodyPr>
          <a:lstStyle/>
          <a:p>
            <a:pPr marL="457200" indent="-457200">
              <a:buFont typeface="+mj-lt"/>
              <a:buAutoNum type="arabicPeriod" startAt="6"/>
            </a:pPr>
            <a:r>
              <a:rPr lang="en-GB" sz="2400" dirty="0" smtClean="0"/>
              <a:t>In chemical equations what symbols are used to show the states of matter?   </a:t>
            </a:r>
          </a:p>
          <a:p>
            <a:pPr lvl="1"/>
            <a:r>
              <a:rPr lang="en-GB" sz="2400" b="1" dirty="0">
                <a:solidFill>
                  <a:srgbClr val="00B050"/>
                </a:solidFill>
              </a:rPr>
              <a:t>Solid = (s); liquid = (l); gas = (g); aqueous = (</a:t>
            </a:r>
            <a:r>
              <a:rPr lang="en-GB" sz="2400" b="1" dirty="0" err="1">
                <a:solidFill>
                  <a:srgbClr val="00B050"/>
                </a:solidFill>
              </a:rPr>
              <a:t>aq</a:t>
            </a:r>
            <a:r>
              <a:rPr lang="en-GB" sz="2400" b="1" dirty="0">
                <a:solidFill>
                  <a:srgbClr val="00B050"/>
                </a:solidFill>
              </a:rPr>
              <a:t>)</a:t>
            </a:r>
            <a:endParaRPr lang="en-GB" sz="2400" dirty="0"/>
          </a:p>
          <a:p>
            <a:pPr marL="457200" indent="-457200">
              <a:buFont typeface="+mj-lt"/>
              <a:buAutoNum type="arabicPeriod" startAt="6"/>
            </a:pPr>
            <a:r>
              <a:rPr lang="en-GB" sz="2400" dirty="0" smtClean="0"/>
              <a:t>In what state of matter do particles have the most energy?</a:t>
            </a:r>
          </a:p>
          <a:p>
            <a:pPr lvl="1"/>
            <a:r>
              <a:rPr lang="en-GB" sz="2400" b="1" dirty="0" smtClean="0">
                <a:solidFill>
                  <a:srgbClr val="00B050"/>
                </a:solidFill>
              </a:rPr>
              <a:t>Gas.</a:t>
            </a:r>
            <a:endParaRPr lang="en-GB" sz="2400" dirty="0" smtClean="0"/>
          </a:p>
          <a:p>
            <a:pPr marL="457200" indent="-457200">
              <a:buFont typeface="+mj-lt"/>
              <a:buAutoNum type="arabicPeriod" startAt="6"/>
            </a:pPr>
            <a:r>
              <a:rPr lang="en-GB" sz="2400" dirty="0" smtClean="0"/>
              <a:t>What would eventually happen to a gas if pressure is increased?</a:t>
            </a:r>
          </a:p>
          <a:p>
            <a:pPr lvl="1"/>
            <a:r>
              <a:rPr lang="en-GB" sz="2400" b="1" dirty="0" smtClean="0">
                <a:solidFill>
                  <a:srgbClr val="00B050"/>
                </a:solidFill>
              </a:rPr>
              <a:t>Condense into a liquid.</a:t>
            </a:r>
            <a:endParaRPr lang="en-GB" sz="2400" dirty="0" smtClean="0"/>
          </a:p>
          <a:p>
            <a:pPr marL="457200" indent="-457200">
              <a:buFont typeface="+mj-lt"/>
              <a:buAutoNum type="arabicPeriod" startAt="6"/>
            </a:pPr>
            <a:r>
              <a:rPr lang="en-GB" sz="2400" b="1" dirty="0" smtClean="0"/>
              <a:t>HT ONLY</a:t>
            </a:r>
            <a:r>
              <a:rPr lang="en-GB" sz="2400" dirty="0" smtClean="0"/>
              <a:t>: Explain the limitations of the particle model.</a:t>
            </a:r>
          </a:p>
          <a:p>
            <a:pPr lvl="1"/>
            <a:r>
              <a:rPr lang="en-GB" sz="2400" b="1" dirty="0" smtClean="0">
                <a:solidFill>
                  <a:srgbClr val="00B050"/>
                </a:solidFill>
              </a:rPr>
              <a:t>No forces, particles are shown as spheres, spheres are solid.</a:t>
            </a:r>
            <a:endParaRPr lang="en-GB" sz="2400" dirty="0"/>
          </a:p>
          <a:p>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276409934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1–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1769715"/>
          </a:xfrm>
          <a:prstGeom prst="rect">
            <a:avLst/>
          </a:prstGeom>
          <a:noFill/>
        </p:spPr>
        <p:txBody>
          <a:bodyPr wrap="square" rtlCol="0">
            <a:spAutoFit/>
          </a:bodyPr>
          <a:lstStyle/>
          <a:p>
            <a:pPr marL="457200" indent="-457200">
              <a:buFont typeface="+mj-lt"/>
              <a:buAutoNum type="arabicPeriod" startAt="10"/>
            </a:pPr>
            <a:r>
              <a:rPr lang="en-GB" sz="2400" dirty="0" smtClean="0"/>
              <a:t>The </a:t>
            </a:r>
            <a:r>
              <a:rPr lang="en-GB" sz="2400" dirty="0"/>
              <a:t>following represents the heating of ice:</a:t>
            </a:r>
          </a:p>
          <a:p>
            <a:endParaRPr lang="en-GB" dirty="0"/>
          </a:p>
          <a:p>
            <a:endParaRPr lang="en-GB" sz="2400" dirty="0">
              <a:solidFill>
                <a:srgbClr val="00B050"/>
              </a:solidFill>
            </a:endParaRPr>
          </a:p>
          <a:p>
            <a:pPr>
              <a:lnSpc>
                <a:spcPct val="150000"/>
              </a:lnSpc>
            </a:pPr>
            <a:endParaRPr lang="en-GB" dirty="0"/>
          </a:p>
          <a:p>
            <a:pPr marL="342900" indent="-342900">
              <a:buFont typeface="+mj-lt"/>
              <a:buAutoNum type="arabicPeriod"/>
            </a:pPr>
            <a:endParaRPr lang="en-GB" sz="1600" dirty="0"/>
          </a:p>
        </p:txBody>
      </p:sp>
      <p:pic>
        <p:nvPicPr>
          <p:cNvPr id="3" name="Picture 2">
            <a:extLst>
              <a:ext uri="{FF2B5EF4-FFF2-40B4-BE49-F238E27FC236}">
                <a16:creationId xmlns:a16="http://schemas.microsoft.com/office/drawing/2014/main" xmlns="" id="{411DE91A-3EB7-4AAC-A061-758D9996F120}"/>
              </a:ext>
            </a:extLst>
          </p:cNvPr>
          <p:cNvPicPr>
            <a:picLocks noChangeAspect="1"/>
          </p:cNvPicPr>
          <p:nvPr/>
        </p:nvPicPr>
        <p:blipFill>
          <a:blip r:embed="rId2"/>
          <a:stretch>
            <a:fillRect/>
          </a:stretch>
        </p:blipFill>
        <p:spPr>
          <a:xfrm>
            <a:off x="406811" y="1952706"/>
            <a:ext cx="4648200" cy="2876550"/>
          </a:xfrm>
          <a:prstGeom prst="rect">
            <a:avLst/>
          </a:prstGeom>
        </p:spPr>
      </p:pic>
      <p:sp>
        <p:nvSpPr>
          <p:cNvPr id="5" name="TextBox 4">
            <a:extLst>
              <a:ext uri="{FF2B5EF4-FFF2-40B4-BE49-F238E27FC236}">
                <a16:creationId xmlns:a16="http://schemas.microsoft.com/office/drawing/2014/main" xmlns="" id="{F99590B1-4B9E-497F-B58E-3574FA65F4F5}"/>
              </a:ext>
            </a:extLst>
          </p:cNvPr>
          <p:cNvSpPr txBox="1"/>
          <p:nvPr/>
        </p:nvSpPr>
        <p:spPr>
          <a:xfrm>
            <a:off x="5277960" y="2421485"/>
            <a:ext cx="3772407" cy="2308324"/>
          </a:xfrm>
          <a:prstGeom prst="rect">
            <a:avLst/>
          </a:prstGeom>
          <a:noFill/>
        </p:spPr>
        <p:txBody>
          <a:bodyPr wrap="square" rtlCol="0">
            <a:spAutoFit/>
          </a:bodyPr>
          <a:lstStyle/>
          <a:p>
            <a:pPr marL="342900" indent="-342900">
              <a:buAutoNum type="alphaLcParenR"/>
            </a:pPr>
            <a:r>
              <a:rPr lang="en-GB" sz="2400" dirty="0"/>
              <a:t>What change in state happens at stage 2?</a:t>
            </a:r>
          </a:p>
          <a:p>
            <a:r>
              <a:rPr lang="en-GB" sz="2400" dirty="0" smtClean="0"/>
              <a:t>	</a:t>
            </a:r>
            <a:r>
              <a:rPr lang="en-GB" sz="2400" b="1" dirty="0">
                <a:solidFill>
                  <a:srgbClr val="00B050"/>
                </a:solidFill>
              </a:rPr>
              <a:t> </a:t>
            </a:r>
            <a:r>
              <a:rPr lang="en-GB" sz="2400" b="1" dirty="0" smtClean="0">
                <a:solidFill>
                  <a:srgbClr val="00B050"/>
                </a:solidFill>
              </a:rPr>
              <a:t>Melting/ freezing</a:t>
            </a:r>
            <a:endParaRPr lang="en-GB" sz="2400" dirty="0"/>
          </a:p>
          <a:p>
            <a:r>
              <a:rPr lang="en-GB" sz="2400" dirty="0"/>
              <a:t>b) What is happening at   </a:t>
            </a:r>
          </a:p>
          <a:p>
            <a:r>
              <a:rPr lang="en-GB" sz="2400" dirty="0"/>
              <a:t>     stage 4</a:t>
            </a:r>
            <a:r>
              <a:rPr lang="en-GB" sz="2400" dirty="0" smtClean="0"/>
              <a:t>?</a:t>
            </a:r>
          </a:p>
          <a:p>
            <a:r>
              <a:rPr lang="en-GB" sz="2400" dirty="0"/>
              <a:t>	</a:t>
            </a:r>
            <a:r>
              <a:rPr lang="en-GB" sz="2400" b="1" dirty="0">
                <a:solidFill>
                  <a:srgbClr val="00B050"/>
                </a:solidFill>
              </a:rPr>
              <a:t> </a:t>
            </a:r>
            <a:r>
              <a:rPr lang="en-GB" sz="2400" b="1" dirty="0" smtClean="0">
                <a:solidFill>
                  <a:srgbClr val="00B050"/>
                </a:solidFill>
              </a:rPr>
              <a:t>Boiling/ condensing</a:t>
            </a:r>
            <a:endParaRPr lang="en-GB" sz="2400" dirty="0"/>
          </a:p>
        </p:txBody>
      </p:sp>
    </p:spTree>
    <p:extLst>
      <p:ext uri="{BB962C8B-B14F-4D97-AF65-F5344CB8AC3E}">
        <p14:creationId xmlns:p14="http://schemas.microsoft.com/office/powerpoint/2010/main" val="33554385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4163" y="802524"/>
            <a:ext cx="4572000" cy="5816977"/>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smtClean="0">
                <a:solidFill>
                  <a:schemeClr val="tx1">
                    <a:lumMod val="50000"/>
                    <a:lumOff val="50000"/>
                  </a:schemeClr>
                </a:solidFill>
              </a:rPr>
              <a:t>Properties of substances Part 2</a:t>
            </a:r>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Ionic compounds</a:t>
            </a:r>
          </a:p>
          <a:p>
            <a:pPr marL="685800" lvl="1" indent="-342900">
              <a:buFont typeface="Arial" charset="0"/>
              <a:buChar char="•"/>
            </a:pPr>
            <a:r>
              <a:rPr lang="en-US" sz="2400" b="1" dirty="0">
                <a:solidFill>
                  <a:schemeClr val="bg1">
                    <a:lumMod val="50000"/>
                  </a:schemeClr>
                </a:solidFill>
              </a:rPr>
              <a:t>Small molecules</a:t>
            </a:r>
          </a:p>
          <a:p>
            <a:pPr marL="685800" lvl="1" indent="-342900">
              <a:buFont typeface="Arial" charset="0"/>
              <a:buChar char="•"/>
            </a:pPr>
            <a:r>
              <a:rPr lang="en-US" sz="2400" b="1" dirty="0">
                <a:solidFill>
                  <a:schemeClr val="bg1">
                    <a:lumMod val="50000"/>
                  </a:schemeClr>
                </a:solidFill>
              </a:rPr>
              <a:t>Polymers</a:t>
            </a:r>
          </a:p>
          <a:p>
            <a:pPr marL="685800" lvl="1" indent="-342900">
              <a:buFont typeface="Arial" charset="0"/>
              <a:buChar char="•"/>
            </a:pPr>
            <a:r>
              <a:rPr lang="en-US" sz="2400" b="1" dirty="0">
                <a:solidFill>
                  <a:schemeClr val="bg1">
                    <a:lumMod val="50000"/>
                  </a:schemeClr>
                </a:solidFill>
              </a:rPr>
              <a:t>Giant covalent structures</a:t>
            </a:r>
          </a:p>
          <a:p>
            <a:pPr marL="685800" lvl="1" indent="-342900">
              <a:buFont typeface="Arial" charset="0"/>
              <a:buChar char="•"/>
            </a:pPr>
            <a:r>
              <a:rPr lang="en-US" sz="2400" b="1" dirty="0">
                <a:solidFill>
                  <a:schemeClr val="bg1">
                    <a:lumMod val="50000"/>
                  </a:schemeClr>
                </a:solidFill>
              </a:rPr>
              <a:t>Metals and alloys</a:t>
            </a:r>
          </a:p>
          <a:p>
            <a:pPr marL="685800" lvl="1" indent="-342900">
              <a:buFont typeface="Arial" charset="0"/>
              <a:buChar char="•"/>
            </a:pPr>
            <a:endParaRPr lang="en-GB" dirty="0"/>
          </a:p>
        </p:txBody>
      </p:sp>
    </p:spTree>
    <p:extLst>
      <p:ext uri="{BB962C8B-B14F-4D97-AF65-F5344CB8AC3E}">
        <p14:creationId xmlns:p14="http://schemas.microsoft.com/office/powerpoint/2010/main" val="2901371694"/>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55576" y="980728"/>
            <a:ext cx="4740841" cy="5016758"/>
          </a:xfrm>
          <a:prstGeom prst="rect">
            <a:avLst/>
          </a:prstGeom>
          <a:solidFill>
            <a:schemeClr val="bg1"/>
          </a:solidFill>
        </p:spPr>
        <p:style>
          <a:lnRef idx="1">
            <a:schemeClr val="accent6"/>
          </a:lnRef>
          <a:fillRef idx="2">
            <a:schemeClr val="accent6"/>
          </a:fillRef>
          <a:effectRef idx="1">
            <a:schemeClr val="accent6"/>
          </a:effectRef>
          <a:fontRef idx="minor">
            <a:schemeClr val="dk1"/>
          </a:fontRef>
        </p:style>
        <p:txBody>
          <a:bodyPr wrap="square">
            <a:spAutoFit/>
          </a:bodyPr>
          <a:lstStyle/>
          <a:p>
            <a:r>
              <a:rPr lang="en-GB" sz="2000" b="1" u="sng" dirty="0" smtClean="0">
                <a:solidFill>
                  <a:schemeClr val="tx1"/>
                </a:solidFill>
              </a:rPr>
              <a:t>Structure</a:t>
            </a:r>
          </a:p>
          <a:p>
            <a:r>
              <a:rPr lang="en-GB" sz="2000" dirty="0" smtClean="0">
                <a:solidFill>
                  <a:schemeClr val="tx1"/>
                </a:solidFill>
              </a:rPr>
              <a:t>Ionic compounds have </a:t>
            </a:r>
            <a:r>
              <a:rPr lang="en-GB" sz="2000" b="1" dirty="0" smtClean="0">
                <a:solidFill>
                  <a:schemeClr val="accent6">
                    <a:lumMod val="75000"/>
                  </a:schemeClr>
                </a:solidFill>
              </a:rPr>
              <a:t>regular structures </a:t>
            </a:r>
            <a:r>
              <a:rPr lang="en-GB" sz="2000" dirty="0" smtClean="0">
                <a:solidFill>
                  <a:schemeClr val="tx1"/>
                </a:solidFill>
              </a:rPr>
              <a:t>called </a:t>
            </a:r>
            <a:r>
              <a:rPr lang="en-GB" sz="2000" b="1" dirty="0" smtClean="0">
                <a:solidFill>
                  <a:schemeClr val="accent6">
                    <a:lumMod val="75000"/>
                  </a:schemeClr>
                </a:solidFill>
              </a:rPr>
              <a:t>giant ionic lattices</a:t>
            </a:r>
            <a:r>
              <a:rPr lang="en-GB" sz="2000" dirty="0" smtClean="0">
                <a:solidFill>
                  <a:schemeClr val="tx1"/>
                </a:solidFill>
              </a:rPr>
              <a:t>.</a:t>
            </a:r>
          </a:p>
          <a:p>
            <a:endParaRPr lang="en-GB" sz="2000" dirty="0">
              <a:solidFill>
                <a:schemeClr val="tx1"/>
              </a:solidFill>
            </a:endParaRPr>
          </a:p>
          <a:p>
            <a:r>
              <a:rPr lang="en-GB" sz="2000" dirty="0" smtClean="0">
                <a:solidFill>
                  <a:schemeClr val="tx1"/>
                </a:solidFill>
              </a:rPr>
              <a:t>There is </a:t>
            </a:r>
            <a:r>
              <a:rPr lang="en-GB" sz="2000" b="1" dirty="0" smtClean="0">
                <a:solidFill>
                  <a:schemeClr val="accent6">
                    <a:lumMod val="75000"/>
                  </a:schemeClr>
                </a:solidFill>
              </a:rPr>
              <a:t>strong electrostatic forces </a:t>
            </a:r>
            <a:r>
              <a:rPr lang="en-GB" sz="2000" dirty="0" smtClean="0">
                <a:solidFill>
                  <a:schemeClr val="tx1"/>
                </a:solidFill>
              </a:rPr>
              <a:t>of attraction in all directions between </a:t>
            </a:r>
            <a:r>
              <a:rPr lang="en-GB" sz="2000" b="1" dirty="0" smtClean="0">
                <a:solidFill>
                  <a:schemeClr val="accent6">
                    <a:lumMod val="75000"/>
                  </a:schemeClr>
                </a:solidFill>
              </a:rPr>
              <a:t>oppositely changed ions</a:t>
            </a:r>
            <a:r>
              <a:rPr lang="en-GB" sz="2000" dirty="0" smtClean="0">
                <a:solidFill>
                  <a:schemeClr val="tx1"/>
                </a:solidFill>
              </a:rPr>
              <a:t>.</a:t>
            </a:r>
          </a:p>
          <a:p>
            <a:endParaRPr lang="en-GB" sz="2000" dirty="0">
              <a:solidFill>
                <a:schemeClr val="tx1"/>
              </a:solidFill>
            </a:endParaRPr>
          </a:p>
          <a:p>
            <a:r>
              <a:rPr lang="en-GB" sz="2000" b="1" u="sng" dirty="0" smtClean="0">
                <a:solidFill>
                  <a:schemeClr val="tx1"/>
                </a:solidFill>
              </a:rPr>
              <a:t>Properties</a:t>
            </a:r>
          </a:p>
          <a:p>
            <a:pPr marL="342900" indent="-342900">
              <a:buFont typeface="Arial" panose="020B0604020202020204" pitchFamily="34" charset="0"/>
              <a:buChar char="•"/>
            </a:pPr>
            <a:r>
              <a:rPr lang="en-GB" sz="2000" b="1" dirty="0" smtClean="0">
                <a:solidFill>
                  <a:schemeClr val="tx1"/>
                </a:solidFill>
              </a:rPr>
              <a:t>High melting and boiling points </a:t>
            </a:r>
            <a:r>
              <a:rPr lang="en-GB" sz="2000" dirty="0" smtClean="0">
                <a:solidFill>
                  <a:schemeClr val="tx1"/>
                </a:solidFill>
              </a:rPr>
              <a:t>– large amounts of energy is needed to break the many </a:t>
            </a:r>
            <a:r>
              <a:rPr lang="en-GB" sz="2000" b="1" dirty="0" smtClean="0">
                <a:solidFill>
                  <a:schemeClr val="accent6">
                    <a:lumMod val="75000"/>
                  </a:schemeClr>
                </a:solidFill>
              </a:rPr>
              <a:t>strong bonds </a:t>
            </a:r>
            <a:r>
              <a:rPr lang="en-GB" sz="2000" dirty="0" smtClean="0">
                <a:solidFill>
                  <a:schemeClr val="tx1"/>
                </a:solidFill>
              </a:rPr>
              <a:t>and overcome the electrostatic attraction.</a:t>
            </a:r>
          </a:p>
          <a:p>
            <a:pPr marL="342900" indent="-342900">
              <a:buFont typeface="Arial" panose="020B0604020202020204" pitchFamily="34" charset="0"/>
              <a:buChar char="•"/>
            </a:pPr>
            <a:r>
              <a:rPr lang="en-GB" sz="2000" b="1" dirty="0" smtClean="0">
                <a:solidFill>
                  <a:schemeClr val="tx1"/>
                </a:solidFill>
              </a:rPr>
              <a:t>Conduct electricity </a:t>
            </a:r>
            <a:r>
              <a:rPr lang="en-GB" sz="2000" dirty="0" smtClean="0">
                <a:solidFill>
                  <a:schemeClr val="tx1"/>
                </a:solidFill>
              </a:rPr>
              <a:t>when molten or dissolved in water – </a:t>
            </a:r>
            <a:r>
              <a:rPr lang="en-GB" sz="2000" b="1" dirty="0" smtClean="0">
                <a:solidFill>
                  <a:schemeClr val="accent6">
                    <a:lumMod val="75000"/>
                  </a:schemeClr>
                </a:solidFill>
              </a:rPr>
              <a:t>ions are free to move </a:t>
            </a:r>
            <a:r>
              <a:rPr lang="en-GB" sz="2000" dirty="0" smtClean="0">
                <a:solidFill>
                  <a:schemeClr val="tx1"/>
                </a:solidFill>
              </a:rPr>
              <a:t>and can carry charge.</a:t>
            </a:r>
          </a:p>
        </p:txBody>
      </p:sp>
      <p:pic>
        <p:nvPicPr>
          <p:cNvPr id="1026" name="Picture 2" descr="http://www.bbc.co.uk/schools/gcsebitesize/science/images/triple_science/309_bitesize_gcse_tschemistry_chemistryoutthere_ioniclattice_304.gif">
            <a:hlinkClick r:id="rId2" invalidUrl="http://www.google.co.uk/url?sa=i&amp;rct=j&amp;q=giant ioic lattice&amp;source=images&amp;cd=&amp;cad=rja&amp;uact=8&amp;docid=po8_mXPlYO2LHM&amp;tbnid=GOR97c5rt0YdJM:&amp;ved=0CAUQjRw&amp;url=http://www.bbc.co.uk/schools/gcsebitesize/science/triple_ocr_gateway/chemistry_out_there/electrolysis/revision/4/&amp;ei=PeCzU7qhMrKa0QWs6oCYCg&amp;psig=AFQjCNHa3jqGX2VAEY0oXJVvRJBIHixeZQ&amp;ust=1404383674623940"/>
          </p:cNvPr>
          <p:cNvPicPr>
            <a:picLocks noChangeAspect="1" noChangeArrowheads="1"/>
          </p:cNvPicPr>
          <p:nvPr/>
        </p:nvPicPr>
        <p:blipFill>
          <a:blip r:embed="rId3" cstate="print">
            <a:duotone>
              <a:schemeClr val="accent6">
                <a:shade val="45000"/>
                <a:satMod val="135000"/>
              </a:schemeClr>
              <a:prstClr val="white"/>
            </a:duotone>
          </a:blip>
          <a:srcRect/>
          <a:stretch>
            <a:fillRect/>
          </a:stretch>
        </p:blipFill>
        <p:spPr bwMode="auto">
          <a:xfrm>
            <a:off x="6300192" y="3273083"/>
            <a:ext cx="1751644" cy="1751645"/>
          </a:xfrm>
          <a:prstGeom prst="rect">
            <a:avLst/>
          </a:prstGeom>
          <a:noFill/>
        </p:spPr>
      </p:pic>
      <p:pic>
        <p:nvPicPr>
          <p:cNvPr id="10" name="Picture 9">
            <a:extLst>
              <a:ext uri="{FF2B5EF4-FFF2-40B4-BE49-F238E27FC236}">
                <a16:creationId xmlns:a16="http://schemas.microsoft.com/office/drawing/2014/main" xmlns="" id="{08838C9E-E103-43AD-8D69-3AA8A6956664}"/>
              </a:ext>
            </a:extLst>
          </p:cNvPr>
          <p:cNvPicPr>
            <a:picLocks noChangeAspect="1"/>
          </p:cNvPicPr>
          <p:nvPr/>
        </p:nvPicPr>
        <p:blipFill>
          <a:blip r:embed="rId4"/>
          <a:stretch>
            <a:fillRect/>
          </a:stretch>
        </p:blipFill>
        <p:spPr>
          <a:xfrm>
            <a:off x="6300192" y="1288177"/>
            <a:ext cx="2139604" cy="1361009"/>
          </a:xfrm>
          <a:prstGeom prst="rect">
            <a:avLst/>
          </a:prstGeom>
        </p:spPr>
      </p:pic>
      <p:sp>
        <p:nvSpPr>
          <p:cNvPr id="8" name="Title 1">
            <a:extLst>
              <a:ext uri="{FF2B5EF4-FFF2-40B4-BE49-F238E27FC236}">
                <a16:creationId xmlns:a16="http://schemas.microsoft.com/office/drawing/2014/main" xmlns="" id="{3340E38A-1F6D-4492-8C54-3942F6E66CD7}"/>
              </a:ext>
            </a:extLst>
          </p:cNvPr>
          <p:cNvSpPr txBox="1">
            <a:spLocks/>
          </p:cNvSpPr>
          <p:nvPr/>
        </p:nvSpPr>
        <p:spPr>
          <a:xfrm>
            <a:off x="467544" y="35656"/>
            <a:ext cx="8676456" cy="628624"/>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defRPr/>
            </a:pPr>
            <a:r>
              <a:rPr lang="en-US" sz="2400" b="1" kern="0" dirty="0" smtClean="0">
                <a:solidFill>
                  <a:schemeClr val="accent6"/>
                </a:solidFill>
              </a:rPr>
              <a:t>Properties of ionic compounds</a:t>
            </a:r>
            <a:endParaRPr lang="en-GB" sz="2400" b="1" kern="0" dirty="0">
              <a:solidFill>
                <a:schemeClr val="accent6"/>
              </a:solidFill>
            </a:endParaRPr>
          </a:p>
        </p:txBody>
      </p:sp>
    </p:spTree>
    <p:extLst>
      <p:ext uri="{BB962C8B-B14F-4D97-AF65-F5344CB8AC3E}">
        <p14:creationId xmlns:p14="http://schemas.microsoft.com/office/powerpoint/2010/main" val="914523807"/>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55576" y="980728"/>
            <a:ext cx="4740841" cy="4093428"/>
          </a:xfrm>
          <a:prstGeom prst="rect">
            <a:avLst/>
          </a:prstGeom>
          <a:solidFill>
            <a:schemeClr val="bg1"/>
          </a:solidFill>
        </p:spPr>
        <p:style>
          <a:lnRef idx="1">
            <a:schemeClr val="accent6"/>
          </a:lnRef>
          <a:fillRef idx="2">
            <a:schemeClr val="accent6"/>
          </a:fillRef>
          <a:effectRef idx="1">
            <a:schemeClr val="accent6"/>
          </a:effectRef>
          <a:fontRef idx="minor">
            <a:schemeClr val="dk1"/>
          </a:fontRef>
        </p:style>
        <p:txBody>
          <a:bodyPr wrap="square">
            <a:spAutoFit/>
          </a:bodyPr>
          <a:lstStyle/>
          <a:p>
            <a:r>
              <a:rPr lang="en-GB" sz="2000" b="1" u="sng" dirty="0" smtClean="0">
                <a:solidFill>
                  <a:schemeClr val="tx1"/>
                </a:solidFill>
              </a:rPr>
              <a:t>Structure</a:t>
            </a:r>
            <a:endParaRPr lang="en-GB" sz="2000" dirty="0">
              <a:solidFill>
                <a:schemeClr val="tx1"/>
              </a:solidFill>
            </a:endParaRPr>
          </a:p>
          <a:p>
            <a:r>
              <a:rPr lang="en-GB" sz="2000" dirty="0" smtClean="0">
                <a:solidFill>
                  <a:schemeClr val="tx1"/>
                </a:solidFill>
              </a:rPr>
              <a:t>They have </a:t>
            </a:r>
            <a:r>
              <a:rPr lang="en-GB" sz="2000" b="1" dirty="0" smtClean="0">
                <a:solidFill>
                  <a:schemeClr val="accent6">
                    <a:lumMod val="75000"/>
                  </a:schemeClr>
                </a:solidFill>
              </a:rPr>
              <a:t>weak forces between the molecules</a:t>
            </a:r>
            <a:r>
              <a:rPr lang="en-GB" sz="2000" dirty="0" smtClean="0">
                <a:solidFill>
                  <a:schemeClr val="tx1"/>
                </a:solidFill>
              </a:rPr>
              <a:t>. These weak forces are overcome when they change state </a:t>
            </a:r>
            <a:r>
              <a:rPr lang="en-GB" sz="2000" b="1" u="sng" dirty="0" smtClean="0">
                <a:solidFill>
                  <a:schemeClr val="tx1"/>
                </a:solidFill>
              </a:rPr>
              <a:t>not</a:t>
            </a:r>
            <a:r>
              <a:rPr lang="en-GB" sz="2000" dirty="0" smtClean="0">
                <a:solidFill>
                  <a:schemeClr val="tx1"/>
                </a:solidFill>
              </a:rPr>
              <a:t> the strong covalent bonds.</a:t>
            </a:r>
          </a:p>
          <a:p>
            <a:endParaRPr lang="en-GB" sz="2000" dirty="0">
              <a:solidFill>
                <a:schemeClr val="tx1"/>
              </a:solidFill>
            </a:endParaRPr>
          </a:p>
          <a:p>
            <a:r>
              <a:rPr lang="en-GB" sz="2000" b="1" u="sng" dirty="0" smtClean="0">
                <a:solidFill>
                  <a:schemeClr val="tx1"/>
                </a:solidFill>
              </a:rPr>
              <a:t>Properties</a:t>
            </a:r>
          </a:p>
          <a:p>
            <a:pPr marL="342900" indent="-342900">
              <a:buFont typeface="Arial" panose="020B0604020202020204" pitchFamily="34" charset="0"/>
              <a:buChar char="•"/>
            </a:pPr>
            <a:r>
              <a:rPr lang="en-GB" sz="2000" b="1" dirty="0" smtClean="0">
                <a:solidFill>
                  <a:schemeClr val="tx1"/>
                </a:solidFill>
              </a:rPr>
              <a:t>Low melting and boiling points </a:t>
            </a:r>
            <a:r>
              <a:rPr lang="en-GB" sz="2000" dirty="0" smtClean="0">
                <a:solidFill>
                  <a:schemeClr val="tx1"/>
                </a:solidFill>
              </a:rPr>
              <a:t>– small amounts of energy is needed to break the </a:t>
            </a:r>
            <a:r>
              <a:rPr lang="en-GB" sz="2000" b="1" dirty="0" smtClean="0">
                <a:solidFill>
                  <a:schemeClr val="accent6">
                    <a:lumMod val="75000"/>
                  </a:schemeClr>
                </a:solidFill>
              </a:rPr>
              <a:t>intermolecular forces</a:t>
            </a:r>
            <a:r>
              <a:rPr lang="en-GB" sz="2000" dirty="0" smtClean="0">
                <a:solidFill>
                  <a:schemeClr val="tx1"/>
                </a:solidFill>
              </a:rPr>
              <a:t>. Most are gases or liquids. </a:t>
            </a:r>
          </a:p>
          <a:p>
            <a:pPr marL="342900" indent="-342900">
              <a:buFont typeface="Arial" panose="020B0604020202020204" pitchFamily="34" charset="0"/>
              <a:buChar char="•"/>
            </a:pPr>
            <a:r>
              <a:rPr lang="en-GB" sz="2000" b="1" dirty="0" smtClean="0">
                <a:solidFill>
                  <a:schemeClr val="tx1"/>
                </a:solidFill>
              </a:rPr>
              <a:t>Do not conduct electricity </a:t>
            </a:r>
            <a:r>
              <a:rPr lang="en-GB" sz="2000" dirty="0" smtClean="0">
                <a:solidFill>
                  <a:schemeClr val="tx1"/>
                </a:solidFill>
              </a:rPr>
              <a:t>– Particles do not have an overall electric charge.</a:t>
            </a:r>
          </a:p>
        </p:txBody>
      </p:sp>
      <p:sp>
        <p:nvSpPr>
          <p:cNvPr id="8" name="Title 1">
            <a:extLst>
              <a:ext uri="{FF2B5EF4-FFF2-40B4-BE49-F238E27FC236}">
                <a16:creationId xmlns:a16="http://schemas.microsoft.com/office/drawing/2014/main" xmlns="" id="{3340E38A-1F6D-4492-8C54-3942F6E66CD7}"/>
              </a:ext>
            </a:extLst>
          </p:cNvPr>
          <p:cNvSpPr txBox="1">
            <a:spLocks/>
          </p:cNvSpPr>
          <p:nvPr/>
        </p:nvSpPr>
        <p:spPr>
          <a:xfrm>
            <a:off x="467544" y="35656"/>
            <a:ext cx="8676456" cy="628624"/>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defRPr/>
            </a:pPr>
            <a:r>
              <a:rPr lang="en-US" sz="2400" b="1" kern="0" dirty="0" smtClean="0">
                <a:solidFill>
                  <a:schemeClr val="accent6"/>
                </a:solidFill>
              </a:rPr>
              <a:t>Properties of small molecules</a:t>
            </a:r>
            <a:endParaRPr lang="en-GB" sz="2400" b="1" kern="0" dirty="0">
              <a:solidFill>
                <a:schemeClr val="accent6"/>
              </a:solidFill>
            </a:endParaRPr>
          </a:p>
        </p:txBody>
      </p:sp>
      <p:pic>
        <p:nvPicPr>
          <p:cNvPr id="2" name="Picture 1"/>
          <p:cNvPicPr>
            <a:picLocks noChangeAspect="1"/>
          </p:cNvPicPr>
          <p:nvPr/>
        </p:nvPicPr>
        <p:blipFill>
          <a:blip r:embed="rId2">
            <a:duotone>
              <a:schemeClr val="accent6">
                <a:shade val="45000"/>
                <a:satMod val="135000"/>
              </a:schemeClr>
              <a:prstClr val="white"/>
            </a:duotone>
          </a:blip>
          <a:stretch>
            <a:fillRect/>
          </a:stretch>
        </p:blipFill>
        <p:spPr>
          <a:xfrm>
            <a:off x="6497160" y="816489"/>
            <a:ext cx="1962150" cy="1809750"/>
          </a:xfrm>
          <a:prstGeom prst="rect">
            <a:avLst/>
          </a:prstGeom>
        </p:spPr>
      </p:pic>
      <p:pic>
        <p:nvPicPr>
          <p:cNvPr id="3" name="Picture 2"/>
          <p:cNvPicPr>
            <a:picLocks noChangeAspect="1"/>
          </p:cNvPicPr>
          <p:nvPr/>
        </p:nvPicPr>
        <p:blipFill>
          <a:blip r:embed="rId3">
            <a:duotone>
              <a:schemeClr val="accent6">
                <a:shade val="45000"/>
                <a:satMod val="135000"/>
              </a:schemeClr>
              <a:prstClr val="white"/>
            </a:duotone>
          </a:blip>
          <a:stretch>
            <a:fillRect/>
          </a:stretch>
        </p:blipFill>
        <p:spPr>
          <a:xfrm>
            <a:off x="6497160" y="2810816"/>
            <a:ext cx="2057400" cy="1409700"/>
          </a:xfrm>
          <a:prstGeom prst="rect">
            <a:avLst/>
          </a:prstGeom>
        </p:spPr>
      </p:pic>
      <p:sp>
        <p:nvSpPr>
          <p:cNvPr id="11" name="Rectangle 10"/>
          <p:cNvSpPr/>
          <p:nvPr/>
        </p:nvSpPr>
        <p:spPr>
          <a:xfrm>
            <a:off x="5724128" y="4581128"/>
            <a:ext cx="3240360" cy="163121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ctr"/>
            <a:r>
              <a:rPr lang="en-GB" sz="2000" dirty="0" smtClean="0">
                <a:solidFill>
                  <a:schemeClr val="tx1"/>
                </a:solidFill>
              </a:rPr>
              <a:t>Intermolecular forces increase with the size of the molecules. So larger molecules have higher melting and boiling points.</a:t>
            </a:r>
          </a:p>
        </p:txBody>
      </p:sp>
    </p:spTree>
    <p:extLst>
      <p:ext uri="{BB962C8B-B14F-4D97-AF65-F5344CB8AC3E}">
        <p14:creationId xmlns:p14="http://schemas.microsoft.com/office/powerpoint/2010/main" val="120329832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Polymers</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7" name="Rectangle 6">
            <a:extLst>
              <a:ext uri="{FF2B5EF4-FFF2-40B4-BE49-F238E27FC236}">
                <a16:creationId xmlns:a16="http://schemas.microsoft.com/office/drawing/2014/main" xmlns="" id="{6D8005B9-6A28-49EC-BE07-6D0DE3641481}"/>
              </a:ext>
            </a:extLst>
          </p:cNvPr>
          <p:cNvSpPr/>
          <p:nvPr/>
        </p:nvSpPr>
        <p:spPr>
          <a:xfrm>
            <a:off x="148880" y="944641"/>
            <a:ext cx="4240088" cy="5324535"/>
          </a:xfrm>
          <a:prstGeom prst="rect">
            <a:avLst/>
          </a:prstGeom>
          <a:ln>
            <a:solidFill>
              <a:schemeClr val="accent6">
                <a:lumMod val="75000"/>
              </a:schemeClr>
            </a:solidFill>
          </a:ln>
        </p:spPr>
        <p:style>
          <a:lnRef idx="2">
            <a:schemeClr val="accent2"/>
          </a:lnRef>
          <a:fillRef idx="1">
            <a:schemeClr val="lt1"/>
          </a:fillRef>
          <a:effectRef idx="0">
            <a:schemeClr val="accent2"/>
          </a:effectRef>
          <a:fontRef idx="minor">
            <a:schemeClr val="dk1"/>
          </a:fontRef>
        </p:style>
        <p:txBody>
          <a:bodyPr wrap="square">
            <a:spAutoFit/>
          </a:bodyPr>
          <a:lstStyle/>
          <a:p>
            <a:r>
              <a:rPr lang="en-GB" sz="2000" dirty="0"/>
              <a:t>Some covalently bonded substances have very </a:t>
            </a:r>
            <a:r>
              <a:rPr lang="en-GB" sz="2000" b="1" dirty="0"/>
              <a:t>large</a:t>
            </a:r>
            <a:r>
              <a:rPr lang="en-GB" sz="2000" dirty="0"/>
              <a:t> molecules, such as </a:t>
            </a:r>
            <a:r>
              <a:rPr lang="en-GB" sz="2000" b="1" dirty="0"/>
              <a:t>polymers</a:t>
            </a:r>
            <a:r>
              <a:rPr lang="en-GB" sz="2000" dirty="0"/>
              <a:t>. </a:t>
            </a:r>
            <a:endParaRPr lang="en-GB" sz="2000" dirty="0" smtClean="0"/>
          </a:p>
          <a:p>
            <a:endParaRPr lang="en-GB" sz="2000" dirty="0" smtClean="0"/>
          </a:p>
          <a:p>
            <a:r>
              <a:rPr lang="en-GB" sz="2000" b="1" u="sng" dirty="0" smtClean="0">
                <a:solidFill>
                  <a:schemeClr val="tx1"/>
                </a:solidFill>
              </a:rPr>
              <a:t>Structure</a:t>
            </a:r>
            <a:endParaRPr lang="en-GB" sz="2000" dirty="0"/>
          </a:p>
          <a:p>
            <a:r>
              <a:rPr lang="en-GB" sz="2000" dirty="0" smtClean="0"/>
              <a:t>Polymers </a:t>
            </a:r>
            <a:r>
              <a:rPr lang="en-GB" sz="2000" dirty="0"/>
              <a:t>are made up from many small reactive molecules that bond to each other to form </a:t>
            </a:r>
            <a:r>
              <a:rPr lang="en-GB" sz="2000" b="1" dirty="0">
                <a:solidFill>
                  <a:schemeClr val="accent6">
                    <a:lumMod val="75000"/>
                  </a:schemeClr>
                </a:solidFill>
              </a:rPr>
              <a:t>long chains</a:t>
            </a:r>
            <a:r>
              <a:rPr lang="en-GB" sz="2000" dirty="0"/>
              <a:t>.  The atoms in the polymer molecules are linked to other atoms by </a:t>
            </a:r>
            <a:r>
              <a:rPr lang="en-GB" sz="2000" b="1" dirty="0">
                <a:solidFill>
                  <a:schemeClr val="accent6">
                    <a:lumMod val="75000"/>
                  </a:schemeClr>
                </a:solidFill>
              </a:rPr>
              <a:t>strong covalent bonds</a:t>
            </a:r>
            <a:r>
              <a:rPr lang="en-GB" sz="2000" dirty="0"/>
              <a:t>.  The </a:t>
            </a:r>
            <a:r>
              <a:rPr lang="en-GB" sz="2000" b="1" dirty="0">
                <a:solidFill>
                  <a:schemeClr val="accent6">
                    <a:lumMod val="75000"/>
                  </a:schemeClr>
                </a:solidFill>
              </a:rPr>
              <a:t>intermolecular forces</a:t>
            </a:r>
            <a:r>
              <a:rPr lang="en-GB" sz="2000" b="1" dirty="0"/>
              <a:t> </a:t>
            </a:r>
            <a:r>
              <a:rPr lang="en-GB" sz="2000" dirty="0"/>
              <a:t>between polymer molecules </a:t>
            </a:r>
            <a:r>
              <a:rPr lang="en-GB" sz="2000" b="1" dirty="0">
                <a:solidFill>
                  <a:schemeClr val="accent6">
                    <a:lumMod val="75000"/>
                  </a:schemeClr>
                </a:solidFill>
              </a:rPr>
              <a:t>are relatively </a:t>
            </a:r>
            <a:r>
              <a:rPr lang="en-GB" sz="2000" b="1" dirty="0" smtClean="0">
                <a:solidFill>
                  <a:schemeClr val="accent6">
                    <a:lumMod val="75000"/>
                  </a:schemeClr>
                </a:solidFill>
              </a:rPr>
              <a:t>strong</a:t>
            </a:r>
            <a:r>
              <a:rPr lang="en-GB" sz="2000" dirty="0"/>
              <a:t>.</a:t>
            </a:r>
            <a:endParaRPr lang="en-GB" sz="2000" dirty="0" smtClean="0"/>
          </a:p>
          <a:p>
            <a:endParaRPr lang="en-GB" sz="2000" dirty="0"/>
          </a:p>
          <a:p>
            <a:r>
              <a:rPr lang="en-GB" sz="2000" b="1" u="sng" dirty="0" smtClean="0">
                <a:solidFill>
                  <a:schemeClr val="tx1"/>
                </a:solidFill>
              </a:rPr>
              <a:t>Properties</a:t>
            </a:r>
            <a:endParaRPr lang="en-GB" sz="2000" dirty="0" smtClean="0"/>
          </a:p>
          <a:p>
            <a:pPr marL="342900" indent="-342900">
              <a:buFont typeface="Arial" panose="020B0604020202020204" pitchFamily="34" charset="0"/>
              <a:buChar char="•"/>
            </a:pPr>
            <a:r>
              <a:rPr lang="en-GB" sz="2000" b="1" dirty="0" smtClean="0"/>
              <a:t>Solid</a:t>
            </a:r>
            <a:r>
              <a:rPr lang="en-GB" sz="2000" dirty="0" smtClean="0"/>
              <a:t> at room temperature – </a:t>
            </a:r>
            <a:r>
              <a:rPr lang="en-GB" sz="2000" b="1" dirty="0" smtClean="0">
                <a:solidFill>
                  <a:schemeClr val="accent6">
                    <a:lumMod val="75000"/>
                  </a:schemeClr>
                </a:solidFill>
              </a:rPr>
              <a:t>Strong intermolecular forces</a:t>
            </a:r>
            <a:r>
              <a:rPr lang="en-GB" sz="2000" dirty="0" smtClean="0"/>
              <a:t>.</a:t>
            </a:r>
            <a:endParaRPr lang="en-GB" sz="2000" dirty="0"/>
          </a:p>
        </p:txBody>
      </p:sp>
      <p:grpSp>
        <p:nvGrpSpPr>
          <p:cNvPr id="11" name="Group 10"/>
          <p:cNvGrpSpPr/>
          <p:nvPr/>
        </p:nvGrpSpPr>
        <p:grpSpPr>
          <a:xfrm rot="3208763">
            <a:off x="4267807" y="2968364"/>
            <a:ext cx="4840288" cy="1226071"/>
            <a:chOff x="4472372" y="1016983"/>
            <a:chExt cx="4840288" cy="1226071"/>
          </a:xfrm>
        </p:grpSpPr>
        <p:pic>
          <p:nvPicPr>
            <p:cNvPr id="5" name="Picture 7" descr="img_CH_00021">
              <a:extLst>
                <a:ext uri="{FF2B5EF4-FFF2-40B4-BE49-F238E27FC236}">
                  <a16:creationId xmlns:a16="http://schemas.microsoft.com/office/drawing/2014/main" xmlns="" id="{8A779870-9911-4B9E-B3EB-EFDC196C3901}"/>
                </a:ext>
              </a:extLst>
            </p:cNvPr>
            <p:cNvPicPr>
              <a:picLocks noChangeAspect="1" noChangeArrowheads="1"/>
            </p:cNvPicPr>
            <p:nvPr/>
          </p:nvPicPr>
          <p:blipFill>
            <a:blip r:embed="rId3" cstate="print">
              <a:duotone>
                <a:schemeClr val="accent6">
                  <a:shade val="45000"/>
                  <a:satMod val="135000"/>
                </a:schemeClr>
                <a:prstClr val="white"/>
              </a:duotone>
            </a:blip>
            <a:srcRect/>
            <a:stretch>
              <a:fillRect/>
            </a:stretch>
          </p:blipFill>
          <p:spPr bwMode="auto">
            <a:xfrm>
              <a:off x="4472372" y="1016983"/>
              <a:ext cx="4840288" cy="1084023"/>
            </a:xfrm>
            <a:prstGeom prst="rect">
              <a:avLst/>
            </a:prstGeom>
            <a:noFill/>
          </p:spPr>
        </p:pic>
        <p:sp>
          <p:nvSpPr>
            <p:cNvPr id="8" name="Rectangle 7">
              <a:extLst>
                <a:ext uri="{FF2B5EF4-FFF2-40B4-BE49-F238E27FC236}">
                  <a16:creationId xmlns:a16="http://schemas.microsoft.com/office/drawing/2014/main" xmlns="" id="{2AF809E5-0FCB-4C9B-93E9-0A34A1620608}"/>
                </a:ext>
              </a:extLst>
            </p:cNvPr>
            <p:cNvSpPr/>
            <p:nvPr/>
          </p:nvSpPr>
          <p:spPr>
            <a:xfrm>
              <a:off x="4472372" y="1848962"/>
              <a:ext cx="504056" cy="3940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0943499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55576" y="980728"/>
            <a:ext cx="4740841" cy="3477875"/>
          </a:xfrm>
          <a:prstGeom prst="rect">
            <a:avLst/>
          </a:prstGeom>
          <a:solidFill>
            <a:schemeClr val="bg1"/>
          </a:solidFill>
        </p:spPr>
        <p:style>
          <a:lnRef idx="1">
            <a:schemeClr val="accent6"/>
          </a:lnRef>
          <a:fillRef idx="2">
            <a:schemeClr val="accent6"/>
          </a:fillRef>
          <a:effectRef idx="1">
            <a:schemeClr val="accent6"/>
          </a:effectRef>
          <a:fontRef idx="minor">
            <a:schemeClr val="dk1"/>
          </a:fontRef>
        </p:style>
        <p:txBody>
          <a:bodyPr wrap="square">
            <a:spAutoFit/>
          </a:bodyPr>
          <a:lstStyle/>
          <a:p>
            <a:r>
              <a:rPr lang="en-GB" sz="2000" b="1" u="sng" dirty="0" smtClean="0">
                <a:solidFill>
                  <a:schemeClr val="tx1"/>
                </a:solidFill>
              </a:rPr>
              <a:t>Structure</a:t>
            </a:r>
            <a:endParaRPr lang="en-GB" sz="2000" dirty="0">
              <a:solidFill>
                <a:schemeClr val="tx1"/>
              </a:solidFill>
            </a:endParaRPr>
          </a:p>
          <a:p>
            <a:r>
              <a:rPr lang="en-GB" sz="2000" dirty="0" smtClean="0">
                <a:solidFill>
                  <a:schemeClr val="tx1"/>
                </a:solidFill>
              </a:rPr>
              <a:t>All atoms within the structure are linked by </a:t>
            </a:r>
            <a:r>
              <a:rPr lang="en-GB" sz="2000" b="1" dirty="0" smtClean="0">
                <a:solidFill>
                  <a:schemeClr val="accent6">
                    <a:lumMod val="75000"/>
                  </a:schemeClr>
                </a:solidFill>
              </a:rPr>
              <a:t>strong covalent bonds</a:t>
            </a:r>
            <a:r>
              <a:rPr lang="en-GB" sz="2000" dirty="0" smtClean="0">
                <a:solidFill>
                  <a:schemeClr val="tx1"/>
                </a:solidFill>
              </a:rPr>
              <a:t>. These bonds </a:t>
            </a:r>
            <a:r>
              <a:rPr lang="en-GB" sz="2000" b="1" dirty="0" smtClean="0">
                <a:solidFill>
                  <a:schemeClr val="accent6">
                    <a:lumMod val="75000"/>
                  </a:schemeClr>
                </a:solidFill>
              </a:rPr>
              <a:t>must be broken</a:t>
            </a:r>
            <a:r>
              <a:rPr lang="en-GB" sz="2000" dirty="0" smtClean="0">
                <a:solidFill>
                  <a:schemeClr val="tx1"/>
                </a:solidFill>
              </a:rPr>
              <a:t> for a solid to melt or boil. </a:t>
            </a:r>
          </a:p>
          <a:p>
            <a:endParaRPr lang="en-GB" sz="2000" dirty="0">
              <a:solidFill>
                <a:schemeClr val="tx1"/>
              </a:solidFill>
            </a:endParaRPr>
          </a:p>
          <a:p>
            <a:r>
              <a:rPr lang="en-GB" sz="2000" b="1" u="sng" dirty="0" smtClean="0">
                <a:solidFill>
                  <a:schemeClr val="tx1"/>
                </a:solidFill>
              </a:rPr>
              <a:t>Properties</a:t>
            </a:r>
          </a:p>
          <a:p>
            <a:pPr marL="342900" indent="-342900">
              <a:buFont typeface="Arial" panose="020B0604020202020204" pitchFamily="34" charset="0"/>
              <a:buChar char="•"/>
            </a:pPr>
            <a:r>
              <a:rPr lang="en-GB" sz="2000" b="1" dirty="0" smtClean="0">
                <a:solidFill>
                  <a:schemeClr val="tx1"/>
                </a:solidFill>
              </a:rPr>
              <a:t>Very high melting and boiling points </a:t>
            </a:r>
            <a:r>
              <a:rPr lang="en-GB" sz="2000" dirty="0" smtClean="0">
                <a:solidFill>
                  <a:schemeClr val="tx1"/>
                </a:solidFill>
              </a:rPr>
              <a:t>– very large amounts of energy is needed to break the </a:t>
            </a:r>
            <a:r>
              <a:rPr lang="en-GB" sz="2000" b="1" dirty="0" smtClean="0">
                <a:solidFill>
                  <a:schemeClr val="accent6">
                    <a:lumMod val="75000"/>
                  </a:schemeClr>
                </a:solidFill>
              </a:rPr>
              <a:t>covalent bonds</a:t>
            </a:r>
            <a:r>
              <a:rPr lang="en-GB" sz="2000" dirty="0" smtClean="0">
                <a:solidFill>
                  <a:schemeClr val="tx1"/>
                </a:solidFill>
              </a:rPr>
              <a:t>. </a:t>
            </a:r>
          </a:p>
          <a:p>
            <a:pPr marL="342900" indent="-342900">
              <a:buFont typeface="Arial" panose="020B0604020202020204" pitchFamily="34" charset="0"/>
              <a:buChar char="•"/>
            </a:pPr>
            <a:r>
              <a:rPr lang="en-GB" sz="2000" b="1" dirty="0" smtClean="0">
                <a:solidFill>
                  <a:schemeClr val="tx1"/>
                </a:solidFill>
              </a:rPr>
              <a:t>Do not conduct electricity </a:t>
            </a:r>
            <a:r>
              <a:rPr lang="en-GB" sz="2000" dirty="0" smtClean="0">
                <a:solidFill>
                  <a:schemeClr val="tx1"/>
                </a:solidFill>
              </a:rPr>
              <a:t>– Particles do not have an overall electric charge.</a:t>
            </a:r>
          </a:p>
        </p:txBody>
      </p:sp>
      <p:sp>
        <p:nvSpPr>
          <p:cNvPr id="8" name="Title 1">
            <a:extLst>
              <a:ext uri="{FF2B5EF4-FFF2-40B4-BE49-F238E27FC236}">
                <a16:creationId xmlns:a16="http://schemas.microsoft.com/office/drawing/2014/main" xmlns="" id="{3340E38A-1F6D-4492-8C54-3942F6E66CD7}"/>
              </a:ext>
            </a:extLst>
          </p:cNvPr>
          <p:cNvSpPr txBox="1">
            <a:spLocks/>
          </p:cNvSpPr>
          <p:nvPr/>
        </p:nvSpPr>
        <p:spPr>
          <a:xfrm>
            <a:off x="467544" y="35656"/>
            <a:ext cx="8676456" cy="628624"/>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defRPr/>
            </a:pPr>
            <a:r>
              <a:rPr lang="en-US" sz="2400" b="1" kern="0" dirty="0" smtClean="0">
                <a:solidFill>
                  <a:schemeClr val="accent6"/>
                </a:solidFill>
              </a:rPr>
              <a:t> </a:t>
            </a:r>
            <a:endParaRPr lang="en-GB" sz="2400" b="1" kern="0" dirty="0">
              <a:solidFill>
                <a:schemeClr val="accent6"/>
              </a:solidFill>
            </a:endParaRPr>
          </a:p>
        </p:txBody>
      </p:sp>
      <p:sp>
        <p:nvSpPr>
          <p:cNvPr id="7" name="Title 1"/>
          <p:cNvSpPr txBox="1">
            <a:spLocks/>
          </p:cNvSpPr>
          <p:nvPr/>
        </p:nvSpPr>
        <p:spPr>
          <a:xfrm>
            <a:off x="611560" y="35655"/>
            <a:ext cx="8532440" cy="65704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defRPr/>
            </a:pPr>
            <a:r>
              <a:rPr lang="en-US" sz="2400" b="1" kern="0" dirty="0" smtClean="0">
                <a:solidFill>
                  <a:schemeClr val="accent6"/>
                </a:solidFill>
              </a:rPr>
              <a:t>Giant covalent structures</a:t>
            </a:r>
            <a:endParaRPr lang="en-GB" sz="2400" b="1" kern="0" dirty="0">
              <a:solidFill>
                <a:schemeClr val="accent6"/>
              </a:solidFill>
            </a:endParaRPr>
          </a:p>
        </p:txBody>
      </p:sp>
      <p:pic>
        <p:nvPicPr>
          <p:cNvPr id="9" name="Picture 8">
            <a:extLst>
              <a:ext uri="{FF2B5EF4-FFF2-40B4-BE49-F238E27FC236}">
                <a16:creationId xmlns:a16="http://schemas.microsoft.com/office/drawing/2014/main" xmlns="" id="{1EFEAD31-7D72-4F06-A26B-177242B281EB}"/>
              </a:ext>
            </a:extLst>
          </p:cNvPr>
          <p:cNvPicPr>
            <a:picLocks noChangeAspect="1"/>
          </p:cNvPicPr>
          <p:nvPr/>
        </p:nvPicPr>
        <p:blipFill>
          <a:blip r:embed="rId2"/>
          <a:stretch>
            <a:fillRect/>
          </a:stretch>
        </p:blipFill>
        <p:spPr>
          <a:xfrm>
            <a:off x="6588224" y="980728"/>
            <a:ext cx="1838325" cy="1800225"/>
          </a:xfrm>
          <a:prstGeom prst="rect">
            <a:avLst/>
          </a:prstGeom>
        </p:spPr>
      </p:pic>
      <p:pic>
        <p:nvPicPr>
          <p:cNvPr id="10" name="Picture 4" descr="http://lpmmc.grenoble.cnrs.fr/UserFiles/Image/graphite.jpg">
            <a:hlinkClick r:id="rId3"/>
            <a:extLst>
              <a:ext uri="{FF2B5EF4-FFF2-40B4-BE49-F238E27FC236}">
                <a16:creationId xmlns:a16="http://schemas.microsoft.com/office/drawing/2014/main" xmlns="" id="{4400498A-8C98-4362-A536-5A609A3ABFE3}"/>
              </a:ext>
            </a:extLst>
          </p:cNvPr>
          <p:cNvPicPr>
            <a:picLocks noChangeAspect="1" noChangeArrowheads="1"/>
          </p:cNvPicPr>
          <p:nvPr/>
        </p:nvPicPr>
        <p:blipFill>
          <a:blip r:embed="rId4" cstate="print">
            <a:duotone>
              <a:schemeClr val="accent6">
                <a:shade val="45000"/>
                <a:satMod val="135000"/>
              </a:schemeClr>
              <a:prstClr val="white"/>
            </a:duotone>
          </a:blip>
          <a:srcRect/>
          <a:stretch>
            <a:fillRect/>
          </a:stretch>
        </p:blipFill>
        <p:spPr bwMode="auto">
          <a:xfrm>
            <a:off x="6321510" y="3501008"/>
            <a:ext cx="2132855" cy="2132856"/>
          </a:xfrm>
          <a:prstGeom prst="rect">
            <a:avLst/>
          </a:prstGeom>
          <a:noFill/>
        </p:spPr>
      </p:pic>
    </p:spTree>
    <p:extLst>
      <p:ext uri="{BB962C8B-B14F-4D97-AF65-F5344CB8AC3E}">
        <p14:creationId xmlns:p14="http://schemas.microsoft.com/office/powerpoint/2010/main" val="3856854929"/>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xmlns="" id="{E43E42FA-F7BE-47A8-8CDE-5CE6742BEB3F}"/>
              </a:ext>
            </a:extLst>
          </p:cNvPr>
          <p:cNvSpPr txBox="1">
            <a:spLocks/>
          </p:cNvSpPr>
          <p:nvPr/>
        </p:nvSpPr>
        <p:spPr>
          <a:xfrm>
            <a:off x="179512" y="829053"/>
            <a:ext cx="4240088" cy="5632311"/>
          </a:xfrm>
          <a:prstGeom prst="rect">
            <a:avLst/>
          </a:prstGeom>
          <a:noFill/>
          <a:ln>
            <a:solidFill>
              <a:schemeClr val="accent6">
                <a:lumMod val="75000"/>
              </a:schemeClr>
            </a:solidFill>
          </a:ln>
          <a:effectLst/>
        </p:spPr>
        <p:style>
          <a:lnRef idx="1">
            <a:schemeClr val="accent6"/>
          </a:lnRef>
          <a:fillRef idx="2">
            <a:schemeClr val="accent6"/>
          </a:fillRef>
          <a:effectRef idx="1">
            <a:schemeClr val="accent6"/>
          </a:effectRef>
          <a:fontRef idx="minor">
            <a:schemeClr val="dk1"/>
          </a:fontRef>
        </p:style>
        <p:txBody>
          <a:bodyPr vert="horz" lIns="91440" tIns="45720" rIns="91440" bIns="45720" rtlCol="0">
            <a:normAutofit/>
          </a:bodyPr>
          <a:lstStyle>
            <a:lvl1pPr marL="0" indent="0" algn="ctr" defTabSz="342900" rtl="0" eaLnBrk="1" latinLnBrk="0" hangingPunct="1">
              <a:spcBef>
                <a:spcPct val="20000"/>
              </a:spcBef>
              <a:buFont typeface="Arial"/>
              <a:buNone/>
              <a:defRPr sz="2400" kern="1200">
                <a:solidFill>
                  <a:schemeClr val="tx1">
                    <a:tint val="75000"/>
                  </a:schemeClr>
                </a:solidFill>
                <a:latin typeface="News Gothic MT"/>
                <a:ea typeface="+mn-ea"/>
                <a:cs typeface="News Gothic MT"/>
              </a:defRPr>
            </a:lvl1pPr>
            <a:lvl2pPr marL="342900" indent="0" algn="ctr" defTabSz="342900" rtl="0" eaLnBrk="1" latinLnBrk="0" hangingPunct="1">
              <a:spcBef>
                <a:spcPct val="20000"/>
              </a:spcBef>
              <a:buFont typeface="Arial"/>
              <a:buNone/>
              <a:defRPr sz="2100" kern="1200">
                <a:solidFill>
                  <a:schemeClr val="tx1">
                    <a:tint val="75000"/>
                  </a:schemeClr>
                </a:solidFill>
                <a:latin typeface="+mn-lt"/>
                <a:ea typeface="+mn-ea"/>
                <a:cs typeface="+mn-cs"/>
              </a:defRPr>
            </a:lvl2pPr>
            <a:lvl3pPr marL="685800" indent="0" algn="ctr" defTabSz="342900" rtl="0" eaLnBrk="1" latinLnBrk="0" hangingPunct="1">
              <a:spcBef>
                <a:spcPct val="20000"/>
              </a:spcBef>
              <a:buFont typeface="Arial"/>
              <a:buNone/>
              <a:defRPr sz="1800" kern="1200">
                <a:solidFill>
                  <a:schemeClr val="tx1">
                    <a:tint val="75000"/>
                  </a:schemeClr>
                </a:solidFill>
                <a:latin typeface="+mn-lt"/>
                <a:ea typeface="+mn-ea"/>
                <a:cs typeface="+mn-cs"/>
              </a:defRPr>
            </a:lvl3pPr>
            <a:lvl4pPr marL="10287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4pPr>
            <a:lvl5pPr marL="13716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5pPr>
            <a:lvl6pPr marL="17145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6pPr>
            <a:lvl7pPr marL="20574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7pPr>
            <a:lvl8pPr marL="24003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8pPr>
            <a:lvl9pPr marL="2743200" indent="0" algn="ctr" defTabSz="342900" rtl="0" eaLnBrk="1" latinLnBrk="0" hangingPunct="1">
              <a:spcBef>
                <a:spcPct val="20000"/>
              </a:spcBef>
              <a:buFont typeface="Arial"/>
              <a:buNone/>
              <a:defRPr sz="1500" kern="1200">
                <a:solidFill>
                  <a:schemeClr val="tx1">
                    <a:tint val="75000"/>
                  </a:schemeClr>
                </a:solidFill>
                <a:latin typeface="+mn-lt"/>
                <a:ea typeface="+mn-ea"/>
                <a:cs typeface="+mn-cs"/>
              </a:defRPr>
            </a:lvl9pPr>
          </a:lstStyle>
          <a:p>
            <a:pPr algn="l"/>
            <a:r>
              <a:rPr lang="en-GB" sz="2000" dirty="0">
                <a:solidFill>
                  <a:schemeClr val="tx1"/>
                </a:solidFill>
                <a:latin typeface="+mn-lt"/>
              </a:rPr>
              <a:t>The giant structure of atoms with strong metallic bonding gives most metals a</a:t>
            </a:r>
            <a:r>
              <a:rPr lang="en-GB" sz="2000" b="1" dirty="0">
                <a:solidFill>
                  <a:schemeClr val="tx1"/>
                </a:solidFill>
                <a:latin typeface="+mn-lt"/>
              </a:rPr>
              <a:t> high melting </a:t>
            </a:r>
            <a:r>
              <a:rPr lang="en-GB" sz="2000" dirty="0">
                <a:solidFill>
                  <a:schemeClr val="tx1"/>
                </a:solidFill>
                <a:latin typeface="+mn-lt"/>
              </a:rPr>
              <a:t>and </a:t>
            </a:r>
            <a:r>
              <a:rPr lang="en-GB" sz="2000" b="1" dirty="0">
                <a:solidFill>
                  <a:schemeClr val="tx1"/>
                </a:solidFill>
                <a:latin typeface="+mn-lt"/>
              </a:rPr>
              <a:t>boiling point</a:t>
            </a:r>
            <a:r>
              <a:rPr lang="en-GB" sz="2000" dirty="0" smtClean="0">
                <a:solidFill>
                  <a:schemeClr val="tx1"/>
                </a:solidFill>
                <a:latin typeface="+mn-lt"/>
              </a:rPr>
              <a:t>.</a:t>
            </a:r>
            <a:endParaRPr lang="en-GB" sz="2000" dirty="0">
              <a:solidFill>
                <a:schemeClr val="tx1"/>
              </a:solidFill>
              <a:latin typeface="+mn-lt"/>
            </a:endParaRPr>
          </a:p>
          <a:p>
            <a:pPr algn="l"/>
            <a:r>
              <a:rPr lang="en-GB" sz="2000" dirty="0">
                <a:solidFill>
                  <a:schemeClr val="tx1"/>
                </a:solidFill>
                <a:latin typeface="+mn-lt"/>
              </a:rPr>
              <a:t>Metals are</a:t>
            </a:r>
            <a:r>
              <a:rPr lang="en-GB" sz="2000" b="1" dirty="0">
                <a:solidFill>
                  <a:schemeClr val="tx1"/>
                </a:solidFill>
                <a:latin typeface="+mn-lt"/>
              </a:rPr>
              <a:t> malleable </a:t>
            </a:r>
            <a:r>
              <a:rPr lang="en-GB" sz="2000" dirty="0">
                <a:solidFill>
                  <a:schemeClr val="tx1"/>
                </a:solidFill>
                <a:latin typeface="+mn-lt"/>
              </a:rPr>
              <a:t>(can be hammered into shape) and </a:t>
            </a:r>
            <a:r>
              <a:rPr lang="en-GB" sz="2000" b="1" dirty="0">
                <a:solidFill>
                  <a:schemeClr val="tx1"/>
                </a:solidFill>
                <a:latin typeface="+mn-lt"/>
              </a:rPr>
              <a:t>ductile</a:t>
            </a:r>
            <a:r>
              <a:rPr lang="en-GB" sz="2000" dirty="0">
                <a:solidFill>
                  <a:schemeClr val="tx1"/>
                </a:solidFill>
                <a:latin typeface="+mn-lt"/>
              </a:rPr>
              <a:t> (can be drawn out into a wire) because the </a:t>
            </a:r>
            <a:r>
              <a:rPr lang="en-GB" sz="2000" b="1" dirty="0">
                <a:solidFill>
                  <a:schemeClr val="tx1"/>
                </a:solidFill>
                <a:latin typeface="+mn-lt"/>
              </a:rPr>
              <a:t>layers</a:t>
            </a:r>
            <a:r>
              <a:rPr lang="en-GB" sz="2000" dirty="0">
                <a:solidFill>
                  <a:schemeClr val="tx1"/>
                </a:solidFill>
                <a:latin typeface="+mn-lt"/>
              </a:rPr>
              <a:t> of atoms (or ions) in a giant metallic structure can </a:t>
            </a:r>
            <a:r>
              <a:rPr lang="en-GB" sz="2000" b="1" dirty="0">
                <a:solidFill>
                  <a:schemeClr val="tx1"/>
                </a:solidFill>
                <a:latin typeface="+mn-lt"/>
              </a:rPr>
              <a:t>slide </a:t>
            </a:r>
            <a:r>
              <a:rPr lang="en-GB" sz="2000" dirty="0">
                <a:solidFill>
                  <a:schemeClr val="tx1"/>
                </a:solidFill>
                <a:latin typeface="+mn-lt"/>
              </a:rPr>
              <a:t>over each other</a:t>
            </a:r>
          </a:p>
          <a:p>
            <a:pPr algn="l"/>
            <a:r>
              <a:rPr lang="en-GB" sz="2000" b="1" dirty="0" smtClean="0">
                <a:solidFill>
                  <a:schemeClr val="tx1"/>
                </a:solidFill>
                <a:latin typeface="+mn-lt"/>
              </a:rPr>
              <a:t>Delocalised</a:t>
            </a:r>
            <a:r>
              <a:rPr lang="en-GB" sz="2000" dirty="0" smtClean="0">
                <a:solidFill>
                  <a:schemeClr val="tx1"/>
                </a:solidFill>
                <a:latin typeface="+mn-lt"/>
              </a:rPr>
              <a:t> </a:t>
            </a:r>
            <a:r>
              <a:rPr lang="en-GB" sz="2000" dirty="0">
                <a:solidFill>
                  <a:schemeClr val="tx1"/>
                </a:solidFill>
                <a:latin typeface="+mn-lt"/>
              </a:rPr>
              <a:t>electrons in metals enable </a:t>
            </a:r>
            <a:r>
              <a:rPr lang="en-GB" sz="2000" b="1" dirty="0">
                <a:solidFill>
                  <a:schemeClr val="tx1"/>
                </a:solidFill>
                <a:latin typeface="+mn-lt"/>
              </a:rPr>
              <a:t>electricity</a:t>
            </a:r>
            <a:r>
              <a:rPr lang="en-GB" sz="2000" dirty="0">
                <a:solidFill>
                  <a:schemeClr val="tx1"/>
                </a:solidFill>
                <a:latin typeface="+mn-lt"/>
              </a:rPr>
              <a:t> and </a:t>
            </a:r>
            <a:r>
              <a:rPr lang="en-GB" sz="2000" b="1" dirty="0">
                <a:solidFill>
                  <a:schemeClr val="tx1"/>
                </a:solidFill>
                <a:latin typeface="+mn-lt"/>
              </a:rPr>
              <a:t>heat</a:t>
            </a:r>
            <a:r>
              <a:rPr lang="en-GB" sz="2000" dirty="0">
                <a:solidFill>
                  <a:schemeClr val="tx1"/>
                </a:solidFill>
                <a:latin typeface="+mn-lt"/>
              </a:rPr>
              <a:t> to pass through the metal easily.</a:t>
            </a:r>
          </a:p>
          <a:p>
            <a:endParaRPr lang="en-GB" sz="1800" dirty="0">
              <a:solidFill>
                <a:schemeClr val="tx1"/>
              </a:solidFill>
              <a:latin typeface="+mn-lt"/>
            </a:endParaRPr>
          </a:p>
        </p:txBody>
      </p:sp>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Properties of metals and alloys</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8" name="Picture 4" descr="http://www.bbc.co.uk/schools/gcsebitesize/science/images/gcsechem_60.gif">
            <a:hlinkClick r:id="rId3"/>
            <a:extLst>
              <a:ext uri="{FF2B5EF4-FFF2-40B4-BE49-F238E27FC236}">
                <a16:creationId xmlns:a16="http://schemas.microsoft.com/office/drawing/2014/main" xmlns="" id="{4960798F-C41B-4D23-BF49-CD7098E3413C}"/>
              </a:ext>
            </a:extLst>
          </p:cNvPr>
          <p:cNvPicPr>
            <a:picLocks noChangeAspect="1" noChangeArrowheads="1"/>
          </p:cNvPicPr>
          <p:nvPr/>
        </p:nvPicPr>
        <p:blipFill>
          <a:blip r:embed="rId4" cstate="print">
            <a:duotone>
              <a:schemeClr val="accent6">
                <a:shade val="45000"/>
                <a:satMod val="135000"/>
              </a:schemeClr>
              <a:prstClr val="white"/>
            </a:duotone>
          </a:blip>
          <a:srcRect/>
          <a:stretch>
            <a:fillRect/>
          </a:stretch>
        </p:blipFill>
        <p:spPr bwMode="auto">
          <a:xfrm>
            <a:off x="2627784" y="4679165"/>
            <a:ext cx="1584176" cy="1782199"/>
          </a:xfrm>
          <a:prstGeom prst="rect">
            <a:avLst/>
          </a:prstGeom>
          <a:noFill/>
        </p:spPr>
      </p:pic>
      <p:sp>
        <p:nvSpPr>
          <p:cNvPr id="9" name="Rectangle 8">
            <a:extLst>
              <a:ext uri="{FF2B5EF4-FFF2-40B4-BE49-F238E27FC236}">
                <a16:creationId xmlns:a16="http://schemas.microsoft.com/office/drawing/2014/main" xmlns="" id="{0837D64E-58C8-4D6B-B4D9-C4E576A5E25F}"/>
              </a:ext>
            </a:extLst>
          </p:cNvPr>
          <p:cNvSpPr/>
          <p:nvPr/>
        </p:nvSpPr>
        <p:spPr>
          <a:xfrm>
            <a:off x="4507194" y="829054"/>
            <a:ext cx="4457294" cy="5724644"/>
          </a:xfrm>
          <a:prstGeom prst="rect">
            <a:avLst/>
          </a:prstGeom>
          <a:noFill/>
          <a:ln>
            <a:solidFill>
              <a:schemeClr val="accent6">
                <a:lumMod val="75000"/>
              </a:schemeClr>
            </a:solidFill>
          </a:ln>
          <a:effectLst/>
        </p:spPr>
        <p:style>
          <a:lnRef idx="1">
            <a:schemeClr val="accent2"/>
          </a:lnRef>
          <a:fillRef idx="2">
            <a:schemeClr val="accent2"/>
          </a:fillRef>
          <a:effectRef idx="1">
            <a:schemeClr val="accent2"/>
          </a:effectRef>
          <a:fontRef idx="minor">
            <a:schemeClr val="dk1"/>
          </a:fontRef>
        </p:style>
        <p:txBody>
          <a:bodyPr wrap="square">
            <a:spAutoFit/>
          </a:bodyPr>
          <a:lstStyle/>
          <a:p>
            <a:r>
              <a:rPr lang="en-GB" sz="2000" dirty="0"/>
              <a:t>A </a:t>
            </a:r>
            <a:r>
              <a:rPr lang="en-GB" sz="2000" b="1" dirty="0"/>
              <a:t>metal</a:t>
            </a:r>
            <a:r>
              <a:rPr lang="en-GB" sz="2000" dirty="0"/>
              <a:t> </a:t>
            </a:r>
            <a:r>
              <a:rPr lang="en-GB" sz="2000" b="1" dirty="0"/>
              <a:t>mixed</a:t>
            </a:r>
            <a:r>
              <a:rPr lang="en-GB" sz="2000" dirty="0"/>
              <a:t> with other </a:t>
            </a:r>
            <a:r>
              <a:rPr lang="en-GB" sz="2000" b="1" dirty="0"/>
              <a:t>elements</a:t>
            </a:r>
            <a:r>
              <a:rPr lang="en-GB" sz="2000" dirty="0"/>
              <a:t> is called an </a:t>
            </a:r>
            <a:r>
              <a:rPr lang="en-GB" sz="2000" b="1" dirty="0"/>
              <a:t>alloy. </a:t>
            </a:r>
            <a:r>
              <a:rPr lang="en-GB" sz="2000" dirty="0"/>
              <a:t>Alloys are </a:t>
            </a:r>
            <a:r>
              <a:rPr lang="en-GB" sz="2000" b="1" dirty="0"/>
              <a:t>harder</a:t>
            </a:r>
            <a:r>
              <a:rPr lang="en-GB" sz="2000" dirty="0"/>
              <a:t> than pure metals. Alloys are made from </a:t>
            </a:r>
            <a:r>
              <a:rPr lang="en-GB" sz="2000" b="1" dirty="0"/>
              <a:t>two or more </a:t>
            </a:r>
            <a:r>
              <a:rPr lang="en-GB" sz="2000" dirty="0"/>
              <a:t>different metals.  </a:t>
            </a:r>
          </a:p>
          <a:p>
            <a:pPr algn="ctr"/>
            <a:endParaRPr lang="en-GB" dirty="0"/>
          </a:p>
          <a:p>
            <a:r>
              <a:rPr lang="en-GB" dirty="0"/>
              <a:t>       </a:t>
            </a:r>
            <a:r>
              <a:rPr lang="en-GB" b="1" dirty="0"/>
              <a:t>Pure metal                                Alloy</a:t>
            </a:r>
          </a:p>
          <a:p>
            <a:endParaRPr lang="en-GB" dirty="0"/>
          </a:p>
          <a:p>
            <a:pPr algn="ctr"/>
            <a:endParaRPr lang="en-GB" dirty="0"/>
          </a:p>
          <a:p>
            <a:pPr algn="ctr"/>
            <a:endParaRPr lang="en-GB" dirty="0"/>
          </a:p>
          <a:p>
            <a:pPr algn="ctr"/>
            <a:endParaRPr lang="en-GB" dirty="0"/>
          </a:p>
          <a:p>
            <a:pPr algn="ctr"/>
            <a:endParaRPr lang="en-GB" dirty="0"/>
          </a:p>
          <a:p>
            <a:r>
              <a:rPr lang="en-GB" sz="2000" dirty="0"/>
              <a:t>The </a:t>
            </a:r>
            <a:r>
              <a:rPr lang="en-GB" sz="2000" b="1" dirty="0"/>
              <a:t>different sized </a:t>
            </a:r>
            <a:r>
              <a:rPr lang="en-GB" sz="2000" dirty="0"/>
              <a:t>atoms of the metals </a:t>
            </a:r>
            <a:r>
              <a:rPr lang="en-GB" sz="2000" b="1" dirty="0"/>
              <a:t>distort</a:t>
            </a:r>
            <a:r>
              <a:rPr lang="en-GB" sz="2000" dirty="0"/>
              <a:t> the</a:t>
            </a:r>
            <a:r>
              <a:rPr lang="en-GB" sz="2000" b="1" dirty="0"/>
              <a:t> layers </a:t>
            </a:r>
            <a:r>
              <a:rPr lang="en-GB" sz="2000" dirty="0"/>
              <a:t>in the structure, making it more </a:t>
            </a:r>
            <a:r>
              <a:rPr lang="en-GB" sz="2000" b="1" dirty="0"/>
              <a:t>difficult</a:t>
            </a:r>
            <a:r>
              <a:rPr lang="en-GB" sz="2000" dirty="0"/>
              <a:t> for them to</a:t>
            </a:r>
            <a:r>
              <a:rPr lang="en-GB" sz="2000" b="1" dirty="0"/>
              <a:t> slide </a:t>
            </a:r>
            <a:r>
              <a:rPr lang="en-GB" sz="2000" dirty="0"/>
              <a:t>over each other, and so make the </a:t>
            </a:r>
            <a:r>
              <a:rPr lang="en-GB" sz="2000" b="1" dirty="0"/>
              <a:t>alloys harder </a:t>
            </a:r>
            <a:r>
              <a:rPr lang="en-GB" sz="2000" dirty="0"/>
              <a:t>than pure metals.</a:t>
            </a:r>
          </a:p>
          <a:p>
            <a:pPr>
              <a:defRPr/>
            </a:pPr>
            <a:r>
              <a:rPr lang="en-GB" sz="2000" dirty="0"/>
              <a:t>For example, </a:t>
            </a:r>
            <a:r>
              <a:rPr lang="en-GB" sz="2000" b="1" dirty="0">
                <a:solidFill>
                  <a:schemeClr val="tx1"/>
                </a:solidFill>
              </a:rPr>
              <a:t>gold</a:t>
            </a:r>
            <a:r>
              <a:rPr lang="en-GB" sz="2000" dirty="0">
                <a:solidFill>
                  <a:schemeClr val="tx1"/>
                </a:solidFill>
              </a:rPr>
              <a:t> is naturally</a:t>
            </a:r>
            <a:r>
              <a:rPr lang="en-GB" sz="2000" b="1" dirty="0">
                <a:solidFill>
                  <a:schemeClr val="tx1"/>
                </a:solidFill>
              </a:rPr>
              <a:t> soft</a:t>
            </a:r>
            <a:r>
              <a:rPr lang="en-GB" sz="2000" dirty="0">
                <a:solidFill>
                  <a:schemeClr val="tx1"/>
                </a:solidFill>
              </a:rPr>
              <a:t> but adding </a:t>
            </a:r>
            <a:r>
              <a:rPr lang="en-GB" sz="2000" b="1" dirty="0">
                <a:solidFill>
                  <a:schemeClr val="tx1"/>
                </a:solidFill>
              </a:rPr>
              <a:t>copper</a:t>
            </a:r>
            <a:r>
              <a:rPr lang="en-GB" sz="2000" dirty="0">
                <a:solidFill>
                  <a:schemeClr val="tx1"/>
                </a:solidFill>
              </a:rPr>
              <a:t> to make jewellery </a:t>
            </a:r>
            <a:r>
              <a:rPr lang="en-GB" sz="2000" b="1" dirty="0">
                <a:solidFill>
                  <a:schemeClr val="tx1"/>
                </a:solidFill>
              </a:rPr>
              <a:t>stronger</a:t>
            </a:r>
            <a:r>
              <a:rPr lang="en-GB" sz="2000" dirty="0">
                <a:solidFill>
                  <a:schemeClr val="tx1"/>
                </a:solidFill>
              </a:rPr>
              <a:t> and  last </a:t>
            </a:r>
            <a:r>
              <a:rPr lang="en-GB" sz="2000" dirty="0" smtClean="0">
                <a:solidFill>
                  <a:schemeClr val="tx1"/>
                </a:solidFill>
              </a:rPr>
              <a:t>longer</a:t>
            </a:r>
            <a:r>
              <a:rPr lang="en-GB" sz="2000" dirty="0">
                <a:solidFill>
                  <a:schemeClr val="tx1"/>
                </a:solidFill>
              </a:rPr>
              <a:t>.</a:t>
            </a:r>
          </a:p>
        </p:txBody>
      </p:sp>
      <p:pic>
        <p:nvPicPr>
          <p:cNvPr id="10" name="Picture 5">
            <a:extLst>
              <a:ext uri="{FF2B5EF4-FFF2-40B4-BE49-F238E27FC236}">
                <a16:creationId xmlns:a16="http://schemas.microsoft.com/office/drawing/2014/main" xmlns="" id="{F036E65E-B749-40CB-89A0-FA52D365DBAB}"/>
              </a:ext>
            </a:extLst>
          </p:cNvPr>
          <p:cNvPicPr>
            <a:picLocks noChangeAspect="1" noChangeArrowheads="1"/>
          </p:cNvPicPr>
          <p:nvPr/>
        </p:nvPicPr>
        <p:blipFill>
          <a:blip r:embed="rId5" cstate="print">
            <a:duotone>
              <a:schemeClr val="accent6">
                <a:shade val="45000"/>
                <a:satMod val="135000"/>
              </a:schemeClr>
              <a:prstClr val="white"/>
            </a:duotone>
          </a:blip>
          <a:srcRect/>
          <a:stretch>
            <a:fillRect/>
          </a:stretch>
        </p:blipFill>
        <p:spPr bwMode="auto">
          <a:xfrm>
            <a:off x="4724400" y="2649283"/>
            <a:ext cx="1480603" cy="948105"/>
          </a:xfrm>
          <a:prstGeom prst="rect">
            <a:avLst/>
          </a:prstGeom>
          <a:noFill/>
          <a:ln w="9525">
            <a:noFill/>
            <a:miter lim="800000"/>
            <a:headEnd/>
            <a:tailEnd/>
          </a:ln>
        </p:spPr>
      </p:pic>
      <p:pic>
        <p:nvPicPr>
          <p:cNvPr id="11" name="Picture 6">
            <a:extLst>
              <a:ext uri="{FF2B5EF4-FFF2-40B4-BE49-F238E27FC236}">
                <a16:creationId xmlns:a16="http://schemas.microsoft.com/office/drawing/2014/main" xmlns="" id="{E016CB3F-7872-49E7-9301-2984FEC0321F}"/>
              </a:ext>
            </a:extLst>
          </p:cNvPr>
          <p:cNvPicPr>
            <a:picLocks noChangeAspect="1" noChangeArrowheads="1"/>
          </p:cNvPicPr>
          <p:nvPr/>
        </p:nvPicPr>
        <p:blipFill>
          <a:blip r:embed="rId6" cstate="print">
            <a:duotone>
              <a:schemeClr val="accent6">
                <a:shade val="45000"/>
                <a:satMod val="135000"/>
              </a:schemeClr>
              <a:prstClr val="white"/>
            </a:duotone>
          </a:blip>
          <a:srcRect/>
          <a:stretch>
            <a:fillRect/>
          </a:stretch>
        </p:blipFill>
        <p:spPr bwMode="auto">
          <a:xfrm>
            <a:off x="7162432" y="2666080"/>
            <a:ext cx="1440160" cy="980535"/>
          </a:xfrm>
          <a:prstGeom prst="rect">
            <a:avLst/>
          </a:prstGeom>
          <a:noFill/>
          <a:ln w="9525">
            <a:noFill/>
            <a:miter lim="800000"/>
            <a:headEnd/>
            <a:tailEnd/>
          </a:ln>
        </p:spPr>
      </p:pic>
    </p:spTree>
    <p:extLst>
      <p:ext uri="{BB962C8B-B14F-4D97-AF65-F5344CB8AC3E}">
        <p14:creationId xmlns:p14="http://schemas.microsoft.com/office/powerpoint/2010/main" val="398790421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5262979"/>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Properties of substances Part 2</a:t>
            </a:r>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Ionic compounds</a:t>
            </a:r>
          </a:p>
          <a:p>
            <a:pPr marL="685800" lvl="1" indent="-342900">
              <a:buFont typeface="Arial" charset="0"/>
              <a:buChar char="•"/>
            </a:pPr>
            <a:r>
              <a:rPr lang="en-US" sz="2400" b="1" dirty="0">
                <a:solidFill>
                  <a:schemeClr val="bg1">
                    <a:lumMod val="50000"/>
                  </a:schemeClr>
                </a:solidFill>
              </a:rPr>
              <a:t>Small molecules</a:t>
            </a:r>
          </a:p>
          <a:p>
            <a:pPr marL="685800" lvl="1" indent="-342900">
              <a:buFont typeface="Arial" charset="0"/>
              <a:buChar char="•"/>
            </a:pPr>
            <a:r>
              <a:rPr lang="en-US" sz="2400" b="1" dirty="0">
                <a:solidFill>
                  <a:schemeClr val="bg1">
                    <a:lumMod val="50000"/>
                  </a:schemeClr>
                </a:solidFill>
              </a:rPr>
              <a:t>Polymers</a:t>
            </a:r>
          </a:p>
          <a:p>
            <a:pPr marL="685800" lvl="1" indent="-342900">
              <a:buFont typeface="Arial" charset="0"/>
              <a:buChar char="•"/>
            </a:pPr>
            <a:r>
              <a:rPr lang="en-US" sz="2400" b="1" dirty="0">
                <a:solidFill>
                  <a:schemeClr val="bg1">
                    <a:lumMod val="50000"/>
                  </a:schemeClr>
                </a:solidFill>
              </a:rPr>
              <a:t>Giant </a:t>
            </a:r>
            <a:r>
              <a:rPr lang="en-US" sz="2400" b="1" dirty="0" smtClean="0">
                <a:solidFill>
                  <a:schemeClr val="bg1">
                    <a:lumMod val="50000"/>
                  </a:schemeClr>
                </a:solidFill>
              </a:rPr>
              <a:t>covalent structures</a:t>
            </a:r>
            <a:endParaRPr lang="en-US" sz="2400" b="1" dirty="0">
              <a:solidFill>
                <a:schemeClr val="bg1">
                  <a:lumMod val="50000"/>
                </a:schemeClr>
              </a:solidFill>
            </a:endParaRPr>
          </a:p>
          <a:p>
            <a:pPr marL="685800" lvl="1" indent="-342900">
              <a:buFont typeface="Arial" charset="0"/>
              <a:buChar char="•"/>
            </a:pPr>
            <a:r>
              <a:rPr lang="en-US" sz="2400" b="1" dirty="0">
                <a:solidFill>
                  <a:schemeClr val="bg1">
                    <a:lumMod val="50000"/>
                  </a:schemeClr>
                </a:solidFill>
              </a:rPr>
              <a:t>Metals and alloys</a:t>
            </a:r>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3536127272"/>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743393" cy="4154984"/>
          </a:xfrm>
          <a:prstGeom prst="rect">
            <a:avLst/>
          </a:prstGeom>
          <a:noFill/>
        </p:spPr>
        <p:txBody>
          <a:bodyPr wrap="square" rtlCol="0">
            <a:spAutoFit/>
          </a:bodyPr>
          <a:lstStyle/>
          <a:p>
            <a:pPr marL="457200" indent="-457200">
              <a:buFont typeface="+mj-lt"/>
              <a:buAutoNum type="arabicPeriod"/>
            </a:pPr>
            <a:r>
              <a:rPr lang="en-GB" sz="2400" dirty="0" smtClean="0"/>
              <a:t>Describe the structure of ionic compounds.</a:t>
            </a:r>
          </a:p>
          <a:p>
            <a:pPr marL="457200" indent="-457200">
              <a:buFont typeface="+mj-lt"/>
              <a:buAutoNum type="arabicPeriod"/>
            </a:pPr>
            <a:endParaRPr lang="en-GB" sz="2400" dirty="0" smtClean="0"/>
          </a:p>
          <a:p>
            <a:pPr marL="457200" indent="-457200">
              <a:buFont typeface="+mj-lt"/>
              <a:buAutoNum type="arabicPeriod"/>
            </a:pPr>
            <a:r>
              <a:rPr lang="en-GB" sz="2400" dirty="0" smtClean="0"/>
              <a:t>Why do ionic compounds have high melting and boiling points?</a:t>
            </a:r>
          </a:p>
          <a:p>
            <a:pPr marL="457200" indent="-457200">
              <a:buFont typeface="+mj-lt"/>
              <a:buAutoNum type="arabicPeriod"/>
            </a:pPr>
            <a:endParaRPr lang="en-GB" sz="2400" dirty="0" smtClean="0"/>
          </a:p>
          <a:p>
            <a:pPr marL="457200" indent="-457200">
              <a:buFont typeface="+mj-lt"/>
              <a:buAutoNum type="arabicPeriod"/>
            </a:pPr>
            <a:r>
              <a:rPr lang="en-GB" sz="2400" dirty="0" smtClean="0"/>
              <a:t>Why can ionic compounds conduct electricity when melted or dissolved in water?</a:t>
            </a:r>
          </a:p>
          <a:p>
            <a:pPr marL="457200" indent="-457200">
              <a:buFont typeface="+mj-lt"/>
              <a:buAutoNum type="arabicPeriod"/>
            </a:pPr>
            <a:endParaRPr lang="en-GB" sz="2400" dirty="0" smtClean="0"/>
          </a:p>
          <a:p>
            <a:pPr marL="457200" indent="-457200">
              <a:buFont typeface="+mj-lt"/>
              <a:buAutoNum type="arabicPeriod"/>
            </a:pPr>
            <a:r>
              <a:rPr lang="en-GB" sz="2400" dirty="0" smtClean="0"/>
              <a:t>What state of matter are small molecules normally found in?</a:t>
            </a:r>
          </a:p>
          <a:p>
            <a:pPr marL="457200" indent="-457200">
              <a:buFont typeface="+mj-lt"/>
              <a:buAutoNum type="arabicPeriod"/>
            </a:pPr>
            <a:endParaRPr lang="en-GB" sz="2400" dirty="0" smtClean="0"/>
          </a:p>
          <a:p>
            <a:pPr marL="457200" indent="-457200">
              <a:buFont typeface="+mj-lt"/>
              <a:buAutoNum type="arabicPeriod"/>
            </a:pPr>
            <a:r>
              <a:rPr lang="en-GB" sz="2400" dirty="0" smtClean="0"/>
              <a:t>Why do small molecules have low melting and boiling points?</a:t>
            </a:r>
          </a:p>
          <a:p>
            <a:pPr marL="457200" indent="-457200">
              <a:buFont typeface="+mj-lt"/>
              <a:buAutoNum type="arabicPeriod"/>
            </a:pPr>
            <a:endParaRPr lang="en-GB" sz="2400" dirty="0" smtClean="0"/>
          </a:p>
        </p:txBody>
      </p:sp>
    </p:spTree>
    <p:extLst>
      <p:ext uri="{BB962C8B-B14F-4D97-AF65-F5344CB8AC3E}">
        <p14:creationId xmlns:p14="http://schemas.microsoft.com/office/powerpoint/2010/main" val="345826703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743393" cy="5786199"/>
          </a:xfrm>
          <a:prstGeom prst="rect">
            <a:avLst/>
          </a:prstGeom>
          <a:noFill/>
        </p:spPr>
        <p:txBody>
          <a:bodyPr wrap="square" rtlCol="0">
            <a:spAutoFit/>
          </a:bodyPr>
          <a:lstStyle/>
          <a:p>
            <a:pPr marL="457200" indent="-457200">
              <a:buFont typeface="+mj-lt"/>
              <a:buAutoNum type="arabicPeriod" startAt="6"/>
            </a:pPr>
            <a:r>
              <a:rPr lang="en-GB" sz="2400" dirty="0" smtClean="0"/>
              <a:t>What happens to the melting and boiling points as small molecules get bigger? Why?</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Why don’t small molecules conduct electricity?</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What are polymers?</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How are the atoms in a polymer linked together?</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Why are polymers normally solid at room temperature?</a:t>
            </a:r>
          </a:p>
          <a:p>
            <a:pPr marL="457200" indent="-457200">
              <a:buFont typeface="+mj-lt"/>
              <a:buAutoNum type="arabicPeriod" startAt="6"/>
            </a:pPr>
            <a:endParaRPr lang="en-GB" sz="2400" dirty="0" smtClean="0"/>
          </a:p>
          <a:p>
            <a:pPr marL="457200" indent="-457200">
              <a:buFont typeface="+mj-lt"/>
              <a:buAutoNum type="arabicPeriod" startAt="6"/>
            </a:pPr>
            <a:r>
              <a:rPr lang="en-GB" sz="2400" dirty="0" smtClean="0"/>
              <a:t>Give an example of a giant covalent structure.</a:t>
            </a:r>
          </a:p>
          <a:p>
            <a:pPr marL="457200" indent="-457200">
              <a:buFont typeface="+mj-lt"/>
              <a:buAutoNum type="arabicPeriod" startAt="6"/>
            </a:pPr>
            <a:endParaRPr lang="en-GB" sz="2400" dirty="0" smtClean="0"/>
          </a:p>
          <a:p>
            <a:pPr marL="457200" indent="-457200">
              <a:buFont typeface="+mj-lt"/>
              <a:buAutoNum type="arabicPeriod" startAt="6"/>
            </a:pPr>
            <a:endParaRPr lang="en-GB" sz="2400" dirty="0" smtClean="0"/>
          </a:p>
          <a:p>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392425365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743393" cy="5786199"/>
          </a:xfrm>
          <a:prstGeom prst="rect">
            <a:avLst/>
          </a:prstGeom>
          <a:noFill/>
        </p:spPr>
        <p:txBody>
          <a:bodyPr wrap="square" rtlCol="0">
            <a:spAutoFit/>
          </a:bodyPr>
          <a:lstStyle/>
          <a:p>
            <a:pPr marL="457200" indent="-457200">
              <a:buFont typeface="+mj-lt"/>
              <a:buAutoNum type="arabicPeriod" startAt="12"/>
            </a:pPr>
            <a:r>
              <a:rPr lang="en-GB" sz="2400" dirty="0" smtClean="0"/>
              <a:t>Why do giant covalent structures have very high melting and boiling points?</a:t>
            </a:r>
          </a:p>
          <a:p>
            <a:pPr marL="457200" indent="-457200">
              <a:buFont typeface="+mj-lt"/>
              <a:buAutoNum type="arabicPeriod" startAt="12"/>
            </a:pPr>
            <a:endParaRPr lang="en-GB" sz="2400" dirty="0" smtClean="0"/>
          </a:p>
          <a:p>
            <a:pPr marL="457200" indent="-457200">
              <a:buFont typeface="+mj-lt"/>
              <a:buAutoNum type="arabicPeriod" startAt="12"/>
            </a:pPr>
            <a:r>
              <a:rPr lang="en-GB" sz="2400" dirty="0" smtClean="0"/>
              <a:t>Why do most metals have high melting and boiling points? </a:t>
            </a:r>
          </a:p>
          <a:p>
            <a:pPr marL="457200" indent="-457200">
              <a:buFont typeface="+mj-lt"/>
              <a:buAutoNum type="arabicPeriod" startAt="12"/>
            </a:pPr>
            <a:endParaRPr lang="en-GB" sz="2400" dirty="0" smtClean="0"/>
          </a:p>
          <a:p>
            <a:pPr marL="457200" indent="-457200">
              <a:buFont typeface="+mj-lt"/>
              <a:buAutoNum type="arabicPeriod" startAt="12"/>
            </a:pPr>
            <a:r>
              <a:rPr lang="en-GB" sz="2400" dirty="0" smtClean="0"/>
              <a:t>How are atoms arranged in pure metals?</a:t>
            </a:r>
          </a:p>
          <a:p>
            <a:pPr marL="457200" indent="-457200">
              <a:buFont typeface="+mj-lt"/>
              <a:buAutoNum type="arabicPeriod" startAt="12"/>
            </a:pPr>
            <a:endParaRPr lang="en-GB" sz="2400" dirty="0" smtClean="0"/>
          </a:p>
          <a:p>
            <a:pPr marL="457200" indent="-457200">
              <a:buFont typeface="+mj-lt"/>
              <a:buAutoNum type="arabicPeriod" startAt="12"/>
            </a:pPr>
            <a:r>
              <a:rPr lang="en-GB" sz="2400" dirty="0" smtClean="0"/>
              <a:t>What is an alloy?</a:t>
            </a:r>
          </a:p>
          <a:p>
            <a:pPr marL="457200" indent="-457200">
              <a:buFont typeface="+mj-lt"/>
              <a:buAutoNum type="arabicPeriod" startAt="12"/>
            </a:pPr>
            <a:endParaRPr lang="en-GB" sz="2400" dirty="0" smtClean="0"/>
          </a:p>
          <a:p>
            <a:pPr marL="457200" indent="-457200">
              <a:buFont typeface="+mj-lt"/>
              <a:buAutoNum type="arabicPeriod" startAt="12"/>
            </a:pPr>
            <a:r>
              <a:rPr lang="en-GB" sz="2400" dirty="0" smtClean="0"/>
              <a:t>Why do we use alloys, rather than pure metals, for many uses?</a:t>
            </a:r>
          </a:p>
          <a:p>
            <a:pPr marL="457200" indent="-457200">
              <a:buFont typeface="+mj-lt"/>
              <a:buAutoNum type="arabicPeriod" startAt="12"/>
            </a:pPr>
            <a:endParaRPr lang="en-GB" sz="2400" dirty="0" smtClean="0"/>
          </a:p>
          <a:p>
            <a:pPr marL="457200" indent="-457200">
              <a:buFont typeface="+mj-lt"/>
              <a:buAutoNum type="arabicPeriod" startAt="12"/>
            </a:pPr>
            <a:endParaRPr lang="en-GB" sz="2400" dirty="0" smtClean="0"/>
          </a:p>
          <a:p>
            <a:pPr marL="457200" indent="-457200">
              <a:buFont typeface="+mj-lt"/>
              <a:buAutoNum type="arabicPeriod" startAt="12"/>
            </a:pPr>
            <a:endParaRPr lang="en-GB" sz="2400" dirty="0" smtClean="0"/>
          </a:p>
          <a:p>
            <a:pPr marL="457200" indent="-457200">
              <a:buFont typeface="+mj-lt"/>
              <a:buAutoNum type="arabicPeriod" startAt="12"/>
            </a:pPr>
            <a:endParaRPr lang="en-GB" sz="2400" dirty="0" smtClean="0"/>
          </a:p>
          <a:p>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151041809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743393" cy="3200876"/>
          </a:xfrm>
          <a:prstGeom prst="rect">
            <a:avLst/>
          </a:prstGeom>
          <a:noFill/>
        </p:spPr>
        <p:txBody>
          <a:bodyPr wrap="square" rtlCol="0">
            <a:spAutoFit/>
          </a:bodyPr>
          <a:lstStyle/>
          <a:p>
            <a:pPr marL="457200" indent="-457200">
              <a:buFont typeface="+mj-lt"/>
              <a:buAutoNum type="arabicPeriod" startAt="17"/>
            </a:pPr>
            <a:r>
              <a:rPr lang="en-GB" sz="2400" dirty="0" smtClean="0"/>
              <a:t>Why are metals good conductors of electricity?</a:t>
            </a:r>
          </a:p>
          <a:p>
            <a:pPr marL="457200" indent="-457200">
              <a:buFont typeface="+mj-lt"/>
              <a:buAutoNum type="arabicPeriod" startAt="17"/>
            </a:pPr>
            <a:endParaRPr lang="en-GB" sz="2400" dirty="0" smtClean="0"/>
          </a:p>
          <a:p>
            <a:pPr marL="457200" indent="-457200">
              <a:buFont typeface="+mj-lt"/>
              <a:buAutoNum type="arabicPeriod" startAt="17"/>
            </a:pPr>
            <a:r>
              <a:rPr lang="en-GB" sz="2400" dirty="0" smtClean="0"/>
              <a:t>What is thermal energy?</a:t>
            </a:r>
          </a:p>
          <a:p>
            <a:pPr marL="457200" indent="-457200">
              <a:buFont typeface="+mj-lt"/>
              <a:buAutoNum type="arabicPeriod" startAt="17"/>
            </a:pPr>
            <a:endParaRPr lang="en-GB" sz="2400" dirty="0" smtClean="0"/>
          </a:p>
          <a:p>
            <a:pPr marL="457200" indent="-457200">
              <a:buFont typeface="+mj-lt"/>
              <a:buAutoNum type="arabicPeriod" startAt="17"/>
            </a:pPr>
            <a:r>
              <a:rPr lang="en-GB" sz="2400" dirty="0" smtClean="0"/>
              <a:t>Why are metals good conductors of thermal energy?</a:t>
            </a:r>
          </a:p>
          <a:p>
            <a:pPr marL="457200" indent="-457200">
              <a:buFont typeface="+mj-lt"/>
              <a:buAutoNum type="arabicPeriod" startAt="12"/>
            </a:pPr>
            <a:endParaRPr lang="en-GB" sz="2400" dirty="0" smtClean="0"/>
          </a:p>
          <a:p>
            <a:pPr marL="457200" indent="-457200">
              <a:buFont typeface="+mj-lt"/>
              <a:buAutoNum type="arabicPeriod" startAt="12"/>
            </a:pPr>
            <a:endParaRPr lang="en-GB" sz="2400" dirty="0" smtClean="0"/>
          </a:p>
          <a:p>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714705127"/>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262979"/>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Properties of substances Part 2</a:t>
            </a:r>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Ionic compounds</a:t>
            </a:r>
          </a:p>
          <a:p>
            <a:pPr marL="685800" lvl="1" indent="-342900">
              <a:buFont typeface="Arial" charset="0"/>
              <a:buChar char="•"/>
            </a:pPr>
            <a:r>
              <a:rPr lang="en-US" sz="2400" b="1" dirty="0">
                <a:solidFill>
                  <a:schemeClr val="bg1">
                    <a:lumMod val="50000"/>
                  </a:schemeClr>
                </a:solidFill>
              </a:rPr>
              <a:t>Small molecules</a:t>
            </a:r>
          </a:p>
          <a:p>
            <a:pPr marL="685800" lvl="1" indent="-342900">
              <a:buFont typeface="Arial" charset="0"/>
              <a:buChar char="•"/>
            </a:pPr>
            <a:r>
              <a:rPr lang="en-US" sz="2400" b="1" dirty="0">
                <a:solidFill>
                  <a:schemeClr val="bg1">
                    <a:lumMod val="50000"/>
                  </a:schemeClr>
                </a:solidFill>
              </a:rPr>
              <a:t>Polymers</a:t>
            </a:r>
          </a:p>
          <a:p>
            <a:pPr marL="685800" lvl="1" indent="-342900">
              <a:buFont typeface="Arial" charset="0"/>
              <a:buChar char="•"/>
            </a:pPr>
            <a:r>
              <a:rPr lang="en-US" sz="2400" b="1" dirty="0">
                <a:solidFill>
                  <a:schemeClr val="bg1">
                    <a:lumMod val="50000"/>
                  </a:schemeClr>
                </a:solidFill>
              </a:rPr>
              <a:t>Giant covalent structures</a:t>
            </a:r>
          </a:p>
          <a:p>
            <a:pPr marL="685800" lvl="1" indent="-342900">
              <a:buFont typeface="Arial" charset="0"/>
              <a:buChar char="•"/>
            </a:pPr>
            <a:r>
              <a:rPr lang="en-US" sz="2400" b="1" dirty="0">
                <a:solidFill>
                  <a:schemeClr val="bg1">
                    <a:lumMod val="50000"/>
                  </a:schemeClr>
                </a:solidFill>
              </a:rPr>
              <a:t>Metals and alloys</a:t>
            </a:r>
          </a:p>
          <a:p>
            <a:endParaRPr lang="en-GB" dirty="0"/>
          </a:p>
        </p:txBody>
      </p:sp>
    </p:spTree>
    <p:extLst>
      <p:ext uri="{BB962C8B-B14F-4D97-AF65-F5344CB8AC3E}">
        <p14:creationId xmlns:p14="http://schemas.microsoft.com/office/powerpoint/2010/main" val="379271175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743393" cy="4154984"/>
          </a:xfrm>
          <a:prstGeom prst="rect">
            <a:avLst/>
          </a:prstGeom>
          <a:noFill/>
        </p:spPr>
        <p:txBody>
          <a:bodyPr wrap="square" rtlCol="0">
            <a:spAutoFit/>
          </a:bodyPr>
          <a:lstStyle/>
          <a:p>
            <a:pPr marL="457200" indent="-457200">
              <a:buFont typeface="+mj-lt"/>
              <a:buAutoNum type="arabicPeriod"/>
            </a:pPr>
            <a:r>
              <a:rPr lang="en-GB" sz="2400" dirty="0" smtClean="0"/>
              <a:t>Describe the structure of ionic compounds.</a:t>
            </a:r>
          </a:p>
          <a:p>
            <a:pPr lvl="1"/>
            <a:r>
              <a:rPr lang="en-GB" sz="2400" b="1" dirty="0" smtClean="0">
                <a:solidFill>
                  <a:srgbClr val="00B050"/>
                </a:solidFill>
              </a:rPr>
              <a:t>Regular, giant ionic lattice.</a:t>
            </a:r>
            <a:endParaRPr lang="en-GB" sz="2400" dirty="0" smtClean="0"/>
          </a:p>
          <a:p>
            <a:pPr marL="457200" indent="-457200">
              <a:buFont typeface="+mj-lt"/>
              <a:buAutoNum type="arabicPeriod"/>
            </a:pPr>
            <a:r>
              <a:rPr lang="en-GB" sz="2400" dirty="0" smtClean="0"/>
              <a:t>Why do ionic compounds have high melting and boiling points?</a:t>
            </a:r>
          </a:p>
          <a:p>
            <a:pPr lvl="1"/>
            <a:r>
              <a:rPr lang="en-GB" sz="2400" b="1" dirty="0" smtClean="0">
                <a:solidFill>
                  <a:srgbClr val="00B050"/>
                </a:solidFill>
              </a:rPr>
              <a:t>Strong electrostatic forces of attraction between ions.</a:t>
            </a:r>
            <a:endParaRPr lang="en-GB" sz="2400" dirty="0" smtClean="0"/>
          </a:p>
          <a:p>
            <a:pPr marL="457200" indent="-457200">
              <a:buFont typeface="+mj-lt"/>
              <a:buAutoNum type="arabicPeriod"/>
            </a:pPr>
            <a:r>
              <a:rPr lang="en-GB" sz="2400" dirty="0" smtClean="0"/>
              <a:t>Why can ionic compounds conduct electricity when melted or dissolved in water?</a:t>
            </a:r>
          </a:p>
          <a:p>
            <a:pPr lvl="1"/>
            <a:r>
              <a:rPr lang="en-GB" sz="2400" b="1" dirty="0" smtClean="0">
                <a:solidFill>
                  <a:srgbClr val="00B050"/>
                </a:solidFill>
              </a:rPr>
              <a:t>Ions are free to move, carry the charge.</a:t>
            </a:r>
            <a:endParaRPr lang="en-GB" sz="2400" dirty="0" smtClean="0"/>
          </a:p>
          <a:p>
            <a:pPr marL="457200" indent="-457200">
              <a:buFont typeface="+mj-lt"/>
              <a:buAutoNum type="arabicPeriod"/>
            </a:pPr>
            <a:r>
              <a:rPr lang="en-GB" sz="2400" dirty="0" smtClean="0"/>
              <a:t>What state of matter are small molecules normally found in?</a:t>
            </a:r>
          </a:p>
          <a:p>
            <a:pPr lvl="1"/>
            <a:r>
              <a:rPr lang="en-GB" sz="2400" b="1" dirty="0" smtClean="0">
                <a:solidFill>
                  <a:srgbClr val="00B050"/>
                </a:solidFill>
              </a:rPr>
              <a:t>Gas or liquid.</a:t>
            </a:r>
            <a:endParaRPr lang="en-GB" sz="2400" dirty="0" smtClean="0"/>
          </a:p>
          <a:p>
            <a:pPr marL="457200" indent="-457200">
              <a:buFont typeface="+mj-lt"/>
              <a:buAutoNum type="arabicPeriod"/>
            </a:pPr>
            <a:r>
              <a:rPr lang="en-GB" sz="2400" dirty="0" smtClean="0"/>
              <a:t>Why do small molecules have low melting and boiling points?</a:t>
            </a:r>
          </a:p>
          <a:p>
            <a:pPr lvl="1"/>
            <a:r>
              <a:rPr lang="en-GB" sz="2400" b="1" dirty="0" smtClean="0">
                <a:solidFill>
                  <a:srgbClr val="00B050"/>
                </a:solidFill>
              </a:rPr>
              <a:t>Weak forces between molecules/ intermolecular forces.</a:t>
            </a:r>
            <a:endParaRPr lang="en-GB" sz="2400" dirty="0" smtClean="0"/>
          </a:p>
        </p:txBody>
      </p:sp>
    </p:spTree>
    <p:extLst>
      <p:ext uri="{BB962C8B-B14F-4D97-AF65-F5344CB8AC3E}">
        <p14:creationId xmlns:p14="http://schemas.microsoft.com/office/powerpoint/2010/main" val="2255046591"/>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743393" cy="5786199"/>
          </a:xfrm>
          <a:prstGeom prst="rect">
            <a:avLst/>
          </a:prstGeom>
          <a:noFill/>
        </p:spPr>
        <p:txBody>
          <a:bodyPr wrap="square" rtlCol="0">
            <a:spAutoFit/>
          </a:bodyPr>
          <a:lstStyle/>
          <a:p>
            <a:pPr marL="457200" indent="-457200">
              <a:buFont typeface="+mj-lt"/>
              <a:buAutoNum type="arabicPeriod" startAt="6"/>
            </a:pPr>
            <a:r>
              <a:rPr lang="en-GB" sz="2400" dirty="0" smtClean="0"/>
              <a:t>What happens to the melting and boiling points as small molecules get bigger? Why?</a:t>
            </a:r>
          </a:p>
          <a:p>
            <a:pPr lvl="1"/>
            <a:r>
              <a:rPr lang="en-GB" sz="2400" b="1" dirty="0" smtClean="0">
                <a:solidFill>
                  <a:srgbClr val="00B050"/>
                </a:solidFill>
              </a:rPr>
              <a:t>Increases, intermolecular forces get bigger.</a:t>
            </a:r>
            <a:endParaRPr lang="en-GB" sz="2400" dirty="0" smtClean="0"/>
          </a:p>
          <a:p>
            <a:pPr marL="457200" indent="-457200">
              <a:buFont typeface="+mj-lt"/>
              <a:buAutoNum type="arabicPeriod" startAt="6"/>
            </a:pPr>
            <a:r>
              <a:rPr lang="en-GB" sz="2400" dirty="0" smtClean="0"/>
              <a:t>Why don’t small molecules conduct electricity?</a:t>
            </a:r>
          </a:p>
          <a:p>
            <a:pPr lvl="1"/>
            <a:r>
              <a:rPr lang="en-GB" sz="2400" b="1" dirty="0" smtClean="0">
                <a:solidFill>
                  <a:srgbClr val="00B050"/>
                </a:solidFill>
              </a:rPr>
              <a:t>Do not have an overall electric charge.</a:t>
            </a:r>
            <a:endParaRPr lang="en-GB" sz="2400" dirty="0" smtClean="0"/>
          </a:p>
          <a:p>
            <a:pPr marL="457200" indent="-457200">
              <a:buFont typeface="+mj-lt"/>
              <a:buAutoNum type="arabicPeriod" startAt="6"/>
            </a:pPr>
            <a:r>
              <a:rPr lang="en-GB" sz="2400" dirty="0" smtClean="0"/>
              <a:t>What are polymers?</a:t>
            </a:r>
          </a:p>
          <a:p>
            <a:pPr lvl="1"/>
            <a:r>
              <a:rPr lang="en-GB" sz="2400" b="1" dirty="0" smtClean="0">
                <a:solidFill>
                  <a:srgbClr val="00B050"/>
                </a:solidFill>
              </a:rPr>
              <a:t>Very large molecules made of repeating units.</a:t>
            </a:r>
            <a:endParaRPr lang="en-GB" sz="2400" dirty="0" smtClean="0"/>
          </a:p>
          <a:p>
            <a:pPr marL="457200" indent="-457200">
              <a:buFont typeface="+mj-lt"/>
              <a:buAutoNum type="arabicPeriod" startAt="6"/>
            </a:pPr>
            <a:r>
              <a:rPr lang="en-GB" sz="2400" dirty="0" smtClean="0"/>
              <a:t>How are the atoms in a polymer linked together?</a:t>
            </a:r>
          </a:p>
          <a:p>
            <a:pPr lvl="1"/>
            <a:r>
              <a:rPr lang="en-GB" sz="2400" b="1" dirty="0" smtClean="0">
                <a:solidFill>
                  <a:srgbClr val="00B050"/>
                </a:solidFill>
              </a:rPr>
              <a:t>Strong covalent bonds.</a:t>
            </a:r>
            <a:endParaRPr lang="en-GB" sz="2400" dirty="0" smtClean="0"/>
          </a:p>
          <a:p>
            <a:pPr marL="457200" indent="-457200">
              <a:buFont typeface="+mj-lt"/>
              <a:buAutoNum type="arabicPeriod" startAt="6"/>
            </a:pPr>
            <a:r>
              <a:rPr lang="en-GB" sz="2400" dirty="0" smtClean="0"/>
              <a:t>Why are polymers normally solid at room temperature?</a:t>
            </a:r>
          </a:p>
          <a:p>
            <a:pPr lvl="1"/>
            <a:r>
              <a:rPr lang="en-GB" sz="2400" b="1" dirty="0" smtClean="0">
                <a:solidFill>
                  <a:srgbClr val="00B050"/>
                </a:solidFill>
              </a:rPr>
              <a:t>Intermolecular forces relatively strong.</a:t>
            </a:r>
            <a:endParaRPr lang="en-GB" sz="2400" dirty="0" smtClean="0"/>
          </a:p>
          <a:p>
            <a:pPr marL="457200" indent="-457200">
              <a:buFont typeface="+mj-lt"/>
              <a:buAutoNum type="arabicPeriod" startAt="6"/>
            </a:pPr>
            <a:r>
              <a:rPr lang="en-GB" sz="2400" dirty="0" smtClean="0"/>
              <a:t>Give an example of a giant covalent structure.</a:t>
            </a:r>
          </a:p>
          <a:p>
            <a:pPr lvl="1"/>
            <a:r>
              <a:rPr lang="en-GB" sz="2400" b="1" dirty="0" smtClean="0">
                <a:solidFill>
                  <a:srgbClr val="00B050"/>
                </a:solidFill>
              </a:rPr>
              <a:t>Diamond, graphite, silicon dioxide.</a:t>
            </a:r>
            <a:endParaRPr lang="en-GB" sz="2400" dirty="0" smtClean="0"/>
          </a:p>
          <a:p>
            <a:pPr marL="457200" indent="-457200">
              <a:buFont typeface="+mj-lt"/>
              <a:buAutoNum type="arabicPeriod" startAt="6"/>
            </a:pPr>
            <a:endParaRPr lang="en-GB" sz="2400" dirty="0" smtClean="0"/>
          </a:p>
          <a:p>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159225866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743393" cy="5786199"/>
          </a:xfrm>
          <a:prstGeom prst="rect">
            <a:avLst/>
          </a:prstGeom>
          <a:noFill/>
        </p:spPr>
        <p:txBody>
          <a:bodyPr wrap="square" rtlCol="0">
            <a:spAutoFit/>
          </a:bodyPr>
          <a:lstStyle/>
          <a:p>
            <a:pPr marL="457200" indent="-457200">
              <a:buFont typeface="+mj-lt"/>
              <a:buAutoNum type="arabicPeriod" startAt="12"/>
            </a:pPr>
            <a:r>
              <a:rPr lang="en-GB" sz="2400" dirty="0" smtClean="0"/>
              <a:t>Why do giant covalent structures have very high melting and boiling points?</a:t>
            </a:r>
          </a:p>
          <a:p>
            <a:pPr lvl="1"/>
            <a:r>
              <a:rPr lang="en-GB" sz="2400" b="1" dirty="0" smtClean="0">
                <a:solidFill>
                  <a:srgbClr val="00B050"/>
                </a:solidFill>
              </a:rPr>
              <a:t>Strong covalent bonds must be broken.</a:t>
            </a:r>
            <a:endParaRPr lang="en-GB" sz="2400" dirty="0" smtClean="0"/>
          </a:p>
          <a:p>
            <a:pPr marL="457200" indent="-457200">
              <a:buFont typeface="+mj-lt"/>
              <a:buAutoNum type="arabicPeriod" startAt="12"/>
            </a:pPr>
            <a:r>
              <a:rPr lang="en-GB" sz="2400" dirty="0" smtClean="0"/>
              <a:t>Why do most metals have high melting and boiling points? </a:t>
            </a:r>
          </a:p>
          <a:p>
            <a:pPr lvl="1"/>
            <a:r>
              <a:rPr lang="en-GB" sz="2400" b="1" dirty="0" smtClean="0">
                <a:solidFill>
                  <a:srgbClr val="00B050"/>
                </a:solidFill>
              </a:rPr>
              <a:t>Strong metallic bonding. </a:t>
            </a:r>
            <a:endParaRPr lang="en-GB" sz="2400" dirty="0" smtClean="0"/>
          </a:p>
          <a:p>
            <a:pPr marL="457200" indent="-457200">
              <a:buFont typeface="+mj-lt"/>
              <a:buAutoNum type="arabicPeriod" startAt="12"/>
            </a:pPr>
            <a:r>
              <a:rPr lang="en-GB" sz="2400" dirty="0" smtClean="0"/>
              <a:t>How are atoms arranged in pure metals?</a:t>
            </a:r>
          </a:p>
          <a:p>
            <a:pPr lvl="1"/>
            <a:r>
              <a:rPr lang="en-GB" sz="2400" b="1" dirty="0" smtClean="0">
                <a:solidFill>
                  <a:srgbClr val="00B050"/>
                </a:solidFill>
              </a:rPr>
              <a:t>Layers.</a:t>
            </a:r>
            <a:endParaRPr lang="en-GB" sz="2400" dirty="0" smtClean="0"/>
          </a:p>
          <a:p>
            <a:pPr marL="457200" indent="-457200">
              <a:buFont typeface="+mj-lt"/>
              <a:buAutoNum type="arabicPeriod" startAt="12"/>
            </a:pPr>
            <a:r>
              <a:rPr lang="en-GB" sz="2400" dirty="0" smtClean="0"/>
              <a:t>What is an alloy?</a:t>
            </a:r>
          </a:p>
          <a:p>
            <a:pPr lvl="1"/>
            <a:r>
              <a:rPr lang="en-GB" sz="2400" b="1" dirty="0" smtClean="0">
                <a:solidFill>
                  <a:srgbClr val="00B050"/>
                </a:solidFill>
              </a:rPr>
              <a:t>Mixture of two elements, one of which is a metal.</a:t>
            </a:r>
            <a:endParaRPr lang="en-GB" sz="2400" dirty="0" smtClean="0"/>
          </a:p>
          <a:p>
            <a:pPr marL="457200" indent="-457200">
              <a:buFont typeface="+mj-lt"/>
              <a:buAutoNum type="arabicPeriod" startAt="12"/>
            </a:pPr>
            <a:r>
              <a:rPr lang="en-GB" sz="2400" dirty="0" smtClean="0"/>
              <a:t>Why do we use alloys, rather than pure metals, for many uses?</a:t>
            </a:r>
          </a:p>
          <a:p>
            <a:pPr lvl="1"/>
            <a:r>
              <a:rPr lang="en-GB" sz="2400" b="1" dirty="0" smtClean="0">
                <a:solidFill>
                  <a:srgbClr val="00B050"/>
                </a:solidFill>
              </a:rPr>
              <a:t>They are harder as the layers are distorted.</a:t>
            </a:r>
            <a:endParaRPr lang="en-GB" sz="2400" dirty="0" smtClean="0"/>
          </a:p>
          <a:p>
            <a:pPr marL="457200" indent="-457200">
              <a:buFont typeface="+mj-lt"/>
              <a:buAutoNum type="arabicPeriod" startAt="12"/>
            </a:pPr>
            <a:endParaRPr lang="en-GB" sz="2400" dirty="0" smtClean="0"/>
          </a:p>
          <a:p>
            <a:pPr marL="457200" indent="-457200">
              <a:buFont typeface="+mj-lt"/>
              <a:buAutoNum type="arabicPeriod" startAt="12"/>
            </a:pPr>
            <a:endParaRPr lang="en-GB" sz="2400" dirty="0" smtClean="0"/>
          </a:p>
          <a:p>
            <a:pPr marL="457200" indent="-457200">
              <a:buFont typeface="+mj-lt"/>
              <a:buAutoNum type="arabicPeriod" startAt="12"/>
            </a:pPr>
            <a:endParaRPr lang="en-GB" sz="2400" dirty="0" smtClean="0"/>
          </a:p>
          <a:p>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149166454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2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743393" cy="3200876"/>
          </a:xfrm>
          <a:prstGeom prst="rect">
            <a:avLst/>
          </a:prstGeom>
          <a:noFill/>
        </p:spPr>
        <p:txBody>
          <a:bodyPr wrap="square" rtlCol="0">
            <a:spAutoFit/>
          </a:bodyPr>
          <a:lstStyle/>
          <a:p>
            <a:pPr marL="457200" indent="-457200">
              <a:buFont typeface="+mj-lt"/>
              <a:buAutoNum type="arabicPeriod" startAt="17"/>
            </a:pPr>
            <a:r>
              <a:rPr lang="en-GB" sz="2400" dirty="0" smtClean="0"/>
              <a:t>Why are metals good conductors of electricity?</a:t>
            </a:r>
          </a:p>
          <a:p>
            <a:pPr lvl="1"/>
            <a:r>
              <a:rPr lang="en-GB" sz="2400" b="1" dirty="0" smtClean="0">
                <a:solidFill>
                  <a:srgbClr val="00B050"/>
                </a:solidFill>
              </a:rPr>
              <a:t>Electrical charge carried by delocalised electrons.</a:t>
            </a:r>
            <a:endParaRPr lang="en-GB" sz="2400" dirty="0" smtClean="0"/>
          </a:p>
          <a:p>
            <a:pPr marL="457200" indent="-457200">
              <a:buFont typeface="+mj-lt"/>
              <a:buAutoNum type="arabicPeriod" startAt="17"/>
            </a:pPr>
            <a:r>
              <a:rPr lang="en-GB" sz="2400" dirty="0" smtClean="0"/>
              <a:t>What is thermal energy?</a:t>
            </a:r>
          </a:p>
          <a:p>
            <a:pPr lvl="1"/>
            <a:r>
              <a:rPr lang="en-GB" sz="2400" b="1" dirty="0" smtClean="0">
                <a:solidFill>
                  <a:srgbClr val="00B050"/>
                </a:solidFill>
              </a:rPr>
              <a:t>Heat energy.</a:t>
            </a:r>
            <a:endParaRPr lang="en-GB" sz="2400" dirty="0" smtClean="0"/>
          </a:p>
          <a:p>
            <a:pPr marL="457200" indent="-457200">
              <a:buFont typeface="+mj-lt"/>
              <a:buAutoNum type="arabicPeriod" startAt="17"/>
            </a:pPr>
            <a:r>
              <a:rPr lang="en-GB" sz="2400" dirty="0" smtClean="0"/>
              <a:t>Why are metals good conductors of thermal energy?</a:t>
            </a:r>
          </a:p>
          <a:p>
            <a:pPr lvl="1"/>
            <a:r>
              <a:rPr lang="en-GB" sz="2400" b="1" dirty="0" smtClean="0">
                <a:solidFill>
                  <a:srgbClr val="00B050"/>
                </a:solidFill>
              </a:rPr>
              <a:t>Energy is transferred by delocalised electrons.</a:t>
            </a:r>
            <a:endParaRPr lang="en-GB" sz="2400" dirty="0" smtClean="0"/>
          </a:p>
          <a:p>
            <a:pPr marL="457200" indent="-457200">
              <a:buFont typeface="+mj-lt"/>
              <a:buAutoNum type="arabicPeriod" startAt="12"/>
            </a:pPr>
            <a:endParaRPr lang="en-GB" sz="2400" dirty="0" smtClean="0"/>
          </a:p>
          <a:p>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65056103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232202"/>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smtClean="0">
                <a:solidFill>
                  <a:schemeClr val="tx1">
                    <a:lumMod val="50000"/>
                    <a:lumOff val="50000"/>
                  </a:schemeClr>
                </a:solidFill>
              </a:rPr>
              <a:t>Properties of substances Part 3</a:t>
            </a:r>
            <a:endParaRPr lang="en-GB" sz="3600" b="1" dirty="0">
              <a:solidFill>
                <a:schemeClr val="tx1">
                  <a:lumMod val="50000"/>
                  <a:lumOff val="50000"/>
                </a:schemeClr>
              </a:solidFill>
            </a:endParaRPr>
          </a:p>
          <a:p>
            <a:endParaRPr lang="en-GB" sz="2800" dirty="0">
              <a:solidFill>
                <a:schemeClr val="tx1">
                  <a:lumMod val="50000"/>
                  <a:lumOff val="50000"/>
                </a:schemeClr>
              </a:solidFill>
            </a:endParaRPr>
          </a:p>
          <a:p>
            <a:pPr marL="685800" lvl="1" indent="-342900">
              <a:buFont typeface="Arial" charset="0"/>
              <a:buChar char="•"/>
            </a:pPr>
            <a:r>
              <a:rPr lang="en-US" sz="2400" b="1" dirty="0" smtClean="0">
                <a:solidFill>
                  <a:schemeClr val="bg1">
                    <a:lumMod val="50000"/>
                  </a:schemeClr>
                </a:solidFill>
              </a:rPr>
              <a:t>Diamond</a:t>
            </a:r>
          </a:p>
          <a:p>
            <a:pPr marL="685800" lvl="1" indent="-342900">
              <a:buFont typeface="Arial" charset="0"/>
              <a:buChar char="•"/>
            </a:pPr>
            <a:r>
              <a:rPr lang="en-US" sz="2400" b="1" dirty="0" smtClean="0">
                <a:solidFill>
                  <a:schemeClr val="bg1">
                    <a:lumMod val="50000"/>
                  </a:schemeClr>
                </a:solidFill>
              </a:rPr>
              <a:t>Graphite</a:t>
            </a:r>
          </a:p>
          <a:p>
            <a:pPr marL="685800" lvl="1" indent="-342900">
              <a:buFont typeface="Arial" charset="0"/>
              <a:buChar char="•"/>
            </a:pPr>
            <a:r>
              <a:rPr lang="en-US" sz="2400" b="1" dirty="0" smtClean="0">
                <a:solidFill>
                  <a:schemeClr val="bg1">
                    <a:lumMod val="50000"/>
                  </a:schemeClr>
                </a:solidFill>
              </a:rPr>
              <a:t>Graphene and fullerenes</a:t>
            </a:r>
            <a:endParaRPr lang="en-GB" dirty="0"/>
          </a:p>
        </p:txBody>
      </p:sp>
    </p:spTree>
    <p:extLst>
      <p:ext uri="{BB962C8B-B14F-4D97-AF65-F5344CB8AC3E}">
        <p14:creationId xmlns:p14="http://schemas.microsoft.com/office/powerpoint/2010/main" val="310243098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2" descr="http://astarmathsandphysics.com/a-level-physics-notes/materials/a-level-physics-notes-the-structure-of-diamond-html-5c84fca4.gif">
            <a:extLst>
              <a:ext uri="{FF2B5EF4-FFF2-40B4-BE49-F238E27FC236}">
                <a16:creationId xmlns:a16="http://schemas.microsoft.com/office/drawing/2014/main" xmlns="" id="{466FEE87-7DC1-4643-B574-949208E87A76}"/>
              </a:ext>
            </a:extLst>
          </p:cNvPr>
          <p:cNvPicPr>
            <a:picLocks noChangeAspect="1" noChangeArrowheads="1"/>
          </p:cNvPicPr>
          <p:nvPr/>
        </p:nvPicPr>
        <p:blipFill>
          <a:blip r:embed="rId3" cstate="print">
            <a:duotone>
              <a:schemeClr val="accent6">
                <a:shade val="45000"/>
                <a:satMod val="135000"/>
              </a:schemeClr>
              <a:prstClr val="white"/>
            </a:duotone>
          </a:blip>
          <a:srcRect/>
          <a:stretch>
            <a:fillRect/>
          </a:stretch>
        </p:blipFill>
        <p:spPr bwMode="auto">
          <a:xfrm>
            <a:off x="6012160" y="1958811"/>
            <a:ext cx="2022084" cy="1916833"/>
          </a:xfrm>
          <a:prstGeom prst="rect">
            <a:avLst/>
          </a:prstGeom>
          <a:noFill/>
        </p:spPr>
      </p:pic>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Diamond</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Rectangle 2">
            <a:extLst>
              <a:ext uri="{FF2B5EF4-FFF2-40B4-BE49-F238E27FC236}">
                <a16:creationId xmlns:a16="http://schemas.microsoft.com/office/drawing/2014/main" xmlns="" id="{43CBF008-A007-417F-BA0E-3E093B6C81B0}"/>
              </a:ext>
            </a:extLst>
          </p:cNvPr>
          <p:cNvSpPr/>
          <p:nvPr/>
        </p:nvSpPr>
        <p:spPr>
          <a:xfrm>
            <a:off x="586424" y="1074509"/>
            <a:ext cx="4572000" cy="4708981"/>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p>
            <a:r>
              <a:rPr lang="en-GB" sz="2000" b="1" dirty="0">
                <a:solidFill>
                  <a:schemeClr val="accent6">
                    <a:lumMod val="75000"/>
                  </a:schemeClr>
                </a:solidFill>
              </a:rPr>
              <a:t>Diamond:</a:t>
            </a:r>
          </a:p>
          <a:p>
            <a:r>
              <a:rPr lang="en-GB" sz="2000" dirty="0"/>
              <a:t>In diamond, each carbon atom forms </a:t>
            </a:r>
            <a:r>
              <a:rPr lang="en-GB" sz="2000" b="1" dirty="0"/>
              <a:t>four</a:t>
            </a:r>
            <a:r>
              <a:rPr lang="en-GB" sz="2000" dirty="0"/>
              <a:t> </a:t>
            </a:r>
            <a:r>
              <a:rPr lang="en-GB" sz="2000" b="1" dirty="0" smtClean="0"/>
              <a:t>covalent bonds </a:t>
            </a:r>
            <a:r>
              <a:rPr lang="en-GB" sz="2000" dirty="0"/>
              <a:t>with other carbon </a:t>
            </a:r>
            <a:r>
              <a:rPr lang="en-GB" sz="2000" dirty="0" smtClean="0"/>
              <a:t>atoms in a </a:t>
            </a:r>
            <a:r>
              <a:rPr lang="en-GB" sz="2000" b="1" dirty="0" smtClean="0">
                <a:solidFill>
                  <a:schemeClr val="accent6">
                    <a:lumMod val="75000"/>
                  </a:schemeClr>
                </a:solidFill>
              </a:rPr>
              <a:t>giant covalent structure</a:t>
            </a:r>
            <a:r>
              <a:rPr lang="en-GB" sz="2000" dirty="0" smtClean="0"/>
              <a:t>.</a:t>
            </a:r>
          </a:p>
          <a:p>
            <a:endParaRPr lang="en-GB" sz="2000" dirty="0"/>
          </a:p>
          <a:p>
            <a:pPr marL="342900" indent="-342900">
              <a:buFont typeface="Arial" panose="020B0604020202020204" pitchFamily="34" charset="0"/>
              <a:buChar char="•"/>
            </a:pPr>
            <a:r>
              <a:rPr lang="en-GB" sz="2000" dirty="0"/>
              <a:t>Diamond is very</a:t>
            </a:r>
            <a:r>
              <a:rPr lang="en-GB" sz="2000" b="1" dirty="0"/>
              <a:t> hard</a:t>
            </a:r>
            <a:r>
              <a:rPr lang="en-GB" sz="2000" dirty="0"/>
              <a:t> – it is the hardest natural substance, so it is often used to make jewellery and cutting tools.</a:t>
            </a:r>
          </a:p>
          <a:p>
            <a:pPr marL="342900" indent="-342900">
              <a:buFont typeface="Arial" panose="020B0604020202020204" pitchFamily="34" charset="0"/>
              <a:buChar char="•"/>
            </a:pPr>
            <a:r>
              <a:rPr lang="en-GB" sz="2000" dirty="0"/>
              <a:t>Diamond has a</a:t>
            </a:r>
            <a:r>
              <a:rPr lang="en-GB" sz="2000" b="1" dirty="0"/>
              <a:t> very high melting </a:t>
            </a:r>
            <a:r>
              <a:rPr lang="en-GB" sz="2000" dirty="0"/>
              <a:t>and</a:t>
            </a:r>
            <a:r>
              <a:rPr lang="en-GB" sz="2000" b="1" dirty="0"/>
              <a:t> boiling point</a:t>
            </a:r>
            <a:r>
              <a:rPr lang="en-GB" sz="2000" dirty="0"/>
              <a:t> – a lot of energy is needed to break the covalent bonds.</a:t>
            </a:r>
          </a:p>
          <a:p>
            <a:pPr marL="342900" indent="-342900">
              <a:buFont typeface="Arial" panose="020B0604020202020204" pitchFamily="34" charset="0"/>
              <a:buChar char="•"/>
            </a:pPr>
            <a:r>
              <a:rPr lang="en-GB" sz="2000" dirty="0"/>
              <a:t>Diamond</a:t>
            </a:r>
            <a:r>
              <a:rPr lang="en-GB" sz="2000" b="1" dirty="0"/>
              <a:t> cannot conduct </a:t>
            </a:r>
            <a:r>
              <a:rPr lang="en-GB" sz="2000" b="1" dirty="0" smtClean="0"/>
              <a:t>electricity</a:t>
            </a:r>
            <a:r>
              <a:rPr lang="en-GB" sz="2000" dirty="0" smtClean="0"/>
              <a:t> </a:t>
            </a:r>
            <a:r>
              <a:rPr lang="en-GB" sz="2000" dirty="0"/>
              <a:t>– there are no </a:t>
            </a:r>
            <a:r>
              <a:rPr lang="en-GB" sz="2000" dirty="0" smtClean="0"/>
              <a:t>free </a:t>
            </a:r>
            <a:r>
              <a:rPr lang="en-GB" sz="2000" dirty="0"/>
              <a:t>electrons </a:t>
            </a:r>
            <a:r>
              <a:rPr lang="en-GB" sz="2000" dirty="0" smtClean="0"/>
              <a:t>or ions </a:t>
            </a:r>
            <a:r>
              <a:rPr lang="en-GB" sz="2000" dirty="0"/>
              <a:t>to carry a charge</a:t>
            </a:r>
            <a:r>
              <a:rPr lang="en-GB" sz="2000" dirty="0" smtClean="0"/>
              <a:t>.</a:t>
            </a:r>
            <a:endParaRPr lang="en-GB" sz="2000" dirty="0"/>
          </a:p>
        </p:txBody>
      </p:sp>
      <p:sp>
        <p:nvSpPr>
          <p:cNvPr id="8" name="Rectangle 7">
            <a:extLst>
              <a:ext uri="{FF2B5EF4-FFF2-40B4-BE49-F238E27FC236}">
                <a16:creationId xmlns:a16="http://schemas.microsoft.com/office/drawing/2014/main" xmlns="" id="{1361B73D-AE2A-45DC-8521-0361D28138C9}"/>
              </a:ext>
            </a:extLst>
          </p:cNvPr>
          <p:cNvSpPr/>
          <p:nvPr/>
        </p:nvSpPr>
        <p:spPr>
          <a:xfrm>
            <a:off x="179512" y="1956939"/>
            <a:ext cx="4515707" cy="449639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2298208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4" descr="http://lpmmc.grenoble.cnrs.fr/UserFiles/Image/graphite.jpg">
            <a:hlinkClick r:id="rId3"/>
            <a:extLst>
              <a:ext uri="{FF2B5EF4-FFF2-40B4-BE49-F238E27FC236}">
                <a16:creationId xmlns:a16="http://schemas.microsoft.com/office/drawing/2014/main" xmlns="" id="{4400498A-8C98-4362-A536-5A609A3ABFE3}"/>
              </a:ext>
            </a:extLst>
          </p:cNvPr>
          <p:cNvPicPr>
            <a:picLocks noChangeAspect="1" noChangeArrowheads="1"/>
          </p:cNvPicPr>
          <p:nvPr/>
        </p:nvPicPr>
        <p:blipFill>
          <a:blip r:embed="rId4" cstate="print">
            <a:duotone>
              <a:schemeClr val="accent6">
                <a:shade val="45000"/>
                <a:satMod val="135000"/>
              </a:schemeClr>
              <a:prstClr val="white"/>
            </a:duotone>
          </a:blip>
          <a:srcRect/>
          <a:stretch>
            <a:fillRect/>
          </a:stretch>
        </p:blipFill>
        <p:spPr bwMode="auto">
          <a:xfrm>
            <a:off x="6012160" y="1988840"/>
            <a:ext cx="2132855" cy="2132856"/>
          </a:xfrm>
          <a:prstGeom prst="rect">
            <a:avLst/>
          </a:prstGeom>
          <a:noFill/>
        </p:spPr>
      </p:pic>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Graphite</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Rectangle 2">
            <a:extLst>
              <a:ext uri="{FF2B5EF4-FFF2-40B4-BE49-F238E27FC236}">
                <a16:creationId xmlns:a16="http://schemas.microsoft.com/office/drawing/2014/main" xmlns="" id="{671D0B6D-021F-4442-AAF5-762AAC4C1937}"/>
              </a:ext>
            </a:extLst>
          </p:cNvPr>
          <p:cNvSpPr/>
          <p:nvPr/>
        </p:nvSpPr>
        <p:spPr>
          <a:xfrm>
            <a:off x="610056" y="1074509"/>
            <a:ext cx="4572000" cy="4708981"/>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p>
            <a:r>
              <a:rPr lang="en-GB" sz="2000" b="1" dirty="0">
                <a:solidFill>
                  <a:schemeClr val="accent6">
                    <a:lumMod val="75000"/>
                  </a:schemeClr>
                </a:solidFill>
              </a:rPr>
              <a:t>Graphite:</a:t>
            </a:r>
          </a:p>
          <a:p>
            <a:r>
              <a:rPr lang="en-GB" sz="2000" dirty="0"/>
              <a:t>In graphite, carbon atom forms </a:t>
            </a:r>
            <a:r>
              <a:rPr lang="en-GB" sz="2000" b="1" dirty="0"/>
              <a:t>three </a:t>
            </a:r>
            <a:r>
              <a:rPr lang="en-GB" sz="2000" dirty="0"/>
              <a:t>covalent bonds with three other carbon atoms, forming layers of </a:t>
            </a:r>
            <a:r>
              <a:rPr lang="en-GB" sz="2000" b="1" dirty="0"/>
              <a:t>hexagonal rings </a:t>
            </a:r>
            <a:r>
              <a:rPr lang="en-GB" sz="2000" dirty="0"/>
              <a:t>which have no covalent bonds between the layers.</a:t>
            </a:r>
          </a:p>
          <a:p>
            <a:pPr marL="342900" indent="-342900">
              <a:buFont typeface="Arial" panose="020B0604020202020204" pitchFamily="34" charset="0"/>
              <a:buChar char="•"/>
            </a:pPr>
            <a:r>
              <a:rPr lang="en-GB" sz="2000" b="1" dirty="0"/>
              <a:t>Graphite is soft and slippery</a:t>
            </a:r>
            <a:r>
              <a:rPr lang="en-GB" sz="2000" dirty="0"/>
              <a:t> – </a:t>
            </a:r>
            <a:r>
              <a:rPr lang="en-GB" sz="2000" b="1" dirty="0">
                <a:solidFill>
                  <a:schemeClr val="accent6">
                    <a:lumMod val="75000"/>
                  </a:schemeClr>
                </a:solidFill>
              </a:rPr>
              <a:t>layers</a:t>
            </a:r>
            <a:r>
              <a:rPr lang="en-GB" sz="2000" dirty="0"/>
              <a:t> can easily slide over each other because the weak forces of attraction between the layers are easily broken. This is why graphite is used as a lubricant.</a:t>
            </a:r>
          </a:p>
          <a:p>
            <a:pPr marL="342900" indent="-342900">
              <a:buFont typeface="Arial" panose="020B0604020202020204" pitchFamily="34" charset="0"/>
              <a:buChar char="•"/>
            </a:pPr>
            <a:r>
              <a:rPr lang="en-GB" sz="2000" b="1" dirty="0"/>
              <a:t>Graphite conducts electricity</a:t>
            </a:r>
            <a:r>
              <a:rPr lang="en-GB" sz="2000" dirty="0"/>
              <a:t> – the only non-metal to do so. </a:t>
            </a:r>
            <a:r>
              <a:rPr lang="en-GB" sz="2000" dirty="0" smtClean="0"/>
              <a:t>One</a:t>
            </a:r>
            <a:r>
              <a:rPr lang="en-GB" sz="2000" b="1" dirty="0" smtClean="0">
                <a:solidFill>
                  <a:schemeClr val="accent6">
                    <a:lumMod val="75000"/>
                  </a:schemeClr>
                </a:solidFill>
              </a:rPr>
              <a:t> electron </a:t>
            </a:r>
            <a:r>
              <a:rPr lang="en-GB" sz="2000" dirty="0" smtClean="0"/>
              <a:t>from each carbon atom is </a:t>
            </a:r>
            <a:r>
              <a:rPr lang="en-GB" sz="2000" b="1" dirty="0" smtClean="0">
                <a:solidFill>
                  <a:schemeClr val="accent6">
                    <a:lumMod val="75000"/>
                  </a:schemeClr>
                </a:solidFill>
              </a:rPr>
              <a:t>delocalised</a:t>
            </a:r>
            <a:r>
              <a:rPr lang="en-GB" sz="2000" dirty="0" smtClean="0"/>
              <a:t>.</a:t>
            </a:r>
            <a:endParaRPr lang="en-GB" sz="2000" dirty="0"/>
          </a:p>
        </p:txBody>
      </p:sp>
    </p:spTree>
    <p:extLst>
      <p:ext uri="{BB962C8B-B14F-4D97-AF65-F5344CB8AC3E}">
        <p14:creationId xmlns:p14="http://schemas.microsoft.com/office/powerpoint/2010/main" val="145385310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Graphene</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Rectangle 2">
            <a:extLst>
              <a:ext uri="{FF2B5EF4-FFF2-40B4-BE49-F238E27FC236}">
                <a16:creationId xmlns:a16="http://schemas.microsoft.com/office/drawing/2014/main" xmlns="" id="{671D0B6D-021F-4442-AAF5-762AAC4C1937}"/>
              </a:ext>
            </a:extLst>
          </p:cNvPr>
          <p:cNvSpPr/>
          <p:nvPr/>
        </p:nvSpPr>
        <p:spPr>
          <a:xfrm>
            <a:off x="692460" y="1383773"/>
            <a:ext cx="4572000" cy="3785652"/>
          </a:xfrm>
          <a:prstGeom prst="rect">
            <a:avLst/>
          </a:prstGeom>
        </p:spPr>
        <p:style>
          <a:lnRef idx="2">
            <a:schemeClr val="accent6"/>
          </a:lnRef>
          <a:fillRef idx="1">
            <a:schemeClr val="lt1"/>
          </a:fillRef>
          <a:effectRef idx="0">
            <a:schemeClr val="accent6"/>
          </a:effectRef>
          <a:fontRef idx="minor">
            <a:schemeClr val="dk1"/>
          </a:fontRef>
        </p:style>
        <p:txBody>
          <a:bodyPr>
            <a:spAutoFit/>
          </a:bodyPr>
          <a:lstStyle/>
          <a:p>
            <a:r>
              <a:rPr lang="en-GB" sz="2000" b="1" dirty="0">
                <a:solidFill>
                  <a:schemeClr val="accent6">
                    <a:lumMod val="75000"/>
                  </a:schemeClr>
                </a:solidFill>
              </a:rPr>
              <a:t>Graphene:</a:t>
            </a:r>
          </a:p>
          <a:p>
            <a:r>
              <a:rPr lang="en-GB" sz="2000" dirty="0"/>
              <a:t>This is a </a:t>
            </a:r>
            <a:r>
              <a:rPr lang="en-GB" sz="2000" b="1" dirty="0"/>
              <a:t>single layer </a:t>
            </a:r>
            <a:r>
              <a:rPr lang="en-GB" sz="2000" dirty="0"/>
              <a:t>of graphite – a layer of inter-locking hexagonal rings of carbon atoms </a:t>
            </a:r>
            <a:r>
              <a:rPr lang="en-GB" sz="2000" b="1" dirty="0"/>
              <a:t>one</a:t>
            </a:r>
            <a:r>
              <a:rPr lang="en-GB" sz="2000" dirty="0"/>
              <a:t> </a:t>
            </a:r>
            <a:r>
              <a:rPr lang="en-GB" sz="2000" b="1" dirty="0"/>
              <a:t>atom thick</a:t>
            </a:r>
            <a:r>
              <a:rPr lang="en-GB" sz="2000" dirty="0"/>
              <a:t>.</a:t>
            </a:r>
          </a:p>
          <a:p>
            <a:endParaRPr lang="en-GB" sz="2000" dirty="0"/>
          </a:p>
          <a:p>
            <a:r>
              <a:rPr lang="en-GB" sz="2000" dirty="0"/>
              <a:t>It is an excellent </a:t>
            </a:r>
            <a:r>
              <a:rPr lang="en-GB" sz="2000" b="1" dirty="0"/>
              <a:t>conductor</a:t>
            </a:r>
            <a:r>
              <a:rPr lang="en-GB" sz="2000" dirty="0"/>
              <a:t> of </a:t>
            </a:r>
            <a:r>
              <a:rPr lang="en-GB" sz="2000" b="1" dirty="0"/>
              <a:t>thermal</a:t>
            </a:r>
            <a:r>
              <a:rPr lang="en-GB" sz="2000" dirty="0"/>
              <a:t> energy and </a:t>
            </a:r>
            <a:r>
              <a:rPr lang="en-GB" sz="2000" b="1" dirty="0"/>
              <a:t>electricity</a:t>
            </a:r>
            <a:r>
              <a:rPr lang="en-GB" sz="2000" dirty="0"/>
              <a:t> (even better than graphite), has a very </a:t>
            </a:r>
            <a:r>
              <a:rPr lang="en-GB" sz="2000" b="1" dirty="0"/>
              <a:t>low density </a:t>
            </a:r>
            <a:r>
              <a:rPr lang="en-GB" sz="2000" dirty="0"/>
              <a:t>and is incredibly </a:t>
            </a:r>
            <a:r>
              <a:rPr lang="en-GB" sz="2000" b="1" dirty="0"/>
              <a:t>strong</a:t>
            </a:r>
            <a:r>
              <a:rPr lang="en-GB" sz="2000" dirty="0"/>
              <a:t>.</a:t>
            </a:r>
          </a:p>
          <a:p>
            <a:endParaRPr lang="en-GB" sz="2000" dirty="0"/>
          </a:p>
          <a:p>
            <a:r>
              <a:rPr lang="en-GB" sz="2000" dirty="0"/>
              <a:t>It has many uses in the </a:t>
            </a:r>
            <a:r>
              <a:rPr lang="en-GB" sz="2000" b="1" dirty="0"/>
              <a:t>electronics industry</a:t>
            </a:r>
            <a:r>
              <a:rPr lang="en-GB" sz="2000" dirty="0"/>
              <a:t>.</a:t>
            </a:r>
          </a:p>
        </p:txBody>
      </p:sp>
      <p:pic>
        <p:nvPicPr>
          <p:cNvPr id="7172" name="Picture 4" descr="Graphene">
            <a:extLst>
              <a:ext uri="{FF2B5EF4-FFF2-40B4-BE49-F238E27FC236}">
                <a16:creationId xmlns:a16="http://schemas.microsoft.com/office/drawing/2014/main" xmlns="" id="{EA6C8950-69BD-460D-932C-D4034B7FD95A}"/>
              </a:ext>
            </a:extLst>
          </p:cNvPr>
          <p:cNvPicPr>
            <a:picLocks noChangeAspect="1" noChangeArrowheads="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652120" y="2355155"/>
            <a:ext cx="2712883" cy="1842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164052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Related image">
            <a:extLst>
              <a:ext uri="{FF2B5EF4-FFF2-40B4-BE49-F238E27FC236}">
                <a16:creationId xmlns:a16="http://schemas.microsoft.com/office/drawing/2014/main" xmlns="" id="{CF24E5A1-D4C3-49F0-B92C-94D3BAAA1C56}"/>
              </a:ext>
            </a:extLst>
          </p:cNvPr>
          <p:cNvPicPr>
            <a:picLocks noChangeAspect="1" noChangeArrowheads="1"/>
          </p:cNvPicPr>
          <p:nvPr/>
        </p:nvPicPr>
        <p:blipFill>
          <a:blip r:embed="rId3">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012704" y="1330904"/>
            <a:ext cx="2376264" cy="237626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ctrTitle"/>
          </p:nvPr>
        </p:nvSpPr>
        <p:spPr>
          <a:xfrm>
            <a:off x="611560" y="35655"/>
            <a:ext cx="853244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smtClean="0">
                <a:solidFill>
                  <a:schemeClr val="accent6"/>
                </a:solidFill>
              </a:rPr>
              <a:t>Fullerenes</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Rectangle 2">
            <a:extLst>
              <a:ext uri="{FF2B5EF4-FFF2-40B4-BE49-F238E27FC236}">
                <a16:creationId xmlns:a16="http://schemas.microsoft.com/office/drawing/2014/main" xmlns="" id="{CC851103-9E68-4FA3-93A9-3435F1452526}"/>
              </a:ext>
            </a:extLst>
          </p:cNvPr>
          <p:cNvSpPr/>
          <p:nvPr/>
        </p:nvSpPr>
        <p:spPr>
          <a:xfrm>
            <a:off x="138172" y="875943"/>
            <a:ext cx="9005828" cy="4955203"/>
          </a:xfrm>
          <a:prstGeom prst="rect">
            <a:avLst/>
          </a:prstGeom>
        </p:spPr>
        <p:txBody>
          <a:bodyPr wrap="square">
            <a:spAutoFit/>
          </a:bodyPr>
          <a:lstStyle/>
          <a:p>
            <a:r>
              <a:rPr lang="en-GB" sz="2000" b="1" dirty="0">
                <a:solidFill>
                  <a:schemeClr val="accent6">
                    <a:lumMod val="75000"/>
                  </a:schemeClr>
                </a:solidFill>
              </a:rPr>
              <a:t>Fullerenes:</a:t>
            </a:r>
          </a:p>
          <a:p>
            <a:r>
              <a:rPr lang="en-GB" sz="2000" dirty="0" smtClean="0"/>
              <a:t>Fullerenes are molecules of carbon with </a:t>
            </a:r>
            <a:r>
              <a:rPr lang="en-GB" sz="2000" b="1" dirty="0" smtClean="0">
                <a:solidFill>
                  <a:schemeClr val="accent6">
                    <a:lumMod val="75000"/>
                  </a:schemeClr>
                </a:solidFill>
              </a:rPr>
              <a:t>hollow shapes</a:t>
            </a:r>
            <a:r>
              <a:rPr lang="en-GB" sz="2000" dirty="0" smtClean="0"/>
              <a:t>.</a:t>
            </a:r>
          </a:p>
          <a:p>
            <a:r>
              <a:rPr lang="en-GB" sz="2000" dirty="0" smtClean="0"/>
              <a:t>The structure is based on hexagonal rings of carbon </a:t>
            </a:r>
          </a:p>
          <a:p>
            <a:r>
              <a:rPr lang="en-GB" sz="2000" dirty="0" smtClean="0"/>
              <a:t>atoms, but may have 5 or 7 carbon rings. The first to be </a:t>
            </a:r>
          </a:p>
          <a:p>
            <a:r>
              <a:rPr lang="en-GB" sz="2000" dirty="0" smtClean="0"/>
              <a:t>discovered was </a:t>
            </a:r>
            <a:r>
              <a:rPr lang="en-GB" sz="2000" b="1" dirty="0" smtClean="0">
                <a:solidFill>
                  <a:schemeClr val="accent6">
                    <a:lumMod val="75000"/>
                  </a:schemeClr>
                </a:solidFill>
              </a:rPr>
              <a:t>Buckminsterfullerene</a:t>
            </a:r>
            <a:r>
              <a:rPr lang="en-GB" sz="2000" dirty="0" smtClean="0"/>
              <a:t> (C</a:t>
            </a:r>
            <a:r>
              <a:rPr lang="en-GB" sz="2000" baseline="-25000" dirty="0" smtClean="0"/>
              <a:t>60</a:t>
            </a:r>
            <a:r>
              <a:rPr lang="en-GB" sz="2000" dirty="0" smtClean="0"/>
              <a:t>) </a:t>
            </a:r>
          </a:p>
          <a:p>
            <a:r>
              <a:rPr lang="en-GB" sz="2000" dirty="0" smtClean="0"/>
              <a:t>which is spherical (like a football).</a:t>
            </a:r>
            <a:endParaRPr lang="en-GB" sz="2000" dirty="0"/>
          </a:p>
          <a:p>
            <a:r>
              <a:rPr lang="en-GB" dirty="0"/>
              <a:t>			</a:t>
            </a:r>
            <a:endParaRPr lang="en-GB" dirty="0" smtClean="0"/>
          </a:p>
          <a:p>
            <a:r>
              <a:rPr lang="en-GB" b="1" dirty="0"/>
              <a:t>	</a:t>
            </a:r>
            <a:r>
              <a:rPr lang="en-GB" b="1" dirty="0" smtClean="0"/>
              <a:t>		</a:t>
            </a:r>
          </a:p>
          <a:p>
            <a:endParaRPr lang="en-GB" sz="2000" b="1" dirty="0"/>
          </a:p>
          <a:p>
            <a:endParaRPr lang="en-GB" sz="2000" b="1" dirty="0" smtClean="0"/>
          </a:p>
          <a:p>
            <a:endParaRPr lang="en-GB" sz="2000" b="1" dirty="0"/>
          </a:p>
          <a:p>
            <a:endParaRPr lang="en-GB" sz="2000" b="1" dirty="0" smtClean="0"/>
          </a:p>
          <a:p>
            <a:r>
              <a:rPr lang="en-GB" sz="2000" b="1" dirty="0"/>
              <a:t>	</a:t>
            </a:r>
            <a:r>
              <a:rPr lang="en-GB" sz="2000" b="1" dirty="0" smtClean="0"/>
              <a:t>			</a:t>
            </a:r>
            <a:r>
              <a:rPr lang="en-GB" sz="2000" b="1" dirty="0" smtClean="0">
                <a:solidFill>
                  <a:schemeClr val="accent6">
                    <a:lumMod val="75000"/>
                  </a:schemeClr>
                </a:solidFill>
              </a:rPr>
              <a:t>Carbon nanotubes </a:t>
            </a:r>
            <a:r>
              <a:rPr lang="en-GB" sz="2000" dirty="0" smtClean="0"/>
              <a:t>are </a:t>
            </a:r>
            <a:r>
              <a:rPr lang="en-GB" sz="2000" b="1" dirty="0" smtClean="0">
                <a:solidFill>
                  <a:schemeClr val="accent6">
                    <a:lumMod val="75000"/>
                  </a:schemeClr>
                </a:solidFill>
              </a:rPr>
              <a:t>cylindrical fullerenes </a:t>
            </a:r>
            <a:r>
              <a:rPr lang="en-GB" sz="2000" dirty="0" smtClean="0"/>
              <a:t>with 				very </a:t>
            </a:r>
            <a:r>
              <a:rPr lang="en-GB" sz="2000" b="1" dirty="0" smtClean="0">
                <a:solidFill>
                  <a:schemeClr val="accent6">
                    <a:lumMod val="75000"/>
                  </a:schemeClr>
                </a:solidFill>
              </a:rPr>
              <a:t>high length compared to their diameter</a:t>
            </a:r>
            <a:r>
              <a:rPr lang="en-GB" sz="2000" dirty="0" smtClean="0"/>
              <a:t>. This 				makes them useful for </a:t>
            </a:r>
            <a:r>
              <a:rPr lang="en-GB" sz="2000" dirty="0" smtClean="0">
                <a:solidFill>
                  <a:schemeClr val="accent6">
                    <a:lumMod val="75000"/>
                  </a:schemeClr>
                </a:solidFill>
              </a:rPr>
              <a:t>nanotechnology, 					electronics and materials.</a:t>
            </a:r>
            <a:endParaRPr lang="en-GB" sz="2000" dirty="0">
              <a:solidFill>
                <a:schemeClr val="accent6">
                  <a:lumMod val="75000"/>
                </a:schemeClr>
              </a:solidFill>
            </a:endParaRPr>
          </a:p>
        </p:txBody>
      </p:sp>
      <p:pic>
        <p:nvPicPr>
          <p:cNvPr id="6150" name="Picture 6" descr="Related image">
            <a:extLst>
              <a:ext uri="{FF2B5EF4-FFF2-40B4-BE49-F238E27FC236}">
                <a16:creationId xmlns:a16="http://schemas.microsoft.com/office/drawing/2014/main" xmlns="" id="{1F7C767A-F31A-4E43-95CA-E28A25557DD7}"/>
              </a:ext>
            </a:extLst>
          </p:cNvPr>
          <p:cNvPicPr>
            <a:picLocks noChangeAspect="1" noChangeArrowheads="1"/>
          </p:cNvPicPr>
          <p:nvPr/>
        </p:nvPicPr>
        <p:blipFill>
          <a:blip r:embed="rId4"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52400" y="3581400"/>
            <a:ext cx="3131296" cy="2348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8318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955203"/>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Properties of substances Part 3</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Diamond</a:t>
            </a:r>
          </a:p>
          <a:p>
            <a:pPr marL="685800" lvl="1" indent="-342900">
              <a:buFont typeface="Arial" charset="0"/>
              <a:buChar char="•"/>
            </a:pPr>
            <a:r>
              <a:rPr lang="en-US" sz="2400" b="1" dirty="0">
                <a:solidFill>
                  <a:schemeClr val="bg1">
                    <a:lumMod val="50000"/>
                  </a:schemeClr>
                </a:solidFill>
              </a:rPr>
              <a:t>Graphite</a:t>
            </a:r>
          </a:p>
          <a:p>
            <a:pPr marL="685800" lvl="1" indent="-342900">
              <a:buFont typeface="Arial" charset="0"/>
              <a:buChar char="•"/>
            </a:pPr>
            <a:r>
              <a:rPr lang="en-US" sz="2400" b="1" dirty="0">
                <a:solidFill>
                  <a:schemeClr val="bg1">
                    <a:lumMod val="50000"/>
                  </a:schemeClr>
                </a:solidFill>
              </a:rPr>
              <a:t>Graphene and fullerenes</a:t>
            </a:r>
            <a:endParaRPr lang="en-GB" dirty="0"/>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107460037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3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6" y="697936"/>
            <a:ext cx="8994913" cy="4154984"/>
          </a:xfrm>
          <a:prstGeom prst="rect">
            <a:avLst/>
          </a:prstGeom>
          <a:noFill/>
        </p:spPr>
        <p:txBody>
          <a:bodyPr wrap="square" rtlCol="0">
            <a:spAutoFit/>
          </a:bodyPr>
          <a:lstStyle/>
          <a:p>
            <a:pPr marL="342900" indent="-342900">
              <a:buFont typeface="+mj-lt"/>
              <a:buAutoNum type="arabicPeriod"/>
            </a:pPr>
            <a:r>
              <a:rPr lang="en-GB" sz="2400" dirty="0" smtClean="0"/>
              <a:t>In a diamond, how many covalent bonds does each carbon make?</a:t>
            </a:r>
          </a:p>
          <a:p>
            <a:pPr lvl="1"/>
            <a:endParaRPr lang="en-GB" sz="2400" dirty="0" smtClean="0"/>
          </a:p>
          <a:p>
            <a:pPr marL="342900" indent="-342900">
              <a:buFont typeface="+mj-lt"/>
              <a:buAutoNum type="arabicPeriod"/>
            </a:pPr>
            <a:r>
              <a:rPr lang="en-GB" sz="2400" dirty="0" smtClean="0"/>
              <a:t>Diamond does not conduct electricity. Why?</a:t>
            </a:r>
          </a:p>
          <a:p>
            <a:pPr lvl="1"/>
            <a:endParaRPr lang="en-GB" sz="2400" dirty="0" smtClean="0"/>
          </a:p>
          <a:p>
            <a:pPr marL="342900" indent="-342900">
              <a:buFont typeface="+mj-lt"/>
              <a:buAutoNum type="arabicPeriod"/>
            </a:pPr>
            <a:r>
              <a:rPr lang="en-GB" sz="2400" dirty="0" smtClean="0"/>
              <a:t>Name 2 other properties of diamond.</a:t>
            </a:r>
          </a:p>
          <a:p>
            <a:pPr lvl="1"/>
            <a:endParaRPr lang="en-GB" sz="2400" dirty="0" smtClean="0"/>
          </a:p>
          <a:p>
            <a:pPr marL="342900" indent="-342900">
              <a:buFont typeface="+mj-lt"/>
              <a:buAutoNum type="arabicPeriod"/>
            </a:pPr>
            <a:r>
              <a:rPr lang="en-GB" sz="2400" dirty="0" smtClean="0"/>
              <a:t>In graphite, how many covalent bonds does each carbon make?</a:t>
            </a:r>
          </a:p>
          <a:p>
            <a:pPr lvl="1"/>
            <a:endParaRPr lang="en-GB" sz="2400" dirty="0" smtClean="0"/>
          </a:p>
          <a:p>
            <a:pPr marL="342900" indent="-342900">
              <a:buFont typeface="+mj-lt"/>
              <a:buAutoNum type="arabicPeriod"/>
            </a:pPr>
            <a:r>
              <a:rPr lang="en-GB" sz="2400" dirty="0" smtClean="0"/>
              <a:t>Describe the structure of graphite.</a:t>
            </a:r>
          </a:p>
          <a:p>
            <a:pPr lvl="1"/>
            <a:endParaRPr lang="en-GB" sz="2400" dirty="0" smtClean="0"/>
          </a:p>
          <a:p>
            <a:pPr marL="342900" indent="-342900">
              <a:buFont typeface="+mj-lt"/>
              <a:buAutoNum type="arabicPeriod"/>
            </a:pPr>
            <a:r>
              <a:rPr lang="en-GB" sz="2400" dirty="0" smtClean="0"/>
              <a:t>Why is graphite soft?</a:t>
            </a:r>
          </a:p>
        </p:txBody>
      </p:sp>
    </p:spTree>
    <p:extLst>
      <p:ext uri="{BB962C8B-B14F-4D97-AF65-F5344CB8AC3E}">
        <p14:creationId xmlns:p14="http://schemas.microsoft.com/office/powerpoint/2010/main" val="2042366707"/>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3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6" y="697936"/>
            <a:ext cx="8994913" cy="4893647"/>
          </a:xfrm>
          <a:prstGeom prst="rect">
            <a:avLst/>
          </a:prstGeom>
          <a:noFill/>
        </p:spPr>
        <p:txBody>
          <a:bodyPr wrap="square" rtlCol="0">
            <a:spAutoFit/>
          </a:bodyPr>
          <a:lstStyle/>
          <a:p>
            <a:pPr marL="457200" indent="-457200">
              <a:buFont typeface="+mj-lt"/>
              <a:buAutoNum type="arabicPeriod" startAt="7"/>
            </a:pPr>
            <a:r>
              <a:rPr lang="en-GB" sz="2400" dirty="0" smtClean="0"/>
              <a:t>Why does graphite conduct electricity?</a:t>
            </a:r>
          </a:p>
          <a:p>
            <a:pPr marL="457200" indent="-457200">
              <a:buFont typeface="+mj-lt"/>
              <a:buAutoNum type="arabicPeriod" startAt="7"/>
            </a:pPr>
            <a:endParaRPr lang="en-GB" sz="2400" dirty="0" smtClean="0"/>
          </a:p>
          <a:p>
            <a:pPr marL="342900" indent="-342900">
              <a:buFont typeface="+mj-lt"/>
              <a:buAutoNum type="arabicPeriod" startAt="7"/>
            </a:pPr>
            <a:r>
              <a:rPr lang="en-GB" sz="2400" dirty="0" smtClean="0"/>
              <a:t>How is graphite similar to metals?</a:t>
            </a:r>
          </a:p>
          <a:p>
            <a:pPr marL="342900" indent="-342900">
              <a:buFont typeface="+mj-lt"/>
              <a:buAutoNum type="arabicPeriod" startAt="7"/>
            </a:pPr>
            <a:endParaRPr lang="en-GB" sz="2400" dirty="0" smtClean="0"/>
          </a:p>
          <a:p>
            <a:pPr marL="342900" indent="-342900">
              <a:buFont typeface="+mj-lt"/>
              <a:buAutoNum type="arabicPeriod" startAt="7"/>
            </a:pPr>
            <a:r>
              <a:rPr lang="en-GB" sz="2400" dirty="0" smtClean="0"/>
              <a:t>What is graphene?</a:t>
            </a:r>
          </a:p>
          <a:p>
            <a:pPr marL="342900" indent="-342900">
              <a:buFont typeface="+mj-lt"/>
              <a:buAutoNum type="arabicPeriod" startAt="7"/>
            </a:pPr>
            <a:endParaRPr lang="en-GB" sz="2400" dirty="0" smtClean="0"/>
          </a:p>
          <a:p>
            <a:pPr marL="342900" indent="-342900">
              <a:buFont typeface="+mj-lt"/>
              <a:buAutoNum type="arabicPeriod" startAt="7"/>
            </a:pPr>
            <a:r>
              <a:rPr lang="en-GB" sz="2400" dirty="0" smtClean="0"/>
              <a:t>What are fullerenes?</a:t>
            </a:r>
          </a:p>
          <a:p>
            <a:pPr marL="342900" indent="-342900">
              <a:buFont typeface="+mj-lt"/>
              <a:buAutoNum type="arabicPeriod" startAt="7"/>
            </a:pPr>
            <a:endParaRPr lang="en-GB" sz="2400" dirty="0" smtClean="0"/>
          </a:p>
          <a:p>
            <a:pPr marL="342900" indent="-342900">
              <a:buFont typeface="+mj-lt"/>
              <a:buAutoNum type="arabicPeriod" startAt="7"/>
            </a:pPr>
            <a:r>
              <a:rPr lang="en-GB" sz="2400" dirty="0" smtClean="0"/>
              <a:t>What was the first fullerene to be discovered?</a:t>
            </a:r>
          </a:p>
          <a:p>
            <a:pPr marL="342900" indent="-342900">
              <a:buFont typeface="+mj-lt"/>
              <a:buAutoNum type="arabicPeriod" startAt="7"/>
            </a:pPr>
            <a:endParaRPr lang="en-GB" sz="2400" dirty="0" smtClean="0"/>
          </a:p>
          <a:p>
            <a:pPr marL="342900" indent="-342900">
              <a:buFont typeface="+mj-lt"/>
              <a:buAutoNum type="arabicPeriod" startAt="7"/>
            </a:pPr>
            <a:r>
              <a:rPr lang="en-GB" sz="2400" dirty="0" smtClean="0"/>
              <a:t>What are carbon nanotubes?</a:t>
            </a:r>
          </a:p>
          <a:p>
            <a:pPr marL="342900" indent="-342900">
              <a:buFont typeface="+mj-lt"/>
              <a:buAutoNum type="arabicPeriod" startAt="7"/>
            </a:pPr>
            <a:endParaRPr lang="en-GB" sz="2400" dirty="0" smtClean="0"/>
          </a:p>
          <a:p>
            <a:pPr marL="342900" indent="-342900">
              <a:buFont typeface="+mj-lt"/>
              <a:buAutoNum type="arabicPeriod" startAt="7"/>
            </a:pPr>
            <a:r>
              <a:rPr lang="en-GB" sz="2400" dirty="0" smtClean="0"/>
              <a:t>What are carbon nanotubes useful for?</a:t>
            </a:r>
          </a:p>
        </p:txBody>
      </p:sp>
    </p:spTree>
    <p:extLst>
      <p:ext uri="{BB962C8B-B14F-4D97-AF65-F5344CB8AC3E}">
        <p14:creationId xmlns:p14="http://schemas.microsoft.com/office/powerpoint/2010/main" val="199786841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955203"/>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Properties of substances Part 3</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Diamond</a:t>
            </a:r>
          </a:p>
          <a:p>
            <a:pPr marL="685800" lvl="1" indent="-342900">
              <a:buFont typeface="Arial" charset="0"/>
              <a:buChar char="•"/>
            </a:pPr>
            <a:r>
              <a:rPr lang="en-US" sz="2400" b="1" dirty="0">
                <a:solidFill>
                  <a:schemeClr val="bg1">
                    <a:lumMod val="50000"/>
                  </a:schemeClr>
                </a:solidFill>
              </a:rPr>
              <a:t>Graphite</a:t>
            </a:r>
          </a:p>
          <a:p>
            <a:pPr marL="685800" lvl="1" indent="-342900">
              <a:buFont typeface="Arial" charset="0"/>
              <a:buChar char="•"/>
            </a:pPr>
            <a:r>
              <a:rPr lang="en-US" sz="2400" b="1" dirty="0">
                <a:solidFill>
                  <a:schemeClr val="bg1">
                    <a:lumMod val="50000"/>
                  </a:schemeClr>
                </a:solidFill>
              </a:rPr>
              <a:t>Graphene and fullerenes</a:t>
            </a:r>
            <a:endParaRPr lang="en-GB" dirty="0"/>
          </a:p>
          <a:p>
            <a:endParaRPr lang="en-GB" dirty="0"/>
          </a:p>
        </p:txBody>
      </p:sp>
    </p:spTree>
    <p:extLst>
      <p:ext uri="{BB962C8B-B14F-4D97-AF65-F5344CB8AC3E}">
        <p14:creationId xmlns:p14="http://schemas.microsoft.com/office/powerpoint/2010/main" val="244283482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3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6" y="697936"/>
            <a:ext cx="8994913" cy="4893647"/>
          </a:xfrm>
          <a:prstGeom prst="rect">
            <a:avLst/>
          </a:prstGeom>
          <a:noFill/>
        </p:spPr>
        <p:txBody>
          <a:bodyPr wrap="square" rtlCol="0">
            <a:spAutoFit/>
          </a:bodyPr>
          <a:lstStyle/>
          <a:p>
            <a:pPr marL="342900" indent="-342900">
              <a:buFont typeface="+mj-lt"/>
              <a:buAutoNum type="arabicPeriod"/>
            </a:pPr>
            <a:r>
              <a:rPr lang="en-GB" sz="2400" dirty="0" smtClean="0"/>
              <a:t>In a diamond, how many covalent bonds does each carbon make?</a:t>
            </a:r>
          </a:p>
          <a:p>
            <a:pPr lvl="1"/>
            <a:r>
              <a:rPr lang="en-GB" sz="2400" b="1" dirty="0" smtClean="0">
                <a:solidFill>
                  <a:srgbClr val="00B050"/>
                </a:solidFill>
              </a:rPr>
              <a:t>4</a:t>
            </a:r>
            <a:endParaRPr lang="en-GB" sz="2400" dirty="0" smtClean="0"/>
          </a:p>
          <a:p>
            <a:pPr marL="342900" indent="-342900">
              <a:buFont typeface="+mj-lt"/>
              <a:buAutoNum type="arabicPeriod"/>
            </a:pPr>
            <a:r>
              <a:rPr lang="en-GB" sz="2400" dirty="0" smtClean="0"/>
              <a:t>Diamond does not conduct electricity. Why?</a:t>
            </a:r>
          </a:p>
          <a:p>
            <a:pPr lvl="1"/>
            <a:r>
              <a:rPr lang="en-GB" sz="2400" b="1" dirty="0" smtClean="0">
                <a:solidFill>
                  <a:srgbClr val="00B050"/>
                </a:solidFill>
              </a:rPr>
              <a:t>No delocalised electrons.</a:t>
            </a:r>
            <a:endParaRPr lang="en-GB" sz="2400" dirty="0" smtClean="0"/>
          </a:p>
          <a:p>
            <a:pPr marL="342900" indent="-342900">
              <a:buFont typeface="+mj-lt"/>
              <a:buAutoNum type="arabicPeriod"/>
            </a:pPr>
            <a:r>
              <a:rPr lang="en-GB" sz="2400" dirty="0" smtClean="0"/>
              <a:t>Name 2 other properties of diamond.</a:t>
            </a:r>
          </a:p>
          <a:p>
            <a:pPr lvl="1"/>
            <a:r>
              <a:rPr lang="en-GB" sz="2400" b="1" dirty="0" smtClean="0">
                <a:solidFill>
                  <a:srgbClr val="00B050"/>
                </a:solidFill>
              </a:rPr>
              <a:t>Hard, very high melting point.</a:t>
            </a:r>
            <a:endParaRPr lang="en-GB" sz="2400" dirty="0" smtClean="0"/>
          </a:p>
          <a:p>
            <a:pPr marL="342900" indent="-342900">
              <a:buFont typeface="+mj-lt"/>
              <a:buAutoNum type="arabicPeriod"/>
            </a:pPr>
            <a:r>
              <a:rPr lang="en-GB" sz="2400" dirty="0" smtClean="0"/>
              <a:t>In graphite, how many covalent bonds does each carbon make?</a:t>
            </a:r>
          </a:p>
          <a:p>
            <a:pPr lvl="1"/>
            <a:r>
              <a:rPr lang="en-GB" sz="2400" b="1" dirty="0" smtClean="0">
                <a:solidFill>
                  <a:srgbClr val="00B050"/>
                </a:solidFill>
              </a:rPr>
              <a:t>3</a:t>
            </a:r>
            <a:endParaRPr lang="en-GB" sz="2400" dirty="0" smtClean="0"/>
          </a:p>
          <a:p>
            <a:pPr marL="342900" indent="-342900">
              <a:buFont typeface="+mj-lt"/>
              <a:buAutoNum type="arabicPeriod"/>
            </a:pPr>
            <a:r>
              <a:rPr lang="en-GB" sz="2400" dirty="0" smtClean="0"/>
              <a:t>Describe the structure of graphite.</a:t>
            </a:r>
          </a:p>
          <a:p>
            <a:pPr lvl="1"/>
            <a:r>
              <a:rPr lang="en-GB" sz="2400" b="1" dirty="0" smtClean="0">
                <a:solidFill>
                  <a:srgbClr val="00B050"/>
                </a:solidFill>
              </a:rPr>
              <a:t>Layers of hexagonal rings.</a:t>
            </a:r>
            <a:endParaRPr lang="en-GB" sz="2400" dirty="0" smtClean="0"/>
          </a:p>
          <a:p>
            <a:pPr marL="342900" indent="-342900">
              <a:buFont typeface="+mj-lt"/>
              <a:buAutoNum type="arabicPeriod"/>
            </a:pPr>
            <a:r>
              <a:rPr lang="en-GB" sz="2400" dirty="0" smtClean="0"/>
              <a:t>Why is graphite soft?</a:t>
            </a:r>
          </a:p>
          <a:p>
            <a:pPr lvl="1"/>
            <a:r>
              <a:rPr lang="en-GB" sz="2400" b="1" dirty="0" smtClean="0">
                <a:solidFill>
                  <a:srgbClr val="00B050"/>
                </a:solidFill>
              </a:rPr>
              <a:t>Layers can slide over each other, weak forces between layers, no covalent bonds between layers.</a:t>
            </a:r>
            <a:endParaRPr lang="en-GB" sz="2400" dirty="0" smtClean="0"/>
          </a:p>
        </p:txBody>
      </p:sp>
    </p:spTree>
    <p:extLst>
      <p:ext uri="{BB962C8B-B14F-4D97-AF65-F5344CB8AC3E}">
        <p14:creationId xmlns:p14="http://schemas.microsoft.com/office/powerpoint/2010/main" val="2787545889"/>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Properties of substances – Part 3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6" y="697936"/>
            <a:ext cx="8994913" cy="5262979"/>
          </a:xfrm>
          <a:prstGeom prst="rect">
            <a:avLst/>
          </a:prstGeom>
          <a:noFill/>
        </p:spPr>
        <p:txBody>
          <a:bodyPr wrap="square" rtlCol="0">
            <a:spAutoFit/>
          </a:bodyPr>
          <a:lstStyle/>
          <a:p>
            <a:pPr marL="457200" indent="-457200">
              <a:buFont typeface="+mj-lt"/>
              <a:buAutoNum type="arabicPeriod" startAt="7"/>
            </a:pPr>
            <a:r>
              <a:rPr lang="en-GB" sz="2400" dirty="0" smtClean="0"/>
              <a:t>Why does graphite conduct electricity?</a:t>
            </a:r>
          </a:p>
          <a:p>
            <a:pPr lvl="1"/>
            <a:r>
              <a:rPr lang="en-GB" sz="2400" b="1" dirty="0" smtClean="0">
                <a:solidFill>
                  <a:srgbClr val="00B050"/>
                </a:solidFill>
              </a:rPr>
              <a:t>Each carbon has one delocalised electron.</a:t>
            </a:r>
            <a:endParaRPr lang="en-GB" sz="2400" dirty="0" smtClean="0"/>
          </a:p>
          <a:p>
            <a:pPr marL="342900" indent="-342900">
              <a:buFont typeface="+mj-lt"/>
              <a:buAutoNum type="arabicPeriod" startAt="7"/>
            </a:pPr>
            <a:r>
              <a:rPr lang="en-GB" sz="2400" dirty="0" smtClean="0"/>
              <a:t>How is graphite similar to metals?</a:t>
            </a:r>
          </a:p>
          <a:p>
            <a:pPr lvl="1"/>
            <a:r>
              <a:rPr lang="en-GB" sz="2400" b="1" dirty="0" smtClean="0">
                <a:solidFill>
                  <a:srgbClr val="00B050"/>
                </a:solidFill>
              </a:rPr>
              <a:t>It contains delocalised electrons.</a:t>
            </a:r>
            <a:endParaRPr lang="en-GB" sz="2400" dirty="0" smtClean="0"/>
          </a:p>
          <a:p>
            <a:pPr marL="342900" indent="-342900">
              <a:buFont typeface="+mj-lt"/>
              <a:buAutoNum type="arabicPeriod" startAt="7"/>
            </a:pPr>
            <a:r>
              <a:rPr lang="en-GB" sz="2400" dirty="0" smtClean="0"/>
              <a:t>What is graphene?</a:t>
            </a:r>
          </a:p>
          <a:p>
            <a:pPr lvl="1"/>
            <a:r>
              <a:rPr lang="en-GB" sz="2400" b="1" dirty="0" smtClean="0">
                <a:solidFill>
                  <a:srgbClr val="00B050"/>
                </a:solidFill>
              </a:rPr>
              <a:t>Single layer of graphite, 1 atom thick.</a:t>
            </a:r>
            <a:endParaRPr lang="en-GB" sz="2400" dirty="0" smtClean="0"/>
          </a:p>
          <a:p>
            <a:pPr marL="342900" indent="-342900">
              <a:buFont typeface="+mj-lt"/>
              <a:buAutoNum type="arabicPeriod" startAt="7"/>
            </a:pPr>
            <a:r>
              <a:rPr lang="en-GB" sz="2400" dirty="0" smtClean="0"/>
              <a:t>What are fullerenes?</a:t>
            </a:r>
          </a:p>
          <a:p>
            <a:pPr lvl="1"/>
            <a:r>
              <a:rPr lang="en-GB" sz="2400" b="1" dirty="0" smtClean="0">
                <a:solidFill>
                  <a:srgbClr val="00B050"/>
                </a:solidFill>
              </a:rPr>
              <a:t>Molecules of carbon atoms with hollow shapes.</a:t>
            </a:r>
            <a:endParaRPr lang="en-GB" sz="2400" dirty="0" smtClean="0"/>
          </a:p>
          <a:p>
            <a:pPr marL="342900" indent="-342900">
              <a:buFont typeface="+mj-lt"/>
              <a:buAutoNum type="arabicPeriod" startAt="7"/>
            </a:pPr>
            <a:r>
              <a:rPr lang="en-GB" sz="2400" dirty="0" smtClean="0"/>
              <a:t>What was the first fullerene to be discovered?</a:t>
            </a:r>
          </a:p>
          <a:p>
            <a:pPr lvl="1"/>
            <a:r>
              <a:rPr lang="en-GB" sz="2400" b="1" dirty="0" smtClean="0">
                <a:solidFill>
                  <a:srgbClr val="00B050"/>
                </a:solidFill>
              </a:rPr>
              <a:t>Buckminsterfullerene.</a:t>
            </a:r>
            <a:endParaRPr lang="en-GB" sz="2400" dirty="0" smtClean="0"/>
          </a:p>
          <a:p>
            <a:pPr marL="342900" indent="-342900">
              <a:buFont typeface="+mj-lt"/>
              <a:buAutoNum type="arabicPeriod" startAt="7"/>
            </a:pPr>
            <a:r>
              <a:rPr lang="en-GB" sz="2400" dirty="0" smtClean="0"/>
              <a:t>What are carbon nanotubes?</a:t>
            </a:r>
          </a:p>
          <a:p>
            <a:pPr lvl="1"/>
            <a:r>
              <a:rPr lang="en-GB" sz="2400" b="1" dirty="0" smtClean="0">
                <a:solidFill>
                  <a:srgbClr val="00B050"/>
                </a:solidFill>
              </a:rPr>
              <a:t>Cylindrical fullerenes.</a:t>
            </a:r>
            <a:endParaRPr lang="en-GB" sz="2400" dirty="0" smtClean="0"/>
          </a:p>
          <a:p>
            <a:pPr marL="342900" indent="-342900">
              <a:buFont typeface="+mj-lt"/>
              <a:buAutoNum type="arabicPeriod" startAt="7"/>
            </a:pPr>
            <a:r>
              <a:rPr lang="en-GB" sz="2400" dirty="0" smtClean="0"/>
              <a:t>What are carbon nanotubes useful for?</a:t>
            </a:r>
          </a:p>
          <a:p>
            <a:pPr lvl="1"/>
            <a:r>
              <a:rPr lang="en-GB" sz="2400" b="1" dirty="0" smtClean="0">
                <a:solidFill>
                  <a:srgbClr val="00B050"/>
                </a:solidFill>
              </a:rPr>
              <a:t>Electronics, nanotechnology and materials.</a:t>
            </a:r>
            <a:endParaRPr lang="en-GB" sz="2400" dirty="0"/>
          </a:p>
        </p:txBody>
      </p:sp>
    </p:spTree>
    <p:extLst>
      <p:ext uri="{BB962C8B-B14F-4D97-AF65-F5344CB8AC3E}">
        <p14:creationId xmlns:p14="http://schemas.microsoft.com/office/powerpoint/2010/main" val="354578959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555776" y="55"/>
            <a:ext cx="658822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572000" cy="5232202"/>
          </a:xfrm>
          <a:prstGeom prst="rect">
            <a:avLst/>
          </a:prstGeom>
          <a:noFill/>
        </p:spPr>
        <p:txBody>
          <a:bodyPr wrap="square" rtlCol="0">
            <a:spAutoFit/>
          </a:bodyPr>
          <a:lstStyle/>
          <a:p>
            <a:r>
              <a:rPr lang="en-GB" sz="7200" b="1" dirty="0" err="1">
                <a:latin typeface="+mj-lt"/>
                <a:ea typeface="Beirut" charset="-78"/>
                <a:cs typeface="Beirut" charset="-78"/>
              </a:rPr>
              <a:t>LearnIT</a:t>
            </a:r>
            <a:r>
              <a:rPr lang="en-GB" sz="7200" b="1" dirty="0">
                <a:latin typeface="+mj-lt"/>
                <a:ea typeface="Beirut" charset="-78"/>
                <a:cs typeface="Beirut" charset="-78"/>
              </a:rPr>
              <a:t>!</a:t>
            </a:r>
          </a:p>
          <a:p>
            <a:r>
              <a:rPr lang="en-GB" sz="7200" b="1" dirty="0" err="1">
                <a:latin typeface="+mj-lt"/>
                <a:ea typeface="Beirut" charset="-78"/>
                <a:cs typeface="Beirut" charset="-78"/>
              </a:rPr>
              <a:t>KnowIT</a:t>
            </a:r>
            <a:r>
              <a:rPr lang="en-GB" sz="7200" b="1" dirty="0">
                <a:latin typeface="+mj-lt"/>
                <a:ea typeface="Beirut" charset="-78"/>
                <a:cs typeface="Beirut" charset="-78"/>
              </a:rPr>
              <a:t>!</a:t>
            </a:r>
          </a:p>
          <a:p>
            <a:endParaRPr lang="en-GB" dirty="0"/>
          </a:p>
          <a:p>
            <a:r>
              <a:rPr lang="en-GB" sz="3600" b="1" dirty="0" smtClean="0">
                <a:solidFill>
                  <a:schemeClr val="tx1">
                    <a:lumMod val="50000"/>
                    <a:lumOff val="50000"/>
                  </a:schemeClr>
                </a:solidFill>
              </a:rPr>
              <a:t>Nanoparticles (Chemistry ONLY)</a:t>
            </a:r>
            <a:endParaRPr lang="en-GB" sz="3600" b="1" dirty="0">
              <a:solidFill>
                <a:schemeClr val="tx1">
                  <a:lumMod val="50000"/>
                  <a:lumOff val="50000"/>
                </a:schemeClr>
              </a:solidFill>
            </a:endParaRPr>
          </a:p>
          <a:p>
            <a:endParaRPr lang="en-GB" sz="2800" dirty="0">
              <a:solidFill>
                <a:schemeClr val="tx1">
                  <a:lumMod val="50000"/>
                  <a:lumOff val="50000"/>
                </a:schemeClr>
              </a:solidFill>
            </a:endParaRPr>
          </a:p>
          <a:p>
            <a:pPr marL="685800" lvl="1" indent="-342900">
              <a:buFont typeface="Arial" charset="0"/>
              <a:buChar char="•"/>
            </a:pPr>
            <a:r>
              <a:rPr lang="en-US" sz="2400" b="1" dirty="0" smtClean="0">
                <a:solidFill>
                  <a:schemeClr val="bg1">
                    <a:lumMod val="50000"/>
                  </a:schemeClr>
                </a:solidFill>
              </a:rPr>
              <a:t>Sizes of particles and their properties</a:t>
            </a:r>
          </a:p>
          <a:p>
            <a:pPr marL="685800" lvl="1" indent="-342900">
              <a:buFont typeface="Arial" charset="0"/>
              <a:buChar char="•"/>
            </a:pPr>
            <a:r>
              <a:rPr lang="en-US" sz="2400" b="1" dirty="0" smtClean="0">
                <a:solidFill>
                  <a:schemeClr val="bg1">
                    <a:lumMod val="50000"/>
                  </a:schemeClr>
                </a:solidFill>
              </a:rPr>
              <a:t>Uses of nanoparticles</a:t>
            </a:r>
            <a:endParaRPr lang="en-GB" dirty="0"/>
          </a:p>
        </p:txBody>
      </p:sp>
    </p:spTree>
    <p:extLst>
      <p:ext uri="{BB962C8B-B14F-4D97-AF65-F5344CB8AC3E}">
        <p14:creationId xmlns:p14="http://schemas.microsoft.com/office/powerpoint/2010/main" val="217870256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873065"/>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Covalent bonding - PART 3</a:t>
            </a:r>
            <a:br>
              <a:rPr lang="en-US" sz="2400" b="1" dirty="0">
                <a:solidFill>
                  <a:schemeClr val="accent6"/>
                </a:solidFill>
              </a:rPr>
            </a:br>
            <a:r>
              <a:rPr lang="en-US" sz="2400" b="1" dirty="0">
                <a:solidFill>
                  <a:schemeClr val="accent6"/>
                </a:solidFill>
              </a:rPr>
              <a:t>CHEMISTRY ONLY</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Rectangle 2">
            <a:extLst>
              <a:ext uri="{FF2B5EF4-FFF2-40B4-BE49-F238E27FC236}">
                <a16:creationId xmlns:a16="http://schemas.microsoft.com/office/drawing/2014/main" xmlns="" id="{1F08DB1E-B434-404B-AF76-804FB647535C}"/>
              </a:ext>
            </a:extLst>
          </p:cNvPr>
          <p:cNvSpPr/>
          <p:nvPr/>
        </p:nvSpPr>
        <p:spPr>
          <a:xfrm>
            <a:off x="188084" y="765244"/>
            <a:ext cx="4409256" cy="5632311"/>
          </a:xfrm>
          <a:prstGeom prst="rect">
            <a:avLst/>
          </a:prstGeom>
          <a:ln>
            <a:solidFill>
              <a:schemeClr val="accent6">
                <a:lumMod val="75000"/>
              </a:schemeClr>
            </a:solidFill>
          </a:ln>
        </p:spPr>
        <p:txBody>
          <a:bodyPr wrap="square">
            <a:spAutoFit/>
          </a:bodyPr>
          <a:lstStyle/>
          <a:p>
            <a:pPr algn="ctr">
              <a:buNone/>
            </a:pPr>
            <a:r>
              <a:rPr lang="en-GB" sz="2000" dirty="0"/>
              <a:t>Nanoscience is the study of </a:t>
            </a:r>
            <a:r>
              <a:rPr lang="en-GB" sz="2000" b="1" dirty="0"/>
              <a:t>small</a:t>
            </a:r>
            <a:r>
              <a:rPr lang="en-GB" sz="2000" dirty="0"/>
              <a:t> particles that are between </a:t>
            </a:r>
            <a:r>
              <a:rPr lang="en-GB" sz="2000" b="1" dirty="0"/>
              <a:t>1 and 100 nanometres </a:t>
            </a:r>
            <a:r>
              <a:rPr lang="en-GB" sz="2000" dirty="0"/>
              <a:t>in size. Particles consisting of </a:t>
            </a:r>
            <a:r>
              <a:rPr lang="en-GB" sz="2000" b="1" dirty="0"/>
              <a:t>fewer than 100 atoms</a:t>
            </a:r>
            <a:r>
              <a:rPr lang="en-GB" sz="2000" dirty="0"/>
              <a:t> are often called</a:t>
            </a:r>
            <a:r>
              <a:rPr lang="en-GB" sz="2000" b="1" dirty="0"/>
              <a:t> nanoclusters</a:t>
            </a:r>
            <a:r>
              <a:rPr lang="en-GB" sz="2000" dirty="0"/>
              <a:t>.</a:t>
            </a:r>
          </a:p>
          <a:p>
            <a:pPr algn="ctr">
              <a:buNone/>
            </a:pPr>
            <a:endParaRPr lang="en-GB" sz="2000" dirty="0"/>
          </a:p>
          <a:p>
            <a:pPr algn="ctr">
              <a:buNone/>
            </a:pPr>
            <a:r>
              <a:rPr lang="en-GB" sz="2000" dirty="0"/>
              <a:t>1 nanometre (1 nm) = </a:t>
            </a:r>
            <a:r>
              <a:rPr lang="en-GB" sz="2000" b="1" dirty="0"/>
              <a:t>1 x 10</a:t>
            </a:r>
            <a:r>
              <a:rPr lang="en-GB" sz="2000" b="1" baseline="30000" dirty="0"/>
              <a:t>-9</a:t>
            </a:r>
            <a:r>
              <a:rPr lang="en-GB" sz="2000" b="1" dirty="0"/>
              <a:t> metres </a:t>
            </a:r>
          </a:p>
          <a:p>
            <a:pPr algn="ctr">
              <a:buNone/>
            </a:pPr>
            <a:r>
              <a:rPr lang="en-GB" sz="2000" dirty="0"/>
              <a:t>(0.000 000 001m or a billionth of a metre).</a:t>
            </a:r>
          </a:p>
          <a:p>
            <a:pPr algn="ctr">
              <a:buNone/>
            </a:pPr>
            <a:endParaRPr lang="en-GB" sz="2000" dirty="0"/>
          </a:p>
          <a:p>
            <a:pPr algn="ctr">
              <a:buNone/>
            </a:pPr>
            <a:r>
              <a:rPr lang="en-GB" sz="2000" dirty="0"/>
              <a:t>Nanoparticles are smaller than </a:t>
            </a:r>
            <a:r>
              <a:rPr lang="en-GB" sz="2000" b="1" dirty="0"/>
              <a:t>fine particles </a:t>
            </a:r>
            <a:r>
              <a:rPr lang="en-GB" sz="2000" dirty="0"/>
              <a:t>(PM</a:t>
            </a:r>
            <a:r>
              <a:rPr lang="en-GB" sz="2000" baseline="-25000" dirty="0"/>
              <a:t>2.5</a:t>
            </a:r>
            <a:r>
              <a:rPr lang="en-GB" sz="2000" dirty="0"/>
              <a:t>) which have diameters between </a:t>
            </a:r>
          </a:p>
          <a:p>
            <a:pPr algn="ctr">
              <a:buNone/>
            </a:pPr>
            <a:r>
              <a:rPr lang="en-GB" sz="2000" dirty="0"/>
              <a:t>1 x 10</a:t>
            </a:r>
            <a:r>
              <a:rPr lang="en-GB" sz="2000" baseline="30000" dirty="0"/>
              <a:t>-7 </a:t>
            </a:r>
            <a:r>
              <a:rPr lang="en-GB" sz="2000" dirty="0"/>
              <a:t> metres and 2.5 x 10</a:t>
            </a:r>
            <a:r>
              <a:rPr lang="en-GB" sz="2000" baseline="30000" dirty="0"/>
              <a:t>-6</a:t>
            </a:r>
            <a:r>
              <a:rPr lang="en-GB" sz="2000" dirty="0"/>
              <a:t> .  </a:t>
            </a:r>
          </a:p>
          <a:p>
            <a:pPr algn="ctr">
              <a:buNone/>
            </a:pPr>
            <a:endParaRPr lang="en-GB" sz="2000" dirty="0"/>
          </a:p>
          <a:p>
            <a:pPr algn="ctr">
              <a:buNone/>
            </a:pPr>
            <a:r>
              <a:rPr lang="en-GB" sz="2000" dirty="0"/>
              <a:t>To comprehend how small this is, </a:t>
            </a:r>
            <a:r>
              <a:rPr lang="en-GB" sz="2000" b="1" dirty="0"/>
              <a:t>coarse particles</a:t>
            </a:r>
            <a:r>
              <a:rPr lang="en-GB" sz="2000" dirty="0"/>
              <a:t>, like dust, have diameters between 1 x 10</a:t>
            </a:r>
            <a:r>
              <a:rPr lang="en-GB" sz="2000" baseline="30000" dirty="0"/>
              <a:t>-5 </a:t>
            </a:r>
            <a:r>
              <a:rPr lang="en-GB" sz="2000" dirty="0"/>
              <a:t>and 2.5 x 10</a:t>
            </a:r>
            <a:r>
              <a:rPr lang="en-GB" sz="2000" baseline="30000" dirty="0"/>
              <a:t>-6</a:t>
            </a:r>
            <a:r>
              <a:rPr lang="en-GB" sz="2000" dirty="0"/>
              <a:t> .</a:t>
            </a:r>
          </a:p>
        </p:txBody>
      </p:sp>
      <p:pic>
        <p:nvPicPr>
          <p:cNvPr id="13318" name="Picture 6" descr="Related image">
            <a:extLst>
              <a:ext uri="{FF2B5EF4-FFF2-40B4-BE49-F238E27FC236}">
                <a16:creationId xmlns:a16="http://schemas.microsoft.com/office/drawing/2014/main" xmlns="" id="{D989D905-E021-4DB5-A928-2E9F123F6AD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2461" y="924542"/>
            <a:ext cx="1800150" cy="164468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xmlns="" id="{E675C9E9-0523-4390-90CC-A0A54C9A5227}"/>
              </a:ext>
            </a:extLst>
          </p:cNvPr>
          <p:cNvPicPr>
            <a:picLocks noChangeAspect="1"/>
          </p:cNvPicPr>
          <p:nvPr/>
        </p:nvPicPr>
        <p:blipFill>
          <a:blip r:embed="rId4"/>
          <a:stretch>
            <a:fillRect/>
          </a:stretch>
        </p:blipFill>
        <p:spPr>
          <a:xfrm>
            <a:off x="4866479" y="2797128"/>
            <a:ext cx="1603872" cy="1568544"/>
          </a:xfrm>
          <a:prstGeom prst="rect">
            <a:avLst/>
          </a:prstGeom>
        </p:spPr>
      </p:pic>
      <p:pic>
        <p:nvPicPr>
          <p:cNvPr id="8" name="Picture 7">
            <a:extLst>
              <a:ext uri="{FF2B5EF4-FFF2-40B4-BE49-F238E27FC236}">
                <a16:creationId xmlns:a16="http://schemas.microsoft.com/office/drawing/2014/main" xmlns="" id="{2C51ED56-31C5-4A8B-AF83-E68ECACF4A2E}"/>
              </a:ext>
            </a:extLst>
          </p:cNvPr>
          <p:cNvPicPr>
            <a:picLocks noChangeAspect="1"/>
          </p:cNvPicPr>
          <p:nvPr/>
        </p:nvPicPr>
        <p:blipFill>
          <a:blip r:embed="rId5"/>
          <a:stretch>
            <a:fillRect/>
          </a:stretch>
        </p:blipFill>
        <p:spPr>
          <a:xfrm>
            <a:off x="4799177" y="4678469"/>
            <a:ext cx="1703434" cy="1703434"/>
          </a:xfrm>
          <a:prstGeom prst="rect">
            <a:avLst/>
          </a:prstGeom>
        </p:spPr>
      </p:pic>
      <p:cxnSp>
        <p:nvCxnSpPr>
          <p:cNvPr id="12" name="Straight Arrow Connector 11">
            <a:extLst>
              <a:ext uri="{FF2B5EF4-FFF2-40B4-BE49-F238E27FC236}">
                <a16:creationId xmlns:a16="http://schemas.microsoft.com/office/drawing/2014/main" xmlns="" id="{6941816C-F28A-4750-99F1-B1E495E9CEBE}"/>
              </a:ext>
            </a:extLst>
          </p:cNvPr>
          <p:cNvCxnSpPr/>
          <p:nvPr/>
        </p:nvCxnSpPr>
        <p:spPr>
          <a:xfrm>
            <a:off x="5654504" y="1869211"/>
            <a:ext cx="0" cy="1407389"/>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xmlns="" id="{224D61B0-0FBC-4221-8C04-D04EC6F14231}"/>
              </a:ext>
            </a:extLst>
          </p:cNvPr>
          <p:cNvCxnSpPr/>
          <p:nvPr/>
        </p:nvCxnSpPr>
        <p:spPr>
          <a:xfrm>
            <a:off x="5664704" y="4122797"/>
            <a:ext cx="0" cy="1407389"/>
          </a:xfrm>
          <a:prstGeom prst="straightConnector1">
            <a:avLst/>
          </a:prstGeom>
          <a:ln>
            <a:solidFill>
              <a:schemeClr val="accent6">
                <a:lumMod val="75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xmlns="" id="{035D6AD3-F2F5-4897-86DF-7BA3E9E208B1}"/>
              </a:ext>
            </a:extLst>
          </p:cNvPr>
          <p:cNvSpPr txBox="1"/>
          <p:nvPr/>
        </p:nvSpPr>
        <p:spPr>
          <a:xfrm>
            <a:off x="6606548" y="1380796"/>
            <a:ext cx="2202131" cy="4401205"/>
          </a:xfrm>
          <a:prstGeom prst="rect">
            <a:avLst/>
          </a:prstGeom>
          <a:noFill/>
        </p:spPr>
        <p:txBody>
          <a:bodyPr wrap="square" rtlCol="0">
            <a:spAutoFit/>
          </a:bodyPr>
          <a:lstStyle/>
          <a:p>
            <a:pPr algn="ctr"/>
            <a:r>
              <a:rPr lang="en-GB" sz="2000" b="1" dirty="0">
                <a:solidFill>
                  <a:schemeClr val="accent6">
                    <a:lumMod val="75000"/>
                  </a:schemeClr>
                </a:solidFill>
              </a:rPr>
              <a:t>The size of a typical nanoparticle is …</a:t>
            </a:r>
          </a:p>
          <a:p>
            <a:pPr algn="ctr"/>
            <a:endParaRPr lang="en-GB" sz="2000" b="1" dirty="0">
              <a:solidFill>
                <a:schemeClr val="accent6">
                  <a:lumMod val="75000"/>
                </a:schemeClr>
              </a:solidFill>
            </a:endParaRPr>
          </a:p>
          <a:p>
            <a:pPr algn="ctr"/>
            <a:endParaRPr lang="en-GB" sz="2000" b="1" dirty="0">
              <a:solidFill>
                <a:schemeClr val="accent6">
                  <a:lumMod val="75000"/>
                </a:schemeClr>
              </a:solidFill>
            </a:endParaRPr>
          </a:p>
          <a:p>
            <a:pPr algn="ctr"/>
            <a:endParaRPr lang="en-GB" sz="2000" b="1" dirty="0">
              <a:solidFill>
                <a:schemeClr val="accent6">
                  <a:lumMod val="75000"/>
                </a:schemeClr>
              </a:solidFill>
            </a:endParaRPr>
          </a:p>
          <a:p>
            <a:pPr algn="ctr"/>
            <a:endParaRPr lang="en-GB" sz="2000" b="1" dirty="0">
              <a:solidFill>
                <a:schemeClr val="accent6">
                  <a:lumMod val="75000"/>
                </a:schemeClr>
              </a:solidFill>
            </a:endParaRPr>
          </a:p>
          <a:p>
            <a:pPr algn="ctr"/>
            <a:r>
              <a:rPr lang="en-GB" sz="2000" b="1" dirty="0">
                <a:solidFill>
                  <a:schemeClr val="accent6">
                    <a:lumMod val="75000"/>
                  </a:schemeClr>
                </a:solidFill>
              </a:rPr>
              <a:t>… to a football as a </a:t>
            </a:r>
          </a:p>
          <a:p>
            <a:pPr algn="ctr"/>
            <a:r>
              <a:rPr lang="en-GB" sz="2000" b="1" dirty="0">
                <a:solidFill>
                  <a:schemeClr val="accent6">
                    <a:lumMod val="75000"/>
                  </a:schemeClr>
                </a:solidFill>
              </a:rPr>
              <a:t>football is …</a:t>
            </a:r>
          </a:p>
          <a:p>
            <a:pPr algn="ctr"/>
            <a:endParaRPr lang="en-GB" sz="2000" b="1" dirty="0">
              <a:solidFill>
                <a:schemeClr val="accent6">
                  <a:lumMod val="75000"/>
                </a:schemeClr>
              </a:solidFill>
            </a:endParaRPr>
          </a:p>
          <a:p>
            <a:pPr algn="ctr"/>
            <a:endParaRPr lang="en-GB" sz="2000" b="1" dirty="0">
              <a:solidFill>
                <a:schemeClr val="accent6">
                  <a:lumMod val="75000"/>
                </a:schemeClr>
              </a:solidFill>
            </a:endParaRPr>
          </a:p>
          <a:p>
            <a:pPr algn="ctr"/>
            <a:endParaRPr lang="en-GB" sz="2000" b="1" dirty="0">
              <a:solidFill>
                <a:schemeClr val="accent6">
                  <a:lumMod val="75000"/>
                </a:schemeClr>
              </a:solidFill>
            </a:endParaRPr>
          </a:p>
          <a:p>
            <a:pPr algn="ctr"/>
            <a:endParaRPr lang="en-GB" sz="2000" b="1" dirty="0">
              <a:solidFill>
                <a:schemeClr val="accent6">
                  <a:lumMod val="75000"/>
                </a:schemeClr>
              </a:solidFill>
            </a:endParaRPr>
          </a:p>
          <a:p>
            <a:pPr algn="ctr"/>
            <a:r>
              <a:rPr lang="en-GB" sz="2000" b="1" dirty="0">
                <a:solidFill>
                  <a:schemeClr val="accent6">
                    <a:lumMod val="75000"/>
                  </a:schemeClr>
                </a:solidFill>
              </a:rPr>
              <a:t>…to the Earth</a:t>
            </a:r>
          </a:p>
        </p:txBody>
      </p:sp>
    </p:spTree>
    <p:extLst>
      <p:ext uri="{BB962C8B-B14F-4D97-AF65-F5344CB8AC3E}">
        <p14:creationId xmlns:p14="http://schemas.microsoft.com/office/powerpoint/2010/main" val="1537379260"/>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11560" y="35655"/>
            <a:ext cx="8532440" cy="873065"/>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b="1" dirty="0">
                <a:solidFill>
                  <a:schemeClr val="accent6"/>
                </a:solidFill>
              </a:rPr>
              <a:t>Covalent bonding - PART 3</a:t>
            </a:r>
            <a:br>
              <a:rPr lang="en-US" sz="2400" b="1" dirty="0">
                <a:solidFill>
                  <a:schemeClr val="accent6"/>
                </a:solidFill>
              </a:rPr>
            </a:br>
            <a:r>
              <a:rPr lang="en-US" sz="2400" b="1" dirty="0">
                <a:solidFill>
                  <a:schemeClr val="accent6"/>
                </a:solidFill>
              </a:rPr>
              <a:t>CHEMISTRY ONLY</a:t>
            </a:r>
            <a:endParaRPr lang="en-GB" sz="2400" b="1" dirty="0">
              <a:solidFill>
                <a:schemeClr val="accent6"/>
              </a:solidFill>
            </a:endParaRPr>
          </a:p>
        </p:txBody>
      </p:sp>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10" name="Rectangle 9">
            <a:extLst>
              <a:ext uri="{FF2B5EF4-FFF2-40B4-BE49-F238E27FC236}">
                <a16:creationId xmlns:a16="http://schemas.microsoft.com/office/drawing/2014/main" xmlns="" id="{6D1AC408-0399-4F39-BA2A-84144181DC17}"/>
              </a:ext>
            </a:extLst>
          </p:cNvPr>
          <p:cNvSpPr/>
          <p:nvPr/>
        </p:nvSpPr>
        <p:spPr>
          <a:xfrm>
            <a:off x="92413" y="967208"/>
            <a:ext cx="8872075" cy="6740307"/>
          </a:xfrm>
          <a:prstGeom prst="rect">
            <a:avLst/>
          </a:prstGeom>
        </p:spPr>
        <p:txBody>
          <a:bodyPr wrap="square">
            <a:spAutoFit/>
          </a:bodyPr>
          <a:lstStyle/>
          <a:p>
            <a:pPr algn="ctr"/>
            <a:r>
              <a:rPr lang="en-GB" dirty="0"/>
              <a:t>Nanoparticles show different properties to the same materials in bulk as they have a </a:t>
            </a:r>
            <a:r>
              <a:rPr lang="en-GB" b="1" dirty="0"/>
              <a:t>high surface area to volume ratio</a:t>
            </a:r>
            <a:r>
              <a:rPr lang="en-GB" dirty="0"/>
              <a:t>.</a:t>
            </a:r>
          </a:p>
          <a:p>
            <a:pPr algn="ctr"/>
            <a:endParaRPr lang="en-GB" dirty="0"/>
          </a:p>
          <a:p>
            <a:r>
              <a:rPr lang="en-GB" dirty="0"/>
              <a:t>The diagram shows this idea:</a:t>
            </a:r>
          </a:p>
          <a:p>
            <a:endParaRPr lang="en-GB" dirty="0"/>
          </a:p>
          <a:p>
            <a:endParaRPr lang="en-GB" dirty="0"/>
          </a:p>
          <a:p>
            <a:endParaRPr lang="en-GB" dirty="0"/>
          </a:p>
          <a:p>
            <a:endParaRPr lang="en-GB" dirty="0"/>
          </a:p>
          <a:p>
            <a:endParaRPr lang="en-GB" dirty="0"/>
          </a:p>
          <a:p>
            <a:endParaRPr lang="en-GB" dirty="0"/>
          </a:p>
          <a:p>
            <a:endParaRPr lang="en-GB" dirty="0"/>
          </a:p>
          <a:p>
            <a:endParaRPr lang="en-GB" b="1" dirty="0">
              <a:solidFill>
                <a:schemeClr val="accent6">
                  <a:lumMod val="75000"/>
                </a:schemeClr>
              </a:solidFill>
            </a:endParaRPr>
          </a:p>
          <a:p>
            <a:endParaRPr lang="en-GB" b="1" dirty="0">
              <a:solidFill>
                <a:schemeClr val="accent6">
                  <a:lumMod val="75000"/>
                </a:schemeClr>
              </a:solidFill>
            </a:endParaRPr>
          </a:p>
          <a:p>
            <a:pPr algn="ctr"/>
            <a:endParaRPr lang="en-GB" b="1" dirty="0">
              <a:solidFill>
                <a:schemeClr val="accent6">
                  <a:lumMod val="75000"/>
                </a:schemeClr>
              </a:solidFill>
            </a:endParaRPr>
          </a:p>
          <a:p>
            <a:pPr algn="ctr"/>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pPr>
              <a:buNone/>
            </a:pPr>
            <a:endParaRPr lang="en-GB" dirty="0"/>
          </a:p>
        </p:txBody>
      </p:sp>
      <p:sp>
        <p:nvSpPr>
          <p:cNvPr id="7" name="Rectangle 6">
            <a:extLst>
              <a:ext uri="{FF2B5EF4-FFF2-40B4-BE49-F238E27FC236}">
                <a16:creationId xmlns:a16="http://schemas.microsoft.com/office/drawing/2014/main" xmlns="" id="{99936136-DC26-4A67-843C-2988501BC45C}"/>
              </a:ext>
            </a:extLst>
          </p:cNvPr>
          <p:cNvSpPr/>
          <p:nvPr/>
        </p:nvSpPr>
        <p:spPr>
          <a:xfrm>
            <a:off x="251520" y="967208"/>
            <a:ext cx="8568952" cy="661592"/>
          </a:xfrm>
          <a:prstGeom prst="rect">
            <a:avLst/>
          </a:prstGeom>
          <a:no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xmlns="" id="{A76BDD42-662C-45D8-8C52-1694F67CDFC2}"/>
              </a:ext>
            </a:extLst>
          </p:cNvPr>
          <p:cNvSpPr txBox="1"/>
          <p:nvPr/>
        </p:nvSpPr>
        <p:spPr>
          <a:xfrm>
            <a:off x="5465311" y="1687288"/>
            <a:ext cx="3355162" cy="4801314"/>
          </a:xfrm>
          <a:prstGeom prst="rect">
            <a:avLst/>
          </a:prstGeom>
          <a:noFill/>
        </p:spPr>
        <p:txBody>
          <a:bodyPr wrap="square" rtlCol="0">
            <a:spAutoFit/>
          </a:bodyPr>
          <a:lstStyle/>
          <a:p>
            <a:pPr algn="ctr"/>
            <a:endParaRPr lang="en-GB" dirty="0"/>
          </a:p>
          <a:p>
            <a:pPr algn="ctr"/>
            <a:r>
              <a:rPr lang="en-GB" dirty="0"/>
              <a:t>As particle size gets smaller, the surface area to volume ratio gets larger. </a:t>
            </a:r>
          </a:p>
          <a:p>
            <a:pPr algn="ctr"/>
            <a:r>
              <a:rPr lang="en-GB" b="1" dirty="0">
                <a:solidFill>
                  <a:schemeClr val="accent6">
                    <a:lumMod val="75000"/>
                  </a:schemeClr>
                </a:solidFill>
              </a:rPr>
              <a:t>As the side of cube decreases by a factor of 10 the surface area to volume ratio increases by a factor of 10.</a:t>
            </a:r>
          </a:p>
          <a:p>
            <a:pPr algn="ctr"/>
            <a:r>
              <a:rPr lang="en-GB" dirty="0"/>
              <a:t>Nanoparticles show different properties to the same materials in bulk and have a high surface area to volume ratio. It also means that smaller quantities are needed to be effective than the materials with normal particle sizes.</a:t>
            </a:r>
          </a:p>
          <a:p>
            <a:endParaRPr lang="en-GB" dirty="0"/>
          </a:p>
        </p:txBody>
      </p:sp>
      <p:sp>
        <p:nvSpPr>
          <p:cNvPr id="8" name="AutoShape 4" descr="Image result for high surface area to volume ratio calculation">
            <a:extLst>
              <a:ext uri="{FF2B5EF4-FFF2-40B4-BE49-F238E27FC236}">
                <a16:creationId xmlns:a16="http://schemas.microsoft.com/office/drawing/2014/main" xmlns="" id="{DB02B73E-D3F6-4C61-A344-16C2FC70CAEB}"/>
              </a:ext>
            </a:extLst>
          </p:cNvPr>
          <p:cNvSpPr>
            <a:spLocks noChangeAspect="1" noChangeArrowheads="1"/>
          </p:cNvSpPr>
          <p:nvPr/>
        </p:nvSpPr>
        <p:spPr bwMode="auto">
          <a:xfrm>
            <a:off x="4724400" y="3581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graphicFrame>
        <p:nvGraphicFramePr>
          <p:cNvPr id="14" name="Table 13">
            <a:extLst>
              <a:ext uri="{FF2B5EF4-FFF2-40B4-BE49-F238E27FC236}">
                <a16:creationId xmlns:a16="http://schemas.microsoft.com/office/drawing/2014/main" xmlns="" id="{BB66D056-C54D-4E52-8A7D-FCB3841A8739}"/>
              </a:ext>
            </a:extLst>
          </p:cNvPr>
          <p:cNvGraphicFramePr>
            <a:graphicFrameLocks noGrp="1"/>
          </p:cNvGraphicFramePr>
          <p:nvPr>
            <p:extLst>
              <p:ext uri="{D42A27DB-BD31-4B8C-83A1-F6EECF244321}">
                <p14:modId xmlns:p14="http://schemas.microsoft.com/office/powerpoint/2010/main" val="859326683"/>
              </p:ext>
            </p:extLst>
          </p:nvPr>
        </p:nvGraphicFramePr>
        <p:xfrm>
          <a:off x="110772" y="3429000"/>
          <a:ext cx="4918428" cy="2420085"/>
        </p:xfrm>
        <a:graphic>
          <a:graphicData uri="http://schemas.openxmlformats.org/drawingml/2006/table">
            <a:tbl>
              <a:tblPr firstRow="1" bandRow="1">
                <a:tableStyleId>{5940675A-B579-460E-94D1-54222C63F5DA}</a:tableStyleId>
              </a:tblPr>
              <a:tblGrid>
                <a:gridCol w="2830197">
                  <a:extLst>
                    <a:ext uri="{9D8B030D-6E8A-4147-A177-3AD203B41FA5}">
                      <a16:colId xmlns:a16="http://schemas.microsoft.com/office/drawing/2014/main" xmlns="" val="1972333708"/>
                    </a:ext>
                  </a:extLst>
                </a:gridCol>
                <a:gridCol w="648072">
                  <a:extLst>
                    <a:ext uri="{9D8B030D-6E8A-4147-A177-3AD203B41FA5}">
                      <a16:colId xmlns:a16="http://schemas.microsoft.com/office/drawing/2014/main" xmlns="" val="2079001968"/>
                    </a:ext>
                  </a:extLst>
                </a:gridCol>
                <a:gridCol w="720080">
                  <a:extLst>
                    <a:ext uri="{9D8B030D-6E8A-4147-A177-3AD203B41FA5}">
                      <a16:colId xmlns:a16="http://schemas.microsoft.com/office/drawing/2014/main" xmlns="" val="724700743"/>
                    </a:ext>
                  </a:extLst>
                </a:gridCol>
                <a:gridCol w="720079">
                  <a:extLst>
                    <a:ext uri="{9D8B030D-6E8A-4147-A177-3AD203B41FA5}">
                      <a16:colId xmlns:a16="http://schemas.microsoft.com/office/drawing/2014/main" xmlns="" val="3174220879"/>
                    </a:ext>
                  </a:extLst>
                </a:gridCol>
              </a:tblGrid>
              <a:tr h="806695">
                <a:tc>
                  <a:txBody>
                    <a:bodyPr/>
                    <a:lstStyle/>
                    <a:p>
                      <a:r>
                        <a:rPr lang="en-GB" sz="1400" b="1" dirty="0"/>
                        <a:t>Surface area</a:t>
                      </a:r>
                    </a:p>
                    <a:p>
                      <a:r>
                        <a:rPr lang="en-GB" sz="1400" dirty="0"/>
                        <a:t>(height x width x number of sides)</a:t>
                      </a:r>
                    </a:p>
                  </a:txBody>
                  <a:tcPr>
                    <a:solidFill>
                      <a:schemeClr val="accent6">
                        <a:lumMod val="60000"/>
                        <a:lumOff val="40000"/>
                      </a:schemeClr>
                    </a:solidFill>
                  </a:tcPr>
                </a:tc>
                <a:tc>
                  <a:txBody>
                    <a:bodyPr/>
                    <a:lstStyle/>
                    <a:p>
                      <a:pPr algn="ctr"/>
                      <a:r>
                        <a:rPr lang="en-GB" sz="1400" dirty="0"/>
                        <a:t>3x3x6</a:t>
                      </a:r>
                    </a:p>
                    <a:p>
                      <a:pPr algn="ctr"/>
                      <a:endParaRPr lang="en-GB" sz="1400" dirty="0"/>
                    </a:p>
                    <a:p>
                      <a:pPr algn="ctr"/>
                      <a:r>
                        <a:rPr lang="en-GB" sz="1400" b="1" dirty="0"/>
                        <a:t>=54</a:t>
                      </a:r>
                    </a:p>
                  </a:txBody>
                  <a:tcPr>
                    <a:solidFill>
                      <a:schemeClr val="accent6">
                        <a:lumMod val="60000"/>
                        <a:lumOff val="40000"/>
                      </a:schemeClr>
                    </a:solidFill>
                  </a:tcPr>
                </a:tc>
                <a:tc>
                  <a:txBody>
                    <a:bodyPr/>
                    <a:lstStyle/>
                    <a:p>
                      <a:pPr algn="ctr"/>
                      <a:r>
                        <a:rPr lang="en-GB" sz="1400" dirty="0"/>
                        <a:t>2x2x6</a:t>
                      </a:r>
                    </a:p>
                    <a:p>
                      <a:pPr algn="ctr"/>
                      <a:endParaRPr lang="en-GB" sz="1400" dirty="0"/>
                    </a:p>
                    <a:p>
                      <a:pPr algn="ctr"/>
                      <a:r>
                        <a:rPr lang="en-GB" sz="1400" b="1" dirty="0"/>
                        <a:t>=24</a:t>
                      </a:r>
                    </a:p>
                  </a:txBody>
                  <a:tcPr>
                    <a:solidFill>
                      <a:schemeClr val="accent6">
                        <a:lumMod val="60000"/>
                        <a:lumOff val="40000"/>
                      </a:schemeClr>
                    </a:solidFill>
                  </a:tcPr>
                </a:tc>
                <a:tc>
                  <a:txBody>
                    <a:bodyPr/>
                    <a:lstStyle/>
                    <a:p>
                      <a:pPr algn="ctr"/>
                      <a:r>
                        <a:rPr lang="en-GB" sz="1400" dirty="0"/>
                        <a:t>1x1x6</a:t>
                      </a:r>
                    </a:p>
                    <a:p>
                      <a:pPr algn="ctr"/>
                      <a:endParaRPr lang="en-GB" sz="1400" dirty="0"/>
                    </a:p>
                    <a:p>
                      <a:pPr algn="ctr"/>
                      <a:r>
                        <a:rPr lang="en-GB" sz="1400" b="1" dirty="0"/>
                        <a:t>=6</a:t>
                      </a:r>
                    </a:p>
                  </a:txBody>
                  <a:tcPr>
                    <a:solidFill>
                      <a:schemeClr val="accent6">
                        <a:lumMod val="60000"/>
                        <a:lumOff val="40000"/>
                      </a:schemeClr>
                    </a:solidFill>
                  </a:tcPr>
                </a:tc>
                <a:extLst>
                  <a:ext uri="{0D108BD9-81ED-4DB2-BD59-A6C34878D82A}">
                    <a16:rowId xmlns:a16="http://schemas.microsoft.com/office/drawing/2014/main" xmlns="" val="932294577"/>
                  </a:ext>
                </a:extLst>
              </a:tr>
              <a:tr h="806695">
                <a:tc>
                  <a:txBody>
                    <a:bodyPr/>
                    <a:lstStyle/>
                    <a:p>
                      <a:r>
                        <a:rPr lang="en-GB" sz="1400" b="1" dirty="0"/>
                        <a:t>Volume</a:t>
                      </a:r>
                    </a:p>
                    <a:p>
                      <a:r>
                        <a:rPr lang="en-GB" sz="1400" dirty="0"/>
                        <a:t>(height x width x length)</a:t>
                      </a:r>
                    </a:p>
                  </a:txBody>
                  <a:tcPr>
                    <a:solidFill>
                      <a:schemeClr val="accent6">
                        <a:lumMod val="60000"/>
                        <a:lumOff val="40000"/>
                      </a:schemeClr>
                    </a:solidFill>
                  </a:tcPr>
                </a:tc>
                <a:tc>
                  <a:txBody>
                    <a:bodyPr/>
                    <a:lstStyle/>
                    <a:p>
                      <a:pPr algn="ctr"/>
                      <a:r>
                        <a:rPr lang="en-GB" sz="1400" dirty="0"/>
                        <a:t>3x3x3</a:t>
                      </a:r>
                    </a:p>
                    <a:p>
                      <a:pPr algn="ctr"/>
                      <a:endParaRPr lang="en-GB" sz="1400" dirty="0"/>
                    </a:p>
                    <a:p>
                      <a:pPr algn="ctr"/>
                      <a:r>
                        <a:rPr lang="en-GB" sz="1400" b="1" dirty="0"/>
                        <a:t>=27</a:t>
                      </a:r>
                    </a:p>
                  </a:txBody>
                  <a:tcPr>
                    <a:solidFill>
                      <a:schemeClr val="accent6">
                        <a:lumMod val="60000"/>
                        <a:lumOff val="40000"/>
                      </a:schemeClr>
                    </a:solidFill>
                  </a:tcPr>
                </a:tc>
                <a:tc>
                  <a:txBody>
                    <a:bodyPr/>
                    <a:lstStyle/>
                    <a:p>
                      <a:pPr algn="ctr"/>
                      <a:r>
                        <a:rPr lang="en-GB" sz="1400" dirty="0"/>
                        <a:t>2x2x2</a:t>
                      </a:r>
                    </a:p>
                    <a:p>
                      <a:pPr algn="ctr"/>
                      <a:endParaRPr lang="en-GB" sz="1400" dirty="0"/>
                    </a:p>
                    <a:p>
                      <a:pPr algn="ctr"/>
                      <a:r>
                        <a:rPr lang="en-GB" sz="1400" b="1" dirty="0"/>
                        <a:t>=8</a:t>
                      </a:r>
                    </a:p>
                  </a:txBody>
                  <a:tcPr>
                    <a:solidFill>
                      <a:schemeClr val="accent6">
                        <a:lumMod val="60000"/>
                        <a:lumOff val="40000"/>
                      </a:schemeClr>
                    </a:solidFill>
                  </a:tcPr>
                </a:tc>
                <a:tc>
                  <a:txBody>
                    <a:bodyPr/>
                    <a:lstStyle/>
                    <a:p>
                      <a:pPr algn="ctr"/>
                      <a:r>
                        <a:rPr lang="en-GB" sz="1400" dirty="0"/>
                        <a:t>1x1x1</a:t>
                      </a:r>
                    </a:p>
                    <a:p>
                      <a:pPr algn="ctr"/>
                      <a:endParaRPr lang="en-GB" sz="1400" dirty="0"/>
                    </a:p>
                    <a:p>
                      <a:pPr algn="ctr"/>
                      <a:r>
                        <a:rPr lang="en-GB" sz="1400" b="1" dirty="0"/>
                        <a:t>=1</a:t>
                      </a:r>
                    </a:p>
                  </a:txBody>
                  <a:tcPr>
                    <a:solidFill>
                      <a:schemeClr val="accent6">
                        <a:lumMod val="60000"/>
                        <a:lumOff val="40000"/>
                      </a:schemeClr>
                    </a:solidFill>
                  </a:tcPr>
                </a:tc>
                <a:extLst>
                  <a:ext uri="{0D108BD9-81ED-4DB2-BD59-A6C34878D82A}">
                    <a16:rowId xmlns:a16="http://schemas.microsoft.com/office/drawing/2014/main" xmlns="" val="2983220636"/>
                  </a:ext>
                </a:extLst>
              </a:tr>
              <a:tr h="806695">
                <a:tc>
                  <a:txBody>
                    <a:bodyPr/>
                    <a:lstStyle/>
                    <a:p>
                      <a:r>
                        <a:rPr lang="en-GB" sz="1400" b="1" dirty="0"/>
                        <a:t>Surface to volume ratio</a:t>
                      </a:r>
                    </a:p>
                    <a:p>
                      <a:r>
                        <a:rPr lang="en-GB" sz="1400" dirty="0"/>
                        <a:t>(surface area / volume)</a:t>
                      </a:r>
                    </a:p>
                  </a:txBody>
                  <a:tcPr>
                    <a:solidFill>
                      <a:schemeClr val="accent6">
                        <a:lumMod val="60000"/>
                        <a:lumOff val="40000"/>
                      </a:schemeClr>
                    </a:solidFill>
                  </a:tcPr>
                </a:tc>
                <a:tc>
                  <a:txBody>
                    <a:bodyPr/>
                    <a:lstStyle/>
                    <a:p>
                      <a:pPr algn="ctr"/>
                      <a:r>
                        <a:rPr lang="en-GB" sz="1400" dirty="0"/>
                        <a:t>54/27</a:t>
                      </a:r>
                    </a:p>
                    <a:p>
                      <a:pPr algn="ctr"/>
                      <a:endParaRPr lang="en-GB" sz="1400" dirty="0"/>
                    </a:p>
                    <a:p>
                      <a:pPr algn="ctr"/>
                      <a:r>
                        <a:rPr lang="en-GB" sz="1400" b="1" dirty="0"/>
                        <a:t>=2</a:t>
                      </a:r>
                    </a:p>
                  </a:txBody>
                  <a:tcPr>
                    <a:solidFill>
                      <a:schemeClr val="accent6">
                        <a:lumMod val="60000"/>
                        <a:lumOff val="40000"/>
                      </a:schemeClr>
                    </a:solidFill>
                  </a:tcPr>
                </a:tc>
                <a:tc>
                  <a:txBody>
                    <a:bodyPr/>
                    <a:lstStyle/>
                    <a:p>
                      <a:pPr algn="ctr"/>
                      <a:r>
                        <a:rPr lang="en-GB" sz="1400" dirty="0"/>
                        <a:t>24/8</a:t>
                      </a:r>
                    </a:p>
                    <a:p>
                      <a:pPr algn="ctr"/>
                      <a:endParaRPr lang="en-GB" sz="1400" dirty="0"/>
                    </a:p>
                    <a:p>
                      <a:pPr algn="ctr"/>
                      <a:r>
                        <a:rPr lang="en-GB" sz="1400" b="1" dirty="0"/>
                        <a:t>=3</a:t>
                      </a:r>
                    </a:p>
                  </a:txBody>
                  <a:tcPr>
                    <a:solidFill>
                      <a:schemeClr val="accent6">
                        <a:lumMod val="60000"/>
                        <a:lumOff val="40000"/>
                      </a:schemeClr>
                    </a:solidFill>
                  </a:tcPr>
                </a:tc>
                <a:tc>
                  <a:txBody>
                    <a:bodyPr/>
                    <a:lstStyle/>
                    <a:p>
                      <a:pPr algn="ctr"/>
                      <a:r>
                        <a:rPr lang="en-GB" sz="1400" dirty="0"/>
                        <a:t>6/1</a:t>
                      </a:r>
                    </a:p>
                    <a:p>
                      <a:pPr algn="ctr"/>
                      <a:endParaRPr lang="en-GB" sz="1400" dirty="0"/>
                    </a:p>
                    <a:p>
                      <a:pPr algn="ctr"/>
                      <a:r>
                        <a:rPr lang="en-GB" sz="1400" b="1" dirty="0"/>
                        <a:t>=6</a:t>
                      </a:r>
                    </a:p>
                  </a:txBody>
                  <a:tcPr>
                    <a:solidFill>
                      <a:schemeClr val="accent6">
                        <a:lumMod val="60000"/>
                        <a:lumOff val="40000"/>
                      </a:schemeClr>
                    </a:solidFill>
                  </a:tcPr>
                </a:tc>
                <a:extLst>
                  <a:ext uri="{0D108BD9-81ED-4DB2-BD59-A6C34878D82A}">
                    <a16:rowId xmlns:a16="http://schemas.microsoft.com/office/drawing/2014/main" xmlns="" val="394991225"/>
                  </a:ext>
                </a:extLst>
              </a:tr>
            </a:tbl>
          </a:graphicData>
        </a:graphic>
      </p:graphicFrame>
      <p:pic>
        <p:nvPicPr>
          <p:cNvPr id="15" name="Picture 14">
            <a:extLst>
              <a:ext uri="{FF2B5EF4-FFF2-40B4-BE49-F238E27FC236}">
                <a16:creationId xmlns:a16="http://schemas.microsoft.com/office/drawing/2014/main" xmlns="" id="{489847E8-E7DA-4DD7-910F-485823AAE696}"/>
              </a:ext>
            </a:extLst>
          </p:cNvPr>
          <p:cNvPicPr>
            <a:picLocks noChangeAspect="1"/>
          </p:cNvPicPr>
          <p:nvPr/>
        </p:nvPicPr>
        <p:blipFill>
          <a:blip r:embed="rId3">
            <a:duotone>
              <a:schemeClr val="accent6">
                <a:shade val="45000"/>
                <a:satMod val="135000"/>
              </a:schemeClr>
              <a:prstClr val="white"/>
            </a:duotone>
          </a:blip>
          <a:stretch>
            <a:fillRect/>
          </a:stretch>
        </p:blipFill>
        <p:spPr>
          <a:xfrm>
            <a:off x="2627880" y="2324100"/>
            <a:ext cx="2466975" cy="952500"/>
          </a:xfrm>
          <a:prstGeom prst="rect">
            <a:avLst/>
          </a:prstGeom>
        </p:spPr>
      </p:pic>
    </p:spTree>
    <p:extLst>
      <p:ext uri="{BB962C8B-B14F-4D97-AF65-F5344CB8AC3E}">
        <p14:creationId xmlns:p14="http://schemas.microsoft.com/office/powerpoint/2010/main" val="4140083128"/>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Image result for plum pudding model">
            <a:extLst>
              <a:ext uri="{FF2B5EF4-FFF2-40B4-BE49-F238E27FC236}">
                <a16:creationId xmlns:a16="http://schemas.microsoft.com/office/drawing/2014/main" xmlns="" id="{1F46EA24-D964-41A0-8AA7-65153FC742B9}"/>
              </a:ext>
            </a:extLst>
          </p:cNvPr>
          <p:cNvSpPr>
            <a:spLocks noChangeAspect="1" noChangeArrowheads="1"/>
          </p:cNvSpPr>
          <p:nvPr/>
        </p:nvSpPr>
        <p:spPr bwMode="auto">
          <a:xfrm>
            <a:off x="4419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6" name="AutoShape 4" descr="Image result for rutherford atomic model">
            <a:extLst>
              <a:ext uri="{FF2B5EF4-FFF2-40B4-BE49-F238E27FC236}">
                <a16:creationId xmlns:a16="http://schemas.microsoft.com/office/drawing/2014/main" xmlns="" id="{3D0290F6-848B-4CDF-AD5A-CBB9FE0901BA}"/>
              </a:ext>
            </a:extLst>
          </p:cNvPr>
          <p:cNvSpPr>
            <a:spLocks noChangeAspect="1" noChangeArrowheads="1"/>
          </p:cNvSpPr>
          <p:nvPr/>
        </p:nvSpPr>
        <p:spPr bwMode="auto">
          <a:xfrm>
            <a:off x="4572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3" name="Rectangle 2">
            <a:extLst>
              <a:ext uri="{FF2B5EF4-FFF2-40B4-BE49-F238E27FC236}">
                <a16:creationId xmlns:a16="http://schemas.microsoft.com/office/drawing/2014/main" xmlns="" id="{1F08DB1E-B434-404B-AF76-804FB647535C}"/>
              </a:ext>
            </a:extLst>
          </p:cNvPr>
          <p:cNvSpPr/>
          <p:nvPr/>
        </p:nvSpPr>
        <p:spPr>
          <a:xfrm>
            <a:off x="49747" y="809394"/>
            <a:ext cx="4423879" cy="5324535"/>
          </a:xfrm>
          <a:prstGeom prst="rect">
            <a:avLst/>
          </a:prstGeom>
          <a:ln>
            <a:solidFill>
              <a:schemeClr val="accent6">
                <a:lumMod val="75000"/>
              </a:schemeClr>
            </a:solidFill>
          </a:ln>
        </p:spPr>
        <p:txBody>
          <a:bodyPr wrap="square">
            <a:spAutoFit/>
          </a:bodyPr>
          <a:lstStyle/>
          <a:p>
            <a:pPr algn="ctr"/>
            <a:r>
              <a:rPr lang="en-GB" sz="2000" dirty="0"/>
              <a:t>Nanoparticles have many applications in </a:t>
            </a:r>
            <a:r>
              <a:rPr lang="en-GB" sz="2000" b="1" dirty="0"/>
              <a:t>medicine</a:t>
            </a:r>
            <a:r>
              <a:rPr lang="en-GB" sz="2000" dirty="0"/>
              <a:t>, in </a:t>
            </a:r>
            <a:r>
              <a:rPr lang="en-GB" sz="2000" b="1" dirty="0"/>
              <a:t>electronics</a:t>
            </a:r>
            <a:r>
              <a:rPr lang="en-GB" sz="2000" dirty="0"/>
              <a:t>, in </a:t>
            </a:r>
            <a:r>
              <a:rPr lang="en-GB" sz="2000" b="1" dirty="0"/>
              <a:t>cosmetics </a:t>
            </a:r>
            <a:r>
              <a:rPr lang="en-GB" sz="2000" dirty="0"/>
              <a:t>and sun creams, as deodorants, and as </a:t>
            </a:r>
            <a:r>
              <a:rPr lang="en-GB" sz="2000" b="1" dirty="0"/>
              <a:t>catalysts</a:t>
            </a:r>
            <a:r>
              <a:rPr lang="en-GB" sz="2000" dirty="0"/>
              <a:t>. </a:t>
            </a:r>
          </a:p>
          <a:p>
            <a:pPr algn="ctr"/>
            <a:endParaRPr lang="en-GB" sz="2000" dirty="0"/>
          </a:p>
          <a:p>
            <a:pPr algn="ctr"/>
            <a:r>
              <a:rPr lang="en-GB" sz="2000" dirty="0"/>
              <a:t>New developments in nanoscience are very exciting but will need more research into possible issues that might arise from their increased use. </a:t>
            </a:r>
          </a:p>
          <a:p>
            <a:pPr algn="ctr"/>
            <a:endParaRPr lang="en-GB" sz="2000" dirty="0"/>
          </a:p>
          <a:p>
            <a:pPr algn="ctr"/>
            <a:r>
              <a:rPr lang="en-GB" sz="2000" dirty="0"/>
              <a:t>There are some concerns that nanoparticles may be</a:t>
            </a:r>
            <a:r>
              <a:rPr lang="en-GB" sz="2000" b="1" dirty="0"/>
              <a:t> toxic </a:t>
            </a:r>
            <a:r>
              <a:rPr lang="en-GB" sz="2000" dirty="0"/>
              <a:t>to people. They may be able to enter the brain from the bloodstream and cause harm. Some people think more tests should take place before nanoparticles of a material are used on a wider scale.</a:t>
            </a:r>
          </a:p>
        </p:txBody>
      </p:sp>
      <p:sp>
        <p:nvSpPr>
          <p:cNvPr id="7" name="Oval 6">
            <a:extLst>
              <a:ext uri="{FF2B5EF4-FFF2-40B4-BE49-F238E27FC236}">
                <a16:creationId xmlns:a16="http://schemas.microsoft.com/office/drawing/2014/main" xmlns="" id="{78175E2D-8995-4C29-A1A3-BE56B325DAB5}"/>
              </a:ext>
            </a:extLst>
          </p:cNvPr>
          <p:cNvSpPr/>
          <p:nvPr/>
        </p:nvSpPr>
        <p:spPr>
          <a:xfrm>
            <a:off x="5364088" y="2904846"/>
            <a:ext cx="2880320" cy="1048308"/>
          </a:xfrm>
          <a:prstGeom prst="ellipse">
            <a:avLst/>
          </a:prstGeom>
          <a:solidFill>
            <a:schemeClr val="accent6">
              <a:lumMod val="75000"/>
            </a:schemeClr>
          </a:solidFill>
          <a:ln>
            <a:solidFill>
              <a:schemeClr val="accent6">
                <a:lumMod val="7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GB" sz="2400" b="1" dirty="0">
                <a:solidFill>
                  <a:schemeClr val="bg1"/>
                </a:solidFill>
              </a:rPr>
              <a:t>Uses of nanoparticles</a:t>
            </a:r>
          </a:p>
        </p:txBody>
      </p:sp>
      <p:sp>
        <p:nvSpPr>
          <p:cNvPr id="10" name="TextBox 9">
            <a:extLst>
              <a:ext uri="{FF2B5EF4-FFF2-40B4-BE49-F238E27FC236}">
                <a16:creationId xmlns:a16="http://schemas.microsoft.com/office/drawing/2014/main" xmlns="" id="{2947F634-1DC0-4973-B468-7A1FA1123C54}"/>
              </a:ext>
            </a:extLst>
          </p:cNvPr>
          <p:cNvSpPr txBox="1"/>
          <p:nvPr/>
        </p:nvSpPr>
        <p:spPr>
          <a:xfrm>
            <a:off x="4724400" y="1424939"/>
            <a:ext cx="1275606" cy="369332"/>
          </a:xfrm>
          <a:prstGeom prst="rect">
            <a:avLst/>
          </a:prstGeom>
          <a:noFill/>
        </p:spPr>
        <p:txBody>
          <a:bodyPr wrap="none" rtlCol="0">
            <a:spAutoFit/>
          </a:bodyPr>
          <a:lstStyle/>
          <a:p>
            <a:r>
              <a:rPr lang="en-GB" b="1">
                <a:solidFill>
                  <a:schemeClr val="accent6">
                    <a:lumMod val="75000"/>
                  </a:schemeClr>
                </a:solidFill>
                <a:effectLst>
                  <a:outerShdw blurRad="38100" dist="38100" dir="2700000" algn="tl">
                    <a:srgbClr val="000000">
                      <a:alpha val="43137"/>
                    </a:srgbClr>
                  </a:outerShdw>
                </a:effectLst>
              </a:rPr>
              <a:t>Health care</a:t>
            </a:r>
            <a:endParaRPr lang="en-GB" b="1" dirty="0">
              <a:solidFill>
                <a:schemeClr val="accent6">
                  <a:lumMod val="75000"/>
                </a:schemeClr>
              </a:solidFill>
              <a:effectLst>
                <a:outerShdw blurRad="38100" dist="38100" dir="2700000" algn="tl">
                  <a:srgbClr val="000000">
                    <a:alpha val="43137"/>
                  </a:srgbClr>
                </a:outerShdw>
              </a:effectLst>
            </a:endParaRPr>
          </a:p>
        </p:txBody>
      </p:sp>
      <p:sp>
        <p:nvSpPr>
          <p:cNvPr id="11" name="Rectangle 10">
            <a:extLst>
              <a:ext uri="{FF2B5EF4-FFF2-40B4-BE49-F238E27FC236}">
                <a16:creationId xmlns:a16="http://schemas.microsoft.com/office/drawing/2014/main" xmlns="" id="{1A8D1A09-759D-41B9-AACC-C52CBECB3012}"/>
              </a:ext>
            </a:extLst>
          </p:cNvPr>
          <p:cNvSpPr/>
          <p:nvPr/>
        </p:nvSpPr>
        <p:spPr>
          <a:xfrm>
            <a:off x="6258143" y="2061829"/>
            <a:ext cx="978153" cy="369332"/>
          </a:xfrm>
          <a:prstGeom prst="rect">
            <a:avLst/>
          </a:prstGeom>
        </p:spPr>
        <p:txBody>
          <a:bodyPr wrap="none">
            <a:spAutoFit/>
          </a:bodyPr>
          <a:lstStyle/>
          <a:p>
            <a:r>
              <a:rPr lang="en-GB" b="1" dirty="0">
                <a:solidFill>
                  <a:schemeClr val="accent6">
                    <a:lumMod val="75000"/>
                  </a:schemeClr>
                </a:solidFill>
                <a:effectLst>
                  <a:outerShdw blurRad="38100" dist="38100" dir="2700000" algn="tl">
                    <a:srgbClr val="000000">
                      <a:alpha val="43137"/>
                    </a:srgbClr>
                  </a:outerShdw>
                </a:effectLst>
              </a:rPr>
              <a:t>Clothing</a:t>
            </a:r>
          </a:p>
        </p:txBody>
      </p:sp>
      <p:sp>
        <p:nvSpPr>
          <p:cNvPr id="12" name="Rectangle 11">
            <a:extLst>
              <a:ext uri="{FF2B5EF4-FFF2-40B4-BE49-F238E27FC236}">
                <a16:creationId xmlns:a16="http://schemas.microsoft.com/office/drawing/2014/main" xmlns="" id="{AB931A1B-4BF8-40C2-9244-F51C29FE4EAD}"/>
              </a:ext>
            </a:extLst>
          </p:cNvPr>
          <p:cNvSpPr/>
          <p:nvPr/>
        </p:nvSpPr>
        <p:spPr>
          <a:xfrm>
            <a:off x="4419600" y="2602905"/>
            <a:ext cx="1214179" cy="369332"/>
          </a:xfrm>
          <a:prstGeom prst="rect">
            <a:avLst/>
          </a:prstGeom>
        </p:spPr>
        <p:txBody>
          <a:bodyPr wrap="none">
            <a:spAutoFit/>
          </a:bodyPr>
          <a:lstStyle/>
          <a:p>
            <a:r>
              <a:rPr lang="en-GB" b="1" dirty="0">
                <a:solidFill>
                  <a:schemeClr val="accent6">
                    <a:lumMod val="75000"/>
                  </a:schemeClr>
                </a:solidFill>
                <a:effectLst>
                  <a:outerShdw blurRad="38100" dist="38100" dir="2700000" algn="tl">
                    <a:srgbClr val="000000">
                      <a:alpha val="43137"/>
                    </a:srgbClr>
                  </a:outerShdw>
                </a:effectLst>
              </a:rPr>
              <a:t>Electronics</a:t>
            </a:r>
          </a:p>
        </p:txBody>
      </p:sp>
      <p:sp>
        <p:nvSpPr>
          <p:cNvPr id="13" name="Rectangle 12">
            <a:extLst>
              <a:ext uri="{FF2B5EF4-FFF2-40B4-BE49-F238E27FC236}">
                <a16:creationId xmlns:a16="http://schemas.microsoft.com/office/drawing/2014/main" xmlns="" id="{2D013212-CEA9-4664-9540-EE84D8812829}"/>
              </a:ext>
            </a:extLst>
          </p:cNvPr>
          <p:cNvSpPr/>
          <p:nvPr/>
        </p:nvSpPr>
        <p:spPr>
          <a:xfrm>
            <a:off x="4493634" y="5171875"/>
            <a:ext cx="1892954" cy="369332"/>
          </a:xfrm>
          <a:prstGeom prst="rect">
            <a:avLst/>
          </a:prstGeom>
        </p:spPr>
        <p:txBody>
          <a:bodyPr wrap="none">
            <a:spAutoFit/>
          </a:bodyPr>
          <a:lstStyle/>
          <a:p>
            <a:r>
              <a:rPr lang="en-GB" b="1" dirty="0">
                <a:solidFill>
                  <a:schemeClr val="accent6">
                    <a:lumMod val="75000"/>
                  </a:schemeClr>
                </a:solidFill>
                <a:effectLst>
                  <a:outerShdw blurRad="38100" dist="38100" dir="2700000" algn="tl">
                    <a:srgbClr val="000000">
                      <a:alpha val="43137"/>
                    </a:srgbClr>
                  </a:outerShdw>
                </a:effectLst>
              </a:rPr>
              <a:t>Sports equipment</a:t>
            </a:r>
          </a:p>
        </p:txBody>
      </p:sp>
      <p:sp>
        <p:nvSpPr>
          <p:cNvPr id="14" name="Rectangle 13">
            <a:extLst>
              <a:ext uri="{FF2B5EF4-FFF2-40B4-BE49-F238E27FC236}">
                <a16:creationId xmlns:a16="http://schemas.microsoft.com/office/drawing/2014/main" xmlns="" id="{CA42441C-777B-44DD-89A2-23011B4C9D2C}"/>
              </a:ext>
            </a:extLst>
          </p:cNvPr>
          <p:cNvSpPr/>
          <p:nvPr/>
        </p:nvSpPr>
        <p:spPr>
          <a:xfrm>
            <a:off x="7236296" y="1430650"/>
            <a:ext cx="1146468" cy="369332"/>
          </a:xfrm>
          <a:prstGeom prst="rect">
            <a:avLst/>
          </a:prstGeom>
        </p:spPr>
        <p:txBody>
          <a:bodyPr wrap="none">
            <a:spAutoFit/>
          </a:bodyPr>
          <a:lstStyle/>
          <a:p>
            <a:r>
              <a:rPr lang="en-GB" b="1" dirty="0">
                <a:solidFill>
                  <a:schemeClr val="accent6">
                    <a:lumMod val="75000"/>
                  </a:schemeClr>
                </a:solidFill>
                <a:effectLst>
                  <a:outerShdw blurRad="38100" dist="38100" dir="2700000" algn="tl">
                    <a:srgbClr val="000000">
                      <a:alpha val="43137"/>
                    </a:srgbClr>
                  </a:outerShdw>
                </a:effectLst>
              </a:rPr>
              <a:t>Cosmetics</a:t>
            </a:r>
          </a:p>
        </p:txBody>
      </p:sp>
      <p:sp>
        <p:nvSpPr>
          <p:cNvPr id="15" name="Rectangle 14">
            <a:extLst>
              <a:ext uri="{FF2B5EF4-FFF2-40B4-BE49-F238E27FC236}">
                <a16:creationId xmlns:a16="http://schemas.microsoft.com/office/drawing/2014/main" xmlns="" id="{F1F843F9-705D-4A56-96A8-BE4BD35989D7}"/>
              </a:ext>
            </a:extLst>
          </p:cNvPr>
          <p:cNvSpPr/>
          <p:nvPr/>
        </p:nvSpPr>
        <p:spPr>
          <a:xfrm>
            <a:off x="7850223" y="2569210"/>
            <a:ext cx="1033873" cy="369332"/>
          </a:xfrm>
          <a:prstGeom prst="rect">
            <a:avLst/>
          </a:prstGeom>
        </p:spPr>
        <p:txBody>
          <a:bodyPr wrap="none">
            <a:spAutoFit/>
          </a:bodyPr>
          <a:lstStyle/>
          <a:p>
            <a:r>
              <a:rPr lang="en-GB" b="1" dirty="0">
                <a:solidFill>
                  <a:schemeClr val="accent6">
                    <a:lumMod val="75000"/>
                  </a:schemeClr>
                </a:solidFill>
                <a:effectLst>
                  <a:outerShdw blurRad="38100" dist="38100" dir="2700000" algn="tl">
                    <a:srgbClr val="000000">
                      <a:alpha val="43137"/>
                    </a:srgbClr>
                  </a:outerShdw>
                </a:effectLst>
              </a:rPr>
              <a:t>Catalysts</a:t>
            </a:r>
          </a:p>
        </p:txBody>
      </p:sp>
      <p:sp>
        <p:nvSpPr>
          <p:cNvPr id="16" name="Rectangle 15">
            <a:extLst>
              <a:ext uri="{FF2B5EF4-FFF2-40B4-BE49-F238E27FC236}">
                <a16:creationId xmlns:a16="http://schemas.microsoft.com/office/drawing/2014/main" xmlns="" id="{738AC556-0534-43D1-9915-C88AB9D6E3E2}"/>
              </a:ext>
            </a:extLst>
          </p:cNvPr>
          <p:cNvSpPr/>
          <p:nvPr/>
        </p:nvSpPr>
        <p:spPr>
          <a:xfrm>
            <a:off x="6300570" y="4716148"/>
            <a:ext cx="1241302" cy="369332"/>
          </a:xfrm>
          <a:prstGeom prst="rect">
            <a:avLst/>
          </a:prstGeom>
        </p:spPr>
        <p:txBody>
          <a:bodyPr wrap="none">
            <a:spAutoFit/>
          </a:bodyPr>
          <a:lstStyle/>
          <a:p>
            <a:r>
              <a:rPr lang="en-GB" b="1" dirty="0">
                <a:solidFill>
                  <a:schemeClr val="accent6">
                    <a:lumMod val="75000"/>
                  </a:schemeClr>
                </a:solidFill>
                <a:effectLst>
                  <a:outerShdw blurRad="38100" dist="38100" dir="2700000" algn="tl">
                    <a:srgbClr val="000000">
                      <a:alpha val="43137"/>
                    </a:srgbClr>
                  </a:outerShdw>
                </a:effectLst>
              </a:rPr>
              <a:t>Biomedical</a:t>
            </a:r>
          </a:p>
        </p:txBody>
      </p:sp>
      <p:sp>
        <p:nvSpPr>
          <p:cNvPr id="17" name="Rectangle 16">
            <a:extLst>
              <a:ext uri="{FF2B5EF4-FFF2-40B4-BE49-F238E27FC236}">
                <a16:creationId xmlns:a16="http://schemas.microsoft.com/office/drawing/2014/main" xmlns="" id="{497130B3-1F40-434B-B4AD-AB23A001533C}"/>
              </a:ext>
            </a:extLst>
          </p:cNvPr>
          <p:cNvSpPr/>
          <p:nvPr/>
        </p:nvSpPr>
        <p:spPr>
          <a:xfrm>
            <a:off x="8012038" y="4193182"/>
            <a:ext cx="766364" cy="369332"/>
          </a:xfrm>
          <a:prstGeom prst="rect">
            <a:avLst/>
          </a:prstGeom>
        </p:spPr>
        <p:txBody>
          <a:bodyPr wrap="none">
            <a:spAutoFit/>
          </a:bodyPr>
          <a:lstStyle/>
          <a:p>
            <a:r>
              <a:rPr lang="en-GB" b="1" dirty="0">
                <a:solidFill>
                  <a:schemeClr val="accent6">
                    <a:lumMod val="75000"/>
                  </a:schemeClr>
                </a:solidFill>
                <a:effectLst>
                  <a:outerShdw blurRad="38100" dist="38100" dir="2700000" algn="tl">
                    <a:srgbClr val="000000">
                      <a:alpha val="43137"/>
                    </a:srgbClr>
                  </a:outerShdw>
                </a:effectLst>
              </a:rPr>
              <a:t>Paints</a:t>
            </a:r>
          </a:p>
        </p:txBody>
      </p:sp>
      <p:sp>
        <p:nvSpPr>
          <p:cNvPr id="18" name="Rectangle 17">
            <a:extLst>
              <a:ext uri="{FF2B5EF4-FFF2-40B4-BE49-F238E27FC236}">
                <a16:creationId xmlns:a16="http://schemas.microsoft.com/office/drawing/2014/main" xmlns="" id="{1F08CD4F-2F0A-4C93-B12B-28069E123455}"/>
              </a:ext>
            </a:extLst>
          </p:cNvPr>
          <p:cNvSpPr/>
          <p:nvPr/>
        </p:nvSpPr>
        <p:spPr>
          <a:xfrm>
            <a:off x="4784443" y="3953154"/>
            <a:ext cx="657937" cy="369332"/>
          </a:xfrm>
          <a:prstGeom prst="rect">
            <a:avLst/>
          </a:prstGeom>
        </p:spPr>
        <p:txBody>
          <a:bodyPr wrap="none">
            <a:spAutoFit/>
          </a:bodyPr>
          <a:lstStyle/>
          <a:p>
            <a:r>
              <a:rPr lang="en-GB" b="1" dirty="0">
                <a:solidFill>
                  <a:schemeClr val="accent6">
                    <a:lumMod val="75000"/>
                  </a:schemeClr>
                </a:solidFill>
                <a:effectLst>
                  <a:outerShdw blurRad="38100" dist="38100" dir="2700000" algn="tl">
                    <a:srgbClr val="000000">
                      <a:alpha val="43137"/>
                    </a:srgbClr>
                  </a:outerShdw>
                </a:effectLst>
              </a:rPr>
              <a:t>Food</a:t>
            </a:r>
          </a:p>
        </p:txBody>
      </p:sp>
      <p:sp>
        <p:nvSpPr>
          <p:cNvPr id="19" name="Rectangle 18">
            <a:extLst>
              <a:ext uri="{FF2B5EF4-FFF2-40B4-BE49-F238E27FC236}">
                <a16:creationId xmlns:a16="http://schemas.microsoft.com/office/drawing/2014/main" xmlns="" id="{ADD54A8B-0803-4E38-96EB-968F43C01834}"/>
              </a:ext>
            </a:extLst>
          </p:cNvPr>
          <p:cNvSpPr/>
          <p:nvPr/>
        </p:nvSpPr>
        <p:spPr>
          <a:xfrm>
            <a:off x="7715847" y="5248935"/>
            <a:ext cx="1092607" cy="369332"/>
          </a:xfrm>
          <a:prstGeom prst="rect">
            <a:avLst/>
          </a:prstGeom>
        </p:spPr>
        <p:txBody>
          <a:bodyPr wrap="none">
            <a:spAutoFit/>
          </a:bodyPr>
          <a:lstStyle/>
          <a:p>
            <a:r>
              <a:rPr lang="en-GB" b="1" dirty="0">
                <a:solidFill>
                  <a:schemeClr val="accent6">
                    <a:lumMod val="75000"/>
                  </a:schemeClr>
                </a:solidFill>
                <a:effectLst>
                  <a:outerShdw blurRad="38100" dist="38100" dir="2700000" algn="tl">
                    <a:srgbClr val="000000">
                      <a:alpha val="43137"/>
                    </a:srgbClr>
                  </a:outerShdw>
                </a:effectLst>
              </a:rPr>
              <a:t>Industrial</a:t>
            </a:r>
          </a:p>
        </p:txBody>
      </p:sp>
      <p:cxnSp>
        <p:nvCxnSpPr>
          <p:cNvPr id="21" name="Straight Connector 20">
            <a:extLst>
              <a:ext uri="{FF2B5EF4-FFF2-40B4-BE49-F238E27FC236}">
                <a16:creationId xmlns:a16="http://schemas.microsoft.com/office/drawing/2014/main" xmlns="" id="{D792C556-132B-468D-B1BD-3E1B8C9B2C35}"/>
              </a:ext>
            </a:extLst>
          </p:cNvPr>
          <p:cNvCxnSpPr>
            <a:endCxn id="14" idx="2"/>
          </p:cNvCxnSpPr>
          <p:nvPr/>
        </p:nvCxnSpPr>
        <p:spPr>
          <a:xfrm flipV="1">
            <a:off x="7380312" y="1799982"/>
            <a:ext cx="429218" cy="987589"/>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xmlns="" id="{46CC0105-A58E-432F-AED2-256256A50A6D}"/>
              </a:ext>
            </a:extLst>
          </p:cNvPr>
          <p:cNvCxnSpPr>
            <a:cxnSpLocks/>
          </p:cNvCxnSpPr>
          <p:nvPr/>
        </p:nvCxnSpPr>
        <p:spPr>
          <a:xfrm flipH="1" flipV="1">
            <a:off x="5674472" y="1826013"/>
            <a:ext cx="550104" cy="911015"/>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xmlns="" id="{6597F9E5-1E62-4FCB-9B6E-8487D118E87F}"/>
              </a:ext>
            </a:extLst>
          </p:cNvPr>
          <p:cNvCxnSpPr>
            <a:stCxn id="12" idx="2"/>
          </p:cNvCxnSpPr>
          <p:nvPr/>
        </p:nvCxnSpPr>
        <p:spPr>
          <a:xfrm>
            <a:off x="5026690" y="2972237"/>
            <a:ext cx="329841" cy="111151"/>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28ACD3CE-C9B8-45D4-9270-F8E608521030}"/>
              </a:ext>
            </a:extLst>
          </p:cNvPr>
          <p:cNvCxnSpPr/>
          <p:nvPr/>
        </p:nvCxnSpPr>
        <p:spPr>
          <a:xfrm flipV="1">
            <a:off x="8244408" y="2972237"/>
            <a:ext cx="360040" cy="17280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xmlns="" id="{3F940A41-6BC6-4D98-9561-A80666A49714}"/>
              </a:ext>
            </a:extLst>
          </p:cNvPr>
          <p:cNvCxnSpPr>
            <a:stCxn id="11" idx="2"/>
          </p:cNvCxnSpPr>
          <p:nvPr/>
        </p:nvCxnSpPr>
        <p:spPr>
          <a:xfrm>
            <a:off x="6747220" y="2431161"/>
            <a:ext cx="11853" cy="171744"/>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xmlns="" id="{3370CF2B-857A-4CAD-8EDA-1672FD8FBF9F}"/>
              </a:ext>
            </a:extLst>
          </p:cNvPr>
          <p:cNvCxnSpPr>
            <a:cxnSpLocks/>
          </p:cNvCxnSpPr>
          <p:nvPr/>
        </p:nvCxnSpPr>
        <p:spPr>
          <a:xfrm>
            <a:off x="6876256" y="4087938"/>
            <a:ext cx="0" cy="545541"/>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xmlns="" id="{8753F184-95EE-45AE-BA24-38C6CB53779A}"/>
              </a:ext>
            </a:extLst>
          </p:cNvPr>
          <p:cNvCxnSpPr>
            <a:cxnSpLocks/>
          </p:cNvCxnSpPr>
          <p:nvPr/>
        </p:nvCxnSpPr>
        <p:spPr>
          <a:xfrm flipH="1">
            <a:off x="5351887" y="3824853"/>
            <a:ext cx="196100" cy="152400"/>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xmlns="" id="{834F8BC7-A848-4588-AB47-1167A06368CC}"/>
              </a:ext>
            </a:extLst>
          </p:cNvPr>
          <p:cNvCxnSpPr>
            <a:cxnSpLocks/>
          </p:cNvCxnSpPr>
          <p:nvPr/>
        </p:nvCxnSpPr>
        <p:spPr>
          <a:xfrm>
            <a:off x="7955866" y="3880301"/>
            <a:ext cx="282372" cy="263662"/>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xmlns="" id="{214CAA68-76E7-4E27-8753-FE946558819A}"/>
              </a:ext>
            </a:extLst>
          </p:cNvPr>
          <p:cNvCxnSpPr/>
          <p:nvPr/>
        </p:nvCxnSpPr>
        <p:spPr>
          <a:xfrm flipH="1">
            <a:off x="5611520" y="4043406"/>
            <a:ext cx="646623" cy="110728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xmlns="" id="{C2888239-A0C5-43EC-89A8-E45F80F298BE}"/>
              </a:ext>
            </a:extLst>
          </p:cNvPr>
          <p:cNvCxnSpPr/>
          <p:nvPr/>
        </p:nvCxnSpPr>
        <p:spPr>
          <a:xfrm>
            <a:off x="7594921" y="4070429"/>
            <a:ext cx="417117" cy="1101446"/>
          </a:xfrm>
          <a:prstGeom prst="line">
            <a:avLst/>
          </a:prstGeom>
          <a:ln>
            <a:solidFill>
              <a:schemeClr val="accent6">
                <a:lumMod val="75000"/>
              </a:schemeClr>
            </a:solidFill>
          </a:ln>
        </p:spPr>
        <p:style>
          <a:lnRef idx="2">
            <a:schemeClr val="accent1"/>
          </a:lnRef>
          <a:fillRef idx="0">
            <a:schemeClr val="accent1"/>
          </a:fillRef>
          <a:effectRef idx="1">
            <a:schemeClr val="accent1"/>
          </a:effectRef>
          <a:fontRef idx="minor">
            <a:schemeClr val="tx1"/>
          </a:fontRef>
        </p:style>
      </p:cxnSp>
      <p:sp>
        <p:nvSpPr>
          <p:cNvPr id="43" name="Title 1">
            <a:extLst>
              <a:ext uri="{FF2B5EF4-FFF2-40B4-BE49-F238E27FC236}">
                <a16:creationId xmlns:a16="http://schemas.microsoft.com/office/drawing/2014/main" xmlns="" id="{14A830FE-A9EB-49BA-9640-D990C8484EDA}"/>
              </a:ext>
            </a:extLst>
          </p:cNvPr>
          <p:cNvSpPr txBox="1">
            <a:spLocks/>
          </p:cNvSpPr>
          <p:nvPr/>
        </p:nvSpPr>
        <p:spPr>
          <a:xfrm>
            <a:off x="0" y="35655"/>
            <a:ext cx="9144000" cy="89456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defTabSz="342900" rtl="0">
              <a:spcBef>
                <a:spcPct val="20000"/>
              </a:spcBef>
              <a:defRPr/>
            </a:pPr>
            <a:r>
              <a:rPr lang="en-US" sz="2400" b="1" kern="0" dirty="0">
                <a:solidFill>
                  <a:schemeClr val="accent6"/>
                </a:solidFill>
              </a:rPr>
              <a:t>Covalent bonding - PART 3</a:t>
            </a:r>
            <a:br>
              <a:rPr lang="en-US" sz="2400" b="1" kern="0" dirty="0">
                <a:solidFill>
                  <a:schemeClr val="accent6"/>
                </a:solidFill>
              </a:rPr>
            </a:br>
            <a:r>
              <a:rPr lang="en-US" sz="2400" b="1" kern="0" dirty="0">
                <a:solidFill>
                  <a:schemeClr val="accent6"/>
                </a:solidFill>
              </a:rPr>
              <a:t>CHEMISTRY ONLY</a:t>
            </a:r>
            <a:endParaRPr lang="en-GB" sz="2400" b="1" kern="0" dirty="0">
              <a:solidFill>
                <a:schemeClr val="accent6"/>
              </a:solidFill>
            </a:endParaRPr>
          </a:p>
        </p:txBody>
      </p:sp>
      <p:sp>
        <p:nvSpPr>
          <p:cNvPr id="2" name="TextBox 1">
            <a:extLst>
              <a:ext uri="{FF2B5EF4-FFF2-40B4-BE49-F238E27FC236}">
                <a16:creationId xmlns:a16="http://schemas.microsoft.com/office/drawing/2014/main" xmlns="" id="{7B56DB2D-5CFE-4016-A7CE-BC15A6F98778}"/>
              </a:ext>
            </a:extLst>
          </p:cNvPr>
          <p:cNvSpPr txBox="1"/>
          <p:nvPr/>
        </p:nvSpPr>
        <p:spPr>
          <a:xfrm>
            <a:off x="5026689" y="5949263"/>
            <a:ext cx="3558795" cy="369332"/>
          </a:xfrm>
          <a:prstGeom prst="rect">
            <a:avLst/>
          </a:prstGeom>
          <a:solidFill>
            <a:schemeClr val="accent6">
              <a:lumMod val="60000"/>
              <a:lumOff val="40000"/>
            </a:schemeClr>
          </a:solidFill>
          <a:ln>
            <a:solidFill>
              <a:schemeClr val="accent6">
                <a:lumMod val="50000"/>
              </a:schemeClr>
            </a:solidFill>
          </a:ln>
        </p:spPr>
        <p:txBody>
          <a:bodyPr wrap="none" rtlCol="0">
            <a:spAutoFit/>
          </a:bodyPr>
          <a:lstStyle/>
          <a:p>
            <a:pPr algn="ctr"/>
            <a:r>
              <a:rPr lang="en-GB" dirty="0"/>
              <a:t>Learn three examples for your exam</a:t>
            </a:r>
          </a:p>
        </p:txBody>
      </p:sp>
    </p:spTree>
    <p:extLst>
      <p:ext uri="{BB962C8B-B14F-4D97-AF65-F5344CB8AC3E}">
        <p14:creationId xmlns:p14="http://schemas.microsoft.com/office/powerpoint/2010/main" val="218369093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5004048" cy="4955203"/>
          </a:xfrm>
          <a:prstGeom prst="rect">
            <a:avLst/>
          </a:prstGeom>
          <a:noFill/>
        </p:spPr>
        <p:txBody>
          <a:bodyPr wrap="square" rtlCol="0">
            <a:spAutoFit/>
          </a:bodyPr>
          <a:lstStyle/>
          <a:p>
            <a:r>
              <a:rPr lang="en-GB" sz="7200" b="1" dirty="0" err="1">
                <a:latin typeface="+mj-lt"/>
                <a:ea typeface="Beirut" charset="-78"/>
                <a:cs typeface="Beirut" charset="-78"/>
              </a:rPr>
              <a:t>QuestionIT</a:t>
            </a:r>
            <a:r>
              <a:rPr lang="en-GB" sz="7200" b="1" dirty="0">
                <a:latin typeface="+mj-lt"/>
                <a:ea typeface="Beirut" charset="-78"/>
                <a:cs typeface="Beirut" charset="-78"/>
              </a:rPr>
              <a:t>!</a:t>
            </a:r>
          </a:p>
          <a:p>
            <a:endParaRPr lang="en-GB" dirty="0"/>
          </a:p>
          <a:p>
            <a:endParaRPr lang="en-GB" dirty="0"/>
          </a:p>
          <a:p>
            <a:endParaRPr lang="en-GB" dirty="0"/>
          </a:p>
          <a:p>
            <a:r>
              <a:rPr lang="en-GB" sz="3600" b="1" dirty="0">
                <a:solidFill>
                  <a:schemeClr val="tx1">
                    <a:lumMod val="50000"/>
                    <a:lumOff val="50000"/>
                  </a:schemeClr>
                </a:solidFill>
              </a:rPr>
              <a:t>Nanoparticles (Chemistry ONLY)</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Sizes of particles and their properties</a:t>
            </a:r>
          </a:p>
          <a:p>
            <a:pPr marL="685800" lvl="1" indent="-342900">
              <a:buFont typeface="Arial" charset="0"/>
              <a:buChar char="•"/>
            </a:pPr>
            <a:r>
              <a:rPr lang="en-US" sz="2400" b="1" dirty="0">
                <a:solidFill>
                  <a:schemeClr val="bg1">
                    <a:lumMod val="50000"/>
                  </a:schemeClr>
                </a:solidFill>
              </a:rPr>
              <a:t>Uses of nanoparticles</a:t>
            </a:r>
            <a:endParaRPr lang="en-GB" dirty="0"/>
          </a:p>
          <a:p>
            <a:endParaRPr lang="en-GB" dirty="0"/>
          </a:p>
        </p:txBody>
      </p:sp>
      <p:pic>
        <p:nvPicPr>
          <p:cNvPr id="2" name="Picture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30192" y="697757"/>
            <a:ext cx="4913808" cy="5805264"/>
          </a:xfrm>
          <a:prstGeom prst="rect">
            <a:avLst/>
          </a:prstGeom>
        </p:spPr>
      </p:pic>
    </p:spTree>
    <p:extLst>
      <p:ext uri="{BB962C8B-B14F-4D97-AF65-F5344CB8AC3E}">
        <p14:creationId xmlns:p14="http://schemas.microsoft.com/office/powerpoint/2010/main" val="93665642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Nanoparticles </a:t>
            </a:r>
            <a:r>
              <a:rPr lang="en-US" sz="2000" b="1" dirty="0">
                <a:solidFill>
                  <a:schemeClr val="accent6"/>
                </a:solidFill>
              </a:rPr>
              <a:t>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001369"/>
          </a:xfrm>
          <a:prstGeom prst="rect">
            <a:avLst/>
          </a:prstGeom>
          <a:noFill/>
        </p:spPr>
        <p:txBody>
          <a:bodyPr wrap="square" rtlCol="0">
            <a:spAutoFit/>
          </a:bodyPr>
          <a:lstStyle/>
          <a:p>
            <a:pPr marL="457200" indent="-457200">
              <a:buAutoNum type="arabicPeriod"/>
            </a:pPr>
            <a:r>
              <a:rPr lang="en-GB" sz="2400" dirty="0" smtClean="0"/>
              <a:t>What does nanoscience refer to?</a:t>
            </a:r>
          </a:p>
          <a:p>
            <a:pPr marL="457200" indent="-457200">
              <a:buAutoNum type="arabicPeriod"/>
            </a:pPr>
            <a:endParaRPr lang="en-GB" sz="2400" dirty="0" smtClean="0"/>
          </a:p>
          <a:p>
            <a:pPr marL="457200" indent="-457200">
              <a:buAutoNum type="arabicPeriod"/>
            </a:pPr>
            <a:r>
              <a:rPr lang="en-GB" sz="2400" dirty="0" smtClean="0"/>
              <a:t>What are nanoparticles?</a:t>
            </a:r>
          </a:p>
          <a:p>
            <a:pPr marL="457200" indent="-457200">
              <a:buAutoNum type="arabicPeriod"/>
            </a:pPr>
            <a:endParaRPr lang="en-GB" sz="2400" dirty="0" smtClean="0"/>
          </a:p>
          <a:p>
            <a:pPr marL="457200" indent="-457200">
              <a:buAutoNum type="arabicPeriod"/>
            </a:pPr>
            <a:r>
              <a:rPr lang="en-GB" sz="2400" dirty="0" smtClean="0"/>
              <a:t>What are coarse particles?</a:t>
            </a:r>
          </a:p>
          <a:p>
            <a:pPr marL="457200" indent="-457200">
              <a:buAutoNum type="arabicPeriod"/>
            </a:pPr>
            <a:endParaRPr lang="en-GB" sz="2400" dirty="0" smtClean="0"/>
          </a:p>
          <a:p>
            <a:pPr marL="457200" indent="-457200">
              <a:buAutoNum type="arabicPeriod"/>
            </a:pPr>
            <a:r>
              <a:rPr lang="en-GB" sz="2400" dirty="0" smtClean="0"/>
              <a:t>Why do nanoparticles have different properties from those for the same materials in bulk?</a:t>
            </a:r>
          </a:p>
          <a:p>
            <a:pPr marL="457200" indent="-457200">
              <a:buAutoNum type="arabicPeriod"/>
            </a:pPr>
            <a:endParaRPr lang="en-GB" sz="2400" dirty="0" smtClean="0"/>
          </a:p>
          <a:p>
            <a:pPr marL="457200" indent="-457200">
              <a:buAutoNum type="arabicPeriod"/>
            </a:pPr>
            <a:r>
              <a:rPr lang="en-GB" sz="2400" dirty="0" smtClean="0"/>
              <a:t>Name 5 uses of nanoparticles.</a:t>
            </a:r>
            <a:endParaRPr lang="en-GB" sz="2400" dirty="0"/>
          </a:p>
          <a:p>
            <a:pPr>
              <a:lnSpc>
                <a:spcPct val="150000"/>
              </a:lnSpc>
            </a:pPr>
            <a:r>
              <a:rPr lang="en-GB" sz="2400" dirty="0"/>
              <a:t>	</a:t>
            </a:r>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119039870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955203"/>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GB" sz="3600" b="1" dirty="0">
                <a:solidFill>
                  <a:schemeClr val="tx1">
                    <a:lumMod val="50000"/>
                    <a:lumOff val="50000"/>
                  </a:schemeClr>
                </a:solidFill>
              </a:rPr>
              <a:t>Nanoparticles (Chemistry ONLY)</a:t>
            </a:r>
          </a:p>
          <a:p>
            <a:endParaRPr lang="en-GB" sz="2800" dirty="0">
              <a:solidFill>
                <a:schemeClr val="tx1">
                  <a:lumMod val="50000"/>
                  <a:lumOff val="50000"/>
                </a:schemeClr>
              </a:solidFill>
            </a:endParaRPr>
          </a:p>
          <a:p>
            <a:pPr marL="685800" lvl="1" indent="-342900">
              <a:buFont typeface="Arial" charset="0"/>
              <a:buChar char="•"/>
            </a:pPr>
            <a:r>
              <a:rPr lang="en-US" sz="2400" b="1" dirty="0">
                <a:solidFill>
                  <a:schemeClr val="bg1">
                    <a:lumMod val="50000"/>
                  </a:schemeClr>
                </a:solidFill>
              </a:rPr>
              <a:t>Sizes of particles and their properties</a:t>
            </a:r>
          </a:p>
          <a:p>
            <a:pPr marL="685800" lvl="1" indent="-342900">
              <a:buFont typeface="Arial" charset="0"/>
              <a:buChar char="•"/>
            </a:pPr>
            <a:r>
              <a:rPr lang="en-US" sz="2400" b="1" dirty="0">
                <a:solidFill>
                  <a:schemeClr val="bg1">
                    <a:lumMod val="50000"/>
                  </a:schemeClr>
                </a:solidFill>
              </a:rPr>
              <a:t>Uses of nanoparticles</a:t>
            </a:r>
            <a:endParaRPr lang="en-GB" dirty="0"/>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660684899"/>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sz="2000" b="1" dirty="0" smtClean="0">
                <a:solidFill>
                  <a:schemeClr val="accent6"/>
                </a:solidFill>
              </a:rPr>
              <a:t>Nanoparticles </a:t>
            </a:r>
            <a:r>
              <a:rPr lang="en-US" sz="2000" b="1" dirty="0">
                <a:solidFill>
                  <a:schemeClr val="accent6"/>
                </a:solidFill>
              </a:rPr>
              <a:t>CHEMISTRY ONLY – </a:t>
            </a:r>
            <a:r>
              <a:rPr kumimoji="0" lang="en-US" sz="2000" b="1" i="0" u="none" strike="noStrike" kern="1200" cap="none" spc="0" normalizeH="0" baseline="0" noProof="0" dirty="0" err="1">
                <a:ln>
                  <a:noFill/>
                </a:ln>
                <a:solidFill>
                  <a:schemeClr val="tx1"/>
                </a:solidFill>
                <a:effectLst/>
                <a:uLnTx/>
                <a:uFillTx/>
                <a:latin typeface="Calibri"/>
                <a:ea typeface=""/>
                <a:cs typeface="News Gothic MT"/>
              </a:rPr>
              <a:t>QuestionIT</a:t>
            </a:r>
            <a:endParaRPr kumimoji="0" lang="en-US" sz="20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555367"/>
          </a:xfrm>
          <a:prstGeom prst="rect">
            <a:avLst/>
          </a:prstGeom>
          <a:noFill/>
        </p:spPr>
        <p:txBody>
          <a:bodyPr wrap="square" rtlCol="0">
            <a:spAutoFit/>
          </a:bodyPr>
          <a:lstStyle/>
          <a:p>
            <a:pPr marL="457200" indent="-457200">
              <a:buAutoNum type="arabicPeriod"/>
            </a:pPr>
            <a:r>
              <a:rPr lang="en-GB" sz="2400" dirty="0" smtClean="0"/>
              <a:t>What does nanoscience refer to?</a:t>
            </a:r>
          </a:p>
          <a:p>
            <a:pPr lvl="1"/>
            <a:r>
              <a:rPr lang="en-GB" sz="2400" b="1" dirty="0" smtClean="0">
                <a:solidFill>
                  <a:srgbClr val="00B050"/>
                </a:solidFill>
              </a:rPr>
              <a:t>Structures that are 1-100nm in size, a few hundred atoms.</a:t>
            </a:r>
            <a:endParaRPr lang="en-GB" sz="2400" dirty="0" smtClean="0"/>
          </a:p>
          <a:p>
            <a:pPr marL="457200" indent="-457200">
              <a:buAutoNum type="arabicPeriod"/>
            </a:pPr>
            <a:r>
              <a:rPr lang="en-GB" sz="2400" dirty="0" smtClean="0"/>
              <a:t>What are nanoparticles?</a:t>
            </a:r>
          </a:p>
          <a:p>
            <a:pPr lvl="1"/>
            <a:r>
              <a:rPr lang="en-GB" sz="2400" b="1" dirty="0" smtClean="0">
                <a:solidFill>
                  <a:srgbClr val="00B050"/>
                </a:solidFill>
              </a:rPr>
              <a:t>Smaller than fine particles.</a:t>
            </a:r>
            <a:endParaRPr lang="en-GB" sz="2400" dirty="0" smtClean="0"/>
          </a:p>
          <a:p>
            <a:pPr marL="457200" indent="-457200">
              <a:buAutoNum type="arabicPeriod"/>
            </a:pPr>
            <a:r>
              <a:rPr lang="en-GB" sz="2400" dirty="0" smtClean="0"/>
              <a:t>What are coarse particles?</a:t>
            </a:r>
          </a:p>
          <a:p>
            <a:pPr lvl="1"/>
            <a:r>
              <a:rPr lang="en-GB" sz="2400" b="1" dirty="0" smtClean="0">
                <a:solidFill>
                  <a:srgbClr val="00B050"/>
                </a:solidFill>
              </a:rPr>
              <a:t>Diameters between 1 x 10</a:t>
            </a:r>
            <a:r>
              <a:rPr lang="en-GB" sz="2400" b="1" baseline="30000" dirty="0" smtClean="0">
                <a:solidFill>
                  <a:srgbClr val="00B050"/>
                </a:solidFill>
              </a:rPr>
              <a:t>-5</a:t>
            </a:r>
            <a:r>
              <a:rPr lang="en-GB" sz="2400" b="1" dirty="0" smtClean="0">
                <a:solidFill>
                  <a:srgbClr val="00B050"/>
                </a:solidFill>
              </a:rPr>
              <a:t>m and 2.5 x10</a:t>
            </a:r>
            <a:r>
              <a:rPr lang="en-GB" sz="2400" b="1" baseline="30000" dirty="0" smtClean="0">
                <a:solidFill>
                  <a:srgbClr val="00B050"/>
                </a:solidFill>
              </a:rPr>
              <a:t>-6</a:t>
            </a:r>
            <a:r>
              <a:rPr lang="en-GB" sz="2400" b="1" dirty="0" smtClean="0">
                <a:solidFill>
                  <a:srgbClr val="00B050"/>
                </a:solidFill>
              </a:rPr>
              <a:t>m</a:t>
            </a:r>
            <a:endParaRPr lang="en-GB" sz="2400" dirty="0" smtClean="0"/>
          </a:p>
          <a:p>
            <a:pPr marL="457200" indent="-457200">
              <a:buAutoNum type="arabicPeriod"/>
            </a:pPr>
            <a:r>
              <a:rPr lang="en-GB" sz="2400" dirty="0" smtClean="0"/>
              <a:t>Why do nanoparticles have different properties from those for the same materials in bulk?</a:t>
            </a:r>
          </a:p>
          <a:p>
            <a:pPr lvl="1"/>
            <a:r>
              <a:rPr lang="en-GB" sz="2400" b="1" dirty="0" smtClean="0">
                <a:solidFill>
                  <a:srgbClr val="00B050"/>
                </a:solidFill>
              </a:rPr>
              <a:t>They have a high surface area to volume ratio. Smaller quantities are needed to be effective. </a:t>
            </a:r>
            <a:endParaRPr lang="en-GB" sz="2400" dirty="0" smtClean="0"/>
          </a:p>
          <a:p>
            <a:pPr marL="457200" indent="-457200">
              <a:buAutoNum type="arabicPeriod"/>
            </a:pPr>
            <a:r>
              <a:rPr lang="en-GB" sz="2400" dirty="0" smtClean="0"/>
              <a:t>Name 5 uses of nanoparticles.</a:t>
            </a:r>
            <a:endParaRPr lang="en-GB" sz="2400" dirty="0"/>
          </a:p>
          <a:p>
            <a:pPr lvl="1"/>
            <a:r>
              <a:rPr lang="en-GB" sz="2400" b="1" dirty="0" smtClean="0">
                <a:solidFill>
                  <a:srgbClr val="00B050"/>
                </a:solidFill>
              </a:rPr>
              <a:t>Medicine, electronics, cosmetics, sunscreens, deodorants, catalysts.</a:t>
            </a:r>
            <a:endParaRPr lang="en-GB" sz="2400" dirty="0"/>
          </a:p>
          <a:p>
            <a:pPr>
              <a:lnSpc>
                <a:spcPct val="150000"/>
              </a:lnSpc>
            </a:pPr>
            <a:endParaRPr lang="en-GB" dirty="0"/>
          </a:p>
          <a:p>
            <a:pPr marL="342900" indent="-342900">
              <a:buFont typeface="+mj-lt"/>
              <a:buAutoNum type="arabicPeriod"/>
            </a:pPr>
            <a:endParaRPr lang="en-GB" sz="1600" dirty="0"/>
          </a:p>
        </p:txBody>
      </p:sp>
    </p:spTree>
    <p:extLst>
      <p:ext uri="{BB962C8B-B14F-4D97-AF65-F5344CB8AC3E}">
        <p14:creationId xmlns:p14="http://schemas.microsoft.com/office/powerpoint/2010/main" val="2436224521"/>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28729</TotalTime>
  <Words>7193</Words>
  <Application>Microsoft Macintosh PowerPoint</Application>
  <PresentationFormat>On-screen Show (4:3)</PresentationFormat>
  <Paragraphs>964</Paragraphs>
  <Slides>76</Slides>
  <Notes>51</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76</vt:i4>
      </vt:variant>
    </vt:vector>
  </HeadingPairs>
  <TitlesOfParts>
    <vt:vector size="88" baseType="lpstr">
      <vt:lpstr>Beirut</vt:lpstr>
      <vt:lpstr>Calibri</vt:lpstr>
      <vt:lpstr>Calibri Light</vt:lpstr>
      <vt:lpstr>Gill Sans</vt:lpstr>
      <vt:lpstr>Lato Medium</vt:lpstr>
      <vt:lpstr>News Gothic MT</vt:lpstr>
      <vt:lpstr>Times New Roman</vt:lpstr>
      <vt:lpstr>Wingdings</vt:lpstr>
      <vt:lpstr>Arial</vt:lpstr>
      <vt:lpstr>1_Office Theme</vt:lpstr>
      <vt:lpstr>Custom Design</vt:lpstr>
      <vt:lpstr>PIXL Sci</vt:lpstr>
      <vt:lpstr>PowerPoint Presentation</vt:lpstr>
      <vt:lpstr>Overview   Bonding, Structure and the properties of matter</vt:lpstr>
      <vt:lpstr>PowerPoint Presentation</vt:lpstr>
      <vt:lpstr>Chemical bonds</vt:lpstr>
      <vt:lpstr>Ionic bonding</vt:lpstr>
      <vt:lpstr>Ionic bonding</vt:lpstr>
      <vt:lpstr>Ionic bonding</vt:lpstr>
      <vt:lpstr>PowerPoint Presentation</vt:lpstr>
      <vt:lpstr>PowerPoint Presentation</vt:lpstr>
      <vt:lpstr>Bonding PART 1 – QuestionIT</vt:lpstr>
      <vt:lpstr>Bonding PART 1 – QuestionIT</vt:lpstr>
      <vt:lpstr>Bonding PART 1 – QuestionIT</vt:lpstr>
      <vt:lpstr>PowerPoint Presentation</vt:lpstr>
      <vt:lpstr>Bonding PART 1 – QuestionIT</vt:lpstr>
      <vt:lpstr>Bonding PART 1 – QuestionIT</vt:lpstr>
      <vt:lpstr>Bonding PART 1 – QuestionIT</vt:lpstr>
      <vt:lpstr>Ionic bonding PART 2 – QuestionIT</vt:lpstr>
      <vt:lpstr>PowerPoint Presentation</vt:lpstr>
      <vt:lpstr>Covalent bonding - PART 1</vt:lpstr>
      <vt:lpstr>Covalent bonding - PART 1</vt:lpstr>
      <vt:lpstr>Metallic bonding</vt:lpstr>
      <vt:lpstr>PowerPoint Presentation</vt:lpstr>
      <vt:lpstr>Bonding – Part 2 – QuestionIT</vt:lpstr>
      <vt:lpstr>Bonding – Part 2 – QuestionIT</vt:lpstr>
      <vt:lpstr>Covalent bonding PART 1 – QuestionIT</vt:lpstr>
      <vt:lpstr>PowerPoint Presentation</vt:lpstr>
      <vt:lpstr>Bonding – Part 2 – QuestionIT</vt:lpstr>
      <vt:lpstr>Bonding – Part 2 – QuestionIT</vt:lpstr>
      <vt:lpstr>Bonding – part 2 – QuestionIT</vt:lpstr>
      <vt:lpstr>PowerPoint Presentation</vt:lpstr>
      <vt:lpstr>States of matter and state symbols</vt:lpstr>
      <vt:lpstr>Changes of state</vt:lpstr>
      <vt:lpstr>Changes of state</vt:lpstr>
      <vt:lpstr>PowerPoint Presentation</vt:lpstr>
      <vt:lpstr>Properties of substances – Part 1 – QuestionIT</vt:lpstr>
      <vt:lpstr>Properties of substances – Part 1– QuestionIT</vt:lpstr>
      <vt:lpstr>Properties of substances – Part 1 QuestionIT</vt:lpstr>
      <vt:lpstr>PowerPoint Presentation</vt:lpstr>
      <vt:lpstr>Properties of substances – Part 1– QuestionIT</vt:lpstr>
      <vt:lpstr>Properties of substances – Part 1– QuestionIT</vt:lpstr>
      <vt:lpstr>Properties of substances – Part 1– QuestionIT</vt:lpstr>
      <vt:lpstr>PowerPoint Presentation</vt:lpstr>
      <vt:lpstr>PowerPoint Presentation</vt:lpstr>
      <vt:lpstr>PowerPoint Presentation</vt:lpstr>
      <vt:lpstr>Polymers</vt:lpstr>
      <vt:lpstr>PowerPoint Presentation</vt:lpstr>
      <vt:lpstr>Properties of metals and alloys</vt:lpstr>
      <vt:lpstr>PowerPoint Presentation</vt:lpstr>
      <vt:lpstr>Properties of substances – Part 2 – QuestionIT</vt:lpstr>
      <vt:lpstr>Properties of substances – Part 2 – QuestionIT</vt:lpstr>
      <vt:lpstr>Properties of substances – Part 2 – QuestionIT</vt:lpstr>
      <vt:lpstr>Properties of substances – Part 2 – QuestionIT</vt:lpstr>
      <vt:lpstr>PowerPoint Presentation</vt:lpstr>
      <vt:lpstr>Properties of substances – Part 2 – QuestionIT</vt:lpstr>
      <vt:lpstr>Properties of substances – Part 2 – QuestionIT</vt:lpstr>
      <vt:lpstr>Properties of substances – Part 2 – QuestionIT</vt:lpstr>
      <vt:lpstr>Properties of substances – Part 2 – QuestionIT</vt:lpstr>
      <vt:lpstr>PowerPoint Presentation</vt:lpstr>
      <vt:lpstr>Diamond</vt:lpstr>
      <vt:lpstr>Graphite</vt:lpstr>
      <vt:lpstr>Graphene</vt:lpstr>
      <vt:lpstr>Fullerenes</vt:lpstr>
      <vt:lpstr>PowerPoint Presentation</vt:lpstr>
      <vt:lpstr>Properties of substances – Part 3 – QuestionIT</vt:lpstr>
      <vt:lpstr>Properties of substances – Part 3 – QuestionIT</vt:lpstr>
      <vt:lpstr>PowerPoint Presentation</vt:lpstr>
      <vt:lpstr>Properties of substances – Part 3 – QuestionIT</vt:lpstr>
      <vt:lpstr>Properties of substances – Part 3 – QuestionIT</vt:lpstr>
      <vt:lpstr>PowerPoint Presentation</vt:lpstr>
      <vt:lpstr>Covalent bonding - PART 3 CHEMISTRY ONLY</vt:lpstr>
      <vt:lpstr>Covalent bonding - PART 3 CHEMISTRY ONLY</vt:lpstr>
      <vt:lpstr>PowerPoint Presentation</vt:lpstr>
      <vt:lpstr>PowerPoint Presentation</vt:lpstr>
      <vt:lpstr>Nanoparticles CHEMISTRY ONLY – QuestionIT</vt:lpstr>
      <vt:lpstr>PowerPoint Presentation</vt:lpstr>
      <vt:lpstr>Nanoparticles CHEMISTRY ONLY – QuestionIT</vt:lpstr>
    </vt:vector>
  </TitlesOfParts>
  <LinksUpToDate>false</LinksUpToDate>
  <SharedDoc>false</SharedDoc>
  <HyperlinksChanged>false</HyperlinksChanged>
  <AppVersion>15.0041</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Amanda Fleck</cp:lastModifiedBy>
  <cp:revision>362</cp:revision>
  <dcterms:created xsi:type="dcterms:W3CDTF">2016-03-05T09:38:04Z</dcterms:created>
  <dcterms:modified xsi:type="dcterms:W3CDTF">2018-01-10T20:53:27Z</dcterms:modified>
</cp:coreProperties>
</file>