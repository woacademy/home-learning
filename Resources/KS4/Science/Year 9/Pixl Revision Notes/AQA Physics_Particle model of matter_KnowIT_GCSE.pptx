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tiff" ContentType="image/tiff"/>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75" r:id="rId3"/>
  </p:sldMasterIdLst>
  <p:notesMasterIdLst>
    <p:notesMasterId r:id="rId49"/>
  </p:notesMasterIdLst>
  <p:sldIdLst>
    <p:sldId id="256" r:id="rId4"/>
    <p:sldId id="281" r:id="rId5"/>
    <p:sldId id="314" r:id="rId6"/>
    <p:sldId id="282" r:id="rId7"/>
    <p:sldId id="283" r:id="rId8"/>
    <p:sldId id="295" r:id="rId9"/>
    <p:sldId id="374" r:id="rId10"/>
    <p:sldId id="315" r:id="rId11"/>
    <p:sldId id="392" r:id="rId12"/>
    <p:sldId id="393" r:id="rId13"/>
    <p:sldId id="394" r:id="rId14"/>
    <p:sldId id="330" r:id="rId15"/>
    <p:sldId id="376" r:id="rId16"/>
    <p:sldId id="377" r:id="rId17"/>
    <p:sldId id="378" r:id="rId18"/>
    <p:sldId id="313" r:id="rId19"/>
    <p:sldId id="312" r:id="rId20"/>
    <p:sldId id="356" r:id="rId21"/>
    <p:sldId id="357" r:id="rId22"/>
    <p:sldId id="358" r:id="rId23"/>
    <p:sldId id="359" r:id="rId24"/>
    <p:sldId id="360" r:id="rId25"/>
    <p:sldId id="379" r:id="rId26"/>
    <p:sldId id="316" r:id="rId27"/>
    <p:sldId id="389" r:id="rId28"/>
    <p:sldId id="390" r:id="rId29"/>
    <p:sldId id="391" r:id="rId30"/>
    <p:sldId id="334" r:id="rId31"/>
    <p:sldId id="380" r:id="rId32"/>
    <p:sldId id="381" r:id="rId33"/>
    <p:sldId id="382" r:id="rId34"/>
    <p:sldId id="317" r:id="rId35"/>
    <p:sldId id="286" r:id="rId36"/>
    <p:sldId id="365" r:id="rId37"/>
    <p:sldId id="366" r:id="rId38"/>
    <p:sldId id="367" r:id="rId39"/>
    <p:sldId id="368" r:id="rId40"/>
    <p:sldId id="318" r:id="rId41"/>
    <p:sldId id="386" r:id="rId42"/>
    <p:sldId id="387" r:id="rId43"/>
    <p:sldId id="388" r:id="rId44"/>
    <p:sldId id="335" r:id="rId45"/>
    <p:sldId id="383" r:id="rId46"/>
    <p:sldId id="384" r:id="rId47"/>
    <p:sldId id="385"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extLst/>
  </p:cmAuthor>
  <p:cmAuthor id="2" name="Microsoft Office User" initials="Office [2]" lastIdx="1" clrIdx="1">
    <p:extLst/>
  </p:cmAuthor>
  <p:cmAuthor id="3" name="Microsoft Office User" initials="Office [3]" lastIdx="1" clrIdx="2">
    <p:extLst/>
  </p:cmAuthor>
  <p:cmAuthor id="4" name="Microsoft Office User" initials="Office [4]" lastIdx="1" clrIdx="3">
    <p:extLst/>
  </p:cmAuthor>
  <p:cmAuthor id="5" name="Microsoft Office User" initials="Office [5]" lastIdx="1" clrIdx="4">
    <p:extLst/>
  </p:cmAuthor>
  <p:cmAuthor id="6" name="Microsoft Office User" initials="Office [6]" lastIdx="1" clrIdx="5">
    <p:extLst/>
  </p:cmAuthor>
  <p:cmAuthor id="7" name="Microsoft Office User" initials="Office [7]" lastIdx="1" clrIdx="6">
    <p:extLst/>
  </p:cmAuthor>
  <p:cmAuthor id="8" name="Microsoft Office User" initials="Office [8]" lastIdx="1" clrIdx="7">
    <p:extLst/>
  </p:cmAuthor>
  <p:cmAuthor id="9" name="Microsoft Office User" initials="Office [9]" lastIdx="1" clrIdx="8">
    <p:extLst/>
  </p:cmAuthor>
  <p:cmAuthor id="10" name="Microsoft Office User" initials="Office [10]" lastIdx="1" clrIdx="9">
    <p:extLst/>
  </p:cmAuthor>
  <p:cmAuthor id="11" name="Microsoft Office User" initials="Office [11]" lastIdx="1" clrIdx="10">
    <p:extLst/>
  </p:cmAuthor>
  <p:cmAuthor id="12" name="Microsoft Office User" initials="Office [12]" lastIdx="1" clrIdx="11">
    <p:extLst/>
  </p:cmAuthor>
  <p:cmAuthor id="13" name="Microsoft Office User" initials="Office [13]" lastIdx="1" clrIdx="12">
    <p:extLst/>
  </p:cmAuthor>
  <p:cmAuthor id="14" name="Microsoft Office User" initials="Office [14]" lastIdx="1" clrIdx="13">
    <p:extLst/>
  </p:cmAuthor>
  <p:cmAuthor id="15" name="Microsoft Office User" initials="Office [15]" lastIdx="1" clrIdx="14">
    <p:extLst/>
  </p:cmAuthor>
  <p:cmAuthor id="16" name="Microsoft Office User" initials="Office [16]" lastIdx="1" clrIdx="15">
    <p:extLst/>
  </p:cmAuthor>
  <p:cmAuthor id="17" name="Microsoft Office User" initials="Office [17]" lastIdx="1" clrIdx="16">
    <p:extLst/>
  </p:cmAuthor>
  <p:cmAuthor id="18" name="Microsoft Office User" initials="Office [18]" lastIdx="1" clrIdx="17">
    <p:extLst/>
  </p:cmAuthor>
  <p:cmAuthor id="19" name="Microsoft Office User" initials="Office [19]" lastIdx="1" clrIdx="18">
    <p:extLst/>
  </p:cmAuthor>
  <p:cmAuthor id="20" name="Microsoft Office User" initials="Office [20]" lastIdx="1" clrIdx="19">
    <p:extLst/>
  </p:cmAuthor>
  <p:cmAuthor id="21" name="Microsoft Office User" initials="Office [21]" lastIdx="1" clrIdx="20">
    <p:extLst/>
  </p:cmAuthor>
  <p:cmAuthor id="22" name="Derek Davies" initials="DD" lastIdx="1" clrIdx="21">
    <p:extLst>
      <p:ext uri="{19B8F6BF-5375-455C-9EA6-DF929625EA0E}">
        <p15:presenceInfo xmlns:p15="http://schemas.microsoft.com/office/powerpoint/2012/main" userId="Derek Davies" providerId="None"/>
      </p:ext>
    </p:extLst>
  </p:cmAuthor>
  <p:cmAuthor id="23" name="Vicki Pugh" initials="VP" lastIdx="11" clrIdx="22">
    <p:extLst>
      <p:ext uri="{19B8F6BF-5375-455C-9EA6-DF929625EA0E}">
        <p15:presenceInfo xmlns:p15="http://schemas.microsoft.com/office/powerpoint/2012/main" userId="fb86ba5f6b82553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84" autoAdjust="0"/>
    <p:restoredTop sz="83604" autoAdjust="0"/>
  </p:normalViewPr>
  <p:slideViewPr>
    <p:cSldViewPr>
      <p:cViewPr varScale="1">
        <p:scale>
          <a:sx n="91" d="100"/>
          <a:sy n="91" d="100"/>
        </p:scale>
        <p:origin x="144" y="6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commentAuthors" Target="commentAuthors.xml"/><Relationship Id="rId55" Type="http://schemas.microsoft.com/office/2015/10/relationships/revisionInfo" Target="revisionInfo.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11/3/2017</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dirty="0"/>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a:t>
            </a:fld>
            <a:endParaRPr lang="en-US" dirty="0"/>
          </a:p>
        </p:txBody>
      </p:sp>
    </p:spTree>
    <p:extLst>
      <p:ext uri="{BB962C8B-B14F-4D97-AF65-F5344CB8AC3E}">
        <p14:creationId xmlns:p14="http://schemas.microsoft.com/office/powerpoint/2010/main" val="203579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dirty="0"/>
          </a:p>
        </p:txBody>
      </p:sp>
    </p:spTree>
    <p:extLst>
      <p:ext uri="{BB962C8B-B14F-4D97-AF65-F5344CB8AC3E}">
        <p14:creationId xmlns:p14="http://schemas.microsoft.com/office/powerpoint/2010/main" val="598747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dirty="0"/>
          </a:p>
        </p:txBody>
      </p:sp>
    </p:spTree>
    <p:extLst>
      <p:ext uri="{BB962C8B-B14F-4D97-AF65-F5344CB8AC3E}">
        <p14:creationId xmlns:p14="http://schemas.microsoft.com/office/powerpoint/2010/main" val="1022498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8</a:t>
            </a:fld>
            <a:endParaRPr lang="en-US" dirty="0"/>
          </a:p>
        </p:txBody>
      </p:sp>
    </p:spTree>
    <p:extLst>
      <p:ext uri="{BB962C8B-B14F-4D97-AF65-F5344CB8AC3E}">
        <p14:creationId xmlns:p14="http://schemas.microsoft.com/office/powerpoint/2010/main" val="1435805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9</a:t>
            </a:fld>
            <a:endParaRPr lang="en-US" dirty="0"/>
          </a:p>
        </p:txBody>
      </p:sp>
    </p:spTree>
    <p:extLst>
      <p:ext uri="{BB962C8B-B14F-4D97-AF65-F5344CB8AC3E}">
        <p14:creationId xmlns:p14="http://schemas.microsoft.com/office/powerpoint/2010/main" val="3627169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12</a:t>
            </a:fld>
            <a:endParaRPr lang="en-US" dirty="0"/>
          </a:p>
        </p:txBody>
      </p:sp>
    </p:spTree>
    <p:extLst>
      <p:ext uri="{BB962C8B-B14F-4D97-AF65-F5344CB8AC3E}">
        <p14:creationId xmlns:p14="http://schemas.microsoft.com/office/powerpoint/2010/main" val="1559025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16</a:t>
            </a:fld>
            <a:endParaRPr lang="en-US" dirty="0"/>
          </a:p>
        </p:txBody>
      </p:sp>
    </p:spTree>
    <p:extLst>
      <p:ext uri="{BB962C8B-B14F-4D97-AF65-F5344CB8AC3E}">
        <p14:creationId xmlns:p14="http://schemas.microsoft.com/office/powerpoint/2010/main" val="1146940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17</a:t>
            </a:fld>
            <a:endParaRPr lang="en-US" dirty="0"/>
          </a:p>
        </p:txBody>
      </p:sp>
    </p:spTree>
    <p:extLst>
      <p:ext uri="{BB962C8B-B14F-4D97-AF65-F5344CB8AC3E}">
        <p14:creationId xmlns:p14="http://schemas.microsoft.com/office/powerpoint/2010/main" val="3036705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18</a:t>
            </a:fld>
            <a:endParaRPr lang="en-US" dirty="0"/>
          </a:p>
        </p:txBody>
      </p:sp>
    </p:spTree>
    <p:extLst>
      <p:ext uri="{BB962C8B-B14F-4D97-AF65-F5344CB8AC3E}">
        <p14:creationId xmlns:p14="http://schemas.microsoft.com/office/powerpoint/2010/main" val="8885344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20</a:t>
            </a:fld>
            <a:endParaRPr lang="en-US" dirty="0"/>
          </a:p>
        </p:txBody>
      </p:sp>
    </p:spTree>
    <p:extLst>
      <p:ext uri="{BB962C8B-B14F-4D97-AF65-F5344CB8AC3E}">
        <p14:creationId xmlns:p14="http://schemas.microsoft.com/office/powerpoint/2010/main" val="16084319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24</a:t>
            </a:fld>
            <a:endParaRPr lang="en-US" dirty="0"/>
          </a:p>
        </p:txBody>
      </p:sp>
    </p:spTree>
    <p:extLst>
      <p:ext uri="{BB962C8B-B14F-4D97-AF65-F5344CB8AC3E}">
        <p14:creationId xmlns:p14="http://schemas.microsoft.com/office/powerpoint/2010/main" val="17273413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25</a:t>
            </a:fld>
            <a:endParaRPr lang="en-US" dirty="0"/>
          </a:p>
        </p:txBody>
      </p:sp>
    </p:spTree>
    <p:extLst>
      <p:ext uri="{BB962C8B-B14F-4D97-AF65-F5344CB8AC3E}">
        <p14:creationId xmlns:p14="http://schemas.microsoft.com/office/powerpoint/2010/main" val="21484950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28</a:t>
            </a:fld>
            <a:endParaRPr lang="en-US" dirty="0"/>
          </a:p>
        </p:txBody>
      </p:sp>
    </p:spTree>
    <p:extLst>
      <p:ext uri="{BB962C8B-B14F-4D97-AF65-F5344CB8AC3E}">
        <p14:creationId xmlns:p14="http://schemas.microsoft.com/office/powerpoint/2010/main" val="17779672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32</a:t>
            </a:fld>
            <a:endParaRPr lang="en-US" dirty="0"/>
          </a:p>
        </p:txBody>
      </p:sp>
    </p:spTree>
    <p:extLst>
      <p:ext uri="{BB962C8B-B14F-4D97-AF65-F5344CB8AC3E}">
        <p14:creationId xmlns:p14="http://schemas.microsoft.com/office/powerpoint/2010/main" val="12390468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33</a:t>
            </a:fld>
            <a:endParaRPr lang="en-US" dirty="0"/>
          </a:p>
        </p:txBody>
      </p:sp>
    </p:spTree>
    <p:extLst>
      <p:ext uri="{BB962C8B-B14F-4D97-AF65-F5344CB8AC3E}">
        <p14:creationId xmlns:p14="http://schemas.microsoft.com/office/powerpoint/2010/main" val="15203380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34</a:t>
            </a:fld>
            <a:endParaRPr lang="en-US" dirty="0"/>
          </a:p>
        </p:txBody>
      </p:sp>
    </p:spTree>
    <p:extLst>
      <p:ext uri="{BB962C8B-B14F-4D97-AF65-F5344CB8AC3E}">
        <p14:creationId xmlns:p14="http://schemas.microsoft.com/office/powerpoint/2010/main" val="38073558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35</a:t>
            </a:fld>
            <a:endParaRPr lang="en-US" dirty="0"/>
          </a:p>
        </p:txBody>
      </p:sp>
    </p:spTree>
    <p:extLst>
      <p:ext uri="{BB962C8B-B14F-4D97-AF65-F5344CB8AC3E}">
        <p14:creationId xmlns:p14="http://schemas.microsoft.com/office/powerpoint/2010/main" val="11968250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36</a:t>
            </a:fld>
            <a:endParaRPr lang="en-US" dirty="0"/>
          </a:p>
        </p:txBody>
      </p:sp>
    </p:spTree>
    <p:extLst>
      <p:ext uri="{BB962C8B-B14F-4D97-AF65-F5344CB8AC3E}">
        <p14:creationId xmlns:p14="http://schemas.microsoft.com/office/powerpoint/2010/main" val="116861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37</a:t>
            </a:fld>
            <a:endParaRPr lang="en-US" dirty="0"/>
          </a:p>
        </p:txBody>
      </p:sp>
    </p:spTree>
    <p:extLst>
      <p:ext uri="{BB962C8B-B14F-4D97-AF65-F5344CB8AC3E}">
        <p14:creationId xmlns:p14="http://schemas.microsoft.com/office/powerpoint/2010/main" val="30840636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38</a:t>
            </a:fld>
            <a:endParaRPr lang="en-US" dirty="0"/>
          </a:p>
        </p:txBody>
      </p:sp>
    </p:spTree>
    <p:extLst>
      <p:ext uri="{BB962C8B-B14F-4D97-AF65-F5344CB8AC3E}">
        <p14:creationId xmlns:p14="http://schemas.microsoft.com/office/powerpoint/2010/main" val="11103832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42</a:t>
            </a:fld>
            <a:endParaRPr lang="en-US" dirty="0"/>
          </a:p>
        </p:txBody>
      </p:sp>
    </p:spTree>
    <p:extLst>
      <p:ext uri="{BB962C8B-B14F-4D97-AF65-F5344CB8AC3E}">
        <p14:creationId xmlns:p14="http://schemas.microsoft.com/office/powerpoint/2010/main" val="1880982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03/11/2017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398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03/11/2017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45997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03/11/2017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4769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03/11/2017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5086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03/11/2017</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22436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03/11/2017</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06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03/11/2017</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214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03/11/2017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61768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03/11/2017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34860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03/11/2017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486682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03/11/2017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694073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03/11/2017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Drag picture to placeholder or click icon to add</a:t>
            </a:r>
            <a:endParaRPr lang="en-GB"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03/11/2017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03/11/2017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03/11/2017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4"/>
            <a:ext cx="2133600" cy="365125"/>
          </a:xfrm>
          <a:prstGeom prst="rect">
            <a:avLst/>
          </a:prstGeom>
        </p:spPr>
        <p:txBody>
          <a:bodyPr/>
          <a:lstStyle/>
          <a:p>
            <a:fld id="{B595F713-2110-964B-A68E-481EBA276186}" type="datetimeFigureOut">
              <a:rPr lang="en-GB" smtClean="0"/>
              <a:t>03/11/2017</a:t>
            </a:fld>
            <a:endParaRPr lang="en-GB" dirty="0"/>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endParaRPr lang="en-GB" dirty="0"/>
          </a:p>
        </p:txBody>
      </p:sp>
      <p:sp>
        <p:nvSpPr>
          <p:cNvPr id="4" name="Slide Number Placeholder 3"/>
          <p:cNvSpPr>
            <a:spLocks noGrp="1"/>
          </p:cNvSpPr>
          <p:nvPr>
            <p:ph type="sldNum" sz="quarter" idx="12"/>
          </p:nvPr>
        </p:nvSpPr>
        <p:spPr>
          <a:xfrm>
            <a:off x="6553200" y="6356354"/>
            <a:ext cx="2133600" cy="365125"/>
          </a:xfrm>
          <a:prstGeom prst="rect">
            <a:avLst/>
          </a:prstGeom>
        </p:spPr>
        <p:txBody>
          <a:bodyPr/>
          <a:lstStyle/>
          <a:p>
            <a:fld id="{402CBB9E-F5D3-6E40-A939-4B2058AA44B4}" type="slidenum">
              <a:rPr lang="en-GB" smtClean="0"/>
              <a:t>‹#›</a:t>
            </a:fld>
            <a:endParaRPr lang="en-GB" dirty="0"/>
          </a:p>
        </p:txBody>
      </p:sp>
    </p:spTree>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Shape 6"/>
          <p:cNvSpPr>
            <a:spLocks noGrp="1"/>
          </p:cNvSpPr>
          <p:nvPr>
            <p:ph type="title"/>
          </p:nvPr>
        </p:nvSpPr>
        <p:spPr>
          <a:xfrm>
            <a:off x="457200" y="92079"/>
            <a:ext cx="8229600" cy="1508125"/>
          </a:xfrm>
          <a:prstGeom prst="rect">
            <a:avLst/>
          </a:prstGeom>
        </p:spPr>
        <p:txBody>
          <a:bodyPr lIns="0" tIns="0" rIns="0" bIns="0">
            <a:noAutofit/>
          </a:bodyPr>
          <a:lstStyle>
            <a:lvl1pPr>
              <a:defRPr sz="4425">
                <a:latin typeface="Gill Sans"/>
                <a:ea typeface="Gill Sans"/>
                <a:cs typeface="Gill Sans"/>
                <a:sym typeface="Gill Sans"/>
              </a:defRPr>
            </a:lvl1pPr>
          </a:lstStyle>
          <a:p>
            <a:pPr lvl="0">
              <a:defRPr sz="1800"/>
            </a:pPr>
            <a:r>
              <a:rPr lang="en-US" sz="4425"/>
              <a:t>Click to edit Master title style</a:t>
            </a:r>
            <a:endParaRPr sz="4425"/>
          </a:p>
        </p:txBody>
      </p:sp>
      <p:sp>
        <p:nvSpPr>
          <p:cNvPr id="7" name="Shape 7"/>
          <p:cNvSpPr>
            <a:spLocks noGrp="1"/>
          </p:cNvSpPr>
          <p:nvPr>
            <p:ph type="body" idx="1"/>
          </p:nvPr>
        </p:nvSpPr>
        <p:spPr>
          <a:xfrm>
            <a:off x="457200" y="1600200"/>
            <a:ext cx="8229600" cy="5257800"/>
          </a:xfrm>
          <a:prstGeom prst="rect">
            <a:avLst/>
          </a:prstGeom>
        </p:spPr>
        <p:txBody>
          <a:bodyPr>
            <a:noAutofit/>
          </a:bodyPr>
          <a:lstStyle>
            <a:lvl1pPr marL="0" indent="0" algn="ctr">
              <a:spcBef>
                <a:spcPts val="2475"/>
              </a:spcBef>
              <a:buSzTx/>
              <a:buFontTx/>
              <a:buNone/>
              <a:defRPr>
                <a:latin typeface="Gill Sans"/>
                <a:ea typeface="Gill Sans"/>
                <a:cs typeface="Gill Sans"/>
                <a:sym typeface="Gill Sans"/>
              </a:defRPr>
            </a:lvl1pPr>
            <a:lvl2pPr marL="0" indent="240506" algn="ctr">
              <a:spcBef>
                <a:spcPts val="2475"/>
              </a:spcBef>
              <a:buSzTx/>
              <a:buFontTx/>
              <a:buNone/>
              <a:defRPr>
                <a:latin typeface="Gill Sans"/>
                <a:ea typeface="Gill Sans"/>
                <a:cs typeface="Gill Sans"/>
                <a:sym typeface="Gill Sans"/>
              </a:defRPr>
            </a:lvl2pPr>
            <a:lvl3pPr marL="0" indent="481013" algn="ctr">
              <a:spcBef>
                <a:spcPts val="2475"/>
              </a:spcBef>
              <a:buSzTx/>
              <a:buFontTx/>
              <a:buNone/>
              <a:defRPr>
                <a:latin typeface="Gill Sans"/>
                <a:ea typeface="Gill Sans"/>
                <a:cs typeface="Gill Sans"/>
                <a:sym typeface="Gill Sans"/>
              </a:defRPr>
            </a:lvl3pPr>
            <a:lvl4pPr marL="0" indent="722709" algn="ctr">
              <a:spcBef>
                <a:spcPts val="2475"/>
              </a:spcBef>
              <a:buSzTx/>
              <a:buFontTx/>
              <a:buNone/>
              <a:defRPr>
                <a:latin typeface="Gill Sans"/>
                <a:ea typeface="Gill Sans"/>
                <a:cs typeface="Gill Sans"/>
                <a:sym typeface="Gill Sans"/>
              </a:defRPr>
            </a:lvl4pPr>
            <a:lvl5pPr marL="0" indent="963215" algn="ctr">
              <a:spcBef>
                <a:spcPts val="2475"/>
              </a:spcBef>
              <a:buSzTx/>
              <a:buFontTx/>
              <a:buNone/>
              <a:defRPr>
                <a:latin typeface="Gill Sans"/>
                <a:ea typeface="Gill Sans"/>
                <a:cs typeface="Gill Sans"/>
                <a:sym typeface="Gill Sans"/>
              </a:defRPr>
            </a:lvl5pPr>
          </a:lstStyle>
          <a:p>
            <a:pPr lvl="0">
              <a:defRPr sz="1800"/>
            </a:pPr>
            <a:r>
              <a:rPr lang="en-US" sz="2250"/>
              <a:t>Click to edit Master text styles</a:t>
            </a:r>
          </a:p>
          <a:p>
            <a:pPr lvl="1">
              <a:defRPr sz="1800"/>
            </a:pPr>
            <a:r>
              <a:rPr lang="en-US" sz="2250"/>
              <a:t>Second level</a:t>
            </a:r>
          </a:p>
          <a:p>
            <a:pPr lvl="2">
              <a:defRPr sz="1800"/>
            </a:pPr>
            <a:r>
              <a:rPr lang="en-US" sz="2250"/>
              <a:t>Third level</a:t>
            </a:r>
          </a:p>
          <a:p>
            <a:pPr lvl="3">
              <a:defRPr sz="1800"/>
            </a:pPr>
            <a:r>
              <a:rPr lang="en-US" sz="2250"/>
              <a:t>Fourth level</a:t>
            </a:r>
          </a:p>
          <a:p>
            <a:pPr lvl="4">
              <a:defRPr sz="1800"/>
            </a:pPr>
            <a:r>
              <a:rPr lang="en-US" sz="2250"/>
              <a:t>Fifth level</a:t>
            </a:r>
            <a:endParaRPr sz="2250"/>
          </a:p>
        </p:txBody>
      </p:sp>
    </p:spTree>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3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4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3"/>
            <a:ext cx="2057400" cy="365125"/>
          </a:xfrm>
          <a:prstGeom prst="rect">
            <a:avLst/>
          </a:prstGeom>
        </p:spPr>
        <p:txBody>
          <a:bodyPr/>
          <a:lstStyle/>
          <a:p>
            <a:fld id="{B595F713-2110-964B-A68E-481EBA276186}" type="datetimeFigureOut">
              <a:rPr lang="en-GB" smtClean="0"/>
              <a:t>03/11/2017</a:t>
            </a:fld>
            <a:endParaRPr lang="en-GB" dirty="0"/>
          </a:p>
        </p:txBody>
      </p:sp>
      <p:sp>
        <p:nvSpPr>
          <p:cNvPr id="4" name="Footer Placeholder 3"/>
          <p:cNvSpPr>
            <a:spLocks noGrp="1"/>
          </p:cNvSpPr>
          <p:nvPr>
            <p:ph type="ftr" sz="quarter" idx="11"/>
          </p:nvPr>
        </p:nvSpPr>
        <p:spPr>
          <a:xfrm>
            <a:off x="3028950" y="6356353"/>
            <a:ext cx="3086100" cy="365125"/>
          </a:xfrm>
          <a:prstGeom prst="rect">
            <a:avLst/>
          </a:prstGeom>
        </p:spPr>
        <p:txBody>
          <a:bodyPr/>
          <a:lstStyle/>
          <a:p>
            <a:endParaRPr lang="en-GB" dirty="0"/>
          </a:p>
        </p:txBody>
      </p:sp>
      <p:sp>
        <p:nvSpPr>
          <p:cNvPr id="5" name="Slide Number Placeholder 4"/>
          <p:cNvSpPr>
            <a:spLocks noGrp="1"/>
          </p:cNvSpPr>
          <p:nvPr>
            <p:ph type="sldNum" sz="quarter" idx="12"/>
          </p:nvPr>
        </p:nvSpPr>
        <p:spPr>
          <a:xfrm>
            <a:off x="6457950" y="6356353"/>
            <a:ext cx="2057400" cy="365125"/>
          </a:xfrm>
          <a:prstGeom prst="rect">
            <a:avLst/>
          </a:prstGeom>
        </p:spPr>
        <p:txBody>
          <a:bodyPr/>
          <a:lstStyle/>
          <a:p>
            <a:fld id="{402CBB9E-F5D3-6E40-A939-4B2058AA44B4}" type="slidenum">
              <a:rPr lang="en-GB" smtClean="0"/>
              <a:t>‹#›</a:t>
            </a:fld>
            <a:endParaRPr lang="en-GB" dirty="0"/>
          </a:p>
        </p:txBody>
      </p:sp>
    </p:spTree>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2.jpe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3.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3.jpe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03/11/2017</a:t>
            </a:fld>
            <a:endParaRPr lang="en-GB"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dirty="0"/>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595F713-2110-964B-A68E-481EBA276186}" type="datetimeFigureOut">
              <a:rPr lang="en-GB" smtClean="0"/>
              <a:t>03/11/2017</a:t>
            </a:fld>
            <a:endParaRPr lang="en-GB"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02CBB9E-F5D3-6E40-A939-4B2058AA44B4}" type="slidenum">
              <a:rPr lang="en-GB" smtClean="0"/>
              <a:t>‹#›</a:t>
            </a:fld>
            <a:endParaRPr lang="en-GB" dirty="0"/>
          </a:p>
        </p:txBody>
      </p:sp>
      <p:pic>
        <p:nvPicPr>
          <p:cNvPr id="7" name="Picture 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091113" y="16872"/>
            <a:ext cx="1029761" cy="1020648"/>
          </a:xfrm>
          <a:prstGeom prst="rect">
            <a:avLst/>
          </a:prstGeom>
        </p:spPr>
      </p:pic>
      <p:pic>
        <p:nvPicPr>
          <p:cNvPr id="8" name="Picture 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3126" y="16872"/>
            <a:ext cx="2530113" cy="831540"/>
          </a:xfrm>
          <a:prstGeom prst="rect">
            <a:avLst/>
          </a:prstGeom>
        </p:spPr>
      </p:pic>
      <p:sp>
        <p:nvSpPr>
          <p:cNvPr id="9" name="Rectangle 8"/>
          <p:cNvSpPr/>
          <p:nvPr/>
        </p:nvSpPr>
        <p:spPr>
          <a:xfrm>
            <a:off x="0" y="6561058"/>
            <a:ext cx="9144000" cy="22640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GB" sz="900" dirty="0">
                <a:latin typeface="Arial" panose="020B0604020202020204" pitchFamily="34" charset="0"/>
                <a:cs typeface="Arial" panose="020B0604020202020204" pitchFamily="34" charset="0"/>
              </a:rPr>
              <a:t>better hope – brighter</a:t>
            </a:r>
            <a:r>
              <a:rPr lang="en-GB" sz="900" baseline="0" dirty="0">
                <a:latin typeface="Arial" panose="020B0604020202020204" pitchFamily="34" charset="0"/>
                <a:cs typeface="Arial" panose="020B0604020202020204" pitchFamily="34" charset="0"/>
              </a:rPr>
              <a:t> future</a:t>
            </a:r>
            <a:endParaRPr lang="en-GB"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74570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0.xml"/><Relationship Id="rId5" Type="http://schemas.openxmlformats.org/officeDocument/2006/relationships/image" Target="../media/image5.jpeg"/><Relationship Id="rId4" Type="http://schemas.openxmlformats.org/officeDocument/2006/relationships/hyperlink" Target="http://www.pixl.org.uk/"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9.jp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0.gif"/><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5.jpg"/><Relationship Id="rId5" Type="http://schemas.microsoft.com/office/2007/relationships/hdphoto" Target="../media/hdphoto4.wdp"/><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8.jpeg"/><Relationship Id="rId5" Type="http://schemas.microsoft.com/office/2007/relationships/hdphoto" Target="../media/hdphoto5.wdp"/><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microsoft.com/office/2007/relationships/hdphoto" Target="../media/hdphoto6.wdp"/></Relationships>
</file>

<file path=ppt/slides/_rels/slide37.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41.gif"/><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41.gif"/><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4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a14="http://schemas.microsoft.com/office/drawing/2010/main" xmlns="">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a14="http://schemas.microsoft.com/office/drawing/2010/main" xmlns="">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4"/>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4742837"/>
          </a:xfrm>
          <a:prstGeom prst="rect">
            <a:avLst/>
          </a:prstGeom>
          <a:noFill/>
        </p:spPr>
        <p:txBody>
          <a:bodyPr wrap="square" rtlCol="0">
            <a:spAutoFit/>
          </a:bodyPr>
          <a:lstStyle/>
          <a:p>
            <a:pPr algn="ctr">
              <a:lnSpc>
                <a:spcPct val="115000"/>
              </a:lnSpc>
              <a:spcAft>
                <a:spcPts val="0"/>
              </a:spcAft>
            </a:pPr>
            <a:r>
              <a:rPr lang="en-GB" sz="7200" b="1" dirty="0"/>
              <a:t>PiXL KnowIT!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Physics</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AQA Topic – Particle Model of Matter</a:t>
            </a:r>
          </a:p>
          <a:p>
            <a:pPr algn="ctr"/>
            <a:r>
              <a:rPr lang="en-GB" dirty="0"/>
              <a:t>  </a:t>
            </a:r>
          </a:p>
          <a:p>
            <a:pPr algn="ctr"/>
            <a:r>
              <a:rPr lang="en-GB" dirty="0"/>
              <a:t> </a:t>
            </a:r>
          </a:p>
          <a:p>
            <a:pPr algn="ctr"/>
            <a:endParaRPr lang="en-GB" dirty="0"/>
          </a:p>
        </p:txBody>
      </p:sp>
      <p:pic>
        <p:nvPicPr>
          <p:cNvPr id="9" name="374f7cfc-9279-43ad-9851-155d90395642" descr="image001"/>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87824" y="35655"/>
            <a:ext cx="6156176" cy="1017081"/>
          </a:xfrm>
        </p:spPr>
        <p:txBody>
          <a:bodyPr>
            <a:normAutofit fontScale="90000"/>
          </a:bodyPr>
          <a:lstStyle/>
          <a:p>
            <a:pPr algn="r"/>
            <a:r>
              <a:rPr lang="en-GB" b="1" dirty="0">
                <a:solidFill>
                  <a:schemeClr val="accent6"/>
                </a:solidFill>
              </a:rPr>
              <a:t>Overview </a:t>
            </a:r>
            <a:br>
              <a:rPr lang="en-GB" b="1" dirty="0">
                <a:solidFill>
                  <a:schemeClr val="accent6"/>
                </a:solidFill>
              </a:rPr>
            </a:br>
            <a:r>
              <a:rPr lang="en-GB" b="1" dirty="0">
                <a:solidFill>
                  <a:schemeClr val="accent6"/>
                </a:solidFill>
              </a:rPr>
              <a:t> Particle Model of Matter</a:t>
            </a:r>
          </a:p>
        </p:txBody>
      </p:sp>
      <p:sp>
        <p:nvSpPr>
          <p:cNvPr id="3" name="Subtitle 2"/>
          <p:cNvSpPr>
            <a:spLocks noGrp="1"/>
          </p:cNvSpPr>
          <p:nvPr>
            <p:ph type="subTitle" idx="1"/>
          </p:nvPr>
        </p:nvSpPr>
        <p:spPr>
          <a:xfrm>
            <a:off x="179512" y="908720"/>
            <a:ext cx="4896544" cy="5472608"/>
          </a:xfrm>
        </p:spPr>
        <p:txBody>
          <a:bodyPr>
            <a:normAutofit lnSpcReduction="10000"/>
          </a:bodyPr>
          <a:lstStyle/>
          <a:p>
            <a:pPr algn="l"/>
            <a:r>
              <a:rPr lang="en-US" sz="3000" b="1" dirty="0">
                <a:solidFill>
                  <a:schemeClr val="tx1"/>
                </a:solidFill>
                <a:latin typeface="+mn-lt"/>
              </a:rPr>
              <a:t>Changes of state and the particle model</a:t>
            </a:r>
          </a:p>
          <a:p>
            <a:pPr marL="685800" lvl="1" indent="-342900" algn="l">
              <a:buFont typeface="Arial" charset="0"/>
              <a:buChar char="•"/>
            </a:pPr>
            <a:r>
              <a:rPr lang="en-US" dirty="0">
                <a:solidFill>
                  <a:schemeClr val="tx1"/>
                </a:solidFill>
              </a:rPr>
              <a:t>Density of materials</a:t>
            </a:r>
          </a:p>
          <a:p>
            <a:pPr marL="685800" lvl="1" indent="-342900" algn="l">
              <a:buFont typeface="Arial" charset="0"/>
              <a:buChar char="•"/>
            </a:pPr>
            <a:r>
              <a:rPr lang="en-US" dirty="0">
                <a:solidFill>
                  <a:schemeClr val="tx1"/>
                </a:solidFill>
              </a:rPr>
              <a:t>Changes of state</a:t>
            </a:r>
          </a:p>
          <a:p>
            <a:pPr algn="l"/>
            <a:r>
              <a:rPr lang="en-US" sz="2600" b="1" dirty="0">
                <a:solidFill>
                  <a:schemeClr val="tx1"/>
                </a:solidFill>
                <a:latin typeface="+mn-lt"/>
              </a:rPr>
              <a:t>Internal energy and energy transfers</a:t>
            </a:r>
          </a:p>
          <a:p>
            <a:pPr marL="685800" lvl="1" indent="-342900" algn="l">
              <a:buFont typeface="Arial" charset="0"/>
              <a:buChar char="•"/>
            </a:pPr>
            <a:r>
              <a:rPr lang="en-US" sz="1900" dirty="0">
                <a:solidFill>
                  <a:schemeClr val="tx1"/>
                </a:solidFill>
              </a:rPr>
              <a:t>Internal energy</a:t>
            </a:r>
          </a:p>
          <a:p>
            <a:pPr marL="685800" lvl="1" indent="-342900" algn="l">
              <a:buFont typeface="Arial" charset="0"/>
              <a:buChar char="•"/>
            </a:pPr>
            <a:r>
              <a:rPr lang="en-US" sz="1900" dirty="0">
                <a:solidFill>
                  <a:schemeClr val="tx1"/>
                </a:solidFill>
              </a:rPr>
              <a:t>Temperature changes in a system and specific heat capacity</a:t>
            </a:r>
          </a:p>
          <a:p>
            <a:pPr marL="685800" lvl="1" indent="-342900" algn="l">
              <a:buFont typeface="Arial" charset="0"/>
              <a:buChar char="•"/>
            </a:pPr>
            <a:r>
              <a:rPr lang="en-US" sz="1900" dirty="0">
                <a:solidFill>
                  <a:schemeClr val="tx1"/>
                </a:solidFill>
              </a:rPr>
              <a:t>Changes of heat and specific latent heat</a:t>
            </a:r>
          </a:p>
          <a:p>
            <a:pPr algn="l"/>
            <a:r>
              <a:rPr lang="en-US" sz="2600" b="1" dirty="0">
                <a:solidFill>
                  <a:schemeClr val="tx1"/>
                </a:solidFill>
                <a:latin typeface="+mn-lt"/>
              </a:rPr>
              <a:t>Particle model and pressure</a:t>
            </a:r>
          </a:p>
          <a:p>
            <a:pPr marL="685800" lvl="1" indent="-342900" algn="l">
              <a:buFont typeface="Arial" charset="0"/>
              <a:buChar char="•"/>
            </a:pPr>
            <a:r>
              <a:rPr lang="en-US" sz="1900" dirty="0">
                <a:solidFill>
                  <a:schemeClr val="tx1"/>
                </a:solidFill>
              </a:rPr>
              <a:t>Particle motion in gases</a:t>
            </a:r>
          </a:p>
          <a:p>
            <a:pPr marL="685800" lvl="1" indent="-342900" algn="l">
              <a:buFont typeface="Arial" charset="0"/>
              <a:buChar char="•"/>
            </a:pPr>
            <a:r>
              <a:rPr lang="en-US" sz="1900" dirty="0">
                <a:solidFill>
                  <a:schemeClr val="tx1"/>
                </a:solidFill>
              </a:rPr>
              <a:t>Pressure in gases (physics only)</a:t>
            </a:r>
          </a:p>
          <a:p>
            <a:pPr marL="685800" lvl="1" indent="-342900" algn="l">
              <a:buFont typeface="Arial" charset="0"/>
              <a:buChar char="•"/>
            </a:pPr>
            <a:r>
              <a:rPr lang="en-US" sz="1900" dirty="0">
                <a:solidFill>
                  <a:schemeClr val="tx1"/>
                </a:solidFill>
              </a:rPr>
              <a:t>Increasing the pressure of a gas (physics only – Higher Tier)</a:t>
            </a:r>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endParaRPr lang="en-GB" dirty="0">
              <a:solidFill>
                <a:schemeClr val="tx1"/>
              </a:solidFill>
            </a:endParaRPr>
          </a:p>
        </p:txBody>
      </p:sp>
      <p:pic>
        <p:nvPicPr>
          <p:cNvPr id="8" name="Picture 7">
            <a:extLst>
              <a:ext uri="{FF2B5EF4-FFF2-40B4-BE49-F238E27FC236}">
                <a16:creationId xmlns:a16="http://schemas.microsoft.com/office/drawing/2014/main" xmlns="" id="{74824F59-6051-4DC2-ADB5-DB5637B322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2688" y="1268760"/>
            <a:ext cx="3816424" cy="4536504"/>
          </a:xfrm>
          <a:prstGeom prst="rect">
            <a:avLst/>
          </a:prstGeom>
        </p:spPr>
      </p:pic>
    </p:spTree>
    <p:extLst>
      <p:ext uri="{BB962C8B-B14F-4D97-AF65-F5344CB8AC3E}">
        <p14:creationId xmlns:p14="http://schemas.microsoft.com/office/powerpoint/2010/main" val="732448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2696" y="675435"/>
            <a:ext cx="4572000" cy="5509200"/>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600" b="1" dirty="0">
                <a:solidFill>
                  <a:schemeClr val="tx1">
                    <a:lumMod val="50000"/>
                    <a:lumOff val="50000"/>
                  </a:schemeClr>
                </a:solidFill>
              </a:rPr>
              <a:t>Changes of state and the particle model </a:t>
            </a:r>
          </a:p>
          <a:p>
            <a:endParaRPr lang="en-GB" sz="2800" dirty="0">
              <a:solidFill>
                <a:schemeClr val="tx1">
                  <a:lumMod val="50000"/>
                  <a:lumOff val="50000"/>
                </a:schemeClr>
              </a:solidFill>
            </a:endParaRPr>
          </a:p>
          <a:p>
            <a:pPr marL="457200" indent="-457200">
              <a:lnSpc>
                <a:spcPct val="150000"/>
              </a:lnSpc>
              <a:buFont typeface="Arial" charset="0"/>
              <a:buChar char="•"/>
            </a:pPr>
            <a:r>
              <a:rPr lang="en-GB" sz="2400" b="1" dirty="0">
                <a:solidFill>
                  <a:schemeClr val="tx1">
                    <a:lumMod val="50000"/>
                    <a:lumOff val="50000"/>
                  </a:schemeClr>
                </a:solidFill>
              </a:rPr>
              <a:t>Density of materials</a:t>
            </a:r>
          </a:p>
          <a:p>
            <a:pPr marL="457200" indent="-457200">
              <a:lnSpc>
                <a:spcPct val="150000"/>
              </a:lnSpc>
              <a:buFont typeface="Arial" charset="0"/>
              <a:buChar char="•"/>
            </a:pPr>
            <a:r>
              <a:rPr lang="en-GB" sz="2400" b="1" dirty="0">
                <a:solidFill>
                  <a:schemeClr val="tx1">
                    <a:lumMod val="50000"/>
                    <a:lumOff val="50000"/>
                  </a:schemeClr>
                </a:solidFill>
              </a:rPr>
              <a:t>Changes of state</a:t>
            </a:r>
          </a:p>
          <a:p>
            <a:endParaRPr lang="en-GB" dirty="0"/>
          </a:p>
        </p:txBody>
      </p:sp>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3419872" y="0"/>
            <a:ext cx="5760640" cy="6525344"/>
          </a:xfrm>
          <a:prstGeom prst="rect">
            <a:avLst/>
          </a:prstGeom>
        </p:spPr>
      </p:pic>
    </p:spTree>
    <p:extLst>
      <p:ext uri="{BB962C8B-B14F-4D97-AF65-F5344CB8AC3E}">
        <p14:creationId xmlns:p14="http://schemas.microsoft.com/office/powerpoint/2010/main" val="632385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99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55576" y="15457"/>
            <a:ext cx="8172400" cy="657041"/>
          </a:xfrm>
        </p:spPr>
        <p:txBody>
          <a:bodyPr>
            <a:noAutofit/>
          </a:bodyPr>
          <a:lstStyle/>
          <a:p>
            <a:pPr marL="342900" marR="0" lvl="1" algn="l" defTabSz="342900" rtl="0" eaLnBrk="1" fontAlgn="auto" latinLnBrk="0" hangingPunct="1">
              <a:lnSpc>
                <a:spcPct val="100000"/>
              </a:lnSpc>
              <a:spcBef>
                <a:spcPct val="20000"/>
              </a:spcBef>
              <a:spcAft>
                <a:spcPts val="0"/>
              </a:spcAft>
              <a:buClrTx/>
              <a:buSzTx/>
              <a:tabLst/>
              <a:defRPr/>
            </a:pPr>
            <a:r>
              <a:rPr lang="en-US" sz="2000" b="1" dirty="0">
                <a:solidFill>
                  <a:schemeClr val="accent6"/>
                </a:solidFill>
              </a:rPr>
              <a:t>Changes of state and the particle model – 	Density of materials</a:t>
            </a:r>
            <a:endParaRPr lang="en-GB" sz="2000" b="1" dirty="0">
              <a:solidFill>
                <a:schemeClr val="accent6"/>
              </a:solidFill>
            </a:endParaRPr>
          </a:p>
        </p:txBody>
      </p:sp>
      <p:sp>
        <p:nvSpPr>
          <p:cNvPr id="8" name="TextBox 7"/>
          <p:cNvSpPr txBox="1"/>
          <p:nvPr/>
        </p:nvSpPr>
        <p:spPr>
          <a:xfrm>
            <a:off x="323528" y="1124744"/>
            <a:ext cx="8352928" cy="461665"/>
          </a:xfrm>
          <a:prstGeom prst="rect">
            <a:avLst/>
          </a:prstGeom>
          <a:solidFill>
            <a:schemeClr val="accent6"/>
          </a:solidFill>
          <a:ln>
            <a:noFill/>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2400" b="1" dirty="0"/>
              <a:t>Density is the mass of a given volume of a substance</a:t>
            </a:r>
          </a:p>
        </p:txBody>
      </p:sp>
      <p:pic>
        <p:nvPicPr>
          <p:cNvPr id="5" name="Picture 4">
            <a:extLst>
              <a:ext uri="{FF2B5EF4-FFF2-40B4-BE49-F238E27FC236}">
                <a16:creationId xmlns:a16="http://schemas.microsoft.com/office/drawing/2014/main" xmlns="" id="{4D65FE5C-4353-4B57-8042-E9E2227B3CDF}"/>
              </a:ext>
            </a:extLst>
          </p:cNvPr>
          <p:cNvPicPr>
            <a:picLocks noChangeAspect="1"/>
          </p:cNvPicPr>
          <p:nvPr/>
        </p:nvPicPr>
        <p:blipFill>
          <a:blip r:embed="rId3">
            <a:duotone>
              <a:schemeClr val="accent6">
                <a:shade val="45000"/>
                <a:satMod val="135000"/>
              </a:schemeClr>
              <a:prstClr val="white"/>
            </a:duotone>
            <a:extLst>
              <a:ext uri="{BEBA8EAE-BF5A-486C-A8C5-ECC9F3942E4B}">
                <a14:imgProps xmlns:a14="http://schemas.microsoft.com/office/drawing/2010/main">
                  <a14:imgLayer r:embed="rId4">
                    <a14:imgEffect>
                      <a14:colorTemperature colorTemp="9776"/>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4283968" y="2009341"/>
            <a:ext cx="1338907" cy="1399158"/>
          </a:xfrm>
          <a:prstGeom prst="rect">
            <a:avLst/>
          </a:prstGeom>
          <a:solidFill>
            <a:schemeClr val="accent6">
              <a:lumMod val="75000"/>
              <a:alpha val="69000"/>
            </a:schemeClr>
          </a:solidFill>
        </p:spPr>
      </p:pic>
      <p:sp>
        <p:nvSpPr>
          <p:cNvPr id="6" name="TextBox 5">
            <a:extLst>
              <a:ext uri="{FF2B5EF4-FFF2-40B4-BE49-F238E27FC236}">
                <a16:creationId xmlns:a16="http://schemas.microsoft.com/office/drawing/2014/main" xmlns="" id="{489DC72D-5FDD-4E89-BBD2-D9B19E10741F}"/>
              </a:ext>
            </a:extLst>
          </p:cNvPr>
          <p:cNvSpPr txBox="1"/>
          <p:nvPr/>
        </p:nvSpPr>
        <p:spPr>
          <a:xfrm>
            <a:off x="323528" y="1739424"/>
            <a:ext cx="8327177" cy="1938992"/>
          </a:xfrm>
          <a:prstGeom prst="rect">
            <a:avLst/>
          </a:prstGeom>
          <a:noFill/>
          <a:ln w="25400">
            <a:solidFill>
              <a:schemeClr val="accent6">
                <a:lumMod val="75000"/>
              </a:schemeClr>
            </a:solidFill>
          </a:ln>
        </p:spPr>
        <p:txBody>
          <a:bodyPr wrap="square" rtlCol="0">
            <a:spAutoFit/>
          </a:bodyPr>
          <a:lstStyle/>
          <a:p>
            <a:r>
              <a:rPr lang="en-US" sz="2400" dirty="0"/>
              <a:t>The density of a substance is</a:t>
            </a:r>
          </a:p>
          <a:p>
            <a:r>
              <a:rPr lang="en-US" sz="2400" dirty="0"/>
              <a:t>determined by the mass of                              </a:t>
            </a:r>
          </a:p>
          <a:p>
            <a:r>
              <a:rPr lang="en-US" sz="2400" dirty="0"/>
              <a:t>the atoms it is made from and                                          </a:t>
            </a:r>
          </a:p>
          <a:p>
            <a:r>
              <a:rPr lang="en-US" sz="2400" dirty="0"/>
              <a:t>how closely these atoms are    		    </a:t>
            </a:r>
            <a:r>
              <a:rPr lang="en-US" sz="2400" dirty="0">
                <a:solidFill>
                  <a:schemeClr val="accent6">
                    <a:lumMod val="75000"/>
                  </a:schemeClr>
                </a:solidFill>
              </a:rPr>
              <a:t>mass in kg </a:t>
            </a:r>
            <a:r>
              <a:rPr lang="en-US" sz="2400" dirty="0"/>
              <a:t>                      </a:t>
            </a:r>
          </a:p>
          <a:p>
            <a:r>
              <a:rPr lang="en-US" sz="2400" dirty="0"/>
              <a:t>packed together.                                                      </a:t>
            </a:r>
            <a:r>
              <a:rPr lang="en-US" sz="2400" dirty="0">
                <a:solidFill>
                  <a:schemeClr val="accent6">
                    <a:lumMod val="75000"/>
                  </a:schemeClr>
                </a:solidFill>
              </a:rPr>
              <a:t>volume in m</a:t>
            </a:r>
            <a:r>
              <a:rPr lang="en-US" sz="2800" baseline="30000" dirty="0">
                <a:solidFill>
                  <a:schemeClr val="accent6">
                    <a:lumMod val="75000"/>
                  </a:schemeClr>
                </a:solidFill>
              </a:rPr>
              <a:t>3</a:t>
            </a:r>
          </a:p>
        </p:txBody>
      </p:sp>
      <p:pic>
        <p:nvPicPr>
          <p:cNvPr id="11" name="Picture 10">
            <a:extLst>
              <a:ext uri="{FF2B5EF4-FFF2-40B4-BE49-F238E27FC236}">
                <a16:creationId xmlns:a16="http://schemas.microsoft.com/office/drawing/2014/main" xmlns="" id="{0E796EE6-BE11-4EC2-A554-22DDF64FC00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23341" y="1844824"/>
            <a:ext cx="2791584" cy="1052826"/>
          </a:xfrm>
          <a:prstGeom prst="rect">
            <a:avLst/>
          </a:prstGeom>
          <a:solidFill>
            <a:schemeClr val="accent6">
              <a:lumMod val="60000"/>
              <a:lumOff val="40000"/>
              <a:alpha val="76000"/>
            </a:schemeClr>
          </a:solidFill>
        </p:spPr>
      </p:pic>
      <p:sp>
        <p:nvSpPr>
          <p:cNvPr id="12" name="TextBox 11">
            <a:extLst>
              <a:ext uri="{FF2B5EF4-FFF2-40B4-BE49-F238E27FC236}">
                <a16:creationId xmlns:a16="http://schemas.microsoft.com/office/drawing/2014/main" xmlns="" id="{37C76B79-2211-4E0B-AAC2-1FC953A3B487}"/>
              </a:ext>
            </a:extLst>
          </p:cNvPr>
          <p:cNvSpPr txBox="1"/>
          <p:nvPr/>
        </p:nvSpPr>
        <p:spPr>
          <a:xfrm>
            <a:off x="323528" y="3861048"/>
            <a:ext cx="4752528" cy="2246769"/>
          </a:xfrm>
          <a:prstGeom prst="rect">
            <a:avLst/>
          </a:prstGeom>
          <a:gradFill flip="none" rotWithShape="1">
            <a:gsLst>
              <a:gs pos="0">
                <a:schemeClr val="accent6">
                  <a:lumMod val="0"/>
                  <a:lumOff val="100000"/>
                </a:schemeClr>
              </a:gs>
              <a:gs pos="32000">
                <a:schemeClr val="accent6">
                  <a:lumMod val="0"/>
                  <a:lumOff val="100000"/>
                </a:schemeClr>
              </a:gs>
              <a:gs pos="100000">
                <a:schemeClr val="accent6">
                  <a:lumMod val="100000"/>
                </a:schemeClr>
              </a:gs>
            </a:gsLst>
            <a:path path="circle">
              <a:fillToRect l="50000" t="-80000" r="50000" b="180000"/>
            </a:path>
            <a:tileRect/>
          </a:gradFill>
        </p:spPr>
        <p:txBody>
          <a:bodyPr wrap="square" rtlCol="0">
            <a:spAutoFit/>
          </a:bodyPr>
          <a:lstStyle/>
          <a:p>
            <a:r>
              <a:rPr lang="en-GB" dirty="0"/>
              <a:t>What is the density of a bar of gold if its volume is 350 cm</a:t>
            </a:r>
            <a:r>
              <a:rPr lang="en-GB" b="1" baseline="30000" dirty="0"/>
              <a:t>3</a:t>
            </a:r>
            <a:r>
              <a:rPr lang="en-GB" dirty="0"/>
              <a:t> (0.00035 m</a:t>
            </a:r>
            <a:r>
              <a:rPr lang="en-GB" b="1" baseline="30000" dirty="0"/>
              <a:t>3</a:t>
            </a:r>
            <a:r>
              <a:rPr lang="en-GB" dirty="0"/>
              <a:t>) and its mass is 6.76 kg?</a:t>
            </a:r>
          </a:p>
          <a:p>
            <a:endParaRPr lang="en-GB" dirty="0"/>
          </a:p>
          <a:p>
            <a:r>
              <a:rPr lang="en-GB" dirty="0"/>
              <a:t>Density </a:t>
            </a:r>
            <a:r>
              <a:rPr lang="en-GB" sz="3200" dirty="0"/>
              <a:t>ᵨ </a:t>
            </a:r>
            <a:r>
              <a:rPr lang="en-GB" dirty="0"/>
              <a:t>=   mass (kg)      =         6.76</a:t>
            </a:r>
            <a:endParaRPr lang="en-GB" u="sng" dirty="0"/>
          </a:p>
          <a:p>
            <a:r>
              <a:rPr lang="en-GB" dirty="0"/>
              <a:t>                      volume (m</a:t>
            </a:r>
            <a:r>
              <a:rPr lang="en-GB" sz="2000" baseline="30000" dirty="0"/>
              <a:t>3</a:t>
            </a:r>
            <a:r>
              <a:rPr lang="en-GB" dirty="0"/>
              <a:t>)           0.00035  </a:t>
            </a:r>
          </a:p>
          <a:p>
            <a:endParaRPr lang="en-GB" dirty="0"/>
          </a:p>
          <a:p>
            <a:r>
              <a:rPr lang="en-GB" dirty="0"/>
              <a:t>            Density of gold = 19 314 kg/m</a:t>
            </a:r>
            <a:r>
              <a:rPr lang="en-GB" sz="2000" baseline="30000" dirty="0"/>
              <a:t>3</a:t>
            </a:r>
          </a:p>
        </p:txBody>
      </p:sp>
      <p:graphicFrame>
        <p:nvGraphicFramePr>
          <p:cNvPr id="13" name="Table 12">
            <a:extLst>
              <a:ext uri="{FF2B5EF4-FFF2-40B4-BE49-F238E27FC236}">
                <a16:creationId xmlns:a16="http://schemas.microsoft.com/office/drawing/2014/main" xmlns="" id="{AFF1AE3A-304C-4D2A-B2FA-31398381D642}"/>
              </a:ext>
            </a:extLst>
          </p:cNvPr>
          <p:cNvGraphicFramePr>
            <a:graphicFrameLocks noGrp="1"/>
          </p:cNvGraphicFramePr>
          <p:nvPr>
            <p:extLst>
              <p:ext uri="{D42A27DB-BD31-4B8C-83A1-F6EECF244321}">
                <p14:modId xmlns:p14="http://schemas.microsoft.com/office/powerpoint/2010/main" val="844959420"/>
              </p:ext>
            </p:extLst>
          </p:nvPr>
        </p:nvGraphicFramePr>
        <p:xfrm>
          <a:off x="5266329" y="3861048"/>
          <a:ext cx="3384376" cy="2225040"/>
        </p:xfrm>
        <a:graphic>
          <a:graphicData uri="http://schemas.openxmlformats.org/drawingml/2006/table">
            <a:tbl>
              <a:tblPr firstRow="1" bandRow="1">
                <a:tableStyleId>{5C22544A-7EE6-4342-B048-85BDC9FD1C3A}</a:tableStyleId>
              </a:tblPr>
              <a:tblGrid>
                <a:gridCol w="1897959">
                  <a:extLst>
                    <a:ext uri="{9D8B030D-6E8A-4147-A177-3AD203B41FA5}">
                      <a16:colId xmlns:a16="http://schemas.microsoft.com/office/drawing/2014/main" xmlns="" val="1378892910"/>
                    </a:ext>
                  </a:extLst>
                </a:gridCol>
                <a:gridCol w="1486417">
                  <a:extLst>
                    <a:ext uri="{9D8B030D-6E8A-4147-A177-3AD203B41FA5}">
                      <a16:colId xmlns:a16="http://schemas.microsoft.com/office/drawing/2014/main" xmlns="" val="4105917665"/>
                    </a:ext>
                  </a:extLst>
                </a:gridCol>
              </a:tblGrid>
              <a:tr h="370840">
                <a:tc>
                  <a:txBody>
                    <a:bodyPr/>
                    <a:lstStyle/>
                    <a:p>
                      <a:r>
                        <a:rPr lang="en-GB" dirty="0">
                          <a:solidFill>
                            <a:schemeClr val="tx1"/>
                          </a:solidFill>
                        </a:rPr>
                        <a:t>       Substance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r>
                        <a:rPr lang="en-GB" dirty="0">
                          <a:solidFill>
                            <a:schemeClr val="tx1"/>
                          </a:solidFill>
                        </a:rPr>
                        <a:t>Density (kg/m</a:t>
                      </a:r>
                      <a:r>
                        <a:rPr lang="en-GB" sz="1600" baseline="30000" dirty="0">
                          <a:solidFill>
                            <a:schemeClr val="tx1"/>
                          </a:solidFill>
                        </a:rPr>
                        <a:t>3</a:t>
                      </a:r>
                      <a:r>
                        <a:rPr lang="en-GB"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extLst>
                  <a:ext uri="{0D108BD9-81ED-4DB2-BD59-A6C34878D82A}">
                    <a16:rowId xmlns:a16="http://schemas.microsoft.com/office/drawing/2014/main" xmlns="" val="2750814557"/>
                  </a:ext>
                </a:extLst>
              </a:tr>
              <a:tr h="370840">
                <a:tc>
                  <a:txBody>
                    <a:bodyPr/>
                    <a:lstStyle/>
                    <a:p>
                      <a:pPr algn="ctr"/>
                      <a:r>
                        <a:rPr lang="en-GB" b="1" dirty="0"/>
                        <a:t>Water (l)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b="1" dirty="0"/>
                        <a:t>1 000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634828053"/>
                  </a:ext>
                </a:extLst>
              </a:tr>
              <a:tr h="370840">
                <a:tc>
                  <a:txBody>
                    <a:bodyPr/>
                    <a:lstStyle/>
                    <a:p>
                      <a:pPr algn="ctr"/>
                      <a:r>
                        <a:rPr lang="en-GB" b="1" dirty="0"/>
                        <a:t>Glass (s)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b="1" dirty="0"/>
                        <a:t>3 140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3224699937"/>
                  </a:ext>
                </a:extLst>
              </a:tr>
              <a:tr h="370840">
                <a:tc>
                  <a:txBody>
                    <a:bodyPr/>
                    <a:lstStyle/>
                    <a:p>
                      <a:pPr algn="ctr"/>
                      <a:r>
                        <a:rPr lang="en-GB" b="1" dirty="0"/>
                        <a:t>Iron (s)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b="1" dirty="0"/>
                        <a:t>7 700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419132600"/>
                  </a:ext>
                </a:extLst>
              </a:tr>
              <a:tr h="370840">
                <a:tc>
                  <a:txBody>
                    <a:bodyPr/>
                    <a:lstStyle/>
                    <a:p>
                      <a:pPr algn="ctr"/>
                      <a:r>
                        <a:rPr lang="en-GB" b="1" dirty="0"/>
                        <a:t>Aluminium (s)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b="1" dirty="0"/>
                        <a:t>2 800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414442941"/>
                  </a:ext>
                </a:extLst>
              </a:tr>
              <a:tr h="370840">
                <a:tc>
                  <a:txBody>
                    <a:bodyPr/>
                    <a:lstStyle/>
                    <a:p>
                      <a:pPr algn="ctr"/>
                      <a:r>
                        <a:rPr lang="en-GB" b="1" dirty="0"/>
                        <a:t>Hydrogen (g)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b="1" dirty="0"/>
                        <a:t>0.085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469158336"/>
                  </a:ext>
                </a:extLst>
              </a:tr>
            </a:tbl>
          </a:graphicData>
        </a:graphic>
      </p:graphicFrame>
      <p:cxnSp>
        <p:nvCxnSpPr>
          <p:cNvPr id="4" name="Straight Connector 3">
            <a:extLst>
              <a:ext uri="{FF2B5EF4-FFF2-40B4-BE49-F238E27FC236}">
                <a16:creationId xmlns:a16="http://schemas.microsoft.com/office/drawing/2014/main" xmlns="" id="{08662C3E-C911-464B-BCA2-BAB41487E4E3}"/>
              </a:ext>
            </a:extLst>
          </p:cNvPr>
          <p:cNvCxnSpPr/>
          <p:nvPr/>
        </p:nvCxnSpPr>
        <p:spPr>
          <a:xfrm>
            <a:off x="3275856" y="5204284"/>
            <a:ext cx="79208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xmlns="" id="{A741C688-8EB7-4586-A1F2-0358309DF698}"/>
              </a:ext>
            </a:extLst>
          </p:cNvPr>
          <p:cNvCxnSpPr/>
          <p:nvPr/>
        </p:nvCxnSpPr>
        <p:spPr>
          <a:xfrm>
            <a:off x="1619672" y="5208639"/>
            <a:ext cx="108012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70480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5536" y="0"/>
            <a:ext cx="8604448" cy="672120"/>
          </a:xfrm>
        </p:spPr>
        <p:txBody>
          <a:bodyPr>
            <a:noAutofit/>
          </a:bodyPr>
          <a:lstStyle/>
          <a:p>
            <a:pPr marL="342900" marR="0" lvl="1" algn="l"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     </a:t>
            </a:r>
            <a:r>
              <a:rPr lang="en-US" sz="2000" b="1" dirty="0">
                <a:solidFill>
                  <a:schemeClr val="accent6"/>
                </a:solidFill>
              </a:rPr>
              <a:t>Changes of state and the particle model –  Density of materials</a:t>
            </a:r>
            <a:endParaRPr lang="en-GB" sz="2000" b="1" dirty="0">
              <a:solidFill>
                <a:schemeClr val="accent6"/>
              </a:solidFill>
            </a:endParaRPr>
          </a:p>
        </p:txBody>
      </p:sp>
      <p:pic>
        <p:nvPicPr>
          <p:cNvPr id="5" name="Picture 4" descr=" density of solid liquid and gas" title="sdgdf">
            <a:extLst>
              <a:ext uri="{FF2B5EF4-FFF2-40B4-BE49-F238E27FC236}">
                <a16:creationId xmlns:a16="http://schemas.microsoft.com/office/drawing/2014/main" xmlns="" id="{460C2CC9-3F6A-4CC5-B7F2-D31CD9164250}"/>
              </a:ext>
            </a:extLst>
          </p:cNvPr>
          <p:cNvPicPr/>
          <p:nvPr/>
        </p:nvPicPr>
        <p:blipFill rotWithShape="1">
          <a:blip r:embed="rId2">
            <a:duotone>
              <a:schemeClr val="accent6">
                <a:shade val="45000"/>
                <a:satMod val="135000"/>
              </a:schemeClr>
              <a:prstClr val="white"/>
            </a:duotone>
            <a:extLst>
              <a:ext uri="{BEBA8EAE-BF5A-486C-A8C5-ECC9F3942E4B}">
                <a14:imgProps xmlns:a14="http://schemas.microsoft.com/office/drawing/2010/main">
                  <a14:imgLayer r:embed="rId3">
                    <a14:imgEffect>
                      <a14:colorTemperature colorTemp="11200"/>
                    </a14:imgEffect>
                    <a14:imgEffect>
                      <a14:saturation sat="400000"/>
                    </a14:imgEffect>
                  </a14:imgLayer>
                </a14:imgProps>
              </a:ext>
              <a:ext uri="{28A0092B-C50C-407E-A947-70E740481C1C}">
                <a14:useLocalDpi xmlns:a14="http://schemas.microsoft.com/office/drawing/2010/main" val="0"/>
              </a:ext>
            </a:extLst>
          </a:blip>
          <a:srcRect l="3" r="-1869" b="22755"/>
          <a:stretch/>
        </p:blipFill>
        <p:spPr bwMode="auto">
          <a:xfrm>
            <a:off x="179512" y="1519153"/>
            <a:ext cx="4918075" cy="2483485"/>
          </a:xfrm>
          <a:prstGeom prst="rect">
            <a:avLst/>
          </a:prstGeom>
          <a:noFill/>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xmlns="" id="{989D78BF-2761-4AA0-97A4-FD50F549416C}"/>
              </a:ext>
            </a:extLst>
          </p:cNvPr>
          <p:cNvSpPr txBox="1"/>
          <p:nvPr/>
        </p:nvSpPr>
        <p:spPr>
          <a:xfrm>
            <a:off x="395536" y="1052736"/>
            <a:ext cx="8519864" cy="3416320"/>
          </a:xfrm>
          <a:prstGeom prst="rect">
            <a:avLst/>
          </a:prstGeom>
          <a:noFill/>
        </p:spPr>
        <p:txBody>
          <a:bodyPr wrap="square" rtlCol="0">
            <a:spAutoFit/>
          </a:bodyPr>
          <a:lstStyle/>
          <a:p>
            <a:r>
              <a:rPr lang="en-GB" sz="2400" dirty="0"/>
              <a:t>Density also depends on the </a:t>
            </a:r>
            <a:r>
              <a:rPr lang="en-GB" sz="2400" b="1" dirty="0">
                <a:solidFill>
                  <a:schemeClr val="accent6">
                    <a:lumMod val="75000"/>
                  </a:schemeClr>
                </a:solidFill>
              </a:rPr>
              <a:t>state</a:t>
            </a:r>
            <a:r>
              <a:rPr lang="en-GB" sz="2400" dirty="0">
                <a:solidFill>
                  <a:schemeClr val="accent6">
                    <a:lumMod val="75000"/>
                  </a:schemeClr>
                </a:solidFill>
              </a:rPr>
              <a:t> </a:t>
            </a:r>
            <a:r>
              <a:rPr lang="en-GB" sz="2400" dirty="0"/>
              <a:t>of a substance. </a:t>
            </a:r>
          </a:p>
          <a:p>
            <a:r>
              <a:rPr lang="en-GB" sz="2400" dirty="0"/>
              <a:t>                                                                 In </a:t>
            </a:r>
            <a:r>
              <a:rPr lang="en-GB" sz="2400" b="1" dirty="0">
                <a:solidFill>
                  <a:schemeClr val="accent6">
                    <a:lumMod val="75000"/>
                  </a:schemeClr>
                </a:solidFill>
              </a:rPr>
              <a:t>solids</a:t>
            </a:r>
            <a:r>
              <a:rPr lang="en-GB" sz="2400" dirty="0"/>
              <a:t> the particles are 					            packed close together.</a:t>
            </a:r>
          </a:p>
          <a:p>
            <a:r>
              <a:rPr lang="en-GB" sz="2400" dirty="0"/>
              <a:t>				            In </a:t>
            </a:r>
            <a:r>
              <a:rPr lang="en-GB" sz="2400" b="1" dirty="0">
                <a:solidFill>
                  <a:schemeClr val="accent6">
                    <a:lumMod val="75000"/>
                  </a:schemeClr>
                </a:solidFill>
              </a:rPr>
              <a:t>liquids</a:t>
            </a:r>
            <a:r>
              <a:rPr lang="en-GB" sz="2400" dirty="0"/>
              <a:t> the particles are free 				            to move so the same mass 					            takes up more space.</a:t>
            </a:r>
          </a:p>
          <a:p>
            <a:r>
              <a:rPr lang="en-GB" sz="2400" dirty="0"/>
              <a:t>				            In </a:t>
            </a:r>
            <a:r>
              <a:rPr lang="en-GB" sz="2400" b="1" dirty="0">
                <a:solidFill>
                  <a:schemeClr val="accent6">
                    <a:lumMod val="75000"/>
                  </a:schemeClr>
                </a:solidFill>
              </a:rPr>
              <a:t>gases</a:t>
            </a:r>
            <a:r>
              <a:rPr lang="en-GB" sz="2400" dirty="0"/>
              <a:t> the particles take up 				             	            a much greater volume than in 				            liquids and solids.</a:t>
            </a:r>
          </a:p>
        </p:txBody>
      </p:sp>
      <p:sp>
        <p:nvSpPr>
          <p:cNvPr id="4" name="TextBox 3">
            <a:extLst>
              <a:ext uri="{FF2B5EF4-FFF2-40B4-BE49-F238E27FC236}">
                <a16:creationId xmlns:a16="http://schemas.microsoft.com/office/drawing/2014/main" xmlns="" id="{3B081368-5D99-4A74-9739-4B340974A044}"/>
              </a:ext>
            </a:extLst>
          </p:cNvPr>
          <p:cNvSpPr txBox="1"/>
          <p:nvPr/>
        </p:nvSpPr>
        <p:spPr>
          <a:xfrm>
            <a:off x="539552" y="3501008"/>
            <a:ext cx="4104456" cy="369332"/>
          </a:xfrm>
          <a:prstGeom prst="rect">
            <a:avLst/>
          </a:prstGeom>
          <a:solidFill>
            <a:schemeClr val="bg1"/>
          </a:solidFill>
        </p:spPr>
        <p:txBody>
          <a:bodyPr wrap="square" rtlCol="0">
            <a:spAutoFit/>
          </a:bodyPr>
          <a:lstStyle/>
          <a:p>
            <a:r>
              <a:rPr lang="en-GB" dirty="0"/>
              <a:t>   Solid	              Liquid	          Gas</a:t>
            </a:r>
          </a:p>
        </p:txBody>
      </p:sp>
      <p:sp>
        <p:nvSpPr>
          <p:cNvPr id="6" name="TextBox 5">
            <a:extLst>
              <a:ext uri="{FF2B5EF4-FFF2-40B4-BE49-F238E27FC236}">
                <a16:creationId xmlns:a16="http://schemas.microsoft.com/office/drawing/2014/main" xmlns="" id="{39F470C0-4A36-4F58-ABC3-1F89A1E82CDE}"/>
              </a:ext>
            </a:extLst>
          </p:cNvPr>
          <p:cNvSpPr txBox="1"/>
          <p:nvPr/>
        </p:nvSpPr>
        <p:spPr>
          <a:xfrm>
            <a:off x="395536" y="4581128"/>
            <a:ext cx="8424936" cy="1754326"/>
          </a:xfrm>
          <a:prstGeom prst="rect">
            <a:avLst/>
          </a:prstGeom>
          <a:noFill/>
          <a:ln w="25400">
            <a:solidFill>
              <a:schemeClr val="accent6">
                <a:lumMod val="75000"/>
              </a:schemeClr>
            </a:solidFill>
          </a:ln>
        </p:spPr>
        <p:txBody>
          <a:bodyPr wrap="square" rtlCol="0">
            <a:spAutoFit/>
          </a:bodyPr>
          <a:lstStyle/>
          <a:p>
            <a:r>
              <a:rPr lang="en-GB" sz="2400" dirty="0"/>
              <a:t>For any particular substance, a </a:t>
            </a:r>
            <a:r>
              <a:rPr lang="en-GB" sz="2400" dirty="0">
                <a:solidFill>
                  <a:schemeClr val="accent6">
                    <a:lumMod val="75000"/>
                  </a:schemeClr>
                </a:solidFill>
              </a:rPr>
              <a:t>solid is usually denser than its liquid </a:t>
            </a:r>
            <a:r>
              <a:rPr lang="en-GB" sz="2400" dirty="0"/>
              <a:t>and the </a:t>
            </a:r>
            <a:r>
              <a:rPr lang="en-GB" sz="2400" dirty="0">
                <a:solidFill>
                  <a:schemeClr val="accent6">
                    <a:lumMod val="75000"/>
                  </a:schemeClr>
                </a:solidFill>
              </a:rPr>
              <a:t>liquid is usually denser than the gas</a:t>
            </a:r>
            <a:r>
              <a:rPr lang="en-GB" sz="2400" dirty="0"/>
              <a:t>.</a:t>
            </a:r>
          </a:p>
          <a:p>
            <a:endParaRPr lang="en-GB" sz="1200" dirty="0"/>
          </a:p>
          <a:p>
            <a:r>
              <a:rPr lang="en-GB" sz="2400" dirty="0"/>
              <a:t>However, </a:t>
            </a:r>
            <a:r>
              <a:rPr lang="en-GB" sz="2400" dirty="0">
                <a:solidFill>
                  <a:schemeClr val="accent6">
                    <a:lumMod val="75000"/>
                  </a:schemeClr>
                </a:solidFill>
              </a:rPr>
              <a:t>there are exceptions </a:t>
            </a:r>
            <a:r>
              <a:rPr lang="en-GB" sz="2400" dirty="0"/>
              <a:t>to this. Solid water (ice) is less dense than liquid water. This is why ice floats on water.</a:t>
            </a:r>
          </a:p>
        </p:txBody>
      </p:sp>
    </p:spTree>
    <p:extLst>
      <p:ext uri="{BB962C8B-B14F-4D97-AF65-F5344CB8AC3E}">
        <p14:creationId xmlns:p14="http://schemas.microsoft.com/office/powerpoint/2010/main" val="1113305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99FF99">
            <a:alpha val="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77143" y="82930"/>
            <a:ext cx="8436859"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b="1" dirty="0">
                <a:solidFill>
                  <a:schemeClr val="accent6"/>
                </a:solidFill>
              </a:rPr>
              <a:t>Changes of state and the particle model –Density of materials</a:t>
            </a:r>
            <a:endParaRPr lang="en-GB" sz="2000" b="1" dirty="0">
              <a:solidFill>
                <a:schemeClr val="accent6"/>
              </a:solidFill>
            </a:endParaRPr>
          </a:p>
        </p:txBody>
      </p:sp>
      <p:pic>
        <p:nvPicPr>
          <p:cNvPr id="4" name="Picture 3">
            <a:extLst>
              <a:ext uri="{FF2B5EF4-FFF2-40B4-BE49-F238E27FC236}">
                <a16:creationId xmlns:a16="http://schemas.microsoft.com/office/drawing/2014/main" xmlns="" id="{DCDE06A3-0F9F-487E-A2AC-CD368BE5D8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354" y="1700808"/>
            <a:ext cx="2806466" cy="3240360"/>
          </a:xfrm>
          <a:prstGeom prst="rect">
            <a:avLst/>
          </a:prstGeom>
        </p:spPr>
      </p:pic>
      <p:sp>
        <p:nvSpPr>
          <p:cNvPr id="5" name="TextBox 4">
            <a:extLst>
              <a:ext uri="{FF2B5EF4-FFF2-40B4-BE49-F238E27FC236}">
                <a16:creationId xmlns:a16="http://schemas.microsoft.com/office/drawing/2014/main" xmlns="" id="{A6A177B9-55EB-4DBB-B815-605A814E63F7}"/>
              </a:ext>
            </a:extLst>
          </p:cNvPr>
          <p:cNvSpPr txBox="1"/>
          <p:nvPr/>
        </p:nvSpPr>
        <p:spPr>
          <a:xfrm>
            <a:off x="2195737" y="836712"/>
            <a:ext cx="5256584" cy="461665"/>
          </a:xfrm>
          <a:prstGeom prst="rect">
            <a:avLst/>
          </a:prstGeom>
          <a:solidFill>
            <a:schemeClr val="accent6">
              <a:lumMod val="75000"/>
            </a:schemeClr>
          </a:solidFill>
        </p:spPr>
        <p:txBody>
          <a:bodyPr wrap="square" rtlCol="0">
            <a:spAutoFit/>
          </a:bodyPr>
          <a:lstStyle/>
          <a:p>
            <a:r>
              <a:rPr lang="en-GB" sz="2400" dirty="0"/>
              <a:t>Finding the density of an irregular object</a:t>
            </a:r>
          </a:p>
        </p:txBody>
      </p:sp>
      <p:sp>
        <p:nvSpPr>
          <p:cNvPr id="6" name="TextBox 5">
            <a:extLst>
              <a:ext uri="{FF2B5EF4-FFF2-40B4-BE49-F238E27FC236}">
                <a16:creationId xmlns:a16="http://schemas.microsoft.com/office/drawing/2014/main" xmlns="" id="{BA1B36E3-1EAB-4D6D-A2EA-518854407A86}"/>
              </a:ext>
            </a:extLst>
          </p:cNvPr>
          <p:cNvSpPr txBox="1"/>
          <p:nvPr/>
        </p:nvSpPr>
        <p:spPr>
          <a:xfrm>
            <a:off x="2795372" y="1700808"/>
            <a:ext cx="6018629" cy="3093154"/>
          </a:xfrm>
          <a:prstGeom prst="rect">
            <a:avLst/>
          </a:prstGeom>
          <a:noFill/>
        </p:spPr>
        <p:txBody>
          <a:bodyPr wrap="square" rtlCol="0">
            <a:spAutoFit/>
          </a:bodyPr>
          <a:lstStyle/>
          <a:p>
            <a:r>
              <a:rPr lang="en-GB" sz="2400" dirty="0"/>
              <a:t>To find the density of an </a:t>
            </a:r>
            <a:r>
              <a:rPr lang="en-GB" sz="2400" b="1" dirty="0">
                <a:solidFill>
                  <a:schemeClr val="accent6">
                    <a:lumMod val="75000"/>
                  </a:schemeClr>
                </a:solidFill>
              </a:rPr>
              <a:t>irregular </a:t>
            </a:r>
            <a:r>
              <a:rPr lang="en-GB" sz="2400" dirty="0"/>
              <a:t>shaped object, you need to determine its volume.</a:t>
            </a:r>
          </a:p>
          <a:p>
            <a:r>
              <a:rPr lang="en-GB" sz="2400" dirty="0"/>
              <a:t>To do this, it is placed in a known volume of water and the amount of water </a:t>
            </a:r>
            <a:r>
              <a:rPr lang="en-GB" sz="2400" b="1" dirty="0">
                <a:solidFill>
                  <a:schemeClr val="accent6">
                    <a:lumMod val="75000"/>
                  </a:schemeClr>
                </a:solidFill>
              </a:rPr>
              <a:t>displaced</a:t>
            </a:r>
            <a:r>
              <a:rPr lang="en-GB" sz="2400" dirty="0"/>
              <a:t> equals the volume of the object.</a:t>
            </a:r>
            <a:r>
              <a:rPr lang="en-GB" dirty="0"/>
              <a:t> </a:t>
            </a:r>
          </a:p>
          <a:p>
            <a:endParaRPr lang="en-GB" dirty="0"/>
          </a:p>
          <a:p>
            <a:r>
              <a:rPr lang="en-GB" dirty="0"/>
              <a:t>    </a:t>
            </a:r>
            <a:r>
              <a:rPr lang="en-GB" sz="1900" dirty="0"/>
              <a:t>Piece of</a:t>
            </a:r>
            <a:r>
              <a:rPr lang="en-GB" sz="1900" b="1" dirty="0">
                <a:solidFill>
                  <a:schemeClr val="accent6">
                    <a:lumMod val="75000"/>
                  </a:schemeClr>
                </a:solidFill>
              </a:rPr>
              <a:t> granite </a:t>
            </a:r>
            <a:r>
              <a:rPr lang="en-GB" sz="1900" dirty="0"/>
              <a:t>stone with a mass of 13.5 g (0.0135 kg)</a:t>
            </a:r>
          </a:p>
          <a:p>
            <a:r>
              <a:rPr lang="en-GB" sz="1900" dirty="0"/>
              <a:t>			     </a:t>
            </a:r>
          </a:p>
          <a:p>
            <a:r>
              <a:rPr lang="en-GB" sz="1900" dirty="0"/>
              <a:t>		 Volume = 0.000005 m</a:t>
            </a:r>
            <a:r>
              <a:rPr lang="en-GB" sz="2000" b="1" baseline="30000" dirty="0"/>
              <a:t>3 </a:t>
            </a:r>
            <a:r>
              <a:rPr lang="en-GB" sz="1900" dirty="0"/>
              <a:t>	</a:t>
            </a:r>
          </a:p>
        </p:txBody>
      </p:sp>
      <p:cxnSp>
        <p:nvCxnSpPr>
          <p:cNvPr id="8" name="Straight Arrow Connector 7">
            <a:extLst>
              <a:ext uri="{FF2B5EF4-FFF2-40B4-BE49-F238E27FC236}">
                <a16:creationId xmlns:a16="http://schemas.microsoft.com/office/drawing/2014/main" xmlns="" id="{ABFB6101-1AD8-4E7C-BC95-4B397C8BB58B}"/>
              </a:ext>
            </a:extLst>
          </p:cNvPr>
          <p:cNvCxnSpPr>
            <a:cxnSpLocks/>
          </p:cNvCxnSpPr>
          <p:nvPr/>
        </p:nvCxnSpPr>
        <p:spPr>
          <a:xfrm flipH="1">
            <a:off x="2339752" y="4005064"/>
            <a:ext cx="612068" cy="49651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2" name="Left Brace 11">
            <a:extLst>
              <a:ext uri="{FF2B5EF4-FFF2-40B4-BE49-F238E27FC236}">
                <a16:creationId xmlns:a16="http://schemas.microsoft.com/office/drawing/2014/main" xmlns="" id="{EDE38B68-D82D-41C4-B7D6-96732E6AA5BA}"/>
              </a:ext>
            </a:extLst>
          </p:cNvPr>
          <p:cNvSpPr/>
          <p:nvPr/>
        </p:nvSpPr>
        <p:spPr>
          <a:xfrm>
            <a:off x="1891796" y="3055314"/>
            <a:ext cx="210889" cy="21602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4" name="TextBox 13">
            <a:extLst>
              <a:ext uri="{FF2B5EF4-FFF2-40B4-BE49-F238E27FC236}">
                <a16:creationId xmlns:a16="http://schemas.microsoft.com/office/drawing/2014/main" xmlns="" id="{5316B368-460C-4CE6-B624-0513F024F716}"/>
              </a:ext>
            </a:extLst>
          </p:cNvPr>
          <p:cNvSpPr txBox="1"/>
          <p:nvPr/>
        </p:nvSpPr>
        <p:spPr>
          <a:xfrm>
            <a:off x="1043608" y="2470829"/>
            <a:ext cx="1059077" cy="1569660"/>
          </a:xfrm>
          <a:prstGeom prst="rect">
            <a:avLst/>
          </a:prstGeom>
          <a:noFill/>
        </p:spPr>
        <p:txBody>
          <a:bodyPr wrap="square" rtlCol="0">
            <a:spAutoFit/>
          </a:bodyPr>
          <a:lstStyle/>
          <a:p>
            <a:r>
              <a:rPr lang="en-GB" sz="1600" b="1" dirty="0"/>
              <a:t>Increase in water level = volume of granite</a:t>
            </a:r>
          </a:p>
          <a:p>
            <a:r>
              <a:rPr lang="en-GB" sz="1600" b="1" dirty="0"/>
              <a:t>(5 cm</a:t>
            </a:r>
            <a:r>
              <a:rPr lang="en-GB" sz="1600" b="1" baseline="30000" dirty="0"/>
              <a:t>3</a:t>
            </a:r>
            <a:r>
              <a:rPr lang="en-GB" sz="1600" b="1" dirty="0"/>
              <a:t>)</a:t>
            </a:r>
          </a:p>
        </p:txBody>
      </p:sp>
      <p:sp>
        <p:nvSpPr>
          <p:cNvPr id="15" name="TextBox 14">
            <a:extLst>
              <a:ext uri="{FF2B5EF4-FFF2-40B4-BE49-F238E27FC236}">
                <a16:creationId xmlns:a16="http://schemas.microsoft.com/office/drawing/2014/main" xmlns="" id="{68A0702B-A1FC-4949-9A11-AF12BC9EE118}"/>
              </a:ext>
            </a:extLst>
          </p:cNvPr>
          <p:cNvSpPr txBox="1"/>
          <p:nvPr/>
        </p:nvSpPr>
        <p:spPr>
          <a:xfrm>
            <a:off x="707141" y="5208154"/>
            <a:ext cx="7776864" cy="830997"/>
          </a:xfrm>
          <a:prstGeom prst="rect">
            <a:avLst/>
          </a:prstGeom>
          <a:solidFill>
            <a:schemeClr val="accent6">
              <a:lumMod val="60000"/>
              <a:lumOff val="40000"/>
            </a:schemeClr>
          </a:solidFill>
          <a:ln w="12700">
            <a:solidFill>
              <a:schemeClr val="accent6">
                <a:lumMod val="75000"/>
              </a:schemeClr>
            </a:solidFill>
          </a:ln>
        </p:spPr>
        <p:txBody>
          <a:bodyPr wrap="square" rtlCol="0">
            <a:spAutoFit/>
          </a:bodyPr>
          <a:lstStyle/>
          <a:p>
            <a:r>
              <a:rPr lang="en-GB" sz="2400" dirty="0"/>
              <a:t>Density of granite =     </a:t>
            </a:r>
            <a:r>
              <a:rPr lang="en-GB" sz="2400" u="sng" dirty="0"/>
              <a:t>  0.0135 kg  </a:t>
            </a:r>
            <a:r>
              <a:rPr lang="en-GB" sz="2400" dirty="0"/>
              <a:t>       = 2 690 kg/m</a:t>
            </a:r>
            <a:r>
              <a:rPr lang="en-GB" sz="2400" b="1" baseline="30000" dirty="0"/>
              <a:t>3</a:t>
            </a:r>
            <a:r>
              <a:rPr lang="en-GB" sz="2400" dirty="0"/>
              <a:t> </a:t>
            </a:r>
          </a:p>
          <a:p>
            <a:r>
              <a:rPr lang="en-GB" sz="2400" dirty="0"/>
              <a:t>		              0.000005 m</a:t>
            </a:r>
            <a:r>
              <a:rPr lang="en-GB" sz="2400" b="1" baseline="30000" dirty="0"/>
              <a:t>3</a:t>
            </a:r>
            <a:r>
              <a:rPr lang="en-GB" dirty="0"/>
              <a:t>	    </a:t>
            </a:r>
          </a:p>
        </p:txBody>
      </p:sp>
    </p:spTree>
    <p:extLst>
      <p:ext uri="{BB962C8B-B14F-4D97-AF65-F5344CB8AC3E}">
        <p14:creationId xmlns:p14="http://schemas.microsoft.com/office/powerpoint/2010/main" val="1368381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99FF99">
            <a:alpha val="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7418"/>
            <a:ext cx="8532440" cy="657041"/>
          </a:xfrm>
        </p:spPr>
        <p:txBody>
          <a:bodyPr>
            <a:noAutofit/>
          </a:bodyPr>
          <a:lstStyle/>
          <a:p>
            <a:pPr marL="342900" marR="0" lvl="1" algn="l" defTabSz="342900" rtl="0" eaLnBrk="1" fontAlgn="auto" latinLnBrk="0" hangingPunct="1">
              <a:lnSpc>
                <a:spcPct val="100000"/>
              </a:lnSpc>
              <a:spcBef>
                <a:spcPct val="20000"/>
              </a:spcBef>
              <a:spcAft>
                <a:spcPts val="0"/>
              </a:spcAft>
              <a:buClrTx/>
              <a:buSzTx/>
              <a:tabLst/>
              <a:defRPr/>
            </a:pPr>
            <a:r>
              <a:rPr lang="en-US" sz="2000" b="1" dirty="0">
                <a:solidFill>
                  <a:schemeClr val="accent6"/>
                </a:solidFill>
              </a:rPr>
              <a:t>Changes of state and the particle model – Changes of state</a:t>
            </a:r>
            <a:endParaRPr lang="en-GB" sz="2000" b="1" dirty="0">
              <a:solidFill>
                <a:schemeClr val="accent6"/>
              </a:solidFill>
            </a:endParaRPr>
          </a:p>
        </p:txBody>
      </p:sp>
      <p:sp>
        <p:nvSpPr>
          <p:cNvPr id="3" name="TextBox 2">
            <a:extLst>
              <a:ext uri="{FF2B5EF4-FFF2-40B4-BE49-F238E27FC236}">
                <a16:creationId xmlns:a16="http://schemas.microsoft.com/office/drawing/2014/main" xmlns="" id="{3FD1830A-2376-446B-81B5-475CA51A4D33}"/>
              </a:ext>
            </a:extLst>
          </p:cNvPr>
          <p:cNvSpPr txBox="1"/>
          <p:nvPr/>
        </p:nvSpPr>
        <p:spPr>
          <a:xfrm>
            <a:off x="395536" y="745249"/>
            <a:ext cx="8640960" cy="830997"/>
          </a:xfrm>
          <a:prstGeom prst="rect">
            <a:avLst/>
          </a:prstGeom>
          <a:solidFill>
            <a:schemeClr val="accent6">
              <a:lumMod val="60000"/>
              <a:lumOff val="40000"/>
            </a:schemeClr>
          </a:solidFill>
          <a:ln w="25400">
            <a:solidFill>
              <a:schemeClr val="accent6">
                <a:lumMod val="75000"/>
              </a:schemeClr>
            </a:solidFill>
          </a:ln>
        </p:spPr>
        <p:txBody>
          <a:bodyPr wrap="square" rtlCol="0">
            <a:spAutoFit/>
          </a:bodyPr>
          <a:lstStyle/>
          <a:p>
            <a:pPr algn="ctr"/>
            <a:r>
              <a:rPr lang="en-GB" sz="2400" dirty="0"/>
              <a:t>A change of state can be brought about by changing the </a:t>
            </a:r>
            <a:r>
              <a:rPr lang="en-GB" sz="2400" b="1" dirty="0"/>
              <a:t>temperature</a:t>
            </a:r>
            <a:r>
              <a:rPr lang="en-GB" sz="2400" dirty="0"/>
              <a:t> or</a:t>
            </a:r>
            <a:r>
              <a:rPr lang="en-GB" sz="2400" b="1" dirty="0"/>
              <a:t> pressure </a:t>
            </a:r>
            <a:r>
              <a:rPr lang="en-GB" sz="2400" dirty="0"/>
              <a:t>of a material.</a:t>
            </a:r>
          </a:p>
        </p:txBody>
      </p:sp>
      <p:pic>
        <p:nvPicPr>
          <p:cNvPr id="11" name="Picture 10" descr="Image result for change of state diagram">
            <a:extLst>
              <a:ext uri="{FF2B5EF4-FFF2-40B4-BE49-F238E27FC236}">
                <a16:creationId xmlns:a16="http://schemas.microsoft.com/office/drawing/2014/main" xmlns="" id="{70954E79-30A8-4237-8AFC-6A74CB12C6E2}"/>
              </a:ext>
            </a:extLst>
          </p:cNvPr>
          <p:cNvPicPr/>
          <p:nvPr/>
        </p:nvPicPr>
        <p:blipFill rotWithShape="1">
          <a:blip r:embed="rId2">
            <a:extLst>
              <a:ext uri="{28A0092B-C50C-407E-A947-70E740481C1C}">
                <a14:useLocalDpi xmlns:a14="http://schemas.microsoft.com/office/drawing/2010/main" val="0"/>
              </a:ext>
            </a:extLst>
          </a:blip>
          <a:srcRect b="5195"/>
          <a:stretch/>
        </p:blipFill>
        <p:spPr bwMode="auto">
          <a:xfrm>
            <a:off x="2843809" y="1772816"/>
            <a:ext cx="3456384" cy="3383915"/>
          </a:xfrm>
          <a:prstGeom prst="rect">
            <a:avLst/>
          </a:prstGeom>
          <a:noFill/>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xmlns="" id="{EA04EE17-4414-4033-86DF-AE18FEE2D974}"/>
              </a:ext>
            </a:extLst>
          </p:cNvPr>
          <p:cNvSpPr txBox="1"/>
          <p:nvPr/>
        </p:nvSpPr>
        <p:spPr>
          <a:xfrm>
            <a:off x="395536" y="1657036"/>
            <a:ext cx="2448269" cy="4801314"/>
          </a:xfrm>
          <a:prstGeom prst="rect">
            <a:avLst/>
          </a:prstGeom>
          <a:noFill/>
          <a:ln w="25400">
            <a:solidFill>
              <a:schemeClr val="accent6">
                <a:lumMod val="75000"/>
              </a:schemeClr>
            </a:solidFill>
          </a:ln>
        </p:spPr>
        <p:txBody>
          <a:bodyPr wrap="square" rtlCol="0">
            <a:spAutoFit/>
          </a:bodyPr>
          <a:lstStyle/>
          <a:p>
            <a:r>
              <a:rPr lang="en-GB" sz="2400" dirty="0"/>
              <a:t>If the solid shown has a mass of 1kg, then the liquid and gas will both have a mass of</a:t>
            </a:r>
          </a:p>
          <a:p>
            <a:r>
              <a:rPr lang="en-GB" sz="2400" dirty="0"/>
              <a:t>1 kg.</a:t>
            </a:r>
          </a:p>
          <a:p>
            <a:endParaRPr lang="en-GB" dirty="0"/>
          </a:p>
          <a:p>
            <a:r>
              <a:rPr lang="en-GB" sz="2400" b="1" dirty="0">
                <a:solidFill>
                  <a:schemeClr val="accent6">
                    <a:lumMod val="75000"/>
                  </a:schemeClr>
                </a:solidFill>
              </a:rPr>
              <a:t>Mass is conserved when a substance changes state, only the volume changes.</a:t>
            </a:r>
          </a:p>
        </p:txBody>
      </p:sp>
      <p:sp>
        <p:nvSpPr>
          <p:cNvPr id="10" name="TextBox 9">
            <a:extLst>
              <a:ext uri="{FF2B5EF4-FFF2-40B4-BE49-F238E27FC236}">
                <a16:creationId xmlns:a16="http://schemas.microsoft.com/office/drawing/2014/main" xmlns="" id="{0A15C1D8-71DC-41A8-BBE4-D2B3C1CDBD8D}"/>
              </a:ext>
            </a:extLst>
          </p:cNvPr>
          <p:cNvSpPr txBox="1"/>
          <p:nvPr/>
        </p:nvSpPr>
        <p:spPr>
          <a:xfrm>
            <a:off x="6228184" y="1657036"/>
            <a:ext cx="2808312" cy="4832092"/>
          </a:xfrm>
          <a:prstGeom prst="rect">
            <a:avLst/>
          </a:prstGeom>
          <a:noFill/>
          <a:ln w="25400">
            <a:solidFill>
              <a:schemeClr val="accent6">
                <a:lumMod val="75000"/>
              </a:schemeClr>
            </a:solidFill>
          </a:ln>
        </p:spPr>
        <p:txBody>
          <a:bodyPr wrap="square" rtlCol="0">
            <a:spAutoFit/>
          </a:bodyPr>
          <a:lstStyle/>
          <a:p>
            <a:r>
              <a:rPr lang="en-GB" sz="2400" dirty="0"/>
              <a:t>Changes of state are </a:t>
            </a:r>
            <a:r>
              <a:rPr lang="en-GB" sz="2400" b="1" dirty="0">
                <a:solidFill>
                  <a:schemeClr val="accent6">
                    <a:lumMod val="75000"/>
                  </a:schemeClr>
                </a:solidFill>
              </a:rPr>
              <a:t>physical changes </a:t>
            </a:r>
            <a:r>
              <a:rPr lang="en-GB" sz="2400" b="1" dirty="0"/>
              <a:t>not</a:t>
            </a:r>
            <a:r>
              <a:rPr lang="en-GB" sz="2400" b="1" dirty="0">
                <a:solidFill>
                  <a:schemeClr val="accent6">
                    <a:lumMod val="75000"/>
                  </a:schemeClr>
                </a:solidFill>
              </a:rPr>
              <a:t> </a:t>
            </a:r>
            <a:r>
              <a:rPr lang="en-GB" sz="2400" dirty="0"/>
              <a:t>chemical changes.</a:t>
            </a:r>
          </a:p>
          <a:p>
            <a:r>
              <a:rPr lang="en-GB" sz="2400" dirty="0"/>
              <a:t>The change can be </a:t>
            </a:r>
            <a:r>
              <a:rPr lang="en-GB" sz="2400" b="1" dirty="0">
                <a:solidFill>
                  <a:schemeClr val="accent6">
                    <a:lumMod val="75000"/>
                  </a:schemeClr>
                </a:solidFill>
              </a:rPr>
              <a:t>reversed</a:t>
            </a:r>
            <a:r>
              <a:rPr lang="en-GB" sz="2400" dirty="0"/>
              <a:t> in a physical change so the material recovers its </a:t>
            </a:r>
            <a:r>
              <a:rPr lang="en-GB" sz="2400" b="1" dirty="0">
                <a:solidFill>
                  <a:schemeClr val="accent6">
                    <a:lumMod val="75000"/>
                  </a:schemeClr>
                </a:solidFill>
              </a:rPr>
              <a:t>original properties</a:t>
            </a:r>
            <a:r>
              <a:rPr lang="en-GB" sz="2400" dirty="0"/>
              <a:t>.</a:t>
            </a:r>
          </a:p>
          <a:p>
            <a:r>
              <a:rPr lang="en-GB" sz="2400" dirty="0"/>
              <a:t>This does not happen with a chemical change.</a:t>
            </a:r>
          </a:p>
          <a:p>
            <a:endParaRPr lang="en-GB" sz="1100" dirty="0"/>
          </a:p>
        </p:txBody>
      </p:sp>
      <p:sp>
        <p:nvSpPr>
          <p:cNvPr id="13" name="TextBox 12">
            <a:extLst>
              <a:ext uri="{FF2B5EF4-FFF2-40B4-BE49-F238E27FC236}">
                <a16:creationId xmlns:a16="http://schemas.microsoft.com/office/drawing/2014/main" xmlns="" id="{C17FFAD2-27C6-4A39-9E66-DFFB66CD57C2}"/>
              </a:ext>
            </a:extLst>
          </p:cNvPr>
          <p:cNvSpPr txBox="1"/>
          <p:nvPr/>
        </p:nvSpPr>
        <p:spPr>
          <a:xfrm>
            <a:off x="2843807" y="5272511"/>
            <a:ext cx="3384375" cy="707886"/>
          </a:xfrm>
          <a:prstGeom prst="rect">
            <a:avLst/>
          </a:prstGeom>
          <a:noFill/>
        </p:spPr>
        <p:txBody>
          <a:bodyPr wrap="square" rtlCol="0">
            <a:spAutoFit/>
          </a:bodyPr>
          <a:lstStyle/>
          <a:p>
            <a:pPr algn="ctr"/>
            <a:r>
              <a:rPr lang="en-GB" sz="2000" b="1" dirty="0"/>
              <a:t>The arrows show the direction in change of state.</a:t>
            </a:r>
          </a:p>
        </p:txBody>
      </p:sp>
    </p:spTree>
    <p:extLst>
      <p:ext uri="{BB962C8B-B14F-4D97-AF65-F5344CB8AC3E}">
        <p14:creationId xmlns:p14="http://schemas.microsoft.com/office/powerpoint/2010/main" val="3007501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509200"/>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3600" b="1" dirty="0">
                <a:solidFill>
                  <a:schemeClr val="tx1">
                    <a:lumMod val="50000"/>
                    <a:lumOff val="50000"/>
                  </a:schemeClr>
                </a:solidFill>
              </a:rPr>
              <a:t>Changes of state and the particle model</a:t>
            </a:r>
          </a:p>
          <a:p>
            <a:endParaRPr lang="en-GB" sz="2800" dirty="0">
              <a:solidFill>
                <a:schemeClr val="tx1">
                  <a:lumMod val="50000"/>
                  <a:lumOff val="50000"/>
                </a:schemeClr>
              </a:solidFill>
            </a:endParaRPr>
          </a:p>
          <a:p>
            <a:pPr marL="457200" indent="-457200">
              <a:lnSpc>
                <a:spcPct val="150000"/>
              </a:lnSpc>
              <a:buFont typeface="Arial" charset="0"/>
              <a:buChar char="•"/>
            </a:pPr>
            <a:r>
              <a:rPr lang="en-GB" sz="2400" b="1" dirty="0">
                <a:solidFill>
                  <a:schemeClr val="tx1">
                    <a:lumMod val="50000"/>
                    <a:lumOff val="50000"/>
                  </a:schemeClr>
                </a:solidFill>
              </a:rPr>
              <a:t>Density of materials</a:t>
            </a:r>
          </a:p>
          <a:p>
            <a:pPr marL="457200" indent="-457200">
              <a:lnSpc>
                <a:spcPct val="150000"/>
              </a:lnSpc>
              <a:buFont typeface="Arial" charset="0"/>
              <a:buChar char="•"/>
            </a:pPr>
            <a:r>
              <a:rPr lang="en-GB" sz="2400" b="1" dirty="0">
                <a:solidFill>
                  <a:schemeClr val="tx1">
                    <a:lumMod val="50000"/>
                    <a:lumOff val="50000"/>
                  </a:schemeClr>
                </a:solidFill>
              </a:rPr>
              <a:t>Changes of state</a:t>
            </a:r>
          </a:p>
          <a:p>
            <a:pPr marL="457200" indent="-457200">
              <a:lnSpc>
                <a:spcPct val="150000"/>
              </a:lnSpc>
              <a:buFont typeface="Arial" charset="0"/>
              <a:buChar char="•"/>
            </a:pPr>
            <a:endParaRPr lang="en-GB" sz="2400" b="1" dirty="0">
              <a:solidFill>
                <a:schemeClr val="tx1">
                  <a:lumMod val="50000"/>
                  <a:lumOff val="50000"/>
                </a:schemeClr>
              </a:solidFill>
            </a:endParaRP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994288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l" defTabSz="342900" rtl="0">
              <a:spcBef>
                <a:spcPct val="20000"/>
              </a:spcBef>
            </a:pPr>
            <a:r>
              <a:rPr lang="en-US" sz="2400" b="1" dirty="0">
                <a:solidFill>
                  <a:schemeClr val="accent6"/>
                </a:solidFill>
              </a:rPr>
              <a:t>Changes of state and the particle model – </a:t>
            </a:r>
            <a:r>
              <a:rPr lang="en-US" sz="2400" b="1" dirty="0">
                <a:solidFill>
                  <a:schemeClr val="tx1"/>
                </a:solidFill>
              </a:rPr>
              <a:t>Answer</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77630" y="599567"/>
            <a:ext cx="8915400" cy="6001643"/>
          </a:xfrm>
          <a:prstGeom prst="rect">
            <a:avLst/>
          </a:prstGeom>
          <a:noFill/>
        </p:spPr>
        <p:txBody>
          <a:bodyPr wrap="square" rtlCol="0">
            <a:spAutoFit/>
          </a:bodyPr>
          <a:lstStyle/>
          <a:p>
            <a:pPr marL="457200" indent="-457200">
              <a:lnSpc>
                <a:spcPct val="150000"/>
              </a:lnSpc>
              <a:buAutoNum type="arabicPeriod"/>
            </a:pPr>
            <a:r>
              <a:rPr lang="en-GB" sz="2400" dirty="0"/>
              <a:t>Why is it incorrect to say iron is heavier than wood?</a:t>
            </a:r>
          </a:p>
          <a:p>
            <a:r>
              <a:rPr lang="en-GB" sz="2400" dirty="0">
                <a:solidFill>
                  <a:srgbClr val="00B050"/>
                </a:solidFill>
              </a:rPr>
              <a:t>        </a:t>
            </a:r>
          </a:p>
          <a:p>
            <a:r>
              <a:rPr lang="en-GB" sz="2400" dirty="0">
                <a:solidFill>
                  <a:srgbClr val="00B050"/>
                </a:solidFill>
              </a:rPr>
              <a:t>        </a:t>
            </a:r>
          </a:p>
          <a:p>
            <a:pPr>
              <a:lnSpc>
                <a:spcPct val="150000"/>
              </a:lnSpc>
            </a:pPr>
            <a:r>
              <a:rPr lang="en-GB" sz="2400" dirty="0"/>
              <a:t>2. Water has a density of 1000 kg/m</a:t>
            </a:r>
            <a:r>
              <a:rPr lang="en-GB" sz="2400" b="1" baseline="30000" dirty="0"/>
              <a:t>3</a:t>
            </a:r>
            <a:r>
              <a:rPr lang="en-GB" sz="2400" dirty="0"/>
              <a:t>. A piece of rubber has a density</a:t>
            </a:r>
          </a:p>
          <a:p>
            <a:r>
              <a:rPr lang="en-GB" sz="2400" dirty="0"/>
              <a:t>     of 1024 kg/m</a:t>
            </a:r>
            <a:r>
              <a:rPr lang="en-GB" sz="2400" b="1" baseline="30000" dirty="0"/>
              <a:t>3</a:t>
            </a:r>
            <a:r>
              <a:rPr lang="en-GB" sz="2400" dirty="0"/>
              <a:t>. Explain what would happen if the rubber was put in</a:t>
            </a:r>
          </a:p>
          <a:p>
            <a:r>
              <a:rPr lang="en-GB" sz="2400" dirty="0"/>
              <a:t>     a pool of water? </a:t>
            </a:r>
          </a:p>
          <a:p>
            <a:r>
              <a:rPr lang="en-GB" sz="2400" dirty="0"/>
              <a:t>      </a:t>
            </a:r>
            <a:r>
              <a:rPr lang="en-GB" sz="2400" b="1" dirty="0">
                <a:solidFill>
                  <a:srgbClr val="00B050"/>
                </a:solidFill>
              </a:rPr>
              <a:t> </a:t>
            </a:r>
          </a:p>
          <a:p>
            <a:r>
              <a:rPr lang="en-GB" sz="2400" b="1" dirty="0">
                <a:solidFill>
                  <a:srgbClr val="00B050"/>
                </a:solidFill>
              </a:rPr>
              <a:t>       </a:t>
            </a:r>
          </a:p>
          <a:p>
            <a:pPr lvl="0"/>
            <a:r>
              <a:rPr lang="en-GB" sz="2400" dirty="0"/>
              <a:t>3. This “ready-mix” concrete waggon contains </a:t>
            </a:r>
          </a:p>
          <a:p>
            <a:pPr lvl="0"/>
            <a:r>
              <a:rPr lang="en-GB" sz="2400" dirty="0"/>
              <a:t>     9600 kg of concrete. If the density of the</a:t>
            </a:r>
          </a:p>
          <a:p>
            <a:pPr lvl="0"/>
            <a:r>
              <a:rPr lang="en-GB" sz="2400" dirty="0"/>
              <a:t>     concrete is 2400 kg/m</a:t>
            </a:r>
            <a:r>
              <a:rPr lang="en-GB" sz="2400" b="1" baseline="30000" dirty="0"/>
              <a:t>3</a:t>
            </a:r>
            <a:r>
              <a:rPr lang="en-GB" sz="2400" dirty="0"/>
              <a:t>, what volume of </a:t>
            </a:r>
          </a:p>
          <a:p>
            <a:pPr lvl="0"/>
            <a:r>
              <a:rPr lang="en-GB" sz="2400" dirty="0"/>
              <a:t>     concrete does the waggon contain?</a:t>
            </a:r>
          </a:p>
          <a:p>
            <a:pPr lvl="0"/>
            <a:r>
              <a:rPr lang="en-GB" sz="2400" dirty="0"/>
              <a:t>       </a:t>
            </a:r>
            <a:r>
              <a:rPr lang="en-GB" sz="2400" b="1" dirty="0">
                <a:solidFill>
                  <a:srgbClr val="00B050"/>
                </a:solidFill>
              </a:rPr>
              <a:t> </a:t>
            </a:r>
          </a:p>
          <a:p>
            <a:pPr lvl="0"/>
            <a:r>
              <a:rPr lang="en-GB" sz="2400" b="1" dirty="0">
                <a:solidFill>
                  <a:srgbClr val="00B050"/>
                </a:solidFill>
              </a:rPr>
              <a:t>                           </a:t>
            </a:r>
            <a:endParaRPr lang="en-GB" sz="2400" b="1" baseline="30000" dirty="0">
              <a:solidFill>
                <a:srgbClr val="00B050"/>
              </a:solidFill>
            </a:endParaRPr>
          </a:p>
          <a:p>
            <a:pPr lvl="0"/>
            <a:r>
              <a:rPr lang="en-GB" sz="2400" b="1" dirty="0">
                <a:solidFill>
                  <a:srgbClr val="00B050"/>
                </a:solidFill>
              </a:rPr>
              <a:t>                         </a:t>
            </a:r>
            <a:endParaRPr lang="en-GB" sz="1600" b="1" baseline="30000" dirty="0">
              <a:solidFill>
                <a:srgbClr val="00B050"/>
              </a:solidFill>
            </a:endParaRPr>
          </a:p>
        </p:txBody>
      </p:sp>
      <p:pic>
        <p:nvPicPr>
          <p:cNvPr id="5" name="Picture 4">
            <a:extLst>
              <a:ext uri="{FF2B5EF4-FFF2-40B4-BE49-F238E27FC236}">
                <a16:creationId xmlns:a16="http://schemas.microsoft.com/office/drawing/2014/main" xmlns="" id="{2D88332B-D9CC-4DD2-B275-7D2CF6C974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8224" y="3549501"/>
            <a:ext cx="2143125" cy="2143125"/>
          </a:xfrm>
          <a:prstGeom prst="rect">
            <a:avLst/>
          </a:prstGeom>
        </p:spPr>
      </p:pic>
    </p:spTree>
    <p:extLst>
      <p:ext uri="{BB962C8B-B14F-4D97-AF65-F5344CB8AC3E}">
        <p14:creationId xmlns:p14="http://schemas.microsoft.com/office/powerpoint/2010/main" val="990603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0965"/>
            <a:ext cx="8028384" cy="657041"/>
          </a:xfrm>
        </p:spPr>
        <p:txBody>
          <a:bodyPr>
            <a:noAutofit/>
          </a:bodyPr>
          <a:lstStyle/>
          <a:p>
            <a:pPr marL="342900" lvl="1" algn="l" defTabSz="342900" rtl="0">
              <a:spcBef>
                <a:spcPct val="20000"/>
              </a:spcBef>
            </a:pPr>
            <a:r>
              <a:rPr lang="en-US" sz="2400" b="1" dirty="0">
                <a:solidFill>
                  <a:schemeClr val="accent6"/>
                </a:solidFill>
              </a:rPr>
              <a:t>Changes of state and the particle model – </a:t>
            </a:r>
            <a:r>
              <a:rPr lang="en-US" sz="2400" b="1" dirty="0">
                <a:solidFill>
                  <a:schemeClr val="tx1"/>
                </a:solidFill>
              </a:rPr>
              <a:t>Answer</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6326" y="646076"/>
            <a:ext cx="9180921" cy="6001643"/>
          </a:xfrm>
          <a:prstGeom prst="rect">
            <a:avLst/>
          </a:prstGeom>
          <a:noFill/>
        </p:spPr>
        <p:txBody>
          <a:bodyPr wrap="square" rtlCol="0">
            <a:spAutoFit/>
          </a:bodyPr>
          <a:lstStyle/>
          <a:p>
            <a:pPr lvl="0"/>
            <a:r>
              <a:rPr lang="en-GB" sz="2400" dirty="0"/>
              <a:t>4. a. A sheet of insulating foam measures 3 m x 1 m x 0.08 m. </a:t>
            </a:r>
            <a:r>
              <a:rPr lang="en-US" sz="2400" dirty="0"/>
              <a:t>It has a</a:t>
            </a:r>
          </a:p>
          <a:p>
            <a:pPr lvl="0"/>
            <a:r>
              <a:rPr lang="en-US" sz="2400" dirty="0"/>
              <a:t>        mass of 9.6 kg. </a:t>
            </a:r>
            <a:r>
              <a:rPr lang="en-GB" sz="2400" dirty="0"/>
              <a:t>Calculate the density of the insulating foam.</a:t>
            </a:r>
          </a:p>
          <a:p>
            <a:pPr lvl="0"/>
            <a:r>
              <a:rPr lang="en-GB" sz="2400" dirty="0"/>
              <a:t>         </a:t>
            </a:r>
            <a:r>
              <a:rPr lang="en-GB" sz="2400" b="1" dirty="0">
                <a:solidFill>
                  <a:srgbClr val="00B050"/>
                </a:solidFill>
              </a:rPr>
              <a:t> </a:t>
            </a:r>
          </a:p>
          <a:p>
            <a:r>
              <a:rPr lang="en-GB" sz="2400" dirty="0"/>
              <a:t>     b. High density foam is made of the same material and can be used</a:t>
            </a:r>
          </a:p>
          <a:p>
            <a:r>
              <a:rPr lang="en-GB" sz="2400" dirty="0"/>
              <a:t>         to give better insulation for the same thickness of foam. Describe</a:t>
            </a:r>
          </a:p>
          <a:p>
            <a:r>
              <a:rPr lang="en-GB" sz="2400" dirty="0"/>
              <a:t>         how the arrangement of particles would differ in these two types</a:t>
            </a:r>
          </a:p>
          <a:p>
            <a:r>
              <a:rPr lang="en-GB" sz="2400" dirty="0"/>
              <a:t>         of foam (you may draw diagrams to help your answer). </a:t>
            </a:r>
          </a:p>
          <a:p>
            <a:r>
              <a:rPr lang="en-GB" sz="2400" dirty="0"/>
              <a:t>         </a:t>
            </a:r>
            <a:r>
              <a:rPr lang="en-GB" sz="2400" b="1" dirty="0">
                <a:solidFill>
                  <a:srgbClr val="00B050"/>
                </a:solidFill>
              </a:rPr>
              <a:t> </a:t>
            </a:r>
          </a:p>
          <a:p>
            <a:r>
              <a:rPr lang="en-GB" sz="2400" b="1" dirty="0">
                <a:solidFill>
                  <a:srgbClr val="00B050"/>
                </a:solidFill>
              </a:rPr>
              <a:t>          </a:t>
            </a:r>
          </a:p>
          <a:p>
            <a:pPr lvl="0"/>
            <a:r>
              <a:rPr lang="en-GB" sz="2400" dirty="0"/>
              <a:t>5. When copper metal is heated to 1100 </a:t>
            </a:r>
            <a:r>
              <a:rPr lang="en-GB" sz="2400" baseline="30000" dirty="0"/>
              <a:t>o</a:t>
            </a:r>
            <a:r>
              <a:rPr lang="en-GB" sz="2400" dirty="0"/>
              <a:t>C it melts. </a:t>
            </a:r>
            <a:r>
              <a:rPr lang="en-US" sz="2400" dirty="0"/>
              <a:t> </a:t>
            </a:r>
            <a:endParaRPr lang="en-GB" sz="2400" dirty="0"/>
          </a:p>
          <a:p>
            <a:pPr lvl="0"/>
            <a:r>
              <a:rPr lang="en-GB" sz="2400" dirty="0"/>
              <a:t>     a. Is this a chemical or physical change? Explain your answer.</a:t>
            </a:r>
          </a:p>
          <a:p>
            <a:r>
              <a:rPr lang="en-US" sz="2400" dirty="0"/>
              <a:t>          </a:t>
            </a:r>
            <a:r>
              <a:rPr lang="en-GB" sz="2400" b="1" dirty="0">
                <a:solidFill>
                  <a:srgbClr val="00B050"/>
                </a:solidFill>
              </a:rPr>
              <a:t> </a:t>
            </a:r>
            <a:endParaRPr lang="en-GB" sz="2400" dirty="0"/>
          </a:p>
          <a:p>
            <a:pPr lvl="0"/>
            <a:r>
              <a:rPr lang="en-GB" sz="2400" dirty="0"/>
              <a:t>     b. What will happen to the mass of the sample of copper after it has</a:t>
            </a:r>
          </a:p>
          <a:p>
            <a:pPr lvl="0"/>
            <a:r>
              <a:rPr lang="en-GB" sz="2400" dirty="0"/>
              <a:t>          melted? Explain your answer.</a:t>
            </a:r>
          </a:p>
          <a:p>
            <a:pPr lvl="0"/>
            <a:r>
              <a:rPr lang="en-GB" sz="2400" b="1" dirty="0">
                <a:solidFill>
                  <a:srgbClr val="00B050"/>
                </a:solidFill>
              </a:rPr>
              <a:t>           </a:t>
            </a:r>
          </a:p>
          <a:p>
            <a:endParaRPr lang="en-GB" sz="2400" dirty="0"/>
          </a:p>
        </p:txBody>
      </p:sp>
    </p:spTree>
    <p:extLst>
      <p:ext uri="{BB962C8B-B14F-4D97-AF65-F5344CB8AC3E}">
        <p14:creationId xmlns:p14="http://schemas.microsoft.com/office/powerpoint/2010/main" val="1785036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0965"/>
            <a:ext cx="8028384" cy="657041"/>
          </a:xfrm>
        </p:spPr>
        <p:txBody>
          <a:bodyPr>
            <a:noAutofit/>
          </a:bodyPr>
          <a:lstStyle/>
          <a:p>
            <a:pPr marL="342900" lvl="1" algn="l" defTabSz="342900" rtl="0">
              <a:spcBef>
                <a:spcPct val="20000"/>
              </a:spcBef>
            </a:pPr>
            <a:r>
              <a:rPr lang="en-US" sz="2400" b="1" dirty="0">
                <a:solidFill>
                  <a:schemeClr val="accent6"/>
                </a:solidFill>
              </a:rPr>
              <a:t>Changes of state and the particle model – </a:t>
            </a:r>
            <a:r>
              <a:rPr lang="en-US" sz="2400" b="1" dirty="0">
                <a:solidFill>
                  <a:schemeClr val="tx1"/>
                </a:solidFill>
              </a:rPr>
              <a:t>Answer</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32043" y="658529"/>
            <a:ext cx="9180921" cy="6001643"/>
          </a:xfrm>
          <a:prstGeom prst="rect">
            <a:avLst/>
          </a:prstGeom>
          <a:noFill/>
        </p:spPr>
        <p:txBody>
          <a:bodyPr wrap="square" rtlCol="0">
            <a:spAutoFit/>
          </a:bodyPr>
          <a:lstStyle/>
          <a:p>
            <a:r>
              <a:rPr lang="en-GB" sz="2400" dirty="0"/>
              <a:t>6. Explain the difference between a physical and a chemical change.</a:t>
            </a:r>
          </a:p>
          <a:p>
            <a:r>
              <a:rPr lang="en-GB" sz="2400" dirty="0"/>
              <a:t>      </a:t>
            </a:r>
            <a:r>
              <a:rPr lang="en-GB" sz="2400" b="1" dirty="0">
                <a:solidFill>
                  <a:srgbClr val="00B050"/>
                </a:solidFill>
              </a:rPr>
              <a:t>  </a:t>
            </a:r>
          </a:p>
          <a:p>
            <a:r>
              <a:rPr lang="en-GB" sz="2400" b="1" dirty="0">
                <a:solidFill>
                  <a:srgbClr val="00B050"/>
                </a:solidFill>
              </a:rPr>
              <a:t>       </a:t>
            </a:r>
          </a:p>
          <a:p>
            <a:r>
              <a:rPr lang="en-GB" sz="2400" b="1" dirty="0">
                <a:solidFill>
                  <a:srgbClr val="00B050"/>
                </a:solidFill>
              </a:rPr>
              <a:t>       </a:t>
            </a:r>
          </a:p>
          <a:p>
            <a:r>
              <a:rPr lang="en-GB" sz="2400" b="1" dirty="0">
                <a:solidFill>
                  <a:srgbClr val="00B050"/>
                </a:solidFill>
              </a:rPr>
              <a:t>       </a:t>
            </a:r>
            <a:r>
              <a:rPr lang="en-GB" sz="2400" dirty="0"/>
              <a:t>	</a:t>
            </a:r>
          </a:p>
          <a:p>
            <a:r>
              <a:rPr lang="en-GB" sz="2400" dirty="0"/>
              <a:t>7. Name the changes in state given in</a:t>
            </a:r>
          </a:p>
          <a:p>
            <a:r>
              <a:rPr lang="en-GB" sz="2400" dirty="0"/>
              <a:t>     the diagram by the arrows 1 to 6.</a:t>
            </a:r>
          </a:p>
          <a:p>
            <a:r>
              <a:rPr lang="en-GB" sz="2400" dirty="0"/>
              <a:t>     </a:t>
            </a:r>
            <a:r>
              <a:rPr lang="en-GB" sz="2400" b="1" dirty="0">
                <a:solidFill>
                  <a:srgbClr val="00B050"/>
                </a:solidFill>
              </a:rPr>
              <a:t> </a:t>
            </a:r>
          </a:p>
          <a:p>
            <a:r>
              <a:rPr lang="en-GB" sz="2400" b="1" dirty="0">
                <a:solidFill>
                  <a:srgbClr val="00B050"/>
                </a:solidFill>
              </a:rPr>
              <a:t>      </a:t>
            </a:r>
          </a:p>
          <a:p>
            <a:endParaRPr lang="en-GB" sz="2400" dirty="0"/>
          </a:p>
          <a:p>
            <a:r>
              <a:rPr lang="en-GB" sz="2400" dirty="0"/>
              <a:t>8. If you wanted to find the density of a brass key, you first need to</a:t>
            </a:r>
          </a:p>
          <a:p>
            <a:r>
              <a:rPr lang="en-GB" sz="2400" dirty="0"/>
              <a:t>     measure its volume. Describe how to determine the volume of a</a:t>
            </a:r>
          </a:p>
          <a:p>
            <a:r>
              <a:rPr lang="en-GB" sz="2400" dirty="0"/>
              <a:t>     brass key.</a:t>
            </a:r>
          </a:p>
          <a:p>
            <a:r>
              <a:rPr lang="en-GB" sz="2400" dirty="0"/>
              <a:t>     </a:t>
            </a:r>
            <a:r>
              <a:rPr lang="en-GB" sz="2400" b="1" dirty="0">
                <a:solidFill>
                  <a:srgbClr val="00B050"/>
                </a:solidFill>
              </a:rPr>
              <a:t>  </a:t>
            </a:r>
          </a:p>
          <a:p>
            <a:r>
              <a:rPr lang="en-GB" sz="2400" b="1" dirty="0">
                <a:solidFill>
                  <a:srgbClr val="00B050"/>
                </a:solidFill>
              </a:rPr>
              <a:t>      </a:t>
            </a:r>
          </a:p>
          <a:p>
            <a:r>
              <a:rPr lang="en-GB" sz="2400" b="1" dirty="0">
                <a:solidFill>
                  <a:srgbClr val="00B050"/>
                </a:solidFill>
              </a:rPr>
              <a:t>      </a:t>
            </a:r>
            <a:r>
              <a:rPr lang="en-GB" sz="2400" dirty="0"/>
              <a:t>	</a:t>
            </a:r>
          </a:p>
        </p:txBody>
      </p:sp>
      <p:pic>
        <p:nvPicPr>
          <p:cNvPr id="5" name="Picture 4" descr="Image result for change of state diagram">
            <a:extLst>
              <a:ext uri="{FF2B5EF4-FFF2-40B4-BE49-F238E27FC236}">
                <a16:creationId xmlns:a16="http://schemas.microsoft.com/office/drawing/2014/main" xmlns="" id="{44719C27-B3DB-49EC-9E46-D412BD55F943}"/>
              </a:ext>
            </a:extLst>
          </p:cNvPr>
          <p:cNvPicPr/>
          <p:nvPr/>
        </p:nvPicPr>
        <p:blipFill rotWithShape="1">
          <a:blip r:embed="rId2">
            <a:extLst>
              <a:ext uri="{28A0092B-C50C-407E-A947-70E740481C1C}">
                <a14:useLocalDpi xmlns:a14="http://schemas.microsoft.com/office/drawing/2010/main" val="0"/>
              </a:ext>
            </a:extLst>
          </a:blip>
          <a:srcRect l="9498" t="9188" r="9498" b="9188"/>
          <a:stretch/>
        </p:blipFill>
        <p:spPr bwMode="auto">
          <a:xfrm>
            <a:off x="5580754" y="1844824"/>
            <a:ext cx="3501419" cy="2232248"/>
          </a:xfrm>
          <a:prstGeom prst="rect">
            <a:avLst/>
          </a:prstGeom>
          <a:noFill/>
          <a:ln>
            <a:noFill/>
          </a:ln>
        </p:spPr>
      </p:pic>
      <p:pic>
        <p:nvPicPr>
          <p:cNvPr id="7" name="Picture 6">
            <a:extLst>
              <a:ext uri="{FF2B5EF4-FFF2-40B4-BE49-F238E27FC236}">
                <a16:creationId xmlns:a16="http://schemas.microsoft.com/office/drawing/2014/main" xmlns="" id="{1938C68B-5933-498D-BCF8-A0967E56AE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7186254" y="5472649"/>
            <a:ext cx="1440160" cy="683693"/>
          </a:xfrm>
          <a:prstGeom prst="rect">
            <a:avLst/>
          </a:prstGeom>
        </p:spPr>
      </p:pic>
    </p:spTree>
    <p:extLst>
      <p:ext uri="{BB962C8B-B14F-4D97-AF65-F5344CB8AC3E}">
        <p14:creationId xmlns:p14="http://schemas.microsoft.com/office/powerpoint/2010/main" val="765940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49087" y="963938"/>
            <a:ext cx="4716016" cy="4739759"/>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Changes of state and the particle model</a:t>
            </a:r>
          </a:p>
          <a:p>
            <a:endParaRPr lang="en-GB" sz="1400" dirty="0">
              <a:solidFill>
                <a:schemeClr val="tx1">
                  <a:lumMod val="50000"/>
                  <a:lumOff val="50000"/>
                </a:schemeClr>
              </a:solidFill>
            </a:endParaRPr>
          </a:p>
          <a:p>
            <a:pPr marL="457200" indent="-457200">
              <a:lnSpc>
                <a:spcPct val="150000"/>
              </a:lnSpc>
              <a:buFont typeface="Arial" charset="0"/>
              <a:buChar char="•"/>
            </a:pPr>
            <a:r>
              <a:rPr lang="en-GB" sz="2400" b="1" dirty="0">
                <a:solidFill>
                  <a:schemeClr val="tx1">
                    <a:lumMod val="50000"/>
                    <a:lumOff val="50000"/>
                  </a:schemeClr>
                </a:solidFill>
              </a:rPr>
              <a:t>Density of materials</a:t>
            </a:r>
          </a:p>
          <a:p>
            <a:pPr marL="457200" indent="-457200">
              <a:lnSpc>
                <a:spcPct val="150000"/>
              </a:lnSpc>
              <a:buFont typeface="Arial" charset="0"/>
              <a:buChar char="•"/>
            </a:pPr>
            <a:r>
              <a:rPr lang="en-GB" sz="2400" b="1" dirty="0">
                <a:solidFill>
                  <a:schemeClr val="tx1">
                    <a:lumMod val="50000"/>
                    <a:lumOff val="50000"/>
                  </a:schemeClr>
                </a:solidFill>
              </a:rPr>
              <a:t>Changes of state</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1921545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l" defTabSz="342900" rtl="0">
              <a:spcBef>
                <a:spcPct val="20000"/>
              </a:spcBef>
            </a:pPr>
            <a:r>
              <a:rPr lang="en-US" sz="2400" b="1" dirty="0">
                <a:solidFill>
                  <a:schemeClr val="accent6"/>
                </a:solidFill>
              </a:rPr>
              <a:t>Changes of state and the particle model – </a:t>
            </a:r>
            <a:r>
              <a:rPr lang="en-US" sz="2400" b="1" dirty="0">
                <a:solidFill>
                  <a:schemeClr val="tx1"/>
                </a:solidFill>
              </a:rPr>
              <a:t>Answer</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0" y="548680"/>
            <a:ext cx="8915400" cy="6001643"/>
          </a:xfrm>
          <a:prstGeom prst="rect">
            <a:avLst/>
          </a:prstGeom>
          <a:noFill/>
        </p:spPr>
        <p:txBody>
          <a:bodyPr wrap="square" rtlCol="0">
            <a:spAutoFit/>
          </a:bodyPr>
          <a:lstStyle/>
          <a:p>
            <a:pPr marL="457200" indent="-457200">
              <a:lnSpc>
                <a:spcPct val="150000"/>
              </a:lnSpc>
              <a:buAutoNum type="arabicPeriod"/>
            </a:pPr>
            <a:r>
              <a:rPr lang="en-GB" sz="2400" dirty="0"/>
              <a:t>Why is it incorrect to say iron is heavier than wood?</a:t>
            </a:r>
          </a:p>
          <a:p>
            <a:r>
              <a:rPr lang="en-GB" sz="2400" dirty="0">
                <a:solidFill>
                  <a:srgbClr val="00B050"/>
                </a:solidFill>
              </a:rPr>
              <a:t>       It depends how much iron and wood you have. You should say iron</a:t>
            </a:r>
          </a:p>
          <a:p>
            <a:r>
              <a:rPr lang="en-GB" sz="2400" dirty="0">
                <a:solidFill>
                  <a:srgbClr val="00B050"/>
                </a:solidFill>
              </a:rPr>
              <a:t>       is denser than wood.</a:t>
            </a:r>
          </a:p>
          <a:p>
            <a:pPr>
              <a:lnSpc>
                <a:spcPct val="150000"/>
              </a:lnSpc>
            </a:pPr>
            <a:r>
              <a:rPr lang="en-GB" sz="2400" dirty="0"/>
              <a:t>2. Water has a density of 1000 kg/m</a:t>
            </a:r>
            <a:r>
              <a:rPr lang="en-GB" sz="2400" b="1" baseline="30000" dirty="0"/>
              <a:t>3</a:t>
            </a:r>
            <a:r>
              <a:rPr lang="en-GB" sz="2400" dirty="0"/>
              <a:t>. A piece of rubber has a density</a:t>
            </a:r>
          </a:p>
          <a:p>
            <a:r>
              <a:rPr lang="en-GB" sz="2400" dirty="0"/>
              <a:t>     of 1024 kg/m</a:t>
            </a:r>
            <a:r>
              <a:rPr lang="en-GB" sz="2400" b="1" baseline="30000" dirty="0"/>
              <a:t>3</a:t>
            </a:r>
            <a:r>
              <a:rPr lang="en-GB" sz="2400" dirty="0"/>
              <a:t>. Explain what would happen if the rubber was put in</a:t>
            </a:r>
          </a:p>
          <a:p>
            <a:r>
              <a:rPr lang="en-GB" sz="2400" dirty="0"/>
              <a:t>     a pool of water? </a:t>
            </a:r>
          </a:p>
          <a:p>
            <a:r>
              <a:rPr lang="en-GB" sz="2400" dirty="0"/>
              <a:t>      </a:t>
            </a:r>
            <a:r>
              <a:rPr lang="en-GB" sz="2400" b="1" dirty="0">
                <a:solidFill>
                  <a:srgbClr val="00B050"/>
                </a:solidFill>
              </a:rPr>
              <a:t>Rubber has a higher density than water so the rubber would sink</a:t>
            </a:r>
          </a:p>
          <a:p>
            <a:r>
              <a:rPr lang="en-GB" sz="2400" b="1" dirty="0">
                <a:solidFill>
                  <a:srgbClr val="00B050"/>
                </a:solidFill>
              </a:rPr>
              <a:t>      in water.</a:t>
            </a:r>
          </a:p>
          <a:p>
            <a:pPr lvl="0"/>
            <a:r>
              <a:rPr lang="en-GB" sz="2400" dirty="0"/>
              <a:t>3. This “ready-mix” concrete waggon contains </a:t>
            </a:r>
          </a:p>
          <a:p>
            <a:pPr lvl="0"/>
            <a:r>
              <a:rPr lang="en-GB" sz="2400" dirty="0"/>
              <a:t>     9600 kg of concrete. If the density of the</a:t>
            </a:r>
          </a:p>
          <a:p>
            <a:pPr lvl="0"/>
            <a:r>
              <a:rPr lang="en-GB" sz="2400" dirty="0"/>
              <a:t>     concrete is 2400 kg/m</a:t>
            </a:r>
            <a:r>
              <a:rPr lang="en-GB" sz="2400" b="1" baseline="30000" dirty="0"/>
              <a:t>3</a:t>
            </a:r>
            <a:r>
              <a:rPr lang="en-GB" sz="2400" dirty="0"/>
              <a:t>, what volume of </a:t>
            </a:r>
          </a:p>
          <a:p>
            <a:pPr lvl="0"/>
            <a:r>
              <a:rPr lang="en-GB" sz="2400" dirty="0"/>
              <a:t>     concrete does the waggon contain?</a:t>
            </a:r>
          </a:p>
          <a:p>
            <a:pPr lvl="0"/>
            <a:r>
              <a:rPr lang="en-GB" sz="2400" dirty="0"/>
              <a:t>       </a:t>
            </a:r>
            <a:r>
              <a:rPr lang="en-GB" sz="2400" b="1" dirty="0">
                <a:solidFill>
                  <a:srgbClr val="00B050"/>
                </a:solidFill>
              </a:rPr>
              <a:t>Density = </a:t>
            </a:r>
            <a:r>
              <a:rPr lang="en-GB" sz="2400" b="1" u="sng" dirty="0">
                <a:solidFill>
                  <a:srgbClr val="00B050"/>
                </a:solidFill>
              </a:rPr>
              <a:t>m</a:t>
            </a:r>
            <a:r>
              <a:rPr lang="en-GB" sz="2400" b="1" dirty="0">
                <a:solidFill>
                  <a:srgbClr val="00B050"/>
                </a:solidFill>
              </a:rPr>
              <a:t>     v =   </a:t>
            </a:r>
            <a:r>
              <a:rPr lang="en-GB" sz="2400" b="1" u="sng" dirty="0">
                <a:solidFill>
                  <a:srgbClr val="00B050"/>
                </a:solidFill>
              </a:rPr>
              <a:t>mass </a:t>
            </a:r>
            <a:r>
              <a:rPr lang="en-GB" sz="2400" b="1" dirty="0">
                <a:solidFill>
                  <a:srgbClr val="00B050"/>
                </a:solidFill>
              </a:rPr>
              <a:t>             =  </a:t>
            </a:r>
            <a:r>
              <a:rPr lang="en-GB" sz="2400" b="1" u="sng" dirty="0">
                <a:solidFill>
                  <a:srgbClr val="00B050"/>
                </a:solidFill>
              </a:rPr>
              <a:t>9600 kg</a:t>
            </a:r>
            <a:r>
              <a:rPr lang="en-GB" sz="2400" b="1" dirty="0">
                <a:solidFill>
                  <a:srgbClr val="00B050"/>
                </a:solidFill>
              </a:rPr>
              <a:t>    =  4</a:t>
            </a:r>
          </a:p>
          <a:p>
            <a:pPr lvl="0"/>
            <a:r>
              <a:rPr lang="en-GB" sz="2400" b="1" dirty="0">
                <a:solidFill>
                  <a:srgbClr val="00B050"/>
                </a:solidFill>
              </a:rPr>
              <a:t>                          v            density	 2400 kg/m</a:t>
            </a:r>
            <a:r>
              <a:rPr lang="en-GB" sz="2400" b="1" baseline="30000" dirty="0">
                <a:solidFill>
                  <a:srgbClr val="00B050"/>
                </a:solidFill>
              </a:rPr>
              <a:t>3</a:t>
            </a:r>
          </a:p>
          <a:p>
            <a:pPr lvl="0"/>
            <a:r>
              <a:rPr lang="en-GB" sz="2400" b="1" dirty="0">
                <a:solidFill>
                  <a:srgbClr val="00B050"/>
                </a:solidFill>
              </a:rPr>
              <a:t>                        volume of concrete in the waggon = 4 m</a:t>
            </a:r>
            <a:r>
              <a:rPr lang="en-GB" sz="2400" b="1" baseline="30000" dirty="0">
                <a:solidFill>
                  <a:srgbClr val="00B050"/>
                </a:solidFill>
              </a:rPr>
              <a:t>3</a:t>
            </a:r>
            <a:endParaRPr lang="en-GB" sz="1600" b="1" baseline="30000" dirty="0">
              <a:solidFill>
                <a:srgbClr val="00B050"/>
              </a:solidFill>
            </a:endParaRPr>
          </a:p>
        </p:txBody>
      </p:sp>
      <p:pic>
        <p:nvPicPr>
          <p:cNvPr id="5" name="Picture 4">
            <a:extLst>
              <a:ext uri="{FF2B5EF4-FFF2-40B4-BE49-F238E27FC236}">
                <a16:creationId xmlns:a16="http://schemas.microsoft.com/office/drawing/2014/main" xmlns="" id="{2D88332B-D9CC-4DD2-B275-7D2CF6C974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8224" y="3549501"/>
            <a:ext cx="2143125" cy="2143125"/>
          </a:xfrm>
          <a:prstGeom prst="rect">
            <a:avLst/>
          </a:prstGeom>
        </p:spPr>
      </p:pic>
    </p:spTree>
    <p:extLst>
      <p:ext uri="{BB962C8B-B14F-4D97-AF65-F5344CB8AC3E}">
        <p14:creationId xmlns:p14="http://schemas.microsoft.com/office/powerpoint/2010/main" val="4104315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0965"/>
            <a:ext cx="8028384" cy="657041"/>
          </a:xfrm>
        </p:spPr>
        <p:txBody>
          <a:bodyPr>
            <a:noAutofit/>
          </a:bodyPr>
          <a:lstStyle/>
          <a:p>
            <a:pPr marL="342900" lvl="1" algn="l" defTabSz="342900" rtl="0">
              <a:spcBef>
                <a:spcPct val="20000"/>
              </a:spcBef>
            </a:pPr>
            <a:r>
              <a:rPr lang="en-US" sz="2400" b="1" dirty="0">
                <a:solidFill>
                  <a:schemeClr val="accent6"/>
                </a:solidFill>
              </a:rPr>
              <a:t>Changes of state and the particle model – </a:t>
            </a:r>
            <a:r>
              <a:rPr lang="en-US" sz="2400" b="1" dirty="0">
                <a:solidFill>
                  <a:schemeClr val="tx1"/>
                </a:solidFill>
              </a:rPr>
              <a:t>Answer</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6326" y="646076"/>
            <a:ext cx="9180921" cy="6001643"/>
          </a:xfrm>
          <a:prstGeom prst="rect">
            <a:avLst/>
          </a:prstGeom>
          <a:noFill/>
        </p:spPr>
        <p:txBody>
          <a:bodyPr wrap="square" rtlCol="0">
            <a:spAutoFit/>
          </a:bodyPr>
          <a:lstStyle/>
          <a:p>
            <a:pPr lvl="0"/>
            <a:r>
              <a:rPr lang="en-GB" sz="2400" dirty="0"/>
              <a:t>4. a. A sheet of insulating foam measures 3 m x 1 m x 0.08 m. </a:t>
            </a:r>
            <a:r>
              <a:rPr lang="en-US" sz="2400" dirty="0"/>
              <a:t>It has a</a:t>
            </a:r>
          </a:p>
          <a:p>
            <a:pPr lvl="0"/>
            <a:r>
              <a:rPr lang="en-US" sz="2400" dirty="0"/>
              <a:t>        mass of 9.6 kg. </a:t>
            </a:r>
            <a:r>
              <a:rPr lang="en-GB" sz="2400" dirty="0"/>
              <a:t>Calculate the density of the insulating foam.</a:t>
            </a:r>
          </a:p>
          <a:p>
            <a:pPr lvl="0"/>
            <a:r>
              <a:rPr lang="en-GB" sz="2400" dirty="0"/>
              <a:t>         </a:t>
            </a:r>
            <a:r>
              <a:rPr lang="en-US" sz="2400" b="1" dirty="0">
                <a:solidFill>
                  <a:srgbClr val="00B050"/>
                </a:solidFill>
              </a:rPr>
              <a:t>V = 3 x 1 x 0.08 = 0.24 m</a:t>
            </a:r>
            <a:r>
              <a:rPr lang="en-US" sz="2400" b="1" baseline="30000" dirty="0">
                <a:solidFill>
                  <a:srgbClr val="00B050"/>
                </a:solidFill>
              </a:rPr>
              <a:t>3</a:t>
            </a:r>
            <a:r>
              <a:rPr lang="en-US" sz="2400" b="1" dirty="0">
                <a:solidFill>
                  <a:srgbClr val="00B050"/>
                </a:solidFill>
              </a:rPr>
              <a:t> 	 Density = 9.6 / 0.24 = 40 kg/m</a:t>
            </a:r>
            <a:r>
              <a:rPr lang="en-US" sz="2400" b="1" baseline="30000" dirty="0">
                <a:solidFill>
                  <a:srgbClr val="00B050"/>
                </a:solidFill>
              </a:rPr>
              <a:t>3 </a:t>
            </a:r>
            <a:endParaRPr lang="en-GB" sz="2400" b="1" dirty="0">
              <a:solidFill>
                <a:srgbClr val="00B050"/>
              </a:solidFill>
            </a:endParaRPr>
          </a:p>
          <a:p>
            <a:r>
              <a:rPr lang="en-GB" sz="2400" dirty="0"/>
              <a:t>     b. High density foam is made of the same material and can be used</a:t>
            </a:r>
          </a:p>
          <a:p>
            <a:r>
              <a:rPr lang="en-GB" sz="2400" dirty="0"/>
              <a:t>         to give better insulation for the same thickness of foam. Describe</a:t>
            </a:r>
          </a:p>
          <a:p>
            <a:r>
              <a:rPr lang="en-GB" sz="2400" dirty="0"/>
              <a:t>         how the arrangement of particles would differ in these two types</a:t>
            </a:r>
          </a:p>
          <a:p>
            <a:r>
              <a:rPr lang="en-GB" sz="2400" dirty="0"/>
              <a:t>         of foam (you may draw diagrams to help your answer). </a:t>
            </a:r>
          </a:p>
          <a:p>
            <a:r>
              <a:rPr lang="en-GB" sz="2400" dirty="0"/>
              <a:t>         </a:t>
            </a:r>
            <a:r>
              <a:rPr lang="en-GB" sz="2400" b="1" dirty="0">
                <a:solidFill>
                  <a:srgbClr val="00B050"/>
                </a:solidFill>
              </a:rPr>
              <a:t>Particles in the high density foam will be closer together so there</a:t>
            </a:r>
          </a:p>
          <a:p>
            <a:r>
              <a:rPr lang="en-GB" sz="2400" b="1" dirty="0">
                <a:solidFill>
                  <a:srgbClr val="00B050"/>
                </a:solidFill>
              </a:rPr>
              <a:t>         are more particles in a given volume, making it denser.</a:t>
            </a:r>
          </a:p>
          <a:p>
            <a:pPr lvl="0"/>
            <a:r>
              <a:rPr lang="en-GB" sz="2400" dirty="0"/>
              <a:t>5. When copper metal is heated to 1100 </a:t>
            </a:r>
            <a:r>
              <a:rPr lang="en-GB" sz="2400" baseline="30000" dirty="0"/>
              <a:t>o</a:t>
            </a:r>
            <a:r>
              <a:rPr lang="en-GB" sz="2400" dirty="0"/>
              <a:t>C it melts. </a:t>
            </a:r>
            <a:r>
              <a:rPr lang="en-US" sz="2400" dirty="0"/>
              <a:t> </a:t>
            </a:r>
            <a:endParaRPr lang="en-GB" sz="2400" dirty="0"/>
          </a:p>
          <a:p>
            <a:pPr lvl="0"/>
            <a:r>
              <a:rPr lang="en-GB" sz="2400" dirty="0"/>
              <a:t>     a. Is this a chemical or physical change? Explain your answer.</a:t>
            </a:r>
          </a:p>
          <a:p>
            <a:r>
              <a:rPr lang="en-US" sz="2400" dirty="0"/>
              <a:t>          </a:t>
            </a:r>
            <a:r>
              <a:rPr lang="en-US" sz="2400" b="1" dirty="0">
                <a:solidFill>
                  <a:srgbClr val="00B050"/>
                </a:solidFill>
              </a:rPr>
              <a:t>Physical change. No new products have been formed.</a:t>
            </a:r>
            <a:endParaRPr lang="en-GB" sz="2400" dirty="0"/>
          </a:p>
          <a:p>
            <a:pPr lvl="0"/>
            <a:r>
              <a:rPr lang="en-GB" sz="2400" dirty="0"/>
              <a:t>     b. What will happen to the mass of the sample of copper after it has</a:t>
            </a:r>
          </a:p>
          <a:p>
            <a:pPr lvl="0"/>
            <a:r>
              <a:rPr lang="en-GB" sz="2400" dirty="0"/>
              <a:t>          melted? Explain your answer.</a:t>
            </a:r>
          </a:p>
          <a:p>
            <a:pPr lvl="0"/>
            <a:r>
              <a:rPr lang="en-GB" sz="2400" b="1" dirty="0">
                <a:solidFill>
                  <a:srgbClr val="00B050"/>
                </a:solidFill>
              </a:rPr>
              <a:t>          It will stay the same. Mass is conserved when state changes. </a:t>
            </a:r>
          </a:p>
          <a:p>
            <a:endParaRPr lang="en-GB" sz="2400" dirty="0"/>
          </a:p>
        </p:txBody>
      </p:sp>
    </p:spTree>
    <p:extLst>
      <p:ext uri="{BB962C8B-B14F-4D97-AF65-F5344CB8AC3E}">
        <p14:creationId xmlns:p14="http://schemas.microsoft.com/office/powerpoint/2010/main" val="474829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0965"/>
            <a:ext cx="8028384" cy="657041"/>
          </a:xfrm>
        </p:spPr>
        <p:txBody>
          <a:bodyPr>
            <a:noAutofit/>
          </a:bodyPr>
          <a:lstStyle/>
          <a:p>
            <a:pPr marL="342900" lvl="1" algn="l" defTabSz="342900" rtl="0">
              <a:spcBef>
                <a:spcPct val="20000"/>
              </a:spcBef>
            </a:pPr>
            <a:r>
              <a:rPr lang="en-US" sz="2400" b="1" dirty="0">
                <a:solidFill>
                  <a:schemeClr val="accent6"/>
                </a:solidFill>
              </a:rPr>
              <a:t>Changes of state and the particle model – </a:t>
            </a:r>
            <a:r>
              <a:rPr lang="en-US" sz="2400" b="1" dirty="0">
                <a:solidFill>
                  <a:schemeClr val="tx1"/>
                </a:solidFill>
              </a:rPr>
              <a:t>Answer</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32043" y="658529"/>
            <a:ext cx="9180921" cy="6001643"/>
          </a:xfrm>
          <a:prstGeom prst="rect">
            <a:avLst/>
          </a:prstGeom>
          <a:noFill/>
        </p:spPr>
        <p:txBody>
          <a:bodyPr wrap="square" rtlCol="0">
            <a:spAutoFit/>
          </a:bodyPr>
          <a:lstStyle/>
          <a:p>
            <a:r>
              <a:rPr lang="en-GB" sz="2400" dirty="0"/>
              <a:t>6. Explain the difference between a physical and a chemical change.</a:t>
            </a:r>
          </a:p>
          <a:p>
            <a:r>
              <a:rPr lang="en-GB" sz="2400" dirty="0"/>
              <a:t>      </a:t>
            </a:r>
            <a:r>
              <a:rPr lang="en-GB" sz="2400" b="1" dirty="0">
                <a:solidFill>
                  <a:srgbClr val="00B050"/>
                </a:solidFill>
              </a:rPr>
              <a:t>In a physical change no new products are formed and it can be </a:t>
            </a:r>
          </a:p>
          <a:p>
            <a:r>
              <a:rPr lang="en-GB" sz="2400" b="1" dirty="0">
                <a:solidFill>
                  <a:srgbClr val="00B050"/>
                </a:solidFill>
              </a:rPr>
              <a:t>      easily reversed.</a:t>
            </a:r>
          </a:p>
          <a:p>
            <a:r>
              <a:rPr lang="en-GB" sz="2400" b="1" dirty="0">
                <a:solidFill>
                  <a:srgbClr val="00B050"/>
                </a:solidFill>
              </a:rPr>
              <a:t>      In a chemical change a new substance is formed which can not</a:t>
            </a:r>
          </a:p>
          <a:p>
            <a:r>
              <a:rPr lang="en-GB" sz="2400" b="1" dirty="0">
                <a:solidFill>
                  <a:srgbClr val="00B050"/>
                </a:solidFill>
              </a:rPr>
              <a:t>      easily be changed back .  </a:t>
            </a:r>
            <a:r>
              <a:rPr lang="en-GB" sz="2400" dirty="0"/>
              <a:t>	</a:t>
            </a:r>
          </a:p>
          <a:p>
            <a:r>
              <a:rPr lang="en-GB" sz="2400" dirty="0"/>
              <a:t>7. Name the changes in state given in</a:t>
            </a:r>
          </a:p>
          <a:p>
            <a:r>
              <a:rPr lang="en-GB" sz="2400" dirty="0"/>
              <a:t>     the diagram by the arrows 1 to 6.</a:t>
            </a:r>
          </a:p>
          <a:p>
            <a:r>
              <a:rPr lang="en-GB" sz="2400" dirty="0"/>
              <a:t>     </a:t>
            </a:r>
            <a:r>
              <a:rPr lang="en-GB" sz="2400" b="1" dirty="0">
                <a:solidFill>
                  <a:srgbClr val="00B050"/>
                </a:solidFill>
              </a:rPr>
              <a:t>1. melting  2. evaporating  3. deposition</a:t>
            </a:r>
          </a:p>
          <a:p>
            <a:r>
              <a:rPr lang="en-GB" sz="2400" b="1" dirty="0">
                <a:solidFill>
                  <a:srgbClr val="00B050"/>
                </a:solidFill>
              </a:rPr>
              <a:t>     4. subliming  5. condensing  6. freezing </a:t>
            </a:r>
          </a:p>
          <a:p>
            <a:endParaRPr lang="en-GB" sz="2400" dirty="0"/>
          </a:p>
          <a:p>
            <a:r>
              <a:rPr lang="en-GB" sz="2400" dirty="0"/>
              <a:t>8. If you wanted to find the density of a brass key, you first need to</a:t>
            </a:r>
          </a:p>
          <a:p>
            <a:r>
              <a:rPr lang="en-GB" sz="2400" dirty="0"/>
              <a:t>     measure its volume. Describe how to determine the volume of a</a:t>
            </a:r>
          </a:p>
          <a:p>
            <a:r>
              <a:rPr lang="en-GB" sz="2400" dirty="0"/>
              <a:t>     brass key.</a:t>
            </a:r>
          </a:p>
          <a:p>
            <a:r>
              <a:rPr lang="en-GB" sz="2400" dirty="0"/>
              <a:t>     </a:t>
            </a:r>
            <a:r>
              <a:rPr lang="en-GB" sz="2400" b="1" dirty="0">
                <a:solidFill>
                  <a:srgbClr val="00B050"/>
                </a:solidFill>
              </a:rPr>
              <a:t>Drop the key into a known volume of water and </a:t>
            </a:r>
          </a:p>
          <a:p>
            <a:r>
              <a:rPr lang="en-GB" sz="2400" b="1" dirty="0">
                <a:solidFill>
                  <a:srgbClr val="00B050"/>
                </a:solidFill>
              </a:rPr>
              <a:t>     measure the amount of water displaced by the key.</a:t>
            </a:r>
          </a:p>
          <a:p>
            <a:r>
              <a:rPr lang="en-GB" sz="2400" b="1" dirty="0">
                <a:solidFill>
                  <a:srgbClr val="00B050"/>
                </a:solidFill>
              </a:rPr>
              <a:t>     This will be the volume of the key.</a:t>
            </a:r>
            <a:r>
              <a:rPr lang="en-GB" sz="2400" dirty="0"/>
              <a:t>	</a:t>
            </a:r>
          </a:p>
        </p:txBody>
      </p:sp>
      <p:pic>
        <p:nvPicPr>
          <p:cNvPr id="5" name="Picture 4" descr="Image result for change of state diagram">
            <a:extLst>
              <a:ext uri="{FF2B5EF4-FFF2-40B4-BE49-F238E27FC236}">
                <a16:creationId xmlns:a16="http://schemas.microsoft.com/office/drawing/2014/main" xmlns="" id="{44719C27-B3DB-49EC-9E46-D412BD55F943}"/>
              </a:ext>
            </a:extLst>
          </p:cNvPr>
          <p:cNvPicPr/>
          <p:nvPr/>
        </p:nvPicPr>
        <p:blipFill rotWithShape="1">
          <a:blip r:embed="rId2">
            <a:extLst>
              <a:ext uri="{28A0092B-C50C-407E-A947-70E740481C1C}">
                <a14:useLocalDpi xmlns:a14="http://schemas.microsoft.com/office/drawing/2010/main" val="0"/>
              </a:ext>
            </a:extLst>
          </a:blip>
          <a:srcRect l="9498" t="9188" r="9498" b="9188"/>
          <a:stretch/>
        </p:blipFill>
        <p:spPr bwMode="auto">
          <a:xfrm>
            <a:off x="5580754" y="2276872"/>
            <a:ext cx="3501419" cy="1800200"/>
          </a:xfrm>
          <a:prstGeom prst="rect">
            <a:avLst/>
          </a:prstGeom>
          <a:noFill/>
          <a:ln>
            <a:noFill/>
          </a:ln>
        </p:spPr>
      </p:pic>
      <p:pic>
        <p:nvPicPr>
          <p:cNvPr id="7" name="Picture 6">
            <a:extLst>
              <a:ext uri="{FF2B5EF4-FFF2-40B4-BE49-F238E27FC236}">
                <a16:creationId xmlns:a16="http://schemas.microsoft.com/office/drawing/2014/main" xmlns="" id="{1938C68B-5933-498D-BCF8-A0967E56AE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7186254" y="5472649"/>
            <a:ext cx="1440160" cy="683693"/>
          </a:xfrm>
          <a:prstGeom prst="rect">
            <a:avLst/>
          </a:prstGeom>
        </p:spPr>
      </p:pic>
    </p:spTree>
    <p:extLst>
      <p:ext uri="{BB962C8B-B14F-4D97-AF65-F5344CB8AC3E}">
        <p14:creationId xmlns:p14="http://schemas.microsoft.com/office/powerpoint/2010/main" val="2944612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49087" y="629355"/>
            <a:ext cx="4355976" cy="6093976"/>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r>
              <a:rPr lang="en-GB" sz="3600" b="1" dirty="0">
                <a:solidFill>
                  <a:schemeClr val="tx1">
                    <a:lumMod val="50000"/>
                    <a:lumOff val="50000"/>
                  </a:schemeClr>
                </a:solidFill>
              </a:rPr>
              <a:t>Internal energy and energy transfers</a:t>
            </a:r>
          </a:p>
          <a:p>
            <a:pPr marL="457200" indent="-457200">
              <a:lnSpc>
                <a:spcPct val="150000"/>
              </a:lnSpc>
              <a:buFont typeface="Arial" charset="0"/>
              <a:buChar char="•"/>
            </a:pPr>
            <a:r>
              <a:rPr lang="en-GB" sz="2400" b="1" dirty="0">
                <a:solidFill>
                  <a:schemeClr val="tx1">
                    <a:lumMod val="50000"/>
                    <a:lumOff val="50000"/>
                  </a:schemeClr>
                </a:solidFill>
              </a:rPr>
              <a:t>Internal energy</a:t>
            </a:r>
          </a:p>
          <a:p>
            <a:pPr marL="457200" indent="-457200">
              <a:buFont typeface="Arial" charset="0"/>
              <a:buChar char="•"/>
            </a:pPr>
            <a:r>
              <a:rPr lang="en-GB" sz="2400" b="1" dirty="0">
                <a:solidFill>
                  <a:schemeClr val="tx1">
                    <a:lumMod val="50000"/>
                    <a:lumOff val="50000"/>
                  </a:schemeClr>
                </a:solidFill>
              </a:rPr>
              <a:t>Temperature change in a system and specific heat capacity</a:t>
            </a:r>
          </a:p>
          <a:p>
            <a:pPr marL="457200" indent="-457200">
              <a:buFont typeface="Arial" charset="0"/>
              <a:buChar char="•"/>
            </a:pPr>
            <a:r>
              <a:rPr lang="en-GB" sz="2400" b="1" dirty="0">
                <a:solidFill>
                  <a:schemeClr val="tx1">
                    <a:lumMod val="50000"/>
                    <a:lumOff val="50000"/>
                  </a:schemeClr>
                </a:solidFill>
              </a:rPr>
              <a:t>Changes of heat and specific latent heat</a:t>
            </a:r>
          </a:p>
          <a:p>
            <a:endParaRPr lang="en-GB"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3635896" y="796180"/>
            <a:ext cx="5577678" cy="5760326"/>
          </a:xfrm>
          <a:prstGeom prst="rect">
            <a:avLst/>
          </a:prstGeom>
        </p:spPr>
      </p:pic>
    </p:spTree>
    <p:extLst>
      <p:ext uri="{BB962C8B-B14F-4D97-AF65-F5344CB8AC3E}">
        <p14:creationId xmlns:p14="http://schemas.microsoft.com/office/powerpoint/2010/main" val="1386293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35655"/>
            <a:ext cx="8388424" cy="657041"/>
          </a:xfrm>
        </p:spPr>
        <p:txBody>
          <a:bodyPr>
            <a:noAutofit/>
          </a:bodyPr>
          <a:lstStyle/>
          <a:p>
            <a:pPr marL="342900" marR="0" lvl="1" algn="l"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Internal energy and energy transfers – Internal energy</a:t>
            </a: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 </a:t>
            </a:r>
          </a:p>
        </p:txBody>
      </p:sp>
      <p:sp>
        <p:nvSpPr>
          <p:cNvPr id="3" name="TextBox 2">
            <a:extLst>
              <a:ext uri="{FF2B5EF4-FFF2-40B4-BE49-F238E27FC236}">
                <a16:creationId xmlns:a16="http://schemas.microsoft.com/office/drawing/2014/main" xmlns="" id="{A621CD3F-723B-4907-B77F-A18B40303F70}"/>
              </a:ext>
            </a:extLst>
          </p:cNvPr>
          <p:cNvSpPr txBox="1"/>
          <p:nvPr/>
        </p:nvSpPr>
        <p:spPr>
          <a:xfrm>
            <a:off x="611560" y="874826"/>
            <a:ext cx="7776864" cy="830997"/>
          </a:xfrm>
          <a:prstGeom prst="rect">
            <a:avLst/>
          </a:prstGeom>
          <a:solidFill>
            <a:schemeClr val="accent6">
              <a:lumMod val="60000"/>
              <a:lumOff val="40000"/>
            </a:schemeClr>
          </a:solidFill>
          <a:ln w="25400">
            <a:solidFill>
              <a:schemeClr val="accent6">
                <a:lumMod val="75000"/>
              </a:schemeClr>
            </a:solidFill>
          </a:ln>
        </p:spPr>
        <p:txBody>
          <a:bodyPr wrap="square" rtlCol="0">
            <a:spAutoFit/>
          </a:bodyPr>
          <a:lstStyle/>
          <a:p>
            <a:pPr algn="ctr"/>
            <a:r>
              <a:rPr lang="en-GB" sz="2400" dirty="0"/>
              <a:t>Internal energy is the energy stored in a system by the atoms and molecules that make up that system.</a:t>
            </a:r>
          </a:p>
        </p:txBody>
      </p:sp>
      <p:pic>
        <p:nvPicPr>
          <p:cNvPr id="5" name="Picture 4">
            <a:extLst>
              <a:ext uri="{FF2B5EF4-FFF2-40B4-BE49-F238E27FC236}">
                <a16:creationId xmlns:a16="http://schemas.microsoft.com/office/drawing/2014/main" xmlns="" id="{41EB1181-B187-40ED-A902-41D37402D3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018" y="1772816"/>
            <a:ext cx="2731782" cy="2262008"/>
          </a:xfrm>
          <a:prstGeom prst="rect">
            <a:avLst/>
          </a:prstGeom>
        </p:spPr>
      </p:pic>
      <p:sp>
        <p:nvSpPr>
          <p:cNvPr id="6" name="Oval 5">
            <a:extLst>
              <a:ext uri="{FF2B5EF4-FFF2-40B4-BE49-F238E27FC236}">
                <a16:creationId xmlns:a16="http://schemas.microsoft.com/office/drawing/2014/main" xmlns="" id="{5E8DC46D-1037-45C2-8666-CE562B246812}"/>
              </a:ext>
            </a:extLst>
          </p:cNvPr>
          <p:cNvSpPr/>
          <p:nvPr/>
        </p:nvSpPr>
        <p:spPr>
          <a:xfrm>
            <a:off x="1331640" y="3140968"/>
            <a:ext cx="144016" cy="14401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xmlns="" id="{E4BD53AD-2775-407E-BFA5-92E94AB1B180}"/>
              </a:ext>
            </a:extLst>
          </p:cNvPr>
          <p:cNvSpPr/>
          <p:nvPr/>
        </p:nvSpPr>
        <p:spPr>
          <a:xfrm>
            <a:off x="2483768" y="2363760"/>
            <a:ext cx="1080120" cy="108012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9" name="Straight Connector 8">
            <a:extLst>
              <a:ext uri="{FF2B5EF4-FFF2-40B4-BE49-F238E27FC236}">
                <a16:creationId xmlns:a16="http://schemas.microsoft.com/office/drawing/2014/main" xmlns="" id="{E1028786-554C-46B5-A219-6DC2A4D0CD26}"/>
              </a:ext>
            </a:extLst>
          </p:cNvPr>
          <p:cNvCxnSpPr>
            <a:cxnSpLocks/>
            <a:stCxn id="6" idx="1"/>
            <a:endCxn id="7" idx="1"/>
          </p:cNvCxnSpPr>
          <p:nvPr/>
        </p:nvCxnSpPr>
        <p:spPr>
          <a:xfrm flipV="1">
            <a:off x="1352731" y="2521940"/>
            <a:ext cx="1289217" cy="640119"/>
          </a:xfrm>
          <a:prstGeom prst="line">
            <a:avLst/>
          </a:prstGeom>
          <a:ln w="158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xmlns="" id="{A141FC8E-79C5-42BB-920A-30CBEBD1822D}"/>
              </a:ext>
            </a:extLst>
          </p:cNvPr>
          <p:cNvCxnSpPr>
            <a:stCxn id="6" idx="4"/>
            <a:endCxn id="7" idx="4"/>
          </p:cNvCxnSpPr>
          <p:nvPr/>
        </p:nvCxnSpPr>
        <p:spPr>
          <a:xfrm>
            <a:off x="1403648" y="3284984"/>
            <a:ext cx="1620180" cy="15889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pic>
        <p:nvPicPr>
          <p:cNvPr id="15" name="Picture 14">
            <a:extLst>
              <a:ext uri="{FF2B5EF4-FFF2-40B4-BE49-F238E27FC236}">
                <a16:creationId xmlns:a16="http://schemas.microsoft.com/office/drawing/2014/main" xmlns="" id="{B6887CC8-2A6F-40AE-B84D-33F3A67EAA4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63039" y="2656641"/>
            <a:ext cx="746709" cy="494358"/>
          </a:xfrm>
          <a:prstGeom prst="rect">
            <a:avLst/>
          </a:prstGeom>
        </p:spPr>
      </p:pic>
      <p:sp>
        <p:nvSpPr>
          <p:cNvPr id="16" name="TextBox 15">
            <a:extLst>
              <a:ext uri="{FF2B5EF4-FFF2-40B4-BE49-F238E27FC236}">
                <a16:creationId xmlns:a16="http://schemas.microsoft.com/office/drawing/2014/main" xmlns="" id="{8D53AF6B-2684-4379-AFEA-59304EF38579}"/>
              </a:ext>
            </a:extLst>
          </p:cNvPr>
          <p:cNvSpPr txBox="1"/>
          <p:nvPr/>
        </p:nvSpPr>
        <p:spPr>
          <a:xfrm>
            <a:off x="3772985" y="1965876"/>
            <a:ext cx="5057129" cy="1938992"/>
          </a:xfrm>
          <a:prstGeom prst="rect">
            <a:avLst/>
          </a:prstGeom>
          <a:noFill/>
          <a:ln w="25400">
            <a:solidFill>
              <a:schemeClr val="accent6">
                <a:lumMod val="75000"/>
              </a:schemeClr>
            </a:solidFill>
          </a:ln>
        </p:spPr>
        <p:txBody>
          <a:bodyPr wrap="square" rtlCol="0">
            <a:spAutoFit/>
          </a:bodyPr>
          <a:lstStyle/>
          <a:p>
            <a:r>
              <a:rPr lang="en-GB" sz="2400" dirty="0"/>
              <a:t>The molecules of water have kinetic (movement) energy and some potential energy. The total </a:t>
            </a:r>
            <a:r>
              <a:rPr lang="en-GB" sz="2400" b="1" dirty="0">
                <a:solidFill>
                  <a:schemeClr val="accent6">
                    <a:lumMod val="75000"/>
                  </a:schemeClr>
                </a:solidFill>
              </a:rPr>
              <a:t>kinetic </a:t>
            </a:r>
            <a:r>
              <a:rPr lang="en-GB" sz="2400" b="1" dirty="0">
                <a:solidFill>
                  <a:schemeClr val="accent6">
                    <a:lumMod val="75000"/>
                  </a:schemeClr>
                </a:solidFill>
              </a:rPr>
              <a:t>(</a:t>
            </a:r>
            <a:r>
              <a:rPr lang="en-GB" sz="2400" b="1" dirty="0" err="1" smtClean="0">
                <a:solidFill>
                  <a:schemeClr val="accent6">
                    <a:lumMod val="75000"/>
                  </a:schemeClr>
                </a:solidFill>
              </a:rPr>
              <a:t>E</a:t>
            </a:r>
            <a:r>
              <a:rPr lang="en-GB" sz="2400" b="1" baseline="-25000" dirty="0" err="1" smtClean="0">
                <a:solidFill>
                  <a:schemeClr val="accent6">
                    <a:lumMod val="75000"/>
                  </a:schemeClr>
                </a:solidFill>
              </a:rPr>
              <a:t>k</a:t>
            </a:r>
            <a:r>
              <a:rPr lang="en-GB" sz="2400" b="1" dirty="0" smtClean="0">
                <a:solidFill>
                  <a:schemeClr val="accent6">
                    <a:lumMod val="75000"/>
                  </a:schemeClr>
                </a:solidFill>
              </a:rPr>
              <a:t>)</a:t>
            </a:r>
            <a:r>
              <a:rPr lang="en-GB" sz="2400" dirty="0" smtClean="0"/>
              <a:t> </a:t>
            </a:r>
            <a:r>
              <a:rPr lang="en-GB" sz="2400" dirty="0"/>
              <a:t>and </a:t>
            </a:r>
            <a:r>
              <a:rPr lang="en-GB" sz="2400" b="1" dirty="0">
                <a:solidFill>
                  <a:schemeClr val="accent6">
                    <a:lumMod val="75000"/>
                  </a:schemeClr>
                </a:solidFill>
              </a:rPr>
              <a:t>potential </a:t>
            </a:r>
            <a:r>
              <a:rPr lang="en-GB" sz="2400" b="1" dirty="0">
                <a:solidFill>
                  <a:schemeClr val="accent6">
                    <a:lumMod val="75000"/>
                  </a:schemeClr>
                </a:solidFill>
              </a:rPr>
              <a:t>(</a:t>
            </a:r>
            <a:r>
              <a:rPr lang="en-GB" sz="2400" b="1" dirty="0" smtClean="0">
                <a:solidFill>
                  <a:schemeClr val="accent6">
                    <a:lumMod val="75000"/>
                  </a:schemeClr>
                </a:solidFill>
              </a:rPr>
              <a:t>E</a:t>
            </a:r>
            <a:r>
              <a:rPr lang="en-GB" sz="2400" b="1" baseline="-25000" dirty="0" smtClean="0">
                <a:solidFill>
                  <a:schemeClr val="accent6">
                    <a:lumMod val="75000"/>
                  </a:schemeClr>
                </a:solidFill>
              </a:rPr>
              <a:t>p</a:t>
            </a:r>
            <a:r>
              <a:rPr lang="en-GB" sz="2400" b="1" dirty="0" smtClean="0">
                <a:solidFill>
                  <a:schemeClr val="accent6">
                    <a:lumMod val="75000"/>
                  </a:schemeClr>
                </a:solidFill>
              </a:rPr>
              <a:t>)</a:t>
            </a:r>
            <a:r>
              <a:rPr lang="en-GB" sz="2400" dirty="0" smtClean="0"/>
              <a:t> </a:t>
            </a:r>
            <a:r>
              <a:rPr lang="en-GB" sz="2400" dirty="0"/>
              <a:t>energy in the system make up the </a:t>
            </a:r>
            <a:r>
              <a:rPr lang="en-GB" sz="2400" b="1" dirty="0">
                <a:solidFill>
                  <a:schemeClr val="accent6">
                    <a:lumMod val="75000"/>
                  </a:schemeClr>
                </a:solidFill>
              </a:rPr>
              <a:t>internal energy </a:t>
            </a:r>
            <a:r>
              <a:rPr lang="en-GB" sz="2400" b="1" dirty="0" smtClean="0">
                <a:solidFill>
                  <a:schemeClr val="accent6">
                    <a:lumMod val="75000"/>
                  </a:schemeClr>
                </a:solidFill>
              </a:rPr>
              <a:t>(U).</a:t>
            </a:r>
            <a:endParaRPr lang="en-GB" b="1" dirty="0">
              <a:solidFill>
                <a:schemeClr val="accent6">
                  <a:lumMod val="75000"/>
                </a:schemeClr>
              </a:solidFill>
            </a:endParaRPr>
          </a:p>
        </p:txBody>
      </p:sp>
      <p:pic>
        <p:nvPicPr>
          <p:cNvPr id="8" name="Picture 7">
            <a:extLst>
              <a:ext uri="{FF2B5EF4-FFF2-40B4-BE49-F238E27FC236}">
                <a16:creationId xmlns:a16="http://schemas.microsoft.com/office/drawing/2014/main" xmlns="" id="{0C023085-23C1-459D-B1B7-982E84280C9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40152" y="4164921"/>
            <a:ext cx="2857500" cy="2085975"/>
          </a:xfrm>
          <a:prstGeom prst="rect">
            <a:avLst/>
          </a:prstGeom>
        </p:spPr>
      </p:pic>
      <p:sp>
        <p:nvSpPr>
          <p:cNvPr id="10" name="TextBox 9">
            <a:extLst>
              <a:ext uri="{FF2B5EF4-FFF2-40B4-BE49-F238E27FC236}">
                <a16:creationId xmlns:a16="http://schemas.microsoft.com/office/drawing/2014/main" xmlns="" id="{C4D59BBE-8AD1-4DD7-8701-5E88208D014B}"/>
              </a:ext>
            </a:extLst>
          </p:cNvPr>
          <p:cNvSpPr txBox="1"/>
          <p:nvPr/>
        </p:nvSpPr>
        <p:spPr>
          <a:xfrm>
            <a:off x="611560" y="4157749"/>
            <a:ext cx="4680520" cy="2308324"/>
          </a:xfrm>
          <a:prstGeom prst="rect">
            <a:avLst/>
          </a:prstGeom>
          <a:noFill/>
          <a:ln w="25400">
            <a:solidFill>
              <a:schemeClr val="accent6">
                <a:lumMod val="75000"/>
              </a:schemeClr>
            </a:solidFill>
          </a:ln>
        </p:spPr>
        <p:txBody>
          <a:bodyPr wrap="square" rtlCol="0">
            <a:spAutoFit/>
          </a:bodyPr>
          <a:lstStyle/>
          <a:p>
            <a:r>
              <a:rPr lang="en-GB" sz="2400" dirty="0"/>
              <a:t>The particles inside a</a:t>
            </a:r>
            <a:r>
              <a:rPr lang="en-GB" sz="2400" b="1" dirty="0">
                <a:solidFill>
                  <a:schemeClr val="accent6">
                    <a:lumMod val="75000"/>
                  </a:schemeClr>
                </a:solidFill>
              </a:rPr>
              <a:t> liquid </a:t>
            </a:r>
            <a:r>
              <a:rPr lang="en-GB" sz="2400" dirty="0"/>
              <a:t>or a </a:t>
            </a:r>
            <a:r>
              <a:rPr lang="en-GB" sz="2400" b="1" dirty="0">
                <a:solidFill>
                  <a:schemeClr val="accent6">
                    <a:lumMod val="75000"/>
                  </a:schemeClr>
                </a:solidFill>
              </a:rPr>
              <a:t>gas</a:t>
            </a:r>
            <a:r>
              <a:rPr lang="en-GB" sz="2400" dirty="0"/>
              <a:t> are in </a:t>
            </a:r>
            <a:r>
              <a:rPr lang="en-GB" sz="2400" b="1" dirty="0">
                <a:solidFill>
                  <a:schemeClr val="accent6">
                    <a:lumMod val="75000"/>
                  </a:schemeClr>
                </a:solidFill>
              </a:rPr>
              <a:t>constant motion</a:t>
            </a:r>
            <a:r>
              <a:rPr lang="en-GB" sz="2400" b="1" dirty="0"/>
              <a:t>,</a:t>
            </a:r>
            <a:r>
              <a:rPr lang="en-GB" sz="2400" dirty="0"/>
              <a:t> colliding with each other and the walls of any container they are in. </a:t>
            </a:r>
          </a:p>
          <a:p>
            <a:r>
              <a:rPr lang="en-GB" sz="2400" dirty="0"/>
              <a:t>In a </a:t>
            </a:r>
            <a:r>
              <a:rPr lang="en-GB" sz="2400" b="1" dirty="0">
                <a:solidFill>
                  <a:schemeClr val="accent6">
                    <a:lumMod val="75000"/>
                  </a:schemeClr>
                </a:solidFill>
              </a:rPr>
              <a:t>solid </a:t>
            </a:r>
            <a:r>
              <a:rPr lang="en-GB" sz="2400" dirty="0"/>
              <a:t>the particles are </a:t>
            </a:r>
            <a:r>
              <a:rPr lang="en-GB" sz="2400" b="1" dirty="0">
                <a:solidFill>
                  <a:schemeClr val="accent6">
                    <a:lumMod val="75000"/>
                  </a:schemeClr>
                </a:solidFill>
              </a:rPr>
              <a:t>vibrating</a:t>
            </a:r>
            <a:r>
              <a:rPr lang="en-GB" sz="2400" dirty="0"/>
              <a:t> around a fixed point.</a:t>
            </a:r>
          </a:p>
        </p:txBody>
      </p:sp>
    </p:spTree>
    <p:extLst>
      <p:ext uri="{BB962C8B-B14F-4D97-AF65-F5344CB8AC3E}">
        <p14:creationId xmlns:p14="http://schemas.microsoft.com/office/powerpoint/2010/main" val="434794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35655"/>
            <a:ext cx="8388424" cy="657041"/>
          </a:xfrm>
        </p:spPr>
        <p:txBody>
          <a:bodyPr>
            <a:noAutofit/>
          </a:bodyPr>
          <a:lstStyle/>
          <a:p>
            <a:pPr marL="342900" marR="0" lvl="1" algn="l"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Internal energy and energy transfers – Internal energy</a:t>
            </a: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 </a:t>
            </a:r>
          </a:p>
        </p:txBody>
      </p:sp>
      <p:sp>
        <p:nvSpPr>
          <p:cNvPr id="3" name="TextBox 2">
            <a:extLst>
              <a:ext uri="{FF2B5EF4-FFF2-40B4-BE49-F238E27FC236}">
                <a16:creationId xmlns:a16="http://schemas.microsoft.com/office/drawing/2014/main" xmlns="" id="{C2E9F94F-0ED3-49B5-9206-D535894D4189}"/>
              </a:ext>
            </a:extLst>
          </p:cNvPr>
          <p:cNvSpPr txBox="1"/>
          <p:nvPr/>
        </p:nvSpPr>
        <p:spPr>
          <a:xfrm>
            <a:off x="683568" y="959937"/>
            <a:ext cx="8235607" cy="830997"/>
          </a:xfrm>
          <a:prstGeom prst="rect">
            <a:avLst/>
          </a:prstGeom>
          <a:solidFill>
            <a:schemeClr val="accent6">
              <a:lumMod val="60000"/>
              <a:lumOff val="40000"/>
            </a:schemeClr>
          </a:solidFill>
          <a:ln w="25400">
            <a:solidFill>
              <a:schemeClr val="accent6">
                <a:lumMod val="75000"/>
              </a:schemeClr>
            </a:solidFill>
          </a:ln>
        </p:spPr>
        <p:txBody>
          <a:bodyPr wrap="square" rtlCol="0">
            <a:spAutoFit/>
          </a:bodyPr>
          <a:lstStyle/>
          <a:p>
            <a:r>
              <a:rPr lang="en-GB" sz="2400" dirty="0"/>
              <a:t>When heat is added to a system the </a:t>
            </a:r>
            <a:r>
              <a:rPr lang="en-GB" sz="2400" b="1" dirty="0"/>
              <a:t>internal energy </a:t>
            </a:r>
            <a:r>
              <a:rPr lang="en-GB" sz="2400" dirty="0"/>
              <a:t>of the particles increases. This can result in the material </a:t>
            </a:r>
            <a:r>
              <a:rPr lang="en-GB" sz="2400" b="1" dirty="0"/>
              <a:t>changing state</a:t>
            </a:r>
            <a:r>
              <a:rPr lang="en-GB" sz="2400" dirty="0"/>
              <a:t>.</a:t>
            </a:r>
          </a:p>
        </p:txBody>
      </p:sp>
      <p:pic>
        <p:nvPicPr>
          <p:cNvPr id="4" name="Picture 3" descr="Image result for particles in solids, liquids and gases">
            <a:extLst>
              <a:ext uri="{FF2B5EF4-FFF2-40B4-BE49-F238E27FC236}">
                <a16:creationId xmlns:a16="http://schemas.microsoft.com/office/drawing/2014/main" xmlns="" id="{AFACA1DC-7D49-4FBA-831C-45C67F8124C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1385210" y="2872392"/>
            <a:ext cx="5145668" cy="2592288"/>
          </a:xfrm>
          <a:prstGeom prst="rect">
            <a:avLst/>
          </a:prstGeom>
          <a:noFill/>
          <a:ln>
            <a:noFill/>
          </a:ln>
        </p:spPr>
      </p:pic>
      <p:sp>
        <p:nvSpPr>
          <p:cNvPr id="6" name="TextBox 5">
            <a:extLst>
              <a:ext uri="{FF2B5EF4-FFF2-40B4-BE49-F238E27FC236}">
                <a16:creationId xmlns:a16="http://schemas.microsoft.com/office/drawing/2014/main" xmlns="" id="{F94D1BEA-6930-4478-A492-DDFB8D24C7D7}"/>
              </a:ext>
            </a:extLst>
          </p:cNvPr>
          <p:cNvSpPr txBox="1"/>
          <p:nvPr/>
        </p:nvSpPr>
        <p:spPr>
          <a:xfrm>
            <a:off x="2078415" y="2058176"/>
            <a:ext cx="6912768" cy="4078039"/>
          </a:xfrm>
          <a:prstGeom prst="rect">
            <a:avLst/>
          </a:prstGeom>
          <a:noFill/>
          <a:ln w="25400">
            <a:solidFill>
              <a:schemeClr val="accent6">
                <a:lumMod val="75000"/>
              </a:schemeClr>
            </a:solidFill>
          </a:ln>
        </p:spPr>
        <p:txBody>
          <a:bodyPr wrap="square" rtlCol="0">
            <a:spAutoFit/>
          </a:bodyPr>
          <a:lstStyle/>
          <a:p>
            <a:r>
              <a:rPr lang="en-GB" sz="2200" dirty="0"/>
              <a:t>In a </a:t>
            </a:r>
            <a:r>
              <a:rPr lang="en-GB" sz="2200" b="1" dirty="0">
                <a:solidFill>
                  <a:schemeClr val="accent6">
                    <a:lumMod val="75000"/>
                  </a:schemeClr>
                </a:solidFill>
              </a:rPr>
              <a:t>solid</a:t>
            </a:r>
            <a:r>
              <a:rPr lang="en-GB" sz="2200" dirty="0"/>
              <a:t>, particles can only </a:t>
            </a:r>
            <a:r>
              <a:rPr lang="en-GB" sz="2200" b="1" dirty="0">
                <a:solidFill>
                  <a:schemeClr val="accent6">
                    <a:lumMod val="75000"/>
                  </a:schemeClr>
                </a:solidFill>
              </a:rPr>
              <a:t>vibrate</a:t>
            </a:r>
            <a:r>
              <a:rPr lang="en-GB" sz="2200" dirty="0"/>
              <a:t> so they cannot move relative to each other. When the solid is heated the particles gain kinetic energy and vibrate faster and faster.</a:t>
            </a:r>
          </a:p>
          <a:p>
            <a:endParaRPr lang="en-GB" sz="2200" dirty="0"/>
          </a:p>
          <a:p>
            <a:endParaRPr lang="en-GB" sz="1100" dirty="0"/>
          </a:p>
          <a:p>
            <a:r>
              <a:rPr lang="en-GB" sz="2200" dirty="0"/>
              <a:t>In a</a:t>
            </a:r>
            <a:r>
              <a:rPr lang="en-GB" sz="2200" b="1" dirty="0">
                <a:solidFill>
                  <a:schemeClr val="accent6">
                    <a:lumMod val="75000"/>
                  </a:schemeClr>
                </a:solidFill>
              </a:rPr>
              <a:t> liquid</a:t>
            </a:r>
            <a:r>
              <a:rPr lang="en-GB" sz="2200" dirty="0"/>
              <a:t>, the particles are </a:t>
            </a:r>
            <a:r>
              <a:rPr lang="en-GB" sz="2200" b="1" dirty="0">
                <a:solidFill>
                  <a:schemeClr val="accent6">
                    <a:lumMod val="75000"/>
                  </a:schemeClr>
                </a:solidFill>
              </a:rPr>
              <a:t>moving</a:t>
            </a:r>
            <a:r>
              <a:rPr lang="en-GB" sz="2200" dirty="0"/>
              <a:t> fast enough to break free from the solid. They are free to move relative to each other but are held within a container.</a:t>
            </a:r>
          </a:p>
          <a:p>
            <a:endParaRPr lang="en-GB" sz="2800" dirty="0"/>
          </a:p>
          <a:p>
            <a:r>
              <a:rPr lang="en-GB" sz="2200" dirty="0"/>
              <a:t>In a</a:t>
            </a:r>
            <a:r>
              <a:rPr lang="en-GB" sz="2200" b="1" dirty="0">
                <a:solidFill>
                  <a:schemeClr val="accent6">
                    <a:lumMod val="75000"/>
                  </a:schemeClr>
                </a:solidFill>
              </a:rPr>
              <a:t> gas</a:t>
            </a:r>
            <a:r>
              <a:rPr lang="en-GB" sz="2200" dirty="0"/>
              <a:t>, the particles have sufficient energy to </a:t>
            </a:r>
            <a:r>
              <a:rPr lang="en-GB" sz="2200" b="1" dirty="0">
                <a:solidFill>
                  <a:schemeClr val="accent6">
                    <a:lumMod val="75000"/>
                  </a:schemeClr>
                </a:solidFill>
              </a:rPr>
              <a:t>break free </a:t>
            </a:r>
            <a:r>
              <a:rPr lang="en-GB" sz="2200" dirty="0"/>
              <a:t>from their container. Gas particles can move away from their container and away from other gas particles.</a:t>
            </a:r>
            <a:endParaRPr lang="en-GB" sz="2400" dirty="0"/>
          </a:p>
        </p:txBody>
      </p:sp>
    </p:spTree>
    <p:extLst>
      <p:ext uri="{BB962C8B-B14F-4D97-AF65-F5344CB8AC3E}">
        <p14:creationId xmlns:p14="http://schemas.microsoft.com/office/powerpoint/2010/main" val="3469266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8714C147-2AC8-43C9-A67D-977D0D7D44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3855" y="1933074"/>
            <a:ext cx="2676525" cy="1688765"/>
          </a:xfrm>
          <a:prstGeom prst="rect">
            <a:avLst/>
          </a:prstGeom>
        </p:spPr>
      </p:pic>
      <p:pic>
        <p:nvPicPr>
          <p:cNvPr id="7" name="Picture 6">
            <a:extLst>
              <a:ext uri="{FF2B5EF4-FFF2-40B4-BE49-F238E27FC236}">
                <a16:creationId xmlns:a16="http://schemas.microsoft.com/office/drawing/2014/main" xmlns="" id="{BC3E4D4D-ECEA-4F55-AF00-AA8F8B35016F}"/>
              </a:ext>
            </a:extLst>
          </p:cNvPr>
          <p:cNvPicPr>
            <a:picLocks noChangeAspect="1"/>
          </p:cNvPicPr>
          <p:nvPr/>
        </p:nvPicPr>
        <p:blipFill rotWithShape="1">
          <a:blip r:embed="rId3">
            <a:extLst>
              <a:ext uri="{28A0092B-C50C-407E-A947-70E740481C1C}">
                <a14:useLocalDpi xmlns:a14="http://schemas.microsoft.com/office/drawing/2010/main" val="0"/>
              </a:ext>
            </a:extLst>
          </a:blip>
          <a:srcRect l="-1575" t="-7525" r="1575" b="-2996"/>
          <a:stretch/>
        </p:blipFill>
        <p:spPr>
          <a:xfrm>
            <a:off x="1932336" y="3410094"/>
            <a:ext cx="1739561" cy="1671075"/>
          </a:xfrm>
          <a:prstGeom prst="rect">
            <a:avLst/>
          </a:prstGeom>
        </p:spPr>
      </p:pic>
      <p:sp>
        <p:nvSpPr>
          <p:cNvPr id="2" name="Title 1"/>
          <p:cNvSpPr>
            <a:spLocks noGrp="1"/>
          </p:cNvSpPr>
          <p:nvPr>
            <p:ph type="ctrTitle"/>
          </p:nvPr>
        </p:nvSpPr>
        <p:spPr>
          <a:xfrm>
            <a:off x="971600" y="35655"/>
            <a:ext cx="8172400" cy="657041"/>
          </a:xfrm>
        </p:spPr>
        <p:txBody>
          <a:bodyPr>
            <a:noAutofit/>
          </a:bodyPr>
          <a:lstStyle/>
          <a:p>
            <a:pPr marL="342900" marR="0" lvl="1" algn="l" defTabSz="342900" rtl="0" eaLnBrk="1" fontAlgn="auto" latinLnBrk="0" hangingPunct="1">
              <a:lnSpc>
                <a:spcPct val="100000"/>
              </a:lnSpc>
              <a:spcBef>
                <a:spcPct val="20000"/>
              </a:spcBef>
              <a:spcAft>
                <a:spcPts val="0"/>
              </a:spcAft>
              <a:buClrTx/>
              <a:buSzTx/>
              <a:tabLst/>
              <a:defRPr/>
            </a:pPr>
            <a:r>
              <a:rPr lang="en-US" sz="2100" b="1" dirty="0">
                <a:solidFill>
                  <a:schemeClr val="accent6"/>
                </a:solidFill>
              </a:rPr>
              <a:t>Internal energy and energy transfers – </a:t>
            </a:r>
            <a:br>
              <a:rPr lang="en-US" sz="2100" b="1" dirty="0">
                <a:solidFill>
                  <a:schemeClr val="accent6"/>
                </a:solidFill>
              </a:rPr>
            </a:br>
            <a:r>
              <a:rPr lang="en-US" sz="2100" b="1" dirty="0">
                <a:solidFill>
                  <a:schemeClr val="accent6"/>
                </a:solidFill>
              </a:rPr>
              <a:t>Temperature change in a system and specific heat capacity</a:t>
            </a:r>
            <a:r>
              <a:rPr kumimoji="0" lang="en-US" sz="2100" b="1" i="0" u="none" strike="noStrike" kern="1200" cap="none" spc="0" normalizeH="0" baseline="0" noProof="0" dirty="0">
                <a:ln>
                  <a:noFill/>
                </a:ln>
                <a:solidFill>
                  <a:schemeClr val="accent6"/>
                </a:solidFill>
                <a:effectLst/>
                <a:uLnTx/>
                <a:uFillTx/>
                <a:latin typeface="Calibri"/>
                <a:ea typeface=""/>
                <a:cs typeface="News Gothic MT"/>
              </a:rPr>
              <a:t> </a:t>
            </a:r>
          </a:p>
        </p:txBody>
      </p:sp>
      <p:sp>
        <p:nvSpPr>
          <p:cNvPr id="3" name="TextBox 2">
            <a:extLst>
              <a:ext uri="{FF2B5EF4-FFF2-40B4-BE49-F238E27FC236}">
                <a16:creationId xmlns:a16="http://schemas.microsoft.com/office/drawing/2014/main" xmlns="" id="{517838B1-F549-4A08-A828-0F64B7B59FFD}"/>
              </a:ext>
            </a:extLst>
          </p:cNvPr>
          <p:cNvSpPr txBox="1"/>
          <p:nvPr/>
        </p:nvSpPr>
        <p:spPr>
          <a:xfrm>
            <a:off x="683568" y="908720"/>
            <a:ext cx="7848872" cy="648072"/>
          </a:xfrm>
          <a:prstGeom prst="rect">
            <a:avLst/>
          </a:prstGeom>
          <a:noFill/>
        </p:spPr>
        <p:txBody>
          <a:bodyPr wrap="square" rtlCol="0">
            <a:spAutoFit/>
          </a:bodyPr>
          <a:lstStyle/>
          <a:p>
            <a:endParaRPr lang="en-GB"/>
          </a:p>
        </p:txBody>
      </p:sp>
      <p:sp>
        <p:nvSpPr>
          <p:cNvPr id="8" name="TextBox 7">
            <a:extLst>
              <a:ext uri="{FF2B5EF4-FFF2-40B4-BE49-F238E27FC236}">
                <a16:creationId xmlns:a16="http://schemas.microsoft.com/office/drawing/2014/main" xmlns="" id="{BA8B4CD5-D3DA-45B6-ABF1-E5775CFCACD4}"/>
              </a:ext>
            </a:extLst>
          </p:cNvPr>
          <p:cNvSpPr txBox="1"/>
          <p:nvPr/>
        </p:nvSpPr>
        <p:spPr>
          <a:xfrm>
            <a:off x="467544" y="908720"/>
            <a:ext cx="8424936" cy="830997"/>
          </a:xfrm>
          <a:prstGeom prst="rect">
            <a:avLst/>
          </a:prstGeom>
          <a:noFill/>
          <a:ln w="25400">
            <a:solidFill>
              <a:schemeClr val="accent6">
                <a:lumMod val="75000"/>
              </a:schemeClr>
            </a:solidFill>
          </a:ln>
        </p:spPr>
        <p:txBody>
          <a:bodyPr wrap="square" rtlCol="0">
            <a:spAutoFit/>
          </a:bodyPr>
          <a:lstStyle/>
          <a:p>
            <a:r>
              <a:rPr lang="en-GB" sz="2400" dirty="0"/>
              <a:t>The temperature increase of an object depends on what it is made of, the mass of the object and the amount of energy put into it.</a:t>
            </a:r>
          </a:p>
        </p:txBody>
      </p:sp>
      <p:sp>
        <p:nvSpPr>
          <p:cNvPr id="9" name="Arrow: Right 8">
            <a:extLst>
              <a:ext uri="{FF2B5EF4-FFF2-40B4-BE49-F238E27FC236}">
                <a16:creationId xmlns:a16="http://schemas.microsoft.com/office/drawing/2014/main" xmlns="" id="{0858066E-4065-4F34-BD82-309F001D5F3D}"/>
              </a:ext>
            </a:extLst>
          </p:cNvPr>
          <p:cNvSpPr/>
          <p:nvPr/>
        </p:nvSpPr>
        <p:spPr>
          <a:xfrm rot="16200000">
            <a:off x="1873459" y="4105847"/>
            <a:ext cx="864097" cy="199732"/>
          </a:xfrm>
          <a:prstGeom prst="rightArrow">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Arrow: Right 9">
            <a:extLst>
              <a:ext uri="{FF2B5EF4-FFF2-40B4-BE49-F238E27FC236}">
                <a16:creationId xmlns:a16="http://schemas.microsoft.com/office/drawing/2014/main" xmlns="" id="{E7FC0972-55BD-43B7-8AF6-1DDF07055883}"/>
              </a:ext>
            </a:extLst>
          </p:cNvPr>
          <p:cNvSpPr/>
          <p:nvPr/>
        </p:nvSpPr>
        <p:spPr>
          <a:xfrm>
            <a:off x="1347265" y="2556867"/>
            <a:ext cx="864097" cy="199732"/>
          </a:xfrm>
          <a:prstGeom prst="rightArrow">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Arrow: Right 10">
            <a:extLst>
              <a:ext uri="{FF2B5EF4-FFF2-40B4-BE49-F238E27FC236}">
                <a16:creationId xmlns:a16="http://schemas.microsoft.com/office/drawing/2014/main" xmlns="" id="{C4E6A714-52EA-42A4-BDD8-6664D82317F7}"/>
              </a:ext>
            </a:extLst>
          </p:cNvPr>
          <p:cNvSpPr/>
          <p:nvPr/>
        </p:nvSpPr>
        <p:spPr>
          <a:xfrm rot="8910744">
            <a:off x="3332219" y="2292034"/>
            <a:ext cx="864097" cy="214796"/>
          </a:xfrm>
          <a:prstGeom prst="rightArrow">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xmlns="" id="{8312EBE7-7203-4E9E-A468-A330D55AD60B}"/>
              </a:ext>
            </a:extLst>
          </p:cNvPr>
          <p:cNvSpPr txBox="1"/>
          <p:nvPr/>
        </p:nvSpPr>
        <p:spPr>
          <a:xfrm>
            <a:off x="243016" y="2067381"/>
            <a:ext cx="1080120" cy="923330"/>
          </a:xfrm>
          <a:prstGeom prst="rect">
            <a:avLst/>
          </a:prstGeom>
          <a:noFill/>
        </p:spPr>
        <p:txBody>
          <a:bodyPr wrap="square" rtlCol="0">
            <a:spAutoFit/>
          </a:bodyPr>
          <a:lstStyle/>
          <a:p>
            <a:pPr algn="ctr"/>
            <a:r>
              <a:rPr lang="en-GB" b="1" dirty="0"/>
              <a:t>Mass of system</a:t>
            </a:r>
          </a:p>
          <a:p>
            <a:pPr algn="ctr"/>
            <a:r>
              <a:rPr lang="en-GB" b="1" dirty="0"/>
              <a:t>(kg)</a:t>
            </a:r>
          </a:p>
        </p:txBody>
      </p:sp>
      <p:sp>
        <p:nvSpPr>
          <p:cNvPr id="13" name="TextBox 12">
            <a:extLst>
              <a:ext uri="{FF2B5EF4-FFF2-40B4-BE49-F238E27FC236}">
                <a16:creationId xmlns:a16="http://schemas.microsoft.com/office/drawing/2014/main" xmlns="" id="{5B082EE6-83A2-469A-9697-45548FBF67B2}"/>
              </a:ext>
            </a:extLst>
          </p:cNvPr>
          <p:cNvSpPr txBox="1"/>
          <p:nvPr/>
        </p:nvSpPr>
        <p:spPr>
          <a:xfrm>
            <a:off x="923797" y="3716529"/>
            <a:ext cx="1124268" cy="1200329"/>
          </a:xfrm>
          <a:prstGeom prst="rect">
            <a:avLst/>
          </a:prstGeom>
          <a:noFill/>
        </p:spPr>
        <p:txBody>
          <a:bodyPr wrap="square" rtlCol="0">
            <a:spAutoFit/>
          </a:bodyPr>
          <a:lstStyle/>
          <a:p>
            <a:pPr algn="ctr"/>
            <a:r>
              <a:rPr lang="en-GB" b="1" dirty="0"/>
              <a:t>Energy input (thermal)</a:t>
            </a:r>
          </a:p>
          <a:p>
            <a:pPr algn="ctr"/>
            <a:r>
              <a:rPr lang="en-GB" b="1" dirty="0"/>
              <a:t>(J)</a:t>
            </a:r>
          </a:p>
        </p:txBody>
      </p:sp>
      <p:sp>
        <p:nvSpPr>
          <p:cNvPr id="14" name="TextBox 13">
            <a:extLst>
              <a:ext uri="{FF2B5EF4-FFF2-40B4-BE49-F238E27FC236}">
                <a16:creationId xmlns:a16="http://schemas.microsoft.com/office/drawing/2014/main" xmlns="" id="{8AEF4FA3-B23B-4AF0-9CB8-50CEF8B1CE8B}"/>
              </a:ext>
            </a:extLst>
          </p:cNvPr>
          <p:cNvSpPr txBox="1"/>
          <p:nvPr/>
        </p:nvSpPr>
        <p:spPr>
          <a:xfrm>
            <a:off x="4140380" y="1933074"/>
            <a:ext cx="4824108" cy="369332"/>
          </a:xfrm>
          <a:prstGeom prst="rect">
            <a:avLst/>
          </a:prstGeom>
          <a:noFill/>
        </p:spPr>
        <p:txBody>
          <a:bodyPr wrap="square" rtlCol="0">
            <a:spAutoFit/>
          </a:bodyPr>
          <a:lstStyle/>
          <a:p>
            <a:r>
              <a:rPr lang="en-GB" b="1" dirty="0"/>
              <a:t>Type of material (specific heat capacity) (J/kg </a:t>
            </a:r>
            <a:r>
              <a:rPr lang="en-GB" sz="2000" b="1" baseline="30000" dirty="0" err="1"/>
              <a:t>o</a:t>
            </a:r>
            <a:r>
              <a:rPr lang="en-GB" b="1" dirty="0" err="1"/>
              <a:t>C</a:t>
            </a:r>
            <a:r>
              <a:rPr lang="en-GB" b="1" dirty="0"/>
              <a:t>)</a:t>
            </a:r>
          </a:p>
        </p:txBody>
      </p:sp>
      <p:sp>
        <p:nvSpPr>
          <p:cNvPr id="15" name="TextBox 14">
            <a:extLst>
              <a:ext uri="{FF2B5EF4-FFF2-40B4-BE49-F238E27FC236}">
                <a16:creationId xmlns:a16="http://schemas.microsoft.com/office/drawing/2014/main" xmlns="" id="{B5A10B2D-DC13-48FC-8F1E-20BEEB958A1B}"/>
              </a:ext>
            </a:extLst>
          </p:cNvPr>
          <p:cNvSpPr txBox="1"/>
          <p:nvPr/>
        </p:nvSpPr>
        <p:spPr>
          <a:xfrm>
            <a:off x="3988116" y="2672569"/>
            <a:ext cx="4918991" cy="2677656"/>
          </a:xfrm>
          <a:prstGeom prst="rect">
            <a:avLst/>
          </a:prstGeom>
          <a:noFill/>
          <a:ln w="25400">
            <a:solidFill>
              <a:schemeClr val="accent6">
                <a:lumMod val="75000"/>
              </a:schemeClr>
            </a:solidFill>
          </a:ln>
        </p:spPr>
        <p:txBody>
          <a:bodyPr wrap="square" rtlCol="0">
            <a:spAutoFit/>
          </a:bodyPr>
          <a:lstStyle/>
          <a:p>
            <a:r>
              <a:rPr lang="en-GB" sz="2400" dirty="0"/>
              <a:t>To calculate the temperature change, the formula for </a:t>
            </a:r>
            <a:r>
              <a:rPr lang="en-GB" sz="2400" b="1" dirty="0">
                <a:solidFill>
                  <a:schemeClr val="accent6">
                    <a:lumMod val="75000"/>
                  </a:schemeClr>
                </a:solidFill>
              </a:rPr>
              <a:t>specific heat capacity </a:t>
            </a:r>
            <a:r>
              <a:rPr lang="en-GB" sz="2400" dirty="0"/>
              <a:t>has to be re-arranged.</a:t>
            </a:r>
          </a:p>
          <a:p>
            <a:r>
              <a:rPr lang="en-GB" sz="2400" dirty="0"/>
              <a:t>Remember, specific heat capacity </a:t>
            </a:r>
            <a:r>
              <a:rPr lang="en-GB" sz="2400" dirty="0" smtClean="0"/>
              <a:t>(</a:t>
            </a:r>
            <a:r>
              <a:rPr lang="en-GB" sz="2400" b="1" i="1" dirty="0" smtClean="0"/>
              <a:t>c</a:t>
            </a:r>
            <a:r>
              <a:rPr lang="en-GB" sz="2400" dirty="0" smtClean="0"/>
              <a:t>) </a:t>
            </a:r>
            <a:r>
              <a:rPr lang="en-GB" sz="2400" dirty="0"/>
              <a:t>is the energy required to raise the temperature of 1 kg of a substance by 1</a:t>
            </a:r>
            <a:r>
              <a:rPr lang="en-GB" sz="2400" b="1" baseline="30000" dirty="0"/>
              <a:t>o</a:t>
            </a:r>
            <a:r>
              <a:rPr lang="en-GB" sz="2400" dirty="0"/>
              <a:t>C.</a:t>
            </a:r>
          </a:p>
        </p:txBody>
      </p:sp>
      <p:sp>
        <p:nvSpPr>
          <p:cNvPr id="16" name="TextBox 15">
            <a:extLst>
              <a:ext uri="{FF2B5EF4-FFF2-40B4-BE49-F238E27FC236}">
                <a16:creationId xmlns:a16="http://schemas.microsoft.com/office/drawing/2014/main" xmlns="" id="{F5BAC16D-A832-44B6-8AC4-F34AD3E39E0C}"/>
              </a:ext>
            </a:extLst>
          </p:cNvPr>
          <p:cNvSpPr txBox="1"/>
          <p:nvPr/>
        </p:nvSpPr>
        <p:spPr>
          <a:xfrm>
            <a:off x="1100995" y="5532188"/>
            <a:ext cx="7158033" cy="707886"/>
          </a:xfrm>
          <a:prstGeom prst="rect">
            <a:avLst/>
          </a:prstGeom>
          <a:noFill/>
          <a:ln w="25400">
            <a:solidFill>
              <a:schemeClr val="accent6">
                <a:lumMod val="75000"/>
              </a:schemeClr>
            </a:solidFill>
          </a:ln>
        </p:spPr>
        <p:txBody>
          <a:bodyPr wrap="square" rtlCol="0">
            <a:spAutoFit/>
          </a:bodyPr>
          <a:lstStyle/>
          <a:p>
            <a:r>
              <a:rPr lang="en-GB" sz="2000" dirty="0"/>
              <a:t>Temperature change (</a:t>
            </a:r>
            <a:r>
              <a:rPr lang="el-GR" sz="2000" b="1" dirty="0"/>
              <a:t>Δθ</a:t>
            </a:r>
            <a:r>
              <a:rPr lang="en-GB" sz="2000" dirty="0"/>
              <a:t>) =     ___</a:t>
            </a:r>
            <a:r>
              <a:rPr lang="en-GB" sz="2000" u="sng" dirty="0"/>
              <a:t>change in thermal energy (</a:t>
            </a:r>
            <a:r>
              <a:rPr lang="el-GR" sz="2000" b="1" u="sng" dirty="0"/>
              <a:t>Δ</a:t>
            </a:r>
            <a:r>
              <a:rPr lang="en-GB" sz="2000" b="1" u="sng" dirty="0"/>
              <a:t>E</a:t>
            </a:r>
            <a:r>
              <a:rPr lang="en-GB" sz="2000" u="sng" dirty="0"/>
              <a:t>)</a:t>
            </a:r>
            <a:r>
              <a:rPr lang="en-GB" u="sng" dirty="0"/>
              <a:t>__</a:t>
            </a:r>
          </a:p>
          <a:p>
            <a:r>
              <a:rPr lang="en-GB" sz="2000" dirty="0"/>
              <a:t>		                      mass (</a:t>
            </a:r>
            <a:r>
              <a:rPr lang="en-GB" sz="2000" b="1" dirty="0"/>
              <a:t>m</a:t>
            </a:r>
            <a:r>
              <a:rPr lang="en-GB" sz="2000" dirty="0"/>
              <a:t>) x specific heat capacity (</a:t>
            </a:r>
            <a:r>
              <a:rPr lang="en-GB" sz="2000" b="1" i="1" dirty="0"/>
              <a:t>C</a:t>
            </a:r>
            <a:r>
              <a:rPr lang="en-GB" dirty="0"/>
              <a:t> )</a:t>
            </a:r>
          </a:p>
        </p:txBody>
      </p:sp>
    </p:spTree>
    <p:extLst>
      <p:ext uri="{BB962C8B-B14F-4D97-AF65-F5344CB8AC3E}">
        <p14:creationId xmlns:p14="http://schemas.microsoft.com/office/powerpoint/2010/main" val="3061933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1600" y="35655"/>
            <a:ext cx="8172400" cy="657041"/>
          </a:xfrm>
        </p:spPr>
        <p:txBody>
          <a:bodyPr>
            <a:noAutofit/>
          </a:bodyPr>
          <a:lstStyle/>
          <a:p>
            <a:pPr marL="342900" marR="0" lvl="1" algn="l" defTabSz="342900" rtl="0" eaLnBrk="1" fontAlgn="auto" latinLnBrk="0" hangingPunct="1">
              <a:lnSpc>
                <a:spcPct val="100000"/>
              </a:lnSpc>
              <a:spcBef>
                <a:spcPct val="20000"/>
              </a:spcBef>
              <a:spcAft>
                <a:spcPts val="0"/>
              </a:spcAft>
              <a:buClrTx/>
              <a:buSzTx/>
              <a:tabLst/>
              <a:defRPr/>
            </a:pPr>
            <a:r>
              <a:rPr lang="en-US" sz="2100" b="1" dirty="0">
                <a:solidFill>
                  <a:schemeClr val="accent6"/>
                </a:solidFill>
              </a:rPr>
              <a:t>Internal energy and energy transfers – </a:t>
            </a:r>
            <a:br>
              <a:rPr lang="en-US" sz="2100" b="1" dirty="0">
                <a:solidFill>
                  <a:schemeClr val="accent6"/>
                </a:solidFill>
              </a:rPr>
            </a:br>
            <a:r>
              <a:rPr lang="en-US" sz="2100" b="1" dirty="0">
                <a:solidFill>
                  <a:schemeClr val="accent6"/>
                </a:solidFill>
              </a:rPr>
              <a:t>Temperature change in a system and specific heat capacity</a:t>
            </a:r>
            <a:r>
              <a:rPr lang="en-US" sz="2100" b="1" kern="1200" dirty="0">
                <a:solidFill>
                  <a:schemeClr val="accent6"/>
                </a:solidFill>
                <a:latin typeface="Calibri"/>
                <a:ea typeface=""/>
                <a:cs typeface="News Gothic MT"/>
              </a:rPr>
              <a:t> </a:t>
            </a:r>
            <a:endParaRPr kumimoji="0" lang="en-US" sz="2100" b="1" i="0" u="none" strike="noStrike" kern="1200" cap="none" spc="0" normalizeH="0" baseline="0" noProof="0" dirty="0">
              <a:ln>
                <a:noFill/>
              </a:ln>
              <a:solidFill>
                <a:schemeClr val="accent6"/>
              </a:solidFill>
              <a:effectLst/>
              <a:uLnTx/>
              <a:uFillTx/>
              <a:latin typeface="Calibri"/>
              <a:ea typeface=""/>
              <a:cs typeface="News Gothic MT"/>
            </a:endParaRPr>
          </a:p>
        </p:txBody>
      </p:sp>
      <p:pic>
        <p:nvPicPr>
          <p:cNvPr id="4" name="Picture 3">
            <a:extLst>
              <a:ext uri="{FF2B5EF4-FFF2-40B4-BE49-F238E27FC236}">
                <a16:creationId xmlns:a16="http://schemas.microsoft.com/office/drawing/2014/main" xmlns="" id="{2AC5EFD0-4AF6-44B4-9388-0E3260DAFF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2200" y="1304765"/>
            <a:ext cx="2232248" cy="2232248"/>
          </a:xfrm>
          <a:prstGeom prst="rect">
            <a:avLst/>
          </a:prstGeom>
        </p:spPr>
      </p:pic>
      <p:sp>
        <p:nvSpPr>
          <p:cNvPr id="5" name="TextBox 4">
            <a:extLst>
              <a:ext uri="{FF2B5EF4-FFF2-40B4-BE49-F238E27FC236}">
                <a16:creationId xmlns:a16="http://schemas.microsoft.com/office/drawing/2014/main" xmlns="" id="{906EFB5A-F920-400B-883C-25D75F243095}"/>
              </a:ext>
            </a:extLst>
          </p:cNvPr>
          <p:cNvSpPr txBox="1"/>
          <p:nvPr/>
        </p:nvSpPr>
        <p:spPr>
          <a:xfrm>
            <a:off x="611560" y="980728"/>
            <a:ext cx="4248472" cy="461665"/>
          </a:xfrm>
          <a:prstGeom prst="rect">
            <a:avLst/>
          </a:prstGeom>
          <a:solidFill>
            <a:schemeClr val="accent6">
              <a:lumMod val="75000"/>
            </a:schemeClr>
          </a:solidFill>
        </p:spPr>
        <p:txBody>
          <a:bodyPr wrap="square" rtlCol="0">
            <a:spAutoFit/>
          </a:bodyPr>
          <a:lstStyle/>
          <a:p>
            <a:r>
              <a:rPr lang="en-GB" sz="2400" dirty="0"/>
              <a:t>Calculating temperature change</a:t>
            </a:r>
          </a:p>
        </p:txBody>
      </p:sp>
      <p:sp>
        <p:nvSpPr>
          <p:cNvPr id="6" name="TextBox 5">
            <a:extLst>
              <a:ext uri="{FF2B5EF4-FFF2-40B4-BE49-F238E27FC236}">
                <a16:creationId xmlns:a16="http://schemas.microsoft.com/office/drawing/2014/main" xmlns="" id="{8FBA93CF-C1E6-4E57-9010-3FFE5A310E7A}"/>
              </a:ext>
            </a:extLst>
          </p:cNvPr>
          <p:cNvSpPr txBox="1"/>
          <p:nvPr/>
        </p:nvSpPr>
        <p:spPr>
          <a:xfrm>
            <a:off x="541421" y="1935068"/>
            <a:ext cx="5686763" cy="1477328"/>
          </a:xfrm>
          <a:prstGeom prst="rect">
            <a:avLst/>
          </a:prstGeom>
          <a:noFill/>
        </p:spPr>
        <p:txBody>
          <a:bodyPr wrap="square" rtlCol="0">
            <a:spAutoFit/>
          </a:bodyPr>
          <a:lstStyle/>
          <a:p>
            <a:r>
              <a:rPr lang="en-GB" sz="2400" dirty="0"/>
              <a:t>A kettle contains 1400 g of water at 12 </a:t>
            </a:r>
            <a:r>
              <a:rPr lang="en-GB" sz="2400" b="1" baseline="30000" dirty="0"/>
              <a:t>o</a:t>
            </a:r>
            <a:r>
              <a:rPr lang="en-GB" sz="2400" dirty="0"/>
              <a:t>C.</a:t>
            </a:r>
          </a:p>
          <a:p>
            <a:r>
              <a:rPr lang="en-GB" sz="2400" dirty="0"/>
              <a:t>If 400 kJ of heat energy is supplied to the water, how much will the temperature rise?</a:t>
            </a:r>
          </a:p>
          <a:p>
            <a:endParaRPr lang="en-GB" dirty="0"/>
          </a:p>
        </p:txBody>
      </p:sp>
      <p:sp>
        <p:nvSpPr>
          <p:cNvPr id="7" name="TextBox 6">
            <a:extLst>
              <a:ext uri="{FF2B5EF4-FFF2-40B4-BE49-F238E27FC236}">
                <a16:creationId xmlns:a16="http://schemas.microsoft.com/office/drawing/2014/main" xmlns="" id="{D9E0EB77-1FD9-410A-8770-CD4CDB5526FA}"/>
              </a:ext>
            </a:extLst>
          </p:cNvPr>
          <p:cNvSpPr txBox="1"/>
          <p:nvPr/>
        </p:nvSpPr>
        <p:spPr>
          <a:xfrm>
            <a:off x="611560" y="3781727"/>
            <a:ext cx="7776864" cy="2677656"/>
          </a:xfrm>
          <a:prstGeom prst="rect">
            <a:avLst/>
          </a:prstGeom>
          <a:noFill/>
          <a:ln w="25400">
            <a:solidFill>
              <a:schemeClr val="accent6">
                <a:lumMod val="75000"/>
              </a:schemeClr>
            </a:solidFill>
          </a:ln>
        </p:spPr>
        <p:txBody>
          <a:bodyPr wrap="square" rtlCol="0">
            <a:spAutoFit/>
          </a:bodyPr>
          <a:lstStyle/>
          <a:p>
            <a:r>
              <a:rPr lang="en-GB" sz="2000" dirty="0"/>
              <a:t>Temperature change (</a:t>
            </a:r>
            <a:r>
              <a:rPr lang="el-GR" sz="2000" b="1" dirty="0"/>
              <a:t>Δθ</a:t>
            </a:r>
            <a:r>
              <a:rPr lang="en-GB" sz="2000" dirty="0"/>
              <a:t>) =     change in thermal energy (</a:t>
            </a:r>
            <a:r>
              <a:rPr lang="el-GR" sz="2000" b="1" dirty="0"/>
              <a:t>Δ</a:t>
            </a:r>
            <a:r>
              <a:rPr lang="en-GB" sz="2000" b="1" dirty="0"/>
              <a:t>E</a:t>
            </a:r>
            <a:r>
              <a:rPr lang="en-GB" sz="2000" dirty="0"/>
              <a:t>)</a:t>
            </a:r>
            <a:r>
              <a:rPr lang="en-GB" dirty="0"/>
              <a:t> </a:t>
            </a:r>
            <a:r>
              <a:rPr lang="en-GB" sz="2000" dirty="0"/>
              <a:t>		                      			  mass (</a:t>
            </a:r>
            <a:r>
              <a:rPr lang="en-GB" sz="2000" b="1" dirty="0"/>
              <a:t>m</a:t>
            </a:r>
            <a:r>
              <a:rPr lang="en-GB" sz="2000" dirty="0"/>
              <a:t>) x specific heat capacity </a:t>
            </a:r>
            <a:r>
              <a:rPr lang="en-GB" sz="2000" b="1" dirty="0"/>
              <a:t>(</a:t>
            </a:r>
            <a:r>
              <a:rPr lang="en-GB" sz="2000" b="1" i="1" dirty="0"/>
              <a:t>C</a:t>
            </a:r>
            <a:r>
              <a:rPr lang="en-GB" sz="2000" b="1" dirty="0"/>
              <a:t>) </a:t>
            </a:r>
          </a:p>
          <a:p>
            <a:endParaRPr lang="en-GB" sz="2000" b="1" dirty="0"/>
          </a:p>
          <a:p>
            <a:r>
              <a:rPr lang="el-GR" sz="2000" b="1" dirty="0"/>
              <a:t>Δθ</a:t>
            </a:r>
            <a:r>
              <a:rPr lang="en-GB" sz="2000" dirty="0"/>
              <a:t> =  </a:t>
            </a:r>
            <a:r>
              <a:rPr lang="el-GR" sz="2000" b="1" dirty="0"/>
              <a:t>Δ</a:t>
            </a:r>
            <a:r>
              <a:rPr lang="en-GB" sz="2000" b="1" dirty="0"/>
              <a:t>E           </a:t>
            </a:r>
            <a:r>
              <a:rPr lang="en-GB" sz="2000" dirty="0"/>
              <a:t>=      400 000       =   </a:t>
            </a:r>
            <a:r>
              <a:rPr lang="en-GB" sz="2000" b="1" dirty="0"/>
              <a:t>68 </a:t>
            </a:r>
            <a:r>
              <a:rPr lang="en-GB" sz="2000" b="1" baseline="30000" dirty="0"/>
              <a:t>o</a:t>
            </a:r>
            <a:r>
              <a:rPr lang="en-GB" sz="2000" b="1" dirty="0"/>
              <a:t>C</a:t>
            </a:r>
          </a:p>
          <a:p>
            <a:r>
              <a:rPr lang="en-GB" sz="2000" b="1" dirty="0"/>
              <a:t>        m x </a:t>
            </a:r>
            <a:r>
              <a:rPr lang="en-GB" sz="2000" b="1" i="1" dirty="0"/>
              <a:t>C               </a:t>
            </a:r>
            <a:r>
              <a:rPr lang="en-GB" sz="2000" dirty="0"/>
              <a:t>1.4 x 4200</a:t>
            </a:r>
          </a:p>
          <a:p>
            <a:endParaRPr lang="en-GB" sz="2000" dirty="0"/>
          </a:p>
          <a:p>
            <a:r>
              <a:rPr lang="en-GB" sz="2400" dirty="0"/>
              <a:t>The temperature rise will be 68 </a:t>
            </a:r>
            <a:r>
              <a:rPr lang="en-GB" sz="2400" b="1" baseline="30000" dirty="0"/>
              <a:t>o</a:t>
            </a:r>
            <a:r>
              <a:rPr lang="en-GB" sz="2400" dirty="0"/>
              <a:t>C.</a:t>
            </a:r>
          </a:p>
          <a:p>
            <a:r>
              <a:rPr lang="en-GB" sz="2400" dirty="0"/>
              <a:t>The new temperature of the water will be 68 + 12 = 80 </a:t>
            </a:r>
            <a:r>
              <a:rPr lang="en-GB" sz="2400" b="1" baseline="30000" dirty="0"/>
              <a:t>o</a:t>
            </a:r>
            <a:r>
              <a:rPr lang="en-GB" sz="2400" dirty="0"/>
              <a:t>C.</a:t>
            </a:r>
          </a:p>
        </p:txBody>
      </p:sp>
      <p:cxnSp>
        <p:nvCxnSpPr>
          <p:cNvPr id="9" name="Straight Connector 8">
            <a:extLst>
              <a:ext uri="{FF2B5EF4-FFF2-40B4-BE49-F238E27FC236}">
                <a16:creationId xmlns:a16="http://schemas.microsoft.com/office/drawing/2014/main" xmlns="" id="{57A96BB6-5EFA-4A52-B204-C9F9A93D9659}"/>
              </a:ext>
            </a:extLst>
          </p:cNvPr>
          <p:cNvCxnSpPr/>
          <p:nvPr/>
        </p:nvCxnSpPr>
        <p:spPr>
          <a:xfrm>
            <a:off x="1115616" y="5085184"/>
            <a:ext cx="57606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xmlns="" id="{8FBC1C46-879D-4164-B073-0008E5F4947A}"/>
              </a:ext>
            </a:extLst>
          </p:cNvPr>
          <p:cNvCxnSpPr/>
          <p:nvPr/>
        </p:nvCxnSpPr>
        <p:spPr>
          <a:xfrm>
            <a:off x="3563888" y="4149080"/>
            <a:ext cx="363640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xmlns="" id="{741DF724-5C23-403F-B416-55141F409064}"/>
              </a:ext>
            </a:extLst>
          </p:cNvPr>
          <p:cNvCxnSpPr>
            <a:cxnSpLocks/>
          </p:cNvCxnSpPr>
          <p:nvPr/>
        </p:nvCxnSpPr>
        <p:spPr>
          <a:xfrm flipH="1" flipV="1">
            <a:off x="2627784" y="5081010"/>
            <a:ext cx="936104" cy="417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26146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35655"/>
            <a:ext cx="8388424" cy="657041"/>
          </a:xfrm>
        </p:spPr>
        <p:txBody>
          <a:bodyPr>
            <a:noAutofit/>
          </a:bodyPr>
          <a:lstStyle/>
          <a:p>
            <a:pPr marL="342900" marR="0" lvl="1" algn="l" defTabSz="342900" rtl="0" eaLnBrk="1" fontAlgn="auto" latinLnBrk="0" hangingPunct="1">
              <a:lnSpc>
                <a:spcPct val="100000"/>
              </a:lnSpc>
              <a:spcBef>
                <a:spcPct val="20000"/>
              </a:spcBef>
              <a:spcAft>
                <a:spcPts val="0"/>
              </a:spcAft>
              <a:buClrTx/>
              <a:buSzTx/>
              <a:tabLst/>
              <a:defRPr/>
            </a:pPr>
            <a:r>
              <a:rPr lang="en-US" sz="2100" b="1" dirty="0">
                <a:solidFill>
                  <a:schemeClr val="accent6"/>
                </a:solidFill>
              </a:rPr>
              <a:t>   Internal energy and energy transfers – </a:t>
            </a:r>
            <a:br>
              <a:rPr lang="en-US" sz="2100" b="1" dirty="0">
                <a:solidFill>
                  <a:schemeClr val="accent6"/>
                </a:solidFill>
              </a:rPr>
            </a:br>
            <a:r>
              <a:rPr lang="en-US" sz="2100" b="1" dirty="0">
                <a:solidFill>
                  <a:schemeClr val="accent6"/>
                </a:solidFill>
              </a:rPr>
              <a:t>								Changes of heat and specific latent heat</a:t>
            </a:r>
            <a:endParaRPr kumimoji="0" lang="en-US" sz="21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a:extLst>
              <a:ext uri="{FF2B5EF4-FFF2-40B4-BE49-F238E27FC236}">
                <a16:creationId xmlns:a16="http://schemas.microsoft.com/office/drawing/2014/main" xmlns="" id="{E6CA3B38-978A-4D04-A501-3302E4A4D580}"/>
              </a:ext>
            </a:extLst>
          </p:cNvPr>
          <p:cNvSpPr txBox="1"/>
          <p:nvPr/>
        </p:nvSpPr>
        <p:spPr>
          <a:xfrm>
            <a:off x="539552" y="1052736"/>
            <a:ext cx="8208912" cy="1569660"/>
          </a:xfrm>
          <a:prstGeom prst="rect">
            <a:avLst/>
          </a:prstGeom>
          <a:solidFill>
            <a:schemeClr val="accent6">
              <a:lumMod val="60000"/>
              <a:lumOff val="40000"/>
            </a:schemeClr>
          </a:solidFill>
        </p:spPr>
        <p:txBody>
          <a:bodyPr wrap="square" rtlCol="0">
            <a:spAutoFit/>
          </a:bodyPr>
          <a:lstStyle/>
          <a:p>
            <a:r>
              <a:rPr lang="en-GB" sz="2400" b="1" dirty="0">
                <a:solidFill>
                  <a:schemeClr val="accent6">
                    <a:lumMod val="75000"/>
                  </a:schemeClr>
                </a:solidFill>
              </a:rPr>
              <a:t>Latent heat </a:t>
            </a:r>
            <a:r>
              <a:rPr lang="en-GB" sz="2400" dirty="0"/>
              <a:t>is the energy needed to </a:t>
            </a:r>
            <a:r>
              <a:rPr lang="en-GB" sz="2400" b="1" dirty="0">
                <a:solidFill>
                  <a:schemeClr val="accent6">
                    <a:lumMod val="75000"/>
                  </a:schemeClr>
                </a:solidFill>
              </a:rPr>
              <a:t>change the state </a:t>
            </a:r>
            <a:r>
              <a:rPr lang="en-GB" sz="2400" dirty="0"/>
              <a:t>of a substance without a change in temperature. </a:t>
            </a:r>
          </a:p>
          <a:p>
            <a:r>
              <a:rPr lang="en-GB" sz="2400" dirty="0"/>
              <a:t>The energy supplied is used to change the </a:t>
            </a:r>
            <a:r>
              <a:rPr lang="en-GB" sz="2400" b="1" dirty="0">
                <a:solidFill>
                  <a:schemeClr val="accent6">
                    <a:lumMod val="75000"/>
                  </a:schemeClr>
                </a:solidFill>
              </a:rPr>
              <a:t>internal energy store </a:t>
            </a:r>
            <a:r>
              <a:rPr lang="en-GB" sz="2400" dirty="0"/>
              <a:t>of the substance.</a:t>
            </a:r>
          </a:p>
        </p:txBody>
      </p:sp>
      <p:pic>
        <p:nvPicPr>
          <p:cNvPr id="6" name="Picture 5">
            <a:extLst>
              <a:ext uri="{FF2B5EF4-FFF2-40B4-BE49-F238E27FC236}">
                <a16:creationId xmlns:a16="http://schemas.microsoft.com/office/drawing/2014/main" xmlns="" id="{28DA27DB-C71A-4116-999E-26CDB771CCC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483" b="4483"/>
          <a:stretch/>
        </p:blipFill>
        <p:spPr>
          <a:xfrm>
            <a:off x="1763688" y="4135085"/>
            <a:ext cx="1444365" cy="1083274"/>
          </a:xfrm>
          <a:prstGeom prst="rect">
            <a:avLst/>
          </a:prstGeom>
        </p:spPr>
      </p:pic>
      <p:pic>
        <p:nvPicPr>
          <p:cNvPr id="10" name="Picture 9">
            <a:extLst>
              <a:ext uri="{FF2B5EF4-FFF2-40B4-BE49-F238E27FC236}">
                <a16:creationId xmlns:a16="http://schemas.microsoft.com/office/drawing/2014/main" xmlns="" id="{05E19A75-E49F-4432-A833-5E969E60B7D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0071" y="3858555"/>
            <a:ext cx="1445146" cy="1445146"/>
          </a:xfrm>
          <a:prstGeom prst="rect">
            <a:avLst/>
          </a:prstGeom>
        </p:spPr>
      </p:pic>
      <p:sp>
        <p:nvSpPr>
          <p:cNvPr id="11" name="Arrow: Right 10">
            <a:extLst>
              <a:ext uri="{FF2B5EF4-FFF2-40B4-BE49-F238E27FC236}">
                <a16:creationId xmlns:a16="http://schemas.microsoft.com/office/drawing/2014/main" xmlns="" id="{5DF8E48F-934A-420E-A619-6DF888236AAD}"/>
              </a:ext>
            </a:extLst>
          </p:cNvPr>
          <p:cNvSpPr/>
          <p:nvPr/>
        </p:nvSpPr>
        <p:spPr>
          <a:xfrm>
            <a:off x="3637998" y="4293096"/>
            <a:ext cx="1152128" cy="576064"/>
          </a:xfrm>
          <a:prstGeom prst="rightArrow">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xmlns="" id="{E5A60CE8-D992-40F7-A149-B33FC9737363}"/>
              </a:ext>
            </a:extLst>
          </p:cNvPr>
          <p:cNvSpPr txBox="1"/>
          <p:nvPr/>
        </p:nvSpPr>
        <p:spPr>
          <a:xfrm>
            <a:off x="1583668" y="3658500"/>
            <a:ext cx="6120680" cy="400110"/>
          </a:xfrm>
          <a:prstGeom prst="rect">
            <a:avLst/>
          </a:prstGeom>
          <a:noFill/>
        </p:spPr>
        <p:txBody>
          <a:bodyPr wrap="square" rtlCol="0">
            <a:spAutoFit/>
          </a:bodyPr>
          <a:lstStyle/>
          <a:p>
            <a:r>
              <a:rPr lang="en-GB" sz="2000" dirty="0"/>
              <a:t>1kg of ice at 0</a:t>
            </a:r>
            <a:r>
              <a:rPr lang="en-GB" sz="2000" b="1" baseline="30000" dirty="0"/>
              <a:t>o</a:t>
            </a:r>
            <a:r>
              <a:rPr lang="en-GB" sz="2000" dirty="0"/>
              <a:t>C                                1kg water at 0</a:t>
            </a:r>
            <a:r>
              <a:rPr lang="en-GB" sz="2000" b="1" baseline="30000" dirty="0"/>
              <a:t>o</a:t>
            </a:r>
            <a:r>
              <a:rPr lang="en-GB" sz="2000" dirty="0"/>
              <a:t>C  </a:t>
            </a:r>
          </a:p>
        </p:txBody>
      </p:sp>
      <p:sp>
        <p:nvSpPr>
          <p:cNvPr id="15" name="TextBox 14">
            <a:extLst>
              <a:ext uri="{FF2B5EF4-FFF2-40B4-BE49-F238E27FC236}">
                <a16:creationId xmlns:a16="http://schemas.microsoft.com/office/drawing/2014/main" xmlns="" id="{2A4C2ED6-2EDB-43A1-8AFA-AF8D03D8F732}"/>
              </a:ext>
            </a:extLst>
          </p:cNvPr>
          <p:cNvSpPr txBox="1"/>
          <p:nvPr/>
        </p:nvSpPr>
        <p:spPr>
          <a:xfrm>
            <a:off x="539552" y="2780928"/>
            <a:ext cx="8208912" cy="707886"/>
          </a:xfrm>
          <a:prstGeom prst="rect">
            <a:avLst/>
          </a:prstGeom>
          <a:noFill/>
        </p:spPr>
        <p:txBody>
          <a:bodyPr wrap="square" rtlCol="0">
            <a:spAutoFit/>
          </a:bodyPr>
          <a:lstStyle/>
          <a:p>
            <a:r>
              <a:rPr lang="en-GB" sz="2000" dirty="0"/>
              <a:t>Latent heat for melting is called </a:t>
            </a:r>
            <a:r>
              <a:rPr lang="en-GB" sz="2000" b="1" dirty="0">
                <a:solidFill>
                  <a:schemeClr val="accent6">
                    <a:lumMod val="75000"/>
                  </a:schemeClr>
                </a:solidFill>
              </a:rPr>
              <a:t>specific latent heat of fusion </a:t>
            </a:r>
            <a:r>
              <a:rPr lang="en-GB" sz="2000" dirty="0"/>
              <a:t>(</a:t>
            </a:r>
            <a:r>
              <a:rPr lang="en-GB" sz="2000" dirty="0" err="1"/>
              <a:t>L</a:t>
            </a:r>
            <a:r>
              <a:rPr lang="en-GB" sz="2000" b="1" baseline="-25000" dirty="0" err="1"/>
              <a:t>f</a:t>
            </a:r>
            <a:r>
              <a:rPr lang="en-GB" sz="2000" dirty="0"/>
              <a:t>) </a:t>
            </a:r>
          </a:p>
          <a:p>
            <a:r>
              <a:rPr lang="en-GB" sz="2000" dirty="0"/>
              <a:t>Latent heat for evaporating is called </a:t>
            </a:r>
            <a:r>
              <a:rPr lang="en-GB" sz="2000" b="1" dirty="0">
                <a:solidFill>
                  <a:schemeClr val="accent6">
                    <a:lumMod val="75000"/>
                  </a:schemeClr>
                </a:solidFill>
              </a:rPr>
              <a:t>specific latent heat of vaporisation </a:t>
            </a:r>
            <a:r>
              <a:rPr lang="en-GB" sz="2000" dirty="0"/>
              <a:t>(</a:t>
            </a:r>
            <a:r>
              <a:rPr lang="en-GB" sz="2000" dirty="0" err="1"/>
              <a:t>L</a:t>
            </a:r>
            <a:r>
              <a:rPr lang="en-GB" sz="2000" b="1" baseline="-25000" dirty="0" err="1"/>
              <a:t>v</a:t>
            </a:r>
            <a:r>
              <a:rPr lang="en-GB" sz="2000" dirty="0"/>
              <a:t>)</a:t>
            </a:r>
          </a:p>
        </p:txBody>
      </p:sp>
      <p:sp>
        <p:nvSpPr>
          <p:cNvPr id="16" name="TextBox 15">
            <a:extLst>
              <a:ext uri="{FF2B5EF4-FFF2-40B4-BE49-F238E27FC236}">
                <a16:creationId xmlns:a16="http://schemas.microsoft.com/office/drawing/2014/main" xmlns="" id="{E250C38A-E146-4DCC-BB8A-68497864DE72}"/>
              </a:ext>
            </a:extLst>
          </p:cNvPr>
          <p:cNvSpPr txBox="1"/>
          <p:nvPr/>
        </p:nvSpPr>
        <p:spPr>
          <a:xfrm>
            <a:off x="755576" y="5218359"/>
            <a:ext cx="7776864" cy="1015663"/>
          </a:xfrm>
          <a:prstGeom prst="rect">
            <a:avLst/>
          </a:prstGeom>
          <a:noFill/>
        </p:spPr>
        <p:txBody>
          <a:bodyPr wrap="square" rtlCol="0">
            <a:spAutoFit/>
          </a:bodyPr>
          <a:lstStyle/>
          <a:p>
            <a:r>
              <a:rPr lang="en-GB" sz="2000" b="1" dirty="0"/>
              <a:t>Specific latent heat of fusion for water = 336 000 J/kg</a:t>
            </a:r>
          </a:p>
          <a:p>
            <a:r>
              <a:rPr lang="en-GB" sz="2000" b="1" dirty="0"/>
              <a:t>This means 336 000 J of energy are needed to turn 1 kg of ice into 1 kg of water with no temperature change.</a:t>
            </a:r>
          </a:p>
        </p:txBody>
      </p:sp>
    </p:spTree>
    <p:extLst>
      <p:ext uri="{BB962C8B-B14F-4D97-AF65-F5344CB8AC3E}">
        <p14:creationId xmlns:p14="http://schemas.microsoft.com/office/powerpoint/2010/main" val="1423000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35655"/>
            <a:ext cx="8388424" cy="657041"/>
          </a:xfrm>
        </p:spPr>
        <p:txBody>
          <a:bodyPr>
            <a:noAutofit/>
          </a:bodyPr>
          <a:lstStyle/>
          <a:p>
            <a:pPr marL="342900" marR="0" lvl="1" algn="l" defTabSz="342900" rtl="0" eaLnBrk="1" fontAlgn="auto" latinLnBrk="0" hangingPunct="1">
              <a:lnSpc>
                <a:spcPct val="100000"/>
              </a:lnSpc>
              <a:spcBef>
                <a:spcPct val="20000"/>
              </a:spcBef>
              <a:spcAft>
                <a:spcPts val="0"/>
              </a:spcAft>
              <a:buClrTx/>
              <a:buSzTx/>
              <a:tabLst/>
              <a:defRPr/>
            </a:pPr>
            <a:r>
              <a:rPr lang="en-US" sz="2100" b="1" dirty="0">
                <a:solidFill>
                  <a:schemeClr val="accent6"/>
                </a:solidFill>
              </a:rPr>
              <a:t>     Internal energy and energy transfers – </a:t>
            </a:r>
            <a:br>
              <a:rPr lang="en-US" sz="2100" b="1" dirty="0">
                <a:solidFill>
                  <a:schemeClr val="accent6"/>
                </a:solidFill>
              </a:rPr>
            </a:br>
            <a:r>
              <a:rPr lang="en-US" sz="2100" b="1" dirty="0">
                <a:solidFill>
                  <a:schemeClr val="accent6"/>
                </a:solidFill>
              </a:rPr>
              <a:t>								Changes of heat and specific latent heat</a:t>
            </a:r>
            <a:endParaRPr kumimoji="0" lang="en-US" sz="2100" b="1" i="0" u="none" strike="noStrike" kern="1200" cap="none" spc="0" normalizeH="0" baseline="0" noProof="0" dirty="0">
              <a:ln>
                <a:noFill/>
              </a:ln>
              <a:solidFill>
                <a:schemeClr val="accent6"/>
              </a:solidFill>
              <a:effectLst/>
              <a:uLnTx/>
              <a:uFillTx/>
              <a:latin typeface="Calibri"/>
              <a:ea typeface=""/>
              <a:cs typeface="News Gothic MT"/>
            </a:endParaRPr>
          </a:p>
        </p:txBody>
      </p:sp>
      <p:pic>
        <p:nvPicPr>
          <p:cNvPr id="4" name="Picture 3">
            <a:extLst>
              <a:ext uri="{FF2B5EF4-FFF2-40B4-BE49-F238E27FC236}">
                <a16:creationId xmlns:a16="http://schemas.microsoft.com/office/drawing/2014/main" xmlns="" id="{3EEEAFBB-B0B7-4F74-83CA-948807780D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567" y="1124744"/>
            <a:ext cx="3549361" cy="2369880"/>
          </a:xfrm>
          <a:prstGeom prst="rect">
            <a:avLst/>
          </a:prstGeom>
        </p:spPr>
      </p:pic>
      <p:sp>
        <p:nvSpPr>
          <p:cNvPr id="5" name="TextBox 4">
            <a:extLst>
              <a:ext uri="{FF2B5EF4-FFF2-40B4-BE49-F238E27FC236}">
                <a16:creationId xmlns:a16="http://schemas.microsoft.com/office/drawing/2014/main" xmlns="" id="{A7799C17-D703-4104-9690-62893B7CEBDD}"/>
              </a:ext>
            </a:extLst>
          </p:cNvPr>
          <p:cNvSpPr txBox="1"/>
          <p:nvPr/>
        </p:nvSpPr>
        <p:spPr>
          <a:xfrm>
            <a:off x="3923928" y="1124744"/>
            <a:ext cx="4968552" cy="2369880"/>
          </a:xfrm>
          <a:prstGeom prst="rect">
            <a:avLst/>
          </a:prstGeom>
          <a:noFill/>
          <a:ln w="25400">
            <a:solidFill>
              <a:schemeClr val="accent6">
                <a:lumMod val="75000"/>
              </a:schemeClr>
            </a:solidFill>
          </a:ln>
        </p:spPr>
        <p:txBody>
          <a:bodyPr wrap="square" rtlCol="0">
            <a:spAutoFit/>
          </a:bodyPr>
          <a:lstStyle/>
          <a:p>
            <a:r>
              <a:rPr lang="en-GB" sz="2400" dirty="0"/>
              <a:t>5 g of gold is being melted to make a ring.</a:t>
            </a:r>
          </a:p>
          <a:p>
            <a:r>
              <a:rPr lang="en-GB" sz="2400" dirty="0"/>
              <a:t>Once the gold reaches its melting temperature, how much heat energy is needed to melt the gold?</a:t>
            </a:r>
          </a:p>
          <a:p>
            <a:endParaRPr lang="en-GB" sz="1000" dirty="0"/>
          </a:p>
          <a:p>
            <a:r>
              <a:rPr lang="en-GB" b="1" dirty="0"/>
              <a:t>Specific latent heat of fusion for gold = 64 400 J/kg</a:t>
            </a:r>
          </a:p>
        </p:txBody>
      </p:sp>
      <p:sp>
        <p:nvSpPr>
          <p:cNvPr id="6" name="TextBox 5">
            <a:extLst>
              <a:ext uri="{FF2B5EF4-FFF2-40B4-BE49-F238E27FC236}">
                <a16:creationId xmlns:a16="http://schemas.microsoft.com/office/drawing/2014/main" xmlns="" id="{2E9A8C38-311F-4BF5-9175-9E08D559451D}"/>
              </a:ext>
            </a:extLst>
          </p:cNvPr>
          <p:cNvSpPr txBox="1"/>
          <p:nvPr/>
        </p:nvSpPr>
        <p:spPr>
          <a:xfrm>
            <a:off x="0" y="3717032"/>
            <a:ext cx="9143999" cy="1261884"/>
          </a:xfrm>
          <a:prstGeom prst="rect">
            <a:avLst/>
          </a:prstGeom>
          <a:noFill/>
        </p:spPr>
        <p:txBody>
          <a:bodyPr wrap="square" rtlCol="0">
            <a:spAutoFit/>
          </a:bodyPr>
          <a:lstStyle/>
          <a:p>
            <a:pPr algn="ctr"/>
            <a:r>
              <a:rPr lang="en-GB" sz="2400" b="1" dirty="0"/>
              <a:t>Energy to change state (J) = mass (kg) x specific latent heat (J/kg)</a:t>
            </a:r>
          </a:p>
          <a:p>
            <a:pPr algn="ctr"/>
            <a:endParaRPr lang="en-GB" sz="1200" b="1" dirty="0"/>
          </a:p>
          <a:p>
            <a:pPr algn="ctr"/>
            <a:r>
              <a:rPr lang="en-GB" sz="2000" b="1" dirty="0"/>
              <a:t>Remember there are two latent heats for each substance –</a:t>
            </a:r>
            <a:r>
              <a:rPr lang="en-GB" sz="2000" b="1" dirty="0">
                <a:solidFill>
                  <a:schemeClr val="accent6">
                    <a:lumMod val="75000"/>
                  </a:schemeClr>
                </a:solidFill>
              </a:rPr>
              <a:t> fusion </a:t>
            </a:r>
            <a:r>
              <a:rPr lang="en-GB" sz="2000" b="1" dirty="0"/>
              <a:t>and </a:t>
            </a:r>
            <a:r>
              <a:rPr lang="en-GB" sz="2000" b="1" dirty="0">
                <a:solidFill>
                  <a:schemeClr val="accent6">
                    <a:lumMod val="75000"/>
                  </a:schemeClr>
                </a:solidFill>
              </a:rPr>
              <a:t>vaporisation</a:t>
            </a:r>
            <a:r>
              <a:rPr lang="en-GB" sz="2000" b="1" dirty="0"/>
              <a:t>.</a:t>
            </a:r>
          </a:p>
          <a:p>
            <a:pPr algn="ctr"/>
            <a:r>
              <a:rPr lang="en-GB" sz="2000" b="1" dirty="0">
                <a:solidFill>
                  <a:schemeClr val="accent6">
                    <a:lumMod val="75000"/>
                  </a:schemeClr>
                </a:solidFill>
              </a:rPr>
              <a:t>Fusion</a:t>
            </a:r>
            <a:r>
              <a:rPr lang="en-GB" sz="2000" b="1" dirty="0"/>
              <a:t> – melting and freezing  </a:t>
            </a:r>
            <a:r>
              <a:rPr lang="en-GB" sz="2000" b="1" dirty="0">
                <a:solidFill>
                  <a:schemeClr val="accent6">
                    <a:lumMod val="75000"/>
                  </a:schemeClr>
                </a:solidFill>
              </a:rPr>
              <a:t>Vaporisation</a:t>
            </a:r>
            <a:r>
              <a:rPr lang="en-GB" sz="2000" b="1" dirty="0"/>
              <a:t> – evaporating and condensing</a:t>
            </a:r>
          </a:p>
        </p:txBody>
      </p:sp>
      <p:sp>
        <p:nvSpPr>
          <p:cNvPr id="7" name="TextBox 6">
            <a:extLst>
              <a:ext uri="{FF2B5EF4-FFF2-40B4-BE49-F238E27FC236}">
                <a16:creationId xmlns:a16="http://schemas.microsoft.com/office/drawing/2014/main" xmlns="" id="{093B1C51-4E71-45DC-B137-C87283DCF247}"/>
              </a:ext>
            </a:extLst>
          </p:cNvPr>
          <p:cNvSpPr txBox="1"/>
          <p:nvPr/>
        </p:nvSpPr>
        <p:spPr>
          <a:xfrm>
            <a:off x="539551" y="5229200"/>
            <a:ext cx="8064896" cy="1200329"/>
          </a:xfrm>
          <a:prstGeom prst="rect">
            <a:avLst/>
          </a:prstGeom>
          <a:noFill/>
          <a:ln w="25400">
            <a:solidFill>
              <a:schemeClr val="accent6">
                <a:lumMod val="75000"/>
              </a:schemeClr>
            </a:solidFill>
          </a:ln>
        </p:spPr>
        <p:txBody>
          <a:bodyPr wrap="square" rtlCol="0">
            <a:spAutoFit/>
          </a:bodyPr>
          <a:lstStyle/>
          <a:p>
            <a:pPr algn="ctr"/>
            <a:r>
              <a:rPr lang="en-GB" sz="2400" dirty="0"/>
              <a:t>Energy = 0.0005 kg x 64,400 J/kg = 322 J</a:t>
            </a:r>
          </a:p>
          <a:p>
            <a:pPr algn="ctr"/>
            <a:endParaRPr lang="en-GB" sz="2400" dirty="0"/>
          </a:p>
          <a:p>
            <a:pPr algn="ctr"/>
            <a:r>
              <a:rPr lang="en-GB" sz="2400" dirty="0"/>
              <a:t>322 J of heat energy is needed to melt 5 g of gold</a:t>
            </a:r>
          </a:p>
        </p:txBody>
      </p:sp>
    </p:spTree>
    <p:extLst>
      <p:ext uri="{BB962C8B-B14F-4D97-AF65-F5344CB8AC3E}">
        <p14:creationId xmlns:p14="http://schemas.microsoft.com/office/powerpoint/2010/main" val="1868566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35655"/>
            <a:ext cx="8388424" cy="657041"/>
          </a:xfrm>
        </p:spPr>
        <p:txBody>
          <a:bodyPr>
            <a:noAutofit/>
          </a:bodyPr>
          <a:lstStyle/>
          <a:p>
            <a:pPr marL="342900" marR="0" lvl="1" algn="l" defTabSz="342900" rtl="0" eaLnBrk="1" fontAlgn="auto" latinLnBrk="0" hangingPunct="1">
              <a:lnSpc>
                <a:spcPct val="100000"/>
              </a:lnSpc>
              <a:spcBef>
                <a:spcPct val="20000"/>
              </a:spcBef>
              <a:spcAft>
                <a:spcPts val="0"/>
              </a:spcAft>
              <a:buClrTx/>
              <a:buSzTx/>
              <a:tabLst/>
              <a:defRPr/>
            </a:pPr>
            <a:r>
              <a:rPr lang="en-US" sz="2100" b="1" dirty="0">
                <a:solidFill>
                  <a:schemeClr val="accent6"/>
                </a:solidFill>
              </a:rPr>
              <a:t>     Internal energy and energy transfers – </a:t>
            </a:r>
            <a:br>
              <a:rPr lang="en-US" sz="2100" b="1" dirty="0">
                <a:solidFill>
                  <a:schemeClr val="accent6"/>
                </a:solidFill>
              </a:rPr>
            </a:br>
            <a:r>
              <a:rPr lang="en-US" sz="2100" b="1" dirty="0">
                <a:solidFill>
                  <a:schemeClr val="accent6"/>
                </a:solidFill>
              </a:rPr>
              <a:t>								Changes of heat and specific latent heat</a:t>
            </a:r>
            <a:endParaRPr kumimoji="0" lang="en-US" sz="21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a:extLst>
              <a:ext uri="{FF2B5EF4-FFF2-40B4-BE49-F238E27FC236}">
                <a16:creationId xmlns:a16="http://schemas.microsoft.com/office/drawing/2014/main" xmlns="" id="{35EC6E93-B336-4DBA-8FB2-C06CC7A6BC6D}"/>
              </a:ext>
            </a:extLst>
          </p:cNvPr>
          <p:cNvSpPr txBox="1"/>
          <p:nvPr/>
        </p:nvSpPr>
        <p:spPr>
          <a:xfrm>
            <a:off x="3059832" y="908720"/>
            <a:ext cx="3672408" cy="461665"/>
          </a:xfrm>
          <a:prstGeom prst="rect">
            <a:avLst/>
          </a:prstGeom>
          <a:solidFill>
            <a:schemeClr val="accent6">
              <a:lumMod val="60000"/>
              <a:lumOff val="40000"/>
            </a:schemeClr>
          </a:solidFill>
        </p:spPr>
        <p:txBody>
          <a:bodyPr wrap="square" rtlCol="0">
            <a:spAutoFit/>
          </a:bodyPr>
          <a:lstStyle/>
          <a:p>
            <a:r>
              <a:rPr lang="en-GB" sz="2400" dirty="0"/>
              <a:t>Heating and cooling graphs</a:t>
            </a:r>
          </a:p>
        </p:txBody>
      </p:sp>
      <p:pic>
        <p:nvPicPr>
          <p:cNvPr id="10" name="Picture 9">
            <a:extLst>
              <a:ext uri="{FF2B5EF4-FFF2-40B4-BE49-F238E27FC236}">
                <a16:creationId xmlns:a16="http://schemas.microsoft.com/office/drawing/2014/main" xmlns="" id="{84A6F5B7-FD59-4399-B899-F6723A5A03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00" y="1370384"/>
            <a:ext cx="5513757" cy="4722912"/>
          </a:xfrm>
          <a:prstGeom prst="rect">
            <a:avLst/>
          </a:prstGeom>
        </p:spPr>
      </p:pic>
      <p:sp>
        <p:nvSpPr>
          <p:cNvPr id="12" name="TextBox 11">
            <a:extLst>
              <a:ext uri="{FF2B5EF4-FFF2-40B4-BE49-F238E27FC236}">
                <a16:creationId xmlns:a16="http://schemas.microsoft.com/office/drawing/2014/main" xmlns="" id="{72C2C7DA-D936-43A2-978C-17CAEE7D31AE}"/>
              </a:ext>
            </a:extLst>
          </p:cNvPr>
          <p:cNvSpPr txBox="1"/>
          <p:nvPr/>
        </p:nvSpPr>
        <p:spPr>
          <a:xfrm>
            <a:off x="5528253" y="1384315"/>
            <a:ext cx="3600401" cy="4708981"/>
          </a:xfrm>
          <a:prstGeom prst="rect">
            <a:avLst/>
          </a:prstGeom>
          <a:noFill/>
        </p:spPr>
        <p:txBody>
          <a:bodyPr wrap="square" rtlCol="0">
            <a:spAutoFit/>
          </a:bodyPr>
          <a:lstStyle/>
          <a:p>
            <a:r>
              <a:rPr lang="en-GB" sz="2000" dirty="0"/>
              <a:t>As heat energy is added to a solid, the temperature rises until it reaches its </a:t>
            </a:r>
            <a:r>
              <a:rPr lang="en-GB" sz="2000" b="1" dirty="0">
                <a:solidFill>
                  <a:schemeClr val="accent6">
                    <a:lumMod val="75000"/>
                  </a:schemeClr>
                </a:solidFill>
              </a:rPr>
              <a:t>melting point.</a:t>
            </a:r>
          </a:p>
          <a:p>
            <a:r>
              <a:rPr lang="en-GB" sz="2000" dirty="0"/>
              <a:t>As the substance melts, all the heat energy added is used to </a:t>
            </a:r>
            <a:r>
              <a:rPr lang="en-GB" sz="2000" b="1" dirty="0">
                <a:solidFill>
                  <a:schemeClr val="accent6">
                    <a:lumMod val="75000"/>
                  </a:schemeClr>
                </a:solidFill>
              </a:rPr>
              <a:t>change the state </a:t>
            </a:r>
            <a:r>
              <a:rPr lang="en-GB" sz="2000" dirty="0"/>
              <a:t>of the substance with no temperature change.</a:t>
            </a:r>
          </a:p>
          <a:p>
            <a:r>
              <a:rPr lang="en-GB" sz="2000" dirty="0"/>
              <a:t>When all the substance is melted, the temperature will then rise until the </a:t>
            </a:r>
            <a:r>
              <a:rPr lang="en-GB" sz="2000" b="1" dirty="0">
                <a:solidFill>
                  <a:schemeClr val="accent6">
                    <a:lumMod val="75000"/>
                  </a:schemeClr>
                </a:solidFill>
              </a:rPr>
              <a:t>boiling point </a:t>
            </a:r>
            <a:r>
              <a:rPr lang="en-GB" sz="2000" dirty="0"/>
              <a:t>is reached.</a:t>
            </a:r>
          </a:p>
          <a:p>
            <a:r>
              <a:rPr lang="en-GB" sz="2000" dirty="0"/>
              <a:t>Again, heat energy is now required to </a:t>
            </a:r>
            <a:r>
              <a:rPr lang="en-GB" sz="2000" b="1" dirty="0">
                <a:solidFill>
                  <a:schemeClr val="accent6">
                    <a:lumMod val="75000"/>
                  </a:schemeClr>
                </a:solidFill>
              </a:rPr>
              <a:t>change the state </a:t>
            </a:r>
            <a:r>
              <a:rPr lang="en-GB" sz="2000" dirty="0"/>
              <a:t>to a gas with no temperature change.</a:t>
            </a:r>
          </a:p>
        </p:txBody>
      </p:sp>
      <p:cxnSp>
        <p:nvCxnSpPr>
          <p:cNvPr id="5" name="Straight Connector 4">
            <a:extLst>
              <a:ext uri="{FF2B5EF4-FFF2-40B4-BE49-F238E27FC236}">
                <a16:creationId xmlns:a16="http://schemas.microsoft.com/office/drawing/2014/main" xmlns="" id="{D7159376-DC63-41BF-B3F4-DA5FBEC89AE9}"/>
              </a:ext>
            </a:extLst>
          </p:cNvPr>
          <p:cNvCxnSpPr/>
          <p:nvPr/>
        </p:nvCxnSpPr>
        <p:spPr>
          <a:xfrm flipV="1">
            <a:off x="251520" y="4005064"/>
            <a:ext cx="0" cy="1368152"/>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xmlns="" id="{E0415D6F-140A-4D31-AF75-43A6E29E209D}"/>
              </a:ext>
            </a:extLst>
          </p:cNvPr>
          <p:cNvCxnSpPr/>
          <p:nvPr/>
        </p:nvCxnSpPr>
        <p:spPr>
          <a:xfrm flipV="1">
            <a:off x="274259" y="1988840"/>
            <a:ext cx="0" cy="129614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1998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170646"/>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r>
              <a:rPr lang="en-GB" sz="3600" b="1" dirty="0">
                <a:solidFill>
                  <a:schemeClr val="tx1">
                    <a:lumMod val="50000"/>
                    <a:lumOff val="50000"/>
                  </a:schemeClr>
                </a:solidFill>
              </a:rPr>
              <a:t>Internal energy and energy transfers</a:t>
            </a:r>
          </a:p>
          <a:p>
            <a:pPr marL="457200" indent="-457200">
              <a:lnSpc>
                <a:spcPct val="150000"/>
              </a:lnSpc>
              <a:buFont typeface="Arial" charset="0"/>
              <a:buChar char="•"/>
            </a:pPr>
            <a:r>
              <a:rPr lang="en-GB" sz="2400" b="1" dirty="0">
                <a:solidFill>
                  <a:schemeClr val="tx1">
                    <a:lumMod val="50000"/>
                    <a:lumOff val="50000"/>
                  </a:schemeClr>
                </a:solidFill>
              </a:rPr>
              <a:t>Internal energy</a:t>
            </a:r>
          </a:p>
          <a:p>
            <a:pPr marL="457200" indent="-457200">
              <a:buFont typeface="Arial" charset="0"/>
              <a:buChar char="•"/>
            </a:pPr>
            <a:r>
              <a:rPr lang="en-GB" sz="2400" b="1" dirty="0">
                <a:solidFill>
                  <a:schemeClr val="tx1">
                    <a:lumMod val="50000"/>
                    <a:lumOff val="50000"/>
                  </a:schemeClr>
                </a:solidFill>
              </a:rPr>
              <a:t>Temperature change in a system and specific heat capacity</a:t>
            </a:r>
          </a:p>
          <a:p>
            <a:pPr marL="457200" indent="-457200">
              <a:buFont typeface="Arial" charset="0"/>
              <a:buChar char="•"/>
            </a:pPr>
            <a:r>
              <a:rPr lang="en-GB" sz="2400" b="1" dirty="0">
                <a:solidFill>
                  <a:schemeClr val="tx1">
                    <a:lumMod val="50000"/>
                    <a:lumOff val="50000"/>
                  </a:schemeClr>
                </a:solidFill>
              </a:rPr>
              <a:t>Changes of heat and specific latent heat</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5447526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Internal energy and energy transfers – </a:t>
            </a:r>
            <a:r>
              <a:rPr lang="en-US" sz="2400" b="1" dirty="0">
                <a:solidFill>
                  <a:schemeClr val="tx1"/>
                </a:solidFill>
              </a:rPr>
              <a:t>Answer</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22120" y="802524"/>
            <a:ext cx="8911218" cy="5209118"/>
          </a:xfrm>
          <a:prstGeom prst="rect">
            <a:avLst/>
          </a:prstGeom>
          <a:noFill/>
        </p:spPr>
        <p:txBody>
          <a:bodyPr wrap="square" rtlCol="0">
            <a:spAutoFit/>
          </a:bodyPr>
          <a:lstStyle/>
          <a:p>
            <a:pPr marL="457200" indent="-457200">
              <a:lnSpc>
                <a:spcPct val="150000"/>
              </a:lnSpc>
              <a:buAutoNum type="arabicPeriod"/>
            </a:pPr>
            <a:r>
              <a:rPr lang="en-GB" sz="2300" dirty="0"/>
              <a:t>Define internal </a:t>
            </a:r>
            <a:r>
              <a:rPr lang="en-GB" sz="2300" dirty="0" smtClean="0"/>
              <a:t>energy.</a:t>
            </a:r>
            <a:endParaRPr lang="en-GB" sz="2300" dirty="0"/>
          </a:p>
          <a:p>
            <a:r>
              <a:rPr lang="en-GB" sz="2300" dirty="0"/>
              <a:t>      </a:t>
            </a:r>
            <a:r>
              <a:rPr lang="en-GB" sz="2300" b="1" dirty="0">
                <a:solidFill>
                  <a:srgbClr val="00B050"/>
                </a:solidFill>
              </a:rPr>
              <a:t> </a:t>
            </a:r>
          </a:p>
          <a:p>
            <a:endParaRPr lang="en-GB" sz="2300" b="1" dirty="0">
              <a:solidFill>
                <a:srgbClr val="00B050"/>
              </a:solidFill>
            </a:endParaRPr>
          </a:p>
          <a:p>
            <a:pPr>
              <a:lnSpc>
                <a:spcPct val="150000"/>
              </a:lnSpc>
            </a:pPr>
            <a:r>
              <a:rPr lang="en-US" sz="2400" dirty="0"/>
              <a:t> 2. Which of the following will change the internal energy of a stone?</a:t>
            </a:r>
          </a:p>
          <a:p>
            <a:r>
              <a:rPr lang="en-US" sz="2400" dirty="0"/>
              <a:t>	A. Lifting it to the top of a building.  </a:t>
            </a:r>
          </a:p>
          <a:p>
            <a:r>
              <a:rPr lang="en-US" sz="2400" dirty="0"/>
              <a:t>	B. Heating it. </a:t>
            </a:r>
          </a:p>
          <a:p>
            <a:r>
              <a:rPr lang="en-US" sz="2400" dirty="0"/>
              <a:t>	C. Firing it from a catapult.</a:t>
            </a:r>
          </a:p>
          <a:p>
            <a:r>
              <a:rPr lang="en-US" sz="2400" dirty="0"/>
              <a:t>	</a:t>
            </a:r>
          </a:p>
          <a:p>
            <a:r>
              <a:rPr lang="en-US" sz="2400" dirty="0"/>
              <a:t>3.  Water and the chemical isooctane both boil at 100 </a:t>
            </a:r>
            <a:r>
              <a:rPr lang="en-US" sz="2400" b="1" baseline="30000" dirty="0" err="1"/>
              <a:t>o</a:t>
            </a:r>
            <a:r>
              <a:rPr lang="en-US" sz="2400" dirty="0" err="1"/>
              <a:t>C.</a:t>
            </a:r>
            <a:r>
              <a:rPr lang="en-US" sz="2400" dirty="0"/>
              <a:t> When the</a:t>
            </a:r>
          </a:p>
          <a:p>
            <a:r>
              <a:rPr lang="en-US" sz="2400" dirty="0"/>
              <a:t>     same mass of each substance is placed on a heater, the</a:t>
            </a:r>
          </a:p>
          <a:p>
            <a:r>
              <a:rPr lang="en-US" sz="2400" dirty="0"/>
              <a:t>     isooctane boils first. Explain why this happens.</a:t>
            </a:r>
          </a:p>
          <a:p>
            <a:r>
              <a:rPr lang="en-GB" sz="2400" dirty="0"/>
              <a:t>	</a:t>
            </a:r>
          </a:p>
          <a:p>
            <a:endParaRPr lang="en-GB" sz="2400" b="1" dirty="0">
              <a:solidFill>
                <a:srgbClr val="00B050"/>
              </a:solidFill>
            </a:endParaRPr>
          </a:p>
        </p:txBody>
      </p:sp>
    </p:spTree>
    <p:extLst>
      <p:ext uri="{BB962C8B-B14F-4D97-AF65-F5344CB8AC3E}">
        <p14:creationId xmlns:p14="http://schemas.microsoft.com/office/powerpoint/2010/main" val="65284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Internal energy and energy transfers – </a:t>
            </a:r>
            <a:r>
              <a:rPr lang="en-US" sz="2400" b="1" dirty="0">
                <a:solidFill>
                  <a:schemeClr val="tx1"/>
                </a:solidFill>
              </a:rPr>
              <a:t>Answer</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0480"/>
            <a:ext cx="8994912" cy="5401479"/>
          </a:xfrm>
          <a:prstGeom prst="rect">
            <a:avLst/>
          </a:prstGeom>
          <a:noFill/>
        </p:spPr>
        <p:txBody>
          <a:bodyPr wrap="square" rtlCol="0">
            <a:spAutoFit/>
          </a:bodyPr>
          <a:lstStyle/>
          <a:p>
            <a:r>
              <a:rPr lang="en-GB" sz="2300" dirty="0"/>
              <a:t>4. A hot stone is placed into a glass of water containing 200 g</a:t>
            </a:r>
          </a:p>
          <a:p>
            <a:r>
              <a:rPr lang="en-GB" sz="2300" dirty="0"/>
              <a:t>     of cold water. The stone transfers 25 200 J of energy to</a:t>
            </a:r>
          </a:p>
          <a:p>
            <a:r>
              <a:rPr lang="en-GB" sz="2300" dirty="0"/>
              <a:t>     the water. How much will the temperature of the water rise?</a:t>
            </a:r>
          </a:p>
          <a:p>
            <a:r>
              <a:rPr lang="en-GB" sz="2300" dirty="0"/>
              <a:t>      </a:t>
            </a:r>
            <a:r>
              <a:rPr lang="en-GB" sz="2000" b="1" dirty="0"/>
              <a:t>Specific heat capacity of water = 4200 J/kg </a:t>
            </a:r>
            <a:r>
              <a:rPr lang="en-GB" sz="2000" b="1" baseline="30000" dirty="0"/>
              <a:t>o</a:t>
            </a:r>
            <a:r>
              <a:rPr lang="en-GB" sz="2000" b="1" dirty="0"/>
              <a:t>C            </a:t>
            </a:r>
            <a:r>
              <a:rPr lang="el-GR" sz="2000" b="1" dirty="0"/>
              <a:t>Δ</a:t>
            </a:r>
            <a:r>
              <a:rPr lang="en-GB" sz="2000" b="1" dirty="0"/>
              <a:t>E = m </a:t>
            </a:r>
            <a:r>
              <a:rPr lang="en-GB" sz="2000" b="1" i="1" dirty="0"/>
              <a:t>c </a:t>
            </a:r>
            <a:r>
              <a:rPr lang="el-GR" sz="2000" b="1" dirty="0"/>
              <a:t>Δθ</a:t>
            </a:r>
            <a:endParaRPr lang="en-GB" sz="2000" b="1" dirty="0"/>
          </a:p>
          <a:p>
            <a:r>
              <a:rPr lang="en-GB" sz="2300" dirty="0"/>
              <a:t>	</a:t>
            </a:r>
            <a:endParaRPr lang="en-GB" sz="2300" b="1" dirty="0">
              <a:solidFill>
                <a:srgbClr val="00B050"/>
              </a:solidFill>
            </a:endParaRPr>
          </a:p>
          <a:p>
            <a:endParaRPr lang="en-GB" sz="2300" b="1" dirty="0">
              <a:solidFill>
                <a:srgbClr val="00B050"/>
              </a:solidFill>
            </a:endParaRPr>
          </a:p>
          <a:p>
            <a:r>
              <a:rPr lang="en-GB" sz="2300" dirty="0"/>
              <a:t>5. What is specific latent heat?</a:t>
            </a:r>
          </a:p>
          <a:p>
            <a:r>
              <a:rPr lang="en-GB" sz="2300" dirty="0"/>
              <a:t>	</a:t>
            </a:r>
            <a:endParaRPr lang="en-GB" sz="2300" b="1" dirty="0">
              <a:solidFill>
                <a:srgbClr val="00B050"/>
              </a:solidFill>
            </a:endParaRPr>
          </a:p>
          <a:p>
            <a:endParaRPr lang="en-GB" sz="2300" dirty="0"/>
          </a:p>
          <a:p>
            <a:r>
              <a:rPr lang="en-GB" sz="2300" dirty="0"/>
              <a:t>6. Explain the difference between latent heat of fusion and latent heat of</a:t>
            </a:r>
          </a:p>
          <a:p>
            <a:r>
              <a:rPr lang="en-GB" sz="2300" dirty="0"/>
              <a:t>    vaporisation.</a:t>
            </a:r>
          </a:p>
          <a:p>
            <a:r>
              <a:rPr lang="en-GB" sz="2300" dirty="0"/>
              <a:t>	</a:t>
            </a:r>
          </a:p>
          <a:p>
            <a:endParaRPr lang="en-GB" sz="2300" b="1" dirty="0">
              <a:solidFill>
                <a:srgbClr val="00B050"/>
              </a:solidFill>
            </a:endParaRPr>
          </a:p>
          <a:p>
            <a:endParaRPr lang="en-GB" sz="2300" b="1" dirty="0">
              <a:solidFill>
                <a:srgbClr val="00B050"/>
              </a:solidFill>
            </a:endParaRPr>
          </a:p>
          <a:p>
            <a:endParaRPr lang="en-GB" sz="2300" b="1" dirty="0">
              <a:solidFill>
                <a:srgbClr val="00B050"/>
              </a:solidFill>
            </a:endParaRPr>
          </a:p>
        </p:txBody>
      </p:sp>
      <p:pic>
        <p:nvPicPr>
          <p:cNvPr id="5" name="Picture 4">
            <a:extLst>
              <a:ext uri="{FF2B5EF4-FFF2-40B4-BE49-F238E27FC236}">
                <a16:creationId xmlns:a16="http://schemas.microsoft.com/office/drawing/2014/main" xmlns="" id="{6A6A2C41-63A1-4F3A-8FD8-581B1A30DBAC}"/>
              </a:ext>
            </a:extLst>
          </p:cNvPr>
          <p:cNvPicPr>
            <a:picLocks noChangeAspect="1"/>
          </p:cNvPicPr>
          <p:nvPr/>
        </p:nvPicPr>
        <p:blipFill rotWithShape="1">
          <a:blip r:embed="rId2">
            <a:extLst>
              <a:ext uri="{28A0092B-C50C-407E-A947-70E740481C1C}">
                <a14:useLocalDpi xmlns:a14="http://schemas.microsoft.com/office/drawing/2010/main" val="0"/>
              </a:ext>
            </a:extLst>
          </a:blip>
          <a:srcRect t="14867" b="5405"/>
          <a:stretch/>
        </p:blipFill>
        <p:spPr>
          <a:xfrm>
            <a:off x="7786124" y="876939"/>
            <a:ext cx="1080120" cy="1235171"/>
          </a:xfrm>
          <a:prstGeom prst="rect">
            <a:avLst/>
          </a:prstGeom>
        </p:spPr>
      </p:pic>
      <p:pic>
        <p:nvPicPr>
          <p:cNvPr id="8" name="Picture 7">
            <a:extLst>
              <a:ext uri="{FF2B5EF4-FFF2-40B4-BE49-F238E27FC236}">
                <a16:creationId xmlns:a16="http://schemas.microsoft.com/office/drawing/2014/main" xmlns="" id="{BE0AAA1F-090A-4931-94EB-08FDADC708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65565" y="1494525"/>
            <a:ext cx="321239" cy="298762"/>
          </a:xfrm>
          <a:prstGeom prst="rect">
            <a:avLst/>
          </a:prstGeom>
        </p:spPr>
      </p:pic>
    </p:spTree>
    <p:extLst>
      <p:ext uri="{BB962C8B-B14F-4D97-AF65-F5344CB8AC3E}">
        <p14:creationId xmlns:p14="http://schemas.microsoft.com/office/powerpoint/2010/main" val="20202172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Internal energy and energy transfers –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1234" y="690480"/>
            <a:ext cx="9155233" cy="5755422"/>
          </a:xfrm>
          <a:prstGeom prst="rect">
            <a:avLst/>
          </a:prstGeom>
          <a:noFill/>
        </p:spPr>
        <p:txBody>
          <a:bodyPr wrap="square" rtlCol="0">
            <a:spAutoFit/>
          </a:bodyPr>
          <a:lstStyle/>
          <a:p>
            <a:r>
              <a:rPr lang="en-GB" sz="2300" dirty="0"/>
              <a:t>7. A boiler is being used to heat water. The graph shows the temperature of</a:t>
            </a:r>
          </a:p>
          <a:p>
            <a:r>
              <a:rPr lang="en-GB" sz="2300" dirty="0"/>
              <a:t>    the water every 5 minutes.</a:t>
            </a:r>
          </a:p>
          <a:p>
            <a:r>
              <a:rPr lang="en-GB" sz="2300" dirty="0"/>
              <a:t>				a. What state is the water in between points </a:t>
            </a:r>
          </a:p>
          <a:p>
            <a:r>
              <a:rPr lang="en-GB" sz="2300" dirty="0"/>
              <a:t>                                                           Q and R?</a:t>
            </a:r>
          </a:p>
          <a:p>
            <a:r>
              <a:rPr lang="en-GB" sz="2300" dirty="0"/>
              <a:t>				      	</a:t>
            </a:r>
          </a:p>
          <a:p>
            <a:r>
              <a:rPr lang="en-GB" sz="2300" dirty="0"/>
              <a:t>				b. At which point does the water begin </a:t>
            </a:r>
          </a:p>
          <a:p>
            <a:r>
              <a:rPr lang="en-GB" sz="2300" dirty="0"/>
              <a:t>                                                            to boil?</a:t>
            </a:r>
          </a:p>
          <a:p>
            <a:r>
              <a:rPr lang="en-GB" sz="2300" dirty="0"/>
              <a:t>				      </a:t>
            </a:r>
            <a:r>
              <a:rPr lang="en-GB" sz="2300" b="1" dirty="0">
                <a:solidFill>
                  <a:srgbClr val="00B050"/>
                </a:solidFill>
              </a:rPr>
              <a:t> </a:t>
            </a:r>
            <a:endParaRPr lang="en-GB" sz="2300" dirty="0"/>
          </a:p>
          <a:p>
            <a:r>
              <a:rPr lang="en-GB" sz="2300" dirty="0"/>
              <a:t>				c. What state is the water in at 110 </a:t>
            </a:r>
            <a:r>
              <a:rPr lang="en-GB" sz="2300" b="1" baseline="30000" dirty="0"/>
              <a:t>o</a:t>
            </a:r>
            <a:r>
              <a:rPr lang="en-GB" sz="2300" dirty="0"/>
              <a:t>C?</a:t>
            </a:r>
          </a:p>
          <a:p>
            <a:r>
              <a:rPr lang="en-GB" sz="2300" dirty="0"/>
              <a:t>				      </a:t>
            </a:r>
            <a:r>
              <a:rPr lang="en-GB" sz="2300" b="1" dirty="0">
                <a:solidFill>
                  <a:srgbClr val="00B050"/>
                </a:solidFill>
              </a:rPr>
              <a:t> </a:t>
            </a:r>
            <a:endParaRPr lang="en-GB" sz="2300" dirty="0"/>
          </a:p>
          <a:p>
            <a:pPr marL="457200" indent="-457200">
              <a:buAutoNum type="arabicPeriod" startAt="8"/>
            </a:pPr>
            <a:r>
              <a:rPr lang="en-GB" sz="2300" dirty="0"/>
              <a:t>Candle wax has a latent heat of fusion of 200 000 J/kg. If the candle is at its melting temperature, how much heat energy is needed to melt a</a:t>
            </a:r>
          </a:p>
          <a:p>
            <a:r>
              <a:rPr lang="en-GB" sz="2300" dirty="0"/>
              <a:t>       250 g candle?  		</a:t>
            </a:r>
          </a:p>
          <a:p>
            <a:pPr algn="ctr"/>
            <a:r>
              <a:rPr lang="en-GB" sz="2300" b="1" dirty="0"/>
              <a:t>E = m </a:t>
            </a:r>
            <a:r>
              <a:rPr lang="en-GB" sz="2300" b="1" dirty="0" err="1"/>
              <a:t>L</a:t>
            </a:r>
            <a:r>
              <a:rPr lang="en-GB" sz="2400" b="1" baseline="-25000" dirty="0" err="1"/>
              <a:t>f</a:t>
            </a:r>
            <a:endParaRPr lang="en-GB" sz="2400" b="1" baseline="-25000" dirty="0"/>
          </a:p>
          <a:p>
            <a:r>
              <a:rPr lang="en-GB" sz="2300" dirty="0"/>
              <a:t>	</a:t>
            </a:r>
          </a:p>
          <a:p>
            <a:r>
              <a:rPr lang="en-GB" sz="2300" dirty="0"/>
              <a:t>	</a:t>
            </a:r>
            <a:endParaRPr lang="en-GB" sz="2300" b="1" dirty="0">
              <a:solidFill>
                <a:srgbClr val="00B050"/>
              </a:solidFill>
            </a:endParaRPr>
          </a:p>
        </p:txBody>
      </p:sp>
      <p:pic>
        <p:nvPicPr>
          <p:cNvPr id="7" name="Picture 6">
            <a:extLst>
              <a:ext uri="{FF2B5EF4-FFF2-40B4-BE49-F238E27FC236}">
                <a16:creationId xmlns:a16="http://schemas.microsoft.com/office/drawing/2014/main" xmlns="" id="{861FE921-F17D-4A95-9CF7-990F50ADE5F2}"/>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11500"/>
                    </a14:imgEffect>
                  </a14:imgLayer>
                </a14:imgProps>
              </a:ext>
              <a:ext uri="{28A0092B-C50C-407E-A947-70E740481C1C}">
                <a14:useLocalDpi xmlns:a14="http://schemas.microsoft.com/office/drawing/2010/main" val="0"/>
              </a:ext>
            </a:extLst>
          </a:blip>
          <a:stretch>
            <a:fillRect/>
          </a:stretch>
        </p:blipFill>
        <p:spPr>
          <a:xfrm>
            <a:off x="-79704" y="1484785"/>
            <a:ext cx="3787608" cy="2808312"/>
          </a:xfrm>
          <a:prstGeom prst="rect">
            <a:avLst/>
          </a:prstGeom>
        </p:spPr>
      </p:pic>
    </p:spTree>
    <p:extLst>
      <p:ext uri="{BB962C8B-B14F-4D97-AF65-F5344CB8AC3E}">
        <p14:creationId xmlns:p14="http://schemas.microsoft.com/office/powerpoint/2010/main" val="2074844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6278642"/>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r>
              <a:rPr lang="en-GB" sz="3600" b="1" dirty="0">
                <a:solidFill>
                  <a:schemeClr val="tx1">
                    <a:lumMod val="50000"/>
                    <a:lumOff val="50000"/>
                  </a:schemeClr>
                </a:solidFill>
              </a:rPr>
              <a:t>Internal energy and energy transfers</a:t>
            </a:r>
          </a:p>
          <a:p>
            <a:pPr marL="457200" indent="-457200">
              <a:lnSpc>
                <a:spcPct val="150000"/>
              </a:lnSpc>
              <a:buFont typeface="Arial" charset="0"/>
              <a:buChar char="•"/>
            </a:pPr>
            <a:r>
              <a:rPr lang="en-GB" sz="2400" b="1" dirty="0">
                <a:solidFill>
                  <a:schemeClr val="tx1">
                    <a:lumMod val="50000"/>
                    <a:lumOff val="50000"/>
                  </a:schemeClr>
                </a:solidFill>
              </a:rPr>
              <a:t>Internal energy</a:t>
            </a:r>
          </a:p>
          <a:p>
            <a:pPr marL="457200" indent="-457200">
              <a:buFont typeface="Arial" charset="0"/>
              <a:buChar char="•"/>
            </a:pPr>
            <a:r>
              <a:rPr lang="en-GB" sz="2400" b="1" dirty="0">
                <a:solidFill>
                  <a:schemeClr val="tx1">
                    <a:lumMod val="50000"/>
                    <a:lumOff val="50000"/>
                  </a:schemeClr>
                </a:solidFill>
              </a:rPr>
              <a:t>Temperature change in a system and specific heat capacity</a:t>
            </a:r>
          </a:p>
          <a:p>
            <a:pPr marL="457200" indent="-457200">
              <a:buFont typeface="Arial" charset="0"/>
              <a:buChar char="•"/>
            </a:pPr>
            <a:r>
              <a:rPr lang="en-GB" sz="2400" b="1" dirty="0">
                <a:solidFill>
                  <a:schemeClr val="tx1">
                    <a:lumMod val="50000"/>
                    <a:lumOff val="50000"/>
                  </a:schemeClr>
                </a:solidFill>
              </a:rPr>
              <a:t>Changes of heat and specific latent heat</a:t>
            </a:r>
          </a:p>
          <a:p>
            <a:pPr marL="457200" indent="-457200">
              <a:lnSpc>
                <a:spcPct val="150000"/>
              </a:lnSpc>
              <a:buFont typeface="Arial" charset="0"/>
              <a:buChar char="•"/>
            </a:pPr>
            <a:endParaRPr lang="en-GB" sz="2400" b="1" dirty="0">
              <a:solidFill>
                <a:schemeClr val="tx1">
                  <a:lumMod val="50000"/>
                  <a:lumOff val="50000"/>
                </a:schemeClr>
              </a:solidFill>
            </a:endParaRPr>
          </a:p>
          <a:p>
            <a:pPr marL="457200" indent="-457200">
              <a:lnSpc>
                <a:spcPct val="150000"/>
              </a:lnSpc>
              <a:buFont typeface="Arial" charset="0"/>
              <a:buChar char="•"/>
            </a:pPr>
            <a:endParaRPr lang="en-GB" sz="2400" b="1" dirty="0">
              <a:solidFill>
                <a:schemeClr val="tx1">
                  <a:lumMod val="50000"/>
                  <a:lumOff val="50000"/>
                </a:schemeClr>
              </a:solidFill>
            </a:endParaRP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6016" y="548680"/>
            <a:ext cx="4427984" cy="5257800"/>
          </a:xfrm>
          <a:prstGeom prst="rect">
            <a:avLst/>
          </a:prstGeom>
        </p:spPr>
      </p:pic>
    </p:spTree>
    <p:extLst>
      <p:ext uri="{BB962C8B-B14F-4D97-AF65-F5344CB8AC3E}">
        <p14:creationId xmlns:p14="http://schemas.microsoft.com/office/powerpoint/2010/main" val="5874790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Internal energy and energy transfers – </a:t>
            </a:r>
            <a:r>
              <a:rPr lang="en-US" sz="2400" b="1" dirty="0">
                <a:solidFill>
                  <a:schemeClr val="tx1"/>
                </a:solidFill>
              </a:rPr>
              <a:t>Answer</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22120" y="802524"/>
            <a:ext cx="8911218" cy="5578450"/>
          </a:xfrm>
          <a:prstGeom prst="rect">
            <a:avLst/>
          </a:prstGeom>
          <a:noFill/>
        </p:spPr>
        <p:txBody>
          <a:bodyPr wrap="square" rtlCol="0">
            <a:spAutoFit/>
          </a:bodyPr>
          <a:lstStyle/>
          <a:p>
            <a:pPr marL="457200" indent="-457200">
              <a:lnSpc>
                <a:spcPct val="150000"/>
              </a:lnSpc>
              <a:buAutoNum type="arabicPeriod"/>
            </a:pPr>
            <a:r>
              <a:rPr lang="en-GB" sz="2300" dirty="0"/>
              <a:t>Define internal energy?</a:t>
            </a:r>
          </a:p>
          <a:p>
            <a:r>
              <a:rPr lang="en-GB" sz="2300" dirty="0"/>
              <a:t>      </a:t>
            </a:r>
            <a:r>
              <a:rPr lang="en-GB" sz="2300" b="1" dirty="0">
                <a:solidFill>
                  <a:srgbClr val="00B050"/>
                </a:solidFill>
              </a:rPr>
              <a:t>The total kinetic and potential energy of all the particles within a  </a:t>
            </a:r>
          </a:p>
          <a:p>
            <a:r>
              <a:rPr lang="en-GB" sz="2300" b="1" dirty="0">
                <a:solidFill>
                  <a:srgbClr val="00B050"/>
                </a:solidFill>
              </a:rPr>
              <a:t>       system</a:t>
            </a:r>
          </a:p>
          <a:p>
            <a:pPr>
              <a:lnSpc>
                <a:spcPct val="150000"/>
              </a:lnSpc>
            </a:pPr>
            <a:r>
              <a:rPr lang="en-US" sz="2400" dirty="0"/>
              <a:t> 2. Which of the following will change the internal energy of a stone?</a:t>
            </a:r>
          </a:p>
          <a:p>
            <a:r>
              <a:rPr lang="en-US" sz="2400" dirty="0"/>
              <a:t>	A. Lifting it to the top of a building  </a:t>
            </a:r>
          </a:p>
          <a:p>
            <a:r>
              <a:rPr lang="en-US" sz="2400" dirty="0"/>
              <a:t>	B. Heating it </a:t>
            </a:r>
          </a:p>
          <a:p>
            <a:r>
              <a:rPr lang="en-US" sz="2400" dirty="0"/>
              <a:t>	C. Firing it from a catapult</a:t>
            </a:r>
          </a:p>
          <a:p>
            <a:r>
              <a:rPr lang="en-US" sz="2400" dirty="0"/>
              <a:t>	</a:t>
            </a:r>
            <a:r>
              <a:rPr lang="en-US" sz="2400" b="1" dirty="0">
                <a:solidFill>
                  <a:srgbClr val="00B050"/>
                </a:solidFill>
              </a:rPr>
              <a:t>Heating it.</a:t>
            </a:r>
          </a:p>
          <a:p>
            <a:r>
              <a:rPr lang="en-US" sz="2400" dirty="0"/>
              <a:t>3.  Water and the chemical isooctane both boil at 100 </a:t>
            </a:r>
            <a:r>
              <a:rPr lang="en-US" sz="2400" b="1" baseline="30000" dirty="0" err="1"/>
              <a:t>o</a:t>
            </a:r>
            <a:r>
              <a:rPr lang="en-US" sz="2400" dirty="0" err="1"/>
              <a:t>C.</a:t>
            </a:r>
            <a:r>
              <a:rPr lang="en-US" sz="2400" dirty="0"/>
              <a:t> When the</a:t>
            </a:r>
          </a:p>
          <a:p>
            <a:r>
              <a:rPr lang="en-US" sz="2400" dirty="0"/>
              <a:t>     same amount of each substance is placed on a heater, the</a:t>
            </a:r>
          </a:p>
          <a:p>
            <a:r>
              <a:rPr lang="en-US" sz="2400" dirty="0"/>
              <a:t>     isooctane boils first. Explain why this happens.</a:t>
            </a:r>
          </a:p>
          <a:p>
            <a:r>
              <a:rPr lang="en-GB" sz="2400" dirty="0"/>
              <a:t>	</a:t>
            </a:r>
            <a:r>
              <a:rPr lang="en-GB" sz="2400" b="1" dirty="0">
                <a:solidFill>
                  <a:srgbClr val="00B050"/>
                </a:solidFill>
              </a:rPr>
              <a:t>Isooctane has a lower specific heat capacity than water so 	less heat energy is needed to raise its temperature to its </a:t>
            </a:r>
          </a:p>
          <a:p>
            <a:r>
              <a:rPr lang="en-GB" sz="2400" b="1" dirty="0">
                <a:solidFill>
                  <a:srgbClr val="00B050"/>
                </a:solidFill>
              </a:rPr>
              <a:t>	boiling point.</a:t>
            </a:r>
          </a:p>
        </p:txBody>
      </p:sp>
    </p:spTree>
    <p:extLst>
      <p:ext uri="{BB962C8B-B14F-4D97-AF65-F5344CB8AC3E}">
        <p14:creationId xmlns:p14="http://schemas.microsoft.com/office/powerpoint/2010/main" val="2055459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Internal energy and energy transfers – </a:t>
            </a:r>
            <a:r>
              <a:rPr lang="en-US" sz="2400" b="1" dirty="0">
                <a:solidFill>
                  <a:schemeClr val="tx1"/>
                </a:solidFill>
              </a:rPr>
              <a:t>Answer</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0480"/>
            <a:ext cx="8994912" cy="5755422"/>
          </a:xfrm>
          <a:prstGeom prst="rect">
            <a:avLst/>
          </a:prstGeom>
          <a:noFill/>
        </p:spPr>
        <p:txBody>
          <a:bodyPr wrap="square" rtlCol="0">
            <a:spAutoFit/>
          </a:bodyPr>
          <a:lstStyle/>
          <a:p>
            <a:r>
              <a:rPr lang="en-GB" sz="2300" dirty="0"/>
              <a:t>4. A hot stone is placed into a glass of water containing 200 g</a:t>
            </a:r>
          </a:p>
          <a:p>
            <a:r>
              <a:rPr lang="en-GB" sz="2300" dirty="0"/>
              <a:t>     of cold water. If the stone transfers 25 200 J of energy to</a:t>
            </a:r>
          </a:p>
          <a:p>
            <a:r>
              <a:rPr lang="en-GB" sz="2300" dirty="0"/>
              <a:t>     the water, what will the temperature rise of the water be?</a:t>
            </a:r>
          </a:p>
          <a:p>
            <a:r>
              <a:rPr lang="en-GB" sz="2300" dirty="0"/>
              <a:t>      </a:t>
            </a:r>
            <a:r>
              <a:rPr lang="en-GB" sz="2000" b="1" dirty="0"/>
              <a:t>specific heat capacity of water = 4200 J/kg </a:t>
            </a:r>
            <a:r>
              <a:rPr lang="en-GB" sz="2000" b="1" baseline="30000" dirty="0"/>
              <a:t>o</a:t>
            </a:r>
            <a:r>
              <a:rPr lang="en-GB" sz="2000" b="1" dirty="0"/>
              <a:t>C            </a:t>
            </a:r>
            <a:r>
              <a:rPr lang="el-GR" sz="2000" b="1" dirty="0"/>
              <a:t>Δ</a:t>
            </a:r>
            <a:r>
              <a:rPr lang="en-GB" sz="2000" b="1" dirty="0"/>
              <a:t>E = m </a:t>
            </a:r>
            <a:r>
              <a:rPr lang="en-GB" sz="2000" b="1" i="1" dirty="0"/>
              <a:t>c </a:t>
            </a:r>
            <a:r>
              <a:rPr lang="el-GR" sz="2000" b="1" dirty="0"/>
              <a:t>Δθ</a:t>
            </a:r>
            <a:endParaRPr lang="en-GB" sz="2000" b="1" dirty="0"/>
          </a:p>
          <a:p>
            <a:r>
              <a:rPr lang="en-GB" sz="2300" dirty="0"/>
              <a:t>	</a:t>
            </a:r>
            <a:r>
              <a:rPr lang="el-GR" sz="2300" b="1" dirty="0">
                <a:solidFill>
                  <a:srgbClr val="00B050"/>
                </a:solidFill>
              </a:rPr>
              <a:t>Δθ</a:t>
            </a:r>
            <a:r>
              <a:rPr lang="en-GB" sz="2300" b="1" dirty="0">
                <a:solidFill>
                  <a:srgbClr val="00B050"/>
                </a:solidFill>
              </a:rPr>
              <a:t> =  </a:t>
            </a:r>
            <a:r>
              <a:rPr lang="el-GR" sz="2300" b="1" dirty="0">
                <a:solidFill>
                  <a:srgbClr val="00B050"/>
                </a:solidFill>
              </a:rPr>
              <a:t>Δ</a:t>
            </a:r>
            <a:r>
              <a:rPr lang="en-GB" sz="2300" b="1" dirty="0">
                <a:solidFill>
                  <a:srgbClr val="00B050"/>
                </a:solidFill>
              </a:rPr>
              <a:t>E         =    25 200	= 30 </a:t>
            </a:r>
            <a:r>
              <a:rPr lang="en-GB" sz="2300" b="1" baseline="30000" dirty="0">
                <a:solidFill>
                  <a:srgbClr val="00B050"/>
                </a:solidFill>
              </a:rPr>
              <a:t>o</a:t>
            </a:r>
            <a:r>
              <a:rPr lang="en-GB" sz="2300" b="1" dirty="0">
                <a:solidFill>
                  <a:srgbClr val="00B050"/>
                </a:solidFill>
              </a:rPr>
              <a:t>C</a:t>
            </a:r>
          </a:p>
          <a:p>
            <a:r>
              <a:rPr lang="en-GB" sz="2300" b="1" dirty="0">
                <a:solidFill>
                  <a:srgbClr val="00B050"/>
                </a:solidFill>
              </a:rPr>
              <a:t>	        m x </a:t>
            </a:r>
            <a:r>
              <a:rPr lang="en-GB" sz="2300" b="1" i="1" dirty="0">
                <a:solidFill>
                  <a:srgbClr val="00B050"/>
                </a:solidFill>
              </a:rPr>
              <a:t>c          </a:t>
            </a:r>
            <a:r>
              <a:rPr lang="en-GB" sz="2300" b="1" dirty="0">
                <a:solidFill>
                  <a:srgbClr val="00B050"/>
                </a:solidFill>
              </a:rPr>
              <a:t>0.2 x 4200 	</a:t>
            </a:r>
          </a:p>
          <a:p>
            <a:r>
              <a:rPr lang="en-GB" sz="2300" b="1" dirty="0">
                <a:solidFill>
                  <a:srgbClr val="00B050"/>
                </a:solidFill>
              </a:rPr>
              <a:t>	Temperature rise of the water = 30 </a:t>
            </a:r>
            <a:r>
              <a:rPr lang="en-GB" sz="2300" b="1" baseline="30000" dirty="0">
                <a:solidFill>
                  <a:srgbClr val="00B050"/>
                </a:solidFill>
              </a:rPr>
              <a:t>o</a:t>
            </a:r>
            <a:r>
              <a:rPr lang="en-GB" sz="2300" b="1" dirty="0">
                <a:solidFill>
                  <a:srgbClr val="00B050"/>
                </a:solidFill>
              </a:rPr>
              <a:t>C</a:t>
            </a:r>
          </a:p>
          <a:p>
            <a:r>
              <a:rPr lang="en-GB" sz="2300" dirty="0"/>
              <a:t>5. What is latent heat?</a:t>
            </a:r>
          </a:p>
          <a:p>
            <a:r>
              <a:rPr lang="en-GB" sz="2300" dirty="0"/>
              <a:t>	</a:t>
            </a:r>
            <a:r>
              <a:rPr lang="en-GB" sz="2300" b="1" dirty="0">
                <a:solidFill>
                  <a:srgbClr val="00B050"/>
                </a:solidFill>
              </a:rPr>
              <a:t>The energy needed to change the state of a substance without</a:t>
            </a:r>
          </a:p>
          <a:p>
            <a:r>
              <a:rPr lang="en-GB" sz="2300" b="1" dirty="0">
                <a:solidFill>
                  <a:srgbClr val="00B050"/>
                </a:solidFill>
              </a:rPr>
              <a:t>              changing the temperature.</a:t>
            </a:r>
          </a:p>
          <a:p>
            <a:endParaRPr lang="en-GB" sz="2300" dirty="0"/>
          </a:p>
          <a:p>
            <a:r>
              <a:rPr lang="en-GB" sz="2300" dirty="0"/>
              <a:t>6. Explain the difference between latent heat of fusion and latent heat of</a:t>
            </a:r>
          </a:p>
          <a:p>
            <a:r>
              <a:rPr lang="en-GB" sz="2300" dirty="0"/>
              <a:t>    vaporisation.</a:t>
            </a:r>
          </a:p>
          <a:p>
            <a:r>
              <a:rPr lang="en-GB" sz="2300" dirty="0"/>
              <a:t>	</a:t>
            </a:r>
            <a:r>
              <a:rPr lang="en-GB" sz="2300" b="1" dirty="0">
                <a:solidFill>
                  <a:srgbClr val="00B050"/>
                </a:solidFill>
              </a:rPr>
              <a:t>Latent heat of fusion is the energy needed to change between</a:t>
            </a:r>
          </a:p>
          <a:p>
            <a:r>
              <a:rPr lang="en-GB" sz="2300" b="1" dirty="0">
                <a:solidFill>
                  <a:srgbClr val="00B050"/>
                </a:solidFill>
              </a:rPr>
              <a:t>              solid and liquid. Latent heat of vaporisation is the energy needed 	to change state between liquid and gas.</a:t>
            </a:r>
          </a:p>
        </p:txBody>
      </p:sp>
      <p:pic>
        <p:nvPicPr>
          <p:cNvPr id="5" name="Picture 4">
            <a:extLst>
              <a:ext uri="{FF2B5EF4-FFF2-40B4-BE49-F238E27FC236}">
                <a16:creationId xmlns:a16="http://schemas.microsoft.com/office/drawing/2014/main" xmlns="" id="{6A6A2C41-63A1-4F3A-8FD8-581B1A30DBAC}"/>
              </a:ext>
            </a:extLst>
          </p:cNvPr>
          <p:cNvPicPr>
            <a:picLocks noChangeAspect="1"/>
          </p:cNvPicPr>
          <p:nvPr/>
        </p:nvPicPr>
        <p:blipFill rotWithShape="1">
          <a:blip r:embed="rId2">
            <a:extLst>
              <a:ext uri="{28A0092B-C50C-407E-A947-70E740481C1C}">
                <a14:useLocalDpi xmlns:a14="http://schemas.microsoft.com/office/drawing/2010/main" val="0"/>
              </a:ext>
            </a:extLst>
          </a:blip>
          <a:srcRect t="14867" b="5405"/>
          <a:stretch/>
        </p:blipFill>
        <p:spPr>
          <a:xfrm>
            <a:off x="7786124" y="876939"/>
            <a:ext cx="1080120" cy="1235171"/>
          </a:xfrm>
          <a:prstGeom prst="rect">
            <a:avLst/>
          </a:prstGeom>
        </p:spPr>
      </p:pic>
      <p:pic>
        <p:nvPicPr>
          <p:cNvPr id="8" name="Picture 7">
            <a:extLst>
              <a:ext uri="{FF2B5EF4-FFF2-40B4-BE49-F238E27FC236}">
                <a16:creationId xmlns:a16="http://schemas.microsoft.com/office/drawing/2014/main" xmlns="" id="{BE0AAA1F-090A-4931-94EB-08FDADC708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65565" y="1494525"/>
            <a:ext cx="321239" cy="298762"/>
          </a:xfrm>
          <a:prstGeom prst="rect">
            <a:avLst/>
          </a:prstGeom>
        </p:spPr>
      </p:pic>
      <p:cxnSp>
        <p:nvCxnSpPr>
          <p:cNvPr id="7" name="Straight Connector 6">
            <a:extLst>
              <a:ext uri="{FF2B5EF4-FFF2-40B4-BE49-F238E27FC236}">
                <a16:creationId xmlns:a16="http://schemas.microsoft.com/office/drawing/2014/main" xmlns="" id="{D4C27B8F-08D2-40AA-9219-B9656558B201}"/>
              </a:ext>
            </a:extLst>
          </p:cNvPr>
          <p:cNvCxnSpPr/>
          <p:nvPr/>
        </p:nvCxnSpPr>
        <p:spPr>
          <a:xfrm>
            <a:off x="1691680" y="2492896"/>
            <a:ext cx="64807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xmlns="" id="{072EA307-8DD5-4C67-AD0C-F651F3880B0F}"/>
              </a:ext>
            </a:extLst>
          </p:cNvPr>
          <p:cNvCxnSpPr/>
          <p:nvPr/>
        </p:nvCxnSpPr>
        <p:spPr>
          <a:xfrm>
            <a:off x="3059832" y="2492896"/>
            <a:ext cx="108012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94552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Internal energy and energy transfers –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1234" y="690480"/>
            <a:ext cx="9155233" cy="5755422"/>
          </a:xfrm>
          <a:prstGeom prst="rect">
            <a:avLst/>
          </a:prstGeom>
          <a:noFill/>
        </p:spPr>
        <p:txBody>
          <a:bodyPr wrap="square" rtlCol="0">
            <a:spAutoFit/>
          </a:bodyPr>
          <a:lstStyle/>
          <a:p>
            <a:r>
              <a:rPr lang="en-GB" sz="2300" dirty="0"/>
              <a:t>7. A boiler is being used to heat water. The graph shows the temperature of</a:t>
            </a:r>
          </a:p>
          <a:p>
            <a:r>
              <a:rPr lang="en-GB" sz="2300" dirty="0"/>
              <a:t>    the water every 5 minutes.</a:t>
            </a:r>
          </a:p>
          <a:p>
            <a:r>
              <a:rPr lang="en-GB" sz="2300" dirty="0"/>
              <a:t>				a. What state is the water in between points </a:t>
            </a:r>
          </a:p>
          <a:p>
            <a:r>
              <a:rPr lang="en-GB" sz="2300" dirty="0"/>
              <a:t>                                                           Q and R?</a:t>
            </a:r>
          </a:p>
          <a:p>
            <a:r>
              <a:rPr lang="en-GB" sz="2300" dirty="0"/>
              <a:t>				      </a:t>
            </a:r>
            <a:r>
              <a:rPr lang="en-GB" sz="2300" b="1" dirty="0">
                <a:solidFill>
                  <a:srgbClr val="00B050"/>
                </a:solidFill>
              </a:rPr>
              <a:t>Liquid</a:t>
            </a:r>
            <a:r>
              <a:rPr lang="en-GB" sz="2300" dirty="0"/>
              <a:t>	</a:t>
            </a:r>
          </a:p>
          <a:p>
            <a:r>
              <a:rPr lang="en-GB" sz="2300" dirty="0"/>
              <a:t>				b. At which point does the water begin </a:t>
            </a:r>
          </a:p>
          <a:p>
            <a:r>
              <a:rPr lang="en-GB" sz="2300" dirty="0"/>
              <a:t>                                                            to boil?</a:t>
            </a:r>
          </a:p>
          <a:p>
            <a:r>
              <a:rPr lang="en-GB" sz="2300" dirty="0"/>
              <a:t>				      </a:t>
            </a:r>
            <a:r>
              <a:rPr lang="en-GB" sz="2300" b="1" dirty="0">
                <a:solidFill>
                  <a:srgbClr val="00B050"/>
                </a:solidFill>
              </a:rPr>
              <a:t>R </a:t>
            </a:r>
            <a:r>
              <a:rPr lang="en-GB" sz="2300" dirty="0"/>
              <a:t> 	</a:t>
            </a:r>
          </a:p>
          <a:p>
            <a:r>
              <a:rPr lang="en-GB" sz="2300" dirty="0"/>
              <a:t>				c. What state is the water in at 110 </a:t>
            </a:r>
            <a:r>
              <a:rPr lang="en-GB" sz="2300" b="1" baseline="30000" dirty="0"/>
              <a:t>o</a:t>
            </a:r>
            <a:r>
              <a:rPr lang="en-GB" sz="2300" dirty="0"/>
              <a:t>C?</a:t>
            </a:r>
          </a:p>
          <a:p>
            <a:r>
              <a:rPr lang="en-GB" sz="2300" dirty="0"/>
              <a:t>				      </a:t>
            </a:r>
            <a:r>
              <a:rPr lang="en-GB" sz="2300" b="1" dirty="0">
                <a:solidFill>
                  <a:srgbClr val="00B050"/>
                </a:solidFill>
              </a:rPr>
              <a:t>Gas</a:t>
            </a:r>
            <a:r>
              <a:rPr lang="en-GB" sz="2300" dirty="0"/>
              <a:t>	</a:t>
            </a:r>
          </a:p>
          <a:p>
            <a:pPr marL="457200" indent="-457200">
              <a:buAutoNum type="arabicPeriod" startAt="8"/>
            </a:pPr>
            <a:r>
              <a:rPr lang="en-GB" sz="2300" dirty="0"/>
              <a:t>Candle wax has a latent heat of fusion of 200 000 J/kg. If the candle is at its melting temperature, how much heat energy is needed to melt a</a:t>
            </a:r>
          </a:p>
          <a:p>
            <a:r>
              <a:rPr lang="en-GB" sz="2300" dirty="0"/>
              <a:t>       250 g candle?  		</a:t>
            </a:r>
          </a:p>
          <a:p>
            <a:pPr algn="ctr"/>
            <a:r>
              <a:rPr lang="en-GB" sz="2300" b="1" dirty="0"/>
              <a:t>E = m </a:t>
            </a:r>
            <a:r>
              <a:rPr lang="en-GB" sz="2300" b="1" dirty="0" err="1"/>
              <a:t>L</a:t>
            </a:r>
            <a:r>
              <a:rPr lang="en-GB" sz="2400" b="1" baseline="-25000" dirty="0" err="1"/>
              <a:t>f</a:t>
            </a:r>
            <a:endParaRPr lang="en-GB" sz="2400" b="1" baseline="-25000" dirty="0"/>
          </a:p>
          <a:p>
            <a:r>
              <a:rPr lang="en-GB" sz="2300" dirty="0"/>
              <a:t>	</a:t>
            </a:r>
          </a:p>
          <a:p>
            <a:r>
              <a:rPr lang="en-GB" sz="2300" dirty="0"/>
              <a:t>	                         </a:t>
            </a:r>
            <a:r>
              <a:rPr lang="en-GB" sz="2300" b="1" dirty="0">
                <a:solidFill>
                  <a:srgbClr val="00B050"/>
                </a:solidFill>
              </a:rPr>
              <a:t>E = 0.25 x 200 000     = 50 000 J</a:t>
            </a:r>
          </a:p>
        </p:txBody>
      </p:sp>
      <p:pic>
        <p:nvPicPr>
          <p:cNvPr id="7" name="Picture 6">
            <a:extLst>
              <a:ext uri="{FF2B5EF4-FFF2-40B4-BE49-F238E27FC236}">
                <a16:creationId xmlns:a16="http://schemas.microsoft.com/office/drawing/2014/main" xmlns="" id="{861FE921-F17D-4A95-9CF7-990F50ADE5F2}"/>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11500"/>
                    </a14:imgEffect>
                  </a14:imgLayer>
                </a14:imgProps>
              </a:ext>
              <a:ext uri="{28A0092B-C50C-407E-A947-70E740481C1C}">
                <a14:useLocalDpi xmlns:a14="http://schemas.microsoft.com/office/drawing/2010/main" val="0"/>
              </a:ext>
            </a:extLst>
          </a:blip>
          <a:stretch>
            <a:fillRect/>
          </a:stretch>
        </p:blipFill>
        <p:spPr>
          <a:xfrm>
            <a:off x="-11234" y="1484785"/>
            <a:ext cx="3719138" cy="2808312"/>
          </a:xfrm>
          <a:prstGeom prst="rect">
            <a:avLst/>
          </a:prstGeom>
        </p:spPr>
      </p:pic>
    </p:spTree>
    <p:extLst>
      <p:ext uri="{BB962C8B-B14F-4D97-AF65-F5344CB8AC3E}">
        <p14:creationId xmlns:p14="http://schemas.microsoft.com/office/powerpoint/2010/main" val="9352312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676449"/>
            <a:ext cx="6012160" cy="6186309"/>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600" b="1" dirty="0">
                <a:solidFill>
                  <a:schemeClr val="tx1">
                    <a:lumMod val="50000"/>
                    <a:lumOff val="50000"/>
                  </a:schemeClr>
                </a:solidFill>
              </a:rPr>
              <a:t>Particle model </a:t>
            </a:r>
          </a:p>
          <a:p>
            <a:r>
              <a:rPr lang="en-GB" sz="3600" b="1" dirty="0">
                <a:solidFill>
                  <a:schemeClr val="tx1">
                    <a:lumMod val="50000"/>
                    <a:lumOff val="50000"/>
                  </a:schemeClr>
                </a:solidFill>
              </a:rPr>
              <a:t>and pressure</a:t>
            </a:r>
          </a:p>
          <a:p>
            <a:pPr marL="457200" indent="-457200">
              <a:lnSpc>
                <a:spcPct val="150000"/>
              </a:lnSpc>
              <a:buFont typeface="Arial" charset="0"/>
              <a:buChar char="•"/>
            </a:pPr>
            <a:r>
              <a:rPr lang="en-GB" sz="2400" b="1" dirty="0">
                <a:solidFill>
                  <a:schemeClr val="tx1">
                    <a:lumMod val="50000"/>
                    <a:lumOff val="50000"/>
                  </a:schemeClr>
                </a:solidFill>
              </a:rPr>
              <a:t>Particle motion in gases</a:t>
            </a:r>
          </a:p>
          <a:p>
            <a:pPr marL="457200" indent="-457200">
              <a:lnSpc>
                <a:spcPct val="150000"/>
              </a:lnSpc>
              <a:buFont typeface="Arial" charset="0"/>
              <a:buChar char="•"/>
            </a:pPr>
            <a:r>
              <a:rPr lang="en-GB" sz="2400" b="1" dirty="0">
                <a:solidFill>
                  <a:schemeClr val="tx1">
                    <a:lumMod val="50000"/>
                    <a:lumOff val="50000"/>
                  </a:schemeClr>
                </a:solidFill>
              </a:rPr>
              <a:t>Pressure in gases (physics only)</a:t>
            </a:r>
          </a:p>
          <a:p>
            <a:pPr marL="457200" indent="-457200">
              <a:lnSpc>
                <a:spcPct val="150000"/>
              </a:lnSpc>
              <a:buFont typeface="Arial" charset="0"/>
              <a:buChar char="•"/>
            </a:pPr>
            <a:r>
              <a:rPr lang="en-GB" sz="2400" b="1" dirty="0">
                <a:solidFill>
                  <a:schemeClr val="tx1">
                    <a:lumMod val="50000"/>
                    <a:lumOff val="50000"/>
                  </a:schemeClr>
                </a:solidFill>
              </a:rPr>
              <a:t>Increasing the pressure of a gas</a:t>
            </a:r>
          </a:p>
          <a:p>
            <a:pPr>
              <a:lnSpc>
                <a:spcPct val="150000"/>
              </a:lnSpc>
            </a:pPr>
            <a:r>
              <a:rPr lang="en-GB" sz="2400" b="1" dirty="0">
                <a:solidFill>
                  <a:schemeClr val="tx1">
                    <a:lumMod val="50000"/>
                    <a:lumOff val="50000"/>
                  </a:schemeClr>
                </a:solidFill>
              </a:rPr>
              <a:t>	(physics only – Higher Tier) </a:t>
            </a:r>
          </a:p>
          <a:p>
            <a:endParaRPr lang="en-GB"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3491880" y="0"/>
            <a:ext cx="5688632" cy="6525344"/>
          </a:xfrm>
          <a:prstGeom prst="rect">
            <a:avLst/>
          </a:prstGeom>
        </p:spPr>
      </p:pic>
    </p:spTree>
    <p:extLst>
      <p:ext uri="{BB962C8B-B14F-4D97-AF65-F5344CB8AC3E}">
        <p14:creationId xmlns:p14="http://schemas.microsoft.com/office/powerpoint/2010/main" val="16704523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76085"/>
            <a:ext cx="8316416" cy="657041"/>
          </a:xfrm>
        </p:spPr>
        <p:txBody>
          <a:bodyPr>
            <a:noAutofit/>
          </a:bodyPr>
          <a:lstStyle/>
          <a:p>
            <a:pPr marL="342900" lvl="1" algn="l" defTabSz="342900" rtl="0">
              <a:spcBef>
                <a:spcPct val="20000"/>
              </a:spcBef>
            </a:pPr>
            <a:r>
              <a:rPr lang="en-US" sz="2400" b="1" dirty="0">
                <a:solidFill>
                  <a:schemeClr val="accent6"/>
                </a:solidFill>
              </a:rPr>
              <a:t>Particle model and pressure- particle motion in gases</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pic>
        <p:nvPicPr>
          <p:cNvPr id="4" name="Picture 3">
            <a:extLst>
              <a:ext uri="{FF2B5EF4-FFF2-40B4-BE49-F238E27FC236}">
                <a16:creationId xmlns:a16="http://schemas.microsoft.com/office/drawing/2014/main" xmlns="" id="{8D8D7325-9819-49DC-A5BB-2B75B64EDC98}"/>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251519" y="1628800"/>
            <a:ext cx="2587819" cy="2880320"/>
          </a:xfrm>
          <a:prstGeom prst="rect">
            <a:avLst/>
          </a:prstGeom>
        </p:spPr>
      </p:pic>
      <p:sp>
        <p:nvSpPr>
          <p:cNvPr id="5" name="TextBox 4">
            <a:extLst>
              <a:ext uri="{FF2B5EF4-FFF2-40B4-BE49-F238E27FC236}">
                <a16:creationId xmlns:a16="http://schemas.microsoft.com/office/drawing/2014/main" xmlns="" id="{F71A56D9-B337-4DA9-9733-4790628E708B}"/>
              </a:ext>
            </a:extLst>
          </p:cNvPr>
          <p:cNvSpPr txBox="1"/>
          <p:nvPr/>
        </p:nvSpPr>
        <p:spPr>
          <a:xfrm>
            <a:off x="107504" y="836712"/>
            <a:ext cx="8856984" cy="430887"/>
          </a:xfrm>
          <a:prstGeom prst="rect">
            <a:avLst/>
          </a:prstGeom>
          <a:solidFill>
            <a:schemeClr val="accent6">
              <a:lumMod val="60000"/>
              <a:lumOff val="40000"/>
            </a:schemeClr>
          </a:solidFill>
        </p:spPr>
        <p:txBody>
          <a:bodyPr wrap="square" rtlCol="0">
            <a:spAutoFit/>
          </a:bodyPr>
          <a:lstStyle/>
          <a:p>
            <a:r>
              <a:rPr lang="en-GB" sz="2200" dirty="0"/>
              <a:t>Molecules in a gas are in constant random motion (called Brownian motion)</a:t>
            </a:r>
          </a:p>
        </p:txBody>
      </p:sp>
      <p:sp>
        <p:nvSpPr>
          <p:cNvPr id="6" name="TextBox 5">
            <a:extLst>
              <a:ext uri="{FF2B5EF4-FFF2-40B4-BE49-F238E27FC236}">
                <a16:creationId xmlns:a16="http://schemas.microsoft.com/office/drawing/2014/main" xmlns="" id="{EE46E956-C68D-453C-8F51-37A4DD1C31E3}"/>
              </a:ext>
            </a:extLst>
          </p:cNvPr>
          <p:cNvSpPr txBox="1"/>
          <p:nvPr/>
        </p:nvSpPr>
        <p:spPr>
          <a:xfrm>
            <a:off x="2915816" y="1484784"/>
            <a:ext cx="5832648" cy="3785652"/>
          </a:xfrm>
          <a:prstGeom prst="rect">
            <a:avLst/>
          </a:prstGeom>
          <a:noFill/>
        </p:spPr>
        <p:txBody>
          <a:bodyPr wrap="square" rtlCol="0">
            <a:spAutoFit/>
          </a:bodyPr>
          <a:lstStyle/>
          <a:p>
            <a:pPr marL="342900" indent="-342900">
              <a:buFont typeface="Arial" panose="020B0604020202020204" pitchFamily="34" charset="0"/>
              <a:buChar char="•"/>
            </a:pPr>
            <a:r>
              <a:rPr lang="en-GB" sz="2400" dirty="0"/>
              <a:t>The </a:t>
            </a:r>
            <a:r>
              <a:rPr lang="en-GB" sz="2400" b="1" dirty="0">
                <a:solidFill>
                  <a:schemeClr val="accent6">
                    <a:lumMod val="75000"/>
                  </a:schemeClr>
                </a:solidFill>
              </a:rPr>
              <a:t>temperature</a:t>
            </a:r>
            <a:r>
              <a:rPr lang="en-GB" sz="2400" dirty="0"/>
              <a:t> of this gas is related to the average </a:t>
            </a:r>
            <a:r>
              <a:rPr lang="en-GB" sz="2400" b="1" dirty="0">
                <a:solidFill>
                  <a:schemeClr val="accent6">
                    <a:lumMod val="75000"/>
                  </a:schemeClr>
                </a:solidFill>
              </a:rPr>
              <a:t>kinetic energy </a:t>
            </a:r>
            <a:r>
              <a:rPr lang="en-GB" sz="2400" dirty="0"/>
              <a:t>of all the particles.</a:t>
            </a:r>
          </a:p>
          <a:p>
            <a:pPr marL="342900" indent="-342900">
              <a:buFont typeface="Arial" panose="020B0604020202020204" pitchFamily="34" charset="0"/>
              <a:buChar char="•"/>
            </a:pPr>
            <a:r>
              <a:rPr lang="en-GB" sz="2400" dirty="0"/>
              <a:t>If the temperature of the gas is increased, the particles will </a:t>
            </a:r>
            <a:r>
              <a:rPr lang="en-GB" sz="2400" b="1" dirty="0">
                <a:solidFill>
                  <a:schemeClr val="accent6">
                    <a:lumMod val="75000"/>
                  </a:schemeClr>
                </a:solidFill>
              </a:rPr>
              <a:t>move faster</a:t>
            </a:r>
            <a:r>
              <a:rPr lang="en-GB" sz="2400" dirty="0"/>
              <a:t>.</a:t>
            </a:r>
          </a:p>
          <a:p>
            <a:pPr marL="342900" indent="-342900">
              <a:buFont typeface="Arial" panose="020B0604020202020204" pitchFamily="34" charset="0"/>
              <a:buChar char="•"/>
            </a:pPr>
            <a:r>
              <a:rPr lang="en-GB" sz="2400" dirty="0"/>
              <a:t>Faster moving particles exert a </a:t>
            </a:r>
            <a:r>
              <a:rPr lang="en-GB" sz="2400" b="1" dirty="0">
                <a:solidFill>
                  <a:schemeClr val="accent6">
                    <a:lumMod val="75000"/>
                  </a:schemeClr>
                </a:solidFill>
              </a:rPr>
              <a:t>greater force </a:t>
            </a:r>
            <a:r>
              <a:rPr lang="en-GB" sz="2400" dirty="0"/>
              <a:t>on the walls of the container.</a:t>
            </a:r>
          </a:p>
          <a:p>
            <a:pPr marL="342900" indent="-342900">
              <a:buFont typeface="Arial" panose="020B0604020202020204" pitchFamily="34" charset="0"/>
              <a:buChar char="•"/>
            </a:pPr>
            <a:r>
              <a:rPr lang="en-GB" sz="2400" dirty="0"/>
              <a:t>This will either cause the container to </a:t>
            </a:r>
            <a:r>
              <a:rPr lang="en-GB" sz="2400" b="1" dirty="0">
                <a:solidFill>
                  <a:schemeClr val="accent6">
                    <a:lumMod val="75000"/>
                  </a:schemeClr>
                </a:solidFill>
              </a:rPr>
              <a:t>expand </a:t>
            </a:r>
            <a:r>
              <a:rPr lang="en-GB" sz="2400" dirty="0"/>
              <a:t>(balloon) or </a:t>
            </a:r>
            <a:r>
              <a:rPr lang="en-GB" sz="2400" b="1" dirty="0">
                <a:solidFill>
                  <a:schemeClr val="accent6">
                    <a:lumMod val="75000"/>
                  </a:schemeClr>
                </a:solidFill>
              </a:rPr>
              <a:t>increase the pressure </a:t>
            </a:r>
            <a:r>
              <a:rPr lang="en-GB" sz="2400" dirty="0"/>
              <a:t>of the gas (gas cylinder). </a:t>
            </a:r>
          </a:p>
        </p:txBody>
      </p:sp>
      <p:sp>
        <p:nvSpPr>
          <p:cNvPr id="7" name="TextBox 6">
            <a:extLst>
              <a:ext uri="{FF2B5EF4-FFF2-40B4-BE49-F238E27FC236}">
                <a16:creationId xmlns:a16="http://schemas.microsoft.com/office/drawing/2014/main" xmlns="" id="{6AD22255-7835-4A86-818C-861CB3CB7FC6}"/>
              </a:ext>
            </a:extLst>
          </p:cNvPr>
          <p:cNvSpPr txBox="1"/>
          <p:nvPr/>
        </p:nvSpPr>
        <p:spPr>
          <a:xfrm>
            <a:off x="251520" y="4509120"/>
            <a:ext cx="2587818" cy="923330"/>
          </a:xfrm>
          <a:prstGeom prst="rect">
            <a:avLst/>
          </a:prstGeom>
          <a:noFill/>
          <a:ln w="6350">
            <a:solidFill>
              <a:schemeClr val="tx1"/>
            </a:solidFill>
          </a:ln>
        </p:spPr>
        <p:txBody>
          <a:bodyPr wrap="square" rtlCol="0">
            <a:spAutoFit/>
          </a:bodyPr>
          <a:lstStyle/>
          <a:p>
            <a:pPr algn="ctr"/>
            <a:r>
              <a:rPr lang="en-GB" b="1" dirty="0"/>
              <a:t>Particles of a gas inside a container have kinetic energy</a:t>
            </a:r>
          </a:p>
        </p:txBody>
      </p:sp>
    </p:spTree>
    <p:extLst>
      <p:ext uri="{BB962C8B-B14F-4D97-AF65-F5344CB8AC3E}">
        <p14:creationId xmlns:p14="http://schemas.microsoft.com/office/powerpoint/2010/main" val="20007492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76085"/>
            <a:ext cx="8316416" cy="657041"/>
          </a:xfrm>
        </p:spPr>
        <p:txBody>
          <a:bodyPr>
            <a:noAutofit/>
          </a:bodyPr>
          <a:lstStyle/>
          <a:p>
            <a:pPr marL="342900" lvl="1" algn="l" defTabSz="342900" rtl="0">
              <a:spcBef>
                <a:spcPct val="20000"/>
              </a:spcBef>
            </a:pPr>
            <a:r>
              <a:rPr lang="en-US" sz="2400" b="1" dirty="0">
                <a:solidFill>
                  <a:schemeClr val="accent6"/>
                </a:solidFill>
              </a:rPr>
              <a:t>Particle model and pressure- particle motion in gases</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a:extLst>
              <a:ext uri="{FF2B5EF4-FFF2-40B4-BE49-F238E27FC236}">
                <a16:creationId xmlns:a16="http://schemas.microsoft.com/office/drawing/2014/main" xmlns="" id="{FA41D402-9AB0-4567-A1AD-EED6A93A08E5}"/>
              </a:ext>
            </a:extLst>
          </p:cNvPr>
          <p:cNvSpPr txBox="1"/>
          <p:nvPr/>
        </p:nvSpPr>
        <p:spPr>
          <a:xfrm>
            <a:off x="395536" y="908720"/>
            <a:ext cx="6120681" cy="2677656"/>
          </a:xfrm>
          <a:prstGeom prst="rect">
            <a:avLst/>
          </a:prstGeom>
          <a:solidFill>
            <a:schemeClr val="accent6">
              <a:lumMod val="40000"/>
              <a:lumOff val="60000"/>
            </a:schemeClr>
          </a:solidFill>
          <a:ln w="25400">
            <a:solidFill>
              <a:schemeClr val="accent6">
                <a:lumMod val="75000"/>
              </a:schemeClr>
            </a:solidFill>
          </a:ln>
        </p:spPr>
        <p:txBody>
          <a:bodyPr wrap="square" rtlCol="0">
            <a:spAutoFit/>
          </a:bodyPr>
          <a:lstStyle/>
          <a:p>
            <a:r>
              <a:rPr lang="en-GB" sz="2400" dirty="0"/>
              <a:t>If a sealed can of air (gas) is heated, the molecules of air move faster and faster. </a:t>
            </a:r>
          </a:p>
          <a:p>
            <a:r>
              <a:rPr lang="en-GB" sz="2400" dirty="0"/>
              <a:t>The collisions of these molecules on the inside walls of the container create a pressure. The hotter the molecules, the faster they move and the more pressure they exert on the wall of the can.</a:t>
            </a:r>
          </a:p>
        </p:txBody>
      </p:sp>
      <p:pic>
        <p:nvPicPr>
          <p:cNvPr id="4" name="Picture 3">
            <a:extLst>
              <a:ext uri="{FF2B5EF4-FFF2-40B4-BE49-F238E27FC236}">
                <a16:creationId xmlns:a16="http://schemas.microsoft.com/office/drawing/2014/main" xmlns="" id="{6B18CC97-B06B-46FF-8B17-7BEEDA43F62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405" r="17405"/>
          <a:stretch/>
        </p:blipFill>
        <p:spPr>
          <a:xfrm>
            <a:off x="6322680" y="921220"/>
            <a:ext cx="1155738" cy="1724983"/>
          </a:xfrm>
          <a:prstGeom prst="rect">
            <a:avLst/>
          </a:prstGeom>
        </p:spPr>
      </p:pic>
      <p:pic>
        <p:nvPicPr>
          <p:cNvPr id="5" name="Picture 4">
            <a:extLst>
              <a:ext uri="{FF2B5EF4-FFF2-40B4-BE49-F238E27FC236}">
                <a16:creationId xmlns:a16="http://schemas.microsoft.com/office/drawing/2014/main" xmlns="" id="{0B737567-3AF4-4569-853E-42B32E78C570}"/>
              </a:ext>
            </a:extLst>
          </p:cNvPr>
          <p:cNvPicPr>
            <a:picLocks noChangeAspect="1"/>
          </p:cNvPicPr>
          <p:nvPr/>
        </p:nvPicPr>
        <p:blipFill rotWithShape="1">
          <a:blip r:embed="rId4">
            <a:extLst>
              <a:ext uri="{BEBA8EAE-BF5A-486C-A8C5-ECC9F3942E4B}">
                <a14:imgProps xmlns:a14="http://schemas.microsoft.com/office/drawing/2010/main">
                  <a14:imgLayer r:embed="rId5">
                    <a14:imgEffect>
                      <a14:colorTemperature colorTemp="8592"/>
                    </a14:imgEffect>
                    <a14:imgEffect>
                      <a14:saturation sat="298000"/>
                    </a14:imgEffect>
                  </a14:imgLayer>
                </a14:imgProps>
              </a:ext>
              <a:ext uri="{28A0092B-C50C-407E-A947-70E740481C1C}">
                <a14:useLocalDpi xmlns:a14="http://schemas.microsoft.com/office/drawing/2010/main" val="0"/>
              </a:ext>
            </a:extLst>
          </a:blip>
          <a:srcRect t="-1" b="19149"/>
          <a:stretch/>
        </p:blipFill>
        <p:spPr>
          <a:xfrm>
            <a:off x="7478417" y="1062204"/>
            <a:ext cx="1598077" cy="1584000"/>
          </a:xfrm>
          <a:prstGeom prst="rect">
            <a:avLst/>
          </a:prstGeom>
        </p:spPr>
      </p:pic>
      <p:pic>
        <p:nvPicPr>
          <p:cNvPr id="7" name="Picture 6">
            <a:extLst>
              <a:ext uri="{FF2B5EF4-FFF2-40B4-BE49-F238E27FC236}">
                <a16:creationId xmlns:a16="http://schemas.microsoft.com/office/drawing/2014/main" xmlns="" id="{3BF7C09D-8783-4343-9F5E-18DE9ABDC724}"/>
              </a:ext>
            </a:extLst>
          </p:cNvPr>
          <p:cNvPicPr>
            <a:picLocks noChangeAspect="1"/>
          </p:cNvPicPr>
          <p:nvPr/>
        </p:nvPicPr>
        <p:blipFill rotWithShape="1">
          <a:blip r:embed="rId6">
            <a:extLst>
              <a:ext uri="{28A0092B-C50C-407E-A947-70E740481C1C}">
                <a14:useLocalDpi xmlns:a14="http://schemas.microsoft.com/office/drawing/2010/main" val="0"/>
              </a:ext>
            </a:extLst>
          </a:blip>
          <a:srcRect t="9873" b="2348"/>
          <a:stretch/>
        </p:blipFill>
        <p:spPr>
          <a:xfrm>
            <a:off x="4980166" y="3598876"/>
            <a:ext cx="3810000" cy="2844000"/>
          </a:xfrm>
          <a:prstGeom prst="rect">
            <a:avLst/>
          </a:prstGeom>
        </p:spPr>
      </p:pic>
      <p:sp>
        <p:nvSpPr>
          <p:cNvPr id="8" name="TextBox 7">
            <a:extLst>
              <a:ext uri="{FF2B5EF4-FFF2-40B4-BE49-F238E27FC236}">
                <a16:creationId xmlns:a16="http://schemas.microsoft.com/office/drawing/2014/main" xmlns="" id="{2B960985-071E-41C4-8847-18258C9E9F56}"/>
              </a:ext>
            </a:extLst>
          </p:cNvPr>
          <p:cNvSpPr txBox="1"/>
          <p:nvPr/>
        </p:nvSpPr>
        <p:spPr>
          <a:xfrm>
            <a:off x="395536" y="3673421"/>
            <a:ext cx="4392488" cy="3046988"/>
          </a:xfrm>
          <a:prstGeom prst="rect">
            <a:avLst/>
          </a:prstGeom>
          <a:noFill/>
        </p:spPr>
        <p:txBody>
          <a:bodyPr wrap="square" rtlCol="0">
            <a:spAutoFit/>
          </a:bodyPr>
          <a:lstStyle/>
          <a:p>
            <a:r>
              <a:rPr lang="en-GB" sz="2400" dirty="0"/>
              <a:t>If the can continues to be heated, the pressure will keep rising steadily.</a:t>
            </a:r>
          </a:p>
          <a:p>
            <a:r>
              <a:rPr lang="en-GB" sz="2400" dirty="0"/>
              <a:t>The graph opposite shows that </a:t>
            </a:r>
            <a:r>
              <a:rPr lang="en-GB" sz="2400" b="1" dirty="0">
                <a:solidFill>
                  <a:schemeClr val="accent6">
                    <a:lumMod val="75000"/>
                  </a:schemeClr>
                </a:solidFill>
              </a:rPr>
              <a:t>gas pressure is directly related to its temperature</a:t>
            </a:r>
            <a:r>
              <a:rPr lang="en-GB" sz="2400" dirty="0"/>
              <a:t>, if the volume remains constant.</a:t>
            </a:r>
          </a:p>
          <a:p>
            <a:endParaRPr lang="en-GB" sz="2400" dirty="0"/>
          </a:p>
        </p:txBody>
      </p:sp>
    </p:spTree>
    <p:extLst>
      <p:ext uri="{BB962C8B-B14F-4D97-AF65-F5344CB8AC3E}">
        <p14:creationId xmlns:p14="http://schemas.microsoft.com/office/powerpoint/2010/main" val="24901098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3B68C7CE-35BB-4E69-A7BB-D8CC63909B10}"/>
              </a:ext>
            </a:extLst>
          </p:cNvPr>
          <p:cNvPicPr>
            <a:picLocks noChangeAspect="1"/>
          </p:cNvPicPr>
          <p:nvPr/>
        </p:nvPicPr>
        <p:blipFill rotWithShape="1">
          <a:blip r:embed="rId3">
            <a:extLst>
              <a:ext uri="{28A0092B-C50C-407E-A947-70E740481C1C}">
                <a14:useLocalDpi xmlns:a14="http://schemas.microsoft.com/office/drawing/2010/main" val="0"/>
              </a:ext>
            </a:extLst>
          </a:blip>
          <a:srcRect l="3736" t="19583" r="9989" b="34637"/>
          <a:stretch/>
        </p:blipFill>
        <p:spPr>
          <a:xfrm rot="10800000">
            <a:off x="323536" y="5296324"/>
            <a:ext cx="3168000" cy="1104217"/>
          </a:xfrm>
          <a:prstGeom prst="rect">
            <a:avLst/>
          </a:prstGeom>
        </p:spPr>
      </p:pic>
      <p:sp>
        <p:nvSpPr>
          <p:cNvPr id="2" name="Title 1"/>
          <p:cNvSpPr>
            <a:spLocks noGrp="1"/>
          </p:cNvSpPr>
          <p:nvPr>
            <p:ph type="ctrTitle"/>
          </p:nvPr>
        </p:nvSpPr>
        <p:spPr>
          <a:xfrm>
            <a:off x="987127" y="36095"/>
            <a:ext cx="8546192" cy="657041"/>
          </a:xfrm>
        </p:spPr>
        <p:txBody>
          <a:bodyPr>
            <a:noAutofit/>
          </a:bodyPr>
          <a:lstStyle/>
          <a:p>
            <a:pPr marL="342900" lvl="1" algn="l" defTabSz="342900" rtl="0">
              <a:spcBef>
                <a:spcPct val="20000"/>
              </a:spcBef>
            </a:pPr>
            <a:r>
              <a:rPr lang="en-US" sz="2000" b="1" dirty="0">
                <a:solidFill>
                  <a:schemeClr val="accent6"/>
                </a:solidFill>
              </a:rPr>
              <a:t>Particle model and pressure- pressure in gases (physics only)</a:t>
            </a:r>
            <a:endParaRPr kumimoji="0" lang="en-US" sz="2000" b="1" i="0" u="none" strike="noStrike" kern="1200" cap="none" spc="0" normalizeH="0" baseline="0" noProof="0" dirty="0">
              <a:ln>
                <a:noFill/>
              </a:ln>
              <a:solidFill>
                <a:schemeClr val="accent6"/>
              </a:solidFill>
              <a:effectLst/>
              <a:uLnTx/>
              <a:uFillTx/>
              <a:latin typeface="Calibri"/>
              <a:ea typeface=""/>
              <a:cs typeface="News Gothic MT"/>
            </a:endParaRPr>
          </a:p>
        </p:txBody>
      </p:sp>
      <p:pic>
        <p:nvPicPr>
          <p:cNvPr id="4" name="Picture 3">
            <a:extLst>
              <a:ext uri="{FF2B5EF4-FFF2-40B4-BE49-F238E27FC236}">
                <a16:creationId xmlns:a16="http://schemas.microsoft.com/office/drawing/2014/main" xmlns="" id="{59EB1CCC-5A40-43B5-90D7-66B2829C0058}"/>
              </a:ext>
            </a:extLst>
          </p:cNvPr>
          <p:cNvPicPr>
            <a:picLocks noChangeAspect="1"/>
          </p:cNvPicPr>
          <p:nvPr/>
        </p:nvPicPr>
        <p:blipFill rotWithShape="1">
          <a:blip r:embed="rId4">
            <a:grayscl/>
            <a:extLst>
              <a:ext uri="{BEBA8EAE-BF5A-486C-A8C5-ECC9F3942E4B}">
                <a14:imgProps xmlns:a14="http://schemas.microsoft.com/office/drawing/2010/main">
                  <a14:imgLayer r:embed="rId5">
                    <a14:imgEffect>
                      <a14:colorTemperature colorTemp="6224"/>
                    </a14:imgEffect>
                    <a14:imgEffect>
                      <a14:saturation sat="400000"/>
                    </a14:imgEffect>
                  </a14:imgLayer>
                </a14:imgProps>
              </a:ext>
              <a:ext uri="{28A0092B-C50C-407E-A947-70E740481C1C}">
                <a14:useLocalDpi xmlns:a14="http://schemas.microsoft.com/office/drawing/2010/main" val="0"/>
              </a:ext>
            </a:extLst>
          </a:blip>
          <a:srcRect t="-1" b="6459"/>
          <a:stretch/>
        </p:blipFill>
        <p:spPr>
          <a:xfrm>
            <a:off x="6708206" y="920327"/>
            <a:ext cx="2246490" cy="1760984"/>
          </a:xfrm>
          <a:prstGeom prst="rect">
            <a:avLst/>
          </a:prstGeom>
        </p:spPr>
      </p:pic>
      <p:sp>
        <p:nvSpPr>
          <p:cNvPr id="5" name="TextBox 4">
            <a:extLst>
              <a:ext uri="{FF2B5EF4-FFF2-40B4-BE49-F238E27FC236}">
                <a16:creationId xmlns:a16="http://schemas.microsoft.com/office/drawing/2014/main" xmlns="" id="{68F05805-DA48-4242-AD51-E279B0A0C593}"/>
              </a:ext>
            </a:extLst>
          </p:cNvPr>
          <p:cNvSpPr txBox="1"/>
          <p:nvPr/>
        </p:nvSpPr>
        <p:spPr>
          <a:xfrm>
            <a:off x="251520" y="800783"/>
            <a:ext cx="5976664" cy="1938992"/>
          </a:xfrm>
          <a:prstGeom prst="rect">
            <a:avLst/>
          </a:prstGeom>
          <a:noFill/>
          <a:ln w="25400">
            <a:solidFill>
              <a:schemeClr val="accent6">
                <a:lumMod val="75000"/>
              </a:schemeClr>
            </a:solidFill>
          </a:ln>
        </p:spPr>
        <p:txBody>
          <a:bodyPr wrap="square" rtlCol="0">
            <a:spAutoFit/>
          </a:bodyPr>
          <a:lstStyle/>
          <a:p>
            <a:r>
              <a:rPr lang="en-GB" sz="2400" dirty="0"/>
              <a:t>When a gas is </a:t>
            </a:r>
            <a:r>
              <a:rPr lang="en-GB" sz="2400" b="1" dirty="0">
                <a:solidFill>
                  <a:schemeClr val="accent6">
                    <a:lumMod val="75000"/>
                  </a:schemeClr>
                </a:solidFill>
              </a:rPr>
              <a:t>compressed</a:t>
            </a:r>
            <a:r>
              <a:rPr lang="en-GB" sz="2400" dirty="0"/>
              <a:t> inside a fixed container, there are more particles in a given volume to </a:t>
            </a:r>
            <a:r>
              <a:rPr lang="en-GB" sz="2400" b="1" dirty="0">
                <a:solidFill>
                  <a:schemeClr val="accent6">
                    <a:lumMod val="75000"/>
                  </a:schemeClr>
                </a:solidFill>
              </a:rPr>
              <a:t>strike the walls </a:t>
            </a:r>
            <a:r>
              <a:rPr lang="en-GB" sz="2400" dirty="0"/>
              <a:t>of the container,  therefore the </a:t>
            </a:r>
            <a:r>
              <a:rPr lang="en-GB" sz="2400" b="1" dirty="0">
                <a:solidFill>
                  <a:schemeClr val="accent6">
                    <a:lumMod val="75000"/>
                  </a:schemeClr>
                </a:solidFill>
              </a:rPr>
              <a:t>pressure on the container walls increases.</a:t>
            </a:r>
          </a:p>
        </p:txBody>
      </p:sp>
      <p:sp>
        <p:nvSpPr>
          <p:cNvPr id="6" name="TextBox 5">
            <a:extLst>
              <a:ext uri="{FF2B5EF4-FFF2-40B4-BE49-F238E27FC236}">
                <a16:creationId xmlns:a16="http://schemas.microsoft.com/office/drawing/2014/main" xmlns="" id="{5B51CFD2-26B9-4221-A4E7-748FC1621C1D}"/>
              </a:ext>
            </a:extLst>
          </p:cNvPr>
          <p:cNvSpPr txBox="1"/>
          <p:nvPr/>
        </p:nvSpPr>
        <p:spPr>
          <a:xfrm>
            <a:off x="251520" y="2847422"/>
            <a:ext cx="8496944" cy="830997"/>
          </a:xfrm>
          <a:prstGeom prst="rect">
            <a:avLst/>
          </a:prstGeom>
          <a:solidFill>
            <a:schemeClr val="accent6">
              <a:lumMod val="60000"/>
              <a:lumOff val="40000"/>
            </a:schemeClr>
          </a:solidFill>
        </p:spPr>
        <p:txBody>
          <a:bodyPr wrap="square" rtlCol="0">
            <a:spAutoFit/>
          </a:bodyPr>
          <a:lstStyle/>
          <a:p>
            <a:pPr algn="ctr"/>
            <a:r>
              <a:rPr lang="en-GB" sz="2400" dirty="0"/>
              <a:t>The pressure produces a net force at right angles to the wall which means the pressure will act evenly in all directions.</a:t>
            </a:r>
          </a:p>
        </p:txBody>
      </p:sp>
      <p:cxnSp>
        <p:nvCxnSpPr>
          <p:cNvPr id="10" name="Straight Connector 9">
            <a:extLst>
              <a:ext uri="{FF2B5EF4-FFF2-40B4-BE49-F238E27FC236}">
                <a16:creationId xmlns:a16="http://schemas.microsoft.com/office/drawing/2014/main" xmlns="" id="{D03030A1-E554-4682-AD74-127E36F63522}"/>
              </a:ext>
            </a:extLst>
          </p:cNvPr>
          <p:cNvCxnSpPr/>
          <p:nvPr/>
        </p:nvCxnSpPr>
        <p:spPr>
          <a:xfrm>
            <a:off x="1043608" y="5039530"/>
            <a:ext cx="0" cy="0"/>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Connector 11">
            <a:extLst>
              <a:ext uri="{FF2B5EF4-FFF2-40B4-BE49-F238E27FC236}">
                <a16:creationId xmlns:a16="http://schemas.microsoft.com/office/drawing/2014/main" xmlns="" id="{A29B8D05-83D2-40AA-999B-72A78EF62D1D}"/>
              </a:ext>
            </a:extLst>
          </p:cNvPr>
          <p:cNvCxnSpPr/>
          <p:nvPr/>
        </p:nvCxnSpPr>
        <p:spPr>
          <a:xfrm>
            <a:off x="1043608" y="5039530"/>
            <a:ext cx="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xmlns="" id="{23635951-19E9-42C7-B786-7731ACF1D3BB}"/>
              </a:ext>
            </a:extLst>
          </p:cNvPr>
          <p:cNvCxnSpPr/>
          <p:nvPr/>
        </p:nvCxnSpPr>
        <p:spPr>
          <a:xfrm>
            <a:off x="683568" y="5039530"/>
            <a:ext cx="0" cy="0"/>
          </a:xfrm>
          <a:prstGeom prst="line">
            <a:avLst/>
          </a:prstGeom>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xmlns="" id="{7882925D-B44F-4431-865E-8538EAF16CB0}"/>
              </a:ext>
            </a:extLst>
          </p:cNvPr>
          <p:cNvSpPr/>
          <p:nvPr/>
        </p:nvSpPr>
        <p:spPr>
          <a:xfrm>
            <a:off x="467544" y="5589240"/>
            <a:ext cx="216024" cy="144090"/>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17" name="Picture 16">
            <a:extLst>
              <a:ext uri="{FF2B5EF4-FFF2-40B4-BE49-F238E27FC236}">
                <a16:creationId xmlns:a16="http://schemas.microsoft.com/office/drawing/2014/main" xmlns="" id="{63873F9B-9BEB-497E-B14D-EA676A4F2AC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3568" y="5474155"/>
            <a:ext cx="626422" cy="374260"/>
          </a:xfrm>
          <a:prstGeom prst="rect">
            <a:avLst/>
          </a:prstGeom>
        </p:spPr>
      </p:pic>
      <p:sp>
        <p:nvSpPr>
          <p:cNvPr id="18" name="TextBox 17">
            <a:extLst>
              <a:ext uri="{FF2B5EF4-FFF2-40B4-BE49-F238E27FC236}">
                <a16:creationId xmlns:a16="http://schemas.microsoft.com/office/drawing/2014/main" xmlns="" id="{D6770BFF-F9A2-4322-8C51-C626A03C2043}"/>
              </a:ext>
            </a:extLst>
          </p:cNvPr>
          <p:cNvSpPr txBox="1"/>
          <p:nvPr/>
        </p:nvSpPr>
        <p:spPr>
          <a:xfrm>
            <a:off x="332483" y="3635268"/>
            <a:ext cx="8352928" cy="1200329"/>
          </a:xfrm>
          <a:prstGeom prst="rect">
            <a:avLst/>
          </a:prstGeom>
          <a:noFill/>
        </p:spPr>
        <p:txBody>
          <a:bodyPr wrap="square" rtlCol="0">
            <a:spAutoFit/>
          </a:bodyPr>
          <a:lstStyle/>
          <a:p>
            <a:r>
              <a:rPr lang="en-GB" sz="2400" dirty="0"/>
              <a:t>Think about a sealed syringe with a fixed amount of gas inside. The particles will be colliding with the syringe walls creating a pressure. </a:t>
            </a:r>
          </a:p>
        </p:txBody>
      </p:sp>
      <p:sp>
        <p:nvSpPr>
          <p:cNvPr id="19" name="Arrow: Right 18">
            <a:extLst>
              <a:ext uri="{FF2B5EF4-FFF2-40B4-BE49-F238E27FC236}">
                <a16:creationId xmlns:a16="http://schemas.microsoft.com/office/drawing/2014/main" xmlns="" id="{665A61A9-21C4-4A65-827A-529514FBD4CC}"/>
              </a:ext>
            </a:extLst>
          </p:cNvPr>
          <p:cNvSpPr/>
          <p:nvPr/>
        </p:nvSpPr>
        <p:spPr>
          <a:xfrm>
            <a:off x="2817202" y="5546200"/>
            <a:ext cx="648072" cy="187130"/>
          </a:xfrm>
          <a:prstGeom prst="rightArrow">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xmlns="" id="{CF24B676-6063-40F0-98A8-EA4736FF634D}"/>
              </a:ext>
            </a:extLst>
          </p:cNvPr>
          <p:cNvSpPr txBox="1"/>
          <p:nvPr/>
        </p:nvSpPr>
        <p:spPr>
          <a:xfrm>
            <a:off x="3856350" y="4435409"/>
            <a:ext cx="5077913" cy="2077492"/>
          </a:xfrm>
          <a:prstGeom prst="rect">
            <a:avLst/>
          </a:prstGeom>
          <a:noFill/>
          <a:ln w="25400">
            <a:solidFill>
              <a:schemeClr val="accent6">
                <a:lumMod val="75000"/>
              </a:schemeClr>
            </a:solidFill>
          </a:ln>
        </p:spPr>
        <p:txBody>
          <a:bodyPr wrap="square" rtlCol="0">
            <a:spAutoFit/>
          </a:bodyPr>
          <a:lstStyle/>
          <a:p>
            <a:r>
              <a:rPr lang="en-GB" sz="2100" dirty="0"/>
              <a:t>If the plunger is pulled out, the same amount (mass) of gas will be occupying a greater volume. </a:t>
            </a:r>
          </a:p>
          <a:p>
            <a:r>
              <a:rPr lang="en-GB" sz="2100" dirty="0"/>
              <a:t>This will result in fewer collisions over a given area of the syringe wall.</a:t>
            </a:r>
          </a:p>
          <a:p>
            <a:pPr algn="ctr"/>
            <a:r>
              <a:rPr lang="en-GB" sz="2400" b="1" dirty="0">
                <a:solidFill>
                  <a:schemeClr val="accent6">
                    <a:lumMod val="75000"/>
                  </a:schemeClr>
                </a:solidFill>
              </a:rPr>
              <a:t>Gas pressure will be reduced</a:t>
            </a:r>
          </a:p>
        </p:txBody>
      </p:sp>
    </p:spTree>
    <p:extLst>
      <p:ext uri="{BB962C8B-B14F-4D97-AF65-F5344CB8AC3E}">
        <p14:creationId xmlns:p14="http://schemas.microsoft.com/office/powerpoint/2010/main" val="6865586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76085"/>
            <a:ext cx="8316416" cy="657041"/>
          </a:xfrm>
        </p:spPr>
        <p:txBody>
          <a:bodyPr>
            <a:noAutofit/>
          </a:bodyPr>
          <a:lstStyle/>
          <a:p>
            <a:pPr marL="342900" lvl="1" algn="l" defTabSz="342900" rtl="0">
              <a:spcBef>
                <a:spcPct val="20000"/>
              </a:spcBef>
            </a:pPr>
            <a:r>
              <a:rPr lang="en-US" sz="2000" b="1" dirty="0">
                <a:solidFill>
                  <a:schemeClr val="accent6"/>
                </a:solidFill>
              </a:rPr>
              <a:t>Particle model and pressure - pressure in gases (physics only)</a:t>
            </a:r>
            <a:endParaRPr kumimoji="0" lang="en-US" sz="2000" b="1" i="0" u="none" strike="noStrike" kern="1200" cap="none" spc="0" normalizeH="0" baseline="0" noProof="0" dirty="0">
              <a:ln>
                <a:noFill/>
              </a:ln>
              <a:solidFill>
                <a:schemeClr val="accent6"/>
              </a:solidFill>
              <a:effectLst/>
              <a:uLnTx/>
              <a:uFillTx/>
              <a:latin typeface="Calibri"/>
              <a:ea typeface=""/>
              <a:cs typeface="News Gothic MT"/>
            </a:endParaRPr>
          </a:p>
        </p:txBody>
      </p:sp>
      <p:pic>
        <p:nvPicPr>
          <p:cNvPr id="7" name="Picture 6">
            <a:extLst>
              <a:ext uri="{FF2B5EF4-FFF2-40B4-BE49-F238E27FC236}">
                <a16:creationId xmlns:a16="http://schemas.microsoft.com/office/drawing/2014/main" xmlns="" id="{2A60A2F4-6A59-46D7-8A3D-6528960E0669}"/>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6951"/>
                    </a14:imgEffect>
                    <a14:imgEffect>
                      <a14:saturation sat="0"/>
                    </a14:imgEffect>
                  </a14:imgLayer>
                </a14:imgProps>
              </a:ext>
              <a:ext uri="{28A0092B-C50C-407E-A947-70E740481C1C}">
                <a14:useLocalDpi xmlns:a14="http://schemas.microsoft.com/office/drawing/2010/main" val="0"/>
              </a:ext>
            </a:extLst>
          </a:blip>
          <a:stretch>
            <a:fillRect/>
          </a:stretch>
        </p:blipFill>
        <p:spPr>
          <a:xfrm>
            <a:off x="2791408" y="1702027"/>
            <a:ext cx="3561184" cy="2786633"/>
          </a:xfrm>
          <a:prstGeom prst="rect">
            <a:avLst/>
          </a:prstGeom>
        </p:spPr>
      </p:pic>
      <p:sp>
        <p:nvSpPr>
          <p:cNvPr id="8" name="TextBox 7">
            <a:extLst>
              <a:ext uri="{FF2B5EF4-FFF2-40B4-BE49-F238E27FC236}">
                <a16:creationId xmlns:a16="http://schemas.microsoft.com/office/drawing/2014/main" xmlns="" id="{A6BC8D1D-A9DC-43B5-8AB2-AAD33D5A9472}"/>
              </a:ext>
            </a:extLst>
          </p:cNvPr>
          <p:cNvSpPr txBox="1"/>
          <p:nvPr/>
        </p:nvSpPr>
        <p:spPr>
          <a:xfrm>
            <a:off x="611560" y="980728"/>
            <a:ext cx="7920880" cy="461665"/>
          </a:xfrm>
          <a:prstGeom prst="rect">
            <a:avLst/>
          </a:prstGeom>
          <a:solidFill>
            <a:schemeClr val="accent6">
              <a:lumMod val="75000"/>
            </a:schemeClr>
          </a:solidFill>
        </p:spPr>
        <p:txBody>
          <a:bodyPr wrap="square" rtlCol="0">
            <a:spAutoFit/>
          </a:bodyPr>
          <a:lstStyle/>
          <a:p>
            <a:r>
              <a:rPr lang="en-GB" sz="2400" dirty="0"/>
              <a:t>When a fixed mass of gas is compressed the volume decreases</a:t>
            </a:r>
          </a:p>
        </p:txBody>
      </p:sp>
      <p:sp>
        <p:nvSpPr>
          <p:cNvPr id="9" name="TextBox 8">
            <a:extLst>
              <a:ext uri="{FF2B5EF4-FFF2-40B4-BE49-F238E27FC236}">
                <a16:creationId xmlns:a16="http://schemas.microsoft.com/office/drawing/2014/main" xmlns="" id="{3814162B-51CA-4F68-943C-772A354266C2}"/>
              </a:ext>
            </a:extLst>
          </p:cNvPr>
          <p:cNvSpPr txBox="1"/>
          <p:nvPr/>
        </p:nvSpPr>
        <p:spPr>
          <a:xfrm>
            <a:off x="323528" y="1844824"/>
            <a:ext cx="2343472" cy="2308324"/>
          </a:xfrm>
          <a:prstGeom prst="rect">
            <a:avLst/>
          </a:prstGeom>
          <a:noFill/>
          <a:ln w="25400">
            <a:solidFill>
              <a:schemeClr val="accent6">
                <a:lumMod val="75000"/>
              </a:schemeClr>
            </a:solidFill>
          </a:ln>
        </p:spPr>
        <p:txBody>
          <a:bodyPr wrap="square" rtlCol="0">
            <a:spAutoFit/>
          </a:bodyPr>
          <a:lstStyle/>
          <a:p>
            <a:r>
              <a:rPr lang="en-GB" sz="2400" dirty="0"/>
              <a:t>In the example shown, if the pressure applied to the gas doubles, the volume halves.</a:t>
            </a:r>
          </a:p>
        </p:txBody>
      </p:sp>
      <p:sp>
        <p:nvSpPr>
          <p:cNvPr id="10" name="TextBox 9">
            <a:extLst>
              <a:ext uri="{FF2B5EF4-FFF2-40B4-BE49-F238E27FC236}">
                <a16:creationId xmlns:a16="http://schemas.microsoft.com/office/drawing/2014/main" xmlns="" id="{178E4242-DD6D-4CC3-9E45-1B52BAD85013}"/>
              </a:ext>
            </a:extLst>
          </p:cNvPr>
          <p:cNvSpPr txBox="1"/>
          <p:nvPr/>
        </p:nvSpPr>
        <p:spPr>
          <a:xfrm>
            <a:off x="6228184" y="1844824"/>
            <a:ext cx="2736304" cy="2185214"/>
          </a:xfrm>
          <a:prstGeom prst="rect">
            <a:avLst/>
          </a:prstGeom>
          <a:noFill/>
          <a:ln w="25400">
            <a:solidFill>
              <a:schemeClr val="accent6">
                <a:lumMod val="75000"/>
              </a:schemeClr>
            </a:solidFill>
          </a:ln>
        </p:spPr>
        <p:txBody>
          <a:bodyPr wrap="square" rtlCol="0">
            <a:spAutoFit/>
          </a:bodyPr>
          <a:lstStyle/>
          <a:p>
            <a:r>
              <a:rPr lang="en-GB" sz="2400" dirty="0"/>
              <a:t>This is an inverse relationship:</a:t>
            </a:r>
          </a:p>
          <a:p>
            <a:r>
              <a:rPr lang="en-GB" sz="2000" b="1" i="1" dirty="0"/>
              <a:t>P</a:t>
            </a:r>
            <a:r>
              <a:rPr lang="en-GB" sz="2000" b="1" dirty="0"/>
              <a:t> =  </a:t>
            </a:r>
            <a:r>
              <a:rPr lang="en-GB" sz="2000" b="1" u="sng" dirty="0"/>
              <a:t>1 </a:t>
            </a:r>
            <a:r>
              <a:rPr lang="en-GB" sz="2000" b="1" dirty="0"/>
              <a:t>  </a:t>
            </a:r>
            <a:r>
              <a:rPr lang="en-GB" sz="2000" b="1" i="1" dirty="0"/>
              <a:t>or  </a:t>
            </a:r>
            <a:r>
              <a:rPr lang="en-GB" sz="2000" b="1" i="1" dirty="0" err="1"/>
              <a:t>pV</a:t>
            </a:r>
            <a:r>
              <a:rPr lang="en-GB" sz="2000" b="1" i="1" dirty="0"/>
              <a:t> = </a:t>
            </a:r>
            <a:r>
              <a:rPr lang="en-GB" sz="2000" b="1" dirty="0"/>
              <a:t>constant</a:t>
            </a:r>
          </a:p>
          <a:p>
            <a:r>
              <a:rPr lang="en-GB" sz="2000" b="1" dirty="0"/>
              <a:t>       </a:t>
            </a:r>
            <a:r>
              <a:rPr lang="en-GB" sz="2000" b="1" i="1" dirty="0"/>
              <a:t>V</a:t>
            </a:r>
          </a:p>
          <a:p>
            <a:r>
              <a:rPr lang="en-GB" sz="2400" dirty="0"/>
              <a:t>For calculations:</a:t>
            </a:r>
          </a:p>
          <a:p>
            <a:r>
              <a:rPr lang="en-GB" sz="2000" i="1" dirty="0"/>
              <a:t>       </a:t>
            </a:r>
            <a:r>
              <a:rPr lang="en-GB" sz="2400" b="1" i="1" dirty="0"/>
              <a:t>p</a:t>
            </a:r>
            <a:r>
              <a:rPr lang="en-GB" sz="2400" b="1" baseline="-25000" dirty="0"/>
              <a:t>1</a:t>
            </a:r>
            <a:r>
              <a:rPr lang="en-GB" sz="2400" b="1" i="1" dirty="0"/>
              <a:t>V</a:t>
            </a:r>
            <a:r>
              <a:rPr lang="en-GB" sz="2400" b="1" baseline="-25000" dirty="0"/>
              <a:t>1</a:t>
            </a:r>
            <a:r>
              <a:rPr lang="en-GB" sz="2400" b="1" i="1" dirty="0"/>
              <a:t> = p</a:t>
            </a:r>
            <a:r>
              <a:rPr lang="en-GB" sz="2400" b="1" baseline="-25000" dirty="0"/>
              <a:t>2</a:t>
            </a:r>
            <a:r>
              <a:rPr lang="en-GB" sz="2400" b="1" i="1" dirty="0"/>
              <a:t>V</a:t>
            </a:r>
            <a:r>
              <a:rPr lang="en-GB" sz="2400" b="1" baseline="-25000" dirty="0"/>
              <a:t>2 </a:t>
            </a:r>
            <a:r>
              <a:rPr lang="en-GB" sz="2400" b="1" i="1" dirty="0"/>
              <a:t>      </a:t>
            </a:r>
          </a:p>
        </p:txBody>
      </p:sp>
      <p:sp>
        <p:nvSpPr>
          <p:cNvPr id="11" name="TextBox 10">
            <a:extLst>
              <a:ext uri="{FF2B5EF4-FFF2-40B4-BE49-F238E27FC236}">
                <a16:creationId xmlns:a16="http://schemas.microsoft.com/office/drawing/2014/main" xmlns="" id="{F8F62001-440A-4E78-B78A-FCE48BD1BF00}"/>
              </a:ext>
            </a:extLst>
          </p:cNvPr>
          <p:cNvSpPr txBox="1"/>
          <p:nvPr/>
        </p:nvSpPr>
        <p:spPr>
          <a:xfrm>
            <a:off x="215008" y="4471959"/>
            <a:ext cx="8928992" cy="1938992"/>
          </a:xfrm>
          <a:prstGeom prst="rect">
            <a:avLst/>
          </a:prstGeom>
          <a:noFill/>
        </p:spPr>
        <p:txBody>
          <a:bodyPr wrap="square" rtlCol="0">
            <a:spAutoFit/>
          </a:bodyPr>
          <a:lstStyle/>
          <a:p>
            <a:r>
              <a:rPr lang="en-GB" sz="2400" dirty="0"/>
              <a:t>If the container has a volume of 0.04 m</a:t>
            </a:r>
            <a:r>
              <a:rPr lang="en-GB" sz="2400" b="1" baseline="30000" dirty="0"/>
              <a:t>3</a:t>
            </a:r>
            <a:r>
              <a:rPr lang="en-GB" sz="2400" dirty="0"/>
              <a:t> and a pressure of 100 000 Pa, calculate the new volume if the pressure is increased to 320 000 Pa.</a:t>
            </a:r>
          </a:p>
          <a:p>
            <a:endParaRPr lang="en-GB" sz="2400" dirty="0"/>
          </a:p>
          <a:p>
            <a:r>
              <a:rPr lang="en-GB" sz="1600" i="1" dirty="0"/>
              <a:t> </a:t>
            </a:r>
            <a:r>
              <a:rPr lang="en-GB" sz="2400" b="1" i="1" dirty="0"/>
              <a:t>p</a:t>
            </a:r>
            <a:r>
              <a:rPr lang="en-GB" sz="2400" b="1" baseline="-25000" dirty="0"/>
              <a:t>1</a:t>
            </a:r>
            <a:r>
              <a:rPr lang="en-GB" sz="2400" b="1" i="1" dirty="0"/>
              <a:t>V</a:t>
            </a:r>
            <a:r>
              <a:rPr lang="en-GB" sz="2400" b="1" baseline="-25000" dirty="0"/>
              <a:t>1</a:t>
            </a:r>
            <a:r>
              <a:rPr lang="en-GB" sz="2400" b="1" i="1" dirty="0"/>
              <a:t> = p</a:t>
            </a:r>
            <a:r>
              <a:rPr lang="en-GB" sz="2400" b="1" baseline="-25000" dirty="0"/>
              <a:t>2</a:t>
            </a:r>
            <a:r>
              <a:rPr lang="en-GB" sz="2400" b="1" i="1" dirty="0"/>
              <a:t>V</a:t>
            </a:r>
            <a:r>
              <a:rPr lang="en-GB" sz="2400" b="1" baseline="-25000" dirty="0"/>
              <a:t>2 </a:t>
            </a:r>
            <a:r>
              <a:rPr lang="en-GB" sz="2400" b="1" i="1" dirty="0"/>
              <a:t>     V</a:t>
            </a:r>
            <a:r>
              <a:rPr lang="en-GB" sz="2400" b="1" baseline="-25000" dirty="0"/>
              <a:t>2</a:t>
            </a:r>
            <a:r>
              <a:rPr lang="en-GB" sz="2400" b="1" i="1" dirty="0"/>
              <a:t> = </a:t>
            </a:r>
            <a:r>
              <a:rPr lang="en-GB" sz="2400" b="1" dirty="0"/>
              <a:t>p</a:t>
            </a:r>
            <a:r>
              <a:rPr lang="en-GB" sz="2400" b="1" baseline="-25000" dirty="0"/>
              <a:t>1</a:t>
            </a:r>
            <a:r>
              <a:rPr lang="en-GB" sz="2400" b="1" dirty="0"/>
              <a:t>V</a:t>
            </a:r>
            <a:r>
              <a:rPr lang="en-GB" sz="2400" b="1" baseline="-25000" dirty="0"/>
              <a:t>1</a:t>
            </a:r>
            <a:r>
              <a:rPr lang="en-GB" sz="2400" b="1" i="1" dirty="0"/>
              <a:t>    </a:t>
            </a:r>
            <a:r>
              <a:rPr lang="en-GB" sz="2400" b="1" dirty="0"/>
              <a:t>=</a:t>
            </a:r>
            <a:r>
              <a:rPr lang="en-GB" sz="2400" b="1" i="1" dirty="0"/>
              <a:t> </a:t>
            </a:r>
            <a:r>
              <a:rPr lang="en-GB" sz="2400" u="sng" dirty="0"/>
              <a:t>100 000 x 0.04</a:t>
            </a:r>
            <a:r>
              <a:rPr lang="en-GB" sz="2400" dirty="0"/>
              <a:t>  </a:t>
            </a:r>
            <a:r>
              <a:rPr lang="en-GB" sz="2400" dirty="0">
                <a:solidFill>
                  <a:schemeClr val="accent6">
                    <a:lumMod val="75000"/>
                  </a:schemeClr>
                </a:solidFill>
              </a:rPr>
              <a:t>New volume </a:t>
            </a:r>
            <a:r>
              <a:rPr lang="en-GB" sz="2400" dirty="0"/>
              <a:t>= 0.0125 m</a:t>
            </a:r>
            <a:r>
              <a:rPr lang="en-GB" sz="2400" b="1" baseline="30000" dirty="0"/>
              <a:t>3</a:t>
            </a:r>
          </a:p>
          <a:p>
            <a:r>
              <a:rPr lang="en-GB" sz="2400" b="1" i="1" dirty="0"/>
              <a:t>                                    p</a:t>
            </a:r>
            <a:r>
              <a:rPr lang="en-GB" sz="2400" b="1" baseline="-25000" dirty="0"/>
              <a:t>2                          </a:t>
            </a:r>
            <a:r>
              <a:rPr lang="en-GB" sz="2400" dirty="0"/>
              <a:t>320 000</a:t>
            </a:r>
          </a:p>
        </p:txBody>
      </p:sp>
      <p:cxnSp>
        <p:nvCxnSpPr>
          <p:cNvPr id="15" name="Straight Connector 14">
            <a:extLst>
              <a:ext uri="{FF2B5EF4-FFF2-40B4-BE49-F238E27FC236}">
                <a16:creationId xmlns:a16="http://schemas.microsoft.com/office/drawing/2014/main" xmlns="" id="{05BBB41D-3C54-42FC-B728-A0C2AFD65917}"/>
              </a:ext>
            </a:extLst>
          </p:cNvPr>
          <p:cNvCxnSpPr/>
          <p:nvPr/>
        </p:nvCxnSpPr>
        <p:spPr>
          <a:xfrm>
            <a:off x="2791408" y="6021288"/>
            <a:ext cx="556456"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633203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107663"/>
            <a:ext cx="8316416" cy="657041"/>
          </a:xfrm>
        </p:spPr>
        <p:txBody>
          <a:bodyPr>
            <a:noAutofit/>
          </a:bodyPr>
          <a:lstStyle/>
          <a:p>
            <a:pPr marL="342900" lvl="1" algn="l" defTabSz="342900" rtl="0">
              <a:spcBef>
                <a:spcPct val="20000"/>
              </a:spcBef>
            </a:pPr>
            <a:r>
              <a:rPr lang="en-US" sz="2000" b="1" dirty="0">
                <a:solidFill>
                  <a:schemeClr val="accent6"/>
                </a:solidFill>
              </a:rPr>
              <a:t>Particle model and pressure- Increasing the pressure of a gas 													(physics only – Higher Tier) </a:t>
            </a:r>
            <a:endParaRPr kumimoji="0" lang="en-US" sz="20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4" name="TextBox 3">
            <a:extLst>
              <a:ext uri="{FF2B5EF4-FFF2-40B4-BE49-F238E27FC236}">
                <a16:creationId xmlns:a16="http://schemas.microsoft.com/office/drawing/2014/main" xmlns="" id="{3A792025-478E-4F9F-B4D8-8DBB5A99A820}"/>
              </a:ext>
            </a:extLst>
          </p:cNvPr>
          <p:cNvSpPr txBox="1"/>
          <p:nvPr/>
        </p:nvSpPr>
        <p:spPr>
          <a:xfrm>
            <a:off x="107504" y="908720"/>
            <a:ext cx="8928992" cy="830997"/>
          </a:xfrm>
          <a:prstGeom prst="rect">
            <a:avLst/>
          </a:prstGeom>
          <a:solidFill>
            <a:schemeClr val="accent6">
              <a:lumMod val="60000"/>
              <a:lumOff val="40000"/>
            </a:schemeClr>
          </a:solidFill>
        </p:spPr>
        <p:txBody>
          <a:bodyPr wrap="square" rtlCol="0">
            <a:spAutoFit/>
          </a:bodyPr>
          <a:lstStyle/>
          <a:p>
            <a:r>
              <a:rPr lang="en-GB" sz="2400" dirty="0"/>
              <a:t>When work is done on a gas, energy is transferred to the gas by a force. This transfer of energy to the gas increases its temperature.</a:t>
            </a:r>
          </a:p>
        </p:txBody>
      </p:sp>
      <p:sp>
        <p:nvSpPr>
          <p:cNvPr id="5" name="TextBox 4">
            <a:extLst>
              <a:ext uri="{FF2B5EF4-FFF2-40B4-BE49-F238E27FC236}">
                <a16:creationId xmlns:a16="http://schemas.microsoft.com/office/drawing/2014/main" xmlns="" id="{4CD2628C-B93A-4CB6-B75C-F2CC2DE31487}"/>
              </a:ext>
            </a:extLst>
          </p:cNvPr>
          <p:cNvSpPr txBox="1"/>
          <p:nvPr/>
        </p:nvSpPr>
        <p:spPr>
          <a:xfrm>
            <a:off x="251520" y="1844824"/>
            <a:ext cx="5976664" cy="2308324"/>
          </a:xfrm>
          <a:prstGeom prst="rect">
            <a:avLst/>
          </a:prstGeom>
          <a:noFill/>
        </p:spPr>
        <p:txBody>
          <a:bodyPr wrap="square" rtlCol="0">
            <a:spAutoFit/>
          </a:bodyPr>
          <a:lstStyle/>
          <a:p>
            <a:r>
              <a:rPr lang="en-GB" sz="2400" dirty="0"/>
              <a:t>When a foot pump is used to inflate a tyre, </a:t>
            </a:r>
            <a:r>
              <a:rPr lang="en-GB" sz="2400" b="1" dirty="0">
                <a:solidFill>
                  <a:schemeClr val="accent6">
                    <a:lumMod val="75000"/>
                  </a:schemeClr>
                </a:solidFill>
              </a:rPr>
              <a:t>work is done </a:t>
            </a:r>
            <a:r>
              <a:rPr lang="en-GB" sz="2400" dirty="0"/>
              <a:t>by the piston on the </a:t>
            </a:r>
            <a:r>
              <a:rPr lang="en-GB" sz="2400" b="1" dirty="0">
                <a:solidFill>
                  <a:schemeClr val="accent6">
                    <a:lumMod val="75000"/>
                  </a:schemeClr>
                </a:solidFill>
              </a:rPr>
              <a:t>vibrating air particles </a:t>
            </a:r>
            <a:r>
              <a:rPr lang="en-GB" sz="2400" dirty="0"/>
              <a:t>inside the pump. There is therefore a </a:t>
            </a:r>
            <a:r>
              <a:rPr lang="en-GB" sz="2400" b="1" dirty="0">
                <a:solidFill>
                  <a:schemeClr val="accent6">
                    <a:lumMod val="75000"/>
                  </a:schemeClr>
                </a:solidFill>
              </a:rPr>
              <a:t>transfer of energy </a:t>
            </a:r>
            <a:r>
              <a:rPr lang="en-GB" sz="2400" dirty="0"/>
              <a:t>between the piston and the particles and this results in an increase in </a:t>
            </a:r>
            <a:r>
              <a:rPr lang="en-GB" sz="2400" b="1" dirty="0">
                <a:solidFill>
                  <a:schemeClr val="accent6">
                    <a:lumMod val="75000"/>
                  </a:schemeClr>
                </a:solidFill>
              </a:rPr>
              <a:t>kinetic energy </a:t>
            </a:r>
            <a:r>
              <a:rPr lang="en-GB" sz="2400" dirty="0"/>
              <a:t>of the air particles.</a:t>
            </a:r>
          </a:p>
        </p:txBody>
      </p:sp>
      <p:pic>
        <p:nvPicPr>
          <p:cNvPr id="7" name="Picture 6">
            <a:extLst>
              <a:ext uri="{FF2B5EF4-FFF2-40B4-BE49-F238E27FC236}">
                <a16:creationId xmlns:a16="http://schemas.microsoft.com/office/drawing/2014/main" xmlns="" id="{3C9DC1C0-5CD5-4E44-A540-CC076A8466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00192" y="1844824"/>
            <a:ext cx="2736304" cy="2736304"/>
          </a:xfrm>
          <a:prstGeom prst="rect">
            <a:avLst/>
          </a:prstGeom>
        </p:spPr>
      </p:pic>
      <p:sp>
        <p:nvSpPr>
          <p:cNvPr id="8" name="TextBox 7">
            <a:extLst>
              <a:ext uri="{FF2B5EF4-FFF2-40B4-BE49-F238E27FC236}">
                <a16:creationId xmlns:a16="http://schemas.microsoft.com/office/drawing/2014/main" xmlns="" id="{804E80CD-CBC0-4F47-871E-A4014102EF31}"/>
              </a:ext>
            </a:extLst>
          </p:cNvPr>
          <p:cNvSpPr txBox="1"/>
          <p:nvPr/>
        </p:nvSpPr>
        <p:spPr>
          <a:xfrm>
            <a:off x="359532" y="4869160"/>
            <a:ext cx="8424936" cy="1200329"/>
          </a:xfrm>
          <a:prstGeom prst="rect">
            <a:avLst/>
          </a:prstGeom>
          <a:noFill/>
          <a:ln w="25400">
            <a:solidFill>
              <a:schemeClr val="accent6">
                <a:lumMod val="75000"/>
              </a:schemeClr>
            </a:solidFill>
          </a:ln>
        </p:spPr>
        <p:txBody>
          <a:bodyPr wrap="square" rtlCol="0">
            <a:spAutoFit/>
          </a:bodyPr>
          <a:lstStyle/>
          <a:p>
            <a:r>
              <a:rPr lang="en-GB" sz="2400" dirty="0"/>
              <a:t>If the kinetic energy of the air particles increases then there will be more collisions between gas particles. This will cause the temperature of the gas to rise</a:t>
            </a:r>
          </a:p>
        </p:txBody>
      </p:sp>
    </p:spTree>
    <p:extLst>
      <p:ext uri="{BB962C8B-B14F-4D97-AF65-F5344CB8AC3E}">
        <p14:creationId xmlns:p14="http://schemas.microsoft.com/office/powerpoint/2010/main" val="10774064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13691" y="1041996"/>
            <a:ext cx="4716016" cy="5078313"/>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r>
              <a:rPr lang="en-GB" sz="3600" b="1" dirty="0">
                <a:solidFill>
                  <a:schemeClr val="tx1">
                    <a:lumMod val="50000"/>
                    <a:lumOff val="50000"/>
                  </a:schemeClr>
                </a:solidFill>
              </a:rPr>
              <a:t>Particle model </a:t>
            </a:r>
          </a:p>
          <a:p>
            <a:r>
              <a:rPr lang="en-GB" sz="3600" b="1" dirty="0">
                <a:solidFill>
                  <a:schemeClr val="tx1">
                    <a:lumMod val="50000"/>
                    <a:lumOff val="50000"/>
                  </a:schemeClr>
                </a:solidFill>
              </a:rPr>
              <a:t>and pressure</a:t>
            </a:r>
          </a:p>
          <a:p>
            <a:pPr marL="457200" indent="-457200">
              <a:lnSpc>
                <a:spcPct val="150000"/>
              </a:lnSpc>
              <a:buFont typeface="Arial" charset="0"/>
              <a:buChar char="•"/>
            </a:pPr>
            <a:r>
              <a:rPr lang="en-GB" sz="2400" b="1" dirty="0">
                <a:solidFill>
                  <a:schemeClr val="tx1">
                    <a:lumMod val="50000"/>
                    <a:lumOff val="50000"/>
                  </a:schemeClr>
                </a:solidFill>
              </a:rPr>
              <a:t>Particle motion in gases</a:t>
            </a:r>
          </a:p>
          <a:p>
            <a:pPr marL="457200" indent="-457200">
              <a:lnSpc>
                <a:spcPct val="150000"/>
              </a:lnSpc>
              <a:buFont typeface="Arial" charset="0"/>
              <a:buChar char="•"/>
            </a:pPr>
            <a:r>
              <a:rPr lang="en-GB" sz="2400" b="1" dirty="0">
                <a:solidFill>
                  <a:schemeClr val="tx1">
                    <a:lumMod val="50000"/>
                    <a:lumOff val="50000"/>
                  </a:schemeClr>
                </a:solidFill>
              </a:rPr>
              <a:t>Pressure in gases (physics only)</a:t>
            </a:r>
          </a:p>
          <a:p>
            <a:pPr marL="457200" indent="-457200">
              <a:lnSpc>
                <a:spcPct val="150000"/>
              </a:lnSpc>
              <a:buFont typeface="Arial" charset="0"/>
              <a:buChar char="•"/>
            </a:pPr>
            <a:r>
              <a:rPr lang="en-GB" sz="2400" b="1" dirty="0">
                <a:solidFill>
                  <a:schemeClr val="tx1">
                    <a:lumMod val="50000"/>
                    <a:lumOff val="50000"/>
                  </a:schemeClr>
                </a:solidFill>
              </a:rPr>
              <a:t>Increasing the pressure of a gas</a:t>
            </a:r>
          </a:p>
          <a:p>
            <a:pPr>
              <a:lnSpc>
                <a:spcPct val="150000"/>
              </a:lnSpc>
            </a:pPr>
            <a:r>
              <a:rPr lang="en-GB" sz="2400" b="1" dirty="0">
                <a:solidFill>
                  <a:schemeClr val="tx1">
                    <a:lumMod val="50000"/>
                    <a:lumOff val="50000"/>
                  </a:schemeClr>
                </a:solidFill>
              </a:rPr>
              <a:t>	  (physics only – Higher Tier)</a:t>
            </a:r>
            <a:endParaRPr lang="en-GB" sz="2400" dirty="0"/>
          </a:p>
          <a:p>
            <a:endParaRPr lang="en-GB"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4716016" y="886544"/>
            <a:ext cx="4410844" cy="5638800"/>
          </a:xfrm>
          <a:prstGeom prst="rect">
            <a:avLst/>
          </a:prstGeom>
        </p:spPr>
      </p:pic>
    </p:spTree>
    <p:extLst>
      <p:ext uri="{BB962C8B-B14F-4D97-AF65-F5344CB8AC3E}">
        <p14:creationId xmlns:p14="http://schemas.microsoft.com/office/powerpoint/2010/main" val="2144738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solidFill>
              </a:rPr>
              <a:t>Particle model and pressure –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0" y="640314"/>
            <a:ext cx="8964488" cy="5693866"/>
          </a:xfrm>
          <a:prstGeom prst="rect">
            <a:avLst/>
          </a:prstGeom>
          <a:noFill/>
        </p:spPr>
        <p:txBody>
          <a:bodyPr wrap="square" rtlCol="0">
            <a:spAutoFit/>
          </a:bodyPr>
          <a:lstStyle/>
          <a:p>
            <a:pPr marL="457200" indent="-457200">
              <a:buAutoNum type="arabicPeriod"/>
            </a:pPr>
            <a:r>
              <a:rPr lang="en-GB" sz="2400" dirty="0"/>
              <a:t>What happens to the temperature of a gas if the average kinetic</a:t>
            </a:r>
          </a:p>
          <a:p>
            <a:r>
              <a:rPr lang="en-GB" sz="2400" dirty="0"/>
              <a:t>       energy of the particles of the gas increases? </a:t>
            </a:r>
          </a:p>
          <a:p>
            <a:endParaRPr lang="en-GB" sz="2400" dirty="0"/>
          </a:p>
          <a:p>
            <a:r>
              <a:rPr lang="en-GB" sz="2400" dirty="0"/>
              <a:t>2.    The sealed gas syringe is filled with air.  </a:t>
            </a:r>
          </a:p>
          <a:p>
            <a:endParaRPr lang="en-GB" sz="2400" dirty="0"/>
          </a:p>
          <a:p>
            <a:pPr>
              <a:lnSpc>
                <a:spcPct val="150000"/>
              </a:lnSpc>
            </a:pPr>
            <a:endParaRPr lang="en-GB" sz="2400" dirty="0"/>
          </a:p>
          <a:p>
            <a:r>
              <a:rPr lang="en-GB" sz="2400" dirty="0"/>
              <a:t>        Explain what will happen to the syringe if the air inside is gently</a:t>
            </a:r>
          </a:p>
          <a:p>
            <a:r>
              <a:rPr lang="en-GB" sz="2400" dirty="0"/>
              <a:t>        heated.</a:t>
            </a:r>
          </a:p>
          <a:p>
            <a:pPr marL="457200" indent="-457200">
              <a:buAutoNum type="arabicPeriod" startAt="3"/>
            </a:pPr>
            <a:endParaRPr lang="en-GB" sz="2400" dirty="0"/>
          </a:p>
          <a:p>
            <a:pPr marL="457200" indent="-457200">
              <a:buAutoNum type="arabicPeriod" startAt="3"/>
            </a:pPr>
            <a:r>
              <a:rPr lang="en-GB" sz="2400" dirty="0"/>
              <a:t>As a weather balloon rises high in the atmosphere its volume</a:t>
            </a:r>
          </a:p>
          <a:p>
            <a:r>
              <a:rPr lang="en-GB" sz="2400" dirty="0"/>
              <a:t>      increases. Explain why this happens.	</a:t>
            </a:r>
          </a:p>
          <a:p>
            <a:r>
              <a:rPr lang="en-GB" sz="2200" dirty="0"/>
              <a:t>       </a:t>
            </a:r>
          </a:p>
          <a:p>
            <a:endParaRPr lang="en-GB" sz="2200" b="1" dirty="0">
              <a:solidFill>
                <a:srgbClr val="00B050"/>
              </a:solidFill>
            </a:endParaRPr>
          </a:p>
          <a:p>
            <a:endParaRPr lang="en-GB" sz="2200" b="1" dirty="0">
              <a:solidFill>
                <a:srgbClr val="00B050"/>
              </a:solidFill>
            </a:endParaRPr>
          </a:p>
          <a:p>
            <a:endParaRPr lang="en-GB" sz="2200" b="1" dirty="0">
              <a:solidFill>
                <a:srgbClr val="00B050"/>
              </a:solidFill>
            </a:endParaRPr>
          </a:p>
        </p:txBody>
      </p:sp>
      <p:pic>
        <p:nvPicPr>
          <p:cNvPr id="5" name="Picture 4">
            <a:extLst>
              <a:ext uri="{FF2B5EF4-FFF2-40B4-BE49-F238E27FC236}">
                <a16:creationId xmlns:a16="http://schemas.microsoft.com/office/drawing/2014/main" xmlns="" id="{DE636807-311B-4BAB-A705-0274179A1CD6}"/>
              </a:ext>
            </a:extLst>
          </p:cNvPr>
          <p:cNvPicPr>
            <a:picLocks noChangeAspect="1"/>
          </p:cNvPicPr>
          <p:nvPr/>
        </p:nvPicPr>
        <p:blipFill rotWithShape="1">
          <a:blip r:embed="rId2">
            <a:extLst>
              <a:ext uri="{28A0092B-C50C-407E-A947-70E740481C1C}">
                <a14:useLocalDpi xmlns:a14="http://schemas.microsoft.com/office/drawing/2010/main" val="0"/>
              </a:ext>
            </a:extLst>
          </a:blip>
          <a:srcRect l="29451" t="2457" r="-706" b="2457"/>
          <a:stretch/>
        </p:blipFill>
        <p:spPr>
          <a:xfrm>
            <a:off x="2461625" y="2276872"/>
            <a:ext cx="3456384" cy="819599"/>
          </a:xfrm>
          <a:prstGeom prst="rect">
            <a:avLst/>
          </a:prstGeom>
        </p:spPr>
      </p:pic>
      <p:cxnSp>
        <p:nvCxnSpPr>
          <p:cNvPr id="8" name="Straight Connector 7">
            <a:extLst>
              <a:ext uri="{FF2B5EF4-FFF2-40B4-BE49-F238E27FC236}">
                <a16:creationId xmlns:a16="http://schemas.microsoft.com/office/drawing/2014/main" xmlns="" id="{A8815E04-99C3-4C3B-ABCB-6BBFB848196F}"/>
              </a:ext>
            </a:extLst>
          </p:cNvPr>
          <p:cNvCxnSpPr>
            <a:cxnSpLocks/>
            <a:stCxn id="5" idx="1"/>
            <a:endCxn id="5" idx="1"/>
          </p:cNvCxnSpPr>
          <p:nvPr/>
        </p:nvCxnSpPr>
        <p:spPr>
          <a:xfrm>
            <a:off x="2461625" y="2686672"/>
            <a:ext cx="0"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xmlns="" id="{72D606A2-0652-4B76-9647-A3DA34AD176B}"/>
              </a:ext>
            </a:extLst>
          </p:cNvPr>
          <p:cNvSpPr/>
          <p:nvPr/>
        </p:nvSpPr>
        <p:spPr>
          <a:xfrm>
            <a:off x="2461624" y="2636912"/>
            <a:ext cx="166159" cy="103764"/>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687314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solidFill>
              </a:rPr>
              <a:t>Particle model and pressure –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9309" y="657041"/>
            <a:ext cx="9130207" cy="6186309"/>
          </a:xfrm>
          <a:prstGeom prst="rect">
            <a:avLst/>
          </a:prstGeom>
          <a:noFill/>
        </p:spPr>
        <p:txBody>
          <a:bodyPr wrap="square" rtlCol="0">
            <a:spAutoFit/>
          </a:bodyPr>
          <a:lstStyle/>
          <a:p>
            <a:pPr>
              <a:lnSpc>
                <a:spcPct val="150000"/>
              </a:lnSpc>
            </a:pPr>
            <a:r>
              <a:rPr lang="en-GB" sz="2400" dirty="0"/>
              <a:t>4.    A cylinder of oxygen is left in the sunshine for an hour.  </a:t>
            </a:r>
          </a:p>
          <a:p>
            <a:r>
              <a:rPr lang="en-GB" sz="2400" dirty="0"/>
              <a:t>        a. Explain what will happen to the oxygen molecules</a:t>
            </a:r>
          </a:p>
          <a:p>
            <a:r>
              <a:rPr lang="en-GB" sz="2400" dirty="0"/>
              <a:t>             in the cylinder as they warm up.</a:t>
            </a:r>
          </a:p>
          <a:p>
            <a:r>
              <a:rPr lang="en-GB" sz="2400" dirty="0"/>
              <a:t>              </a:t>
            </a:r>
            <a:r>
              <a:rPr lang="en-GB" sz="2400" b="1" dirty="0">
                <a:solidFill>
                  <a:srgbClr val="00B050"/>
                </a:solidFill>
              </a:rPr>
              <a:t> </a:t>
            </a:r>
          </a:p>
          <a:p>
            <a:r>
              <a:rPr lang="en-GB" sz="2400" dirty="0"/>
              <a:t>         b. Explain why these heated molecules cause a </a:t>
            </a:r>
          </a:p>
          <a:p>
            <a:r>
              <a:rPr lang="en-GB" sz="2400" dirty="0"/>
              <a:t>              greater pressure inside the cylinder.</a:t>
            </a:r>
          </a:p>
          <a:p>
            <a:r>
              <a:rPr lang="en-GB" sz="2400" dirty="0"/>
              <a:t>               </a:t>
            </a:r>
            <a:r>
              <a:rPr lang="en-GB" sz="2400" b="1" dirty="0">
                <a:solidFill>
                  <a:srgbClr val="00B050"/>
                </a:solidFill>
              </a:rPr>
              <a:t> </a:t>
            </a:r>
          </a:p>
          <a:p>
            <a:endParaRPr lang="en-GB" sz="2400" dirty="0"/>
          </a:p>
          <a:p>
            <a:pPr marL="457200" indent="-457200">
              <a:buAutoNum type="arabicPeriod" startAt="5"/>
            </a:pPr>
            <a:r>
              <a:rPr lang="en-GB" sz="2400" dirty="0"/>
              <a:t>When air is blown into a balloon, it expands equally in all</a:t>
            </a:r>
          </a:p>
          <a:p>
            <a:r>
              <a:rPr lang="en-GB" sz="2400" dirty="0"/>
              <a:t>       directions. The best explanation for this is:</a:t>
            </a:r>
          </a:p>
          <a:p>
            <a:r>
              <a:rPr lang="en-GB" sz="2400" dirty="0"/>
              <a:t>	A - The gas molecules in the balloon are expanding</a:t>
            </a:r>
          </a:p>
          <a:p>
            <a:r>
              <a:rPr lang="en-GB" sz="2400" dirty="0"/>
              <a:t>	B - Internal air pressure acts at right angles to the balloon </a:t>
            </a:r>
          </a:p>
          <a:p>
            <a:r>
              <a:rPr lang="en-GB" sz="2400" dirty="0"/>
              <a:t>                   surface.</a:t>
            </a:r>
          </a:p>
          <a:p>
            <a:r>
              <a:rPr lang="en-GB" sz="2400" dirty="0"/>
              <a:t>             C -  As more air is blown in, the temperature increases causing</a:t>
            </a:r>
          </a:p>
          <a:p>
            <a:r>
              <a:rPr lang="en-GB" sz="2400" dirty="0"/>
              <a:t>                   the balloon to expand. </a:t>
            </a:r>
          </a:p>
          <a:p>
            <a:r>
              <a:rPr lang="en-GB" sz="2400" dirty="0"/>
              <a:t>	      </a:t>
            </a:r>
          </a:p>
        </p:txBody>
      </p:sp>
      <p:pic>
        <p:nvPicPr>
          <p:cNvPr id="5" name="Picture 4">
            <a:extLst>
              <a:ext uri="{FF2B5EF4-FFF2-40B4-BE49-F238E27FC236}">
                <a16:creationId xmlns:a16="http://schemas.microsoft.com/office/drawing/2014/main" xmlns="" id="{44F54E13-525B-42D0-9C8C-2758AEF3CDE2}"/>
              </a:ext>
            </a:extLst>
          </p:cNvPr>
          <p:cNvPicPr>
            <a:picLocks noChangeAspect="1"/>
          </p:cNvPicPr>
          <p:nvPr/>
        </p:nvPicPr>
        <p:blipFill rotWithShape="1">
          <a:blip r:embed="rId2">
            <a:extLst>
              <a:ext uri="{28A0092B-C50C-407E-A947-70E740481C1C}">
                <a14:useLocalDpi xmlns:a14="http://schemas.microsoft.com/office/drawing/2010/main" val="0"/>
              </a:ext>
            </a:extLst>
          </a:blip>
          <a:srcRect l="25112" t="-226" r="15192" b="-226"/>
          <a:stretch/>
        </p:blipFill>
        <p:spPr>
          <a:xfrm>
            <a:off x="7452320" y="657041"/>
            <a:ext cx="1439880" cy="2205926"/>
          </a:xfrm>
          <a:prstGeom prst="rect">
            <a:avLst/>
          </a:prstGeom>
        </p:spPr>
      </p:pic>
    </p:spTree>
    <p:extLst>
      <p:ext uri="{BB962C8B-B14F-4D97-AF65-F5344CB8AC3E}">
        <p14:creationId xmlns:p14="http://schemas.microsoft.com/office/powerpoint/2010/main" val="13951118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solidFill>
              </a:rPr>
              <a:t>Particle model and pressure –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17564"/>
            <a:ext cx="8915400" cy="6001643"/>
          </a:xfrm>
          <a:prstGeom prst="rect">
            <a:avLst/>
          </a:prstGeom>
          <a:noFill/>
        </p:spPr>
        <p:txBody>
          <a:bodyPr wrap="square" rtlCol="0">
            <a:spAutoFit/>
          </a:bodyPr>
          <a:lstStyle/>
          <a:p>
            <a:r>
              <a:rPr lang="en-GB" sz="2400" dirty="0"/>
              <a:t>6. Container A is filled with a gas represented by the dots. The</a:t>
            </a:r>
          </a:p>
          <a:p>
            <a:r>
              <a:rPr lang="en-GB" sz="2400" dirty="0"/>
              <a:t>     container size is increased but the mass of gas remains the same.</a:t>
            </a:r>
          </a:p>
          <a:p>
            <a:r>
              <a:rPr lang="en-GB" sz="2400" dirty="0"/>
              <a:t>		        </a:t>
            </a:r>
            <a:r>
              <a:rPr lang="en-GB" dirty="0"/>
              <a:t>Container A                Container B</a:t>
            </a:r>
            <a:r>
              <a:rPr lang="en-GB" sz="2400" dirty="0"/>
              <a:t>	</a:t>
            </a:r>
          </a:p>
          <a:p>
            <a:endParaRPr lang="en-GB" sz="2400" dirty="0"/>
          </a:p>
          <a:p>
            <a:endParaRPr lang="en-GB" sz="2400" dirty="0"/>
          </a:p>
          <a:p>
            <a:endParaRPr lang="en-GB" sz="2400" dirty="0"/>
          </a:p>
          <a:p>
            <a:endParaRPr lang="en-GB" sz="2400" dirty="0"/>
          </a:p>
          <a:p>
            <a:r>
              <a:rPr lang="en-GB" sz="2400" dirty="0"/>
              <a:t>    a. Explain, using the particle model, why the pressure will be less</a:t>
            </a:r>
          </a:p>
          <a:p>
            <a:r>
              <a:rPr lang="en-GB" sz="2400" dirty="0"/>
              <a:t>         inside container B.</a:t>
            </a:r>
          </a:p>
          <a:p>
            <a:r>
              <a:rPr lang="en-GB" sz="2400" b="1" dirty="0">
                <a:solidFill>
                  <a:srgbClr val="00B050"/>
                </a:solidFill>
              </a:rPr>
              <a:t>           </a:t>
            </a:r>
          </a:p>
          <a:p>
            <a:endParaRPr lang="en-GB" sz="2400" b="1" dirty="0">
              <a:solidFill>
                <a:srgbClr val="00B050"/>
              </a:solidFill>
            </a:endParaRPr>
          </a:p>
          <a:p>
            <a:r>
              <a:rPr lang="en-GB" sz="2400" dirty="0"/>
              <a:t>     b. Container A has a volume of 2 m</a:t>
            </a:r>
            <a:r>
              <a:rPr lang="en-GB" sz="2400" b="1" baseline="30000" dirty="0"/>
              <a:t>3</a:t>
            </a:r>
            <a:r>
              <a:rPr lang="en-GB" sz="2400" dirty="0"/>
              <a:t> and a pressure of 100 000 Pa.</a:t>
            </a:r>
          </a:p>
          <a:p>
            <a:r>
              <a:rPr lang="en-GB" sz="2400" dirty="0"/>
              <a:t>          If the expanded container has a volume of 5 m</a:t>
            </a:r>
            <a:r>
              <a:rPr lang="en-GB" sz="2400" b="1" baseline="30000" dirty="0"/>
              <a:t>3</a:t>
            </a:r>
            <a:r>
              <a:rPr lang="en-GB" sz="2400" dirty="0"/>
              <a:t>, what will the</a:t>
            </a:r>
          </a:p>
          <a:p>
            <a:r>
              <a:rPr lang="en-GB" sz="2400" dirty="0"/>
              <a:t>          pressure be in container B? </a:t>
            </a:r>
          </a:p>
          <a:p>
            <a:endParaRPr lang="en-GB" sz="2400" dirty="0"/>
          </a:p>
          <a:p>
            <a:endParaRPr lang="en-GB" sz="2400" dirty="0"/>
          </a:p>
        </p:txBody>
      </p:sp>
      <p:pic>
        <p:nvPicPr>
          <p:cNvPr id="5" name="Picture 4">
            <a:extLst>
              <a:ext uri="{FF2B5EF4-FFF2-40B4-BE49-F238E27FC236}">
                <a16:creationId xmlns:a16="http://schemas.microsoft.com/office/drawing/2014/main" xmlns="" id="{A2F2624F-6F0B-41DC-BD46-0C31A475027D}"/>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3">
                    <a14:imgEffect>
                      <a14:colorTemperature colorTemp="5866"/>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2915816" y="1772816"/>
            <a:ext cx="2664296" cy="1342637"/>
          </a:xfrm>
          <a:prstGeom prst="rect">
            <a:avLst/>
          </a:prstGeom>
        </p:spPr>
      </p:pic>
    </p:spTree>
    <p:extLst>
      <p:ext uri="{BB962C8B-B14F-4D97-AF65-F5344CB8AC3E}">
        <p14:creationId xmlns:p14="http://schemas.microsoft.com/office/powerpoint/2010/main" val="14191277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786199"/>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r>
              <a:rPr lang="en-GB" sz="3600" b="1" dirty="0">
                <a:solidFill>
                  <a:schemeClr val="tx1">
                    <a:lumMod val="50000"/>
                    <a:lumOff val="50000"/>
                  </a:schemeClr>
                </a:solidFill>
              </a:rPr>
              <a:t>Particle model </a:t>
            </a:r>
          </a:p>
          <a:p>
            <a:r>
              <a:rPr lang="en-GB" sz="3600" b="1" dirty="0">
                <a:solidFill>
                  <a:schemeClr val="tx1">
                    <a:lumMod val="50000"/>
                    <a:lumOff val="50000"/>
                  </a:schemeClr>
                </a:solidFill>
              </a:rPr>
              <a:t>and pressure</a:t>
            </a:r>
          </a:p>
          <a:p>
            <a:endParaRPr lang="en-GB" sz="2800" b="1" dirty="0">
              <a:solidFill>
                <a:schemeClr val="tx1">
                  <a:lumMod val="50000"/>
                  <a:lumOff val="50000"/>
                </a:schemeClr>
              </a:solidFill>
            </a:endParaRPr>
          </a:p>
          <a:p>
            <a:pPr marL="457200" indent="-457200">
              <a:lnSpc>
                <a:spcPct val="150000"/>
              </a:lnSpc>
              <a:buFont typeface="Arial" charset="0"/>
              <a:buChar char="•"/>
            </a:pPr>
            <a:r>
              <a:rPr lang="en-GB" sz="2400" b="1" dirty="0">
                <a:solidFill>
                  <a:schemeClr val="tx1">
                    <a:lumMod val="50000"/>
                    <a:lumOff val="50000"/>
                  </a:schemeClr>
                </a:solidFill>
              </a:rPr>
              <a:t>Particle motion in gases</a:t>
            </a:r>
          </a:p>
          <a:p>
            <a:pPr marL="457200" indent="-457200">
              <a:lnSpc>
                <a:spcPct val="150000"/>
              </a:lnSpc>
              <a:buFont typeface="Arial" charset="0"/>
              <a:buChar char="•"/>
            </a:pPr>
            <a:r>
              <a:rPr lang="en-GB" sz="2400" b="1" dirty="0">
                <a:solidFill>
                  <a:schemeClr val="tx1">
                    <a:lumMod val="50000"/>
                    <a:lumOff val="50000"/>
                  </a:schemeClr>
                </a:solidFill>
              </a:rPr>
              <a:t>Pressure in gases (physics only)</a:t>
            </a:r>
          </a:p>
          <a:p>
            <a:pPr marL="457200" indent="-457200">
              <a:lnSpc>
                <a:spcPct val="150000"/>
              </a:lnSpc>
              <a:buFont typeface="Arial" charset="0"/>
              <a:buChar char="•"/>
            </a:pPr>
            <a:r>
              <a:rPr lang="en-GB" sz="2400" b="1" dirty="0">
                <a:solidFill>
                  <a:schemeClr val="tx1">
                    <a:lumMod val="50000"/>
                    <a:lumOff val="50000"/>
                  </a:schemeClr>
                </a:solidFill>
              </a:rPr>
              <a:t>Increasing the pressure of a gas</a:t>
            </a:r>
          </a:p>
          <a:p>
            <a:pPr>
              <a:lnSpc>
                <a:spcPct val="150000"/>
              </a:lnSpc>
            </a:pPr>
            <a:r>
              <a:rPr lang="en-GB" sz="2400" b="1" dirty="0">
                <a:solidFill>
                  <a:schemeClr val="tx1">
                    <a:lumMod val="50000"/>
                    <a:lumOff val="50000"/>
                  </a:schemeClr>
                </a:solidFill>
              </a:rPr>
              <a:t>	  (physics only – Higher Tier)</a:t>
            </a:r>
            <a:endParaRPr lang="en-GB" sz="2400" dirty="0"/>
          </a:p>
          <a:p>
            <a:endParaRPr lang="en-GB" dirty="0"/>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0503" y="802524"/>
            <a:ext cx="4513497" cy="5257800"/>
          </a:xfrm>
          <a:prstGeom prst="rect">
            <a:avLst/>
          </a:prstGeom>
        </p:spPr>
      </p:pic>
    </p:spTree>
    <p:extLst>
      <p:ext uri="{BB962C8B-B14F-4D97-AF65-F5344CB8AC3E}">
        <p14:creationId xmlns:p14="http://schemas.microsoft.com/office/powerpoint/2010/main" val="15353065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solidFill>
              </a:rPr>
              <a:t>Particle model and pressure –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0" y="640314"/>
            <a:ext cx="8964488" cy="6032421"/>
          </a:xfrm>
          <a:prstGeom prst="rect">
            <a:avLst/>
          </a:prstGeom>
          <a:noFill/>
        </p:spPr>
        <p:txBody>
          <a:bodyPr wrap="square" rtlCol="0">
            <a:spAutoFit/>
          </a:bodyPr>
          <a:lstStyle/>
          <a:p>
            <a:pPr marL="457200" indent="-457200">
              <a:buAutoNum type="arabicPeriod"/>
            </a:pPr>
            <a:r>
              <a:rPr lang="en-GB" sz="2400" dirty="0"/>
              <a:t>What happens to the temperature of a gas if the average kinetic</a:t>
            </a:r>
          </a:p>
          <a:p>
            <a:r>
              <a:rPr lang="en-GB" sz="2400" dirty="0"/>
              <a:t>       energy of the particles of the gas increases? </a:t>
            </a:r>
          </a:p>
          <a:p>
            <a:r>
              <a:rPr lang="en-GB" sz="2400" dirty="0"/>
              <a:t>       </a:t>
            </a:r>
            <a:r>
              <a:rPr lang="en-GB" sz="2200" b="1" dirty="0">
                <a:solidFill>
                  <a:srgbClr val="00B050"/>
                </a:solidFill>
              </a:rPr>
              <a:t>The temperature will increase.</a:t>
            </a:r>
          </a:p>
          <a:p>
            <a:r>
              <a:rPr lang="en-GB" sz="2400" dirty="0"/>
              <a:t>2.    The sealed gas syringe is filled with air.  </a:t>
            </a:r>
          </a:p>
          <a:p>
            <a:endParaRPr lang="en-GB" sz="2400" dirty="0"/>
          </a:p>
          <a:p>
            <a:pPr>
              <a:lnSpc>
                <a:spcPct val="150000"/>
              </a:lnSpc>
            </a:pPr>
            <a:endParaRPr lang="en-GB" sz="2400" dirty="0"/>
          </a:p>
          <a:p>
            <a:r>
              <a:rPr lang="en-GB" sz="2400" dirty="0"/>
              <a:t>        Explain what will happen to the syringe if the air inside is gently</a:t>
            </a:r>
          </a:p>
          <a:p>
            <a:r>
              <a:rPr lang="en-GB" sz="2400" dirty="0"/>
              <a:t>        heated.</a:t>
            </a:r>
          </a:p>
          <a:p>
            <a:r>
              <a:rPr lang="en-GB" sz="2400" dirty="0"/>
              <a:t> </a:t>
            </a:r>
            <a:r>
              <a:rPr lang="en-GB" sz="2200" dirty="0"/>
              <a:t>      </a:t>
            </a:r>
            <a:r>
              <a:rPr lang="en-GB" sz="2200" b="1" dirty="0">
                <a:solidFill>
                  <a:srgbClr val="00B050"/>
                </a:solidFill>
              </a:rPr>
              <a:t>The air molecules will gain kinetic energy. This will create a</a:t>
            </a:r>
          </a:p>
          <a:p>
            <a:r>
              <a:rPr lang="en-GB" sz="2200" b="1" dirty="0">
                <a:solidFill>
                  <a:srgbClr val="00B050"/>
                </a:solidFill>
              </a:rPr>
              <a:t>       greater force inside the syringe so the piston will move outwards.</a:t>
            </a:r>
          </a:p>
          <a:p>
            <a:pPr marL="457200" indent="-457200">
              <a:buAutoNum type="arabicPeriod" startAt="3"/>
            </a:pPr>
            <a:r>
              <a:rPr lang="en-GB" sz="2400" dirty="0"/>
              <a:t>As a weather balloon rises high in the atmosphere its volume</a:t>
            </a:r>
          </a:p>
          <a:p>
            <a:r>
              <a:rPr lang="en-GB" sz="2400" dirty="0"/>
              <a:t>      increases. Explain why this happens.	</a:t>
            </a:r>
          </a:p>
          <a:p>
            <a:r>
              <a:rPr lang="en-GB" sz="2200" dirty="0"/>
              <a:t>       </a:t>
            </a:r>
            <a:r>
              <a:rPr lang="en-GB" sz="2200" b="1" dirty="0">
                <a:solidFill>
                  <a:srgbClr val="00B050"/>
                </a:solidFill>
              </a:rPr>
              <a:t>As the weather balloon gets higher the pressure on the outside of </a:t>
            </a:r>
          </a:p>
          <a:p>
            <a:r>
              <a:rPr lang="en-GB" sz="2200" b="1" dirty="0">
                <a:solidFill>
                  <a:srgbClr val="00B050"/>
                </a:solidFill>
              </a:rPr>
              <a:t>       the balloon decreases, making the balloon expand.  The </a:t>
            </a:r>
          </a:p>
          <a:p>
            <a:r>
              <a:rPr lang="en-GB" sz="2200" b="1" dirty="0">
                <a:solidFill>
                  <a:srgbClr val="00B050"/>
                </a:solidFill>
              </a:rPr>
              <a:t>       temperature decreases as you get higher, but the effect of pressure </a:t>
            </a:r>
          </a:p>
          <a:p>
            <a:r>
              <a:rPr lang="en-GB" sz="2200" b="1" dirty="0">
                <a:solidFill>
                  <a:srgbClr val="00B050"/>
                </a:solidFill>
              </a:rPr>
              <a:t>       decreasing is greater.</a:t>
            </a:r>
          </a:p>
        </p:txBody>
      </p:sp>
      <p:pic>
        <p:nvPicPr>
          <p:cNvPr id="5" name="Picture 4">
            <a:extLst>
              <a:ext uri="{FF2B5EF4-FFF2-40B4-BE49-F238E27FC236}">
                <a16:creationId xmlns:a16="http://schemas.microsoft.com/office/drawing/2014/main" xmlns="" id="{DE636807-311B-4BAB-A705-0274179A1CD6}"/>
              </a:ext>
            </a:extLst>
          </p:cNvPr>
          <p:cNvPicPr>
            <a:picLocks noChangeAspect="1"/>
          </p:cNvPicPr>
          <p:nvPr/>
        </p:nvPicPr>
        <p:blipFill rotWithShape="1">
          <a:blip r:embed="rId2">
            <a:extLst>
              <a:ext uri="{28A0092B-C50C-407E-A947-70E740481C1C}">
                <a14:useLocalDpi xmlns:a14="http://schemas.microsoft.com/office/drawing/2010/main" val="0"/>
              </a:ext>
            </a:extLst>
          </a:blip>
          <a:srcRect l="29451" t="2457" r="-706" b="2457"/>
          <a:stretch/>
        </p:blipFill>
        <p:spPr>
          <a:xfrm>
            <a:off x="2461625" y="2276872"/>
            <a:ext cx="3456384" cy="819599"/>
          </a:xfrm>
          <a:prstGeom prst="rect">
            <a:avLst/>
          </a:prstGeom>
        </p:spPr>
      </p:pic>
      <p:cxnSp>
        <p:nvCxnSpPr>
          <p:cNvPr id="8" name="Straight Connector 7">
            <a:extLst>
              <a:ext uri="{FF2B5EF4-FFF2-40B4-BE49-F238E27FC236}">
                <a16:creationId xmlns:a16="http://schemas.microsoft.com/office/drawing/2014/main" xmlns="" id="{A8815E04-99C3-4C3B-ABCB-6BBFB848196F}"/>
              </a:ext>
            </a:extLst>
          </p:cNvPr>
          <p:cNvCxnSpPr>
            <a:cxnSpLocks/>
            <a:stCxn id="5" idx="1"/>
            <a:endCxn id="5" idx="1"/>
          </p:cNvCxnSpPr>
          <p:nvPr/>
        </p:nvCxnSpPr>
        <p:spPr>
          <a:xfrm>
            <a:off x="2461625" y="2686672"/>
            <a:ext cx="0"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xmlns="" id="{72D606A2-0652-4B76-9647-A3DA34AD176B}"/>
              </a:ext>
            </a:extLst>
          </p:cNvPr>
          <p:cNvSpPr/>
          <p:nvPr/>
        </p:nvSpPr>
        <p:spPr>
          <a:xfrm>
            <a:off x="2461624" y="2636912"/>
            <a:ext cx="166159" cy="103764"/>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648653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solidFill>
              </a:rPr>
              <a:t>Particle model and pressure –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9309" y="657041"/>
            <a:ext cx="9130207" cy="6186309"/>
          </a:xfrm>
          <a:prstGeom prst="rect">
            <a:avLst/>
          </a:prstGeom>
          <a:noFill/>
        </p:spPr>
        <p:txBody>
          <a:bodyPr wrap="square" rtlCol="0">
            <a:spAutoFit/>
          </a:bodyPr>
          <a:lstStyle/>
          <a:p>
            <a:pPr>
              <a:lnSpc>
                <a:spcPct val="150000"/>
              </a:lnSpc>
            </a:pPr>
            <a:r>
              <a:rPr lang="en-GB" sz="2400" dirty="0"/>
              <a:t>4.    A cylinder of oxygen is left in the sunshine for an hour.  </a:t>
            </a:r>
          </a:p>
          <a:p>
            <a:r>
              <a:rPr lang="en-GB" sz="2400" dirty="0"/>
              <a:t>        a. Explain what will happen to the oxygen molecules</a:t>
            </a:r>
          </a:p>
          <a:p>
            <a:r>
              <a:rPr lang="en-GB" sz="2400" dirty="0"/>
              <a:t>             in the cylinder as they warm up.</a:t>
            </a:r>
          </a:p>
          <a:p>
            <a:r>
              <a:rPr lang="en-GB" sz="2400" dirty="0"/>
              <a:t>              </a:t>
            </a:r>
            <a:r>
              <a:rPr lang="en-GB" sz="2400" b="1" dirty="0">
                <a:solidFill>
                  <a:srgbClr val="00B050"/>
                </a:solidFill>
              </a:rPr>
              <a:t>They will gain kinetic energy, so move faster.</a:t>
            </a:r>
          </a:p>
          <a:p>
            <a:r>
              <a:rPr lang="en-GB" sz="2400" dirty="0"/>
              <a:t>         b. Explain why these heated molecules cause a </a:t>
            </a:r>
          </a:p>
          <a:p>
            <a:r>
              <a:rPr lang="en-GB" sz="2400" dirty="0"/>
              <a:t>              greater pressure inside the cylinder.</a:t>
            </a:r>
          </a:p>
          <a:p>
            <a:r>
              <a:rPr lang="en-GB" sz="2400" dirty="0"/>
              <a:t>               </a:t>
            </a:r>
            <a:r>
              <a:rPr lang="en-GB" sz="2400" b="1" dirty="0">
                <a:solidFill>
                  <a:srgbClr val="00B050"/>
                </a:solidFill>
              </a:rPr>
              <a:t>The higher kinetic energy causes the molecules to hit the</a:t>
            </a:r>
          </a:p>
          <a:p>
            <a:r>
              <a:rPr lang="en-GB" sz="2400" b="1" dirty="0">
                <a:solidFill>
                  <a:srgbClr val="00B050"/>
                </a:solidFill>
              </a:rPr>
              <a:t>               surface of the cylinder more often and with greater force.</a:t>
            </a:r>
            <a:endParaRPr lang="en-GB" sz="2400" dirty="0"/>
          </a:p>
          <a:p>
            <a:pPr marL="457200" indent="-457200">
              <a:buAutoNum type="arabicPeriod" startAt="5"/>
            </a:pPr>
            <a:r>
              <a:rPr lang="en-GB" sz="2400" dirty="0"/>
              <a:t>When air is blown into a balloon, it expands equally in all</a:t>
            </a:r>
          </a:p>
          <a:p>
            <a:r>
              <a:rPr lang="en-GB" sz="2400" dirty="0"/>
              <a:t>       directions. The best explanation for this is:</a:t>
            </a:r>
          </a:p>
          <a:p>
            <a:r>
              <a:rPr lang="en-GB" sz="2400" dirty="0"/>
              <a:t>	A - The gas molecules in the balloon are expanding</a:t>
            </a:r>
          </a:p>
          <a:p>
            <a:r>
              <a:rPr lang="en-GB" sz="2400" dirty="0"/>
              <a:t>	</a:t>
            </a:r>
            <a:r>
              <a:rPr lang="en-GB" sz="2400" b="1" dirty="0">
                <a:solidFill>
                  <a:srgbClr val="00B050"/>
                </a:solidFill>
              </a:rPr>
              <a:t>B - Internal air pressure acts at right angles to the balloon </a:t>
            </a:r>
          </a:p>
          <a:p>
            <a:r>
              <a:rPr lang="en-GB" sz="2400" b="1" dirty="0">
                <a:solidFill>
                  <a:srgbClr val="00B050"/>
                </a:solidFill>
              </a:rPr>
              <a:t>                   surface.</a:t>
            </a:r>
          </a:p>
          <a:p>
            <a:r>
              <a:rPr lang="en-GB" sz="2400" dirty="0"/>
              <a:t>             C -  As more air is blown in, the temperature increases causing</a:t>
            </a:r>
          </a:p>
          <a:p>
            <a:r>
              <a:rPr lang="en-GB" sz="2400" dirty="0"/>
              <a:t>                   the balloon to expand. </a:t>
            </a:r>
          </a:p>
          <a:p>
            <a:r>
              <a:rPr lang="en-GB" sz="2400" dirty="0"/>
              <a:t>	      </a:t>
            </a:r>
          </a:p>
        </p:txBody>
      </p:sp>
      <p:pic>
        <p:nvPicPr>
          <p:cNvPr id="5" name="Picture 4">
            <a:extLst>
              <a:ext uri="{FF2B5EF4-FFF2-40B4-BE49-F238E27FC236}">
                <a16:creationId xmlns:a16="http://schemas.microsoft.com/office/drawing/2014/main" xmlns="" id="{44F54E13-525B-42D0-9C8C-2758AEF3CDE2}"/>
              </a:ext>
            </a:extLst>
          </p:cNvPr>
          <p:cNvPicPr>
            <a:picLocks noChangeAspect="1"/>
          </p:cNvPicPr>
          <p:nvPr/>
        </p:nvPicPr>
        <p:blipFill rotWithShape="1">
          <a:blip r:embed="rId2">
            <a:extLst>
              <a:ext uri="{28A0092B-C50C-407E-A947-70E740481C1C}">
                <a14:useLocalDpi xmlns:a14="http://schemas.microsoft.com/office/drawing/2010/main" val="0"/>
              </a:ext>
            </a:extLst>
          </a:blip>
          <a:srcRect l="25112" t="-226" r="15192" b="-226"/>
          <a:stretch/>
        </p:blipFill>
        <p:spPr>
          <a:xfrm>
            <a:off x="7452320" y="657041"/>
            <a:ext cx="1439880" cy="2205926"/>
          </a:xfrm>
          <a:prstGeom prst="rect">
            <a:avLst/>
          </a:prstGeom>
        </p:spPr>
      </p:pic>
    </p:spTree>
    <p:extLst>
      <p:ext uri="{BB962C8B-B14F-4D97-AF65-F5344CB8AC3E}">
        <p14:creationId xmlns:p14="http://schemas.microsoft.com/office/powerpoint/2010/main" val="41948514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solidFill>
              </a:rPr>
              <a:t>Particle model and pressure –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17564"/>
            <a:ext cx="8915400" cy="6001643"/>
          </a:xfrm>
          <a:prstGeom prst="rect">
            <a:avLst/>
          </a:prstGeom>
          <a:noFill/>
        </p:spPr>
        <p:txBody>
          <a:bodyPr wrap="square" rtlCol="0">
            <a:spAutoFit/>
          </a:bodyPr>
          <a:lstStyle/>
          <a:p>
            <a:r>
              <a:rPr lang="en-GB" sz="2400" dirty="0"/>
              <a:t>6. Container A is filled with a gas represented by the dots. The</a:t>
            </a:r>
          </a:p>
          <a:p>
            <a:r>
              <a:rPr lang="en-GB" sz="2400" dirty="0"/>
              <a:t>     container size is increased but the mass of gas remains the same.</a:t>
            </a:r>
          </a:p>
          <a:p>
            <a:r>
              <a:rPr lang="en-GB" sz="2400" dirty="0"/>
              <a:t>		        </a:t>
            </a:r>
            <a:r>
              <a:rPr lang="en-GB" dirty="0"/>
              <a:t>Container A                Container B</a:t>
            </a:r>
            <a:r>
              <a:rPr lang="en-GB" sz="2400" dirty="0"/>
              <a:t>	</a:t>
            </a:r>
          </a:p>
          <a:p>
            <a:endParaRPr lang="en-GB" sz="2400" dirty="0"/>
          </a:p>
          <a:p>
            <a:endParaRPr lang="en-GB" sz="2400" dirty="0"/>
          </a:p>
          <a:p>
            <a:endParaRPr lang="en-GB" sz="2400" dirty="0"/>
          </a:p>
          <a:p>
            <a:endParaRPr lang="en-GB" sz="2400" dirty="0"/>
          </a:p>
          <a:p>
            <a:r>
              <a:rPr lang="en-GB" sz="2400" dirty="0"/>
              <a:t>    a. Explain, using the particle model, why the pressure will be less</a:t>
            </a:r>
          </a:p>
          <a:p>
            <a:r>
              <a:rPr lang="en-GB" sz="2400" dirty="0"/>
              <a:t>         inside container B.</a:t>
            </a:r>
          </a:p>
          <a:p>
            <a:r>
              <a:rPr lang="en-GB" sz="2400" b="1" dirty="0">
                <a:solidFill>
                  <a:srgbClr val="00B050"/>
                </a:solidFill>
              </a:rPr>
              <a:t>          Over a given area there will be fewer gas molecule collisions so</a:t>
            </a:r>
          </a:p>
          <a:p>
            <a:r>
              <a:rPr lang="en-GB" sz="2400" b="1" dirty="0">
                <a:solidFill>
                  <a:srgbClr val="00B050"/>
                </a:solidFill>
              </a:rPr>
              <a:t>          the pressure will be less.</a:t>
            </a:r>
          </a:p>
          <a:p>
            <a:r>
              <a:rPr lang="en-GB" sz="2400" dirty="0"/>
              <a:t>     b. Container A has a volume of  2 m</a:t>
            </a:r>
            <a:r>
              <a:rPr lang="en-GB" sz="2400" b="1" baseline="30000" dirty="0"/>
              <a:t>3</a:t>
            </a:r>
            <a:r>
              <a:rPr lang="en-GB" sz="2400" dirty="0"/>
              <a:t> and a pressure of 100 000 Pa.</a:t>
            </a:r>
          </a:p>
          <a:p>
            <a:r>
              <a:rPr lang="en-GB" sz="2400" dirty="0"/>
              <a:t>          If the expanded container has a volume of 5 m</a:t>
            </a:r>
            <a:r>
              <a:rPr lang="en-GB" sz="2400" b="1" baseline="30000" dirty="0"/>
              <a:t>3</a:t>
            </a:r>
            <a:r>
              <a:rPr lang="en-GB" sz="2400" dirty="0"/>
              <a:t>, what will the</a:t>
            </a:r>
          </a:p>
          <a:p>
            <a:r>
              <a:rPr lang="en-GB" sz="2400" dirty="0"/>
              <a:t>          pressure be in container B? </a:t>
            </a:r>
          </a:p>
          <a:p>
            <a:r>
              <a:rPr lang="en-GB" sz="2400" dirty="0"/>
              <a:t>        </a:t>
            </a:r>
            <a:r>
              <a:rPr lang="en-GB" sz="2400" b="1" i="1" dirty="0">
                <a:solidFill>
                  <a:srgbClr val="00B050"/>
                </a:solidFill>
              </a:rPr>
              <a:t>p</a:t>
            </a:r>
            <a:r>
              <a:rPr lang="en-GB" sz="2400" b="1" baseline="-25000" dirty="0">
                <a:solidFill>
                  <a:srgbClr val="00B050"/>
                </a:solidFill>
              </a:rPr>
              <a:t>1</a:t>
            </a:r>
            <a:r>
              <a:rPr lang="en-GB" sz="2400" b="1" i="1" dirty="0">
                <a:solidFill>
                  <a:srgbClr val="00B050"/>
                </a:solidFill>
              </a:rPr>
              <a:t>V</a:t>
            </a:r>
            <a:r>
              <a:rPr lang="en-GB" sz="2400" b="1" baseline="-25000" dirty="0">
                <a:solidFill>
                  <a:srgbClr val="00B050"/>
                </a:solidFill>
              </a:rPr>
              <a:t>1</a:t>
            </a:r>
            <a:r>
              <a:rPr lang="en-GB" sz="2400" b="1" i="1" dirty="0">
                <a:solidFill>
                  <a:srgbClr val="00B050"/>
                </a:solidFill>
              </a:rPr>
              <a:t> = p</a:t>
            </a:r>
            <a:r>
              <a:rPr lang="en-GB" sz="2400" b="1" baseline="-25000" dirty="0">
                <a:solidFill>
                  <a:srgbClr val="00B050"/>
                </a:solidFill>
              </a:rPr>
              <a:t>2</a:t>
            </a:r>
            <a:r>
              <a:rPr lang="en-GB" sz="2400" b="1" i="1" dirty="0">
                <a:solidFill>
                  <a:srgbClr val="00B050"/>
                </a:solidFill>
              </a:rPr>
              <a:t>V</a:t>
            </a:r>
            <a:r>
              <a:rPr lang="en-GB" sz="2400" b="1" baseline="-25000" dirty="0">
                <a:solidFill>
                  <a:srgbClr val="00B050"/>
                </a:solidFill>
              </a:rPr>
              <a:t>2        </a:t>
            </a:r>
            <a:r>
              <a:rPr lang="en-GB" sz="2400" b="1" dirty="0">
                <a:solidFill>
                  <a:srgbClr val="00B050"/>
                </a:solidFill>
              </a:rPr>
              <a:t> </a:t>
            </a:r>
            <a:r>
              <a:rPr lang="en-GB" sz="2400" b="1" u="sng" dirty="0">
                <a:solidFill>
                  <a:srgbClr val="00B050"/>
                </a:solidFill>
              </a:rPr>
              <a:t>100 000 x 2 </a:t>
            </a:r>
            <a:r>
              <a:rPr lang="en-GB" sz="2400" b="1" dirty="0">
                <a:solidFill>
                  <a:srgbClr val="00B050"/>
                </a:solidFill>
              </a:rPr>
              <a:t>= </a:t>
            </a:r>
            <a:r>
              <a:rPr lang="en-GB" sz="2400" b="1" i="1" dirty="0">
                <a:solidFill>
                  <a:srgbClr val="00B050"/>
                </a:solidFill>
              </a:rPr>
              <a:t>p</a:t>
            </a:r>
            <a:r>
              <a:rPr lang="en-GB" sz="2400" b="1" baseline="-25000" dirty="0">
                <a:solidFill>
                  <a:srgbClr val="00B050"/>
                </a:solidFill>
              </a:rPr>
              <a:t>2  	         </a:t>
            </a:r>
            <a:r>
              <a:rPr lang="en-GB" sz="2400" b="1" dirty="0">
                <a:solidFill>
                  <a:srgbClr val="00B050"/>
                </a:solidFill>
              </a:rPr>
              <a:t> New pressure = 40 000Pa</a:t>
            </a:r>
            <a:endParaRPr lang="en-GB" sz="2400" b="1" baseline="-25000" dirty="0">
              <a:solidFill>
                <a:srgbClr val="00B050"/>
              </a:solidFill>
            </a:endParaRPr>
          </a:p>
          <a:p>
            <a:r>
              <a:rPr lang="en-GB" sz="2400" b="1" dirty="0">
                <a:solidFill>
                  <a:srgbClr val="00B050"/>
                </a:solidFill>
              </a:rPr>
              <a:t>                                                   5</a:t>
            </a:r>
          </a:p>
        </p:txBody>
      </p:sp>
      <p:pic>
        <p:nvPicPr>
          <p:cNvPr id="5" name="Picture 4">
            <a:extLst>
              <a:ext uri="{FF2B5EF4-FFF2-40B4-BE49-F238E27FC236}">
                <a16:creationId xmlns:a16="http://schemas.microsoft.com/office/drawing/2014/main" xmlns="" id="{A2F2624F-6F0B-41DC-BD46-0C31A475027D}"/>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3">
                    <a14:imgEffect>
                      <a14:colorTemperature colorTemp="5866"/>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2915816" y="1772816"/>
            <a:ext cx="2664296" cy="1342637"/>
          </a:xfrm>
          <a:prstGeom prst="rect">
            <a:avLst/>
          </a:prstGeom>
        </p:spPr>
      </p:pic>
    </p:spTree>
    <p:extLst>
      <p:ext uri="{BB962C8B-B14F-4D97-AF65-F5344CB8AC3E}">
        <p14:creationId xmlns:p14="http://schemas.microsoft.com/office/powerpoint/2010/main" val="233600206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IXL Sci">
  <a:themeElements>
    <a:clrScheme name="Custom 1">
      <a:dk1>
        <a:sysClr val="windowText" lastClr="000000"/>
      </a:dk1>
      <a:lt1>
        <a:sysClr val="window" lastClr="FFFFFF"/>
      </a:lt1>
      <a:dk2>
        <a:srgbClr val="1F497D"/>
      </a:dk2>
      <a:lt2>
        <a:srgbClr val="EEECE1"/>
      </a:lt2>
      <a:accent1>
        <a:srgbClr val="4F81BD"/>
      </a:accent1>
      <a:accent2>
        <a:srgbClr val="FF99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XL Sci" id="{2CFE4A30-D880-BA4E-B779-8E17F61ECAC9}" vid="{3D4DF9ED-AD7F-6943-859C-106C4E33968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25250</TotalTime>
  <Words>5558</Words>
  <Application>Microsoft Office PowerPoint</Application>
  <PresentationFormat>On-screen Show (4:3)</PresentationFormat>
  <Paragraphs>559</Paragraphs>
  <Slides>45</Slides>
  <Notes>21</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45</vt:i4>
      </vt:variant>
    </vt:vector>
  </HeadingPairs>
  <TitlesOfParts>
    <vt:vector size="56" baseType="lpstr">
      <vt:lpstr>Arial</vt:lpstr>
      <vt:lpstr>Beirut</vt:lpstr>
      <vt:lpstr>Calibri</vt:lpstr>
      <vt:lpstr>Calibri Light</vt:lpstr>
      <vt:lpstr>Gill Sans</vt:lpstr>
      <vt:lpstr>Lato Medium</vt:lpstr>
      <vt:lpstr>News Gothic MT</vt:lpstr>
      <vt:lpstr>Times New Roman</vt:lpstr>
      <vt:lpstr>1_Office Theme</vt:lpstr>
      <vt:lpstr>Custom Design</vt:lpstr>
      <vt:lpstr>PIXL Sci</vt:lpstr>
      <vt:lpstr>PowerPoint Presentation</vt:lpstr>
      <vt:lpstr>Overview   Particle Model of Matter</vt:lpstr>
      <vt:lpstr>PowerPoint Presentation</vt:lpstr>
      <vt:lpstr>Changes of state and the particle model –  Density of materials</vt:lpstr>
      <vt:lpstr>     Changes of state and the particle model –  Density of materials</vt:lpstr>
      <vt:lpstr>Changes of state and the particle model –Density of materials</vt:lpstr>
      <vt:lpstr>Changes of state and the particle model – Changes of state</vt:lpstr>
      <vt:lpstr>PowerPoint Presentation</vt:lpstr>
      <vt:lpstr>Changes of state and the particle model – AnswerIT</vt:lpstr>
      <vt:lpstr>Changes of state and the particle model – AnswerIT</vt:lpstr>
      <vt:lpstr>Changes of state and the particle model – AnswerIT</vt:lpstr>
      <vt:lpstr>PowerPoint Presentation</vt:lpstr>
      <vt:lpstr>Changes of state and the particle model – AnswerIT</vt:lpstr>
      <vt:lpstr>Changes of state and the particle model – AnswerIT</vt:lpstr>
      <vt:lpstr>Changes of state and the particle model – AnswerIT</vt:lpstr>
      <vt:lpstr>PowerPoint Presentation</vt:lpstr>
      <vt:lpstr>Internal energy and energy transfers – Internal energy </vt:lpstr>
      <vt:lpstr>Internal energy and energy transfers – Internal energy </vt:lpstr>
      <vt:lpstr>Internal energy and energy transfers –  Temperature change in a system and specific heat capacity </vt:lpstr>
      <vt:lpstr>Internal energy and energy transfers –  Temperature change in a system and specific heat capacity </vt:lpstr>
      <vt:lpstr>   Internal energy and energy transfers –          Changes of heat and specific latent heat</vt:lpstr>
      <vt:lpstr>     Internal energy and energy transfers –          Changes of heat and specific latent heat</vt:lpstr>
      <vt:lpstr>     Internal energy and energy transfers –          Changes of heat and specific latent heat</vt:lpstr>
      <vt:lpstr>PowerPoint Presentation</vt:lpstr>
      <vt:lpstr>Internal energy and energy transfers – AnswerIT</vt:lpstr>
      <vt:lpstr>Internal energy and energy transfers – AnswerIT</vt:lpstr>
      <vt:lpstr>Internal energy and energy transfers – AnswerIT</vt:lpstr>
      <vt:lpstr>PowerPoint Presentation</vt:lpstr>
      <vt:lpstr>Internal energy and energy transfers – AnswerIT</vt:lpstr>
      <vt:lpstr>Internal energy and energy transfers – AnswerIT</vt:lpstr>
      <vt:lpstr>Internal energy and energy transfers – AnswerIT</vt:lpstr>
      <vt:lpstr>PowerPoint Presentation</vt:lpstr>
      <vt:lpstr>Particle model and pressure- particle motion in gases</vt:lpstr>
      <vt:lpstr>Particle model and pressure- particle motion in gases</vt:lpstr>
      <vt:lpstr>Particle model and pressure- pressure in gases (physics only)</vt:lpstr>
      <vt:lpstr>Particle model and pressure - pressure in gases (physics only)</vt:lpstr>
      <vt:lpstr>Particle model and pressure- Increasing the pressure of a gas              (physics only – Higher Tier) </vt:lpstr>
      <vt:lpstr>PowerPoint Presentation</vt:lpstr>
      <vt:lpstr>Particle model and pressure – AnswerIT</vt:lpstr>
      <vt:lpstr>Particle model and pressure – AnswerIT</vt:lpstr>
      <vt:lpstr>Particle model and pressure – AnswerIT</vt:lpstr>
      <vt:lpstr>PowerPoint Presentation</vt:lpstr>
      <vt:lpstr>Particle model and pressure – AnswerIT</vt:lpstr>
      <vt:lpstr>Particle model and pressure – AnswerIT</vt:lpstr>
      <vt:lpstr>Particle model and pressure – AnswerIT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Karen Collins</cp:lastModifiedBy>
  <cp:revision>439</cp:revision>
  <cp:lastPrinted>2017-05-23T14:15:43Z</cp:lastPrinted>
  <dcterms:created xsi:type="dcterms:W3CDTF">2016-03-05T09:38:04Z</dcterms:created>
  <dcterms:modified xsi:type="dcterms:W3CDTF">2017-11-03T10:03:22Z</dcterms:modified>
</cp:coreProperties>
</file>