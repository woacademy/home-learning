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5569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51641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161261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943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2BC5045-C4DA-46F0-8E5B-6FC0343384BB}" type="datetimeFigureOut">
              <a:rPr lang="en-GB" smtClean="0"/>
              <a:t>24/08/2018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373519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2BC5045-C4DA-46F0-8E5B-6FC0343384BB}" type="datetimeFigureOut">
              <a:rPr lang="en-GB" smtClean="0"/>
              <a:t>24/08/2018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2235758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BC5045-C4DA-46F0-8E5B-6FC0343384BB}" type="datetimeFigureOut">
              <a:rPr lang="en-GB" smtClean="0"/>
              <a:t>24/08/2018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1642791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267650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860780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66056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65984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C5045-C4DA-46F0-8E5B-6FC0343384BB}" type="datetimeFigureOut">
              <a:rPr lang="en-GB" smtClean="0"/>
              <a:t>24/08/2018</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58BE0A-355B-421B-A6CC-EE39C8C64FF0}" type="slidenum">
              <a:rPr lang="en-GB" smtClean="0"/>
              <a:t>‹#›</a:t>
            </a:fld>
            <a:endParaRPr lang="en-GB"/>
          </a:p>
        </p:txBody>
      </p:sp>
    </p:spTree>
    <p:extLst>
      <p:ext uri="{BB962C8B-B14F-4D97-AF65-F5344CB8AC3E}">
        <p14:creationId xmlns:p14="http://schemas.microsoft.com/office/powerpoint/2010/main" val="3598164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58047" y="-49283"/>
            <a:ext cx="9954227" cy="954107"/>
          </a:xfrm>
          <a:prstGeom prst="rect">
            <a:avLst/>
          </a:prstGeom>
          <a:noFill/>
        </p:spPr>
        <p:txBody>
          <a:bodyPr wrap="square" rtlCol="0">
            <a:spAutoFit/>
          </a:bodyPr>
          <a:lstStyle/>
          <a:p>
            <a:pPr algn="ctr"/>
            <a:r>
              <a:rPr lang="en-GB" sz="2800" u="sng" dirty="0" smtClean="0">
                <a:solidFill>
                  <a:srgbClr val="00B050"/>
                </a:solidFill>
                <a:latin typeface="Blue Ridge Heavy SF" panose="020BE200000000000000" pitchFamily="34" charset="0"/>
              </a:rPr>
              <a:t>GCSE Required Practical – Biology </a:t>
            </a:r>
            <a:r>
              <a:rPr lang="en-GB" sz="2800" u="sng" dirty="0">
                <a:solidFill>
                  <a:srgbClr val="00B050"/>
                </a:solidFill>
                <a:latin typeface="Blue Ridge Heavy SF" panose="020BE200000000000000" pitchFamily="34" charset="0"/>
              </a:rPr>
              <a:t>2</a:t>
            </a:r>
            <a:r>
              <a:rPr lang="en-GB" sz="2800" u="sng" dirty="0" smtClean="0">
                <a:solidFill>
                  <a:srgbClr val="00B050"/>
                </a:solidFill>
                <a:latin typeface="Blue Ridge Heavy SF" panose="020BE200000000000000" pitchFamily="34" charset="0"/>
              </a:rPr>
              <a:t> </a:t>
            </a:r>
            <a:r>
              <a:rPr lang="en-GB" sz="2800" u="sng" dirty="0" smtClean="0">
                <a:solidFill>
                  <a:srgbClr val="00B050"/>
                </a:solidFill>
                <a:latin typeface="Blue Ridge Heavy SF" panose="020BE200000000000000" pitchFamily="34" charset="0"/>
              </a:rPr>
              <a:t>– Investigating </a:t>
            </a:r>
            <a:r>
              <a:rPr lang="en-GB" sz="2800" u="sng" dirty="0" smtClean="0">
                <a:solidFill>
                  <a:srgbClr val="00B050"/>
                </a:solidFill>
                <a:latin typeface="Blue Ridge Heavy SF" panose="020BE200000000000000" pitchFamily="34" charset="0"/>
              </a:rPr>
              <a:t>Reaction Time</a:t>
            </a:r>
            <a:endParaRPr lang="en-GB" sz="2800" u="sng" dirty="0">
              <a:solidFill>
                <a:srgbClr val="00B050"/>
              </a:solidFill>
              <a:latin typeface="Blue Ridge Heavy SF" panose="020BE200000000000000" pitchFamily="34" charset="0"/>
            </a:endParaRPr>
          </a:p>
        </p:txBody>
      </p:sp>
      <p:sp>
        <p:nvSpPr>
          <p:cNvPr id="6" name="TextBox 5"/>
          <p:cNvSpPr txBox="1"/>
          <p:nvPr/>
        </p:nvSpPr>
        <p:spPr>
          <a:xfrm>
            <a:off x="159056" y="2239025"/>
            <a:ext cx="5989299"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dirty="0" smtClean="0"/>
              <a:t>To find out how a certain variable affects reaction time.</a:t>
            </a:r>
          </a:p>
        </p:txBody>
      </p:sp>
      <p:sp>
        <p:nvSpPr>
          <p:cNvPr id="7" name="TextBox 6"/>
          <p:cNvSpPr txBox="1"/>
          <p:nvPr/>
        </p:nvSpPr>
        <p:spPr>
          <a:xfrm>
            <a:off x="6371222" y="1254429"/>
            <a:ext cx="5678746" cy="341632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pPr marL="285750" indent="-285750">
              <a:buFontTx/>
              <a:buChar char="-"/>
            </a:pPr>
            <a:r>
              <a:rPr lang="en-GB" dirty="0" smtClean="0"/>
              <a:t>Dropping a metre stick</a:t>
            </a:r>
          </a:p>
          <a:p>
            <a:pPr marL="285750" indent="-285750">
              <a:buFontTx/>
              <a:buChar char="-"/>
            </a:pPr>
            <a:r>
              <a:rPr lang="en-GB" dirty="0" smtClean="0"/>
              <a:t>Or using an online reaction</a:t>
            </a:r>
          </a:p>
          <a:p>
            <a:r>
              <a:rPr lang="en-GB" dirty="0" smtClean="0"/>
              <a:t>test to measure reaction time</a:t>
            </a:r>
          </a:p>
          <a:p>
            <a:r>
              <a:rPr lang="en-GB" dirty="0" smtClean="0"/>
              <a:t>(reaction distance with metre</a:t>
            </a:r>
          </a:p>
          <a:p>
            <a:r>
              <a:rPr lang="en-GB" dirty="0"/>
              <a:t>s</a:t>
            </a:r>
            <a:r>
              <a:rPr lang="en-GB" dirty="0" smtClean="0"/>
              <a:t>tick).</a:t>
            </a:r>
          </a:p>
          <a:p>
            <a:pPr marL="285750" indent="-285750">
              <a:buFontTx/>
              <a:buChar char="-"/>
            </a:pPr>
            <a:r>
              <a:rPr lang="en-GB" dirty="0" smtClean="0"/>
              <a:t>Many IV’s could be </a:t>
            </a:r>
            <a:r>
              <a:rPr lang="en-GB" dirty="0" smtClean="0"/>
              <a:t>tested.</a:t>
            </a:r>
            <a:endParaRPr lang="en-GB" dirty="0" smtClean="0"/>
          </a:p>
          <a:p>
            <a:endParaRPr lang="en-GB" dirty="0" smtClean="0"/>
          </a:p>
          <a:p>
            <a:r>
              <a:rPr lang="en-GB" dirty="0" smtClean="0"/>
              <a:t>e.g. the effect of listening to music, drinking alcohol, drinking caffeine, taking drugs or medicines, gender, age, amount of </a:t>
            </a:r>
            <a:r>
              <a:rPr lang="en-GB" dirty="0" smtClean="0"/>
              <a:t>practice.</a:t>
            </a:r>
          </a:p>
          <a:p>
            <a:endParaRPr lang="en-GB" u="sng" dirty="0" smtClean="0"/>
          </a:p>
        </p:txBody>
      </p:sp>
      <p:sp>
        <p:nvSpPr>
          <p:cNvPr id="8" name="TextBox 7"/>
          <p:cNvSpPr txBox="1"/>
          <p:nvPr/>
        </p:nvSpPr>
        <p:spPr>
          <a:xfrm>
            <a:off x="246743" y="4800722"/>
            <a:ext cx="11803225" cy="1754326"/>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pPr marL="285750" indent="-285750">
              <a:buFontTx/>
              <a:buChar char="-"/>
            </a:pPr>
            <a:r>
              <a:rPr lang="en-GB" dirty="0" smtClean="0"/>
              <a:t>Control variables</a:t>
            </a:r>
            <a:r>
              <a:rPr lang="en-GB" dirty="0"/>
              <a:t> </a:t>
            </a:r>
            <a:r>
              <a:rPr lang="en-GB" dirty="0" smtClean="0"/>
              <a:t>– what had to be kept the same and how did you do it?</a:t>
            </a:r>
          </a:p>
          <a:p>
            <a:pPr marL="285750" indent="-285750">
              <a:buFontTx/>
              <a:buChar char="-"/>
            </a:pPr>
            <a:r>
              <a:rPr lang="en-GB" dirty="0" smtClean="0"/>
              <a:t>Why is it important to repeat? Calculate means </a:t>
            </a:r>
            <a:r>
              <a:rPr lang="en-GB" dirty="0" smtClean="0"/>
              <a:t>etc.</a:t>
            </a:r>
            <a:endParaRPr lang="en-GB" dirty="0" smtClean="0"/>
          </a:p>
          <a:p>
            <a:pPr marL="285750" indent="-285750">
              <a:buFontTx/>
              <a:buChar char="-"/>
            </a:pPr>
            <a:r>
              <a:rPr lang="en-GB" dirty="0" smtClean="0"/>
              <a:t>Range of results, resolution of measurements, uncertainty of </a:t>
            </a:r>
            <a:r>
              <a:rPr lang="en-GB" dirty="0" smtClean="0"/>
              <a:t>results.</a:t>
            </a:r>
            <a:endParaRPr lang="en-GB" dirty="0" smtClean="0"/>
          </a:p>
          <a:p>
            <a:pPr marL="285750" indent="-285750">
              <a:buFontTx/>
              <a:buChar char="-"/>
            </a:pPr>
            <a:r>
              <a:rPr lang="en-GB" dirty="0" smtClean="0"/>
              <a:t>Ethical </a:t>
            </a:r>
            <a:r>
              <a:rPr lang="en-GB" dirty="0" smtClean="0"/>
              <a:t>considerations.</a:t>
            </a:r>
            <a:endParaRPr lang="en-GB" dirty="0" smtClean="0"/>
          </a:p>
          <a:p>
            <a:pPr marL="285750" indent="-285750">
              <a:buFontTx/>
              <a:buChar char="-"/>
            </a:pPr>
            <a:r>
              <a:rPr lang="en-GB" dirty="0" smtClean="0"/>
              <a:t>Use of control groups to compare </a:t>
            </a:r>
            <a:r>
              <a:rPr lang="en-GB" dirty="0" smtClean="0"/>
              <a:t>to.</a:t>
            </a:r>
            <a:endParaRPr lang="en-GB" dirty="0" smtClean="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TextBox 4"/>
          <p:cNvSpPr txBox="1"/>
          <p:nvPr/>
        </p:nvSpPr>
        <p:spPr>
          <a:xfrm>
            <a:off x="79527" y="995508"/>
            <a:ext cx="6148355" cy="923330"/>
          </a:xfrm>
          <a:prstGeom prst="rect">
            <a:avLst/>
          </a:prstGeom>
          <a:noFill/>
        </p:spPr>
        <p:txBody>
          <a:bodyPr wrap="square" rtlCol="0">
            <a:spAutoFit/>
          </a:bodyPr>
          <a:lstStyle/>
          <a:p>
            <a:r>
              <a:rPr lang="en-GB" dirty="0" smtClean="0"/>
              <a:t>Reaction time – the time it takes for you to react. You need to detect the stimulus (eyes) and send an impulse to the brain (sensory neurone) and down to the hand (motor neurone)</a:t>
            </a:r>
            <a:endParaRPr lang="en-GB" dirty="0"/>
          </a:p>
        </p:txBody>
      </p:sp>
      <p:sp>
        <p:nvSpPr>
          <p:cNvPr id="12" name="TextBox 11"/>
          <p:cNvSpPr txBox="1"/>
          <p:nvPr/>
        </p:nvSpPr>
        <p:spPr>
          <a:xfrm>
            <a:off x="206858" y="3358955"/>
            <a:ext cx="5941497" cy="1200329"/>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Results</a:t>
            </a:r>
          </a:p>
          <a:p>
            <a:pPr marL="285750" indent="-285750">
              <a:buFontTx/>
              <a:buChar char="-"/>
            </a:pPr>
            <a:r>
              <a:rPr lang="en-GB" dirty="0" smtClean="0"/>
              <a:t>People react quicker with practice and if they are concentrating.</a:t>
            </a:r>
          </a:p>
          <a:p>
            <a:pPr marL="285750" indent="-285750">
              <a:buFontTx/>
              <a:buChar char="-"/>
            </a:pPr>
            <a:r>
              <a:rPr lang="en-GB" dirty="0" smtClean="0"/>
              <a:t>They react slower if distracted in any way.</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0090" y="1343034"/>
            <a:ext cx="2286000" cy="1962150"/>
          </a:xfrm>
          <a:prstGeom prst="rect">
            <a:avLst/>
          </a:prstGeom>
        </p:spPr>
      </p:pic>
    </p:spTree>
    <p:extLst>
      <p:ext uri="{BB962C8B-B14F-4D97-AF65-F5344CB8AC3E}">
        <p14:creationId xmlns:p14="http://schemas.microsoft.com/office/powerpoint/2010/main" val="316995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0320" y="-54907"/>
            <a:ext cx="10491360" cy="954107"/>
          </a:xfrm>
          <a:prstGeom prst="rect">
            <a:avLst/>
          </a:prstGeom>
          <a:noFill/>
        </p:spPr>
        <p:txBody>
          <a:bodyPr wrap="square" rtlCol="0">
            <a:spAutoFit/>
          </a:bodyPr>
          <a:lstStyle/>
          <a:p>
            <a:pPr algn="ctr"/>
            <a:r>
              <a:rPr lang="en-GB" sz="2800" u="sng" dirty="0" smtClean="0">
                <a:solidFill>
                  <a:srgbClr val="00B050"/>
                </a:solidFill>
                <a:latin typeface="Blue Ridge Heavy SF" panose="020BE200000000000000" pitchFamily="34" charset="0"/>
              </a:rPr>
              <a:t>GCSE Required Practical – Biology </a:t>
            </a:r>
            <a:r>
              <a:rPr lang="en-GB" sz="2800" u="sng" dirty="0">
                <a:solidFill>
                  <a:srgbClr val="00B050"/>
                </a:solidFill>
                <a:latin typeface="Blue Ridge Heavy SF" panose="020BE200000000000000" pitchFamily="34" charset="0"/>
              </a:rPr>
              <a:t>2</a:t>
            </a:r>
            <a:r>
              <a:rPr lang="en-GB" sz="2800" u="sng" dirty="0" smtClean="0">
                <a:solidFill>
                  <a:srgbClr val="00B050"/>
                </a:solidFill>
                <a:latin typeface="Blue Ridge Heavy SF" panose="020BE200000000000000" pitchFamily="34" charset="0"/>
              </a:rPr>
              <a:t> </a:t>
            </a:r>
            <a:r>
              <a:rPr lang="en-GB" sz="2800" u="sng" dirty="0" smtClean="0">
                <a:solidFill>
                  <a:srgbClr val="00B050"/>
                </a:solidFill>
                <a:latin typeface="Blue Ridge Heavy SF" panose="020BE200000000000000" pitchFamily="34" charset="0"/>
              </a:rPr>
              <a:t>– Measuring population size</a:t>
            </a:r>
            <a:endParaRPr lang="en-GB" sz="2800" u="sng" dirty="0">
              <a:solidFill>
                <a:srgbClr val="00B050"/>
              </a:solidFill>
              <a:latin typeface="Blue Ridge Heavy SF" panose="020BE200000000000000" pitchFamily="34" charset="0"/>
            </a:endParaRPr>
          </a:p>
        </p:txBody>
      </p:sp>
      <p:sp>
        <p:nvSpPr>
          <p:cNvPr id="6" name="TextBox 5"/>
          <p:cNvSpPr txBox="1"/>
          <p:nvPr/>
        </p:nvSpPr>
        <p:spPr>
          <a:xfrm>
            <a:off x="96412" y="1971686"/>
            <a:ext cx="5632259" cy="86177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sz="1600" dirty="0" smtClean="0"/>
              <a:t>To find out how different factors affect how species are distributed</a:t>
            </a:r>
          </a:p>
        </p:txBody>
      </p:sp>
      <p:sp>
        <p:nvSpPr>
          <p:cNvPr id="7" name="TextBox 6"/>
          <p:cNvSpPr txBox="1"/>
          <p:nvPr/>
        </p:nvSpPr>
        <p:spPr>
          <a:xfrm>
            <a:off x="6114197" y="1099829"/>
            <a:ext cx="5998815" cy="341632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a:p>
          <a:p>
            <a:endParaRPr lang="en-GB" u="sng" dirty="0" smtClean="0"/>
          </a:p>
          <a:p>
            <a:endParaRPr lang="en-GB" u="sng" dirty="0" smtClean="0"/>
          </a:p>
          <a:p>
            <a:endParaRPr lang="en-GB" dirty="0" smtClean="0"/>
          </a:p>
          <a:p>
            <a:endParaRPr lang="en-GB" dirty="0"/>
          </a:p>
          <a:p>
            <a:endParaRPr lang="en-GB" dirty="0" smtClean="0"/>
          </a:p>
          <a:p>
            <a:endParaRPr lang="en-GB" dirty="0" smtClean="0"/>
          </a:p>
          <a:p>
            <a:endParaRPr lang="en-GB" dirty="0"/>
          </a:p>
          <a:p>
            <a:pPr marL="285750" indent="-285750">
              <a:buFontTx/>
              <a:buChar char="-"/>
            </a:pPr>
            <a:endParaRPr lang="en-GB" dirty="0" smtClean="0"/>
          </a:p>
          <a:p>
            <a:pPr marL="285750" indent="-285750">
              <a:buFontTx/>
              <a:buChar char="-"/>
            </a:pPr>
            <a:r>
              <a:rPr lang="en-GB" dirty="0" smtClean="0"/>
              <a:t>Quadrat – frame of a certain size used to isolate a particular area so you can see what’s in that certain space</a:t>
            </a:r>
          </a:p>
        </p:txBody>
      </p:sp>
      <p:sp>
        <p:nvSpPr>
          <p:cNvPr id="8" name="TextBox 7"/>
          <p:cNvSpPr txBox="1"/>
          <p:nvPr/>
        </p:nvSpPr>
        <p:spPr>
          <a:xfrm>
            <a:off x="5909547" y="4691438"/>
            <a:ext cx="6151273" cy="2031325"/>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pPr marL="285750" indent="-285750">
              <a:buFontTx/>
              <a:buChar char="-"/>
            </a:pPr>
            <a:r>
              <a:rPr lang="en-GB" dirty="0" smtClean="0"/>
              <a:t>Accuracy of measurements – is it 100% accurate?</a:t>
            </a:r>
          </a:p>
          <a:p>
            <a:pPr marL="285750" indent="-285750">
              <a:buFontTx/>
              <a:buChar char="-"/>
            </a:pPr>
            <a:r>
              <a:rPr lang="en-GB" dirty="0" smtClean="0"/>
              <a:t>Reproducibility and validity of data – is it completely fair?</a:t>
            </a:r>
          </a:p>
          <a:p>
            <a:pPr marL="285750" indent="-285750">
              <a:buFontTx/>
              <a:buChar char="-"/>
            </a:pPr>
            <a:r>
              <a:rPr lang="en-GB" dirty="0" smtClean="0"/>
              <a:t>Calculate means and work out the total number in a certain area.</a:t>
            </a:r>
          </a:p>
          <a:p>
            <a:pPr marL="285750" indent="-285750">
              <a:buFontTx/>
              <a:buChar char="-"/>
            </a:pPr>
            <a:r>
              <a:rPr lang="en-GB" dirty="0" smtClean="0"/>
              <a:t>How could you improve the sample to make it </a:t>
            </a:r>
            <a:r>
              <a:rPr lang="en-GB" smtClean="0"/>
              <a:t>more representative?</a:t>
            </a:r>
            <a:endParaRPr lang="en-GB" dirty="0" smtClean="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TextBox 4"/>
          <p:cNvSpPr txBox="1"/>
          <p:nvPr/>
        </p:nvSpPr>
        <p:spPr>
          <a:xfrm>
            <a:off x="45101" y="850610"/>
            <a:ext cx="6063779" cy="1077218"/>
          </a:xfrm>
          <a:prstGeom prst="rect">
            <a:avLst/>
          </a:prstGeom>
          <a:noFill/>
        </p:spPr>
        <p:txBody>
          <a:bodyPr wrap="square" rtlCol="0">
            <a:spAutoFit/>
          </a:bodyPr>
          <a:lstStyle/>
          <a:p>
            <a:r>
              <a:rPr lang="en-GB" sz="1600" dirty="0" smtClean="0"/>
              <a:t>Population: all the individuals of a species in a particular </a:t>
            </a:r>
            <a:r>
              <a:rPr lang="en-GB" sz="1600" dirty="0" smtClean="0"/>
              <a:t>area.</a:t>
            </a:r>
            <a:endParaRPr lang="en-GB" sz="1600" dirty="0"/>
          </a:p>
          <a:p>
            <a:r>
              <a:rPr lang="en-GB" sz="1600" dirty="0" smtClean="0"/>
              <a:t>Abiotic </a:t>
            </a:r>
            <a:r>
              <a:rPr lang="en-GB" sz="1600" dirty="0" smtClean="0"/>
              <a:t>factors: non-living factors		</a:t>
            </a:r>
            <a:endParaRPr lang="en-GB" sz="1600" dirty="0" smtClean="0"/>
          </a:p>
          <a:p>
            <a:r>
              <a:rPr lang="en-GB" sz="1600" dirty="0" smtClean="0"/>
              <a:t>Biotic </a:t>
            </a:r>
            <a:r>
              <a:rPr lang="en-GB" sz="1600" dirty="0" smtClean="0"/>
              <a:t>factors: living factors</a:t>
            </a:r>
          </a:p>
          <a:p>
            <a:r>
              <a:rPr lang="en-GB" sz="1600" dirty="0" smtClean="0"/>
              <a:t>Distribution: how the individuals are ‘spread out’ across a </a:t>
            </a:r>
            <a:r>
              <a:rPr lang="en-GB" sz="1600" dirty="0" smtClean="0"/>
              <a:t>certain area.</a:t>
            </a:r>
            <a:endParaRPr lang="en-GB" sz="1600" dirty="0" smtClean="0"/>
          </a:p>
        </p:txBody>
      </p:sp>
      <p:sp>
        <p:nvSpPr>
          <p:cNvPr id="12" name="TextBox 11"/>
          <p:cNvSpPr txBox="1"/>
          <p:nvPr/>
        </p:nvSpPr>
        <p:spPr>
          <a:xfrm>
            <a:off x="104936" y="3023275"/>
            <a:ext cx="5580174" cy="3754874"/>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Results</a:t>
            </a:r>
          </a:p>
          <a:p>
            <a:pPr marL="285750" indent="-285750">
              <a:buFontTx/>
              <a:buChar char="-"/>
            </a:pPr>
            <a:r>
              <a:rPr lang="en-GB" dirty="0" smtClean="0"/>
              <a:t>Random sampling – used when </a:t>
            </a:r>
            <a:endParaRPr lang="en-GB" dirty="0" smtClean="0"/>
          </a:p>
          <a:p>
            <a:r>
              <a:rPr lang="en-GB" dirty="0" smtClean="0"/>
              <a:t>you want </a:t>
            </a:r>
            <a:r>
              <a:rPr lang="en-GB" dirty="0" smtClean="0"/>
              <a:t>to know how the organisms </a:t>
            </a:r>
            <a:endParaRPr lang="en-GB" dirty="0"/>
          </a:p>
          <a:p>
            <a:r>
              <a:rPr lang="en-GB" dirty="0"/>
              <a:t>a</a:t>
            </a:r>
            <a:r>
              <a:rPr lang="en-GB" dirty="0" smtClean="0"/>
              <a:t>re spread </a:t>
            </a:r>
            <a:r>
              <a:rPr lang="en-GB" dirty="0" smtClean="0"/>
              <a:t>out across an area.</a:t>
            </a:r>
          </a:p>
          <a:p>
            <a:pPr marL="285750" indent="-285750">
              <a:buFontTx/>
              <a:buChar char="-"/>
            </a:pPr>
            <a:endParaRPr lang="en-GB" dirty="0"/>
          </a:p>
          <a:p>
            <a:endParaRPr lang="en-GB" dirty="0"/>
          </a:p>
          <a:p>
            <a:pPr marL="285750" indent="-285750">
              <a:buFontTx/>
              <a:buChar char="-"/>
            </a:pPr>
            <a:endParaRPr lang="en-GB" sz="1600" dirty="0"/>
          </a:p>
          <a:p>
            <a:pPr marL="285750" indent="-285750">
              <a:buFontTx/>
              <a:buChar char="-"/>
            </a:pPr>
            <a:r>
              <a:rPr lang="en-GB" sz="1600" dirty="0" smtClean="0"/>
              <a:t>Line transect – used when you </a:t>
            </a:r>
            <a:r>
              <a:rPr lang="en-GB" sz="1600" dirty="0" smtClean="0"/>
              <a:t>want</a:t>
            </a:r>
          </a:p>
          <a:p>
            <a:r>
              <a:rPr lang="en-GB" sz="1600" dirty="0" smtClean="0"/>
              <a:t> </a:t>
            </a:r>
            <a:r>
              <a:rPr lang="en-GB" sz="1600" dirty="0" smtClean="0"/>
              <a:t>to see how one particular feature </a:t>
            </a:r>
            <a:endParaRPr lang="en-GB" sz="1600" dirty="0" smtClean="0"/>
          </a:p>
          <a:p>
            <a:r>
              <a:rPr lang="en-GB" sz="1600" dirty="0" smtClean="0"/>
              <a:t>(</a:t>
            </a:r>
            <a:r>
              <a:rPr lang="en-GB" sz="1600" dirty="0" smtClean="0"/>
              <a:t>e.g. a river/road/building) affects </a:t>
            </a:r>
            <a:r>
              <a:rPr lang="en-GB" sz="1600" dirty="0" smtClean="0"/>
              <a:t>an</a:t>
            </a:r>
          </a:p>
          <a:p>
            <a:r>
              <a:rPr lang="en-GB" sz="1600" dirty="0" smtClean="0"/>
              <a:t> </a:t>
            </a:r>
            <a:r>
              <a:rPr lang="en-GB" sz="1600" dirty="0" smtClean="0"/>
              <a:t>area. You take samples in a line (called </a:t>
            </a:r>
            <a:endParaRPr lang="en-GB" sz="1600" dirty="0" smtClean="0"/>
          </a:p>
          <a:p>
            <a:r>
              <a:rPr lang="en-GB" sz="1600" dirty="0" smtClean="0"/>
              <a:t>a </a:t>
            </a:r>
            <a:r>
              <a:rPr lang="en-GB" sz="1600" dirty="0" smtClean="0"/>
              <a:t>transect) and repeat to compare </a:t>
            </a:r>
            <a:r>
              <a:rPr lang="en-GB" sz="1600" dirty="0" smtClean="0"/>
              <a:t>the</a:t>
            </a:r>
          </a:p>
          <a:p>
            <a:r>
              <a:rPr lang="en-GB" sz="1600" dirty="0" smtClean="0"/>
              <a:t>difference </a:t>
            </a:r>
            <a:r>
              <a:rPr lang="en-GB" sz="1600" dirty="0" smtClean="0"/>
              <a:t>near and far from the feature.</a:t>
            </a:r>
          </a:p>
          <a:p>
            <a:endParaRPr lang="en-GB" dirty="0" smtClean="0"/>
          </a:p>
        </p:txBody>
      </p:sp>
      <p:pic>
        <p:nvPicPr>
          <p:cNvPr id="9" name="Picture 8" descr="add2 OS:Users:add2:Downloads:artwork:oxo_AQA16_B1603_pr01_awfg01.png"/>
          <p:cNvPicPr/>
          <p:nvPr/>
        </p:nvPicPr>
        <p:blipFill>
          <a:blip r:embed="rId2" cstate="print">
            <a:clrChange>
              <a:clrFrom>
                <a:srgbClr val="B5DBAE"/>
              </a:clrFrom>
              <a:clrTo>
                <a:srgbClr val="B5DBAE">
                  <a:alpha val="0"/>
                </a:srgbClr>
              </a:clrTo>
            </a:clrChange>
            <a:grayscl/>
            <a:extLst>
              <a:ext uri="{28A0092B-C50C-407E-A947-70E740481C1C}">
                <a14:useLocalDpi xmlns:a14="http://schemas.microsoft.com/office/drawing/2010/main" val="0"/>
              </a:ext>
            </a:extLst>
          </a:blip>
          <a:srcRect/>
          <a:stretch>
            <a:fillRect/>
          </a:stretch>
        </p:blipFill>
        <p:spPr bwMode="auto">
          <a:xfrm>
            <a:off x="9919327" y="1289094"/>
            <a:ext cx="2014855" cy="2209800"/>
          </a:xfrm>
          <a:prstGeom prst="rect">
            <a:avLst/>
          </a:prstGeom>
          <a:noFill/>
          <a:ln>
            <a:noFill/>
          </a:ln>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7753" y="1645984"/>
            <a:ext cx="2912701" cy="1971873"/>
          </a:xfrm>
          <a:prstGeom prst="rect">
            <a:avLst/>
          </a:prstGeom>
        </p:spPr>
      </p:pic>
      <p:pic>
        <p:nvPicPr>
          <p:cNvPr id="13" name="Picture 12"/>
          <p:cNvPicPr>
            <a:picLocks noChangeAspect="1"/>
          </p:cNvPicPr>
          <p:nvPr/>
        </p:nvPicPr>
        <p:blipFill rotWithShape="1">
          <a:blip r:embed="rId4"/>
          <a:srcRect l="3114" b="5199"/>
          <a:stretch/>
        </p:blipFill>
        <p:spPr>
          <a:xfrm>
            <a:off x="3741192" y="3220489"/>
            <a:ext cx="1844252" cy="1490408"/>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73667" y="4900712"/>
            <a:ext cx="2011777" cy="1505411"/>
          </a:xfrm>
          <a:prstGeom prst="rect">
            <a:avLst/>
          </a:prstGeom>
        </p:spPr>
      </p:pic>
    </p:spTree>
    <p:extLst>
      <p:ext uri="{BB962C8B-B14F-4D97-AF65-F5344CB8AC3E}">
        <p14:creationId xmlns:p14="http://schemas.microsoft.com/office/powerpoint/2010/main" val="2153896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397</Words>
  <Application>Microsoft Office PowerPoint</Application>
  <PresentationFormat>Widescreen</PresentationFormat>
  <Paragraphs>58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Blue Ridge Heavy SF</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Webb</dc:creator>
  <cp:lastModifiedBy>K Riley</cp:lastModifiedBy>
  <cp:revision>48</cp:revision>
  <cp:lastPrinted>2018-08-24T17:38:44Z</cp:lastPrinted>
  <dcterms:created xsi:type="dcterms:W3CDTF">2017-06-22T08:23:19Z</dcterms:created>
  <dcterms:modified xsi:type="dcterms:W3CDTF">2018-08-24T17:39:21Z</dcterms:modified>
</cp:coreProperties>
</file>