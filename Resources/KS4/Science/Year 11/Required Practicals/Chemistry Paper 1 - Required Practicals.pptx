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99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41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6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519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75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9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50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78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42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C5045-C4DA-46F0-8E5B-6FC0343384BB}" type="datetimeFigureOut">
              <a:rPr lang="en-GB" smtClean="0"/>
              <a:t>24/08/2018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8BE0A-355B-421B-A6CC-EE39C8C64F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16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8302" y="-49283"/>
            <a:ext cx="11713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–Chemistry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1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– Making 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S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alt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F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rom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A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C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arbonate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O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r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O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xide</a:t>
            </a:r>
            <a:endParaRPr lang="en-GB" sz="24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056" y="1920486"/>
            <a:ext cx="494751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to make a pure, dry sample of a soluble salt from an insoluble carbonate or oxide.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61317" y="2121826"/>
            <a:ext cx="6716629" cy="45243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r>
              <a:rPr lang="en-GB" u="sng" dirty="0" smtClean="0"/>
              <a:t>Acid + Carbonate</a:t>
            </a:r>
          </a:p>
          <a:p>
            <a:r>
              <a:rPr lang="en-GB" dirty="0" smtClean="0"/>
              <a:t>Limewater (calcium </a:t>
            </a:r>
          </a:p>
          <a:p>
            <a:r>
              <a:rPr lang="en-GB" dirty="0" smtClean="0"/>
              <a:t>Hydroxide) </a:t>
            </a:r>
            <a:r>
              <a:rPr lang="en-GB" dirty="0" smtClean="0"/>
              <a:t>can be used</a:t>
            </a:r>
          </a:p>
          <a:p>
            <a:r>
              <a:rPr lang="en-GB" dirty="0"/>
              <a:t>t</a:t>
            </a:r>
            <a:r>
              <a:rPr lang="en-GB" dirty="0" smtClean="0"/>
              <a:t>o </a:t>
            </a:r>
            <a:r>
              <a:rPr lang="en-GB" dirty="0" smtClean="0"/>
              <a:t>show </a:t>
            </a:r>
            <a:r>
              <a:rPr lang="en-GB" dirty="0" err="1" smtClean="0"/>
              <a:t>CO</a:t>
            </a:r>
            <a:r>
              <a:rPr lang="en-GB" baseline="-25000" dirty="0" err="1" smtClean="0"/>
              <a:t>z</a:t>
            </a:r>
            <a:r>
              <a:rPr lang="en-GB" baseline="-25000" dirty="0" smtClean="0"/>
              <a:t> </a:t>
            </a:r>
            <a:r>
              <a:rPr lang="en-GB" dirty="0" smtClean="0"/>
              <a:t>is </a:t>
            </a:r>
            <a:r>
              <a:rPr lang="en-GB" dirty="0" smtClean="0"/>
              <a:t>produced.</a:t>
            </a:r>
            <a:endParaRPr lang="en-GB" u="sng" dirty="0"/>
          </a:p>
          <a:p>
            <a:endParaRPr lang="en-GB" u="sng" dirty="0"/>
          </a:p>
          <a:p>
            <a:r>
              <a:rPr lang="en-GB" u="sng" dirty="0" smtClean="0"/>
              <a:t>Acid + Metal Oxide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Excess of metal oxide </a:t>
            </a:r>
            <a:r>
              <a:rPr lang="en-GB" dirty="0" smtClean="0"/>
              <a:t>added.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Need to heat the solution</a:t>
            </a:r>
          </a:p>
          <a:p>
            <a:r>
              <a:rPr lang="en-GB" dirty="0" smtClean="0"/>
              <a:t>to ensure as acid fully reacts</a:t>
            </a:r>
          </a:p>
          <a:p>
            <a:r>
              <a:rPr lang="en-GB" dirty="0" smtClean="0"/>
              <a:t>with available metal oxide</a:t>
            </a:r>
          </a:p>
          <a:p>
            <a:r>
              <a:rPr lang="en-GB" dirty="0"/>
              <a:t>p</a:t>
            </a:r>
            <a:r>
              <a:rPr lang="en-GB" dirty="0" smtClean="0"/>
              <a:t>articles.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Then filter to remove </a:t>
            </a:r>
          </a:p>
          <a:p>
            <a:r>
              <a:rPr lang="en-GB" dirty="0" smtClean="0"/>
              <a:t>Excess metal </a:t>
            </a:r>
            <a:r>
              <a:rPr lang="en-GB" dirty="0" smtClean="0"/>
              <a:t>oxide.</a:t>
            </a:r>
            <a:endParaRPr lang="en-GB" dirty="0"/>
          </a:p>
          <a:p>
            <a:endParaRPr lang="en-GB" u="sng" dirty="0" smtClean="0"/>
          </a:p>
          <a:p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73219" y="4383984"/>
            <a:ext cx="4933353" cy="230832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How do you get solid crystals from the salt solution (</a:t>
            </a:r>
            <a:r>
              <a:rPr lang="en-GB" i="1" dirty="0" smtClean="0"/>
              <a:t>crystallize, evaporate the water</a:t>
            </a:r>
            <a:r>
              <a:rPr lang="en-GB" dirty="0" smtClean="0"/>
              <a:t>)?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do we heat the </a:t>
            </a:r>
            <a:r>
              <a:rPr lang="en-GB" dirty="0" smtClean="0"/>
              <a:t>solution?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are the risks and safety </a:t>
            </a:r>
            <a:r>
              <a:rPr lang="en-GB" dirty="0" smtClean="0"/>
              <a:t>precautions?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Why do we filter the </a:t>
            </a:r>
            <a:r>
              <a:rPr lang="en-GB" dirty="0" smtClean="0"/>
              <a:t>solution?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How could we test the pH of the salt solution?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Name the salt produced.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0" y="540938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Salt: an ionic </a:t>
            </a:r>
            <a:r>
              <a:rPr lang="en-GB" dirty="0" smtClean="0"/>
              <a:t>substance.</a:t>
            </a:r>
            <a:r>
              <a:rPr lang="en-GB" dirty="0" smtClean="0"/>
              <a:t>	</a:t>
            </a:r>
            <a:endParaRPr lang="en-GB" dirty="0" smtClean="0"/>
          </a:p>
          <a:p>
            <a:r>
              <a:rPr lang="en-GB" dirty="0" smtClean="0"/>
              <a:t>Soluble</a:t>
            </a:r>
            <a:r>
              <a:rPr lang="en-GB" dirty="0" smtClean="0"/>
              <a:t>: something that dissolves in </a:t>
            </a:r>
            <a:r>
              <a:rPr lang="en-GB" dirty="0" smtClean="0"/>
              <a:t>water.</a:t>
            </a:r>
            <a:r>
              <a:rPr lang="en-GB" dirty="0" smtClean="0"/>
              <a:t>		</a:t>
            </a:r>
            <a:endParaRPr lang="en-GB" dirty="0" smtClean="0"/>
          </a:p>
          <a:p>
            <a:r>
              <a:rPr lang="en-GB" dirty="0"/>
              <a:t>I</a:t>
            </a:r>
            <a:r>
              <a:rPr lang="en-GB" dirty="0" smtClean="0"/>
              <a:t>nsoluble</a:t>
            </a:r>
            <a:r>
              <a:rPr lang="en-GB" dirty="0" smtClean="0"/>
              <a:t>: something that doesn’t dissolve in </a:t>
            </a:r>
            <a:r>
              <a:rPr lang="en-GB" dirty="0" smtClean="0"/>
              <a:t>water.</a:t>
            </a:r>
            <a:endParaRPr lang="en-GB" dirty="0" smtClean="0"/>
          </a:p>
          <a:p>
            <a:r>
              <a:rPr lang="en-GB" dirty="0" smtClean="0"/>
              <a:t>Acid + metal carbonate </a:t>
            </a:r>
            <a:r>
              <a:rPr lang="en-GB" dirty="0" smtClean="0">
                <a:sym typeface="Wingdings" panose="05000000000000000000" pitchFamily="2" charset="2"/>
              </a:rPr>
              <a:t> metal salt + water + carbon dioxide 		Acid + metal oxide  metal salt + water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73219" y="2980833"/>
            <a:ext cx="4933353" cy="120032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Results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Hydrochloric Acid makes Metal </a:t>
            </a:r>
            <a:r>
              <a:rPr lang="en-GB" dirty="0" smtClean="0"/>
              <a:t>Chlorides.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Sulfuric Acid makes Metal </a:t>
            </a:r>
            <a:r>
              <a:rPr lang="en-GB" dirty="0" err="1" smtClean="0"/>
              <a:t>Sulfates</a:t>
            </a:r>
            <a:r>
              <a:rPr lang="en-GB" dirty="0" smtClean="0"/>
              <a:t>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Nitric Acid makes Metal </a:t>
            </a:r>
            <a:r>
              <a:rPr lang="en-GB" dirty="0" smtClean="0"/>
              <a:t>Nitrates.</a:t>
            </a:r>
            <a:endParaRPr lang="en-GB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213" y="4677647"/>
            <a:ext cx="3429833" cy="18595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212" y="2196840"/>
            <a:ext cx="3738733" cy="248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54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4591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– Chemistry 1 – Electrolysis</a:t>
            </a:r>
            <a:endParaRPr lang="en-GB" sz="28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149" y="1831811"/>
            <a:ext cx="5632259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different solutions behave when </a:t>
            </a:r>
            <a:r>
              <a:rPr lang="en-GB" dirty="0" smtClean="0"/>
              <a:t>electrolysed.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883449" y="515165"/>
            <a:ext cx="6203465" cy="618630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r>
              <a:rPr lang="en-GB" u="sng" dirty="0" smtClean="0"/>
              <a:t>Molten compounds or less </a:t>
            </a:r>
          </a:p>
          <a:p>
            <a:r>
              <a:rPr lang="en-GB" u="sng" dirty="0" smtClean="0"/>
              <a:t>reactive salt solutions</a:t>
            </a:r>
            <a:endParaRPr lang="en-GB" u="sng" dirty="0"/>
          </a:p>
          <a:p>
            <a:endParaRPr lang="en-GB" u="sng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Positive ions to negative </a:t>
            </a:r>
          </a:p>
          <a:p>
            <a:r>
              <a:rPr lang="en-GB" dirty="0" smtClean="0"/>
              <a:t>electrode. Negative ions to </a:t>
            </a:r>
          </a:p>
          <a:p>
            <a:r>
              <a:rPr lang="en-GB" dirty="0" smtClean="0"/>
              <a:t>positive electrode. Easy.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u="sng" dirty="0" smtClean="0"/>
              <a:t>More reactive metal solutions</a:t>
            </a:r>
          </a:p>
          <a:p>
            <a:r>
              <a:rPr lang="en-GB" u="sng" dirty="0" smtClean="0"/>
              <a:t>e.g. Sodium Chloride solution</a:t>
            </a:r>
          </a:p>
          <a:p>
            <a:r>
              <a:rPr lang="en-GB" u="sng" dirty="0" smtClean="0"/>
              <a:t>(Brine)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If the metal is more reactive</a:t>
            </a:r>
          </a:p>
          <a:p>
            <a:r>
              <a:rPr lang="en-GB" dirty="0" smtClean="0"/>
              <a:t>than </a:t>
            </a:r>
            <a:r>
              <a:rPr lang="en-GB" dirty="0"/>
              <a:t>h</a:t>
            </a:r>
            <a:r>
              <a:rPr lang="en-GB" dirty="0" smtClean="0"/>
              <a:t>ydrogen.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/>
              <a:t>h</a:t>
            </a:r>
            <a:r>
              <a:rPr lang="en-GB" dirty="0" smtClean="0"/>
              <a:t>ydrogen </a:t>
            </a:r>
            <a:r>
              <a:rPr lang="en-GB" dirty="0" smtClean="0"/>
              <a:t>is produced at the </a:t>
            </a:r>
          </a:p>
          <a:p>
            <a:r>
              <a:rPr lang="en-GB" dirty="0"/>
              <a:t>n</a:t>
            </a:r>
            <a:r>
              <a:rPr lang="en-GB" dirty="0" smtClean="0"/>
              <a:t>egative </a:t>
            </a:r>
            <a:r>
              <a:rPr lang="en-GB" dirty="0" smtClean="0"/>
              <a:t>electrode (instead of</a:t>
            </a:r>
          </a:p>
          <a:p>
            <a:r>
              <a:rPr lang="en-GB" dirty="0" smtClean="0"/>
              <a:t>the metal).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Metal hydroxide is produced</a:t>
            </a:r>
          </a:p>
          <a:p>
            <a:r>
              <a:rPr lang="en-GB" dirty="0" smtClean="0"/>
              <a:t>In the solution.</a:t>
            </a:r>
            <a:endParaRPr lang="en-GB" dirty="0"/>
          </a:p>
          <a:p>
            <a:endParaRPr lang="en-GB" u="sng" dirty="0" smtClean="0"/>
          </a:p>
          <a:p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9149" y="3370311"/>
            <a:ext cx="5632259" cy="2585323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How could you test the gas that is produced (</a:t>
            </a:r>
            <a:r>
              <a:rPr lang="en-GB" i="1" dirty="0" smtClean="0"/>
              <a:t>hydrogen = pop, chlorine = bleaches damp litmus paper</a:t>
            </a:r>
            <a:r>
              <a:rPr lang="en-GB" i="1" dirty="0" smtClean="0"/>
              <a:t>)?</a:t>
            </a:r>
            <a:endParaRPr lang="en-GB" i="1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happens when the …….. Ions get to the ……. </a:t>
            </a:r>
            <a:r>
              <a:rPr lang="en-GB" dirty="0" smtClean="0"/>
              <a:t>Electrode </a:t>
            </a:r>
            <a:r>
              <a:rPr lang="en-GB" dirty="0" smtClean="0"/>
              <a:t>(</a:t>
            </a:r>
            <a:r>
              <a:rPr lang="en-GB" i="1" dirty="0" smtClean="0"/>
              <a:t>positive ions are reduced – gain electrons. Negative ions are oxidised – lose electrons</a:t>
            </a:r>
            <a:r>
              <a:rPr lang="en-GB" i="1" dirty="0" smtClean="0"/>
              <a:t>)?</a:t>
            </a:r>
            <a:endParaRPr lang="en-GB" i="1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What would happen if you added universal indicator to the </a:t>
            </a:r>
            <a:r>
              <a:rPr lang="en-GB" dirty="0" smtClean="0"/>
              <a:t>solution </a:t>
            </a:r>
            <a:r>
              <a:rPr lang="en-GB" dirty="0" smtClean="0"/>
              <a:t>(</a:t>
            </a:r>
            <a:r>
              <a:rPr lang="en-GB" i="1" dirty="0" smtClean="0"/>
              <a:t>turns purple – hydroxide is produced – alkali</a:t>
            </a:r>
            <a:r>
              <a:rPr lang="en-GB" i="1" dirty="0" smtClean="0"/>
              <a:t>)?</a:t>
            </a:r>
            <a:endParaRPr lang="en-GB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6446" y="622228"/>
            <a:ext cx="573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Electrolysis: when a salt solution is separated using electricity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1227" y="552087"/>
            <a:ext cx="2857500" cy="2857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277" y="3608319"/>
            <a:ext cx="28384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9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8302" y="-49283"/>
            <a:ext cx="11713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GCSE Required Practical –Chemistry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1</a:t>
            </a:r>
            <a:r>
              <a:rPr lang="en-GB" sz="2400" u="sng" dirty="0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 – </a:t>
            </a:r>
            <a:r>
              <a:rPr lang="en-GB" sz="2400" u="sng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Temperature </a:t>
            </a:r>
            <a:r>
              <a:rPr lang="en-GB" sz="2400" u="sng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Changes </a:t>
            </a:r>
            <a:r>
              <a:rPr lang="en-GB" sz="2400" u="sng">
                <a:solidFill>
                  <a:srgbClr val="FF0000"/>
                </a:solidFill>
                <a:latin typeface="Blue Ridge Heavy SF" panose="020BE200000000000000" pitchFamily="34" charset="0"/>
              </a:rPr>
              <a:t>I</a:t>
            </a:r>
            <a:r>
              <a:rPr lang="en-GB" sz="2400" u="sng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n </a:t>
            </a:r>
            <a:r>
              <a:rPr lang="en-GB" sz="2400" u="sng" dirty="0">
                <a:solidFill>
                  <a:srgbClr val="FF0000"/>
                </a:solidFill>
                <a:latin typeface="Blue Ridge Heavy SF" panose="020BE200000000000000" pitchFamily="34" charset="0"/>
              </a:rPr>
              <a:t>S</a:t>
            </a:r>
            <a:r>
              <a:rPr lang="en-GB" sz="2400" u="sng" smtClean="0">
                <a:solidFill>
                  <a:srgbClr val="FF0000"/>
                </a:solidFill>
                <a:latin typeface="Blue Ridge Heavy SF" panose="020BE200000000000000" pitchFamily="34" charset="0"/>
              </a:rPr>
              <a:t>olutions</a:t>
            </a:r>
            <a:endParaRPr lang="en-GB" sz="2400" u="sng" dirty="0">
              <a:solidFill>
                <a:srgbClr val="FF0000"/>
              </a:solidFill>
              <a:latin typeface="Blue Ridge Heavy SF" panose="020BE200000000000000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189" y="1868914"/>
            <a:ext cx="4834879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What’s the point of the practical?</a:t>
            </a:r>
          </a:p>
          <a:p>
            <a:r>
              <a:rPr lang="en-GB" dirty="0" smtClean="0"/>
              <a:t>To find out how different variables affect energy changes in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4247" y="934314"/>
            <a:ext cx="6716629" cy="461664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Example Apparatus</a:t>
            </a:r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endParaRPr lang="en-GB" u="sng" dirty="0"/>
          </a:p>
          <a:p>
            <a:endParaRPr lang="en-GB" u="sng" dirty="0" smtClean="0"/>
          </a:p>
          <a:p>
            <a:r>
              <a:rPr lang="en-GB" dirty="0" smtClean="0"/>
              <a:t>- </a:t>
            </a:r>
            <a:r>
              <a:rPr lang="en-GB" sz="2000" dirty="0" smtClean="0"/>
              <a:t>Displacement (e.g. Copper </a:t>
            </a:r>
            <a:r>
              <a:rPr lang="en-GB" sz="2000" dirty="0" err="1" smtClean="0"/>
              <a:t>Sulfate</a:t>
            </a:r>
            <a:r>
              <a:rPr lang="en-GB" sz="2000" dirty="0" smtClean="0"/>
              <a:t> + Iron </a:t>
            </a:r>
            <a:r>
              <a:rPr lang="en-GB" sz="2000" dirty="0" smtClean="0">
                <a:sym typeface="Wingdings" panose="05000000000000000000" pitchFamily="2" charset="2"/>
              </a:rPr>
              <a:t> Iron </a:t>
            </a:r>
            <a:r>
              <a:rPr lang="en-GB" sz="2000" dirty="0" err="1" smtClean="0">
                <a:sym typeface="Wingdings" panose="05000000000000000000" pitchFamily="2" charset="2"/>
              </a:rPr>
              <a:t>Sulfate</a:t>
            </a:r>
            <a:r>
              <a:rPr lang="en-GB" sz="2000" dirty="0" smtClean="0">
                <a:sym typeface="Wingdings" panose="05000000000000000000" pitchFamily="2" charset="2"/>
              </a:rPr>
              <a:t> + Copper</a:t>
            </a:r>
            <a:r>
              <a:rPr lang="en-GB" sz="2000" u="sng" dirty="0" smtClean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GB" sz="2000" dirty="0" smtClean="0"/>
              <a:t>Neutralisation </a:t>
            </a:r>
          </a:p>
          <a:p>
            <a:r>
              <a:rPr lang="en-GB" dirty="0" smtClean="0"/>
              <a:t>(e.g. Hydrochloric Acid + Sodium Hydroxide </a:t>
            </a:r>
            <a:r>
              <a:rPr lang="en-GB" dirty="0" smtClean="0">
                <a:sym typeface="Wingdings" panose="05000000000000000000" pitchFamily="2" charset="2"/>
              </a:rPr>
              <a:t> Sodium Chloride + Water)</a:t>
            </a:r>
            <a:endParaRPr lang="en-GB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71987" y="4382715"/>
            <a:ext cx="4850081" cy="20313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What may they ask us about?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Why do you use a polystyrene cup / lid? (</a:t>
            </a:r>
            <a:r>
              <a:rPr lang="en-GB" i="1" dirty="0" smtClean="0"/>
              <a:t>to reduce temperature loss to the surroundings -  makes results more accurate)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Resolution and accuracy of measurements.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Repeatability, calculating mean results, uncertainty </a:t>
            </a:r>
            <a:r>
              <a:rPr lang="en-GB" smtClean="0"/>
              <a:t>etc</a:t>
            </a:r>
            <a:endParaRPr lang="en-GB" dirty="0" smtClean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-1" y="966396"/>
            <a:ext cx="5324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Exothermic reaction: releases energy (heat </a:t>
            </a:r>
            <a:r>
              <a:rPr lang="en-GB" dirty="0" smtClean="0"/>
              <a:t>exits).</a:t>
            </a:r>
          </a:p>
          <a:p>
            <a:r>
              <a:rPr lang="en-GB" dirty="0" smtClean="0"/>
              <a:t>Endothermic </a:t>
            </a:r>
            <a:r>
              <a:rPr lang="en-GB" dirty="0" smtClean="0"/>
              <a:t>reaction: absorbs energy (gets cold</a:t>
            </a:r>
            <a:r>
              <a:rPr lang="en-GB" dirty="0" smtClean="0"/>
              <a:t>).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87189" y="3180922"/>
            <a:ext cx="4834879" cy="9233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u="sng" dirty="0" smtClean="0"/>
              <a:t>Results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Displacement reactions are </a:t>
            </a:r>
            <a:r>
              <a:rPr lang="en-GB" dirty="0" smtClean="0"/>
              <a:t>exothermic.</a:t>
            </a:r>
            <a:endParaRPr lang="en-GB" dirty="0" smtClean="0"/>
          </a:p>
          <a:p>
            <a:pPr marL="285750" indent="-285750">
              <a:buFontTx/>
              <a:buChar char="-"/>
            </a:pPr>
            <a:r>
              <a:rPr lang="en-GB" dirty="0" smtClean="0"/>
              <a:t>Neutralisation reactions are </a:t>
            </a:r>
            <a:r>
              <a:rPr lang="en-GB" dirty="0" smtClean="0"/>
              <a:t>exothermic.</a:t>
            </a:r>
            <a:endParaRPr lang="en-GB" dirty="0" smtClean="0"/>
          </a:p>
        </p:txBody>
      </p:sp>
      <p:pic>
        <p:nvPicPr>
          <p:cNvPr id="13" name="Picture 12" descr="Layout Disk 1:01_Q2A Media:OUP:GCSE Kerboodle Worksheets:Design HO 02/07:z_Source:830885 AQA GCSE Science Kerboodle HO 6 Jan 2017:06 02 17:Priority 2:Priority 2 PNGs:oxo_AQA16_C701_pr01_awfg01.pn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6335150" y="1328619"/>
            <a:ext cx="4972050" cy="26371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6403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498</Words>
  <Application>Microsoft Office PowerPoint</Application>
  <PresentationFormat>Widescreen</PresentationFormat>
  <Paragraphs>86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Blue Ridge Heavy SF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Webb</dc:creator>
  <cp:lastModifiedBy>K Riley</cp:lastModifiedBy>
  <cp:revision>58</cp:revision>
  <cp:lastPrinted>2018-08-24T17:48:15Z</cp:lastPrinted>
  <dcterms:created xsi:type="dcterms:W3CDTF">2017-06-22T08:23:19Z</dcterms:created>
  <dcterms:modified xsi:type="dcterms:W3CDTF">2018-08-24T17:48:27Z</dcterms:modified>
</cp:coreProperties>
</file>