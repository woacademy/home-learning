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1" r:id="rId4"/>
    <p:sldId id="259" r:id="rId5"/>
    <p:sldId id="260" r:id="rId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999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41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6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3519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758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791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502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78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56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842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16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1" y="0"/>
            <a:ext cx="121920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GCSE Required Practical – Physics 2 – Force and </a:t>
            </a:r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Acceleration</a:t>
            </a:r>
            <a:endParaRPr lang="en-GB" sz="2800" u="sng" dirty="0">
              <a:solidFill>
                <a:srgbClr val="0070C0"/>
              </a:solidFill>
              <a:latin typeface="Blue Ridge Heavy SF" panose="020BE200000000000000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0301" y="815966"/>
            <a:ext cx="5839313" cy="11079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What’s the point of the practical?</a:t>
            </a:r>
          </a:p>
          <a:p>
            <a:r>
              <a:rPr lang="en-GB" sz="1600" dirty="0" smtClean="0"/>
              <a:t>To find out what happens to the acceleration when we change the </a:t>
            </a:r>
            <a:r>
              <a:rPr lang="en-GB" sz="1600" dirty="0" smtClean="0"/>
              <a:t>mass.  And </a:t>
            </a:r>
            <a:r>
              <a:rPr lang="en-GB" sz="1600" dirty="0" smtClean="0"/>
              <a:t>to find out what happens to the acceleration when we change the force.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5969" y="855967"/>
            <a:ext cx="6140482" cy="30162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Example Apparatus</a:t>
            </a:r>
          </a:p>
          <a:p>
            <a:endParaRPr lang="en-GB" u="sng" dirty="0" smtClean="0"/>
          </a:p>
          <a:p>
            <a:r>
              <a:rPr lang="en-GB" dirty="0" smtClean="0"/>
              <a:t>Data logger and light gate -</a:t>
            </a:r>
          </a:p>
          <a:p>
            <a:r>
              <a:rPr lang="en-GB" dirty="0" smtClean="0"/>
              <a:t>Measures velocity or</a:t>
            </a:r>
          </a:p>
          <a:p>
            <a:r>
              <a:rPr lang="en-GB" dirty="0" smtClean="0"/>
              <a:t>acceleration</a:t>
            </a:r>
          </a:p>
          <a:p>
            <a:endParaRPr lang="en-GB" dirty="0"/>
          </a:p>
          <a:p>
            <a:r>
              <a:rPr lang="en-GB" dirty="0" smtClean="0"/>
              <a:t>Masses – make the trolley </a:t>
            </a:r>
          </a:p>
          <a:p>
            <a:r>
              <a:rPr lang="en-GB" dirty="0" smtClean="0"/>
              <a:t>(car) move</a:t>
            </a:r>
          </a:p>
          <a:p>
            <a:endParaRPr lang="en-GB" dirty="0"/>
          </a:p>
          <a:p>
            <a:endParaRPr lang="en-GB" dirty="0" smtClean="0"/>
          </a:p>
          <a:p>
            <a:endParaRPr lang="en-GB" sz="900" dirty="0"/>
          </a:p>
        </p:txBody>
      </p:sp>
      <p:sp>
        <p:nvSpPr>
          <p:cNvPr id="8" name="TextBox 7"/>
          <p:cNvSpPr txBox="1"/>
          <p:nvPr/>
        </p:nvSpPr>
        <p:spPr>
          <a:xfrm>
            <a:off x="175549" y="3944043"/>
            <a:ext cx="11840902" cy="2862322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 may they ask us about?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They may get you to work out acceleration from force and mass (easy) or give you the change in velocity and time so you need to use both equations above.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State one possible source of error (</a:t>
            </a:r>
            <a:r>
              <a:rPr lang="en-GB" i="1" dirty="0" smtClean="0"/>
              <a:t>friction slows the trolley down, the trolley </a:t>
            </a:r>
            <a:endParaRPr lang="en-GB" i="1" dirty="0" smtClean="0"/>
          </a:p>
          <a:p>
            <a:r>
              <a:rPr lang="en-GB" i="1" dirty="0" smtClean="0"/>
              <a:t>doesn’t </a:t>
            </a:r>
            <a:r>
              <a:rPr lang="en-GB" i="1" dirty="0" smtClean="0"/>
              <a:t>go in an exact straight line, the masses hit the floor and stop pulling on </a:t>
            </a:r>
            <a:endParaRPr lang="en-GB" i="1" dirty="0" smtClean="0"/>
          </a:p>
          <a:p>
            <a:r>
              <a:rPr lang="en-GB" i="1" dirty="0" smtClean="0"/>
              <a:t>the </a:t>
            </a:r>
            <a:r>
              <a:rPr lang="en-GB" i="1" dirty="0" smtClean="0"/>
              <a:t>string)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What is the IV, DV and control variables for each part of the experiment? </a:t>
            </a:r>
          </a:p>
          <a:p>
            <a:r>
              <a:rPr lang="en-GB" dirty="0" smtClean="0"/>
              <a:t>(</a:t>
            </a:r>
            <a:r>
              <a:rPr lang="en-GB" i="1" dirty="0" smtClean="0"/>
              <a:t>remember, if you’re changing the mass, the force should stay the same, if you’re </a:t>
            </a:r>
          </a:p>
          <a:p>
            <a:r>
              <a:rPr lang="en-GB" i="1" dirty="0" smtClean="0"/>
              <a:t>changing force, the mass should stay the same – only one thing changes)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Interpret graphs of results and use them to calculate or make predictions: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49" y="1898820"/>
            <a:ext cx="503975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Force (N) = mass (kg) x acceleration (m/s</a:t>
            </a:r>
            <a:r>
              <a:rPr lang="en-GB" baseline="30000" dirty="0" smtClean="0"/>
              <a:t>2</a:t>
            </a:r>
            <a:r>
              <a:rPr lang="en-GB" dirty="0" smtClean="0"/>
              <a:t>)</a:t>
            </a:r>
          </a:p>
          <a:p>
            <a:endParaRPr lang="en-GB" sz="900" dirty="0" smtClean="0"/>
          </a:p>
          <a:p>
            <a:r>
              <a:rPr lang="en-GB" dirty="0" smtClean="0"/>
              <a:t>Acceleration (m/s</a:t>
            </a:r>
            <a:r>
              <a:rPr lang="en-GB" baseline="30000" dirty="0" smtClean="0"/>
              <a:t>2</a:t>
            </a:r>
            <a:r>
              <a:rPr lang="en-GB" dirty="0" smtClean="0"/>
              <a:t>) = </a:t>
            </a:r>
            <a:r>
              <a:rPr lang="en-GB" u="sng" dirty="0" smtClean="0"/>
              <a:t>change in velocity (m/s)</a:t>
            </a:r>
          </a:p>
          <a:p>
            <a:r>
              <a:rPr lang="en-GB" dirty="0"/>
              <a:t>	</a:t>
            </a:r>
            <a:r>
              <a:rPr lang="en-GB" dirty="0" smtClean="0"/>
              <a:t>		time (s)</a:t>
            </a:r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175549" y="2876980"/>
            <a:ext cx="5606506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smtClean="0"/>
              <a:t>Results:</a:t>
            </a:r>
          </a:p>
          <a:p>
            <a:r>
              <a:rPr lang="en-GB" dirty="0" smtClean="0"/>
              <a:t>The more force, the more acceleration.</a:t>
            </a:r>
          </a:p>
          <a:p>
            <a:r>
              <a:rPr lang="en-GB" dirty="0" smtClean="0"/>
              <a:t>The more mass, the less acceleration.</a:t>
            </a:r>
            <a:endParaRPr lang="en-GB" dirty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3075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837" y="1011594"/>
            <a:ext cx="3314700" cy="277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175" y="4564562"/>
            <a:ext cx="4042362" cy="2241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7668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1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GCSE Required Practical – Physics 2 – Force </a:t>
            </a:r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And </a:t>
            </a:r>
            <a:r>
              <a:rPr lang="en-GB" sz="2800" u="sng" dirty="0">
                <a:solidFill>
                  <a:srgbClr val="0070C0"/>
                </a:solidFill>
                <a:latin typeface="Blue Ridge Heavy SF" panose="020BE200000000000000" pitchFamily="34" charset="0"/>
              </a:rPr>
              <a:t>E</a:t>
            </a:r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xtension </a:t>
            </a:r>
            <a:r>
              <a:rPr lang="en-GB" sz="2800" u="sng" dirty="0">
                <a:solidFill>
                  <a:srgbClr val="0070C0"/>
                </a:solidFill>
                <a:latin typeface="Blue Ridge Heavy SF" panose="020BE200000000000000" pitchFamily="34" charset="0"/>
              </a:rPr>
              <a:t>O</a:t>
            </a:r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f </a:t>
            </a:r>
            <a:r>
              <a:rPr lang="en-GB" sz="2800" u="sng" dirty="0">
                <a:solidFill>
                  <a:srgbClr val="0070C0"/>
                </a:solidFill>
                <a:latin typeface="Blue Ridge Heavy SF" panose="020BE200000000000000" pitchFamily="34" charset="0"/>
              </a:rPr>
              <a:t>A</a:t>
            </a:r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 </a:t>
            </a:r>
            <a:r>
              <a:rPr lang="en-GB" sz="2800" u="sng" dirty="0">
                <a:solidFill>
                  <a:srgbClr val="0070C0"/>
                </a:solidFill>
                <a:latin typeface="Blue Ridge Heavy SF" panose="020BE200000000000000" pitchFamily="34" charset="0"/>
              </a:rPr>
              <a:t>S</a:t>
            </a:r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pring</a:t>
            </a:r>
            <a:endParaRPr lang="en-GB" sz="2800" u="sng" dirty="0">
              <a:solidFill>
                <a:srgbClr val="0070C0"/>
              </a:solidFill>
              <a:latin typeface="Blue Ridge Heavy SF" panose="020BE200000000000000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97337" y="903890"/>
            <a:ext cx="4301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Extension = how much the length has increased from it’s original </a:t>
            </a:r>
            <a:r>
              <a:rPr lang="en-GB" dirty="0" smtClean="0"/>
              <a:t>length.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45991" y="941733"/>
            <a:ext cx="7444522" cy="6771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000" u="sng" dirty="0" smtClean="0"/>
              <a:t>What’s the point of the practical?</a:t>
            </a:r>
          </a:p>
          <a:p>
            <a:r>
              <a:rPr lang="en-GB" dirty="0" smtClean="0"/>
              <a:t>To find out the relationship between force and extension.</a:t>
            </a:r>
            <a:endParaRPr lang="en-GB" sz="1400" i="1" dirty="0"/>
          </a:p>
        </p:txBody>
      </p:sp>
      <p:sp>
        <p:nvSpPr>
          <p:cNvPr id="7" name="TextBox 6"/>
          <p:cNvSpPr txBox="1"/>
          <p:nvPr/>
        </p:nvSpPr>
        <p:spPr>
          <a:xfrm>
            <a:off x="5405376" y="1674004"/>
            <a:ext cx="6574419" cy="34163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Example Apparatus</a:t>
            </a:r>
          </a:p>
          <a:p>
            <a:endParaRPr lang="en-GB" u="sng" dirty="0" smtClean="0"/>
          </a:p>
          <a:p>
            <a:r>
              <a:rPr lang="en-GB" dirty="0" smtClean="0"/>
              <a:t>Weights – provide a force (N</a:t>
            </a:r>
            <a:r>
              <a:rPr lang="en-GB" dirty="0" smtClean="0"/>
              <a:t>).</a:t>
            </a:r>
            <a:endParaRPr lang="en-GB" dirty="0" smtClean="0"/>
          </a:p>
          <a:p>
            <a:endParaRPr lang="en-GB" dirty="0"/>
          </a:p>
          <a:p>
            <a:r>
              <a:rPr lang="en-GB" dirty="0" smtClean="0"/>
              <a:t>Spring </a:t>
            </a:r>
            <a:r>
              <a:rPr lang="en-GB" dirty="0" smtClean="0"/>
              <a:t>– stretches.</a:t>
            </a:r>
            <a:endParaRPr lang="en-GB" dirty="0" smtClean="0"/>
          </a:p>
          <a:p>
            <a:endParaRPr lang="en-GB" dirty="0"/>
          </a:p>
          <a:p>
            <a:r>
              <a:rPr lang="en-GB" dirty="0" smtClean="0"/>
              <a:t>Metre rule – measures the length</a:t>
            </a:r>
          </a:p>
          <a:p>
            <a:r>
              <a:rPr lang="en-GB" dirty="0"/>
              <a:t>o</a:t>
            </a:r>
            <a:r>
              <a:rPr lang="en-GB" dirty="0" smtClean="0"/>
              <a:t>f the spring (before and after</a:t>
            </a:r>
            <a:r>
              <a:rPr lang="en-GB" dirty="0" smtClean="0"/>
              <a:t>).</a:t>
            </a:r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38893" y="5248750"/>
            <a:ext cx="11840902" cy="1477328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 may they ask us about?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Describe the relationship (</a:t>
            </a:r>
            <a:r>
              <a:rPr lang="en-GB" b="1" i="1" dirty="0" smtClean="0"/>
              <a:t>directly </a:t>
            </a:r>
            <a:r>
              <a:rPr lang="en-GB" b="1" i="1" dirty="0" err="1" smtClean="0"/>
              <a:t>propotional</a:t>
            </a:r>
            <a:r>
              <a:rPr lang="en-GB" dirty="0" smtClean="0"/>
              <a:t>). Label the </a:t>
            </a:r>
            <a:r>
              <a:rPr lang="en-GB" b="1" dirty="0" smtClean="0"/>
              <a:t>limit of proportionality </a:t>
            </a:r>
            <a:r>
              <a:rPr lang="en-GB" dirty="0" smtClean="0"/>
              <a:t>(</a:t>
            </a:r>
            <a:r>
              <a:rPr lang="en-GB" i="1" dirty="0" smtClean="0"/>
              <a:t>where it’s no longer a straight line</a:t>
            </a:r>
            <a:r>
              <a:rPr lang="en-GB" dirty="0" smtClean="0"/>
              <a:t>).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What error could cause the extension to NOT start at zero (</a:t>
            </a:r>
            <a:r>
              <a:rPr lang="en-GB" i="1" dirty="0" smtClean="0"/>
              <a:t>if you measured, the length and not the extension. The </a:t>
            </a:r>
            <a:r>
              <a:rPr lang="en-GB" b="1" i="1" dirty="0" smtClean="0"/>
              <a:t>extension </a:t>
            </a:r>
            <a:r>
              <a:rPr lang="en-GB" i="1" dirty="0" smtClean="0"/>
              <a:t>should be zero with no weights, but the </a:t>
            </a:r>
            <a:r>
              <a:rPr lang="en-GB" b="1" i="1" dirty="0" smtClean="0"/>
              <a:t>length</a:t>
            </a:r>
            <a:r>
              <a:rPr lang="en-GB" i="1" dirty="0" smtClean="0"/>
              <a:t> of the spring will be a few cm</a:t>
            </a:r>
            <a:r>
              <a:rPr lang="en-GB" i="1" dirty="0" smtClean="0"/>
              <a:t>)?</a:t>
            </a:r>
            <a:endParaRPr lang="en-GB" i="1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What is the IV (force), what is the DV (extension), comment on repeatability, resolution, </a:t>
            </a:r>
            <a:r>
              <a:rPr lang="en-GB" dirty="0" err="1" smtClean="0"/>
              <a:t>etc</a:t>
            </a:r>
            <a:r>
              <a:rPr lang="en-GB" dirty="0" smtClean="0"/>
              <a:t>?</a:t>
            </a:r>
            <a:endParaRPr lang="en-GB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157281" y="1660548"/>
            <a:ext cx="5120775" cy="3477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 smtClean="0"/>
          </a:p>
          <a:p>
            <a:r>
              <a:rPr lang="en-GB" dirty="0" smtClean="0"/>
              <a:t>Results</a:t>
            </a:r>
            <a:r>
              <a:rPr lang="en-GB" dirty="0" smtClean="0"/>
              <a:t>:</a:t>
            </a:r>
          </a:p>
          <a:p>
            <a:endParaRPr lang="en-GB" dirty="0"/>
          </a:p>
          <a:p>
            <a:r>
              <a:rPr lang="en-GB" sz="1600" dirty="0" smtClean="0"/>
              <a:t>Hooke’s Law:</a:t>
            </a:r>
          </a:p>
          <a:p>
            <a:r>
              <a:rPr lang="en-GB" sz="1600" dirty="0"/>
              <a:t>e</a:t>
            </a:r>
            <a:r>
              <a:rPr lang="en-GB" sz="1600" dirty="0" smtClean="0"/>
              <a:t>xtension is directly</a:t>
            </a:r>
          </a:p>
          <a:p>
            <a:r>
              <a:rPr lang="en-GB" sz="1600" dirty="0"/>
              <a:t>p</a:t>
            </a:r>
            <a:r>
              <a:rPr lang="en-GB" sz="1600" dirty="0" smtClean="0"/>
              <a:t>roportional to the </a:t>
            </a:r>
          </a:p>
          <a:p>
            <a:r>
              <a:rPr lang="en-GB" sz="1600" dirty="0"/>
              <a:t>f</a:t>
            </a:r>
            <a:r>
              <a:rPr lang="en-GB" sz="1600" dirty="0" smtClean="0"/>
              <a:t>orce applied, as</a:t>
            </a:r>
          </a:p>
          <a:p>
            <a:r>
              <a:rPr lang="en-GB" sz="1600" dirty="0"/>
              <a:t>l</a:t>
            </a:r>
            <a:r>
              <a:rPr lang="en-GB" sz="1600" dirty="0" smtClean="0"/>
              <a:t>ong as the limit of</a:t>
            </a:r>
          </a:p>
          <a:p>
            <a:r>
              <a:rPr lang="en-GB" sz="1600" dirty="0"/>
              <a:t>p</a:t>
            </a:r>
            <a:r>
              <a:rPr lang="en-GB" sz="1600" dirty="0" smtClean="0"/>
              <a:t>roportionality is</a:t>
            </a:r>
          </a:p>
          <a:p>
            <a:r>
              <a:rPr lang="en-GB" sz="1600" dirty="0"/>
              <a:t>n</a:t>
            </a:r>
            <a:r>
              <a:rPr lang="en-GB" sz="1600" dirty="0" smtClean="0"/>
              <a:t>ot </a:t>
            </a:r>
            <a:r>
              <a:rPr lang="en-GB" sz="1600" dirty="0" smtClean="0"/>
              <a:t>exceeded.</a:t>
            </a:r>
            <a:endParaRPr lang="en-GB" sz="1600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103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585" y="1821844"/>
            <a:ext cx="3266900" cy="3115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41"/>
          <a:stretch/>
        </p:blipFill>
        <p:spPr>
          <a:xfrm>
            <a:off x="1951630" y="1674004"/>
            <a:ext cx="3235446" cy="33638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06593" y="1728289"/>
            <a:ext cx="141211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Limit of proportionality</a:t>
            </a:r>
            <a:endParaRPr lang="en-GB" sz="1400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361765" y="2169299"/>
            <a:ext cx="295835" cy="193466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700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58153" y="0"/>
            <a:ext cx="99792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GCSE Required Practical – Physics 2 – Waves </a:t>
            </a:r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In </a:t>
            </a:r>
            <a:r>
              <a:rPr lang="en-GB" sz="2800" u="sng" dirty="0">
                <a:solidFill>
                  <a:srgbClr val="0070C0"/>
                </a:solidFill>
                <a:latin typeface="Blue Ridge Heavy SF" panose="020BE200000000000000" pitchFamily="34" charset="0"/>
              </a:rPr>
              <a:t>A</a:t>
            </a:r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 </a:t>
            </a:r>
            <a:r>
              <a:rPr lang="en-GB" sz="2800" u="sng" dirty="0">
                <a:solidFill>
                  <a:srgbClr val="0070C0"/>
                </a:solidFill>
                <a:latin typeface="Blue Ridge Heavy SF" panose="020BE200000000000000" pitchFamily="34" charset="0"/>
              </a:rPr>
              <a:t>T</a:t>
            </a:r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ank (water</a:t>
            </a:r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)</a:t>
            </a:r>
            <a:endParaRPr lang="en-GB" sz="2800" u="sng" dirty="0">
              <a:solidFill>
                <a:srgbClr val="0070C0"/>
              </a:solidFill>
              <a:latin typeface="Blue Ridge Heavy SF" panose="020BE200000000000000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639" y="901452"/>
            <a:ext cx="11435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Wave speed (m/s) = frequency (Hz) x wavelength (m)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23639" y="1422401"/>
            <a:ext cx="5786199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What’s the point of the practical?</a:t>
            </a:r>
          </a:p>
          <a:p>
            <a:r>
              <a:rPr lang="en-GB" dirty="0" smtClean="0"/>
              <a:t>To find out how wavelength, frequency and wave speed are related.</a:t>
            </a:r>
            <a:endParaRPr lang="en-GB" sz="1400" i="1" dirty="0"/>
          </a:p>
        </p:txBody>
      </p:sp>
      <p:sp>
        <p:nvSpPr>
          <p:cNvPr id="7" name="TextBox 6"/>
          <p:cNvSpPr txBox="1"/>
          <p:nvPr/>
        </p:nvSpPr>
        <p:spPr>
          <a:xfrm>
            <a:off x="6136569" y="941421"/>
            <a:ext cx="5861614" cy="34163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GB" u="sng" dirty="0" smtClean="0"/>
          </a:p>
          <a:p>
            <a:r>
              <a:rPr lang="en-GB" u="sng" dirty="0" smtClean="0"/>
              <a:t>Example </a:t>
            </a:r>
            <a:r>
              <a:rPr lang="en-GB" u="sng" dirty="0" smtClean="0"/>
              <a:t>Apparatus</a:t>
            </a:r>
          </a:p>
          <a:p>
            <a:endParaRPr lang="en-GB" u="sng" dirty="0" smtClean="0"/>
          </a:p>
          <a:p>
            <a:r>
              <a:rPr lang="en-GB" dirty="0" smtClean="0"/>
              <a:t>Oscillating paddle – </a:t>
            </a:r>
          </a:p>
          <a:p>
            <a:r>
              <a:rPr lang="en-GB" dirty="0" smtClean="0"/>
              <a:t>moves up </a:t>
            </a:r>
            <a:r>
              <a:rPr lang="en-GB" dirty="0"/>
              <a:t>a</a:t>
            </a:r>
            <a:r>
              <a:rPr lang="en-GB" dirty="0" smtClean="0"/>
              <a:t>nd down</a:t>
            </a:r>
          </a:p>
          <a:p>
            <a:r>
              <a:rPr lang="en-GB" dirty="0" smtClean="0"/>
              <a:t>to produce waves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157281" y="4464379"/>
            <a:ext cx="11840902" cy="2277547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 may they ask us about?</a:t>
            </a:r>
          </a:p>
          <a:p>
            <a:pPr marL="268288" indent="-268288"/>
            <a:r>
              <a:rPr lang="en-GB" dirty="0" smtClean="0"/>
              <a:t>- </a:t>
            </a:r>
            <a:r>
              <a:rPr lang="en-GB" dirty="0" smtClean="0"/>
              <a:t>   Explain </a:t>
            </a:r>
            <a:r>
              <a:rPr lang="en-GB" dirty="0" smtClean="0"/>
              <a:t>why the wave speeds you calculate are all about the same but </a:t>
            </a:r>
            <a:r>
              <a:rPr lang="en-GB" b="1" dirty="0" smtClean="0"/>
              <a:t>not identical.</a:t>
            </a:r>
            <a:r>
              <a:rPr lang="en-GB" dirty="0" smtClean="0"/>
              <a:t> (</a:t>
            </a:r>
            <a:r>
              <a:rPr lang="en-GB" i="1" dirty="0" smtClean="0"/>
              <a:t>Wave speed is the same in water but it’s hard to be 100% accurate with measurements each time because it’s hard to see where exactly the waves are, the waves keep moving, some waves are reflected</a:t>
            </a:r>
            <a:r>
              <a:rPr lang="en-GB" i="1" dirty="0" smtClean="0"/>
              <a:t>).</a:t>
            </a:r>
            <a:endParaRPr lang="en-GB" i="1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How could you improve the accuracy of </a:t>
            </a:r>
            <a:r>
              <a:rPr lang="en-GB" dirty="0" smtClean="0"/>
              <a:t>measurements </a:t>
            </a:r>
            <a:r>
              <a:rPr lang="en-GB" dirty="0" smtClean="0"/>
              <a:t>(add insulation to stop reflected waves, use a bigger pool, brighter light, sharper paddle to get nice clean waves</a:t>
            </a:r>
            <a:r>
              <a:rPr lang="en-GB" dirty="0" smtClean="0"/>
              <a:t>)?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Comment on repeatability, reproducibility, range, uncertainty and calculate </a:t>
            </a:r>
            <a:r>
              <a:rPr lang="en-GB" dirty="0" smtClean="0"/>
              <a:t>means.</a:t>
            </a:r>
            <a:endParaRPr lang="en-GB" dirty="0" smtClean="0"/>
          </a:p>
          <a:p>
            <a:endParaRPr lang="en-GB" sz="16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123639" y="2496777"/>
            <a:ext cx="5786199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smtClean="0"/>
              <a:t>Results:</a:t>
            </a:r>
          </a:p>
          <a:p>
            <a:r>
              <a:rPr lang="en-GB" dirty="0" smtClean="0"/>
              <a:t>Speed = frequency x wavelength.</a:t>
            </a:r>
          </a:p>
          <a:p>
            <a:r>
              <a:rPr lang="en-GB" dirty="0" smtClean="0"/>
              <a:t>If you double the double the frequency, the wavelength is halved and vice versa.</a:t>
            </a:r>
          </a:p>
          <a:p>
            <a:r>
              <a:rPr lang="en-GB" dirty="0" smtClean="0"/>
              <a:t>Wave </a:t>
            </a:r>
            <a:r>
              <a:rPr lang="en-GB" b="1" dirty="0" smtClean="0"/>
              <a:t>speed stays the same</a:t>
            </a:r>
            <a:r>
              <a:rPr lang="en-GB" dirty="0" smtClean="0"/>
              <a:t> because it’s always the same material (string</a:t>
            </a:r>
            <a:r>
              <a:rPr lang="en-GB" dirty="0" smtClean="0"/>
              <a:t>).</a:t>
            </a:r>
            <a:endParaRPr lang="en-GB" b="1" dirty="0" smtClean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495" y="1146412"/>
            <a:ext cx="3270309" cy="305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328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3638" y="0"/>
            <a:ext cx="118967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GCSE Required Practical – Physics 2 – Waves </a:t>
            </a:r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In </a:t>
            </a:r>
            <a:r>
              <a:rPr lang="en-GB" sz="2800" u="sng" dirty="0">
                <a:solidFill>
                  <a:srgbClr val="0070C0"/>
                </a:solidFill>
                <a:latin typeface="Blue Ridge Heavy SF" panose="020BE200000000000000" pitchFamily="34" charset="0"/>
              </a:rPr>
              <a:t>A</a:t>
            </a:r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 Solid </a:t>
            </a:r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(string)</a:t>
            </a:r>
            <a:endParaRPr lang="en-GB" sz="2800" u="sng" dirty="0">
              <a:solidFill>
                <a:srgbClr val="0070C0"/>
              </a:solidFill>
              <a:latin typeface="Blue Ridge Heavy SF" panose="020BE200000000000000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638" y="1098327"/>
            <a:ext cx="11435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Wave speed (m/s) = frequency (Hz) x wavelength (m)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23638" y="1675968"/>
            <a:ext cx="5143925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What’s the point of the practical?</a:t>
            </a:r>
          </a:p>
          <a:p>
            <a:r>
              <a:rPr lang="en-GB" dirty="0" smtClean="0"/>
              <a:t>To find out how wavelength, frequency and wave speed are related.</a:t>
            </a:r>
            <a:endParaRPr lang="en-GB" sz="1400" i="1" dirty="0"/>
          </a:p>
        </p:txBody>
      </p:sp>
      <p:sp>
        <p:nvSpPr>
          <p:cNvPr id="7" name="TextBox 6"/>
          <p:cNvSpPr txBox="1"/>
          <p:nvPr/>
        </p:nvSpPr>
        <p:spPr>
          <a:xfrm>
            <a:off x="5445948" y="1675968"/>
            <a:ext cx="6574419" cy="34163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Example Apparatus</a:t>
            </a:r>
          </a:p>
          <a:p>
            <a:endParaRPr lang="en-GB" u="sng" dirty="0" smtClean="0"/>
          </a:p>
          <a:p>
            <a:endParaRPr lang="en-GB" u="sng" dirty="0"/>
          </a:p>
          <a:p>
            <a:endParaRPr lang="en-GB" u="sng" dirty="0" smtClean="0"/>
          </a:p>
          <a:p>
            <a:r>
              <a:rPr lang="en-GB" dirty="0" smtClean="0"/>
              <a:t>Weight – hold the </a:t>
            </a:r>
          </a:p>
          <a:p>
            <a:r>
              <a:rPr lang="en-GB" dirty="0" smtClean="0"/>
              <a:t>String tight (taut)</a:t>
            </a:r>
            <a:endParaRPr lang="en-GB" dirty="0"/>
          </a:p>
          <a:p>
            <a:endParaRPr lang="en-GB" u="sng" dirty="0"/>
          </a:p>
          <a:p>
            <a:endParaRPr lang="en-GB" u="sng" dirty="0" smtClean="0"/>
          </a:p>
          <a:p>
            <a:endParaRPr lang="en-GB" dirty="0" smtClean="0"/>
          </a:p>
          <a:p>
            <a:endParaRPr lang="en-GB" dirty="0"/>
          </a:p>
          <a:p>
            <a:r>
              <a:rPr lang="en-GB" dirty="0" smtClean="0"/>
              <a:t>Frequency </a:t>
            </a:r>
            <a:r>
              <a:rPr lang="en-GB" dirty="0" smtClean="0"/>
              <a:t>generator and vibrator (oscillator) – make the string vibrate to produce waves.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179465" y="5343796"/>
            <a:ext cx="11840902" cy="1169551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 may they ask us about?</a:t>
            </a:r>
          </a:p>
          <a:p>
            <a:r>
              <a:rPr lang="en-GB" dirty="0" smtClean="0"/>
              <a:t>How could you measure the waves more </a:t>
            </a:r>
            <a:r>
              <a:rPr lang="en-GB" dirty="0" smtClean="0"/>
              <a:t>accurately </a:t>
            </a:r>
            <a:r>
              <a:rPr lang="en-GB" dirty="0" smtClean="0"/>
              <a:t>(</a:t>
            </a:r>
            <a:r>
              <a:rPr lang="en-GB" i="1" dirty="0" smtClean="0"/>
              <a:t>use a different colour or width string to make it easier to see the waves</a:t>
            </a:r>
            <a:r>
              <a:rPr lang="en-GB" i="1" dirty="0" smtClean="0"/>
              <a:t>)?</a:t>
            </a:r>
            <a:endParaRPr lang="en-GB" i="1" dirty="0" smtClean="0"/>
          </a:p>
          <a:p>
            <a:r>
              <a:rPr lang="en-GB" dirty="0" smtClean="0"/>
              <a:t>Comment on repeatability, reproducibility, uncertainty and calculate </a:t>
            </a:r>
            <a:r>
              <a:rPr lang="en-GB" dirty="0" smtClean="0"/>
              <a:t>means.</a:t>
            </a:r>
            <a:endParaRPr lang="en-GB" dirty="0" smtClean="0"/>
          </a:p>
          <a:p>
            <a:endParaRPr lang="en-GB" sz="16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123638" y="3293333"/>
            <a:ext cx="5143925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smtClean="0"/>
              <a:t>Results:</a:t>
            </a:r>
          </a:p>
          <a:p>
            <a:r>
              <a:rPr lang="en-GB" dirty="0" smtClean="0"/>
              <a:t>Speed = frequency x wavelength.</a:t>
            </a:r>
          </a:p>
          <a:p>
            <a:r>
              <a:rPr lang="en-GB" dirty="0" smtClean="0"/>
              <a:t>If you double the double the frequency, the wavelength is halved and vice versa.</a:t>
            </a:r>
          </a:p>
          <a:p>
            <a:r>
              <a:rPr lang="en-GB" dirty="0" smtClean="0"/>
              <a:t>Wave </a:t>
            </a:r>
            <a:r>
              <a:rPr lang="en-GB" b="1" dirty="0" smtClean="0"/>
              <a:t>speed stays the same</a:t>
            </a:r>
            <a:r>
              <a:rPr lang="en-GB" dirty="0" smtClean="0"/>
              <a:t> because it’s always the same material (string</a:t>
            </a:r>
            <a:r>
              <a:rPr lang="en-GB" dirty="0" smtClean="0"/>
              <a:t>).</a:t>
            </a:r>
            <a:endParaRPr lang="en-GB" b="1" dirty="0" smtClean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13" name="Picture 12" descr="Layout Disk 1:01_Q2A Media:OUP:GCSE Kerboodle Worksheets:Design HO 02/20:z_Source:Priority 01:First Priority PNGs:AQA Physics Practicals:oxo_AQA16_P1204_pr01_awfg0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563" y="1776952"/>
            <a:ext cx="4299821" cy="25493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1485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69985" y="0"/>
            <a:ext cx="94102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GCSE Required Practical – Physics 2 – Surfaces </a:t>
            </a:r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And </a:t>
            </a:r>
            <a:r>
              <a:rPr lang="en-GB" sz="2800" u="sng" dirty="0">
                <a:solidFill>
                  <a:srgbClr val="0070C0"/>
                </a:solidFill>
                <a:latin typeface="Blue Ridge Heavy SF" panose="020BE200000000000000" pitchFamily="34" charset="0"/>
              </a:rPr>
              <a:t>R</a:t>
            </a:r>
            <a:r>
              <a:rPr lang="en-GB" sz="2800" u="sng" dirty="0" smtClean="0">
                <a:solidFill>
                  <a:srgbClr val="0070C0"/>
                </a:solidFill>
                <a:latin typeface="Blue Ridge Heavy SF" panose="020BE200000000000000" pitchFamily="34" charset="0"/>
              </a:rPr>
              <a:t>adiation</a:t>
            </a:r>
            <a:endParaRPr lang="en-GB" sz="2800" u="sng" dirty="0">
              <a:solidFill>
                <a:srgbClr val="0070C0"/>
              </a:solidFill>
              <a:latin typeface="Blue Ridge Heavy SF" panose="020BE200000000000000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731" y="1088247"/>
            <a:ext cx="6062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Infrared Radiation: electromagnetic waves that heat things </a:t>
            </a:r>
            <a:r>
              <a:rPr lang="en-GB" dirty="0" smtClean="0"/>
              <a:t>up.</a:t>
            </a:r>
          </a:p>
          <a:p>
            <a:r>
              <a:rPr lang="en-GB" dirty="0" smtClean="0"/>
              <a:t>Emit</a:t>
            </a:r>
            <a:r>
              <a:rPr lang="en-GB" dirty="0" smtClean="0"/>
              <a:t>: when something </a:t>
            </a:r>
            <a:r>
              <a:rPr lang="en-GB" b="1" dirty="0" smtClean="0"/>
              <a:t>gives off</a:t>
            </a:r>
            <a:r>
              <a:rPr lang="en-GB" dirty="0" smtClean="0"/>
              <a:t> </a:t>
            </a:r>
            <a:r>
              <a:rPr lang="en-GB" dirty="0" smtClean="0"/>
              <a:t>something.</a:t>
            </a:r>
            <a:endParaRPr lang="en-GB" dirty="0" smtClean="0"/>
          </a:p>
          <a:p>
            <a:r>
              <a:rPr lang="en-GB" dirty="0" smtClean="0"/>
              <a:t>Absorb: when something takes in or soaks up something (don’t say attract</a:t>
            </a:r>
            <a:r>
              <a:rPr lang="en-GB" dirty="0" smtClean="0"/>
              <a:t>!).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57281" y="2454465"/>
            <a:ext cx="5949968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What’s the point of the practical?</a:t>
            </a:r>
          </a:p>
          <a:p>
            <a:r>
              <a:rPr lang="en-GB" dirty="0" smtClean="0"/>
              <a:t>To find out how the colour and texture of the surface affects how much heat (radiation) is absorbed or </a:t>
            </a:r>
            <a:r>
              <a:rPr lang="en-GB" dirty="0" smtClean="0"/>
              <a:t>emitted.</a:t>
            </a:r>
            <a:endParaRPr lang="en-GB" sz="1400" i="1" dirty="0"/>
          </a:p>
        </p:txBody>
      </p:sp>
      <p:sp>
        <p:nvSpPr>
          <p:cNvPr id="7" name="TextBox 6"/>
          <p:cNvSpPr txBox="1"/>
          <p:nvPr/>
        </p:nvSpPr>
        <p:spPr>
          <a:xfrm>
            <a:off x="6219643" y="1149520"/>
            <a:ext cx="5760152" cy="34163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Example Apparatus</a:t>
            </a:r>
          </a:p>
          <a:p>
            <a:endParaRPr lang="en-GB" u="sng" dirty="0" smtClean="0"/>
          </a:p>
          <a:p>
            <a:endParaRPr lang="en-GB" u="sng" dirty="0"/>
          </a:p>
          <a:p>
            <a:endParaRPr lang="en-GB" u="sng" dirty="0" smtClean="0"/>
          </a:p>
          <a:p>
            <a:endParaRPr lang="en-GB" u="sng" dirty="0"/>
          </a:p>
          <a:p>
            <a:endParaRPr lang="en-GB" u="sng" dirty="0" smtClean="0"/>
          </a:p>
          <a:p>
            <a:endParaRPr lang="en-GB" u="sng" dirty="0"/>
          </a:p>
          <a:p>
            <a:endParaRPr lang="en-GB" u="sng" dirty="0" smtClean="0"/>
          </a:p>
          <a:p>
            <a:endParaRPr lang="en-GB" u="sng" dirty="0"/>
          </a:p>
          <a:p>
            <a:endParaRPr lang="en-GB" u="sng" dirty="0" smtClean="0"/>
          </a:p>
          <a:p>
            <a:r>
              <a:rPr lang="en-GB" dirty="0"/>
              <a:t> </a:t>
            </a:r>
            <a:r>
              <a:rPr lang="en-GB" dirty="0" smtClean="0"/>
              <a:t>      Heated from the outside	</a:t>
            </a:r>
            <a:r>
              <a:rPr lang="en-GB" dirty="0" smtClean="0"/>
              <a:t>           Heated </a:t>
            </a:r>
            <a:r>
              <a:rPr lang="en-GB" dirty="0" smtClean="0"/>
              <a:t>from the inside</a:t>
            </a:r>
            <a:endParaRPr lang="en-GB" dirty="0"/>
          </a:p>
          <a:p>
            <a:endParaRPr lang="en-GB" u="sng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38893" y="4668922"/>
            <a:ext cx="11840902" cy="203132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 may they ask us about?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Independent, dependent and control variables (</a:t>
            </a:r>
            <a:r>
              <a:rPr lang="en-GB" i="1" dirty="0" smtClean="0"/>
              <a:t>same sizes, same volumes, same thickness, starting temp </a:t>
            </a:r>
            <a:r>
              <a:rPr lang="en-GB" i="1" dirty="0" err="1" smtClean="0"/>
              <a:t>etc</a:t>
            </a:r>
            <a:r>
              <a:rPr lang="en-GB" dirty="0" smtClean="0"/>
              <a:t>).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Why should you put lids on each container (</a:t>
            </a:r>
            <a:r>
              <a:rPr lang="en-GB" i="1" dirty="0" smtClean="0"/>
              <a:t>to reduce heat loss through convection</a:t>
            </a:r>
            <a:r>
              <a:rPr lang="en-GB" i="1" dirty="0" smtClean="0"/>
              <a:t>)?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Resolution of measurements </a:t>
            </a:r>
            <a:r>
              <a:rPr lang="en-GB" i="1" dirty="0" smtClean="0"/>
              <a:t>(1°C?),</a:t>
            </a:r>
            <a:r>
              <a:rPr lang="en-GB" dirty="0" smtClean="0"/>
              <a:t> repeatability, reproducibility, calculating means </a:t>
            </a:r>
            <a:r>
              <a:rPr lang="en-GB" dirty="0" smtClean="0"/>
              <a:t>etc.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Why won’t you get exactly the same measurements if you repeat the experiment? What are the sources of </a:t>
            </a:r>
            <a:r>
              <a:rPr lang="en-GB" dirty="0" smtClean="0"/>
              <a:t>error </a:t>
            </a:r>
            <a:r>
              <a:rPr lang="en-GB" dirty="0" smtClean="0"/>
              <a:t>(</a:t>
            </a:r>
            <a:r>
              <a:rPr lang="en-GB" i="1" dirty="0" smtClean="0"/>
              <a:t>hard to read the temp at exactly the right time, slightly different volumes, slightly different starting temperatures, can may be warm already</a:t>
            </a:r>
            <a:r>
              <a:rPr lang="en-GB" i="1" dirty="0" smtClean="0"/>
              <a:t>)?</a:t>
            </a:r>
            <a:endParaRPr lang="en-GB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157281" y="3618212"/>
            <a:ext cx="5949968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smtClean="0"/>
              <a:t>Results:</a:t>
            </a:r>
          </a:p>
          <a:p>
            <a:r>
              <a:rPr lang="en-GB" dirty="0" smtClean="0"/>
              <a:t>Matt black surfaces </a:t>
            </a:r>
            <a:r>
              <a:rPr lang="en-GB" b="1" dirty="0" smtClean="0"/>
              <a:t>absorb</a:t>
            </a:r>
            <a:r>
              <a:rPr lang="en-GB" dirty="0" smtClean="0"/>
              <a:t> and </a:t>
            </a:r>
            <a:r>
              <a:rPr lang="en-GB" b="1" dirty="0" smtClean="0"/>
              <a:t>emit</a:t>
            </a:r>
            <a:r>
              <a:rPr lang="en-GB" dirty="0" smtClean="0"/>
              <a:t> much more radiation than shiny smooth surfaces.</a:t>
            </a:r>
            <a:endParaRPr lang="en-GB" dirty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140" y="1215357"/>
            <a:ext cx="2361261" cy="246751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090" y="1509267"/>
            <a:ext cx="1929604" cy="245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98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1006</Words>
  <Application>Microsoft Office PowerPoint</Application>
  <PresentationFormat>Widescreen</PresentationFormat>
  <Paragraphs>126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Blue Ridge Heavy SF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Webb</dc:creator>
  <cp:lastModifiedBy>K Riley</cp:lastModifiedBy>
  <cp:revision>30</cp:revision>
  <cp:lastPrinted>2018-08-24T18:30:04Z</cp:lastPrinted>
  <dcterms:created xsi:type="dcterms:W3CDTF">2017-06-22T08:23:19Z</dcterms:created>
  <dcterms:modified xsi:type="dcterms:W3CDTF">2018-08-24T18:30:45Z</dcterms:modified>
</cp:coreProperties>
</file>