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99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41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6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51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75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79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50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78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5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4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16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492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GCSE Required Practical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– Chemistry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2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 – How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Does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C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oncentration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A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ffect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R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ate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O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f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R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eaction</a:t>
            </a:r>
            <a:endParaRPr lang="en-GB" sz="2400" u="sng" dirty="0">
              <a:solidFill>
                <a:srgbClr val="FF000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267" y="1072919"/>
            <a:ext cx="523736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changes in concentration affect the rate of reaction.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2330" y="837339"/>
            <a:ext cx="6508853" cy="59093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dirty="0" smtClean="0"/>
          </a:p>
          <a:p>
            <a:r>
              <a:rPr lang="en-GB" dirty="0" smtClean="0"/>
              <a:t>Measuring cylinder</a:t>
            </a:r>
            <a:endParaRPr lang="en-GB" dirty="0"/>
          </a:p>
          <a:p>
            <a:r>
              <a:rPr lang="en-GB" dirty="0" smtClean="0"/>
              <a:t>- used to measure gas </a:t>
            </a:r>
          </a:p>
          <a:p>
            <a:r>
              <a:rPr lang="en-GB" dirty="0"/>
              <a:t>p</a:t>
            </a:r>
            <a:r>
              <a:rPr lang="en-GB" dirty="0" smtClean="0"/>
              <a:t>roduction </a:t>
            </a:r>
            <a:r>
              <a:rPr lang="en-GB" dirty="0" smtClean="0"/>
              <a:t>over </a:t>
            </a:r>
            <a:r>
              <a:rPr lang="en-GB" dirty="0" smtClean="0"/>
              <a:t>time.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Gas syringe - used to measure</a:t>
            </a:r>
          </a:p>
          <a:p>
            <a:r>
              <a:rPr lang="en-GB" dirty="0" smtClean="0"/>
              <a:t>gas production over </a:t>
            </a:r>
            <a:r>
              <a:rPr lang="en-GB" dirty="0" smtClean="0"/>
              <a:t>time.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‘Disappearing’ cross – used to </a:t>
            </a:r>
          </a:p>
          <a:p>
            <a:r>
              <a:rPr lang="en-GB" dirty="0"/>
              <a:t>m</a:t>
            </a:r>
            <a:r>
              <a:rPr lang="en-GB" dirty="0" smtClean="0"/>
              <a:t>easure how quickly the colour</a:t>
            </a:r>
          </a:p>
          <a:p>
            <a:r>
              <a:rPr lang="en-GB" dirty="0" smtClean="0"/>
              <a:t>Changes.</a:t>
            </a:r>
            <a:endParaRPr lang="en-GB" dirty="0"/>
          </a:p>
          <a:p>
            <a:endParaRPr lang="en-GB" dirty="0"/>
          </a:p>
          <a:p>
            <a:endParaRPr lang="en-GB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64838" y="4460383"/>
            <a:ext cx="5241949" cy="230832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What are the sources of errors that could lead to anomalous results? (</a:t>
            </a:r>
            <a:r>
              <a:rPr lang="en-GB" i="1" dirty="0" smtClean="0"/>
              <a:t>not getting the bung in quickly enough, starting the timer exactly on time </a:t>
            </a:r>
            <a:r>
              <a:rPr lang="en-GB" i="1" dirty="0" err="1" smtClean="0"/>
              <a:t>etc</a:t>
            </a:r>
            <a:r>
              <a:rPr lang="en-GB" i="1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Resolution and accuracy of measurements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Control variables – just change the concentration – everything else has to stay the same (e.g. why must temperature be controlled)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-109182" y="67325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Concentration: the amount of substance in a certain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8" y="2074154"/>
            <a:ext cx="5241949" cy="230832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Results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The higher the concentration, the faster the reaction rate</a:t>
            </a:r>
          </a:p>
          <a:p>
            <a:pPr marL="285750" indent="-285750">
              <a:buFontTx/>
              <a:buChar char="-"/>
            </a:pPr>
            <a:endParaRPr lang="en-GB" dirty="0" smtClean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 smtClean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 smtClean="0"/>
          </a:p>
        </p:txBody>
      </p:sp>
      <p:pic>
        <p:nvPicPr>
          <p:cNvPr id="1026" name="Picture 2" descr="che_gc_2058_Figure_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345" y="913545"/>
            <a:ext cx="38004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che_gc_2090_Figure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645" y="4206191"/>
            <a:ext cx="2924175" cy="229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645" y="2456596"/>
            <a:ext cx="3150538" cy="174959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9" y="2789891"/>
            <a:ext cx="3871246" cy="129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9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8302" y="-49283"/>
            <a:ext cx="11713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GCSE Required Practical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– Chemistry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2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 –Identifying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Substances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U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sing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C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hromatography</a:t>
            </a:r>
            <a:endParaRPr lang="en-GB" sz="2400" u="sng" dirty="0">
              <a:solidFill>
                <a:srgbClr val="FF000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980" y="1664029"/>
            <a:ext cx="504599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separate substances and identify what they’re made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5831" y="1113482"/>
            <a:ext cx="6716629" cy="369331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</a:t>
            </a:r>
            <a:r>
              <a:rPr lang="en-GB" u="sng" dirty="0" smtClean="0"/>
              <a:t>Apparatus</a:t>
            </a:r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42738" y="4882925"/>
            <a:ext cx="11868479" cy="175432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Why must the start line be drawn in </a:t>
            </a:r>
            <a:r>
              <a:rPr lang="en-GB" dirty="0" smtClean="0"/>
              <a:t>pencil</a:t>
            </a:r>
            <a:r>
              <a:rPr lang="en-GB" dirty="0"/>
              <a:t> </a:t>
            </a:r>
            <a:r>
              <a:rPr lang="en-GB" dirty="0" smtClean="0"/>
              <a:t>(</a:t>
            </a:r>
            <a:r>
              <a:rPr lang="en-GB" i="1" dirty="0" smtClean="0"/>
              <a:t>because </a:t>
            </a:r>
            <a:r>
              <a:rPr lang="en-GB" i="1" dirty="0" smtClean="0"/>
              <a:t>pencil does not smudge/run in the solvent whereas pen would</a:t>
            </a:r>
            <a:r>
              <a:rPr lang="en-GB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does there need to be a </a:t>
            </a:r>
            <a:r>
              <a:rPr lang="en-GB" dirty="0" smtClean="0"/>
              <a:t>lid </a:t>
            </a:r>
            <a:r>
              <a:rPr lang="en-GB" dirty="0" smtClean="0"/>
              <a:t>(</a:t>
            </a:r>
            <a:r>
              <a:rPr lang="en-GB" i="1" dirty="0" smtClean="0"/>
              <a:t>to stop the solvent from evaporating</a:t>
            </a:r>
            <a:r>
              <a:rPr lang="en-GB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Measure the </a:t>
            </a:r>
            <a:r>
              <a:rPr lang="en-GB" dirty="0" err="1" smtClean="0"/>
              <a:t>R</a:t>
            </a:r>
            <a:r>
              <a:rPr lang="en-GB" baseline="-25000" dirty="0" err="1" smtClean="0"/>
              <a:t>f</a:t>
            </a:r>
            <a:r>
              <a:rPr lang="en-GB" dirty="0" smtClean="0"/>
              <a:t> value – be accurate. Compare different substances with different </a:t>
            </a:r>
            <a:r>
              <a:rPr lang="en-GB" dirty="0" err="1" smtClean="0"/>
              <a:t>R</a:t>
            </a:r>
            <a:r>
              <a:rPr lang="en-GB" baseline="-25000" dirty="0" err="1" smtClean="0"/>
              <a:t>f</a:t>
            </a:r>
            <a:r>
              <a:rPr lang="en-GB" dirty="0" smtClean="0"/>
              <a:t> values. See what substances are contained in certain </a:t>
            </a:r>
            <a:r>
              <a:rPr lang="en-GB" dirty="0" smtClean="0"/>
              <a:t>mixtures.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Sources of error, resolution or measurements </a:t>
            </a:r>
            <a:r>
              <a:rPr lang="en-GB" dirty="0" smtClean="0"/>
              <a:t>etc. </a:t>
            </a:r>
            <a:endParaRPr lang="en-GB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0" y="665236"/>
            <a:ext cx="5008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Chromatography: the process where a dissolved substance is separated by running a solvent along a material (</a:t>
            </a:r>
            <a:r>
              <a:rPr lang="en-GB" dirty="0" err="1" smtClean="0"/>
              <a:t>e.g</a:t>
            </a:r>
            <a:r>
              <a:rPr lang="en-GB" dirty="0" smtClean="0"/>
              <a:t> paper</a:t>
            </a:r>
            <a:r>
              <a:rPr lang="en-GB" dirty="0" smtClean="0"/>
              <a:t>).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61495" y="2733329"/>
            <a:ext cx="5008475" cy="120032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Results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The substance moves up the paper (stationary phase). </a:t>
            </a:r>
            <a:r>
              <a:rPr lang="en-GB" dirty="0" smtClean="0"/>
              <a:t> It </a:t>
            </a:r>
            <a:r>
              <a:rPr lang="en-GB" dirty="0" smtClean="0"/>
              <a:t>is carried by the solvent (mobile phase</a:t>
            </a:r>
            <a:r>
              <a:rPr lang="en-GB" dirty="0" smtClean="0"/>
              <a:t>).  </a:t>
            </a:r>
            <a:r>
              <a:rPr lang="en-GB" dirty="0" smtClean="0"/>
              <a:t>Each substance goes a certain </a:t>
            </a:r>
            <a:r>
              <a:rPr lang="en-GB" dirty="0" smtClean="0"/>
              <a:t>distance.</a:t>
            </a:r>
            <a:endParaRPr lang="en-GB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42716" y="4064497"/>
            <a:ext cx="39914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 smtClean="0"/>
              <a:t>R</a:t>
            </a:r>
            <a:r>
              <a:rPr lang="en-GB" sz="2400" baseline="-25000" dirty="0" err="1" smtClean="0"/>
              <a:t>f</a:t>
            </a:r>
            <a:r>
              <a:rPr lang="en-GB" dirty="0" smtClean="0"/>
              <a:t> = </a:t>
            </a:r>
            <a:r>
              <a:rPr lang="en-GB" u="sng" dirty="0" smtClean="0"/>
              <a:t>distance moved by substance</a:t>
            </a:r>
          </a:p>
          <a:p>
            <a:r>
              <a:rPr lang="en-GB" dirty="0" smtClean="0"/>
              <a:t>        distance moved by solvent</a:t>
            </a:r>
            <a:endParaRPr lang="en-GB" dirty="0"/>
          </a:p>
        </p:txBody>
      </p:sp>
      <p:pic>
        <p:nvPicPr>
          <p:cNvPr id="14" name="Picture 1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144" y="1311460"/>
            <a:ext cx="4194630" cy="338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3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8302" y="-49283"/>
            <a:ext cx="11713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GCSE Required Practical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– Chemistry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2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 –Purifying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And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T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esting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W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ater</a:t>
            </a:r>
            <a:endParaRPr lang="en-GB" sz="2400" u="sng" dirty="0">
              <a:solidFill>
                <a:srgbClr val="FF000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357" y="1553713"/>
            <a:ext cx="504599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analyse and purify water from different </a:t>
            </a:r>
            <a:r>
              <a:rPr lang="en-GB" dirty="0" smtClean="0"/>
              <a:t>sources.</a:t>
            </a:r>
            <a:endParaRPr lang="en-GB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237113" y="1232426"/>
            <a:ext cx="6716629" cy="31393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u="sng" dirty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/>
          </a:p>
          <a:p>
            <a:endParaRPr lang="en-GB" u="sng" dirty="0" smtClean="0"/>
          </a:p>
          <a:p>
            <a:endParaRPr lang="en-GB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23981" y="4630534"/>
            <a:ext cx="11868479" cy="175432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Explain how distillation works (</a:t>
            </a:r>
            <a:r>
              <a:rPr lang="en-GB" i="1" dirty="0" smtClean="0"/>
              <a:t>water evaporates at lower temperature as it has a lower boiling point than the dissolved solids, then it condenses back into liquid as it cools down</a:t>
            </a:r>
            <a:r>
              <a:rPr lang="en-GB" i="1" dirty="0" smtClean="0"/>
              <a:t>).</a:t>
            </a:r>
            <a:endParaRPr lang="en-GB" i="1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is it not economical to do this on a large scale to make drinking </a:t>
            </a:r>
            <a:r>
              <a:rPr lang="en-GB" dirty="0" smtClean="0"/>
              <a:t>water </a:t>
            </a:r>
            <a:r>
              <a:rPr lang="en-GB" dirty="0" smtClean="0"/>
              <a:t>(</a:t>
            </a:r>
            <a:r>
              <a:rPr lang="en-GB" i="1" dirty="0" smtClean="0"/>
              <a:t>it costs too much to heat the water</a:t>
            </a:r>
            <a:r>
              <a:rPr lang="en-GB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may you not get all the water from the </a:t>
            </a:r>
            <a:r>
              <a:rPr lang="en-GB" dirty="0" smtClean="0"/>
              <a:t>solution </a:t>
            </a:r>
            <a:r>
              <a:rPr lang="en-GB" dirty="0" smtClean="0"/>
              <a:t>(</a:t>
            </a:r>
            <a:r>
              <a:rPr lang="en-GB" i="1" dirty="0" smtClean="0"/>
              <a:t>some does not evaporate, some liquid stays in the tube</a:t>
            </a:r>
            <a:r>
              <a:rPr lang="en-GB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endParaRPr lang="en-GB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0" y="96109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Potable water = drinkable water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42738" y="2802087"/>
            <a:ext cx="5008475" cy="147732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Results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Pure water boils at exactly 100°C and it’s pH is </a:t>
            </a:r>
            <a:r>
              <a:rPr lang="en-GB" dirty="0" smtClean="0"/>
              <a:t>7.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Salt water contains sodium </a:t>
            </a:r>
            <a:r>
              <a:rPr lang="en-GB" dirty="0" smtClean="0"/>
              <a:t>chloride.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Distillation = Heat the solution, the water evaporates, the salt stays in the container.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398" y="1539156"/>
            <a:ext cx="2582910" cy="24304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781" y="1601758"/>
            <a:ext cx="3680667" cy="207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51452" y="2200044"/>
            <a:ext cx="60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Or..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995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489</Words>
  <Application>Microsoft Office PowerPoint</Application>
  <PresentationFormat>Widescreen</PresentationFormat>
  <Paragraphs>78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Blue Ridge Heavy SF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Webb</dc:creator>
  <cp:lastModifiedBy>K Riley</cp:lastModifiedBy>
  <cp:revision>67</cp:revision>
  <cp:lastPrinted>2018-08-24T17:56:24Z</cp:lastPrinted>
  <dcterms:created xsi:type="dcterms:W3CDTF">2017-06-22T08:23:19Z</dcterms:created>
  <dcterms:modified xsi:type="dcterms:W3CDTF">2018-08-24T17:56:52Z</dcterms:modified>
</cp:coreProperties>
</file>