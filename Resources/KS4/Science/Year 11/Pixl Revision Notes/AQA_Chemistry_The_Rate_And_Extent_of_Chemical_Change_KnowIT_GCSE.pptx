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59"/>
  </p:notesMasterIdLst>
  <p:sldIdLst>
    <p:sldId id="256" r:id="rId4"/>
    <p:sldId id="281" r:id="rId5"/>
    <p:sldId id="314" r:id="rId6"/>
    <p:sldId id="282" r:id="rId7"/>
    <p:sldId id="283" r:id="rId8"/>
    <p:sldId id="362" r:id="rId9"/>
    <p:sldId id="398" r:id="rId10"/>
    <p:sldId id="368" r:id="rId11"/>
    <p:sldId id="369" r:id="rId12"/>
    <p:sldId id="367" r:id="rId13"/>
    <p:sldId id="399" r:id="rId14"/>
    <p:sldId id="363" r:id="rId15"/>
    <p:sldId id="366" r:id="rId16"/>
    <p:sldId id="370" r:id="rId17"/>
    <p:sldId id="373" r:id="rId18"/>
    <p:sldId id="342" r:id="rId19"/>
    <p:sldId id="377" r:id="rId20"/>
    <p:sldId id="400" r:id="rId21"/>
    <p:sldId id="378" r:id="rId22"/>
    <p:sldId id="379" r:id="rId23"/>
    <p:sldId id="374" r:id="rId24"/>
    <p:sldId id="401" r:id="rId25"/>
    <p:sldId id="375" r:id="rId26"/>
    <p:sldId id="376" r:id="rId27"/>
    <p:sldId id="380" r:id="rId28"/>
    <p:sldId id="312" r:id="rId29"/>
    <p:sldId id="381" r:id="rId30"/>
    <p:sldId id="386" r:id="rId31"/>
    <p:sldId id="387" r:id="rId32"/>
    <p:sldId id="388" r:id="rId33"/>
    <p:sldId id="383" r:id="rId34"/>
    <p:sldId id="382" r:id="rId35"/>
    <p:sldId id="384" r:id="rId36"/>
    <p:sldId id="385" r:id="rId37"/>
    <p:sldId id="389" r:id="rId38"/>
    <p:sldId id="286" r:id="rId39"/>
    <p:sldId id="396" r:id="rId40"/>
    <p:sldId id="318" r:id="rId41"/>
    <p:sldId id="390" r:id="rId42"/>
    <p:sldId id="335" r:id="rId43"/>
    <p:sldId id="402" r:id="rId44"/>
    <p:sldId id="351" r:id="rId45"/>
    <p:sldId id="353" r:id="rId46"/>
    <p:sldId id="397" r:id="rId47"/>
    <p:sldId id="391" r:id="rId48"/>
    <p:sldId id="392" r:id="rId49"/>
    <p:sldId id="393" r:id="rId50"/>
    <p:sldId id="358" r:id="rId51"/>
    <p:sldId id="394" r:id="rId52"/>
    <p:sldId id="403" r:id="rId53"/>
    <p:sldId id="406" r:id="rId54"/>
    <p:sldId id="356" r:id="rId55"/>
    <p:sldId id="404" r:id="rId56"/>
    <p:sldId id="405" r:id="rId57"/>
    <p:sldId id="357"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llins" initials="KC" lastIdx="1" clrIdx="0">
    <p:extLst/>
  </p:cmAuthor>
  <p:cmAuthor id="2" name="Karen Collins" initials="KC [2]" lastIdx="1" clrIdx="1">
    <p:extLst/>
  </p:cmAuthor>
  <p:cmAuthor id="3" name="Karen Collins" initials="KC [3]" lastIdx="1" clrIdx="2">
    <p:extLst/>
  </p:cmAuthor>
  <p:cmAuthor id="4" name="Karen Collins" initials="KC [4]" lastIdx="1" clrIdx="3">
    <p:extLst/>
  </p:cmAuthor>
  <p:cmAuthor id="5" name="Karen Collins" initials="KC [5]" lastIdx="1" clrIdx="4">
    <p:extLst/>
  </p:cmAuthor>
  <p:cmAuthor id="6" name="Karen Collins" initials="KC [6]" lastIdx="1" clrIdx="5">
    <p:extLst/>
  </p:cmAuthor>
  <p:cmAuthor id="7" name="Karen Collins" initials="KC [7]" lastIdx="1" clrIdx="6">
    <p:extLst/>
  </p:cmAuthor>
  <p:cmAuthor id="8" name="Karen Collins" initials="KC [8]" lastIdx="1" clrIdx="7">
    <p:extLst/>
  </p:cmAuthor>
  <p:cmAuthor id="9" name="Karen Collins" initials="KC [9]" lastIdx="1" clrIdx="8">
    <p:extLst/>
  </p:cmAuthor>
  <p:cmAuthor id="10" name="Karen Collins" initials="KC [10]" lastIdx="1" clrIdx="9">
    <p:extLst/>
  </p:cmAuthor>
  <p:cmAuthor id="11" name="Karen Collins" initials="KC [11]" lastIdx="1" clrIdx="10">
    <p:extLst/>
  </p:cmAuthor>
  <p:cmAuthor id="12" name="Karen Collins" initials="KC [12]" lastIdx="1" clrIdx="11">
    <p:extLst/>
  </p:cmAuthor>
  <p:cmAuthor id="13" name="Karen Collins" initials="KC [13]" lastIdx="1" clrIdx="12">
    <p:extLst/>
  </p:cmAuthor>
  <p:cmAuthor id="14" name="Karen Collins" initials="KC [14]" lastIdx="1" clrIdx="13">
    <p:extLst/>
  </p:cmAuthor>
  <p:cmAuthor id="15" name="Karen Collins" initials="KC [15]" lastIdx="1" clrIdx="14">
    <p:extLst/>
  </p:cmAuthor>
  <p:cmAuthor id="16" name="Karen Collins" initials="KC [16]" lastIdx="1" clrIdx="15">
    <p:extLst/>
  </p:cmAuthor>
  <p:cmAuthor id="17" name="Karen Collins" initials="KC [17]" lastIdx="1" clrIdx="16">
    <p:extLst/>
  </p:cmAuthor>
  <p:cmAuthor id="18" name="Karen Collins" initials="KC [18]" lastIdx="1" clrIdx="17">
    <p:extLst/>
  </p:cmAuthor>
  <p:cmAuthor id="19" name="Karen Collins" initials="KC [19]" lastIdx="1" clrIdx="18">
    <p:extLst/>
  </p:cmAuthor>
  <p:cmAuthor id="20" name="Karen Collins" initials="KC [20]" lastIdx="1" clrIdx="19">
    <p:extLst/>
  </p:cmAuthor>
  <p:cmAuthor id="21" name="Karen Collins" initials="KC [21]" lastIdx="1" clrIdx="20">
    <p:extLst/>
  </p:cmAuthor>
  <p:cmAuthor id="22" name="Karen Collins" initials="KC [22]" lastIdx="1" clrIdx="21">
    <p:extLst/>
  </p:cmAuthor>
  <p:cmAuthor id="23" name="Karen Collins" initials="KC [23]" lastIdx="1" clrIdx="22">
    <p:extLst/>
  </p:cmAuthor>
  <p:cmAuthor id="24" name="Karen Collins" initials="KC [24]" lastIdx="1" clrIdx="23">
    <p:extLst/>
  </p:cmAuthor>
  <p:cmAuthor id="25" name="Karen Collins" initials="KC [25]" lastIdx="1" clrIdx="24">
    <p:extLst/>
  </p:cmAuthor>
  <p:cmAuthor id="26" name="Karen Collins" initials="KC [26]" lastIdx="1" clrIdx="25">
    <p:extLst/>
  </p:cmAuthor>
  <p:cmAuthor id="27" name="Karen Collins" initials="KC [27]" lastIdx="1" clrIdx="26">
    <p:extLst/>
  </p:cmAuthor>
  <p:cmAuthor id="28" name="Karen Collins" initials="KC [28]" lastIdx="1" clrIdx="27">
    <p:extLst/>
  </p:cmAuthor>
  <p:cmAuthor id="29" name="Karen Collins" initials="KC [29]" lastIdx="1" clrIdx="28">
    <p:extLst/>
  </p:cmAuthor>
  <p:cmAuthor id="30" name="Karen Collins" initials="KC [30]" lastIdx="1" clrIdx="29">
    <p:extLst/>
  </p:cmAuthor>
  <p:cmAuthor id="31" name="Karen Collins" initials="KC [31]" lastIdx="1" clrIdx="30">
    <p:extLst/>
  </p:cmAuthor>
  <p:cmAuthor id="32" name="Karen Collins" initials="KC [32]" lastIdx="1" clrIdx="31">
    <p:extLst/>
  </p:cmAuthor>
  <p:cmAuthor id="33" name="Karen Collins" initials="KC [33]" lastIdx="1" clrIdx="32">
    <p:extLst/>
  </p:cmAuthor>
  <p:cmAuthor id="34" name="Mark Simpkins" initials="MS" lastIdx="29" clrIdx="33">
    <p:extLst/>
  </p:cmAuthor>
  <p:cmAuthor id="35" name="Vicki Pugh" initials="VP" lastIdx="16" clrIdx="3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6947" autoAdjust="0"/>
    <p:restoredTop sz="83654" autoAdjust="0"/>
  </p:normalViewPr>
  <p:slideViewPr>
    <p:cSldViewPr>
      <p:cViewPr>
        <p:scale>
          <a:sx n="60" d="100"/>
          <a:sy n="60" d="100"/>
        </p:scale>
        <p:origin x="144" y="130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63" Type="http://schemas.openxmlformats.org/officeDocument/2006/relationships/theme" Target="theme/theme1.xml"/><Relationship Id="rId64" Type="http://schemas.openxmlformats.org/officeDocument/2006/relationships/tableStyles" Target="tableStyles.xml"/><Relationship Id="rId65" Type="http://schemas.microsoft.com/office/2015/10/relationships/revisionInfo" Target="revisionInfo.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notesMaster" Target="notesMasters/notesMaster1.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60" Type="http://schemas.openxmlformats.org/officeDocument/2006/relationships/commentAuthors" Target="commentAuthors.xml"/><Relationship Id="rId61" Type="http://schemas.openxmlformats.org/officeDocument/2006/relationships/presProps" Target="presProps.xml"/><Relationship Id="rId62" Type="http://schemas.openxmlformats.org/officeDocument/2006/relationships/viewProps" Target="viewProps.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11/16/17</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dirty="0"/>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a:t>
            </a:fld>
            <a:endParaRPr lang="en-US" dirty="0"/>
          </a:p>
        </p:txBody>
      </p:sp>
    </p:spTree>
    <p:extLst>
      <p:ext uri="{BB962C8B-B14F-4D97-AF65-F5344CB8AC3E}">
        <p14:creationId xmlns:p14="http://schemas.microsoft.com/office/powerpoint/2010/main" val="203579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dirty="0"/>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dirty="0"/>
          </a:p>
        </p:txBody>
      </p:sp>
    </p:spTree>
    <p:extLst>
      <p:ext uri="{BB962C8B-B14F-4D97-AF65-F5344CB8AC3E}">
        <p14:creationId xmlns:p14="http://schemas.microsoft.com/office/powerpoint/2010/main" val="102249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dirty="0"/>
          </a:p>
        </p:txBody>
      </p:sp>
    </p:spTree>
    <p:extLst>
      <p:ext uri="{BB962C8B-B14F-4D97-AF65-F5344CB8AC3E}">
        <p14:creationId xmlns:p14="http://schemas.microsoft.com/office/powerpoint/2010/main" val="1564237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10</a:t>
            </a:fld>
            <a:endParaRPr lang="en-US" dirty="0"/>
          </a:p>
        </p:txBody>
      </p:sp>
    </p:spTree>
    <p:extLst>
      <p:ext uri="{BB962C8B-B14F-4D97-AF65-F5344CB8AC3E}">
        <p14:creationId xmlns:p14="http://schemas.microsoft.com/office/powerpoint/2010/main" val="255430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dirty="0"/>
          </a:p>
        </p:txBody>
      </p:sp>
    </p:spTree>
    <p:extLst>
      <p:ext uri="{BB962C8B-B14F-4D97-AF65-F5344CB8AC3E}">
        <p14:creationId xmlns:p14="http://schemas.microsoft.com/office/powerpoint/2010/main" val="728618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15</a:t>
            </a:fld>
            <a:endParaRPr lang="en-US" dirty="0"/>
          </a:p>
        </p:txBody>
      </p:sp>
    </p:spTree>
    <p:extLst>
      <p:ext uri="{BB962C8B-B14F-4D97-AF65-F5344CB8AC3E}">
        <p14:creationId xmlns:p14="http://schemas.microsoft.com/office/powerpoint/2010/main" val="2137656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16</a:t>
            </a:fld>
            <a:endParaRPr lang="en-US" dirty="0"/>
          </a:p>
        </p:txBody>
      </p:sp>
    </p:spTree>
    <p:extLst>
      <p:ext uri="{BB962C8B-B14F-4D97-AF65-F5344CB8AC3E}">
        <p14:creationId xmlns:p14="http://schemas.microsoft.com/office/powerpoint/2010/main" val="348567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dirty="0"/>
          </a:p>
        </p:txBody>
      </p:sp>
    </p:spTree>
    <p:extLst>
      <p:ext uri="{BB962C8B-B14F-4D97-AF65-F5344CB8AC3E}">
        <p14:creationId xmlns:p14="http://schemas.microsoft.com/office/powerpoint/2010/main" val="647851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21</a:t>
            </a:fld>
            <a:endParaRPr lang="en-US" dirty="0"/>
          </a:p>
        </p:txBody>
      </p:sp>
    </p:spTree>
    <p:extLst>
      <p:ext uri="{BB962C8B-B14F-4D97-AF65-F5344CB8AC3E}">
        <p14:creationId xmlns:p14="http://schemas.microsoft.com/office/powerpoint/2010/main" val="1716871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25</a:t>
            </a:fld>
            <a:endParaRPr lang="en-US" dirty="0"/>
          </a:p>
        </p:txBody>
      </p:sp>
    </p:spTree>
    <p:extLst>
      <p:ext uri="{BB962C8B-B14F-4D97-AF65-F5344CB8AC3E}">
        <p14:creationId xmlns:p14="http://schemas.microsoft.com/office/powerpoint/2010/main" val="19087413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27</a:t>
            </a:fld>
            <a:endParaRPr lang="en-US" dirty="0"/>
          </a:p>
        </p:txBody>
      </p:sp>
    </p:spTree>
    <p:extLst>
      <p:ext uri="{BB962C8B-B14F-4D97-AF65-F5344CB8AC3E}">
        <p14:creationId xmlns:p14="http://schemas.microsoft.com/office/powerpoint/2010/main" val="1590097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31</a:t>
            </a:fld>
            <a:endParaRPr lang="en-US" dirty="0"/>
          </a:p>
        </p:txBody>
      </p:sp>
    </p:spTree>
    <p:extLst>
      <p:ext uri="{BB962C8B-B14F-4D97-AF65-F5344CB8AC3E}">
        <p14:creationId xmlns:p14="http://schemas.microsoft.com/office/powerpoint/2010/main" val="31411796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35</a:t>
            </a:fld>
            <a:endParaRPr lang="en-US" dirty="0"/>
          </a:p>
        </p:txBody>
      </p:sp>
    </p:spTree>
    <p:extLst>
      <p:ext uri="{BB962C8B-B14F-4D97-AF65-F5344CB8AC3E}">
        <p14:creationId xmlns:p14="http://schemas.microsoft.com/office/powerpoint/2010/main" val="2736554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36</a:t>
            </a:fld>
            <a:endParaRPr lang="en-US" dirty="0"/>
          </a:p>
        </p:txBody>
      </p:sp>
    </p:spTree>
    <p:extLst>
      <p:ext uri="{BB962C8B-B14F-4D97-AF65-F5344CB8AC3E}">
        <p14:creationId xmlns:p14="http://schemas.microsoft.com/office/powerpoint/2010/main" val="15203380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dirty="0"/>
          </a:p>
        </p:txBody>
      </p:sp>
    </p:spTree>
    <p:extLst>
      <p:ext uri="{BB962C8B-B14F-4D97-AF65-F5344CB8AC3E}">
        <p14:creationId xmlns:p14="http://schemas.microsoft.com/office/powerpoint/2010/main" val="2412196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dirty="0"/>
          </a:p>
        </p:txBody>
      </p:sp>
    </p:spTree>
    <p:extLst>
      <p:ext uri="{BB962C8B-B14F-4D97-AF65-F5344CB8AC3E}">
        <p14:creationId xmlns:p14="http://schemas.microsoft.com/office/powerpoint/2010/main" val="1110383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40</a:t>
            </a:fld>
            <a:endParaRPr lang="en-US" dirty="0"/>
          </a:p>
        </p:txBody>
      </p:sp>
    </p:spTree>
    <p:extLst>
      <p:ext uri="{BB962C8B-B14F-4D97-AF65-F5344CB8AC3E}">
        <p14:creationId xmlns:p14="http://schemas.microsoft.com/office/powerpoint/2010/main" val="18809822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43</a:t>
            </a:fld>
            <a:endParaRPr lang="en-US" dirty="0"/>
          </a:p>
        </p:txBody>
      </p:sp>
    </p:spTree>
    <p:extLst>
      <p:ext uri="{BB962C8B-B14F-4D97-AF65-F5344CB8AC3E}">
        <p14:creationId xmlns:p14="http://schemas.microsoft.com/office/powerpoint/2010/main" val="42853262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44</a:t>
            </a:fld>
            <a:endParaRPr lang="en-US" dirty="0"/>
          </a:p>
        </p:txBody>
      </p:sp>
    </p:spTree>
    <p:extLst>
      <p:ext uri="{BB962C8B-B14F-4D97-AF65-F5344CB8AC3E}">
        <p14:creationId xmlns:p14="http://schemas.microsoft.com/office/powerpoint/2010/main" val="36282109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45</a:t>
            </a:fld>
            <a:endParaRPr lang="en-US" dirty="0"/>
          </a:p>
        </p:txBody>
      </p:sp>
    </p:spTree>
    <p:extLst>
      <p:ext uri="{BB962C8B-B14F-4D97-AF65-F5344CB8AC3E}">
        <p14:creationId xmlns:p14="http://schemas.microsoft.com/office/powerpoint/2010/main" val="2523839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46</a:t>
            </a:fld>
            <a:endParaRPr lang="en-US" dirty="0"/>
          </a:p>
        </p:txBody>
      </p:sp>
    </p:spTree>
    <p:extLst>
      <p:ext uri="{BB962C8B-B14F-4D97-AF65-F5344CB8AC3E}">
        <p14:creationId xmlns:p14="http://schemas.microsoft.com/office/powerpoint/2010/main" val="2790242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47</a:t>
            </a:fld>
            <a:endParaRPr lang="en-US" dirty="0"/>
          </a:p>
        </p:txBody>
      </p:sp>
    </p:spTree>
    <p:extLst>
      <p:ext uri="{BB962C8B-B14F-4D97-AF65-F5344CB8AC3E}">
        <p14:creationId xmlns:p14="http://schemas.microsoft.com/office/powerpoint/2010/main" val="23293907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48</a:t>
            </a:fld>
            <a:endParaRPr lang="en-US" dirty="0"/>
          </a:p>
        </p:txBody>
      </p:sp>
    </p:spTree>
    <p:extLst>
      <p:ext uri="{BB962C8B-B14F-4D97-AF65-F5344CB8AC3E}">
        <p14:creationId xmlns:p14="http://schemas.microsoft.com/office/powerpoint/2010/main" val="41202200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52</a:t>
            </a:fld>
            <a:endParaRPr lang="en-US" dirty="0"/>
          </a:p>
        </p:txBody>
      </p:sp>
    </p:spTree>
    <p:extLst>
      <p:ext uri="{BB962C8B-B14F-4D97-AF65-F5344CB8AC3E}">
        <p14:creationId xmlns:p14="http://schemas.microsoft.com/office/powerpoint/2010/main" val="203629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Drag picture to placeholder or click icon to add</a:t>
            </a:r>
            <a:endParaRPr lang="en-GB"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16/11/2017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16/11/2017</a:t>
            </a:fld>
            <a:endParaRPr lang="en-GB" dirty="0"/>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dirty="0"/>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16/11/2017</a:t>
            </a:fld>
            <a:endParaRPr lang="en-GB" dirty="0"/>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dirty="0"/>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4.xml"/><Relationship Id="rId12" Type="http://schemas.openxmlformats.org/officeDocument/2006/relationships/theme" Target="../theme/theme2.xml"/><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slideLayout" Target="../slideLayouts/slideLayout30.xml"/><Relationship Id="rId17" Type="http://schemas.openxmlformats.org/officeDocument/2006/relationships/theme" Target="../theme/theme3.xml"/><Relationship Id="rId18" Type="http://schemas.openxmlformats.org/officeDocument/2006/relationships/image" Target="../media/image2.jpeg"/><Relationship Id="rId19" Type="http://schemas.openxmlformats.org/officeDocument/2006/relationships/image" Target="../media/image3.jpeg"/><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16/11/2017</a:t>
            </a:fld>
            <a:endParaRPr lang="en-GB"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dirty="0"/>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16/11/2017</a:t>
            </a:fld>
            <a:endParaRPr lang="en-GB"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dirty="0"/>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4" Type="http://schemas.openxmlformats.org/officeDocument/2006/relationships/hyperlink" Target="http://www.pixl.org.uk/" TargetMode="External"/><Relationship Id="rId5" Type="http://schemas.openxmlformats.org/officeDocument/2006/relationships/image" Target="../media/image5.jpeg"/><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tif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tif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tiff"/></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tif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tif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tif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tif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tif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tif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tif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4"/>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742837"/>
          </a:xfrm>
          <a:prstGeom prst="rect">
            <a:avLst/>
          </a:prstGeom>
          <a:noFill/>
        </p:spPr>
        <p:txBody>
          <a:bodyPr wrap="square" rtlCol="0">
            <a:spAutoFit/>
          </a:bodyPr>
          <a:lstStyle/>
          <a:p>
            <a:pPr algn="ctr">
              <a:lnSpc>
                <a:spcPct val="115000"/>
              </a:lnSpc>
              <a:spcAft>
                <a:spcPts val="0"/>
              </a:spcAft>
            </a:pPr>
            <a:r>
              <a:rPr lang="en-GB" sz="7200" b="1" dirty="0"/>
              <a:t>PiXL KnowIT!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AQA Topic – The Rate And Extent of Chemical Change</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9752" y="35655"/>
            <a:ext cx="6804248" cy="1017081"/>
          </a:xfrm>
        </p:spPr>
        <p:txBody>
          <a:bodyPr>
            <a:normAutofit/>
          </a:bodyPr>
          <a:lstStyle/>
          <a:p>
            <a:pPr algn="r"/>
            <a:r>
              <a:rPr lang="en-GB" sz="2800" b="1" dirty="0">
                <a:solidFill>
                  <a:schemeClr val="accent6"/>
                </a:solidFill>
              </a:rPr>
              <a:t>Overview </a:t>
            </a:r>
            <a:br>
              <a:rPr lang="en-GB" sz="2800" b="1" dirty="0">
                <a:solidFill>
                  <a:schemeClr val="accent6"/>
                </a:solidFill>
              </a:rPr>
            </a:br>
            <a:r>
              <a:rPr lang="en-GB" sz="2800" b="1" dirty="0">
                <a:solidFill>
                  <a:schemeClr val="accent6"/>
                </a:solidFill>
              </a:rPr>
              <a:t> The Rate And Extent of Chemical Change</a:t>
            </a:r>
          </a:p>
        </p:txBody>
      </p:sp>
      <p:sp>
        <p:nvSpPr>
          <p:cNvPr id="3" name="Subtitle 2"/>
          <p:cNvSpPr>
            <a:spLocks noGrp="1"/>
          </p:cNvSpPr>
          <p:nvPr>
            <p:ph type="subTitle" idx="1"/>
          </p:nvPr>
        </p:nvSpPr>
        <p:spPr>
          <a:xfrm>
            <a:off x="179512" y="908720"/>
            <a:ext cx="4896544" cy="5472608"/>
          </a:xfrm>
        </p:spPr>
        <p:txBody>
          <a:bodyPr>
            <a:normAutofit lnSpcReduction="10000"/>
          </a:bodyPr>
          <a:lstStyle/>
          <a:p>
            <a:pPr algn="l"/>
            <a:r>
              <a:rPr lang="en-US" sz="1800" b="1" dirty="0">
                <a:solidFill>
                  <a:schemeClr val="tx1"/>
                </a:solidFill>
                <a:latin typeface="+mn-lt"/>
              </a:rPr>
              <a:t>Rate of reaction</a:t>
            </a:r>
          </a:p>
          <a:p>
            <a:pPr marL="685800" lvl="1" indent="-342900" algn="l">
              <a:buFont typeface="Arial" charset="0"/>
              <a:buChar char="•"/>
            </a:pPr>
            <a:r>
              <a:rPr lang="en-US" sz="1800" dirty="0">
                <a:solidFill>
                  <a:schemeClr val="tx1"/>
                </a:solidFill>
              </a:rPr>
              <a:t>Calculating rates of reaction</a:t>
            </a:r>
          </a:p>
          <a:p>
            <a:pPr marL="685800" lvl="1" indent="-342900" algn="l">
              <a:buFont typeface="Arial" charset="0"/>
              <a:buChar char="•"/>
            </a:pPr>
            <a:r>
              <a:rPr lang="en-US" sz="1800" dirty="0">
                <a:solidFill>
                  <a:schemeClr val="tx1"/>
                </a:solidFill>
              </a:rPr>
              <a:t>Factors which affect the rates of chemical reactions</a:t>
            </a:r>
          </a:p>
          <a:p>
            <a:pPr marL="685800" lvl="1" indent="-342900" algn="l">
              <a:buFont typeface="Arial" charset="0"/>
              <a:buChar char="•"/>
            </a:pPr>
            <a:r>
              <a:rPr lang="en-US" sz="1800" dirty="0">
                <a:solidFill>
                  <a:schemeClr val="tx1"/>
                </a:solidFill>
              </a:rPr>
              <a:t>Collision theory and activation energy</a:t>
            </a:r>
          </a:p>
          <a:p>
            <a:pPr marL="685800" lvl="1" indent="-342900" algn="l">
              <a:buFont typeface="Arial" charset="0"/>
              <a:buChar char="•"/>
            </a:pPr>
            <a:r>
              <a:rPr lang="en-US" sz="1800" dirty="0">
                <a:solidFill>
                  <a:schemeClr val="tx1"/>
                </a:solidFill>
              </a:rPr>
              <a:t>Catalysts</a:t>
            </a:r>
          </a:p>
          <a:p>
            <a:pPr algn="l"/>
            <a:r>
              <a:rPr lang="en-US" sz="1800" b="1" dirty="0">
                <a:solidFill>
                  <a:schemeClr val="tx1"/>
                </a:solidFill>
                <a:latin typeface="+mn-lt"/>
              </a:rPr>
              <a:t>Reversible reactions and dynamic equilibrium</a:t>
            </a:r>
          </a:p>
          <a:p>
            <a:pPr marL="685800" lvl="1" indent="-342900" algn="l">
              <a:buFont typeface="Arial" charset="0"/>
              <a:buChar char="•"/>
            </a:pPr>
            <a:r>
              <a:rPr lang="en-US" sz="1800" dirty="0">
                <a:solidFill>
                  <a:schemeClr val="tx1"/>
                </a:solidFill>
              </a:rPr>
              <a:t>Reversible reaction</a:t>
            </a:r>
          </a:p>
          <a:p>
            <a:pPr marL="685800" lvl="1" indent="-342900" algn="l">
              <a:buFont typeface="Arial" charset="0"/>
              <a:buChar char="•"/>
            </a:pPr>
            <a:r>
              <a:rPr lang="en-US" sz="1800" dirty="0">
                <a:solidFill>
                  <a:schemeClr val="tx1"/>
                </a:solidFill>
              </a:rPr>
              <a:t>Energy changes and reversible reactions</a:t>
            </a:r>
          </a:p>
          <a:p>
            <a:pPr marL="685800" lvl="1" indent="-342900" algn="l">
              <a:buFont typeface="Arial" charset="0"/>
              <a:buChar char="•"/>
            </a:pPr>
            <a:r>
              <a:rPr lang="en-US" sz="1800" dirty="0">
                <a:solidFill>
                  <a:schemeClr val="tx1"/>
                </a:solidFill>
              </a:rPr>
              <a:t>Equilibrium</a:t>
            </a:r>
          </a:p>
          <a:p>
            <a:pPr marL="685800" lvl="1" indent="-342900" algn="l">
              <a:buFont typeface="Arial" charset="0"/>
              <a:buChar char="•"/>
            </a:pPr>
            <a:r>
              <a:rPr lang="en-US" sz="1800" dirty="0">
                <a:solidFill>
                  <a:schemeClr val="tx1"/>
                </a:solidFill>
              </a:rPr>
              <a:t>The effect of changing conditions on equilibrium (HT only)</a:t>
            </a:r>
          </a:p>
          <a:p>
            <a:pPr marL="685800" lvl="1" indent="-342900" algn="l">
              <a:buFont typeface="Arial" charset="0"/>
              <a:buChar char="•"/>
            </a:pPr>
            <a:r>
              <a:rPr lang="en-US" sz="1800" dirty="0">
                <a:solidFill>
                  <a:schemeClr val="tx1"/>
                </a:solidFill>
              </a:rPr>
              <a:t>The effect of changing concentration (HT only)</a:t>
            </a:r>
          </a:p>
          <a:p>
            <a:pPr marL="685800" lvl="1" indent="-342900" algn="l">
              <a:buFont typeface="Arial" charset="0"/>
              <a:buChar char="•"/>
            </a:pPr>
            <a:r>
              <a:rPr lang="en-US" sz="1800" dirty="0">
                <a:solidFill>
                  <a:schemeClr val="tx1"/>
                </a:solidFill>
              </a:rPr>
              <a:t>The effect of temperature changes on equilibrium (HT only)</a:t>
            </a:r>
          </a:p>
          <a:p>
            <a:pPr marL="685800" lvl="1" indent="-342900" algn="l">
              <a:buFont typeface="Arial" charset="0"/>
              <a:buChar char="•"/>
            </a:pPr>
            <a:r>
              <a:rPr lang="en-US" sz="1800" dirty="0">
                <a:solidFill>
                  <a:schemeClr val="tx1"/>
                </a:solidFill>
              </a:rPr>
              <a:t>The effect of pressure changes on equilibrium (HT only)</a:t>
            </a: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4" name="Picture 3"/>
          <p:cNvPicPr>
            <a:picLocks noChangeAspect="1"/>
          </p:cNvPicPr>
          <p:nvPr/>
        </p:nvPicPr>
        <p:blipFill>
          <a:blip r:embed="rId2"/>
          <a:stretch>
            <a:fillRect/>
          </a:stretch>
        </p:blipFill>
        <p:spPr>
          <a:xfrm>
            <a:off x="5076056" y="1196752"/>
            <a:ext cx="3888432" cy="4680520"/>
          </a:xfrm>
          <a:prstGeom prst="rect">
            <a:avLst/>
          </a:prstGeom>
        </p:spPr>
      </p:pic>
    </p:spTree>
    <p:extLst>
      <p:ext uri="{BB962C8B-B14F-4D97-AF65-F5344CB8AC3E}">
        <p14:creationId xmlns:p14="http://schemas.microsoft.com/office/powerpoint/2010/main" val="7324485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4308872"/>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1 </a:t>
            </a:r>
          </a:p>
          <a:p>
            <a:pPr marL="457200" indent="-457200">
              <a:buFont typeface="Arial" charset="0"/>
              <a:buChar char="•"/>
            </a:pPr>
            <a:r>
              <a:rPr lang="en-GB" sz="2400" b="1" dirty="0">
                <a:solidFill>
                  <a:schemeClr val="tx1">
                    <a:lumMod val="50000"/>
                    <a:lumOff val="50000"/>
                  </a:schemeClr>
                </a:solidFill>
              </a:rPr>
              <a:t>Calculating rates</a:t>
            </a:r>
          </a:p>
          <a:p>
            <a:r>
              <a:rPr lang="en-GB" sz="2400" b="1" dirty="0">
                <a:solidFill>
                  <a:schemeClr val="tx1">
                    <a:lumMod val="50000"/>
                    <a:lumOff val="50000"/>
                  </a:schemeClr>
                </a:solidFill>
              </a:rPr>
              <a:t>       of reactions</a:t>
            </a: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6323850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200" b="1" dirty="0">
                <a:solidFill>
                  <a:schemeClr val="accent6"/>
                </a:solidFill>
              </a:rPr>
              <a:t>Rate of reactions part 1 – </a:t>
            </a:r>
            <a:r>
              <a:rPr kumimoji="0" lang="en-US" sz="2200" b="1" i="0" u="none" strike="noStrike" kern="1200" cap="none" spc="0" normalizeH="0" baseline="0" noProof="0" dirty="0">
                <a:ln>
                  <a:noFill/>
                </a:ln>
                <a:solidFill>
                  <a:schemeClr val="accent6"/>
                </a:solidFill>
                <a:effectLst/>
                <a:uLnTx/>
                <a:uFillTx/>
                <a:latin typeface="Calibri"/>
                <a:ea typeface=""/>
                <a:cs typeface="News Gothic MT"/>
              </a:rPr>
              <a:t>Calculating rates of</a:t>
            </a:r>
            <a:r>
              <a:rPr kumimoji="0" lang="en-US" sz="2200" b="1" i="0" u="none" strike="noStrike" kern="1200" cap="none" spc="0" normalizeH="0" noProof="0" dirty="0">
                <a:ln>
                  <a:noFill/>
                </a:ln>
                <a:solidFill>
                  <a:schemeClr val="accent6"/>
                </a:solidFill>
                <a:effectLst/>
                <a:uLnTx/>
                <a:uFillTx/>
                <a:latin typeface="Calibri"/>
                <a:ea typeface=""/>
                <a:cs typeface="News Gothic MT"/>
              </a:rPr>
              <a:t> reactions</a:t>
            </a:r>
            <a:endParaRPr lang="en-GB" sz="2200" b="1" dirty="0">
              <a:solidFill>
                <a:schemeClr val="accent6"/>
              </a:solidFill>
            </a:endParaRPr>
          </a:p>
        </p:txBody>
      </p:sp>
      <p:sp>
        <p:nvSpPr>
          <p:cNvPr id="7" name="TextBox 6"/>
          <p:cNvSpPr txBox="1"/>
          <p:nvPr/>
        </p:nvSpPr>
        <p:spPr>
          <a:xfrm>
            <a:off x="395536" y="734992"/>
            <a:ext cx="8561561" cy="2554545"/>
          </a:xfrm>
          <a:prstGeom prst="rect">
            <a:avLst/>
          </a:prstGeom>
          <a:noFill/>
          <a:ln w="19050">
            <a:solidFill>
              <a:schemeClr val="accent6"/>
            </a:solidFill>
          </a:ln>
        </p:spPr>
        <p:txBody>
          <a:bodyPr wrap="square" rtlCol="0">
            <a:spAutoFit/>
          </a:bodyPr>
          <a:lstStyle/>
          <a:p>
            <a:pPr algn="ctr"/>
            <a:r>
              <a:rPr lang="en-GB" sz="2000" b="1" dirty="0"/>
              <a:t>The rate of a chemical reaction can be found by measuring the quantity of a reactant used or the quantity of product formed over time.</a:t>
            </a:r>
          </a:p>
          <a:p>
            <a:pPr algn="ctr"/>
            <a:endParaRPr lang="en-GB" sz="2000" b="1" dirty="0"/>
          </a:p>
          <a:p>
            <a:pPr algn="ctr"/>
            <a:r>
              <a:rPr lang="en-GB" sz="2000" b="1" dirty="0"/>
              <a:t>Mean rate of reaction  =  </a:t>
            </a:r>
            <a:r>
              <a:rPr lang="en-GB" sz="2000" b="1" u="sng" dirty="0"/>
              <a:t>quantity of reactant used</a:t>
            </a:r>
          </a:p>
          <a:p>
            <a:pPr algn="ctr"/>
            <a:r>
              <a:rPr lang="en-GB" sz="2000" b="1" dirty="0"/>
              <a:t>                                        time taken</a:t>
            </a:r>
          </a:p>
          <a:p>
            <a:pPr algn="ctr"/>
            <a:endParaRPr lang="en-GB" sz="2000" b="1" dirty="0"/>
          </a:p>
          <a:p>
            <a:pPr algn="ctr"/>
            <a:r>
              <a:rPr lang="en-GB" sz="2000" b="1" dirty="0"/>
              <a:t>Mean rate of reaction  =  </a:t>
            </a:r>
            <a:r>
              <a:rPr lang="en-GB" sz="2000" b="1" u="sng" dirty="0"/>
              <a:t>quantity of product formed</a:t>
            </a:r>
            <a:r>
              <a:rPr lang="en-GB" sz="2000" b="1" dirty="0"/>
              <a:t> </a:t>
            </a:r>
          </a:p>
          <a:p>
            <a:pPr algn="ctr"/>
            <a:r>
              <a:rPr lang="en-GB" sz="2000" b="1" dirty="0"/>
              <a:t>                                         time taken</a:t>
            </a:r>
          </a:p>
        </p:txBody>
      </p:sp>
      <p:sp>
        <p:nvSpPr>
          <p:cNvPr id="4" name="TextBox 3"/>
          <p:cNvSpPr txBox="1"/>
          <p:nvPr/>
        </p:nvSpPr>
        <p:spPr>
          <a:xfrm>
            <a:off x="395536" y="3501008"/>
            <a:ext cx="3312368" cy="1323439"/>
          </a:xfrm>
          <a:prstGeom prst="rect">
            <a:avLst/>
          </a:prstGeom>
          <a:noFill/>
          <a:ln w="19050">
            <a:solidFill>
              <a:schemeClr val="accent6"/>
            </a:solidFill>
          </a:ln>
        </p:spPr>
        <p:txBody>
          <a:bodyPr wrap="square" rtlCol="0">
            <a:spAutoFit/>
          </a:bodyPr>
          <a:lstStyle/>
          <a:p>
            <a:pPr algn="ctr"/>
            <a:r>
              <a:rPr lang="en-GB" sz="2000" b="1" dirty="0"/>
              <a:t>The quantity of reactant or product can be measured by the mass in grams or by a volume in cm</a:t>
            </a:r>
            <a:r>
              <a:rPr lang="en-GB" sz="2000" b="1" baseline="30000" dirty="0"/>
              <a:t>3</a:t>
            </a:r>
            <a:r>
              <a:rPr lang="en-GB" sz="2000" b="1" dirty="0"/>
              <a:t>.</a:t>
            </a:r>
            <a:endParaRPr lang="en-GB" sz="2000" b="1" baseline="30000" dirty="0"/>
          </a:p>
        </p:txBody>
      </p:sp>
      <p:sp>
        <p:nvSpPr>
          <p:cNvPr id="5" name="TextBox 4"/>
          <p:cNvSpPr txBox="1"/>
          <p:nvPr/>
        </p:nvSpPr>
        <p:spPr>
          <a:xfrm>
            <a:off x="395536" y="4941168"/>
            <a:ext cx="3312368" cy="707886"/>
          </a:xfrm>
          <a:prstGeom prst="rect">
            <a:avLst/>
          </a:prstGeom>
          <a:noFill/>
          <a:ln w="19050">
            <a:solidFill>
              <a:schemeClr val="accent6"/>
            </a:solidFill>
          </a:ln>
        </p:spPr>
        <p:txBody>
          <a:bodyPr wrap="square" rtlCol="0">
            <a:spAutoFit/>
          </a:bodyPr>
          <a:lstStyle/>
          <a:p>
            <a:pPr algn="ctr"/>
            <a:r>
              <a:rPr lang="en-GB" sz="2000" b="1" dirty="0"/>
              <a:t>The units of rate of reaction may be given as g/s or cm</a:t>
            </a:r>
            <a:r>
              <a:rPr lang="en-GB" sz="2000" b="1" baseline="30000" dirty="0"/>
              <a:t>3</a:t>
            </a:r>
            <a:r>
              <a:rPr lang="en-GB" sz="2000" b="1" dirty="0"/>
              <a:t>/s.</a:t>
            </a:r>
          </a:p>
        </p:txBody>
      </p:sp>
      <p:pic>
        <p:nvPicPr>
          <p:cNvPr id="3" name="Picture 2"/>
          <p:cNvPicPr>
            <a:picLocks noChangeAspect="1"/>
          </p:cNvPicPr>
          <p:nvPr/>
        </p:nvPicPr>
        <p:blipFill>
          <a:blip r:embed="rId3"/>
          <a:stretch>
            <a:fillRect/>
          </a:stretch>
        </p:blipFill>
        <p:spPr>
          <a:xfrm>
            <a:off x="4139952" y="3469303"/>
            <a:ext cx="4896544" cy="3056039"/>
          </a:xfrm>
          <a:prstGeom prst="rect">
            <a:avLst/>
          </a:prstGeom>
        </p:spPr>
      </p:pic>
    </p:spTree>
    <p:extLst>
      <p:ext uri="{BB962C8B-B14F-4D97-AF65-F5344CB8AC3E}">
        <p14:creationId xmlns:p14="http://schemas.microsoft.com/office/powerpoint/2010/main" val="12704805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188640"/>
            <a:ext cx="8604448" cy="546447"/>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200" b="1" dirty="0">
                <a:solidFill>
                  <a:schemeClr val="accent6"/>
                </a:solidFill>
              </a:rPr>
              <a:t>Rate of reactions part 1 – </a:t>
            </a:r>
            <a:r>
              <a:rPr lang="en-US" sz="2200" b="1" kern="1200" dirty="0">
                <a:solidFill>
                  <a:schemeClr val="accent6"/>
                </a:solidFill>
                <a:latin typeface="Calibri"/>
                <a:ea typeface=""/>
                <a:cs typeface="News Gothic MT"/>
              </a:rPr>
              <a:t>Calculating rates of reactions</a:t>
            </a:r>
            <a:endParaRPr lang="en-GB" sz="2200" b="1" dirty="0">
              <a:solidFill>
                <a:schemeClr val="accent6"/>
              </a:solidFill>
            </a:endParaRPr>
          </a:p>
        </p:txBody>
      </p:sp>
      <p:sp>
        <p:nvSpPr>
          <p:cNvPr id="6" name="TextBox 5"/>
          <p:cNvSpPr txBox="1"/>
          <p:nvPr/>
        </p:nvSpPr>
        <p:spPr>
          <a:xfrm>
            <a:off x="3563888" y="2027749"/>
            <a:ext cx="4104456" cy="609163"/>
          </a:xfrm>
          <a:prstGeom prst="rect">
            <a:avLst/>
          </a:prstGeom>
          <a:noFill/>
        </p:spPr>
        <p:txBody>
          <a:bodyPr wrap="square" rtlCol="0">
            <a:spAutoFit/>
          </a:bodyPr>
          <a:lstStyle/>
          <a:p>
            <a:endParaRPr lang="en-GB" dirty="0"/>
          </a:p>
        </p:txBody>
      </p:sp>
      <p:sp>
        <p:nvSpPr>
          <p:cNvPr id="4" name="TextBox 3"/>
          <p:cNvSpPr txBox="1"/>
          <p:nvPr/>
        </p:nvSpPr>
        <p:spPr>
          <a:xfrm>
            <a:off x="179512" y="836712"/>
            <a:ext cx="4536504" cy="2800767"/>
          </a:xfrm>
          <a:prstGeom prst="rect">
            <a:avLst/>
          </a:prstGeom>
          <a:solidFill>
            <a:schemeClr val="accent6"/>
          </a:solidFill>
          <a:ln>
            <a:solidFill>
              <a:schemeClr val="tx1"/>
            </a:solidFill>
          </a:ln>
        </p:spPr>
        <p:txBody>
          <a:bodyPr wrap="square" rtlCol="0">
            <a:spAutoFit/>
          </a:bodyPr>
          <a:lstStyle/>
          <a:p>
            <a:r>
              <a:rPr lang="en-GB" sz="1600" b="1" u="sng" dirty="0"/>
              <a:t>Worked example 1</a:t>
            </a:r>
          </a:p>
          <a:p>
            <a:r>
              <a:rPr lang="en-GB" sz="1600" b="1" dirty="0"/>
              <a:t>25cm</a:t>
            </a:r>
            <a:r>
              <a:rPr lang="en-GB" sz="1600" b="1" baseline="30000" dirty="0"/>
              <a:t>3</a:t>
            </a:r>
            <a:r>
              <a:rPr lang="en-GB" sz="1600" b="1" dirty="0"/>
              <a:t> of carbon dioxide was given off in the first 2 seconds of a reaction. Calculate the mean rate of reaction and give the units.</a:t>
            </a:r>
          </a:p>
          <a:p>
            <a:r>
              <a:rPr lang="en-GB" sz="1600" b="1" dirty="0"/>
              <a:t>Mean rate of reaction = </a:t>
            </a:r>
            <a:r>
              <a:rPr lang="en-GB" sz="1600" b="1" u="sng" dirty="0"/>
              <a:t>quantity of product formed</a:t>
            </a:r>
          </a:p>
          <a:p>
            <a:r>
              <a:rPr lang="en-GB" sz="1600" b="1" dirty="0"/>
              <a:t>                                                        time taken</a:t>
            </a:r>
          </a:p>
          <a:p>
            <a:endParaRPr lang="en-GB" sz="1600" b="1" dirty="0"/>
          </a:p>
          <a:p>
            <a:r>
              <a:rPr lang="en-GB" sz="1600" b="1" dirty="0"/>
              <a:t>Mean rate of reaction =      </a:t>
            </a:r>
            <a:r>
              <a:rPr lang="en-GB" sz="1600" b="1" u="sng" dirty="0"/>
              <a:t>25cm</a:t>
            </a:r>
            <a:r>
              <a:rPr lang="en-GB" sz="1600" b="1" u="sng" baseline="30000" dirty="0"/>
              <a:t>3</a:t>
            </a:r>
          </a:p>
          <a:p>
            <a:r>
              <a:rPr lang="en-GB" sz="1600" b="1" dirty="0"/>
              <a:t>                                                   2 s</a:t>
            </a:r>
          </a:p>
          <a:p>
            <a:endParaRPr lang="en-GB" sz="1600" b="1" dirty="0"/>
          </a:p>
          <a:p>
            <a:r>
              <a:rPr lang="en-GB" sz="1600" b="1" dirty="0"/>
              <a:t>Mean rate of reaction =      12.5 cm</a:t>
            </a:r>
            <a:r>
              <a:rPr lang="en-GB" sz="1600" b="1" baseline="30000" dirty="0"/>
              <a:t>3</a:t>
            </a:r>
            <a:r>
              <a:rPr lang="en-GB" sz="1600" b="1" dirty="0"/>
              <a:t>/s</a:t>
            </a:r>
          </a:p>
        </p:txBody>
      </p:sp>
      <p:sp>
        <p:nvSpPr>
          <p:cNvPr id="12" name="TextBox 11"/>
          <p:cNvSpPr txBox="1"/>
          <p:nvPr/>
        </p:nvSpPr>
        <p:spPr>
          <a:xfrm>
            <a:off x="179512" y="3739103"/>
            <a:ext cx="4532947" cy="2736373"/>
          </a:xfrm>
          <a:custGeom>
            <a:avLst/>
            <a:gdLst>
              <a:gd name="connsiteX0" fmla="*/ 0 w 5112568"/>
              <a:gd name="connsiteY0" fmla="*/ 0 h 2800767"/>
              <a:gd name="connsiteX1" fmla="*/ 5112568 w 5112568"/>
              <a:gd name="connsiteY1" fmla="*/ 0 h 2800767"/>
              <a:gd name="connsiteX2" fmla="*/ 5112568 w 5112568"/>
              <a:gd name="connsiteY2" fmla="*/ 2800767 h 2800767"/>
              <a:gd name="connsiteX3" fmla="*/ 0 w 5112568"/>
              <a:gd name="connsiteY3" fmla="*/ 2800767 h 2800767"/>
              <a:gd name="connsiteX4" fmla="*/ 0 w 5112568"/>
              <a:gd name="connsiteY4" fmla="*/ 0 h 2800767"/>
              <a:gd name="connsiteX0" fmla="*/ 0 w 5112568"/>
              <a:gd name="connsiteY0" fmla="*/ 0 h 2929556"/>
              <a:gd name="connsiteX1" fmla="*/ 5112568 w 5112568"/>
              <a:gd name="connsiteY1" fmla="*/ 128789 h 2929556"/>
              <a:gd name="connsiteX2" fmla="*/ 5112568 w 5112568"/>
              <a:gd name="connsiteY2" fmla="*/ 2929556 h 2929556"/>
              <a:gd name="connsiteX3" fmla="*/ 0 w 5112568"/>
              <a:gd name="connsiteY3" fmla="*/ 2929556 h 2929556"/>
              <a:gd name="connsiteX4" fmla="*/ 0 w 5112568"/>
              <a:gd name="connsiteY4" fmla="*/ 0 h 2929556"/>
              <a:gd name="connsiteX0" fmla="*/ 12879 w 5112568"/>
              <a:gd name="connsiteY0" fmla="*/ 0 h 2929556"/>
              <a:gd name="connsiteX1" fmla="*/ 5112568 w 5112568"/>
              <a:gd name="connsiteY1" fmla="*/ 128789 h 2929556"/>
              <a:gd name="connsiteX2" fmla="*/ 5112568 w 5112568"/>
              <a:gd name="connsiteY2" fmla="*/ 2929556 h 2929556"/>
              <a:gd name="connsiteX3" fmla="*/ 0 w 5112568"/>
              <a:gd name="connsiteY3" fmla="*/ 2929556 h 2929556"/>
              <a:gd name="connsiteX4" fmla="*/ 12879 w 5112568"/>
              <a:gd name="connsiteY4" fmla="*/ 0 h 2929556"/>
              <a:gd name="connsiteX0" fmla="*/ 12879 w 5112568"/>
              <a:gd name="connsiteY0" fmla="*/ 0 h 2929556"/>
              <a:gd name="connsiteX1" fmla="*/ 4533019 w 5112568"/>
              <a:gd name="connsiteY1" fmla="*/ 0 h 2929556"/>
              <a:gd name="connsiteX2" fmla="*/ 5112568 w 5112568"/>
              <a:gd name="connsiteY2" fmla="*/ 2929556 h 2929556"/>
              <a:gd name="connsiteX3" fmla="*/ 0 w 5112568"/>
              <a:gd name="connsiteY3" fmla="*/ 2929556 h 2929556"/>
              <a:gd name="connsiteX4" fmla="*/ 12879 w 5112568"/>
              <a:gd name="connsiteY4" fmla="*/ 0 h 2929556"/>
              <a:gd name="connsiteX0" fmla="*/ 0 w 5099689"/>
              <a:gd name="connsiteY0" fmla="*/ 0 h 2929556"/>
              <a:gd name="connsiteX1" fmla="*/ 4520140 w 5099689"/>
              <a:gd name="connsiteY1" fmla="*/ 0 h 2929556"/>
              <a:gd name="connsiteX2" fmla="*/ 5099689 w 5099689"/>
              <a:gd name="connsiteY2" fmla="*/ 2929556 h 2929556"/>
              <a:gd name="connsiteX3" fmla="*/ 0 w 5099689"/>
              <a:gd name="connsiteY3" fmla="*/ 2736373 h 2929556"/>
              <a:gd name="connsiteX4" fmla="*/ 0 w 5099689"/>
              <a:gd name="connsiteY4" fmla="*/ 0 h 2929556"/>
              <a:gd name="connsiteX0" fmla="*/ 0 w 4545897"/>
              <a:gd name="connsiteY0" fmla="*/ 0 h 2736373"/>
              <a:gd name="connsiteX1" fmla="*/ 4520140 w 4545897"/>
              <a:gd name="connsiteY1" fmla="*/ 0 h 2736373"/>
              <a:gd name="connsiteX2" fmla="*/ 4545897 w 4545897"/>
              <a:gd name="connsiteY2" fmla="*/ 2736372 h 2736373"/>
              <a:gd name="connsiteX3" fmla="*/ 0 w 4545897"/>
              <a:gd name="connsiteY3" fmla="*/ 2736373 h 2736373"/>
              <a:gd name="connsiteX4" fmla="*/ 0 w 4545897"/>
              <a:gd name="connsiteY4" fmla="*/ 0 h 2736373"/>
              <a:gd name="connsiteX0" fmla="*/ 0 w 4545897"/>
              <a:gd name="connsiteY0" fmla="*/ 0 h 2736372"/>
              <a:gd name="connsiteX1" fmla="*/ 4520140 w 4545897"/>
              <a:gd name="connsiteY1" fmla="*/ 0 h 2736372"/>
              <a:gd name="connsiteX2" fmla="*/ 4545897 w 4545897"/>
              <a:gd name="connsiteY2" fmla="*/ 2736372 h 2736372"/>
              <a:gd name="connsiteX3" fmla="*/ 0 w 4545897"/>
              <a:gd name="connsiteY3" fmla="*/ 2660692 h 2736372"/>
              <a:gd name="connsiteX4" fmla="*/ 0 w 4545897"/>
              <a:gd name="connsiteY4" fmla="*/ 0 h 2736372"/>
              <a:gd name="connsiteX0" fmla="*/ 0 w 4533055"/>
              <a:gd name="connsiteY0" fmla="*/ 0 h 2660692"/>
              <a:gd name="connsiteX1" fmla="*/ 4520140 w 4533055"/>
              <a:gd name="connsiteY1" fmla="*/ 0 h 2660692"/>
              <a:gd name="connsiteX2" fmla="*/ 4533055 w 4533055"/>
              <a:gd name="connsiteY2" fmla="*/ 2660690 h 2660692"/>
              <a:gd name="connsiteX3" fmla="*/ 0 w 4533055"/>
              <a:gd name="connsiteY3" fmla="*/ 2660692 h 2660692"/>
              <a:gd name="connsiteX4" fmla="*/ 0 w 4533055"/>
              <a:gd name="connsiteY4" fmla="*/ 0 h 2660692"/>
              <a:gd name="connsiteX0" fmla="*/ 0 w 4520212"/>
              <a:gd name="connsiteY0" fmla="*/ 0 h 2660692"/>
              <a:gd name="connsiteX1" fmla="*/ 4520140 w 4520212"/>
              <a:gd name="connsiteY1" fmla="*/ 0 h 2660692"/>
              <a:gd name="connsiteX2" fmla="*/ 4520212 w 4520212"/>
              <a:gd name="connsiteY2" fmla="*/ 2660690 h 2660692"/>
              <a:gd name="connsiteX3" fmla="*/ 0 w 4520212"/>
              <a:gd name="connsiteY3" fmla="*/ 2660692 h 2660692"/>
              <a:gd name="connsiteX4" fmla="*/ 0 w 4520212"/>
              <a:gd name="connsiteY4" fmla="*/ 0 h 2660692"/>
              <a:gd name="connsiteX0" fmla="*/ 0 w 4520212"/>
              <a:gd name="connsiteY0" fmla="*/ 0 h 2660690"/>
              <a:gd name="connsiteX1" fmla="*/ 4520140 w 4520212"/>
              <a:gd name="connsiteY1" fmla="*/ 0 h 2660690"/>
              <a:gd name="connsiteX2" fmla="*/ 4520212 w 4520212"/>
              <a:gd name="connsiteY2" fmla="*/ 2660690 h 2660690"/>
              <a:gd name="connsiteX3" fmla="*/ 0 w 4520212"/>
              <a:gd name="connsiteY3" fmla="*/ 2599519 h 2660690"/>
              <a:gd name="connsiteX4" fmla="*/ 0 w 4520212"/>
              <a:gd name="connsiteY4" fmla="*/ 0 h 2660690"/>
              <a:gd name="connsiteX0" fmla="*/ 0 w 4520140"/>
              <a:gd name="connsiteY0" fmla="*/ 0 h 2611750"/>
              <a:gd name="connsiteX1" fmla="*/ 4520140 w 4520140"/>
              <a:gd name="connsiteY1" fmla="*/ 0 h 2611750"/>
              <a:gd name="connsiteX2" fmla="*/ 4507369 w 4520140"/>
              <a:gd name="connsiteY2" fmla="*/ 2611750 h 2611750"/>
              <a:gd name="connsiteX3" fmla="*/ 0 w 4520140"/>
              <a:gd name="connsiteY3" fmla="*/ 2599519 h 2611750"/>
              <a:gd name="connsiteX4" fmla="*/ 0 w 4520140"/>
              <a:gd name="connsiteY4" fmla="*/ 0 h 2611750"/>
              <a:gd name="connsiteX0" fmla="*/ 0 w 4520140"/>
              <a:gd name="connsiteY0" fmla="*/ 0 h 2611750"/>
              <a:gd name="connsiteX1" fmla="*/ 4520140 w 4520140"/>
              <a:gd name="connsiteY1" fmla="*/ 0 h 2611750"/>
              <a:gd name="connsiteX2" fmla="*/ 4507369 w 4520140"/>
              <a:gd name="connsiteY2" fmla="*/ 2611750 h 2611750"/>
              <a:gd name="connsiteX3" fmla="*/ 0 w 4520140"/>
              <a:gd name="connsiteY3" fmla="*/ 2599519 h 2611750"/>
              <a:gd name="connsiteX4" fmla="*/ 0 w 4520140"/>
              <a:gd name="connsiteY4" fmla="*/ 0 h 2611750"/>
              <a:gd name="connsiteX0" fmla="*/ 0 w 4520140"/>
              <a:gd name="connsiteY0" fmla="*/ 0 h 2599519"/>
              <a:gd name="connsiteX1" fmla="*/ 4520140 w 4520140"/>
              <a:gd name="connsiteY1" fmla="*/ 0 h 2599519"/>
              <a:gd name="connsiteX2" fmla="*/ 4507369 w 4520140"/>
              <a:gd name="connsiteY2" fmla="*/ 2599515 h 2599519"/>
              <a:gd name="connsiteX3" fmla="*/ 0 w 4520140"/>
              <a:gd name="connsiteY3" fmla="*/ 2599519 h 2599519"/>
              <a:gd name="connsiteX4" fmla="*/ 0 w 4520140"/>
              <a:gd name="connsiteY4" fmla="*/ 0 h 2599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0140" h="2599519">
                <a:moveTo>
                  <a:pt x="0" y="0"/>
                </a:moveTo>
                <a:lnTo>
                  <a:pt x="4520140" y="0"/>
                </a:lnTo>
                <a:cubicBezTo>
                  <a:pt x="4520164" y="886897"/>
                  <a:pt x="4507345" y="1712618"/>
                  <a:pt x="4507369" y="2599515"/>
                </a:cubicBezTo>
                <a:lnTo>
                  <a:pt x="0" y="2599519"/>
                </a:lnTo>
                <a:lnTo>
                  <a:pt x="0" y="0"/>
                </a:lnTo>
                <a:close/>
              </a:path>
            </a:pathLst>
          </a:custGeom>
          <a:solidFill>
            <a:schemeClr val="accent6"/>
          </a:solidFill>
          <a:ln>
            <a:solidFill>
              <a:schemeClr val="tx1"/>
            </a:solidFill>
          </a:ln>
        </p:spPr>
        <p:txBody>
          <a:bodyPr wrap="square" rtlCol="0">
            <a:spAutoFit/>
          </a:bodyPr>
          <a:lstStyle/>
          <a:p>
            <a:r>
              <a:rPr lang="en-GB" sz="1600" b="1" u="sng" dirty="0"/>
              <a:t>Worked example 2 (Higher Tier)</a:t>
            </a:r>
          </a:p>
          <a:p>
            <a:r>
              <a:rPr lang="en-GB" sz="1600" b="1" dirty="0"/>
              <a:t>The above reaction was carried out again. The new results showed that 2 dm</a:t>
            </a:r>
            <a:r>
              <a:rPr lang="en-GB" sz="1600" b="1" baseline="30000" dirty="0"/>
              <a:t>3</a:t>
            </a:r>
            <a:r>
              <a:rPr lang="en-GB" sz="1600" b="1" dirty="0"/>
              <a:t> of carbon dioxide was released in 200 seconds. Calculate the mean rate of reaction in </a:t>
            </a:r>
            <a:r>
              <a:rPr lang="en-GB" sz="1600" b="1" dirty="0" err="1"/>
              <a:t>mol</a:t>
            </a:r>
            <a:r>
              <a:rPr lang="en-GB" sz="1600" b="1" dirty="0"/>
              <a:t>/dm</a:t>
            </a:r>
            <a:r>
              <a:rPr lang="en-GB" sz="1600" b="1" baseline="30000" dirty="0"/>
              <a:t>3</a:t>
            </a:r>
          </a:p>
          <a:p>
            <a:r>
              <a:rPr lang="en-GB" sz="1600" b="1" dirty="0"/>
              <a:t>(1 mole of any gas occupies 24 dm</a:t>
            </a:r>
            <a:r>
              <a:rPr lang="en-GB" sz="1600" b="1" baseline="30000" dirty="0"/>
              <a:t>3</a:t>
            </a:r>
            <a:r>
              <a:rPr lang="en-GB" sz="1600" b="1" dirty="0"/>
              <a:t> at STP)</a:t>
            </a:r>
          </a:p>
          <a:p>
            <a:r>
              <a:rPr lang="en-GB" sz="1600" b="1" dirty="0"/>
              <a:t>Moles of carbon dioxide =  </a:t>
            </a:r>
            <a:r>
              <a:rPr lang="en-GB" sz="1600" b="1" u="sng" dirty="0"/>
              <a:t>2 dm</a:t>
            </a:r>
            <a:r>
              <a:rPr lang="en-GB" sz="1600" b="1" u="sng" baseline="30000" dirty="0"/>
              <a:t>3</a:t>
            </a:r>
            <a:r>
              <a:rPr lang="en-GB" sz="1600" b="1" dirty="0"/>
              <a:t> = 0.83 moles</a:t>
            </a:r>
          </a:p>
          <a:p>
            <a:r>
              <a:rPr lang="en-GB" sz="1600" b="1" dirty="0"/>
              <a:t>		        24 dm</a:t>
            </a:r>
            <a:r>
              <a:rPr lang="en-GB" sz="1600" b="1" baseline="30000" dirty="0"/>
              <a:t>3</a:t>
            </a:r>
          </a:p>
          <a:p>
            <a:endParaRPr lang="en-GB" sz="1600" b="1" dirty="0"/>
          </a:p>
          <a:p>
            <a:r>
              <a:rPr lang="en-GB" sz="1600" b="1" dirty="0"/>
              <a:t>Mean rate of reaction =  </a:t>
            </a:r>
            <a:r>
              <a:rPr lang="en-GB" sz="1600" b="1" u="sng" dirty="0"/>
              <a:t>0.83 moles</a:t>
            </a:r>
            <a:r>
              <a:rPr lang="en-GB" sz="1600" b="1" dirty="0"/>
              <a:t> =  0.0042 </a:t>
            </a:r>
            <a:r>
              <a:rPr lang="en-GB" sz="1600" b="1" dirty="0" err="1"/>
              <a:t>mol</a:t>
            </a:r>
            <a:r>
              <a:rPr lang="en-GB" sz="1600" b="1" dirty="0"/>
              <a:t>/s</a:t>
            </a:r>
          </a:p>
          <a:p>
            <a:r>
              <a:rPr lang="en-GB" sz="1600" b="1" dirty="0"/>
              <a:t>		        200 s  </a:t>
            </a:r>
            <a:endParaRPr lang="en-GB" sz="1600" b="1" baseline="30000" dirty="0"/>
          </a:p>
        </p:txBody>
      </p:sp>
      <p:sp>
        <p:nvSpPr>
          <p:cNvPr id="3" name="TextBox 2"/>
          <p:cNvSpPr txBox="1"/>
          <p:nvPr/>
        </p:nvSpPr>
        <p:spPr>
          <a:xfrm>
            <a:off x="4860032" y="4869160"/>
            <a:ext cx="4104456" cy="646331"/>
          </a:xfrm>
          <a:prstGeom prst="rect">
            <a:avLst/>
          </a:prstGeom>
          <a:noFill/>
        </p:spPr>
        <p:txBody>
          <a:bodyPr wrap="square" rtlCol="0">
            <a:spAutoFit/>
          </a:bodyPr>
          <a:lstStyle/>
          <a:p>
            <a:r>
              <a:rPr lang="en-GB" dirty="0"/>
              <a:t>Slope A will have a greater rate of reaction as it is steeper.</a:t>
            </a:r>
          </a:p>
        </p:txBody>
      </p:sp>
      <p:pic>
        <p:nvPicPr>
          <p:cNvPr id="7" name="Picture 6"/>
          <p:cNvPicPr>
            <a:picLocks noChangeAspect="1"/>
          </p:cNvPicPr>
          <p:nvPr/>
        </p:nvPicPr>
        <p:blipFill>
          <a:blip r:embed="rId2"/>
          <a:stretch>
            <a:fillRect/>
          </a:stretch>
        </p:blipFill>
        <p:spPr>
          <a:xfrm>
            <a:off x="4860032" y="836713"/>
            <a:ext cx="3960440" cy="3888431"/>
          </a:xfrm>
          <a:prstGeom prst="rect">
            <a:avLst/>
          </a:prstGeom>
        </p:spPr>
      </p:pic>
    </p:spTree>
    <p:extLst>
      <p:ext uri="{BB962C8B-B14F-4D97-AF65-F5344CB8AC3E}">
        <p14:creationId xmlns:p14="http://schemas.microsoft.com/office/powerpoint/2010/main" val="11133052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70537"/>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4400" b="1" dirty="0">
                <a:solidFill>
                  <a:schemeClr val="tx1">
                    <a:lumMod val="50000"/>
                    <a:lumOff val="50000"/>
                  </a:schemeClr>
                </a:solidFill>
              </a:rPr>
              <a:t>Rate of reaction</a:t>
            </a:r>
          </a:p>
          <a:p>
            <a:r>
              <a:rPr lang="en-GB" sz="4400" b="1" dirty="0">
                <a:solidFill>
                  <a:schemeClr val="tx1">
                    <a:lumMod val="50000"/>
                    <a:lumOff val="50000"/>
                  </a:schemeClr>
                </a:solidFill>
              </a:rPr>
              <a:t>Part 1 </a:t>
            </a:r>
          </a:p>
          <a:p>
            <a:pPr marL="457200" indent="-457200">
              <a:buFont typeface="Arial" charset="0"/>
              <a:buChar char="•"/>
            </a:pPr>
            <a:r>
              <a:rPr lang="en-GB" sz="3600" b="1" dirty="0">
                <a:solidFill>
                  <a:schemeClr val="tx1">
                    <a:lumMod val="50000"/>
                    <a:lumOff val="50000"/>
                  </a:schemeClr>
                </a:solidFill>
              </a:rPr>
              <a:t>Calculating rates</a:t>
            </a:r>
          </a:p>
          <a:p>
            <a:r>
              <a:rPr lang="en-GB" sz="3600" b="1" dirty="0">
                <a:solidFill>
                  <a:schemeClr val="tx1">
                    <a:lumMod val="50000"/>
                    <a:lumOff val="50000"/>
                  </a:schemeClr>
                </a:solidFill>
              </a:rPr>
              <a:t>       of reactions</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1346520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Calculating rates of reactions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2492990"/>
          </a:xfrm>
          <a:prstGeom prst="rect">
            <a:avLst/>
          </a:prstGeom>
          <a:noFill/>
        </p:spPr>
        <p:txBody>
          <a:bodyPr wrap="square" rtlCol="0">
            <a:spAutoFit/>
          </a:bodyPr>
          <a:lstStyle/>
          <a:p>
            <a:pPr marL="457200" indent="-457200">
              <a:buAutoNum type="arabicPeriod"/>
            </a:pPr>
            <a:r>
              <a:rPr lang="en-GB" sz="2400" dirty="0" smtClean="0"/>
              <a:t>State two ways of finding the rate of reaction.</a:t>
            </a:r>
          </a:p>
          <a:p>
            <a:pPr marL="457200" indent="-457200">
              <a:buAutoNum type="arabicPeriod"/>
            </a:pPr>
            <a:endParaRPr lang="en-GB" sz="2400" dirty="0" smtClean="0"/>
          </a:p>
          <a:p>
            <a:pPr marL="457200" indent="-457200">
              <a:buFontTx/>
              <a:buAutoNum type="arabicPeriod"/>
            </a:pPr>
            <a:r>
              <a:rPr lang="en-GB" sz="2400" dirty="0" smtClean="0"/>
              <a:t>State two units of rate of </a:t>
            </a:r>
            <a:r>
              <a:rPr lang="en-GB" sz="2400" dirty="0"/>
              <a:t>reaction. (HT: state 3</a:t>
            </a:r>
            <a:r>
              <a:rPr lang="en-GB" sz="2400" dirty="0" smtClean="0"/>
              <a:t>)</a:t>
            </a:r>
            <a:endParaRPr lang="en-GB" sz="2400" dirty="0" smtClean="0"/>
          </a:p>
          <a:p>
            <a:pPr marL="457200" indent="-457200">
              <a:buAutoNum type="arabicPeriod"/>
            </a:pPr>
            <a:endParaRPr lang="en-GB" sz="2400" dirty="0" smtClean="0"/>
          </a:p>
          <a:p>
            <a:pPr marL="457200" indent="-457200">
              <a:buAutoNum type="arabicPeriod"/>
            </a:pPr>
            <a:r>
              <a:rPr lang="en-GB" sz="2400" dirty="0" smtClean="0"/>
              <a:t>State two ways of measuring the quantity of reactant or product.</a:t>
            </a:r>
          </a:p>
          <a:p>
            <a:pPr marL="457200" indent="-457200">
              <a:lnSpc>
                <a:spcPct val="150000"/>
              </a:lnSpc>
              <a:buAutoNum type="arabicPeriod"/>
            </a:pPr>
            <a:endParaRPr lang="en-GB" sz="2400" dirty="0"/>
          </a:p>
        </p:txBody>
      </p:sp>
    </p:spTree>
    <p:extLst>
      <p:ext uri="{BB962C8B-B14F-4D97-AF65-F5344CB8AC3E}">
        <p14:creationId xmlns:p14="http://schemas.microsoft.com/office/powerpoint/2010/main" val="16793465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Calculating rates of reactions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indent="-457200">
              <a:lnSpc>
                <a:spcPct val="150000"/>
              </a:lnSpc>
              <a:buFont typeface="+mj-lt"/>
              <a:buAutoNum type="arabicPeriod" startAt="4"/>
            </a:pPr>
            <a:r>
              <a:rPr lang="en-GB" sz="2400" dirty="0" smtClean="0"/>
              <a:t>A </a:t>
            </a:r>
            <a:r>
              <a:rPr lang="en-GB" sz="2400" dirty="0"/>
              <a:t>student carries out an experiment reacting hydrochloric acid (</a:t>
            </a:r>
            <a:r>
              <a:rPr lang="en-GB" sz="2400" dirty="0" err="1"/>
              <a:t>HCl</a:t>
            </a:r>
            <a:r>
              <a:rPr lang="en-GB" sz="2400" dirty="0"/>
              <a:t>) with calcium carbonate (CaCO</a:t>
            </a:r>
            <a:r>
              <a:rPr lang="en-GB" sz="2400" baseline="-25000" dirty="0"/>
              <a:t>3</a:t>
            </a:r>
            <a:r>
              <a:rPr lang="en-GB" sz="2400" dirty="0"/>
              <a:t>) to give calcium chloride (CaCl</a:t>
            </a:r>
            <a:r>
              <a:rPr lang="en-GB" sz="2400" baseline="-25000" dirty="0"/>
              <a:t>2</a:t>
            </a:r>
            <a:r>
              <a:rPr lang="en-GB" sz="2400" dirty="0"/>
              <a:t>) carbon dioxide and water. Write the balanced symbol equation for this reaction.</a:t>
            </a:r>
          </a:p>
          <a:p>
            <a:pPr>
              <a:lnSpc>
                <a:spcPct val="150000"/>
              </a:lnSpc>
            </a:pPr>
            <a:endParaRPr lang="en-GB" sz="2400" dirty="0"/>
          </a:p>
          <a:p>
            <a:pPr marL="457200" indent="-457200">
              <a:lnSpc>
                <a:spcPct val="150000"/>
              </a:lnSpc>
              <a:buFont typeface="+mj-lt"/>
              <a:buAutoNum type="arabicPeriod" startAt="5"/>
            </a:pPr>
            <a:r>
              <a:rPr lang="en-GB" sz="2400" dirty="0" smtClean="0"/>
              <a:t>The </a:t>
            </a:r>
            <a:r>
              <a:rPr lang="en-GB" sz="2400" dirty="0"/>
              <a:t>student collects 50 cm</a:t>
            </a:r>
            <a:r>
              <a:rPr lang="en-GB" sz="2400" baseline="30000" dirty="0"/>
              <a:t>3</a:t>
            </a:r>
            <a:r>
              <a:rPr lang="en-GB" sz="2400" dirty="0"/>
              <a:t> of carbon dioxide gas in 10 seconds. What is the rate of </a:t>
            </a:r>
            <a:r>
              <a:rPr lang="en-GB" sz="2400" dirty="0" smtClean="0"/>
              <a:t>reaction? </a:t>
            </a:r>
            <a:r>
              <a:rPr lang="en-GB" sz="2400" dirty="0"/>
              <a:t>I</a:t>
            </a:r>
            <a:r>
              <a:rPr lang="en-GB" sz="2400" dirty="0" smtClean="0"/>
              <a:t>nclude </a:t>
            </a:r>
            <a:r>
              <a:rPr lang="en-GB" sz="2400" dirty="0"/>
              <a:t>the </a:t>
            </a:r>
            <a:r>
              <a:rPr lang="en-GB" sz="2400" dirty="0" smtClean="0"/>
              <a:t>units.</a:t>
            </a:r>
            <a:endParaRPr lang="en-GB" sz="2400" dirty="0"/>
          </a:p>
          <a:p>
            <a:pPr>
              <a:lnSpc>
                <a:spcPct val="150000"/>
              </a:lnSpc>
            </a:pPr>
            <a:endParaRPr lang="en-GB" sz="2400" dirty="0"/>
          </a:p>
        </p:txBody>
      </p:sp>
    </p:spTree>
    <p:extLst>
      <p:ext uri="{BB962C8B-B14F-4D97-AF65-F5344CB8AC3E}">
        <p14:creationId xmlns:p14="http://schemas.microsoft.com/office/powerpoint/2010/main" val="19550654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Calculating rates of reactions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pPr marL="457200" indent="-457200">
              <a:lnSpc>
                <a:spcPct val="150000"/>
              </a:lnSpc>
              <a:buFont typeface="+mj-lt"/>
              <a:buAutoNum type="arabicPeriod" startAt="6"/>
            </a:pPr>
            <a:r>
              <a:rPr lang="en-GB" sz="2400" dirty="0" smtClean="0"/>
              <a:t>(HT </a:t>
            </a:r>
            <a:r>
              <a:rPr lang="en-GB" sz="2400" dirty="0"/>
              <a:t>only) The student repeats the experiment again, this time they find the mass of the carbon dioxide collected. They collect 11 g of carbon dioxide in 10 seconds. Calculate the rate of reaction in </a:t>
            </a:r>
            <a:r>
              <a:rPr lang="en-GB" sz="2400" dirty="0" err="1"/>
              <a:t>mol</a:t>
            </a:r>
            <a:r>
              <a:rPr lang="en-GB" sz="2400" dirty="0"/>
              <a:t>/s.</a:t>
            </a:r>
          </a:p>
          <a:p>
            <a:pPr>
              <a:lnSpc>
                <a:spcPct val="150000"/>
              </a:lnSpc>
            </a:pPr>
            <a:r>
              <a:rPr lang="en-GB" sz="2400" dirty="0">
                <a:solidFill>
                  <a:srgbClr val="00B050"/>
                </a:solidFill>
              </a:rPr>
              <a:t>	</a:t>
            </a:r>
          </a:p>
          <a:p>
            <a:pPr>
              <a:lnSpc>
                <a:spcPct val="150000"/>
              </a:lnSpc>
            </a:pPr>
            <a:endParaRPr lang="en-GB" sz="2400" dirty="0">
              <a:solidFill>
                <a:srgbClr val="00B050"/>
              </a:solidFill>
            </a:endParaRPr>
          </a:p>
          <a:p>
            <a:pPr>
              <a:lnSpc>
                <a:spcPct val="150000"/>
              </a:lnSpc>
            </a:pPr>
            <a:endParaRPr lang="en-GB" sz="2400" dirty="0">
              <a:solidFill>
                <a:srgbClr val="00B050"/>
              </a:solidFill>
            </a:endParaRPr>
          </a:p>
          <a:p>
            <a:pPr marL="457200" indent="-457200">
              <a:lnSpc>
                <a:spcPct val="150000"/>
              </a:lnSpc>
              <a:buFont typeface="+mj-lt"/>
              <a:buAutoNum type="arabicPeriod" startAt="7"/>
            </a:pPr>
            <a:r>
              <a:rPr lang="en-GB" sz="2400" dirty="0" smtClean="0"/>
              <a:t>(HT </a:t>
            </a:r>
            <a:r>
              <a:rPr lang="en-GB" sz="2400" dirty="0"/>
              <a:t>only) What mass of carbon dioxide are they collecting per second if the rate of reaction is 0.075 </a:t>
            </a:r>
            <a:r>
              <a:rPr lang="en-GB" sz="2400" dirty="0" err="1" smtClean="0"/>
              <a:t>mol</a:t>
            </a:r>
            <a:r>
              <a:rPr lang="en-GB" sz="2400" dirty="0" smtClean="0"/>
              <a:t>/s?</a:t>
            </a:r>
            <a:endParaRPr lang="en-GB" sz="2400" dirty="0"/>
          </a:p>
          <a:p>
            <a:pPr>
              <a:lnSpc>
                <a:spcPct val="150000"/>
              </a:lnSpc>
            </a:pPr>
            <a:r>
              <a:rPr lang="en-GB" sz="2400" dirty="0"/>
              <a:t>	</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8544044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278094"/>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Rate of reaction</a:t>
            </a:r>
          </a:p>
          <a:p>
            <a:r>
              <a:rPr lang="en-GB" sz="3600" b="1" dirty="0">
                <a:solidFill>
                  <a:schemeClr val="tx1">
                    <a:lumMod val="50000"/>
                    <a:lumOff val="50000"/>
                  </a:schemeClr>
                </a:solidFill>
              </a:rPr>
              <a:t>Part 1 </a:t>
            </a:r>
          </a:p>
          <a:p>
            <a:pPr marL="457200" indent="-457200">
              <a:buFont typeface="Arial" charset="0"/>
              <a:buChar char="•"/>
            </a:pPr>
            <a:r>
              <a:rPr lang="en-GB" sz="2800" b="1" dirty="0">
                <a:solidFill>
                  <a:schemeClr val="tx1">
                    <a:lumMod val="50000"/>
                    <a:lumOff val="50000"/>
                  </a:schemeClr>
                </a:solidFill>
              </a:rPr>
              <a:t>Calculating rates</a:t>
            </a:r>
          </a:p>
          <a:p>
            <a:r>
              <a:rPr lang="en-GB" sz="2800" b="1" dirty="0">
                <a:solidFill>
                  <a:schemeClr val="tx1">
                    <a:lumMod val="50000"/>
                    <a:lumOff val="50000"/>
                  </a:schemeClr>
                </a:solidFill>
              </a:rPr>
              <a:t>       of reactions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8815725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Calculating rates of reactions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2492990"/>
          </a:xfrm>
          <a:prstGeom prst="rect">
            <a:avLst/>
          </a:prstGeom>
          <a:noFill/>
        </p:spPr>
        <p:txBody>
          <a:bodyPr wrap="square" rtlCol="0">
            <a:spAutoFit/>
          </a:bodyPr>
          <a:lstStyle/>
          <a:p>
            <a:pPr marL="457200" indent="-457200">
              <a:buAutoNum type="arabicPeriod"/>
            </a:pPr>
            <a:r>
              <a:rPr lang="en-GB" sz="2400" dirty="0" smtClean="0"/>
              <a:t>State two ways of finding the rate of reaction.</a:t>
            </a:r>
          </a:p>
          <a:p>
            <a:r>
              <a:rPr lang="en-GB" sz="2400" dirty="0" smtClean="0">
                <a:solidFill>
                  <a:srgbClr val="00B050"/>
                </a:solidFill>
              </a:rPr>
              <a:t>       Measuring the quantity of reactant used or product formed.</a:t>
            </a:r>
            <a:endParaRPr lang="en-GB" sz="2400" dirty="0" smtClean="0"/>
          </a:p>
          <a:p>
            <a:pPr marL="457200" indent="-457200">
              <a:buFont typeface="+mj-lt"/>
              <a:buAutoNum type="arabicPeriod" startAt="2"/>
            </a:pPr>
            <a:r>
              <a:rPr lang="en-GB" sz="2400" dirty="0" smtClean="0"/>
              <a:t>State two units of rate of reaction. (HT: state 3)</a:t>
            </a:r>
          </a:p>
          <a:p>
            <a:r>
              <a:rPr lang="en-GB" sz="2400" dirty="0" smtClean="0">
                <a:solidFill>
                  <a:srgbClr val="00B050"/>
                </a:solidFill>
              </a:rPr>
              <a:t>       g/s; cm</a:t>
            </a:r>
            <a:r>
              <a:rPr lang="en-GB" sz="2400" baseline="30000" dirty="0" smtClean="0">
                <a:solidFill>
                  <a:srgbClr val="00B050"/>
                </a:solidFill>
              </a:rPr>
              <a:t>3</a:t>
            </a:r>
            <a:r>
              <a:rPr lang="en-GB" sz="2400" dirty="0" smtClean="0">
                <a:solidFill>
                  <a:srgbClr val="00B050"/>
                </a:solidFill>
              </a:rPr>
              <a:t>/s; (</a:t>
            </a:r>
            <a:r>
              <a:rPr lang="en-GB" sz="2400" dirty="0" err="1" smtClean="0">
                <a:solidFill>
                  <a:srgbClr val="00B050"/>
                </a:solidFill>
              </a:rPr>
              <a:t>mol</a:t>
            </a:r>
            <a:r>
              <a:rPr lang="en-GB" sz="2400" dirty="0" smtClean="0">
                <a:solidFill>
                  <a:srgbClr val="00B050"/>
                </a:solidFill>
              </a:rPr>
              <a:t>/s)</a:t>
            </a:r>
            <a:endParaRPr lang="en-GB" sz="2400" dirty="0" smtClean="0"/>
          </a:p>
          <a:p>
            <a:pPr marL="457200" indent="-457200">
              <a:buFont typeface="+mj-lt"/>
              <a:buAutoNum type="arabicPeriod" startAt="3"/>
            </a:pPr>
            <a:r>
              <a:rPr lang="en-GB" sz="2400" dirty="0" smtClean="0"/>
              <a:t>State two ways of measuring the quantity of reactant or product.</a:t>
            </a:r>
          </a:p>
          <a:p>
            <a:pPr>
              <a:lnSpc>
                <a:spcPct val="150000"/>
              </a:lnSpc>
            </a:pPr>
            <a:r>
              <a:rPr lang="en-GB" sz="2400" dirty="0" smtClean="0">
                <a:solidFill>
                  <a:srgbClr val="00B050"/>
                </a:solidFill>
              </a:rPr>
              <a:t>       Mass in grams or volume cm</a:t>
            </a:r>
            <a:r>
              <a:rPr lang="en-GB" sz="2400" baseline="30000" dirty="0" smtClean="0">
                <a:solidFill>
                  <a:srgbClr val="00B050"/>
                </a:solidFill>
              </a:rPr>
              <a:t>3</a:t>
            </a:r>
            <a:endParaRPr lang="en-GB" sz="2400" baseline="30000" dirty="0"/>
          </a:p>
        </p:txBody>
      </p:sp>
    </p:spTree>
    <p:extLst>
      <p:ext uri="{BB962C8B-B14F-4D97-AF65-F5344CB8AC3E}">
        <p14:creationId xmlns:p14="http://schemas.microsoft.com/office/powerpoint/2010/main" val="1334975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Calculating rates of reactions –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lnSpc>
                <a:spcPct val="150000"/>
              </a:lnSpc>
              <a:buFont typeface="+mj-lt"/>
              <a:buAutoNum type="arabicPeriod" startAt="4"/>
            </a:pPr>
            <a:r>
              <a:rPr lang="en-GB" sz="2400" dirty="0" smtClean="0"/>
              <a:t>A </a:t>
            </a:r>
            <a:r>
              <a:rPr lang="en-GB" sz="2400" dirty="0"/>
              <a:t>student carries out an experiment reacting hydrochloric acid (</a:t>
            </a:r>
            <a:r>
              <a:rPr lang="en-GB" sz="2400" dirty="0" err="1"/>
              <a:t>HCl</a:t>
            </a:r>
            <a:r>
              <a:rPr lang="en-GB" sz="2400" dirty="0"/>
              <a:t>) with calcium carbonate (CaCO</a:t>
            </a:r>
            <a:r>
              <a:rPr lang="en-GB" sz="2400" baseline="-25000" dirty="0"/>
              <a:t>3</a:t>
            </a:r>
            <a:r>
              <a:rPr lang="en-GB" sz="2400" dirty="0"/>
              <a:t>) to give calcium chloride (CaCl</a:t>
            </a:r>
            <a:r>
              <a:rPr lang="en-GB" sz="2400" baseline="-25000" dirty="0"/>
              <a:t>2</a:t>
            </a:r>
            <a:r>
              <a:rPr lang="en-GB" sz="2400" dirty="0"/>
              <a:t>) carbon dioxide and water. Write the balanced symbol equation for this reaction.</a:t>
            </a:r>
          </a:p>
          <a:p>
            <a:pPr algn="ctr">
              <a:lnSpc>
                <a:spcPct val="150000"/>
              </a:lnSpc>
            </a:pPr>
            <a:r>
              <a:rPr lang="en-GB" sz="2400" dirty="0">
                <a:solidFill>
                  <a:srgbClr val="00B050"/>
                </a:solidFill>
              </a:rPr>
              <a:t>CaCO</a:t>
            </a:r>
            <a:r>
              <a:rPr lang="en-GB" sz="2400" baseline="-25000" dirty="0">
                <a:solidFill>
                  <a:srgbClr val="00B050"/>
                </a:solidFill>
              </a:rPr>
              <a:t>3</a:t>
            </a:r>
            <a:r>
              <a:rPr lang="en-GB" sz="2400" dirty="0">
                <a:solidFill>
                  <a:srgbClr val="00B050"/>
                </a:solidFill>
              </a:rPr>
              <a:t> (s)   +  2HCl (</a:t>
            </a:r>
            <a:r>
              <a:rPr lang="en-GB" sz="2400" dirty="0" err="1">
                <a:solidFill>
                  <a:srgbClr val="00B050"/>
                </a:solidFill>
              </a:rPr>
              <a:t>aq</a:t>
            </a:r>
            <a:r>
              <a:rPr lang="en-GB" sz="2400" dirty="0">
                <a:solidFill>
                  <a:srgbClr val="00B050"/>
                </a:solidFill>
              </a:rPr>
              <a:t>) </a:t>
            </a:r>
            <a:r>
              <a:rPr lang="en-GB" sz="2400" dirty="0">
                <a:solidFill>
                  <a:srgbClr val="00B050"/>
                </a:solidFill>
                <a:sym typeface="Wingdings" panose="05000000000000000000" pitchFamily="2" charset="2"/>
              </a:rPr>
              <a:t>  CaCl</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 (</a:t>
            </a:r>
            <a:r>
              <a:rPr lang="en-GB" sz="2400" dirty="0" err="1">
                <a:solidFill>
                  <a:srgbClr val="00B050"/>
                </a:solidFill>
                <a:sym typeface="Wingdings" panose="05000000000000000000" pitchFamily="2" charset="2"/>
              </a:rPr>
              <a:t>aq</a:t>
            </a:r>
            <a:r>
              <a:rPr lang="en-GB" sz="2400" dirty="0">
                <a:solidFill>
                  <a:srgbClr val="00B050"/>
                </a:solidFill>
                <a:sym typeface="Wingdings" panose="05000000000000000000" pitchFamily="2" charset="2"/>
              </a:rPr>
              <a:t>)  +  CO</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 (g)  +  H</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O (l)</a:t>
            </a:r>
            <a:endParaRPr lang="en-GB" sz="2400" dirty="0">
              <a:solidFill>
                <a:srgbClr val="00B050"/>
              </a:solidFill>
            </a:endParaRPr>
          </a:p>
          <a:p>
            <a:pPr marL="457200" indent="-457200">
              <a:lnSpc>
                <a:spcPct val="150000"/>
              </a:lnSpc>
              <a:buFont typeface="+mj-lt"/>
              <a:buAutoNum type="arabicPeriod" startAt="5"/>
            </a:pPr>
            <a:r>
              <a:rPr lang="en-GB" sz="2400" dirty="0" smtClean="0"/>
              <a:t>The </a:t>
            </a:r>
            <a:r>
              <a:rPr lang="en-GB" sz="2400" dirty="0"/>
              <a:t>student collects 50 cm</a:t>
            </a:r>
            <a:r>
              <a:rPr lang="en-GB" sz="2400" baseline="30000" dirty="0"/>
              <a:t>3</a:t>
            </a:r>
            <a:r>
              <a:rPr lang="en-GB" sz="2400" dirty="0"/>
              <a:t> of carbon dioxide gas in 10 seconds. What is the rate of </a:t>
            </a:r>
            <a:r>
              <a:rPr lang="en-GB" sz="2400" dirty="0" smtClean="0"/>
              <a:t>reaction? </a:t>
            </a:r>
            <a:r>
              <a:rPr lang="en-GB" sz="2400" dirty="0"/>
              <a:t>I</a:t>
            </a:r>
            <a:r>
              <a:rPr lang="en-GB" sz="2400" dirty="0" smtClean="0"/>
              <a:t>nclude </a:t>
            </a:r>
            <a:r>
              <a:rPr lang="en-GB" sz="2400" dirty="0"/>
              <a:t>the </a:t>
            </a:r>
            <a:r>
              <a:rPr lang="en-GB" sz="2400" dirty="0" smtClean="0"/>
              <a:t>units.</a:t>
            </a:r>
            <a:endParaRPr lang="en-GB" sz="2400" dirty="0"/>
          </a:p>
          <a:p>
            <a:r>
              <a:rPr lang="en-GB" sz="2400" dirty="0"/>
              <a:t>	</a:t>
            </a:r>
            <a:r>
              <a:rPr lang="en-GB" sz="2400" dirty="0">
                <a:solidFill>
                  <a:srgbClr val="00B050"/>
                </a:solidFill>
              </a:rPr>
              <a:t>rate of reaction = </a:t>
            </a:r>
            <a:r>
              <a:rPr lang="en-GB" sz="2400" u="sng" dirty="0">
                <a:solidFill>
                  <a:srgbClr val="00B050"/>
                </a:solidFill>
              </a:rPr>
              <a:t>volume of gas collected  </a:t>
            </a:r>
            <a:r>
              <a:rPr lang="en-GB" sz="2400" dirty="0">
                <a:solidFill>
                  <a:srgbClr val="00B050"/>
                </a:solidFill>
              </a:rPr>
              <a:t>=   </a:t>
            </a:r>
            <a:r>
              <a:rPr lang="en-GB" sz="2400" u="sng" dirty="0">
                <a:solidFill>
                  <a:srgbClr val="00B050"/>
                </a:solidFill>
              </a:rPr>
              <a:t>50</a:t>
            </a:r>
          </a:p>
          <a:p>
            <a:r>
              <a:rPr lang="en-GB" sz="2400" dirty="0">
                <a:solidFill>
                  <a:srgbClr val="00B050"/>
                </a:solidFill>
              </a:rPr>
              <a:t>				time taken		  10</a:t>
            </a:r>
          </a:p>
          <a:p>
            <a:pPr>
              <a:lnSpc>
                <a:spcPct val="150000"/>
              </a:lnSpc>
            </a:pPr>
            <a:r>
              <a:rPr lang="en-GB" sz="2400" dirty="0">
                <a:solidFill>
                  <a:srgbClr val="00B050"/>
                </a:solidFill>
              </a:rPr>
              <a:t>	5 </a:t>
            </a:r>
            <a:r>
              <a:rPr lang="en-GB" sz="2400" dirty="0" smtClean="0">
                <a:solidFill>
                  <a:srgbClr val="00B050"/>
                </a:solidFill>
              </a:rPr>
              <a:t>cm</a:t>
            </a:r>
            <a:r>
              <a:rPr lang="en-GB" sz="2400" baseline="30000" dirty="0" smtClean="0">
                <a:solidFill>
                  <a:srgbClr val="00B050"/>
                </a:solidFill>
              </a:rPr>
              <a:t>3</a:t>
            </a:r>
            <a:r>
              <a:rPr lang="en-GB" sz="2400" dirty="0" smtClean="0">
                <a:solidFill>
                  <a:srgbClr val="00B050"/>
                </a:solidFill>
              </a:rPr>
              <a:t>/s</a:t>
            </a:r>
            <a:endParaRPr lang="en-GB" sz="2400" dirty="0">
              <a:solidFill>
                <a:srgbClr val="00B050"/>
              </a:solidFill>
            </a:endParaRPr>
          </a:p>
        </p:txBody>
      </p:sp>
    </p:spTree>
    <p:extLst>
      <p:ext uri="{BB962C8B-B14F-4D97-AF65-F5344CB8AC3E}">
        <p14:creationId xmlns:p14="http://schemas.microsoft.com/office/powerpoint/2010/main" val="39806048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Factors which affect the rates of reactions –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pPr marL="457200" indent="-457200">
              <a:lnSpc>
                <a:spcPct val="150000"/>
              </a:lnSpc>
              <a:buFont typeface="+mj-lt"/>
              <a:buAutoNum type="arabicPeriod" startAt="6"/>
            </a:pPr>
            <a:r>
              <a:rPr lang="en-GB" sz="2400" dirty="0" smtClean="0"/>
              <a:t>(HT </a:t>
            </a:r>
            <a:r>
              <a:rPr lang="en-GB" sz="2400" dirty="0"/>
              <a:t>only) The student repeats the experiment again, this time they find the mass of the carbon dioxide collected. They collect 11 g of carbon dioxide in 10 seconds. Calculate the rate of reaction in </a:t>
            </a:r>
            <a:r>
              <a:rPr lang="en-GB" sz="2400" dirty="0" err="1"/>
              <a:t>mol</a:t>
            </a:r>
            <a:r>
              <a:rPr lang="en-GB" sz="2400" dirty="0"/>
              <a:t>/s.</a:t>
            </a:r>
          </a:p>
          <a:p>
            <a:pPr>
              <a:lnSpc>
                <a:spcPct val="150000"/>
              </a:lnSpc>
            </a:pPr>
            <a:r>
              <a:rPr lang="en-GB" sz="2400" dirty="0">
                <a:solidFill>
                  <a:srgbClr val="00B050"/>
                </a:solidFill>
              </a:rPr>
              <a:t>	11g/44g = 0.25 moles of carbon dioxide</a:t>
            </a:r>
          </a:p>
          <a:p>
            <a:pPr>
              <a:lnSpc>
                <a:spcPct val="150000"/>
              </a:lnSpc>
            </a:pPr>
            <a:r>
              <a:rPr lang="en-GB" sz="2400" dirty="0">
                <a:solidFill>
                  <a:srgbClr val="00B050"/>
                </a:solidFill>
              </a:rPr>
              <a:t>  so	0.25 moles/10 seconds	</a:t>
            </a:r>
          </a:p>
          <a:p>
            <a:pPr>
              <a:lnSpc>
                <a:spcPct val="150000"/>
              </a:lnSpc>
            </a:pPr>
            <a:r>
              <a:rPr lang="en-GB" sz="2400" dirty="0">
                <a:solidFill>
                  <a:srgbClr val="00B050"/>
                </a:solidFill>
              </a:rPr>
              <a:t>  =	0.025 </a:t>
            </a:r>
            <a:r>
              <a:rPr lang="en-GB" sz="2400" dirty="0" err="1">
                <a:solidFill>
                  <a:srgbClr val="00B050"/>
                </a:solidFill>
              </a:rPr>
              <a:t>mol</a:t>
            </a:r>
            <a:r>
              <a:rPr lang="en-GB" sz="2400" dirty="0">
                <a:solidFill>
                  <a:srgbClr val="00B050"/>
                </a:solidFill>
              </a:rPr>
              <a:t>/s</a:t>
            </a:r>
          </a:p>
          <a:p>
            <a:pPr marL="457200" indent="-457200">
              <a:lnSpc>
                <a:spcPct val="150000"/>
              </a:lnSpc>
              <a:buFont typeface="+mj-lt"/>
              <a:buAutoNum type="arabicPeriod" startAt="7"/>
            </a:pPr>
            <a:r>
              <a:rPr lang="en-GB" sz="2400" dirty="0" smtClean="0"/>
              <a:t>(HT </a:t>
            </a:r>
            <a:r>
              <a:rPr lang="en-GB" sz="2400" dirty="0"/>
              <a:t>only) What mass of carbon dioxide are they collecting per second if the rate of reaction is 0.075 </a:t>
            </a:r>
            <a:r>
              <a:rPr lang="en-GB" sz="2400" dirty="0" err="1"/>
              <a:t>mol</a:t>
            </a:r>
            <a:r>
              <a:rPr lang="en-GB" sz="2400" dirty="0"/>
              <a:t>/s</a:t>
            </a:r>
          </a:p>
          <a:p>
            <a:pPr>
              <a:lnSpc>
                <a:spcPct val="150000"/>
              </a:lnSpc>
            </a:pPr>
            <a:r>
              <a:rPr lang="en-GB" sz="2400" dirty="0"/>
              <a:t>	</a:t>
            </a:r>
            <a:r>
              <a:rPr lang="en-GB" sz="2400" dirty="0">
                <a:solidFill>
                  <a:srgbClr val="00B050"/>
                </a:solidFill>
              </a:rPr>
              <a:t>0.075 moles of CO</a:t>
            </a:r>
            <a:r>
              <a:rPr lang="en-GB" sz="2400" baseline="-25000" dirty="0">
                <a:solidFill>
                  <a:srgbClr val="00B050"/>
                </a:solidFill>
              </a:rPr>
              <a:t>2</a:t>
            </a:r>
            <a:r>
              <a:rPr lang="en-GB" sz="2400" dirty="0">
                <a:solidFill>
                  <a:srgbClr val="00B050"/>
                </a:solidFill>
              </a:rPr>
              <a:t> is 44 x </a:t>
            </a:r>
            <a:r>
              <a:rPr lang="en-GB" sz="2400" dirty="0" smtClean="0">
                <a:solidFill>
                  <a:srgbClr val="00B050"/>
                </a:solidFill>
              </a:rPr>
              <a:t>0.075   so </a:t>
            </a:r>
            <a:r>
              <a:rPr lang="en-GB" sz="2400" dirty="0">
                <a:solidFill>
                  <a:srgbClr val="00B050"/>
                </a:solidFill>
              </a:rPr>
              <a:t>	3.3 g/s</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4923183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5740033"/>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2 </a:t>
            </a:r>
          </a:p>
          <a:p>
            <a:pPr marL="457200" indent="-457200">
              <a:buFont typeface="Arial" charset="0"/>
              <a:buChar char="•"/>
            </a:pPr>
            <a:r>
              <a:rPr lang="en-GB" b="1" dirty="0">
                <a:solidFill>
                  <a:schemeClr val="tx1">
                    <a:lumMod val="50000"/>
                    <a:lumOff val="50000"/>
                  </a:schemeClr>
                </a:solidFill>
              </a:rPr>
              <a:t>Factors which affect the </a:t>
            </a:r>
          </a:p>
          <a:p>
            <a:r>
              <a:rPr lang="en-GB" b="1" dirty="0">
                <a:solidFill>
                  <a:schemeClr val="tx1">
                    <a:lumMod val="50000"/>
                    <a:lumOff val="50000"/>
                  </a:schemeClr>
                </a:solidFill>
              </a:rPr>
              <a:t>         rate of reactions</a:t>
            </a:r>
          </a:p>
          <a:p>
            <a:pPr marL="285750" indent="-285750">
              <a:buFont typeface="Arial" panose="020B0604020202020204" pitchFamily="34" charset="0"/>
              <a:buChar char="•"/>
            </a:pPr>
            <a:r>
              <a:rPr lang="en-GB" b="1" dirty="0">
                <a:solidFill>
                  <a:schemeClr val="tx1">
                    <a:lumMod val="50000"/>
                    <a:lumOff val="50000"/>
                  </a:schemeClr>
                </a:solidFill>
              </a:rPr>
              <a:t>  Collision theory and activation</a:t>
            </a:r>
          </a:p>
          <a:p>
            <a:r>
              <a:rPr lang="en-GB" b="1" dirty="0">
                <a:solidFill>
                  <a:schemeClr val="tx1">
                    <a:lumMod val="50000"/>
                    <a:lumOff val="50000"/>
                  </a:schemeClr>
                </a:solidFill>
              </a:rPr>
              <a:t>        </a:t>
            </a:r>
            <a:r>
              <a:rPr lang="en-GB" b="1" dirty="0" smtClean="0">
                <a:solidFill>
                  <a:schemeClr val="tx1">
                    <a:lumMod val="50000"/>
                    <a:lumOff val="50000"/>
                  </a:schemeClr>
                </a:solidFill>
              </a:rPr>
              <a:t>energy</a:t>
            </a:r>
            <a:endParaRPr lang="en-GB" b="1" dirty="0" smtClean="0">
              <a:solidFill>
                <a:schemeClr val="tx1">
                  <a:lumMod val="50000"/>
                  <a:lumOff val="50000"/>
                </a:schemeClr>
              </a:solidFill>
            </a:endParaRPr>
          </a:p>
          <a:p>
            <a:pPr>
              <a:lnSpc>
                <a:spcPct val="150000"/>
              </a:lnSpc>
            </a:pPr>
            <a:endParaRPr lang="en-GB" b="1" dirty="0" smtClean="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19818674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Rates of reactions part 2 – </a:t>
            </a:r>
            <a:r>
              <a:rPr kumimoji="0" lang="en-US" sz="20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000" b="1" i="0" u="none" strike="noStrike" kern="1200" cap="none" spc="0" normalizeH="0" noProof="0" dirty="0">
                <a:ln>
                  <a:noFill/>
                </a:ln>
                <a:solidFill>
                  <a:schemeClr val="accent6"/>
                </a:solidFill>
                <a:effectLst/>
                <a:uLnTx/>
                <a:uFillTx/>
                <a:latin typeface="Calibri"/>
                <a:ea typeface=""/>
                <a:cs typeface="News Gothic MT"/>
              </a:rPr>
              <a:t> reactions</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3" name="TextBox 2"/>
          <p:cNvSpPr txBox="1"/>
          <p:nvPr/>
        </p:nvSpPr>
        <p:spPr>
          <a:xfrm>
            <a:off x="179512" y="764704"/>
            <a:ext cx="4896544" cy="2139047"/>
          </a:xfrm>
          <a:prstGeom prst="rect">
            <a:avLst/>
          </a:prstGeom>
          <a:noFill/>
          <a:ln w="28575">
            <a:solidFill>
              <a:schemeClr val="accent6"/>
            </a:solidFill>
          </a:ln>
        </p:spPr>
        <p:txBody>
          <a:bodyPr wrap="square" rtlCol="0">
            <a:spAutoFit/>
          </a:bodyPr>
          <a:lstStyle/>
          <a:p>
            <a:r>
              <a:rPr lang="en-GB" sz="1900" b="1" dirty="0"/>
              <a:t>Factors which affect the rates of chemical reactions include:</a:t>
            </a:r>
          </a:p>
          <a:p>
            <a:pPr marL="285750" indent="-285750">
              <a:buFont typeface="Arial" panose="020B0604020202020204" pitchFamily="34" charset="0"/>
              <a:buChar char="•"/>
            </a:pPr>
            <a:r>
              <a:rPr lang="en-GB" sz="1900" b="1" dirty="0"/>
              <a:t>The </a:t>
            </a:r>
            <a:r>
              <a:rPr lang="en-GB" sz="1900" b="1" dirty="0">
                <a:solidFill>
                  <a:schemeClr val="accent6"/>
                </a:solidFill>
              </a:rPr>
              <a:t>concentrations</a:t>
            </a:r>
            <a:r>
              <a:rPr lang="en-GB" sz="1900" b="1" dirty="0"/>
              <a:t> of reactants in solution</a:t>
            </a:r>
          </a:p>
          <a:p>
            <a:pPr marL="285750" indent="-285750">
              <a:buFont typeface="Arial" panose="020B0604020202020204" pitchFamily="34" charset="0"/>
              <a:buChar char="•"/>
            </a:pPr>
            <a:r>
              <a:rPr lang="en-GB" sz="1900" b="1" dirty="0"/>
              <a:t>The </a:t>
            </a:r>
            <a:r>
              <a:rPr lang="en-GB" sz="1900" b="1" dirty="0">
                <a:solidFill>
                  <a:schemeClr val="accent6"/>
                </a:solidFill>
              </a:rPr>
              <a:t>pressure</a:t>
            </a:r>
            <a:r>
              <a:rPr lang="en-GB" sz="1900" b="1" dirty="0"/>
              <a:t> of reacting gases</a:t>
            </a:r>
          </a:p>
          <a:p>
            <a:pPr marL="285750" indent="-285750">
              <a:buFont typeface="Arial" panose="020B0604020202020204" pitchFamily="34" charset="0"/>
              <a:buChar char="•"/>
            </a:pPr>
            <a:r>
              <a:rPr lang="en-GB" sz="1900" b="1" dirty="0"/>
              <a:t>The </a:t>
            </a:r>
            <a:r>
              <a:rPr lang="en-GB" sz="1900" b="1" dirty="0">
                <a:solidFill>
                  <a:schemeClr val="accent6"/>
                </a:solidFill>
              </a:rPr>
              <a:t>surface area </a:t>
            </a:r>
            <a:r>
              <a:rPr lang="en-GB" sz="1900" b="1" dirty="0"/>
              <a:t>of solid reactants</a:t>
            </a:r>
          </a:p>
          <a:p>
            <a:pPr marL="285750" indent="-285750">
              <a:buFont typeface="Arial" panose="020B0604020202020204" pitchFamily="34" charset="0"/>
              <a:buChar char="•"/>
            </a:pPr>
            <a:r>
              <a:rPr lang="en-GB" sz="1900" b="1" dirty="0"/>
              <a:t>The </a:t>
            </a:r>
            <a:r>
              <a:rPr lang="en-GB" sz="1900" b="1" dirty="0">
                <a:solidFill>
                  <a:schemeClr val="accent6"/>
                </a:solidFill>
              </a:rPr>
              <a:t>temperature</a:t>
            </a:r>
            <a:r>
              <a:rPr lang="en-GB" sz="1900" b="1" dirty="0"/>
              <a:t> </a:t>
            </a:r>
          </a:p>
          <a:p>
            <a:pPr marL="285750" indent="-285750">
              <a:buFont typeface="Arial" panose="020B0604020202020204" pitchFamily="34" charset="0"/>
              <a:buChar char="•"/>
            </a:pPr>
            <a:r>
              <a:rPr lang="en-GB" sz="1900" b="1" dirty="0"/>
              <a:t>The presence of a </a:t>
            </a:r>
            <a:r>
              <a:rPr lang="en-GB" sz="1900" b="1" dirty="0">
                <a:solidFill>
                  <a:schemeClr val="accent6"/>
                </a:solidFill>
              </a:rPr>
              <a:t>catalyst</a:t>
            </a:r>
          </a:p>
        </p:txBody>
      </p:sp>
      <p:sp>
        <p:nvSpPr>
          <p:cNvPr id="4" name="TextBox 3"/>
          <p:cNvSpPr txBox="1"/>
          <p:nvPr/>
        </p:nvSpPr>
        <p:spPr>
          <a:xfrm>
            <a:off x="5220072" y="2796443"/>
            <a:ext cx="3805167" cy="1708160"/>
          </a:xfrm>
          <a:custGeom>
            <a:avLst/>
            <a:gdLst>
              <a:gd name="connsiteX0" fmla="*/ 0 w 2808312"/>
              <a:gd name="connsiteY0" fmla="*/ 0 h 1661993"/>
              <a:gd name="connsiteX1" fmla="*/ 2808312 w 2808312"/>
              <a:gd name="connsiteY1" fmla="*/ 0 h 1661993"/>
              <a:gd name="connsiteX2" fmla="*/ 2808312 w 2808312"/>
              <a:gd name="connsiteY2" fmla="*/ 1661993 h 1661993"/>
              <a:gd name="connsiteX3" fmla="*/ 0 w 2808312"/>
              <a:gd name="connsiteY3" fmla="*/ 1661993 h 1661993"/>
              <a:gd name="connsiteX4" fmla="*/ 0 w 2808312"/>
              <a:gd name="connsiteY4" fmla="*/ 0 h 1661993"/>
              <a:gd name="connsiteX0" fmla="*/ 0 w 2808312"/>
              <a:gd name="connsiteY0" fmla="*/ 0 h 3233215"/>
              <a:gd name="connsiteX1" fmla="*/ 2808312 w 2808312"/>
              <a:gd name="connsiteY1" fmla="*/ 0 h 3233215"/>
              <a:gd name="connsiteX2" fmla="*/ 2808312 w 2808312"/>
              <a:gd name="connsiteY2" fmla="*/ 1661993 h 3233215"/>
              <a:gd name="connsiteX3" fmla="*/ 12879 w 2808312"/>
              <a:gd name="connsiteY3" fmla="*/ 3233215 h 3233215"/>
              <a:gd name="connsiteX4" fmla="*/ 0 w 2808312"/>
              <a:gd name="connsiteY4" fmla="*/ 0 h 3233215"/>
              <a:gd name="connsiteX0" fmla="*/ 0 w 2808312"/>
              <a:gd name="connsiteY0" fmla="*/ 0 h 3258973"/>
              <a:gd name="connsiteX1" fmla="*/ 2808312 w 2808312"/>
              <a:gd name="connsiteY1" fmla="*/ 0 h 3258973"/>
              <a:gd name="connsiteX2" fmla="*/ 2808312 w 2808312"/>
              <a:gd name="connsiteY2" fmla="*/ 3258973 h 3258973"/>
              <a:gd name="connsiteX3" fmla="*/ 12879 w 2808312"/>
              <a:gd name="connsiteY3" fmla="*/ 3233215 h 3258973"/>
              <a:gd name="connsiteX4" fmla="*/ 0 w 2808312"/>
              <a:gd name="connsiteY4" fmla="*/ 0 h 3258973"/>
              <a:gd name="connsiteX0" fmla="*/ 0 w 2808312"/>
              <a:gd name="connsiteY0" fmla="*/ 0 h 3233215"/>
              <a:gd name="connsiteX1" fmla="*/ 2808312 w 2808312"/>
              <a:gd name="connsiteY1" fmla="*/ 0 h 3233215"/>
              <a:gd name="connsiteX2" fmla="*/ 2795433 w 2808312"/>
              <a:gd name="connsiteY2" fmla="*/ 3220337 h 3233215"/>
              <a:gd name="connsiteX3" fmla="*/ 12879 w 2808312"/>
              <a:gd name="connsiteY3" fmla="*/ 3233215 h 3233215"/>
              <a:gd name="connsiteX4" fmla="*/ 0 w 2808312"/>
              <a:gd name="connsiteY4" fmla="*/ 0 h 3233215"/>
              <a:gd name="connsiteX0" fmla="*/ 0 w 2808312"/>
              <a:gd name="connsiteY0" fmla="*/ 2060620 h 3233215"/>
              <a:gd name="connsiteX1" fmla="*/ 2808312 w 2808312"/>
              <a:gd name="connsiteY1" fmla="*/ 0 h 3233215"/>
              <a:gd name="connsiteX2" fmla="*/ 2795433 w 2808312"/>
              <a:gd name="connsiteY2" fmla="*/ 3220337 h 3233215"/>
              <a:gd name="connsiteX3" fmla="*/ 12879 w 2808312"/>
              <a:gd name="connsiteY3" fmla="*/ 3233215 h 3233215"/>
              <a:gd name="connsiteX4" fmla="*/ 0 w 2808312"/>
              <a:gd name="connsiteY4" fmla="*/ 2060620 h 3233215"/>
              <a:gd name="connsiteX0" fmla="*/ 0 w 2795433"/>
              <a:gd name="connsiteY0" fmla="*/ 0 h 1172595"/>
              <a:gd name="connsiteX1" fmla="*/ 2795433 w 2795433"/>
              <a:gd name="connsiteY1" fmla="*/ 12879 h 1172595"/>
              <a:gd name="connsiteX2" fmla="*/ 2795433 w 2795433"/>
              <a:gd name="connsiteY2" fmla="*/ 1159717 h 1172595"/>
              <a:gd name="connsiteX3" fmla="*/ 12879 w 2795433"/>
              <a:gd name="connsiteY3" fmla="*/ 1172595 h 1172595"/>
              <a:gd name="connsiteX4" fmla="*/ 0 w 2795433"/>
              <a:gd name="connsiteY4" fmla="*/ 0 h 1172595"/>
              <a:gd name="connsiteX0" fmla="*/ 0 w 2795433"/>
              <a:gd name="connsiteY0" fmla="*/ 0 h 1333880"/>
              <a:gd name="connsiteX1" fmla="*/ 2795433 w 2795433"/>
              <a:gd name="connsiteY1" fmla="*/ 12879 h 1333880"/>
              <a:gd name="connsiteX2" fmla="*/ 2795433 w 2795433"/>
              <a:gd name="connsiteY2" fmla="*/ 1159717 h 1333880"/>
              <a:gd name="connsiteX3" fmla="*/ 12879 w 2795433"/>
              <a:gd name="connsiteY3" fmla="*/ 1333880 h 1333880"/>
              <a:gd name="connsiteX4" fmla="*/ 0 w 2795433"/>
              <a:gd name="connsiteY4" fmla="*/ 0 h 1333880"/>
              <a:gd name="connsiteX0" fmla="*/ 0 w 2804670"/>
              <a:gd name="connsiteY0" fmla="*/ 0 h 1333880"/>
              <a:gd name="connsiteX1" fmla="*/ 2795433 w 2804670"/>
              <a:gd name="connsiteY1" fmla="*/ 12879 h 1333880"/>
              <a:gd name="connsiteX2" fmla="*/ 2804670 w 2804670"/>
              <a:gd name="connsiteY2" fmla="*/ 1321003 h 1333880"/>
              <a:gd name="connsiteX3" fmla="*/ 12879 w 2804670"/>
              <a:gd name="connsiteY3" fmla="*/ 1333880 h 1333880"/>
              <a:gd name="connsiteX4" fmla="*/ 0 w 2804670"/>
              <a:gd name="connsiteY4" fmla="*/ 0 h 1333880"/>
              <a:gd name="connsiteX0" fmla="*/ 0 w 2804670"/>
              <a:gd name="connsiteY0" fmla="*/ 0 h 1333880"/>
              <a:gd name="connsiteX1" fmla="*/ 2804670 w 2804670"/>
              <a:gd name="connsiteY1" fmla="*/ 320787 h 1333880"/>
              <a:gd name="connsiteX2" fmla="*/ 2804670 w 2804670"/>
              <a:gd name="connsiteY2" fmla="*/ 1321003 h 1333880"/>
              <a:gd name="connsiteX3" fmla="*/ 12879 w 2804670"/>
              <a:gd name="connsiteY3" fmla="*/ 1333880 h 1333880"/>
              <a:gd name="connsiteX4" fmla="*/ 0 w 2804670"/>
              <a:gd name="connsiteY4" fmla="*/ 0 h 1333880"/>
              <a:gd name="connsiteX0" fmla="*/ 0 w 2795434"/>
              <a:gd name="connsiteY0" fmla="*/ 53102 h 1013093"/>
              <a:gd name="connsiteX1" fmla="*/ 2795434 w 2795434"/>
              <a:gd name="connsiteY1" fmla="*/ 0 h 1013093"/>
              <a:gd name="connsiteX2" fmla="*/ 2795434 w 2795434"/>
              <a:gd name="connsiteY2" fmla="*/ 1000216 h 1013093"/>
              <a:gd name="connsiteX3" fmla="*/ 3643 w 2795434"/>
              <a:gd name="connsiteY3" fmla="*/ 1013093 h 1013093"/>
              <a:gd name="connsiteX4" fmla="*/ 0 w 2795434"/>
              <a:gd name="connsiteY4" fmla="*/ 53102 h 1013093"/>
              <a:gd name="connsiteX0" fmla="*/ 0 w 2804671"/>
              <a:gd name="connsiteY0" fmla="*/ 9115 h 1013093"/>
              <a:gd name="connsiteX1" fmla="*/ 2804671 w 2804671"/>
              <a:gd name="connsiteY1" fmla="*/ 0 h 1013093"/>
              <a:gd name="connsiteX2" fmla="*/ 2804671 w 2804671"/>
              <a:gd name="connsiteY2" fmla="*/ 1000216 h 1013093"/>
              <a:gd name="connsiteX3" fmla="*/ 12880 w 2804671"/>
              <a:gd name="connsiteY3" fmla="*/ 1013093 h 1013093"/>
              <a:gd name="connsiteX4" fmla="*/ 0 w 2804671"/>
              <a:gd name="connsiteY4" fmla="*/ 9115 h 1013093"/>
              <a:gd name="connsiteX0" fmla="*/ 0 w 2804671"/>
              <a:gd name="connsiteY0" fmla="*/ 0 h 1277175"/>
              <a:gd name="connsiteX1" fmla="*/ 2804671 w 2804671"/>
              <a:gd name="connsiteY1" fmla="*/ 264082 h 1277175"/>
              <a:gd name="connsiteX2" fmla="*/ 2804671 w 2804671"/>
              <a:gd name="connsiteY2" fmla="*/ 1264298 h 1277175"/>
              <a:gd name="connsiteX3" fmla="*/ 12880 w 2804671"/>
              <a:gd name="connsiteY3" fmla="*/ 1277175 h 1277175"/>
              <a:gd name="connsiteX4" fmla="*/ 0 w 2804671"/>
              <a:gd name="connsiteY4" fmla="*/ 0 h 1277175"/>
              <a:gd name="connsiteX0" fmla="*/ 0 w 2869065"/>
              <a:gd name="connsiteY0" fmla="*/ 0 h 1277175"/>
              <a:gd name="connsiteX1" fmla="*/ 2869065 w 2869065"/>
              <a:gd name="connsiteY1" fmla="*/ 19146 h 1277175"/>
              <a:gd name="connsiteX2" fmla="*/ 2804671 w 2869065"/>
              <a:gd name="connsiteY2" fmla="*/ 1264298 h 1277175"/>
              <a:gd name="connsiteX3" fmla="*/ 12880 w 2869065"/>
              <a:gd name="connsiteY3" fmla="*/ 1277175 h 1277175"/>
              <a:gd name="connsiteX4" fmla="*/ 0 w 2869065"/>
              <a:gd name="connsiteY4" fmla="*/ 0 h 1277175"/>
              <a:gd name="connsiteX0" fmla="*/ 0 w 2869065"/>
              <a:gd name="connsiteY0" fmla="*/ 0 h 1277175"/>
              <a:gd name="connsiteX1" fmla="*/ 2869065 w 2869065"/>
              <a:gd name="connsiteY1" fmla="*/ 19146 h 1277175"/>
              <a:gd name="connsiteX2" fmla="*/ 2856186 w 2869065"/>
              <a:gd name="connsiteY2" fmla="*/ 1019362 h 1277175"/>
              <a:gd name="connsiteX3" fmla="*/ 12880 w 2869065"/>
              <a:gd name="connsiteY3" fmla="*/ 1277175 h 1277175"/>
              <a:gd name="connsiteX4" fmla="*/ 0 w 2869065"/>
              <a:gd name="connsiteY4" fmla="*/ 0 h 1277175"/>
              <a:gd name="connsiteX0" fmla="*/ 0 w 2869065"/>
              <a:gd name="connsiteY0" fmla="*/ 0 h 1041660"/>
              <a:gd name="connsiteX1" fmla="*/ 2869065 w 2869065"/>
              <a:gd name="connsiteY1" fmla="*/ 19146 h 1041660"/>
              <a:gd name="connsiteX2" fmla="*/ 2856186 w 2869065"/>
              <a:gd name="connsiteY2" fmla="*/ 1019362 h 1041660"/>
              <a:gd name="connsiteX3" fmla="*/ 38638 w 2869065"/>
              <a:gd name="connsiteY3" fmla="*/ 1041660 h 1041660"/>
              <a:gd name="connsiteX4" fmla="*/ 0 w 2869065"/>
              <a:gd name="connsiteY4" fmla="*/ 0 h 1041660"/>
              <a:gd name="connsiteX0" fmla="*/ 0 w 2869065"/>
              <a:gd name="connsiteY0" fmla="*/ 0 h 1019362"/>
              <a:gd name="connsiteX1" fmla="*/ 2869065 w 2869065"/>
              <a:gd name="connsiteY1" fmla="*/ 19146 h 1019362"/>
              <a:gd name="connsiteX2" fmla="*/ 2856186 w 2869065"/>
              <a:gd name="connsiteY2" fmla="*/ 1019362 h 1019362"/>
              <a:gd name="connsiteX3" fmla="*/ 38638 w 2869065"/>
              <a:gd name="connsiteY3" fmla="*/ 1013398 h 1019362"/>
              <a:gd name="connsiteX4" fmla="*/ 0 w 2869065"/>
              <a:gd name="connsiteY4" fmla="*/ 0 h 101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9065" h="1019362">
                <a:moveTo>
                  <a:pt x="0" y="0"/>
                </a:moveTo>
                <a:lnTo>
                  <a:pt x="2869065" y="19146"/>
                </a:lnTo>
                <a:lnTo>
                  <a:pt x="2856186" y="1019362"/>
                </a:lnTo>
                <a:lnTo>
                  <a:pt x="38638" y="1013398"/>
                </a:lnTo>
                <a:cubicBezTo>
                  <a:pt x="37424" y="693401"/>
                  <a:pt x="1214" y="319997"/>
                  <a:pt x="0" y="0"/>
                </a:cubicBezTo>
                <a:close/>
              </a:path>
            </a:pathLst>
          </a:custGeom>
          <a:noFill/>
        </p:spPr>
        <p:txBody>
          <a:bodyPr wrap="square" rtlCol="0">
            <a:spAutoFit/>
          </a:bodyPr>
          <a:lstStyle/>
          <a:p>
            <a:r>
              <a:rPr lang="en-GB" sz="1500" b="1" dirty="0"/>
              <a:t>Increasing the surface area, temperature or using a catalyst will increase the rate of reaction so the gradient of the line increases from B to A. The difference is that increasing the concentration provides more reacting particles therefore more product, therefore the graph below is produced.</a:t>
            </a:r>
          </a:p>
        </p:txBody>
      </p:sp>
      <p:sp>
        <p:nvSpPr>
          <p:cNvPr id="7" name="TextBox 6"/>
          <p:cNvSpPr txBox="1"/>
          <p:nvPr/>
        </p:nvSpPr>
        <p:spPr>
          <a:xfrm>
            <a:off x="192390" y="3005137"/>
            <a:ext cx="4882613" cy="2113290"/>
          </a:xfrm>
          <a:custGeom>
            <a:avLst/>
            <a:gdLst>
              <a:gd name="connsiteX0" fmla="*/ 0 w 5760640"/>
              <a:gd name="connsiteY0" fmla="*/ 0 h 1754326"/>
              <a:gd name="connsiteX1" fmla="*/ 5760640 w 5760640"/>
              <a:gd name="connsiteY1" fmla="*/ 0 h 1754326"/>
              <a:gd name="connsiteX2" fmla="*/ 5760640 w 5760640"/>
              <a:gd name="connsiteY2" fmla="*/ 1754326 h 1754326"/>
              <a:gd name="connsiteX3" fmla="*/ 0 w 5760640"/>
              <a:gd name="connsiteY3" fmla="*/ 1754326 h 1754326"/>
              <a:gd name="connsiteX4" fmla="*/ 0 w 5760640"/>
              <a:gd name="connsiteY4" fmla="*/ 0 h 1754326"/>
              <a:gd name="connsiteX0" fmla="*/ 0 w 5760640"/>
              <a:gd name="connsiteY0" fmla="*/ 0 h 3119487"/>
              <a:gd name="connsiteX1" fmla="*/ 5760640 w 5760640"/>
              <a:gd name="connsiteY1" fmla="*/ 0 h 3119487"/>
              <a:gd name="connsiteX2" fmla="*/ 5760640 w 5760640"/>
              <a:gd name="connsiteY2" fmla="*/ 1754326 h 3119487"/>
              <a:gd name="connsiteX3" fmla="*/ 0 w 5760640"/>
              <a:gd name="connsiteY3" fmla="*/ 3119487 h 3119487"/>
              <a:gd name="connsiteX4" fmla="*/ 0 w 5760640"/>
              <a:gd name="connsiteY4" fmla="*/ 0 h 3119487"/>
              <a:gd name="connsiteX0" fmla="*/ 0 w 5773518"/>
              <a:gd name="connsiteY0" fmla="*/ 0 h 3119487"/>
              <a:gd name="connsiteX1" fmla="*/ 5760640 w 5773518"/>
              <a:gd name="connsiteY1" fmla="*/ 0 h 3119487"/>
              <a:gd name="connsiteX2" fmla="*/ 5773518 w 5773518"/>
              <a:gd name="connsiteY2" fmla="*/ 3055092 h 3119487"/>
              <a:gd name="connsiteX3" fmla="*/ 0 w 5773518"/>
              <a:gd name="connsiteY3" fmla="*/ 3119487 h 3119487"/>
              <a:gd name="connsiteX4" fmla="*/ 0 w 5773518"/>
              <a:gd name="connsiteY4" fmla="*/ 0 h 3119487"/>
              <a:gd name="connsiteX0" fmla="*/ 0 w 5773518"/>
              <a:gd name="connsiteY0" fmla="*/ 0 h 3119487"/>
              <a:gd name="connsiteX1" fmla="*/ 5760640 w 5773518"/>
              <a:gd name="connsiteY1" fmla="*/ 0 h 3119487"/>
              <a:gd name="connsiteX2" fmla="*/ 5773518 w 5773518"/>
              <a:gd name="connsiteY2" fmla="*/ 3080850 h 3119487"/>
              <a:gd name="connsiteX3" fmla="*/ 0 w 5773518"/>
              <a:gd name="connsiteY3" fmla="*/ 3119487 h 3119487"/>
              <a:gd name="connsiteX4" fmla="*/ 0 w 5773518"/>
              <a:gd name="connsiteY4" fmla="*/ 0 h 3119487"/>
              <a:gd name="connsiteX0" fmla="*/ 0 w 5773518"/>
              <a:gd name="connsiteY0" fmla="*/ 0 h 3132366"/>
              <a:gd name="connsiteX1" fmla="*/ 5760640 w 5773518"/>
              <a:gd name="connsiteY1" fmla="*/ 0 h 3132366"/>
              <a:gd name="connsiteX2" fmla="*/ 5773518 w 5773518"/>
              <a:gd name="connsiteY2" fmla="*/ 3132366 h 3132366"/>
              <a:gd name="connsiteX3" fmla="*/ 0 w 5773518"/>
              <a:gd name="connsiteY3" fmla="*/ 3119487 h 3132366"/>
              <a:gd name="connsiteX4" fmla="*/ 0 w 5773518"/>
              <a:gd name="connsiteY4" fmla="*/ 0 h 3132366"/>
              <a:gd name="connsiteX0" fmla="*/ 0 w 5773518"/>
              <a:gd name="connsiteY0" fmla="*/ 0 h 3119487"/>
              <a:gd name="connsiteX1" fmla="*/ 5760640 w 5773518"/>
              <a:gd name="connsiteY1" fmla="*/ 0 h 3119487"/>
              <a:gd name="connsiteX2" fmla="*/ 5773518 w 5773518"/>
              <a:gd name="connsiteY2" fmla="*/ 3106608 h 3119487"/>
              <a:gd name="connsiteX3" fmla="*/ 0 w 5773518"/>
              <a:gd name="connsiteY3" fmla="*/ 3119487 h 3119487"/>
              <a:gd name="connsiteX4" fmla="*/ 0 w 5773518"/>
              <a:gd name="connsiteY4" fmla="*/ 0 h 3119487"/>
              <a:gd name="connsiteX0" fmla="*/ 0 w 5773518"/>
              <a:gd name="connsiteY0" fmla="*/ 0 h 3132366"/>
              <a:gd name="connsiteX1" fmla="*/ 5760640 w 5773518"/>
              <a:gd name="connsiteY1" fmla="*/ 0 h 3132366"/>
              <a:gd name="connsiteX2" fmla="*/ 5773518 w 5773518"/>
              <a:gd name="connsiteY2" fmla="*/ 3132366 h 3132366"/>
              <a:gd name="connsiteX3" fmla="*/ 0 w 5773518"/>
              <a:gd name="connsiteY3" fmla="*/ 3119487 h 3132366"/>
              <a:gd name="connsiteX4" fmla="*/ 0 w 5773518"/>
              <a:gd name="connsiteY4" fmla="*/ 0 h 3132366"/>
              <a:gd name="connsiteX0" fmla="*/ 0 w 5761879"/>
              <a:gd name="connsiteY0" fmla="*/ 0 h 3132366"/>
              <a:gd name="connsiteX1" fmla="*/ 5760640 w 5761879"/>
              <a:gd name="connsiteY1" fmla="*/ 0 h 3132366"/>
              <a:gd name="connsiteX2" fmla="*/ 5760640 w 5761879"/>
              <a:gd name="connsiteY2" fmla="*/ 3132366 h 3132366"/>
              <a:gd name="connsiteX3" fmla="*/ 0 w 5761879"/>
              <a:gd name="connsiteY3" fmla="*/ 3119487 h 3132366"/>
              <a:gd name="connsiteX4" fmla="*/ 0 w 5761879"/>
              <a:gd name="connsiteY4" fmla="*/ 0 h 3132366"/>
              <a:gd name="connsiteX0" fmla="*/ 0 w 5761879"/>
              <a:gd name="connsiteY0" fmla="*/ 0 h 3119487"/>
              <a:gd name="connsiteX1" fmla="*/ 5760640 w 5761879"/>
              <a:gd name="connsiteY1" fmla="*/ 0 h 3119487"/>
              <a:gd name="connsiteX2" fmla="*/ 5760640 w 5761879"/>
              <a:gd name="connsiteY2" fmla="*/ 3119487 h 3119487"/>
              <a:gd name="connsiteX3" fmla="*/ 0 w 5761879"/>
              <a:gd name="connsiteY3" fmla="*/ 3119487 h 3119487"/>
              <a:gd name="connsiteX4" fmla="*/ 0 w 5761879"/>
              <a:gd name="connsiteY4" fmla="*/ 0 h 3119487"/>
              <a:gd name="connsiteX0" fmla="*/ 0 w 5761879"/>
              <a:gd name="connsiteY0" fmla="*/ 528034 h 3119487"/>
              <a:gd name="connsiteX1" fmla="*/ 5760640 w 5761879"/>
              <a:gd name="connsiteY1" fmla="*/ 0 h 3119487"/>
              <a:gd name="connsiteX2" fmla="*/ 5760640 w 5761879"/>
              <a:gd name="connsiteY2" fmla="*/ 3119487 h 3119487"/>
              <a:gd name="connsiteX3" fmla="*/ 0 w 5761879"/>
              <a:gd name="connsiteY3" fmla="*/ 3119487 h 3119487"/>
              <a:gd name="connsiteX4" fmla="*/ 0 w 5761879"/>
              <a:gd name="connsiteY4" fmla="*/ 528034 h 3119487"/>
              <a:gd name="connsiteX0" fmla="*/ 0 w 5774088"/>
              <a:gd name="connsiteY0" fmla="*/ 51515 h 2642968"/>
              <a:gd name="connsiteX1" fmla="*/ 5773518 w 5774088"/>
              <a:gd name="connsiteY1" fmla="*/ 0 h 2642968"/>
              <a:gd name="connsiteX2" fmla="*/ 5760640 w 5774088"/>
              <a:gd name="connsiteY2" fmla="*/ 2642968 h 2642968"/>
              <a:gd name="connsiteX3" fmla="*/ 0 w 5774088"/>
              <a:gd name="connsiteY3" fmla="*/ 2642968 h 2642968"/>
              <a:gd name="connsiteX4" fmla="*/ 0 w 5774088"/>
              <a:gd name="connsiteY4" fmla="*/ 51515 h 2642968"/>
              <a:gd name="connsiteX0" fmla="*/ 0 w 5774088"/>
              <a:gd name="connsiteY0" fmla="*/ 38636 h 2630089"/>
              <a:gd name="connsiteX1" fmla="*/ 5773518 w 5774088"/>
              <a:gd name="connsiteY1" fmla="*/ 0 h 2630089"/>
              <a:gd name="connsiteX2" fmla="*/ 5760640 w 5774088"/>
              <a:gd name="connsiteY2" fmla="*/ 2630089 h 2630089"/>
              <a:gd name="connsiteX3" fmla="*/ 0 w 5774088"/>
              <a:gd name="connsiteY3" fmla="*/ 2630089 h 2630089"/>
              <a:gd name="connsiteX4" fmla="*/ 0 w 5774088"/>
              <a:gd name="connsiteY4" fmla="*/ 38636 h 2630089"/>
              <a:gd name="connsiteX0" fmla="*/ 0 w 5774088"/>
              <a:gd name="connsiteY0" fmla="*/ 12879 h 2604332"/>
              <a:gd name="connsiteX1" fmla="*/ 5773518 w 5774088"/>
              <a:gd name="connsiteY1" fmla="*/ 0 h 2604332"/>
              <a:gd name="connsiteX2" fmla="*/ 5760640 w 5774088"/>
              <a:gd name="connsiteY2" fmla="*/ 2604332 h 2604332"/>
              <a:gd name="connsiteX3" fmla="*/ 0 w 5774088"/>
              <a:gd name="connsiteY3" fmla="*/ 2604332 h 2604332"/>
              <a:gd name="connsiteX4" fmla="*/ 0 w 5774088"/>
              <a:gd name="connsiteY4" fmla="*/ 12879 h 2604332"/>
              <a:gd name="connsiteX0" fmla="*/ 0 w 5774088"/>
              <a:gd name="connsiteY0" fmla="*/ 0 h 2591453"/>
              <a:gd name="connsiteX1" fmla="*/ 5773518 w 5774088"/>
              <a:gd name="connsiteY1" fmla="*/ 12879 h 2591453"/>
              <a:gd name="connsiteX2" fmla="*/ 5760640 w 5774088"/>
              <a:gd name="connsiteY2" fmla="*/ 2591453 h 2591453"/>
              <a:gd name="connsiteX3" fmla="*/ 0 w 5774088"/>
              <a:gd name="connsiteY3" fmla="*/ 2591453 h 2591453"/>
              <a:gd name="connsiteX4" fmla="*/ 0 w 5774088"/>
              <a:gd name="connsiteY4" fmla="*/ 0 h 2591453"/>
              <a:gd name="connsiteX0" fmla="*/ 0 w 5761879"/>
              <a:gd name="connsiteY0" fmla="*/ 0 h 2591453"/>
              <a:gd name="connsiteX1" fmla="*/ 5760640 w 5761879"/>
              <a:gd name="connsiteY1" fmla="*/ 0 h 2591453"/>
              <a:gd name="connsiteX2" fmla="*/ 5760640 w 5761879"/>
              <a:gd name="connsiteY2" fmla="*/ 2591453 h 2591453"/>
              <a:gd name="connsiteX3" fmla="*/ 0 w 5761879"/>
              <a:gd name="connsiteY3" fmla="*/ 2591453 h 2591453"/>
              <a:gd name="connsiteX4" fmla="*/ 0 w 5761879"/>
              <a:gd name="connsiteY4" fmla="*/ 0 h 2591453"/>
              <a:gd name="connsiteX0" fmla="*/ 30310 w 5761879"/>
              <a:gd name="connsiteY0" fmla="*/ 0 h 2872303"/>
              <a:gd name="connsiteX1" fmla="*/ 5760640 w 5761879"/>
              <a:gd name="connsiteY1" fmla="*/ 280850 h 2872303"/>
              <a:gd name="connsiteX2" fmla="*/ 5760640 w 5761879"/>
              <a:gd name="connsiteY2" fmla="*/ 2872303 h 2872303"/>
              <a:gd name="connsiteX3" fmla="*/ 0 w 5761879"/>
              <a:gd name="connsiteY3" fmla="*/ 2872303 h 2872303"/>
              <a:gd name="connsiteX4" fmla="*/ 30310 w 5761879"/>
              <a:gd name="connsiteY4" fmla="*/ 0 h 2872303"/>
              <a:gd name="connsiteX0" fmla="*/ 30310 w 5760640"/>
              <a:gd name="connsiteY0" fmla="*/ 0 h 2872303"/>
              <a:gd name="connsiteX1" fmla="*/ 5745485 w 5760640"/>
              <a:gd name="connsiteY1" fmla="*/ 0 h 2872303"/>
              <a:gd name="connsiteX2" fmla="*/ 5760640 w 5760640"/>
              <a:gd name="connsiteY2" fmla="*/ 2872303 h 2872303"/>
              <a:gd name="connsiteX3" fmla="*/ 0 w 5760640"/>
              <a:gd name="connsiteY3" fmla="*/ 2872303 h 2872303"/>
              <a:gd name="connsiteX4" fmla="*/ 30310 w 5760640"/>
              <a:gd name="connsiteY4" fmla="*/ 0 h 2872303"/>
              <a:gd name="connsiteX0" fmla="*/ 30310 w 5760640"/>
              <a:gd name="connsiteY0" fmla="*/ 0 h 2872303"/>
              <a:gd name="connsiteX1" fmla="*/ 5745485 w 5760640"/>
              <a:gd name="connsiteY1" fmla="*/ 0 h 2872303"/>
              <a:gd name="connsiteX2" fmla="*/ 5760640 w 5760640"/>
              <a:gd name="connsiteY2" fmla="*/ 2513440 h 2872303"/>
              <a:gd name="connsiteX3" fmla="*/ 0 w 5760640"/>
              <a:gd name="connsiteY3" fmla="*/ 2872303 h 2872303"/>
              <a:gd name="connsiteX4" fmla="*/ 30310 w 5760640"/>
              <a:gd name="connsiteY4" fmla="*/ 0 h 2872303"/>
              <a:gd name="connsiteX0" fmla="*/ 15155 w 5745485"/>
              <a:gd name="connsiteY0" fmla="*/ 0 h 2544646"/>
              <a:gd name="connsiteX1" fmla="*/ 5730330 w 5745485"/>
              <a:gd name="connsiteY1" fmla="*/ 0 h 2544646"/>
              <a:gd name="connsiteX2" fmla="*/ 5745485 w 5745485"/>
              <a:gd name="connsiteY2" fmla="*/ 2513440 h 2544646"/>
              <a:gd name="connsiteX3" fmla="*/ 0 w 5745485"/>
              <a:gd name="connsiteY3" fmla="*/ 2544646 h 2544646"/>
              <a:gd name="connsiteX4" fmla="*/ 15155 w 5745485"/>
              <a:gd name="connsiteY4" fmla="*/ 0 h 2544646"/>
              <a:gd name="connsiteX0" fmla="*/ 15155 w 5745485"/>
              <a:gd name="connsiteY0" fmla="*/ 0 h 2560249"/>
              <a:gd name="connsiteX1" fmla="*/ 5730330 w 5745485"/>
              <a:gd name="connsiteY1" fmla="*/ 0 h 2560249"/>
              <a:gd name="connsiteX2" fmla="*/ 5745485 w 5745485"/>
              <a:gd name="connsiteY2" fmla="*/ 2513440 h 2560249"/>
              <a:gd name="connsiteX3" fmla="*/ 0 w 5745485"/>
              <a:gd name="connsiteY3" fmla="*/ 2560249 h 2560249"/>
              <a:gd name="connsiteX4" fmla="*/ 15155 w 5745485"/>
              <a:gd name="connsiteY4" fmla="*/ 0 h 2560249"/>
              <a:gd name="connsiteX0" fmla="*/ 15155 w 5745485"/>
              <a:gd name="connsiteY0" fmla="*/ 0 h 2560249"/>
              <a:gd name="connsiteX1" fmla="*/ 5730330 w 5745485"/>
              <a:gd name="connsiteY1" fmla="*/ 0 h 2560249"/>
              <a:gd name="connsiteX2" fmla="*/ 5745485 w 5745485"/>
              <a:gd name="connsiteY2" fmla="*/ 2529043 h 2560249"/>
              <a:gd name="connsiteX3" fmla="*/ 0 w 5745485"/>
              <a:gd name="connsiteY3" fmla="*/ 2560249 h 2560249"/>
              <a:gd name="connsiteX4" fmla="*/ 15155 w 5745485"/>
              <a:gd name="connsiteY4" fmla="*/ 0 h 2560249"/>
              <a:gd name="connsiteX0" fmla="*/ 15155 w 5745485"/>
              <a:gd name="connsiteY0" fmla="*/ 0 h 2560249"/>
              <a:gd name="connsiteX1" fmla="*/ 5730330 w 5745485"/>
              <a:gd name="connsiteY1" fmla="*/ 0 h 2560249"/>
              <a:gd name="connsiteX2" fmla="*/ 5745485 w 5745485"/>
              <a:gd name="connsiteY2" fmla="*/ 2544646 h 2560249"/>
              <a:gd name="connsiteX3" fmla="*/ 0 w 5745485"/>
              <a:gd name="connsiteY3" fmla="*/ 2560249 h 2560249"/>
              <a:gd name="connsiteX4" fmla="*/ 15155 w 5745485"/>
              <a:gd name="connsiteY4" fmla="*/ 0 h 2560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5485" h="2560249">
                <a:moveTo>
                  <a:pt x="15155" y="0"/>
                </a:moveTo>
                <a:lnTo>
                  <a:pt x="5730330" y="0"/>
                </a:lnTo>
                <a:cubicBezTo>
                  <a:pt x="5734623" y="1018364"/>
                  <a:pt x="5741192" y="1526282"/>
                  <a:pt x="5745485" y="2544646"/>
                </a:cubicBezTo>
                <a:lnTo>
                  <a:pt x="0" y="2560249"/>
                </a:lnTo>
                <a:cubicBezTo>
                  <a:pt x="5052" y="1712034"/>
                  <a:pt x="10103" y="848215"/>
                  <a:pt x="15155" y="0"/>
                </a:cubicBezTo>
                <a:close/>
              </a:path>
            </a:pathLst>
          </a:custGeom>
          <a:noFill/>
          <a:ln w="28575">
            <a:solidFill>
              <a:schemeClr val="accent6"/>
            </a:solidFill>
          </a:ln>
        </p:spPr>
        <p:txBody>
          <a:bodyPr wrap="square" rtlCol="0">
            <a:spAutoFit/>
          </a:bodyPr>
          <a:lstStyle/>
          <a:p>
            <a:r>
              <a:rPr lang="en-GB" sz="1900" b="1" dirty="0">
                <a:solidFill>
                  <a:schemeClr val="accent6">
                    <a:lumMod val="75000"/>
                  </a:schemeClr>
                </a:solidFill>
              </a:rPr>
              <a:t>Collision theory </a:t>
            </a:r>
            <a:r>
              <a:rPr lang="en-GB" sz="1900" b="1" dirty="0"/>
              <a:t>explains how these factors affect rates of reactions. According to this theory, chemical reactions can occur only when reacting particles </a:t>
            </a:r>
            <a:r>
              <a:rPr lang="en-GB" sz="1900" b="1" dirty="0">
                <a:solidFill>
                  <a:schemeClr val="accent6"/>
                </a:solidFill>
              </a:rPr>
              <a:t>collide</a:t>
            </a:r>
            <a:r>
              <a:rPr lang="en-GB" sz="1900" b="1" dirty="0"/>
              <a:t> with each other </a:t>
            </a:r>
            <a:r>
              <a:rPr lang="en-GB" sz="1900" b="1" dirty="0">
                <a:solidFill>
                  <a:schemeClr val="accent6"/>
                </a:solidFill>
              </a:rPr>
              <a:t>and</a:t>
            </a:r>
            <a:r>
              <a:rPr lang="en-GB" sz="1900" b="1" dirty="0"/>
              <a:t> with </a:t>
            </a:r>
            <a:r>
              <a:rPr lang="en-GB" sz="1900" b="1" dirty="0">
                <a:solidFill>
                  <a:schemeClr val="accent6"/>
                </a:solidFill>
              </a:rPr>
              <a:t>sufficient energy</a:t>
            </a:r>
            <a:r>
              <a:rPr lang="en-GB" sz="1900" b="1" dirty="0"/>
              <a:t>. The </a:t>
            </a:r>
            <a:r>
              <a:rPr lang="en-GB" sz="1900" b="1" dirty="0">
                <a:solidFill>
                  <a:schemeClr val="accent6"/>
                </a:solidFill>
              </a:rPr>
              <a:t>minimum</a:t>
            </a:r>
            <a:r>
              <a:rPr lang="en-GB" sz="1900" b="1" dirty="0"/>
              <a:t> amount of </a:t>
            </a:r>
            <a:r>
              <a:rPr lang="en-GB" sz="1900" b="1" dirty="0">
                <a:solidFill>
                  <a:schemeClr val="accent6"/>
                </a:solidFill>
              </a:rPr>
              <a:t>energy</a:t>
            </a:r>
            <a:r>
              <a:rPr lang="en-GB" sz="1900" b="1" dirty="0"/>
              <a:t> that particles must have to react is called the </a:t>
            </a:r>
            <a:r>
              <a:rPr lang="en-GB" sz="1900" b="1" dirty="0">
                <a:solidFill>
                  <a:schemeClr val="accent6"/>
                </a:solidFill>
              </a:rPr>
              <a:t>activation energy</a:t>
            </a:r>
            <a:r>
              <a:rPr lang="en-GB" sz="1900" b="1" dirty="0"/>
              <a:t>.</a:t>
            </a:r>
          </a:p>
        </p:txBody>
      </p:sp>
      <p:sp>
        <p:nvSpPr>
          <p:cNvPr id="10" name="TextBox 9"/>
          <p:cNvSpPr txBox="1"/>
          <p:nvPr/>
        </p:nvSpPr>
        <p:spPr>
          <a:xfrm>
            <a:off x="218150" y="5270184"/>
            <a:ext cx="4856854" cy="1015663"/>
          </a:xfrm>
          <a:custGeom>
            <a:avLst/>
            <a:gdLst>
              <a:gd name="connsiteX0" fmla="*/ 0 w 4895491"/>
              <a:gd name="connsiteY0" fmla="*/ 0 h 1015663"/>
              <a:gd name="connsiteX1" fmla="*/ 4895491 w 4895491"/>
              <a:gd name="connsiteY1" fmla="*/ 0 h 1015663"/>
              <a:gd name="connsiteX2" fmla="*/ 4895491 w 4895491"/>
              <a:gd name="connsiteY2" fmla="*/ 1015663 h 1015663"/>
              <a:gd name="connsiteX3" fmla="*/ 0 w 4895491"/>
              <a:gd name="connsiteY3" fmla="*/ 1015663 h 1015663"/>
              <a:gd name="connsiteX4" fmla="*/ 0 w 4895491"/>
              <a:gd name="connsiteY4" fmla="*/ 0 h 1015663"/>
              <a:gd name="connsiteX0" fmla="*/ 38637 w 4895491"/>
              <a:gd name="connsiteY0" fmla="*/ 0 h 1118694"/>
              <a:gd name="connsiteX1" fmla="*/ 4895491 w 4895491"/>
              <a:gd name="connsiteY1" fmla="*/ 103031 h 1118694"/>
              <a:gd name="connsiteX2" fmla="*/ 4895491 w 4895491"/>
              <a:gd name="connsiteY2" fmla="*/ 1118694 h 1118694"/>
              <a:gd name="connsiteX3" fmla="*/ 0 w 4895491"/>
              <a:gd name="connsiteY3" fmla="*/ 1118694 h 1118694"/>
              <a:gd name="connsiteX4" fmla="*/ 38637 w 4895491"/>
              <a:gd name="connsiteY4" fmla="*/ 0 h 1118694"/>
              <a:gd name="connsiteX0" fmla="*/ 38637 w 4895491"/>
              <a:gd name="connsiteY0" fmla="*/ 0 h 1118694"/>
              <a:gd name="connsiteX1" fmla="*/ 4895491 w 4895491"/>
              <a:gd name="connsiteY1" fmla="*/ 0 h 1118694"/>
              <a:gd name="connsiteX2" fmla="*/ 4895491 w 4895491"/>
              <a:gd name="connsiteY2" fmla="*/ 1118694 h 1118694"/>
              <a:gd name="connsiteX3" fmla="*/ 0 w 4895491"/>
              <a:gd name="connsiteY3" fmla="*/ 1118694 h 1118694"/>
              <a:gd name="connsiteX4" fmla="*/ 38637 w 4895491"/>
              <a:gd name="connsiteY4" fmla="*/ 0 h 1118694"/>
              <a:gd name="connsiteX0" fmla="*/ 38637 w 4895491"/>
              <a:gd name="connsiteY0" fmla="*/ 0 h 1118694"/>
              <a:gd name="connsiteX1" fmla="*/ 4895491 w 4895491"/>
              <a:gd name="connsiteY1" fmla="*/ 0 h 1118694"/>
              <a:gd name="connsiteX2" fmla="*/ 4895491 w 4895491"/>
              <a:gd name="connsiteY2" fmla="*/ 1118694 h 1118694"/>
              <a:gd name="connsiteX3" fmla="*/ 0 w 4895491"/>
              <a:gd name="connsiteY3" fmla="*/ 1118694 h 1118694"/>
              <a:gd name="connsiteX4" fmla="*/ 38637 w 4895491"/>
              <a:gd name="connsiteY4" fmla="*/ 0 h 1118694"/>
              <a:gd name="connsiteX0" fmla="*/ 0 w 4856854"/>
              <a:gd name="connsiteY0" fmla="*/ 0 h 1118694"/>
              <a:gd name="connsiteX1" fmla="*/ 4856854 w 4856854"/>
              <a:gd name="connsiteY1" fmla="*/ 0 h 1118694"/>
              <a:gd name="connsiteX2" fmla="*/ 4856854 w 4856854"/>
              <a:gd name="connsiteY2" fmla="*/ 1118694 h 1118694"/>
              <a:gd name="connsiteX3" fmla="*/ 12879 w 4856854"/>
              <a:gd name="connsiteY3" fmla="*/ 1015663 h 1118694"/>
              <a:gd name="connsiteX4" fmla="*/ 0 w 4856854"/>
              <a:gd name="connsiteY4" fmla="*/ 0 h 1118694"/>
              <a:gd name="connsiteX0" fmla="*/ 0 w 4856854"/>
              <a:gd name="connsiteY0" fmla="*/ 0 h 1041421"/>
              <a:gd name="connsiteX1" fmla="*/ 4856854 w 4856854"/>
              <a:gd name="connsiteY1" fmla="*/ 0 h 1041421"/>
              <a:gd name="connsiteX2" fmla="*/ 4856854 w 4856854"/>
              <a:gd name="connsiteY2" fmla="*/ 1041421 h 1041421"/>
              <a:gd name="connsiteX3" fmla="*/ 12879 w 4856854"/>
              <a:gd name="connsiteY3" fmla="*/ 1015663 h 1041421"/>
              <a:gd name="connsiteX4" fmla="*/ 0 w 4856854"/>
              <a:gd name="connsiteY4" fmla="*/ 0 h 1041421"/>
              <a:gd name="connsiteX0" fmla="*/ 0 w 4856854"/>
              <a:gd name="connsiteY0" fmla="*/ 0 h 1015663"/>
              <a:gd name="connsiteX1" fmla="*/ 4856854 w 4856854"/>
              <a:gd name="connsiteY1" fmla="*/ 0 h 1015663"/>
              <a:gd name="connsiteX2" fmla="*/ 4843975 w 4856854"/>
              <a:gd name="connsiteY2" fmla="*/ 1015663 h 1015663"/>
              <a:gd name="connsiteX3" fmla="*/ 12879 w 4856854"/>
              <a:gd name="connsiteY3" fmla="*/ 1015663 h 1015663"/>
              <a:gd name="connsiteX4" fmla="*/ 0 w 4856854"/>
              <a:gd name="connsiteY4" fmla="*/ 0 h 10156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6854" h="1015663">
                <a:moveTo>
                  <a:pt x="0" y="0"/>
                </a:moveTo>
                <a:lnTo>
                  <a:pt x="4856854" y="0"/>
                </a:lnTo>
                <a:lnTo>
                  <a:pt x="4843975" y="1015663"/>
                </a:lnTo>
                <a:lnTo>
                  <a:pt x="12879" y="1015663"/>
                </a:lnTo>
                <a:lnTo>
                  <a:pt x="0" y="0"/>
                </a:lnTo>
                <a:close/>
              </a:path>
            </a:pathLst>
          </a:custGeom>
          <a:solidFill>
            <a:schemeClr val="accent6"/>
          </a:solidFill>
        </p:spPr>
        <p:txBody>
          <a:bodyPr wrap="square" rtlCol="0">
            <a:spAutoFit/>
          </a:bodyPr>
          <a:lstStyle/>
          <a:p>
            <a:r>
              <a:rPr lang="en-GB" sz="2000" b="1" dirty="0"/>
              <a:t>The explanations on the next slide are very important and you will need to use them accurately in the exams to gain credit.</a:t>
            </a:r>
          </a:p>
        </p:txBody>
      </p:sp>
      <p:pic>
        <p:nvPicPr>
          <p:cNvPr id="6" name="Picture 5"/>
          <p:cNvPicPr>
            <a:picLocks noChangeAspect="1"/>
          </p:cNvPicPr>
          <p:nvPr/>
        </p:nvPicPr>
        <p:blipFill>
          <a:blip r:embed="rId3"/>
          <a:stretch>
            <a:fillRect/>
          </a:stretch>
        </p:blipFill>
        <p:spPr>
          <a:xfrm>
            <a:off x="5796137" y="4597642"/>
            <a:ext cx="2592287" cy="1791237"/>
          </a:xfrm>
          <a:prstGeom prst="rect">
            <a:avLst/>
          </a:prstGeom>
        </p:spPr>
      </p:pic>
      <p:pic>
        <p:nvPicPr>
          <p:cNvPr id="8" name="Picture 7"/>
          <p:cNvPicPr>
            <a:picLocks noChangeAspect="1"/>
          </p:cNvPicPr>
          <p:nvPr/>
        </p:nvPicPr>
        <p:blipFill>
          <a:blip r:embed="rId4"/>
          <a:stretch>
            <a:fillRect/>
          </a:stretch>
        </p:blipFill>
        <p:spPr>
          <a:xfrm>
            <a:off x="5724129" y="548681"/>
            <a:ext cx="2664296" cy="2016223"/>
          </a:xfrm>
          <a:prstGeom prst="rect">
            <a:avLst/>
          </a:prstGeom>
        </p:spPr>
      </p:pic>
    </p:spTree>
    <p:extLst>
      <p:ext uri="{BB962C8B-B14F-4D97-AF65-F5344CB8AC3E}">
        <p14:creationId xmlns:p14="http://schemas.microsoft.com/office/powerpoint/2010/main" val="6446461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Rates of reactions part 2 – </a:t>
            </a:r>
            <a:r>
              <a:rPr kumimoji="0" lang="en-US" sz="20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000" b="1" i="0" u="none" strike="noStrike" kern="1200" cap="none" spc="0" normalizeH="0" noProof="0" dirty="0">
                <a:ln>
                  <a:noFill/>
                </a:ln>
                <a:solidFill>
                  <a:schemeClr val="accent6"/>
                </a:solidFill>
                <a:effectLst/>
                <a:uLnTx/>
                <a:uFillTx/>
                <a:latin typeface="Calibri"/>
                <a:ea typeface=""/>
                <a:cs typeface="News Gothic MT"/>
              </a:rPr>
              <a:t> reactions</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5" name="TextBox 4"/>
          <p:cNvSpPr txBox="1"/>
          <p:nvPr/>
        </p:nvSpPr>
        <p:spPr>
          <a:xfrm>
            <a:off x="203569" y="830608"/>
            <a:ext cx="4104456" cy="1200329"/>
          </a:xfrm>
          <a:prstGeom prst="rect">
            <a:avLst/>
          </a:prstGeom>
          <a:noFill/>
          <a:ln w="28575">
            <a:solidFill>
              <a:schemeClr val="accent6"/>
            </a:solidFill>
          </a:ln>
        </p:spPr>
        <p:txBody>
          <a:bodyPr wrap="square" rtlCol="0">
            <a:spAutoFit/>
          </a:bodyPr>
          <a:lstStyle/>
          <a:p>
            <a:pPr algn="ctr"/>
            <a:r>
              <a:rPr lang="en-GB" dirty="0">
                <a:solidFill>
                  <a:schemeClr val="accent6">
                    <a:lumMod val="75000"/>
                  </a:schemeClr>
                </a:solidFill>
              </a:rPr>
              <a:t>Increasing the concentration </a:t>
            </a:r>
            <a:r>
              <a:rPr lang="en-GB" dirty="0"/>
              <a:t>of reactants in solution increases the </a:t>
            </a:r>
            <a:r>
              <a:rPr lang="en-GB" dirty="0">
                <a:solidFill>
                  <a:schemeClr val="accent6">
                    <a:lumMod val="75000"/>
                  </a:schemeClr>
                </a:solidFill>
              </a:rPr>
              <a:t>frequency</a:t>
            </a:r>
            <a:r>
              <a:rPr lang="en-GB" dirty="0"/>
              <a:t> of collisions, and so increases the rate of reaction.</a:t>
            </a:r>
          </a:p>
        </p:txBody>
      </p:sp>
      <p:sp>
        <p:nvSpPr>
          <p:cNvPr id="6" name="TextBox 5"/>
          <p:cNvSpPr txBox="1"/>
          <p:nvPr/>
        </p:nvSpPr>
        <p:spPr>
          <a:xfrm>
            <a:off x="188749" y="2217706"/>
            <a:ext cx="4105344" cy="923330"/>
          </a:xfrm>
          <a:custGeom>
            <a:avLst/>
            <a:gdLst>
              <a:gd name="connsiteX0" fmla="*/ 0 w 4104456"/>
              <a:gd name="connsiteY0" fmla="*/ 0 h 923330"/>
              <a:gd name="connsiteX1" fmla="*/ 4104456 w 4104456"/>
              <a:gd name="connsiteY1" fmla="*/ 0 h 923330"/>
              <a:gd name="connsiteX2" fmla="*/ 4104456 w 4104456"/>
              <a:gd name="connsiteY2" fmla="*/ 923330 h 923330"/>
              <a:gd name="connsiteX3" fmla="*/ 0 w 4104456"/>
              <a:gd name="connsiteY3" fmla="*/ 923330 h 923330"/>
              <a:gd name="connsiteX4" fmla="*/ 0 w 4104456"/>
              <a:gd name="connsiteY4" fmla="*/ 0 h 923330"/>
              <a:gd name="connsiteX0" fmla="*/ 0 w 4104456"/>
              <a:gd name="connsiteY0" fmla="*/ 0 h 1431330"/>
              <a:gd name="connsiteX1" fmla="*/ 4104456 w 4104456"/>
              <a:gd name="connsiteY1" fmla="*/ 0 h 1431330"/>
              <a:gd name="connsiteX2" fmla="*/ 4104456 w 4104456"/>
              <a:gd name="connsiteY2" fmla="*/ 923330 h 1431330"/>
              <a:gd name="connsiteX3" fmla="*/ 36946 w 4104456"/>
              <a:gd name="connsiteY3" fmla="*/ 1431330 h 1431330"/>
              <a:gd name="connsiteX4" fmla="*/ 0 w 4104456"/>
              <a:gd name="connsiteY4" fmla="*/ 0 h 1431330"/>
              <a:gd name="connsiteX0" fmla="*/ 0 w 4104456"/>
              <a:gd name="connsiteY0" fmla="*/ 0 h 1431330"/>
              <a:gd name="connsiteX1" fmla="*/ 4104456 w 4104456"/>
              <a:gd name="connsiteY1" fmla="*/ 0 h 1431330"/>
              <a:gd name="connsiteX2" fmla="*/ 4104456 w 4104456"/>
              <a:gd name="connsiteY2" fmla="*/ 1431330 h 1431330"/>
              <a:gd name="connsiteX3" fmla="*/ 36946 w 4104456"/>
              <a:gd name="connsiteY3" fmla="*/ 1431330 h 1431330"/>
              <a:gd name="connsiteX4" fmla="*/ 0 w 4104456"/>
              <a:gd name="connsiteY4" fmla="*/ 0 h 1431330"/>
              <a:gd name="connsiteX0" fmla="*/ 0 w 4113692"/>
              <a:gd name="connsiteY0" fmla="*/ 0 h 1431330"/>
              <a:gd name="connsiteX1" fmla="*/ 4113692 w 4113692"/>
              <a:gd name="connsiteY1" fmla="*/ 286327 h 1431330"/>
              <a:gd name="connsiteX2" fmla="*/ 4104456 w 4113692"/>
              <a:gd name="connsiteY2" fmla="*/ 1431330 h 1431330"/>
              <a:gd name="connsiteX3" fmla="*/ 36946 w 4113692"/>
              <a:gd name="connsiteY3" fmla="*/ 1431330 h 1431330"/>
              <a:gd name="connsiteX4" fmla="*/ 0 w 4113692"/>
              <a:gd name="connsiteY4" fmla="*/ 0 h 1431330"/>
              <a:gd name="connsiteX0" fmla="*/ 0 w 4095219"/>
              <a:gd name="connsiteY0" fmla="*/ 0 h 1154239"/>
              <a:gd name="connsiteX1" fmla="*/ 4095219 w 4095219"/>
              <a:gd name="connsiteY1" fmla="*/ 9236 h 1154239"/>
              <a:gd name="connsiteX2" fmla="*/ 4085983 w 4095219"/>
              <a:gd name="connsiteY2" fmla="*/ 1154239 h 1154239"/>
              <a:gd name="connsiteX3" fmla="*/ 18473 w 4095219"/>
              <a:gd name="connsiteY3" fmla="*/ 1154239 h 1154239"/>
              <a:gd name="connsiteX4" fmla="*/ 0 w 4095219"/>
              <a:gd name="connsiteY4" fmla="*/ 0 h 1154239"/>
              <a:gd name="connsiteX0" fmla="*/ 9236 w 4104455"/>
              <a:gd name="connsiteY0" fmla="*/ 0 h 1154239"/>
              <a:gd name="connsiteX1" fmla="*/ 4104455 w 4104455"/>
              <a:gd name="connsiteY1" fmla="*/ 9236 h 1154239"/>
              <a:gd name="connsiteX2" fmla="*/ 4095219 w 4104455"/>
              <a:gd name="connsiteY2" fmla="*/ 1154239 h 1154239"/>
              <a:gd name="connsiteX3" fmla="*/ 0 w 4104455"/>
              <a:gd name="connsiteY3" fmla="*/ 1154239 h 1154239"/>
              <a:gd name="connsiteX4" fmla="*/ 9236 w 4104455"/>
              <a:gd name="connsiteY4" fmla="*/ 0 h 1154239"/>
              <a:gd name="connsiteX0" fmla="*/ 9236 w 4105344"/>
              <a:gd name="connsiteY0" fmla="*/ 0 h 1172711"/>
              <a:gd name="connsiteX1" fmla="*/ 4104455 w 4105344"/>
              <a:gd name="connsiteY1" fmla="*/ 9236 h 1172711"/>
              <a:gd name="connsiteX2" fmla="*/ 4104456 w 4105344"/>
              <a:gd name="connsiteY2" fmla="*/ 1172711 h 1172711"/>
              <a:gd name="connsiteX3" fmla="*/ 0 w 4105344"/>
              <a:gd name="connsiteY3" fmla="*/ 1154239 h 1172711"/>
              <a:gd name="connsiteX4" fmla="*/ 9236 w 4105344"/>
              <a:gd name="connsiteY4" fmla="*/ 0 h 1172711"/>
              <a:gd name="connsiteX0" fmla="*/ 9236 w 4105344"/>
              <a:gd name="connsiteY0" fmla="*/ 0 h 1163474"/>
              <a:gd name="connsiteX1" fmla="*/ 4104455 w 4105344"/>
              <a:gd name="connsiteY1" fmla="*/ 9236 h 1163474"/>
              <a:gd name="connsiteX2" fmla="*/ 4104456 w 4105344"/>
              <a:gd name="connsiteY2" fmla="*/ 1163474 h 1163474"/>
              <a:gd name="connsiteX3" fmla="*/ 0 w 4105344"/>
              <a:gd name="connsiteY3" fmla="*/ 1154239 h 1163474"/>
              <a:gd name="connsiteX4" fmla="*/ 9236 w 4105344"/>
              <a:gd name="connsiteY4" fmla="*/ 0 h 1163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5344" h="1163474">
                <a:moveTo>
                  <a:pt x="9236" y="0"/>
                </a:moveTo>
                <a:lnTo>
                  <a:pt x="4104455" y="9236"/>
                </a:lnTo>
                <a:cubicBezTo>
                  <a:pt x="4101376" y="390904"/>
                  <a:pt x="4107535" y="781806"/>
                  <a:pt x="4104456" y="1163474"/>
                </a:cubicBezTo>
                <a:lnTo>
                  <a:pt x="0" y="1154239"/>
                </a:lnTo>
                <a:cubicBezTo>
                  <a:pt x="3079" y="769493"/>
                  <a:pt x="6157" y="384746"/>
                  <a:pt x="9236" y="0"/>
                </a:cubicBezTo>
                <a:close/>
              </a:path>
            </a:pathLst>
          </a:custGeom>
          <a:noFill/>
          <a:ln w="28575">
            <a:solidFill>
              <a:schemeClr val="accent6"/>
            </a:solidFill>
          </a:ln>
        </p:spPr>
        <p:txBody>
          <a:bodyPr wrap="square" rtlCol="0">
            <a:spAutoFit/>
          </a:bodyPr>
          <a:lstStyle/>
          <a:p>
            <a:pPr algn="ctr"/>
            <a:r>
              <a:rPr lang="en-GB" dirty="0">
                <a:solidFill>
                  <a:schemeClr val="accent6">
                    <a:lumMod val="75000"/>
                  </a:schemeClr>
                </a:solidFill>
              </a:rPr>
              <a:t>Increasing the pressure </a:t>
            </a:r>
            <a:r>
              <a:rPr lang="en-GB" dirty="0"/>
              <a:t>of reacting gases increases the </a:t>
            </a:r>
            <a:r>
              <a:rPr lang="en-GB" dirty="0">
                <a:solidFill>
                  <a:schemeClr val="accent6">
                    <a:lumMod val="75000"/>
                  </a:schemeClr>
                </a:solidFill>
              </a:rPr>
              <a:t>frequency</a:t>
            </a:r>
            <a:r>
              <a:rPr lang="en-GB" dirty="0"/>
              <a:t> of collisions, and so increases the rate of reaction.</a:t>
            </a:r>
          </a:p>
        </p:txBody>
      </p:sp>
      <p:sp>
        <p:nvSpPr>
          <p:cNvPr id="10" name="TextBox 9"/>
          <p:cNvSpPr txBox="1"/>
          <p:nvPr/>
        </p:nvSpPr>
        <p:spPr>
          <a:xfrm>
            <a:off x="179513" y="3401466"/>
            <a:ext cx="4113692" cy="1200329"/>
          </a:xfrm>
          <a:custGeom>
            <a:avLst/>
            <a:gdLst>
              <a:gd name="connsiteX0" fmla="*/ 0 w 4104456"/>
              <a:gd name="connsiteY0" fmla="*/ 0 h 1477328"/>
              <a:gd name="connsiteX1" fmla="*/ 4104456 w 4104456"/>
              <a:gd name="connsiteY1" fmla="*/ 0 h 1477328"/>
              <a:gd name="connsiteX2" fmla="*/ 4104456 w 4104456"/>
              <a:gd name="connsiteY2" fmla="*/ 1477328 h 1477328"/>
              <a:gd name="connsiteX3" fmla="*/ 0 w 4104456"/>
              <a:gd name="connsiteY3" fmla="*/ 1477328 h 1477328"/>
              <a:gd name="connsiteX4" fmla="*/ 0 w 4104456"/>
              <a:gd name="connsiteY4" fmla="*/ 0 h 1477328"/>
              <a:gd name="connsiteX0" fmla="*/ 0 w 4104456"/>
              <a:gd name="connsiteY0" fmla="*/ 0 h 1735946"/>
              <a:gd name="connsiteX1" fmla="*/ 4104456 w 4104456"/>
              <a:gd name="connsiteY1" fmla="*/ 0 h 1735946"/>
              <a:gd name="connsiteX2" fmla="*/ 4104456 w 4104456"/>
              <a:gd name="connsiteY2" fmla="*/ 1477328 h 1735946"/>
              <a:gd name="connsiteX3" fmla="*/ 0 w 4104456"/>
              <a:gd name="connsiteY3" fmla="*/ 1735946 h 1735946"/>
              <a:gd name="connsiteX4" fmla="*/ 0 w 4104456"/>
              <a:gd name="connsiteY4" fmla="*/ 0 h 1735946"/>
              <a:gd name="connsiteX0" fmla="*/ 0 w 4113693"/>
              <a:gd name="connsiteY0" fmla="*/ 0 h 1735946"/>
              <a:gd name="connsiteX1" fmla="*/ 4104456 w 4113693"/>
              <a:gd name="connsiteY1" fmla="*/ 0 h 1735946"/>
              <a:gd name="connsiteX2" fmla="*/ 4113693 w 4113693"/>
              <a:gd name="connsiteY2" fmla="*/ 1717474 h 1735946"/>
              <a:gd name="connsiteX3" fmla="*/ 0 w 4113693"/>
              <a:gd name="connsiteY3" fmla="*/ 1735946 h 1735946"/>
              <a:gd name="connsiteX4" fmla="*/ 0 w 4113693"/>
              <a:gd name="connsiteY4" fmla="*/ 0 h 1735946"/>
              <a:gd name="connsiteX0" fmla="*/ 0 w 4113693"/>
              <a:gd name="connsiteY0" fmla="*/ 0 h 1735946"/>
              <a:gd name="connsiteX1" fmla="*/ 4104456 w 4113693"/>
              <a:gd name="connsiteY1" fmla="*/ 212436 h 1735946"/>
              <a:gd name="connsiteX2" fmla="*/ 4113693 w 4113693"/>
              <a:gd name="connsiteY2" fmla="*/ 1717474 h 1735946"/>
              <a:gd name="connsiteX3" fmla="*/ 0 w 4113693"/>
              <a:gd name="connsiteY3" fmla="*/ 1735946 h 1735946"/>
              <a:gd name="connsiteX4" fmla="*/ 0 w 4113693"/>
              <a:gd name="connsiteY4" fmla="*/ 0 h 1735946"/>
              <a:gd name="connsiteX0" fmla="*/ 9237 w 4113693"/>
              <a:gd name="connsiteY0" fmla="*/ 120073 h 1523510"/>
              <a:gd name="connsiteX1" fmla="*/ 4104456 w 4113693"/>
              <a:gd name="connsiteY1" fmla="*/ 0 h 1523510"/>
              <a:gd name="connsiteX2" fmla="*/ 4113693 w 4113693"/>
              <a:gd name="connsiteY2" fmla="*/ 1505038 h 1523510"/>
              <a:gd name="connsiteX3" fmla="*/ 0 w 4113693"/>
              <a:gd name="connsiteY3" fmla="*/ 1523510 h 1523510"/>
              <a:gd name="connsiteX4" fmla="*/ 9237 w 4113693"/>
              <a:gd name="connsiteY4" fmla="*/ 120073 h 1523510"/>
              <a:gd name="connsiteX0" fmla="*/ 9237 w 4122928"/>
              <a:gd name="connsiteY0" fmla="*/ 18473 h 1421910"/>
              <a:gd name="connsiteX1" fmla="*/ 4122928 w 4122928"/>
              <a:gd name="connsiteY1" fmla="*/ 0 h 1421910"/>
              <a:gd name="connsiteX2" fmla="*/ 4113693 w 4122928"/>
              <a:gd name="connsiteY2" fmla="*/ 1403438 h 1421910"/>
              <a:gd name="connsiteX3" fmla="*/ 0 w 4122928"/>
              <a:gd name="connsiteY3" fmla="*/ 1421910 h 1421910"/>
              <a:gd name="connsiteX4" fmla="*/ 9237 w 4122928"/>
              <a:gd name="connsiteY4" fmla="*/ 18473 h 1421910"/>
              <a:gd name="connsiteX0" fmla="*/ 9237 w 4122928"/>
              <a:gd name="connsiteY0" fmla="*/ 1 h 1403438"/>
              <a:gd name="connsiteX1" fmla="*/ 4122928 w 4122928"/>
              <a:gd name="connsiteY1" fmla="*/ 0 h 1403438"/>
              <a:gd name="connsiteX2" fmla="*/ 4113693 w 4122928"/>
              <a:gd name="connsiteY2" fmla="*/ 1384966 h 1403438"/>
              <a:gd name="connsiteX3" fmla="*/ 0 w 4122928"/>
              <a:gd name="connsiteY3" fmla="*/ 1403438 h 1403438"/>
              <a:gd name="connsiteX4" fmla="*/ 9237 w 4122928"/>
              <a:gd name="connsiteY4" fmla="*/ 1 h 1403438"/>
              <a:gd name="connsiteX0" fmla="*/ 9237 w 4122928"/>
              <a:gd name="connsiteY0" fmla="*/ 1 h 1431148"/>
              <a:gd name="connsiteX1" fmla="*/ 4122928 w 4122928"/>
              <a:gd name="connsiteY1" fmla="*/ 0 h 1431148"/>
              <a:gd name="connsiteX2" fmla="*/ 4113693 w 4122928"/>
              <a:gd name="connsiteY2" fmla="*/ 1431148 h 1431148"/>
              <a:gd name="connsiteX3" fmla="*/ 0 w 4122928"/>
              <a:gd name="connsiteY3" fmla="*/ 1403438 h 1431148"/>
              <a:gd name="connsiteX4" fmla="*/ 9237 w 4122928"/>
              <a:gd name="connsiteY4" fmla="*/ 1 h 1431148"/>
              <a:gd name="connsiteX0" fmla="*/ 9237 w 4122928"/>
              <a:gd name="connsiteY0" fmla="*/ 1 h 1403439"/>
              <a:gd name="connsiteX1" fmla="*/ 4122928 w 4122928"/>
              <a:gd name="connsiteY1" fmla="*/ 0 h 1403439"/>
              <a:gd name="connsiteX2" fmla="*/ 4104457 w 4122928"/>
              <a:gd name="connsiteY2" fmla="*/ 1403439 h 1403439"/>
              <a:gd name="connsiteX3" fmla="*/ 0 w 4122928"/>
              <a:gd name="connsiteY3" fmla="*/ 1403438 h 1403439"/>
              <a:gd name="connsiteX4" fmla="*/ 9237 w 4122928"/>
              <a:gd name="connsiteY4" fmla="*/ 1 h 1403439"/>
              <a:gd name="connsiteX0" fmla="*/ 9237 w 4113692"/>
              <a:gd name="connsiteY0" fmla="*/ 1 h 1403439"/>
              <a:gd name="connsiteX1" fmla="*/ 4113692 w 4113692"/>
              <a:gd name="connsiteY1" fmla="*/ 0 h 1403439"/>
              <a:gd name="connsiteX2" fmla="*/ 4104457 w 4113692"/>
              <a:gd name="connsiteY2" fmla="*/ 1403439 h 1403439"/>
              <a:gd name="connsiteX3" fmla="*/ 0 w 4113692"/>
              <a:gd name="connsiteY3" fmla="*/ 1403438 h 1403439"/>
              <a:gd name="connsiteX4" fmla="*/ 9237 w 4113692"/>
              <a:gd name="connsiteY4" fmla="*/ 1 h 1403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3692" h="1403439">
                <a:moveTo>
                  <a:pt x="9237" y="1"/>
                </a:moveTo>
                <a:lnTo>
                  <a:pt x="4113692" y="0"/>
                </a:lnTo>
                <a:cubicBezTo>
                  <a:pt x="4110614" y="467813"/>
                  <a:pt x="4107535" y="935626"/>
                  <a:pt x="4104457" y="1403439"/>
                </a:cubicBezTo>
                <a:lnTo>
                  <a:pt x="0" y="1403438"/>
                </a:lnTo>
                <a:lnTo>
                  <a:pt x="9237" y="1"/>
                </a:lnTo>
                <a:close/>
              </a:path>
            </a:pathLst>
          </a:custGeom>
          <a:noFill/>
          <a:ln w="28575">
            <a:solidFill>
              <a:schemeClr val="accent6"/>
            </a:solidFill>
          </a:ln>
        </p:spPr>
        <p:txBody>
          <a:bodyPr wrap="square" rtlCol="0">
            <a:spAutoFit/>
          </a:bodyPr>
          <a:lstStyle/>
          <a:p>
            <a:pPr algn="ctr"/>
            <a:r>
              <a:rPr lang="en-GB" dirty="0">
                <a:solidFill>
                  <a:schemeClr val="accent6">
                    <a:lumMod val="75000"/>
                  </a:schemeClr>
                </a:solidFill>
              </a:rPr>
              <a:t>Increasing the surface area </a:t>
            </a:r>
            <a:r>
              <a:rPr lang="en-GB" dirty="0"/>
              <a:t>of solid reactants increases the </a:t>
            </a:r>
            <a:r>
              <a:rPr lang="en-GB" dirty="0">
                <a:solidFill>
                  <a:schemeClr val="accent6">
                    <a:lumMod val="75000"/>
                  </a:schemeClr>
                </a:solidFill>
              </a:rPr>
              <a:t>frequency</a:t>
            </a:r>
            <a:r>
              <a:rPr lang="en-GB" dirty="0"/>
              <a:t> of collisions, and so increases the rate of reaction.</a:t>
            </a:r>
          </a:p>
        </p:txBody>
      </p:sp>
      <p:sp>
        <p:nvSpPr>
          <p:cNvPr id="11" name="TextBox 10"/>
          <p:cNvSpPr txBox="1"/>
          <p:nvPr/>
        </p:nvSpPr>
        <p:spPr>
          <a:xfrm>
            <a:off x="188749" y="4892967"/>
            <a:ext cx="4085982" cy="1200329"/>
          </a:xfrm>
          <a:custGeom>
            <a:avLst/>
            <a:gdLst>
              <a:gd name="connsiteX0" fmla="*/ 0 w 4104456"/>
              <a:gd name="connsiteY0" fmla="*/ 0 h 1200329"/>
              <a:gd name="connsiteX1" fmla="*/ 4104456 w 4104456"/>
              <a:gd name="connsiteY1" fmla="*/ 0 h 1200329"/>
              <a:gd name="connsiteX2" fmla="*/ 4104456 w 4104456"/>
              <a:gd name="connsiteY2" fmla="*/ 1200329 h 1200329"/>
              <a:gd name="connsiteX3" fmla="*/ 0 w 4104456"/>
              <a:gd name="connsiteY3" fmla="*/ 1200329 h 1200329"/>
              <a:gd name="connsiteX4" fmla="*/ 0 w 4104456"/>
              <a:gd name="connsiteY4" fmla="*/ 0 h 1200329"/>
              <a:gd name="connsiteX0" fmla="*/ 9236 w 4113692"/>
              <a:gd name="connsiteY0" fmla="*/ 0 h 1966947"/>
              <a:gd name="connsiteX1" fmla="*/ 4113692 w 4113692"/>
              <a:gd name="connsiteY1" fmla="*/ 0 h 1966947"/>
              <a:gd name="connsiteX2" fmla="*/ 4113692 w 4113692"/>
              <a:gd name="connsiteY2" fmla="*/ 1200329 h 1966947"/>
              <a:gd name="connsiteX3" fmla="*/ 0 w 4113692"/>
              <a:gd name="connsiteY3" fmla="*/ 1966947 h 1966947"/>
              <a:gd name="connsiteX4" fmla="*/ 9236 w 4113692"/>
              <a:gd name="connsiteY4" fmla="*/ 0 h 1966947"/>
              <a:gd name="connsiteX0" fmla="*/ 9236 w 4113692"/>
              <a:gd name="connsiteY0" fmla="*/ 0 h 1966947"/>
              <a:gd name="connsiteX1" fmla="*/ 4113692 w 4113692"/>
              <a:gd name="connsiteY1" fmla="*/ 0 h 1966947"/>
              <a:gd name="connsiteX2" fmla="*/ 4113692 w 4113692"/>
              <a:gd name="connsiteY2" fmla="*/ 1957711 h 1966947"/>
              <a:gd name="connsiteX3" fmla="*/ 0 w 4113692"/>
              <a:gd name="connsiteY3" fmla="*/ 1966947 h 1966947"/>
              <a:gd name="connsiteX4" fmla="*/ 9236 w 4113692"/>
              <a:gd name="connsiteY4" fmla="*/ 0 h 1966947"/>
              <a:gd name="connsiteX0" fmla="*/ 9236 w 4113692"/>
              <a:gd name="connsiteY0" fmla="*/ 0 h 1976184"/>
              <a:gd name="connsiteX1" fmla="*/ 4113692 w 4113692"/>
              <a:gd name="connsiteY1" fmla="*/ 0 h 1976184"/>
              <a:gd name="connsiteX2" fmla="*/ 4104455 w 4113692"/>
              <a:gd name="connsiteY2" fmla="*/ 1976184 h 1976184"/>
              <a:gd name="connsiteX3" fmla="*/ 0 w 4113692"/>
              <a:gd name="connsiteY3" fmla="*/ 1966947 h 1976184"/>
              <a:gd name="connsiteX4" fmla="*/ 9236 w 4113692"/>
              <a:gd name="connsiteY4" fmla="*/ 0 h 1976184"/>
              <a:gd name="connsiteX0" fmla="*/ 9236 w 4113692"/>
              <a:gd name="connsiteY0" fmla="*/ 0 h 1966948"/>
              <a:gd name="connsiteX1" fmla="*/ 4113692 w 4113692"/>
              <a:gd name="connsiteY1" fmla="*/ 0 h 1966948"/>
              <a:gd name="connsiteX2" fmla="*/ 4104455 w 4113692"/>
              <a:gd name="connsiteY2" fmla="*/ 1966948 h 1966948"/>
              <a:gd name="connsiteX3" fmla="*/ 0 w 4113692"/>
              <a:gd name="connsiteY3" fmla="*/ 1966947 h 1966948"/>
              <a:gd name="connsiteX4" fmla="*/ 9236 w 4113692"/>
              <a:gd name="connsiteY4" fmla="*/ 0 h 1966948"/>
              <a:gd name="connsiteX0" fmla="*/ 9236 w 4104456"/>
              <a:gd name="connsiteY0" fmla="*/ 0 h 1966948"/>
              <a:gd name="connsiteX1" fmla="*/ 4104456 w 4104456"/>
              <a:gd name="connsiteY1" fmla="*/ 415637 h 1966948"/>
              <a:gd name="connsiteX2" fmla="*/ 4104455 w 4104456"/>
              <a:gd name="connsiteY2" fmla="*/ 1966948 h 1966948"/>
              <a:gd name="connsiteX3" fmla="*/ 0 w 4104456"/>
              <a:gd name="connsiteY3" fmla="*/ 1966947 h 1966948"/>
              <a:gd name="connsiteX4" fmla="*/ 9236 w 4104456"/>
              <a:gd name="connsiteY4" fmla="*/ 0 h 1966948"/>
              <a:gd name="connsiteX0" fmla="*/ 9236 w 4104456"/>
              <a:gd name="connsiteY0" fmla="*/ 138544 h 1551311"/>
              <a:gd name="connsiteX1" fmla="*/ 4104456 w 4104456"/>
              <a:gd name="connsiteY1" fmla="*/ 0 h 1551311"/>
              <a:gd name="connsiteX2" fmla="*/ 4104455 w 4104456"/>
              <a:gd name="connsiteY2" fmla="*/ 1551311 h 1551311"/>
              <a:gd name="connsiteX3" fmla="*/ 0 w 4104456"/>
              <a:gd name="connsiteY3" fmla="*/ 1551310 h 1551311"/>
              <a:gd name="connsiteX4" fmla="*/ 9236 w 4104456"/>
              <a:gd name="connsiteY4" fmla="*/ 138544 h 1551311"/>
              <a:gd name="connsiteX0" fmla="*/ 9236 w 4104456"/>
              <a:gd name="connsiteY0" fmla="*/ 46180 h 1458947"/>
              <a:gd name="connsiteX1" fmla="*/ 4104456 w 4104456"/>
              <a:gd name="connsiteY1" fmla="*/ 0 h 1458947"/>
              <a:gd name="connsiteX2" fmla="*/ 4104455 w 4104456"/>
              <a:gd name="connsiteY2" fmla="*/ 1458947 h 1458947"/>
              <a:gd name="connsiteX3" fmla="*/ 0 w 4104456"/>
              <a:gd name="connsiteY3" fmla="*/ 1458946 h 1458947"/>
              <a:gd name="connsiteX4" fmla="*/ 9236 w 4104456"/>
              <a:gd name="connsiteY4" fmla="*/ 46180 h 1458947"/>
              <a:gd name="connsiteX0" fmla="*/ 9236 w 4104456"/>
              <a:gd name="connsiteY0" fmla="*/ 9234 h 1422001"/>
              <a:gd name="connsiteX1" fmla="*/ 4104456 w 4104456"/>
              <a:gd name="connsiteY1" fmla="*/ 0 h 1422001"/>
              <a:gd name="connsiteX2" fmla="*/ 4104455 w 4104456"/>
              <a:gd name="connsiteY2" fmla="*/ 1422001 h 1422001"/>
              <a:gd name="connsiteX3" fmla="*/ 0 w 4104456"/>
              <a:gd name="connsiteY3" fmla="*/ 1422000 h 1422001"/>
              <a:gd name="connsiteX4" fmla="*/ 9236 w 4104456"/>
              <a:gd name="connsiteY4" fmla="*/ 9234 h 1422001"/>
              <a:gd name="connsiteX0" fmla="*/ 9236 w 4104456"/>
              <a:gd name="connsiteY0" fmla="*/ 0 h 1412767"/>
              <a:gd name="connsiteX1" fmla="*/ 4104456 w 4104456"/>
              <a:gd name="connsiteY1" fmla="*/ 9239 h 1412767"/>
              <a:gd name="connsiteX2" fmla="*/ 4104455 w 4104456"/>
              <a:gd name="connsiteY2" fmla="*/ 1412767 h 1412767"/>
              <a:gd name="connsiteX3" fmla="*/ 0 w 4104456"/>
              <a:gd name="connsiteY3" fmla="*/ 1412766 h 1412767"/>
              <a:gd name="connsiteX4" fmla="*/ 9236 w 4104456"/>
              <a:gd name="connsiteY4" fmla="*/ 0 h 1412767"/>
              <a:gd name="connsiteX0" fmla="*/ 9236 w 4104455"/>
              <a:gd name="connsiteY0" fmla="*/ 0 h 1412767"/>
              <a:gd name="connsiteX1" fmla="*/ 4095219 w 4104455"/>
              <a:gd name="connsiteY1" fmla="*/ 3 h 1412767"/>
              <a:gd name="connsiteX2" fmla="*/ 4104455 w 4104455"/>
              <a:gd name="connsiteY2" fmla="*/ 1412767 h 1412767"/>
              <a:gd name="connsiteX3" fmla="*/ 0 w 4104455"/>
              <a:gd name="connsiteY3" fmla="*/ 1412766 h 1412767"/>
              <a:gd name="connsiteX4" fmla="*/ 9236 w 4104455"/>
              <a:gd name="connsiteY4" fmla="*/ 0 h 1412767"/>
              <a:gd name="connsiteX0" fmla="*/ 27709 w 4104455"/>
              <a:gd name="connsiteY0" fmla="*/ 0 h 1412767"/>
              <a:gd name="connsiteX1" fmla="*/ 4095219 w 4104455"/>
              <a:gd name="connsiteY1" fmla="*/ 3 h 1412767"/>
              <a:gd name="connsiteX2" fmla="*/ 4104455 w 4104455"/>
              <a:gd name="connsiteY2" fmla="*/ 1412767 h 1412767"/>
              <a:gd name="connsiteX3" fmla="*/ 0 w 4104455"/>
              <a:gd name="connsiteY3" fmla="*/ 1412766 h 1412767"/>
              <a:gd name="connsiteX4" fmla="*/ 27709 w 4104455"/>
              <a:gd name="connsiteY4" fmla="*/ 0 h 1412767"/>
              <a:gd name="connsiteX0" fmla="*/ 9236 w 4085982"/>
              <a:gd name="connsiteY0" fmla="*/ 0 h 1412767"/>
              <a:gd name="connsiteX1" fmla="*/ 4076746 w 4085982"/>
              <a:gd name="connsiteY1" fmla="*/ 3 h 1412767"/>
              <a:gd name="connsiteX2" fmla="*/ 4085982 w 4085982"/>
              <a:gd name="connsiteY2" fmla="*/ 1412767 h 1412767"/>
              <a:gd name="connsiteX3" fmla="*/ 0 w 4085982"/>
              <a:gd name="connsiteY3" fmla="*/ 1412766 h 1412767"/>
              <a:gd name="connsiteX4" fmla="*/ 9236 w 4085982"/>
              <a:gd name="connsiteY4" fmla="*/ 0 h 1412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5982" h="1412767">
                <a:moveTo>
                  <a:pt x="9236" y="0"/>
                </a:moveTo>
                <a:lnTo>
                  <a:pt x="4076746" y="3"/>
                </a:lnTo>
                <a:cubicBezTo>
                  <a:pt x="4076746" y="517107"/>
                  <a:pt x="4085982" y="895663"/>
                  <a:pt x="4085982" y="1412767"/>
                </a:cubicBezTo>
                <a:lnTo>
                  <a:pt x="0" y="1412766"/>
                </a:lnTo>
                <a:cubicBezTo>
                  <a:pt x="3079" y="757117"/>
                  <a:pt x="6157" y="655649"/>
                  <a:pt x="9236" y="0"/>
                </a:cubicBezTo>
                <a:close/>
              </a:path>
            </a:pathLst>
          </a:custGeom>
          <a:noFill/>
          <a:ln w="28575">
            <a:solidFill>
              <a:schemeClr val="accent6"/>
            </a:solidFill>
          </a:ln>
        </p:spPr>
        <p:txBody>
          <a:bodyPr wrap="square" rtlCol="0">
            <a:spAutoFit/>
          </a:bodyPr>
          <a:lstStyle/>
          <a:p>
            <a:pPr algn="ctr"/>
            <a:r>
              <a:rPr lang="en-GB" dirty="0">
                <a:solidFill>
                  <a:schemeClr val="accent6">
                    <a:lumMod val="75000"/>
                  </a:schemeClr>
                </a:solidFill>
              </a:rPr>
              <a:t>Increasing the temperature</a:t>
            </a:r>
            <a:r>
              <a:rPr lang="en-GB" dirty="0"/>
              <a:t> increases the </a:t>
            </a:r>
            <a:r>
              <a:rPr lang="en-GB" dirty="0">
                <a:solidFill>
                  <a:schemeClr val="accent6">
                    <a:lumMod val="75000"/>
                  </a:schemeClr>
                </a:solidFill>
              </a:rPr>
              <a:t>frequency </a:t>
            </a:r>
            <a:r>
              <a:rPr lang="en-GB" dirty="0"/>
              <a:t>of collisions and makes the collisions more </a:t>
            </a:r>
            <a:r>
              <a:rPr lang="en-GB" dirty="0">
                <a:solidFill>
                  <a:schemeClr val="accent6">
                    <a:lumMod val="75000"/>
                  </a:schemeClr>
                </a:solidFill>
              </a:rPr>
              <a:t>energetic</a:t>
            </a:r>
            <a:r>
              <a:rPr lang="en-GB" dirty="0"/>
              <a:t>, and so increases the rate of reaction.</a:t>
            </a:r>
          </a:p>
        </p:txBody>
      </p:sp>
      <p:pic>
        <p:nvPicPr>
          <p:cNvPr id="3" name="Picture 2"/>
          <p:cNvPicPr>
            <a:picLocks noChangeAspect="1"/>
          </p:cNvPicPr>
          <p:nvPr/>
        </p:nvPicPr>
        <p:blipFill>
          <a:blip r:embed="rId3"/>
          <a:stretch>
            <a:fillRect/>
          </a:stretch>
        </p:blipFill>
        <p:spPr>
          <a:xfrm>
            <a:off x="4427984" y="478705"/>
            <a:ext cx="3024335" cy="1425645"/>
          </a:xfrm>
          <a:prstGeom prst="rect">
            <a:avLst/>
          </a:prstGeom>
        </p:spPr>
      </p:pic>
      <p:pic>
        <p:nvPicPr>
          <p:cNvPr id="4" name="Picture 3"/>
          <p:cNvPicPr>
            <a:picLocks noChangeAspect="1"/>
          </p:cNvPicPr>
          <p:nvPr/>
        </p:nvPicPr>
        <p:blipFill>
          <a:blip r:embed="rId4"/>
          <a:stretch>
            <a:fillRect/>
          </a:stretch>
        </p:blipFill>
        <p:spPr>
          <a:xfrm>
            <a:off x="7508429" y="715425"/>
            <a:ext cx="1515440" cy="848414"/>
          </a:xfrm>
          <a:prstGeom prst="rect">
            <a:avLst/>
          </a:prstGeom>
        </p:spPr>
      </p:pic>
      <p:pic>
        <p:nvPicPr>
          <p:cNvPr id="7" name="Picture 6"/>
          <p:cNvPicPr>
            <a:picLocks noChangeAspect="1"/>
          </p:cNvPicPr>
          <p:nvPr/>
        </p:nvPicPr>
        <p:blipFill>
          <a:blip r:embed="rId5"/>
          <a:stretch>
            <a:fillRect/>
          </a:stretch>
        </p:blipFill>
        <p:spPr>
          <a:xfrm>
            <a:off x="4427984" y="1865577"/>
            <a:ext cx="3024335" cy="1627589"/>
          </a:xfrm>
          <a:prstGeom prst="rect">
            <a:avLst/>
          </a:prstGeom>
        </p:spPr>
      </p:pic>
      <p:pic>
        <p:nvPicPr>
          <p:cNvPr id="8" name="Picture 7"/>
          <p:cNvPicPr>
            <a:picLocks noChangeAspect="1"/>
          </p:cNvPicPr>
          <p:nvPr/>
        </p:nvPicPr>
        <p:blipFill>
          <a:blip r:embed="rId6"/>
          <a:stretch>
            <a:fillRect/>
          </a:stretch>
        </p:blipFill>
        <p:spPr>
          <a:xfrm>
            <a:off x="7524327" y="2348880"/>
            <a:ext cx="1368151" cy="586514"/>
          </a:xfrm>
          <a:prstGeom prst="rect">
            <a:avLst/>
          </a:prstGeom>
        </p:spPr>
      </p:pic>
      <p:pic>
        <p:nvPicPr>
          <p:cNvPr id="15" name="Picture 14"/>
          <p:cNvPicPr>
            <a:picLocks noChangeAspect="1"/>
          </p:cNvPicPr>
          <p:nvPr/>
        </p:nvPicPr>
        <p:blipFill>
          <a:blip r:embed="rId7"/>
          <a:stretch>
            <a:fillRect/>
          </a:stretch>
        </p:blipFill>
        <p:spPr>
          <a:xfrm>
            <a:off x="4572000" y="3493167"/>
            <a:ext cx="3096344" cy="1610309"/>
          </a:xfrm>
          <a:prstGeom prst="rect">
            <a:avLst/>
          </a:prstGeom>
        </p:spPr>
      </p:pic>
      <p:pic>
        <p:nvPicPr>
          <p:cNvPr id="17" name="Picture 16"/>
          <p:cNvPicPr>
            <a:picLocks noChangeAspect="1"/>
          </p:cNvPicPr>
          <p:nvPr/>
        </p:nvPicPr>
        <p:blipFill>
          <a:blip r:embed="rId8"/>
          <a:stretch>
            <a:fillRect/>
          </a:stretch>
        </p:blipFill>
        <p:spPr>
          <a:xfrm>
            <a:off x="7524327" y="3645024"/>
            <a:ext cx="1512169" cy="837963"/>
          </a:xfrm>
          <a:prstGeom prst="rect">
            <a:avLst/>
          </a:prstGeom>
        </p:spPr>
      </p:pic>
      <p:pic>
        <p:nvPicPr>
          <p:cNvPr id="18" name="Picture 17"/>
          <p:cNvPicPr>
            <a:picLocks noChangeAspect="1"/>
          </p:cNvPicPr>
          <p:nvPr/>
        </p:nvPicPr>
        <p:blipFill>
          <a:blip r:embed="rId9"/>
          <a:stretch>
            <a:fillRect/>
          </a:stretch>
        </p:blipFill>
        <p:spPr>
          <a:xfrm>
            <a:off x="4427984" y="4943777"/>
            <a:ext cx="3096343" cy="1584176"/>
          </a:xfrm>
          <a:prstGeom prst="rect">
            <a:avLst/>
          </a:prstGeom>
        </p:spPr>
      </p:pic>
      <p:pic>
        <p:nvPicPr>
          <p:cNvPr id="19" name="Picture 18"/>
          <p:cNvPicPr>
            <a:picLocks noChangeAspect="1"/>
          </p:cNvPicPr>
          <p:nvPr/>
        </p:nvPicPr>
        <p:blipFill>
          <a:blip r:embed="rId10"/>
          <a:stretch>
            <a:fillRect/>
          </a:stretch>
        </p:blipFill>
        <p:spPr>
          <a:xfrm>
            <a:off x="7524326" y="5255333"/>
            <a:ext cx="1599749" cy="837963"/>
          </a:xfrm>
          <a:prstGeom prst="rect">
            <a:avLst/>
          </a:prstGeom>
        </p:spPr>
      </p:pic>
    </p:spTree>
    <p:extLst>
      <p:ext uri="{BB962C8B-B14F-4D97-AF65-F5344CB8AC3E}">
        <p14:creationId xmlns:p14="http://schemas.microsoft.com/office/powerpoint/2010/main" val="3467757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49087" y="1052736"/>
            <a:ext cx="4716016" cy="4524315"/>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2 </a:t>
            </a:r>
          </a:p>
          <a:p>
            <a:pPr marL="457200" indent="-457200">
              <a:buFont typeface="Arial" charset="0"/>
              <a:buChar char="•"/>
            </a:pPr>
            <a:r>
              <a:rPr lang="en-GB" sz="2000" b="1" dirty="0">
                <a:solidFill>
                  <a:schemeClr val="tx1">
                    <a:lumMod val="50000"/>
                    <a:lumOff val="50000"/>
                  </a:schemeClr>
                </a:solidFill>
              </a:rPr>
              <a:t>Factors which affect the </a:t>
            </a:r>
          </a:p>
          <a:p>
            <a:r>
              <a:rPr lang="en-GB" sz="2000" b="1" dirty="0">
                <a:solidFill>
                  <a:schemeClr val="tx1">
                    <a:lumMod val="50000"/>
                    <a:lumOff val="50000"/>
                  </a:schemeClr>
                </a:solidFill>
              </a:rPr>
              <a:t>         rate of reactions</a:t>
            </a:r>
          </a:p>
          <a:p>
            <a:pPr marL="285750" indent="-285750">
              <a:buFont typeface="Arial" panose="020B0604020202020204" pitchFamily="34" charset="0"/>
              <a:buChar char="•"/>
            </a:pPr>
            <a:r>
              <a:rPr lang="en-GB" sz="2000" b="1" dirty="0">
                <a:solidFill>
                  <a:schemeClr val="tx1">
                    <a:lumMod val="50000"/>
                    <a:lumOff val="50000"/>
                  </a:schemeClr>
                </a:solidFill>
              </a:rPr>
              <a:t>  Collision theory and activation</a:t>
            </a:r>
          </a:p>
          <a:p>
            <a:r>
              <a:rPr lang="en-GB" sz="2000" b="1" dirty="0">
                <a:solidFill>
                  <a:schemeClr val="tx1">
                    <a:lumMod val="50000"/>
                    <a:lumOff val="50000"/>
                  </a:schemeClr>
                </a:solidFill>
              </a:rPr>
              <a:t>        energy</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38366778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 </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478697"/>
          </a:xfrm>
          <a:prstGeom prst="rect">
            <a:avLst/>
          </a:prstGeom>
          <a:noFill/>
        </p:spPr>
        <p:txBody>
          <a:bodyPr wrap="square" rtlCol="0">
            <a:spAutoFit/>
          </a:bodyPr>
          <a:lstStyle/>
          <a:p>
            <a:pPr marL="457200" indent="-457200">
              <a:buAutoNum type="arabicPeriod"/>
            </a:pPr>
            <a:r>
              <a:rPr lang="en-GB" sz="2400" dirty="0" smtClean="0"/>
              <a:t>What is meant by the term ‘collision theory’?</a:t>
            </a:r>
          </a:p>
          <a:p>
            <a:pPr marL="457200" indent="-457200">
              <a:buAutoNum type="arabicPeriod"/>
            </a:pPr>
            <a:endParaRPr lang="en-GB" sz="2400" dirty="0" smtClean="0"/>
          </a:p>
          <a:p>
            <a:pPr marL="457200" indent="-457200">
              <a:buAutoNum type="arabicPeriod"/>
            </a:pPr>
            <a:r>
              <a:rPr lang="en-GB" sz="2400" dirty="0" smtClean="0"/>
              <a:t>What is meant by the term ‘activation energy’?</a:t>
            </a:r>
          </a:p>
          <a:p>
            <a:pPr marL="457200" indent="-457200">
              <a:buAutoNum type="arabicPeriod"/>
            </a:pPr>
            <a:endParaRPr lang="en-GB" sz="2400" dirty="0" smtClean="0"/>
          </a:p>
          <a:p>
            <a:pPr marL="457200" indent="-457200">
              <a:buAutoNum type="arabicPeriod"/>
            </a:pPr>
            <a:r>
              <a:rPr lang="en-GB" sz="2400" dirty="0" smtClean="0"/>
              <a:t>What happens to the gradient of a line if the rate of reaction is increased?</a:t>
            </a:r>
            <a:r>
              <a:rPr lang="en-GB" sz="2400" dirty="0">
                <a:solidFill>
                  <a:srgbClr val="00B050"/>
                </a:solidFill>
              </a:rPr>
              <a:t>	</a:t>
            </a:r>
            <a:endParaRPr lang="en-GB" sz="2400" dirty="0" smtClean="0">
              <a:solidFill>
                <a:srgbClr val="00B050"/>
              </a:solidFill>
            </a:endParaRPr>
          </a:p>
          <a:p>
            <a:pPr marL="457200" indent="-457200">
              <a:buAutoNum type="arabicPeriod"/>
            </a:pPr>
            <a:endParaRPr lang="en-GB" sz="2400" dirty="0" smtClean="0">
              <a:solidFill>
                <a:srgbClr val="00B050"/>
              </a:solidFill>
            </a:endParaRPr>
          </a:p>
          <a:p>
            <a:pPr marL="457200" indent="-457200">
              <a:buAutoNum type="arabicPeriod"/>
            </a:pPr>
            <a:r>
              <a:rPr lang="en-GB" sz="2400" dirty="0" smtClean="0"/>
              <a:t>What is a catalyst?</a:t>
            </a:r>
          </a:p>
          <a:p>
            <a:pPr marL="457200" indent="-457200">
              <a:buAutoNum type="arabicPeriod"/>
            </a:pPr>
            <a:endParaRPr lang="en-GB" sz="2400" dirty="0" smtClean="0"/>
          </a:p>
          <a:p>
            <a:pPr marL="457200" indent="-457200">
              <a:buAutoNum type="arabicPeriod"/>
            </a:pPr>
            <a:r>
              <a:rPr lang="en-GB" sz="2400" dirty="0" smtClean="0"/>
              <a:t>According to collision theory, chemical reactions can only occur when</a:t>
            </a:r>
            <a:r>
              <a:rPr lang="mr-IN" sz="2400" dirty="0" smtClean="0"/>
              <a:t>…</a:t>
            </a: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17805418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 </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pPr marL="457200" indent="-457200">
              <a:lnSpc>
                <a:spcPct val="150000"/>
              </a:lnSpc>
              <a:buFont typeface="+mj-lt"/>
              <a:buAutoNum type="arabicPeriod" startAt="6"/>
            </a:pPr>
            <a:r>
              <a:rPr lang="en-GB" sz="2400" dirty="0" smtClean="0"/>
              <a:t>Other </a:t>
            </a:r>
            <a:r>
              <a:rPr lang="en-GB" sz="2400" dirty="0"/>
              <a:t>than concentration give three factors that affect the rate of </a:t>
            </a:r>
            <a:r>
              <a:rPr lang="en-GB" sz="2400" dirty="0" smtClean="0"/>
              <a:t>reaction.</a:t>
            </a:r>
          </a:p>
          <a:p>
            <a:pPr marL="457200" indent="-457200">
              <a:lnSpc>
                <a:spcPct val="150000"/>
              </a:lnSpc>
              <a:buFont typeface="+mj-lt"/>
              <a:buAutoNum type="arabicPeriod" startAt="6"/>
            </a:pPr>
            <a:endParaRPr lang="en-GB" sz="2400" dirty="0" smtClean="0"/>
          </a:p>
          <a:p>
            <a:pPr marL="457200" indent="-457200">
              <a:lnSpc>
                <a:spcPct val="150000"/>
              </a:lnSpc>
              <a:buFont typeface="+mj-lt"/>
              <a:buAutoNum type="arabicPeriod" startAt="6"/>
            </a:pPr>
            <a:r>
              <a:rPr lang="en-GB" sz="2400" dirty="0" smtClean="0"/>
              <a:t>Draw </a:t>
            </a:r>
            <a:r>
              <a:rPr lang="en-GB" sz="2400" dirty="0"/>
              <a:t>a labelled graph to show how changing any one of these factors may affect the rate of reaction. Include the line before and after the change.</a:t>
            </a:r>
          </a:p>
          <a:p>
            <a:pPr>
              <a:lnSpc>
                <a:spcPct val="150000"/>
              </a:lnSpc>
            </a:pPr>
            <a:r>
              <a:rPr lang="en-GB" sz="2400" dirty="0">
                <a:solidFill>
                  <a:srgbClr val="00B050"/>
                </a:solidFill>
              </a:rPr>
              <a:t>	</a:t>
            </a: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2347900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Factors which affect the rates of reactions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5"/>
            <a:ext cx="8915400" cy="4078039"/>
          </a:xfrm>
          <a:custGeom>
            <a:avLst/>
            <a:gdLst>
              <a:gd name="connsiteX0" fmla="*/ 0 w 8915400"/>
              <a:gd name="connsiteY0" fmla="*/ 0 h 3524042"/>
              <a:gd name="connsiteX1" fmla="*/ 8915400 w 8915400"/>
              <a:gd name="connsiteY1" fmla="*/ 0 h 3524042"/>
              <a:gd name="connsiteX2" fmla="*/ 8915400 w 8915400"/>
              <a:gd name="connsiteY2" fmla="*/ 3524042 h 3524042"/>
              <a:gd name="connsiteX3" fmla="*/ 0 w 8915400"/>
              <a:gd name="connsiteY3" fmla="*/ 3524042 h 3524042"/>
              <a:gd name="connsiteX4" fmla="*/ 0 w 8915400"/>
              <a:gd name="connsiteY4" fmla="*/ 0 h 3524042"/>
              <a:gd name="connsiteX0" fmla="*/ 0 w 8915400"/>
              <a:gd name="connsiteY0" fmla="*/ 0 h 3524042"/>
              <a:gd name="connsiteX1" fmla="*/ 8915400 w 8915400"/>
              <a:gd name="connsiteY1" fmla="*/ 0 h 3524042"/>
              <a:gd name="connsiteX2" fmla="*/ 8915400 w 8915400"/>
              <a:gd name="connsiteY2" fmla="*/ 3524042 h 3524042"/>
              <a:gd name="connsiteX3" fmla="*/ 0 w 8915400"/>
              <a:gd name="connsiteY3" fmla="*/ 2287670 h 3524042"/>
              <a:gd name="connsiteX4" fmla="*/ 0 w 8915400"/>
              <a:gd name="connsiteY4" fmla="*/ 0 h 3524042"/>
              <a:gd name="connsiteX0" fmla="*/ 0 w 8915400"/>
              <a:gd name="connsiteY0" fmla="*/ 0 h 2326306"/>
              <a:gd name="connsiteX1" fmla="*/ 8915400 w 8915400"/>
              <a:gd name="connsiteY1" fmla="*/ 0 h 2326306"/>
              <a:gd name="connsiteX2" fmla="*/ 8902521 w 8915400"/>
              <a:gd name="connsiteY2" fmla="*/ 2326306 h 2326306"/>
              <a:gd name="connsiteX3" fmla="*/ 0 w 8915400"/>
              <a:gd name="connsiteY3" fmla="*/ 2287670 h 2326306"/>
              <a:gd name="connsiteX4" fmla="*/ 0 w 8915400"/>
              <a:gd name="connsiteY4" fmla="*/ 0 h 2326306"/>
              <a:gd name="connsiteX0" fmla="*/ 0 w 8915400"/>
              <a:gd name="connsiteY0" fmla="*/ 0 h 2300549"/>
              <a:gd name="connsiteX1" fmla="*/ 8915400 w 8915400"/>
              <a:gd name="connsiteY1" fmla="*/ 0 h 2300549"/>
              <a:gd name="connsiteX2" fmla="*/ 8902521 w 8915400"/>
              <a:gd name="connsiteY2" fmla="*/ 2300549 h 2300549"/>
              <a:gd name="connsiteX3" fmla="*/ 0 w 8915400"/>
              <a:gd name="connsiteY3" fmla="*/ 2287670 h 2300549"/>
              <a:gd name="connsiteX4" fmla="*/ 0 w 8915400"/>
              <a:gd name="connsiteY4" fmla="*/ 0 h 230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2300549">
                <a:moveTo>
                  <a:pt x="0" y="0"/>
                </a:moveTo>
                <a:lnTo>
                  <a:pt x="8915400" y="0"/>
                </a:lnTo>
                <a:lnTo>
                  <a:pt x="8902521" y="2300549"/>
                </a:lnTo>
                <a:lnTo>
                  <a:pt x="0" y="2287670"/>
                </a:lnTo>
                <a:lnTo>
                  <a:pt x="0" y="0"/>
                </a:lnTo>
                <a:close/>
              </a:path>
            </a:pathLst>
          </a:custGeom>
          <a:noFill/>
        </p:spPr>
        <p:txBody>
          <a:bodyPr wrap="square" rtlCol="0">
            <a:spAutoFit/>
          </a:bodyPr>
          <a:lstStyle/>
          <a:p>
            <a:pPr marL="457200" indent="-457200">
              <a:lnSpc>
                <a:spcPct val="150000"/>
              </a:lnSpc>
              <a:buFont typeface="+mj-lt"/>
              <a:buAutoNum type="arabicPeriod" startAt="8"/>
            </a:pPr>
            <a:r>
              <a:rPr lang="en-GB" sz="2400" dirty="0" smtClean="0"/>
              <a:t>The </a:t>
            </a:r>
            <a:r>
              <a:rPr lang="en-GB" sz="2400" dirty="0"/>
              <a:t>graph below shows how the reaction is affected when the concentration of hydrochloric acid is doubled when reacting with excess magnesium. Explain why the amount of hydrogen gas doubles and why the rate of reaction doubles; use collision theory in your response.</a:t>
            </a:r>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pic>
        <p:nvPicPr>
          <p:cNvPr id="3" name="Picture 2"/>
          <p:cNvPicPr>
            <a:picLocks noChangeAspect="1"/>
          </p:cNvPicPr>
          <p:nvPr/>
        </p:nvPicPr>
        <p:blipFill>
          <a:blip r:embed="rId2"/>
          <a:stretch>
            <a:fillRect/>
          </a:stretch>
        </p:blipFill>
        <p:spPr>
          <a:xfrm>
            <a:off x="3347864" y="3097716"/>
            <a:ext cx="4392488" cy="3399770"/>
          </a:xfrm>
          <a:prstGeom prst="rect">
            <a:avLst/>
          </a:prstGeom>
        </p:spPr>
      </p:pic>
    </p:spTree>
    <p:extLst>
      <p:ext uri="{BB962C8B-B14F-4D97-AF65-F5344CB8AC3E}">
        <p14:creationId xmlns:p14="http://schemas.microsoft.com/office/powerpoint/2010/main" val="5894749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847207"/>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2 </a:t>
            </a:r>
          </a:p>
          <a:p>
            <a:pPr marL="457200" indent="-457200">
              <a:buFont typeface="Arial" charset="0"/>
              <a:buChar char="•"/>
            </a:pPr>
            <a:r>
              <a:rPr lang="en-GB" b="1" dirty="0">
                <a:solidFill>
                  <a:schemeClr val="tx1">
                    <a:lumMod val="50000"/>
                    <a:lumOff val="50000"/>
                  </a:schemeClr>
                </a:solidFill>
              </a:rPr>
              <a:t>Factors which affect the </a:t>
            </a:r>
          </a:p>
          <a:p>
            <a:r>
              <a:rPr lang="en-GB" b="1" dirty="0">
                <a:solidFill>
                  <a:schemeClr val="tx1">
                    <a:lumMod val="50000"/>
                    <a:lumOff val="50000"/>
                  </a:schemeClr>
                </a:solidFill>
              </a:rPr>
              <a:t>         rate of reactions</a:t>
            </a:r>
          </a:p>
          <a:p>
            <a:pPr marL="285750" indent="-285750">
              <a:buFont typeface="Arial" panose="020B0604020202020204" pitchFamily="34" charset="0"/>
              <a:buChar char="•"/>
            </a:pPr>
            <a:r>
              <a:rPr lang="en-GB" b="1" dirty="0">
                <a:solidFill>
                  <a:schemeClr val="tx1">
                    <a:lumMod val="50000"/>
                    <a:lumOff val="50000"/>
                  </a:schemeClr>
                </a:solidFill>
              </a:rPr>
              <a:t>  Collision theory and activation</a:t>
            </a:r>
          </a:p>
          <a:p>
            <a:r>
              <a:rPr lang="en-GB" b="1" dirty="0">
                <a:solidFill>
                  <a:schemeClr val="tx1">
                    <a:lumMod val="50000"/>
                    <a:lumOff val="50000"/>
                  </a:schemeClr>
                </a:solidFill>
              </a:rPr>
              <a:t>        </a:t>
            </a:r>
            <a:r>
              <a:rPr lang="en-GB" b="1" dirty="0" smtClean="0">
                <a:solidFill>
                  <a:schemeClr val="tx1">
                    <a:lumMod val="50000"/>
                    <a:lumOff val="50000"/>
                  </a:schemeClr>
                </a:solidFill>
              </a:rPr>
              <a:t>energy</a:t>
            </a:r>
            <a:endParaRPr lang="en-GB" b="1" dirty="0">
              <a:solidFill>
                <a:schemeClr val="tx1">
                  <a:lumMod val="50000"/>
                  <a:lumOff val="50000"/>
                </a:schemeClr>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4001405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 </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AutoNum type="arabicPeriod"/>
            </a:pPr>
            <a:r>
              <a:rPr lang="en-GB" sz="2400" dirty="0" smtClean="0"/>
              <a:t>What is meant by the term ‘collision theory’?</a:t>
            </a:r>
          </a:p>
          <a:p>
            <a:r>
              <a:rPr lang="en-GB" sz="2400" dirty="0" smtClean="0">
                <a:solidFill>
                  <a:srgbClr val="00B050"/>
                </a:solidFill>
              </a:rPr>
              <a:t>	Explains how factors affect the rate of reaction.</a:t>
            </a:r>
            <a:endParaRPr lang="en-GB" sz="2400" dirty="0" smtClean="0"/>
          </a:p>
          <a:p>
            <a:pPr marL="457200" indent="-457200">
              <a:buFont typeface="+mj-lt"/>
              <a:buAutoNum type="arabicPeriod" startAt="2"/>
            </a:pPr>
            <a:r>
              <a:rPr lang="en-GB" sz="2400" dirty="0" smtClean="0"/>
              <a:t>What is meant by the term ‘activation energy’?</a:t>
            </a:r>
          </a:p>
          <a:p>
            <a:r>
              <a:rPr lang="en-GB" sz="2400" dirty="0" smtClean="0">
                <a:solidFill>
                  <a:srgbClr val="00B050"/>
                </a:solidFill>
              </a:rPr>
              <a:t>	Minimum amount of energy that particles must have to react.</a:t>
            </a:r>
          </a:p>
          <a:p>
            <a:pPr marL="457200" indent="-457200">
              <a:buFont typeface="+mj-lt"/>
              <a:buAutoNum type="arabicPeriod" startAt="3"/>
            </a:pPr>
            <a:r>
              <a:rPr lang="en-GB" sz="2400" dirty="0" smtClean="0"/>
              <a:t>What happens to the gradient of a line if the rate of reaction is increased?</a:t>
            </a:r>
            <a:r>
              <a:rPr lang="en-GB" sz="2400" dirty="0">
                <a:solidFill>
                  <a:srgbClr val="00B050"/>
                </a:solidFill>
              </a:rPr>
              <a:t>	</a:t>
            </a:r>
            <a:endParaRPr lang="en-GB" sz="2400" dirty="0" smtClean="0">
              <a:solidFill>
                <a:srgbClr val="00B050"/>
              </a:solidFill>
            </a:endParaRPr>
          </a:p>
          <a:p>
            <a:r>
              <a:rPr lang="en-GB" sz="2400" dirty="0" smtClean="0">
                <a:solidFill>
                  <a:srgbClr val="00B050"/>
                </a:solidFill>
              </a:rPr>
              <a:t>	Becomes steeper.</a:t>
            </a:r>
            <a:endParaRPr lang="en-GB" sz="2400" dirty="0" smtClean="0">
              <a:solidFill>
                <a:srgbClr val="00B050"/>
              </a:solidFill>
            </a:endParaRPr>
          </a:p>
          <a:p>
            <a:pPr marL="457200" indent="-457200">
              <a:buFont typeface="+mj-lt"/>
              <a:buAutoNum type="arabicPeriod" startAt="4"/>
            </a:pPr>
            <a:r>
              <a:rPr lang="en-GB" sz="2400" dirty="0" smtClean="0"/>
              <a:t>What is a catalyst?</a:t>
            </a:r>
          </a:p>
          <a:p>
            <a:r>
              <a:rPr lang="en-GB" sz="2400" dirty="0" smtClean="0">
                <a:solidFill>
                  <a:srgbClr val="00B050"/>
                </a:solidFill>
              </a:rPr>
              <a:t>	Substance which increase the rate of reaction but are not used 	up during the reaction.</a:t>
            </a:r>
          </a:p>
          <a:p>
            <a:pPr marL="457200" indent="-457200">
              <a:buFont typeface="+mj-lt"/>
              <a:buAutoNum type="arabicPeriod" startAt="5"/>
            </a:pPr>
            <a:r>
              <a:rPr lang="en-GB" sz="2400" dirty="0" smtClean="0"/>
              <a:t>According to collision theory, chemical reactions can only occur when</a:t>
            </a:r>
            <a:r>
              <a:rPr lang="mr-IN" sz="2400" dirty="0" smtClean="0"/>
              <a:t>…</a:t>
            </a:r>
            <a:endParaRPr lang="en-GB" sz="2400" dirty="0"/>
          </a:p>
          <a:p>
            <a:r>
              <a:rPr lang="en-GB" sz="2400" dirty="0" smtClean="0">
                <a:solidFill>
                  <a:srgbClr val="00B050"/>
                </a:solidFill>
              </a:rPr>
              <a:t>	reacting particles collide with each other with sufficient 	energy.</a:t>
            </a:r>
            <a:endParaRPr lang="en-GB" sz="2400" dirty="0"/>
          </a:p>
        </p:txBody>
      </p:sp>
    </p:spTree>
    <p:extLst>
      <p:ext uri="{BB962C8B-B14F-4D97-AF65-F5344CB8AC3E}">
        <p14:creationId xmlns:p14="http://schemas.microsoft.com/office/powerpoint/2010/main" val="63753295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 </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848029"/>
          </a:xfrm>
          <a:prstGeom prst="rect">
            <a:avLst/>
          </a:prstGeom>
          <a:noFill/>
        </p:spPr>
        <p:txBody>
          <a:bodyPr wrap="square" rtlCol="0">
            <a:spAutoFit/>
          </a:bodyPr>
          <a:lstStyle/>
          <a:p>
            <a:pPr marL="457200" indent="-457200">
              <a:lnSpc>
                <a:spcPct val="150000"/>
              </a:lnSpc>
              <a:buFont typeface="+mj-lt"/>
              <a:buAutoNum type="arabicPeriod" startAt="6"/>
            </a:pPr>
            <a:r>
              <a:rPr lang="en-GB" sz="2400" dirty="0" smtClean="0"/>
              <a:t>Other </a:t>
            </a:r>
            <a:r>
              <a:rPr lang="en-GB" sz="2400" dirty="0"/>
              <a:t>than concentration give three factors that affect the rate of reaction.</a:t>
            </a:r>
          </a:p>
          <a:p>
            <a:pPr>
              <a:lnSpc>
                <a:spcPct val="150000"/>
              </a:lnSpc>
            </a:pPr>
            <a:r>
              <a:rPr lang="en-GB" sz="2400" dirty="0">
                <a:solidFill>
                  <a:srgbClr val="00B050"/>
                </a:solidFill>
              </a:rPr>
              <a:t>	</a:t>
            </a:r>
            <a:r>
              <a:rPr lang="en-GB" sz="2400" dirty="0" smtClean="0">
                <a:solidFill>
                  <a:srgbClr val="00B050"/>
                </a:solidFill>
              </a:rPr>
              <a:t>any from: Temperature</a:t>
            </a:r>
            <a:r>
              <a:rPr lang="en-GB" sz="2400" dirty="0">
                <a:solidFill>
                  <a:srgbClr val="00B050"/>
                </a:solidFill>
              </a:rPr>
              <a:t>, surface </a:t>
            </a:r>
            <a:r>
              <a:rPr lang="en-GB" sz="2400" dirty="0" smtClean="0">
                <a:solidFill>
                  <a:srgbClr val="00B050"/>
                </a:solidFill>
              </a:rPr>
              <a:t>area, pressure </a:t>
            </a:r>
            <a:r>
              <a:rPr lang="en-GB" sz="2400" dirty="0">
                <a:solidFill>
                  <a:srgbClr val="00B050"/>
                </a:solidFill>
              </a:rPr>
              <a:t>and a catalyst</a:t>
            </a:r>
          </a:p>
          <a:p>
            <a:pPr marL="457200" indent="-457200">
              <a:lnSpc>
                <a:spcPct val="150000"/>
              </a:lnSpc>
              <a:buFont typeface="+mj-lt"/>
              <a:buAutoNum type="arabicPeriod" startAt="7"/>
            </a:pPr>
            <a:r>
              <a:rPr lang="en-GB" sz="2400" dirty="0" smtClean="0"/>
              <a:t>Draw </a:t>
            </a:r>
            <a:r>
              <a:rPr lang="en-GB" sz="2400" dirty="0"/>
              <a:t>a labelled graph to show how changing any one of these factors may affect the rate of reaction. Include the line before and after the change.</a:t>
            </a:r>
          </a:p>
          <a:p>
            <a:pPr>
              <a:lnSpc>
                <a:spcPct val="150000"/>
              </a:lnSpc>
            </a:pPr>
            <a:r>
              <a:rPr lang="en-GB" sz="2400" dirty="0">
                <a:solidFill>
                  <a:srgbClr val="00B050"/>
                </a:solidFill>
              </a:rPr>
              <a:t>	</a:t>
            </a:r>
            <a:endParaRPr lang="en-GB" sz="2400" dirty="0">
              <a:solidFill>
                <a:srgbClr val="FF0000"/>
              </a:solidFill>
            </a:endParaRP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pic>
        <p:nvPicPr>
          <p:cNvPr id="3" name="Picture 2"/>
          <p:cNvPicPr>
            <a:picLocks noChangeAspect="1"/>
          </p:cNvPicPr>
          <p:nvPr/>
        </p:nvPicPr>
        <p:blipFill>
          <a:blip r:embed="rId2"/>
          <a:stretch>
            <a:fillRect/>
          </a:stretch>
        </p:blipFill>
        <p:spPr>
          <a:xfrm>
            <a:off x="2547937" y="4221087"/>
            <a:ext cx="2888159" cy="2177167"/>
          </a:xfrm>
          <a:prstGeom prst="rect">
            <a:avLst/>
          </a:prstGeom>
        </p:spPr>
      </p:pic>
    </p:spTree>
    <p:extLst>
      <p:ext uri="{BB962C8B-B14F-4D97-AF65-F5344CB8AC3E}">
        <p14:creationId xmlns:p14="http://schemas.microsoft.com/office/powerpoint/2010/main" val="36886176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Factors which affect the rates of reactions –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5"/>
            <a:ext cx="8915400" cy="4078039"/>
          </a:xfrm>
          <a:custGeom>
            <a:avLst/>
            <a:gdLst>
              <a:gd name="connsiteX0" fmla="*/ 0 w 8915400"/>
              <a:gd name="connsiteY0" fmla="*/ 0 h 3524042"/>
              <a:gd name="connsiteX1" fmla="*/ 8915400 w 8915400"/>
              <a:gd name="connsiteY1" fmla="*/ 0 h 3524042"/>
              <a:gd name="connsiteX2" fmla="*/ 8915400 w 8915400"/>
              <a:gd name="connsiteY2" fmla="*/ 3524042 h 3524042"/>
              <a:gd name="connsiteX3" fmla="*/ 0 w 8915400"/>
              <a:gd name="connsiteY3" fmla="*/ 3524042 h 3524042"/>
              <a:gd name="connsiteX4" fmla="*/ 0 w 8915400"/>
              <a:gd name="connsiteY4" fmla="*/ 0 h 3524042"/>
              <a:gd name="connsiteX0" fmla="*/ 0 w 8915400"/>
              <a:gd name="connsiteY0" fmla="*/ 0 h 3524042"/>
              <a:gd name="connsiteX1" fmla="*/ 8915400 w 8915400"/>
              <a:gd name="connsiteY1" fmla="*/ 0 h 3524042"/>
              <a:gd name="connsiteX2" fmla="*/ 8915400 w 8915400"/>
              <a:gd name="connsiteY2" fmla="*/ 3524042 h 3524042"/>
              <a:gd name="connsiteX3" fmla="*/ 0 w 8915400"/>
              <a:gd name="connsiteY3" fmla="*/ 2287670 h 3524042"/>
              <a:gd name="connsiteX4" fmla="*/ 0 w 8915400"/>
              <a:gd name="connsiteY4" fmla="*/ 0 h 3524042"/>
              <a:gd name="connsiteX0" fmla="*/ 0 w 8915400"/>
              <a:gd name="connsiteY0" fmla="*/ 0 h 2326306"/>
              <a:gd name="connsiteX1" fmla="*/ 8915400 w 8915400"/>
              <a:gd name="connsiteY1" fmla="*/ 0 h 2326306"/>
              <a:gd name="connsiteX2" fmla="*/ 8902521 w 8915400"/>
              <a:gd name="connsiteY2" fmla="*/ 2326306 h 2326306"/>
              <a:gd name="connsiteX3" fmla="*/ 0 w 8915400"/>
              <a:gd name="connsiteY3" fmla="*/ 2287670 h 2326306"/>
              <a:gd name="connsiteX4" fmla="*/ 0 w 8915400"/>
              <a:gd name="connsiteY4" fmla="*/ 0 h 2326306"/>
              <a:gd name="connsiteX0" fmla="*/ 0 w 8915400"/>
              <a:gd name="connsiteY0" fmla="*/ 0 h 2300549"/>
              <a:gd name="connsiteX1" fmla="*/ 8915400 w 8915400"/>
              <a:gd name="connsiteY1" fmla="*/ 0 h 2300549"/>
              <a:gd name="connsiteX2" fmla="*/ 8902521 w 8915400"/>
              <a:gd name="connsiteY2" fmla="*/ 2300549 h 2300549"/>
              <a:gd name="connsiteX3" fmla="*/ 0 w 8915400"/>
              <a:gd name="connsiteY3" fmla="*/ 2287670 h 2300549"/>
              <a:gd name="connsiteX4" fmla="*/ 0 w 8915400"/>
              <a:gd name="connsiteY4" fmla="*/ 0 h 230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2300549">
                <a:moveTo>
                  <a:pt x="0" y="0"/>
                </a:moveTo>
                <a:lnTo>
                  <a:pt x="8915400" y="0"/>
                </a:lnTo>
                <a:lnTo>
                  <a:pt x="8902521" y="2300549"/>
                </a:lnTo>
                <a:lnTo>
                  <a:pt x="0" y="2287670"/>
                </a:lnTo>
                <a:lnTo>
                  <a:pt x="0" y="0"/>
                </a:lnTo>
                <a:close/>
              </a:path>
            </a:pathLst>
          </a:custGeom>
          <a:noFill/>
        </p:spPr>
        <p:txBody>
          <a:bodyPr wrap="square" rtlCol="0">
            <a:spAutoFit/>
          </a:bodyPr>
          <a:lstStyle/>
          <a:p>
            <a:pPr marL="457200" indent="-457200">
              <a:lnSpc>
                <a:spcPct val="150000"/>
              </a:lnSpc>
              <a:buFont typeface="+mj-lt"/>
              <a:buAutoNum type="arabicPeriod" startAt="8"/>
            </a:pPr>
            <a:r>
              <a:rPr lang="en-GB" sz="2400" dirty="0" smtClean="0"/>
              <a:t>The </a:t>
            </a:r>
            <a:r>
              <a:rPr lang="en-GB" sz="2400" dirty="0"/>
              <a:t>graph below shows how the reaction is affected when the concentration of hydrochloric acid is doubled when it reacts with excess magnesium. Explain why, using the collision theory the amount of hydrogen gas doubles and why the rate of reaction doubles.</a:t>
            </a:r>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
        <p:nvSpPr>
          <p:cNvPr id="7" name="TextBox 6"/>
          <p:cNvSpPr txBox="1"/>
          <p:nvPr/>
        </p:nvSpPr>
        <p:spPr>
          <a:xfrm>
            <a:off x="3779912" y="3140968"/>
            <a:ext cx="5112568" cy="2554545"/>
          </a:xfrm>
          <a:prstGeom prst="rect">
            <a:avLst/>
          </a:prstGeom>
          <a:noFill/>
        </p:spPr>
        <p:txBody>
          <a:bodyPr wrap="square" rtlCol="0">
            <a:spAutoFit/>
          </a:bodyPr>
          <a:lstStyle/>
          <a:p>
            <a:r>
              <a:rPr lang="en-GB" sz="2000" dirty="0">
                <a:solidFill>
                  <a:srgbClr val="00B050"/>
                </a:solidFill>
              </a:rPr>
              <a:t>If concentration of acid is doubled then there are twice the number of collisions with magnesium atoms.</a:t>
            </a:r>
          </a:p>
          <a:p>
            <a:r>
              <a:rPr lang="en-GB" sz="2000" dirty="0">
                <a:solidFill>
                  <a:srgbClr val="00B050"/>
                </a:solidFill>
              </a:rPr>
              <a:t>There  will be twice the number of successful collisions so rate of reaction doubles.</a:t>
            </a:r>
          </a:p>
          <a:p>
            <a:r>
              <a:rPr lang="en-GB" sz="2000" dirty="0">
                <a:solidFill>
                  <a:srgbClr val="00B050"/>
                </a:solidFill>
              </a:rPr>
              <a:t>As there are twice as many acid particles (and the magnesium is in excess) there will be twice the volume of (hydrogen) gas released</a:t>
            </a:r>
          </a:p>
        </p:txBody>
      </p:sp>
      <p:pic>
        <p:nvPicPr>
          <p:cNvPr id="3" name="Picture 2"/>
          <p:cNvPicPr>
            <a:picLocks noChangeAspect="1"/>
          </p:cNvPicPr>
          <p:nvPr/>
        </p:nvPicPr>
        <p:blipFill>
          <a:blip r:embed="rId2"/>
          <a:stretch>
            <a:fillRect/>
          </a:stretch>
        </p:blipFill>
        <p:spPr>
          <a:xfrm>
            <a:off x="149087" y="2998483"/>
            <a:ext cx="3558817" cy="3399771"/>
          </a:xfrm>
          <a:prstGeom prst="rect">
            <a:avLst/>
          </a:prstGeom>
        </p:spPr>
      </p:pic>
    </p:spTree>
    <p:extLst>
      <p:ext uri="{BB962C8B-B14F-4D97-AF65-F5344CB8AC3E}">
        <p14:creationId xmlns:p14="http://schemas.microsoft.com/office/powerpoint/2010/main" val="41358959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5047536"/>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3 </a:t>
            </a:r>
          </a:p>
          <a:p>
            <a:pPr marL="457200" indent="-457200">
              <a:lnSpc>
                <a:spcPct val="150000"/>
              </a:lnSpc>
              <a:buFont typeface="Arial" charset="0"/>
              <a:buChar char="•"/>
            </a:pPr>
            <a:r>
              <a:rPr lang="en-GB" b="1" dirty="0">
                <a:solidFill>
                  <a:schemeClr val="tx1">
                    <a:lumMod val="50000"/>
                    <a:lumOff val="50000"/>
                  </a:schemeClr>
                </a:solidFill>
              </a:rPr>
              <a:t>Catalysts </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38287290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dirty="0">
                <a:solidFill>
                  <a:schemeClr val="accent6"/>
                </a:solidFill>
              </a:rPr>
              <a:t>Rates of reactions part 3 </a:t>
            </a:r>
            <a:r>
              <a:rPr lang="en-US" b="1" dirty="0">
                <a:solidFill>
                  <a:schemeClr val="accent6"/>
                </a:solidFill>
              </a:rPr>
              <a:t>– </a:t>
            </a:r>
            <a:r>
              <a:rPr lang="en-US" kern="1200" dirty="0">
                <a:solidFill>
                  <a:schemeClr val="accent6"/>
                </a:solidFill>
                <a:latin typeface="Calibri"/>
                <a:ea typeface=""/>
                <a:cs typeface="News Gothic MT"/>
              </a:rPr>
              <a:t>Factors which affect rates of  reactions - catalysts</a:t>
            </a:r>
            <a:endParaRPr kumimoji="0" lang="en-US"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179512" y="764704"/>
            <a:ext cx="8640960" cy="369332"/>
          </a:xfrm>
          <a:prstGeom prst="rect">
            <a:avLst/>
          </a:prstGeom>
          <a:noFill/>
          <a:ln w="28575">
            <a:solidFill>
              <a:schemeClr val="accent6"/>
            </a:solidFill>
          </a:ln>
        </p:spPr>
        <p:txBody>
          <a:bodyPr wrap="square" rtlCol="0">
            <a:spAutoFit/>
          </a:bodyPr>
          <a:lstStyle/>
          <a:p>
            <a:pPr algn="ctr"/>
            <a:r>
              <a:rPr lang="en-GB" dirty="0"/>
              <a:t>Catalysts </a:t>
            </a:r>
            <a:r>
              <a:rPr lang="en-GB" dirty="0">
                <a:solidFill>
                  <a:schemeClr val="accent6"/>
                </a:solidFill>
              </a:rPr>
              <a:t>change the rate </a:t>
            </a:r>
            <a:r>
              <a:rPr lang="en-GB" dirty="0"/>
              <a:t>of chemical reactions but are </a:t>
            </a:r>
            <a:r>
              <a:rPr lang="en-GB" dirty="0">
                <a:solidFill>
                  <a:schemeClr val="accent6"/>
                </a:solidFill>
              </a:rPr>
              <a:t>not used up </a:t>
            </a:r>
            <a:r>
              <a:rPr lang="en-GB" dirty="0"/>
              <a:t>during the reaction. </a:t>
            </a:r>
          </a:p>
        </p:txBody>
      </p:sp>
      <p:sp>
        <p:nvSpPr>
          <p:cNvPr id="11" name="TextBox 10"/>
          <p:cNvSpPr txBox="1"/>
          <p:nvPr/>
        </p:nvSpPr>
        <p:spPr>
          <a:xfrm>
            <a:off x="179512" y="1268760"/>
            <a:ext cx="8640960" cy="369332"/>
          </a:xfrm>
          <a:prstGeom prst="rect">
            <a:avLst/>
          </a:prstGeom>
          <a:noFill/>
        </p:spPr>
        <p:txBody>
          <a:bodyPr wrap="square" rtlCol="0">
            <a:spAutoFit/>
          </a:bodyPr>
          <a:lstStyle/>
          <a:p>
            <a:r>
              <a:rPr lang="en-GB" dirty="0"/>
              <a:t>This means that the catalyst is still there, unchanged, at the end of the reaction.</a:t>
            </a:r>
          </a:p>
        </p:txBody>
      </p:sp>
      <p:sp>
        <p:nvSpPr>
          <p:cNvPr id="12" name="TextBox 11"/>
          <p:cNvSpPr txBox="1"/>
          <p:nvPr/>
        </p:nvSpPr>
        <p:spPr>
          <a:xfrm>
            <a:off x="179512" y="1772816"/>
            <a:ext cx="8640960" cy="369332"/>
          </a:xfrm>
          <a:prstGeom prst="rect">
            <a:avLst/>
          </a:prstGeom>
          <a:noFill/>
          <a:ln w="28575">
            <a:solidFill>
              <a:schemeClr val="accent6"/>
            </a:solidFill>
          </a:ln>
        </p:spPr>
        <p:txBody>
          <a:bodyPr wrap="square" rtlCol="0">
            <a:spAutoFit/>
          </a:bodyPr>
          <a:lstStyle/>
          <a:p>
            <a:pPr algn="ctr"/>
            <a:r>
              <a:rPr lang="en-GB" dirty="0"/>
              <a:t>Different reactions need different catalysts. Enzymes act as catalysts in biological systems.</a:t>
            </a:r>
          </a:p>
        </p:txBody>
      </p:sp>
      <p:sp>
        <p:nvSpPr>
          <p:cNvPr id="13" name="TextBox 12"/>
          <p:cNvSpPr txBox="1"/>
          <p:nvPr/>
        </p:nvSpPr>
        <p:spPr>
          <a:xfrm>
            <a:off x="179512" y="2276872"/>
            <a:ext cx="8640960" cy="923330"/>
          </a:xfrm>
          <a:prstGeom prst="rect">
            <a:avLst/>
          </a:prstGeom>
          <a:noFill/>
        </p:spPr>
        <p:txBody>
          <a:bodyPr wrap="square" rtlCol="0">
            <a:spAutoFit/>
          </a:bodyPr>
          <a:lstStyle/>
          <a:p>
            <a:r>
              <a:rPr lang="en-GB" dirty="0"/>
              <a:t>Carbohydrase is an enzyme/catalyst that only breaks down carbohydrate.</a:t>
            </a:r>
          </a:p>
          <a:p>
            <a:r>
              <a:rPr lang="en-GB" dirty="0"/>
              <a:t>Chlorophyll is the catalyst that enables carbon dioxide and water to react together to make glucose during photosynthesis.</a:t>
            </a:r>
          </a:p>
        </p:txBody>
      </p:sp>
      <p:sp>
        <p:nvSpPr>
          <p:cNvPr id="14" name="TextBox 13"/>
          <p:cNvSpPr txBox="1"/>
          <p:nvPr/>
        </p:nvSpPr>
        <p:spPr>
          <a:xfrm>
            <a:off x="179512" y="3356992"/>
            <a:ext cx="4608512" cy="1477328"/>
          </a:xfrm>
          <a:prstGeom prst="rect">
            <a:avLst/>
          </a:prstGeom>
          <a:noFill/>
          <a:ln w="28575">
            <a:solidFill>
              <a:schemeClr val="accent6"/>
            </a:solidFill>
          </a:ln>
        </p:spPr>
        <p:txBody>
          <a:bodyPr wrap="square" rtlCol="0">
            <a:spAutoFit/>
          </a:bodyPr>
          <a:lstStyle/>
          <a:p>
            <a:pPr algn="ctr"/>
            <a:r>
              <a:rPr lang="en-GB" dirty="0"/>
              <a:t>Catalysts increase the rate of reaction by </a:t>
            </a:r>
            <a:r>
              <a:rPr lang="en-GB" dirty="0">
                <a:solidFill>
                  <a:schemeClr val="accent6">
                    <a:lumMod val="75000"/>
                  </a:schemeClr>
                </a:solidFill>
              </a:rPr>
              <a:t>providing a different pathway </a:t>
            </a:r>
            <a:r>
              <a:rPr lang="en-GB" dirty="0"/>
              <a:t>for the reaction that has a </a:t>
            </a:r>
            <a:r>
              <a:rPr lang="en-GB" dirty="0">
                <a:solidFill>
                  <a:schemeClr val="accent6">
                    <a:lumMod val="75000"/>
                  </a:schemeClr>
                </a:solidFill>
              </a:rPr>
              <a:t>lower activation energy</a:t>
            </a:r>
            <a:r>
              <a:rPr lang="en-GB" dirty="0"/>
              <a:t>.</a:t>
            </a:r>
          </a:p>
          <a:p>
            <a:pPr algn="ctr"/>
            <a:r>
              <a:rPr lang="en-GB" dirty="0"/>
              <a:t>A </a:t>
            </a:r>
            <a:r>
              <a:rPr lang="en-GB" dirty="0">
                <a:solidFill>
                  <a:schemeClr val="accent6">
                    <a:lumMod val="75000"/>
                  </a:schemeClr>
                </a:solidFill>
              </a:rPr>
              <a:t>reaction profile </a:t>
            </a:r>
            <a:r>
              <a:rPr lang="en-GB" dirty="0"/>
              <a:t>for a catalysed reaction can be drawn as shown on the right.</a:t>
            </a:r>
          </a:p>
        </p:txBody>
      </p:sp>
      <p:sp>
        <p:nvSpPr>
          <p:cNvPr id="15" name="TextBox 14"/>
          <p:cNvSpPr txBox="1"/>
          <p:nvPr/>
        </p:nvSpPr>
        <p:spPr>
          <a:xfrm>
            <a:off x="179512" y="5085184"/>
            <a:ext cx="4608512" cy="1200329"/>
          </a:xfrm>
          <a:prstGeom prst="rect">
            <a:avLst/>
          </a:prstGeom>
          <a:solidFill>
            <a:schemeClr val="accent6"/>
          </a:solidFill>
        </p:spPr>
        <p:txBody>
          <a:bodyPr wrap="square" rtlCol="0">
            <a:spAutoFit/>
          </a:bodyPr>
          <a:lstStyle/>
          <a:p>
            <a:pPr algn="ctr"/>
            <a:r>
              <a:rPr lang="en-GB" dirty="0"/>
              <a:t>You should be able to explain catalytic action in terms of activation energy. For example, “from the reaction profile I can see that the catalyst </a:t>
            </a:r>
            <a:r>
              <a:rPr lang="en-GB" b="1" dirty="0"/>
              <a:t>lowers</a:t>
            </a:r>
            <a:r>
              <a:rPr lang="en-GB" dirty="0"/>
              <a:t> the activation energy”.</a:t>
            </a:r>
          </a:p>
        </p:txBody>
      </p:sp>
      <p:pic>
        <p:nvPicPr>
          <p:cNvPr id="16" name="Picture 15"/>
          <p:cNvPicPr>
            <a:picLocks noChangeAspect="1"/>
          </p:cNvPicPr>
          <p:nvPr/>
        </p:nvPicPr>
        <p:blipFill>
          <a:blip r:embed="rId2"/>
          <a:stretch>
            <a:fillRect/>
          </a:stretch>
        </p:blipFill>
        <p:spPr>
          <a:xfrm>
            <a:off x="5004048" y="2924944"/>
            <a:ext cx="3960440" cy="3576592"/>
          </a:xfrm>
          <a:prstGeom prst="rect">
            <a:avLst/>
          </a:prstGeom>
        </p:spPr>
      </p:pic>
    </p:spTree>
    <p:extLst>
      <p:ext uri="{BB962C8B-B14F-4D97-AF65-F5344CB8AC3E}">
        <p14:creationId xmlns:p14="http://schemas.microsoft.com/office/powerpoint/2010/main" val="4347948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03187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3 </a:t>
            </a:r>
          </a:p>
          <a:p>
            <a:pPr marL="457200" indent="-457200">
              <a:lnSpc>
                <a:spcPct val="150000"/>
              </a:lnSpc>
              <a:buFont typeface="Arial" charset="0"/>
              <a:buChar char="•"/>
            </a:pPr>
            <a:r>
              <a:rPr lang="en-GB" sz="3200" b="1" dirty="0">
                <a:solidFill>
                  <a:schemeClr val="tx1">
                    <a:lumMod val="50000"/>
                    <a:lumOff val="50000"/>
                  </a:schemeClr>
                </a:solidFill>
              </a:rPr>
              <a:t>Catalysts </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6333699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300" kern="1200" dirty="0">
                <a:solidFill>
                  <a:schemeClr val="accent6"/>
                </a:solidFill>
                <a:latin typeface="Calibri"/>
                <a:ea typeface=""/>
                <a:cs typeface="News Gothic MT"/>
              </a:rPr>
              <a:t>Factors which affect rates of  reactions - catalysts</a:t>
            </a:r>
            <a:r>
              <a:rPr lang="en-US" sz="2300" b="1" kern="1200" dirty="0">
                <a:solidFill>
                  <a:schemeClr val="accent6"/>
                </a:solidFill>
                <a:latin typeface="Calibri"/>
                <a:ea typeface=""/>
                <a:cs typeface="News Gothic MT"/>
              </a:rPr>
              <a:t>– </a:t>
            </a:r>
            <a:r>
              <a:rPr lang="en-US" sz="2300" b="1" kern="1200" dirty="0" err="1">
                <a:solidFill>
                  <a:schemeClr val="tx1"/>
                </a:solidFill>
                <a:latin typeface="Calibri"/>
                <a:ea typeface=""/>
                <a:cs typeface="News Gothic MT"/>
              </a:rPr>
              <a:t>QuestionIT</a:t>
            </a:r>
            <a:endParaRPr kumimoji="0" lang="en-US" sz="23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r>
              <a:rPr lang="en-GB" sz="2400" dirty="0"/>
              <a:t>1. What is a catalyst?</a:t>
            </a:r>
          </a:p>
          <a:p>
            <a:r>
              <a:rPr lang="en-GB" sz="2400" dirty="0">
                <a:solidFill>
                  <a:srgbClr val="00B050"/>
                </a:solidFill>
              </a:rPr>
              <a:t>	</a:t>
            </a:r>
          </a:p>
          <a:p>
            <a:endParaRPr lang="en-GB" sz="2400" dirty="0">
              <a:solidFill>
                <a:srgbClr val="00B050"/>
              </a:solidFill>
            </a:endParaRPr>
          </a:p>
          <a:p>
            <a:r>
              <a:rPr lang="en-GB" sz="2400" dirty="0"/>
              <a:t>2. The symbol equation for photosynthesis </a:t>
            </a:r>
            <a:r>
              <a:rPr lang="en-GB" sz="2400" dirty="0" smtClean="0"/>
              <a:t>is:</a:t>
            </a:r>
          </a:p>
          <a:p>
            <a:r>
              <a:rPr lang="en-GB" sz="2400" dirty="0" smtClean="0"/>
              <a:t> </a:t>
            </a:r>
            <a:endParaRPr lang="en-GB" sz="2400" dirty="0"/>
          </a:p>
          <a:p>
            <a:pPr algn="ctr"/>
            <a:r>
              <a:rPr lang="en-GB" sz="2400" dirty="0"/>
              <a:t>6CO</a:t>
            </a:r>
            <a:r>
              <a:rPr lang="en-GB" sz="2400" baseline="-25000" dirty="0"/>
              <a:t>2</a:t>
            </a:r>
            <a:r>
              <a:rPr lang="en-GB" sz="2400" dirty="0"/>
              <a:t>  +  6H</a:t>
            </a:r>
            <a:r>
              <a:rPr lang="en-GB" sz="2400" baseline="-25000" dirty="0"/>
              <a:t>2</a:t>
            </a:r>
            <a:r>
              <a:rPr lang="en-GB" sz="2400" dirty="0"/>
              <a:t>O </a:t>
            </a:r>
            <a:r>
              <a:rPr lang="en-GB" sz="2400" dirty="0">
                <a:sym typeface="Wingdings" panose="05000000000000000000" pitchFamily="2" charset="2"/>
              </a:rPr>
              <a:t></a:t>
            </a:r>
            <a:r>
              <a:rPr lang="en-GB" sz="2400" dirty="0"/>
              <a:t>  C</a:t>
            </a:r>
            <a:r>
              <a:rPr lang="en-GB" sz="2400" baseline="-25000" dirty="0"/>
              <a:t>6</a:t>
            </a:r>
            <a:r>
              <a:rPr lang="en-GB" sz="2400" dirty="0"/>
              <a:t>H</a:t>
            </a:r>
            <a:r>
              <a:rPr lang="en-GB" sz="2400" baseline="-25000" dirty="0"/>
              <a:t>12</a:t>
            </a:r>
            <a:r>
              <a:rPr lang="en-GB" sz="2400" dirty="0"/>
              <a:t>O</a:t>
            </a:r>
            <a:r>
              <a:rPr lang="en-GB" sz="2400" baseline="-25000" dirty="0"/>
              <a:t>6</a:t>
            </a:r>
            <a:r>
              <a:rPr lang="en-GB" sz="2400" dirty="0"/>
              <a:t>  +   6O</a:t>
            </a:r>
            <a:r>
              <a:rPr lang="en-GB" sz="2400" baseline="-25000" dirty="0"/>
              <a:t>2</a:t>
            </a:r>
            <a:r>
              <a:rPr lang="en-GB" sz="2400" dirty="0"/>
              <a:t> </a:t>
            </a:r>
            <a:endParaRPr lang="en-GB" sz="2400" dirty="0" smtClean="0"/>
          </a:p>
          <a:p>
            <a:pPr algn="ctr"/>
            <a:endParaRPr lang="en-GB" sz="2400" dirty="0"/>
          </a:p>
          <a:p>
            <a:r>
              <a:rPr lang="en-GB" sz="2400" dirty="0">
                <a:solidFill>
                  <a:srgbClr val="00B050"/>
                </a:solidFill>
              </a:rPr>
              <a:t>    </a:t>
            </a:r>
            <a:r>
              <a:rPr lang="en-GB" sz="2400" dirty="0"/>
              <a:t> The catalyst for this reaction is chlorophyll, however it does not    </a:t>
            </a:r>
          </a:p>
          <a:p>
            <a:r>
              <a:rPr lang="en-GB" sz="2400" dirty="0"/>
              <a:t>      appear in the equation. Why is this?</a:t>
            </a:r>
          </a:p>
          <a:p>
            <a:pPr>
              <a:lnSpc>
                <a:spcPct val="150000"/>
              </a:lnSpc>
            </a:pPr>
            <a:r>
              <a:rPr lang="en-GB" sz="2400" dirty="0"/>
              <a:t>		</a:t>
            </a: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0240737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300" kern="1200" dirty="0">
                <a:solidFill>
                  <a:schemeClr val="accent6"/>
                </a:solidFill>
                <a:latin typeface="Calibri"/>
                <a:ea typeface=""/>
                <a:cs typeface="News Gothic MT"/>
              </a:rPr>
              <a:t>Factors which affect rates of  reactions - catalysts</a:t>
            </a:r>
            <a:r>
              <a:rPr lang="en-US" sz="2300" b="1" kern="1200" dirty="0">
                <a:solidFill>
                  <a:schemeClr val="accent6"/>
                </a:solidFill>
                <a:latin typeface="Calibri"/>
                <a:ea typeface=""/>
                <a:cs typeface="News Gothic MT"/>
              </a:rPr>
              <a:t>– </a:t>
            </a:r>
            <a:r>
              <a:rPr lang="en-US" sz="2300" b="1" kern="1200" dirty="0" err="1">
                <a:solidFill>
                  <a:schemeClr val="tx1"/>
                </a:solidFill>
                <a:latin typeface="Calibri"/>
                <a:ea typeface=""/>
                <a:cs typeface="News Gothic MT"/>
              </a:rPr>
              <a:t>QuestionIT</a:t>
            </a:r>
            <a:endParaRPr kumimoji="0" lang="en-US" sz="23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955203"/>
          </a:xfrm>
          <a:prstGeom prst="rect">
            <a:avLst/>
          </a:prstGeom>
          <a:noFill/>
        </p:spPr>
        <p:txBody>
          <a:bodyPr wrap="square" rtlCol="0">
            <a:spAutoFit/>
          </a:bodyPr>
          <a:lstStyle/>
          <a:p>
            <a:r>
              <a:rPr lang="en-GB" sz="2000" dirty="0"/>
              <a:t>3. A student carried out three reactions to investigate how quickly oxygen gas was given off by decomposing hydrogen peroxide</a:t>
            </a:r>
            <a:r>
              <a:rPr lang="en-GB" sz="2000" dirty="0" smtClean="0"/>
              <a:t>.</a:t>
            </a:r>
          </a:p>
          <a:p>
            <a:endParaRPr lang="en-GB" sz="2000" dirty="0"/>
          </a:p>
          <a:p>
            <a:pPr algn="ctr"/>
            <a:r>
              <a:rPr lang="en-GB" sz="2000" dirty="0"/>
              <a:t>2H</a:t>
            </a:r>
            <a:r>
              <a:rPr lang="en-GB" sz="2000" baseline="-25000" dirty="0"/>
              <a:t>2</a:t>
            </a:r>
            <a:r>
              <a:rPr lang="en-GB" sz="2000" dirty="0"/>
              <a:t>O</a:t>
            </a:r>
            <a:r>
              <a:rPr lang="en-GB" sz="2000" baseline="-25000" dirty="0"/>
              <a:t>2</a:t>
            </a:r>
            <a:r>
              <a:rPr lang="en-GB" sz="2000" dirty="0"/>
              <a:t> </a:t>
            </a:r>
            <a:r>
              <a:rPr lang="en-GB" sz="2000" dirty="0">
                <a:sym typeface="Wingdings" panose="05000000000000000000" pitchFamily="2" charset="2"/>
              </a:rPr>
              <a:t>  O</a:t>
            </a:r>
            <a:r>
              <a:rPr lang="en-GB" sz="2000" baseline="-25000" dirty="0">
                <a:sym typeface="Wingdings" panose="05000000000000000000" pitchFamily="2" charset="2"/>
              </a:rPr>
              <a:t>2</a:t>
            </a:r>
            <a:r>
              <a:rPr lang="en-GB" sz="2000" dirty="0">
                <a:sym typeface="Wingdings" panose="05000000000000000000" pitchFamily="2" charset="2"/>
              </a:rPr>
              <a:t>  +  </a:t>
            </a:r>
            <a:r>
              <a:rPr lang="en-GB" sz="2000" dirty="0" smtClean="0">
                <a:sym typeface="Wingdings" panose="05000000000000000000" pitchFamily="2" charset="2"/>
              </a:rPr>
              <a:t>2H</a:t>
            </a:r>
            <a:r>
              <a:rPr lang="en-GB" sz="2000" baseline="-25000" dirty="0" smtClean="0">
                <a:sym typeface="Wingdings" panose="05000000000000000000" pitchFamily="2" charset="2"/>
              </a:rPr>
              <a:t>2</a:t>
            </a:r>
            <a:r>
              <a:rPr lang="en-GB" sz="2000" dirty="0" smtClean="0">
                <a:sym typeface="Wingdings" panose="05000000000000000000" pitchFamily="2" charset="2"/>
              </a:rPr>
              <a:t>O</a:t>
            </a:r>
          </a:p>
          <a:p>
            <a:pPr algn="ctr"/>
            <a:endParaRPr lang="en-GB" sz="2000" dirty="0">
              <a:sym typeface="Wingdings" panose="05000000000000000000" pitchFamily="2" charset="2"/>
            </a:endParaRPr>
          </a:p>
          <a:p>
            <a:r>
              <a:rPr lang="en-GB" sz="2000" dirty="0"/>
              <a:t>Each time she changed the chemical she was adding to see if it was a catalyst. Here are her results</a:t>
            </a:r>
            <a:r>
              <a:rPr lang="en-GB" sz="2000" dirty="0" smtClean="0"/>
              <a:t>.</a:t>
            </a:r>
          </a:p>
          <a:p>
            <a:endParaRPr lang="en-GB" sz="2000" dirty="0"/>
          </a:p>
          <a:p>
            <a:endParaRPr lang="en-GB" sz="2000" dirty="0" smtClean="0"/>
          </a:p>
          <a:p>
            <a:endParaRPr lang="en-GB" sz="2000" dirty="0"/>
          </a:p>
          <a:p>
            <a:r>
              <a:rPr lang="en-GB" sz="2400" dirty="0">
                <a:solidFill>
                  <a:srgbClr val="00B050"/>
                </a:solidFill>
              </a:rPr>
              <a:t>	</a:t>
            </a:r>
          </a:p>
          <a:p>
            <a:endParaRPr lang="en-GB" sz="2400" dirty="0">
              <a:solidFill>
                <a:srgbClr val="00B050"/>
              </a:solidFill>
            </a:endParaRPr>
          </a:p>
          <a:p>
            <a:endParaRPr lang="en-GB" sz="2400" dirty="0">
              <a:solidFill>
                <a:srgbClr val="00B050"/>
              </a:solidFill>
            </a:endParaRPr>
          </a:p>
          <a:p>
            <a:endParaRPr lang="en-GB" sz="2400" dirty="0"/>
          </a:p>
          <a:p>
            <a:r>
              <a:rPr lang="en-GB" sz="2000" dirty="0"/>
              <a:t>Which chemical was a catalyst? </a:t>
            </a:r>
            <a:r>
              <a:rPr lang="en-GB" sz="2000" dirty="0" smtClean="0"/>
              <a:t>How do you know?</a:t>
            </a:r>
            <a:endParaRPr lang="en-GB" sz="2000" dirty="0"/>
          </a:p>
        </p:txBody>
      </p:sp>
      <p:graphicFrame>
        <p:nvGraphicFramePr>
          <p:cNvPr id="3" name="Table 2"/>
          <p:cNvGraphicFramePr>
            <a:graphicFrameLocks noGrp="1"/>
          </p:cNvGraphicFramePr>
          <p:nvPr>
            <p:extLst>
              <p:ext uri="{D42A27DB-BD31-4B8C-83A1-F6EECF244321}">
                <p14:modId xmlns:p14="http://schemas.microsoft.com/office/powerpoint/2010/main" val="1499895572"/>
              </p:ext>
            </p:extLst>
          </p:nvPr>
        </p:nvGraphicFramePr>
        <p:xfrm>
          <a:off x="1524000" y="3068963"/>
          <a:ext cx="6096000" cy="1933353"/>
        </p:xfrm>
        <a:graphic>
          <a:graphicData uri="http://schemas.openxmlformats.org/drawingml/2006/table">
            <a:tbl>
              <a:tblPr firstRow="1" bandRow="1">
                <a:tableStyleId>{5C22544A-7EE6-4342-B048-85BDC9FD1C3A}</a:tableStyleId>
              </a:tblPr>
              <a:tblGrid>
                <a:gridCol w="3048000">
                  <a:extLst>
                    <a:ext uri="{9D8B030D-6E8A-4147-A177-3AD203B41FA5}">
                      <a16:colId xmlns="" xmlns:a16="http://schemas.microsoft.com/office/drawing/2014/main" val="20000"/>
                    </a:ext>
                  </a:extLst>
                </a:gridCol>
                <a:gridCol w="3048000">
                  <a:extLst>
                    <a:ext uri="{9D8B030D-6E8A-4147-A177-3AD203B41FA5}">
                      <a16:colId xmlns="" xmlns:a16="http://schemas.microsoft.com/office/drawing/2014/main" val="20001"/>
                    </a:ext>
                  </a:extLst>
                </a:gridCol>
              </a:tblGrid>
              <a:tr h="554703">
                <a:tc>
                  <a:txBody>
                    <a:bodyPr/>
                    <a:lstStyle/>
                    <a:p>
                      <a:pPr algn="ctr"/>
                      <a:r>
                        <a:rPr lang="en-GB" sz="1600" b="1" dirty="0">
                          <a:solidFill>
                            <a:schemeClr val="tx1"/>
                          </a:solidFill>
                        </a:rPr>
                        <a:t>Chemical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GB" sz="1600" b="1" dirty="0">
                          <a:solidFill>
                            <a:schemeClr val="tx1"/>
                          </a:solidFill>
                        </a:rPr>
                        <a:t>Time taken to collect 50 cm</a:t>
                      </a:r>
                      <a:r>
                        <a:rPr lang="en-GB" sz="1600" b="1" baseline="30000" dirty="0">
                          <a:solidFill>
                            <a:schemeClr val="tx1"/>
                          </a:solidFill>
                        </a:rPr>
                        <a:t>3</a:t>
                      </a:r>
                      <a:r>
                        <a:rPr lang="en-GB" sz="1600" b="1" dirty="0">
                          <a:solidFill>
                            <a:schemeClr val="tx1"/>
                          </a:solidFill>
                        </a:rPr>
                        <a:t> in seconds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 xmlns:a16="http://schemas.microsoft.com/office/drawing/2014/main" val="10000"/>
                  </a:ext>
                </a:extLst>
              </a:tr>
              <a:tr h="321144">
                <a:tc>
                  <a:txBody>
                    <a:bodyPr/>
                    <a:lstStyle/>
                    <a:p>
                      <a:pPr algn="ctr"/>
                      <a:r>
                        <a:rPr lang="en-GB" sz="1600" b="1" dirty="0">
                          <a:solidFill>
                            <a:schemeClr val="tx1"/>
                          </a:solidFill>
                        </a:rPr>
                        <a:t>Without chemical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r h="326821">
                <a:tc>
                  <a:txBody>
                    <a:bodyPr/>
                    <a:lstStyle/>
                    <a:p>
                      <a:pPr algn="ctr"/>
                      <a:r>
                        <a:rPr lang="en-GB" sz="1600" b="1"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2"/>
                  </a:ext>
                </a:extLst>
              </a:tr>
              <a:tr h="321144">
                <a:tc>
                  <a:txBody>
                    <a:bodyPr/>
                    <a:lstStyle/>
                    <a:p>
                      <a:pPr algn="ctr"/>
                      <a:r>
                        <a:rPr lang="en-GB" sz="1600" b="1" dirty="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No oxygen given off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3"/>
                  </a:ext>
                </a:extLst>
              </a:tr>
              <a:tr h="348393">
                <a:tc>
                  <a:txBody>
                    <a:bodyPr/>
                    <a:lstStyle/>
                    <a:p>
                      <a:pPr algn="ctr"/>
                      <a:r>
                        <a:rPr lang="en-GB" sz="1600" b="1" dirty="0">
                          <a:solidFill>
                            <a:schemeClr val="tx1"/>
                          </a:solidFill>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180370802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300" kern="1200" dirty="0">
                <a:solidFill>
                  <a:schemeClr val="accent6"/>
                </a:solidFill>
                <a:latin typeface="Calibri"/>
                <a:ea typeface=""/>
                <a:cs typeface="News Gothic MT"/>
              </a:rPr>
              <a:t>Factors which affect rates of  reactions - catalysts</a:t>
            </a:r>
            <a:r>
              <a:rPr lang="en-US" sz="2300" b="1" kern="1200" dirty="0">
                <a:solidFill>
                  <a:schemeClr val="accent6"/>
                </a:solidFill>
                <a:latin typeface="Calibri"/>
                <a:ea typeface=""/>
                <a:cs typeface="News Gothic MT"/>
              </a:rPr>
              <a:t>– </a:t>
            </a:r>
            <a:r>
              <a:rPr lang="en-US" sz="2300" b="1" kern="1200" dirty="0" err="1">
                <a:solidFill>
                  <a:schemeClr val="tx1"/>
                </a:solidFill>
                <a:latin typeface="Calibri"/>
                <a:ea typeface=""/>
                <a:cs typeface="News Gothic MT"/>
              </a:rPr>
              <a:t>QuestionIT</a:t>
            </a:r>
            <a:endParaRPr kumimoji="0" lang="en-US" sz="23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247043"/>
          </a:xfrm>
          <a:prstGeom prst="rect">
            <a:avLst/>
          </a:prstGeom>
          <a:noFill/>
        </p:spPr>
        <p:txBody>
          <a:bodyPr wrap="square" rtlCol="0">
            <a:spAutoFit/>
          </a:bodyPr>
          <a:lstStyle/>
          <a:p>
            <a:pPr marL="457200" indent="-457200">
              <a:lnSpc>
                <a:spcPct val="150000"/>
              </a:lnSpc>
              <a:buFontTx/>
              <a:buAutoNum type="arabicPeriod" startAt="4"/>
            </a:pPr>
            <a:r>
              <a:rPr lang="en-GB" sz="2000" dirty="0"/>
              <a:t>Draw the reaction profile for 2H</a:t>
            </a:r>
            <a:r>
              <a:rPr lang="en-GB" sz="2000" baseline="-25000" dirty="0"/>
              <a:t>2</a:t>
            </a:r>
            <a:r>
              <a:rPr lang="en-GB" sz="2000" dirty="0"/>
              <a:t>O</a:t>
            </a:r>
            <a:r>
              <a:rPr lang="en-GB" sz="2000" baseline="-25000" dirty="0"/>
              <a:t>2</a:t>
            </a:r>
            <a:r>
              <a:rPr lang="en-GB" sz="2000" dirty="0"/>
              <a:t> </a:t>
            </a:r>
            <a:r>
              <a:rPr lang="en-GB" sz="2000" dirty="0">
                <a:sym typeface="Wingdings" panose="05000000000000000000" pitchFamily="2" charset="2"/>
              </a:rPr>
              <a:t>  O</a:t>
            </a:r>
            <a:r>
              <a:rPr lang="en-GB" sz="2000" baseline="-25000" dirty="0">
                <a:sym typeface="Wingdings" panose="05000000000000000000" pitchFamily="2" charset="2"/>
              </a:rPr>
              <a:t>2</a:t>
            </a:r>
            <a:r>
              <a:rPr lang="en-GB" sz="2000" dirty="0">
                <a:sym typeface="Wingdings" panose="05000000000000000000" pitchFamily="2" charset="2"/>
              </a:rPr>
              <a:t>  +  2H</a:t>
            </a:r>
            <a:r>
              <a:rPr lang="en-GB" sz="2000" baseline="-25000" dirty="0">
                <a:sym typeface="Wingdings" panose="05000000000000000000" pitchFamily="2" charset="2"/>
              </a:rPr>
              <a:t>2</a:t>
            </a:r>
            <a:r>
              <a:rPr lang="en-GB" sz="2000" dirty="0">
                <a:sym typeface="Wingdings" panose="05000000000000000000" pitchFamily="2" charset="2"/>
              </a:rPr>
              <a:t>O with and without a catalyst and label the activation energies.</a:t>
            </a:r>
          </a:p>
          <a:p>
            <a:pPr>
              <a:lnSpc>
                <a:spcPct val="150000"/>
              </a:lnSpc>
            </a:pPr>
            <a:r>
              <a:rPr lang="en-GB" sz="2000" dirty="0"/>
              <a:t> </a:t>
            </a:r>
            <a:endParaRPr lang="en-GB" sz="2000" dirty="0">
              <a:solidFill>
                <a:srgbClr val="00B050"/>
              </a:solidFill>
            </a:endParaRPr>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8240149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754874"/>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3 </a:t>
            </a:r>
          </a:p>
          <a:p>
            <a:pPr marL="457200" indent="-457200">
              <a:lnSpc>
                <a:spcPct val="150000"/>
              </a:lnSpc>
              <a:buFont typeface="Arial" charset="0"/>
              <a:buChar char="•"/>
            </a:pPr>
            <a:r>
              <a:rPr lang="en-GB" sz="3200" b="1" dirty="0">
                <a:solidFill>
                  <a:schemeClr val="tx1">
                    <a:lumMod val="50000"/>
                    <a:lumOff val="50000"/>
                  </a:schemeClr>
                </a:solidFill>
              </a:rPr>
              <a:t>Catalysts </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316251077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400" kern="1200" dirty="0">
                <a:solidFill>
                  <a:schemeClr val="accent6"/>
                </a:solidFill>
                <a:latin typeface="Calibri"/>
                <a:ea typeface=""/>
                <a:cs typeface="News Gothic MT"/>
              </a:rPr>
              <a:t>Factors which affect rates of  reactions - catalysts</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93647"/>
          </a:xfrm>
          <a:prstGeom prst="rect">
            <a:avLst/>
          </a:prstGeom>
          <a:noFill/>
        </p:spPr>
        <p:txBody>
          <a:bodyPr wrap="square" rtlCol="0">
            <a:spAutoFit/>
          </a:bodyPr>
          <a:lstStyle/>
          <a:p>
            <a:r>
              <a:rPr lang="en-GB" sz="2400" dirty="0"/>
              <a:t>1. What is a catalyst?.</a:t>
            </a:r>
          </a:p>
          <a:p>
            <a:r>
              <a:rPr lang="en-GB" sz="2400" dirty="0">
                <a:solidFill>
                  <a:srgbClr val="00B050"/>
                </a:solidFill>
              </a:rPr>
              <a:t>	Catalysts change the rate of chemical reactions, but are not 	used up during the reaction</a:t>
            </a:r>
            <a:r>
              <a:rPr lang="en-GB" sz="2400" dirty="0" smtClean="0">
                <a:solidFill>
                  <a:srgbClr val="00B050"/>
                </a:solidFill>
              </a:rPr>
              <a:t>. They provide a different pathway 	with a lower activation energy.</a:t>
            </a:r>
          </a:p>
          <a:p>
            <a:endParaRPr lang="en-GB" sz="2400" dirty="0">
              <a:solidFill>
                <a:srgbClr val="00B050"/>
              </a:solidFill>
            </a:endParaRPr>
          </a:p>
          <a:p>
            <a:r>
              <a:rPr lang="en-GB" sz="2400" dirty="0"/>
              <a:t>2. The symbol equation for photosynthesis </a:t>
            </a:r>
            <a:r>
              <a:rPr lang="en-GB" sz="2400" dirty="0" smtClean="0"/>
              <a:t>is:</a:t>
            </a:r>
          </a:p>
          <a:p>
            <a:endParaRPr lang="en-GB" sz="2400" dirty="0"/>
          </a:p>
          <a:p>
            <a:pPr algn="ctr"/>
            <a:r>
              <a:rPr lang="en-GB" sz="2400" dirty="0"/>
              <a:t>6CO</a:t>
            </a:r>
            <a:r>
              <a:rPr lang="en-GB" sz="2400" baseline="-25000" dirty="0"/>
              <a:t>2</a:t>
            </a:r>
            <a:r>
              <a:rPr lang="en-GB" sz="2400" dirty="0"/>
              <a:t>  +  6H</a:t>
            </a:r>
            <a:r>
              <a:rPr lang="en-GB" sz="2400" baseline="-25000" dirty="0"/>
              <a:t>2</a:t>
            </a:r>
            <a:r>
              <a:rPr lang="en-GB" sz="2400" dirty="0"/>
              <a:t>O </a:t>
            </a:r>
            <a:r>
              <a:rPr lang="en-GB" sz="2400" dirty="0">
                <a:sym typeface="Wingdings" panose="05000000000000000000" pitchFamily="2" charset="2"/>
              </a:rPr>
              <a:t></a:t>
            </a:r>
            <a:r>
              <a:rPr lang="en-GB" sz="2400" dirty="0"/>
              <a:t>  C</a:t>
            </a:r>
            <a:r>
              <a:rPr lang="en-GB" sz="2400" baseline="-25000" dirty="0"/>
              <a:t>6</a:t>
            </a:r>
            <a:r>
              <a:rPr lang="en-GB" sz="2400" dirty="0"/>
              <a:t>H</a:t>
            </a:r>
            <a:r>
              <a:rPr lang="en-GB" sz="2400" baseline="-25000" dirty="0"/>
              <a:t>12</a:t>
            </a:r>
            <a:r>
              <a:rPr lang="en-GB" sz="2400" dirty="0"/>
              <a:t>O</a:t>
            </a:r>
            <a:r>
              <a:rPr lang="en-GB" sz="2400" baseline="-25000" dirty="0"/>
              <a:t>6</a:t>
            </a:r>
            <a:r>
              <a:rPr lang="en-GB" sz="2400" dirty="0"/>
              <a:t>  +   6O</a:t>
            </a:r>
            <a:r>
              <a:rPr lang="en-GB" sz="2400" baseline="-25000" dirty="0"/>
              <a:t>2</a:t>
            </a:r>
            <a:r>
              <a:rPr lang="en-GB" sz="2400" dirty="0"/>
              <a:t> </a:t>
            </a:r>
            <a:endParaRPr lang="en-GB" sz="2400" dirty="0" smtClean="0"/>
          </a:p>
          <a:p>
            <a:pPr algn="ctr"/>
            <a:endParaRPr lang="en-GB" sz="2400" dirty="0"/>
          </a:p>
          <a:p>
            <a:r>
              <a:rPr lang="en-GB" sz="2400" dirty="0">
                <a:solidFill>
                  <a:srgbClr val="00B050"/>
                </a:solidFill>
              </a:rPr>
              <a:t>    </a:t>
            </a:r>
            <a:r>
              <a:rPr lang="en-GB" sz="2400" dirty="0"/>
              <a:t> The catalyst for this reaction is chlorophyll, however it does not   </a:t>
            </a:r>
          </a:p>
          <a:p>
            <a:r>
              <a:rPr lang="en-GB" sz="2400" dirty="0"/>
              <a:t>      appear in the equation. Why is this?</a:t>
            </a:r>
          </a:p>
          <a:p>
            <a:r>
              <a:rPr lang="en-GB" sz="2400" dirty="0"/>
              <a:t>	</a:t>
            </a:r>
            <a:r>
              <a:rPr lang="en-GB" sz="2400" dirty="0">
                <a:solidFill>
                  <a:srgbClr val="00B050"/>
                </a:solidFill>
              </a:rPr>
              <a:t>It is not a chemical that reacts/it is unchanged at the end of 	the reaction.</a:t>
            </a:r>
            <a:r>
              <a:rPr lang="en-GB" sz="2400" dirty="0"/>
              <a:t>	</a:t>
            </a:r>
          </a:p>
        </p:txBody>
      </p:sp>
    </p:spTree>
    <p:extLst>
      <p:ext uri="{BB962C8B-B14F-4D97-AF65-F5344CB8AC3E}">
        <p14:creationId xmlns:p14="http://schemas.microsoft.com/office/powerpoint/2010/main" val="32982648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400" kern="1200" dirty="0">
                <a:solidFill>
                  <a:schemeClr val="accent6"/>
                </a:solidFill>
                <a:latin typeface="Calibri"/>
                <a:ea typeface=""/>
                <a:cs typeface="News Gothic MT"/>
              </a:rPr>
              <a:t>Factors which affect rates of  reactions - catalysts</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63089"/>
          </a:xfrm>
          <a:prstGeom prst="rect">
            <a:avLst/>
          </a:prstGeom>
          <a:noFill/>
        </p:spPr>
        <p:txBody>
          <a:bodyPr wrap="square" rtlCol="0">
            <a:spAutoFit/>
          </a:bodyPr>
          <a:lstStyle/>
          <a:p>
            <a:r>
              <a:rPr lang="en-GB" sz="2000" dirty="0"/>
              <a:t>3. A student carried out three reactions to investigate how quickly oxygen gas was given off by decomposing hydrogen peroxide</a:t>
            </a:r>
            <a:r>
              <a:rPr lang="en-GB" sz="2000" dirty="0" smtClean="0"/>
              <a:t>.</a:t>
            </a:r>
          </a:p>
          <a:p>
            <a:endParaRPr lang="en-GB" sz="2000" dirty="0"/>
          </a:p>
          <a:p>
            <a:pPr algn="ctr"/>
            <a:r>
              <a:rPr lang="en-GB" sz="2000" dirty="0"/>
              <a:t>2H</a:t>
            </a:r>
            <a:r>
              <a:rPr lang="en-GB" sz="2000" baseline="-25000" dirty="0"/>
              <a:t>2</a:t>
            </a:r>
            <a:r>
              <a:rPr lang="en-GB" sz="2000" dirty="0"/>
              <a:t>O</a:t>
            </a:r>
            <a:r>
              <a:rPr lang="en-GB" sz="2000" baseline="-25000" dirty="0"/>
              <a:t>2</a:t>
            </a:r>
            <a:r>
              <a:rPr lang="en-GB" sz="2000" dirty="0"/>
              <a:t> </a:t>
            </a:r>
            <a:r>
              <a:rPr lang="en-GB" sz="2000" dirty="0">
                <a:sym typeface="Wingdings" panose="05000000000000000000" pitchFamily="2" charset="2"/>
              </a:rPr>
              <a:t>  O</a:t>
            </a:r>
            <a:r>
              <a:rPr lang="en-GB" sz="2000" baseline="-25000" dirty="0">
                <a:sym typeface="Wingdings" panose="05000000000000000000" pitchFamily="2" charset="2"/>
              </a:rPr>
              <a:t>2</a:t>
            </a:r>
            <a:r>
              <a:rPr lang="en-GB" sz="2000" dirty="0">
                <a:sym typeface="Wingdings" panose="05000000000000000000" pitchFamily="2" charset="2"/>
              </a:rPr>
              <a:t>  +  </a:t>
            </a:r>
            <a:r>
              <a:rPr lang="en-GB" sz="2000" dirty="0" smtClean="0">
                <a:sym typeface="Wingdings" panose="05000000000000000000" pitchFamily="2" charset="2"/>
              </a:rPr>
              <a:t>2H</a:t>
            </a:r>
            <a:r>
              <a:rPr lang="en-GB" sz="2000" baseline="-25000" dirty="0" smtClean="0">
                <a:sym typeface="Wingdings" panose="05000000000000000000" pitchFamily="2" charset="2"/>
              </a:rPr>
              <a:t>2</a:t>
            </a:r>
            <a:r>
              <a:rPr lang="en-GB" sz="2000" dirty="0" smtClean="0">
                <a:sym typeface="Wingdings" panose="05000000000000000000" pitchFamily="2" charset="2"/>
              </a:rPr>
              <a:t>O</a:t>
            </a:r>
          </a:p>
          <a:p>
            <a:pPr algn="ctr"/>
            <a:endParaRPr lang="en-GB" sz="2000" dirty="0">
              <a:sym typeface="Wingdings" panose="05000000000000000000" pitchFamily="2" charset="2"/>
            </a:endParaRPr>
          </a:p>
          <a:p>
            <a:r>
              <a:rPr lang="en-GB" sz="2000" dirty="0"/>
              <a:t>Each time she changed the chemical she was adding to see if it was a catalyst. Here are her results</a:t>
            </a:r>
            <a:r>
              <a:rPr lang="en-GB" sz="2000" dirty="0" smtClean="0"/>
              <a:t>.</a:t>
            </a:r>
          </a:p>
          <a:p>
            <a:endParaRPr lang="en-GB" sz="2000" dirty="0"/>
          </a:p>
          <a:p>
            <a:endParaRPr lang="en-GB" sz="2000" dirty="0" smtClean="0"/>
          </a:p>
          <a:p>
            <a:endParaRPr lang="en-GB" sz="2000" dirty="0"/>
          </a:p>
          <a:p>
            <a:r>
              <a:rPr lang="en-GB" sz="2400" dirty="0">
                <a:solidFill>
                  <a:srgbClr val="00B050"/>
                </a:solidFill>
              </a:rPr>
              <a:t>	</a:t>
            </a:r>
          </a:p>
          <a:p>
            <a:endParaRPr lang="en-GB" sz="2400" dirty="0">
              <a:solidFill>
                <a:srgbClr val="00B050"/>
              </a:solidFill>
            </a:endParaRPr>
          </a:p>
          <a:p>
            <a:endParaRPr lang="en-GB" sz="2400" dirty="0">
              <a:solidFill>
                <a:srgbClr val="00B050"/>
              </a:solidFill>
            </a:endParaRPr>
          </a:p>
          <a:p>
            <a:endParaRPr lang="en-GB" sz="2400" dirty="0"/>
          </a:p>
          <a:p>
            <a:r>
              <a:rPr lang="en-GB" sz="2000" dirty="0"/>
              <a:t>Which chemical was a catalyst? Explain your answer.</a:t>
            </a:r>
          </a:p>
          <a:p>
            <a:pPr>
              <a:lnSpc>
                <a:spcPct val="150000"/>
              </a:lnSpc>
            </a:pPr>
            <a:r>
              <a:rPr lang="en-GB" sz="2000" dirty="0"/>
              <a:t>	</a:t>
            </a:r>
            <a:r>
              <a:rPr lang="en-GB" sz="2000" dirty="0">
                <a:solidFill>
                  <a:srgbClr val="00B050"/>
                </a:solidFill>
              </a:rPr>
              <a:t>C, the time taken for the reaction was shorter</a:t>
            </a:r>
            <a:r>
              <a:rPr lang="en-GB" sz="2000" dirty="0" smtClean="0">
                <a:solidFill>
                  <a:srgbClr val="00B050"/>
                </a:solidFill>
              </a:rPr>
              <a:t>.</a:t>
            </a:r>
            <a:endParaRPr lang="en-GB" dirty="0"/>
          </a:p>
          <a:p>
            <a:pPr marL="342900" indent="-342900">
              <a:buFont typeface="+mj-lt"/>
              <a:buAutoNum type="arabicPeriod"/>
            </a:pPr>
            <a:endParaRPr lang="en-GB" sz="1600" dirty="0"/>
          </a:p>
        </p:txBody>
      </p:sp>
      <p:graphicFrame>
        <p:nvGraphicFramePr>
          <p:cNvPr id="3" name="Table 2"/>
          <p:cNvGraphicFramePr>
            <a:graphicFrameLocks noGrp="1"/>
          </p:cNvGraphicFramePr>
          <p:nvPr>
            <p:extLst>
              <p:ext uri="{D42A27DB-BD31-4B8C-83A1-F6EECF244321}">
                <p14:modId xmlns:p14="http://schemas.microsoft.com/office/powerpoint/2010/main" val="2795538750"/>
              </p:ext>
            </p:extLst>
          </p:nvPr>
        </p:nvGraphicFramePr>
        <p:xfrm>
          <a:off x="1524000" y="3068963"/>
          <a:ext cx="6096000" cy="1933353"/>
        </p:xfrm>
        <a:graphic>
          <a:graphicData uri="http://schemas.openxmlformats.org/drawingml/2006/table">
            <a:tbl>
              <a:tblPr firstRow="1" bandRow="1">
                <a:tableStyleId>{5C22544A-7EE6-4342-B048-85BDC9FD1C3A}</a:tableStyleId>
              </a:tblPr>
              <a:tblGrid>
                <a:gridCol w="3048000">
                  <a:extLst>
                    <a:ext uri="{9D8B030D-6E8A-4147-A177-3AD203B41FA5}">
                      <a16:colId xmlns="" xmlns:a16="http://schemas.microsoft.com/office/drawing/2014/main" val="20000"/>
                    </a:ext>
                  </a:extLst>
                </a:gridCol>
                <a:gridCol w="3048000">
                  <a:extLst>
                    <a:ext uri="{9D8B030D-6E8A-4147-A177-3AD203B41FA5}">
                      <a16:colId xmlns="" xmlns:a16="http://schemas.microsoft.com/office/drawing/2014/main" val="20001"/>
                    </a:ext>
                  </a:extLst>
                </a:gridCol>
              </a:tblGrid>
              <a:tr h="554703">
                <a:tc>
                  <a:txBody>
                    <a:bodyPr/>
                    <a:lstStyle/>
                    <a:p>
                      <a:pPr algn="ctr"/>
                      <a:r>
                        <a:rPr lang="en-GB" sz="1600" b="1" dirty="0">
                          <a:solidFill>
                            <a:schemeClr val="tx1"/>
                          </a:solidFill>
                        </a:rPr>
                        <a:t>Chemical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GB" sz="1600" b="1" dirty="0">
                          <a:solidFill>
                            <a:schemeClr val="tx1"/>
                          </a:solidFill>
                        </a:rPr>
                        <a:t>Time taken to collect 50 cm3 in seconds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 xmlns:a16="http://schemas.microsoft.com/office/drawing/2014/main" val="10000"/>
                  </a:ext>
                </a:extLst>
              </a:tr>
              <a:tr h="321144">
                <a:tc>
                  <a:txBody>
                    <a:bodyPr/>
                    <a:lstStyle/>
                    <a:p>
                      <a:pPr algn="ctr"/>
                      <a:r>
                        <a:rPr lang="en-GB" sz="1600" b="1" dirty="0">
                          <a:solidFill>
                            <a:schemeClr val="tx1"/>
                          </a:solidFill>
                        </a:rPr>
                        <a:t>Without chemical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r h="326821">
                <a:tc>
                  <a:txBody>
                    <a:bodyPr/>
                    <a:lstStyle/>
                    <a:p>
                      <a:pPr algn="ctr"/>
                      <a:r>
                        <a:rPr lang="en-GB" sz="1600" b="1"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2"/>
                  </a:ext>
                </a:extLst>
              </a:tr>
              <a:tr h="321144">
                <a:tc>
                  <a:txBody>
                    <a:bodyPr/>
                    <a:lstStyle/>
                    <a:p>
                      <a:pPr algn="ctr"/>
                      <a:r>
                        <a:rPr lang="en-GB" sz="1600" b="1" dirty="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No oxygen given off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3"/>
                  </a:ext>
                </a:extLst>
              </a:tr>
              <a:tr h="348393">
                <a:tc>
                  <a:txBody>
                    <a:bodyPr/>
                    <a:lstStyle/>
                    <a:p>
                      <a:pPr algn="ctr"/>
                      <a:r>
                        <a:rPr lang="en-GB" sz="1600" b="1" dirty="0">
                          <a:solidFill>
                            <a:schemeClr val="tx1"/>
                          </a:solidFill>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35743868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400" kern="1200" dirty="0">
                <a:solidFill>
                  <a:schemeClr val="accent6"/>
                </a:solidFill>
                <a:latin typeface="Calibri"/>
                <a:ea typeface=""/>
                <a:cs typeface="News Gothic MT"/>
              </a:rPr>
              <a:t>Factors which affect rates of  reactions - catalysts</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25423" y="657041"/>
            <a:ext cx="8915400" cy="3247043"/>
          </a:xfrm>
          <a:prstGeom prst="rect">
            <a:avLst/>
          </a:prstGeom>
          <a:noFill/>
        </p:spPr>
        <p:txBody>
          <a:bodyPr wrap="square" rtlCol="0">
            <a:spAutoFit/>
          </a:bodyPr>
          <a:lstStyle/>
          <a:p>
            <a:pPr marL="457200" indent="-457200">
              <a:lnSpc>
                <a:spcPct val="150000"/>
              </a:lnSpc>
              <a:buFontTx/>
              <a:buAutoNum type="arabicPeriod" startAt="4"/>
            </a:pPr>
            <a:r>
              <a:rPr lang="en-GB" sz="2000" dirty="0"/>
              <a:t>Draw the reaction profile for 2H</a:t>
            </a:r>
            <a:r>
              <a:rPr lang="en-GB" sz="2000" baseline="-25000" dirty="0"/>
              <a:t>2</a:t>
            </a:r>
            <a:r>
              <a:rPr lang="en-GB" sz="2000" dirty="0"/>
              <a:t>O</a:t>
            </a:r>
            <a:r>
              <a:rPr lang="en-GB" sz="2000" baseline="-25000" dirty="0"/>
              <a:t>2</a:t>
            </a:r>
            <a:r>
              <a:rPr lang="en-GB" sz="2000" dirty="0"/>
              <a:t> </a:t>
            </a:r>
            <a:r>
              <a:rPr lang="en-GB" sz="2000" dirty="0">
                <a:sym typeface="Wingdings" panose="05000000000000000000" pitchFamily="2" charset="2"/>
              </a:rPr>
              <a:t>  O</a:t>
            </a:r>
            <a:r>
              <a:rPr lang="en-GB" sz="2000" baseline="-25000" dirty="0">
                <a:sym typeface="Wingdings" panose="05000000000000000000" pitchFamily="2" charset="2"/>
              </a:rPr>
              <a:t>2</a:t>
            </a:r>
            <a:r>
              <a:rPr lang="en-GB" sz="2000" dirty="0">
                <a:sym typeface="Wingdings" panose="05000000000000000000" pitchFamily="2" charset="2"/>
              </a:rPr>
              <a:t>  +  2H</a:t>
            </a:r>
            <a:r>
              <a:rPr lang="en-GB" sz="2000" baseline="-25000" dirty="0">
                <a:sym typeface="Wingdings" panose="05000000000000000000" pitchFamily="2" charset="2"/>
              </a:rPr>
              <a:t>2</a:t>
            </a:r>
            <a:r>
              <a:rPr lang="en-GB" sz="2000" dirty="0">
                <a:sym typeface="Wingdings" panose="05000000000000000000" pitchFamily="2" charset="2"/>
              </a:rPr>
              <a:t>O with and without a catalyst and label the activation energies.</a:t>
            </a:r>
          </a:p>
          <a:p>
            <a:pPr marL="457200" indent="-457200">
              <a:lnSpc>
                <a:spcPct val="150000"/>
              </a:lnSpc>
              <a:buAutoNum type="arabicPeriod" startAt="4"/>
            </a:pPr>
            <a:endParaRPr lang="en-GB" sz="2000" dirty="0">
              <a:solidFill>
                <a:srgbClr val="00B050"/>
              </a:solidFill>
            </a:endParaRPr>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pic>
        <p:nvPicPr>
          <p:cNvPr id="3" name="Picture 2"/>
          <p:cNvPicPr>
            <a:picLocks noChangeAspect="1"/>
          </p:cNvPicPr>
          <p:nvPr/>
        </p:nvPicPr>
        <p:blipFill>
          <a:blip r:embed="rId2"/>
          <a:stretch>
            <a:fillRect/>
          </a:stretch>
        </p:blipFill>
        <p:spPr>
          <a:xfrm>
            <a:off x="1475656" y="1700212"/>
            <a:ext cx="4868553" cy="3457575"/>
          </a:xfrm>
          <a:prstGeom prst="rect">
            <a:avLst/>
          </a:prstGeom>
        </p:spPr>
      </p:pic>
    </p:spTree>
    <p:extLst>
      <p:ext uri="{BB962C8B-B14F-4D97-AF65-F5344CB8AC3E}">
        <p14:creationId xmlns:p14="http://schemas.microsoft.com/office/powerpoint/2010/main" val="8577952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6017032"/>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2600" b="1" dirty="0">
                <a:solidFill>
                  <a:schemeClr val="tx1">
                    <a:lumMod val="50000"/>
                    <a:lumOff val="50000"/>
                  </a:schemeClr>
                </a:solidFill>
              </a:rPr>
              <a:t>Reversible reactions and dynamic </a:t>
            </a:r>
          </a:p>
          <a:p>
            <a:r>
              <a:rPr lang="en-GB" sz="2600" b="1" dirty="0">
                <a:solidFill>
                  <a:schemeClr val="tx1">
                    <a:lumMod val="50000"/>
                    <a:lumOff val="50000"/>
                  </a:schemeClr>
                </a:solidFill>
              </a:rPr>
              <a:t>Equilibrium (Part </a:t>
            </a:r>
            <a:r>
              <a:rPr lang="en-GB" sz="3000" b="1" dirty="0">
                <a:solidFill>
                  <a:schemeClr val="tx1">
                    <a:lumMod val="50000"/>
                    <a:lumOff val="50000"/>
                  </a:schemeClr>
                </a:solidFill>
              </a:rPr>
              <a:t>1)</a:t>
            </a:r>
          </a:p>
          <a:p>
            <a:pPr marL="457200" indent="-457200">
              <a:buFont typeface="Arial" charset="0"/>
              <a:buChar char="•"/>
            </a:pPr>
            <a:r>
              <a:rPr lang="en-GB" b="1" dirty="0">
                <a:solidFill>
                  <a:schemeClr val="tx1">
                    <a:lumMod val="50000"/>
                    <a:lumOff val="50000"/>
                  </a:schemeClr>
                </a:solidFill>
              </a:rPr>
              <a:t>Reversible reactions</a:t>
            </a:r>
          </a:p>
          <a:p>
            <a:pPr marL="457200" indent="-457200">
              <a:buFont typeface="Arial" charset="0"/>
              <a:buChar char="•"/>
            </a:pPr>
            <a:r>
              <a:rPr lang="en-GB" b="1" dirty="0">
                <a:solidFill>
                  <a:schemeClr val="tx1">
                    <a:lumMod val="50000"/>
                    <a:lumOff val="50000"/>
                  </a:schemeClr>
                </a:solidFill>
              </a:rPr>
              <a:t>Energy changes and reversible reactions</a:t>
            </a:r>
          </a:p>
          <a:p>
            <a:pPr marL="457200" indent="-457200">
              <a:buFont typeface="Arial" charset="0"/>
              <a:buChar char="•"/>
            </a:pPr>
            <a:r>
              <a:rPr lang="en-GB" b="1" dirty="0">
                <a:solidFill>
                  <a:schemeClr val="tx1">
                    <a:lumMod val="50000"/>
                    <a:lumOff val="50000"/>
                  </a:schemeClr>
                </a:solidFill>
              </a:rPr>
              <a:t>Equilibrium</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4494758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83768" y="-32700"/>
            <a:ext cx="6660232" cy="941420"/>
          </a:xfrm>
        </p:spPr>
        <p:txBody>
          <a:bodyPr>
            <a:noAutofit/>
          </a:bodyPr>
          <a:lstStyle/>
          <a:p>
            <a:pPr marL="342900" lvl="1" algn="r" defTabSz="342900" rtl="0">
              <a:spcBef>
                <a:spcPct val="20000"/>
              </a:spcBef>
            </a:pPr>
            <a:r>
              <a:rPr lang="en-US" sz="2400" b="1" dirty="0">
                <a:solidFill>
                  <a:schemeClr val="accent6"/>
                </a:solidFill>
              </a:rPr>
              <a:t>Reversible reactions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66632" y="764704"/>
            <a:ext cx="8725847" cy="1477328"/>
          </a:xfrm>
          <a:custGeom>
            <a:avLst/>
            <a:gdLst>
              <a:gd name="connsiteX0" fmla="*/ 0 w 8712968"/>
              <a:gd name="connsiteY0" fmla="*/ 0 h 1538883"/>
              <a:gd name="connsiteX1" fmla="*/ 8712968 w 8712968"/>
              <a:gd name="connsiteY1" fmla="*/ 0 h 1538883"/>
              <a:gd name="connsiteX2" fmla="*/ 8712968 w 8712968"/>
              <a:gd name="connsiteY2" fmla="*/ 1538883 h 1538883"/>
              <a:gd name="connsiteX3" fmla="*/ 0 w 8712968"/>
              <a:gd name="connsiteY3" fmla="*/ 1538883 h 1538883"/>
              <a:gd name="connsiteX4" fmla="*/ 0 w 8712968"/>
              <a:gd name="connsiteY4" fmla="*/ 0 h 1538883"/>
              <a:gd name="connsiteX0" fmla="*/ 12879 w 8725847"/>
              <a:gd name="connsiteY0" fmla="*/ 0 h 1538883"/>
              <a:gd name="connsiteX1" fmla="*/ 8725847 w 8725847"/>
              <a:gd name="connsiteY1" fmla="*/ 0 h 1538883"/>
              <a:gd name="connsiteX2" fmla="*/ 8725847 w 8725847"/>
              <a:gd name="connsiteY2" fmla="*/ 1538883 h 1538883"/>
              <a:gd name="connsiteX3" fmla="*/ 0 w 8725847"/>
              <a:gd name="connsiteY3" fmla="*/ 1216912 h 1538883"/>
              <a:gd name="connsiteX4" fmla="*/ 12879 w 8725847"/>
              <a:gd name="connsiteY4" fmla="*/ 0 h 1538883"/>
              <a:gd name="connsiteX0" fmla="*/ 12879 w 8725847"/>
              <a:gd name="connsiteY0" fmla="*/ 0 h 1242669"/>
              <a:gd name="connsiteX1" fmla="*/ 8725847 w 8725847"/>
              <a:gd name="connsiteY1" fmla="*/ 0 h 1242669"/>
              <a:gd name="connsiteX2" fmla="*/ 8700089 w 8725847"/>
              <a:gd name="connsiteY2" fmla="*/ 1242669 h 1242669"/>
              <a:gd name="connsiteX3" fmla="*/ 0 w 8725847"/>
              <a:gd name="connsiteY3" fmla="*/ 1216912 h 1242669"/>
              <a:gd name="connsiteX4" fmla="*/ 12879 w 8725847"/>
              <a:gd name="connsiteY4" fmla="*/ 0 h 1242669"/>
              <a:gd name="connsiteX0" fmla="*/ 12879 w 8725847"/>
              <a:gd name="connsiteY0" fmla="*/ 0 h 1229790"/>
              <a:gd name="connsiteX1" fmla="*/ 8725847 w 8725847"/>
              <a:gd name="connsiteY1" fmla="*/ 0 h 1229790"/>
              <a:gd name="connsiteX2" fmla="*/ 8700089 w 8725847"/>
              <a:gd name="connsiteY2" fmla="*/ 1229790 h 1229790"/>
              <a:gd name="connsiteX3" fmla="*/ 0 w 8725847"/>
              <a:gd name="connsiteY3" fmla="*/ 1216912 h 1229790"/>
              <a:gd name="connsiteX4" fmla="*/ 12879 w 8725847"/>
              <a:gd name="connsiteY4" fmla="*/ 0 h 1229790"/>
              <a:gd name="connsiteX0" fmla="*/ 12879 w 8725847"/>
              <a:gd name="connsiteY0" fmla="*/ 0 h 1216912"/>
              <a:gd name="connsiteX1" fmla="*/ 8725847 w 8725847"/>
              <a:gd name="connsiteY1" fmla="*/ 0 h 1216912"/>
              <a:gd name="connsiteX2" fmla="*/ 8712968 w 8725847"/>
              <a:gd name="connsiteY2" fmla="*/ 1204033 h 1216912"/>
              <a:gd name="connsiteX3" fmla="*/ 0 w 8725847"/>
              <a:gd name="connsiteY3" fmla="*/ 1216912 h 1216912"/>
              <a:gd name="connsiteX4" fmla="*/ 12879 w 8725847"/>
              <a:gd name="connsiteY4" fmla="*/ 0 h 1216912"/>
              <a:gd name="connsiteX0" fmla="*/ 12879 w 8725847"/>
              <a:gd name="connsiteY0" fmla="*/ 0 h 1216912"/>
              <a:gd name="connsiteX1" fmla="*/ 8725847 w 8725847"/>
              <a:gd name="connsiteY1" fmla="*/ 0 h 1216912"/>
              <a:gd name="connsiteX2" fmla="*/ 8725847 w 8725847"/>
              <a:gd name="connsiteY2" fmla="*/ 1204033 h 1216912"/>
              <a:gd name="connsiteX3" fmla="*/ 0 w 8725847"/>
              <a:gd name="connsiteY3" fmla="*/ 1216912 h 1216912"/>
              <a:gd name="connsiteX4" fmla="*/ 12879 w 8725847"/>
              <a:gd name="connsiteY4" fmla="*/ 0 h 1216912"/>
              <a:gd name="connsiteX0" fmla="*/ 12879 w 8725847"/>
              <a:gd name="connsiteY0" fmla="*/ 0 h 1255548"/>
              <a:gd name="connsiteX1" fmla="*/ 8725847 w 8725847"/>
              <a:gd name="connsiteY1" fmla="*/ 0 h 1255548"/>
              <a:gd name="connsiteX2" fmla="*/ 8725847 w 8725847"/>
              <a:gd name="connsiteY2" fmla="*/ 1204033 h 1255548"/>
              <a:gd name="connsiteX3" fmla="*/ 0 w 8725847"/>
              <a:gd name="connsiteY3" fmla="*/ 1255548 h 1255548"/>
              <a:gd name="connsiteX4" fmla="*/ 12879 w 8725847"/>
              <a:gd name="connsiteY4" fmla="*/ 0 h 1255548"/>
              <a:gd name="connsiteX0" fmla="*/ 12879 w 8725847"/>
              <a:gd name="connsiteY0" fmla="*/ 0 h 1268427"/>
              <a:gd name="connsiteX1" fmla="*/ 8725847 w 8725847"/>
              <a:gd name="connsiteY1" fmla="*/ 0 h 1268427"/>
              <a:gd name="connsiteX2" fmla="*/ 8725847 w 8725847"/>
              <a:gd name="connsiteY2" fmla="*/ 1268427 h 1268427"/>
              <a:gd name="connsiteX3" fmla="*/ 0 w 8725847"/>
              <a:gd name="connsiteY3" fmla="*/ 1255548 h 1268427"/>
              <a:gd name="connsiteX4" fmla="*/ 12879 w 8725847"/>
              <a:gd name="connsiteY4" fmla="*/ 0 h 12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847" h="1268427">
                <a:moveTo>
                  <a:pt x="12879" y="0"/>
                </a:moveTo>
                <a:lnTo>
                  <a:pt x="8725847" y="0"/>
                </a:lnTo>
                <a:lnTo>
                  <a:pt x="8725847" y="1268427"/>
                </a:lnTo>
                <a:lnTo>
                  <a:pt x="0" y="1255548"/>
                </a:lnTo>
                <a:lnTo>
                  <a:pt x="12879" y="0"/>
                </a:lnTo>
                <a:close/>
              </a:path>
            </a:pathLst>
          </a:custGeom>
          <a:noFill/>
          <a:ln w="28575">
            <a:solidFill>
              <a:schemeClr val="accent6"/>
            </a:solidFill>
          </a:ln>
        </p:spPr>
        <p:txBody>
          <a:bodyPr wrap="square" rtlCol="0">
            <a:spAutoFit/>
          </a:bodyPr>
          <a:lstStyle/>
          <a:p>
            <a:r>
              <a:rPr lang="en-GB" sz="2000" dirty="0"/>
              <a:t>In some chemical reactions, the products of the reaction can react to produce the original reactants. Such reactions are called </a:t>
            </a:r>
            <a:r>
              <a:rPr lang="en-GB" sz="2000" b="1" dirty="0">
                <a:solidFill>
                  <a:schemeClr val="accent6"/>
                </a:solidFill>
              </a:rPr>
              <a:t>reversible reactions </a:t>
            </a:r>
            <a:r>
              <a:rPr lang="en-GB" sz="2000" dirty="0"/>
              <a:t>and are represented </a:t>
            </a:r>
            <a:r>
              <a:rPr lang="en-GB" sz="2000" dirty="0" smtClean="0"/>
              <a:t>by:</a:t>
            </a:r>
          </a:p>
          <a:p>
            <a:pPr algn="ctr"/>
            <a:r>
              <a:rPr lang="en-GB" sz="2000" b="1" dirty="0" smtClean="0"/>
              <a:t>A  </a:t>
            </a:r>
            <a:r>
              <a:rPr lang="en-GB" sz="2000" b="1" dirty="0"/>
              <a:t>+  B        C  +  D</a:t>
            </a:r>
          </a:p>
          <a:p>
            <a:pPr algn="ctr"/>
            <a:endParaRPr lang="en-GB" sz="1000" b="1" dirty="0"/>
          </a:p>
        </p:txBody>
      </p:sp>
      <p:pic>
        <p:nvPicPr>
          <p:cNvPr id="6" name="Picture 5"/>
          <p:cNvPicPr/>
          <p:nvPr/>
        </p:nvPicPr>
        <p:blipFill>
          <a:blip r:embed="rId3"/>
          <a:stretch>
            <a:fillRect/>
          </a:stretch>
        </p:blipFill>
        <p:spPr>
          <a:xfrm>
            <a:off x="4355975" y="1658088"/>
            <a:ext cx="360040" cy="439018"/>
          </a:xfrm>
          <a:prstGeom prst="rect">
            <a:avLst/>
          </a:prstGeom>
        </p:spPr>
      </p:pic>
      <p:sp>
        <p:nvSpPr>
          <p:cNvPr id="12" name="TextBox 11"/>
          <p:cNvSpPr txBox="1"/>
          <p:nvPr/>
        </p:nvSpPr>
        <p:spPr>
          <a:xfrm>
            <a:off x="179511" y="2205506"/>
            <a:ext cx="8687211" cy="1015663"/>
          </a:xfrm>
          <a:custGeom>
            <a:avLst/>
            <a:gdLst>
              <a:gd name="connsiteX0" fmla="*/ 0 w 8725847"/>
              <a:gd name="connsiteY0" fmla="*/ 0 h 612071"/>
              <a:gd name="connsiteX1" fmla="*/ 8725847 w 8725847"/>
              <a:gd name="connsiteY1" fmla="*/ 0 h 612071"/>
              <a:gd name="connsiteX2" fmla="*/ 8725847 w 8725847"/>
              <a:gd name="connsiteY2" fmla="*/ 612071 h 612071"/>
              <a:gd name="connsiteX3" fmla="*/ 0 w 8725847"/>
              <a:gd name="connsiteY3" fmla="*/ 612071 h 612071"/>
              <a:gd name="connsiteX4" fmla="*/ 0 w 8725847"/>
              <a:gd name="connsiteY4" fmla="*/ 0 h 612071"/>
              <a:gd name="connsiteX0" fmla="*/ 12879 w 8725847"/>
              <a:gd name="connsiteY0" fmla="*/ 0 h 1835564"/>
              <a:gd name="connsiteX1" fmla="*/ 8725847 w 8725847"/>
              <a:gd name="connsiteY1" fmla="*/ 1223493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25847"/>
              <a:gd name="connsiteY0" fmla="*/ 25758 h 1861322"/>
              <a:gd name="connsiteX1" fmla="*/ 8700090 w 8725847"/>
              <a:gd name="connsiteY1" fmla="*/ 0 h 1861322"/>
              <a:gd name="connsiteX2" fmla="*/ 8725847 w 8725847"/>
              <a:gd name="connsiteY2" fmla="*/ 1861322 h 1861322"/>
              <a:gd name="connsiteX3" fmla="*/ 0 w 8725847"/>
              <a:gd name="connsiteY3" fmla="*/ 1861322 h 1861322"/>
              <a:gd name="connsiteX4" fmla="*/ 12879 w 8725847"/>
              <a:gd name="connsiteY4" fmla="*/ 25758 h 1861322"/>
              <a:gd name="connsiteX0" fmla="*/ 12879 w 8725847"/>
              <a:gd name="connsiteY0" fmla="*/ 0 h 1835564"/>
              <a:gd name="connsiteX1" fmla="*/ 8700090 w 8725847"/>
              <a:gd name="connsiteY1" fmla="*/ 0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00090"/>
              <a:gd name="connsiteY0" fmla="*/ 0 h 1835564"/>
              <a:gd name="connsiteX1" fmla="*/ 8700090 w 8700090"/>
              <a:gd name="connsiteY1" fmla="*/ 0 h 1835564"/>
              <a:gd name="connsiteX2" fmla="*/ 8700089 w 8700090"/>
              <a:gd name="connsiteY2" fmla="*/ 599192 h 1835564"/>
              <a:gd name="connsiteX3" fmla="*/ 0 w 8700090"/>
              <a:gd name="connsiteY3" fmla="*/ 1835564 h 1835564"/>
              <a:gd name="connsiteX4" fmla="*/ 12879 w 8700090"/>
              <a:gd name="connsiteY4" fmla="*/ 0 h 1835564"/>
              <a:gd name="connsiteX0" fmla="*/ 0 w 8687211"/>
              <a:gd name="connsiteY0" fmla="*/ 0 h 676466"/>
              <a:gd name="connsiteX1" fmla="*/ 8687211 w 8687211"/>
              <a:gd name="connsiteY1" fmla="*/ 0 h 676466"/>
              <a:gd name="connsiteX2" fmla="*/ 8687210 w 8687211"/>
              <a:gd name="connsiteY2" fmla="*/ 599192 h 676466"/>
              <a:gd name="connsiteX3" fmla="*/ 0 w 8687211"/>
              <a:gd name="connsiteY3" fmla="*/ 676466 h 676466"/>
              <a:gd name="connsiteX4" fmla="*/ 0 w 8687211"/>
              <a:gd name="connsiteY4" fmla="*/ 0 h 676466"/>
              <a:gd name="connsiteX0" fmla="*/ 0 w 8687211"/>
              <a:gd name="connsiteY0" fmla="*/ 0 h 663587"/>
              <a:gd name="connsiteX1" fmla="*/ 8687211 w 8687211"/>
              <a:gd name="connsiteY1" fmla="*/ 0 h 663587"/>
              <a:gd name="connsiteX2" fmla="*/ 8687210 w 8687211"/>
              <a:gd name="connsiteY2" fmla="*/ 599192 h 663587"/>
              <a:gd name="connsiteX3" fmla="*/ 0 w 8687211"/>
              <a:gd name="connsiteY3" fmla="*/ 663587 h 663587"/>
              <a:gd name="connsiteX4" fmla="*/ 0 w 8687211"/>
              <a:gd name="connsiteY4" fmla="*/ 0 h 663587"/>
              <a:gd name="connsiteX0" fmla="*/ 0 w 8687211"/>
              <a:gd name="connsiteY0" fmla="*/ 0 h 637829"/>
              <a:gd name="connsiteX1" fmla="*/ 8687211 w 8687211"/>
              <a:gd name="connsiteY1" fmla="*/ 0 h 637829"/>
              <a:gd name="connsiteX2" fmla="*/ 8687210 w 8687211"/>
              <a:gd name="connsiteY2" fmla="*/ 599192 h 637829"/>
              <a:gd name="connsiteX3" fmla="*/ 0 w 8687211"/>
              <a:gd name="connsiteY3" fmla="*/ 637829 h 637829"/>
              <a:gd name="connsiteX4" fmla="*/ 0 w 8687211"/>
              <a:gd name="connsiteY4" fmla="*/ 0 h 637829"/>
              <a:gd name="connsiteX0" fmla="*/ 0 w 8687211"/>
              <a:gd name="connsiteY0" fmla="*/ 0 h 612071"/>
              <a:gd name="connsiteX1" fmla="*/ 8687211 w 8687211"/>
              <a:gd name="connsiteY1" fmla="*/ 0 h 612071"/>
              <a:gd name="connsiteX2" fmla="*/ 8687210 w 8687211"/>
              <a:gd name="connsiteY2" fmla="*/ 599192 h 612071"/>
              <a:gd name="connsiteX3" fmla="*/ 0 w 8687211"/>
              <a:gd name="connsiteY3" fmla="*/ 612071 h 612071"/>
              <a:gd name="connsiteX4" fmla="*/ 0 w 8687211"/>
              <a:gd name="connsiteY4" fmla="*/ 0 h 612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7211" h="612071">
                <a:moveTo>
                  <a:pt x="0" y="0"/>
                </a:moveTo>
                <a:lnTo>
                  <a:pt x="8687211" y="0"/>
                </a:lnTo>
                <a:cubicBezTo>
                  <a:pt x="8687211" y="199731"/>
                  <a:pt x="8687210" y="399461"/>
                  <a:pt x="8687210" y="599192"/>
                </a:cubicBezTo>
                <a:lnTo>
                  <a:pt x="0" y="612071"/>
                </a:lnTo>
                <a:lnTo>
                  <a:pt x="0" y="0"/>
                </a:lnTo>
                <a:close/>
              </a:path>
            </a:pathLst>
          </a:custGeom>
          <a:noFill/>
        </p:spPr>
        <p:txBody>
          <a:bodyPr wrap="square" rtlCol="0">
            <a:spAutoFit/>
          </a:bodyPr>
          <a:lstStyle/>
          <a:p>
            <a:r>
              <a:rPr lang="en-GB" sz="2000" dirty="0"/>
              <a:t>This is different to the usual </a:t>
            </a:r>
            <a:r>
              <a:rPr lang="en-GB" sz="2000" dirty="0">
                <a:sym typeface="Wingdings" panose="05000000000000000000" pitchFamily="2" charset="2"/>
              </a:rPr>
              <a:t> or = sign. With these all the reactants change to products in the reaction, but in </a:t>
            </a:r>
            <a:r>
              <a:rPr lang="en-GB" sz="2000" b="1" dirty="0">
                <a:solidFill>
                  <a:schemeClr val="accent6"/>
                </a:solidFill>
                <a:sym typeface="Wingdings" panose="05000000000000000000" pitchFamily="2" charset="2"/>
              </a:rPr>
              <a:t>reversible reactions </a:t>
            </a:r>
            <a:r>
              <a:rPr lang="en-GB" sz="2000" dirty="0">
                <a:sym typeface="Wingdings" panose="05000000000000000000" pitchFamily="2" charset="2"/>
              </a:rPr>
              <a:t>there are always </a:t>
            </a:r>
            <a:r>
              <a:rPr lang="en-GB" sz="2000" b="1" dirty="0">
                <a:solidFill>
                  <a:schemeClr val="accent6"/>
                </a:solidFill>
                <a:sym typeface="Wingdings" panose="05000000000000000000" pitchFamily="2" charset="2"/>
              </a:rPr>
              <a:t>some reactants </a:t>
            </a:r>
            <a:r>
              <a:rPr lang="en-GB" sz="2000" dirty="0">
                <a:sym typeface="Wingdings" panose="05000000000000000000" pitchFamily="2" charset="2"/>
              </a:rPr>
              <a:t>and </a:t>
            </a:r>
            <a:r>
              <a:rPr lang="en-GB" sz="2000" b="1" dirty="0">
                <a:solidFill>
                  <a:schemeClr val="accent6"/>
                </a:solidFill>
                <a:sym typeface="Wingdings" panose="05000000000000000000" pitchFamily="2" charset="2"/>
              </a:rPr>
              <a:t>some products. </a:t>
            </a:r>
            <a:endParaRPr lang="en-GB" sz="2000" dirty="0"/>
          </a:p>
        </p:txBody>
      </p:sp>
      <p:sp>
        <p:nvSpPr>
          <p:cNvPr id="13" name="TextBox 12"/>
          <p:cNvSpPr txBox="1"/>
          <p:nvPr/>
        </p:nvSpPr>
        <p:spPr>
          <a:xfrm>
            <a:off x="179511" y="3178930"/>
            <a:ext cx="8713539" cy="1258182"/>
          </a:xfrm>
          <a:custGeom>
            <a:avLst/>
            <a:gdLst>
              <a:gd name="connsiteX0" fmla="*/ 0 w 8725847"/>
              <a:gd name="connsiteY0" fmla="*/ 0 h 923330"/>
              <a:gd name="connsiteX1" fmla="*/ 8725847 w 8725847"/>
              <a:gd name="connsiteY1" fmla="*/ 0 h 923330"/>
              <a:gd name="connsiteX2" fmla="*/ 8725847 w 8725847"/>
              <a:gd name="connsiteY2" fmla="*/ 923330 h 923330"/>
              <a:gd name="connsiteX3" fmla="*/ 0 w 8725847"/>
              <a:gd name="connsiteY3" fmla="*/ 923330 h 923330"/>
              <a:gd name="connsiteX4" fmla="*/ 0 w 8725847"/>
              <a:gd name="connsiteY4" fmla="*/ 0 h 923330"/>
              <a:gd name="connsiteX0" fmla="*/ 12878 w 8738725"/>
              <a:gd name="connsiteY0" fmla="*/ 0 h 1245302"/>
              <a:gd name="connsiteX1" fmla="*/ 8738725 w 8738725"/>
              <a:gd name="connsiteY1" fmla="*/ 0 h 1245302"/>
              <a:gd name="connsiteX2" fmla="*/ 8738725 w 8738725"/>
              <a:gd name="connsiteY2" fmla="*/ 923330 h 1245302"/>
              <a:gd name="connsiteX3" fmla="*/ 0 w 8738725"/>
              <a:gd name="connsiteY3" fmla="*/ 1245302 h 1245302"/>
              <a:gd name="connsiteX4" fmla="*/ 12878 w 8738725"/>
              <a:gd name="connsiteY4" fmla="*/ 0 h 1245302"/>
              <a:gd name="connsiteX0" fmla="*/ 12878 w 8738725"/>
              <a:gd name="connsiteY0" fmla="*/ 0 h 1271060"/>
              <a:gd name="connsiteX1" fmla="*/ 8738725 w 8738725"/>
              <a:gd name="connsiteY1" fmla="*/ 0 h 1271060"/>
              <a:gd name="connsiteX2" fmla="*/ 8725846 w 8738725"/>
              <a:gd name="connsiteY2" fmla="*/ 1271060 h 1271060"/>
              <a:gd name="connsiteX3" fmla="*/ 0 w 8738725"/>
              <a:gd name="connsiteY3" fmla="*/ 1245302 h 1271060"/>
              <a:gd name="connsiteX4" fmla="*/ 12878 w 8738725"/>
              <a:gd name="connsiteY4" fmla="*/ 0 h 1271060"/>
              <a:gd name="connsiteX0" fmla="*/ 12878 w 8738725"/>
              <a:gd name="connsiteY0" fmla="*/ 0 h 1245302"/>
              <a:gd name="connsiteX1" fmla="*/ 8738725 w 8738725"/>
              <a:gd name="connsiteY1" fmla="*/ 0 h 1245302"/>
              <a:gd name="connsiteX2" fmla="*/ 8725846 w 8738725"/>
              <a:gd name="connsiteY2" fmla="*/ 1245302 h 1245302"/>
              <a:gd name="connsiteX3" fmla="*/ 0 w 8738725"/>
              <a:gd name="connsiteY3" fmla="*/ 1245302 h 1245302"/>
              <a:gd name="connsiteX4" fmla="*/ 12878 w 8738725"/>
              <a:gd name="connsiteY4" fmla="*/ 0 h 1245302"/>
              <a:gd name="connsiteX0" fmla="*/ 12878 w 8738725"/>
              <a:gd name="connsiteY0" fmla="*/ 0 h 1245302"/>
              <a:gd name="connsiteX1" fmla="*/ 8738725 w 8738725"/>
              <a:gd name="connsiteY1" fmla="*/ 0 h 1245302"/>
              <a:gd name="connsiteX2" fmla="*/ 8738725 w 8738725"/>
              <a:gd name="connsiteY2" fmla="*/ 1245302 h 1245302"/>
              <a:gd name="connsiteX3" fmla="*/ 0 w 8738725"/>
              <a:gd name="connsiteY3" fmla="*/ 1245302 h 1245302"/>
              <a:gd name="connsiteX4" fmla="*/ 12878 w 8738725"/>
              <a:gd name="connsiteY4" fmla="*/ 0 h 1245302"/>
              <a:gd name="connsiteX0" fmla="*/ 0 w 8725847"/>
              <a:gd name="connsiteY0" fmla="*/ 0 h 1889246"/>
              <a:gd name="connsiteX1" fmla="*/ 8725847 w 8725847"/>
              <a:gd name="connsiteY1" fmla="*/ 0 h 1889246"/>
              <a:gd name="connsiteX2" fmla="*/ 8725847 w 8725847"/>
              <a:gd name="connsiteY2" fmla="*/ 1245302 h 1889246"/>
              <a:gd name="connsiteX3" fmla="*/ 1 w 8725847"/>
              <a:gd name="connsiteY3" fmla="*/ 1889246 h 1889246"/>
              <a:gd name="connsiteX4" fmla="*/ 0 w 8725847"/>
              <a:gd name="connsiteY4" fmla="*/ 0 h 1889246"/>
              <a:gd name="connsiteX0" fmla="*/ 0 w 8751604"/>
              <a:gd name="connsiteY0" fmla="*/ 0 h 1889246"/>
              <a:gd name="connsiteX1" fmla="*/ 8725847 w 8751604"/>
              <a:gd name="connsiteY1" fmla="*/ 0 h 1889246"/>
              <a:gd name="connsiteX2" fmla="*/ 8751604 w 8751604"/>
              <a:gd name="connsiteY2" fmla="*/ 1824851 h 1889246"/>
              <a:gd name="connsiteX3" fmla="*/ 1 w 8751604"/>
              <a:gd name="connsiteY3" fmla="*/ 1889246 h 1889246"/>
              <a:gd name="connsiteX4" fmla="*/ 0 w 8751604"/>
              <a:gd name="connsiteY4" fmla="*/ 0 h 1889246"/>
              <a:gd name="connsiteX0" fmla="*/ 0 w 8751604"/>
              <a:gd name="connsiteY0" fmla="*/ 0 h 1889246"/>
              <a:gd name="connsiteX1" fmla="*/ 8725847 w 8751604"/>
              <a:gd name="connsiteY1" fmla="*/ 0 h 1889246"/>
              <a:gd name="connsiteX2" fmla="*/ 8751604 w 8751604"/>
              <a:gd name="connsiteY2" fmla="*/ 1837730 h 1889246"/>
              <a:gd name="connsiteX3" fmla="*/ 1 w 8751604"/>
              <a:gd name="connsiteY3" fmla="*/ 1889246 h 1889246"/>
              <a:gd name="connsiteX4" fmla="*/ 0 w 8751604"/>
              <a:gd name="connsiteY4" fmla="*/ 0 h 1889246"/>
              <a:gd name="connsiteX0" fmla="*/ 0 w 8738725"/>
              <a:gd name="connsiteY0" fmla="*/ 0 h 1889246"/>
              <a:gd name="connsiteX1" fmla="*/ 8725847 w 8738725"/>
              <a:gd name="connsiteY1" fmla="*/ 0 h 1889246"/>
              <a:gd name="connsiteX2" fmla="*/ 8738725 w 8738725"/>
              <a:gd name="connsiteY2" fmla="*/ 1837730 h 1889246"/>
              <a:gd name="connsiteX3" fmla="*/ 1 w 8738725"/>
              <a:gd name="connsiteY3" fmla="*/ 1889246 h 1889246"/>
              <a:gd name="connsiteX4" fmla="*/ 0 w 8738725"/>
              <a:gd name="connsiteY4" fmla="*/ 0 h 1889246"/>
              <a:gd name="connsiteX0" fmla="*/ 0 w 8738725"/>
              <a:gd name="connsiteY0" fmla="*/ 0 h 1889246"/>
              <a:gd name="connsiteX1" fmla="*/ 8725847 w 8738725"/>
              <a:gd name="connsiteY1" fmla="*/ 901521 h 1889246"/>
              <a:gd name="connsiteX2" fmla="*/ 8738725 w 8738725"/>
              <a:gd name="connsiteY2" fmla="*/ 1837730 h 1889246"/>
              <a:gd name="connsiteX3" fmla="*/ 1 w 8738725"/>
              <a:gd name="connsiteY3" fmla="*/ 1889246 h 1889246"/>
              <a:gd name="connsiteX4" fmla="*/ 0 w 8738725"/>
              <a:gd name="connsiteY4" fmla="*/ 0 h 1889246"/>
              <a:gd name="connsiteX0" fmla="*/ 12877 w 8738724"/>
              <a:gd name="connsiteY0" fmla="*/ 38637 h 987725"/>
              <a:gd name="connsiteX1" fmla="*/ 8725846 w 8738724"/>
              <a:gd name="connsiteY1" fmla="*/ 0 h 987725"/>
              <a:gd name="connsiteX2" fmla="*/ 8738724 w 8738724"/>
              <a:gd name="connsiteY2" fmla="*/ 936209 h 987725"/>
              <a:gd name="connsiteX3" fmla="*/ 0 w 8738724"/>
              <a:gd name="connsiteY3" fmla="*/ 987725 h 987725"/>
              <a:gd name="connsiteX4" fmla="*/ 12877 w 8738724"/>
              <a:gd name="connsiteY4" fmla="*/ 38637 h 987725"/>
              <a:gd name="connsiteX0" fmla="*/ 25756 w 8738724"/>
              <a:gd name="connsiteY0" fmla="*/ 25758 h 987725"/>
              <a:gd name="connsiteX1" fmla="*/ 8725846 w 8738724"/>
              <a:gd name="connsiteY1" fmla="*/ 0 h 987725"/>
              <a:gd name="connsiteX2" fmla="*/ 8738724 w 8738724"/>
              <a:gd name="connsiteY2" fmla="*/ 936209 h 987725"/>
              <a:gd name="connsiteX3" fmla="*/ 0 w 8738724"/>
              <a:gd name="connsiteY3" fmla="*/ 987725 h 987725"/>
              <a:gd name="connsiteX4" fmla="*/ 25756 w 8738724"/>
              <a:gd name="connsiteY4" fmla="*/ 25758 h 987725"/>
              <a:gd name="connsiteX0" fmla="*/ 12877 w 8738724"/>
              <a:gd name="connsiteY0" fmla="*/ 25758 h 987725"/>
              <a:gd name="connsiteX1" fmla="*/ 8725846 w 8738724"/>
              <a:gd name="connsiteY1" fmla="*/ 0 h 987725"/>
              <a:gd name="connsiteX2" fmla="*/ 8738724 w 8738724"/>
              <a:gd name="connsiteY2" fmla="*/ 936209 h 987725"/>
              <a:gd name="connsiteX3" fmla="*/ 0 w 8738724"/>
              <a:gd name="connsiteY3" fmla="*/ 987725 h 987725"/>
              <a:gd name="connsiteX4" fmla="*/ 12877 w 8738724"/>
              <a:gd name="connsiteY4" fmla="*/ 25758 h 987725"/>
              <a:gd name="connsiteX0" fmla="*/ 0 w 8725847"/>
              <a:gd name="connsiteY0" fmla="*/ 25758 h 961968"/>
              <a:gd name="connsiteX1" fmla="*/ 8712969 w 8725847"/>
              <a:gd name="connsiteY1" fmla="*/ 0 h 961968"/>
              <a:gd name="connsiteX2" fmla="*/ 8725847 w 8725847"/>
              <a:gd name="connsiteY2" fmla="*/ 936209 h 961968"/>
              <a:gd name="connsiteX3" fmla="*/ 2 w 8725847"/>
              <a:gd name="connsiteY3" fmla="*/ 961968 h 961968"/>
              <a:gd name="connsiteX4" fmla="*/ 0 w 8725847"/>
              <a:gd name="connsiteY4" fmla="*/ 25758 h 961968"/>
              <a:gd name="connsiteX0" fmla="*/ 0 w 8725847"/>
              <a:gd name="connsiteY0" fmla="*/ 25758 h 949089"/>
              <a:gd name="connsiteX1" fmla="*/ 8712969 w 8725847"/>
              <a:gd name="connsiteY1" fmla="*/ 0 h 949089"/>
              <a:gd name="connsiteX2" fmla="*/ 8725847 w 8725847"/>
              <a:gd name="connsiteY2" fmla="*/ 936209 h 949089"/>
              <a:gd name="connsiteX3" fmla="*/ 2 w 8725847"/>
              <a:gd name="connsiteY3" fmla="*/ 949089 h 949089"/>
              <a:gd name="connsiteX4" fmla="*/ 0 w 8725847"/>
              <a:gd name="connsiteY4" fmla="*/ 25758 h 949089"/>
              <a:gd name="connsiteX0" fmla="*/ 0 w 8725847"/>
              <a:gd name="connsiteY0" fmla="*/ 25758 h 1258182"/>
              <a:gd name="connsiteX1" fmla="*/ 8712969 w 8725847"/>
              <a:gd name="connsiteY1" fmla="*/ 0 h 1258182"/>
              <a:gd name="connsiteX2" fmla="*/ 8725847 w 8725847"/>
              <a:gd name="connsiteY2" fmla="*/ 936209 h 1258182"/>
              <a:gd name="connsiteX3" fmla="*/ 2 w 8725847"/>
              <a:gd name="connsiteY3" fmla="*/ 1258182 h 1258182"/>
              <a:gd name="connsiteX4" fmla="*/ 0 w 8725847"/>
              <a:gd name="connsiteY4" fmla="*/ 25758 h 1258182"/>
              <a:gd name="connsiteX0" fmla="*/ 0 w 8713539"/>
              <a:gd name="connsiteY0" fmla="*/ 25758 h 1258182"/>
              <a:gd name="connsiteX1" fmla="*/ 8712969 w 8713539"/>
              <a:gd name="connsiteY1" fmla="*/ 0 h 1258182"/>
              <a:gd name="connsiteX2" fmla="*/ 8700090 w 8713539"/>
              <a:gd name="connsiteY2" fmla="*/ 1206665 h 1258182"/>
              <a:gd name="connsiteX3" fmla="*/ 2 w 8713539"/>
              <a:gd name="connsiteY3" fmla="*/ 1258182 h 1258182"/>
              <a:gd name="connsiteX4" fmla="*/ 0 w 8713539"/>
              <a:gd name="connsiteY4" fmla="*/ 25758 h 1258182"/>
              <a:gd name="connsiteX0" fmla="*/ 0 w 8713539"/>
              <a:gd name="connsiteY0" fmla="*/ 25758 h 1258182"/>
              <a:gd name="connsiteX1" fmla="*/ 8712969 w 8713539"/>
              <a:gd name="connsiteY1" fmla="*/ 0 h 1258182"/>
              <a:gd name="connsiteX2" fmla="*/ 8700090 w 8713539"/>
              <a:gd name="connsiteY2" fmla="*/ 1245302 h 1258182"/>
              <a:gd name="connsiteX3" fmla="*/ 2 w 8713539"/>
              <a:gd name="connsiteY3" fmla="*/ 1258182 h 1258182"/>
              <a:gd name="connsiteX4" fmla="*/ 0 w 8713539"/>
              <a:gd name="connsiteY4" fmla="*/ 25758 h 1258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3539" h="1258182">
                <a:moveTo>
                  <a:pt x="0" y="25758"/>
                </a:moveTo>
                <a:lnTo>
                  <a:pt x="8712969" y="0"/>
                </a:lnTo>
                <a:cubicBezTo>
                  <a:pt x="8717262" y="612577"/>
                  <a:pt x="8695797" y="632725"/>
                  <a:pt x="8700090" y="1245302"/>
                </a:cubicBezTo>
                <a:lnTo>
                  <a:pt x="2" y="1258182"/>
                </a:lnTo>
                <a:cubicBezTo>
                  <a:pt x="2" y="628433"/>
                  <a:pt x="0" y="655507"/>
                  <a:pt x="0" y="25758"/>
                </a:cubicBezTo>
                <a:close/>
              </a:path>
            </a:pathLst>
          </a:custGeom>
          <a:noFill/>
          <a:ln w="28575">
            <a:solidFill>
              <a:schemeClr val="accent6"/>
            </a:solidFill>
          </a:ln>
        </p:spPr>
        <p:txBody>
          <a:bodyPr wrap="square" rtlCol="0">
            <a:spAutoFit/>
          </a:bodyPr>
          <a:lstStyle/>
          <a:p>
            <a:r>
              <a:rPr lang="en-GB" dirty="0"/>
              <a:t>The direction of reversible reactions can be changed by changing the conditions e.g. </a:t>
            </a:r>
          </a:p>
          <a:p>
            <a:endParaRPr lang="en-GB" dirty="0"/>
          </a:p>
          <a:p>
            <a:pPr algn="ctr"/>
            <a:r>
              <a:rPr lang="en-GB" b="1" dirty="0"/>
              <a:t>Ammonium chloride                     ammonia  +  hydrogen chloride</a:t>
            </a:r>
          </a:p>
        </p:txBody>
      </p:sp>
      <p:sp>
        <p:nvSpPr>
          <p:cNvPr id="14" name="TextBox 13"/>
          <p:cNvSpPr txBox="1"/>
          <p:nvPr/>
        </p:nvSpPr>
        <p:spPr>
          <a:xfrm>
            <a:off x="3538130" y="3415409"/>
            <a:ext cx="941369" cy="304937"/>
          </a:xfrm>
          <a:custGeom>
            <a:avLst/>
            <a:gdLst>
              <a:gd name="connsiteX0" fmla="*/ 0 w 864096"/>
              <a:gd name="connsiteY0" fmla="*/ 0 h 369332"/>
              <a:gd name="connsiteX1" fmla="*/ 864096 w 864096"/>
              <a:gd name="connsiteY1" fmla="*/ 0 h 369332"/>
              <a:gd name="connsiteX2" fmla="*/ 864096 w 864096"/>
              <a:gd name="connsiteY2" fmla="*/ 369332 h 369332"/>
              <a:gd name="connsiteX3" fmla="*/ 0 w 864096"/>
              <a:gd name="connsiteY3" fmla="*/ 369332 h 369332"/>
              <a:gd name="connsiteX4" fmla="*/ 0 w 864096"/>
              <a:gd name="connsiteY4" fmla="*/ 0 h 369332"/>
              <a:gd name="connsiteX0" fmla="*/ 0 w 864096"/>
              <a:gd name="connsiteY0" fmla="*/ 0 h 1116306"/>
              <a:gd name="connsiteX1" fmla="*/ 864096 w 864096"/>
              <a:gd name="connsiteY1" fmla="*/ 0 h 1116306"/>
              <a:gd name="connsiteX2" fmla="*/ 864096 w 864096"/>
              <a:gd name="connsiteY2" fmla="*/ 369332 h 1116306"/>
              <a:gd name="connsiteX3" fmla="*/ 0 w 864096"/>
              <a:gd name="connsiteY3" fmla="*/ 1116306 h 1116306"/>
              <a:gd name="connsiteX4" fmla="*/ 0 w 864096"/>
              <a:gd name="connsiteY4" fmla="*/ 0 h 1116306"/>
              <a:gd name="connsiteX0" fmla="*/ 0 w 876974"/>
              <a:gd name="connsiteY0" fmla="*/ 0 h 1129185"/>
              <a:gd name="connsiteX1" fmla="*/ 864096 w 876974"/>
              <a:gd name="connsiteY1" fmla="*/ 0 h 1129185"/>
              <a:gd name="connsiteX2" fmla="*/ 876974 w 876974"/>
              <a:gd name="connsiteY2" fmla="*/ 1129185 h 1129185"/>
              <a:gd name="connsiteX3" fmla="*/ 0 w 876974"/>
              <a:gd name="connsiteY3" fmla="*/ 1116306 h 1129185"/>
              <a:gd name="connsiteX4" fmla="*/ 0 w 876974"/>
              <a:gd name="connsiteY4" fmla="*/ 0 h 1129185"/>
              <a:gd name="connsiteX0" fmla="*/ 0 w 902732"/>
              <a:gd name="connsiteY0" fmla="*/ 0 h 1129185"/>
              <a:gd name="connsiteX1" fmla="*/ 902732 w 902732"/>
              <a:gd name="connsiteY1" fmla="*/ 888643 h 1129185"/>
              <a:gd name="connsiteX2" fmla="*/ 876974 w 902732"/>
              <a:gd name="connsiteY2" fmla="*/ 1129185 h 1129185"/>
              <a:gd name="connsiteX3" fmla="*/ 0 w 902732"/>
              <a:gd name="connsiteY3" fmla="*/ 1116306 h 1129185"/>
              <a:gd name="connsiteX4" fmla="*/ 0 w 902732"/>
              <a:gd name="connsiteY4" fmla="*/ 0 h 1129185"/>
              <a:gd name="connsiteX0" fmla="*/ 0 w 928490"/>
              <a:gd name="connsiteY0" fmla="*/ 25757 h 240542"/>
              <a:gd name="connsiteX1" fmla="*/ 928490 w 928490"/>
              <a:gd name="connsiteY1" fmla="*/ 0 h 240542"/>
              <a:gd name="connsiteX2" fmla="*/ 902732 w 928490"/>
              <a:gd name="connsiteY2" fmla="*/ 240542 h 240542"/>
              <a:gd name="connsiteX3" fmla="*/ 25758 w 928490"/>
              <a:gd name="connsiteY3" fmla="*/ 227663 h 240542"/>
              <a:gd name="connsiteX4" fmla="*/ 0 w 928490"/>
              <a:gd name="connsiteY4" fmla="*/ 25757 h 240542"/>
              <a:gd name="connsiteX0" fmla="*/ 0 w 928490"/>
              <a:gd name="connsiteY0" fmla="*/ 25757 h 304936"/>
              <a:gd name="connsiteX1" fmla="*/ 928490 w 928490"/>
              <a:gd name="connsiteY1" fmla="*/ 0 h 304936"/>
              <a:gd name="connsiteX2" fmla="*/ 902732 w 928490"/>
              <a:gd name="connsiteY2" fmla="*/ 240542 h 304936"/>
              <a:gd name="connsiteX3" fmla="*/ 12879 w 928490"/>
              <a:gd name="connsiteY3" fmla="*/ 304936 h 304936"/>
              <a:gd name="connsiteX4" fmla="*/ 0 w 928490"/>
              <a:gd name="connsiteY4" fmla="*/ 25757 h 304936"/>
              <a:gd name="connsiteX0" fmla="*/ 0 w 928490"/>
              <a:gd name="connsiteY0" fmla="*/ 25757 h 330694"/>
              <a:gd name="connsiteX1" fmla="*/ 928490 w 928490"/>
              <a:gd name="connsiteY1" fmla="*/ 0 h 330694"/>
              <a:gd name="connsiteX2" fmla="*/ 902732 w 928490"/>
              <a:gd name="connsiteY2" fmla="*/ 330694 h 330694"/>
              <a:gd name="connsiteX3" fmla="*/ 12879 w 928490"/>
              <a:gd name="connsiteY3" fmla="*/ 304936 h 330694"/>
              <a:gd name="connsiteX4" fmla="*/ 0 w 928490"/>
              <a:gd name="connsiteY4" fmla="*/ 25757 h 330694"/>
              <a:gd name="connsiteX0" fmla="*/ 0 w 928490"/>
              <a:gd name="connsiteY0" fmla="*/ 12878 h 317815"/>
              <a:gd name="connsiteX1" fmla="*/ 928490 w 928490"/>
              <a:gd name="connsiteY1" fmla="*/ 0 h 317815"/>
              <a:gd name="connsiteX2" fmla="*/ 902732 w 928490"/>
              <a:gd name="connsiteY2" fmla="*/ 317815 h 317815"/>
              <a:gd name="connsiteX3" fmla="*/ 12879 w 928490"/>
              <a:gd name="connsiteY3" fmla="*/ 292057 h 317815"/>
              <a:gd name="connsiteX4" fmla="*/ 0 w 928490"/>
              <a:gd name="connsiteY4" fmla="*/ 12878 h 317815"/>
              <a:gd name="connsiteX0" fmla="*/ 0 w 928490"/>
              <a:gd name="connsiteY0" fmla="*/ 12878 h 317815"/>
              <a:gd name="connsiteX1" fmla="*/ 928490 w 928490"/>
              <a:gd name="connsiteY1" fmla="*/ 0 h 317815"/>
              <a:gd name="connsiteX2" fmla="*/ 902732 w 928490"/>
              <a:gd name="connsiteY2" fmla="*/ 317815 h 317815"/>
              <a:gd name="connsiteX3" fmla="*/ 25758 w 928490"/>
              <a:gd name="connsiteY3" fmla="*/ 317815 h 317815"/>
              <a:gd name="connsiteX4" fmla="*/ 0 w 928490"/>
              <a:gd name="connsiteY4" fmla="*/ 12878 h 317815"/>
              <a:gd name="connsiteX0" fmla="*/ 0 w 941369"/>
              <a:gd name="connsiteY0" fmla="*/ 12878 h 317815"/>
              <a:gd name="connsiteX1" fmla="*/ 928490 w 941369"/>
              <a:gd name="connsiteY1" fmla="*/ 0 h 317815"/>
              <a:gd name="connsiteX2" fmla="*/ 941369 w 941369"/>
              <a:gd name="connsiteY2" fmla="*/ 304937 h 317815"/>
              <a:gd name="connsiteX3" fmla="*/ 25758 w 941369"/>
              <a:gd name="connsiteY3" fmla="*/ 317815 h 317815"/>
              <a:gd name="connsiteX4" fmla="*/ 0 w 941369"/>
              <a:gd name="connsiteY4" fmla="*/ 12878 h 317815"/>
              <a:gd name="connsiteX0" fmla="*/ 0 w 941369"/>
              <a:gd name="connsiteY0" fmla="*/ 12878 h 317815"/>
              <a:gd name="connsiteX1" fmla="*/ 928490 w 941369"/>
              <a:gd name="connsiteY1" fmla="*/ 0 h 317815"/>
              <a:gd name="connsiteX2" fmla="*/ 941369 w 941369"/>
              <a:gd name="connsiteY2" fmla="*/ 304937 h 317815"/>
              <a:gd name="connsiteX3" fmla="*/ 0 w 941369"/>
              <a:gd name="connsiteY3" fmla="*/ 317815 h 317815"/>
              <a:gd name="connsiteX4" fmla="*/ 0 w 941369"/>
              <a:gd name="connsiteY4" fmla="*/ 12878 h 317815"/>
              <a:gd name="connsiteX0" fmla="*/ 0 w 941369"/>
              <a:gd name="connsiteY0" fmla="*/ 12878 h 304937"/>
              <a:gd name="connsiteX1" fmla="*/ 928490 w 941369"/>
              <a:gd name="connsiteY1" fmla="*/ 0 h 304937"/>
              <a:gd name="connsiteX2" fmla="*/ 941369 w 941369"/>
              <a:gd name="connsiteY2" fmla="*/ 304937 h 304937"/>
              <a:gd name="connsiteX3" fmla="*/ 0 w 941369"/>
              <a:gd name="connsiteY3" fmla="*/ 304936 h 304937"/>
              <a:gd name="connsiteX4" fmla="*/ 0 w 941369"/>
              <a:gd name="connsiteY4" fmla="*/ 12878 h 304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369" h="304937">
                <a:moveTo>
                  <a:pt x="0" y="12878"/>
                </a:moveTo>
                <a:lnTo>
                  <a:pt x="928490" y="0"/>
                </a:lnTo>
                <a:lnTo>
                  <a:pt x="941369" y="304937"/>
                </a:lnTo>
                <a:lnTo>
                  <a:pt x="0" y="304936"/>
                </a:lnTo>
                <a:lnTo>
                  <a:pt x="0" y="12878"/>
                </a:lnTo>
                <a:close/>
              </a:path>
            </a:pathLst>
          </a:custGeom>
          <a:noFill/>
        </p:spPr>
        <p:txBody>
          <a:bodyPr wrap="square" rtlCol="0">
            <a:spAutoFit/>
          </a:bodyPr>
          <a:lstStyle/>
          <a:p>
            <a:r>
              <a:rPr lang="en-GB" dirty="0"/>
              <a:t>  </a:t>
            </a:r>
            <a:r>
              <a:rPr lang="en-GB" b="1" dirty="0"/>
              <a:t>heat</a:t>
            </a:r>
          </a:p>
        </p:txBody>
      </p:sp>
      <p:pic>
        <p:nvPicPr>
          <p:cNvPr id="15" name="Picture 14"/>
          <p:cNvPicPr/>
          <p:nvPr/>
        </p:nvPicPr>
        <p:blipFill>
          <a:blip r:embed="rId3"/>
          <a:stretch>
            <a:fillRect/>
          </a:stretch>
        </p:blipFill>
        <p:spPr>
          <a:xfrm>
            <a:off x="3635896" y="3697954"/>
            <a:ext cx="843603" cy="288034"/>
          </a:xfrm>
          <a:prstGeom prst="rect">
            <a:avLst/>
          </a:prstGeom>
        </p:spPr>
      </p:pic>
      <p:sp>
        <p:nvSpPr>
          <p:cNvPr id="16" name="TextBox 15"/>
          <p:cNvSpPr txBox="1"/>
          <p:nvPr/>
        </p:nvSpPr>
        <p:spPr>
          <a:xfrm>
            <a:off x="3563794" y="3906190"/>
            <a:ext cx="889949" cy="316299"/>
          </a:xfrm>
          <a:custGeom>
            <a:avLst/>
            <a:gdLst>
              <a:gd name="connsiteX0" fmla="*/ 0 w 864096"/>
              <a:gd name="connsiteY0" fmla="*/ 0 h 369332"/>
              <a:gd name="connsiteX1" fmla="*/ 864096 w 864096"/>
              <a:gd name="connsiteY1" fmla="*/ 0 h 369332"/>
              <a:gd name="connsiteX2" fmla="*/ 864096 w 864096"/>
              <a:gd name="connsiteY2" fmla="*/ 369332 h 369332"/>
              <a:gd name="connsiteX3" fmla="*/ 0 w 864096"/>
              <a:gd name="connsiteY3" fmla="*/ 369332 h 369332"/>
              <a:gd name="connsiteX4" fmla="*/ 0 w 864096"/>
              <a:gd name="connsiteY4" fmla="*/ 0 h 369332"/>
              <a:gd name="connsiteX0" fmla="*/ 0 w 864096"/>
              <a:gd name="connsiteY0" fmla="*/ 0 h 1154944"/>
              <a:gd name="connsiteX1" fmla="*/ 864096 w 864096"/>
              <a:gd name="connsiteY1" fmla="*/ 0 h 1154944"/>
              <a:gd name="connsiteX2" fmla="*/ 864096 w 864096"/>
              <a:gd name="connsiteY2" fmla="*/ 369332 h 1154944"/>
              <a:gd name="connsiteX3" fmla="*/ 0 w 864096"/>
              <a:gd name="connsiteY3" fmla="*/ 1154944 h 1154944"/>
              <a:gd name="connsiteX4" fmla="*/ 0 w 864096"/>
              <a:gd name="connsiteY4" fmla="*/ 0 h 1154944"/>
              <a:gd name="connsiteX0" fmla="*/ 0 w 876975"/>
              <a:gd name="connsiteY0" fmla="*/ 0 h 1154944"/>
              <a:gd name="connsiteX1" fmla="*/ 864096 w 876975"/>
              <a:gd name="connsiteY1" fmla="*/ 0 h 1154944"/>
              <a:gd name="connsiteX2" fmla="*/ 876975 w 876975"/>
              <a:gd name="connsiteY2" fmla="*/ 1154944 h 1154944"/>
              <a:gd name="connsiteX3" fmla="*/ 0 w 876975"/>
              <a:gd name="connsiteY3" fmla="*/ 1154944 h 1154944"/>
              <a:gd name="connsiteX4" fmla="*/ 0 w 876975"/>
              <a:gd name="connsiteY4" fmla="*/ 0 h 1154944"/>
              <a:gd name="connsiteX0" fmla="*/ 0 w 889854"/>
              <a:gd name="connsiteY0" fmla="*/ 0 h 1154944"/>
              <a:gd name="connsiteX1" fmla="*/ 889854 w 889854"/>
              <a:gd name="connsiteY1" fmla="*/ 888643 h 1154944"/>
              <a:gd name="connsiteX2" fmla="*/ 876975 w 889854"/>
              <a:gd name="connsiteY2" fmla="*/ 1154944 h 1154944"/>
              <a:gd name="connsiteX3" fmla="*/ 0 w 889854"/>
              <a:gd name="connsiteY3" fmla="*/ 1154944 h 1154944"/>
              <a:gd name="connsiteX4" fmla="*/ 0 w 889854"/>
              <a:gd name="connsiteY4" fmla="*/ 0 h 1154944"/>
              <a:gd name="connsiteX0" fmla="*/ 38637 w 889854"/>
              <a:gd name="connsiteY0" fmla="*/ 0 h 279181"/>
              <a:gd name="connsiteX1" fmla="*/ 889854 w 889854"/>
              <a:gd name="connsiteY1" fmla="*/ 12880 h 279181"/>
              <a:gd name="connsiteX2" fmla="*/ 876975 w 889854"/>
              <a:gd name="connsiteY2" fmla="*/ 279181 h 279181"/>
              <a:gd name="connsiteX3" fmla="*/ 0 w 889854"/>
              <a:gd name="connsiteY3" fmla="*/ 279181 h 279181"/>
              <a:gd name="connsiteX4" fmla="*/ 38637 w 889854"/>
              <a:gd name="connsiteY4" fmla="*/ 0 h 279181"/>
              <a:gd name="connsiteX0" fmla="*/ 38637 w 889854"/>
              <a:gd name="connsiteY0" fmla="*/ 25757 h 304938"/>
              <a:gd name="connsiteX1" fmla="*/ 889854 w 889854"/>
              <a:gd name="connsiteY1" fmla="*/ 0 h 304938"/>
              <a:gd name="connsiteX2" fmla="*/ 876975 w 889854"/>
              <a:gd name="connsiteY2" fmla="*/ 304938 h 304938"/>
              <a:gd name="connsiteX3" fmla="*/ 0 w 889854"/>
              <a:gd name="connsiteY3" fmla="*/ 304938 h 304938"/>
              <a:gd name="connsiteX4" fmla="*/ 38637 w 889854"/>
              <a:gd name="connsiteY4" fmla="*/ 25757 h 304938"/>
              <a:gd name="connsiteX0" fmla="*/ 39255 w 890472"/>
              <a:gd name="connsiteY0" fmla="*/ 25757 h 316298"/>
              <a:gd name="connsiteX1" fmla="*/ 890472 w 890472"/>
              <a:gd name="connsiteY1" fmla="*/ 0 h 316298"/>
              <a:gd name="connsiteX2" fmla="*/ 877593 w 890472"/>
              <a:gd name="connsiteY2" fmla="*/ 304938 h 316298"/>
              <a:gd name="connsiteX3" fmla="*/ 618 w 890472"/>
              <a:gd name="connsiteY3" fmla="*/ 304938 h 316298"/>
              <a:gd name="connsiteX4" fmla="*/ 4177 w 890472"/>
              <a:gd name="connsiteY4" fmla="*/ 305200 h 316298"/>
              <a:gd name="connsiteX5" fmla="*/ 39255 w 890472"/>
              <a:gd name="connsiteY5" fmla="*/ 25757 h 316298"/>
              <a:gd name="connsiteX0" fmla="*/ 38732 w 889949"/>
              <a:gd name="connsiteY0" fmla="*/ 25757 h 316298"/>
              <a:gd name="connsiteX1" fmla="*/ 889949 w 889949"/>
              <a:gd name="connsiteY1" fmla="*/ 0 h 316298"/>
              <a:gd name="connsiteX2" fmla="*/ 877070 w 889949"/>
              <a:gd name="connsiteY2" fmla="*/ 304938 h 316298"/>
              <a:gd name="connsiteX3" fmla="*/ 95 w 889949"/>
              <a:gd name="connsiteY3" fmla="*/ 304938 h 316298"/>
              <a:gd name="connsiteX4" fmla="*/ 68048 w 889949"/>
              <a:gd name="connsiteY4" fmla="*/ 305200 h 316298"/>
              <a:gd name="connsiteX5" fmla="*/ 38732 w 889949"/>
              <a:gd name="connsiteY5" fmla="*/ 25757 h 316298"/>
              <a:gd name="connsiteX0" fmla="*/ 38732 w 889949"/>
              <a:gd name="connsiteY0" fmla="*/ 0 h 316299"/>
              <a:gd name="connsiteX1" fmla="*/ 889949 w 889949"/>
              <a:gd name="connsiteY1" fmla="*/ 1 h 316299"/>
              <a:gd name="connsiteX2" fmla="*/ 877070 w 889949"/>
              <a:gd name="connsiteY2" fmla="*/ 304939 h 316299"/>
              <a:gd name="connsiteX3" fmla="*/ 95 w 889949"/>
              <a:gd name="connsiteY3" fmla="*/ 304939 h 316299"/>
              <a:gd name="connsiteX4" fmla="*/ 68048 w 889949"/>
              <a:gd name="connsiteY4" fmla="*/ 305201 h 316299"/>
              <a:gd name="connsiteX5" fmla="*/ 38732 w 889949"/>
              <a:gd name="connsiteY5" fmla="*/ 0 h 316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949" h="316299">
                <a:moveTo>
                  <a:pt x="38732" y="0"/>
                </a:moveTo>
                <a:lnTo>
                  <a:pt x="889949" y="1"/>
                </a:lnTo>
                <a:lnTo>
                  <a:pt x="877070" y="304939"/>
                </a:lnTo>
                <a:lnTo>
                  <a:pt x="95" y="304939"/>
                </a:lnTo>
                <a:cubicBezTo>
                  <a:pt x="-3012" y="266390"/>
                  <a:pt x="71155" y="343750"/>
                  <a:pt x="68048" y="305201"/>
                </a:cubicBezTo>
                <a:lnTo>
                  <a:pt x="38732" y="0"/>
                </a:lnTo>
                <a:close/>
              </a:path>
            </a:pathLst>
          </a:custGeom>
          <a:noFill/>
        </p:spPr>
        <p:txBody>
          <a:bodyPr wrap="square" rtlCol="0">
            <a:spAutoFit/>
          </a:bodyPr>
          <a:lstStyle/>
          <a:p>
            <a:r>
              <a:rPr lang="en-GB" dirty="0"/>
              <a:t>   </a:t>
            </a:r>
            <a:r>
              <a:rPr lang="en-GB" b="1" dirty="0"/>
              <a:t>cool</a:t>
            </a:r>
          </a:p>
        </p:txBody>
      </p:sp>
      <p:sp>
        <p:nvSpPr>
          <p:cNvPr id="5" name="TextBox 4"/>
          <p:cNvSpPr txBox="1"/>
          <p:nvPr/>
        </p:nvSpPr>
        <p:spPr>
          <a:xfrm>
            <a:off x="179511" y="4437112"/>
            <a:ext cx="8712968" cy="1631216"/>
          </a:xfrm>
          <a:prstGeom prst="rect">
            <a:avLst/>
          </a:prstGeom>
          <a:noFill/>
        </p:spPr>
        <p:txBody>
          <a:bodyPr wrap="square" rtlCol="0">
            <a:spAutoFit/>
          </a:bodyPr>
          <a:lstStyle/>
          <a:p>
            <a:r>
              <a:rPr lang="en-GB" sz="2000" dirty="0"/>
              <a:t>The reaction above shows that if we heat up the reaction mixture, more ammonium chloride will break down to give ammonia and hydrogen chloride. This is very useful if we are trying to make either of these chemicals.</a:t>
            </a:r>
          </a:p>
          <a:p>
            <a:r>
              <a:rPr lang="en-GB" sz="2000" dirty="0"/>
              <a:t>Conversely if we cool the reaction mixture down we will get more ammonia and hydrogen chloride combining together to make ammonium chloride.</a:t>
            </a:r>
          </a:p>
        </p:txBody>
      </p:sp>
    </p:spTree>
    <p:extLst>
      <p:ext uri="{BB962C8B-B14F-4D97-AF65-F5344CB8AC3E}">
        <p14:creationId xmlns:p14="http://schemas.microsoft.com/office/powerpoint/2010/main" val="200074928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3754" y="764704"/>
            <a:ext cx="8738726" cy="2077492"/>
          </a:xfrm>
          <a:custGeom>
            <a:avLst/>
            <a:gdLst>
              <a:gd name="connsiteX0" fmla="*/ 0 w 8712968"/>
              <a:gd name="connsiteY0" fmla="*/ 0 h 1200329"/>
              <a:gd name="connsiteX1" fmla="*/ 8712968 w 8712968"/>
              <a:gd name="connsiteY1" fmla="*/ 0 h 1200329"/>
              <a:gd name="connsiteX2" fmla="*/ 8712968 w 8712968"/>
              <a:gd name="connsiteY2" fmla="*/ 1200329 h 1200329"/>
              <a:gd name="connsiteX3" fmla="*/ 0 w 8712968"/>
              <a:gd name="connsiteY3" fmla="*/ 1200329 h 1200329"/>
              <a:gd name="connsiteX4" fmla="*/ 0 w 8712968"/>
              <a:gd name="connsiteY4" fmla="*/ 0 h 1200329"/>
              <a:gd name="connsiteX0" fmla="*/ 0 w 8712968"/>
              <a:gd name="connsiteY0" fmla="*/ 0 h 1573816"/>
              <a:gd name="connsiteX1" fmla="*/ 8712968 w 8712968"/>
              <a:gd name="connsiteY1" fmla="*/ 0 h 1573816"/>
              <a:gd name="connsiteX2" fmla="*/ 8712968 w 8712968"/>
              <a:gd name="connsiteY2" fmla="*/ 1200329 h 1573816"/>
              <a:gd name="connsiteX3" fmla="*/ 0 w 8712968"/>
              <a:gd name="connsiteY3" fmla="*/ 1573816 h 1573816"/>
              <a:gd name="connsiteX4" fmla="*/ 0 w 8712968"/>
              <a:gd name="connsiteY4" fmla="*/ 0 h 1573816"/>
              <a:gd name="connsiteX0" fmla="*/ 0 w 8712968"/>
              <a:gd name="connsiteY0" fmla="*/ 0 h 1586695"/>
              <a:gd name="connsiteX1" fmla="*/ 8712968 w 8712968"/>
              <a:gd name="connsiteY1" fmla="*/ 0 h 1586695"/>
              <a:gd name="connsiteX2" fmla="*/ 8712968 w 8712968"/>
              <a:gd name="connsiteY2" fmla="*/ 1586695 h 1586695"/>
              <a:gd name="connsiteX3" fmla="*/ 0 w 8712968"/>
              <a:gd name="connsiteY3" fmla="*/ 1573816 h 1586695"/>
              <a:gd name="connsiteX4" fmla="*/ 0 w 8712968"/>
              <a:gd name="connsiteY4" fmla="*/ 0 h 1586695"/>
              <a:gd name="connsiteX0" fmla="*/ 0 w 8712968"/>
              <a:gd name="connsiteY0" fmla="*/ 0 h 2063213"/>
              <a:gd name="connsiteX1" fmla="*/ 8712968 w 8712968"/>
              <a:gd name="connsiteY1" fmla="*/ 0 h 2063213"/>
              <a:gd name="connsiteX2" fmla="*/ 8712968 w 8712968"/>
              <a:gd name="connsiteY2" fmla="*/ 1586695 h 2063213"/>
              <a:gd name="connsiteX3" fmla="*/ 0 w 8712968"/>
              <a:gd name="connsiteY3" fmla="*/ 2063213 h 2063213"/>
              <a:gd name="connsiteX4" fmla="*/ 0 w 8712968"/>
              <a:gd name="connsiteY4" fmla="*/ 0 h 2063213"/>
              <a:gd name="connsiteX0" fmla="*/ 0 w 8712968"/>
              <a:gd name="connsiteY0" fmla="*/ 0 h 2063213"/>
              <a:gd name="connsiteX1" fmla="*/ 8712968 w 8712968"/>
              <a:gd name="connsiteY1" fmla="*/ 0 h 2063213"/>
              <a:gd name="connsiteX2" fmla="*/ 8712968 w 8712968"/>
              <a:gd name="connsiteY2" fmla="*/ 2063213 h 2063213"/>
              <a:gd name="connsiteX3" fmla="*/ 0 w 8712968"/>
              <a:gd name="connsiteY3" fmla="*/ 2063213 h 2063213"/>
              <a:gd name="connsiteX4" fmla="*/ 0 w 8712968"/>
              <a:gd name="connsiteY4" fmla="*/ 0 h 2063213"/>
              <a:gd name="connsiteX0" fmla="*/ 0 w 8712968"/>
              <a:gd name="connsiteY0" fmla="*/ 0 h 2926562"/>
              <a:gd name="connsiteX1" fmla="*/ 8712968 w 8712968"/>
              <a:gd name="connsiteY1" fmla="*/ 0 h 2926562"/>
              <a:gd name="connsiteX2" fmla="*/ 8712968 w 8712968"/>
              <a:gd name="connsiteY2" fmla="*/ 2063213 h 2926562"/>
              <a:gd name="connsiteX3" fmla="*/ 0 w 8712968"/>
              <a:gd name="connsiteY3" fmla="*/ 2926562 h 2926562"/>
              <a:gd name="connsiteX4" fmla="*/ 0 w 8712968"/>
              <a:gd name="connsiteY4" fmla="*/ 0 h 2926562"/>
              <a:gd name="connsiteX0" fmla="*/ 0 w 8729003"/>
              <a:gd name="connsiteY0" fmla="*/ 0 h 2926562"/>
              <a:gd name="connsiteX1" fmla="*/ 8712968 w 8729003"/>
              <a:gd name="connsiteY1" fmla="*/ 0 h 2926562"/>
              <a:gd name="connsiteX2" fmla="*/ 8729003 w 8729003"/>
              <a:gd name="connsiteY2" fmla="*/ 2818644 h 2926562"/>
              <a:gd name="connsiteX3" fmla="*/ 0 w 8729003"/>
              <a:gd name="connsiteY3" fmla="*/ 2926562 h 2926562"/>
              <a:gd name="connsiteX4" fmla="*/ 0 w 8729003"/>
              <a:gd name="connsiteY4" fmla="*/ 0 h 2926562"/>
              <a:gd name="connsiteX0" fmla="*/ 0 w 8729003"/>
              <a:gd name="connsiteY0" fmla="*/ 0 h 2926562"/>
              <a:gd name="connsiteX1" fmla="*/ 8712968 w 8729003"/>
              <a:gd name="connsiteY1" fmla="*/ 0 h 2926562"/>
              <a:gd name="connsiteX2" fmla="*/ 8729003 w 8729003"/>
              <a:gd name="connsiteY2" fmla="*/ 2926562 h 2926562"/>
              <a:gd name="connsiteX3" fmla="*/ 0 w 8729003"/>
              <a:gd name="connsiteY3" fmla="*/ 2926562 h 2926562"/>
              <a:gd name="connsiteX4" fmla="*/ 0 w 8729003"/>
              <a:gd name="connsiteY4" fmla="*/ 0 h 2926562"/>
              <a:gd name="connsiteX0" fmla="*/ 16035 w 8745038"/>
              <a:gd name="connsiteY0" fmla="*/ 0 h 4202204"/>
              <a:gd name="connsiteX1" fmla="*/ 8729003 w 8745038"/>
              <a:gd name="connsiteY1" fmla="*/ 0 h 4202204"/>
              <a:gd name="connsiteX2" fmla="*/ 8745038 w 8745038"/>
              <a:gd name="connsiteY2" fmla="*/ 2926562 h 4202204"/>
              <a:gd name="connsiteX3" fmla="*/ 0 w 8745038"/>
              <a:gd name="connsiteY3" fmla="*/ 4202204 h 4202204"/>
              <a:gd name="connsiteX4" fmla="*/ 16035 w 8745038"/>
              <a:gd name="connsiteY4" fmla="*/ 0 h 4202204"/>
              <a:gd name="connsiteX0" fmla="*/ 16035 w 8745038"/>
              <a:gd name="connsiteY0" fmla="*/ 0 h 4202204"/>
              <a:gd name="connsiteX1" fmla="*/ 8729003 w 8745038"/>
              <a:gd name="connsiteY1" fmla="*/ 0 h 4202204"/>
              <a:gd name="connsiteX2" fmla="*/ 8745038 w 8745038"/>
              <a:gd name="connsiteY2" fmla="*/ 4176691 h 4202204"/>
              <a:gd name="connsiteX3" fmla="*/ 0 w 8745038"/>
              <a:gd name="connsiteY3" fmla="*/ 4202204 h 4202204"/>
              <a:gd name="connsiteX4" fmla="*/ 16035 w 8745038"/>
              <a:gd name="connsiteY4" fmla="*/ 0 h 4202204"/>
              <a:gd name="connsiteX0" fmla="*/ 16035 w 8745038"/>
              <a:gd name="connsiteY0" fmla="*/ 0 h 4227717"/>
              <a:gd name="connsiteX1" fmla="*/ 8729003 w 8745038"/>
              <a:gd name="connsiteY1" fmla="*/ 0 h 4227717"/>
              <a:gd name="connsiteX2" fmla="*/ 8745038 w 8745038"/>
              <a:gd name="connsiteY2" fmla="*/ 4227717 h 4227717"/>
              <a:gd name="connsiteX3" fmla="*/ 0 w 8745038"/>
              <a:gd name="connsiteY3" fmla="*/ 4202204 h 4227717"/>
              <a:gd name="connsiteX4" fmla="*/ 16035 w 8745038"/>
              <a:gd name="connsiteY4" fmla="*/ 0 h 4227717"/>
              <a:gd name="connsiteX0" fmla="*/ 16035 w 8745038"/>
              <a:gd name="connsiteY0" fmla="*/ 0 h 4227717"/>
              <a:gd name="connsiteX1" fmla="*/ 8729003 w 8745038"/>
              <a:gd name="connsiteY1" fmla="*/ 0 h 4227717"/>
              <a:gd name="connsiteX2" fmla="*/ 8745038 w 8745038"/>
              <a:gd name="connsiteY2" fmla="*/ 4227717 h 4227717"/>
              <a:gd name="connsiteX3" fmla="*/ 0 w 8745038"/>
              <a:gd name="connsiteY3" fmla="*/ 3972588 h 4227717"/>
              <a:gd name="connsiteX4" fmla="*/ 16035 w 8745038"/>
              <a:gd name="connsiteY4" fmla="*/ 0 h 4227717"/>
              <a:gd name="connsiteX0" fmla="*/ 16035 w 8729003"/>
              <a:gd name="connsiteY0" fmla="*/ 0 h 3972588"/>
              <a:gd name="connsiteX1" fmla="*/ 8729003 w 8729003"/>
              <a:gd name="connsiteY1" fmla="*/ 0 h 3972588"/>
              <a:gd name="connsiteX2" fmla="*/ 8729003 w 8729003"/>
              <a:gd name="connsiteY2" fmla="*/ 3972588 h 3972588"/>
              <a:gd name="connsiteX3" fmla="*/ 0 w 8729003"/>
              <a:gd name="connsiteY3" fmla="*/ 3972588 h 3972588"/>
              <a:gd name="connsiteX4" fmla="*/ 16035 w 8729003"/>
              <a:gd name="connsiteY4" fmla="*/ 0 h 3972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9003" h="3972588">
                <a:moveTo>
                  <a:pt x="16035" y="0"/>
                </a:moveTo>
                <a:lnTo>
                  <a:pt x="8729003" y="0"/>
                </a:lnTo>
                <a:lnTo>
                  <a:pt x="8729003" y="3972588"/>
                </a:lnTo>
                <a:lnTo>
                  <a:pt x="0" y="3972588"/>
                </a:lnTo>
                <a:lnTo>
                  <a:pt x="16035" y="0"/>
                </a:lnTo>
                <a:close/>
              </a:path>
            </a:pathLst>
          </a:custGeom>
          <a:noFill/>
          <a:ln w="28575">
            <a:solidFill>
              <a:schemeClr val="accent6"/>
            </a:solidFill>
          </a:ln>
        </p:spPr>
        <p:txBody>
          <a:bodyPr wrap="square" rtlCol="0">
            <a:spAutoFit/>
          </a:bodyPr>
          <a:lstStyle/>
          <a:p>
            <a:r>
              <a:rPr lang="en-GB" sz="2000" dirty="0"/>
              <a:t>If a reversible reaction is </a:t>
            </a:r>
            <a:r>
              <a:rPr lang="en-GB" sz="2000" b="1" dirty="0">
                <a:solidFill>
                  <a:schemeClr val="accent6"/>
                </a:solidFill>
              </a:rPr>
              <a:t>exothermic</a:t>
            </a:r>
            <a:r>
              <a:rPr lang="en-GB" sz="2000" dirty="0"/>
              <a:t> in one direction, it is </a:t>
            </a:r>
            <a:r>
              <a:rPr lang="en-GB" sz="2000" b="1" dirty="0">
                <a:solidFill>
                  <a:schemeClr val="accent6"/>
                </a:solidFill>
              </a:rPr>
              <a:t>endothermic</a:t>
            </a:r>
            <a:r>
              <a:rPr lang="en-GB" sz="2000" dirty="0"/>
              <a:t> in the opposite direction (they are reversible/opposites). The same amount of energy is transferred in each case e.g.</a:t>
            </a:r>
          </a:p>
          <a:p>
            <a:r>
              <a:rPr lang="en-GB" dirty="0"/>
              <a:t> </a:t>
            </a:r>
          </a:p>
          <a:p>
            <a:pPr algn="ctr"/>
            <a:r>
              <a:rPr lang="en-GB" sz="1700" b="1" dirty="0"/>
              <a:t>Hydrated copper </a:t>
            </a:r>
            <a:r>
              <a:rPr lang="en-GB" sz="1700" b="1" dirty="0" err="1"/>
              <a:t>sulfate</a:t>
            </a:r>
            <a:r>
              <a:rPr lang="en-GB" sz="1700" b="1" dirty="0"/>
              <a:t>                              anhydrous copper </a:t>
            </a:r>
            <a:r>
              <a:rPr lang="en-GB" sz="1700" b="1" dirty="0" err="1"/>
              <a:t>sulfate</a:t>
            </a:r>
            <a:r>
              <a:rPr lang="en-GB" sz="1700" b="1" dirty="0"/>
              <a:t>  +  water</a:t>
            </a:r>
          </a:p>
          <a:p>
            <a:endParaRPr lang="en-GB" sz="1700" b="1" dirty="0"/>
          </a:p>
          <a:p>
            <a:endParaRPr lang="en-GB" sz="1700" b="1" dirty="0"/>
          </a:p>
        </p:txBody>
      </p:sp>
      <p:pic>
        <p:nvPicPr>
          <p:cNvPr id="9" name="Picture 8"/>
          <p:cNvPicPr/>
          <p:nvPr/>
        </p:nvPicPr>
        <p:blipFill>
          <a:blip r:embed="rId3"/>
          <a:stretch>
            <a:fillRect/>
          </a:stretch>
        </p:blipFill>
        <p:spPr>
          <a:xfrm>
            <a:off x="3467259" y="1972636"/>
            <a:ext cx="1224136" cy="239831"/>
          </a:xfrm>
          <a:prstGeom prst="rect">
            <a:avLst/>
          </a:prstGeom>
        </p:spPr>
      </p:pic>
      <p:sp>
        <p:nvSpPr>
          <p:cNvPr id="6" name="TextBox 5"/>
          <p:cNvSpPr txBox="1"/>
          <p:nvPr/>
        </p:nvSpPr>
        <p:spPr>
          <a:xfrm>
            <a:off x="179512" y="2827748"/>
            <a:ext cx="8712968" cy="1323439"/>
          </a:xfrm>
          <a:custGeom>
            <a:avLst/>
            <a:gdLst>
              <a:gd name="connsiteX0" fmla="*/ 0 w 8712968"/>
              <a:gd name="connsiteY0" fmla="*/ 0 h 1200329"/>
              <a:gd name="connsiteX1" fmla="*/ 8712968 w 8712968"/>
              <a:gd name="connsiteY1" fmla="*/ 0 h 1200329"/>
              <a:gd name="connsiteX2" fmla="*/ 8712968 w 8712968"/>
              <a:gd name="connsiteY2" fmla="*/ 1200329 h 1200329"/>
              <a:gd name="connsiteX3" fmla="*/ 0 w 8712968"/>
              <a:gd name="connsiteY3" fmla="*/ 1200329 h 1200329"/>
              <a:gd name="connsiteX4" fmla="*/ 0 w 8712968"/>
              <a:gd name="connsiteY4" fmla="*/ 0 h 1200329"/>
              <a:gd name="connsiteX0" fmla="*/ 0 w 8712968"/>
              <a:gd name="connsiteY0" fmla="*/ 0 h 1663968"/>
              <a:gd name="connsiteX1" fmla="*/ 8712968 w 8712968"/>
              <a:gd name="connsiteY1" fmla="*/ 0 h 1663968"/>
              <a:gd name="connsiteX2" fmla="*/ 8712968 w 8712968"/>
              <a:gd name="connsiteY2" fmla="*/ 1200329 h 1663968"/>
              <a:gd name="connsiteX3" fmla="*/ 38637 w 8712968"/>
              <a:gd name="connsiteY3" fmla="*/ 1663968 h 1663968"/>
              <a:gd name="connsiteX4" fmla="*/ 0 w 8712968"/>
              <a:gd name="connsiteY4" fmla="*/ 0 h 1663968"/>
              <a:gd name="connsiteX0" fmla="*/ 0 w 8712968"/>
              <a:gd name="connsiteY0" fmla="*/ 0 h 1663968"/>
              <a:gd name="connsiteX1" fmla="*/ 8712968 w 8712968"/>
              <a:gd name="connsiteY1" fmla="*/ 0 h 1663968"/>
              <a:gd name="connsiteX2" fmla="*/ 8712968 w 8712968"/>
              <a:gd name="connsiteY2" fmla="*/ 1599574 h 1663968"/>
              <a:gd name="connsiteX3" fmla="*/ 38637 w 8712968"/>
              <a:gd name="connsiteY3" fmla="*/ 1663968 h 1663968"/>
              <a:gd name="connsiteX4" fmla="*/ 0 w 8712968"/>
              <a:gd name="connsiteY4" fmla="*/ 0 h 1663968"/>
              <a:gd name="connsiteX0" fmla="*/ 0 w 8712968"/>
              <a:gd name="connsiteY0" fmla="*/ 0 h 1728362"/>
              <a:gd name="connsiteX1" fmla="*/ 8712968 w 8712968"/>
              <a:gd name="connsiteY1" fmla="*/ 0 h 1728362"/>
              <a:gd name="connsiteX2" fmla="*/ 8700089 w 8712968"/>
              <a:gd name="connsiteY2" fmla="*/ 1728362 h 1728362"/>
              <a:gd name="connsiteX3" fmla="*/ 38637 w 8712968"/>
              <a:gd name="connsiteY3" fmla="*/ 1663968 h 1728362"/>
              <a:gd name="connsiteX4" fmla="*/ 0 w 8712968"/>
              <a:gd name="connsiteY4" fmla="*/ 0 h 1728362"/>
              <a:gd name="connsiteX0" fmla="*/ 0 w 8712968"/>
              <a:gd name="connsiteY0" fmla="*/ 0 h 1663968"/>
              <a:gd name="connsiteX1" fmla="*/ 8712968 w 8712968"/>
              <a:gd name="connsiteY1" fmla="*/ 0 h 1663968"/>
              <a:gd name="connsiteX2" fmla="*/ 8700089 w 8712968"/>
              <a:gd name="connsiteY2" fmla="*/ 1651089 h 1663968"/>
              <a:gd name="connsiteX3" fmla="*/ 38637 w 8712968"/>
              <a:gd name="connsiteY3" fmla="*/ 1663968 h 1663968"/>
              <a:gd name="connsiteX4" fmla="*/ 0 w 8712968"/>
              <a:gd name="connsiteY4" fmla="*/ 0 h 1663968"/>
              <a:gd name="connsiteX0" fmla="*/ 0 w 8712968"/>
              <a:gd name="connsiteY0" fmla="*/ 0 h 1741241"/>
              <a:gd name="connsiteX1" fmla="*/ 8712968 w 8712968"/>
              <a:gd name="connsiteY1" fmla="*/ 0 h 1741241"/>
              <a:gd name="connsiteX2" fmla="*/ 8700089 w 8712968"/>
              <a:gd name="connsiteY2" fmla="*/ 1741241 h 1741241"/>
              <a:gd name="connsiteX3" fmla="*/ 38637 w 8712968"/>
              <a:gd name="connsiteY3" fmla="*/ 1663968 h 1741241"/>
              <a:gd name="connsiteX4" fmla="*/ 0 w 8712968"/>
              <a:gd name="connsiteY4" fmla="*/ 0 h 1741241"/>
              <a:gd name="connsiteX0" fmla="*/ 0 w 8712968"/>
              <a:gd name="connsiteY0" fmla="*/ 0 h 1754120"/>
              <a:gd name="connsiteX1" fmla="*/ 8712968 w 8712968"/>
              <a:gd name="connsiteY1" fmla="*/ 0 h 1754120"/>
              <a:gd name="connsiteX2" fmla="*/ 8700089 w 8712968"/>
              <a:gd name="connsiteY2" fmla="*/ 1741241 h 1754120"/>
              <a:gd name="connsiteX3" fmla="*/ 0 w 8712968"/>
              <a:gd name="connsiteY3" fmla="*/ 1754120 h 1754120"/>
              <a:gd name="connsiteX4" fmla="*/ 0 w 8712968"/>
              <a:gd name="connsiteY4" fmla="*/ 0 h 1754120"/>
              <a:gd name="connsiteX0" fmla="*/ 0 w 8712968"/>
              <a:gd name="connsiteY0" fmla="*/ 334850 h 1754120"/>
              <a:gd name="connsiteX1" fmla="*/ 8712968 w 8712968"/>
              <a:gd name="connsiteY1" fmla="*/ 0 h 1754120"/>
              <a:gd name="connsiteX2" fmla="*/ 8700089 w 8712968"/>
              <a:gd name="connsiteY2" fmla="*/ 1741241 h 1754120"/>
              <a:gd name="connsiteX3" fmla="*/ 0 w 8712968"/>
              <a:gd name="connsiteY3" fmla="*/ 1754120 h 1754120"/>
              <a:gd name="connsiteX4" fmla="*/ 0 w 8712968"/>
              <a:gd name="connsiteY4" fmla="*/ 334850 h 1754120"/>
              <a:gd name="connsiteX0" fmla="*/ 0 w 8700089"/>
              <a:gd name="connsiteY0" fmla="*/ 38636 h 1457906"/>
              <a:gd name="connsiteX1" fmla="*/ 8687210 w 8700089"/>
              <a:gd name="connsiteY1" fmla="*/ 0 h 1457906"/>
              <a:gd name="connsiteX2" fmla="*/ 8700089 w 8700089"/>
              <a:gd name="connsiteY2" fmla="*/ 1445027 h 1457906"/>
              <a:gd name="connsiteX3" fmla="*/ 0 w 8700089"/>
              <a:gd name="connsiteY3" fmla="*/ 1457906 h 1457906"/>
              <a:gd name="connsiteX4" fmla="*/ 0 w 8700089"/>
              <a:gd name="connsiteY4" fmla="*/ 38636 h 1457906"/>
              <a:gd name="connsiteX0" fmla="*/ 0 w 8700089"/>
              <a:gd name="connsiteY0" fmla="*/ 0 h 1419270"/>
              <a:gd name="connsiteX1" fmla="*/ 8687210 w 8700089"/>
              <a:gd name="connsiteY1" fmla="*/ 12879 h 1419270"/>
              <a:gd name="connsiteX2" fmla="*/ 8700089 w 8700089"/>
              <a:gd name="connsiteY2" fmla="*/ 1406391 h 1419270"/>
              <a:gd name="connsiteX3" fmla="*/ 0 w 8700089"/>
              <a:gd name="connsiteY3" fmla="*/ 1419270 h 1419270"/>
              <a:gd name="connsiteX4" fmla="*/ 0 w 8700089"/>
              <a:gd name="connsiteY4" fmla="*/ 0 h 1419270"/>
              <a:gd name="connsiteX0" fmla="*/ 0 w 8700089"/>
              <a:gd name="connsiteY0" fmla="*/ 12879 h 1432149"/>
              <a:gd name="connsiteX1" fmla="*/ 8687210 w 8700089"/>
              <a:gd name="connsiteY1" fmla="*/ 0 h 1432149"/>
              <a:gd name="connsiteX2" fmla="*/ 8700089 w 8700089"/>
              <a:gd name="connsiteY2" fmla="*/ 1419270 h 1432149"/>
              <a:gd name="connsiteX3" fmla="*/ 0 w 8700089"/>
              <a:gd name="connsiteY3" fmla="*/ 1432149 h 1432149"/>
              <a:gd name="connsiteX4" fmla="*/ 0 w 8700089"/>
              <a:gd name="connsiteY4" fmla="*/ 12879 h 1432149"/>
              <a:gd name="connsiteX0" fmla="*/ 0 w 8700089"/>
              <a:gd name="connsiteY0" fmla="*/ 0 h 1419270"/>
              <a:gd name="connsiteX1" fmla="*/ 8687210 w 8700089"/>
              <a:gd name="connsiteY1" fmla="*/ 0 h 1419270"/>
              <a:gd name="connsiteX2" fmla="*/ 8700089 w 8700089"/>
              <a:gd name="connsiteY2" fmla="*/ 1406391 h 1419270"/>
              <a:gd name="connsiteX3" fmla="*/ 0 w 8700089"/>
              <a:gd name="connsiteY3" fmla="*/ 1419270 h 1419270"/>
              <a:gd name="connsiteX4" fmla="*/ 0 w 8700089"/>
              <a:gd name="connsiteY4" fmla="*/ 0 h 1419270"/>
              <a:gd name="connsiteX0" fmla="*/ 0 w 8700089"/>
              <a:gd name="connsiteY0" fmla="*/ 0 h 1419270"/>
              <a:gd name="connsiteX1" fmla="*/ 8700089 w 8700089"/>
              <a:gd name="connsiteY1" fmla="*/ 0 h 1419270"/>
              <a:gd name="connsiteX2" fmla="*/ 8700089 w 8700089"/>
              <a:gd name="connsiteY2" fmla="*/ 1406391 h 1419270"/>
              <a:gd name="connsiteX3" fmla="*/ 0 w 8700089"/>
              <a:gd name="connsiteY3" fmla="*/ 1419270 h 1419270"/>
              <a:gd name="connsiteX4" fmla="*/ 0 w 8700089"/>
              <a:gd name="connsiteY4" fmla="*/ 0 h 1419270"/>
              <a:gd name="connsiteX0" fmla="*/ 0 w 8712968"/>
              <a:gd name="connsiteY0" fmla="*/ 0 h 1419270"/>
              <a:gd name="connsiteX1" fmla="*/ 8700089 w 8712968"/>
              <a:gd name="connsiteY1" fmla="*/ 0 h 1419270"/>
              <a:gd name="connsiteX2" fmla="*/ 8712968 w 8712968"/>
              <a:gd name="connsiteY2" fmla="*/ 1419270 h 1419270"/>
              <a:gd name="connsiteX3" fmla="*/ 0 w 8712968"/>
              <a:gd name="connsiteY3" fmla="*/ 1419270 h 1419270"/>
              <a:gd name="connsiteX4" fmla="*/ 0 w 8712968"/>
              <a:gd name="connsiteY4" fmla="*/ 0 h 1419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2968" h="1419270">
                <a:moveTo>
                  <a:pt x="0" y="0"/>
                </a:moveTo>
                <a:lnTo>
                  <a:pt x="8700089" y="0"/>
                </a:lnTo>
                <a:lnTo>
                  <a:pt x="8712968" y="1419270"/>
                </a:lnTo>
                <a:lnTo>
                  <a:pt x="0" y="1419270"/>
                </a:lnTo>
                <a:lnTo>
                  <a:pt x="0" y="0"/>
                </a:lnTo>
                <a:close/>
              </a:path>
            </a:pathLst>
          </a:custGeom>
          <a:noFill/>
        </p:spPr>
        <p:txBody>
          <a:bodyPr wrap="square" rtlCol="0">
            <a:spAutoFit/>
          </a:bodyPr>
          <a:lstStyle/>
          <a:p>
            <a:r>
              <a:rPr lang="en-GB" sz="2000" dirty="0"/>
              <a:t>What will happen then in the above reaction if we heat it up</a:t>
            </a:r>
            <a:r>
              <a:rPr lang="en-GB" sz="2000" dirty="0" smtClean="0"/>
              <a:t>?</a:t>
            </a:r>
            <a:endParaRPr lang="en-GB" sz="2000" dirty="0"/>
          </a:p>
          <a:p>
            <a:r>
              <a:rPr lang="en-GB" sz="2000" dirty="0"/>
              <a:t>We will get more anhydrous copper </a:t>
            </a:r>
            <a:r>
              <a:rPr lang="en-GB" sz="2000" dirty="0" err="1"/>
              <a:t>sulfate</a:t>
            </a:r>
            <a:r>
              <a:rPr lang="en-GB" sz="2000" dirty="0"/>
              <a:t> and water, because the </a:t>
            </a:r>
            <a:r>
              <a:rPr lang="en-GB" sz="2000" b="1" dirty="0">
                <a:solidFill>
                  <a:schemeClr val="accent6"/>
                </a:solidFill>
              </a:rPr>
              <a:t>endothermic direction </a:t>
            </a:r>
            <a:r>
              <a:rPr lang="en-GB" sz="2000" dirty="0"/>
              <a:t>from left to right will </a:t>
            </a:r>
            <a:r>
              <a:rPr lang="en-GB" sz="2000" b="1" dirty="0">
                <a:solidFill>
                  <a:schemeClr val="accent6"/>
                </a:solidFill>
              </a:rPr>
              <a:t>absorb</a:t>
            </a:r>
            <a:r>
              <a:rPr lang="en-GB" sz="2000" dirty="0"/>
              <a:t> </a:t>
            </a:r>
            <a:r>
              <a:rPr lang="en-GB" sz="2000" b="1" dirty="0">
                <a:solidFill>
                  <a:schemeClr val="accent6"/>
                </a:solidFill>
              </a:rPr>
              <a:t>the heat </a:t>
            </a:r>
            <a:r>
              <a:rPr lang="en-GB" sz="2000" dirty="0"/>
              <a:t>we add</a:t>
            </a:r>
            <a:r>
              <a:rPr lang="en-GB" sz="2000" dirty="0" smtClean="0"/>
              <a:t>.</a:t>
            </a:r>
            <a:endParaRPr lang="en-GB" sz="2000" dirty="0"/>
          </a:p>
          <a:p>
            <a:r>
              <a:rPr lang="en-GB" sz="2000" dirty="0"/>
              <a:t>What will happen if we cool it down?</a:t>
            </a:r>
          </a:p>
        </p:txBody>
      </p:sp>
      <p:sp>
        <p:nvSpPr>
          <p:cNvPr id="10" name="TextBox 9"/>
          <p:cNvSpPr txBox="1"/>
          <p:nvPr/>
        </p:nvSpPr>
        <p:spPr>
          <a:xfrm>
            <a:off x="190128" y="4296816"/>
            <a:ext cx="3307103" cy="2044204"/>
          </a:xfrm>
          <a:custGeom>
            <a:avLst/>
            <a:gdLst>
              <a:gd name="connsiteX0" fmla="*/ 0 w 3384376"/>
              <a:gd name="connsiteY0" fmla="*/ 0 h 2031325"/>
              <a:gd name="connsiteX1" fmla="*/ 3384376 w 3384376"/>
              <a:gd name="connsiteY1" fmla="*/ 0 h 2031325"/>
              <a:gd name="connsiteX2" fmla="*/ 3384376 w 3384376"/>
              <a:gd name="connsiteY2" fmla="*/ 2031325 h 2031325"/>
              <a:gd name="connsiteX3" fmla="*/ 0 w 3384376"/>
              <a:gd name="connsiteY3" fmla="*/ 2031325 h 2031325"/>
              <a:gd name="connsiteX4" fmla="*/ 0 w 3384376"/>
              <a:gd name="connsiteY4" fmla="*/ 0 h 2031325"/>
              <a:gd name="connsiteX0" fmla="*/ 12879 w 3397255"/>
              <a:gd name="connsiteY0" fmla="*/ 0 h 2585117"/>
              <a:gd name="connsiteX1" fmla="*/ 3397255 w 3397255"/>
              <a:gd name="connsiteY1" fmla="*/ 0 h 2585117"/>
              <a:gd name="connsiteX2" fmla="*/ 3397255 w 3397255"/>
              <a:gd name="connsiteY2" fmla="*/ 2031325 h 2585117"/>
              <a:gd name="connsiteX3" fmla="*/ 0 w 3397255"/>
              <a:gd name="connsiteY3" fmla="*/ 2585117 h 2585117"/>
              <a:gd name="connsiteX4" fmla="*/ 12879 w 3397255"/>
              <a:gd name="connsiteY4" fmla="*/ 0 h 2585117"/>
              <a:gd name="connsiteX0" fmla="*/ 12879 w 3397255"/>
              <a:gd name="connsiteY0" fmla="*/ 0 h 2585117"/>
              <a:gd name="connsiteX1" fmla="*/ 3397255 w 3397255"/>
              <a:gd name="connsiteY1" fmla="*/ 0 h 2585117"/>
              <a:gd name="connsiteX2" fmla="*/ 3397255 w 3397255"/>
              <a:gd name="connsiteY2" fmla="*/ 2559359 h 2585117"/>
              <a:gd name="connsiteX3" fmla="*/ 0 w 3397255"/>
              <a:gd name="connsiteY3" fmla="*/ 2585117 h 2585117"/>
              <a:gd name="connsiteX4" fmla="*/ 12879 w 3397255"/>
              <a:gd name="connsiteY4" fmla="*/ 0 h 2585117"/>
              <a:gd name="connsiteX0" fmla="*/ 12879 w 3397255"/>
              <a:gd name="connsiteY0" fmla="*/ 0 h 2585117"/>
              <a:gd name="connsiteX1" fmla="*/ 3397255 w 3397255"/>
              <a:gd name="connsiteY1" fmla="*/ 0 h 2585117"/>
              <a:gd name="connsiteX2" fmla="*/ 3397255 w 3397255"/>
              <a:gd name="connsiteY2" fmla="*/ 2585117 h 2585117"/>
              <a:gd name="connsiteX3" fmla="*/ 0 w 3397255"/>
              <a:gd name="connsiteY3" fmla="*/ 2585117 h 2585117"/>
              <a:gd name="connsiteX4" fmla="*/ 12879 w 3397255"/>
              <a:gd name="connsiteY4" fmla="*/ 0 h 2585117"/>
              <a:gd name="connsiteX0" fmla="*/ 25758 w 3397255"/>
              <a:gd name="connsiteY0" fmla="*/ 566671 h 2585117"/>
              <a:gd name="connsiteX1" fmla="*/ 3397255 w 3397255"/>
              <a:gd name="connsiteY1" fmla="*/ 0 h 2585117"/>
              <a:gd name="connsiteX2" fmla="*/ 3397255 w 3397255"/>
              <a:gd name="connsiteY2" fmla="*/ 2585117 h 2585117"/>
              <a:gd name="connsiteX3" fmla="*/ 0 w 3397255"/>
              <a:gd name="connsiteY3" fmla="*/ 2585117 h 2585117"/>
              <a:gd name="connsiteX4" fmla="*/ 25758 w 3397255"/>
              <a:gd name="connsiteY4" fmla="*/ 566671 h 2585117"/>
              <a:gd name="connsiteX0" fmla="*/ 25758 w 3397255"/>
              <a:gd name="connsiteY0" fmla="*/ 0 h 2018446"/>
              <a:gd name="connsiteX1" fmla="*/ 3397255 w 3397255"/>
              <a:gd name="connsiteY1" fmla="*/ 12878 h 2018446"/>
              <a:gd name="connsiteX2" fmla="*/ 3397255 w 3397255"/>
              <a:gd name="connsiteY2" fmla="*/ 2018446 h 2018446"/>
              <a:gd name="connsiteX3" fmla="*/ 0 w 3397255"/>
              <a:gd name="connsiteY3" fmla="*/ 2018446 h 2018446"/>
              <a:gd name="connsiteX4" fmla="*/ 25758 w 3397255"/>
              <a:gd name="connsiteY4" fmla="*/ 0 h 2018446"/>
              <a:gd name="connsiteX0" fmla="*/ 25758 w 3397255"/>
              <a:gd name="connsiteY0" fmla="*/ 0 h 2224508"/>
              <a:gd name="connsiteX1" fmla="*/ 3397255 w 3397255"/>
              <a:gd name="connsiteY1" fmla="*/ 218940 h 2224508"/>
              <a:gd name="connsiteX2" fmla="*/ 3397255 w 3397255"/>
              <a:gd name="connsiteY2" fmla="*/ 2224508 h 2224508"/>
              <a:gd name="connsiteX3" fmla="*/ 0 w 3397255"/>
              <a:gd name="connsiteY3" fmla="*/ 2224508 h 2224508"/>
              <a:gd name="connsiteX4" fmla="*/ 25758 w 3397255"/>
              <a:gd name="connsiteY4" fmla="*/ 0 h 2224508"/>
              <a:gd name="connsiteX0" fmla="*/ 25758 w 3410134"/>
              <a:gd name="connsiteY0" fmla="*/ 0 h 2224508"/>
              <a:gd name="connsiteX1" fmla="*/ 3410134 w 3410134"/>
              <a:gd name="connsiteY1" fmla="*/ 25757 h 2224508"/>
              <a:gd name="connsiteX2" fmla="*/ 3397255 w 3410134"/>
              <a:gd name="connsiteY2" fmla="*/ 2224508 h 2224508"/>
              <a:gd name="connsiteX3" fmla="*/ 0 w 3410134"/>
              <a:gd name="connsiteY3" fmla="*/ 2224508 h 2224508"/>
              <a:gd name="connsiteX4" fmla="*/ 25758 w 3410134"/>
              <a:gd name="connsiteY4" fmla="*/ 0 h 2224508"/>
              <a:gd name="connsiteX0" fmla="*/ 25758 w 3410134"/>
              <a:gd name="connsiteY0" fmla="*/ 0 h 2224508"/>
              <a:gd name="connsiteX1" fmla="*/ 3410134 w 3410134"/>
              <a:gd name="connsiteY1" fmla="*/ 12878 h 2224508"/>
              <a:gd name="connsiteX2" fmla="*/ 3397255 w 3410134"/>
              <a:gd name="connsiteY2" fmla="*/ 2224508 h 2224508"/>
              <a:gd name="connsiteX3" fmla="*/ 0 w 3410134"/>
              <a:gd name="connsiteY3" fmla="*/ 2224508 h 2224508"/>
              <a:gd name="connsiteX4" fmla="*/ 25758 w 3410134"/>
              <a:gd name="connsiteY4" fmla="*/ 0 h 2224508"/>
              <a:gd name="connsiteX0" fmla="*/ 25758 w 3397255"/>
              <a:gd name="connsiteY0" fmla="*/ 0 h 2224508"/>
              <a:gd name="connsiteX1" fmla="*/ 3397255 w 3397255"/>
              <a:gd name="connsiteY1" fmla="*/ 12878 h 2224508"/>
              <a:gd name="connsiteX2" fmla="*/ 3397255 w 3397255"/>
              <a:gd name="connsiteY2" fmla="*/ 2224508 h 2224508"/>
              <a:gd name="connsiteX3" fmla="*/ 0 w 3397255"/>
              <a:gd name="connsiteY3" fmla="*/ 2224508 h 2224508"/>
              <a:gd name="connsiteX4" fmla="*/ 25758 w 3397255"/>
              <a:gd name="connsiteY4" fmla="*/ 0 h 2224508"/>
              <a:gd name="connsiteX0" fmla="*/ 25758 w 3397255"/>
              <a:gd name="connsiteY0" fmla="*/ 0 h 2379648"/>
              <a:gd name="connsiteX1" fmla="*/ 3397255 w 3397255"/>
              <a:gd name="connsiteY1" fmla="*/ 12878 h 2379648"/>
              <a:gd name="connsiteX2" fmla="*/ 3268466 w 3397255"/>
              <a:gd name="connsiteY2" fmla="*/ 2379648 h 2379648"/>
              <a:gd name="connsiteX3" fmla="*/ 0 w 3397255"/>
              <a:gd name="connsiteY3" fmla="*/ 2224508 h 2379648"/>
              <a:gd name="connsiteX4" fmla="*/ 25758 w 3397255"/>
              <a:gd name="connsiteY4" fmla="*/ 0 h 2379648"/>
              <a:gd name="connsiteX0" fmla="*/ 0 w 3371497"/>
              <a:gd name="connsiteY0" fmla="*/ 0 h 2379648"/>
              <a:gd name="connsiteX1" fmla="*/ 3371497 w 3371497"/>
              <a:gd name="connsiteY1" fmla="*/ 12878 h 2379648"/>
              <a:gd name="connsiteX2" fmla="*/ 3242708 w 3371497"/>
              <a:gd name="connsiteY2" fmla="*/ 2379648 h 2379648"/>
              <a:gd name="connsiteX3" fmla="*/ 38637 w 3371497"/>
              <a:gd name="connsiteY3" fmla="*/ 2365544 h 2379648"/>
              <a:gd name="connsiteX4" fmla="*/ 0 w 3371497"/>
              <a:gd name="connsiteY4" fmla="*/ 0 h 2379648"/>
              <a:gd name="connsiteX0" fmla="*/ 0 w 3371497"/>
              <a:gd name="connsiteY0" fmla="*/ 0 h 2379648"/>
              <a:gd name="connsiteX1" fmla="*/ 3371497 w 3371497"/>
              <a:gd name="connsiteY1" fmla="*/ 12878 h 2379648"/>
              <a:gd name="connsiteX2" fmla="*/ 3242708 w 3371497"/>
              <a:gd name="connsiteY2" fmla="*/ 2379648 h 2379648"/>
              <a:gd name="connsiteX3" fmla="*/ 38637 w 3371497"/>
              <a:gd name="connsiteY3" fmla="*/ 2365544 h 2379648"/>
              <a:gd name="connsiteX4" fmla="*/ 0 w 3371497"/>
              <a:gd name="connsiteY4" fmla="*/ 0 h 2379648"/>
              <a:gd name="connsiteX0" fmla="*/ 0 w 3371497"/>
              <a:gd name="connsiteY0" fmla="*/ 0 h 2379648"/>
              <a:gd name="connsiteX1" fmla="*/ 3371497 w 3371497"/>
              <a:gd name="connsiteY1" fmla="*/ 12878 h 2379648"/>
              <a:gd name="connsiteX2" fmla="*/ 3242708 w 3371497"/>
              <a:gd name="connsiteY2" fmla="*/ 2379648 h 2379648"/>
              <a:gd name="connsiteX3" fmla="*/ 38637 w 3371497"/>
              <a:gd name="connsiteY3" fmla="*/ 2379648 h 2379648"/>
              <a:gd name="connsiteX4" fmla="*/ 0 w 3371497"/>
              <a:gd name="connsiteY4" fmla="*/ 0 h 2379648"/>
              <a:gd name="connsiteX0" fmla="*/ 0 w 3242708"/>
              <a:gd name="connsiteY0" fmla="*/ 0 h 2379648"/>
              <a:gd name="connsiteX1" fmla="*/ 3229829 w 3242708"/>
              <a:gd name="connsiteY1" fmla="*/ 12878 h 2379648"/>
              <a:gd name="connsiteX2" fmla="*/ 3242708 w 3242708"/>
              <a:gd name="connsiteY2" fmla="*/ 2379648 h 2379648"/>
              <a:gd name="connsiteX3" fmla="*/ 38637 w 3242708"/>
              <a:gd name="connsiteY3" fmla="*/ 2379648 h 2379648"/>
              <a:gd name="connsiteX4" fmla="*/ 0 w 3242708"/>
              <a:gd name="connsiteY4" fmla="*/ 0 h 2379648"/>
              <a:gd name="connsiteX0" fmla="*/ 0 w 3242708"/>
              <a:gd name="connsiteY0" fmla="*/ 1224 h 2380872"/>
              <a:gd name="connsiteX1" fmla="*/ 3229829 w 3242708"/>
              <a:gd name="connsiteY1" fmla="*/ 0 h 2380872"/>
              <a:gd name="connsiteX2" fmla="*/ 3242708 w 3242708"/>
              <a:gd name="connsiteY2" fmla="*/ 2380872 h 2380872"/>
              <a:gd name="connsiteX3" fmla="*/ 38637 w 3242708"/>
              <a:gd name="connsiteY3" fmla="*/ 2380872 h 2380872"/>
              <a:gd name="connsiteX4" fmla="*/ 0 w 3242708"/>
              <a:gd name="connsiteY4" fmla="*/ 1224 h 2380872"/>
              <a:gd name="connsiteX0" fmla="*/ 12879 w 3255587"/>
              <a:gd name="connsiteY0" fmla="*/ 1224 h 2622393"/>
              <a:gd name="connsiteX1" fmla="*/ 3242708 w 3255587"/>
              <a:gd name="connsiteY1" fmla="*/ 0 h 2622393"/>
              <a:gd name="connsiteX2" fmla="*/ 3255587 w 3255587"/>
              <a:gd name="connsiteY2" fmla="*/ 2380872 h 2622393"/>
              <a:gd name="connsiteX3" fmla="*/ 0 w 3255587"/>
              <a:gd name="connsiteY3" fmla="*/ 2622393 h 2622393"/>
              <a:gd name="connsiteX4" fmla="*/ 12879 w 3255587"/>
              <a:gd name="connsiteY4" fmla="*/ 1224 h 2622393"/>
              <a:gd name="connsiteX0" fmla="*/ 12879 w 3307103"/>
              <a:gd name="connsiteY0" fmla="*/ 1224 h 2637488"/>
              <a:gd name="connsiteX1" fmla="*/ 3242708 w 3307103"/>
              <a:gd name="connsiteY1" fmla="*/ 0 h 2637488"/>
              <a:gd name="connsiteX2" fmla="*/ 3307103 w 3307103"/>
              <a:gd name="connsiteY2" fmla="*/ 2637488 h 2637488"/>
              <a:gd name="connsiteX3" fmla="*/ 0 w 3307103"/>
              <a:gd name="connsiteY3" fmla="*/ 2622393 h 2637488"/>
              <a:gd name="connsiteX4" fmla="*/ 12879 w 3307103"/>
              <a:gd name="connsiteY4" fmla="*/ 1224 h 2637488"/>
              <a:gd name="connsiteX0" fmla="*/ 12879 w 3307103"/>
              <a:gd name="connsiteY0" fmla="*/ 227649 h 2637488"/>
              <a:gd name="connsiteX1" fmla="*/ 3242708 w 3307103"/>
              <a:gd name="connsiteY1" fmla="*/ 0 h 2637488"/>
              <a:gd name="connsiteX2" fmla="*/ 3307103 w 3307103"/>
              <a:gd name="connsiteY2" fmla="*/ 2637488 h 2637488"/>
              <a:gd name="connsiteX3" fmla="*/ 0 w 3307103"/>
              <a:gd name="connsiteY3" fmla="*/ 2622393 h 2637488"/>
              <a:gd name="connsiteX4" fmla="*/ 12879 w 3307103"/>
              <a:gd name="connsiteY4" fmla="*/ 227649 h 2637488"/>
              <a:gd name="connsiteX0" fmla="*/ 12879 w 3307103"/>
              <a:gd name="connsiteY0" fmla="*/ 1223 h 2411062"/>
              <a:gd name="connsiteX1" fmla="*/ 3281345 w 3307103"/>
              <a:gd name="connsiteY1" fmla="*/ 0 h 2411062"/>
              <a:gd name="connsiteX2" fmla="*/ 3307103 w 3307103"/>
              <a:gd name="connsiteY2" fmla="*/ 2411062 h 2411062"/>
              <a:gd name="connsiteX3" fmla="*/ 0 w 3307103"/>
              <a:gd name="connsiteY3" fmla="*/ 2395967 h 2411062"/>
              <a:gd name="connsiteX4" fmla="*/ 12879 w 3307103"/>
              <a:gd name="connsiteY4" fmla="*/ 1223 h 2411062"/>
              <a:gd name="connsiteX0" fmla="*/ 12879 w 3307103"/>
              <a:gd name="connsiteY0" fmla="*/ 1223 h 2411062"/>
              <a:gd name="connsiteX1" fmla="*/ 3294224 w 3307103"/>
              <a:gd name="connsiteY1" fmla="*/ 0 h 2411062"/>
              <a:gd name="connsiteX2" fmla="*/ 3307103 w 3307103"/>
              <a:gd name="connsiteY2" fmla="*/ 2411062 h 2411062"/>
              <a:gd name="connsiteX3" fmla="*/ 0 w 3307103"/>
              <a:gd name="connsiteY3" fmla="*/ 2395967 h 2411062"/>
              <a:gd name="connsiteX4" fmla="*/ 12879 w 3307103"/>
              <a:gd name="connsiteY4" fmla="*/ 1223 h 2411062"/>
              <a:gd name="connsiteX0" fmla="*/ 12879 w 3307103"/>
              <a:gd name="connsiteY0" fmla="*/ 1223 h 2411062"/>
              <a:gd name="connsiteX1" fmla="*/ 3307103 w 3307103"/>
              <a:gd name="connsiteY1" fmla="*/ 0 h 2411062"/>
              <a:gd name="connsiteX2" fmla="*/ 3307103 w 3307103"/>
              <a:gd name="connsiteY2" fmla="*/ 2411062 h 2411062"/>
              <a:gd name="connsiteX3" fmla="*/ 0 w 3307103"/>
              <a:gd name="connsiteY3" fmla="*/ 2395967 h 2411062"/>
              <a:gd name="connsiteX4" fmla="*/ 12879 w 3307103"/>
              <a:gd name="connsiteY4" fmla="*/ 1223 h 2411062"/>
              <a:gd name="connsiteX0" fmla="*/ 12879 w 3307103"/>
              <a:gd name="connsiteY0" fmla="*/ 1223 h 2395967"/>
              <a:gd name="connsiteX1" fmla="*/ 3307103 w 3307103"/>
              <a:gd name="connsiteY1" fmla="*/ 0 h 2395967"/>
              <a:gd name="connsiteX2" fmla="*/ 3307103 w 3307103"/>
              <a:gd name="connsiteY2" fmla="*/ 2395967 h 2395967"/>
              <a:gd name="connsiteX3" fmla="*/ 0 w 3307103"/>
              <a:gd name="connsiteY3" fmla="*/ 2395967 h 2395967"/>
              <a:gd name="connsiteX4" fmla="*/ 12879 w 3307103"/>
              <a:gd name="connsiteY4" fmla="*/ 1223 h 2395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103" h="2395967">
                <a:moveTo>
                  <a:pt x="12879" y="1223"/>
                </a:moveTo>
                <a:lnTo>
                  <a:pt x="3307103" y="0"/>
                </a:lnTo>
                <a:lnTo>
                  <a:pt x="3307103" y="2395967"/>
                </a:lnTo>
                <a:lnTo>
                  <a:pt x="0" y="2395967"/>
                </a:lnTo>
                <a:lnTo>
                  <a:pt x="12879" y="1223"/>
                </a:lnTo>
                <a:close/>
              </a:path>
            </a:pathLst>
          </a:custGeom>
          <a:noFill/>
          <a:ln w="28575">
            <a:solidFill>
              <a:schemeClr val="accent6"/>
            </a:solidFill>
          </a:ln>
        </p:spPr>
        <p:txBody>
          <a:bodyPr wrap="square" rtlCol="0">
            <a:spAutoFit/>
          </a:bodyPr>
          <a:lstStyle/>
          <a:p>
            <a:pPr algn="ctr"/>
            <a:r>
              <a:rPr lang="en-GB" dirty="0"/>
              <a:t>When a reversible reaction occurs in apparatus which prevents the escape of reactants and products, </a:t>
            </a:r>
            <a:r>
              <a:rPr lang="en-GB" b="1" dirty="0">
                <a:solidFill>
                  <a:schemeClr val="accent6"/>
                </a:solidFill>
              </a:rPr>
              <a:t>equilibrium</a:t>
            </a:r>
            <a:r>
              <a:rPr lang="en-GB" dirty="0"/>
              <a:t> is reached </a:t>
            </a:r>
            <a:r>
              <a:rPr lang="en-GB" dirty="0" smtClean="0"/>
              <a:t>as </a:t>
            </a:r>
            <a:r>
              <a:rPr lang="en-GB" dirty="0"/>
              <a:t>the rate of the forward and reverse reactions occur at </a:t>
            </a:r>
            <a:r>
              <a:rPr lang="en-GB" b="1" dirty="0">
                <a:solidFill>
                  <a:schemeClr val="accent6"/>
                </a:solidFill>
              </a:rPr>
              <a:t>exactly the same rate</a:t>
            </a:r>
            <a:r>
              <a:rPr lang="en-GB" dirty="0"/>
              <a:t>. </a:t>
            </a:r>
          </a:p>
        </p:txBody>
      </p:sp>
      <p:sp>
        <p:nvSpPr>
          <p:cNvPr id="13" name="TextBox 12"/>
          <p:cNvSpPr txBox="1"/>
          <p:nvPr/>
        </p:nvSpPr>
        <p:spPr>
          <a:xfrm>
            <a:off x="3693787" y="4321977"/>
            <a:ext cx="5198693" cy="2031325"/>
          </a:xfrm>
          <a:custGeom>
            <a:avLst/>
            <a:gdLst>
              <a:gd name="connsiteX0" fmla="*/ 0 w 5184576"/>
              <a:gd name="connsiteY0" fmla="*/ 0 h 2448272"/>
              <a:gd name="connsiteX1" fmla="*/ 5184576 w 5184576"/>
              <a:gd name="connsiteY1" fmla="*/ 0 h 2448272"/>
              <a:gd name="connsiteX2" fmla="*/ 5184576 w 5184576"/>
              <a:gd name="connsiteY2" fmla="*/ 2448272 h 2448272"/>
              <a:gd name="connsiteX3" fmla="*/ 0 w 5184576"/>
              <a:gd name="connsiteY3" fmla="*/ 2448272 h 2448272"/>
              <a:gd name="connsiteX4" fmla="*/ 0 w 5184576"/>
              <a:gd name="connsiteY4" fmla="*/ 0 h 2448272"/>
              <a:gd name="connsiteX0" fmla="*/ 0 w 5184576"/>
              <a:gd name="connsiteY0" fmla="*/ 0 h 2589939"/>
              <a:gd name="connsiteX1" fmla="*/ 5184576 w 5184576"/>
              <a:gd name="connsiteY1" fmla="*/ 0 h 2589939"/>
              <a:gd name="connsiteX2" fmla="*/ 5184576 w 5184576"/>
              <a:gd name="connsiteY2" fmla="*/ 2448272 h 2589939"/>
              <a:gd name="connsiteX3" fmla="*/ 0 w 5184576"/>
              <a:gd name="connsiteY3" fmla="*/ 2589939 h 2589939"/>
              <a:gd name="connsiteX4" fmla="*/ 0 w 5184576"/>
              <a:gd name="connsiteY4" fmla="*/ 0 h 2589939"/>
              <a:gd name="connsiteX0" fmla="*/ 0 w 5184576"/>
              <a:gd name="connsiteY0" fmla="*/ 0 h 2589939"/>
              <a:gd name="connsiteX1" fmla="*/ 5184576 w 5184576"/>
              <a:gd name="connsiteY1" fmla="*/ 0 h 2589939"/>
              <a:gd name="connsiteX2" fmla="*/ 5184576 w 5184576"/>
              <a:gd name="connsiteY2" fmla="*/ 2577061 h 2589939"/>
              <a:gd name="connsiteX3" fmla="*/ 0 w 5184576"/>
              <a:gd name="connsiteY3" fmla="*/ 2589939 h 2589939"/>
              <a:gd name="connsiteX4" fmla="*/ 0 w 5184576"/>
              <a:gd name="connsiteY4" fmla="*/ 0 h 2589939"/>
              <a:gd name="connsiteX0" fmla="*/ 0 w 5184576"/>
              <a:gd name="connsiteY0" fmla="*/ 0 h 2589939"/>
              <a:gd name="connsiteX1" fmla="*/ 5184576 w 5184576"/>
              <a:gd name="connsiteY1" fmla="*/ 0 h 2589939"/>
              <a:gd name="connsiteX2" fmla="*/ 5184576 w 5184576"/>
              <a:gd name="connsiteY2" fmla="*/ 2589939 h 2589939"/>
              <a:gd name="connsiteX3" fmla="*/ 0 w 5184576"/>
              <a:gd name="connsiteY3" fmla="*/ 2589939 h 2589939"/>
              <a:gd name="connsiteX4" fmla="*/ 0 w 5184576"/>
              <a:gd name="connsiteY4" fmla="*/ 0 h 2589939"/>
              <a:gd name="connsiteX0" fmla="*/ 0 w 5184576"/>
              <a:gd name="connsiteY0" fmla="*/ 579549 h 2589939"/>
              <a:gd name="connsiteX1" fmla="*/ 5184576 w 5184576"/>
              <a:gd name="connsiteY1" fmla="*/ 0 h 2589939"/>
              <a:gd name="connsiteX2" fmla="*/ 5184576 w 5184576"/>
              <a:gd name="connsiteY2" fmla="*/ 2589939 h 2589939"/>
              <a:gd name="connsiteX3" fmla="*/ 0 w 5184576"/>
              <a:gd name="connsiteY3" fmla="*/ 2589939 h 2589939"/>
              <a:gd name="connsiteX4" fmla="*/ 0 w 5184576"/>
              <a:gd name="connsiteY4" fmla="*/ 579549 h 2589939"/>
              <a:gd name="connsiteX0" fmla="*/ 0 w 5184576"/>
              <a:gd name="connsiteY0" fmla="*/ 12879 h 2023269"/>
              <a:gd name="connsiteX1" fmla="*/ 5184576 w 5184576"/>
              <a:gd name="connsiteY1" fmla="*/ 0 h 2023269"/>
              <a:gd name="connsiteX2" fmla="*/ 5184576 w 5184576"/>
              <a:gd name="connsiteY2" fmla="*/ 2023269 h 2023269"/>
              <a:gd name="connsiteX3" fmla="*/ 0 w 5184576"/>
              <a:gd name="connsiteY3" fmla="*/ 2023269 h 2023269"/>
              <a:gd name="connsiteX4" fmla="*/ 0 w 5184576"/>
              <a:gd name="connsiteY4" fmla="*/ 12879 h 2023269"/>
              <a:gd name="connsiteX0" fmla="*/ 0 w 5184576"/>
              <a:gd name="connsiteY0" fmla="*/ 0 h 2203573"/>
              <a:gd name="connsiteX1" fmla="*/ 5184576 w 5184576"/>
              <a:gd name="connsiteY1" fmla="*/ 180304 h 2203573"/>
              <a:gd name="connsiteX2" fmla="*/ 5184576 w 5184576"/>
              <a:gd name="connsiteY2" fmla="*/ 2203573 h 2203573"/>
              <a:gd name="connsiteX3" fmla="*/ 0 w 5184576"/>
              <a:gd name="connsiteY3" fmla="*/ 2203573 h 2203573"/>
              <a:gd name="connsiteX4" fmla="*/ 0 w 5184576"/>
              <a:gd name="connsiteY4" fmla="*/ 0 h 2203573"/>
              <a:gd name="connsiteX0" fmla="*/ 0 w 5184576"/>
              <a:gd name="connsiteY0" fmla="*/ 0 h 2203573"/>
              <a:gd name="connsiteX1" fmla="*/ 5184576 w 5184576"/>
              <a:gd name="connsiteY1" fmla="*/ 25757 h 2203573"/>
              <a:gd name="connsiteX2" fmla="*/ 5184576 w 5184576"/>
              <a:gd name="connsiteY2" fmla="*/ 2203573 h 2203573"/>
              <a:gd name="connsiteX3" fmla="*/ 0 w 5184576"/>
              <a:gd name="connsiteY3" fmla="*/ 2203573 h 2203573"/>
              <a:gd name="connsiteX4" fmla="*/ 0 w 5184576"/>
              <a:gd name="connsiteY4" fmla="*/ 0 h 2203573"/>
              <a:gd name="connsiteX0" fmla="*/ 0 w 5184576"/>
              <a:gd name="connsiteY0" fmla="*/ 0 h 2203573"/>
              <a:gd name="connsiteX1" fmla="*/ 5184576 w 5184576"/>
              <a:gd name="connsiteY1" fmla="*/ 25757 h 2203573"/>
              <a:gd name="connsiteX2" fmla="*/ 5184576 w 5184576"/>
              <a:gd name="connsiteY2" fmla="*/ 2203573 h 2203573"/>
              <a:gd name="connsiteX3" fmla="*/ 0 w 5184576"/>
              <a:gd name="connsiteY3" fmla="*/ 2203573 h 2203573"/>
              <a:gd name="connsiteX4" fmla="*/ 0 w 5184576"/>
              <a:gd name="connsiteY4" fmla="*/ 0 h 2203573"/>
              <a:gd name="connsiteX0" fmla="*/ 0 w 5184576"/>
              <a:gd name="connsiteY0" fmla="*/ 0 h 2203573"/>
              <a:gd name="connsiteX1" fmla="*/ 5184576 w 5184576"/>
              <a:gd name="connsiteY1" fmla="*/ 12878 h 2203573"/>
              <a:gd name="connsiteX2" fmla="*/ 5184576 w 5184576"/>
              <a:gd name="connsiteY2" fmla="*/ 2203573 h 2203573"/>
              <a:gd name="connsiteX3" fmla="*/ 0 w 5184576"/>
              <a:gd name="connsiteY3" fmla="*/ 2203573 h 2203573"/>
              <a:gd name="connsiteX4" fmla="*/ 0 w 5184576"/>
              <a:gd name="connsiteY4" fmla="*/ 0 h 2203573"/>
              <a:gd name="connsiteX0" fmla="*/ 0 w 5184576"/>
              <a:gd name="connsiteY0" fmla="*/ 0 h 2343283"/>
              <a:gd name="connsiteX1" fmla="*/ 5184576 w 5184576"/>
              <a:gd name="connsiteY1" fmla="*/ 12878 h 2343283"/>
              <a:gd name="connsiteX2" fmla="*/ 5184576 w 5184576"/>
              <a:gd name="connsiteY2" fmla="*/ 2203573 h 2343283"/>
              <a:gd name="connsiteX3" fmla="*/ 0 w 5184576"/>
              <a:gd name="connsiteY3" fmla="*/ 2343283 h 2343283"/>
              <a:gd name="connsiteX4" fmla="*/ 0 w 5184576"/>
              <a:gd name="connsiteY4" fmla="*/ 0 h 2343283"/>
              <a:gd name="connsiteX0" fmla="*/ 0 w 5197454"/>
              <a:gd name="connsiteY0" fmla="*/ 0 h 2357254"/>
              <a:gd name="connsiteX1" fmla="*/ 5184576 w 5197454"/>
              <a:gd name="connsiteY1" fmla="*/ 12878 h 2357254"/>
              <a:gd name="connsiteX2" fmla="*/ 5197454 w 5197454"/>
              <a:gd name="connsiteY2" fmla="*/ 2357254 h 2357254"/>
              <a:gd name="connsiteX3" fmla="*/ 0 w 5197454"/>
              <a:gd name="connsiteY3" fmla="*/ 2343283 h 2357254"/>
              <a:gd name="connsiteX4" fmla="*/ 0 w 5197454"/>
              <a:gd name="connsiteY4" fmla="*/ 0 h 2357254"/>
              <a:gd name="connsiteX0" fmla="*/ 0 w 5185815"/>
              <a:gd name="connsiteY0" fmla="*/ 0 h 2357254"/>
              <a:gd name="connsiteX1" fmla="*/ 5184576 w 5185815"/>
              <a:gd name="connsiteY1" fmla="*/ 12878 h 2357254"/>
              <a:gd name="connsiteX2" fmla="*/ 5184576 w 5185815"/>
              <a:gd name="connsiteY2" fmla="*/ 2357254 h 2357254"/>
              <a:gd name="connsiteX3" fmla="*/ 0 w 5185815"/>
              <a:gd name="connsiteY3" fmla="*/ 2343283 h 2357254"/>
              <a:gd name="connsiteX4" fmla="*/ 0 w 5185815"/>
              <a:gd name="connsiteY4" fmla="*/ 0 h 2357254"/>
              <a:gd name="connsiteX0" fmla="*/ 0 w 5185815"/>
              <a:gd name="connsiteY0" fmla="*/ 0 h 2343283"/>
              <a:gd name="connsiteX1" fmla="*/ 5184576 w 5185815"/>
              <a:gd name="connsiteY1" fmla="*/ 12878 h 2343283"/>
              <a:gd name="connsiteX2" fmla="*/ 5184576 w 5185815"/>
              <a:gd name="connsiteY2" fmla="*/ 2343283 h 2343283"/>
              <a:gd name="connsiteX3" fmla="*/ 0 w 5185815"/>
              <a:gd name="connsiteY3" fmla="*/ 2343283 h 2343283"/>
              <a:gd name="connsiteX4" fmla="*/ 0 w 5185815"/>
              <a:gd name="connsiteY4" fmla="*/ 0 h 2343283"/>
              <a:gd name="connsiteX0" fmla="*/ 0 w 5198693"/>
              <a:gd name="connsiteY0" fmla="*/ 254596 h 2330458"/>
              <a:gd name="connsiteX1" fmla="*/ 5197454 w 5198693"/>
              <a:gd name="connsiteY1" fmla="*/ 53 h 2330458"/>
              <a:gd name="connsiteX2" fmla="*/ 5197454 w 5198693"/>
              <a:gd name="connsiteY2" fmla="*/ 2330458 h 2330458"/>
              <a:gd name="connsiteX3" fmla="*/ 12878 w 5198693"/>
              <a:gd name="connsiteY3" fmla="*/ 2330458 h 2330458"/>
              <a:gd name="connsiteX4" fmla="*/ 0 w 5198693"/>
              <a:gd name="connsiteY4" fmla="*/ 254596 h 2330458"/>
              <a:gd name="connsiteX0" fmla="*/ 0 w 5198693"/>
              <a:gd name="connsiteY0" fmla="*/ 31692 h 2107554"/>
              <a:gd name="connsiteX1" fmla="*/ 5197454 w 5198693"/>
              <a:gd name="connsiteY1" fmla="*/ 0 h 2107554"/>
              <a:gd name="connsiteX2" fmla="*/ 5197454 w 5198693"/>
              <a:gd name="connsiteY2" fmla="*/ 2107554 h 2107554"/>
              <a:gd name="connsiteX3" fmla="*/ 12878 w 5198693"/>
              <a:gd name="connsiteY3" fmla="*/ 2107554 h 2107554"/>
              <a:gd name="connsiteX4" fmla="*/ 0 w 5198693"/>
              <a:gd name="connsiteY4" fmla="*/ 31692 h 2107554"/>
              <a:gd name="connsiteX0" fmla="*/ 0 w 5198693"/>
              <a:gd name="connsiteY0" fmla="*/ 16835 h 2092697"/>
              <a:gd name="connsiteX1" fmla="*/ 5197454 w 5198693"/>
              <a:gd name="connsiteY1" fmla="*/ 0 h 2092697"/>
              <a:gd name="connsiteX2" fmla="*/ 5197454 w 5198693"/>
              <a:gd name="connsiteY2" fmla="*/ 2092697 h 2092697"/>
              <a:gd name="connsiteX3" fmla="*/ 12878 w 5198693"/>
              <a:gd name="connsiteY3" fmla="*/ 2092697 h 2092697"/>
              <a:gd name="connsiteX4" fmla="*/ 0 w 5198693"/>
              <a:gd name="connsiteY4" fmla="*/ 16835 h 2092697"/>
              <a:gd name="connsiteX0" fmla="*/ 0 w 5198693"/>
              <a:gd name="connsiteY0" fmla="*/ 16835 h 2315548"/>
              <a:gd name="connsiteX1" fmla="*/ 5197454 w 5198693"/>
              <a:gd name="connsiteY1" fmla="*/ 0 h 2315548"/>
              <a:gd name="connsiteX2" fmla="*/ 5197454 w 5198693"/>
              <a:gd name="connsiteY2" fmla="*/ 2092697 h 2315548"/>
              <a:gd name="connsiteX3" fmla="*/ 12878 w 5198693"/>
              <a:gd name="connsiteY3" fmla="*/ 2315548 h 2315548"/>
              <a:gd name="connsiteX4" fmla="*/ 0 w 5198693"/>
              <a:gd name="connsiteY4" fmla="*/ 16835 h 2315548"/>
              <a:gd name="connsiteX0" fmla="*/ 0 w 5198024"/>
              <a:gd name="connsiteY0" fmla="*/ 16835 h 2315548"/>
              <a:gd name="connsiteX1" fmla="*/ 5197454 w 5198024"/>
              <a:gd name="connsiteY1" fmla="*/ 0 h 2315548"/>
              <a:gd name="connsiteX2" fmla="*/ 5184575 w 5198024"/>
              <a:gd name="connsiteY2" fmla="*/ 2256120 h 2315548"/>
              <a:gd name="connsiteX3" fmla="*/ 12878 w 5198024"/>
              <a:gd name="connsiteY3" fmla="*/ 2315548 h 2315548"/>
              <a:gd name="connsiteX4" fmla="*/ 0 w 5198024"/>
              <a:gd name="connsiteY4" fmla="*/ 16835 h 2315548"/>
              <a:gd name="connsiteX0" fmla="*/ 0 w 5198693"/>
              <a:gd name="connsiteY0" fmla="*/ 16835 h 2315548"/>
              <a:gd name="connsiteX1" fmla="*/ 5197454 w 5198693"/>
              <a:gd name="connsiteY1" fmla="*/ 0 h 2315548"/>
              <a:gd name="connsiteX2" fmla="*/ 5197454 w 5198693"/>
              <a:gd name="connsiteY2" fmla="*/ 2315548 h 2315548"/>
              <a:gd name="connsiteX3" fmla="*/ 12878 w 5198693"/>
              <a:gd name="connsiteY3" fmla="*/ 2315548 h 2315548"/>
              <a:gd name="connsiteX4" fmla="*/ 0 w 5198693"/>
              <a:gd name="connsiteY4" fmla="*/ 16835 h 2315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8693" h="2315548">
                <a:moveTo>
                  <a:pt x="0" y="16835"/>
                </a:moveTo>
                <a:lnTo>
                  <a:pt x="5197454" y="0"/>
                </a:lnTo>
                <a:cubicBezTo>
                  <a:pt x="5201747" y="781459"/>
                  <a:pt x="5193161" y="1534089"/>
                  <a:pt x="5197454" y="2315548"/>
                </a:cubicBezTo>
                <a:lnTo>
                  <a:pt x="12878" y="2315548"/>
                </a:lnTo>
                <a:cubicBezTo>
                  <a:pt x="8585" y="1623594"/>
                  <a:pt x="4293" y="708789"/>
                  <a:pt x="0" y="16835"/>
                </a:cubicBezTo>
                <a:close/>
              </a:path>
            </a:pathLst>
          </a:custGeom>
          <a:noFill/>
          <a:ln w="28575">
            <a:solidFill>
              <a:schemeClr val="tx1"/>
            </a:solidFill>
          </a:ln>
        </p:spPr>
        <p:txBody>
          <a:bodyPr wrap="square" rtlCol="0">
            <a:spAutoFit/>
          </a:bodyPr>
          <a:lstStyle/>
          <a:p>
            <a:r>
              <a:rPr lang="en-GB" dirty="0"/>
              <a:t>If we enclose in this box nitrogen N</a:t>
            </a:r>
            <a:r>
              <a:rPr lang="en-GB" baseline="-25000" dirty="0"/>
              <a:t>2</a:t>
            </a:r>
            <a:r>
              <a:rPr lang="en-GB" dirty="0"/>
              <a:t> , hydrogen H</a:t>
            </a:r>
            <a:r>
              <a:rPr lang="en-GB" baseline="-25000" dirty="0"/>
              <a:t>2</a:t>
            </a:r>
            <a:r>
              <a:rPr lang="en-GB" dirty="0"/>
              <a:t> and ammonia NH</a:t>
            </a:r>
            <a:r>
              <a:rPr lang="en-GB" baseline="-25000" dirty="0"/>
              <a:t>3</a:t>
            </a:r>
            <a:r>
              <a:rPr lang="en-GB" dirty="0"/>
              <a:t> the following reactions take place</a:t>
            </a:r>
          </a:p>
          <a:p>
            <a:pPr algn="ctr"/>
            <a:r>
              <a:rPr lang="en-GB" b="1" dirty="0"/>
              <a:t>N</a:t>
            </a:r>
            <a:r>
              <a:rPr lang="en-GB" b="1" baseline="-25000" dirty="0"/>
              <a:t>2</a:t>
            </a:r>
            <a:r>
              <a:rPr lang="en-GB" b="1" dirty="0"/>
              <a:t>   +  3H</a:t>
            </a:r>
            <a:r>
              <a:rPr lang="en-GB" b="1" baseline="-25000" dirty="0"/>
              <a:t>2</a:t>
            </a:r>
            <a:r>
              <a:rPr lang="en-GB" b="1" dirty="0"/>
              <a:t>         2NH</a:t>
            </a:r>
            <a:r>
              <a:rPr lang="en-GB" b="1" baseline="-25000" dirty="0"/>
              <a:t>3</a:t>
            </a:r>
          </a:p>
          <a:p>
            <a:r>
              <a:rPr lang="en-GB" dirty="0"/>
              <a:t>When the </a:t>
            </a:r>
            <a:r>
              <a:rPr lang="en-GB" b="1" dirty="0">
                <a:solidFill>
                  <a:schemeClr val="accent6"/>
                </a:solidFill>
              </a:rPr>
              <a:t>forward reaction </a:t>
            </a:r>
            <a:r>
              <a:rPr lang="en-GB" dirty="0"/>
              <a:t>is happening at the </a:t>
            </a:r>
            <a:r>
              <a:rPr lang="en-GB" b="1" dirty="0">
                <a:solidFill>
                  <a:schemeClr val="accent6"/>
                </a:solidFill>
              </a:rPr>
              <a:t>same rate</a:t>
            </a:r>
            <a:r>
              <a:rPr lang="en-GB" dirty="0"/>
              <a:t> as the </a:t>
            </a:r>
            <a:r>
              <a:rPr lang="en-GB" b="1" dirty="0">
                <a:solidFill>
                  <a:schemeClr val="accent6"/>
                </a:solidFill>
              </a:rPr>
              <a:t>backwards reaction</a:t>
            </a:r>
            <a:r>
              <a:rPr lang="en-GB" dirty="0"/>
              <a:t>, there will be no overall change in the amount of any of the three chemicals- </a:t>
            </a:r>
            <a:r>
              <a:rPr lang="en-GB" b="1" dirty="0">
                <a:solidFill>
                  <a:schemeClr val="accent6"/>
                </a:solidFill>
              </a:rPr>
              <a:t>equilibrium</a:t>
            </a:r>
            <a:r>
              <a:rPr lang="en-GB" dirty="0"/>
              <a:t> has been reached.</a:t>
            </a:r>
          </a:p>
        </p:txBody>
      </p:sp>
      <p:sp>
        <p:nvSpPr>
          <p:cNvPr id="14" name="TextBox 13"/>
          <p:cNvSpPr txBox="1"/>
          <p:nvPr/>
        </p:nvSpPr>
        <p:spPr>
          <a:xfrm>
            <a:off x="3419872" y="1700808"/>
            <a:ext cx="1296144" cy="338554"/>
          </a:xfrm>
          <a:prstGeom prst="rect">
            <a:avLst/>
          </a:prstGeom>
          <a:noFill/>
        </p:spPr>
        <p:txBody>
          <a:bodyPr wrap="square" rtlCol="0">
            <a:spAutoFit/>
          </a:bodyPr>
          <a:lstStyle/>
          <a:p>
            <a:r>
              <a:rPr lang="en-GB" sz="1600" b="1" dirty="0"/>
              <a:t>endothermic</a:t>
            </a:r>
          </a:p>
        </p:txBody>
      </p:sp>
      <p:sp>
        <p:nvSpPr>
          <p:cNvPr id="15" name="TextBox 14"/>
          <p:cNvSpPr txBox="1"/>
          <p:nvPr/>
        </p:nvSpPr>
        <p:spPr>
          <a:xfrm>
            <a:off x="3419872" y="2212467"/>
            <a:ext cx="1296144" cy="338554"/>
          </a:xfrm>
          <a:prstGeom prst="rect">
            <a:avLst/>
          </a:prstGeom>
          <a:noFill/>
        </p:spPr>
        <p:txBody>
          <a:bodyPr wrap="square" rtlCol="0">
            <a:spAutoFit/>
          </a:bodyPr>
          <a:lstStyle/>
          <a:p>
            <a:r>
              <a:rPr lang="en-GB" sz="1600" b="1" dirty="0"/>
              <a:t>  exothermic</a:t>
            </a:r>
          </a:p>
        </p:txBody>
      </p:sp>
      <p:sp>
        <p:nvSpPr>
          <p:cNvPr id="16" name="TextBox 15"/>
          <p:cNvSpPr txBox="1"/>
          <p:nvPr/>
        </p:nvSpPr>
        <p:spPr>
          <a:xfrm>
            <a:off x="1547664" y="2381744"/>
            <a:ext cx="1584176" cy="369332"/>
          </a:xfrm>
          <a:prstGeom prst="rect">
            <a:avLst/>
          </a:prstGeom>
          <a:noFill/>
        </p:spPr>
        <p:txBody>
          <a:bodyPr wrap="square" rtlCol="0">
            <a:spAutoFit/>
          </a:bodyPr>
          <a:lstStyle/>
          <a:p>
            <a:r>
              <a:rPr lang="en-GB" dirty="0"/>
              <a:t>         </a:t>
            </a:r>
            <a:r>
              <a:rPr lang="en-GB" b="1" dirty="0"/>
              <a:t>Blue</a:t>
            </a:r>
          </a:p>
        </p:txBody>
      </p:sp>
      <p:sp>
        <p:nvSpPr>
          <p:cNvPr id="17" name="TextBox 16"/>
          <p:cNvSpPr txBox="1"/>
          <p:nvPr/>
        </p:nvSpPr>
        <p:spPr>
          <a:xfrm>
            <a:off x="4860032" y="2335442"/>
            <a:ext cx="1944216" cy="369332"/>
          </a:xfrm>
          <a:prstGeom prst="rect">
            <a:avLst/>
          </a:prstGeom>
          <a:noFill/>
        </p:spPr>
        <p:txBody>
          <a:bodyPr wrap="square" rtlCol="0">
            <a:spAutoFit/>
          </a:bodyPr>
          <a:lstStyle/>
          <a:p>
            <a:r>
              <a:rPr lang="en-GB" b="1" dirty="0"/>
              <a:t>           White</a:t>
            </a:r>
          </a:p>
        </p:txBody>
      </p:sp>
      <p:pic>
        <p:nvPicPr>
          <p:cNvPr id="20" name="Picture 19"/>
          <p:cNvPicPr/>
          <p:nvPr/>
        </p:nvPicPr>
        <p:blipFill>
          <a:blip r:embed="rId3"/>
          <a:stretch>
            <a:fillRect/>
          </a:stretch>
        </p:blipFill>
        <p:spPr>
          <a:xfrm>
            <a:off x="6444208" y="4941168"/>
            <a:ext cx="238125" cy="247650"/>
          </a:xfrm>
          <a:prstGeom prst="rect">
            <a:avLst/>
          </a:prstGeom>
        </p:spPr>
      </p:pic>
      <p:sp>
        <p:nvSpPr>
          <p:cNvPr id="21" name="Title 1"/>
          <p:cNvSpPr txBox="1">
            <a:spLocks/>
          </p:cNvSpPr>
          <p:nvPr/>
        </p:nvSpPr>
        <p:spPr>
          <a:xfrm>
            <a:off x="2483768" y="-32700"/>
            <a:ext cx="6660232" cy="941420"/>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pPr>
            <a:r>
              <a:rPr lang="en-US" sz="2400" b="1" kern="0">
                <a:solidFill>
                  <a:schemeClr val="accent6"/>
                </a:solidFill>
              </a:rPr>
              <a:t>Reversible reactions</a:t>
            </a:r>
            <a:endParaRPr lang="en-US" sz="2400" b="1" kern="1200" dirty="0">
              <a:solidFill>
                <a:schemeClr val="accent6"/>
              </a:solidFill>
              <a:latin typeface="Calibri"/>
              <a:ea typeface=""/>
              <a:cs typeface="News Gothic MT"/>
            </a:endParaRPr>
          </a:p>
        </p:txBody>
      </p:sp>
    </p:spTree>
    <p:extLst>
      <p:ext uri="{BB962C8B-B14F-4D97-AF65-F5344CB8AC3E}">
        <p14:creationId xmlns:p14="http://schemas.microsoft.com/office/powerpoint/2010/main" val="26421243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443198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2600" b="1" dirty="0">
                <a:solidFill>
                  <a:schemeClr val="tx1">
                    <a:lumMod val="50000"/>
                    <a:lumOff val="50000"/>
                  </a:schemeClr>
                </a:solidFill>
              </a:rPr>
              <a:t>Reversible reactions and dynamic </a:t>
            </a:r>
          </a:p>
          <a:p>
            <a:r>
              <a:rPr lang="en-GB" sz="2600" b="1" dirty="0">
                <a:solidFill>
                  <a:schemeClr val="tx1">
                    <a:lumMod val="50000"/>
                    <a:lumOff val="50000"/>
                  </a:schemeClr>
                </a:solidFill>
              </a:rPr>
              <a:t>Equilibrium (Part 1)</a:t>
            </a:r>
          </a:p>
          <a:p>
            <a:pPr marL="457200" indent="-457200">
              <a:buFont typeface="Arial" charset="0"/>
              <a:buChar char="•"/>
            </a:pPr>
            <a:r>
              <a:rPr lang="en-GB" sz="2000" b="1" dirty="0">
                <a:solidFill>
                  <a:schemeClr val="tx1">
                    <a:lumMod val="50000"/>
                    <a:lumOff val="50000"/>
                  </a:schemeClr>
                </a:solidFill>
              </a:rPr>
              <a:t>Reversible reactions</a:t>
            </a:r>
          </a:p>
          <a:p>
            <a:pPr marL="457200" indent="-457200">
              <a:buFont typeface="Arial" charset="0"/>
              <a:buChar char="•"/>
            </a:pPr>
            <a:r>
              <a:rPr lang="en-GB" sz="2000" b="1" dirty="0">
                <a:solidFill>
                  <a:schemeClr val="tx1">
                    <a:lumMod val="50000"/>
                    <a:lumOff val="50000"/>
                  </a:schemeClr>
                </a:solidFill>
              </a:rPr>
              <a:t>Energy changes and reversible reactions</a:t>
            </a:r>
          </a:p>
          <a:p>
            <a:pPr marL="457200" indent="-457200">
              <a:buFont typeface="Arial" charset="0"/>
              <a:buChar char="•"/>
            </a:pPr>
            <a:r>
              <a:rPr lang="en-GB" sz="2000" b="1" dirty="0">
                <a:solidFill>
                  <a:schemeClr val="tx1">
                    <a:lumMod val="50000"/>
                    <a:lumOff val="50000"/>
                  </a:schemeClr>
                </a:solidFill>
              </a:rPr>
              <a:t>Equilibrium</a:t>
            </a:r>
            <a:endParaRPr lang="en-GB" sz="2000" b="1" dirty="0">
              <a:solidFill>
                <a:schemeClr val="tx1">
                  <a:lumMod val="50000"/>
                  <a:lumOff val="50000"/>
                </a:schemeClr>
              </a:solidFill>
            </a:endParaRP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1447387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Reversible reactions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76887"/>
            <a:ext cx="8915400" cy="5632311"/>
          </a:xfrm>
          <a:custGeom>
            <a:avLst/>
            <a:gdLst>
              <a:gd name="connsiteX0" fmla="*/ 0 w 8915400"/>
              <a:gd name="connsiteY0" fmla="*/ 0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0 h 7848302"/>
              <a:gd name="connsiteX0" fmla="*/ 0 w 8915400"/>
              <a:gd name="connsiteY0" fmla="*/ 244698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244698 h 7848302"/>
              <a:gd name="connsiteX0" fmla="*/ 0 w 8915400"/>
              <a:gd name="connsiteY0" fmla="*/ 25758 h 7629362"/>
              <a:gd name="connsiteX1" fmla="*/ 8915400 w 8915400"/>
              <a:gd name="connsiteY1" fmla="*/ 0 h 7629362"/>
              <a:gd name="connsiteX2" fmla="*/ 8915400 w 8915400"/>
              <a:gd name="connsiteY2" fmla="*/ 7629362 h 7629362"/>
              <a:gd name="connsiteX3" fmla="*/ 0 w 8915400"/>
              <a:gd name="connsiteY3" fmla="*/ 7629362 h 7629362"/>
              <a:gd name="connsiteX4" fmla="*/ 0 w 8915400"/>
              <a:gd name="connsiteY4" fmla="*/ 25758 h 762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7629362">
                <a:moveTo>
                  <a:pt x="0" y="25758"/>
                </a:moveTo>
                <a:lnTo>
                  <a:pt x="8915400" y="0"/>
                </a:lnTo>
                <a:lnTo>
                  <a:pt x="8915400" y="7629362"/>
                </a:lnTo>
                <a:lnTo>
                  <a:pt x="0" y="7629362"/>
                </a:lnTo>
                <a:lnTo>
                  <a:pt x="0" y="25758"/>
                </a:lnTo>
                <a:close/>
              </a:path>
            </a:pathLst>
          </a:custGeom>
          <a:noFill/>
        </p:spPr>
        <p:txBody>
          <a:bodyPr wrap="square" rtlCol="0">
            <a:spAutoFit/>
          </a:bodyPr>
          <a:lstStyle/>
          <a:p>
            <a:pPr marL="457200" indent="-457200">
              <a:buFont typeface="+mj-lt"/>
              <a:buAutoNum type="arabicPeriod"/>
            </a:pPr>
            <a:r>
              <a:rPr lang="en-GB" sz="2000" dirty="0" smtClean="0"/>
              <a:t>What </a:t>
            </a:r>
            <a:r>
              <a:rPr lang="en-GB" sz="2000" dirty="0"/>
              <a:t>is meant by a reversible reaction</a:t>
            </a:r>
            <a:r>
              <a:rPr lang="en-GB" sz="2000" dirty="0" smtClean="0"/>
              <a:t>?</a:t>
            </a:r>
          </a:p>
          <a:p>
            <a:pPr marL="457200" indent="-457200">
              <a:buFont typeface="+mj-lt"/>
              <a:buAutoNum type="arabicPeriod"/>
            </a:pPr>
            <a:endParaRPr lang="en-GB" sz="2000" dirty="0"/>
          </a:p>
          <a:p>
            <a:pPr marL="457200" indent="-457200">
              <a:buFont typeface="+mj-lt"/>
              <a:buAutoNum type="arabicPeriod"/>
            </a:pPr>
            <a:r>
              <a:rPr lang="en-GB" sz="2000" dirty="0" smtClean="0"/>
              <a:t>Draw </a:t>
            </a:r>
            <a:r>
              <a:rPr lang="en-GB" sz="2000" dirty="0"/>
              <a:t>the symbol for a reversible reaction</a:t>
            </a:r>
            <a:r>
              <a:rPr lang="en-GB" sz="2000" dirty="0" smtClean="0"/>
              <a:t>.</a:t>
            </a:r>
          </a:p>
          <a:p>
            <a:pPr marL="457200" indent="-457200">
              <a:buFont typeface="+mj-lt"/>
              <a:buAutoNum type="arabicPeriod"/>
            </a:pPr>
            <a:endParaRPr lang="en-GB" sz="2000" dirty="0"/>
          </a:p>
          <a:p>
            <a:pPr marL="457200" indent="-457200">
              <a:buFont typeface="+mj-lt"/>
              <a:buAutoNum type="arabicPeriod"/>
            </a:pPr>
            <a:r>
              <a:rPr lang="en-GB" sz="2000" dirty="0" smtClean="0"/>
              <a:t>If a reaction is endothermic in one direction, what is it in the other direction?</a:t>
            </a:r>
          </a:p>
          <a:p>
            <a:pPr marL="457200" indent="-457200">
              <a:buFont typeface="+mj-lt"/>
              <a:buAutoNum type="arabicPeriod"/>
            </a:pPr>
            <a:endParaRPr lang="en-GB" sz="2000" dirty="0" smtClean="0"/>
          </a:p>
          <a:p>
            <a:pPr marL="457200" indent="-457200">
              <a:buFont typeface="+mj-lt"/>
              <a:buAutoNum type="arabicPeriod"/>
            </a:pPr>
            <a:r>
              <a:rPr lang="en-GB" sz="2000" dirty="0" smtClean="0"/>
              <a:t>What is meant by the term equilibrium?</a:t>
            </a:r>
          </a:p>
          <a:p>
            <a:pPr marL="457200" indent="-457200">
              <a:buFont typeface="+mj-lt"/>
              <a:buAutoNum type="arabicPeriod"/>
            </a:pPr>
            <a:endParaRPr lang="en-GB" sz="2000" dirty="0" smtClean="0"/>
          </a:p>
          <a:p>
            <a:pPr marL="457200" indent="-457200">
              <a:buFont typeface="+mj-lt"/>
              <a:buAutoNum type="arabicPeriod"/>
            </a:pPr>
            <a:r>
              <a:rPr lang="en-GB" sz="2000" dirty="0" smtClean="0"/>
              <a:t>What needs to happen for equilibrium to be reached?</a:t>
            </a:r>
          </a:p>
          <a:p>
            <a:pPr marL="457200" indent="-457200">
              <a:buFont typeface="+mj-lt"/>
              <a:buAutoNum type="arabicPeriod"/>
            </a:pPr>
            <a:endParaRPr lang="en-GB" sz="2000" dirty="0" smtClean="0"/>
          </a:p>
          <a:p>
            <a:pPr marL="457200" indent="-457200">
              <a:buFont typeface="+mj-lt"/>
              <a:buAutoNum type="arabicPeriod"/>
            </a:pPr>
            <a:r>
              <a:rPr lang="en-GB" sz="2000" dirty="0" smtClean="0"/>
              <a:t>What can be said about the amount of energy being transferred in a reversible reaction?</a:t>
            </a:r>
          </a:p>
          <a:p>
            <a:pPr marL="457200" indent="-457200">
              <a:buFont typeface="+mj-lt"/>
              <a:buAutoNum type="arabicPeriod"/>
            </a:pPr>
            <a:endParaRPr lang="en-GB" sz="2000" dirty="0" smtClean="0"/>
          </a:p>
          <a:p>
            <a:pPr marL="457200" indent="-457200">
              <a:buFont typeface="+mj-lt"/>
              <a:buAutoNum type="arabicPeriod"/>
            </a:pPr>
            <a:r>
              <a:rPr lang="en-GB" sz="2000" dirty="0" smtClean="0"/>
              <a:t>The </a:t>
            </a:r>
            <a:r>
              <a:rPr lang="en-GB" sz="2000" dirty="0"/>
              <a:t>following reversible reaction </a:t>
            </a:r>
            <a:r>
              <a:rPr lang="en-GB" sz="2000" dirty="0" smtClean="0"/>
              <a:t>occurs: The </a:t>
            </a:r>
            <a:r>
              <a:rPr lang="en-GB" sz="2000" dirty="0"/>
              <a:t>reaction that makes C and D is exothermic. What happens if we heat up A </a:t>
            </a:r>
            <a:r>
              <a:rPr lang="en-GB" sz="2000" dirty="0" smtClean="0"/>
              <a:t>and </a:t>
            </a:r>
            <a:r>
              <a:rPr lang="en-GB" sz="2000" dirty="0"/>
              <a:t>B</a:t>
            </a:r>
            <a:r>
              <a:rPr lang="en-GB" sz="2000" dirty="0" smtClean="0"/>
              <a:t>?</a:t>
            </a:r>
          </a:p>
          <a:p>
            <a:pPr>
              <a:lnSpc>
                <a:spcPct val="150000"/>
              </a:lnSpc>
            </a:pPr>
            <a:endParaRPr lang="en-GB" sz="2000" dirty="0"/>
          </a:p>
          <a:p>
            <a:pPr>
              <a:lnSpc>
                <a:spcPct val="150000"/>
              </a:lnSpc>
            </a:pPr>
            <a:r>
              <a:rPr lang="en-GB" sz="2000" b="1" dirty="0"/>
              <a:t>        </a:t>
            </a:r>
            <a:endParaRPr lang="en-GB" sz="2400" dirty="0"/>
          </a:p>
        </p:txBody>
      </p:sp>
      <p:pic>
        <p:nvPicPr>
          <p:cNvPr id="3" name="Picture 2"/>
          <p:cNvPicPr>
            <a:picLocks noChangeAspect="1"/>
          </p:cNvPicPr>
          <p:nvPr/>
        </p:nvPicPr>
        <p:blipFill>
          <a:blip r:embed="rId2"/>
          <a:stretch>
            <a:fillRect/>
          </a:stretch>
        </p:blipFill>
        <p:spPr>
          <a:xfrm>
            <a:off x="2969196" y="5589240"/>
            <a:ext cx="2160240" cy="504056"/>
          </a:xfrm>
          <a:prstGeom prst="rect">
            <a:avLst/>
          </a:prstGeom>
        </p:spPr>
      </p:pic>
    </p:spTree>
    <p:extLst>
      <p:ext uri="{BB962C8B-B14F-4D97-AF65-F5344CB8AC3E}">
        <p14:creationId xmlns:p14="http://schemas.microsoft.com/office/powerpoint/2010/main" val="10273852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58587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2600" b="1" dirty="0">
                <a:solidFill>
                  <a:schemeClr val="tx1">
                    <a:lumMod val="50000"/>
                    <a:lumOff val="50000"/>
                  </a:schemeClr>
                </a:solidFill>
              </a:rPr>
              <a:t>Reversible reactions and dynamic equilibrium (Part 1 )</a:t>
            </a:r>
          </a:p>
          <a:p>
            <a:pPr marL="457200" indent="-457200">
              <a:buFont typeface="Arial" charset="0"/>
              <a:buChar char="•"/>
            </a:pPr>
            <a:r>
              <a:rPr lang="en-GB" sz="2400" b="1" dirty="0">
                <a:solidFill>
                  <a:schemeClr val="tx1">
                    <a:lumMod val="50000"/>
                    <a:lumOff val="50000"/>
                  </a:schemeClr>
                </a:solidFill>
              </a:rPr>
              <a:t>Reversible reactions</a:t>
            </a:r>
          </a:p>
          <a:p>
            <a:pPr marL="457200" indent="-457200">
              <a:buFont typeface="Arial" charset="0"/>
              <a:buChar char="•"/>
            </a:pPr>
            <a:r>
              <a:rPr lang="en-GB" sz="2400" b="1" dirty="0">
                <a:solidFill>
                  <a:schemeClr val="tx1">
                    <a:lumMod val="50000"/>
                    <a:lumOff val="50000"/>
                  </a:schemeClr>
                </a:solidFill>
              </a:rPr>
              <a:t>Energy changes and reversible reactions</a:t>
            </a:r>
          </a:p>
          <a:p>
            <a:pPr marL="457200" indent="-457200">
              <a:buFont typeface="Arial" charset="0"/>
              <a:buChar char="•"/>
            </a:pPr>
            <a:r>
              <a:rPr lang="en-GB" sz="2400" b="1" dirty="0">
                <a:solidFill>
                  <a:schemeClr val="tx1">
                    <a:lumMod val="50000"/>
                    <a:lumOff val="50000"/>
                  </a:schemeClr>
                </a:solidFill>
              </a:rPr>
              <a:t>Equilibrium</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53530653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Reversible reactions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76887"/>
            <a:ext cx="8915400" cy="5016758"/>
          </a:xfrm>
          <a:custGeom>
            <a:avLst/>
            <a:gdLst>
              <a:gd name="connsiteX0" fmla="*/ 0 w 8915400"/>
              <a:gd name="connsiteY0" fmla="*/ 0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0 h 7848302"/>
              <a:gd name="connsiteX0" fmla="*/ 0 w 8915400"/>
              <a:gd name="connsiteY0" fmla="*/ 244698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244698 h 7848302"/>
              <a:gd name="connsiteX0" fmla="*/ 0 w 8915400"/>
              <a:gd name="connsiteY0" fmla="*/ 25758 h 7629362"/>
              <a:gd name="connsiteX1" fmla="*/ 8915400 w 8915400"/>
              <a:gd name="connsiteY1" fmla="*/ 0 h 7629362"/>
              <a:gd name="connsiteX2" fmla="*/ 8915400 w 8915400"/>
              <a:gd name="connsiteY2" fmla="*/ 7629362 h 7629362"/>
              <a:gd name="connsiteX3" fmla="*/ 0 w 8915400"/>
              <a:gd name="connsiteY3" fmla="*/ 7629362 h 7629362"/>
              <a:gd name="connsiteX4" fmla="*/ 0 w 8915400"/>
              <a:gd name="connsiteY4" fmla="*/ 25758 h 762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7629362">
                <a:moveTo>
                  <a:pt x="0" y="25758"/>
                </a:moveTo>
                <a:lnTo>
                  <a:pt x="8915400" y="0"/>
                </a:lnTo>
                <a:lnTo>
                  <a:pt x="8915400" y="7629362"/>
                </a:lnTo>
                <a:lnTo>
                  <a:pt x="0" y="7629362"/>
                </a:lnTo>
                <a:lnTo>
                  <a:pt x="0" y="25758"/>
                </a:lnTo>
                <a:close/>
              </a:path>
            </a:pathLst>
          </a:custGeom>
          <a:noFill/>
        </p:spPr>
        <p:txBody>
          <a:bodyPr wrap="square" rtlCol="0">
            <a:spAutoFit/>
          </a:bodyPr>
          <a:lstStyle/>
          <a:p>
            <a:pPr marL="457200" indent="-457200">
              <a:buFont typeface="+mj-lt"/>
              <a:buAutoNum type="arabicPeriod"/>
            </a:pPr>
            <a:r>
              <a:rPr lang="en-GB" sz="2000" dirty="0" smtClean="0"/>
              <a:t>What </a:t>
            </a:r>
            <a:r>
              <a:rPr lang="en-GB" sz="2000" dirty="0"/>
              <a:t>is meant by a reversible reaction</a:t>
            </a:r>
            <a:r>
              <a:rPr lang="en-GB" sz="2000" dirty="0" smtClean="0"/>
              <a:t>?</a:t>
            </a:r>
          </a:p>
          <a:p>
            <a:r>
              <a:rPr lang="en-GB" sz="2000" dirty="0" smtClean="0"/>
              <a:t>	</a:t>
            </a:r>
            <a:r>
              <a:rPr lang="en-GB" sz="2000" dirty="0">
                <a:solidFill>
                  <a:srgbClr val="00B050"/>
                </a:solidFill>
              </a:rPr>
              <a:t> </a:t>
            </a:r>
            <a:r>
              <a:rPr lang="en-GB" sz="2000" dirty="0" smtClean="0">
                <a:solidFill>
                  <a:srgbClr val="00B050"/>
                </a:solidFill>
              </a:rPr>
              <a:t>The products of a reaction can react to produce the original reactants.</a:t>
            </a:r>
            <a:endParaRPr lang="en-GB" sz="2000" dirty="0"/>
          </a:p>
          <a:p>
            <a:pPr marL="457200" indent="-457200">
              <a:buFont typeface="+mj-lt"/>
              <a:buAutoNum type="arabicPeriod" startAt="2"/>
            </a:pPr>
            <a:r>
              <a:rPr lang="en-GB" sz="2000" dirty="0" smtClean="0"/>
              <a:t>Draw </a:t>
            </a:r>
            <a:r>
              <a:rPr lang="en-GB" sz="2000" dirty="0"/>
              <a:t>the symbol for a reversible reaction</a:t>
            </a:r>
            <a:r>
              <a:rPr lang="en-GB" sz="2000" dirty="0" smtClean="0"/>
              <a:t>.</a:t>
            </a:r>
          </a:p>
          <a:p>
            <a:endParaRPr lang="en-GB" sz="2000" dirty="0"/>
          </a:p>
          <a:p>
            <a:pPr marL="457200" indent="-457200">
              <a:buFont typeface="+mj-lt"/>
              <a:buAutoNum type="arabicPeriod" startAt="3"/>
            </a:pPr>
            <a:r>
              <a:rPr lang="en-GB" sz="2000" dirty="0" smtClean="0"/>
              <a:t>If a reaction is endothermic in one direction, what is it in the other direction?</a:t>
            </a:r>
          </a:p>
          <a:p>
            <a:r>
              <a:rPr lang="en-GB" sz="2000" dirty="0" smtClean="0"/>
              <a:t>	</a:t>
            </a:r>
            <a:r>
              <a:rPr lang="en-GB" sz="2000" dirty="0">
                <a:solidFill>
                  <a:srgbClr val="00B050"/>
                </a:solidFill>
              </a:rPr>
              <a:t> </a:t>
            </a:r>
            <a:r>
              <a:rPr lang="en-GB" sz="2000" dirty="0" smtClean="0">
                <a:solidFill>
                  <a:srgbClr val="00B050"/>
                </a:solidFill>
              </a:rPr>
              <a:t>Exothermic.</a:t>
            </a:r>
            <a:endParaRPr lang="en-GB" sz="2000" dirty="0" smtClean="0"/>
          </a:p>
          <a:p>
            <a:pPr marL="457200" indent="-457200">
              <a:buFont typeface="+mj-lt"/>
              <a:buAutoNum type="arabicPeriod" startAt="4"/>
            </a:pPr>
            <a:r>
              <a:rPr lang="en-GB" sz="2000" dirty="0" smtClean="0"/>
              <a:t>What is meant by the term equilibrium?</a:t>
            </a:r>
          </a:p>
          <a:p>
            <a:r>
              <a:rPr lang="en-GB" sz="2000" dirty="0" smtClean="0"/>
              <a:t>	</a:t>
            </a:r>
            <a:r>
              <a:rPr lang="en-GB" sz="2000" dirty="0">
                <a:solidFill>
                  <a:srgbClr val="00B050"/>
                </a:solidFill>
              </a:rPr>
              <a:t> </a:t>
            </a:r>
            <a:r>
              <a:rPr lang="en-GB" sz="2000" dirty="0" smtClean="0">
                <a:solidFill>
                  <a:srgbClr val="00B050"/>
                </a:solidFill>
              </a:rPr>
              <a:t>Forward and reverse reactions occur at the same rate.</a:t>
            </a:r>
            <a:endParaRPr lang="en-GB" sz="2000" dirty="0" smtClean="0"/>
          </a:p>
          <a:p>
            <a:pPr marL="457200" indent="-457200">
              <a:buFont typeface="+mj-lt"/>
              <a:buAutoNum type="arabicPeriod" startAt="5"/>
            </a:pPr>
            <a:r>
              <a:rPr lang="en-GB" sz="2000" dirty="0" smtClean="0"/>
              <a:t>What needs to happen for equilibrium to be reached?</a:t>
            </a:r>
          </a:p>
          <a:p>
            <a:r>
              <a:rPr lang="en-GB" sz="2000" dirty="0" smtClean="0"/>
              <a:t>	</a:t>
            </a:r>
            <a:r>
              <a:rPr lang="en-GB" sz="2000" dirty="0">
                <a:solidFill>
                  <a:srgbClr val="00B050"/>
                </a:solidFill>
              </a:rPr>
              <a:t> </a:t>
            </a:r>
            <a:r>
              <a:rPr lang="en-GB" sz="2000" dirty="0" smtClean="0">
                <a:solidFill>
                  <a:srgbClr val="00B050"/>
                </a:solidFill>
              </a:rPr>
              <a:t>Closed system; apparatus prevents the escape of reactants and products.</a:t>
            </a:r>
            <a:endParaRPr lang="en-GB" sz="2000" dirty="0" smtClean="0"/>
          </a:p>
          <a:p>
            <a:pPr marL="457200" indent="-457200">
              <a:buFont typeface="+mj-lt"/>
              <a:buAutoNum type="arabicPeriod" startAt="6"/>
            </a:pPr>
            <a:r>
              <a:rPr lang="en-GB" sz="2000" dirty="0" smtClean="0"/>
              <a:t>What can be said about the amount of energy being transferred in a reversible reaction?</a:t>
            </a:r>
          </a:p>
          <a:p>
            <a:r>
              <a:rPr lang="en-GB" sz="2000" dirty="0" smtClean="0"/>
              <a:t>	</a:t>
            </a:r>
            <a:r>
              <a:rPr lang="en-GB" sz="2000" dirty="0">
                <a:solidFill>
                  <a:srgbClr val="00B050"/>
                </a:solidFill>
              </a:rPr>
              <a:t> </a:t>
            </a:r>
            <a:r>
              <a:rPr lang="en-GB" sz="2000" dirty="0" smtClean="0">
                <a:solidFill>
                  <a:srgbClr val="00B050"/>
                </a:solidFill>
              </a:rPr>
              <a:t>Same amount of energy is transferred in both directions.</a:t>
            </a:r>
            <a:endParaRPr lang="en-GB" sz="2000" dirty="0" smtClean="0"/>
          </a:p>
          <a:p>
            <a:pPr>
              <a:lnSpc>
                <a:spcPct val="150000"/>
              </a:lnSpc>
            </a:pPr>
            <a:endParaRPr lang="en-GB" sz="2000" dirty="0"/>
          </a:p>
          <a:p>
            <a:pPr>
              <a:lnSpc>
                <a:spcPct val="150000"/>
              </a:lnSpc>
            </a:pPr>
            <a:r>
              <a:rPr lang="en-GB" sz="2000" b="1" dirty="0"/>
              <a:t>        </a:t>
            </a:r>
            <a:endParaRPr lang="en-GB" sz="2400" dirty="0"/>
          </a:p>
        </p:txBody>
      </p:sp>
      <p:pic>
        <p:nvPicPr>
          <p:cNvPr id="7" name="Picture 6"/>
          <p:cNvPicPr/>
          <p:nvPr/>
        </p:nvPicPr>
        <p:blipFill>
          <a:blip r:embed="rId2"/>
          <a:stretch>
            <a:fillRect/>
          </a:stretch>
        </p:blipFill>
        <p:spPr>
          <a:xfrm>
            <a:off x="5129638" y="1556792"/>
            <a:ext cx="504055" cy="432048"/>
          </a:xfrm>
          <a:prstGeom prst="rect">
            <a:avLst/>
          </a:prstGeom>
        </p:spPr>
      </p:pic>
    </p:spTree>
    <p:extLst>
      <p:ext uri="{BB962C8B-B14F-4D97-AF65-F5344CB8AC3E}">
        <p14:creationId xmlns:p14="http://schemas.microsoft.com/office/powerpoint/2010/main" val="21202018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Reversible reactions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76887"/>
            <a:ext cx="8915400" cy="4893647"/>
          </a:xfrm>
          <a:custGeom>
            <a:avLst/>
            <a:gdLst>
              <a:gd name="connsiteX0" fmla="*/ 0 w 8915400"/>
              <a:gd name="connsiteY0" fmla="*/ 0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0 h 7848302"/>
              <a:gd name="connsiteX0" fmla="*/ 0 w 8915400"/>
              <a:gd name="connsiteY0" fmla="*/ 244698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244698 h 7848302"/>
              <a:gd name="connsiteX0" fmla="*/ 0 w 8915400"/>
              <a:gd name="connsiteY0" fmla="*/ 25758 h 7629362"/>
              <a:gd name="connsiteX1" fmla="*/ 8915400 w 8915400"/>
              <a:gd name="connsiteY1" fmla="*/ 0 h 7629362"/>
              <a:gd name="connsiteX2" fmla="*/ 8915400 w 8915400"/>
              <a:gd name="connsiteY2" fmla="*/ 7629362 h 7629362"/>
              <a:gd name="connsiteX3" fmla="*/ 0 w 8915400"/>
              <a:gd name="connsiteY3" fmla="*/ 7629362 h 7629362"/>
              <a:gd name="connsiteX4" fmla="*/ 0 w 8915400"/>
              <a:gd name="connsiteY4" fmla="*/ 25758 h 762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7629362">
                <a:moveTo>
                  <a:pt x="0" y="25758"/>
                </a:moveTo>
                <a:lnTo>
                  <a:pt x="8915400" y="0"/>
                </a:lnTo>
                <a:lnTo>
                  <a:pt x="8915400" y="7629362"/>
                </a:lnTo>
                <a:lnTo>
                  <a:pt x="0" y="7629362"/>
                </a:lnTo>
                <a:lnTo>
                  <a:pt x="0" y="25758"/>
                </a:lnTo>
                <a:close/>
              </a:path>
            </a:pathLst>
          </a:custGeom>
          <a:noFill/>
        </p:spPr>
        <p:txBody>
          <a:bodyPr wrap="square" rtlCol="0">
            <a:spAutoFit/>
          </a:bodyPr>
          <a:lstStyle/>
          <a:p>
            <a:pPr marL="457200" indent="-457200">
              <a:lnSpc>
                <a:spcPct val="150000"/>
              </a:lnSpc>
              <a:buFont typeface="+mj-lt"/>
              <a:buAutoNum type="arabicPeriod" startAt="7"/>
            </a:pPr>
            <a:r>
              <a:rPr lang="en-GB" sz="2000" dirty="0" smtClean="0"/>
              <a:t>The </a:t>
            </a:r>
            <a:r>
              <a:rPr lang="en-GB" sz="2000" dirty="0"/>
              <a:t>following reversible reaction </a:t>
            </a:r>
            <a:r>
              <a:rPr lang="en-GB" sz="2000" dirty="0" smtClean="0"/>
              <a:t>occurs:</a:t>
            </a:r>
            <a:r>
              <a:rPr lang="en-GB" sz="2000" dirty="0"/>
              <a:t> </a:t>
            </a:r>
            <a:r>
              <a:rPr lang="en-GB" sz="2000" dirty="0" smtClean="0"/>
              <a:t>The </a:t>
            </a:r>
            <a:r>
              <a:rPr lang="en-GB" sz="2000" dirty="0"/>
              <a:t>reaction that makes C and D is exothermic. What happens if we heat up A </a:t>
            </a:r>
            <a:r>
              <a:rPr lang="en-GB" sz="2000" dirty="0" smtClean="0"/>
              <a:t>and </a:t>
            </a:r>
            <a:r>
              <a:rPr lang="en-GB" sz="2000" dirty="0"/>
              <a:t>B?</a:t>
            </a:r>
          </a:p>
          <a:p>
            <a:pPr>
              <a:lnSpc>
                <a:spcPct val="150000"/>
              </a:lnSpc>
            </a:pPr>
            <a:r>
              <a:rPr lang="en-GB" sz="2000" dirty="0"/>
              <a:t>         </a:t>
            </a:r>
            <a:endParaRPr lang="en-GB" sz="2000" dirty="0" smtClean="0"/>
          </a:p>
          <a:p>
            <a:pPr>
              <a:lnSpc>
                <a:spcPct val="150000"/>
              </a:lnSpc>
            </a:pPr>
            <a:r>
              <a:rPr lang="en-GB" sz="2000" dirty="0" smtClean="0">
                <a:solidFill>
                  <a:srgbClr val="00B050"/>
                </a:solidFill>
              </a:rPr>
              <a:t>	We </a:t>
            </a:r>
            <a:r>
              <a:rPr lang="en-GB" sz="2000" dirty="0">
                <a:solidFill>
                  <a:srgbClr val="00B050"/>
                </a:solidFill>
              </a:rPr>
              <a:t>will get less C and D</a:t>
            </a:r>
          </a:p>
          <a:p>
            <a:pPr>
              <a:lnSpc>
                <a:spcPct val="150000"/>
              </a:lnSpc>
            </a:pPr>
            <a:endParaRPr lang="en-GB" sz="2400" dirty="0"/>
          </a:p>
          <a:p>
            <a:endParaRPr lang="en-GB" sz="2400" dirty="0"/>
          </a:p>
          <a:p>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p:txBody>
      </p:sp>
      <p:pic>
        <p:nvPicPr>
          <p:cNvPr id="3" name="Picture 2"/>
          <p:cNvPicPr>
            <a:picLocks noChangeAspect="1"/>
          </p:cNvPicPr>
          <p:nvPr/>
        </p:nvPicPr>
        <p:blipFill>
          <a:blip r:embed="rId2"/>
          <a:stretch>
            <a:fillRect/>
          </a:stretch>
        </p:blipFill>
        <p:spPr>
          <a:xfrm>
            <a:off x="3491880" y="1772816"/>
            <a:ext cx="2160240" cy="504056"/>
          </a:xfrm>
          <a:prstGeom prst="rect">
            <a:avLst/>
          </a:prstGeom>
        </p:spPr>
      </p:pic>
    </p:spTree>
    <p:extLst>
      <p:ext uri="{BB962C8B-B14F-4D97-AF65-F5344CB8AC3E}">
        <p14:creationId xmlns:p14="http://schemas.microsoft.com/office/powerpoint/2010/main" val="108880084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5663089"/>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2000" b="1" dirty="0">
                <a:solidFill>
                  <a:schemeClr val="tx1">
                    <a:lumMod val="50000"/>
                    <a:lumOff val="50000"/>
                  </a:schemeClr>
                </a:solidFill>
              </a:rPr>
              <a:t>Reversible reactions and </a:t>
            </a:r>
          </a:p>
          <a:p>
            <a:r>
              <a:rPr lang="en-GB" sz="2000" b="1" dirty="0">
                <a:solidFill>
                  <a:schemeClr val="tx1">
                    <a:lumMod val="50000"/>
                    <a:lumOff val="50000"/>
                  </a:schemeClr>
                </a:solidFill>
              </a:rPr>
              <a:t>dynamic equilibrium (Part 2)</a:t>
            </a:r>
          </a:p>
          <a:p>
            <a:r>
              <a:rPr lang="en-GB" sz="2000" b="1" dirty="0">
                <a:solidFill>
                  <a:schemeClr val="tx1">
                    <a:lumMod val="50000"/>
                    <a:lumOff val="50000"/>
                  </a:schemeClr>
                </a:solidFill>
              </a:rPr>
              <a:t>The Effects of changing </a:t>
            </a:r>
          </a:p>
          <a:p>
            <a:r>
              <a:rPr lang="en-GB" sz="2000" b="1" dirty="0">
                <a:solidFill>
                  <a:schemeClr val="tx1">
                    <a:lumMod val="50000"/>
                    <a:lumOff val="50000"/>
                  </a:schemeClr>
                </a:solidFill>
              </a:rPr>
              <a:t>Conditions on equilibrium</a:t>
            </a:r>
          </a:p>
          <a:p>
            <a:r>
              <a:rPr lang="en-GB" sz="2000" b="1" dirty="0">
                <a:solidFill>
                  <a:schemeClr val="tx1">
                    <a:lumMod val="50000"/>
                    <a:lumOff val="50000"/>
                  </a:schemeClr>
                </a:solidFill>
              </a:rPr>
              <a:t>(HT Only)</a:t>
            </a:r>
          </a:p>
          <a:p>
            <a:endParaRPr lang="en-GB" sz="2000" b="1" dirty="0">
              <a:solidFill>
                <a:schemeClr val="tx1">
                  <a:lumMod val="50000"/>
                  <a:lumOff val="50000"/>
                </a:schemeClr>
              </a:solidFill>
            </a:endParaRPr>
          </a:p>
          <a:p>
            <a:pPr marL="342900" indent="-342900">
              <a:buFont typeface="Arial" panose="020B0604020202020204" pitchFamily="34" charset="0"/>
              <a:buChar char="•"/>
            </a:pPr>
            <a:r>
              <a:rPr lang="en-GB" sz="2000" b="1" dirty="0">
                <a:solidFill>
                  <a:schemeClr val="tx1">
                    <a:lumMod val="50000"/>
                    <a:lumOff val="50000"/>
                  </a:schemeClr>
                </a:solidFill>
              </a:rPr>
              <a:t>Concentration</a:t>
            </a:r>
          </a:p>
          <a:p>
            <a:pPr marL="342900" indent="-342900">
              <a:buFont typeface="Arial" panose="020B0604020202020204" pitchFamily="34" charset="0"/>
              <a:buChar char="•"/>
            </a:pPr>
            <a:r>
              <a:rPr lang="en-GB" sz="2000" b="1" dirty="0">
                <a:solidFill>
                  <a:schemeClr val="tx1">
                    <a:lumMod val="50000"/>
                    <a:lumOff val="50000"/>
                  </a:schemeClr>
                </a:solidFill>
              </a:rPr>
              <a:t>Temperature</a:t>
            </a:r>
          </a:p>
          <a:p>
            <a:pPr marL="342900" indent="-342900">
              <a:buFont typeface="Arial" panose="020B0604020202020204" pitchFamily="34" charset="0"/>
              <a:buChar char="•"/>
            </a:pPr>
            <a:r>
              <a:rPr lang="en-GB" sz="2000" b="1" dirty="0">
                <a:solidFill>
                  <a:schemeClr val="tx1">
                    <a:lumMod val="50000"/>
                    <a:lumOff val="50000"/>
                  </a:schemeClr>
                </a:solidFill>
              </a:rPr>
              <a:t>Pressure</a:t>
            </a:r>
          </a:p>
          <a:p>
            <a:endParaRPr lang="en-GB" sz="2000" b="1" dirty="0">
              <a:solidFill>
                <a:schemeClr val="tx1">
                  <a:lumMod val="50000"/>
                  <a:lumOff val="50000"/>
                </a:schemeClr>
              </a:solidFill>
            </a:endParaRP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33450053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100" b="1" dirty="0">
                <a:solidFill>
                  <a:schemeClr val="accent6"/>
                </a:solidFill>
              </a:rPr>
              <a:t>The Effect of changing conditions on equilibrium (HT only)</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79512" y="764704"/>
            <a:ext cx="8640960" cy="707886"/>
          </a:xfrm>
          <a:prstGeom prst="rect">
            <a:avLst/>
          </a:prstGeom>
          <a:noFill/>
          <a:ln w="28575">
            <a:solidFill>
              <a:schemeClr val="accent6"/>
            </a:solidFill>
          </a:ln>
        </p:spPr>
        <p:txBody>
          <a:bodyPr wrap="square" rtlCol="0">
            <a:spAutoFit/>
          </a:bodyPr>
          <a:lstStyle/>
          <a:p>
            <a:r>
              <a:rPr lang="en-GB" sz="2000" dirty="0"/>
              <a:t>The relative amounts of all the reactants and products at equilibrium depend on the conditions of the reaction.</a:t>
            </a:r>
          </a:p>
        </p:txBody>
      </p:sp>
      <p:sp>
        <p:nvSpPr>
          <p:cNvPr id="7" name="TextBox 6"/>
          <p:cNvSpPr txBox="1"/>
          <p:nvPr/>
        </p:nvSpPr>
        <p:spPr>
          <a:xfrm>
            <a:off x="179512" y="1556792"/>
            <a:ext cx="8640960" cy="1138773"/>
          </a:xfrm>
          <a:prstGeom prst="rect">
            <a:avLst/>
          </a:prstGeom>
          <a:noFill/>
        </p:spPr>
        <p:txBody>
          <a:bodyPr wrap="square" rtlCol="0">
            <a:spAutoFit/>
          </a:bodyPr>
          <a:lstStyle/>
          <a:p>
            <a:r>
              <a:rPr lang="en-GB" sz="2000" dirty="0"/>
              <a:t>Using </a:t>
            </a:r>
            <a:r>
              <a:rPr lang="en-GB" sz="2000" dirty="0">
                <a:solidFill>
                  <a:schemeClr val="accent6"/>
                </a:solidFill>
              </a:rPr>
              <a:t>Le </a:t>
            </a:r>
            <a:r>
              <a:rPr lang="en-GB" sz="2000" dirty="0" err="1">
                <a:solidFill>
                  <a:schemeClr val="accent6"/>
                </a:solidFill>
              </a:rPr>
              <a:t>Chatelier’s</a:t>
            </a:r>
            <a:r>
              <a:rPr lang="en-GB" sz="2000" dirty="0">
                <a:solidFill>
                  <a:schemeClr val="accent6"/>
                </a:solidFill>
              </a:rPr>
              <a:t> </a:t>
            </a:r>
            <a:r>
              <a:rPr lang="en-GB" sz="2000" dirty="0" smtClean="0">
                <a:solidFill>
                  <a:schemeClr val="accent6"/>
                </a:solidFill>
              </a:rPr>
              <a:t>Principle </a:t>
            </a:r>
            <a:r>
              <a:rPr lang="en-GB" sz="2000" dirty="0"/>
              <a:t>we can predict what might happen when we change the conditions of a system. A system is simply the reversible reaction that is taking place in an apparatus which prevents any escape of chemicals.</a:t>
            </a:r>
          </a:p>
          <a:p>
            <a:endParaRPr lang="en-GB" sz="800" dirty="0"/>
          </a:p>
        </p:txBody>
      </p:sp>
      <p:sp>
        <p:nvSpPr>
          <p:cNvPr id="8" name="TextBox 7"/>
          <p:cNvSpPr txBox="1"/>
          <p:nvPr/>
        </p:nvSpPr>
        <p:spPr>
          <a:xfrm>
            <a:off x="179512" y="2649791"/>
            <a:ext cx="8628080" cy="1015663"/>
          </a:xfrm>
          <a:custGeom>
            <a:avLst/>
            <a:gdLst>
              <a:gd name="connsiteX0" fmla="*/ 0 w 4464496"/>
              <a:gd name="connsiteY0" fmla="*/ 0 h 1200329"/>
              <a:gd name="connsiteX1" fmla="*/ 4464496 w 4464496"/>
              <a:gd name="connsiteY1" fmla="*/ 0 h 1200329"/>
              <a:gd name="connsiteX2" fmla="*/ 4464496 w 4464496"/>
              <a:gd name="connsiteY2" fmla="*/ 1200329 h 1200329"/>
              <a:gd name="connsiteX3" fmla="*/ 0 w 4464496"/>
              <a:gd name="connsiteY3" fmla="*/ 1200329 h 1200329"/>
              <a:gd name="connsiteX4" fmla="*/ 0 w 4464496"/>
              <a:gd name="connsiteY4" fmla="*/ 0 h 1200329"/>
              <a:gd name="connsiteX0" fmla="*/ 0 w 4464496"/>
              <a:gd name="connsiteY0" fmla="*/ 0 h 1316239"/>
              <a:gd name="connsiteX1" fmla="*/ 4464496 w 4464496"/>
              <a:gd name="connsiteY1" fmla="*/ 115910 h 1316239"/>
              <a:gd name="connsiteX2" fmla="*/ 4464496 w 4464496"/>
              <a:gd name="connsiteY2" fmla="*/ 1316239 h 1316239"/>
              <a:gd name="connsiteX3" fmla="*/ 0 w 4464496"/>
              <a:gd name="connsiteY3" fmla="*/ 1316239 h 1316239"/>
              <a:gd name="connsiteX4" fmla="*/ 0 w 4464496"/>
              <a:gd name="connsiteY4" fmla="*/ 0 h 1316239"/>
              <a:gd name="connsiteX0" fmla="*/ 0 w 4464496"/>
              <a:gd name="connsiteY0" fmla="*/ 0 h 1316239"/>
              <a:gd name="connsiteX1" fmla="*/ 4464496 w 4464496"/>
              <a:gd name="connsiteY1" fmla="*/ 0 h 1316239"/>
              <a:gd name="connsiteX2" fmla="*/ 4464496 w 4464496"/>
              <a:gd name="connsiteY2" fmla="*/ 1316239 h 1316239"/>
              <a:gd name="connsiteX3" fmla="*/ 0 w 4464496"/>
              <a:gd name="connsiteY3" fmla="*/ 1316239 h 1316239"/>
              <a:gd name="connsiteX4" fmla="*/ 0 w 4464496"/>
              <a:gd name="connsiteY4" fmla="*/ 0 h 1316239"/>
              <a:gd name="connsiteX0" fmla="*/ 0 w 4464496"/>
              <a:gd name="connsiteY0" fmla="*/ 0 h 1444754"/>
              <a:gd name="connsiteX1" fmla="*/ 4464496 w 4464496"/>
              <a:gd name="connsiteY1" fmla="*/ 0 h 1444754"/>
              <a:gd name="connsiteX2" fmla="*/ 4464496 w 4464496"/>
              <a:gd name="connsiteY2" fmla="*/ 1316239 h 1444754"/>
              <a:gd name="connsiteX3" fmla="*/ 0 w 4464496"/>
              <a:gd name="connsiteY3" fmla="*/ 1444754 h 1444754"/>
              <a:gd name="connsiteX4" fmla="*/ 0 w 4464496"/>
              <a:gd name="connsiteY4" fmla="*/ 0 h 1444754"/>
              <a:gd name="connsiteX0" fmla="*/ 0 w 4464496"/>
              <a:gd name="connsiteY0" fmla="*/ 0 h 1444754"/>
              <a:gd name="connsiteX1" fmla="*/ 4464496 w 4464496"/>
              <a:gd name="connsiteY1" fmla="*/ 0 h 1444754"/>
              <a:gd name="connsiteX2" fmla="*/ 4464496 w 4464496"/>
              <a:gd name="connsiteY2" fmla="*/ 1426395 h 1444754"/>
              <a:gd name="connsiteX3" fmla="*/ 0 w 4464496"/>
              <a:gd name="connsiteY3" fmla="*/ 1444754 h 1444754"/>
              <a:gd name="connsiteX4" fmla="*/ 0 w 4464496"/>
              <a:gd name="connsiteY4" fmla="*/ 0 h 1444754"/>
              <a:gd name="connsiteX0" fmla="*/ 0 w 4464496"/>
              <a:gd name="connsiteY0" fmla="*/ 0 h 1444754"/>
              <a:gd name="connsiteX1" fmla="*/ 4464496 w 4464496"/>
              <a:gd name="connsiteY1" fmla="*/ 0 h 1444754"/>
              <a:gd name="connsiteX2" fmla="*/ 4464496 w 4464496"/>
              <a:gd name="connsiteY2" fmla="*/ 1426395 h 1444754"/>
              <a:gd name="connsiteX3" fmla="*/ 0 w 4464496"/>
              <a:gd name="connsiteY3" fmla="*/ 1444754 h 1444754"/>
              <a:gd name="connsiteX4" fmla="*/ 0 w 4464496"/>
              <a:gd name="connsiteY4" fmla="*/ 0 h 1444754"/>
              <a:gd name="connsiteX0" fmla="*/ 0 w 4464496"/>
              <a:gd name="connsiteY0" fmla="*/ 0 h 1444754"/>
              <a:gd name="connsiteX1" fmla="*/ 4464496 w 4464496"/>
              <a:gd name="connsiteY1" fmla="*/ 0 h 1444754"/>
              <a:gd name="connsiteX2" fmla="*/ 4464496 w 4464496"/>
              <a:gd name="connsiteY2" fmla="*/ 1444754 h 1444754"/>
              <a:gd name="connsiteX3" fmla="*/ 0 w 4464496"/>
              <a:gd name="connsiteY3" fmla="*/ 1444754 h 1444754"/>
              <a:gd name="connsiteX4" fmla="*/ 0 w 4464496"/>
              <a:gd name="connsiteY4" fmla="*/ 0 h 1444754"/>
              <a:gd name="connsiteX0" fmla="*/ 0 w 4464496"/>
              <a:gd name="connsiteY0" fmla="*/ 201953 h 1444754"/>
              <a:gd name="connsiteX1" fmla="*/ 4464496 w 4464496"/>
              <a:gd name="connsiteY1" fmla="*/ 0 h 1444754"/>
              <a:gd name="connsiteX2" fmla="*/ 4464496 w 4464496"/>
              <a:gd name="connsiteY2" fmla="*/ 1444754 h 1444754"/>
              <a:gd name="connsiteX3" fmla="*/ 0 w 4464496"/>
              <a:gd name="connsiteY3" fmla="*/ 1444754 h 1444754"/>
              <a:gd name="connsiteX4" fmla="*/ 0 w 4464496"/>
              <a:gd name="connsiteY4" fmla="*/ 201953 h 1444754"/>
              <a:gd name="connsiteX0" fmla="*/ 0 w 4464496"/>
              <a:gd name="connsiteY0" fmla="*/ 18360 h 1261161"/>
              <a:gd name="connsiteX1" fmla="*/ 4464496 w 4464496"/>
              <a:gd name="connsiteY1" fmla="*/ 0 h 1261161"/>
              <a:gd name="connsiteX2" fmla="*/ 4464496 w 4464496"/>
              <a:gd name="connsiteY2" fmla="*/ 1261161 h 1261161"/>
              <a:gd name="connsiteX3" fmla="*/ 0 w 4464496"/>
              <a:gd name="connsiteY3" fmla="*/ 1261161 h 1261161"/>
              <a:gd name="connsiteX4" fmla="*/ 0 w 4464496"/>
              <a:gd name="connsiteY4" fmla="*/ 18360 h 1261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4496" h="1261161">
                <a:moveTo>
                  <a:pt x="0" y="18360"/>
                </a:moveTo>
                <a:lnTo>
                  <a:pt x="4464496" y="0"/>
                </a:lnTo>
                <a:lnTo>
                  <a:pt x="4464496" y="1261161"/>
                </a:lnTo>
                <a:lnTo>
                  <a:pt x="0" y="1261161"/>
                </a:lnTo>
                <a:lnTo>
                  <a:pt x="0" y="18360"/>
                </a:lnTo>
                <a:close/>
              </a:path>
            </a:pathLst>
          </a:custGeom>
          <a:noFill/>
          <a:ln w="28575">
            <a:solidFill>
              <a:schemeClr val="accent6"/>
            </a:solidFill>
          </a:ln>
        </p:spPr>
        <p:txBody>
          <a:bodyPr wrap="square" rtlCol="0">
            <a:spAutoFit/>
          </a:bodyPr>
          <a:lstStyle/>
          <a:p>
            <a:r>
              <a:rPr lang="en-GB" sz="2000" b="1" u="sng" dirty="0"/>
              <a:t>Le </a:t>
            </a:r>
            <a:r>
              <a:rPr lang="en-GB" sz="2000" b="1" u="sng" dirty="0" err="1"/>
              <a:t>Chatelier’s</a:t>
            </a:r>
            <a:r>
              <a:rPr lang="en-GB" sz="2000" b="1" u="sng" dirty="0"/>
              <a:t> </a:t>
            </a:r>
            <a:r>
              <a:rPr lang="en-GB" sz="2000" b="1" u="sng" dirty="0" smtClean="0"/>
              <a:t>Principle</a:t>
            </a:r>
            <a:endParaRPr lang="en-GB" sz="2000" b="1" u="sng" dirty="0"/>
          </a:p>
          <a:p>
            <a:r>
              <a:rPr lang="en-GB" sz="2000" b="1" dirty="0"/>
              <a:t>If a system is at equilibrium and a change is made to any of the conditions, then the system responds to counteract the change</a:t>
            </a:r>
          </a:p>
        </p:txBody>
      </p:sp>
      <p:sp>
        <p:nvSpPr>
          <p:cNvPr id="16" name="TextBox 15"/>
          <p:cNvSpPr txBox="1"/>
          <p:nvPr/>
        </p:nvSpPr>
        <p:spPr>
          <a:xfrm>
            <a:off x="151973" y="3995832"/>
            <a:ext cx="3512699" cy="2246769"/>
          </a:xfrm>
          <a:custGeom>
            <a:avLst/>
            <a:gdLst>
              <a:gd name="connsiteX0" fmla="*/ 0 w 4464496"/>
              <a:gd name="connsiteY0" fmla="*/ 0 h 1754326"/>
              <a:gd name="connsiteX1" fmla="*/ 4464496 w 4464496"/>
              <a:gd name="connsiteY1" fmla="*/ 0 h 1754326"/>
              <a:gd name="connsiteX2" fmla="*/ 4464496 w 4464496"/>
              <a:gd name="connsiteY2" fmla="*/ 1754326 h 1754326"/>
              <a:gd name="connsiteX3" fmla="*/ 0 w 4464496"/>
              <a:gd name="connsiteY3" fmla="*/ 1754326 h 1754326"/>
              <a:gd name="connsiteX4" fmla="*/ 0 w 4464496"/>
              <a:gd name="connsiteY4" fmla="*/ 0 h 1754326"/>
              <a:gd name="connsiteX0" fmla="*/ 0 w 4464496"/>
              <a:gd name="connsiteY0" fmla="*/ 0 h 1792963"/>
              <a:gd name="connsiteX1" fmla="*/ 4464496 w 4464496"/>
              <a:gd name="connsiteY1" fmla="*/ 38637 h 1792963"/>
              <a:gd name="connsiteX2" fmla="*/ 4464496 w 4464496"/>
              <a:gd name="connsiteY2" fmla="*/ 1792963 h 1792963"/>
              <a:gd name="connsiteX3" fmla="*/ 0 w 4464496"/>
              <a:gd name="connsiteY3" fmla="*/ 1792963 h 1792963"/>
              <a:gd name="connsiteX4" fmla="*/ 0 w 4464496"/>
              <a:gd name="connsiteY4" fmla="*/ 0 h 1792963"/>
              <a:gd name="connsiteX0" fmla="*/ 0 w 4464496"/>
              <a:gd name="connsiteY0" fmla="*/ 25758 h 1818721"/>
              <a:gd name="connsiteX1" fmla="*/ 4464496 w 4464496"/>
              <a:gd name="connsiteY1" fmla="*/ 0 h 1818721"/>
              <a:gd name="connsiteX2" fmla="*/ 4464496 w 4464496"/>
              <a:gd name="connsiteY2" fmla="*/ 1818721 h 1818721"/>
              <a:gd name="connsiteX3" fmla="*/ 0 w 4464496"/>
              <a:gd name="connsiteY3" fmla="*/ 1818721 h 1818721"/>
              <a:gd name="connsiteX4" fmla="*/ 0 w 4464496"/>
              <a:gd name="connsiteY4" fmla="*/ 25758 h 1818721"/>
              <a:gd name="connsiteX0" fmla="*/ 0 w 4464496"/>
              <a:gd name="connsiteY0" fmla="*/ 0 h 1792963"/>
              <a:gd name="connsiteX1" fmla="*/ 4464496 w 4464496"/>
              <a:gd name="connsiteY1" fmla="*/ 0 h 1792963"/>
              <a:gd name="connsiteX2" fmla="*/ 4464496 w 4464496"/>
              <a:gd name="connsiteY2" fmla="*/ 1792963 h 1792963"/>
              <a:gd name="connsiteX3" fmla="*/ 0 w 4464496"/>
              <a:gd name="connsiteY3" fmla="*/ 1792963 h 1792963"/>
              <a:gd name="connsiteX4" fmla="*/ 0 w 4464496"/>
              <a:gd name="connsiteY4" fmla="*/ 0 h 1792963"/>
              <a:gd name="connsiteX0" fmla="*/ 0 w 4464496"/>
              <a:gd name="connsiteY0" fmla="*/ 0 h 1792963"/>
              <a:gd name="connsiteX1" fmla="*/ 4232677 w 4464496"/>
              <a:gd name="connsiteY1" fmla="*/ 0 h 1792963"/>
              <a:gd name="connsiteX2" fmla="*/ 4464496 w 4464496"/>
              <a:gd name="connsiteY2" fmla="*/ 1792963 h 1792963"/>
              <a:gd name="connsiteX3" fmla="*/ 0 w 4464496"/>
              <a:gd name="connsiteY3" fmla="*/ 1792963 h 1792963"/>
              <a:gd name="connsiteX4" fmla="*/ 0 w 4464496"/>
              <a:gd name="connsiteY4" fmla="*/ 0 h 1792963"/>
              <a:gd name="connsiteX0" fmla="*/ 0 w 4245555"/>
              <a:gd name="connsiteY0" fmla="*/ 0 h 1792963"/>
              <a:gd name="connsiteX1" fmla="*/ 4232677 w 4245555"/>
              <a:gd name="connsiteY1" fmla="*/ 0 h 1792963"/>
              <a:gd name="connsiteX2" fmla="*/ 4245555 w 4245555"/>
              <a:gd name="connsiteY2" fmla="*/ 1792963 h 1792963"/>
              <a:gd name="connsiteX3" fmla="*/ 0 w 4245555"/>
              <a:gd name="connsiteY3" fmla="*/ 1792963 h 1792963"/>
              <a:gd name="connsiteX4" fmla="*/ 0 w 4245555"/>
              <a:gd name="connsiteY4" fmla="*/ 0 h 1792963"/>
              <a:gd name="connsiteX0" fmla="*/ 0 w 4233916"/>
              <a:gd name="connsiteY0" fmla="*/ 0 h 1792963"/>
              <a:gd name="connsiteX1" fmla="*/ 4232677 w 4233916"/>
              <a:gd name="connsiteY1" fmla="*/ 0 h 1792963"/>
              <a:gd name="connsiteX2" fmla="*/ 4232677 w 4233916"/>
              <a:gd name="connsiteY2" fmla="*/ 1792963 h 1792963"/>
              <a:gd name="connsiteX3" fmla="*/ 0 w 4233916"/>
              <a:gd name="connsiteY3" fmla="*/ 1792963 h 1792963"/>
              <a:gd name="connsiteX4" fmla="*/ 0 w 4233916"/>
              <a:gd name="connsiteY4" fmla="*/ 0 h 1792963"/>
              <a:gd name="connsiteX0" fmla="*/ 0 w 4232677"/>
              <a:gd name="connsiteY0" fmla="*/ 0 h 1792963"/>
              <a:gd name="connsiteX1" fmla="*/ 3936463 w 4232677"/>
              <a:gd name="connsiteY1" fmla="*/ 0 h 1792963"/>
              <a:gd name="connsiteX2" fmla="*/ 4232677 w 4232677"/>
              <a:gd name="connsiteY2" fmla="*/ 1792963 h 1792963"/>
              <a:gd name="connsiteX3" fmla="*/ 0 w 4232677"/>
              <a:gd name="connsiteY3" fmla="*/ 1792963 h 1792963"/>
              <a:gd name="connsiteX4" fmla="*/ 0 w 4232677"/>
              <a:gd name="connsiteY4" fmla="*/ 0 h 1792963"/>
              <a:gd name="connsiteX0" fmla="*/ 0 w 3937033"/>
              <a:gd name="connsiteY0" fmla="*/ 0 h 1792963"/>
              <a:gd name="connsiteX1" fmla="*/ 3936463 w 3937033"/>
              <a:gd name="connsiteY1" fmla="*/ 0 h 1792963"/>
              <a:gd name="connsiteX2" fmla="*/ 3923584 w 3937033"/>
              <a:gd name="connsiteY2" fmla="*/ 1792963 h 1792963"/>
              <a:gd name="connsiteX3" fmla="*/ 0 w 3937033"/>
              <a:gd name="connsiteY3" fmla="*/ 1792963 h 1792963"/>
              <a:gd name="connsiteX4" fmla="*/ 0 w 3937033"/>
              <a:gd name="connsiteY4" fmla="*/ 0 h 1792963"/>
              <a:gd name="connsiteX0" fmla="*/ 0 w 3937033"/>
              <a:gd name="connsiteY0" fmla="*/ 0 h 2031684"/>
              <a:gd name="connsiteX1" fmla="*/ 3936463 w 3937033"/>
              <a:gd name="connsiteY1" fmla="*/ 0 h 2031684"/>
              <a:gd name="connsiteX2" fmla="*/ 3923584 w 3937033"/>
              <a:gd name="connsiteY2" fmla="*/ 1792963 h 2031684"/>
              <a:gd name="connsiteX3" fmla="*/ 0 w 3937033"/>
              <a:gd name="connsiteY3" fmla="*/ 2031684 h 2031684"/>
              <a:gd name="connsiteX4" fmla="*/ 0 w 3937033"/>
              <a:gd name="connsiteY4" fmla="*/ 0 h 2031684"/>
              <a:gd name="connsiteX0" fmla="*/ 0 w 3923584"/>
              <a:gd name="connsiteY0" fmla="*/ 0 h 2031684"/>
              <a:gd name="connsiteX1" fmla="*/ 3511460 w 3923584"/>
              <a:gd name="connsiteY1" fmla="*/ 0 h 2031684"/>
              <a:gd name="connsiteX2" fmla="*/ 3923584 w 3923584"/>
              <a:gd name="connsiteY2" fmla="*/ 1792963 h 2031684"/>
              <a:gd name="connsiteX3" fmla="*/ 0 w 3923584"/>
              <a:gd name="connsiteY3" fmla="*/ 2031684 h 2031684"/>
              <a:gd name="connsiteX4" fmla="*/ 0 w 3923584"/>
              <a:gd name="connsiteY4" fmla="*/ 0 h 2031684"/>
              <a:gd name="connsiteX0" fmla="*/ 0 w 3524339"/>
              <a:gd name="connsiteY0" fmla="*/ 0 h 2031684"/>
              <a:gd name="connsiteX1" fmla="*/ 3511460 w 3524339"/>
              <a:gd name="connsiteY1" fmla="*/ 0 h 2031684"/>
              <a:gd name="connsiteX2" fmla="*/ 3524339 w 3524339"/>
              <a:gd name="connsiteY2" fmla="*/ 1974845 h 2031684"/>
              <a:gd name="connsiteX3" fmla="*/ 0 w 3524339"/>
              <a:gd name="connsiteY3" fmla="*/ 2031684 h 2031684"/>
              <a:gd name="connsiteX4" fmla="*/ 0 w 3524339"/>
              <a:gd name="connsiteY4" fmla="*/ 0 h 2031684"/>
              <a:gd name="connsiteX0" fmla="*/ 0 w 3524339"/>
              <a:gd name="connsiteY0" fmla="*/ 0 h 2031684"/>
              <a:gd name="connsiteX1" fmla="*/ 3511460 w 3524339"/>
              <a:gd name="connsiteY1" fmla="*/ 0 h 2031684"/>
              <a:gd name="connsiteX2" fmla="*/ 3524339 w 3524339"/>
              <a:gd name="connsiteY2" fmla="*/ 1986213 h 2031684"/>
              <a:gd name="connsiteX3" fmla="*/ 0 w 3524339"/>
              <a:gd name="connsiteY3" fmla="*/ 2031684 h 2031684"/>
              <a:gd name="connsiteX4" fmla="*/ 0 w 3524339"/>
              <a:gd name="connsiteY4" fmla="*/ 0 h 2031684"/>
              <a:gd name="connsiteX0" fmla="*/ 0 w 3512699"/>
              <a:gd name="connsiteY0" fmla="*/ 0 h 2031684"/>
              <a:gd name="connsiteX1" fmla="*/ 3511460 w 3512699"/>
              <a:gd name="connsiteY1" fmla="*/ 0 h 2031684"/>
              <a:gd name="connsiteX2" fmla="*/ 3511460 w 3512699"/>
              <a:gd name="connsiteY2" fmla="*/ 1986213 h 2031684"/>
              <a:gd name="connsiteX3" fmla="*/ 0 w 3512699"/>
              <a:gd name="connsiteY3" fmla="*/ 2031684 h 2031684"/>
              <a:gd name="connsiteX4" fmla="*/ 0 w 3512699"/>
              <a:gd name="connsiteY4" fmla="*/ 0 h 2031684"/>
              <a:gd name="connsiteX0" fmla="*/ 0 w 3512699"/>
              <a:gd name="connsiteY0" fmla="*/ 0 h 2031684"/>
              <a:gd name="connsiteX1" fmla="*/ 3511460 w 3512699"/>
              <a:gd name="connsiteY1" fmla="*/ 0 h 2031684"/>
              <a:gd name="connsiteX2" fmla="*/ 3511460 w 3512699"/>
              <a:gd name="connsiteY2" fmla="*/ 2020315 h 2031684"/>
              <a:gd name="connsiteX3" fmla="*/ 0 w 3512699"/>
              <a:gd name="connsiteY3" fmla="*/ 2031684 h 2031684"/>
              <a:gd name="connsiteX4" fmla="*/ 0 w 3512699"/>
              <a:gd name="connsiteY4" fmla="*/ 0 h 203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2699" h="2031684">
                <a:moveTo>
                  <a:pt x="0" y="0"/>
                </a:moveTo>
                <a:lnTo>
                  <a:pt x="3511460" y="0"/>
                </a:lnTo>
                <a:cubicBezTo>
                  <a:pt x="3515753" y="597654"/>
                  <a:pt x="3507167" y="1422661"/>
                  <a:pt x="3511460" y="2020315"/>
                </a:cubicBezTo>
                <a:lnTo>
                  <a:pt x="0" y="2031684"/>
                </a:lnTo>
                <a:lnTo>
                  <a:pt x="0" y="0"/>
                </a:lnTo>
                <a:close/>
              </a:path>
            </a:pathLst>
          </a:custGeom>
          <a:noFill/>
          <a:ln w="28575">
            <a:solidFill>
              <a:schemeClr val="accent6"/>
            </a:solidFill>
          </a:ln>
        </p:spPr>
        <p:txBody>
          <a:bodyPr wrap="square" rtlCol="0">
            <a:spAutoFit/>
          </a:bodyPr>
          <a:lstStyle/>
          <a:p>
            <a:r>
              <a:rPr lang="en-GB" sz="2000" dirty="0"/>
              <a:t>The three conditions which could be changed and are:</a:t>
            </a:r>
          </a:p>
          <a:p>
            <a:pPr marL="285750" indent="-285750">
              <a:buFont typeface="Arial" panose="020B0604020202020204" pitchFamily="34" charset="0"/>
              <a:buChar char="•"/>
            </a:pPr>
            <a:r>
              <a:rPr lang="en-GB" sz="2000" dirty="0">
                <a:solidFill>
                  <a:schemeClr val="accent6"/>
                </a:solidFill>
              </a:rPr>
              <a:t>Concentration</a:t>
            </a:r>
          </a:p>
          <a:p>
            <a:pPr marL="285750" indent="-285750">
              <a:buFont typeface="Arial" panose="020B0604020202020204" pitchFamily="34" charset="0"/>
              <a:buChar char="•"/>
            </a:pPr>
            <a:r>
              <a:rPr lang="en-GB" sz="2000" dirty="0">
                <a:solidFill>
                  <a:schemeClr val="accent6"/>
                </a:solidFill>
              </a:rPr>
              <a:t>Temperature</a:t>
            </a:r>
          </a:p>
          <a:p>
            <a:pPr marL="285750" indent="-285750">
              <a:buFont typeface="Arial" panose="020B0604020202020204" pitchFamily="34" charset="0"/>
              <a:buChar char="•"/>
            </a:pPr>
            <a:r>
              <a:rPr lang="en-GB" sz="2000" dirty="0">
                <a:solidFill>
                  <a:schemeClr val="accent6"/>
                </a:solidFill>
              </a:rPr>
              <a:t>Pressure</a:t>
            </a:r>
          </a:p>
          <a:p>
            <a:r>
              <a:rPr lang="en-GB" sz="2000" dirty="0"/>
              <a:t>You must use Le </a:t>
            </a:r>
            <a:r>
              <a:rPr lang="en-GB" sz="2000" dirty="0" err="1"/>
              <a:t>Chatelier’s</a:t>
            </a:r>
            <a:r>
              <a:rPr lang="en-GB" sz="2000" dirty="0"/>
              <a:t> </a:t>
            </a:r>
            <a:r>
              <a:rPr lang="en-GB" sz="2000" dirty="0" smtClean="0"/>
              <a:t>principle </a:t>
            </a:r>
            <a:r>
              <a:rPr lang="en-GB" sz="2000" dirty="0"/>
              <a:t>in your explanation.</a:t>
            </a:r>
            <a:r>
              <a:rPr lang="en-GB" sz="2000" dirty="0">
                <a:solidFill>
                  <a:schemeClr val="accent6"/>
                </a:solidFill>
              </a:rPr>
              <a:t> </a:t>
            </a:r>
          </a:p>
        </p:txBody>
      </p:sp>
      <p:sp>
        <p:nvSpPr>
          <p:cNvPr id="17" name="TextBox 16"/>
          <p:cNvSpPr txBox="1"/>
          <p:nvPr/>
        </p:nvSpPr>
        <p:spPr>
          <a:xfrm>
            <a:off x="3846630" y="3841943"/>
            <a:ext cx="4952114" cy="2554545"/>
          </a:xfrm>
          <a:custGeom>
            <a:avLst/>
            <a:gdLst>
              <a:gd name="connsiteX0" fmla="*/ 0 w 3986198"/>
              <a:gd name="connsiteY0" fmla="*/ 0 h 2308324"/>
              <a:gd name="connsiteX1" fmla="*/ 3986198 w 3986198"/>
              <a:gd name="connsiteY1" fmla="*/ 0 h 2308324"/>
              <a:gd name="connsiteX2" fmla="*/ 3986198 w 3986198"/>
              <a:gd name="connsiteY2" fmla="*/ 2308324 h 2308324"/>
              <a:gd name="connsiteX3" fmla="*/ 0 w 3986198"/>
              <a:gd name="connsiteY3" fmla="*/ 2308324 h 2308324"/>
              <a:gd name="connsiteX4" fmla="*/ 0 w 3986198"/>
              <a:gd name="connsiteY4" fmla="*/ 0 h 2308324"/>
              <a:gd name="connsiteX0" fmla="*/ 0 w 3986198"/>
              <a:gd name="connsiteY0" fmla="*/ 38637 h 2308324"/>
              <a:gd name="connsiteX1" fmla="*/ 3986198 w 3986198"/>
              <a:gd name="connsiteY1" fmla="*/ 0 h 2308324"/>
              <a:gd name="connsiteX2" fmla="*/ 3986198 w 3986198"/>
              <a:gd name="connsiteY2" fmla="*/ 2308324 h 2308324"/>
              <a:gd name="connsiteX3" fmla="*/ 0 w 3986198"/>
              <a:gd name="connsiteY3" fmla="*/ 2308324 h 2308324"/>
              <a:gd name="connsiteX4" fmla="*/ 0 w 3986198"/>
              <a:gd name="connsiteY4" fmla="*/ 38637 h 2308324"/>
              <a:gd name="connsiteX0" fmla="*/ 0 w 3986198"/>
              <a:gd name="connsiteY0" fmla="*/ 0 h 2269687"/>
              <a:gd name="connsiteX1" fmla="*/ 3986198 w 3986198"/>
              <a:gd name="connsiteY1" fmla="*/ 0 h 2269687"/>
              <a:gd name="connsiteX2" fmla="*/ 3986198 w 3986198"/>
              <a:gd name="connsiteY2" fmla="*/ 2269687 h 2269687"/>
              <a:gd name="connsiteX3" fmla="*/ 0 w 3986198"/>
              <a:gd name="connsiteY3" fmla="*/ 2269687 h 2269687"/>
              <a:gd name="connsiteX4" fmla="*/ 0 w 3986198"/>
              <a:gd name="connsiteY4" fmla="*/ 0 h 2269687"/>
              <a:gd name="connsiteX0" fmla="*/ 0 w 4488474"/>
              <a:gd name="connsiteY0" fmla="*/ 12663 h 2269687"/>
              <a:gd name="connsiteX1" fmla="*/ 4488474 w 4488474"/>
              <a:gd name="connsiteY1" fmla="*/ 0 h 2269687"/>
              <a:gd name="connsiteX2" fmla="*/ 4488474 w 4488474"/>
              <a:gd name="connsiteY2" fmla="*/ 2269687 h 2269687"/>
              <a:gd name="connsiteX3" fmla="*/ 502276 w 4488474"/>
              <a:gd name="connsiteY3" fmla="*/ 2269687 h 2269687"/>
              <a:gd name="connsiteX4" fmla="*/ 0 w 4488474"/>
              <a:gd name="connsiteY4" fmla="*/ 12663 h 2269687"/>
              <a:gd name="connsiteX0" fmla="*/ 0 w 4488474"/>
              <a:gd name="connsiteY0" fmla="*/ 12663 h 2269687"/>
              <a:gd name="connsiteX1" fmla="*/ 4488474 w 4488474"/>
              <a:gd name="connsiteY1" fmla="*/ 0 h 2269687"/>
              <a:gd name="connsiteX2" fmla="*/ 4488474 w 4488474"/>
              <a:gd name="connsiteY2" fmla="*/ 2269687 h 2269687"/>
              <a:gd name="connsiteX3" fmla="*/ 25757 w 4488474"/>
              <a:gd name="connsiteY3" fmla="*/ 2269687 h 2269687"/>
              <a:gd name="connsiteX4" fmla="*/ 0 w 4488474"/>
              <a:gd name="connsiteY4" fmla="*/ 12663 h 2269687"/>
              <a:gd name="connsiteX0" fmla="*/ 77274 w 4565748"/>
              <a:gd name="connsiteY0" fmla="*/ 12663 h 2269687"/>
              <a:gd name="connsiteX1" fmla="*/ 4565748 w 4565748"/>
              <a:gd name="connsiteY1" fmla="*/ 0 h 2269687"/>
              <a:gd name="connsiteX2" fmla="*/ 4565748 w 4565748"/>
              <a:gd name="connsiteY2" fmla="*/ 2269687 h 2269687"/>
              <a:gd name="connsiteX3" fmla="*/ 0 w 4565748"/>
              <a:gd name="connsiteY3" fmla="*/ 2269687 h 2269687"/>
              <a:gd name="connsiteX4" fmla="*/ 77274 w 4565748"/>
              <a:gd name="connsiteY4" fmla="*/ 12663 h 2269687"/>
              <a:gd name="connsiteX0" fmla="*/ 12879 w 4565748"/>
              <a:gd name="connsiteY0" fmla="*/ 25327 h 2269687"/>
              <a:gd name="connsiteX1" fmla="*/ 4565748 w 4565748"/>
              <a:gd name="connsiteY1" fmla="*/ 0 h 2269687"/>
              <a:gd name="connsiteX2" fmla="*/ 4565748 w 4565748"/>
              <a:gd name="connsiteY2" fmla="*/ 2269687 h 2269687"/>
              <a:gd name="connsiteX3" fmla="*/ 0 w 4565748"/>
              <a:gd name="connsiteY3" fmla="*/ 2269687 h 2269687"/>
              <a:gd name="connsiteX4" fmla="*/ 12879 w 4565748"/>
              <a:gd name="connsiteY4" fmla="*/ 25327 h 2269687"/>
              <a:gd name="connsiteX0" fmla="*/ 0 w 4952114"/>
              <a:gd name="connsiteY0" fmla="*/ 50654 h 2269687"/>
              <a:gd name="connsiteX1" fmla="*/ 4952114 w 4952114"/>
              <a:gd name="connsiteY1" fmla="*/ 0 h 2269687"/>
              <a:gd name="connsiteX2" fmla="*/ 4952114 w 4952114"/>
              <a:gd name="connsiteY2" fmla="*/ 2269687 h 2269687"/>
              <a:gd name="connsiteX3" fmla="*/ 386366 w 4952114"/>
              <a:gd name="connsiteY3" fmla="*/ 2269687 h 2269687"/>
              <a:gd name="connsiteX4" fmla="*/ 0 w 4952114"/>
              <a:gd name="connsiteY4" fmla="*/ 50654 h 2269687"/>
              <a:gd name="connsiteX0" fmla="*/ 0 w 4952114"/>
              <a:gd name="connsiteY0" fmla="*/ 12664 h 2231697"/>
              <a:gd name="connsiteX1" fmla="*/ 4952114 w 4952114"/>
              <a:gd name="connsiteY1" fmla="*/ 0 h 2231697"/>
              <a:gd name="connsiteX2" fmla="*/ 4952114 w 4952114"/>
              <a:gd name="connsiteY2" fmla="*/ 2231697 h 2231697"/>
              <a:gd name="connsiteX3" fmla="*/ 386366 w 4952114"/>
              <a:gd name="connsiteY3" fmla="*/ 2231697 h 2231697"/>
              <a:gd name="connsiteX4" fmla="*/ 0 w 4952114"/>
              <a:gd name="connsiteY4" fmla="*/ 12664 h 2231697"/>
              <a:gd name="connsiteX0" fmla="*/ 12879 w 4964993"/>
              <a:gd name="connsiteY0" fmla="*/ 12664 h 2231697"/>
              <a:gd name="connsiteX1" fmla="*/ 4964993 w 4964993"/>
              <a:gd name="connsiteY1" fmla="*/ 0 h 2231697"/>
              <a:gd name="connsiteX2" fmla="*/ 4964993 w 4964993"/>
              <a:gd name="connsiteY2" fmla="*/ 2231697 h 2231697"/>
              <a:gd name="connsiteX3" fmla="*/ 0 w 4964993"/>
              <a:gd name="connsiteY3" fmla="*/ 2231697 h 2231697"/>
              <a:gd name="connsiteX4" fmla="*/ 12879 w 4964993"/>
              <a:gd name="connsiteY4" fmla="*/ 12664 h 2231697"/>
              <a:gd name="connsiteX0" fmla="*/ 0 w 4952114"/>
              <a:gd name="connsiteY0" fmla="*/ 12664 h 2231697"/>
              <a:gd name="connsiteX1" fmla="*/ 4952114 w 4952114"/>
              <a:gd name="connsiteY1" fmla="*/ 0 h 2231697"/>
              <a:gd name="connsiteX2" fmla="*/ 4952114 w 4952114"/>
              <a:gd name="connsiteY2" fmla="*/ 2231697 h 2231697"/>
              <a:gd name="connsiteX3" fmla="*/ 0 w 4952114"/>
              <a:gd name="connsiteY3" fmla="*/ 2231697 h 2231697"/>
              <a:gd name="connsiteX4" fmla="*/ 0 w 4952114"/>
              <a:gd name="connsiteY4" fmla="*/ 12664 h 2231697"/>
              <a:gd name="connsiteX0" fmla="*/ 0 w 4952114"/>
              <a:gd name="connsiteY0" fmla="*/ 12664 h 2231697"/>
              <a:gd name="connsiteX1" fmla="*/ 4952114 w 4952114"/>
              <a:gd name="connsiteY1" fmla="*/ 0 h 2231697"/>
              <a:gd name="connsiteX2" fmla="*/ 4939236 w 4952114"/>
              <a:gd name="connsiteY2" fmla="*/ 2219034 h 2231697"/>
              <a:gd name="connsiteX3" fmla="*/ 0 w 4952114"/>
              <a:gd name="connsiteY3" fmla="*/ 2231697 h 2231697"/>
              <a:gd name="connsiteX4" fmla="*/ 0 w 4952114"/>
              <a:gd name="connsiteY4" fmla="*/ 12664 h 2231697"/>
              <a:gd name="connsiteX0" fmla="*/ 0 w 4952114"/>
              <a:gd name="connsiteY0" fmla="*/ 12664 h 2231698"/>
              <a:gd name="connsiteX1" fmla="*/ 4952114 w 4952114"/>
              <a:gd name="connsiteY1" fmla="*/ 0 h 2231698"/>
              <a:gd name="connsiteX2" fmla="*/ 4939236 w 4952114"/>
              <a:gd name="connsiteY2" fmla="*/ 2231698 h 2231698"/>
              <a:gd name="connsiteX3" fmla="*/ 0 w 4952114"/>
              <a:gd name="connsiteY3" fmla="*/ 2231697 h 2231698"/>
              <a:gd name="connsiteX4" fmla="*/ 0 w 4952114"/>
              <a:gd name="connsiteY4" fmla="*/ 12664 h 2231698"/>
              <a:gd name="connsiteX0" fmla="*/ 0 w 4952114"/>
              <a:gd name="connsiteY0" fmla="*/ 1 h 2219035"/>
              <a:gd name="connsiteX1" fmla="*/ 4952114 w 4952114"/>
              <a:gd name="connsiteY1" fmla="*/ 0 h 2219035"/>
              <a:gd name="connsiteX2" fmla="*/ 4939236 w 4952114"/>
              <a:gd name="connsiteY2" fmla="*/ 2219035 h 2219035"/>
              <a:gd name="connsiteX3" fmla="*/ 0 w 4952114"/>
              <a:gd name="connsiteY3" fmla="*/ 2219034 h 2219035"/>
              <a:gd name="connsiteX4" fmla="*/ 0 w 4952114"/>
              <a:gd name="connsiteY4" fmla="*/ 1 h 2219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2114" h="2219035">
                <a:moveTo>
                  <a:pt x="0" y="1"/>
                </a:moveTo>
                <a:lnTo>
                  <a:pt x="4952114" y="0"/>
                </a:lnTo>
                <a:cubicBezTo>
                  <a:pt x="4947821" y="739678"/>
                  <a:pt x="4943529" y="1479357"/>
                  <a:pt x="4939236" y="2219035"/>
                </a:cubicBezTo>
                <a:lnTo>
                  <a:pt x="0" y="2219034"/>
                </a:lnTo>
                <a:lnTo>
                  <a:pt x="0" y="1"/>
                </a:lnTo>
                <a:close/>
              </a:path>
            </a:pathLst>
          </a:custGeom>
          <a:solidFill>
            <a:schemeClr val="bg1"/>
          </a:solidFill>
          <a:ln>
            <a:solidFill>
              <a:schemeClr val="tx1"/>
            </a:solidFill>
          </a:ln>
        </p:spPr>
        <p:txBody>
          <a:bodyPr wrap="square" rtlCol="0">
            <a:spAutoFit/>
          </a:bodyPr>
          <a:lstStyle/>
          <a:p>
            <a:r>
              <a:rPr lang="en-GB" sz="2000" dirty="0"/>
              <a:t>The two equations we are going to use to explain these changes are: </a:t>
            </a:r>
          </a:p>
          <a:p>
            <a:pPr algn="ctr"/>
            <a:r>
              <a:rPr lang="en-GB" sz="2000" dirty="0"/>
              <a:t>I</a:t>
            </a:r>
            <a:r>
              <a:rPr lang="en-GB" sz="2000" baseline="-25000" dirty="0"/>
              <a:t>2</a:t>
            </a:r>
            <a:r>
              <a:rPr lang="en-GB" sz="2000" dirty="0"/>
              <a:t> (g)  +  H</a:t>
            </a:r>
            <a:r>
              <a:rPr lang="en-GB" sz="2000" baseline="-25000" dirty="0"/>
              <a:t>2</a:t>
            </a:r>
            <a:r>
              <a:rPr lang="en-GB" sz="2000" dirty="0"/>
              <a:t>  (g)       </a:t>
            </a:r>
            <a:r>
              <a:rPr lang="en-GB" sz="2000" dirty="0">
                <a:sym typeface="Wingdings" panose="05000000000000000000" pitchFamily="2" charset="2"/>
              </a:rPr>
              <a:t>  2HI (g)</a:t>
            </a:r>
          </a:p>
          <a:p>
            <a:pPr algn="ctr"/>
            <a:r>
              <a:rPr lang="en-GB" sz="2000" dirty="0">
                <a:sym typeface="Wingdings" panose="05000000000000000000" pitchFamily="2" charset="2"/>
              </a:rPr>
              <a:t>and</a:t>
            </a:r>
          </a:p>
          <a:p>
            <a:pPr algn="ctr"/>
            <a:r>
              <a:rPr lang="en-GB" sz="2000" dirty="0">
                <a:sym typeface="Wingdings" panose="05000000000000000000" pitchFamily="2" charset="2"/>
              </a:rPr>
              <a:t>N</a:t>
            </a:r>
            <a:r>
              <a:rPr lang="en-GB" sz="2000" baseline="-25000" dirty="0">
                <a:sym typeface="Wingdings" panose="05000000000000000000" pitchFamily="2" charset="2"/>
              </a:rPr>
              <a:t>2</a:t>
            </a:r>
            <a:r>
              <a:rPr lang="en-GB" sz="2000" dirty="0">
                <a:sym typeface="Wingdings" panose="05000000000000000000" pitchFamily="2" charset="2"/>
              </a:rPr>
              <a:t> (g)  +  3H</a:t>
            </a:r>
            <a:r>
              <a:rPr lang="en-GB" sz="2000" baseline="-25000" dirty="0">
                <a:sym typeface="Wingdings" panose="05000000000000000000" pitchFamily="2" charset="2"/>
              </a:rPr>
              <a:t>2</a:t>
            </a:r>
            <a:r>
              <a:rPr lang="en-GB" sz="2000" dirty="0">
                <a:sym typeface="Wingdings" panose="05000000000000000000" pitchFamily="2" charset="2"/>
              </a:rPr>
              <a:t> (g)         2NH</a:t>
            </a:r>
            <a:r>
              <a:rPr lang="en-GB" sz="2000" baseline="-25000" dirty="0">
                <a:sym typeface="Wingdings" panose="05000000000000000000" pitchFamily="2" charset="2"/>
              </a:rPr>
              <a:t>3</a:t>
            </a:r>
            <a:r>
              <a:rPr lang="en-GB" sz="2000" dirty="0">
                <a:sym typeface="Wingdings" panose="05000000000000000000" pitchFamily="2" charset="2"/>
              </a:rPr>
              <a:t> (g)</a:t>
            </a:r>
          </a:p>
          <a:p>
            <a:r>
              <a:rPr lang="en-GB" sz="2000" dirty="0">
                <a:sym typeface="Wingdings" panose="05000000000000000000" pitchFamily="2" charset="2"/>
              </a:rPr>
              <a:t>How could you change the concentration, temperature or pressure in either of these reactions?</a:t>
            </a:r>
            <a:endParaRPr lang="en-GB" sz="2000" dirty="0"/>
          </a:p>
        </p:txBody>
      </p:sp>
      <p:pic>
        <p:nvPicPr>
          <p:cNvPr id="19" name="Picture 18"/>
          <p:cNvPicPr/>
          <p:nvPr/>
        </p:nvPicPr>
        <p:blipFill>
          <a:blip r:embed="rId3"/>
          <a:stretch>
            <a:fillRect/>
          </a:stretch>
        </p:blipFill>
        <p:spPr>
          <a:xfrm>
            <a:off x="6520752" y="5160207"/>
            <a:ext cx="361950" cy="247650"/>
          </a:xfrm>
          <a:prstGeom prst="rect">
            <a:avLst/>
          </a:prstGeom>
        </p:spPr>
      </p:pic>
      <p:pic>
        <p:nvPicPr>
          <p:cNvPr id="20" name="Picture 19"/>
          <p:cNvPicPr/>
          <p:nvPr/>
        </p:nvPicPr>
        <p:blipFill>
          <a:blip r:embed="rId3"/>
          <a:stretch>
            <a:fillRect/>
          </a:stretch>
        </p:blipFill>
        <p:spPr>
          <a:xfrm>
            <a:off x="6516216" y="4510803"/>
            <a:ext cx="361950" cy="247650"/>
          </a:xfrm>
          <a:prstGeom prst="rect">
            <a:avLst/>
          </a:prstGeom>
        </p:spPr>
      </p:pic>
    </p:spTree>
    <p:extLst>
      <p:ext uri="{BB962C8B-B14F-4D97-AF65-F5344CB8AC3E}">
        <p14:creationId xmlns:p14="http://schemas.microsoft.com/office/powerpoint/2010/main" val="107052972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100" b="1" dirty="0">
                <a:solidFill>
                  <a:schemeClr val="accent6"/>
                </a:solidFill>
              </a:rPr>
              <a:t>The Effect of changing conditions on equilibrium (HT only)</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836712"/>
            <a:ext cx="8856984" cy="1323439"/>
          </a:xfrm>
          <a:prstGeom prst="rect">
            <a:avLst/>
          </a:prstGeom>
          <a:noFill/>
          <a:ln w="28575">
            <a:solidFill>
              <a:schemeClr val="accent6"/>
            </a:solidFill>
          </a:ln>
        </p:spPr>
        <p:txBody>
          <a:bodyPr wrap="square" rtlCol="0">
            <a:spAutoFit/>
          </a:bodyPr>
          <a:lstStyle/>
          <a:p>
            <a:r>
              <a:rPr lang="en-GB" sz="2000" b="1" u="sng" dirty="0"/>
              <a:t>The Effect of Changing Concentration</a:t>
            </a:r>
          </a:p>
          <a:p>
            <a:r>
              <a:rPr lang="en-GB" sz="2000" dirty="0"/>
              <a:t>If the </a:t>
            </a:r>
            <a:r>
              <a:rPr lang="en-GB" sz="2000" b="1" dirty="0">
                <a:solidFill>
                  <a:schemeClr val="accent6"/>
                </a:solidFill>
              </a:rPr>
              <a:t>concentration</a:t>
            </a:r>
            <a:r>
              <a:rPr lang="en-GB" sz="2000" dirty="0"/>
              <a:t> of one of the reactants or products is changed, the system is </a:t>
            </a:r>
            <a:r>
              <a:rPr lang="en-GB" sz="2000" b="1" dirty="0">
                <a:solidFill>
                  <a:schemeClr val="accent6"/>
                </a:solidFill>
              </a:rPr>
              <a:t>no longer at equilibrium</a:t>
            </a:r>
            <a:r>
              <a:rPr lang="en-GB" sz="2000" dirty="0"/>
              <a:t> and the concentrations of all the substances will change until </a:t>
            </a:r>
            <a:r>
              <a:rPr lang="en-GB" sz="2000" b="1" dirty="0">
                <a:solidFill>
                  <a:schemeClr val="accent6"/>
                </a:solidFill>
              </a:rPr>
              <a:t>equilibrium</a:t>
            </a:r>
            <a:r>
              <a:rPr lang="en-GB" sz="2000" dirty="0"/>
              <a:t> is reached again.</a:t>
            </a:r>
          </a:p>
        </p:txBody>
      </p:sp>
      <p:sp>
        <p:nvSpPr>
          <p:cNvPr id="4" name="TextBox 3"/>
          <p:cNvSpPr txBox="1"/>
          <p:nvPr/>
        </p:nvSpPr>
        <p:spPr>
          <a:xfrm>
            <a:off x="166632" y="2114710"/>
            <a:ext cx="8869863" cy="1631216"/>
          </a:xfrm>
          <a:custGeom>
            <a:avLst/>
            <a:gdLst>
              <a:gd name="connsiteX0" fmla="*/ 0 w 8856984"/>
              <a:gd name="connsiteY0" fmla="*/ 0 h 1754326"/>
              <a:gd name="connsiteX1" fmla="*/ 8856984 w 8856984"/>
              <a:gd name="connsiteY1" fmla="*/ 0 h 1754326"/>
              <a:gd name="connsiteX2" fmla="*/ 8856984 w 8856984"/>
              <a:gd name="connsiteY2" fmla="*/ 1754326 h 1754326"/>
              <a:gd name="connsiteX3" fmla="*/ 0 w 8856984"/>
              <a:gd name="connsiteY3" fmla="*/ 1754326 h 1754326"/>
              <a:gd name="connsiteX4" fmla="*/ 0 w 8856984"/>
              <a:gd name="connsiteY4" fmla="*/ 0 h 1754326"/>
              <a:gd name="connsiteX0" fmla="*/ 12879 w 8869863"/>
              <a:gd name="connsiteY0" fmla="*/ 0 h 1754326"/>
              <a:gd name="connsiteX1" fmla="*/ 8869863 w 8869863"/>
              <a:gd name="connsiteY1" fmla="*/ 0 h 1754326"/>
              <a:gd name="connsiteX2" fmla="*/ 8869863 w 8869863"/>
              <a:gd name="connsiteY2" fmla="*/ 1754326 h 1754326"/>
              <a:gd name="connsiteX3" fmla="*/ 0 w 8869863"/>
              <a:gd name="connsiteY3" fmla="*/ 1509628 h 1754326"/>
              <a:gd name="connsiteX4" fmla="*/ 12879 w 8869863"/>
              <a:gd name="connsiteY4" fmla="*/ 0 h 1754326"/>
              <a:gd name="connsiteX0" fmla="*/ 12879 w 8869863"/>
              <a:gd name="connsiteY0" fmla="*/ 0 h 1509628"/>
              <a:gd name="connsiteX1" fmla="*/ 8869863 w 8869863"/>
              <a:gd name="connsiteY1" fmla="*/ 0 h 1509628"/>
              <a:gd name="connsiteX2" fmla="*/ 8869863 w 8869863"/>
              <a:gd name="connsiteY2" fmla="*/ 1496749 h 1509628"/>
              <a:gd name="connsiteX3" fmla="*/ 0 w 8869863"/>
              <a:gd name="connsiteY3" fmla="*/ 1509628 h 1509628"/>
              <a:gd name="connsiteX4" fmla="*/ 12879 w 8869863"/>
              <a:gd name="connsiteY4" fmla="*/ 0 h 1509628"/>
              <a:gd name="connsiteX0" fmla="*/ 12879 w 8869863"/>
              <a:gd name="connsiteY0" fmla="*/ 0 h 1522506"/>
              <a:gd name="connsiteX1" fmla="*/ 8869863 w 8869863"/>
              <a:gd name="connsiteY1" fmla="*/ 0 h 1522506"/>
              <a:gd name="connsiteX2" fmla="*/ 8869863 w 8869863"/>
              <a:gd name="connsiteY2" fmla="*/ 1522506 h 1522506"/>
              <a:gd name="connsiteX3" fmla="*/ 0 w 8869863"/>
              <a:gd name="connsiteY3" fmla="*/ 1509628 h 1522506"/>
              <a:gd name="connsiteX4" fmla="*/ 12879 w 8869863"/>
              <a:gd name="connsiteY4" fmla="*/ 0 h 1522506"/>
              <a:gd name="connsiteX0" fmla="*/ 12879 w 8869863"/>
              <a:gd name="connsiteY0" fmla="*/ 0 h 1509628"/>
              <a:gd name="connsiteX1" fmla="*/ 8869863 w 8869863"/>
              <a:gd name="connsiteY1" fmla="*/ 0 h 1509628"/>
              <a:gd name="connsiteX2" fmla="*/ 8869863 w 8869863"/>
              <a:gd name="connsiteY2" fmla="*/ 1509627 h 1509628"/>
              <a:gd name="connsiteX3" fmla="*/ 0 w 8869863"/>
              <a:gd name="connsiteY3" fmla="*/ 1509628 h 1509628"/>
              <a:gd name="connsiteX4" fmla="*/ 12879 w 8869863"/>
              <a:gd name="connsiteY4" fmla="*/ 0 h 1509628"/>
              <a:gd name="connsiteX0" fmla="*/ 12879 w 8869863"/>
              <a:gd name="connsiteY0" fmla="*/ 0 h 1576123"/>
              <a:gd name="connsiteX1" fmla="*/ 8869863 w 8869863"/>
              <a:gd name="connsiteY1" fmla="*/ 66495 h 1576123"/>
              <a:gd name="connsiteX2" fmla="*/ 8869863 w 8869863"/>
              <a:gd name="connsiteY2" fmla="*/ 1576122 h 1576123"/>
              <a:gd name="connsiteX3" fmla="*/ 0 w 8869863"/>
              <a:gd name="connsiteY3" fmla="*/ 1576123 h 1576123"/>
              <a:gd name="connsiteX4" fmla="*/ 12879 w 8869863"/>
              <a:gd name="connsiteY4" fmla="*/ 0 h 1576123"/>
              <a:gd name="connsiteX0" fmla="*/ 12879 w 8869863"/>
              <a:gd name="connsiteY0" fmla="*/ 11083 h 1587206"/>
              <a:gd name="connsiteX1" fmla="*/ 8869863 w 8869863"/>
              <a:gd name="connsiteY1" fmla="*/ 0 h 1587206"/>
              <a:gd name="connsiteX2" fmla="*/ 8869863 w 8869863"/>
              <a:gd name="connsiteY2" fmla="*/ 1587205 h 1587206"/>
              <a:gd name="connsiteX3" fmla="*/ 0 w 8869863"/>
              <a:gd name="connsiteY3" fmla="*/ 1587206 h 1587206"/>
              <a:gd name="connsiteX4" fmla="*/ 12879 w 8869863"/>
              <a:gd name="connsiteY4" fmla="*/ 11083 h 1587206"/>
              <a:gd name="connsiteX0" fmla="*/ 12879 w 8869863"/>
              <a:gd name="connsiteY0" fmla="*/ 11083 h 1587206"/>
              <a:gd name="connsiteX1" fmla="*/ 8869863 w 8869863"/>
              <a:gd name="connsiteY1" fmla="*/ 0 h 1587206"/>
              <a:gd name="connsiteX2" fmla="*/ 8869863 w 8869863"/>
              <a:gd name="connsiteY2" fmla="*/ 1210400 h 1587206"/>
              <a:gd name="connsiteX3" fmla="*/ 0 w 8869863"/>
              <a:gd name="connsiteY3" fmla="*/ 1587206 h 1587206"/>
              <a:gd name="connsiteX4" fmla="*/ 12879 w 8869863"/>
              <a:gd name="connsiteY4" fmla="*/ 11083 h 1587206"/>
              <a:gd name="connsiteX0" fmla="*/ 12879 w 8869863"/>
              <a:gd name="connsiteY0" fmla="*/ 11083 h 1232566"/>
              <a:gd name="connsiteX1" fmla="*/ 8869863 w 8869863"/>
              <a:gd name="connsiteY1" fmla="*/ 0 h 1232566"/>
              <a:gd name="connsiteX2" fmla="*/ 8869863 w 8869863"/>
              <a:gd name="connsiteY2" fmla="*/ 1210400 h 1232566"/>
              <a:gd name="connsiteX3" fmla="*/ 0 w 8869863"/>
              <a:gd name="connsiteY3" fmla="*/ 1232566 h 1232566"/>
              <a:gd name="connsiteX4" fmla="*/ 12879 w 8869863"/>
              <a:gd name="connsiteY4" fmla="*/ 11083 h 1232566"/>
              <a:gd name="connsiteX0" fmla="*/ 12879 w 8869863"/>
              <a:gd name="connsiteY0" fmla="*/ 11083 h 1221483"/>
              <a:gd name="connsiteX1" fmla="*/ 8869863 w 8869863"/>
              <a:gd name="connsiteY1" fmla="*/ 0 h 1221483"/>
              <a:gd name="connsiteX2" fmla="*/ 8869863 w 8869863"/>
              <a:gd name="connsiteY2" fmla="*/ 1210400 h 1221483"/>
              <a:gd name="connsiteX3" fmla="*/ 0 w 8869863"/>
              <a:gd name="connsiteY3" fmla="*/ 1221483 h 1221483"/>
              <a:gd name="connsiteX4" fmla="*/ 12879 w 8869863"/>
              <a:gd name="connsiteY4" fmla="*/ 11083 h 1221483"/>
              <a:gd name="connsiteX0" fmla="*/ 12879 w 8869863"/>
              <a:gd name="connsiteY0" fmla="*/ 11083 h 1210400"/>
              <a:gd name="connsiteX1" fmla="*/ 8869863 w 8869863"/>
              <a:gd name="connsiteY1" fmla="*/ 0 h 1210400"/>
              <a:gd name="connsiteX2" fmla="*/ 8869863 w 8869863"/>
              <a:gd name="connsiteY2" fmla="*/ 1210400 h 1210400"/>
              <a:gd name="connsiteX3" fmla="*/ 0 w 8869863"/>
              <a:gd name="connsiteY3" fmla="*/ 1210400 h 1210400"/>
              <a:gd name="connsiteX4" fmla="*/ 12879 w 8869863"/>
              <a:gd name="connsiteY4" fmla="*/ 11083 h 121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863" h="1210400">
                <a:moveTo>
                  <a:pt x="12879" y="11083"/>
                </a:moveTo>
                <a:lnTo>
                  <a:pt x="8869863" y="0"/>
                </a:lnTo>
                <a:lnTo>
                  <a:pt x="8869863" y="1210400"/>
                </a:lnTo>
                <a:lnTo>
                  <a:pt x="0" y="1210400"/>
                </a:lnTo>
                <a:lnTo>
                  <a:pt x="12879" y="11083"/>
                </a:lnTo>
                <a:close/>
              </a:path>
            </a:pathLst>
          </a:custGeom>
          <a:noFill/>
        </p:spPr>
        <p:txBody>
          <a:bodyPr wrap="square" rtlCol="0">
            <a:spAutoFit/>
          </a:bodyPr>
          <a:lstStyle/>
          <a:p>
            <a:r>
              <a:rPr lang="en-GB" sz="2000" dirty="0"/>
              <a:t>e.g. the hydrogen iodine and hydrogen iodide equilibrium</a:t>
            </a:r>
            <a:r>
              <a:rPr lang="en-GB" sz="2000" dirty="0" smtClean="0"/>
              <a:t>:</a:t>
            </a:r>
            <a:endParaRPr lang="en-GB" sz="2000" dirty="0"/>
          </a:p>
          <a:p>
            <a:pPr algn="ctr"/>
            <a:r>
              <a:rPr lang="en-GB" sz="2000" b="1" dirty="0"/>
              <a:t>I</a:t>
            </a:r>
            <a:r>
              <a:rPr lang="en-GB" sz="2000" b="1" baseline="-25000" dirty="0"/>
              <a:t>2</a:t>
            </a:r>
            <a:r>
              <a:rPr lang="en-GB" sz="2000" b="1" dirty="0"/>
              <a:t> (g)  +  H</a:t>
            </a:r>
            <a:r>
              <a:rPr lang="en-GB" sz="2000" b="1" baseline="-25000" dirty="0"/>
              <a:t>2</a:t>
            </a:r>
            <a:r>
              <a:rPr lang="en-GB" sz="2000" b="1" dirty="0"/>
              <a:t>  (g)        </a:t>
            </a:r>
            <a:r>
              <a:rPr lang="en-GB" sz="2000" b="1" dirty="0" smtClean="0">
                <a:sym typeface="Wingdings" panose="05000000000000000000" pitchFamily="2" charset="2"/>
              </a:rPr>
              <a:t>2HI </a:t>
            </a:r>
            <a:r>
              <a:rPr lang="en-GB" sz="2000" b="1" dirty="0">
                <a:sym typeface="Wingdings" panose="05000000000000000000" pitchFamily="2" charset="2"/>
              </a:rPr>
              <a:t>(g</a:t>
            </a:r>
            <a:r>
              <a:rPr lang="en-GB" sz="2000" b="1" dirty="0" smtClean="0">
                <a:sym typeface="Wingdings" panose="05000000000000000000" pitchFamily="2" charset="2"/>
              </a:rPr>
              <a:t>)</a:t>
            </a:r>
            <a:endParaRPr lang="en-GB" sz="2000" b="1" dirty="0">
              <a:sym typeface="Wingdings" panose="05000000000000000000" pitchFamily="2" charset="2"/>
            </a:endParaRPr>
          </a:p>
          <a:p>
            <a:r>
              <a:rPr lang="en-GB" sz="2000" dirty="0">
                <a:sym typeface="Wingdings" panose="05000000000000000000" pitchFamily="2" charset="2"/>
              </a:rPr>
              <a:t>Increasing the concentration of HI by putting more HI gas into the system makes it react to break down the HI gas to H</a:t>
            </a:r>
            <a:r>
              <a:rPr lang="en-GB" sz="2000" baseline="-25000" dirty="0">
                <a:sym typeface="Wingdings" panose="05000000000000000000" pitchFamily="2" charset="2"/>
              </a:rPr>
              <a:t>2</a:t>
            </a:r>
            <a:r>
              <a:rPr lang="en-GB" sz="2000" dirty="0">
                <a:sym typeface="Wingdings" panose="05000000000000000000" pitchFamily="2" charset="2"/>
              </a:rPr>
              <a:t> and I</a:t>
            </a:r>
            <a:r>
              <a:rPr lang="en-GB" sz="2000" baseline="-25000" dirty="0">
                <a:sym typeface="Wingdings" panose="05000000000000000000" pitchFamily="2" charset="2"/>
              </a:rPr>
              <a:t>2</a:t>
            </a:r>
            <a:r>
              <a:rPr lang="en-GB" sz="2000" dirty="0">
                <a:sym typeface="Wingdings" panose="05000000000000000000" pitchFamily="2" charset="2"/>
              </a:rPr>
              <a:t> so that we have the same proportions of HI, H</a:t>
            </a:r>
            <a:r>
              <a:rPr lang="en-GB" sz="2000" baseline="-25000" dirty="0">
                <a:sym typeface="Wingdings" panose="05000000000000000000" pitchFamily="2" charset="2"/>
              </a:rPr>
              <a:t>2</a:t>
            </a:r>
            <a:r>
              <a:rPr lang="en-GB" sz="2000" dirty="0">
                <a:sym typeface="Wingdings" panose="05000000000000000000" pitchFamily="2" charset="2"/>
              </a:rPr>
              <a:t> and I</a:t>
            </a:r>
            <a:r>
              <a:rPr lang="en-GB" sz="2000" baseline="-25000" dirty="0">
                <a:sym typeface="Wingdings" panose="05000000000000000000" pitchFamily="2" charset="2"/>
              </a:rPr>
              <a:t>2</a:t>
            </a:r>
            <a:endParaRPr lang="en-GB" sz="2000" dirty="0"/>
          </a:p>
        </p:txBody>
      </p:sp>
      <p:pic>
        <p:nvPicPr>
          <p:cNvPr id="5" name="Picture 4"/>
          <p:cNvPicPr/>
          <p:nvPr/>
        </p:nvPicPr>
        <p:blipFill>
          <a:blip r:embed="rId3"/>
          <a:stretch>
            <a:fillRect/>
          </a:stretch>
        </p:blipFill>
        <p:spPr>
          <a:xfrm>
            <a:off x="4762204" y="2487661"/>
            <a:ext cx="361950" cy="247650"/>
          </a:xfrm>
          <a:prstGeom prst="rect">
            <a:avLst/>
          </a:prstGeom>
        </p:spPr>
      </p:pic>
      <p:sp>
        <p:nvSpPr>
          <p:cNvPr id="6" name="TextBox 5"/>
          <p:cNvSpPr txBox="1"/>
          <p:nvPr/>
        </p:nvSpPr>
        <p:spPr>
          <a:xfrm>
            <a:off x="179512" y="3766009"/>
            <a:ext cx="8831225" cy="1323439"/>
          </a:xfrm>
          <a:custGeom>
            <a:avLst/>
            <a:gdLst>
              <a:gd name="connsiteX0" fmla="*/ 0 w 8856983"/>
              <a:gd name="connsiteY0" fmla="*/ 0 h 1200329"/>
              <a:gd name="connsiteX1" fmla="*/ 8856983 w 8856983"/>
              <a:gd name="connsiteY1" fmla="*/ 0 h 1200329"/>
              <a:gd name="connsiteX2" fmla="*/ 8856983 w 8856983"/>
              <a:gd name="connsiteY2" fmla="*/ 1200329 h 1200329"/>
              <a:gd name="connsiteX3" fmla="*/ 0 w 8856983"/>
              <a:gd name="connsiteY3" fmla="*/ 1200329 h 1200329"/>
              <a:gd name="connsiteX4" fmla="*/ 0 w 8856983"/>
              <a:gd name="connsiteY4" fmla="*/ 0 h 1200329"/>
              <a:gd name="connsiteX0" fmla="*/ 0 w 8856983"/>
              <a:gd name="connsiteY0" fmla="*/ 0 h 1341997"/>
              <a:gd name="connsiteX1" fmla="*/ 8856983 w 8856983"/>
              <a:gd name="connsiteY1" fmla="*/ 141668 h 1341997"/>
              <a:gd name="connsiteX2" fmla="*/ 8856983 w 8856983"/>
              <a:gd name="connsiteY2" fmla="*/ 1341997 h 1341997"/>
              <a:gd name="connsiteX3" fmla="*/ 0 w 8856983"/>
              <a:gd name="connsiteY3" fmla="*/ 1341997 h 1341997"/>
              <a:gd name="connsiteX4" fmla="*/ 0 w 8856983"/>
              <a:gd name="connsiteY4" fmla="*/ 0 h 1341997"/>
              <a:gd name="connsiteX0" fmla="*/ 0 w 8856983"/>
              <a:gd name="connsiteY0" fmla="*/ 12878 h 1354875"/>
              <a:gd name="connsiteX1" fmla="*/ 8856983 w 8856983"/>
              <a:gd name="connsiteY1" fmla="*/ 0 h 1354875"/>
              <a:gd name="connsiteX2" fmla="*/ 8856983 w 8856983"/>
              <a:gd name="connsiteY2" fmla="*/ 1354875 h 1354875"/>
              <a:gd name="connsiteX3" fmla="*/ 0 w 8856983"/>
              <a:gd name="connsiteY3" fmla="*/ 1354875 h 1354875"/>
              <a:gd name="connsiteX4" fmla="*/ 0 w 8856983"/>
              <a:gd name="connsiteY4" fmla="*/ 12878 h 1354875"/>
              <a:gd name="connsiteX0" fmla="*/ 0 w 8856983"/>
              <a:gd name="connsiteY0" fmla="*/ 0 h 1341997"/>
              <a:gd name="connsiteX1" fmla="*/ 8856983 w 8856983"/>
              <a:gd name="connsiteY1" fmla="*/ 1 h 1341997"/>
              <a:gd name="connsiteX2" fmla="*/ 8856983 w 8856983"/>
              <a:gd name="connsiteY2" fmla="*/ 1341997 h 1341997"/>
              <a:gd name="connsiteX3" fmla="*/ 0 w 8856983"/>
              <a:gd name="connsiteY3" fmla="*/ 1341997 h 1341997"/>
              <a:gd name="connsiteX4" fmla="*/ 0 w 8856983"/>
              <a:gd name="connsiteY4" fmla="*/ 0 h 1341997"/>
              <a:gd name="connsiteX0" fmla="*/ 0 w 8856983"/>
              <a:gd name="connsiteY0" fmla="*/ 0 h 1341997"/>
              <a:gd name="connsiteX1" fmla="*/ 8856983 w 8856983"/>
              <a:gd name="connsiteY1" fmla="*/ 1 h 1341997"/>
              <a:gd name="connsiteX2" fmla="*/ 8856983 w 8856983"/>
              <a:gd name="connsiteY2" fmla="*/ 1341997 h 1341997"/>
              <a:gd name="connsiteX3" fmla="*/ 0 w 8856983"/>
              <a:gd name="connsiteY3" fmla="*/ 1135935 h 1341997"/>
              <a:gd name="connsiteX4" fmla="*/ 0 w 8856983"/>
              <a:gd name="connsiteY4" fmla="*/ 0 h 1341997"/>
              <a:gd name="connsiteX0" fmla="*/ 0 w 8856983"/>
              <a:gd name="connsiteY0" fmla="*/ 0 h 1135935"/>
              <a:gd name="connsiteX1" fmla="*/ 8856983 w 8856983"/>
              <a:gd name="connsiteY1" fmla="*/ 1 h 1135935"/>
              <a:gd name="connsiteX2" fmla="*/ 8856983 w 8856983"/>
              <a:gd name="connsiteY2" fmla="*/ 1123056 h 1135935"/>
              <a:gd name="connsiteX3" fmla="*/ 0 w 8856983"/>
              <a:gd name="connsiteY3" fmla="*/ 1135935 h 1135935"/>
              <a:gd name="connsiteX4" fmla="*/ 0 w 8856983"/>
              <a:gd name="connsiteY4" fmla="*/ 0 h 1135935"/>
              <a:gd name="connsiteX0" fmla="*/ 0 w 8856983"/>
              <a:gd name="connsiteY0" fmla="*/ 0 h 1148814"/>
              <a:gd name="connsiteX1" fmla="*/ 8856983 w 8856983"/>
              <a:gd name="connsiteY1" fmla="*/ 1 h 1148814"/>
              <a:gd name="connsiteX2" fmla="*/ 8856983 w 8856983"/>
              <a:gd name="connsiteY2" fmla="*/ 1148814 h 1148814"/>
              <a:gd name="connsiteX3" fmla="*/ 0 w 8856983"/>
              <a:gd name="connsiteY3" fmla="*/ 1135935 h 1148814"/>
              <a:gd name="connsiteX4" fmla="*/ 0 w 8856983"/>
              <a:gd name="connsiteY4" fmla="*/ 0 h 1148814"/>
              <a:gd name="connsiteX0" fmla="*/ 0 w 8856983"/>
              <a:gd name="connsiteY0" fmla="*/ 0 h 1135935"/>
              <a:gd name="connsiteX1" fmla="*/ 8856983 w 8856983"/>
              <a:gd name="connsiteY1" fmla="*/ 1 h 1135935"/>
              <a:gd name="connsiteX2" fmla="*/ 8856983 w 8856983"/>
              <a:gd name="connsiteY2" fmla="*/ 1135935 h 1135935"/>
              <a:gd name="connsiteX3" fmla="*/ 0 w 8856983"/>
              <a:gd name="connsiteY3" fmla="*/ 1135935 h 1135935"/>
              <a:gd name="connsiteX4" fmla="*/ 0 w 8856983"/>
              <a:gd name="connsiteY4" fmla="*/ 0 h 1135935"/>
              <a:gd name="connsiteX0" fmla="*/ 0 w 8856983"/>
              <a:gd name="connsiteY0" fmla="*/ 0 h 1277602"/>
              <a:gd name="connsiteX1" fmla="*/ 8856983 w 8856983"/>
              <a:gd name="connsiteY1" fmla="*/ 1 h 1277602"/>
              <a:gd name="connsiteX2" fmla="*/ 8856983 w 8856983"/>
              <a:gd name="connsiteY2" fmla="*/ 1135935 h 1277602"/>
              <a:gd name="connsiteX3" fmla="*/ 0 w 8856983"/>
              <a:gd name="connsiteY3" fmla="*/ 1277602 h 1277602"/>
              <a:gd name="connsiteX4" fmla="*/ 0 w 8856983"/>
              <a:gd name="connsiteY4" fmla="*/ 0 h 1277602"/>
              <a:gd name="connsiteX0" fmla="*/ 0 w 8856983"/>
              <a:gd name="connsiteY0" fmla="*/ 0 h 1290482"/>
              <a:gd name="connsiteX1" fmla="*/ 8856983 w 8856983"/>
              <a:gd name="connsiteY1" fmla="*/ 1 h 1290482"/>
              <a:gd name="connsiteX2" fmla="*/ 8792589 w 8856983"/>
              <a:gd name="connsiteY2" fmla="*/ 1290482 h 1290482"/>
              <a:gd name="connsiteX3" fmla="*/ 0 w 8856983"/>
              <a:gd name="connsiteY3" fmla="*/ 1277602 h 1290482"/>
              <a:gd name="connsiteX4" fmla="*/ 0 w 8856983"/>
              <a:gd name="connsiteY4" fmla="*/ 0 h 1290482"/>
              <a:gd name="connsiteX0" fmla="*/ 0 w 8856983"/>
              <a:gd name="connsiteY0" fmla="*/ 0 h 1277603"/>
              <a:gd name="connsiteX1" fmla="*/ 8856983 w 8856983"/>
              <a:gd name="connsiteY1" fmla="*/ 1 h 1277603"/>
              <a:gd name="connsiteX2" fmla="*/ 8792589 w 8856983"/>
              <a:gd name="connsiteY2" fmla="*/ 1277603 h 1277603"/>
              <a:gd name="connsiteX3" fmla="*/ 0 w 8856983"/>
              <a:gd name="connsiteY3" fmla="*/ 1277602 h 1277603"/>
              <a:gd name="connsiteX4" fmla="*/ 0 w 8856983"/>
              <a:gd name="connsiteY4" fmla="*/ 0 h 1277603"/>
              <a:gd name="connsiteX0" fmla="*/ 0 w 8792589"/>
              <a:gd name="connsiteY0" fmla="*/ 0 h 1277603"/>
              <a:gd name="connsiteX1" fmla="*/ 8779710 w 8792589"/>
              <a:gd name="connsiteY1" fmla="*/ 1 h 1277603"/>
              <a:gd name="connsiteX2" fmla="*/ 8792589 w 8792589"/>
              <a:gd name="connsiteY2" fmla="*/ 1277603 h 1277603"/>
              <a:gd name="connsiteX3" fmla="*/ 0 w 8792589"/>
              <a:gd name="connsiteY3" fmla="*/ 1277602 h 1277603"/>
              <a:gd name="connsiteX4" fmla="*/ 0 w 8792589"/>
              <a:gd name="connsiteY4" fmla="*/ 0 h 1277603"/>
              <a:gd name="connsiteX0" fmla="*/ 0 w 8792589"/>
              <a:gd name="connsiteY0" fmla="*/ 0 h 1277603"/>
              <a:gd name="connsiteX1" fmla="*/ 8779710 w 8792589"/>
              <a:gd name="connsiteY1" fmla="*/ 1 h 1277603"/>
              <a:gd name="connsiteX2" fmla="*/ 8792589 w 8792589"/>
              <a:gd name="connsiteY2" fmla="*/ 1277603 h 1277603"/>
              <a:gd name="connsiteX3" fmla="*/ 0 w 8792589"/>
              <a:gd name="connsiteY3" fmla="*/ 1277602 h 1277603"/>
              <a:gd name="connsiteX4" fmla="*/ 0 w 8792589"/>
              <a:gd name="connsiteY4" fmla="*/ 0 h 1277603"/>
              <a:gd name="connsiteX0" fmla="*/ 0 w 8792589"/>
              <a:gd name="connsiteY0" fmla="*/ 0 h 1277603"/>
              <a:gd name="connsiteX1" fmla="*/ 8779710 w 8792589"/>
              <a:gd name="connsiteY1" fmla="*/ 77274 h 1277603"/>
              <a:gd name="connsiteX2" fmla="*/ 8792589 w 8792589"/>
              <a:gd name="connsiteY2" fmla="*/ 1277603 h 1277603"/>
              <a:gd name="connsiteX3" fmla="*/ 0 w 8792589"/>
              <a:gd name="connsiteY3" fmla="*/ 1277602 h 1277603"/>
              <a:gd name="connsiteX4" fmla="*/ 0 w 8792589"/>
              <a:gd name="connsiteY4" fmla="*/ 0 h 1277603"/>
              <a:gd name="connsiteX0" fmla="*/ 12879 w 8792589"/>
              <a:gd name="connsiteY0" fmla="*/ 12878 h 1200329"/>
              <a:gd name="connsiteX1" fmla="*/ 8779710 w 8792589"/>
              <a:gd name="connsiteY1" fmla="*/ 0 h 1200329"/>
              <a:gd name="connsiteX2" fmla="*/ 8792589 w 8792589"/>
              <a:gd name="connsiteY2" fmla="*/ 1200329 h 1200329"/>
              <a:gd name="connsiteX3" fmla="*/ 0 w 8792589"/>
              <a:gd name="connsiteY3" fmla="*/ 1200328 h 1200329"/>
              <a:gd name="connsiteX4" fmla="*/ 12879 w 8792589"/>
              <a:gd name="connsiteY4" fmla="*/ 12878 h 1200329"/>
              <a:gd name="connsiteX0" fmla="*/ 12879 w 8792589"/>
              <a:gd name="connsiteY0" fmla="*/ 0 h 1200330"/>
              <a:gd name="connsiteX1" fmla="*/ 8779710 w 8792589"/>
              <a:gd name="connsiteY1" fmla="*/ 1 h 1200330"/>
              <a:gd name="connsiteX2" fmla="*/ 8792589 w 8792589"/>
              <a:gd name="connsiteY2" fmla="*/ 1200330 h 1200330"/>
              <a:gd name="connsiteX3" fmla="*/ 0 w 8792589"/>
              <a:gd name="connsiteY3" fmla="*/ 1200329 h 1200330"/>
              <a:gd name="connsiteX4" fmla="*/ 12879 w 8792589"/>
              <a:gd name="connsiteY4" fmla="*/ 0 h 1200330"/>
              <a:gd name="connsiteX0" fmla="*/ 12879 w 8792589"/>
              <a:gd name="connsiteY0" fmla="*/ 0 h 1341997"/>
              <a:gd name="connsiteX1" fmla="*/ 8779710 w 8792589"/>
              <a:gd name="connsiteY1" fmla="*/ 1 h 1341997"/>
              <a:gd name="connsiteX2" fmla="*/ 8792589 w 8792589"/>
              <a:gd name="connsiteY2" fmla="*/ 1200330 h 1341997"/>
              <a:gd name="connsiteX3" fmla="*/ 0 w 8792589"/>
              <a:gd name="connsiteY3" fmla="*/ 1341997 h 1341997"/>
              <a:gd name="connsiteX4" fmla="*/ 12879 w 8792589"/>
              <a:gd name="connsiteY4" fmla="*/ 0 h 1341997"/>
              <a:gd name="connsiteX0" fmla="*/ 12879 w 8831225"/>
              <a:gd name="connsiteY0" fmla="*/ 0 h 1341998"/>
              <a:gd name="connsiteX1" fmla="*/ 8779710 w 8831225"/>
              <a:gd name="connsiteY1" fmla="*/ 1 h 1341998"/>
              <a:gd name="connsiteX2" fmla="*/ 8831225 w 8831225"/>
              <a:gd name="connsiteY2" fmla="*/ 1341998 h 1341998"/>
              <a:gd name="connsiteX3" fmla="*/ 0 w 8831225"/>
              <a:gd name="connsiteY3" fmla="*/ 1341997 h 1341998"/>
              <a:gd name="connsiteX4" fmla="*/ 12879 w 8831225"/>
              <a:gd name="connsiteY4" fmla="*/ 0 h 1341998"/>
              <a:gd name="connsiteX0" fmla="*/ 12879 w 8831225"/>
              <a:gd name="connsiteY0" fmla="*/ 0 h 1341998"/>
              <a:gd name="connsiteX1" fmla="*/ 8831225 w 8831225"/>
              <a:gd name="connsiteY1" fmla="*/ 115911 h 1341998"/>
              <a:gd name="connsiteX2" fmla="*/ 8831225 w 8831225"/>
              <a:gd name="connsiteY2" fmla="*/ 1341998 h 1341998"/>
              <a:gd name="connsiteX3" fmla="*/ 0 w 8831225"/>
              <a:gd name="connsiteY3" fmla="*/ 1341997 h 1341998"/>
              <a:gd name="connsiteX4" fmla="*/ 12879 w 8831225"/>
              <a:gd name="connsiteY4" fmla="*/ 0 h 1341998"/>
              <a:gd name="connsiteX0" fmla="*/ 12879 w 8831225"/>
              <a:gd name="connsiteY0" fmla="*/ 51514 h 1226087"/>
              <a:gd name="connsiteX1" fmla="*/ 8831225 w 8831225"/>
              <a:gd name="connsiteY1" fmla="*/ 0 h 1226087"/>
              <a:gd name="connsiteX2" fmla="*/ 8831225 w 8831225"/>
              <a:gd name="connsiteY2" fmla="*/ 1226087 h 1226087"/>
              <a:gd name="connsiteX3" fmla="*/ 0 w 8831225"/>
              <a:gd name="connsiteY3" fmla="*/ 1226086 h 1226087"/>
              <a:gd name="connsiteX4" fmla="*/ 12879 w 8831225"/>
              <a:gd name="connsiteY4" fmla="*/ 51514 h 1226087"/>
              <a:gd name="connsiteX0" fmla="*/ 25758 w 8831225"/>
              <a:gd name="connsiteY0" fmla="*/ 25757 h 1226087"/>
              <a:gd name="connsiteX1" fmla="*/ 8831225 w 8831225"/>
              <a:gd name="connsiteY1" fmla="*/ 0 h 1226087"/>
              <a:gd name="connsiteX2" fmla="*/ 8831225 w 8831225"/>
              <a:gd name="connsiteY2" fmla="*/ 1226087 h 1226087"/>
              <a:gd name="connsiteX3" fmla="*/ 0 w 8831225"/>
              <a:gd name="connsiteY3" fmla="*/ 1226086 h 1226087"/>
              <a:gd name="connsiteX4" fmla="*/ 25758 w 8831225"/>
              <a:gd name="connsiteY4" fmla="*/ 25757 h 1226087"/>
              <a:gd name="connsiteX0" fmla="*/ 38637 w 8831225"/>
              <a:gd name="connsiteY0" fmla="*/ 12878 h 1226087"/>
              <a:gd name="connsiteX1" fmla="*/ 8831225 w 8831225"/>
              <a:gd name="connsiteY1" fmla="*/ 0 h 1226087"/>
              <a:gd name="connsiteX2" fmla="*/ 8831225 w 8831225"/>
              <a:gd name="connsiteY2" fmla="*/ 1226087 h 1226087"/>
              <a:gd name="connsiteX3" fmla="*/ 0 w 8831225"/>
              <a:gd name="connsiteY3" fmla="*/ 1226086 h 1226087"/>
              <a:gd name="connsiteX4" fmla="*/ 38637 w 8831225"/>
              <a:gd name="connsiteY4" fmla="*/ 12878 h 1226087"/>
              <a:gd name="connsiteX0" fmla="*/ 12879 w 8831225"/>
              <a:gd name="connsiteY0" fmla="*/ 12878 h 1226087"/>
              <a:gd name="connsiteX1" fmla="*/ 8831225 w 8831225"/>
              <a:gd name="connsiteY1" fmla="*/ 0 h 1226087"/>
              <a:gd name="connsiteX2" fmla="*/ 8831225 w 8831225"/>
              <a:gd name="connsiteY2" fmla="*/ 1226087 h 1226087"/>
              <a:gd name="connsiteX3" fmla="*/ 0 w 8831225"/>
              <a:gd name="connsiteY3" fmla="*/ 1226086 h 1226087"/>
              <a:gd name="connsiteX4" fmla="*/ 12879 w 8831225"/>
              <a:gd name="connsiteY4" fmla="*/ 12878 h 1226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1225" h="1226087">
                <a:moveTo>
                  <a:pt x="12879" y="12878"/>
                </a:moveTo>
                <a:lnTo>
                  <a:pt x="8831225" y="0"/>
                </a:lnTo>
                <a:lnTo>
                  <a:pt x="8831225" y="1226087"/>
                </a:lnTo>
                <a:lnTo>
                  <a:pt x="0" y="1226086"/>
                </a:lnTo>
                <a:lnTo>
                  <a:pt x="12879" y="12878"/>
                </a:lnTo>
                <a:close/>
              </a:path>
            </a:pathLst>
          </a:custGeom>
          <a:noFill/>
          <a:ln w="28575">
            <a:solidFill>
              <a:schemeClr val="accent6"/>
            </a:solidFill>
          </a:ln>
        </p:spPr>
        <p:txBody>
          <a:bodyPr wrap="square" rtlCol="0">
            <a:spAutoFit/>
          </a:bodyPr>
          <a:lstStyle/>
          <a:p>
            <a:r>
              <a:rPr lang="en-GB" sz="2000" dirty="0"/>
              <a:t>If the concentration of a </a:t>
            </a:r>
            <a:r>
              <a:rPr lang="en-GB" sz="2000" b="1" dirty="0">
                <a:solidFill>
                  <a:schemeClr val="accent6"/>
                </a:solidFill>
              </a:rPr>
              <a:t>reactant</a:t>
            </a:r>
            <a:r>
              <a:rPr lang="en-GB" sz="2000" dirty="0"/>
              <a:t> is </a:t>
            </a:r>
            <a:r>
              <a:rPr lang="en-GB" sz="2000" b="1" dirty="0">
                <a:solidFill>
                  <a:schemeClr val="accent6"/>
                </a:solidFill>
              </a:rPr>
              <a:t>increased</a:t>
            </a:r>
            <a:r>
              <a:rPr lang="en-GB" sz="2000" dirty="0">
                <a:solidFill>
                  <a:schemeClr val="accent6"/>
                </a:solidFill>
              </a:rPr>
              <a:t>, </a:t>
            </a:r>
            <a:r>
              <a:rPr lang="en-GB" sz="2000" b="1" dirty="0">
                <a:solidFill>
                  <a:schemeClr val="accent6"/>
                </a:solidFill>
              </a:rPr>
              <a:t>more products </a:t>
            </a:r>
            <a:r>
              <a:rPr lang="en-GB" sz="2000" dirty="0"/>
              <a:t>will be formed until equilibrium is reached again.</a:t>
            </a:r>
          </a:p>
          <a:p>
            <a:r>
              <a:rPr lang="en-GB" sz="2000" dirty="0"/>
              <a:t>If the concentration of a </a:t>
            </a:r>
            <a:r>
              <a:rPr lang="en-GB" sz="2000" b="1" dirty="0">
                <a:solidFill>
                  <a:schemeClr val="accent6"/>
                </a:solidFill>
              </a:rPr>
              <a:t>product</a:t>
            </a:r>
            <a:r>
              <a:rPr lang="en-GB" sz="2000" dirty="0"/>
              <a:t> is </a:t>
            </a:r>
            <a:r>
              <a:rPr lang="en-GB" sz="2000" b="1" dirty="0">
                <a:solidFill>
                  <a:schemeClr val="accent6"/>
                </a:solidFill>
              </a:rPr>
              <a:t>decreased</a:t>
            </a:r>
            <a:r>
              <a:rPr lang="en-GB" sz="2000" dirty="0">
                <a:solidFill>
                  <a:schemeClr val="accent6"/>
                </a:solidFill>
              </a:rPr>
              <a:t>, </a:t>
            </a:r>
            <a:r>
              <a:rPr lang="en-GB" sz="2000" b="1" dirty="0">
                <a:solidFill>
                  <a:schemeClr val="accent6"/>
                </a:solidFill>
              </a:rPr>
              <a:t>more reactants </a:t>
            </a:r>
            <a:r>
              <a:rPr lang="en-GB" sz="2000" dirty="0"/>
              <a:t>will react until equilibrium is reached again.</a:t>
            </a:r>
          </a:p>
        </p:txBody>
      </p:sp>
      <p:sp>
        <p:nvSpPr>
          <p:cNvPr id="7" name="TextBox 6"/>
          <p:cNvSpPr txBox="1"/>
          <p:nvPr/>
        </p:nvSpPr>
        <p:spPr>
          <a:xfrm>
            <a:off x="179512" y="4827606"/>
            <a:ext cx="8869863" cy="1600438"/>
          </a:xfrm>
          <a:custGeom>
            <a:avLst/>
            <a:gdLst>
              <a:gd name="connsiteX0" fmla="*/ 0 w 8869863"/>
              <a:gd name="connsiteY0" fmla="*/ 0 h 1200329"/>
              <a:gd name="connsiteX1" fmla="*/ 8869863 w 8869863"/>
              <a:gd name="connsiteY1" fmla="*/ 0 h 1200329"/>
              <a:gd name="connsiteX2" fmla="*/ 8869863 w 8869863"/>
              <a:gd name="connsiteY2" fmla="*/ 1200329 h 1200329"/>
              <a:gd name="connsiteX3" fmla="*/ 0 w 8869863"/>
              <a:gd name="connsiteY3" fmla="*/ 1200329 h 1200329"/>
              <a:gd name="connsiteX4" fmla="*/ 0 w 8869863"/>
              <a:gd name="connsiteY4" fmla="*/ 0 h 1200329"/>
              <a:gd name="connsiteX0" fmla="*/ 12879 w 8869863"/>
              <a:gd name="connsiteY0" fmla="*/ 0 h 1457906"/>
              <a:gd name="connsiteX1" fmla="*/ 8869863 w 8869863"/>
              <a:gd name="connsiteY1" fmla="*/ 257577 h 1457906"/>
              <a:gd name="connsiteX2" fmla="*/ 8869863 w 8869863"/>
              <a:gd name="connsiteY2" fmla="*/ 1457906 h 1457906"/>
              <a:gd name="connsiteX3" fmla="*/ 0 w 8869863"/>
              <a:gd name="connsiteY3" fmla="*/ 1457906 h 1457906"/>
              <a:gd name="connsiteX4" fmla="*/ 12879 w 8869863"/>
              <a:gd name="connsiteY4" fmla="*/ 0 h 1457906"/>
              <a:gd name="connsiteX0" fmla="*/ 12879 w 8882742"/>
              <a:gd name="connsiteY0" fmla="*/ 0 h 1457906"/>
              <a:gd name="connsiteX1" fmla="*/ 8882742 w 8882742"/>
              <a:gd name="connsiteY1" fmla="*/ 12879 h 1457906"/>
              <a:gd name="connsiteX2" fmla="*/ 8869863 w 8882742"/>
              <a:gd name="connsiteY2" fmla="*/ 1457906 h 1457906"/>
              <a:gd name="connsiteX3" fmla="*/ 0 w 8882742"/>
              <a:gd name="connsiteY3" fmla="*/ 1457906 h 1457906"/>
              <a:gd name="connsiteX4" fmla="*/ 12879 w 8882742"/>
              <a:gd name="connsiteY4" fmla="*/ 0 h 1457906"/>
              <a:gd name="connsiteX0" fmla="*/ 12879 w 8882742"/>
              <a:gd name="connsiteY0" fmla="*/ 0 h 1457906"/>
              <a:gd name="connsiteX1" fmla="*/ 8882742 w 8882742"/>
              <a:gd name="connsiteY1" fmla="*/ 0 h 1457906"/>
              <a:gd name="connsiteX2" fmla="*/ 8869863 w 8882742"/>
              <a:gd name="connsiteY2" fmla="*/ 1457906 h 1457906"/>
              <a:gd name="connsiteX3" fmla="*/ 0 w 8882742"/>
              <a:gd name="connsiteY3" fmla="*/ 1457906 h 1457906"/>
              <a:gd name="connsiteX4" fmla="*/ 12879 w 8882742"/>
              <a:gd name="connsiteY4" fmla="*/ 0 h 1457906"/>
              <a:gd name="connsiteX0" fmla="*/ 0 w 8869863"/>
              <a:gd name="connsiteY0" fmla="*/ 0 h 1457906"/>
              <a:gd name="connsiteX1" fmla="*/ 8869863 w 8869863"/>
              <a:gd name="connsiteY1" fmla="*/ 0 h 1457906"/>
              <a:gd name="connsiteX2" fmla="*/ 8856984 w 8869863"/>
              <a:gd name="connsiteY2" fmla="*/ 1457906 h 1457906"/>
              <a:gd name="connsiteX3" fmla="*/ 0 w 8869863"/>
              <a:gd name="connsiteY3" fmla="*/ 1174571 h 1457906"/>
              <a:gd name="connsiteX4" fmla="*/ 0 w 8869863"/>
              <a:gd name="connsiteY4" fmla="*/ 0 h 1457906"/>
              <a:gd name="connsiteX0" fmla="*/ 0 w 8869863"/>
              <a:gd name="connsiteY0" fmla="*/ 0 h 1187450"/>
              <a:gd name="connsiteX1" fmla="*/ 8869863 w 8869863"/>
              <a:gd name="connsiteY1" fmla="*/ 0 h 1187450"/>
              <a:gd name="connsiteX2" fmla="*/ 8869863 w 8869863"/>
              <a:gd name="connsiteY2" fmla="*/ 1187450 h 1187450"/>
              <a:gd name="connsiteX3" fmla="*/ 0 w 8869863"/>
              <a:gd name="connsiteY3" fmla="*/ 1174571 h 1187450"/>
              <a:gd name="connsiteX4" fmla="*/ 0 w 8869863"/>
              <a:gd name="connsiteY4" fmla="*/ 0 h 1187450"/>
              <a:gd name="connsiteX0" fmla="*/ 0 w 8869863"/>
              <a:gd name="connsiteY0" fmla="*/ 0 h 1174571"/>
              <a:gd name="connsiteX1" fmla="*/ 8869863 w 8869863"/>
              <a:gd name="connsiteY1" fmla="*/ 0 h 1174571"/>
              <a:gd name="connsiteX2" fmla="*/ 8869863 w 8869863"/>
              <a:gd name="connsiteY2" fmla="*/ 1174571 h 1174571"/>
              <a:gd name="connsiteX3" fmla="*/ 0 w 8869863"/>
              <a:gd name="connsiteY3" fmla="*/ 1174571 h 1174571"/>
              <a:gd name="connsiteX4" fmla="*/ 0 w 8869863"/>
              <a:gd name="connsiteY4" fmla="*/ 0 h 1174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863" h="1174571">
                <a:moveTo>
                  <a:pt x="0" y="0"/>
                </a:moveTo>
                <a:lnTo>
                  <a:pt x="8869863" y="0"/>
                </a:lnTo>
                <a:lnTo>
                  <a:pt x="8869863" y="1174571"/>
                </a:lnTo>
                <a:lnTo>
                  <a:pt x="0" y="1174571"/>
                </a:lnTo>
                <a:lnTo>
                  <a:pt x="0" y="0"/>
                </a:lnTo>
                <a:close/>
              </a:path>
            </a:pathLst>
          </a:custGeom>
          <a:noFill/>
        </p:spPr>
        <p:txBody>
          <a:bodyPr wrap="square" rtlCol="0">
            <a:spAutoFit/>
          </a:bodyPr>
          <a:lstStyle/>
          <a:p>
            <a:endParaRPr lang="en-GB" dirty="0"/>
          </a:p>
          <a:p>
            <a:r>
              <a:rPr lang="en-GB" sz="2000" dirty="0"/>
              <a:t>So if we increase the amount of hydrogen and iodine, more hydrogen iodide gas will be made</a:t>
            </a:r>
            <a:r>
              <a:rPr lang="en-GB" sz="2000" dirty="0" smtClean="0"/>
              <a:t>.</a:t>
            </a:r>
            <a:endParaRPr lang="en-GB" sz="2000" dirty="0"/>
          </a:p>
          <a:p>
            <a:r>
              <a:rPr lang="en-GB" sz="2000" dirty="0"/>
              <a:t>If we decrease the amount of hydrogen iodide, more hydrogen and iodine will react to make hydrogen iodide.</a:t>
            </a:r>
          </a:p>
        </p:txBody>
      </p:sp>
    </p:spTree>
    <p:extLst>
      <p:ext uri="{BB962C8B-B14F-4D97-AF65-F5344CB8AC3E}">
        <p14:creationId xmlns:p14="http://schemas.microsoft.com/office/powerpoint/2010/main" val="100296897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100" b="1" dirty="0">
                <a:solidFill>
                  <a:schemeClr val="accent6"/>
                </a:solidFill>
              </a:rPr>
              <a:t>The Effect of changing conditions on equilibrium (HT only)</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1103832"/>
            <a:ext cx="8856984" cy="2308324"/>
          </a:xfrm>
          <a:prstGeom prst="rect">
            <a:avLst/>
          </a:prstGeom>
          <a:noFill/>
          <a:ln w="28575">
            <a:solidFill>
              <a:schemeClr val="accent6"/>
            </a:solidFill>
          </a:ln>
        </p:spPr>
        <p:txBody>
          <a:bodyPr wrap="square" rtlCol="0">
            <a:spAutoFit/>
          </a:bodyPr>
          <a:lstStyle/>
          <a:p>
            <a:r>
              <a:rPr lang="en-GB" b="1" u="sng" dirty="0"/>
              <a:t>The Effect of Changing Temperature</a:t>
            </a:r>
          </a:p>
          <a:p>
            <a:r>
              <a:rPr lang="en-GB" dirty="0"/>
              <a:t>If the temperature of a system at equilibrium is </a:t>
            </a:r>
            <a:r>
              <a:rPr lang="en-GB" b="1" dirty="0">
                <a:solidFill>
                  <a:schemeClr val="accent6"/>
                </a:solidFill>
              </a:rPr>
              <a:t>increased</a:t>
            </a:r>
            <a:r>
              <a:rPr lang="en-GB" dirty="0"/>
              <a:t>:</a:t>
            </a:r>
          </a:p>
          <a:p>
            <a:r>
              <a:rPr lang="en-GB" dirty="0"/>
              <a:t>The relative amount of products at equilibrium </a:t>
            </a:r>
            <a:r>
              <a:rPr lang="en-GB" b="1" dirty="0">
                <a:solidFill>
                  <a:schemeClr val="accent6"/>
                </a:solidFill>
              </a:rPr>
              <a:t>increases</a:t>
            </a:r>
            <a:r>
              <a:rPr lang="en-GB" dirty="0"/>
              <a:t> for an </a:t>
            </a:r>
            <a:r>
              <a:rPr lang="en-GB" b="1" dirty="0">
                <a:solidFill>
                  <a:schemeClr val="accent6"/>
                </a:solidFill>
              </a:rPr>
              <a:t>endothermic</a:t>
            </a:r>
            <a:r>
              <a:rPr lang="en-GB" dirty="0"/>
              <a:t> reaction.</a:t>
            </a:r>
          </a:p>
          <a:p>
            <a:r>
              <a:rPr lang="en-GB" dirty="0"/>
              <a:t>The relative amount of products at equilibrium </a:t>
            </a:r>
            <a:r>
              <a:rPr lang="en-GB" b="1" dirty="0">
                <a:solidFill>
                  <a:schemeClr val="accent6"/>
                </a:solidFill>
              </a:rPr>
              <a:t>decreases</a:t>
            </a:r>
            <a:r>
              <a:rPr lang="en-GB" dirty="0"/>
              <a:t> for an </a:t>
            </a:r>
            <a:r>
              <a:rPr lang="en-GB" b="1" dirty="0">
                <a:solidFill>
                  <a:schemeClr val="accent6"/>
                </a:solidFill>
              </a:rPr>
              <a:t>exothermic</a:t>
            </a:r>
            <a:r>
              <a:rPr lang="en-GB" dirty="0"/>
              <a:t> reaction.</a:t>
            </a:r>
          </a:p>
          <a:p>
            <a:endParaRPr lang="en-GB" dirty="0"/>
          </a:p>
          <a:p>
            <a:r>
              <a:rPr lang="en-GB" dirty="0"/>
              <a:t>If the temperature of a system at equilibrium is </a:t>
            </a:r>
            <a:r>
              <a:rPr lang="en-GB" b="1" dirty="0">
                <a:solidFill>
                  <a:schemeClr val="accent6"/>
                </a:solidFill>
              </a:rPr>
              <a:t>decreased</a:t>
            </a:r>
            <a:r>
              <a:rPr lang="en-GB" dirty="0"/>
              <a:t>:</a:t>
            </a:r>
          </a:p>
          <a:p>
            <a:r>
              <a:rPr lang="en-GB" dirty="0"/>
              <a:t>The relative amount of products at equilibrium </a:t>
            </a:r>
            <a:r>
              <a:rPr lang="en-GB" b="1" dirty="0">
                <a:solidFill>
                  <a:schemeClr val="accent6"/>
                </a:solidFill>
              </a:rPr>
              <a:t>decreases</a:t>
            </a:r>
            <a:r>
              <a:rPr lang="en-GB" dirty="0"/>
              <a:t> for an </a:t>
            </a:r>
            <a:r>
              <a:rPr lang="en-GB" b="1" dirty="0">
                <a:solidFill>
                  <a:schemeClr val="accent6"/>
                </a:solidFill>
              </a:rPr>
              <a:t>endothermic</a:t>
            </a:r>
            <a:r>
              <a:rPr lang="en-GB" dirty="0"/>
              <a:t> reaction.</a:t>
            </a:r>
          </a:p>
          <a:p>
            <a:r>
              <a:rPr lang="en-GB" dirty="0"/>
              <a:t>The relative amount of products at equilibrium </a:t>
            </a:r>
            <a:r>
              <a:rPr lang="en-GB" b="1" dirty="0">
                <a:solidFill>
                  <a:schemeClr val="accent6"/>
                </a:solidFill>
              </a:rPr>
              <a:t>increases</a:t>
            </a:r>
            <a:r>
              <a:rPr lang="en-GB" dirty="0"/>
              <a:t> for an </a:t>
            </a:r>
            <a:r>
              <a:rPr lang="en-GB" b="1" dirty="0">
                <a:solidFill>
                  <a:schemeClr val="accent6"/>
                </a:solidFill>
              </a:rPr>
              <a:t>exothermic</a:t>
            </a:r>
            <a:r>
              <a:rPr lang="en-GB" dirty="0"/>
              <a:t> reaction.</a:t>
            </a:r>
          </a:p>
        </p:txBody>
      </p:sp>
      <p:sp>
        <p:nvSpPr>
          <p:cNvPr id="4" name="TextBox 3"/>
          <p:cNvSpPr txBox="1"/>
          <p:nvPr/>
        </p:nvSpPr>
        <p:spPr>
          <a:xfrm>
            <a:off x="179512" y="3852625"/>
            <a:ext cx="8856984" cy="1231106"/>
          </a:xfrm>
          <a:prstGeom prst="rect">
            <a:avLst/>
          </a:prstGeom>
          <a:noFill/>
        </p:spPr>
        <p:txBody>
          <a:bodyPr wrap="square" rtlCol="0">
            <a:spAutoFit/>
          </a:bodyPr>
          <a:lstStyle/>
          <a:p>
            <a:r>
              <a:rPr lang="en-GB" sz="2000" dirty="0"/>
              <a:t>If we apply these to the equation </a:t>
            </a:r>
            <a:r>
              <a:rPr lang="en-GB" sz="2000" dirty="0" smtClean="0"/>
              <a:t>below:</a:t>
            </a:r>
            <a:endParaRPr lang="en-GB" sz="2000" dirty="0"/>
          </a:p>
          <a:p>
            <a:endParaRPr lang="en-GB" dirty="0"/>
          </a:p>
          <a:p>
            <a:pPr algn="ctr"/>
            <a:r>
              <a:rPr lang="en-GB" dirty="0">
                <a:sym typeface="Wingdings" panose="05000000000000000000" pitchFamily="2" charset="2"/>
              </a:rPr>
              <a:t>N</a:t>
            </a:r>
            <a:r>
              <a:rPr lang="en-GB" baseline="-25000" dirty="0">
                <a:sym typeface="Wingdings" panose="05000000000000000000" pitchFamily="2" charset="2"/>
              </a:rPr>
              <a:t>2</a:t>
            </a:r>
            <a:r>
              <a:rPr lang="en-GB" dirty="0">
                <a:sym typeface="Wingdings" panose="05000000000000000000" pitchFamily="2" charset="2"/>
              </a:rPr>
              <a:t> (g)  +  3H</a:t>
            </a:r>
            <a:r>
              <a:rPr lang="en-GB" baseline="-25000" dirty="0">
                <a:sym typeface="Wingdings" panose="05000000000000000000" pitchFamily="2" charset="2"/>
              </a:rPr>
              <a:t>2</a:t>
            </a:r>
            <a:r>
              <a:rPr lang="en-GB" dirty="0">
                <a:sym typeface="Wingdings" panose="05000000000000000000" pitchFamily="2" charset="2"/>
              </a:rPr>
              <a:t> (g)                  2NH</a:t>
            </a:r>
            <a:r>
              <a:rPr lang="en-GB" baseline="-25000" dirty="0">
                <a:sym typeface="Wingdings" panose="05000000000000000000" pitchFamily="2" charset="2"/>
              </a:rPr>
              <a:t>3</a:t>
            </a:r>
            <a:r>
              <a:rPr lang="en-GB" dirty="0">
                <a:sym typeface="Wingdings" panose="05000000000000000000" pitchFamily="2" charset="2"/>
              </a:rPr>
              <a:t> (g)</a:t>
            </a:r>
          </a:p>
          <a:p>
            <a:endParaRPr lang="en-GB" dirty="0"/>
          </a:p>
        </p:txBody>
      </p:sp>
      <p:pic>
        <p:nvPicPr>
          <p:cNvPr id="5" name="Picture 4"/>
          <p:cNvPicPr/>
          <p:nvPr/>
        </p:nvPicPr>
        <p:blipFill>
          <a:blip r:embed="rId3"/>
          <a:stretch>
            <a:fillRect/>
          </a:stretch>
        </p:blipFill>
        <p:spPr>
          <a:xfrm>
            <a:off x="4499992" y="4431222"/>
            <a:ext cx="864096" cy="288033"/>
          </a:xfrm>
          <a:prstGeom prst="rect">
            <a:avLst/>
          </a:prstGeom>
        </p:spPr>
      </p:pic>
      <p:sp>
        <p:nvSpPr>
          <p:cNvPr id="6" name="TextBox 5"/>
          <p:cNvSpPr txBox="1"/>
          <p:nvPr/>
        </p:nvSpPr>
        <p:spPr>
          <a:xfrm>
            <a:off x="4394922" y="4123422"/>
            <a:ext cx="1008112" cy="282019"/>
          </a:xfrm>
          <a:custGeom>
            <a:avLst/>
            <a:gdLst>
              <a:gd name="connsiteX0" fmla="*/ 0 w 1008112"/>
              <a:gd name="connsiteY0" fmla="*/ 0 h 307777"/>
              <a:gd name="connsiteX1" fmla="*/ 1008112 w 1008112"/>
              <a:gd name="connsiteY1" fmla="*/ 0 h 307777"/>
              <a:gd name="connsiteX2" fmla="*/ 1008112 w 1008112"/>
              <a:gd name="connsiteY2" fmla="*/ 307777 h 307777"/>
              <a:gd name="connsiteX3" fmla="*/ 0 w 1008112"/>
              <a:gd name="connsiteY3" fmla="*/ 307777 h 307777"/>
              <a:gd name="connsiteX4" fmla="*/ 0 w 1008112"/>
              <a:gd name="connsiteY4" fmla="*/ 0 h 307777"/>
              <a:gd name="connsiteX0" fmla="*/ 0 w 1008112"/>
              <a:gd name="connsiteY0" fmla="*/ 64394 h 372171"/>
              <a:gd name="connsiteX1" fmla="*/ 1008112 w 1008112"/>
              <a:gd name="connsiteY1" fmla="*/ 0 h 372171"/>
              <a:gd name="connsiteX2" fmla="*/ 1008112 w 1008112"/>
              <a:gd name="connsiteY2" fmla="*/ 372171 h 372171"/>
              <a:gd name="connsiteX3" fmla="*/ 0 w 1008112"/>
              <a:gd name="connsiteY3" fmla="*/ 372171 h 372171"/>
              <a:gd name="connsiteX4" fmla="*/ 0 w 1008112"/>
              <a:gd name="connsiteY4" fmla="*/ 64394 h 372171"/>
              <a:gd name="connsiteX0" fmla="*/ 0 w 1008112"/>
              <a:gd name="connsiteY0" fmla="*/ 0 h 372171"/>
              <a:gd name="connsiteX1" fmla="*/ 1008112 w 1008112"/>
              <a:gd name="connsiteY1" fmla="*/ 0 h 372171"/>
              <a:gd name="connsiteX2" fmla="*/ 1008112 w 1008112"/>
              <a:gd name="connsiteY2" fmla="*/ 372171 h 372171"/>
              <a:gd name="connsiteX3" fmla="*/ 0 w 1008112"/>
              <a:gd name="connsiteY3" fmla="*/ 372171 h 372171"/>
              <a:gd name="connsiteX4" fmla="*/ 0 w 1008112"/>
              <a:gd name="connsiteY4" fmla="*/ 0 h 372171"/>
              <a:gd name="connsiteX0" fmla="*/ 0 w 1008112"/>
              <a:gd name="connsiteY0" fmla="*/ 0 h 372171"/>
              <a:gd name="connsiteX1" fmla="*/ 1008112 w 1008112"/>
              <a:gd name="connsiteY1" fmla="*/ 0 h 372171"/>
              <a:gd name="connsiteX2" fmla="*/ 1008112 w 1008112"/>
              <a:gd name="connsiteY2" fmla="*/ 372171 h 372171"/>
              <a:gd name="connsiteX3" fmla="*/ 0 w 1008112"/>
              <a:gd name="connsiteY3" fmla="*/ 269140 h 372171"/>
              <a:gd name="connsiteX4" fmla="*/ 0 w 1008112"/>
              <a:gd name="connsiteY4" fmla="*/ 0 h 372171"/>
              <a:gd name="connsiteX0" fmla="*/ 0 w 1008112"/>
              <a:gd name="connsiteY0" fmla="*/ 0 h 282019"/>
              <a:gd name="connsiteX1" fmla="*/ 1008112 w 1008112"/>
              <a:gd name="connsiteY1" fmla="*/ 0 h 282019"/>
              <a:gd name="connsiteX2" fmla="*/ 1008112 w 1008112"/>
              <a:gd name="connsiteY2" fmla="*/ 282019 h 282019"/>
              <a:gd name="connsiteX3" fmla="*/ 0 w 1008112"/>
              <a:gd name="connsiteY3" fmla="*/ 269140 h 282019"/>
              <a:gd name="connsiteX4" fmla="*/ 0 w 1008112"/>
              <a:gd name="connsiteY4" fmla="*/ 0 h 282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112" h="282019">
                <a:moveTo>
                  <a:pt x="0" y="0"/>
                </a:moveTo>
                <a:lnTo>
                  <a:pt x="1008112" y="0"/>
                </a:lnTo>
                <a:lnTo>
                  <a:pt x="1008112" y="282019"/>
                </a:lnTo>
                <a:lnTo>
                  <a:pt x="0" y="269140"/>
                </a:lnTo>
                <a:lnTo>
                  <a:pt x="0" y="0"/>
                </a:lnTo>
                <a:close/>
              </a:path>
            </a:pathLst>
          </a:custGeom>
          <a:noFill/>
        </p:spPr>
        <p:txBody>
          <a:bodyPr wrap="square" rtlCol="0">
            <a:spAutoFit/>
          </a:bodyPr>
          <a:lstStyle/>
          <a:p>
            <a:r>
              <a:rPr lang="en-GB" sz="1400" dirty="0"/>
              <a:t>exothermic</a:t>
            </a:r>
          </a:p>
        </p:txBody>
      </p:sp>
      <p:sp>
        <p:nvSpPr>
          <p:cNvPr id="7" name="TextBox 6"/>
          <p:cNvSpPr txBox="1"/>
          <p:nvPr/>
        </p:nvSpPr>
        <p:spPr>
          <a:xfrm>
            <a:off x="4394922" y="4676238"/>
            <a:ext cx="1152128" cy="307777"/>
          </a:xfrm>
          <a:prstGeom prst="rect">
            <a:avLst/>
          </a:prstGeom>
          <a:noFill/>
        </p:spPr>
        <p:txBody>
          <a:bodyPr wrap="square" rtlCol="0">
            <a:spAutoFit/>
          </a:bodyPr>
          <a:lstStyle/>
          <a:p>
            <a:r>
              <a:rPr lang="en-GB" sz="1400" dirty="0"/>
              <a:t>endothermic</a:t>
            </a:r>
          </a:p>
        </p:txBody>
      </p:sp>
      <p:sp>
        <p:nvSpPr>
          <p:cNvPr id="8" name="TextBox 7"/>
          <p:cNvSpPr txBox="1"/>
          <p:nvPr/>
        </p:nvSpPr>
        <p:spPr>
          <a:xfrm>
            <a:off x="182976" y="5015007"/>
            <a:ext cx="8856984" cy="1323439"/>
          </a:xfrm>
          <a:prstGeom prst="rect">
            <a:avLst/>
          </a:prstGeom>
          <a:noFill/>
        </p:spPr>
        <p:txBody>
          <a:bodyPr wrap="square" rtlCol="0">
            <a:spAutoFit/>
          </a:bodyPr>
          <a:lstStyle/>
          <a:p>
            <a:r>
              <a:rPr lang="en-GB" sz="2000" smtClean="0"/>
              <a:t>Increasing </a:t>
            </a:r>
            <a:r>
              <a:rPr lang="en-GB" sz="2000" dirty="0"/>
              <a:t>the temperature will give more nitrogen N</a:t>
            </a:r>
            <a:r>
              <a:rPr lang="en-GB" sz="2000" baseline="-25000" dirty="0"/>
              <a:t>2</a:t>
            </a:r>
            <a:r>
              <a:rPr lang="en-GB" sz="2000" dirty="0"/>
              <a:t> and hydrogen H</a:t>
            </a:r>
            <a:r>
              <a:rPr lang="en-GB" sz="2000" baseline="-25000" dirty="0"/>
              <a:t>2</a:t>
            </a:r>
            <a:r>
              <a:rPr lang="en-GB" sz="2000" dirty="0"/>
              <a:t> and less ammonia NH</a:t>
            </a:r>
            <a:r>
              <a:rPr lang="en-GB" sz="2000" baseline="-25000" dirty="0"/>
              <a:t>3</a:t>
            </a:r>
            <a:r>
              <a:rPr lang="en-GB" sz="2000" baseline="-25000" dirty="0" smtClean="0"/>
              <a:t>.</a:t>
            </a:r>
            <a:endParaRPr lang="en-GB" sz="2000" baseline="-25000" dirty="0"/>
          </a:p>
          <a:p>
            <a:r>
              <a:rPr lang="en-GB" sz="2000" dirty="0"/>
              <a:t>Decreasing the temperature the opposite result occurs- we would get more ammonia NH</a:t>
            </a:r>
            <a:r>
              <a:rPr lang="en-GB" sz="2000" baseline="-25000" dirty="0"/>
              <a:t>3</a:t>
            </a:r>
            <a:r>
              <a:rPr lang="en-GB" sz="2000" dirty="0"/>
              <a:t> and less nitrogen N</a:t>
            </a:r>
            <a:r>
              <a:rPr lang="en-GB" sz="2000" baseline="-25000" dirty="0"/>
              <a:t>2</a:t>
            </a:r>
            <a:r>
              <a:rPr lang="en-GB" sz="2000" dirty="0"/>
              <a:t> and hydrogen H</a:t>
            </a:r>
            <a:r>
              <a:rPr lang="en-GB" sz="2000" baseline="-25000" dirty="0"/>
              <a:t>2.</a:t>
            </a:r>
          </a:p>
        </p:txBody>
      </p:sp>
    </p:spTree>
    <p:extLst>
      <p:ext uri="{BB962C8B-B14F-4D97-AF65-F5344CB8AC3E}">
        <p14:creationId xmlns:p14="http://schemas.microsoft.com/office/powerpoint/2010/main" val="2832888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100" b="1" dirty="0">
                <a:solidFill>
                  <a:schemeClr val="accent6"/>
                </a:solidFill>
              </a:rPr>
              <a:t>The Effect of changing conditions on equilibrium (HT only)</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836712"/>
            <a:ext cx="8856984" cy="1754326"/>
          </a:xfrm>
          <a:prstGeom prst="rect">
            <a:avLst/>
          </a:prstGeom>
          <a:noFill/>
          <a:ln w="28575">
            <a:solidFill>
              <a:schemeClr val="accent6"/>
            </a:solidFill>
          </a:ln>
        </p:spPr>
        <p:txBody>
          <a:bodyPr wrap="square" rtlCol="0">
            <a:spAutoFit/>
          </a:bodyPr>
          <a:lstStyle/>
          <a:p>
            <a:r>
              <a:rPr lang="en-GB" b="1" u="sng" dirty="0"/>
              <a:t>The Effect of Changing Pressure</a:t>
            </a:r>
          </a:p>
          <a:p>
            <a:r>
              <a:rPr lang="en-GB" dirty="0"/>
              <a:t>For gaseous reactions at equilibrium:</a:t>
            </a:r>
          </a:p>
          <a:p>
            <a:r>
              <a:rPr lang="en-GB" dirty="0"/>
              <a:t>An </a:t>
            </a:r>
            <a:r>
              <a:rPr lang="en-GB" b="1" dirty="0">
                <a:solidFill>
                  <a:schemeClr val="accent6"/>
                </a:solidFill>
              </a:rPr>
              <a:t>increase</a:t>
            </a:r>
            <a:r>
              <a:rPr lang="en-GB" dirty="0"/>
              <a:t> in pressure causes the equilibrium position to shift towards the side with the </a:t>
            </a:r>
            <a:r>
              <a:rPr lang="en-GB" b="1" dirty="0">
                <a:solidFill>
                  <a:schemeClr val="accent6"/>
                </a:solidFill>
              </a:rPr>
              <a:t>smaller</a:t>
            </a:r>
            <a:r>
              <a:rPr lang="en-GB" dirty="0"/>
              <a:t> number of molecules, as shown by the symbol equation for that reaction.</a:t>
            </a:r>
          </a:p>
          <a:p>
            <a:r>
              <a:rPr lang="en-GB" dirty="0"/>
              <a:t>A </a:t>
            </a:r>
            <a:r>
              <a:rPr lang="en-GB" b="1" dirty="0">
                <a:solidFill>
                  <a:schemeClr val="accent6"/>
                </a:solidFill>
              </a:rPr>
              <a:t>decrease</a:t>
            </a:r>
            <a:r>
              <a:rPr lang="en-GB" dirty="0"/>
              <a:t> in pressure causes the equilibrium position to shift towards the side with</a:t>
            </a:r>
          </a:p>
          <a:p>
            <a:r>
              <a:rPr lang="en-GB" b="1" dirty="0">
                <a:solidFill>
                  <a:schemeClr val="accent6"/>
                </a:solidFill>
              </a:rPr>
              <a:t>larger</a:t>
            </a:r>
            <a:r>
              <a:rPr lang="en-GB" dirty="0"/>
              <a:t> number of molecules, as shown by the symbol equation for that reaction.</a:t>
            </a:r>
          </a:p>
        </p:txBody>
      </p:sp>
      <p:sp>
        <p:nvSpPr>
          <p:cNvPr id="4" name="TextBox 3"/>
          <p:cNvSpPr txBox="1"/>
          <p:nvPr/>
        </p:nvSpPr>
        <p:spPr>
          <a:xfrm>
            <a:off x="179512" y="2708920"/>
            <a:ext cx="8856984" cy="3939540"/>
          </a:xfrm>
          <a:prstGeom prst="rect">
            <a:avLst/>
          </a:prstGeom>
          <a:noFill/>
        </p:spPr>
        <p:txBody>
          <a:bodyPr wrap="square" rtlCol="0">
            <a:spAutoFit/>
          </a:bodyPr>
          <a:lstStyle/>
          <a:p>
            <a:endParaRPr lang="en-GB" dirty="0"/>
          </a:p>
          <a:p>
            <a:r>
              <a:rPr lang="en-GB" dirty="0"/>
              <a:t>As 1 mole of gas at STP occupies 24 dm</a:t>
            </a:r>
            <a:r>
              <a:rPr lang="en-GB" baseline="30000" dirty="0"/>
              <a:t>3,</a:t>
            </a:r>
            <a:r>
              <a:rPr lang="en-GB" dirty="0"/>
              <a:t> we can apply this knowledge to the equation.</a:t>
            </a:r>
          </a:p>
          <a:p>
            <a:endParaRPr lang="en-GB" sz="800" dirty="0"/>
          </a:p>
          <a:p>
            <a:pPr algn="ctr"/>
            <a:r>
              <a:rPr lang="en-GB" dirty="0">
                <a:sym typeface="Wingdings" panose="05000000000000000000" pitchFamily="2" charset="2"/>
              </a:rPr>
              <a:t>N</a:t>
            </a:r>
            <a:r>
              <a:rPr lang="en-GB" baseline="-25000" dirty="0">
                <a:sym typeface="Wingdings" panose="05000000000000000000" pitchFamily="2" charset="2"/>
              </a:rPr>
              <a:t>2</a:t>
            </a:r>
            <a:r>
              <a:rPr lang="en-GB" dirty="0">
                <a:sym typeface="Wingdings" panose="05000000000000000000" pitchFamily="2" charset="2"/>
              </a:rPr>
              <a:t> (g)  +  3H</a:t>
            </a:r>
            <a:r>
              <a:rPr lang="en-GB" baseline="-25000" dirty="0">
                <a:sym typeface="Wingdings" panose="05000000000000000000" pitchFamily="2" charset="2"/>
              </a:rPr>
              <a:t>2</a:t>
            </a:r>
            <a:r>
              <a:rPr lang="en-GB" dirty="0">
                <a:sym typeface="Wingdings" panose="05000000000000000000" pitchFamily="2" charset="2"/>
              </a:rPr>
              <a:t> (g)                  2NH</a:t>
            </a:r>
            <a:r>
              <a:rPr lang="en-GB" baseline="-25000" dirty="0">
                <a:sym typeface="Wingdings" panose="05000000000000000000" pitchFamily="2" charset="2"/>
              </a:rPr>
              <a:t>3</a:t>
            </a:r>
            <a:r>
              <a:rPr lang="en-GB" dirty="0">
                <a:sym typeface="Wingdings" panose="05000000000000000000" pitchFamily="2" charset="2"/>
              </a:rPr>
              <a:t> (g)</a:t>
            </a:r>
          </a:p>
          <a:p>
            <a:pPr algn="ctr"/>
            <a:endParaRPr lang="en-GB" sz="800" dirty="0">
              <a:sym typeface="Wingdings" panose="05000000000000000000" pitchFamily="2" charset="2"/>
            </a:endParaRPr>
          </a:p>
          <a:p>
            <a:r>
              <a:rPr lang="en-GB" dirty="0">
                <a:sym typeface="Wingdings" panose="05000000000000000000" pitchFamily="2" charset="2"/>
              </a:rPr>
              <a:t>There are 4 moles of reactants: 1 mole of nitrogen N</a:t>
            </a:r>
            <a:r>
              <a:rPr lang="en-GB" baseline="-25000" dirty="0">
                <a:sym typeface="Wingdings" panose="05000000000000000000" pitchFamily="2" charset="2"/>
              </a:rPr>
              <a:t>2</a:t>
            </a:r>
            <a:r>
              <a:rPr lang="en-GB" dirty="0">
                <a:sym typeface="Wingdings" panose="05000000000000000000" pitchFamily="2" charset="2"/>
              </a:rPr>
              <a:t> and 3 moles of H</a:t>
            </a:r>
            <a:r>
              <a:rPr lang="en-GB" baseline="-25000" dirty="0">
                <a:sym typeface="Wingdings" panose="05000000000000000000" pitchFamily="2" charset="2"/>
              </a:rPr>
              <a:t>2</a:t>
            </a:r>
            <a:endParaRPr lang="en-GB" dirty="0">
              <a:sym typeface="Wingdings" panose="05000000000000000000" pitchFamily="2" charset="2"/>
            </a:endParaRPr>
          </a:p>
          <a:p>
            <a:r>
              <a:rPr lang="en-GB" dirty="0">
                <a:sym typeface="Wingdings" panose="05000000000000000000" pitchFamily="2" charset="2"/>
              </a:rPr>
              <a:t>There are only 2 moles of the ammonia NH</a:t>
            </a:r>
            <a:r>
              <a:rPr lang="en-GB" baseline="-25000" dirty="0">
                <a:sym typeface="Wingdings" panose="05000000000000000000" pitchFamily="2" charset="2"/>
              </a:rPr>
              <a:t>3</a:t>
            </a:r>
            <a:r>
              <a:rPr lang="en-GB" dirty="0">
                <a:sym typeface="Wingdings" panose="05000000000000000000" pitchFamily="2" charset="2"/>
              </a:rPr>
              <a:t> product.</a:t>
            </a:r>
          </a:p>
          <a:p>
            <a:r>
              <a:rPr lang="en-GB" dirty="0">
                <a:sym typeface="Wingdings" panose="05000000000000000000" pitchFamily="2" charset="2"/>
              </a:rPr>
              <a:t> </a:t>
            </a:r>
          </a:p>
          <a:p>
            <a:r>
              <a:rPr lang="en-GB" dirty="0">
                <a:sym typeface="Wingdings" panose="05000000000000000000" pitchFamily="2" charset="2"/>
              </a:rPr>
              <a:t>The reactants will have 96 dm</a:t>
            </a:r>
            <a:r>
              <a:rPr lang="en-GB" baseline="30000" dirty="0">
                <a:sym typeface="Wingdings" panose="05000000000000000000" pitchFamily="2" charset="2"/>
              </a:rPr>
              <a:t>3</a:t>
            </a:r>
            <a:r>
              <a:rPr lang="en-GB" dirty="0">
                <a:sym typeface="Wingdings" panose="05000000000000000000" pitchFamily="2" charset="2"/>
              </a:rPr>
              <a:t> at STP and the products will only occupy 48 dm</a:t>
            </a:r>
            <a:r>
              <a:rPr lang="en-GB" baseline="30000" dirty="0">
                <a:sym typeface="Wingdings" panose="05000000000000000000" pitchFamily="2" charset="2"/>
              </a:rPr>
              <a:t>3</a:t>
            </a:r>
            <a:r>
              <a:rPr lang="en-GB" dirty="0">
                <a:sym typeface="Wingdings" panose="05000000000000000000" pitchFamily="2" charset="2"/>
              </a:rPr>
              <a:t> . </a:t>
            </a:r>
          </a:p>
          <a:p>
            <a:endParaRPr lang="en-GB" dirty="0">
              <a:sym typeface="Wingdings" panose="05000000000000000000" pitchFamily="2" charset="2"/>
            </a:endParaRPr>
          </a:p>
          <a:p>
            <a:r>
              <a:rPr lang="en-GB" dirty="0">
                <a:sym typeface="Wingdings" panose="05000000000000000000" pitchFamily="2" charset="2"/>
              </a:rPr>
              <a:t>So if we </a:t>
            </a:r>
            <a:r>
              <a:rPr lang="en-GB" b="1" dirty="0">
                <a:solidFill>
                  <a:schemeClr val="accent6"/>
                </a:solidFill>
                <a:sym typeface="Wingdings" panose="05000000000000000000" pitchFamily="2" charset="2"/>
              </a:rPr>
              <a:t>increase</a:t>
            </a:r>
            <a:r>
              <a:rPr lang="en-GB" dirty="0">
                <a:sym typeface="Wingdings" panose="05000000000000000000" pitchFamily="2" charset="2"/>
              </a:rPr>
              <a:t> the pressure, the equilibrium position will shift towards the right hand side simply because the two moles of ammonia take up a </a:t>
            </a:r>
            <a:r>
              <a:rPr lang="en-GB" b="1" dirty="0">
                <a:solidFill>
                  <a:schemeClr val="accent6"/>
                </a:solidFill>
                <a:sym typeface="Wingdings" panose="05000000000000000000" pitchFamily="2" charset="2"/>
              </a:rPr>
              <a:t>smaller</a:t>
            </a:r>
            <a:r>
              <a:rPr lang="en-GB" dirty="0">
                <a:sym typeface="Wingdings" panose="05000000000000000000" pitchFamily="2" charset="2"/>
              </a:rPr>
              <a:t> volume so, from </a:t>
            </a:r>
            <a:r>
              <a:rPr lang="en-GB" b="1" dirty="0">
                <a:solidFill>
                  <a:schemeClr val="accent6"/>
                </a:solidFill>
                <a:sym typeface="Wingdings" panose="05000000000000000000" pitchFamily="2" charset="2"/>
              </a:rPr>
              <a:t>Le </a:t>
            </a:r>
            <a:r>
              <a:rPr lang="en-GB" b="1" dirty="0" err="1">
                <a:solidFill>
                  <a:schemeClr val="accent6"/>
                </a:solidFill>
                <a:sym typeface="Wingdings" panose="05000000000000000000" pitchFamily="2" charset="2"/>
              </a:rPr>
              <a:t>Chatelier’s</a:t>
            </a:r>
            <a:r>
              <a:rPr lang="en-GB" b="1" dirty="0">
                <a:solidFill>
                  <a:schemeClr val="accent6"/>
                </a:solidFill>
                <a:sym typeface="Wingdings" panose="05000000000000000000" pitchFamily="2" charset="2"/>
              </a:rPr>
              <a:t> principal,</a:t>
            </a:r>
            <a:r>
              <a:rPr lang="en-GB" dirty="0">
                <a:sym typeface="Wingdings" panose="05000000000000000000" pitchFamily="2" charset="2"/>
              </a:rPr>
              <a:t> making more of the product that has less volume reduces the pressure that we have just increased.</a:t>
            </a:r>
          </a:p>
          <a:p>
            <a:endParaRPr lang="en-GB" dirty="0"/>
          </a:p>
        </p:txBody>
      </p:sp>
      <p:pic>
        <p:nvPicPr>
          <p:cNvPr id="5" name="Picture 4"/>
          <p:cNvPicPr/>
          <p:nvPr/>
        </p:nvPicPr>
        <p:blipFill>
          <a:blip r:embed="rId3"/>
          <a:stretch>
            <a:fillRect/>
          </a:stretch>
        </p:blipFill>
        <p:spPr>
          <a:xfrm>
            <a:off x="4640239" y="3429000"/>
            <a:ext cx="648072" cy="360040"/>
          </a:xfrm>
          <a:prstGeom prst="rect">
            <a:avLst/>
          </a:prstGeom>
        </p:spPr>
      </p:pic>
    </p:spTree>
    <p:extLst>
      <p:ext uri="{BB962C8B-B14F-4D97-AF65-F5344CB8AC3E}">
        <p14:creationId xmlns:p14="http://schemas.microsoft.com/office/powerpoint/2010/main" val="26862561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5355312"/>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2400" b="1" dirty="0">
                <a:solidFill>
                  <a:schemeClr val="tx1">
                    <a:lumMod val="50000"/>
                    <a:lumOff val="50000"/>
                  </a:schemeClr>
                </a:solidFill>
              </a:rPr>
              <a:t>Reversible reactions and </a:t>
            </a:r>
          </a:p>
          <a:p>
            <a:r>
              <a:rPr lang="en-GB" sz="2400" b="1" dirty="0">
                <a:solidFill>
                  <a:schemeClr val="tx1">
                    <a:lumMod val="50000"/>
                    <a:lumOff val="50000"/>
                  </a:schemeClr>
                </a:solidFill>
              </a:rPr>
              <a:t>dynamic equilibrium (Part 2)</a:t>
            </a:r>
          </a:p>
          <a:p>
            <a:r>
              <a:rPr lang="en-GB" sz="2400" b="1" dirty="0">
                <a:solidFill>
                  <a:schemeClr val="tx1">
                    <a:lumMod val="50000"/>
                    <a:lumOff val="50000"/>
                  </a:schemeClr>
                </a:solidFill>
              </a:rPr>
              <a:t>The Effects of changing </a:t>
            </a:r>
          </a:p>
          <a:p>
            <a:r>
              <a:rPr lang="en-GB" sz="2400" b="1" dirty="0">
                <a:solidFill>
                  <a:schemeClr val="tx1">
                    <a:lumMod val="50000"/>
                    <a:lumOff val="50000"/>
                  </a:schemeClr>
                </a:solidFill>
              </a:rPr>
              <a:t>Conditions on equilibrium</a:t>
            </a:r>
          </a:p>
          <a:p>
            <a:r>
              <a:rPr lang="en-GB" sz="2400" b="1" dirty="0">
                <a:solidFill>
                  <a:schemeClr val="tx1">
                    <a:lumMod val="50000"/>
                    <a:lumOff val="50000"/>
                  </a:schemeClr>
                </a:solidFill>
              </a:rPr>
              <a:t>(HT Only)</a:t>
            </a:r>
          </a:p>
          <a:p>
            <a:endParaRPr lang="en-GB" sz="2400" b="1" dirty="0">
              <a:solidFill>
                <a:schemeClr val="tx1">
                  <a:lumMod val="50000"/>
                  <a:lumOff val="50000"/>
                </a:schemeClr>
              </a:solidFill>
            </a:endParaRPr>
          </a:p>
          <a:p>
            <a:pPr marL="342900" indent="-342900">
              <a:buFont typeface="Arial" panose="020B0604020202020204" pitchFamily="34" charset="0"/>
              <a:buChar char="•"/>
            </a:pPr>
            <a:r>
              <a:rPr lang="en-GB" sz="2400" b="1" dirty="0">
                <a:solidFill>
                  <a:schemeClr val="tx1">
                    <a:lumMod val="50000"/>
                    <a:lumOff val="50000"/>
                  </a:schemeClr>
                </a:solidFill>
              </a:rPr>
              <a:t>Concentration</a:t>
            </a:r>
          </a:p>
          <a:p>
            <a:pPr marL="342900" indent="-342900">
              <a:buFont typeface="Arial" panose="020B0604020202020204" pitchFamily="34" charset="0"/>
              <a:buChar char="•"/>
            </a:pPr>
            <a:r>
              <a:rPr lang="en-GB" sz="2400" b="1" dirty="0">
                <a:solidFill>
                  <a:schemeClr val="tx1">
                    <a:lumMod val="50000"/>
                    <a:lumOff val="50000"/>
                  </a:schemeClr>
                </a:solidFill>
              </a:rPr>
              <a:t>Temperature</a:t>
            </a:r>
          </a:p>
          <a:p>
            <a:pPr marL="342900" indent="-342900">
              <a:buFont typeface="Arial" panose="020B0604020202020204" pitchFamily="34" charset="0"/>
              <a:buChar char="•"/>
            </a:pPr>
            <a:r>
              <a:rPr lang="en-GB" sz="2400" b="1" dirty="0">
                <a:solidFill>
                  <a:schemeClr val="tx1">
                    <a:lumMod val="50000"/>
                    <a:lumOff val="50000"/>
                  </a:schemeClr>
                </a:solidFill>
              </a:rPr>
              <a:t>Pressure</a:t>
            </a: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5025690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l" defTabSz="342900" rtl="0">
              <a:spcBef>
                <a:spcPct val="20000"/>
              </a:spcBef>
            </a:pPr>
            <a:r>
              <a:rPr lang="en-US" sz="1700" b="1" dirty="0">
                <a:solidFill>
                  <a:schemeClr val="accent6"/>
                </a:solidFill>
              </a:rPr>
              <a:t>The Effect of changing conditions on equilibrium (HT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4401205"/>
          </a:xfrm>
          <a:prstGeom prst="rect">
            <a:avLst/>
          </a:prstGeom>
          <a:noFill/>
        </p:spPr>
        <p:txBody>
          <a:bodyPr wrap="square" rtlCol="0">
            <a:spAutoFit/>
          </a:bodyPr>
          <a:lstStyle/>
          <a:p>
            <a:pPr marL="457200" indent="-457200">
              <a:buAutoNum type="arabicPeriod"/>
            </a:pPr>
            <a:r>
              <a:rPr lang="en-GB" sz="2000" dirty="0" smtClean="0"/>
              <a:t>What </a:t>
            </a:r>
            <a:r>
              <a:rPr lang="en-GB" sz="2000" dirty="0"/>
              <a:t>is Le </a:t>
            </a:r>
            <a:r>
              <a:rPr lang="en-GB" sz="2000" dirty="0" err="1"/>
              <a:t>Chatelier’s</a:t>
            </a:r>
            <a:r>
              <a:rPr lang="en-GB" sz="2000" dirty="0"/>
              <a:t> </a:t>
            </a:r>
            <a:r>
              <a:rPr lang="en-GB" sz="2000" dirty="0" smtClean="0"/>
              <a:t>Principle</a:t>
            </a:r>
            <a:r>
              <a:rPr lang="en-GB" sz="2000" dirty="0" smtClean="0"/>
              <a:t>?</a:t>
            </a:r>
          </a:p>
          <a:p>
            <a:pPr marL="457200" indent="-457200">
              <a:buAutoNum type="arabicPeriod"/>
            </a:pPr>
            <a:endParaRPr lang="en-GB" sz="2000" dirty="0"/>
          </a:p>
          <a:p>
            <a:pPr marL="457200" indent="-457200">
              <a:buFontTx/>
              <a:buAutoNum type="arabicPeriod"/>
            </a:pPr>
            <a:r>
              <a:rPr lang="en-GB" sz="2000" dirty="0"/>
              <a:t>What three factors can be changed in a system at equilibrium</a:t>
            </a:r>
            <a:r>
              <a:rPr lang="en-GB" sz="2000" dirty="0" smtClean="0"/>
              <a:t>?</a:t>
            </a:r>
          </a:p>
          <a:p>
            <a:pPr marL="457200" indent="-457200">
              <a:buFontTx/>
              <a:buAutoNum type="arabicPeriod"/>
            </a:pPr>
            <a:endParaRPr lang="en-GB" sz="2000" dirty="0"/>
          </a:p>
          <a:p>
            <a:pPr marL="457200" indent="-457200">
              <a:buAutoNum type="arabicPeriod"/>
            </a:pPr>
            <a:r>
              <a:rPr lang="en-GB" sz="2000" dirty="0" smtClean="0"/>
              <a:t>If the concentration of a reactant is increased what will happen to the products of the reaction?</a:t>
            </a:r>
          </a:p>
          <a:p>
            <a:pPr marL="457200" indent="-457200">
              <a:buAutoNum type="arabicPeriod"/>
            </a:pPr>
            <a:endParaRPr lang="en-GB" sz="2000" dirty="0" smtClean="0"/>
          </a:p>
          <a:p>
            <a:pPr marL="457200" indent="-457200">
              <a:buAutoNum type="arabicPeriod"/>
            </a:pPr>
            <a:r>
              <a:rPr lang="en-GB" sz="2000" dirty="0"/>
              <a:t>W</a:t>
            </a:r>
            <a:r>
              <a:rPr lang="en-GB" sz="2000" dirty="0" smtClean="0"/>
              <a:t>hat will happen to the amount of product in an endothermic reaction at equilibrium if the temperature is increased?</a:t>
            </a:r>
          </a:p>
          <a:p>
            <a:pPr marL="457200" indent="-457200">
              <a:buAutoNum type="arabicPeriod"/>
            </a:pPr>
            <a:endParaRPr lang="en-GB" sz="2000" dirty="0" smtClean="0"/>
          </a:p>
          <a:p>
            <a:pPr marL="457200" indent="-457200">
              <a:buAutoNum type="arabicPeriod"/>
            </a:pPr>
            <a:r>
              <a:rPr lang="en-GB" sz="2000" dirty="0"/>
              <a:t>What will happen to the amount of product in an </a:t>
            </a:r>
            <a:r>
              <a:rPr lang="en-GB" sz="2000" dirty="0" smtClean="0"/>
              <a:t>exothermic </a:t>
            </a:r>
            <a:r>
              <a:rPr lang="en-GB" sz="2000" dirty="0"/>
              <a:t>reaction at equilibrium if the temperature is increased</a:t>
            </a:r>
            <a:r>
              <a:rPr lang="en-GB" sz="2000" dirty="0" smtClean="0"/>
              <a:t>?</a:t>
            </a:r>
          </a:p>
          <a:p>
            <a:pPr marL="457200" indent="-457200">
              <a:buAutoNum type="arabicPeriod"/>
            </a:pPr>
            <a:endParaRPr lang="en-GB" sz="2000" dirty="0" smtClean="0"/>
          </a:p>
          <a:p>
            <a:pPr marL="457200" indent="-457200">
              <a:buAutoNum type="arabicPeriod"/>
            </a:pPr>
            <a:endParaRPr lang="en-GB" sz="2000" dirty="0" smtClean="0"/>
          </a:p>
        </p:txBody>
      </p:sp>
    </p:spTree>
    <p:extLst>
      <p:ext uri="{BB962C8B-B14F-4D97-AF65-F5344CB8AC3E}">
        <p14:creationId xmlns:p14="http://schemas.microsoft.com/office/powerpoint/2010/main" val="24428895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l" defTabSz="342900" rtl="0">
              <a:spcBef>
                <a:spcPct val="20000"/>
              </a:spcBef>
            </a:pPr>
            <a:r>
              <a:rPr lang="en-US" sz="1700" b="1" dirty="0">
                <a:solidFill>
                  <a:schemeClr val="accent6"/>
                </a:solidFill>
              </a:rPr>
              <a:t>The Effect of changing conditions on equilibrium (HT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4093428"/>
          </a:xfrm>
          <a:prstGeom prst="rect">
            <a:avLst/>
          </a:prstGeom>
          <a:noFill/>
        </p:spPr>
        <p:txBody>
          <a:bodyPr wrap="square" rtlCol="0">
            <a:spAutoFit/>
          </a:bodyPr>
          <a:lstStyle/>
          <a:p>
            <a:pPr marL="457200" indent="-457200">
              <a:buFont typeface="+mj-lt"/>
              <a:buAutoNum type="arabicPeriod" startAt="6"/>
            </a:pPr>
            <a:r>
              <a:rPr lang="en-GB" sz="2000" dirty="0" smtClean="0"/>
              <a:t>What will happen to the amount of product in an endothermic reaction at equilibrium if the temperature is decreased?</a:t>
            </a:r>
          </a:p>
          <a:p>
            <a:pPr marL="457200" indent="-457200">
              <a:buAutoNum type="arabicPeriod" startAt="6"/>
            </a:pPr>
            <a:endParaRPr lang="en-GB" sz="2000" dirty="0" smtClean="0"/>
          </a:p>
          <a:p>
            <a:pPr marL="457200" indent="-457200">
              <a:buAutoNum type="arabicPeriod" startAt="6"/>
            </a:pPr>
            <a:r>
              <a:rPr lang="en-GB" sz="2000" dirty="0" smtClean="0"/>
              <a:t>What is meant by the term ‘gaseous reaction’?</a:t>
            </a:r>
          </a:p>
          <a:p>
            <a:pPr marL="457200" indent="-457200">
              <a:buAutoNum type="arabicPeriod" startAt="6"/>
            </a:pPr>
            <a:endParaRPr lang="en-GB" sz="2000" dirty="0" smtClean="0"/>
          </a:p>
          <a:p>
            <a:pPr marL="457200" indent="-457200">
              <a:buAutoNum type="arabicPeriod" startAt="6"/>
            </a:pPr>
            <a:r>
              <a:rPr lang="en-GB" sz="2000" dirty="0" smtClean="0"/>
              <a:t>What would happen to the position of equilibrium in a gaseous reaction if the pressure is increased?</a:t>
            </a:r>
          </a:p>
          <a:p>
            <a:pPr marL="457200" indent="-457200">
              <a:buAutoNum type="arabicPeriod" startAt="6"/>
            </a:pPr>
            <a:endParaRPr lang="en-GB" sz="2000" dirty="0"/>
          </a:p>
          <a:p>
            <a:pPr marL="457200" indent="-457200">
              <a:buFont typeface="+mj-lt"/>
              <a:buAutoNum type="arabicPeriod" startAt="6"/>
            </a:pPr>
            <a:r>
              <a:rPr lang="en-GB" sz="2000" dirty="0" smtClean="0"/>
              <a:t>Using </a:t>
            </a:r>
            <a:r>
              <a:rPr lang="en-GB" sz="2000" dirty="0"/>
              <a:t>Le </a:t>
            </a:r>
            <a:r>
              <a:rPr lang="en-GB" sz="2000" dirty="0" err="1"/>
              <a:t>Chatelier’s</a:t>
            </a:r>
            <a:r>
              <a:rPr lang="en-GB" sz="2000" dirty="0"/>
              <a:t> </a:t>
            </a:r>
            <a:r>
              <a:rPr lang="en-GB" sz="2000" dirty="0" smtClean="0"/>
              <a:t>principle, </a:t>
            </a:r>
            <a:r>
              <a:rPr lang="en-GB" sz="2000" dirty="0"/>
              <a:t>explain what will happen in the following </a:t>
            </a:r>
            <a:r>
              <a:rPr lang="en-GB" sz="2000" dirty="0" smtClean="0"/>
              <a:t>reaction </a:t>
            </a:r>
            <a:r>
              <a:rPr lang="en-GB" sz="2000" dirty="0"/>
              <a:t>if we increase the concentration of the hydrogen and iodine?</a:t>
            </a:r>
          </a:p>
          <a:p>
            <a:pPr algn="ctr"/>
            <a:r>
              <a:rPr lang="en-GB" sz="2000" dirty="0"/>
              <a:t>        I</a:t>
            </a:r>
            <a:r>
              <a:rPr lang="en-GB" sz="2000" baseline="-25000" dirty="0"/>
              <a:t>2</a:t>
            </a:r>
            <a:r>
              <a:rPr lang="en-GB" sz="2000" dirty="0"/>
              <a:t> (g)  +  H</a:t>
            </a:r>
            <a:r>
              <a:rPr lang="en-GB" sz="2000" baseline="-25000" dirty="0"/>
              <a:t>2</a:t>
            </a:r>
            <a:r>
              <a:rPr lang="en-GB" sz="2000" dirty="0"/>
              <a:t>  (g)         </a:t>
            </a:r>
            <a:r>
              <a:rPr lang="en-GB" sz="2000" dirty="0">
                <a:sym typeface="Wingdings" panose="05000000000000000000" pitchFamily="2" charset="2"/>
              </a:rPr>
              <a:t>  2HI (g)</a:t>
            </a:r>
          </a:p>
          <a:p>
            <a:r>
              <a:rPr lang="en-GB" sz="2000" dirty="0">
                <a:sym typeface="Wingdings" panose="05000000000000000000" pitchFamily="2" charset="2"/>
              </a:rPr>
              <a:t>        </a:t>
            </a:r>
          </a:p>
          <a:p>
            <a:r>
              <a:rPr lang="en-GB" sz="2000" dirty="0">
                <a:sym typeface="Wingdings" panose="05000000000000000000" pitchFamily="2" charset="2"/>
              </a:rPr>
              <a:t>       </a:t>
            </a:r>
            <a:r>
              <a:rPr lang="en-GB" sz="2000" b="1" dirty="0"/>
              <a:t>       </a:t>
            </a:r>
            <a:endParaRPr lang="en-GB" sz="2400" dirty="0"/>
          </a:p>
        </p:txBody>
      </p:sp>
      <p:pic>
        <p:nvPicPr>
          <p:cNvPr id="5" name="Picture 4"/>
          <p:cNvPicPr/>
          <p:nvPr/>
        </p:nvPicPr>
        <p:blipFill>
          <a:blip r:embed="rId2"/>
          <a:stretch>
            <a:fillRect/>
          </a:stretch>
        </p:blipFill>
        <p:spPr>
          <a:xfrm>
            <a:off x="5057800" y="3761187"/>
            <a:ext cx="360040" cy="432049"/>
          </a:xfrm>
          <a:prstGeom prst="rect">
            <a:avLst/>
          </a:prstGeom>
        </p:spPr>
      </p:pic>
    </p:spTree>
    <p:extLst>
      <p:ext uri="{BB962C8B-B14F-4D97-AF65-F5344CB8AC3E}">
        <p14:creationId xmlns:p14="http://schemas.microsoft.com/office/powerpoint/2010/main" val="19780028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Fuel Cells (Chemistry only)</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61632"/>
            <a:ext cx="8915400" cy="2554545"/>
          </a:xfrm>
          <a:prstGeom prst="rect">
            <a:avLst/>
          </a:prstGeom>
          <a:noFill/>
        </p:spPr>
        <p:txBody>
          <a:bodyPr wrap="square" rtlCol="0">
            <a:spAutoFit/>
          </a:bodyPr>
          <a:lstStyle/>
          <a:p>
            <a:pPr marL="457200" indent="-457200">
              <a:buFont typeface="+mj-lt"/>
              <a:buAutoNum type="arabicPeriod" startAt="10"/>
            </a:pPr>
            <a:r>
              <a:rPr lang="en-GB" sz="2000" dirty="0" smtClean="0"/>
              <a:t>What </a:t>
            </a:r>
            <a:r>
              <a:rPr lang="en-GB" sz="2000" dirty="0"/>
              <a:t>will happen if we increase the temperature of the reaction below? </a:t>
            </a:r>
            <a:r>
              <a:rPr lang="en-GB" sz="2000" dirty="0" smtClean="0"/>
              <a:t>Explain why you think this.</a:t>
            </a:r>
          </a:p>
          <a:p>
            <a:pPr algn="ctr"/>
            <a:r>
              <a:rPr lang="en-GB" sz="2000" dirty="0" smtClean="0">
                <a:sym typeface="Wingdings" panose="05000000000000000000" pitchFamily="2" charset="2"/>
              </a:rPr>
              <a:t>N</a:t>
            </a:r>
            <a:r>
              <a:rPr lang="en-GB" sz="2000" baseline="-25000" dirty="0" smtClean="0">
                <a:sym typeface="Wingdings" panose="05000000000000000000" pitchFamily="2" charset="2"/>
              </a:rPr>
              <a:t>2</a:t>
            </a:r>
            <a:r>
              <a:rPr lang="en-GB" sz="2000" dirty="0" smtClean="0">
                <a:sym typeface="Wingdings" panose="05000000000000000000" pitchFamily="2" charset="2"/>
              </a:rPr>
              <a:t> </a:t>
            </a:r>
            <a:r>
              <a:rPr lang="en-GB" sz="2000" dirty="0">
                <a:sym typeface="Wingdings" panose="05000000000000000000" pitchFamily="2" charset="2"/>
              </a:rPr>
              <a:t>(g)  +  3H</a:t>
            </a:r>
            <a:r>
              <a:rPr lang="en-GB" sz="2000" baseline="-25000" dirty="0">
                <a:sym typeface="Wingdings" panose="05000000000000000000" pitchFamily="2" charset="2"/>
              </a:rPr>
              <a:t>2</a:t>
            </a:r>
            <a:r>
              <a:rPr lang="en-GB" sz="2000" dirty="0">
                <a:sym typeface="Wingdings" panose="05000000000000000000" pitchFamily="2" charset="2"/>
              </a:rPr>
              <a:t> (g)               2NH</a:t>
            </a:r>
            <a:r>
              <a:rPr lang="en-GB" sz="2000" baseline="-25000" dirty="0">
                <a:sym typeface="Wingdings" panose="05000000000000000000" pitchFamily="2" charset="2"/>
              </a:rPr>
              <a:t>3</a:t>
            </a:r>
            <a:r>
              <a:rPr lang="en-GB" sz="2000" dirty="0">
                <a:sym typeface="Wingdings" panose="05000000000000000000" pitchFamily="2" charset="2"/>
              </a:rPr>
              <a:t> (g</a:t>
            </a:r>
            <a:r>
              <a:rPr lang="en-GB" sz="2000" dirty="0" smtClean="0">
                <a:sym typeface="Wingdings" panose="05000000000000000000" pitchFamily="2" charset="2"/>
              </a:rPr>
              <a:t>)</a:t>
            </a:r>
          </a:p>
          <a:p>
            <a:pPr algn="ctr"/>
            <a:endParaRPr lang="en-GB" sz="2000" dirty="0">
              <a:sym typeface="Wingdings" panose="05000000000000000000" pitchFamily="2" charset="2"/>
            </a:endParaRPr>
          </a:p>
          <a:p>
            <a:pPr algn="ctr"/>
            <a:endParaRPr lang="en-GB" sz="2000" dirty="0" smtClean="0">
              <a:sym typeface="Wingdings" panose="05000000000000000000" pitchFamily="2" charset="2"/>
            </a:endParaRPr>
          </a:p>
          <a:p>
            <a:pPr algn="ctr"/>
            <a:endParaRPr lang="en-GB" sz="2000" dirty="0">
              <a:sym typeface="Wingdings" panose="05000000000000000000" pitchFamily="2" charset="2"/>
            </a:endParaRPr>
          </a:p>
          <a:p>
            <a:pPr marL="457200" indent="-457200">
              <a:buFont typeface="+mj-lt"/>
              <a:buAutoNum type="arabicPeriod" startAt="11"/>
            </a:pPr>
            <a:r>
              <a:rPr lang="en-GB" sz="2000" dirty="0" smtClean="0"/>
              <a:t>Explain </a:t>
            </a:r>
            <a:r>
              <a:rPr lang="en-GB" sz="2000" dirty="0"/>
              <a:t>what will happen if we decrease the pressure in the reaction </a:t>
            </a:r>
            <a:r>
              <a:rPr lang="en-GB" sz="2000" dirty="0" smtClean="0"/>
              <a:t>above.</a:t>
            </a:r>
            <a:endParaRPr lang="en-GB" sz="2000" dirty="0"/>
          </a:p>
          <a:p>
            <a:r>
              <a:rPr lang="en-GB" sz="2000" dirty="0">
                <a:solidFill>
                  <a:srgbClr val="00B050"/>
                </a:solidFill>
              </a:rPr>
              <a:t>        </a:t>
            </a:r>
            <a:endParaRPr lang="en-GB" sz="2000" dirty="0"/>
          </a:p>
        </p:txBody>
      </p:sp>
      <p:pic>
        <p:nvPicPr>
          <p:cNvPr id="5" name="Picture 4"/>
          <p:cNvPicPr/>
          <p:nvPr/>
        </p:nvPicPr>
        <p:blipFill>
          <a:blip r:embed="rId2"/>
          <a:stretch>
            <a:fillRect/>
          </a:stretch>
        </p:blipFill>
        <p:spPr>
          <a:xfrm>
            <a:off x="4590019" y="1412776"/>
            <a:ext cx="648072" cy="360040"/>
          </a:xfrm>
          <a:prstGeom prst="rect">
            <a:avLst/>
          </a:prstGeom>
        </p:spPr>
      </p:pic>
    </p:spTree>
    <p:extLst>
      <p:ext uri="{BB962C8B-B14F-4D97-AF65-F5344CB8AC3E}">
        <p14:creationId xmlns:p14="http://schemas.microsoft.com/office/powerpoint/2010/main" val="3422807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63231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2400" b="1" dirty="0">
                <a:solidFill>
                  <a:schemeClr val="tx1">
                    <a:lumMod val="50000"/>
                    <a:lumOff val="50000"/>
                  </a:schemeClr>
                </a:solidFill>
              </a:rPr>
              <a:t>Reversible reactions and </a:t>
            </a:r>
          </a:p>
          <a:p>
            <a:r>
              <a:rPr lang="en-GB" sz="2400" b="1" dirty="0">
                <a:solidFill>
                  <a:schemeClr val="tx1">
                    <a:lumMod val="50000"/>
                    <a:lumOff val="50000"/>
                  </a:schemeClr>
                </a:solidFill>
              </a:rPr>
              <a:t>dynamic equilibrium (Part 2)</a:t>
            </a:r>
          </a:p>
          <a:p>
            <a:r>
              <a:rPr lang="en-GB" sz="2400" b="1" dirty="0">
                <a:solidFill>
                  <a:schemeClr val="tx1">
                    <a:lumMod val="50000"/>
                    <a:lumOff val="50000"/>
                  </a:schemeClr>
                </a:solidFill>
              </a:rPr>
              <a:t>The Effects of changing </a:t>
            </a:r>
          </a:p>
          <a:p>
            <a:r>
              <a:rPr lang="en-GB" sz="2400" b="1" dirty="0">
                <a:solidFill>
                  <a:schemeClr val="tx1">
                    <a:lumMod val="50000"/>
                    <a:lumOff val="50000"/>
                  </a:schemeClr>
                </a:solidFill>
              </a:rPr>
              <a:t>Conditions on equilibrium</a:t>
            </a:r>
          </a:p>
          <a:p>
            <a:r>
              <a:rPr lang="en-GB" sz="2400" b="1" dirty="0">
                <a:solidFill>
                  <a:schemeClr val="tx1">
                    <a:lumMod val="50000"/>
                    <a:lumOff val="50000"/>
                  </a:schemeClr>
                </a:solidFill>
              </a:rPr>
              <a:t>(HT Only)</a:t>
            </a:r>
          </a:p>
          <a:p>
            <a:endParaRPr lang="en-GB" sz="2400" b="1" dirty="0">
              <a:solidFill>
                <a:schemeClr val="tx1">
                  <a:lumMod val="50000"/>
                  <a:lumOff val="50000"/>
                </a:schemeClr>
              </a:solidFill>
            </a:endParaRPr>
          </a:p>
          <a:p>
            <a:pPr marL="342900" indent="-342900">
              <a:buFont typeface="Arial" panose="020B0604020202020204" pitchFamily="34" charset="0"/>
              <a:buChar char="•"/>
            </a:pPr>
            <a:r>
              <a:rPr lang="en-GB" sz="2400" b="1" dirty="0">
                <a:solidFill>
                  <a:schemeClr val="tx1">
                    <a:lumMod val="50000"/>
                    <a:lumOff val="50000"/>
                  </a:schemeClr>
                </a:solidFill>
              </a:rPr>
              <a:t>Concentration</a:t>
            </a:r>
          </a:p>
          <a:p>
            <a:pPr marL="342900" indent="-342900">
              <a:buFont typeface="Arial" panose="020B0604020202020204" pitchFamily="34" charset="0"/>
              <a:buChar char="•"/>
            </a:pPr>
            <a:r>
              <a:rPr lang="en-GB" sz="2400" b="1" dirty="0">
                <a:solidFill>
                  <a:schemeClr val="tx1">
                    <a:lumMod val="50000"/>
                    <a:lumOff val="50000"/>
                  </a:schemeClr>
                </a:solidFill>
              </a:rPr>
              <a:t>Temperature</a:t>
            </a:r>
          </a:p>
          <a:p>
            <a:pPr marL="342900" indent="-342900">
              <a:buFont typeface="Arial" panose="020B0604020202020204" pitchFamily="34" charset="0"/>
              <a:buChar char="•"/>
            </a:pPr>
            <a:r>
              <a:rPr lang="en-GB" sz="2400" b="1" dirty="0">
                <a:solidFill>
                  <a:schemeClr val="tx1">
                    <a:lumMod val="50000"/>
                    <a:lumOff val="50000"/>
                  </a:schemeClr>
                </a:solidFill>
              </a:rPr>
              <a:t>Pressure</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3686897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l" defTabSz="342900" rtl="0">
              <a:spcBef>
                <a:spcPct val="20000"/>
              </a:spcBef>
            </a:pPr>
            <a:r>
              <a:rPr lang="en-US" sz="1700" b="1" dirty="0">
                <a:solidFill>
                  <a:schemeClr val="accent6"/>
                </a:solidFill>
              </a:rPr>
              <a:t>The Effect of changing conditions on equilibrium (HT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4708981"/>
          </a:xfrm>
          <a:prstGeom prst="rect">
            <a:avLst/>
          </a:prstGeom>
          <a:noFill/>
        </p:spPr>
        <p:txBody>
          <a:bodyPr wrap="square" rtlCol="0">
            <a:spAutoFit/>
          </a:bodyPr>
          <a:lstStyle/>
          <a:p>
            <a:pPr marL="457200" indent="-457200">
              <a:buAutoNum type="arabicPeriod"/>
            </a:pPr>
            <a:r>
              <a:rPr lang="en-GB" sz="2000" dirty="0" smtClean="0"/>
              <a:t>What </a:t>
            </a:r>
            <a:r>
              <a:rPr lang="en-GB" sz="2000" dirty="0"/>
              <a:t>is Le </a:t>
            </a:r>
            <a:r>
              <a:rPr lang="en-GB" sz="2000" dirty="0" err="1"/>
              <a:t>Chatelier’s</a:t>
            </a:r>
            <a:r>
              <a:rPr lang="en-GB" sz="2000" dirty="0"/>
              <a:t> </a:t>
            </a:r>
            <a:r>
              <a:rPr lang="en-GB" sz="2000" dirty="0" smtClean="0"/>
              <a:t>Principle</a:t>
            </a:r>
            <a:r>
              <a:rPr lang="en-GB" sz="2000" dirty="0" smtClean="0"/>
              <a:t>?</a:t>
            </a:r>
          </a:p>
          <a:p>
            <a:r>
              <a:rPr lang="en-GB" sz="2000" dirty="0" smtClean="0">
                <a:solidFill>
                  <a:srgbClr val="00B050"/>
                </a:solidFill>
              </a:rPr>
              <a:t>	If </a:t>
            </a:r>
            <a:r>
              <a:rPr lang="en-GB" sz="2000" dirty="0">
                <a:solidFill>
                  <a:srgbClr val="00B050"/>
                </a:solidFill>
              </a:rPr>
              <a:t>a system is at equilibrium and a change is made to any of the conditions, </a:t>
            </a:r>
          </a:p>
          <a:p>
            <a:r>
              <a:rPr lang="en-GB" sz="2000" dirty="0">
                <a:solidFill>
                  <a:srgbClr val="00B050"/>
                </a:solidFill>
              </a:rPr>
              <a:t>        </a:t>
            </a:r>
            <a:r>
              <a:rPr lang="en-GB" sz="2000" dirty="0" smtClean="0">
                <a:solidFill>
                  <a:srgbClr val="00B050"/>
                </a:solidFill>
              </a:rPr>
              <a:t>	then </a:t>
            </a:r>
            <a:r>
              <a:rPr lang="en-GB" sz="2000" dirty="0">
                <a:solidFill>
                  <a:srgbClr val="00B050"/>
                </a:solidFill>
              </a:rPr>
              <a:t>the system responds to counteract the change</a:t>
            </a:r>
            <a:r>
              <a:rPr lang="en-GB" sz="2000" dirty="0" smtClean="0">
                <a:solidFill>
                  <a:srgbClr val="00B050"/>
                </a:solidFill>
              </a:rPr>
              <a:t>.</a:t>
            </a:r>
            <a:endParaRPr lang="en-GB" sz="2000" dirty="0"/>
          </a:p>
          <a:p>
            <a:pPr marL="457200" indent="-457200">
              <a:buFont typeface="+mj-lt"/>
              <a:buAutoNum type="arabicPeriod" startAt="2"/>
            </a:pPr>
            <a:r>
              <a:rPr lang="en-GB" sz="2000" dirty="0"/>
              <a:t>What three factors can be changed in a system at equilibrium</a:t>
            </a:r>
            <a:r>
              <a:rPr lang="en-GB" sz="2000" dirty="0" smtClean="0"/>
              <a:t>?</a:t>
            </a:r>
          </a:p>
          <a:p>
            <a:r>
              <a:rPr lang="en-GB" sz="2000" dirty="0" smtClean="0"/>
              <a:t>	</a:t>
            </a:r>
            <a:r>
              <a:rPr lang="en-GB" sz="2000" dirty="0">
                <a:solidFill>
                  <a:srgbClr val="00B050"/>
                </a:solidFill>
              </a:rPr>
              <a:t>Concentration, temperature and pressure</a:t>
            </a:r>
            <a:r>
              <a:rPr lang="en-GB" sz="2000" dirty="0" smtClean="0">
                <a:solidFill>
                  <a:srgbClr val="00B050"/>
                </a:solidFill>
              </a:rPr>
              <a:t>.</a:t>
            </a:r>
            <a:endParaRPr lang="en-GB" sz="2000" dirty="0"/>
          </a:p>
          <a:p>
            <a:pPr marL="457200" indent="-457200">
              <a:buFont typeface="+mj-lt"/>
              <a:buAutoNum type="arabicPeriod" startAt="3"/>
            </a:pPr>
            <a:r>
              <a:rPr lang="en-GB" sz="2000" dirty="0" smtClean="0"/>
              <a:t>If the concentration of a reactant is increased what will happen to the products of the reaction?</a:t>
            </a:r>
          </a:p>
          <a:p>
            <a:r>
              <a:rPr lang="en-GB" sz="2000" dirty="0" smtClean="0"/>
              <a:t>	</a:t>
            </a:r>
            <a:r>
              <a:rPr lang="en-GB" sz="2000" dirty="0">
                <a:solidFill>
                  <a:srgbClr val="00B050"/>
                </a:solidFill>
              </a:rPr>
              <a:t> </a:t>
            </a:r>
            <a:r>
              <a:rPr lang="en-GB" sz="2000" dirty="0" smtClean="0">
                <a:solidFill>
                  <a:srgbClr val="00B050"/>
                </a:solidFill>
              </a:rPr>
              <a:t>More products will be produced; until equilibrium is reached.</a:t>
            </a:r>
            <a:endParaRPr lang="en-GB" sz="2000" dirty="0" smtClean="0"/>
          </a:p>
          <a:p>
            <a:pPr marL="457200" indent="-457200">
              <a:buFont typeface="+mj-lt"/>
              <a:buAutoNum type="arabicPeriod" startAt="4"/>
            </a:pPr>
            <a:r>
              <a:rPr lang="en-GB" sz="2000" dirty="0"/>
              <a:t>W</a:t>
            </a:r>
            <a:r>
              <a:rPr lang="en-GB" sz="2000" dirty="0" smtClean="0"/>
              <a:t>hat will happen to the amount of product in an endothermic reaction at equilibrium if the temperature is increased?</a:t>
            </a:r>
          </a:p>
          <a:p>
            <a:r>
              <a:rPr lang="en-GB" sz="2000" dirty="0" smtClean="0"/>
              <a:t>	</a:t>
            </a:r>
            <a:r>
              <a:rPr lang="en-GB" sz="2000" dirty="0">
                <a:solidFill>
                  <a:srgbClr val="00B050"/>
                </a:solidFill>
              </a:rPr>
              <a:t> </a:t>
            </a:r>
            <a:r>
              <a:rPr lang="en-GB" sz="2000" dirty="0" smtClean="0">
                <a:solidFill>
                  <a:srgbClr val="00B050"/>
                </a:solidFill>
              </a:rPr>
              <a:t>More products will be produced.</a:t>
            </a:r>
            <a:endParaRPr lang="en-GB" sz="2000" dirty="0" smtClean="0"/>
          </a:p>
          <a:p>
            <a:pPr marL="457200" indent="-457200">
              <a:buFont typeface="+mj-lt"/>
              <a:buAutoNum type="arabicPeriod" startAt="5"/>
            </a:pPr>
            <a:r>
              <a:rPr lang="en-GB" sz="2000" dirty="0"/>
              <a:t>What will happen to the amount of product in an </a:t>
            </a:r>
            <a:r>
              <a:rPr lang="en-GB" sz="2000" dirty="0" smtClean="0"/>
              <a:t>exothermic </a:t>
            </a:r>
            <a:r>
              <a:rPr lang="en-GB" sz="2000" dirty="0"/>
              <a:t>reaction at equilibrium if the temperature is increased</a:t>
            </a:r>
            <a:r>
              <a:rPr lang="en-GB" sz="2000" dirty="0" smtClean="0"/>
              <a:t>?</a:t>
            </a:r>
          </a:p>
          <a:p>
            <a:r>
              <a:rPr lang="en-GB" sz="2000" dirty="0" smtClean="0"/>
              <a:t>	</a:t>
            </a:r>
            <a:r>
              <a:rPr lang="en-GB" sz="2000" dirty="0">
                <a:solidFill>
                  <a:srgbClr val="00B050"/>
                </a:solidFill>
              </a:rPr>
              <a:t> </a:t>
            </a:r>
            <a:r>
              <a:rPr lang="en-GB" sz="2000" dirty="0" smtClean="0">
                <a:solidFill>
                  <a:srgbClr val="00B050"/>
                </a:solidFill>
              </a:rPr>
              <a:t>Relative amount of products will decrease.</a:t>
            </a:r>
            <a:endParaRPr lang="en-GB" sz="2000" dirty="0" smtClean="0"/>
          </a:p>
          <a:p>
            <a:pPr marL="457200" indent="-457200">
              <a:buAutoNum type="arabicPeriod" startAt="5"/>
            </a:pPr>
            <a:endParaRPr lang="en-GB" sz="2000" dirty="0" smtClean="0"/>
          </a:p>
        </p:txBody>
      </p:sp>
    </p:spTree>
    <p:extLst>
      <p:ext uri="{BB962C8B-B14F-4D97-AF65-F5344CB8AC3E}">
        <p14:creationId xmlns:p14="http://schemas.microsoft.com/office/powerpoint/2010/main" val="17558821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l" defTabSz="342900" rtl="0">
              <a:spcBef>
                <a:spcPct val="20000"/>
              </a:spcBef>
            </a:pPr>
            <a:r>
              <a:rPr lang="en-US" sz="1700" b="1" dirty="0">
                <a:solidFill>
                  <a:schemeClr val="accent6"/>
                </a:solidFill>
              </a:rPr>
              <a:t>The Effect of changing conditions on equilibrium (HT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4401205"/>
          </a:xfrm>
          <a:prstGeom prst="rect">
            <a:avLst/>
          </a:prstGeom>
          <a:noFill/>
        </p:spPr>
        <p:txBody>
          <a:bodyPr wrap="square" rtlCol="0">
            <a:spAutoFit/>
          </a:bodyPr>
          <a:lstStyle/>
          <a:p>
            <a:pPr marL="457200" indent="-457200">
              <a:buFont typeface="+mj-lt"/>
              <a:buAutoNum type="arabicPeriod" startAt="6"/>
            </a:pPr>
            <a:r>
              <a:rPr lang="en-GB" sz="2000" dirty="0" smtClean="0"/>
              <a:t>What will happen to the amount of product in an endothermic reaction at equilibrium if the temperature is decreased?</a:t>
            </a:r>
          </a:p>
          <a:p>
            <a:r>
              <a:rPr lang="en-GB" sz="2000" dirty="0" smtClean="0"/>
              <a:t>	</a:t>
            </a:r>
            <a:r>
              <a:rPr lang="en-GB" sz="2000" dirty="0">
                <a:solidFill>
                  <a:srgbClr val="00B050"/>
                </a:solidFill>
              </a:rPr>
              <a:t> </a:t>
            </a:r>
            <a:r>
              <a:rPr lang="en-GB" sz="2000" dirty="0" smtClean="0">
                <a:solidFill>
                  <a:srgbClr val="00B050"/>
                </a:solidFill>
              </a:rPr>
              <a:t>Relative amount of products will decrease.</a:t>
            </a:r>
            <a:endParaRPr lang="en-GB" sz="2000" dirty="0" smtClean="0"/>
          </a:p>
          <a:p>
            <a:pPr marL="457200" indent="-457200">
              <a:buFont typeface="+mj-lt"/>
              <a:buAutoNum type="arabicPeriod" startAt="7"/>
            </a:pPr>
            <a:r>
              <a:rPr lang="en-GB" sz="2000" dirty="0" smtClean="0"/>
              <a:t>What is meant by the term ‘gaseous reaction’?</a:t>
            </a:r>
          </a:p>
          <a:p>
            <a:r>
              <a:rPr lang="en-GB" sz="2000" dirty="0" smtClean="0"/>
              <a:t>	</a:t>
            </a:r>
            <a:r>
              <a:rPr lang="en-GB" sz="2000" dirty="0">
                <a:solidFill>
                  <a:srgbClr val="00B050"/>
                </a:solidFill>
              </a:rPr>
              <a:t> </a:t>
            </a:r>
            <a:r>
              <a:rPr lang="en-GB" sz="2000" dirty="0" smtClean="0">
                <a:solidFill>
                  <a:srgbClr val="00B050"/>
                </a:solidFill>
              </a:rPr>
              <a:t>Reaction where all the reactants and products are gases.</a:t>
            </a:r>
            <a:endParaRPr lang="en-GB" sz="2000" dirty="0" smtClean="0"/>
          </a:p>
          <a:p>
            <a:pPr marL="457200" indent="-457200">
              <a:buFont typeface="+mj-lt"/>
              <a:buAutoNum type="arabicPeriod" startAt="8"/>
            </a:pPr>
            <a:r>
              <a:rPr lang="en-GB" sz="2000" dirty="0" smtClean="0"/>
              <a:t>What would happen to the position of equilibrium in a gaseous reaction if the pressure is increased?</a:t>
            </a:r>
          </a:p>
          <a:p>
            <a:r>
              <a:rPr lang="en-GB" sz="2000" dirty="0" smtClean="0"/>
              <a:t>	</a:t>
            </a:r>
            <a:r>
              <a:rPr lang="en-GB" sz="2000" dirty="0" smtClean="0">
                <a:solidFill>
                  <a:srgbClr val="00B050"/>
                </a:solidFill>
              </a:rPr>
              <a:t>Equilibrium would shift towards the side with the smaller number of 	molecules shown in the balanced chemical equation.</a:t>
            </a:r>
            <a:endParaRPr lang="en-GB" sz="2000" dirty="0"/>
          </a:p>
          <a:p>
            <a:pPr marL="457200" indent="-457200">
              <a:buFont typeface="+mj-lt"/>
              <a:buAutoNum type="arabicPeriod" startAt="9"/>
            </a:pPr>
            <a:r>
              <a:rPr lang="en-GB" sz="2000" dirty="0" smtClean="0"/>
              <a:t>Using </a:t>
            </a:r>
            <a:r>
              <a:rPr lang="en-GB" sz="2000" dirty="0"/>
              <a:t>Le </a:t>
            </a:r>
            <a:r>
              <a:rPr lang="en-GB" sz="2000" dirty="0" err="1"/>
              <a:t>Chatelier’s</a:t>
            </a:r>
            <a:r>
              <a:rPr lang="en-GB" sz="2000" dirty="0"/>
              <a:t> </a:t>
            </a:r>
            <a:r>
              <a:rPr lang="en-GB" sz="2000" dirty="0" smtClean="0"/>
              <a:t>principle, </a:t>
            </a:r>
            <a:r>
              <a:rPr lang="en-GB" sz="2000" dirty="0"/>
              <a:t>explain what will happen in the following </a:t>
            </a:r>
            <a:r>
              <a:rPr lang="en-GB" sz="2000" dirty="0" smtClean="0"/>
              <a:t>reaction </a:t>
            </a:r>
            <a:r>
              <a:rPr lang="en-GB" sz="2000" dirty="0"/>
              <a:t>if we increase the concentration of the hydrogen and iodine?</a:t>
            </a:r>
          </a:p>
          <a:p>
            <a:pPr algn="ctr"/>
            <a:r>
              <a:rPr lang="en-GB" sz="2000" dirty="0"/>
              <a:t>        I</a:t>
            </a:r>
            <a:r>
              <a:rPr lang="en-GB" sz="2000" baseline="-25000" dirty="0"/>
              <a:t>2</a:t>
            </a:r>
            <a:r>
              <a:rPr lang="en-GB" sz="2000" dirty="0"/>
              <a:t> (g)  +  H</a:t>
            </a:r>
            <a:r>
              <a:rPr lang="en-GB" sz="2000" baseline="-25000" dirty="0"/>
              <a:t>2</a:t>
            </a:r>
            <a:r>
              <a:rPr lang="en-GB" sz="2000" dirty="0"/>
              <a:t>  (g)         </a:t>
            </a:r>
            <a:r>
              <a:rPr lang="en-GB" sz="2000" dirty="0">
                <a:sym typeface="Wingdings" panose="05000000000000000000" pitchFamily="2" charset="2"/>
              </a:rPr>
              <a:t>  2HI (g)</a:t>
            </a:r>
          </a:p>
          <a:p>
            <a:r>
              <a:rPr lang="en-GB" sz="2000" dirty="0">
                <a:sym typeface="Wingdings" panose="05000000000000000000" pitchFamily="2" charset="2"/>
              </a:rPr>
              <a:t>	</a:t>
            </a:r>
            <a:r>
              <a:rPr lang="en-GB" sz="2000" dirty="0">
                <a:solidFill>
                  <a:srgbClr val="00B050"/>
                </a:solidFill>
                <a:sym typeface="Wingdings" panose="05000000000000000000" pitchFamily="2" charset="2"/>
              </a:rPr>
              <a:t>The extra iodine and hydrogen will react together to make more hydrogen </a:t>
            </a:r>
          </a:p>
          <a:p>
            <a:r>
              <a:rPr lang="en-GB" sz="2000" dirty="0">
                <a:solidFill>
                  <a:srgbClr val="00B050"/>
                </a:solidFill>
                <a:sym typeface="Wingdings" panose="05000000000000000000" pitchFamily="2" charset="2"/>
              </a:rPr>
              <a:t>        </a:t>
            </a:r>
            <a:r>
              <a:rPr lang="en-GB" sz="2000" dirty="0" smtClean="0">
                <a:solidFill>
                  <a:srgbClr val="00B050"/>
                </a:solidFill>
                <a:sym typeface="Wingdings" panose="05000000000000000000" pitchFamily="2" charset="2"/>
              </a:rPr>
              <a:t>	iodide.</a:t>
            </a:r>
            <a:endParaRPr lang="en-GB" sz="2000" dirty="0">
              <a:solidFill>
                <a:srgbClr val="00B050"/>
              </a:solidFill>
              <a:sym typeface="Wingdings" panose="05000000000000000000" pitchFamily="2" charset="2"/>
            </a:endParaRPr>
          </a:p>
        </p:txBody>
      </p:sp>
      <p:pic>
        <p:nvPicPr>
          <p:cNvPr id="5" name="Picture 4"/>
          <p:cNvPicPr/>
          <p:nvPr/>
        </p:nvPicPr>
        <p:blipFill>
          <a:blip r:embed="rId2"/>
          <a:stretch>
            <a:fillRect/>
          </a:stretch>
        </p:blipFill>
        <p:spPr>
          <a:xfrm>
            <a:off x="5057800" y="4005064"/>
            <a:ext cx="360040" cy="432049"/>
          </a:xfrm>
          <a:prstGeom prst="rect">
            <a:avLst/>
          </a:prstGeom>
        </p:spPr>
      </p:pic>
    </p:spTree>
    <p:extLst>
      <p:ext uri="{BB962C8B-B14F-4D97-AF65-F5344CB8AC3E}">
        <p14:creationId xmlns:p14="http://schemas.microsoft.com/office/powerpoint/2010/main" val="3905473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Fuel Cells (Chemistry only)</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61632"/>
            <a:ext cx="8915400" cy="2554545"/>
          </a:xfrm>
          <a:prstGeom prst="rect">
            <a:avLst/>
          </a:prstGeom>
          <a:noFill/>
        </p:spPr>
        <p:txBody>
          <a:bodyPr wrap="square" rtlCol="0">
            <a:spAutoFit/>
          </a:bodyPr>
          <a:lstStyle/>
          <a:p>
            <a:pPr marL="457200" indent="-457200">
              <a:buFont typeface="+mj-lt"/>
              <a:buAutoNum type="arabicPeriod" startAt="10"/>
            </a:pPr>
            <a:r>
              <a:rPr lang="en-GB" sz="2000" dirty="0" smtClean="0"/>
              <a:t>What </a:t>
            </a:r>
            <a:r>
              <a:rPr lang="en-GB" sz="2000" dirty="0"/>
              <a:t>will happen if we increase the temperature of the reaction below? </a:t>
            </a:r>
            <a:r>
              <a:rPr lang="en-GB" sz="2000" dirty="0" smtClean="0"/>
              <a:t>Explain why you think this.</a:t>
            </a:r>
          </a:p>
          <a:p>
            <a:pPr algn="ctr"/>
            <a:r>
              <a:rPr lang="en-GB" sz="2000" dirty="0" smtClean="0">
                <a:sym typeface="Wingdings" panose="05000000000000000000" pitchFamily="2" charset="2"/>
              </a:rPr>
              <a:t>N</a:t>
            </a:r>
            <a:r>
              <a:rPr lang="en-GB" sz="2000" baseline="-25000" dirty="0" smtClean="0">
                <a:sym typeface="Wingdings" panose="05000000000000000000" pitchFamily="2" charset="2"/>
              </a:rPr>
              <a:t>2</a:t>
            </a:r>
            <a:r>
              <a:rPr lang="en-GB" sz="2000" dirty="0" smtClean="0">
                <a:sym typeface="Wingdings" panose="05000000000000000000" pitchFamily="2" charset="2"/>
              </a:rPr>
              <a:t> </a:t>
            </a:r>
            <a:r>
              <a:rPr lang="en-GB" sz="2000" dirty="0">
                <a:sym typeface="Wingdings" panose="05000000000000000000" pitchFamily="2" charset="2"/>
              </a:rPr>
              <a:t>(g)  +  3H</a:t>
            </a:r>
            <a:r>
              <a:rPr lang="en-GB" sz="2000" baseline="-25000" dirty="0">
                <a:sym typeface="Wingdings" panose="05000000000000000000" pitchFamily="2" charset="2"/>
              </a:rPr>
              <a:t>2</a:t>
            </a:r>
            <a:r>
              <a:rPr lang="en-GB" sz="2000" dirty="0">
                <a:sym typeface="Wingdings" panose="05000000000000000000" pitchFamily="2" charset="2"/>
              </a:rPr>
              <a:t> (g)               2NH</a:t>
            </a:r>
            <a:r>
              <a:rPr lang="en-GB" sz="2000" baseline="-25000" dirty="0">
                <a:sym typeface="Wingdings" panose="05000000000000000000" pitchFamily="2" charset="2"/>
              </a:rPr>
              <a:t>3</a:t>
            </a:r>
            <a:r>
              <a:rPr lang="en-GB" sz="2000" dirty="0">
                <a:sym typeface="Wingdings" panose="05000000000000000000" pitchFamily="2" charset="2"/>
              </a:rPr>
              <a:t> (g)</a:t>
            </a:r>
          </a:p>
          <a:p>
            <a:r>
              <a:rPr lang="en-GB" sz="2000" dirty="0"/>
              <a:t>        </a:t>
            </a:r>
            <a:r>
              <a:rPr lang="en-GB" sz="2000" dirty="0">
                <a:solidFill>
                  <a:srgbClr val="00B050"/>
                </a:solidFill>
              </a:rPr>
              <a:t>More hydrogen and nitrogen will be made as the backward reaction is </a:t>
            </a:r>
          </a:p>
          <a:p>
            <a:r>
              <a:rPr lang="en-GB" sz="2000" dirty="0">
                <a:solidFill>
                  <a:srgbClr val="00B050"/>
                </a:solidFill>
              </a:rPr>
              <a:t>        endothermic.</a:t>
            </a:r>
          </a:p>
          <a:p>
            <a:pPr marL="457200" indent="-457200">
              <a:buFont typeface="+mj-lt"/>
              <a:buAutoNum type="arabicPeriod" startAt="11"/>
            </a:pPr>
            <a:r>
              <a:rPr lang="en-GB" sz="2000" dirty="0" smtClean="0"/>
              <a:t>Explain </a:t>
            </a:r>
            <a:r>
              <a:rPr lang="en-GB" sz="2000" dirty="0"/>
              <a:t>what will happen if we decrease the pressure in the reaction </a:t>
            </a:r>
            <a:r>
              <a:rPr lang="en-GB" sz="2000" dirty="0" smtClean="0"/>
              <a:t>above.</a:t>
            </a:r>
            <a:endParaRPr lang="en-GB" sz="2000" dirty="0"/>
          </a:p>
          <a:p>
            <a:r>
              <a:rPr lang="en-GB" sz="2000" dirty="0">
                <a:solidFill>
                  <a:srgbClr val="00B050"/>
                </a:solidFill>
              </a:rPr>
              <a:t>        We will get more nitrogen and hydrogen as there are four moles of gas/higher </a:t>
            </a:r>
          </a:p>
          <a:p>
            <a:r>
              <a:rPr lang="en-GB" sz="2000" dirty="0">
                <a:solidFill>
                  <a:srgbClr val="00B050"/>
                </a:solidFill>
              </a:rPr>
              <a:t>        volume for the reactants</a:t>
            </a:r>
            <a:r>
              <a:rPr lang="en-GB" sz="2000" dirty="0" smtClean="0">
                <a:solidFill>
                  <a:srgbClr val="00B050"/>
                </a:solidFill>
              </a:rPr>
              <a:t>.</a:t>
            </a:r>
            <a:endParaRPr lang="en-GB" sz="2000" dirty="0"/>
          </a:p>
        </p:txBody>
      </p:sp>
      <p:pic>
        <p:nvPicPr>
          <p:cNvPr id="5" name="Picture 4"/>
          <p:cNvPicPr/>
          <p:nvPr/>
        </p:nvPicPr>
        <p:blipFill>
          <a:blip r:embed="rId2"/>
          <a:stretch>
            <a:fillRect/>
          </a:stretch>
        </p:blipFill>
        <p:spPr>
          <a:xfrm>
            <a:off x="4590019" y="1412776"/>
            <a:ext cx="648072" cy="360040"/>
          </a:xfrm>
          <a:prstGeom prst="rect">
            <a:avLst/>
          </a:prstGeom>
        </p:spPr>
      </p:pic>
    </p:spTree>
    <p:extLst>
      <p:ext uri="{BB962C8B-B14F-4D97-AF65-F5344CB8AC3E}">
        <p14:creationId xmlns:p14="http://schemas.microsoft.com/office/powerpoint/2010/main" val="385557699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13487</TotalTime>
  <Words>5901</Words>
  <Application>Microsoft Macintosh PowerPoint</Application>
  <PresentationFormat>On-screen Show (4:3)</PresentationFormat>
  <Paragraphs>609</Paragraphs>
  <Slides>55</Slides>
  <Notes>25</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55</vt:i4>
      </vt:variant>
    </vt:vector>
  </HeadingPairs>
  <TitlesOfParts>
    <vt:vector size="68" baseType="lpstr">
      <vt:lpstr>Beirut</vt:lpstr>
      <vt:lpstr>Calibri</vt:lpstr>
      <vt:lpstr>Calibri Light</vt:lpstr>
      <vt:lpstr>Gill Sans</vt:lpstr>
      <vt:lpstr>Lato Medium</vt:lpstr>
      <vt:lpstr>Mangal</vt:lpstr>
      <vt:lpstr>News Gothic MT</vt:lpstr>
      <vt:lpstr>Times New Roman</vt:lpstr>
      <vt:lpstr>Wingdings</vt:lpstr>
      <vt:lpstr>Arial</vt:lpstr>
      <vt:lpstr>1_Office Theme</vt:lpstr>
      <vt:lpstr>Custom Design</vt:lpstr>
      <vt:lpstr>PIXL Sci</vt:lpstr>
      <vt:lpstr>PowerPoint Presentation</vt:lpstr>
      <vt:lpstr>Overview   The Rate And Extent of Chemical Change</vt:lpstr>
      <vt:lpstr>PowerPoint Presentation</vt:lpstr>
      <vt:lpstr>Rate of reactions part 1 – Calculating rates of reactions</vt:lpstr>
      <vt:lpstr>Rate of reactions part 1 – Calculating rates of reactions</vt:lpstr>
      <vt:lpstr>PowerPoint Presentation</vt:lpstr>
      <vt:lpstr>Calculating rates of reactions – QuestionIT</vt:lpstr>
      <vt:lpstr>Calculating rates of reactions – QuestionIT</vt:lpstr>
      <vt:lpstr>Calculating rates of reactions – QuestionIT</vt:lpstr>
      <vt:lpstr>PowerPoint Presentation</vt:lpstr>
      <vt:lpstr>Calculating rates of reactions – QuestionIT</vt:lpstr>
      <vt:lpstr>Calculating rates of reactions – AnswerIT</vt:lpstr>
      <vt:lpstr>Factors which affect the rates of reactions – AnswerIT</vt:lpstr>
      <vt:lpstr>PowerPoint Presentation</vt:lpstr>
      <vt:lpstr>Rates of reactions part 2 – Factors which affect rates of  reactions</vt:lpstr>
      <vt:lpstr>Rates of reactions part 2 – Factors which affect rates of  reactions</vt:lpstr>
      <vt:lpstr>PowerPoint Presentation</vt:lpstr>
      <vt:lpstr>Factors which affect rates of  reactions – QuestionIT</vt:lpstr>
      <vt:lpstr>Factors which affect rates of  reactions – QuestionIT</vt:lpstr>
      <vt:lpstr>Factors which affect the rates of reactions – QuestionIT</vt:lpstr>
      <vt:lpstr>PowerPoint Presentation</vt:lpstr>
      <vt:lpstr>Factors which affect rates of  reactions – QuestionIT</vt:lpstr>
      <vt:lpstr>Factors which affect rates of  reactions – AnswerIT</vt:lpstr>
      <vt:lpstr>Factors which affect the rates of reactions – AnswerIT</vt:lpstr>
      <vt:lpstr>PowerPoint Presentation</vt:lpstr>
      <vt:lpstr>Rates of reactions part 3 – Factors which affect rates of  reactions - catalysts</vt:lpstr>
      <vt:lpstr>PowerPoint Presentation</vt:lpstr>
      <vt:lpstr>Factors which affect rates of  reactions - catalysts– QuestionIT</vt:lpstr>
      <vt:lpstr>Factors which affect rates of  reactions - catalysts– QuestionIT</vt:lpstr>
      <vt:lpstr>Factors which affect rates of  reactions - catalysts– QuestionIT</vt:lpstr>
      <vt:lpstr>PowerPoint Presentation</vt:lpstr>
      <vt:lpstr>Factors which affect rates of  reactions - catalysts– AnswerIT</vt:lpstr>
      <vt:lpstr>Factors which affect rates of  reactions - catalysts– AnswerIT</vt:lpstr>
      <vt:lpstr>Factors which affect rates of  reactions - catalysts– AnswerIT</vt:lpstr>
      <vt:lpstr>PowerPoint Presentation</vt:lpstr>
      <vt:lpstr>Reversible reactions</vt:lpstr>
      <vt:lpstr>PowerPoint Presentation</vt:lpstr>
      <vt:lpstr>PowerPoint Presentation</vt:lpstr>
      <vt:lpstr>Reversible reactions QuestionIT</vt:lpstr>
      <vt:lpstr>PowerPoint Presentation</vt:lpstr>
      <vt:lpstr>Reversible reactions QuestionIT</vt:lpstr>
      <vt:lpstr>Reversible reactions AnswerIT</vt:lpstr>
      <vt:lpstr>PowerPoint Presentation</vt:lpstr>
      <vt:lpstr>The Effect of changing conditions on equilibrium (HT only)</vt:lpstr>
      <vt:lpstr>The Effect of changing conditions on equilibrium (HT only)</vt:lpstr>
      <vt:lpstr>The Effect of changing conditions on equilibrium (HT only)</vt:lpstr>
      <vt:lpstr>The Effect of changing conditions on equilibrium (HT only)</vt:lpstr>
      <vt:lpstr>PowerPoint Presentation</vt:lpstr>
      <vt:lpstr>The Effect of changing conditions on equilibrium (HT only)QuestionIT</vt:lpstr>
      <vt:lpstr>The Effect of changing conditions on equilibrium (HT only)QuestionIT</vt:lpstr>
      <vt:lpstr>Fuel Cells (Chemistry only)AnswerIT</vt:lpstr>
      <vt:lpstr>PowerPoint Presentation</vt:lpstr>
      <vt:lpstr>The Effect of changing conditions on equilibrium (HT only)QuestionIT</vt:lpstr>
      <vt:lpstr>The Effect of changing conditions on equilibrium (HT only)QuestionIT</vt:lpstr>
      <vt:lpstr>Fuel Cells (Chemistry only)AnswerIT</vt:lpstr>
    </vt:vector>
  </TitlesOfParts>
  <LinksUpToDate>false</LinksUpToDate>
  <SharedDoc>false</SharedDoc>
  <HyperlinksChanged>false</HyperlinksChanged>
  <AppVersion>15.0036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Karen Collins</cp:lastModifiedBy>
  <cp:revision>416</cp:revision>
  <cp:lastPrinted>2017-05-23T14:15:43Z</cp:lastPrinted>
  <dcterms:created xsi:type="dcterms:W3CDTF">2016-03-05T09:38:04Z</dcterms:created>
  <dcterms:modified xsi:type="dcterms:W3CDTF">2017-11-16T19:57:14Z</dcterms:modified>
</cp:coreProperties>
</file>