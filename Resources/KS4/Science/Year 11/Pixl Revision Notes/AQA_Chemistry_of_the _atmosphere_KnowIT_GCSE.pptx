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46"/>
  </p:notesMasterIdLst>
  <p:sldIdLst>
    <p:sldId id="256" r:id="rId4"/>
    <p:sldId id="281" r:id="rId5"/>
    <p:sldId id="314" r:id="rId6"/>
    <p:sldId id="282" r:id="rId7"/>
    <p:sldId id="357" r:id="rId8"/>
    <p:sldId id="316" r:id="rId9"/>
    <p:sldId id="385" r:id="rId10"/>
    <p:sldId id="386" r:id="rId11"/>
    <p:sldId id="318" r:id="rId12"/>
    <p:sldId id="387" r:id="rId13"/>
    <p:sldId id="388" r:id="rId14"/>
    <p:sldId id="320" r:id="rId15"/>
    <p:sldId id="358" r:id="rId16"/>
    <p:sldId id="363" r:id="rId17"/>
    <p:sldId id="364" r:id="rId18"/>
    <p:sldId id="361" r:id="rId19"/>
    <p:sldId id="389" r:id="rId20"/>
    <p:sldId id="390" r:id="rId21"/>
    <p:sldId id="365" r:id="rId22"/>
    <p:sldId id="321" r:id="rId23"/>
    <p:sldId id="366" r:id="rId24"/>
    <p:sldId id="370" r:id="rId25"/>
    <p:sldId id="371" r:id="rId26"/>
    <p:sldId id="391" r:id="rId27"/>
    <p:sldId id="367" r:id="rId28"/>
    <p:sldId id="392" r:id="rId29"/>
    <p:sldId id="393" r:id="rId30"/>
    <p:sldId id="373" r:id="rId31"/>
    <p:sldId id="329" r:id="rId32"/>
    <p:sldId id="376" r:id="rId33"/>
    <p:sldId id="377" r:id="rId34"/>
    <p:sldId id="374" r:id="rId35"/>
    <p:sldId id="375" r:id="rId36"/>
    <p:sldId id="378" r:id="rId37"/>
    <p:sldId id="330" r:id="rId38"/>
    <p:sldId id="394" r:id="rId39"/>
    <p:sldId id="382" r:id="rId40"/>
    <p:sldId id="383" r:id="rId41"/>
    <p:sldId id="396" r:id="rId42"/>
    <p:sldId id="379" r:id="rId43"/>
    <p:sldId id="397" r:id="rId44"/>
    <p:sldId id="398"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llins" initials="KC" lastIdx="15" clrIdx="0">
    <p:extLst>
      <p:ext uri="{19B8F6BF-5375-455C-9EA6-DF929625EA0E}">
        <p15:presenceInfo xmlns:p15="http://schemas.microsoft.com/office/powerpoint/2012/main" userId="6370e7ac12b07be2" providerId="Windows Live"/>
      </p:ext>
    </p:extLst>
  </p:cmAuthor>
  <p:cmAuthor id="2" name="Vicki Pugh" initials="VP" lastIdx="10" clrIdx="1">
    <p:extLst>
      <p:ext uri="{19B8F6BF-5375-455C-9EA6-DF929625EA0E}">
        <p15:presenceInfo xmlns:p15="http://schemas.microsoft.com/office/powerpoint/2012/main" userId="fb86ba5f6b8255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83654" autoAdjust="0"/>
  </p:normalViewPr>
  <p:slideViewPr>
    <p:cSldViewPr>
      <p:cViewPr varScale="1">
        <p:scale>
          <a:sx n="73" d="100"/>
          <a:sy n="73" d="100"/>
        </p:scale>
        <p:origin x="60" y="94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11/21/2017</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dirty="0"/>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a:t>
            </a:fld>
            <a:endParaRPr lang="en-US" dirty="0"/>
          </a:p>
        </p:txBody>
      </p:sp>
    </p:spTree>
    <p:extLst>
      <p:ext uri="{BB962C8B-B14F-4D97-AF65-F5344CB8AC3E}">
        <p14:creationId xmlns:p14="http://schemas.microsoft.com/office/powerpoint/2010/main" val="203579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dirty="0"/>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dirty="0"/>
          </a:p>
        </p:txBody>
      </p:sp>
    </p:spTree>
    <p:extLst>
      <p:ext uri="{BB962C8B-B14F-4D97-AF65-F5344CB8AC3E}">
        <p14:creationId xmlns:p14="http://schemas.microsoft.com/office/powerpoint/2010/main" val="102249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dirty="0"/>
          </a:p>
        </p:txBody>
      </p:sp>
    </p:spTree>
    <p:extLst>
      <p:ext uri="{BB962C8B-B14F-4D97-AF65-F5344CB8AC3E}">
        <p14:creationId xmlns:p14="http://schemas.microsoft.com/office/powerpoint/2010/main" val="660969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dirty="0"/>
          </a:p>
        </p:txBody>
      </p:sp>
    </p:spTree>
    <p:extLst>
      <p:ext uri="{BB962C8B-B14F-4D97-AF65-F5344CB8AC3E}">
        <p14:creationId xmlns:p14="http://schemas.microsoft.com/office/powerpoint/2010/main" val="1679795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dirty="0"/>
          </a:p>
        </p:txBody>
      </p:sp>
    </p:spTree>
    <p:extLst>
      <p:ext uri="{BB962C8B-B14F-4D97-AF65-F5344CB8AC3E}">
        <p14:creationId xmlns:p14="http://schemas.microsoft.com/office/powerpoint/2010/main" val="3523030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dirty="0"/>
          </a:p>
        </p:txBody>
      </p:sp>
    </p:spTree>
    <p:extLst>
      <p:ext uri="{BB962C8B-B14F-4D97-AF65-F5344CB8AC3E}">
        <p14:creationId xmlns:p14="http://schemas.microsoft.com/office/powerpoint/2010/main" val="1763014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13</a:t>
            </a:fld>
            <a:endParaRPr lang="en-US" dirty="0"/>
          </a:p>
        </p:txBody>
      </p:sp>
    </p:spTree>
    <p:extLst>
      <p:ext uri="{BB962C8B-B14F-4D97-AF65-F5344CB8AC3E}">
        <p14:creationId xmlns:p14="http://schemas.microsoft.com/office/powerpoint/2010/main" val="1141447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dirty="0"/>
          </a:p>
        </p:txBody>
      </p:sp>
    </p:spTree>
    <p:extLst>
      <p:ext uri="{BB962C8B-B14F-4D97-AF65-F5344CB8AC3E}">
        <p14:creationId xmlns:p14="http://schemas.microsoft.com/office/powerpoint/2010/main" val="1603385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dirty="0"/>
          </a:p>
        </p:txBody>
      </p:sp>
    </p:spTree>
    <p:extLst>
      <p:ext uri="{BB962C8B-B14F-4D97-AF65-F5344CB8AC3E}">
        <p14:creationId xmlns:p14="http://schemas.microsoft.com/office/powerpoint/2010/main" val="1645534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dirty="0"/>
          </a:p>
        </p:txBody>
      </p:sp>
    </p:spTree>
    <p:extLst>
      <p:ext uri="{BB962C8B-B14F-4D97-AF65-F5344CB8AC3E}">
        <p14:creationId xmlns:p14="http://schemas.microsoft.com/office/powerpoint/2010/main" val="2531479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20</a:t>
            </a:fld>
            <a:endParaRPr lang="en-US" dirty="0"/>
          </a:p>
        </p:txBody>
      </p:sp>
    </p:spTree>
    <p:extLst>
      <p:ext uri="{BB962C8B-B14F-4D97-AF65-F5344CB8AC3E}">
        <p14:creationId xmlns:p14="http://schemas.microsoft.com/office/powerpoint/2010/main" val="3310995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dirty="0"/>
          </a:p>
        </p:txBody>
      </p:sp>
    </p:spTree>
    <p:extLst>
      <p:ext uri="{BB962C8B-B14F-4D97-AF65-F5344CB8AC3E}">
        <p14:creationId xmlns:p14="http://schemas.microsoft.com/office/powerpoint/2010/main" val="2343925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22</a:t>
            </a:fld>
            <a:endParaRPr lang="en-US" dirty="0"/>
          </a:p>
        </p:txBody>
      </p:sp>
    </p:spTree>
    <p:extLst>
      <p:ext uri="{BB962C8B-B14F-4D97-AF65-F5344CB8AC3E}">
        <p14:creationId xmlns:p14="http://schemas.microsoft.com/office/powerpoint/2010/main" val="1280949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25</a:t>
            </a:fld>
            <a:endParaRPr lang="en-US" dirty="0"/>
          </a:p>
        </p:txBody>
      </p:sp>
    </p:spTree>
    <p:extLst>
      <p:ext uri="{BB962C8B-B14F-4D97-AF65-F5344CB8AC3E}">
        <p14:creationId xmlns:p14="http://schemas.microsoft.com/office/powerpoint/2010/main" val="1377624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dirty="0"/>
          </a:p>
        </p:txBody>
      </p:sp>
    </p:spTree>
    <p:extLst>
      <p:ext uri="{BB962C8B-B14F-4D97-AF65-F5344CB8AC3E}">
        <p14:creationId xmlns:p14="http://schemas.microsoft.com/office/powerpoint/2010/main" val="2997526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dirty="0"/>
          </a:p>
        </p:txBody>
      </p:sp>
    </p:spTree>
    <p:extLst>
      <p:ext uri="{BB962C8B-B14F-4D97-AF65-F5344CB8AC3E}">
        <p14:creationId xmlns:p14="http://schemas.microsoft.com/office/powerpoint/2010/main" val="8547667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dirty="0"/>
          </a:p>
        </p:txBody>
      </p:sp>
    </p:spTree>
    <p:extLst>
      <p:ext uri="{BB962C8B-B14F-4D97-AF65-F5344CB8AC3E}">
        <p14:creationId xmlns:p14="http://schemas.microsoft.com/office/powerpoint/2010/main" val="341419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dirty="0"/>
          </a:p>
        </p:txBody>
      </p:sp>
    </p:spTree>
    <p:extLst>
      <p:ext uri="{BB962C8B-B14F-4D97-AF65-F5344CB8AC3E}">
        <p14:creationId xmlns:p14="http://schemas.microsoft.com/office/powerpoint/2010/main" val="4214389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dirty="0"/>
          </a:p>
        </p:txBody>
      </p:sp>
    </p:spTree>
    <p:extLst>
      <p:ext uri="{BB962C8B-B14F-4D97-AF65-F5344CB8AC3E}">
        <p14:creationId xmlns:p14="http://schemas.microsoft.com/office/powerpoint/2010/main" val="38832341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40</a:t>
            </a:fld>
            <a:endParaRPr lang="en-US" dirty="0"/>
          </a:p>
        </p:txBody>
      </p:sp>
    </p:spTree>
    <p:extLst>
      <p:ext uri="{BB962C8B-B14F-4D97-AF65-F5344CB8AC3E}">
        <p14:creationId xmlns:p14="http://schemas.microsoft.com/office/powerpoint/2010/main" val="1939086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endParaRPr lang="en-GB"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21/11/2017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21/11/2017</a:t>
            </a:fld>
            <a:endParaRPr lang="en-GB" dirty="0"/>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dirty="0"/>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21/11/2017</a:t>
            </a:fld>
            <a:endParaRPr lang="en-GB" dirty="0"/>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dirty="0"/>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21/11/2017</a:t>
            </a:fld>
            <a:endParaRPr lang="en-GB"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dirty="0"/>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21/11/2017</a:t>
            </a:fld>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dirty="0"/>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5.jpeg"/><Relationship Id="rId4" Type="http://schemas.openxmlformats.org/officeDocument/2006/relationships/hyperlink" Target="http://www.pixl.org.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uk/url?sa=i&amp;rct=j&amp;q=&amp;esrc=s&amp;source=images&amp;cd=&amp;cad=rja&amp;uact=8&amp;ved=0ahUKEwiIsP_HmPzWAhVFWxoKHfp4CJQQjRwIBw&amp;url=https://pixabay.com/en/earth-planet-world-globe-drawing-310882/&amp;psig=AOvVaw10fOJKbjKxz4nKbEBPPFhj&amp;ust=1508485458923048"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uk/url?sa=i&amp;rct=j&amp;q=&amp;esrc=s&amp;source=images&amp;cd=&amp;cad=rja&amp;uact=8&amp;ved=0ahUKEwjAgfagmvzWAhUHBBoKHTrdBEUQjRwIBw&amp;url=https://www.vexels.com/png-svg/preview/132603/volcano-icon&amp;psig=AOvVaw1wcIWt4fPDBak7MVJVYEUm&amp;ust=1508485959662369"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www.google.co.uk/url?sa=i&amp;rct=j&amp;q=&amp;esrc=s&amp;source=images&amp;cd=&amp;cad=rja&amp;uact=8&amp;ved=0ahUKEwijh_X6nfzWAhWMBBoKHVTnBr0QjRwIBw&amp;url=https://pixabay.com/en/earth-planet-world-globe-drawing-310882/&amp;psig=AOvVaw15VP4x7nDHLFgPvmorECf8&amp;ust=1508486948303121"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www.google.co.uk/url?sa=i&amp;rct=j&amp;q=&amp;esrc=s&amp;source=images&amp;cd=&amp;cad=rja&amp;uact=8&amp;ved=0ahUKEwinr5ORo_zWAhVGPRoKHUUsC6gQjRwIBw&amp;url=https://commons.wikimedia.org/wiki/File:Bunsen_burner_flame_types.jpg&amp;psig=AOvVaw0cKR8wtUXZDq7xlVFpOs-d&amp;ust=1508488333339830" TargetMode="Externa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xmlns="">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4"/>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KnowIT!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Chemistry of The Atmosphere</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9752" y="35655"/>
            <a:ext cx="6804248" cy="1017081"/>
          </a:xfrm>
        </p:spPr>
        <p:txBody>
          <a:bodyPr>
            <a:normAutofit/>
          </a:bodyPr>
          <a:lstStyle/>
          <a:p>
            <a:pPr algn="r"/>
            <a:r>
              <a:rPr lang="en-GB" sz="2800" b="1" dirty="0">
                <a:solidFill>
                  <a:schemeClr val="accent6"/>
                </a:solidFill>
              </a:rPr>
              <a:t>Overview </a:t>
            </a:r>
            <a:br>
              <a:rPr lang="en-GB" sz="2800" b="1" dirty="0">
                <a:solidFill>
                  <a:schemeClr val="accent6"/>
                </a:solidFill>
              </a:rPr>
            </a:br>
            <a:r>
              <a:rPr lang="en-GB" sz="2800" b="1" dirty="0">
                <a:solidFill>
                  <a:schemeClr val="accent6"/>
                </a:solidFill>
              </a:rPr>
              <a:t> Chemistry of The Atmosphere</a:t>
            </a:r>
          </a:p>
        </p:txBody>
      </p:sp>
      <p:sp>
        <p:nvSpPr>
          <p:cNvPr id="3" name="Subtitle 2"/>
          <p:cNvSpPr>
            <a:spLocks noGrp="1"/>
          </p:cNvSpPr>
          <p:nvPr>
            <p:ph type="subTitle" idx="1"/>
          </p:nvPr>
        </p:nvSpPr>
        <p:spPr>
          <a:xfrm>
            <a:off x="179512" y="908720"/>
            <a:ext cx="4896544" cy="5472608"/>
          </a:xfrm>
        </p:spPr>
        <p:txBody>
          <a:bodyPr>
            <a:normAutofit/>
          </a:bodyPr>
          <a:lstStyle/>
          <a:p>
            <a:pPr algn="l"/>
            <a:r>
              <a:rPr lang="en-US" sz="1800" b="1" dirty="0">
                <a:solidFill>
                  <a:schemeClr val="tx1"/>
                </a:solidFill>
                <a:latin typeface="+mn-lt"/>
              </a:rPr>
              <a:t>The composition and evolution of the Earth’s atmosphere</a:t>
            </a:r>
          </a:p>
          <a:p>
            <a:pPr marL="685800" lvl="1" indent="-342900" algn="l">
              <a:buFont typeface="Arial" charset="0"/>
              <a:buChar char="•"/>
            </a:pPr>
            <a:r>
              <a:rPr lang="en-US" sz="1600" dirty="0">
                <a:solidFill>
                  <a:schemeClr val="tx1"/>
                </a:solidFill>
              </a:rPr>
              <a:t>The proportions of different gases in the</a:t>
            </a:r>
          </a:p>
          <a:p>
            <a:pPr lvl="1" algn="l"/>
            <a:r>
              <a:rPr lang="en-US" sz="1600" dirty="0">
                <a:solidFill>
                  <a:schemeClr val="tx1"/>
                </a:solidFill>
              </a:rPr>
              <a:t>	atmosphere</a:t>
            </a:r>
          </a:p>
          <a:p>
            <a:pPr marL="685800" lvl="1" indent="-342900" algn="l">
              <a:buFont typeface="Arial" charset="0"/>
              <a:buChar char="•"/>
            </a:pPr>
            <a:r>
              <a:rPr lang="en-US" sz="1600" dirty="0">
                <a:solidFill>
                  <a:schemeClr val="tx1"/>
                </a:solidFill>
              </a:rPr>
              <a:t>The Earth’s early atmosphere</a:t>
            </a:r>
          </a:p>
          <a:p>
            <a:pPr marL="685800" lvl="1" indent="-342900" algn="l">
              <a:buFont typeface="Arial" charset="0"/>
              <a:buChar char="•"/>
            </a:pPr>
            <a:r>
              <a:rPr lang="en-US" sz="1600" dirty="0">
                <a:solidFill>
                  <a:schemeClr val="tx1"/>
                </a:solidFill>
              </a:rPr>
              <a:t>How oxygen increased</a:t>
            </a:r>
          </a:p>
          <a:p>
            <a:pPr marL="685800" lvl="1" indent="-342900" algn="l">
              <a:buFont typeface="Arial" charset="0"/>
              <a:buChar char="•"/>
            </a:pPr>
            <a:r>
              <a:rPr lang="en-US" sz="1600" dirty="0">
                <a:solidFill>
                  <a:schemeClr val="tx1"/>
                </a:solidFill>
              </a:rPr>
              <a:t>How carbon dioxide decreased</a:t>
            </a:r>
          </a:p>
          <a:p>
            <a:pPr algn="l"/>
            <a:r>
              <a:rPr lang="en-US" sz="1800" b="1" dirty="0">
                <a:solidFill>
                  <a:schemeClr val="tx1"/>
                </a:solidFill>
                <a:latin typeface="+mn-lt"/>
              </a:rPr>
              <a:t>Carbon dioxide and methane as greenhouse</a:t>
            </a:r>
          </a:p>
          <a:p>
            <a:pPr algn="l"/>
            <a:r>
              <a:rPr lang="en-US" sz="1800" b="1" dirty="0">
                <a:solidFill>
                  <a:schemeClr val="tx1"/>
                </a:solidFill>
                <a:latin typeface="+mn-lt"/>
              </a:rPr>
              <a:t>gases</a:t>
            </a:r>
          </a:p>
          <a:p>
            <a:pPr marL="685800" lvl="1" indent="-342900" algn="l">
              <a:buFont typeface="Arial" charset="0"/>
              <a:buChar char="•"/>
            </a:pPr>
            <a:r>
              <a:rPr lang="en-US" sz="1600" dirty="0">
                <a:solidFill>
                  <a:schemeClr val="tx1"/>
                </a:solidFill>
              </a:rPr>
              <a:t>Greenhouse gases</a:t>
            </a:r>
          </a:p>
          <a:p>
            <a:pPr marL="685800" lvl="1" indent="-342900" algn="l">
              <a:buFont typeface="Arial" charset="0"/>
              <a:buChar char="•"/>
            </a:pPr>
            <a:r>
              <a:rPr lang="en-US" sz="1600" dirty="0">
                <a:solidFill>
                  <a:schemeClr val="tx1"/>
                </a:solidFill>
              </a:rPr>
              <a:t>Human activities which contribute to an</a:t>
            </a:r>
          </a:p>
          <a:p>
            <a:pPr lvl="1" algn="l"/>
            <a:r>
              <a:rPr lang="en-US" sz="1600" dirty="0">
                <a:solidFill>
                  <a:schemeClr val="tx1"/>
                </a:solidFill>
              </a:rPr>
              <a:t>	increase in greenhouse gases in the atmosphere</a:t>
            </a:r>
          </a:p>
          <a:p>
            <a:pPr marL="685800" lvl="1" indent="-342900" algn="l">
              <a:buFont typeface="Arial" charset="0"/>
              <a:buChar char="•"/>
            </a:pPr>
            <a:r>
              <a:rPr lang="en-US" sz="1600" dirty="0">
                <a:solidFill>
                  <a:schemeClr val="tx1"/>
                </a:solidFill>
              </a:rPr>
              <a:t>Global climate change</a:t>
            </a:r>
          </a:p>
          <a:p>
            <a:pPr marL="685800" lvl="1" indent="-342900" algn="l">
              <a:buFont typeface="Arial" charset="0"/>
              <a:buChar char="•"/>
            </a:pPr>
            <a:r>
              <a:rPr lang="en-US" sz="1600" dirty="0">
                <a:solidFill>
                  <a:schemeClr val="tx1"/>
                </a:solidFill>
              </a:rPr>
              <a:t>The carbon footprint and it’s reduction</a:t>
            </a:r>
          </a:p>
          <a:p>
            <a:pPr algn="l"/>
            <a:r>
              <a:rPr lang="en-US" sz="1800" b="1" dirty="0">
                <a:solidFill>
                  <a:schemeClr val="tx1"/>
                </a:solidFill>
                <a:latin typeface="+mn-lt"/>
              </a:rPr>
              <a:t>Common atmospheric pollutants and their</a:t>
            </a:r>
          </a:p>
          <a:p>
            <a:pPr algn="l"/>
            <a:r>
              <a:rPr lang="en-US" sz="1800" b="1" dirty="0">
                <a:solidFill>
                  <a:schemeClr val="tx1"/>
                </a:solidFill>
                <a:latin typeface="+mn-lt"/>
              </a:rPr>
              <a:t>sources</a:t>
            </a:r>
          </a:p>
          <a:p>
            <a:pPr marL="285750" indent="-285750" algn="l">
              <a:buFont typeface="Arial" panose="020B0604020202020204" pitchFamily="34" charset="0"/>
              <a:buChar char="•"/>
            </a:pPr>
            <a:r>
              <a:rPr lang="en-US" sz="1600" dirty="0">
                <a:solidFill>
                  <a:schemeClr val="tx1"/>
                </a:solidFill>
                <a:latin typeface="+mn-lt"/>
              </a:rPr>
              <a:t>Atmospheric pollutants from fuels</a:t>
            </a:r>
          </a:p>
          <a:p>
            <a:pPr marL="285750" indent="-285750" algn="l">
              <a:buFont typeface="Arial" panose="020B0604020202020204" pitchFamily="34" charset="0"/>
              <a:buChar char="•"/>
            </a:pPr>
            <a:r>
              <a:rPr lang="en-US" sz="1600" dirty="0">
                <a:solidFill>
                  <a:schemeClr val="tx1"/>
                </a:solidFill>
                <a:latin typeface="+mn-lt"/>
              </a:rPr>
              <a:t>Properties and effects of atmospheric pollutants</a:t>
            </a: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5" name="Picture 4"/>
          <p:cNvPicPr>
            <a:picLocks noChangeAspect="1"/>
          </p:cNvPicPr>
          <p:nvPr/>
        </p:nvPicPr>
        <p:blipFill>
          <a:blip r:embed="rId2"/>
          <a:stretch>
            <a:fillRect/>
          </a:stretch>
        </p:blipFill>
        <p:spPr>
          <a:xfrm>
            <a:off x="5076056" y="1052736"/>
            <a:ext cx="3888432" cy="5328592"/>
          </a:xfrm>
          <a:prstGeom prst="rect">
            <a:avLst/>
          </a:prstGeom>
        </p:spPr>
      </p:pic>
    </p:spTree>
    <p:extLst>
      <p:ext uri="{BB962C8B-B14F-4D97-AF65-F5344CB8AC3E}">
        <p14:creationId xmlns:p14="http://schemas.microsoft.com/office/powerpoint/2010/main" val="7324485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5786199"/>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800" b="1" dirty="0">
                <a:solidFill>
                  <a:schemeClr val="tx1">
                    <a:lumMod val="50000"/>
                    <a:lumOff val="50000"/>
                  </a:schemeClr>
                </a:solidFill>
              </a:rPr>
              <a:t>The composition and </a:t>
            </a:r>
          </a:p>
          <a:p>
            <a:r>
              <a:rPr lang="en-US" sz="2800" b="1" dirty="0">
                <a:solidFill>
                  <a:schemeClr val="tx1">
                    <a:lumMod val="50000"/>
                    <a:lumOff val="50000"/>
                  </a:schemeClr>
                </a:solidFill>
              </a:rPr>
              <a:t>evolution of the Earth’s</a:t>
            </a:r>
          </a:p>
          <a:p>
            <a:r>
              <a:rPr lang="en-US" sz="2800" b="1" dirty="0">
                <a:solidFill>
                  <a:schemeClr val="tx1">
                    <a:lumMod val="50000"/>
                    <a:lumOff val="50000"/>
                  </a:schemeClr>
                </a:solidFill>
              </a:rPr>
              <a:t>Atmosphere</a:t>
            </a:r>
          </a:p>
          <a:p>
            <a:r>
              <a:rPr lang="en-US" sz="2800" b="1" dirty="0">
                <a:solidFill>
                  <a:schemeClr val="tx1">
                    <a:lumMod val="50000"/>
                    <a:lumOff val="50000"/>
                  </a:schemeClr>
                </a:solidFill>
              </a:rPr>
              <a:t>Part 1</a:t>
            </a:r>
          </a:p>
          <a:p>
            <a:pPr marL="685800" lvl="1" indent="-342900">
              <a:buFont typeface="Arial" charset="0"/>
              <a:buChar char="•"/>
            </a:pPr>
            <a:r>
              <a:rPr lang="en-US" sz="2400" dirty="0">
                <a:solidFill>
                  <a:schemeClr val="tx1">
                    <a:lumMod val="50000"/>
                    <a:lumOff val="50000"/>
                  </a:schemeClr>
                </a:solidFill>
              </a:rPr>
              <a:t>The proportion of different </a:t>
            </a:r>
          </a:p>
          <a:p>
            <a:pPr marL="342900" lvl="1"/>
            <a:r>
              <a:rPr lang="en-US" sz="2400" dirty="0">
                <a:solidFill>
                  <a:schemeClr val="tx1">
                    <a:lumMod val="50000"/>
                    <a:lumOff val="50000"/>
                  </a:schemeClr>
                </a:solidFill>
              </a:rPr>
              <a:t>     gases in the atmosphere</a:t>
            </a:r>
          </a:p>
          <a:p>
            <a:pPr marL="685800" lvl="1" indent="-342900">
              <a:buFont typeface="Arial" charset="0"/>
              <a:buChar char="•"/>
            </a:pPr>
            <a:r>
              <a:rPr lang="en-US" sz="2400" dirty="0">
                <a:solidFill>
                  <a:schemeClr val="tx1">
                    <a:lumMod val="50000"/>
                    <a:lumOff val="50000"/>
                  </a:schemeClr>
                </a:solidFill>
              </a:rPr>
              <a:t>The Earth’s early atmosphere</a:t>
            </a:r>
          </a:p>
          <a:p>
            <a:pPr marL="342900" lvl="1"/>
            <a:endParaRPr lang="en-US" sz="2400" dirty="0"/>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6323850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The proportions of different gases in the atmosphere </a:t>
            </a:r>
          </a:p>
        </p:txBody>
      </p:sp>
      <p:sp>
        <p:nvSpPr>
          <p:cNvPr id="3" name="TextBox 2"/>
          <p:cNvSpPr txBox="1"/>
          <p:nvPr/>
        </p:nvSpPr>
        <p:spPr>
          <a:xfrm>
            <a:off x="179512" y="764704"/>
            <a:ext cx="8568952" cy="1938992"/>
          </a:xfrm>
          <a:prstGeom prst="rect">
            <a:avLst/>
          </a:prstGeom>
          <a:noFill/>
        </p:spPr>
        <p:txBody>
          <a:bodyPr wrap="square" rtlCol="0">
            <a:spAutoFit/>
          </a:bodyPr>
          <a:lstStyle/>
          <a:p>
            <a:r>
              <a:rPr lang="en-GB" sz="2000" dirty="0"/>
              <a:t>For </a:t>
            </a:r>
            <a:r>
              <a:rPr lang="en-GB" sz="2000" b="1" dirty="0"/>
              <a:t>200 million years</a:t>
            </a:r>
            <a:r>
              <a:rPr lang="en-GB" sz="2000" dirty="0"/>
              <a:t>, the proportions of different gases in the atmosphere have been much the same as they are today:</a:t>
            </a:r>
          </a:p>
          <a:p>
            <a:pPr marL="285750" indent="-285750">
              <a:buFont typeface="Arial" panose="020B0604020202020204" pitchFamily="34" charset="0"/>
              <a:buChar char="•"/>
            </a:pPr>
            <a:r>
              <a:rPr lang="en-GB" sz="2000" dirty="0"/>
              <a:t>about four-fifths (approximately </a:t>
            </a:r>
            <a:r>
              <a:rPr lang="en-GB" sz="2000" b="1" dirty="0"/>
              <a:t>80%</a:t>
            </a:r>
            <a:r>
              <a:rPr lang="en-GB" sz="2000" dirty="0"/>
              <a:t>) </a:t>
            </a:r>
            <a:r>
              <a:rPr lang="en-GB" sz="2000" b="1" dirty="0"/>
              <a:t>nitrogen</a:t>
            </a:r>
          </a:p>
          <a:p>
            <a:pPr marL="285750" indent="-285750">
              <a:buFont typeface="Arial" panose="020B0604020202020204" pitchFamily="34" charset="0"/>
              <a:buChar char="•"/>
            </a:pPr>
            <a:r>
              <a:rPr lang="en-GB" sz="2000" dirty="0"/>
              <a:t>about one-fifth (approximately </a:t>
            </a:r>
            <a:r>
              <a:rPr lang="en-GB" sz="2000" b="1" dirty="0"/>
              <a:t>20%</a:t>
            </a:r>
            <a:r>
              <a:rPr lang="en-GB" sz="2000" dirty="0"/>
              <a:t>) </a:t>
            </a:r>
            <a:r>
              <a:rPr lang="en-GB" sz="2000" b="1" dirty="0"/>
              <a:t>oxygen</a:t>
            </a:r>
          </a:p>
          <a:p>
            <a:pPr marL="285750" indent="-285750">
              <a:buFont typeface="Arial" panose="020B0604020202020204" pitchFamily="34" charset="0"/>
              <a:buChar char="•"/>
            </a:pPr>
            <a:r>
              <a:rPr lang="en-GB" sz="2000" dirty="0"/>
              <a:t>small proportions of various other gases, including carbon dioxide, water vapour and noble gases.</a:t>
            </a:r>
          </a:p>
        </p:txBody>
      </p:sp>
      <p:grpSp>
        <p:nvGrpSpPr>
          <p:cNvPr id="13" name="Group 12"/>
          <p:cNvGrpSpPr/>
          <p:nvPr/>
        </p:nvGrpSpPr>
        <p:grpSpPr>
          <a:xfrm>
            <a:off x="1907704" y="2677428"/>
            <a:ext cx="4937760" cy="5055870"/>
            <a:chOff x="0" y="0"/>
            <a:chExt cx="4937760" cy="5055870"/>
          </a:xfrm>
        </p:grpSpPr>
        <p:sp>
          <p:nvSpPr>
            <p:cNvPr id="14" name="Text Box 2"/>
            <p:cNvSpPr txBox="1">
              <a:spLocks noChangeArrowheads="1"/>
            </p:cNvSpPr>
            <p:nvPr/>
          </p:nvSpPr>
          <p:spPr bwMode="auto">
            <a:xfrm>
              <a:off x="1389798" y="164735"/>
              <a:ext cx="3212787" cy="96827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07000"/>
                </a:lnSpc>
                <a:spcAft>
                  <a:spcPts val="0"/>
                </a:spcAft>
              </a:pPr>
              <a:r>
                <a:rPr lang="en-GB" dirty="0">
                  <a:effectLst/>
                  <a:latin typeface="Calibri" panose="020F0502020204030204" pitchFamily="34" charset="0"/>
                  <a:ea typeface="Calibri" panose="020F0502020204030204" pitchFamily="34" charset="0"/>
                  <a:cs typeface="Times New Roman" panose="02020603050405020304" pitchFamily="18" charset="0"/>
                </a:rPr>
                <a:t>80% N</a:t>
              </a:r>
              <a:r>
                <a:rPr lang="en-GB" baseline="-25000" dirty="0">
                  <a:effectLst/>
                  <a:latin typeface="Calibri" panose="020F0502020204030204" pitchFamily="34" charset="0"/>
                  <a:ea typeface="Calibri" panose="020F0502020204030204" pitchFamily="34" charset="0"/>
                  <a:cs typeface="Times New Roman" panose="02020603050405020304" pitchFamily="18" charset="0"/>
                </a:rPr>
                <a:t>2</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dirty="0">
                  <a:effectLst/>
                  <a:latin typeface="Calibri" panose="020F0502020204030204" pitchFamily="34" charset="0"/>
                  <a:ea typeface="Calibri" panose="020F0502020204030204" pitchFamily="34" charset="0"/>
                  <a:cs typeface="Times New Roman" panose="02020603050405020304" pitchFamily="18" charset="0"/>
                </a:rPr>
                <a:t>20% O</a:t>
              </a:r>
              <a:r>
                <a:rPr lang="en-GB" baseline="-25000" dirty="0">
                  <a:effectLst/>
                  <a:latin typeface="Calibri" panose="020F0502020204030204" pitchFamily="34" charset="0"/>
                  <a:ea typeface="Calibri" panose="020F0502020204030204" pitchFamily="34" charset="0"/>
                  <a:cs typeface="Times New Roman" panose="02020603050405020304" pitchFamily="18" charset="0"/>
                </a:rPr>
                <a:t>2</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dirty="0">
                  <a:effectLst/>
                  <a:latin typeface="Calibri" panose="020F0502020204030204" pitchFamily="34" charset="0"/>
                  <a:ea typeface="Calibri" panose="020F0502020204030204" pitchFamily="34" charset="0"/>
                  <a:cs typeface="Times New Roman" panose="02020603050405020304" pitchFamily="18" charset="0"/>
                </a:rPr>
                <a:t>&lt;1% CO</a:t>
              </a:r>
              <a:r>
                <a:rPr lang="en-GB"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GB" dirty="0">
                  <a:effectLst/>
                  <a:latin typeface="Calibri" panose="020F0502020204030204" pitchFamily="34" charset="0"/>
                  <a:ea typeface="Calibri" panose="020F0502020204030204" pitchFamily="34" charset="0"/>
                  <a:cs typeface="Times New Roman" panose="02020603050405020304" pitchFamily="18" charset="0"/>
                </a:rPr>
                <a:t>, H</a:t>
              </a:r>
              <a:r>
                <a:rPr lang="en-GB"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GB" dirty="0">
                  <a:effectLst/>
                  <a:latin typeface="Calibri" panose="020F0502020204030204" pitchFamily="34" charset="0"/>
                  <a:ea typeface="Calibri" panose="020F0502020204030204" pitchFamily="34" charset="0"/>
                  <a:cs typeface="Times New Roman" panose="02020603050405020304" pitchFamily="18" charset="0"/>
                </a:rPr>
                <a:t>O + Noble Gases</a:t>
              </a:r>
            </a:p>
          </p:txBody>
        </p:sp>
        <p:sp>
          <p:nvSpPr>
            <p:cNvPr id="15" name="Flowchart: Connector 14"/>
            <p:cNvSpPr/>
            <p:nvPr/>
          </p:nvSpPr>
          <p:spPr>
            <a:xfrm>
              <a:off x="970059" y="1073426"/>
              <a:ext cx="2997642" cy="2894275"/>
            </a:xfrm>
            <a:prstGeom prst="flowChartConnector">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6" name="Flowchart: Connector 15"/>
            <p:cNvSpPr/>
            <p:nvPr/>
          </p:nvSpPr>
          <p:spPr>
            <a:xfrm>
              <a:off x="0" y="0"/>
              <a:ext cx="4937760" cy="5055870"/>
            </a:xfrm>
            <a:prstGeom prst="flowChartConnector">
              <a:avLst/>
            </a:prstGeom>
            <a:noFill/>
            <a:ln w="12700" cap="flat" cmpd="sng" algn="ctr">
              <a:solidFill>
                <a:schemeClr val="tx1"/>
              </a:solidFill>
              <a:prstDash val="lg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pic>
          <p:nvPicPr>
            <p:cNvPr id="17" name="irc_mi" descr="Image result for earth">
              <a:hlinkClick r:id="rId3"/>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7767" y="1089328"/>
              <a:ext cx="2917825" cy="2879090"/>
            </a:xfrm>
            <a:prstGeom prst="rect">
              <a:avLst/>
            </a:prstGeom>
            <a:noFill/>
            <a:ln>
              <a:noFill/>
            </a:ln>
          </p:spPr>
        </p:pic>
      </p:grpSp>
      <p:sp>
        <p:nvSpPr>
          <p:cNvPr id="12" name="TextBox 11"/>
          <p:cNvSpPr txBox="1"/>
          <p:nvPr/>
        </p:nvSpPr>
        <p:spPr>
          <a:xfrm>
            <a:off x="6456422" y="2550525"/>
            <a:ext cx="2618045" cy="1200329"/>
          </a:xfrm>
          <a:custGeom>
            <a:avLst/>
            <a:gdLst>
              <a:gd name="connsiteX0" fmla="*/ 0 w 2592288"/>
              <a:gd name="connsiteY0" fmla="*/ 0 h 1200329"/>
              <a:gd name="connsiteX1" fmla="*/ 2592288 w 2592288"/>
              <a:gd name="connsiteY1" fmla="*/ 0 h 1200329"/>
              <a:gd name="connsiteX2" fmla="*/ 2592288 w 2592288"/>
              <a:gd name="connsiteY2" fmla="*/ 1200329 h 1200329"/>
              <a:gd name="connsiteX3" fmla="*/ 0 w 2592288"/>
              <a:gd name="connsiteY3" fmla="*/ 1200329 h 1200329"/>
              <a:gd name="connsiteX4" fmla="*/ 0 w 2592288"/>
              <a:gd name="connsiteY4" fmla="*/ 0 h 1200329"/>
              <a:gd name="connsiteX0" fmla="*/ 25758 w 2618046"/>
              <a:gd name="connsiteY0" fmla="*/ 0 h 1522301"/>
              <a:gd name="connsiteX1" fmla="*/ 2618046 w 2618046"/>
              <a:gd name="connsiteY1" fmla="*/ 0 h 1522301"/>
              <a:gd name="connsiteX2" fmla="*/ 2618046 w 2618046"/>
              <a:gd name="connsiteY2" fmla="*/ 1200329 h 1522301"/>
              <a:gd name="connsiteX3" fmla="*/ 0 w 2618046"/>
              <a:gd name="connsiteY3" fmla="*/ 1522301 h 1522301"/>
              <a:gd name="connsiteX4" fmla="*/ 25758 w 2618046"/>
              <a:gd name="connsiteY4" fmla="*/ 0 h 1522301"/>
              <a:gd name="connsiteX0" fmla="*/ 25758 w 2618046"/>
              <a:gd name="connsiteY0" fmla="*/ 0 h 1522301"/>
              <a:gd name="connsiteX1" fmla="*/ 2618046 w 2618046"/>
              <a:gd name="connsiteY1" fmla="*/ 0 h 1522301"/>
              <a:gd name="connsiteX2" fmla="*/ 2605167 w 2618046"/>
              <a:gd name="connsiteY2" fmla="*/ 1522301 h 1522301"/>
              <a:gd name="connsiteX3" fmla="*/ 0 w 2618046"/>
              <a:gd name="connsiteY3" fmla="*/ 1522301 h 1522301"/>
              <a:gd name="connsiteX4" fmla="*/ 25758 w 2618046"/>
              <a:gd name="connsiteY4" fmla="*/ 0 h 1522301"/>
              <a:gd name="connsiteX0" fmla="*/ 0 w 2630924"/>
              <a:gd name="connsiteY0" fmla="*/ 0 h 1522301"/>
              <a:gd name="connsiteX1" fmla="*/ 2630924 w 2630924"/>
              <a:gd name="connsiteY1" fmla="*/ 0 h 1522301"/>
              <a:gd name="connsiteX2" fmla="*/ 2618045 w 2630924"/>
              <a:gd name="connsiteY2" fmla="*/ 1522301 h 1522301"/>
              <a:gd name="connsiteX3" fmla="*/ 12878 w 2630924"/>
              <a:gd name="connsiteY3" fmla="*/ 1522301 h 1522301"/>
              <a:gd name="connsiteX4" fmla="*/ 0 w 2630924"/>
              <a:gd name="connsiteY4" fmla="*/ 0 h 1522301"/>
              <a:gd name="connsiteX0" fmla="*/ 0 w 2630924"/>
              <a:gd name="connsiteY0" fmla="*/ 386366 h 1522301"/>
              <a:gd name="connsiteX1" fmla="*/ 2630924 w 2630924"/>
              <a:gd name="connsiteY1" fmla="*/ 0 h 1522301"/>
              <a:gd name="connsiteX2" fmla="*/ 2618045 w 2630924"/>
              <a:gd name="connsiteY2" fmla="*/ 1522301 h 1522301"/>
              <a:gd name="connsiteX3" fmla="*/ 12878 w 2630924"/>
              <a:gd name="connsiteY3" fmla="*/ 1522301 h 1522301"/>
              <a:gd name="connsiteX4" fmla="*/ 0 w 2630924"/>
              <a:gd name="connsiteY4" fmla="*/ 386366 h 1522301"/>
              <a:gd name="connsiteX0" fmla="*/ 0 w 2618045"/>
              <a:gd name="connsiteY0" fmla="*/ 25757 h 1161692"/>
              <a:gd name="connsiteX1" fmla="*/ 2618045 w 2618045"/>
              <a:gd name="connsiteY1" fmla="*/ 0 h 1161692"/>
              <a:gd name="connsiteX2" fmla="*/ 2618045 w 2618045"/>
              <a:gd name="connsiteY2" fmla="*/ 1161692 h 1161692"/>
              <a:gd name="connsiteX3" fmla="*/ 12878 w 2618045"/>
              <a:gd name="connsiteY3" fmla="*/ 1161692 h 1161692"/>
              <a:gd name="connsiteX4" fmla="*/ 0 w 2618045"/>
              <a:gd name="connsiteY4" fmla="*/ 25757 h 1161692"/>
              <a:gd name="connsiteX0" fmla="*/ 0 w 2618045"/>
              <a:gd name="connsiteY0" fmla="*/ 0 h 1135935"/>
              <a:gd name="connsiteX1" fmla="*/ 2618045 w 2618045"/>
              <a:gd name="connsiteY1" fmla="*/ 0 h 1135935"/>
              <a:gd name="connsiteX2" fmla="*/ 2618045 w 2618045"/>
              <a:gd name="connsiteY2" fmla="*/ 1135935 h 1135935"/>
              <a:gd name="connsiteX3" fmla="*/ 12878 w 2618045"/>
              <a:gd name="connsiteY3" fmla="*/ 1135935 h 1135935"/>
              <a:gd name="connsiteX4" fmla="*/ 0 w 2618045"/>
              <a:gd name="connsiteY4" fmla="*/ 0 h 1135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8045" h="1135935">
                <a:moveTo>
                  <a:pt x="0" y="0"/>
                </a:moveTo>
                <a:lnTo>
                  <a:pt x="2618045" y="0"/>
                </a:lnTo>
                <a:lnTo>
                  <a:pt x="2618045" y="1135935"/>
                </a:lnTo>
                <a:lnTo>
                  <a:pt x="12878" y="1135935"/>
                </a:lnTo>
                <a:lnTo>
                  <a:pt x="0" y="0"/>
                </a:lnTo>
                <a:close/>
              </a:path>
            </a:pathLst>
          </a:custGeom>
          <a:solidFill>
            <a:schemeClr val="accent6"/>
          </a:solidFill>
          <a:ln w="28575">
            <a:solidFill>
              <a:schemeClr val="tx1"/>
            </a:solidFill>
          </a:ln>
        </p:spPr>
        <p:txBody>
          <a:bodyPr wrap="square" rtlCol="0">
            <a:spAutoFit/>
          </a:bodyPr>
          <a:lstStyle/>
          <a:p>
            <a:pPr algn="ctr"/>
            <a:r>
              <a:rPr lang="en-GB" sz="2400" b="1" dirty="0"/>
              <a:t>You must learn these percentages for the exam</a:t>
            </a:r>
          </a:p>
        </p:txBody>
      </p:sp>
    </p:spTree>
    <p:extLst>
      <p:ext uri="{BB962C8B-B14F-4D97-AF65-F5344CB8AC3E}">
        <p14:creationId xmlns:p14="http://schemas.microsoft.com/office/powerpoint/2010/main" val="12704805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The Earth’s early atmosphere </a:t>
            </a:r>
          </a:p>
        </p:txBody>
      </p:sp>
      <p:sp>
        <p:nvSpPr>
          <p:cNvPr id="3" name="TextBox 2"/>
          <p:cNvSpPr txBox="1"/>
          <p:nvPr/>
        </p:nvSpPr>
        <p:spPr>
          <a:xfrm>
            <a:off x="179512" y="836712"/>
            <a:ext cx="8712968" cy="1015663"/>
          </a:xfrm>
          <a:prstGeom prst="rect">
            <a:avLst/>
          </a:prstGeom>
          <a:noFill/>
          <a:ln w="28575">
            <a:solidFill>
              <a:schemeClr val="accent6"/>
            </a:solidFill>
          </a:ln>
        </p:spPr>
        <p:txBody>
          <a:bodyPr wrap="square" rtlCol="0">
            <a:spAutoFit/>
          </a:bodyPr>
          <a:lstStyle/>
          <a:p>
            <a:r>
              <a:rPr lang="en-GB" sz="2000" dirty="0"/>
              <a:t>Theories about what was in the Earth’s early atmosphere and how the atmosphere was formed have changed and developed over time. Evidence for the early atmosphere is limited because of the time scale of 4.6 billion years.</a:t>
            </a:r>
          </a:p>
        </p:txBody>
      </p:sp>
      <p:sp>
        <p:nvSpPr>
          <p:cNvPr id="4" name="TextBox 3"/>
          <p:cNvSpPr txBox="1"/>
          <p:nvPr/>
        </p:nvSpPr>
        <p:spPr>
          <a:xfrm>
            <a:off x="179512" y="1916832"/>
            <a:ext cx="8712968" cy="400110"/>
          </a:xfrm>
          <a:prstGeom prst="rect">
            <a:avLst/>
          </a:prstGeom>
          <a:noFill/>
        </p:spPr>
        <p:txBody>
          <a:bodyPr wrap="square" rtlCol="0">
            <a:spAutoFit/>
          </a:bodyPr>
          <a:lstStyle/>
          <a:p>
            <a:r>
              <a:rPr lang="en-GB" sz="2000" dirty="0"/>
              <a:t>There are a number of different theories as to how the atmosphere evolved.</a:t>
            </a:r>
          </a:p>
        </p:txBody>
      </p:sp>
      <p:sp>
        <p:nvSpPr>
          <p:cNvPr id="5" name="TextBox 4"/>
          <p:cNvSpPr txBox="1"/>
          <p:nvPr/>
        </p:nvSpPr>
        <p:spPr>
          <a:xfrm>
            <a:off x="175942" y="2381399"/>
            <a:ext cx="5832648" cy="4093428"/>
          </a:xfrm>
          <a:prstGeom prst="rect">
            <a:avLst/>
          </a:prstGeom>
          <a:noFill/>
          <a:ln w="28575">
            <a:solidFill>
              <a:schemeClr val="accent6"/>
            </a:solidFill>
          </a:ln>
        </p:spPr>
        <p:txBody>
          <a:bodyPr wrap="square" rtlCol="0">
            <a:spAutoFit/>
          </a:bodyPr>
          <a:lstStyle/>
          <a:p>
            <a:r>
              <a:rPr lang="en-GB" sz="2000" dirty="0"/>
              <a:t>One theory </a:t>
            </a:r>
            <a:r>
              <a:rPr lang="en-GB" sz="2000" dirty="0" smtClean="0"/>
              <a:t>suggests: </a:t>
            </a:r>
          </a:p>
          <a:p>
            <a:pPr marL="285750" indent="-285750">
              <a:buFont typeface="Arial" panose="020B0604020202020204" pitchFamily="34" charset="0"/>
              <a:buChar char="•"/>
            </a:pPr>
            <a:r>
              <a:rPr lang="en-GB" sz="2000" dirty="0"/>
              <a:t>D</a:t>
            </a:r>
            <a:r>
              <a:rPr lang="en-GB" sz="2000" dirty="0" smtClean="0"/>
              <a:t>uring </a:t>
            </a:r>
            <a:r>
              <a:rPr lang="en-GB" sz="2000" dirty="0"/>
              <a:t>the first billion years </a:t>
            </a:r>
            <a:r>
              <a:rPr lang="en-GB" sz="2000" dirty="0" smtClean="0"/>
              <a:t>there </a:t>
            </a:r>
            <a:r>
              <a:rPr lang="en-GB" sz="2000" dirty="0"/>
              <a:t>was </a:t>
            </a:r>
            <a:r>
              <a:rPr lang="en-GB" sz="2000" b="1" dirty="0">
                <a:solidFill>
                  <a:schemeClr val="accent6">
                    <a:lumMod val="75000"/>
                  </a:schemeClr>
                </a:solidFill>
              </a:rPr>
              <a:t>intense volcanic activity </a:t>
            </a:r>
            <a:r>
              <a:rPr lang="en-GB" sz="2000" dirty="0"/>
              <a:t>that </a:t>
            </a:r>
            <a:r>
              <a:rPr lang="en-GB" sz="2000" b="1" dirty="0">
                <a:solidFill>
                  <a:schemeClr val="accent6">
                    <a:lumMod val="75000"/>
                  </a:schemeClr>
                </a:solidFill>
              </a:rPr>
              <a:t>released gases </a:t>
            </a:r>
            <a:r>
              <a:rPr lang="en-GB" sz="2000" dirty="0"/>
              <a:t>that formed the early </a:t>
            </a:r>
            <a:r>
              <a:rPr lang="en-GB" sz="2000" dirty="0" smtClean="0"/>
              <a:t>atmosphere consisting </a:t>
            </a:r>
            <a:r>
              <a:rPr lang="en-GB" sz="2000" dirty="0"/>
              <a:t>of mainly </a:t>
            </a:r>
            <a:r>
              <a:rPr lang="en-GB" sz="2000" b="1" dirty="0">
                <a:solidFill>
                  <a:schemeClr val="accent6">
                    <a:lumMod val="75000"/>
                  </a:schemeClr>
                </a:solidFill>
              </a:rPr>
              <a:t>carbon dioxide </a:t>
            </a:r>
            <a:r>
              <a:rPr lang="en-GB" sz="2000" dirty="0"/>
              <a:t>with </a:t>
            </a:r>
            <a:r>
              <a:rPr lang="en-GB" sz="2000" b="1" dirty="0">
                <a:solidFill>
                  <a:schemeClr val="accent6">
                    <a:lumMod val="75000"/>
                  </a:schemeClr>
                </a:solidFill>
              </a:rPr>
              <a:t>little or no oxygen gas</a:t>
            </a:r>
            <a:r>
              <a:rPr lang="en-GB" sz="2000" dirty="0"/>
              <a:t>.</a:t>
            </a:r>
          </a:p>
          <a:p>
            <a:pPr marL="285750" indent="-285750">
              <a:buFont typeface="Arial" panose="020B0604020202020204" pitchFamily="34" charset="0"/>
              <a:buChar char="•"/>
            </a:pPr>
            <a:r>
              <a:rPr lang="en-GB" sz="2000" b="1" dirty="0">
                <a:solidFill>
                  <a:schemeClr val="accent6">
                    <a:lumMod val="75000"/>
                  </a:schemeClr>
                </a:solidFill>
              </a:rPr>
              <a:t>W</a:t>
            </a:r>
            <a:r>
              <a:rPr lang="en-GB" sz="2000" b="1" dirty="0" smtClean="0">
                <a:solidFill>
                  <a:schemeClr val="accent6">
                    <a:lumMod val="75000"/>
                  </a:schemeClr>
                </a:solidFill>
              </a:rPr>
              <a:t>ater </a:t>
            </a:r>
            <a:r>
              <a:rPr lang="en-GB" sz="2000" b="1" dirty="0">
                <a:solidFill>
                  <a:schemeClr val="accent6">
                    <a:lumMod val="75000"/>
                  </a:schemeClr>
                </a:solidFill>
              </a:rPr>
              <a:t>vapour </a:t>
            </a:r>
            <a:r>
              <a:rPr lang="en-GB" sz="2000" b="1" dirty="0" smtClean="0">
                <a:solidFill>
                  <a:schemeClr val="accent6">
                    <a:lumMod val="75000"/>
                  </a:schemeClr>
                </a:solidFill>
              </a:rPr>
              <a:t>condensed </a:t>
            </a:r>
            <a:r>
              <a:rPr lang="en-GB" sz="2000" dirty="0"/>
              <a:t>to form the </a:t>
            </a:r>
            <a:r>
              <a:rPr lang="en-GB" sz="2000" dirty="0" smtClean="0"/>
              <a:t>oceans.</a:t>
            </a:r>
          </a:p>
          <a:p>
            <a:pPr marL="285750" indent="-285750">
              <a:buFont typeface="Arial" panose="020B0604020202020204" pitchFamily="34" charset="0"/>
              <a:buChar char="•"/>
            </a:pPr>
            <a:r>
              <a:rPr lang="en-GB" sz="2000" b="1" dirty="0" smtClean="0">
                <a:solidFill>
                  <a:schemeClr val="accent6">
                    <a:lumMod val="75000"/>
                  </a:schemeClr>
                </a:solidFill>
              </a:rPr>
              <a:t>Volcanoes </a:t>
            </a:r>
            <a:r>
              <a:rPr lang="en-GB" sz="2000" dirty="0"/>
              <a:t>also produced </a:t>
            </a:r>
            <a:r>
              <a:rPr lang="en-GB" sz="2000" b="1" dirty="0">
                <a:solidFill>
                  <a:schemeClr val="accent6">
                    <a:lumMod val="75000"/>
                  </a:schemeClr>
                </a:solidFill>
              </a:rPr>
              <a:t>nitrogen</a:t>
            </a:r>
            <a:r>
              <a:rPr lang="en-GB" sz="2000" dirty="0"/>
              <a:t> which gradually built up in the atmosphere and there may have been small proportions of </a:t>
            </a:r>
            <a:r>
              <a:rPr lang="en-GB" sz="2000" b="1" dirty="0">
                <a:solidFill>
                  <a:schemeClr val="accent6">
                    <a:lumMod val="75000"/>
                  </a:schemeClr>
                </a:solidFill>
              </a:rPr>
              <a:t>methane</a:t>
            </a:r>
            <a:r>
              <a:rPr lang="en-GB" sz="2000" dirty="0"/>
              <a:t> and </a:t>
            </a:r>
            <a:r>
              <a:rPr lang="en-GB" sz="2000" b="1" dirty="0" smtClean="0">
                <a:solidFill>
                  <a:schemeClr val="accent6">
                    <a:lumMod val="75000"/>
                  </a:schemeClr>
                </a:solidFill>
              </a:rPr>
              <a:t>ammonia</a:t>
            </a:r>
            <a:r>
              <a:rPr lang="en-GB" sz="2000" dirty="0" smtClean="0"/>
              <a:t>.</a:t>
            </a:r>
          </a:p>
          <a:p>
            <a:pPr marL="285750" indent="-285750">
              <a:buFont typeface="Arial" panose="020B0604020202020204" pitchFamily="34" charset="0"/>
              <a:buChar char="•"/>
            </a:pPr>
            <a:r>
              <a:rPr lang="en-GB" sz="2000" dirty="0" smtClean="0"/>
              <a:t>When </a:t>
            </a:r>
            <a:r>
              <a:rPr lang="en-GB" sz="2000" dirty="0"/>
              <a:t>the oceans formed, </a:t>
            </a:r>
            <a:r>
              <a:rPr lang="en-GB" sz="2000" b="1" dirty="0">
                <a:solidFill>
                  <a:schemeClr val="accent6">
                    <a:lumMod val="75000"/>
                  </a:schemeClr>
                </a:solidFill>
              </a:rPr>
              <a:t>carbon dioxide dissolved in the water</a:t>
            </a:r>
            <a:r>
              <a:rPr lang="en-GB" sz="2000" dirty="0"/>
              <a:t> and </a:t>
            </a:r>
            <a:r>
              <a:rPr lang="en-GB" sz="2000" b="1" dirty="0">
                <a:solidFill>
                  <a:schemeClr val="accent6">
                    <a:lumMod val="75000"/>
                  </a:schemeClr>
                </a:solidFill>
              </a:rPr>
              <a:t>carbonates</a:t>
            </a:r>
            <a:r>
              <a:rPr lang="en-GB" sz="2000" dirty="0"/>
              <a:t> were </a:t>
            </a:r>
            <a:r>
              <a:rPr lang="en-GB" sz="2000" b="1" dirty="0">
                <a:solidFill>
                  <a:schemeClr val="accent6">
                    <a:lumMod val="75000"/>
                  </a:schemeClr>
                </a:solidFill>
              </a:rPr>
              <a:t>precipitated</a:t>
            </a:r>
            <a:r>
              <a:rPr lang="en-GB" sz="2000" dirty="0"/>
              <a:t> producing sediments, reducing the amount of carbon dioxide in the atmosphere.</a:t>
            </a:r>
          </a:p>
        </p:txBody>
      </p:sp>
      <p:pic>
        <p:nvPicPr>
          <p:cNvPr id="9" name="irc_mi" descr="Related image">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6012160" y="3717032"/>
            <a:ext cx="2695575" cy="2695575"/>
          </a:xfrm>
          <a:prstGeom prst="rect">
            <a:avLst/>
          </a:prstGeom>
          <a:noFill/>
          <a:ln>
            <a:noFill/>
          </a:ln>
        </p:spPr>
      </p:pic>
      <p:sp>
        <p:nvSpPr>
          <p:cNvPr id="10" name="Cloud Callout 9"/>
          <p:cNvSpPr/>
          <p:nvPr/>
        </p:nvSpPr>
        <p:spPr>
          <a:xfrm>
            <a:off x="6835527" y="2286164"/>
            <a:ext cx="1872208" cy="1296144"/>
          </a:xfrm>
          <a:prstGeom prst="cloudCallout">
            <a:avLst>
              <a:gd name="adj1" fmla="val -22748"/>
              <a:gd name="adj2" fmla="val 79099"/>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dirty="0" smtClean="0"/>
              <a:t>CO</a:t>
            </a:r>
            <a:r>
              <a:rPr lang="en-GB" baseline="-25000" dirty="0" smtClean="0"/>
              <a:t>2</a:t>
            </a:r>
            <a:r>
              <a:rPr lang="en-GB" dirty="0" smtClean="0"/>
              <a:t>, N</a:t>
            </a:r>
            <a:r>
              <a:rPr lang="en-GB" baseline="-25000" dirty="0" smtClean="0"/>
              <a:t>2</a:t>
            </a:r>
            <a:r>
              <a:rPr lang="en-GB" dirty="0" smtClean="0"/>
              <a:t>, H</a:t>
            </a:r>
            <a:r>
              <a:rPr lang="en-GB" baseline="-25000" dirty="0" smtClean="0"/>
              <a:t>2</a:t>
            </a:r>
            <a:r>
              <a:rPr lang="en-GB" dirty="0" smtClean="0"/>
              <a:t>O</a:t>
            </a:r>
            <a:endParaRPr lang="en-GB" dirty="0"/>
          </a:p>
        </p:txBody>
      </p:sp>
    </p:spTree>
    <p:extLst>
      <p:ext uri="{BB962C8B-B14F-4D97-AF65-F5344CB8AC3E}">
        <p14:creationId xmlns:p14="http://schemas.microsoft.com/office/powerpoint/2010/main" val="24123166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862870"/>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solidFill>
                  <a:schemeClr val="tx1">
                    <a:lumMod val="50000"/>
                    <a:lumOff val="50000"/>
                  </a:schemeClr>
                </a:solidFill>
              </a:rPr>
              <a:t>The composition and </a:t>
            </a:r>
          </a:p>
          <a:p>
            <a:r>
              <a:rPr lang="en-US" sz="2800" b="1" dirty="0">
                <a:solidFill>
                  <a:schemeClr val="tx1">
                    <a:lumMod val="50000"/>
                    <a:lumOff val="50000"/>
                  </a:schemeClr>
                </a:solidFill>
              </a:rPr>
              <a:t>evolution of the Earth’s</a:t>
            </a:r>
          </a:p>
          <a:p>
            <a:r>
              <a:rPr lang="en-US" sz="2800" b="1" dirty="0">
                <a:solidFill>
                  <a:schemeClr val="tx1">
                    <a:lumMod val="50000"/>
                    <a:lumOff val="50000"/>
                  </a:schemeClr>
                </a:solidFill>
              </a:rPr>
              <a:t>Atmosphere (Part 1)</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The proportion of different </a:t>
            </a:r>
          </a:p>
          <a:p>
            <a:pPr marL="342900" lvl="1"/>
            <a:r>
              <a:rPr lang="en-US" sz="2400" dirty="0">
                <a:solidFill>
                  <a:schemeClr val="tx1">
                    <a:lumMod val="50000"/>
                    <a:lumOff val="50000"/>
                  </a:schemeClr>
                </a:solidFill>
              </a:rPr>
              <a:t>     gases in the atmosphere</a:t>
            </a:r>
          </a:p>
          <a:p>
            <a:pPr marL="685800" lvl="1" indent="-342900">
              <a:buFont typeface="Arial" charset="0"/>
              <a:buChar char="•"/>
            </a:pPr>
            <a:r>
              <a:rPr lang="en-US" sz="2400" dirty="0">
                <a:solidFill>
                  <a:schemeClr val="tx1">
                    <a:lumMod val="50000"/>
                    <a:lumOff val="50000"/>
                  </a:schemeClr>
                </a:solidFill>
              </a:rPr>
              <a:t>The Earth’s early atmosphere</a:t>
            </a:r>
            <a:endParaRPr lang="en-GB" dirty="0">
              <a:solidFill>
                <a:schemeClr val="tx1">
                  <a:lumMod val="50000"/>
                  <a:lumOff val="50000"/>
                </a:schemeClr>
              </a:solidFill>
            </a:endParaRPr>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3956039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0"/>
            <a:ext cx="8172400" cy="657041"/>
          </a:xfrm>
        </p:spPr>
        <p:txBody>
          <a:bodyPr>
            <a:noAutofit/>
          </a:bodyPr>
          <a:lstStyle/>
          <a:p>
            <a:pPr marL="342900" lvl="1" algn="r" defTabSz="342900" rtl="0">
              <a:spcBef>
                <a:spcPct val="20000"/>
              </a:spcBef>
            </a:pPr>
            <a:r>
              <a:rPr lang="en-US" b="1" kern="1200" dirty="0">
                <a:solidFill>
                  <a:schemeClr val="accent6"/>
                </a:solidFill>
                <a:latin typeface="Calibri"/>
                <a:ea typeface=""/>
                <a:cs typeface="News Gothic MT"/>
              </a:rPr>
              <a:t>The composition and evolution of the Earth’s  atmosphere Part 1–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416320"/>
          </a:xfrm>
          <a:prstGeom prst="rect">
            <a:avLst/>
          </a:prstGeom>
          <a:noFill/>
        </p:spPr>
        <p:txBody>
          <a:bodyPr wrap="square" rtlCol="0">
            <a:spAutoFit/>
          </a:bodyPr>
          <a:lstStyle/>
          <a:p>
            <a:pPr marL="457200" indent="-457200">
              <a:buFont typeface="+mj-lt"/>
              <a:buAutoNum type="arabicPeriod"/>
            </a:pPr>
            <a:r>
              <a:rPr lang="en-GB" sz="2400" dirty="0" smtClean="0"/>
              <a:t>Name 4 gases in the Earth’s atmosphere.</a:t>
            </a:r>
          </a:p>
          <a:p>
            <a:pPr marL="457200" indent="-457200">
              <a:buFont typeface="+mj-lt"/>
              <a:buAutoNum type="arabicPeriod"/>
            </a:pPr>
            <a:endParaRPr lang="en-GB" sz="2400" dirty="0" smtClean="0"/>
          </a:p>
          <a:p>
            <a:pPr marL="457200" indent="-457200">
              <a:buFont typeface="+mj-lt"/>
              <a:buAutoNum type="arabicPeriod"/>
            </a:pPr>
            <a:r>
              <a:rPr lang="en-GB" sz="2400" dirty="0" smtClean="0"/>
              <a:t>Give the proportions of gases in the Earth’s atmosphere.</a:t>
            </a:r>
          </a:p>
          <a:p>
            <a:pPr marL="457200" indent="-457200">
              <a:buFont typeface="+mj-lt"/>
              <a:buAutoNum type="arabicPeriod"/>
            </a:pPr>
            <a:endParaRPr lang="en-GB" sz="2400" dirty="0" smtClean="0"/>
          </a:p>
          <a:p>
            <a:pPr marL="457200" indent="-457200">
              <a:buFont typeface="+mj-lt"/>
              <a:buAutoNum type="arabicPeriod"/>
            </a:pPr>
            <a:r>
              <a:rPr lang="en-GB" sz="2400" dirty="0" smtClean="0"/>
              <a:t>Why is evidence for the Earth’s early atmosphere limited?</a:t>
            </a:r>
          </a:p>
          <a:p>
            <a:pPr marL="457200" indent="-457200">
              <a:buFont typeface="+mj-lt"/>
              <a:buAutoNum type="arabicPeriod"/>
            </a:pPr>
            <a:endParaRPr lang="en-GB" sz="2400" dirty="0"/>
          </a:p>
          <a:p>
            <a:pPr marL="457200" indent="-457200">
              <a:buFont typeface="+mj-lt"/>
              <a:buAutoNum type="arabicPeriod"/>
            </a:pPr>
            <a:r>
              <a:rPr lang="en-GB" sz="2400" dirty="0" smtClean="0"/>
              <a:t>What </a:t>
            </a:r>
            <a:r>
              <a:rPr lang="en-GB" sz="2400" dirty="0"/>
              <a:t>gases are believed to have been released from volcanoes </a:t>
            </a:r>
            <a:r>
              <a:rPr lang="en-GB" sz="2400" dirty="0" smtClean="0"/>
              <a:t>during the first billion years of the Earth’s existence?</a:t>
            </a:r>
          </a:p>
          <a:p>
            <a:pPr marL="457200" indent="-457200">
              <a:buFont typeface="+mj-lt"/>
              <a:buAutoNum type="arabicPeriod"/>
            </a:pPr>
            <a:endParaRPr lang="en-GB" sz="2400" dirty="0" smtClean="0"/>
          </a:p>
        </p:txBody>
      </p:sp>
    </p:spTree>
    <p:extLst>
      <p:ext uri="{BB962C8B-B14F-4D97-AF65-F5344CB8AC3E}">
        <p14:creationId xmlns:p14="http://schemas.microsoft.com/office/powerpoint/2010/main" val="2337202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0"/>
            <a:ext cx="8172400" cy="657041"/>
          </a:xfrm>
        </p:spPr>
        <p:txBody>
          <a:bodyPr>
            <a:noAutofit/>
          </a:bodyPr>
          <a:lstStyle/>
          <a:p>
            <a:pPr marL="342900" lvl="1" algn="r" defTabSz="342900" rtl="0">
              <a:spcBef>
                <a:spcPct val="20000"/>
              </a:spcBef>
            </a:pPr>
            <a:r>
              <a:rPr lang="en-US" b="1" kern="1200" dirty="0">
                <a:solidFill>
                  <a:schemeClr val="accent6"/>
                </a:solidFill>
                <a:latin typeface="Calibri"/>
                <a:ea typeface=""/>
                <a:cs typeface="News Gothic MT"/>
              </a:rPr>
              <a:t>The composition and evolution of the Earth’s  atmosphere Part 1–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2677656"/>
          </a:xfrm>
          <a:prstGeom prst="rect">
            <a:avLst/>
          </a:prstGeom>
          <a:noFill/>
        </p:spPr>
        <p:txBody>
          <a:bodyPr wrap="square" rtlCol="0">
            <a:spAutoFit/>
          </a:bodyPr>
          <a:lstStyle/>
          <a:p>
            <a:pPr marL="457200" indent="-457200">
              <a:buFont typeface="+mj-lt"/>
              <a:buAutoNum type="arabicPeriod" startAt="5"/>
            </a:pPr>
            <a:r>
              <a:rPr lang="en-GB" sz="2400" dirty="0" smtClean="0"/>
              <a:t>How did the oceans form?</a:t>
            </a:r>
          </a:p>
          <a:p>
            <a:pPr marL="457200" indent="-457200">
              <a:buFont typeface="+mj-lt"/>
              <a:buAutoNum type="arabicPeriod" startAt="5"/>
            </a:pPr>
            <a:endParaRPr lang="en-GB" sz="2400" dirty="0" smtClean="0"/>
          </a:p>
          <a:p>
            <a:pPr marL="457200" indent="-457200">
              <a:buFont typeface="+mj-lt"/>
              <a:buAutoNum type="arabicPeriod" startAt="5"/>
            </a:pPr>
            <a:r>
              <a:rPr lang="en-GB" sz="2400" dirty="0"/>
              <a:t>Why did the amount of carbon dioxide in the earlier atmosphere decrease</a:t>
            </a:r>
            <a:r>
              <a:rPr lang="en-GB" sz="2400" dirty="0" smtClean="0"/>
              <a:t>?</a:t>
            </a:r>
          </a:p>
          <a:p>
            <a:pPr marL="457200" indent="-457200">
              <a:buFont typeface="+mj-lt"/>
              <a:buAutoNum type="arabicPeriod" startAt="5"/>
            </a:pPr>
            <a:endParaRPr lang="en-GB" sz="2400" dirty="0"/>
          </a:p>
          <a:p>
            <a:pPr marL="457200" indent="-457200">
              <a:buFont typeface="+mj-lt"/>
              <a:buAutoNum type="arabicPeriod" startAt="5"/>
            </a:pPr>
            <a:r>
              <a:rPr lang="en-GB" sz="2400" dirty="0" smtClean="0"/>
              <a:t>What </a:t>
            </a:r>
            <a:r>
              <a:rPr lang="en-GB" sz="2400" dirty="0"/>
              <a:t>gas in the current day atmosphere was not present in the atmosphere </a:t>
            </a:r>
            <a:r>
              <a:rPr lang="en-GB" sz="2400" dirty="0" smtClean="0"/>
              <a:t>4.6 </a:t>
            </a:r>
            <a:r>
              <a:rPr lang="en-GB" sz="2400" dirty="0"/>
              <a:t>billion years ago</a:t>
            </a:r>
            <a:r>
              <a:rPr lang="en-GB" sz="2400" dirty="0"/>
              <a:t>? </a:t>
            </a:r>
            <a:endParaRPr lang="en-GB" sz="2400" dirty="0" smtClean="0"/>
          </a:p>
        </p:txBody>
      </p:sp>
    </p:spTree>
    <p:extLst>
      <p:ext uri="{BB962C8B-B14F-4D97-AF65-F5344CB8AC3E}">
        <p14:creationId xmlns:p14="http://schemas.microsoft.com/office/powerpoint/2010/main" val="25318613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499992" cy="4862870"/>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2800" b="1" dirty="0">
                <a:solidFill>
                  <a:schemeClr val="tx1">
                    <a:lumMod val="50000"/>
                    <a:lumOff val="50000"/>
                  </a:schemeClr>
                </a:solidFill>
              </a:rPr>
              <a:t>The composition and </a:t>
            </a:r>
          </a:p>
          <a:p>
            <a:r>
              <a:rPr lang="en-US" sz="2800" b="1" dirty="0">
                <a:solidFill>
                  <a:schemeClr val="tx1">
                    <a:lumMod val="50000"/>
                    <a:lumOff val="50000"/>
                  </a:schemeClr>
                </a:solidFill>
              </a:rPr>
              <a:t>evolution of the Earth’s</a:t>
            </a:r>
          </a:p>
          <a:p>
            <a:r>
              <a:rPr lang="en-US" sz="2800" b="1" dirty="0">
                <a:solidFill>
                  <a:schemeClr val="tx1">
                    <a:lumMod val="50000"/>
                    <a:lumOff val="50000"/>
                  </a:schemeClr>
                </a:solidFill>
              </a:rPr>
              <a:t>Atmosphere (Part 1)</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The proportion of different </a:t>
            </a:r>
          </a:p>
          <a:p>
            <a:pPr marL="342900" lvl="1"/>
            <a:r>
              <a:rPr lang="en-US" sz="2400" dirty="0">
                <a:solidFill>
                  <a:schemeClr val="tx1">
                    <a:lumMod val="50000"/>
                    <a:lumOff val="50000"/>
                  </a:schemeClr>
                </a:solidFill>
              </a:rPr>
              <a:t>     gases in the atmosphere</a:t>
            </a:r>
          </a:p>
          <a:p>
            <a:pPr marL="685800" lvl="1" indent="-342900">
              <a:buFont typeface="Arial" charset="0"/>
              <a:buChar char="•"/>
            </a:pPr>
            <a:r>
              <a:rPr lang="en-US" sz="2400" dirty="0">
                <a:solidFill>
                  <a:schemeClr val="tx1">
                    <a:lumMod val="50000"/>
                    <a:lumOff val="50000"/>
                  </a:schemeClr>
                </a:solidFill>
              </a:rPr>
              <a:t>The Earth’s early atmosphere</a:t>
            </a:r>
            <a:endParaRPr lang="en-GB" dirty="0">
              <a:solidFill>
                <a:schemeClr val="tx1">
                  <a:lumMod val="50000"/>
                  <a:lumOff val="50000"/>
                </a:schemeClr>
              </a:solidFill>
            </a:endParaRPr>
          </a:p>
        </p:txBody>
      </p:sp>
    </p:spTree>
    <p:extLst>
      <p:ext uri="{BB962C8B-B14F-4D97-AF65-F5344CB8AC3E}">
        <p14:creationId xmlns:p14="http://schemas.microsoft.com/office/powerpoint/2010/main" val="22677837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0"/>
            <a:ext cx="8172400" cy="657041"/>
          </a:xfrm>
        </p:spPr>
        <p:txBody>
          <a:bodyPr>
            <a:noAutofit/>
          </a:bodyPr>
          <a:lstStyle/>
          <a:p>
            <a:pPr marL="342900" lvl="1" algn="r" defTabSz="342900" rtl="0">
              <a:spcBef>
                <a:spcPct val="20000"/>
              </a:spcBef>
            </a:pPr>
            <a:r>
              <a:rPr lang="en-US" b="1" kern="1200" dirty="0">
                <a:solidFill>
                  <a:schemeClr val="accent6"/>
                </a:solidFill>
                <a:latin typeface="Calibri"/>
                <a:ea typeface=""/>
                <a:cs typeface="News Gothic MT"/>
              </a:rPr>
              <a:t>The composition and evolution of the Earth’s  atmosphere Part 1–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154984"/>
          </a:xfrm>
          <a:prstGeom prst="rect">
            <a:avLst/>
          </a:prstGeom>
          <a:noFill/>
        </p:spPr>
        <p:txBody>
          <a:bodyPr wrap="square" rtlCol="0">
            <a:spAutoFit/>
          </a:bodyPr>
          <a:lstStyle/>
          <a:p>
            <a:pPr marL="457200" indent="-457200">
              <a:buFont typeface="+mj-lt"/>
              <a:buAutoNum type="arabicPeriod"/>
            </a:pPr>
            <a:r>
              <a:rPr lang="en-GB" sz="2400" dirty="0" smtClean="0"/>
              <a:t>Name 4 gases in the Earth’s atmosphere.</a:t>
            </a:r>
          </a:p>
          <a:p>
            <a:pPr lvl="1"/>
            <a:r>
              <a:rPr lang="en-GB" sz="2400" dirty="0" smtClean="0">
                <a:solidFill>
                  <a:srgbClr val="00B050"/>
                </a:solidFill>
              </a:rPr>
              <a:t>Nitrogen, oxygen, other gases such as carbon dioxide, water vapour and noble gases.</a:t>
            </a:r>
          </a:p>
          <a:p>
            <a:pPr marL="457200" indent="-457200">
              <a:buFont typeface="+mj-lt"/>
              <a:buAutoNum type="arabicPeriod"/>
            </a:pPr>
            <a:r>
              <a:rPr lang="en-GB" sz="2400" dirty="0" smtClean="0"/>
              <a:t>Give the proportions of gases in the Earth’s atmosphere.</a:t>
            </a:r>
          </a:p>
          <a:p>
            <a:pPr lvl="1"/>
            <a:r>
              <a:rPr lang="en-GB" sz="2400" dirty="0" smtClean="0">
                <a:solidFill>
                  <a:srgbClr val="00B050"/>
                </a:solidFill>
              </a:rPr>
              <a:t>Nitrogen 80%; Oxygen 20%; small proportions of other gases.</a:t>
            </a:r>
          </a:p>
          <a:p>
            <a:pPr marL="457200" indent="-457200">
              <a:buFont typeface="+mj-lt"/>
              <a:buAutoNum type="arabicPeriod"/>
            </a:pPr>
            <a:r>
              <a:rPr lang="en-GB" sz="2400" dirty="0" smtClean="0"/>
              <a:t>Why is evidence for the Earth’s early atmosphere limited?</a:t>
            </a:r>
          </a:p>
          <a:p>
            <a:pPr lvl="1"/>
            <a:r>
              <a:rPr lang="en-GB" sz="2400" dirty="0" smtClean="0">
                <a:solidFill>
                  <a:srgbClr val="00B050"/>
                </a:solidFill>
              </a:rPr>
              <a:t>The timescale of 4.6 billion years.</a:t>
            </a:r>
            <a:endParaRPr lang="en-GB" sz="2400" dirty="0">
              <a:solidFill>
                <a:srgbClr val="00B050"/>
              </a:solidFill>
            </a:endParaRPr>
          </a:p>
          <a:p>
            <a:pPr marL="457200" indent="-457200">
              <a:buFont typeface="+mj-lt"/>
              <a:buAutoNum type="arabicPeriod"/>
            </a:pPr>
            <a:r>
              <a:rPr lang="en-GB" sz="2400" dirty="0" smtClean="0"/>
              <a:t>What </a:t>
            </a:r>
            <a:r>
              <a:rPr lang="en-GB" sz="2400" dirty="0"/>
              <a:t>gases are believed to have been released from volcanoes </a:t>
            </a:r>
            <a:r>
              <a:rPr lang="en-GB" sz="2400" dirty="0" smtClean="0"/>
              <a:t>during the first billion years of the Earth’s existence?</a:t>
            </a:r>
          </a:p>
          <a:p>
            <a:pPr lvl="1"/>
            <a:r>
              <a:rPr lang="en-GB" sz="2400" dirty="0" smtClean="0">
                <a:solidFill>
                  <a:srgbClr val="00B050"/>
                </a:solidFill>
              </a:rPr>
              <a:t>Nitrogen, carbon dioxide, water vapour; small amounts of ammonia and methane.</a:t>
            </a:r>
          </a:p>
        </p:txBody>
      </p:sp>
    </p:spTree>
    <p:extLst>
      <p:ext uri="{BB962C8B-B14F-4D97-AF65-F5344CB8AC3E}">
        <p14:creationId xmlns:p14="http://schemas.microsoft.com/office/powerpoint/2010/main" val="24274573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0"/>
            <a:ext cx="8172400" cy="657041"/>
          </a:xfrm>
        </p:spPr>
        <p:txBody>
          <a:bodyPr>
            <a:noAutofit/>
          </a:bodyPr>
          <a:lstStyle/>
          <a:p>
            <a:pPr marL="342900" lvl="1" algn="r" defTabSz="342900" rtl="0">
              <a:spcBef>
                <a:spcPct val="20000"/>
              </a:spcBef>
            </a:pPr>
            <a:r>
              <a:rPr lang="en-US" b="1" kern="1200" dirty="0">
                <a:solidFill>
                  <a:schemeClr val="accent6"/>
                </a:solidFill>
                <a:latin typeface="Calibri"/>
                <a:ea typeface=""/>
                <a:cs typeface="News Gothic MT"/>
              </a:rPr>
              <a:t>The composition and evolution of the Earth’s  atmosphere Part 1–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indent="-457200">
              <a:buFont typeface="+mj-lt"/>
              <a:buAutoNum type="arabicPeriod" startAt="5"/>
            </a:pPr>
            <a:r>
              <a:rPr lang="en-GB" sz="2400" dirty="0" smtClean="0"/>
              <a:t>How did the oceans form?</a:t>
            </a:r>
          </a:p>
          <a:p>
            <a:pPr lvl="1"/>
            <a:r>
              <a:rPr lang="en-GB" sz="2400" dirty="0" smtClean="0">
                <a:solidFill>
                  <a:srgbClr val="00B050"/>
                </a:solidFill>
              </a:rPr>
              <a:t>Water vapour in the atmosphere condensed.</a:t>
            </a:r>
          </a:p>
          <a:p>
            <a:pPr marL="457200" indent="-457200">
              <a:buFont typeface="+mj-lt"/>
              <a:buAutoNum type="arabicPeriod" startAt="5"/>
            </a:pPr>
            <a:r>
              <a:rPr lang="en-GB" sz="2400" dirty="0"/>
              <a:t>Why did the amount of carbon dioxide in the earlier atmosphere decrease</a:t>
            </a:r>
            <a:r>
              <a:rPr lang="en-GB" sz="2400" dirty="0" smtClean="0"/>
              <a:t>?</a:t>
            </a:r>
          </a:p>
          <a:p>
            <a:pPr lvl="1"/>
            <a:r>
              <a:rPr lang="en-GB" sz="2400" dirty="0" smtClean="0">
                <a:solidFill>
                  <a:srgbClr val="00B050"/>
                </a:solidFill>
              </a:rPr>
              <a:t>When oceans formed carbon dioxide dissolved in the water; carbonates precipitated producing sediments, reducing carbon dioxide in the atmosphere.</a:t>
            </a:r>
            <a:endParaRPr lang="en-GB" sz="2400" dirty="0">
              <a:solidFill>
                <a:srgbClr val="00B050"/>
              </a:solidFill>
            </a:endParaRPr>
          </a:p>
          <a:p>
            <a:pPr marL="457200" indent="-457200">
              <a:buFont typeface="+mj-lt"/>
              <a:buAutoNum type="arabicPeriod" startAt="5"/>
            </a:pPr>
            <a:r>
              <a:rPr lang="en-GB" sz="2400" dirty="0" smtClean="0"/>
              <a:t>What </a:t>
            </a:r>
            <a:r>
              <a:rPr lang="en-GB" sz="2400" dirty="0"/>
              <a:t>gas in the current day atmosphere was not present in the atmosphere </a:t>
            </a:r>
            <a:r>
              <a:rPr lang="en-GB" sz="2400" dirty="0" smtClean="0"/>
              <a:t>4.6 </a:t>
            </a:r>
            <a:r>
              <a:rPr lang="en-GB" sz="2400" dirty="0"/>
              <a:t>billion years ago</a:t>
            </a:r>
            <a:r>
              <a:rPr lang="en-GB" sz="2400" dirty="0"/>
              <a:t>? </a:t>
            </a:r>
            <a:endParaRPr lang="en-GB" sz="2400" dirty="0" smtClean="0"/>
          </a:p>
          <a:p>
            <a:pPr lvl="1"/>
            <a:r>
              <a:rPr lang="en-GB" sz="2400" dirty="0" smtClean="0">
                <a:solidFill>
                  <a:srgbClr val="00B050"/>
                </a:solidFill>
              </a:rPr>
              <a:t>Oxygen.</a:t>
            </a:r>
          </a:p>
        </p:txBody>
      </p:sp>
    </p:spTree>
    <p:extLst>
      <p:ext uri="{BB962C8B-B14F-4D97-AF65-F5344CB8AC3E}">
        <p14:creationId xmlns:p14="http://schemas.microsoft.com/office/powerpoint/2010/main" val="3320107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6232475"/>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400" b="1" dirty="0">
                <a:solidFill>
                  <a:schemeClr val="tx1">
                    <a:lumMod val="50000"/>
                    <a:lumOff val="50000"/>
                  </a:schemeClr>
                </a:solidFill>
              </a:rPr>
              <a:t>The composition and </a:t>
            </a:r>
          </a:p>
          <a:p>
            <a:r>
              <a:rPr lang="en-US" sz="2400" b="1" dirty="0">
                <a:solidFill>
                  <a:schemeClr val="tx1">
                    <a:lumMod val="50000"/>
                    <a:lumOff val="50000"/>
                  </a:schemeClr>
                </a:solidFill>
              </a:rPr>
              <a:t>evolution of the Earth’s</a:t>
            </a:r>
          </a:p>
          <a:p>
            <a:r>
              <a:rPr lang="en-US" sz="2400" b="1" dirty="0">
                <a:solidFill>
                  <a:schemeClr val="tx1">
                    <a:lumMod val="50000"/>
                    <a:lumOff val="50000"/>
                  </a:schemeClr>
                </a:solidFill>
              </a:rPr>
              <a:t>Atmosphere</a:t>
            </a:r>
          </a:p>
          <a:p>
            <a:r>
              <a:rPr lang="en-US" sz="2400" b="1" dirty="0">
                <a:solidFill>
                  <a:schemeClr val="tx1">
                    <a:lumMod val="50000"/>
                    <a:lumOff val="50000"/>
                  </a:schemeClr>
                </a:solidFill>
              </a:rPr>
              <a:t>Part 2</a:t>
            </a:r>
          </a:p>
          <a:p>
            <a:pPr marL="457200" indent="-457200">
              <a:buFont typeface="Arial" charset="0"/>
              <a:buChar char="•"/>
            </a:pPr>
            <a:r>
              <a:rPr lang="en-GB" sz="2400" b="1" dirty="0">
                <a:solidFill>
                  <a:schemeClr val="tx1">
                    <a:lumMod val="50000"/>
                    <a:lumOff val="50000"/>
                  </a:schemeClr>
                </a:solidFill>
              </a:rPr>
              <a:t>How oxygen increased</a:t>
            </a:r>
          </a:p>
          <a:p>
            <a:pPr marL="457200" indent="-457200">
              <a:buFont typeface="Arial" charset="0"/>
              <a:buChar char="•"/>
            </a:pPr>
            <a:r>
              <a:rPr lang="en-GB" sz="2400" b="1" dirty="0">
                <a:solidFill>
                  <a:schemeClr val="tx1">
                    <a:lumMod val="50000"/>
                    <a:lumOff val="50000"/>
                  </a:schemeClr>
                </a:solidFill>
              </a:rPr>
              <a:t>How carbon dioxide decreased</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19105423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How oxygen increased and carbon dioxide decreased</a:t>
            </a:r>
          </a:p>
        </p:txBody>
      </p:sp>
      <p:sp>
        <p:nvSpPr>
          <p:cNvPr id="3" name="TextBox 2"/>
          <p:cNvSpPr txBox="1"/>
          <p:nvPr/>
        </p:nvSpPr>
        <p:spPr>
          <a:xfrm>
            <a:off x="179512" y="836712"/>
            <a:ext cx="8712968" cy="400110"/>
          </a:xfrm>
          <a:prstGeom prst="rect">
            <a:avLst/>
          </a:prstGeom>
          <a:noFill/>
        </p:spPr>
        <p:txBody>
          <a:bodyPr wrap="square" rtlCol="0">
            <a:spAutoFit/>
          </a:bodyPr>
          <a:lstStyle/>
          <a:p>
            <a:r>
              <a:rPr lang="en-GB" sz="2000" dirty="0"/>
              <a:t>Organisms evolved that changed the atmosphere in a significant way. </a:t>
            </a:r>
          </a:p>
        </p:txBody>
      </p:sp>
      <p:sp>
        <p:nvSpPr>
          <p:cNvPr id="4" name="TextBox 3"/>
          <p:cNvSpPr txBox="1"/>
          <p:nvPr/>
        </p:nvSpPr>
        <p:spPr>
          <a:xfrm>
            <a:off x="164826" y="1223983"/>
            <a:ext cx="8712968" cy="1938992"/>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Algae and plants </a:t>
            </a:r>
            <a:r>
              <a:rPr lang="en-GB" sz="2000" dirty="0"/>
              <a:t>produced the </a:t>
            </a:r>
            <a:r>
              <a:rPr lang="en-GB" sz="2000" b="1" dirty="0">
                <a:solidFill>
                  <a:schemeClr val="accent6">
                    <a:lumMod val="75000"/>
                  </a:schemeClr>
                </a:solidFill>
              </a:rPr>
              <a:t>oxygen</a:t>
            </a:r>
            <a:r>
              <a:rPr lang="en-GB" sz="2000" dirty="0"/>
              <a:t> that is now in the atmosphere by </a:t>
            </a:r>
            <a:r>
              <a:rPr lang="en-GB" sz="2000" b="1" dirty="0">
                <a:solidFill>
                  <a:schemeClr val="accent6">
                    <a:lumMod val="75000"/>
                  </a:schemeClr>
                </a:solidFill>
              </a:rPr>
              <a:t>photosynthesis</a:t>
            </a:r>
            <a:r>
              <a:rPr lang="en-GB" sz="2000" dirty="0"/>
              <a:t>, which can be represented by the equation:</a:t>
            </a:r>
          </a:p>
          <a:p>
            <a:endParaRPr lang="en-GB" sz="2000" dirty="0"/>
          </a:p>
          <a:p>
            <a:r>
              <a:rPr lang="en-GB" sz="2000" dirty="0"/>
              <a:t>		6CO</a:t>
            </a:r>
            <a:r>
              <a:rPr lang="en-GB" sz="2000" baseline="-25000" dirty="0"/>
              <a:t>2</a:t>
            </a:r>
            <a:r>
              <a:rPr lang="en-GB" sz="2000" dirty="0"/>
              <a:t>  +  6H</a:t>
            </a:r>
            <a:r>
              <a:rPr lang="en-GB" sz="2000" baseline="-25000" dirty="0"/>
              <a:t>2</a:t>
            </a:r>
            <a:r>
              <a:rPr lang="en-GB" sz="2000" dirty="0"/>
              <a:t>O                          C</a:t>
            </a:r>
            <a:r>
              <a:rPr lang="en-GB" sz="2000" baseline="-25000" dirty="0"/>
              <a:t>6</a:t>
            </a:r>
            <a:r>
              <a:rPr lang="en-GB" sz="2000" dirty="0"/>
              <a:t>H</a:t>
            </a:r>
            <a:r>
              <a:rPr lang="en-GB" sz="2000" baseline="-25000" dirty="0"/>
              <a:t>12</a:t>
            </a:r>
            <a:r>
              <a:rPr lang="en-GB" sz="2000" dirty="0"/>
              <a:t>O</a:t>
            </a:r>
            <a:r>
              <a:rPr lang="en-GB" sz="2000" baseline="-25000" dirty="0"/>
              <a:t>6</a:t>
            </a:r>
            <a:r>
              <a:rPr lang="en-GB" sz="2000" dirty="0"/>
              <a:t>  +  6O</a:t>
            </a:r>
            <a:r>
              <a:rPr lang="en-GB" sz="2000" baseline="-25000" dirty="0"/>
              <a:t>2</a:t>
            </a:r>
          </a:p>
          <a:p>
            <a:endParaRPr lang="en-GB" sz="2000" dirty="0"/>
          </a:p>
          <a:p>
            <a:r>
              <a:rPr lang="en-GB" sz="2000" dirty="0"/>
              <a:t>	Carbon dioxide  +  water                        glucose  +  oxygen</a:t>
            </a:r>
          </a:p>
        </p:txBody>
      </p:sp>
      <p:cxnSp>
        <p:nvCxnSpPr>
          <p:cNvPr id="6" name="Straight Arrow Connector 5"/>
          <p:cNvCxnSpPr/>
          <p:nvPr/>
        </p:nvCxnSpPr>
        <p:spPr>
          <a:xfrm>
            <a:off x="3779912" y="2348880"/>
            <a:ext cx="9361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3818776" y="2934236"/>
            <a:ext cx="9361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746768" y="2575067"/>
            <a:ext cx="936104" cy="369332"/>
          </a:xfrm>
          <a:prstGeom prst="rect">
            <a:avLst/>
          </a:prstGeom>
          <a:noFill/>
        </p:spPr>
        <p:txBody>
          <a:bodyPr wrap="square" rtlCol="0">
            <a:spAutoFit/>
          </a:bodyPr>
          <a:lstStyle/>
          <a:p>
            <a:r>
              <a:rPr lang="en-GB" dirty="0"/>
              <a:t>   light</a:t>
            </a:r>
          </a:p>
        </p:txBody>
      </p:sp>
      <p:sp>
        <p:nvSpPr>
          <p:cNvPr id="9" name="TextBox 8"/>
          <p:cNvSpPr txBox="1"/>
          <p:nvPr/>
        </p:nvSpPr>
        <p:spPr>
          <a:xfrm>
            <a:off x="179512" y="3162975"/>
            <a:ext cx="8712968" cy="1323439"/>
          </a:xfrm>
          <a:prstGeom prst="rect">
            <a:avLst/>
          </a:prstGeom>
          <a:noFill/>
          <a:ln w="28575">
            <a:solidFill>
              <a:schemeClr val="accent6"/>
            </a:solidFill>
          </a:ln>
        </p:spPr>
        <p:txBody>
          <a:bodyPr wrap="square" rtlCol="0">
            <a:spAutoFit/>
          </a:bodyPr>
          <a:lstStyle/>
          <a:p>
            <a:r>
              <a:rPr lang="en-GB" sz="2000" dirty="0"/>
              <a:t>Algae first produced oxygen about 2.7 billion years ago and soon after this oxygen appeared in the atmosphere. Over the next billion years plants evolved and the percentage of oxygen gradually increased to a level that enabled animals to evolve.</a:t>
            </a:r>
          </a:p>
        </p:txBody>
      </p:sp>
      <p:sp>
        <p:nvSpPr>
          <p:cNvPr id="5" name="TextBox 4"/>
          <p:cNvSpPr txBox="1"/>
          <p:nvPr/>
        </p:nvSpPr>
        <p:spPr>
          <a:xfrm>
            <a:off x="179512" y="4486414"/>
            <a:ext cx="8712968" cy="1015663"/>
          </a:xfrm>
          <a:prstGeom prst="rect">
            <a:avLst/>
          </a:prstGeom>
          <a:noFill/>
          <a:ln w="28575">
            <a:solidFill>
              <a:schemeClr val="accent6"/>
            </a:solidFill>
          </a:ln>
        </p:spPr>
        <p:txBody>
          <a:bodyPr wrap="square" rtlCol="0">
            <a:spAutoFit/>
          </a:bodyPr>
          <a:lstStyle/>
          <a:p>
            <a:r>
              <a:rPr lang="en-GB" sz="2000" dirty="0"/>
              <a:t>Algae and plants</a:t>
            </a:r>
            <a:r>
              <a:rPr lang="en-GB" sz="2000" b="1" dirty="0"/>
              <a:t> </a:t>
            </a:r>
            <a:r>
              <a:rPr lang="en-GB" sz="2000" b="1" dirty="0">
                <a:solidFill>
                  <a:schemeClr val="accent6">
                    <a:lumMod val="75000"/>
                  </a:schemeClr>
                </a:solidFill>
              </a:rPr>
              <a:t>decreased</a:t>
            </a:r>
            <a:r>
              <a:rPr lang="en-GB" sz="2000" b="1" dirty="0"/>
              <a:t> </a:t>
            </a:r>
            <a:r>
              <a:rPr lang="en-GB" sz="2000" dirty="0"/>
              <a:t>the percentage of </a:t>
            </a:r>
            <a:r>
              <a:rPr lang="en-GB" sz="2000" b="1" dirty="0">
                <a:solidFill>
                  <a:schemeClr val="accent6">
                    <a:lumMod val="75000"/>
                  </a:schemeClr>
                </a:solidFill>
              </a:rPr>
              <a:t>carbon dioxide </a:t>
            </a:r>
            <a:r>
              <a:rPr lang="en-GB" sz="2000" dirty="0"/>
              <a:t>in the atmosphere by </a:t>
            </a:r>
            <a:r>
              <a:rPr lang="en-GB" sz="2000" b="1" dirty="0" smtClean="0">
                <a:solidFill>
                  <a:schemeClr val="accent6">
                    <a:lumMod val="75000"/>
                  </a:schemeClr>
                </a:solidFill>
              </a:rPr>
              <a:t>photosynthesis</a:t>
            </a:r>
            <a:r>
              <a:rPr lang="en-GB" sz="2000" dirty="0" smtClean="0"/>
              <a:t>. Carbon </a:t>
            </a:r>
            <a:r>
              <a:rPr lang="en-GB" sz="2000" dirty="0"/>
              <a:t>dioxide was also decreased by the formation of </a:t>
            </a:r>
            <a:r>
              <a:rPr lang="en-GB" sz="2000" b="1" dirty="0">
                <a:solidFill>
                  <a:schemeClr val="accent6">
                    <a:lumMod val="75000"/>
                  </a:schemeClr>
                </a:solidFill>
              </a:rPr>
              <a:t>sedimentary rocks </a:t>
            </a:r>
            <a:r>
              <a:rPr lang="en-GB" sz="2000" dirty="0"/>
              <a:t>and </a:t>
            </a:r>
            <a:r>
              <a:rPr lang="en-GB" sz="2000" b="1" dirty="0">
                <a:solidFill>
                  <a:schemeClr val="accent6">
                    <a:lumMod val="75000"/>
                  </a:schemeClr>
                </a:solidFill>
              </a:rPr>
              <a:t>fossil fuels </a:t>
            </a:r>
            <a:r>
              <a:rPr lang="en-GB" sz="2000" dirty="0"/>
              <a:t>that contain carbon.</a:t>
            </a:r>
          </a:p>
        </p:txBody>
      </p:sp>
      <p:sp>
        <p:nvSpPr>
          <p:cNvPr id="10" name="TextBox 9"/>
          <p:cNvSpPr txBox="1"/>
          <p:nvPr/>
        </p:nvSpPr>
        <p:spPr>
          <a:xfrm>
            <a:off x="179512" y="5513477"/>
            <a:ext cx="8712968" cy="1015663"/>
          </a:xfrm>
          <a:prstGeom prst="rect">
            <a:avLst/>
          </a:prstGeom>
          <a:solidFill>
            <a:schemeClr val="accent6"/>
          </a:solidFill>
          <a:ln w="28575">
            <a:solidFill>
              <a:schemeClr val="tx1"/>
            </a:solidFill>
          </a:ln>
        </p:spPr>
        <p:txBody>
          <a:bodyPr wrap="square" rtlCol="0">
            <a:spAutoFit/>
          </a:bodyPr>
          <a:lstStyle/>
          <a:p>
            <a:pPr algn="ctr"/>
            <a:r>
              <a:rPr lang="en-GB" sz="2000" dirty="0"/>
              <a:t>Oxygen increases due to photosynthesis.</a:t>
            </a:r>
          </a:p>
          <a:p>
            <a:pPr algn="ctr"/>
            <a:r>
              <a:rPr lang="en-GB" sz="2000" dirty="0"/>
              <a:t>Carbon dioxide decreases due to photosynthesis, formation of sedimentary rocks and fossil fuels.</a:t>
            </a:r>
          </a:p>
        </p:txBody>
      </p:sp>
    </p:spTree>
    <p:extLst>
      <p:ext uri="{BB962C8B-B14F-4D97-AF65-F5344CB8AC3E}">
        <p14:creationId xmlns:p14="http://schemas.microsoft.com/office/powerpoint/2010/main" val="15288575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047536"/>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solidFill>
                  <a:schemeClr val="tx1">
                    <a:lumMod val="50000"/>
                    <a:lumOff val="50000"/>
                  </a:schemeClr>
                </a:solidFill>
              </a:rPr>
              <a:t>The composition and </a:t>
            </a:r>
          </a:p>
          <a:p>
            <a:r>
              <a:rPr lang="en-US" sz="2800" b="1" dirty="0">
                <a:solidFill>
                  <a:schemeClr val="tx1">
                    <a:lumMod val="50000"/>
                    <a:lumOff val="50000"/>
                  </a:schemeClr>
                </a:solidFill>
              </a:rPr>
              <a:t>evolution of the Earth’s</a:t>
            </a:r>
          </a:p>
          <a:p>
            <a:r>
              <a:rPr lang="en-US" sz="2800" b="1" dirty="0">
                <a:solidFill>
                  <a:schemeClr val="tx1">
                    <a:lumMod val="50000"/>
                    <a:lumOff val="50000"/>
                  </a:schemeClr>
                </a:solidFill>
              </a:rPr>
              <a:t>Atmosphere</a:t>
            </a:r>
          </a:p>
          <a:p>
            <a:r>
              <a:rPr lang="en-US" sz="2800" b="1" dirty="0">
                <a:solidFill>
                  <a:schemeClr val="tx1">
                    <a:lumMod val="50000"/>
                    <a:lumOff val="50000"/>
                  </a:schemeClr>
                </a:solidFill>
              </a:rPr>
              <a:t>Part 2</a:t>
            </a:r>
          </a:p>
          <a:p>
            <a:pPr marL="457200" indent="-457200">
              <a:buFont typeface="Arial" charset="0"/>
              <a:buChar char="•"/>
            </a:pPr>
            <a:r>
              <a:rPr lang="en-GB" sz="2800" b="1" dirty="0">
                <a:solidFill>
                  <a:schemeClr val="tx1">
                    <a:lumMod val="50000"/>
                    <a:lumOff val="50000"/>
                  </a:schemeClr>
                </a:solidFill>
              </a:rPr>
              <a:t>How oxygen increased</a:t>
            </a:r>
          </a:p>
          <a:p>
            <a:pPr marL="457200" indent="-457200">
              <a:buFont typeface="Arial" charset="0"/>
              <a:buChar char="•"/>
            </a:pPr>
            <a:r>
              <a:rPr lang="en-GB" sz="2800" b="1" dirty="0">
                <a:solidFill>
                  <a:schemeClr val="tx1">
                    <a:lumMod val="50000"/>
                    <a:lumOff val="50000"/>
                  </a:schemeClr>
                </a:solidFill>
              </a:rPr>
              <a:t>How carbon dioxide decreased</a:t>
            </a:r>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0952608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dirty="0">
                <a:solidFill>
                  <a:schemeClr val="accent6"/>
                </a:solidFill>
              </a:rPr>
              <a:t>How oxygen increased and carbon dioxide decreased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pPr marL="457200" indent="-457200">
              <a:buFont typeface="+mj-lt"/>
              <a:buAutoNum type="arabicPeriod"/>
            </a:pPr>
            <a:r>
              <a:rPr lang="en-GB" sz="2400" dirty="0" smtClean="0"/>
              <a:t>What </a:t>
            </a:r>
            <a:r>
              <a:rPr lang="en-GB" sz="2400" dirty="0"/>
              <a:t>organisms increased the amount of oxygen in the Earth’s atmosphere</a:t>
            </a:r>
            <a:r>
              <a:rPr lang="en-GB" sz="2400" dirty="0" smtClean="0"/>
              <a:t>?</a:t>
            </a:r>
          </a:p>
          <a:p>
            <a:pPr marL="457200" indent="-457200">
              <a:buFont typeface="+mj-lt"/>
              <a:buAutoNum type="arabicPeriod"/>
            </a:pPr>
            <a:endParaRPr lang="en-GB" sz="2400" dirty="0">
              <a:solidFill>
                <a:srgbClr val="00B050"/>
              </a:solidFill>
            </a:endParaRPr>
          </a:p>
          <a:p>
            <a:pPr marL="457200" indent="-457200">
              <a:buFont typeface="+mj-lt"/>
              <a:buAutoNum type="arabicPeriod"/>
            </a:pPr>
            <a:r>
              <a:rPr lang="en-GB" sz="2400" dirty="0" smtClean="0"/>
              <a:t>Write </a:t>
            </a:r>
            <a:r>
              <a:rPr lang="en-GB" sz="2400" dirty="0"/>
              <a:t>the balanced symbol equation for photosynthesis</a:t>
            </a:r>
            <a:r>
              <a:rPr lang="en-GB" sz="2400" dirty="0" smtClean="0"/>
              <a:t>.</a:t>
            </a:r>
          </a:p>
          <a:p>
            <a:pPr marL="457200" indent="-457200">
              <a:buFont typeface="+mj-lt"/>
              <a:buAutoNum type="arabicPeriod"/>
            </a:pPr>
            <a:endParaRPr lang="en-GB" sz="2400" dirty="0" smtClean="0"/>
          </a:p>
          <a:p>
            <a:pPr marL="457200" indent="-457200">
              <a:buFont typeface="+mj-lt"/>
              <a:buAutoNum type="arabicPeriod"/>
            </a:pPr>
            <a:r>
              <a:rPr lang="en-GB" sz="2400" dirty="0" smtClean="0"/>
              <a:t>When did oxygen first start appearing in the atmosphere and which organism was responsible?</a:t>
            </a:r>
          </a:p>
          <a:p>
            <a:pPr marL="457200" indent="-457200">
              <a:buFont typeface="+mj-lt"/>
              <a:buAutoNum type="arabicPeriod"/>
            </a:pPr>
            <a:endParaRPr lang="en-GB" sz="2400" dirty="0"/>
          </a:p>
          <a:p>
            <a:pPr marL="457200" indent="-457200">
              <a:buFont typeface="+mj-lt"/>
              <a:buAutoNum type="arabicPeriod"/>
            </a:pPr>
            <a:r>
              <a:rPr lang="en-GB" sz="2400" dirty="0" smtClean="0"/>
              <a:t>Other </a:t>
            </a:r>
            <a:r>
              <a:rPr lang="en-GB" sz="2400" dirty="0"/>
              <a:t>than photosynthesis what other factors decreased the level of carbon dioxide in the atmosphere</a:t>
            </a:r>
            <a:r>
              <a:rPr lang="en-GB" sz="2400" dirty="0" smtClean="0"/>
              <a:t>?</a:t>
            </a:r>
          </a:p>
          <a:p>
            <a:pPr marL="457200" indent="-457200">
              <a:buFont typeface="+mj-lt"/>
              <a:buAutoNum type="arabicPeriod"/>
            </a:pPr>
            <a:endParaRPr lang="en-GB" sz="2400" dirty="0" smtClean="0"/>
          </a:p>
          <a:p>
            <a:pPr marL="457200" indent="-457200">
              <a:buFont typeface="+mj-lt"/>
              <a:buAutoNum type="arabicPeriod"/>
            </a:pPr>
            <a:r>
              <a:rPr lang="en-GB" sz="2400" dirty="0" smtClean="0"/>
              <a:t>Describe the main changes to the atmosphere over time and the likely causes of these changes.</a:t>
            </a:r>
            <a:endParaRPr lang="en-GB" sz="2400" dirty="0"/>
          </a:p>
        </p:txBody>
      </p:sp>
    </p:spTree>
    <p:extLst>
      <p:ext uri="{BB962C8B-B14F-4D97-AF65-F5344CB8AC3E}">
        <p14:creationId xmlns:p14="http://schemas.microsoft.com/office/powerpoint/2010/main" val="4781669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693866"/>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2800" b="1" dirty="0">
                <a:solidFill>
                  <a:schemeClr val="tx1">
                    <a:lumMod val="50000"/>
                    <a:lumOff val="50000"/>
                  </a:schemeClr>
                </a:solidFill>
              </a:rPr>
              <a:t>The composition and </a:t>
            </a:r>
          </a:p>
          <a:p>
            <a:r>
              <a:rPr lang="en-US" sz="2800" b="1" dirty="0">
                <a:solidFill>
                  <a:schemeClr val="tx1">
                    <a:lumMod val="50000"/>
                    <a:lumOff val="50000"/>
                  </a:schemeClr>
                </a:solidFill>
              </a:rPr>
              <a:t>evolution of the Earth’s</a:t>
            </a:r>
          </a:p>
          <a:p>
            <a:r>
              <a:rPr lang="en-US" sz="2800" b="1" dirty="0">
                <a:solidFill>
                  <a:schemeClr val="tx1">
                    <a:lumMod val="50000"/>
                    <a:lumOff val="50000"/>
                  </a:schemeClr>
                </a:solidFill>
              </a:rPr>
              <a:t>Atmosphere</a:t>
            </a:r>
          </a:p>
          <a:p>
            <a:r>
              <a:rPr lang="en-US" sz="2800" b="1" dirty="0">
                <a:solidFill>
                  <a:schemeClr val="tx1">
                    <a:lumMod val="50000"/>
                    <a:lumOff val="50000"/>
                  </a:schemeClr>
                </a:solidFill>
              </a:rPr>
              <a:t>Part 2</a:t>
            </a:r>
          </a:p>
          <a:p>
            <a:pPr marL="457200" indent="-457200">
              <a:lnSpc>
                <a:spcPct val="150000"/>
              </a:lnSpc>
              <a:buFont typeface="Arial" charset="0"/>
              <a:buChar char="•"/>
            </a:pPr>
            <a:r>
              <a:rPr lang="en-GB" sz="2800" b="1" dirty="0">
                <a:solidFill>
                  <a:schemeClr val="tx1">
                    <a:lumMod val="50000"/>
                    <a:lumOff val="50000"/>
                  </a:schemeClr>
                </a:solidFill>
              </a:rPr>
              <a:t>How oxygen increased</a:t>
            </a:r>
          </a:p>
          <a:p>
            <a:pPr marL="457200" indent="-457200">
              <a:lnSpc>
                <a:spcPct val="150000"/>
              </a:lnSpc>
              <a:buFont typeface="Arial" charset="0"/>
              <a:buChar char="•"/>
            </a:pPr>
            <a:r>
              <a:rPr lang="en-GB" sz="2800" b="1" dirty="0">
                <a:solidFill>
                  <a:schemeClr val="tx1">
                    <a:lumMod val="50000"/>
                    <a:lumOff val="50000"/>
                  </a:schemeClr>
                </a:solidFill>
              </a:rPr>
              <a:t>How carbon dioxide decreased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31993506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dirty="0">
                <a:solidFill>
                  <a:schemeClr val="accent6"/>
                </a:solidFill>
              </a:rPr>
              <a:t>How oxygen increased and carbon dioxide decreased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buFont typeface="+mj-lt"/>
              <a:buAutoNum type="arabicPeriod"/>
            </a:pPr>
            <a:r>
              <a:rPr lang="en-GB" sz="2400" dirty="0" smtClean="0"/>
              <a:t>What </a:t>
            </a:r>
            <a:r>
              <a:rPr lang="en-GB" sz="2400" dirty="0"/>
              <a:t>organisms increased the amount of oxygen in the Earth’s atmosphere</a:t>
            </a:r>
            <a:r>
              <a:rPr lang="en-GB" sz="2400" dirty="0" smtClean="0"/>
              <a:t>?</a:t>
            </a:r>
          </a:p>
          <a:p>
            <a:pPr lvl="1"/>
            <a:r>
              <a:rPr lang="en-GB" sz="2400" dirty="0" smtClean="0">
                <a:solidFill>
                  <a:srgbClr val="00B050"/>
                </a:solidFill>
              </a:rPr>
              <a:t>Algae and plants.</a:t>
            </a:r>
            <a:endParaRPr lang="en-GB" sz="2400" dirty="0">
              <a:solidFill>
                <a:srgbClr val="00B050"/>
              </a:solidFill>
            </a:endParaRPr>
          </a:p>
          <a:p>
            <a:pPr marL="457200" indent="-457200">
              <a:buFont typeface="+mj-lt"/>
              <a:buAutoNum type="arabicPeriod"/>
            </a:pPr>
            <a:r>
              <a:rPr lang="en-GB" sz="2400" dirty="0" smtClean="0"/>
              <a:t>Write </a:t>
            </a:r>
            <a:r>
              <a:rPr lang="en-GB" sz="2400" dirty="0"/>
              <a:t>the balanced symbol equation for photosynthesis</a:t>
            </a:r>
            <a:r>
              <a:rPr lang="en-GB" sz="2400" dirty="0" smtClean="0"/>
              <a:t>.</a:t>
            </a:r>
          </a:p>
          <a:p>
            <a:pPr lvl="1" algn="ctr"/>
            <a:r>
              <a:rPr lang="en-GB" sz="2400" dirty="0">
                <a:solidFill>
                  <a:srgbClr val="00B050"/>
                </a:solidFill>
              </a:rPr>
              <a:t>6CO</a:t>
            </a:r>
            <a:r>
              <a:rPr lang="en-GB" sz="2400" baseline="-25000" dirty="0">
                <a:solidFill>
                  <a:srgbClr val="00B050"/>
                </a:solidFill>
              </a:rPr>
              <a:t>2</a:t>
            </a:r>
            <a:r>
              <a:rPr lang="en-GB" sz="2400" dirty="0">
                <a:solidFill>
                  <a:srgbClr val="00B050"/>
                </a:solidFill>
              </a:rPr>
              <a:t>  +  6H</a:t>
            </a:r>
            <a:r>
              <a:rPr lang="en-GB" sz="2400" baseline="-25000" dirty="0">
                <a:solidFill>
                  <a:srgbClr val="00B050"/>
                </a:solidFill>
              </a:rPr>
              <a:t>2</a:t>
            </a:r>
            <a:r>
              <a:rPr lang="en-GB" sz="2400" dirty="0">
                <a:solidFill>
                  <a:srgbClr val="00B050"/>
                </a:solidFill>
              </a:rPr>
              <a:t>O                          C</a:t>
            </a:r>
            <a:r>
              <a:rPr lang="en-GB" sz="2400" baseline="-25000" dirty="0">
                <a:solidFill>
                  <a:srgbClr val="00B050"/>
                </a:solidFill>
              </a:rPr>
              <a:t>6</a:t>
            </a:r>
            <a:r>
              <a:rPr lang="en-GB" sz="2400" dirty="0">
                <a:solidFill>
                  <a:srgbClr val="00B050"/>
                </a:solidFill>
              </a:rPr>
              <a:t>H</a:t>
            </a:r>
            <a:r>
              <a:rPr lang="en-GB" sz="2400" baseline="-25000" dirty="0">
                <a:solidFill>
                  <a:srgbClr val="00B050"/>
                </a:solidFill>
              </a:rPr>
              <a:t>12</a:t>
            </a:r>
            <a:r>
              <a:rPr lang="en-GB" sz="2400" dirty="0">
                <a:solidFill>
                  <a:srgbClr val="00B050"/>
                </a:solidFill>
              </a:rPr>
              <a:t>O</a:t>
            </a:r>
            <a:r>
              <a:rPr lang="en-GB" sz="2400" baseline="-25000" dirty="0">
                <a:solidFill>
                  <a:srgbClr val="00B050"/>
                </a:solidFill>
              </a:rPr>
              <a:t>6</a:t>
            </a:r>
            <a:r>
              <a:rPr lang="en-GB" sz="2400" dirty="0">
                <a:solidFill>
                  <a:srgbClr val="00B050"/>
                </a:solidFill>
              </a:rPr>
              <a:t>  +  6O</a:t>
            </a:r>
            <a:r>
              <a:rPr lang="en-GB" sz="2400" baseline="-25000" dirty="0">
                <a:solidFill>
                  <a:srgbClr val="00B050"/>
                </a:solidFill>
              </a:rPr>
              <a:t>2 </a:t>
            </a:r>
            <a:endParaRPr lang="en-GB" sz="2400" dirty="0" smtClean="0"/>
          </a:p>
          <a:p>
            <a:pPr marL="457200" indent="-457200">
              <a:buFont typeface="+mj-lt"/>
              <a:buAutoNum type="arabicPeriod"/>
            </a:pPr>
            <a:r>
              <a:rPr lang="en-GB" sz="2400" dirty="0" smtClean="0"/>
              <a:t>When did oxygen first start appearing in the atmosphere and which organism was responsible?</a:t>
            </a:r>
          </a:p>
          <a:p>
            <a:pPr lvl="1"/>
            <a:r>
              <a:rPr lang="en-GB" sz="2400" dirty="0" smtClean="0">
                <a:solidFill>
                  <a:srgbClr val="00B050"/>
                </a:solidFill>
              </a:rPr>
              <a:t>2.7 billion years ago; algae.</a:t>
            </a:r>
            <a:endParaRPr lang="en-GB" sz="2400" dirty="0">
              <a:solidFill>
                <a:srgbClr val="00B050"/>
              </a:solidFill>
            </a:endParaRPr>
          </a:p>
          <a:p>
            <a:pPr marL="457200" indent="-457200">
              <a:buFont typeface="+mj-lt"/>
              <a:buAutoNum type="arabicPeriod"/>
            </a:pPr>
            <a:r>
              <a:rPr lang="en-GB" sz="2400" dirty="0" smtClean="0"/>
              <a:t>Other </a:t>
            </a:r>
            <a:r>
              <a:rPr lang="en-GB" sz="2400" dirty="0"/>
              <a:t>than photosynthesis what other factors decreased the level of carbon dioxide in the atmosphere</a:t>
            </a:r>
            <a:r>
              <a:rPr lang="en-GB" sz="2400" dirty="0" smtClean="0"/>
              <a:t>?</a:t>
            </a:r>
          </a:p>
          <a:p>
            <a:pPr lvl="1"/>
            <a:r>
              <a:rPr lang="en-GB" sz="2400" dirty="0" smtClean="0">
                <a:solidFill>
                  <a:srgbClr val="00B050"/>
                </a:solidFill>
              </a:rPr>
              <a:t>Formation of sedimentary rocks and fossil fuels (natural gas, oil, coal).</a:t>
            </a:r>
          </a:p>
        </p:txBody>
      </p:sp>
      <p:cxnSp>
        <p:nvCxnSpPr>
          <p:cNvPr id="5" name="Straight Arrow Connector 4"/>
          <p:cNvCxnSpPr/>
          <p:nvPr/>
        </p:nvCxnSpPr>
        <p:spPr>
          <a:xfrm>
            <a:off x="4139952" y="2420888"/>
            <a:ext cx="1152128" cy="0"/>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66965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dirty="0">
                <a:solidFill>
                  <a:schemeClr val="accent6"/>
                </a:solidFill>
              </a:rPr>
              <a:t>How oxygen increased and carbon dioxide decreased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001643"/>
          </a:xfrm>
          <a:prstGeom prst="rect">
            <a:avLst/>
          </a:prstGeom>
          <a:noFill/>
        </p:spPr>
        <p:txBody>
          <a:bodyPr wrap="square" rtlCol="0">
            <a:spAutoFit/>
          </a:bodyPr>
          <a:lstStyle/>
          <a:p>
            <a:pPr marL="457200" indent="-457200">
              <a:buFont typeface="+mj-lt"/>
              <a:buAutoNum type="arabicPeriod" startAt="5"/>
            </a:pPr>
            <a:r>
              <a:rPr lang="en-GB" sz="2400" dirty="0" smtClean="0"/>
              <a:t>Describe the main changes to the atmosphere over time and the likely causes of these changes.</a:t>
            </a:r>
            <a:endParaRPr lang="en-GB" sz="2400" dirty="0">
              <a:solidFill>
                <a:srgbClr val="00B050"/>
              </a:solidFill>
            </a:endParaRPr>
          </a:p>
          <a:p>
            <a:pPr marL="800100" lvl="1" indent="-342900">
              <a:buFont typeface="Arial" panose="020B0604020202020204" pitchFamily="34" charset="0"/>
              <a:buChar char="•"/>
            </a:pPr>
            <a:r>
              <a:rPr lang="en-GB" sz="2400" dirty="0" smtClean="0">
                <a:solidFill>
                  <a:srgbClr val="00B050"/>
                </a:solidFill>
              </a:rPr>
              <a:t>Intense volcanic activity – water vapour, carbon dioxide, nitrogen, ammonia, methane released.</a:t>
            </a:r>
          </a:p>
          <a:p>
            <a:pPr marL="800100" lvl="1" indent="-342900">
              <a:buFont typeface="Arial" panose="020B0604020202020204" pitchFamily="34" charset="0"/>
              <a:buChar char="•"/>
            </a:pPr>
            <a:r>
              <a:rPr lang="en-GB" sz="2400" dirty="0" smtClean="0">
                <a:solidFill>
                  <a:srgbClr val="00B050"/>
                </a:solidFill>
              </a:rPr>
              <a:t>Water vapour condensed to form oceans.</a:t>
            </a:r>
          </a:p>
          <a:p>
            <a:pPr marL="800100" lvl="1" indent="-342900">
              <a:buFont typeface="Arial" panose="020B0604020202020204" pitchFamily="34" charset="0"/>
              <a:buChar char="•"/>
            </a:pPr>
            <a:r>
              <a:rPr lang="en-GB" sz="2400" dirty="0" smtClean="0">
                <a:solidFill>
                  <a:srgbClr val="00B050"/>
                </a:solidFill>
              </a:rPr>
              <a:t>Atmosphere mostly carbon dioxide; nitrogen slowly building up over time.</a:t>
            </a:r>
          </a:p>
          <a:p>
            <a:pPr marL="800100" lvl="1" indent="-342900">
              <a:buFont typeface="Arial" panose="020B0604020202020204" pitchFamily="34" charset="0"/>
              <a:buChar char="•"/>
            </a:pPr>
            <a:r>
              <a:rPr lang="en-GB" sz="2400" dirty="0" smtClean="0">
                <a:solidFill>
                  <a:srgbClr val="00B050"/>
                </a:solidFill>
              </a:rPr>
              <a:t>Carbon dioxide dissolved in oceans; carbonates precipitated producing sediments. Carbon dioxide levels in atmosphere drop.</a:t>
            </a:r>
          </a:p>
          <a:p>
            <a:pPr marL="800100" lvl="1" indent="-342900">
              <a:buFont typeface="Arial" panose="020B0604020202020204" pitchFamily="34" charset="0"/>
              <a:buChar char="•"/>
            </a:pPr>
            <a:r>
              <a:rPr lang="en-GB" sz="2400" dirty="0" smtClean="0">
                <a:solidFill>
                  <a:srgbClr val="00B050"/>
                </a:solidFill>
              </a:rPr>
              <a:t>Photosynthesis – algae produce oxygen. </a:t>
            </a:r>
            <a:endParaRPr lang="en-GB" sz="2400" dirty="0">
              <a:solidFill>
                <a:srgbClr val="00B050"/>
              </a:solidFill>
            </a:endParaRPr>
          </a:p>
          <a:p>
            <a:pPr marL="800100" lvl="1" indent="-342900">
              <a:buFont typeface="Arial" panose="020B0604020202020204" pitchFamily="34" charset="0"/>
              <a:buChar char="•"/>
            </a:pPr>
            <a:r>
              <a:rPr lang="en-GB" sz="2400" dirty="0" smtClean="0">
                <a:solidFill>
                  <a:srgbClr val="00B050"/>
                </a:solidFill>
              </a:rPr>
              <a:t>Plants evolved, levels of carbon dioxide reduced, levels of oxygen increased; animals evolved.</a:t>
            </a:r>
          </a:p>
          <a:p>
            <a:pPr marL="800100" lvl="1" indent="-342900">
              <a:buFont typeface="Arial" panose="020B0604020202020204" pitchFamily="34" charset="0"/>
              <a:buChar char="•"/>
            </a:pPr>
            <a:r>
              <a:rPr lang="en-GB" sz="2400" dirty="0" smtClean="0">
                <a:solidFill>
                  <a:srgbClr val="00B050"/>
                </a:solidFill>
              </a:rPr>
              <a:t>Carbon dioxide levels dropped during the formation of sedimentary rock (from sediments) and fossil fuels (from organisms).</a:t>
            </a:r>
          </a:p>
        </p:txBody>
      </p:sp>
    </p:spTree>
    <p:extLst>
      <p:ext uri="{BB962C8B-B14F-4D97-AF65-F5344CB8AC3E}">
        <p14:creationId xmlns:p14="http://schemas.microsoft.com/office/powerpoint/2010/main" val="9540125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125760" y="692696"/>
            <a:ext cx="3491880" cy="6971139"/>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400" b="1" dirty="0">
                <a:solidFill>
                  <a:schemeClr val="tx1">
                    <a:lumMod val="50000"/>
                    <a:lumOff val="50000"/>
                  </a:schemeClr>
                </a:solidFill>
              </a:rPr>
              <a:t>Carbon dioxide and methane as greenhouse</a:t>
            </a:r>
          </a:p>
          <a:p>
            <a:r>
              <a:rPr lang="en-US" sz="2400" b="1" dirty="0">
                <a:solidFill>
                  <a:schemeClr val="tx1">
                    <a:lumMod val="50000"/>
                    <a:lumOff val="50000"/>
                  </a:schemeClr>
                </a:solidFill>
              </a:rPr>
              <a:t>Gases Part 1</a:t>
            </a:r>
          </a:p>
          <a:p>
            <a:pPr marL="457200" indent="-457200">
              <a:buFont typeface="Arial" charset="0"/>
              <a:buChar char="•"/>
            </a:pPr>
            <a:r>
              <a:rPr lang="en-GB" sz="2400" b="1" dirty="0">
                <a:solidFill>
                  <a:schemeClr val="tx1">
                    <a:lumMod val="50000"/>
                    <a:lumOff val="50000"/>
                  </a:schemeClr>
                </a:solidFill>
              </a:rPr>
              <a:t>Greenhouse gases</a:t>
            </a:r>
          </a:p>
          <a:p>
            <a:pPr marL="457200" indent="-457200">
              <a:buFont typeface="Arial" charset="0"/>
              <a:buChar char="•"/>
            </a:pPr>
            <a:r>
              <a:rPr lang="en-GB" sz="2400" b="1" dirty="0">
                <a:solidFill>
                  <a:schemeClr val="tx1">
                    <a:lumMod val="50000"/>
                    <a:lumOff val="50000"/>
                  </a:schemeClr>
                </a:solidFill>
              </a:rPr>
              <a:t>Human activities which contribute to an increase in greenhouse gases in the atmosphere</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spTree>
    <p:extLst>
      <p:ext uri="{BB962C8B-B14F-4D97-AF65-F5344CB8AC3E}">
        <p14:creationId xmlns:p14="http://schemas.microsoft.com/office/powerpoint/2010/main" val="31938276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Carbon dioxide and methane as greenhouse gases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3" name="TextBox 2"/>
          <p:cNvSpPr txBox="1"/>
          <p:nvPr/>
        </p:nvSpPr>
        <p:spPr>
          <a:xfrm>
            <a:off x="179512" y="836712"/>
            <a:ext cx="7128792" cy="1938992"/>
          </a:xfrm>
          <a:prstGeom prst="rect">
            <a:avLst/>
          </a:prstGeom>
          <a:noFill/>
          <a:ln w="28575">
            <a:solidFill>
              <a:schemeClr val="accent6"/>
            </a:solidFill>
          </a:ln>
        </p:spPr>
        <p:txBody>
          <a:bodyPr wrap="square" rtlCol="0">
            <a:spAutoFit/>
          </a:bodyPr>
          <a:lstStyle/>
          <a:p>
            <a:r>
              <a:rPr lang="en-GB" sz="2000" dirty="0"/>
              <a:t>Greenhouse gases in the atmosphere maintain temperatures on Earth high enough to support life. Examples of </a:t>
            </a:r>
            <a:r>
              <a:rPr lang="en-GB" sz="2000" b="1" dirty="0">
                <a:solidFill>
                  <a:schemeClr val="accent6">
                    <a:lumMod val="75000"/>
                  </a:schemeClr>
                </a:solidFill>
              </a:rPr>
              <a:t>greenhouse gases </a:t>
            </a:r>
            <a:r>
              <a:rPr lang="en-GB" sz="2000" dirty="0"/>
              <a:t>are: </a:t>
            </a:r>
          </a:p>
          <a:p>
            <a:pPr marL="285750" indent="-285750">
              <a:buFont typeface="Arial" panose="020B0604020202020204" pitchFamily="34" charset="0"/>
              <a:buChar char="•"/>
            </a:pPr>
            <a:r>
              <a:rPr lang="en-GB" sz="2000" b="1" dirty="0">
                <a:solidFill>
                  <a:schemeClr val="accent6">
                    <a:lumMod val="75000"/>
                  </a:schemeClr>
                </a:solidFill>
              </a:rPr>
              <a:t>Carbon dioxide</a:t>
            </a:r>
          </a:p>
          <a:p>
            <a:pPr marL="285750" indent="-285750">
              <a:buFont typeface="Arial" panose="020B0604020202020204" pitchFamily="34" charset="0"/>
              <a:buChar char="•"/>
            </a:pPr>
            <a:r>
              <a:rPr lang="en-GB" sz="2000" b="1" dirty="0">
                <a:solidFill>
                  <a:schemeClr val="accent6">
                    <a:lumMod val="75000"/>
                  </a:schemeClr>
                </a:solidFill>
              </a:rPr>
              <a:t>Water vapour</a:t>
            </a:r>
          </a:p>
          <a:p>
            <a:pPr marL="285750" indent="-285750">
              <a:buFont typeface="Arial" panose="020B0604020202020204" pitchFamily="34" charset="0"/>
              <a:buChar char="•"/>
            </a:pPr>
            <a:r>
              <a:rPr lang="en-GB" sz="2000" b="1" dirty="0">
                <a:solidFill>
                  <a:schemeClr val="accent6">
                    <a:lumMod val="75000"/>
                  </a:schemeClr>
                </a:solidFill>
              </a:rPr>
              <a:t>Methane</a:t>
            </a:r>
          </a:p>
        </p:txBody>
      </p:sp>
      <p:sp>
        <p:nvSpPr>
          <p:cNvPr id="8" name="TextBox 7"/>
          <p:cNvSpPr txBox="1"/>
          <p:nvPr/>
        </p:nvSpPr>
        <p:spPr>
          <a:xfrm>
            <a:off x="179512" y="5085184"/>
            <a:ext cx="4032449" cy="1323439"/>
          </a:xfrm>
          <a:prstGeom prst="rect">
            <a:avLst/>
          </a:prstGeom>
          <a:noFill/>
        </p:spPr>
        <p:txBody>
          <a:bodyPr wrap="square" rtlCol="0">
            <a:spAutoFit/>
          </a:bodyPr>
          <a:lstStyle/>
          <a:p>
            <a:r>
              <a:rPr lang="en-GB" sz="2000" b="1" dirty="0">
                <a:solidFill>
                  <a:schemeClr val="accent6">
                    <a:lumMod val="75000"/>
                  </a:schemeClr>
                </a:solidFill>
              </a:rPr>
              <a:t>Visible light </a:t>
            </a:r>
            <a:r>
              <a:rPr lang="en-GB" sz="2000" dirty="0"/>
              <a:t>with a </a:t>
            </a:r>
            <a:r>
              <a:rPr lang="en-GB" sz="2000" b="1" dirty="0">
                <a:solidFill>
                  <a:schemeClr val="accent6">
                    <a:lumMod val="75000"/>
                  </a:schemeClr>
                </a:solidFill>
              </a:rPr>
              <a:t>short wavelength </a:t>
            </a:r>
            <a:r>
              <a:rPr lang="en-GB" sz="2000" dirty="0"/>
              <a:t>is </a:t>
            </a:r>
            <a:r>
              <a:rPr lang="en-GB" sz="2000" b="1" dirty="0">
                <a:solidFill>
                  <a:schemeClr val="accent6">
                    <a:lumMod val="75000"/>
                  </a:schemeClr>
                </a:solidFill>
              </a:rPr>
              <a:t>absorbed</a:t>
            </a:r>
            <a:r>
              <a:rPr lang="en-GB" sz="2000" dirty="0"/>
              <a:t> by the Earth, it is then re-radiated as </a:t>
            </a:r>
            <a:r>
              <a:rPr lang="en-GB" sz="2000" b="1" dirty="0">
                <a:solidFill>
                  <a:schemeClr val="accent6">
                    <a:lumMod val="75000"/>
                  </a:schemeClr>
                </a:solidFill>
              </a:rPr>
              <a:t>longer wavelength infra </a:t>
            </a:r>
            <a:r>
              <a:rPr lang="en-GB" sz="2000" b="1" dirty="0" smtClean="0">
                <a:solidFill>
                  <a:schemeClr val="accent6">
                    <a:lumMod val="75000"/>
                  </a:schemeClr>
                </a:solidFill>
              </a:rPr>
              <a:t>red</a:t>
            </a:r>
            <a:r>
              <a:rPr lang="en-GB" b="1" dirty="0" smtClean="0">
                <a:solidFill>
                  <a:schemeClr val="accent6">
                    <a:lumMod val="75000"/>
                  </a:schemeClr>
                </a:solidFill>
              </a:rPr>
              <a:t>.</a:t>
            </a:r>
            <a:endParaRPr lang="en-GB" b="1" dirty="0">
              <a:solidFill>
                <a:schemeClr val="accent6">
                  <a:lumMod val="75000"/>
                </a:schemeClr>
              </a:solidFill>
            </a:endParaRPr>
          </a:p>
        </p:txBody>
      </p:sp>
      <p:sp>
        <p:nvSpPr>
          <p:cNvPr id="10" name="TextBox 9"/>
          <p:cNvSpPr txBox="1"/>
          <p:nvPr/>
        </p:nvSpPr>
        <p:spPr>
          <a:xfrm>
            <a:off x="4427984" y="5098940"/>
            <a:ext cx="4536504" cy="1323439"/>
          </a:xfrm>
          <a:prstGeom prst="rect">
            <a:avLst/>
          </a:prstGeom>
          <a:noFill/>
        </p:spPr>
        <p:txBody>
          <a:bodyPr wrap="square" rtlCol="0">
            <a:spAutoFit/>
          </a:bodyPr>
          <a:lstStyle/>
          <a:p>
            <a:r>
              <a:rPr lang="en-GB" sz="2000" dirty="0"/>
              <a:t>The </a:t>
            </a:r>
            <a:r>
              <a:rPr lang="en-GB" sz="2000" b="1" dirty="0">
                <a:solidFill>
                  <a:schemeClr val="accent6">
                    <a:lumMod val="75000"/>
                  </a:schemeClr>
                </a:solidFill>
              </a:rPr>
              <a:t>longer wavelength infra red </a:t>
            </a:r>
            <a:r>
              <a:rPr lang="en-GB" sz="2000" dirty="0"/>
              <a:t>cannot penetrate through the greenhouse gas layer in the atmosphere which contains carbon dioxide and methane.</a:t>
            </a:r>
          </a:p>
        </p:txBody>
      </p:sp>
      <p:sp>
        <p:nvSpPr>
          <p:cNvPr id="17" name="TextBox 16"/>
          <p:cNvSpPr txBox="1"/>
          <p:nvPr/>
        </p:nvSpPr>
        <p:spPr>
          <a:xfrm>
            <a:off x="7452321" y="908720"/>
            <a:ext cx="1512168" cy="1015663"/>
          </a:xfrm>
          <a:custGeom>
            <a:avLst/>
            <a:gdLst>
              <a:gd name="connsiteX0" fmla="*/ 0 w 1512168"/>
              <a:gd name="connsiteY0" fmla="*/ 0 h 923330"/>
              <a:gd name="connsiteX1" fmla="*/ 1512168 w 1512168"/>
              <a:gd name="connsiteY1" fmla="*/ 0 h 923330"/>
              <a:gd name="connsiteX2" fmla="*/ 1512168 w 1512168"/>
              <a:gd name="connsiteY2" fmla="*/ 923330 h 923330"/>
              <a:gd name="connsiteX3" fmla="*/ 0 w 1512168"/>
              <a:gd name="connsiteY3" fmla="*/ 923330 h 923330"/>
              <a:gd name="connsiteX4" fmla="*/ 0 w 1512168"/>
              <a:gd name="connsiteY4" fmla="*/ 0 h 923330"/>
              <a:gd name="connsiteX0" fmla="*/ 0 w 1512168"/>
              <a:gd name="connsiteY0" fmla="*/ 0 h 1142271"/>
              <a:gd name="connsiteX1" fmla="*/ 1512168 w 1512168"/>
              <a:gd name="connsiteY1" fmla="*/ 0 h 1142271"/>
              <a:gd name="connsiteX2" fmla="*/ 1512168 w 1512168"/>
              <a:gd name="connsiteY2" fmla="*/ 923330 h 1142271"/>
              <a:gd name="connsiteX3" fmla="*/ 0 w 1512168"/>
              <a:gd name="connsiteY3" fmla="*/ 1142271 h 1142271"/>
              <a:gd name="connsiteX4" fmla="*/ 0 w 1512168"/>
              <a:gd name="connsiteY4" fmla="*/ 0 h 1142271"/>
              <a:gd name="connsiteX0" fmla="*/ 0 w 1512168"/>
              <a:gd name="connsiteY0" fmla="*/ 0 h 1168028"/>
              <a:gd name="connsiteX1" fmla="*/ 1512168 w 1512168"/>
              <a:gd name="connsiteY1" fmla="*/ 0 h 1168028"/>
              <a:gd name="connsiteX2" fmla="*/ 1512168 w 1512168"/>
              <a:gd name="connsiteY2" fmla="*/ 1168028 h 1168028"/>
              <a:gd name="connsiteX3" fmla="*/ 0 w 1512168"/>
              <a:gd name="connsiteY3" fmla="*/ 1142271 h 1168028"/>
              <a:gd name="connsiteX4" fmla="*/ 0 w 1512168"/>
              <a:gd name="connsiteY4" fmla="*/ 0 h 1168028"/>
              <a:gd name="connsiteX0" fmla="*/ 0 w 1512168"/>
              <a:gd name="connsiteY0" fmla="*/ 0 h 1155149"/>
              <a:gd name="connsiteX1" fmla="*/ 1512168 w 1512168"/>
              <a:gd name="connsiteY1" fmla="*/ 0 h 1155149"/>
              <a:gd name="connsiteX2" fmla="*/ 1512168 w 1512168"/>
              <a:gd name="connsiteY2" fmla="*/ 1155149 h 1155149"/>
              <a:gd name="connsiteX3" fmla="*/ 0 w 1512168"/>
              <a:gd name="connsiteY3" fmla="*/ 1142271 h 1155149"/>
              <a:gd name="connsiteX4" fmla="*/ 0 w 1512168"/>
              <a:gd name="connsiteY4" fmla="*/ 0 h 1155149"/>
              <a:gd name="connsiteX0" fmla="*/ 12879 w 1512168"/>
              <a:gd name="connsiteY0" fmla="*/ 193183 h 1155149"/>
              <a:gd name="connsiteX1" fmla="*/ 1512168 w 1512168"/>
              <a:gd name="connsiteY1" fmla="*/ 0 h 1155149"/>
              <a:gd name="connsiteX2" fmla="*/ 1512168 w 1512168"/>
              <a:gd name="connsiteY2" fmla="*/ 1155149 h 1155149"/>
              <a:gd name="connsiteX3" fmla="*/ 0 w 1512168"/>
              <a:gd name="connsiteY3" fmla="*/ 1142271 h 1155149"/>
              <a:gd name="connsiteX4" fmla="*/ 12879 w 1512168"/>
              <a:gd name="connsiteY4" fmla="*/ 193183 h 1155149"/>
              <a:gd name="connsiteX0" fmla="*/ 12879 w 1512168"/>
              <a:gd name="connsiteY0" fmla="*/ 12879 h 974845"/>
              <a:gd name="connsiteX1" fmla="*/ 1512168 w 1512168"/>
              <a:gd name="connsiteY1" fmla="*/ 0 h 974845"/>
              <a:gd name="connsiteX2" fmla="*/ 1512168 w 1512168"/>
              <a:gd name="connsiteY2" fmla="*/ 974845 h 974845"/>
              <a:gd name="connsiteX3" fmla="*/ 0 w 1512168"/>
              <a:gd name="connsiteY3" fmla="*/ 961967 h 974845"/>
              <a:gd name="connsiteX4" fmla="*/ 12879 w 1512168"/>
              <a:gd name="connsiteY4" fmla="*/ 12879 h 974845"/>
              <a:gd name="connsiteX0" fmla="*/ 12879 w 1512168"/>
              <a:gd name="connsiteY0" fmla="*/ 25758 h 987724"/>
              <a:gd name="connsiteX1" fmla="*/ 1512168 w 1512168"/>
              <a:gd name="connsiteY1" fmla="*/ 0 h 987724"/>
              <a:gd name="connsiteX2" fmla="*/ 1512168 w 1512168"/>
              <a:gd name="connsiteY2" fmla="*/ 987724 h 987724"/>
              <a:gd name="connsiteX3" fmla="*/ 0 w 1512168"/>
              <a:gd name="connsiteY3" fmla="*/ 974846 h 987724"/>
              <a:gd name="connsiteX4" fmla="*/ 12879 w 1512168"/>
              <a:gd name="connsiteY4" fmla="*/ 25758 h 987724"/>
              <a:gd name="connsiteX0" fmla="*/ 12879 w 1512168"/>
              <a:gd name="connsiteY0" fmla="*/ 0 h 961966"/>
              <a:gd name="connsiteX1" fmla="*/ 1512168 w 1512168"/>
              <a:gd name="connsiteY1" fmla="*/ 12879 h 961966"/>
              <a:gd name="connsiteX2" fmla="*/ 1512168 w 1512168"/>
              <a:gd name="connsiteY2" fmla="*/ 961966 h 961966"/>
              <a:gd name="connsiteX3" fmla="*/ 0 w 1512168"/>
              <a:gd name="connsiteY3" fmla="*/ 949088 h 961966"/>
              <a:gd name="connsiteX4" fmla="*/ 12879 w 1512168"/>
              <a:gd name="connsiteY4" fmla="*/ 0 h 961966"/>
              <a:gd name="connsiteX0" fmla="*/ 0 w 1499289"/>
              <a:gd name="connsiteY0" fmla="*/ 0 h 961966"/>
              <a:gd name="connsiteX1" fmla="*/ 1499289 w 1499289"/>
              <a:gd name="connsiteY1" fmla="*/ 12879 h 961966"/>
              <a:gd name="connsiteX2" fmla="*/ 1499289 w 1499289"/>
              <a:gd name="connsiteY2" fmla="*/ 961966 h 961966"/>
              <a:gd name="connsiteX3" fmla="*/ 0 w 1499289"/>
              <a:gd name="connsiteY3" fmla="*/ 949088 h 961966"/>
              <a:gd name="connsiteX4" fmla="*/ 0 w 1499289"/>
              <a:gd name="connsiteY4" fmla="*/ 0 h 961966"/>
              <a:gd name="connsiteX0" fmla="*/ 0 w 1499289"/>
              <a:gd name="connsiteY0" fmla="*/ 0 h 949088"/>
              <a:gd name="connsiteX1" fmla="*/ 1499289 w 1499289"/>
              <a:gd name="connsiteY1" fmla="*/ 12879 h 949088"/>
              <a:gd name="connsiteX2" fmla="*/ 1486411 w 1499289"/>
              <a:gd name="connsiteY2" fmla="*/ 936208 h 949088"/>
              <a:gd name="connsiteX3" fmla="*/ 0 w 1499289"/>
              <a:gd name="connsiteY3" fmla="*/ 949088 h 949088"/>
              <a:gd name="connsiteX4" fmla="*/ 0 w 1499289"/>
              <a:gd name="connsiteY4" fmla="*/ 0 h 949088"/>
              <a:gd name="connsiteX0" fmla="*/ 0 w 1499289"/>
              <a:gd name="connsiteY0" fmla="*/ 0 h 961966"/>
              <a:gd name="connsiteX1" fmla="*/ 1499289 w 1499289"/>
              <a:gd name="connsiteY1" fmla="*/ 12879 h 961966"/>
              <a:gd name="connsiteX2" fmla="*/ 1486411 w 1499289"/>
              <a:gd name="connsiteY2" fmla="*/ 961966 h 961966"/>
              <a:gd name="connsiteX3" fmla="*/ 0 w 1499289"/>
              <a:gd name="connsiteY3" fmla="*/ 949088 h 961966"/>
              <a:gd name="connsiteX4" fmla="*/ 0 w 1499289"/>
              <a:gd name="connsiteY4" fmla="*/ 0 h 961966"/>
              <a:gd name="connsiteX0" fmla="*/ 0 w 1499289"/>
              <a:gd name="connsiteY0" fmla="*/ 0 h 961966"/>
              <a:gd name="connsiteX1" fmla="*/ 1499289 w 1499289"/>
              <a:gd name="connsiteY1" fmla="*/ 0 h 961966"/>
              <a:gd name="connsiteX2" fmla="*/ 1486411 w 1499289"/>
              <a:gd name="connsiteY2" fmla="*/ 961966 h 961966"/>
              <a:gd name="connsiteX3" fmla="*/ 0 w 1499289"/>
              <a:gd name="connsiteY3" fmla="*/ 949088 h 961966"/>
              <a:gd name="connsiteX4" fmla="*/ 0 w 1499289"/>
              <a:gd name="connsiteY4" fmla="*/ 0 h 961966"/>
              <a:gd name="connsiteX0" fmla="*/ 0 w 1499289"/>
              <a:gd name="connsiteY0" fmla="*/ 0 h 949088"/>
              <a:gd name="connsiteX1" fmla="*/ 1499289 w 1499289"/>
              <a:gd name="connsiteY1" fmla="*/ 0 h 949088"/>
              <a:gd name="connsiteX2" fmla="*/ 1486411 w 1499289"/>
              <a:gd name="connsiteY2" fmla="*/ 949087 h 949088"/>
              <a:gd name="connsiteX3" fmla="*/ 0 w 1499289"/>
              <a:gd name="connsiteY3" fmla="*/ 949088 h 949088"/>
              <a:gd name="connsiteX4" fmla="*/ 0 w 1499289"/>
              <a:gd name="connsiteY4" fmla="*/ 0 h 949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9289" h="949088">
                <a:moveTo>
                  <a:pt x="0" y="0"/>
                </a:moveTo>
                <a:lnTo>
                  <a:pt x="1499289" y="0"/>
                </a:lnTo>
                <a:lnTo>
                  <a:pt x="1486411" y="949087"/>
                </a:lnTo>
                <a:lnTo>
                  <a:pt x="0" y="949088"/>
                </a:lnTo>
                <a:lnTo>
                  <a:pt x="0" y="0"/>
                </a:lnTo>
                <a:close/>
              </a:path>
            </a:pathLst>
          </a:custGeom>
          <a:solidFill>
            <a:schemeClr val="accent6"/>
          </a:solidFill>
          <a:ln w="28575">
            <a:solidFill>
              <a:schemeClr val="tx1"/>
            </a:solidFill>
          </a:ln>
        </p:spPr>
        <p:txBody>
          <a:bodyPr wrap="square" rtlCol="0">
            <a:spAutoFit/>
          </a:bodyPr>
          <a:lstStyle/>
          <a:p>
            <a:r>
              <a:rPr lang="en-GB" sz="2000" dirty="0"/>
              <a:t>You must know these three gases</a:t>
            </a:r>
          </a:p>
        </p:txBody>
      </p:sp>
      <p:grpSp>
        <p:nvGrpSpPr>
          <p:cNvPr id="5" name="Group 4"/>
          <p:cNvGrpSpPr/>
          <p:nvPr/>
        </p:nvGrpSpPr>
        <p:grpSpPr>
          <a:xfrm>
            <a:off x="496318" y="3126984"/>
            <a:ext cx="3576776" cy="1624799"/>
            <a:chOff x="496318" y="3126984"/>
            <a:chExt cx="3576776" cy="1624799"/>
          </a:xfrm>
        </p:grpSpPr>
        <p:sp>
          <p:nvSpPr>
            <p:cNvPr id="21" name="Text Box 2"/>
            <p:cNvSpPr txBox="1">
              <a:spLocks noChangeArrowheads="1"/>
            </p:cNvSpPr>
            <p:nvPr/>
          </p:nvSpPr>
          <p:spPr bwMode="auto">
            <a:xfrm>
              <a:off x="2594179" y="3821175"/>
              <a:ext cx="1478915" cy="61976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400">
                  <a:effectLst/>
                  <a:latin typeface="Calibri" panose="020F0502020204030204" pitchFamily="34" charset="0"/>
                  <a:ea typeface="Calibri" panose="020F0502020204030204" pitchFamily="34" charset="0"/>
                  <a:cs typeface="Times New Roman" panose="02020603050405020304" pitchFamily="18" charset="0"/>
                </a:rPr>
                <a:t>Absorbed then re-radiated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rc_mi" descr="Image result for earth">
              <a:hlinkClick r:id="rId3"/>
            </p:cNvPr>
            <p:cNvPicPr/>
            <p:nvPr/>
          </p:nvPicPr>
          <p:blipFill rotWithShape="1">
            <a:blip r:embed="rId4" cstate="print">
              <a:extLst>
                <a:ext uri="{28A0092B-C50C-407E-A947-70E740481C1C}">
                  <a14:useLocalDpi xmlns:a14="http://schemas.microsoft.com/office/drawing/2010/main" val="0"/>
                </a:ext>
              </a:extLst>
            </a:blip>
            <a:srcRect t="-4112" b="59286"/>
            <a:stretch/>
          </p:blipFill>
          <p:spPr bwMode="auto">
            <a:xfrm>
              <a:off x="971600" y="3885643"/>
              <a:ext cx="1958975" cy="866140"/>
            </a:xfrm>
            <a:prstGeom prst="rect">
              <a:avLst/>
            </a:prstGeom>
            <a:noFill/>
            <a:ln>
              <a:noFill/>
            </a:ln>
            <a:extLst>
              <a:ext uri="{53640926-AAD7-44D8-BBD7-CCE9431645EC}">
                <a14:shadowObscured xmlns:a14="http://schemas.microsoft.com/office/drawing/2010/main"/>
              </a:ext>
            </a:extLst>
          </p:spPr>
        </p:pic>
        <p:cxnSp>
          <p:nvCxnSpPr>
            <p:cNvPr id="13" name="Curved Connector 12"/>
            <p:cNvCxnSpPr/>
            <p:nvPr/>
          </p:nvCxnSpPr>
          <p:spPr>
            <a:xfrm>
              <a:off x="1115616" y="3499202"/>
              <a:ext cx="508635" cy="476885"/>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6" name="Curved Connector 15"/>
            <p:cNvCxnSpPr/>
            <p:nvPr/>
          </p:nvCxnSpPr>
          <p:spPr>
            <a:xfrm flipV="1">
              <a:off x="1926153" y="3372837"/>
              <a:ext cx="516255" cy="603250"/>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
          <p:nvSpPr>
            <p:cNvPr id="18" name="Text Box 2"/>
            <p:cNvSpPr txBox="1">
              <a:spLocks noChangeArrowheads="1"/>
            </p:cNvSpPr>
            <p:nvPr/>
          </p:nvSpPr>
          <p:spPr bwMode="auto">
            <a:xfrm>
              <a:off x="496318" y="3126984"/>
              <a:ext cx="950564" cy="245853"/>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Visible light</a:t>
              </a:r>
            </a:p>
          </p:txBody>
        </p:sp>
        <p:sp>
          <p:nvSpPr>
            <p:cNvPr id="19" name="Text Box 2"/>
            <p:cNvSpPr txBox="1">
              <a:spLocks noChangeArrowheads="1"/>
            </p:cNvSpPr>
            <p:nvPr/>
          </p:nvSpPr>
          <p:spPr bwMode="auto">
            <a:xfrm>
              <a:off x="2442408" y="3168548"/>
              <a:ext cx="858520" cy="34925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400">
                  <a:effectLst/>
                  <a:latin typeface="Calibri" panose="020F0502020204030204" pitchFamily="34" charset="0"/>
                  <a:ea typeface="Calibri" panose="020F0502020204030204" pitchFamily="34" charset="0"/>
                  <a:cs typeface="Times New Roman" panose="02020603050405020304" pitchFamily="18" charset="0"/>
                </a:rPr>
                <a:t>Infra-red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7" name="Group 6"/>
          <p:cNvGrpSpPr/>
          <p:nvPr/>
        </p:nvGrpSpPr>
        <p:grpSpPr>
          <a:xfrm>
            <a:off x="4816056" y="2577934"/>
            <a:ext cx="3232168" cy="2162028"/>
            <a:chOff x="4816056" y="2577934"/>
            <a:chExt cx="3232168" cy="2162028"/>
          </a:xfrm>
        </p:grpSpPr>
        <p:sp>
          <p:nvSpPr>
            <p:cNvPr id="22" name="Text Box 2"/>
            <p:cNvSpPr txBox="1">
              <a:spLocks noChangeArrowheads="1"/>
            </p:cNvSpPr>
            <p:nvPr/>
          </p:nvSpPr>
          <p:spPr bwMode="auto">
            <a:xfrm>
              <a:off x="6768064" y="3329627"/>
              <a:ext cx="1280160" cy="78676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400">
                  <a:effectLst/>
                  <a:latin typeface="Calibri" panose="020F0502020204030204" pitchFamily="34" charset="0"/>
                  <a:ea typeface="Calibri" panose="020F0502020204030204" pitchFamily="34" charset="0"/>
                  <a:cs typeface="Times New Roman" panose="02020603050405020304" pitchFamily="18" charset="0"/>
                </a:rPr>
                <a:t>Trapped in atmosphere warming it up</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irc_mi" descr="Image result for earth">
              <a:hlinkClick r:id="rId3"/>
            </p:cNvPr>
            <p:cNvPicPr/>
            <p:nvPr/>
          </p:nvPicPr>
          <p:blipFill rotWithShape="1">
            <a:blip r:embed="rId4" cstate="print">
              <a:extLst>
                <a:ext uri="{28A0092B-C50C-407E-A947-70E740481C1C}">
                  <a14:useLocalDpi xmlns:a14="http://schemas.microsoft.com/office/drawing/2010/main" val="0"/>
                </a:ext>
              </a:extLst>
            </a:blip>
            <a:srcRect t="-4112" b="59286"/>
            <a:stretch/>
          </p:blipFill>
          <p:spPr bwMode="auto">
            <a:xfrm>
              <a:off x="5331399" y="3873822"/>
              <a:ext cx="1958975" cy="866140"/>
            </a:xfrm>
            <a:prstGeom prst="rect">
              <a:avLst/>
            </a:prstGeom>
            <a:noFill/>
            <a:ln>
              <a:noFill/>
            </a:ln>
            <a:extLst>
              <a:ext uri="{53640926-AAD7-44D8-BBD7-CCE9431645EC}">
                <a14:shadowObscured xmlns:a14="http://schemas.microsoft.com/office/drawing/2010/main"/>
              </a:ext>
            </a:extLst>
          </p:spPr>
        </p:pic>
        <p:cxnSp>
          <p:nvCxnSpPr>
            <p:cNvPr id="14" name="Curved Connector 13"/>
            <p:cNvCxnSpPr/>
            <p:nvPr/>
          </p:nvCxnSpPr>
          <p:spPr>
            <a:xfrm>
              <a:off x="6187601" y="3436019"/>
              <a:ext cx="508635" cy="476885"/>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5" name="Curved Connector 14"/>
            <p:cNvCxnSpPr/>
            <p:nvPr/>
          </p:nvCxnSpPr>
          <p:spPr>
            <a:xfrm flipV="1">
              <a:off x="5503815" y="3572197"/>
              <a:ext cx="516255" cy="603250"/>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
          <p:nvSpPr>
            <p:cNvPr id="20" name="Text Box 2"/>
            <p:cNvSpPr txBox="1">
              <a:spLocks noChangeArrowheads="1"/>
            </p:cNvSpPr>
            <p:nvPr/>
          </p:nvSpPr>
          <p:spPr bwMode="auto">
            <a:xfrm>
              <a:off x="4816056" y="3699197"/>
              <a:ext cx="858520" cy="34925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400">
                  <a:effectLst/>
                  <a:latin typeface="Calibri" panose="020F0502020204030204" pitchFamily="34" charset="0"/>
                  <a:ea typeface="Calibri" panose="020F0502020204030204" pitchFamily="34" charset="0"/>
                  <a:cs typeface="Times New Roman" panose="02020603050405020304" pitchFamily="18" charset="0"/>
                </a:rPr>
                <a:t>Infra-red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Explosion 2 22"/>
            <p:cNvSpPr/>
            <p:nvPr/>
          </p:nvSpPr>
          <p:spPr>
            <a:xfrm>
              <a:off x="5203628" y="2577934"/>
              <a:ext cx="1581785" cy="1057275"/>
            </a:xfrm>
            <a:prstGeom prst="irregularSeal2">
              <a:avLst/>
            </a:prstGeom>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2000" dirty="0">
                  <a:effectLst/>
                  <a:ea typeface="Calibri" panose="020F0502020204030204" pitchFamily="34" charset="0"/>
                  <a:cs typeface="Times New Roman" panose="02020603050405020304" pitchFamily="18" charset="0"/>
                </a:rPr>
                <a:t>CO</a:t>
              </a:r>
              <a:r>
                <a:rPr lang="en-GB" sz="2000" baseline="-25000" dirty="0">
                  <a:effectLst/>
                  <a:ea typeface="Calibri" panose="020F0502020204030204" pitchFamily="34" charset="0"/>
                  <a:cs typeface="Times New Roman" panose="02020603050405020304" pitchFamily="18" charset="0"/>
                </a:rPr>
                <a:t>2</a:t>
              </a:r>
              <a:endParaRPr lang="en-GB" sz="1100" dirty="0">
                <a:effectLst/>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30583623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Carbon dioxide and methane as greenhouse gases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5" name="TextBox 4"/>
          <p:cNvSpPr txBox="1"/>
          <p:nvPr/>
        </p:nvSpPr>
        <p:spPr>
          <a:xfrm>
            <a:off x="251520" y="764704"/>
            <a:ext cx="8568952" cy="707886"/>
          </a:xfrm>
          <a:prstGeom prst="rect">
            <a:avLst/>
          </a:prstGeom>
          <a:noFill/>
        </p:spPr>
        <p:txBody>
          <a:bodyPr wrap="square" rtlCol="0">
            <a:spAutoFit/>
          </a:bodyPr>
          <a:lstStyle/>
          <a:p>
            <a:r>
              <a:rPr lang="en-GB" sz="2000" dirty="0"/>
              <a:t>Some human activities increase the amounts of greenhouse gases in the atmosphere namely </a:t>
            </a:r>
            <a:r>
              <a:rPr lang="en-GB" sz="2000" b="1" dirty="0">
                <a:solidFill>
                  <a:schemeClr val="accent6">
                    <a:lumMod val="75000"/>
                  </a:schemeClr>
                </a:solidFill>
              </a:rPr>
              <a:t>carbon dioxide </a:t>
            </a:r>
            <a:r>
              <a:rPr lang="en-GB" sz="2000" dirty="0"/>
              <a:t>and </a:t>
            </a:r>
            <a:r>
              <a:rPr lang="en-GB" sz="2000" b="1" dirty="0">
                <a:solidFill>
                  <a:schemeClr val="accent6">
                    <a:lumMod val="75000"/>
                  </a:schemeClr>
                </a:solidFill>
              </a:rPr>
              <a:t>methane</a:t>
            </a:r>
            <a:r>
              <a:rPr lang="en-GB" sz="2000" dirty="0">
                <a:solidFill>
                  <a:schemeClr val="accent6">
                    <a:lumMod val="75000"/>
                  </a:schemeClr>
                </a:solidFill>
              </a:rPr>
              <a:t>.</a:t>
            </a:r>
          </a:p>
        </p:txBody>
      </p:sp>
      <p:sp>
        <p:nvSpPr>
          <p:cNvPr id="7" name="TextBox 6"/>
          <p:cNvSpPr txBox="1"/>
          <p:nvPr/>
        </p:nvSpPr>
        <p:spPr>
          <a:xfrm>
            <a:off x="251520" y="1556792"/>
            <a:ext cx="4032448" cy="1323439"/>
          </a:xfrm>
          <a:prstGeom prst="rect">
            <a:avLst/>
          </a:prstGeom>
          <a:noFill/>
          <a:ln w="28575">
            <a:solidFill>
              <a:schemeClr val="accent6"/>
            </a:solidFill>
          </a:ln>
        </p:spPr>
        <p:txBody>
          <a:bodyPr wrap="square" rtlCol="0">
            <a:spAutoFit/>
          </a:bodyPr>
          <a:lstStyle/>
          <a:p>
            <a:r>
              <a:rPr lang="en-GB" sz="2000" dirty="0"/>
              <a:t>Two human activities that </a:t>
            </a:r>
            <a:r>
              <a:rPr lang="en-GB" sz="2000" b="1" dirty="0">
                <a:solidFill>
                  <a:schemeClr val="accent6">
                    <a:lumMod val="75000"/>
                  </a:schemeClr>
                </a:solidFill>
              </a:rPr>
              <a:t>increase</a:t>
            </a:r>
            <a:r>
              <a:rPr lang="en-GB" sz="2000" dirty="0"/>
              <a:t> the amount of the greenhouse gas </a:t>
            </a:r>
            <a:r>
              <a:rPr lang="en-GB" sz="2000" b="1" dirty="0">
                <a:solidFill>
                  <a:schemeClr val="accent6">
                    <a:lumMod val="75000"/>
                  </a:schemeClr>
                </a:solidFill>
              </a:rPr>
              <a:t>carbon dioxide</a:t>
            </a:r>
            <a:r>
              <a:rPr lang="en-GB" sz="2000" b="1" dirty="0"/>
              <a:t> </a:t>
            </a:r>
            <a:r>
              <a:rPr lang="en-GB" sz="2000" dirty="0"/>
              <a:t>are </a:t>
            </a:r>
            <a:r>
              <a:rPr lang="en-GB" sz="2000" b="1" dirty="0">
                <a:solidFill>
                  <a:schemeClr val="accent6">
                    <a:lumMod val="75000"/>
                  </a:schemeClr>
                </a:solidFill>
              </a:rPr>
              <a:t>burning fossil fuels </a:t>
            </a:r>
            <a:r>
              <a:rPr lang="en-GB" sz="2000" dirty="0"/>
              <a:t>and </a:t>
            </a:r>
            <a:r>
              <a:rPr lang="en-GB" sz="2000" b="1" dirty="0">
                <a:solidFill>
                  <a:schemeClr val="accent6">
                    <a:lumMod val="75000"/>
                  </a:schemeClr>
                </a:solidFill>
              </a:rPr>
              <a:t>deforestation</a:t>
            </a:r>
            <a:r>
              <a:rPr lang="en-GB" sz="2000" dirty="0"/>
              <a:t>.</a:t>
            </a:r>
          </a:p>
        </p:txBody>
      </p:sp>
      <p:sp>
        <p:nvSpPr>
          <p:cNvPr id="11" name="TextBox 10"/>
          <p:cNvSpPr txBox="1"/>
          <p:nvPr/>
        </p:nvSpPr>
        <p:spPr>
          <a:xfrm>
            <a:off x="4499992" y="1563269"/>
            <a:ext cx="4464496" cy="1323439"/>
          </a:xfrm>
          <a:custGeom>
            <a:avLst/>
            <a:gdLst>
              <a:gd name="connsiteX0" fmla="*/ 0 w 4464496"/>
              <a:gd name="connsiteY0" fmla="*/ 0 h 1200329"/>
              <a:gd name="connsiteX1" fmla="*/ 4464496 w 4464496"/>
              <a:gd name="connsiteY1" fmla="*/ 0 h 1200329"/>
              <a:gd name="connsiteX2" fmla="*/ 4464496 w 4464496"/>
              <a:gd name="connsiteY2" fmla="*/ 1200329 h 1200329"/>
              <a:gd name="connsiteX3" fmla="*/ 0 w 4464496"/>
              <a:gd name="connsiteY3" fmla="*/ 1200329 h 1200329"/>
              <a:gd name="connsiteX4" fmla="*/ 0 w 4464496"/>
              <a:gd name="connsiteY4" fmla="*/ 0 h 1200329"/>
              <a:gd name="connsiteX0" fmla="*/ 0 w 4464496"/>
              <a:gd name="connsiteY0" fmla="*/ 0 h 1960182"/>
              <a:gd name="connsiteX1" fmla="*/ 4464496 w 4464496"/>
              <a:gd name="connsiteY1" fmla="*/ 759853 h 1960182"/>
              <a:gd name="connsiteX2" fmla="*/ 4464496 w 4464496"/>
              <a:gd name="connsiteY2" fmla="*/ 1960182 h 1960182"/>
              <a:gd name="connsiteX3" fmla="*/ 0 w 4464496"/>
              <a:gd name="connsiteY3" fmla="*/ 1960182 h 1960182"/>
              <a:gd name="connsiteX4" fmla="*/ 0 w 4464496"/>
              <a:gd name="connsiteY4" fmla="*/ 0 h 1960182"/>
              <a:gd name="connsiteX0" fmla="*/ 0 w 4464496"/>
              <a:gd name="connsiteY0" fmla="*/ 0 h 1960182"/>
              <a:gd name="connsiteX1" fmla="*/ 4464496 w 4464496"/>
              <a:gd name="connsiteY1" fmla="*/ 12879 h 1960182"/>
              <a:gd name="connsiteX2" fmla="*/ 4464496 w 4464496"/>
              <a:gd name="connsiteY2" fmla="*/ 1960182 h 1960182"/>
              <a:gd name="connsiteX3" fmla="*/ 0 w 4464496"/>
              <a:gd name="connsiteY3" fmla="*/ 1960182 h 1960182"/>
              <a:gd name="connsiteX4" fmla="*/ 0 w 4464496"/>
              <a:gd name="connsiteY4" fmla="*/ 0 h 1960182"/>
              <a:gd name="connsiteX0" fmla="*/ 0 w 4464496"/>
              <a:gd name="connsiteY0" fmla="*/ 12879 h 1973061"/>
              <a:gd name="connsiteX1" fmla="*/ 4464496 w 4464496"/>
              <a:gd name="connsiteY1" fmla="*/ 0 h 1973061"/>
              <a:gd name="connsiteX2" fmla="*/ 4464496 w 4464496"/>
              <a:gd name="connsiteY2" fmla="*/ 1973061 h 1973061"/>
              <a:gd name="connsiteX3" fmla="*/ 0 w 4464496"/>
              <a:gd name="connsiteY3" fmla="*/ 1973061 h 1973061"/>
              <a:gd name="connsiteX4" fmla="*/ 0 w 4464496"/>
              <a:gd name="connsiteY4" fmla="*/ 12879 h 1973061"/>
              <a:gd name="connsiteX0" fmla="*/ 0 w 4464496"/>
              <a:gd name="connsiteY0" fmla="*/ 0 h 1960182"/>
              <a:gd name="connsiteX1" fmla="*/ 4464496 w 4464496"/>
              <a:gd name="connsiteY1" fmla="*/ 0 h 1960182"/>
              <a:gd name="connsiteX2" fmla="*/ 4464496 w 4464496"/>
              <a:gd name="connsiteY2" fmla="*/ 1960182 h 1960182"/>
              <a:gd name="connsiteX3" fmla="*/ 0 w 4464496"/>
              <a:gd name="connsiteY3" fmla="*/ 1960182 h 1960182"/>
              <a:gd name="connsiteX4" fmla="*/ 0 w 4464496"/>
              <a:gd name="connsiteY4" fmla="*/ 0 h 1960182"/>
              <a:gd name="connsiteX0" fmla="*/ 0 w 4464496"/>
              <a:gd name="connsiteY0" fmla="*/ 0 h 1985939"/>
              <a:gd name="connsiteX1" fmla="*/ 4464496 w 4464496"/>
              <a:gd name="connsiteY1" fmla="*/ 25757 h 1985939"/>
              <a:gd name="connsiteX2" fmla="*/ 4464496 w 4464496"/>
              <a:gd name="connsiteY2" fmla="*/ 1985939 h 1985939"/>
              <a:gd name="connsiteX3" fmla="*/ 0 w 4464496"/>
              <a:gd name="connsiteY3" fmla="*/ 1985939 h 1985939"/>
              <a:gd name="connsiteX4" fmla="*/ 0 w 4464496"/>
              <a:gd name="connsiteY4" fmla="*/ 0 h 1985939"/>
              <a:gd name="connsiteX0" fmla="*/ 0 w 4464496"/>
              <a:gd name="connsiteY0" fmla="*/ 12879 h 1998818"/>
              <a:gd name="connsiteX1" fmla="*/ 4451617 w 4464496"/>
              <a:gd name="connsiteY1" fmla="*/ 0 h 1998818"/>
              <a:gd name="connsiteX2" fmla="*/ 4464496 w 4464496"/>
              <a:gd name="connsiteY2" fmla="*/ 1998818 h 1998818"/>
              <a:gd name="connsiteX3" fmla="*/ 0 w 4464496"/>
              <a:gd name="connsiteY3" fmla="*/ 1998818 h 1998818"/>
              <a:gd name="connsiteX4" fmla="*/ 0 w 4464496"/>
              <a:gd name="connsiteY4" fmla="*/ 12879 h 1998818"/>
              <a:gd name="connsiteX0" fmla="*/ 0 w 4464496"/>
              <a:gd name="connsiteY0" fmla="*/ 0 h 1985939"/>
              <a:gd name="connsiteX1" fmla="*/ 4451617 w 4464496"/>
              <a:gd name="connsiteY1" fmla="*/ 0 h 1985939"/>
              <a:gd name="connsiteX2" fmla="*/ 4464496 w 4464496"/>
              <a:gd name="connsiteY2" fmla="*/ 1985939 h 1985939"/>
              <a:gd name="connsiteX3" fmla="*/ 0 w 4464496"/>
              <a:gd name="connsiteY3" fmla="*/ 1985939 h 1985939"/>
              <a:gd name="connsiteX4" fmla="*/ 0 w 4464496"/>
              <a:gd name="connsiteY4" fmla="*/ 0 h 1985939"/>
              <a:gd name="connsiteX0" fmla="*/ 0 w 4464496"/>
              <a:gd name="connsiteY0" fmla="*/ 0 h 1985939"/>
              <a:gd name="connsiteX1" fmla="*/ 4451617 w 4464496"/>
              <a:gd name="connsiteY1" fmla="*/ 0 h 1985939"/>
              <a:gd name="connsiteX2" fmla="*/ 4464496 w 4464496"/>
              <a:gd name="connsiteY2" fmla="*/ 1985939 h 1985939"/>
              <a:gd name="connsiteX3" fmla="*/ 0 w 4464496"/>
              <a:gd name="connsiteY3" fmla="*/ 1187449 h 1985939"/>
              <a:gd name="connsiteX4" fmla="*/ 0 w 4464496"/>
              <a:gd name="connsiteY4" fmla="*/ 0 h 1985939"/>
              <a:gd name="connsiteX0" fmla="*/ 0 w 4464496"/>
              <a:gd name="connsiteY0" fmla="*/ 0 h 1187449"/>
              <a:gd name="connsiteX1" fmla="*/ 4451617 w 4464496"/>
              <a:gd name="connsiteY1" fmla="*/ 0 h 1187449"/>
              <a:gd name="connsiteX2" fmla="*/ 4464496 w 4464496"/>
              <a:gd name="connsiteY2" fmla="*/ 1187449 h 1187449"/>
              <a:gd name="connsiteX3" fmla="*/ 0 w 4464496"/>
              <a:gd name="connsiteY3" fmla="*/ 1187449 h 1187449"/>
              <a:gd name="connsiteX4" fmla="*/ 0 w 4464496"/>
              <a:gd name="connsiteY4" fmla="*/ 0 h 1187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4496" h="1187449">
                <a:moveTo>
                  <a:pt x="0" y="0"/>
                </a:moveTo>
                <a:lnTo>
                  <a:pt x="4451617" y="0"/>
                </a:lnTo>
                <a:lnTo>
                  <a:pt x="4464496" y="1187449"/>
                </a:lnTo>
                <a:lnTo>
                  <a:pt x="0" y="1187449"/>
                </a:lnTo>
                <a:lnTo>
                  <a:pt x="0" y="0"/>
                </a:lnTo>
                <a:close/>
              </a:path>
            </a:pathLst>
          </a:custGeom>
          <a:noFill/>
          <a:ln w="28575">
            <a:solidFill>
              <a:schemeClr val="accent6"/>
            </a:solidFill>
          </a:ln>
        </p:spPr>
        <p:txBody>
          <a:bodyPr wrap="square" rtlCol="0">
            <a:spAutoFit/>
          </a:bodyPr>
          <a:lstStyle/>
          <a:p>
            <a:r>
              <a:rPr lang="en-GB" sz="2000" dirty="0"/>
              <a:t>Two human activities that </a:t>
            </a:r>
            <a:r>
              <a:rPr lang="en-GB" sz="2000" b="1" dirty="0">
                <a:solidFill>
                  <a:schemeClr val="accent6">
                    <a:lumMod val="75000"/>
                  </a:schemeClr>
                </a:solidFill>
              </a:rPr>
              <a:t>increase</a:t>
            </a:r>
            <a:r>
              <a:rPr lang="en-GB" sz="2000" dirty="0"/>
              <a:t> the amount of the greenhouse gas </a:t>
            </a:r>
            <a:r>
              <a:rPr lang="en-GB" sz="2000" b="1" dirty="0">
                <a:solidFill>
                  <a:schemeClr val="accent6">
                    <a:lumMod val="75000"/>
                  </a:schemeClr>
                </a:solidFill>
              </a:rPr>
              <a:t>methane</a:t>
            </a:r>
            <a:r>
              <a:rPr lang="en-GB" sz="2000" dirty="0"/>
              <a:t> are </a:t>
            </a:r>
            <a:r>
              <a:rPr lang="en-GB" sz="2000" b="1" dirty="0">
                <a:solidFill>
                  <a:schemeClr val="accent6">
                    <a:lumMod val="75000"/>
                  </a:schemeClr>
                </a:solidFill>
              </a:rPr>
              <a:t>farming of livestock </a:t>
            </a:r>
            <a:r>
              <a:rPr lang="en-GB" sz="2000" dirty="0"/>
              <a:t>e.g. cows and pigs and </a:t>
            </a:r>
            <a:r>
              <a:rPr lang="en-GB" sz="2000" b="1" dirty="0">
                <a:solidFill>
                  <a:schemeClr val="accent6">
                    <a:lumMod val="75000"/>
                  </a:schemeClr>
                </a:solidFill>
              </a:rPr>
              <a:t>landfills</a:t>
            </a:r>
            <a:r>
              <a:rPr lang="en-GB" sz="2000" dirty="0"/>
              <a:t>.</a:t>
            </a:r>
          </a:p>
        </p:txBody>
      </p:sp>
      <p:sp>
        <p:nvSpPr>
          <p:cNvPr id="12" name="TextBox 11"/>
          <p:cNvSpPr txBox="1"/>
          <p:nvPr/>
        </p:nvSpPr>
        <p:spPr>
          <a:xfrm>
            <a:off x="251519" y="2865336"/>
            <a:ext cx="5028921" cy="1631216"/>
          </a:xfrm>
          <a:custGeom>
            <a:avLst/>
            <a:gdLst>
              <a:gd name="connsiteX0" fmla="*/ 0 w 4032448"/>
              <a:gd name="connsiteY0" fmla="*/ 0 h 1754326"/>
              <a:gd name="connsiteX1" fmla="*/ 4032448 w 4032448"/>
              <a:gd name="connsiteY1" fmla="*/ 0 h 1754326"/>
              <a:gd name="connsiteX2" fmla="*/ 4032448 w 4032448"/>
              <a:gd name="connsiteY2" fmla="*/ 1754326 h 1754326"/>
              <a:gd name="connsiteX3" fmla="*/ 0 w 4032448"/>
              <a:gd name="connsiteY3" fmla="*/ 1754326 h 1754326"/>
              <a:gd name="connsiteX4" fmla="*/ 0 w 4032448"/>
              <a:gd name="connsiteY4" fmla="*/ 0 h 1754326"/>
              <a:gd name="connsiteX0" fmla="*/ 12878 w 4032448"/>
              <a:gd name="connsiteY0" fmla="*/ 0 h 1844478"/>
              <a:gd name="connsiteX1" fmla="*/ 4032448 w 4032448"/>
              <a:gd name="connsiteY1" fmla="*/ 90152 h 1844478"/>
              <a:gd name="connsiteX2" fmla="*/ 4032448 w 4032448"/>
              <a:gd name="connsiteY2" fmla="*/ 1844478 h 1844478"/>
              <a:gd name="connsiteX3" fmla="*/ 0 w 4032448"/>
              <a:gd name="connsiteY3" fmla="*/ 1844478 h 1844478"/>
              <a:gd name="connsiteX4" fmla="*/ 12878 w 4032448"/>
              <a:gd name="connsiteY4" fmla="*/ 0 h 1844478"/>
              <a:gd name="connsiteX0" fmla="*/ 12878 w 4032448"/>
              <a:gd name="connsiteY0" fmla="*/ 0 h 1844478"/>
              <a:gd name="connsiteX1" fmla="*/ 4032448 w 4032448"/>
              <a:gd name="connsiteY1" fmla="*/ 0 h 1844478"/>
              <a:gd name="connsiteX2" fmla="*/ 4032448 w 4032448"/>
              <a:gd name="connsiteY2" fmla="*/ 1844478 h 1844478"/>
              <a:gd name="connsiteX3" fmla="*/ 0 w 4032448"/>
              <a:gd name="connsiteY3" fmla="*/ 1844478 h 1844478"/>
              <a:gd name="connsiteX4" fmla="*/ 12878 w 4032448"/>
              <a:gd name="connsiteY4" fmla="*/ 0 h 1844478"/>
              <a:gd name="connsiteX0" fmla="*/ 571 w 4020141"/>
              <a:gd name="connsiteY0" fmla="*/ 0 h 1844478"/>
              <a:gd name="connsiteX1" fmla="*/ 4020141 w 4020141"/>
              <a:gd name="connsiteY1" fmla="*/ 0 h 1844478"/>
              <a:gd name="connsiteX2" fmla="*/ 4020141 w 4020141"/>
              <a:gd name="connsiteY2" fmla="*/ 1844478 h 1844478"/>
              <a:gd name="connsiteX3" fmla="*/ 13450 w 4020141"/>
              <a:gd name="connsiteY3" fmla="*/ 1702810 h 1844478"/>
              <a:gd name="connsiteX4" fmla="*/ 571 w 4020141"/>
              <a:gd name="connsiteY4" fmla="*/ 0 h 1844478"/>
              <a:gd name="connsiteX0" fmla="*/ 1239 w 4020809"/>
              <a:gd name="connsiteY0" fmla="*/ 0 h 1844478"/>
              <a:gd name="connsiteX1" fmla="*/ 4020809 w 4020809"/>
              <a:gd name="connsiteY1" fmla="*/ 0 h 1844478"/>
              <a:gd name="connsiteX2" fmla="*/ 4020809 w 4020809"/>
              <a:gd name="connsiteY2" fmla="*/ 1844478 h 1844478"/>
              <a:gd name="connsiteX3" fmla="*/ 1239 w 4020809"/>
              <a:gd name="connsiteY3" fmla="*/ 1702810 h 1844478"/>
              <a:gd name="connsiteX4" fmla="*/ 1239 w 4020809"/>
              <a:gd name="connsiteY4" fmla="*/ 0 h 1844478"/>
              <a:gd name="connsiteX0" fmla="*/ 1239 w 4020809"/>
              <a:gd name="connsiteY0" fmla="*/ 0 h 1702810"/>
              <a:gd name="connsiteX1" fmla="*/ 4020809 w 4020809"/>
              <a:gd name="connsiteY1" fmla="*/ 0 h 1702810"/>
              <a:gd name="connsiteX2" fmla="*/ 4020809 w 4020809"/>
              <a:gd name="connsiteY2" fmla="*/ 1677052 h 1702810"/>
              <a:gd name="connsiteX3" fmla="*/ 1239 w 4020809"/>
              <a:gd name="connsiteY3" fmla="*/ 1702810 h 1702810"/>
              <a:gd name="connsiteX4" fmla="*/ 1239 w 4020809"/>
              <a:gd name="connsiteY4" fmla="*/ 0 h 1702810"/>
              <a:gd name="connsiteX0" fmla="*/ 1239 w 4020809"/>
              <a:gd name="connsiteY0" fmla="*/ 0 h 1702810"/>
              <a:gd name="connsiteX1" fmla="*/ 4020809 w 4020809"/>
              <a:gd name="connsiteY1" fmla="*/ 0 h 1702810"/>
              <a:gd name="connsiteX2" fmla="*/ 4020809 w 4020809"/>
              <a:gd name="connsiteY2" fmla="*/ 1702810 h 1702810"/>
              <a:gd name="connsiteX3" fmla="*/ 1239 w 4020809"/>
              <a:gd name="connsiteY3" fmla="*/ 1702810 h 1702810"/>
              <a:gd name="connsiteX4" fmla="*/ 1239 w 4020809"/>
              <a:gd name="connsiteY4" fmla="*/ 0 h 170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09" h="1702810">
                <a:moveTo>
                  <a:pt x="1239" y="0"/>
                </a:moveTo>
                <a:lnTo>
                  <a:pt x="4020809" y="0"/>
                </a:lnTo>
                <a:lnTo>
                  <a:pt x="4020809" y="1702810"/>
                </a:lnTo>
                <a:lnTo>
                  <a:pt x="1239" y="1702810"/>
                </a:lnTo>
                <a:cubicBezTo>
                  <a:pt x="5532" y="1087984"/>
                  <a:pt x="-3054" y="614826"/>
                  <a:pt x="1239" y="0"/>
                </a:cubicBezTo>
                <a:close/>
              </a:path>
            </a:pathLst>
          </a:custGeom>
          <a:noFill/>
        </p:spPr>
        <p:txBody>
          <a:bodyPr wrap="square" rtlCol="0">
            <a:spAutoFit/>
          </a:bodyPr>
          <a:lstStyle/>
          <a:p>
            <a:r>
              <a:rPr lang="en-GB" sz="2000" dirty="0"/>
              <a:t>Based on </a:t>
            </a:r>
            <a:r>
              <a:rPr lang="en-GB" sz="2000" b="1" dirty="0">
                <a:solidFill>
                  <a:schemeClr val="accent6">
                    <a:lumMod val="75000"/>
                  </a:schemeClr>
                </a:solidFill>
              </a:rPr>
              <a:t>peer-reviewed evidence</a:t>
            </a:r>
            <a:r>
              <a:rPr lang="en-GB" sz="2000" dirty="0"/>
              <a:t>, many scientists believe that human activities will cause the </a:t>
            </a:r>
            <a:r>
              <a:rPr lang="en-GB" sz="2000" b="1" dirty="0">
                <a:solidFill>
                  <a:schemeClr val="accent6">
                    <a:lumMod val="75000"/>
                  </a:schemeClr>
                </a:solidFill>
              </a:rPr>
              <a:t>temperature</a:t>
            </a:r>
            <a:r>
              <a:rPr lang="en-GB" sz="2000" dirty="0"/>
              <a:t> of the Earth’s atmosphere to </a:t>
            </a:r>
            <a:r>
              <a:rPr lang="en-GB" sz="2000" b="1" dirty="0">
                <a:solidFill>
                  <a:schemeClr val="accent6">
                    <a:lumMod val="75000"/>
                  </a:schemeClr>
                </a:solidFill>
              </a:rPr>
              <a:t>increase</a:t>
            </a:r>
            <a:r>
              <a:rPr lang="en-GB" sz="2000" dirty="0"/>
              <a:t> at the surface and that this will result in</a:t>
            </a:r>
            <a:r>
              <a:rPr lang="en-GB" sz="2000" b="1" dirty="0"/>
              <a:t> </a:t>
            </a:r>
            <a:r>
              <a:rPr lang="en-GB" sz="2000" b="1" dirty="0">
                <a:solidFill>
                  <a:schemeClr val="accent6">
                    <a:lumMod val="75000"/>
                  </a:schemeClr>
                </a:solidFill>
              </a:rPr>
              <a:t>global climate change</a:t>
            </a:r>
            <a:r>
              <a:rPr lang="en-GB" sz="2000" dirty="0">
                <a:solidFill>
                  <a:schemeClr val="accent6">
                    <a:lumMod val="75000"/>
                  </a:schemeClr>
                </a:solidFill>
              </a:rPr>
              <a:t>.</a:t>
            </a:r>
          </a:p>
        </p:txBody>
      </p:sp>
      <p:pic>
        <p:nvPicPr>
          <p:cNvPr id="13" name="Picture 12"/>
          <p:cNvPicPr>
            <a:picLocks noChangeAspect="1"/>
          </p:cNvPicPr>
          <p:nvPr/>
        </p:nvPicPr>
        <p:blipFill>
          <a:blip r:embed="rId3"/>
          <a:stretch>
            <a:fillRect/>
          </a:stretch>
        </p:blipFill>
        <p:spPr>
          <a:xfrm>
            <a:off x="5561941" y="3200611"/>
            <a:ext cx="3402547" cy="2696055"/>
          </a:xfrm>
          <a:prstGeom prst="rect">
            <a:avLst/>
          </a:prstGeom>
        </p:spPr>
      </p:pic>
      <p:sp>
        <p:nvSpPr>
          <p:cNvPr id="14" name="TextBox 13"/>
          <p:cNvSpPr txBox="1"/>
          <p:nvPr/>
        </p:nvSpPr>
        <p:spPr>
          <a:xfrm>
            <a:off x="251519" y="4475180"/>
            <a:ext cx="5040561" cy="1938992"/>
          </a:xfrm>
          <a:custGeom>
            <a:avLst/>
            <a:gdLst>
              <a:gd name="connsiteX0" fmla="*/ 0 w 4032448"/>
              <a:gd name="connsiteY0" fmla="*/ 0 h 2031325"/>
              <a:gd name="connsiteX1" fmla="*/ 4032448 w 4032448"/>
              <a:gd name="connsiteY1" fmla="*/ 0 h 2031325"/>
              <a:gd name="connsiteX2" fmla="*/ 4032448 w 4032448"/>
              <a:gd name="connsiteY2" fmla="*/ 2031325 h 2031325"/>
              <a:gd name="connsiteX3" fmla="*/ 0 w 4032448"/>
              <a:gd name="connsiteY3" fmla="*/ 2031325 h 2031325"/>
              <a:gd name="connsiteX4" fmla="*/ 0 w 4032448"/>
              <a:gd name="connsiteY4" fmla="*/ 0 h 2031325"/>
              <a:gd name="connsiteX0" fmla="*/ 0 w 4032448"/>
              <a:gd name="connsiteY0" fmla="*/ 0 h 2353297"/>
              <a:gd name="connsiteX1" fmla="*/ 4032448 w 4032448"/>
              <a:gd name="connsiteY1" fmla="*/ 321972 h 2353297"/>
              <a:gd name="connsiteX2" fmla="*/ 4032448 w 4032448"/>
              <a:gd name="connsiteY2" fmla="*/ 2353297 h 2353297"/>
              <a:gd name="connsiteX3" fmla="*/ 0 w 4032448"/>
              <a:gd name="connsiteY3" fmla="*/ 2353297 h 2353297"/>
              <a:gd name="connsiteX4" fmla="*/ 0 w 4032448"/>
              <a:gd name="connsiteY4" fmla="*/ 0 h 2353297"/>
              <a:gd name="connsiteX0" fmla="*/ 0 w 4032448"/>
              <a:gd name="connsiteY0" fmla="*/ 0 h 2353297"/>
              <a:gd name="connsiteX1" fmla="*/ 4019569 w 4032448"/>
              <a:gd name="connsiteY1" fmla="*/ 0 h 2353297"/>
              <a:gd name="connsiteX2" fmla="*/ 4032448 w 4032448"/>
              <a:gd name="connsiteY2" fmla="*/ 2353297 h 2353297"/>
              <a:gd name="connsiteX3" fmla="*/ 0 w 4032448"/>
              <a:gd name="connsiteY3" fmla="*/ 2353297 h 2353297"/>
              <a:gd name="connsiteX4" fmla="*/ 0 w 4032448"/>
              <a:gd name="connsiteY4" fmla="*/ 0 h 2353297"/>
              <a:gd name="connsiteX0" fmla="*/ 0 w 4032448"/>
              <a:gd name="connsiteY0" fmla="*/ 0 h 2353297"/>
              <a:gd name="connsiteX1" fmla="*/ 4019569 w 4032448"/>
              <a:gd name="connsiteY1" fmla="*/ 0 h 2353297"/>
              <a:gd name="connsiteX2" fmla="*/ 4032448 w 4032448"/>
              <a:gd name="connsiteY2" fmla="*/ 2353297 h 2353297"/>
              <a:gd name="connsiteX3" fmla="*/ 0 w 4032448"/>
              <a:gd name="connsiteY3" fmla="*/ 1992688 h 2353297"/>
              <a:gd name="connsiteX4" fmla="*/ 0 w 4032448"/>
              <a:gd name="connsiteY4" fmla="*/ 0 h 2353297"/>
              <a:gd name="connsiteX0" fmla="*/ 0 w 4019569"/>
              <a:gd name="connsiteY0" fmla="*/ 0 h 1992688"/>
              <a:gd name="connsiteX1" fmla="*/ 4019569 w 4019569"/>
              <a:gd name="connsiteY1" fmla="*/ 0 h 1992688"/>
              <a:gd name="connsiteX2" fmla="*/ 4019569 w 4019569"/>
              <a:gd name="connsiteY2" fmla="*/ 1979810 h 1992688"/>
              <a:gd name="connsiteX3" fmla="*/ 0 w 4019569"/>
              <a:gd name="connsiteY3" fmla="*/ 1992688 h 1992688"/>
              <a:gd name="connsiteX4" fmla="*/ 0 w 4019569"/>
              <a:gd name="connsiteY4" fmla="*/ 0 h 1992688"/>
              <a:gd name="connsiteX0" fmla="*/ 0 w 4019569"/>
              <a:gd name="connsiteY0" fmla="*/ 0 h 1992688"/>
              <a:gd name="connsiteX1" fmla="*/ 4019569 w 4019569"/>
              <a:gd name="connsiteY1" fmla="*/ 0 h 1992688"/>
              <a:gd name="connsiteX2" fmla="*/ 4019569 w 4019569"/>
              <a:gd name="connsiteY2" fmla="*/ 1992688 h 1992688"/>
              <a:gd name="connsiteX3" fmla="*/ 0 w 4019569"/>
              <a:gd name="connsiteY3" fmla="*/ 1992688 h 1992688"/>
              <a:gd name="connsiteX4" fmla="*/ 0 w 4019569"/>
              <a:gd name="connsiteY4" fmla="*/ 0 h 1992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9569" h="1992688">
                <a:moveTo>
                  <a:pt x="0" y="0"/>
                </a:moveTo>
                <a:lnTo>
                  <a:pt x="4019569" y="0"/>
                </a:lnTo>
                <a:lnTo>
                  <a:pt x="4019569" y="1992688"/>
                </a:lnTo>
                <a:lnTo>
                  <a:pt x="0" y="1992688"/>
                </a:lnTo>
                <a:lnTo>
                  <a:pt x="0" y="0"/>
                </a:lnTo>
                <a:close/>
              </a:path>
            </a:pathLst>
          </a:custGeom>
          <a:noFill/>
        </p:spPr>
        <p:txBody>
          <a:bodyPr wrap="square" rtlCol="0">
            <a:spAutoFit/>
          </a:bodyPr>
          <a:lstStyle/>
          <a:p>
            <a:r>
              <a:rPr lang="en-GB" sz="2000" dirty="0"/>
              <a:t>However it is difficult to </a:t>
            </a:r>
            <a:r>
              <a:rPr lang="en-GB" sz="2000" b="1" dirty="0">
                <a:solidFill>
                  <a:schemeClr val="accent6">
                    <a:lumMod val="75000"/>
                  </a:schemeClr>
                </a:solidFill>
              </a:rPr>
              <a:t>model</a:t>
            </a:r>
            <a:r>
              <a:rPr lang="en-GB" sz="2000" dirty="0"/>
              <a:t> such </a:t>
            </a:r>
            <a:r>
              <a:rPr lang="en-GB" sz="2000" b="1" dirty="0">
                <a:solidFill>
                  <a:schemeClr val="accent6">
                    <a:lumMod val="75000"/>
                  </a:schemeClr>
                </a:solidFill>
              </a:rPr>
              <a:t>complex systems</a:t>
            </a:r>
            <a:r>
              <a:rPr lang="en-GB" sz="2000" dirty="0">
                <a:solidFill>
                  <a:schemeClr val="accent6">
                    <a:lumMod val="75000"/>
                  </a:schemeClr>
                </a:solidFill>
              </a:rPr>
              <a:t> </a:t>
            </a:r>
            <a:r>
              <a:rPr lang="en-GB" sz="2000" dirty="0"/>
              <a:t>as global climate change. This leads to </a:t>
            </a:r>
            <a:r>
              <a:rPr lang="en-GB" sz="2000" b="1" dirty="0">
                <a:solidFill>
                  <a:schemeClr val="accent6">
                    <a:lumMod val="75000"/>
                  </a:schemeClr>
                </a:solidFill>
              </a:rPr>
              <a:t>simplified models</a:t>
            </a:r>
            <a:r>
              <a:rPr lang="en-GB" sz="2000" dirty="0"/>
              <a:t>, </a:t>
            </a:r>
            <a:r>
              <a:rPr lang="en-GB" sz="2000" b="1" dirty="0">
                <a:solidFill>
                  <a:schemeClr val="accent6">
                    <a:lumMod val="75000"/>
                  </a:schemeClr>
                </a:solidFill>
              </a:rPr>
              <a:t>speculation</a:t>
            </a:r>
            <a:r>
              <a:rPr lang="en-GB" sz="2000" dirty="0"/>
              <a:t> and </a:t>
            </a:r>
            <a:r>
              <a:rPr lang="en-GB" sz="2000" b="1" dirty="0">
                <a:solidFill>
                  <a:schemeClr val="accent6">
                    <a:lumMod val="75000"/>
                  </a:schemeClr>
                </a:solidFill>
              </a:rPr>
              <a:t>opinions</a:t>
            </a:r>
            <a:r>
              <a:rPr lang="en-GB" sz="2000" dirty="0"/>
              <a:t> presented in the media that may be based on only parts of the evidence and which may be </a:t>
            </a:r>
            <a:r>
              <a:rPr lang="en-GB" sz="2000" b="1" dirty="0">
                <a:solidFill>
                  <a:schemeClr val="accent6">
                    <a:lumMod val="75000"/>
                  </a:schemeClr>
                </a:solidFill>
              </a:rPr>
              <a:t>biased.</a:t>
            </a:r>
          </a:p>
        </p:txBody>
      </p:sp>
    </p:spTree>
    <p:extLst>
      <p:ext uri="{BB962C8B-B14F-4D97-AF65-F5344CB8AC3E}">
        <p14:creationId xmlns:p14="http://schemas.microsoft.com/office/powerpoint/2010/main" val="40190304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447645"/>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solidFill>
                  <a:schemeClr val="tx1">
                    <a:lumMod val="50000"/>
                    <a:lumOff val="50000"/>
                  </a:schemeClr>
                </a:solidFill>
              </a:rPr>
              <a:t>Carbon dioxide and </a:t>
            </a:r>
          </a:p>
          <a:p>
            <a:r>
              <a:rPr lang="en-US" sz="2800" b="1" dirty="0">
                <a:solidFill>
                  <a:schemeClr val="tx1">
                    <a:lumMod val="50000"/>
                    <a:lumOff val="50000"/>
                  </a:schemeClr>
                </a:solidFill>
              </a:rPr>
              <a:t>methane as greenhouse</a:t>
            </a:r>
          </a:p>
          <a:p>
            <a:r>
              <a:rPr lang="en-US" sz="2800" b="1" dirty="0">
                <a:solidFill>
                  <a:schemeClr val="tx1">
                    <a:lumMod val="50000"/>
                    <a:lumOff val="50000"/>
                  </a:schemeClr>
                </a:solidFill>
              </a:rPr>
              <a:t>Gases Part 1</a:t>
            </a:r>
          </a:p>
          <a:p>
            <a:pPr marL="457200" indent="-457200">
              <a:buFont typeface="Arial" charset="0"/>
              <a:buChar char="•"/>
            </a:pPr>
            <a:r>
              <a:rPr lang="en-GB" sz="2400" b="1" dirty="0">
                <a:solidFill>
                  <a:schemeClr val="tx1">
                    <a:lumMod val="50000"/>
                    <a:lumOff val="50000"/>
                  </a:schemeClr>
                </a:solidFill>
              </a:rPr>
              <a:t>Greenhouse gases</a:t>
            </a:r>
          </a:p>
          <a:p>
            <a:pPr marL="457200" indent="-457200">
              <a:buFont typeface="Arial" charset="0"/>
              <a:buChar char="•"/>
            </a:pPr>
            <a:r>
              <a:rPr lang="en-GB" sz="2400" b="1" dirty="0">
                <a:solidFill>
                  <a:schemeClr val="tx1">
                    <a:lumMod val="50000"/>
                    <a:lumOff val="50000"/>
                  </a:schemeClr>
                </a:solidFill>
              </a:rPr>
              <a:t>Human activities which contribute to an increase in greenhouse gases </a:t>
            </a:r>
            <a:r>
              <a:rPr lang="en-GB" sz="2400" b="1" dirty="0" smtClean="0">
                <a:solidFill>
                  <a:schemeClr val="tx1">
                    <a:lumMod val="50000"/>
                    <a:lumOff val="50000"/>
                  </a:schemeClr>
                </a:solidFill>
              </a:rPr>
              <a:t>in </a:t>
            </a:r>
            <a:r>
              <a:rPr lang="en-GB" sz="2400" b="1" dirty="0">
                <a:solidFill>
                  <a:schemeClr val="tx1">
                    <a:lumMod val="50000"/>
                    <a:lumOff val="50000"/>
                  </a:schemeClr>
                </a:solidFill>
              </a:rPr>
              <a:t>the atmosphere</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4684631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kumimoji="0" lang="en-US" sz="2200" b="1" i="0" u="none" strike="noStrike" kern="1200" cap="none" spc="0" normalizeH="0" baseline="0" noProof="0" dirty="0">
                <a:ln>
                  <a:noFill/>
                </a:ln>
                <a:solidFill>
                  <a:schemeClr val="accent6"/>
                </a:solidFill>
                <a:effectLst/>
                <a:uLnTx/>
                <a:uFillTx/>
                <a:latin typeface="Calibri"/>
                <a:ea typeface=""/>
                <a:cs typeface="News Gothic MT"/>
              </a:rPr>
              <a:t>Carbon dioxide and methane as greenhouse gases </a:t>
            </a:r>
            <a:r>
              <a:rPr lang="en-US" sz="2200" b="1" kern="1200" dirty="0">
                <a:solidFill>
                  <a:schemeClr val="accent6"/>
                </a:solidFill>
                <a:latin typeface="Calibri"/>
                <a:ea typeface=""/>
                <a:cs typeface="News Gothic MT"/>
              </a:rPr>
              <a:t>– </a:t>
            </a:r>
            <a:r>
              <a:rPr lang="en-US" sz="2200" b="1" kern="1200" dirty="0" err="1">
                <a:solidFill>
                  <a:schemeClr val="tx1"/>
                </a:solidFill>
                <a:latin typeface="Calibri"/>
                <a:ea typeface=""/>
                <a:cs typeface="News Gothic MT"/>
              </a:rPr>
              <a:t>QuestionIT</a:t>
            </a:r>
            <a:endParaRPr kumimoji="0" lang="en-US" sz="22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708981"/>
          </a:xfrm>
          <a:prstGeom prst="rect">
            <a:avLst/>
          </a:prstGeom>
          <a:noFill/>
        </p:spPr>
        <p:txBody>
          <a:bodyPr wrap="square" rtlCol="0">
            <a:spAutoFit/>
          </a:bodyPr>
          <a:lstStyle/>
          <a:p>
            <a:pPr marL="457200" indent="-457200">
              <a:buFont typeface="+mj-lt"/>
              <a:buAutoNum type="arabicPeriod"/>
            </a:pPr>
            <a:r>
              <a:rPr lang="en-GB" sz="2400" dirty="0" smtClean="0"/>
              <a:t>Name 3 greenhouse gases.</a:t>
            </a:r>
          </a:p>
          <a:p>
            <a:pPr marL="457200" indent="-457200">
              <a:buFont typeface="+mj-lt"/>
              <a:buAutoNum type="arabicPeriod"/>
            </a:pPr>
            <a:endParaRPr lang="en-GB" sz="2400" dirty="0" smtClean="0"/>
          </a:p>
          <a:p>
            <a:pPr marL="457200" indent="-457200">
              <a:buFont typeface="+mj-lt"/>
              <a:buAutoNum type="arabicPeriod"/>
            </a:pPr>
            <a:r>
              <a:rPr lang="en-GB" sz="2400" dirty="0" smtClean="0"/>
              <a:t>What is the link between greenhouse gases and the temperature of the Earth?</a:t>
            </a:r>
          </a:p>
          <a:p>
            <a:pPr marL="457200" indent="-457200">
              <a:buFont typeface="+mj-lt"/>
              <a:buAutoNum type="arabicPeriod"/>
            </a:pPr>
            <a:endParaRPr lang="en-GB" sz="2400" dirty="0"/>
          </a:p>
          <a:p>
            <a:pPr marL="457200" indent="-457200">
              <a:buFont typeface="+mj-lt"/>
              <a:buAutoNum type="arabicPeriod"/>
            </a:pPr>
            <a:r>
              <a:rPr lang="en-GB" sz="2400" dirty="0" smtClean="0"/>
              <a:t>Name human activities which increase the amount of carbon dioxide in the atmosphere.</a:t>
            </a:r>
          </a:p>
          <a:p>
            <a:pPr marL="457200" indent="-457200">
              <a:buFont typeface="+mj-lt"/>
              <a:buAutoNum type="arabicPeriod"/>
            </a:pPr>
            <a:endParaRPr lang="en-GB" sz="2400" dirty="0" smtClean="0"/>
          </a:p>
          <a:p>
            <a:pPr marL="457200" indent="-457200">
              <a:buFont typeface="+mj-lt"/>
              <a:buAutoNum type="arabicPeriod"/>
            </a:pPr>
            <a:r>
              <a:rPr lang="en-GB" sz="2400" dirty="0" smtClean="0"/>
              <a:t>Name human activities that increase the amount of methane in the atmosphere.</a:t>
            </a:r>
          </a:p>
          <a:p>
            <a:pPr marL="457200" indent="-457200">
              <a:buFont typeface="+mj-lt"/>
              <a:buAutoNum type="arabicPeriod"/>
            </a:pPr>
            <a:endParaRPr lang="en-GB" sz="2400" dirty="0" smtClean="0"/>
          </a:p>
          <a:p>
            <a:pPr>
              <a:lnSpc>
                <a:spcPct val="150000"/>
              </a:lnSpc>
            </a:pPr>
            <a:r>
              <a:rPr lang="en-GB" sz="2400" dirty="0"/>
              <a:t>	</a:t>
            </a:r>
            <a:endParaRPr lang="en-GB" sz="1600" dirty="0"/>
          </a:p>
        </p:txBody>
      </p:sp>
    </p:spTree>
    <p:extLst>
      <p:ext uri="{BB962C8B-B14F-4D97-AF65-F5344CB8AC3E}">
        <p14:creationId xmlns:p14="http://schemas.microsoft.com/office/powerpoint/2010/main" val="14544403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kumimoji="0" lang="en-US" sz="2200" b="1" i="0" u="none" strike="noStrike" kern="1200" cap="none" spc="0" normalizeH="0" baseline="0" noProof="0" dirty="0">
                <a:ln>
                  <a:noFill/>
                </a:ln>
                <a:solidFill>
                  <a:schemeClr val="accent6"/>
                </a:solidFill>
                <a:effectLst/>
                <a:uLnTx/>
                <a:uFillTx/>
                <a:latin typeface="Calibri"/>
                <a:ea typeface=""/>
                <a:cs typeface="News Gothic MT"/>
              </a:rPr>
              <a:t>Carbon dioxide and methane as greenhouse gases </a:t>
            </a:r>
            <a:r>
              <a:rPr lang="en-US" sz="2200" b="1" kern="1200" dirty="0">
                <a:solidFill>
                  <a:schemeClr val="accent6"/>
                </a:solidFill>
                <a:latin typeface="Calibri"/>
                <a:ea typeface=""/>
                <a:cs typeface="News Gothic MT"/>
              </a:rPr>
              <a:t>– </a:t>
            </a:r>
            <a:r>
              <a:rPr lang="en-US" sz="2200" b="1" kern="1200" dirty="0" err="1">
                <a:solidFill>
                  <a:schemeClr val="tx1"/>
                </a:solidFill>
                <a:latin typeface="Calibri"/>
                <a:ea typeface=""/>
                <a:cs typeface="News Gothic MT"/>
              </a:rPr>
              <a:t>QuestionIT</a:t>
            </a:r>
            <a:endParaRPr kumimoji="0" lang="en-US" sz="22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2862322"/>
          </a:xfrm>
          <a:prstGeom prst="rect">
            <a:avLst/>
          </a:prstGeom>
          <a:noFill/>
        </p:spPr>
        <p:txBody>
          <a:bodyPr wrap="square" rtlCol="0">
            <a:spAutoFit/>
          </a:bodyPr>
          <a:lstStyle/>
          <a:p>
            <a:endParaRPr lang="en-GB" sz="2400" dirty="0" smtClean="0"/>
          </a:p>
          <a:p>
            <a:pPr marL="457200" indent="-457200">
              <a:buFont typeface="+mj-lt"/>
              <a:buAutoNum type="arabicPeriod" startAt="5"/>
            </a:pPr>
            <a:r>
              <a:rPr lang="en-GB" sz="2400" dirty="0" smtClean="0"/>
              <a:t>What do many scientists believe about human activities and the temperature of the Earth’s atmosphere?</a:t>
            </a:r>
          </a:p>
          <a:p>
            <a:pPr marL="457200" indent="-457200">
              <a:buFont typeface="+mj-lt"/>
              <a:buAutoNum type="arabicPeriod" startAt="5"/>
            </a:pPr>
            <a:endParaRPr lang="en-GB" sz="2400" dirty="0" smtClean="0"/>
          </a:p>
          <a:p>
            <a:pPr marL="457200" indent="-457200">
              <a:buFont typeface="+mj-lt"/>
              <a:buAutoNum type="arabicPeriod" startAt="5"/>
            </a:pPr>
            <a:r>
              <a:rPr lang="en-GB" sz="2400" dirty="0" smtClean="0"/>
              <a:t>Why </a:t>
            </a:r>
            <a:r>
              <a:rPr lang="en-GB" sz="2400" dirty="0" smtClean="0"/>
              <a:t>are there issues surrounding modelling human impact on climate change?</a:t>
            </a:r>
            <a:endParaRPr lang="en-GB" sz="2400" dirty="0"/>
          </a:p>
          <a:p>
            <a:pPr>
              <a:lnSpc>
                <a:spcPct val="150000"/>
              </a:lnSpc>
            </a:pPr>
            <a:r>
              <a:rPr lang="en-GB" sz="2400" dirty="0"/>
              <a:t>	</a:t>
            </a:r>
            <a:endParaRPr lang="en-GB" sz="1600" dirty="0"/>
          </a:p>
        </p:txBody>
      </p:sp>
    </p:spTree>
    <p:extLst>
      <p:ext uri="{BB962C8B-B14F-4D97-AF65-F5344CB8AC3E}">
        <p14:creationId xmlns:p14="http://schemas.microsoft.com/office/powerpoint/2010/main" val="37192332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170646"/>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2800" b="1" dirty="0">
                <a:solidFill>
                  <a:schemeClr val="tx1">
                    <a:lumMod val="50000"/>
                    <a:lumOff val="50000"/>
                  </a:schemeClr>
                </a:solidFill>
              </a:rPr>
              <a:t>Carbon dioxide and </a:t>
            </a:r>
          </a:p>
          <a:p>
            <a:r>
              <a:rPr lang="en-US" sz="2800" b="1" dirty="0">
                <a:solidFill>
                  <a:schemeClr val="tx1">
                    <a:lumMod val="50000"/>
                    <a:lumOff val="50000"/>
                  </a:schemeClr>
                </a:solidFill>
              </a:rPr>
              <a:t>methane as greenhouse</a:t>
            </a:r>
          </a:p>
          <a:p>
            <a:r>
              <a:rPr lang="en-US" sz="2800" b="1" dirty="0">
                <a:solidFill>
                  <a:schemeClr val="tx1">
                    <a:lumMod val="50000"/>
                    <a:lumOff val="50000"/>
                  </a:schemeClr>
                </a:solidFill>
              </a:rPr>
              <a:t>Gases Part 1</a:t>
            </a:r>
          </a:p>
          <a:p>
            <a:pPr marL="457200" indent="-457200">
              <a:lnSpc>
                <a:spcPct val="150000"/>
              </a:lnSpc>
              <a:buFont typeface="Arial" charset="0"/>
              <a:buChar char="•"/>
            </a:pPr>
            <a:r>
              <a:rPr lang="en-GB" sz="2000" b="1" dirty="0">
                <a:solidFill>
                  <a:schemeClr val="tx1">
                    <a:lumMod val="50000"/>
                    <a:lumOff val="50000"/>
                  </a:schemeClr>
                </a:solidFill>
              </a:rPr>
              <a:t>Greenhouse gases</a:t>
            </a:r>
          </a:p>
          <a:p>
            <a:pPr marL="457200" indent="-457200">
              <a:lnSpc>
                <a:spcPct val="150000"/>
              </a:lnSpc>
              <a:buFont typeface="Arial" charset="0"/>
              <a:buChar char="•"/>
            </a:pPr>
            <a:r>
              <a:rPr lang="en-GB" sz="2000" b="1" dirty="0">
                <a:solidFill>
                  <a:schemeClr val="tx1">
                    <a:lumMod val="50000"/>
                    <a:lumOff val="50000"/>
                  </a:schemeClr>
                </a:solidFill>
              </a:rPr>
              <a:t>Human activities which contribute to an increase in greenhouse gases </a:t>
            </a:r>
          </a:p>
          <a:p>
            <a:pPr>
              <a:lnSpc>
                <a:spcPct val="150000"/>
              </a:lnSpc>
            </a:pPr>
            <a:r>
              <a:rPr lang="en-GB" sz="2000" b="1" dirty="0">
                <a:solidFill>
                  <a:schemeClr val="tx1">
                    <a:lumMod val="50000"/>
                    <a:lumOff val="50000"/>
                  </a:schemeClr>
                </a:solidFill>
              </a:rPr>
              <a:t>        in the atmosphere</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5191722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kumimoji="0" lang="en-US" sz="2200" b="1" i="0" u="none" strike="noStrike" kern="1200" cap="none" spc="0" normalizeH="0" baseline="0" noProof="0" dirty="0">
                <a:ln>
                  <a:noFill/>
                </a:ln>
                <a:solidFill>
                  <a:schemeClr val="accent6"/>
                </a:solidFill>
                <a:effectLst/>
                <a:uLnTx/>
                <a:uFillTx/>
                <a:latin typeface="Calibri"/>
                <a:ea typeface=""/>
                <a:cs typeface="News Gothic MT"/>
              </a:rPr>
              <a:t>Carbon dioxide and methane as greenhouse gases </a:t>
            </a:r>
            <a:r>
              <a:rPr lang="en-US" sz="2200" b="1" kern="1200" dirty="0">
                <a:solidFill>
                  <a:schemeClr val="accent6"/>
                </a:solidFill>
                <a:latin typeface="Calibri"/>
                <a:ea typeface=""/>
                <a:cs typeface="News Gothic MT"/>
              </a:rPr>
              <a:t>– </a:t>
            </a:r>
            <a:r>
              <a:rPr lang="en-US" sz="2200" b="1" kern="1200" dirty="0" err="1">
                <a:solidFill>
                  <a:schemeClr val="tx1"/>
                </a:solidFill>
                <a:latin typeface="Calibri"/>
                <a:ea typeface=""/>
                <a:cs typeface="News Gothic MT"/>
              </a:rPr>
              <a:t>QuestionIT</a:t>
            </a:r>
            <a:endParaRPr kumimoji="0" lang="en-US" sz="22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078313"/>
          </a:xfrm>
          <a:prstGeom prst="rect">
            <a:avLst/>
          </a:prstGeom>
          <a:noFill/>
        </p:spPr>
        <p:txBody>
          <a:bodyPr wrap="square" rtlCol="0">
            <a:spAutoFit/>
          </a:bodyPr>
          <a:lstStyle/>
          <a:p>
            <a:pPr marL="457200" indent="-457200">
              <a:buFont typeface="+mj-lt"/>
              <a:buAutoNum type="arabicPeriod"/>
            </a:pPr>
            <a:r>
              <a:rPr lang="en-GB" sz="2400" dirty="0" smtClean="0"/>
              <a:t>Name 3 greenhouse gases.</a:t>
            </a:r>
          </a:p>
          <a:p>
            <a:pPr lvl="1"/>
            <a:r>
              <a:rPr lang="en-GB" sz="2400" dirty="0" smtClean="0">
                <a:solidFill>
                  <a:srgbClr val="00B050"/>
                </a:solidFill>
              </a:rPr>
              <a:t>Water vapour, carbon dioxide, methane.</a:t>
            </a:r>
          </a:p>
          <a:p>
            <a:pPr marL="457200" indent="-457200">
              <a:buFont typeface="+mj-lt"/>
              <a:buAutoNum type="arabicPeriod"/>
            </a:pPr>
            <a:r>
              <a:rPr lang="en-GB" sz="2400" dirty="0" smtClean="0"/>
              <a:t>What is the link between greenhouse gases and the temperature of the Earth?</a:t>
            </a:r>
          </a:p>
          <a:p>
            <a:pPr lvl="1"/>
            <a:r>
              <a:rPr lang="en-GB" sz="2400" dirty="0" smtClean="0">
                <a:solidFill>
                  <a:srgbClr val="00B050"/>
                </a:solidFill>
              </a:rPr>
              <a:t>Greenhouse gases maintain temperatures on the Earth high enough to support life.</a:t>
            </a:r>
            <a:endParaRPr lang="en-GB" sz="2400" dirty="0">
              <a:solidFill>
                <a:srgbClr val="00B050"/>
              </a:solidFill>
            </a:endParaRPr>
          </a:p>
          <a:p>
            <a:pPr marL="457200" indent="-457200">
              <a:buFont typeface="+mj-lt"/>
              <a:buAutoNum type="arabicPeriod"/>
            </a:pPr>
            <a:r>
              <a:rPr lang="en-GB" sz="2400" dirty="0" smtClean="0"/>
              <a:t>Name human activities which increase the amount of carbon dioxide in the atmosphere.</a:t>
            </a:r>
          </a:p>
          <a:p>
            <a:pPr lvl="1"/>
            <a:r>
              <a:rPr lang="en-GB" sz="2400" dirty="0" smtClean="0">
                <a:solidFill>
                  <a:srgbClr val="00B050"/>
                </a:solidFill>
              </a:rPr>
              <a:t>Burning/ combustion of fossil fuels, deforestation.</a:t>
            </a:r>
          </a:p>
          <a:p>
            <a:pPr marL="457200" indent="-457200">
              <a:buFont typeface="+mj-lt"/>
              <a:buAutoNum type="arabicPeriod"/>
            </a:pPr>
            <a:r>
              <a:rPr lang="en-GB" sz="2400" dirty="0" smtClean="0"/>
              <a:t>Name human activities that increase the amount of methane in the atmosphere.</a:t>
            </a:r>
          </a:p>
          <a:p>
            <a:pPr lvl="1"/>
            <a:r>
              <a:rPr lang="en-GB" sz="2400" dirty="0" smtClean="0">
                <a:solidFill>
                  <a:srgbClr val="00B050"/>
                </a:solidFill>
              </a:rPr>
              <a:t>Farming of livestock; landfill sites.</a:t>
            </a:r>
          </a:p>
          <a:p>
            <a:pPr>
              <a:lnSpc>
                <a:spcPct val="150000"/>
              </a:lnSpc>
            </a:pPr>
            <a:r>
              <a:rPr lang="en-GB" sz="2400" dirty="0"/>
              <a:t>	</a:t>
            </a:r>
            <a:endParaRPr lang="en-GB" sz="1600" dirty="0"/>
          </a:p>
        </p:txBody>
      </p:sp>
    </p:spTree>
    <p:extLst>
      <p:ext uri="{BB962C8B-B14F-4D97-AF65-F5344CB8AC3E}">
        <p14:creationId xmlns:p14="http://schemas.microsoft.com/office/powerpoint/2010/main" val="14570315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kumimoji="0" lang="en-US" sz="2200" b="1" i="0" u="none" strike="noStrike" kern="1200" cap="none" spc="0" normalizeH="0" baseline="0" noProof="0" dirty="0">
                <a:ln>
                  <a:noFill/>
                </a:ln>
                <a:solidFill>
                  <a:schemeClr val="accent6"/>
                </a:solidFill>
                <a:effectLst/>
                <a:uLnTx/>
                <a:uFillTx/>
                <a:latin typeface="Calibri"/>
                <a:ea typeface=""/>
                <a:cs typeface="News Gothic MT"/>
              </a:rPr>
              <a:t>Carbon dioxide and methane as greenhouse gases </a:t>
            </a:r>
            <a:r>
              <a:rPr lang="en-US" sz="2200" b="1" kern="1200" dirty="0">
                <a:solidFill>
                  <a:schemeClr val="accent6"/>
                </a:solidFill>
                <a:latin typeface="Calibri"/>
                <a:ea typeface=""/>
                <a:cs typeface="News Gothic MT"/>
              </a:rPr>
              <a:t>– </a:t>
            </a:r>
            <a:r>
              <a:rPr lang="en-US" sz="2200" b="1" kern="1200" dirty="0" err="1">
                <a:solidFill>
                  <a:schemeClr val="tx1"/>
                </a:solidFill>
                <a:latin typeface="Calibri"/>
                <a:ea typeface=""/>
                <a:cs typeface="News Gothic MT"/>
              </a:rPr>
              <a:t>QuestionIT</a:t>
            </a:r>
            <a:endParaRPr kumimoji="0" lang="en-US" sz="22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708981"/>
          </a:xfrm>
          <a:prstGeom prst="rect">
            <a:avLst/>
          </a:prstGeom>
          <a:noFill/>
        </p:spPr>
        <p:txBody>
          <a:bodyPr wrap="square" rtlCol="0">
            <a:spAutoFit/>
          </a:bodyPr>
          <a:lstStyle/>
          <a:p>
            <a:endParaRPr lang="en-GB" sz="2400" dirty="0" smtClean="0"/>
          </a:p>
          <a:p>
            <a:pPr marL="457200" indent="-457200">
              <a:buFont typeface="+mj-lt"/>
              <a:buAutoNum type="arabicPeriod" startAt="5"/>
            </a:pPr>
            <a:r>
              <a:rPr lang="en-GB" sz="2400" dirty="0" smtClean="0"/>
              <a:t>What do many scientists believe about human activities and the temperature of the Earth’s atmosphere?</a:t>
            </a:r>
          </a:p>
          <a:p>
            <a:pPr lvl="1"/>
            <a:r>
              <a:rPr lang="en-GB" sz="2400" dirty="0" smtClean="0">
                <a:solidFill>
                  <a:srgbClr val="00B050"/>
                </a:solidFill>
              </a:rPr>
              <a:t>Human activities will cause the temperature of the Earth’s atmosphere to increase at the surface resulting in climate change.</a:t>
            </a:r>
          </a:p>
          <a:p>
            <a:pPr marL="457200" indent="-457200">
              <a:buFont typeface="+mj-lt"/>
              <a:buAutoNum type="arabicPeriod" startAt="5"/>
            </a:pPr>
            <a:r>
              <a:rPr lang="en-GB" sz="2400" dirty="0" smtClean="0"/>
              <a:t>Why </a:t>
            </a:r>
            <a:r>
              <a:rPr lang="en-GB" sz="2400" dirty="0" smtClean="0"/>
              <a:t>are there issues surrounding modelling human impact on climate change?</a:t>
            </a:r>
          </a:p>
          <a:p>
            <a:pPr marL="800100" lvl="1" indent="-342900">
              <a:buFont typeface="Arial" panose="020B0604020202020204" pitchFamily="34" charset="0"/>
              <a:buChar char="•"/>
            </a:pPr>
            <a:r>
              <a:rPr lang="en-GB" sz="2400" dirty="0" smtClean="0">
                <a:solidFill>
                  <a:srgbClr val="00B050"/>
                </a:solidFill>
              </a:rPr>
              <a:t>It is difficult to model these changes</a:t>
            </a:r>
          </a:p>
          <a:p>
            <a:pPr marL="800100" lvl="1" indent="-342900">
              <a:buFont typeface="Arial" panose="020B0604020202020204" pitchFamily="34" charset="0"/>
              <a:buChar char="•"/>
            </a:pPr>
            <a:r>
              <a:rPr lang="en-GB" sz="2400" dirty="0" smtClean="0">
                <a:solidFill>
                  <a:srgbClr val="00B050"/>
                </a:solidFill>
              </a:rPr>
              <a:t>Simplified models are generated </a:t>
            </a:r>
          </a:p>
          <a:p>
            <a:pPr marL="800100" lvl="1" indent="-342900">
              <a:buFont typeface="Arial" panose="020B0604020202020204" pitchFamily="34" charset="0"/>
              <a:buChar char="•"/>
            </a:pPr>
            <a:r>
              <a:rPr lang="en-GB" sz="2400" dirty="0">
                <a:solidFill>
                  <a:srgbClr val="00B050"/>
                </a:solidFill>
              </a:rPr>
              <a:t>L</a:t>
            </a:r>
            <a:r>
              <a:rPr lang="en-GB" sz="2400" dirty="0" smtClean="0">
                <a:solidFill>
                  <a:srgbClr val="00B050"/>
                </a:solidFill>
              </a:rPr>
              <a:t>eading to speculation and opinions presented in the media that may be based on only part of the evidence and be biased.</a:t>
            </a:r>
            <a:endParaRPr lang="en-GB" sz="2400" dirty="0">
              <a:solidFill>
                <a:srgbClr val="00B050"/>
              </a:solidFill>
            </a:endParaRPr>
          </a:p>
          <a:p>
            <a:pPr>
              <a:lnSpc>
                <a:spcPct val="150000"/>
              </a:lnSpc>
            </a:pPr>
            <a:r>
              <a:rPr lang="en-GB" sz="2400" dirty="0"/>
              <a:t>	</a:t>
            </a:r>
            <a:endParaRPr lang="en-GB" sz="1600" dirty="0"/>
          </a:p>
        </p:txBody>
      </p:sp>
    </p:spTree>
    <p:extLst>
      <p:ext uri="{BB962C8B-B14F-4D97-AF65-F5344CB8AC3E}">
        <p14:creationId xmlns:p14="http://schemas.microsoft.com/office/powerpoint/2010/main" val="4189876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5863144"/>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400" b="1" dirty="0">
                <a:solidFill>
                  <a:schemeClr val="tx1">
                    <a:lumMod val="50000"/>
                    <a:lumOff val="50000"/>
                  </a:schemeClr>
                </a:solidFill>
              </a:rPr>
              <a:t>Carbon dioxide and methane as greenhouse</a:t>
            </a:r>
          </a:p>
          <a:p>
            <a:r>
              <a:rPr lang="en-US" sz="2400" b="1" dirty="0">
                <a:solidFill>
                  <a:schemeClr val="tx1">
                    <a:lumMod val="50000"/>
                    <a:lumOff val="50000"/>
                  </a:schemeClr>
                </a:solidFill>
              </a:rPr>
              <a:t>Gases Part 2</a:t>
            </a:r>
          </a:p>
          <a:p>
            <a:pPr marL="457200" indent="-457200">
              <a:buFont typeface="Arial" charset="0"/>
              <a:buChar char="•"/>
            </a:pPr>
            <a:r>
              <a:rPr lang="en-GB" sz="2400" b="1" dirty="0">
                <a:solidFill>
                  <a:schemeClr val="tx1">
                    <a:lumMod val="50000"/>
                    <a:lumOff val="50000"/>
                  </a:schemeClr>
                </a:solidFill>
              </a:rPr>
              <a:t>Global climate change</a:t>
            </a:r>
          </a:p>
          <a:p>
            <a:pPr marL="457200" indent="-457200">
              <a:buFont typeface="Arial" charset="0"/>
              <a:buChar char="•"/>
            </a:pPr>
            <a:r>
              <a:rPr lang="en-GB" sz="2400" b="1" dirty="0">
                <a:solidFill>
                  <a:schemeClr val="tx1">
                    <a:lumMod val="50000"/>
                    <a:lumOff val="50000"/>
                  </a:schemeClr>
                </a:solidFill>
              </a:rPr>
              <a:t>The carbon footprint and </a:t>
            </a:r>
            <a:r>
              <a:rPr lang="en-GB" sz="2400" b="1" dirty="0" smtClean="0">
                <a:solidFill>
                  <a:schemeClr val="tx1">
                    <a:lumMod val="50000"/>
                    <a:lumOff val="50000"/>
                  </a:schemeClr>
                </a:solidFill>
              </a:rPr>
              <a:t>its </a:t>
            </a:r>
            <a:r>
              <a:rPr lang="en-GB" sz="2400" b="1" dirty="0">
                <a:solidFill>
                  <a:schemeClr val="tx1">
                    <a:lumMod val="50000"/>
                    <a:lumOff val="50000"/>
                  </a:schemeClr>
                </a:solidFill>
              </a:rPr>
              <a:t>reduction</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spTree>
    <p:extLst>
      <p:ext uri="{BB962C8B-B14F-4D97-AF65-F5344CB8AC3E}">
        <p14:creationId xmlns:p14="http://schemas.microsoft.com/office/powerpoint/2010/main" val="40295325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Global climate change the carbon footprint and its reduction</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179512" y="764704"/>
            <a:ext cx="8784976" cy="707886"/>
          </a:xfrm>
          <a:prstGeom prst="rect">
            <a:avLst/>
          </a:prstGeom>
          <a:noFill/>
        </p:spPr>
        <p:txBody>
          <a:bodyPr wrap="square" rtlCol="0">
            <a:spAutoFit/>
          </a:bodyPr>
          <a:lstStyle/>
          <a:p>
            <a:r>
              <a:rPr lang="en-GB" sz="2000" dirty="0"/>
              <a:t>An increase in average global temperature is a major cause of climate change.</a:t>
            </a:r>
          </a:p>
          <a:p>
            <a:r>
              <a:rPr lang="en-GB" sz="2000" dirty="0"/>
              <a:t>There are a number of potential effects of climate change:</a:t>
            </a:r>
          </a:p>
        </p:txBody>
      </p:sp>
      <p:sp>
        <p:nvSpPr>
          <p:cNvPr id="7" name="TextBox 6"/>
          <p:cNvSpPr txBox="1"/>
          <p:nvPr/>
        </p:nvSpPr>
        <p:spPr>
          <a:xfrm>
            <a:off x="179512" y="1389366"/>
            <a:ext cx="4176463" cy="400110"/>
          </a:xfrm>
          <a:custGeom>
            <a:avLst/>
            <a:gdLst>
              <a:gd name="connsiteX0" fmla="*/ 0 w 3888432"/>
              <a:gd name="connsiteY0" fmla="*/ 0 h 369332"/>
              <a:gd name="connsiteX1" fmla="*/ 3888432 w 3888432"/>
              <a:gd name="connsiteY1" fmla="*/ 0 h 369332"/>
              <a:gd name="connsiteX2" fmla="*/ 3888432 w 3888432"/>
              <a:gd name="connsiteY2" fmla="*/ 369332 h 369332"/>
              <a:gd name="connsiteX3" fmla="*/ 0 w 3888432"/>
              <a:gd name="connsiteY3" fmla="*/ 369332 h 369332"/>
              <a:gd name="connsiteX4" fmla="*/ 0 w 3888432"/>
              <a:gd name="connsiteY4" fmla="*/ 0 h 369332"/>
              <a:gd name="connsiteX0" fmla="*/ 0 w 3888432"/>
              <a:gd name="connsiteY0" fmla="*/ 0 h 536757"/>
              <a:gd name="connsiteX1" fmla="*/ 3888432 w 3888432"/>
              <a:gd name="connsiteY1" fmla="*/ 167425 h 536757"/>
              <a:gd name="connsiteX2" fmla="*/ 3888432 w 3888432"/>
              <a:gd name="connsiteY2" fmla="*/ 536757 h 536757"/>
              <a:gd name="connsiteX3" fmla="*/ 0 w 3888432"/>
              <a:gd name="connsiteY3" fmla="*/ 536757 h 536757"/>
              <a:gd name="connsiteX4" fmla="*/ 0 w 3888432"/>
              <a:gd name="connsiteY4" fmla="*/ 0 h 536757"/>
              <a:gd name="connsiteX0" fmla="*/ 0 w 3901311"/>
              <a:gd name="connsiteY0" fmla="*/ 0 h 536757"/>
              <a:gd name="connsiteX1" fmla="*/ 3901311 w 3901311"/>
              <a:gd name="connsiteY1" fmla="*/ 12878 h 536757"/>
              <a:gd name="connsiteX2" fmla="*/ 3888432 w 3901311"/>
              <a:gd name="connsiteY2" fmla="*/ 536757 h 536757"/>
              <a:gd name="connsiteX3" fmla="*/ 0 w 3901311"/>
              <a:gd name="connsiteY3" fmla="*/ 536757 h 536757"/>
              <a:gd name="connsiteX4" fmla="*/ 0 w 3901311"/>
              <a:gd name="connsiteY4" fmla="*/ 0 h 536757"/>
              <a:gd name="connsiteX0" fmla="*/ 0 w 3901311"/>
              <a:gd name="connsiteY0" fmla="*/ 0 h 536757"/>
              <a:gd name="connsiteX1" fmla="*/ 3901311 w 3901311"/>
              <a:gd name="connsiteY1" fmla="*/ 12878 h 536757"/>
              <a:gd name="connsiteX2" fmla="*/ 3901311 w 3901311"/>
              <a:gd name="connsiteY2" fmla="*/ 407968 h 536757"/>
              <a:gd name="connsiteX3" fmla="*/ 0 w 3901311"/>
              <a:gd name="connsiteY3" fmla="*/ 536757 h 536757"/>
              <a:gd name="connsiteX4" fmla="*/ 0 w 3901311"/>
              <a:gd name="connsiteY4" fmla="*/ 0 h 536757"/>
              <a:gd name="connsiteX0" fmla="*/ 0 w 3901311"/>
              <a:gd name="connsiteY0" fmla="*/ 0 h 407968"/>
              <a:gd name="connsiteX1" fmla="*/ 3901311 w 3901311"/>
              <a:gd name="connsiteY1" fmla="*/ 12878 h 407968"/>
              <a:gd name="connsiteX2" fmla="*/ 3901311 w 3901311"/>
              <a:gd name="connsiteY2" fmla="*/ 407968 h 407968"/>
              <a:gd name="connsiteX3" fmla="*/ 25758 w 3901311"/>
              <a:gd name="connsiteY3" fmla="*/ 395089 h 407968"/>
              <a:gd name="connsiteX4" fmla="*/ 0 w 3901311"/>
              <a:gd name="connsiteY4" fmla="*/ 0 h 407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1311" h="407968">
                <a:moveTo>
                  <a:pt x="0" y="0"/>
                </a:moveTo>
                <a:lnTo>
                  <a:pt x="3901311" y="12878"/>
                </a:lnTo>
                <a:lnTo>
                  <a:pt x="3901311" y="407968"/>
                </a:lnTo>
                <a:lnTo>
                  <a:pt x="25758" y="395089"/>
                </a:lnTo>
                <a:lnTo>
                  <a:pt x="0" y="0"/>
                </a:lnTo>
                <a:close/>
              </a:path>
            </a:pathLst>
          </a:custGeom>
          <a:noFill/>
        </p:spPr>
        <p:txBody>
          <a:bodyPr wrap="square" rtlCol="0">
            <a:spAutoFit/>
          </a:bodyPr>
          <a:lstStyle/>
          <a:p>
            <a:r>
              <a:rPr lang="en-GB" dirty="0">
                <a:solidFill>
                  <a:schemeClr val="accent6">
                    <a:lumMod val="75000"/>
                  </a:schemeClr>
                </a:solidFill>
              </a:rPr>
              <a:t>     </a:t>
            </a:r>
            <a:r>
              <a:rPr lang="en-GB" sz="2000" b="1" dirty="0">
                <a:solidFill>
                  <a:schemeClr val="accent6">
                    <a:lumMod val="75000"/>
                  </a:schemeClr>
                </a:solidFill>
              </a:rPr>
              <a:t>Rising sea levels causing flooding</a:t>
            </a:r>
          </a:p>
        </p:txBody>
      </p:sp>
      <p:pic>
        <p:nvPicPr>
          <p:cNvPr id="8" name="Picture 7"/>
          <p:cNvPicPr>
            <a:picLocks noChangeAspect="1"/>
          </p:cNvPicPr>
          <p:nvPr/>
        </p:nvPicPr>
        <p:blipFill>
          <a:blip r:embed="rId2"/>
          <a:stretch>
            <a:fillRect/>
          </a:stretch>
        </p:blipFill>
        <p:spPr>
          <a:xfrm>
            <a:off x="251520" y="1797336"/>
            <a:ext cx="4104455" cy="1575080"/>
          </a:xfrm>
          <a:prstGeom prst="rect">
            <a:avLst/>
          </a:prstGeom>
        </p:spPr>
      </p:pic>
      <p:sp>
        <p:nvSpPr>
          <p:cNvPr id="9" name="TextBox 8"/>
          <p:cNvSpPr txBox="1"/>
          <p:nvPr/>
        </p:nvSpPr>
        <p:spPr>
          <a:xfrm>
            <a:off x="4644008" y="1411035"/>
            <a:ext cx="3816424" cy="400110"/>
          </a:xfrm>
          <a:prstGeom prst="rect">
            <a:avLst/>
          </a:prstGeom>
          <a:noFill/>
        </p:spPr>
        <p:txBody>
          <a:bodyPr wrap="square" rtlCol="0">
            <a:spAutoFit/>
          </a:bodyPr>
          <a:lstStyle/>
          <a:p>
            <a:r>
              <a:rPr lang="en-GB" dirty="0"/>
              <a:t>                           </a:t>
            </a:r>
            <a:r>
              <a:rPr lang="en-GB" sz="2000" b="1" dirty="0">
                <a:solidFill>
                  <a:schemeClr val="accent6">
                    <a:lumMod val="75000"/>
                  </a:schemeClr>
                </a:solidFill>
              </a:rPr>
              <a:t>Droughts</a:t>
            </a:r>
          </a:p>
        </p:txBody>
      </p:sp>
      <p:pic>
        <p:nvPicPr>
          <p:cNvPr id="10" name="Picture 9"/>
          <p:cNvPicPr>
            <a:picLocks noChangeAspect="1"/>
          </p:cNvPicPr>
          <p:nvPr/>
        </p:nvPicPr>
        <p:blipFill>
          <a:blip r:embed="rId3"/>
          <a:stretch>
            <a:fillRect/>
          </a:stretch>
        </p:blipFill>
        <p:spPr>
          <a:xfrm>
            <a:off x="4644008" y="1797335"/>
            <a:ext cx="4248472" cy="1575081"/>
          </a:xfrm>
          <a:prstGeom prst="rect">
            <a:avLst/>
          </a:prstGeom>
        </p:spPr>
      </p:pic>
      <p:pic>
        <p:nvPicPr>
          <p:cNvPr id="12" name="Picture 11"/>
          <p:cNvPicPr>
            <a:picLocks noChangeAspect="1"/>
          </p:cNvPicPr>
          <p:nvPr/>
        </p:nvPicPr>
        <p:blipFill>
          <a:blip r:embed="rId4"/>
          <a:stretch>
            <a:fillRect/>
          </a:stretch>
        </p:blipFill>
        <p:spPr>
          <a:xfrm>
            <a:off x="251522" y="3758718"/>
            <a:ext cx="4104453" cy="1614498"/>
          </a:xfrm>
          <a:prstGeom prst="rect">
            <a:avLst/>
          </a:prstGeom>
        </p:spPr>
      </p:pic>
      <p:sp>
        <p:nvSpPr>
          <p:cNvPr id="13" name="TextBox 12"/>
          <p:cNvSpPr txBox="1"/>
          <p:nvPr/>
        </p:nvSpPr>
        <p:spPr>
          <a:xfrm>
            <a:off x="251520" y="3372416"/>
            <a:ext cx="4104455" cy="400110"/>
          </a:xfrm>
          <a:prstGeom prst="rect">
            <a:avLst/>
          </a:prstGeom>
          <a:noFill/>
        </p:spPr>
        <p:txBody>
          <a:bodyPr wrap="square" rtlCol="0">
            <a:spAutoFit/>
          </a:bodyPr>
          <a:lstStyle/>
          <a:p>
            <a:r>
              <a:rPr lang="en-GB" sz="2000" b="1" dirty="0"/>
              <a:t>                        </a:t>
            </a:r>
            <a:r>
              <a:rPr lang="en-GB" sz="2000" b="1" dirty="0">
                <a:solidFill>
                  <a:schemeClr val="accent6">
                    <a:lumMod val="75000"/>
                  </a:schemeClr>
                </a:solidFill>
              </a:rPr>
              <a:t>Desertification</a:t>
            </a:r>
          </a:p>
        </p:txBody>
      </p:sp>
      <p:pic>
        <p:nvPicPr>
          <p:cNvPr id="14" name="Picture 13"/>
          <p:cNvPicPr>
            <a:picLocks noChangeAspect="1"/>
          </p:cNvPicPr>
          <p:nvPr/>
        </p:nvPicPr>
        <p:blipFill>
          <a:blip r:embed="rId5"/>
          <a:stretch>
            <a:fillRect/>
          </a:stretch>
        </p:blipFill>
        <p:spPr>
          <a:xfrm>
            <a:off x="4644008" y="3741747"/>
            <a:ext cx="4248472" cy="1620827"/>
          </a:xfrm>
          <a:prstGeom prst="rect">
            <a:avLst/>
          </a:prstGeom>
        </p:spPr>
      </p:pic>
      <p:sp>
        <p:nvSpPr>
          <p:cNvPr id="15" name="TextBox 14"/>
          <p:cNvSpPr txBox="1"/>
          <p:nvPr/>
        </p:nvSpPr>
        <p:spPr>
          <a:xfrm>
            <a:off x="4644008" y="3372416"/>
            <a:ext cx="4248472" cy="400110"/>
          </a:xfrm>
          <a:prstGeom prst="rect">
            <a:avLst/>
          </a:prstGeom>
          <a:noFill/>
        </p:spPr>
        <p:txBody>
          <a:bodyPr wrap="square" rtlCol="0">
            <a:spAutoFit/>
          </a:bodyPr>
          <a:lstStyle/>
          <a:p>
            <a:r>
              <a:rPr lang="en-GB" sz="2000" b="1" dirty="0"/>
              <a:t>                       </a:t>
            </a:r>
            <a:r>
              <a:rPr lang="en-GB" sz="2000" b="1" dirty="0">
                <a:solidFill>
                  <a:schemeClr val="accent6">
                    <a:lumMod val="75000"/>
                  </a:schemeClr>
                </a:solidFill>
              </a:rPr>
              <a:t>Ice caps melting</a:t>
            </a:r>
          </a:p>
        </p:txBody>
      </p:sp>
      <p:sp>
        <p:nvSpPr>
          <p:cNvPr id="17" name="TextBox 16"/>
          <p:cNvSpPr txBox="1"/>
          <p:nvPr/>
        </p:nvSpPr>
        <p:spPr>
          <a:xfrm>
            <a:off x="251520" y="5517232"/>
            <a:ext cx="8640960" cy="1015663"/>
          </a:xfrm>
          <a:prstGeom prst="rect">
            <a:avLst/>
          </a:prstGeom>
          <a:noFill/>
          <a:ln w="28575">
            <a:solidFill>
              <a:schemeClr val="accent6"/>
            </a:solidFill>
          </a:ln>
        </p:spPr>
        <p:txBody>
          <a:bodyPr wrap="square" rtlCol="0">
            <a:spAutoFit/>
          </a:bodyPr>
          <a:lstStyle/>
          <a:p>
            <a:r>
              <a:rPr lang="en-GB" sz="2000" dirty="0"/>
              <a:t>The </a:t>
            </a:r>
            <a:r>
              <a:rPr lang="en-GB" sz="2000" b="1" dirty="0">
                <a:solidFill>
                  <a:schemeClr val="accent6">
                    <a:lumMod val="75000"/>
                  </a:schemeClr>
                </a:solidFill>
              </a:rPr>
              <a:t>carbon footprint </a:t>
            </a:r>
            <a:r>
              <a:rPr lang="en-GB" sz="2000" dirty="0"/>
              <a:t>is the </a:t>
            </a:r>
            <a:r>
              <a:rPr lang="en-GB" sz="2000" dirty="0">
                <a:solidFill>
                  <a:schemeClr val="accent6">
                    <a:lumMod val="75000"/>
                  </a:schemeClr>
                </a:solidFill>
              </a:rPr>
              <a:t>total amount of carbon dioxide and other greenhouse gases emitted over the full life cycle of the product, service or event</a:t>
            </a:r>
            <a:r>
              <a:rPr lang="en-GB" sz="2000" dirty="0"/>
              <a:t>. The carbon footprint can be reduced by reducing emissions of carbon dioxide and methane.</a:t>
            </a:r>
          </a:p>
        </p:txBody>
      </p:sp>
    </p:spTree>
    <p:extLst>
      <p:ext uri="{BB962C8B-B14F-4D97-AF65-F5344CB8AC3E}">
        <p14:creationId xmlns:p14="http://schemas.microsoft.com/office/powerpoint/2010/main" val="6764099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893647"/>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solidFill>
                  <a:schemeClr val="tx1">
                    <a:lumMod val="50000"/>
                    <a:lumOff val="50000"/>
                  </a:schemeClr>
                </a:solidFill>
              </a:rPr>
              <a:t>Carbon dioxide and methane as greenhouse</a:t>
            </a:r>
          </a:p>
          <a:p>
            <a:r>
              <a:rPr lang="en-US" sz="2800" b="1" dirty="0">
                <a:solidFill>
                  <a:schemeClr val="tx1">
                    <a:lumMod val="50000"/>
                    <a:lumOff val="50000"/>
                  </a:schemeClr>
                </a:solidFill>
              </a:rPr>
              <a:t>Gases Part 2</a:t>
            </a:r>
          </a:p>
          <a:p>
            <a:pPr marL="457200" indent="-457200">
              <a:buFont typeface="Arial" charset="0"/>
              <a:buChar char="•"/>
            </a:pPr>
            <a:r>
              <a:rPr lang="en-GB" sz="2800" b="1" dirty="0">
                <a:solidFill>
                  <a:schemeClr val="tx1">
                    <a:lumMod val="50000"/>
                    <a:lumOff val="50000"/>
                  </a:schemeClr>
                </a:solidFill>
              </a:rPr>
              <a:t>Global climate change</a:t>
            </a:r>
          </a:p>
          <a:p>
            <a:pPr marL="457200" indent="-457200">
              <a:buFont typeface="Arial" charset="0"/>
              <a:buChar char="•"/>
            </a:pPr>
            <a:r>
              <a:rPr lang="en-GB" sz="2800" b="1" dirty="0">
                <a:solidFill>
                  <a:schemeClr val="tx1">
                    <a:lumMod val="50000"/>
                    <a:lumOff val="50000"/>
                  </a:schemeClr>
                </a:solidFill>
              </a:rPr>
              <a:t>The carbon footprint </a:t>
            </a:r>
          </a:p>
          <a:p>
            <a:r>
              <a:rPr lang="en-GB" sz="2800" b="1" dirty="0">
                <a:solidFill>
                  <a:schemeClr val="tx1">
                    <a:lumMod val="50000"/>
                    <a:lumOff val="50000"/>
                  </a:schemeClr>
                </a:solidFill>
              </a:rPr>
              <a:t>      and its reduction</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374947779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ctr" defTabSz="342900" rtl="0">
              <a:spcBef>
                <a:spcPct val="20000"/>
              </a:spcBef>
            </a:pPr>
            <a:r>
              <a:rPr lang="en-US" dirty="0">
                <a:solidFill>
                  <a:schemeClr val="accent6"/>
                </a:solidFill>
              </a:rPr>
              <a:t>Global climate change the carbon footprint and its reduction - </a:t>
            </a:r>
            <a:r>
              <a:rPr lang="en-US" b="1" kern="1200" dirty="0" err="1">
                <a:solidFill>
                  <a:schemeClr val="tx1"/>
                </a:solidFill>
                <a:latin typeface="Calibri"/>
                <a:ea typeface=""/>
                <a:cs typeface="News Gothic MT"/>
              </a:rPr>
              <a:t>AnswerIT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801041"/>
          </a:xfrm>
          <a:prstGeom prst="rect">
            <a:avLst/>
          </a:prstGeom>
          <a:noFill/>
        </p:spPr>
        <p:txBody>
          <a:bodyPr wrap="square" rtlCol="0">
            <a:spAutoFit/>
          </a:bodyPr>
          <a:lstStyle/>
          <a:p>
            <a:pPr marL="457200" indent="-457200">
              <a:buFont typeface="+mj-lt"/>
              <a:buAutoNum type="arabicPeriod"/>
            </a:pPr>
            <a:r>
              <a:rPr lang="en-GB" sz="2400" dirty="0" smtClean="0"/>
              <a:t>What </a:t>
            </a:r>
            <a:r>
              <a:rPr lang="en-GB" sz="2400" dirty="0"/>
              <a:t>is a major cause of climate change</a:t>
            </a:r>
            <a:r>
              <a:rPr lang="en-GB" sz="2400" dirty="0" smtClean="0"/>
              <a:t>?</a:t>
            </a:r>
          </a:p>
          <a:p>
            <a:pPr marL="457200" indent="-457200">
              <a:buFont typeface="+mj-lt"/>
              <a:buAutoNum type="arabicPeriod"/>
            </a:pPr>
            <a:endParaRPr lang="en-GB" sz="2400" b="1" i="1" dirty="0">
              <a:solidFill>
                <a:srgbClr val="00B050"/>
              </a:solidFill>
            </a:endParaRPr>
          </a:p>
          <a:p>
            <a:pPr marL="457200" indent="-457200">
              <a:buFont typeface="+mj-lt"/>
              <a:buAutoNum type="arabicPeriod"/>
            </a:pPr>
            <a:r>
              <a:rPr lang="en-GB" sz="2400" dirty="0" smtClean="0"/>
              <a:t>Give </a:t>
            </a:r>
            <a:r>
              <a:rPr lang="en-GB" sz="2400" dirty="0"/>
              <a:t>three possible effects of climate change</a:t>
            </a:r>
            <a:r>
              <a:rPr lang="en-GB" sz="2400" dirty="0" smtClean="0"/>
              <a:t>.</a:t>
            </a:r>
          </a:p>
          <a:p>
            <a:pPr marL="457200" indent="-457200">
              <a:buFont typeface="+mj-lt"/>
              <a:buAutoNum type="arabicPeriod"/>
            </a:pPr>
            <a:endParaRPr lang="en-GB" sz="2400" b="1" i="1" dirty="0">
              <a:solidFill>
                <a:srgbClr val="00B050"/>
              </a:solidFill>
              <a:sym typeface="Wingdings" panose="05000000000000000000" pitchFamily="2" charset="2"/>
            </a:endParaRPr>
          </a:p>
          <a:p>
            <a:pPr marL="457200" indent="-457200">
              <a:buFont typeface="+mj-lt"/>
              <a:buAutoNum type="arabicPeriod"/>
            </a:pPr>
            <a:r>
              <a:rPr lang="en-GB" sz="2400" dirty="0" smtClean="0"/>
              <a:t>What </a:t>
            </a:r>
            <a:r>
              <a:rPr lang="en-GB" sz="2400" dirty="0"/>
              <a:t>is the carbon footprint</a:t>
            </a:r>
            <a:r>
              <a:rPr lang="en-GB" sz="2400" dirty="0" smtClean="0"/>
              <a:t>?</a:t>
            </a:r>
          </a:p>
          <a:p>
            <a:pPr marL="457200" indent="-457200">
              <a:buFont typeface="+mj-lt"/>
              <a:buAutoNum type="arabicPeriod"/>
            </a:pPr>
            <a:endParaRPr lang="en-GB" sz="2400" dirty="0"/>
          </a:p>
          <a:p>
            <a:pPr marL="457200" indent="-457200">
              <a:buFont typeface="+mj-lt"/>
              <a:buAutoNum type="arabicPeriod"/>
            </a:pPr>
            <a:r>
              <a:rPr lang="en-GB" sz="2400" dirty="0" smtClean="0"/>
              <a:t>How </a:t>
            </a:r>
            <a:r>
              <a:rPr lang="en-GB" sz="2400" dirty="0"/>
              <a:t>can the carbon footprint be reduced?</a:t>
            </a:r>
          </a:p>
          <a:p>
            <a:pPr>
              <a:lnSpc>
                <a:spcPct val="150000"/>
              </a:lnSpc>
            </a:pPr>
            <a:r>
              <a:rPr lang="en-GB" sz="2000" dirty="0"/>
              <a:t>        	</a:t>
            </a: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3119912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26297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2800" b="1" dirty="0">
                <a:solidFill>
                  <a:schemeClr val="tx1">
                    <a:lumMod val="50000"/>
                    <a:lumOff val="50000"/>
                  </a:schemeClr>
                </a:solidFill>
              </a:rPr>
              <a:t>Carbon dioxide and methane as greenhouse</a:t>
            </a:r>
          </a:p>
          <a:p>
            <a:r>
              <a:rPr lang="en-US" sz="2800" b="1" dirty="0">
                <a:solidFill>
                  <a:schemeClr val="tx1">
                    <a:lumMod val="50000"/>
                    <a:lumOff val="50000"/>
                  </a:schemeClr>
                </a:solidFill>
              </a:rPr>
              <a:t>Gases Part 2</a:t>
            </a:r>
          </a:p>
          <a:p>
            <a:pPr marL="457200" indent="-457200">
              <a:lnSpc>
                <a:spcPct val="150000"/>
              </a:lnSpc>
              <a:buFont typeface="Arial" charset="0"/>
              <a:buChar char="•"/>
            </a:pPr>
            <a:r>
              <a:rPr lang="en-GB" sz="2800" b="1" dirty="0">
                <a:solidFill>
                  <a:schemeClr val="tx1">
                    <a:lumMod val="50000"/>
                    <a:lumOff val="50000"/>
                  </a:schemeClr>
                </a:solidFill>
              </a:rPr>
              <a:t>Global climate change</a:t>
            </a:r>
          </a:p>
          <a:p>
            <a:pPr marL="457200" indent="-457200">
              <a:lnSpc>
                <a:spcPct val="150000"/>
              </a:lnSpc>
              <a:buFont typeface="Arial" charset="0"/>
              <a:buChar char="•"/>
            </a:pPr>
            <a:r>
              <a:rPr lang="en-GB" sz="2800" b="1" dirty="0">
                <a:solidFill>
                  <a:schemeClr val="tx1">
                    <a:lumMod val="50000"/>
                    <a:lumOff val="50000"/>
                  </a:schemeClr>
                </a:solidFill>
              </a:rPr>
              <a:t>The carbon footprint </a:t>
            </a:r>
          </a:p>
          <a:p>
            <a:pPr>
              <a:lnSpc>
                <a:spcPct val="150000"/>
              </a:lnSpc>
            </a:pPr>
            <a:r>
              <a:rPr lang="en-GB" sz="2800" b="1" dirty="0">
                <a:solidFill>
                  <a:schemeClr val="tx1">
                    <a:lumMod val="50000"/>
                    <a:lumOff val="50000"/>
                  </a:schemeClr>
                </a:solidFill>
              </a:rPr>
              <a:t>      and its reduction</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7918511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ctr" defTabSz="342900" rtl="0">
              <a:spcBef>
                <a:spcPct val="20000"/>
              </a:spcBef>
            </a:pPr>
            <a:r>
              <a:rPr lang="en-US" dirty="0">
                <a:solidFill>
                  <a:schemeClr val="accent6"/>
                </a:solidFill>
              </a:rPr>
              <a:t>Global climate change the carbon footprint and its reduction - </a:t>
            </a:r>
            <a:r>
              <a:rPr lang="en-US" b="1" kern="1200" dirty="0" err="1">
                <a:solidFill>
                  <a:schemeClr val="tx1"/>
                </a:solidFill>
                <a:latin typeface="Calibri"/>
                <a:ea typeface=""/>
                <a:cs typeface="News Gothic MT"/>
              </a:rPr>
              <a:t>AnswerIT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740033"/>
          </a:xfrm>
          <a:prstGeom prst="rect">
            <a:avLst/>
          </a:prstGeom>
          <a:noFill/>
        </p:spPr>
        <p:txBody>
          <a:bodyPr wrap="square" rtlCol="0">
            <a:spAutoFit/>
          </a:bodyPr>
          <a:lstStyle/>
          <a:p>
            <a:pPr marL="457200" indent="-457200">
              <a:buAutoNum type="arabicPeriod"/>
            </a:pPr>
            <a:r>
              <a:rPr lang="en-GB" sz="2400" dirty="0" smtClean="0"/>
              <a:t>What </a:t>
            </a:r>
            <a:r>
              <a:rPr lang="en-GB" sz="2400" dirty="0"/>
              <a:t>is a major cause of climate </a:t>
            </a:r>
            <a:r>
              <a:rPr lang="en-GB" sz="2400" dirty="0" smtClean="0"/>
              <a:t>change?</a:t>
            </a:r>
          </a:p>
          <a:p>
            <a:pPr lvl="1"/>
            <a:r>
              <a:rPr lang="en-GB" sz="2400" dirty="0" smtClean="0">
                <a:solidFill>
                  <a:srgbClr val="00B050"/>
                </a:solidFill>
              </a:rPr>
              <a:t>An </a:t>
            </a:r>
            <a:r>
              <a:rPr lang="en-GB" sz="2400" dirty="0">
                <a:solidFill>
                  <a:srgbClr val="00B050"/>
                </a:solidFill>
              </a:rPr>
              <a:t>increase in average global </a:t>
            </a:r>
            <a:r>
              <a:rPr lang="en-GB" sz="2400" dirty="0" smtClean="0">
                <a:solidFill>
                  <a:srgbClr val="00B050"/>
                </a:solidFill>
              </a:rPr>
              <a:t>temperature</a:t>
            </a:r>
          </a:p>
          <a:p>
            <a:pPr lvl="1"/>
            <a:endParaRPr lang="en-GB" sz="2400" dirty="0">
              <a:solidFill>
                <a:srgbClr val="00B050"/>
              </a:solidFill>
            </a:endParaRPr>
          </a:p>
          <a:p>
            <a:pPr marL="457200" indent="-457200">
              <a:buFont typeface="+mj-lt"/>
              <a:buAutoNum type="arabicPeriod"/>
            </a:pPr>
            <a:r>
              <a:rPr lang="en-GB" sz="2400" dirty="0" smtClean="0"/>
              <a:t>Give </a:t>
            </a:r>
            <a:r>
              <a:rPr lang="en-GB" sz="2400" dirty="0"/>
              <a:t>three possible effects of climate </a:t>
            </a:r>
            <a:r>
              <a:rPr lang="en-GB" sz="2400" dirty="0" smtClean="0"/>
              <a:t>change.</a:t>
            </a:r>
          </a:p>
          <a:p>
            <a:pPr lvl="1"/>
            <a:r>
              <a:rPr lang="en-GB" sz="2400" dirty="0" smtClean="0">
                <a:solidFill>
                  <a:srgbClr val="00B050"/>
                </a:solidFill>
                <a:sym typeface="Wingdings" panose="05000000000000000000" pitchFamily="2" charset="2"/>
              </a:rPr>
              <a:t>Droughts/desertification/flooding/ice </a:t>
            </a:r>
            <a:r>
              <a:rPr lang="en-GB" sz="2400" dirty="0">
                <a:solidFill>
                  <a:srgbClr val="00B050"/>
                </a:solidFill>
                <a:sym typeface="Wingdings" panose="05000000000000000000" pitchFamily="2" charset="2"/>
              </a:rPr>
              <a:t>caps </a:t>
            </a:r>
            <a:r>
              <a:rPr lang="en-GB" sz="2400" dirty="0" smtClean="0">
                <a:solidFill>
                  <a:srgbClr val="00B050"/>
                </a:solidFill>
                <a:sym typeface="Wingdings" panose="05000000000000000000" pitchFamily="2" charset="2"/>
              </a:rPr>
              <a:t>melting</a:t>
            </a:r>
          </a:p>
          <a:p>
            <a:pPr lvl="1"/>
            <a:endParaRPr lang="en-GB" sz="2400" dirty="0" smtClean="0">
              <a:solidFill>
                <a:srgbClr val="00B050"/>
              </a:solidFill>
              <a:sym typeface="Wingdings" panose="05000000000000000000" pitchFamily="2" charset="2"/>
            </a:endParaRPr>
          </a:p>
          <a:p>
            <a:pPr marL="457200" indent="-457200">
              <a:buFont typeface="+mj-lt"/>
              <a:buAutoNum type="arabicPeriod"/>
            </a:pPr>
            <a:r>
              <a:rPr lang="en-GB" sz="2400" dirty="0" smtClean="0"/>
              <a:t>What is the carbon footprint?</a:t>
            </a:r>
          </a:p>
          <a:p>
            <a:pPr lvl="1"/>
            <a:r>
              <a:rPr lang="en-GB" sz="2400" dirty="0" smtClean="0">
                <a:solidFill>
                  <a:srgbClr val="00B050"/>
                </a:solidFill>
              </a:rPr>
              <a:t>The </a:t>
            </a:r>
            <a:r>
              <a:rPr lang="en-GB" sz="2400" dirty="0">
                <a:solidFill>
                  <a:srgbClr val="00B050"/>
                </a:solidFill>
              </a:rPr>
              <a:t>total amount of carbon dioxide and other greenhouse gases </a:t>
            </a:r>
            <a:r>
              <a:rPr lang="en-GB" sz="2400" dirty="0" smtClean="0">
                <a:solidFill>
                  <a:srgbClr val="00B050"/>
                </a:solidFill>
              </a:rPr>
              <a:t>emitted over </a:t>
            </a:r>
            <a:r>
              <a:rPr lang="en-GB" sz="2400" dirty="0">
                <a:solidFill>
                  <a:srgbClr val="00B050"/>
                </a:solidFill>
              </a:rPr>
              <a:t>the full life cycle of a product, service or </a:t>
            </a:r>
            <a:r>
              <a:rPr lang="en-GB" sz="2400" dirty="0" smtClean="0">
                <a:solidFill>
                  <a:srgbClr val="00B050"/>
                </a:solidFill>
              </a:rPr>
              <a:t>event.</a:t>
            </a:r>
          </a:p>
          <a:p>
            <a:pPr lvl="1"/>
            <a:endParaRPr lang="en-GB" sz="2400" dirty="0" smtClean="0">
              <a:solidFill>
                <a:srgbClr val="00B050"/>
              </a:solidFill>
            </a:endParaRPr>
          </a:p>
          <a:p>
            <a:pPr marL="457200" indent="-457200">
              <a:buFont typeface="+mj-lt"/>
              <a:buAutoNum type="arabicPeriod"/>
            </a:pPr>
            <a:r>
              <a:rPr lang="en-GB" sz="2400" dirty="0" smtClean="0"/>
              <a:t>How can the carbon footprint be reduced?</a:t>
            </a:r>
          </a:p>
          <a:p>
            <a:pPr lvl="1"/>
            <a:r>
              <a:rPr lang="en-GB" sz="2400" dirty="0" smtClean="0">
                <a:solidFill>
                  <a:srgbClr val="00B050"/>
                </a:solidFill>
              </a:rPr>
              <a:t>By </a:t>
            </a:r>
            <a:r>
              <a:rPr lang="en-GB" sz="2400" dirty="0">
                <a:solidFill>
                  <a:srgbClr val="00B050"/>
                </a:solidFill>
              </a:rPr>
              <a:t>reducing emissions of carbon dioxide and ethane. </a:t>
            </a:r>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5867269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620688"/>
            <a:ext cx="3491880" cy="6601807"/>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400" b="1" dirty="0">
                <a:solidFill>
                  <a:schemeClr val="tx1">
                    <a:lumMod val="50000"/>
                    <a:lumOff val="50000"/>
                  </a:schemeClr>
                </a:solidFill>
              </a:rPr>
              <a:t>Common atmospheric</a:t>
            </a:r>
          </a:p>
          <a:p>
            <a:r>
              <a:rPr lang="en-US" sz="2400" b="1" dirty="0">
                <a:solidFill>
                  <a:schemeClr val="tx1">
                    <a:lumMod val="50000"/>
                    <a:lumOff val="50000"/>
                  </a:schemeClr>
                </a:solidFill>
              </a:rPr>
              <a:t>pollutants and their sources</a:t>
            </a:r>
          </a:p>
          <a:p>
            <a:pPr marL="457200" indent="-457200">
              <a:buFont typeface="Arial" charset="0"/>
              <a:buChar char="•"/>
            </a:pPr>
            <a:r>
              <a:rPr lang="en-GB" sz="2400" b="1" dirty="0" smtClean="0">
                <a:solidFill>
                  <a:schemeClr val="tx1">
                    <a:lumMod val="50000"/>
                    <a:lumOff val="50000"/>
                  </a:schemeClr>
                </a:solidFill>
              </a:rPr>
              <a:t>Atmospheric pollutants from </a:t>
            </a:r>
            <a:r>
              <a:rPr lang="en-GB" sz="2400" b="1" dirty="0">
                <a:solidFill>
                  <a:schemeClr val="tx1">
                    <a:lumMod val="50000"/>
                    <a:lumOff val="50000"/>
                  </a:schemeClr>
                </a:solidFill>
              </a:rPr>
              <a:t>fuels</a:t>
            </a:r>
          </a:p>
          <a:p>
            <a:pPr marL="457200" indent="-457200">
              <a:buFont typeface="Arial" charset="0"/>
              <a:buChar char="•"/>
            </a:pPr>
            <a:r>
              <a:rPr lang="en-GB" sz="2400" b="1" dirty="0">
                <a:solidFill>
                  <a:schemeClr val="tx1">
                    <a:lumMod val="50000"/>
                    <a:lumOff val="50000"/>
                  </a:schemeClr>
                </a:solidFill>
              </a:rPr>
              <a:t>Properties and effects of atmospheric pollutants</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spTree>
    <p:extLst>
      <p:ext uri="{BB962C8B-B14F-4D97-AF65-F5344CB8AC3E}">
        <p14:creationId xmlns:p14="http://schemas.microsoft.com/office/powerpoint/2010/main" val="319760415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Common atmospheric pollutants and their sources</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251520" y="1048960"/>
            <a:ext cx="8640960" cy="1015663"/>
          </a:xfrm>
          <a:custGeom>
            <a:avLst/>
            <a:gdLst>
              <a:gd name="connsiteX0" fmla="*/ 0 w 8640960"/>
              <a:gd name="connsiteY0" fmla="*/ 0 h 1200329"/>
              <a:gd name="connsiteX1" fmla="*/ 8640960 w 8640960"/>
              <a:gd name="connsiteY1" fmla="*/ 0 h 1200329"/>
              <a:gd name="connsiteX2" fmla="*/ 8640960 w 8640960"/>
              <a:gd name="connsiteY2" fmla="*/ 1200329 h 1200329"/>
              <a:gd name="connsiteX3" fmla="*/ 0 w 8640960"/>
              <a:gd name="connsiteY3" fmla="*/ 1200329 h 1200329"/>
              <a:gd name="connsiteX4" fmla="*/ 0 w 8640960"/>
              <a:gd name="connsiteY4" fmla="*/ 0 h 1200329"/>
              <a:gd name="connsiteX0" fmla="*/ 0 w 8640960"/>
              <a:gd name="connsiteY0" fmla="*/ 0 h 1200329"/>
              <a:gd name="connsiteX1" fmla="*/ 8640960 w 8640960"/>
              <a:gd name="connsiteY1" fmla="*/ 0 h 1200329"/>
              <a:gd name="connsiteX2" fmla="*/ 8640960 w 8640960"/>
              <a:gd name="connsiteY2" fmla="*/ 1200329 h 1200329"/>
              <a:gd name="connsiteX3" fmla="*/ 0 w 8640960"/>
              <a:gd name="connsiteY3" fmla="*/ 916994 h 1200329"/>
              <a:gd name="connsiteX4" fmla="*/ 0 w 8640960"/>
              <a:gd name="connsiteY4" fmla="*/ 0 h 1200329"/>
              <a:gd name="connsiteX0" fmla="*/ 0 w 8640960"/>
              <a:gd name="connsiteY0" fmla="*/ 0 h 916994"/>
              <a:gd name="connsiteX1" fmla="*/ 8640960 w 8640960"/>
              <a:gd name="connsiteY1" fmla="*/ 0 h 916994"/>
              <a:gd name="connsiteX2" fmla="*/ 8640960 w 8640960"/>
              <a:gd name="connsiteY2" fmla="*/ 904115 h 916994"/>
              <a:gd name="connsiteX3" fmla="*/ 0 w 8640960"/>
              <a:gd name="connsiteY3" fmla="*/ 916994 h 916994"/>
              <a:gd name="connsiteX4" fmla="*/ 0 w 8640960"/>
              <a:gd name="connsiteY4" fmla="*/ 0 h 916994"/>
              <a:gd name="connsiteX0" fmla="*/ 0 w 8653838"/>
              <a:gd name="connsiteY0" fmla="*/ 0 h 929873"/>
              <a:gd name="connsiteX1" fmla="*/ 8640960 w 8653838"/>
              <a:gd name="connsiteY1" fmla="*/ 0 h 929873"/>
              <a:gd name="connsiteX2" fmla="*/ 8653838 w 8653838"/>
              <a:gd name="connsiteY2" fmla="*/ 929873 h 929873"/>
              <a:gd name="connsiteX3" fmla="*/ 0 w 8653838"/>
              <a:gd name="connsiteY3" fmla="*/ 916994 h 929873"/>
              <a:gd name="connsiteX4" fmla="*/ 0 w 8653838"/>
              <a:gd name="connsiteY4" fmla="*/ 0 h 929873"/>
              <a:gd name="connsiteX0" fmla="*/ 0 w 8640960"/>
              <a:gd name="connsiteY0" fmla="*/ 0 h 929873"/>
              <a:gd name="connsiteX1" fmla="*/ 8640960 w 8640960"/>
              <a:gd name="connsiteY1" fmla="*/ 0 h 929873"/>
              <a:gd name="connsiteX2" fmla="*/ 8640960 w 8640960"/>
              <a:gd name="connsiteY2" fmla="*/ 929873 h 929873"/>
              <a:gd name="connsiteX3" fmla="*/ 0 w 8640960"/>
              <a:gd name="connsiteY3" fmla="*/ 916994 h 929873"/>
              <a:gd name="connsiteX4" fmla="*/ 0 w 8640960"/>
              <a:gd name="connsiteY4" fmla="*/ 0 h 929873"/>
              <a:gd name="connsiteX0" fmla="*/ 0 w 8640960"/>
              <a:gd name="connsiteY0" fmla="*/ 0 h 929873"/>
              <a:gd name="connsiteX1" fmla="*/ 8640960 w 8640960"/>
              <a:gd name="connsiteY1" fmla="*/ 0 h 929873"/>
              <a:gd name="connsiteX2" fmla="*/ 8640960 w 8640960"/>
              <a:gd name="connsiteY2" fmla="*/ 929873 h 929873"/>
              <a:gd name="connsiteX3" fmla="*/ 0 w 8640960"/>
              <a:gd name="connsiteY3" fmla="*/ 697499 h 929873"/>
              <a:gd name="connsiteX4" fmla="*/ 0 w 8640960"/>
              <a:gd name="connsiteY4" fmla="*/ 0 h 929873"/>
              <a:gd name="connsiteX0" fmla="*/ 0 w 8640960"/>
              <a:gd name="connsiteY0" fmla="*/ 0 h 697499"/>
              <a:gd name="connsiteX1" fmla="*/ 8640960 w 8640960"/>
              <a:gd name="connsiteY1" fmla="*/ 0 h 697499"/>
              <a:gd name="connsiteX2" fmla="*/ 8640960 w 8640960"/>
              <a:gd name="connsiteY2" fmla="*/ 690424 h 697499"/>
              <a:gd name="connsiteX3" fmla="*/ 0 w 8640960"/>
              <a:gd name="connsiteY3" fmla="*/ 697499 h 697499"/>
              <a:gd name="connsiteX4" fmla="*/ 0 w 8640960"/>
              <a:gd name="connsiteY4" fmla="*/ 0 h 697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0960" h="697499">
                <a:moveTo>
                  <a:pt x="0" y="0"/>
                </a:moveTo>
                <a:lnTo>
                  <a:pt x="8640960" y="0"/>
                </a:lnTo>
                <a:lnTo>
                  <a:pt x="8640960" y="690424"/>
                </a:lnTo>
                <a:lnTo>
                  <a:pt x="0" y="697499"/>
                </a:lnTo>
                <a:lnTo>
                  <a:pt x="0" y="0"/>
                </a:lnTo>
                <a:close/>
              </a:path>
            </a:pathLst>
          </a:custGeom>
          <a:noFill/>
          <a:ln w="28575">
            <a:solidFill>
              <a:schemeClr val="accent6"/>
            </a:solidFill>
          </a:ln>
        </p:spPr>
        <p:txBody>
          <a:bodyPr wrap="square" rtlCol="0">
            <a:spAutoFit/>
          </a:bodyPr>
          <a:lstStyle/>
          <a:p>
            <a:r>
              <a:rPr lang="en-GB" sz="2000" dirty="0"/>
              <a:t>The </a:t>
            </a:r>
            <a:r>
              <a:rPr lang="en-GB" sz="2000" b="1" dirty="0">
                <a:solidFill>
                  <a:schemeClr val="accent6">
                    <a:lumMod val="75000"/>
                  </a:schemeClr>
                </a:solidFill>
              </a:rPr>
              <a:t>combustion of fuels </a:t>
            </a:r>
            <a:r>
              <a:rPr lang="en-GB" sz="2000" dirty="0"/>
              <a:t>is a major source of atmospheric pollutants.</a:t>
            </a:r>
          </a:p>
          <a:p>
            <a:r>
              <a:rPr lang="en-GB" sz="2000" dirty="0"/>
              <a:t>Most fuels, including </a:t>
            </a:r>
            <a:r>
              <a:rPr lang="en-GB" sz="2000" b="1" dirty="0">
                <a:solidFill>
                  <a:schemeClr val="accent6">
                    <a:lumMod val="75000"/>
                  </a:schemeClr>
                </a:solidFill>
              </a:rPr>
              <a:t>coal</a:t>
            </a:r>
            <a:r>
              <a:rPr lang="en-GB" sz="2000" dirty="0">
                <a:solidFill>
                  <a:schemeClr val="accent6">
                    <a:lumMod val="75000"/>
                  </a:schemeClr>
                </a:solidFill>
              </a:rPr>
              <a:t>,</a:t>
            </a:r>
            <a:r>
              <a:rPr lang="en-GB" sz="2000" dirty="0"/>
              <a:t> contain </a:t>
            </a:r>
            <a:r>
              <a:rPr lang="en-GB" sz="2000" b="1" dirty="0">
                <a:solidFill>
                  <a:schemeClr val="accent6">
                    <a:lumMod val="75000"/>
                  </a:schemeClr>
                </a:solidFill>
              </a:rPr>
              <a:t>carbon</a:t>
            </a:r>
            <a:r>
              <a:rPr lang="en-GB" sz="2000" dirty="0"/>
              <a:t> and/or </a:t>
            </a:r>
            <a:r>
              <a:rPr lang="en-GB" sz="2000" b="1" dirty="0">
                <a:solidFill>
                  <a:schemeClr val="accent6">
                    <a:lumMod val="75000"/>
                  </a:schemeClr>
                </a:solidFill>
              </a:rPr>
              <a:t>hydrogen</a:t>
            </a:r>
            <a:r>
              <a:rPr lang="en-GB" sz="2000" dirty="0"/>
              <a:t> and may also contain some </a:t>
            </a:r>
            <a:r>
              <a:rPr lang="en-GB" sz="2000" b="1" dirty="0" err="1">
                <a:solidFill>
                  <a:schemeClr val="accent6">
                    <a:lumMod val="75000"/>
                  </a:schemeClr>
                </a:solidFill>
              </a:rPr>
              <a:t>sulfur</a:t>
            </a:r>
            <a:r>
              <a:rPr lang="en-GB" sz="2000" dirty="0"/>
              <a:t>.</a:t>
            </a:r>
          </a:p>
        </p:txBody>
      </p:sp>
      <p:sp>
        <p:nvSpPr>
          <p:cNvPr id="4" name="TextBox 3"/>
          <p:cNvSpPr txBox="1"/>
          <p:nvPr/>
        </p:nvSpPr>
        <p:spPr>
          <a:xfrm>
            <a:off x="105529" y="2420888"/>
            <a:ext cx="8786951" cy="1631216"/>
          </a:xfrm>
          <a:prstGeom prst="rect">
            <a:avLst/>
          </a:prstGeom>
          <a:noFill/>
        </p:spPr>
        <p:txBody>
          <a:bodyPr wrap="square" rtlCol="0">
            <a:spAutoFit/>
          </a:bodyPr>
          <a:lstStyle/>
          <a:p>
            <a:pPr marL="285750" indent="-285750">
              <a:buFont typeface="Arial" panose="020B0604020202020204" pitchFamily="34" charset="0"/>
              <a:buChar char="•"/>
            </a:pPr>
            <a:r>
              <a:rPr lang="en-GB" sz="2000" b="1" dirty="0">
                <a:solidFill>
                  <a:schemeClr val="accent6">
                    <a:lumMod val="75000"/>
                  </a:schemeClr>
                </a:solidFill>
              </a:rPr>
              <a:t>I</a:t>
            </a:r>
            <a:r>
              <a:rPr lang="en-GB" sz="2000" b="1" dirty="0" smtClean="0">
                <a:solidFill>
                  <a:schemeClr val="accent6">
                    <a:lumMod val="75000"/>
                  </a:schemeClr>
                </a:solidFill>
              </a:rPr>
              <a:t>ncomplete </a:t>
            </a:r>
            <a:r>
              <a:rPr lang="en-GB" sz="2000" b="1" dirty="0">
                <a:solidFill>
                  <a:schemeClr val="accent6">
                    <a:lumMod val="75000"/>
                  </a:schemeClr>
                </a:solidFill>
              </a:rPr>
              <a:t>combustion </a:t>
            </a:r>
            <a:r>
              <a:rPr lang="en-GB" sz="2000" dirty="0"/>
              <a:t>of these fuels </a:t>
            </a:r>
            <a:r>
              <a:rPr lang="en-GB" sz="2000" dirty="0" smtClean="0"/>
              <a:t>causes </a:t>
            </a:r>
            <a:r>
              <a:rPr lang="en-GB" sz="2000" b="1" dirty="0">
                <a:solidFill>
                  <a:schemeClr val="accent6">
                    <a:lumMod val="75000"/>
                  </a:schemeClr>
                </a:solidFill>
              </a:rPr>
              <a:t>carbon monoxide </a:t>
            </a:r>
            <a:r>
              <a:rPr lang="en-GB" sz="2000" dirty="0"/>
              <a:t>and</a:t>
            </a:r>
            <a:r>
              <a:rPr lang="en-GB" sz="2000" b="1" dirty="0"/>
              <a:t> </a:t>
            </a:r>
            <a:r>
              <a:rPr lang="en-GB" sz="2000" b="1" dirty="0">
                <a:solidFill>
                  <a:schemeClr val="accent6">
                    <a:lumMod val="75000"/>
                  </a:schemeClr>
                </a:solidFill>
              </a:rPr>
              <a:t>soot </a:t>
            </a:r>
            <a:r>
              <a:rPr lang="en-GB" sz="2000" dirty="0"/>
              <a:t>(carbon particles) to be produced. </a:t>
            </a:r>
            <a:endParaRPr lang="en-GB" sz="2000" dirty="0" smtClean="0"/>
          </a:p>
          <a:p>
            <a:pPr marL="285750" indent="-285750">
              <a:buFont typeface="Arial" panose="020B0604020202020204" pitchFamily="34" charset="0"/>
              <a:buChar char="•"/>
            </a:pPr>
            <a:r>
              <a:rPr lang="en-GB" sz="2000" b="1" dirty="0" smtClean="0">
                <a:solidFill>
                  <a:schemeClr val="accent6">
                    <a:lumMod val="75000"/>
                  </a:schemeClr>
                </a:solidFill>
              </a:rPr>
              <a:t>Complete combustion </a:t>
            </a:r>
            <a:r>
              <a:rPr lang="en-GB" sz="2000" dirty="0" smtClean="0"/>
              <a:t>of these fuels produces </a:t>
            </a:r>
            <a:r>
              <a:rPr lang="en-GB" sz="2000" b="1" dirty="0" smtClean="0">
                <a:solidFill>
                  <a:schemeClr val="accent6">
                    <a:lumMod val="75000"/>
                  </a:schemeClr>
                </a:solidFill>
              </a:rPr>
              <a:t>Carbon dioxide.</a:t>
            </a:r>
          </a:p>
          <a:p>
            <a:pPr marL="285750" indent="-285750">
              <a:buFont typeface="Arial" panose="020B0604020202020204" pitchFamily="34" charset="0"/>
              <a:buChar char="•"/>
            </a:pPr>
            <a:r>
              <a:rPr lang="en-GB" sz="2000" dirty="0" smtClean="0"/>
              <a:t>As </a:t>
            </a:r>
            <a:r>
              <a:rPr lang="en-GB" sz="2000" dirty="0"/>
              <a:t>there are small amounts of </a:t>
            </a:r>
            <a:r>
              <a:rPr lang="en-GB" sz="2000" b="1" dirty="0" err="1">
                <a:solidFill>
                  <a:schemeClr val="accent6">
                    <a:lumMod val="75000"/>
                  </a:schemeClr>
                </a:solidFill>
              </a:rPr>
              <a:t>sulfur</a:t>
            </a:r>
            <a:r>
              <a:rPr lang="en-GB" sz="2000" dirty="0">
                <a:solidFill>
                  <a:schemeClr val="accent6">
                    <a:lumMod val="75000"/>
                  </a:schemeClr>
                </a:solidFill>
              </a:rPr>
              <a:t> </a:t>
            </a:r>
            <a:r>
              <a:rPr lang="en-GB" sz="2000" dirty="0"/>
              <a:t>and </a:t>
            </a:r>
            <a:r>
              <a:rPr lang="en-GB" sz="2000" b="1" dirty="0">
                <a:solidFill>
                  <a:schemeClr val="accent6">
                    <a:lumMod val="75000"/>
                  </a:schemeClr>
                </a:solidFill>
              </a:rPr>
              <a:t>nitrogen</a:t>
            </a:r>
            <a:r>
              <a:rPr lang="en-GB" sz="2000" dirty="0">
                <a:solidFill>
                  <a:schemeClr val="accent6">
                    <a:lumMod val="75000"/>
                  </a:schemeClr>
                </a:solidFill>
              </a:rPr>
              <a:t> </a:t>
            </a:r>
            <a:r>
              <a:rPr lang="en-GB" sz="2000" dirty="0"/>
              <a:t>in the fuels, these also </a:t>
            </a:r>
            <a:r>
              <a:rPr lang="en-GB" sz="2000" b="1" dirty="0">
                <a:solidFill>
                  <a:schemeClr val="accent6">
                    <a:lumMod val="75000"/>
                  </a:schemeClr>
                </a:solidFill>
              </a:rPr>
              <a:t>oxidise</a:t>
            </a:r>
            <a:r>
              <a:rPr lang="en-GB" sz="2000" dirty="0"/>
              <a:t> to </a:t>
            </a:r>
            <a:r>
              <a:rPr lang="en-GB" sz="2000" b="1" dirty="0" err="1">
                <a:solidFill>
                  <a:schemeClr val="accent6">
                    <a:lumMod val="75000"/>
                  </a:schemeClr>
                </a:solidFill>
              </a:rPr>
              <a:t>sulfur</a:t>
            </a:r>
            <a:r>
              <a:rPr lang="en-GB" sz="2000" b="1" dirty="0">
                <a:solidFill>
                  <a:schemeClr val="accent6">
                    <a:lumMod val="75000"/>
                  </a:schemeClr>
                </a:solidFill>
              </a:rPr>
              <a:t> dioxide</a:t>
            </a:r>
            <a:r>
              <a:rPr lang="en-GB" sz="2000" dirty="0">
                <a:solidFill>
                  <a:schemeClr val="accent6">
                    <a:lumMod val="75000"/>
                  </a:schemeClr>
                </a:solidFill>
              </a:rPr>
              <a:t> </a:t>
            </a:r>
            <a:r>
              <a:rPr lang="en-GB" sz="2000" dirty="0"/>
              <a:t>and </a:t>
            </a:r>
            <a:r>
              <a:rPr lang="en-GB" sz="2000" b="1" dirty="0">
                <a:solidFill>
                  <a:schemeClr val="accent6">
                    <a:lumMod val="75000"/>
                  </a:schemeClr>
                </a:solidFill>
              </a:rPr>
              <a:t>oxides of nitrogen</a:t>
            </a:r>
            <a:r>
              <a:rPr lang="en-GB" sz="2000" dirty="0">
                <a:solidFill>
                  <a:schemeClr val="accent6">
                    <a:lumMod val="75000"/>
                  </a:schemeClr>
                </a:solidFill>
              </a:rPr>
              <a:t> </a:t>
            </a:r>
            <a:r>
              <a:rPr lang="en-GB" sz="2000" dirty="0"/>
              <a:t>which are also pollutants.</a:t>
            </a:r>
          </a:p>
        </p:txBody>
      </p:sp>
      <p:pic>
        <p:nvPicPr>
          <p:cNvPr id="7" name="irc_mi" descr="Image result for bunsen flames blue orange">
            <a:hlinkClick r:id="rId2"/>
          </p:cNvPr>
          <p:cNvPicPr/>
          <p:nvPr/>
        </p:nvPicPr>
        <p:blipFill rotWithShape="1">
          <a:blip r:embed="rId3" cstate="print">
            <a:extLst>
              <a:ext uri="{28A0092B-C50C-407E-A947-70E740481C1C}">
                <a14:useLocalDpi xmlns:a14="http://schemas.microsoft.com/office/drawing/2010/main" val="0"/>
              </a:ext>
            </a:extLst>
          </a:blip>
          <a:srcRect l="5966" r="75580" b="7692"/>
          <a:stretch/>
        </p:blipFill>
        <p:spPr bwMode="auto">
          <a:xfrm>
            <a:off x="1907704" y="4509120"/>
            <a:ext cx="672653" cy="1656886"/>
          </a:xfrm>
          <a:prstGeom prst="rect">
            <a:avLst/>
          </a:prstGeom>
          <a:noFill/>
          <a:ln>
            <a:noFill/>
          </a:ln>
          <a:extLst>
            <a:ext uri="{53640926-AAD7-44D8-BBD7-CCE9431645EC}">
              <a14:shadowObscured xmlns:a14="http://schemas.microsoft.com/office/drawing/2010/main"/>
            </a:ext>
          </a:extLst>
        </p:spPr>
      </p:pic>
      <p:pic>
        <p:nvPicPr>
          <p:cNvPr id="8" name="irc_mi" descr="Image result for bunsen flames blue orange">
            <a:hlinkClick r:id="rId2"/>
          </p:cNvPr>
          <p:cNvPicPr/>
          <p:nvPr/>
        </p:nvPicPr>
        <p:blipFill rotWithShape="1">
          <a:blip r:embed="rId4" cstate="print">
            <a:extLst>
              <a:ext uri="{28A0092B-C50C-407E-A947-70E740481C1C}">
                <a14:useLocalDpi xmlns:a14="http://schemas.microsoft.com/office/drawing/2010/main" val="0"/>
              </a:ext>
            </a:extLst>
          </a:blip>
          <a:srcRect l="68258" r="14671" b="7818"/>
          <a:stretch/>
        </p:blipFill>
        <p:spPr bwMode="auto">
          <a:xfrm>
            <a:off x="5436096" y="4509120"/>
            <a:ext cx="669406" cy="165688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058204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Common atmospheric pollutants and their sources</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5" name="TextBox 4"/>
          <p:cNvSpPr txBox="1"/>
          <p:nvPr/>
        </p:nvSpPr>
        <p:spPr>
          <a:xfrm>
            <a:off x="285471" y="980728"/>
            <a:ext cx="8615203" cy="1323439"/>
          </a:xfrm>
          <a:custGeom>
            <a:avLst/>
            <a:gdLst>
              <a:gd name="connsiteX0" fmla="*/ 0 w 8640960"/>
              <a:gd name="connsiteY0" fmla="*/ 0 h 1200329"/>
              <a:gd name="connsiteX1" fmla="*/ 8640960 w 8640960"/>
              <a:gd name="connsiteY1" fmla="*/ 0 h 1200329"/>
              <a:gd name="connsiteX2" fmla="*/ 8640960 w 8640960"/>
              <a:gd name="connsiteY2" fmla="*/ 1200329 h 1200329"/>
              <a:gd name="connsiteX3" fmla="*/ 0 w 8640960"/>
              <a:gd name="connsiteY3" fmla="*/ 1200329 h 1200329"/>
              <a:gd name="connsiteX4" fmla="*/ 0 w 8640960"/>
              <a:gd name="connsiteY4" fmla="*/ 0 h 1200329"/>
              <a:gd name="connsiteX0" fmla="*/ 0 w 8640960"/>
              <a:gd name="connsiteY0" fmla="*/ 0 h 1200329"/>
              <a:gd name="connsiteX1" fmla="*/ 8640960 w 8640960"/>
              <a:gd name="connsiteY1" fmla="*/ 0 h 1200329"/>
              <a:gd name="connsiteX2" fmla="*/ 8640960 w 8640960"/>
              <a:gd name="connsiteY2" fmla="*/ 1200329 h 1200329"/>
              <a:gd name="connsiteX3" fmla="*/ 0 w 8640960"/>
              <a:gd name="connsiteY3" fmla="*/ 904115 h 1200329"/>
              <a:gd name="connsiteX4" fmla="*/ 0 w 8640960"/>
              <a:gd name="connsiteY4" fmla="*/ 0 h 1200329"/>
              <a:gd name="connsiteX0" fmla="*/ 0 w 8640960"/>
              <a:gd name="connsiteY0" fmla="*/ 0 h 916993"/>
              <a:gd name="connsiteX1" fmla="*/ 8640960 w 8640960"/>
              <a:gd name="connsiteY1" fmla="*/ 0 h 916993"/>
              <a:gd name="connsiteX2" fmla="*/ 8640960 w 8640960"/>
              <a:gd name="connsiteY2" fmla="*/ 916993 h 916993"/>
              <a:gd name="connsiteX3" fmla="*/ 0 w 8640960"/>
              <a:gd name="connsiteY3" fmla="*/ 904115 h 916993"/>
              <a:gd name="connsiteX4" fmla="*/ 0 w 8640960"/>
              <a:gd name="connsiteY4" fmla="*/ 0 h 916993"/>
              <a:gd name="connsiteX0" fmla="*/ 0 w 8640960"/>
              <a:gd name="connsiteY0" fmla="*/ 0 h 904115"/>
              <a:gd name="connsiteX1" fmla="*/ 8640960 w 8640960"/>
              <a:gd name="connsiteY1" fmla="*/ 0 h 904115"/>
              <a:gd name="connsiteX2" fmla="*/ 8640960 w 8640960"/>
              <a:gd name="connsiteY2" fmla="*/ 904114 h 904115"/>
              <a:gd name="connsiteX3" fmla="*/ 0 w 8640960"/>
              <a:gd name="connsiteY3" fmla="*/ 904115 h 904115"/>
              <a:gd name="connsiteX4" fmla="*/ 0 w 8640960"/>
              <a:gd name="connsiteY4" fmla="*/ 0 h 904115"/>
              <a:gd name="connsiteX0" fmla="*/ 0 w 8640960"/>
              <a:gd name="connsiteY0" fmla="*/ 0 h 1148813"/>
              <a:gd name="connsiteX1" fmla="*/ 8640960 w 8640960"/>
              <a:gd name="connsiteY1" fmla="*/ 0 h 1148813"/>
              <a:gd name="connsiteX2" fmla="*/ 8640960 w 8640960"/>
              <a:gd name="connsiteY2" fmla="*/ 904114 h 1148813"/>
              <a:gd name="connsiteX3" fmla="*/ 12878 w 8640960"/>
              <a:gd name="connsiteY3" fmla="*/ 1148813 h 1148813"/>
              <a:gd name="connsiteX4" fmla="*/ 0 w 8640960"/>
              <a:gd name="connsiteY4" fmla="*/ 0 h 1148813"/>
              <a:gd name="connsiteX0" fmla="*/ 0 w 8640960"/>
              <a:gd name="connsiteY0" fmla="*/ 0 h 1148813"/>
              <a:gd name="connsiteX1" fmla="*/ 8640960 w 8640960"/>
              <a:gd name="connsiteY1" fmla="*/ 0 h 1148813"/>
              <a:gd name="connsiteX2" fmla="*/ 8628081 w 8640960"/>
              <a:gd name="connsiteY2" fmla="*/ 1135933 h 1148813"/>
              <a:gd name="connsiteX3" fmla="*/ 12878 w 8640960"/>
              <a:gd name="connsiteY3" fmla="*/ 1148813 h 1148813"/>
              <a:gd name="connsiteX4" fmla="*/ 0 w 8640960"/>
              <a:gd name="connsiteY4" fmla="*/ 0 h 1148813"/>
              <a:gd name="connsiteX0" fmla="*/ 0 w 8628081"/>
              <a:gd name="connsiteY0" fmla="*/ 0 h 1148813"/>
              <a:gd name="connsiteX1" fmla="*/ 8628081 w 8628081"/>
              <a:gd name="connsiteY1" fmla="*/ 244699 h 1148813"/>
              <a:gd name="connsiteX2" fmla="*/ 8628081 w 8628081"/>
              <a:gd name="connsiteY2" fmla="*/ 1135933 h 1148813"/>
              <a:gd name="connsiteX3" fmla="*/ 12878 w 8628081"/>
              <a:gd name="connsiteY3" fmla="*/ 1148813 h 1148813"/>
              <a:gd name="connsiteX4" fmla="*/ 0 w 8628081"/>
              <a:gd name="connsiteY4" fmla="*/ 0 h 1148813"/>
              <a:gd name="connsiteX0" fmla="*/ 0 w 8615203"/>
              <a:gd name="connsiteY0" fmla="*/ 12879 h 904114"/>
              <a:gd name="connsiteX1" fmla="*/ 8615203 w 8615203"/>
              <a:gd name="connsiteY1" fmla="*/ 0 h 904114"/>
              <a:gd name="connsiteX2" fmla="*/ 8615203 w 8615203"/>
              <a:gd name="connsiteY2" fmla="*/ 891234 h 904114"/>
              <a:gd name="connsiteX3" fmla="*/ 0 w 8615203"/>
              <a:gd name="connsiteY3" fmla="*/ 904114 h 904114"/>
              <a:gd name="connsiteX4" fmla="*/ 0 w 8615203"/>
              <a:gd name="connsiteY4" fmla="*/ 12879 h 904114"/>
              <a:gd name="connsiteX0" fmla="*/ 0 w 8615203"/>
              <a:gd name="connsiteY0" fmla="*/ 0 h 929872"/>
              <a:gd name="connsiteX1" fmla="*/ 8615203 w 8615203"/>
              <a:gd name="connsiteY1" fmla="*/ 25758 h 929872"/>
              <a:gd name="connsiteX2" fmla="*/ 8615203 w 8615203"/>
              <a:gd name="connsiteY2" fmla="*/ 916992 h 929872"/>
              <a:gd name="connsiteX3" fmla="*/ 0 w 8615203"/>
              <a:gd name="connsiteY3" fmla="*/ 929872 h 929872"/>
              <a:gd name="connsiteX4" fmla="*/ 0 w 8615203"/>
              <a:gd name="connsiteY4" fmla="*/ 0 h 929872"/>
              <a:gd name="connsiteX0" fmla="*/ 0 w 8615203"/>
              <a:gd name="connsiteY0" fmla="*/ 0 h 916993"/>
              <a:gd name="connsiteX1" fmla="*/ 8615203 w 8615203"/>
              <a:gd name="connsiteY1" fmla="*/ 12879 h 916993"/>
              <a:gd name="connsiteX2" fmla="*/ 8615203 w 8615203"/>
              <a:gd name="connsiteY2" fmla="*/ 904113 h 916993"/>
              <a:gd name="connsiteX3" fmla="*/ 0 w 8615203"/>
              <a:gd name="connsiteY3" fmla="*/ 916993 h 916993"/>
              <a:gd name="connsiteX4" fmla="*/ 0 w 8615203"/>
              <a:gd name="connsiteY4" fmla="*/ 0 h 916993"/>
              <a:gd name="connsiteX0" fmla="*/ 0 w 8615203"/>
              <a:gd name="connsiteY0" fmla="*/ 0 h 995704"/>
              <a:gd name="connsiteX1" fmla="*/ 8615203 w 8615203"/>
              <a:gd name="connsiteY1" fmla="*/ 91590 h 995704"/>
              <a:gd name="connsiteX2" fmla="*/ 8615203 w 8615203"/>
              <a:gd name="connsiteY2" fmla="*/ 982824 h 995704"/>
              <a:gd name="connsiteX3" fmla="*/ 0 w 8615203"/>
              <a:gd name="connsiteY3" fmla="*/ 995704 h 995704"/>
              <a:gd name="connsiteX4" fmla="*/ 0 w 8615203"/>
              <a:gd name="connsiteY4" fmla="*/ 0 h 995704"/>
              <a:gd name="connsiteX0" fmla="*/ 0 w 8615203"/>
              <a:gd name="connsiteY0" fmla="*/ 6798 h 1002502"/>
              <a:gd name="connsiteX1" fmla="*/ 8615203 w 8615203"/>
              <a:gd name="connsiteY1" fmla="*/ 0 h 1002502"/>
              <a:gd name="connsiteX2" fmla="*/ 8615203 w 8615203"/>
              <a:gd name="connsiteY2" fmla="*/ 989622 h 1002502"/>
              <a:gd name="connsiteX3" fmla="*/ 0 w 8615203"/>
              <a:gd name="connsiteY3" fmla="*/ 1002502 h 1002502"/>
              <a:gd name="connsiteX4" fmla="*/ 0 w 8615203"/>
              <a:gd name="connsiteY4" fmla="*/ 6798 h 1002502"/>
              <a:gd name="connsiteX0" fmla="*/ 0 w 8615203"/>
              <a:gd name="connsiteY0" fmla="*/ 6798 h 989622"/>
              <a:gd name="connsiteX1" fmla="*/ 8615203 w 8615203"/>
              <a:gd name="connsiteY1" fmla="*/ 0 h 989622"/>
              <a:gd name="connsiteX2" fmla="*/ 8615203 w 8615203"/>
              <a:gd name="connsiteY2" fmla="*/ 989622 h 989622"/>
              <a:gd name="connsiteX3" fmla="*/ 12879 w 8615203"/>
              <a:gd name="connsiteY3" fmla="*/ 707337 h 989622"/>
              <a:gd name="connsiteX4" fmla="*/ 0 w 8615203"/>
              <a:gd name="connsiteY4" fmla="*/ 6798 h 989622"/>
              <a:gd name="connsiteX0" fmla="*/ 0 w 8615203"/>
              <a:gd name="connsiteY0" fmla="*/ 6798 h 707337"/>
              <a:gd name="connsiteX1" fmla="*/ 8615203 w 8615203"/>
              <a:gd name="connsiteY1" fmla="*/ 0 h 707337"/>
              <a:gd name="connsiteX2" fmla="*/ 8615203 w 8615203"/>
              <a:gd name="connsiteY2" fmla="*/ 704296 h 707337"/>
              <a:gd name="connsiteX3" fmla="*/ 12879 w 8615203"/>
              <a:gd name="connsiteY3" fmla="*/ 707337 h 707337"/>
              <a:gd name="connsiteX4" fmla="*/ 0 w 8615203"/>
              <a:gd name="connsiteY4" fmla="*/ 6798 h 707337"/>
              <a:gd name="connsiteX0" fmla="*/ 0 w 8615203"/>
              <a:gd name="connsiteY0" fmla="*/ 6798 h 707337"/>
              <a:gd name="connsiteX1" fmla="*/ 8615203 w 8615203"/>
              <a:gd name="connsiteY1" fmla="*/ 0 h 707337"/>
              <a:gd name="connsiteX2" fmla="*/ 8615203 w 8615203"/>
              <a:gd name="connsiteY2" fmla="*/ 704296 h 707337"/>
              <a:gd name="connsiteX3" fmla="*/ 0 w 8615203"/>
              <a:gd name="connsiteY3" fmla="*/ 707337 h 707337"/>
              <a:gd name="connsiteX4" fmla="*/ 0 w 8615203"/>
              <a:gd name="connsiteY4" fmla="*/ 6798 h 707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15203" h="707337">
                <a:moveTo>
                  <a:pt x="0" y="6798"/>
                </a:moveTo>
                <a:lnTo>
                  <a:pt x="8615203" y="0"/>
                </a:lnTo>
                <a:lnTo>
                  <a:pt x="8615203" y="704296"/>
                </a:lnTo>
                <a:lnTo>
                  <a:pt x="0" y="707337"/>
                </a:lnTo>
                <a:lnTo>
                  <a:pt x="0" y="6798"/>
                </a:lnTo>
                <a:close/>
              </a:path>
            </a:pathLst>
          </a:custGeom>
          <a:noFill/>
          <a:ln w="28575">
            <a:solidFill>
              <a:schemeClr val="accent6"/>
            </a:solidFill>
          </a:ln>
        </p:spPr>
        <p:txBody>
          <a:bodyPr wrap="square" rtlCol="0">
            <a:spAutoFit/>
          </a:bodyPr>
          <a:lstStyle/>
          <a:p>
            <a:r>
              <a:rPr lang="en-GB" sz="2000" dirty="0"/>
              <a:t>The gases released in to the atmosphere when a fuel is burnt may include </a:t>
            </a:r>
            <a:r>
              <a:rPr lang="en-GB" sz="2000" b="1" dirty="0">
                <a:solidFill>
                  <a:schemeClr val="accent6">
                    <a:lumMod val="75000"/>
                  </a:schemeClr>
                </a:solidFill>
              </a:rPr>
              <a:t>carbon dioxide</a:t>
            </a:r>
            <a:r>
              <a:rPr lang="en-GB" sz="2000" dirty="0">
                <a:solidFill>
                  <a:schemeClr val="accent6">
                    <a:lumMod val="75000"/>
                  </a:schemeClr>
                </a:solidFill>
              </a:rPr>
              <a:t>, </a:t>
            </a:r>
            <a:r>
              <a:rPr lang="en-GB" sz="2000" b="1" dirty="0">
                <a:solidFill>
                  <a:schemeClr val="accent6">
                    <a:lumMod val="75000"/>
                  </a:schemeClr>
                </a:solidFill>
              </a:rPr>
              <a:t>water vapour</a:t>
            </a:r>
            <a:r>
              <a:rPr lang="en-GB" sz="2000" dirty="0">
                <a:solidFill>
                  <a:schemeClr val="accent6">
                    <a:lumMod val="75000"/>
                  </a:schemeClr>
                </a:solidFill>
              </a:rPr>
              <a:t>, </a:t>
            </a:r>
            <a:r>
              <a:rPr lang="en-GB" sz="2000" b="1" dirty="0">
                <a:solidFill>
                  <a:schemeClr val="accent6">
                    <a:lumMod val="75000"/>
                  </a:schemeClr>
                </a:solidFill>
              </a:rPr>
              <a:t>carbon monoxide</a:t>
            </a:r>
            <a:r>
              <a:rPr lang="en-GB" sz="2000" dirty="0">
                <a:solidFill>
                  <a:schemeClr val="accent6">
                    <a:lumMod val="75000"/>
                  </a:schemeClr>
                </a:solidFill>
              </a:rPr>
              <a:t>, </a:t>
            </a:r>
            <a:r>
              <a:rPr lang="en-GB" sz="2000" b="1" dirty="0" err="1">
                <a:solidFill>
                  <a:schemeClr val="accent6">
                    <a:lumMod val="75000"/>
                  </a:schemeClr>
                </a:solidFill>
              </a:rPr>
              <a:t>sulfur</a:t>
            </a:r>
            <a:r>
              <a:rPr lang="en-GB" sz="2000" b="1" dirty="0">
                <a:solidFill>
                  <a:schemeClr val="accent6">
                    <a:lumMod val="75000"/>
                  </a:schemeClr>
                </a:solidFill>
              </a:rPr>
              <a:t> dioxide </a:t>
            </a:r>
            <a:r>
              <a:rPr lang="en-GB" sz="2000" dirty="0"/>
              <a:t>and </a:t>
            </a:r>
            <a:r>
              <a:rPr lang="en-GB" sz="2000" b="1" dirty="0">
                <a:solidFill>
                  <a:schemeClr val="accent6">
                    <a:lumMod val="75000"/>
                  </a:schemeClr>
                </a:solidFill>
              </a:rPr>
              <a:t>oxides of nitrogen</a:t>
            </a:r>
            <a:r>
              <a:rPr lang="en-GB" sz="2000" dirty="0"/>
              <a:t>. Solid particles and unburned hydrocarbons may also be released that forms </a:t>
            </a:r>
            <a:r>
              <a:rPr lang="en-GB" sz="2000" b="1" dirty="0">
                <a:solidFill>
                  <a:schemeClr val="accent6">
                    <a:lumMod val="75000"/>
                  </a:schemeClr>
                </a:solidFill>
              </a:rPr>
              <a:t>particulates</a:t>
            </a:r>
            <a:r>
              <a:rPr lang="en-GB" sz="2000" dirty="0"/>
              <a:t> in the atmosphere.</a:t>
            </a:r>
          </a:p>
        </p:txBody>
      </p:sp>
      <p:sp>
        <p:nvSpPr>
          <p:cNvPr id="6" name="TextBox 5"/>
          <p:cNvSpPr txBox="1"/>
          <p:nvPr/>
        </p:nvSpPr>
        <p:spPr>
          <a:xfrm>
            <a:off x="285471" y="2592199"/>
            <a:ext cx="8603562" cy="2246769"/>
          </a:xfrm>
          <a:custGeom>
            <a:avLst/>
            <a:gdLst>
              <a:gd name="connsiteX0" fmla="*/ 0 w 8640960"/>
              <a:gd name="connsiteY0" fmla="*/ 0 h 2031325"/>
              <a:gd name="connsiteX1" fmla="*/ 8640960 w 8640960"/>
              <a:gd name="connsiteY1" fmla="*/ 0 h 2031325"/>
              <a:gd name="connsiteX2" fmla="*/ 8640960 w 8640960"/>
              <a:gd name="connsiteY2" fmla="*/ 2031325 h 2031325"/>
              <a:gd name="connsiteX3" fmla="*/ 0 w 8640960"/>
              <a:gd name="connsiteY3" fmla="*/ 2031325 h 2031325"/>
              <a:gd name="connsiteX4" fmla="*/ 0 w 8640960"/>
              <a:gd name="connsiteY4" fmla="*/ 0 h 2031325"/>
              <a:gd name="connsiteX0" fmla="*/ 0 w 8640960"/>
              <a:gd name="connsiteY0" fmla="*/ 0 h 2224508"/>
              <a:gd name="connsiteX1" fmla="*/ 8640960 w 8640960"/>
              <a:gd name="connsiteY1" fmla="*/ 0 h 2224508"/>
              <a:gd name="connsiteX2" fmla="*/ 8640960 w 8640960"/>
              <a:gd name="connsiteY2" fmla="*/ 2031325 h 2224508"/>
              <a:gd name="connsiteX3" fmla="*/ 12878 w 8640960"/>
              <a:gd name="connsiteY3" fmla="*/ 2224508 h 2224508"/>
              <a:gd name="connsiteX4" fmla="*/ 0 w 8640960"/>
              <a:gd name="connsiteY4" fmla="*/ 0 h 2224508"/>
              <a:gd name="connsiteX0" fmla="*/ 0 w 8640960"/>
              <a:gd name="connsiteY0" fmla="*/ 0 h 2237386"/>
              <a:gd name="connsiteX1" fmla="*/ 8640960 w 8640960"/>
              <a:gd name="connsiteY1" fmla="*/ 0 h 2237386"/>
              <a:gd name="connsiteX2" fmla="*/ 8628081 w 8640960"/>
              <a:gd name="connsiteY2" fmla="*/ 2237386 h 2237386"/>
              <a:gd name="connsiteX3" fmla="*/ 12878 w 8640960"/>
              <a:gd name="connsiteY3" fmla="*/ 2224508 h 2237386"/>
              <a:gd name="connsiteX4" fmla="*/ 0 w 8640960"/>
              <a:gd name="connsiteY4" fmla="*/ 0 h 2237386"/>
              <a:gd name="connsiteX0" fmla="*/ 0 w 8640960"/>
              <a:gd name="connsiteY0" fmla="*/ 0 h 2224508"/>
              <a:gd name="connsiteX1" fmla="*/ 8640960 w 8640960"/>
              <a:gd name="connsiteY1" fmla="*/ 0 h 2224508"/>
              <a:gd name="connsiteX2" fmla="*/ 8628081 w 8640960"/>
              <a:gd name="connsiteY2" fmla="*/ 2224508 h 2224508"/>
              <a:gd name="connsiteX3" fmla="*/ 12878 w 8640960"/>
              <a:gd name="connsiteY3" fmla="*/ 2224508 h 2224508"/>
              <a:gd name="connsiteX4" fmla="*/ 0 w 8640960"/>
              <a:gd name="connsiteY4" fmla="*/ 0 h 2224508"/>
              <a:gd name="connsiteX0" fmla="*/ 0 w 8640960"/>
              <a:gd name="connsiteY0" fmla="*/ 0 h 2224508"/>
              <a:gd name="connsiteX1" fmla="*/ 8640960 w 8640960"/>
              <a:gd name="connsiteY1" fmla="*/ 0 h 2224508"/>
              <a:gd name="connsiteX2" fmla="*/ 8640960 w 8640960"/>
              <a:gd name="connsiteY2" fmla="*/ 2224508 h 2224508"/>
              <a:gd name="connsiteX3" fmla="*/ 12878 w 8640960"/>
              <a:gd name="connsiteY3" fmla="*/ 2224508 h 2224508"/>
              <a:gd name="connsiteX4" fmla="*/ 0 w 8640960"/>
              <a:gd name="connsiteY4" fmla="*/ 0 h 2224508"/>
              <a:gd name="connsiteX0" fmla="*/ 0 w 8640960"/>
              <a:gd name="connsiteY0" fmla="*/ 0 h 2224508"/>
              <a:gd name="connsiteX1" fmla="*/ 8640960 w 8640960"/>
              <a:gd name="connsiteY1" fmla="*/ 321972 h 2224508"/>
              <a:gd name="connsiteX2" fmla="*/ 8640960 w 8640960"/>
              <a:gd name="connsiteY2" fmla="*/ 2224508 h 2224508"/>
              <a:gd name="connsiteX3" fmla="*/ 12878 w 8640960"/>
              <a:gd name="connsiteY3" fmla="*/ 2224508 h 2224508"/>
              <a:gd name="connsiteX4" fmla="*/ 0 w 8640960"/>
              <a:gd name="connsiteY4" fmla="*/ 0 h 2224508"/>
              <a:gd name="connsiteX0" fmla="*/ 13450 w 8628653"/>
              <a:gd name="connsiteY0" fmla="*/ 0 h 1941173"/>
              <a:gd name="connsiteX1" fmla="*/ 8628653 w 8628653"/>
              <a:gd name="connsiteY1" fmla="*/ 38637 h 1941173"/>
              <a:gd name="connsiteX2" fmla="*/ 8628653 w 8628653"/>
              <a:gd name="connsiteY2" fmla="*/ 1941173 h 1941173"/>
              <a:gd name="connsiteX3" fmla="*/ 571 w 8628653"/>
              <a:gd name="connsiteY3" fmla="*/ 1941173 h 1941173"/>
              <a:gd name="connsiteX4" fmla="*/ 13450 w 8628653"/>
              <a:gd name="connsiteY4" fmla="*/ 0 h 1941173"/>
              <a:gd name="connsiteX0" fmla="*/ 13450 w 8628653"/>
              <a:gd name="connsiteY0" fmla="*/ 0 h 1928294"/>
              <a:gd name="connsiteX1" fmla="*/ 8628653 w 8628653"/>
              <a:gd name="connsiteY1" fmla="*/ 25758 h 1928294"/>
              <a:gd name="connsiteX2" fmla="*/ 8628653 w 8628653"/>
              <a:gd name="connsiteY2" fmla="*/ 1928294 h 1928294"/>
              <a:gd name="connsiteX3" fmla="*/ 571 w 8628653"/>
              <a:gd name="connsiteY3" fmla="*/ 1928294 h 1928294"/>
              <a:gd name="connsiteX4" fmla="*/ 13450 w 8628653"/>
              <a:gd name="connsiteY4" fmla="*/ 0 h 1928294"/>
              <a:gd name="connsiteX0" fmla="*/ 13450 w 8628653"/>
              <a:gd name="connsiteY0" fmla="*/ 0 h 1915415"/>
              <a:gd name="connsiteX1" fmla="*/ 8628653 w 8628653"/>
              <a:gd name="connsiteY1" fmla="*/ 12879 h 1915415"/>
              <a:gd name="connsiteX2" fmla="*/ 8628653 w 8628653"/>
              <a:gd name="connsiteY2" fmla="*/ 1915415 h 1915415"/>
              <a:gd name="connsiteX3" fmla="*/ 571 w 8628653"/>
              <a:gd name="connsiteY3" fmla="*/ 1915415 h 1915415"/>
              <a:gd name="connsiteX4" fmla="*/ 13450 w 8628653"/>
              <a:gd name="connsiteY4" fmla="*/ 0 h 1915415"/>
              <a:gd name="connsiteX0" fmla="*/ 1239 w 8629321"/>
              <a:gd name="connsiteY0" fmla="*/ 0 h 1915415"/>
              <a:gd name="connsiteX1" fmla="*/ 8629321 w 8629321"/>
              <a:gd name="connsiteY1" fmla="*/ 12879 h 1915415"/>
              <a:gd name="connsiteX2" fmla="*/ 8629321 w 8629321"/>
              <a:gd name="connsiteY2" fmla="*/ 1915415 h 1915415"/>
              <a:gd name="connsiteX3" fmla="*/ 1239 w 8629321"/>
              <a:gd name="connsiteY3" fmla="*/ 1915415 h 1915415"/>
              <a:gd name="connsiteX4" fmla="*/ 1239 w 8629321"/>
              <a:gd name="connsiteY4" fmla="*/ 0 h 1915415"/>
              <a:gd name="connsiteX0" fmla="*/ 1239 w 8629321"/>
              <a:gd name="connsiteY0" fmla="*/ 436448 h 1902536"/>
              <a:gd name="connsiteX1" fmla="*/ 8629321 w 8629321"/>
              <a:gd name="connsiteY1" fmla="*/ 0 h 1902536"/>
              <a:gd name="connsiteX2" fmla="*/ 8629321 w 8629321"/>
              <a:gd name="connsiteY2" fmla="*/ 1902536 h 1902536"/>
              <a:gd name="connsiteX3" fmla="*/ 1239 w 8629321"/>
              <a:gd name="connsiteY3" fmla="*/ 1902536 h 1902536"/>
              <a:gd name="connsiteX4" fmla="*/ 1239 w 8629321"/>
              <a:gd name="connsiteY4" fmla="*/ 436448 h 1902536"/>
              <a:gd name="connsiteX0" fmla="*/ 1239 w 8629321"/>
              <a:gd name="connsiteY0" fmla="*/ 0 h 1466088"/>
              <a:gd name="connsiteX1" fmla="*/ 8603559 w 8629321"/>
              <a:gd name="connsiteY1" fmla="*/ 735 h 1466088"/>
              <a:gd name="connsiteX2" fmla="*/ 8629321 w 8629321"/>
              <a:gd name="connsiteY2" fmla="*/ 1466088 h 1466088"/>
              <a:gd name="connsiteX3" fmla="*/ 1239 w 8629321"/>
              <a:gd name="connsiteY3" fmla="*/ 1466088 h 1466088"/>
              <a:gd name="connsiteX4" fmla="*/ 1239 w 8629321"/>
              <a:gd name="connsiteY4" fmla="*/ 0 h 1466088"/>
              <a:gd name="connsiteX0" fmla="*/ 26134 w 8628455"/>
              <a:gd name="connsiteY0" fmla="*/ 0 h 1818263"/>
              <a:gd name="connsiteX1" fmla="*/ 8602693 w 8628455"/>
              <a:gd name="connsiteY1" fmla="*/ 352910 h 1818263"/>
              <a:gd name="connsiteX2" fmla="*/ 8628455 w 8628455"/>
              <a:gd name="connsiteY2" fmla="*/ 1818263 h 1818263"/>
              <a:gd name="connsiteX3" fmla="*/ 373 w 8628455"/>
              <a:gd name="connsiteY3" fmla="*/ 1818263 h 1818263"/>
              <a:gd name="connsiteX4" fmla="*/ 26134 w 8628455"/>
              <a:gd name="connsiteY4" fmla="*/ 0 h 1818263"/>
              <a:gd name="connsiteX0" fmla="*/ 26134 w 8628455"/>
              <a:gd name="connsiteY0" fmla="*/ 11410 h 1829673"/>
              <a:gd name="connsiteX1" fmla="*/ 8628455 w 8628455"/>
              <a:gd name="connsiteY1" fmla="*/ 0 h 1829673"/>
              <a:gd name="connsiteX2" fmla="*/ 8628455 w 8628455"/>
              <a:gd name="connsiteY2" fmla="*/ 1829673 h 1829673"/>
              <a:gd name="connsiteX3" fmla="*/ 373 w 8628455"/>
              <a:gd name="connsiteY3" fmla="*/ 1829673 h 1829673"/>
              <a:gd name="connsiteX4" fmla="*/ 26134 w 8628455"/>
              <a:gd name="connsiteY4" fmla="*/ 11410 h 1829673"/>
              <a:gd name="connsiteX0" fmla="*/ 1240 w 8603561"/>
              <a:gd name="connsiteY0" fmla="*/ 11410 h 1829673"/>
              <a:gd name="connsiteX1" fmla="*/ 8603561 w 8603561"/>
              <a:gd name="connsiteY1" fmla="*/ 0 h 1829673"/>
              <a:gd name="connsiteX2" fmla="*/ 8603561 w 8603561"/>
              <a:gd name="connsiteY2" fmla="*/ 1829673 h 1829673"/>
              <a:gd name="connsiteX3" fmla="*/ 1240 w 8603561"/>
              <a:gd name="connsiteY3" fmla="*/ 1696090 h 1829673"/>
              <a:gd name="connsiteX4" fmla="*/ 1240 w 8603561"/>
              <a:gd name="connsiteY4" fmla="*/ 11410 h 1829673"/>
              <a:gd name="connsiteX0" fmla="*/ 1240 w 8603561"/>
              <a:gd name="connsiteY0" fmla="*/ 11410 h 1708233"/>
              <a:gd name="connsiteX1" fmla="*/ 8603561 w 8603561"/>
              <a:gd name="connsiteY1" fmla="*/ 0 h 1708233"/>
              <a:gd name="connsiteX2" fmla="*/ 8590680 w 8603561"/>
              <a:gd name="connsiteY2" fmla="*/ 1708233 h 1708233"/>
              <a:gd name="connsiteX3" fmla="*/ 1240 w 8603561"/>
              <a:gd name="connsiteY3" fmla="*/ 1696090 h 1708233"/>
              <a:gd name="connsiteX4" fmla="*/ 1240 w 8603561"/>
              <a:gd name="connsiteY4" fmla="*/ 11410 h 1708233"/>
              <a:gd name="connsiteX0" fmla="*/ 1240 w 8603561"/>
              <a:gd name="connsiteY0" fmla="*/ 11410 h 1696090"/>
              <a:gd name="connsiteX1" fmla="*/ 8603561 w 8603561"/>
              <a:gd name="connsiteY1" fmla="*/ 0 h 1696090"/>
              <a:gd name="connsiteX2" fmla="*/ 8590680 w 8603561"/>
              <a:gd name="connsiteY2" fmla="*/ 1696089 h 1696090"/>
              <a:gd name="connsiteX3" fmla="*/ 1240 w 8603561"/>
              <a:gd name="connsiteY3" fmla="*/ 1696090 h 1696090"/>
              <a:gd name="connsiteX4" fmla="*/ 1240 w 8603561"/>
              <a:gd name="connsiteY4" fmla="*/ 11410 h 1696090"/>
              <a:gd name="connsiteX0" fmla="*/ 1240 w 8604800"/>
              <a:gd name="connsiteY0" fmla="*/ 11410 h 1696090"/>
              <a:gd name="connsiteX1" fmla="*/ 8603561 w 8604800"/>
              <a:gd name="connsiteY1" fmla="*/ 0 h 1696090"/>
              <a:gd name="connsiteX2" fmla="*/ 8603561 w 8604800"/>
              <a:gd name="connsiteY2" fmla="*/ 1696089 h 1696090"/>
              <a:gd name="connsiteX3" fmla="*/ 1240 w 8604800"/>
              <a:gd name="connsiteY3" fmla="*/ 1696090 h 1696090"/>
              <a:gd name="connsiteX4" fmla="*/ 1240 w 8604800"/>
              <a:gd name="connsiteY4" fmla="*/ 11410 h 1696090"/>
              <a:gd name="connsiteX0" fmla="*/ 1240 w 8604800"/>
              <a:gd name="connsiteY0" fmla="*/ 11410 h 1696089"/>
              <a:gd name="connsiteX1" fmla="*/ 8603561 w 8604800"/>
              <a:gd name="connsiteY1" fmla="*/ 0 h 1696089"/>
              <a:gd name="connsiteX2" fmla="*/ 8603561 w 8604800"/>
              <a:gd name="connsiteY2" fmla="*/ 1696089 h 1696089"/>
              <a:gd name="connsiteX3" fmla="*/ 1240 w 8604800"/>
              <a:gd name="connsiteY3" fmla="*/ 1545542 h 1696089"/>
              <a:gd name="connsiteX4" fmla="*/ 1240 w 8604800"/>
              <a:gd name="connsiteY4" fmla="*/ 11410 h 1696089"/>
              <a:gd name="connsiteX0" fmla="*/ 1240 w 8604800"/>
              <a:gd name="connsiteY0" fmla="*/ 11410 h 1577802"/>
              <a:gd name="connsiteX1" fmla="*/ 8603561 w 8604800"/>
              <a:gd name="connsiteY1" fmla="*/ 0 h 1577802"/>
              <a:gd name="connsiteX2" fmla="*/ 8603561 w 8604800"/>
              <a:gd name="connsiteY2" fmla="*/ 1577802 h 1577802"/>
              <a:gd name="connsiteX3" fmla="*/ 1240 w 8604800"/>
              <a:gd name="connsiteY3" fmla="*/ 1545542 h 1577802"/>
              <a:gd name="connsiteX4" fmla="*/ 1240 w 8604800"/>
              <a:gd name="connsiteY4" fmla="*/ 11410 h 1577802"/>
              <a:gd name="connsiteX0" fmla="*/ 1240 w 8604800"/>
              <a:gd name="connsiteY0" fmla="*/ 11410 h 1567048"/>
              <a:gd name="connsiteX1" fmla="*/ 8603561 w 8604800"/>
              <a:gd name="connsiteY1" fmla="*/ 0 h 1567048"/>
              <a:gd name="connsiteX2" fmla="*/ 8603561 w 8604800"/>
              <a:gd name="connsiteY2" fmla="*/ 1567048 h 1567048"/>
              <a:gd name="connsiteX3" fmla="*/ 1240 w 8604800"/>
              <a:gd name="connsiteY3" fmla="*/ 1545542 h 1567048"/>
              <a:gd name="connsiteX4" fmla="*/ 1240 w 8604800"/>
              <a:gd name="connsiteY4" fmla="*/ 11410 h 1567048"/>
              <a:gd name="connsiteX0" fmla="*/ 1240 w 8604800"/>
              <a:gd name="connsiteY0" fmla="*/ 11410 h 1556294"/>
              <a:gd name="connsiteX1" fmla="*/ 8603561 w 8604800"/>
              <a:gd name="connsiteY1" fmla="*/ 0 h 1556294"/>
              <a:gd name="connsiteX2" fmla="*/ 8603561 w 8604800"/>
              <a:gd name="connsiteY2" fmla="*/ 1556294 h 1556294"/>
              <a:gd name="connsiteX3" fmla="*/ 1240 w 8604800"/>
              <a:gd name="connsiteY3" fmla="*/ 1545542 h 1556294"/>
              <a:gd name="connsiteX4" fmla="*/ 1240 w 8604800"/>
              <a:gd name="connsiteY4" fmla="*/ 11410 h 1556294"/>
              <a:gd name="connsiteX0" fmla="*/ 1240 w 8604800"/>
              <a:gd name="connsiteY0" fmla="*/ 11410 h 1545542"/>
              <a:gd name="connsiteX1" fmla="*/ 8603561 w 8604800"/>
              <a:gd name="connsiteY1" fmla="*/ 0 h 1545542"/>
              <a:gd name="connsiteX2" fmla="*/ 8603561 w 8604800"/>
              <a:gd name="connsiteY2" fmla="*/ 1545540 h 1545542"/>
              <a:gd name="connsiteX3" fmla="*/ 1240 w 8604800"/>
              <a:gd name="connsiteY3" fmla="*/ 1545542 h 1545542"/>
              <a:gd name="connsiteX4" fmla="*/ 1240 w 8604800"/>
              <a:gd name="connsiteY4" fmla="*/ 11410 h 1545542"/>
              <a:gd name="connsiteX0" fmla="*/ 0 w 8603560"/>
              <a:gd name="connsiteY0" fmla="*/ 11410 h 1545540"/>
              <a:gd name="connsiteX1" fmla="*/ 8602321 w 8603560"/>
              <a:gd name="connsiteY1" fmla="*/ 0 h 1545540"/>
              <a:gd name="connsiteX2" fmla="*/ 8602321 w 8603560"/>
              <a:gd name="connsiteY2" fmla="*/ 1545540 h 1545540"/>
              <a:gd name="connsiteX3" fmla="*/ 25762 w 8603560"/>
              <a:gd name="connsiteY3" fmla="*/ 1391559 h 1545540"/>
              <a:gd name="connsiteX4" fmla="*/ 0 w 8603560"/>
              <a:gd name="connsiteY4" fmla="*/ 11410 h 1545540"/>
              <a:gd name="connsiteX0" fmla="*/ 0 w 8603560"/>
              <a:gd name="connsiteY0" fmla="*/ 11410 h 1545540"/>
              <a:gd name="connsiteX1" fmla="*/ 8602321 w 8603560"/>
              <a:gd name="connsiteY1" fmla="*/ 0 h 1545540"/>
              <a:gd name="connsiteX2" fmla="*/ 8602321 w 8603560"/>
              <a:gd name="connsiteY2" fmla="*/ 1545540 h 1545540"/>
              <a:gd name="connsiteX3" fmla="*/ 12881 w 8603560"/>
              <a:gd name="connsiteY3" fmla="*/ 1391559 h 1545540"/>
              <a:gd name="connsiteX4" fmla="*/ 0 w 8603560"/>
              <a:gd name="connsiteY4" fmla="*/ 11410 h 1545540"/>
              <a:gd name="connsiteX0" fmla="*/ 1239 w 8604799"/>
              <a:gd name="connsiteY0" fmla="*/ 11410 h 1545540"/>
              <a:gd name="connsiteX1" fmla="*/ 8603560 w 8604799"/>
              <a:gd name="connsiteY1" fmla="*/ 0 h 1545540"/>
              <a:gd name="connsiteX2" fmla="*/ 8603560 w 8604799"/>
              <a:gd name="connsiteY2" fmla="*/ 1545540 h 1545540"/>
              <a:gd name="connsiteX3" fmla="*/ 1239 w 8604799"/>
              <a:gd name="connsiteY3" fmla="*/ 1391559 h 1545540"/>
              <a:gd name="connsiteX4" fmla="*/ 1239 w 8604799"/>
              <a:gd name="connsiteY4" fmla="*/ 11410 h 1545540"/>
              <a:gd name="connsiteX0" fmla="*/ 1239 w 8604799"/>
              <a:gd name="connsiteY0" fmla="*/ 11410 h 1391559"/>
              <a:gd name="connsiteX1" fmla="*/ 8603560 w 8604799"/>
              <a:gd name="connsiteY1" fmla="*/ 0 h 1391559"/>
              <a:gd name="connsiteX2" fmla="*/ 8603560 w 8604799"/>
              <a:gd name="connsiteY2" fmla="*/ 1371025 h 1391559"/>
              <a:gd name="connsiteX3" fmla="*/ 1239 w 8604799"/>
              <a:gd name="connsiteY3" fmla="*/ 1391559 h 1391559"/>
              <a:gd name="connsiteX4" fmla="*/ 1239 w 8604799"/>
              <a:gd name="connsiteY4" fmla="*/ 11410 h 1391559"/>
              <a:gd name="connsiteX0" fmla="*/ 1239 w 8604799"/>
              <a:gd name="connsiteY0" fmla="*/ 11410 h 1391559"/>
              <a:gd name="connsiteX1" fmla="*/ 8603560 w 8604799"/>
              <a:gd name="connsiteY1" fmla="*/ 0 h 1391559"/>
              <a:gd name="connsiteX2" fmla="*/ 8603560 w 8604799"/>
              <a:gd name="connsiteY2" fmla="*/ 1391557 h 1391559"/>
              <a:gd name="connsiteX3" fmla="*/ 1239 w 8604799"/>
              <a:gd name="connsiteY3" fmla="*/ 1391559 h 1391559"/>
              <a:gd name="connsiteX4" fmla="*/ 1239 w 8604799"/>
              <a:gd name="connsiteY4" fmla="*/ 11410 h 1391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04799" h="1391559">
                <a:moveTo>
                  <a:pt x="1239" y="11410"/>
                </a:moveTo>
                <a:lnTo>
                  <a:pt x="8603560" y="0"/>
                </a:lnTo>
                <a:cubicBezTo>
                  <a:pt x="8599266" y="569411"/>
                  <a:pt x="8607854" y="822146"/>
                  <a:pt x="8603560" y="1391557"/>
                </a:cubicBezTo>
                <a:lnTo>
                  <a:pt x="1239" y="1391559"/>
                </a:lnTo>
                <a:cubicBezTo>
                  <a:pt x="-3054" y="650056"/>
                  <a:pt x="5532" y="752913"/>
                  <a:pt x="1239" y="11410"/>
                </a:cubicBezTo>
                <a:close/>
              </a:path>
            </a:pathLst>
          </a:custGeom>
          <a:noFill/>
          <a:ln w="28575">
            <a:solidFill>
              <a:schemeClr val="accent6"/>
            </a:solidFill>
          </a:ln>
        </p:spPr>
        <p:txBody>
          <a:bodyPr wrap="square" rtlCol="0">
            <a:spAutoFit/>
          </a:bodyPr>
          <a:lstStyle/>
          <a:p>
            <a:pPr marL="285750" indent="-285750">
              <a:buFont typeface="Arial" panose="020B0604020202020204" pitchFamily="34" charset="0"/>
              <a:buChar char="•"/>
            </a:pPr>
            <a:r>
              <a:rPr lang="en-GB" sz="2000" b="1" dirty="0">
                <a:solidFill>
                  <a:schemeClr val="accent6">
                    <a:lumMod val="75000"/>
                  </a:schemeClr>
                </a:solidFill>
              </a:rPr>
              <a:t>Carbon monoxide </a:t>
            </a:r>
            <a:r>
              <a:rPr lang="en-GB" sz="2000" dirty="0"/>
              <a:t>is a </a:t>
            </a:r>
            <a:r>
              <a:rPr lang="en-GB" sz="2000" b="1" dirty="0">
                <a:solidFill>
                  <a:schemeClr val="accent6">
                    <a:lumMod val="75000"/>
                  </a:schemeClr>
                </a:solidFill>
              </a:rPr>
              <a:t>toxic gas</a:t>
            </a:r>
            <a:r>
              <a:rPr lang="en-GB" sz="2000" dirty="0"/>
              <a:t>. It is </a:t>
            </a:r>
            <a:r>
              <a:rPr lang="en-GB" sz="2000" b="1" dirty="0">
                <a:solidFill>
                  <a:schemeClr val="accent6">
                    <a:lumMod val="75000"/>
                  </a:schemeClr>
                </a:solidFill>
              </a:rPr>
              <a:t>colourless</a:t>
            </a:r>
            <a:r>
              <a:rPr lang="en-GB" sz="2000" dirty="0"/>
              <a:t> and </a:t>
            </a:r>
            <a:r>
              <a:rPr lang="en-GB" sz="2000" b="1" dirty="0">
                <a:solidFill>
                  <a:schemeClr val="accent6">
                    <a:lumMod val="75000"/>
                  </a:schemeClr>
                </a:solidFill>
              </a:rPr>
              <a:t>odourless</a:t>
            </a:r>
            <a:r>
              <a:rPr lang="en-GB" sz="2000" dirty="0"/>
              <a:t> and so is not easily detected.</a:t>
            </a:r>
          </a:p>
          <a:p>
            <a:pPr marL="171450" indent="-171450">
              <a:buFont typeface="Arial" panose="020B0604020202020204" pitchFamily="34" charset="0"/>
              <a:buChar char="•"/>
            </a:pPr>
            <a:endParaRPr lang="en-GB" sz="2000" dirty="0"/>
          </a:p>
          <a:p>
            <a:pPr marL="285750" indent="-285750">
              <a:buFont typeface="Arial" panose="020B0604020202020204" pitchFamily="34" charset="0"/>
              <a:buChar char="•"/>
            </a:pPr>
            <a:r>
              <a:rPr lang="en-GB" sz="2000" b="1" dirty="0" err="1">
                <a:solidFill>
                  <a:schemeClr val="accent6">
                    <a:lumMod val="75000"/>
                  </a:schemeClr>
                </a:solidFill>
              </a:rPr>
              <a:t>Sulfur</a:t>
            </a:r>
            <a:r>
              <a:rPr lang="en-GB" sz="2000" b="1" dirty="0">
                <a:solidFill>
                  <a:schemeClr val="accent6">
                    <a:lumMod val="75000"/>
                  </a:schemeClr>
                </a:solidFill>
              </a:rPr>
              <a:t> dioxide </a:t>
            </a:r>
            <a:r>
              <a:rPr lang="en-GB" sz="2000" dirty="0"/>
              <a:t>and </a:t>
            </a:r>
            <a:r>
              <a:rPr lang="en-GB" sz="2000" b="1" dirty="0">
                <a:solidFill>
                  <a:schemeClr val="accent6">
                    <a:lumMod val="75000"/>
                  </a:schemeClr>
                </a:solidFill>
              </a:rPr>
              <a:t>oxides of nitrogen </a:t>
            </a:r>
            <a:r>
              <a:rPr lang="en-GB" sz="2000" dirty="0"/>
              <a:t>cause </a:t>
            </a:r>
            <a:r>
              <a:rPr lang="en-GB" sz="2000" b="1" dirty="0">
                <a:solidFill>
                  <a:schemeClr val="accent6">
                    <a:lumMod val="75000"/>
                  </a:schemeClr>
                </a:solidFill>
              </a:rPr>
              <a:t>respiratory problems </a:t>
            </a:r>
            <a:r>
              <a:rPr lang="en-GB" sz="2000" dirty="0"/>
              <a:t>in humans and cause </a:t>
            </a:r>
            <a:r>
              <a:rPr lang="en-GB" sz="2000" b="1" dirty="0">
                <a:solidFill>
                  <a:schemeClr val="accent6">
                    <a:lumMod val="75000"/>
                  </a:schemeClr>
                </a:solidFill>
              </a:rPr>
              <a:t>acid rain</a:t>
            </a:r>
            <a:r>
              <a:rPr lang="en-GB" sz="2000" dirty="0"/>
              <a:t>.</a:t>
            </a:r>
          </a:p>
          <a:p>
            <a:pPr marL="171450" indent="-171450">
              <a:buFont typeface="Arial" panose="020B0604020202020204" pitchFamily="34" charset="0"/>
              <a:buChar char="•"/>
            </a:pPr>
            <a:endParaRPr lang="en-GB" sz="2000" dirty="0"/>
          </a:p>
          <a:p>
            <a:pPr marL="285750" indent="-285750">
              <a:buFont typeface="Arial" panose="020B0604020202020204" pitchFamily="34" charset="0"/>
              <a:buChar char="•"/>
            </a:pPr>
            <a:r>
              <a:rPr lang="en-GB" sz="2000" b="1" dirty="0">
                <a:solidFill>
                  <a:schemeClr val="accent6">
                    <a:lumMod val="75000"/>
                  </a:schemeClr>
                </a:solidFill>
              </a:rPr>
              <a:t>Particulates</a:t>
            </a:r>
            <a:r>
              <a:rPr lang="en-GB" sz="2000" dirty="0"/>
              <a:t> cause </a:t>
            </a:r>
            <a:r>
              <a:rPr lang="en-GB" sz="2000" b="1" dirty="0">
                <a:solidFill>
                  <a:schemeClr val="accent6">
                    <a:lumMod val="75000"/>
                  </a:schemeClr>
                </a:solidFill>
              </a:rPr>
              <a:t>global dimming </a:t>
            </a:r>
            <a:r>
              <a:rPr lang="en-GB" sz="2000" dirty="0"/>
              <a:t>and </a:t>
            </a:r>
            <a:r>
              <a:rPr lang="en-GB" sz="2000" b="1" dirty="0">
                <a:solidFill>
                  <a:schemeClr val="accent6">
                    <a:lumMod val="75000"/>
                  </a:schemeClr>
                </a:solidFill>
              </a:rPr>
              <a:t>health problems </a:t>
            </a:r>
            <a:r>
              <a:rPr lang="en-GB" sz="2000" dirty="0"/>
              <a:t>in humans.</a:t>
            </a:r>
          </a:p>
        </p:txBody>
      </p:sp>
    </p:spTree>
    <p:extLst>
      <p:ext uri="{BB962C8B-B14F-4D97-AF65-F5344CB8AC3E}">
        <p14:creationId xmlns:p14="http://schemas.microsoft.com/office/powerpoint/2010/main" val="29733908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07831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solidFill>
                  <a:schemeClr val="tx1">
                    <a:lumMod val="50000"/>
                    <a:lumOff val="50000"/>
                  </a:schemeClr>
                </a:solidFill>
              </a:rPr>
              <a:t>Common atmospheric</a:t>
            </a:r>
          </a:p>
          <a:p>
            <a:r>
              <a:rPr lang="en-US" sz="2800" b="1" dirty="0">
                <a:solidFill>
                  <a:schemeClr val="tx1">
                    <a:lumMod val="50000"/>
                    <a:lumOff val="50000"/>
                  </a:schemeClr>
                </a:solidFill>
              </a:rPr>
              <a:t>pollutants and their </a:t>
            </a:r>
          </a:p>
          <a:p>
            <a:r>
              <a:rPr lang="en-US" sz="2800" b="1" dirty="0">
                <a:solidFill>
                  <a:schemeClr val="tx1">
                    <a:lumMod val="50000"/>
                    <a:lumOff val="50000"/>
                  </a:schemeClr>
                </a:solidFill>
              </a:rPr>
              <a:t>sources</a:t>
            </a:r>
          </a:p>
          <a:p>
            <a:pPr marL="457200" indent="-457200">
              <a:buFont typeface="Arial" charset="0"/>
              <a:buChar char="•"/>
            </a:pPr>
            <a:r>
              <a:rPr lang="en-GB" sz="2400" b="1" dirty="0">
                <a:solidFill>
                  <a:schemeClr val="tx1">
                    <a:lumMod val="50000"/>
                    <a:lumOff val="50000"/>
                  </a:schemeClr>
                </a:solidFill>
              </a:rPr>
              <a:t>Atmospheric pollutants </a:t>
            </a:r>
          </a:p>
          <a:p>
            <a:r>
              <a:rPr lang="en-GB" sz="2400" b="1" dirty="0">
                <a:solidFill>
                  <a:schemeClr val="tx1">
                    <a:lumMod val="50000"/>
                    <a:lumOff val="50000"/>
                  </a:schemeClr>
                </a:solidFill>
              </a:rPr>
              <a:t>       from fuels</a:t>
            </a:r>
          </a:p>
          <a:p>
            <a:pPr marL="457200" indent="-457200">
              <a:buFont typeface="Arial" charset="0"/>
              <a:buChar char="•"/>
            </a:pPr>
            <a:r>
              <a:rPr lang="en-GB" sz="2400" b="1" dirty="0">
                <a:solidFill>
                  <a:schemeClr val="tx1">
                    <a:lumMod val="50000"/>
                    <a:lumOff val="50000"/>
                  </a:schemeClr>
                </a:solidFill>
              </a:rPr>
              <a:t>Properties and effects of atmospheric pollutants</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334654941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Common atmospheric pollutants and their sources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buFont typeface="+mj-lt"/>
              <a:buAutoNum type="arabicPeriod"/>
            </a:pPr>
            <a:r>
              <a:rPr lang="en-GB" sz="2400" dirty="0" smtClean="0"/>
              <a:t>What </a:t>
            </a:r>
            <a:r>
              <a:rPr lang="en-GB" sz="2400" dirty="0"/>
              <a:t>are the two main elements in most fuels</a:t>
            </a:r>
            <a:r>
              <a:rPr lang="en-GB" sz="2400" dirty="0" smtClean="0"/>
              <a:t>?</a:t>
            </a:r>
            <a:r>
              <a:rPr lang="en-GB" sz="2400" b="1" i="1" dirty="0">
                <a:solidFill>
                  <a:srgbClr val="00B050"/>
                </a:solidFill>
              </a:rPr>
              <a:t>	</a:t>
            </a:r>
            <a:endParaRPr lang="en-GB" sz="2400" b="1" i="1" dirty="0" smtClean="0">
              <a:solidFill>
                <a:srgbClr val="00B050"/>
              </a:solidFill>
            </a:endParaRPr>
          </a:p>
          <a:p>
            <a:pPr marL="457200" indent="-457200">
              <a:buFont typeface="+mj-lt"/>
              <a:buAutoNum type="arabicPeriod"/>
            </a:pPr>
            <a:endParaRPr lang="en-GB" sz="2400" b="1" i="1" dirty="0">
              <a:solidFill>
                <a:srgbClr val="00B050"/>
              </a:solidFill>
            </a:endParaRPr>
          </a:p>
          <a:p>
            <a:pPr marL="457200" indent="-457200">
              <a:buFont typeface="+mj-lt"/>
              <a:buAutoNum type="arabicPeriod"/>
            </a:pPr>
            <a:r>
              <a:rPr lang="en-GB" sz="2400" dirty="0" smtClean="0"/>
              <a:t>What </a:t>
            </a:r>
            <a:r>
              <a:rPr lang="en-GB" sz="2400" dirty="0"/>
              <a:t>other potentially polluting element </a:t>
            </a:r>
            <a:r>
              <a:rPr lang="en-GB" sz="2400" dirty="0" smtClean="0"/>
              <a:t>may be present in fossil fuels?</a:t>
            </a:r>
          </a:p>
          <a:p>
            <a:pPr marL="457200" indent="-457200">
              <a:buFont typeface="+mj-lt"/>
              <a:buAutoNum type="arabicPeriod"/>
            </a:pPr>
            <a:endParaRPr lang="en-GB" sz="2400" dirty="0" smtClean="0"/>
          </a:p>
          <a:p>
            <a:pPr marL="457200" indent="-457200">
              <a:buFont typeface="+mj-lt"/>
              <a:buAutoNum type="arabicPeriod"/>
            </a:pPr>
            <a:r>
              <a:rPr lang="en-GB" sz="2400" dirty="0" smtClean="0"/>
              <a:t>What gases may be released into the atmosphere when a fuel is burned?</a:t>
            </a:r>
          </a:p>
          <a:p>
            <a:pPr marL="457200" indent="-457200">
              <a:buFont typeface="+mj-lt"/>
              <a:buAutoNum type="arabicPeriod"/>
            </a:pPr>
            <a:endParaRPr lang="en-GB" sz="2400" dirty="0" smtClean="0"/>
          </a:p>
          <a:p>
            <a:pPr marL="457200" indent="-457200">
              <a:buFont typeface="+mj-lt"/>
              <a:buAutoNum type="arabicPeriod"/>
            </a:pPr>
            <a:r>
              <a:rPr lang="en-GB" sz="2400" dirty="0" smtClean="0"/>
              <a:t>Which two of these gases can lead to </a:t>
            </a:r>
            <a:r>
              <a:rPr lang="en-GB" sz="2400" dirty="0"/>
              <a:t>acid rain</a:t>
            </a:r>
            <a:r>
              <a:rPr lang="en-GB" sz="2400" dirty="0" smtClean="0"/>
              <a:t>?</a:t>
            </a:r>
          </a:p>
          <a:p>
            <a:pPr marL="457200" indent="-457200">
              <a:buFont typeface="+mj-lt"/>
              <a:buAutoNum type="arabicPeriod"/>
            </a:pPr>
            <a:endParaRPr lang="en-GB" sz="2400" dirty="0" smtClean="0"/>
          </a:p>
          <a:p>
            <a:pPr marL="457200" indent="-457200">
              <a:buFont typeface="+mj-lt"/>
              <a:buAutoNum type="arabicPeriod"/>
            </a:pPr>
            <a:r>
              <a:rPr lang="en-GB" sz="2400" dirty="0"/>
              <a:t>What else may be </a:t>
            </a:r>
            <a:r>
              <a:rPr lang="en-GB" sz="2400" dirty="0" smtClean="0"/>
              <a:t>released, during combustion of fuels, to </a:t>
            </a:r>
            <a:r>
              <a:rPr lang="en-GB" sz="2400" dirty="0"/>
              <a:t>form particulates in the </a:t>
            </a:r>
            <a:r>
              <a:rPr lang="en-GB" sz="2400" dirty="0" smtClean="0"/>
              <a:t>atmosphere?</a:t>
            </a:r>
          </a:p>
        </p:txBody>
      </p:sp>
    </p:spTree>
    <p:extLst>
      <p:ext uri="{BB962C8B-B14F-4D97-AF65-F5344CB8AC3E}">
        <p14:creationId xmlns:p14="http://schemas.microsoft.com/office/powerpoint/2010/main" val="93395904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Common atmospheric pollutants and their sources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pPr marL="457200" indent="-457200">
              <a:buFont typeface="+mj-lt"/>
              <a:buAutoNum type="arabicPeriod" startAt="6"/>
            </a:pPr>
            <a:r>
              <a:rPr lang="en-GB" sz="2400" dirty="0" smtClean="0"/>
              <a:t>Write </a:t>
            </a:r>
            <a:r>
              <a:rPr lang="en-GB" sz="2400" dirty="0"/>
              <a:t>the balanced symbol equation for the complete combustion of pentane C</a:t>
            </a:r>
            <a:r>
              <a:rPr lang="en-GB" sz="2400" baseline="-25000" dirty="0"/>
              <a:t>5</a:t>
            </a:r>
            <a:r>
              <a:rPr lang="en-GB" sz="2400" dirty="0"/>
              <a:t>H</a:t>
            </a:r>
            <a:r>
              <a:rPr lang="en-GB" sz="2400" baseline="-25000" dirty="0"/>
              <a:t>12</a:t>
            </a:r>
            <a:r>
              <a:rPr lang="en-GB" sz="2400" dirty="0"/>
              <a:t> . </a:t>
            </a:r>
            <a:endParaRPr lang="en-GB" sz="2400" dirty="0" smtClean="0"/>
          </a:p>
          <a:p>
            <a:pPr marL="457200" indent="-457200">
              <a:buFont typeface="+mj-lt"/>
              <a:buAutoNum type="arabicPeriod" startAt="6"/>
            </a:pPr>
            <a:endParaRPr lang="en-GB" sz="2400" dirty="0"/>
          </a:p>
          <a:p>
            <a:pPr marL="457200" indent="-457200">
              <a:buFont typeface="+mj-lt"/>
              <a:buAutoNum type="arabicPeriod" startAt="6"/>
            </a:pPr>
            <a:r>
              <a:rPr lang="en-GB" sz="2400" dirty="0" smtClean="0"/>
              <a:t>Which </a:t>
            </a:r>
            <a:r>
              <a:rPr lang="en-GB" sz="2400" dirty="0"/>
              <a:t>two substances would be formed if this was an incomplete combustion reaction</a:t>
            </a:r>
            <a:r>
              <a:rPr lang="en-GB" sz="2400" dirty="0"/>
              <a:t>? </a:t>
            </a:r>
            <a:endParaRPr lang="en-GB" sz="2400" dirty="0" smtClean="0"/>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Describe the gas carbon monoxide.</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Why </a:t>
            </a:r>
            <a:r>
              <a:rPr lang="en-GB" sz="2400" dirty="0"/>
              <a:t>is carbon monoxide difficult to detect</a:t>
            </a:r>
            <a:r>
              <a:rPr lang="en-GB" sz="2400" dirty="0" smtClean="0"/>
              <a:t>?</a:t>
            </a:r>
          </a:p>
          <a:p>
            <a:pPr marL="457200" indent="-457200">
              <a:buFont typeface="+mj-lt"/>
              <a:buAutoNum type="arabicPeriod" startAt="6"/>
            </a:pPr>
            <a:endParaRPr lang="en-GB" sz="2400" b="1" i="1" dirty="0">
              <a:solidFill>
                <a:srgbClr val="00B050"/>
              </a:solidFill>
            </a:endParaRPr>
          </a:p>
          <a:p>
            <a:pPr marL="457200" indent="-457200">
              <a:buFont typeface="+mj-lt"/>
              <a:buAutoNum type="arabicPeriod" startAt="6"/>
            </a:pPr>
            <a:r>
              <a:rPr lang="en-GB" sz="2400" dirty="0" smtClean="0"/>
              <a:t>What </a:t>
            </a:r>
            <a:r>
              <a:rPr lang="en-GB" sz="2400" dirty="0"/>
              <a:t>are two effects of </a:t>
            </a:r>
            <a:r>
              <a:rPr lang="en-GB" sz="2400" dirty="0" err="1"/>
              <a:t>sulfur</a:t>
            </a:r>
            <a:r>
              <a:rPr lang="en-GB" sz="2400" dirty="0"/>
              <a:t> </a:t>
            </a:r>
            <a:r>
              <a:rPr lang="en-GB" sz="2400" dirty="0" smtClean="0"/>
              <a:t>dioxide in the atmosphere?</a:t>
            </a:r>
          </a:p>
          <a:p>
            <a:pPr marL="457200" indent="-457200">
              <a:buFont typeface="+mj-lt"/>
              <a:buAutoNum type="arabicPeriod" startAt="6"/>
            </a:pPr>
            <a:endParaRPr lang="en-GB" sz="2400" b="1" i="1" dirty="0">
              <a:solidFill>
                <a:srgbClr val="00B050"/>
              </a:solidFill>
              <a:sym typeface="Wingdings" panose="05000000000000000000" pitchFamily="2" charset="2"/>
            </a:endParaRPr>
          </a:p>
          <a:p>
            <a:pPr marL="457200" indent="-457200">
              <a:buFont typeface="+mj-lt"/>
              <a:buAutoNum type="arabicPeriod" startAt="6"/>
            </a:pPr>
            <a:r>
              <a:rPr lang="en-GB" sz="2400" dirty="0" smtClean="0"/>
              <a:t>What </a:t>
            </a:r>
            <a:r>
              <a:rPr lang="en-GB" sz="2400" dirty="0"/>
              <a:t>are two effects of </a:t>
            </a:r>
            <a:r>
              <a:rPr lang="en-GB" sz="2400" dirty="0" smtClean="0"/>
              <a:t>particulates in the atmosphere?</a:t>
            </a:r>
            <a:endParaRPr lang="en-GB" sz="2400" dirty="0"/>
          </a:p>
        </p:txBody>
      </p:sp>
    </p:spTree>
    <p:extLst>
      <p:ext uri="{BB962C8B-B14F-4D97-AF65-F5344CB8AC3E}">
        <p14:creationId xmlns:p14="http://schemas.microsoft.com/office/powerpoint/2010/main" val="210351673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539978"/>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2800" b="1" dirty="0">
                <a:solidFill>
                  <a:schemeClr val="tx1">
                    <a:lumMod val="50000"/>
                    <a:lumOff val="50000"/>
                  </a:schemeClr>
                </a:solidFill>
              </a:rPr>
              <a:t>Common atmospheric</a:t>
            </a:r>
          </a:p>
          <a:p>
            <a:r>
              <a:rPr lang="en-US" sz="2800" b="1" dirty="0">
                <a:solidFill>
                  <a:schemeClr val="tx1">
                    <a:lumMod val="50000"/>
                    <a:lumOff val="50000"/>
                  </a:schemeClr>
                </a:solidFill>
              </a:rPr>
              <a:t>pollutants and their </a:t>
            </a:r>
          </a:p>
          <a:p>
            <a:r>
              <a:rPr lang="en-US" sz="2800" b="1" dirty="0">
                <a:solidFill>
                  <a:schemeClr val="tx1">
                    <a:lumMod val="50000"/>
                    <a:lumOff val="50000"/>
                  </a:schemeClr>
                </a:solidFill>
              </a:rPr>
              <a:t>sources</a:t>
            </a:r>
          </a:p>
          <a:p>
            <a:pPr marL="457200" indent="-457200">
              <a:lnSpc>
                <a:spcPct val="150000"/>
              </a:lnSpc>
              <a:buFont typeface="Arial" charset="0"/>
              <a:buChar char="•"/>
            </a:pPr>
            <a:r>
              <a:rPr lang="en-GB" sz="2400" b="1" dirty="0">
                <a:solidFill>
                  <a:schemeClr val="tx1">
                    <a:lumMod val="50000"/>
                    <a:lumOff val="50000"/>
                  </a:schemeClr>
                </a:solidFill>
              </a:rPr>
              <a:t>Atmospheric pollutants </a:t>
            </a:r>
          </a:p>
          <a:p>
            <a:pPr>
              <a:lnSpc>
                <a:spcPct val="150000"/>
              </a:lnSpc>
            </a:pPr>
            <a:r>
              <a:rPr lang="en-GB" sz="2400" b="1" dirty="0">
                <a:solidFill>
                  <a:schemeClr val="tx1">
                    <a:lumMod val="50000"/>
                    <a:lumOff val="50000"/>
                  </a:schemeClr>
                </a:solidFill>
              </a:rPr>
              <a:t>         from fuels</a:t>
            </a:r>
          </a:p>
          <a:p>
            <a:pPr marL="457200" indent="-457200">
              <a:lnSpc>
                <a:spcPct val="150000"/>
              </a:lnSpc>
              <a:buFont typeface="Arial" charset="0"/>
              <a:buChar char="•"/>
            </a:pPr>
            <a:r>
              <a:rPr lang="en-GB" sz="2400" b="1" dirty="0">
                <a:solidFill>
                  <a:schemeClr val="tx1">
                    <a:lumMod val="50000"/>
                    <a:lumOff val="50000"/>
                  </a:schemeClr>
                </a:solidFill>
              </a:rPr>
              <a:t>Properties and effects of atmospheric pollutants</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68320061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Common atmospheric pollutants and their sources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Font typeface="+mj-lt"/>
              <a:buAutoNum type="arabicPeriod"/>
            </a:pPr>
            <a:r>
              <a:rPr lang="en-GB" sz="2400" dirty="0" smtClean="0"/>
              <a:t>What </a:t>
            </a:r>
            <a:r>
              <a:rPr lang="en-GB" sz="2400" dirty="0"/>
              <a:t>are the two main elements in most fuels</a:t>
            </a:r>
            <a:r>
              <a:rPr lang="en-GB" sz="2400" dirty="0" smtClean="0"/>
              <a:t>?</a:t>
            </a:r>
            <a:r>
              <a:rPr lang="en-GB" sz="2400" b="1" i="1" dirty="0">
                <a:solidFill>
                  <a:srgbClr val="00B050"/>
                </a:solidFill>
              </a:rPr>
              <a:t>	</a:t>
            </a:r>
            <a:endParaRPr lang="en-GB" sz="2400" b="1" i="1" dirty="0" smtClean="0">
              <a:solidFill>
                <a:srgbClr val="00B050"/>
              </a:solidFill>
            </a:endParaRPr>
          </a:p>
          <a:p>
            <a:pPr lvl="1"/>
            <a:r>
              <a:rPr lang="en-GB" sz="2400" dirty="0" smtClean="0">
                <a:solidFill>
                  <a:srgbClr val="00B050"/>
                </a:solidFill>
              </a:rPr>
              <a:t>Hydrogen and carbon.</a:t>
            </a:r>
            <a:endParaRPr lang="en-GB" sz="2400" dirty="0">
              <a:solidFill>
                <a:srgbClr val="00B050"/>
              </a:solidFill>
            </a:endParaRPr>
          </a:p>
          <a:p>
            <a:pPr marL="457200" indent="-457200">
              <a:buFont typeface="+mj-lt"/>
              <a:buAutoNum type="arabicPeriod"/>
            </a:pPr>
            <a:r>
              <a:rPr lang="en-GB" sz="2400" dirty="0" smtClean="0"/>
              <a:t>What other potentially polluting element may be present in fossil fuels?</a:t>
            </a:r>
          </a:p>
          <a:p>
            <a:pPr lvl="1"/>
            <a:r>
              <a:rPr lang="en-GB" sz="2400" dirty="0" err="1" smtClean="0">
                <a:solidFill>
                  <a:srgbClr val="00B050"/>
                </a:solidFill>
              </a:rPr>
              <a:t>Sulfur</a:t>
            </a:r>
            <a:r>
              <a:rPr lang="en-GB" sz="2400" dirty="0" smtClean="0">
                <a:solidFill>
                  <a:srgbClr val="00B050"/>
                </a:solidFill>
              </a:rPr>
              <a:t>.</a:t>
            </a:r>
          </a:p>
          <a:p>
            <a:pPr marL="457200" indent="-457200">
              <a:buFont typeface="+mj-lt"/>
              <a:buAutoNum type="arabicPeriod"/>
            </a:pPr>
            <a:r>
              <a:rPr lang="en-GB" sz="2400" dirty="0" smtClean="0"/>
              <a:t>What gases may be released into the atmosphere when a fuel is burned?</a:t>
            </a:r>
          </a:p>
          <a:p>
            <a:pPr lvl="1"/>
            <a:r>
              <a:rPr lang="en-GB" sz="2400" dirty="0" smtClean="0">
                <a:solidFill>
                  <a:srgbClr val="00B050"/>
                </a:solidFill>
              </a:rPr>
              <a:t>Carbon dioxide, water vapour, carbon monoxide, </a:t>
            </a:r>
            <a:r>
              <a:rPr lang="en-GB" sz="2400" dirty="0" err="1" smtClean="0">
                <a:solidFill>
                  <a:srgbClr val="00B050"/>
                </a:solidFill>
              </a:rPr>
              <a:t>sulfur</a:t>
            </a:r>
            <a:r>
              <a:rPr lang="en-GB" sz="2400" dirty="0" smtClean="0">
                <a:solidFill>
                  <a:srgbClr val="00B050"/>
                </a:solidFill>
              </a:rPr>
              <a:t> dioxide and oxides of nitrogen.</a:t>
            </a:r>
          </a:p>
          <a:p>
            <a:pPr marL="457200" indent="-457200">
              <a:buFont typeface="+mj-lt"/>
              <a:buAutoNum type="arabicPeriod"/>
            </a:pPr>
            <a:r>
              <a:rPr lang="en-GB" sz="2400" dirty="0" smtClean="0"/>
              <a:t>Which two of these gases can lead to </a:t>
            </a:r>
            <a:r>
              <a:rPr lang="en-GB" sz="2400" dirty="0"/>
              <a:t>acid rain</a:t>
            </a:r>
            <a:r>
              <a:rPr lang="en-GB" sz="2400" dirty="0" smtClean="0"/>
              <a:t>?</a:t>
            </a:r>
          </a:p>
          <a:p>
            <a:pPr lvl="1"/>
            <a:r>
              <a:rPr lang="en-GB" sz="2400" dirty="0" err="1" smtClean="0">
                <a:solidFill>
                  <a:srgbClr val="00B050"/>
                </a:solidFill>
              </a:rPr>
              <a:t>Sulfur</a:t>
            </a:r>
            <a:r>
              <a:rPr lang="en-GB" sz="2400" dirty="0" smtClean="0">
                <a:solidFill>
                  <a:srgbClr val="00B050"/>
                </a:solidFill>
              </a:rPr>
              <a:t> dioxide, oxides of nitrogen.</a:t>
            </a:r>
          </a:p>
          <a:p>
            <a:pPr marL="457200" indent="-457200">
              <a:buFont typeface="+mj-lt"/>
              <a:buAutoNum type="arabicPeriod"/>
            </a:pPr>
            <a:r>
              <a:rPr lang="en-GB" sz="2400" dirty="0"/>
              <a:t>What else may be </a:t>
            </a:r>
            <a:r>
              <a:rPr lang="en-GB" sz="2400" dirty="0" smtClean="0"/>
              <a:t>released, during combustion of fuels, to </a:t>
            </a:r>
            <a:r>
              <a:rPr lang="en-GB" sz="2400" dirty="0"/>
              <a:t>form particulates in the </a:t>
            </a:r>
            <a:r>
              <a:rPr lang="en-GB" sz="2400" dirty="0" smtClean="0"/>
              <a:t>atmosphere?</a:t>
            </a:r>
          </a:p>
          <a:p>
            <a:pPr lvl="1"/>
            <a:r>
              <a:rPr lang="en-GB" sz="2400" dirty="0" smtClean="0">
                <a:solidFill>
                  <a:srgbClr val="00B050"/>
                </a:solidFill>
              </a:rPr>
              <a:t>Solid particulates, unburned hydrocarbons.</a:t>
            </a:r>
          </a:p>
        </p:txBody>
      </p:sp>
    </p:spTree>
    <p:extLst>
      <p:ext uri="{BB962C8B-B14F-4D97-AF65-F5344CB8AC3E}">
        <p14:creationId xmlns:p14="http://schemas.microsoft.com/office/powerpoint/2010/main" val="311428014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Common atmospheric pollutants and their sources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Font typeface="+mj-lt"/>
              <a:buAutoNum type="arabicPeriod" startAt="6"/>
            </a:pPr>
            <a:r>
              <a:rPr lang="en-GB" sz="2400" dirty="0" smtClean="0"/>
              <a:t>Write </a:t>
            </a:r>
            <a:r>
              <a:rPr lang="en-GB" sz="2400" dirty="0"/>
              <a:t>the balanced symbol equation for the complete combustion of pentane C</a:t>
            </a:r>
            <a:r>
              <a:rPr lang="en-GB" sz="2400" baseline="-25000" dirty="0"/>
              <a:t>5</a:t>
            </a:r>
            <a:r>
              <a:rPr lang="en-GB" sz="2400" dirty="0"/>
              <a:t>H</a:t>
            </a:r>
            <a:r>
              <a:rPr lang="en-GB" sz="2400" baseline="-25000" dirty="0"/>
              <a:t>12</a:t>
            </a:r>
            <a:r>
              <a:rPr lang="en-GB" sz="2400" dirty="0"/>
              <a:t> . </a:t>
            </a:r>
            <a:endParaRPr lang="en-GB" sz="2400" dirty="0" smtClean="0"/>
          </a:p>
          <a:p>
            <a:pPr lvl="1" algn="ctr"/>
            <a:r>
              <a:rPr lang="en-GB" sz="2400" dirty="0" smtClean="0">
                <a:solidFill>
                  <a:srgbClr val="00B050"/>
                </a:solidFill>
              </a:rPr>
              <a:t>C</a:t>
            </a:r>
            <a:r>
              <a:rPr lang="en-GB" sz="2400" baseline="-25000" dirty="0" smtClean="0">
                <a:solidFill>
                  <a:srgbClr val="00B050"/>
                </a:solidFill>
              </a:rPr>
              <a:t>5</a:t>
            </a:r>
            <a:r>
              <a:rPr lang="en-GB" sz="2400" dirty="0" smtClean="0">
                <a:solidFill>
                  <a:srgbClr val="00B050"/>
                </a:solidFill>
              </a:rPr>
              <a:t>H</a:t>
            </a:r>
            <a:r>
              <a:rPr lang="en-GB" sz="2400" baseline="-25000" dirty="0" smtClean="0">
                <a:solidFill>
                  <a:srgbClr val="00B050"/>
                </a:solidFill>
              </a:rPr>
              <a:t>12</a:t>
            </a:r>
            <a:r>
              <a:rPr lang="en-GB" sz="2400" dirty="0" smtClean="0">
                <a:solidFill>
                  <a:srgbClr val="00B050"/>
                </a:solidFill>
              </a:rPr>
              <a:t> + 8O</a:t>
            </a:r>
            <a:r>
              <a:rPr lang="en-GB" sz="2400" baseline="-25000" dirty="0" smtClean="0">
                <a:solidFill>
                  <a:srgbClr val="00B050"/>
                </a:solidFill>
              </a:rPr>
              <a:t>2</a:t>
            </a:r>
            <a:r>
              <a:rPr lang="en-GB" sz="2400" dirty="0" smtClean="0">
                <a:solidFill>
                  <a:srgbClr val="00B050"/>
                </a:solidFill>
              </a:rPr>
              <a:t>                  5CO</a:t>
            </a:r>
            <a:r>
              <a:rPr lang="en-GB" sz="2400" baseline="-25000" dirty="0" smtClean="0">
                <a:solidFill>
                  <a:srgbClr val="00B050"/>
                </a:solidFill>
              </a:rPr>
              <a:t>2 </a:t>
            </a:r>
            <a:r>
              <a:rPr lang="en-GB" sz="2400" dirty="0" smtClean="0">
                <a:solidFill>
                  <a:srgbClr val="00B050"/>
                </a:solidFill>
              </a:rPr>
              <a:t>+ 6H</a:t>
            </a:r>
            <a:r>
              <a:rPr lang="en-GB" sz="2400" baseline="-25000" dirty="0" smtClean="0">
                <a:solidFill>
                  <a:srgbClr val="00B050"/>
                </a:solidFill>
              </a:rPr>
              <a:t>2</a:t>
            </a:r>
            <a:r>
              <a:rPr lang="en-GB" sz="2400" dirty="0" smtClean="0">
                <a:solidFill>
                  <a:srgbClr val="00B050"/>
                </a:solidFill>
              </a:rPr>
              <a:t>O</a:t>
            </a:r>
            <a:endParaRPr lang="en-GB" sz="2400" baseline="-25000" dirty="0">
              <a:solidFill>
                <a:srgbClr val="00B050"/>
              </a:solidFill>
            </a:endParaRPr>
          </a:p>
          <a:p>
            <a:pPr marL="457200" indent="-457200">
              <a:buFont typeface="+mj-lt"/>
              <a:buAutoNum type="arabicPeriod" startAt="6"/>
            </a:pPr>
            <a:r>
              <a:rPr lang="en-GB" sz="2400" dirty="0" smtClean="0"/>
              <a:t>Which </a:t>
            </a:r>
            <a:r>
              <a:rPr lang="en-GB" sz="2400" dirty="0"/>
              <a:t>two substances would be formed if this was an incomplete combustion reaction</a:t>
            </a:r>
            <a:r>
              <a:rPr lang="en-GB" sz="2400" dirty="0"/>
              <a:t>? </a:t>
            </a:r>
            <a:endParaRPr lang="en-GB" sz="2400" dirty="0" smtClean="0"/>
          </a:p>
          <a:p>
            <a:pPr lvl="1"/>
            <a:r>
              <a:rPr lang="en-GB" sz="2400" dirty="0" smtClean="0">
                <a:solidFill>
                  <a:srgbClr val="00B050"/>
                </a:solidFill>
              </a:rPr>
              <a:t>Water and carbon monoxide and/ or soot</a:t>
            </a:r>
          </a:p>
          <a:p>
            <a:pPr marL="457200" indent="-457200">
              <a:buFont typeface="+mj-lt"/>
              <a:buAutoNum type="arabicPeriod" startAt="6"/>
            </a:pPr>
            <a:r>
              <a:rPr lang="en-GB" sz="2400" dirty="0" smtClean="0"/>
              <a:t>Describe the gas carbon monoxide.</a:t>
            </a:r>
          </a:p>
          <a:p>
            <a:pPr lvl="1"/>
            <a:r>
              <a:rPr lang="en-GB" sz="2400" dirty="0" smtClean="0">
                <a:solidFill>
                  <a:srgbClr val="00B050"/>
                </a:solidFill>
              </a:rPr>
              <a:t>Toxic gas; colourless and odourless.</a:t>
            </a:r>
          </a:p>
          <a:p>
            <a:pPr marL="457200" indent="-457200">
              <a:buFont typeface="+mj-lt"/>
              <a:buAutoNum type="arabicPeriod" startAt="6"/>
            </a:pPr>
            <a:r>
              <a:rPr lang="en-GB" sz="2400" dirty="0" smtClean="0"/>
              <a:t>Why </a:t>
            </a:r>
            <a:r>
              <a:rPr lang="en-GB" sz="2400" dirty="0"/>
              <a:t>is carbon monoxide difficult to detect</a:t>
            </a:r>
            <a:r>
              <a:rPr lang="en-GB" sz="2400" dirty="0" smtClean="0"/>
              <a:t>?</a:t>
            </a:r>
          </a:p>
          <a:p>
            <a:pPr lvl="1"/>
            <a:r>
              <a:rPr lang="en-GB" sz="2400" dirty="0" smtClean="0">
                <a:solidFill>
                  <a:srgbClr val="00B050"/>
                </a:solidFill>
              </a:rPr>
              <a:t>Colourless and odourless.</a:t>
            </a:r>
            <a:endParaRPr lang="en-GB" sz="2400" dirty="0">
              <a:solidFill>
                <a:srgbClr val="00B050"/>
              </a:solidFill>
            </a:endParaRPr>
          </a:p>
          <a:p>
            <a:pPr marL="457200" indent="-457200">
              <a:buFont typeface="+mj-lt"/>
              <a:buAutoNum type="arabicPeriod" startAt="6"/>
            </a:pPr>
            <a:r>
              <a:rPr lang="en-GB" sz="2400" dirty="0" smtClean="0"/>
              <a:t>What </a:t>
            </a:r>
            <a:r>
              <a:rPr lang="en-GB" sz="2400" dirty="0"/>
              <a:t>are two effects of </a:t>
            </a:r>
            <a:r>
              <a:rPr lang="en-GB" sz="2400" dirty="0" err="1"/>
              <a:t>sulfur</a:t>
            </a:r>
            <a:r>
              <a:rPr lang="en-GB" sz="2400" dirty="0"/>
              <a:t> </a:t>
            </a:r>
            <a:r>
              <a:rPr lang="en-GB" sz="2400" dirty="0" smtClean="0"/>
              <a:t>dioxide in the atmosphere?</a:t>
            </a:r>
          </a:p>
          <a:p>
            <a:pPr lvl="1"/>
            <a:r>
              <a:rPr lang="en-GB" sz="2400" dirty="0" smtClean="0">
                <a:solidFill>
                  <a:srgbClr val="00B050"/>
                </a:solidFill>
                <a:sym typeface="Wingdings" panose="05000000000000000000" pitchFamily="2" charset="2"/>
              </a:rPr>
              <a:t>Respiratory problems in humans; acid rain.</a:t>
            </a:r>
            <a:endParaRPr lang="en-GB" sz="2400" dirty="0">
              <a:solidFill>
                <a:srgbClr val="00B050"/>
              </a:solidFill>
              <a:sym typeface="Wingdings" panose="05000000000000000000" pitchFamily="2" charset="2"/>
            </a:endParaRPr>
          </a:p>
          <a:p>
            <a:pPr marL="457200" indent="-457200">
              <a:buFont typeface="+mj-lt"/>
              <a:buAutoNum type="arabicPeriod" startAt="6"/>
            </a:pPr>
            <a:r>
              <a:rPr lang="en-GB" sz="2400" dirty="0" smtClean="0"/>
              <a:t>What </a:t>
            </a:r>
            <a:r>
              <a:rPr lang="en-GB" sz="2400" dirty="0"/>
              <a:t>are two effects of </a:t>
            </a:r>
            <a:r>
              <a:rPr lang="en-GB" sz="2400" dirty="0" smtClean="0"/>
              <a:t>particulates in the atmosphere?</a:t>
            </a:r>
          </a:p>
          <a:p>
            <a:pPr lvl="1"/>
            <a:r>
              <a:rPr lang="en-GB" sz="2400" dirty="0" smtClean="0">
                <a:solidFill>
                  <a:srgbClr val="00B050"/>
                </a:solidFill>
              </a:rPr>
              <a:t>Global dimming; health problems for humans.</a:t>
            </a:r>
            <a:endParaRPr lang="en-GB" sz="2400" dirty="0">
              <a:solidFill>
                <a:srgbClr val="00B050"/>
              </a:solidFill>
            </a:endParaRPr>
          </a:p>
        </p:txBody>
      </p:sp>
      <p:cxnSp>
        <p:nvCxnSpPr>
          <p:cNvPr id="5" name="Straight Arrow Connector 4"/>
          <p:cNvCxnSpPr/>
          <p:nvPr/>
        </p:nvCxnSpPr>
        <p:spPr>
          <a:xfrm>
            <a:off x="4211960" y="1700808"/>
            <a:ext cx="1152128" cy="0"/>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260100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18545</TotalTime>
  <Words>4830</Words>
  <Application>Microsoft Office PowerPoint</Application>
  <PresentationFormat>On-screen Show (4:3)</PresentationFormat>
  <Paragraphs>442</Paragraphs>
  <Slides>42</Slides>
  <Notes>21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42</vt:i4>
      </vt:variant>
    </vt:vector>
  </HeadingPairs>
  <TitlesOfParts>
    <vt:vector size="54" baseType="lpstr">
      <vt:lpstr>Arial</vt:lpstr>
      <vt:lpstr>Beirut</vt:lpstr>
      <vt:lpstr>Calibri</vt:lpstr>
      <vt:lpstr>Calibri Light</vt:lpstr>
      <vt:lpstr>Gill Sans</vt:lpstr>
      <vt:lpstr>Lato Medium</vt:lpstr>
      <vt:lpstr>News Gothic MT</vt:lpstr>
      <vt:lpstr>Times New Roman</vt:lpstr>
      <vt:lpstr>Wingdings</vt:lpstr>
      <vt:lpstr>1_Office Theme</vt:lpstr>
      <vt:lpstr>Custom Design</vt:lpstr>
      <vt:lpstr>PIXL Sci</vt:lpstr>
      <vt:lpstr>PowerPoint Presentation</vt:lpstr>
      <vt:lpstr>Overview   Chemistry of The Atmosphere</vt:lpstr>
      <vt:lpstr>PowerPoint Presentation</vt:lpstr>
      <vt:lpstr>The proportions of different gases in the atmosphere </vt:lpstr>
      <vt:lpstr>The Earth’s early atmosphere </vt:lpstr>
      <vt:lpstr>PowerPoint Presentation</vt:lpstr>
      <vt:lpstr>The composition and evolution of the Earth’s  atmosphere Part 1– QuestionIT</vt:lpstr>
      <vt:lpstr>The composition and evolution of the Earth’s  atmosphere Part 1– QuestionIT</vt:lpstr>
      <vt:lpstr>PowerPoint Presentation</vt:lpstr>
      <vt:lpstr>The composition and evolution of the Earth’s  atmosphere Part 1– QuestionIT</vt:lpstr>
      <vt:lpstr>The composition and evolution of the Earth’s  atmosphere Part 1– QuestionIT</vt:lpstr>
      <vt:lpstr>PowerPoint Presentation</vt:lpstr>
      <vt:lpstr>How oxygen increased and carbon dioxide decreased</vt:lpstr>
      <vt:lpstr>PowerPoint Presentation</vt:lpstr>
      <vt:lpstr>How oxygen increased and carbon dioxide decreased - QuestionIT</vt:lpstr>
      <vt:lpstr>PowerPoint Presentation</vt:lpstr>
      <vt:lpstr>How oxygen increased and carbon dioxide decreased - QuestionIT</vt:lpstr>
      <vt:lpstr>How oxygen increased and carbon dioxide decreased - QuestionIT</vt:lpstr>
      <vt:lpstr>PowerPoint Presentation</vt:lpstr>
      <vt:lpstr>Carbon dioxide and methane as greenhouse gases</vt:lpstr>
      <vt:lpstr>Carbon dioxide and methane as greenhouse gases</vt:lpstr>
      <vt:lpstr>PowerPoint Presentation</vt:lpstr>
      <vt:lpstr>Carbon dioxide and methane as greenhouse gases – QuestionIT</vt:lpstr>
      <vt:lpstr>Carbon dioxide and methane as greenhouse gases – QuestionIT</vt:lpstr>
      <vt:lpstr>PowerPoint Presentation</vt:lpstr>
      <vt:lpstr>Carbon dioxide and methane as greenhouse gases – QuestionIT</vt:lpstr>
      <vt:lpstr>Carbon dioxide and methane as greenhouse gases – QuestionIT</vt:lpstr>
      <vt:lpstr>PowerPoint Presentation</vt:lpstr>
      <vt:lpstr>Global climate change the carbon footprint and its reduction</vt:lpstr>
      <vt:lpstr>PowerPoint Presentation</vt:lpstr>
      <vt:lpstr>Global climate change the carbon footprint and its reduction - AnswerIT</vt:lpstr>
      <vt:lpstr>PowerPoint Presentation</vt:lpstr>
      <vt:lpstr>Global climate change the carbon footprint and its reduction - AnswerIT</vt:lpstr>
      <vt:lpstr>PowerPoint Presentation</vt:lpstr>
      <vt:lpstr>Common atmospheric pollutants and their sources</vt:lpstr>
      <vt:lpstr>Common atmospheric pollutants and their sources</vt:lpstr>
      <vt:lpstr>PowerPoint Presentation</vt:lpstr>
      <vt:lpstr>Common atmospheric pollutants and their sources - QuestionIT</vt:lpstr>
      <vt:lpstr>Common atmospheric pollutants and their sources - QuestionIT</vt:lpstr>
      <vt:lpstr>PowerPoint Presentation</vt:lpstr>
      <vt:lpstr>Common atmospheric pollutants and their sources - QuestionIT</vt:lpstr>
      <vt:lpstr>Common atmospheric pollutants and their sources - QuestionIT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Karen Collins</cp:lastModifiedBy>
  <cp:revision>547</cp:revision>
  <cp:lastPrinted>2017-05-23T14:15:43Z</cp:lastPrinted>
  <dcterms:created xsi:type="dcterms:W3CDTF">2016-03-05T09:38:04Z</dcterms:created>
  <dcterms:modified xsi:type="dcterms:W3CDTF">2017-11-21T10:22:13Z</dcterms:modified>
</cp:coreProperties>
</file>