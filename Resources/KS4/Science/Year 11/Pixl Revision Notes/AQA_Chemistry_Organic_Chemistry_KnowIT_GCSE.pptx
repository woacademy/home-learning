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tiff" ContentType="image/tiff"/>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revisionInfo.xml" ContentType="application/vnd.ms-powerpoint.revisioninfo+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 id="2147483663" r:id="rId2"/>
    <p:sldMasterId id="2147483675" r:id="rId3"/>
  </p:sldMasterIdLst>
  <p:notesMasterIdLst>
    <p:notesMasterId r:id="rId69"/>
  </p:notesMasterIdLst>
  <p:sldIdLst>
    <p:sldId id="256" r:id="rId4"/>
    <p:sldId id="281" r:id="rId5"/>
    <p:sldId id="314" r:id="rId6"/>
    <p:sldId id="282" r:id="rId7"/>
    <p:sldId id="433" r:id="rId8"/>
    <p:sldId id="362" r:id="rId9"/>
    <p:sldId id="434" r:id="rId10"/>
    <p:sldId id="367" r:id="rId11"/>
    <p:sldId id="396" r:id="rId12"/>
    <p:sldId id="435" r:id="rId13"/>
    <p:sldId id="370" r:id="rId14"/>
    <p:sldId id="373" r:id="rId15"/>
    <p:sldId id="398" r:id="rId16"/>
    <p:sldId id="400" r:id="rId17"/>
    <p:sldId id="432" r:id="rId18"/>
    <p:sldId id="377" r:id="rId19"/>
    <p:sldId id="436" r:id="rId20"/>
    <p:sldId id="437" r:id="rId21"/>
    <p:sldId id="374" r:id="rId22"/>
    <p:sldId id="438" r:id="rId23"/>
    <p:sldId id="439" r:id="rId24"/>
    <p:sldId id="380" r:id="rId25"/>
    <p:sldId id="312" r:id="rId26"/>
    <p:sldId id="440" r:id="rId27"/>
    <p:sldId id="381" r:id="rId28"/>
    <p:sldId id="442" r:id="rId29"/>
    <p:sldId id="383" r:id="rId30"/>
    <p:sldId id="441" r:id="rId31"/>
    <p:sldId id="389" r:id="rId32"/>
    <p:sldId id="286" r:id="rId33"/>
    <p:sldId id="443" r:id="rId34"/>
    <p:sldId id="406" r:id="rId35"/>
    <p:sldId id="318" r:id="rId36"/>
    <p:sldId id="444" r:id="rId37"/>
    <p:sldId id="445" r:id="rId38"/>
    <p:sldId id="335" r:id="rId39"/>
    <p:sldId id="446" r:id="rId40"/>
    <p:sldId id="447" r:id="rId41"/>
    <p:sldId id="353" r:id="rId42"/>
    <p:sldId id="354" r:id="rId43"/>
    <p:sldId id="448" r:id="rId44"/>
    <p:sldId id="413" r:id="rId45"/>
    <p:sldId id="449" r:id="rId46"/>
    <p:sldId id="358" r:id="rId47"/>
    <p:sldId id="451" r:id="rId48"/>
    <p:sldId id="452" r:id="rId49"/>
    <p:sldId id="356" r:id="rId50"/>
    <p:sldId id="414" r:id="rId51"/>
    <p:sldId id="450" r:id="rId52"/>
    <p:sldId id="416" r:id="rId53"/>
    <p:sldId id="417" r:id="rId54"/>
    <p:sldId id="419" r:id="rId55"/>
    <p:sldId id="453" r:id="rId56"/>
    <p:sldId id="421" r:id="rId57"/>
    <p:sldId id="454" r:id="rId58"/>
    <p:sldId id="455" r:id="rId59"/>
    <p:sldId id="423" r:id="rId60"/>
    <p:sldId id="456" r:id="rId61"/>
    <p:sldId id="457" r:id="rId62"/>
    <p:sldId id="425" r:id="rId63"/>
    <p:sldId id="420" r:id="rId64"/>
    <p:sldId id="427" r:id="rId65"/>
    <p:sldId id="431" r:id="rId66"/>
    <p:sldId id="429" r:id="rId67"/>
    <p:sldId id="458" r:id="rId68"/>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Karen Collins" initials="KC" lastIdx="43" clrIdx="0">
    <p:extLst>
      <p:ext uri="{19B8F6BF-5375-455C-9EA6-DF929625EA0E}">
        <p15:presenceInfo xmlns:p15="http://schemas.microsoft.com/office/powerpoint/2012/main" userId="6370e7ac12b07be2" providerId="Windows Live"/>
      </p:ext>
    </p:extLst>
  </p:cmAuthor>
  <p:cmAuthor id="2" name="Vicki Pugh" initials="VP" lastIdx="7" clrIdx="1">
    <p:extLst>
      <p:ext uri="{19B8F6BF-5375-455C-9EA6-DF929625EA0E}">
        <p15:presenceInfo xmlns:p15="http://schemas.microsoft.com/office/powerpoint/2012/main" userId="fb86ba5f6b825535"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638B1855-1B75-4FBE-930C-398BA8C253C6}" styleName="Themed Style 2 - Accent 6">
    <a:tblBg>
      <a:fillRef idx="3">
        <a:schemeClr val="accent6"/>
      </a:fillRef>
      <a:effectRef idx="3">
        <a:schemeClr val="accent6"/>
      </a:effectRef>
    </a:tblBg>
    <a:wholeTbl>
      <a:tcTxStyle>
        <a:fontRef idx="minor">
          <a:scrgbClr r="0" g="0" b="0"/>
        </a:fontRef>
        <a:schemeClr val="lt1"/>
      </a:tcTxStyle>
      <a:tcStyle>
        <a:tcBdr>
          <a:left>
            <a:lnRef idx="1">
              <a:schemeClr val="accent6">
                <a:tint val="50000"/>
              </a:schemeClr>
            </a:lnRef>
          </a:left>
          <a:right>
            <a:lnRef idx="1">
              <a:schemeClr val="accent6">
                <a:tint val="50000"/>
              </a:schemeClr>
            </a:lnRef>
          </a:right>
          <a:top>
            <a:lnRef idx="1">
              <a:schemeClr val="accent6">
                <a:tint val="50000"/>
              </a:schemeClr>
            </a:lnRef>
          </a:top>
          <a:bottom>
            <a:lnRef idx="1">
              <a:schemeClr val="accent6">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912C8C85-51F0-491E-9774-3900AFEF0FD7}" styleName="Light Style 2 - Accent 6">
    <a:wholeTbl>
      <a:tcTxStyle>
        <a:fontRef idx="minor">
          <a:scrgbClr r="0" g="0" b="0"/>
        </a:fontRef>
        <a:schemeClr val="tx1"/>
      </a:tcTxStyle>
      <a:tcStyle>
        <a:tcBdr>
          <a:left>
            <a:lnRef idx="1">
              <a:schemeClr val="accent6"/>
            </a:lnRef>
          </a:left>
          <a:right>
            <a:lnRef idx="1">
              <a:schemeClr val="accent6"/>
            </a:lnRef>
          </a:right>
          <a:top>
            <a:lnRef idx="1">
              <a:schemeClr val="accent6"/>
            </a:lnRef>
          </a:top>
          <a:bottom>
            <a:lnRef idx="1">
              <a:schemeClr val="accent6"/>
            </a:lnRef>
          </a:bottom>
          <a:insideH>
            <a:ln>
              <a:noFill/>
            </a:ln>
          </a:insideH>
          <a:insideV>
            <a:ln>
              <a:noFill/>
            </a:ln>
          </a:insideV>
        </a:tcBdr>
        <a:fill>
          <a:noFill/>
        </a:fill>
      </a:tcStyle>
    </a:wholeTbl>
    <a:band1H>
      <a:tcStyle>
        <a:tcBdr>
          <a:top>
            <a:lnRef idx="1">
              <a:schemeClr val="accent6"/>
            </a:lnRef>
          </a:top>
          <a:bottom>
            <a:lnRef idx="1">
              <a:schemeClr val="accent6"/>
            </a:lnRef>
          </a:bottom>
        </a:tcBdr>
      </a:tcStyle>
    </a:band1H>
    <a:band1V>
      <a:tcStyle>
        <a:tcBdr>
          <a:left>
            <a:lnRef idx="1">
              <a:schemeClr val="accent6"/>
            </a:lnRef>
          </a:left>
          <a:right>
            <a:lnRef idx="1">
              <a:schemeClr val="accent6"/>
            </a:lnRef>
          </a:right>
        </a:tcBdr>
      </a:tcStyle>
    </a:band1V>
    <a:band2V>
      <a:tcStyle>
        <a:tcBdr>
          <a:left>
            <a:lnRef idx="1">
              <a:schemeClr val="accent6"/>
            </a:lnRef>
          </a:left>
          <a:right>
            <a:lnRef idx="1">
              <a:schemeClr val="accent6"/>
            </a:lnRef>
          </a:right>
        </a:tcBdr>
      </a:tcStyle>
    </a:band2V>
    <a:lastCol>
      <a:tcTxStyle b="on"/>
      <a:tcStyle>
        <a:tcBdr/>
      </a:tcStyle>
    </a:lastCol>
    <a:firstCol>
      <a:tcTxStyle b="on"/>
      <a:tcStyle>
        <a:tcBdr/>
      </a:tcStyle>
    </a:firstCol>
    <a:lastRow>
      <a:tcTxStyle b="on"/>
      <a:tcStyle>
        <a:tcBdr>
          <a:top>
            <a:ln w="50800" cmpd="dbl">
              <a:solidFill>
                <a:schemeClr val="accent6"/>
              </a:solidFill>
            </a:ln>
          </a:top>
        </a:tcBdr>
      </a:tcStyle>
    </a:lastRow>
    <a:firstRow>
      <a:tcTxStyle b="on">
        <a:fontRef idx="minor">
          <a:scrgbClr r="0" g="0" b="0"/>
        </a:fontRef>
        <a:schemeClr val="bg1"/>
      </a:tcTxStyle>
      <a:tcStyle>
        <a:tcBdr/>
        <a:fillRef idx="1">
          <a:schemeClr val="accent6"/>
        </a:fillRef>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8027" autoAdjust="0"/>
    <p:restoredTop sz="83654" autoAdjust="0"/>
  </p:normalViewPr>
  <p:slideViewPr>
    <p:cSldViewPr>
      <p:cViewPr varScale="1">
        <p:scale>
          <a:sx n="76" d="100"/>
          <a:sy n="76" d="100"/>
        </p:scale>
        <p:origin x="108" y="894"/>
      </p:cViewPr>
      <p:guideLst>
        <p:guide orient="horz" pos="2160"/>
        <p:guide pos="2880"/>
      </p:guideLst>
    </p:cSldViewPr>
  </p:slideViewPr>
  <p:outlineViewPr>
    <p:cViewPr>
      <p:scale>
        <a:sx n="33" d="100"/>
        <a:sy n="33" d="100"/>
      </p:scale>
      <p:origin x="0" y="0"/>
    </p:cViewPr>
  </p:outlineViewPr>
  <p:notesTextViewPr>
    <p:cViewPr>
      <p:scale>
        <a:sx n="1" d="1"/>
        <a:sy n="1" d="1"/>
      </p:scale>
      <p:origin x="0" y="0"/>
    </p:cViewPr>
  </p:notesTextViewPr>
  <p:notesViewPr>
    <p:cSldViewPr>
      <p:cViewPr varScale="1">
        <p:scale>
          <a:sx n="85" d="100"/>
          <a:sy n="85" d="100"/>
        </p:scale>
        <p:origin x="1952" y="168"/>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0.xml"/><Relationship Id="rId18" Type="http://schemas.openxmlformats.org/officeDocument/2006/relationships/slide" Target="slides/slide15.xml"/><Relationship Id="rId26" Type="http://schemas.openxmlformats.org/officeDocument/2006/relationships/slide" Target="slides/slide23.xml"/><Relationship Id="rId39" Type="http://schemas.openxmlformats.org/officeDocument/2006/relationships/slide" Target="slides/slide36.xml"/><Relationship Id="rId21" Type="http://schemas.openxmlformats.org/officeDocument/2006/relationships/slide" Target="slides/slide18.xml"/><Relationship Id="rId34" Type="http://schemas.openxmlformats.org/officeDocument/2006/relationships/slide" Target="slides/slide31.xml"/><Relationship Id="rId42" Type="http://schemas.openxmlformats.org/officeDocument/2006/relationships/slide" Target="slides/slide39.xml"/><Relationship Id="rId47" Type="http://schemas.openxmlformats.org/officeDocument/2006/relationships/slide" Target="slides/slide44.xml"/><Relationship Id="rId50" Type="http://schemas.openxmlformats.org/officeDocument/2006/relationships/slide" Target="slides/slide47.xml"/><Relationship Id="rId55" Type="http://schemas.openxmlformats.org/officeDocument/2006/relationships/slide" Target="slides/slide52.xml"/><Relationship Id="rId63" Type="http://schemas.openxmlformats.org/officeDocument/2006/relationships/slide" Target="slides/slide60.xml"/><Relationship Id="rId68" Type="http://schemas.openxmlformats.org/officeDocument/2006/relationships/slide" Target="slides/slide65.xml"/><Relationship Id="rId7" Type="http://schemas.openxmlformats.org/officeDocument/2006/relationships/slide" Target="slides/slide4.xml"/><Relationship Id="rId71" Type="http://schemas.openxmlformats.org/officeDocument/2006/relationships/presProps" Target="presProps.xml"/><Relationship Id="rId2" Type="http://schemas.openxmlformats.org/officeDocument/2006/relationships/slideMaster" Target="slideMasters/slideMaster2.xml"/><Relationship Id="rId16" Type="http://schemas.openxmlformats.org/officeDocument/2006/relationships/slide" Target="slides/slide13.xml"/><Relationship Id="rId29" Type="http://schemas.openxmlformats.org/officeDocument/2006/relationships/slide" Target="slides/slide26.xml"/><Relationship Id="rId11" Type="http://schemas.openxmlformats.org/officeDocument/2006/relationships/slide" Target="slides/slide8.xml"/><Relationship Id="rId24" Type="http://schemas.openxmlformats.org/officeDocument/2006/relationships/slide" Target="slides/slide21.xml"/><Relationship Id="rId32" Type="http://schemas.openxmlformats.org/officeDocument/2006/relationships/slide" Target="slides/slide29.xml"/><Relationship Id="rId37" Type="http://schemas.openxmlformats.org/officeDocument/2006/relationships/slide" Target="slides/slide34.xml"/><Relationship Id="rId40" Type="http://schemas.openxmlformats.org/officeDocument/2006/relationships/slide" Target="slides/slide37.xml"/><Relationship Id="rId45" Type="http://schemas.openxmlformats.org/officeDocument/2006/relationships/slide" Target="slides/slide42.xml"/><Relationship Id="rId53" Type="http://schemas.openxmlformats.org/officeDocument/2006/relationships/slide" Target="slides/slide50.xml"/><Relationship Id="rId58" Type="http://schemas.openxmlformats.org/officeDocument/2006/relationships/slide" Target="slides/slide55.xml"/><Relationship Id="rId66" Type="http://schemas.openxmlformats.org/officeDocument/2006/relationships/slide" Target="slides/slide63.xml"/><Relationship Id="rId74" Type="http://schemas.openxmlformats.org/officeDocument/2006/relationships/tableStyles" Target="tableStyles.xml"/><Relationship Id="rId5" Type="http://schemas.openxmlformats.org/officeDocument/2006/relationships/slide" Target="slides/slide2.xml"/><Relationship Id="rId15" Type="http://schemas.openxmlformats.org/officeDocument/2006/relationships/slide" Target="slides/slide12.xml"/><Relationship Id="rId23" Type="http://schemas.openxmlformats.org/officeDocument/2006/relationships/slide" Target="slides/slide20.xml"/><Relationship Id="rId28" Type="http://schemas.openxmlformats.org/officeDocument/2006/relationships/slide" Target="slides/slide25.xml"/><Relationship Id="rId36" Type="http://schemas.openxmlformats.org/officeDocument/2006/relationships/slide" Target="slides/slide33.xml"/><Relationship Id="rId49" Type="http://schemas.openxmlformats.org/officeDocument/2006/relationships/slide" Target="slides/slide46.xml"/><Relationship Id="rId57" Type="http://schemas.openxmlformats.org/officeDocument/2006/relationships/slide" Target="slides/slide54.xml"/><Relationship Id="rId61" Type="http://schemas.openxmlformats.org/officeDocument/2006/relationships/slide" Target="slides/slide58.xml"/><Relationship Id="rId10" Type="http://schemas.openxmlformats.org/officeDocument/2006/relationships/slide" Target="slides/slide7.xml"/><Relationship Id="rId19" Type="http://schemas.openxmlformats.org/officeDocument/2006/relationships/slide" Target="slides/slide16.xml"/><Relationship Id="rId31" Type="http://schemas.openxmlformats.org/officeDocument/2006/relationships/slide" Target="slides/slide28.xml"/><Relationship Id="rId44" Type="http://schemas.openxmlformats.org/officeDocument/2006/relationships/slide" Target="slides/slide41.xml"/><Relationship Id="rId52" Type="http://schemas.openxmlformats.org/officeDocument/2006/relationships/slide" Target="slides/slide49.xml"/><Relationship Id="rId60" Type="http://schemas.openxmlformats.org/officeDocument/2006/relationships/slide" Target="slides/slide57.xml"/><Relationship Id="rId65" Type="http://schemas.openxmlformats.org/officeDocument/2006/relationships/slide" Target="slides/slide62.xml"/><Relationship Id="rId73" Type="http://schemas.openxmlformats.org/officeDocument/2006/relationships/theme" Target="theme/theme1.xml"/><Relationship Id="rId4" Type="http://schemas.openxmlformats.org/officeDocument/2006/relationships/slide" Target="slides/slide1.xml"/><Relationship Id="rId9" Type="http://schemas.openxmlformats.org/officeDocument/2006/relationships/slide" Target="slides/slide6.xml"/><Relationship Id="rId14" Type="http://schemas.openxmlformats.org/officeDocument/2006/relationships/slide" Target="slides/slide11.xml"/><Relationship Id="rId22" Type="http://schemas.openxmlformats.org/officeDocument/2006/relationships/slide" Target="slides/slide19.xml"/><Relationship Id="rId27" Type="http://schemas.openxmlformats.org/officeDocument/2006/relationships/slide" Target="slides/slide24.xml"/><Relationship Id="rId30" Type="http://schemas.openxmlformats.org/officeDocument/2006/relationships/slide" Target="slides/slide27.xml"/><Relationship Id="rId35" Type="http://schemas.openxmlformats.org/officeDocument/2006/relationships/slide" Target="slides/slide32.xml"/><Relationship Id="rId43" Type="http://schemas.openxmlformats.org/officeDocument/2006/relationships/slide" Target="slides/slide40.xml"/><Relationship Id="rId48" Type="http://schemas.openxmlformats.org/officeDocument/2006/relationships/slide" Target="slides/slide45.xml"/><Relationship Id="rId56" Type="http://schemas.openxmlformats.org/officeDocument/2006/relationships/slide" Target="slides/slide53.xml"/><Relationship Id="rId64" Type="http://schemas.openxmlformats.org/officeDocument/2006/relationships/slide" Target="slides/slide61.xml"/><Relationship Id="rId69" Type="http://schemas.openxmlformats.org/officeDocument/2006/relationships/notesMaster" Target="notesMasters/notesMaster1.xml"/><Relationship Id="rId8" Type="http://schemas.openxmlformats.org/officeDocument/2006/relationships/slide" Target="slides/slide5.xml"/><Relationship Id="rId51" Type="http://schemas.openxmlformats.org/officeDocument/2006/relationships/slide" Target="slides/slide48.xml"/><Relationship Id="rId72" Type="http://schemas.openxmlformats.org/officeDocument/2006/relationships/viewProps" Target="viewProps.xml"/><Relationship Id="rId3" Type="http://schemas.openxmlformats.org/officeDocument/2006/relationships/slideMaster" Target="slideMasters/slideMaster3.xml"/><Relationship Id="rId12" Type="http://schemas.openxmlformats.org/officeDocument/2006/relationships/slide" Target="slides/slide9.xml"/><Relationship Id="rId17" Type="http://schemas.openxmlformats.org/officeDocument/2006/relationships/slide" Target="slides/slide14.xml"/><Relationship Id="rId25" Type="http://schemas.openxmlformats.org/officeDocument/2006/relationships/slide" Target="slides/slide22.xml"/><Relationship Id="rId33" Type="http://schemas.openxmlformats.org/officeDocument/2006/relationships/slide" Target="slides/slide30.xml"/><Relationship Id="rId38" Type="http://schemas.openxmlformats.org/officeDocument/2006/relationships/slide" Target="slides/slide35.xml"/><Relationship Id="rId46" Type="http://schemas.openxmlformats.org/officeDocument/2006/relationships/slide" Target="slides/slide43.xml"/><Relationship Id="rId59" Type="http://schemas.openxmlformats.org/officeDocument/2006/relationships/slide" Target="slides/slide56.xml"/><Relationship Id="rId67" Type="http://schemas.openxmlformats.org/officeDocument/2006/relationships/slide" Target="slides/slide64.xml"/><Relationship Id="rId20" Type="http://schemas.openxmlformats.org/officeDocument/2006/relationships/slide" Target="slides/slide17.xml"/><Relationship Id="rId41" Type="http://schemas.openxmlformats.org/officeDocument/2006/relationships/slide" Target="slides/slide38.xml"/><Relationship Id="rId54" Type="http://schemas.openxmlformats.org/officeDocument/2006/relationships/slide" Target="slides/slide51.xml"/><Relationship Id="rId62" Type="http://schemas.openxmlformats.org/officeDocument/2006/relationships/slide" Target="slides/slide59.xml"/><Relationship Id="rId70" Type="http://schemas.openxmlformats.org/officeDocument/2006/relationships/commentAuthors" Target="commentAuthors.xml"/><Relationship Id="rId75" Type="http://schemas.microsoft.com/office/2015/10/relationships/revisionInfo" Target="revisionInfo.xml"/><Relationship Id="rId1" Type="http://schemas.openxmlformats.org/officeDocument/2006/relationships/slideMaster" Target="slideMasters/slideMaster1.xml"/><Relationship Id="rId6"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42D2026-0859-4913-9377-3DA08F595AD2}" type="datetimeFigureOut">
              <a:rPr lang="en-US" smtClean="0"/>
              <a:t>1/19/2018</a:t>
            </a:fld>
            <a:endParaRPr lang="en-US" dirty="0"/>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C9D32D9-63A9-423F-8B77-368638260D4D}" type="slidenum">
              <a:rPr lang="en-US" smtClean="0"/>
              <a:t>‹#›</a:t>
            </a:fld>
            <a:endParaRPr lang="en-US" dirty="0"/>
          </a:p>
        </p:txBody>
      </p:sp>
    </p:spTree>
    <p:extLst>
      <p:ext uri="{BB962C8B-B14F-4D97-AF65-F5344CB8AC3E}">
        <p14:creationId xmlns:p14="http://schemas.microsoft.com/office/powerpoint/2010/main" val="45470418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2C9D32D9-63A9-423F-8B77-368638260D4D}" type="slidenum">
              <a:rPr lang="en-US" smtClean="0"/>
              <a:t>1</a:t>
            </a:fld>
            <a:endParaRPr lang="en-US" dirty="0"/>
          </a:p>
        </p:txBody>
      </p:sp>
    </p:spTree>
    <p:extLst>
      <p:ext uri="{BB962C8B-B14F-4D97-AF65-F5344CB8AC3E}">
        <p14:creationId xmlns:p14="http://schemas.microsoft.com/office/powerpoint/2010/main" val="20357974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2C9D32D9-63A9-423F-8B77-368638260D4D}" type="slidenum">
              <a:rPr lang="en-US" smtClean="0"/>
              <a:t>3</a:t>
            </a:fld>
            <a:endParaRPr lang="en-US" dirty="0"/>
          </a:p>
        </p:txBody>
      </p:sp>
    </p:spTree>
    <p:extLst>
      <p:ext uri="{BB962C8B-B14F-4D97-AF65-F5344CB8AC3E}">
        <p14:creationId xmlns:p14="http://schemas.microsoft.com/office/powerpoint/2010/main" val="59874785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sz="1200" kern="1200" dirty="0">
              <a:solidFill>
                <a:schemeClr val="tx1"/>
              </a:solidFill>
              <a:effectLst/>
              <a:latin typeface="+mn-lt"/>
              <a:ea typeface="+mn-ea"/>
              <a:cs typeface="+mn-cs"/>
            </a:endParaRPr>
          </a:p>
          <a:p>
            <a:endParaRPr lang="en-US" sz="1200" kern="1200" dirty="0">
              <a:solidFill>
                <a:schemeClr val="tx1"/>
              </a:solidFill>
              <a:effectLst/>
              <a:latin typeface="+mn-lt"/>
              <a:ea typeface="+mn-ea"/>
              <a:cs typeface="+mn-cs"/>
            </a:endParaRPr>
          </a:p>
          <a:p>
            <a:endParaRPr lang="en-US" sz="1200" kern="1200" dirty="0">
              <a:solidFill>
                <a:schemeClr val="tx1"/>
              </a:solidFill>
              <a:effectLst/>
              <a:latin typeface="+mn-lt"/>
              <a:ea typeface="+mn-ea"/>
              <a:cs typeface="+mn-cs"/>
            </a:endParaRPr>
          </a:p>
          <a:p>
            <a:endParaRPr lang="en-GB" dirty="0"/>
          </a:p>
        </p:txBody>
      </p:sp>
      <p:sp>
        <p:nvSpPr>
          <p:cNvPr id="4" name="Slide Number Placeholder 3"/>
          <p:cNvSpPr>
            <a:spLocks noGrp="1"/>
          </p:cNvSpPr>
          <p:nvPr>
            <p:ph type="sldNum" sz="quarter" idx="10"/>
          </p:nvPr>
        </p:nvSpPr>
        <p:spPr/>
        <p:txBody>
          <a:bodyPr/>
          <a:lstStyle/>
          <a:p>
            <a:fld id="{2C9D32D9-63A9-423F-8B77-368638260D4D}" type="slidenum">
              <a:rPr lang="en-US" smtClean="0"/>
              <a:t>4</a:t>
            </a:fld>
            <a:endParaRPr lang="en-US" dirty="0"/>
          </a:p>
        </p:txBody>
      </p:sp>
    </p:spTree>
    <p:extLst>
      <p:ext uri="{BB962C8B-B14F-4D97-AF65-F5344CB8AC3E}">
        <p14:creationId xmlns:p14="http://schemas.microsoft.com/office/powerpoint/2010/main" val="102249817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sz="1200" kern="1200" dirty="0">
              <a:solidFill>
                <a:schemeClr val="tx1"/>
              </a:solidFill>
              <a:effectLst/>
              <a:latin typeface="+mn-lt"/>
              <a:ea typeface="+mn-ea"/>
              <a:cs typeface="+mn-cs"/>
            </a:endParaRPr>
          </a:p>
          <a:p>
            <a:endParaRPr lang="en-US" sz="1200" kern="1200" dirty="0">
              <a:solidFill>
                <a:schemeClr val="tx1"/>
              </a:solidFill>
              <a:effectLst/>
              <a:latin typeface="+mn-lt"/>
              <a:ea typeface="+mn-ea"/>
              <a:cs typeface="+mn-cs"/>
            </a:endParaRPr>
          </a:p>
          <a:p>
            <a:endParaRPr lang="en-US" sz="1200" kern="1200" dirty="0">
              <a:solidFill>
                <a:schemeClr val="tx1"/>
              </a:solidFill>
              <a:effectLst/>
              <a:latin typeface="+mn-lt"/>
              <a:ea typeface="+mn-ea"/>
              <a:cs typeface="+mn-cs"/>
            </a:endParaRPr>
          </a:p>
          <a:p>
            <a:endParaRPr lang="en-GB" dirty="0"/>
          </a:p>
        </p:txBody>
      </p:sp>
      <p:sp>
        <p:nvSpPr>
          <p:cNvPr id="4" name="Slide Number Placeholder 3"/>
          <p:cNvSpPr>
            <a:spLocks noGrp="1"/>
          </p:cNvSpPr>
          <p:nvPr>
            <p:ph type="sldNum" sz="quarter" idx="10"/>
          </p:nvPr>
        </p:nvSpPr>
        <p:spPr/>
        <p:txBody>
          <a:bodyPr/>
          <a:lstStyle/>
          <a:p>
            <a:fld id="{2C9D32D9-63A9-423F-8B77-368638260D4D}" type="slidenum">
              <a:rPr lang="en-US" smtClean="0"/>
              <a:t>5</a:t>
            </a:fld>
            <a:endParaRPr lang="en-US" dirty="0"/>
          </a:p>
        </p:txBody>
      </p:sp>
    </p:spTree>
    <p:extLst>
      <p:ext uri="{BB962C8B-B14F-4D97-AF65-F5344CB8AC3E}">
        <p14:creationId xmlns:p14="http://schemas.microsoft.com/office/powerpoint/2010/main" val="89181658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2C9D32D9-63A9-423F-8B77-368638260D4D}" type="slidenum">
              <a:rPr lang="en-US" smtClean="0"/>
              <a:t>6</a:t>
            </a:fld>
            <a:endParaRPr lang="en-US" dirty="0"/>
          </a:p>
        </p:txBody>
      </p:sp>
    </p:spTree>
    <p:extLst>
      <p:ext uri="{BB962C8B-B14F-4D97-AF65-F5344CB8AC3E}">
        <p14:creationId xmlns:p14="http://schemas.microsoft.com/office/powerpoint/2010/main" val="156423757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2C9D32D9-63A9-423F-8B77-368638260D4D}" type="slidenum">
              <a:rPr lang="en-US" smtClean="0"/>
              <a:t>8</a:t>
            </a:fld>
            <a:endParaRPr lang="en-US" dirty="0"/>
          </a:p>
        </p:txBody>
      </p:sp>
    </p:spTree>
    <p:extLst>
      <p:ext uri="{BB962C8B-B14F-4D97-AF65-F5344CB8AC3E}">
        <p14:creationId xmlns:p14="http://schemas.microsoft.com/office/powerpoint/2010/main" val="25543099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2C9D32D9-63A9-423F-8B77-368638260D4D}" type="slidenum">
              <a:rPr lang="en-US" smtClean="0"/>
              <a:t>11</a:t>
            </a:fld>
            <a:endParaRPr lang="en-US" dirty="0"/>
          </a:p>
        </p:txBody>
      </p:sp>
    </p:spTree>
    <p:extLst>
      <p:ext uri="{BB962C8B-B14F-4D97-AF65-F5344CB8AC3E}">
        <p14:creationId xmlns:p14="http://schemas.microsoft.com/office/powerpoint/2010/main" val="72861875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sz="1200" kern="1200" dirty="0">
              <a:solidFill>
                <a:schemeClr val="tx1"/>
              </a:solidFill>
              <a:effectLst/>
              <a:latin typeface="+mn-lt"/>
              <a:ea typeface="+mn-ea"/>
              <a:cs typeface="+mn-cs"/>
            </a:endParaRPr>
          </a:p>
          <a:p>
            <a:endParaRPr lang="en-US" sz="1200" kern="1200" dirty="0">
              <a:solidFill>
                <a:schemeClr val="tx1"/>
              </a:solidFill>
              <a:effectLst/>
              <a:latin typeface="+mn-lt"/>
              <a:ea typeface="+mn-ea"/>
              <a:cs typeface="+mn-cs"/>
            </a:endParaRPr>
          </a:p>
          <a:p>
            <a:endParaRPr lang="en-US" sz="1200" kern="1200" dirty="0">
              <a:solidFill>
                <a:schemeClr val="tx1"/>
              </a:solidFill>
              <a:effectLst/>
              <a:latin typeface="+mn-lt"/>
              <a:ea typeface="+mn-ea"/>
              <a:cs typeface="+mn-cs"/>
            </a:endParaRPr>
          </a:p>
          <a:p>
            <a:endParaRPr lang="en-GB" dirty="0"/>
          </a:p>
        </p:txBody>
      </p:sp>
      <p:sp>
        <p:nvSpPr>
          <p:cNvPr id="4" name="Slide Number Placeholder 3"/>
          <p:cNvSpPr>
            <a:spLocks noGrp="1"/>
          </p:cNvSpPr>
          <p:nvPr>
            <p:ph type="sldNum" sz="quarter" idx="10"/>
          </p:nvPr>
        </p:nvSpPr>
        <p:spPr/>
        <p:txBody>
          <a:bodyPr/>
          <a:lstStyle/>
          <a:p>
            <a:fld id="{2C9D32D9-63A9-423F-8B77-368638260D4D}" type="slidenum">
              <a:rPr lang="en-US" smtClean="0"/>
              <a:t>12</a:t>
            </a:fld>
            <a:endParaRPr lang="en-US" dirty="0"/>
          </a:p>
        </p:txBody>
      </p:sp>
    </p:spTree>
    <p:extLst>
      <p:ext uri="{BB962C8B-B14F-4D97-AF65-F5344CB8AC3E}">
        <p14:creationId xmlns:p14="http://schemas.microsoft.com/office/powerpoint/2010/main" val="213765615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sz="1200" kern="1200" dirty="0">
              <a:solidFill>
                <a:schemeClr val="tx1"/>
              </a:solidFill>
              <a:effectLst/>
              <a:latin typeface="+mn-lt"/>
              <a:ea typeface="+mn-ea"/>
              <a:cs typeface="+mn-cs"/>
            </a:endParaRPr>
          </a:p>
          <a:p>
            <a:endParaRPr lang="en-US" sz="1200" kern="1200" dirty="0">
              <a:solidFill>
                <a:schemeClr val="tx1"/>
              </a:solidFill>
              <a:effectLst/>
              <a:latin typeface="+mn-lt"/>
              <a:ea typeface="+mn-ea"/>
              <a:cs typeface="+mn-cs"/>
            </a:endParaRPr>
          </a:p>
          <a:p>
            <a:endParaRPr lang="en-US" sz="1200" kern="1200" dirty="0">
              <a:solidFill>
                <a:schemeClr val="tx1"/>
              </a:solidFill>
              <a:effectLst/>
              <a:latin typeface="+mn-lt"/>
              <a:ea typeface="+mn-ea"/>
              <a:cs typeface="+mn-cs"/>
            </a:endParaRPr>
          </a:p>
          <a:p>
            <a:endParaRPr lang="en-GB" dirty="0"/>
          </a:p>
        </p:txBody>
      </p:sp>
      <p:sp>
        <p:nvSpPr>
          <p:cNvPr id="4" name="Slide Number Placeholder 3"/>
          <p:cNvSpPr>
            <a:spLocks noGrp="1"/>
          </p:cNvSpPr>
          <p:nvPr>
            <p:ph type="sldNum" sz="quarter" idx="10"/>
          </p:nvPr>
        </p:nvSpPr>
        <p:spPr/>
        <p:txBody>
          <a:bodyPr/>
          <a:lstStyle/>
          <a:p>
            <a:fld id="{2C9D32D9-63A9-423F-8B77-368638260D4D}" type="slidenum">
              <a:rPr lang="en-US" smtClean="0"/>
              <a:t>13</a:t>
            </a:fld>
            <a:endParaRPr lang="en-US" dirty="0"/>
          </a:p>
        </p:txBody>
      </p:sp>
    </p:spTree>
    <p:extLst>
      <p:ext uri="{BB962C8B-B14F-4D97-AF65-F5344CB8AC3E}">
        <p14:creationId xmlns:p14="http://schemas.microsoft.com/office/powerpoint/2010/main" val="153336268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sz="1200" kern="1200" dirty="0">
              <a:solidFill>
                <a:schemeClr val="tx1"/>
              </a:solidFill>
              <a:effectLst/>
              <a:latin typeface="+mn-lt"/>
              <a:ea typeface="+mn-ea"/>
              <a:cs typeface="+mn-cs"/>
            </a:endParaRPr>
          </a:p>
          <a:p>
            <a:endParaRPr lang="en-US" sz="1200" kern="1200" dirty="0">
              <a:solidFill>
                <a:schemeClr val="tx1"/>
              </a:solidFill>
              <a:effectLst/>
              <a:latin typeface="+mn-lt"/>
              <a:ea typeface="+mn-ea"/>
              <a:cs typeface="+mn-cs"/>
            </a:endParaRPr>
          </a:p>
          <a:p>
            <a:endParaRPr lang="en-US" sz="1200" kern="1200" dirty="0">
              <a:solidFill>
                <a:schemeClr val="tx1"/>
              </a:solidFill>
              <a:effectLst/>
              <a:latin typeface="+mn-lt"/>
              <a:ea typeface="+mn-ea"/>
              <a:cs typeface="+mn-cs"/>
            </a:endParaRPr>
          </a:p>
          <a:p>
            <a:endParaRPr lang="en-GB" dirty="0"/>
          </a:p>
        </p:txBody>
      </p:sp>
      <p:sp>
        <p:nvSpPr>
          <p:cNvPr id="4" name="Slide Number Placeholder 3"/>
          <p:cNvSpPr>
            <a:spLocks noGrp="1"/>
          </p:cNvSpPr>
          <p:nvPr>
            <p:ph type="sldNum" sz="quarter" idx="10"/>
          </p:nvPr>
        </p:nvSpPr>
        <p:spPr/>
        <p:txBody>
          <a:bodyPr/>
          <a:lstStyle/>
          <a:p>
            <a:fld id="{2C9D32D9-63A9-423F-8B77-368638260D4D}" type="slidenum">
              <a:rPr lang="en-US" smtClean="0"/>
              <a:t>14</a:t>
            </a:fld>
            <a:endParaRPr lang="en-US" dirty="0"/>
          </a:p>
        </p:txBody>
      </p:sp>
    </p:spTree>
    <p:extLst>
      <p:ext uri="{BB962C8B-B14F-4D97-AF65-F5344CB8AC3E}">
        <p14:creationId xmlns:p14="http://schemas.microsoft.com/office/powerpoint/2010/main" val="208482787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sz="1200" kern="1200" dirty="0">
              <a:solidFill>
                <a:schemeClr val="tx1"/>
              </a:solidFill>
              <a:effectLst/>
              <a:latin typeface="+mn-lt"/>
              <a:ea typeface="+mn-ea"/>
              <a:cs typeface="+mn-cs"/>
            </a:endParaRPr>
          </a:p>
          <a:p>
            <a:endParaRPr lang="en-US" sz="1200" kern="1200" dirty="0">
              <a:solidFill>
                <a:schemeClr val="tx1"/>
              </a:solidFill>
              <a:effectLst/>
              <a:latin typeface="+mn-lt"/>
              <a:ea typeface="+mn-ea"/>
              <a:cs typeface="+mn-cs"/>
            </a:endParaRPr>
          </a:p>
          <a:p>
            <a:endParaRPr lang="en-US" sz="1200" kern="1200" dirty="0">
              <a:solidFill>
                <a:schemeClr val="tx1"/>
              </a:solidFill>
              <a:effectLst/>
              <a:latin typeface="+mn-lt"/>
              <a:ea typeface="+mn-ea"/>
              <a:cs typeface="+mn-cs"/>
            </a:endParaRPr>
          </a:p>
          <a:p>
            <a:endParaRPr lang="en-GB" dirty="0"/>
          </a:p>
        </p:txBody>
      </p:sp>
      <p:sp>
        <p:nvSpPr>
          <p:cNvPr id="4" name="Slide Number Placeholder 3"/>
          <p:cNvSpPr>
            <a:spLocks noGrp="1"/>
          </p:cNvSpPr>
          <p:nvPr>
            <p:ph type="sldNum" sz="quarter" idx="10"/>
          </p:nvPr>
        </p:nvSpPr>
        <p:spPr/>
        <p:txBody>
          <a:bodyPr/>
          <a:lstStyle/>
          <a:p>
            <a:fld id="{2C9D32D9-63A9-423F-8B77-368638260D4D}" type="slidenum">
              <a:rPr lang="en-US" smtClean="0"/>
              <a:t>15</a:t>
            </a:fld>
            <a:endParaRPr lang="en-US" dirty="0"/>
          </a:p>
        </p:txBody>
      </p:sp>
    </p:spTree>
    <p:extLst>
      <p:ext uri="{BB962C8B-B14F-4D97-AF65-F5344CB8AC3E}">
        <p14:creationId xmlns:p14="http://schemas.microsoft.com/office/powerpoint/2010/main" val="144970514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2C9D32D9-63A9-423F-8B77-368638260D4D}" type="slidenum">
              <a:rPr lang="en-US" smtClean="0"/>
              <a:t>16</a:t>
            </a:fld>
            <a:endParaRPr lang="en-US" dirty="0"/>
          </a:p>
        </p:txBody>
      </p:sp>
    </p:spTree>
    <p:extLst>
      <p:ext uri="{BB962C8B-B14F-4D97-AF65-F5344CB8AC3E}">
        <p14:creationId xmlns:p14="http://schemas.microsoft.com/office/powerpoint/2010/main" val="64785199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2C9D32D9-63A9-423F-8B77-368638260D4D}" type="slidenum">
              <a:rPr lang="en-US" smtClean="0"/>
              <a:t>19</a:t>
            </a:fld>
            <a:endParaRPr lang="en-US" dirty="0"/>
          </a:p>
        </p:txBody>
      </p:sp>
    </p:spTree>
    <p:extLst>
      <p:ext uri="{BB962C8B-B14F-4D97-AF65-F5344CB8AC3E}">
        <p14:creationId xmlns:p14="http://schemas.microsoft.com/office/powerpoint/2010/main" val="171687175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2C9D32D9-63A9-423F-8B77-368638260D4D}" type="slidenum">
              <a:rPr lang="en-US" smtClean="0"/>
              <a:t>22</a:t>
            </a:fld>
            <a:endParaRPr lang="en-US" dirty="0"/>
          </a:p>
        </p:txBody>
      </p:sp>
    </p:spTree>
    <p:extLst>
      <p:ext uri="{BB962C8B-B14F-4D97-AF65-F5344CB8AC3E}">
        <p14:creationId xmlns:p14="http://schemas.microsoft.com/office/powerpoint/2010/main" val="190874135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2C9D32D9-63A9-423F-8B77-368638260D4D}" type="slidenum">
              <a:rPr lang="en-US" smtClean="0"/>
              <a:t>25</a:t>
            </a:fld>
            <a:endParaRPr lang="en-US" dirty="0"/>
          </a:p>
        </p:txBody>
      </p:sp>
    </p:spTree>
    <p:extLst>
      <p:ext uri="{BB962C8B-B14F-4D97-AF65-F5344CB8AC3E}">
        <p14:creationId xmlns:p14="http://schemas.microsoft.com/office/powerpoint/2010/main" val="1590097248"/>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2C9D32D9-63A9-423F-8B77-368638260D4D}" type="slidenum">
              <a:rPr lang="en-US" smtClean="0"/>
              <a:t>27</a:t>
            </a:fld>
            <a:endParaRPr lang="en-US" dirty="0"/>
          </a:p>
        </p:txBody>
      </p:sp>
    </p:spTree>
    <p:extLst>
      <p:ext uri="{BB962C8B-B14F-4D97-AF65-F5344CB8AC3E}">
        <p14:creationId xmlns:p14="http://schemas.microsoft.com/office/powerpoint/2010/main" val="3141179683"/>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2C9D32D9-63A9-423F-8B77-368638260D4D}" type="slidenum">
              <a:rPr lang="en-US" smtClean="0"/>
              <a:t>29</a:t>
            </a:fld>
            <a:endParaRPr lang="en-US" dirty="0"/>
          </a:p>
        </p:txBody>
      </p:sp>
    </p:spTree>
    <p:extLst>
      <p:ext uri="{BB962C8B-B14F-4D97-AF65-F5344CB8AC3E}">
        <p14:creationId xmlns:p14="http://schemas.microsoft.com/office/powerpoint/2010/main" val="2736554459"/>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2C9D32D9-63A9-423F-8B77-368638260D4D}" type="slidenum">
              <a:rPr lang="en-US" smtClean="0"/>
              <a:t>30</a:t>
            </a:fld>
            <a:endParaRPr lang="en-US" dirty="0"/>
          </a:p>
        </p:txBody>
      </p:sp>
    </p:spTree>
    <p:extLst>
      <p:ext uri="{BB962C8B-B14F-4D97-AF65-F5344CB8AC3E}">
        <p14:creationId xmlns:p14="http://schemas.microsoft.com/office/powerpoint/2010/main" val="1520338083"/>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2C9D32D9-63A9-423F-8B77-368638260D4D}" type="slidenum">
              <a:rPr lang="en-US" smtClean="0"/>
              <a:t>31</a:t>
            </a:fld>
            <a:endParaRPr lang="en-US" dirty="0"/>
          </a:p>
        </p:txBody>
      </p:sp>
    </p:spTree>
    <p:extLst>
      <p:ext uri="{BB962C8B-B14F-4D97-AF65-F5344CB8AC3E}">
        <p14:creationId xmlns:p14="http://schemas.microsoft.com/office/powerpoint/2010/main" val="2966389976"/>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2C9D32D9-63A9-423F-8B77-368638260D4D}" type="slidenum">
              <a:rPr lang="en-US" smtClean="0"/>
              <a:t>32</a:t>
            </a:fld>
            <a:endParaRPr lang="en-US" dirty="0"/>
          </a:p>
        </p:txBody>
      </p:sp>
    </p:spTree>
    <p:extLst>
      <p:ext uri="{BB962C8B-B14F-4D97-AF65-F5344CB8AC3E}">
        <p14:creationId xmlns:p14="http://schemas.microsoft.com/office/powerpoint/2010/main" val="1873381048"/>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2C9D32D9-63A9-423F-8B77-368638260D4D}" type="slidenum">
              <a:rPr lang="en-US" smtClean="0"/>
              <a:t>33</a:t>
            </a:fld>
            <a:endParaRPr lang="en-US" dirty="0"/>
          </a:p>
        </p:txBody>
      </p:sp>
    </p:spTree>
    <p:extLst>
      <p:ext uri="{BB962C8B-B14F-4D97-AF65-F5344CB8AC3E}">
        <p14:creationId xmlns:p14="http://schemas.microsoft.com/office/powerpoint/2010/main" val="1110383233"/>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2C9D32D9-63A9-423F-8B77-368638260D4D}" type="slidenum">
              <a:rPr lang="en-US" smtClean="0"/>
              <a:t>36</a:t>
            </a:fld>
            <a:endParaRPr lang="en-US" dirty="0"/>
          </a:p>
        </p:txBody>
      </p:sp>
    </p:spTree>
    <p:extLst>
      <p:ext uri="{BB962C8B-B14F-4D97-AF65-F5344CB8AC3E}">
        <p14:creationId xmlns:p14="http://schemas.microsoft.com/office/powerpoint/2010/main" val="1880982268"/>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2C9D32D9-63A9-423F-8B77-368638260D4D}" type="slidenum">
              <a:rPr lang="en-US" smtClean="0"/>
              <a:t>39</a:t>
            </a:fld>
            <a:endParaRPr lang="en-US" dirty="0"/>
          </a:p>
        </p:txBody>
      </p:sp>
    </p:spTree>
    <p:extLst>
      <p:ext uri="{BB962C8B-B14F-4D97-AF65-F5344CB8AC3E}">
        <p14:creationId xmlns:p14="http://schemas.microsoft.com/office/powerpoint/2010/main" val="4285326293"/>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2C9D32D9-63A9-423F-8B77-368638260D4D}" type="slidenum">
              <a:rPr lang="en-US" smtClean="0"/>
              <a:t>40</a:t>
            </a:fld>
            <a:endParaRPr lang="en-US" dirty="0"/>
          </a:p>
        </p:txBody>
      </p:sp>
    </p:spTree>
    <p:extLst>
      <p:ext uri="{BB962C8B-B14F-4D97-AF65-F5344CB8AC3E}">
        <p14:creationId xmlns:p14="http://schemas.microsoft.com/office/powerpoint/2010/main" val="3627978098"/>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2C9D32D9-63A9-423F-8B77-368638260D4D}" type="slidenum">
              <a:rPr lang="en-US" smtClean="0"/>
              <a:t>41</a:t>
            </a:fld>
            <a:endParaRPr lang="en-US" dirty="0"/>
          </a:p>
        </p:txBody>
      </p:sp>
    </p:spTree>
    <p:extLst>
      <p:ext uri="{BB962C8B-B14F-4D97-AF65-F5344CB8AC3E}">
        <p14:creationId xmlns:p14="http://schemas.microsoft.com/office/powerpoint/2010/main" val="2464462210"/>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2C9D32D9-63A9-423F-8B77-368638260D4D}" type="slidenum">
              <a:rPr lang="en-US" smtClean="0"/>
              <a:t>42</a:t>
            </a:fld>
            <a:endParaRPr lang="en-US" dirty="0"/>
          </a:p>
        </p:txBody>
      </p:sp>
    </p:spTree>
    <p:extLst>
      <p:ext uri="{BB962C8B-B14F-4D97-AF65-F5344CB8AC3E}">
        <p14:creationId xmlns:p14="http://schemas.microsoft.com/office/powerpoint/2010/main" val="4040100097"/>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2C9D32D9-63A9-423F-8B77-368638260D4D}" type="slidenum">
              <a:rPr lang="en-US" smtClean="0"/>
              <a:t>43</a:t>
            </a:fld>
            <a:endParaRPr lang="en-US" dirty="0"/>
          </a:p>
        </p:txBody>
      </p:sp>
    </p:spTree>
    <p:extLst>
      <p:ext uri="{BB962C8B-B14F-4D97-AF65-F5344CB8AC3E}">
        <p14:creationId xmlns:p14="http://schemas.microsoft.com/office/powerpoint/2010/main" val="1649984059"/>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2C9D32D9-63A9-423F-8B77-368638260D4D}" type="slidenum">
              <a:rPr lang="en-US" smtClean="0"/>
              <a:t>44</a:t>
            </a:fld>
            <a:endParaRPr lang="en-US" dirty="0"/>
          </a:p>
        </p:txBody>
      </p:sp>
    </p:spTree>
    <p:extLst>
      <p:ext uri="{BB962C8B-B14F-4D97-AF65-F5344CB8AC3E}">
        <p14:creationId xmlns:p14="http://schemas.microsoft.com/office/powerpoint/2010/main" val="4120220065"/>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2C9D32D9-63A9-423F-8B77-368638260D4D}" type="slidenum">
              <a:rPr lang="en-US" smtClean="0"/>
              <a:t>47</a:t>
            </a:fld>
            <a:endParaRPr lang="en-US" dirty="0"/>
          </a:p>
        </p:txBody>
      </p:sp>
    </p:spTree>
    <p:extLst>
      <p:ext uri="{BB962C8B-B14F-4D97-AF65-F5344CB8AC3E}">
        <p14:creationId xmlns:p14="http://schemas.microsoft.com/office/powerpoint/2010/main" val="2036294306"/>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2C9D32D9-63A9-423F-8B77-368638260D4D}" type="slidenum">
              <a:rPr lang="en-US" smtClean="0"/>
              <a:t>50</a:t>
            </a:fld>
            <a:endParaRPr lang="en-US" dirty="0"/>
          </a:p>
        </p:txBody>
      </p:sp>
    </p:spTree>
    <p:extLst>
      <p:ext uri="{BB962C8B-B14F-4D97-AF65-F5344CB8AC3E}">
        <p14:creationId xmlns:p14="http://schemas.microsoft.com/office/powerpoint/2010/main" val="50648958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2C9D32D9-63A9-423F-8B77-368638260D4D}" type="slidenum">
              <a:rPr lang="en-US" smtClean="0"/>
              <a:t>51</a:t>
            </a:fld>
            <a:endParaRPr lang="en-US" dirty="0"/>
          </a:p>
        </p:txBody>
      </p:sp>
    </p:spTree>
    <p:extLst>
      <p:ext uri="{BB962C8B-B14F-4D97-AF65-F5344CB8AC3E}">
        <p14:creationId xmlns:p14="http://schemas.microsoft.com/office/powerpoint/2010/main" val="1840024108"/>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2C9D32D9-63A9-423F-8B77-368638260D4D}" type="slidenum">
              <a:rPr lang="en-US" smtClean="0"/>
              <a:t>52</a:t>
            </a:fld>
            <a:endParaRPr lang="en-US" dirty="0"/>
          </a:p>
        </p:txBody>
      </p:sp>
    </p:spTree>
    <p:extLst>
      <p:ext uri="{BB962C8B-B14F-4D97-AF65-F5344CB8AC3E}">
        <p14:creationId xmlns:p14="http://schemas.microsoft.com/office/powerpoint/2010/main" val="4147541750"/>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2C9D32D9-63A9-423F-8B77-368638260D4D}" type="slidenum">
              <a:rPr lang="en-US" smtClean="0"/>
              <a:t>53</a:t>
            </a:fld>
            <a:endParaRPr lang="en-US" dirty="0"/>
          </a:p>
        </p:txBody>
      </p:sp>
    </p:spTree>
    <p:extLst>
      <p:ext uri="{BB962C8B-B14F-4D97-AF65-F5344CB8AC3E}">
        <p14:creationId xmlns:p14="http://schemas.microsoft.com/office/powerpoint/2010/main" val="787845310"/>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2C9D32D9-63A9-423F-8B77-368638260D4D}" type="slidenum">
              <a:rPr lang="en-US" smtClean="0"/>
              <a:t>54</a:t>
            </a:fld>
            <a:endParaRPr lang="en-US" dirty="0"/>
          </a:p>
        </p:txBody>
      </p:sp>
    </p:spTree>
    <p:extLst>
      <p:ext uri="{BB962C8B-B14F-4D97-AF65-F5344CB8AC3E}">
        <p14:creationId xmlns:p14="http://schemas.microsoft.com/office/powerpoint/2010/main" val="1311040750"/>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2C9D32D9-63A9-423F-8B77-368638260D4D}" type="slidenum">
              <a:rPr lang="en-US" smtClean="0"/>
              <a:t>57</a:t>
            </a:fld>
            <a:endParaRPr lang="en-US" dirty="0"/>
          </a:p>
        </p:txBody>
      </p:sp>
    </p:spTree>
    <p:extLst>
      <p:ext uri="{BB962C8B-B14F-4D97-AF65-F5344CB8AC3E}">
        <p14:creationId xmlns:p14="http://schemas.microsoft.com/office/powerpoint/2010/main" val="369766303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2C9D32D9-63A9-423F-8B77-368638260D4D}" type="slidenum">
              <a:rPr lang="en-US" smtClean="0"/>
              <a:t>60</a:t>
            </a:fld>
            <a:endParaRPr lang="en-US" dirty="0"/>
          </a:p>
        </p:txBody>
      </p:sp>
    </p:spTree>
    <p:extLst>
      <p:ext uri="{BB962C8B-B14F-4D97-AF65-F5344CB8AC3E}">
        <p14:creationId xmlns:p14="http://schemas.microsoft.com/office/powerpoint/2010/main" val="2551581963"/>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2C9D32D9-63A9-423F-8B77-368638260D4D}" type="slidenum">
              <a:rPr lang="en-US" smtClean="0"/>
              <a:t>61</a:t>
            </a:fld>
            <a:endParaRPr lang="en-US" dirty="0"/>
          </a:p>
        </p:txBody>
      </p:sp>
    </p:spTree>
    <p:extLst>
      <p:ext uri="{BB962C8B-B14F-4D97-AF65-F5344CB8AC3E}">
        <p14:creationId xmlns:p14="http://schemas.microsoft.com/office/powerpoint/2010/main" val="392663598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2C9D32D9-63A9-423F-8B77-368638260D4D}" type="slidenum">
              <a:rPr lang="en-US" smtClean="0"/>
              <a:t>62</a:t>
            </a:fld>
            <a:endParaRPr lang="en-US" dirty="0"/>
          </a:p>
        </p:txBody>
      </p:sp>
    </p:spTree>
    <p:extLst>
      <p:ext uri="{BB962C8B-B14F-4D97-AF65-F5344CB8AC3E}">
        <p14:creationId xmlns:p14="http://schemas.microsoft.com/office/powerpoint/2010/main" val="402609563"/>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2C9D32D9-63A9-423F-8B77-368638260D4D}" type="slidenum">
              <a:rPr lang="en-US" smtClean="0"/>
              <a:t>64</a:t>
            </a:fld>
            <a:endParaRPr lang="en-US" dirty="0"/>
          </a:p>
        </p:txBody>
      </p:sp>
    </p:spTree>
    <p:extLst>
      <p:ext uri="{BB962C8B-B14F-4D97-AF65-F5344CB8AC3E}">
        <p14:creationId xmlns:p14="http://schemas.microsoft.com/office/powerpoint/2010/main" val="99009427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83406" y="764704"/>
            <a:ext cx="8964488" cy="1470025"/>
          </a:xfrm>
        </p:spPr>
        <p:txBody>
          <a:bodyPr/>
          <a:lstStyle/>
          <a:p>
            <a:r>
              <a:rPr lang="en-US"/>
              <a:t>Click to edit Master title style</a:t>
            </a:r>
            <a:endParaRPr lang="en-US" dirty="0"/>
          </a:p>
        </p:txBody>
      </p:sp>
      <p:sp>
        <p:nvSpPr>
          <p:cNvPr id="3" name="Subtitle 2"/>
          <p:cNvSpPr>
            <a:spLocks noGrp="1"/>
          </p:cNvSpPr>
          <p:nvPr>
            <p:ph type="subTitle" idx="1"/>
          </p:nvPr>
        </p:nvSpPr>
        <p:spPr>
          <a:xfrm>
            <a:off x="83406" y="2420888"/>
            <a:ext cx="8964488" cy="1752600"/>
          </a:xfrm>
        </p:spPr>
        <p:txBody>
          <a:bodyPr/>
          <a:lstStyle>
            <a:lvl1pPr marL="0" indent="0" algn="ctr">
              <a:buNone/>
              <a:defRPr>
                <a:solidFill>
                  <a:schemeClr val="tx1">
                    <a:tint val="75000"/>
                  </a:schemeClr>
                </a:solidFill>
                <a:latin typeface="News Gothic MT"/>
                <a:cs typeface="News Gothic MT"/>
              </a:defRPr>
            </a:lvl1pPr>
            <a:lvl2pPr marL="342900" indent="0" algn="ctr">
              <a:buNone/>
              <a:defRPr>
                <a:solidFill>
                  <a:schemeClr val="tx1">
                    <a:tint val="75000"/>
                  </a:schemeClr>
                </a:solidFill>
              </a:defRPr>
            </a:lvl2pPr>
            <a:lvl3pPr marL="685800" indent="0" algn="ctr">
              <a:buNone/>
              <a:defRPr>
                <a:solidFill>
                  <a:schemeClr val="tx1">
                    <a:tint val="75000"/>
                  </a:schemeClr>
                </a:solidFill>
              </a:defRPr>
            </a:lvl3pPr>
            <a:lvl4pPr marL="1028700" indent="0" algn="ctr">
              <a:buNone/>
              <a:defRPr>
                <a:solidFill>
                  <a:schemeClr val="tx1">
                    <a:tint val="75000"/>
                  </a:schemeClr>
                </a:solidFill>
              </a:defRPr>
            </a:lvl4pPr>
            <a:lvl5pPr marL="1371600" indent="0" algn="ctr">
              <a:buNone/>
              <a:defRPr>
                <a:solidFill>
                  <a:schemeClr val="tx1">
                    <a:tint val="75000"/>
                  </a:schemeClr>
                </a:solidFill>
              </a:defRPr>
            </a:lvl5pPr>
            <a:lvl6pPr marL="1714500" indent="0" algn="ctr">
              <a:buNone/>
              <a:defRPr>
                <a:solidFill>
                  <a:schemeClr val="tx1">
                    <a:tint val="75000"/>
                  </a:schemeClr>
                </a:solidFill>
              </a:defRPr>
            </a:lvl6pPr>
            <a:lvl7pPr marL="2057400" indent="0" algn="ctr">
              <a:buNone/>
              <a:defRPr>
                <a:solidFill>
                  <a:schemeClr val="tx1">
                    <a:tint val="75000"/>
                  </a:schemeClr>
                </a:solidFill>
              </a:defRPr>
            </a:lvl7pPr>
            <a:lvl8pPr marL="2400300" indent="0" algn="ctr">
              <a:buNone/>
              <a:defRPr>
                <a:solidFill>
                  <a:schemeClr val="tx1">
                    <a:tint val="75000"/>
                  </a:schemeClr>
                </a:solidFill>
              </a:defRPr>
            </a:lvl8pPr>
            <a:lvl9pPr marL="2743200" indent="0" algn="ctr">
              <a:buNone/>
              <a:defRPr>
                <a:solidFill>
                  <a:schemeClr val="tx1">
                    <a:tint val="75000"/>
                  </a:schemeClr>
                </a:solidFill>
              </a:defRPr>
            </a:lvl9pPr>
          </a:lstStyle>
          <a:p>
            <a:r>
              <a:rPr lang="en-US"/>
              <a:t>Click to edit Master subtitle style</a:t>
            </a:r>
            <a:endParaRPr lang="en-US" dirty="0"/>
          </a:p>
        </p:txBody>
      </p:sp>
    </p:spTree>
    <p:extLst>
      <p:ext uri="{BB962C8B-B14F-4D97-AF65-F5344CB8AC3E}">
        <p14:creationId xmlns:p14="http://schemas.microsoft.com/office/powerpoint/2010/main" val="288179732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355600" y="1257300"/>
            <a:ext cx="8458200" cy="749300"/>
          </a:xfrm>
        </p:spPr>
        <p:txBody>
          <a:bodyPr/>
          <a:lstStyle>
            <a:lvl1pPr algn="l">
              <a:defRPr/>
            </a:lvl1pPr>
          </a:lstStyle>
          <a:p>
            <a:r>
              <a:rPr lang="en-US"/>
              <a:t>Click to edit Master title style</a:t>
            </a:r>
            <a:endParaRPr lang="en-US" dirty="0"/>
          </a:p>
        </p:txBody>
      </p:sp>
      <p:sp>
        <p:nvSpPr>
          <p:cNvPr id="3" name="Content Placeholder 2"/>
          <p:cNvSpPr>
            <a:spLocks noGrp="1"/>
          </p:cNvSpPr>
          <p:nvPr>
            <p:ph idx="1"/>
          </p:nvPr>
        </p:nvSpPr>
        <p:spPr>
          <a:xfrm>
            <a:off x="355600" y="2133600"/>
            <a:ext cx="8458200" cy="4165600"/>
          </a:xfrm>
        </p:spPr>
        <p:txBody>
          <a:bodyPr/>
          <a:lstStyle>
            <a:lvl1pPr>
              <a:defRPr>
                <a:latin typeface="News Gothic MT"/>
                <a:cs typeface="News Gothic MT"/>
              </a:defRPr>
            </a:lvl1pPr>
            <a:lvl2pPr>
              <a:defRPr>
                <a:latin typeface="News Gothic MT"/>
                <a:cs typeface="News Gothic MT"/>
              </a:defRPr>
            </a:lvl2pPr>
            <a:lvl3pPr>
              <a:defRPr>
                <a:latin typeface="News Gothic MT"/>
                <a:cs typeface="News Gothic MT"/>
              </a:defRPr>
            </a:lvl3pPr>
            <a:lvl4pPr>
              <a:defRPr>
                <a:latin typeface="News Gothic MT"/>
                <a:cs typeface="News Gothic MT"/>
              </a:defRPr>
            </a:lvl4pPr>
            <a:lvl5pPr>
              <a:defRPr>
                <a:latin typeface="News Gothic MT"/>
                <a:cs typeface="News Gothic M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306527047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cSld name="1_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79400" y="2130427"/>
            <a:ext cx="8572500" cy="1470025"/>
          </a:xfrm>
          <a:prstGeom prst="rect">
            <a:avLst/>
          </a:prstGeom>
        </p:spPr>
        <p:txBody>
          <a:bodyPr/>
          <a:lstStyle/>
          <a:p>
            <a:r>
              <a:rPr lang="en-US"/>
              <a:t>Click to edit Master title style</a:t>
            </a:r>
            <a:endParaRPr lang="en-US" dirty="0"/>
          </a:p>
        </p:txBody>
      </p:sp>
      <p:sp>
        <p:nvSpPr>
          <p:cNvPr id="3" name="Subtitle 2"/>
          <p:cNvSpPr>
            <a:spLocks noGrp="1"/>
          </p:cNvSpPr>
          <p:nvPr>
            <p:ph type="subTitle" idx="1"/>
          </p:nvPr>
        </p:nvSpPr>
        <p:spPr>
          <a:xfrm>
            <a:off x="279400" y="3886200"/>
            <a:ext cx="8572500" cy="1752600"/>
          </a:xfrm>
          <a:prstGeom prst="rect">
            <a:avLst/>
          </a:prstGeom>
        </p:spPr>
        <p:txBody>
          <a:bodyPr/>
          <a:lstStyle>
            <a:lvl1pPr marL="0" indent="0" algn="ctr">
              <a:buNone/>
              <a:defRPr>
                <a:solidFill>
                  <a:schemeClr val="tx1">
                    <a:tint val="75000"/>
                  </a:schemeClr>
                </a:solidFill>
                <a:latin typeface="News Gothic MT"/>
                <a:cs typeface="News Gothic MT"/>
              </a:defRPr>
            </a:lvl1pPr>
            <a:lvl2pPr marL="457189" indent="0" algn="ctr">
              <a:buNone/>
              <a:defRPr>
                <a:solidFill>
                  <a:schemeClr val="tx1">
                    <a:tint val="75000"/>
                  </a:schemeClr>
                </a:solidFill>
              </a:defRPr>
            </a:lvl2pPr>
            <a:lvl3pPr marL="914378" indent="0" algn="ctr">
              <a:buNone/>
              <a:defRPr>
                <a:solidFill>
                  <a:schemeClr val="tx1">
                    <a:tint val="75000"/>
                  </a:schemeClr>
                </a:solidFill>
              </a:defRPr>
            </a:lvl3pPr>
            <a:lvl4pPr marL="1371566" indent="0" algn="ctr">
              <a:buNone/>
              <a:defRPr>
                <a:solidFill>
                  <a:schemeClr val="tx1">
                    <a:tint val="75000"/>
                  </a:schemeClr>
                </a:solidFill>
              </a:defRPr>
            </a:lvl4pPr>
            <a:lvl5pPr marL="1828754" indent="0" algn="ctr">
              <a:buNone/>
              <a:defRPr>
                <a:solidFill>
                  <a:schemeClr val="tx1">
                    <a:tint val="75000"/>
                  </a:schemeClr>
                </a:solidFill>
              </a:defRPr>
            </a:lvl5pPr>
            <a:lvl6pPr marL="2285943" indent="0" algn="ctr">
              <a:buNone/>
              <a:defRPr>
                <a:solidFill>
                  <a:schemeClr val="tx1">
                    <a:tint val="75000"/>
                  </a:schemeClr>
                </a:solidFill>
              </a:defRPr>
            </a:lvl6pPr>
            <a:lvl7pPr marL="2743132" indent="0" algn="ctr">
              <a:buNone/>
              <a:defRPr>
                <a:solidFill>
                  <a:schemeClr val="tx1">
                    <a:tint val="75000"/>
                  </a:schemeClr>
                </a:solidFill>
              </a:defRPr>
            </a:lvl7pPr>
            <a:lvl8pPr marL="3200320" indent="0" algn="ctr">
              <a:buNone/>
              <a:defRPr>
                <a:solidFill>
                  <a:schemeClr val="tx1">
                    <a:tint val="75000"/>
                  </a:schemeClr>
                </a:solidFill>
              </a:defRPr>
            </a:lvl8pPr>
            <a:lvl9pPr marL="3657509" indent="0" algn="ctr">
              <a:buNone/>
              <a:defRPr>
                <a:solidFill>
                  <a:schemeClr val="tx1">
                    <a:tint val="75000"/>
                  </a:schemeClr>
                </a:solidFill>
              </a:defRPr>
            </a:lvl9pPr>
          </a:lstStyle>
          <a:p>
            <a:r>
              <a:rPr lang="en-US"/>
              <a:t>Click to edit Master subtitle style</a:t>
            </a:r>
            <a:endParaRPr lang="en-US" dirty="0"/>
          </a:p>
        </p:txBody>
      </p:sp>
    </p:spTree>
    <p:extLst>
      <p:ext uri="{BB962C8B-B14F-4D97-AF65-F5344CB8AC3E}">
        <p14:creationId xmlns:p14="http://schemas.microsoft.com/office/powerpoint/2010/main" val="195916652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143000" y="1122363"/>
            <a:ext cx="6858000" cy="2387600"/>
          </a:xfrm>
        </p:spPr>
        <p:txBody>
          <a:bodyPr anchor="b"/>
          <a:lstStyle>
            <a:lvl1pPr algn="ctr">
              <a:defRPr sz="6000"/>
            </a:lvl1pPr>
          </a:lstStyle>
          <a:p>
            <a:r>
              <a:rPr lang="en-US"/>
              <a:t>Click to edit Master title style</a:t>
            </a:r>
            <a:endParaRPr lang="en-GB"/>
          </a:p>
        </p:txBody>
      </p:sp>
      <p:sp>
        <p:nvSpPr>
          <p:cNvPr id="3" name="Subtitle 2"/>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4" name="Date Placeholder 3"/>
          <p:cNvSpPr>
            <a:spLocks noGrp="1"/>
          </p:cNvSpPr>
          <p:nvPr>
            <p:ph type="dt" sz="half" idx="10"/>
          </p:nvPr>
        </p:nvSpPr>
        <p:spPr/>
        <p:txBody>
          <a:bodyPr/>
          <a:lstStyle/>
          <a:p>
            <a:fld id="{B595F713-2110-964B-A68E-481EBA276186}" type="datetimeFigureOut">
              <a:rPr lang="en-GB" smtClean="0"/>
              <a:t>19/01/2018</a:t>
            </a:fld>
            <a:endParaRPr lang="en-GB" dirty="0"/>
          </a:p>
        </p:txBody>
      </p:sp>
      <p:sp>
        <p:nvSpPr>
          <p:cNvPr id="5" name="Footer Placeholder 4"/>
          <p:cNvSpPr>
            <a:spLocks noGrp="1"/>
          </p:cNvSpPr>
          <p:nvPr>
            <p:ph type="ftr" sz="quarter" idx="11"/>
          </p:nvPr>
        </p:nvSpPr>
        <p:spPr/>
        <p:txBody>
          <a:bodyPr/>
          <a:lstStyle/>
          <a:p>
            <a:endParaRPr lang="en-GB" dirty="0"/>
          </a:p>
        </p:txBody>
      </p:sp>
      <p:sp>
        <p:nvSpPr>
          <p:cNvPr id="6" name="Slide Number Placeholder 5"/>
          <p:cNvSpPr>
            <a:spLocks noGrp="1"/>
          </p:cNvSpPr>
          <p:nvPr>
            <p:ph type="sldNum" sz="quarter" idx="12"/>
          </p:nvPr>
        </p:nvSpPr>
        <p:spPr/>
        <p:txBody>
          <a:bodyPr/>
          <a:lstStyle/>
          <a:p>
            <a:fld id="{402CBB9E-F5D3-6E40-A939-4B2058AA44B4}" type="slidenum">
              <a:rPr lang="en-GB" smtClean="0"/>
              <a:t>‹#›</a:t>
            </a:fld>
            <a:endParaRPr lang="en-GB" dirty="0"/>
          </a:p>
        </p:txBody>
      </p:sp>
    </p:spTree>
    <p:extLst>
      <p:ext uri="{BB962C8B-B14F-4D97-AF65-F5344CB8AC3E}">
        <p14:creationId xmlns:p14="http://schemas.microsoft.com/office/powerpoint/2010/main" val="19398703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p:cNvSpPr>
            <a:spLocks noGrp="1"/>
          </p:cNvSpPr>
          <p:nvPr>
            <p:ph type="dt" sz="half" idx="10"/>
          </p:nvPr>
        </p:nvSpPr>
        <p:spPr/>
        <p:txBody>
          <a:bodyPr/>
          <a:lstStyle/>
          <a:p>
            <a:fld id="{B595F713-2110-964B-A68E-481EBA276186}" type="datetimeFigureOut">
              <a:rPr lang="en-GB" smtClean="0"/>
              <a:t>19/01/2018</a:t>
            </a:fld>
            <a:endParaRPr lang="en-GB" dirty="0"/>
          </a:p>
        </p:txBody>
      </p:sp>
      <p:sp>
        <p:nvSpPr>
          <p:cNvPr id="5" name="Footer Placeholder 4"/>
          <p:cNvSpPr>
            <a:spLocks noGrp="1"/>
          </p:cNvSpPr>
          <p:nvPr>
            <p:ph type="ftr" sz="quarter" idx="11"/>
          </p:nvPr>
        </p:nvSpPr>
        <p:spPr/>
        <p:txBody>
          <a:bodyPr/>
          <a:lstStyle/>
          <a:p>
            <a:endParaRPr lang="en-GB" dirty="0"/>
          </a:p>
        </p:txBody>
      </p:sp>
      <p:sp>
        <p:nvSpPr>
          <p:cNvPr id="6" name="Slide Number Placeholder 5"/>
          <p:cNvSpPr>
            <a:spLocks noGrp="1"/>
          </p:cNvSpPr>
          <p:nvPr>
            <p:ph type="sldNum" sz="quarter" idx="12"/>
          </p:nvPr>
        </p:nvSpPr>
        <p:spPr/>
        <p:txBody>
          <a:bodyPr/>
          <a:lstStyle/>
          <a:p>
            <a:fld id="{402CBB9E-F5D3-6E40-A939-4B2058AA44B4}" type="slidenum">
              <a:rPr lang="en-GB" smtClean="0"/>
              <a:t>‹#›</a:t>
            </a:fld>
            <a:endParaRPr lang="en-GB" dirty="0"/>
          </a:p>
        </p:txBody>
      </p:sp>
    </p:spTree>
    <p:extLst>
      <p:ext uri="{BB962C8B-B14F-4D97-AF65-F5344CB8AC3E}">
        <p14:creationId xmlns:p14="http://schemas.microsoft.com/office/powerpoint/2010/main" val="45997152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8"/>
            <a:ext cx="7886700" cy="2852737"/>
          </a:xfrm>
        </p:spPr>
        <p:txBody>
          <a:bodyPr anchor="b"/>
          <a:lstStyle>
            <a:lvl1pPr>
              <a:defRPr sz="6000"/>
            </a:lvl1pPr>
          </a:lstStyle>
          <a:p>
            <a:r>
              <a:rPr lang="en-US"/>
              <a:t>Click to edit Master title style</a:t>
            </a:r>
            <a:endParaRPr lang="en-GB"/>
          </a:p>
        </p:txBody>
      </p:sp>
      <p:sp>
        <p:nvSpPr>
          <p:cNvPr id="3" name="Text Placeholder 2"/>
          <p:cNvSpPr>
            <a:spLocks noGrp="1"/>
          </p:cNvSpPr>
          <p:nvPr>
            <p:ph type="body" idx="1"/>
          </p:nvPr>
        </p:nvSpPr>
        <p:spPr>
          <a:xfrm>
            <a:off x="623888" y="4589463"/>
            <a:ext cx="78867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595F713-2110-964B-A68E-481EBA276186}" type="datetimeFigureOut">
              <a:rPr lang="en-GB" smtClean="0"/>
              <a:t>19/01/2018</a:t>
            </a:fld>
            <a:endParaRPr lang="en-GB" dirty="0"/>
          </a:p>
        </p:txBody>
      </p:sp>
      <p:sp>
        <p:nvSpPr>
          <p:cNvPr id="5" name="Footer Placeholder 4"/>
          <p:cNvSpPr>
            <a:spLocks noGrp="1"/>
          </p:cNvSpPr>
          <p:nvPr>
            <p:ph type="ftr" sz="quarter" idx="11"/>
          </p:nvPr>
        </p:nvSpPr>
        <p:spPr/>
        <p:txBody>
          <a:bodyPr/>
          <a:lstStyle/>
          <a:p>
            <a:endParaRPr lang="en-GB" dirty="0"/>
          </a:p>
        </p:txBody>
      </p:sp>
      <p:sp>
        <p:nvSpPr>
          <p:cNvPr id="6" name="Slide Number Placeholder 5"/>
          <p:cNvSpPr>
            <a:spLocks noGrp="1"/>
          </p:cNvSpPr>
          <p:nvPr>
            <p:ph type="sldNum" sz="quarter" idx="12"/>
          </p:nvPr>
        </p:nvSpPr>
        <p:spPr/>
        <p:txBody>
          <a:bodyPr/>
          <a:lstStyle/>
          <a:p>
            <a:fld id="{402CBB9E-F5D3-6E40-A939-4B2058AA44B4}" type="slidenum">
              <a:rPr lang="en-GB" smtClean="0"/>
              <a:t>‹#›</a:t>
            </a:fld>
            <a:endParaRPr lang="en-GB" dirty="0"/>
          </a:p>
        </p:txBody>
      </p:sp>
    </p:spTree>
    <p:extLst>
      <p:ext uri="{BB962C8B-B14F-4D97-AF65-F5344CB8AC3E}">
        <p14:creationId xmlns:p14="http://schemas.microsoft.com/office/powerpoint/2010/main" val="194769108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Content Placeholder 2"/>
          <p:cNvSpPr>
            <a:spLocks noGrp="1"/>
          </p:cNvSpPr>
          <p:nvPr>
            <p:ph sz="half" idx="1"/>
          </p:nvPr>
        </p:nvSpPr>
        <p:spPr>
          <a:xfrm>
            <a:off x="628650" y="1825625"/>
            <a:ext cx="386715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p:cNvSpPr>
            <a:spLocks noGrp="1"/>
          </p:cNvSpPr>
          <p:nvPr>
            <p:ph sz="half" idx="2"/>
          </p:nvPr>
        </p:nvSpPr>
        <p:spPr>
          <a:xfrm>
            <a:off x="4648200" y="1825625"/>
            <a:ext cx="386715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Date Placeholder 4"/>
          <p:cNvSpPr>
            <a:spLocks noGrp="1"/>
          </p:cNvSpPr>
          <p:nvPr>
            <p:ph type="dt" sz="half" idx="10"/>
          </p:nvPr>
        </p:nvSpPr>
        <p:spPr/>
        <p:txBody>
          <a:bodyPr/>
          <a:lstStyle/>
          <a:p>
            <a:fld id="{B595F713-2110-964B-A68E-481EBA276186}" type="datetimeFigureOut">
              <a:rPr lang="en-GB" smtClean="0"/>
              <a:t>19/01/2018</a:t>
            </a:fld>
            <a:endParaRPr lang="en-GB" dirty="0"/>
          </a:p>
        </p:txBody>
      </p:sp>
      <p:sp>
        <p:nvSpPr>
          <p:cNvPr id="6" name="Footer Placeholder 5"/>
          <p:cNvSpPr>
            <a:spLocks noGrp="1"/>
          </p:cNvSpPr>
          <p:nvPr>
            <p:ph type="ftr" sz="quarter" idx="11"/>
          </p:nvPr>
        </p:nvSpPr>
        <p:spPr/>
        <p:txBody>
          <a:bodyPr/>
          <a:lstStyle/>
          <a:p>
            <a:endParaRPr lang="en-GB" dirty="0"/>
          </a:p>
        </p:txBody>
      </p:sp>
      <p:sp>
        <p:nvSpPr>
          <p:cNvPr id="7" name="Slide Number Placeholder 6"/>
          <p:cNvSpPr>
            <a:spLocks noGrp="1"/>
          </p:cNvSpPr>
          <p:nvPr>
            <p:ph type="sldNum" sz="quarter" idx="12"/>
          </p:nvPr>
        </p:nvSpPr>
        <p:spPr/>
        <p:txBody>
          <a:bodyPr/>
          <a:lstStyle/>
          <a:p>
            <a:fld id="{402CBB9E-F5D3-6E40-A939-4B2058AA44B4}" type="slidenum">
              <a:rPr lang="en-GB" smtClean="0"/>
              <a:t>‹#›</a:t>
            </a:fld>
            <a:endParaRPr lang="en-GB" dirty="0"/>
          </a:p>
        </p:txBody>
      </p:sp>
    </p:spTree>
    <p:extLst>
      <p:ext uri="{BB962C8B-B14F-4D97-AF65-F5344CB8AC3E}">
        <p14:creationId xmlns:p14="http://schemas.microsoft.com/office/powerpoint/2010/main" val="75086798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30238" y="365125"/>
            <a:ext cx="7886700" cy="1325563"/>
          </a:xfrm>
        </p:spPr>
        <p:txBody>
          <a:bodyPr/>
          <a:lstStyle/>
          <a:p>
            <a:r>
              <a:rPr lang="en-US"/>
              <a:t>Click to edit Master title style</a:t>
            </a:r>
            <a:endParaRPr lang="en-GB"/>
          </a:p>
        </p:txBody>
      </p:sp>
      <p:sp>
        <p:nvSpPr>
          <p:cNvPr id="3" name="Text Placeholder 2"/>
          <p:cNvSpPr>
            <a:spLocks noGrp="1"/>
          </p:cNvSpPr>
          <p:nvPr>
            <p:ph type="body" idx="1"/>
          </p:nvPr>
        </p:nvSpPr>
        <p:spPr>
          <a:xfrm>
            <a:off x="630238" y="1681163"/>
            <a:ext cx="386873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30238" y="2505075"/>
            <a:ext cx="386873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Text Placeholder 4"/>
          <p:cNvSpPr>
            <a:spLocks noGrp="1"/>
          </p:cNvSpPr>
          <p:nvPr>
            <p:ph type="body" sz="quarter" idx="3"/>
          </p:nvPr>
        </p:nvSpPr>
        <p:spPr>
          <a:xfrm>
            <a:off x="4629150" y="1681163"/>
            <a:ext cx="38877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29150" y="2505075"/>
            <a:ext cx="38877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7" name="Date Placeholder 6"/>
          <p:cNvSpPr>
            <a:spLocks noGrp="1"/>
          </p:cNvSpPr>
          <p:nvPr>
            <p:ph type="dt" sz="half" idx="10"/>
          </p:nvPr>
        </p:nvSpPr>
        <p:spPr/>
        <p:txBody>
          <a:bodyPr/>
          <a:lstStyle/>
          <a:p>
            <a:fld id="{B595F713-2110-964B-A68E-481EBA276186}" type="datetimeFigureOut">
              <a:rPr lang="en-GB" smtClean="0"/>
              <a:t>19/01/2018</a:t>
            </a:fld>
            <a:endParaRPr lang="en-GB" dirty="0"/>
          </a:p>
        </p:txBody>
      </p:sp>
      <p:sp>
        <p:nvSpPr>
          <p:cNvPr id="8" name="Footer Placeholder 7"/>
          <p:cNvSpPr>
            <a:spLocks noGrp="1"/>
          </p:cNvSpPr>
          <p:nvPr>
            <p:ph type="ftr" sz="quarter" idx="11"/>
          </p:nvPr>
        </p:nvSpPr>
        <p:spPr/>
        <p:txBody>
          <a:bodyPr/>
          <a:lstStyle/>
          <a:p>
            <a:endParaRPr lang="en-GB" dirty="0"/>
          </a:p>
        </p:txBody>
      </p:sp>
      <p:sp>
        <p:nvSpPr>
          <p:cNvPr id="9" name="Slide Number Placeholder 8"/>
          <p:cNvSpPr>
            <a:spLocks noGrp="1"/>
          </p:cNvSpPr>
          <p:nvPr>
            <p:ph type="sldNum" sz="quarter" idx="12"/>
          </p:nvPr>
        </p:nvSpPr>
        <p:spPr/>
        <p:txBody>
          <a:bodyPr/>
          <a:lstStyle/>
          <a:p>
            <a:fld id="{402CBB9E-F5D3-6E40-A939-4B2058AA44B4}" type="slidenum">
              <a:rPr lang="en-GB" smtClean="0"/>
              <a:t>‹#›</a:t>
            </a:fld>
            <a:endParaRPr lang="en-GB" dirty="0"/>
          </a:p>
        </p:txBody>
      </p:sp>
    </p:spTree>
    <p:extLst>
      <p:ext uri="{BB962C8B-B14F-4D97-AF65-F5344CB8AC3E}">
        <p14:creationId xmlns:p14="http://schemas.microsoft.com/office/powerpoint/2010/main" val="122436454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Date Placeholder 2"/>
          <p:cNvSpPr>
            <a:spLocks noGrp="1"/>
          </p:cNvSpPr>
          <p:nvPr>
            <p:ph type="dt" sz="half" idx="10"/>
          </p:nvPr>
        </p:nvSpPr>
        <p:spPr/>
        <p:txBody>
          <a:bodyPr/>
          <a:lstStyle/>
          <a:p>
            <a:fld id="{B595F713-2110-964B-A68E-481EBA276186}" type="datetimeFigureOut">
              <a:rPr lang="en-GB" smtClean="0"/>
              <a:t>19/01/2018</a:t>
            </a:fld>
            <a:endParaRPr lang="en-GB" dirty="0"/>
          </a:p>
        </p:txBody>
      </p:sp>
      <p:sp>
        <p:nvSpPr>
          <p:cNvPr id="4" name="Footer Placeholder 3"/>
          <p:cNvSpPr>
            <a:spLocks noGrp="1"/>
          </p:cNvSpPr>
          <p:nvPr>
            <p:ph type="ftr" sz="quarter" idx="11"/>
          </p:nvPr>
        </p:nvSpPr>
        <p:spPr/>
        <p:txBody>
          <a:bodyPr/>
          <a:lstStyle/>
          <a:p>
            <a:endParaRPr lang="en-GB" dirty="0"/>
          </a:p>
        </p:txBody>
      </p:sp>
      <p:sp>
        <p:nvSpPr>
          <p:cNvPr id="5" name="Slide Number Placeholder 4"/>
          <p:cNvSpPr>
            <a:spLocks noGrp="1"/>
          </p:cNvSpPr>
          <p:nvPr>
            <p:ph type="sldNum" sz="quarter" idx="12"/>
          </p:nvPr>
        </p:nvSpPr>
        <p:spPr/>
        <p:txBody>
          <a:bodyPr/>
          <a:lstStyle/>
          <a:p>
            <a:fld id="{402CBB9E-F5D3-6E40-A939-4B2058AA44B4}" type="slidenum">
              <a:rPr lang="en-GB" smtClean="0"/>
              <a:t>‹#›</a:t>
            </a:fld>
            <a:endParaRPr lang="en-GB" dirty="0"/>
          </a:p>
        </p:txBody>
      </p:sp>
    </p:spTree>
    <p:extLst>
      <p:ext uri="{BB962C8B-B14F-4D97-AF65-F5344CB8AC3E}">
        <p14:creationId xmlns:p14="http://schemas.microsoft.com/office/powerpoint/2010/main" val="70658545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595F713-2110-964B-A68E-481EBA276186}" type="datetimeFigureOut">
              <a:rPr lang="en-GB" smtClean="0"/>
              <a:t>19/01/2018</a:t>
            </a:fld>
            <a:endParaRPr lang="en-GB" dirty="0"/>
          </a:p>
        </p:txBody>
      </p:sp>
      <p:sp>
        <p:nvSpPr>
          <p:cNvPr id="3" name="Footer Placeholder 2"/>
          <p:cNvSpPr>
            <a:spLocks noGrp="1"/>
          </p:cNvSpPr>
          <p:nvPr>
            <p:ph type="ftr" sz="quarter" idx="11"/>
          </p:nvPr>
        </p:nvSpPr>
        <p:spPr/>
        <p:txBody>
          <a:bodyPr/>
          <a:lstStyle/>
          <a:p>
            <a:endParaRPr lang="en-GB" dirty="0"/>
          </a:p>
        </p:txBody>
      </p:sp>
      <p:sp>
        <p:nvSpPr>
          <p:cNvPr id="4" name="Slide Number Placeholder 3"/>
          <p:cNvSpPr>
            <a:spLocks noGrp="1"/>
          </p:cNvSpPr>
          <p:nvPr>
            <p:ph type="sldNum" sz="quarter" idx="12"/>
          </p:nvPr>
        </p:nvSpPr>
        <p:spPr/>
        <p:txBody>
          <a:bodyPr/>
          <a:lstStyle/>
          <a:p>
            <a:fld id="{402CBB9E-F5D3-6E40-A939-4B2058AA44B4}" type="slidenum">
              <a:rPr lang="en-GB" smtClean="0"/>
              <a:t>‹#›</a:t>
            </a:fld>
            <a:endParaRPr lang="en-GB" dirty="0"/>
          </a:p>
        </p:txBody>
      </p:sp>
    </p:spTree>
    <p:extLst>
      <p:ext uri="{BB962C8B-B14F-4D97-AF65-F5344CB8AC3E}">
        <p14:creationId xmlns:p14="http://schemas.microsoft.com/office/powerpoint/2010/main" val="214464111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30238" y="457200"/>
            <a:ext cx="2949575" cy="1600200"/>
          </a:xfrm>
        </p:spPr>
        <p:txBody>
          <a:bodyPr anchor="b"/>
          <a:lstStyle>
            <a:lvl1pPr>
              <a:defRPr sz="3200"/>
            </a:lvl1pPr>
          </a:lstStyle>
          <a:p>
            <a:r>
              <a:rPr lang="en-US"/>
              <a:t>Click to edit Master title style</a:t>
            </a:r>
            <a:endParaRPr lang="en-GB"/>
          </a:p>
        </p:txBody>
      </p:sp>
      <p:sp>
        <p:nvSpPr>
          <p:cNvPr id="3" name="Content Placeholder 2"/>
          <p:cNvSpPr>
            <a:spLocks noGrp="1"/>
          </p:cNvSpPr>
          <p:nvPr>
            <p:ph idx="1"/>
          </p:nvPr>
        </p:nvSpPr>
        <p:spPr>
          <a:xfrm>
            <a:off x="3887788" y="987425"/>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Text Placeholder 3"/>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B595F713-2110-964B-A68E-481EBA276186}" type="datetimeFigureOut">
              <a:rPr lang="en-GB" smtClean="0"/>
              <a:t>19/01/2018</a:t>
            </a:fld>
            <a:endParaRPr lang="en-GB" dirty="0"/>
          </a:p>
        </p:txBody>
      </p:sp>
      <p:sp>
        <p:nvSpPr>
          <p:cNvPr id="6" name="Footer Placeholder 5"/>
          <p:cNvSpPr>
            <a:spLocks noGrp="1"/>
          </p:cNvSpPr>
          <p:nvPr>
            <p:ph type="ftr" sz="quarter" idx="11"/>
          </p:nvPr>
        </p:nvSpPr>
        <p:spPr/>
        <p:txBody>
          <a:bodyPr/>
          <a:lstStyle/>
          <a:p>
            <a:endParaRPr lang="en-GB" dirty="0"/>
          </a:p>
        </p:txBody>
      </p:sp>
      <p:sp>
        <p:nvSpPr>
          <p:cNvPr id="7" name="Slide Number Placeholder 6"/>
          <p:cNvSpPr>
            <a:spLocks noGrp="1"/>
          </p:cNvSpPr>
          <p:nvPr>
            <p:ph type="sldNum" sz="quarter" idx="12"/>
          </p:nvPr>
        </p:nvSpPr>
        <p:spPr/>
        <p:txBody>
          <a:bodyPr/>
          <a:lstStyle/>
          <a:p>
            <a:fld id="{402CBB9E-F5D3-6E40-A939-4B2058AA44B4}" type="slidenum">
              <a:rPr lang="en-GB" smtClean="0"/>
              <a:t>‹#›</a:t>
            </a:fld>
            <a:endParaRPr lang="en-GB" dirty="0"/>
          </a:p>
        </p:txBody>
      </p:sp>
    </p:spTree>
    <p:extLst>
      <p:ext uri="{BB962C8B-B14F-4D97-AF65-F5344CB8AC3E}">
        <p14:creationId xmlns:p14="http://schemas.microsoft.com/office/powerpoint/2010/main" val="161768855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30238" y="457200"/>
            <a:ext cx="2949575" cy="1600200"/>
          </a:xfrm>
        </p:spPr>
        <p:txBody>
          <a:bodyPr anchor="b"/>
          <a:lstStyle>
            <a:lvl1pPr>
              <a:defRPr sz="3200"/>
            </a:lvl1pPr>
          </a:lstStyle>
          <a:p>
            <a:r>
              <a:rPr lang="en-US"/>
              <a:t>Click to edit Master title style</a:t>
            </a:r>
            <a:endParaRPr lang="en-GB"/>
          </a:p>
        </p:txBody>
      </p:sp>
      <p:sp>
        <p:nvSpPr>
          <p:cNvPr id="3" name="Picture Placeholder 2"/>
          <p:cNvSpPr>
            <a:spLocks noGrp="1"/>
          </p:cNvSpPr>
          <p:nvPr>
            <p:ph type="pic" idx="1"/>
          </p:nvPr>
        </p:nvSpPr>
        <p:spPr>
          <a:xfrm>
            <a:off x="3887788" y="987425"/>
            <a:ext cx="462915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GB" dirty="0"/>
          </a:p>
        </p:txBody>
      </p:sp>
      <p:sp>
        <p:nvSpPr>
          <p:cNvPr id="4" name="Text Placeholder 3"/>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B595F713-2110-964B-A68E-481EBA276186}" type="datetimeFigureOut">
              <a:rPr lang="en-GB" smtClean="0"/>
              <a:t>19/01/2018</a:t>
            </a:fld>
            <a:endParaRPr lang="en-GB" dirty="0"/>
          </a:p>
        </p:txBody>
      </p:sp>
      <p:sp>
        <p:nvSpPr>
          <p:cNvPr id="6" name="Footer Placeholder 5"/>
          <p:cNvSpPr>
            <a:spLocks noGrp="1"/>
          </p:cNvSpPr>
          <p:nvPr>
            <p:ph type="ftr" sz="quarter" idx="11"/>
          </p:nvPr>
        </p:nvSpPr>
        <p:spPr/>
        <p:txBody>
          <a:bodyPr/>
          <a:lstStyle/>
          <a:p>
            <a:endParaRPr lang="en-GB" dirty="0"/>
          </a:p>
        </p:txBody>
      </p:sp>
      <p:sp>
        <p:nvSpPr>
          <p:cNvPr id="7" name="Slide Number Placeholder 6"/>
          <p:cNvSpPr>
            <a:spLocks noGrp="1"/>
          </p:cNvSpPr>
          <p:nvPr>
            <p:ph type="sldNum" sz="quarter" idx="12"/>
          </p:nvPr>
        </p:nvSpPr>
        <p:spPr/>
        <p:txBody>
          <a:bodyPr/>
          <a:lstStyle/>
          <a:p>
            <a:fld id="{402CBB9E-F5D3-6E40-A939-4B2058AA44B4}" type="slidenum">
              <a:rPr lang="en-GB" smtClean="0"/>
              <a:t>‹#›</a:t>
            </a:fld>
            <a:endParaRPr lang="en-GB" dirty="0"/>
          </a:p>
        </p:txBody>
      </p:sp>
    </p:spTree>
    <p:extLst>
      <p:ext uri="{BB962C8B-B14F-4D97-AF65-F5344CB8AC3E}">
        <p14:creationId xmlns:p14="http://schemas.microsoft.com/office/powerpoint/2010/main" val="134860647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p:cNvSpPr>
            <a:spLocks noGrp="1"/>
          </p:cNvSpPr>
          <p:nvPr>
            <p:ph type="dt" sz="half" idx="10"/>
          </p:nvPr>
        </p:nvSpPr>
        <p:spPr/>
        <p:txBody>
          <a:bodyPr/>
          <a:lstStyle/>
          <a:p>
            <a:fld id="{B595F713-2110-964B-A68E-481EBA276186}" type="datetimeFigureOut">
              <a:rPr lang="en-GB" smtClean="0"/>
              <a:t>19/01/2018</a:t>
            </a:fld>
            <a:endParaRPr lang="en-GB" dirty="0"/>
          </a:p>
        </p:txBody>
      </p:sp>
      <p:sp>
        <p:nvSpPr>
          <p:cNvPr id="5" name="Footer Placeholder 4"/>
          <p:cNvSpPr>
            <a:spLocks noGrp="1"/>
          </p:cNvSpPr>
          <p:nvPr>
            <p:ph type="ftr" sz="quarter" idx="11"/>
          </p:nvPr>
        </p:nvSpPr>
        <p:spPr/>
        <p:txBody>
          <a:bodyPr/>
          <a:lstStyle/>
          <a:p>
            <a:endParaRPr lang="en-GB" dirty="0"/>
          </a:p>
        </p:txBody>
      </p:sp>
      <p:sp>
        <p:nvSpPr>
          <p:cNvPr id="6" name="Slide Number Placeholder 5"/>
          <p:cNvSpPr>
            <a:spLocks noGrp="1"/>
          </p:cNvSpPr>
          <p:nvPr>
            <p:ph type="sldNum" sz="quarter" idx="12"/>
          </p:nvPr>
        </p:nvSpPr>
        <p:spPr/>
        <p:txBody>
          <a:bodyPr/>
          <a:lstStyle/>
          <a:p>
            <a:fld id="{402CBB9E-F5D3-6E40-A939-4B2058AA44B4}" type="slidenum">
              <a:rPr lang="en-GB" smtClean="0"/>
              <a:t>‹#›</a:t>
            </a:fld>
            <a:endParaRPr lang="en-GB" dirty="0"/>
          </a:p>
        </p:txBody>
      </p:sp>
    </p:spTree>
    <p:extLst>
      <p:ext uri="{BB962C8B-B14F-4D97-AF65-F5344CB8AC3E}">
        <p14:creationId xmlns:p14="http://schemas.microsoft.com/office/powerpoint/2010/main" val="148668211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365125"/>
            <a:ext cx="1971675" cy="5811838"/>
          </a:xfrm>
        </p:spPr>
        <p:txBody>
          <a:bodyPr vert="eaVert"/>
          <a:lstStyle/>
          <a:p>
            <a:r>
              <a:rPr lang="en-US"/>
              <a:t>Click to edit Master title style</a:t>
            </a:r>
            <a:endParaRPr lang="en-GB"/>
          </a:p>
        </p:txBody>
      </p:sp>
      <p:sp>
        <p:nvSpPr>
          <p:cNvPr id="3" name="Vertical Text Placeholder 2"/>
          <p:cNvSpPr>
            <a:spLocks noGrp="1"/>
          </p:cNvSpPr>
          <p:nvPr>
            <p:ph type="body" orient="vert" idx="1"/>
          </p:nvPr>
        </p:nvSpPr>
        <p:spPr>
          <a:xfrm>
            <a:off x="628650" y="365125"/>
            <a:ext cx="5762625"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p:cNvSpPr>
            <a:spLocks noGrp="1"/>
          </p:cNvSpPr>
          <p:nvPr>
            <p:ph type="dt" sz="half" idx="10"/>
          </p:nvPr>
        </p:nvSpPr>
        <p:spPr/>
        <p:txBody>
          <a:bodyPr/>
          <a:lstStyle/>
          <a:p>
            <a:fld id="{B595F713-2110-964B-A68E-481EBA276186}" type="datetimeFigureOut">
              <a:rPr lang="en-GB" smtClean="0"/>
              <a:t>19/01/2018</a:t>
            </a:fld>
            <a:endParaRPr lang="en-GB" dirty="0"/>
          </a:p>
        </p:txBody>
      </p:sp>
      <p:sp>
        <p:nvSpPr>
          <p:cNvPr id="5" name="Footer Placeholder 4"/>
          <p:cNvSpPr>
            <a:spLocks noGrp="1"/>
          </p:cNvSpPr>
          <p:nvPr>
            <p:ph type="ftr" sz="quarter" idx="11"/>
          </p:nvPr>
        </p:nvSpPr>
        <p:spPr/>
        <p:txBody>
          <a:bodyPr/>
          <a:lstStyle/>
          <a:p>
            <a:endParaRPr lang="en-GB" dirty="0"/>
          </a:p>
        </p:txBody>
      </p:sp>
      <p:sp>
        <p:nvSpPr>
          <p:cNvPr id="6" name="Slide Number Placeholder 5"/>
          <p:cNvSpPr>
            <a:spLocks noGrp="1"/>
          </p:cNvSpPr>
          <p:nvPr>
            <p:ph type="sldNum" sz="quarter" idx="12"/>
          </p:nvPr>
        </p:nvSpPr>
        <p:spPr/>
        <p:txBody>
          <a:bodyPr/>
          <a:lstStyle/>
          <a:p>
            <a:fld id="{402CBB9E-F5D3-6E40-A939-4B2058AA44B4}" type="slidenum">
              <a:rPr lang="en-GB" smtClean="0"/>
              <a:t>‹#›</a:t>
            </a:fld>
            <a:endParaRPr lang="en-GB" dirty="0"/>
          </a:p>
        </p:txBody>
      </p:sp>
    </p:spTree>
    <p:extLst>
      <p:ext uri="{BB962C8B-B14F-4D97-AF65-F5344CB8AC3E}">
        <p14:creationId xmlns:p14="http://schemas.microsoft.com/office/powerpoint/2010/main" val="694073960"/>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143000" y="1122363"/>
            <a:ext cx="6858000" cy="2387600"/>
          </a:xfrm>
        </p:spPr>
        <p:txBody>
          <a:bodyPr anchor="b"/>
          <a:lstStyle>
            <a:lvl1pPr algn="ctr">
              <a:defRPr sz="4500"/>
            </a:lvl1pPr>
          </a:lstStyle>
          <a:p>
            <a:r>
              <a:rPr lang="en-US"/>
              <a:t>Click to edit Master title style</a:t>
            </a:r>
            <a:endParaRPr lang="en-GB"/>
          </a:p>
        </p:txBody>
      </p:sp>
      <p:sp>
        <p:nvSpPr>
          <p:cNvPr id="3" name="Subtitle 2"/>
          <p:cNvSpPr>
            <a:spLocks noGrp="1"/>
          </p:cNvSpPr>
          <p:nvPr>
            <p:ph type="subTitle" idx="1"/>
          </p:nvPr>
        </p:nvSpPr>
        <p:spPr>
          <a:xfrm>
            <a:off x="1143000" y="3602038"/>
            <a:ext cx="6858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Click to edit Master subtitle style</a:t>
            </a:r>
            <a:endParaRPr lang="en-GB"/>
          </a:p>
        </p:txBody>
      </p:sp>
      <p:sp>
        <p:nvSpPr>
          <p:cNvPr id="4" name="Date Placeholder 3"/>
          <p:cNvSpPr>
            <a:spLocks noGrp="1"/>
          </p:cNvSpPr>
          <p:nvPr>
            <p:ph type="dt" sz="half" idx="10"/>
          </p:nvPr>
        </p:nvSpPr>
        <p:spPr/>
        <p:txBody>
          <a:bodyPr/>
          <a:lstStyle/>
          <a:p>
            <a:fld id="{B595F713-2110-964B-A68E-481EBA276186}" type="datetimeFigureOut">
              <a:rPr lang="en-GB" smtClean="0"/>
              <a:t>19/01/2018</a:t>
            </a:fld>
            <a:endParaRPr lang="en-GB" dirty="0"/>
          </a:p>
        </p:txBody>
      </p:sp>
      <p:sp>
        <p:nvSpPr>
          <p:cNvPr id="5" name="Footer Placeholder 4"/>
          <p:cNvSpPr>
            <a:spLocks noGrp="1"/>
          </p:cNvSpPr>
          <p:nvPr>
            <p:ph type="ftr" sz="quarter" idx="11"/>
          </p:nvPr>
        </p:nvSpPr>
        <p:spPr/>
        <p:txBody>
          <a:bodyPr/>
          <a:lstStyle/>
          <a:p>
            <a:endParaRPr lang="en-GB" dirty="0"/>
          </a:p>
        </p:txBody>
      </p:sp>
      <p:sp>
        <p:nvSpPr>
          <p:cNvPr id="6" name="Slide Number Placeholder 5"/>
          <p:cNvSpPr>
            <a:spLocks noGrp="1"/>
          </p:cNvSpPr>
          <p:nvPr>
            <p:ph type="sldNum" sz="quarter" idx="12"/>
          </p:nvPr>
        </p:nvSpPr>
        <p:spPr/>
        <p:txBody>
          <a:bodyPr/>
          <a:lstStyle/>
          <a:p>
            <a:fld id="{402CBB9E-F5D3-6E40-A939-4B2058AA44B4}" type="slidenum">
              <a:rPr lang="en-GB" smtClean="0"/>
              <a:t>‹#›</a:t>
            </a:fld>
            <a:endParaRPr lang="en-GB" dirty="0"/>
          </a:p>
        </p:txBody>
      </p:sp>
    </p:spTree>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2400"/>
            </a:lvl1pPr>
          </a:lstStyle>
          <a:p>
            <a:r>
              <a:rPr lang="en-US"/>
              <a:t>Click to edit Master title style</a:t>
            </a:r>
            <a:endParaRPr lang="en-GB"/>
          </a:p>
        </p:txBody>
      </p:sp>
      <p:sp>
        <p:nvSpPr>
          <p:cNvPr id="3" name="Picture Placeholder 2"/>
          <p:cNvSpPr>
            <a:spLocks noGrp="1"/>
          </p:cNvSpPr>
          <p:nvPr>
            <p:ph type="pic" idx="1"/>
          </p:nvPr>
        </p:nvSpPr>
        <p:spPr>
          <a:xfrm>
            <a:off x="3887391" y="987426"/>
            <a:ext cx="4629150" cy="4873625"/>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en-US" dirty="0"/>
              <a:t>Drag picture to placeholder or click icon to add</a:t>
            </a:r>
            <a:endParaRPr lang="en-GB"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p:cNvSpPr>
            <a:spLocks noGrp="1"/>
          </p:cNvSpPr>
          <p:nvPr>
            <p:ph type="dt" sz="half" idx="10"/>
          </p:nvPr>
        </p:nvSpPr>
        <p:spPr/>
        <p:txBody>
          <a:bodyPr/>
          <a:lstStyle/>
          <a:p>
            <a:fld id="{B595F713-2110-964B-A68E-481EBA276186}" type="datetimeFigureOut">
              <a:rPr lang="en-GB" smtClean="0"/>
              <a:t>19/01/2018</a:t>
            </a:fld>
            <a:endParaRPr lang="en-GB" dirty="0"/>
          </a:p>
        </p:txBody>
      </p:sp>
      <p:sp>
        <p:nvSpPr>
          <p:cNvPr id="6" name="Footer Placeholder 5"/>
          <p:cNvSpPr>
            <a:spLocks noGrp="1"/>
          </p:cNvSpPr>
          <p:nvPr>
            <p:ph type="ftr" sz="quarter" idx="11"/>
          </p:nvPr>
        </p:nvSpPr>
        <p:spPr/>
        <p:txBody>
          <a:bodyPr/>
          <a:lstStyle/>
          <a:p>
            <a:endParaRPr lang="en-GB" dirty="0"/>
          </a:p>
        </p:txBody>
      </p:sp>
      <p:sp>
        <p:nvSpPr>
          <p:cNvPr id="7" name="Slide Number Placeholder 6"/>
          <p:cNvSpPr>
            <a:spLocks noGrp="1"/>
          </p:cNvSpPr>
          <p:nvPr>
            <p:ph type="sldNum" sz="quarter" idx="12"/>
          </p:nvPr>
        </p:nvSpPr>
        <p:spPr/>
        <p:txBody>
          <a:bodyPr/>
          <a:lstStyle/>
          <a:p>
            <a:fld id="{402CBB9E-F5D3-6E40-A939-4B2058AA44B4}" type="slidenum">
              <a:rPr lang="en-GB" smtClean="0"/>
              <a:t>‹#›</a:t>
            </a:fld>
            <a:endParaRPr lang="en-GB" dirty="0"/>
          </a:p>
        </p:txBody>
      </p:sp>
    </p:spTree>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p:cNvSpPr>
            <a:spLocks noGrp="1"/>
          </p:cNvSpPr>
          <p:nvPr>
            <p:ph type="dt" sz="half" idx="10"/>
          </p:nvPr>
        </p:nvSpPr>
        <p:spPr/>
        <p:txBody>
          <a:bodyPr/>
          <a:lstStyle/>
          <a:p>
            <a:fld id="{B595F713-2110-964B-A68E-481EBA276186}" type="datetimeFigureOut">
              <a:rPr lang="en-GB" smtClean="0"/>
              <a:t>19/01/2018</a:t>
            </a:fld>
            <a:endParaRPr lang="en-GB" dirty="0"/>
          </a:p>
        </p:txBody>
      </p:sp>
      <p:sp>
        <p:nvSpPr>
          <p:cNvPr id="5" name="Footer Placeholder 4"/>
          <p:cNvSpPr>
            <a:spLocks noGrp="1"/>
          </p:cNvSpPr>
          <p:nvPr>
            <p:ph type="ftr" sz="quarter" idx="11"/>
          </p:nvPr>
        </p:nvSpPr>
        <p:spPr/>
        <p:txBody>
          <a:bodyPr/>
          <a:lstStyle/>
          <a:p>
            <a:endParaRPr lang="en-GB" dirty="0"/>
          </a:p>
        </p:txBody>
      </p:sp>
      <p:sp>
        <p:nvSpPr>
          <p:cNvPr id="6" name="Slide Number Placeholder 5"/>
          <p:cNvSpPr>
            <a:spLocks noGrp="1"/>
          </p:cNvSpPr>
          <p:nvPr>
            <p:ph type="sldNum" sz="quarter" idx="12"/>
          </p:nvPr>
        </p:nvSpPr>
        <p:spPr/>
        <p:txBody>
          <a:bodyPr/>
          <a:lstStyle/>
          <a:p>
            <a:fld id="{402CBB9E-F5D3-6E40-A939-4B2058AA44B4}" type="slidenum">
              <a:rPr lang="en-GB" smtClean="0"/>
              <a:t>‹#›</a:t>
            </a:fld>
            <a:endParaRPr lang="en-GB" dirty="0"/>
          </a:p>
        </p:txBody>
      </p:sp>
    </p:spTree>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365125"/>
            <a:ext cx="1971675" cy="5811838"/>
          </a:xfrm>
        </p:spPr>
        <p:txBody>
          <a:bodyPr vert="eaVert"/>
          <a:lstStyle/>
          <a:p>
            <a:r>
              <a:rPr lang="en-US"/>
              <a:t>Click to edit Master title style</a:t>
            </a:r>
            <a:endParaRPr lang="en-GB"/>
          </a:p>
        </p:txBody>
      </p:sp>
      <p:sp>
        <p:nvSpPr>
          <p:cNvPr id="3" name="Vertical Text Placeholder 2"/>
          <p:cNvSpPr>
            <a:spLocks noGrp="1"/>
          </p:cNvSpPr>
          <p:nvPr>
            <p:ph type="body" orient="vert" idx="1"/>
          </p:nvPr>
        </p:nvSpPr>
        <p:spPr>
          <a:xfrm>
            <a:off x="628650" y="365125"/>
            <a:ext cx="5800725"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p:cNvSpPr>
            <a:spLocks noGrp="1"/>
          </p:cNvSpPr>
          <p:nvPr>
            <p:ph type="dt" sz="half" idx="10"/>
          </p:nvPr>
        </p:nvSpPr>
        <p:spPr/>
        <p:txBody>
          <a:bodyPr/>
          <a:lstStyle/>
          <a:p>
            <a:fld id="{B595F713-2110-964B-A68E-481EBA276186}" type="datetimeFigureOut">
              <a:rPr lang="en-GB" smtClean="0"/>
              <a:t>19/01/2018</a:t>
            </a:fld>
            <a:endParaRPr lang="en-GB" dirty="0"/>
          </a:p>
        </p:txBody>
      </p:sp>
      <p:sp>
        <p:nvSpPr>
          <p:cNvPr id="5" name="Footer Placeholder 4"/>
          <p:cNvSpPr>
            <a:spLocks noGrp="1"/>
          </p:cNvSpPr>
          <p:nvPr>
            <p:ph type="ftr" sz="quarter" idx="11"/>
          </p:nvPr>
        </p:nvSpPr>
        <p:spPr/>
        <p:txBody>
          <a:bodyPr/>
          <a:lstStyle/>
          <a:p>
            <a:endParaRPr lang="en-GB" dirty="0"/>
          </a:p>
        </p:txBody>
      </p:sp>
      <p:sp>
        <p:nvSpPr>
          <p:cNvPr id="6" name="Slide Number Placeholder 5"/>
          <p:cNvSpPr>
            <a:spLocks noGrp="1"/>
          </p:cNvSpPr>
          <p:nvPr>
            <p:ph type="sldNum" sz="quarter" idx="12"/>
          </p:nvPr>
        </p:nvSpPr>
        <p:spPr/>
        <p:txBody>
          <a:bodyPr/>
          <a:lstStyle/>
          <a:p>
            <a:fld id="{402CBB9E-F5D3-6E40-A939-4B2058AA44B4}" type="slidenum">
              <a:rPr lang="en-GB" smtClean="0"/>
              <a:t>‹#›</a:t>
            </a:fld>
            <a:endParaRPr lang="en-GB" dirty="0"/>
          </a:p>
        </p:txBody>
      </p:sp>
    </p:spTree>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355600" y="1257300"/>
            <a:ext cx="8458200" cy="749300"/>
          </a:xfrm>
        </p:spPr>
        <p:txBody>
          <a:bodyPr/>
          <a:lstStyle>
            <a:lvl1pPr algn="l">
              <a:defRPr/>
            </a:lvl1pPr>
          </a:lstStyle>
          <a:p>
            <a:r>
              <a:rPr lang="en-US"/>
              <a:t>Click to edit Master title style</a:t>
            </a:r>
            <a:endParaRPr lang="en-US" dirty="0"/>
          </a:p>
        </p:txBody>
      </p:sp>
      <p:sp>
        <p:nvSpPr>
          <p:cNvPr id="3" name="Content Placeholder 2"/>
          <p:cNvSpPr>
            <a:spLocks noGrp="1"/>
          </p:cNvSpPr>
          <p:nvPr>
            <p:ph idx="1"/>
          </p:nvPr>
        </p:nvSpPr>
        <p:spPr>
          <a:xfrm>
            <a:off x="355600" y="2133600"/>
            <a:ext cx="8458200" cy="4165600"/>
          </a:xfrm>
        </p:spPr>
        <p:txBody>
          <a:bodyPr/>
          <a:lstStyle>
            <a:lvl1pPr>
              <a:defRPr>
                <a:latin typeface="News Gothic MT"/>
                <a:cs typeface="News Gothic MT"/>
              </a:defRPr>
            </a:lvl1pPr>
            <a:lvl2pPr>
              <a:defRPr>
                <a:latin typeface="News Gothic MT"/>
                <a:cs typeface="News Gothic MT"/>
              </a:defRPr>
            </a:lvl2pPr>
            <a:lvl3pPr>
              <a:defRPr>
                <a:latin typeface="News Gothic MT"/>
                <a:cs typeface="News Gothic MT"/>
              </a:defRPr>
            </a:lvl3pPr>
            <a:lvl4pPr>
              <a:defRPr>
                <a:latin typeface="News Gothic MT"/>
                <a:cs typeface="News Gothic MT"/>
              </a:defRPr>
            </a:lvl4pPr>
            <a:lvl5pPr>
              <a:defRPr>
                <a:latin typeface="News Gothic MT"/>
                <a:cs typeface="News Gothic M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a:xfrm>
            <a:off x="457200" y="6356354"/>
            <a:ext cx="2133600" cy="365125"/>
          </a:xfrm>
          <a:prstGeom prst="rect">
            <a:avLst/>
          </a:prstGeom>
        </p:spPr>
        <p:txBody>
          <a:bodyPr/>
          <a:lstStyle/>
          <a:p>
            <a:fld id="{B595F713-2110-964B-A68E-481EBA276186}" type="datetimeFigureOut">
              <a:rPr lang="en-GB" smtClean="0"/>
              <a:t>19/01/2018</a:t>
            </a:fld>
            <a:endParaRPr lang="en-GB" dirty="0"/>
          </a:p>
        </p:txBody>
      </p:sp>
      <p:sp>
        <p:nvSpPr>
          <p:cNvPr id="3" name="Footer Placeholder 2"/>
          <p:cNvSpPr>
            <a:spLocks noGrp="1"/>
          </p:cNvSpPr>
          <p:nvPr>
            <p:ph type="ftr" sz="quarter" idx="11"/>
          </p:nvPr>
        </p:nvSpPr>
        <p:spPr>
          <a:xfrm>
            <a:off x="3124200" y="6356354"/>
            <a:ext cx="2895600" cy="365125"/>
          </a:xfrm>
          <a:prstGeom prst="rect">
            <a:avLst/>
          </a:prstGeom>
        </p:spPr>
        <p:txBody>
          <a:bodyPr/>
          <a:lstStyle/>
          <a:p>
            <a:endParaRPr lang="en-GB" dirty="0"/>
          </a:p>
        </p:txBody>
      </p:sp>
      <p:sp>
        <p:nvSpPr>
          <p:cNvPr id="4" name="Slide Number Placeholder 3"/>
          <p:cNvSpPr>
            <a:spLocks noGrp="1"/>
          </p:cNvSpPr>
          <p:nvPr>
            <p:ph type="sldNum" sz="quarter" idx="12"/>
          </p:nvPr>
        </p:nvSpPr>
        <p:spPr>
          <a:xfrm>
            <a:off x="6553200" y="6356354"/>
            <a:ext cx="2133600" cy="365125"/>
          </a:xfrm>
          <a:prstGeom prst="rect">
            <a:avLst/>
          </a:prstGeom>
        </p:spPr>
        <p:txBody>
          <a:bodyPr/>
          <a:lstStyle/>
          <a:p>
            <a:fld id="{402CBB9E-F5D3-6E40-A939-4B2058AA44B4}" type="slidenum">
              <a:rPr lang="en-GB" smtClean="0"/>
              <a:t>‹#›</a:t>
            </a:fld>
            <a:endParaRPr lang="en-GB" dirty="0"/>
          </a:p>
        </p:txBody>
      </p:sp>
    </p:spTree>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tx">
  <p:cSld name="Default">
    <p:spTree>
      <p:nvGrpSpPr>
        <p:cNvPr id="1" name=""/>
        <p:cNvGrpSpPr/>
        <p:nvPr/>
      </p:nvGrpSpPr>
      <p:grpSpPr>
        <a:xfrm>
          <a:off x="0" y="0"/>
          <a:ext cx="0" cy="0"/>
          <a:chOff x="0" y="0"/>
          <a:chExt cx="0" cy="0"/>
        </a:xfrm>
      </p:grpSpPr>
      <p:sp>
        <p:nvSpPr>
          <p:cNvPr id="6" name="Shape 6"/>
          <p:cNvSpPr>
            <a:spLocks noGrp="1"/>
          </p:cNvSpPr>
          <p:nvPr>
            <p:ph type="title"/>
          </p:nvPr>
        </p:nvSpPr>
        <p:spPr>
          <a:xfrm>
            <a:off x="457200" y="92079"/>
            <a:ext cx="8229600" cy="1508125"/>
          </a:xfrm>
          <a:prstGeom prst="rect">
            <a:avLst/>
          </a:prstGeom>
        </p:spPr>
        <p:txBody>
          <a:bodyPr lIns="0" tIns="0" rIns="0" bIns="0">
            <a:noAutofit/>
          </a:bodyPr>
          <a:lstStyle>
            <a:lvl1pPr>
              <a:defRPr sz="4425">
                <a:latin typeface="Gill Sans"/>
                <a:ea typeface="Gill Sans"/>
                <a:cs typeface="Gill Sans"/>
                <a:sym typeface="Gill Sans"/>
              </a:defRPr>
            </a:lvl1pPr>
          </a:lstStyle>
          <a:p>
            <a:pPr lvl="0">
              <a:defRPr sz="1800"/>
            </a:pPr>
            <a:r>
              <a:rPr lang="en-US" sz="4425"/>
              <a:t>Click to edit Master title style</a:t>
            </a:r>
            <a:endParaRPr sz="4425"/>
          </a:p>
        </p:txBody>
      </p:sp>
      <p:sp>
        <p:nvSpPr>
          <p:cNvPr id="7" name="Shape 7"/>
          <p:cNvSpPr>
            <a:spLocks noGrp="1"/>
          </p:cNvSpPr>
          <p:nvPr>
            <p:ph type="body" idx="1"/>
          </p:nvPr>
        </p:nvSpPr>
        <p:spPr>
          <a:xfrm>
            <a:off x="457200" y="1600200"/>
            <a:ext cx="8229600" cy="5257800"/>
          </a:xfrm>
          <a:prstGeom prst="rect">
            <a:avLst/>
          </a:prstGeom>
        </p:spPr>
        <p:txBody>
          <a:bodyPr>
            <a:noAutofit/>
          </a:bodyPr>
          <a:lstStyle>
            <a:lvl1pPr marL="0" indent="0" algn="ctr">
              <a:spcBef>
                <a:spcPts val="2475"/>
              </a:spcBef>
              <a:buSzTx/>
              <a:buFontTx/>
              <a:buNone/>
              <a:defRPr>
                <a:latin typeface="Gill Sans"/>
                <a:ea typeface="Gill Sans"/>
                <a:cs typeface="Gill Sans"/>
                <a:sym typeface="Gill Sans"/>
              </a:defRPr>
            </a:lvl1pPr>
            <a:lvl2pPr marL="0" indent="240506" algn="ctr">
              <a:spcBef>
                <a:spcPts val="2475"/>
              </a:spcBef>
              <a:buSzTx/>
              <a:buFontTx/>
              <a:buNone/>
              <a:defRPr>
                <a:latin typeface="Gill Sans"/>
                <a:ea typeface="Gill Sans"/>
                <a:cs typeface="Gill Sans"/>
                <a:sym typeface="Gill Sans"/>
              </a:defRPr>
            </a:lvl2pPr>
            <a:lvl3pPr marL="0" indent="481013" algn="ctr">
              <a:spcBef>
                <a:spcPts val="2475"/>
              </a:spcBef>
              <a:buSzTx/>
              <a:buFontTx/>
              <a:buNone/>
              <a:defRPr>
                <a:latin typeface="Gill Sans"/>
                <a:ea typeface="Gill Sans"/>
                <a:cs typeface="Gill Sans"/>
                <a:sym typeface="Gill Sans"/>
              </a:defRPr>
            </a:lvl3pPr>
            <a:lvl4pPr marL="0" indent="722709" algn="ctr">
              <a:spcBef>
                <a:spcPts val="2475"/>
              </a:spcBef>
              <a:buSzTx/>
              <a:buFontTx/>
              <a:buNone/>
              <a:defRPr>
                <a:latin typeface="Gill Sans"/>
                <a:ea typeface="Gill Sans"/>
                <a:cs typeface="Gill Sans"/>
                <a:sym typeface="Gill Sans"/>
              </a:defRPr>
            </a:lvl4pPr>
            <a:lvl5pPr marL="0" indent="963215" algn="ctr">
              <a:spcBef>
                <a:spcPts val="2475"/>
              </a:spcBef>
              <a:buSzTx/>
              <a:buFontTx/>
              <a:buNone/>
              <a:defRPr>
                <a:latin typeface="Gill Sans"/>
                <a:ea typeface="Gill Sans"/>
                <a:cs typeface="Gill Sans"/>
                <a:sym typeface="Gill Sans"/>
              </a:defRPr>
            </a:lvl5pPr>
          </a:lstStyle>
          <a:p>
            <a:pPr lvl="0">
              <a:defRPr sz="1800"/>
            </a:pPr>
            <a:r>
              <a:rPr lang="en-US" sz="2250"/>
              <a:t>Click to edit Master text styles</a:t>
            </a:r>
          </a:p>
          <a:p>
            <a:pPr lvl="1">
              <a:defRPr sz="1800"/>
            </a:pPr>
            <a:r>
              <a:rPr lang="en-US" sz="2250"/>
              <a:t>Second level</a:t>
            </a:r>
          </a:p>
          <a:p>
            <a:pPr lvl="2">
              <a:defRPr sz="1800"/>
            </a:pPr>
            <a:r>
              <a:rPr lang="en-US" sz="2250"/>
              <a:t>Third level</a:t>
            </a:r>
          </a:p>
          <a:p>
            <a:pPr lvl="3">
              <a:defRPr sz="1800"/>
            </a:pPr>
            <a:r>
              <a:rPr lang="en-US" sz="2250"/>
              <a:t>Fourth level</a:t>
            </a:r>
          </a:p>
          <a:p>
            <a:pPr lvl="4">
              <a:defRPr sz="1800"/>
            </a:pPr>
            <a:r>
              <a:rPr lang="en-US" sz="2250"/>
              <a:t>Fifth level</a:t>
            </a:r>
            <a:endParaRPr sz="2250"/>
          </a:p>
        </p:txBody>
      </p:sp>
    </p:spTree>
    <p:extLst/>
  </p:cSld>
  <p:clrMapOvr>
    <a:masterClrMapping/>
  </p:clrMapOvr>
  <p:transition spd="med"/>
</p:sldLayout>
</file>

<file path=ppt/slideLayouts/slideLayout22.xml><?xml version="1.0" encoding="utf-8"?>
<p:sldLayout xmlns:a="http://schemas.openxmlformats.org/drawingml/2006/main" xmlns:r="http://schemas.openxmlformats.org/officeDocument/2006/relationships" xmlns:p="http://schemas.openxmlformats.org/presentationml/2006/main">
  <p:cSld name="1_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79400" y="2130427"/>
            <a:ext cx="8572500" cy="1470025"/>
          </a:xfrm>
          <a:prstGeom prst="rect">
            <a:avLst/>
          </a:prstGeom>
        </p:spPr>
        <p:txBody>
          <a:bodyPr/>
          <a:lstStyle/>
          <a:p>
            <a:r>
              <a:rPr lang="en-US"/>
              <a:t>Click to edit Master title style</a:t>
            </a:r>
            <a:endParaRPr lang="en-US" dirty="0"/>
          </a:p>
        </p:txBody>
      </p:sp>
      <p:sp>
        <p:nvSpPr>
          <p:cNvPr id="3" name="Subtitle 2"/>
          <p:cNvSpPr>
            <a:spLocks noGrp="1"/>
          </p:cNvSpPr>
          <p:nvPr>
            <p:ph type="subTitle" idx="1"/>
          </p:nvPr>
        </p:nvSpPr>
        <p:spPr>
          <a:xfrm>
            <a:off x="279400" y="3886200"/>
            <a:ext cx="8572500" cy="1752600"/>
          </a:xfrm>
          <a:prstGeom prst="rect">
            <a:avLst/>
          </a:prstGeom>
        </p:spPr>
        <p:txBody>
          <a:bodyPr/>
          <a:lstStyle>
            <a:lvl1pPr marL="0" indent="0" algn="ctr">
              <a:buNone/>
              <a:defRPr>
                <a:solidFill>
                  <a:schemeClr val="tx1">
                    <a:tint val="75000"/>
                  </a:schemeClr>
                </a:solidFill>
                <a:latin typeface="News Gothic MT"/>
                <a:cs typeface="News Gothic MT"/>
              </a:defRPr>
            </a:lvl1pPr>
            <a:lvl2pPr marL="457189" indent="0" algn="ctr">
              <a:buNone/>
              <a:defRPr>
                <a:solidFill>
                  <a:schemeClr val="tx1">
                    <a:tint val="75000"/>
                  </a:schemeClr>
                </a:solidFill>
              </a:defRPr>
            </a:lvl2pPr>
            <a:lvl3pPr marL="914378" indent="0" algn="ctr">
              <a:buNone/>
              <a:defRPr>
                <a:solidFill>
                  <a:schemeClr val="tx1">
                    <a:tint val="75000"/>
                  </a:schemeClr>
                </a:solidFill>
              </a:defRPr>
            </a:lvl3pPr>
            <a:lvl4pPr marL="1371566" indent="0" algn="ctr">
              <a:buNone/>
              <a:defRPr>
                <a:solidFill>
                  <a:schemeClr val="tx1">
                    <a:tint val="75000"/>
                  </a:schemeClr>
                </a:solidFill>
              </a:defRPr>
            </a:lvl4pPr>
            <a:lvl5pPr marL="1828754" indent="0" algn="ctr">
              <a:buNone/>
              <a:defRPr>
                <a:solidFill>
                  <a:schemeClr val="tx1">
                    <a:tint val="75000"/>
                  </a:schemeClr>
                </a:solidFill>
              </a:defRPr>
            </a:lvl5pPr>
            <a:lvl6pPr marL="2285943" indent="0" algn="ctr">
              <a:buNone/>
              <a:defRPr>
                <a:solidFill>
                  <a:schemeClr val="tx1">
                    <a:tint val="75000"/>
                  </a:schemeClr>
                </a:solidFill>
              </a:defRPr>
            </a:lvl6pPr>
            <a:lvl7pPr marL="2743132" indent="0" algn="ctr">
              <a:buNone/>
              <a:defRPr>
                <a:solidFill>
                  <a:schemeClr val="tx1">
                    <a:tint val="75000"/>
                  </a:schemeClr>
                </a:solidFill>
              </a:defRPr>
            </a:lvl7pPr>
            <a:lvl8pPr marL="3200320" indent="0" algn="ctr">
              <a:buNone/>
              <a:defRPr>
                <a:solidFill>
                  <a:schemeClr val="tx1">
                    <a:tint val="75000"/>
                  </a:schemeClr>
                </a:solidFill>
              </a:defRPr>
            </a:lvl8pPr>
            <a:lvl9pPr marL="3657509" indent="0" algn="ctr">
              <a:buNone/>
              <a:defRPr>
                <a:solidFill>
                  <a:schemeClr val="tx1">
                    <a:tint val="75000"/>
                  </a:schemeClr>
                </a:solidFill>
              </a:defRPr>
            </a:lvl9pPr>
          </a:lstStyle>
          <a:p>
            <a:r>
              <a:rPr lang="en-US"/>
              <a:t>Click to edit Master subtitle style</a:t>
            </a:r>
            <a:endParaRPr lang="en-US" dirty="0"/>
          </a:p>
        </p:txBody>
      </p:sp>
    </p:spTree>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cSld name="1_Default">
    <p:spTree>
      <p:nvGrpSpPr>
        <p:cNvPr id="1" name=""/>
        <p:cNvGrpSpPr/>
        <p:nvPr/>
      </p:nvGrpSpPr>
      <p:grpSpPr>
        <a:xfrm>
          <a:off x="0" y="0"/>
          <a:ext cx="0" cy="0"/>
          <a:chOff x="0" y="0"/>
          <a:chExt cx="0" cy="0"/>
        </a:xfrm>
      </p:grpSpPr>
    </p:spTree>
    <p:extLst/>
  </p:cSld>
  <p:clrMapOvr>
    <a:masterClrMapping/>
  </p:clrMapOvr>
  <p:transition spd="med"/>
</p:sldLayout>
</file>

<file path=ppt/slideLayouts/slideLayout24.xml><?xml version="1.0" encoding="utf-8"?>
<p:sldLayout xmlns:a="http://schemas.openxmlformats.org/drawingml/2006/main" xmlns:r="http://schemas.openxmlformats.org/officeDocument/2006/relationships" xmlns:p="http://schemas.openxmlformats.org/presentationml/2006/main">
  <p:cSld name="2_Default">
    <p:spTree>
      <p:nvGrpSpPr>
        <p:cNvPr id="1" name=""/>
        <p:cNvGrpSpPr/>
        <p:nvPr/>
      </p:nvGrpSpPr>
      <p:grpSpPr>
        <a:xfrm>
          <a:off x="0" y="0"/>
          <a:ext cx="0" cy="0"/>
          <a:chOff x="0" y="0"/>
          <a:chExt cx="0" cy="0"/>
        </a:xfrm>
      </p:grpSpPr>
    </p:spTree>
    <p:extLst/>
  </p:cSld>
  <p:clrMapOvr>
    <a:masterClrMapping/>
  </p:clrMapOvr>
  <p:transition spd="med"/>
</p:sldLayout>
</file>

<file path=ppt/slideLayouts/slideLayout25.xml><?xml version="1.0" encoding="utf-8"?>
<p:sldLayout xmlns:a="http://schemas.openxmlformats.org/drawingml/2006/main" xmlns:r="http://schemas.openxmlformats.org/officeDocument/2006/relationships" xmlns:p="http://schemas.openxmlformats.org/presentationml/2006/main">
  <p:cSld name="3_Default">
    <p:spTree>
      <p:nvGrpSpPr>
        <p:cNvPr id="1" name=""/>
        <p:cNvGrpSpPr/>
        <p:nvPr/>
      </p:nvGrpSpPr>
      <p:grpSpPr>
        <a:xfrm>
          <a:off x="0" y="0"/>
          <a:ext cx="0" cy="0"/>
          <a:chOff x="0" y="0"/>
          <a:chExt cx="0" cy="0"/>
        </a:xfrm>
      </p:grpSpPr>
    </p:spTree>
    <p:extLst/>
  </p:cSld>
  <p:clrMapOvr>
    <a:masterClrMapping/>
  </p:clrMapOvr>
  <p:transition spd="med"/>
</p:sldLayout>
</file>

<file path=ppt/slideLayouts/slideLayout26.xml><?xml version="1.0" encoding="utf-8"?>
<p:sldLayout xmlns:a="http://schemas.openxmlformats.org/drawingml/2006/main" xmlns:r="http://schemas.openxmlformats.org/officeDocument/2006/relationships" xmlns:p="http://schemas.openxmlformats.org/presentationml/2006/main">
  <p:cSld name="1_Picture with Caption">
    <p:spTree>
      <p:nvGrpSpPr>
        <p:cNvPr id="1" name=""/>
        <p:cNvGrpSpPr/>
        <p:nvPr/>
      </p:nvGrpSpPr>
      <p:grpSpPr>
        <a:xfrm>
          <a:off x="0" y="0"/>
          <a:ext cx="0" cy="0"/>
          <a:chOff x="0" y="0"/>
          <a:chExt cx="0" cy="0"/>
        </a:xfrm>
      </p:grpSpPr>
    </p:spTree>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cSld name="2_Picture with Caption">
    <p:spTree>
      <p:nvGrpSpPr>
        <p:cNvPr id="1" name=""/>
        <p:cNvGrpSpPr/>
        <p:nvPr/>
      </p:nvGrpSpPr>
      <p:grpSpPr>
        <a:xfrm>
          <a:off x="0" y="0"/>
          <a:ext cx="0" cy="0"/>
          <a:chOff x="0" y="0"/>
          <a:chExt cx="0" cy="0"/>
        </a:xfrm>
      </p:grpSpPr>
    </p:spTree>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cSld name="4_Picture with Caption">
    <p:spTree>
      <p:nvGrpSpPr>
        <p:cNvPr id="1" name=""/>
        <p:cNvGrpSpPr/>
        <p:nvPr/>
      </p:nvGrpSpPr>
      <p:grpSpPr>
        <a:xfrm>
          <a:off x="0" y="0"/>
          <a:ext cx="0" cy="0"/>
          <a:chOff x="0" y="0"/>
          <a:chExt cx="0" cy="0"/>
        </a:xfrm>
      </p:grpSpPr>
    </p:spTree>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cSld name="3_Picture with Caption">
    <p:spTree>
      <p:nvGrpSpPr>
        <p:cNvPr id="1" name=""/>
        <p:cNvGrpSpPr/>
        <p:nvPr/>
      </p:nvGrpSpPr>
      <p:grpSpPr>
        <a:xfrm>
          <a:off x="0" y="0"/>
          <a:ext cx="0" cy="0"/>
          <a:chOff x="0" y="0"/>
          <a:chExt cx="0" cy="0"/>
        </a:xfrm>
      </p:grpSpPr>
    </p:spTree>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titleOnly">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a:xfrm>
            <a:off x="628650" y="6356353"/>
            <a:ext cx="2057400" cy="365125"/>
          </a:xfrm>
          <a:prstGeom prst="rect">
            <a:avLst/>
          </a:prstGeom>
        </p:spPr>
        <p:txBody>
          <a:bodyPr/>
          <a:lstStyle/>
          <a:p>
            <a:fld id="{B595F713-2110-964B-A68E-481EBA276186}" type="datetimeFigureOut">
              <a:rPr lang="en-GB" smtClean="0"/>
              <a:t>19/01/2018</a:t>
            </a:fld>
            <a:endParaRPr lang="en-GB" dirty="0"/>
          </a:p>
        </p:txBody>
      </p:sp>
      <p:sp>
        <p:nvSpPr>
          <p:cNvPr id="4" name="Footer Placeholder 3"/>
          <p:cNvSpPr>
            <a:spLocks noGrp="1"/>
          </p:cNvSpPr>
          <p:nvPr>
            <p:ph type="ftr" sz="quarter" idx="11"/>
          </p:nvPr>
        </p:nvSpPr>
        <p:spPr>
          <a:xfrm>
            <a:off x="3028950" y="6356353"/>
            <a:ext cx="3086100" cy="365125"/>
          </a:xfrm>
          <a:prstGeom prst="rect">
            <a:avLst/>
          </a:prstGeom>
        </p:spPr>
        <p:txBody>
          <a:bodyPr/>
          <a:lstStyle/>
          <a:p>
            <a:endParaRPr lang="en-GB" dirty="0"/>
          </a:p>
        </p:txBody>
      </p:sp>
      <p:sp>
        <p:nvSpPr>
          <p:cNvPr id="5" name="Slide Number Placeholder 4"/>
          <p:cNvSpPr>
            <a:spLocks noGrp="1"/>
          </p:cNvSpPr>
          <p:nvPr>
            <p:ph type="sldNum" sz="quarter" idx="12"/>
          </p:nvPr>
        </p:nvSpPr>
        <p:spPr>
          <a:xfrm>
            <a:off x="6457950" y="6356353"/>
            <a:ext cx="2057400" cy="365125"/>
          </a:xfrm>
          <a:prstGeom prst="rect">
            <a:avLst/>
          </a:prstGeom>
        </p:spPr>
        <p:txBody>
          <a:bodyPr/>
          <a:lstStyle/>
          <a:p>
            <a:fld id="{402CBB9E-F5D3-6E40-A939-4B2058AA44B4}" type="slidenum">
              <a:rPr lang="en-GB" smtClean="0"/>
              <a:t>‹#›</a:t>
            </a:fld>
            <a:endParaRPr lang="en-GB" dirty="0"/>
          </a:p>
        </p:txBody>
      </p:sp>
    </p:spTree>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5" Type="http://schemas.openxmlformats.org/officeDocument/2006/relationships/image" Target="../media/image1.jpeg"/><Relationship Id="rId4"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1.xml"/><Relationship Id="rId3" Type="http://schemas.openxmlformats.org/officeDocument/2006/relationships/slideLayout" Target="../slideLayouts/slideLayout6.xml"/><Relationship Id="rId7" Type="http://schemas.openxmlformats.org/officeDocument/2006/relationships/slideLayout" Target="../slideLayouts/slideLayout10.xml"/><Relationship Id="rId12" Type="http://schemas.openxmlformats.org/officeDocument/2006/relationships/theme" Target="../theme/theme2.xml"/><Relationship Id="rId2" Type="http://schemas.openxmlformats.org/officeDocument/2006/relationships/slideLayout" Target="../slideLayouts/slideLayout5.xml"/><Relationship Id="rId1" Type="http://schemas.openxmlformats.org/officeDocument/2006/relationships/slideLayout" Target="../slideLayouts/slideLayout4.xml"/><Relationship Id="rId6" Type="http://schemas.openxmlformats.org/officeDocument/2006/relationships/slideLayout" Target="../slideLayouts/slideLayout9.xml"/><Relationship Id="rId11" Type="http://schemas.openxmlformats.org/officeDocument/2006/relationships/slideLayout" Target="../slideLayouts/slideLayout14.xml"/><Relationship Id="rId5" Type="http://schemas.openxmlformats.org/officeDocument/2006/relationships/slideLayout" Target="../slideLayouts/slideLayout8.xml"/><Relationship Id="rId10" Type="http://schemas.openxmlformats.org/officeDocument/2006/relationships/slideLayout" Target="../slideLayouts/slideLayout13.xml"/><Relationship Id="rId4" Type="http://schemas.openxmlformats.org/officeDocument/2006/relationships/slideLayout" Target="../slideLayouts/slideLayout7.xml"/><Relationship Id="rId9" Type="http://schemas.openxmlformats.org/officeDocument/2006/relationships/slideLayout" Target="../slideLayouts/slideLayout12.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22.xml"/><Relationship Id="rId13" Type="http://schemas.openxmlformats.org/officeDocument/2006/relationships/slideLayout" Target="../slideLayouts/slideLayout27.xml"/><Relationship Id="rId18" Type="http://schemas.openxmlformats.org/officeDocument/2006/relationships/image" Target="../media/image2.jpeg"/><Relationship Id="rId3" Type="http://schemas.openxmlformats.org/officeDocument/2006/relationships/slideLayout" Target="../slideLayouts/slideLayout17.xml"/><Relationship Id="rId7" Type="http://schemas.openxmlformats.org/officeDocument/2006/relationships/slideLayout" Target="../slideLayouts/slideLayout21.xml"/><Relationship Id="rId12" Type="http://schemas.openxmlformats.org/officeDocument/2006/relationships/slideLayout" Target="../slideLayouts/slideLayout26.xml"/><Relationship Id="rId17" Type="http://schemas.openxmlformats.org/officeDocument/2006/relationships/theme" Target="../theme/theme3.xml"/><Relationship Id="rId2" Type="http://schemas.openxmlformats.org/officeDocument/2006/relationships/slideLayout" Target="../slideLayouts/slideLayout16.xml"/><Relationship Id="rId16" Type="http://schemas.openxmlformats.org/officeDocument/2006/relationships/slideLayout" Target="../slideLayouts/slideLayout30.xml"/><Relationship Id="rId1" Type="http://schemas.openxmlformats.org/officeDocument/2006/relationships/slideLayout" Target="../slideLayouts/slideLayout15.xml"/><Relationship Id="rId6" Type="http://schemas.openxmlformats.org/officeDocument/2006/relationships/slideLayout" Target="../slideLayouts/slideLayout20.xml"/><Relationship Id="rId11" Type="http://schemas.openxmlformats.org/officeDocument/2006/relationships/slideLayout" Target="../slideLayouts/slideLayout25.xml"/><Relationship Id="rId5" Type="http://schemas.openxmlformats.org/officeDocument/2006/relationships/slideLayout" Target="../slideLayouts/slideLayout19.xml"/><Relationship Id="rId15" Type="http://schemas.openxmlformats.org/officeDocument/2006/relationships/slideLayout" Target="../slideLayouts/slideLayout29.xml"/><Relationship Id="rId10" Type="http://schemas.openxmlformats.org/officeDocument/2006/relationships/slideLayout" Target="../slideLayouts/slideLayout24.xml"/><Relationship Id="rId19" Type="http://schemas.openxmlformats.org/officeDocument/2006/relationships/image" Target="../media/image3.jpeg"/><Relationship Id="rId4" Type="http://schemas.openxmlformats.org/officeDocument/2006/relationships/slideLayout" Target="../slideLayouts/slideLayout18.xml"/><Relationship Id="rId9" Type="http://schemas.openxmlformats.org/officeDocument/2006/relationships/slideLayout" Target="../slideLayouts/slideLayout23.xml"/><Relationship Id="rId14" Type="http://schemas.openxmlformats.org/officeDocument/2006/relationships/slideLayout" Target="../slideLayouts/slideLayout28.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99FF99"/>
        </a:solidFill>
        <a:effectLst/>
      </p:bgPr>
    </p:bg>
    <p:spTree>
      <p:nvGrpSpPr>
        <p:cNvPr id="1" name=""/>
        <p:cNvGrpSpPr/>
        <p:nvPr/>
      </p:nvGrpSpPr>
      <p:grpSpPr>
        <a:xfrm>
          <a:off x="0" y="0"/>
          <a:ext cx="0" cy="0"/>
          <a:chOff x="0" y="0"/>
          <a:chExt cx="0" cy="0"/>
        </a:xfrm>
      </p:grpSpPr>
      <p:pic>
        <p:nvPicPr>
          <p:cNvPr id="11" name="Picture 10" descr="pixl ppt back generic 2015.jpg"/>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2" name="Title Placeholder 1"/>
          <p:cNvSpPr>
            <a:spLocks noGrp="1"/>
          </p:cNvSpPr>
          <p:nvPr>
            <p:ph type="title"/>
          </p:nvPr>
        </p:nvSpPr>
        <p:spPr>
          <a:xfrm>
            <a:off x="27938" y="774701"/>
            <a:ext cx="9116061" cy="2082800"/>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17429" y="2996952"/>
            <a:ext cx="9126570" cy="3456384"/>
          </a:xfrm>
          <a:prstGeom prst="rect">
            <a:avLst/>
          </a:prstGeom>
        </p:spPr>
        <p:txBody>
          <a:bodyPr vert="horz" lIns="91440" tIns="45720" rIns="91440" bIns="45720" rtlCol="0">
            <a:normAutofit/>
          </a:bodyPr>
          <a:lstStyle/>
          <a:p>
            <a:pPr lvl="0"/>
            <a:r>
              <a:rPr lang="en-US" dirty="0"/>
              <a:t>Click to edit Master text styles</a:t>
            </a:r>
          </a:p>
          <a:p>
            <a:pPr lvl="1"/>
            <a:r>
              <a:rPr lang="en-US" dirty="0"/>
              <a:t>Second </a:t>
            </a:r>
            <a:r>
              <a:rPr lang="en-US" dirty="0" err="1"/>
              <a:t>hkhkjh</a:t>
            </a:r>
            <a:endParaRPr lang="en-US" dirty="0"/>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2411791036"/>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92" r:id="rId3"/>
  </p:sldLayoutIdLst>
  <p:txStyles>
    <p:titleStyle>
      <a:lvl1pPr algn="l" defTabSz="342900" rtl="0" eaLnBrk="1" latinLnBrk="0" hangingPunct="1">
        <a:spcBef>
          <a:spcPct val="0"/>
        </a:spcBef>
        <a:buNone/>
        <a:defRPr sz="3300" kern="1200">
          <a:solidFill>
            <a:schemeClr val="tx1"/>
          </a:solidFill>
          <a:latin typeface="+mj-lt"/>
          <a:ea typeface="+mj-ea"/>
          <a:cs typeface="Lato Medium"/>
        </a:defRPr>
      </a:lvl1pPr>
    </p:titleStyle>
    <p:bodyStyle>
      <a:lvl1pPr marL="257175" indent="-257175" algn="l" defTabSz="342900" rtl="0" eaLnBrk="1" latinLnBrk="0" hangingPunct="1">
        <a:spcBef>
          <a:spcPct val="20000"/>
        </a:spcBef>
        <a:buFont typeface="Arial"/>
        <a:buChar char="•"/>
        <a:defRPr sz="2400" kern="1200">
          <a:solidFill>
            <a:schemeClr val="tx1"/>
          </a:solidFill>
          <a:latin typeface="+mn-lt"/>
          <a:ea typeface="+mn-ea"/>
          <a:cs typeface="News Gothic MT"/>
        </a:defRPr>
      </a:lvl1pPr>
      <a:lvl2pPr marL="557213" indent="-214313" algn="l" defTabSz="342900" rtl="0" eaLnBrk="1" latinLnBrk="0" hangingPunct="1">
        <a:spcBef>
          <a:spcPct val="20000"/>
        </a:spcBef>
        <a:buFont typeface="Arial"/>
        <a:buChar char="–"/>
        <a:defRPr sz="2100" kern="1200">
          <a:solidFill>
            <a:schemeClr val="tx1"/>
          </a:solidFill>
          <a:latin typeface="+mn-lt"/>
          <a:ea typeface="+mn-ea"/>
          <a:cs typeface="News Gothic MT"/>
        </a:defRPr>
      </a:lvl2pPr>
      <a:lvl3pPr marL="857250" indent="-171450" algn="l" defTabSz="342900" rtl="0" eaLnBrk="1" latinLnBrk="0" hangingPunct="1">
        <a:spcBef>
          <a:spcPct val="20000"/>
        </a:spcBef>
        <a:buFont typeface="Arial"/>
        <a:buChar char="•"/>
        <a:defRPr sz="1800" kern="1200">
          <a:solidFill>
            <a:schemeClr val="tx1"/>
          </a:solidFill>
          <a:latin typeface="+mn-lt"/>
          <a:ea typeface="+mn-ea"/>
          <a:cs typeface="News Gothic MT"/>
        </a:defRPr>
      </a:lvl3pPr>
      <a:lvl4pPr marL="1200150" indent="-171450" algn="l" defTabSz="342900" rtl="0" eaLnBrk="1" latinLnBrk="0" hangingPunct="1">
        <a:spcBef>
          <a:spcPct val="20000"/>
        </a:spcBef>
        <a:buFont typeface="Arial"/>
        <a:buChar char="–"/>
        <a:defRPr sz="1500" kern="1200">
          <a:solidFill>
            <a:schemeClr val="tx1"/>
          </a:solidFill>
          <a:latin typeface="+mn-lt"/>
          <a:ea typeface="+mn-ea"/>
          <a:cs typeface="News Gothic MT"/>
        </a:defRPr>
      </a:lvl4pPr>
      <a:lvl5pPr marL="1543050" indent="-171450" algn="l" defTabSz="342900" rtl="0" eaLnBrk="1" latinLnBrk="0" hangingPunct="1">
        <a:spcBef>
          <a:spcPct val="20000"/>
        </a:spcBef>
        <a:buFont typeface="Arial"/>
        <a:buChar char="»"/>
        <a:defRPr sz="1500" kern="1200">
          <a:solidFill>
            <a:schemeClr val="tx1"/>
          </a:solidFill>
          <a:latin typeface="+mn-lt"/>
          <a:ea typeface="+mn-ea"/>
          <a:cs typeface="News Gothic MT"/>
        </a:defRPr>
      </a:lvl5pPr>
      <a:lvl6pPr marL="1885950" indent="-171450" algn="l" defTabSz="342900" rtl="0" eaLnBrk="1" latinLnBrk="0" hangingPunct="1">
        <a:spcBef>
          <a:spcPct val="20000"/>
        </a:spcBef>
        <a:buFont typeface="Arial"/>
        <a:buChar char="•"/>
        <a:defRPr sz="1500" kern="1200">
          <a:solidFill>
            <a:schemeClr val="tx1"/>
          </a:solidFill>
          <a:latin typeface="+mn-lt"/>
          <a:ea typeface="+mn-ea"/>
          <a:cs typeface="+mn-cs"/>
        </a:defRPr>
      </a:lvl6pPr>
      <a:lvl7pPr marL="2228850" indent="-171450" algn="l" defTabSz="342900" rtl="0" eaLnBrk="1" latinLnBrk="0" hangingPunct="1">
        <a:spcBef>
          <a:spcPct val="20000"/>
        </a:spcBef>
        <a:buFont typeface="Arial"/>
        <a:buChar char="•"/>
        <a:defRPr sz="1500" kern="1200">
          <a:solidFill>
            <a:schemeClr val="tx1"/>
          </a:solidFill>
          <a:latin typeface="+mn-lt"/>
          <a:ea typeface="+mn-ea"/>
          <a:cs typeface="+mn-cs"/>
        </a:defRPr>
      </a:lvl7pPr>
      <a:lvl8pPr marL="2571750" indent="-171450" algn="l" defTabSz="342900" rtl="0" eaLnBrk="1" latinLnBrk="0" hangingPunct="1">
        <a:spcBef>
          <a:spcPct val="20000"/>
        </a:spcBef>
        <a:buFont typeface="Arial"/>
        <a:buChar char="•"/>
        <a:defRPr sz="1500" kern="1200">
          <a:solidFill>
            <a:schemeClr val="tx1"/>
          </a:solidFill>
          <a:latin typeface="+mn-lt"/>
          <a:ea typeface="+mn-ea"/>
          <a:cs typeface="+mn-cs"/>
        </a:defRPr>
      </a:lvl8pPr>
      <a:lvl9pPr marL="2914650" indent="-171450" algn="l" defTabSz="342900" rtl="0" eaLnBrk="1" latinLnBrk="0" hangingPunct="1">
        <a:spcBef>
          <a:spcPct val="20000"/>
        </a:spcBef>
        <a:buFont typeface="Arial"/>
        <a:buChar char="•"/>
        <a:defRPr sz="1500" kern="1200">
          <a:solidFill>
            <a:schemeClr val="tx1"/>
          </a:solidFill>
          <a:latin typeface="+mn-lt"/>
          <a:ea typeface="+mn-ea"/>
          <a:cs typeface="+mn-cs"/>
        </a:defRPr>
      </a:lvl9pPr>
    </p:bodyStyle>
    <p:otherStyle>
      <a:defPPr>
        <a:defRPr lang="en-US"/>
      </a:defPPr>
      <a:lvl1pPr marL="0" algn="l" defTabSz="342900" rtl="0" eaLnBrk="1" latinLnBrk="0" hangingPunct="1">
        <a:defRPr sz="1350" kern="1200">
          <a:solidFill>
            <a:schemeClr val="tx1"/>
          </a:solidFill>
          <a:latin typeface="+mn-lt"/>
          <a:ea typeface="+mn-ea"/>
          <a:cs typeface="+mn-cs"/>
        </a:defRPr>
      </a:lvl1pPr>
      <a:lvl2pPr marL="342900" algn="l" defTabSz="342900" rtl="0" eaLnBrk="1" latinLnBrk="0" hangingPunct="1">
        <a:defRPr sz="1350" kern="1200">
          <a:solidFill>
            <a:schemeClr val="tx1"/>
          </a:solidFill>
          <a:latin typeface="+mn-lt"/>
          <a:ea typeface="+mn-ea"/>
          <a:cs typeface="+mn-cs"/>
        </a:defRPr>
      </a:lvl2pPr>
      <a:lvl3pPr marL="685800" algn="l" defTabSz="342900" rtl="0" eaLnBrk="1" latinLnBrk="0" hangingPunct="1">
        <a:defRPr sz="1350" kern="1200">
          <a:solidFill>
            <a:schemeClr val="tx1"/>
          </a:solidFill>
          <a:latin typeface="+mn-lt"/>
          <a:ea typeface="+mn-ea"/>
          <a:cs typeface="+mn-cs"/>
        </a:defRPr>
      </a:lvl3pPr>
      <a:lvl4pPr marL="1028700" algn="l" defTabSz="342900" rtl="0" eaLnBrk="1" latinLnBrk="0" hangingPunct="1">
        <a:defRPr sz="1350" kern="1200">
          <a:solidFill>
            <a:schemeClr val="tx1"/>
          </a:solidFill>
          <a:latin typeface="+mn-lt"/>
          <a:ea typeface="+mn-ea"/>
          <a:cs typeface="+mn-cs"/>
        </a:defRPr>
      </a:lvl4pPr>
      <a:lvl5pPr marL="1371600" algn="l" defTabSz="342900" rtl="0" eaLnBrk="1" latinLnBrk="0" hangingPunct="1">
        <a:defRPr sz="1350" kern="1200">
          <a:solidFill>
            <a:schemeClr val="tx1"/>
          </a:solidFill>
          <a:latin typeface="+mn-lt"/>
          <a:ea typeface="+mn-ea"/>
          <a:cs typeface="+mn-cs"/>
        </a:defRPr>
      </a:lvl5pPr>
      <a:lvl6pPr marL="1714500" algn="l" defTabSz="342900" rtl="0" eaLnBrk="1" latinLnBrk="0" hangingPunct="1">
        <a:defRPr sz="1350" kern="1200">
          <a:solidFill>
            <a:schemeClr val="tx1"/>
          </a:solidFill>
          <a:latin typeface="+mn-lt"/>
          <a:ea typeface="+mn-ea"/>
          <a:cs typeface="+mn-cs"/>
        </a:defRPr>
      </a:lvl6pPr>
      <a:lvl7pPr marL="2057400" algn="l" defTabSz="342900" rtl="0" eaLnBrk="1" latinLnBrk="0" hangingPunct="1">
        <a:defRPr sz="1350" kern="1200">
          <a:solidFill>
            <a:schemeClr val="tx1"/>
          </a:solidFill>
          <a:latin typeface="+mn-lt"/>
          <a:ea typeface="+mn-ea"/>
          <a:cs typeface="+mn-cs"/>
        </a:defRPr>
      </a:lvl7pPr>
      <a:lvl8pPr marL="2400300" algn="l" defTabSz="342900" rtl="0" eaLnBrk="1" latinLnBrk="0" hangingPunct="1">
        <a:defRPr sz="1350" kern="1200">
          <a:solidFill>
            <a:schemeClr val="tx1"/>
          </a:solidFill>
          <a:latin typeface="+mn-lt"/>
          <a:ea typeface="+mn-ea"/>
          <a:cs typeface="+mn-cs"/>
        </a:defRPr>
      </a:lvl8pPr>
      <a:lvl9pPr marL="2743200" algn="l" defTabSz="342900" rtl="0" eaLnBrk="1" latinLnBrk="0" hangingPunct="1">
        <a:defRPr sz="135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365125"/>
            <a:ext cx="7886700" cy="1325563"/>
          </a:xfrm>
          <a:prstGeom prst="rect">
            <a:avLst/>
          </a:prstGeom>
        </p:spPr>
        <p:txBody>
          <a:bodyPr vert="horz" lIns="91440" tIns="45720" rIns="91440" bIns="45720" rtlCol="0" anchor="ctr">
            <a:normAutofit/>
          </a:bodyPr>
          <a:lstStyle/>
          <a:p>
            <a:r>
              <a:rPr lang="en-US"/>
              <a:t>Click to edit Master title style</a:t>
            </a:r>
            <a:endParaRPr lang="en-GB"/>
          </a:p>
        </p:txBody>
      </p:sp>
      <p:sp>
        <p:nvSpPr>
          <p:cNvPr id="3" name="Text Placeholder 2"/>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p:cNvSpPr>
            <a:spLocks noGrp="1"/>
          </p:cNvSpPr>
          <p:nvPr>
            <p:ph type="dt" sz="half" idx="2"/>
          </p:nvPr>
        </p:nvSpPr>
        <p:spPr>
          <a:xfrm>
            <a:off x="628650" y="6356350"/>
            <a:ext cx="20574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B595F713-2110-964B-A68E-481EBA276186}" type="datetimeFigureOut">
              <a:rPr lang="en-GB" smtClean="0"/>
              <a:t>19/01/2018</a:t>
            </a:fld>
            <a:endParaRPr lang="en-GB" dirty="0"/>
          </a:p>
        </p:txBody>
      </p:sp>
      <p:sp>
        <p:nvSpPr>
          <p:cNvPr id="5" name="Footer Placeholder 4"/>
          <p:cNvSpPr>
            <a:spLocks noGrp="1"/>
          </p:cNvSpPr>
          <p:nvPr>
            <p:ph type="ftr" sz="quarter" idx="3"/>
          </p:nvPr>
        </p:nvSpPr>
        <p:spPr>
          <a:xfrm>
            <a:off x="3028950" y="6356350"/>
            <a:ext cx="30861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GB" dirty="0"/>
          </a:p>
        </p:txBody>
      </p:sp>
      <p:sp>
        <p:nvSpPr>
          <p:cNvPr id="6" name="Slide Number Placeholder 5"/>
          <p:cNvSpPr>
            <a:spLocks noGrp="1"/>
          </p:cNvSpPr>
          <p:nvPr>
            <p:ph type="sldNum" sz="quarter" idx="4"/>
          </p:nvPr>
        </p:nvSpPr>
        <p:spPr>
          <a:xfrm>
            <a:off x="6457950" y="6356350"/>
            <a:ext cx="2057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02CBB9E-F5D3-6E40-A939-4B2058AA44B4}" type="slidenum">
              <a:rPr lang="en-GB" smtClean="0"/>
              <a:t>‹#›</a:t>
            </a:fld>
            <a:endParaRPr lang="en-GB" dirty="0"/>
          </a:p>
        </p:txBody>
      </p:sp>
    </p:spTree>
    <p:extLst>
      <p:ext uri="{BB962C8B-B14F-4D97-AF65-F5344CB8AC3E}">
        <p14:creationId xmlns:p14="http://schemas.microsoft.com/office/powerpoint/2010/main" val="305900508"/>
      </p:ext>
    </p:extLst>
  </p:cSld>
  <p:clrMap bg1="lt1" tx1="dk1" bg2="lt2" tx2="dk2" accent1="accent1" accent2="accent2" accent3="accent3" accent4="accent4" accent5="accent5" accent6="accent6" hlink="hlink" folHlink="folHlink"/>
  <p:sldLayoutIdLst>
    <p:sldLayoutId id="2147483664" r:id="rId1"/>
    <p:sldLayoutId id="2147483665" r:id="rId2"/>
    <p:sldLayoutId id="2147483666" r:id="rId3"/>
    <p:sldLayoutId id="2147483667" r:id="rId4"/>
    <p:sldLayoutId id="2147483668" r:id="rId5"/>
    <p:sldLayoutId id="2147483669" r:id="rId6"/>
    <p:sldLayoutId id="2147483670" r:id="rId7"/>
    <p:sldLayoutId id="2147483671" r:id="rId8"/>
    <p:sldLayoutId id="2147483672" r:id="rId9"/>
    <p:sldLayoutId id="2147483673" r:id="rId10"/>
    <p:sldLayoutId id="2147483674"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365126"/>
            <a:ext cx="7886700" cy="1325563"/>
          </a:xfrm>
          <a:prstGeom prst="rect">
            <a:avLst/>
          </a:prstGeom>
        </p:spPr>
        <p:txBody>
          <a:bodyPr vert="horz" lIns="91440" tIns="45720" rIns="91440" bIns="45720" rtlCol="0" anchor="ctr">
            <a:normAutofit/>
          </a:bodyPr>
          <a:lstStyle/>
          <a:p>
            <a:r>
              <a:rPr lang="en-US"/>
              <a:t>Click to edit Master title style</a:t>
            </a:r>
            <a:endParaRPr lang="en-GB"/>
          </a:p>
        </p:txBody>
      </p:sp>
      <p:sp>
        <p:nvSpPr>
          <p:cNvPr id="3" name="Text Placeholder 2"/>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4" name="Date Placeholder 3"/>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900">
                <a:solidFill>
                  <a:schemeClr val="tx1">
                    <a:tint val="75000"/>
                  </a:schemeClr>
                </a:solidFill>
              </a:defRPr>
            </a:lvl1pPr>
          </a:lstStyle>
          <a:p>
            <a:fld id="{B595F713-2110-964B-A68E-481EBA276186}" type="datetimeFigureOut">
              <a:rPr lang="en-GB" smtClean="0"/>
              <a:t>19/01/2018</a:t>
            </a:fld>
            <a:endParaRPr lang="en-GB" dirty="0"/>
          </a:p>
        </p:txBody>
      </p:sp>
      <p:sp>
        <p:nvSpPr>
          <p:cNvPr id="5" name="Footer Placeholder 4"/>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900">
                <a:solidFill>
                  <a:schemeClr val="tx1">
                    <a:tint val="75000"/>
                  </a:schemeClr>
                </a:solidFill>
              </a:defRPr>
            </a:lvl1pPr>
          </a:lstStyle>
          <a:p>
            <a:endParaRPr lang="en-GB" dirty="0"/>
          </a:p>
        </p:txBody>
      </p:sp>
      <p:sp>
        <p:nvSpPr>
          <p:cNvPr id="6" name="Slide Number Placeholder 5"/>
          <p:cNvSpPr>
            <a:spLocks noGrp="1"/>
          </p:cNvSpPr>
          <p:nvPr>
            <p:ph type="sldNum" sz="quarter" idx="4"/>
          </p:nvPr>
        </p:nvSpPr>
        <p:spPr>
          <a:xfrm>
            <a:off x="6457950" y="6356351"/>
            <a:ext cx="2057400"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402CBB9E-F5D3-6E40-A939-4B2058AA44B4}" type="slidenum">
              <a:rPr lang="en-GB" smtClean="0"/>
              <a:t>‹#›</a:t>
            </a:fld>
            <a:endParaRPr lang="en-GB" dirty="0"/>
          </a:p>
        </p:txBody>
      </p:sp>
      <p:pic>
        <p:nvPicPr>
          <p:cNvPr id="7" name="Picture 6"/>
          <p:cNvPicPr>
            <a:picLocks noChangeAspect="1"/>
          </p:cNvPicPr>
          <p:nvPr/>
        </p:nvPicPr>
        <p:blipFill>
          <a:blip r:embed="rId18" cstate="print">
            <a:extLst>
              <a:ext uri="{28A0092B-C50C-407E-A947-70E740481C1C}">
                <a14:useLocalDpi xmlns:a14="http://schemas.microsoft.com/office/drawing/2010/main" val="0"/>
              </a:ext>
            </a:extLst>
          </a:blip>
          <a:stretch>
            <a:fillRect/>
          </a:stretch>
        </p:blipFill>
        <p:spPr>
          <a:xfrm>
            <a:off x="8091113" y="16872"/>
            <a:ext cx="1029761" cy="1020648"/>
          </a:xfrm>
          <a:prstGeom prst="rect">
            <a:avLst/>
          </a:prstGeom>
        </p:spPr>
      </p:pic>
      <p:pic>
        <p:nvPicPr>
          <p:cNvPr id="8" name="Picture 7"/>
          <p:cNvPicPr>
            <a:picLocks noChangeAspect="1"/>
          </p:cNvPicPr>
          <p:nvPr/>
        </p:nvPicPr>
        <p:blipFill>
          <a:blip r:embed="rId19" cstate="print">
            <a:extLst>
              <a:ext uri="{28A0092B-C50C-407E-A947-70E740481C1C}">
                <a14:useLocalDpi xmlns:a14="http://schemas.microsoft.com/office/drawing/2010/main" val="0"/>
              </a:ext>
            </a:extLst>
          </a:blip>
          <a:stretch>
            <a:fillRect/>
          </a:stretch>
        </p:blipFill>
        <p:spPr>
          <a:xfrm>
            <a:off x="23126" y="16872"/>
            <a:ext cx="2530113" cy="831540"/>
          </a:xfrm>
          <a:prstGeom prst="rect">
            <a:avLst/>
          </a:prstGeom>
        </p:spPr>
      </p:pic>
      <p:sp>
        <p:nvSpPr>
          <p:cNvPr id="9" name="Rectangle 8"/>
          <p:cNvSpPr/>
          <p:nvPr/>
        </p:nvSpPr>
        <p:spPr>
          <a:xfrm>
            <a:off x="0" y="6561058"/>
            <a:ext cx="9144000" cy="226407"/>
          </a:xfrm>
          <a:prstGeom prst="rect">
            <a:avLst/>
          </a:prstGeom>
        </p:spPr>
        <p:style>
          <a:lnRef idx="3">
            <a:schemeClr val="lt1"/>
          </a:lnRef>
          <a:fillRef idx="1">
            <a:schemeClr val="accent2"/>
          </a:fillRef>
          <a:effectRef idx="1">
            <a:schemeClr val="accent2"/>
          </a:effectRef>
          <a:fontRef idx="minor">
            <a:schemeClr val="lt1"/>
          </a:fontRef>
        </p:style>
        <p:txBody>
          <a:bodyPr rtlCol="0" anchor="ctr"/>
          <a:lstStyle/>
          <a:p>
            <a:pPr algn="ctr"/>
            <a:r>
              <a:rPr lang="en-GB" sz="900" dirty="0">
                <a:latin typeface="Arial" panose="020B0604020202020204" pitchFamily="34" charset="0"/>
                <a:cs typeface="Arial" panose="020B0604020202020204" pitchFamily="34" charset="0"/>
              </a:rPr>
              <a:t>better hope – brighter</a:t>
            </a:r>
            <a:r>
              <a:rPr lang="en-GB" sz="900" baseline="0" dirty="0">
                <a:latin typeface="Arial" panose="020B0604020202020204" pitchFamily="34" charset="0"/>
                <a:cs typeface="Arial" panose="020B0604020202020204" pitchFamily="34" charset="0"/>
              </a:rPr>
              <a:t> future</a:t>
            </a:r>
            <a:endParaRPr lang="en-GB" sz="9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17745701"/>
      </p:ext>
    </p:extLst>
  </p:cSld>
  <p:clrMap bg1="lt1" tx1="dk1" bg2="lt2" tx2="dk2" accent1="accent1" accent2="accent2" accent3="accent3" accent4="accent4" accent5="accent5" accent6="accent6" hlink="hlink" folHlink="folHlink"/>
  <p:sldLayoutIdLst>
    <p:sldLayoutId id="2147483676" r:id="rId1"/>
    <p:sldLayoutId id="2147483677" r:id="rId2"/>
    <p:sldLayoutId id="2147483678" r:id="rId3"/>
    <p:sldLayoutId id="2147483679" r:id="rId4"/>
    <p:sldLayoutId id="2147483680" r:id="rId5"/>
    <p:sldLayoutId id="2147483681" r:id="rId6"/>
    <p:sldLayoutId id="2147483682" r:id="rId7"/>
    <p:sldLayoutId id="2147483683" r:id="rId8"/>
    <p:sldLayoutId id="2147483684" r:id="rId9"/>
    <p:sldLayoutId id="2147483685" r:id="rId10"/>
    <p:sldLayoutId id="2147483686" r:id="rId11"/>
    <p:sldLayoutId id="2147483687" r:id="rId12"/>
    <p:sldLayoutId id="2147483688" r:id="rId13"/>
    <p:sldLayoutId id="2147483689" r:id="rId14"/>
    <p:sldLayoutId id="2147483690" r:id="rId15"/>
    <p:sldLayoutId id="2147483691" r:id="rId16"/>
  </p:sldLayoutIdLst>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1.xml"/><Relationship Id="rId1" Type="http://schemas.openxmlformats.org/officeDocument/2006/relationships/slideLayout" Target="../slideLayouts/slideLayout10.xml"/><Relationship Id="rId5" Type="http://schemas.openxmlformats.org/officeDocument/2006/relationships/image" Target="../media/image5.jpeg"/><Relationship Id="rId4" Type="http://schemas.openxmlformats.org/officeDocument/2006/relationships/hyperlink" Target="http://www.pixl.org.uk/" TargetMode="External"/></Relationships>
</file>

<file path=ppt/slides/_rels/slide2.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7.tiff"/><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3.xml"/><Relationship Id="rId1" Type="http://schemas.openxmlformats.org/officeDocument/2006/relationships/slideLayout" Target="../slideLayouts/slideLayout1.xml"/><Relationship Id="rId4" Type="http://schemas.openxmlformats.org/officeDocument/2006/relationships/image" Target="../media/image9.png"/></Relationships>
</file>

<file path=ppt/slides/_rels/slide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11.tiff"/><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3" Type="http://schemas.openxmlformats.org/officeDocument/2006/relationships/image" Target="../media/image12.jpg"/><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3" Type="http://schemas.openxmlformats.org/officeDocument/2006/relationships/image" Target="../media/image7.tiff"/><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9.xml"/><Relationship Id="rId1" Type="http://schemas.openxmlformats.org/officeDocument/2006/relationships/slideLayout" Target="../slideLayouts/slideLayout1.xml"/><Relationship Id="rId4" Type="http://schemas.openxmlformats.org/officeDocument/2006/relationships/image" Target="../media/image16.png"/></Relationships>
</file>

<file path=ppt/slides/_rels/slide14.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11.tiff"/><Relationship Id="rId2" Type="http://schemas.openxmlformats.org/officeDocument/2006/relationships/notesSlide" Target="../notesSlides/notesSlide12.xml"/><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3" Type="http://schemas.openxmlformats.org/officeDocument/2006/relationships/image" Target="../media/image12.jpg"/><Relationship Id="rId2" Type="http://schemas.openxmlformats.org/officeDocument/2006/relationships/notesSlide" Target="../notesSlides/notesSlide13.xml"/><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3" Type="http://schemas.openxmlformats.org/officeDocument/2006/relationships/image" Target="../media/image7.tiff"/><Relationship Id="rId2" Type="http://schemas.openxmlformats.org/officeDocument/2006/relationships/notesSlide" Target="../notesSlides/notesSlide14.xml"/><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3" Type="http://schemas.openxmlformats.org/officeDocument/2006/relationships/image" Target="../media/image11.tiff"/><Relationship Id="rId2" Type="http://schemas.openxmlformats.org/officeDocument/2006/relationships/notesSlide" Target="../notesSlides/notesSlide15.xml"/><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3" Type="http://schemas.openxmlformats.org/officeDocument/2006/relationships/image" Target="../media/image12.jpg"/><Relationship Id="rId2" Type="http://schemas.openxmlformats.org/officeDocument/2006/relationships/notesSlide" Target="../notesSlides/notesSlide16.xml"/><Relationship Id="rId1" Type="http://schemas.openxmlformats.org/officeDocument/2006/relationships/slideLayout" Target="../slideLayouts/slideLayout3.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9.xml.rels><?xml version="1.0" encoding="UTF-8" standalone="yes"?>
<Relationships xmlns="http://schemas.openxmlformats.org/package/2006/relationships"><Relationship Id="rId3" Type="http://schemas.openxmlformats.org/officeDocument/2006/relationships/image" Target="../media/image7.tiff"/><Relationship Id="rId2" Type="http://schemas.openxmlformats.org/officeDocument/2006/relationships/notesSlide" Target="../notesSlides/notesSlide17.xml"/><Relationship Id="rId1" Type="http://schemas.openxmlformats.org/officeDocument/2006/relationships/slideLayout" Target="../slideLayouts/slideLayout3.xml"/></Relationships>
</file>

<file path=ppt/slides/_rels/slide30.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9.xml"/><Relationship Id="rId1" Type="http://schemas.openxmlformats.org/officeDocument/2006/relationships/slideLayout" Target="../slideLayouts/slideLayout1.xml"/><Relationship Id="rId4" Type="http://schemas.openxmlformats.org/officeDocument/2006/relationships/image" Target="../media/image22.png"/></Relationships>
</file>

<file path=ppt/slides/_rels/slide32.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3" Type="http://schemas.openxmlformats.org/officeDocument/2006/relationships/image" Target="../media/image11.tiff"/><Relationship Id="rId2" Type="http://schemas.openxmlformats.org/officeDocument/2006/relationships/notesSlide" Target="../notesSlides/notesSlide21.xml"/><Relationship Id="rId1" Type="http://schemas.openxmlformats.org/officeDocument/2006/relationships/slideLayout" Target="../slideLayouts/slideLayout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6.xml.rels><?xml version="1.0" encoding="UTF-8" standalone="yes"?>
<Relationships xmlns="http://schemas.openxmlformats.org/package/2006/relationships"><Relationship Id="rId3" Type="http://schemas.openxmlformats.org/officeDocument/2006/relationships/image" Target="../media/image12.jpg"/><Relationship Id="rId2" Type="http://schemas.openxmlformats.org/officeDocument/2006/relationships/notesSlide" Target="../notesSlides/notesSlide22.xml"/><Relationship Id="rId1" Type="http://schemas.openxmlformats.org/officeDocument/2006/relationships/slideLayout" Target="../slideLayouts/slideLayout3.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8.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3.xml"/></Relationships>
</file>

<file path=ppt/slides/_rels/slide39.xml.rels><?xml version="1.0" encoding="UTF-8" standalone="yes"?>
<Relationships xmlns="http://schemas.openxmlformats.org/package/2006/relationships"><Relationship Id="rId3" Type="http://schemas.openxmlformats.org/officeDocument/2006/relationships/image" Target="../media/image7.tiff"/><Relationship Id="rId2" Type="http://schemas.openxmlformats.org/officeDocument/2006/relationships/notesSlide" Target="../notesSlides/notesSlide23.xml"/><Relationship Id="rId1" Type="http://schemas.openxmlformats.org/officeDocument/2006/relationships/slideLayout" Target="../slideLayouts/slideLayout3.xml"/></Relationships>
</file>

<file path=ppt/slides/_rels/slide40.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24.xml"/><Relationship Id="rId1" Type="http://schemas.openxmlformats.org/officeDocument/2006/relationships/slideLayout" Target="../slideLayouts/slideLayout1.xml"/><Relationship Id="rId4" Type="http://schemas.openxmlformats.org/officeDocument/2006/relationships/image" Target="../media/image26.png"/></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42.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26.xml"/><Relationship Id="rId1" Type="http://schemas.openxmlformats.org/officeDocument/2006/relationships/slideLayout" Target="../slideLayouts/slideLayout1.xml"/><Relationship Id="rId4" Type="http://schemas.openxmlformats.org/officeDocument/2006/relationships/image" Target="../media/image28.png"/></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_rels/slide44.xml.rels><?xml version="1.0" encoding="UTF-8" standalone="yes"?>
<Relationships xmlns="http://schemas.openxmlformats.org/package/2006/relationships"><Relationship Id="rId3" Type="http://schemas.openxmlformats.org/officeDocument/2006/relationships/image" Target="../media/image11.tiff"/><Relationship Id="rId2" Type="http://schemas.openxmlformats.org/officeDocument/2006/relationships/notesSlide" Target="../notesSlides/notesSlide28.xml"/><Relationship Id="rId1" Type="http://schemas.openxmlformats.org/officeDocument/2006/relationships/slideLayout" Target="../slideLayouts/slideLayout3.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7.xml.rels><?xml version="1.0" encoding="UTF-8" standalone="yes"?>
<Relationships xmlns="http://schemas.openxmlformats.org/package/2006/relationships"><Relationship Id="rId3" Type="http://schemas.openxmlformats.org/officeDocument/2006/relationships/image" Target="../media/image12.jpg"/><Relationship Id="rId2" Type="http://schemas.openxmlformats.org/officeDocument/2006/relationships/notesSlide" Target="../notesSlides/notesSlide29.xml"/><Relationship Id="rId1" Type="http://schemas.openxmlformats.org/officeDocument/2006/relationships/slideLayout" Target="../slideLayouts/slideLayout3.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9.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3.xml"/></Relationships>
</file>

<file path=ppt/slides/_rels/slide50.xml.rels><?xml version="1.0" encoding="UTF-8" standalone="yes"?>
<Relationships xmlns="http://schemas.openxmlformats.org/package/2006/relationships"><Relationship Id="rId3" Type="http://schemas.openxmlformats.org/officeDocument/2006/relationships/image" Target="../media/image7.tiff"/><Relationship Id="rId2" Type="http://schemas.openxmlformats.org/officeDocument/2006/relationships/notesSlide" Target="../notesSlides/notesSlide30.xml"/><Relationship Id="rId1" Type="http://schemas.openxmlformats.org/officeDocument/2006/relationships/slideLayout" Target="../slideLayouts/slideLayout3.xml"/></Relationships>
</file>

<file path=ppt/slides/_rels/slide51.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31.xml"/><Relationship Id="rId1" Type="http://schemas.openxmlformats.org/officeDocument/2006/relationships/slideLayout" Target="../slideLayouts/slideLayout1.xml"/><Relationship Id="rId5" Type="http://schemas.openxmlformats.org/officeDocument/2006/relationships/image" Target="../media/image32.png"/><Relationship Id="rId4" Type="http://schemas.openxmlformats.org/officeDocument/2006/relationships/image" Target="../media/image31.png"/></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1.xml"/></Relationships>
</file>

<file path=ppt/slides/_rels/slide53.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33.xml"/><Relationship Id="rId1" Type="http://schemas.openxmlformats.org/officeDocument/2006/relationships/slideLayout" Target="../slideLayouts/slideLayout1.xml"/></Relationships>
</file>

<file path=ppt/slides/_rels/slide54.xml.rels><?xml version="1.0" encoding="UTF-8" standalone="yes"?>
<Relationships xmlns="http://schemas.openxmlformats.org/package/2006/relationships"><Relationship Id="rId3" Type="http://schemas.openxmlformats.org/officeDocument/2006/relationships/image" Target="../media/image11.tiff"/><Relationship Id="rId2" Type="http://schemas.openxmlformats.org/officeDocument/2006/relationships/notesSlide" Target="../notesSlides/notesSlide34.xml"/><Relationship Id="rId1" Type="http://schemas.openxmlformats.org/officeDocument/2006/relationships/slideLayout" Target="../slideLayouts/slideLayout3.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7.xml.rels><?xml version="1.0" encoding="UTF-8" standalone="yes"?>
<Relationships xmlns="http://schemas.openxmlformats.org/package/2006/relationships"><Relationship Id="rId3" Type="http://schemas.openxmlformats.org/officeDocument/2006/relationships/image" Target="../media/image12.jpg"/><Relationship Id="rId2" Type="http://schemas.openxmlformats.org/officeDocument/2006/relationships/notesSlide" Target="../notesSlides/notesSlide35.xml"/><Relationship Id="rId1" Type="http://schemas.openxmlformats.org/officeDocument/2006/relationships/slideLayout" Target="../slideLayouts/slideLayout3.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0.xml.rels><?xml version="1.0" encoding="UTF-8" standalone="yes"?>
<Relationships xmlns="http://schemas.openxmlformats.org/package/2006/relationships"><Relationship Id="rId3" Type="http://schemas.openxmlformats.org/officeDocument/2006/relationships/image" Target="../media/image7.tiff"/><Relationship Id="rId2" Type="http://schemas.openxmlformats.org/officeDocument/2006/relationships/notesSlide" Target="../notesSlides/notesSlide36.xml"/><Relationship Id="rId1" Type="http://schemas.openxmlformats.org/officeDocument/2006/relationships/slideLayout" Target="../slideLayouts/slideLayout3.xml"/></Relationships>
</file>

<file path=ppt/slides/_rels/slide61.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37.xml"/><Relationship Id="rId1" Type="http://schemas.openxmlformats.org/officeDocument/2006/relationships/slideLayout" Target="../slideLayouts/slideLayout1.xml"/><Relationship Id="rId4" Type="http://schemas.openxmlformats.org/officeDocument/2006/relationships/image" Target="../media/image35.png"/></Relationships>
</file>

<file path=ppt/slides/_rels/slide62.xml.rels><?xml version="1.0" encoding="UTF-8" standalone="yes"?>
<Relationships xmlns="http://schemas.openxmlformats.org/package/2006/relationships"><Relationship Id="rId3" Type="http://schemas.openxmlformats.org/officeDocument/2006/relationships/image" Target="../media/image11.tiff"/><Relationship Id="rId2" Type="http://schemas.openxmlformats.org/officeDocument/2006/relationships/notesSlide" Target="../notesSlides/notesSlide38.xml"/><Relationship Id="rId1" Type="http://schemas.openxmlformats.org/officeDocument/2006/relationships/slideLayout" Target="../slideLayouts/slideLayout3.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4.xml.rels><?xml version="1.0" encoding="UTF-8" standalone="yes"?>
<Relationships xmlns="http://schemas.openxmlformats.org/package/2006/relationships"><Relationship Id="rId3" Type="http://schemas.openxmlformats.org/officeDocument/2006/relationships/image" Target="../media/image12.jpg"/><Relationship Id="rId2" Type="http://schemas.openxmlformats.org/officeDocument/2006/relationships/notesSlide" Target="../notesSlides/notesSlide39.xml"/><Relationship Id="rId1" Type="http://schemas.openxmlformats.org/officeDocument/2006/relationships/slideLayout" Target="../slideLayouts/slideLayout3.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108520" y="0"/>
            <a:ext cx="9252520" cy="7571303"/>
          </a:xfrm>
          <a:prstGeom prst="rect">
            <a:avLst/>
          </a:prstGeom>
          <a:noFill/>
        </p:spPr>
        <p:txBody>
          <a:bodyPr wrap="square" rtlCol="0">
            <a:spAutoFit/>
          </a:bodyPr>
          <a:lstStyle/>
          <a:p>
            <a:r>
              <a:rPr lang="en-GB" sz="900" dirty="0">
                <a:solidFill>
                  <a:schemeClr val="bg1">
                    <a:lumMod val="85000"/>
                  </a:schemeClr>
                </a:solidFill>
              </a:rPr>
              <a:t>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a:t>
            </a:r>
          </a:p>
        </p:txBody>
      </p:sp>
      <p:pic>
        <p:nvPicPr>
          <p:cNvPr id="1026" name="Picture 2" descr="pixl-logo"/>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0" y="44624"/>
            <a:ext cx="1639040" cy="792088"/>
          </a:xfrm>
          <a:prstGeom prst="rect">
            <a:avLst/>
          </a:prstGeom>
          <a:noFill/>
          <a:ln w="9525">
            <a:solidFill>
              <a:srgbClr val="000000"/>
            </a:solidFill>
            <a:miter lim="800000"/>
            <a:headEnd/>
            <a:tailEnd/>
          </a:ln>
          <a:effectLst>
            <a:outerShdw dist="107763" dir="2700000" algn="ctr" rotWithShape="0">
              <a:srgbClr val="808080">
                <a:alpha val="50000"/>
              </a:srgbClr>
            </a:outerShdw>
          </a:effectLst>
          <a:extLst>
            <a:ext uri="{909E8E84-426E-40dd-AFC4-6F175D3DCCD1}">
              <a14:hiddenFill xmlns:a14="http://schemas.microsoft.com/office/drawing/2010/main" xmlns="">
                <a:solidFill>
                  <a:srgbClr val="FFFFFF"/>
                </a:solidFill>
              </a14:hiddenFill>
            </a:ext>
          </a:extLst>
        </p:spPr>
      </p:pic>
      <p:sp>
        <p:nvSpPr>
          <p:cNvPr id="5" name="Text Box 3"/>
          <p:cNvSpPr txBox="1">
            <a:spLocks noChangeArrowheads="1"/>
          </p:cNvSpPr>
          <p:nvPr/>
        </p:nvSpPr>
        <p:spPr bwMode="auto">
          <a:xfrm>
            <a:off x="215516" y="5217942"/>
            <a:ext cx="8820979" cy="887304"/>
          </a:xfrm>
          <a:prstGeom prst="rect">
            <a:avLst/>
          </a:prstGeom>
          <a:solidFill>
            <a:srgbClr val="FFFFFF"/>
          </a:solidFill>
          <a:ln w="38100" cmpd="dbl">
            <a:solidFill>
              <a:srgbClr val="000000"/>
            </a:solidFill>
            <a:miter lim="800000"/>
            <a:headEnd/>
            <a:tailEnd/>
          </a:ln>
          <a:effectLst/>
          <a:extLst>
            <a:ext uri="{AF507438-7753-43e0-B8FC-AC1667EBCBE1}">
              <a14:hiddenEffects xmlns:a14="http://schemas.microsoft.com/office/drawing/2010/main" xmlns="">
                <a:effectLst>
                  <a:outerShdw dist="35921" dir="2700000" algn="ctr" rotWithShape="0">
                    <a:srgbClr val="868686"/>
                  </a:outerShdw>
                </a:effectLst>
              </a14:hiddenEffects>
            </a:ext>
          </a:extLst>
        </p:spPr>
        <p:txBody>
          <a:bodyPr vert="horz" wrap="square" lIns="91440" tIns="45720" rIns="91440" bIns="45720" numCol="1" anchor="t" anchorCtr="0" compatLnSpc="1">
            <a:prstTxWarp prst="textNoShape">
              <a:avLst/>
            </a:prstTxWarp>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GB" altLang="en-US" sz="1000" b="0" i="0" u="none" strike="noStrike" cap="none" normalizeH="0" baseline="0" dirty="0">
                <a:ln>
                  <a:noFill/>
                </a:ln>
                <a:solidFill>
                  <a:schemeClr val="tx1"/>
                </a:solidFill>
                <a:effectLst/>
                <a:latin typeface="Arial" pitchFamily="34" charset="0"/>
                <a:cs typeface="Arial" pitchFamily="34" charset="0"/>
              </a:rPr>
              <a:t>This resource is strictly for the use of member schools for as long as they remain members of The PiXL Club. It may not be copied, sold nor transferred to a third party or used by the school after membership ceases. Until such time it may be freely used within the member school.</a:t>
            </a:r>
          </a:p>
          <a:p>
            <a:pPr marL="0" marR="0" lvl="0" indent="0" algn="just" defTabSz="914400" rtl="0" eaLnBrk="1" fontAlgn="base" latinLnBrk="0" hangingPunct="1">
              <a:lnSpc>
                <a:spcPct val="100000"/>
              </a:lnSpc>
              <a:spcBef>
                <a:spcPct val="0"/>
              </a:spcBef>
              <a:spcAft>
                <a:spcPct val="0"/>
              </a:spcAft>
              <a:buClrTx/>
              <a:buSzTx/>
              <a:buFontTx/>
              <a:buNone/>
              <a:tabLst/>
            </a:pPr>
            <a:endParaRPr kumimoji="0" lang="en-GB" altLang="en-US" sz="1000" b="0" i="0" u="none" strike="noStrike" cap="none" normalizeH="0" baseline="0" dirty="0">
              <a:ln>
                <a:noFill/>
              </a:ln>
              <a:solidFill>
                <a:schemeClr val="tx1"/>
              </a:solidFill>
              <a:effectLst/>
              <a:latin typeface="Arial" pitchFamily="34" charset="0"/>
              <a:cs typeface="Arial" pitchFamily="34" charset="0"/>
            </a:endParaRPr>
          </a:p>
          <a:p>
            <a:pPr marL="0" marR="0" lvl="0" indent="0" algn="just" defTabSz="914400" rtl="0" eaLnBrk="1" fontAlgn="base" latinLnBrk="0" hangingPunct="1">
              <a:lnSpc>
                <a:spcPct val="100000"/>
              </a:lnSpc>
              <a:spcBef>
                <a:spcPct val="0"/>
              </a:spcBef>
              <a:spcAft>
                <a:spcPct val="0"/>
              </a:spcAft>
              <a:buClrTx/>
              <a:buSzTx/>
              <a:buFontTx/>
              <a:buNone/>
              <a:tabLst/>
            </a:pPr>
            <a:r>
              <a:rPr kumimoji="0" lang="en-GB" altLang="en-US" sz="1000" b="0" i="0" u="none" strike="noStrike" cap="none" normalizeH="0" baseline="0" dirty="0">
                <a:ln>
                  <a:noFill/>
                </a:ln>
                <a:solidFill>
                  <a:schemeClr val="tx1"/>
                </a:solidFill>
                <a:effectLst/>
                <a:latin typeface="Arial" pitchFamily="34" charset="0"/>
                <a:cs typeface="Arial" pitchFamily="34" charset="0"/>
              </a:rPr>
              <a:t>All opinions and contributions are those of the authors. The contents of this resource are not connected with nor endorsed by any other company, organisation or institution.</a:t>
            </a:r>
            <a:endParaRPr kumimoji="0" lang="en-US" altLang="en-US" sz="1800" b="0" i="0" u="none" strike="noStrike" cap="none" normalizeH="0" baseline="0" dirty="0">
              <a:ln>
                <a:noFill/>
              </a:ln>
              <a:solidFill>
                <a:schemeClr val="tx1"/>
              </a:solidFill>
              <a:effectLst/>
              <a:latin typeface="Arial" pitchFamily="34" charset="0"/>
              <a:cs typeface="Arial" pitchFamily="34" charset="0"/>
            </a:endParaRPr>
          </a:p>
        </p:txBody>
      </p:sp>
      <p:sp>
        <p:nvSpPr>
          <p:cNvPr id="6" name="TextBox 5"/>
          <p:cNvSpPr txBox="1"/>
          <p:nvPr/>
        </p:nvSpPr>
        <p:spPr>
          <a:xfrm>
            <a:off x="827584" y="6237312"/>
            <a:ext cx="7272808" cy="400110"/>
          </a:xfrm>
          <a:prstGeom prst="rect">
            <a:avLst/>
          </a:prstGeom>
          <a:noFill/>
        </p:spPr>
        <p:txBody>
          <a:bodyPr wrap="square" rtlCol="0">
            <a:spAutoFit/>
          </a:bodyPr>
          <a:lstStyle/>
          <a:p>
            <a:r>
              <a:rPr lang="en-US" sz="1000" u="sng" dirty="0">
                <a:hlinkClick r:id="rId4"/>
              </a:rPr>
              <a:t>www.pixl.org.uk</a:t>
            </a:r>
            <a:r>
              <a:rPr lang="en-US" sz="1000" dirty="0"/>
              <a:t>					The PiXL Club Ltd, Company number 07321607</a:t>
            </a:r>
            <a:endParaRPr lang="en-GB" sz="1000" dirty="0"/>
          </a:p>
          <a:p>
            <a:endParaRPr lang="en-GB" sz="1000" dirty="0"/>
          </a:p>
        </p:txBody>
      </p:sp>
      <p:sp>
        <p:nvSpPr>
          <p:cNvPr id="7" name="TextBox 6"/>
          <p:cNvSpPr txBox="1"/>
          <p:nvPr/>
        </p:nvSpPr>
        <p:spPr>
          <a:xfrm>
            <a:off x="2555775" y="4747322"/>
            <a:ext cx="3816424" cy="338554"/>
          </a:xfrm>
          <a:prstGeom prst="rect">
            <a:avLst/>
          </a:prstGeom>
          <a:noFill/>
        </p:spPr>
        <p:txBody>
          <a:bodyPr wrap="square" rtlCol="0">
            <a:spAutoFit/>
          </a:bodyPr>
          <a:lstStyle/>
          <a:p>
            <a:pPr algn="ctr"/>
            <a:r>
              <a:rPr lang="en-GB" sz="1600" dirty="0"/>
              <a:t>© Copyright The PiXL Club Ltd, 2017</a:t>
            </a:r>
          </a:p>
        </p:txBody>
      </p:sp>
      <p:sp>
        <p:nvSpPr>
          <p:cNvPr id="8" name="TextBox 7"/>
          <p:cNvSpPr txBox="1"/>
          <p:nvPr/>
        </p:nvSpPr>
        <p:spPr>
          <a:xfrm>
            <a:off x="233952" y="881336"/>
            <a:ext cx="8496943" cy="4065728"/>
          </a:xfrm>
          <a:prstGeom prst="rect">
            <a:avLst/>
          </a:prstGeom>
          <a:noFill/>
        </p:spPr>
        <p:txBody>
          <a:bodyPr wrap="square" rtlCol="0">
            <a:spAutoFit/>
          </a:bodyPr>
          <a:lstStyle/>
          <a:p>
            <a:pPr algn="ctr">
              <a:lnSpc>
                <a:spcPct val="115000"/>
              </a:lnSpc>
              <a:spcAft>
                <a:spcPts val="0"/>
              </a:spcAft>
            </a:pPr>
            <a:r>
              <a:rPr lang="en-GB" sz="7200" b="1" dirty="0"/>
              <a:t>PiXL KnowIT!</a:t>
            </a:r>
          </a:p>
          <a:p>
            <a:pPr algn="ctr">
              <a:lnSpc>
                <a:spcPct val="115000"/>
              </a:lnSpc>
              <a:spcAft>
                <a:spcPts val="0"/>
              </a:spcAft>
            </a:pPr>
            <a:r>
              <a:rPr lang="en-GB" sz="3600" b="1" dirty="0">
                <a:latin typeface="Arial" panose="020B0604020202020204" pitchFamily="34" charset="0"/>
                <a:ea typeface="Calibri" panose="020F0502020204030204" pitchFamily="34" charset="0"/>
                <a:cs typeface="Times New Roman" panose="02020603050405020304" pitchFamily="18" charset="0"/>
              </a:rPr>
              <a:t>GCSE Chemistry</a:t>
            </a:r>
            <a:endParaRPr lang="en-US" sz="1400" dirty="0">
              <a:latin typeface="Calibri" panose="020F0502020204030204" pitchFamily="34" charset="0"/>
              <a:ea typeface="Calibri" panose="020F0502020204030204" pitchFamily="34" charset="0"/>
              <a:cs typeface="Times New Roman" panose="02020603050405020304" pitchFamily="18" charset="0"/>
            </a:endParaRPr>
          </a:p>
          <a:p>
            <a:pPr algn="ctr"/>
            <a:r>
              <a:rPr lang="en-GB" dirty="0"/>
              <a:t> </a:t>
            </a:r>
          </a:p>
          <a:p>
            <a:pPr algn="ctr"/>
            <a:endParaRPr lang="en-GB" dirty="0"/>
          </a:p>
          <a:p>
            <a:pPr algn="ctr"/>
            <a:r>
              <a:rPr lang="en-GB" sz="4400" b="1" dirty="0">
                <a:solidFill>
                  <a:schemeClr val="accent2"/>
                </a:solidFill>
              </a:rPr>
              <a:t>AQA Topic – Organic Chemistry</a:t>
            </a:r>
          </a:p>
          <a:p>
            <a:pPr algn="ctr"/>
            <a:r>
              <a:rPr lang="en-GB" dirty="0"/>
              <a:t>  </a:t>
            </a:r>
          </a:p>
          <a:p>
            <a:pPr algn="ctr"/>
            <a:r>
              <a:rPr lang="en-GB" dirty="0"/>
              <a:t> </a:t>
            </a:r>
          </a:p>
          <a:p>
            <a:pPr algn="ctr"/>
            <a:endParaRPr lang="en-GB" dirty="0"/>
          </a:p>
        </p:txBody>
      </p:sp>
      <p:pic>
        <p:nvPicPr>
          <p:cNvPr id="9" name="374f7cfc-9279-43ad-9851-155d90395642" descr="image001"/>
          <p:cNvPicPr>
            <a:picLocks noChangeAspect="1" noChangeArrowheads="1"/>
          </p:cNvPicPr>
          <p:nvPr/>
        </p:nvPicPr>
        <p:blipFill>
          <a:blip r:embed="rId5" cstate="print">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7565552" y="58096"/>
            <a:ext cx="1484057" cy="1104724"/>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Tree>
    <p:extLst>
      <p:ext uri="{BB962C8B-B14F-4D97-AF65-F5344CB8AC3E}">
        <p14:creationId xmlns:p14="http://schemas.microsoft.com/office/powerpoint/2010/main" val="3929374378"/>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2339752" y="35655"/>
            <a:ext cx="6804248" cy="1017081"/>
          </a:xfrm>
        </p:spPr>
        <p:txBody>
          <a:bodyPr>
            <a:normAutofit/>
          </a:bodyPr>
          <a:lstStyle/>
          <a:p>
            <a:pPr algn="r"/>
            <a:r>
              <a:rPr lang="en-GB" sz="2800" b="1" dirty="0">
                <a:solidFill>
                  <a:schemeClr val="accent6"/>
                </a:solidFill>
              </a:rPr>
              <a:t>Overview </a:t>
            </a:r>
            <a:br>
              <a:rPr lang="en-GB" sz="2800" b="1" dirty="0">
                <a:solidFill>
                  <a:schemeClr val="accent6"/>
                </a:solidFill>
              </a:rPr>
            </a:br>
            <a:r>
              <a:rPr lang="en-GB" sz="2800" b="1" dirty="0">
                <a:solidFill>
                  <a:schemeClr val="accent6"/>
                </a:solidFill>
              </a:rPr>
              <a:t> Organic Chemistry</a:t>
            </a:r>
          </a:p>
        </p:txBody>
      </p:sp>
      <p:sp>
        <p:nvSpPr>
          <p:cNvPr id="3" name="Subtitle 2"/>
          <p:cNvSpPr>
            <a:spLocks noGrp="1"/>
          </p:cNvSpPr>
          <p:nvPr>
            <p:ph type="subTitle" idx="1"/>
          </p:nvPr>
        </p:nvSpPr>
        <p:spPr>
          <a:xfrm>
            <a:off x="179512" y="908720"/>
            <a:ext cx="4896544" cy="5472608"/>
          </a:xfrm>
        </p:spPr>
        <p:txBody>
          <a:bodyPr>
            <a:normAutofit/>
          </a:bodyPr>
          <a:lstStyle/>
          <a:p>
            <a:pPr algn="l"/>
            <a:r>
              <a:rPr lang="en-US" sz="1800" b="1" dirty="0">
                <a:solidFill>
                  <a:schemeClr val="tx1"/>
                </a:solidFill>
                <a:latin typeface="+mn-lt"/>
              </a:rPr>
              <a:t>Carbon compounds as fuels and feedstock</a:t>
            </a:r>
          </a:p>
          <a:p>
            <a:pPr marL="685800" lvl="1" indent="-342900" algn="l">
              <a:buFont typeface="Arial" charset="0"/>
              <a:buChar char="•"/>
            </a:pPr>
            <a:r>
              <a:rPr lang="en-US" sz="1600" dirty="0">
                <a:solidFill>
                  <a:schemeClr val="tx1"/>
                </a:solidFill>
              </a:rPr>
              <a:t>Crude oil, hydrocarbons and alkanes</a:t>
            </a:r>
          </a:p>
          <a:p>
            <a:pPr marL="685800" lvl="1" indent="-342900" algn="l">
              <a:buFont typeface="Arial" charset="0"/>
              <a:buChar char="•"/>
            </a:pPr>
            <a:r>
              <a:rPr lang="en-US" sz="1600" dirty="0">
                <a:solidFill>
                  <a:schemeClr val="tx1"/>
                </a:solidFill>
              </a:rPr>
              <a:t>Fractional distillation and petrochemicals</a:t>
            </a:r>
          </a:p>
          <a:p>
            <a:pPr marL="685800" lvl="1" indent="-342900" algn="l">
              <a:buFont typeface="Arial" charset="0"/>
              <a:buChar char="•"/>
            </a:pPr>
            <a:r>
              <a:rPr lang="en-US" sz="1600" dirty="0">
                <a:solidFill>
                  <a:schemeClr val="tx1"/>
                </a:solidFill>
              </a:rPr>
              <a:t>Properties of hydrocarbons</a:t>
            </a:r>
          </a:p>
          <a:p>
            <a:pPr marL="685800" lvl="1" indent="-342900" algn="l">
              <a:buFont typeface="Arial" charset="0"/>
              <a:buChar char="•"/>
            </a:pPr>
            <a:r>
              <a:rPr lang="en-US" sz="1600" dirty="0">
                <a:solidFill>
                  <a:schemeClr val="tx1"/>
                </a:solidFill>
              </a:rPr>
              <a:t>Cracking and alkenes</a:t>
            </a:r>
          </a:p>
          <a:p>
            <a:pPr algn="l"/>
            <a:r>
              <a:rPr lang="en-US" sz="1800" b="1" dirty="0">
                <a:solidFill>
                  <a:schemeClr val="tx1"/>
                </a:solidFill>
                <a:latin typeface="+mn-lt"/>
              </a:rPr>
              <a:t>Reactions of alkenes and alcohols (Chemistry only)</a:t>
            </a:r>
          </a:p>
          <a:p>
            <a:pPr marL="685800" lvl="1" indent="-342900" algn="l">
              <a:buFont typeface="Arial" charset="0"/>
              <a:buChar char="•"/>
            </a:pPr>
            <a:r>
              <a:rPr lang="en-US" sz="1600" dirty="0">
                <a:solidFill>
                  <a:schemeClr val="tx1"/>
                </a:solidFill>
              </a:rPr>
              <a:t>Structure and formulae of alkenes</a:t>
            </a:r>
          </a:p>
          <a:p>
            <a:pPr marL="685800" lvl="1" indent="-342900" algn="l">
              <a:buFont typeface="Arial" charset="0"/>
              <a:buChar char="•"/>
            </a:pPr>
            <a:r>
              <a:rPr lang="en-US" sz="1600" dirty="0">
                <a:solidFill>
                  <a:schemeClr val="tx1"/>
                </a:solidFill>
              </a:rPr>
              <a:t>Reactions of alkenes</a:t>
            </a:r>
          </a:p>
          <a:p>
            <a:pPr marL="685800" lvl="1" indent="-342900" algn="l">
              <a:buFont typeface="Arial" charset="0"/>
              <a:buChar char="•"/>
            </a:pPr>
            <a:r>
              <a:rPr lang="en-US" sz="1600" dirty="0" smtClean="0">
                <a:solidFill>
                  <a:schemeClr val="tx1"/>
                </a:solidFill>
              </a:rPr>
              <a:t>Alcohols</a:t>
            </a:r>
          </a:p>
          <a:p>
            <a:pPr marL="685800" lvl="1" indent="-342900" algn="l">
              <a:buFont typeface="Arial" charset="0"/>
              <a:buChar char="•"/>
            </a:pPr>
            <a:r>
              <a:rPr lang="en-US" sz="1600" dirty="0" smtClean="0">
                <a:solidFill>
                  <a:schemeClr val="tx1"/>
                </a:solidFill>
              </a:rPr>
              <a:t>Carboxylic acids</a:t>
            </a:r>
            <a:endParaRPr lang="en-US" sz="1600" dirty="0">
              <a:solidFill>
                <a:schemeClr val="tx1"/>
              </a:solidFill>
            </a:endParaRPr>
          </a:p>
          <a:p>
            <a:pPr algn="l"/>
            <a:r>
              <a:rPr lang="en-US" sz="1800" b="1" dirty="0">
                <a:solidFill>
                  <a:schemeClr val="tx1"/>
                </a:solidFill>
                <a:latin typeface="+mn-lt"/>
              </a:rPr>
              <a:t>Synthetic and naturally occurring polymers (Chemistry only)</a:t>
            </a:r>
          </a:p>
          <a:p>
            <a:pPr marL="285750" indent="-285750" algn="l">
              <a:buFont typeface="Arial" panose="020B0604020202020204" pitchFamily="34" charset="0"/>
              <a:buChar char="•"/>
            </a:pPr>
            <a:r>
              <a:rPr lang="en-US" sz="1600" dirty="0">
                <a:solidFill>
                  <a:schemeClr val="tx1"/>
                </a:solidFill>
                <a:latin typeface="+mn-lt"/>
              </a:rPr>
              <a:t>Addition </a:t>
            </a:r>
            <a:r>
              <a:rPr lang="en-US" sz="1600" dirty="0" err="1">
                <a:solidFill>
                  <a:schemeClr val="tx1"/>
                </a:solidFill>
                <a:latin typeface="+mn-lt"/>
              </a:rPr>
              <a:t>polymerisation</a:t>
            </a:r>
            <a:endParaRPr lang="en-US" sz="1600" dirty="0">
              <a:solidFill>
                <a:schemeClr val="tx1"/>
              </a:solidFill>
              <a:latin typeface="+mn-lt"/>
            </a:endParaRPr>
          </a:p>
          <a:p>
            <a:pPr marL="285750" indent="-285750" algn="l">
              <a:buFont typeface="Arial" panose="020B0604020202020204" pitchFamily="34" charset="0"/>
              <a:buChar char="•"/>
            </a:pPr>
            <a:r>
              <a:rPr lang="en-US" sz="1600" dirty="0">
                <a:solidFill>
                  <a:schemeClr val="tx1"/>
                </a:solidFill>
                <a:latin typeface="+mn-lt"/>
              </a:rPr>
              <a:t>Condensation </a:t>
            </a:r>
            <a:r>
              <a:rPr lang="en-US" sz="1600" dirty="0" err="1">
                <a:solidFill>
                  <a:schemeClr val="tx1"/>
                </a:solidFill>
                <a:latin typeface="+mn-lt"/>
              </a:rPr>
              <a:t>polymerisation</a:t>
            </a:r>
            <a:r>
              <a:rPr lang="en-US" sz="1600" dirty="0">
                <a:solidFill>
                  <a:schemeClr val="tx1"/>
                </a:solidFill>
                <a:latin typeface="+mn-lt"/>
              </a:rPr>
              <a:t> (HT only)</a:t>
            </a:r>
          </a:p>
          <a:p>
            <a:pPr marL="285750" indent="-285750" algn="l">
              <a:buFont typeface="Arial" panose="020B0604020202020204" pitchFamily="34" charset="0"/>
              <a:buChar char="•"/>
            </a:pPr>
            <a:r>
              <a:rPr lang="en-US" sz="1600" dirty="0">
                <a:solidFill>
                  <a:schemeClr val="tx1"/>
                </a:solidFill>
                <a:latin typeface="+mn-lt"/>
              </a:rPr>
              <a:t>Amino acids (HT only)</a:t>
            </a:r>
          </a:p>
          <a:p>
            <a:pPr marL="285750" indent="-285750" algn="l">
              <a:buFont typeface="Arial" panose="020B0604020202020204" pitchFamily="34" charset="0"/>
              <a:buChar char="•"/>
            </a:pPr>
            <a:r>
              <a:rPr lang="en-US" sz="1600" dirty="0">
                <a:solidFill>
                  <a:schemeClr val="tx1"/>
                </a:solidFill>
                <a:latin typeface="+mn-lt"/>
              </a:rPr>
              <a:t>DNA and other naturally occurring polymers</a:t>
            </a:r>
          </a:p>
          <a:p>
            <a:pPr algn="l"/>
            <a:endParaRPr lang="en-US" dirty="0">
              <a:solidFill>
                <a:schemeClr val="tx1"/>
              </a:solidFill>
            </a:endParaRPr>
          </a:p>
          <a:p>
            <a:pPr algn="l"/>
            <a:endParaRPr lang="en-US" dirty="0">
              <a:solidFill>
                <a:schemeClr val="tx1"/>
              </a:solidFill>
            </a:endParaRPr>
          </a:p>
          <a:p>
            <a:pPr algn="l"/>
            <a:endParaRPr lang="en-US" dirty="0">
              <a:solidFill>
                <a:schemeClr val="tx1"/>
              </a:solidFill>
            </a:endParaRPr>
          </a:p>
          <a:p>
            <a:pPr algn="l"/>
            <a:endParaRPr lang="en-US" dirty="0">
              <a:solidFill>
                <a:schemeClr val="tx1"/>
              </a:solidFill>
            </a:endParaRPr>
          </a:p>
          <a:p>
            <a:pPr algn="l"/>
            <a:endParaRPr lang="en-US" dirty="0">
              <a:solidFill>
                <a:schemeClr val="tx1"/>
              </a:solidFill>
            </a:endParaRPr>
          </a:p>
          <a:p>
            <a:pPr algn="l"/>
            <a:endParaRPr lang="en-US" dirty="0">
              <a:solidFill>
                <a:schemeClr val="tx1"/>
              </a:solidFill>
            </a:endParaRPr>
          </a:p>
          <a:p>
            <a:endParaRPr lang="en-GB" dirty="0">
              <a:solidFill>
                <a:schemeClr val="tx1"/>
              </a:solidFill>
            </a:endParaRPr>
          </a:p>
        </p:txBody>
      </p:sp>
      <p:pic>
        <p:nvPicPr>
          <p:cNvPr id="4" name="Picture 3"/>
          <p:cNvPicPr>
            <a:picLocks noChangeAspect="1"/>
          </p:cNvPicPr>
          <p:nvPr/>
        </p:nvPicPr>
        <p:blipFill>
          <a:blip r:embed="rId2"/>
          <a:stretch>
            <a:fillRect/>
          </a:stretch>
        </p:blipFill>
        <p:spPr>
          <a:xfrm>
            <a:off x="4644008" y="1052736"/>
            <a:ext cx="4104456" cy="5184576"/>
          </a:xfrm>
          <a:prstGeom prst="rect">
            <a:avLst/>
          </a:prstGeom>
        </p:spPr>
      </p:pic>
    </p:spTree>
    <p:extLst>
      <p:ext uri="{BB962C8B-B14F-4D97-AF65-F5344CB8AC3E}">
        <p14:creationId xmlns:p14="http://schemas.microsoft.com/office/powerpoint/2010/main" val="732448546"/>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149087" y="802524"/>
            <a:ext cx="8915400" cy="5595731"/>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a:lstStyle/>
          <a:p>
            <a:pPr marL="342900" marR="0" lvl="0" indent="-342900" defTabSz="914400" eaLnBrk="1" fontAlgn="auto" latinLnBrk="0" hangingPunct="1">
              <a:lnSpc>
                <a:spcPct val="100000"/>
              </a:lnSpc>
              <a:spcBef>
                <a:spcPts val="0"/>
              </a:spcBef>
              <a:spcAft>
                <a:spcPts val="0"/>
              </a:spcAft>
              <a:buClrTx/>
              <a:buSzTx/>
              <a:buFont typeface="+mj-lt"/>
              <a:buNone/>
              <a:tabLst/>
              <a:defRPr/>
            </a:pPr>
            <a:endParaRPr lang="en-GB" sz="2000" dirty="0">
              <a:solidFill>
                <a:schemeClr val="tx1"/>
              </a:solidFill>
            </a:endParaRPr>
          </a:p>
        </p:txBody>
      </p:sp>
      <p:sp>
        <p:nvSpPr>
          <p:cNvPr id="7" name="TextBox 6"/>
          <p:cNvSpPr txBox="1"/>
          <p:nvPr/>
        </p:nvSpPr>
        <p:spPr>
          <a:xfrm>
            <a:off x="-22696" y="675435"/>
            <a:ext cx="4572000" cy="4985980"/>
          </a:xfrm>
          <a:prstGeom prst="rect">
            <a:avLst/>
          </a:prstGeom>
          <a:noFill/>
        </p:spPr>
        <p:txBody>
          <a:bodyPr wrap="square" rtlCol="0">
            <a:spAutoFit/>
          </a:bodyPr>
          <a:lstStyle/>
          <a:p>
            <a:r>
              <a:rPr lang="en-GB" sz="7200" b="1" dirty="0">
                <a:latin typeface="+mj-lt"/>
                <a:ea typeface="Beirut" charset="-78"/>
                <a:cs typeface="Beirut" charset="-78"/>
              </a:rPr>
              <a:t>LearnIT!</a:t>
            </a:r>
          </a:p>
          <a:p>
            <a:r>
              <a:rPr lang="en-GB" sz="7200" b="1" dirty="0">
                <a:latin typeface="+mj-lt"/>
                <a:ea typeface="Beirut" charset="-78"/>
                <a:cs typeface="Beirut" charset="-78"/>
              </a:rPr>
              <a:t>KnowIT!</a:t>
            </a:r>
          </a:p>
          <a:p>
            <a:endParaRPr lang="en-GB" dirty="0"/>
          </a:p>
          <a:p>
            <a:r>
              <a:rPr lang="en-US" sz="2800" b="1" dirty="0"/>
              <a:t>Carbon compounds </a:t>
            </a:r>
          </a:p>
          <a:p>
            <a:r>
              <a:rPr lang="en-US" sz="2800" b="1" dirty="0"/>
              <a:t>as fuels and feedstock</a:t>
            </a:r>
          </a:p>
          <a:p>
            <a:endParaRPr lang="en-US" sz="2800" b="1" dirty="0"/>
          </a:p>
          <a:p>
            <a:r>
              <a:rPr lang="en-GB" sz="2400" b="1" dirty="0">
                <a:solidFill>
                  <a:schemeClr val="tx1">
                    <a:lumMod val="50000"/>
                    <a:lumOff val="50000"/>
                  </a:schemeClr>
                </a:solidFill>
              </a:rPr>
              <a:t>Part 1 </a:t>
            </a:r>
          </a:p>
          <a:p>
            <a:pPr marL="685800" lvl="1" indent="-342900">
              <a:buFont typeface="Arial" charset="0"/>
              <a:buChar char="•"/>
            </a:pPr>
            <a:r>
              <a:rPr lang="en-US" sz="2400" dirty="0">
                <a:solidFill>
                  <a:schemeClr val="tx1">
                    <a:lumMod val="50000"/>
                    <a:lumOff val="50000"/>
                  </a:schemeClr>
                </a:solidFill>
              </a:rPr>
              <a:t>Crude oil, hydrocarbons </a:t>
            </a:r>
          </a:p>
          <a:p>
            <a:pPr marL="342900" lvl="1"/>
            <a:r>
              <a:rPr lang="en-US" sz="2400" dirty="0">
                <a:solidFill>
                  <a:schemeClr val="tx1">
                    <a:lumMod val="50000"/>
                    <a:lumOff val="50000"/>
                  </a:schemeClr>
                </a:solidFill>
              </a:rPr>
              <a:t>     and alkanes</a:t>
            </a:r>
          </a:p>
        </p:txBody>
      </p:sp>
      <p:pic>
        <p:nvPicPr>
          <p:cNvPr id="8" name="Picture 7"/>
          <p:cNvPicPr>
            <a:picLocks noChangeAspect="1"/>
          </p:cNvPicPr>
          <p:nvPr/>
        </p:nvPicPr>
        <p:blipFill>
          <a:blip r:embed="rId3">
            <a:clrChange>
              <a:clrFrom>
                <a:srgbClr val="FFFFFF"/>
              </a:clrFrom>
              <a:clrTo>
                <a:srgbClr val="FFFFFF">
                  <a:alpha val="0"/>
                </a:srgbClr>
              </a:clrTo>
            </a:clrChange>
          </a:blip>
          <a:stretch>
            <a:fillRect/>
          </a:stretch>
        </p:blipFill>
        <p:spPr>
          <a:xfrm>
            <a:off x="2642398" y="0"/>
            <a:ext cx="6538114" cy="6525344"/>
          </a:xfrm>
          <a:prstGeom prst="rect">
            <a:avLst/>
          </a:prstGeom>
        </p:spPr>
      </p:pic>
    </p:spTree>
    <p:extLst>
      <p:ext uri="{BB962C8B-B14F-4D97-AF65-F5344CB8AC3E}">
        <p14:creationId xmlns:p14="http://schemas.microsoft.com/office/powerpoint/2010/main" val="632385037"/>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619672" y="35655"/>
            <a:ext cx="7524328" cy="657041"/>
          </a:xfrm>
        </p:spPr>
        <p:txBody>
          <a:bodyPr>
            <a:noAutofit/>
          </a:bodyPr>
          <a:lstStyle/>
          <a:p>
            <a:pPr marL="342900" lvl="1" algn="r"/>
            <a:r>
              <a:rPr lang="en-US" sz="2400" dirty="0">
                <a:solidFill>
                  <a:schemeClr val="accent6"/>
                </a:solidFill>
              </a:rPr>
              <a:t>Crude oil, hydrocarbons and alkanes</a:t>
            </a:r>
          </a:p>
        </p:txBody>
      </p:sp>
      <p:sp>
        <p:nvSpPr>
          <p:cNvPr id="3" name="TextBox 2"/>
          <p:cNvSpPr txBox="1"/>
          <p:nvPr/>
        </p:nvSpPr>
        <p:spPr>
          <a:xfrm>
            <a:off x="179512" y="836712"/>
            <a:ext cx="8568952" cy="707886"/>
          </a:xfrm>
          <a:prstGeom prst="rect">
            <a:avLst/>
          </a:prstGeom>
          <a:noFill/>
          <a:ln w="28575">
            <a:solidFill>
              <a:schemeClr val="accent6"/>
            </a:solidFill>
          </a:ln>
        </p:spPr>
        <p:txBody>
          <a:bodyPr wrap="square" rtlCol="0">
            <a:spAutoFit/>
          </a:bodyPr>
          <a:lstStyle/>
          <a:p>
            <a:r>
              <a:rPr lang="en-GB" sz="2000" dirty="0"/>
              <a:t>Crude oil is a </a:t>
            </a:r>
            <a:r>
              <a:rPr lang="en-GB" sz="2000" b="1" dirty="0">
                <a:solidFill>
                  <a:schemeClr val="accent6">
                    <a:lumMod val="75000"/>
                  </a:schemeClr>
                </a:solidFill>
              </a:rPr>
              <a:t>finite resource </a:t>
            </a:r>
            <a:r>
              <a:rPr lang="en-GB" sz="2000" dirty="0"/>
              <a:t>found in rocks. Crude oil is the remains of an </a:t>
            </a:r>
            <a:r>
              <a:rPr lang="en-GB" sz="2000" b="1" dirty="0">
                <a:solidFill>
                  <a:schemeClr val="accent6">
                    <a:lumMod val="75000"/>
                  </a:schemeClr>
                </a:solidFill>
              </a:rPr>
              <a:t>ancient biomass </a:t>
            </a:r>
            <a:r>
              <a:rPr lang="en-GB" sz="2000" dirty="0"/>
              <a:t>consisting mainly of </a:t>
            </a:r>
            <a:r>
              <a:rPr lang="en-GB" sz="2000" b="1" dirty="0">
                <a:solidFill>
                  <a:schemeClr val="accent6">
                    <a:lumMod val="75000"/>
                  </a:schemeClr>
                </a:solidFill>
              </a:rPr>
              <a:t>plankton</a:t>
            </a:r>
            <a:r>
              <a:rPr lang="en-GB" sz="2000" dirty="0"/>
              <a:t> that was </a:t>
            </a:r>
            <a:r>
              <a:rPr lang="en-GB" sz="2000" b="1" dirty="0">
                <a:solidFill>
                  <a:schemeClr val="accent6">
                    <a:lumMod val="75000"/>
                  </a:schemeClr>
                </a:solidFill>
              </a:rPr>
              <a:t>buried in mud</a:t>
            </a:r>
            <a:r>
              <a:rPr lang="en-GB" sz="2000" dirty="0"/>
              <a:t>.</a:t>
            </a:r>
          </a:p>
        </p:txBody>
      </p:sp>
      <p:sp>
        <p:nvSpPr>
          <p:cNvPr id="9" name="TextBox 8"/>
          <p:cNvSpPr txBox="1"/>
          <p:nvPr/>
        </p:nvSpPr>
        <p:spPr>
          <a:xfrm>
            <a:off x="179512" y="4279592"/>
            <a:ext cx="5904656" cy="1938992"/>
          </a:xfrm>
          <a:prstGeom prst="rect">
            <a:avLst/>
          </a:prstGeom>
          <a:noFill/>
          <a:ln w="28575">
            <a:solidFill>
              <a:schemeClr val="accent6"/>
            </a:solidFill>
          </a:ln>
        </p:spPr>
        <p:txBody>
          <a:bodyPr wrap="square" rtlCol="0">
            <a:spAutoFit/>
          </a:bodyPr>
          <a:lstStyle/>
          <a:p>
            <a:r>
              <a:rPr lang="en-GB" sz="2000" b="1" dirty="0">
                <a:solidFill>
                  <a:schemeClr val="accent6">
                    <a:lumMod val="75000"/>
                  </a:schemeClr>
                </a:solidFill>
              </a:rPr>
              <a:t>Crude oil </a:t>
            </a:r>
            <a:r>
              <a:rPr lang="en-GB" sz="2000" dirty="0"/>
              <a:t>is a mixture of a very large number of compounds</a:t>
            </a:r>
            <a:r>
              <a:rPr lang="en-GB" dirty="0"/>
              <a:t>. </a:t>
            </a:r>
            <a:endParaRPr lang="en-GB" dirty="0" smtClean="0"/>
          </a:p>
          <a:p>
            <a:endParaRPr lang="en-GB" sz="2000" dirty="0"/>
          </a:p>
          <a:p>
            <a:r>
              <a:rPr lang="en-GB" sz="2000" dirty="0" smtClean="0"/>
              <a:t>Most </a:t>
            </a:r>
            <a:r>
              <a:rPr lang="en-GB" sz="2000" dirty="0"/>
              <a:t>of the compounds in crude oil are </a:t>
            </a:r>
            <a:r>
              <a:rPr lang="en-GB" sz="2000" b="1" dirty="0">
                <a:solidFill>
                  <a:schemeClr val="accent6">
                    <a:lumMod val="75000"/>
                  </a:schemeClr>
                </a:solidFill>
              </a:rPr>
              <a:t>hydrocarbons</a:t>
            </a:r>
            <a:r>
              <a:rPr lang="en-GB" sz="2000" dirty="0"/>
              <a:t>, which are </a:t>
            </a:r>
            <a:r>
              <a:rPr lang="en-GB" sz="2000" b="1" dirty="0">
                <a:solidFill>
                  <a:schemeClr val="accent6">
                    <a:lumMod val="75000"/>
                  </a:schemeClr>
                </a:solidFill>
              </a:rPr>
              <a:t>molecules</a:t>
            </a:r>
            <a:r>
              <a:rPr lang="en-GB" sz="2000" dirty="0"/>
              <a:t> made up of </a:t>
            </a:r>
            <a:r>
              <a:rPr lang="en-GB" sz="2000" b="1" dirty="0">
                <a:solidFill>
                  <a:schemeClr val="accent6">
                    <a:lumMod val="75000"/>
                  </a:schemeClr>
                </a:solidFill>
              </a:rPr>
              <a:t>hydrogen and carbon </a:t>
            </a:r>
            <a:r>
              <a:rPr lang="en-GB" sz="2000" b="1" u="sng" dirty="0">
                <a:solidFill>
                  <a:schemeClr val="accent6">
                    <a:lumMod val="75000"/>
                  </a:schemeClr>
                </a:solidFill>
              </a:rPr>
              <a:t>only</a:t>
            </a:r>
            <a:r>
              <a:rPr lang="en-GB" sz="2000" b="1" u="sng" dirty="0" smtClean="0">
                <a:solidFill>
                  <a:schemeClr val="accent6">
                    <a:lumMod val="75000"/>
                  </a:schemeClr>
                </a:solidFill>
              </a:rPr>
              <a:t>.</a:t>
            </a:r>
            <a:endParaRPr lang="en-GB" sz="2000" b="1" u="sng" dirty="0">
              <a:solidFill>
                <a:schemeClr val="accent6">
                  <a:lumMod val="75000"/>
                </a:schemeClr>
              </a:solidFill>
            </a:endParaRPr>
          </a:p>
        </p:txBody>
      </p:sp>
      <p:sp>
        <p:nvSpPr>
          <p:cNvPr id="11" name="TextBox 10"/>
          <p:cNvSpPr txBox="1"/>
          <p:nvPr/>
        </p:nvSpPr>
        <p:spPr>
          <a:xfrm>
            <a:off x="2987824" y="2288543"/>
            <a:ext cx="2520280" cy="1323439"/>
          </a:xfrm>
          <a:prstGeom prst="rect">
            <a:avLst/>
          </a:prstGeom>
          <a:solidFill>
            <a:schemeClr val="accent6"/>
          </a:solidFill>
          <a:ln w="28575">
            <a:solidFill>
              <a:schemeClr val="tx1"/>
            </a:solidFill>
          </a:ln>
        </p:spPr>
        <p:txBody>
          <a:bodyPr wrap="square" rtlCol="0">
            <a:spAutoFit/>
          </a:bodyPr>
          <a:lstStyle/>
          <a:p>
            <a:r>
              <a:rPr lang="en-GB" sz="2000" dirty="0"/>
              <a:t>The two definitions </a:t>
            </a:r>
            <a:r>
              <a:rPr lang="en-GB" sz="2000" dirty="0" smtClean="0"/>
              <a:t>below are </a:t>
            </a:r>
            <a:r>
              <a:rPr lang="en-GB" sz="2000" dirty="0"/>
              <a:t>very important you must learn both of them </a:t>
            </a:r>
          </a:p>
        </p:txBody>
      </p:sp>
      <p:pic>
        <p:nvPicPr>
          <p:cNvPr id="4" name="Picture 3"/>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67544" y="1620933"/>
            <a:ext cx="1986954" cy="2582323"/>
          </a:xfrm>
          <a:prstGeom prst="rect">
            <a:avLst/>
          </a:prstGeom>
        </p:spPr>
      </p:pic>
      <p:pic>
        <p:nvPicPr>
          <p:cNvPr id="5" name="Picture 4"/>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292080" y="1620933"/>
            <a:ext cx="4791844" cy="4799273"/>
          </a:xfrm>
          <a:prstGeom prst="rect">
            <a:avLst/>
          </a:prstGeom>
        </p:spPr>
      </p:pic>
    </p:spTree>
    <p:extLst>
      <p:ext uri="{BB962C8B-B14F-4D97-AF65-F5344CB8AC3E}">
        <p14:creationId xmlns:p14="http://schemas.microsoft.com/office/powerpoint/2010/main" val="1270480565"/>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8" name="Picture 17"/>
          <p:cNvPicPr>
            <a:picLocks noChangeAspect="1"/>
          </p:cNvPicPr>
          <p:nvPr/>
        </p:nvPicPr>
        <p:blipFill>
          <a:blip r:embed="rId3"/>
          <a:stretch>
            <a:fillRect/>
          </a:stretch>
        </p:blipFill>
        <p:spPr>
          <a:xfrm>
            <a:off x="3059832" y="5241887"/>
            <a:ext cx="1828963" cy="1131222"/>
          </a:xfrm>
          <a:prstGeom prst="rect">
            <a:avLst/>
          </a:prstGeom>
        </p:spPr>
      </p:pic>
      <p:sp>
        <p:nvSpPr>
          <p:cNvPr id="2" name="Title 1"/>
          <p:cNvSpPr>
            <a:spLocks noGrp="1"/>
          </p:cNvSpPr>
          <p:nvPr>
            <p:ph type="ctrTitle"/>
          </p:nvPr>
        </p:nvSpPr>
        <p:spPr>
          <a:xfrm>
            <a:off x="1619672" y="35655"/>
            <a:ext cx="7524328" cy="657041"/>
          </a:xfrm>
        </p:spPr>
        <p:txBody>
          <a:bodyPr>
            <a:noAutofit/>
          </a:bodyPr>
          <a:lstStyle/>
          <a:p>
            <a:pPr marL="342900" lvl="1" algn="r"/>
            <a:r>
              <a:rPr lang="en-US" sz="2400" dirty="0">
                <a:solidFill>
                  <a:schemeClr val="accent6"/>
                </a:solidFill>
              </a:rPr>
              <a:t>Crude oil, hydrocarbons and alkanes</a:t>
            </a:r>
          </a:p>
        </p:txBody>
      </p:sp>
      <p:sp>
        <p:nvSpPr>
          <p:cNvPr id="12" name="TextBox 11"/>
          <p:cNvSpPr txBox="1"/>
          <p:nvPr/>
        </p:nvSpPr>
        <p:spPr>
          <a:xfrm>
            <a:off x="179512" y="891729"/>
            <a:ext cx="8568952" cy="707886"/>
          </a:xfrm>
          <a:prstGeom prst="rect">
            <a:avLst/>
          </a:prstGeom>
          <a:noFill/>
          <a:ln w="28575">
            <a:solidFill>
              <a:schemeClr val="accent6"/>
            </a:solidFill>
          </a:ln>
        </p:spPr>
        <p:txBody>
          <a:bodyPr wrap="square" rtlCol="0">
            <a:spAutoFit/>
          </a:bodyPr>
          <a:lstStyle/>
          <a:p>
            <a:r>
              <a:rPr lang="en-GB" sz="2000" dirty="0"/>
              <a:t>Most of the hydrocarbons in crude oil are hydrocarbons called </a:t>
            </a:r>
            <a:r>
              <a:rPr lang="en-GB" sz="2000" b="1" dirty="0">
                <a:solidFill>
                  <a:schemeClr val="accent6">
                    <a:lumMod val="75000"/>
                  </a:schemeClr>
                </a:solidFill>
              </a:rPr>
              <a:t>alkanes</a:t>
            </a:r>
            <a:r>
              <a:rPr lang="en-GB" sz="2000" dirty="0"/>
              <a:t>. The general formula for the homologous series of alkanes is </a:t>
            </a:r>
            <a:r>
              <a:rPr lang="en-GB" sz="2000" b="1" dirty="0">
                <a:solidFill>
                  <a:schemeClr val="accent6">
                    <a:lumMod val="75000"/>
                  </a:schemeClr>
                </a:solidFill>
              </a:rPr>
              <a:t>C</a:t>
            </a:r>
            <a:r>
              <a:rPr lang="en-GB" sz="2000" b="1" baseline="-25000" dirty="0">
                <a:solidFill>
                  <a:schemeClr val="accent6">
                    <a:lumMod val="75000"/>
                  </a:schemeClr>
                </a:solidFill>
              </a:rPr>
              <a:t>n</a:t>
            </a:r>
            <a:r>
              <a:rPr lang="en-GB" sz="2000" b="1" dirty="0">
                <a:solidFill>
                  <a:schemeClr val="accent6">
                    <a:lumMod val="75000"/>
                  </a:schemeClr>
                </a:solidFill>
              </a:rPr>
              <a:t>H</a:t>
            </a:r>
            <a:r>
              <a:rPr lang="en-GB" sz="2000" b="1" baseline="-25000" dirty="0">
                <a:solidFill>
                  <a:schemeClr val="accent6">
                    <a:lumMod val="75000"/>
                  </a:schemeClr>
                </a:solidFill>
              </a:rPr>
              <a:t>2n+2</a:t>
            </a:r>
          </a:p>
        </p:txBody>
      </p:sp>
      <p:sp>
        <p:nvSpPr>
          <p:cNvPr id="13" name="TextBox 12"/>
          <p:cNvSpPr txBox="1"/>
          <p:nvPr/>
        </p:nvSpPr>
        <p:spPr>
          <a:xfrm>
            <a:off x="180161" y="1753504"/>
            <a:ext cx="8568952" cy="400110"/>
          </a:xfrm>
          <a:prstGeom prst="rect">
            <a:avLst/>
          </a:prstGeom>
          <a:noFill/>
          <a:ln w="28575">
            <a:solidFill>
              <a:schemeClr val="accent6"/>
            </a:solidFill>
          </a:ln>
        </p:spPr>
        <p:txBody>
          <a:bodyPr wrap="square" rtlCol="0">
            <a:spAutoFit/>
          </a:bodyPr>
          <a:lstStyle/>
          <a:p>
            <a:r>
              <a:rPr lang="en-GB" sz="2000" dirty="0"/>
              <a:t>The first four members of the alkanes are methane, ethane, propane and butane.</a:t>
            </a:r>
          </a:p>
        </p:txBody>
      </p:sp>
      <p:sp>
        <p:nvSpPr>
          <p:cNvPr id="14" name="TextBox 13"/>
          <p:cNvSpPr txBox="1"/>
          <p:nvPr/>
        </p:nvSpPr>
        <p:spPr>
          <a:xfrm>
            <a:off x="93834" y="2250992"/>
            <a:ext cx="8654629" cy="1631216"/>
          </a:xfrm>
          <a:custGeom>
            <a:avLst/>
            <a:gdLst>
              <a:gd name="connsiteX0" fmla="*/ 0 w 8568952"/>
              <a:gd name="connsiteY0" fmla="*/ 0 h 1323439"/>
              <a:gd name="connsiteX1" fmla="*/ 8568952 w 8568952"/>
              <a:gd name="connsiteY1" fmla="*/ 0 h 1323439"/>
              <a:gd name="connsiteX2" fmla="*/ 8568952 w 8568952"/>
              <a:gd name="connsiteY2" fmla="*/ 1323439 h 1323439"/>
              <a:gd name="connsiteX3" fmla="*/ 0 w 8568952"/>
              <a:gd name="connsiteY3" fmla="*/ 1323439 h 1323439"/>
              <a:gd name="connsiteX4" fmla="*/ 0 w 8568952"/>
              <a:gd name="connsiteY4" fmla="*/ 0 h 1323439"/>
              <a:gd name="connsiteX0" fmla="*/ 0 w 8568952"/>
              <a:gd name="connsiteY0" fmla="*/ 12878 h 1336317"/>
              <a:gd name="connsiteX1" fmla="*/ 6546969 w 8568952"/>
              <a:gd name="connsiteY1" fmla="*/ 0 h 1336317"/>
              <a:gd name="connsiteX2" fmla="*/ 8568952 w 8568952"/>
              <a:gd name="connsiteY2" fmla="*/ 1336317 h 1336317"/>
              <a:gd name="connsiteX3" fmla="*/ 0 w 8568952"/>
              <a:gd name="connsiteY3" fmla="*/ 1336317 h 1336317"/>
              <a:gd name="connsiteX4" fmla="*/ 0 w 8568952"/>
              <a:gd name="connsiteY4" fmla="*/ 12878 h 1336317"/>
              <a:gd name="connsiteX0" fmla="*/ 0 w 6624242"/>
              <a:gd name="connsiteY0" fmla="*/ 12878 h 1336317"/>
              <a:gd name="connsiteX1" fmla="*/ 6546969 w 6624242"/>
              <a:gd name="connsiteY1" fmla="*/ 0 h 1336317"/>
              <a:gd name="connsiteX2" fmla="*/ 6624242 w 6624242"/>
              <a:gd name="connsiteY2" fmla="*/ 1336317 h 1336317"/>
              <a:gd name="connsiteX3" fmla="*/ 0 w 6624242"/>
              <a:gd name="connsiteY3" fmla="*/ 1336317 h 1336317"/>
              <a:gd name="connsiteX4" fmla="*/ 0 w 6624242"/>
              <a:gd name="connsiteY4" fmla="*/ 12878 h 1336317"/>
              <a:gd name="connsiteX0" fmla="*/ 0 w 6765910"/>
              <a:gd name="connsiteY0" fmla="*/ 12878 h 1336317"/>
              <a:gd name="connsiteX1" fmla="*/ 6546969 w 6765910"/>
              <a:gd name="connsiteY1" fmla="*/ 0 h 1336317"/>
              <a:gd name="connsiteX2" fmla="*/ 6765910 w 6765910"/>
              <a:gd name="connsiteY2" fmla="*/ 1336317 h 1336317"/>
              <a:gd name="connsiteX3" fmla="*/ 0 w 6765910"/>
              <a:gd name="connsiteY3" fmla="*/ 1336317 h 1336317"/>
              <a:gd name="connsiteX4" fmla="*/ 0 w 6765910"/>
              <a:gd name="connsiteY4" fmla="*/ 12878 h 1336317"/>
              <a:gd name="connsiteX0" fmla="*/ 0 w 6765910"/>
              <a:gd name="connsiteY0" fmla="*/ 12878 h 1336317"/>
              <a:gd name="connsiteX1" fmla="*/ 6753031 w 6765910"/>
              <a:gd name="connsiteY1" fmla="*/ 0 h 1336317"/>
              <a:gd name="connsiteX2" fmla="*/ 6765910 w 6765910"/>
              <a:gd name="connsiteY2" fmla="*/ 1336317 h 1336317"/>
              <a:gd name="connsiteX3" fmla="*/ 0 w 6765910"/>
              <a:gd name="connsiteY3" fmla="*/ 1336317 h 1336317"/>
              <a:gd name="connsiteX4" fmla="*/ 0 w 6765910"/>
              <a:gd name="connsiteY4" fmla="*/ 12878 h 1336317"/>
              <a:gd name="connsiteX0" fmla="*/ 0 w 6765910"/>
              <a:gd name="connsiteY0" fmla="*/ 12878 h 1336317"/>
              <a:gd name="connsiteX1" fmla="*/ 6765910 w 6765910"/>
              <a:gd name="connsiteY1" fmla="*/ 0 h 1336317"/>
              <a:gd name="connsiteX2" fmla="*/ 6765910 w 6765910"/>
              <a:gd name="connsiteY2" fmla="*/ 1336317 h 1336317"/>
              <a:gd name="connsiteX3" fmla="*/ 0 w 6765910"/>
              <a:gd name="connsiteY3" fmla="*/ 1336317 h 1336317"/>
              <a:gd name="connsiteX4" fmla="*/ 0 w 6765910"/>
              <a:gd name="connsiteY4" fmla="*/ 12878 h 1336317"/>
              <a:gd name="connsiteX0" fmla="*/ 0 w 6765910"/>
              <a:gd name="connsiteY0" fmla="*/ 0 h 1323439"/>
              <a:gd name="connsiteX1" fmla="*/ 6765910 w 6765910"/>
              <a:gd name="connsiteY1" fmla="*/ 1 h 1323439"/>
              <a:gd name="connsiteX2" fmla="*/ 6765910 w 6765910"/>
              <a:gd name="connsiteY2" fmla="*/ 1323439 h 1323439"/>
              <a:gd name="connsiteX3" fmla="*/ 0 w 6765910"/>
              <a:gd name="connsiteY3" fmla="*/ 1323439 h 1323439"/>
              <a:gd name="connsiteX4" fmla="*/ 0 w 6765910"/>
              <a:gd name="connsiteY4" fmla="*/ 0 h 132343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765910" h="1323439">
                <a:moveTo>
                  <a:pt x="0" y="0"/>
                </a:moveTo>
                <a:lnTo>
                  <a:pt x="6765910" y="1"/>
                </a:lnTo>
                <a:lnTo>
                  <a:pt x="6765910" y="1323439"/>
                </a:lnTo>
                <a:lnTo>
                  <a:pt x="0" y="1323439"/>
                </a:lnTo>
                <a:lnTo>
                  <a:pt x="0" y="0"/>
                </a:lnTo>
                <a:close/>
              </a:path>
            </a:pathLst>
          </a:custGeom>
          <a:noFill/>
        </p:spPr>
        <p:txBody>
          <a:bodyPr wrap="square" rtlCol="0">
            <a:spAutoFit/>
          </a:bodyPr>
          <a:lstStyle/>
          <a:p>
            <a:r>
              <a:rPr lang="en-GB" sz="2000" b="1" u="sng" dirty="0"/>
              <a:t>Worked examples</a:t>
            </a:r>
          </a:p>
          <a:p>
            <a:r>
              <a:rPr lang="en-GB" sz="2000" dirty="0"/>
              <a:t>Methane has one carbon atom so it’s formula will be </a:t>
            </a:r>
            <a:r>
              <a:rPr lang="en-GB" sz="2000" b="1" dirty="0"/>
              <a:t>C</a:t>
            </a:r>
            <a:r>
              <a:rPr lang="en-GB" sz="2000" b="1" baseline="-25000" dirty="0"/>
              <a:t>1</a:t>
            </a:r>
            <a:r>
              <a:rPr lang="en-GB" sz="2000" b="1" dirty="0"/>
              <a:t>H</a:t>
            </a:r>
            <a:r>
              <a:rPr lang="en-GB" sz="2000" b="1" baseline="-25000" dirty="0"/>
              <a:t>(2x1)+2 </a:t>
            </a:r>
            <a:r>
              <a:rPr lang="en-GB" sz="2000" dirty="0"/>
              <a:t>this gives </a:t>
            </a:r>
            <a:r>
              <a:rPr lang="en-GB" sz="2000" b="1" dirty="0"/>
              <a:t>CH</a:t>
            </a:r>
            <a:r>
              <a:rPr lang="en-GB" sz="2000" b="1" baseline="-25000" dirty="0"/>
              <a:t>4</a:t>
            </a:r>
          </a:p>
          <a:p>
            <a:r>
              <a:rPr lang="en-GB" sz="2000" dirty="0"/>
              <a:t>Ethane has two carbon atoms so it’s formula will be </a:t>
            </a:r>
            <a:r>
              <a:rPr lang="en-GB" sz="2000" b="1" dirty="0"/>
              <a:t>C</a:t>
            </a:r>
            <a:r>
              <a:rPr lang="en-GB" sz="2000" b="1" baseline="-25000" dirty="0"/>
              <a:t>2</a:t>
            </a:r>
            <a:r>
              <a:rPr lang="en-GB" sz="2000" b="1" dirty="0"/>
              <a:t>H</a:t>
            </a:r>
            <a:r>
              <a:rPr lang="en-GB" sz="2000" b="1" baseline="-25000" dirty="0"/>
              <a:t>(2x2)+2 </a:t>
            </a:r>
            <a:r>
              <a:rPr lang="en-GB" sz="2000" dirty="0"/>
              <a:t>this gives </a:t>
            </a:r>
            <a:r>
              <a:rPr lang="en-GB" sz="2000" b="1" dirty="0"/>
              <a:t>C</a:t>
            </a:r>
            <a:r>
              <a:rPr lang="en-GB" sz="2000" b="1" baseline="-25000" dirty="0"/>
              <a:t>2</a:t>
            </a:r>
            <a:r>
              <a:rPr lang="en-GB" sz="2000" b="1" dirty="0"/>
              <a:t>H</a:t>
            </a:r>
            <a:r>
              <a:rPr lang="en-GB" sz="2000" b="1" baseline="-25000" dirty="0"/>
              <a:t>6</a:t>
            </a:r>
          </a:p>
          <a:p>
            <a:r>
              <a:rPr lang="en-GB" sz="2000" dirty="0"/>
              <a:t>Propane has three carbon atoms so it’s formula will be </a:t>
            </a:r>
            <a:r>
              <a:rPr lang="en-GB" sz="2000" b="1" dirty="0"/>
              <a:t>C</a:t>
            </a:r>
            <a:r>
              <a:rPr lang="en-GB" sz="2000" b="1" baseline="-25000" dirty="0"/>
              <a:t>3</a:t>
            </a:r>
            <a:r>
              <a:rPr lang="en-GB" sz="2000" b="1" dirty="0"/>
              <a:t>H</a:t>
            </a:r>
            <a:r>
              <a:rPr lang="en-GB" sz="2000" b="1" baseline="-25000" dirty="0"/>
              <a:t>(2x3)+2 </a:t>
            </a:r>
            <a:r>
              <a:rPr lang="en-GB" sz="2000" dirty="0"/>
              <a:t>this gives </a:t>
            </a:r>
            <a:r>
              <a:rPr lang="en-GB" sz="2000" b="1" dirty="0"/>
              <a:t>C</a:t>
            </a:r>
            <a:r>
              <a:rPr lang="en-GB" sz="2000" b="1" baseline="-25000" dirty="0"/>
              <a:t>3</a:t>
            </a:r>
            <a:r>
              <a:rPr lang="en-GB" sz="2000" b="1" dirty="0"/>
              <a:t>H</a:t>
            </a:r>
            <a:r>
              <a:rPr lang="en-GB" sz="2000" b="1" baseline="-25000" dirty="0"/>
              <a:t>8</a:t>
            </a:r>
          </a:p>
          <a:p>
            <a:r>
              <a:rPr lang="en-GB" sz="2000" dirty="0"/>
              <a:t>Butane has four carbon atoms so it’s formula will be </a:t>
            </a:r>
            <a:r>
              <a:rPr lang="en-GB" sz="2000" b="1" dirty="0"/>
              <a:t>C</a:t>
            </a:r>
            <a:r>
              <a:rPr lang="en-GB" sz="2000" b="1" baseline="-25000" dirty="0"/>
              <a:t>4</a:t>
            </a:r>
            <a:r>
              <a:rPr lang="en-GB" sz="2000" b="1" dirty="0"/>
              <a:t>H</a:t>
            </a:r>
            <a:r>
              <a:rPr lang="en-GB" sz="2000" b="1" baseline="-25000" dirty="0"/>
              <a:t>(2x4)+2 </a:t>
            </a:r>
            <a:r>
              <a:rPr lang="en-GB" sz="2000" dirty="0"/>
              <a:t>this gives </a:t>
            </a:r>
            <a:r>
              <a:rPr lang="en-GB" sz="2000" b="1" dirty="0"/>
              <a:t>C</a:t>
            </a:r>
            <a:r>
              <a:rPr lang="en-GB" sz="2000" b="1" baseline="-25000" dirty="0"/>
              <a:t>4</a:t>
            </a:r>
            <a:r>
              <a:rPr lang="en-GB" sz="2000" b="1" dirty="0"/>
              <a:t>H</a:t>
            </a:r>
            <a:r>
              <a:rPr lang="en-GB" sz="2000" b="1" baseline="-25000" dirty="0"/>
              <a:t>10</a:t>
            </a:r>
          </a:p>
        </p:txBody>
      </p:sp>
      <p:sp>
        <p:nvSpPr>
          <p:cNvPr id="15" name="TextBox 14"/>
          <p:cNvSpPr txBox="1"/>
          <p:nvPr/>
        </p:nvSpPr>
        <p:spPr>
          <a:xfrm>
            <a:off x="185232" y="3979586"/>
            <a:ext cx="8568952" cy="1015663"/>
          </a:xfrm>
          <a:prstGeom prst="rect">
            <a:avLst/>
          </a:prstGeom>
          <a:solidFill>
            <a:schemeClr val="accent6"/>
          </a:solidFill>
          <a:ln w="28575">
            <a:solidFill>
              <a:schemeClr val="tx1"/>
            </a:solidFill>
          </a:ln>
        </p:spPr>
        <p:txBody>
          <a:bodyPr wrap="square" rtlCol="0">
            <a:spAutoFit/>
          </a:bodyPr>
          <a:lstStyle/>
          <a:p>
            <a:r>
              <a:rPr lang="en-GB" sz="2000" dirty="0"/>
              <a:t>You will be expected to know the names and formulae of these first four alkanes. You will be expected to calculate the formulae of alkanes with more than four carbons.</a:t>
            </a:r>
          </a:p>
        </p:txBody>
      </p:sp>
      <p:sp>
        <p:nvSpPr>
          <p:cNvPr id="16" name="TextBox 15"/>
          <p:cNvSpPr txBox="1"/>
          <p:nvPr/>
        </p:nvSpPr>
        <p:spPr>
          <a:xfrm>
            <a:off x="1475656" y="5440504"/>
            <a:ext cx="1872208" cy="1015663"/>
          </a:xfrm>
          <a:prstGeom prst="rect">
            <a:avLst/>
          </a:prstGeom>
          <a:noFill/>
        </p:spPr>
        <p:txBody>
          <a:bodyPr wrap="square" rtlCol="0">
            <a:spAutoFit/>
          </a:bodyPr>
          <a:lstStyle/>
          <a:p>
            <a:r>
              <a:rPr lang="en-GB" sz="1400" dirty="0"/>
              <a:t>These can also be shown as:</a:t>
            </a:r>
          </a:p>
          <a:p>
            <a:endParaRPr lang="en-GB" sz="1600" dirty="0"/>
          </a:p>
          <a:p>
            <a:endParaRPr lang="en-GB" sz="1600" dirty="0"/>
          </a:p>
        </p:txBody>
      </p:sp>
    </p:spTree>
    <p:extLst>
      <p:ext uri="{BB962C8B-B14F-4D97-AF65-F5344CB8AC3E}">
        <p14:creationId xmlns:p14="http://schemas.microsoft.com/office/powerpoint/2010/main" val="2415613430"/>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149087" y="802524"/>
            <a:ext cx="8915400" cy="5595731"/>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a:lstStyle/>
          <a:p>
            <a:pPr marL="342900" marR="0" lvl="0" indent="-342900" defTabSz="914400" eaLnBrk="1" fontAlgn="auto" latinLnBrk="0" hangingPunct="1">
              <a:lnSpc>
                <a:spcPct val="100000"/>
              </a:lnSpc>
              <a:spcBef>
                <a:spcPts val="0"/>
              </a:spcBef>
              <a:spcAft>
                <a:spcPts val="0"/>
              </a:spcAft>
              <a:buClrTx/>
              <a:buSzTx/>
              <a:buFont typeface="+mj-lt"/>
              <a:buNone/>
              <a:tabLst/>
              <a:defRPr/>
            </a:pPr>
            <a:endParaRPr lang="en-GB" sz="2000" dirty="0">
              <a:solidFill>
                <a:schemeClr val="tx1"/>
              </a:solidFill>
            </a:endParaRPr>
          </a:p>
        </p:txBody>
      </p:sp>
      <p:sp>
        <p:nvSpPr>
          <p:cNvPr id="7" name="TextBox 6"/>
          <p:cNvSpPr txBox="1"/>
          <p:nvPr/>
        </p:nvSpPr>
        <p:spPr>
          <a:xfrm>
            <a:off x="0" y="980728"/>
            <a:ext cx="4716016" cy="4708981"/>
          </a:xfrm>
          <a:prstGeom prst="rect">
            <a:avLst/>
          </a:prstGeom>
          <a:noFill/>
        </p:spPr>
        <p:txBody>
          <a:bodyPr wrap="square" rtlCol="0">
            <a:spAutoFit/>
          </a:bodyPr>
          <a:lstStyle/>
          <a:p>
            <a:r>
              <a:rPr lang="en-GB" sz="7200" b="1" dirty="0">
                <a:latin typeface="+mj-lt"/>
                <a:ea typeface="Beirut" charset="-78"/>
                <a:cs typeface="Beirut" charset="-78"/>
              </a:rPr>
              <a:t>QuestionIT!</a:t>
            </a:r>
          </a:p>
          <a:p>
            <a:endParaRPr lang="en-GB" dirty="0"/>
          </a:p>
          <a:p>
            <a:endParaRPr lang="en-GB" dirty="0"/>
          </a:p>
          <a:p>
            <a:endParaRPr lang="en-GB" dirty="0"/>
          </a:p>
          <a:p>
            <a:r>
              <a:rPr lang="en-US" sz="2800" b="1" dirty="0"/>
              <a:t>Carbon compounds </a:t>
            </a:r>
          </a:p>
          <a:p>
            <a:r>
              <a:rPr lang="en-US" sz="2800" b="1" dirty="0"/>
              <a:t>as fuels and feedstock</a:t>
            </a:r>
          </a:p>
          <a:p>
            <a:endParaRPr lang="en-US" sz="2800" b="1" dirty="0"/>
          </a:p>
          <a:p>
            <a:r>
              <a:rPr lang="en-GB" sz="2400" b="1" dirty="0">
                <a:solidFill>
                  <a:schemeClr val="tx1">
                    <a:lumMod val="50000"/>
                    <a:lumOff val="50000"/>
                  </a:schemeClr>
                </a:solidFill>
              </a:rPr>
              <a:t>Part 1 </a:t>
            </a:r>
          </a:p>
          <a:p>
            <a:pPr marL="685800" lvl="1" indent="-342900">
              <a:buFont typeface="Arial" charset="0"/>
              <a:buChar char="•"/>
            </a:pPr>
            <a:r>
              <a:rPr lang="en-US" sz="2400" dirty="0">
                <a:solidFill>
                  <a:schemeClr val="tx1">
                    <a:lumMod val="50000"/>
                    <a:lumOff val="50000"/>
                  </a:schemeClr>
                </a:solidFill>
              </a:rPr>
              <a:t>Crude oil, hydrocarbons </a:t>
            </a:r>
          </a:p>
          <a:p>
            <a:pPr marL="342900" lvl="1"/>
            <a:r>
              <a:rPr lang="en-US" sz="2400" dirty="0">
                <a:solidFill>
                  <a:schemeClr val="tx1">
                    <a:lumMod val="50000"/>
                    <a:lumOff val="50000"/>
                  </a:schemeClr>
                </a:solidFill>
              </a:rPr>
              <a:t>     and alkanes</a:t>
            </a:r>
          </a:p>
          <a:p>
            <a:endParaRPr lang="en-GB" dirty="0"/>
          </a:p>
        </p:txBody>
      </p:sp>
      <p:pic>
        <p:nvPicPr>
          <p:cNvPr id="5" name="Picture 4"/>
          <p:cNvPicPr>
            <a:picLocks noChangeAspect="1"/>
          </p:cNvPicPr>
          <p:nvPr/>
        </p:nvPicPr>
        <p:blipFill>
          <a:blip r:embed="rId3">
            <a:clrChange>
              <a:clrFrom>
                <a:srgbClr val="FFFFFF"/>
              </a:clrFrom>
              <a:clrTo>
                <a:srgbClr val="FFFFFF">
                  <a:alpha val="0"/>
                </a:srgbClr>
              </a:clrTo>
            </a:clrChange>
          </a:blip>
          <a:stretch>
            <a:fillRect/>
          </a:stretch>
        </p:blipFill>
        <p:spPr>
          <a:xfrm>
            <a:off x="4211960" y="886544"/>
            <a:ext cx="4914900" cy="5638800"/>
          </a:xfrm>
          <a:prstGeom prst="rect">
            <a:avLst/>
          </a:prstGeom>
        </p:spPr>
      </p:pic>
    </p:spTree>
    <p:extLst>
      <p:ext uri="{BB962C8B-B14F-4D97-AF65-F5344CB8AC3E}">
        <p14:creationId xmlns:p14="http://schemas.microsoft.com/office/powerpoint/2010/main" val="1134652047"/>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331640" y="0"/>
            <a:ext cx="7812360" cy="657041"/>
          </a:xfrm>
        </p:spPr>
        <p:txBody>
          <a:bodyPr>
            <a:noAutofit/>
          </a:bodyPr>
          <a:lstStyle/>
          <a:p>
            <a:pPr marL="342900" lvl="1" algn="r" defTabSz="342900" rtl="0">
              <a:spcBef>
                <a:spcPct val="20000"/>
              </a:spcBef>
            </a:pPr>
            <a:r>
              <a:rPr lang="en-US" sz="2400" dirty="0">
                <a:solidFill>
                  <a:schemeClr val="accent6"/>
                </a:solidFill>
              </a:rPr>
              <a:t>Crude oil, hydrocarbons and alkanes</a:t>
            </a:r>
            <a:r>
              <a:rPr lang="en-US" sz="2400" b="1" kern="1200" dirty="0">
                <a:solidFill>
                  <a:schemeClr val="accent6"/>
                </a:solidFill>
                <a:latin typeface="Calibri"/>
                <a:ea typeface=""/>
                <a:cs typeface="News Gothic MT"/>
              </a:rPr>
              <a:t>– </a:t>
            </a:r>
            <a:r>
              <a:rPr lang="en-US" sz="2400" b="1" kern="1200" dirty="0" err="1">
                <a:solidFill>
                  <a:schemeClr val="tx1"/>
                </a:solidFill>
                <a:latin typeface="Calibri"/>
                <a:ea typeface=""/>
                <a:cs typeface="News Gothic MT"/>
              </a:rPr>
              <a:t>QuestionIT</a:t>
            </a:r>
            <a:endParaRPr kumimoji="0" lang="en-US" sz="2400" b="1" i="0" u="none" strike="noStrike" kern="1200" cap="none" spc="0" normalizeH="0" baseline="0" noProof="0" dirty="0">
              <a:ln>
                <a:noFill/>
              </a:ln>
              <a:solidFill>
                <a:schemeClr val="tx1"/>
              </a:solidFill>
              <a:effectLst/>
              <a:uLnTx/>
              <a:uFillTx/>
              <a:latin typeface="Calibri"/>
              <a:ea typeface=""/>
              <a:cs typeface="News Gothic MT"/>
            </a:endParaRPr>
          </a:p>
        </p:txBody>
      </p:sp>
      <p:sp>
        <p:nvSpPr>
          <p:cNvPr id="4" name="Rectangle 3"/>
          <p:cNvSpPr/>
          <p:nvPr/>
        </p:nvSpPr>
        <p:spPr>
          <a:xfrm>
            <a:off x="149087" y="802524"/>
            <a:ext cx="8915400" cy="5595731"/>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a:lstStyle/>
          <a:p>
            <a:pPr marL="342900" marR="0" lvl="0" indent="-342900" defTabSz="914400" eaLnBrk="1" fontAlgn="auto" latinLnBrk="0" hangingPunct="1">
              <a:lnSpc>
                <a:spcPct val="100000"/>
              </a:lnSpc>
              <a:spcBef>
                <a:spcPts val="0"/>
              </a:spcBef>
              <a:spcAft>
                <a:spcPts val="0"/>
              </a:spcAft>
              <a:buClrTx/>
              <a:buSzTx/>
              <a:buFont typeface="+mj-lt"/>
              <a:buNone/>
              <a:tabLst/>
              <a:defRPr/>
            </a:pPr>
            <a:endParaRPr lang="en-GB" sz="2000" dirty="0">
              <a:solidFill>
                <a:schemeClr val="tx1"/>
              </a:solidFill>
            </a:endParaRPr>
          </a:p>
        </p:txBody>
      </p:sp>
      <p:sp>
        <p:nvSpPr>
          <p:cNvPr id="6" name="TextBox 5"/>
          <p:cNvSpPr txBox="1"/>
          <p:nvPr/>
        </p:nvSpPr>
        <p:spPr>
          <a:xfrm>
            <a:off x="149087" y="697936"/>
            <a:ext cx="8915400" cy="5632311"/>
          </a:xfrm>
          <a:prstGeom prst="rect">
            <a:avLst/>
          </a:prstGeom>
          <a:noFill/>
        </p:spPr>
        <p:txBody>
          <a:bodyPr wrap="square" rtlCol="0">
            <a:spAutoFit/>
          </a:bodyPr>
          <a:lstStyle/>
          <a:p>
            <a:pPr marL="457200" indent="-457200">
              <a:lnSpc>
                <a:spcPct val="150000"/>
              </a:lnSpc>
              <a:buAutoNum type="arabicPeriod"/>
            </a:pPr>
            <a:r>
              <a:rPr lang="en-GB" sz="2400" dirty="0" smtClean="0"/>
              <a:t>Crude </a:t>
            </a:r>
            <a:r>
              <a:rPr lang="en-GB" sz="2400" dirty="0"/>
              <a:t>oil is a finite resource. What does finite mean</a:t>
            </a:r>
            <a:r>
              <a:rPr lang="en-GB" sz="2400" dirty="0" smtClean="0"/>
              <a:t>?</a:t>
            </a:r>
          </a:p>
          <a:p>
            <a:pPr marL="457200" indent="-457200">
              <a:lnSpc>
                <a:spcPct val="150000"/>
              </a:lnSpc>
              <a:buAutoNum type="arabicPeriod"/>
            </a:pPr>
            <a:r>
              <a:rPr lang="en-GB" sz="2400" dirty="0" smtClean="0"/>
              <a:t>How was crude oil formed?</a:t>
            </a:r>
            <a:endParaRPr lang="en-GB" sz="2400" dirty="0"/>
          </a:p>
          <a:p>
            <a:pPr marL="457200" indent="-457200">
              <a:lnSpc>
                <a:spcPct val="150000"/>
              </a:lnSpc>
              <a:buAutoNum type="arabicPeriod"/>
            </a:pPr>
            <a:r>
              <a:rPr lang="en-GB" sz="2400" dirty="0" smtClean="0"/>
              <a:t>What </a:t>
            </a:r>
            <a:r>
              <a:rPr lang="en-GB" sz="2400" dirty="0"/>
              <a:t>is crude </a:t>
            </a:r>
            <a:r>
              <a:rPr lang="en-GB" sz="2400" dirty="0" smtClean="0"/>
              <a:t>oil?</a:t>
            </a:r>
          </a:p>
          <a:p>
            <a:pPr marL="457200" indent="-457200">
              <a:lnSpc>
                <a:spcPct val="150000"/>
              </a:lnSpc>
              <a:buAutoNum type="arabicPeriod"/>
            </a:pPr>
            <a:r>
              <a:rPr lang="en-GB" sz="2400" dirty="0" smtClean="0"/>
              <a:t>What </a:t>
            </a:r>
            <a:r>
              <a:rPr lang="en-GB" sz="2400" dirty="0"/>
              <a:t>is the definition of a </a:t>
            </a:r>
            <a:r>
              <a:rPr lang="en-GB" sz="2400" dirty="0" smtClean="0"/>
              <a:t>hydrocarbon?</a:t>
            </a:r>
          </a:p>
          <a:p>
            <a:pPr marL="457200" indent="-457200">
              <a:lnSpc>
                <a:spcPct val="150000"/>
              </a:lnSpc>
              <a:buFont typeface="+mj-lt"/>
              <a:buAutoNum type="arabicPeriod"/>
            </a:pPr>
            <a:r>
              <a:rPr lang="en-GB" sz="2400" dirty="0" smtClean="0"/>
              <a:t>What </a:t>
            </a:r>
            <a:r>
              <a:rPr lang="en-GB" sz="2400" dirty="0"/>
              <a:t>is the general formula of the </a:t>
            </a:r>
            <a:r>
              <a:rPr lang="en-GB" sz="2400" dirty="0" smtClean="0"/>
              <a:t>alkanes?</a:t>
            </a:r>
          </a:p>
          <a:p>
            <a:pPr marL="457200" indent="-457200">
              <a:lnSpc>
                <a:spcPct val="150000"/>
              </a:lnSpc>
              <a:buFont typeface="+mj-lt"/>
              <a:buAutoNum type="arabicPeriod"/>
            </a:pPr>
            <a:r>
              <a:rPr lang="en-GB" sz="2400" dirty="0" smtClean="0"/>
              <a:t>Name the first four members of the alkanes.</a:t>
            </a:r>
          </a:p>
          <a:p>
            <a:pPr marL="457200" indent="-457200">
              <a:lnSpc>
                <a:spcPct val="150000"/>
              </a:lnSpc>
              <a:buFont typeface="+mj-lt"/>
              <a:buAutoNum type="arabicPeriod"/>
            </a:pPr>
            <a:r>
              <a:rPr lang="en-GB" sz="2400" dirty="0" smtClean="0"/>
              <a:t>What </a:t>
            </a:r>
            <a:r>
              <a:rPr lang="en-GB" sz="2400" dirty="0"/>
              <a:t>would be the formula of an alkane with nine </a:t>
            </a:r>
            <a:r>
              <a:rPr lang="en-GB" sz="2400" dirty="0" smtClean="0"/>
              <a:t>carbons?</a:t>
            </a:r>
          </a:p>
          <a:p>
            <a:pPr marL="457200" indent="-457200">
              <a:lnSpc>
                <a:spcPct val="150000"/>
              </a:lnSpc>
              <a:buFont typeface="+mj-lt"/>
              <a:buAutoNum type="arabicPeriod"/>
            </a:pPr>
            <a:r>
              <a:rPr lang="en-GB" sz="2400" dirty="0" smtClean="0"/>
              <a:t>Draw </a:t>
            </a:r>
            <a:r>
              <a:rPr lang="en-GB" sz="2400" dirty="0"/>
              <a:t>the structural formula of propane.</a:t>
            </a:r>
          </a:p>
          <a:p>
            <a:pPr marL="457200" indent="-457200">
              <a:lnSpc>
                <a:spcPct val="150000"/>
              </a:lnSpc>
              <a:buAutoNum type="arabicPeriod"/>
            </a:pPr>
            <a:endParaRPr lang="en-GB" sz="2400" dirty="0"/>
          </a:p>
          <a:p>
            <a:pPr>
              <a:lnSpc>
                <a:spcPct val="150000"/>
              </a:lnSpc>
            </a:pPr>
            <a:r>
              <a:rPr lang="en-GB" sz="2400" dirty="0"/>
              <a:t>	</a:t>
            </a:r>
            <a:endParaRPr lang="en-GB" sz="1600" dirty="0"/>
          </a:p>
        </p:txBody>
      </p:sp>
    </p:spTree>
    <p:extLst>
      <p:ext uri="{BB962C8B-B14F-4D97-AF65-F5344CB8AC3E}">
        <p14:creationId xmlns:p14="http://schemas.microsoft.com/office/powerpoint/2010/main" val="3727179036"/>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149087" y="802524"/>
            <a:ext cx="8915400" cy="5595731"/>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a:lstStyle/>
          <a:p>
            <a:pPr marL="342900" marR="0" lvl="0" indent="-342900" defTabSz="914400" eaLnBrk="1" fontAlgn="auto" latinLnBrk="0" hangingPunct="1">
              <a:lnSpc>
                <a:spcPct val="100000"/>
              </a:lnSpc>
              <a:spcBef>
                <a:spcPts val="0"/>
              </a:spcBef>
              <a:spcAft>
                <a:spcPts val="0"/>
              </a:spcAft>
              <a:buClrTx/>
              <a:buSzTx/>
              <a:buFont typeface="+mj-lt"/>
              <a:buNone/>
              <a:tabLst/>
              <a:defRPr/>
            </a:pPr>
            <a:endParaRPr lang="en-GB" sz="2000" dirty="0">
              <a:solidFill>
                <a:schemeClr val="tx1"/>
              </a:solidFill>
            </a:endParaRPr>
          </a:p>
        </p:txBody>
      </p:sp>
      <p:sp>
        <p:nvSpPr>
          <p:cNvPr id="7" name="TextBox 6"/>
          <p:cNvSpPr txBox="1"/>
          <p:nvPr/>
        </p:nvSpPr>
        <p:spPr>
          <a:xfrm>
            <a:off x="0" y="980728"/>
            <a:ext cx="4716016" cy="4708981"/>
          </a:xfrm>
          <a:prstGeom prst="rect">
            <a:avLst/>
          </a:prstGeom>
          <a:noFill/>
        </p:spPr>
        <p:txBody>
          <a:bodyPr wrap="square" rtlCol="0">
            <a:spAutoFit/>
          </a:bodyPr>
          <a:lstStyle/>
          <a:p>
            <a:r>
              <a:rPr lang="en-GB" sz="7200" b="1" dirty="0">
                <a:latin typeface="+mj-lt"/>
                <a:ea typeface="Beirut" charset="-78"/>
                <a:cs typeface="Beirut" charset="-78"/>
              </a:rPr>
              <a:t>AnswerIT!</a:t>
            </a:r>
          </a:p>
          <a:p>
            <a:endParaRPr lang="en-GB" dirty="0"/>
          </a:p>
          <a:p>
            <a:endParaRPr lang="en-GB" dirty="0"/>
          </a:p>
          <a:p>
            <a:endParaRPr lang="en-GB" dirty="0"/>
          </a:p>
          <a:p>
            <a:r>
              <a:rPr lang="en-US" sz="2800" b="1" dirty="0"/>
              <a:t>Carbon compounds </a:t>
            </a:r>
          </a:p>
          <a:p>
            <a:r>
              <a:rPr lang="en-US" sz="2800" b="1" dirty="0"/>
              <a:t>as fuels and feedstock</a:t>
            </a:r>
          </a:p>
          <a:p>
            <a:endParaRPr lang="en-US" sz="2800" b="1" dirty="0"/>
          </a:p>
          <a:p>
            <a:r>
              <a:rPr lang="en-GB" sz="2400" b="1" dirty="0">
                <a:solidFill>
                  <a:schemeClr val="tx1">
                    <a:lumMod val="50000"/>
                    <a:lumOff val="50000"/>
                  </a:schemeClr>
                </a:solidFill>
              </a:rPr>
              <a:t>Part 1 </a:t>
            </a:r>
          </a:p>
          <a:p>
            <a:pPr marL="685800" lvl="1" indent="-342900">
              <a:buFont typeface="Arial" charset="0"/>
              <a:buChar char="•"/>
            </a:pPr>
            <a:r>
              <a:rPr lang="en-US" sz="2400" dirty="0">
                <a:solidFill>
                  <a:schemeClr val="tx1">
                    <a:lumMod val="50000"/>
                    <a:lumOff val="50000"/>
                  </a:schemeClr>
                </a:solidFill>
              </a:rPr>
              <a:t>Crude oil, hydrocarbons </a:t>
            </a:r>
          </a:p>
          <a:p>
            <a:pPr marL="342900" lvl="1"/>
            <a:r>
              <a:rPr lang="en-US" sz="2400" dirty="0">
                <a:solidFill>
                  <a:schemeClr val="tx1">
                    <a:lumMod val="50000"/>
                    <a:lumOff val="50000"/>
                  </a:schemeClr>
                </a:solidFill>
              </a:rPr>
              <a:t>     and alkanes</a:t>
            </a:r>
          </a:p>
          <a:p>
            <a:endParaRPr lang="en-GB" dirty="0"/>
          </a:p>
        </p:txBody>
      </p:sp>
      <p:pic>
        <p:nvPicPr>
          <p:cNvPr id="6" name="Picture 5"/>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139952" y="704918"/>
            <a:ext cx="4824536" cy="5257800"/>
          </a:xfrm>
          <a:prstGeom prst="rect">
            <a:avLst/>
          </a:prstGeom>
        </p:spPr>
      </p:pic>
    </p:spTree>
    <p:extLst>
      <p:ext uri="{BB962C8B-B14F-4D97-AF65-F5344CB8AC3E}">
        <p14:creationId xmlns:p14="http://schemas.microsoft.com/office/powerpoint/2010/main" val="2881572594"/>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331640" y="0"/>
            <a:ext cx="7812360" cy="657041"/>
          </a:xfrm>
        </p:spPr>
        <p:txBody>
          <a:bodyPr>
            <a:noAutofit/>
          </a:bodyPr>
          <a:lstStyle/>
          <a:p>
            <a:pPr marL="342900" lvl="1" algn="r" defTabSz="342900" rtl="0">
              <a:spcBef>
                <a:spcPct val="20000"/>
              </a:spcBef>
            </a:pPr>
            <a:r>
              <a:rPr lang="en-US" sz="2400" dirty="0">
                <a:solidFill>
                  <a:schemeClr val="accent6"/>
                </a:solidFill>
              </a:rPr>
              <a:t>Crude oil, hydrocarbons and alkanes</a:t>
            </a:r>
            <a:r>
              <a:rPr lang="en-US" sz="2400" b="1" kern="1200" dirty="0">
                <a:solidFill>
                  <a:schemeClr val="accent6"/>
                </a:solidFill>
                <a:latin typeface="Calibri"/>
                <a:ea typeface=""/>
                <a:cs typeface="News Gothic MT"/>
              </a:rPr>
              <a:t>– </a:t>
            </a:r>
            <a:r>
              <a:rPr lang="en-US" sz="2400" b="1" kern="1200" dirty="0" err="1">
                <a:solidFill>
                  <a:schemeClr val="tx1"/>
                </a:solidFill>
                <a:latin typeface="Calibri"/>
                <a:ea typeface=""/>
                <a:cs typeface="News Gothic MT"/>
              </a:rPr>
              <a:t>QuestionIT</a:t>
            </a:r>
            <a:endParaRPr kumimoji="0" lang="en-US" sz="2400" b="1" i="0" u="none" strike="noStrike" kern="1200" cap="none" spc="0" normalizeH="0" baseline="0" noProof="0" dirty="0">
              <a:ln>
                <a:noFill/>
              </a:ln>
              <a:solidFill>
                <a:schemeClr val="tx1"/>
              </a:solidFill>
              <a:effectLst/>
              <a:uLnTx/>
              <a:uFillTx/>
              <a:latin typeface="Calibri"/>
              <a:ea typeface=""/>
              <a:cs typeface="News Gothic MT"/>
            </a:endParaRPr>
          </a:p>
        </p:txBody>
      </p:sp>
      <p:sp>
        <p:nvSpPr>
          <p:cNvPr id="4" name="Rectangle 3"/>
          <p:cNvSpPr/>
          <p:nvPr/>
        </p:nvSpPr>
        <p:spPr>
          <a:xfrm>
            <a:off x="149087" y="802524"/>
            <a:ext cx="8915400" cy="5595731"/>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a:lstStyle/>
          <a:p>
            <a:pPr marL="342900" marR="0" lvl="0" indent="-342900" defTabSz="914400" eaLnBrk="1" fontAlgn="auto" latinLnBrk="0" hangingPunct="1">
              <a:lnSpc>
                <a:spcPct val="100000"/>
              </a:lnSpc>
              <a:spcBef>
                <a:spcPts val="0"/>
              </a:spcBef>
              <a:spcAft>
                <a:spcPts val="0"/>
              </a:spcAft>
              <a:buClrTx/>
              <a:buSzTx/>
              <a:buFont typeface="+mj-lt"/>
              <a:buNone/>
              <a:tabLst/>
              <a:defRPr/>
            </a:pPr>
            <a:endParaRPr lang="en-GB" sz="2000" dirty="0">
              <a:solidFill>
                <a:schemeClr val="tx1"/>
              </a:solidFill>
            </a:endParaRPr>
          </a:p>
        </p:txBody>
      </p:sp>
      <p:sp>
        <p:nvSpPr>
          <p:cNvPr id="6" name="TextBox 5"/>
          <p:cNvSpPr txBox="1"/>
          <p:nvPr/>
        </p:nvSpPr>
        <p:spPr>
          <a:xfrm>
            <a:off x="149087" y="697936"/>
            <a:ext cx="8915400" cy="4893647"/>
          </a:xfrm>
          <a:prstGeom prst="rect">
            <a:avLst/>
          </a:prstGeom>
          <a:noFill/>
        </p:spPr>
        <p:txBody>
          <a:bodyPr wrap="square" rtlCol="0">
            <a:spAutoFit/>
          </a:bodyPr>
          <a:lstStyle/>
          <a:p>
            <a:pPr marL="457200" indent="-457200">
              <a:buAutoNum type="arabicPeriod"/>
            </a:pPr>
            <a:r>
              <a:rPr lang="en-GB" sz="2400" dirty="0" smtClean="0"/>
              <a:t>Crude </a:t>
            </a:r>
            <a:r>
              <a:rPr lang="en-GB" sz="2400" dirty="0"/>
              <a:t>oil is a finite resource. What does finite mean</a:t>
            </a:r>
            <a:r>
              <a:rPr lang="en-GB" sz="2400" dirty="0" smtClean="0"/>
              <a:t>?</a:t>
            </a:r>
          </a:p>
          <a:p>
            <a:pPr lvl="1"/>
            <a:r>
              <a:rPr lang="en-GB" sz="2400" dirty="0" smtClean="0">
                <a:solidFill>
                  <a:srgbClr val="00B050"/>
                </a:solidFill>
              </a:rPr>
              <a:t>Being used up faster than it is being formed.</a:t>
            </a:r>
            <a:endParaRPr lang="en-GB" sz="2400" dirty="0" smtClean="0"/>
          </a:p>
          <a:p>
            <a:pPr marL="457200" indent="-457200">
              <a:buAutoNum type="arabicPeriod"/>
            </a:pPr>
            <a:r>
              <a:rPr lang="en-GB" sz="2400" dirty="0" smtClean="0"/>
              <a:t>How was crude oil formed?</a:t>
            </a:r>
          </a:p>
          <a:p>
            <a:pPr lvl="1"/>
            <a:r>
              <a:rPr lang="en-GB" sz="2400" dirty="0" smtClean="0">
                <a:solidFill>
                  <a:srgbClr val="00B050"/>
                </a:solidFill>
              </a:rPr>
              <a:t>Remains of an ancient biomass consisting of many plankton that was buried in mud.</a:t>
            </a:r>
            <a:endParaRPr lang="en-GB" sz="2400" dirty="0"/>
          </a:p>
          <a:p>
            <a:pPr marL="457200" indent="-457200">
              <a:buAutoNum type="arabicPeriod"/>
            </a:pPr>
            <a:r>
              <a:rPr lang="en-GB" sz="2400" dirty="0" smtClean="0"/>
              <a:t>What </a:t>
            </a:r>
            <a:r>
              <a:rPr lang="en-GB" sz="2400" dirty="0"/>
              <a:t>is crude </a:t>
            </a:r>
            <a:r>
              <a:rPr lang="en-GB" sz="2400" dirty="0" smtClean="0"/>
              <a:t>oil?</a:t>
            </a:r>
          </a:p>
          <a:p>
            <a:pPr lvl="1"/>
            <a:r>
              <a:rPr lang="en-GB" sz="2400" dirty="0" smtClean="0">
                <a:solidFill>
                  <a:srgbClr val="00B050"/>
                </a:solidFill>
              </a:rPr>
              <a:t>Mixture of a very large number of compounds, most of which are hydrocarbons.</a:t>
            </a:r>
            <a:endParaRPr lang="en-GB" sz="2400" dirty="0" smtClean="0"/>
          </a:p>
          <a:p>
            <a:pPr marL="457200" indent="-457200">
              <a:buAutoNum type="arabicPeriod"/>
            </a:pPr>
            <a:r>
              <a:rPr lang="en-GB" sz="2400" dirty="0" smtClean="0"/>
              <a:t>What </a:t>
            </a:r>
            <a:r>
              <a:rPr lang="en-GB" sz="2400" dirty="0"/>
              <a:t>is the definition of a </a:t>
            </a:r>
            <a:r>
              <a:rPr lang="en-GB" sz="2400" dirty="0" smtClean="0"/>
              <a:t>hydrocarbon?</a:t>
            </a:r>
          </a:p>
          <a:p>
            <a:pPr lvl="1"/>
            <a:r>
              <a:rPr lang="en-GB" sz="2400" dirty="0" smtClean="0">
                <a:solidFill>
                  <a:srgbClr val="00B050"/>
                </a:solidFill>
              </a:rPr>
              <a:t>Compound containing hydrogen and carbon </a:t>
            </a:r>
            <a:r>
              <a:rPr lang="en-GB" sz="2400" u="sng" dirty="0" smtClean="0">
                <a:solidFill>
                  <a:srgbClr val="00B050"/>
                </a:solidFill>
              </a:rPr>
              <a:t>only</a:t>
            </a:r>
            <a:r>
              <a:rPr lang="en-GB" sz="2400" dirty="0" smtClean="0">
                <a:solidFill>
                  <a:srgbClr val="00B050"/>
                </a:solidFill>
              </a:rPr>
              <a:t>.</a:t>
            </a:r>
            <a:endParaRPr lang="en-GB" sz="2400" dirty="0" smtClean="0"/>
          </a:p>
          <a:p>
            <a:pPr marL="457200" indent="-457200">
              <a:lnSpc>
                <a:spcPct val="150000"/>
              </a:lnSpc>
              <a:buAutoNum type="arabicPeriod"/>
            </a:pPr>
            <a:endParaRPr lang="en-GB" sz="2400" dirty="0"/>
          </a:p>
          <a:p>
            <a:pPr>
              <a:lnSpc>
                <a:spcPct val="150000"/>
              </a:lnSpc>
            </a:pPr>
            <a:r>
              <a:rPr lang="en-GB" sz="2400" dirty="0"/>
              <a:t>	</a:t>
            </a:r>
            <a:endParaRPr lang="en-GB" sz="1600" dirty="0"/>
          </a:p>
        </p:txBody>
      </p:sp>
    </p:spTree>
    <p:extLst>
      <p:ext uri="{BB962C8B-B14F-4D97-AF65-F5344CB8AC3E}">
        <p14:creationId xmlns:p14="http://schemas.microsoft.com/office/powerpoint/2010/main" val="1565757906"/>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331640" y="0"/>
            <a:ext cx="7812360" cy="657041"/>
          </a:xfrm>
        </p:spPr>
        <p:txBody>
          <a:bodyPr>
            <a:noAutofit/>
          </a:bodyPr>
          <a:lstStyle/>
          <a:p>
            <a:pPr marL="342900" lvl="1" algn="r" defTabSz="342900" rtl="0">
              <a:spcBef>
                <a:spcPct val="20000"/>
              </a:spcBef>
            </a:pPr>
            <a:r>
              <a:rPr lang="en-US" sz="2400" dirty="0">
                <a:solidFill>
                  <a:schemeClr val="accent6"/>
                </a:solidFill>
              </a:rPr>
              <a:t>Crude oil, hydrocarbons and alkanes</a:t>
            </a:r>
            <a:r>
              <a:rPr lang="en-US" sz="2400" b="1" kern="1200" dirty="0">
                <a:solidFill>
                  <a:schemeClr val="accent6"/>
                </a:solidFill>
                <a:latin typeface="Calibri"/>
                <a:ea typeface=""/>
                <a:cs typeface="News Gothic MT"/>
              </a:rPr>
              <a:t>– </a:t>
            </a:r>
            <a:r>
              <a:rPr lang="en-US" sz="2400" b="1" kern="1200" dirty="0" err="1">
                <a:solidFill>
                  <a:schemeClr val="tx1"/>
                </a:solidFill>
                <a:latin typeface="Calibri"/>
                <a:ea typeface=""/>
                <a:cs typeface="News Gothic MT"/>
              </a:rPr>
              <a:t>QuestionIT</a:t>
            </a:r>
            <a:endParaRPr kumimoji="0" lang="en-US" sz="2400" b="1" i="0" u="none" strike="noStrike" kern="1200" cap="none" spc="0" normalizeH="0" baseline="0" noProof="0" dirty="0">
              <a:ln>
                <a:noFill/>
              </a:ln>
              <a:solidFill>
                <a:schemeClr val="tx1"/>
              </a:solidFill>
              <a:effectLst/>
              <a:uLnTx/>
              <a:uFillTx/>
              <a:latin typeface="Calibri"/>
              <a:ea typeface=""/>
              <a:cs typeface="News Gothic MT"/>
            </a:endParaRPr>
          </a:p>
        </p:txBody>
      </p:sp>
      <p:sp>
        <p:nvSpPr>
          <p:cNvPr id="4" name="Rectangle 3"/>
          <p:cNvSpPr/>
          <p:nvPr/>
        </p:nvSpPr>
        <p:spPr>
          <a:xfrm>
            <a:off x="149087" y="802524"/>
            <a:ext cx="8915400" cy="5595731"/>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a:lstStyle/>
          <a:p>
            <a:pPr marL="342900" marR="0" lvl="0" indent="-342900" defTabSz="914400" eaLnBrk="1" fontAlgn="auto" latinLnBrk="0" hangingPunct="1">
              <a:lnSpc>
                <a:spcPct val="100000"/>
              </a:lnSpc>
              <a:spcBef>
                <a:spcPts val="0"/>
              </a:spcBef>
              <a:spcAft>
                <a:spcPts val="0"/>
              </a:spcAft>
              <a:buClrTx/>
              <a:buSzTx/>
              <a:buFont typeface="+mj-lt"/>
              <a:buNone/>
              <a:tabLst/>
              <a:defRPr/>
            </a:pPr>
            <a:endParaRPr lang="en-GB" sz="2000" dirty="0">
              <a:solidFill>
                <a:schemeClr val="tx1"/>
              </a:solidFill>
            </a:endParaRPr>
          </a:p>
        </p:txBody>
      </p:sp>
      <p:sp>
        <p:nvSpPr>
          <p:cNvPr id="6" name="TextBox 5"/>
          <p:cNvSpPr txBox="1"/>
          <p:nvPr/>
        </p:nvSpPr>
        <p:spPr>
          <a:xfrm>
            <a:off x="149087" y="697936"/>
            <a:ext cx="8915400" cy="3785652"/>
          </a:xfrm>
          <a:prstGeom prst="rect">
            <a:avLst/>
          </a:prstGeom>
          <a:noFill/>
        </p:spPr>
        <p:txBody>
          <a:bodyPr wrap="square" rtlCol="0">
            <a:spAutoFit/>
          </a:bodyPr>
          <a:lstStyle/>
          <a:p>
            <a:pPr marL="457200" indent="-457200">
              <a:buFont typeface="+mj-lt"/>
              <a:buAutoNum type="arabicPeriod" startAt="5"/>
            </a:pPr>
            <a:r>
              <a:rPr lang="en-GB" sz="2400" dirty="0" smtClean="0"/>
              <a:t>What </a:t>
            </a:r>
            <a:r>
              <a:rPr lang="en-GB" sz="2400" dirty="0"/>
              <a:t>is the general formula of the </a:t>
            </a:r>
            <a:r>
              <a:rPr lang="en-GB" sz="2400" dirty="0" smtClean="0"/>
              <a:t>alkanes?</a:t>
            </a:r>
          </a:p>
          <a:p>
            <a:pPr lvl="1"/>
            <a:r>
              <a:rPr lang="en-GB" sz="2400" dirty="0" smtClean="0">
                <a:solidFill>
                  <a:srgbClr val="00B050"/>
                </a:solidFill>
              </a:rPr>
              <a:t>C</a:t>
            </a:r>
            <a:r>
              <a:rPr lang="en-GB" sz="2400" baseline="-25000" dirty="0" smtClean="0">
                <a:solidFill>
                  <a:srgbClr val="00B050"/>
                </a:solidFill>
              </a:rPr>
              <a:t>n</a:t>
            </a:r>
            <a:r>
              <a:rPr lang="en-GB" sz="2400" dirty="0" smtClean="0">
                <a:solidFill>
                  <a:srgbClr val="00B050"/>
                </a:solidFill>
              </a:rPr>
              <a:t>H</a:t>
            </a:r>
            <a:r>
              <a:rPr lang="en-GB" sz="2400" baseline="-25000" dirty="0" smtClean="0">
                <a:solidFill>
                  <a:srgbClr val="00B050"/>
                </a:solidFill>
              </a:rPr>
              <a:t>2n+2</a:t>
            </a:r>
            <a:endParaRPr lang="en-GB" sz="2400" baseline="-25000" dirty="0" smtClean="0"/>
          </a:p>
          <a:p>
            <a:pPr marL="457200" indent="-457200">
              <a:buFont typeface="+mj-lt"/>
              <a:buAutoNum type="arabicPeriod" startAt="5"/>
            </a:pPr>
            <a:r>
              <a:rPr lang="en-GB" sz="2400" dirty="0" smtClean="0"/>
              <a:t>Name the first four members of the alkanes.</a:t>
            </a:r>
          </a:p>
          <a:p>
            <a:pPr lvl="1"/>
            <a:r>
              <a:rPr lang="en-GB" sz="2400" dirty="0" smtClean="0">
                <a:solidFill>
                  <a:srgbClr val="00B050"/>
                </a:solidFill>
              </a:rPr>
              <a:t>Methane, ethane, propane, butane</a:t>
            </a:r>
            <a:endParaRPr lang="en-GB" sz="2400" dirty="0" smtClean="0"/>
          </a:p>
          <a:p>
            <a:pPr marL="457200" indent="-457200">
              <a:buFont typeface="+mj-lt"/>
              <a:buAutoNum type="arabicPeriod" startAt="5"/>
            </a:pPr>
            <a:r>
              <a:rPr lang="en-GB" sz="2400" dirty="0" smtClean="0"/>
              <a:t>What </a:t>
            </a:r>
            <a:r>
              <a:rPr lang="en-GB" sz="2400" dirty="0"/>
              <a:t>would be the formula of an alkane with nine </a:t>
            </a:r>
            <a:r>
              <a:rPr lang="en-GB" sz="2400" dirty="0" smtClean="0"/>
              <a:t>carbons?</a:t>
            </a:r>
          </a:p>
          <a:p>
            <a:pPr lvl="1"/>
            <a:r>
              <a:rPr lang="en-GB" sz="2400" dirty="0" smtClean="0">
                <a:solidFill>
                  <a:srgbClr val="00B050"/>
                </a:solidFill>
              </a:rPr>
              <a:t>C</a:t>
            </a:r>
            <a:r>
              <a:rPr lang="en-GB" sz="2400" baseline="-25000" dirty="0" smtClean="0">
                <a:solidFill>
                  <a:srgbClr val="00B050"/>
                </a:solidFill>
              </a:rPr>
              <a:t>9</a:t>
            </a:r>
            <a:r>
              <a:rPr lang="en-GB" sz="2400" dirty="0" smtClean="0">
                <a:solidFill>
                  <a:srgbClr val="00B050"/>
                </a:solidFill>
              </a:rPr>
              <a:t>H</a:t>
            </a:r>
            <a:r>
              <a:rPr lang="en-GB" sz="2400" baseline="-25000" dirty="0" smtClean="0">
                <a:solidFill>
                  <a:srgbClr val="00B050"/>
                </a:solidFill>
              </a:rPr>
              <a:t>20</a:t>
            </a:r>
            <a:endParaRPr lang="en-GB" sz="2400" baseline="-25000" dirty="0"/>
          </a:p>
          <a:p>
            <a:pPr marL="457200" indent="-457200">
              <a:buFont typeface="+mj-lt"/>
              <a:buAutoNum type="arabicPeriod" startAt="5"/>
            </a:pPr>
            <a:r>
              <a:rPr lang="en-GB" sz="2400" dirty="0" smtClean="0"/>
              <a:t>Draw </a:t>
            </a:r>
            <a:r>
              <a:rPr lang="en-GB" sz="2400" dirty="0"/>
              <a:t>the structural formula of propane.</a:t>
            </a:r>
          </a:p>
          <a:p>
            <a:pPr marL="457200" indent="-457200">
              <a:lnSpc>
                <a:spcPct val="150000"/>
              </a:lnSpc>
              <a:buAutoNum type="arabicPeriod" startAt="5"/>
            </a:pPr>
            <a:endParaRPr lang="en-GB" sz="2400" dirty="0"/>
          </a:p>
          <a:p>
            <a:pPr>
              <a:lnSpc>
                <a:spcPct val="150000"/>
              </a:lnSpc>
            </a:pPr>
            <a:r>
              <a:rPr lang="en-GB" sz="2400" dirty="0"/>
              <a:t>	</a:t>
            </a:r>
            <a:endParaRPr lang="en-GB" sz="1600" dirty="0"/>
          </a:p>
        </p:txBody>
      </p:sp>
      <p:pic>
        <p:nvPicPr>
          <p:cNvPr id="5" name="Picture 4"/>
          <p:cNvPicPr>
            <a:picLocks noChangeAspect="1"/>
          </p:cNvPicPr>
          <p:nvPr/>
        </p:nvPicPr>
        <p:blipFill>
          <a:blip r:embed="rId2"/>
          <a:stretch>
            <a:fillRect/>
          </a:stretch>
        </p:blipFill>
        <p:spPr>
          <a:xfrm>
            <a:off x="2339752" y="3431146"/>
            <a:ext cx="3312367" cy="2009775"/>
          </a:xfrm>
          <a:prstGeom prst="rect">
            <a:avLst/>
          </a:prstGeom>
        </p:spPr>
      </p:pic>
    </p:spTree>
    <p:extLst>
      <p:ext uri="{BB962C8B-B14F-4D97-AF65-F5344CB8AC3E}">
        <p14:creationId xmlns:p14="http://schemas.microsoft.com/office/powerpoint/2010/main" val="2763289190"/>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149087" y="802524"/>
            <a:ext cx="8915400" cy="5595731"/>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a:lstStyle/>
          <a:p>
            <a:pPr marL="342900" marR="0" lvl="0" indent="-342900" defTabSz="914400" eaLnBrk="1" fontAlgn="auto" latinLnBrk="0" hangingPunct="1">
              <a:lnSpc>
                <a:spcPct val="100000"/>
              </a:lnSpc>
              <a:spcBef>
                <a:spcPts val="0"/>
              </a:spcBef>
              <a:spcAft>
                <a:spcPts val="0"/>
              </a:spcAft>
              <a:buClrTx/>
              <a:buSzTx/>
              <a:buFont typeface="+mj-lt"/>
              <a:buNone/>
              <a:tabLst/>
              <a:defRPr/>
            </a:pPr>
            <a:endParaRPr lang="en-GB" sz="2000" dirty="0">
              <a:solidFill>
                <a:schemeClr val="tx1"/>
              </a:solidFill>
            </a:endParaRPr>
          </a:p>
        </p:txBody>
      </p:sp>
      <p:sp>
        <p:nvSpPr>
          <p:cNvPr id="7" name="TextBox 6"/>
          <p:cNvSpPr txBox="1"/>
          <p:nvPr/>
        </p:nvSpPr>
        <p:spPr>
          <a:xfrm>
            <a:off x="0" y="980728"/>
            <a:ext cx="3491880" cy="6124754"/>
          </a:xfrm>
          <a:prstGeom prst="rect">
            <a:avLst/>
          </a:prstGeom>
          <a:noFill/>
        </p:spPr>
        <p:txBody>
          <a:bodyPr wrap="square" rtlCol="0">
            <a:spAutoFit/>
          </a:bodyPr>
          <a:lstStyle/>
          <a:p>
            <a:r>
              <a:rPr lang="en-GB" sz="7200" b="1" dirty="0">
                <a:latin typeface="+mj-lt"/>
                <a:ea typeface="Beirut" charset="-78"/>
                <a:cs typeface="Beirut" charset="-78"/>
              </a:rPr>
              <a:t>LearnIT!</a:t>
            </a:r>
          </a:p>
          <a:p>
            <a:r>
              <a:rPr lang="en-GB" sz="7200" b="1" dirty="0">
                <a:latin typeface="+mj-lt"/>
                <a:ea typeface="Beirut" charset="-78"/>
                <a:cs typeface="Beirut" charset="-78"/>
              </a:rPr>
              <a:t>KnowIT!</a:t>
            </a:r>
          </a:p>
          <a:p>
            <a:endParaRPr lang="en-GB" dirty="0"/>
          </a:p>
          <a:p>
            <a:r>
              <a:rPr lang="en-US" sz="2800" b="1" dirty="0"/>
              <a:t>Carbon compounds as fuels and feedstock</a:t>
            </a:r>
          </a:p>
          <a:p>
            <a:r>
              <a:rPr lang="en-GB" sz="2400" b="1" dirty="0">
                <a:solidFill>
                  <a:schemeClr val="tx1">
                    <a:lumMod val="50000"/>
                    <a:lumOff val="50000"/>
                  </a:schemeClr>
                </a:solidFill>
              </a:rPr>
              <a:t>Part 2 </a:t>
            </a:r>
          </a:p>
          <a:p>
            <a:pPr marL="685800" lvl="1" indent="-342900">
              <a:buFont typeface="Arial" charset="0"/>
              <a:buChar char="•"/>
            </a:pPr>
            <a:r>
              <a:rPr lang="en-US" sz="2000" dirty="0">
                <a:solidFill>
                  <a:schemeClr val="tx1">
                    <a:lumMod val="50000"/>
                    <a:lumOff val="50000"/>
                  </a:schemeClr>
                </a:solidFill>
              </a:rPr>
              <a:t>Fractional distillation</a:t>
            </a:r>
          </a:p>
          <a:p>
            <a:pPr marL="342900" lvl="1"/>
            <a:r>
              <a:rPr lang="en-US" sz="2000" dirty="0">
                <a:solidFill>
                  <a:schemeClr val="tx1">
                    <a:lumMod val="50000"/>
                    <a:lumOff val="50000"/>
                  </a:schemeClr>
                </a:solidFill>
              </a:rPr>
              <a:t>      and petrochemicals</a:t>
            </a:r>
          </a:p>
          <a:p>
            <a:pPr marL="685800" lvl="1" indent="-342900">
              <a:buFont typeface="Arial" panose="020B0604020202020204" pitchFamily="34" charset="0"/>
              <a:buChar char="•"/>
            </a:pPr>
            <a:r>
              <a:rPr lang="en-US" sz="2000" dirty="0">
                <a:solidFill>
                  <a:schemeClr val="tx1">
                    <a:lumMod val="50000"/>
                    <a:lumOff val="50000"/>
                  </a:schemeClr>
                </a:solidFill>
              </a:rPr>
              <a:t>Properties of hydrocarbons</a:t>
            </a:r>
          </a:p>
          <a:p>
            <a:pPr>
              <a:lnSpc>
                <a:spcPct val="150000"/>
              </a:lnSpc>
            </a:pPr>
            <a:endParaRPr lang="en-GB" sz="2000" b="1" dirty="0">
              <a:solidFill>
                <a:schemeClr val="tx1">
                  <a:lumMod val="50000"/>
                  <a:lumOff val="50000"/>
                </a:schemeClr>
              </a:solidFill>
            </a:endParaRPr>
          </a:p>
          <a:p>
            <a:endParaRPr lang="en-GB" sz="2000" b="1" dirty="0">
              <a:solidFill>
                <a:schemeClr val="tx1">
                  <a:lumMod val="50000"/>
                  <a:lumOff val="50000"/>
                </a:schemeClr>
              </a:solidFill>
            </a:endParaRPr>
          </a:p>
          <a:p>
            <a:endParaRPr lang="en-GB" sz="2000" dirty="0"/>
          </a:p>
        </p:txBody>
      </p:sp>
      <p:pic>
        <p:nvPicPr>
          <p:cNvPr id="6" name="Picture 5"/>
          <p:cNvPicPr>
            <a:picLocks noChangeAspect="1"/>
          </p:cNvPicPr>
          <p:nvPr/>
        </p:nvPicPr>
        <p:blipFill>
          <a:blip r:embed="rId3">
            <a:clrChange>
              <a:clrFrom>
                <a:srgbClr val="FFFFFF"/>
              </a:clrFrom>
              <a:clrTo>
                <a:srgbClr val="FFFFFF">
                  <a:alpha val="0"/>
                </a:srgbClr>
              </a:clrTo>
            </a:clrChange>
          </a:blip>
          <a:stretch>
            <a:fillRect/>
          </a:stretch>
        </p:blipFill>
        <p:spPr>
          <a:xfrm>
            <a:off x="2642398" y="0"/>
            <a:ext cx="6538114" cy="6525344"/>
          </a:xfrm>
          <a:prstGeom prst="rect">
            <a:avLst/>
          </a:prstGeom>
        </p:spPr>
      </p:pic>
    </p:spTree>
    <p:extLst>
      <p:ext uri="{BB962C8B-B14F-4D97-AF65-F5344CB8AC3E}">
        <p14:creationId xmlns:p14="http://schemas.microsoft.com/office/powerpoint/2010/main" val="1981867486"/>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146248" y="46565"/>
            <a:ext cx="8028384" cy="657041"/>
          </a:xfrm>
        </p:spPr>
        <p:txBody>
          <a:bodyPr>
            <a:noAutofit/>
          </a:bodyPr>
          <a:lstStyle/>
          <a:p>
            <a:pPr marL="342900" lvl="1"/>
            <a:r>
              <a:rPr lang="en-US" dirty="0">
                <a:solidFill>
                  <a:schemeClr val="accent6"/>
                </a:solidFill>
              </a:rPr>
              <a:t>Fractional distillation and petrochemicals and properties of hydrocarbons</a:t>
            </a:r>
          </a:p>
        </p:txBody>
      </p:sp>
      <p:sp>
        <p:nvSpPr>
          <p:cNvPr id="9" name="TextBox 8"/>
          <p:cNvSpPr txBox="1"/>
          <p:nvPr/>
        </p:nvSpPr>
        <p:spPr>
          <a:xfrm>
            <a:off x="6876256" y="5517232"/>
            <a:ext cx="184731" cy="369332"/>
          </a:xfrm>
          <a:prstGeom prst="rect">
            <a:avLst/>
          </a:prstGeom>
          <a:noFill/>
        </p:spPr>
        <p:txBody>
          <a:bodyPr wrap="none" rtlCol="0">
            <a:spAutoFit/>
          </a:bodyPr>
          <a:lstStyle/>
          <a:p>
            <a:endParaRPr lang="en-GB" dirty="0"/>
          </a:p>
        </p:txBody>
      </p:sp>
      <p:sp>
        <p:nvSpPr>
          <p:cNvPr id="6" name="TextBox 5"/>
          <p:cNvSpPr txBox="1"/>
          <p:nvPr/>
        </p:nvSpPr>
        <p:spPr>
          <a:xfrm>
            <a:off x="179512" y="836712"/>
            <a:ext cx="5066318" cy="1323439"/>
          </a:xfrm>
          <a:prstGeom prst="rect">
            <a:avLst/>
          </a:prstGeom>
          <a:noFill/>
          <a:ln w="28575">
            <a:solidFill>
              <a:schemeClr val="accent6"/>
            </a:solidFill>
          </a:ln>
        </p:spPr>
        <p:txBody>
          <a:bodyPr wrap="square" rtlCol="0">
            <a:spAutoFit/>
          </a:bodyPr>
          <a:lstStyle/>
          <a:p>
            <a:r>
              <a:rPr lang="en-GB" sz="2000" dirty="0"/>
              <a:t>The many hydrocarbons in crude oil may be separated into </a:t>
            </a:r>
            <a:r>
              <a:rPr lang="en-GB" sz="2000" b="1" dirty="0">
                <a:solidFill>
                  <a:schemeClr val="accent6">
                    <a:lumMod val="75000"/>
                  </a:schemeClr>
                </a:solidFill>
              </a:rPr>
              <a:t>fractions</a:t>
            </a:r>
            <a:r>
              <a:rPr lang="en-GB" sz="2000" dirty="0"/>
              <a:t>, each of which contains molecules with a </a:t>
            </a:r>
            <a:r>
              <a:rPr lang="en-GB" sz="2000" b="1" dirty="0">
                <a:solidFill>
                  <a:schemeClr val="accent6">
                    <a:lumMod val="75000"/>
                  </a:schemeClr>
                </a:solidFill>
              </a:rPr>
              <a:t>similar number of carbon atoms</a:t>
            </a:r>
            <a:r>
              <a:rPr lang="en-GB" sz="2000" dirty="0"/>
              <a:t> by fractional distillation</a:t>
            </a:r>
          </a:p>
        </p:txBody>
      </p:sp>
      <p:sp>
        <p:nvSpPr>
          <p:cNvPr id="8" name="TextBox 7"/>
          <p:cNvSpPr txBox="1"/>
          <p:nvPr/>
        </p:nvSpPr>
        <p:spPr>
          <a:xfrm>
            <a:off x="5449686" y="836711"/>
            <a:ext cx="3672408" cy="1323439"/>
          </a:xfrm>
          <a:prstGeom prst="rect">
            <a:avLst/>
          </a:prstGeom>
          <a:solidFill>
            <a:schemeClr val="accent6"/>
          </a:solidFill>
          <a:ln w="28575">
            <a:solidFill>
              <a:schemeClr val="tx1"/>
            </a:solidFill>
          </a:ln>
        </p:spPr>
        <p:txBody>
          <a:bodyPr wrap="square" rtlCol="0">
            <a:spAutoFit/>
          </a:bodyPr>
          <a:lstStyle/>
          <a:p>
            <a:r>
              <a:rPr lang="en-GB" sz="2000" b="1" dirty="0"/>
              <a:t>Below is a diagram of a fractional distillation column, learn the order of the fractions on the right hand side</a:t>
            </a:r>
          </a:p>
        </p:txBody>
      </p:sp>
      <p:sp>
        <p:nvSpPr>
          <p:cNvPr id="15" name="TextBox 14"/>
          <p:cNvSpPr txBox="1"/>
          <p:nvPr/>
        </p:nvSpPr>
        <p:spPr>
          <a:xfrm>
            <a:off x="179512" y="2192526"/>
            <a:ext cx="6552728" cy="1323439"/>
          </a:xfrm>
          <a:custGeom>
            <a:avLst/>
            <a:gdLst>
              <a:gd name="connsiteX0" fmla="*/ 0 w 4680520"/>
              <a:gd name="connsiteY0" fmla="*/ 0 h 1477328"/>
              <a:gd name="connsiteX1" fmla="*/ 4680520 w 4680520"/>
              <a:gd name="connsiteY1" fmla="*/ 0 h 1477328"/>
              <a:gd name="connsiteX2" fmla="*/ 4680520 w 4680520"/>
              <a:gd name="connsiteY2" fmla="*/ 1477328 h 1477328"/>
              <a:gd name="connsiteX3" fmla="*/ 0 w 4680520"/>
              <a:gd name="connsiteY3" fmla="*/ 1477328 h 1477328"/>
              <a:gd name="connsiteX4" fmla="*/ 0 w 4680520"/>
              <a:gd name="connsiteY4" fmla="*/ 0 h 1477328"/>
              <a:gd name="connsiteX0" fmla="*/ 25758 w 4680520"/>
              <a:gd name="connsiteY0" fmla="*/ 0 h 1554601"/>
              <a:gd name="connsiteX1" fmla="*/ 4680520 w 4680520"/>
              <a:gd name="connsiteY1" fmla="*/ 77273 h 1554601"/>
              <a:gd name="connsiteX2" fmla="*/ 4680520 w 4680520"/>
              <a:gd name="connsiteY2" fmla="*/ 1554601 h 1554601"/>
              <a:gd name="connsiteX3" fmla="*/ 0 w 4680520"/>
              <a:gd name="connsiteY3" fmla="*/ 1554601 h 1554601"/>
              <a:gd name="connsiteX4" fmla="*/ 25758 w 4680520"/>
              <a:gd name="connsiteY4" fmla="*/ 0 h 1554601"/>
              <a:gd name="connsiteX0" fmla="*/ 25758 w 4680520"/>
              <a:gd name="connsiteY0" fmla="*/ 25758 h 1580359"/>
              <a:gd name="connsiteX1" fmla="*/ 4680520 w 4680520"/>
              <a:gd name="connsiteY1" fmla="*/ 0 h 1580359"/>
              <a:gd name="connsiteX2" fmla="*/ 4680520 w 4680520"/>
              <a:gd name="connsiteY2" fmla="*/ 1580359 h 1580359"/>
              <a:gd name="connsiteX3" fmla="*/ 0 w 4680520"/>
              <a:gd name="connsiteY3" fmla="*/ 1580359 h 1580359"/>
              <a:gd name="connsiteX4" fmla="*/ 25758 w 4680520"/>
              <a:gd name="connsiteY4" fmla="*/ 25758 h 1580359"/>
              <a:gd name="connsiteX0" fmla="*/ 25758 w 4680520"/>
              <a:gd name="connsiteY0" fmla="*/ 12879 h 1567480"/>
              <a:gd name="connsiteX1" fmla="*/ 4680520 w 4680520"/>
              <a:gd name="connsiteY1" fmla="*/ 0 h 1567480"/>
              <a:gd name="connsiteX2" fmla="*/ 4680520 w 4680520"/>
              <a:gd name="connsiteY2" fmla="*/ 1567480 h 1567480"/>
              <a:gd name="connsiteX3" fmla="*/ 0 w 4680520"/>
              <a:gd name="connsiteY3" fmla="*/ 1567480 h 1567480"/>
              <a:gd name="connsiteX4" fmla="*/ 25758 w 4680520"/>
              <a:gd name="connsiteY4" fmla="*/ 12879 h 15674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680520" h="1567480">
                <a:moveTo>
                  <a:pt x="25758" y="12879"/>
                </a:moveTo>
                <a:lnTo>
                  <a:pt x="4680520" y="0"/>
                </a:lnTo>
                <a:lnTo>
                  <a:pt x="4680520" y="1567480"/>
                </a:lnTo>
                <a:lnTo>
                  <a:pt x="0" y="1567480"/>
                </a:lnTo>
                <a:lnTo>
                  <a:pt x="25758" y="12879"/>
                </a:lnTo>
                <a:close/>
              </a:path>
            </a:pathLst>
          </a:custGeom>
          <a:noFill/>
        </p:spPr>
        <p:txBody>
          <a:bodyPr wrap="square" rtlCol="0">
            <a:spAutoFit/>
          </a:bodyPr>
          <a:lstStyle/>
          <a:p>
            <a:r>
              <a:rPr lang="en-GB" sz="2000" dirty="0"/>
              <a:t>If we look at the diagram on the right all the hydrocarbon molecules in the highest fraction – </a:t>
            </a:r>
            <a:r>
              <a:rPr lang="en-GB" sz="2000" b="1" dirty="0">
                <a:solidFill>
                  <a:schemeClr val="accent6">
                    <a:lumMod val="75000"/>
                  </a:schemeClr>
                </a:solidFill>
              </a:rPr>
              <a:t>liquefied petroleum gases </a:t>
            </a:r>
            <a:r>
              <a:rPr lang="en-GB" sz="2000" dirty="0"/>
              <a:t>will have between </a:t>
            </a:r>
            <a:r>
              <a:rPr lang="en-GB" sz="2000" b="1" dirty="0">
                <a:solidFill>
                  <a:schemeClr val="accent6">
                    <a:lumMod val="75000"/>
                  </a:schemeClr>
                </a:solidFill>
              </a:rPr>
              <a:t>1 and 4 carbons</a:t>
            </a:r>
            <a:r>
              <a:rPr lang="en-GB" sz="2000" dirty="0"/>
              <a:t>. All the hydrocarbon molecules in </a:t>
            </a:r>
            <a:r>
              <a:rPr lang="en-GB" sz="2000" b="1" dirty="0">
                <a:solidFill>
                  <a:schemeClr val="accent6">
                    <a:lumMod val="75000"/>
                  </a:schemeClr>
                </a:solidFill>
              </a:rPr>
              <a:t>petrol</a:t>
            </a:r>
            <a:r>
              <a:rPr lang="en-GB" sz="2000" dirty="0"/>
              <a:t> will have between </a:t>
            </a:r>
            <a:r>
              <a:rPr lang="en-GB" sz="2000" b="1" dirty="0">
                <a:solidFill>
                  <a:schemeClr val="accent6">
                    <a:lumMod val="75000"/>
                  </a:schemeClr>
                </a:solidFill>
              </a:rPr>
              <a:t>5 and 9 carbons</a:t>
            </a:r>
            <a:r>
              <a:rPr lang="en-GB" sz="2000" dirty="0"/>
              <a:t>. </a:t>
            </a:r>
          </a:p>
        </p:txBody>
      </p:sp>
      <p:sp>
        <p:nvSpPr>
          <p:cNvPr id="16" name="TextBox 15"/>
          <p:cNvSpPr txBox="1"/>
          <p:nvPr/>
        </p:nvSpPr>
        <p:spPr>
          <a:xfrm>
            <a:off x="179512" y="3464648"/>
            <a:ext cx="5066318" cy="1938992"/>
          </a:xfrm>
          <a:prstGeom prst="rect">
            <a:avLst/>
          </a:prstGeom>
          <a:noFill/>
          <a:ln w="28575">
            <a:solidFill>
              <a:schemeClr val="accent6"/>
            </a:solidFill>
          </a:ln>
        </p:spPr>
        <p:txBody>
          <a:bodyPr wrap="square" rtlCol="0">
            <a:spAutoFit/>
          </a:bodyPr>
          <a:lstStyle/>
          <a:p>
            <a:r>
              <a:rPr lang="en-GB" sz="2000" dirty="0"/>
              <a:t>Some properties of hydrocarbons depend on the </a:t>
            </a:r>
            <a:r>
              <a:rPr lang="en-GB" sz="2000" b="1" dirty="0">
                <a:solidFill>
                  <a:schemeClr val="accent6">
                    <a:lumMod val="75000"/>
                  </a:schemeClr>
                </a:solidFill>
              </a:rPr>
              <a:t>size of their molecules</a:t>
            </a:r>
            <a:r>
              <a:rPr lang="en-GB" sz="2000" dirty="0"/>
              <a:t>, including:</a:t>
            </a:r>
          </a:p>
          <a:p>
            <a:pPr marL="285750" indent="-285750">
              <a:buFont typeface="Arial" panose="020B0604020202020204" pitchFamily="34" charset="0"/>
              <a:buChar char="•"/>
            </a:pPr>
            <a:r>
              <a:rPr lang="en-GB" sz="2000" b="1" dirty="0">
                <a:solidFill>
                  <a:schemeClr val="accent6">
                    <a:lumMod val="75000"/>
                  </a:schemeClr>
                </a:solidFill>
              </a:rPr>
              <a:t>Boiling point</a:t>
            </a:r>
          </a:p>
          <a:p>
            <a:pPr marL="285750" indent="-285750">
              <a:buFont typeface="Arial" panose="020B0604020202020204" pitchFamily="34" charset="0"/>
              <a:buChar char="•"/>
            </a:pPr>
            <a:r>
              <a:rPr lang="en-GB" sz="2000" b="1" dirty="0">
                <a:solidFill>
                  <a:schemeClr val="accent6">
                    <a:lumMod val="75000"/>
                  </a:schemeClr>
                </a:solidFill>
              </a:rPr>
              <a:t>Viscosity</a:t>
            </a:r>
          </a:p>
          <a:p>
            <a:pPr marL="285750" indent="-285750">
              <a:buFont typeface="Arial" panose="020B0604020202020204" pitchFamily="34" charset="0"/>
              <a:buChar char="•"/>
            </a:pPr>
            <a:r>
              <a:rPr lang="en-GB" sz="2000" b="1" dirty="0">
                <a:solidFill>
                  <a:schemeClr val="accent6">
                    <a:lumMod val="75000"/>
                  </a:schemeClr>
                </a:solidFill>
              </a:rPr>
              <a:t>Flammability</a:t>
            </a:r>
          </a:p>
          <a:p>
            <a:r>
              <a:rPr lang="en-GB" sz="2000" dirty="0"/>
              <a:t>These change with increasing molecular size.</a:t>
            </a:r>
          </a:p>
        </p:txBody>
      </p:sp>
      <p:sp>
        <p:nvSpPr>
          <p:cNvPr id="17" name="TextBox 16"/>
          <p:cNvSpPr txBox="1"/>
          <p:nvPr/>
        </p:nvSpPr>
        <p:spPr>
          <a:xfrm>
            <a:off x="179512" y="5403640"/>
            <a:ext cx="5544616" cy="1015663"/>
          </a:xfrm>
          <a:prstGeom prst="rect">
            <a:avLst/>
          </a:prstGeom>
          <a:noFill/>
        </p:spPr>
        <p:txBody>
          <a:bodyPr wrap="square" rtlCol="0">
            <a:spAutoFit/>
          </a:bodyPr>
          <a:lstStyle/>
          <a:p>
            <a:r>
              <a:rPr lang="en-GB" sz="2000" dirty="0" smtClean="0"/>
              <a:t>We </a:t>
            </a:r>
            <a:r>
              <a:rPr lang="en-GB" sz="2000" dirty="0"/>
              <a:t>know that as we go </a:t>
            </a:r>
            <a:r>
              <a:rPr lang="en-GB" sz="2000" b="1" dirty="0">
                <a:solidFill>
                  <a:schemeClr val="accent6">
                    <a:lumMod val="75000"/>
                  </a:schemeClr>
                </a:solidFill>
              </a:rPr>
              <a:t>up </a:t>
            </a:r>
            <a:r>
              <a:rPr lang="en-GB" sz="2000" dirty="0"/>
              <a:t>the fractional distillation column the boiling point and viscosity </a:t>
            </a:r>
            <a:r>
              <a:rPr lang="en-GB" sz="2000" b="1" dirty="0" smtClean="0">
                <a:solidFill>
                  <a:schemeClr val="accent6">
                    <a:lumMod val="75000"/>
                  </a:schemeClr>
                </a:solidFill>
              </a:rPr>
              <a:t>decrease</a:t>
            </a:r>
            <a:r>
              <a:rPr lang="en-GB" sz="2000" dirty="0"/>
              <a:t>, the flammability </a:t>
            </a:r>
            <a:r>
              <a:rPr lang="en-GB" sz="2000" b="1" dirty="0" smtClean="0">
                <a:solidFill>
                  <a:schemeClr val="accent6">
                    <a:lumMod val="75000"/>
                  </a:schemeClr>
                </a:solidFill>
              </a:rPr>
              <a:t>increases</a:t>
            </a:r>
            <a:r>
              <a:rPr lang="en-GB" sz="2000" dirty="0"/>
              <a:t>.</a:t>
            </a:r>
          </a:p>
        </p:txBody>
      </p:sp>
      <p:pic>
        <p:nvPicPr>
          <p:cNvPr id="4" name="Picture 3"/>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897800" y="2212157"/>
            <a:ext cx="3138696" cy="4128954"/>
          </a:xfrm>
          <a:prstGeom prst="rect">
            <a:avLst/>
          </a:prstGeom>
        </p:spPr>
      </p:pic>
    </p:spTree>
    <p:extLst>
      <p:ext uri="{BB962C8B-B14F-4D97-AF65-F5344CB8AC3E}">
        <p14:creationId xmlns:p14="http://schemas.microsoft.com/office/powerpoint/2010/main" val="644646122"/>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115616" y="35655"/>
            <a:ext cx="8028384" cy="657041"/>
          </a:xfrm>
        </p:spPr>
        <p:txBody>
          <a:bodyPr>
            <a:noAutofit/>
          </a:bodyPr>
          <a:lstStyle/>
          <a:p>
            <a:pPr marL="342900" lvl="1"/>
            <a:r>
              <a:rPr lang="en-US" dirty="0">
                <a:solidFill>
                  <a:schemeClr val="accent6"/>
                </a:solidFill>
              </a:rPr>
              <a:t>Fractional distillation and petrochemicals and properties of hydrocarbons</a:t>
            </a:r>
          </a:p>
        </p:txBody>
      </p:sp>
      <p:sp>
        <p:nvSpPr>
          <p:cNvPr id="9" name="TextBox 8"/>
          <p:cNvSpPr txBox="1"/>
          <p:nvPr/>
        </p:nvSpPr>
        <p:spPr>
          <a:xfrm>
            <a:off x="6876256" y="5517232"/>
            <a:ext cx="184731" cy="369332"/>
          </a:xfrm>
          <a:prstGeom prst="rect">
            <a:avLst/>
          </a:prstGeom>
          <a:noFill/>
        </p:spPr>
        <p:txBody>
          <a:bodyPr wrap="none" rtlCol="0">
            <a:spAutoFit/>
          </a:bodyPr>
          <a:lstStyle/>
          <a:p>
            <a:endParaRPr lang="en-GB" dirty="0"/>
          </a:p>
        </p:txBody>
      </p:sp>
      <p:sp>
        <p:nvSpPr>
          <p:cNvPr id="3" name="TextBox 2"/>
          <p:cNvSpPr txBox="1"/>
          <p:nvPr/>
        </p:nvSpPr>
        <p:spPr>
          <a:xfrm>
            <a:off x="251520" y="711095"/>
            <a:ext cx="8568952" cy="1015663"/>
          </a:xfrm>
          <a:prstGeom prst="rect">
            <a:avLst/>
          </a:prstGeom>
          <a:noFill/>
          <a:ln w="28575">
            <a:solidFill>
              <a:schemeClr val="accent6"/>
            </a:solidFill>
          </a:ln>
        </p:spPr>
        <p:txBody>
          <a:bodyPr wrap="square" rtlCol="0">
            <a:spAutoFit/>
          </a:bodyPr>
          <a:lstStyle/>
          <a:p>
            <a:r>
              <a:rPr lang="en-GB" sz="2000" dirty="0"/>
              <a:t>The fractions produced in fractional distillation can be </a:t>
            </a:r>
            <a:r>
              <a:rPr lang="en-GB" sz="2000" dirty="0">
                <a:solidFill>
                  <a:schemeClr val="accent6">
                    <a:lumMod val="75000"/>
                  </a:schemeClr>
                </a:solidFill>
              </a:rPr>
              <a:t>processed</a:t>
            </a:r>
            <a:r>
              <a:rPr lang="en-GB" sz="2000" dirty="0"/>
              <a:t> to produce fuels e.g. </a:t>
            </a:r>
            <a:r>
              <a:rPr lang="en-GB" sz="2000" dirty="0">
                <a:solidFill>
                  <a:schemeClr val="accent6">
                    <a:lumMod val="75000"/>
                  </a:schemeClr>
                </a:solidFill>
              </a:rPr>
              <a:t>petrol</a:t>
            </a:r>
            <a:r>
              <a:rPr lang="en-GB" sz="2000" dirty="0"/>
              <a:t>, and </a:t>
            </a:r>
            <a:r>
              <a:rPr lang="en-GB" sz="2000" dirty="0">
                <a:solidFill>
                  <a:schemeClr val="accent6">
                    <a:lumMod val="75000"/>
                  </a:schemeClr>
                </a:solidFill>
              </a:rPr>
              <a:t>feedstock</a:t>
            </a:r>
            <a:r>
              <a:rPr lang="en-GB" sz="2000" dirty="0"/>
              <a:t> (reactants for further chemical reactions) for the petrochemical industry.</a:t>
            </a:r>
          </a:p>
        </p:txBody>
      </p:sp>
      <p:sp>
        <p:nvSpPr>
          <p:cNvPr id="5" name="TextBox 4"/>
          <p:cNvSpPr txBox="1"/>
          <p:nvPr/>
        </p:nvSpPr>
        <p:spPr>
          <a:xfrm>
            <a:off x="251520" y="1836986"/>
            <a:ext cx="5531737" cy="1631216"/>
          </a:xfrm>
          <a:custGeom>
            <a:avLst/>
            <a:gdLst>
              <a:gd name="connsiteX0" fmla="*/ 0 w 8568952"/>
              <a:gd name="connsiteY0" fmla="*/ 0 h 369332"/>
              <a:gd name="connsiteX1" fmla="*/ 8568952 w 8568952"/>
              <a:gd name="connsiteY1" fmla="*/ 0 h 369332"/>
              <a:gd name="connsiteX2" fmla="*/ 8568952 w 8568952"/>
              <a:gd name="connsiteY2" fmla="*/ 369332 h 369332"/>
              <a:gd name="connsiteX3" fmla="*/ 0 w 8568952"/>
              <a:gd name="connsiteY3" fmla="*/ 369332 h 369332"/>
              <a:gd name="connsiteX4" fmla="*/ 0 w 8568952"/>
              <a:gd name="connsiteY4" fmla="*/ 0 h 369332"/>
              <a:gd name="connsiteX0" fmla="*/ 12878 w 8568952"/>
              <a:gd name="connsiteY0" fmla="*/ 0 h 704183"/>
              <a:gd name="connsiteX1" fmla="*/ 8568952 w 8568952"/>
              <a:gd name="connsiteY1" fmla="*/ 334851 h 704183"/>
              <a:gd name="connsiteX2" fmla="*/ 8568952 w 8568952"/>
              <a:gd name="connsiteY2" fmla="*/ 704183 h 704183"/>
              <a:gd name="connsiteX3" fmla="*/ 0 w 8568952"/>
              <a:gd name="connsiteY3" fmla="*/ 704183 h 704183"/>
              <a:gd name="connsiteX4" fmla="*/ 12878 w 8568952"/>
              <a:gd name="connsiteY4" fmla="*/ 0 h 704183"/>
              <a:gd name="connsiteX0" fmla="*/ 12878 w 8568952"/>
              <a:gd name="connsiteY0" fmla="*/ 25758 h 729941"/>
              <a:gd name="connsiteX1" fmla="*/ 8568952 w 8568952"/>
              <a:gd name="connsiteY1" fmla="*/ 0 h 729941"/>
              <a:gd name="connsiteX2" fmla="*/ 8568952 w 8568952"/>
              <a:gd name="connsiteY2" fmla="*/ 729941 h 729941"/>
              <a:gd name="connsiteX3" fmla="*/ 0 w 8568952"/>
              <a:gd name="connsiteY3" fmla="*/ 729941 h 729941"/>
              <a:gd name="connsiteX4" fmla="*/ 12878 w 8568952"/>
              <a:gd name="connsiteY4" fmla="*/ 25758 h 729941"/>
              <a:gd name="connsiteX0" fmla="*/ 0 w 8556074"/>
              <a:gd name="connsiteY0" fmla="*/ 25758 h 1167823"/>
              <a:gd name="connsiteX1" fmla="*/ 8556074 w 8556074"/>
              <a:gd name="connsiteY1" fmla="*/ 0 h 1167823"/>
              <a:gd name="connsiteX2" fmla="*/ 8556074 w 8556074"/>
              <a:gd name="connsiteY2" fmla="*/ 729941 h 1167823"/>
              <a:gd name="connsiteX3" fmla="*/ 12880 w 8556074"/>
              <a:gd name="connsiteY3" fmla="*/ 1167823 h 1167823"/>
              <a:gd name="connsiteX4" fmla="*/ 0 w 8556074"/>
              <a:gd name="connsiteY4" fmla="*/ 25758 h 1167823"/>
              <a:gd name="connsiteX0" fmla="*/ 0 w 8556074"/>
              <a:gd name="connsiteY0" fmla="*/ 25758 h 1167823"/>
              <a:gd name="connsiteX1" fmla="*/ 8556074 w 8556074"/>
              <a:gd name="connsiteY1" fmla="*/ 0 h 1167823"/>
              <a:gd name="connsiteX2" fmla="*/ 8556074 w 8556074"/>
              <a:gd name="connsiteY2" fmla="*/ 729941 h 1167823"/>
              <a:gd name="connsiteX3" fmla="*/ 1 w 8556074"/>
              <a:gd name="connsiteY3" fmla="*/ 1167823 h 1167823"/>
              <a:gd name="connsiteX4" fmla="*/ 0 w 8556074"/>
              <a:gd name="connsiteY4" fmla="*/ 25758 h 1167823"/>
              <a:gd name="connsiteX0" fmla="*/ 0 w 8568953"/>
              <a:gd name="connsiteY0" fmla="*/ 25758 h 1193581"/>
              <a:gd name="connsiteX1" fmla="*/ 8556074 w 8568953"/>
              <a:gd name="connsiteY1" fmla="*/ 0 h 1193581"/>
              <a:gd name="connsiteX2" fmla="*/ 8568953 w 8568953"/>
              <a:gd name="connsiteY2" fmla="*/ 1193581 h 1193581"/>
              <a:gd name="connsiteX3" fmla="*/ 1 w 8568953"/>
              <a:gd name="connsiteY3" fmla="*/ 1167823 h 1193581"/>
              <a:gd name="connsiteX4" fmla="*/ 0 w 8568953"/>
              <a:gd name="connsiteY4" fmla="*/ 25758 h 1193581"/>
              <a:gd name="connsiteX0" fmla="*/ 0 w 8568953"/>
              <a:gd name="connsiteY0" fmla="*/ 25758 h 1167823"/>
              <a:gd name="connsiteX1" fmla="*/ 8556074 w 8568953"/>
              <a:gd name="connsiteY1" fmla="*/ 0 h 1167823"/>
              <a:gd name="connsiteX2" fmla="*/ 8568953 w 8568953"/>
              <a:gd name="connsiteY2" fmla="*/ 1167823 h 1167823"/>
              <a:gd name="connsiteX3" fmla="*/ 1 w 8568953"/>
              <a:gd name="connsiteY3" fmla="*/ 1167823 h 1167823"/>
              <a:gd name="connsiteX4" fmla="*/ 0 w 8568953"/>
              <a:gd name="connsiteY4" fmla="*/ 25758 h 1167823"/>
              <a:gd name="connsiteX0" fmla="*/ 0 w 8568953"/>
              <a:gd name="connsiteY0" fmla="*/ 12879 h 1154944"/>
              <a:gd name="connsiteX1" fmla="*/ 8556074 w 8568953"/>
              <a:gd name="connsiteY1" fmla="*/ 0 h 1154944"/>
              <a:gd name="connsiteX2" fmla="*/ 8568953 w 8568953"/>
              <a:gd name="connsiteY2" fmla="*/ 1154944 h 1154944"/>
              <a:gd name="connsiteX3" fmla="*/ 1 w 8568953"/>
              <a:gd name="connsiteY3" fmla="*/ 1154944 h 1154944"/>
              <a:gd name="connsiteX4" fmla="*/ 0 w 8568953"/>
              <a:gd name="connsiteY4" fmla="*/ 12879 h 1154944"/>
              <a:gd name="connsiteX0" fmla="*/ 0 w 8568953"/>
              <a:gd name="connsiteY0" fmla="*/ 0 h 1142065"/>
              <a:gd name="connsiteX1" fmla="*/ 8556074 w 8568953"/>
              <a:gd name="connsiteY1" fmla="*/ 0 h 1142065"/>
              <a:gd name="connsiteX2" fmla="*/ 8568953 w 8568953"/>
              <a:gd name="connsiteY2" fmla="*/ 1142065 h 1142065"/>
              <a:gd name="connsiteX3" fmla="*/ 1 w 8568953"/>
              <a:gd name="connsiteY3" fmla="*/ 1142065 h 1142065"/>
              <a:gd name="connsiteX4" fmla="*/ 0 w 8568953"/>
              <a:gd name="connsiteY4" fmla="*/ 0 h 114206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68953" h="1142065">
                <a:moveTo>
                  <a:pt x="0" y="0"/>
                </a:moveTo>
                <a:lnTo>
                  <a:pt x="8556074" y="0"/>
                </a:lnTo>
                <a:lnTo>
                  <a:pt x="8568953" y="1142065"/>
                </a:lnTo>
                <a:lnTo>
                  <a:pt x="1" y="1142065"/>
                </a:lnTo>
                <a:cubicBezTo>
                  <a:pt x="1" y="761377"/>
                  <a:pt x="0" y="380688"/>
                  <a:pt x="0" y="0"/>
                </a:cubicBezTo>
                <a:close/>
              </a:path>
            </a:pathLst>
          </a:custGeom>
          <a:noFill/>
        </p:spPr>
        <p:txBody>
          <a:bodyPr wrap="square" rtlCol="0">
            <a:spAutoFit/>
          </a:bodyPr>
          <a:lstStyle/>
          <a:p>
            <a:r>
              <a:rPr lang="en-GB" sz="2000" dirty="0"/>
              <a:t>Examples of these useful materials are:</a:t>
            </a:r>
          </a:p>
          <a:p>
            <a:pPr marL="285750" indent="-285750">
              <a:buFont typeface="Arial" panose="020B0604020202020204" pitchFamily="34" charset="0"/>
              <a:buChar char="•"/>
            </a:pPr>
            <a:r>
              <a:rPr lang="en-GB" sz="2000" b="1" dirty="0"/>
              <a:t>Solvents</a:t>
            </a:r>
            <a:r>
              <a:rPr lang="en-GB" sz="2000" dirty="0"/>
              <a:t> – nail varnish remover</a:t>
            </a:r>
          </a:p>
          <a:p>
            <a:pPr marL="285750" indent="-285750">
              <a:buFont typeface="Arial" panose="020B0604020202020204" pitchFamily="34" charset="0"/>
              <a:buChar char="•"/>
            </a:pPr>
            <a:r>
              <a:rPr lang="en-GB" sz="2000" b="1" dirty="0"/>
              <a:t>Lubricants</a:t>
            </a:r>
            <a:r>
              <a:rPr lang="en-GB" sz="2000" dirty="0"/>
              <a:t> – oil for car engines</a:t>
            </a:r>
          </a:p>
          <a:p>
            <a:pPr marL="285750" indent="-285750">
              <a:buFont typeface="Arial" panose="020B0604020202020204" pitchFamily="34" charset="0"/>
              <a:buChar char="•"/>
            </a:pPr>
            <a:r>
              <a:rPr lang="en-GB" sz="2000" b="1" dirty="0"/>
              <a:t>Polymers</a:t>
            </a:r>
            <a:r>
              <a:rPr lang="en-GB" sz="2000" dirty="0"/>
              <a:t> – polythene and </a:t>
            </a:r>
            <a:r>
              <a:rPr lang="en-GB" sz="2000" b="1" dirty="0"/>
              <a:t>p</a:t>
            </a:r>
            <a:r>
              <a:rPr lang="en-GB" sz="2000" dirty="0"/>
              <a:t>oly</a:t>
            </a:r>
            <a:r>
              <a:rPr lang="en-GB" sz="2000" b="1" dirty="0"/>
              <a:t>v</a:t>
            </a:r>
            <a:r>
              <a:rPr lang="en-GB" sz="2000" dirty="0"/>
              <a:t>inyl </a:t>
            </a:r>
            <a:r>
              <a:rPr lang="en-GB" sz="2000" b="1" dirty="0"/>
              <a:t>c</a:t>
            </a:r>
            <a:r>
              <a:rPr lang="en-GB" sz="2000" dirty="0"/>
              <a:t>hloride PVC </a:t>
            </a:r>
          </a:p>
          <a:p>
            <a:pPr marL="285750" indent="-285750">
              <a:buFont typeface="Arial" panose="020B0604020202020204" pitchFamily="34" charset="0"/>
              <a:buChar char="•"/>
            </a:pPr>
            <a:r>
              <a:rPr lang="en-GB" sz="2000" b="1" dirty="0"/>
              <a:t>Detergents</a:t>
            </a:r>
            <a:r>
              <a:rPr lang="en-GB" sz="2000" dirty="0"/>
              <a:t> – washing up liquid</a:t>
            </a:r>
          </a:p>
        </p:txBody>
      </p:sp>
      <p:sp>
        <p:nvSpPr>
          <p:cNvPr id="8" name="TextBox 7"/>
          <p:cNvSpPr txBox="1"/>
          <p:nvPr/>
        </p:nvSpPr>
        <p:spPr>
          <a:xfrm>
            <a:off x="6156175" y="1870774"/>
            <a:ext cx="2664296" cy="1631216"/>
          </a:xfrm>
          <a:prstGeom prst="rect">
            <a:avLst/>
          </a:prstGeom>
          <a:solidFill>
            <a:schemeClr val="accent6"/>
          </a:solidFill>
          <a:ln w="28575">
            <a:solidFill>
              <a:schemeClr val="tx1"/>
            </a:solidFill>
          </a:ln>
        </p:spPr>
        <p:txBody>
          <a:bodyPr wrap="square" rtlCol="0">
            <a:spAutoFit/>
          </a:bodyPr>
          <a:lstStyle/>
          <a:p>
            <a:pPr algn="ctr"/>
            <a:r>
              <a:rPr lang="en-GB" sz="2000" b="1" dirty="0"/>
              <a:t>It would be helpful to know all of these useful materials and the examples for the exam.</a:t>
            </a:r>
          </a:p>
        </p:txBody>
      </p:sp>
      <p:sp>
        <p:nvSpPr>
          <p:cNvPr id="10" name="TextBox 9"/>
          <p:cNvSpPr txBox="1"/>
          <p:nvPr/>
        </p:nvSpPr>
        <p:spPr>
          <a:xfrm>
            <a:off x="251520" y="3629997"/>
            <a:ext cx="8568952" cy="707886"/>
          </a:xfrm>
          <a:prstGeom prst="rect">
            <a:avLst/>
          </a:prstGeom>
          <a:noFill/>
          <a:ln w="28575">
            <a:solidFill>
              <a:schemeClr val="accent6"/>
            </a:solidFill>
          </a:ln>
        </p:spPr>
        <p:txBody>
          <a:bodyPr wrap="square" rtlCol="0">
            <a:spAutoFit/>
          </a:bodyPr>
          <a:lstStyle/>
          <a:p>
            <a:pPr algn="ctr"/>
            <a:r>
              <a:rPr lang="en-GB" sz="2000" dirty="0"/>
              <a:t>The vast array of natural and synthetic carbon compounds occur due to the </a:t>
            </a:r>
            <a:r>
              <a:rPr lang="en-GB" sz="2000" dirty="0">
                <a:solidFill>
                  <a:schemeClr val="accent6">
                    <a:lumMod val="75000"/>
                  </a:schemeClr>
                </a:solidFill>
              </a:rPr>
              <a:t>ability of carbon atoms to form families of similar compounds</a:t>
            </a:r>
            <a:r>
              <a:rPr lang="en-GB" sz="2000" dirty="0"/>
              <a:t>.</a:t>
            </a:r>
          </a:p>
        </p:txBody>
      </p:sp>
      <p:sp>
        <p:nvSpPr>
          <p:cNvPr id="11" name="TextBox 10"/>
          <p:cNvSpPr txBox="1"/>
          <p:nvPr/>
        </p:nvSpPr>
        <p:spPr>
          <a:xfrm>
            <a:off x="225762" y="4410978"/>
            <a:ext cx="8568952" cy="1938992"/>
          </a:xfrm>
          <a:prstGeom prst="rect">
            <a:avLst/>
          </a:prstGeom>
          <a:noFill/>
        </p:spPr>
        <p:txBody>
          <a:bodyPr wrap="square" rtlCol="0">
            <a:spAutoFit/>
          </a:bodyPr>
          <a:lstStyle/>
          <a:p>
            <a:r>
              <a:rPr lang="en-GB" sz="2000" dirty="0"/>
              <a:t>Examples of this are ethanol C</a:t>
            </a:r>
            <a:r>
              <a:rPr lang="en-GB" sz="2000" baseline="-25000" dirty="0"/>
              <a:t>2</a:t>
            </a:r>
            <a:r>
              <a:rPr lang="en-GB" sz="2000" dirty="0"/>
              <a:t>H</a:t>
            </a:r>
            <a:r>
              <a:rPr lang="en-GB" sz="2000" baseline="-25000" dirty="0"/>
              <a:t>5</a:t>
            </a:r>
            <a:r>
              <a:rPr lang="en-GB" sz="2000" dirty="0"/>
              <a:t>OH and ethanoic acid CH</a:t>
            </a:r>
            <a:r>
              <a:rPr lang="en-GB" sz="2000" baseline="-25000" dirty="0"/>
              <a:t>3</a:t>
            </a:r>
            <a:r>
              <a:rPr lang="en-GB" sz="2000" dirty="0"/>
              <a:t>COOH. Both contain two carbon atoms, but they make very</a:t>
            </a:r>
          </a:p>
          <a:p>
            <a:r>
              <a:rPr lang="en-GB" sz="2000" dirty="0"/>
              <a:t>different compounds with very different </a:t>
            </a:r>
          </a:p>
          <a:p>
            <a:r>
              <a:rPr lang="en-GB" sz="2000" dirty="0"/>
              <a:t>properties. This would also be the case </a:t>
            </a:r>
          </a:p>
          <a:p>
            <a:r>
              <a:rPr lang="en-GB" sz="2000" dirty="0"/>
              <a:t>for molecules with three or four etc.</a:t>
            </a:r>
          </a:p>
          <a:p>
            <a:r>
              <a:rPr lang="en-GB" sz="2000" dirty="0"/>
              <a:t>carbon molecules.  </a:t>
            </a:r>
          </a:p>
        </p:txBody>
      </p:sp>
      <p:pic>
        <p:nvPicPr>
          <p:cNvPr id="12" name="Picture 11"/>
          <p:cNvPicPr>
            <a:picLocks noChangeAspect="1"/>
          </p:cNvPicPr>
          <p:nvPr/>
        </p:nvPicPr>
        <p:blipFill>
          <a:blip r:embed="rId3"/>
          <a:stretch>
            <a:fillRect/>
          </a:stretch>
        </p:blipFill>
        <p:spPr>
          <a:xfrm>
            <a:off x="4535996" y="5187390"/>
            <a:ext cx="2376264" cy="998820"/>
          </a:xfrm>
          <a:prstGeom prst="rect">
            <a:avLst/>
          </a:prstGeom>
        </p:spPr>
      </p:pic>
      <p:pic>
        <p:nvPicPr>
          <p:cNvPr id="13" name="Picture 12"/>
          <p:cNvPicPr>
            <a:picLocks noChangeAspect="1"/>
          </p:cNvPicPr>
          <p:nvPr/>
        </p:nvPicPr>
        <p:blipFill>
          <a:blip r:embed="rId4"/>
          <a:stretch>
            <a:fillRect/>
          </a:stretch>
        </p:blipFill>
        <p:spPr>
          <a:xfrm>
            <a:off x="6854132" y="5180259"/>
            <a:ext cx="2160239" cy="998820"/>
          </a:xfrm>
          <a:prstGeom prst="rect">
            <a:avLst/>
          </a:prstGeom>
        </p:spPr>
      </p:pic>
      <p:sp>
        <p:nvSpPr>
          <p:cNvPr id="14" name="TextBox 13"/>
          <p:cNvSpPr txBox="1"/>
          <p:nvPr/>
        </p:nvSpPr>
        <p:spPr>
          <a:xfrm>
            <a:off x="4329141" y="6165304"/>
            <a:ext cx="2376264" cy="369332"/>
          </a:xfrm>
          <a:prstGeom prst="rect">
            <a:avLst/>
          </a:prstGeom>
          <a:noFill/>
        </p:spPr>
        <p:txBody>
          <a:bodyPr wrap="square" rtlCol="0">
            <a:spAutoFit/>
          </a:bodyPr>
          <a:lstStyle/>
          <a:p>
            <a:pPr algn="ctr"/>
            <a:r>
              <a:rPr lang="en-GB" dirty="0"/>
              <a:t>Ethanol</a:t>
            </a:r>
          </a:p>
        </p:txBody>
      </p:sp>
      <p:sp>
        <p:nvSpPr>
          <p:cNvPr id="15" name="TextBox 14"/>
          <p:cNvSpPr txBox="1"/>
          <p:nvPr/>
        </p:nvSpPr>
        <p:spPr>
          <a:xfrm>
            <a:off x="6647355" y="6141894"/>
            <a:ext cx="2147359" cy="356453"/>
          </a:xfrm>
          <a:custGeom>
            <a:avLst/>
            <a:gdLst>
              <a:gd name="connsiteX0" fmla="*/ 0 w 2160238"/>
              <a:gd name="connsiteY0" fmla="*/ 0 h 369332"/>
              <a:gd name="connsiteX1" fmla="*/ 2160238 w 2160238"/>
              <a:gd name="connsiteY1" fmla="*/ 0 h 369332"/>
              <a:gd name="connsiteX2" fmla="*/ 2160238 w 2160238"/>
              <a:gd name="connsiteY2" fmla="*/ 369332 h 369332"/>
              <a:gd name="connsiteX3" fmla="*/ 0 w 2160238"/>
              <a:gd name="connsiteY3" fmla="*/ 369332 h 369332"/>
              <a:gd name="connsiteX4" fmla="*/ 0 w 2160238"/>
              <a:gd name="connsiteY4" fmla="*/ 0 h 369332"/>
              <a:gd name="connsiteX0" fmla="*/ 0 w 2173116"/>
              <a:gd name="connsiteY0" fmla="*/ 0 h 536757"/>
              <a:gd name="connsiteX1" fmla="*/ 2173116 w 2173116"/>
              <a:gd name="connsiteY1" fmla="*/ 167425 h 536757"/>
              <a:gd name="connsiteX2" fmla="*/ 2173116 w 2173116"/>
              <a:gd name="connsiteY2" fmla="*/ 536757 h 536757"/>
              <a:gd name="connsiteX3" fmla="*/ 12878 w 2173116"/>
              <a:gd name="connsiteY3" fmla="*/ 536757 h 536757"/>
              <a:gd name="connsiteX4" fmla="*/ 0 w 2173116"/>
              <a:gd name="connsiteY4" fmla="*/ 0 h 536757"/>
              <a:gd name="connsiteX0" fmla="*/ 0 w 2185995"/>
              <a:gd name="connsiteY0" fmla="*/ 0 h 536757"/>
              <a:gd name="connsiteX1" fmla="*/ 2185995 w 2185995"/>
              <a:gd name="connsiteY1" fmla="*/ 38636 h 536757"/>
              <a:gd name="connsiteX2" fmla="*/ 2173116 w 2185995"/>
              <a:gd name="connsiteY2" fmla="*/ 536757 h 536757"/>
              <a:gd name="connsiteX3" fmla="*/ 12878 w 2185995"/>
              <a:gd name="connsiteY3" fmla="*/ 536757 h 536757"/>
              <a:gd name="connsiteX4" fmla="*/ 0 w 2185995"/>
              <a:gd name="connsiteY4" fmla="*/ 0 h 536757"/>
              <a:gd name="connsiteX0" fmla="*/ 0 w 2185995"/>
              <a:gd name="connsiteY0" fmla="*/ 0 h 536757"/>
              <a:gd name="connsiteX1" fmla="*/ 2185995 w 2185995"/>
              <a:gd name="connsiteY1" fmla="*/ 25757 h 536757"/>
              <a:gd name="connsiteX2" fmla="*/ 2173116 w 2185995"/>
              <a:gd name="connsiteY2" fmla="*/ 536757 h 536757"/>
              <a:gd name="connsiteX3" fmla="*/ 12878 w 2185995"/>
              <a:gd name="connsiteY3" fmla="*/ 536757 h 536757"/>
              <a:gd name="connsiteX4" fmla="*/ 0 w 2185995"/>
              <a:gd name="connsiteY4" fmla="*/ 0 h 536757"/>
              <a:gd name="connsiteX0" fmla="*/ 0 w 2185995"/>
              <a:gd name="connsiteY0" fmla="*/ 0 h 536757"/>
              <a:gd name="connsiteX1" fmla="*/ 2185995 w 2185995"/>
              <a:gd name="connsiteY1" fmla="*/ 12879 h 536757"/>
              <a:gd name="connsiteX2" fmla="*/ 2173116 w 2185995"/>
              <a:gd name="connsiteY2" fmla="*/ 536757 h 536757"/>
              <a:gd name="connsiteX3" fmla="*/ 12878 w 2185995"/>
              <a:gd name="connsiteY3" fmla="*/ 536757 h 536757"/>
              <a:gd name="connsiteX4" fmla="*/ 0 w 2185995"/>
              <a:gd name="connsiteY4" fmla="*/ 0 h 536757"/>
              <a:gd name="connsiteX0" fmla="*/ 0 w 2185995"/>
              <a:gd name="connsiteY0" fmla="*/ 12879 h 549636"/>
              <a:gd name="connsiteX1" fmla="*/ 2185995 w 2185995"/>
              <a:gd name="connsiteY1" fmla="*/ 0 h 549636"/>
              <a:gd name="connsiteX2" fmla="*/ 2173116 w 2185995"/>
              <a:gd name="connsiteY2" fmla="*/ 549636 h 549636"/>
              <a:gd name="connsiteX3" fmla="*/ 12878 w 2185995"/>
              <a:gd name="connsiteY3" fmla="*/ 549636 h 549636"/>
              <a:gd name="connsiteX4" fmla="*/ 0 w 2185995"/>
              <a:gd name="connsiteY4" fmla="*/ 12879 h 549636"/>
              <a:gd name="connsiteX0" fmla="*/ 0 w 2185995"/>
              <a:gd name="connsiteY0" fmla="*/ 12879 h 549636"/>
              <a:gd name="connsiteX1" fmla="*/ 2185995 w 2185995"/>
              <a:gd name="connsiteY1" fmla="*/ 0 h 549636"/>
              <a:gd name="connsiteX2" fmla="*/ 2173116 w 2185995"/>
              <a:gd name="connsiteY2" fmla="*/ 549636 h 549636"/>
              <a:gd name="connsiteX3" fmla="*/ 12878 w 2185995"/>
              <a:gd name="connsiteY3" fmla="*/ 369332 h 549636"/>
              <a:gd name="connsiteX4" fmla="*/ 0 w 2185995"/>
              <a:gd name="connsiteY4" fmla="*/ 12879 h 549636"/>
              <a:gd name="connsiteX0" fmla="*/ 0 w 2185995"/>
              <a:gd name="connsiteY0" fmla="*/ 12879 h 369332"/>
              <a:gd name="connsiteX1" fmla="*/ 2185995 w 2185995"/>
              <a:gd name="connsiteY1" fmla="*/ 0 h 369332"/>
              <a:gd name="connsiteX2" fmla="*/ 2147358 w 2185995"/>
              <a:gd name="connsiteY2" fmla="*/ 356453 h 369332"/>
              <a:gd name="connsiteX3" fmla="*/ 12878 w 2185995"/>
              <a:gd name="connsiteY3" fmla="*/ 369332 h 369332"/>
              <a:gd name="connsiteX4" fmla="*/ 0 w 2185995"/>
              <a:gd name="connsiteY4" fmla="*/ 12879 h 369332"/>
              <a:gd name="connsiteX0" fmla="*/ 0 w 2185995"/>
              <a:gd name="connsiteY0" fmla="*/ 12879 h 369332"/>
              <a:gd name="connsiteX1" fmla="*/ 2185995 w 2185995"/>
              <a:gd name="connsiteY1" fmla="*/ 0 h 369332"/>
              <a:gd name="connsiteX2" fmla="*/ 2147358 w 2185995"/>
              <a:gd name="connsiteY2" fmla="*/ 369332 h 369332"/>
              <a:gd name="connsiteX3" fmla="*/ 12878 w 2185995"/>
              <a:gd name="connsiteY3" fmla="*/ 369332 h 369332"/>
              <a:gd name="connsiteX4" fmla="*/ 0 w 2185995"/>
              <a:gd name="connsiteY4" fmla="*/ 12879 h 369332"/>
              <a:gd name="connsiteX0" fmla="*/ 0 w 2147359"/>
              <a:gd name="connsiteY0" fmla="*/ 0 h 356453"/>
              <a:gd name="connsiteX1" fmla="*/ 2147359 w 2147359"/>
              <a:gd name="connsiteY1" fmla="*/ 12879 h 356453"/>
              <a:gd name="connsiteX2" fmla="*/ 2147358 w 2147359"/>
              <a:gd name="connsiteY2" fmla="*/ 356453 h 356453"/>
              <a:gd name="connsiteX3" fmla="*/ 12878 w 2147359"/>
              <a:gd name="connsiteY3" fmla="*/ 356453 h 356453"/>
              <a:gd name="connsiteX4" fmla="*/ 0 w 2147359"/>
              <a:gd name="connsiteY4" fmla="*/ 0 h 35645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147359" h="356453">
                <a:moveTo>
                  <a:pt x="0" y="0"/>
                </a:moveTo>
                <a:lnTo>
                  <a:pt x="2147359" y="12879"/>
                </a:lnTo>
                <a:cubicBezTo>
                  <a:pt x="2147359" y="127404"/>
                  <a:pt x="2147358" y="241928"/>
                  <a:pt x="2147358" y="356453"/>
                </a:cubicBezTo>
                <a:lnTo>
                  <a:pt x="12878" y="356453"/>
                </a:lnTo>
                <a:lnTo>
                  <a:pt x="0" y="0"/>
                </a:lnTo>
                <a:close/>
              </a:path>
            </a:pathLst>
          </a:custGeom>
          <a:noFill/>
        </p:spPr>
        <p:txBody>
          <a:bodyPr wrap="square" rtlCol="0">
            <a:spAutoFit/>
          </a:bodyPr>
          <a:lstStyle/>
          <a:p>
            <a:pPr algn="ctr"/>
            <a:r>
              <a:rPr lang="en-GB" dirty="0"/>
              <a:t>Ethanoic acid</a:t>
            </a:r>
          </a:p>
        </p:txBody>
      </p:sp>
    </p:spTree>
    <p:extLst>
      <p:ext uri="{BB962C8B-B14F-4D97-AF65-F5344CB8AC3E}">
        <p14:creationId xmlns:p14="http://schemas.microsoft.com/office/powerpoint/2010/main" val="308220063"/>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115616" y="35655"/>
            <a:ext cx="8028384" cy="657041"/>
          </a:xfrm>
        </p:spPr>
        <p:txBody>
          <a:bodyPr>
            <a:noAutofit/>
          </a:bodyPr>
          <a:lstStyle/>
          <a:p>
            <a:pPr marL="342900" lvl="1"/>
            <a:r>
              <a:rPr lang="en-US" dirty="0">
                <a:solidFill>
                  <a:schemeClr val="accent6"/>
                </a:solidFill>
              </a:rPr>
              <a:t>Fractional distillation and petrochemicals and properties of hydrocarbons</a:t>
            </a:r>
          </a:p>
        </p:txBody>
      </p:sp>
      <p:sp>
        <p:nvSpPr>
          <p:cNvPr id="9" name="TextBox 8"/>
          <p:cNvSpPr txBox="1"/>
          <p:nvPr/>
        </p:nvSpPr>
        <p:spPr>
          <a:xfrm>
            <a:off x="6876256" y="5517232"/>
            <a:ext cx="184731" cy="369332"/>
          </a:xfrm>
          <a:prstGeom prst="rect">
            <a:avLst/>
          </a:prstGeom>
          <a:noFill/>
        </p:spPr>
        <p:txBody>
          <a:bodyPr wrap="none" rtlCol="0">
            <a:spAutoFit/>
          </a:bodyPr>
          <a:lstStyle/>
          <a:p>
            <a:endParaRPr lang="en-GB" dirty="0"/>
          </a:p>
        </p:txBody>
      </p:sp>
      <p:sp>
        <p:nvSpPr>
          <p:cNvPr id="3" name="TextBox 2"/>
          <p:cNvSpPr txBox="1"/>
          <p:nvPr/>
        </p:nvSpPr>
        <p:spPr>
          <a:xfrm>
            <a:off x="241068" y="816649"/>
            <a:ext cx="8640960" cy="1631216"/>
          </a:xfrm>
          <a:prstGeom prst="rect">
            <a:avLst/>
          </a:prstGeom>
          <a:noFill/>
          <a:ln w="28575">
            <a:solidFill>
              <a:schemeClr val="accent6"/>
            </a:solidFill>
          </a:ln>
        </p:spPr>
        <p:txBody>
          <a:bodyPr wrap="square" rtlCol="0">
            <a:spAutoFit/>
          </a:bodyPr>
          <a:lstStyle/>
          <a:p>
            <a:r>
              <a:rPr lang="en-GB" sz="2000" dirty="0"/>
              <a:t>The </a:t>
            </a:r>
            <a:r>
              <a:rPr lang="en-GB" sz="2000" b="1" dirty="0">
                <a:solidFill>
                  <a:schemeClr val="accent6">
                    <a:lumMod val="75000"/>
                  </a:schemeClr>
                </a:solidFill>
              </a:rPr>
              <a:t>combustion</a:t>
            </a:r>
            <a:r>
              <a:rPr lang="en-GB" sz="2000" dirty="0"/>
              <a:t> of hydrocarbon fuels releases energy. During combustion, the carbon and hydrogen in the fuels are </a:t>
            </a:r>
            <a:r>
              <a:rPr lang="en-GB" sz="2000" b="1" dirty="0">
                <a:solidFill>
                  <a:schemeClr val="accent6">
                    <a:lumMod val="75000"/>
                  </a:schemeClr>
                </a:solidFill>
              </a:rPr>
              <a:t>oxidised</a:t>
            </a:r>
            <a:r>
              <a:rPr lang="en-GB" sz="2000" dirty="0"/>
              <a:t>. The </a:t>
            </a:r>
            <a:r>
              <a:rPr lang="en-GB" sz="2000" b="1" dirty="0">
                <a:solidFill>
                  <a:schemeClr val="accent6">
                    <a:lumMod val="75000"/>
                  </a:schemeClr>
                </a:solidFill>
              </a:rPr>
              <a:t>complete combustion </a:t>
            </a:r>
            <a:r>
              <a:rPr lang="en-GB" sz="2000" dirty="0"/>
              <a:t>of a hydrocarbon produces </a:t>
            </a:r>
            <a:r>
              <a:rPr lang="en-GB" sz="2000" b="1" dirty="0">
                <a:solidFill>
                  <a:schemeClr val="accent6">
                    <a:lumMod val="75000"/>
                  </a:schemeClr>
                </a:solidFill>
              </a:rPr>
              <a:t>carbon dioxide </a:t>
            </a:r>
            <a:r>
              <a:rPr lang="en-GB" sz="2000" dirty="0"/>
              <a:t>and </a:t>
            </a:r>
            <a:r>
              <a:rPr lang="en-GB" sz="2000" b="1" dirty="0">
                <a:solidFill>
                  <a:schemeClr val="accent6">
                    <a:lumMod val="75000"/>
                  </a:schemeClr>
                </a:solidFill>
              </a:rPr>
              <a:t>water</a:t>
            </a:r>
            <a:r>
              <a:rPr lang="en-GB" sz="2000" dirty="0"/>
              <a:t> e.g.</a:t>
            </a:r>
          </a:p>
          <a:p>
            <a:pPr algn="ctr"/>
            <a:r>
              <a:rPr lang="en-GB" sz="2000" b="1" dirty="0"/>
              <a:t>Methane  +  oxygen </a:t>
            </a:r>
            <a:r>
              <a:rPr lang="en-GB" sz="2000" b="1" dirty="0">
                <a:sym typeface="Wingdings" panose="05000000000000000000" pitchFamily="2" charset="2"/>
              </a:rPr>
              <a:t>  carbon dioxide  +  water</a:t>
            </a:r>
          </a:p>
          <a:p>
            <a:r>
              <a:rPr lang="en-GB" sz="2000" b="1" dirty="0">
                <a:sym typeface="Wingdings" panose="05000000000000000000" pitchFamily="2" charset="2"/>
              </a:rPr>
              <a:t>		       CH</a:t>
            </a:r>
            <a:r>
              <a:rPr lang="en-GB" sz="2000" b="1" baseline="-25000" dirty="0">
                <a:sym typeface="Wingdings" panose="05000000000000000000" pitchFamily="2" charset="2"/>
              </a:rPr>
              <a:t>4</a:t>
            </a:r>
            <a:r>
              <a:rPr lang="en-GB" sz="2000" b="1" dirty="0">
                <a:sym typeface="Wingdings" panose="05000000000000000000" pitchFamily="2" charset="2"/>
              </a:rPr>
              <a:t>(g)  +    2O</a:t>
            </a:r>
            <a:r>
              <a:rPr lang="en-GB" sz="2000" b="1" baseline="-25000" dirty="0">
                <a:sym typeface="Wingdings" panose="05000000000000000000" pitchFamily="2" charset="2"/>
              </a:rPr>
              <a:t>2</a:t>
            </a:r>
            <a:r>
              <a:rPr lang="en-GB" sz="2000" b="1" dirty="0">
                <a:sym typeface="Wingdings" panose="05000000000000000000" pitchFamily="2" charset="2"/>
              </a:rPr>
              <a:t>(g)         CO</a:t>
            </a:r>
            <a:r>
              <a:rPr lang="en-GB" sz="2000" b="1" baseline="-25000" dirty="0">
                <a:sym typeface="Wingdings" panose="05000000000000000000" pitchFamily="2" charset="2"/>
              </a:rPr>
              <a:t>2</a:t>
            </a:r>
            <a:r>
              <a:rPr lang="en-GB" sz="2000" b="1" dirty="0">
                <a:sym typeface="Wingdings" panose="05000000000000000000" pitchFamily="2" charset="2"/>
              </a:rPr>
              <a:t> (g)          +   H</a:t>
            </a:r>
            <a:r>
              <a:rPr lang="en-GB" sz="2000" b="1" baseline="-25000" dirty="0">
                <a:sym typeface="Wingdings" panose="05000000000000000000" pitchFamily="2" charset="2"/>
              </a:rPr>
              <a:t>2</a:t>
            </a:r>
            <a:r>
              <a:rPr lang="en-GB" sz="2000" b="1" dirty="0">
                <a:sym typeface="Wingdings" panose="05000000000000000000" pitchFamily="2" charset="2"/>
              </a:rPr>
              <a:t>O(l)</a:t>
            </a:r>
            <a:endParaRPr lang="en-GB" sz="2000" dirty="0"/>
          </a:p>
        </p:txBody>
      </p:sp>
      <p:sp>
        <p:nvSpPr>
          <p:cNvPr id="4" name="TextBox 3"/>
          <p:cNvSpPr txBox="1"/>
          <p:nvPr/>
        </p:nvSpPr>
        <p:spPr>
          <a:xfrm>
            <a:off x="251520" y="4168803"/>
            <a:ext cx="8640960" cy="1323439"/>
          </a:xfrm>
          <a:prstGeom prst="rect">
            <a:avLst/>
          </a:prstGeom>
        </p:spPr>
        <p:style>
          <a:lnRef idx="2">
            <a:schemeClr val="accent6">
              <a:shade val="50000"/>
            </a:schemeClr>
          </a:lnRef>
          <a:fillRef idx="1">
            <a:schemeClr val="accent6"/>
          </a:fillRef>
          <a:effectRef idx="0">
            <a:schemeClr val="accent6"/>
          </a:effectRef>
          <a:fontRef idx="minor">
            <a:schemeClr val="lt1"/>
          </a:fontRef>
        </p:style>
        <p:txBody>
          <a:bodyPr wrap="square" rtlCol="0">
            <a:spAutoFit/>
          </a:bodyPr>
          <a:lstStyle/>
          <a:p>
            <a:pPr algn="ctr"/>
            <a:r>
              <a:rPr lang="en-GB" sz="2000" dirty="0"/>
              <a:t>If we look at methane </a:t>
            </a:r>
            <a:r>
              <a:rPr lang="en-GB" sz="2000" dirty="0" smtClean="0"/>
              <a:t> </a:t>
            </a:r>
            <a:r>
              <a:rPr lang="en-GB" sz="2000" dirty="0"/>
              <a:t>we can see that to make carbon dioxide and water all of the </a:t>
            </a:r>
            <a:r>
              <a:rPr lang="en-GB" sz="2000" dirty="0" smtClean="0"/>
              <a:t>carbon </a:t>
            </a:r>
            <a:r>
              <a:rPr lang="en-GB" sz="2000" dirty="0"/>
              <a:t>and hydrogen bonds must </a:t>
            </a:r>
            <a:r>
              <a:rPr lang="en-GB" sz="2000" dirty="0" smtClean="0"/>
              <a:t>break, these </a:t>
            </a:r>
            <a:r>
              <a:rPr lang="en-GB" sz="2000" dirty="0"/>
              <a:t>will then </a:t>
            </a:r>
            <a:r>
              <a:rPr lang="en-GB" sz="2000" dirty="0" smtClean="0"/>
              <a:t>make </a:t>
            </a:r>
            <a:r>
              <a:rPr lang="en-GB" sz="2000" dirty="0"/>
              <a:t>carbon and oxygen bonds for carbon dioxide i.e. </a:t>
            </a:r>
            <a:r>
              <a:rPr lang="en-GB" sz="2000" dirty="0" smtClean="0"/>
              <a:t>the </a:t>
            </a:r>
            <a:r>
              <a:rPr lang="en-GB" sz="2000" b="1" dirty="0"/>
              <a:t>carbon is oxidised </a:t>
            </a:r>
            <a:r>
              <a:rPr lang="en-GB" sz="2000" dirty="0" smtClean="0"/>
              <a:t>and </a:t>
            </a:r>
            <a:r>
              <a:rPr lang="en-GB" sz="2000" dirty="0"/>
              <a:t>hydrogen and oxygen bonds for the water </a:t>
            </a:r>
            <a:r>
              <a:rPr lang="en-GB" sz="2000" dirty="0" smtClean="0"/>
              <a:t>i.e. the </a:t>
            </a:r>
            <a:r>
              <a:rPr lang="en-GB" sz="2000" b="1" dirty="0"/>
              <a:t>hydrogen is oxidised</a:t>
            </a:r>
            <a:r>
              <a:rPr lang="en-GB" sz="2000" dirty="0"/>
              <a:t>.  </a:t>
            </a:r>
          </a:p>
        </p:txBody>
      </p:sp>
      <p:pic>
        <p:nvPicPr>
          <p:cNvPr id="5" name="Picture 4"/>
          <p:cNvPicPr>
            <a:picLocks noChangeAspect="1"/>
          </p:cNvPicPr>
          <p:nvPr/>
        </p:nvPicPr>
        <p:blipFill>
          <a:blip r:embed="rId3"/>
          <a:stretch>
            <a:fillRect/>
          </a:stretch>
        </p:blipFill>
        <p:spPr>
          <a:xfrm>
            <a:off x="3851921" y="2692396"/>
            <a:ext cx="1440159" cy="1116707"/>
          </a:xfrm>
          <a:prstGeom prst="rect">
            <a:avLst/>
          </a:prstGeom>
        </p:spPr>
      </p:pic>
    </p:spTree>
    <p:extLst>
      <p:ext uri="{BB962C8B-B14F-4D97-AF65-F5344CB8AC3E}">
        <p14:creationId xmlns:p14="http://schemas.microsoft.com/office/powerpoint/2010/main" val="3135944277"/>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115616" y="35655"/>
            <a:ext cx="8028384" cy="657041"/>
          </a:xfrm>
        </p:spPr>
        <p:txBody>
          <a:bodyPr>
            <a:noAutofit/>
          </a:bodyPr>
          <a:lstStyle/>
          <a:p>
            <a:pPr marL="342900" lvl="1"/>
            <a:r>
              <a:rPr lang="en-US" dirty="0">
                <a:solidFill>
                  <a:schemeClr val="accent6"/>
                </a:solidFill>
              </a:rPr>
              <a:t>Fractional distillation and petrochemicals and properties of hydrocarbons</a:t>
            </a:r>
          </a:p>
        </p:txBody>
      </p:sp>
      <p:sp>
        <p:nvSpPr>
          <p:cNvPr id="6" name="TextBox 5"/>
          <p:cNvSpPr txBox="1"/>
          <p:nvPr/>
        </p:nvSpPr>
        <p:spPr>
          <a:xfrm>
            <a:off x="198312" y="954866"/>
            <a:ext cx="8640960" cy="707886"/>
          </a:xfrm>
          <a:prstGeom prst="rect">
            <a:avLst/>
          </a:prstGeom>
          <a:noFill/>
          <a:ln w="28575">
            <a:solidFill>
              <a:schemeClr val="accent6"/>
            </a:solidFill>
          </a:ln>
        </p:spPr>
        <p:txBody>
          <a:bodyPr wrap="square" rtlCol="0">
            <a:spAutoFit/>
          </a:bodyPr>
          <a:lstStyle/>
          <a:p>
            <a:r>
              <a:rPr lang="en-GB" sz="2000" dirty="0" smtClean="0"/>
              <a:t>The examination boards states that students </a:t>
            </a:r>
            <a:r>
              <a:rPr lang="en-GB" sz="2000" dirty="0"/>
              <a:t>should be able to write </a:t>
            </a:r>
            <a:r>
              <a:rPr lang="en-GB" sz="2000" b="1" dirty="0">
                <a:solidFill>
                  <a:schemeClr val="accent6">
                    <a:lumMod val="75000"/>
                  </a:schemeClr>
                </a:solidFill>
              </a:rPr>
              <a:t>balanced equations </a:t>
            </a:r>
            <a:r>
              <a:rPr lang="en-GB" sz="2000" dirty="0"/>
              <a:t>for the complete combustion of hydrocarbons with a given formula. </a:t>
            </a:r>
          </a:p>
        </p:txBody>
      </p:sp>
      <p:sp>
        <p:nvSpPr>
          <p:cNvPr id="7" name="TextBox 6"/>
          <p:cNvSpPr txBox="1"/>
          <p:nvPr/>
        </p:nvSpPr>
        <p:spPr>
          <a:xfrm>
            <a:off x="208454" y="1941595"/>
            <a:ext cx="8640960" cy="3990836"/>
          </a:xfrm>
          <a:prstGeom prst="rect">
            <a:avLst/>
          </a:prstGeom>
          <a:noFill/>
        </p:spPr>
        <p:txBody>
          <a:bodyPr wrap="square" rtlCol="0">
            <a:spAutoFit/>
          </a:bodyPr>
          <a:lstStyle/>
          <a:p>
            <a:r>
              <a:rPr lang="en-GB" sz="2000" b="1" u="sng" dirty="0"/>
              <a:t>Worked Example</a:t>
            </a:r>
          </a:p>
          <a:p>
            <a:r>
              <a:rPr lang="en-GB" sz="2000" dirty="0"/>
              <a:t>What is the balanced symbol equation for the combustion of </a:t>
            </a:r>
            <a:r>
              <a:rPr lang="en-GB" sz="2000" dirty="0" smtClean="0"/>
              <a:t>C</a:t>
            </a:r>
            <a:r>
              <a:rPr lang="en-GB" sz="2000" baseline="-25000" dirty="0" smtClean="0"/>
              <a:t>9</a:t>
            </a:r>
            <a:r>
              <a:rPr lang="en-GB" sz="2000" dirty="0" smtClean="0"/>
              <a:t>H</a:t>
            </a:r>
            <a:r>
              <a:rPr lang="en-GB" sz="2000" baseline="-25000" dirty="0" smtClean="0"/>
              <a:t>20</a:t>
            </a:r>
          </a:p>
          <a:p>
            <a:endParaRPr lang="en-GB" sz="2000" baseline="-25000" dirty="0"/>
          </a:p>
          <a:p>
            <a:pPr algn="ctr"/>
            <a:r>
              <a:rPr lang="en-GB" sz="2000" b="1" dirty="0"/>
              <a:t>C</a:t>
            </a:r>
            <a:r>
              <a:rPr lang="en-GB" sz="2000" b="1" baseline="-25000" dirty="0"/>
              <a:t>11</a:t>
            </a:r>
            <a:r>
              <a:rPr lang="en-GB" sz="2000" b="1" dirty="0"/>
              <a:t>H</a:t>
            </a:r>
            <a:r>
              <a:rPr lang="en-GB" sz="2000" b="1" baseline="-25000" dirty="0"/>
              <a:t>24</a:t>
            </a:r>
            <a:r>
              <a:rPr lang="en-GB" sz="2000" b="1" dirty="0"/>
              <a:t>   +    17O</a:t>
            </a:r>
            <a:r>
              <a:rPr lang="en-GB" sz="2000" b="1" baseline="-25000" dirty="0"/>
              <a:t>2</a:t>
            </a:r>
            <a:r>
              <a:rPr lang="en-GB" sz="2000" b="1" dirty="0"/>
              <a:t>     </a:t>
            </a:r>
            <a:r>
              <a:rPr lang="en-GB" sz="2000" b="1" dirty="0">
                <a:sym typeface="Wingdings" panose="05000000000000000000" pitchFamily="2" charset="2"/>
              </a:rPr>
              <a:t>    11CO</a:t>
            </a:r>
            <a:r>
              <a:rPr lang="en-GB" sz="2000" b="1" baseline="-25000" dirty="0">
                <a:sym typeface="Wingdings" panose="05000000000000000000" pitchFamily="2" charset="2"/>
              </a:rPr>
              <a:t>2</a:t>
            </a:r>
            <a:r>
              <a:rPr lang="en-GB" sz="2000" b="1" dirty="0">
                <a:sym typeface="Wingdings" panose="05000000000000000000" pitchFamily="2" charset="2"/>
              </a:rPr>
              <a:t>    +     </a:t>
            </a:r>
            <a:r>
              <a:rPr lang="en-GB" sz="2000" b="1" dirty="0" smtClean="0">
                <a:sym typeface="Wingdings" panose="05000000000000000000" pitchFamily="2" charset="2"/>
              </a:rPr>
              <a:t>12H</a:t>
            </a:r>
            <a:r>
              <a:rPr lang="en-GB" sz="2000" b="1" baseline="-25000" dirty="0" smtClean="0">
                <a:sym typeface="Wingdings" panose="05000000000000000000" pitchFamily="2" charset="2"/>
              </a:rPr>
              <a:t>2</a:t>
            </a:r>
            <a:r>
              <a:rPr lang="en-GB" sz="2000" b="1" dirty="0" smtClean="0">
                <a:sym typeface="Wingdings" panose="05000000000000000000" pitchFamily="2" charset="2"/>
              </a:rPr>
              <a:t>O</a:t>
            </a:r>
          </a:p>
          <a:p>
            <a:pPr algn="ctr"/>
            <a:endParaRPr lang="en-GB" sz="2000" b="1" dirty="0">
              <a:sym typeface="Wingdings" panose="05000000000000000000" pitchFamily="2" charset="2"/>
            </a:endParaRPr>
          </a:p>
          <a:p>
            <a:r>
              <a:rPr lang="en-GB" sz="2000" dirty="0">
                <a:sym typeface="Wingdings" panose="05000000000000000000" pitchFamily="2" charset="2"/>
              </a:rPr>
              <a:t>The number in front of </a:t>
            </a:r>
            <a:r>
              <a:rPr lang="en-GB" sz="2000" b="1" dirty="0">
                <a:solidFill>
                  <a:schemeClr val="accent6">
                    <a:lumMod val="75000"/>
                  </a:schemeClr>
                </a:solidFill>
                <a:sym typeface="Wingdings" panose="05000000000000000000" pitchFamily="2" charset="2"/>
              </a:rPr>
              <a:t>CO</a:t>
            </a:r>
            <a:r>
              <a:rPr lang="en-GB" sz="2000" b="1" baseline="-25000" dirty="0">
                <a:solidFill>
                  <a:schemeClr val="accent6">
                    <a:lumMod val="75000"/>
                  </a:schemeClr>
                </a:solidFill>
                <a:sym typeface="Wingdings" panose="05000000000000000000" pitchFamily="2" charset="2"/>
              </a:rPr>
              <a:t>2</a:t>
            </a:r>
            <a:r>
              <a:rPr lang="en-GB" sz="2000" b="1" dirty="0">
                <a:solidFill>
                  <a:schemeClr val="accent6">
                    <a:lumMod val="75000"/>
                  </a:schemeClr>
                </a:solidFill>
                <a:sym typeface="Wingdings" panose="05000000000000000000" pitchFamily="2" charset="2"/>
              </a:rPr>
              <a:t> is always the subscript from the alkane for carbon </a:t>
            </a:r>
            <a:r>
              <a:rPr lang="en-GB" sz="2000" dirty="0">
                <a:sym typeface="Wingdings" panose="05000000000000000000" pitchFamily="2" charset="2"/>
              </a:rPr>
              <a:t>e.g. </a:t>
            </a:r>
            <a:r>
              <a:rPr lang="en-GB" sz="2000" dirty="0" smtClean="0">
                <a:sym typeface="Wingdings" panose="05000000000000000000" pitchFamily="2" charset="2"/>
              </a:rPr>
              <a:t>11</a:t>
            </a:r>
          </a:p>
          <a:p>
            <a:endParaRPr lang="en-GB" sz="2000" dirty="0">
              <a:sym typeface="Wingdings" panose="05000000000000000000" pitchFamily="2" charset="2"/>
            </a:endParaRPr>
          </a:p>
          <a:p>
            <a:r>
              <a:rPr lang="en-GB" sz="2000" dirty="0">
                <a:sym typeface="Wingdings" panose="05000000000000000000" pitchFamily="2" charset="2"/>
              </a:rPr>
              <a:t>The number in front of </a:t>
            </a:r>
            <a:r>
              <a:rPr lang="en-GB" sz="2000" b="1" dirty="0">
                <a:solidFill>
                  <a:schemeClr val="accent6">
                    <a:lumMod val="75000"/>
                  </a:schemeClr>
                </a:solidFill>
                <a:sym typeface="Wingdings" panose="05000000000000000000" pitchFamily="2" charset="2"/>
              </a:rPr>
              <a:t>H</a:t>
            </a:r>
            <a:r>
              <a:rPr lang="en-GB" sz="2000" b="1" baseline="-25000" dirty="0">
                <a:solidFill>
                  <a:schemeClr val="accent6">
                    <a:lumMod val="75000"/>
                  </a:schemeClr>
                </a:solidFill>
                <a:sym typeface="Wingdings" panose="05000000000000000000" pitchFamily="2" charset="2"/>
              </a:rPr>
              <a:t>2</a:t>
            </a:r>
            <a:r>
              <a:rPr lang="en-GB" sz="2000" b="1" dirty="0">
                <a:solidFill>
                  <a:schemeClr val="accent6">
                    <a:lumMod val="75000"/>
                  </a:schemeClr>
                </a:solidFill>
                <a:sym typeface="Wingdings" panose="05000000000000000000" pitchFamily="2" charset="2"/>
              </a:rPr>
              <a:t>0 is always half the subscript from the alkane for hydrogen </a:t>
            </a:r>
            <a:r>
              <a:rPr lang="en-GB" sz="2000" dirty="0">
                <a:sym typeface="Wingdings" panose="05000000000000000000" pitchFamily="2" charset="2"/>
              </a:rPr>
              <a:t>e.g. 12</a:t>
            </a:r>
          </a:p>
          <a:p>
            <a:r>
              <a:rPr lang="en-GB" sz="2000" dirty="0">
                <a:sym typeface="Wingdings" panose="05000000000000000000" pitchFamily="2" charset="2"/>
              </a:rPr>
              <a:t>We then </a:t>
            </a:r>
            <a:r>
              <a:rPr lang="en-GB" sz="2000" b="1" dirty="0">
                <a:solidFill>
                  <a:schemeClr val="accent6">
                    <a:lumMod val="75000"/>
                  </a:schemeClr>
                </a:solidFill>
                <a:sym typeface="Wingdings" panose="05000000000000000000" pitchFamily="2" charset="2"/>
              </a:rPr>
              <a:t>add up the number of oxygen atoms </a:t>
            </a:r>
            <a:r>
              <a:rPr lang="en-GB" sz="2000" dirty="0">
                <a:sym typeface="Wingdings" panose="05000000000000000000" pitchFamily="2" charset="2"/>
              </a:rPr>
              <a:t>we now have as products e.g. 22 from CO</a:t>
            </a:r>
            <a:r>
              <a:rPr lang="en-GB" sz="2000" baseline="-25000" dirty="0">
                <a:sym typeface="Wingdings" panose="05000000000000000000" pitchFamily="2" charset="2"/>
              </a:rPr>
              <a:t>2</a:t>
            </a:r>
            <a:r>
              <a:rPr lang="en-GB" sz="2000" dirty="0">
                <a:sym typeface="Wingdings" panose="05000000000000000000" pitchFamily="2" charset="2"/>
              </a:rPr>
              <a:t> and 12 from H</a:t>
            </a:r>
            <a:r>
              <a:rPr lang="en-GB" sz="2000" baseline="-25000" dirty="0">
                <a:sym typeface="Wingdings" panose="05000000000000000000" pitchFamily="2" charset="2"/>
              </a:rPr>
              <a:t>2</a:t>
            </a:r>
            <a:r>
              <a:rPr lang="en-GB" sz="2000" dirty="0">
                <a:sym typeface="Wingdings" panose="05000000000000000000" pitchFamily="2" charset="2"/>
              </a:rPr>
              <a:t>O which gives 34, we then </a:t>
            </a:r>
            <a:r>
              <a:rPr lang="en-GB" sz="2000" b="1" dirty="0">
                <a:solidFill>
                  <a:schemeClr val="accent6">
                    <a:lumMod val="75000"/>
                  </a:schemeClr>
                </a:solidFill>
                <a:sym typeface="Wingdings" panose="05000000000000000000" pitchFamily="2" charset="2"/>
              </a:rPr>
              <a:t>put half this number in front of O</a:t>
            </a:r>
            <a:r>
              <a:rPr lang="en-GB" sz="2000" b="1" baseline="-25000" dirty="0">
                <a:solidFill>
                  <a:schemeClr val="accent6">
                    <a:lumMod val="75000"/>
                  </a:schemeClr>
                </a:solidFill>
                <a:sym typeface="Wingdings" panose="05000000000000000000" pitchFamily="2" charset="2"/>
              </a:rPr>
              <a:t>2</a:t>
            </a:r>
            <a:r>
              <a:rPr lang="en-GB" sz="2000" b="1" dirty="0">
                <a:solidFill>
                  <a:schemeClr val="accent6">
                    <a:lumMod val="75000"/>
                  </a:schemeClr>
                </a:solidFill>
                <a:sym typeface="Wingdings" panose="05000000000000000000" pitchFamily="2" charset="2"/>
              </a:rPr>
              <a:t> </a:t>
            </a:r>
            <a:r>
              <a:rPr lang="en-GB" sz="2000" dirty="0">
                <a:sym typeface="Wingdings" panose="05000000000000000000" pitchFamily="2" charset="2"/>
              </a:rPr>
              <a:t>e.g. </a:t>
            </a:r>
            <a:r>
              <a:rPr lang="en-GB" sz="2000" dirty="0" smtClean="0">
                <a:sym typeface="Wingdings" panose="05000000000000000000" pitchFamily="2" charset="2"/>
              </a:rPr>
              <a:t>17O</a:t>
            </a:r>
            <a:r>
              <a:rPr lang="en-GB" sz="2000" baseline="-25000" dirty="0" smtClean="0">
                <a:sym typeface="Wingdings" panose="05000000000000000000" pitchFamily="2" charset="2"/>
              </a:rPr>
              <a:t>2</a:t>
            </a:r>
            <a:r>
              <a:rPr lang="en-GB" sz="2000" dirty="0" smtClean="0">
                <a:sym typeface="Wingdings" panose="05000000000000000000" pitchFamily="2" charset="2"/>
              </a:rPr>
              <a:t>  </a:t>
            </a:r>
            <a:endParaRPr lang="en-GB" sz="2000" dirty="0"/>
          </a:p>
        </p:txBody>
      </p:sp>
    </p:spTree>
    <p:extLst>
      <p:ext uri="{BB962C8B-B14F-4D97-AF65-F5344CB8AC3E}">
        <p14:creationId xmlns:p14="http://schemas.microsoft.com/office/powerpoint/2010/main" val="3564359536"/>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149087" y="802524"/>
            <a:ext cx="8915400" cy="5595731"/>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a:lstStyle/>
          <a:p>
            <a:pPr marL="342900" marR="0" lvl="0" indent="-342900" defTabSz="914400" eaLnBrk="1" fontAlgn="auto" latinLnBrk="0" hangingPunct="1">
              <a:lnSpc>
                <a:spcPct val="100000"/>
              </a:lnSpc>
              <a:spcBef>
                <a:spcPts val="0"/>
              </a:spcBef>
              <a:spcAft>
                <a:spcPts val="0"/>
              </a:spcAft>
              <a:buClrTx/>
              <a:buSzTx/>
              <a:buFont typeface="+mj-lt"/>
              <a:buNone/>
              <a:tabLst/>
              <a:defRPr/>
            </a:pPr>
            <a:endParaRPr lang="en-GB" sz="2000" dirty="0">
              <a:solidFill>
                <a:schemeClr val="tx1"/>
              </a:solidFill>
            </a:endParaRPr>
          </a:p>
        </p:txBody>
      </p:sp>
      <p:sp>
        <p:nvSpPr>
          <p:cNvPr id="7" name="TextBox 6"/>
          <p:cNvSpPr txBox="1"/>
          <p:nvPr/>
        </p:nvSpPr>
        <p:spPr>
          <a:xfrm>
            <a:off x="0" y="980728"/>
            <a:ext cx="4716016" cy="5078313"/>
          </a:xfrm>
          <a:prstGeom prst="rect">
            <a:avLst/>
          </a:prstGeom>
          <a:noFill/>
        </p:spPr>
        <p:txBody>
          <a:bodyPr wrap="square" rtlCol="0">
            <a:spAutoFit/>
          </a:bodyPr>
          <a:lstStyle/>
          <a:p>
            <a:r>
              <a:rPr lang="en-GB" sz="7200" b="1" dirty="0">
                <a:latin typeface="+mj-lt"/>
                <a:ea typeface="Beirut" charset="-78"/>
                <a:cs typeface="Beirut" charset="-78"/>
              </a:rPr>
              <a:t>QuestionIT!</a:t>
            </a:r>
          </a:p>
          <a:p>
            <a:endParaRPr lang="en-GB" dirty="0"/>
          </a:p>
          <a:p>
            <a:endParaRPr lang="en-GB" dirty="0"/>
          </a:p>
          <a:p>
            <a:endParaRPr lang="en-GB" dirty="0"/>
          </a:p>
          <a:p>
            <a:r>
              <a:rPr lang="en-US" sz="2800" b="1" dirty="0"/>
              <a:t>Carbon compounds </a:t>
            </a:r>
          </a:p>
          <a:p>
            <a:r>
              <a:rPr lang="en-US" sz="2800" b="1" dirty="0"/>
              <a:t>as fuels and feedstock</a:t>
            </a:r>
          </a:p>
          <a:p>
            <a:endParaRPr lang="en-US" sz="2800" b="1" dirty="0"/>
          </a:p>
          <a:p>
            <a:r>
              <a:rPr lang="en-GB" sz="2400" b="1" dirty="0">
                <a:solidFill>
                  <a:schemeClr val="tx1">
                    <a:lumMod val="50000"/>
                    <a:lumOff val="50000"/>
                  </a:schemeClr>
                </a:solidFill>
              </a:rPr>
              <a:t>Part </a:t>
            </a:r>
            <a:r>
              <a:rPr lang="en-GB" sz="2400" b="1" dirty="0" smtClean="0">
                <a:solidFill>
                  <a:schemeClr val="tx1">
                    <a:lumMod val="50000"/>
                    <a:lumOff val="50000"/>
                  </a:schemeClr>
                </a:solidFill>
              </a:rPr>
              <a:t>2 </a:t>
            </a:r>
            <a:endParaRPr lang="en-GB" sz="2400" b="1" dirty="0">
              <a:solidFill>
                <a:schemeClr val="tx1">
                  <a:lumMod val="50000"/>
                  <a:lumOff val="50000"/>
                </a:schemeClr>
              </a:solidFill>
            </a:endParaRPr>
          </a:p>
          <a:p>
            <a:pPr marL="685800" lvl="1" indent="-342900">
              <a:buFont typeface="Arial" charset="0"/>
              <a:buChar char="•"/>
            </a:pPr>
            <a:r>
              <a:rPr lang="en-US" sz="2400" dirty="0" smtClean="0">
                <a:solidFill>
                  <a:schemeClr val="tx1">
                    <a:lumMod val="50000"/>
                    <a:lumOff val="50000"/>
                  </a:schemeClr>
                </a:solidFill>
              </a:rPr>
              <a:t>Fractional distillation, Petrochemicals and Properties of hydrocarbons</a:t>
            </a:r>
            <a:endParaRPr lang="en-US" sz="2400" dirty="0">
              <a:solidFill>
                <a:schemeClr val="tx1">
                  <a:lumMod val="50000"/>
                  <a:lumOff val="50000"/>
                </a:schemeClr>
              </a:solidFill>
            </a:endParaRPr>
          </a:p>
          <a:p>
            <a:endParaRPr lang="en-GB" dirty="0"/>
          </a:p>
        </p:txBody>
      </p:sp>
      <p:pic>
        <p:nvPicPr>
          <p:cNvPr id="5" name="Picture 4"/>
          <p:cNvPicPr>
            <a:picLocks noChangeAspect="1"/>
          </p:cNvPicPr>
          <p:nvPr/>
        </p:nvPicPr>
        <p:blipFill>
          <a:blip r:embed="rId3">
            <a:clrChange>
              <a:clrFrom>
                <a:srgbClr val="FFFFFF"/>
              </a:clrFrom>
              <a:clrTo>
                <a:srgbClr val="FFFFFF">
                  <a:alpha val="0"/>
                </a:srgbClr>
              </a:clrTo>
            </a:clrChange>
          </a:blip>
          <a:stretch>
            <a:fillRect/>
          </a:stretch>
        </p:blipFill>
        <p:spPr>
          <a:xfrm>
            <a:off x="4211960" y="886544"/>
            <a:ext cx="4914900" cy="5638800"/>
          </a:xfrm>
          <a:prstGeom prst="rect">
            <a:avLst/>
          </a:prstGeom>
        </p:spPr>
      </p:pic>
    </p:spTree>
    <p:extLst>
      <p:ext uri="{BB962C8B-B14F-4D97-AF65-F5344CB8AC3E}">
        <p14:creationId xmlns:p14="http://schemas.microsoft.com/office/powerpoint/2010/main" val="3836677841"/>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331640" y="0"/>
            <a:ext cx="7812360" cy="657041"/>
          </a:xfrm>
        </p:spPr>
        <p:txBody>
          <a:bodyPr>
            <a:noAutofit/>
          </a:bodyPr>
          <a:lstStyle/>
          <a:p>
            <a:pPr marL="342900" lvl="1" algn="r" defTabSz="342900" rtl="0">
              <a:spcBef>
                <a:spcPct val="20000"/>
              </a:spcBef>
            </a:pPr>
            <a:r>
              <a:rPr lang="en-US" sz="1500" dirty="0">
                <a:solidFill>
                  <a:schemeClr val="accent6"/>
                </a:solidFill>
              </a:rPr>
              <a:t>Fractional distillation and petrochemicals and properties of hydrocarbons - </a:t>
            </a:r>
            <a:r>
              <a:rPr lang="en-US" sz="1500" b="1" dirty="0" err="1">
                <a:solidFill>
                  <a:schemeClr val="tx1"/>
                </a:solidFill>
              </a:rPr>
              <a:t>Question</a:t>
            </a:r>
            <a:r>
              <a:rPr lang="en-US" sz="1500" b="1" kern="1200" dirty="0" err="1">
                <a:solidFill>
                  <a:schemeClr val="tx1"/>
                </a:solidFill>
                <a:latin typeface="Calibri"/>
                <a:ea typeface=""/>
                <a:cs typeface="News Gothic MT"/>
              </a:rPr>
              <a:t>IT</a:t>
            </a:r>
            <a:endParaRPr kumimoji="0" lang="en-US" sz="1500" b="1" i="0" u="none" strike="noStrike" kern="1200" cap="none" spc="0" normalizeH="0" baseline="0" noProof="0" dirty="0">
              <a:ln>
                <a:noFill/>
              </a:ln>
              <a:solidFill>
                <a:schemeClr val="tx1"/>
              </a:solidFill>
              <a:effectLst/>
              <a:uLnTx/>
              <a:uFillTx/>
              <a:latin typeface="Calibri"/>
              <a:ea typeface=""/>
              <a:cs typeface="News Gothic MT"/>
            </a:endParaRPr>
          </a:p>
        </p:txBody>
      </p:sp>
      <p:sp>
        <p:nvSpPr>
          <p:cNvPr id="4" name="Rectangle 3"/>
          <p:cNvSpPr/>
          <p:nvPr/>
        </p:nvSpPr>
        <p:spPr>
          <a:xfrm>
            <a:off x="149087" y="802524"/>
            <a:ext cx="8915400" cy="5595731"/>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a:lstStyle/>
          <a:p>
            <a:pPr marL="342900" marR="0" lvl="0" indent="-342900" defTabSz="914400" eaLnBrk="1" fontAlgn="auto" latinLnBrk="0" hangingPunct="1">
              <a:lnSpc>
                <a:spcPct val="100000"/>
              </a:lnSpc>
              <a:spcBef>
                <a:spcPts val="0"/>
              </a:spcBef>
              <a:spcAft>
                <a:spcPts val="0"/>
              </a:spcAft>
              <a:buClrTx/>
              <a:buSzTx/>
              <a:buFont typeface="+mj-lt"/>
              <a:buNone/>
              <a:tabLst/>
              <a:defRPr/>
            </a:pPr>
            <a:endParaRPr lang="en-GB" sz="2000" dirty="0">
              <a:solidFill>
                <a:schemeClr val="tx1"/>
              </a:solidFill>
            </a:endParaRPr>
          </a:p>
        </p:txBody>
      </p:sp>
      <p:sp>
        <p:nvSpPr>
          <p:cNvPr id="6" name="TextBox 5"/>
          <p:cNvSpPr txBox="1"/>
          <p:nvPr/>
        </p:nvSpPr>
        <p:spPr>
          <a:xfrm>
            <a:off x="149087" y="697936"/>
            <a:ext cx="8915400" cy="4524315"/>
          </a:xfrm>
          <a:prstGeom prst="rect">
            <a:avLst/>
          </a:prstGeom>
          <a:noFill/>
        </p:spPr>
        <p:txBody>
          <a:bodyPr wrap="square" rtlCol="0">
            <a:spAutoFit/>
          </a:bodyPr>
          <a:lstStyle/>
          <a:p>
            <a:pPr marL="457200" indent="-457200">
              <a:buAutoNum type="arabicPeriod"/>
            </a:pPr>
            <a:r>
              <a:rPr lang="en-GB" sz="2400" dirty="0" smtClean="0"/>
              <a:t>What do we call the many hydrocarbons in crude oil?</a:t>
            </a:r>
          </a:p>
          <a:p>
            <a:pPr marL="457200" indent="-457200">
              <a:buAutoNum type="arabicPeriod"/>
            </a:pPr>
            <a:endParaRPr lang="en-GB" sz="2400" dirty="0" smtClean="0"/>
          </a:p>
          <a:p>
            <a:pPr marL="457200" indent="-457200">
              <a:buAutoNum type="arabicPeriod"/>
            </a:pPr>
            <a:r>
              <a:rPr lang="en-GB" sz="2400" dirty="0" smtClean="0"/>
              <a:t>How can the hydrocarbons in crude oil be separated out?</a:t>
            </a:r>
          </a:p>
          <a:p>
            <a:pPr marL="457200" indent="-457200">
              <a:buAutoNum type="arabicPeriod"/>
            </a:pPr>
            <a:endParaRPr lang="en-GB" sz="2400" dirty="0" smtClean="0"/>
          </a:p>
          <a:p>
            <a:pPr marL="457200" indent="-457200">
              <a:buAutoNum type="arabicPeriod"/>
            </a:pPr>
            <a:r>
              <a:rPr lang="en-GB" sz="2400" dirty="0" smtClean="0"/>
              <a:t>The hydrocarbons in crude oil can be processed to produce…</a:t>
            </a:r>
          </a:p>
          <a:p>
            <a:pPr marL="457200" indent="-457200">
              <a:buAutoNum type="arabicPeriod"/>
            </a:pPr>
            <a:endParaRPr lang="en-GB" sz="2400" dirty="0" smtClean="0"/>
          </a:p>
          <a:p>
            <a:pPr marL="457200" indent="-457200">
              <a:buAutoNum type="arabicPeriod"/>
            </a:pPr>
            <a:r>
              <a:rPr lang="en-GB" sz="2400" dirty="0" smtClean="0"/>
              <a:t>List </a:t>
            </a:r>
            <a:r>
              <a:rPr lang="en-GB" sz="2400" dirty="0"/>
              <a:t>the following fractions from fractional distillation in order of boiling point, the fraction with the lowest boiling point should be </a:t>
            </a:r>
            <a:r>
              <a:rPr lang="en-GB" sz="2400" dirty="0" smtClean="0"/>
              <a:t>first. </a:t>
            </a:r>
          </a:p>
          <a:p>
            <a:pPr lvl="1"/>
            <a:r>
              <a:rPr lang="en-GB" sz="2400" dirty="0" smtClean="0"/>
              <a:t>Kerosene</a:t>
            </a:r>
            <a:r>
              <a:rPr lang="en-GB" sz="2400" dirty="0"/>
              <a:t>, diesel oil, heavy fuel oil, liquefied petroleum gases, </a:t>
            </a:r>
            <a:r>
              <a:rPr lang="en-GB" sz="2400" dirty="0" smtClean="0"/>
              <a:t>petrol.</a:t>
            </a:r>
          </a:p>
          <a:p>
            <a:pPr lvl="1"/>
            <a:endParaRPr lang="en-GB" sz="2400" dirty="0" smtClean="0"/>
          </a:p>
        </p:txBody>
      </p:sp>
    </p:spTree>
    <p:extLst>
      <p:ext uri="{BB962C8B-B14F-4D97-AF65-F5344CB8AC3E}">
        <p14:creationId xmlns:p14="http://schemas.microsoft.com/office/powerpoint/2010/main" val="817689244"/>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331640" y="0"/>
            <a:ext cx="7812360" cy="657041"/>
          </a:xfrm>
        </p:spPr>
        <p:txBody>
          <a:bodyPr>
            <a:noAutofit/>
          </a:bodyPr>
          <a:lstStyle/>
          <a:p>
            <a:pPr marL="342900" lvl="1" algn="r" defTabSz="342900" rtl="0">
              <a:spcBef>
                <a:spcPct val="20000"/>
              </a:spcBef>
            </a:pPr>
            <a:r>
              <a:rPr lang="en-US" sz="1500" dirty="0">
                <a:solidFill>
                  <a:schemeClr val="accent6"/>
                </a:solidFill>
              </a:rPr>
              <a:t>Fractional distillation and petrochemicals and properties of hydrocarbons - </a:t>
            </a:r>
            <a:r>
              <a:rPr lang="en-US" sz="1500" b="1" dirty="0" err="1">
                <a:solidFill>
                  <a:schemeClr val="tx1"/>
                </a:solidFill>
              </a:rPr>
              <a:t>Question</a:t>
            </a:r>
            <a:r>
              <a:rPr lang="en-US" sz="1500" b="1" kern="1200" dirty="0" err="1">
                <a:solidFill>
                  <a:schemeClr val="tx1"/>
                </a:solidFill>
                <a:latin typeface="Calibri"/>
                <a:ea typeface=""/>
                <a:cs typeface="News Gothic MT"/>
              </a:rPr>
              <a:t>IT</a:t>
            </a:r>
            <a:endParaRPr kumimoji="0" lang="en-US" sz="1500" b="1" i="0" u="none" strike="noStrike" kern="1200" cap="none" spc="0" normalizeH="0" baseline="0" noProof="0" dirty="0">
              <a:ln>
                <a:noFill/>
              </a:ln>
              <a:solidFill>
                <a:schemeClr val="tx1"/>
              </a:solidFill>
              <a:effectLst/>
              <a:uLnTx/>
              <a:uFillTx/>
              <a:latin typeface="Calibri"/>
              <a:ea typeface=""/>
              <a:cs typeface="News Gothic MT"/>
            </a:endParaRPr>
          </a:p>
        </p:txBody>
      </p:sp>
      <p:sp>
        <p:nvSpPr>
          <p:cNvPr id="4" name="Rectangle 3"/>
          <p:cNvSpPr/>
          <p:nvPr/>
        </p:nvSpPr>
        <p:spPr>
          <a:xfrm>
            <a:off x="149087" y="802524"/>
            <a:ext cx="8915400" cy="5595731"/>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a:lstStyle/>
          <a:p>
            <a:pPr marL="342900" marR="0" lvl="0" indent="-342900" defTabSz="914400" eaLnBrk="1" fontAlgn="auto" latinLnBrk="0" hangingPunct="1">
              <a:lnSpc>
                <a:spcPct val="100000"/>
              </a:lnSpc>
              <a:spcBef>
                <a:spcPts val="0"/>
              </a:spcBef>
              <a:spcAft>
                <a:spcPts val="0"/>
              </a:spcAft>
              <a:buClrTx/>
              <a:buSzTx/>
              <a:buFont typeface="+mj-lt"/>
              <a:buNone/>
              <a:tabLst/>
              <a:defRPr/>
            </a:pPr>
            <a:endParaRPr lang="en-GB" sz="2000" dirty="0">
              <a:solidFill>
                <a:schemeClr val="tx1"/>
              </a:solidFill>
            </a:endParaRPr>
          </a:p>
        </p:txBody>
      </p:sp>
      <p:sp>
        <p:nvSpPr>
          <p:cNvPr id="6" name="TextBox 5"/>
          <p:cNvSpPr txBox="1"/>
          <p:nvPr/>
        </p:nvSpPr>
        <p:spPr>
          <a:xfrm>
            <a:off x="149087" y="697936"/>
            <a:ext cx="8915400" cy="3046988"/>
          </a:xfrm>
          <a:prstGeom prst="rect">
            <a:avLst/>
          </a:prstGeom>
          <a:noFill/>
        </p:spPr>
        <p:txBody>
          <a:bodyPr wrap="square" rtlCol="0">
            <a:spAutoFit/>
          </a:bodyPr>
          <a:lstStyle/>
          <a:p>
            <a:pPr marL="457200" indent="-457200">
              <a:buFont typeface="+mj-lt"/>
              <a:buAutoNum type="arabicPeriod" startAt="5"/>
            </a:pPr>
            <a:r>
              <a:rPr lang="en-GB" sz="2400" dirty="0" smtClean="0"/>
              <a:t>Give </a:t>
            </a:r>
            <a:r>
              <a:rPr lang="en-GB" sz="2400" dirty="0"/>
              <a:t>three examples of useful materials produced by the petrochemical industry</a:t>
            </a:r>
            <a:r>
              <a:rPr lang="en-GB" sz="2400" dirty="0" smtClean="0"/>
              <a:t>.</a:t>
            </a:r>
            <a:r>
              <a:rPr lang="en-GB" sz="2400" dirty="0"/>
              <a:t> </a:t>
            </a:r>
            <a:endParaRPr lang="en-GB" sz="2400" dirty="0" smtClean="0"/>
          </a:p>
          <a:p>
            <a:pPr marL="457200" indent="-457200">
              <a:buAutoNum type="arabicPeriod" startAt="5"/>
            </a:pPr>
            <a:endParaRPr lang="en-GB" sz="2400" dirty="0" smtClean="0"/>
          </a:p>
          <a:p>
            <a:pPr marL="457200" indent="-457200">
              <a:buAutoNum type="arabicPeriod" startAt="5"/>
            </a:pPr>
            <a:r>
              <a:rPr lang="en-GB" sz="2400" dirty="0" smtClean="0"/>
              <a:t>How </a:t>
            </a:r>
            <a:r>
              <a:rPr lang="en-GB" sz="2400" dirty="0"/>
              <a:t>would you describe the boiling point, the viscosity and the flammability of a very large alkane </a:t>
            </a:r>
            <a:r>
              <a:rPr lang="en-GB" sz="2400" dirty="0" smtClean="0"/>
              <a:t>molecule?</a:t>
            </a:r>
          </a:p>
          <a:p>
            <a:pPr marL="457200" indent="-457200">
              <a:buAutoNum type="arabicPeriod" startAt="5"/>
            </a:pPr>
            <a:endParaRPr lang="en-GB" sz="2400" dirty="0" smtClean="0"/>
          </a:p>
          <a:p>
            <a:pPr marL="457200" indent="-457200">
              <a:buAutoNum type="arabicPeriod" startAt="5"/>
            </a:pPr>
            <a:r>
              <a:rPr lang="en-GB" sz="2400" dirty="0" err="1" smtClean="0"/>
              <a:t>Nonane</a:t>
            </a:r>
            <a:r>
              <a:rPr lang="en-GB" sz="2400" dirty="0" smtClean="0"/>
              <a:t> </a:t>
            </a:r>
            <a:r>
              <a:rPr lang="en-GB" sz="2400" dirty="0"/>
              <a:t>C</a:t>
            </a:r>
            <a:r>
              <a:rPr lang="en-GB" sz="2400" baseline="-25000" dirty="0"/>
              <a:t>9</a:t>
            </a:r>
            <a:r>
              <a:rPr lang="en-GB" sz="2400" dirty="0"/>
              <a:t>H</a:t>
            </a:r>
            <a:r>
              <a:rPr lang="en-GB" sz="2400" baseline="-25000" dirty="0"/>
              <a:t>20</a:t>
            </a:r>
            <a:r>
              <a:rPr lang="en-GB" sz="2400" dirty="0"/>
              <a:t> was combusted in oxygen to produce carbon dioxide and water. Write the balanced symbol equation for this reaction</a:t>
            </a:r>
            <a:r>
              <a:rPr lang="en-GB" sz="2400" dirty="0" smtClean="0"/>
              <a:t>.</a:t>
            </a:r>
            <a:endParaRPr lang="en-GB" sz="2400" dirty="0"/>
          </a:p>
        </p:txBody>
      </p:sp>
    </p:spTree>
    <p:extLst>
      <p:ext uri="{BB962C8B-B14F-4D97-AF65-F5344CB8AC3E}">
        <p14:creationId xmlns:p14="http://schemas.microsoft.com/office/powerpoint/2010/main" val="551515296"/>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149087" y="802524"/>
            <a:ext cx="8915400" cy="5595731"/>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a:lstStyle/>
          <a:p>
            <a:pPr marL="342900" marR="0" lvl="0" indent="-342900" defTabSz="914400" eaLnBrk="1" fontAlgn="auto" latinLnBrk="0" hangingPunct="1">
              <a:lnSpc>
                <a:spcPct val="100000"/>
              </a:lnSpc>
              <a:spcBef>
                <a:spcPts val="0"/>
              </a:spcBef>
              <a:spcAft>
                <a:spcPts val="0"/>
              </a:spcAft>
              <a:buClrTx/>
              <a:buSzTx/>
              <a:buFont typeface="+mj-lt"/>
              <a:buNone/>
              <a:tabLst/>
              <a:defRPr/>
            </a:pPr>
            <a:endParaRPr lang="en-GB" sz="2000" dirty="0">
              <a:solidFill>
                <a:schemeClr val="tx1"/>
              </a:solidFill>
            </a:endParaRPr>
          </a:p>
        </p:txBody>
      </p:sp>
      <p:sp>
        <p:nvSpPr>
          <p:cNvPr id="7" name="TextBox 6"/>
          <p:cNvSpPr txBox="1"/>
          <p:nvPr/>
        </p:nvSpPr>
        <p:spPr>
          <a:xfrm>
            <a:off x="0" y="980728"/>
            <a:ext cx="4716016" cy="4801314"/>
          </a:xfrm>
          <a:prstGeom prst="rect">
            <a:avLst/>
          </a:prstGeom>
          <a:noFill/>
        </p:spPr>
        <p:txBody>
          <a:bodyPr wrap="square" rtlCol="0">
            <a:spAutoFit/>
          </a:bodyPr>
          <a:lstStyle/>
          <a:p>
            <a:r>
              <a:rPr lang="en-GB" sz="7200" b="1" dirty="0">
                <a:latin typeface="+mj-lt"/>
                <a:ea typeface="Beirut" charset="-78"/>
                <a:cs typeface="Beirut" charset="-78"/>
              </a:rPr>
              <a:t>AnswerIT!</a:t>
            </a:r>
          </a:p>
          <a:p>
            <a:endParaRPr lang="en-GB" dirty="0"/>
          </a:p>
          <a:p>
            <a:endParaRPr lang="en-GB" dirty="0"/>
          </a:p>
          <a:p>
            <a:r>
              <a:rPr lang="en-US" sz="2800" b="1" dirty="0"/>
              <a:t>Carbon compounds </a:t>
            </a:r>
          </a:p>
          <a:p>
            <a:r>
              <a:rPr lang="en-US" sz="2800" b="1" dirty="0"/>
              <a:t>as fuels and feedstock</a:t>
            </a:r>
          </a:p>
          <a:p>
            <a:endParaRPr lang="en-US" sz="2800" b="1" dirty="0"/>
          </a:p>
          <a:p>
            <a:r>
              <a:rPr lang="en-GB" sz="2400" b="1" dirty="0">
                <a:solidFill>
                  <a:schemeClr val="tx1">
                    <a:lumMod val="50000"/>
                    <a:lumOff val="50000"/>
                  </a:schemeClr>
                </a:solidFill>
              </a:rPr>
              <a:t>Part 2 </a:t>
            </a:r>
          </a:p>
          <a:p>
            <a:pPr marL="685800" lvl="1" indent="-342900">
              <a:buFont typeface="Arial" charset="0"/>
              <a:buChar char="•"/>
            </a:pPr>
            <a:r>
              <a:rPr lang="en-US" sz="2400" dirty="0">
                <a:solidFill>
                  <a:schemeClr val="tx1">
                    <a:lumMod val="50000"/>
                    <a:lumOff val="50000"/>
                  </a:schemeClr>
                </a:solidFill>
              </a:rPr>
              <a:t>Fractional distillation, Petrochemicals and Properties of hydrocarbons</a:t>
            </a:r>
          </a:p>
          <a:p>
            <a:endParaRPr lang="en-GB" dirty="0"/>
          </a:p>
        </p:txBody>
      </p:sp>
      <p:pic>
        <p:nvPicPr>
          <p:cNvPr id="6" name="Picture 5"/>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139952" y="704918"/>
            <a:ext cx="4824536" cy="5257800"/>
          </a:xfrm>
          <a:prstGeom prst="rect">
            <a:avLst/>
          </a:prstGeom>
        </p:spPr>
      </p:pic>
    </p:spTree>
    <p:extLst>
      <p:ext uri="{BB962C8B-B14F-4D97-AF65-F5344CB8AC3E}">
        <p14:creationId xmlns:p14="http://schemas.microsoft.com/office/powerpoint/2010/main" val="2400140585"/>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331640" y="0"/>
            <a:ext cx="7812360" cy="657041"/>
          </a:xfrm>
        </p:spPr>
        <p:txBody>
          <a:bodyPr>
            <a:noAutofit/>
          </a:bodyPr>
          <a:lstStyle/>
          <a:p>
            <a:pPr marL="342900" lvl="1" algn="r" defTabSz="342900" rtl="0">
              <a:spcBef>
                <a:spcPct val="20000"/>
              </a:spcBef>
            </a:pPr>
            <a:r>
              <a:rPr lang="en-US" sz="1500" dirty="0">
                <a:solidFill>
                  <a:schemeClr val="accent6"/>
                </a:solidFill>
              </a:rPr>
              <a:t>Fractional distillation and petrochemicals and properties of hydrocarbons - </a:t>
            </a:r>
            <a:r>
              <a:rPr lang="en-US" sz="1500" b="1" dirty="0" err="1">
                <a:solidFill>
                  <a:schemeClr val="tx1"/>
                </a:solidFill>
              </a:rPr>
              <a:t>Question</a:t>
            </a:r>
            <a:r>
              <a:rPr lang="en-US" sz="1500" b="1" kern="1200" dirty="0" err="1">
                <a:solidFill>
                  <a:schemeClr val="tx1"/>
                </a:solidFill>
                <a:latin typeface="Calibri"/>
                <a:ea typeface=""/>
                <a:cs typeface="News Gothic MT"/>
              </a:rPr>
              <a:t>IT</a:t>
            </a:r>
            <a:endParaRPr kumimoji="0" lang="en-US" sz="1500" b="1" i="0" u="none" strike="noStrike" kern="1200" cap="none" spc="0" normalizeH="0" baseline="0" noProof="0" dirty="0">
              <a:ln>
                <a:noFill/>
              </a:ln>
              <a:solidFill>
                <a:schemeClr val="tx1"/>
              </a:solidFill>
              <a:effectLst/>
              <a:uLnTx/>
              <a:uFillTx/>
              <a:latin typeface="Calibri"/>
              <a:ea typeface=""/>
              <a:cs typeface="News Gothic MT"/>
            </a:endParaRPr>
          </a:p>
        </p:txBody>
      </p:sp>
      <p:sp>
        <p:nvSpPr>
          <p:cNvPr id="4" name="Rectangle 3"/>
          <p:cNvSpPr/>
          <p:nvPr/>
        </p:nvSpPr>
        <p:spPr>
          <a:xfrm>
            <a:off x="149087" y="802524"/>
            <a:ext cx="8915400" cy="5595731"/>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a:lstStyle/>
          <a:p>
            <a:pPr marL="342900" marR="0" lvl="0" indent="-342900" defTabSz="914400" eaLnBrk="1" fontAlgn="auto" latinLnBrk="0" hangingPunct="1">
              <a:lnSpc>
                <a:spcPct val="100000"/>
              </a:lnSpc>
              <a:spcBef>
                <a:spcPts val="0"/>
              </a:spcBef>
              <a:spcAft>
                <a:spcPts val="0"/>
              </a:spcAft>
              <a:buClrTx/>
              <a:buSzTx/>
              <a:buFont typeface="+mj-lt"/>
              <a:buNone/>
              <a:tabLst/>
              <a:defRPr/>
            </a:pPr>
            <a:endParaRPr lang="en-GB" sz="2000" dirty="0">
              <a:solidFill>
                <a:schemeClr val="tx1"/>
              </a:solidFill>
            </a:endParaRPr>
          </a:p>
        </p:txBody>
      </p:sp>
      <p:sp>
        <p:nvSpPr>
          <p:cNvPr id="6" name="TextBox 5"/>
          <p:cNvSpPr txBox="1"/>
          <p:nvPr/>
        </p:nvSpPr>
        <p:spPr>
          <a:xfrm>
            <a:off x="149087" y="697936"/>
            <a:ext cx="8915400" cy="4524315"/>
          </a:xfrm>
          <a:prstGeom prst="rect">
            <a:avLst/>
          </a:prstGeom>
          <a:noFill/>
        </p:spPr>
        <p:txBody>
          <a:bodyPr wrap="square" rtlCol="0">
            <a:spAutoFit/>
          </a:bodyPr>
          <a:lstStyle/>
          <a:p>
            <a:pPr marL="457200" indent="-457200">
              <a:buAutoNum type="arabicPeriod"/>
            </a:pPr>
            <a:r>
              <a:rPr lang="en-GB" sz="2400" dirty="0" smtClean="0"/>
              <a:t>What do we call the many hydrocarbons in crude oil?</a:t>
            </a:r>
          </a:p>
          <a:p>
            <a:pPr lvl="1"/>
            <a:r>
              <a:rPr lang="en-GB" sz="2400" dirty="0" smtClean="0">
                <a:solidFill>
                  <a:srgbClr val="00B050"/>
                </a:solidFill>
              </a:rPr>
              <a:t>Fractions.</a:t>
            </a:r>
            <a:endParaRPr lang="en-GB" sz="2400" dirty="0" smtClean="0"/>
          </a:p>
          <a:p>
            <a:pPr marL="457200" indent="-457200">
              <a:buAutoNum type="arabicPeriod"/>
            </a:pPr>
            <a:r>
              <a:rPr lang="en-GB" sz="2400" dirty="0" smtClean="0"/>
              <a:t>How can the hydrocarbons in crude oil be separated out?</a:t>
            </a:r>
          </a:p>
          <a:p>
            <a:pPr lvl="1"/>
            <a:r>
              <a:rPr lang="en-GB" sz="2400" dirty="0" smtClean="0">
                <a:solidFill>
                  <a:srgbClr val="00B050"/>
                </a:solidFill>
              </a:rPr>
              <a:t>Fractional distillation.</a:t>
            </a:r>
            <a:endParaRPr lang="en-GB" sz="2400" dirty="0" smtClean="0"/>
          </a:p>
          <a:p>
            <a:pPr marL="457200" indent="-457200">
              <a:buAutoNum type="arabicPeriod"/>
            </a:pPr>
            <a:r>
              <a:rPr lang="en-GB" sz="2400" dirty="0" smtClean="0"/>
              <a:t>The hydrocarbons in crude oil can be processed to produce…</a:t>
            </a:r>
          </a:p>
          <a:p>
            <a:pPr lvl="1"/>
            <a:r>
              <a:rPr lang="en-GB" sz="2400" dirty="0" smtClean="0">
                <a:solidFill>
                  <a:srgbClr val="00B050"/>
                </a:solidFill>
              </a:rPr>
              <a:t>Fuels and feedstock.</a:t>
            </a:r>
            <a:endParaRPr lang="en-GB" sz="2400" dirty="0" smtClean="0"/>
          </a:p>
          <a:p>
            <a:pPr marL="457200" indent="-457200">
              <a:buAutoNum type="arabicPeriod"/>
            </a:pPr>
            <a:r>
              <a:rPr lang="en-GB" sz="2400" dirty="0" smtClean="0"/>
              <a:t>List </a:t>
            </a:r>
            <a:r>
              <a:rPr lang="en-GB" sz="2400" dirty="0"/>
              <a:t>the following fractions from fractional distillation in order of boiling point, the fraction with the lowest boiling point should be </a:t>
            </a:r>
            <a:r>
              <a:rPr lang="en-GB" sz="2400" dirty="0" smtClean="0"/>
              <a:t>first. </a:t>
            </a:r>
          </a:p>
          <a:p>
            <a:pPr lvl="1"/>
            <a:r>
              <a:rPr lang="en-GB" sz="2400" dirty="0" smtClean="0"/>
              <a:t>Kerosene</a:t>
            </a:r>
            <a:r>
              <a:rPr lang="en-GB" sz="2400" dirty="0"/>
              <a:t>, diesel oil, heavy fuel oil, liquefied petroleum gases, </a:t>
            </a:r>
            <a:r>
              <a:rPr lang="en-GB" sz="2400" dirty="0" smtClean="0"/>
              <a:t>petrol.</a:t>
            </a:r>
            <a:endParaRPr lang="en-GB" sz="2400" dirty="0"/>
          </a:p>
          <a:p>
            <a:pPr lvl="1"/>
            <a:r>
              <a:rPr lang="en-GB" sz="2400" dirty="0" smtClean="0">
                <a:solidFill>
                  <a:srgbClr val="00B050"/>
                </a:solidFill>
              </a:rPr>
              <a:t>LPG, petrol, diesel oil, kerosene, heavy fuel oil</a:t>
            </a:r>
            <a:endParaRPr lang="en-GB" sz="2400" dirty="0" smtClean="0"/>
          </a:p>
        </p:txBody>
      </p:sp>
    </p:spTree>
    <p:extLst>
      <p:ext uri="{BB962C8B-B14F-4D97-AF65-F5344CB8AC3E}">
        <p14:creationId xmlns:p14="http://schemas.microsoft.com/office/powerpoint/2010/main" val="350238828"/>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331640" y="0"/>
            <a:ext cx="7812360" cy="657041"/>
          </a:xfrm>
        </p:spPr>
        <p:txBody>
          <a:bodyPr>
            <a:noAutofit/>
          </a:bodyPr>
          <a:lstStyle/>
          <a:p>
            <a:pPr marL="342900" lvl="1" algn="r" defTabSz="342900" rtl="0">
              <a:spcBef>
                <a:spcPct val="20000"/>
              </a:spcBef>
            </a:pPr>
            <a:r>
              <a:rPr lang="en-US" sz="1500" dirty="0">
                <a:solidFill>
                  <a:schemeClr val="accent6"/>
                </a:solidFill>
              </a:rPr>
              <a:t>Fractional distillation and petrochemicals and properties of hydrocarbons - </a:t>
            </a:r>
            <a:r>
              <a:rPr lang="en-US" sz="1500" b="1" dirty="0" err="1">
                <a:solidFill>
                  <a:schemeClr val="tx1"/>
                </a:solidFill>
              </a:rPr>
              <a:t>Question</a:t>
            </a:r>
            <a:r>
              <a:rPr lang="en-US" sz="1500" b="1" kern="1200" dirty="0" err="1">
                <a:solidFill>
                  <a:schemeClr val="tx1"/>
                </a:solidFill>
                <a:latin typeface="Calibri"/>
                <a:ea typeface=""/>
                <a:cs typeface="News Gothic MT"/>
              </a:rPr>
              <a:t>IT</a:t>
            </a:r>
            <a:endParaRPr kumimoji="0" lang="en-US" sz="1500" b="1" i="0" u="none" strike="noStrike" kern="1200" cap="none" spc="0" normalizeH="0" baseline="0" noProof="0" dirty="0">
              <a:ln>
                <a:noFill/>
              </a:ln>
              <a:solidFill>
                <a:schemeClr val="tx1"/>
              </a:solidFill>
              <a:effectLst/>
              <a:uLnTx/>
              <a:uFillTx/>
              <a:latin typeface="Calibri"/>
              <a:ea typeface=""/>
              <a:cs typeface="News Gothic MT"/>
            </a:endParaRPr>
          </a:p>
        </p:txBody>
      </p:sp>
      <p:sp>
        <p:nvSpPr>
          <p:cNvPr id="4" name="Rectangle 3"/>
          <p:cNvSpPr/>
          <p:nvPr/>
        </p:nvSpPr>
        <p:spPr>
          <a:xfrm>
            <a:off x="149087" y="802524"/>
            <a:ext cx="8915400" cy="5595731"/>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a:lstStyle/>
          <a:p>
            <a:pPr marL="342900" marR="0" lvl="0" indent="-342900" defTabSz="914400" eaLnBrk="1" fontAlgn="auto" latinLnBrk="0" hangingPunct="1">
              <a:lnSpc>
                <a:spcPct val="100000"/>
              </a:lnSpc>
              <a:spcBef>
                <a:spcPts val="0"/>
              </a:spcBef>
              <a:spcAft>
                <a:spcPts val="0"/>
              </a:spcAft>
              <a:buClrTx/>
              <a:buSzTx/>
              <a:buFont typeface="+mj-lt"/>
              <a:buNone/>
              <a:tabLst/>
              <a:defRPr/>
            </a:pPr>
            <a:endParaRPr lang="en-GB" sz="2000" dirty="0">
              <a:solidFill>
                <a:schemeClr val="tx1"/>
              </a:solidFill>
            </a:endParaRPr>
          </a:p>
        </p:txBody>
      </p:sp>
      <p:sp>
        <p:nvSpPr>
          <p:cNvPr id="6" name="TextBox 5"/>
          <p:cNvSpPr txBox="1"/>
          <p:nvPr/>
        </p:nvSpPr>
        <p:spPr>
          <a:xfrm>
            <a:off x="149087" y="697936"/>
            <a:ext cx="8915400" cy="3785652"/>
          </a:xfrm>
          <a:prstGeom prst="rect">
            <a:avLst/>
          </a:prstGeom>
          <a:noFill/>
        </p:spPr>
        <p:txBody>
          <a:bodyPr wrap="square" rtlCol="0">
            <a:spAutoFit/>
          </a:bodyPr>
          <a:lstStyle/>
          <a:p>
            <a:pPr marL="457200" indent="-457200">
              <a:buFont typeface="+mj-lt"/>
              <a:buAutoNum type="arabicPeriod" startAt="6"/>
            </a:pPr>
            <a:r>
              <a:rPr lang="en-GB" sz="2400" dirty="0" smtClean="0"/>
              <a:t>Give </a:t>
            </a:r>
            <a:r>
              <a:rPr lang="en-GB" sz="2400" dirty="0"/>
              <a:t>three examples of useful materials produced by the petrochemical industry</a:t>
            </a:r>
            <a:r>
              <a:rPr lang="en-GB" sz="2400" dirty="0" smtClean="0"/>
              <a:t>.</a:t>
            </a:r>
            <a:r>
              <a:rPr lang="en-GB" sz="2400" dirty="0"/>
              <a:t> </a:t>
            </a:r>
            <a:endParaRPr lang="en-GB" sz="2400" dirty="0" smtClean="0"/>
          </a:p>
          <a:p>
            <a:pPr lvl="1"/>
            <a:r>
              <a:rPr lang="en-GB" sz="2400" dirty="0" smtClean="0">
                <a:solidFill>
                  <a:srgbClr val="00B050"/>
                </a:solidFill>
              </a:rPr>
              <a:t>Solvents, lubricants, polymers, detergents.</a:t>
            </a:r>
            <a:endParaRPr lang="en-GB" sz="2400" dirty="0" smtClean="0"/>
          </a:p>
          <a:p>
            <a:pPr marL="457200" indent="-457200">
              <a:buAutoNum type="arabicPeriod" startAt="6"/>
            </a:pPr>
            <a:r>
              <a:rPr lang="en-GB" sz="2400" dirty="0" smtClean="0"/>
              <a:t>How </a:t>
            </a:r>
            <a:r>
              <a:rPr lang="en-GB" sz="2400" dirty="0"/>
              <a:t>would you describe the boiling point, the viscosity and the flammability of a very large alkane </a:t>
            </a:r>
            <a:r>
              <a:rPr lang="en-GB" sz="2400" dirty="0" smtClean="0"/>
              <a:t>molecule?</a:t>
            </a:r>
          </a:p>
          <a:p>
            <a:pPr lvl="1"/>
            <a:r>
              <a:rPr lang="en-GB" sz="2400" dirty="0" smtClean="0">
                <a:solidFill>
                  <a:srgbClr val="00B050"/>
                </a:solidFill>
              </a:rPr>
              <a:t>High boiling point, high viscosity, low flammability.</a:t>
            </a:r>
          </a:p>
          <a:p>
            <a:pPr marL="457200" indent="-457200">
              <a:buAutoNum type="arabicPeriod" startAt="6"/>
            </a:pPr>
            <a:r>
              <a:rPr lang="en-GB" sz="2400" dirty="0" err="1" smtClean="0"/>
              <a:t>Nonane</a:t>
            </a:r>
            <a:r>
              <a:rPr lang="en-GB" sz="2400" dirty="0" smtClean="0"/>
              <a:t> </a:t>
            </a:r>
            <a:r>
              <a:rPr lang="en-GB" sz="2400" dirty="0"/>
              <a:t>C</a:t>
            </a:r>
            <a:r>
              <a:rPr lang="en-GB" sz="2400" baseline="-25000" dirty="0"/>
              <a:t>9</a:t>
            </a:r>
            <a:r>
              <a:rPr lang="en-GB" sz="2400" dirty="0"/>
              <a:t>H</a:t>
            </a:r>
            <a:r>
              <a:rPr lang="en-GB" sz="2400" baseline="-25000" dirty="0"/>
              <a:t>20</a:t>
            </a:r>
            <a:r>
              <a:rPr lang="en-GB" sz="2400" dirty="0"/>
              <a:t> was combusted in oxygen to produce carbon dioxide and water. Write the balanced symbol equation for this reaction</a:t>
            </a:r>
            <a:r>
              <a:rPr lang="en-GB" sz="2400" dirty="0" smtClean="0"/>
              <a:t>.</a:t>
            </a:r>
          </a:p>
          <a:p>
            <a:pPr lvl="1"/>
            <a:r>
              <a:rPr lang="en-GB" sz="2400" dirty="0">
                <a:solidFill>
                  <a:srgbClr val="00B050"/>
                </a:solidFill>
              </a:rPr>
              <a:t>C</a:t>
            </a:r>
            <a:r>
              <a:rPr lang="en-GB" sz="2400" baseline="-25000" dirty="0">
                <a:solidFill>
                  <a:srgbClr val="00B050"/>
                </a:solidFill>
              </a:rPr>
              <a:t>9</a:t>
            </a:r>
            <a:r>
              <a:rPr lang="en-GB" sz="2400" dirty="0">
                <a:solidFill>
                  <a:srgbClr val="00B050"/>
                </a:solidFill>
              </a:rPr>
              <a:t>H</a:t>
            </a:r>
            <a:r>
              <a:rPr lang="en-GB" sz="2400" baseline="-25000" dirty="0">
                <a:solidFill>
                  <a:srgbClr val="00B050"/>
                </a:solidFill>
              </a:rPr>
              <a:t>20</a:t>
            </a:r>
            <a:r>
              <a:rPr lang="en-GB" sz="2400" dirty="0">
                <a:solidFill>
                  <a:srgbClr val="00B050"/>
                </a:solidFill>
              </a:rPr>
              <a:t>   +   14O</a:t>
            </a:r>
            <a:r>
              <a:rPr lang="en-GB" sz="2400" baseline="-25000" dirty="0">
                <a:solidFill>
                  <a:srgbClr val="00B050"/>
                </a:solidFill>
              </a:rPr>
              <a:t>2</a:t>
            </a:r>
            <a:r>
              <a:rPr lang="en-GB" sz="2400" dirty="0">
                <a:solidFill>
                  <a:srgbClr val="00B050"/>
                </a:solidFill>
              </a:rPr>
              <a:t> </a:t>
            </a:r>
            <a:r>
              <a:rPr lang="en-GB" sz="2400" dirty="0">
                <a:solidFill>
                  <a:srgbClr val="00B050"/>
                </a:solidFill>
                <a:sym typeface="Wingdings" panose="05000000000000000000" pitchFamily="2" charset="2"/>
              </a:rPr>
              <a:t>   9CO</a:t>
            </a:r>
            <a:r>
              <a:rPr lang="en-GB" sz="2400" baseline="-25000" dirty="0">
                <a:solidFill>
                  <a:srgbClr val="00B050"/>
                </a:solidFill>
                <a:sym typeface="Wingdings" panose="05000000000000000000" pitchFamily="2" charset="2"/>
              </a:rPr>
              <a:t>2</a:t>
            </a:r>
            <a:r>
              <a:rPr lang="en-GB" sz="2400" dirty="0">
                <a:solidFill>
                  <a:srgbClr val="00B050"/>
                </a:solidFill>
                <a:sym typeface="Wingdings" panose="05000000000000000000" pitchFamily="2" charset="2"/>
              </a:rPr>
              <a:t>   +   10H</a:t>
            </a:r>
            <a:r>
              <a:rPr lang="en-GB" sz="2400" baseline="-25000" dirty="0">
                <a:solidFill>
                  <a:srgbClr val="00B050"/>
                </a:solidFill>
                <a:sym typeface="Wingdings" panose="05000000000000000000" pitchFamily="2" charset="2"/>
              </a:rPr>
              <a:t>2</a:t>
            </a:r>
            <a:r>
              <a:rPr lang="en-GB" sz="2400" dirty="0">
                <a:solidFill>
                  <a:srgbClr val="00B050"/>
                </a:solidFill>
                <a:sym typeface="Wingdings" panose="05000000000000000000" pitchFamily="2" charset="2"/>
              </a:rPr>
              <a:t>O</a:t>
            </a:r>
            <a:endParaRPr lang="en-GB" sz="2400" dirty="0">
              <a:solidFill>
                <a:srgbClr val="00B050"/>
              </a:solidFill>
            </a:endParaRPr>
          </a:p>
          <a:p>
            <a:pPr lvl="1"/>
            <a:endParaRPr lang="en-GB" sz="2400" dirty="0"/>
          </a:p>
        </p:txBody>
      </p:sp>
    </p:spTree>
    <p:extLst>
      <p:ext uri="{BB962C8B-B14F-4D97-AF65-F5344CB8AC3E}">
        <p14:creationId xmlns:p14="http://schemas.microsoft.com/office/powerpoint/2010/main" val="2864683658"/>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149087" y="802524"/>
            <a:ext cx="8915400" cy="5595731"/>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a:lstStyle/>
          <a:p>
            <a:pPr marL="342900" marR="0" lvl="0" indent="-342900" defTabSz="914400" eaLnBrk="1" fontAlgn="auto" latinLnBrk="0" hangingPunct="1">
              <a:lnSpc>
                <a:spcPct val="100000"/>
              </a:lnSpc>
              <a:spcBef>
                <a:spcPts val="0"/>
              </a:spcBef>
              <a:spcAft>
                <a:spcPts val="0"/>
              </a:spcAft>
              <a:buClrTx/>
              <a:buSzTx/>
              <a:buFont typeface="+mj-lt"/>
              <a:buNone/>
              <a:tabLst/>
              <a:defRPr/>
            </a:pPr>
            <a:endParaRPr lang="en-GB" sz="2000" dirty="0">
              <a:solidFill>
                <a:schemeClr val="tx1"/>
              </a:solidFill>
            </a:endParaRPr>
          </a:p>
        </p:txBody>
      </p:sp>
      <p:pic>
        <p:nvPicPr>
          <p:cNvPr id="6" name="Picture 5"/>
          <p:cNvPicPr>
            <a:picLocks noChangeAspect="1"/>
          </p:cNvPicPr>
          <p:nvPr/>
        </p:nvPicPr>
        <p:blipFill>
          <a:blip r:embed="rId3">
            <a:clrChange>
              <a:clrFrom>
                <a:srgbClr val="FFFFFF"/>
              </a:clrFrom>
              <a:clrTo>
                <a:srgbClr val="FFFFFF">
                  <a:alpha val="0"/>
                </a:srgbClr>
              </a:clrTo>
            </a:clrChange>
          </a:blip>
          <a:stretch>
            <a:fillRect/>
          </a:stretch>
        </p:blipFill>
        <p:spPr>
          <a:xfrm>
            <a:off x="2642398" y="0"/>
            <a:ext cx="6538114" cy="6525344"/>
          </a:xfrm>
          <a:prstGeom prst="rect">
            <a:avLst/>
          </a:prstGeom>
        </p:spPr>
      </p:pic>
      <p:sp>
        <p:nvSpPr>
          <p:cNvPr id="7" name="TextBox 6"/>
          <p:cNvSpPr txBox="1"/>
          <p:nvPr/>
        </p:nvSpPr>
        <p:spPr>
          <a:xfrm>
            <a:off x="33062" y="1150665"/>
            <a:ext cx="3491880" cy="5247590"/>
          </a:xfrm>
          <a:prstGeom prst="rect">
            <a:avLst/>
          </a:prstGeom>
          <a:noFill/>
        </p:spPr>
        <p:txBody>
          <a:bodyPr wrap="square" rtlCol="0">
            <a:spAutoFit/>
          </a:bodyPr>
          <a:lstStyle/>
          <a:p>
            <a:r>
              <a:rPr lang="en-GB" sz="7200" b="1" dirty="0">
                <a:latin typeface="+mj-lt"/>
                <a:ea typeface="Beirut" charset="-78"/>
                <a:cs typeface="Beirut" charset="-78"/>
              </a:rPr>
              <a:t>LearnIT!</a:t>
            </a:r>
          </a:p>
          <a:p>
            <a:r>
              <a:rPr lang="en-GB" sz="7200" b="1" dirty="0">
                <a:latin typeface="+mj-lt"/>
                <a:ea typeface="Beirut" charset="-78"/>
                <a:cs typeface="Beirut" charset="-78"/>
              </a:rPr>
              <a:t>KnowIT!</a:t>
            </a:r>
          </a:p>
          <a:p>
            <a:endParaRPr lang="en-GB" dirty="0"/>
          </a:p>
          <a:p>
            <a:r>
              <a:rPr lang="en-US" sz="2800" b="1" dirty="0"/>
              <a:t>Carbon compounds as fuels and feedstock</a:t>
            </a:r>
          </a:p>
          <a:p>
            <a:r>
              <a:rPr lang="en-GB" sz="2400" b="1" dirty="0">
                <a:solidFill>
                  <a:schemeClr val="tx1">
                    <a:lumMod val="50000"/>
                    <a:lumOff val="50000"/>
                  </a:schemeClr>
                </a:solidFill>
              </a:rPr>
              <a:t>Part 3 </a:t>
            </a:r>
          </a:p>
          <a:p>
            <a:pPr marL="685800" lvl="1" indent="-342900">
              <a:buFont typeface="Arial" charset="0"/>
              <a:buChar char="•"/>
            </a:pPr>
            <a:r>
              <a:rPr lang="en-US" sz="2400" dirty="0">
                <a:solidFill>
                  <a:schemeClr val="tx1">
                    <a:lumMod val="50000"/>
                    <a:lumOff val="50000"/>
                  </a:schemeClr>
                </a:solidFill>
              </a:rPr>
              <a:t>Cracking and alkenes</a:t>
            </a:r>
          </a:p>
          <a:p>
            <a:pPr>
              <a:lnSpc>
                <a:spcPct val="150000"/>
              </a:lnSpc>
            </a:pPr>
            <a:endParaRPr lang="en-GB" b="1" dirty="0">
              <a:solidFill>
                <a:schemeClr val="tx1">
                  <a:lumMod val="50000"/>
                  <a:lumOff val="50000"/>
                </a:schemeClr>
              </a:solidFill>
            </a:endParaRPr>
          </a:p>
          <a:p>
            <a:endParaRPr lang="en-GB" sz="2400" b="1" dirty="0">
              <a:solidFill>
                <a:schemeClr val="tx1">
                  <a:lumMod val="50000"/>
                  <a:lumOff val="50000"/>
                </a:schemeClr>
              </a:solidFill>
            </a:endParaRPr>
          </a:p>
          <a:p>
            <a:endParaRPr lang="en-GB" dirty="0"/>
          </a:p>
        </p:txBody>
      </p:sp>
    </p:spTree>
    <p:extLst>
      <p:ext uri="{BB962C8B-B14F-4D97-AF65-F5344CB8AC3E}">
        <p14:creationId xmlns:p14="http://schemas.microsoft.com/office/powerpoint/2010/main" val="3828729043"/>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331640" y="35655"/>
            <a:ext cx="7812360" cy="657041"/>
          </a:xfrm>
        </p:spPr>
        <p:txBody>
          <a:bodyPr>
            <a:noAutofit/>
          </a:bodyPr>
          <a:lstStyle/>
          <a:p>
            <a:pPr marL="342900" marR="0" lvl="1" algn="r" defTabSz="342900" rtl="0" eaLnBrk="1" fontAlgn="auto" latinLnBrk="0" hangingPunct="1">
              <a:lnSpc>
                <a:spcPct val="100000"/>
              </a:lnSpc>
              <a:spcBef>
                <a:spcPct val="20000"/>
              </a:spcBef>
              <a:spcAft>
                <a:spcPts val="0"/>
              </a:spcAft>
              <a:buClrTx/>
              <a:buSzTx/>
              <a:tabLst/>
              <a:defRPr/>
            </a:pPr>
            <a:r>
              <a:rPr lang="en-US" sz="2400" dirty="0">
                <a:solidFill>
                  <a:schemeClr val="accent6"/>
                </a:solidFill>
              </a:rPr>
              <a:t>Cracking and alkenes</a:t>
            </a:r>
            <a:endParaRPr kumimoji="0" lang="en-US" sz="2400" i="0" u="none" strike="noStrike" kern="1200" cap="none" spc="0" normalizeH="0" baseline="0" noProof="0" dirty="0">
              <a:ln>
                <a:noFill/>
              </a:ln>
              <a:solidFill>
                <a:schemeClr val="accent6"/>
              </a:solidFill>
              <a:effectLst/>
              <a:uLnTx/>
              <a:uFillTx/>
              <a:latin typeface="Calibri"/>
              <a:ea typeface=""/>
              <a:cs typeface="News Gothic MT"/>
            </a:endParaRPr>
          </a:p>
        </p:txBody>
      </p:sp>
      <p:sp>
        <p:nvSpPr>
          <p:cNvPr id="3" name="TextBox 2"/>
          <p:cNvSpPr txBox="1"/>
          <p:nvPr/>
        </p:nvSpPr>
        <p:spPr>
          <a:xfrm>
            <a:off x="179512" y="836712"/>
            <a:ext cx="6192688" cy="707886"/>
          </a:xfrm>
          <a:prstGeom prst="rect">
            <a:avLst/>
          </a:prstGeom>
          <a:noFill/>
          <a:ln w="28575">
            <a:solidFill>
              <a:schemeClr val="accent6"/>
            </a:solidFill>
          </a:ln>
        </p:spPr>
        <p:txBody>
          <a:bodyPr wrap="square" rtlCol="0">
            <a:spAutoFit/>
          </a:bodyPr>
          <a:lstStyle/>
          <a:p>
            <a:r>
              <a:rPr lang="en-GB" sz="2000" dirty="0"/>
              <a:t>Hydrocarbons can be broken down (cracked) to produce smaller </a:t>
            </a:r>
            <a:r>
              <a:rPr lang="en-GB" sz="2000" b="1" dirty="0">
                <a:solidFill>
                  <a:schemeClr val="accent6">
                    <a:lumMod val="75000"/>
                  </a:schemeClr>
                </a:solidFill>
              </a:rPr>
              <a:t>more useful </a:t>
            </a:r>
            <a:r>
              <a:rPr lang="en-GB" sz="2000" dirty="0"/>
              <a:t>molecules.</a:t>
            </a:r>
          </a:p>
        </p:txBody>
      </p:sp>
      <p:sp>
        <p:nvSpPr>
          <p:cNvPr id="4" name="TextBox 3"/>
          <p:cNvSpPr txBox="1"/>
          <p:nvPr/>
        </p:nvSpPr>
        <p:spPr>
          <a:xfrm>
            <a:off x="136226" y="2190323"/>
            <a:ext cx="8712968" cy="461665"/>
          </a:xfrm>
          <a:custGeom>
            <a:avLst/>
            <a:gdLst>
              <a:gd name="connsiteX0" fmla="*/ 0 w 8712968"/>
              <a:gd name="connsiteY0" fmla="*/ 0 h 400110"/>
              <a:gd name="connsiteX1" fmla="*/ 8712968 w 8712968"/>
              <a:gd name="connsiteY1" fmla="*/ 0 h 400110"/>
              <a:gd name="connsiteX2" fmla="*/ 8712968 w 8712968"/>
              <a:gd name="connsiteY2" fmla="*/ 400110 h 400110"/>
              <a:gd name="connsiteX3" fmla="*/ 0 w 8712968"/>
              <a:gd name="connsiteY3" fmla="*/ 400110 h 400110"/>
              <a:gd name="connsiteX4" fmla="*/ 0 w 8712968"/>
              <a:gd name="connsiteY4" fmla="*/ 0 h 400110"/>
              <a:gd name="connsiteX0" fmla="*/ 0 w 8712968"/>
              <a:gd name="connsiteY0" fmla="*/ 0 h 580414"/>
              <a:gd name="connsiteX1" fmla="*/ 8712968 w 8712968"/>
              <a:gd name="connsiteY1" fmla="*/ 0 h 580414"/>
              <a:gd name="connsiteX2" fmla="*/ 8712968 w 8712968"/>
              <a:gd name="connsiteY2" fmla="*/ 400110 h 580414"/>
              <a:gd name="connsiteX3" fmla="*/ 12879 w 8712968"/>
              <a:gd name="connsiteY3" fmla="*/ 580414 h 580414"/>
              <a:gd name="connsiteX4" fmla="*/ 0 w 8712968"/>
              <a:gd name="connsiteY4" fmla="*/ 0 h 580414"/>
              <a:gd name="connsiteX0" fmla="*/ 0 w 8712968"/>
              <a:gd name="connsiteY0" fmla="*/ 0 h 657687"/>
              <a:gd name="connsiteX1" fmla="*/ 8712968 w 8712968"/>
              <a:gd name="connsiteY1" fmla="*/ 0 h 657687"/>
              <a:gd name="connsiteX2" fmla="*/ 8712968 w 8712968"/>
              <a:gd name="connsiteY2" fmla="*/ 657687 h 657687"/>
              <a:gd name="connsiteX3" fmla="*/ 12879 w 8712968"/>
              <a:gd name="connsiteY3" fmla="*/ 580414 h 657687"/>
              <a:gd name="connsiteX4" fmla="*/ 0 w 8712968"/>
              <a:gd name="connsiteY4" fmla="*/ 0 h 657687"/>
              <a:gd name="connsiteX0" fmla="*/ 0 w 8712968"/>
              <a:gd name="connsiteY0" fmla="*/ 0 h 631930"/>
              <a:gd name="connsiteX1" fmla="*/ 8712968 w 8712968"/>
              <a:gd name="connsiteY1" fmla="*/ 0 h 631930"/>
              <a:gd name="connsiteX2" fmla="*/ 8712968 w 8712968"/>
              <a:gd name="connsiteY2" fmla="*/ 631930 h 631930"/>
              <a:gd name="connsiteX3" fmla="*/ 12879 w 8712968"/>
              <a:gd name="connsiteY3" fmla="*/ 580414 h 631930"/>
              <a:gd name="connsiteX4" fmla="*/ 0 w 8712968"/>
              <a:gd name="connsiteY4" fmla="*/ 0 h 631930"/>
              <a:gd name="connsiteX0" fmla="*/ 0 w 8712968"/>
              <a:gd name="connsiteY0" fmla="*/ 0 h 619051"/>
              <a:gd name="connsiteX1" fmla="*/ 8712968 w 8712968"/>
              <a:gd name="connsiteY1" fmla="*/ 0 h 619051"/>
              <a:gd name="connsiteX2" fmla="*/ 8712968 w 8712968"/>
              <a:gd name="connsiteY2" fmla="*/ 619051 h 619051"/>
              <a:gd name="connsiteX3" fmla="*/ 12879 w 8712968"/>
              <a:gd name="connsiteY3" fmla="*/ 580414 h 619051"/>
              <a:gd name="connsiteX4" fmla="*/ 0 w 8712968"/>
              <a:gd name="connsiteY4" fmla="*/ 0 h 619051"/>
              <a:gd name="connsiteX0" fmla="*/ 0 w 8712968"/>
              <a:gd name="connsiteY0" fmla="*/ 0 h 593293"/>
              <a:gd name="connsiteX1" fmla="*/ 8712968 w 8712968"/>
              <a:gd name="connsiteY1" fmla="*/ 0 h 593293"/>
              <a:gd name="connsiteX2" fmla="*/ 8712968 w 8712968"/>
              <a:gd name="connsiteY2" fmla="*/ 593293 h 593293"/>
              <a:gd name="connsiteX3" fmla="*/ 12879 w 8712968"/>
              <a:gd name="connsiteY3" fmla="*/ 580414 h 593293"/>
              <a:gd name="connsiteX4" fmla="*/ 0 w 8712968"/>
              <a:gd name="connsiteY4" fmla="*/ 0 h 593293"/>
              <a:gd name="connsiteX0" fmla="*/ 0 w 8712968"/>
              <a:gd name="connsiteY0" fmla="*/ 154546 h 593293"/>
              <a:gd name="connsiteX1" fmla="*/ 8712968 w 8712968"/>
              <a:gd name="connsiteY1" fmla="*/ 0 h 593293"/>
              <a:gd name="connsiteX2" fmla="*/ 8712968 w 8712968"/>
              <a:gd name="connsiteY2" fmla="*/ 593293 h 593293"/>
              <a:gd name="connsiteX3" fmla="*/ 12879 w 8712968"/>
              <a:gd name="connsiteY3" fmla="*/ 580414 h 593293"/>
              <a:gd name="connsiteX4" fmla="*/ 0 w 8712968"/>
              <a:gd name="connsiteY4" fmla="*/ 154546 h 593293"/>
              <a:gd name="connsiteX0" fmla="*/ 0 w 8712968"/>
              <a:gd name="connsiteY0" fmla="*/ 154546 h 580414"/>
              <a:gd name="connsiteX1" fmla="*/ 8712968 w 8712968"/>
              <a:gd name="connsiteY1" fmla="*/ 0 h 580414"/>
              <a:gd name="connsiteX2" fmla="*/ 8712968 w 8712968"/>
              <a:gd name="connsiteY2" fmla="*/ 580414 h 580414"/>
              <a:gd name="connsiteX3" fmla="*/ 12879 w 8712968"/>
              <a:gd name="connsiteY3" fmla="*/ 580414 h 580414"/>
              <a:gd name="connsiteX4" fmla="*/ 0 w 8712968"/>
              <a:gd name="connsiteY4" fmla="*/ 154546 h 580414"/>
              <a:gd name="connsiteX0" fmla="*/ 0 w 8712968"/>
              <a:gd name="connsiteY0" fmla="*/ 51515 h 477383"/>
              <a:gd name="connsiteX1" fmla="*/ 8712968 w 8712968"/>
              <a:gd name="connsiteY1" fmla="*/ 0 h 477383"/>
              <a:gd name="connsiteX2" fmla="*/ 8712968 w 8712968"/>
              <a:gd name="connsiteY2" fmla="*/ 477383 h 477383"/>
              <a:gd name="connsiteX3" fmla="*/ 12879 w 8712968"/>
              <a:gd name="connsiteY3" fmla="*/ 477383 h 477383"/>
              <a:gd name="connsiteX4" fmla="*/ 0 w 8712968"/>
              <a:gd name="connsiteY4" fmla="*/ 51515 h 477383"/>
              <a:gd name="connsiteX0" fmla="*/ 0 w 8712968"/>
              <a:gd name="connsiteY0" fmla="*/ 25757 h 451625"/>
              <a:gd name="connsiteX1" fmla="*/ 8712968 w 8712968"/>
              <a:gd name="connsiteY1" fmla="*/ 0 h 451625"/>
              <a:gd name="connsiteX2" fmla="*/ 8712968 w 8712968"/>
              <a:gd name="connsiteY2" fmla="*/ 451625 h 451625"/>
              <a:gd name="connsiteX3" fmla="*/ 12879 w 8712968"/>
              <a:gd name="connsiteY3" fmla="*/ 451625 h 451625"/>
              <a:gd name="connsiteX4" fmla="*/ 0 w 8712968"/>
              <a:gd name="connsiteY4" fmla="*/ 25757 h 451625"/>
              <a:gd name="connsiteX0" fmla="*/ 0 w 8712968"/>
              <a:gd name="connsiteY0" fmla="*/ 0 h 425868"/>
              <a:gd name="connsiteX1" fmla="*/ 8712968 w 8712968"/>
              <a:gd name="connsiteY1" fmla="*/ 0 h 425868"/>
              <a:gd name="connsiteX2" fmla="*/ 8712968 w 8712968"/>
              <a:gd name="connsiteY2" fmla="*/ 425868 h 425868"/>
              <a:gd name="connsiteX3" fmla="*/ 12879 w 8712968"/>
              <a:gd name="connsiteY3" fmla="*/ 425868 h 425868"/>
              <a:gd name="connsiteX4" fmla="*/ 0 w 8712968"/>
              <a:gd name="connsiteY4" fmla="*/ 0 h 42586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712968" h="425868">
                <a:moveTo>
                  <a:pt x="0" y="0"/>
                </a:moveTo>
                <a:lnTo>
                  <a:pt x="8712968" y="0"/>
                </a:lnTo>
                <a:lnTo>
                  <a:pt x="8712968" y="425868"/>
                </a:lnTo>
                <a:lnTo>
                  <a:pt x="12879" y="425868"/>
                </a:lnTo>
                <a:lnTo>
                  <a:pt x="0" y="0"/>
                </a:lnTo>
                <a:close/>
              </a:path>
            </a:pathLst>
          </a:custGeom>
          <a:noFill/>
        </p:spPr>
        <p:txBody>
          <a:bodyPr wrap="square" rtlCol="0">
            <a:spAutoFit/>
          </a:bodyPr>
          <a:lstStyle/>
          <a:p>
            <a:pPr algn="ctr"/>
            <a:r>
              <a:rPr lang="en-GB" sz="2400" b="1" dirty="0"/>
              <a:t>C</a:t>
            </a:r>
            <a:r>
              <a:rPr lang="en-GB" sz="2400" b="1" baseline="-25000" dirty="0"/>
              <a:t>10</a:t>
            </a:r>
            <a:r>
              <a:rPr lang="en-GB" sz="2400" b="1" dirty="0"/>
              <a:t>H</a:t>
            </a:r>
            <a:r>
              <a:rPr lang="en-GB" sz="2400" b="1" baseline="-25000" dirty="0"/>
              <a:t>22</a:t>
            </a:r>
            <a:r>
              <a:rPr lang="en-GB" sz="2400" b="1" dirty="0"/>
              <a:t> </a:t>
            </a:r>
            <a:r>
              <a:rPr lang="en-GB" sz="2400" b="1" dirty="0">
                <a:sym typeface="Wingdings" panose="05000000000000000000" pitchFamily="2" charset="2"/>
              </a:rPr>
              <a:t>   C</a:t>
            </a:r>
            <a:r>
              <a:rPr lang="en-GB" sz="2400" b="1" baseline="-25000" dirty="0">
                <a:sym typeface="Wingdings" panose="05000000000000000000" pitchFamily="2" charset="2"/>
              </a:rPr>
              <a:t>8</a:t>
            </a:r>
            <a:r>
              <a:rPr lang="en-GB" sz="2400" b="1" dirty="0">
                <a:sym typeface="Wingdings" panose="05000000000000000000" pitchFamily="2" charset="2"/>
              </a:rPr>
              <a:t>H</a:t>
            </a:r>
            <a:r>
              <a:rPr lang="en-GB" sz="2400" b="1" baseline="-25000" dirty="0">
                <a:sym typeface="Wingdings" panose="05000000000000000000" pitchFamily="2" charset="2"/>
              </a:rPr>
              <a:t>18</a:t>
            </a:r>
            <a:r>
              <a:rPr lang="en-GB" sz="2400" b="1" dirty="0">
                <a:sym typeface="Wingdings" panose="05000000000000000000" pitchFamily="2" charset="2"/>
              </a:rPr>
              <a:t>    +    C</a:t>
            </a:r>
            <a:r>
              <a:rPr lang="en-GB" sz="2400" b="1" baseline="-25000" dirty="0">
                <a:sym typeface="Wingdings" panose="05000000000000000000" pitchFamily="2" charset="2"/>
              </a:rPr>
              <a:t>2</a:t>
            </a:r>
            <a:r>
              <a:rPr lang="en-GB" sz="2400" b="1" dirty="0">
                <a:sym typeface="Wingdings" panose="05000000000000000000" pitchFamily="2" charset="2"/>
              </a:rPr>
              <a:t>H</a:t>
            </a:r>
            <a:r>
              <a:rPr lang="en-GB" sz="2400" b="1" baseline="-25000" dirty="0">
                <a:sym typeface="Wingdings" panose="05000000000000000000" pitchFamily="2" charset="2"/>
              </a:rPr>
              <a:t>4</a:t>
            </a:r>
            <a:endParaRPr lang="en-GB" sz="2400" b="1" baseline="-25000" dirty="0"/>
          </a:p>
        </p:txBody>
      </p:sp>
      <p:sp>
        <p:nvSpPr>
          <p:cNvPr id="5" name="TextBox 4"/>
          <p:cNvSpPr txBox="1"/>
          <p:nvPr/>
        </p:nvSpPr>
        <p:spPr>
          <a:xfrm>
            <a:off x="6516216" y="836712"/>
            <a:ext cx="2376264" cy="707886"/>
          </a:xfrm>
          <a:prstGeom prst="rect">
            <a:avLst/>
          </a:prstGeom>
          <a:solidFill>
            <a:schemeClr val="accent6"/>
          </a:solidFill>
          <a:ln w="28575">
            <a:solidFill>
              <a:schemeClr val="tx1"/>
            </a:solidFill>
          </a:ln>
        </p:spPr>
        <p:txBody>
          <a:bodyPr wrap="square" rtlCol="0">
            <a:spAutoFit/>
          </a:bodyPr>
          <a:lstStyle/>
          <a:p>
            <a:r>
              <a:rPr lang="en-GB" sz="2000" dirty="0"/>
              <a:t>This is a very </a:t>
            </a:r>
            <a:r>
              <a:rPr lang="en-GB" sz="2000" dirty="0" smtClean="0"/>
              <a:t>important definition.</a:t>
            </a:r>
            <a:endParaRPr lang="en-GB" sz="2000" dirty="0"/>
          </a:p>
        </p:txBody>
      </p:sp>
      <p:sp>
        <p:nvSpPr>
          <p:cNvPr id="7" name="TextBox 6"/>
          <p:cNvSpPr txBox="1"/>
          <p:nvPr/>
        </p:nvSpPr>
        <p:spPr>
          <a:xfrm>
            <a:off x="155009" y="3212976"/>
            <a:ext cx="8712968" cy="1015663"/>
          </a:xfrm>
          <a:custGeom>
            <a:avLst/>
            <a:gdLst>
              <a:gd name="connsiteX0" fmla="*/ 0 w 8712968"/>
              <a:gd name="connsiteY0" fmla="*/ 0 h 923330"/>
              <a:gd name="connsiteX1" fmla="*/ 8712968 w 8712968"/>
              <a:gd name="connsiteY1" fmla="*/ 0 h 923330"/>
              <a:gd name="connsiteX2" fmla="*/ 8712968 w 8712968"/>
              <a:gd name="connsiteY2" fmla="*/ 923330 h 923330"/>
              <a:gd name="connsiteX3" fmla="*/ 0 w 8712968"/>
              <a:gd name="connsiteY3" fmla="*/ 923330 h 923330"/>
              <a:gd name="connsiteX4" fmla="*/ 0 w 8712968"/>
              <a:gd name="connsiteY4" fmla="*/ 0 h 923330"/>
              <a:gd name="connsiteX0" fmla="*/ 0 w 8712968"/>
              <a:gd name="connsiteY0" fmla="*/ 0 h 1013482"/>
              <a:gd name="connsiteX1" fmla="*/ 8712968 w 8712968"/>
              <a:gd name="connsiteY1" fmla="*/ 90152 h 1013482"/>
              <a:gd name="connsiteX2" fmla="*/ 8712968 w 8712968"/>
              <a:gd name="connsiteY2" fmla="*/ 1013482 h 1013482"/>
              <a:gd name="connsiteX3" fmla="*/ 0 w 8712968"/>
              <a:gd name="connsiteY3" fmla="*/ 1013482 h 1013482"/>
              <a:gd name="connsiteX4" fmla="*/ 0 w 8712968"/>
              <a:gd name="connsiteY4" fmla="*/ 0 h 1013482"/>
              <a:gd name="connsiteX0" fmla="*/ 0 w 8712968"/>
              <a:gd name="connsiteY0" fmla="*/ 0 h 1013482"/>
              <a:gd name="connsiteX1" fmla="*/ 8712968 w 8712968"/>
              <a:gd name="connsiteY1" fmla="*/ 12879 h 1013482"/>
              <a:gd name="connsiteX2" fmla="*/ 8712968 w 8712968"/>
              <a:gd name="connsiteY2" fmla="*/ 1013482 h 1013482"/>
              <a:gd name="connsiteX3" fmla="*/ 0 w 8712968"/>
              <a:gd name="connsiteY3" fmla="*/ 1013482 h 1013482"/>
              <a:gd name="connsiteX4" fmla="*/ 0 w 8712968"/>
              <a:gd name="connsiteY4" fmla="*/ 0 h 1013482"/>
              <a:gd name="connsiteX0" fmla="*/ 0 w 8725846"/>
              <a:gd name="connsiteY0" fmla="*/ 0 h 1013482"/>
              <a:gd name="connsiteX1" fmla="*/ 8712968 w 8725846"/>
              <a:gd name="connsiteY1" fmla="*/ 12879 h 1013482"/>
              <a:gd name="connsiteX2" fmla="*/ 8725846 w 8725846"/>
              <a:gd name="connsiteY2" fmla="*/ 833177 h 1013482"/>
              <a:gd name="connsiteX3" fmla="*/ 0 w 8725846"/>
              <a:gd name="connsiteY3" fmla="*/ 1013482 h 1013482"/>
              <a:gd name="connsiteX4" fmla="*/ 0 w 8725846"/>
              <a:gd name="connsiteY4" fmla="*/ 0 h 1013482"/>
              <a:gd name="connsiteX0" fmla="*/ 0 w 8725846"/>
              <a:gd name="connsiteY0" fmla="*/ 0 h 858935"/>
              <a:gd name="connsiteX1" fmla="*/ 8712968 w 8725846"/>
              <a:gd name="connsiteY1" fmla="*/ 12879 h 858935"/>
              <a:gd name="connsiteX2" fmla="*/ 8725846 w 8725846"/>
              <a:gd name="connsiteY2" fmla="*/ 833177 h 858935"/>
              <a:gd name="connsiteX3" fmla="*/ 0 w 8725846"/>
              <a:gd name="connsiteY3" fmla="*/ 858935 h 858935"/>
              <a:gd name="connsiteX4" fmla="*/ 0 w 8725846"/>
              <a:gd name="connsiteY4" fmla="*/ 0 h 858935"/>
              <a:gd name="connsiteX0" fmla="*/ 0 w 8725846"/>
              <a:gd name="connsiteY0" fmla="*/ 0 h 846057"/>
              <a:gd name="connsiteX1" fmla="*/ 8712968 w 8725846"/>
              <a:gd name="connsiteY1" fmla="*/ 12879 h 846057"/>
              <a:gd name="connsiteX2" fmla="*/ 8725846 w 8725846"/>
              <a:gd name="connsiteY2" fmla="*/ 833177 h 846057"/>
              <a:gd name="connsiteX3" fmla="*/ 0 w 8725846"/>
              <a:gd name="connsiteY3" fmla="*/ 846057 h 846057"/>
              <a:gd name="connsiteX4" fmla="*/ 0 w 8725846"/>
              <a:gd name="connsiteY4" fmla="*/ 0 h 846057"/>
              <a:gd name="connsiteX0" fmla="*/ 0 w 8712968"/>
              <a:gd name="connsiteY0" fmla="*/ 0 h 858934"/>
              <a:gd name="connsiteX1" fmla="*/ 8712968 w 8712968"/>
              <a:gd name="connsiteY1" fmla="*/ 12879 h 858934"/>
              <a:gd name="connsiteX2" fmla="*/ 8687209 w 8712968"/>
              <a:gd name="connsiteY2" fmla="*/ 858934 h 858934"/>
              <a:gd name="connsiteX3" fmla="*/ 0 w 8712968"/>
              <a:gd name="connsiteY3" fmla="*/ 846057 h 858934"/>
              <a:gd name="connsiteX4" fmla="*/ 0 w 8712968"/>
              <a:gd name="connsiteY4" fmla="*/ 0 h 858934"/>
              <a:gd name="connsiteX0" fmla="*/ 0 w 8712968"/>
              <a:gd name="connsiteY0" fmla="*/ 0 h 858934"/>
              <a:gd name="connsiteX1" fmla="*/ 8712968 w 8712968"/>
              <a:gd name="connsiteY1" fmla="*/ 12879 h 858934"/>
              <a:gd name="connsiteX2" fmla="*/ 8712967 w 8712968"/>
              <a:gd name="connsiteY2" fmla="*/ 858934 h 858934"/>
              <a:gd name="connsiteX3" fmla="*/ 0 w 8712968"/>
              <a:gd name="connsiteY3" fmla="*/ 846057 h 858934"/>
              <a:gd name="connsiteX4" fmla="*/ 0 w 8712968"/>
              <a:gd name="connsiteY4" fmla="*/ 0 h 858934"/>
              <a:gd name="connsiteX0" fmla="*/ 0 w 8725846"/>
              <a:gd name="connsiteY0" fmla="*/ 0 h 846057"/>
              <a:gd name="connsiteX1" fmla="*/ 8712968 w 8725846"/>
              <a:gd name="connsiteY1" fmla="*/ 12879 h 846057"/>
              <a:gd name="connsiteX2" fmla="*/ 8725846 w 8725846"/>
              <a:gd name="connsiteY2" fmla="*/ 846056 h 846057"/>
              <a:gd name="connsiteX3" fmla="*/ 0 w 8725846"/>
              <a:gd name="connsiteY3" fmla="*/ 846057 h 846057"/>
              <a:gd name="connsiteX4" fmla="*/ 0 w 8725846"/>
              <a:gd name="connsiteY4" fmla="*/ 0 h 846057"/>
              <a:gd name="connsiteX0" fmla="*/ 0 w 8712968"/>
              <a:gd name="connsiteY0" fmla="*/ 0 h 846057"/>
              <a:gd name="connsiteX1" fmla="*/ 8712968 w 8712968"/>
              <a:gd name="connsiteY1" fmla="*/ 12879 h 846057"/>
              <a:gd name="connsiteX2" fmla="*/ 8700088 w 8712968"/>
              <a:gd name="connsiteY2" fmla="*/ 846056 h 846057"/>
              <a:gd name="connsiteX3" fmla="*/ 0 w 8712968"/>
              <a:gd name="connsiteY3" fmla="*/ 846057 h 846057"/>
              <a:gd name="connsiteX4" fmla="*/ 0 w 8712968"/>
              <a:gd name="connsiteY4" fmla="*/ 0 h 84605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712968" h="846057">
                <a:moveTo>
                  <a:pt x="0" y="0"/>
                </a:moveTo>
                <a:lnTo>
                  <a:pt x="8712968" y="12879"/>
                </a:lnTo>
                <a:cubicBezTo>
                  <a:pt x="8712968" y="294897"/>
                  <a:pt x="8700088" y="564038"/>
                  <a:pt x="8700088" y="846056"/>
                </a:cubicBezTo>
                <a:lnTo>
                  <a:pt x="0" y="846057"/>
                </a:lnTo>
                <a:lnTo>
                  <a:pt x="0" y="0"/>
                </a:lnTo>
                <a:close/>
              </a:path>
            </a:pathLst>
          </a:custGeom>
          <a:noFill/>
        </p:spPr>
        <p:txBody>
          <a:bodyPr wrap="square" rtlCol="0">
            <a:spAutoFit/>
          </a:bodyPr>
          <a:lstStyle/>
          <a:p>
            <a:r>
              <a:rPr lang="en-GB" sz="2000" dirty="0"/>
              <a:t>The two products made are both more useful than the starting hydrocarbon, but notice that there are always the </a:t>
            </a:r>
            <a:r>
              <a:rPr lang="en-GB" sz="2000" b="1" dirty="0">
                <a:solidFill>
                  <a:schemeClr val="accent6">
                    <a:lumMod val="75000"/>
                  </a:schemeClr>
                </a:solidFill>
              </a:rPr>
              <a:t>same number </a:t>
            </a:r>
            <a:r>
              <a:rPr lang="en-GB" sz="2000" dirty="0"/>
              <a:t>of carbons and hydrogens on the left hand side of the equation and on the right hand side.</a:t>
            </a:r>
          </a:p>
        </p:txBody>
      </p:sp>
      <p:sp>
        <p:nvSpPr>
          <p:cNvPr id="24" name="TextBox 23"/>
          <p:cNvSpPr txBox="1"/>
          <p:nvPr/>
        </p:nvSpPr>
        <p:spPr>
          <a:xfrm>
            <a:off x="166633" y="4437112"/>
            <a:ext cx="8725847" cy="1323439"/>
          </a:xfrm>
          <a:custGeom>
            <a:avLst/>
            <a:gdLst>
              <a:gd name="connsiteX0" fmla="*/ 0 w 8712968"/>
              <a:gd name="connsiteY0" fmla="*/ 0 h 923330"/>
              <a:gd name="connsiteX1" fmla="*/ 8712968 w 8712968"/>
              <a:gd name="connsiteY1" fmla="*/ 0 h 923330"/>
              <a:gd name="connsiteX2" fmla="*/ 8712968 w 8712968"/>
              <a:gd name="connsiteY2" fmla="*/ 923330 h 923330"/>
              <a:gd name="connsiteX3" fmla="*/ 0 w 8712968"/>
              <a:gd name="connsiteY3" fmla="*/ 923330 h 923330"/>
              <a:gd name="connsiteX4" fmla="*/ 0 w 8712968"/>
              <a:gd name="connsiteY4" fmla="*/ 0 h 923330"/>
              <a:gd name="connsiteX0" fmla="*/ 0 w 8725847"/>
              <a:gd name="connsiteY0" fmla="*/ 0 h 1232423"/>
              <a:gd name="connsiteX1" fmla="*/ 8725847 w 8725847"/>
              <a:gd name="connsiteY1" fmla="*/ 309093 h 1232423"/>
              <a:gd name="connsiteX2" fmla="*/ 8725847 w 8725847"/>
              <a:gd name="connsiteY2" fmla="*/ 1232423 h 1232423"/>
              <a:gd name="connsiteX3" fmla="*/ 12879 w 8725847"/>
              <a:gd name="connsiteY3" fmla="*/ 1232423 h 1232423"/>
              <a:gd name="connsiteX4" fmla="*/ 0 w 8725847"/>
              <a:gd name="connsiteY4" fmla="*/ 0 h 1232423"/>
              <a:gd name="connsiteX0" fmla="*/ 0 w 8725847"/>
              <a:gd name="connsiteY0" fmla="*/ 0 h 1232423"/>
              <a:gd name="connsiteX1" fmla="*/ 8725847 w 8725847"/>
              <a:gd name="connsiteY1" fmla="*/ 0 h 1232423"/>
              <a:gd name="connsiteX2" fmla="*/ 8725847 w 8725847"/>
              <a:gd name="connsiteY2" fmla="*/ 1232423 h 1232423"/>
              <a:gd name="connsiteX3" fmla="*/ 12879 w 8725847"/>
              <a:gd name="connsiteY3" fmla="*/ 1232423 h 1232423"/>
              <a:gd name="connsiteX4" fmla="*/ 0 w 8725847"/>
              <a:gd name="connsiteY4" fmla="*/ 0 h 1232423"/>
              <a:gd name="connsiteX0" fmla="*/ 0 w 8725847"/>
              <a:gd name="connsiteY0" fmla="*/ 0 h 1232423"/>
              <a:gd name="connsiteX1" fmla="*/ 8725847 w 8725847"/>
              <a:gd name="connsiteY1" fmla="*/ 0 h 1232423"/>
              <a:gd name="connsiteX2" fmla="*/ 8725847 w 8725847"/>
              <a:gd name="connsiteY2" fmla="*/ 1232423 h 1232423"/>
              <a:gd name="connsiteX3" fmla="*/ 12879 w 8725847"/>
              <a:gd name="connsiteY3" fmla="*/ 871814 h 1232423"/>
              <a:gd name="connsiteX4" fmla="*/ 0 w 8725847"/>
              <a:gd name="connsiteY4" fmla="*/ 0 h 1232423"/>
              <a:gd name="connsiteX0" fmla="*/ 0 w 8725847"/>
              <a:gd name="connsiteY0" fmla="*/ 0 h 923330"/>
              <a:gd name="connsiteX1" fmla="*/ 8725847 w 8725847"/>
              <a:gd name="connsiteY1" fmla="*/ 0 h 923330"/>
              <a:gd name="connsiteX2" fmla="*/ 8725847 w 8725847"/>
              <a:gd name="connsiteY2" fmla="*/ 923330 h 923330"/>
              <a:gd name="connsiteX3" fmla="*/ 12879 w 8725847"/>
              <a:gd name="connsiteY3" fmla="*/ 871814 h 923330"/>
              <a:gd name="connsiteX4" fmla="*/ 0 w 8725847"/>
              <a:gd name="connsiteY4" fmla="*/ 0 h 923330"/>
              <a:gd name="connsiteX0" fmla="*/ 0 w 8725847"/>
              <a:gd name="connsiteY0" fmla="*/ 0 h 910451"/>
              <a:gd name="connsiteX1" fmla="*/ 8725847 w 8725847"/>
              <a:gd name="connsiteY1" fmla="*/ 0 h 910451"/>
              <a:gd name="connsiteX2" fmla="*/ 8725847 w 8725847"/>
              <a:gd name="connsiteY2" fmla="*/ 910451 h 910451"/>
              <a:gd name="connsiteX3" fmla="*/ 12879 w 8725847"/>
              <a:gd name="connsiteY3" fmla="*/ 871814 h 910451"/>
              <a:gd name="connsiteX4" fmla="*/ 0 w 8725847"/>
              <a:gd name="connsiteY4" fmla="*/ 0 h 910451"/>
              <a:gd name="connsiteX0" fmla="*/ 0 w 8725847"/>
              <a:gd name="connsiteY0" fmla="*/ 0 h 884693"/>
              <a:gd name="connsiteX1" fmla="*/ 8725847 w 8725847"/>
              <a:gd name="connsiteY1" fmla="*/ 0 h 884693"/>
              <a:gd name="connsiteX2" fmla="*/ 8725847 w 8725847"/>
              <a:gd name="connsiteY2" fmla="*/ 884693 h 884693"/>
              <a:gd name="connsiteX3" fmla="*/ 12879 w 8725847"/>
              <a:gd name="connsiteY3" fmla="*/ 871814 h 884693"/>
              <a:gd name="connsiteX4" fmla="*/ 0 w 8725847"/>
              <a:gd name="connsiteY4" fmla="*/ 0 h 884693"/>
              <a:gd name="connsiteX0" fmla="*/ 0 w 8725847"/>
              <a:gd name="connsiteY0" fmla="*/ 0 h 871814"/>
              <a:gd name="connsiteX1" fmla="*/ 8725847 w 8725847"/>
              <a:gd name="connsiteY1" fmla="*/ 0 h 871814"/>
              <a:gd name="connsiteX2" fmla="*/ 8725847 w 8725847"/>
              <a:gd name="connsiteY2" fmla="*/ 871814 h 871814"/>
              <a:gd name="connsiteX3" fmla="*/ 12879 w 8725847"/>
              <a:gd name="connsiteY3" fmla="*/ 871814 h 871814"/>
              <a:gd name="connsiteX4" fmla="*/ 0 w 8725847"/>
              <a:gd name="connsiteY4" fmla="*/ 0 h 87181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725847" h="871814">
                <a:moveTo>
                  <a:pt x="0" y="0"/>
                </a:moveTo>
                <a:lnTo>
                  <a:pt x="8725847" y="0"/>
                </a:lnTo>
                <a:lnTo>
                  <a:pt x="8725847" y="871814"/>
                </a:lnTo>
                <a:lnTo>
                  <a:pt x="12879" y="871814"/>
                </a:lnTo>
                <a:lnTo>
                  <a:pt x="0" y="0"/>
                </a:lnTo>
                <a:close/>
              </a:path>
            </a:pathLst>
          </a:custGeom>
          <a:noFill/>
          <a:ln w="28575">
            <a:solidFill>
              <a:schemeClr val="accent6"/>
            </a:solidFill>
          </a:ln>
        </p:spPr>
        <p:txBody>
          <a:bodyPr wrap="square" rtlCol="0">
            <a:spAutoFit/>
          </a:bodyPr>
          <a:lstStyle/>
          <a:p>
            <a:r>
              <a:rPr lang="en-GB" sz="2000" dirty="0"/>
              <a:t>Cracking can be done by various methods including:</a:t>
            </a:r>
          </a:p>
          <a:p>
            <a:r>
              <a:rPr lang="en-GB" sz="2000" b="1" dirty="0">
                <a:solidFill>
                  <a:schemeClr val="accent6">
                    <a:lumMod val="75000"/>
                  </a:schemeClr>
                </a:solidFill>
              </a:rPr>
              <a:t>Catalytic cracking </a:t>
            </a:r>
            <a:r>
              <a:rPr lang="en-GB" sz="2000" dirty="0"/>
              <a:t>– the hydrocarbon is heated to a high temperature and a catalyst used</a:t>
            </a:r>
          </a:p>
          <a:p>
            <a:r>
              <a:rPr lang="en-GB" sz="2000" b="1" dirty="0">
                <a:solidFill>
                  <a:schemeClr val="accent6">
                    <a:lumMod val="75000"/>
                  </a:schemeClr>
                </a:solidFill>
              </a:rPr>
              <a:t>Steam cracking </a:t>
            </a:r>
            <a:r>
              <a:rPr lang="en-GB" sz="2000" dirty="0"/>
              <a:t>– the hydrocarbon is heated and mixed with steam</a:t>
            </a:r>
          </a:p>
        </p:txBody>
      </p:sp>
    </p:spTree>
    <p:extLst>
      <p:ext uri="{BB962C8B-B14F-4D97-AF65-F5344CB8AC3E}">
        <p14:creationId xmlns:p14="http://schemas.microsoft.com/office/powerpoint/2010/main" val="434794851"/>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331640" y="35655"/>
            <a:ext cx="7812360" cy="657041"/>
          </a:xfrm>
        </p:spPr>
        <p:txBody>
          <a:bodyPr>
            <a:noAutofit/>
          </a:bodyPr>
          <a:lstStyle/>
          <a:p>
            <a:pPr marL="342900" marR="0" lvl="1" algn="r" defTabSz="342900" rtl="0" eaLnBrk="1" fontAlgn="auto" latinLnBrk="0" hangingPunct="1">
              <a:lnSpc>
                <a:spcPct val="100000"/>
              </a:lnSpc>
              <a:spcBef>
                <a:spcPct val="20000"/>
              </a:spcBef>
              <a:spcAft>
                <a:spcPts val="0"/>
              </a:spcAft>
              <a:buClrTx/>
              <a:buSzTx/>
              <a:tabLst/>
              <a:defRPr/>
            </a:pPr>
            <a:r>
              <a:rPr lang="en-US" sz="2400" dirty="0">
                <a:solidFill>
                  <a:schemeClr val="accent6"/>
                </a:solidFill>
              </a:rPr>
              <a:t>Cracking and alkenes</a:t>
            </a:r>
            <a:endParaRPr kumimoji="0" lang="en-US" sz="2400" i="0" u="none" strike="noStrike" kern="1200" cap="none" spc="0" normalizeH="0" baseline="0" noProof="0" dirty="0">
              <a:ln>
                <a:noFill/>
              </a:ln>
              <a:solidFill>
                <a:schemeClr val="accent6"/>
              </a:solidFill>
              <a:effectLst/>
              <a:uLnTx/>
              <a:uFillTx/>
              <a:latin typeface="Calibri"/>
              <a:ea typeface=""/>
              <a:cs typeface="News Gothic MT"/>
            </a:endParaRPr>
          </a:p>
        </p:txBody>
      </p:sp>
      <p:sp>
        <p:nvSpPr>
          <p:cNvPr id="9" name="TextBox 8"/>
          <p:cNvSpPr txBox="1"/>
          <p:nvPr/>
        </p:nvSpPr>
        <p:spPr>
          <a:xfrm>
            <a:off x="166633" y="850197"/>
            <a:ext cx="8712969" cy="830997"/>
          </a:xfrm>
          <a:custGeom>
            <a:avLst/>
            <a:gdLst>
              <a:gd name="connsiteX0" fmla="*/ 0 w 8712968"/>
              <a:gd name="connsiteY0" fmla="*/ 0 h 369332"/>
              <a:gd name="connsiteX1" fmla="*/ 8712968 w 8712968"/>
              <a:gd name="connsiteY1" fmla="*/ 0 h 369332"/>
              <a:gd name="connsiteX2" fmla="*/ 8712968 w 8712968"/>
              <a:gd name="connsiteY2" fmla="*/ 369332 h 369332"/>
              <a:gd name="connsiteX3" fmla="*/ 0 w 8712968"/>
              <a:gd name="connsiteY3" fmla="*/ 369332 h 369332"/>
              <a:gd name="connsiteX4" fmla="*/ 0 w 8712968"/>
              <a:gd name="connsiteY4" fmla="*/ 0 h 369332"/>
              <a:gd name="connsiteX0" fmla="*/ 12879 w 8712968"/>
              <a:gd name="connsiteY0" fmla="*/ 0 h 768577"/>
              <a:gd name="connsiteX1" fmla="*/ 8712968 w 8712968"/>
              <a:gd name="connsiteY1" fmla="*/ 399245 h 768577"/>
              <a:gd name="connsiteX2" fmla="*/ 8712968 w 8712968"/>
              <a:gd name="connsiteY2" fmla="*/ 768577 h 768577"/>
              <a:gd name="connsiteX3" fmla="*/ 0 w 8712968"/>
              <a:gd name="connsiteY3" fmla="*/ 768577 h 768577"/>
              <a:gd name="connsiteX4" fmla="*/ 12879 w 8712968"/>
              <a:gd name="connsiteY4" fmla="*/ 0 h 768577"/>
              <a:gd name="connsiteX0" fmla="*/ 12879 w 8712968"/>
              <a:gd name="connsiteY0" fmla="*/ 0 h 768577"/>
              <a:gd name="connsiteX1" fmla="*/ 8712968 w 8712968"/>
              <a:gd name="connsiteY1" fmla="*/ 25758 h 768577"/>
              <a:gd name="connsiteX2" fmla="*/ 8712968 w 8712968"/>
              <a:gd name="connsiteY2" fmla="*/ 768577 h 768577"/>
              <a:gd name="connsiteX3" fmla="*/ 0 w 8712968"/>
              <a:gd name="connsiteY3" fmla="*/ 768577 h 768577"/>
              <a:gd name="connsiteX4" fmla="*/ 12879 w 8712968"/>
              <a:gd name="connsiteY4" fmla="*/ 0 h 768577"/>
              <a:gd name="connsiteX0" fmla="*/ 12879 w 8712968"/>
              <a:gd name="connsiteY0" fmla="*/ 0 h 768577"/>
              <a:gd name="connsiteX1" fmla="*/ 8712968 w 8712968"/>
              <a:gd name="connsiteY1" fmla="*/ 12879 h 768577"/>
              <a:gd name="connsiteX2" fmla="*/ 8712968 w 8712968"/>
              <a:gd name="connsiteY2" fmla="*/ 768577 h 768577"/>
              <a:gd name="connsiteX3" fmla="*/ 0 w 8712968"/>
              <a:gd name="connsiteY3" fmla="*/ 768577 h 768577"/>
              <a:gd name="connsiteX4" fmla="*/ 12879 w 8712968"/>
              <a:gd name="connsiteY4" fmla="*/ 0 h 768577"/>
              <a:gd name="connsiteX0" fmla="*/ 12879 w 8725847"/>
              <a:gd name="connsiteY0" fmla="*/ 0 h 768577"/>
              <a:gd name="connsiteX1" fmla="*/ 8712968 w 8725847"/>
              <a:gd name="connsiteY1" fmla="*/ 12879 h 768577"/>
              <a:gd name="connsiteX2" fmla="*/ 8725847 w 8725847"/>
              <a:gd name="connsiteY2" fmla="*/ 382210 h 768577"/>
              <a:gd name="connsiteX3" fmla="*/ 0 w 8725847"/>
              <a:gd name="connsiteY3" fmla="*/ 768577 h 768577"/>
              <a:gd name="connsiteX4" fmla="*/ 12879 w 8725847"/>
              <a:gd name="connsiteY4" fmla="*/ 0 h 768577"/>
              <a:gd name="connsiteX0" fmla="*/ 12879 w 8725847"/>
              <a:gd name="connsiteY0" fmla="*/ 0 h 768577"/>
              <a:gd name="connsiteX1" fmla="*/ 8712968 w 8725847"/>
              <a:gd name="connsiteY1" fmla="*/ 12879 h 768577"/>
              <a:gd name="connsiteX2" fmla="*/ 8725847 w 8725847"/>
              <a:gd name="connsiteY2" fmla="*/ 382210 h 768577"/>
              <a:gd name="connsiteX3" fmla="*/ 0 w 8725847"/>
              <a:gd name="connsiteY3" fmla="*/ 768577 h 768577"/>
              <a:gd name="connsiteX4" fmla="*/ 12879 w 8725847"/>
              <a:gd name="connsiteY4" fmla="*/ 0 h 768577"/>
              <a:gd name="connsiteX0" fmla="*/ 12879 w 8725847"/>
              <a:gd name="connsiteY0" fmla="*/ 0 h 382210"/>
              <a:gd name="connsiteX1" fmla="*/ 8712968 w 8725847"/>
              <a:gd name="connsiteY1" fmla="*/ 12879 h 382210"/>
              <a:gd name="connsiteX2" fmla="*/ 8725847 w 8725847"/>
              <a:gd name="connsiteY2" fmla="*/ 382210 h 382210"/>
              <a:gd name="connsiteX3" fmla="*/ 0 w 8725847"/>
              <a:gd name="connsiteY3" fmla="*/ 356453 h 382210"/>
              <a:gd name="connsiteX4" fmla="*/ 12879 w 8725847"/>
              <a:gd name="connsiteY4" fmla="*/ 0 h 382210"/>
              <a:gd name="connsiteX0" fmla="*/ 12879 w 8725847"/>
              <a:gd name="connsiteY0" fmla="*/ 0 h 382211"/>
              <a:gd name="connsiteX1" fmla="*/ 8712968 w 8725847"/>
              <a:gd name="connsiteY1" fmla="*/ 12879 h 382211"/>
              <a:gd name="connsiteX2" fmla="*/ 8725847 w 8725847"/>
              <a:gd name="connsiteY2" fmla="*/ 382210 h 382211"/>
              <a:gd name="connsiteX3" fmla="*/ 0 w 8725847"/>
              <a:gd name="connsiteY3" fmla="*/ 382211 h 382211"/>
              <a:gd name="connsiteX4" fmla="*/ 12879 w 8725847"/>
              <a:gd name="connsiteY4" fmla="*/ 0 h 382211"/>
              <a:gd name="connsiteX0" fmla="*/ 12879 w 8712969"/>
              <a:gd name="connsiteY0" fmla="*/ 0 h 382211"/>
              <a:gd name="connsiteX1" fmla="*/ 8712968 w 8712969"/>
              <a:gd name="connsiteY1" fmla="*/ 12879 h 382211"/>
              <a:gd name="connsiteX2" fmla="*/ 8712969 w 8712969"/>
              <a:gd name="connsiteY2" fmla="*/ 382210 h 382211"/>
              <a:gd name="connsiteX3" fmla="*/ 0 w 8712969"/>
              <a:gd name="connsiteY3" fmla="*/ 382211 h 382211"/>
              <a:gd name="connsiteX4" fmla="*/ 12879 w 8712969"/>
              <a:gd name="connsiteY4" fmla="*/ 0 h 3822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712969" h="382211">
                <a:moveTo>
                  <a:pt x="12879" y="0"/>
                </a:moveTo>
                <a:lnTo>
                  <a:pt x="8712968" y="12879"/>
                </a:lnTo>
                <a:cubicBezTo>
                  <a:pt x="8712968" y="135989"/>
                  <a:pt x="8712969" y="259100"/>
                  <a:pt x="8712969" y="382210"/>
                </a:cubicBezTo>
                <a:lnTo>
                  <a:pt x="0" y="382211"/>
                </a:lnTo>
                <a:lnTo>
                  <a:pt x="12879" y="0"/>
                </a:lnTo>
                <a:close/>
              </a:path>
            </a:pathLst>
          </a:custGeom>
          <a:noFill/>
        </p:spPr>
        <p:txBody>
          <a:bodyPr wrap="square" rtlCol="0">
            <a:spAutoFit/>
          </a:bodyPr>
          <a:lstStyle/>
          <a:p>
            <a:pPr algn="ctr"/>
            <a:r>
              <a:rPr lang="en-GB" sz="2400" dirty="0"/>
              <a:t>The products of cracking include alkanes and another type of hydrocarbon called </a:t>
            </a:r>
            <a:r>
              <a:rPr lang="en-GB" sz="2400" b="1" dirty="0">
                <a:solidFill>
                  <a:schemeClr val="accent6">
                    <a:lumMod val="75000"/>
                  </a:schemeClr>
                </a:solidFill>
              </a:rPr>
              <a:t>alkenes</a:t>
            </a:r>
            <a:r>
              <a:rPr lang="en-GB" sz="2400" dirty="0">
                <a:solidFill>
                  <a:schemeClr val="accent6">
                    <a:lumMod val="75000"/>
                  </a:schemeClr>
                </a:solidFill>
              </a:rPr>
              <a:t>.</a:t>
            </a:r>
          </a:p>
        </p:txBody>
      </p:sp>
      <p:sp>
        <p:nvSpPr>
          <p:cNvPr id="16" name="TextBox 15"/>
          <p:cNvSpPr txBox="1"/>
          <p:nvPr/>
        </p:nvSpPr>
        <p:spPr>
          <a:xfrm>
            <a:off x="155395" y="2414511"/>
            <a:ext cx="4909423" cy="1631216"/>
          </a:xfrm>
          <a:custGeom>
            <a:avLst/>
            <a:gdLst>
              <a:gd name="connsiteX0" fmla="*/ 0 w 5688632"/>
              <a:gd name="connsiteY0" fmla="*/ 0 h 1200329"/>
              <a:gd name="connsiteX1" fmla="*/ 5688632 w 5688632"/>
              <a:gd name="connsiteY1" fmla="*/ 0 h 1200329"/>
              <a:gd name="connsiteX2" fmla="*/ 5688632 w 5688632"/>
              <a:gd name="connsiteY2" fmla="*/ 1200329 h 1200329"/>
              <a:gd name="connsiteX3" fmla="*/ 0 w 5688632"/>
              <a:gd name="connsiteY3" fmla="*/ 1200329 h 1200329"/>
              <a:gd name="connsiteX4" fmla="*/ 0 w 5688632"/>
              <a:gd name="connsiteY4" fmla="*/ 0 h 1200329"/>
              <a:gd name="connsiteX0" fmla="*/ 0 w 5701511"/>
              <a:gd name="connsiteY0" fmla="*/ 0 h 1612453"/>
              <a:gd name="connsiteX1" fmla="*/ 5701511 w 5701511"/>
              <a:gd name="connsiteY1" fmla="*/ 412124 h 1612453"/>
              <a:gd name="connsiteX2" fmla="*/ 5701511 w 5701511"/>
              <a:gd name="connsiteY2" fmla="*/ 1612453 h 1612453"/>
              <a:gd name="connsiteX3" fmla="*/ 12879 w 5701511"/>
              <a:gd name="connsiteY3" fmla="*/ 1612453 h 1612453"/>
              <a:gd name="connsiteX4" fmla="*/ 0 w 5701511"/>
              <a:gd name="connsiteY4" fmla="*/ 0 h 1612453"/>
              <a:gd name="connsiteX0" fmla="*/ 0 w 5701511"/>
              <a:gd name="connsiteY0" fmla="*/ 0 h 1612453"/>
              <a:gd name="connsiteX1" fmla="*/ 5701511 w 5701511"/>
              <a:gd name="connsiteY1" fmla="*/ 12878 h 1612453"/>
              <a:gd name="connsiteX2" fmla="*/ 5701511 w 5701511"/>
              <a:gd name="connsiteY2" fmla="*/ 1612453 h 1612453"/>
              <a:gd name="connsiteX3" fmla="*/ 12879 w 5701511"/>
              <a:gd name="connsiteY3" fmla="*/ 1612453 h 1612453"/>
              <a:gd name="connsiteX4" fmla="*/ 0 w 5701511"/>
              <a:gd name="connsiteY4" fmla="*/ 0 h 1612453"/>
              <a:gd name="connsiteX0" fmla="*/ 0 w 5701511"/>
              <a:gd name="connsiteY0" fmla="*/ 0 h 1612453"/>
              <a:gd name="connsiteX1" fmla="*/ 5701511 w 5701511"/>
              <a:gd name="connsiteY1" fmla="*/ 0 h 1612453"/>
              <a:gd name="connsiteX2" fmla="*/ 5701511 w 5701511"/>
              <a:gd name="connsiteY2" fmla="*/ 1612453 h 1612453"/>
              <a:gd name="connsiteX3" fmla="*/ 12879 w 5701511"/>
              <a:gd name="connsiteY3" fmla="*/ 1612453 h 1612453"/>
              <a:gd name="connsiteX4" fmla="*/ 0 w 5701511"/>
              <a:gd name="connsiteY4" fmla="*/ 0 h 1612453"/>
              <a:gd name="connsiteX0" fmla="*/ 0 w 5714390"/>
              <a:gd name="connsiteY0" fmla="*/ 0 h 1612453"/>
              <a:gd name="connsiteX1" fmla="*/ 5701511 w 5714390"/>
              <a:gd name="connsiteY1" fmla="*/ 0 h 1612453"/>
              <a:gd name="connsiteX2" fmla="*/ 5714390 w 5714390"/>
              <a:gd name="connsiteY2" fmla="*/ 1238965 h 1612453"/>
              <a:gd name="connsiteX3" fmla="*/ 12879 w 5714390"/>
              <a:gd name="connsiteY3" fmla="*/ 1612453 h 1612453"/>
              <a:gd name="connsiteX4" fmla="*/ 0 w 5714390"/>
              <a:gd name="connsiteY4" fmla="*/ 0 h 1612453"/>
              <a:gd name="connsiteX0" fmla="*/ 0 w 5714390"/>
              <a:gd name="connsiteY0" fmla="*/ 0 h 1238965"/>
              <a:gd name="connsiteX1" fmla="*/ 5701511 w 5714390"/>
              <a:gd name="connsiteY1" fmla="*/ 0 h 1238965"/>
              <a:gd name="connsiteX2" fmla="*/ 5714390 w 5714390"/>
              <a:gd name="connsiteY2" fmla="*/ 1238965 h 1238965"/>
              <a:gd name="connsiteX3" fmla="*/ 0 w 5714390"/>
              <a:gd name="connsiteY3" fmla="*/ 1187450 h 1238965"/>
              <a:gd name="connsiteX4" fmla="*/ 0 w 5714390"/>
              <a:gd name="connsiteY4" fmla="*/ 0 h 1238965"/>
              <a:gd name="connsiteX0" fmla="*/ 0 w 5701511"/>
              <a:gd name="connsiteY0" fmla="*/ 0 h 1187450"/>
              <a:gd name="connsiteX1" fmla="*/ 5701511 w 5701511"/>
              <a:gd name="connsiteY1" fmla="*/ 0 h 1187450"/>
              <a:gd name="connsiteX2" fmla="*/ 5688632 w 5701511"/>
              <a:gd name="connsiteY2" fmla="*/ 1187450 h 1187450"/>
              <a:gd name="connsiteX3" fmla="*/ 0 w 5701511"/>
              <a:gd name="connsiteY3" fmla="*/ 1187450 h 1187450"/>
              <a:gd name="connsiteX4" fmla="*/ 0 w 5701511"/>
              <a:gd name="connsiteY4" fmla="*/ 0 h 11874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701511" h="1187450">
                <a:moveTo>
                  <a:pt x="0" y="0"/>
                </a:moveTo>
                <a:lnTo>
                  <a:pt x="5701511" y="0"/>
                </a:lnTo>
                <a:lnTo>
                  <a:pt x="5688632" y="1187450"/>
                </a:lnTo>
                <a:lnTo>
                  <a:pt x="0" y="1187450"/>
                </a:lnTo>
                <a:lnTo>
                  <a:pt x="0" y="0"/>
                </a:lnTo>
                <a:close/>
              </a:path>
            </a:pathLst>
          </a:custGeom>
          <a:noFill/>
          <a:ln w="28575">
            <a:solidFill>
              <a:schemeClr val="accent6"/>
            </a:solidFill>
          </a:ln>
        </p:spPr>
        <p:txBody>
          <a:bodyPr wrap="square" rtlCol="0">
            <a:spAutoFit/>
          </a:bodyPr>
          <a:lstStyle/>
          <a:p>
            <a:r>
              <a:rPr lang="en-GB" sz="2000" dirty="0"/>
              <a:t>Alkenes are </a:t>
            </a:r>
            <a:r>
              <a:rPr lang="en-GB" sz="2000" b="1" dirty="0">
                <a:solidFill>
                  <a:schemeClr val="accent6">
                    <a:lumMod val="75000"/>
                  </a:schemeClr>
                </a:solidFill>
              </a:rPr>
              <a:t>more reactive </a:t>
            </a:r>
            <a:r>
              <a:rPr lang="en-GB" sz="2000" dirty="0"/>
              <a:t>than alkanes and react with </a:t>
            </a:r>
            <a:r>
              <a:rPr lang="en-GB" sz="2000" b="1" dirty="0">
                <a:solidFill>
                  <a:schemeClr val="accent6">
                    <a:lumMod val="75000"/>
                  </a:schemeClr>
                </a:solidFill>
              </a:rPr>
              <a:t>orange-brown</a:t>
            </a:r>
            <a:r>
              <a:rPr lang="en-GB" sz="2000" dirty="0"/>
              <a:t> </a:t>
            </a:r>
            <a:r>
              <a:rPr lang="en-GB" sz="2000" b="1" dirty="0">
                <a:solidFill>
                  <a:schemeClr val="accent6">
                    <a:lumMod val="75000"/>
                  </a:schemeClr>
                </a:solidFill>
              </a:rPr>
              <a:t>bromine water </a:t>
            </a:r>
            <a:r>
              <a:rPr lang="en-GB" sz="2000" dirty="0"/>
              <a:t>to turn it </a:t>
            </a:r>
            <a:r>
              <a:rPr lang="en-GB" sz="2000" b="1" dirty="0">
                <a:solidFill>
                  <a:schemeClr val="accent6">
                    <a:lumMod val="75000"/>
                  </a:schemeClr>
                </a:solidFill>
              </a:rPr>
              <a:t>colourless</a:t>
            </a:r>
            <a:r>
              <a:rPr lang="en-GB" sz="2000" dirty="0"/>
              <a:t>. There is a high demand for fuels with small molecules and so some of the products of cracking are useful as fuels.</a:t>
            </a:r>
          </a:p>
        </p:txBody>
      </p:sp>
      <p:sp>
        <p:nvSpPr>
          <p:cNvPr id="17" name="TextBox 16"/>
          <p:cNvSpPr txBox="1"/>
          <p:nvPr/>
        </p:nvSpPr>
        <p:spPr>
          <a:xfrm>
            <a:off x="155395" y="5472259"/>
            <a:ext cx="8724207" cy="707886"/>
          </a:xfrm>
          <a:custGeom>
            <a:avLst/>
            <a:gdLst>
              <a:gd name="connsiteX0" fmla="*/ 0 w 5688632"/>
              <a:gd name="connsiteY0" fmla="*/ 0 h 646331"/>
              <a:gd name="connsiteX1" fmla="*/ 5688632 w 5688632"/>
              <a:gd name="connsiteY1" fmla="*/ 0 h 646331"/>
              <a:gd name="connsiteX2" fmla="*/ 5688632 w 5688632"/>
              <a:gd name="connsiteY2" fmla="*/ 646331 h 646331"/>
              <a:gd name="connsiteX3" fmla="*/ 0 w 5688632"/>
              <a:gd name="connsiteY3" fmla="*/ 646331 h 646331"/>
              <a:gd name="connsiteX4" fmla="*/ 0 w 5688632"/>
              <a:gd name="connsiteY4" fmla="*/ 0 h 646331"/>
              <a:gd name="connsiteX0" fmla="*/ 0 w 5688632"/>
              <a:gd name="connsiteY0" fmla="*/ 0 h 787999"/>
              <a:gd name="connsiteX1" fmla="*/ 5688632 w 5688632"/>
              <a:gd name="connsiteY1" fmla="*/ 141668 h 787999"/>
              <a:gd name="connsiteX2" fmla="*/ 5688632 w 5688632"/>
              <a:gd name="connsiteY2" fmla="*/ 787999 h 787999"/>
              <a:gd name="connsiteX3" fmla="*/ 0 w 5688632"/>
              <a:gd name="connsiteY3" fmla="*/ 787999 h 787999"/>
              <a:gd name="connsiteX4" fmla="*/ 0 w 5688632"/>
              <a:gd name="connsiteY4" fmla="*/ 0 h 787999"/>
              <a:gd name="connsiteX0" fmla="*/ 0 w 5688632"/>
              <a:gd name="connsiteY0" fmla="*/ 0 h 787999"/>
              <a:gd name="connsiteX1" fmla="*/ 5688632 w 5688632"/>
              <a:gd name="connsiteY1" fmla="*/ 0 h 787999"/>
              <a:gd name="connsiteX2" fmla="*/ 5688632 w 5688632"/>
              <a:gd name="connsiteY2" fmla="*/ 787999 h 787999"/>
              <a:gd name="connsiteX3" fmla="*/ 0 w 5688632"/>
              <a:gd name="connsiteY3" fmla="*/ 787999 h 787999"/>
              <a:gd name="connsiteX4" fmla="*/ 0 w 5688632"/>
              <a:gd name="connsiteY4" fmla="*/ 0 h 787999"/>
              <a:gd name="connsiteX0" fmla="*/ 0 w 5688632"/>
              <a:gd name="connsiteY0" fmla="*/ 0 h 852393"/>
              <a:gd name="connsiteX1" fmla="*/ 5688632 w 5688632"/>
              <a:gd name="connsiteY1" fmla="*/ 0 h 852393"/>
              <a:gd name="connsiteX2" fmla="*/ 5688632 w 5688632"/>
              <a:gd name="connsiteY2" fmla="*/ 852393 h 852393"/>
              <a:gd name="connsiteX3" fmla="*/ 0 w 5688632"/>
              <a:gd name="connsiteY3" fmla="*/ 787999 h 852393"/>
              <a:gd name="connsiteX4" fmla="*/ 0 w 5688632"/>
              <a:gd name="connsiteY4" fmla="*/ 0 h 852393"/>
              <a:gd name="connsiteX0" fmla="*/ 0 w 5688632"/>
              <a:gd name="connsiteY0" fmla="*/ 0 h 852393"/>
              <a:gd name="connsiteX1" fmla="*/ 5688632 w 5688632"/>
              <a:gd name="connsiteY1" fmla="*/ 0 h 852393"/>
              <a:gd name="connsiteX2" fmla="*/ 5688632 w 5688632"/>
              <a:gd name="connsiteY2" fmla="*/ 852393 h 852393"/>
              <a:gd name="connsiteX3" fmla="*/ 0 w 5688632"/>
              <a:gd name="connsiteY3" fmla="*/ 852393 h 852393"/>
              <a:gd name="connsiteX4" fmla="*/ 0 w 5688632"/>
              <a:gd name="connsiteY4" fmla="*/ 0 h 852393"/>
              <a:gd name="connsiteX0" fmla="*/ 0 w 5688632"/>
              <a:gd name="connsiteY0" fmla="*/ 0 h 852393"/>
              <a:gd name="connsiteX1" fmla="*/ 5688632 w 5688632"/>
              <a:gd name="connsiteY1" fmla="*/ 0 h 852393"/>
              <a:gd name="connsiteX2" fmla="*/ 5688632 w 5688632"/>
              <a:gd name="connsiteY2" fmla="*/ 852393 h 852393"/>
              <a:gd name="connsiteX3" fmla="*/ 0 w 5688632"/>
              <a:gd name="connsiteY3" fmla="*/ 792946 h 852393"/>
              <a:gd name="connsiteX4" fmla="*/ 0 w 5688632"/>
              <a:gd name="connsiteY4" fmla="*/ 0 h 852393"/>
              <a:gd name="connsiteX0" fmla="*/ 0 w 5688632"/>
              <a:gd name="connsiteY0" fmla="*/ 0 h 792946"/>
              <a:gd name="connsiteX1" fmla="*/ 5688632 w 5688632"/>
              <a:gd name="connsiteY1" fmla="*/ 0 h 792946"/>
              <a:gd name="connsiteX2" fmla="*/ 5688632 w 5688632"/>
              <a:gd name="connsiteY2" fmla="*/ 781057 h 792946"/>
              <a:gd name="connsiteX3" fmla="*/ 0 w 5688632"/>
              <a:gd name="connsiteY3" fmla="*/ 792946 h 792946"/>
              <a:gd name="connsiteX4" fmla="*/ 0 w 5688632"/>
              <a:gd name="connsiteY4" fmla="*/ 0 h 792946"/>
              <a:gd name="connsiteX0" fmla="*/ 0 w 5688632"/>
              <a:gd name="connsiteY0" fmla="*/ 0 h 792947"/>
              <a:gd name="connsiteX1" fmla="*/ 5688632 w 5688632"/>
              <a:gd name="connsiteY1" fmla="*/ 0 h 792947"/>
              <a:gd name="connsiteX2" fmla="*/ 5688632 w 5688632"/>
              <a:gd name="connsiteY2" fmla="*/ 792947 h 792947"/>
              <a:gd name="connsiteX3" fmla="*/ 0 w 5688632"/>
              <a:gd name="connsiteY3" fmla="*/ 792946 h 792947"/>
              <a:gd name="connsiteX4" fmla="*/ 0 w 5688632"/>
              <a:gd name="connsiteY4" fmla="*/ 0 h 79294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688632" h="792947">
                <a:moveTo>
                  <a:pt x="0" y="0"/>
                </a:moveTo>
                <a:lnTo>
                  <a:pt x="5688632" y="0"/>
                </a:lnTo>
                <a:lnTo>
                  <a:pt x="5688632" y="792947"/>
                </a:lnTo>
                <a:lnTo>
                  <a:pt x="0" y="792946"/>
                </a:lnTo>
                <a:lnTo>
                  <a:pt x="0" y="0"/>
                </a:lnTo>
                <a:close/>
              </a:path>
            </a:pathLst>
          </a:custGeom>
          <a:noFill/>
          <a:ln w="28575">
            <a:solidFill>
              <a:schemeClr val="accent6"/>
            </a:solidFill>
          </a:ln>
        </p:spPr>
        <p:txBody>
          <a:bodyPr wrap="square" rtlCol="0">
            <a:spAutoFit/>
          </a:bodyPr>
          <a:lstStyle/>
          <a:p>
            <a:pPr algn="ctr"/>
            <a:r>
              <a:rPr lang="en-GB" sz="2000" dirty="0"/>
              <a:t>Alkenes are used to produce </a:t>
            </a:r>
            <a:r>
              <a:rPr lang="en-GB" sz="2000" b="1" dirty="0">
                <a:solidFill>
                  <a:schemeClr val="accent6">
                    <a:lumMod val="75000"/>
                  </a:schemeClr>
                </a:solidFill>
              </a:rPr>
              <a:t>polymers</a:t>
            </a:r>
            <a:r>
              <a:rPr lang="en-GB" sz="2000" dirty="0"/>
              <a:t> and as starting materials for the production of many other chemicals.</a:t>
            </a:r>
          </a:p>
        </p:txBody>
      </p:sp>
      <p:sp>
        <p:nvSpPr>
          <p:cNvPr id="18" name="TextBox 17"/>
          <p:cNvSpPr txBox="1"/>
          <p:nvPr/>
        </p:nvSpPr>
        <p:spPr>
          <a:xfrm>
            <a:off x="5228326" y="1869528"/>
            <a:ext cx="3692928" cy="677108"/>
          </a:xfrm>
          <a:custGeom>
            <a:avLst/>
            <a:gdLst>
              <a:gd name="connsiteX0" fmla="*/ 0 w 2880320"/>
              <a:gd name="connsiteY0" fmla="*/ 0 h 369332"/>
              <a:gd name="connsiteX1" fmla="*/ 2880320 w 2880320"/>
              <a:gd name="connsiteY1" fmla="*/ 0 h 369332"/>
              <a:gd name="connsiteX2" fmla="*/ 2880320 w 2880320"/>
              <a:gd name="connsiteY2" fmla="*/ 369332 h 369332"/>
              <a:gd name="connsiteX3" fmla="*/ 0 w 2880320"/>
              <a:gd name="connsiteY3" fmla="*/ 369332 h 369332"/>
              <a:gd name="connsiteX4" fmla="*/ 0 w 2880320"/>
              <a:gd name="connsiteY4" fmla="*/ 0 h 369332"/>
              <a:gd name="connsiteX0" fmla="*/ 0 w 3665931"/>
              <a:gd name="connsiteY0" fmla="*/ 0 h 755699"/>
              <a:gd name="connsiteX1" fmla="*/ 3665931 w 3665931"/>
              <a:gd name="connsiteY1" fmla="*/ 386367 h 755699"/>
              <a:gd name="connsiteX2" fmla="*/ 3665931 w 3665931"/>
              <a:gd name="connsiteY2" fmla="*/ 755699 h 755699"/>
              <a:gd name="connsiteX3" fmla="*/ 785611 w 3665931"/>
              <a:gd name="connsiteY3" fmla="*/ 755699 h 755699"/>
              <a:gd name="connsiteX4" fmla="*/ 0 w 3665931"/>
              <a:gd name="connsiteY4" fmla="*/ 0 h 755699"/>
              <a:gd name="connsiteX0" fmla="*/ 0 w 3665931"/>
              <a:gd name="connsiteY0" fmla="*/ 12878 h 768577"/>
              <a:gd name="connsiteX1" fmla="*/ 3665931 w 3665931"/>
              <a:gd name="connsiteY1" fmla="*/ 0 h 768577"/>
              <a:gd name="connsiteX2" fmla="*/ 3665931 w 3665931"/>
              <a:gd name="connsiteY2" fmla="*/ 768577 h 768577"/>
              <a:gd name="connsiteX3" fmla="*/ 785611 w 3665931"/>
              <a:gd name="connsiteY3" fmla="*/ 768577 h 768577"/>
              <a:gd name="connsiteX4" fmla="*/ 0 w 3665931"/>
              <a:gd name="connsiteY4" fmla="*/ 12878 h 768577"/>
              <a:gd name="connsiteX0" fmla="*/ 12879 w 3678810"/>
              <a:gd name="connsiteY0" fmla="*/ 12878 h 2365557"/>
              <a:gd name="connsiteX1" fmla="*/ 3678810 w 3678810"/>
              <a:gd name="connsiteY1" fmla="*/ 0 h 2365557"/>
              <a:gd name="connsiteX2" fmla="*/ 3678810 w 3678810"/>
              <a:gd name="connsiteY2" fmla="*/ 768577 h 2365557"/>
              <a:gd name="connsiteX3" fmla="*/ 0 w 3678810"/>
              <a:gd name="connsiteY3" fmla="*/ 2365557 h 2365557"/>
              <a:gd name="connsiteX4" fmla="*/ 12879 w 3678810"/>
              <a:gd name="connsiteY4" fmla="*/ 12878 h 2365557"/>
              <a:gd name="connsiteX0" fmla="*/ 12879 w 3678810"/>
              <a:gd name="connsiteY0" fmla="*/ 12878 h 2365557"/>
              <a:gd name="connsiteX1" fmla="*/ 3678810 w 3678810"/>
              <a:gd name="connsiteY1" fmla="*/ 0 h 2365557"/>
              <a:gd name="connsiteX2" fmla="*/ 3678810 w 3678810"/>
              <a:gd name="connsiteY2" fmla="*/ 2365557 h 2365557"/>
              <a:gd name="connsiteX3" fmla="*/ 0 w 3678810"/>
              <a:gd name="connsiteY3" fmla="*/ 2365557 h 2365557"/>
              <a:gd name="connsiteX4" fmla="*/ 12879 w 3678810"/>
              <a:gd name="connsiteY4" fmla="*/ 12878 h 2365557"/>
              <a:gd name="connsiteX0" fmla="*/ 0 w 3691689"/>
              <a:gd name="connsiteY0" fmla="*/ 12878 h 2365557"/>
              <a:gd name="connsiteX1" fmla="*/ 3691689 w 3691689"/>
              <a:gd name="connsiteY1" fmla="*/ 0 h 2365557"/>
              <a:gd name="connsiteX2" fmla="*/ 3691689 w 3691689"/>
              <a:gd name="connsiteY2" fmla="*/ 2365557 h 2365557"/>
              <a:gd name="connsiteX3" fmla="*/ 12879 w 3691689"/>
              <a:gd name="connsiteY3" fmla="*/ 2365557 h 2365557"/>
              <a:gd name="connsiteX4" fmla="*/ 0 w 3691689"/>
              <a:gd name="connsiteY4" fmla="*/ 12878 h 2365557"/>
              <a:gd name="connsiteX0" fmla="*/ 0 w 3704568"/>
              <a:gd name="connsiteY0" fmla="*/ 0 h 2352679"/>
              <a:gd name="connsiteX1" fmla="*/ 3704568 w 3704568"/>
              <a:gd name="connsiteY1" fmla="*/ 0 h 2352679"/>
              <a:gd name="connsiteX2" fmla="*/ 3691689 w 3704568"/>
              <a:gd name="connsiteY2" fmla="*/ 2352679 h 2352679"/>
              <a:gd name="connsiteX3" fmla="*/ 12879 w 3704568"/>
              <a:gd name="connsiteY3" fmla="*/ 2352679 h 2352679"/>
              <a:gd name="connsiteX4" fmla="*/ 0 w 3704568"/>
              <a:gd name="connsiteY4" fmla="*/ 0 h 2352679"/>
              <a:gd name="connsiteX0" fmla="*/ 0 w 3691689"/>
              <a:gd name="connsiteY0" fmla="*/ 0 h 2352679"/>
              <a:gd name="connsiteX1" fmla="*/ 3678811 w 3691689"/>
              <a:gd name="connsiteY1" fmla="*/ 0 h 2352679"/>
              <a:gd name="connsiteX2" fmla="*/ 3691689 w 3691689"/>
              <a:gd name="connsiteY2" fmla="*/ 2352679 h 2352679"/>
              <a:gd name="connsiteX3" fmla="*/ 12879 w 3691689"/>
              <a:gd name="connsiteY3" fmla="*/ 2352679 h 2352679"/>
              <a:gd name="connsiteX4" fmla="*/ 0 w 3691689"/>
              <a:gd name="connsiteY4" fmla="*/ 0 h 2352679"/>
              <a:gd name="connsiteX0" fmla="*/ 0 w 3692928"/>
              <a:gd name="connsiteY0" fmla="*/ 0 h 2352679"/>
              <a:gd name="connsiteX1" fmla="*/ 3691689 w 3692928"/>
              <a:gd name="connsiteY1" fmla="*/ 0 h 2352679"/>
              <a:gd name="connsiteX2" fmla="*/ 3691689 w 3692928"/>
              <a:gd name="connsiteY2" fmla="*/ 2352679 h 2352679"/>
              <a:gd name="connsiteX3" fmla="*/ 12879 w 3692928"/>
              <a:gd name="connsiteY3" fmla="*/ 2352679 h 2352679"/>
              <a:gd name="connsiteX4" fmla="*/ 0 w 3692928"/>
              <a:gd name="connsiteY4" fmla="*/ 0 h 2352679"/>
              <a:gd name="connsiteX0" fmla="*/ 0 w 3692928"/>
              <a:gd name="connsiteY0" fmla="*/ 0 h 2352679"/>
              <a:gd name="connsiteX1" fmla="*/ 3691689 w 3692928"/>
              <a:gd name="connsiteY1" fmla="*/ 0 h 2352679"/>
              <a:gd name="connsiteX2" fmla="*/ 3691689 w 3692928"/>
              <a:gd name="connsiteY2" fmla="*/ 2352679 h 2352679"/>
              <a:gd name="connsiteX3" fmla="*/ 0 w 3692928"/>
              <a:gd name="connsiteY3" fmla="*/ 2352679 h 2352679"/>
              <a:gd name="connsiteX4" fmla="*/ 0 w 3692928"/>
              <a:gd name="connsiteY4" fmla="*/ 0 h 235267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692928" h="2352679">
                <a:moveTo>
                  <a:pt x="0" y="0"/>
                </a:moveTo>
                <a:lnTo>
                  <a:pt x="3691689" y="0"/>
                </a:lnTo>
                <a:cubicBezTo>
                  <a:pt x="3695982" y="784226"/>
                  <a:pt x="3687396" y="1568453"/>
                  <a:pt x="3691689" y="2352679"/>
                </a:cubicBezTo>
                <a:lnTo>
                  <a:pt x="0" y="2352679"/>
                </a:lnTo>
                <a:lnTo>
                  <a:pt x="0" y="0"/>
                </a:lnTo>
                <a:close/>
              </a:path>
            </a:pathLst>
          </a:custGeom>
          <a:noFill/>
        </p:spPr>
        <p:txBody>
          <a:bodyPr wrap="square" rtlCol="0">
            <a:spAutoFit/>
          </a:bodyPr>
          <a:lstStyle/>
          <a:p>
            <a:r>
              <a:rPr lang="en-GB" sz="2000" b="1" u="sng" dirty="0"/>
              <a:t>The test for an alkene</a:t>
            </a:r>
          </a:p>
          <a:p>
            <a:endParaRPr lang="en-GB" dirty="0"/>
          </a:p>
        </p:txBody>
      </p:sp>
      <p:pic>
        <p:nvPicPr>
          <p:cNvPr id="19" name="Picture 18"/>
          <p:cNvPicPr>
            <a:picLocks noChangeAspect="1"/>
          </p:cNvPicPr>
          <p:nvPr/>
        </p:nvPicPr>
        <p:blipFill>
          <a:blip r:embed="rId2"/>
          <a:stretch>
            <a:fillRect/>
          </a:stretch>
        </p:blipFill>
        <p:spPr>
          <a:xfrm>
            <a:off x="5583833" y="2583068"/>
            <a:ext cx="504055" cy="1384720"/>
          </a:xfrm>
          <a:prstGeom prst="rect">
            <a:avLst/>
          </a:prstGeom>
        </p:spPr>
      </p:pic>
      <p:sp>
        <p:nvSpPr>
          <p:cNvPr id="20" name="TextBox 19"/>
          <p:cNvSpPr txBox="1"/>
          <p:nvPr/>
        </p:nvSpPr>
        <p:spPr>
          <a:xfrm>
            <a:off x="6536716" y="3045453"/>
            <a:ext cx="576064" cy="369332"/>
          </a:xfrm>
          <a:prstGeom prst="rect">
            <a:avLst/>
          </a:prstGeom>
          <a:noFill/>
        </p:spPr>
        <p:txBody>
          <a:bodyPr wrap="square" rtlCol="0">
            <a:spAutoFit/>
          </a:bodyPr>
          <a:lstStyle/>
          <a:p>
            <a:r>
              <a:rPr lang="en-GB" b="1" dirty="0">
                <a:sym typeface="Wingdings" panose="05000000000000000000" pitchFamily="2" charset="2"/>
              </a:rPr>
              <a:t></a:t>
            </a:r>
            <a:endParaRPr lang="en-GB" dirty="0"/>
          </a:p>
        </p:txBody>
      </p:sp>
      <p:pic>
        <p:nvPicPr>
          <p:cNvPr id="21" name="Picture 20"/>
          <p:cNvPicPr>
            <a:picLocks noChangeAspect="1"/>
          </p:cNvPicPr>
          <p:nvPr/>
        </p:nvPicPr>
        <p:blipFill>
          <a:blip r:embed="rId3"/>
          <a:stretch>
            <a:fillRect/>
          </a:stretch>
        </p:blipFill>
        <p:spPr>
          <a:xfrm flipH="1">
            <a:off x="7459459" y="2537760"/>
            <a:ext cx="504055" cy="1384719"/>
          </a:xfrm>
          <a:prstGeom prst="rect">
            <a:avLst/>
          </a:prstGeom>
        </p:spPr>
      </p:pic>
      <p:sp>
        <p:nvSpPr>
          <p:cNvPr id="22" name="TextBox 21"/>
          <p:cNvSpPr txBox="1"/>
          <p:nvPr/>
        </p:nvSpPr>
        <p:spPr>
          <a:xfrm>
            <a:off x="5113225" y="4112662"/>
            <a:ext cx="1747474" cy="707886"/>
          </a:xfrm>
          <a:prstGeom prst="rect">
            <a:avLst/>
          </a:prstGeom>
          <a:noFill/>
        </p:spPr>
        <p:txBody>
          <a:bodyPr wrap="square" rtlCol="0">
            <a:spAutoFit/>
          </a:bodyPr>
          <a:lstStyle/>
          <a:p>
            <a:r>
              <a:rPr lang="en-GB" sz="2000" b="1" dirty="0"/>
              <a:t>Orange/brown bromine water</a:t>
            </a:r>
          </a:p>
        </p:txBody>
      </p:sp>
      <p:sp>
        <p:nvSpPr>
          <p:cNvPr id="23" name="TextBox 22"/>
          <p:cNvSpPr txBox="1"/>
          <p:nvPr/>
        </p:nvSpPr>
        <p:spPr>
          <a:xfrm>
            <a:off x="6910747" y="4112662"/>
            <a:ext cx="2088231" cy="1015663"/>
          </a:xfrm>
          <a:prstGeom prst="rect">
            <a:avLst/>
          </a:prstGeom>
          <a:noFill/>
        </p:spPr>
        <p:txBody>
          <a:bodyPr wrap="square" rtlCol="0">
            <a:spAutoFit/>
          </a:bodyPr>
          <a:lstStyle/>
          <a:p>
            <a:r>
              <a:rPr lang="en-GB" sz="2000" b="1" dirty="0"/>
              <a:t>Turns colourless when alkene is added</a:t>
            </a:r>
          </a:p>
        </p:txBody>
      </p:sp>
    </p:spTree>
    <p:extLst>
      <p:ext uri="{BB962C8B-B14F-4D97-AF65-F5344CB8AC3E}">
        <p14:creationId xmlns:p14="http://schemas.microsoft.com/office/powerpoint/2010/main" val="1070022673"/>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149087" y="802524"/>
            <a:ext cx="8915400" cy="5595731"/>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a:lstStyle/>
          <a:p>
            <a:pPr marL="342900" marR="0" lvl="0" indent="-342900" defTabSz="914400" eaLnBrk="1" fontAlgn="auto" latinLnBrk="0" hangingPunct="1">
              <a:lnSpc>
                <a:spcPct val="100000"/>
              </a:lnSpc>
              <a:spcBef>
                <a:spcPts val="0"/>
              </a:spcBef>
              <a:spcAft>
                <a:spcPts val="0"/>
              </a:spcAft>
              <a:buClrTx/>
              <a:buSzTx/>
              <a:buFont typeface="+mj-lt"/>
              <a:buNone/>
              <a:tabLst/>
              <a:defRPr/>
            </a:pPr>
            <a:endParaRPr lang="en-GB" sz="2000" dirty="0">
              <a:solidFill>
                <a:schemeClr val="tx1"/>
              </a:solidFill>
            </a:endParaRPr>
          </a:p>
        </p:txBody>
      </p:sp>
      <p:sp>
        <p:nvSpPr>
          <p:cNvPr id="7" name="TextBox 6"/>
          <p:cNvSpPr txBox="1"/>
          <p:nvPr/>
        </p:nvSpPr>
        <p:spPr>
          <a:xfrm>
            <a:off x="0" y="980728"/>
            <a:ext cx="4716016" cy="3908762"/>
          </a:xfrm>
          <a:prstGeom prst="rect">
            <a:avLst/>
          </a:prstGeom>
          <a:noFill/>
        </p:spPr>
        <p:txBody>
          <a:bodyPr wrap="square" rtlCol="0">
            <a:spAutoFit/>
          </a:bodyPr>
          <a:lstStyle/>
          <a:p>
            <a:r>
              <a:rPr lang="en-GB" sz="7200" b="1" dirty="0">
                <a:latin typeface="+mj-lt"/>
                <a:ea typeface="Beirut" charset="-78"/>
                <a:cs typeface="Beirut" charset="-78"/>
              </a:rPr>
              <a:t>QuestionIT!</a:t>
            </a:r>
          </a:p>
          <a:p>
            <a:endParaRPr lang="en-GB" dirty="0"/>
          </a:p>
          <a:p>
            <a:endParaRPr lang="en-GB" dirty="0"/>
          </a:p>
          <a:p>
            <a:endParaRPr lang="en-GB" dirty="0"/>
          </a:p>
          <a:p>
            <a:r>
              <a:rPr lang="en-US" sz="2800" b="1" dirty="0"/>
              <a:t>Carbon compounds as fuels and feedstock</a:t>
            </a:r>
          </a:p>
          <a:p>
            <a:r>
              <a:rPr lang="en-GB" sz="2400" b="1" dirty="0">
                <a:solidFill>
                  <a:schemeClr val="tx1">
                    <a:lumMod val="50000"/>
                    <a:lumOff val="50000"/>
                  </a:schemeClr>
                </a:solidFill>
              </a:rPr>
              <a:t>Part 3 </a:t>
            </a:r>
          </a:p>
          <a:p>
            <a:pPr marL="685800" lvl="1" indent="-342900">
              <a:buFont typeface="Arial" charset="0"/>
              <a:buChar char="•"/>
            </a:pPr>
            <a:r>
              <a:rPr lang="en-US" sz="2400" dirty="0">
                <a:solidFill>
                  <a:schemeClr val="tx1">
                    <a:lumMod val="50000"/>
                    <a:lumOff val="50000"/>
                  </a:schemeClr>
                </a:solidFill>
              </a:rPr>
              <a:t>Cracking and alkenes</a:t>
            </a:r>
          </a:p>
          <a:p>
            <a:endParaRPr lang="en-GB" dirty="0"/>
          </a:p>
        </p:txBody>
      </p:sp>
      <p:pic>
        <p:nvPicPr>
          <p:cNvPr id="5" name="Picture 4"/>
          <p:cNvPicPr>
            <a:picLocks noChangeAspect="1"/>
          </p:cNvPicPr>
          <p:nvPr/>
        </p:nvPicPr>
        <p:blipFill>
          <a:blip r:embed="rId3">
            <a:clrChange>
              <a:clrFrom>
                <a:srgbClr val="FFFFFF"/>
              </a:clrFrom>
              <a:clrTo>
                <a:srgbClr val="FFFFFF">
                  <a:alpha val="0"/>
                </a:srgbClr>
              </a:clrTo>
            </a:clrChange>
          </a:blip>
          <a:stretch>
            <a:fillRect/>
          </a:stretch>
        </p:blipFill>
        <p:spPr>
          <a:xfrm>
            <a:off x="4211960" y="886544"/>
            <a:ext cx="4914900" cy="5638800"/>
          </a:xfrm>
          <a:prstGeom prst="rect">
            <a:avLst/>
          </a:prstGeom>
        </p:spPr>
      </p:pic>
    </p:spTree>
    <p:extLst>
      <p:ext uri="{BB962C8B-B14F-4D97-AF65-F5344CB8AC3E}">
        <p14:creationId xmlns:p14="http://schemas.microsoft.com/office/powerpoint/2010/main" val="1633369927"/>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331640" y="0"/>
            <a:ext cx="7812360" cy="657041"/>
          </a:xfrm>
        </p:spPr>
        <p:txBody>
          <a:bodyPr>
            <a:noAutofit/>
          </a:bodyPr>
          <a:lstStyle/>
          <a:p>
            <a:pPr marL="342900" lvl="1" algn="r" defTabSz="342900" rtl="0">
              <a:spcBef>
                <a:spcPct val="20000"/>
              </a:spcBef>
            </a:pPr>
            <a:r>
              <a:rPr lang="en-US" sz="1500" dirty="0">
                <a:solidFill>
                  <a:schemeClr val="accent6"/>
                </a:solidFill>
              </a:rPr>
              <a:t>Fractional distillation and petrochemicals and properties of hydrocarbons - </a:t>
            </a:r>
            <a:r>
              <a:rPr lang="en-US" sz="1500" b="1" dirty="0" err="1">
                <a:solidFill>
                  <a:schemeClr val="tx1"/>
                </a:solidFill>
              </a:rPr>
              <a:t>Question</a:t>
            </a:r>
            <a:r>
              <a:rPr lang="en-US" sz="1500" b="1" kern="1200" dirty="0" err="1">
                <a:solidFill>
                  <a:schemeClr val="tx1"/>
                </a:solidFill>
                <a:latin typeface="Calibri"/>
                <a:ea typeface=""/>
                <a:cs typeface="News Gothic MT"/>
              </a:rPr>
              <a:t>IT</a:t>
            </a:r>
            <a:endParaRPr kumimoji="0" lang="en-US" sz="1500" b="1" i="0" u="none" strike="noStrike" kern="1200" cap="none" spc="0" normalizeH="0" baseline="0" noProof="0" dirty="0">
              <a:ln>
                <a:noFill/>
              </a:ln>
              <a:solidFill>
                <a:schemeClr val="tx1"/>
              </a:solidFill>
              <a:effectLst/>
              <a:uLnTx/>
              <a:uFillTx/>
              <a:latin typeface="Calibri"/>
              <a:ea typeface=""/>
              <a:cs typeface="News Gothic MT"/>
            </a:endParaRPr>
          </a:p>
        </p:txBody>
      </p:sp>
      <p:sp>
        <p:nvSpPr>
          <p:cNvPr id="4" name="Rectangle 3"/>
          <p:cNvSpPr/>
          <p:nvPr/>
        </p:nvSpPr>
        <p:spPr>
          <a:xfrm>
            <a:off x="149087" y="802524"/>
            <a:ext cx="8915400" cy="5595731"/>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a:lstStyle/>
          <a:p>
            <a:pPr marL="342900" marR="0" lvl="0" indent="-342900" defTabSz="914400" eaLnBrk="1" fontAlgn="auto" latinLnBrk="0" hangingPunct="1">
              <a:lnSpc>
                <a:spcPct val="100000"/>
              </a:lnSpc>
              <a:spcBef>
                <a:spcPts val="0"/>
              </a:spcBef>
              <a:spcAft>
                <a:spcPts val="0"/>
              </a:spcAft>
              <a:buClrTx/>
              <a:buSzTx/>
              <a:buFont typeface="+mj-lt"/>
              <a:buNone/>
              <a:tabLst/>
              <a:defRPr/>
            </a:pPr>
            <a:endParaRPr lang="en-GB" sz="2000" dirty="0">
              <a:solidFill>
                <a:schemeClr val="tx1"/>
              </a:solidFill>
            </a:endParaRPr>
          </a:p>
        </p:txBody>
      </p:sp>
      <p:sp>
        <p:nvSpPr>
          <p:cNvPr id="6" name="TextBox 5"/>
          <p:cNvSpPr txBox="1"/>
          <p:nvPr/>
        </p:nvSpPr>
        <p:spPr>
          <a:xfrm>
            <a:off x="149087" y="697936"/>
            <a:ext cx="8915400" cy="5447645"/>
          </a:xfrm>
          <a:prstGeom prst="rect">
            <a:avLst/>
          </a:prstGeom>
          <a:noFill/>
        </p:spPr>
        <p:txBody>
          <a:bodyPr wrap="square" rtlCol="0">
            <a:spAutoFit/>
          </a:bodyPr>
          <a:lstStyle/>
          <a:p>
            <a:pPr marL="457200" indent="-457200">
              <a:buAutoNum type="arabicPeriod"/>
            </a:pPr>
            <a:r>
              <a:rPr lang="en-GB" sz="2400" dirty="0" smtClean="0"/>
              <a:t>Define the term ‘cracking’.</a:t>
            </a:r>
          </a:p>
          <a:p>
            <a:pPr marL="457200" indent="-457200">
              <a:buAutoNum type="arabicPeriod"/>
            </a:pPr>
            <a:endParaRPr lang="en-GB" sz="2400" dirty="0" smtClean="0"/>
          </a:p>
          <a:p>
            <a:pPr marL="457200" indent="-457200">
              <a:buAutoNum type="arabicPeriod"/>
            </a:pPr>
            <a:r>
              <a:rPr lang="en-GB" sz="2400" dirty="0" smtClean="0"/>
              <a:t>Name two methods of cracking.</a:t>
            </a:r>
          </a:p>
          <a:p>
            <a:pPr marL="457200" indent="-457200">
              <a:buAutoNum type="arabicPeriod"/>
            </a:pPr>
            <a:endParaRPr lang="en-GB" sz="2400" dirty="0" smtClean="0"/>
          </a:p>
          <a:p>
            <a:pPr marL="457200" indent="-457200">
              <a:buAutoNum type="arabicPeriod"/>
            </a:pPr>
            <a:r>
              <a:rPr lang="en-GB" sz="2400" dirty="0" smtClean="0"/>
              <a:t>What are the conditions needed for cracking?</a:t>
            </a:r>
          </a:p>
          <a:p>
            <a:pPr marL="457200" indent="-457200">
              <a:buAutoNum type="arabicPeriod"/>
            </a:pPr>
            <a:endParaRPr lang="en-GB" sz="2400" dirty="0" smtClean="0"/>
          </a:p>
          <a:p>
            <a:pPr marL="457200" indent="-457200">
              <a:buAutoNum type="arabicPeriod"/>
            </a:pPr>
            <a:r>
              <a:rPr lang="en-GB" sz="2400" dirty="0" smtClean="0"/>
              <a:t>Which are more reactive: alkanes or alkenes?</a:t>
            </a:r>
          </a:p>
          <a:p>
            <a:pPr marL="457200" indent="-457200">
              <a:buAutoNum type="arabicPeriod"/>
            </a:pPr>
            <a:endParaRPr lang="en-GB" sz="2400" dirty="0" smtClean="0"/>
          </a:p>
          <a:p>
            <a:pPr marL="457200" indent="-457200">
              <a:buAutoNum type="arabicPeriod"/>
            </a:pPr>
            <a:r>
              <a:rPr lang="en-GB" sz="2400" dirty="0" smtClean="0"/>
              <a:t>What is the test for alkenes?</a:t>
            </a:r>
          </a:p>
          <a:p>
            <a:pPr marL="457200" indent="-457200">
              <a:buAutoNum type="arabicPeriod"/>
            </a:pPr>
            <a:endParaRPr lang="en-GB" sz="2400" dirty="0" smtClean="0"/>
          </a:p>
          <a:p>
            <a:pPr marL="457200" indent="-457200">
              <a:buAutoNum type="arabicPeriod"/>
            </a:pPr>
            <a:r>
              <a:rPr lang="en-GB" sz="2400" dirty="0" smtClean="0"/>
              <a:t>Complete </a:t>
            </a:r>
            <a:r>
              <a:rPr lang="en-GB" sz="2400" dirty="0"/>
              <a:t>the following equation for a cracking reaction.</a:t>
            </a:r>
          </a:p>
          <a:p>
            <a:pPr algn="ctr">
              <a:lnSpc>
                <a:spcPct val="150000"/>
              </a:lnSpc>
            </a:pPr>
            <a:r>
              <a:rPr lang="en-GB" sz="2400" b="1" dirty="0"/>
              <a:t>C</a:t>
            </a:r>
            <a:r>
              <a:rPr lang="en-GB" sz="2400" b="1" baseline="-25000" dirty="0"/>
              <a:t>14</a:t>
            </a:r>
            <a:r>
              <a:rPr lang="en-GB" sz="2400" b="1" dirty="0"/>
              <a:t>H</a:t>
            </a:r>
            <a:r>
              <a:rPr lang="en-GB" sz="2400" b="1" baseline="-25000" dirty="0"/>
              <a:t>30</a:t>
            </a:r>
            <a:r>
              <a:rPr lang="en-GB" sz="2400" b="1" dirty="0"/>
              <a:t>                   C</a:t>
            </a:r>
            <a:r>
              <a:rPr lang="en-GB" sz="2400" b="1" baseline="-25000" dirty="0"/>
              <a:t>11</a:t>
            </a:r>
            <a:r>
              <a:rPr lang="en-GB" sz="2400" b="1" dirty="0"/>
              <a:t>H</a:t>
            </a:r>
            <a:r>
              <a:rPr lang="en-GB" sz="2400" b="1" baseline="-25000" dirty="0"/>
              <a:t>24</a:t>
            </a:r>
            <a:r>
              <a:rPr lang="en-GB" sz="2400" b="1" dirty="0"/>
              <a:t>   +   </a:t>
            </a:r>
          </a:p>
          <a:p>
            <a:pPr marL="457200" indent="-457200">
              <a:buAutoNum type="arabicPeriod"/>
            </a:pPr>
            <a:endParaRPr lang="en-GB" sz="2400" dirty="0" smtClean="0"/>
          </a:p>
          <a:p>
            <a:pPr marL="457200" indent="-457200">
              <a:buAutoNum type="arabicPeriod"/>
            </a:pPr>
            <a:endParaRPr lang="en-GB" sz="2400" dirty="0" smtClean="0"/>
          </a:p>
        </p:txBody>
      </p:sp>
      <p:cxnSp>
        <p:nvCxnSpPr>
          <p:cNvPr id="5" name="Straight Arrow Connector 4"/>
          <p:cNvCxnSpPr/>
          <p:nvPr/>
        </p:nvCxnSpPr>
        <p:spPr>
          <a:xfrm>
            <a:off x="3923928" y="5085184"/>
            <a:ext cx="1008112" cy="0"/>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spTree>
    <p:extLst>
      <p:ext uri="{BB962C8B-B14F-4D97-AF65-F5344CB8AC3E}">
        <p14:creationId xmlns:p14="http://schemas.microsoft.com/office/powerpoint/2010/main" val="4224594337"/>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149087" y="802524"/>
            <a:ext cx="8915400" cy="5595731"/>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a:lstStyle/>
          <a:p>
            <a:pPr marL="342900" marR="0" lvl="0" indent="-342900" defTabSz="914400" eaLnBrk="1" fontAlgn="auto" latinLnBrk="0" hangingPunct="1">
              <a:lnSpc>
                <a:spcPct val="100000"/>
              </a:lnSpc>
              <a:spcBef>
                <a:spcPts val="0"/>
              </a:spcBef>
              <a:spcAft>
                <a:spcPts val="0"/>
              </a:spcAft>
              <a:buClrTx/>
              <a:buSzTx/>
              <a:buFont typeface="+mj-lt"/>
              <a:buNone/>
              <a:tabLst/>
              <a:defRPr/>
            </a:pPr>
            <a:endParaRPr lang="en-GB" sz="2000" dirty="0">
              <a:solidFill>
                <a:schemeClr val="tx1"/>
              </a:solidFill>
            </a:endParaRPr>
          </a:p>
        </p:txBody>
      </p:sp>
      <p:sp>
        <p:nvSpPr>
          <p:cNvPr id="7" name="TextBox 6"/>
          <p:cNvSpPr txBox="1"/>
          <p:nvPr/>
        </p:nvSpPr>
        <p:spPr>
          <a:xfrm>
            <a:off x="0" y="980728"/>
            <a:ext cx="4716016" cy="3631763"/>
          </a:xfrm>
          <a:prstGeom prst="rect">
            <a:avLst/>
          </a:prstGeom>
          <a:noFill/>
        </p:spPr>
        <p:txBody>
          <a:bodyPr wrap="square" rtlCol="0">
            <a:spAutoFit/>
          </a:bodyPr>
          <a:lstStyle/>
          <a:p>
            <a:r>
              <a:rPr lang="en-GB" sz="7200" b="1" dirty="0">
                <a:latin typeface="+mj-lt"/>
                <a:ea typeface="Beirut" charset="-78"/>
                <a:cs typeface="Beirut" charset="-78"/>
              </a:rPr>
              <a:t>AnswerIT!</a:t>
            </a:r>
          </a:p>
          <a:p>
            <a:endParaRPr lang="en-GB" dirty="0"/>
          </a:p>
          <a:p>
            <a:endParaRPr lang="en-GB" dirty="0"/>
          </a:p>
          <a:p>
            <a:r>
              <a:rPr lang="en-US" sz="2800" b="1" dirty="0"/>
              <a:t>Carbon compounds as fuels and feedstock</a:t>
            </a:r>
          </a:p>
          <a:p>
            <a:r>
              <a:rPr lang="en-GB" sz="2400" b="1" dirty="0">
                <a:solidFill>
                  <a:schemeClr val="tx1">
                    <a:lumMod val="50000"/>
                    <a:lumOff val="50000"/>
                  </a:schemeClr>
                </a:solidFill>
              </a:rPr>
              <a:t>Part 3 </a:t>
            </a:r>
          </a:p>
          <a:p>
            <a:pPr marL="685800" lvl="1" indent="-342900">
              <a:buFont typeface="Arial" charset="0"/>
              <a:buChar char="•"/>
            </a:pPr>
            <a:r>
              <a:rPr lang="en-US" sz="2400" dirty="0">
                <a:solidFill>
                  <a:schemeClr val="tx1">
                    <a:lumMod val="50000"/>
                    <a:lumOff val="50000"/>
                  </a:schemeClr>
                </a:solidFill>
              </a:rPr>
              <a:t>Cracking and alkenes</a:t>
            </a:r>
          </a:p>
          <a:p>
            <a:endParaRPr lang="en-GB" dirty="0"/>
          </a:p>
        </p:txBody>
      </p:sp>
      <p:pic>
        <p:nvPicPr>
          <p:cNvPr id="6" name="Picture 5"/>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139952" y="704918"/>
            <a:ext cx="4824536" cy="5257800"/>
          </a:xfrm>
          <a:prstGeom prst="rect">
            <a:avLst/>
          </a:prstGeom>
        </p:spPr>
      </p:pic>
    </p:spTree>
    <p:extLst>
      <p:ext uri="{BB962C8B-B14F-4D97-AF65-F5344CB8AC3E}">
        <p14:creationId xmlns:p14="http://schemas.microsoft.com/office/powerpoint/2010/main" val="3162510776"/>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331640" y="0"/>
            <a:ext cx="7812360" cy="657041"/>
          </a:xfrm>
        </p:spPr>
        <p:txBody>
          <a:bodyPr>
            <a:noAutofit/>
          </a:bodyPr>
          <a:lstStyle/>
          <a:p>
            <a:pPr marL="342900" lvl="1" algn="r" defTabSz="342900" rtl="0">
              <a:spcBef>
                <a:spcPct val="20000"/>
              </a:spcBef>
            </a:pPr>
            <a:r>
              <a:rPr lang="en-US" sz="1500" dirty="0">
                <a:solidFill>
                  <a:schemeClr val="accent6"/>
                </a:solidFill>
              </a:rPr>
              <a:t>Fractional distillation and petrochemicals and properties of hydrocarbons - </a:t>
            </a:r>
            <a:r>
              <a:rPr lang="en-US" sz="1500" b="1" dirty="0" err="1">
                <a:solidFill>
                  <a:schemeClr val="tx1"/>
                </a:solidFill>
              </a:rPr>
              <a:t>Question</a:t>
            </a:r>
            <a:r>
              <a:rPr lang="en-US" sz="1500" b="1" kern="1200" dirty="0" err="1">
                <a:solidFill>
                  <a:schemeClr val="tx1"/>
                </a:solidFill>
                <a:latin typeface="Calibri"/>
                <a:ea typeface=""/>
                <a:cs typeface="News Gothic MT"/>
              </a:rPr>
              <a:t>IT</a:t>
            </a:r>
            <a:endParaRPr kumimoji="0" lang="en-US" sz="1500" b="1" i="0" u="none" strike="noStrike" kern="1200" cap="none" spc="0" normalizeH="0" baseline="0" noProof="0" dirty="0">
              <a:ln>
                <a:noFill/>
              </a:ln>
              <a:solidFill>
                <a:schemeClr val="tx1"/>
              </a:solidFill>
              <a:effectLst/>
              <a:uLnTx/>
              <a:uFillTx/>
              <a:latin typeface="Calibri"/>
              <a:ea typeface=""/>
              <a:cs typeface="News Gothic MT"/>
            </a:endParaRPr>
          </a:p>
        </p:txBody>
      </p:sp>
      <p:sp>
        <p:nvSpPr>
          <p:cNvPr id="4" name="Rectangle 3"/>
          <p:cNvSpPr/>
          <p:nvPr/>
        </p:nvSpPr>
        <p:spPr>
          <a:xfrm>
            <a:off x="149087" y="802524"/>
            <a:ext cx="8915400" cy="5595731"/>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a:lstStyle/>
          <a:p>
            <a:pPr marL="342900" marR="0" lvl="0" indent="-342900" defTabSz="914400" eaLnBrk="1" fontAlgn="auto" latinLnBrk="0" hangingPunct="1">
              <a:lnSpc>
                <a:spcPct val="100000"/>
              </a:lnSpc>
              <a:spcBef>
                <a:spcPts val="0"/>
              </a:spcBef>
              <a:spcAft>
                <a:spcPts val="0"/>
              </a:spcAft>
              <a:buClrTx/>
              <a:buSzTx/>
              <a:buFont typeface="+mj-lt"/>
              <a:buNone/>
              <a:tabLst/>
              <a:defRPr/>
            </a:pPr>
            <a:endParaRPr lang="en-GB" sz="2000" dirty="0">
              <a:solidFill>
                <a:schemeClr val="tx1"/>
              </a:solidFill>
            </a:endParaRPr>
          </a:p>
        </p:txBody>
      </p:sp>
      <p:sp>
        <p:nvSpPr>
          <p:cNvPr id="6" name="TextBox 5"/>
          <p:cNvSpPr txBox="1"/>
          <p:nvPr/>
        </p:nvSpPr>
        <p:spPr>
          <a:xfrm>
            <a:off x="149087" y="697936"/>
            <a:ext cx="8915400" cy="6370975"/>
          </a:xfrm>
          <a:prstGeom prst="rect">
            <a:avLst/>
          </a:prstGeom>
          <a:noFill/>
        </p:spPr>
        <p:txBody>
          <a:bodyPr wrap="square" rtlCol="0">
            <a:spAutoFit/>
          </a:bodyPr>
          <a:lstStyle/>
          <a:p>
            <a:pPr marL="457200" indent="-457200">
              <a:buAutoNum type="arabicPeriod"/>
            </a:pPr>
            <a:r>
              <a:rPr lang="en-GB" sz="2400" dirty="0" smtClean="0"/>
              <a:t>Define the term ‘cracking’.</a:t>
            </a:r>
          </a:p>
          <a:p>
            <a:pPr lvl="1"/>
            <a:r>
              <a:rPr lang="en-GB" sz="2400" dirty="0" smtClean="0">
                <a:solidFill>
                  <a:srgbClr val="00B050"/>
                </a:solidFill>
              </a:rPr>
              <a:t>Breaking hydrocarbons down to produce smaller, more useful molecules.</a:t>
            </a:r>
            <a:endParaRPr lang="en-GB" sz="2400" dirty="0" smtClean="0"/>
          </a:p>
          <a:p>
            <a:pPr marL="457200" indent="-457200">
              <a:buAutoNum type="arabicPeriod"/>
            </a:pPr>
            <a:r>
              <a:rPr lang="en-GB" sz="2400" dirty="0" smtClean="0"/>
              <a:t>Name two methods of cracking.</a:t>
            </a:r>
          </a:p>
          <a:p>
            <a:pPr lvl="1"/>
            <a:r>
              <a:rPr lang="en-GB" sz="2400" dirty="0" smtClean="0">
                <a:solidFill>
                  <a:srgbClr val="00B050"/>
                </a:solidFill>
              </a:rPr>
              <a:t>Catalytic, steam</a:t>
            </a:r>
            <a:endParaRPr lang="en-GB" sz="2400" dirty="0" smtClean="0"/>
          </a:p>
          <a:p>
            <a:pPr marL="457200" indent="-457200">
              <a:buAutoNum type="arabicPeriod"/>
            </a:pPr>
            <a:r>
              <a:rPr lang="en-GB" sz="2400" dirty="0" smtClean="0"/>
              <a:t>What are the conditions needed for cracking?</a:t>
            </a:r>
          </a:p>
          <a:p>
            <a:pPr lvl="1"/>
            <a:r>
              <a:rPr lang="en-GB" sz="2400" dirty="0" smtClean="0">
                <a:solidFill>
                  <a:srgbClr val="00B050"/>
                </a:solidFill>
              </a:rPr>
              <a:t>High temperature + catalyst</a:t>
            </a:r>
            <a:endParaRPr lang="en-GB" sz="2400" dirty="0" smtClean="0"/>
          </a:p>
          <a:p>
            <a:pPr marL="457200" indent="-457200">
              <a:buAutoNum type="arabicPeriod"/>
            </a:pPr>
            <a:r>
              <a:rPr lang="en-GB" sz="2400" dirty="0" smtClean="0"/>
              <a:t>Which are more reactive: alkanes or alkenes?</a:t>
            </a:r>
          </a:p>
          <a:p>
            <a:pPr lvl="1"/>
            <a:r>
              <a:rPr lang="en-GB" sz="2400" dirty="0" smtClean="0">
                <a:solidFill>
                  <a:srgbClr val="00B050"/>
                </a:solidFill>
              </a:rPr>
              <a:t>Alkenes</a:t>
            </a:r>
            <a:endParaRPr lang="en-GB" sz="2400" dirty="0" smtClean="0"/>
          </a:p>
          <a:p>
            <a:pPr marL="457200" indent="-457200">
              <a:buAutoNum type="arabicPeriod"/>
            </a:pPr>
            <a:r>
              <a:rPr lang="en-GB" sz="2400" dirty="0" smtClean="0"/>
              <a:t>What is the test for alkenes?</a:t>
            </a:r>
          </a:p>
          <a:p>
            <a:pPr lvl="1"/>
            <a:r>
              <a:rPr lang="en-GB" sz="2400" dirty="0" smtClean="0">
                <a:solidFill>
                  <a:srgbClr val="00B050"/>
                </a:solidFill>
              </a:rPr>
              <a:t>Bromine water; orange to colourless</a:t>
            </a:r>
            <a:endParaRPr lang="en-GB" sz="2400" dirty="0" smtClean="0"/>
          </a:p>
          <a:p>
            <a:pPr marL="457200" indent="-457200">
              <a:buAutoNum type="arabicPeriod"/>
            </a:pPr>
            <a:r>
              <a:rPr lang="en-GB" sz="2400" dirty="0" smtClean="0"/>
              <a:t>Complete </a:t>
            </a:r>
            <a:r>
              <a:rPr lang="en-GB" sz="2400" dirty="0"/>
              <a:t>the following equation for a cracking reaction.</a:t>
            </a:r>
          </a:p>
          <a:p>
            <a:pPr algn="ctr">
              <a:lnSpc>
                <a:spcPct val="150000"/>
              </a:lnSpc>
            </a:pPr>
            <a:r>
              <a:rPr lang="en-GB" sz="2400" b="1" dirty="0"/>
              <a:t>C</a:t>
            </a:r>
            <a:r>
              <a:rPr lang="en-GB" sz="2400" b="1" baseline="-25000" dirty="0"/>
              <a:t>14</a:t>
            </a:r>
            <a:r>
              <a:rPr lang="en-GB" sz="2400" b="1" dirty="0"/>
              <a:t>H</a:t>
            </a:r>
            <a:r>
              <a:rPr lang="en-GB" sz="2400" b="1" baseline="-25000" dirty="0"/>
              <a:t>30</a:t>
            </a:r>
            <a:r>
              <a:rPr lang="en-GB" sz="2400" b="1" dirty="0"/>
              <a:t>                   C</a:t>
            </a:r>
            <a:r>
              <a:rPr lang="en-GB" sz="2400" b="1" baseline="-25000" dirty="0"/>
              <a:t>11</a:t>
            </a:r>
            <a:r>
              <a:rPr lang="en-GB" sz="2400" b="1" dirty="0"/>
              <a:t>H</a:t>
            </a:r>
            <a:r>
              <a:rPr lang="en-GB" sz="2400" b="1" baseline="-25000" dirty="0"/>
              <a:t>24</a:t>
            </a:r>
            <a:r>
              <a:rPr lang="en-GB" sz="2400" b="1" dirty="0"/>
              <a:t>   + </a:t>
            </a:r>
            <a:r>
              <a:rPr lang="en-GB" sz="2400" b="1" dirty="0" smtClean="0"/>
              <a:t> </a:t>
            </a:r>
            <a:r>
              <a:rPr lang="en-GB" sz="2400" b="1" dirty="0">
                <a:solidFill>
                  <a:srgbClr val="00B050"/>
                </a:solidFill>
              </a:rPr>
              <a:t>C</a:t>
            </a:r>
            <a:r>
              <a:rPr lang="en-GB" sz="2400" b="1" baseline="-25000" dirty="0">
                <a:solidFill>
                  <a:srgbClr val="00B050"/>
                </a:solidFill>
              </a:rPr>
              <a:t>3</a:t>
            </a:r>
            <a:r>
              <a:rPr lang="en-GB" sz="2400" b="1" dirty="0">
                <a:solidFill>
                  <a:srgbClr val="00B050"/>
                </a:solidFill>
              </a:rPr>
              <a:t>H</a:t>
            </a:r>
            <a:r>
              <a:rPr lang="en-GB" sz="2400" b="1" baseline="-25000" dirty="0">
                <a:solidFill>
                  <a:srgbClr val="00B050"/>
                </a:solidFill>
              </a:rPr>
              <a:t>6</a:t>
            </a:r>
            <a:r>
              <a:rPr lang="en-GB" sz="2400" b="1" dirty="0">
                <a:solidFill>
                  <a:srgbClr val="00B050"/>
                </a:solidFill>
              </a:rPr>
              <a:t> </a:t>
            </a:r>
          </a:p>
          <a:p>
            <a:pPr algn="ctr">
              <a:lnSpc>
                <a:spcPct val="150000"/>
              </a:lnSpc>
            </a:pPr>
            <a:endParaRPr lang="en-GB" sz="2400" b="1" dirty="0"/>
          </a:p>
          <a:p>
            <a:pPr marL="457200" indent="-457200">
              <a:buAutoNum type="arabicPeriod"/>
            </a:pPr>
            <a:endParaRPr lang="en-GB" sz="2400" dirty="0" smtClean="0"/>
          </a:p>
          <a:p>
            <a:pPr marL="457200" indent="-457200">
              <a:buAutoNum type="arabicPeriod"/>
            </a:pPr>
            <a:endParaRPr lang="en-GB" sz="2400" dirty="0" smtClean="0"/>
          </a:p>
        </p:txBody>
      </p:sp>
      <p:cxnSp>
        <p:nvCxnSpPr>
          <p:cNvPr id="5" name="Straight Arrow Connector 4"/>
          <p:cNvCxnSpPr/>
          <p:nvPr/>
        </p:nvCxnSpPr>
        <p:spPr>
          <a:xfrm>
            <a:off x="3563888" y="5445224"/>
            <a:ext cx="1008112" cy="0"/>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spTree>
    <p:extLst>
      <p:ext uri="{BB962C8B-B14F-4D97-AF65-F5344CB8AC3E}">
        <p14:creationId xmlns:p14="http://schemas.microsoft.com/office/powerpoint/2010/main" val="2923747834"/>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149087" y="802524"/>
            <a:ext cx="8915400" cy="5595731"/>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a:lstStyle/>
          <a:p>
            <a:pPr marL="342900" marR="0" lvl="0" indent="-342900" defTabSz="914400" eaLnBrk="1" fontAlgn="auto" latinLnBrk="0" hangingPunct="1">
              <a:lnSpc>
                <a:spcPct val="100000"/>
              </a:lnSpc>
              <a:spcBef>
                <a:spcPts val="0"/>
              </a:spcBef>
              <a:spcAft>
                <a:spcPts val="0"/>
              </a:spcAft>
              <a:buClrTx/>
              <a:buSzTx/>
              <a:buFont typeface="+mj-lt"/>
              <a:buNone/>
              <a:tabLst/>
              <a:defRPr/>
            </a:pPr>
            <a:endParaRPr lang="en-GB" sz="2000" dirty="0">
              <a:solidFill>
                <a:schemeClr val="tx1"/>
              </a:solidFill>
            </a:endParaRPr>
          </a:p>
        </p:txBody>
      </p:sp>
      <p:sp>
        <p:nvSpPr>
          <p:cNvPr id="7" name="TextBox 6"/>
          <p:cNvSpPr txBox="1"/>
          <p:nvPr/>
        </p:nvSpPr>
        <p:spPr>
          <a:xfrm>
            <a:off x="0" y="980728"/>
            <a:ext cx="3491880" cy="5924699"/>
          </a:xfrm>
          <a:prstGeom prst="rect">
            <a:avLst/>
          </a:prstGeom>
          <a:noFill/>
        </p:spPr>
        <p:txBody>
          <a:bodyPr wrap="square" rtlCol="0">
            <a:spAutoFit/>
          </a:bodyPr>
          <a:lstStyle/>
          <a:p>
            <a:r>
              <a:rPr lang="en-GB" sz="7200" b="1" dirty="0">
                <a:latin typeface="+mj-lt"/>
                <a:ea typeface="Beirut" charset="-78"/>
                <a:cs typeface="Beirut" charset="-78"/>
              </a:rPr>
              <a:t>LearnIT!</a:t>
            </a:r>
          </a:p>
          <a:p>
            <a:r>
              <a:rPr lang="en-GB" sz="7200" b="1" dirty="0">
                <a:latin typeface="+mj-lt"/>
                <a:ea typeface="Beirut" charset="-78"/>
                <a:cs typeface="Beirut" charset="-78"/>
              </a:rPr>
              <a:t>KnowIT!</a:t>
            </a:r>
          </a:p>
          <a:p>
            <a:endParaRPr lang="en-GB" dirty="0"/>
          </a:p>
          <a:p>
            <a:r>
              <a:rPr lang="en-GB" sz="2600" b="1" dirty="0">
                <a:solidFill>
                  <a:schemeClr val="tx1">
                    <a:lumMod val="50000"/>
                    <a:lumOff val="50000"/>
                  </a:schemeClr>
                </a:solidFill>
              </a:rPr>
              <a:t>Reactions of alkenes</a:t>
            </a:r>
          </a:p>
          <a:p>
            <a:r>
              <a:rPr lang="en-GB" sz="2600" b="1" dirty="0">
                <a:solidFill>
                  <a:schemeClr val="tx1">
                    <a:lumMod val="50000"/>
                    <a:lumOff val="50000"/>
                  </a:schemeClr>
                </a:solidFill>
              </a:rPr>
              <a:t>(Chemistry only)</a:t>
            </a:r>
          </a:p>
          <a:p>
            <a:pPr marL="457200" indent="-457200">
              <a:buFont typeface="Arial" charset="0"/>
              <a:buChar char="•"/>
            </a:pPr>
            <a:r>
              <a:rPr lang="en-GB" sz="2400" b="1" dirty="0">
                <a:solidFill>
                  <a:schemeClr val="tx1">
                    <a:lumMod val="50000"/>
                    <a:lumOff val="50000"/>
                  </a:schemeClr>
                </a:solidFill>
              </a:rPr>
              <a:t>Structure and formulae </a:t>
            </a:r>
          </a:p>
          <a:p>
            <a:r>
              <a:rPr lang="en-GB" sz="2400" b="1" dirty="0">
                <a:solidFill>
                  <a:schemeClr val="tx1">
                    <a:lumMod val="50000"/>
                    <a:lumOff val="50000"/>
                  </a:schemeClr>
                </a:solidFill>
              </a:rPr>
              <a:t>         of alkenes</a:t>
            </a:r>
          </a:p>
          <a:p>
            <a:pPr marL="285750" indent="-285750">
              <a:buFont typeface="Arial" panose="020B0604020202020204" pitchFamily="34" charset="0"/>
              <a:buChar char="•"/>
            </a:pPr>
            <a:r>
              <a:rPr lang="en-GB" sz="2400" b="1" dirty="0">
                <a:solidFill>
                  <a:schemeClr val="tx1">
                    <a:lumMod val="50000"/>
                    <a:lumOff val="50000"/>
                  </a:schemeClr>
                </a:solidFill>
              </a:rPr>
              <a:t>   Reactions of alkenes</a:t>
            </a:r>
          </a:p>
          <a:p>
            <a:pPr>
              <a:lnSpc>
                <a:spcPct val="150000"/>
              </a:lnSpc>
            </a:pPr>
            <a:endParaRPr lang="en-GB" b="1" dirty="0">
              <a:solidFill>
                <a:schemeClr val="tx1">
                  <a:lumMod val="50000"/>
                  <a:lumOff val="50000"/>
                </a:schemeClr>
              </a:solidFill>
            </a:endParaRPr>
          </a:p>
          <a:p>
            <a:endParaRPr lang="en-GB" sz="2400" b="1" dirty="0">
              <a:solidFill>
                <a:schemeClr val="tx1">
                  <a:lumMod val="50000"/>
                  <a:lumOff val="50000"/>
                </a:schemeClr>
              </a:solidFill>
            </a:endParaRPr>
          </a:p>
          <a:p>
            <a:endParaRPr lang="en-GB" dirty="0"/>
          </a:p>
        </p:txBody>
      </p:sp>
      <p:pic>
        <p:nvPicPr>
          <p:cNvPr id="6" name="Picture 5"/>
          <p:cNvPicPr>
            <a:picLocks noChangeAspect="1"/>
          </p:cNvPicPr>
          <p:nvPr/>
        </p:nvPicPr>
        <p:blipFill>
          <a:blip r:embed="rId3">
            <a:clrChange>
              <a:clrFrom>
                <a:srgbClr val="FFFFFF"/>
              </a:clrFrom>
              <a:clrTo>
                <a:srgbClr val="FFFFFF">
                  <a:alpha val="0"/>
                </a:srgbClr>
              </a:clrTo>
            </a:clrChange>
          </a:blip>
          <a:stretch>
            <a:fillRect/>
          </a:stretch>
        </p:blipFill>
        <p:spPr>
          <a:xfrm>
            <a:off x="2642398" y="0"/>
            <a:ext cx="6538114" cy="6525344"/>
          </a:xfrm>
          <a:prstGeom prst="rect">
            <a:avLst/>
          </a:prstGeom>
        </p:spPr>
      </p:pic>
    </p:spTree>
    <p:extLst>
      <p:ext uri="{BB962C8B-B14F-4D97-AF65-F5344CB8AC3E}">
        <p14:creationId xmlns:p14="http://schemas.microsoft.com/office/powerpoint/2010/main" val="44947588"/>
      </p:ext>
    </p:extLst>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187624" y="-32700"/>
            <a:ext cx="7956376" cy="941420"/>
          </a:xfrm>
        </p:spPr>
        <p:txBody>
          <a:bodyPr>
            <a:noAutofit/>
          </a:bodyPr>
          <a:lstStyle/>
          <a:p>
            <a:pPr marL="342900" lvl="1" algn="r" defTabSz="342900" rtl="0">
              <a:spcBef>
                <a:spcPct val="20000"/>
              </a:spcBef>
            </a:pPr>
            <a:r>
              <a:rPr lang="en-US" sz="2400" b="1" dirty="0">
                <a:solidFill>
                  <a:schemeClr val="accent6"/>
                </a:solidFill>
              </a:rPr>
              <a:t>Structure and formulae of </a:t>
            </a:r>
            <a:r>
              <a:rPr lang="en-US" sz="2400" b="1" dirty="0" smtClean="0">
                <a:solidFill>
                  <a:schemeClr val="accent6"/>
                </a:solidFill>
              </a:rPr>
              <a:t>alkenes (Chemistry </a:t>
            </a:r>
            <a:r>
              <a:rPr lang="en-US" sz="2400" b="1" dirty="0">
                <a:solidFill>
                  <a:schemeClr val="accent6"/>
                </a:solidFill>
              </a:rPr>
              <a:t>only)</a:t>
            </a:r>
            <a:endParaRPr kumimoji="0" lang="en-US" sz="2400" b="1" i="0" u="none" strike="noStrike" kern="1200" cap="none" spc="0" normalizeH="0" baseline="0" noProof="0" dirty="0">
              <a:ln>
                <a:noFill/>
              </a:ln>
              <a:solidFill>
                <a:schemeClr val="accent6"/>
              </a:solidFill>
              <a:effectLst/>
              <a:uLnTx/>
              <a:uFillTx/>
              <a:latin typeface="Calibri"/>
              <a:ea typeface=""/>
              <a:cs typeface="News Gothic MT"/>
            </a:endParaRPr>
          </a:p>
        </p:txBody>
      </p:sp>
      <p:sp>
        <p:nvSpPr>
          <p:cNvPr id="3" name="TextBox 2"/>
          <p:cNvSpPr txBox="1"/>
          <p:nvPr/>
        </p:nvSpPr>
        <p:spPr>
          <a:xfrm>
            <a:off x="179512" y="836712"/>
            <a:ext cx="8712968" cy="400110"/>
          </a:xfrm>
          <a:prstGeom prst="rect">
            <a:avLst/>
          </a:prstGeom>
          <a:noFill/>
        </p:spPr>
        <p:txBody>
          <a:bodyPr wrap="square" rtlCol="0">
            <a:spAutoFit/>
          </a:bodyPr>
          <a:lstStyle/>
          <a:p>
            <a:r>
              <a:rPr lang="en-GB" sz="2000" dirty="0"/>
              <a:t>We already know that alk</a:t>
            </a:r>
            <a:r>
              <a:rPr lang="en-GB" sz="2000" b="1" dirty="0">
                <a:solidFill>
                  <a:schemeClr val="accent6">
                    <a:lumMod val="75000"/>
                  </a:schemeClr>
                </a:solidFill>
              </a:rPr>
              <a:t>anes</a:t>
            </a:r>
            <a:r>
              <a:rPr lang="en-GB" sz="2000" dirty="0"/>
              <a:t> have the general formulae </a:t>
            </a:r>
            <a:r>
              <a:rPr lang="en-GB" sz="2000" b="1" dirty="0">
                <a:solidFill>
                  <a:schemeClr val="accent6">
                    <a:lumMod val="75000"/>
                  </a:schemeClr>
                </a:solidFill>
              </a:rPr>
              <a:t>C</a:t>
            </a:r>
            <a:r>
              <a:rPr lang="en-GB" sz="2000" b="1" baseline="-25000" dirty="0">
                <a:solidFill>
                  <a:schemeClr val="accent6">
                    <a:lumMod val="75000"/>
                  </a:schemeClr>
                </a:solidFill>
              </a:rPr>
              <a:t>n</a:t>
            </a:r>
            <a:r>
              <a:rPr lang="en-GB" sz="2000" b="1" dirty="0">
                <a:solidFill>
                  <a:schemeClr val="accent6">
                    <a:lumMod val="75000"/>
                  </a:schemeClr>
                </a:solidFill>
              </a:rPr>
              <a:t>H</a:t>
            </a:r>
            <a:r>
              <a:rPr lang="en-GB" sz="2000" b="1" baseline="-25000" dirty="0">
                <a:solidFill>
                  <a:schemeClr val="accent6">
                    <a:lumMod val="75000"/>
                  </a:schemeClr>
                </a:solidFill>
              </a:rPr>
              <a:t>2n+2</a:t>
            </a:r>
          </a:p>
        </p:txBody>
      </p:sp>
      <p:sp>
        <p:nvSpPr>
          <p:cNvPr id="5" name="TextBox 4"/>
          <p:cNvSpPr txBox="1"/>
          <p:nvPr/>
        </p:nvSpPr>
        <p:spPr>
          <a:xfrm>
            <a:off x="179512" y="1377350"/>
            <a:ext cx="8712968" cy="707886"/>
          </a:xfrm>
          <a:prstGeom prst="rect">
            <a:avLst/>
          </a:prstGeom>
          <a:noFill/>
          <a:ln w="28575">
            <a:solidFill>
              <a:schemeClr val="accent6"/>
            </a:solidFill>
          </a:ln>
        </p:spPr>
        <p:txBody>
          <a:bodyPr wrap="square" rtlCol="0">
            <a:spAutoFit/>
          </a:bodyPr>
          <a:lstStyle/>
          <a:p>
            <a:r>
              <a:rPr lang="en-GB" sz="2000" dirty="0"/>
              <a:t>Alk</a:t>
            </a:r>
            <a:r>
              <a:rPr lang="en-GB" sz="2000" b="1" dirty="0">
                <a:solidFill>
                  <a:schemeClr val="accent6">
                    <a:lumMod val="75000"/>
                  </a:schemeClr>
                </a:solidFill>
              </a:rPr>
              <a:t>enes</a:t>
            </a:r>
            <a:r>
              <a:rPr lang="en-GB" sz="2000" dirty="0"/>
              <a:t> are hydrocarbons with a </a:t>
            </a:r>
            <a:r>
              <a:rPr lang="en-GB" sz="2000" b="1" dirty="0">
                <a:solidFill>
                  <a:schemeClr val="accent6">
                    <a:lumMod val="75000"/>
                  </a:schemeClr>
                </a:solidFill>
              </a:rPr>
              <a:t>double carbon-carbon bond</a:t>
            </a:r>
            <a:r>
              <a:rPr lang="en-GB" sz="2000" dirty="0"/>
              <a:t>. The general formula for the homologous series of alkenes is </a:t>
            </a:r>
            <a:r>
              <a:rPr lang="en-GB" sz="2000" b="1" dirty="0">
                <a:solidFill>
                  <a:schemeClr val="accent6">
                    <a:lumMod val="75000"/>
                  </a:schemeClr>
                </a:solidFill>
              </a:rPr>
              <a:t>C</a:t>
            </a:r>
            <a:r>
              <a:rPr lang="en-GB" sz="2000" b="1" baseline="-25000" dirty="0">
                <a:solidFill>
                  <a:schemeClr val="accent6">
                    <a:lumMod val="75000"/>
                  </a:schemeClr>
                </a:solidFill>
              </a:rPr>
              <a:t>n</a:t>
            </a:r>
            <a:r>
              <a:rPr lang="en-GB" sz="2000" b="1" dirty="0">
                <a:solidFill>
                  <a:schemeClr val="accent6">
                    <a:lumMod val="75000"/>
                  </a:schemeClr>
                </a:solidFill>
              </a:rPr>
              <a:t>H</a:t>
            </a:r>
            <a:r>
              <a:rPr lang="en-GB" sz="2000" b="1" baseline="-25000" dirty="0">
                <a:solidFill>
                  <a:schemeClr val="accent6">
                    <a:lumMod val="75000"/>
                  </a:schemeClr>
                </a:solidFill>
              </a:rPr>
              <a:t>2n</a:t>
            </a:r>
            <a:endParaRPr lang="en-GB" sz="2000" dirty="0">
              <a:solidFill>
                <a:schemeClr val="accent6">
                  <a:lumMod val="75000"/>
                </a:schemeClr>
              </a:solidFill>
            </a:endParaRPr>
          </a:p>
        </p:txBody>
      </p:sp>
      <p:sp>
        <p:nvSpPr>
          <p:cNvPr id="13" name="TextBox 12"/>
          <p:cNvSpPr txBox="1"/>
          <p:nvPr/>
        </p:nvSpPr>
        <p:spPr>
          <a:xfrm>
            <a:off x="169498" y="2423790"/>
            <a:ext cx="8710620" cy="400110"/>
          </a:xfrm>
          <a:custGeom>
            <a:avLst/>
            <a:gdLst>
              <a:gd name="connsiteX0" fmla="*/ 0 w 8568952"/>
              <a:gd name="connsiteY0" fmla="*/ 0 h 369332"/>
              <a:gd name="connsiteX1" fmla="*/ 8568952 w 8568952"/>
              <a:gd name="connsiteY1" fmla="*/ 0 h 369332"/>
              <a:gd name="connsiteX2" fmla="*/ 8568952 w 8568952"/>
              <a:gd name="connsiteY2" fmla="*/ 369332 h 369332"/>
              <a:gd name="connsiteX3" fmla="*/ 0 w 8568952"/>
              <a:gd name="connsiteY3" fmla="*/ 369332 h 369332"/>
              <a:gd name="connsiteX4" fmla="*/ 0 w 8568952"/>
              <a:gd name="connsiteY4" fmla="*/ 0 h 369332"/>
              <a:gd name="connsiteX0" fmla="*/ 12879 w 8568952"/>
              <a:gd name="connsiteY0" fmla="*/ 0 h 2082222"/>
              <a:gd name="connsiteX1" fmla="*/ 8568952 w 8568952"/>
              <a:gd name="connsiteY1" fmla="*/ 1712890 h 2082222"/>
              <a:gd name="connsiteX2" fmla="*/ 8568952 w 8568952"/>
              <a:gd name="connsiteY2" fmla="*/ 2082222 h 2082222"/>
              <a:gd name="connsiteX3" fmla="*/ 0 w 8568952"/>
              <a:gd name="connsiteY3" fmla="*/ 2082222 h 2082222"/>
              <a:gd name="connsiteX4" fmla="*/ 12879 w 8568952"/>
              <a:gd name="connsiteY4" fmla="*/ 0 h 2082222"/>
              <a:gd name="connsiteX0" fmla="*/ 12879 w 8697741"/>
              <a:gd name="connsiteY0" fmla="*/ 0 h 2082222"/>
              <a:gd name="connsiteX1" fmla="*/ 8697741 w 8697741"/>
              <a:gd name="connsiteY1" fmla="*/ 0 h 2082222"/>
              <a:gd name="connsiteX2" fmla="*/ 8568952 w 8697741"/>
              <a:gd name="connsiteY2" fmla="*/ 2082222 h 2082222"/>
              <a:gd name="connsiteX3" fmla="*/ 0 w 8697741"/>
              <a:gd name="connsiteY3" fmla="*/ 2082222 h 2082222"/>
              <a:gd name="connsiteX4" fmla="*/ 12879 w 8697741"/>
              <a:gd name="connsiteY4" fmla="*/ 0 h 2082222"/>
              <a:gd name="connsiteX0" fmla="*/ 12879 w 8697741"/>
              <a:gd name="connsiteY0" fmla="*/ 0 h 2082222"/>
              <a:gd name="connsiteX1" fmla="*/ 8697741 w 8697741"/>
              <a:gd name="connsiteY1" fmla="*/ 0 h 2082222"/>
              <a:gd name="connsiteX2" fmla="*/ 8568952 w 8697741"/>
              <a:gd name="connsiteY2" fmla="*/ 2082222 h 2082222"/>
              <a:gd name="connsiteX3" fmla="*/ 0 w 8697741"/>
              <a:gd name="connsiteY3" fmla="*/ 407968 h 2082222"/>
              <a:gd name="connsiteX4" fmla="*/ 12879 w 8697741"/>
              <a:gd name="connsiteY4" fmla="*/ 0 h 2082222"/>
              <a:gd name="connsiteX0" fmla="*/ 12879 w 8710620"/>
              <a:gd name="connsiteY0" fmla="*/ 0 h 407968"/>
              <a:gd name="connsiteX1" fmla="*/ 8697741 w 8710620"/>
              <a:gd name="connsiteY1" fmla="*/ 0 h 407968"/>
              <a:gd name="connsiteX2" fmla="*/ 8710620 w 8710620"/>
              <a:gd name="connsiteY2" fmla="*/ 356453 h 407968"/>
              <a:gd name="connsiteX3" fmla="*/ 0 w 8710620"/>
              <a:gd name="connsiteY3" fmla="*/ 407968 h 407968"/>
              <a:gd name="connsiteX4" fmla="*/ 12879 w 8710620"/>
              <a:gd name="connsiteY4" fmla="*/ 0 h 407968"/>
              <a:gd name="connsiteX0" fmla="*/ 12879 w 8710620"/>
              <a:gd name="connsiteY0" fmla="*/ 0 h 407968"/>
              <a:gd name="connsiteX1" fmla="*/ 8697741 w 8710620"/>
              <a:gd name="connsiteY1" fmla="*/ 0 h 407968"/>
              <a:gd name="connsiteX2" fmla="*/ 8710620 w 8710620"/>
              <a:gd name="connsiteY2" fmla="*/ 369332 h 407968"/>
              <a:gd name="connsiteX3" fmla="*/ 0 w 8710620"/>
              <a:gd name="connsiteY3" fmla="*/ 407968 h 407968"/>
              <a:gd name="connsiteX4" fmla="*/ 12879 w 8710620"/>
              <a:gd name="connsiteY4" fmla="*/ 0 h 407968"/>
              <a:gd name="connsiteX0" fmla="*/ 12879 w 8710620"/>
              <a:gd name="connsiteY0" fmla="*/ 0 h 407968"/>
              <a:gd name="connsiteX1" fmla="*/ 8697741 w 8710620"/>
              <a:gd name="connsiteY1" fmla="*/ 0 h 407968"/>
              <a:gd name="connsiteX2" fmla="*/ 8710620 w 8710620"/>
              <a:gd name="connsiteY2" fmla="*/ 382211 h 407968"/>
              <a:gd name="connsiteX3" fmla="*/ 0 w 8710620"/>
              <a:gd name="connsiteY3" fmla="*/ 407968 h 407968"/>
              <a:gd name="connsiteX4" fmla="*/ 12879 w 8710620"/>
              <a:gd name="connsiteY4" fmla="*/ 0 h 407968"/>
              <a:gd name="connsiteX0" fmla="*/ 12879 w 8710620"/>
              <a:gd name="connsiteY0" fmla="*/ 0 h 407968"/>
              <a:gd name="connsiteX1" fmla="*/ 8697741 w 8710620"/>
              <a:gd name="connsiteY1" fmla="*/ 0 h 407968"/>
              <a:gd name="connsiteX2" fmla="*/ 8710620 w 8710620"/>
              <a:gd name="connsiteY2" fmla="*/ 395089 h 407968"/>
              <a:gd name="connsiteX3" fmla="*/ 0 w 8710620"/>
              <a:gd name="connsiteY3" fmla="*/ 407968 h 407968"/>
              <a:gd name="connsiteX4" fmla="*/ 12879 w 8710620"/>
              <a:gd name="connsiteY4" fmla="*/ 0 h 407968"/>
              <a:gd name="connsiteX0" fmla="*/ 12879 w 8710620"/>
              <a:gd name="connsiteY0" fmla="*/ 0 h 407968"/>
              <a:gd name="connsiteX1" fmla="*/ 8697741 w 8710620"/>
              <a:gd name="connsiteY1" fmla="*/ 0 h 407968"/>
              <a:gd name="connsiteX2" fmla="*/ 8710620 w 8710620"/>
              <a:gd name="connsiteY2" fmla="*/ 407968 h 407968"/>
              <a:gd name="connsiteX3" fmla="*/ 0 w 8710620"/>
              <a:gd name="connsiteY3" fmla="*/ 407968 h 407968"/>
              <a:gd name="connsiteX4" fmla="*/ 12879 w 8710620"/>
              <a:gd name="connsiteY4" fmla="*/ 0 h 40796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710620" h="407968">
                <a:moveTo>
                  <a:pt x="12879" y="0"/>
                </a:moveTo>
                <a:lnTo>
                  <a:pt x="8697741" y="0"/>
                </a:lnTo>
                <a:lnTo>
                  <a:pt x="8710620" y="407968"/>
                </a:lnTo>
                <a:lnTo>
                  <a:pt x="0" y="407968"/>
                </a:lnTo>
                <a:lnTo>
                  <a:pt x="12879" y="0"/>
                </a:lnTo>
                <a:close/>
              </a:path>
            </a:pathLst>
          </a:custGeom>
          <a:noFill/>
          <a:ln w="28575">
            <a:solidFill>
              <a:schemeClr val="accent6"/>
            </a:solidFill>
          </a:ln>
        </p:spPr>
        <p:txBody>
          <a:bodyPr wrap="square" rtlCol="0">
            <a:spAutoFit/>
          </a:bodyPr>
          <a:lstStyle/>
          <a:p>
            <a:r>
              <a:rPr lang="en-GB" sz="2000" dirty="0"/>
              <a:t>The first four members of the alkanes are ethene, propene, butene and pentene. </a:t>
            </a:r>
          </a:p>
        </p:txBody>
      </p:sp>
      <p:sp>
        <p:nvSpPr>
          <p:cNvPr id="14" name="TextBox 13"/>
          <p:cNvSpPr txBox="1"/>
          <p:nvPr/>
        </p:nvSpPr>
        <p:spPr>
          <a:xfrm>
            <a:off x="169498" y="3162454"/>
            <a:ext cx="8712968" cy="707886"/>
          </a:xfrm>
          <a:prstGeom prst="rect">
            <a:avLst/>
          </a:prstGeom>
          <a:noFill/>
        </p:spPr>
        <p:txBody>
          <a:bodyPr wrap="square" rtlCol="0">
            <a:spAutoFit/>
          </a:bodyPr>
          <a:lstStyle/>
          <a:p>
            <a:r>
              <a:rPr lang="en-GB" sz="2000" dirty="0"/>
              <a:t>There is no chemical called </a:t>
            </a:r>
            <a:r>
              <a:rPr lang="en-GB" sz="2000" dirty="0" err="1"/>
              <a:t>methene</a:t>
            </a:r>
            <a:r>
              <a:rPr lang="en-GB" sz="2000" dirty="0"/>
              <a:t>, as the double bond must be between two carbons. Any hydrocarbon starting with meth- can only have one carbon.</a:t>
            </a:r>
          </a:p>
        </p:txBody>
      </p:sp>
      <p:pic>
        <p:nvPicPr>
          <p:cNvPr id="4" name="Picture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97868" y="3870340"/>
            <a:ext cx="6948264" cy="2554935"/>
          </a:xfrm>
          <a:prstGeom prst="rect">
            <a:avLst/>
          </a:prstGeom>
        </p:spPr>
      </p:pic>
    </p:spTree>
    <p:extLst>
      <p:ext uri="{BB962C8B-B14F-4D97-AF65-F5344CB8AC3E}">
        <p14:creationId xmlns:p14="http://schemas.microsoft.com/office/powerpoint/2010/main" val="2000749281"/>
      </p:ext>
    </p:extLst>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187624" y="-32700"/>
            <a:ext cx="7956376" cy="941420"/>
          </a:xfrm>
        </p:spPr>
        <p:txBody>
          <a:bodyPr>
            <a:noAutofit/>
          </a:bodyPr>
          <a:lstStyle/>
          <a:p>
            <a:pPr marL="342900" lvl="1" algn="r" defTabSz="342900" rtl="0">
              <a:spcBef>
                <a:spcPct val="20000"/>
              </a:spcBef>
            </a:pPr>
            <a:r>
              <a:rPr lang="en-US" sz="2400" b="1" dirty="0">
                <a:solidFill>
                  <a:schemeClr val="accent6"/>
                </a:solidFill>
              </a:rPr>
              <a:t>Structure and formulae of </a:t>
            </a:r>
            <a:r>
              <a:rPr lang="en-US" sz="2400" b="1" dirty="0" smtClean="0">
                <a:solidFill>
                  <a:schemeClr val="accent6"/>
                </a:solidFill>
              </a:rPr>
              <a:t>alkenes (Chemistry </a:t>
            </a:r>
            <a:r>
              <a:rPr lang="en-US" sz="2400" b="1" dirty="0">
                <a:solidFill>
                  <a:schemeClr val="accent6"/>
                </a:solidFill>
              </a:rPr>
              <a:t>only)</a:t>
            </a:r>
            <a:endParaRPr kumimoji="0" lang="en-US" sz="2400" b="1" i="0" u="none" strike="noStrike" kern="1200" cap="none" spc="0" normalizeH="0" baseline="0" noProof="0" dirty="0">
              <a:ln>
                <a:noFill/>
              </a:ln>
              <a:solidFill>
                <a:schemeClr val="accent6"/>
              </a:solidFill>
              <a:effectLst/>
              <a:uLnTx/>
              <a:uFillTx/>
              <a:latin typeface="Calibri"/>
              <a:ea typeface=""/>
              <a:cs typeface="News Gothic MT"/>
            </a:endParaRPr>
          </a:p>
        </p:txBody>
      </p:sp>
      <p:sp>
        <p:nvSpPr>
          <p:cNvPr id="15" name="TextBox 14"/>
          <p:cNvSpPr txBox="1"/>
          <p:nvPr/>
        </p:nvSpPr>
        <p:spPr>
          <a:xfrm>
            <a:off x="137068" y="908720"/>
            <a:ext cx="8753065" cy="1908215"/>
          </a:xfrm>
          <a:custGeom>
            <a:avLst/>
            <a:gdLst>
              <a:gd name="connsiteX0" fmla="*/ 0 w 6696744"/>
              <a:gd name="connsiteY0" fmla="*/ 0 h 1600438"/>
              <a:gd name="connsiteX1" fmla="*/ 6696744 w 6696744"/>
              <a:gd name="connsiteY1" fmla="*/ 0 h 1600438"/>
              <a:gd name="connsiteX2" fmla="*/ 6696744 w 6696744"/>
              <a:gd name="connsiteY2" fmla="*/ 1600438 h 1600438"/>
              <a:gd name="connsiteX3" fmla="*/ 0 w 6696744"/>
              <a:gd name="connsiteY3" fmla="*/ 1600438 h 1600438"/>
              <a:gd name="connsiteX4" fmla="*/ 0 w 6696744"/>
              <a:gd name="connsiteY4" fmla="*/ 0 h 1600438"/>
              <a:gd name="connsiteX0" fmla="*/ 0 w 6696744"/>
              <a:gd name="connsiteY0" fmla="*/ 0 h 1767864"/>
              <a:gd name="connsiteX1" fmla="*/ 6696744 w 6696744"/>
              <a:gd name="connsiteY1" fmla="*/ 167426 h 1767864"/>
              <a:gd name="connsiteX2" fmla="*/ 6696744 w 6696744"/>
              <a:gd name="connsiteY2" fmla="*/ 1767864 h 1767864"/>
              <a:gd name="connsiteX3" fmla="*/ 0 w 6696744"/>
              <a:gd name="connsiteY3" fmla="*/ 1767864 h 1767864"/>
              <a:gd name="connsiteX4" fmla="*/ 0 w 6696744"/>
              <a:gd name="connsiteY4" fmla="*/ 0 h 1767864"/>
              <a:gd name="connsiteX0" fmla="*/ 0 w 6696744"/>
              <a:gd name="connsiteY0" fmla="*/ 0 h 1767864"/>
              <a:gd name="connsiteX1" fmla="*/ 6696744 w 6696744"/>
              <a:gd name="connsiteY1" fmla="*/ 12879 h 1767864"/>
              <a:gd name="connsiteX2" fmla="*/ 6696744 w 6696744"/>
              <a:gd name="connsiteY2" fmla="*/ 1767864 h 1767864"/>
              <a:gd name="connsiteX3" fmla="*/ 0 w 6696744"/>
              <a:gd name="connsiteY3" fmla="*/ 1767864 h 1767864"/>
              <a:gd name="connsiteX4" fmla="*/ 0 w 6696744"/>
              <a:gd name="connsiteY4" fmla="*/ 0 h 1767864"/>
              <a:gd name="connsiteX0" fmla="*/ 0 w 6696744"/>
              <a:gd name="connsiteY0" fmla="*/ 0 h 1767864"/>
              <a:gd name="connsiteX1" fmla="*/ 6696744 w 6696744"/>
              <a:gd name="connsiteY1" fmla="*/ 12879 h 1767864"/>
              <a:gd name="connsiteX2" fmla="*/ 6696744 w 6696744"/>
              <a:gd name="connsiteY2" fmla="*/ 1317103 h 1767864"/>
              <a:gd name="connsiteX3" fmla="*/ 0 w 6696744"/>
              <a:gd name="connsiteY3" fmla="*/ 1767864 h 1767864"/>
              <a:gd name="connsiteX4" fmla="*/ 0 w 6696744"/>
              <a:gd name="connsiteY4" fmla="*/ 0 h 1767864"/>
              <a:gd name="connsiteX0" fmla="*/ 0 w 6696744"/>
              <a:gd name="connsiteY0" fmla="*/ 0 h 1317103"/>
              <a:gd name="connsiteX1" fmla="*/ 6696744 w 6696744"/>
              <a:gd name="connsiteY1" fmla="*/ 12879 h 1317103"/>
              <a:gd name="connsiteX2" fmla="*/ 6696744 w 6696744"/>
              <a:gd name="connsiteY2" fmla="*/ 1317103 h 1317103"/>
              <a:gd name="connsiteX3" fmla="*/ 0 w 6696744"/>
              <a:gd name="connsiteY3" fmla="*/ 1304225 h 1317103"/>
              <a:gd name="connsiteX4" fmla="*/ 0 w 6696744"/>
              <a:gd name="connsiteY4" fmla="*/ 0 h 1317103"/>
              <a:gd name="connsiteX0" fmla="*/ 12879 w 6709623"/>
              <a:gd name="connsiteY0" fmla="*/ 0 h 1317103"/>
              <a:gd name="connsiteX1" fmla="*/ 6709623 w 6709623"/>
              <a:gd name="connsiteY1" fmla="*/ 12879 h 1317103"/>
              <a:gd name="connsiteX2" fmla="*/ 6709623 w 6709623"/>
              <a:gd name="connsiteY2" fmla="*/ 1317103 h 1317103"/>
              <a:gd name="connsiteX3" fmla="*/ 0 w 6709623"/>
              <a:gd name="connsiteY3" fmla="*/ 1304225 h 1317103"/>
              <a:gd name="connsiteX4" fmla="*/ 12879 w 6709623"/>
              <a:gd name="connsiteY4" fmla="*/ 0 h 1317103"/>
              <a:gd name="connsiteX0" fmla="*/ 12879 w 6709623"/>
              <a:gd name="connsiteY0" fmla="*/ 0 h 1317103"/>
              <a:gd name="connsiteX1" fmla="*/ 6709623 w 6709623"/>
              <a:gd name="connsiteY1" fmla="*/ 12879 h 1317103"/>
              <a:gd name="connsiteX2" fmla="*/ 6709623 w 6709623"/>
              <a:gd name="connsiteY2" fmla="*/ 1317103 h 1317103"/>
              <a:gd name="connsiteX3" fmla="*/ 0 w 6709623"/>
              <a:gd name="connsiteY3" fmla="*/ 1317103 h 1317103"/>
              <a:gd name="connsiteX4" fmla="*/ 12879 w 6709623"/>
              <a:gd name="connsiteY4" fmla="*/ 0 h 1317103"/>
              <a:gd name="connsiteX0" fmla="*/ 12879 w 6709623"/>
              <a:gd name="connsiteY0" fmla="*/ 0 h 1317103"/>
              <a:gd name="connsiteX1" fmla="*/ 6709623 w 6709623"/>
              <a:gd name="connsiteY1" fmla="*/ 0 h 1317103"/>
              <a:gd name="connsiteX2" fmla="*/ 6709623 w 6709623"/>
              <a:gd name="connsiteY2" fmla="*/ 1317103 h 1317103"/>
              <a:gd name="connsiteX3" fmla="*/ 0 w 6709623"/>
              <a:gd name="connsiteY3" fmla="*/ 1317103 h 1317103"/>
              <a:gd name="connsiteX4" fmla="*/ 12879 w 6709623"/>
              <a:gd name="connsiteY4" fmla="*/ 0 h 131710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709623" h="1317103">
                <a:moveTo>
                  <a:pt x="12879" y="0"/>
                </a:moveTo>
                <a:lnTo>
                  <a:pt x="6709623" y="0"/>
                </a:lnTo>
                <a:lnTo>
                  <a:pt x="6709623" y="1317103"/>
                </a:lnTo>
                <a:lnTo>
                  <a:pt x="0" y="1317103"/>
                </a:lnTo>
                <a:lnTo>
                  <a:pt x="12879" y="0"/>
                </a:lnTo>
                <a:close/>
              </a:path>
            </a:pathLst>
          </a:custGeom>
          <a:noFill/>
        </p:spPr>
        <p:txBody>
          <a:bodyPr wrap="square" rtlCol="0">
            <a:spAutoFit/>
          </a:bodyPr>
          <a:lstStyle/>
          <a:p>
            <a:r>
              <a:rPr lang="en-GB" sz="2000" b="1" u="sng" dirty="0"/>
              <a:t>Worked examples</a:t>
            </a:r>
          </a:p>
          <a:p>
            <a:r>
              <a:rPr lang="en-GB" sz="2000" dirty="0" err="1"/>
              <a:t>Ethene</a:t>
            </a:r>
            <a:r>
              <a:rPr lang="en-GB" sz="2000" dirty="0"/>
              <a:t> has two carbon atoms so it’s formula will be </a:t>
            </a:r>
            <a:r>
              <a:rPr lang="en-GB" sz="2000" b="1" dirty="0"/>
              <a:t>C</a:t>
            </a:r>
            <a:r>
              <a:rPr lang="en-GB" sz="2000" b="1" baseline="-25000" dirty="0"/>
              <a:t>2</a:t>
            </a:r>
            <a:r>
              <a:rPr lang="en-GB" sz="2000" b="1" dirty="0"/>
              <a:t>H</a:t>
            </a:r>
            <a:r>
              <a:rPr lang="en-GB" sz="2000" b="1" baseline="-25000" dirty="0"/>
              <a:t>(2x2) </a:t>
            </a:r>
            <a:r>
              <a:rPr lang="en-GB" sz="2000" dirty="0"/>
              <a:t>this gives </a:t>
            </a:r>
            <a:r>
              <a:rPr lang="en-GB" sz="2000" b="1" dirty="0"/>
              <a:t>C</a:t>
            </a:r>
            <a:r>
              <a:rPr lang="en-GB" sz="2000" b="1" baseline="-25000" dirty="0"/>
              <a:t>2</a:t>
            </a:r>
            <a:r>
              <a:rPr lang="en-GB" sz="2000" b="1" dirty="0"/>
              <a:t>H</a:t>
            </a:r>
            <a:r>
              <a:rPr lang="en-GB" sz="2000" b="1" baseline="-25000" dirty="0"/>
              <a:t>4</a:t>
            </a:r>
          </a:p>
          <a:p>
            <a:r>
              <a:rPr lang="en-GB" sz="2000" dirty="0"/>
              <a:t>Propene has three carbon atoms so it’s formula will be </a:t>
            </a:r>
            <a:r>
              <a:rPr lang="en-GB" sz="2000" b="1" dirty="0"/>
              <a:t>C</a:t>
            </a:r>
            <a:r>
              <a:rPr lang="en-GB" sz="2000" b="1" baseline="-25000" dirty="0"/>
              <a:t>3</a:t>
            </a:r>
            <a:r>
              <a:rPr lang="en-GB" sz="2000" b="1" dirty="0"/>
              <a:t>H</a:t>
            </a:r>
            <a:r>
              <a:rPr lang="en-GB" sz="2000" b="1" baseline="-25000" dirty="0"/>
              <a:t>(2x3) </a:t>
            </a:r>
            <a:r>
              <a:rPr lang="en-GB" sz="2000" dirty="0"/>
              <a:t>this gives </a:t>
            </a:r>
            <a:r>
              <a:rPr lang="en-GB" sz="2000" b="1" dirty="0"/>
              <a:t>C</a:t>
            </a:r>
            <a:r>
              <a:rPr lang="en-GB" sz="2000" b="1" baseline="-25000" dirty="0"/>
              <a:t>3</a:t>
            </a:r>
            <a:r>
              <a:rPr lang="en-GB" sz="2000" b="1" dirty="0"/>
              <a:t>H</a:t>
            </a:r>
            <a:r>
              <a:rPr lang="en-GB" sz="2000" b="1" baseline="-25000" dirty="0"/>
              <a:t>6</a:t>
            </a:r>
          </a:p>
          <a:p>
            <a:r>
              <a:rPr lang="en-GB" sz="2000" dirty="0" err="1"/>
              <a:t>Butene</a:t>
            </a:r>
            <a:r>
              <a:rPr lang="en-GB" sz="2000" dirty="0"/>
              <a:t> has four carbon atoms so it’s formula will be </a:t>
            </a:r>
            <a:r>
              <a:rPr lang="en-GB" sz="2000" b="1" dirty="0"/>
              <a:t>C</a:t>
            </a:r>
            <a:r>
              <a:rPr lang="en-GB" sz="2000" b="1" baseline="-25000" dirty="0"/>
              <a:t>4</a:t>
            </a:r>
            <a:r>
              <a:rPr lang="en-GB" sz="2000" b="1" dirty="0"/>
              <a:t>H</a:t>
            </a:r>
            <a:r>
              <a:rPr lang="en-GB" sz="2000" b="1" baseline="-25000" dirty="0"/>
              <a:t>(2x4) </a:t>
            </a:r>
            <a:r>
              <a:rPr lang="en-GB" sz="2000" dirty="0"/>
              <a:t>this gives </a:t>
            </a:r>
            <a:r>
              <a:rPr lang="en-GB" sz="2000" b="1" dirty="0"/>
              <a:t>C</a:t>
            </a:r>
            <a:r>
              <a:rPr lang="en-GB" sz="2000" b="1" baseline="-25000" dirty="0"/>
              <a:t>4</a:t>
            </a:r>
            <a:r>
              <a:rPr lang="en-GB" sz="2000" b="1" dirty="0"/>
              <a:t>H</a:t>
            </a:r>
            <a:r>
              <a:rPr lang="en-GB" sz="2000" b="1" baseline="-25000" dirty="0"/>
              <a:t>8</a:t>
            </a:r>
          </a:p>
          <a:p>
            <a:r>
              <a:rPr lang="en-GB" sz="2000" dirty="0"/>
              <a:t>Propene has five carbon atoms so it’s formula will be </a:t>
            </a:r>
            <a:r>
              <a:rPr lang="en-GB" sz="2000" b="1" dirty="0"/>
              <a:t>C</a:t>
            </a:r>
            <a:r>
              <a:rPr lang="en-GB" sz="2000" b="1" baseline="-25000" dirty="0"/>
              <a:t>5</a:t>
            </a:r>
            <a:r>
              <a:rPr lang="en-GB" sz="2000" b="1" dirty="0"/>
              <a:t>H</a:t>
            </a:r>
            <a:r>
              <a:rPr lang="en-GB" sz="2000" b="1" baseline="-25000" dirty="0"/>
              <a:t>(2x5) </a:t>
            </a:r>
            <a:r>
              <a:rPr lang="en-GB" sz="2000" dirty="0"/>
              <a:t>this gives </a:t>
            </a:r>
            <a:r>
              <a:rPr lang="en-GB" sz="2000" b="1" dirty="0"/>
              <a:t>C</a:t>
            </a:r>
            <a:r>
              <a:rPr lang="en-GB" sz="2000" b="1" baseline="-25000" dirty="0"/>
              <a:t>5</a:t>
            </a:r>
            <a:r>
              <a:rPr lang="en-GB" sz="2000" b="1" dirty="0"/>
              <a:t>H</a:t>
            </a:r>
            <a:r>
              <a:rPr lang="en-GB" sz="2000" b="1" baseline="-25000" dirty="0"/>
              <a:t>10</a:t>
            </a:r>
          </a:p>
          <a:p>
            <a:endParaRPr lang="en-GB" dirty="0"/>
          </a:p>
        </p:txBody>
      </p:sp>
      <p:sp>
        <p:nvSpPr>
          <p:cNvPr id="16" name="TextBox 15"/>
          <p:cNvSpPr txBox="1"/>
          <p:nvPr/>
        </p:nvSpPr>
        <p:spPr>
          <a:xfrm>
            <a:off x="1262851" y="2957756"/>
            <a:ext cx="6501498" cy="1015663"/>
          </a:xfrm>
          <a:custGeom>
            <a:avLst/>
            <a:gdLst>
              <a:gd name="connsiteX0" fmla="*/ 0 w 2229901"/>
              <a:gd name="connsiteY0" fmla="*/ 0 h 1877437"/>
              <a:gd name="connsiteX1" fmla="*/ 2229901 w 2229901"/>
              <a:gd name="connsiteY1" fmla="*/ 0 h 1877437"/>
              <a:gd name="connsiteX2" fmla="*/ 2229901 w 2229901"/>
              <a:gd name="connsiteY2" fmla="*/ 1877437 h 1877437"/>
              <a:gd name="connsiteX3" fmla="*/ 0 w 2229901"/>
              <a:gd name="connsiteY3" fmla="*/ 1877437 h 1877437"/>
              <a:gd name="connsiteX4" fmla="*/ 0 w 2229901"/>
              <a:gd name="connsiteY4" fmla="*/ 0 h 1877437"/>
              <a:gd name="connsiteX0" fmla="*/ 0 w 2229901"/>
              <a:gd name="connsiteY0" fmla="*/ 0 h 2135014"/>
              <a:gd name="connsiteX1" fmla="*/ 2229901 w 2229901"/>
              <a:gd name="connsiteY1" fmla="*/ 257577 h 2135014"/>
              <a:gd name="connsiteX2" fmla="*/ 2229901 w 2229901"/>
              <a:gd name="connsiteY2" fmla="*/ 2135014 h 2135014"/>
              <a:gd name="connsiteX3" fmla="*/ 0 w 2229901"/>
              <a:gd name="connsiteY3" fmla="*/ 2135014 h 2135014"/>
              <a:gd name="connsiteX4" fmla="*/ 0 w 2229901"/>
              <a:gd name="connsiteY4" fmla="*/ 0 h 2135014"/>
              <a:gd name="connsiteX0" fmla="*/ 0 w 2332932"/>
              <a:gd name="connsiteY0" fmla="*/ 0 h 2135014"/>
              <a:gd name="connsiteX1" fmla="*/ 2332932 w 2332932"/>
              <a:gd name="connsiteY1" fmla="*/ 12878 h 2135014"/>
              <a:gd name="connsiteX2" fmla="*/ 2229901 w 2332932"/>
              <a:gd name="connsiteY2" fmla="*/ 2135014 h 2135014"/>
              <a:gd name="connsiteX3" fmla="*/ 0 w 2332932"/>
              <a:gd name="connsiteY3" fmla="*/ 2135014 h 2135014"/>
              <a:gd name="connsiteX4" fmla="*/ 0 w 2332932"/>
              <a:gd name="connsiteY4" fmla="*/ 0 h 2135014"/>
              <a:gd name="connsiteX0" fmla="*/ 0 w 2358689"/>
              <a:gd name="connsiteY0" fmla="*/ 0 h 2135014"/>
              <a:gd name="connsiteX1" fmla="*/ 2332932 w 2358689"/>
              <a:gd name="connsiteY1" fmla="*/ 12878 h 2135014"/>
              <a:gd name="connsiteX2" fmla="*/ 2358689 w 2358689"/>
              <a:gd name="connsiteY2" fmla="*/ 2135014 h 2135014"/>
              <a:gd name="connsiteX3" fmla="*/ 0 w 2358689"/>
              <a:gd name="connsiteY3" fmla="*/ 2135014 h 2135014"/>
              <a:gd name="connsiteX4" fmla="*/ 0 w 2358689"/>
              <a:gd name="connsiteY4" fmla="*/ 0 h 2135014"/>
              <a:gd name="connsiteX0" fmla="*/ 0 w 2345811"/>
              <a:gd name="connsiteY0" fmla="*/ 0 h 2135014"/>
              <a:gd name="connsiteX1" fmla="*/ 2332932 w 2345811"/>
              <a:gd name="connsiteY1" fmla="*/ 12878 h 2135014"/>
              <a:gd name="connsiteX2" fmla="*/ 2345811 w 2345811"/>
              <a:gd name="connsiteY2" fmla="*/ 2135014 h 2135014"/>
              <a:gd name="connsiteX3" fmla="*/ 0 w 2345811"/>
              <a:gd name="connsiteY3" fmla="*/ 2135014 h 2135014"/>
              <a:gd name="connsiteX4" fmla="*/ 0 w 2345811"/>
              <a:gd name="connsiteY4" fmla="*/ 0 h 2135014"/>
              <a:gd name="connsiteX0" fmla="*/ 12878 w 2345811"/>
              <a:gd name="connsiteY0" fmla="*/ 489398 h 2122136"/>
              <a:gd name="connsiteX1" fmla="*/ 2332932 w 2345811"/>
              <a:gd name="connsiteY1" fmla="*/ 0 h 2122136"/>
              <a:gd name="connsiteX2" fmla="*/ 2345811 w 2345811"/>
              <a:gd name="connsiteY2" fmla="*/ 2122136 h 2122136"/>
              <a:gd name="connsiteX3" fmla="*/ 0 w 2345811"/>
              <a:gd name="connsiteY3" fmla="*/ 2122136 h 2122136"/>
              <a:gd name="connsiteX4" fmla="*/ 12878 w 2345811"/>
              <a:gd name="connsiteY4" fmla="*/ 489398 h 2122136"/>
              <a:gd name="connsiteX0" fmla="*/ 12878 w 2358689"/>
              <a:gd name="connsiteY0" fmla="*/ 12880 h 1645618"/>
              <a:gd name="connsiteX1" fmla="*/ 2358689 w 2358689"/>
              <a:gd name="connsiteY1" fmla="*/ 0 h 1645618"/>
              <a:gd name="connsiteX2" fmla="*/ 2345811 w 2358689"/>
              <a:gd name="connsiteY2" fmla="*/ 1645618 h 1645618"/>
              <a:gd name="connsiteX3" fmla="*/ 0 w 2358689"/>
              <a:gd name="connsiteY3" fmla="*/ 1645618 h 1645618"/>
              <a:gd name="connsiteX4" fmla="*/ 12878 w 2358689"/>
              <a:gd name="connsiteY4" fmla="*/ 12880 h 1645618"/>
              <a:gd name="connsiteX0" fmla="*/ 12878 w 2358689"/>
              <a:gd name="connsiteY0" fmla="*/ 1 h 1632739"/>
              <a:gd name="connsiteX1" fmla="*/ 2358689 w 2358689"/>
              <a:gd name="connsiteY1" fmla="*/ 0 h 1632739"/>
              <a:gd name="connsiteX2" fmla="*/ 2345811 w 2358689"/>
              <a:gd name="connsiteY2" fmla="*/ 1632739 h 1632739"/>
              <a:gd name="connsiteX3" fmla="*/ 0 w 2358689"/>
              <a:gd name="connsiteY3" fmla="*/ 1632739 h 1632739"/>
              <a:gd name="connsiteX4" fmla="*/ 12878 w 2358689"/>
              <a:gd name="connsiteY4" fmla="*/ 1 h 1632739"/>
              <a:gd name="connsiteX0" fmla="*/ 12878 w 2358690"/>
              <a:gd name="connsiteY0" fmla="*/ 1 h 1632739"/>
              <a:gd name="connsiteX1" fmla="*/ 2358689 w 2358690"/>
              <a:gd name="connsiteY1" fmla="*/ 0 h 1632739"/>
              <a:gd name="connsiteX2" fmla="*/ 2358690 w 2358690"/>
              <a:gd name="connsiteY2" fmla="*/ 1297888 h 1632739"/>
              <a:gd name="connsiteX3" fmla="*/ 0 w 2358690"/>
              <a:gd name="connsiteY3" fmla="*/ 1632739 h 1632739"/>
              <a:gd name="connsiteX4" fmla="*/ 12878 w 2358690"/>
              <a:gd name="connsiteY4" fmla="*/ 1 h 1632739"/>
              <a:gd name="connsiteX0" fmla="*/ 12878 w 2358690"/>
              <a:gd name="connsiteY0" fmla="*/ 1 h 1310767"/>
              <a:gd name="connsiteX1" fmla="*/ 2358689 w 2358690"/>
              <a:gd name="connsiteY1" fmla="*/ 0 h 1310767"/>
              <a:gd name="connsiteX2" fmla="*/ 2358690 w 2358690"/>
              <a:gd name="connsiteY2" fmla="*/ 1297888 h 1310767"/>
              <a:gd name="connsiteX3" fmla="*/ 0 w 2358690"/>
              <a:gd name="connsiteY3" fmla="*/ 1310767 h 1310767"/>
              <a:gd name="connsiteX4" fmla="*/ 12878 w 2358690"/>
              <a:gd name="connsiteY4" fmla="*/ 1 h 1310767"/>
              <a:gd name="connsiteX0" fmla="*/ 12878 w 2358690"/>
              <a:gd name="connsiteY0" fmla="*/ 1 h 1323646"/>
              <a:gd name="connsiteX1" fmla="*/ 2358689 w 2358690"/>
              <a:gd name="connsiteY1" fmla="*/ 0 h 1323646"/>
              <a:gd name="connsiteX2" fmla="*/ 2358690 w 2358690"/>
              <a:gd name="connsiteY2" fmla="*/ 1323646 h 1323646"/>
              <a:gd name="connsiteX3" fmla="*/ 0 w 2358690"/>
              <a:gd name="connsiteY3" fmla="*/ 1310767 h 1323646"/>
              <a:gd name="connsiteX4" fmla="*/ 12878 w 2358690"/>
              <a:gd name="connsiteY4" fmla="*/ 1 h 1323646"/>
              <a:gd name="connsiteX0" fmla="*/ 12878 w 2371569"/>
              <a:gd name="connsiteY0" fmla="*/ 1 h 1310767"/>
              <a:gd name="connsiteX1" fmla="*/ 2358689 w 2371569"/>
              <a:gd name="connsiteY1" fmla="*/ 0 h 1310767"/>
              <a:gd name="connsiteX2" fmla="*/ 2371569 w 2371569"/>
              <a:gd name="connsiteY2" fmla="*/ 1297888 h 1310767"/>
              <a:gd name="connsiteX3" fmla="*/ 0 w 2371569"/>
              <a:gd name="connsiteY3" fmla="*/ 1310767 h 1310767"/>
              <a:gd name="connsiteX4" fmla="*/ 12878 w 2371569"/>
              <a:gd name="connsiteY4" fmla="*/ 1 h 1310767"/>
              <a:gd name="connsiteX0" fmla="*/ 12878 w 2371569"/>
              <a:gd name="connsiteY0" fmla="*/ 1 h 1323646"/>
              <a:gd name="connsiteX1" fmla="*/ 2358689 w 2371569"/>
              <a:gd name="connsiteY1" fmla="*/ 0 h 1323646"/>
              <a:gd name="connsiteX2" fmla="*/ 2371569 w 2371569"/>
              <a:gd name="connsiteY2" fmla="*/ 1323646 h 1323646"/>
              <a:gd name="connsiteX3" fmla="*/ 0 w 2371569"/>
              <a:gd name="connsiteY3" fmla="*/ 1310767 h 1323646"/>
              <a:gd name="connsiteX4" fmla="*/ 12878 w 2371569"/>
              <a:gd name="connsiteY4" fmla="*/ 1 h 1323646"/>
              <a:gd name="connsiteX0" fmla="*/ 12878 w 2358690"/>
              <a:gd name="connsiteY0" fmla="*/ 1 h 1310767"/>
              <a:gd name="connsiteX1" fmla="*/ 2358689 w 2358690"/>
              <a:gd name="connsiteY1" fmla="*/ 0 h 1310767"/>
              <a:gd name="connsiteX2" fmla="*/ 2358690 w 2358690"/>
              <a:gd name="connsiteY2" fmla="*/ 1310767 h 1310767"/>
              <a:gd name="connsiteX3" fmla="*/ 0 w 2358690"/>
              <a:gd name="connsiteY3" fmla="*/ 1310767 h 1310767"/>
              <a:gd name="connsiteX4" fmla="*/ 12878 w 2358690"/>
              <a:gd name="connsiteY4" fmla="*/ 1 h 1310767"/>
              <a:gd name="connsiteX0" fmla="*/ 0 w 2345812"/>
              <a:gd name="connsiteY0" fmla="*/ 1 h 1310767"/>
              <a:gd name="connsiteX1" fmla="*/ 2345811 w 2345812"/>
              <a:gd name="connsiteY1" fmla="*/ 0 h 1310767"/>
              <a:gd name="connsiteX2" fmla="*/ 2345812 w 2345812"/>
              <a:gd name="connsiteY2" fmla="*/ 1310767 h 1310767"/>
              <a:gd name="connsiteX3" fmla="*/ 1 w 2345812"/>
              <a:gd name="connsiteY3" fmla="*/ 1310767 h 1310767"/>
              <a:gd name="connsiteX4" fmla="*/ 0 w 2345812"/>
              <a:gd name="connsiteY4" fmla="*/ 1 h 1310767"/>
              <a:gd name="connsiteX0" fmla="*/ 0 w 2345812"/>
              <a:gd name="connsiteY0" fmla="*/ 1 h 1310767"/>
              <a:gd name="connsiteX1" fmla="*/ 2345811 w 2345812"/>
              <a:gd name="connsiteY1" fmla="*/ 0 h 1310767"/>
              <a:gd name="connsiteX2" fmla="*/ 2345812 w 2345812"/>
              <a:gd name="connsiteY2" fmla="*/ 1310767 h 1310767"/>
              <a:gd name="connsiteX3" fmla="*/ 1 w 2345812"/>
              <a:gd name="connsiteY3" fmla="*/ 1056837 h 1310767"/>
              <a:gd name="connsiteX4" fmla="*/ 0 w 2345812"/>
              <a:gd name="connsiteY4" fmla="*/ 1 h 1310767"/>
              <a:gd name="connsiteX0" fmla="*/ 0 w 2345812"/>
              <a:gd name="connsiteY0" fmla="*/ 1 h 1056837"/>
              <a:gd name="connsiteX1" fmla="*/ 2345811 w 2345812"/>
              <a:gd name="connsiteY1" fmla="*/ 0 h 1056837"/>
              <a:gd name="connsiteX2" fmla="*/ 2345812 w 2345812"/>
              <a:gd name="connsiteY2" fmla="*/ 1056837 h 1056837"/>
              <a:gd name="connsiteX3" fmla="*/ 1 w 2345812"/>
              <a:gd name="connsiteY3" fmla="*/ 1056837 h 1056837"/>
              <a:gd name="connsiteX4" fmla="*/ 0 w 2345812"/>
              <a:gd name="connsiteY4" fmla="*/ 1 h 105683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45812" h="1056837">
                <a:moveTo>
                  <a:pt x="0" y="1"/>
                </a:moveTo>
                <a:lnTo>
                  <a:pt x="2345811" y="0"/>
                </a:lnTo>
                <a:cubicBezTo>
                  <a:pt x="2345811" y="432629"/>
                  <a:pt x="2345812" y="624208"/>
                  <a:pt x="2345812" y="1056837"/>
                </a:cubicBezTo>
                <a:lnTo>
                  <a:pt x="1" y="1056837"/>
                </a:lnTo>
                <a:cubicBezTo>
                  <a:pt x="1" y="619915"/>
                  <a:pt x="0" y="436923"/>
                  <a:pt x="0" y="1"/>
                </a:cubicBezTo>
                <a:close/>
              </a:path>
            </a:pathLst>
          </a:custGeom>
          <a:solidFill>
            <a:schemeClr val="accent6"/>
          </a:solidFill>
          <a:ln w="28575">
            <a:solidFill>
              <a:schemeClr val="tx1"/>
            </a:solidFill>
          </a:ln>
        </p:spPr>
        <p:txBody>
          <a:bodyPr wrap="square" rtlCol="0">
            <a:spAutoFit/>
          </a:bodyPr>
          <a:lstStyle/>
          <a:p>
            <a:pPr algn="ctr"/>
            <a:r>
              <a:rPr lang="en-GB" sz="2000" b="1" dirty="0"/>
              <a:t>You will be expected to know the names and formulae of these first four alkenes, you will be expected to calculate the formulae of alkenes with more than five carbons</a:t>
            </a:r>
          </a:p>
        </p:txBody>
      </p:sp>
      <p:sp>
        <p:nvSpPr>
          <p:cNvPr id="17" name="TextBox 16"/>
          <p:cNvSpPr txBox="1"/>
          <p:nvPr/>
        </p:nvSpPr>
        <p:spPr>
          <a:xfrm>
            <a:off x="137068" y="4515220"/>
            <a:ext cx="8467380" cy="984885"/>
          </a:xfrm>
          <a:prstGeom prst="rect">
            <a:avLst/>
          </a:prstGeom>
          <a:noFill/>
        </p:spPr>
        <p:txBody>
          <a:bodyPr wrap="square" rtlCol="0">
            <a:spAutoFit/>
          </a:bodyPr>
          <a:lstStyle/>
          <a:p>
            <a:r>
              <a:rPr lang="en-GB" sz="2000" dirty="0" smtClean="0"/>
              <a:t>Where the double bond is placed is not important at this stage so for propene we can draw it in one of two ways e.g.</a:t>
            </a:r>
          </a:p>
          <a:p>
            <a:endParaRPr lang="en-GB" dirty="0"/>
          </a:p>
        </p:txBody>
      </p:sp>
      <p:pic>
        <p:nvPicPr>
          <p:cNvPr id="19" name="Picture 18"/>
          <p:cNvPicPr>
            <a:picLocks noChangeAspect="1"/>
          </p:cNvPicPr>
          <p:nvPr/>
        </p:nvPicPr>
        <p:blipFill>
          <a:blip r:embed="rId3"/>
          <a:stretch>
            <a:fillRect/>
          </a:stretch>
        </p:blipFill>
        <p:spPr>
          <a:xfrm>
            <a:off x="284988" y="5178742"/>
            <a:ext cx="3206892" cy="1346601"/>
          </a:xfrm>
          <a:prstGeom prst="rect">
            <a:avLst/>
          </a:prstGeom>
        </p:spPr>
      </p:pic>
      <p:sp>
        <p:nvSpPr>
          <p:cNvPr id="20" name="TextBox 19"/>
          <p:cNvSpPr txBox="1"/>
          <p:nvPr/>
        </p:nvSpPr>
        <p:spPr>
          <a:xfrm>
            <a:off x="3491880" y="5504458"/>
            <a:ext cx="648072" cy="369332"/>
          </a:xfrm>
          <a:prstGeom prst="rect">
            <a:avLst/>
          </a:prstGeom>
          <a:noFill/>
        </p:spPr>
        <p:txBody>
          <a:bodyPr wrap="square" rtlCol="0">
            <a:spAutoFit/>
          </a:bodyPr>
          <a:lstStyle/>
          <a:p>
            <a:r>
              <a:rPr lang="en-GB" dirty="0"/>
              <a:t>Or</a:t>
            </a:r>
          </a:p>
        </p:txBody>
      </p:sp>
      <p:pic>
        <p:nvPicPr>
          <p:cNvPr id="21" name="Picture 20"/>
          <p:cNvPicPr>
            <a:picLocks noChangeAspect="1"/>
          </p:cNvPicPr>
          <p:nvPr/>
        </p:nvPicPr>
        <p:blipFill>
          <a:blip r:embed="rId4"/>
          <a:stretch>
            <a:fillRect/>
          </a:stretch>
        </p:blipFill>
        <p:spPr>
          <a:xfrm>
            <a:off x="4139952" y="5178742"/>
            <a:ext cx="3384376" cy="1346601"/>
          </a:xfrm>
          <a:prstGeom prst="rect">
            <a:avLst/>
          </a:prstGeom>
        </p:spPr>
      </p:pic>
      <p:sp>
        <p:nvSpPr>
          <p:cNvPr id="22" name="TextBox 21"/>
          <p:cNvSpPr txBox="1"/>
          <p:nvPr/>
        </p:nvSpPr>
        <p:spPr>
          <a:xfrm>
            <a:off x="7643314" y="5334020"/>
            <a:ext cx="1221789" cy="707886"/>
          </a:xfrm>
          <a:prstGeom prst="rect">
            <a:avLst/>
          </a:prstGeom>
          <a:noFill/>
        </p:spPr>
        <p:txBody>
          <a:bodyPr wrap="square" rtlCol="0">
            <a:spAutoFit/>
          </a:bodyPr>
          <a:lstStyle/>
          <a:p>
            <a:r>
              <a:rPr lang="en-GB" sz="2000" b="1" dirty="0"/>
              <a:t>Both are C</a:t>
            </a:r>
            <a:r>
              <a:rPr lang="en-GB" sz="2000" b="1" baseline="-25000" dirty="0"/>
              <a:t>3</a:t>
            </a:r>
            <a:r>
              <a:rPr lang="en-GB" sz="2000" b="1" dirty="0"/>
              <a:t>H</a:t>
            </a:r>
            <a:r>
              <a:rPr lang="en-GB" sz="2000" b="1" baseline="-25000" dirty="0"/>
              <a:t>6</a:t>
            </a:r>
          </a:p>
        </p:txBody>
      </p:sp>
    </p:spTree>
    <p:extLst>
      <p:ext uri="{BB962C8B-B14F-4D97-AF65-F5344CB8AC3E}">
        <p14:creationId xmlns:p14="http://schemas.microsoft.com/office/powerpoint/2010/main" val="3000029541"/>
      </p:ext>
    </p:extLst>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2483768" y="-32700"/>
            <a:ext cx="6660232" cy="941420"/>
          </a:xfrm>
        </p:spPr>
        <p:txBody>
          <a:bodyPr>
            <a:noAutofit/>
          </a:bodyPr>
          <a:lstStyle/>
          <a:p>
            <a:pPr marL="342900" lvl="1" algn="r" defTabSz="342900" rtl="0">
              <a:spcBef>
                <a:spcPct val="20000"/>
              </a:spcBef>
            </a:pPr>
            <a:r>
              <a:rPr lang="en-US" sz="2400" b="1" dirty="0">
                <a:solidFill>
                  <a:schemeClr val="accent6"/>
                </a:solidFill>
              </a:rPr>
              <a:t>Reaction of alkenes (Chemistry only)</a:t>
            </a:r>
            <a:endParaRPr kumimoji="0" lang="en-US" sz="2400" b="1" i="0" u="none" strike="noStrike" kern="1200" cap="none" spc="0" normalizeH="0" baseline="0" noProof="0" dirty="0">
              <a:ln>
                <a:noFill/>
              </a:ln>
              <a:solidFill>
                <a:schemeClr val="accent6"/>
              </a:solidFill>
              <a:effectLst/>
              <a:uLnTx/>
              <a:uFillTx/>
              <a:latin typeface="Calibri"/>
              <a:ea typeface=""/>
              <a:cs typeface="News Gothic MT"/>
            </a:endParaRPr>
          </a:p>
        </p:txBody>
      </p:sp>
      <p:grpSp>
        <p:nvGrpSpPr>
          <p:cNvPr id="5" name="Group 4"/>
          <p:cNvGrpSpPr/>
          <p:nvPr/>
        </p:nvGrpSpPr>
        <p:grpSpPr>
          <a:xfrm>
            <a:off x="218149" y="680192"/>
            <a:ext cx="8712968" cy="707886"/>
            <a:chOff x="205270" y="826242"/>
            <a:chExt cx="8712968" cy="707886"/>
          </a:xfrm>
        </p:grpSpPr>
        <p:sp>
          <p:nvSpPr>
            <p:cNvPr id="3" name="TextBox 2"/>
            <p:cNvSpPr txBox="1"/>
            <p:nvPr/>
          </p:nvSpPr>
          <p:spPr>
            <a:xfrm>
              <a:off x="205270" y="826242"/>
              <a:ext cx="8712968" cy="707886"/>
            </a:xfrm>
            <a:custGeom>
              <a:avLst/>
              <a:gdLst>
                <a:gd name="connsiteX0" fmla="*/ 0 w 8712968"/>
                <a:gd name="connsiteY0" fmla="*/ 0 h 646331"/>
                <a:gd name="connsiteX1" fmla="*/ 8712968 w 8712968"/>
                <a:gd name="connsiteY1" fmla="*/ 0 h 646331"/>
                <a:gd name="connsiteX2" fmla="*/ 8712968 w 8712968"/>
                <a:gd name="connsiteY2" fmla="*/ 646331 h 646331"/>
                <a:gd name="connsiteX3" fmla="*/ 0 w 8712968"/>
                <a:gd name="connsiteY3" fmla="*/ 646331 h 646331"/>
                <a:gd name="connsiteX4" fmla="*/ 0 w 8712968"/>
                <a:gd name="connsiteY4" fmla="*/ 0 h 646331"/>
                <a:gd name="connsiteX0" fmla="*/ 0 w 8712968"/>
                <a:gd name="connsiteY0" fmla="*/ 0 h 697847"/>
                <a:gd name="connsiteX1" fmla="*/ 8712968 w 8712968"/>
                <a:gd name="connsiteY1" fmla="*/ 51516 h 697847"/>
                <a:gd name="connsiteX2" fmla="*/ 8712968 w 8712968"/>
                <a:gd name="connsiteY2" fmla="*/ 697847 h 697847"/>
                <a:gd name="connsiteX3" fmla="*/ 0 w 8712968"/>
                <a:gd name="connsiteY3" fmla="*/ 697847 h 697847"/>
                <a:gd name="connsiteX4" fmla="*/ 0 w 8712968"/>
                <a:gd name="connsiteY4" fmla="*/ 0 h 697847"/>
                <a:gd name="connsiteX0" fmla="*/ 0 w 8712968"/>
                <a:gd name="connsiteY0" fmla="*/ 12879 h 710726"/>
                <a:gd name="connsiteX1" fmla="*/ 8712968 w 8712968"/>
                <a:gd name="connsiteY1" fmla="*/ 0 h 710726"/>
                <a:gd name="connsiteX2" fmla="*/ 8712968 w 8712968"/>
                <a:gd name="connsiteY2" fmla="*/ 710726 h 710726"/>
                <a:gd name="connsiteX3" fmla="*/ 0 w 8712968"/>
                <a:gd name="connsiteY3" fmla="*/ 710726 h 710726"/>
                <a:gd name="connsiteX4" fmla="*/ 0 w 8712968"/>
                <a:gd name="connsiteY4" fmla="*/ 12879 h 710726"/>
                <a:gd name="connsiteX0" fmla="*/ 0 w 8712968"/>
                <a:gd name="connsiteY0" fmla="*/ 0 h 697847"/>
                <a:gd name="connsiteX1" fmla="*/ 8712968 w 8712968"/>
                <a:gd name="connsiteY1" fmla="*/ 0 h 697847"/>
                <a:gd name="connsiteX2" fmla="*/ 8712968 w 8712968"/>
                <a:gd name="connsiteY2" fmla="*/ 697847 h 697847"/>
                <a:gd name="connsiteX3" fmla="*/ 0 w 8712968"/>
                <a:gd name="connsiteY3" fmla="*/ 697847 h 697847"/>
                <a:gd name="connsiteX4" fmla="*/ 0 w 8712968"/>
                <a:gd name="connsiteY4" fmla="*/ 0 h 697847"/>
                <a:gd name="connsiteX0" fmla="*/ 0 w 8712968"/>
                <a:gd name="connsiteY0" fmla="*/ 0 h 697847"/>
                <a:gd name="connsiteX1" fmla="*/ 8712968 w 8712968"/>
                <a:gd name="connsiteY1" fmla="*/ 0 h 697847"/>
                <a:gd name="connsiteX2" fmla="*/ 8712968 w 8712968"/>
                <a:gd name="connsiteY2" fmla="*/ 697847 h 697847"/>
                <a:gd name="connsiteX3" fmla="*/ 0 w 8712968"/>
                <a:gd name="connsiteY3" fmla="*/ 607695 h 697847"/>
                <a:gd name="connsiteX4" fmla="*/ 0 w 8712968"/>
                <a:gd name="connsiteY4" fmla="*/ 0 h 697847"/>
                <a:gd name="connsiteX0" fmla="*/ 0 w 8712968"/>
                <a:gd name="connsiteY0" fmla="*/ 0 h 646332"/>
                <a:gd name="connsiteX1" fmla="*/ 8712968 w 8712968"/>
                <a:gd name="connsiteY1" fmla="*/ 0 h 646332"/>
                <a:gd name="connsiteX2" fmla="*/ 8712968 w 8712968"/>
                <a:gd name="connsiteY2" fmla="*/ 646332 h 646332"/>
                <a:gd name="connsiteX3" fmla="*/ 0 w 8712968"/>
                <a:gd name="connsiteY3" fmla="*/ 607695 h 646332"/>
                <a:gd name="connsiteX4" fmla="*/ 0 w 8712968"/>
                <a:gd name="connsiteY4" fmla="*/ 0 h 646332"/>
                <a:gd name="connsiteX0" fmla="*/ 0 w 8712968"/>
                <a:gd name="connsiteY0" fmla="*/ 0 h 607695"/>
                <a:gd name="connsiteX1" fmla="*/ 8712968 w 8712968"/>
                <a:gd name="connsiteY1" fmla="*/ 0 h 607695"/>
                <a:gd name="connsiteX2" fmla="*/ 8712968 w 8712968"/>
                <a:gd name="connsiteY2" fmla="*/ 607695 h 607695"/>
                <a:gd name="connsiteX3" fmla="*/ 0 w 8712968"/>
                <a:gd name="connsiteY3" fmla="*/ 607695 h 607695"/>
                <a:gd name="connsiteX4" fmla="*/ 0 w 8712968"/>
                <a:gd name="connsiteY4" fmla="*/ 0 h 60769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712968" h="607695">
                  <a:moveTo>
                    <a:pt x="0" y="0"/>
                  </a:moveTo>
                  <a:lnTo>
                    <a:pt x="8712968" y="0"/>
                  </a:lnTo>
                  <a:lnTo>
                    <a:pt x="8712968" y="607695"/>
                  </a:lnTo>
                  <a:lnTo>
                    <a:pt x="0" y="607695"/>
                  </a:lnTo>
                  <a:lnTo>
                    <a:pt x="0" y="0"/>
                  </a:lnTo>
                  <a:close/>
                </a:path>
              </a:pathLst>
            </a:custGeom>
            <a:noFill/>
            <a:ln w="28575">
              <a:solidFill>
                <a:schemeClr val="accent6"/>
              </a:solidFill>
            </a:ln>
          </p:spPr>
          <p:txBody>
            <a:bodyPr wrap="square" rtlCol="0">
              <a:spAutoFit/>
            </a:bodyPr>
            <a:lstStyle/>
            <a:p>
              <a:r>
                <a:rPr lang="en-GB" sz="2000" dirty="0"/>
                <a:t>Alkenes are hydrocarbons with the functional group            . This is the </a:t>
              </a:r>
              <a:r>
                <a:rPr lang="en-GB" sz="2000" b="1" dirty="0">
                  <a:solidFill>
                    <a:schemeClr val="accent6">
                      <a:lumMod val="75000"/>
                    </a:schemeClr>
                  </a:solidFill>
                </a:rPr>
                <a:t>carbon-carbon double bond</a:t>
              </a:r>
              <a:r>
                <a:rPr lang="en-GB" sz="2000" dirty="0"/>
                <a:t>.  </a:t>
              </a:r>
            </a:p>
          </p:txBody>
        </p:sp>
        <p:pic>
          <p:nvPicPr>
            <p:cNvPr id="4" name="Picture 3"/>
            <p:cNvPicPr>
              <a:picLocks noChangeAspect="1"/>
            </p:cNvPicPr>
            <p:nvPr/>
          </p:nvPicPr>
          <p:blipFill>
            <a:blip r:embed="rId3"/>
            <a:stretch>
              <a:fillRect/>
            </a:stretch>
          </p:blipFill>
          <p:spPr>
            <a:xfrm>
              <a:off x="5652120" y="839400"/>
              <a:ext cx="648072" cy="369333"/>
            </a:xfrm>
            <a:prstGeom prst="rect">
              <a:avLst/>
            </a:prstGeom>
          </p:spPr>
        </p:pic>
      </p:grpSp>
      <p:sp>
        <p:nvSpPr>
          <p:cNvPr id="7" name="TextBox 6"/>
          <p:cNvSpPr txBox="1"/>
          <p:nvPr/>
        </p:nvSpPr>
        <p:spPr>
          <a:xfrm>
            <a:off x="218149" y="1427200"/>
            <a:ext cx="8700089" cy="1015663"/>
          </a:xfrm>
          <a:prstGeom prst="rect">
            <a:avLst/>
          </a:prstGeom>
          <a:noFill/>
          <a:ln w="28575">
            <a:solidFill>
              <a:schemeClr val="accent6"/>
            </a:solidFill>
          </a:ln>
        </p:spPr>
        <p:txBody>
          <a:bodyPr wrap="square" rtlCol="0">
            <a:spAutoFit/>
          </a:bodyPr>
          <a:lstStyle/>
          <a:p>
            <a:r>
              <a:rPr lang="en-GB" sz="2000" dirty="0"/>
              <a:t>Alkenes react with oxygen in combustion reactions in the same way as other hydrocarbons, but they tend to burn in air with </a:t>
            </a:r>
            <a:r>
              <a:rPr lang="en-GB" sz="2000" b="1" dirty="0">
                <a:solidFill>
                  <a:schemeClr val="accent6">
                    <a:lumMod val="75000"/>
                  </a:schemeClr>
                </a:solidFill>
              </a:rPr>
              <a:t>smoky flames </a:t>
            </a:r>
            <a:r>
              <a:rPr lang="en-GB" sz="2000" dirty="0"/>
              <a:t>because of </a:t>
            </a:r>
            <a:r>
              <a:rPr lang="en-GB" sz="2000" b="1" dirty="0">
                <a:solidFill>
                  <a:schemeClr val="accent6">
                    <a:lumMod val="75000"/>
                  </a:schemeClr>
                </a:solidFill>
              </a:rPr>
              <a:t>incomplete combustion</a:t>
            </a:r>
            <a:r>
              <a:rPr lang="en-GB" sz="2000" dirty="0">
                <a:solidFill>
                  <a:schemeClr val="accent6">
                    <a:lumMod val="75000"/>
                  </a:schemeClr>
                </a:solidFill>
              </a:rPr>
              <a:t>.</a:t>
            </a:r>
          </a:p>
        </p:txBody>
      </p:sp>
      <p:sp>
        <p:nvSpPr>
          <p:cNvPr id="8" name="TextBox 7"/>
          <p:cNvSpPr txBox="1"/>
          <p:nvPr/>
        </p:nvSpPr>
        <p:spPr>
          <a:xfrm>
            <a:off x="197646" y="2442863"/>
            <a:ext cx="8700089" cy="1938992"/>
          </a:xfrm>
          <a:prstGeom prst="rect">
            <a:avLst/>
          </a:prstGeom>
          <a:noFill/>
        </p:spPr>
        <p:txBody>
          <a:bodyPr wrap="square" rtlCol="0">
            <a:spAutoFit/>
          </a:bodyPr>
          <a:lstStyle/>
          <a:p>
            <a:r>
              <a:rPr lang="en-GB" sz="2000" dirty="0"/>
              <a:t>Alkenes can therefore react as alkanes do e.g. </a:t>
            </a:r>
          </a:p>
          <a:p>
            <a:pPr algn="ctr"/>
            <a:r>
              <a:rPr lang="en-GB" sz="2000" b="1" dirty="0" err="1"/>
              <a:t>butene</a:t>
            </a:r>
            <a:r>
              <a:rPr lang="en-GB" sz="2000" b="1" dirty="0"/>
              <a:t>   +   oxygen </a:t>
            </a:r>
            <a:r>
              <a:rPr lang="en-GB" sz="2000" b="1" dirty="0">
                <a:sym typeface="Wingdings" panose="05000000000000000000" pitchFamily="2" charset="2"/>
              </a:rPr>
              <a:t>  carbon dioxide   +  water</a:t>
            </a:r>
          </a:p>
          <a:p>
            <a:r>
              <a:rPr lang="en-GB" sz="2000" b="1" dirty="0">
                <a:sym typeface="Wingdings" panose="05000000000000000000" pitchFamily="2" charset="2"/>
              </a:rPr>
              <a:t>                                         C</a:t>
            </a:r>
            <a:r>
              <a:rPr lang="en-GB" sz="2000" b="1" baseline="-25000" dirty="0">
                <a:sym typeface="Wingdings" panose="05000000000000000000" pitchFamily="2" charset="2"/>
              </a:rPr>
              <a:t>4</a:t>
            </a:r>
            <a:r>
              <a:rPr lang="en-GB" sz="2000" b="1" dirty="0">
                <a:sym typeface="Wingdings" panose="05000000000000000000" pitchFamily="2" charset="2"/>
              </a:rPr>
              <a:t>H</a:t>
            </a:r>
            <a:r>
              <a:rPr lang="en-GB" sz="2000" b="1" baseline="-25000" dirty="0">
                <a:sym typeface="Wingdings" panose="05000000000000000000" pitchFamily="2" charset="2"/>
              </a:rPr>
              <a:t>8</a:t>
            </a:r>
            <a:r>
              <a:rPr lang="en-GB" sz="2000" b="1" dirty="0">
                <a:sym typeface="Wingdings" panose="05000000000000000000" pitchFamily="2" charset="2"/>
              </a:rPr>
              <a:t>     +      6O</a:t>
            </a:r>
            <a:r>
              <a:rPr lang="en-GB" sz="2000" b="1" baseline="-25000" dirty="0">
                <a:sym typeface="Wingdings" panose="05000000000000000000" pitchFamily="2" charset="2"/>
              </a:rPr>
              <a:t>2</a:t>
            </a:r>
            <a:r>
              <a:rPr lang="en-GB" sz="2000" b="1" dirty="0">
                <a:sym typeface="Wingdings" panose="05000000000000000000" pitchFamily="2" charset="2"/>
              </a:rPr>
              <a:t>                4CO</a:t>
            </a:r>
            <a:r>
              <a:rPr lang="en-GB" sz="2000" b="1" baseline="-25000" dirty="0">
                <a:sym typeface="Wingdings" panose="05000000000000000000" pitchFamily="2" charset="2"/>
              </a:rPr>
              <a:t>2</a:t>
            </a:r>
            <a:r>
              <a:rPr lang="en-GB" sz="2000" b="1" dirty="0">
                <a:sym typeface="Wingdings" panose="05000000000000000000" pitchFamily="2" charset="2"/>
              </a:rPr>
              <a:t>           +   4H</a:t>
            </a:r>
            <a:r>
              <a:rPr lang="en-GB" sz="2000" b="1" baseline="-25000" dirty="0">
                <a:sym typeface="Wingdings" panose="05000000000000000000" pitchFamily="2" charset="2"/>
              </a:rPr>
              <a:t>2</a:t>
            </a:r>
            <a:r>
              <a:rPr lang="en-GB" sz="2000" b="1" dirty="0">
                <a:sym typeface="Wingdings" panose="05000000000000000000" pitchFamily="2" charset="2"/>
              </a:rPr>
              <a:t>O</a:t>
            </a:r>
          </a:p>
          <a:p>
            <a:r>
              <a:rPr lang="en-GB" sz="2000" dirty="0">
                <a:sym typeface="Wingdings" panose="05000000000000000000" pitchFamily="2" charset="2"/>
              </a:rPr>
              <a:t>Incomplete combustion however produces either carbon monoxide CO or carbon C i.e</a:t>
            </a:r>
            <a:r>
              <a:rPr lang="en-GB" sz="2000" dirty="0" smtClean="0">
                <a:sym typeface="Wingdings" panose="05000000000000000000" pitchFamily="2" charset="2"/>
              </a:rPr>
              <a:t>.                               </a:t>
            </a:r>
            <a:r>
              <a:rPr lang="en-GB" sz="2000" b="1" dirty="0" smtClean="0">
                <a:sym typeface="Wingdings" panose="05000000000000000000" pitchFamily="2" charset="2"/>
              </a:rPr>
              <a:t>  </a:t>
            </a:r>
            <a:r>
              <a:rPr lang="en-GB" sz="2000" b="1" dirty="0">
                <a:sym typeface="Wingdings" panose="05000000000000000000" pitchFamily="2" charset="2"/>
              </a:rPr>
              <a:t>C</a:t>
            </a:r>
            <a:r>
              <a:rPr lang="en-GB" sz="2000" b="1" baseline="-25000" dirty="0">
                <a:sym typeface="Wingdings" panose="05000000000000000000" pitchFamily="2" charset="2"/>
              </a:rPr>
              <a:t>4</a:t>
            </a:r>
            <a:r>
              <a:rPr lang="en-GB" sz="2000" b="1" dirty="0">
                <a:sym typeface="Wingdings" panose="05000000000000000000" pitchFamily="2" charset="2"/>
              </a:rPr>
              <a:t>H</a:t>
            </a:r>
            <a:r>
              <a:rPr lang="en-GB" sz="2000" b="1" baseline="-25000" dirty="0">
                <a:sym typeface="Wingdings" panose="05000000000000000000" pitchFamily="2" charset="2"/>
              </a:rPr>
              <a:t>8</a:t>
            </a:r>
            <a:r>
              <a:rPr lang="en-GB" sz="2000" b="1" dirty="0">
                <a:sym typeface="Wingdings" panose="05000000000000000000" pitchFamily="2" charset="2"/>
              </a:rPr>
              <a:t>     +      4O</a:t>
            </a:r>
            <a:r>
              <a:rPr lang="en-GB" sz="2000" b="1" baseline="-25000" dirty="0">
                <a:sym typeface="Wingdings" panose="05000000000000000000" pitchFamily="2" charset="2"/>
              </a:rPr>
              <a:t>2</a:t>
            </a:r>
            <a:r>
              <a:rPr lang="en-GB" sz="2000" b="1" dirty="0">
                <a:sym typeface="Wingdings" panose="05000000000000000000" pitchFamily="2" charset="2"/>
              </a:rPr>
              <a:t>                4CO           +    4H</a:t>
            </a:r>
            <a:r>
              <a:rPr lang="en-GB" sz="2000" b="1" baseline="-25000" dirty="0">
                <a:sym typeface="Wingdings" panose="05000000000000000000" pitchFamily="2" charset="2"/>
              </a:rPr>
              <a:t>2</a:t>
            </a:r>
            <a:r>
              <a:rPr lang="en-GB" sz="2000" b="1" dirty="0">
                <a:sym typeface="Wingdings" panose="05000000000000000000" pitchFamily="2" charset="2"/>
              </a:rPr>
              <a:t>O</a:t>
            </a:r>
          </a:p>
          <a:p>
            <a:r>
              <a:rPr lang="en-GB" sz="2000" b="1" dirty="0">
                <a:sym typeface="Wingdings" panose="05000000000000000000" pitchFamily="2" charset="2"/>
              </a:rPr>
              <a:t>Or                                     C</a:t>
            </a:r>
            <a:r>
              <a:rPr lang="en-GB" sz="2000" b="1" baseline="-25000" dirty="0">
                <a:sym typeface="Wingdings" panose="05000000000000000000" pitchFamily="2" charset="2"/>
              </a:rPr>
              <a:t>4</a:t>
            </a:r>
            <a:r>
              <a:rPr lang="en-GB" sz="2000" b="1" dirty="0">
                <a:sym typeface="Wingdings" panose="05000000000000000000" pitchFamily="2" charset="2"/>
              </a:rPr>
              <a:t>H</a:t>
            </a:r>
            <a:r>
              <a:rPr lang="en-GB" sz="2000" b="1" baseline="-25000" dirty="0">
                <a:sym typeface="Wingdings" panose="05000000000000000000" pitchFamily="2" charset="2"/>
              </a:rPr>
              <a:t>8</a:t>
            </a:r>
            <a:r>
              <a:rPr lang="en-GB" sz="2000" b="1" dirty="0">
                <a:sym typeface="Wingdings" panose="05000000000000000000" pitchFamily="2" charset="2"/>
              </a:rPr>
              <a:t>     +      2O</a:t>
            </a:r>
            <a:r>
              <a:rPr lang="en-GB" sz="2000" b="1" baseline="-25000" dirty="0">
                <a:sym typeface="Wingdings" panose="05000000000000000000" pitchFamily="2" charset="2"/>
              </a:rPr>
              <a:t>2</a:t>
            </a:r>
            <a:r>
              <a:rPr lang="en-GB" sz="2000" b="1" dirty="0">
                <a:sym typeface="Wingdings" panose="05000000000000000000" pitchFamily="2" charset="2"/>
              </a:rPr>
              <a:t>                 4C             +    </a:t>
            </a:r>
            <a:r>
              <a:rPr lang="en-GB" sz="2000" b="1" dirty="0" smtClean="0">
                <a:sym typeface="Wingdings" panose="05000000000000000000" pitchFamily="2" charset="2"/>
              </a:rPr>
              <a:t>4H</a:t>
            </a:r>
            <a:r>
              <a:rPr lang="en-GB" sz="2000" b="1" baseline="-25000" dirty="0" smtClean="0">
                <a:sym typeface="Wingdings" panose="05000000000000000000" pitchFamily="2" charset="2"/>
              </a:rPr>
              <a:t>2</a:t>
            </a:r>
            <a:r>
              <a:rPr lang="en-GB" sz="2000" b="1" dirty="0" smtClean="0">
                <a:sym typeface="Wingdings" panose="05000000000000000000" pitchFamily="2" charset="2"/>
              </a:rPr>
              <a:t>O</a:t>
            </a:r>
            <a:endParaRPr lang="en-GB" sz="2000" b="1" dirty="0">
              <a:sym typeface="Wingdings" panose="05000000000000000000" pitchFamily="2" charset="2"/>
            </a:endParaRPr>
          </a:p>
        </p:txBody>
      </p:sp>
      <p:sp>
        <p:nvSpPr>
          <p:cNvPr id="9" name="TextBox 8"/>
          <p:cNvSpPr txBox="1"/>
          <p:nvPr/>
        </p:nvSpPr>
        <p:spPr>
          <a:xfrm>
            <a:off x="195049" y="4420977"/>
            <a:ext cx="8702686" cy="1015663"/>
          </a:xfrm>
          <a:prstGeom prst="rect">
            <a:avLst/>
          </a:prstGeom>
          <a:noFill/>
          <a:ln w="28575">
            <a:solidFill>
              <a:schemeClr val="accent6"/>
            </a:solidFill>
          </a:ln>
        </p:spPr>
        <p:txBody>
          <a:bodyPr wrap="square" rtlCol="0">
            <a:spAutoFit/>
          </a:bodyPr>
          <a:lstStyle/>
          <a:p>
            <a:r>
              <a:rPr lang="en-GB" sz="2000" dirty="0"/>
              <a:t>Alkenes react with hydrogen, water and the halogens (chlorine, bromine and iodine) by the addition of atoms across the carbon-carbon double bond so that the double bond becomes a single carbon-carbon bond.</a:t>
            </a:r>
          </a:p>
        </p:txBody>
      </p:sp>
      <p:sp>
        <p:nvSpPr>
          <p:cNvPr id="10" name="TextBox 9"/>
          <p:cNvSpPr txBox="1"/>
          <p:nvPr/>
        </p:nvSpPr>
        <p:spPr>
          <a:xfrm>
            <a:off x="182671" y="5487162"/>
            <a:ext cx="8568953" cy="1292662"/>
          </a:xfrm>
          <a:prstGeom prst="rect">
            <a:avLst/>
          </a:prstGeom>
          <a:noFill/>
        </p:spPr>
        <p:txBody>
          <a:bodyPr wrap="square" rtlCol="0">
            <a:spAutoFit/>
          </a:bodyPr>
          <a:lstStyle/>
          <a:p>
            <a:pPr algn="ctr"/>
            <a:r>
              <a:rPr lang="en-GB" sz="2000" b="1" dirty="0"/>
              <a:t>Propene + hydrogen </a:t>
            </a:r>
            <a:r>
              <a:rPr lang="en-GB" sz="2000" b="1" dirty="0">
                <a:sym typeface="Wingdings" panose="05000000000000000000" pitchFamily="2" charset="2"/>
              </a:rPr>
              <a:t>  propane</a:t>
            </a:r>
          </a:p>
          <a:p>
            <a:pPr algn="ctr"/>
            <a:r>
              <a:rPr lang="en-GB" sz="2000" b="1" dirty="0">
                <a:sym typeface="Wingdings" panose="05000000000000000000" pitchFamily="2" charset="2"/>
              </a:rPr>
              <a:t>Propene + water  propanol</a:t>
            </a:r>
          </a:p>
          <a:p>
            <a:pPr algn="ctr"/>
            <a:r>
              <a:rPr lang="en-GB" sz="2000" b="1" dirty="0">
                <a:sym typeface="Wingdings" panose="05000000000000000000" pitchFamily="2" charset="2"/>
              </a:rPr>
              <a:t>Propene + chlorine   </a:t>
            </a:r>
            <a:r>
              <a:rPr lang="en-GB" sz="2000" b="1" dirty="0" err="1">
                <a:sym typeface="Wingdings" panose="05000000000000000000" pitchFamily="2" charset="2"/>
              </a:rPr>
              <a:t>chloropropane</a:t>
            </a:r>
            <a:endParaRPr lang="en-GB" sz="2000" b="1" dirty="0">
              <a:sym typeface="Wingdings" panose="05000000000000000000" pitchFamily="2" charset="2"/>
            </a:endParaRPr>
          </a:p>
          <a:p>
            <a:endParaRPr lang="en-GB" dirty="0"/>
          </a:p>
        </p:txBody>
      </p:sp>
    </p:spTree>
    <p:extLst>
      <p:ext uri="{BB962C8B-B14F-4D97-AF65-F5344CB8AC3E}">
        <p14:creationId xmlns:p14="http://schemas.microsoft.com/office/powerpoint/2010/main" val="1688673088"/>
      </p:ext>
    </p:extLst>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149087" y="802524"/>
            <a:ext cx="8915400" cy="5595731"/>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a:lstStyle/>
          <a:p>
            <a:pPr marL="342900" marR="0" lvl="0" indent="-342900" defTabSz="914400" eaLnBrk="1" fontAlgn="auto" latinLnBrk="0" hangingPunct="1">
              <a:lnSpc>
                <a:spcPct val="100000"/>
              </a:lnSpc>
              <a:spcBef>
                <a:spcPts val="0"/>
              </a:spcBef>
              <a:spcAft>
                <a:spcPts val="0"/>
              </a:spcAft>
              <a:buClrTx/>
              <a:buSzTx/>
              <a:buFont typeface="+mj-lt"/>
              <a:buNone/>
              <a:tabLst/>
              <a:defRPr/>
            </a:pPr>
            <a:endParaRPr lang="en-GB" sz="2000" dirty="0">
              <a:solidFill>
                <a:schemeClr val="tx1"/>
              </a:solidFill>
            </a:endParaRPr>
          </a:p>
        </p:txBody>
      </p:sp>
      <p:sp>
        <p:nvSpPr>
          <p:cNvPr id="7" name="TextBox 6"/>
          <p:cNvSpPr txBox="1"/>
          <p:nvPr/>
        </p:nvSpPr>
        <p:spPr>
          <a:xfrm>
            <a:off x="113691" y="1041996"/>
            <a:ext cx="4716016" cy="4001095"/>
          </a:xfrm>
          <a:prstGeom prst="rect">
            <a:avLst/>
          </a:prstGeom>
          <a:noFill/>
        </p:spPr>
        <p:txBody>
          <a:bodyPr wrap="square" rtlCol="0">
            <a:spAutoFit/>
          </a:bodyPr>
          <a:lstStyle/>
          <a:p>
            <a:r>
              <a:rPr lang="en-GB" sz="7200" b="1" dirty="0">
                <a:latin typeface="+mj-lt"/>
                <a:ea typeface="Beirut" charset="-78"/>
                <a:cs typeface="Beirut" charset="-78"/>
              </a:rPr>
              <a:t>QuestionIT!</a:t>
            </a:r>
          </a:p>
          <a:p>
            <a:endParaRPr lang="en-GB" dirty="0"/>
          </a:p>
          <a:p>
            <a:endParaRPr lang="en-GB" dirty="0"/>
          </a:p>
          <a:p>
            <a:endParaRPr lang="en-GB" dirty="0"/>
          </a:p>
          <a:p>
            <a:r>
              <a:rPr lang="en-GB" sz="2800" b="1" dirty="0">
                <a:solidFill>
                  <a:schemeClr val="tx1">
                    <a:lumMod val="50000"/>
                    <a:lumOff val="50000"/>
                  </a:schemeClr>
                </a:solidFill>
              </a:rPr>
              <a:t>Reactions of alkenes</a:t>
            </a:r>
          </a:p>
          <a:p>
            <a:r>
              <a:rPr lang="en-GB" sz="2800" b="1" dirty="0">
                <a:solidFill>
                  <a:schemeClr val="tx1">
                    <a:lumMod val="50000"/>
                    <a:lumOff val="50000"/>
                  </a:schemeClr>
                </a:solidFill>
              </a:rPr>
              <a:t>(Chemistry only)</a:t>
            </a:r>
          </a:p>
          <a:p>
            <a:pPr marL="457200" indent="-457200">
              <a:buFont typeface="Arial" charset="0"/>
              <a:buChar char="•"/>
            </a:pPr>
            <a:r>
              <a:rPr lang="en-GB" sz="2400" b="1" dirty="0">
                <a:solidFill>
                  <a:schemeClr val="tx1">
                    <a:lumMod val="50000"/>
                    <a:lumOff val="50000"/>
                  </a:schemeClr>
                </a:solidFill>
              </a:rPr>
              <a:t>Structure and formulae </a:t>
            </a:r>
          </a:p>
          <a:p>
            <a:r>
              <a:rPr lang="en-GB" sz="2400" b="1" dirty="0">
                <a:solidFill>
                  <a:schemeClr val="tx1">
                    <a:lumMod val="50000"/>
                    <a:lumOff val="50000"/>
                  </a:schemeClr>
                </a:solidFill>
              </a:rPr>
              <a:t>         of alkenes</a:t>
            </a:r>
          </a:p>
          <a:p>
            <a:pPr marL="285750" indent="-285750">
              <a:buFont typeface="Arial" panose="020B0604020202020204" pitchFamily="34" charset="0"/>
              <a:buChar char="•"/>
            </a:pPr>
            <a:r>
              <a:rPr lang="en-GB" sz="2400" b="1" dirty="0">
                <a:solidFill>
                  <a:schemeClr val="tx1">
                    <a:lumMod val="50000"/>
                    <a:lumOff val="50000"/>
                  </a:schemeClr>
                </a:solidFill>
              </a:rPr>
              <a:t>   Reactions of alkenes</a:t>
            </a:r>
          </a:p>
        </p:txBody>
      </p:sp>
      <p:pic>
        <p:nvPicPr>
          <p:cNvPr id="6" name="Picture 5"/>
          <p:cNvPicPr>
            <a:picLocks noChangeAspect="1"/>
          </p:cNvPicPr>
          <p:nvPr/>
        </p:nvPicPr>
        <p:blipFill>
          <a:blip r:embed="rId3">
            <a:clrChange>
              <a:clrFrom>
                <a:srgbClr val="FFFFFF"/>
              </a:clrFrom>
              <a:clrTo>
                <a:srgbClr val="FFFFFF">
                  <a:alpha val="0"/>
                </a:srgbClr>
              </a:clrTo>
            </a:clrChange>
          </a:blip>
          <a:stretch>
            <a:fillRect/>
          </a:stretch>
        </p:blipFill>
        <p:spPr>
          <a:xfrm>
            <a:off x="4211960" y="886544"/>
            <a:ext cx="4914900" cy="5638800"/>
          </a:xfrm>
          <a:prstGeom prst="rect">
            <a:avLst/>
          </a:prstGeom>
        </p:spPr>
      </p:pic>
    </p:spTree>
    <p:extLst>
      <p:ext uri="{BB962C8B-B14F-4D97-AF65-F5344CB8AC3E}">
        <p14:creationId xmlns:p14="http://schemas.microsoft.com/office/powerpoint/2010/main" val="2144738704"/>
      </p:ext>
    </p:extLst>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043608" y="0"/>
            <a:ext cx="8100392" cy="657041"/>
          </a:xfrm>
        </p:spPr>
        <p:txBody>
          <a:bodyPr>
            <a:noAutofit/>
          </a:bodyPr>
          <a:lstStyle/>
          <a:p>
            <a:pPr marL="342900" lvl="1" algn="r" defTabSz="342900" rtl="0">
              <a:spcBef>
                <a:spcPct val="20000"/>
              </a:spcBef>
            </a:pPr>
            <a:r>
              <a:rPr lang="en-US" sz="2000" b="1" kern="1200" dirty="0">
                <a:solidFill>
                  <a:schemeClr val="accent6"/>
                </a:solidFill>
                <a:latin typeface="Calibri"/>
                <a:ea typeface=""/>
                <a:cs typeface="News Gothic MT"/>
              </a:rPr>
              <a:t>Structure, formula and reactions of alkenes (Chemistry only) </a:t>
            </a:r>
            <a:r>
              <a:rPr kumimoji="0" lang="en-US" sz="2000" b="1" i="0" u="none" strike="noStrike" kern="1200" cap="none" spc="0" normalizeH="0" baseline="0" noProof="0" dirty="0" err="1">
                <a:ln>
                  <a:noFill/>
                </a:ln>
                <a:solidFill>
                  <a:schemeClr val="tx1"/>
                </a:solidFill>
                <a:effectLst/>
                <a:uLnTx/>
                <a:uFillTx/>
                <a:latin typeface="Calibri"/>
                <a:ea typeface=""/>
                <a:cs typeface="News Gothic MT"/>
              </a:rPr>
              <a:t>QuestionIT</a:t>
            </a:r>
            <a:endParaRPr kumimoji="0" lang="en-US" sz="2000" b="1" i="0" u="none" strike="noStrike" kern="1200" cap="none" spc="0" normalizeH="0" baseline="0" noProof="0" dirty="0">
              <a:ln>
                <a:noFill/>
              </a:ln>
              <a:solidFill>
                <a:schemeClr val="tx1"/>
              </a:solidFill>
              <a:effectLst/>
              <a:uLnTx/>
              <a:uFillTx/>
              <a:latin typeface="Calibri"/>
              <a:ea typeface=""/>
              <a:cs typeface="News Gothic MT"/>
            </a:endParaRPr>
          </a:p>
        </p:txBody>
      </p:sp>
      <p:sp>
        <p:nvSpPr>
          <p:cNvPr id="4" name="Rectangle 3"/>
          <p:cNvSpPr/>
          <p:nvPr/>
        </p:nvSpPr>
        <p:spPr>
          <a:xfrm>
            <a:off x="149087" y="802524"/>
            <a:ext cx="8915400" cy="5595731"/>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a:lstStyle/>
          <a:p>
            <a:pPr marL="342900" marR="0" lvl="0" indent="-342900" defTabSz="914400" eaLnBrk="1" fontAlgn="auto" latinLnBrk="0" hangingPunct="1">
              <a:lnSpc>
                <a:spcPct val="100000"/>
              </a:lnSpc>
              <a:spcBef>
                <a:spcPts val="0"/>
              </a:spcBef>
              <a:spcAft>
                <a:spcPts val="0"/>
              </a:spcAft>
              <a:buClrTx/>
              <a:buSzTx/>
              <a:buFont typeface="+mj-lt"/>
              <a:buNone/>
              <a:tabLst/>
              <a:defRPr/>
            </a:pPr>
            <a:endParaRPr lang="en-GB" sz="2000" dirty="0">
              <a:solidFill>
                <a:schemeClr val="tx1"/>
              </a:solidFill>
            </a:endParaRPr>
          </a:p>
        </p:txBody>
      </p:sp>
      <p:sp>
        <p:nvSpPr>
          <p:cNvPr id="6" name="TextBox 5"/>
          <p:cNvSpPr txBox="1"/>
          <p:nvPr/>
        </p:nvSpPr>
        <p:spPr>
          <a:xfrm>
            <a:off x="149087" y="776887"/>
            <a:ext cx="8915400" cy="4524315"/>
          </a:xfrm>
          <a:custGeom>
            <a:avLst/>
            <a:gdLst>
              <a:gd name="connsiteX0" fmla="*/ 0 w 8915400"/>
              <a:gd name="connsiteY0" fmla="*/ 0 h 7848302"/>
              <a:gd name="connsiteX1" fmla="*/ 8915400 w 8915400"/>
              <a:gd name="connsiteY1" fmla="*/ 0 h 7848302"/>
              <a:gd name="connsiteX2" fmla="*/ 8915400 w 8915400"/>
              <a:gd name="connsiteY2" fmla="*/ 7848302 h 7848302"/>
              <a:gd name="connsiteX3" fmla="*/ 0 w 8915400"/>
              <a:gd name="connsiteY3" fmla="*/ 7848302 h 7848302"/>
              <a:gd name="connsiteX4" fmla="*/ 0 w 8915400"/>
              <a:gd name="connsiteY4" fmla="*/ 0 h 7848302"/>
              <a:gd name="connsiteX0" fmla="*/ 0 w 8915400"/>
              <a:gd name="connsiteY0" fmla="*/ 244698 h 7848302"/>
              <a:gd name="connsiteX1" fmla="*/ 8915400 w 8915400"/>
              <a:gd name="connsiteY1" fmla="*/ 0 h 7848302"/>
              <a:gd name="connsiteX2" fmla="*/ 8915400 w 8915400"/>
              <a:gd name="connsiteY2" fmla="*/ 7848302 h 7848302"/>
              <a:gd name="connsiteX3" fmla="*/ 0 w 8915400"/>
              <a:gd name="connsiteY3" fmla="*/ 7848302 h 7848302"/>
              <a:gd name="connsiteX4" fmla="*/ 0 w 8915400"/>
              <a:gd name="connsiteY4" fmla="*/ 244698 h 7848302"/>
              <a:gd name="connsiteX0" fmla="*/ 0 w 8915400"/>
              <a:gd name="connsiteY0" fmla="*/ 25758 h 7629362"/>
              <a:gd name="connsiteX1" fmla="*/ 8915400 w 8915400"/>
              <a:gd name="connsiteY1" fmla="*/ 0 h 7629362"/>
              <a:gd name="connsiteX2" fmla="*/ 8915400 w 8915400"/>
              <a:gd name="connsiteY2" fmla="*/ 7629362 h 7629362"/>
              <a:gd name="connsiteX3" fmla="*/ 0 w 8915400"/>
              <a:gd name="connsiteY3" fmla="*/ 7629362 h 7629362"/>
              <a:gd name="connsiteX4" fmla="*/ 0 w 8915400"/>
              <a:gd name="connsiteY4" fmla="*/ 25758 h 76293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915400" h="7629362">
                <a:moveTo>
                  <a:pt x="0" y="25758"/>
                </a:moveTo>
                <a:lnTo>
                  <a:pt x="8915400" y="0"/>
                </a:lnTo>
                <a:lnTo>
                  <a:pt x="8915400" y="7629362"/>
                </a:lnTo>
                <a:lnTo>
                  <a:pt x="0" y="7629362"/>
                </a:lnTo>
                <a:lnTo>
                  <a:pt x="0" y="25758"/>
                </a:lnTo>
                <a:close/>
              </a:path>
            </a:pathLst>
          </a:custGeom>
          <a:noFill/>
        </p:spPr>
        <p:txBody>
          <a:bodyPr wrap="square" rtlCol="0">
            <a:spAutoFit/>
          </a:bodyPr>
          <a:lstStyle/>
          <a:p>
            <a:pPr marL="457200" indent="-457200">
              <a:buFont typeface="+mj-lt"/>
              <a:buAutoNum type="arabicPeriod"/>
            </a:pPr>
            <a:r>
              <a:rPr lang="en-GB" sz="2400" dirty="0" smtClean="0"/>
              <a:t>What type of bond do all alkenes contain?</a:t>
            </a:r>
          </a:p>
          <a:p>
            <a:pPr marL="457200" indent="-457200">
              <a:buFont typeface="+mj-lt"/>
              <a:buAutoNum type="arabicPeriod"/>
            </a:pPr>
            <a:endParaRPr lang="en-GB" sz="2400" dirty="0" smtClean="0"/>
          </a:p>
          <a:p>
            <a:pPr marL="457200" indent="-457200">
              <a:buFont typeface="+mj-lt"/>
              <a:buAutoNum type="arabicPeriod"/>
            </a:pPr>
            <a:r>
              <a:rPr lang="en-GB" sz="2400" dirty="0" smtClean="0"/>
              <a:t>What is the general formula for the homologous series of alkenes?</a:t>
            </a:r>
          </a:p>
          <a:p>
            <a:pPr marL="457200" indent="-457200">
              <a:buFont typeface="+mj-lt"/>
              <a:buAutoNum type="arabicPeriod"/>
            </a:pPr>
            <a:endParaRPr lang="en-GB" sz="2400" dirty="0" smtClean="0"/>
          </a:p>
          <a:p>
            <a:pPr marL="457200" indent="-457200">
              <a:buFont typeface="+mj-lt"/>
              <a:buAutoNum type="arabicPeriod"/>
            </a:pPr>
            <a:r>
              <a:rPr lang="en-GB" sz="2400" dirty="0" smtClean="0"/>
              <a:t>Why are alkenes unsaturated?</a:t>
            </a:r>
          </a:p>
          <a:p>
            <a:pPr marL="457200" indent="-457200">
              <a:buFont typeface="+mj-lt"/>
              <a:buAutoNum type="arabicPeriod"/>
            </a:pPr>
            <a:endParaRPr lang="en-GB" sz="2400" dirty="0" smtClean="0"/>
          </a:p>
          <a:p>
            <a:pPr marL="457200" indent="-457200">
              <a:buFont typeface="+mj-lt"/>
              <a:buAutoNum type="arabicPeriod"/>
            </a:pPr>
            <a:r>
              <a:rPr lang="en-GB" sz="2400" dirty="0" smtClean="0"/>
              <a:t>What are the first four members of the homologous series of alkenes?</a:t>
            </a:r>
            <a:r>
              <a:rPr lang="en-GB" sz="2400" dirty="0"/>
              <a:t> </a:t>
            </a:r>
            <a:endParaRPr lang="en-GB" sz="2400" dirty="0" smtClean="0"/>
          </a:p>
          <a:p>
            <a:pPr marL="457200" indent="-457200">
              <a:buFont typeface="+mj-lt"/>
              <a:buAutoNum type="arabicPeriod"/>
            </a:pPr>
            <a:endParaRPr lang="en-GB" sz="2400" dirty="0" smtClean="0"/>
          </a:p>
          <a:p>
            <a:pPr marL="457200" indent="-457200">
              <a:buFont typeface="+mj-lt"/>
              <a:buAutoNum type="arabicPeriod"/>
            </a:pPr>
            <a:r>
              <a:rPr lang="en-GB" sz="2400" dirty="0" smtClean="0"/>
              <a:t>What </a:t>
            </a:r>
            <a:r>
              <a:rPr lang="en-GB" sz="2400" dirty="0"/>
              <a:t>would be the formula of an alkene that contained 18 hydrogen </a:t>
            </a:r>
            <a:r>
              <a:rPr lang="en-GB" sz="2400" dirty="0" smtClean="0"/>
              <a:t>atoms?</a:t>
            </a:r>
          </a:p>
          <a:p>
            <a:pPr marL="457200" indent="-457200">
              <a:buFont typeface="+mj-lt"/>
              <a:buAutoNum type="arabicPeriod"/>
            </a:pPr>
            <a:endParaRPr lang="en-GB" sz="2400" dirty="0" smtClean="0"/>
          </a:p>
        </p:txBody>
      </p:sp>
    </p:spTree>
    <p:extLst>
      <p:ext uri="{BB962C8B-B14F-4D97-AF65-F5344CB8AC3E}">
        <p14:creationId xmlns:p14="http://schemas.microsoft.com/office/powerpoint/2010/main" val="1722097627"/>
      </p:ext>
    </p:extLst>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043608" y="0"/>
            <a:ext cx="8100392" cy="657041"/>
          </a:xfrm>
        </p:spPr>
        <p:txBody>
          <a:bodyPr>
            <a:noAutofit/>
          </a:bodyPr>
          <a:lstStyle/>
          <a:p>
            <a:pPr marL="342900" lvl="1" algn="r" defTabSz="342900" rtl="0">
              <a:spcBef>
                <a:spcPct val="20000"/>
              </a:spcBef>
            </a:pPr>
            <a:r>
              <a:rPr lang="en-US" sz="2000" b="1" kern="1200" dirty="0">
                <a:solidFill>
                  <a:schemeClr val="accent6"/>
                </a:solidFill>
                <a:latin typeface="Calibri"/>
                <a:ea typeface=""/>
                <a:cs typeface="News Gothic MT"/>
              </a:rPr>
              <a:t>Structure, formula and reactions of alkenes (Chemistry only) </a:t>
            </a:r>
            <a:r>
              <a:rPr kumimoji="0" lang="en-US" sz="2000" b="1" i="0" u="none" strike="noStrike" kern="1200" cap="none" spc="0" normalizeH="0" baseline="0" noProof="0" dirty="0" err="1">
                <a:ln>
                  <a:noFill/>
                </a:ln>
                <a:solidFill>
                  <a:schemeClr val="tx1"/>
                </a:solidFill>
                <a:effectLst/>
                <a:uLnTx/>
                <a:uFillTx/>
                <a:latin typeface="Calibri"/>
                <a:ea typeface=""/>
                <a:cs typeface="News Gothic MT"/>
              </a:rPr>
              <a:t>QuestionIT</a:t>
            </a:r>
            <a:endParaRPr kumimoji="0" lang="en-US" sz="2000" b="1" i="0" u="none" strike="noStrike" kern="1200" cap="none" spc="0" normalizeH="0" baseline="0" noProof="0" dirty="0">
              <a:ln>
                <a:noFill/>
              </a:ln>
              <a:solidFill>
                <a:schemeClr val="tx1"/>
              </a:solidFill>
              <a:effectLst/>
              <a:uLnTx/>
              <a:uFillTx/>
              <a:latin typeface="Calibri"/>
              <a:ea typeface=""/>
              <a:cs typeface="News Gothic MT"/>
            </a:endParaRPr>
          </a:p>
        </p:txBody>
      </p:sp>
      <p:sp>
        <p:nvSpPr>
          <p:cNvPr id="4" name="Rectangle 3"/>
          <p:cNvSpPr/>
          <p:nvPr/>
        </p:nvSpPr>
        <p:spPr>
          <a:xfrm>
            <a:off x="149087" y="802524"/>
            <a:ext cx="8915400" cy="5595731"/>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a:lstStyle/>
          <a:p>
            <a:pPr marL="342900" marR="0" lvl="0" indent="-342900" defTabSz="914400" eaLnBrk="1" fontAlgn="auto" latinLnBrk="0" hangingPunct="1">
              <a:lnSpc>
                <a:spcPct val="100000"/>
              </a:lnSpc>
              <a:spcBef>
                <a:spcPts val="0"/>
              </a:spcBef>
              <a:spcAft>
                <a:spcPts val="0"/>
              </a:spcAft>
              <a:buClrTx/>
              <a:buSzTx/>
              <a:buFont typeface="+mj-lt"/>
              <a:buNone/>
              <a:tabLst/>
              <a:defRPr/>
            </a:pPr>
            <a:endParaRPr lang="en-GB" sz="2000" dirty="0">
              <a:solidFill>
                <a:schemeClr val="tx1"/>
              </a:solidFill>
            </a:endParaRPr>
          </a:p>
        </p:txBody>
      </p:sp>
      <p:sp>
        <p:nvSpPr>
          <p:cNvPr id="6" name="TextBox 5"/>
          <p:cNvSpPr txBox="1"/>
          <p:nvPr/>
        </p:nvSpPr>
        <p:spPr>
          <a:xfrm>
            <a:off x="149087" y="776887"/>
            <a:ext cx="8915400" cy="3908762"/>
          </a:xfrm>
          <a:custGeom>
            <a:avLst/>
            <a:gdLst>
              <a:gd name="connsiteX0" fmla="*/ 0 w 8915400"/>
              <a:gd name="connsiteY0" fmla="*/ 0 h 7848302"/>
              <a:gd name="connsiteX1" fmla="*/ 8915400 w 8915400"/>
              <a:gd name="connsiteY1" fmla="*/ 0 h 7848302"/>
              <a:gd name="connsiteX2" fmla="*/ 8915400 w 8915400"/>
              <a:gd name="connsiteY2" fmla="*/ 7848302 h 7848302"/>
              <a:gd name="connsiteX3" fmla="*/ 0 w 8915400"/>
              <a:gd name="connsiteY3" fmla="*/ 7848302 h 7848302"/>
              <a:gd name="connsiteX4" fmla="*/ 0 w 8915400"/>
              <a:gd name="connsiteY4" fmla="*/ 0 h 7848302"/>
              <a:gd name="connsiteX0" fmla="*/ 0 w 8915400"/>
              <a:gd name="connsiteY0" fmla="*/ 244698 h 7848302"/>
              <a:gd name="connsiteX1" fmla="*/ 8915400 w 8915400"/>
              <a:gd name="connsiteY1" fmla="*/ 0 h 7848302"/>
              <a:gd name="connsiteX2" fmla="*/ 8915400 w 8915400"/>
              <a:gd name="connsiteY2" fmla="*/ 7848302 h 7848302"/>
              <a:gd name="connsiteX3" fmla="*/ 0 w 8915400"/>
              <a:gd name="connsiteY3" fmla="*/ 7848302 h 7848302"/>
              <a:gd name="connsiteX4" fmla="*/ 0 w 8915400"/>
              <a:gd name="connsiteY4" fmla="*/ 244698 h 7848302"/>
              <a:gd name="connsiteX0" fmla="*/ 0 w 8915400"/>
              <a:gd name="connsiteY0" fmla="*/ 25758 h 7629362"/>
              <a:gd name="connsiteX1" fmla="*/ 8915400 w 8915400"/>
              <a:gd name="connsiteY1" fmla="*/ 0 h 7629362"/>
              <a:gd name="connsiteX2" fmla="*/ 8915400 w 8915400"/>
              <a:gd name="connsiteY2" fmla="*/ 7629362 h 7629362"/>
              <a:gd name="connsiteX3" fmla="*/ 0 w 8915400"/>
              <a:gd name="connsiteY3" fmla="*/ 7629362 h 7629362"/>
              <a:gd name="connsiteX4" fmla="*/ 0 w 8915400"/>
              <a:gd name="connsiteY4" fmla="*/ 25758 h 76293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915400" h="7629362">
                <a:moveTo>
                  <a:pt x="0" y="25758"/>
                </a:moveTo>
                <a:lnTo>
                  <a:pt x="8915400" y="0"/>
                </a:lnTo>
                <a:lnTo>
                  <a:pt x="8915400" y="7629362"/>
                </a:lnTo>
                <a:lnTo>
                  <a:pt x="0" y="7629362"/>
                </a:lnTo>
                <a:lnTo>
                  <a:pt x="0" y="25758"/>
                </a:lnTo>
                <a:close/>
              </a:path>
            </a:pathLst>
          </a:custGeom>
          <a:noFill/>
        </p:spPr>
        <p:txBody>
          <a:bodyPr wrap="square" rtlCol="0">
            <a:spAutoFit/>
          </a:bodyPr>
          <a:lstStyle/>
          <a:p>
            <a:endParaRPr lang="en-GB" sz="2400" dirty="0" smtClean="0"/>
          </a:p>
          <a:p>
            <a:pPr marL="457200" indent="-457200">
              <a:buFont typeface="+mj-lt"/>
              <a:buAutoNum type="arabicPeriod" startAt="6"/>
            </a:pPr>
            <a:r>
              <a:rPr lang="en-GB" sz="2400" dirty="0" smtClean="0"/>
              <a:t>Draw </a:t>
            </a:r>
            <a:r>
              <a:rPr lang="en-GB" sz="2400" dirty="0"/>
              <a:t>the structural formula of butane </a:t>
            </a:r>
            <a:r>
              <a:rPr lang="en-GB" sz="2400" dirty="0" smtClean="0"/>
              <a:t>C</a:t>
            </a:r>
            <a:r>
              <a:rPr lang="en-GB" sz="2400" baseline="-25000" dirty="0" smtClean="0"/>
              <a:t>4</a:t>
            </a:r>
            <a:r>
              <a:rPr lang="en-GB" sz="2400" dirty="0" smtClean="0"/>
              <a:t>H</a:t>
            </a:r>
            <a:r>
              <a:rPr lang="en-GB" sz="2400" baseline="-25000" dirty="0" smtClean="0"/>
              <a:t>8</a:t>
            </a:r>
          </a:p>
          <a:p>
            <a:pPr marL="457200" indent="-457200">
              <a:buFont typeface="+mj-lt"/>
              <a:buAutoNum type="arabicPeriod" startAt="6"/>
            </a:pPr>
            <a:endParaRPr lang="en-GB" sz="2400" baseline="-25000" dirty="0" smtClean="0"/>
          </a:p>
          <a:p>
            <a:pPr marL="457200" indent="-457200">
              <a:buFont typeface="+mj-lt"/>
              <a:buAutoNum type="arabicPeriod" startAt="6"/>
            </a:pPr>
            <a:r>
              <a:rPr lang="en-GB" sz="2400" dirty="0" smtClean="0"/>
              <a:t>Write </a:t>
            </a:r>
            <a:r>
              <a:rPr lang="en-GB" sz="2400" dirty="0"/>
              <a:t>the balanced symbol equation for the incomplete combustion of octane C</a:t>
            </a:r>
            <a:r>
              <a:rPr lang="en-GB" sz="2400" baseline="-25000" dirty="0"/>
              <a:t>8</a:t>
            </a:r>
            <a:r>
              <a:rPr lang="en-GB" sz="2400" dirty="0"/>
              <a:t>H</a:t>
            </a:r>
            <a:r>
              <a:rPr lang="en-GB" sz="2400" baseline="-25000" dirty="0"/>
              <a:t>16</a:t>
            </a:r>
            <a:r>
              <a:rPr lang="en-GB" sz="2400" dirty="0"/>
              <a:t> to produce carbon monoxide and </a:t>
            </a:r>
            <a:r>
              <a:rPr lang="en-GB" sz="2400" dirty="0" smtClean="0"/>
              <a:t>water.</a:t>
            </a:r>
          </a:p>
          <a:p>
            <a:pPr marL="457200" indent="-457200">
              <a:buFont typeface="+mj-lt"/>
              <a:buAutoNum type="arabicPeriod" startAt="6"/>
            </a:pPr>
            <a:endParaRPr lang="en-GB" sz="2400" dirty="0" smtClean="0"/>
          </a:p>
          <a:p>
            <a:pPr marL="457200" indent="-457200">
              <a:buFont typeface="+mj-lt"/>
              <a:buAutoNum type="arabicPeriod" startAt="6"/>
            </a:pPr>
            <a:r>
              <a:rPr lang="en-GB" sz="2400" dirty="0" smtClean="0"/>
              <a:t>What </a:t>
            </a:r>
            <a:r>
              <a:rPr lang="en-GB" sz="2400" dirty="0"/>
              <a:t>alcohol will be produced when water reacts with </a:t>
            </a:r>
            <a:r>
              <a:rPr lang="en-GB" sz="2400" dirty="0" smtClean="0"/>
              <a:t>butane?</a:t>
            </a:r>
          </a:p>
          <a:p>
            <a:pPr marL="457200" indent="-457200">
              <a:buFont typeface="+mj-lt"/>
              <a:buAutoNum type="arabicPeriod" startAt="6"/>
            </a:pPr>
            <a:endParaRPr lang="en-GB" sz="2400" dirty="0" smtClean="0"/>
          </a:p>
          <a:p>
            <a:pPr marL="457200" indent="-457200">
              <a:buFont typeface="+mj-lt"/>
              <a:buAutoNum type="arabicPeriod" startAt="6"/>
            </a:pPr>
            <a:r>
              <a:rPr lang="en-GB" sz="2400" dirty="0" smtClean="0"/>
              <a:t>What </a:t>
            </a:r>
            <a:r>
              <a:rPr lang="en-GB" sz="2400" dirty="0"/>
              <a:t>chemical is produced when bromine reacts with pentene?</a:t>
            </a:r>
          </a:p>
          <a:p>
            <a:endParaRPr lang="en-GB" sz="2400" baseline="-25000" dirty="0"/>
          </a:p>
        </p:txBody>
      </p:sp>
    </p:spTree>
    <p:extLst>
      <p:ext uri="{BB962C8B-B14F-4D97-AF65-F5344CB8AC3E}">
        <p14:creationId xmlns:p14="http://schemas.microsoft.com/office/powerpoint/2010/main" val="602418963"/>
      </p:ext>
    </p:extLst>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149087" y="802524"/>
            <a:ext cx="8915400" cy="5595731"/>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a:lstStyle/>
          <a:p>
            <a:pPr marL="342900" marR="0" lvl="0" indent="-342900" defTabSz="914400" eaLnBrk="1" fontAlgn="auto" latinLnBrk="0" hangingPunct="1">
              <a:lnSpc>
                <a:spcPct val="100000"/>
              </a:lnSpc>
              <a:spcBef>
                <a:spcPts val="0"/>
              </a:spcBef>
              <a:spcAft>
                <a:spcPts val="0"/>
              </a:spcAft>
              <a:buClrTx/>
              <a:buSzTx/>
              <a:buFont typeface="+mj-lt"/>
              <a:buNone/>
              <a:tabLst/>
              <a:defRPr/>
            </a:pPr>
            <a:endParaRPr lang="en-GB" sz="2000" dirty="0">
              <a:solidFill>
                <a:schemeClr val="tx1"/>
              </a:solidFill>
            </a:endParaRPr>
          </a:p>
        </p:txBody>
      </p:sp>
      <p:sp>
        <p:nvSpPr>
          <p:cNvPr id="7" name="TextBox 6"/>
          <p:cNvSpPr txBox="1"/>
          <p:nvPr/>
        </p:nvSpPr>
        <p:spPr>
          <a:xfrm>
            <a:off x="0" y="980728"/>
            <a:ext cx="4716016" cy="4278094"/>
          </a:xfrm>
          <a:prstGeom prst="rect">
            <a:avLst/>
          </a:prstGeom>
          <a:noFill/>
        </p:spPr>
        <p:txBody>
          <a:bodyPr wrap="square" rtlCol="0">
            <a:spAutoFit/>
          </a:bodyPr>
          <a:lstStyle/>
          <a:p>
            <a:r>
              <a:rPr lang="en-GB" sz="7200" b="1" dirty="0">
                <a:latin typeface="+mj-lt"/>
                <a:ea typeface="Beirut" charset="-78"/>
                <a:cs typeface="Beirut" charset="-78"/>
              </a:rPr>
              <a:t>AnswerIT!</a:t>
            </a:r>
          </a:p>
          <a:p>
            <a:endParaRPr lang="en-GB" dirty="0"/>
          </a:p>
          <a:p>
            <a:endParaRPr lang="en-GB" dirty="0"/>
          </a:p>
          <a:p>
            <a:endParaRPr lang="en-GB" dirty="0"/>
          </a:p>
          <a:p>
            <a:r>
              <a:rPr lang="en-GB" sz="2800" b="1" dirty="0">
                <a:solidFill>
                  <a:schemeClr val="tx1">
                    <a:lumMod val="50000"/>
                    <a:lumOff val="50000"/>
                  </a:schemeClr>
                </a:solidFill>
              </a:rPr>
              <a:t>Reactions of alkenes</a:t>
            </a:r>
          </a:p>
          <a:p>
            <a:r>
              <a:rPr lang="en-GB" sz="2800" b="1" dirty="0">
                <a:solidFill>
                  <a:schemeClr val="tx1">
                    <a:lumMod val="50000"/>
                    <a:lumOff val="50000"/>
                  </a:schemeClr>
                </a:solidFill>
              </a:rPr>
              <a:t>(Chemistry only)</a:t>
            </a:r>
          </a:p>
          <a:p>
            <a:pPr marL="457200" indent="-457200">
              <a:buFont typeface="Arial" charset="0"/>
              <a:buChar char="•"/>
            </a:pPr>
            <a:r>
              <a:rPr lang="en-GB" sz="2400" b="1" dirty="0">
                <a:solidFill>
                  <a:schemeClr val="tx1">
                    <a:lumMod val="50000"/>
                    <a:lumOff val="50000"/>
                  </a:schemeClr>
                </a:solidFill>
              </a:rPr>
              <a:t>Structure and formulae </a:t>
            </a:r>
          </a:p>
          <a:p>
            <a:r>
              <a:rPr lang="en-GB" sz="2400" b="1" dirty="0">
                <a:solidFill>
                  <a:schemeClr val="tx1">
                    <a:lumMod val="50000"/>
                    <a:lumOff val="50000"/>
                  </a:schemeClr>
                </a:solidFill>
              </a:rPr>
              <a:t>         of alkenes</a:t>
            </a:r>
          </a:p>
          <a:p>
            <a:pPr marL="285750" indent="-285750">
              <a:buFont typeface="Arial" panose="020B0604020202020204" pitchFamily="34" charset="0"/>
              <a:buChar char="•"/>
            </a:pPr>
            <a:r>
              <a:rPr lang="en-GB" sz="2400" b="1" dirty="0">
                <a:solidFill>
                  <a:schemeClr val="tx1">
                    <a:lumMod val="50000"/>
                    <a:lumOff val="50000"/>
                  </a:schemeClr>
                </a:solidFill>
              </a:rPr>
              <a:t>   Reactions of alkenes</a:t>
            </a:r>
          </a:p>
          <a:p>
            <a:endParaRPr lang="en-GB" dirty="0"/>
          </a:p>
        </p:txBody>
      </p:sp>
      <p:pic>
        <p:nvPicPr>
          <p:cNvPr id="6" name="Picture 5"/>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139952" y="704918"/>
            <a:ext cx="4824536" cy="5257800"/>
          </a:xfrm>
          <a:prstGeom prst="rect">
            <a:avLst/>
          </a:prstGeom>
        </p:spPr>
      </p:pic>
    </p:spTree>
    <p:extLst>
      <p:ext uri="{BB962C8B-B14F-4D97-AF65-F5344CB8AC3E}">
        <p14:creationId xmlns:p14="http://schemas.microsoft.com/office/powerpoint/2010/main" val="1535306539"/>
      </p:ext>
    </p:extLst>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043608" y="0"/>
            <a:ext cx="8100392" cy="657041"/>
          </a:xfrm>
        </p:spPr>
        <p:txBody>
          <a:bodyPr>
            <a:noAutofit/>
          </a:bodyPr>
          <a:lstStyle/>
          <a:p>
            <a:pPr marL="342900" lvl="1" algn="r" defTabSz="342900" rtl="0">
              <a:spcBef>
                <a:spcPct val="20000"/>
              </a:spcBef>
            </a:pPr>
            <a:r>
              <a:rPr lang="en-US" sz="2000" b="1" kern="1200" dirty="0">
                <a:solidFill>
                  <a:schemeClr val="accent6"/>
                </a:solidFill>
                <a:latin typeface="Calibri"/>
                <a:ea typeface=""/>
                <a:cs typeface="News Gothic MT"/>
              </a:rPr>
              <a:t>Structure, formula and reactions of alkenes (Chemistry only) </a:t>
            </a:r>
            <a:r>
              <a:rPr kumimoji="0" lang="en-US" sz="2000" b="1" i="0" u="none" strike="noStrike" kern="1200" cap="none" spc="0" normalizeH="0" baseline="0" noProof="0" dirty="0" err="1">
                <a:ln>
                  <a:noFill/>
                </a:ln>
                <a:solidFill>
                  <a:schemeClr val="tx1"/>
                </a:solidFill>
                <a:effectLst/>
                <a:uLnTx/>
                <a:uFillTx/>
                <a:latin typeface="Calibri"/>
                <a:ea typeface=""/>
                <a:cs typeface="News Gothic MT"/>
              </a:rPr>
              <a:t>QuestionIT</a:t>
            </a:r>
            <a:endParaRPr kumimoji="0" lang="en-US" sz="2000" b="1" i="0" u="none" strike="noStrike" kern="1200" cap="none" spc="0" normalizeH="0" baseline="0" noProof="0" dirty="0">
              <a:ln>
                <a:noFill/>
              </a:ln>
              <a:solidFill>
                <a:schemeClr val="tx1"/>
              </a:solidFill>
              <a:effectLst/>
              <a:uLnTx/>
              <a:uFillTx/>
              <a:latin typeface="Calibri"/>
              <a:ea typeface=""/>
              <a:cs typeface="News Gothic MT"/>
            </a:endParaRPr>
          </a:p>
        </p:txBody>
      </p:sp>
      <p:sp>
        <p:nvSpPr>
          <p:cNvPr id="4" name="Rectangle 3"/>
          <p:cNvSpPr/>
          <p:nvPr/>
        </p:nvSpPr>
        <p:spPr>
          <a:xfrm>
            <a:off x="149087" y="802524"/>
            <a:ext cx="8915400" cy="5595731"/>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a:lstStyle/>
          <a:p>
            <a:pPr marL="342900" marR="0" lvl="0" indent="-342900" defTabSz="914400" eaLnBrk="1" fontAlgn="auto" latinLnBrk="0" hangingPunct="1">
              <a:lnSpc>
                <a:spcPct val="100000"/>
              </a:lnSpc>
              <a:spcBef>
                <a:spcPts val="0"/>
              </a:spcBef>
              <a:spcAft>
                <a:spcPts val="0"/>
              </a:spcAft>
              <a:buClrTx/>
              <a:buSzTx/>
              <a:buFont typeface="+mj-lt"/>
              <a:buNone/>
              <a:tabLst/>
              <a:defRPr/>
            </a:pPr>
            <a:endParaRPr lang="en-GB" sz="2000" dirty="0">
              <a:solidFill>
                <a:schemeClr val="tx1"/>
              </a:solidFill>
            </a:endParaRPr>
          </a:p>
        </p:txBody>
      </p:sp>
      <p:sp>
        <p:nvSpPr>
          <p:cNvPr id="6" name="TextBox 5"/>
          <p:cNvSpPr txBox="1"/>
          <p:nvPr/>
        </p:nvSpPr>
        <p:spPr>
          <a:xfrm>
            <a:off x="149087" y="776887"/>
            <a:ext cx="8915400" cy="4893647"/>
          </a:xfrm>
          <a:custGeom>
            <a:avLst/>
            <a:gdLst>
              <a:gd name="connsiteX0" fmla="*/ 0 w 8915400"/>
              <a:gd name="connsiteY0" fmla="*/ 0 h 7848302"/>
              <a:gd name="connsiteX1" fmla="*/ 8915400 w 8915400"/>
              <a:gd name="connsiteY1" fmla="*/ 0 h 7848302"/>
              <a:gd name="connsiteX2" fmla="*/ 8915400 w 8915400"/>
              <a:gd name="connsiteY2" fmla="*/ 7848302 h 7848302"/>
              <a:gd name="connsiteX3" fmla="*/ 0 w 8915400"/>
              <a:gd name="connsiteY3" fmla="*/ 7848302 h 7848302"/>
              <a:gd name="connsiteX4" fmla="*/ 0 w 8915400"/>
              <a:gd name="connsiteY4" fmla="*/ 0 h 7848302"/>
              <a:gd name="connsiteX0" fmla="*/ 0 w 8915400"/>
              <a:gd name="connsiteY0" fmla="*/ 244698 h 7848302"/>
              <a:gd name="connsiteX1" fmla="*/ 8915400 w 8915400"/>
              <a:gd name="connsiteY1" fmla="*/ 0 h 7848302"/>
              <a:gd name="connsiteX2" fmla="*/ 8915400 w 8915400"/>
              <a:gd name="connsiteY2" fmla="*/ 7848302 h 7848302"/>
              <a:gd name="connsiteX3" fmla="*/ 0 w 8915400"/>
              <a:gd name="connsiteY3" fmla="*/ 7848302 h 7848302"/>
              <a:gd name="connsiteX4" fmla="*/ 0 w 8915400"/>
              <a:gd name="connsiteY4" fmla="*/ 244698 h 7848302"/>
              <a:gd name="connsiteX0" fmla="*/ 0 w 8915400"/>
              <a:gd name="connsiteY0" fmla="*/ 25758 h 7629362"/>
              <a:gd name="connsiteX1" fmla="*/ 8915400 w 8915400"/>
              <a:gd name="connsiteY1" fmla="*/ 0 h 7629362"/>
              <a:gd name="connsiteX2" fmla="*/ 8915400 w 8915400"/>
              <a:gd name="connsiteY2" fmla="*/ 7629362 h 7629362"/>
              <a:gd name="connsiteX3" fmla="*/ 0 w 8915400"/>
              <a:gd name="connsiteY3" fmla="*/ 7629362 h 7629362"/>
              <a:gd name="connsiteX4" fmla="*/ 0 w 8915400"/>
              <a:gd name="connsiteY4" fmla="*/ 25758 h 76293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915400" h="7629362">
                <a:moveTo>
                  <a:pt x="0" y="25758"/>
                </a:moveTo>
                <a:lnTo>
                  <a:pt x="8915400" y="0"/>
                </a:lnTo>
                <a:lnTo>
                  <a:pt x="8915400" y="7629362"/>
                </a:lnTo>
                <a:lnTo>
                  <a:pt x="0" y="7629362"/>
                </a:lnTo>
                <a:lnTo>
                  <a:pt x="0" y="25758"/>
                </a:lnTo>
                <a:close/>
              </a:path>
            </a:pathLst>
          </a:custGeom>
          <a:noFill/>
        </p:spPr>
        <p:txBody>
          <a:bodyPr wrap="square" rtlCol="0">
            <a:spAutoFit/>
          </a:bodyPr>
          <a:lstStyle/>
          <a:p>
            <a:pPr marL="457200" indent="-457200">
              <a:buFont typeface="+mj-lt"/>
              <a:buAutoNum type="arabicPeriod"/>
            </a:pPr>
            <a:r>
              <a:rPr lang="en-GB" sz="2400" dirty="0" smtClean="0"/>
              <a:t>What type of bond do all alkenes contain?</a:t>
            </a:r>
          </a:p>
          <a:p>
            <a:pPr lvl="1"/>
            <a:r>
              <a:rPr lang="en-GB" sz="2400" dirty="0" smtClean="0">
                <a:solidFill>
                  <a:srgbClr val="00B050"/>
                </a:solidFill>
              </a:rPr>
              <a:t>C=C</a:t>
            </a:r>
            <a:endParaRPr lang="en-GB" sz="2400" dirty="0" smtClean="0"/>
          </a:p>
          <a:p>
            <a:pPr marL="457200" indent="-457200">
              <a:buFont typeface="+mj-lt"/>
              <a:buAutoNum type="arabicPeriod"/>
            </a:pPr>
            <a:r>
              <a:rPr lang="en-GB" sz="2400" dirty="0" smtClean="0"/>
              <a:t>What is the general formula for the homologous series of alkenes?</a:t>
            </a:r>
          </a:p>
          <a:p>
            <a:pPr lvl="1"/>
            <a:r>
              <a:rPr lang="en-GB" sz="2400" dirty="0" smtClean="0">
                <a:solidFill>
                  <a:srgbClr val="00B050"/>
                </a:solidFill>
              </a:rPr>
              <a:t>C</a:t>
            </a:r>
            <a:r>
              <a:rPr lang="en-GB" sz="2400" baseline="-25000" dirty="0" smtClean="0">
                <a:solidFill>
                  <a:srgbClr val="00B050"/>
                </a:solidFill>
              </a:rPr>
              <a:t>n</a:t>
            </a:r>
            <a:r>
              <a:rPr lang="en-GB" sz="2400" dirty="0" smtClean="0">
                <a:solidFill>
                  <a:srgbClr val="00B050"/>
                </a:solidFill>
              </a:rPr>
              <a:t>H</a:t>
            </a:r>
            <a:r>
              <a:rPr lang="en-GB" sz="2400" baseline="-25000" dirty="0" smtClean="0">
                <a:solidFill>
                  <a:srgbClr val="00B050"/>
                </a:solidFill>
              </a:rPr>
              <a:t>2n</a:t>
            </a:r>
            <a:endParaRPr lang="en-GB" sz="2400" baseline="-25000" dirty="0" smtClean="0"/>
          </a:p>
          <a:p>
            <a:pPr marL="457200" indent="-457200">
              <a:buFont typeface="+mj-lt"/>
              <a:buAutoNum type="arabicPeriod"/>
            </a:pPr>
            <a:r>
              <a:rPr lang="en-GB" sz="2400" dirty="0" smtClean="0"/>
              <a:t>Why are alkenes unsaturated?</a:t>
            </a:r>
          </a:p>
          <a:p>
            <a:pPr lvl="1"/>
            <a:r>
              <a:rPr lang="en-GB" sz="2400" dirty="0" smtClean="0">
                <a:solidFill>
                  <a:srgbClr val="00B050"/>
                </a:solidFill>
              </a:rPr>
              <a:t>Contain two fewer hydrogen atoms than the alkane with the same number of carbon atoms.</a:t>
            </a:r>
            <a:endParaRPr lang="en-GB" sz="2400" dirty="0" smtClean="0"/>
          </a:p>
          <a:p>
            <a:pPr marL="457200" indent="-457200">
              <a:buFont typeface="+mj-lt"/>
              <a:buAutoNum type="arabicPeriod"/>
            </a:pPr>
            <a:r>
              <a:rPr lang="en-GB" sz="2400" dirty="0" smtClean="0"/>
              <a:t>What are the first four members of the homologous series of alkenes?</a:t>
            </a:r>
            <a:r>
              <a:rPr lang="en-GB" sz="2400" dirty="0"/>
              <a:t> </a:t>
            </a:r>
            <a:endParaRPr lang="en-GB" sz="2400" dirty="0" smtClean="0"/>
          </a:p>
          <a:p>
            <a:pPr lvl="1"/>
            <a:r>
              <a:rPr lang="en-GB" sz="2400" dirty="0" err="1" smtClean="0">
                <a:solidFill>
                  <a:srgbClr val="00B050"/>
                </a:solidFill>
              </a:rPr>
              <a:t>Ethene</a:t>
            </a:r>
            <a:r>
              <a:rPr lang="en-GB" sz="2400" dirty="0" smtClean="0">
                <a:solidFill>
                  <a:srgbClr val="00B050"/>
                </a:solidFill>
              </a:rPr>
              <a:t>, propene, butane, pentene.</a:t>
            </a:r>
            <a:endParaRPr lang="en-GB" sz="2400" dirty="0" smtClean="0"/>
          </a:p>
          <a:p>
            <a:pPr marL="457200" indent="-457200">
              <a:buFont typeface="+mj-lt"/>
              <a:buAutoNum type="arabicPeriod"/>
            </a:pPr>
            <a:r>
              <a:rPr lang="en-GB" sz="2400" dirty="0" smtClean="0"/>
              <a:t>What </a:t>
            </a:r>
            <a:r>
              <a:rPr lang="en-GB" sz="2400" dirty="0"/>
              <a:t>would be the formula of an alkene that contained 18 hydrogen </a:t>
            </a:r>
            <a:r>
              <a:rPr lang="en-GB" sz="2400" dirty="0" smtClean="0"/>
              <a:t>atoms?</a:t>
            </a:r>
          </a:p>
          <a:p>
            <a:pPr lvl="1"/>
            <a:r>
              <a:rPr lang="en-GB" sz="2400" dirty="0" smtClean="0">
                <a:solidFill>
                  <a:srgbClr val="00B050"/>
                </a:solidFill>
              </a:rPr>
              <a:t>C</a:t>
            </a:r>
            <a:r>
              <a:rPr lang="en-GB" sz="2400" baseline="-25000" dirty="0" smtClean="0">
                <a:solidFill>
                  <a:srgbClr val="00B050"/>
                </a:solidFill>
              </a:rPr>
              <a:t>18</a:t>
            </a:r>
            <a:r>
              <a:rPr lang="en-GB" sz="2400" dirty="0" smtClean="0">
                <a:solidFill>
                  <a:srgbClr val="00B050"/>
                </a:solidFill>
              </a:rPr>
              <a:t>H</a:t>
            </a:r>
            <a:r>
              <a:rPr lang="en-GB" sz="2400" baseline="-25000" dirty="0" smtClean="0">
                <a:solidFill>
                  <a:srgbClr val="00B050"/>
                </a:solidFill>
              </a:rPr>
              <a:t>36</a:t>
            </a:r>
            <a:endParaRPr lang="en-GB" sz="2400" baseline="-25000" dirty="0" smtClean="0"/>
          </a:p>
        </p:txBody>
      </p:sp>
    </p:spTree>
    <p:extLst>
      <p:ext uri="{BB962C8B-B14F-4D97-AF65-F5344CB8AC3E}">
        <p14:creationId xmlns:p14="http://schemas.microsoft.com/office/powerpoint/2010/main" val="838886619"/>
      </p:ext>
    </p:extLst>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043608" y="0"/>
            <a:ext cx="8100392" cy="657041"/>
          </a:xfrm>
        </p:spPr>
        <p:txBody>
          <a:bodyPr>
            <a:noAutofit/>
          </a:bodyPr>
          <a:lstStyle/>
          <a:p>
            <a:pPr marL="342900" lvl="1" algn="r" defTabSz="342900" rtl="0">
              <a:spcBef>
                <a:spcPct val="20000"/>
              </a:spcBef>
            </a:pPr>
            <a:r>
              <a:rPr lang="en-US" sz="2000" b="1" kern="1200" dirty="0">
                <a:solidFill>
                  <a:schemeClr val="accent6"/>
                </a:solidFill>
                <a:latin typeface="Calibri"/>
                <a:ea typeface=""/>
                <a:cs typeface="News Gothic MT"/>
              </a:rPr>
              <a:t>Structure, formula and reactions of alkenes (Chemistry only) </a:t>
            </a:r>
            <a:r>
              <a:rPr kumimoji="0" lang="en-US" sz="2000" b="1" i="0" u="none" strike="noStrike" kern="1200" cap="none" spc="0" normalizeH="0" baseline="0" noProof="0" dirty="0" err="1">
                <a:ln>
                  <a:noFill/>
                </a:ln>
                <a:solidFill>
                  <a:schemeClr val="tx1"/>
                </a:solidFill>
                <a:effectLst/>
                <a:uLnTx/>
                <a:uFillTx/>
                <a:latin typeface="Calibri"/>
                <a:ea typeface=""/>
                <a:cs typeface="News Gothic MT"/>
              </a:rPr>
              <a:t>QuestionIT</a:t>
            </a:r>
            <a:endParaRPr kumimoji="0" lang="en-US" sz="2000" b="1" i="0" u="none" strike="noStrike" kern="1200" cap="none" spc="0" normalizeH="0" baseline="0" noProof="0" dirty="0">
              <a:ln>
                <a:noFill/>
              </a:ln>
              <a:solidFill>
                <a:schemeClr val="tx1"/>
              </a:solidFill>
              <a:effectLst/>
              <a:uLnTx/>
              <a:uFillTx/>
              <a:latin typeface="Calibri"/>
              <a:ea typeface=""/>
              <a:cs typeface="News Gothic MT"/>
            </a:endParaRPr>
          </a:p>
        </p:txBody>
      </p:sp>
      <p:sp>
        <p:nvSpPr>
          <p:cNvPr id="4" name="Rectangle 3"/>
          <p:cNvSpPr/>
          <p:nvPr/>
        </p:nvSpPr>
        <p:spPr>
          <a:xfrm>
            <a:off x="149087" y="802524"/>
            <a:ext cx="8915400" cy="5595731"/>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a:lstStyle/>
          <a:p>
            <a:pPr marL="342900" marR="0" lvl="0" indent="-342900" defTabSz="914400" eaLnBrk="1" fontAlgn="auto" latinLnBrk="0" hangingPunct="1">
              <a:lnSpc>
                <a:spcPct val="100000"/>
              </a:lnSpc>
              <a:spcBef>
                <a:spcPts val="0"/>
              </a:spcBef>
              <a:spcAft>
                <a:spcPts val="0"/>
              </a:spcAft>
              <a:buClrTx/>
              <a:buSzTx/>
              <a:buFont typeface="+mj-lt"/>
              <a:buNone/>
              <a:tabLst/>
              <a:defRPr/>
            </a:pPr>
            <a:endParaRPr lang="en-GB" sz="2000" dirty="0">
              <a:solidFill>
                <a:schemeClr val="tx1"/>
              </a:solidFill>
            </a:endParaRPr>
          </a:p>
        </p:txBody>
      </p:sp>
      <p:sp>
        <p:nvSpPr>
          <p:cNvPr id="6" name="TextBox 5"/>
          <p:cNvSpPr txBox="1"/>
          <p:nvPr/>
        </p:nvSpPr>
        <p:spPr>
          <a:xfrm>
            <a:off x="149087" y="776887"/>
            <a:ext cx="8915400" cy="5447645"/>
          </a:xfrm>
          <a:custGeom>
            <a:avLst/>
            <a:gdLst>
              <a:gd name="connsiteX0" fmla="*/ 0 w 8915400"/>
              <a:gd name="connsiteY0" fmla="*/ 0 h 7848302"/>
              <a:gd name="connsiteX1" fmla="*/ 8915400 w 8915400"/>
              <a:gd name="connsiteY1" fmla="*/ 0 h 7848302"/>
              <a:gd name="connsiteX2" fmla="*/ 8915400 w 8915400"/>
              <a:gd name="connsiteY2" fmla="*/ 7848302 h 7848302"/>
              <a:gd name="connsiteX3" fmla="*/ 0 w 8915400"/>
              <a:gd name="connsiteY3" fmla="*/ 7848302 h 7848302"/>
              <a:gd name="connsiteX4" fmla="*/ 0 w 8915400"/>
              <a:gd name="connsiteY4" fmla="*/ 0 h 7848302"/>
              <a:gd name="connsiteX0" fmla="*/ 0 w 8915400"/>
              <a:gd name="connsiteY0" fmla="*/ 244698 h 7848302"/>
              <a:gd name="connsiteX1" fmla="*/ 8915400 w 8915400"/>
              <a:gd name="connsiteY1" fmla="*/ 0 h 7848302"/>
              <a:gd name="connsiteX2" fmla="*/ 8915400 w 8915400"/>
              <a:gd name="connsiteY2" fmla="*/ 7848302 h 7848302"/>
              <a:gd name="connsiteX3" fmla="*/ 0 w 8915400"/>
              <a:gd name="connsiteY3" fmla="*/ 7848302 h 7848302"/>
              <a:gd name="connsiteX4" fmla="*/ 0 w 8915400"/>
              <a:gd name="connsiteY4" fmla="*/ 244698 h 7848302"/>
              <a:gd name="connsiteX0" fmla="*/ 0 w 8915400"/>
              <a:gd name="connsiteY0" fmla="*/ 25758 h 7629362"/>
              <a:gd name="connsiteX1" fmla="*/ 8915400 w 8915400"/>
              <a:gd name="connsiteY1" fmla="*/ 0 h 7629362"/>
              <a:gd name="connsiteX2" fmla="*/ 8915400 w 8915400"/>
              <a:gd name="connsiteY2" fmla="*/ 7629362 h 7629362"/>
              <a:gd name="connsiteX3" fmla="*/ 0 w 8915400"/>
              <a:gd name="connsiteY3" fmla="*/ 7629362 h 7629362"/>
              <a:gd name="connsiteX4" fmla="*/ 0 w 8915400"/>
              <a:gd name="connsiteY4" fmla="*/ 25758 h 76293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915400" h="7629362">
                <a:moveTo>
                  <a:pt x="0" y="25758"/>
                </a:moveTo>
                <a:lnTo>
                  <a:pt x="8915400" y="0"/>
                </a:lnTo>
                <a:lnTo>
                  <a:pt x="8915400" y="7629362"/>
                </a:lnTo>
                <a:lnTo>
                  <a:pt x="0" y="7629362"/>
                </a:lnTo>
                <a:lnTo>
                  <a:pt x="0" y="25758"/>
                </a:lnTo>
                <a:close/>
              </a:path>
            </a:pathLst>
          </a:custGeom>
          <a:noFill/>
        </p:spPr>
        <p:txBody>
          <a:bodyPr wrap="square" rtlCol="0">
            <a:spAutoFit/>
          </a:bodyPr>
          <a:lstStyle/>
          <a:p>
            <a:pPr marL="457200" indent="-457200">
              <a:buFont typeface="+mj-lt"/>
              <a:buAutoNum type="arabicPeriod" startAt="6"/>
            </a:pPr>
            <a:r>
              <a:rPr lang="en-GB" sz="2400" dirty="0" smtClean="0"/>
              <a:t>Draw </a:t>
            </a:r>
            <a:r>
              <a:rPr lang="en-GB" sz="2400" dirty="0"/>
              <a:t>the structural formula of butane </a:t>
            </a:r>
            <a:r>
              <a:rPr lang="en-GB" sz="2400" dirty="0" smtClean="0"/>
              <a:t>C</a:t>
            </a:r>
            <a:r>
              <a:rPr lang="en-GB" sz="2400" baseline="-25000" dirty="0" smtClean="0"/>
              <a:t>4</a:t>
            </a:r>
            <a:r>
              <a:rPr lang="en-GB" sz="2400" dirty="0" smtClean="0"/>
              <a:t>H</a:t>
            </a:r>
            <a:r>
              <a:rPr lang="en-GB" sz="2400" baseline="-25000" dirty="0" smtClean="0"/>
              <a:t>8</a:t>
            </a:r>
          </a:p>
          <a:p>
            <a:pPr marL="457200" indent="-457200">
              <a:buFont typeface="+mj-lt"/>
              <a:buAutoNum type="arabicPeriod" startAt="6"/>
            </a:pPr>
            <a:endParaRPr lang="en-GB" sz="2400" baseline="-25000" dirty="0"/>
          </a:p>
          <a:p>
            <a:pPr marL="457200" indent="-457200">
              <a:buFont typeface="+mj-lt"/>
              <a:buAutoNum type="arabicPeriod" startAt="6"/>
            </a:pPr>
            <a:endParaRPr lang="en-GB" sz="2400" baseline="-25000" dirty="0" smtClean="0"/>
          </a:p>
          <a:p>
            <a:pPr marL="457200" indent="-457200">
              <a:buFont typeface="+mj-lt"/>
              <a:buAutoNum type="arabicPeriod" startAt="6"/>
            </a:pPr>
            <a:endParaRPr lang="en-GB" sz="2400" baseline="-25000" dirty="0" smtClean="0"/>
          </a:p>
          <a:p>
            <a:pPr marL="457200" indent="-457200">
              <a:buFont typeface="+mj-lt"/>
              <a:buAutoNum type="arabicPeriod" startAt="6"/>
            </a:pPr>
            <a:endParaRPr lang="en-GB" sz="2400" baseline="-25000" dirty="0"/>
          </a:p>
          <a:p>
            <a:pPr marL="457200" indent="-457200">
              <a:buFont typeface="+mj-lt"/>
              <a:buAutoNum type="arabicPeriod" startAt="6"/>
            </a:pPr>
            <a:endParaRPr lang="en-GB" sz="2400" baseline="-25000" dirty="0" smtClean="0"/>
          </a:p>
          <a:p>
            <a:pPr marL="457200" indent="-457200">
              <a:buFont typeface="+mj-lt"/>
              <a:buAutoNum type="arabicPeriod" startAt="6"/>
            </a:pPr>
            <a:endParaRPr lang="en-GB" sz="2400" baseline="-25000" dirty="0" smtClean="0"/>
          </a:p>
          <a:p>
            <a:pPr marL="457200" indent="-457200">
              <a:buFont typeface="+mj-lt"/>
              <a:buAutoNum type="arabicPeriod" startAt="6"/>
            </a:pPr>
            <a:r>
              <a:rPr lang="en-GB" sz="2400" dirty="0" smtClean="0"/>
              <a:t>Write </a:t>
            </a:r>
            <a:r>
              <a:rPr lang="en-GB" sz="2400" dirty="0"/>
              <a:t>the balanced symbol equation for the incomplete combustion of octane C</a:t>
            </a:r>
            <a:r>
              <a:rPr lang="en-GB" sz="2400" baseline="-25000" dirty="0"/>
              <a:t>8</a:t>
            </a:r>
            <a:r>
              <a:rPr lang="en-GB" sz="2400" dirty="0"/>
              <a:t>H</a:t>
            </a:r>
            <a:r>
              <a:rPr lang="en-GB" sz="2400" baseline="-25000" dirty="0"/>
              <a:t>16</a:t>
            </a:r>
            <a:r>
              <a:rPr lang="en-GB" sz="2400" dirty="0"/>
              <a:t> to produce carbon monoxide and </a:t>
            </a:r>
            <a:r>
              <a:rPr lang="en-GB" sz="2400" dirty="0" smtClean="0"/>
              <a:t>water.</a:t>
            </a:r>
          </a:p>
          <a:p>
            <a:pPr algn="ctr"/>
            <a:r>
              <a:rPr lang="en-GB" sz="2400" dirty="0">
                <a:solidFill>
                  <a:srgbClr val="00B050"/>
                </a:solidFill>
              </a:rPr>
              <a:t>C</a:t>
            </a:r>
            <a:r>
              <a:rPr lang="en-GB" sz="2400" baseline="-25000" dirty="0">
                <a:solidFill>
                  <a:srgbClr val="00B050"/>
                </a:solidFill>
              </a:rPr>
              <a:t>8</a:t>
            </a:r>
            <a:r>
              <a:rPr lang="en-GB" sz="2400" dirty="0">
                <a:solidFill>
                  <a:srgbClr val="00B050"/>
                </a:solidFill>
              </a:rPr>
              <a:t>H</a:t>
            </a:r>
            <a:r>
              <a:rPr lang="en-GB" sz="2400" baseline="-25000" dirty="0">
                <a:solidFill>
                  <a:srgbClr val="00B050"/>
                </a:solidFill>
              </a:rPr>
              <a:t>16  </a:t>
            </a:r>
            <a:r>
              <a:rPr lang="en-GB" sz="2400" dirty="0">
                <a:solidFill>
                  <a:srgbClr val="00B050"/>
                </a:solidFill>
              </a:rPr>
              <a:t>+   8O</a:t>
            </a:r>
            <a:r>
              <a:rPr lang="en-GB" sz="2400" baseline="-25000" dirty="0">
                <a:solidFill>
                  <a:srgbClr val="00B050"/>
                </a:solidFill>
              </a:rPr>
              <a:t>2</a:t>
            </a:r>
            <a:r>
              <a:rPr lang="en-GB" sz="2400" dirty="0">
                <a:solidFill>
                  <a:srgbClr val="00B050"/>
                </a:solidFill>
              </a:rPr>
              <a:t> </a:t>
            </a:r>
            <a:r>
              <a:rPr lang="en-GB" sz="2400" dirty="0">
                <a:solidFill>
                  <a:srgbClr val="00B050"/>
                </a:solidFill>
                <a:sym typeface="Wingdings" panose="05000000000000000000" pitchFamily="2" charset="2"/>
              </a:rPr>
              <a:t>    8CO    +    8H</a:t>
            </a:r>
            <a:r>
              <a:rPr lang="en-GB" sz="2400" baseline="-25000" dirty="0">
                <a:solidFill>
                  <a:srgbClr val="00B050"/>
                </a:solidFill>
                <a:sym typeface="Wingdings" panose="05000000000000000000" pitchFamily="2" charset="2"/>
              </a:rPr>
              <a:t>2</a:t>
            </a:r>
            <a:r>
              <a:rPr lang="en-GB" sz="2400" dirty="0">
                <a:solidFill>
                  <a:srgbClr val="00B050"/>
                </a:solidFill>
                <a:sym typeface="Wingdings" panose="05000000000000000000" pitchFamily="2" charset="2"/>
              </a:rPr>
              <a:t>O</a:t>
            </a:r>
            <a:endParaRPr lang="en-GB" sz="2400" dirty="0">
              <a:solidFill>
                <a:srgbClr val="00B050"/>
              </a:solidFill>
            </a:endParaRPr>
          </a:p>
          <a:p>
            <a:pPr marL="457200" indent="-457200">
              <a:buFont typeface="+mj-lt"/>
              <a:buAutoNum type="arabicPeriod" startAt="6"/>
            </a:pPr>
            <a:r>
              <a:rPr lang="en-GB" sz="2400" dirty="0" smtClean="0"/>
              <a:t>What </a:t>
            </a:r>
            <a:r>
              <a:rPr lang="en-GB" sz="2400" dirty="0"/>
              <a:t>alcohol will be produced when water reacts with </a:t>
            </a:r>
            <a:r>
              <a:rPr lang="en-GB" sz="2400" dirty="0" smtClean="0"/>
              <a:t>butane?</a:t>
            </a:r>
          </a:p>
          <a:p>
            <a:pPr lvl="1"/>
            <a:r>
              <a:rPr lang="en-GB" sz="2400" dirty="0" smtClean="0">
                <a:solidFill>
                  <a:srgbClr val="00B050"/>
                </a:solidFill>
              </a:rPr>
              <a:t>Butanol</a:t>
            </a:r>
          </a:p>
          <a:p>
            <a:pPr marL="457200" indent="-457200">
              <a:buFont typeface="+mj-lt"/>
              <a:buAutoNum type="arabicPeriod" startAt="6"/>
            </a:pPr>
            <a:r>
              <a:rPr lang="en-GB" sz="2400" dirty="0" smtClean="0"/>
              <a:t>What </a:t>
            </a:r>
            <a:r>
              <a:rPr lang="en-GB" sz="2400" dirty="0"/>
              <a:t>chemical is produced when bromine reacts with </a:t>
            </a:r>
            <a:r>
              <a:rPr lang="en-GB" sz="2400" dirty="0" smtClean="0"/>
              <a:t>pentene?</a:t>
            </a:r>
          </a:p>
          <a:p>
            <a:pPr lvl="1"/>
            <a:r>
              <a:rPr lang="en-GB" sz="2400" dirty="0" smtClean="0">
                <a:solidFill>
                  <a:srgbClr val="00B050"/>
                </a:solidFill>
              </a:rPr>
              <a:t>Bromopentane</a:t>
            </a:r>
            <a:endParaRPr lang="en-GB" sz="2400" dirty="0">
              <a:solidFill>
                <a:srgbClr val="00B050"/>
              </a:solidFill>
            </a:endParaRPr>
          </a:p>
          <a:p>
            <a:pPr lvl="1"/>
            <a:endParaRPr lang="en-GB" sz="2400" dirty="0"/>
          </a:p>
        </p:txBody>
      </p:sp>
      <p:pic>
        <p:nvPicPr>
          <p:cNvPr id="5" name="Picture 4"/>
          <p:cNvPicPr>
            <a:picLocks noChangeAspect="1"/>
          </p:cNvPicPr>
          <p:nvPr/>
        </p:nvPicPr>
        <p:blipFill>
          <a:blip r:embed="rId2"/>
          <a:stretch>
            <a:fillRect/>
          </a:stretch>
        </p:blipFill>
        <p:spPr>
          <a:xfrm>
            <a:off x="1043608" y="1268760"/>
            <a:ext cx="2304256" cy="1296144"/>
          </a:xfrm>
          <a:prstGeom prst="rect">
            <a:avLst/>
          </a:prstGeom>
        </p:spPr>
      </p:pic>
      <p:sp>
        <p:nvSpPr>
          <p:cNvPr id="3" name="TextBox 2"/>
          <p:cNvSpPr txBox="1"/>
          <p:nvPr/>
        </p:nvSpPr>
        <p:spPr>
          <a:xfrm>
            <a:off x="3563888" y="1268760"/>
            <a:ext cx="4896544" cy="1200329"/>
          </a:xfrm>
          <a:prstGeom prst="rect">
            <a:avLst/>
          </a:prstGeom>
          <a:noFill/>
        </p:spPr>
        <p:txBody>
          <a:bodyPr wrap="square" rtlCol="0">
            <a:spAutoFit/>
          </a:bodyPr>
          <a:lstStyle/>
          <a:p>
            <a:r>
              <a:rPr lang="en-GB" sz="2400" dirty="0">
                <a:solidFill>
                  <a:srgbClr val="00B050"/>
                </a:solidFill>
              </a:rPr>
              <a:t>The double bond could be between any two </a:t>
            </a:r>
            <a:r>
              <a:rPr lang="en-GB" sz="2400" dirty="0" smtClean="0">
                <a:solidFill>
                  <a:srgbClr val="00B050"/>
                </a:solidFill>
              </a:rPr>
              <a:t>carbons</a:t>
            </a:r>
            <a:r>
              <a:rPr lang="en-GB" sz="2400" dirty="0">
                <a:solidFill>
                  <a:srgbClr val="00B050"/>
                </a:solidFill>
              </a:rPr>
              <a:t>, but make sure each carbon only has </a:t>
            </a:r>
            <a:r>
              <a:rPr lang="en-GB" sz="2400" dirty="0" smtClean="0">
                <a:solidFill>
                  <a:srgbClr val="00B050"/>
                </a:solidFill>
              </a:rPr>
              <a:t>4 bonds.</a:t>
            </a:r>
            <a:endParaRPr lang="en-GB" sz="2400" dirty="0"/>
          </a:p>
        </p:txBody>
      </p:sp>
    </p:spTree>
    <p:extLst>
      <p:ext uri="{BB962C8B-B14F-4D97-AF65-F5344CB8AC3E}">
        <p14:creationId xmlns:p14="http://schemas.microsoft.com/office/powerpoint/2010/main" val="1877258689"/>
      </p:ext>
    </p:extLst>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149087" y="802524"/>
            <a:ext cx="8915400" cy="5595731"/>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a:lstStyle/>
          <a:p>
            <a:pPr marL="342900" marR="0" lvl="0" indent="-342900" defTabSz="914400" eaLnBrk="1" fontAlgn="auto" latinLnBrk="0" hangingPunct="1">
              <a:lnSpc>
                <a:spcPct val="100000"/>
              </a:lnSpc>
              <a:spcBef>
                <a:spcPts val="0"/>
              </a:spcBef>
              <a:spcAft>
                <a:spcPts val="0"/>
              </a:spcAft>
              <a:buClrTx/>
              <a:buSzTx/>
              <a:buFont typeface="+mj-lt"/>
              <a:buNone/>
              <a:tabLst/>
              <a:defRPr/>
            </a:pPr>
            <a:endParaRPr lang="en-GB" sz="2000" dirty="0">
              <a:solidFill>
                <a:schemeClr val="tx1"/>
              </a:solidFill>
            </a:endParaRPr>
          </a:p>
        </p:txBody>
      </p:sp>
      <p:pic>
        <p:nvPicPr>
          <p:cNvPr id="8" name="Picture 7"/>
          <p:cNvPicPr>
            <a:picLocks noChangeAspect="1"/>
          </p:cNvPicPr>
          <p:nvPr/>
        </p:nvPicPr>
        <p:blipFill>
          <a:blip r:embed="rId3">
            <a:clrChange>
              <a:clrFrom>
                <a:srgbClr val="FFFFFF"/>
              </a:clrFrom>
              <a:clrTo>
                <a:srgbClr val="FFFFFF">
                  <a:alpha val="0"/>
                </a:srgbClr>
              </a:clrTo>
            </a:clrChange>
          </a:blip>
          <a:stretch>
            <a:fillRect/>
          </a:stretch>
        </p:blipFill>
        <p:spPr>
          <a:xfrm>
            <a:off x="2642398" y="0"/>
            <a:ext cx="6538114" cy="6525344"/>
          </a:xfrm>
          <a:prstGeom prst="rect">
            <a:avLst/>
          </a:prstGeom>
        </p:spPr>
      </p:pic>
      <p:sp>
        <p:nvSpPr>
          <p:cNvPr id="7" name="TextBox 6"/>
          <p:cNvSpPr txBox="1"/>
          <p:nvPr/>
        </p:nvSpPr>
        <p:spPr>
          <a:xfrm>
            <a:off x="-22696" y="675435"/>
            <a:ext cx="4572000" cy="5109091"/>
          </a:xfrm>
          <a:prstGeom prst="rect">
            <a:avLst/>
          </a:prstGeom>
          <a:noFill/>
        </p:spPr>
        <p:txBody>
          <a:bodyPr wrap="square" rtlCol="0">
            <a:spAutoFit/>
          </a:bodyPr>
          <a:lstStyle/>
          <a:p>
            <a:r>
              <a:rPr lang="en-GB" sz="7200" b="1" dirty="0">
                <a:latin typeface="+mj-lt"/>
                <a:ea typeface="Beirut" charset="-78"/>
                <a:cs typeface="Beirut" charset="-78"/>
              </a:rPr>
              <a:t>LearnIT!</a:t>
            </a:r>
          </a:p>
          <a:p>
            <a:r>
              <a:rPr lang="en-GB" sz="7200" b="1" dirty="0">
                <a:latin typeface="+mj-lt"/>
                <a:ea typeface="Beirut" charset="-78"/>
                <a:cs typeface="Beirut" charset="-78"/>
              </a:rPr>
              <a:t>KnowIT!</a:t>
            </a:r>
          </a:p>
          <a:p>
            <a:endParaRPr lang="en-GB" dirty="0"/>
          </a:p>
          <a:p>
            <a:r>
              <a:rPr lang="en-GB" sz="2400" b="1" dirty="0">
                <a:solidFill>
                  <a:schemeClr val="tx1">
                    <a:lumMod val="50000"/>
                    <a:lumOff val="50000"/>
                  </a:schemeClr>
                </a:solidFill>
              </a:rPr>
              <a:t>Reactions of alcohols and</a:t>
            </a:r>
          </a:p>
          <a:p>
            <a:r>
              <a:rPr lang="en-GB" sz="2400" b="1" dirty="0">
                <a:solidFill>
                  <a:schemeClr val="tx1">
                    <a:lumMod val="50000"/>
                    <a:lumOff val="50000"/>
                  </a:schemeClr>
                </a:solidFill>
              </a:rPr>
              <a:t>Carboxylic acids</a:t>
            </a:r>
          </a:p>
          <a:p>
            <a:r>
              <a:rPr lang="en-GB" sz="2400" b="1" dirty="0">
                <a:solidFill>
                  <a:schemeClr val="tx1">
                    <a:lumMod val="50000"/>
                    <a:lumOff val="50000"/>
                  </a:schemeClr>
                </a:solidFill>
              </a:rPr>
              <a:t>(Chemistry only)</a:t>
            </a:r>
          </a:p>
          <a:p>
            <a:pPr marL="457200" indent="-457200">
              <a:buFont typeface="Arial" charset="0"/>
              <a:buChar char="•"/>
            </a:pPr>
            <a:r>
              <a:rPr lang="en-GB" sz="2400" b="1" dirty="0">
                <a:solidFill>
                  <a:schemeClr val="tx1">
                    <a:lumMod val="50000"/>
                    <a:lumOff val="50000"/>
                  </a:schemeClr>
                </a:solidFill>
              </a:rPr>
              <a:t>Reaction of alcohols</a:t>
            </a:r>
          </a:p>
          <a:p>
            <a:pPr marL="285750" indent="-285750">
              <a:buFont typeface="Arial" panose="020B0604020202020204" pitchFamily="34" charset="0"/>
              <a:buChar char="•"/>
            </a:pPr>
            <a:r>
              <a:rPr lang="en-GB" sz="2400" b="1" dirty="0">
                <a:solidFill>
                  <a:schemeClr val="tx1">
                    <a:lumMod val="50000"/>
                    <a:lumOff val="50000"/>
                  </a:schemeClr>
                </a:solidFill>
              </a:rPr>
              <a:t>   Reactions of carboxylic</a:t>
            </a:r>
          </a:p>
          <a:p>
            <a:r>
              <a:rPr lang="en-GB" sz="2400" b="1" dirty="0">
                <a:solidFill>
                  <a:schemeClr val="tx1">
                    <a:lumMod val="50000"/>
                    <a:lumOff val="50000"/>
                  </a:schemeClr>
                </a:solidFill>
              </a:rPr>
              <a:t>        acids</a:t>
            </a:r>
          </a:p>
          <a:p>
            <a:endParaRPr lang="en-GB" sz="2000" b="1" dirty="0">
              <a:solidFill>
                <a:schemeClr val="tx1">
                  <a:lumMod val="50000"/>
                  <a:lumOff val="50000"/>
                </a:schemeClr>
              </a:solidFill>
            </a:endParaRPr>
          </a:p>
        </p:txBody>
      </p:sp>
    </p:spTree>
    <p:extLst>
      <p:ext uri="{BB962C8B-B14F-4D97-AF65-F5344CB8AC3E}">
        <p14:creationId xmlns:p14="http://schemas.microsoft.com/office/powerpoint/2010/main" val="3345005370"/>
      </p:ext>
    </p:extLst>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156122" y="3955590"/>
            <a:ext cx="3874271" cy="2179278"/>
          </a:xfrm>
          <a:prstGeom prst="rect">
            <a:avLst/>
          </a:prstGeom>
        </p:spPr>
      </p:pic>
      <p:sp>
        <p:nvSpPr>
          <p:cNvPr id="2" name="Title 1"/>
          <p:cNvSpPr>
            <a:spLocks noGrp="1"/>
          </p:cNvSpPr>
          <p:nvPr>
            <p:ph type="ctrTitle"/>
          </p:nvPr>
        </p:nvSpPr>
        <p:spPr>
          <a:xfrm>
            <a:off x="1115616" y="-14024"/>
            <a:ext cx="8017076" cy="657041"/>
          </a:xfrm>
        </p:spPr>
        <p:txBody>
          <a:bodyPr>
            <a:noAutofit/>
          </a:bodyPr>
          <a:lstStyle/>
          <a:p>
            <a:pPr marL="342900" lvl="1" algn="r" defTabSz="342900" rtl="0">
              <a:spcBef>
                <a:spcPct val="20000"/>
              </a:spcBef>
            </a:pPr>
            <a:r>
              <a:rPr lang="en-US" sz="2100" b="1" dirty="0" smtClean="0">
                <a:solidFill>
                  <a:schemeClr val="accent6"/>
                </a:solidFill>
              </a:rPr>
              <a:t>Reactions </a:t>
            </a:r>
            <a:r>
              <a:rPr lang="en-US" sz="2100" b="1" dirty="0">
                <a:solidFill>
                  <a:schemeClr val="accent6"/>
                </a:solidFill>
              </a:rPr>
              <a:t>of alcohols (Chemistry only)</a:t>
            </a:r>
            <a:endParaRPr kumimoji="0" lang="en-US" sz="2100" b="1" i="0" u="none" strike="noStrike" kern="1200" cap="none" spc="0" normalizeH="0" baseline="0" noProof="0" dirty="0">
              <a:ln>
                <a:noFill/>
              </a:ln>
              <a:solidFill>
                <a:schemeClr val="accent6"/>
              </a:solidFill>
              <a:effectLst/>
              <a:uLnTx/>
              <a:uFillTx/>
              <a:latin typeface="Calibri"/>
              <a:ea typeface=""/>
              <a:cs typeface="News Gothic MT"/>
            </a:endParaRPr>
          </a:p>
        </p:txBody>
      </p:sp>
      <p:sp>
        <p:nvSpPr>
          <p:cNvPr id="3" name="TextBox 2"/>
          <p:cNvSpPr txBox="1"/>
          <p:nvPr/>
        </p:nvSpPr>
        <p:spPr>
          <a:xfrm>
            <a:off x="179512" y="759439"/>
            <a:ext cx="6552000" cy="400110"/>
          </a:xfrm>
          <a:custGeom>
            <a:avLst/>
            <a:gdLst>
              <a:gd name="connsiteX0" fmla="*/ 0 w 4176464"/>
              <a:gd name="connsiteY0" fmla="*/ 0 h 353943"/>
              <a:gd name="connsiteX1" fmla="*/ 4176464 w 4176464"/>
              <a:gd name="connsiteY1" fmla="*/ 0 h 353943"/>
              <a:gd name="connsiteX2" fmla="*/ 4176464 w 4176464"/>
              <a:gd name="connsiteY2" fmla="*/ 353943 h 353943"/>
              <a:gd name="connsiteX3" fmla="*/ 0 w 4176464"/>
              <a:gd name="connsiteY3" fmla="*/ 353943 h 353943"/>
              <a:gd name="connsiteX4" fmla="*/ 0 w 4176464"/>
              <a:gd name="connsiteY4" fmla="*/ 0 h 353943"/>
              <a:gd name="connsiteX0" fmla="*/ 0 w 4189342"/>
              <a:gd name="connsiteY0" fmla="*/ 0 h 418337"/>
              <a:gd name="connsiteX1" fmla="*/ 4189342 w 4189342"/>
              <a:gd name="connsiteY1" fmla="*/ 64394 h 418337"/>
              <a:gd name="connsiteX2" fmla="*/ 4189342 w 4189342"/>
              <a:gd name="connsiteY2" fmla="*/ 418337 h 418337"/>
              <a:gd name="connsiteX3" fmla="*/ 12878 w 4189342"/>
              <a:gd name="connsiteY3" fmla="*/ 418337 h 418337"/>
              <a:gd name="connsiteX4" fmla="*/ 0 w 4189342"/>
              <a:gd name="connsiteY4" fmla="*/ 0 h 418337"/>
              <a:gd name="connsiteX0" fmla="*/ 0 w 4189342"/>
              <a:gd name="connsiteY0" fmla="*/ 12879 h 431216"/>
              <a:gd name="connsiteX1" fmla="*/ 4189342 w 4189342"/>
              <a:gd name="connsiteY1" fmla="*/ 0 h 431216"/>
              <a:gd name="connsiteX2" fmla="*/ 4189342 w 4189342"/>
              <a:gd name="connsiteY2" fmla="*/ 431216 h 431216"/>
              <a:gd name="connsiteX3" fmla="*/ 12878 w 4189342"/>
              <a:gd name="connsiteY3" fmla="*/ 431216 h 431216"/>
              <a:gd name="connsiteX4" fmla="*/ 0 w 4189342"/>
              <a:gd name="connsiteY4" fmla="*/ 12879 h 431216"/>
              <a:gd name="connsiteX0" fmla="*/ 0 w 4202221"/>
              <a:gd name="connsiteY0" fmla="*/ 12879 h 431216"/>
              <a:gd name="connsiteX1" fmla="*/ 4189342 w 4202221"/>
              <a:gd name="connsiteY1" fmla="*/ 0 h 431216"/>
              <a:gd name="connsiteX2" fmla="*/ 4202221 w 4202221"/>
              <a:gd name="connsiteY2" fmla="*/ 366822 h 431216"/>
              <a:gd name="connsiteX3" fmla="*/ 12878 w 4202221"/>
              <a:gd name="connsiteY3" fmla="*/ 431216 h 431216"/>
              <a:gd name="connsiteX4" fmla="*/ 0 w 4202221"/>
              <a:gd name="connsiteY4" fmla="*/ 12879 h 431216"/>
              <a:gd name="connsiteX0" fmla="*/ 0 w 4202221"/>
              <a:gd name="connsiteY0" fmla="*/ 12879 h 366822"/>
              <a:gd name="connsiteX1" fmla="*/ 4189342 w 4202221"/>
              <a:gd name="connsiteY1" fmla="*/ 0 h 366822"/>
              <a:gd name="connsiteX2" fmla="*/ 4202221 w 4202221"/>
              <a:gd name="connsiteY2" fmla="*/ 366822 h 366822"/>
              <a:gd name="connsiteX3" fmla="*/ 12878 w 4202221"/>
              <a:gd name="connsiteY3" fmla="*/ 353943 h 366822"/>
              <a:gd name="connsiteX4" fmla="*/ 0 w 4202221"/>
              <a:gd name="connsiteY4" fmla="*/ 12879 h 366822"/>
              <a:gd name="connsiteX0" fmla="*/ 0 w 4202221"/>
              <a:gd name="connsiteY0" fmla="*/ 12879 h 366822"/>
              <a:gd name="connsiteX1" fmla="*/ 4189342 w 4202221"/>
              <a:gd name="connsiteY1" fmla="*/ 0 h 366822"/>
              <a:gd name="connsiteX2" fmla="*/ 4202221 w 4202221"/>
              <a:gd name="connsiteY2" fmla="*/ 366822 h 366822"/>
              <a:gd name="connsiteX3" fmla="*/ 12878 w 4202221"/>
              <a:gd name="connsiteY3" fmla="*/ 366822 h 366822"/>
              <a:gd name="connsiteX4" fmla="*/ 0 w 4202221"/>
              <a:gd name="connsiteY4" fmla="*/ 12879 h 366822"/>
              <a:gd name="connsiteX0" fmla="*/ 12880 w 4189343"/>
              <a:gd name="connsiteY0" fmla="*/ 12879 h 366822"/>
              <a:gd name="connsiteX1" fmla="*/ 4176464 w 4189343"/>
              <a:gd name="connsiteY1" fmla="*/ 0 h 366822"/>
              <a:gd name="connsiteX2" fmla="*/ 4189343 w 4189343"/>
              <a:gd name="connsiteY2" fmla="*/ 366822 h 366822"/>
              <a:gd name="connsiteX3" fmla="*/ 0 w 4189343"/>
              <a:gd name="connsiteY3" fmla="*/ 366822 h 366822"/>
              <a:gd name="connsiteX4" fmla="*/ 12880 w 4189343"/>
              <a:gd name="connsiteY4" fmla="*/ 12879 h 36682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189343" h="366822">
                <a:moveTo>
                  <a:pt x="12880" y="12879"/>
                </a:moveTo>
                <a:lnTo>
                  <a:pt x="4176464" y="0"/>
                </a:lnTo>
                <a:lnTo>
                  <a:pt x="4189343" y="366822"/>
                </a:lnTo>
                <a:lnTo>
                  <a:pt x="0" y="366822"/>
                </a:lnTo>
                <a:lnTo>
                  <a:pt x="12880" y="12879"/>
                </a:lnTo>
                <a:close/>
              </a:path>
            </a:pathLst>
          </a:custGeom>
          <a:noFill/>
          <a:ln w="28575">
            <a:solidFill>
              <a:schemeClr val="accent6"/>
            </a:solidFill>
          </a:ln>
        </p:spPr>
        <p:txBody>
          <a:bodyPr wrap="square" rtlCol="0">
            <a:spAutoFit/>
          </a:bodyPr>
          <a:lstStyle/>
          <a:p>
            <a:r>
              <a:rPr lang="en-GB" sz="2000" b="1" dirty="0">
                <a:solidFill>
                  <a:schemeClr val="accent6">
                    <a:lumMod val="75000"/>
                  </a:schemeClr>
                </a:solidFill>
              </a:rPr>
              <a:t>Alcohols</a:t>
            </a:r>
            <a:r>
              <a:rPr lang="en-GB" sz="2000" dirty="0"/>
              <a:t> contain the functional group </a:t>
            </a:r>
            <a:r>
              <a:rPr lang="en-GB" sz="2000" b="1" dirty="0">
                <a:solidFill>
                  <a:schemeClr val="accent6">
                    <a:lumMod val="75000"/>
                  </a:schemeClr>
                </a:solidFill>
              </a:rPr>
              <a:t>-OH</a:t>
            </a:r>
          </a:p>
        </p:txBody>
      </p:sp>
      <p:sp>
        <p:nvSpPr>
          <p:cNvPr id="5" name="TextBox 4"/>
          <p:cNvSpPr txBox="1"/>
          <p:nvPr/>
        </p:nvSpPr>
        <p:spPr>
          <a:xfrm>
            <a:off x="2339752" y="1603304"/>
            <a:ext cx="6539849" cy="1323439"/>
          </a:xfrm>
          <a:custGeom>
            <a:avLst/>
            <a:gdLst>
              <a:gd name="connsiteX0" fmla="*/ 0 w 5256584"/>
              <a:gd name="connsiteY0" fmla="*/ 0 h 1138773"/>
              <a:gd name="connsiteX1" fmla="*/ 5256584 w 5256584"/>
              <a:gd name="connsiteY1" fmla="*/ 0 h 1138773"/>
              <a:gd name="connsiteX2" fmla="*/ 5256584 w 5256584"/>
              <a:gd name="connsiteY2" fmla="*/ 1138773 h 1138773"/>
              <a:gd name="connsiteX3" fmla="*/ 0 w 5256584"/>
              <a:gd name="connsiteY3" fmla="*/ 1138773 h 1138773"/>
              <a:gd name="connsiteX4" fmla="*/ 0 w 5256584"/>
              <a:gd name="connsiteY4" fmla="*/ 0 h 1138773"/>
              <a:gd name="connsiteX0" fmla="*/ 12879 w 5256584"/>
              <a:gd name="connsiteY0" fmla="*/ 0 h 1280441"/>
              <a:gd name="connsiteX1" fmla="*/ 5256584 w 5256584"/>
              <a:gd name="connsiteY1" fmla="*/ 141668 h 1280441"/>
              <a:gd name="connsiteX2" fmla="*/ 5256584 w 5256584"/>
              <a:gd name="connsiteY2" fmla="*/ 1280441 h 1280441"/>
              <a:gd name="connsiteX3" fmla="*/ 0 w 5256584"/>
              <a:gd name="connsiteY3" fmla="*/ 1280441 h 1280441"/>
              <a:gd name="connsiteX4" fmla="*/ 12879 w 5256584"/>
              <a:gd name="connsiteY4" fmla="*/ 0 h 1280441"/>
              <a:gd name="connsiteX0" fmla="*/ 12879 w 5256584"/>
              <a:gd name="connsiteY0" fmla="*/ 0 h 1280441"/>
              <a:gd name="connsiteX1" fmla="*/ 5256584 w 5256584"/>
              <a:gd name="connsiteY1" fmla="*/ 0 h 1280441"/>
              <a:gd name="connsiteX2" fmla="*/ 5256584 w 5256584"/>
              <a:gd name="connsiteY2" fmla="*/ 1280441 h 1280441"/>
              <a:gd name="connsiteX3" fmla="*/ 0 w 5256584"/>
              <a:gd name="connsiteY3" fmla="*/ 1280441 h 1280441"/>
              <a:gd name="connsiteX4" fmla="*/ 12879 w 5256584"/>
              <a:gd name="connsiteY4" fmla="*/ 0 h 1280441"/>
              <a:gd name="connsiteX0" fmla="*/ 12879 w 5256584"/>
              <a:gd name="connsiteY0" fmla="*/ 0 h 1280441"/>
              <a:gd name="connsiteX1" fmla="*/ 5256584 w 5256584"/>
              <a:gd name="connsiteY1" fmla="*/ 0 h 1280441"/>
              <a:gd name="connsiteX2" fmla="*/ 5256584 w 5256584"/>
              <a:gd name="connsiteY2" fmla="*/ 1280441 h 1280441"/>
              <a:gd name="connsiteX3" fmla="*/ 0 w 5256584"/>
              <a:gd name="connsiteY3" fmla="*/ 1087257 h 1280441"/>
              <a:gd name="connsiteX4" fmla="*/ 12879 w 5256584"/>
              <a:gd name="connsiteY4" fmla="*/ 0 h 1280441"/>
              <a:gd name="connsiteX0" fmla="*/ 12879 w 5256584"/>
              <a:gd name="connsiteY0" fmla="*/ 0 h 1125894"/>
              <a:gd name="connsiteX1" fmla="*/ 5256584 w 5256584"/>
              <a:gd name="connsiteY1" fmla="*/ 0 h 1125894"/>
              <a:gd name="connsiteX2" fmla="*/ 5256584 w 5256584"/>
              <a:gd name="connsiteY2" fmla="*/ 1125894 h 1125894"/>
              <a:gd name="connsiteX3" fmla="*/ 0 w 5256584"/>
              <a:gd name="connsiteY3" fmla="*/ 1087257 h 1125894"/>
              <a:gd name="connsiteX4" fmla="*/ 12879 w 5256584"/>
              <a:gd name="connsiteY4" fmla="*/ 0 h 1125894"/>
              <a:gd name="connsiteX0" fmla="*/ 12879 w 5256584"/>
              <a:gd name="connsiteY0" fmla="*/ 0 h 1113015"/>
              <a:gd name="connsiteX1" fmla="*/ 5256584 w 5256584"/>
              <a:gd name="connsiteY1" fmla="*/ 0 h 1113015"/>
              <a:gd name="connsiteX2" fmla="*/ 5256584 w 5256584"/>
              <a:gd name="connsiteY2" fmla="*/ 1113015 h 1113015"/>
              <a:gd name="connsiteX3" fmla="*/ 0 w 5256584"/>
              <a:gd name="connsiteY3" fmla="*/ 1087257 h 1113015"/>
              <a:gd name="connsiteX4" fmla="*/ 12879 w 5256584"/>
              <a:gd name="connsiteY4" fmla="*/ 0 h 1113015"/>
              <a:gd name="connsiteX0" fmla="*/ 12879 w 5256584"/>
              <a:gd name="connsiteY0" fmla="*/ 0 h 1100136"/>
              <a:gd name="connsiteX1" fmla="*/ 5256584 w 5256584"/>
              <a:gd name="connsiteY1" fmla="*/ 0 h 1100136"/>
              <a:gd name="connsiteX2" fmla="*/ 5256584 w 5256584"/>
              <a:gd name="connsiteY2" fmla="*/ 1100136 h 1100136"/>
              <a:gd name="connsiteX3" fmla="*/ 0 w 5256584"/>
              <a:gd name="connsiteY3" fmla="*/ 1087257 h 1100136"/>
              <a:gd name="connsiteX4" fmla="*/ 12879 w 5256584"/>
              <a:gd name="connsiteY4" fmla="*/ 0 h 1100136"/>
              <a:gd name="connsiteX0" fmla="*/ 12879 w 5256584"/>
              <a:gd name="connsiteY0" fmla="*/ 0 h 1100136"/>
              <a:gd name="connsiteX1" fmla="*/ 5256584 w 5256584"/>
              <a:gd name="connsiteY1" fmla="*/ 0 h 1100136"/>
              <a:gd name="connsiteX2" fmla="*/ 5256584 w 5256584"/>
              <a:gd name="connsiteY2" fmla="*/ 1100136 h 1100136"/>
              <a:gd name="connsiteX3" fmla="*/ 0 w 5256584"/>
              <a:gd name="connsiteY3" fmla="*/ 1087257 h 1100136"/>
              <a:gd name="connsiteX4" fmla="*/ 12879 w 5256584"/>
              <a:gd name="connsiteY4" fmla="*/ 0 h 1100136"/>
              <a:gd name="connsiteX0" fmla="*/ 0 w 5243705"/>
              <a:gd name="connsiteY0" fmla="*/ 0 h 1113015"/>
              <a:gd name="connsiteX1" fmla="*/ 5243705 w 5243705"/>
              <a:gd name="connsiteY1" fmla="*/ 0 h 1113015"/>
              <a:gd name="connsiteX2" fmla="*/ 5243705 w 5243705"/>
              <a:gd name="connsiteY2" fmla="*/ 1100136 h 1113015"/>
              <a:gd name="connsiteX3" fmla="*/ 0 w 5243705"/>
              <a:gd name="connsiteY3" fmla="*/ 1113015 h 1113015"/>
              <a:gd name="connsiteX4" fmla="*/ 0 w 5243705"/>
              <a:gd name="connsiteY4" fmla="*/ 0 h 1113015"/>
              <a:gd name="connsiteX0" fmla="*/ 0 w 5243705"/>
              <a:gd name="connsiteY0" fmla="*/ 0 h 1100136"/>
              <a:gd name="connsiteX1" fmla="*/ 5243705 w 5243705"/>
              <a:gd name="connsiteY1" fmla="*/ 0 h 1100136"/>
              <a:gd name="connsiteX2" fmla="*/ 5243705 w 5243705"/>
              <a:gd name="connsiteY2" fmla="*/ 1100136 h 1100136"/>
              <a:gd name="connsiteX3" fmla="*/ 0 w 5243705"/>
              <a:gd name="connsiteY3" fmla="*/ 1100136 h 1100136"/>
              <a:gd name="connsiteX4" fmla="*/ 0 w 5243705"/>
              <a:gd name="connsiteY4" fmla="*/ 0 h 11001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43705" h="1100136">
                <a:moveTo>
                  <a:pt x="0" y="0"/>
                </a:moveTo>
                <a:lnTo>
                  <a:pt x="5243705" y="0"/>
                </a:lnTo>
                <a:lnTo>
                  <a:pt x="5243705" y="1100136"/>
                </a:lnTo>
                <a:lnTo>
                  <a:pt x="0" y="1100136"/>
                </a:lnTo>
                <a:lnTo>
                  <a:pt x="0" y="0"/>
                </a:lnTo>
                <a:close/>
              </a:path>
            </a:pathLst>
          </a:custGeom>
          <a:noFill/>
          <a:ln w="28575">
            <a:solidFill>
              <a:schemeClr val="accent6"/>
            </a:solidFill>
          </a:ln>
        </p:spPr>
        <p:txBody>
          <a:bodyPr wrap="square" rtlCol="0">
            <a:spAutoFit/>
          </a:bodyPr>
          <a:lstStyle/>
          <a:p>
            <a:r>
              <a:rPr lang="en-GB" sz="2000" dirty="0"/>
              <a:t>Methanol has the formula CH</a:t>
            </a:r>
            <a:r>
              <a:rPr lang="en-GB" sz="2000" baseline="-25000" dirty="0"/>
              <a:t>3</a:t>
            </a:r>
            <a:r>
              <a:rPr lang="en-GB" sz="2000" dirty="0"/>
              <a:t>OH</a:t>
            </a:r>
          </a:p>
          <a:p>
            <a:r>
              <a:rPr lang="en-GB" sz="2000" dirty="0"/>
              <a:t>Ethanol has the formula CH</a:t>
            </a:r>
            <a:r>
              <a:rPr lang="en-GB" sz="2000" baseline="-25000" dirty="0"/>
              <a:t>3</a:t>
            </a:r>
            <a:r>
              <a:rPr lang="en-GB" sz="2000" dirty="0"/>
              <a:t>CH</a:t>
            </a:r>
            <a:r>
              <a:rPr lang="en-GB" sz="2000" baseline="-25000" dirty="0"/>
              <a:t>2</a:t>
            </a:r>
            <a:r>
              <a:rPr lang="en-GB" sz="2000" dirty="0"/>
              <a:t>OH or C</a:t>
            </a:r>
            <a:r>
              <a:rPr lang="en-GB" sz="2000" baseline="-25000" dirty="0"/>
              <a:t>2</a:t>
            </a:r>
            <a:r>
              <a:rPr lang="en-GB" sz="2000" dirty="0"/>
              <a:t>H</a:t>
            </a:r>
            <a:r>
              <a:rPr lang="en-GB" sz="2000" baseline="-25000" dirty="0"/>
              <a:t>5</a:t>
            </a:r>
            <a:r>
              <a:rPr lang="en-GB" sz="2000" dirty="0"/>
              <a:t>OH</a:t>
            </a:r>
          </a:p>
          <a:p>
            <a:r>
              <a:rPr lang="en-GB" sz="2000" dirty="0"/>
              <a:t>Propanol has the formula CH</a:t>
            </a:r>
            <a:r>
              <a:rPr lang="en-GB" sz="2000" baseline="-25000" dirty="0"/>
              <a:t>3</a:t>
            </a:r>
            <a:r>
              <a:rPr lang="en-GB" sz="2000" dirty="0"/>
              <a:t>CH</a:t>
            </a:r>
            <a:r>
              <a:rPr lang="en-GB" sz="2000" baseline="-25000" dirty="0"/>
              <a:t>2</a:t>
            </a:r>
            <a:r>
              <a:rPr lang="en-GB" sz="2000" dirty="0"/>
              <a:t>CH</a:t>
            </a:r>
            <a:r>
              <a:rPr lang="en-GB" sz="2000" baseline="-25000" dirty="0"/>
              <a:t>2</a:t>
            </a:r>
            <a:r>
              <a:rPr lang="en-GB" sz="2000" dirty="0"/>
              <a:t>OH or C</a:t>
            </a:r>
            <a:r>
              <a:rPr lang="en-GB" sz="2000" baseline="-25000" dirty="0"/>
              <a:t>3</a:t>
            </a:r>
            <a:r>
              <a:rPr lang="en-GB" sz="2000" dirty="0"/>
              <a:t>H</a:t>
            </a:r>
            <a:r>
              <a:rPr lang="en-GB" sz="2000" baseline="-25000" dirty="0"/>
              <a:t>7</a:t>
            </a:r>
            <a:r>
              <a:rPr lang="en-GB" sz="2000" dirty="0"/>
              <a:t>OH</a:t>
            </a:r>
          </a:p>
          <a:p>
            <a:r>
              <a:rPr lang="en-GB" sz="2000" dirty="0"/>
              <a:t>Butanol has the formula CH</a:t>
            </a:r>
            <a:r>
              <a:rPr lang="en-GB" sz="2000" baseline="-25000" dirty="0"/>
              <a:t>3</a:t>
            </a:r>
            <a:r>
              <a:rPr lang="en-GB" sz="2000" dirty="0"/>
              <a:t>CH</a:t>
            </a:r>
            <a:r>
              <a:rPr lang="en-GB" sz="2000" baseline="-25000" dirty="0"/>
              <a:t>2</a:t>
            </a:r>
            <a:r>
              <a:rPr lang="en-GB" sz="2000" dirty="0"/>
              <a:t>CH</a:t>
            </a:r>
            <a:r>
              <a:rPr lang="en-GB" sz="2000" baseline="-25000" dirty="0"/>
              <a:t>2</a:t>
            </a:r>
            <a:r>
              <a:rPr lang="en-GB" sz="2000" dirty="0"/>
              <a:t>CH</a:t>
            </a:r>
            <a:r>
              <a:rPr lang="en-GB" sz="2000" baseline="-25000" dirty="0"/>
              <a:t>2</a:t>
            </a:r>
            <a:r>
              <a:rPr lang="en-GB" sz="2000" dirty="0"/>
              <a:t>OH or C</a:t>
            </a:r>
            <a:r>
              <a:rPr lang="en-GB" sz="2000" baseline="-25000" dirty="0"/>
              <a:t>4</a:t>
            </a:r>
            <a:r>
              <a:rPr lang="en-GB" sz="2000" dirty="0"/>
              <a:t>H</a:t>
            </a:r>
            <a:r>
              <a:rPr lang="en-GB" sz="2000" baseline="-25000" dirty="0"/>
              <a:t>9</a:t>
            </a:r>
            <a:r>
              <a:rPr lang="en-GB" sz="2000" dirty="0"/>
              <a:t>OH</a:t>
            </a:r>
          </a:p>
        </p:txBody>
      </p:sp>
      <p:grpSp>
        <p:nvGrpSpPr>
          <p:cNvPr id="4" name="Group 3"/>
          <p:cNvGrpSpPr/>
          <p:nvPr/>
        </p:nvGrpSpPr>
        <p:grpSpPr>
          <a:xfrm>
            <a:off x="179512" y="3489262"/>
            <a:ext cx="5237863" cy="1600438"/>
            <a:chOff x="198232" y="2636912"/>
            <a:chExt cx="5237863" cy="1600438"/>
          </a:xfrm>
        </p:grpSpPr>
        <p:sp>
          <p:nvSpPr>
            <p:cNvPr id="6" name="TextBox 5"/>
            <p:cNvSpPr txBox="1"/>
            <p:nvPr/>
          </p:nvSpPr>
          <p:spPr>
            <a:xfrm>
              <a:off x="198232" y="2636912"/>
              <a:ext cx="5237863" cy="1600438"/>
            </a:xfrm>
            <a:custGeom>
              <a:avLst/>
              <a:gdLst>
                <a:gd name="connsiteX0" fmla="*/ 0 w 3168352"/>
                <a:gd name="connsiteY0" fmla="*/ 0 h 861774"/>
                <a:gd name="connsiteX1" fmla="*/ 3168352 w 3168352"/>
                <a:gd name="connsiteY1" fmla="*/ 0 h 861774"/>
                <a:gd name="connsiteX2" fmla="*/ 3168352 w 3168352"/>
                <a:gd name="connsiteY2" fmla="*/ 861774 h 861774"/>
                <a:gd name="connsiteX3" fmla="*/ 0 w 3168352"/>
                <a:gd name="connsiteY3" fmla="*/ 861774 h 861774"/>
                <a:gd name="connsiteX4" fmla="*/ 0 w 3168352"/>
                <a:gd name="connsiteY4" fmla="*/ 0 h 861774"/>
                <a:gd name="connsiteX0" fmla="*/ 0 w 3168352"/>
                <a:gd name="connsiteY0" fmla="*/ 0 h 1711780"/>
                <a:gd name="connsiteX1" fmla="*/ 3168352 w 3168352"/>
                <a:gd name="connsiteY1" fmla="*/ 0 h 1711780"/>
                <a:gd name="connsiteX2" fmla="*/ 3168352 w 3168352"/>
                <a:gd name="connsiteY2" fmla="*/ 861774 h 1711780"/>
                <a:gd name="connsiteX3" fmla="*/ 0 w 3168352"/>
                <a:gd name="connsiteY3" fmla="*/ 1711780 h 1711780"/>
                <a:gd name="connsiteX4" fmla="*/ 0 w 3168352"/>
                <a:gd name="connsiteY4" fmla="*/ 0 h 1711780"/>
                <a:gd name="connsiteX0" fmla="*/ 0 w 3168352"/>
                <a:gd name="connsiteY0" fmla="*/ 0 h 1711780"/>
                <a:gd name="connsiteX1" fmla="*/ 3168352 w 3168352"/>
                <a:gd name="connsiteY1" fmla="*/ 0 h 1711780"/>
                <a:gd name="connsiteX2" fmla="*/ 3155473 w 3168352"/>
                <a:gd name="connsiteY2" fmla="*/ 1711780 h 1711780"/>
                <a:gd name="connsiteX3" fmla="*/ 0 w 3168352"/>
                <a:gd name="connsiteY3" fmla="*/ 1711780 h 1711780"/>
                <a:gd name="connsiteX4" fmla="*/ 0 w 3168352"/>
                <a:gd name="connsiteY4" fmla="*/ 0 h 1711780"/>
                <a:gd name="connsiteX0" fmla="*/ 0 w 3168352"/>
                <a:gd name="connsiteY0" fmla="*/ 0 h 1711780"/>
                <a:gd name="connsiteX1" fmla="*/ 3168352 w 3168352"/>
                <a:gd name="connsiteY1" fmla="*/ 0 h 1711780"/>
                <a:gd name="connsiteX2" fmla="*/ 3168352 w 3168352"/>
                <a:gd name="connsiteY2" fmla="*/ 1711780 h 1711780"/>
                <a:gd name="connsiteX3" fmla="*/ 0 w 3168352"/>
                <a:gd name="connsiteY3" fmla="*/ 1711780 h 1711780"/>
                <a:gd name="connsiteX4" fmla="*/ 0 w 3168352"/>
                <a:gd name="connsiteY4" fmla="*/ 0 h 1711780"/>
                <a:gd name="connsiteX0" fmla="*/ 0 w 3168352"/>
                <a:gd name="connsiteY0" fmla="*/ 0 h 1909378"/>
                <a:gd name="connsiteX1" fmla="*/ 3168352 w 3168352"/>
                <a:gd name="connsiteY1" fmla="*/ 197598 h 1909378"/>
                <a:gd name="connsiteX2" fmla="*/ 3168352 w 3168352"/>
                <a:gd name="connsiteY2" fmla="*/ 1909378 h 1909378"/>
                <a:gd name="connsiteX3" fmla="*/ 0 w 3168352"/>
                <a:gd name="connsiteY3" fmla="*/ 1909378 h 1909378"/>
                <a:gd name="connsiteX4" fmla="*/ 0 w 3168352"/>
                <a:gd name="connsiteY4" fmla="*/ 0 h 1909378"/>
                <a:gd name="connsiteX0" fmla="*/ 0 w 3168352"/>
                <a:gd name="connsiteY0" fmla="*/ 0 h 1909378"/>
                <a:gd name="connsiteX1" fmla="*/ 3168352 w 3168352"/>
                <a:gd name="connsiteY1" fmla="*/ 0 h 1909378"/>
                <a:gd name="connsiteX2" fmla="*/ 3168352 w 3168352"/>
                <a:gd name="connsiteY2" fmla="*/ 1909378 h 1909378"/>
                <a:gd name="connsiteX3" fmla="*/ 0 w 3168352"/>
                <a:gd name="connsiteY3" fmla="*/ 1909378 h 1909378"/>
                <a:gd name="connsiteX4" fmla="*/ 0 w 3168352"/>
                <a:gd name="connsiteY4" fmla="*/ 0 h 1909378"/>
                <a:gd name="connsiteX0" fmla="*/ 0 w 3168352"/>
                <a:gd name="connsiteY0" fmla="*/ 0 h 2996167"/>
                <a:gd name="connsiteX1" fmla="*/ 3168352 w 3168352"/>
                <a:gd name="connsiteY1" fmla="*/ 0 h 2996167"/>
                <a:gd name="connsiteX2" fmla="*/ 3168352 w 3168352"/>
                <a:gd name="connsiteY2" fmla="*/ 1909378 h 2996167"/>
                <a:gd name="connsiteX3" fmla="*/ 0 w 3168352"/>
                <a:gd name="connsiteY3" fmla="*/ 2996167 h 2996167"/>
                <a:gd name="connsiteX4" fmla="*/ 0 w 3168352"/>
                <a:gd name="connsiteY4" fmla="*/ 0 h 2996167"/>
                <a:gd name="connsiteX0" fmla="*/ 0 w 3168352"/>
                <a:gd name="connsiteY0" fmla="*/ 0 h 2996167"/>
                <a:gd name="connsiteX1" fmla="*/ 3168352 w 3168352"/>
                <a:gd name="connsiteY1" fmla="*/ 0 h 2996167"/>
                <a:gd name="connsiteX2" fmla="*/ 3168352 w 3168352"/>
                <a:gd name="connsiteY2" fmla="*/ 2922067 h 2996167"/>
                <a:gd name="connsiteX3" fmla="*/ 0 w 3168352"/>
                <a:gd name="connsiteY3" fmla="*/ 2996167 h 2996167"/>
                <a:gd name="connsiteX4" fmla="*/ 0 w 3168352"/>
                <a:gd name="connsiteY4" fmla="*/ 0 h 2996167"/>
                <a:gd name="connsiteX0" fmla="*/ 0 w 3168352"/>
                <a:gd name="connsiteY0" fmla="*/ 0 h 2996167"/>
                <a:gd name="connsiteX1" fmla="*/ 3168352 w 3168352"/>
                <a:gd name="connsiteY1" fmla="*/ 0 h 2996167"/>
                <a:gd name="connsiteX2" fmla="*/ 3168352 w 3168352"/>
                <a:gd name="connsiteY2" fmla="*/ 2996165 h 2996167"/>
                <a:gd name="connsiteX3" fmla="*/ 0 w 3168352"/>
                <a:gd name="connsiteY3" fmla="*/ 2996167 h 2996167"/>
                <a:gd name="connsiteX4" fmla="*/ 0 w 3168352"/>
                <a:gd name="connsiteY4" fmla="*/ 0 h 2996167"/>
                <a:gd name="connsiteX0" fmla="*/ 0 w 3168352"/>
                <a:gd name="connsiteY0" fmla="*/ 0 h 3045567"/>
                <a:gd name="connsiteX1" fmla="*/ 3168352 w 3168352"/>
                <a:gd name="connsiteY1" fmla="*/ 0 h 3045567"/>
                <a:gd name="connsiteX2" fmla="*/ 3168352 w 3168352"/>
                <a:gd name="connsiteY2" fmla="*/ 2996165 h 3045567"/>
                <a:gd name="connsiteX3" fmla="*/ 0 w 3168352"/>
                <a:gd name="connsiteY3" fmla="*/ 3045567 h 3045567"/>
                <a:gd name="connsiteX4" fmla="*/ 0 w 3168352"/>
                <a:gd name="connsiteY4" fmla="*/ 0 h 3045567"/>
                <a:gd name="connsiteX0" fmla="*/ 0 w 3168352"/>
                <a:gd name="connsiteY0" fmla="*/ 0 h 3070265"/>
                <a:gd name="connsiteX1" fmla="*/ 3168352 w 3168352"/>
                <a:gd name="connsiteY1" fmla="*/ 0 h 3070265"/>
                <a:gd name="connsiteX2" fmla="*/ 3168352 w 3168352"/>
                <a:gd name="connsiteY2" fmla="*/ 3070265 h 3070265"/>
                <a:gd name="connsiteX3" fmla="*/ 0 w 3168352"/>
                <a:gd name="connsiteY3" fmla="*/ 3045567 h 3070265"/>
                <a:gd name="connsiteX4" fmla="*/ 0 w 3168352"/>
                <a:gd name="connsiteY4" fmla="*/ 0 h 307026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168352" h="3070265">
                  <a:moveTo>
                    <a:pt x="0" y="0"/>
                  </a:moveTo>
                  <a:lnTo>
                    <a:pt x="3168352" y="0"/>
                  </a:lnTo>
                  <a:lnTo>
                    <a:pt x="3168352" y="3070265"/>
                  </a:lnTo>
                  <a:lnTo>
                    <a:pt x="0" y="3045567"/>
                  </a:lnTo>
                  <a:lnTo>
                    <a:pt x="0" y="0"/>
                  </a:lnTo>
                  <a:close/>
                </a:path>
              </a:pathLst>
            </a:custGeom>
            <a:noFill/>
            <a:ln w="28575">
              <a:solidFill>
                <a:schemeClr val="accent6"/>
              </a:solidFill>
            </a:ln>
          </p:spPr>
          <p:txBody>
            <a:bodyPr wrap="square" rtlCol="0">
              <a:spAutoFit/>
            </a:bodyPr>
            <a:lstStyle/>
            <a:p>
              <a:r>
                <a:rPr lang="en-GB" sz="2000" dirty="0"/>
                <a:t>An alternative way to show the alcohol structure </a:t>
              </a:r>
              <a:r>
                <a:rPr lang="en-GB" sz="2000" dirty="0" smtClean="0"/>
                <a:t>is:</a:t>
              </a:r>
            </a:p>
            <a:p>
              <a:endParaRPr lang="en-GB" sz="2000" dirty="0"/>
            </a:p>
            <a:p>
              <a:endParaRPr lang="en-GB" sz="2000" dirty="0"/>
            </a:p>
            <a:p>
              <a:endParaRPr lang="en-GB" dirty="0"/>
            </a:p>
          </p:txBody>
        </p:sp>
        <p:pic>
          <p:nvPicPr>
            <p:cNvPr id="9" name="Picture 8"/>
            <p:cNvPicPr>
              <a:picLocks noChangeAspect="1"/>
            </p:cNvPicPr>
            <p:nvPr/>
          </p:nvPicPr>
          <p:blipFill>
            <a:blip r:embed="rId4"/>
            <a:stretch>
              <a:fillRect/>
            </a:stretch>
          </p:blipFill>
          <p:spPr>
            <a:xfrm>
              <a:off x="1259632" y="3068960"/>
              <a:ext cx="2448272" cy="955166"/>
            </a:xfrm>
            <a:prstGeom prst="rect">
              <a:avLst/>
            </a:prstGeom>
          </p:spPr>
        </p:pic>
      </p:grpSp>
    </p:spTree>
    <p:extLst>
      <p:ext uri="{BB962C8B-B14F-4D97-AF65-F5344CB8AC3E}">
        <p14:creationId xmlns:p14="http://schemas.microsoft.com/office/powerpoint/2010/main" val="2165356331"/>
      </p:ext>
    </p:extLst>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115616" y="-14024"/>
            <a:ext cx="8017076" cy="657041"/>
          </a:xfrm>
        </p:spPr>
        <p:txBody>
          <a:bodyPr>
            <a:noAutofit/>
          </a:bodyPr>
          <a:lstStyle/>
          <a:p>
            <a:pPr marL="342900" lvl="1" algn="r" defTabSz="342900" rtl="0">
              <a:spcBef>
                <a:spcPct val="20000"/>
              </a:spcBef>
            </a:pPr>
            <a:r>
              <a:rPr lang="en-US" sz="2100" b="1" dirty="0" smtClean="0">
                <a:solidFill>
                  <a:schemeClr val="accent6"/>
                </a:solidFill>
              </a:rPr>
              <a:t>Reactions </a:t>
            </a:r>
            <a:r>
              <a:rPr lang="en-US" sz="2100" b="1" dirty="0">
                <a:solidFill>
                  <a:schemeClr val="accent6"/>
                </a:solidFill>
              </a:rPr>
              <a:t>of alcohols (Chemistry only)</a:t>
            </a:r>
            <a:endParaRPr kumimoji="0" lang="en-US" sz="2100" b="1" i="0" u="none" strike="noStrike" kern="1200" cap="none" spc="0" normalizeH="0" baseline="0" noProof="0" dirty="0">
              <a:ln>
                <a:noFill/>
              </a:ln>
              <a:solidFill>
                <a:schemeClr val="accent6"/>
              </a:solidFill>
              <a:effectLst/>
              <a:uLnTx/>
              <a:uFillTx/>
              <a:latin typeface="Calibri"/>
              <a:ea typeface=""/>
              <a:cs typeface="News Gothic MT"/>
            </a:endParaRPr>
          </a:p>
        </p:txBody>
      </p:sp>
      <p:sp>
        <p:nvSpPr>
          <p:cNvPr id="10" name="TextBox 9"/>
          <p:cNvSpPr txBox="1"/>
          <p:nvPr/>
        </p:nvSpPr>
        <p:spPr>
          <a:xfrm>
            <a:off x="192391" y="820234"/>
            <a:ext cx="8543194" cy="3170099"/>
          </a:xfrm>
          <a:custGeom>
            <a:avLst/>
            <a:gdLst>
              <a:gd name="connsiteX0" fmla="*/ 0 w 8568952"/>
              <a:gd name="connsiteY0" fmla="*/ 0 h 2708434"/>
              <a:gd name="connsiteX1" fmla="*/ 8568952 w 8568952"/>
              <a:gd name="connsiteY1" fmla="*/ 0 h 2708434"/>
              <a:gd name="connsiteX2" fmla="*/ 8568952 w 8568952"/>
              <a:gd name="connsiteY2" fmla="*/ 2708434 h 2708434"/>
              <a:gd name="connsiteX3" fmla="*/ 0 w 8568952"/>
              <a:gd name="connsiteY3" fmla="*/ 2708434 h 2708434"/>
              <a:gd name="connsiteX4" fmla="*/ 0 w 8568952"/>
              <a:gd name="connsiteY4" fmla="*/ 0 h 2708434"/>
              <a:gd name="connsiteX0" fmla="*/ 12879 w 8568952"/>
              <a:gd name="connsiteY0" fmla="*/ 0 h 2927375"/>
              <a:gd name="connsiteX1" fmla="*/ 8568952 w 8568952"/>
              <a:gd name="connsiteY1" fmla="*/ 218941 h 2927375"/>
              <a:gd name="connsiteX2" fmla="*/ 8568952 w 8568952"/>
              <a:gd name="connsiteY2" fmla="*/ 2927375 h 2927375"/>
              <a:gd name="connsiteX3" fmla="*/ 0 w 8568952"/>
              <a:gd name="connsiteY3" fmla="*/ 2927375 h 2927375"/>
              <a:gd name="connsiteX4" fmla="*/ 12879 w 8568952"/>
              <a:gd name="connsiteY4" fmla="*/ 0 h 2927375"/>
              <a:gd name="connsiteX0" fmla="*/ 12879 w 8568952"/>
              <a:gd name="connsiteY0" fmla="*/ 0 h 2927375"/>
              <a:gd name="connsiteX1" fmla="*/ 8568952 w 8568952"/>
              <a:gd name="connsiteY1" fmla="*/ 25758 h 2927375"/>
              <a:gd name="connsiteX2" fmla="*/ 8568952 w 8568952"/>
              <a:gd name="connsiteY2" fmla="*/ 2927375 h 2927375"/>
              <a:gd name="connsiteX3" fmla="*/ 0 w 8568952"/>
              <a:gd name="connsiteY3" fmla="*/ 2927375 h 2927375"/>
              <a:gd name="connsiteX4" fmla="*/ 12879 w 8568952"/>
              <a:gd name="connsiteY4" fmla="*/ 0 h 2927375"/>
              <a:gd name="connsiteX0" fmla="*/ 12879 w 8568952"/>
              <a:gd name="connsiteY0" fmla="*/ 0 h 2927375"/>
              <a:gd name="connsiteX1" fmla="*/ 8556073 w 8568952"/>
              <a:gd name="connsiteY1" fmla="*/ 12879 h 2927375"/>
              <a:gd name="connsiteX2" fmla="*/ 8568952 w 8568952"/>
              <a:gd name="connsiteY2" fmla="*/ 2927375 h 2927375"/>
              <a:gd name="connsiteX3" fmla="*/ 0 w 8568952"/>
              <a:gd name="connsiteY3" fmla="*/ 2927375 h 2927375"/>
              <a:gd name="connsiteX4" fmla="*/ 12879 w 8568952"/>
              <a:gd name="connsiteY4" fmla="*/ 0 h 2927375"/>
              <a:gd name="connsiteX0" fmla="*/ 0 w 8556073"/>
              <a:gd name="connsiteY0" fmla="*/ 0 h 2927375"/>
              <a:gd name="connsiteX1" fmla="*/ 8543194 w 8556073"/>
              <a:gd name="connsiteY1" fmla="*/ 12879 h 2927375"/>
              <a:gd name="connsiteX2" fmla="*/ 8556073 w 8556073"/>
              <a:gd name="connsiteY2" fmla="*/ 2927375 h 2927375"/>
              <a:gd name="connsiteX3" fmla="*/ 0 w 8556073"/>
              <a:gd name="connsiteY3" fmla="*/ 2669798 h 2927375"/>
              <a:gd name="connsiteX4" fmla="*/ 0 w 8556073"/>
              <a:gd name="connsiteY4" fmla="*/ 0 h 2927375"/>
              <a:gd name="connsiteX0" fmla="*/ 0 w 8543194"/>
              <a:gd name="connsiteY0" fmla="*/ 0 h 2721313"/>
              <a:gd name="connsiteX1" fmla="*/ 8543194 w 8543194"/>
              <a:gd name="connsiteY1" fmla="*/ 12879 h 2721313"/>
              <a:gd name="connsiteX2" fmla="*/ 8543194 w 8543194"/>
              <a:gd name="connsiteY2" fmla="*/ 2721313 h 2721313"/>
              <a:gd name="connsiteX3" fmla="*/ 0 w 8543194"/>
              <a:gd name="connsiteY3" fmla="*/ 2669798 h 2721313"/>
              <a:gd name="connsiteX4" fmla="*/ 0 w 8543194"/>
              <a:gd name="connsiteY4" fmla="*/ 0 h 2721313"/>
              <a:gd name="connsiteX0" fmla="*/ 0 w 8543194"/>
              <a:gd name="connsiteY0" fmla="*/ 0 h 2708434"/>
              <a:gd name="connsiteX1" fmla="*/ 8543194 w 8543194"/>
              <a:gd name="connsiteY1" fmla="*/ 12879 h 2708434"/>
              <a:gd name="connsiteX2" fmla="*/ 8543194 w 8543194"/>
              <a:gd name="connsiteY2" fmla="*/ 2708434 h 2708434"/>
              <a:gd name="connsiteX3" fmla="*/ 0 w 8543194"/>
              <a:gd name="connsiteY3" fmla="*/ 2669798 h 2708434"/>
              <a:gd name="connsiteX4" fmla="*/ 0 w 8543194"/>
              <a:gd name="connsiteY4" fmla="*/ 0 h 2708434"/>
              <a:gd name="connsiteX0" fmla="*/ 0 w 8543194"/>
              <a:gd name="connsiteY0" fmla="*/ 0 h 2695555"/>
              <a:gd name="connsiteX1" fmla="*/ 8543194 w 8543194"/>
              <a:gd name="connsiteY1" fmla="*/ 12879 h 2695555"/>
              <a:gd name="connsiteX2" fmla="*/ 8543194 w 8543194"/>
              <a:gd name="connsiteY2" fmla="*/ 2695555 h 2695555"/>
              <a:gd name="connsiteX3" fmla="*/ 0 w 8543194"/>
              <a:gd name="connsiteY3" fmla="*/ 2669798 h 2695555"/>
              <a:gd name="connsiteX4" fmla="*/ 0 w 8543194"/>
              <a:gd name="connsiteY4" fmla="*/ 0 h 2695555"/>
              <a:gd name="connsiteX0" fmla="*/ 0 w 8543194"/>
              <a:gd name="connsiteY0" fmla="*/ 0 h 2682676"/>
              <a:gd name="connsiteX1" fmla="*/ 8543194 w 8543194"/>
              <a:gd name="connsiteY1" fmla="*/ 12879 h 2682676"/>
              <a:gd name="connsiteX2" fmla="*/ 8543194 w 8543194"/>
              <a:gd name="connsiteY2" fmla="*/ 2682676 h 2682676"/>
              <a:gd name="connsiteX3" fmla="*/ 0 w 8543194"/>
              <a:gd name="connsiteY3" fmla="*/ 2669798 h 2682676"/>
              <a:gd name="connsiteX4" fmla="*/ 0 w 8543194"/>
              <a:gd name="connsiteY4" fmla="*/ 0 h 268267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43194" h="2682676">
                <a:moveTo>
                  <a:pt x="0" y="0"/>
                </a:moveTo>
                <a:lnTo>
                  <a:pt x="8543194" y="12879"/>
                </a:lnTo>
                <a:lnTo>
                  <a:pt x="8543194" y="2682676"/>
                </a:lnTo>
                <a:lnTo>
                  <a:pt x="0" y="2669798"/>
                </a:lnTo>
                <a:lnTo>
                  <a:pt x="0" y="0"/>
                </a:lnTo>
                <a:close/>
              </a:path>
            </a:pathLst>
          </a:custGeom>
          <a:noFill/>
        </p:spPr>
        <p:txBody>
          <a:bodyPr wrap="square" rtlCol="0">
            <a:spAutoFit/>
          </a:bodyPr>
          <a:lstStyle/>
          <a:p>
            <a:r>
              <a:rPr lang="en-GB" sz="2000" dirty="0"/>
              <a:t>Alcohols have a number of important reactions:</a:t>
            </a:r>
          </a:p>
          <a:p>
            <a:pPr marL="285750" indent="-285750">
              <a:buFont typeface="Arial" panose="020B0604020202020204" pitchFamily="34" charset="0"/>
              <a:buChar char="•"/>
            </a:pPr>
            <a:r>
              <a:rPr lang="en-GB" sz="2000" dirty="0"/>
              <a:t>When </a:t>
            </a:r>
            <a:r>
              <a:rPr lang="en-GB" sz="2000" b="1" dirty="0">
                <a:solidFill>
                  <a:schemeClr val="accent6">
                    <a:lumMod val="75000"/>
                  </a:schemeClr>
                </a:solidFill>
              </a:rPr>
              <a:t>ethanol reacts with sodium, </a:t>
            </a:r>
            <a:r>
              <a:rPr lang="en-GB" sz="2000" dirty="0"/>
              <a:t>bubbles of </a:t>
            </a:r>
            <a:r>
              <a:rPr lang="en-GB" sz="2000" b="1" dirty="0">
                <a:solidFill>
                  <a:schemeClr val="accent6">
                    <a:lumMod val="75000"/>
                  </a:schemeClr>
                </a:solidFill>
              </a:rPr>
              <a:t>hydrogen gas </a:t>
            </a:r>
            <a:r>
              <a:rPr lang="en-GB" sz="2000" dirty="0"/>
              <a:t>are given off and colourless </a:t>
            </a:r>
            <a:r>
              <a:rPr lang="en-GB" sz="2000" b="1" dirty="0">
                <a:solidFill>
                  <a:schemeClr val="accent6">
                    <a:lumMod val="75000"/>
                  </a:schemeClr>
                </a:solidFill>
              </a:rPr>
              <a:t>sodium ethoxide </a:t>
            </a:r>
            <a:r>
              <a:rPr lang="en-GB" sz="2000" dirty="0"/>
              <a:t>solution is left</a:t>
            </a:r>
          </a:p>
          <a:p>
            <a:pPr algn="ctr"/>
            <a:r>
              <a:rPr lang="en-GB" sz="2000" b="1" dirty="0"/>
              <a:t>Sodium   +   ethanol </a:t>
            </a:r>
            <a:r>
              <a:rPr lang="en-GB" sz="2000" b="1" dirty="0">
                <a:sym typeface="Wingdings" panose="05000000000000000000" pitchFamily="2" charset="2"/>
              </a:rPr>
              <a:t>  sodium </a:t>
            </a:r>
            <a:r>
              <a:rPr lang="en-GB" sz="2000" b="1" dirty="0" err="1">
                <a:sym typeface="Wingdings" panose="05000000000000000000" pitchFamily="2" charset="2"/>
              </a:rPr>
              <a:t>ethoxide</a:t>
            </a:r>
            <a:r>
              <a:rPr lang="en-GB" sz="2000" b="1" dirty="0">
                <a:sym typeface="Wingdings" panose="05000000000000000000" pitchFamily="2" charset="2"/>
              </a:rPr>
              <a:t>  +  hydrogen</a:t>
            </a:r>
          </a:p>
          <a:p>
            <a:pPr marL="285750" indent="-285750">
              <a:buFont typeface="Arial" panose="020B0604020202020204" pitchFamily="34" charset="0"/>
              <a:buChar char="•"/>
            </a:pPr>
            <a:r>
              <a:rPr lang="en-GB" sz="2000" dirty="0"/>
              <a:t>All the alcohols </a:t>
            </a:r>
            <a:r>
              <a:rPr lang="en-GB" sz="2000" b="1" dirty="0">
                <a:solidFill>
                  <a:schemeClr val="accent6">
                    <a:lumMod val="75000"/>
                  </a:schemeClr>
                </a:solidFill>
              </a:rPr>
              <a:t>dissolve in water </a:t>
            </a:r>
            <a:r>
              <a:rPr lang="en-GB" sz="2000" dirty="0"/>
              <a:t>to give </a:t>
            </a:r>
            <a:r>
              <a:rPr lang="en-GB" sz="2000" b="1" dirty="0">
                <a:solidFill>
                  <a:schemeClr val="accent6">
                    <a:lumMod val="75000"/>
                  </a:schemeClr>
                </a:solidFill>
              </a:rPr>
              <a:t>colourless solutions</a:t>
            </a:r>
            <a:r>
              <a:rPr lang="en-GB" sz="2000" dirty="0"/>
              <a:t> with a </a:t>
            </a:r>
            <a:r>
              <a:rPr lang="en-GB" sz="2000" b="1" dirty="0">
                <a:solidFill>
                  <a:schemeClr val="accent6">
                    <a:lumMod val="75000"/>
                  </a:schemeClr>
                </a:solidFill>
              </a:rPr>
              <a:t>pH of 7</a:t>
            </a:r>
            <a:r>
              <a:rPr lang="en-GB" sz="2000" dirty="0"/>
              <a:t>.</a:t>
            </a:r>
          </a:p>
          <a:p>
            <a:pPr marL="285750" indent="-285750">
              <a:buFont typeface="Arial" panose="020B0604020202020204" pitchFamily="34" charset="0"/>
              <a:buChar char="•"/>
            </a:pPr>
            <a:r>
              <a:rPr lang="en-GB" sz="2000" dirty="0"/>
              <a:t>Alcohols can react with an </a:t>
            </a:r>
            <a:r>
              <a:rPr lang="en-GB" sz="2000" b="1" dirty="0">
                <a:solidFill>
                  <a:schemeClr val="accent6">
                    <a:lumMod val="75000"/>
                  </a:schemeClr>
                </a:solidFill>
              </a:rPr>
              <a:t>oxidising reagent </a:t>
            </a:r>
            <a:r>
              <a:rPr lang="en-GB" sz="2000" dirty="0"/>
              <a:t>to make the </a:t>
            </a:r>
            <a:r>
              <a:rPr lang="en-GB" sz="2000" b="1" dirty="0">
                <a:solidFill>
                  <a:schemeClr val="accent6">
                    <a:lumMod val="75000"/>
                  </a:schemeClr>
                </a:solidFill>
              </a:rPr>
              <a:t>carboxylic acid </a:t>
            </a:r>
            <a:r>
              <a:rPr lang="en-GB" sz="2000" dirty="0"/>
              <a:t>e.g. </a:t>
            </a:r>
            <a:r>
              <a:rPr lang="en-GB" sz="2000" b="1" dirty="0"/>
              <a:t>ethanol</a:t>
            </a:r>
            <a:r>
              <a:rPr lang="en-GB" sz="2000" dirty="0"/>
              <a:t> will oxidise to make </a:t>
            </a:r>
            <a:r>
              <a:rPr lang="en-GB" sz="2000" b="1" dirty="0"/>
              <a:t>ethanoic acid</a:t>
            </a:r>
            <a:r>
              <a:rPr lang="en-GB" sz="2000" dirty="0"/>
              <a:t>.</a:t>
            </a:r>
          </a:p>
          <a:p>
            <a:pPr marL="285750" indent="-285750">
              <a:buFont typeface="Arial" panose="020B0604020202020204" pitchFamily="34" charset="0"/>
              <a:buChar char="•"/>
            </a:pPr>
            <a:r>
              <a:rPr lang="en-GB" sz="2000" dirty="0"/>
              <a:t>Alcohols also undergo </a:t>
            </a:r>
            <a:r>
              <a:rPr lang="en-GB" sz="2000" b="1" dirty="0">
                <a:solidFill>
                  <a:schemeClr val="accent6">
                    <a:lumMod val="75000"/>
                  </a:schemeClr>
                </a:solidFill>
              </a:rPr>
              <a:t>combustion</a:t>
            </a:r>
            <a:r>
              <a:rPr lang="en-GB" sz="2000" dirty="0"/>
              <a:t> reactions with oxygen e.g.</a:t>
            </a:r>
          </a:p>
          <a:p>
            <a:r>
              <a:rPr lang="en-GB" sz="2000" dirty="0"/>
              <a:t>                                     </a:t>
            </a:r>
            <a:r>
              <a:rPr lang="en-GB" sz="2000" b="1" dirty="0"/>
              <a:t>Propanol   +   oxygen </a:t>
            </a:r>
            <a:r>
              <a:rPr lang="en-GB" sz="2000" b="1" dirty="0">
                <a:sym typeface="Wingdings" panose="05000000000000000000" pitchFamily="2" charset="2"/>
              </a:rPr>
              <a:t>  carbon dioxide   +   water</a:t>
            </a:r>
            <a:endParaRPr lang="en-GB" sz="2000" b="1" dirty="0"/>
          </a:p>
          <a:p>
            <a:pPr algn="ctr"/>
            <a:r>
              <a:rPr lang="en-GB" sz="2000" dirty="0"/>
              <a:t>  </a:t>
            </a:r>
            <a:r>
              <a:rPr lang="en-GB" sz="2000" b="1" dirty="0"/>
              <a:t>C</a:t>
            </a:r>
            <a:r>
              <a:rPr lang="en-GB" sz="2000" b="1" baseline="-25000" dirty="0"/>
              <a:t>3</a:t>
            </a:r>
            <a:r>
              <a:rPr lang="en-GB" sz="2000" b="1" dirty="0"/>
              <a:t>H</a:t>
            </a:r>
            <a:r>
              <a:rPr lang="en-GB" sz="2000" b="1" baseline="-25000" dirty="0"/>
              <a:t>7</a:t>
            </a:r>
            <a:r>
              <a:rPr lang="en-GB" sz="2000" b="1" dirty="0"/>
              <a:t>OH   +   5O</a:t>
            </a:r>
            <a:r>
              <a:rPr lang="en-GB" sz="2000" b="1" baseline="-25000" dirty="0"/>
              <a:t>2</a:t>
            </a:r>
            <a:r>
              <a:rPr lang="en-GB" sz="2000" b="1" dirty="0"/>
              <a:t> </a:t>
            </a:r>
            <a:r>
              <a:rPr lang="en-GB" sz="2000" b="1" dirty="0">
                <a:sym typeface="Wingdings" panose="05000000000000000000" pitchFamily="2" charset="2"/>
              </a:rPr>
              <a:t>   3CO</a:t>
            </a:r>
            <a:r>
              <a:rPr lang="en-GB" sz="2000" b="1" baseline="-25000" dirty="0">
                <a:sym typeface="Wingdings" panose="05000000000000000000" pitchFamily="2" charset="2"/>
              </a:rPr>
              <a:t>2</a:t>
            </a:r>
            <a:r>
              <a:rPr lang="en-GB" sz="2000" b="1" dirty="0">
                <a:sym typeface="Wingdings" panose="05000000000000000000" pitchFamily="2" charset="2"/>
              </a:rPr>
              <a:t>   +   4H</a:t>
            </a:r>
            <a:r>
              <a:rPr lang="en-GB" sz="2000" b="1" baseline="-25000" dirty="0">
                <a:sym typeface="Wingdings" panose="05000000000000000000" pitchFamily="2" charset="2"/>
              </a:rPr>
              <a:t>2</a:t>
            </a:r>
            <a:r>
              <a:rPr lang="en-GB" sz="2000" b="1" dirty="0">
                <a:sym typeface="Wingdings" panose="05000000000000000000" pitchFamily="2" charset="2"/>
              </a:rPr>
              <a:t>0</a:t>
            </a:r>
            <a:endParaRPr lang="en-GB" sz="2000" b="1" dirty="0"/>
          </a:p>
        </p:txBody>
      </p:sp>
      <p:sp>
        <p:nvSpPr>
          <p:cNvPr id="14" name="TextBox 13"/>
          <p:cNvSpPr txBox="1"/>
          <p:nvPr/>
        </p:nvSpPr>
        <p:spPr>
          <a:xfrm>
            <a:off x="192391" y="4220318"/>
            <a:ext cx="8556073" cy="707886"/>
          </a:xfrm>
          <a:prstGeom prst="rect">
            <a:avLst/>
          </a:prstGeom>
          <a:noFill/>
          <a:ln w="28575">
            <a:solidFill>
              <a:schemeClr val="accent6"/>
            </a:solidFill>
          </a:ln>
        </p:spPr>
        <p:txBody>
          <a:bodyPr wrap="square" rtlCol="0">
            <a:spAutoFit/>
          </a:bodyPr>
          <a:lstStyle/>
          <a:p>
            <a:pPr algn="ctr"/>
            <a:r>
              <a:rPr lang="en-GB" sz="2000" dirty="0"/>
              <a:t>Aqueous solutions of ethanol are produced when sugar solutions are fermented using </a:t>
            </a:r>
            <a:r>
              <a:rPr lang="en-GB" sz="2000" dirty="0" smtClean="0"/>
              <a:t>yeast.</a:t>
            </a:r>
            <a:endParaRPr lang="en-GB" sz="2000" dirty="0"/>
          </a:p>
        </p:txBody>
      </p:sp>
      <p:sp>
        <p:nvSpPr>
          <p:cNvPr id="15" name="TextBox 14"/>
          <p:cNvSpPr txBox="1"/>
          <p:nvPr/>
        </p:nvSpPr>
        <p:spPr>
          <a:xfrm>
            <a:off x="179512" y="5157192"/>
            <a:ext cx="8556073" cy="1015663"/>
          </a:xfrm>
          <a:prstGeom prst="rect">
            <a:avLst/>
          </a:prstGeom>
          <a:noFill/>
        </p:spPr>
        <p:txBody>
          <a:bodyPr wrap="square" rtlCol="0">
            <a:spAutoFit/>
          </a:bodyPr>
          <a:lstStyle/>
          <a:p>
            <a:r>
              <a:rPr lang="en-GB" sz="2000" dirty="0"/>
              <a:t>The conditions needed for </a:t>
            </a:r>
            <a:r>
              <a:rPr lang="en-GB" sz="2000" b="1" dirty="0">
                <a:solidFill>
                  <a:schemeClr val="accent6">
                    <a:lumMod val="75000"/>
                  </a:schemeClr>
                </a:solidFill>
              </a:rPr>
              <a:t>fermentation </a:t>
            </a:r>
            <a:r>
              <a:rPr lang="en-GB" sz="2000" dirty="0"/>
              <a:t>to happen are:</a:t>
            </a:r>
          </a:p>
          <a:p>
            <a:pPr marL="285750" indent="-285750">
              <a:buFont typeface="Arial" panose="020B0604020202020204" pitchFamily="34" charset="0"/>
              <a:buChar char="•"/>
            </a:pPr>
            <a:r>
              <a:rPr lang="en-GB" sz="2000" dirty="0"/>
              <a:t>A </a:t>
            </a:r>
            <a:r>
              <a:rPr lang="en-GB" sz="2000" b="1" dirty="0">
                <a:solidFill>
                  <a:schemeClr val="accent6">
                    <a:lumMod val="75000"/>
                  </a:schemeClr>
                </a:solidFill>
              </a:rPr>
              <a:t>temperature</a:t>
            </a:r>
            <a:r>
              <a:rPr lang="en-GB" sz="2000" dirty="0"/>
              <a:t> between </a:t>
            </a:r>
            <a:r>
              <a:rPr lang="en-GB" sz="2000" b="1" dirty="0">
                <a:solidFill>
                  <a:schemeClr val="accent6">
                    <a:lumMod val="75000"/>
                  </a:schemeClr>
                </a:solidFill>
              </a:rPr>
              <a:t>25</a:t>
            </a:r>
            <a:r>
              <a:rPr lang="en-GB" sz="2000" b="1" baseline="30000" dirty="0">
                <a:solidFill>
                  <a:schemeClr val="accent6">
                    <a:lumMod val="75000"/>
                  </a:schemeClr>
                </a:solidFill>
              </a:rPr>
              <a:t>O</a:t>
            </a:r>
            <a:r>
              <a:rPr lang="en-GB" sz="2000" b="1" dirty="0">
                <a:solidFill>
                  <a:schemeClr val="accent6">
                    <a:lumMod val="75000"/>
                  </a:schemeClr>
                </a:solidFill>
              </a:rPr>
              <a:t>C and 45</a:t>
            </a:r>
            <a:r>
              <a:rPr lang="en-GB" sz="2000" b="1" baseline="30000" dirty="0">
                <a:solidFill>
                  <a:schemeClr val="accent6">
                    <a:lumMod val="75000"/>
                  </a:schemeClr>
                </a:solidFill>
              </a:rPr>
              <a:t>O</a:t>
            </a:r>
            <a:r>
              <a:rPr lang="en-GB" sz="2000" b="1" dirty="0">
                <a:solidFill>
                  <a:schemeClr val="accent6">
                    <a:lumMod val="75000"/>
                  </a:schemeClr>
                </a:solidFill>
              </a:rPr>
              <a:t>C</a:t>
            </a:r>
          </a:p>
          <a:p>
            <a:pPr marL="285750" indent="-285750">
              <a:buFont typeface="Arial" panose="020B0604020202020204" pitchFamily="34" charset="0"/>
              <a:buChar char="•"/>
            </a:pPr>
            <a:r>
              <a:rPr lang="en-GB" sz="2000" b="1" dirty="0">
                <a:solidFill>
                  <a:schemeClr val="accent6">
                    <a:lumMod val="75000"/>
                  </a:schemeClr>
                </a:solidFill>
              </a:rPr>
              <a:t>Water</a:t>
            </a:r>
            <a:r>
              <a:rPr lang="en-GB" sz="2000" dirty="0"/>
              <a:t> but </a:t>
            </a:r>
            <a:r>
              <a:rPr lang="en-GB" sz="2000" b="1" dirty="0">
                <a:solidFill>
                  <a:schemeClr val="accent6">
                    <a:lumMod val="75000"/>
                  </a:schemeClr>
                </a:solidFill>
              </a:rPr>
              <a:t>no oxygen</a:t>
            </a:r>
          </a:p>
        </p:txBody>
      </p:sp>
    </p:spTree>
    <p:extLst>
      <p:ext uri="{BB962C8B-B14F-4D97-AF65-F5344CB8AC3E}">
        <p14:creationId xmlns:p14="http://schemas.microsoft.com/office/powerpoint/2010/main" val="2189953126"/>
      </p:ext>
    </p:extLst>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115616" y="-14024"/>
            <a:ext cx="8017076" cy="657041"/>
          </a:xfrm>
        </p:spPr>
        <p:txBody>
          <a:bodyPr>
            <a:noAutofit/>
          </a:bodyPr>
          <a:lstStyle/>
          <a:p>
            <a:pPr marL="342900" lvl="1" algn="r" defTabSz="342900" rtl="0">
              <a:spcBef>
                <a:spcPct val="20000"/>
              </a:spcBef>
            </a:pPr>
            <a:r>
              <a:rPr lang="en-US" sz="2100" b="1" dirty="0" smtClean="0">
                <a:solidFill>
                  <a:schemeClr val="accent6"/>
                </a:solidFill>
              </a:rPr>
              <a:t>Reactions </a:t>
            </a:r>
            <a:r>
              <a:rPr lang="en-US" sz="2100" b="1" dirty="0">
                <a:solidFill>
                  <a:schemeClr val="accent6"/>
                </a:solidFill>
              </a:rPr>
              <a:t>of carboxylic acids (Chemistry only)</a:t>
            </a:r>
            <a:endParaRPr kumimoji="0" lang="en-US" sz="2100" b="1" i="0" u="none" strike="noStrike" kern="1200" cap="none" spc="0" normalizeH="0" baseline="0" noProof="0" dirty="0">
              <a:ln>
                <a:noFill/>
              </a:ln>
              <a:solidFill>
                <a:schemeClr val="accent6"/>
              </a:solidFill>
              <a:effectLst/>
              <a:uLnTx/>
              <a:uFillTx/>
              <a:latin typeface="Calibri"/>
              <a:ea typeface=""/>
              <a:cs typeface="News Gothic MT"/>
            </a:endParaRPr>
          </a:p>
        </p:txBody>
      </p:sp>
      <p:sp>
        <p:nvSpPr>
          <p:cNvPr id="3" name="TextBox 2"/>
          <p:cNvSpPr txBox="1"/>
          <p:nvPr/>
        </p:nvSpPr>
        <p:spPr>
          <a:xfrm>
            <a:off x="179512" y="836712"/>
            <a:ext cx="5616624" cy="400110"/>
          </a:xfrm>
          <a:prstGeom prst="rect">
            <a:avLst/>
          </a:prstGeom>
          <a:noFill/>
          <a:ln w="28575">
            <a:solidFill>
              <a:schemeClr val="accent6"/>
            </a:solidFill>
          </a:ln>
        </p:spPr>
        <p:txBody>
          <a:bodyPr wrap="square" rtlCol="0">
            <a:spAutoFit/>
          </a:bodyPr>
          <a:lstStyle/>
          <a:p>
            <a:r>
              <a:rPr lang="en-GB" sz="2000" dirty="0">
                <a:solidFill>
                  <a:schemeClr val="accent6">
                    <a:lumMod val="75000"/>
                  </a:schemeClr>
                </a:solidFill>
              </a:rPr>
              <a:t>Carboxylic acids </a:t>
            </a:r>
            <a:r>
              <a:rPr lang="en-GB" sz="2000" dirty="0"/>
              <a:t>have the functional group </a:t>
            </a:r>
            <a:r>
              <a:rPr lang="en-GB" sz="2000" b="1" dirty="0">
                <a:solidFill>
                  <a:schemeClr val="accent6">
                    <a:lumMod val="75000"/>
                  </a:schemeClr>
                </a:solidFill>
              </a:rPr>
              <a:t>-COOH</a:t>
            </a:r>
          </a:p>
        </p:txBody>
      </p:sp>
      <p:sp>
        <p:nvSpPr>
          <p:cNvPr id="5" name="TextBox 4"/>
          <p:cNvSpPr txBox="1"/>
          <p:nvPr/>
        </p:nvSpPr>
        <p:spPr>
          <a:xfrm>
            <a:off x="2987824" y="1813956"/>
            <a:ext cx="4896544" cy="1323439"/>
          </a:xfrm>
          <a:prstGeom prst="rect">
            <a:avLst/>
          </a:prstGeom>
          <a:noFill/>
          <a:ln w="28575">
            <a:solidFill>
              <a:schemeClr val="accent6"/>
            </a:solidFill>
          </a:ln>
        </p:spPr>
        <p:txBody>
          <a:bodyPr wrap="square" rtlCol="0">
            <a:spAutoFit/>
          </a:bodyPr>
          <a:lstStyle/>
          <a:p>
            <a:r>
              <a:rPr lang="en-GB" sz="2000" dirty="0" err="1"/>
              <a:t>Methanoic</a:t>
            </a:r>
            <a:r>
              <a:rPr lang="en-GB" sz="2000" dirty="0"/>
              <a:t> acid has the formula CHOOH</a:t>
            </a:r>
          </a:p>
          <a:p>
            <a:r>
              <a:rPr lang="en-GB" sz="2000" dirty="0"/>
              <a:t>Ethanoic acid has the formula CH</a:t>
            </a:r>
            <a:r>
              <a:rPr lang="en-GB" sz="2000" baseline="-25000" dirty="0"/>
              <a:t>3</a:t>
            </a:r>
            <a:r>
              <a:rPr lang="en-GB" sz="2000" dirty="0"/>
              <a:t>COOH </a:t>
            </a:r>
          </a:p>
          <a:p>
            <a:r>
              <a:rPr lang="en-GB" sz="2000" dirty="0" err="1"/>
              <a:t>Propanoic</a:t>
            </a:r>
            <a:r>
              <a:rPr lang="en-GB" sz="2000" dirty="0"/>
              <a:t> acid has the formula C</a:t>
            </a:r>
            <a:r>
              <a:rPr lang="en-GB" sz="2000" baseline="-25000" dirty="0"/>
              <a:t>2</a:t>
            </a:r>
            <a:r>
              <a:rPr lang="en-GB" sz="2000" dirty="0"/>
              <a:t>H</a:t>
            </a:r>
            <a:r>
              <a:rPr lang="en-GB" sz="2000" baseline="-25000" dirty="0"/>
              <a:t>5</a:t>
            </a:r>
            <a:r>
              <a:rPr lang="en-GB" sz="2000" dirty="0"/>
              <a:t>COOH </a:t>
            </a:r>
          </a:p>
          <a:p>
            <a:r>
              <a:rPr lang="en-GB" sz="2000" dirty="0" err="1"/>
              <a:t>Butanoic</a:t>
            </a:r>
            <a:r>
              <a:rPr lang="en-GB" sz="2000" dirty="0"/>
              <a:t> acid has the formula C</a:t>
            </a:r>
            <a:r>
              <a:rPr lang="en-GB" sz="2000" baseline="-25000" dirty="0"/>
              <a:t>3</a:t>
            </a:r>
            <a:r>
              <a:rPr lang="en-GB" sz="2000" dirty="0"/>
              <a:t>H</a:t>
            </a:r>
            <a:r>
              <a:rPr lang="en-GB" sz="2000" baseline="-25000" dirty="0"/>
              <a:t>7</a:t>
            </a:r>
            <a:r>
              <a:rPr lang="en-GB" sz="2000" dirty="0"/>
              <a:t>COOH</a:t>
            </a:r>
          </a:p>
        </p:txBody>
      </p:sp>
      <p:grpSp>
        <p:nvGrpSpPr>
          <p:cNvPr id="9" name="Group 8"/>
          <p:cNvGrpSpPr/>
          <p:nvPr/>
        </p:nvGrpSpPr>
        <p:grpSpPr>
          <a:xfrm>
            <a:off x="323528" y="4221088"/>
            <a:ext cx="3582824" cy="1677382"/>
            <a:chOff x="5220072" y="841978"/>
            <a:chExt cx="3582824" cy="1677382"/>
          </a:xfrm>
        </p:grpSpPr>
        <p:sp>
          <p:nvSpPr>
            <p:cNvPr id="4" name="TextBox 3"/>
            <p:cNvSpPr txBox="1"/>
            <p:nvPr/>
          </p:nvSpPr>
          <p:spPr>
            <a:xfrm>
              <a:off x="5220072" y="841978"/>
              <a:ext cx="3582824" cy="1677382"/>
            </a:xfrm>
            <a:custGeom>
              <a:avLst/>
              <a:gdLst>
                <a:gd name="connsiteX0" fmla="*/ 0 w 3312368"/>
                <a:gd name="connsiteY0" fmla="*/ 0 h 923330"/>
                <a:gd name="connsiteX1" fmla="*/ 3312368 w 3312368"/>
                <a:gd name="connsiteY1" fmla="*/ 0 h 923330"/>
                <a:gd name="connsiteX2" fmla="*/ 3312368 w 3312368"/>
                <a:gd name="connsiteY2" fmla="*/ 923330 h 923330"/>
                <a:gd name="connsiteX3" fmla="*/ 0 w 3312368"/>
                <a:gd name="connsiteY3" fmla="*/ 923330 h 923330"/>
                <a:gd name="connsiteX4" fmla="*/ 0 w 3312368"/>
                <a:gd name="connsiteY4" fmla="*/ 0 h 923330"/>
                <a:gd name="connsiteX0" fmla="*/ 0 w 3312368"/>
                <a:gd name="connsiteY0" fmla="*/ 77273 h 923330"/>
                <a:gd name="connsiteX1" fmla="*/ 3312368 w 3312368"/>
                <a:gd name="connsiteY1" fmla="*/ 0 h 923330"/>
                <a:gd name="connsiteX2" fmla="*/ 3312368 w 3312368"/>
                <a:gd name="connsiteY2" fmla="*/ 923330 h 923330"/>
                <a:gd name="connsiteX3" fmla="*/ 0 w 3312368"/>
                <a:gd name="connsiteY3" fmla="*/ 923330 h 923330"/>
                <a:gd name="connsiteX4" fmla="*/ 0 w 3312368"/>
                <a:gd name="connsiteY4" fmla="*/ 77273 h 923330"/>
                <a:gd name="connsiteX0" fmla="*/ 0 w 3312368"/>
                <a:gd name="connsiteY0" fmla="*/ 0 h 846057"/>
                <a:gd name="connsiteX1" fmla="*/ 3312368 w 3312368"/>
                <a:gd name="connsiteY1" fmla="*/ 0 h 846057"/>
                <a:gd name="connsiteX2" fmla="*/ 3312368 w 3312368"/>
                <a:gd name="connsiteY2" fmla="*/ 846057 h 846057"/>
                <a:gd name="connsiteX3" fmla="*/ 0 w 3312368"/>
                <a:gd name="connsiteY3" fmla="*/ 846057 h 846057"/>
                <a:gd name="connsiteX4" fmla="*/ 0 w 3312368"/>
                <a:gd name="connsiteY4" fmla="*/ 0 h 846057"/>
                <a:gd name="connsiteX0" fmla="*/ 0 w 3312368"/>
                <a:gd name="connsiteY0" fmla="*/ 0 h 1631669"/>
                <a:gd name="connsiteX1" fmla="*/ 3312368 w 3312368"/>
                <a:gd name="connsiteY1" fmla="*/ 0 h 1631669"/>
                <a:gd name="connsiteX2" fmla="*/ 3312368 w 3312368"/>
                <a:gd name="connsiteY2" fmla="*/ 1631669 h 1631669"/>
                <a:gd name="connsiteX3" fmla="*/ 0 w 3312368"/>
                <a:gd name="connsiteY3" fmla="*/ 846057 h 1631669"/>
                <a:gd name="connsiteX4" fmla="*/ 0 w 3312368"/>
                <a:gd name="connsiteY4" fmla="*/ 0 h 1631669"/>
                <a:gd name="connsiteX0" fmla="*/ 0 w 3312368"/>
                <a:gd name="connsiteY0" fmla="*/ 0 h 1631669"/>
                <a:gd name="connsiteX1" fmla="*/ 3312368 w 3312368"/>
                <a:gd name="connsiteY1" fmla="*/ 0 h 1631669"/>
                <a:gd name="connsiteX2" fmla="*/ 3312368 w 3312368"/>
                <a:gd name="connsiteY2" fmla="*/ 1631669 h 1631669"/>
                <a:gd name="connsiteX3" fmla="*/ 0 w 3312368"/>
                <a:gd name="connsiteY3" fmla="*/ 1631668 h 1631669"/>
                <a:gd name="connsiteX4" fmla="*/ 0 w 3312368"/>
                <a:gd name="connsiteY4" fmla="*/ 0 h 1631669"/>
                <a:gd name="connsiteX0" fmla="*/ 0 w 3312368"/>
                <a:gd name="connsiteY0" fmla="*/ 0 h 1696062"/>
                <a:gd name="connsiteX1" fmla="*/ 3312368 w 3312368"/>
                <a:gd name="connsiteY1" fmla="*/ 0 h 1696062"/>
                <a:gd name="connsiteX2" fmla="*/ 3312368 w 3312368"/>
                <a:gd name="connsiteY2" fmla="*/ 1631669 h 1696062"/>
                <a:gd name="connsiteX3" fmla="*/ 0 w 3312368"/>
                <a:gd name="connsiteY3" fmla="*/ 1696062 h 1696062"/>
                <a:gd name="connsiteX4" fmla="*/ 0 w 3312368"/>
                <a:gd name="connsiteY4" fmla="*/ 0 h 1696062"/>
                <a:gd name="connsiteX0" fmla="*/ 0 w 3312368"/>
                <a:gd name="connsiteY0" fmla="*/ 0 h 1708942"/>
                <a:gd name="connsiteX1" fmla="*/ 3312368 w 3312368"/>
                <a:gd name="connsiteY1" fmla="*/ 0 h 1708942"/>
                <a:gd name="connsiteX2" fmla="*/ 3312368 w 3312368"/>
                <a:gd name="connsiteY2" fmla="*/ 1708942 h 1708942"/>
                <a:gd name="connsiteX3" fmla="*/ 0 w 3312368"/>
                <a:gd name="connsiteY3" fmla="*/ 1696062 h 1708942"/>
                <a:gd name="connsiteX4" fmla="*/ 0 w 3312368"/>
                <a:gd name="connsiteY4" fmla="*/ 0 h 1708942"/>
                <a:gd name="connsiteX0" fmla="*/ 0 w 3582824"/>
                <a:gd name="connsiteY0" fmla="*/ 0 h 1708942"/>
                <a:gd name="connsiteX1" fmla="*/ 3582824 w 3582824"/>
                <a:gd name="connsiteY1" fmla="*/ 0 h 1708942"/>
                <a:gd name="connsiteX2" fmla="*/ 3312368 w 3582824"/>
                <a:gd name="connsiteY2" fmla="*/ 1708942 h 1708942"/>
                <a:gd name="connsiteX3" fmla="*/ 0 w 3582824"/>
                <a:gd name="connsiteY3" fmla="*/ 1696062 h 1708942"/>
                <a:gd name="connsiteX4" fmla="*/ 0 w 3582824"/>
                <a:gd name="connsiteY4" fmla="*/ 0 h 1708942"/>
                <a:gd name="connsiteX0" fmla="*/ 0 w 3582824"/>
                <a:gd name="connsiteY0" fmla="*/ 0 h 1708942"/>
                <a:gd name="connsiteX1" fmla="*/ 3582824 w 3582824"/>
                <a:gd name="connsiteY1" fmla="*/ 0 h 1708942"/>
                <a:gd name="connsiteX2" fmla="*/ 3582824 w 3582824"/>
                <a:gd name="connsiteY2" fmla="*/ 1708942 h 1708942"/>
                <a:gd name="connsiteX3" fmla="*/ 0 w 3582824"/>
                <a:gd name="connsiteY3" fmla="*/ 1696062 h 1708942"/>
                <a:gd name="connsiteX4" fmla="*/ 0 w 3582824"/>
                <a:gd name="connsiteY4" fmla="*/ 0 h 170894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582824" h="1708942">
                  <a:moveTo>
                    <a:pt x="0" y="0"/>
                  </a:moveTo>
                  <a:lnTo>
                    <a:pt x="3582824" y="0"/>
                  </a:lnTo>
                  <a:lnTo>
                    <a:pt x="3582824" y="1708942"/>
                  </a:lnTo>
                  <a:lnTo>
                    <a:pt x="0" y="1696062"/>
                  </a:lnTo>
                  <a:lnTo>
                    <a:pt x="0" y="0"/>
                  </a:lnTo>
                  <a:close/>
                </a:path>
              </a:pathLst>
            </a:custGeom>
            <a:noFill/>
            <a:ln w="28575">
              <a:solidFill>
                <a:schemeClr val="accent6"/>
              </a:solidFill>
            </a:ln>
          </p:spPr>
          <p:txBody>
            <a:bodyPr wrap="square" rtlCol="0">
              <a:spAutoFit/>
            </a:bodyPr>
            <a:lstStyle/>
            <a:p>
              <a:r>
                <a:rPr lang="en-GB" sz="1700" dirty="0"/>
                <a:t>An alternative way to show the carboxylic acid structure is</a:t>
              </a:r>
              <a:r>
                <a:rPr lang="en-GB" sz="1700" dirty="0" smtClean="0"/>
                <a:t>:</a:t>
              </a:r>
            </a:p>
            <a:p>
              <a:endParaRPr lang="en-GB" sz="1700" dirty="0"/>
            </a:p>
            <a:p>
              <a:endParaRPr lang="en-GB" sz="1700" dirty="0" smtClean="0"/>
            </a:p>
            <a:p>
              <a:endParaRPr lang="en-GB" sz="1700" dirty="0"/>
            </a:p>
            <a:p>
              <a:endParaRPr lang="en-GB" dirty="0"/>
            </a:p>
          </p:txBody>
        </p:sp>
        <p:pic>
          <p:nvPicPr>
            <p:cNvPr id="6" name="Picture 5"/>
            <p:cNvPicPr>
              <a:picLocks noChangeAspect="1"/>
            </p:cNvPicPr>
            <p:nvPr/>
          </p:nvPicPr>
          <p:blipFill>
            <a:blip r:embed="rId3"/>
            <a:stretch>
              <a:fillRect/>
            </a:stretch>
          </p:blipFill>
          <p:spPr>
            <a:xfrm>
              <a:off x="5292080" y="1399740"/>
              <a:ext cx="3096344" cy="949140"/>
            </a:xfrm>
            <a:prstGeom prst="rect">
              <a:avLst/>
            </a:prstGeom>
          </p:spPr>
        </p:pic>
      </p:grpSp>
      <p:pic>
        <p:nvPicPr>
          <p:cNvPr id="10" name="Picture 9"/>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4427984" y="3137395"/>
            <a:ext cx="4248472" cy="3282910"/>
          </a:xfrm>
          <a:prstGeom prst="rect">
            <a:avLst/>
          </a:prstGeom>
        </p:spPr>
      </p:pic>
    </p:spTree>
    <p:extLst>
      <p:ext uri="{BB962C8B-B14F-4D97-AF65-F5344CB8AC3E}">
        <p14:creationId xmlns:p14="http://schemas.microsoft.com/office/powerpoint/2010/main" val="3820355692"/>
      </p:ext>
    </p:extLst>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115616" y="-14024"/>
            <a:ext cx="8017076" cy="657041"/>
          </a:xfrm>
        </p:spPr>
        <p:txBody>
          <a:bodyPr>
            <a:noAutofit/>
          </a:bodyPr>
          <a:lstStyle/>
          <a:p>
            <a:pPr marL="342900" lvl="1" algn="r" defTabSz="342900" rtl="0">
              <a:spcBef>
                <a:spcPct val="20000"/>
              </a:spcBef>
            </a:pPr>
            <a:r>
              <a:rPr lang="en-US" sz="2100" b="1" dirty="0" smtClean="0">
                <a:solidFill>
                  <a:schemeClr val="accent6"/>
                </a:solidFill>
              </a:rPr>
              <a:t>Reactions </a:t>
            </a:r>
            <a:r>
              <a:rPr lang="en-US" sz="2100" b="1" dirty="0">
                <a:solidFill>
                  <a:schemeClr val="accent6"/>
                </a:solidFill>
              </a:rPr>
              <a:t>of carboxylic acids (Chemistry only)</a:t>
            </a:r>
            <a:endParaRPr kumimoji="0" lang="en-US" sz="2100" b="1" i="0" u="none" strike="noStrike" kern="1200" cap="none" spc="0" normalizeH="0" baseline="0" noProof="0" dirty="0">
              <a:ln>
                <a:noFill/>
              </a:ln>
              <a:solidFill>
                <a:schemeClr val="accent6"/>
              </a:solidFill>
              <a:effectLst/>
              <a:uLnTx/>
              <a:uFillTx/>
              <a:latin typeface="Calibri"/>
              <a:ea typeface=""/>
              <a:cs typeface="News Gothic MT"/>
            </a:endParaRPr>
          </a:p>
        </p:txBody>
      </p:sp>
      <p:sp>
        <p:nvSpPr>
          <p:cNvPr id="7" name="TextBox 6"/>
          <p:cNvSpPr txBox="1"/>
          <p:nvPr/>
        </p:nvSpPr>
        <p:spPr>
          <a:xfrm>
            <a:off x="158782" y="1027023"/>
            <a:ext cx="8623384" cy="3170099"/>
          </a:xfrm>
          <a:prstGeom prst="rect">
            <a:avLst/>
          </a:prstGeom>
          <a:noFill/>
        </p:spPr>
        <p:txBody>
          <a:bodyPr wrap="square" rtlCol="0">
            <a:spAutoFit/>
          </a:bodyPr>
          <a:lstStyle/>
          <a:p>
            <a:r>
              <a:rPr lang="en-GB" sz="2000" dirty="0"/>
              <a:t>Carboxylic acids have a number of important reactions:</a:t>
            </a:r>
          </a:p>
          <a:p>
            <a:pPr marL="285750" indent="-285750">
              <a:buFont typeface="Arial" panose="020B0604020202020204" pitchFamily="34" charset="0"/>
              <a:buChar char="•"/>
            </a:pPr>
            <a:r>
              <a:rPr lang="en-GB" sz="2000" dirty="0"/>
              <a:t>When we react carboxylic acids with a </a:t>
            </a:r>
            <a:r>
              <a:rPr lang="en-GB" sz="2000" b="1" dirty="0">
                <a:solidFill>
                  <a:schemeClr val="accent6">
                    <a:lumMod val="75000"/>
                  </a:schemeClr>
                </a:solidFill>
              </a:rPr>
              <a:t>metal carbonate </a:t>
            </a:r>
            <a:r>
              <a:rPr lang="en-GB" sz="2000" dirty="0"/>
              <a:t>a </a:t>
            </a:r>
            <a:r>
              <a:rPr lang="en-GB" sz="2000" b="1" dirty="0">
                <a:solidFill>
                  <a:schemeClr val="accent6">
                    <a:lumMod val="75000"/>
                  </a:schemeClr>
                </a:solidFill>
              </a:rPr>
              <a:t>salt, carbon dioxide </a:t>
            </a:r>
            <a:r>
              <a:rPr lang="en-GB" sz="2000" dirty="0"/>
              <a:t>and </a:t>
            </a:r>
            <a:r>
              <a:rPr lang="en-GB" sz="2000" b="1" dirty="0">
                <a:solidFill>
                  <a:schemeClr val="accent6">
                    <a:lumMod val="75000"/>
                  </a:schemeClr>
                </a:solidFill>
              </a:rPr>
              <a:t>water</a:t>
            </a:r>
            <a:r>
              <a:rPr lang="en-GB" sz="2000" dirty="0"/>
              <a:t> are produced e.g.</a:t>
            </a:r>
          </a:p>
          <a:p>
            <a:pPr algn="r"/>
            <a:r>
              <a:rPr lang="en-GB" sz="2000" b="1" dirty="0"/>
              <a:t>Sodium carbonate + </a:t>
            </a:r>
            <a:r>
              <a:rPr lang="en-GB" sz="2000" b="1" dirty="0" err="1"/>
              <a:t>propanoic</a:t>
            </a:r>
            <a:r>
              <a:rPr lang="en-GB" sz="2000" b="1" dirty="0"/>
              <a:t> acid </a:t>
            </a:r>
            <a:r>
              <a:rPr lang="en-GB" sz="2000" b="1" dirty="0">
                <a:sym typeface="Wingdings" panose="05000000000000000000" pitchFamily="2" charset="2"/>
              </a:rPr>
              <a:t> sodium </a:t>
            </a:r>
            <a:r>
              <a:rPr lang="en-GB" sz="2000" b="1" dirty="0" err="1">
                <a:sym typeface="Wingdings" panose="05000000000000000000" pitchFamily="2" charset="2"/>
              </a:rPr>
              <a:t>propanoate</a:t>
            </a:r>
            <a:r>
              <a:rPr lang="en-GB" sz="2000" b="1" dirty="0">
                <a:sym typeface="Wingdings" panose="05000000000000000000" pitchFamily="2" charset="2"/>
              </a:rPr>
              <a:t> + carbon dioxide + water</a:t>
            </a:r>
          </a:p>
          <a:p>
            <a:pPr marL="285750" indent="-285750">
              <a:buFont typeface="Arial" panose="020B0604020202020204" pitchFamily="34" charset="0"/>
              <a:buChar char="•"/>
            </a:pPr>
            <a:r>
              <a:rPr lang="en-GB" sz="2000" dirty="0"/>
              <a:t>Carboxylic acids with </a:t>
            </a:r>
            <a:r>
              <a:rPr lang="en-GB" sz="2000" b="1" dirty="0">
                <a:solidFill>
                  <a:schemeClr val="accent6">
                    <a:lumMod val="75000"/>
                  </a:schemeClr>
                </a:solidFill>
              </a:rPr>
              <a:t>five or less carbons dissolve in water.</a:t>
            </a:r>
            <a:r>
              <a:rPr lang="en-GB" sz="2000" dirty="0"/>
              <a:t> Carboxylic acids with </a:t>
            </a:r>
            <a:r>
              <a:rPr lang="en-GB" sz="2000" b="1" dirty="0">
                <a:solidFill>
                  <a:schemeClr val="accent6">
                    <a:lumMod val="75000"/>
                  </a:schemeClr>
                </a:solidFill>
              </a:rPr>
              <a:t>more than five carbons in them are less soluble</a:t>
            </a:r>
            <a:r>
              <a:rPr lang="en-GB" sz="2000" dirty="0"/>
              <a:t>.</a:t>
            </a:r>
          </a:p>
          <a:p>
            <a:pPr marL="285750" indent="-285750">
              <a:buFont typeface="Arial" panose="020B0604020202020204" pitchFamily="34" charset="0"/>
              <a:buChar char="•"/>
            </a:pPr>
            <a:r>
              <a:rPr lang="en-GB" sz="2000" dirty="0"/>
              <a:t>Carboxylic acids will </a:t>
            </a:r>
            <a:r>
              <a:rPr lang="en-GB" sz="2000" b="1" dirty="0">
                <a:solidFill>
                  <a:schemeClr val="accent6">
                    <a:lumMod val="75000"/>
                  </a:schemeClr>
                </a:solidFill>
              </a:rPr>
              <a:t>react with alcohols </a:t>
            </a:r>
            <a:r>
              <a:rPr lang="en-GB" sz="2000" dirty="0"/>
              <a:t>to make an </a:t>
            </a:r>
            <a:r>
              <a:rPr lang="en-GB" sz="2000" b="1" dirty="0">
                <a:solidFill>
                  <a:schemeClr val="accent6">
                    <a:lumMod val="75000"/>
                  </a:schemeClr>
                </a:solidFill>
              </a:rPr>
              <a:t>ester and water</a:t>
            </a:r>
            <a:r>
              <a:rPr lang="en-GB" sz="2000" dirty="0"/>
              <a:t>, an </a:t>
            </a:r>
            <a:r>
              <a:rPr lang="en-GB" sz="2000" b="1" dirty="0">
                <a:solidFill>
                  <a:schemeClr val="accent6">
                    <a:lumMod val="75000"/>
                  </a:schemeClr>
                </a:solidFill>
              </a:rPr>
              <a:t>acid catalyst </a:t>
            </a:r>
            <a:r>
              <a:rPr lang="en-GB" sz="2000" dirty="0"/>
              <a:t>is needed (ethyl ethanoate is the ester below)</a:t>
            </a:r>
          </a:p>
          <a:p>
            <a:pPr algn="ctr"/>
            <a:r>
              <a:rPr lang="en-GB" sz="2000" b="1" dirty="0"/>
              <a:t>Ethanoic acid  +  ethanol </a:t>
            </a:r>
            <a:r>
              <a:rPr lang="en-GB" sz="2000" b="1" dirty="0">
                <a:sym typeface="Wingdings" panose="05000000000000000000" pitchFamily="2" charset="2"/>
              </a:rPr>
              <a:t>  ethyl ethanoate  +  water</a:t>
            </a:r>
            <a:endParaRPr lang="en-GB" sz="2000" b="1" dirty="0"/>
          </a:p>
        </p:txBody>
      </p:sp>
      <p:sp>
        <p:nvSpPr>
          <p:cNvPr id="8" name="TextBox 7"/>
          <p:cNvSpPr txBox="1"/>
          <p:nvPr/>
        </p:nvSpPr>
        <p:spPr>
          <a:xfrm>
            <a:off x="158782" y="4581128"/>
            <a:ext cx="8623384" cy="1323439"/>
          </a:xfrm>
          <a:custGeom>
            <a:avLst/>
            <a:gdLst>
              <a:gd name="connsiteX0" fmla="*/ 0 w 8623384"/>
              <a:gd name="connsiteY0" fmla="*/ 0 h 1200329"/>
              <a:gd name="connsiteX1" fmla="*/ 8623384 w 8623384"/>
              <a:gd name="connsiteY1" fmla="*/ 0 h 1200329"/>
              <a:gd name="connsiteX2" fmla="*/ 8623384 w 8623384"/>
              <a:gd name="connsiteY2" fmla="*/ 1200329 h 1200329"/>
              <a:gd name="connsiteX3" fmla="*/ 0 w 8623384"/>
              <a:gd name="connsiteY3" fmla="*/ 1200329 h 1200329"/>
              <a:gd name="connsiteX4" fmla="*/ 0 w 8623384"/>
              <a:gd name="connsiteY4" fmla="*/ 0 h 1200329"/>
              <a:gd name="connsiteX0" fmla="*/ 0 w 8623384"/>
              <a:gd name="connsiteY0" fmla="*/ 0 h 1354875"/>
              <a:gd name="connsiteX1" fmla="*/ 8623384 w 8623384"/>
              <a:gd name="connsiteY1" fmla="*/ 154546 h 1354875"/>
              <a:gd name="connsiteX2" fmla="*/ 8623384 w 8623384"/>
              <a:gd name="connsiteY2" fmla="*/ 1354875 h 1354875"/>
              <a:gd name="connsiteX3" fmla="*/ 0 w 8623384"/>
              <a:gd name="connsiteY3" fmla="*/ 1354875 h 1354875"/>
              <a:gd name="connsiteX4" fmla="*/ 0 w 8623384"/>
              <a:gd name="connsiteY4" fmla="*/ 0 h 1354875"/>
              <a:gd name="connsiteX0" fmla="*/ 0 w 8623384"/>
              <a:gd name="connsiteY0" fmla="*/ 0 h 1354875"/>
              <a:gd name="connsiteX1" fmla="*/ 8623384 w 8623384"/>
              <a:gd name="connsiteY1" fmla="*/ 25757 h 1354875"/>
              <a:gd name="connsiteX2" fmla="*/ 8623384 w 8623384"/>
              <a:gd name="connsiteY2" fmla="*/ 1354875 h 1354875"/>
              <a:gd name="connsiteX3" fmla="*/ 0 w 8623384"/>
              <a:gd name="connsiteY3" fmla="*/ 1354875 h 1354875"/>
              <a:gd name="connsiteX4" fmla="*/ 0 w 8623384"/>
              <a:gd name="connsiteY4" fmla="*/ 0 h 1354875"/>
              <a:gd name="connsiteX0" fmla="*/ 0 w 8623384"/>
              <a:gd name="connsiteY0" fmla="*/ 0 h 1354875"/>
              <a:gd name="connsiteX1" fmla="*/ 8623384 w 8623384"/>
              <a:gd name="connsiteY1" fmla="*/ 0 h 1354875"/>
              <a:gd name="connsiteX2" fmla="*/ 8623384 w 8623384"/>
              <a:gd name="connsiteY2" fmla="*/ 1354875 h 1354875"/>
              <a:gd name="connsiteX3" fmla="*/ 0 w 8623384"/>
              <a:gd name="connsiteY3" fmla="*/ 1354875 h 1354875"/>
              <a:gd name="connsiteX4" fmla="*/ 0 w 8623384"/>
              <a:gd name="connsiteY4" fmla="*/ 0 h 1354875"/>
              <a:gd name="connsiteX0" fmla="*/ 0 w 8623384"/>
              <a:gd name="connsiteY0" fmla="*/ 0 h 1354875"/>
              <a:gd name="connsiteX1" fmla="*/ 8623384 w 8623384"/>
              <a:gd name="connsiteY1" fmla="*/ 0 h 1354875"/>
              <a:gd name="connsiteX2" fmla="*/ 8623384 w 8623384"/>
              <a:gd name="connsiteY2" fmla="*/ 1354875 h 1354875"/>
              <a:gd name="connsiteX3" fmla="*/ 0 w 8623384"/>
              <a:gd name="connsiteY3" fmla="*/ 1213208 h 1354875"/>
              <a:gd name="connsiteX4" fmla="*/ 0 w 8623384"/>
              <a:gd name="connsiteY4" fmla="*/ 0 h 1354875"/>
              <a:gd name="connsiteX0" fmla="*/ 0 w 8636263"/>
              <a:gd name="connsiteY0" fmla="*/ 0 h 1213208"/>
              <a:gd name="connsiteX1" fmla="*/ 8623384 w 8636263"/>
              <a:gd name="connsiteY1" fmla="*/ 0 h 1213208"/>
              <a:gd name="connsiteX2" fmla="*/ 8636263 w 8636263"/>
              <a:gd name="connsiteY2" fmla="*/ 1200329 h 1213208"/>
              <a:gd name="connsiteX3" fmla="*/ 0 w 8636263"/>
              <a:gd name="connsiteY3" fmla="*/ 1213208 h 1213208"/>
              <a:gd name="connsiteX4" fmla="*/ 0 w 8636263"/>
              <a:gd name="connsiteY4" fmla="*/ 0 h 1213208"/>
              <a:gd name="connsiteX0" fmla="*/ 0 w 8636263"/>
              <a:gd name="connsiteY0" fmla="*/ 0 h 1226087"/>
              <a:gd name="connsiteX1" fmla="*/ 8623384 w 8636263"/>
              <a:gd name="connsiteY1" fmla="*/ 0 h 1226087"/>
              <a:gd name="connsiteX2" fmla="*/ 8636263 w 8636263"/>
              <a:gd name="connsiteY2" fmla="*/ 1226087 h 1226087"/>
              <a:gd name="connsiteX3" fmla="*/ 0 w 8636263"/>
              <a:gd name="connsiteY3" fmla="*/ 1213208 h 1226087"/>
              <a:gd name="connsiteX4" fmla="*/ 0 w 8636263"/>
              <a:gd name="connsiteY4" fmla="*/ 0 h 1226087"/>
              <a:gd name="connsiteX0" fmla="*/ 0 w 8636263"/>
              <a:gd name="connsiteY0" fmla="*/ 0 h 1213208"/>
              <a:gd name="connsiteX1" fmla="*/ 8623384 w 8636263"/>
              <a:gd name="connsiteY1" fmla="*/ 0 h 1213208"/>
              <a:gd name="connsiteX2" fmla="*/ 8636263 w 8636263"/>
              <a:gd name="connsiteY2" fmla="*/ 1213208 h 1213208"/>
              <a:gd name="connsiteX3" fmla="*/ 0 w 8636263"/>
              <a:gd name="connsiteY3" fmla="*/ 1213208 h 1213208"/>
              <a:gd name="connsiteX4" fmla="*/ 0 w 8636263"/>
              <a:gd name="connsiteY4" fmla="*/ 0 h 1213208"/>
              <a:gd name="connsiteX0" fmla="*/ 0 w 8623384"/>
              <a:gd name="connsiteY0" fmla="*/ 0 h 1213208"/>
              <a:gd name="connsiteX1" fmla="*/ 8623384 w 8623384"/>
              <a:gd name="connsiteY1" fmla="*/ 0 h 1213208"/>
              <a:gd name="connsiteX2" fmla="*/ 8623384 w 8623384"/>
              <a:gd name="connsiteY2" fmla="*/ 1200329 h 1213208"/>
              <a:gd name="connsiteX3" fmla="*/ 0 w 8623384"/>
              <a:gd name="connsiteY3" fmla="*/ 1213208 h 1213208"/>
              <a:gd name="connsiteX4" fmla="*/ 0 w 8623384"/>
              <a:gd name="connsiteY4" fmla="*/ 0 h 1213208"/>
              <a:gd name="connsiteX0" fmla="*/ 0 w 8623384"/>
              <a:gd name="connsiteY0" fmla="*/ 0 h 1226087"/>
              <a:gd name="connsiteX1" fmla="*/ 8623384 w 8623384"/>
              <a:gd name="connsiteY1" fmla="*/ 0 h 1226087"/>
              <a:gd name="connsiteX2" fmla="*/ 8623384 w 8623384"/>
              <a:gd name="connsiteY2" fmla="*/ 1226087 h 1226087"/>
              <a:gd name="connsiteX3" fmla="*/ 0 w 8623384"/>
              <a:gd name="connsiteY3" fmla="*/ 1213208 h 1226087"/>
              <a:gd name="connsiteX4" fmla="*/ 0 w 8623384"/>
              <a:gd name="connsiteY4" fmla="*/ 0 h 1226087"/>
              <a:gd name="connsiteX0" fmla="*/ 0 w 8623384"/>
              <a:gd name="connsiteY0" fmla="*/ 0 h 1213208"/>
              <a:gd name="connsiteX1" fmla="*/ 8623384 w 8623384"/>
              <a:gd name="connsiteY1" fmla="*/ 0 h 1213208"/>
              <a:gd name="connsiteX2" fmla="*/ 8623384 w 8623384"/>
              <a:gd name="connsiteY2" fmla="*/ 1213208 h 1213208"/>
              <a:gd name="connsiteX3" fmla="*/ 0 w 8623384"/>
              <a:gd name="connsiteY3" fmla="*/ 1213208 h 1213208"/>
              <a:gd name="connsiteX4" fmla="*/ 0 w 8623384"/>
              <a:gd name="connsiteY4" fmla="*/ 0 h 121320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623384" h="1213208">
                <a:moveTo>
                  <a:pt x="0" y="0"/>
                </a:moveTo>
                <a:lnTo>
                  <a:pt x="8623384" y="0"/>
                </a:lnTo>
                <a:lnTo>
                  <a:pt x="8623384" y="1213208"/>
                </a:lnTo>
                <a:lnTo>
                  <a:pt x="0" y="1213208"/>
                </a:lnTo>
                <a:lnTo>
                  <a:pt x="0" y="0"/>
                </a:lnTo>
                <a:close/>
              </a:path>
            </a:pathLst>
          </a:custGeom>
          <a:noFill/>
          <a:ln w="28575">
            <a:solidFill>
              <a:schemeClr val="accent6"/>
            </a:solidFill>
          </a:ln>
        </p:spPr>
        <p:txBody>
          <a:bodyPr wrap="square" rtlCol="0">
            <a:spAutoFit/>
          </a:bodyPr>
          <a:lstStyle/>
          <a:p>
            <a:r>
              <a:rPr lang="en-GB" sz="2000" b="1" dirty="0"/>
              <a:t>(HT only)</a:t>
            </a:r>
          </a:p>
          <a:p>
            <a:r>
              <a:rPr lang="en-GB" sz="2000" dirty="0"/>
              <a:t>Carboxylic acids are described as </a:t>
            </a:r>
            <a:r>
              <a:rPr lang="en-GB" sz="2000" b="1" dirty="0">
                <a:solidFill>
                  <a:schemeClr val="accent6">
                    <a:lumMod val="75000"/>
                  </a:schemeClr>
                </a:solidFill>
              </a:rPr>
              <a:t>weak acids </a:t>
            </a:r>
            <a:r>
              <a:rPr lang="en-GB" sz="2000" dirty="0"/>
              <a:t>as they are only </a:t>
            </a:r>
            <a:r>
              <a:rPr lang="en-GB" sz="2000" b="1" dirty="0">
                <a:solidFill>
                  <a:schemeClr val="accent6">
                    <a:lumMod val="75000"/>
                  </a:schemeClr>
                </a:solidFill>
              </a:rPr>
              <a:t>partially ionised</a:t>
            </a:r>
            <a:r>
              <a:rPr lang="en-GB" sz="2000" dirty="0"/>
              <a:t>, therefore they give off relatively </a:t>
            </a:r>
            <a:r>
              <a:rPr lang="en-GB" sz="2000" b="1" dirty="0">
                <a:solidFill>
                  <a:schemeClr val="accent6">
                    <a:lumMod val="75000"/>
                  </a:schemeClr>
                </a:solidFill>
              </a:rPr>
              <a:t>few hydrogen ions </a:t>
            </a:r>
            <a:r>
              <a:rPr lang="en-GB" sz="2000" dirty="0"/>
              <a:t>in comparison to strong acids and have a </a:t>
            </a:r>
            <a:r>
              <a:rPr lang="en-GB" sz="2000" b="1" dirty="0">
                <a:solidFill>
                  <a:schemeClr val="accent6">
                    <a:lumMod val="75000"/>
                  </a:schemeClr>
                </a:solidFill>
              </a:rPr>
              <a:t>higher</a:t>
            </a:r>
            <a:r>
              <a:rPr lang="en-GB" sz="2000" dirty="0">
                <a:solidFill>
                  <a:schemeClr val="accent6">
                    <a:lumMod val="75000"/>
                  </a:schemeClr>
                </a:solidFill>
              </a:rPr>
              <a:t> </a:t>
            </a:r>
            <a:r>
              <a:rPr lang="en-GB" sz="2000" b="1" dirty="0">
                <a:solidFill>
                  <a:schemeClr val="accent6">
                    <a:lumMod val="75000"/>
                  </a:schemeClr>
                </a:solidFill>
              </a:rPr>
              <a:t>pH</a:t>
            </a:r>
            <a:r>
              <a:rPr lang="en-GB" sz="2000" dirty="0">
                <a:solidFill>
                  <a:schemeClr val="accent6">
                    <a:lumMod val="75000"/>
                  </a:schemeClr>
                </a:solidFill>
              </a:rPr>
              <a:t> </a:t>
            </a:r>
            <a:r>
              <a:rPr lang="en-GB" sz="2000" dirty="0"/>
              <a:t>than strong acids.</a:t>
            </a:r>
          </a:p>
        </p:txBody>
      </p:sp>
    </p:spTree>
    <p:extLst>
      <p:ext uri="{BB962C8B-B14F-4D97-AF65-F5344CB8AC3E}">
        <p14:creationId xmlns:p14="http://schemas.microsoft.com/office/powerpoint/2010/main" val="1749790604"/>
      </p:ext>
    </p:extLst>
  </p:cSld>
  <p:clrMapOvr>
    <a:masterClrMapping/>
  </p:clrMapOvr>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149087" y="802524"/>
            <a:ext cx="8915400" cy="5595731"/>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a:lstStyle/>
          <a:p>
            <a:pPr marL="342900" marR="0" lvl="0" indent="-342900" defTabSz="914400" eaLnBrk="1" fontAlgn="auto" latinLnBrk="0" hangingPunct="1">
              <a:lnSpc>
                <a:spcPct val="100000"/>
              </a:lnSpc>
              <a:spcBef>
                <a:spcPts val="0"/>
              </a:spcBef>
              <a:spcAft>
                <a:spcPts val="0"/>
              </a:spcAft>
              <a:buClrTx/>
              <a:buSzTx/>
              <a:buFont typeface="+mj-lt"/>
              <a:buNone/>
              <a:tabLst/>
              <a:defRPr/>
            </a:pPr>
            <a:endParaRPr lang="en-GB" sz="2000" dirty="0">
              <a:solidFill>
                <a:schemeClr val="tx1"/>
              </a:solidFill>
            </a:endParaRPr>
          </a:p>
        </p:txBody>
      </p:sp>
      <p:sp>
        <p:nvSpPr>
          <p:cNvPr id="7" name="TextBox 6"/>
          <p:cNvSpPr txBox="1"/>
          <p:nvPr/>
        </p:nvSpPr>
        <p:spPr>
          <a:xfrm>
            <a:off x="113691" y="1041996"/>
            <a:ext cx="4716016" cy="4431983"/>
          </a:xfrm>
          <a:prstGeom prst="rect">
            <a:avLst/>
          </a:prstGeom>
          <a:noFill/>
        </p:spPr>
        <p:txBody>
          <a:bodyPr wrap="square" rtlCol="0">
            <a:spAutoFit/>
          </a:bodyPr>
          <a:lstStyle/>
          <a:p>
            <a:r>
              <a:rPr lang="en-GB" sz="7200" b="1" dirty="0">
                <a:latin typeface="+mj-lt"/>
                <a:ea typeface="Beirut" charset="-78"/>
                <a:cs typeface="Beirut" charset="-78"/>
              </a:rPr>
              <a:t>QuestionIT!</a:t>
            </a:r>
          </a:p>
          <a:p>
            <a:endParaRPr lang="en-GB" dirty="0"/>
          </a:p>
          <a:p>
            <a:endParaRPr lang="en-GB" dirty="0"/>
          </a:p>
          <a:p>
            <a:endParaRPr lang="en-GB" dirty="0"/>
          </a:p>
          <a:p>
            <a:r>
              <a:rPr lang="en-GB" sz="2800" b="1" dirty="0">
                <a:solidFill>
                  <a:schemeClr val="tx1">
                    <a:lumMod val="50000"/>
                    <a:lumOff val="50000"/>
                  </a:schemeClr>
                </a:solidFill>
              </a:rPr>
              <a:t>Reactions of alcohols and</a:t>
            </a:r>
          </a:p>
          <a:p>
            <a:r>
              <a:rPr lang="en-GB" sz="2800" b="1" dirty="0">
                <a:solidFill>
                  <a:schemeClr val="tx1">
                    <a:lumMod val="50000"/>
                    <a:lumOff val="50000"/>
                  </a:schemeClr>
                </a:solidFill>
              </a:rPr>
              <a:t>Carboxylic acids</a:t>
            </a:r>
          </a:p>
          <a:p>
            <a:r>
              <a:rPr lang="en-GB" sz="2800" b="1" dirty="0">
                <a:solidFill>
                  <a:schemeClr val="tx1">
                    <a:lumMod val="50000"/>
                    <a:lumOff val="50000"/>
                  </a:schemeClr>
                </a:solidFill>
              </a:rPr>
              <a:t>(Chemistry only)</a:t>
            </a:r>
          </a:p>
          <a:p>
            <a:pPr marL="457200" indent="-457200">
              <a:buFont typeface="Arial" charset="0"/>
              <a:buChar char="•"/>
            </a:pPr>
            <a:r>
              <a:rPr lang="en-GB" sz="2400" b="1" dirty="0">
                <a:solidFill>
                  <a:schemeClr val="tx1">
                    <a:lumMod val="50000"/>
                    <a:lumOff val="50000"/>
                  </a:schemeClr>
                </a:solidFill>
              </a:rPr>
              <a:t>Reaction of alcohols</a:t>
            </a:r>
          </a:p>
          <a:p>
            <a:pPr marL="285750" indent="-285750">
              <a:buFont typeface="Arial" panose="020B0604020202020204" pitchFamily="34" charset="0"/>
              <a:buChar char="•"/>
            </a:pPr>
            <a:r>
              <a:rPr lang="en-GB" sz="2400" b="1" dirty="0">
                <a:solidFill>
                  <a:schemeClr val="tx1">
                    <a:lumMod val="50000"/>
                    <a:lumOff val="50000"/>
                  </a:schemeClr>
                </a:solidFill>
              </a:rPr>
              <a:t>   Reactions of carboxylic</a:t>
            </a:r>
          </a:p>
          <a:p>
            <a:r>
              <a:rPr lang="en-GB" sz="2400" b="1" dirty="0">
                <a:solidFill>
                  <a:schemeClr val="tx1">
                    <a:lumMod val="50000"/>
                    <a:lumOff val="50000"/>
                  </a:schemeClr>
                </a:solidFill>
              </a:rPr>
              <a:t>        acids</a:t>
            </a:r>
          </a:p>
        </p:txBody>
      </p:sp>
      <p:pic>
        <p:nvPicPr>
          <p:cNvPr id="6" name="Picture 5"/>
          <p:cNvPicPr>
            <a:picLocks noChangeAspect="1"/>
          </p:cNvPicPr>
          <p:nvPr/>
        </p:nvPicPr>
        <p:blipFill>
          <a:blip r:embed="rId3">
            <a:clrChange>
              <a:clrFrom>
                <a:srgbClr val="FFFFFF"/>
              </a:clrFrom>
              <a:clrTo>
                <a:srgbClr val="FFFFFF">
                  <a:alpha val="0"/>
                </a:srgbClr>
              </a:clrTo>
            </a:clrChange>
          </a:blip>
          <a:stretch>
            <a:fillRect/>
          </a:stretch>
        </p:blipFill>
        <p:spPr>
          <a:xfrm>
            <a:off x="4211960" y="886544"/>
            <a:ext cx="4914900" cy="5638800"/>
          </a:xfrm>
          <a:prstGeom prst="rect">
            <a:avLst/>
          </a:prstGeom>
        </p:spPr>
      </p:pic>
    </p:spTree>
    <p:extLst>
      <p:ext uri="{BB962C8B-B14F-4D97-AF65-F5344CB8AC3E}">
        <p14:creationId xmlns:p14="http://schemas.microsoft.com/office/powerpoint/2010/main" val="1502569065"/>
      </p:ext>
    </p:extLst>
  </p:cSld>
  <p:clrMapOvr>
    <a:masterClrMapping/>
  </p:clrMapOvr>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187624" y="0"/>
            <a:ext cx="7956376" cy="657041"/>
          </a:xfrm>
        </p:spPr>
        <p:txBody>
          <a:bodyPr>
            <a:noAutofit/>
          </a:bodyPr>
          <a:lstStyle/>
          <a:p>
            <a:pPr marL="342900" lvl="1" algn="l" defTabSz="342900" rtl="0">
              <a:spcBef>
                <a:spcPct val="20000"/>
              </a:spcBef>
            </a:pPr>
            <a:r>
              <a:rPr lang="en-US" sz="1700" b="1" dirty="0">
                <a:solidFill>
                  <a:schemeClr val="accent6"/>
                </a:solidFill>
              </a:rPr>
              <a:t>Reactions of alcohols and carboxylic acids (Chemistry only)</a:t>
            </a:r>
            <a:r>
              <a:rPr lang="en-US" sz="1700" b="1" dirty="0">
                <a:solidFill>
                  <a:schemeClr val="tx1"/>
                </a:solidFill>
              </a:rPr>
              <a:t>Question</a:t>
            </a:r>
            <a:r>
              <a:rPr kumimoji="0" lang="en-US" sz="1700" b="1" i="0" u="none" strike="noStrike" kern="1200" cap="none" spc="0" normalizeH="0" baseline="0" noProof="0" dirty="0">
                <a:ln>
                  <a:noFill/>
                </a:ln>
                <a:solidFill>
                  <a:schemeClr val="tx1"/>
                </a:solidFill>
                <a:effectLst/>
                <a:uLnTx/>
                <a:uFillTx/>
                <a:latin typeface="Calibri"/>
                <a:ea typeface=""/>
                <a:cs typeface="News Gothic MT"/>
              </a:rPr>
              <a:t>IT</a:t>
            </a:r>
          </a:p>
        </p:txBody>
      </p:sp>
      <p:sp>
        <p:nvSpPr>
          <p:cNvPr id="4" name="Rectangle 3"/>
          <p:cNvSpPr/>
          <p:nvPr/>
        </p:nvSpPr>
        <p:spPr>
          <a:xfrm>
            <a:off x="149087" y="802524"/>
            <a:ext cx="8915400" cy="5595731"/>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a:lstStyle/>
          <a:p>
            <a:pPr marL="342900" marR="0" lvl="0" indent="-342900" defTabSz="914400" eaLnBrk="1" fontAlgn="auto" latinLnBrk="0" hangingPunct="1">
              <a:lnSpc>
                <a:spcPct val="100000"/>
              </a:lnSpc>
              <a:spcBef>
                <a:spcPts val="0"/>
              </a:spcBef>
              <a:spcAft>
                <a:spcPts val="0"/>
              </a:spcAft>
              <a:buClrTx/>
              <a:buSzTx/>
              <a:buFont typeface="+mj-lt"/>
              <a:buNone/>
              <a:tabLst/>
              <a:defRPr/>
            </a:pPr>
            <a:endParaRPr lang="en-GB" sz="2000" dirty="0">
              <a:solidFill>
                <a:schemeClr val="tx1"/>
              </a:solidFill>
            </a:endParaRPr>
          </a:p>
        </p:txBody>
      </p:sp>
      <p:sp>
        <p:nvSpPr>
          <p:cNvPr id="6" name="TextBox 5"/>
          <p:cNvSpPr txBox="1"/>
          <p:nvPr/>
        </p:nvSpPr>
        <p:spPr>
          <a:xfrm>
            <a:off x="141095" y="802524"/>
            <a:ext cx="8915400" cy="4524315"/>
          </a:xfrm>
          <a:prstGeom prst="rect">
            <a:avLst/>
          </a:prstGeom>
          <a:noFill/>
        </p:spPr>
        <p:txBody>
          <a:bodyPr wrap="square" rtlCol="0">
            <a:spAutoFit/>
          </a:bodyPr>
          <a:lstStyle/>
          <a:p>
            <a:pPr marL="457200" indent="-457200">
              <a:buFont typeface="+mj-lt"/>
              <a:buAutoNum type="arabicPeriod"/>
            </a:pPr>
            <a:r>
              <a:rPr lang="en-GB" sz="2400" dirty="0" smtClean="0"/>
              <a:t>Name </a:t>
            </a:r>
            <a:r>
              <a:rPr lang="en-GB" sz="2400" dirty="0"/>
              <a:t>and give the formulae of the first three alcohols</a:t>
            </a:r>
            <a:r>
              <a:rPr lang="en-GB" sz="2400" dirty="0" smtClean="0"/>
              <a:t>.</a:t>
            </a:r>
          </a:p>
          <a:p>
            <a:pPr marL="457200" indent="-457200">
              <a:buFont typeface="+mj-lt"/>
              <a:buAutoNum type="arabicPeriod"/>
            </a:pPr>
            <a:endParaRPr lang="en-GB" sz="2400" dirty="0"/>
          </a:p>
          <a:p>
            <a:pPr marL="457200" indent="-457200">
              <a:buFont typeface="+mj-lt"/>
              <a:buAutoNum type="arabicPeriod"/>
            </a:pPr>
            <a:r>
              <a:rPr lang="en-GB" sz="2400" dirty="0" smtClean="0"/>
              <a:t>What </a:t>
            </a:r>
            <a:r>
              <a:rPr lang="en-GB" sz="2400" dirty="0"/>
              <a:t>is the functional group that all alcohols contain</a:t>
            </a:r>
            <a:r>
              <a:rPr lang="en-GB" sz="2400" dirty="0" smtClean="0"/>
              <a:t>?</a:t>
            </a:r>
          </a:p>
          <a:p>
            <a:pPr marL="457200" indent="-457200">
              <a:buFont typeface="+mj-lt"/>
              <a:buAutoNum type="arabicPeriod"/>
            </a:pPr>
            <a:endParaRPr lang="en-GB" sz="2400" dirty="0"/>
          </a:p>
          <a:p>
            <a:pPr marL="457200" indent="-457200">
              <a:buFont typeface="+mj-lt"/>
              <a:buAutoNum type="arabicPeriod"/>
            </a:pPr>
            <a:r>
              <a:rPr lang="en-GB" sz="2400" dirty="0" smtClean="0"/>
              <a:t>What </a:t>
            </a:r>
            <a:r>
              <a:rPr lang="en-GB" sz="2400" dirty="0"/>
              <a:t>are the conditions needed for sugar to ferment into alcohol</a:t>
            </a:r>
            <a:r>
              <a:rPr lang="en-GB" sz="2400" dirty="0" smtClean="0"/>
              <a:t>?</a:t>
            </a:r>
          </a:p>
          <a:p>
            <a:pPr marL="457200" indent="-457200">
              <a:buFont typeface="+mj-lt"/>
              <a:buAutoNum type="arabicPeriod"/>
            </a:pPr>
            <a:endParaRPr lang="en-GB" sz="2400" dirty="0" smtClean="0"/>
          </a:p>
          <a:p>
            <a:pPr marL="457200" indent="-457200">
              <a:buFont typeface="+mj-lt"/>
              <a:buAutoNum type="arabicPeriod"/>
            </a:pPr>
            <a:r>
              <a:rPr lang="en-GB" sz="2400" dirty="0" smtClean="0"/>
              <a:t>Write a word equation for the reaction between ethanol and oxygen.</a:t>
            </a:r>
          </a:p>
          <a:p>
            <a:pPr marL="457200" indent="-457200">
              <a:buFont typeface="+mj-lt"/>
              <a:buAutoNum type="arabicPeriod"/>
            </a:pPr>
            <a:endParaRPr lang="en-GB" sz="2400" dirty="0" smtClean="0"/>
          </a:p>
          <a:p>
            <a:pPr marL="457200" indent="-457200">
              <a:buFont typeface="+mj-lt"/>
              <a:buAutoNum type="arabicPeriod"/>
            </a:pPr>
            <a:r>
              <a:rPr lang="en-GB" sz="2400" dirty="0" smtClean="0"/>
              <a:t>Write a word equation for the reaction between ethanol and sodium.</a:t>
            </a:r>
          </a:p>
          <a:p>
            <a:pPr marL="457200" indent="-457200">
              <a:buFont typeface="+mj-lt"/>
              <a:buAutoNum type="arabicPeriod"/>
            </a:pPr>
            <a:endParaRPr lang="en-GB" sz="2400" dirty="0"/>
          </a:p>
        </p:txBody>
      </p:sp>
    </p:spTree>
    <p:extLst>
      <p:ext uri="{BB962C8B-B14F-4D97-AF65-F5344CB8AC3E}">
        <p14:creationId xmlns:p14="http://schemas.microsoft.com/office/powerpoint/2010/main" val="4142341682"/>
      </p:ext>
    </p:extLst>
  </p:cSld>
  <p:clrMapOvr>
    <a:masterClrMapping/>
  </p:clrMapOvr>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187624" y="0"/>
            <a:ext cx="7956376" cy="657041"/>
          </a:xfrm>
        </p:spPr>
        <p:txBody>
          <a:bodyPr>
            <a:noAutofit/>
          </a:bodyPr>
          <a:lstStyle/>
          <a:p>
            <a:pPr marL="342900" lvl="1" algn="l" defTabSz="342900" rtl="0">
              <a:spcBef>
                <a:spcPct val="20000"/>
              </a:spcBef>
            </a:pPr>
            <a:r>
              <a:rPr lang="en-US" sz="1700" b="1" dirty="0">
                <a:solidFill>
                  <a:schemeClr val="accent6"/>
                </a:solidFill>
              </a:rPr>
              <a:t>Reactions of alcohols and carboxylic acids (Chemistry only)</a:t>
            </a:r>
            <a:r>
              <a:rPr lang="en-US" sz="1700" b="1" dirty="0">
                <a:solidFill>
                  <a:schemeClr val="tx1"/>
                </a:solidFill>
              </a:rPr>
              <a:t>Question</a:t>
            </a:r>
            <a:r>
              <a:rPr kumimoji="0" lang="en-US" sz="1700" b="1" i="0" u="none" strike="noStrike" kern="1200" cap="none" spc="0" normalizeH="0" baseline="0" noProof="0" dirty="0">
                <a:ln>
                  <a:noFill/>
                </a:ln>
                <a:solidFill>
                  <a:schemeClr val="tx1"/>
                </a:solidFill>
                <a:effectLst/>
                <a:uLnTx/>
                <a:uFillTx/>
                <a:latin typeface="Calibri"/>
                <a:ea typeface=""/>
                <a:cs typeface="News Gothic MT"/>
              </a:rPr>
              <a:t>IT</a:t>
            </a:r>
          </a:p>
        </p:txBody>
      </p:sp>
      <p:sp>
        <p:nvSpPr>
          <p:cNvPr id="4" name="Rectangle 3"/>
          <p:cNvSpPr/>
          <p:nvPr/>
        </p:nvSpPr>
        <p:spPr>
          <a:xfrm>
            <a:off x="149087" y="802524"/>
            <a:ext cx="8915400" cy="5595731"/>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a:lstStyle/>
          <a:p>
            <a:pPr marL="342900" marR="0" lvl="0" indent="-342900" defTabSz="914400" eaLnBrk="1" fontAlgn="auto" latinLnBrk="0" hangingPunct="1">
              <a:lnSpc>
                <a:spcPct val="100000"/>
              </a:lnSpc>
              <a:spcBef>
                <a:spcPts val="0"/>
              </a:spcBef>
              <a:spcAft>
                <a:spcPts val="0"/>
              </a:spcAft>
              <a:buClrTx/>
              <a:buSzTx/>
              <a:buFont typeface="+mj-lt"/>
              <a:buNone/>
              <a:tabLst/>
              <a:defRPr/>
            </a:pPr>
            <a:endParaRPr lang="en-GB" sz="2000" dirty="0">
              <a:solidFill>
                <a:schemeClr val="tx1"/>
              </a:solidFill>
            </a:endParaRPr>
          </a:p>
        </p:txBody>
      </p:sp>
      <p:sp>
        <p:nvSpPr>
          <p:cNvPr id="6" name="TextBox 5"/>
          <p:cNvSpPr txBox="1"/>
          <p:nvPr/>
        </p:nvSpPr>
        <p:spPr>
          <a:xfrm>
            <a:off x="141095" y="802524"/>
            <a:ext cx="8915400" cy="4524315"/>
          </a:xfrm>
          <a:prstGeom prst="rect">
            <a:avLst/>
          </a:prstGeom>
          <a:noFill/>
        </p:spPr>
        <p:txBody>
          <a:bodyPr wrap="square" rtlCol="0">
            <a:spAutoFit/>
          </a:bodyPr>
          <a:lstStyle/>
          <a:p>
            <a:pPr marL="457200" indent="-457200">
              <a:buFont typeface="+mj-lt"/>
              <a:buAutoNum type="arabicPeriod" startAt="6"/>
            </a:pPr>
            <a:r>
              <a:rPr lang="en-GB" sz="2400" dirty="0" smtClean="0"/>
              <a:t>What </a:t>
            </a:r>
            <a:r>
              <a:rPr lang="en-GB" sz="2400" dirty="0"/>
              <a:t>is the functional group that all carboxylic acids contain</a:t>
            </a:r>
            <a:r>
              <a:rPr lang="en-GB" sz="2400" dirty="0" smtClean="0"/>
              <a:t>?</a:t>
            </a:r>
          </a:p>
          <a:p>
            <a:pPr marL="457200" indent="-457200">
              <a:buFont typeface="+mj-lt"/>
              <a:buAutoNum type="arabicPeriod" startAt="6"/>
            </a:pPr>
            <a:endParaRPr lang="en-GB" sz="2400" dirty="0" smtClean="0"/>
          </a:p>
          <a:p>
            <a:pPr marL="457200" indent="-457200">
              <a:buFont typeface="+mj-lt"/>
              <a:buAutoNum type="arabicPeriod" startAt="6"/>
            </a:pPr>
            <a:r>
              <a:rPr lang="en-GB" sz="2400" dirty="0" smtClean="0"/>
              <a:t>Name the first four members of the homologous series of carboxylic acids.</a:t>
            </a:r>
          </a:p>
          <a:p>
            <a:pPr marL="457200" indent="-457200">
              <a:buFont typeface="+mj-lt"/>
              <a:buAutoNum type="arabicPeriod" startAt="6"/>
            </a:pPr>
            <a:endParaRPr lang="en-GB" sz="2400" dirty="0"/>
          </a:p>
          <a:p>
            <a:pPr marL="457200" indent="-457200">
              <a:buFont typeface="+mj-lt"/>
              <a:buAutoNum type="arabicPeriod" startAt="6"/>
            </a:pPr>
            <a:r>
              <a:rPr lang="en-GB" sz="2400" dirty="0" smtClean="0"/>
              <a:t>Name </a:t>
            </a:r>
            <a:r>
              <a:rPr lang="en-GB" sz="2400" dirty="0"/>
              <a:t>and give the formula of the carboxylic acid that contains four carbon </a:t>
            </a:r>
            <a:r>
              <a:rPr lang="en-GB" sz="2400" dirty="0" smtClean="0"/>
              <a:t>atoms.</a:t>
            </a:r>
          </a:p>
          <a:p>
            <a:pPr marL="457200" indent="-457200">
              <a:buFont typeface="+mj-lt"/>
              <a:buAutoNum type="arabicPeriod" startAt="6"/>
            </a:pPr>
            <a:endParaRPr lang="en-GB" sz="2400" dirty="0" smtClean="0"/>
          </a:p>
          <a:p>
            <a:pPr marL="457200" indent="-457200">
              <a:buFont typeface="+mj-lt"/>
              <a:buAutoNum type="arabicPeriod" startAt="6"/>
            </a:pPr>
            <a:r>
              <a:rPr lang="en-GB" sz="2400" dirty="0" smtClean="0"/>
              <a:t>Draw </a:t>
            </a:r>
            <a:r>
              <a:rPr lang="en-GB" sz="2400" dirty="0"/>
              <a:t>the structural formula of </a:t>
            </a:r>
            <a:r>
              <a:rPr lang="en-GB" sz="2400" dirty="0" err="1"/>
              <a:t>propanoic</a:t>
            </a:r>
            <a:r>
              <a:rPr lang="en-GB" sz="2400" dirty="0"/>
              <a:t> acid</a:t>
            </a:r>
            <a:r>
              <a:rPr lang="en-GB" sz="2400" dirty="0" smtClean="0"/>
              <a:t>.</a:t>
            </a:r>
          </a:p>
          <a:p>
            <a:pPr marL="457200" indent="-457200">
              <a:buFont typeface="+mj-lt"/>
              <a:buAutoNum type="arabicPeriod" startAt="6"/>
            </a:pPr>
            <a:endParaRPr lang="en-GB" sz="2400" dirty="0"/>
          </a:p>
          <a:p>
            <a:pPr marL="457200" indent="-457200">
              <a:buFont typeface="+mj-lt"/>
              <a:buAutoNum type="arabicPeriod" startAt="6"/>
            </a:pPr>
            <a:r>
              <a:rPr lang="en-GB" sz="2400" dirty="0" smtClean="0"/>
              <a:t>Which </a:t>
            </a:r>
            <a:r>
              <a:rPr lang="en-GB" sz="2400" dirty="0"/>
              <a:t>two chemicals are made when an alcohol and a carboxylic acid are reacted together</a:t>
            </a:r>
            <a:r>
              <a:rPr lang="en-GB" sz="2400" dirty="0" smtClean="0"/>
              <a:t>?</a:t>
            </a:r>
            <a:endParaRPr lang="en-GB" sz="2400" dirty="0"/>
          </a:p>
        </p:txBody>
      </p:sp>
    </p:spTree>
    <p:extLst>
      <p:ext uri="{BB962C8B-B14F-4D97-AF65-F5344CB8AC3E}">
        <p14:creationId xmlns:p14="http://schemas.microsoft.com/office/powerpoint/2010/main" val="2174643497"/>
      </p:ext>
    </p:extLst>
  </p:cSld>
  <p:clrMapOvr>
    <a:masterClrMapping/>
  </p:clrMapOvr>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149087" y="802524"/>
            <a:ext cx="8915400" cy="5595731"/>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a:lstStyle/>
          <a:p>
            <a:pPr marL="342900" marR="0" lvl="0" indent="-342900" defTabSz="914400" eaLnBrk="1" fontAlgn="auto" latinLnBrk="0" hangingPunct="1">
              <a:lnSpc>
                <a:spcPct val="100000"/>
              </a:lnSpc>
              <a:spcBef>
                <a:spcPts val="0"/>
              </a:spcBef>
              <a:spcAft>
                <a:spcPts val="0"/>
              </a:spcAft>
              <a:buClrTx/>
              <a:buSzTx/>
              <a:buFont typeface="+mj-lt"/>
              <a:buNone/>
              <a:tabLst/>
              <a:defRPr/>
            </a:pPr>
            <a:endParaRPr lang="en-GB" sz="2000" dirty="0">
              <a:solidFill>
                <a:schemeClr val="tx1"/>
              </a:solidFill>
            </a:endParaRPr>
          </a:p>
        </p:txBody>
      </p:sp>
      <p:sp>
        <p:nvSpPr>
          <p:cNvPr id="7" name="TextBox 6"/>
          <p:cNvSpPr txBox="1"/>
          <p:nvPr/>
        </p:nvSpPr>
        <p:spPr>
          <a:xfrm>
            <a:off x="0" y="980728"/>
            <a:ext cx="4716016" cy="4708981"/>
          </a:xfrm>
          <a:prstGeom prst="rect">
            <a:avLst/>
          </a:prstGeom>
          <a:noFill/>
        </p:spPr>
        <p:txBody>
          <a:bodyPr wrap="square" rtlCol="0">
            <a:spAutoFit/>
          </a:bodyPr>
          <a:lstStyle/>
          <a:p>
            <a:r>
              <a:rPr lang="en-GB" sz="7200" b="1" dirty="0">
                <a:latin typeface="+mj-lt"/>
                <a:ea typeface="Beirut" charset="-78"/>
                <a:cs typeface="Beirut" charset="-78"/>
              </a:rPr>
              <a:t>AnswerIT!</a:t>
            </a:r>
          </a:p>
          <a:p>
            <a:endParaRPr lang="en-GB" dirty="0"/>
          </a:p>
          <a:p>
            <a:endParaRPr lang="en-GB" dirty="0"/>
          </a:p>
          <a:p>
            <a:endParaRPr lang="en-GB" dirty="0"/>
          </a:p>
          <a:p>
            <a:r>
              <a:rPr lang="en-GB" sz="2800" b="1" dirty="0">
                <a:solidFill>
                  <a:schemeClr val="tx1">
                    <a:lumMod val="50000"/>
                    <a:lumOff val="50000"/>
                  </a:schemeClr>
                </a:solidFill>
              </a:rPr>
              <a:t>Reactions of alcohols and</a:t>
            </a:r>
          </a:p>
          <a:p>
            <a:r>
              <a:rPr lang="en-GB" sz="2800" b="1" dirty="0">
                <a:solidFill>
                  <a:schemeClr val="tx1">
                    <a:lumMod val="50000"/>
                    <a:lumOff val="50000"/>
                  </a:schemeClr>
                </a:solidFill>
              </a:rPr>
              <a:t>Carboxylic acids</a:t>
            </a:r>
          </a:p>
          <a:p>
            <a:r>
              <a:rPr lang="en-GB" sz="2800" b="1" dirty="0">
                <a:solidFill>
                  <a:schemeClr val="tx1">
                    <a:lumMod val="50000"/>
                    <a:lumOff val="50000"/>
                  </a:schemeClr>
                </a:solidFill>
              </a:rPr>
              <a:t>(Chemistry only)</a:t>
            </a:r>
          </a:p>
          <a:p>
            <a:pPr marL="457200" indent="-457200">
              <a:buFont typeface="Arial" charset="0"/>
              <a:buChar char="•"/>
            </a:pPr>
            <a:r>
              <a:rPr lang="en-GB" sz="2400" b="1" dirty="0">
                <a:solidFill>
                  <a:schemeClr val="tx1">
                    <a:lumMod val="50000"/>
                    <a:lumOff val="50000"/>
                  </a:schemeClr>
                </a:solidFill>
              </a:rPr>
              <a:t>Reaction of alcohols</a:t>
            </a:r>
          </a:p>
          <a:p>
            <a:pPr marL="285750" indent="-285750">
              <a:buFont typeface="Arial" panose="020B0604020202020204" pitchFamily="34" charset="0"/>
              <a:buChar char="•"/>
            </a:pPr>
            <a:r>
              <a:rPr lang="en-GB" sz="2400" b="1" dirty="0">
                <a:solidFill>
                  <a:schemeClr val="tx1">
                    <a:lumMod val="50000"/>
                    <a:lumOff val="50000"/>
                  </a:schemeClr>
                </a:solidFill>
              </a:rPr>
              <a:t>   Reactions of carboxylic</a:t>
            </a:r>
          </a:p>
          <a:p>
            <a:r>
              <a:rPr lang="en-GB" sz="2400" b="1" dirty="0">
                <a:solidFill>
                  <a:schemeClr val="tx1">
                    <a:lumMod val="50000"/>
                    <a:lumOff val="50000"/>
                  </a:schemeClr>
                </a:solidFill>
              </a:rPr>
              <a:t>        acids</a:t>
            </a:r>
          </a:p>
          <a:p>
            <a:endParaRPr lang="en-GB" dirty="0"/>
          </a:p>
        </p:txBody>
      </p:sp>
      <p:pic>
        <p:nvPicPr>
          <p:cNvPr id="6" name="Picture 5"/>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139952" y="704918"/>
            <a:ext cx="4824536" cy="5257800"/>
          </a:xfrm>
          <a:prstGeom prst="rect">
            <a:avLst/>
          </a:prstGeom>
        </p:spPr>
      </p:pic>
    </p:spTree>
    <p:extLst>
      <p:ext uri="{BB962C8B-B14F-4D97-AF65-F5344CB8AC3E}">
        <p14:creationId xmlns:p14="http://schemas.microsoft.com/office/powerpoint/2010/main" val="368689706"/>
      </p:ext>
    </p:extLst>
  </p:cSld>
  <p:clrMapOvr>
    <a:masterClrMapping/>
  </p:clrMapOvr>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187624" y="0"/>
            <a:ext cx="7956376" cy="657041"/>
          </a:xfrm>
        </p:spPr>
        <p:txBody>
          <a:bodyPr>
            <a:noAutofit/>
          </a:bodyPr>
          <a:lstStyle/>
          <a:p>
            <a:pPr marL="342900" lvl="1" algn="l" defTabSz="342900" rtl="0">
              <a:spcBef>
                <a:spcPct val="20000"/>
              </a:spcBef>
            </a:pPr>
            <a:r>
              <a:rPr lang="en-US" sz="1700" b="1" dirty="0">
                <a:solidFill>
                  <a:schemeClr val="accent6"/>
                </a:solidFill>
              </a:rPr>
              <a:t>Reactions of alcohols and carboxylic acids (Chemistry only)</a:t>
            </a:r>
            <a:r>
              <a:rPr lang="en-US" sz="1700" b="1" dirty="0">
                <a:solidFill>
                  <a:schemeClr val="tx1"/>
                </a:solidFill>
              </a:rPr>
              <a:t>Question</a:t>
            </a:r>
            <a:r>
              <a:rPr kumimoji="0" lang="en-US" sz="1700" b="1" i="0" u="none" strike="noStrike" kern="1200" cap="none" spc="0" normalizeH="0" baseline="0" noProof="0" dirty="0">
                <a:ln>
                  <a:noFill/>
                </a:ln>
                <a:solidFill>
                  <a:schemeClr val="tx1"/>
                </a:solidFill>
                <a:effectLst/>
                <a:uLnTx/>
                <a:uFillTx/>
                <a:latin typeface="Calibri"/>
                <a:ea typeface=""/>
                <a:cs typeface="News Gothic MT"/>
              </a:rPr>
              <a:t>IT</a:t>
            </a:r>
          </a:p>
        </p:txBody>
      </p:sp>
      <p:sp>
        <p:nvSpPr>
          <p:cNvPr id="4" name="Rectangle 3"/>
          <p:cNvSpPr/>
          <p:nvPr/>
        </p:nvSpPr>
        <p:spPr>
          <a:xfrm>
            <a:off x="149087" y="802524"/>
            <a:ext cx="8915400" cy="5595731"/>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a:lstStyle/>
          <a:p>
            <a:pPr marL="342900" marR="0" lvl="0" indent="-342900" defTabSz="914400" eaLnBrk="1" fontAlgn="auto" latinLnBrk="0" hangingPunct="1">
              <a:lnSpc>
                <a:spcPct val="100000"/>
              </a:lnSpc>
              <a:spcBef>
                <a:spcPts val="0"/>
              </a:spcBef>
              <a:spcAft>
                <a:spcPts val="0"/>
              </a:spcAft>
              <a:buClrTx/>
              <a:buSzTx/>
              <a:buFont typeface="+mj-lt"/>
              <a:buNone/>
              <a:tabLst/>
              <a:defRPr/>
            </a:pPr>
            <a:endParaRPr lang="en-GB" sz="2000" dirty="0">
              <a:solidFill>
                <a:schemeClr val="tx1"/>
              </a:solidFill>
            </a:endParaRPr>
          </a:p>
        </p:txBody>
      </p:sp>
      <p:sp>
        <p:nvSpPr>
          <p:cNvPr id="6" name="TextBox 5"/>
          <p:cNvSpPr txBox="1"/>
          <p:nvPr/>
        </p:nvSpPr>
        <p:spPr>
          <a:xfrm>
            <a:off x="141095" y="802524"/>
            <a:ext cx="8915400" cy="4893647"/>
          </a:xfrm>
          <a:prstGeom prst="rect">
            <a:avLst/>
          </a:prstGeom>
          <a:noFill/>
        </p:spPr>
        <p:txBody>
          <a:bodyPr wrap="square" rtlCol="0">
            <a:spAutoFit/>
          </a:bodyPr>
          <a:lstStyle/>
          <a:p>
            <a:pPr marL="457200" indent="-457200">
              <a:buFont typeface="+mj-lt"/>
              <a:buAutoNum type="arabicPeriod"/>
            </a:pPr>
            <a:r>
              <a:rPr lang="en-GB" sz="2400" dirty="0" smtClean="0"/>
              <a:t>Name </a:t>
            </a:r>
            <a:r>
              <a:rPr lang="en-GB" sz="2400" dirty="0"/>
              <a:t>and give the formulae of the first three alcohols</a:t>
            </a:r>
            <a:r>
              <a:rPr lang="en-GB" sz="2400" dirty="0" smtClean="0"/>
              <a:t>.</a:t>
            </a:r>
          </a:p>
          <a:p>
            <a:pPr lvl="1"/>
            <a:r>
              <a:rPr lang="en-GB" sz="2400" dirty="0" smtClean="0">
                <a:solidFill>
                  <a:srgbClr val="00B050"/>
                </a:solidFill>
              </a:rPr>
              <a:t>methanol </a:t>
            </a:r>
            <a:r>
              <a:rPr lang="en-GB" sz="2400" dirty="0">
                <a:solidFill>
                  <a:srgbClr val="00B050"/>
                </a:solidFill>
              </a:rPr>
              <a:t>CH</a:t>
            </a:r>
            <a:r>
              <a:rPr lang="en-GB" sz="2400" baseline="-25000" dirty="0">
                <a:solidFill>
                  <a:srgbClr val="00B050"/>
                </a:solidFill>
              </a:rPr>
              <a:t>3</a:t>
            </a:r>
            <a:r>
              <a:rPr lang="en-GB" sz="2400" dirty="0">
                <a:solidFill>
                  <a:srgbClr val="00B050"/>
                </a:solidFill>
              </a:rPr>
              <a:t>OH, ethanol C</a:t>
            </a:r>
            <a:r>
              <a:rPr lang="en-GB" sz="2400" baseline="-25000" dirty="0">
                <a:solidFill>
                  <a:srgbClr val="00B050"/>
                </a:solidFill>
              </a:rPr>
              <a:t>2</a:t>
            </a:r>
            <a:r>
              <a:rPr lang="en-GB" sz="2400" dirty="0">
                <a:solidFill>
                  <a:srgbClr val="00B050"/>
                </a:solidFill>
              </a:rPr>
              <a:t>H</a:t>
            </a:r>
            <a:r>
              <a:rPr lang="en-GB" sz="2400" baseline="-25000" dirty="0">
                <a:solidFill>
                  <a:srgbClr val="00B050"/>
                </a:solidFill>
              </a:rPr>
              <a:t>5</a:t>
            </a:r>
            <a:r>
              <a:rPr lang="en-GB" sz="2400" dirty="0">
                <a:solidFill>
                  <a:srgbClr val="00B050"/>
                </a:solidFill>
              </a:rPr>
              <a:t>OH, propanol </a:t>
            </a:r>
            <a:r>
              <a:rPr lang="en-GB" sz="2400" dirty="0" smtClean="0">
                <a:solidFill>
                  <a:srgbClr val="00B050"/>
                </a:solidFill>
              </a:rPr>
              <a:t>C</a:t>
            </a:r>
            <a:r>
              <a:rPr lang="en-GB" sz="2400" baseline="-25000" dirty="0" smtClean="0">
                <a:solidFill>
                  <a:srgbClr val="00B050"/>
                </a:solidFill>
              </a:rPr>
              <a:t>3</a:t>
            </a:r>
            <a:r>
              <a:rPr lang="en-GB" sz="2400" dirty="0" smtClean="0">
                <a:solidFill>
                  <a:srgbClr val="00B050"/>
                </a:solidFill>
              </a:rPr>
              <a:t>H</a:t>
            </a:r>
            <a:r>
              <a:rPr lang="en-GB" sz="2400" baseline="-25000" dirty="0" smtClean="0">
                <a:solidFill>
                  <a:srgbClr val="00B050"/>
                </a:solidFill>
              </a:rPr>
              <a:t>7</a:t>
            </a:r>
            <a:r>
              <a:rPr lang="en-GB" sz="2400" dirty="0" smtClean="0">
                <a:solidFill>
                  <a:srgbClr val="00B050"/>
                </a:solidFill>
              </a:rPr>
              <a:t>OH</a:t>
            </a:r>
            <a:endParaRPr lang="en-GB" sz="2400" dirty="0" smtClean="0"/>
          </a:p>
          <a:p>
            <a:pPr marL="457200" indent="-457200">
              <a:buFont typeface="+mj-lt"/>
              <a:buAutoNum type="arabicPeriod"/>
            </a:pPr>
            <a:r>
              <a:rPr lang="en-GB" sz="2400" dirty="0" smtClean="0"/>
              <a:t>What </a:t>
            </a:r>
            <a:r>
              <a:rPr lang="en-GB" sz="2400" dirty="0"/>
              <a:t>is the functional group that all alcohols contain</a:t>
            </a:r>
            <a:r>
              <a:rPr lang="en-GB" sz="2400" dirty="0" smtClean="0"/>
              <a:t>?</a:t>
            </a:r>
          </a:p>
          <a:p>
            <a:pPr lvl="1"/>
            <a:r>
              <a:rPr lang="en-GB" sz="2400" dirty="0" smtClean="0">
                <a:solidFill>
                  <a:srgbClr val="00B050"/>
                </a:solidFill>
              </a:rPr>
              <a:t>-OH</a:t>
            </a:r>
            <a:endParaRPr lang="en-GB" sz="2400" dirty="0"/>
          </a:p>
          <a:p>
            <a:pPr marL="457200" indent="-457200">
              <a:buFont typeface="+mj-lt"/>
              <a:buAutoNum type="arabicPeriod"/>
            </a:pPr>
            <a:r>
              <a:rPr lang="en-GB" sz="2400" dirty="0" smtClean="0"/>
              <a:t>What </a:t>
            </a:r>
            <a:r>
              <a:rPr lang="en-GB" sz="2400" dirty="0"/>
              <a:t>are the conditions needed for sugar to ferment into alcohol</a:t>
            </a:r>
            <a:r>
              <a:rPr lang="en-GB" sz="2400" dirty="0" smtClean="0"/>
              <a:t>?</a:t>
            </a:r>
          </a:p>
          <a:p>
            <a:pPr lvl="1"/>
            <a:r>
              <a:rPr lang="en-GB" sz="2400" dirty="0" smtClean="0">
                <a:solidFill>
                  <a:srgbClr val="00B050"/>
                </a:solidFill>
                <a:sym typeface="Wingdings" panose="05000000000000000000" pitchFamily="2" charset="2"/>
              </a:rPr>
              <a:t>No </a:t>
            </a:r>
            <a:r>
              <a:rPr lang="en-GB" sz="2400" dirty="0">
                <a:solidFill>
                  <a:srgbClr val="00B050"/>
                </a:solidFill>
                <a:sym typeface="Wingdings" panose="05000000000000000000" pitchFamily="2" charset="2"/>
              </a:rPr>
              <a:t>oxygen, temperature between 25</a:t>
            </a:r>
            <a:r>
              <a:rPr lang="en-GB" sz="2400" baseline="30000" dirty="0">
                <a:solidFill>
                  <a:srgbClr val="00B050"/>
                </a:solidFill>
                <a:sym typeface="Wingdings" panose="05000000000000000000" pitchFamily="2" charset="2"/>
              </a:rPr>
              <a:t>O</a:t>
            </a:r>
            <a:r>
              <a:rPr lang="en-GB" sz="2400" dirty="0">
                <a:solidFill>
                  <a:srgbClr val="00B050"/>
                </a:solidFill>
                <a:sym typeface="Wingdings" panose="05000000000000000000" pitchFamily="2" charset="2"/>
              </a:rPr>
              <a:t>C and 45 </a:t>
            </a:r>
            <a:r>
              <a:rPr lang="en-GB" sz="2400" baseline="30000" dirty="0">
                <a:solidFill>
                  <a:srgbClr val="00B050"/>
                </a:solidFill>
                <a:sym typeface="Wingdings" panose="05000000000000000000" pitchFamily="2" charset="2"/>
              </a:rPr>
              <a:t>O</a:t>
            </a:r>
            <a:r>
              <a:rPr lang="en-GB" sz="2400" dirty="0">
                <a:solidFill>
                  <a:srgbClr val="00B050"/>
                </a:solidFill>
                <a:sym typeface="Wingdings" panose="05000000000000000000" pitchFamily="2" charset="2"/>
              </a:rPr>
              <a:t>C, water and yeast</a:t>
            </a:r>
            <a:r>
              <a:rPr lang="en-GB" sz="2400" dirty="0" smtClean="0">
                <a:solidFill>
                  <a:srgbClr val="00B050"/>
                </a:solidFill>
                <a:sym typeface="Wingdings" panose="05000000000000000000" pitchFamily="2" charset="2"/>
              </a:rPr>
              <a:t>.</a:t>
            </a:r>
            <a:endParaRPr lang="en-GB" sz="2400" dirty="0" smtClean="0"/>
          </a:p>
          <a:p>
            <a:pPr marL="457200" indent="-457200">
              <a:buFont typeface="+mj-lt"/>
              <a:buAutoNum type="arabicPeriod"/>
            </a:pPr>
            <a:r>
              <a:rPr lang="en-GB" sz="2400" dirty="0" smtClean="0"/>
              <a:t>Write a word equation for the reaction between ethanol and oxygen.</a:t>
            </a:r>
          </a:p>
          <a:p>
            <a:pPr lvl="1"/>
            <a:r>
              <a:rPr lang="en-GB" sz="2400" dirty="0" smtClean="0">
                <a:solidFill>
                  <a:srgbClr val="00B050"/>
                </a:solidFill>
              </a:rPr>
              <a:t>Ethanol + oxygen </a:t>
            </a:r>
            <a:r>
              <a:rPr lang="en-GB" sz="2400" b="1" dirty="0" smtClean="0">
                <a:solidFill>
                  <a:srgbClr val="00B050"/>
                </a:solidFill>
                <a:sym typeface="Wingdings" panose="05000000000000000000" pitchFamily="2" charset="2"/>
              </a:rPr>
              <a:t> </a:t>
            </a:r>
            <a:r>
              <a:rPr lang="en-GB" sz="2400" dirty="0" smtClean="0">
                <a:solidFill>
                  <a:srgbClr val="00B050"/>
                </a:solidFill>
                <a:sym typeface="Wingdings" panose="05000000000000000000" pitchFamily="2" charset="2"/>
              </a:rPr>
              <a:t>carbon dioxide and water</a:t>
            </a:r>
            <a:endParaRPr lang="en-GB" sz="2400" dirty="0" smtClean="0">
              <a:solidFill>
                <a:srgbClr val="00B050"/>
              </a:solidFill>
            </a:endParaRPr>
          </a:p>
          <a:p>
            <a:pPr marL="457200" indent="-457200">
              <a:buFont typeface="+mj-lt"/>
              <a:buAutoNum type="arabicPeriod"/>
            </a:pPr>
            <a:r>
              <a:rPr lang="en-GB" sz="2400" dirty="0" smtClean="0"/>
              <a:t>Write a word equation for the reaction between ethanol and sodium.</a:t>
            </a:r>
          </a:p>
          <a:p>
            <a:pPr lvl="1"/>
            <a:r>
              <a:rPr lang="en-GB" sz="2400" dirty="0" smtClean="0">
                <a:solidFill>
                  <a:srgbClr val="00B050"/>
                </a:solidFill>
              </a:rPr>
              <a:t>Ethanol + sodium </a:t>
            </a:r>
            <a:r>
              <a:rPr lang="en-GB" sz="2400" b="1" dirty="0" smtClean="0">
                <a:solidFill>
                  <a:srgbClr val="00B050"/>
                </a:solidFill>
                <a:sym typeface="Wingdings" panose="05000000000000000000" pitchFamily="2" charset="2"/>
              </a:rPr>
              <a:t> </a:t>
            </a:r>
            <a:r>
              <a:rPr lang="en-GB" sz="2400" dirty="0" smtClean="0">
                <a:solidFill>
                  <a:srgbClr val="00B050"/>
                </a:solidFill>
                <a:sym typeface="Wingdings" panose="05000000000000000000" pitchFamily="2" charset="2"/>
              </a:rPr>
              <a:t>sodium </a:t>
            </a:r>
            <a:r>
              <a:rPr lang="en-GB" sz="2400" dirty="0" err="1" smtClean="0">
                <a:solidFill>
                  <a:srgbClr val="00B050"/>
                </a:solidFill>
                <a:sym typeface="Wingdings" panose="05000000000000000000" pitchFamily="2" charset="2"/>
              </a:rPr>
              <a:t>ethoxide</a:t>
            </a:r>
            <a:r>
              <a:rPr lang="en-GB" sz="2400" dirty="0" smtClean="0">
                <a:solidFill>
                  <a:srgbClr val="00B050"/>
                </a:solidFill>
                <a:sym typeface="Wingdings" panose="05000000000000000000" pitchFamily="2" charset="2"/>
              </a:rPr>
              <a:t> + hydrogen</a:t>
            </a:r>
            <a:endParaRPr lang="en-GB" sz="2400" dirty="0"/>
          </a:p>
        </p:txBody>
      </p:sp>
    </p:spTree>
    <p:extLst>
      <p:ext uri="{BB962C8B-B14F-4D97-AF65-F5344CB8AC3E}">
        <p14:creationId xmlns:p14="http://schemas.microsoft.com/office/powerpoint/2010/main" val="922035672"/>
      </p:ext>
    </p:extLst>
  </p:cSld>
  <p:clrMapOvr>
    <a:masterClrMapping/>
  </p:clrMapOvr>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187624" y="0"/>
            <a:ext cx="7956376" cy="657041"/>
          </a:xfrm>
        </p:spPr>
        <p:txBody>
          <a:bodyPr>
            <a:noAutofit/>
          </a:bodyPr>
          <a:lstStyle/>
          <a:p>
            <a:pPr marL="342900" lvl="1" algn="l" defTabSz="342900" rtl="0">
              <a:spcBef>
                <a:spcPct val="20000"/>
              </a:spcBef>
            </a:pPr>
            <a:r>
              <a:rPr lang="en-US" sz="1700" b="1" dirty="0">
                <a:solidFill>
                  <a:schemeClr val="accent6"/>
                </a:solidFill>
              </a:rPr>
              <a:t>Reactions of alcohols and carboxylic acids (Chemistry only)</a:t>
            </a:r>
            <a:r>
              <a:rPr lang="en-US" sz="1700" b="1" dirty="0">
                <a:solidFill>
                  <a:schemeClr val="tx1"/>
                </a:solidFill>
              </a:rPr>
              <a:t>Question</a:t>
            </a:r>
            <a:r>
              <a:rPr kumimoji="0" lang="en-US" sz="1700" b="1" i="0" u="none" strike="noStrike" kern="1200" cap="none" spc="0" normalizeH="0" baseline="0" noProof="0" dirty="0">
                <a:ln>
                  <a:noFill/>
                </a:ln>
                <a:solidFill>
                  <a:schemeClr val="tx1"/>
                </a:solidFill>
                <a:effectLst/>
                <a:uLnTx/>
                <a:uFillTx/>
                <a:latin typeface="Calibri"/>
                <a:ea typeface=""/>
                <a:cs typeface="News Gothic MT"/>
              </a:rPr>
              <a:t>IT</a:t>
            </a:r>
          </a:p>
        </p:txBody>
      </p:sp>
      <p:sp>
        <p:nvSpPr>
          <p:cNvPr id="4" name="Rectangle 3"/>
          <p:cNvSpPr/>
          <p:nvPr/>
        </p:nvSpPr>
        <p:spPr>
          <a:xfrm>
            <a:off x="149087" y="802524"/>
            <a:ext cx="8915400" cy="5595731"/>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a:lstStyle/>
          <a:p>
            <a:pPr marL="342900" marR="0" lvl="0" indent="-342900" defTabSz="914400" eaLnBrk="1" fontAlgn="auto" latinLnBrk="0" hangingPunct="1">
              <a:lnSpc>
                <a:spcPct val="100000"/>
              </a:lnSpc>
              <a:spcBef>
                <a:spcPts val="0"/>
              </a:spcBef>
              <a:spcAft>
                <a:spcPts val="0"/>
              </a:spcAft>
              <a:buClrTx/>
              <a:buSzTx/>
              <a:buFont typeface="+mj-lt"/>
              <a:buNone/>
              <a:tabLst/>
              <a:defRPr/>
            </a:pPr>
            <a:endParaRPr lang="en-GB" sz="2000" dirty="0">
              <a:solidFill>
                <a:schemeClr val="tx1"/>
              </a:solidFill>
            </a:endParaRPr>
          </a:p>
        </p:txBody>
      </p:sp>
      <p:sp>
        <p:nvSpPr>
          <p:cNvPr id="6" name="TextBox 5"/>
          <p:cNvSpPr txBox="1"/>
          <p:nvPr/>
        </p:nvSpPr>
        <p:spPr>
          <a:xfrm>
            <a:off x="141095" y="802524"/>
            <a:ext cx="8915400" cy="5262979"/>
          </a:xfrm>
          <a:prstGeom prst="rect">
            <a:avLst/>
          </a:prstGeom>
          <a:noFill/>
        </p:spPr>
        <p:txBody>
          <a:bodyPr wrap="square" rtlCol="0">
            <a:spAutoFit/>
          </a:bodyPr>
          <a:lstStyle/>
          <a:p>
            <a:pPr marL="457200" indent="-457200">
              <a:buFont typeface="+mj-lt"/>
              <a:buAutoNum type="arabicPeriod" startAt="6"/>
            </a:pPr>
            <a:r>
              <a:rPr lang="en-GB" sz="2400" dirty="0" smtClean="0"/>
              <a:t>What </a:t>
            </a:r>
            <a:r>
              <a:rPr lang="en-GB" sz="2400" dirty="0"/>
              <a:t>is the functional group that all carboxylic acids contain</a:t>
            </a:r>
            <a:r>
              <a:rPr lang="en-GB" sz="2400" dirty="0" smtClean="0"/>
              <a:t>?</a:t>
            </a:r>
          </a:p>
          <a:p>
            <a:pPr lvl="1"/>
            <a:r>
              <a:rPr lang="en-GB" sz="2400" dirty="0" smtClean="0">
                <a:solidFill>
                  <a:srgbClr val="00B050"/>
                </a:solidFill>
              </a:rPr>
              <a:t>-COOH</a:t>
            </a:r>
          </a:p>
          <a:p>
            <a:pPr marL="457200" indent="-457200">
              <a:buFont typeface="+mj-lt"/>
              <a:buAutoNum type="arabicPeriod" startAt="6"/>
            </a:pPr>
            <a:r>
              <a:rPr lang="en-GB" sz="2400" dirty="0" smtClean="0"/>
              <a:t>Name the first four members of the homologous series of carboxylic acids.</a:t>
            </a:r>
          </a:p>
          <a:p>
            <a:pPr lvl="1"/>
            <a:r>
              <a:rPr lang="en-GB" sz="2400" dirty="0" err="1" smtClean="0">
                <a:solidFill>
                  <a:srgbClr val="00B050"/>
                </a:solidFill>
              </a:rPr>
              <a:t>Methanoic</a:t>
            </a:r>
            <a:r>
              <a:rPr lang="en-GB" sz="2400" dirty="0" smtClean="0">
                <a:solidFill>
                  <a:srgbClr val="00B050"/>
                </a:solidFill>
              </a:rPr>
              <a:t> acid, ethanoic acid, </a:t>
            </a:r>
            <a:r>
              <a:rPr lang="en-GB" sz="2400" dirty="0" err="1" smtClean="0">
                <a:solidFill>
                  <a:srgbClr val="00B050"/>
                </a:solidFill>
              </a:rPr>
              <a:t>propanoic</a:t>
            </a:r>
            <a:r>
              <a:rPr lang="en-GB" sz="2400" dirty="0" smtClean="0">
                <a:solidFill>
                  <a:srgbClr val="00B050"/>
                </a:solidFill>
              </a:rPr>
              <a:t> acid, </a:t>
            </a:r>
            <a:r>
              <a:rPr lang="en-GB" sz="2400" dirty="0" err="1" smtClean="0">
                <a:solidFill>
                  <a:srgbClr val="00B050"/>
                </a:solidFill>
              </a:rPr>
              <a:t>butanoic</a:t>
            </a:r>
            <a:r>
              <a:rPr lang="en-GB" sz="2400" dirty="0" smtClean="0">
                <a:solidFill>
                  <a:srgbClr val="00B050"/>
                </a:solidFill>
              </a:rPr>
              <a:t> acid.</a:t>
            </a:r>
            <a:endParaRPr lang="en-GB" sz="2400" dirty="0"/>
          </a:p>
          <a:p>
            <a:pPr marL="457200" indent="-457200">
              <a:buFont typeface="+mj-lt"/>
              <a:buAutoNum type="arabicPeriod" startAt="6"/>
            </a:pPr>
            <a:r>
              <a:rPr lang="en-GB" sz="2400" dirty="0" smtClean="0"/>
              <a:t>Name </a:t>
            </a:r>
            <a:r>
              <a:rPr lang="en-GB" sz="2400" dirty="0"/>
              <a:t>and give the formula of the carboxylic acid that contains four carbon </a:t>
            </a:r>
            <a:r>
              <a:rPr lang="en-GB" sz="2400" dirty="0" smtClean="0"/>
              <a:t>atoms.</a:t>
            </a:r>
          </a:p>
          <a:p>
            <a:pPr lvl="1"/>
            <a:r>
              <a:rPr lang="en-GB" sz="2400" dirty="0" err="1" smtClean="0">
                <a:solidFill>
                  <a:srgbClr val="00B050"/>
                </a:solidFill>
              </a:rPr>
              <a:t>Butanoic</a:t>
            </a:r>
            <a:r>
              <a:rPr lang="en-GB" sz="2400" dirty="0" smtClean="0">
                <a:solidFill>
                  <a:srgbClr val="00B050"/>
                </a:solidFill>
              </a:rPr>
              <a:t> acid.</a:t>
            </a:r>
            <a:endParaRPr lang="en-GB" sz="2400" dirty="0" smtClean="0"/>
          </a:p>
          <a:p>
            <a:pPr marL="457200" indent="-457200">
              <a:buFont typeface="+mj-lt"/>
              <a:buAutoNum type="arabicPeriod" startAt="6"/>
            </a:pPr>
            <a:r>
              <a:rPr lang="en-GB" sz="2400" dirty="0" smtClean="0"/>
              <a:t>Draw </a:t>
            </a:r>
            <a:r>
              <a:rPr lang="en-GB" sz="2400" dirty="0"/>
              <a:t>the structural formula of </a:t>
            </a:r>
            <a:r>
              <a:rPr lang="en-GB" sz="2400" dirty="0" err="1"/>
              <a:t>propanoic</a:t>
            </a:r>
            <a:r>
              <a:rPr lang="en-GB" sz="2400" dirty="0"/>
              <a:t> acid</a:t>
            </a:r>
            <a:r>
              <a:rPr lang="en-GB" sz="2400" dirty="0" smtClean="0"/>
              <a:t>.</a:t>
            </a:r>
          </a:p>
          <a:p>
            <a:pPr lvl="1"/>
            <a:endParaRPr lang="en-GB" sz="2400" dirty="0">
              <a:solidFill>
                <a:srgbClr val="00B050"/>
              </a:solidFill>
            </a:endParaRPr>
          </a:p>
          <a:p>
            <a:pPr lvl="1"/>
            <a:endParaRPr lang="en-GB" sz="2400" dirty="0"/>
          </a:p>
          <a:p>
            <a:pPr marL="457200" indent="-457200">
              <a:buFont typeface="+mj-lt"/>
              <a:buAutoNum type="arabicPeriod" startAt="6"/>
            </a:pPr>
            <a:r>
              <a:rPr lang="en-GB" sz="2400" dirty="0" smtClean="0"/>
              <a:t>Which </a:t>
            </a:r>
            <a:r>
              <a:rPr lang="en-GB" sz="2400" dirty="0"/>
              <a:t>two chemicals are made when an alcohol and a carboxylic acid are reacted together</a:t>
            </a:r>
            <a:r>
              <a:rPr lang="en-GB" sz="2400" dirty="0" smtClean="0"/>
              <a:t>?</a:t>
            </a:r>
          </a:p>
          <a:p>
            <a:pPr lvl="1"/>
            <a:r>
              <a:rPr lang="en-GB" sz="2400" dirty="0" smtClean="0">
                <a:solidFill>
                  <a:srgbClr val="00B050"/>
                </a:solidFill>
              </a:rPr>
              <a:t>Ester and water</a:t>
            </a:r>
            <a:endParaRPr lang="en-GB" sz="2400" dirty="0">
              <a:solidFill>
                <a:srgbClr val="00B050"/>
              </a:solidFill>
            </a:endParaRPr>
          </a:p>
        </p:txBody>
      </p:sp>
      <p:pic>
        <p:nvPicPr>
          <p:cNvPr id="5" name="Picture 4"/>
          <p:cNvPicPr>
            <a:picLocks noChangeAspect="1"/>
          </p:cNvPicPr>
          <p:nvPr/>
        </p:nvPicPr>
        <p:blipFill>
          <a:blip r:embed="rId2"/>
          <a:stretch>
            <a:fillRect/>
          </a:stretch>
        </p:blipFill>
        <p:spPr>
          <a:xfrm>
            <a:off x="6516216" y="3417015"/>
            <a:ext cx="2232247" cy="1488165"/>
          </a:xfrm>
          <a:prstGeom prst="rect">
            <a:avLst/>
          </a:prstGeom>
        </p:spPr>
      </p:pic>
    </p:spTree>
    <p:extLst>
      <p:ext uri="{BB962C8B-B14F-4D97-AF65-F5344CB8AC3E}">
        <p14:creationId xmlns:p14="http://schemas.microsoft.com/office/powerpoint/2010/main" val="2496413473"/>
      </p:ext>
    </p:extLst>
  </p:cSld>
  <p:clrMapOvr>
    <a:masterClrMapping/>
  </p:clrMapOvr>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149087" y="802524"/>
            <a:ext cx="8915400" cy="5595731"/>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a:lstStyle/>
          <a:p>
            <a:pPr marL="342900" marR="0" lvl="0" indent="-342900" defTabSz="914400" eaLnBrk="1" fontAlgn="auto" latinLnBrk="0" hangingPunct="1">
              <a:lnSpc>
                <a:spcPct val="100000"/>
              </a:lnSpc>
              <a:spcBef>
                <a:spcPts val="0"/>
              </a:spcBef>
              <a:spcAft>
                <a:spcPts val="0"/>
              </a:spcAft>
              <a:buClrTx/>
              <a:buSzTx/>
              <a:buFont typeface="+mj-lt"/>
              <a:buNone/>
              <a:tabLst/>
              <a:defRPr/>
            </a:pPr>
            <a:endParaRPr lang="en-GB" sz="2000" dirty="0">
              <a:solidFill>
                <a:schemeClr val="tx1"/>
              </a:solidFill>
            </a:endParaRPr>
          </a:p>
        </p:txBody>
      </p:sp>
      <p:sp>
        <p:nvSpPr>
          <p:cNvPr id="7" name="TextBox 6"/>
          <p:cNvSpPr txBox="1"/>
          <p:nvPr/>
        </p:nvSpPr>
        <p:spPr>
          <a:xfrm>
            <a:off x="-22696" y="675435"/>
            <a:ext cx="4572000" cy="5709255"/>
          </a:xfrm>
          <a:prstGeom prst="rect">
            <a:avLst/>
          </a:prstGeom>
          <a:noFill/>
        </p:spPr>
        <p:txBody>
          <a:bodyPr wrap="square" rtlCol="0">
            <a:spAutoFit/>
          </a:bodyPr>
          <a:lstStyle/>
          <a:p>
            <a:r>
              <a:rPr lang="en-GB" sz="7200" b="1" dirty="0">
                <a:latin typeface="+mj-lt"/>
                <a:ea typeface="Beirut" charset="-78"/>
                <a:cs typeface="Beirut" charset="-78"/>
              </a:rPr>
              <a:t>LearnIT!</a:t>
            </a:r>
          </a:p>
          <a:p>
            <a:r>
              <a:rPr lang="en-GB" sz="7200" b="1" dirty="0">
                <a:latin typeface="+mj-lt"/>
                <a:ea typeface="Beirut" charset="-78"/>
                <a:cs typeface="Beirut" charset="-78"/>
              </a:rPr>
              <a:t>KnowIT!</a:t>
            </a:r>
          </a:p>
          <a:p>
            <a:endParaRPr lang="en-GB" dirty="0"/>
          </a:p>
          <a:p>
            <a:r>
              <a:rPr lang="en-GB" sz="2400" b="1" dirty="0">
                <a:solidFill>
                  <a:schemeClr val="tx1">
                    <a:lumMod val="50000"/>
                    <a:lumOff val="50000"/>
                  </a:schemeClr>
                </a:solidFill>
              </a:rPr>
              <a:t>Synthetic and naturally </a:t>
            </a:r>
          </a:p>
          <a:p>
            <a:r>
              <a:rPr lang="en-GB" sz="2400" b="1" dirty="0">
                <a:solidFill>
                  <a:schemeClr val="tx1">
                    <a:lumMod val="50000"/>
                    <a:lumOff val="50000"/>
                  </a:schemeClr>
                </a:solidFill>
              </a:rPr>
              <a:t>Occurring polymers</a:t>
            </a:r>
          </a:p>
          <a:p>
            <a:r>
              <a:rPr lang="en-GB" sz="2400" b="1" dirty="0">
                <a:solidFill>
                  <a:schemeClr val="tx1">
                    <a:lumMod val="50000"/>
                    <a:lumOff val="50000"/>
                  </a:schemeClr>
                </a:solidFill>
              </a:rPr>
              <a:t>(Chemistry only)</a:t>
            </a:r>
          </a:p>
          <a:p>
            <a:pPr marL="457200" indent="-457200">
              <a:lnSpc>
                <a:spcPct val="150000"/>
              </a:lnSpc>
              <a:buFont typeface="Arial" charset="0"/>
              <a:buChar char="•"/>
            </a:pPr>
            <a:r>
              <a:rPr lang="en-GB" b="1" dirty="0">
                <a:solidFill>
                  <a:schemeClr val="tx1">
                    <a:lumMod val="50000"/>
                    <a:lumOff val="50000"/>
                  </a:schemeClr>
                </a:solidFill>
              </a:rPr>
              <a:t>Addition polymerisation</a:t>
            </a:r>
          </a:p>
          <a:p>
            <a:pPr marL="285750" indent="-285750">
              <a:lnSpc>
                <a:spcPct val="150000"/>
              </a:lnSpc>
              <a:buFont typeface="Arial" panose="020B0604020202020204" pitchFamily="34" charset="0"/>
              <a:buChar char="•"/>
            </a:pPr>
            <a:r>
              <a:rPr lang="en-GB" sz="2000" b="1" dirty="0">
                <a:solidFill>
                  <a:schemeClr val="tx1">
                    <a:lumMod val="50000"/>
                    <a:lumOff val="50000"/>
                  </a:schemeClr>
                </a:solidFill>
              </a:rPr>
              <a:t>   </a:t>
            </a:r>
            <a:r>
              <a:rPr lang="en-GB" b="1" dirty="0">
                <a:solidFill>
                  <a:schemeClr val="tx1">
                    <a:lumMod val="50000"/>
                    <a:lumOff val="50000"/>
                  </a:schemeClr>
                </a:solidFill>
              </a:rPr>
              <a:t>condensation polymerisation </a:t>
            </a:r>
          </a:p>
          <a:p>
            <a:pPr>
              <a:lnSpc>
                <a:spcPct val="150000"/>
              </a:lnSpc>
            </a:pPr>
            <a:r>
              <a:rPr lang="en-GB" b="1" dirty="0">
                <a:solidFill>
                  <a:schemeClr val="tx1">
                    <a:lumMod val="50000"/>
                    <a:lumOff val="50000"/>
                  </a:schemeClr>
                </a:solidFill>
              </a:rPr>
              <a:t>         (HT only)</a:t>
            </a:r>
          </a:p>
          <a:p>
            <a:pPr marL="285750" indent="-285750">
              <a:lnSpc>
                <a:spcPct val="150000"/>
              </a:lnSpc>
              <a:buFont typeface="Arial" panose="020B0604020202020204" pitchFamily="34" charset="0"/>
              <a:buChar char="•"/>
            </a:pPr>
            <a:r>
              <a:rPr lang="en-GB" b="1" dirty="0">
                <a:solidFill>
                  <a:schemeClr val="tx1">
                    <a:lumMod val="50000"/>
                    <a:lumOff val="50000"/>
                  </a:schemeClr>
                </a:solidFill>
              </a:rPr>
              <a:t>    Amino acids (HT only)</a:t>
            </a:r>
          </a:p>
          <a:p>
            <a:endParaRPr lang="en-GB" sz="2000" b="1" dirty="0">
              <a:solidFill>
                <a:schemeClr val="tx1">
                  <a:lumMod val="50000"/>
                  <a:lumOff val="50000"/>
                </a:schemeClr>
              </a:solidFill>
            </a:endParaRPr>
          </a:p>
        </p:txBody>
      </p:sp>
      <p:pic>
        <p:nvPicPr>
          <p:cNvPr id="8" name="Picture 7"/>
          <p:cNvPicPr>
            <a:picLocks noChangeAspect="1"/>
          </p:cNvPicPr>
          <p:nvPr/>
        </p:nvPicPr>
        <p:blipFill>
          <a:blip r:embed="rId3">
            <a:clrChange>
              <a:clrFrom>
                <a:srgbClr val="FFFFFF"/>
              </a:clrFrom>
              <a:clrTo>
                <a:srgbClr val="FFFFFF">
                  <a:alpha val="0"/>
                </a:srgbClr>
              </a:clrTo>
            </a:clrChange>
          </a:blip>
          <a:stretch>
            <a:fillRect/>
          </a:stretch>
        </p:blipFill>
        <p:spPr>
          <a:xfrm>
            <a:off x="2642398" y="0"/>
            <a:ext cx="6538114" cy="6525344"/>
          </a:xfrm>
          <a:prstGeom prst="rect">
            <a:avLst/>
          </a:prstGeom>
        </p:spPr>
      </p:pic>
    </p:spTree>
    <p:extLst>
      <p:ext uri="{BB962C8B-B14F-4D97-AF65-F5344CB8AC3E}">
        <p14:creationId xmlns:p14="http://schemas.microsoft.com/office/powerpoint/2010/main" val="3819226673"/>
      </p:ext>
    </p:extLst>
  </p:cSld>
  <p:clrMapOvr>
    <a:masterClrMapping/>
  </p:clrMapOvr>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115616" y="-14024"/>
            <a:ext cx="8017076" cy="657041"/>
          </a:xfrm>
        </p:spPr>
        <p:txBody>
          <a:bodyPr>
            <a:noAutofit/>
          </a:bodyPr>
          <a:lstStyle/>
          <a:p>
            <a:pPr marL="342900" lvl="1" algn="r" defTabSz="342900" rtl="0">
              <a:spcBef>
                <a:spcPct val="20000"/>
              </a:spcBef>
            </a:pPr>
            <a:r>
              <a:rPr lang="en-US" sz="2100" b="1" dirty="0">
                <a:solidFill>
                  <a:schemeClr val="accent6"/>
                </a:solidFill>
              </a:rPr>
              <a:t>Addition </a:t>
            </a:r>
            <a:r>
              <a:rPr lang="en-US" sz="2100" b="1" dirty="0" err="1">
                <a:solidFill>
                  <a:schemeClr val="accent6"/>
                </a:solidFill>
              </a:rPr>
              <a:t>polymerisation</a:t>
            </a:r>
            <a:r>
              <a:rPr lang="en-US" sz="2100" b="1" dirty="0">
                <a:solidFill>
                  <a:schemeClr val="accent6"/>
                </a:solidFill>
              </a:rPr>
              <a:t> (Chemistry only)</a:t>
            </a:r>
            <a:endParaRPr kumimoji="0" lang="en-US" sz="2100" b="1" i="0" u="none" strike="noStrike" kern="1200" cap="none" spc="0" normalizeH="0" baseline="0" noProof="0" dirty="0">
              <a:ln>
                <a:noFill/>
              </a:ln>
              <a:solidFill>
                <a:schemeClr val="accent6"/>
              </a:solidFill>
              <a:effectLst/>
              <a:uLnTx/>
              <a:uFillTx/>
              <a:latin typeface="Calibri"/>
              <a:ea typeface=""/>
              <a:cs typeface="News Gothic MT"/>
            </a:endParaRPr>
          </a:p>
        </p:txBody>
      </p:sp>
      <p:sp>
        <p:nvSpPr>
          <p:cNvPr id="4" name="TextBox 3"/>
          <p:cNvSpPr txBox="1"/>
          <p:nvPr/>
        </p:nvSpPr>
        <p:spPr>
          <a:xfrm>
            <a:off x="179512" y="764704"/>
            <a:ext cx="5040560" cy="1015663"/>
          </a:xfrm>
          <a:prstGeom prst="rect">
            <a:avLst/>
          </a:prstGeom>
          <a:noFill/>
          <a:ln w="28575">
            <a:solidFill>
              <a:schemeClr val="accent6"/>
            </a:solidFill>
          </a:ln>
        </p:spPr>
        <p:txBody>
          <a:bodyPr wrap="square" rtlCol="0">
            <a:spAutoFit/>
          </a:bodyPr>
          <a:lstStyle/>
          <a:p>
            <a:r>
              <a:rPr lang="en-GB" sz="2000" b="1" dirty="0">
                <a:solidFill>
                  <a:schemeClr val="accent6">
                    <a:lumMod val="75000"/>
                  </a:schemeClr>
                </a:solidFill>
              </a:rPr>
              <a:t>Alkenes</a:t>
            </a:r>
            <a:r>
              <a:rPr lang="en-GB" sz="2000" dirty="0"/>
              <a:t> can be used to make </a:t>
            </a:r>
            <a:r>
              <a:rPr lang="en-GB" sz="2000" b="1" dirty="0">
                <a:solidFill>
                  <a:schemeClr val="accent6">
                    <a:lumMod val="75000"/>
                  </a:schemeClr>
                </a:solidFill>
              </a:rPr>
              <a:t>polymers</a:t>
            </a:r>
            <a:r>
              <a:rPr lang="en-GB" sz="2000" dirty="0"/>
              <a:t> such as poly(ethane) and poly(propene) by </a:t>
            </a:r>
            <a:r>
              <a:rPr lang="en-GB" sz="2000" b="1" dirty="0">
                <a:solidFill>
                  <a:schemeClr val="accent6">
                    <a:lumMod val="75000"/>
                  </a:schemeClr>
                </a:solidFill>
              </a:rPr>
              <a:t>addition polymerisation.</a:t>
            </a:r>
          </a:p>
        </p:txBody>
      </p:sp>
      <p:pic>
        <p:nvPicPr>
          <p:cNvPr id="7" name="Picture 6"/>
          <p:cNvPicPr>
            <a:picLocks noChangeAspect="1"/>
          </p:cNvPicPr>
          <p:nvPr/>
        </p:nvPicPr>
        <p:blipFill>
          <a:blip r:embed="rId3"/>
          <a:stretch>
            <a:fillRect/>
          </a:stretch>
        </p:blipFill>
        <p:spPr>
          <a:xfrm>
            <a:off x="5436096" y="764705"/>
            <a:ext cx="3456383" cy="1656183"/>
          </a:xfrm>
          <a:prstGeom prst="rect">
            <a:avLst/>
          </a:prstGeom>
        </p:spPr>
      </p:pic>
      <p:sp>
        <p:nvSpPr>
          <p:cNvPr id="8" name="TextBox 7"/>
          <p:cNvSpPr txBox="1"/>
          <p:nvPr/>
        </p:nvSpPr>
        <p:spPr>
          <a:xfrm>
            <a:off x="179512" y="1844824"/>
            <a:ext cx="5040560" cy="1015663"/>
          </a:xfrm>
          <a:prstGeom prst="rect">
            <a:avLst/>
          </a:prstGeom>
          <a:noFill/>
          <a:ln w="28575">
            <a:solidFill>
              <a:schemeClr val="accent6"/>
            </a:solidFill>
          </a:ln>
        </p:spPr>
        <p:txBody>
          <a:bodyPr wrap="square" rtlCol="0">
            <a:spAutoFit/>
          </a:bodyPr>
          <a:lstStyle/>
          <a:p>
            <a:r>
              <a:rPr lang="en-GB" sz="2000" dirty="0"/>
              <a:t>In addition polymerisation reactions, </a:t>
            </a:r>
            <a:r>
              <a:rPr lang="en-GB" sz="2000" b="1" dirty="0">
                <a:solidFill>
                  <a:schemeClr val="accent6">
                    <a:lumMod val="75000"/>
                  </a:schemeClr>
                </a:solidFill>
              </a:rPr>
              <a:t>many small molecules</a:t>
            </a:r>
            <a:r>
              <a:rPr lang="en-GB" sz="2000" b="1" dirty="0"/>
              <a:t> </a:t>
            </a:r>
            <a:r>
              <a:rPr lang="en-GB" sz="2000" dirty="0"/>
              <a:t>(monomers) </a:t>
            </a:r>
            <a:r>
              <a:rPr lang="en-GB" sz="2000" b="1" dirty="0">
                <a:solidFill>
                  <a:schemeClr val="accent6">
                    <a:lumMod val="75000"/>
                  </a:schemeClr>
                </a:solidFill>
              </a:rPr>
              <a:t>join together </a:t>
            </a:r>
            <a:r>
              <a:rPr lang="en-GB" sz="2000" dirty="0"/>
              <a:t>to form </a:t>
            </a:r>
            <a:r>
              <a:rPr lang="en-GB" sz="2000" b="1" dirty="0">
                <a:solidFill>
                  <a:schemeClr val="accent6">
                    <a:lumMod val="75000"/>
                  </a:schemeClr>
                </a:solidFill>
              </a:rPr>
              <a:t>very large molecules</a:t>
            </a:r>
            <a:r>
              <a:rPr lang="en-GB" sz="2000" b="1" dirty="0"/>
              <a:t> </a:t>
            </a:r>
            <a:r>
              <a:rPr lang="en-GB" sz="2000" dirty="0"/>
              <a:t>(polymers).</a:t>
            </a:r>
          </a:p>
        </p:txBody>
      </p:sp>
      <p:sp>
        <p:nvSpPr>
          <p:cNvPr id="11" name="TextBox 10"/>
          <p:cNvSpPr txBox="1"/>
          <p:nvPr/>
        </p:nvSpPr>
        <p:spPr>
          <a:xfrm>
            <a:off x="5436096" y="2492896"/>
            <a:ext cx="3456384" cy="400110"/>
          </a:xfrm>
          <a:prstGeom prst="rect">
            <a:avLst/>
          </a:prstGeom>
          <a:noFill/>
        </p:spPr>
        <p:txBody>
          <a:bodyPr wrap="square" rtlCol="0">
            <a:spAutoFit/>
          </a:bodyPr>
          <a:lstStyle/>
          <a:p>
            <a:pPr algn="ctr"/>
            <a:r>
              <a:rPr lang="en-GB" sz="2000" dirty="0"/>
              <a:t>Polythene has many uses.</a:t>
            </a:r>
          </a:p>
        </p:txBody>
      </p:sp>
      <p:sp>
        <p:nvSpPr>
          <p:cNvPr id="12" name="TextBox 11"/>
          <p:cNvSpPr txBox="1"/>
          <p:nvPr/>
        </p:nvSpPr>
        <p:spPr>
          <a:xfrm>
            <a:off x="179512" y="2862228"/>
            <a:ext cx="8712967" cy="677108"/>
          </a:xfrm>
          <a:prstGeom prst="rect">
            <a:avLst/>
          </a:prstGeom>
          <a:noFill/>
        </p:spPr>
        <p:txBody>
          <a:bodyPr wrap="square" rtlCol="0">
            <a:spAutoFit/>
          </a:bodyPr>
          <a:lstStyle/>
          <a:p>
            <a:r>
              <a:rPr lang="en-GB" sz="2000" dirty="0"/>
              <a:t>An example of this is</a:t>
            </a:r>
          </a:p>
          <a:p>
            <a:endParaRPr lang="en-GB" dirty="0"/>
          </a:p>
        </p:txBody>
      </p:sp>
      <p:grpSp>
        <p:nvGrpSpPr>
          <p:cNvPr id="3" name="Group 2"/>
          <p:cNvGrpSpPr/>
          <p:nvPr/>
        </p:nvGrpSpPr>
        <p:grpSpPr>
          <a:xfrm>
            <a:off x="395537" y="3106086"/>
            <a:ext cx="5345558" cy="2069648"/>
            <a:chOff x="611561" y="3301827"/>
            <a:chExt cx="5345558" cy="2069648"/>
          </a:xfrm>
        </p:grpSpPr>
        <p:pic>
          <p:nvPicPr>
            <p:cNvPr id="13" name="Picture 12"/>
            <p:cNvPicPr>
              <a:picLocks noChangeAspect="1"/>
            </p:cNvPicPr>
            <p:nvPr/>
          </p:nvPicPr>
          <p:blipFill>
            <a:blip r:embed="rId4"/>
            <a:stretch>
              <a:fillRect/>
            </a:stretch>
          </p:blipFill>
          <p:spPr>
            <a:xfrm>
              <a:off x="611561" y="3429000"/>
              <a:ext cx="2232248" cy="1728192"/>
            </a:xfrm>
            <a:prstGeom prst="rect">
              <a:avLst/>
            </a:prstGeom>
          </p:spPr>
        </p:pic>
        <p:sp>
          <p:nvSpPr>
            <p:cNvPr id="17" name="TextBox 16"/>
            <p:cNvSpPr txBox="1"/>
            <p:nvPr/>
          </p:nvSpPr>
          <p:spPr>
            <a:xfrm>
              <a:off x="3059834" y="4005064"/>
              <a:ext cx="360038" cy="369332"/>
            </a:xfrm>
            <a:prstGeom prst="rect">
              <a:avLst/>
            </a:prstGeom>
            <a:noFill/>
          </p:spPr>
          <p:txBody>
            <a:bodyPr wrap="square" rtlCol="0">
              <a:spAutoFit/>
            </a:bodyPr>
            <a:lstStyle/>
            <a:p>
              <a:r>
                <a:rPr lang="en-GB" b="1" dirty="0">
                  <a:sym typeface="Wingdings" panose="05000000000000000000" pitchFamily="2" charset="2"/>
                </a:rPr>
                <a:t></a:t>
              </a:r>
              <a:endParaRPr lang="en-GB" dirty="0"/>
            </a:p>
          </p:txBody>
        </p:sp>
        <p:pic>
          <p:nvPicPr>
            <p:cNvPr id="18" name="Picture 17"/>
            <p:cNvPicPr>
              <a:picLocks noChangeAspect="1"/>
            </p:cNvPicPr>
            <p:nvPr/>
          </p:nvPicPr>
          <p:blipFill>
            <a:blip r:embed="rId5"/>
            <a:stretch>
              <a:fillRect/>
            </a:stretch>
          </p:blipFill>
          <p:spPr>
            <a:xfrm>
              <a:off x="3652864" y="3301827"/>
              <a:ext cx="2304255" cy="2069648"/>
            </a:xfrm>
            <a:prstGeom prst="rect">
              <a:avLst/>
            </a:prstGeom>
          </p:spPr>
        </p:pic>
      </p:grpSp>
      <p:sp>
        <p:nvSpPr>
          <p:cNvPr id="19" name="TextBox 18"/>
          <p:cNvSpPr txBox="1"/>
          <p:nvPr/>
        </p:nvSpPr>
        <p:spPr>
          <a:xfrm>
            <a:off x="5957120" y="3134286"/>
            <a:ext cx="3168351" cy="1631216"/>
          </a:xfrm>
          <a:prstGeom prst="rect">
            <a:avLst/>
          </a:prstGeom>
          <a:noFill/>
        </p:spPr>
        <p:txBody>
          <a:bodyPr wrap="square" rtlCol="0">
            <a:spAutoFit/>
          </a:bodyPr>
          <a:lstStyle/>
          <a:p>
            <a:r>
              <a:rPr lang="en-GB" sz="2000" dirty="0"/>
              <a:t>One of the double bonds in the monomer breaks to form a single bond with other monomers. This leads to a very long </a:t>
            </a:r>
            <a:r>
              <a:rPr lang="en-GB" sz="2000" dirty="0" smtClean="0"/>
              <a:t>polymer.</a:t>
            </a:r>
            <a:endParaRPr lang="en-GB" sz="2000" dirty="0"/>
          </a:p>
        </p:txBody>
      </p:sp>
      <p:sp>
        <p:nvSpPr>
          <p:cNvPr id="20" name="TextBox 19"/>
          <p:cNvSpPr txBox="1"/>
          <p:nvPr/>
        </p:nvSpPr>
        <p:spPr>
          <a:xfrm>
            <a:off x="215517" y="4914193"/>
            <a:ext cx="8712967" cy="707886"/>
          </a:xfrm>
          <a:prstGeom prst="rect">
            <a:avLst/>
          </a:prstGeom>
          <a:noFill/>
          <a:ln w="28575">
            <a:solidFill>
              <a:schemeClr val="accent6"/>
            </a:solidFill>
          </a:ln>
        </p:spPr>
        <p:txBody>
          <a:bodyPr wrap="square" rtlCol="0">
            <a:spAutoFit/>
          </a:bodyPr>
          <a:lstStyle/>
          <a:p>
            <a:r>
              <a:rPr lang="en-GB" sz="2000" dirty="0"/>
              <a:t>In </a:t>
            </a:r>
            <a:r>
              <a:rPr lang="en-GB" sz="2000" b="1" dirty="0">
                <a:solidFill>
                  <a:schemeClr val="accent6">
                    <a:lumMod val="75000"/>
                  </a:schemeClr>
                </a:solidFill>
              </a:rPr>
              <a:t>addition polymers </a:t>
            </a:r>
            <a:r>
              <a:rPr lang="en-GB" sz="2000" dirty="0"/>
              <a:t>the repeating unit, </a:t>
            </a:r>
            <a:r>
              <a:rPr lang="en-GB" sz="2000" b="1" dirty="0">
                <a:solidFill>
                  <a:schemeClr val="accent6">
                    <a:lumMod val="75000"/>
                  </a:schemeClr>
                </a:solidFill>
              </a:rPr>
              <a:t>n,</a:t>
            </a:r>
            <a:r>
              <a:rPr lang="en-GB" sz="2000" dirty="0"/>
              <a:t> has the </a:t>
            </a:r>
            <a:r>
              <a:rPr lang="en-GB" sz="2000" b="1" dirty="0">
                <a:solidFill>
                  <a:schemeClr val="accent6">
                    <a:lumMod val="75000"/>
                  </a:schemeClr>
                </a:solidFill>
              </a:rPr>
              <a:t>same atoms as the monomer </a:t>
            </a:r>
            <a:r>
              <a:rPr lang="en-GB" sz="2000" dirty="0"/>
              <a:t>because no other molecule is formed in the reaction.</a:t>
            </a:r>
          </a:p>
        </p:txBody>
      </p:sp>
      <p:sp>
        <p:nvSpPr>
          <p:cNvPr id="22" name="TextBox 21"/>
          <p:cNvSpPr txBox="1"/>
          <p:nvPr/>
        </p:nvSpPr>
        <p:spPr>
          <a:xfrm>
            <a:off x="215517" y="5745767"/>
            <a:ext cx="8712967" cy="707886"/>
          </a:xfrm>
          <a:prstGeom prst="rect">
            <a:avLst/>
          </a:prstGeom>
          <a:solidFill>
            <a:schemeClr val="accent6"/>
          </a:solidFill>
          <a:ln w="28575">
            <a:solidFill>
              <a:schemeClr val="tx1"/>
            </a:solidFill>
          </a:ln>
        </p:spPr>
        <p:txBody>
          <a:bodyPr wrap="square" rtlCol="0">
            <a:spAutoFit/>
          </a:bodyPr>
          <a:lstStyle/>
          <a:p>
            <a:r>
              <a:rPr lang="en-GB" sz="2000" dirty="0"/>
              <a:t>You must be able to move from the monomer to the polymer or polymer to the monomer</a:t>
            </a:r>
          </a:p>
        </p:txBody>
      </p:sp>
    </p:spTree>
    <p:extLst>
      <p:ext uri="{BB962C8B-B14F-4D97-AF65-F5344CB8AC3E}">
        <p14:creationId xmlns:p14="http://schemas.microsoft.com/office/powerpoint/2010/main" val="791966484"/>
      </p:ext>
    </p:extLst>
  </p:cSld>
  <p:clrMapOvr>
    <a:masterClrMapping/>
  </p:clrMapOvr>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115616" y="-14024"/>
            <a:ext cx="8017076" cy="657041"/>
          </a:xfrm>
        </p:spPr>
        <p:txBody>
          <a:bodyPr>
            <a:noAutofit/>
          </a:bodyPr>
          <a:lstStyle/>
          <a:p>
            <a:pPr marL="342900" lvl="1" algn="r" defTabSz="342900" rtl="0">
              <a:spcBef>
                <a:spcPct val="20000"/>
              </a:spcBef>
            </a:pPr>
            <a:r>
              <a:rPr lang="en-US" b="1" dirty="0">
                <a:solidFill>
                  <a:schemeClr val="accent6"/>
                </a:solidFill>
              </a:rPr>
              <a:t>Condensation, </a:t>
            </a:r>
            <a:r>
              <a:rPr lang="en-US" b="1" dirty="0" err="1">
                <a:solidFill>
                  <a:schemeClr val="accent6"/>
                </a:solidFill>
              </a:rPr>
              <a:t>polymerisation</a:t>
            </a:r>
            <a:r>
              <a:rPr lang="en-US" b="1" dirty="0">
                <a:solidFill>
                  <a:schemeClr val="accent6"/>
                </a:solidFill>
              </a:rPr>
              <a:t> and amino acids (Chemistry HT only)</a:t>
            </a:r>
            <a:endParaRPr kumimoji="0" lang="en-US" b="1" i="0" u="none" strike="noStrike" kern="1200" cap="none" spc="0" normalizeH="0" baseline="0" noProof="0" dirty="0">
              <a:ln>
                <a:noFill/>
              </a:ln>
              <a:solidFill>
                <a:schemeClr val="accent6"/>
              </a:solidFill>
              <a:effectLst/>
              <a:uLnTx/>
              <a:uFillTx/>
              <a:latin typeface="Calibri"/>
              <a:ea typeface=""/>
              <a:cs typeface="News Gothic MT"/>
            </a:endParaRPr>
          </a:p>
        </p:txBody>
      </p:sp>
      <p:sp>
        <p:nvSpPr>
          <p:cNvPr id="3" name="TextBox 2"/>
          <p:cNvSpPr txBox="1"/>
          <p:nvPr/>
        </p:nvSpPr>
        <p:spPr>
          <a:xfrm>
            <a:off x="179512" y="764704"/>
            <a:ext cx="8712968" cy="1015663"/>
          </a:xfrm>
          <a:prstGeom prst="rect">
            <a:avLst/>
          </a:prstGeom>
          <a:noFill/>
          <a:ln w="28575">
            <a:solidFill>
              <a:schemeClr val="accent6"/>
            </a:solidFill>
          </a:ln>
        </p:spPr>
        <p:txBody>
          <a:bodyPr wrap="square" rtlCol="0">
            <a:spAutoFit/>
          </a:bodyPr>
          <a:lstStyle/>
          <a:p>
            <a:r>
              <a:rPr lang="en-GB" sz="2000" b="1" dirty="0">
                <a:solidFill>
                  <a:schemeClr val="accent6">
                    <a:lumMod val="75000"/>
                  </a:schemeClr>
                </a:solidFill>
              </a:rPr>
              <a:t>Condensation polymerisation </a:t>
            </a:r>
            <a:r>
              <a:rPr lang="en-GB" sz="2000" dirty="0"/>
              <a:t>involves </a:t>
            </a:r>
            <a:r>
              <a:rPr lang="en-GB" sz="2000" b="1" dirty="0">
                <a:solidFill>
                  <a:schemeClr val="accent6">
                    <a:lumMod val="75000"/>
                  </a:schemeClr>
                </a:solidFill>
              </a:rPr>
              <a:t>monomers with two functional groups</a:t>
            </a:r>
            <a:r>
              <a:rPr lang="en-GB" sz="2000" dirty="0"/>
              <a:t>. When these types of monomers react they join together, usually </a:t>
            </a:r>
            <a:r>
              <a:rPr lang="en-GB" sz="2000" b="1" dirty="0">
                <a:solidFill>
                  <a:schemeClr val="accent6">
                    <a:lumMod val="75000"/>
                  </a:schemeClr>
                </a:solidFill>
              </a:rPr>
              <a:t>losing small molecules</a:t>
            </a:r>
            <a:r>
              <a:rPr lang="en-GB" sz="2000" dirty="0">
                <a:solidFill>
                  <a:schemeClr val="accent6">
                    <a:lumMod val="75000"/>
                  </a:schemeClr>
                </a:solidFill>
              </a:rPr>
              <a:t> </a:t>
            </a:r>
            <a:r>
              <a:rPr lang="en-GB" sz="2000" dirty="0"/>
              <a:t>such as</a:t>
            </a:r>
            <a:r>
              <a:rPr lang="en-GB" sz="2000" b="1" dirty="0"/>
              <a:t> </a:t>
            </a:r>
            <a:r>
              <a:rPr lang="en-GB" sz="2000" b="1" dirty="0">
                <a:solidFill>
                  <a:schemeClr val="accent6">
                    <a:lumMod val="75000"/>
                  </a:schemeClr>
                </a:solidFill>
              </a:rPr>
              <a:t>water</a:t>
            </a:r>
            <a:r>
              <a:rPr lang="en-GB" sz="2000" dirty="0"/>
              <a:t>, and so the reactions are called </a:t>
            </a:r>
            <a:r>
              <a:rPr lang="en-GB" sz="2000" b="1" dirty="0">
                <a:solidFill>
                  <a:schemeClr val="accent6">
                    <a:lumMod val="75000"/>
                  </a:schemeClr>
                </a:solidFill>
              </a:rPr>
              <a:t>condensation reactions.</a:t>
            </a:r>
          </a:p>
        </p:txBody>
      </p:sp>
      <p:sp>
        <p:nvSpPr>
          <p:cNvPr id="4" name="TextBox 3"/>
          <p:cNvSpPr txBox="1"/>
          <p:nvPr/>
        </p:nvSpPr>
        <p:spPr>
          <a:xfrm>
            <a:off x="179512" y="1772816"/>
            <a:ext cx="8712968" cy="707886"/>
          </a:xfrm>
          <a:prstGeom prst="rect">
            <a:avLst/>
          </a:prstGeom>
          <a:noFill/>
          <a:ln w="28575">
            <a:solidFill>
              <a:schemeClr val="accent6"/>
            </a:solidFill>
          </a:ln>
        </p:spPr>
        <p:txBody>
          <a:bodyPr wrap="square" rtlCol="0">
            <a:spAutoFit/>
          </a:bodyPr>
          <a:lstStyle/>
          <a:p>
            <a:r>
              <a:rPr lang="en-GB" sz="2000" dirty="0"/>
              <a:t>The simplest polymers are produced from </a:t>
            </a:r>
            <a:r>
              <a:rPr lang="en-GB" sz="2000" b="1" dirty="0">
                <a:solidFill>
                  <a:schemeClr val="accent6">
                    <a:lumMod val="75000"/>
                  </a:schemeClr>
                </a:solidFill>
              </a:rPr>
              <a:t>two different monomers </a:t>
            </a:r>
            <a:r>
              <a:rPr lang="en-GB" sz="2000" dirty="0"/>
              <a:t>with two of </a:t>
            </a:r>
            <a:r>
              <a:rPr lang="en-GB" sz="2000" b="1" dirty="0">
                <a:solidFill>
                  <a:schemeClr val="accent6">
                    <a:lumMod val="75000"/>
                  </a:schemeClr>
                </a:solidFill>
              </a:rPr>
              <a:t>the same functional groups</a:t>
            </a:r>
            <a:r>
              <a:rPr lang="en-GB" sz="2000" b="1" dirty="0"/>
              <a:t> </a:t>
            </a:r>
            <a:r>
              <a:rPr lang="en-GB" sz="2000" dirty="0"/>
              <a:t>on each monomer.</a:t>
            </a:r>
          </a:p>
        </p:txBody>
      </p:sp>
      <p:sp>
        <p:nvSpPr>
          <p:cNvPr id="5" name="TextBox 4"/>
          <p:cNvSpPr txBox="1"/>
          <p:nvPr/>
        </p:nvSpPr>
        <p:spPr>
          <a:xfrm>
            <a:off x="192391" y="2487630"/>
            <a:ext cx="8700089" cy="3770263"/>
          </a:xfrm>
          <a:custGeom>
            <a:avLst/>
            <a:gdLst>
              <a:gd name="connsiteX0" fmla="*/ 0 w 8712968"/>
              <a:gd name="connsiteY0" fmla="*/ 0 h 3693319"/>
              <a:gd name="connsiteX1" fmla="*/ 8712968 w 8712968"/>
              <a:gd name="connsiteY1" fmla="*/ 0 h 3693319"/>
              <a:gd name="connsiteX2" fmla="*/ 8712968 w 8712968"/>
              <a:gd name="connsiteY2" fmla="*/ 3693319 h 3693319"/>
              <a:gd name="connsiteX3" fmla="*/ 0 w 8712968"/>
              <a:gd name="connsiteY3" fmla="*/ 3693319 h 3693319"/>
              <a:gd name="connsiteX4" fmla="*/ 0 w 8712968"/>
              <a:gd name="connsiteY4" fmla="*/ 0 h 3693319"/>
              <a:gd name="connsiteX0" fmla="*/ 12879 w 8712968"/>
              <a:gd name="connsiteY0" fmla="*/ 0 h 3770592"/>
              <a:gd name="connsiteX1" fmla="*/ 8712968 w 8712968"/>
              <a:gd name="connsiteY1" fmla="*/ 77273 h 3770592"/>
              <a:gd name="connsiteX2" fmla="*/ 8712968 w 8712968"/>
              <a:gd name="connsiteY2" fmla="*/ 3770592 h 3770592"/>
              <a:gd name="connsiteX3" fmla="*/ 0 w 8712968"/>
              <a:gd name="connsiteY3" fmla="*/ 3770592 h 3770592"/>
              <a:gd name="connsiteX4" fmla="*/ 12879 w 8712968"/>
              <a:gd name="connsiteY4" fmla="*/ 0 h 3770592"/>
              <a:gd name="connsiteX0" fmla="*/ 12879 w 8712968"/>
              <a:gd name="connsiteY0" fmla="*/ 0 h 3770592"/>
              <a:gd name="connsiteX1" fmla="*/ 8712968 w 8712968"/>
              <a:gd name="connsiteY1" fmla="*/ 12878 h 3770592"/>
              <a:gd name="connsiteX2" fmla="*/ 8712968 w 8712968"/>
              <a:gd name="connsiteY2" fmla="*/ 3770592 h 3770592"/>
              <a:gd name="connsiteX3" fmla="*/ 0 w 8712968"/>
              <a:gd name="connsiteY3" fmla="*/ 3770592 h 3770592"/>
              <a:gd name="connsiteX4" fmla="*/ 12879 w 8712968"/>
              <a:gd name="connsiteY4" fmla="*/ 0 h 3770592"/>
              <a:gd name="connsiteX0" fmla="*/ 0 w 8700089"/>
              <a:gd name="connsiteY0" fmla="*/ 0 h 3770592"/>
              <a:gd name="connsiteX1" fmla="*/ 8700089 w 8700089"/>
              <a:gd name="connsiteY1" fmla="*/ 12878 h 3770592"/>
              <a:gd name="connsiteX2" fmla="*/ 8700089 w 8700089"/>
              <a:gd name="connsiteY2" fmla="*/ 3770592 h 3770592"/>
              <a:gd name="connsiteX3" fmla="*/ 0 w 8700089"/>
              <a:gd name="connsiteY3" fmla="*/ 3303692 h 3770592"/>
              <a:gd name="connsiteX4" fmla="*/ 0 w 8700089"/>
              <a:gd name="connsiteY4" fmla="*/ 0 h 3770592"/>
              <a:gd name="connsiteX0" fmla="*/ 0 w 8700089"/>
              <a:gd name="connsiteY0" fmla="*/ 0 h 3303692"/>
              <a:gd name="connsiteX1" fmla="*/ 8700089 w 8700089"/>
              <a:gd name="connsiteY1" fmla="*/ 12878 h 3303692"/>
              <a:gd name="connsiteX2" fmla="*/ 8674331 w 8700089"/>
              <a:gd name="connsiteY2" fmla="*/ 3303692 h 3303692"/>
              <a:gd name="connsiteX3" fmla="*/ 0 w 8700089"/>
              <a:gd name="connsiteY3" fmla="*/ 3303692 h 3303692"/>
              <a:gd name="connsiteX4" fmla="*/ 0 w 8700089"/>
              <a:gd name="connsiteY4" fmla="*/ 0 h 3303692"/>
              <a:gd name="connsiteX0" fmla="*/ 0 w 8700089"/>
              <a:gd name="connsiteY0" fmla="*/ 0 h 3303692"/>
              <a:gd name="connsiteX1" fmla="*/ 8700089 w 8700089"/>
              <a:gd name="connsiteY1" fmla="*/ 12878 h 3303692"/>
              <a:gd name="connsiteX2" fmla="*/ 8700089 w 8700089"/>
              <a:gd name="connsiteY2" fmla="*/ 3303692 h 3303692"/>
              <a:gd name="connsiteX3" fmla="*/ 0 w 8700089"/>
              <a:gd name="connsiteY3" fmla="*/ 3303692 h 3303692"/>
              <a:gd name="connsiteX4" fmla="*/ 0 w 8700089"/>
              <a:gd name="connsiteY4" fmla="*/ 0 h 330369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700089" h="3303692">
                <a:moveTo>
                  <a:pt x="0" y="0"/>
                </a:moveTo>
                <a:lnTo>
                  <a:pt x="8700089" y="12878"/>
                </a:lnTo>
                <a:lnTo>
                  <a:pt x="8700089" y="3303692"/>
                </a:lnTo>
                <a:lnTo>
                  <a:pt x="0" y="3303692"/>
                </a:lnTo>
                <a:lnTo>
                  <a:pt x="0" y="0"/>
                </a:lnTo>
                <a:close/>
              </a:path>
            </a:pathLst>
          </a:custGeom>
        </p:spPr>
        <p:style>
          <a:lnRef idx="2">
            <a:schemeClr val="accent6"/>
          </a:lnRef>
          <a:fillRef idx="1">
            <a:schemeClr val="lt1"/>
          </a:fillRef>
          <a:effectRef idx="0">
            <a:schemeClr val="accent6"/>
          </a:effectRef>
          <a:fontRef idx="minor">
            <a:schemeClr val="dk1"/>
          </a:fontRef>
        </p:style>
        <p:txBody>
          <a:bodyPr wrap="square" rtlCol="0">
            <a:spAutoFit/>
          </a:bodyPr>
          <a:lstStyle/>
          <a:p>
            <a:r>
              <a:rPr lang="en-GB" sz="2000" dirty="0"/>
              <a:t>An example of this is:</a:t>
            </a:r>
          </a:p>
          <a:p>
            <a:r>
              <a:rPr lang="en-GB" sz="2000" dirty="0"/>
              <a:t>Ethane diol (this is ethane with two –di – alcohol – </a:t>
            </a:r>
            <a:r>
              <a:rPr lang="en-GB" sz="2000" dirty="0" err="1"/>
              <a:t>ol</a:t>
            </a:r>
            <a:r>
              <a:rPr lang="en-GB" sz="2000" dirty="0"/>
              <a:t> groups at either end)</a:t>
            </a:r>
          </a:p>
          <a:p>
            <a:r>
              <a:rPr lang="en-GB" sz="1700" dirty="0"/>
              <a:t>HO – CH</a:t>
            </a:r>
            <a:r>
              <a:rPr lang="en-GB" sz="1700" baseline="-25000" dirty="0"/>
              <a:t>2</a:t>
            </a:r>
            <a:r>
              <a:rPr lang="en-GB" sz="1700" dirty="0"/>
              <a:t> – CH</a:t>
            </a:r>
            <a:r>
              <a:rPr lang="en-GB" sz="1700" baseline="-25000" dirty="0"/>
              <a:t>2</a:t>
            </a:r>
            <a:r>
              <a:rPr lang="en-GB" sz="1700" dirty="0"/>
              <a:t> – OH     </a:t>
            </a:r>
            <a:r>
              <a:rPr lang="en-GB" sz="1700" b="1" dirty="0"/>
              <a:t>or </a:t>
            </a:r>
            <a:r>
              <a:rPr lang="en-GB" sz="1700" dirty="0"/>
              <a:t>       HO -                - OH</a:t>
            </a:r>
          </a:p>
          <a:p>
            <a:r>
              <a:rPr lang="en-GB" sz="2000" b="1" dirty="0">
                <a:solidFill>
                  <a:schemeClr val="accent6">
                    <a:lumMod val="75000"/>
                  </a:schemeClr>
                </a:solidFill>
              </a:rPr>
              <a:t>And</a:t>
            </a:r>
          </a:p>
          <a:p>
            <a:r>
              <a:rPr lang="en-GB" sz="2000" dirty="0" err="1"/>
              <a:t>Hexanedioic</a:t>
            </a:r>
            <a:r>
              <a:rPr lang="en-GB" sz="2000" dirty="0"/>
              <a:t> acid (this is hexane with two carboxylic acid groups at the end)</a:t>
            </a:r>
          </a:p>
          <a:p>
            <a:r>
              <a:rPr lang="en-GB" sz="1700" dirty="0"/>
              <a:t>HOOC - CH</a:t>
            </a:r>
            <a:r>
              <a:rPr lang="en-GB" sz="1700" baseline="-25000" dirty="0"/>
              <a:t>2 </a:t>
            </a:r>
            <a:r>
              <a:rPr lang="en-GB" sz="1700" dirty="0"/>
              <a:t>- CH</a:t>
            </a:r>
            <a:r>
              <a:rPr lang="en-GB" sz="1700" baseline="-25000" dirty="0"/>
              <a:t>2 </a:t>
            </a:r>
            <a:r>
              <a:rPr lang="en-GB" sz="1700" dirty="0"/>
              <a:t>- CH</a:t>
            </a:r>
            <a:r>
              <a:rPr lang="en-GB" sz="1700" baseline="-25000" dirty="0"/>
              <a:t>2 </a:t>
            </a:r>
            <a:r>
              <a:rPr lang="en-GB" sz="1700" dirty="0"/>
              <a:t>- CH</a:t>
            </a:r>
            <a:r>
              <a:rPr lang="en-GB" sz="1700" baseline="-25000" dirty="0"/>
              <a:t>2 </a:t>
            </a:r>
            <a:r>
              <a:rPr lang="en-GB" sz="1700" dirty="0"/>
              <a:t>– COOH   </a:t>
            </a:r>
            <a:r>
              <a:rPr lang="en-GB" sz="1700" b="1" dirty="0"/>
              <a:t>or</a:t>
            </a:r>
            <a:r>
              <a:rPr lang="en-GB" sz="1700" dirty="0"/>
              <a:t>   HOOC -            - </a:t>
            </a:r>
            <a:r>
              <a:rPr lang="en-GB" sz="1700" dirty="0" smtClean="0"/>
              <a:t>COOH</a:t>
            </a:r>
          </a:p>
          <a:p>
            <a:endParaRPr lang="en-GB" sz="1700" dirty="0"/>
          </a:p>
          <a:p>
            <a:r>
              <a:rPr lang="en-GB" sz="2000" dirty="0"/>
              <a:t>Polymerise to produce a </a:t>
            </a:r>
            <a:r>
              <a:rPr lang="en-GB" sz="2000" dirty="0" smtClean="0"/>
              <a:t>polyester</a:t>
            </a:r>
          </a:p>
          <a:p>
            <a:endParaRPr lang="en-GB" sz="1700" dirty="0"/>
          </a:p>
          <a:p>
            <a:r>
              <a:rPr lang="en-GB" sz="1700" dirty="0"/>
              <a:t>n HO -          -OH  + n HOOC -        - COOH  </a:t>
            </a:r>
            <a:r>
              <a:rPr lang="en-GB" sz="1700" dirty="0">
                <a:sym typeface="Wingdings" panose="05000000000000000000" pitchFamily="2" charset="2"/>
              </a:rPr>
              <a:t>            </a:t>
            </a:r>
            <a:r>
              <a:rPr lang="en-GB" sz="1700" b="1" dirty="0">
                <a:sym typeface="Wingdings" panose="05000000000000000000" pitchFamily="2" charset="2"/>
              </a:rPr>
              <a:t>           </a:t>
            </a:r>
            <a:r>
              <a:rPr lang="en-GB" sz="1700" dirty="0">
                <a:sym typeface="Wingdings" panose="05000000000000000000" pitchFamily="2" charset="2"/>
              </a:rPr>
              <a:t>    OOC                    COO       + 2nH</a:t>
            </a:r>
            <a:r>
              <a:rPr lang="en-GB" sz="1700" baseline="-25000" dirty="0">
                <a:sym typeface="Wingdings" panose="05000000000000000000" pitchFamily="2" charset="2"/>
              </a:rPr>
              <a:t>2</a:t>
            </a:r>
            <a:r>
              <a:rPr lang="en-GB" sz="1700" dirty="0">
                <a:sym typeface="Wingdings" panose="05000000000000000000" pitchFamily="2" charset="2"/>
              </a:rPr>
              <a:t>O   </a:t>
            </a:r>
            <a:endParaRPr lang="en-GB" sz="1700" dirty="0"/>
          </a:p>
          <a:p>
            <a:endParaRPr lang="en-GB" dirty="0"/>
          </a:p>
          <a:p>
            <a:endParaRPr lang="en-GB" dirty="0"/>
          </a:p>
          <a:p>
            <a:endParaRPr lang="en-GB" dirty="0"/>
          </a:p>
        </p:txBody>
      </p:sp>
      <p:sp>
        <p:nvSpPr>
          <p:cNvPr id="7" name="Rectangle 6"/>
          <p:cNvSpPr/>
          <p:nvPr/>
        </p:nvSpPr>
        <p:spPr>
          <a:xfrm>
            <a:off x="3419872" y="3212976"/>
            <a:ext cx="576064" cy="144016"/>
          </a:xfrm>
          <a:prstGeom prst="rect">
            <a:avLst/>
          </a:prstGeom>
          <a:solidFill>
            <a:schemeClr val="bg1"/>
          </a:solid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a:p>
        </p:txBody>
      </p:sp>
      <p:sp>
        <p:nvSpPr>
          <p:cNvPr id="8" name="Rectangle 7"/>
          <p:cNvSpPr/>
          <p:nvPr/>
        </p:nvSpPr>
        <p:spPr>
          <a:xfrm>
            <a:off x="4664831" y="4070866"/>
            <a:ext cx="432048" cy="144016"/>
          </a:xfrm>
          <a:prstGeom prst="rect">
            <a:avLst/>
          </a:prstGeom>
          <a:solidFill>
            <a:schemeClr val="bg1"/>
          </a:solid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a:p>
        </p:txBody>
      </p:sp>
      <p:sp>
        <p:nvSpPr>
          <p:cNvPr id="9" name="Rectangle 8"/>
          <p:cNvSpPr/>
          <p:nvPr/>
        </p:nvSpPr>
        <p:spPr>
          <a:xfrm>
            <a:off x="899592" y="5157192"/>
            <a:ext cx="432048" cy="144016"/>
          </a:xfrm>
          <a:prstGeom prst="rect">
            <a:avLst/>
          </a:prstGeom>
          <a:solidFill>
            <a:schemeClr val="bg1"/>
          </a:solid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a:p>
        </p:txBody>
      </p:sp>
      <p:sp>
        <p:nvSpPr>
          <p:cNvPr id="10" name="Rectangle 9"/>
          <p:cNvSpPr/>
          <p:nvPr/>
        </p:nvSpPr>
        <p:spPr>
          <a:xfrm>
            <a:off x="2771800" y="5157192"/>
            <a:ext cx="360040" cy="144016"/>
          </a:xfrm>
          <a:prstGeom prst="rect">
            <a:avLst/>
          </a:prstGeom>
          <a:solidFill>
            <a:schemeClr val="bg1"/>
          </a:solid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a:p>
        </p:txBody>
      </p:sp>
      <p:cxnSp>
        <p:nvCxnSpPr>
          <p:cNvPr id="12" name="Straight Connector 11"/>
          <p:cNvCxnSpPr/>
          <p:nvPr/>
        </p:nvCxnSpPr>
        <p:spPr>
          <a:xfrm flipV="1">
            <a:off x="4212766" y="5216445"/>
            <a:ext cx="432048" cy="2320"/>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sp>
        <p:nvSpPr>
          <p:cNvPr id="15" name="Left Bracket 14"/>
          <p:cNvSpPr/>
          <p:nvPr/>
        </p:nvSpPr>
        <p:spPr>
          <a:xfrm>
            <a:off x="4428790" y="4928413"/>
            <a:ext cx="45719" cy="576064"/>
          </a:xfrm>
          <a:prstGeom prst="leftBracket">
            <a:avLst/>
          </a:prstGeom>
          <a:ln>
            <a:solidFill>
              <a:schemeClr val="tx1"/>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GB" dirty="0"/>
          </a:p>
        </p:txBody>
      </p:sp>
      <p:sp>
        <p:nvSpPr>
          <p:cNvPr id="16" name="Rectangle 15"/>
          <p:cNvSpPr/>
          <p:nvPr/>
        </p:nvSpPr>
        <p:spPr>
          <a:xfrm>
            <a:off x="4653223" y="5118439"/>
            <a:ext cx="427424" cy="198761"/>
          </a:xfrm>
          <a:custGeom>
            <a:avLst/>
            <a:gdLst>
              <a:gd name="connsiteX0" fmla="*/ 0 w 576064"/>
              <a:gd name="connsiteY0" fmla="*/ 0 h 216024"/>
              <a:gd name="connsiteX1" fmla="*/ 576064 w 576064"/>
              <a:gd name="connsiteY1" fmla="*/ 0 h 216024"/>
              <a:gd name="connsiteX2" fmla="*/ 576064 w 576064"/>
              <a:gd name="connsiteY2" fmla="*/ 216024 h 216024"/>
              <a:gd name="connsiteX3" fmla="*/ 0 w 576064"/>
              <a:gd name="connsiteY3" fmla="*/ 216024 h 216024"/>
              <a:gd name="connsiteX4" fmla="*/ 0 w 576064"/>
              <a:gd name="connsiteY4" fmla="*/ 0 h 216024"/>
              <a:gd name="connsiteX0" fmla="*/ 0 w 576064"/>
              <a:gd name="connsiteY0" fmla="*/ 0 h 228903"/>
              <a:gd name="connsiteX1" fmla="*/ 576064 w 576064"/>
              <a:gd name="connsiteY1" fmla="*/ 0 h 228903"/>
              <a:gd name="connsiteX2" fmla="*/ 473033 w 576064"/>
              <a:gd name="connsiteY2" fmla="*/ 228903 h 228903"/>
              <a:gd name="connsiteX3" fmla="*/ 0 w 576064"/>
              <a:gd name="connsiteY3" fmla="*/ 216024 h 228903"/>
              <a:gd name="connsiteX4" fmla="*/ 0 w 576064"/>
              <a:gd name="connsiteY4" fmla="*/ 0 h 228903"/>
              <a:gd name="connsiteX0" fmla="*/ 0 w 473033"/>
              <a:gd name="connsiteY0" fmla="*/ 0 h 228903"/>
              <a:gd name="connsiteX1" fmla="*/ 447275 w 473033"/>
              <a:gd name="connsiteY1" fmla="*/ 12879 h 228903"/>
              <a:gd name="connsiteX2" fmla="*/ 473033 w 473033"/>
              <a:gd name="connsiteY2" fmla="*/ 228903 h 228903"/>
              <a:gd name="connsiteX3" fmla="*/ 0 w 473033"/>
              <a:gd name="connsiteY3" fmla="*/ 216024 h 228903"/>
              <a:gd name="connsiteX4" fmla="*/ 0 w 473033"/>
              <a:gd name="connsiteY4" fmla="*/ 0 h 228903"/>
              <a:gd name="connsiteX0" fmla="*/ 0 w 447275"/>
              <a:gd name="connsiteY0" fmla="*/ 0 h 241782"/>
              <a:gd name="connsiteX1" fmla="*/ 447275 w 447275"/>
              <a:gd name="connsiteY1" fmla="*/ 12879 h 241782"/>
              <a:gd name="connsiteX2" fmla="*/ 408639 w 447275"/>
              <a:gd name="connsiteY2" fmla="*/ 241782 h 241782"/>
              <a:gd name="connsiteX3" fmla="*/ 0 w 447275"/>
              <a:gd name="connsiteY3" fmla="*/ 216024 h 241782"/>
              <a:gd name="connsiteX4" fmla="*/ 0 w 447275"/>
              <a:gd name="connsiteY4" fmla="*/ 0 h 241782"/>
              <a:gd name="connsiteX0" fmla="*/ 0 w 447275"/>
              <a:gd name="connsiteY0" fmla="*/ 0 h 241782"/>
              <a:gd name="connsiteX1" fmla="*/ 447275 w 447275"/>
              <a:gd name="connsiteY1" fmla="*/ 12879 h 241782"/>
              <a:gd name="connsiteX2" fmla="*/ 447275 w 447275"/>
              <a:gd name="connsiteY2" fmla="*/ 241782 h 241782"/>
              <a:gd name="connsiteX3" fmla="*/ 0 w 447275"/>
              <a:gd name="connsiteY3" fmla="*/ 216024 h 241782"/>
              <a:gd name="connsiteX4" fmla="*/ 0 w 447275"/>
              <a:gd name="connsiteY4" fmla="*/ 0 h 241782"/>
              <a:gd name="connsiteX0" fmla="*/ 0 w 447275"/>
              <a:gd name="connsiteY0" fmla="*/ 0 h 216024"/>
              <a:gd name="connsiteX1" fmla="*/ 447275 w 447275"/>
              <a:gd name="connsiteY1" fmla="*/ 12879 h 216024"/>
              <a:gd name="connsiteX2" fmla="*/ 447275 w 447275"/>
              <a:gd name="connsiteY2" fmla="*/ 216024 h 216024"/>
              <a:gd name="connsiteX3" fmla="*/ 0 w 447275"/>
              <a:gd name="connsiteY3" fmla="*/ 216024 h 216024"/>
              <a:gd name="connsiteX4" fmla="*/ 0 w 447275"/>
              <a:gd name="connsiteY4" fmla="*/ 0 h 216024"/>
              <a:gd name="connsiteX0" fmla="*/ 0 w 447275"/>
              <a:gd name="connsiteY0" fmla="*/ 0 h 241782"/>
              <a:gd name="connsiteX1" fmla="*/ 447275 w 447275"/>
              <a:gd name="connsiteY1" fmla="*/ 12879 h 241782"/>
              <a:gd name="connsiteX2" fmla="*/ 447275 w 447275"/>
              <a:gd name="connsiteY2" fmla="*/ 216024 h 241782"/>
              <a:gd name="connsiteX3" fmla="*/ 0 w 447275"/>
              <a:gd name="connsiteY3" fmla="*/ 241782 h 241782"/>
              <a:gd name="connsiteX4" fmla="*/ 0 w 447275"/>
              <a:gd name="connsiteY4" fmla="*/ 0 h 241782"/>
              <a:gd name="connsiteX0" fmla="*/ 0 w 447275"/>
              <a:gd name="connsiteY0" fmla="*/ 0 h 241782"/>
              <a:gd name="connsiteX1" fmla="*/ 447275 w 447275"/>
              <a:gd name="connsiteY1" fmla="*/ 12879 h 241782"/>
              <a:gd name="connsiteX2" fmla="*/ 447275 w 447275"/>
              <a:gd name="connsiteY2" fmla="*/ 241782 h 241782"/>
              <a:gd name="connsiteX3" fmla="*/ 0 w 447275"/>
              <a:gd name="connsiteY3" fmla="*/ 241782 h 241782"/>
              <a:gd name="connsiteX4" fmla="*/ 0 w 447275"/>
              <a:gd name="connsiteY4" fmla="*/ 0 h 241782"/>
              <a:gd name="connsiteX0" fmla="*/ 0 w 447275"/>
              <a:gd name="connsiteY0" fmla="*/ 0 h 306176"/>
              <a:gd name="connsiteX1" fmla="*/ 447275 w 447275"/>
              <a:gd name="connsiteY1" fmla="*/ 12879 h 306176"/>
              <a:gd name="connsiteX2" fmla="*/ 447275 w 447275"/>
              <a:gd name="connsiteY2" fmla="*/ 241782 h 306176"/>
              <a:gd name="connsiteX3" fmla="*/ 0 w 447275"/>
              <a:gd name="connsiteY3" fmla="*/ 306176 h 306176"/>
              <a:gd name="connsiteX4" fmla="*/ 0 w 447275"/>
              <a:gd name="connsiteY4" fmla="*/ 0 h 306176"/>
              <a:gd name="connsiteX0" fmla="*/ 0 w 447275"/>
              <a:gd name="connsiteY0" fmla="*/ 0 h 319055"/>
              <a:gd name="connsiteX1" fmla="*/ 447275 w 447275"/>
              <a:gd name="connsiteY1" fmla="*/ 12879 h 319055"/>
              <a:gd name="connsiteX2" fmla="*/ 434396 w 447275"/>
              <a:gd name="connsiteY2" fmla="*/ 319055 h 319055"/>
              <a:gd name="connsiteX3" fmla="*/ 0 w 447275"/>
              <a:gd name="connsiteY3" fmla="*/ 306176 h 319055"/>
              <a:gd name="connsiteX4" fmla="*/ 0 w 447275"/>
              <a:gd name="connsiteY4" fmla="*/ 0 h 319055"/>
              <a:gd name="connsiteX0" fmla="*/ 12879 w 447275"/>
              <a:gd name="connsiteY0" fmla="*/ 77273 h 306176"/>
              <a:gd name="connsiteX1" fmla="*/ 447275 w 447275"/>
              <a:gd name="connsiteY1" fmla="*/ 0 h 306176"/>
              <a:gd name="connsiteX2" fmla="*/ 434396 w 447275"/>
              <a:gd name="connsiteY2" fmla="*/ 306176 h 306176"/>
              <a:gd name="connsiteX3" fmla="*/ 0 w 447275"/>
              <a:gd name="connsiteY3" fmla="*/ 293297 h 306176"/>
              <a:gd name="connsiteX4" fmla="*/ 12879 w 447275"/>
              <a:gd name="connsiteY4" fmla="*/ 77273 h 306176"/>
              <a:gd name="connsiteX0" fmla="*/ 12879 w 434396"/>
              <a:gd name="connsiteY0" fmla="*/ 0 h 228903"/>
              <a:gd name="connsiteX1" fmla="*/ 434396 w 434396"/>
              <a:gd name="connsiteY1" fmla="*/ 25758 h 228903"/>
              <a:gd name="connsiteX2" fmla="*/ 434396 w 434396"/>
              <a:gd name="connsiteY2" fmla="*/ 228903 h 228903"/>
              <a:gd name="connsiteX3" fmla="*/ 0 w 434396"/>
              <a:gd name="connsiteY3" fmla="*/ 216024 h 228903"/>
              <a:gd name="connsiteX4" fmla="*/ 12879 w 434396"/>
              <a:gd name="connsiteY4" fmla="*/ 0 h 228903"/>
              <a:gd name="connsiteX0" fmla="*/ 12879 w 434396"/>
              <a:gd name="connsiteY0" fmla="*/ 0 h 216024"/>
              <a:gd name="connsiteX1" fmla="*/ 434396 w 434396"/>
              <a:gd name="connsiteY1" fmla="*/ 12879 h 216024"/>
              <a:gd name="connsiteX2" fmla="*/ 434396 w 434396"/>
              <a:gd name="connsiteY2" fmla="*/ 216024 h 216024"/>
              <a:gd name="connsiteX3" fmla="*/ 0 w 434396"/>
              <a:gd name="connsiteY3" fmla="*/ 203145 h 216024"/>
              <a:gd name="connsiteX4" fmla="*/ 12879 w 434396"/>
              <a:gd name="connsiteY4" fmla="*/ 0 h 216024"/>
              <a:gd name="connsiteX0" fmla="*/ 0 w 434396"/>
              <a:gd name="connsiteY0" fmla="*/ 0 h 216024"/>
              <a:gd name="connsiteX1" fmla="*/ 434396 w 434396"/>
              <a:gd name="connsiteY1" fmla="*/ 12879 h 216024"/>
              <a:gd name="connsiteX2" fmla="*/ 434396 w 434396"/>
              <a:gd name="connsiteY2" fmla="*/ 216024 h 216024"/>
              <a:gd name="connsiteX3" fmla="*/ 0 w 434396"/>
              <a:gd name="connsiteY3" fmla="*/ 203145 h 216024"/>
              <a:gd name="connsiteX4" fmla="*/ 0 w 434396"/>
              <a:gd name="connsiteY4" fmla="*/ 0 h 216024"/>
              <a:gd name="connsiteX0" fmla="*/ 0 w 434396"/>
              <a:gd name="connsiteY0" fmla="*/ 304 h 216328"/>
              <a:gd name="connsiteX1" fmla="*/ 434396 w 434396"/>
              <a:gd name="connsiteY1" fmla="*/ 0 h 216328"/>
              <a:gd name="connsiteX2" fmla="*/ 434396 w 434396"/>
              <a:gd name="connsiteY2" fmla="*/ 216328 h 216328"/>
              <a:gd name="connsiteX3" fmla="*/ 0 w 434396"/>
              <a:gd name="connsiteY3" fmla="*/ 203449 h 216328"/>
              <a:gd name="connsiteX4" fmla="*/ 0 w 434396"/>
              <a:gd name="connsiteY4" fmla="*/ 304 h 216328"/>
              <a:gd name="connsiteX0" fmla="*/ 0 w 434396"/>
              <a:gd name="connsiteY0" fmla="*/ 304 h 203449"/>
              <a:gd name="connsiteX1" fmla="*/ 434396 w 434396"/>
              <a:gd name="connsiteY1" fmla="*/ 0 h 203449"/>
              <a:gd name="connsiteX2" fmla="*/ 434396 w 434396"/>
              <a:gd name="connsiteY2" fmla="*/ 203145 h 203449"/>
              <a:gd name="connsiteX3" fmla="*/ 0 w 434396"/>
              <a:gd name="connsiteY3" fmla="*/ 203449 h 203449"/>
              <a:gd name="connsiteX4" fmla="*/ 0 w 434396"/>
              <a:gd name="connsiteY4" fmla="*/ 304 h 20344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34396" h="203449">
                <a:moveTo>
                  <a:pt x="0" y="304"/>
                </a:moveTo>
                <a:lnTo>
                  <a:pt x="434396" y="0"/>
                </a:lnTo>
                <a:lnTo>
                  <a:pt x="434396" y="203145"/>
                </a:lnTo>
                <a:lnTo>
                  <a:pt x="0" y="203449"/>
                </a:lnTo>
                <a:lnTo>
                  <a:pt x="0" y="304"/>
                </a:lnTo>
                <a:close/>
              </a:path>
            </a:pathLst>
          </a:custGeom>
          <a:solidFill>
            <a:schemeClr val="bg1"/>
          </a:solid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a:p>
        </p:txBody>
      </p:sp>
      <p:cxnSp>
        <p:nvCxnSpPr>
          <p:cNvPr id="29" name="Straight Connector 28"/>
          <p:cNvCxnSpPr/>
          <p:nvPr/>
        </p:nvCxnSpPr>
        <p:spPr>
          <a:xfrm flipH="1">
            <a:off x="5124154" y="5197564"/>
            <a:ext cx="144017" cy="0"/>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cxnSp>
        <p:nvCxnSpPr>
          <p:cNvPr id="32" name="Straight Connector 31"/>
          <p:cNvCxnSpPr/>
          <p:nvPr/>
        </p:nvCxnSpPr>
        <p:spPr>
          <a:xfrm>
            <a:off x="5862482" y="5229199"/>
            <a:ext cx="216024" cy="0"/>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sp>
        <p:nvSpPr>
          <p:cNvPr id="34" name="Rectangle 33"/>
          <p:cNvSpPr/>
          <p:nvPr/>
        </p:nvSpPr>
        <p:spPr>
          <a:xfrm>
            <a:off x="6078506" y="5129819"/>
            <a:ext cx="360040" cy="198761"/>
          </a:xfrm>
          <a:prstGeom prst="rect">
            <a:avLst/>
          </a:prstGeom>
          <a:solidFill>
            <a:schemeClr val="bg1"/>
          </a:solid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a:p>
        </p:txBody>
      </p:sp>
      <p:cxnSp>
        <p:nvCxnSpPr>
          <p:cNvPr id="36" name="Straight Connector 35"/>
          <p:cNvCxnSpPr/>
          <p:nvPr/>
        </p:nvCxnSpPr>
        <p:spPr>
          <a:xfrm>
            <a:off x="6438546" y="5234501"/>
            <a:ext cx="216024" cy="0"/>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cxnSp>
        <p:nvCxnSpPr>
          <p:cNvPr id="39" name="Straight Connector 38"/>
          <p:cNvCxnSpPr/>
          <p:nvPr/>
        </p:nvCxnSpPr>
        <p:spPr>
          <a:xfrm>
            <a:off x="7233465" y="5234501"/>
            <a:ext cx="216024" cy="0"/>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sp>
        <p:nvSpPr>
          <p:cNvPr id="42" name="Right Bracket 41"/>
          <p:cNvSpPr/>
          <p:nvPr/>
        </p:nvSpPr>
        <p:spPr>
          <a:xfrm>
            <a:off x="7197461" y="4941167"/>
            <a:ext cx="72008" cy="576064"/>
          </a:xfrm>
          <a:prstGeom prst="rightBracket">
            <a:avLst/>
          </a:prstGeom>
          <a:ln>
            <a:solidFill>
              <a:schemeClr val="tx1"/>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GB"/>
          </a:p>
        </p:txBody>
      </p:sp>
      <p:sp>
        <p:nvSpPr>
          <p:cNvPr id="43" name="TextBox 42"/>
          <p:cNvSpPr txBox="1"/>
          <p:nvPr/>
        </p:nvSpPr>
        <p:spPr>
          <a:xfrm>
            <a:off x="7269469" y="5381214"/>
            <a:ext cx="352427" cy="330696"/>
          </a:xfrm>
          <a:custGeom>
            <a:avLst/>
            <a:gdLst>
              <a:gd name="connsiteX0" fmla="*/ 0 w 288032"/>
              <a:gd name="connsiteY0" fmla="*/ 0 h 369332"/>
              <a:gd name="connsiteX1" fmla="*/ 288032 w 288032"/>
              <a:gd name="connsiteY1" fmla="*/ 0 h 369332"/>
              <a:gd name="connsiteX2" fmla="*/ 288032 w 288032"/>
              <a:gd name="connsiteY2" fmla="*/ 369332 h 369332"/>
              <a:gd name="connsiteX3" fmla="*/ 0 w 288032"/>
              <a:gd name="connsiteY3" fmla="*/ 369332 h 369332"/>
              <a:gd name="connsiteX4" fmla="*/ 0 w 288032"/>
              <a:gd name="connsiteY4" fmla="*/ 0 h 369332"/>
              <a:gd name="connsiteX0" fmla="*/ 0 w 352427"/>
              <a:gd name="connsiteY0" fmla="*/ 0 h 472363"/>
              <a:gd name="connsiteX1" fmla="*/ 352427 w 352427"/>
              <a:gd name="connsiteY1" fmla="*/ 103031 h 472363"/>
              <a:gd name="connsiteX2" fmla="*/ 352427 w 352427"/>
              <a:gd name="connsiteY2" fmla="*/ 472363 h 472363"/>
              <a:gd name="connsiteX3" fmla="*/ 64395 w 352427"/>
              <a:gd name="connsiteY3" fmla="*/ 472363 h 472363"/>
              <a:gd name="connsiteX4" fmla="*/ 0 w 352427"/>
              <a:gd name="connsiteY4" fmla="*/ 0 h 472363"/>
              <a:gd name="connsiteX0" fmla="*/ 0 w 352427"/>
              <a:gd name="connsiteY0" fmla="*/ 12879 h 485242"/>
              <a:gd name="connsiteX1" fmla="*/ 352427 w 352427"/>
              <a:gd name="connsiteY1" fmla="*/ 0 h 485242"/>
              <a:gd name="connsiteX2" fmla="*/ 352427 w 352427"/>
              <a:gd name="connsiteY2" fmla="*/ 485242 h 485242"/>
              <a:gd name="connsiteX3" fmla="*/ 64395 w 352427"/>
              <a:gd name="connsiteY3" fmla="*/ 485242 h 485242"/>
              <a:gd name="connsiteX4" fmla="*/ 0 w 352427"/>
              <a:gd name="connsiteY4" fmla="*/ 12879 h 485242"/>
              <a:gd name="connsiteX0" fmla="*/ 0 w 352427"/>
              <a:gd name="connsiteY0" fmla="*/ 12879 h 485242"/>
              <a:gd name="connsiteX1" fmla="*/ 352427 w 352427"/>
              <a:gd name="connsiteY1" fmla="*/ 0 h 485242"/>
              <a:gd name="connsiteX2" fmla="*/ 352427 w 352427"/>
              <a:gd name="connsiteY2" fmla="*/ 485242 h 485242"/>
              <a:gd name="connsiteX3" fmla="*/ 0 w 352427"/>
              <a:gd name="connsiteY3" fmla="*/ 330696 h 485242"/>
              <a:gd name="connsiteX4" fmla="*/ 0 w 352427"/>
              <a:gd name="connsiteY4" fmla="*/ 12879 h 485242"/>
              <a:gd name="connsiteX0" fmla="*/ 0 w 352427"/>
              <a:gd name="connsiteY0" fmla="*/ 12879 h 343575"/>
              <a:gd name="connsiteX1" fmla="*/ 352427 w 352427"/>
              <a:gd name="connsiteY1" fmla="*/ 0 h 343575"/>
              <a:gd name="connsiteX2" fmla="*/ 352427 w 352427"/>
              <a:gd name="connsiteY2" fmla="*/ 343575 h 343575"/>
              <a:gd name="connsiteX3" fmla="*/ 0 w 352427"/>
              <a:gd name="connsiteY3" fmla="*/ 330696 h 343575"/>
              <a:gd name="connsiteX4" fmla="*/ 0 w 352427"/>
              <a:gd name="connsiteY4" fmla="*/ 12879 h 343575"/>
              <a:gd name="connsiteX0" fmla="*/ 0 w 352427"/>
              <a:gd name="connsiteY0" fmla="*/ 12879 h 330696"/>
              <a:gd name="connsiteX1" fmla="*/ 352427 w 352427"/>
              <a:gd name="connsiteY1" fmla="*/ 0 h 330696"/>
              <a:gd name="connsiteX2" fmla="*/ 339548 w 352427"/>
              <a:gd name="connsiteY2" fmla="*/ 317817 h 330696"/>
              <a:gd name="connsiteX3" fmla="*/ 0 w 352427"/>
              <a:gd name="connsiteY3" fmla="*/ 330696 h 330696"/>
              <a:gd name="connsiteX4" fmla="*/ 0 w 352427"/>
              <a:gd name="connsiteY4" fmla="*/ 12879 h 330696"/>
              <a:gd name="connsiteX0" fmla="*/ 0 w 352427"/>
              <a:gd name="connsiteY0" fmla="*/ 12879 h 330696"/>
              <a:gd name="connsiteX1" fmla="*/ 352427 w 352427"/>
              <a:gd name="connsiteY1" fmla="*/ 0 h 330696"/>
              <a:gd name="connsiteX2" fmla="*/ 352427 w 352427"/>
              <a:gd name="connsiteY2" fmla="*/ 330696 h 330696"/>
              <a:gd name="connsiteX3" fmla="*/ 0 w 352427"/>
              <a:gd name="connsiteY3" fmla="*/ 330696 h 330696"/>
              <a:gd name="connsiteX4" fmla="*/ 0 w 352427"/>
              <a:gd name="connsiteY4" fmla="*/ 12879 h 3306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52427" h="330696">
                <a:moveTo>
                  <a:pt x="0" y="12879"/>
                </a:moveTo>
                <a:lnTo>
                  <a:pt x="352427" y="0"/>
                </a:lnTo>
                <a:lnTo>
                  <a:pt x="352427" y="330696"/>
                </a:lnTo>
                <a:lnTo>
                  <a:pt x="0" y="330696"/>
                </a:lnTo>
                <a:lnTo>
                  <a:pt x="0" y="12879"/>
                </a:lnTo>
                <a:close/>
              </a:path>
            </a:pathLst>
          </a:custGeom>
          <a:noFill/>
        </p:spPr>
        <p:txBody>
          <a:bodyPr wrap="square" rtlCol="0">
            <a:spAutoFit/>
          </a:bodyPr>
          <a:lstStyle/>
          <a:p>
            <a:r>
              <a:rPr lang="en-GB" dirty="0"/>
              <a:t>n</a:t>
            </a:r>
          </a:p>
        </p:txBody>
      </p:sp>
    </p:spTree>
    <p:extLst>
      <p:ext uri="{BB962C8B-B14F-4D97-AF65-F5344CB8AC3E}">
        <p14:creationId xmlns:p14="http://schemas.microsoft.com/office/powerpoint/2010/main" val="1843906035"/>
      </p:ext>
    </p:extLst>
  </p:cSld>
  <p:clrMapOvr>
    <a:masterClrMapping/>
  </p:clrMapOvr>
  <p:timing>
    <p:tnLst>
      <p:par>
        <p:cTn id="1" dur="indefinite" restart="never" nodeType="tmRoot"/>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115616" y="-14024"/>
            <a:ext cx="8017076" cy="657041"/>
          </a:xfrm>
        </p:spPr>
        <p:txBody>
          <a:bodyPr>
            <a:noAutofit/>
          </a:bodyPr>
          <a:lstStyle/>
          <a:p>
            <a:pPr marL="342900" lvl="1" algn="r" defTabSz="342900" rtl="0">
              <a:spcBef>
                <a:spcPct val="20000"/>
              </a:spcBef>
            </a:pPr>
            <a:r>
              <a:rPr lang="en-US" b="1" dirty="0">
                <a:solidFill>
                  <a:schemeClr val="accent6"/>
                </a:solidFill>
              </a:rPr>
              <a:t>Condensation, </a:t>
            </a:r>
            <a:r>
              <a:rPr lang="en-US" b="1" dirty="0" err="1">
                <a:solidFill>
                  <a:schemeClr val="accent6"/>
                </a:solidFill>
              </a:rPr>
              <a:t>polymerisation</a:t>
            </a:r>
            <a:r>
              <a:rPr lang="en-US" b="1" dirty="0">
                <a:solidFill>
                  <a:schemeClr val="accent6"/>
                </a:solidFill>
              </a:rPr>
              <a:t> and amino acids (Chemistry HT only)</a:t>
            </a:r>
            <a:endParaRPr kumimoji="0" lang="en-US" b="1" i="0" u="none" strike="noStrike" kern="1200" cap="none" spc="0" normalizeH="0" baseline="0" noProof="0" dirty="0">
              <a:ln>
                <a:noFill/>
              </a:ln>
              <a:solidFill>
                <a:schemeClr val="accent6"/>
              </a:solidFill>
              <a:effectLst/>
              <a:uLnTx/>
              <a:uFillTx/>
              <a:latin typeface="Calibri"/>
              <a:ea typeface=""/>
              <a:cs typeface="News Gothic MT"/>
            </a:endParaRPr>
          </a:p>
        </p:txBody>
      </p:sp>
      <p:sp>
        <p:nvSpPr>
          <p:cNvPr id="44" name="TextBox 43"/>
          <p:cNvSpPr txBox="1"/>
          <p:nvPr/>
        </p:nvSpPr>
        <p:spPr>
          <a:xfrm>
            <a:off x="192392" y="1124744"/>
            <a:ext cx="8700089" cy="707886"/>
          </a:xfrm>
          <a:prstGeom prst="rect">
            <a:avLst/>
          </a:prstGeom>
          <a:noFill/>
          <a:ln w="28575">
            <a:solidFill>
              <a:schemeClr val="accent6"/>
            </a:solidFill>
          </a:ln>
        </p:spPr>
        <p:txBody>
          <a:bodyPr wrap="square" rtlCol="0">
            <a:spAutoFit/>
          </a:bodyPr>
          <a:lstStyle/>
          <a:p>
            <a:r>
              <a:rPr lang="en-GB" sz="2000" b="1" dirty="0">
                <a:solidFill>
                  <a:schemeClr val="accent6">
                    <a:lumMod val="75000"/>
                  </a:schemeClr>
                </a:solidFill>
              </a:rPr>
              <a:t>Amino acids </a:t>
            </a:r>
            <a:r>
              <a:rPr lang="en-GB" sz="2000" dirty="0"/>
              <a:t>have </a:t>
            </a:r>
            <a:r>
              <a:rPr lang="en-GB" sz="2000" b="1" dirty="0">
                <a:solidFill>
                  <a:schemeClr val="accent6">
                    <a:lumMod val="75000"/>
                  </a:schemeClr>
                </a:solidFill>
              </a:rPr>
              <a:t>two different functional groups </a:t>
            </a:r>
            <a:r>
              <a:rPr lang="en-GB" sz="2000" dirty="0"/>
              <a:t>in a molecule. Amino acids react by condensation polymerisation to produce </a:t>
            </a:r>
            <a:r>
              <a:rPr lang="en-GB" sz="2000" b="1" dirty="0">
                <a:solidFill>
                  <a:schemeClr val="accent6">
                    <a:lumMod val="75000"/>
                  </a:schemeClr>
                </a:solidFill>
              </a:rPr>
              <a:t>polypeptides</a:t>
            </a:r>
            <a:r>
              <a:rPr lang="en-GB" sz="2000" dirty="0"/>
              <a:t>.</a:t>
            </a:r>
          </a:p>
        </p:txBody>
      </p:sp>
      <p:sp>
        <p:nvSpPr>
          <p:cNvPr id="45" name="TextBox 44"/>
          <p:cNvSpPr txBox="1"/>
          <p:nvPr/>
        </p:nvSpPr>
        <p:spPr>
          <a:xfrm>
            <a:off x="192392" y="2021967"/>
            <a:ext cx="4739648" cy="1015663"/>
          </a:xfrm>
          <a:prstGeom prst="rect">
            <a:avLst/>
          </a:prstGeom>
          <a:noFill/>
          <a:ln w="28575">
            <a:solidFill>
              <a:schemeClr val="accent6"/>
            </a:solidFill>
          </a:ln>
        </p:spPr>
        <p:txBody>
          <a:bodyPr wrap="square" rtlCol="0">
            <a:spAutoFit/>
          </a:bodyPr>
          <a:lstStyle/>
          <a:p>
            <a:r>
              <a:rPr lang="en-GB" sz="2000" dirty="0"/>
              <a:t>e.g. glycerine is H</a:t>
            </a:r>
            <a:r>
              <a:rPr lang="en-GB" sz="2000" baseline="-25000" dirty="0"/>
              <a:t>2</a:t>
            </a:r>
            <a:r>
              <a:rPr lang="en-GB" sz="2000" dirty="0"/>
              <a:t>NCH</a:t>
            </a:r>
            <a:r>
              <a:rPr lang="en-GB" sz="2000" baseline="-25000" dirty="0"/>
              <a:t>2</a:t>
            </a:r>
            <a:r>
              <a:rPr lang="en-GB" sz="2000" dirty="0"/>
              <a:t>COOH and polymerises to produce the polypeptide (-HNCH</a:t>
            </a:r>
            <a:r>
              <a:rPr lang="en-GB" sz="2000" baseline="-25000" dirty="0"/>
              <a:t>2</a:t>
            </a:r>
            <a:r>
              <a:rPr lang="en-GB" sz="2000" dirty="0"/>
              <a:t>COO-)n and n H</a:t>
            </a:r>
            <a:r>
              <a:rPr lang="en-GB" sz="2000" baseline="-25000" dirty="0"/>
              <a:t>2</a:t>
            </a:r>
            <a:r>
              <a:rPr lang="en-GB" sz="2000" dirty="0"/>
              <a:t>O</a:t>
            </a:r>
          </a:p>
        </p:txBody>
      </p:sp>
      <p:sp>
        <p:nvSpPr>
          <p:cNvPr id="46" name="TextBox 45"/>
          <p:cNvSpPr txBox="1"/>
          <p:nvPr/>
        </p:nvSpPr>
        <p:spPr>
          <a:xfrm>
            <a:off x="5124154" y="2016576"/>
            <a:ext cx="3768326" cy="1015663"/>
          </a:xfrm>
          <a:prstGeom prst="rect">
            <a:avLst/>
          </a:prstGeom>
          <a:noFill/>
          <a:ln w="28575">
            <a:solidFill>
              <a:schemeClr val="accent6"/>
            </a:solidFill>
          </a:ln>
        </p:spPr>
        <p:txBody>
          <a:bodyPr wrap="square" rtlCol="0">
            <a:spAutoFit/>
          </a:bodyPr>
          <a:lstStyle/>
          <a:p>
            <a:r>
              <a:rPr lang="en-GB" sz="2000" b="1" dirty="0">
                <a:solidFill>
                  <a:schemeClr val="accent6">
                    <a:lumMod val="75000"/>
                  </a:schemeClr>
                </a:solidFill>
              </a:rPr>
              <a:t>Different amino acids </a:t>
            </a:r>
            <a:r>
              <a:rPr lang="en-GB" sz="2000" dirty="0"/>
              <a:t>can be combined in the same chain to produce </a:t>
            </a:r>
            <a:r>
              <a:rPr lang="en-GB" sz="2000" b="1" dirty="0">
                <a:solidFill>
                  <a:schemeClr val="accent6">
                    <a:lumMod val="75000"/>
                  </a:schemeClr>
                </a:solidFill>
              </a:rPr>
              <a:t>proteins.</a:t>
            </a:r>
          </a:p>
        </p:txBody>
      </p:sp>
      <p:pic>
        <p:nvPicPr>
          <p:cNvPr id="6" name="Picture 5"/>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2267744" y="3140968"/>
            <a:ext cx="3782194" cy="3025755"/>
          </a:xfrm>
          <a:prstGeom prst="rect">
            <a:avLst/>
          </a:prstGeom>
        </p:spPr>
      </p:pic>
    </p:spTree>
    <p:extLst>
      <p:ext uri="{BB962C8B-B14F-4D97-AF65-F5344CB8AC3E}">
        <p14:creationId xmlns:p14="http://schemas.microsoft.com/office/powerpoint/2010/main" val="2912818509"/>
      </p:ext>
    </p:extLst>
  </p:cSld>
  <p:clrMapOvr>
    <a:masterClrMapping/>
  </p:clrMapOvr>
  <p:timing>
    <p:tnLst>
      <p:par>
        <p:cTn id="1" dur="indefinite" restart="never" nodeType="tmRoot"/>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149087" y="802524"/>
            <a:ext cx="8915400" cy="5595731"/>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a:lstStyle/>
          <a:p>
            <a:pPr marL="342900" marR="0" lvl="0" indent="-342900" defTabSz="914400" eaLnBrk="1" fontAlgn="auto" latinLnBrk="0" hangingPunct="1">
              <a:lnSpc>
                <a:spcPct val="100000"/>
              </a:lnSpc>
              <a:spcBef>
                <a:spcPts val="0"/>
              </a:spcBef>
              <a:spcAft>
                <a:spcPts val="0"/>
              </a:spcAft>
              <a:buClrTx/>
              <a:buSzTx/>
              <a:buFont typeface="+mj-lt"/>
              <a:buNone/>
              <a:tabLst/>
              <a:defRPr/>
            </a:pPr>
            <a:endParaRPr lang="en-GB" sz="2000" dirty="0">
              <a:solidFill>
                <a:schemeClr val="tx1"/>
              </a:solidFill>
            </a:endParaRPr>
          </a:p>
        </p:txBody>
      </p:sp>
      <p:sp>
        <p:nvSpPr>
          <p:cNvPr id="7" name="TextBox 6"/>
          <p:cNvSpPr txBox="1"/>
          <p:nvPr/>
        </p:nvSpPr>
        <p:spPr>
          <a:xfrm>
            <a:off x="113691" y="1041996"/>
            <a:ext cx="4716016" cy="5170646"/>
          </a:xfrm>
          <a:prstGeom prst="rect">
            <a:avLst/>
          </a:prstGeom>
          <a:noFill/>
        </p:spPr>
        <p:txBody>
          <a:bodyPr wrap="square" rtlCol="0">
            <a:spAutoFit/>
          </a:bodyPr>
          <a:lstStyle/>
          <a:p>
            <a:r>
              <a:rPr lang="en-GB" sz="7200" b="1" dirty="0">
                <a:latin typeface="+mj-lt"/>
                <a:ea typeface="Beirut" charset="-78"/>
                <a:cs typeface="Beirut" charset="-78"/>
              </a:rPr>
              <a:t>QuestionIT!</a:t>
            </a:r>
          </a:p>
          <a:p>
            <a:endParaRPr lang="en-GB" dirty="0"/>
          </a:p>
          <a:p>
            <a:endParaRPr lang="en-GB" dirty="0"/>
          </a:p>
          <a:p>
            <a:endParaRPr lang="en-GB" dirty="0"/>
          </a:p>
          <a:p>
            <a:r>
              <a:rPr lang="en-GB" sz="2800" b="1" dirty="0">
                <a:solidFill>
                  <a:schemeClr val="tx1">
                    <a:lumMod val="50000"/>
                    <a:lumOff val="50000"/>
                  </a:schemeClr>
                </a:solidFill>
              </a:rPr>
              <a:t>Synthetic and naturally </a:t>
            </a:r>
          </a:p>
          <a:p>
            <a:r>
              <a:rPr lang="en-GB" sz="2800" b="1" dirty="0">
                <a:solidFill>
                  <a:schemeClr val="tx1">
                    <a:lumMod val="50000"/>
                    <a:lumOff val="50000"/>
                  </a:schemeClr>
                </a:solidFill>
              </a:rPr>
              <a:t>Occurring polymers</a:t>
            </a:r>
          </a:p>
          <a:p>
            <a:r>
              <a:rPr lang="en-GB" sz="2800" b="1" dirty="0">
                <a:solidFill>
                  <a:schemeClr val="tx1">
                    <a:lumMod val="50000"/>
                    <a:lumOff val="50000"/>
                  </a:schemeClr>
                </a:solidFill>
              </a:rPr>
              <a:t>(Chemistry only)</a:t>
            </a:r>
          </a:p>
          <a:p>
            <a:pPr marL="457200" indent="-457200">
              <a:lnSpc>
                <a:spcPct val="150000"/>
              </a:lnSpc>
              <a:buFont typeface="Arial" charset="0"/>
              <a:buChar char="•"/>
            </a:pPr>
            <a:r>
              <a:rPr lang="en-GB" sz="2000" b="1" dirty="0">
                <a:solidFill>
                  <a:schemeClr val="tx1">
                    <a:lumMod val="50000"/>
                    <a:lumOff val="50000"/>
                  </a:schemeClr>
                </a:solidFill>
              </a:rPr>
              <a:t>Addition polymerisation</a:t>
            </a:r>
          </a:p>
          <a:p>
            <a:pPr marL="285750" indent="-285750">
              <a:lnSpc>
                <a:spcPct val="150000"/>
              </a:lnSpc>
              <a:buFont typeface="Arial" panose="020B0604020202020204" pitchFamily="34" charset="0"/>
              <a:buChar char="•"/>
            </a:pPr>
            <a:r>
              <a:rPr lang="en-GB" sz="2000" b="1" dirty="0">
                <a:solidFill>
                  <a:schemeClr val="tx1">
                    <a:lumMod val="50000"/>
                    <a:lumOff val="50000"/>
                  </a:schemeClr>
                </a:solidFill>
              </a:rPr>
              <a:t>   condensation polymerisation </a:t>
            </a:r>
          </a:p>
          <a:p>
            <a:pPr>
              <a:lnSpc>
                <a:spcPct val="150000"/>
              </a:lnSpc>
            </a:pPr>
            <a:r>
              <a:rPr lang="en-GB" sz="2000" b="1" dirty="0">
                <a:solidFill>
                  <a:schemeClr val="tx1">
                    <a:lumMod val="50000"/>
                    <a:lumOff val="50000"/>
                  </a:schemeClr>
                </a:solidFill>
              </a:rPr>
              <a:t>         (HT only)</a:t>
            </a:r>
          </a:p>
          <a:p>
            <a:pPr marL="285750" indent="-285750">
              <a:lnSpc>
                <a:spcPct val="150000"/>
              </a:lnSpc>
              <a:buFont typeface="Arial" panose="020B0604020202020204" pitchFamily="34" charset="0"/>
              <a:buChar char="•"/>
            </a:pPr>
            <a:r>
              <a:rPr lang="en-GB" sz="2000" b="1" dirty="0">
                <a:solidFill>
                  <a:schemeClr val="tx1">
                    <a:lumMod val="50000"/>
                    <a:lumOff val="50000"/>
                  </a:schemeClr>
                </a:solidFill>
              </a:rPr>
              <a:t>    Amino acids (HT only)</a:t>
            </a:r>
          </a:p>
        </p:txBody>
      </p:sp>
      <p:pic>
        <p:nvPicPr>
          <p:cNvPr id="6" name="Picture 5"/>
          <p:cNvPicPr>
            <a:picLocks noChangeAspect="1"/>
          </p:cNvPicPr>
          <p:nvPr/>
        </p:nvPicPr>
        <p:blipFill>
          <a:blip r:embed="rId3">
            <a:clrChange>
              <a:clrFrom>
                <a:srgbClr val="FFFFFF"/>
              </a:clrFrom>
              <a:clrTo>
                <a:srgbClr val="FFFFFF">
                  <a:alpha val="0"/>
                </a:srgbClr>
              </a:clrTo>
            </a:clrChange>
          </a:blip>
          <a:stretch>
            <a:fillRect/>
          </a:stretch>
        </p:blipFill>
        <p:spPr>
          <a:xfrm>
            <a:off x="4211960" y="886544"/>
            <a:ext cx="4914900" cy="5638800"/>
          </a:xfrm>
          <a:prstGeom prst="rect">
            <a:avLst/>
          </a:prstGeom>
        </p:spPr>
      </p:pic>
    </p:spTree>
    <p:extLst>
      <p:ext uri="{BB962C8B-B14F-4D97-AF65-F5344CB8AC3E}">
        <p14:creationId xmlns:p14="http://schemas.microsoft.com/office/powerpoint/2010/main" val="3405224974"/>
      </p:ext>
    </p:extLst>
  </p:cSld>
  <p:clrMapOvr>
    <a:masterClrMapping/>
  </p:clrMapOvr>
  <p:timing>
    <p:tnLst>
      <p:par>
        <p:cTn id="1" dur="indefinite" restart="never" nodeType="tmRoot"/>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899592" y="0"/>
            <a:ext cx="8244408" cy="657041"/>
          </a:xfrm>
        </p:spPr>
        <p:txBody>
          <a:bodyPr>
            <a:noAutofit/>
          </a:bodyPr>
          <a:lstStyle/>
          <a:p>
            <a:pPr marL="342900" lvl="1" algn="l" defTabSz="342900" rtl="0">
              <a:spcBef>
                <a:spcPct val="20000"/>
              </a:spcBef>
            </a:pPr>
            <a:r>
              <a:rPr lang="en-US" sz="1400" b="1" dirty="0">
                <a:solidFill>
                  <a:schemeClr val="accent6"/>
                </a:solidFill>
              </a:rPr>
              <a:t>Addition and condensation </a:t>
            </a:r>
            <a:r>
              <a:rPr lang="en-US" sz="1400" b="1" dirty="0" err="1">
                <a:solidFill>
                  <a:schemeClr val="accent6"/>
                </a:solidFill>
              </a:rPr>
              <a:t>polymerisation</a:t>
            </a:r>
            <a:r>
              <a:rPr lang="en-US" sz="1400" b="1" dirty="0">
                <a:solidFill>
                  <a:schemeClr val="accent6"/>
                </a:solidFill>
              </a:rPr>
              <a:t> and amino acids (Chemistry HT only)</a:t>
            </a:r>
            <a:r>
              <a:rPr kumimoji="0" lang="en-US" sz="1400" b="1" i="0" u="none" strike="noStrike" kern="1200" cap="none" spc="0" normalizeH="0" baseline="0" noProof="0" dirty="0" err="1">
                <a:ln>
                  <a:noFill/>
                </a:ln>
                <a:solidFill>
                  <a:schemeClr val="tx1"/>
                </a:solidFill>
                <a:effectLst/>
                <a:uLnTx/>
                <a:uFillTx/>
                <a:latin typeface="Calibri"/>
                <a:ea typeface=""/>
                <a:cs typeface="News Gothic MT"/>
              </a:rPr>
              <a:t>QuestionIT</a:t>
            </a:r>
            <a:endParaRPr kumimoji="0" lang="en-US" sz="1400" b="1" i="0" u="none" strike="noStrike" kern="1200" cap="none" spc="0" normalizeH="0" baseline="0" noProof="0" dirty="0">
              <a:ln>
                <a:noFill/>
              </a:ln>
              <a:solidFill>
                <a:schemeClr val="tx1"/>
              </a:solidFill>
              <a:effectLst/>
              <a:uLnTx/>
              <a:uFillTx/>
              <a:latin typeface="Calibri"/>
              <a:ea typeface=""/>
              <a:cs typeface="News Gothic MT"/>
            </a:endParaRPr>
          </a:p>
        </p:txBody>
      </p:sp>
      <p:sp>
        <p:nvSpPr>
          <p:cNvPr id="4" name="Rectangle 3"/>
          <p:cNvSpPr/>
          <p:nvPr/>
        </p:nvSpPr>
        <p:spPr>
          <a:xfrm>
            <a:off x="149087" y="802524"/>
            <a:ext cx="8915400" cy="5595731"/>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a:lstStyle/>
          <a:p>
            <a:pPr marL="342900" marR="0" lvl="0" indent="-342900" defTabSz="914400" eaLnBrk="1" fontAlgn="auto" latinLnBrk="0" hangingPunct="1">
              <a:lnSpc>
                <a:spcPct val="100000"/>
              </a:lnSpc>
              <a:spcBef>
                <a:spcPts val="0"/>
              </a:spcBef>
              <a:spcAft>
                <a:spcPts val="0"/>
              </a:spcAft>
              <a:buClrTx/>
              <a:buSzTx/>
              <a:buFont typeface="+mj-lt"/>
              <a:buNone/>
              <a:tabLst/>
              <a:defRPr/>
            </a:pPr>
            <a:endParaRPr lang="en-GB" sz="2000" dirty="0">
              <a:solidFill>
                <a:schemeClr val="tx1"/>
              </a:solidFill>
            </a:endParaRPr>
          </a:p>
        </p:txBody>
      </p:sp>
      <p:sp>
        <p:nvSpPr>
          <p:cNvPr id="6" name="TextBox 5"/>
          <p:cNvSpPr txBox="1"/>
          <p:nvPr/>
        </p:nvSpPr>
        <p:spPr>
          <a:xfrm>
            <a:off x="149087" y="789501"/>
            <a:ext cx="8915400" cy="4154984"/>
          </a:xfrm>
          <a:prstGeom prst="rect">
            <a:avLst/>
          </a:prstGeom>
          <a:noFill/>
        </p:spPr>
        <p:txBody>
          <a:bodyPr wrap="square" rtlCol="0">
            <a:spAutoFit/>
          </a:bodyPr>
          <a:lstStyle/>
          <a:p>
            <a:pPr marL="457200" indent="-457200">
              <a:buFont typeface="+mj-lt"/>
              <a:buAutoNum type="arabicPeriod"/>
            </a:pPr>
            <a:r>
              <a:rPr lang="en-GB" sz="2400" dirty="0" smtClean="0"/>
              <a:t>What is polymerisation?</a:t>
            </a:r>
          </a:p>
          <a:p>
            <a:pPr marL="457200" indent="-457200">
              <a:buFont typeface="+mj-lt"/>
              <a:buAutoNum type="arabicPeriod"/>
            </a:pPr>
            <a:endParaRPr lang="en-GB" sz="2400" dirty="0" smtClean="0"/>
          </a:p>
          <a:p>
            <a:pPr marL="457200" indent="-457200">
              <a:buFont typeface="+mj-lt"/>
              <a:buAutoNum type="arabicPeriod"/>
            </a:pPr>
            <a:r>
              <a:rPr lang="en-GB" sz="2400" dirty="0" smtClean="0"/>
              <a:t>What type of polymerisation joins alkenes together to make polymers?</a:t>
            </a:r>
          </a:p>
          <a:p>
            <a:pPr marL="457200" indent="-457200">
              <a:buFont typeface="+mj-lt"/>
              <a:buAutoNum type="arabicPeriod"/>
            </a:pPr>
            <a:endParaRPr lang="en-GB" sz="2400" dirty="0" smtClean="0"/>
          </a:p>
          <a:p>
            <a:pPr marL="457200" indent="-457200">
              <a:buFont typeface="+mj-lt"/>
              <a:buAutoNum type="arabicPeriod"/>
            </a:pPr>
            <a:r>
              <a:rPr lang="en-GB" sz="2400" dirty="0" smtClean="0"/>
              <a:t>What is the monomer called which forms the polymer poly(</a:t>
            </a:r>
            <a:r>
              <a:rPr lang="en-GB" sz="2400" dirty="0" err="1" smtClean="0"/>
              <a:t>ethene</a:t>
            </a:r>
            <a:r>
              <a:rPr lang="en-GB" sz="2400" dirty="0" smtClean="0"/>
              <a:t>)?</a:t>
            </a:r>
          </a:p>
          <a:p>
            <a:pPr marL="457200" indent="-457200">
              <a:buFont typeface="+mj-lt"/>
              <a:buAutoNum type="arabicPeriod"/>
            </a:pPr>
            <a:endParaRPr lang="en-GB" sz="2400" dirty="0" smtClean="0"/>
          </a:p>
          <a:p>
            <a:pPr marL="457200" indent="-457200">
              <a:buFont typeface="+mj-lt"/>
              <a:buAutoNum type="arabicPeriod"/>
            </a:pPr>
            <a:r>
              <a:rPr lang="en-GB" sz="2400" dirty="0" smtClean="0"/>
              <a:t>What type of polymer would </a:t>
            </a:r>
            <a:r>
              <a:rPr lang="en-GB" sz="2400" dirty="0" err="1" smtClean="0"/>
              <a:t>butene</a:t>
            </a:r>
            <a:r>
              <a:rPr lang="en-GB" sz="2400" dirty="0" smtClean="0"/>
              <a:t> make and what would it be </a:t>
            </a:r>
            <a:r>
              <a:rPr lang="en-GB" sz="2400" dirty="0"/>
              <a:t>called? </a:t>
            </a:r>
            <a:endParaRPr lang="en-GB" sz="2400" dirty="0" smtClean="0"/>
          </a:p>
          <a:p>
            <a:pPr marL="457200" indent="-457200">
              <a:buFont typeface="+mj-lt"/>
              <a:buAutoNum type="arabicPeriod"/>
            </a:pPr>
            <a:endParaRPr lang="en-GB" sz="2400" dirty="0" smtClean="0"/>
          </a:p>
        </p:txBody>
      </p:sp>
    </p:spTree>
    <p:extLst>
      <p:ext uri="{BB962C8B-B14F-4D97-AF65-F5344CB8AC3E}">
        <p14:creationId xmlns:p14="http://schemas.microsoft.com/office/powerpoint/2010/main" val="2746915952"/>
      </p:ext>
    </p:extLst>
  </p:cSld>
  <p:clrMapOvr>
    <a:masterClrMapping/>
  </p:clrMapOvr>
  <p:timing>
    <p:tnLst>
      <p:par>
        <p:cTn id="1" dur="indefinite" restart="never" nodeType="tmRoot"/>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899592" y="0"/>
            <a:ext cx="8244408" cy="657041"/>
          </a:xfrm>
        </p:spPr>
        <p:txBody>
          <a:bodyPr>
            <a:noAutofit/>
          </a:bodyPr>
          <a:lstStyle/>
          <a:p>
            <a:pPr marL="342900" lvl="1" algn="l" defTabSz="342900" rtl="0">
              <a:spcBef>
                <a:spcPct val="20000"/>
              </a:spcBef>
            </a:pPr>
            <a:r>
              <a:rPr lang="en-US" sz="1400" b="1" dirty="0">
                <a:solidFill>
                  <a:schemeClr val="accent6"/>
                </a:solidFill>
              </a:rPr>
              <a:t>Addition and condensation </a:t>
            </a:r>
            <a:r>
              <a:rPr lang="en-US" sz="1400" b="1" dirty="0" err="1">
                <a:solidFill>
                  <a:schemeClr val="accent6"/>
                </a:solidFill>
              </a:rPr>
              <a:t>polymerisation</a:t>
            </a:r>
            <a:r>
              <a:rPr lang="en-US" sz="1400" b="1" dirty="0">
                <a:solidFill>
                  <a:schemeClr val="accent6"/>
                </a:solidFill>
              </a:rPr>
              <a:t> and amino acids (Chemistry HT only)</a:t>
            </a:r>
            <a:r>
              <a:rPr kumimoji="0" lang="en-US" sz="1400" b="1" i="0" u="none" strike="noStrike" kern="1200" cap="none" spc="0" normalizeH="0" baseline="0" noProof="0" dirty="0" err="1">
                <a:ln>
                  <a:noFill/>
                </a:ln>
                <a:solidFill>
                  <a:schemeClr val="tx1"/>
                </a:solidFill>
                <a:effectLst/>
                <a:uLnTx/>
                <a:uFillTx/>
                <a:latin typeface="Calibri"/>
                <a:ea typeface=""/>
                <a:cs typeface="News Gothic MT"/>
              </a:rPr>
              <a:t>QuestionIT</a:t>
            </a:r>
            <a:endParaRPr kumimoji="0" lang="en-US" sz="1400" b="1" i="0" u="none" strike="noStrike" kern="1200" cap="none" spc="0" normalizeH="0" baseline="0" noProof="0" dirty="0">
              <a:ln>
                <a:noFill/>
              </a:ln>
              <a:solidFill>
                <a:schemeClr val="tx1"/>
              </a:solidFill>
              <a:effectLst/>
              <a:uLnTx/>
              <a:uFillTx/>
              <a:latin typeface="Calibri"/>
              <a:ea typeface=""/>
              <a:cs typeface="News Gothic MT"/>
            </a:endParaRPr>
          </a:p>
        </p:txBody>
      </p:sp>
      <p:sp>
        <p:nvSpPr>
          <p:cNvPr id="4" name="Rectangle 3"/>
          <p:cNvSpPr/>
          <p:nvPr/>
        </p:nvSpPr>
        <p:spPr>
          <a:xfrm>
            <a:off x="149087" y="802524"/>
            <a:ext cx="8915400" cy="5595731"/>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a:lstStyle/>
          <a:p>
            <a:pPr marL="342900" marR="0" lvl="0" indent="-342900" defTabSz="914400" eaLnBrk="1" fontAlgn="auto" latinLnBrk="0" hangingPunct="1">
              <a:lnSpc>
                <a:spcPct val="100000"/>
              </a:lnSpc>
              <a:spcBef>
                <a:spcPts val="0"/>
              </a:spcBef>
              <a:spcAft>
                <a:spcPts val="0"/>
              </a:spcAft>
              <a:buClrTx/>
              <a:buSzTx/>
              <a:buFont typeface="+mj-lt"/>
              <a:buNone/>
              <a:tabLst/>
              <a:defRPr/>
            </a:pPr>
            <a:endParaRPr lang="en-GB" sz="2000" dirty="0">
              <a:solidFill>
                <a:schemeClr val="tx1"/>
              </a:solidFill>
            </a:endParaRPr>
          </a:p>
        </p:txBody>
      </p:sp>
      <p:sp>
        <p:nvSpPr>
          <p:cNvPr id="6" name="TextBox 5"/>
          <p:cNvSpPr txBox="1"/>
          <p:nvPr/>
        </p:nvSpPr>
        <p:spPr>
          <a:xfrm>
            <a:off x="149087" y="789501"/>
            <a:ext cx="8915400" cy="3046988"/>
          </a:xfrm>
          <a:prstGeom prst="rect">
            <a:avLst/>
          </a:prstGeom>
          <a:noFill/>
        </p:spPr>
        <p:txBody>
          <a:bodyPr wrap="square" rtlCol="0">
            <a:spAutoFit/>
          </a:bodyPr>
          <a:lstStyle/>
          <a:p>
            <a:pPr marL="457200" indent="-457200">
              <a:buFont typeface="+mj-lt"/>
              <a:buAutoNum type="arabicPeriod" startAt="5"/>
            </a:pPr>
            <a:r>
              <a:rPr lang="en-GB" sz="2400" dirty="0" smtClean="0"/>
              <a:t>HT </a:t>
            </a:r>
            <a:r>
              <a:rPr lang="en-GB" sz="2400" dirty="0"/>
              <a:t>ONLY - What happens during condensation polymerisation</a:t>
            </a:r>
            <a:r>
              <a:rPr lang="en-GB" sz="2400" dirty="0" smtClean="0"/>
              <a:t>?</a:t>
            </a:r>
          </a:p>
          <a:p>
            <a:pPr marL="457200" indent="-457200">
              <a:buFont typeface="+mj-lt"/>
              <a:buAutoNum type="arabicPeriod" startAt="5"/>
            </a:pPr>
            <a:endParaRPr lang="en-GB" sz="2400" dirty="0"/>
          </a:p>
          <a:p>
            <a:pPr marL="457200" indent="-457200">
              <a:buFont typeface="+mj-lt"/>
              <a:buAutoNum type="arabicPeriod" startAt="5"/>
            </a:pPr>
            <a:r>
              <a:rPr lang="en-GB" sz="2400" dirty="0" smtClean="0"/>
              <a:t>HT </a:t>
            </a:r>
            <a:r>
              <a:rPr lang="en-GB" sz="2400" dirty="0"/>
              <a:t>ONLY - Explain how amino acids polymerise to form a polypeptide</a:t>
            </a:r>
            <a:r>
              <a:rPr lang="en-GB" sz="2400" dirty="0" smtClean="0"/>
              <a:t>.</a:t>
            </a:r>
          </a:p>
          <a:p>
            <a:pPr marL="457200" indent="-457200">
              <a:buFont typeface="+mj-lt"/>
              <a:buAutoNum type="arabicPeriod" startAt="5"/>
            </a:pPr>
            <a:endParaRPr lang="en-GB" sz="2400" dirty="0"/>
          </a:p>
          <a:p>
            <a:pPr marL="457200" indent="-457200">
              <a:buFont typeface="+mj-lt"/>
              <a:buAutoNum type="arabicPeriod" startAt="5"/>
            </a:pPr>
            <a:r>
              <a:rPr lang="en-GB" sz="2400" dirty="0" smtClean="0"/>
              <a:t>HT </a:t>
            </a:r>
            <a:r>
              <a:rPr lang="en-GB" sz="2400" dirty="0"/>
              <a:t>ONLY - Name and give the formula of one amino acid that polymerises in this way</a:t>
            </a:r>
            <a:r>
              <a:rPr lang="en-GB" sz="2400" dirty="0" smtClean="0"/>
              <a:t>.</a:t>
            </a:r>
          </a:p>
          <a:p>
            <a:pPr marL="457200" indent="-457200">
              <a:buFont typeface="+mj-lt"/>
              <a:buAutoNum type="arabicPeriod" startAt="5"/>
            </a:pPr>
            <a:endParaRPr lang="en-GB" sz="2400" dirty="0" smtClean="0"/>
          </a:p>
        </p:txBody>
      </p:sp>
    </p:spTree>
    <p:extLst>
      <p:ext uri="{BB962C8B-B14F-4D97-AF65-F5344CB8AC3E}">
        <p14:creationId xmlns:p14="http://schemas.microsoft.com/office/powerpoint/2010/main" val="1206421613"/>
      </p:ext>
    </p:extLst>
  </p:cSld>
  <p:clrMapOvr>
    <a:masterClrMapping/>
  </p:clrMapOvr>
  <p:timing>
    <p:tnLst>
      <p:par>
        <p:cTn id="1" dur="indefinite" restart="never" nodeType="tmRoot"/>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149087" y="802524"/>
            <a:ext cx="8915400" cy="5595731"/>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a:lstStyle/>
          <a:p>
            <a:pPr marL="342900" marR="0" lvl="0" indent="-342900" defTabSz="914400" eaLnBrk="1" fontAlgn="auto" latinLnBrk="0" hangingPunct="1">
              <a:lnSpc>
                <a:spcPct val="100000"/>
              </a:lnSpc>
              <a:spcBef>
                <a:spcPts val="0"/>
              </a:spcBef>
              <a:spcAft>
                <a:spcPts val="0"/>
              </a:spcAft>
              <a:buClrTx/>
              <a:buSzTx/>
              <a:buFont typeface="+mj-lt"/>
              <a:buNone/>
              <a:tabLst/>
              <a:defRPr/>
            </a:pPr>
            <a:endParaRPr lang="en-GB" sz="2000" dirty="0">
              <a:solidFill>
                <a:schemeClr val="tx1"/>
              </a:solidFill>
            </a:endParaRPr>
          </a:p>
        </p:txBody>
      </p:sp>
      <p:sp>
        <p:nvSpPr>
          <p:cNvPr id="7" name="TextBox 6"/>
          <p:cNvSpPr txBox="1"/>
          <p:nvPr/>
        </p:nvSpPr>
        <p:spPr>
          <a:xfrm>
            <a:off x="0" y="980728"/>
            <a:ext cx="4716016" cy="5447645"/>
          </a:xfrm>
          <a:prstGeom prst="rect">
            <a:avLst/>
          </a:prstGeom>
          <a:noFill/>
        </p:spPr>
        <p:txBody>
          <a:bodyPr wrap="square" rtlCol="0">
            <a:spAutoFit/>
          </a:bodyPr>
          <a:lstStyle/>
          <a:p>
            <a:r>
              <a:rPr lang="en-GB" sz="7200" b="1" dirty="0">
                <a:latin typeface="+mj-lt"/>
                <a:ea typeface="Beirut" charset="-78"/>
                <a:cs typeface="Beirut" charset="-78"/>
              </a:rPr>
              <a:t>AnswerIT!</a:t>
            </a:r>
          </a:p>
          <a:p>
            <a:endParaRPr lang="en-GB" dirty="0"/>
          </a:p>
          <a:p>
            <a:endParaRPr lang="en-GB" dirty="0"/>
          </a:p>
          <a:p>
            <a:endParaRPr lang="en-GB" dirty="0"/>
          </a:p>
          <a:p>
            <a:r>
              <a:rPr lang="en-GB" sz="2800" b="1" dirty="0">
                <a:solidFill>
                  <a:schemeClr val="tx1">
                    <a:lumMod val="50000"/>
                    <a:lumOff val="50000"/>
                  </a:schemeClr>
                </a:solidFill>
              </a:rPr>
              <a:t>Synthetic and naturally </a:t>
            </a:r>
          </a:p>
          <a:p>
            <a:r>
              <a:rPr lang="en-GB" sz="2800" b="1" dirty="0">
                <a:solidFill>
                  <a:schemeClr val="tx1">
                    <a:lumMod val="50000"/>
                    <a:lumOff val="50000"/>
                  </a:schemeClr>
                </a:solidFill>
              </a:rPr>
              <a:t>Occurring polymers</a:t>
            </a:r>
          </a:p>
          <a:p>
            <a:r>
              <a:rPr lang="en-GB" sz="2800" b="1" dirty="0">
                <a:solidFill>
                  <a:schemeClr val="tx1">
                    <a:lumMod val="50000"/>
                    <a:lumOff val="50000"/>
                  </a:schemeClr>
                </a:solidFill>
              </a:rPr>
              <a:t>(Chemistry only)</a:t>
            </a:r>
          </a:p>
          <a:p>
            <a:pPr marL="457200" indent="-457200">
              <a:lnSpc>
                <a:spcPct val="150000"/>
              </a:lnSpc>
              <a:buFont typeface="Arial" charset="0"/>
              <a:buChar char="•"/>
            </a:pPr>
            <a:r>
              <a:rPr lang="en-GB" sz="2000" b="1" dirty="0">
                <a:solidFill>
                  <a:schemeClr val="tx1">
                    <a:lumMod val="50000"/>
                    <a:lumOff val="50000"/>
                  </a:schemeClr>
                </a:solidFill>
              </a:rPr>
              <a:t>Addition polymerisation</a:t>
            </a:r>
          </a:p>
          <a:p>
            <a:pPr marL="285750" indent="-285750">
              <a:lnSpc>
                <a:spcPct val="150000"/>
              </a:lnSpc>
              <a:buFont typeface="Arial" panose="020B0604020202020204" pitchFamily="34" charset="0"/>
              <a:buChar char="•"/>
            </a:pPr>
            <a:r>
              <a:rPr lang="en-GB" sz="2000" b="1" dirty="0">
                <a:solidFill>
                  <a:schemeClr val="tx1">
                    <a:lumMod val="50000"/>
                    <a:lumOff val="50000"/>
                  </a:schemeClr>
                </a:solidFill>
              </a:rPr>
              <a:t>   condensation polymerisation </a:t>
            </a:r>
          </a:p>
          <a:p>
            <a:pPr>
              <a:lnSpc>
                <a:spcPct val="150000"/>
              </a:lnSpc>
            </a:pPr>
            <a:r>
              <a:rPr lang="en-GB" sz="2000" b="1" dirty="0">
                <a:solidFill>
                  <a:schemeClr val="tx1">
                    <a:lumMod val="50000"/>
                    <a:lumOff val="50000"/>
                  </a:schemeClr>
                </a:solidFill>
              </a:rPr>
              <a:t>         (HT only)</a:t>
            </a:r>
          </a:p>
          <a:p>
            <a:pPr marL="285750" indent="-285750">
              <a:lnSpc>
                <a:spcPct val="150000"/>
              </a:lnSpc>
              <a:buFont typeface="Arial" panose="020B0604020202020204" pitchFamily="34" charset="0"/>
              <a:buChar char="•"/>
            </a:pPr>
            <a:r>
              <a:rPr lang="en-GB" sz="2000" b="1" dirty="0">
                <a:solidFill>
                  <a:schemeClr val="tx1">
                    <a:lumMod val="50000"/>
                    <a:lumOff val="50000"/>
                  </a:schemeClr>
                </a:solidFill>
              </a:rPr>
              <a:t>    Amino acids (HT only)</a:t>
            </a:r>
          </a:p>
          <a:p>
            <a:endParaRPr lang="en-GB" dirty="0"/>
          </a:p>
        </p:txBody>
      </p:sp>
      <p:pic>
        <p:nvPicPr>
          <p:cNvPr id="6" name="Picture 5"/>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139952" y="704918"/>
            <a:ext cx="4824536" cy="5257800"/>
          </a:xfrm>
          <a:prstGeom prst="rect">
            <a:avLst/>
          </a:prstGeom>
        </p:spPr>
      </p:pic>
    </p:spTree>
    <p:extLst>
      <p:ext uri="{BB962C8B-B14F-4D97-AF65-F5344CB8AC3E}">
        <p14:creationId xmlns:p14="http://schemas.microsoft.com/office/powerpoint/2010/main" val="1736392369"/>
      </p:ext>
    </p:extLst>
  </p:cSld>
  <p:clrMapOvr>
    <a:masterClrMapping/>
  </p:clrMapOvr>
  <p:timing>
    <p:tnLst>
      <p:par>
        <p:cTn id="1" dur="indefinite" restart="never" nodeType="tmRoot"/>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899592" y="0"/>
            <a:ext cx="8244408" cy="657041"/>
          </a:xfrm>
        </p:spPr>
        <p:txBody>
          <a:bodyPr>
            <a:noAutofit/>
          </a:bodyPr>
          <a:lstStyle/>
          <a:p>
            <a:pPr marL="342900" lvl="1" algn="l" defTabSz="342900" rtl="0">
              <a:spcBef>
                <a:spcPct val="20000"/>
              </a:spcBef>
            </a:pPr>
            <a:r>
              <a:rPr lang="en-US" sz="1400" b="1" dirty="0">
                <a:solidFill>
                  <a:schemeClr val="accent6"/>
                </a:solidFill>
              </a:rPr>
              <a:t>Addition and condensation </a:t>
            </a:r>
            <a:r>
              <a:rPr lang="en-US" sz="1400" b="1" dirty="0" err="1">
                <a:solidFill>
                  <a:schemeClr val="accent6"/>
                </a:solidFill>
              </a:rPr>
              <a:t>polymerisation</a:t>
            </a:r>
            <a:r>
              <a:rPr lang="en-US" sz="1400" b="1" dirty="0">
                <a:solidFill>
                  <a:schemeClr val="accent6"/>
                </a:solidFill>
              </a:rPr>
              <a:t> and amino acids (Chemistry HT only)</a:t>
            </a:r>
            <a:r>
              <a:rPr kumimoji="0" lang="en-US" sz="1400" b="1" i="0" u="none" strike="noStrike" kern="1200" cap="none" spc="0" normalizeH="0" baseline="0" noProof="0" dirty="0" err="1">
                <a:ln>
                  <a:noFill/>
                </a:ln>
                <a:solidFill>
                  <a:schemeClr val="tx1"/>
                </a:solidFill>
                <a:effectLst/>
                <a:uLnTx/>
                <a:uFillTx/>
                <a:latin typeface="Calibri"/>
                <a:ea typeface=""/>
                <a:cs typeface="News Gothic MT"/>
              </a:rPr>
              <a:t>QuestionIT</a:t>
            </a:r>
            <a:endParaRPr kumimoji="0" lang="en-US" sz="1400" b="1" i="0" u="none" strike="noStrike" kern="1200" cap="none" spc="0" normalizeH="0" baseline="0" noProof="0" dirty="0">
              <a:ln>
                <a:noFill/>
              </a:ln>
              <a:solidFill>
                <a:schemeClr val="tx1"/>
              </a:solidFill>
              <a:effectLst/>
              <a:uLnTx/>
              <a:uFillTx/>
              <a:latin typeface="Calibri"/>
              <a:ea typeface=""/>
              <a:cs typeface="News Gothic MT"/>
            </a:endParaRPr>
          </a:p>
        </p:txBody>
      </p:sp>
      <p:sp>
        <p:nvSpPr>
          <p:cNvPr id="4" name="Rectangle 3"/>
          <p:cNvSpPr/>
          <p:nvPr/>
        </p:nvSpPr>
        <p:spPr>
          <a:xfrm>
            <a:off x="149087" y="802524"/>
            <a:ext cx="8915400" cy="5595731"/>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a:lstStyle/>
          <a:p>
            <a:pPr marL="342900" marR="0" lvl="0" indent="-342900" defTabSz="914400" eaLnBrk="1" fontAlgn="auto" latinLnBrk="0" hangingPunct="1">
              <a:lnSpc>
                <a:spcPct val="100000"/>
              </a:lnSpc>
              <a:spcBef>
                <a:spcPts val="0"/>
              </a:spcBef>
              <a:spcAft>
                <a:spcPts val="0"/>
              </a:spcAft>
              <a:buClrTx/>
              <a:buSzTx/>
              <a:buFont typeface="+mj-lt"/>
              <a:buNone/>
              <a:tabLst/>
              <a:defRPr/>
            </a:pPr>
            <a:endParaRPr lang="en-GB" sz="2000" dirty="0">
              <a:solidFill>
                <a:schemeClr val="tx1"/>
              </a:solidFill>
            </a:endParaRPr>
          </a:p>
        </p:txBody>
      </p:sp>
      <p:sp>
        <p:nvSpPr>
          <p:cNvPr id="6" name="TextBox 5"/>
          <p:cNvSpPr txBox="1"/>
          <p:nvPr/>
        </p:nvSpPr>
        <p:spPr>
          <a:xfrm>
            <a:off x="149087" y="789501"/>
            <a:ext cx="8915400" cy="4154984"/>
          </a:xfrm>
          <a:prstGeom prst="rect">
            <a:avLst/>
          </a:prstGeom>
          <a:noFill/>
        </p:spPr>
        <p:txBody>
          <a:bodyPr wrap="square" rtlCol="0">
            <a:spAutoFit/>
          </a:bodyPr>
          <a:lstStyle/>
          <a:p>
            <a:pPr marL="457200" indent="-457200">
              <a:buFont typeface="+mj-lt"/>
              <a:buAutoNum type="arabicPeriod"/>
            </a:pPr>
            <a:r>
              <a:rPr lang="en-GB" sz="2400" dirty="0" smtClean="0"/>
              <a:t>What is polymerisation?</a:t>
            </a:r>
          </a:p>
          <a:p>
            <a:pPr lvl="1"/>
            <a:r>
              <a:rPr lang="en-GB" sz="2400" dirty="0" smtClean="0">
                <a:solidFill>
                  <a:srgbClr val="00B050"/>
                </a:solidFill>
              </a:rPr>
              <a:t>Many monomers join to form a polymer.</a:t>
            </a:r>
          </a:p>
          <a:p>
            <a:pPr marL="457200" indent="-457200">
              <a:buFont typeface="+mj-lt"/>
              <a:buAutoNum type="arabicPeriod"/>
            </a:pPr>
            <a:r>
              <a:rPr lang="en-GB" sz="2400" dirty="0" smtClean="0"/>
              <a:t>What type of polymerisation joins alkenes together to make polymers?</a:t>
            </a:r>
          </a:p>
          <a:p>
            <a:pPr lvl="1"/>
            <a:r>
              <a:rPr lang="en-GB" sz="2400" dirty="0" smtClean="0">
                <a:solidFill>
                  <a:srgbClr val="00B050"/>
                </a:solidFill>
              </a:rPr>
              <a:t>Addition polymerisation.</a:t>
            </a:r>
          </a:p>
          <a:p>
            <a:pPr marL="457200" indent="-457200">
              <a:buFont typeface="+mj-lt"/>
              <a:buAutoNum type="arabicPeriod"/>
            </a:pPr>
            <a:r>
              <a:rPr lang="en-GB" sz="2400" dirty="0" smtClean="0"/>
              <a:t>What is the monomer called which forms the polymer poly(</a:t>
            </a:r>
            <a:r>
              <a:rPr lang="en-GB" sz="2400" dirty="0" err="1" smtClean="0"/>
              <a:t>ethene</a:t>
            </a:r>
            <a:r>
              <a:rPr lang="en-GB" sz="2400" dirty="0" smtClean="0"/>
              <a:t>)?</a:t>
            </a:r>
          </a:p>
          <a:p>
            <a:pPr lvl="1"/>
            <a:r>
              <a:rPr lang="en-GB" sz="2400" dirty="0" err="1" smtClean="0">
                <a:solidFill>
                  <a:srgbClr val="00B050"/>
                </a:solidFill>
              </a:rPr>
              <a:t>Ethene</a:t>
            </a:r>
            <a:r>
              <a:rPr lang="en-GB" sz="2400" dirty="0" smtClean="0">
                <a:solidFill>
                  <a:srgbClr val="00B050"/>
                </a:solidFill>
              </a:rPr>
              <a:t>.</a:t>
            </a:r>
          </a:p>
          <a:p>
            <a:pPr marL="457200" indent="-457200">
              <a:buFont typeface="+mj-lt"/>
              <a:buAutoNum type="arabicPeriod"/>
            </a:pPr>
            <a:r>
              <a:rPr lang="en-GB" sz="2400" dirty="0" smtClean="0"/>
              <a:t>What type of polymer would </a:t>
            </a:r>
            <a:r>
              <a:rPr lang="en-GB" sz="2400" dirty="0" err="1" smtClean="0"/>
              <a:t>butene</a:t>
            </a:r>
            <a:r>
              <a:rPr lang="en-GB" sz="2400" dirty="0" smtClean="0"/>
              <a:t> make and what would it be </a:t>
            </a:r>
            <a:r>
              <a:rPr lang="en-GB" sz="2400" dirty="0"/>
              <a:t>called? </a:t>
            </a:r>
            <a:endParaRPr lang="en-GB" sz="2400" dirty="0" smtClean="0"/>
          </a:p>
          <a:p>
            <a:pPr lvl="1"/>
            <a:r>
              <a:rPr lang="en-GB" sz="2400" dirty="0" smtClean="0">
                <a:solidFill>
                  <a:srgbClr val="00B050"/>
                </a:solidFill>
              </a:rPr>
              <a:t>Addition polymer called poly(</a:t>
            </a:r>
            <a:r>
              <a:rPr lang="en-GB" sz="2400" dirty="0" err="1" smtClean="0">
                <a:solidFill>
                  <a:srgbClr val="00B050"/>
                </a:solidFill>
              </a:rPr>
              <a:t>butene</a:t>
            </a:r>
            <a:r>
              <a:rPr lang="en-GB" sz="2400" dirty="0" smtClean="0">
                <a:solidFill>
                  <a:srgbClr val="00B050"/>
                </a:solidFill>
              </a:rPr>
              <a:t>).</a:t>
            </a:r>
          </a:p>
        </p:txBody>
      </p:sp>
    </p:spTree>
    <p:extLst>
      <p:ext uri="{BB962C8B-B14F-4D97-AF65-F5344CB8AC3E}">
        <p14:creationId xmlns:p14="http://schemas.microsoft.com/office/powerpoint/2010/main" val="3999770721"/>
      </p:ext>
    </p:extLst>
  </p:cSld>
  <p:clrMapOvr>
    <a:masterClrMapping/>
  </p:clrMapOvr>
  <p:timing>
    <p:tnLst>
      <p:par>
        <p:cTn id="1" dur="indefinite" restart="never" nodeType="tmRoot"/>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899592" y="0"/>
            <a:ext cx="8244408" cy="657041"/>
          </a:xfrm>
        </p:spPr>
        <p:txBody>
          <a:bodyPr>
            <a:noAutofit/>
          </a:bodyPr>
          <a:lstStyle/>
          <a:p>
            <a:pPr marL="342900" lvl="1" algn="l" defTabSz="342900" rtl="0">
              <a:spcBef>
                <a:spcPct val="20000"/>
              </a:spcBef>
            </a:pPr>
            <a:r>
              <a:rPr lang="en-US" sz="1400" b="1" dirty="0">
                <a:solidFill>
                  <a:schemeClr val="accent6"/>
                </a:solidFill>
              </a:rPr>
              <a:t>Addition and condensation </a:t>
            </a:r>
            <a:r>
              <a:rPr lang="en-US" sz="1400" b="1" dirty="0" err="1">
                <a:solidFill>
                  <a:schemeClr val="accent6"/>
                </a:solidFill>
              </a:rPr>
              <a:t>polymerisation</a:t>
            </a:r>
            <a:r>
              <a:rPr lang="en-US" sz="1400" b="1" dirty="0">
                <a:solidFill>
                  <a:schemeClr val="accent6"/>
                </a:solidFill>
              </a:rPr>
              <a:t> and amino acids (Chemistry HT only)</a:t>
            </a:r>
            <a:r>
              <a:rPr kumimoji="0" lang="en-US" sz="1400" b="1" i="0" u="none" strike="noStrike" kern="1200" cap="none" spc="0" normalizeH="0" baseline="0" noProof="0" dirty="0" err="1">
                <a:ln>
                  <a:noFill/>
                </a:ln>
                <a:solidFill>
                  <a:schemeClr val="tx1"/>
                </a:solidFill>
                <a:effectLst/>
                <a:uLnTx/>
                <a:uFillTx/>
                <a:latin typeface="Calibri"/>
                <a:ea typeface=""/>
                <a:cs typeface="News Gothic MT"/>
              </a:rPr>
              <a:t>QuestionIT</a:t>
            </a:r>
            <a:endParaRPr kumimoji="0" lang="en-US" sz="1400" b="1" i="0" u="none" strike="noStrike" kern="1200" cap="none" spc="0" normalizeH="0" baseline="0" noProof="0" dirty="0">
              <a:ln>
                <a:noFill/>
              </a:ln>
              <a:solidFill>
                <a:schemeClr val="tx1"/>
              </a:solidFill>
              <a:effectLst/>
              <a:uLnTx/>
              <a:uFillTx/>
              <a:latin typeface="Calibri"/>
              <a:ea typeface=""/>
              <a:cs typeface="News Gothic MT"/>
            </a:endParaRPr>
          </a:p>
        </p:txBody>
      </p:sp>
      <p:sp>
        <p:nvSpPr>
          <p:cNvPr id="4" name="Rectangle 3"/>
          <p:cNvSpPr/>
          <p:nvPr/>
        </p:nvSpPr>
        <p:spPr>
          <a:xfrm>
            <a:off x="149087" y="802524"/>
            <a:ext cx="8915400" cy="5595731"/>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a:lstStyle/>
          <a:p>
            <a:pPr marL="342900" marR="0" lvl="0" indent="-342900" defTabSz="914400" eaLnBrk="1" fontAlgn="auto" latinLnBrk="0" hangingPunct="1">
              <a:lnSpc>
                <a:spcPct val="100000"/>
              </a:lnSpc>
              <a:spcBef>
                <a:spcPts val="0"/>
              </a:spcBef>
              <a:spcAft>
                <a:spcPts val="0"/>
              </a:spcAft>
              <a:buClrTx/>
              <a:buSzTx/>
              <a:buFont typeface="+mj-lt"/>
              <a:buNone/>
              <a:tabLst/>
              <a:defRPr/>
            </a:pPr>
            <a:endParaRPr lang="en-GB" sz="2000" dirty="0">
              <a:solidFill>
                <a:schemeClr val="tx1"/>
              </a:solidFill>
            </a:endParaRPr>
          </a:p>
        </p:txBody>
      </p:sp>
      <p:sp>
        <p:nvSpPr>
          <p:cNvPr id="6" name="TextBox 5"/>
          <p:cNvSpPr txBox="1"/>
          <p:nvPr/>
        </p:nvSpPr>
        <p:spPr>
          <a:xfrm>
            <a:off x="149087" y="789501"/>
            <a:ext cx="8915400" cy="4247317"/>
          </a:xfrm>
          <a:prstGeom prst="rect">
            <a:avLst/>
          </a:prstGeom>
          <a:noFill/>
        </p:spPr>
        <p:txBody>
          <a:bodyPr wrap="square" rtlCol="0">
            <a:spAutoFit/>
          </a:bodyPr>
          <a:lstStyle/>
          <a:p>
            <a:pPr marL="457200" indent="-457200">
              <a:buFont typeface="+mj-lt"/>
              <a:buAutoNum type="arabicPeriod" startAt="5"/>
            </a:pPr>
            <a:r>
              <a:rPr lang="en-GB" sz="2400" dirty="0" smtClean="0"/>
              <a:t>HT </a:t>
            </a:r>
            <a:r>
              <a:rPr lang="en-GB" sz="2400" dirty="0"/>
              <a:t>ONLY - What happens during condensation polymerisation</a:t>
            </a:r>
            <a:r>
              <a:rPr lang="en-GB" sz="2400" dirty="0" smtClean="0"/>
              <a:t>?</a:t>
            </a:r>
          </a:p>
          <a:p>
            <a:pPr lvl="1"/>
            <a:r>
              <a:rPr lang="en-GB" sz="2400" dirty="0" smtClean="0">
                <a:solidFill>
                  <a:srgbClr val="00B050"/>
                </a:solidFill>
              </a:rPr>
              <a:t>Monomers with two functional groups; small molecules such as water are lost through ‘condensation’.</a:t>
            </a:r>
            <a:endParaRPr lang="en-GB" sz="2400" dirty="0">
              <a:solidFill>
                <a:srgbClr val="00B050"/>
              </a:solidFill>
            </a:endParaRPr>
          </a:p>
          <a:p>
            <a:pPr marL="457200" indent="-457200">
              <a:buFont typeface="+mj-lt"/>
              <a:buAutoNum type="arabicPeriod" startAt="5"/>
            </a:pPr>
            <a:r>
              <a:rPr lang="en-GB" sz="2400" dirty="0" smtClean="0"/>
              <a:t>HT </a:t>
            </a:r>
            <a:r>
              <a:rPr lang="en-GB" sz="2400" dirty="0"/>
              <a:t>ONLY - Explain how amino acids polymerise to form a polypeptide</a:t>
            </a:r>
            <a:r>
              <a:rPr lang="en-GB" sz="2400" dirty="0" smtClean="0"/>
              <a:t>.</a:t>
            </a:r>
          </a:p>
          <a:p>
            <a:pPr lvl="1"/>
            <a:r>
              <a:rPr lang="en-GB" sz="2400" dirty="0" smtClean="0">
                <a:solidFill>
                  <a:srgbClr val="00B050"/>
                </a:solidFill>
              </a:rPr>
              <a:t>Condensation polymerisation. Two functional groups, water lost by condensation.</a:t>
            </a:r>
            <a:endParaRPr lang="en-GB" sz="2400" dirty="0">
              <a:solidFill>
                <a:srgbClr val="00B050"/>
              </a:solidFill>
            </a:endParaRPr>
          </a:p>
          <a:p>
            <a:pPr marL="457200" indent="-457200">
              <a:buFont typeface="+mj-lt"/>
              <a:buAutoNum type="arabicPeriod" startAt="5"/>
            </a:pPr>
            <a:r>
              <a:rPr lang="en-GB" sz="2400" dirty="0" smtClean="0"/>
              <a:t>HT </a:t>
            </a:r>
            <a:r>
              <a:rPr lang="en-GB" sz="2400" dirty="0"/>
              <a:t>ONLY - Name and give the formula of one amino acid that polymerises in this way</a:t>
            </a:r>
            <a:r>
              <a:rPr lang="en-GB" sz="2400" dirty="0" smtClean="0"/>
              <a:t>.</a:t>
            </a:r>
          </a:p>
          <a:p>
            <a:pPr lvl="1"/>
            <a:r>
              <a:rPr lang="en-GB" sz="2400" dirty="0">
                <a:solidFill>
                  <a:srgbClr val="00B050"/>
                </a:solidFill>
              </a:rPr>
              <a:t>glycerine – H</a:t>
            </a:r>
            <a:r>
              <a:rPr lang="en-GB" sz="2400" baseline="-25000" dirty="0">
                <a:solidFill>
                  <a:srgbClr val="00B050"/>
                </a:solidFill>
              </a:rPr>
              <a:t>2</a:t>
            </a:r>
            <a:r>
              <a:rPr lang="en-GB" sz="2400" dirty="0">
                <a:solidFill>
                  <a:srgbClr val="00B050"/>
                </a:solidFill>
              </a:rPr>
              <a:t>NCH</a:t>
            </a:r>
            <a:r>
              <a:rPr lang="en-GB" sz="2400" baseline="-25000" dirty="0">
                <a:solidFill>
                  <a:srgbClr val="00B050"/>
                </a:solidFill>
              </a:rPr>
              <a:t>2</a:t>
            </a:r>
            <a:r>
              <a:rPr lang="en-GB" sz="2400" dirty="0">
                <a:solidFill>
                  <a:srgbClr val="00B050"/>
                </a:solidFill>
              </a:rPr>
              <a:t>COOH</a:t>
            </a:r>
            <a:endParaRPr lang="en-GB" sz="2800" dirty="0">
              <a:solidFill>
                <a:srgbClr val="00B050"/>
              </a:solidFill>
            </a:endParaRPr>
          </a:p>
          <a:p>
            <a:pPr lvl="1"/>
            <a:endParaRPr lang="en-GB" sz="2400" dirty="0" smtClean="0">
              <a:solidFill>
                <a:srgbClr val="00B050"/>
              </a:solidFill>
            </a:endParaRPr>
          </a:p>
        </p:txBody>
      </p:sp>
    </p:spTree>
    <p:extLst>
      <p:ext uri="{BB962C8B-B14F-4D97-AF65-F5344CB8AC3E}">
        <p14:creationId xmlns:p14="http://schemas.microsoft.com/office/powerpoint/2010/main" val="1708000694"/>
      </p:ext>
    </p:extLst>
  </p:cSld>
  <p:clrMapOvr>
    <a:masterClrMapping/>
  </p:clrMapOvr>
  <p:timing>
    <p:tnLst>
      <p:par>
        <p:cTn id="1" dur="indefinite" restart="never" nodeType="tmRoot"/>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149087" y="802524"/>
            <a:ext cx="8915400" cy="5595731"/>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a:lstStyle/>
          <a:p>
            <a:pPr marL="342900" marR="0" lvl="0" indent="-342900" defTabSz="914400" eaLnBrk="1" fontAlgn="auto" latinLnBrk="0" hangingPunct="1">
              <a:lnSpc>
                <a:spcPct val="100000"/>
              </a:lnSpc>
              <a:spcBef>
                <a:spcPts val="0"/>
              </a:spcBef>
              <a:spcAft>
                <a:spcPts val="0"/>
              </a:spcAft>
              <a:buClrTx/>
              <a:buSzTx/>
              <a:buFont typeface="+mj-lt"/>
              <a:buNone/>
              <a:tabLst/>
              <a:defRPr/>
            </a:pPr>
            <a:endParaRPr lang="en-GB" sz="2000" dirty="0">
              <a:solidFill>
                <a:schemeClr val="tx1"/>
              </a:solidFill>
            </a:endParaRPr>
          </a:p>
        </p:txBody>
      </p:sp>
      <p:pic>
        <p:nvPicPr>
          <p:cNvPr id="8" name="Picture 7"/>
          <p:cNvPicPr>
            <a:picLocks noChangeAspect="1"/>
          </p:cNvPicPr>
          <p:nvPr/>
        </p:nvPicPr>
        <p:blipFill>
          <a:blip r:embed="rId3">
            <a:clrChange>
              <a:clrFrom>
                <a:srgbClr val="FFFFFF"/>
              </a:clrFrom>
              <a:clrTo>
                <a:srgbClr val="FFFFFF">
                  <a:alpha val="0"/>
                </a:srgbClr>
              </a:clrTo>
            </a:clrChange>
          </a:blip>
          <a:stretch>
            <a:fillRect/>
          </a:stretch>
        </p:blipFill>
        <p:spPr>
          <a:xfrm>
            <a:off x="2642398" y="0"/>
            <a:ext cx="6538114" cy="6525344"/>
          </a:xfrm>
          <a:prstGeom prst="rect">
            <a:avLst/>
          </a:prstGeom>
        </p:spPr>
      </p:pic>
      <p:sp>
        <p:nvSpPr>
          <p:cNvPr id="7" name="TextBox 6"/>
          <p:cNvSpPr txBox="1"/>
          <p:nvPr/>
        </p:nvSpPr>
        <p:spPr>
          <a:xfrm>
            <a:off x="-22696" y="675435"/>
            <a:ext cx="4572000" cy="4739759"/>
          </a:xfrm>
          <a:prstGeom prst="rect">
            <a:avLst/>
          </a:prstGeom>
          <a:noFill/>
        </p:spPr>
        <p:txBody>
          <a:bodyPr wrap="square" rtlCol="0">
            <a:spAutoFit/>
          </a:bodyPr>
          <a:lstStyle/>
          <a:p>
            <a:r>
              <a:rPr lang="en-GB" sz="7200" b="1" dirty="0">
                <a:latin typeface="+mj-lt"/>
                <a:ea typeface="Beirut" charset="-78"/>
                <a:cs typeface="Beirut" charset="-78"/>
              </a:rPr>
              <a:t>LearnIT!</a:t>
            </a:r>
          </a:p>
          <a:p>
            <a:r>
              <a:rPr lang="en-GB" sz="7200" b="1" dirty="0">
                <a:latin typeface="+mj-lt"/>
                <a:ea typeface="Beirut" charset="-78"/>
                <a:cs typeface="Beirut" charset="-78"/>
              </a:rPr>
              <a:t>KnowIT!</a:t>
            </a:r>
          </a:p>
          <a:p>
            <a:endParaRPr lang="en-GB" dirty="0"/>
          </a:p>
          <a:p>
            <a:r>
              <a:rPr lang="en-GB" sz="2400" b="1" dirty="0">
                <a:solidFill>
                  <a:schemeClr val="tx1">
                    <a:lumMod val="50000"/>
                    <a:lumOff val="50000"/>
                  </a:schemeClr>
                </a:solidFill>
              </a:rPr>
              <a:t>Synthetic and naturally </a:t>
            </a:r>
          </a:p>
          <a:p>
            <a:r>
              <a:rPr lang="en-GB" sz="2400" b="1" dirty="0">
                <a:solidFill>
                  <a:schemeClr val="tx1">
                    <a:lumMod val="50000"/>
                    <a:lumOff val="50000"/>
                  </a:schemeClr>
                </a:solidFill>
              </a:rPr>
              <a:t>Occurring polymers</a:t>
            </a:r>
          </a:p>
          <a:p>
            <a:r>
              <a:rPr lang="en-GB" sz="2400" b="1" dirty="0">
                <a:solidFill>
                  <a:schemeClr val="tx1">
                    <a:lumMod val="50000"/>
                    <a:lumOff val="50000"/>
                  </a:schemeClr>
                </a:solidFill>
              </a:rPr>
              <a:t>(Chemistry only)</a:t>
            </a:r>
          </a:p>
          <a:p>
            <a:pPr marL="342900" indent="-342900">
              <a:buFont typeface="Arial" panose="020B0604020202020204" pitchFamily="34" charset="0"/>
              <a:buChar char="•"/>
            </a:pPr>
            <a:r>
              <a:rPr lang="en-GB" sz="2400" b="1" dirty="0" smtClean="0">
                <a:solidFill>
                  <a:schemeClr val="tx1">
                    <a:lumMod val="50000"/>
                    <a:lumOff val="50000"/>
                  </a:schemeClr>
                </a:solidFill>
              </a:rPr>
              <a:t>DNA </a:t>
            </a:r>
            <a:r>
              <a:rPr lang="en-GB" sz="2400" b="1" dirty="0">
                <a:solidFill>
                  <a:schemeClr val="tx1">
                    <a:lumMod val="50000"/>
                    <a:lumOff val="50000"/>
                  </a:schemeClr>
                </a:solidFill>
              </a:rPr>
              <a:t>and other </a:t>
            </a:r>
            <a:r>
              <a:rPr lang="en-GB" sz="2400" b="1" dirty="0" smtClean="0">
                <a:solidFill>
                  <a:schemeClr val="tx1">
                    <a:lumMod val="50000"/>
                    <a:lumOff val="50000"/>
                  </a:schemeClr>
                </a:solidFill>
              </a:rPr>
              <a:t>naturally occurring </a:t>
            </a:r>
            <a:r>
              <a:rPr lang="en-GB" sz="2400" b="1" dirty="0">
                <a:solidFill>
                  <a:schemeClr val="tx1">
                    <a:lumMod val="50000"/>
                    <a:lumOff val="50000"/>
                  </a:schemeClr>
                </a:solidFill>
              </a:rPr>
              <a:t>polymers</a:t>
            </a:r>
            <a:endParaRPr lang="en-GB" b="1" dirty="0">
              <a:solidFill>
                <a:schemeClr val="tx1">
                  <a:lumMod val="50000"/>
                  <a:lumOff val="50000"/>
                </a:schemeClr>
              </a:solidFill>
            </a:endParaRPr>
          </a:p>
          <a:p>
            <a:endParaRPr lang="en-GB" sz="2000" b="1" dirty="0">
              <a:solidFill>
                <a:schemeClr val="tx1">
                  <a:lumMod val="50000"/>
                  <a:lumOff val="50000"/>
                </a:schemeClr>
              </a:solidFill>
            </a:endParaRPr>
          </a:p>
        </p:txBody>
      </p:sp>
    </p:spTree>
    <p:extLst>
      <p:ext uri="{BB962C8B-B14F-4D97-AF65-F5344CB8AC3E}">
        <p14:creationId xmlns:p14="http://schemas.microsoft.com/office/powerpoint/2010/main" val="3647780249"/>
      </p:ext>
    </p:extLst>
  </p:cSld>
  <p:clrMapOvr>
    <a:masterClrMapping/>
  </p:clrMapOvr>
  <p:timing>
    <p:tnLst>
      <p:par>
        <p:cTn id="1" dur="indefinite" restart="never" nodeType="tmRoot"/>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115616" y="-14024"/>
            <a:ext cx="8017076" cy="657041"/>
          </a:xfrm>
        </p:spPr>
        <p:txBody>
          <a:bodyPr>
            <a:noAutofit/>
          </a:bodyPr>
          <a:lstStyle/>
          <a:p>
            <a:pPr marL="342900" lvl="1" algn="r" defTabSz="342900" rtl="0">
              <a:spcBef>
                <a:spcPct val="20000"/>
              </a:spcBef>
            </a:pPr>
            <a:r>
              <a:rPr lang="en-US" sz="2100" b="1" dirty="0">
                <a:solidFill>
                  <a:schemeClr val="accent6"/>
                </a:solidFill>
              </a:rPr>
              <a:t>DNA and other naturally occurring polymers</a:t>
            </a:r>
            <a:endParaRPr kumimoji="0" lang="en-US" sz="2100" b="1" i="0" u="none" strike="noStrike" kern="1200" cap="none" spc="0" normalizeH="0" baseline="0" noProof="0" dirty="0">
              <a:ln>
                <a:noFill/>
              </a:ln>
              <a:solidFill>
                <a:schemeClr val="accent6"/>
              </a:solidFill>
              <a:effectLst/>
              <a:uLnTx/>
              <a:uFillTx/>
              <a:latin typeface="Calibri"/>
              <a:ea typeface=""/>
              <a:cs typeface="News Gothic MT"/>
            </a:endParaRPr>
          </a:p>
        </p:txBody>
      </p:sp>
      <p:sp>
        <p:nvSpPr>
          <p:cNvPr id="6" name="TextBox 5"/>
          <p:cNvSpPr txBox="1"/>
          <p:nvPr/>
        </p:nvSpPr>
        <p:spPr>
          <a:xfrm>
            <a:off x="179511" y="698620"/>
            <a:ext cx="8784976" cy="1015663"/>
          </a:xfrm>
          <a:prstGeom prst="rect">
            <a:avLst/>
          </a:prstGeom>
          <a:noFill/>
          <a:ln w="28575">
            <a:solidFill>
              <a:schemeClr val="accent6"/>
            </a:solidFill>
          </a:ln>
        </p:spPr>
        <p:txBody>
          <a:bodyPr wrap="square" rtlCol="0">
            <a:spAutoFit/>
          </a:bodyPr>
          <a:lstStyle/>
          <a:p>
            <a:r>
              <a:rPr lang="en-GB" sz="2000" b="1" dirty="0">
                <a:solidFill>
                  <a:schemeClr val="accent6">
                    <a:lumMod val="75000"/>
                  </a:schemeClr>
                </a:solidFill>
              </a:rPr>
              <a:t>DNA</a:t>
            </a:r>
            <a:r>
              <a:rPr lang="en-GB" sz="2000" b="1" dirty="0"/>
              <a:t> </a:t>
            </a:r>
            <a:r>
              <a:rPr lang="en-GB" sz="2000" dirty="0"/>
              <a:t>(deoxyribonucleic acid) is a large molecule essential for life. DNA encodes genetic instructions for the development and functioning of living organisms and viruses.</a:t>
            </a:r>
          </a:p>
        </p:txBody>
      </p:sp>
      <p:sp>
        <p:nvSpPr>
          <p:cNvPr id="11" name="TextBox 10"/>
          <p:cNvSpPr txBox="1"/>
          <p:nvPr/>
        </p:nvSpPr>
        <p:spPr>
          <a:xfrm>
            <a:off x="176913" y="1714283"/>
            <a:ext cx="8784976" cy="707886"/>
          </a:xfrm>
          <a:prstGeom prst="rect">
            <a:avLst/>
          </a:prstGeom>
          <a:noFill/>
          <a:ln w="28575">
            <a:solidFill>
              <a:schemeClr val="accent6"/>
            </a:solidFill>
          </a:ln>
        </p:spPr>
        <p:txBody>
          <a:bodyPr wrap="square" rtlCol="0">
            <a:spAutoFit/>
          </a:bodyPr>
          <a:lstStyle/>
          <a:p>
            <a:r>
              <a:rPr lang="en-GB" sz="2000" dirty="0"/>
              <a:t>Most DNA molecules are </a:t>
            </a:r>
            <a:r>
              <a:rPr lang="en-GB" sz="2000" b="1" dirty="0">
                <a:solidFill>
                  <a:schemeClr val="accent6">
                    <a:lumMod val="75000"/>
                  </a:schemeClr>
                </a:solidFill>
              </a:rPr>
              <a:t>two polymer chains</a:t>
            </a:r>
            <a:r>
              <a:rPr lang="en-GB" sz="2000" dirty="0"/>
              <a:t>, made from </a:t>
            </a:r>
            <a:r>
              <a:rPr lang="en-GB" sz="2000" b="1" dirty="0">
                <a:solidFill>
                  <a:schemeClr val="accent6">
                    <a:lumMod val="75000"/>
                  </a:schemeClr>
                </a:solidFill>
              </a:rPr>
              <a:t>four different monomers </a:t>
            </a:r>
            <a:r>
              <a:rPr lang="en-GB" sz="2000" dirty="0"/>
              <a:t>called </a:t>
            </a:r>
            <a:r>
              <a:rPr lang="en-GB" sz="2000" b="1" dirty="0">
                <a:solidFill>
                  <a:schemeClr val="accent6">
                    <a:lumMod val="75000"/>
                  </a:schemeClr>
                </a:solidFill>
              </a:rPr>
              <a:t>nucleotides</a:t>
            </a:r>
            <a:r>
              <a:rPr lang="en-GB" sz="2000" dirty="0"/>
              <a:t>, in the form of a </a:t>
            </a:r>
            <a:r>
              <a:rPr lang="en-GB" sz="2000" b="1" dirty="0">
                <a:solidFill>
                  <a:schemeClr val="accent6">
                    <a:lumMod val="75000"/>
                  </a:schemeClr>
                </a:solidFill>
              </a:rPr>
              <a:t>double helix</a:t>
            </a:r>
            <a:r>
              <a:rPr lang="en-GB" sz="2000" dirty="0"/>
              <a:t>.</a:t>
            </a:r>
          </a:p>
        </p:txBody>
      </p:sp>
      <p:sp>
        <p:nvSpPr>
          <p:cNvPr id="13" name="TextBox 12"/>
          <p:cNvSpPr txBox="1"/>
          <p:nvPr/>
        </p:nvSpPr>
        <p:spPr>
          <a:xfrm>
            <a:off x="179511" y="2599427"/>
            <a:ext cx="8784976" cy="677108"/>
          </a:xfrm>
          <a:prstGeom prst="rect">
            <a:avLst/>
          </a:prstGeom>
          <a:noFill/>
        </p:spPr>
        <p:txBody>
          <a:bodyPr wrap="square" rtlCol="0">
            <a:spAutoFit/>
          </a:bodyPr>
          <a:lstStyle/>
          <a:p>
            <a:r>
              <a:rPr lang="en-GB" sz="2000" dirty="0"/>
              <a:t>We can show the double helix structure in the following way</a:t>
            </a:r>
          </a:p>
          <a:p>
            <a:endParaRPr lang="en-GB" dirty="0"/>
          </a:p>
        </p:txBody>
      </p:sp>
      <p:sp>
        <p:nvSpPr>
          <p:cNvPr id="17" name="TextBox 16"/>
          <p:cNvSpPr txBox="1"/>
          <p:nvPr/>
        </p:nvSpPr>
        <p:spPr>
          <a:xfrm>
            <a:off x="179511" y="4221088"/>
            <a:ext cx="6600548" cy="1323439"/>
          </a:xfrm>
          <a:prstGeom prst="rect">
            <a:avLst/>
          </a:prstGeom>
          <a:noFill/>
        </p:spPr>
        <p:txBody>
          <a:bodyPr wrap="square" rtlCol="0">
            <a:spAutoFit/>
          </a:bodyPr>
          <a:lstStyle/>
          <a:p>
            <a:r>
              <a:rPr lang="en-GB" sz="2000" dirty="0"/>
              <a:t>Each nucleotide contains a </a:t>
            </a:r>
            <a:r>
              <a:rPr lang="en-GB" sz="2000" b="1" dirty="0">
                <a:solidFill>
                  <a:schemeClr val="accent6">
                    <a:lumMod val="75000"/>
                  </a:schemeClr>
                </a:solidFill>
              </a:rPr>
              <a:t>base</a:t>
            </a:r>
            <a:r>
              <a:rPr lang="en-GB" sz="2000" dirty="0"/>
              <a:t>, a </a:t>
            </a:r>
            <a:r>
              <a:rPr lang="en-GB" sz="2000" b="1" dirty="0">
                <a:solidFill>
                  <a:schemeClr val="accent6">
                    <a:lumMod val="75000"/>
                  </a:schemeClr>
                </a:solidFill>
              </a:rPr>
              <a:t>phosphate</a:t>
            </a:r>
            <a:r>
              <a:rPr lang="en-GB" sz="2000" dirty="0"/>
              <a:t> and a </a:t>
            </a:r>
            <a:r>
              <a:rPr lang="en-GB" sz="2000" b="1" dirty="0">
                <a:solidFill>
                  <a:schemeClr val="accent6">
                    <a:lumMod val="75000"/>
                  </a:schemeClr>
                </a:solidFill>
              </a:rPr>
              <a:t>deoxyribose sugar</a:t>
            </a:r>
            <a:r>
              <a:rPr lang="en-GB" sz="2000" dirty="0"/>
              <a:t>.</a:t>
            </a:r>
          </a:p>
          <a:p>
            <a:r>
              <a:rPr lang="en-GB" sz="2000" dirty="0"/>
              <a:t>There are four different bases</a:t>
            </a:r>
            <a:r>
              <a:rPr lang="en-GB" sz="2000" b="1" dirty="0"/>
              <a:t>: </a:t>
            </a:r>
            <a:r>
              <a:rPr lang="en-GB" sz="2000" b="1" dirty="0">
                <a:solidFill>
                  <a:schemeClr val="accent6">
                    <a:lumMod val="75000"/>
                  </a:schemeClr>
                </a:solidFill>
              </a:rPr>
              <a:t>guanine</a:t>
            </a:r>
            <a:r>
              <a:rPr lang="en-GB" sz="2000" dirty="0">
                <a:solidFill>
                  <a:schemeClr val="accent6">
                    <a:lumMod val="75000"/>
                  </a:schemeClr>
                </a:solidFill>
              </a:rPr>
              <a:t>, </a:t>
            </a:r>
            <a:r>
              <a:rPr lang="en-GB" sz="2000" b="1" dirty="0">
                <a:solidFill>
                  <a:schemeClr val="accent6">
                    <a:lumMod val="75000"/>
                  </a:schemeClr>
                </a:solidFill>
              </a:rPr>
              <a:t>cytosine</a:t>
            </a:r>
            <a:r>
              <a:rPr lang="en-GB" sz="2000" dirty="0">
                <a:solidFill>
                  <a:schemeClr val="accent6">
                    <a:lumMod val="75000"/>
                  </a:schemeClr>
                </a:solidFill>
              </a:rPr>
              <a:t>, </a:t>
            </a:r>
            <a:r>
              <a:rPr lang="en-GB" sz="2000" b="1" dirty="0">
                <a:solidFill>
                  <a:schemeClr val="accent6">
                    <a:lumMod val="75000"/>
                  </a:schemeClr>
                </a:solidFill>
              </a:rPr>
              <a:t>thymine</a:t>
            </a:r>
            <a:r>
              <a:rPr lang="en-GB" sz="2000" dirty="0">
                <a:solidFill>
                  <a:schemeClr val="accent6">
                    <a:lumMod val="75000"/>
                  </a:schemeClr>
                </a:solidFill>
              </a:rPr>
              <a:t> </a:t>
            </a:r>
            <a:r>
              <a:rPr lang="en-GB" sz="2000" dirty="0"/>
              <a:t>or </a:t>
            </a:r>
            <a:r>
              <a:rPr lang="en-GB" sz="2000" b="1" dirty="0">
                <a:solidFill>
                  <a:schemeClr val="accent6">
                    <a:lumMod val="75000"/>
                  </a:schemeClr>
                </a:solidFill>
              </a:rPr>
              <a:t>adenine</a:t>
            </a:r>
            <a:r>
              <a:rPr lang="en-GB" sz="2000" dirty="0"/>
              <a:t>. The nucleotide depends upon the base it contains</a:t>
            </a:r>
            <a:r>
              <a:rPr lang="en-GB" sz="1700" dirty="0"/>
              <a:t>. </a:t>
            </a:r>
          </a:p>
        </p:txBody>
      </p:sp>
      <p:sp>
        <p:nvSpPr>
          <p:cNvPr id="24" name="TextBox 23"/>
          <p:cNvSpPr txBox="1"/>
          <p:nvPr/>
        </p:nvSpPr>
        <p:spPr>
          <a:xfrm>
            <a:off x="177806" y="5367101"/>
            <a:ext cx="8640961" cy="1015663"/>
          </a:xfrm>
          <a:prstGeom prst="rect">
            <a:avLst/>
          </a:prstGeom>
          <a:noFill/>
        </p:spPr>
        <p:txBody>
          <a:bodyPr wrap="square" rtlCol="0">
            <a:spAutoFit/>
          </a:bodyPr>
          <a:lstStyle/>
          <a:p>
            <a:r>
              <a:rPr lang="en-GB" sz="2000" dirty="0"/>
              <a:t>There are other naturally occurring polymers:</a:t>
            </a:r>
          </a:p>
          <a:p>
            <a:pPr marL="285750" indent="-285750">
              <a:buFont typeface="Arial" panose="020B0604020202020204" pitchFamily="34" charset="0"/>
              <a:buChar char="•"/>
            </a:pPr>
            <a:r>
              <a:rPr lang="en-GB" sz="2000" b="1" dirty="0">
                <a:solidFill>
                  <a:schemeClr val="accent6">
                    <a:lumMod val="75000"/>
                  </a:schemeClr>
                </a:solidFill>
              </a:rPr>
              <a:t>Starch</a:t>
            </a:r>
            <a:r>
              <a:rPr lang="en-GB" sz="2000" dirty="0"/>
              <a:t> and </a:t>
            </a:r>
            <a:r>
              <a:rPr lang="en-GB" sz="2000" b="1" dirty="0">
                <a:solidFill>
                  <a:schemeClr val="accent6">
                    <a:lumMod val="75000"/>
                  </a:schemeClr>
                </a:solidFill>
              </a:rPr>
              <a:t>cellulose</a:t>
            </a:r>
            <a:r>
              <a:rPr lang="en-GB" sz="2000" dirty="0"/>
              <a:t> are both made from the </a:t>
            </a:r>
            <a:r>
              <a:rPr lang="en-GB" sz="2000" b="1" dirty="0">
                <a:solidFill>
                  <a:schemeClr val="accent6">
                    <a:lumMod val="75000"/>
                  </a:schemeClr>
                </a:solidFill>
              </a:rPr>
              <a:t>monomer glucose</a:t>
            </a:r>
          </a:p>
          <a:p>
            <a:pPr marL="285750" indent="-285750">
              <a:buFont typeface="Arial" panose="020B0604020202020204" pitchFamily="34" charset="0"/>
              <a:buChar char="•"/>
            </a:pPr>
            <a:r>
              <a:rPr lang="en-GB" sz="2000" b="1" dirty="0">
                <a:solidFill>
                  <a:schemeClr val="accent6">
                    <a:lumMod val="75000"/>
                  </a:schemeClr>
                </a:solidFill>
              </a:rPr>
              <a:t>Proteins</a:t>
            </a:r>
            <a:r>
              <a:rPr lang="en-GB" sz="2000" dirty="0"/>
              <a:t> are made from the </a:t>
            </a:r>
            <a:r>
              <a:rPr lang="en-GB" sz="2000" b="1" dirty="0">
                <a:solidFill>
                  <a:schemeClr val="accent6">
                    <a:lumMod val="75000"/>
                  </a:schemeClr>
                </a:solidFill>
              </a:rPr>
              <a:t>monomer amino acids</a:t>
            </a:r>
          </a:p>
        </p:txBody>
      </p:sp>
      <p:grpSp>
        <p:nvGrpSpPr>
          <p:cNvPr id="7" name="Group 6"/>
          <p:cNvGrpSpPr/>
          <p:nvPr/>
        </p:nvGrpSpPr>
        <p:grpSpPr>
          <a:xfrm>
            <a:off x="150260" y="2364677"/>
            <a:ext cx="8955778" cy="2911470"/>
            <a:chOff x="150260" y="2364677"/>
            <a:chExt cx="8955778" cy="2911470"/>
          </a:xfrm>
        </p:grpSpPr>
        <p:grpSp>
          <p:nvGrpSpPr>
            <p:cNvPr id="3" name="Group 2"/>
            <p:cNvGrpSpPr/>
            <p:nvPr/>
          </p:nvGrpSpPr>
          <p:grpSpPr>
            <a:xfrm>
              <a:off x="150260" y="2364677"/>
              <a:ext cx="8784975" cy="1823715"/>
              <a:chOff x="176913" y="2396629"/>
              <a:chExt cx="8784975" cy="1823715"/>
            </a:xfrm>
          </p:grpSpPr>
          <p:pic>
            <p:nvPicPr>
              <p:cNvPr id="14" name="Picture 13"/>
              <p:cNvPicPr>
                <a:picLocks noChangeAspect="1"/>
              </p:cNvPicPr>
              <p:nvPr/>
            </p:nvPicPr>
            <p:blipFill>
              <a:blip r:embed="rId3">
                <a:clrChange>
                  <a:clrFrom>
                    <a:srgbClr val="F7F7F7"/>
                  </a:clrFrom>
                  <a:clrTo>
                    <a:srgbClr val="F7F7F7">
                      <a:alpha val="0"/>
                    </a:srgbClr>
                  </a:clrTo>
                </a:clrChange>
              </a:blip>
              <a:stretch>
                <a:fillRect/>
              </a:stretch>
            </p:blipFill>
            <p:spPr>
              <a:xfrm>
                <a:off x="176913" y="2924944"/>
                <a:ext cx="8784975" cy="1295400"/>
              </a:xfrm>
              <a:prstGeom prst="rect">
                <a:avLst/>
              </a:prstGeom>
            </p:spPr>
          </p:pic>
          <p:sp>
            <p:nvSpPr>
              <p:cNvPr id="21" name="TextBox 20"/>
              <p:cNvSpPr txBox="1"/>
              <p:nvPr/>
            </p:nvSpPr>
            <p:spPr>
              <a:xfrm>
                <a:off x="7017674" y="2396629"/>
                <a:ext cx="1944214" cy="400110"/>
              </a:xfrm>
              <a:custGeom>
                <a:avLst/>
                <a:gdLst>
                  <a:gd name="connsiteX0" fmla="*/ 0 w 1944214"/>
                  <a:gd name="connsiteY0" fmla="*/ 0 h 433789"/>
                  <a:gd name="connsiteX1" fmla="*/ 1944214 w 1944214"/>
                  <a:gd name="connsiteY1" fmla="*/ 0 h 433789"/>
                  <a:gd name="connsiteX2" fmla="*/ 1944214 w 1944214"/>
                  <a:gd name="connsiteY2" fmla="*/ 433789 h 433789"/>
                  <a:gd name="connsiteX3" fmla="*/ 0 w 1944214"/>
                  <a:gd name="connsiteY3" fmla="*/ 433789 h 433789"/>
                  <a:gd name="connsiteX4" fmla="*/ 0 w 1944214"/>
                  <a:gd name="connsiteY4" fmla="*/ 0 h 433789"/>
                  <a:gd name="connsiteX0" fmla="*/ 0 w 1944214"/>
                  <a:gd name="connsiteY0" fmla="*/ 90153 h 433789"/>
                  <a:gd name="connsiteX1" fmla="*/ 1944214 w 1944214"/>
                  <a:gd name="connsiteY1" fmla="*/ 0 h 433789"/>
                  <a:gd name="connsiteX2" fmla="*/ 1944214 w 1944214"/>
                  <a:gd name="connsiteY2" fmla="*/ 433789 h 433789"/>
                  <a:gd name="connsiteX3" fmla="*/ 0 w 1944214"/>
                  <a:gd name="connsiteY3" fmla="*/ 433789 h 433789"/>
                  <a:gd name="connsiteX4" fmla="*/ 0 w 1944214"/>
                  <a:gd name="connsiteY4" fmla="*/ 90153 h 433789"/>
                  <a:gd name="connsiteX0" fmla="*/ 0 w 1944214"/>
                  <a:gd name="connsiteY0" fmla="*/ 0 h 343636"/>
                  <a:gd name="connsiteX1" fmla="*/ 1944214 w 1944214"/>
                  <a:gd name="connsiteY1" fmla="*/ 12878 h 343636"/>
                  <a:gd name="connsiteX2" fmla="*/ 1944214 w 1944214"/>
                  <a:gd name="connsiteY2" fmla="*/ 343636 h 343636"/>
                  <a:gd name="connsiteX3" fmla="*/ 0 w 1944214"/>
                  <a:gd name="connsiteY3" fmla="*/ 343636 h 343636"/>
                  <a:gd name="connsiteX4" fmla="*/ 0 w 1944214"/>
                  <a:gd name="connsiteY4" fmla="*/ 0 h 3436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44214" h="343636">
                    <a:moveTo>
                      <a:pt x="0" y="0"/>
                    </a:moveTo>
                    <a:lnTo>
                      <a:pt x="1944214" y="12878"/>
                    </a:lnTo>
                    <a:lnTo>
                      <a:pt x="1944214" y="343636"/>
                    </a:lnTo>
                    <a:lnTo>
                      <a:pt x="0" y="343636"/>
                    </a:lnTo>
                    <a:lnTo>
                      <a:pt x="0" y="0"/>
                    </a:lnTo>
                    <a:close/>
                  </a:path>
                </a:pathLst>
              </a:custGeom>
              <a:noFill/>
            </p:spPr>
            <p:txBody>
              <a:bodyPr wrap="square" rtlCol="0">
                <a:spAutoFit/>
              </a:bodyPr>
              <a:lstStyle/>
              <a:p>
                <a:r>
                  <a:rPr lang="en-GB" sz="2000" dirty="0"/>
                  <a:t>polymer chain</a:t>
                </a:r>
              </a:p>
            </p:txBody>
          </p:sp>
          <p:cxnSp>
            <p:nvCxnSpPr>
              <p:cNvPr id="23" name="Straight Arrow Connector 22"/>
              <p:cNvCxnSpPr/>
              <p:nvPr/>
            </p:nvCxnSpPr>
            <p:spPr>
              <a:xfrm>
                <a:off x="7812359" y="2728319"/>
                <a:ext cx="360040" cy="301015"/>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grpSp>
        <p:grpSp>
          <p:nvGrpSpPr>
            <p:cNvPr id="4" name="Group 3"/>
            <p:cNvGrpSpPr/>
            <p:nvPr/>
          </p:nvGrpSpPr>
          <p:grpSpPr>
            <a:xfrm>
              <a:off x="6753405" y="3956557"/>
              <a:ext cx="2352633" cy="1319590"/>
              <a:chOff x="6780058" y="3988509"/>
              <a:chExt cx="2352633" cy="1319590"/>
            </a:xfrm>
          </p:grpSpPr>
          <p:pic>
            <p:nvPicPr>
              <p:cNvPr id="18" name="Picture 17"/>
              <p:cNvPicPr>
                <a:picLocks noChangeAspect="1"/>
              </p:cNvPicPr>
              <p:nvPr/>
            </p:nvPicPr>
            <p:blipFill>
              <a:blip r:embed="rId4">
                <a:clrChange>
                  <a:clrFrom>
                    <a:srgbClr val="F9F9F7"/>
                  </a:clrFrom>
                  <a:clrTo>
                    <a:srgbClr val="F9F9F7">
                      <a:alpha val="0"/>
                    </a:srgbClr>
                  </a:clrTo>
                </a:clrChange>
              </a:blip>
              <a:stretch>
                <a:fillRect/>
              </a:stretch>
            </p:blipFill>
            <p:spPr>
              <a:xfrm>
                <a:off x="6780058" y="4220344"/>
                <a:ext cx="2352633" cy="1087755"/>
              </a:xfrm>
              <a:prstGeom prst="rect">
                <a:avLst/>
              </a:prstGeom>
            </p:spPr>
          </p:pic>
          <p:cxnSp>
            <p:nvCxnSpPr>
              <p:cNvPr id="20" name="Straight Arrow Connector 19"/>
              <p:cNvCxnSpPr/>
              <p:nvPr/>
            </p:nvCxnSpPr>
            <p:spPr>
              <a:xfrm flipH="1" flipV="1">
                <a:off x="7401037" y="3988509"/>
                <a:ext cx="288032" cy="360040"/>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grpSp>
      </p:grpSp>
    </p:spTree>
    <p:extLst>
      <p:ext uri="{BB962C8B-B14F-4D97-AF65-F5344CB8AC3E}">
        <p14:creationId xmlns:p14="http://schemas.microsoft.com/office/powerpoint/2010/main" val="170912927"/>
      </p:ext>
    </p:extLst>
  </p:cSld>
  <p:clrMapOvr>
    <a:masterClrMapping/>
  </p:clrMapOvr>
  <p:timing>
    <p:tnLst>
      <p:par>
        <p:cTn id="1" dur="indefinite" restart="never" nodeType="tmRoot"/>
      </p:par>
    </p:tn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149087" y="802524"/>
            <a:ext cx="8915400" cy="5595731"/>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a:lstStyle/>
          <a:p>
            <a:pPr marL="342900" marR="0" lvl="0" indent="-342900" defTabSz="914400" eaLnBrk="1" fontAlgn="auto" latinLnBrk="0" hangingPunct="1">
              <a:lnSpc>
                <a:spcPct val="100000"/>
              </a:lnSpc>
              <a:spcBef>
                <a:spcPts val="0"/>
              </a:spcBef>
              <a:spcAft>
                <a:spcPts val="0"/>
              </a:spcAft>
              <a:buClrTx/>
              <a:buSzTx/>
              <a:buFont typeface="+mj-lt"/>
              <a:buNone/>
              <a:tabLst/>
              <a:defRPr/>
            </a:pPr>
            <a:endParaRPr lang="en-GB" sz="2000" dirty="0">
              <a:solidFill>
                <a:schemeClr val="tx1"/>
              </a:solidFill>
            </a:endParaRPr>
          </a:p>
        </p:txBody>
      </p:sp>
      <p:sp>
        <p:nvSpPr>
          <p:cNvPr id="7" name="TextBox 6"/>
          <p:cNvSpPr txBox="1"/>
          <p:nvPr/>
        </p:nvSpPr>
        <p:spPr>
          <a:xfrm>
            <a:off x="113691" y="1041996"/>
            <a:ext cx="4716016" cy="4185761"/>
          </a:xfrm>
          <a:prstGeom prst="rect">
            <a:avLst/>
          </a:prstGeom>
          <a:noFill/>
        </p:spPr>
        <p:txBody>
          <a:bodyPr wrap="square" rtlCol="0">
            <a:spAutoFit/>
          </a:bodyPr>
          <a:lstStyle/>
          <a:p>
            <a:r>
              <a:rPr lang="en-GB" sz="7200" b="1" dirty="0">
                <a:latin typeface="+mj-lt"/>
                <a:ea typeface="Beirut" charset="-78"/>
                <a:cs typeface="Beirut" charset="-78"/>
              </a:rPr>
              <a:t>QuestionIT!</a:t>
            </a:r>
          </a:p>
          <a:p>
            <a:endParaRPr lang="en-GB" dirty="0"/>
          </a:p>
          <a:p>
            <a:endParaRPr lang="en-GB" dirty="0"/>
          </a:p>
          <a:p>
            <a:endParaRPr lang="en-GB" dirty="0"/>
          </a:p>
          <a:p>
            <a:r>
              <a:rPr lang="en-GB" sz="2800" b="1" dirty="0">
                <a:solidFill>
                  <a:schemeClr val="tx1">
                    <a:lumMod val="50000"/>
                    <a:lumOff val="50000"/>
                  </a:schemeClr>
                </a:solidFill>
              </a:rPr>
              <a:t>Synthetic and naturally </a:t>
            </a:r>
          </a:p>
          <a:p>
            <a:r>
              <a:rPr lang="en-GB" sz="2800" b="1" dirty="0">
                <a:solidFill>
                  <a:schemeClr val="tx1">
                    <a:lumMod val="50000"/>
                    <a:lumOff val="50000"/>
                  </a:schemeClr>
                </a:solidFill>
              </a:rPr>
              <a:t>Occurring polymers</a:t>
            </a:r>
          </a:p>
          <a:p>
            <a:r>
              <a:rPr lang="en-GB" sz="2800" b="1" dirty="0">
                <a:solidFill>
                  <a:schemeClr val="tx1">
                    <a:lumMod val="50000"/>
                    <a:lumOff val="50000"/>
                  </a:schemeClr>
                </a:solidFill>
              </a:rPr>
              <a:t>(Chemistry only)</a:t>
            </a:r>
          </a:p>
          <a:p>
            <a:pPr marL="342900" indent="-342900">
              <a:buFont typeface="Arial" panose="020B0604020202020204" pitchFamily="34" charset="0"/>
              <a:buChar char="•"/>
            </a:pPr>
            <a:r>
              <a:rPr lang="en-GB" sz="2800" b="1" dirty="0">
                <a:solidFill>
                  <a:schemeClr val="tx1">
                    <a:lumMod val="50000"/>
                    <a:lumOff val="50000"/>
                  </a:schemeClr>
                </a:solidFill>
              </a:rPr>
              <a:t>DNA and other naturally occurring polymers</a:t>
            </a:r>
          </a:p>
        </p:txBody>
      </p:sp>
      <p:pic>
        <p:nvPicPr>
          <p:cNvPr id="6" name="Picture 5"/>
          <p:cNvPicPr>
            <a:picLocks noChangeAspect="1"/>
          </p:cNvPicPr>
          <p:nvPr/>
        </p:nvPicPr>
        <p:blipFill>
          <a:blip r:embed="rId3">
            <a:clrChange>
              <a:clrFrom>
                <a:srgbClr val="FFFFFF"/>
              </a:clrFrom>
              <a:clrTo>
                <a:srgbClr val="FFFFFF">
                  <a:alpha val="0"/>
                </a:srgbClr>
              </a:clrTo>
            </a:clrChange>
          </a:blip>
          <a:stretch>
            <a:fillRect/>
          </a:stretch>
        </p:blipFill>
        <p:spPr>
          <a:xfrm>
            <a:off x="4211960" y="886544"/>
            <a:ext cx="4914900" cy="5638800"/>
          </a:xfrm>
          <a:prstGeom prst="rect">
            <a:avLst/>
          </a:prstGeom>
        </p:spPr>
      </p:pic>
    </p:spTree>
    <p:extLst>
      <p:ext uri="{BB962C8B-B14F-4D97-AF65-F5344CB8AC3E}">
        <p14:creationId xmlns:p14="http://schemas.microsoft.com/office/powerpoint/2010/main" val="2795894126"/>
      </p:ext>
    </p:extLst>
  </p:cSld>
  <p:clrMapOvr>
    <a:masterClrMapping/>
  </p:clrMapOvr>
  <p:timing>
    <p:tnLst>
      <p:par>
        <p:cTn id="1" dur="indefinite" restart="never" nodeType="tmRoot"/>
      </p:par>
    </p:tn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899592" y="0"/>
            <a:ext cx="8244408" cy="657041"/>
          </a:xfrm>
        </p:spPr>
        <p:txBody>
          <a:bodyPr>
            <a:noAutofit/>
          </a:bodyPr>
          <a:lstStyle/>
          <a:p>
            <a:pPr algn="r"/>
            <a:r>
              <a:rPr lang="en-GB" sz="2400" b="1" dirty="0">
                <a:solidFill>
                  <a:schemeClr val="accent6"/>
                </a:solidFill>
              </a:rPr>
              <a:t>DNA and other naturally occurring polymers </a:t>
            </a:r>
            <a:r>
              <a:rPr lang="en-GB" sz="2400" b="1" dirty="0" err="1"/>
              <a:t>QuestionIT</a:t>
            </a:r>
            <a:endParaRPr lang="en-GB" sz="2400" b="1" dirty="0"/>
          </a:p>
        </p:txBody>
      </p:sp>
      <p:sp>
        <p:nvSpPr>
          <p:cNvPr id="4" name="Rectangle 3"/>
          <p:cNvSpPr/>
          <p:nvPr/>
        </p:nvSpPr>
        <p:spPr>
          <a:xfrm>
            <a:off x="149087" y="802524"/>
            <a:ext cx="8915400" cy="5595731"/>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a:lstStyle/>
          <a:p>
            <a:pPr marL="342900" marR="0" lvl="0" indent="-342900" defTabSz="914400" eaLnBrk="1" fontAlgn="auto" latinLnBrk="0" hangingPunct="1">
              <a:lnSpc>
                <a:spcPct val="100000"/>
              </a:lnSpc>
              <a:spcBef>
                <a:spcPts val="0"/>
              </a:spcBef>
              <a:spcAft>
                <a:spcPts val="0"/>
              </a:spcAft>
              <a:buClrTx/>
              <a:buSzTx/>
              <a:buFont typeface="+mj-lt"/>
              <a:buNone/>
              <a:tabLst/>
              <a:defRPr/>
            </a:pPr>
            <a:endParaRPr lang="en-GB" sz="2000" dirty="0">
              <a:solidFill>
                <a:schemeClr val="tx1"/>
              </a:solidFill>
            </a:endParaRPr>
          </a:p>
        </p:txBody>
      </p:sp>
      <p:sp>
        <p:nvSpPr>
          <p:cNvPr id="6" name="TextBox 5"/>
          <p:cNvSpPr txBox="1"/>
          <p:nvPr/>
        </p:nvSpPr>
        <p:spPr>
          <a:xfrm>
            <a:off x="149087" y="789501"/>
            <a:ext cx="8915400" cy="5632311"/>
          </a:xfrm>
          <a:prstGeom prst="rect">
            <a:avLst/>
          </a:prstGeom>
          <a:noFill/>
        </p:spPr>
        <p:txBody>
          <a:bodyPr wrap="square" rtlCol="0">
            <a:spAutoFit/>
          </a:bodyPr>
          <a:lstStyle/>
          <a:p>
            <a:pPr marL="457200" indent="-457200">
              <a:buFont typeface="+mj-lt"/>
              <a:buAutoNum type="arabicPeriod"/>
            </a:pPr>
            <a:r>
              <a:rPr lang="en-GB" sz="2400" dirty="0" smtClean="0"/>
              <a:t>What is DNA?</a:t>
            </a:r>
          </a:p>
          <a:p>
            <a:pPr marL="457200" indent="-457200">
              <a:buFont typeface="+mj-lt"/>
              <a:buAutoNum type="arabicPeriod"/>
            </a:pPr>
            <a:endParaRPr lang="en-GB" sz="2400" dirty="0" smtClean="0"/>
          </a:p>
          <a:p>
            <a:pPr marL="457200" indent="-457200">
              <a:buFont typeface="+mj-lt"/>
              <a:buAutoNum type="arabicPeriod"/>
            </a:pPr>
            <a:r>
              <a:rPr lang="en-GB" sz="2400" dirty="0" smtClean="0"/>
              <a:t>What does DNA do?</a:t>
            </a:r>
          </a:p>
          <a:p>
            <a:pPr marL="457200" indent="-457200">
              <a:buFont typeface="+mj-lt"/>
              <a:buAutoNum type="arabicPeriod"/>
            </a:pPr>
            <a:endParaRPr lang="en-GB" sz="2400" dirty="0" smtClean="0"/>
          </a:p>
          <a:p>
            <a:pPr marL="457200" indent="-457200">
              <a:buFont typeface="+mj-lt"/>
              <a:buAutoNum type="arabicPeriod"/>
            </a:pPr>
            <a:r>
              <a:rPr lang="en-GB" sz="2400" dirty="0" smtClean="0"/>
              <a:t>Describe the structure of DNA.</a:t>
            </a:r>
          </a:p>
          <a:p>
            <a:pPr marL="457200" indent="-457200">
              <a:buFont typeface="+mj-lt"/>
              <a:buAutoNum type="arabicPeriod"/>
            </a:pPr>
            <a:endParaRPr lang="en-GB" sz="2400" dirty="0" smtClean="0"/>
          </a:p>
          <a:p>
            <a:pPr marL="457200" indent="-457200">
              <a:buFont typeface="+mj-lt"/>
              <a:buAutoNum type="arabicPeriod"/>
            </a:pPr>
            <a:r>
              <a:rPr lang="en-GB" sz="2400" dirty="0" smtClean="0"/>
              <a:t>What are the monomers that make up DNA?</a:t>
            </a:r>
          </a:p>
          <a:p>
            <a:pPr marL="457200" indent="-457200">
              <a:buFont typeface="+mj-lt"/>
              <a:buAutoNum type="arabicPeriod"/>
            </a:pPr>
            <a:endParaRPr lang="en-GB" sz="2400" dirty="0" smtClean="0"/>
          </a:p>
          <a:p>
            <a:pPr marL="457200" indent="-457200">
              <a:buFont typeface="+mj-lt"/>
              <a:buAutoNum type="arabicPeriod"/>
            </a:pPr>
            <a:r>
              <a:rPr lang="en-GB" sz="2400" dirty="0" smtClean="0"/>
              <a:t>What three substances make up these </a:t>
            </a:r>
            <a:r>
              <a:rPr lang="en-GB" sz="2400" dirty="0" smtClean="0"/>
              <a:t>monomers?</a:t>
            </a:r>
            <a:endParaRPr lang="en-GB" sz="2400" dirty="0" smtClean="0"/>
          </a:p>
          <a:p>
            <a:pPr marL="457200" indent="-457200">
              <a:buFont typeface="+mj-lt"/>
              <a:buAutoNum type="arabicPeriod"/>
            </a:pPr>
            <a:endParaRPr lang="en-GB" sz="2400" dirty="0" smtClean="0"/>
          </a:p>
          <a:p>
            <a:pPr marL="457200" indent="-457200">
              <a:buFont typeface="+mj-lt"/>
              <a:buAutoNum type="arabicPeriod"/>
            </a:pPr>
            <a:r>
              <a:rPr lang="en-GB" sz="2400" dirty="0" smtClean="0"/>
              <a:t>Name three other naturally occurring polymers important for life.</a:t>
            </a:r>
          </a:p>
          <a:p>
            <a:pPr marL="457200" indent="-457200">
              <a:buFont typeface="+mj-lt"/>
              <a:buAutoNum type="arabicPeriod"/>
            </a:pPr>
            <a:endParaRPr lang="en-GB" sz="2400" dirty="0" smtClean="0"/>
          </a:p>
          <a:p>
            <a:pPr marL="457200" indent="-457200">
              <a:buFont typeface="+mj-lt"/>
              <a:buAutoNum type="arabicPeriod"/>
            </a:pPr>
            <a:r>
              <a:rPr lang="en-GB" sz="2400" dirty="0" smtClean="0"/>
              <a:t>Name the monomer for </a:t>
            </a:r>
            <a:r>
              <a:rPr lang="en-GB" sz="2400" dirty="0" smtClean="0"/>
              <a:t>protein, starch and cellulose</a:t>
            </a:r>
            <a:r>
              <a:rPr lang="en-GB" sz="2400" dirty="0" smtClean="0"/>
              <a:t>.</a:t>
            </a:r>
            <a:endParaRPr lang="en-GB" sz="2400" dirty="0"/>
          </a:p>
          <a:p>
            <a:pPr marL="457200" indent="-457200">
              <a:buFont typeface="+mj-lt"/>
              <a:buAutoNum type="arabicPeriod"/>
            </a:pPr>
            <a:endParaRPr lang="en-GB" sz="2400" dirty="0"/>
          </a:p>
          <a:p>
            <a:endParaRPr lang="en-GB" sz="2400" dirty="0"/>
          </a:p>
        </p:txBody>
      </p:sp>
    </p:spTree>
    <p:extLst>
      <p:ext uri="{BB962C8B-B14F-4D97-AF65-F5344CB8AC3E}">
        <p14:creationId xmlns:p14="http://schemas.microsoft.com/office/powerpoint/2010/main" val="3420814078"/>
      </p:ext>
    </p:extLst>
  </p:cSld>
  <p:clrMapOvr>
    <a:masterClrMapping/>
  </p:clrMapOvr>
  <p:timing>
    <p:tnLst>
      <p:par>
        <p:cTn id="1" dur="indefinite" restart="never" nodeType="tmRoot"/>
      </p:par>
    </p:tn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149087" y="802524"/>
            <a:ext cx="8915400" cy="5595731"/>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a:lstStyle/>
          <a:p>
            <a:pPr marL="342900" marR="0" lvl="0" indent="-342900" defTabSz="914400" eaLnBrk="1" fontAlgn="auto" latinLnBrk="0" hangingPunct="1">
              <a:lnSpc>
                <a:spcPct val="100000"/>
              </a:lnSpc>
              <a:spcBef>
                <a:spcPts val="0"/>
              </a:spcBef>
              <a:spcAft>
                <a:spcPts val="0"/>
              </a:spcAft>
              <a:buClrTx/>
              <a:buSzTx/>
              <a:buFont typeface="+mj-lt"/>
              <a:buNone/>
              <a:tabLst/>
              <a:defRPr/>
            </a:pPr>
            <a:endParaRPr lang="en-GB" sz="2000" dirty="0">
              <a:solidFill>
                <a:schemeClr val="tx1"/>
              </a:solidFill>
            </a:endParaRPr>
          </a:p>
        </p:txBody>
      </p:sp>
      <p:sp>
        <p:nvSpPr>
          <p:cNvPr id="7" name="TextBox 6"/>
          <p:cNvSpPr txBox="1"/>
          <p:nvPr/>
        </p:nvSpPr>
        <p:spPr>
          <a:xfrm>
            <a:off x="0" y="980728"/>
            <a:ext cx="4716016" cy="4462760"/>
          </a:xfrm>
          <a:prstGeom prst="rect">
            <a:avLst/>
          </a:prstGeom>
          <a:noFill/>
        </p:spPr>
        <p:txBody>
          <a:bodyPr wrap="square" rtlCol="0">
            <a:spAutoFit/>
          </a:bodyPr>
          <a:lstStyle/>
          <a:p>
            <a:r>
              <a:rPr lang="en-GB" sz="7200" b="1" dirty="0">
                <a:latin typeface="+mj-lt"/>
                <a:ea typeface="Beirut" charset="-78"/>
                <a:cs typeface="Beirut" charset="-78"/>
              </a:rPr>
              <a:t>AnswerIT!</a:t>
            </a:r>
          </a:p>
          <a:p>
            <a:endParaRPr lang="en-GB" dirty="0"/>
          </a:p>
          <a:p>
            <a:endParaRPr lang="en-GB" dirty="0"/>
          </a:p>
          <a:p>
            <a:endParaRPr lang="en-GB" dirty="0"/>
          </a:p>
          <a:p>
            <a:r>
              <a:rPr lang="en-GB" sz="2800" b="1" dirty="0">
                <a:solidFill>
                  <a:schemeClr val="tx1">
                    <a:lumMod val="50000"/>
                    <a:lumOff val="50000"/>
                  </a:schemeClr>
                </a:solidFill>
              </a:rPr>
              <a:t>Synthetic and naturally </a:t>
            </a:r>
          </a:p>
          <a:p>
            <a:r>
              <a:rPr lang="en-GB" sz="2800" b="1" dirty="0">
                <a:solidFill>
                  <a:schemeClr val="tx1">
                    <a:lumMod val="50000"/>
                    <a:lumOff val="50000"/>
                  </a:schemeClr>
                </a:solidFill>
              </a:rPr>
              <a:t>Occurring polymers</a:t>
            </a:r>
          </a:p>
          <a:p>
            <a:r>
              <a:rPr lang="en-GB" sz="2800" b="1" dirty="0">
                <a:solidFill>
                  <a:schemeClr val="tx1">
                    <a:lumMod val="50000"/>
                    <a:lumOff val="50000"/>
                  </a:schemeClr>
                </a:solidFill>
              </a:rPr>
              <a:t>(Chemistry only)</a:t>
            </a:r>
          </a:p>
          <a:p>
            <a:pPr marL="342900" indent="-342900">
              <a:buFont typeface="Arial" panose="020B0604020202020204" pitchFamily="34" charset="0"/>
              <a:buChar char="•"/>
            </a:pPr>
            <a:r>
              <a:rPr lang="en-GB" sz="2800" b="1" dirty="0">
                <a:solidFill>
                  <a:schemeClr val="tx1">
                    <a:lumMod val="50000"/>
                    <a:lumOff val="50000"/>
                  </a:schemeClr>
                </a:solidFill>
              </a:rPr>
              <a:t>DNA and other naturally occurring polymers</a:t>
            </a:r>
          </a:p>
          <a:p>
            <a:endParaRPr lang="en-GB" dirty="0"/>
          </a:p>
        </p:txBody>
      </p:sp>
      <p:pic>
        <p:nvPicPr>
          <p:cNvPr id="6" name="Picture 5"/>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139952" y="704918"/>
            <a:ext cx="4824536" cy="5257800"/>
          </a:xfrm>
          <a:prstGeom prst="rect">
            <a:avLst/>
          </a:prstGeom>
        </p:spPr>
      </p:pic>
    </p:spTree>
    <p:extLst>
      <p:ext uri="{BB962C8B-B14F-4D97-AF65-F5344CB8AC3E}">
        <p14:creationId xmlns:p14="http://schemas.microsoft.com/office/powerpoint/2010/main" val="957602523"/>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899592" y="0"/>
            <a:ext cx="8244408" cy="657041"/>
          </a:xfrm>
        </p:spPr>
        <p:txBody>
          <a:bodyPr>
            <a:noAutofit/>
          </a:bodyPr>
          <a:lstStyle/>
          <a:p>
            <a:pPr algn="r"/>
            <a:r>
              <a:rPr lang="en-GB" sz="2400" b="1" dirty="0">
                <a:solidFill>
                  <a:schemeClr val="accent6"/>
                </a:solidFill>
              </a:rPr>
              <a:t>DNA and other naturally occurring polymers </a:t>
            </a:r>
            <a:r>
              <a:rPr lang="en-GB" sz="2400" b="1" dirty="0" err="1"/>
              <a:t>QuestionIT</a:t>
            </a:r>
            <a:endParaRPr lang="en-GB" sz="2400" b="1" dirty="0"/>
          </a:p>
        </p:txBody>
      </p:sp>
      <p:sp>
        <p:nvSpPr>
          <p:cNvPr id="4" name="Rectangle 3"/>
          <p:cNvSpPr/>
          <p:nvPr/>
        </p:nvSpPr>
        <p:spPr>
          <a:xfrm>
            <a:off x="149087" y="802524"/>
            <a:ext cx="8915400" cy="5595731"/>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a:lstStyle/>
          <a:p>
            <a:pPr marL="342900" marR="0" lvl="0" indent="-342900" defTabSz="914400" eaLnBrk="1" fontAlgn="auto" latinLnBrk="0" hangingPunct="1">
              <a:lnSpc>
                <a:spcPct val="100000"/>
              </a:lnSpc>
              <a:spcBef>
                <a:spcPts val="0"/>
              </a:spcBef>
              <a:spcAft>
                <a:spcPts val="0"/>
              </a:spcAft>
              <a:buClrTx/>
              <a:buSzTx/>
              <a:buFont typeface="+mj-lt"/>
              <a:buNone/>
              <a:tabLst/>
              <a:defRPr/>
            </a:pPr>
            <a:endParaRPr lang="en-GB" sz="2000" dirty="0">
              <a:solidFill>
                <a:schemeClr val="tx1"/>
              </a:solidFill>
            </a:endParaRPr>
          </a:p>
        </p:txBody>
      </p:sp>
      <p:sp>
        <p:nvSpPr>
          <p:cNvPr id="6" name="TextBox 5"/>
          <p:cNvSpPr txBox="1"/>
          <p:nvPr/>
        </p:nvSpPr>
        <p:spPr>
          <a:xfrm>
            <a:off x="149087" y="789501"/>
            <a:ext cx="8915400" cy="6001643"/>
          </a:xfrm>
          <a:prstGeom prst="rect">
            <a:avLst/>
          </a:prstGeom>
          <a:noFill/>
        </p:spPr>
        <p:txBody>
          <a:bodyPr wrap="square" rtlCol="0">
            <a:spAutoFit/>
          </a:bodyPr>
          <a:lstStyle/>
          <a:p>
            <a:pPr marL="457200" indent="-457200">
              <a:buFont typeface="+mj-lt"/>
              <a:buAutoNum type="arabicPeriod"/>
            </a:pPr>
            <a:r>
              <a:rPr lang="en-GB" sz="2400" dirty="0" smtClean="0"/>
              <a:t>What is DNA?</a:t>
            </a:r>
          </a:p>
          <a:p>
            <a:pPr lvl="1"/>
            <a:r>
              <a:rPr lang="en-GB" sz="2400" dirty="0" smtClean="0">
                <a:solidFill>
                  <a:srgbClr val="00B050"/>
                </a:solidFill>
              </a:rPr>
              <a:t>Large polymer essential for life; deoxyribonucleic acid.</a:t>
            </a:r>
          </a:p>
          <a:p>
            <a:pPr marL="457200" indent="-457200">
              <a:buFont typeface="+mj-lt"/>
              <a:buAutoNum type="arabicPeriod"/>
            </a:pPr>
            <a:r>
              <a:rPr lang="en-GB" sz="2400" dirty="0" smtClean="0"/>
              <a:t>What does DNA do?</a:t>
            </a:r>
          </a:p>
          <a:p>
            <a:pPr lvl="1"/>
            <a:r>
              <a:rPr lang="en-GB" sz="2400" dirty="0" smtClean="0">
                <a:solidFill>
                  <a:srgbClr val="00B050"/>
                </a:solidFill>
              </a:rPr>
              <a:t>Encodes genetic instructions for the development and functioning of living organisms and viruses.</a:t>
            </a:r>
          </a:p>
          <a:p>
            <a:pPr marL="457200" indent="-457200">
              <a:buFont typeface="+mj-lt"/>
              <a:buAutoNum type="arabicPeriod"/>
            </a:pPr>
            <a:r>
              <a:rPr lang="en-GB" sz="2400" dirty="0" smtClean="0"/>
              <a:t>Describe the structure of DNA.</a:t>
            </a:r>
          </a:p>
          <a:p>
            <a:pPr lvl="1"/>
            <a:r>
              <a:rPr lang="en-GB" sz="2400" dirty="0" smtClean="0">
                <a:solidFill>
                  <a:srgbClr val="00B050"/>
                </a:solidFill>
              </a:rPr>
              <a:t>Two polymer chains, double helix.</a:t>
            </a:r>
          </a:p>
          <a:p>
            <a:pPr marL="457200" indent="-457200">
              <a:buFont typeface="+mj-lt"/>
              <a:buAutoNum type="arabicPeriod"/>
            </a:pPr>
            <a:r>
              <a:rPr lang="en-GB" sz="2400" dirty="0" smtClean="0"/>
              <a:t>What are the monomers that make up DNA?</a:t>
            </a:r>
          </a:p>
          <a:p>
            <a:pPr lvl="1"/>
            <a:r>
              <a:rPr lang="en-GB" sz="2400" dirty="0" smtClean="0">
                <a:solidFill>
                  <a:srgbClr val="00B050"/>
                </a:solidFill>
              </a:rPr>
              <a:t>Nucleotides.</a:t>
            </a:r>
          </a:p>
          <a:p>
            <a:pPr marL="457200" indent="-457200">
              <a:buFont typeface="+mj-lt"/>
              <a:buAutoNum type="arabicPeriod"/>
            </a:pPr>
            <a:r>
              <a:rPr lang="en-GB" sz="2400" dirty="0" smtClean="0"/>
              <a:t>What three substances make up these monomers?</a:t>
            </a:r>
          </a:p>
          <a:p>
            <a:pPr lvl="1"/>
            <a:r>
              <a:rPr lang="en-GB" sz="2400" dirty="0" smtClean="0">
                <a:solidFill>
                  <a:srgbClr val="00B050"/>
                </a:solidFill>
              </a:rPr>
              <a:t>Base, phosphate, deoxyribose sugar.</a:t>
            </a:r>
          </a:p>
          <a:p>
            <a:pPr marL="457200" indent="-457200">
              <a:buFont typeface="+mj-lt"/>
              <a:buAutoNum type="arabicPeriod"/>
            </a:pPr>
            <a:r>
              <a:rPr lang="en-GB" sz="2400" dirty="0" smtClean="0"/>
              <a:t>Name three other naturally occurring polymers important for life.</a:t>
            </a:r>
          </a:p>
          <a:p>
            <a:pPr lvl="1"/>
            <a:r>
              <a:rPr lang="en-GB" sz="2400" dirty="0" smtClean="0">
                <a:solidFill>
                  <a:srgbClr val="00B050"/>
                </a:solidFill>
              </a:rPr>
              <a:t>Proteins, starch, cellulose.</a:t>
            </a:r>
          </a:p>
          <a:p>
            <a:pPr marL="457200" indent="-457200">
              <a:buFont typeface="+mj-lt"/>
              <a:buAutoNum type="arabicPeriod"/>
            </a:pPr>
            <a:r>
              <a:rPr lang="en-GB" sz="2400" dirty="0" smtClean="0"/>
              <a:t>Name the monomer for </a:t>
            </a:r>
            <a:r>
              <a:rPr lang="en-GB" sz="2400" dirty="0" smtClean="0"/>
              <a:t>protein starch and cellulose.</a:t>
            </a:r>
            <a:endParaRPr lang="en-GB" sz="2400" dirty="0"/>
          </a:p>
          <a:p>
            <a:pPr lvl="1"/>
            <a:r>
              <a:rPr lang="en-GB" sz="2400" dirty="0" smtClean="0">
                <a:solidFill>
                  <a:srgbClr val="00B050"/>
                </a:solidFill>
              </a:rPr>
              <a:t>Proteins – amino acids; starch and cellulose – glucose.</a:t>
            </a:r>
            <a:endParaRPr lang="en-GB" sz="2400" dirty="0">
              <a:solidFill>
                <a:srgbClr val="00B050"/>
              </a:solidFill>
            </a:endParaRPr>
          </a:p>
          <a:p>
            <a:endParaRPr lang="en-GB" sz="2400" dirty="0"/>
          </a:p>
        </p:txBody>
      </p:sp>
    </p:spTree>
    <p:extLst>
      <p:ext uri="{BB962C8B-B14F-4D97-AF65-F5344CB8AC3E}">
        <p14:creationId xmlns:p14="http://schemas.microsoft.com/office/powerpoint/2010/main" val="516566729"/>
      </p:ext>
    </p:extLst>
  </p:cSld>
  <p:clrMapOvr>
    <a:masterClrMapping/>
  </p:clrMapOvr>
</p:sld>
</file>

<file path=ppt/theme/theme1.xml><?xml version="1.0" encoding="utf-8"?>
<a:theme xmlns:a="http://schemas.openxmlformats.org/drawingml/2006/main" name="1_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Presentation3" id="{4489A17B-A778-43E8-8CAD-39AF0ABD1C3C}" vid="{5B90DF28-B678-4AF8-820C-D210C98786D7}"/>
    </a:ext>
  </a:extLst>
</a:theme>
</file>

<file path=ppt/theme/theme2.xml><?xml version="1.0" encoding="utf-8"?>
<a:theme xmlns:a="http://schemas.openxmlformats.org/drawingml/2006/main" name="Custom Design">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PIXL Sci">
  <a:themeElements>
    <a:clrScheme name="Custom 1">
      <a:dk1>
        <a:sysClr val="windowText" lastClr="000000"/>
      </a:dk1>
      <a:lt1>
        <a:sysClr val="window" lastClr="FFFFFF"/>
      </a:lt1>
      <a:dk2>
        <a:srgbClr val="1F497D"/>
      </a:dk2>
      <a:lt2>
        <a:srgbClr val="EEECE1"/>
      </a:lt2>
      <a:accent1>
        <a:srgbClr val="4F81BD"/>
      </a:accent1>
      <a:accent2>
        <a:srgbClr val="FF9900"/>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PIXL Sci" id="{2CFE4A30-D880-BA4E-B779-8E17F61ECAC9}" vid="{3D4DF9ED-AD7F-6943-859C-106C4E33968D}"/>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17317</TotalTime>
  <Words>6834</Words>
  <Application>Microsoft Office PowerPoint</Application>
  <PresentationFormat>On-screen Show (4:3)</PresentationFormat>
  <Paragraphs>687</Paragraphs>
  <Slides>65</Slides>
  <Notes>39</Notes>
  <HiddenSlides>0</HiddenSlides>
  <MMClips>0</MMClips>
  <ScaleCrop>false</ScaleCrop>
  <HeadingPairs>
    <vt:vector size="6" baseType="variant">
      <vt:variant>
        <vt:lpstr>Fonts Used</vt:lpstr>
      </vt:variant>
      <vt:variant>
        <vt:i4>9</vt:i4>
      </vt:variant>
      <vt:variant>
        <vt:lpstr>Theme</vt:lpstr>
      </vt:variant>
      <vt:variant>
        <vt:i4>3</vt:i4>
      </vt:variant>
      <vt:variant>
        <vt:lpstr>Slide Titles</vt:lpstr>
      </vt:variant>
      <vt:variant>
        <vt:i4>65</vt:i4>
      </vt:variant>
    </vt:vector>
  </HeadingPairs>
  <TitlesOfParts>
    <vt:vector size="77" baseType="lpstr">
      <vt:lpstr>Arial</vt:lpstr>
      <vt:lpstr>Beirut</vt:lpstr>
      <vt:lpstr>Calibri</vt:lpstr>
      <vt:lpstr>Calibri Light</vt:lpstr>
      <vt:lpstr>Gill Sans</vt:lpstr>
      <vt:lpstr>Lato Medium</vt:lpstr>
      <vt:lpstr>News Gothic MT</vt:lpstr>
      <vt:lpstr>Times New Roman</vt:lpstr>
      <vt:lpstr>Wingdings</vt:lpstr>
      <vt:lpstr>1_Office Theme</vt:lpstr>
      <vt:lpstr>Custom Design</vt:lpstr>
      <vt:lpstr>PIXL Sci</vt:lpstr>
      <vt:lpstr>PowerPoint Presentation</vt:lpstr>
      <vt:lpstr>Overview   Organic Chemistry</vt:lpstr>
      <vt:lpstr>PowerPoint Presentation</vt:lpstr>
      <vt:lpstr>Crude oil, hydrocarbons and alkanes</vt:lpstr>
      <vt:lpstr>Crude oil, hydrocarbons and alkanes</vt:lpstr>
      <vt:lpstr>PowerPoint Presentation</vt:lpstr>
      <vt:lpstr>Crude oil, hydrocarbons and alkanes– QuestionIT</vt:lpstr>
      <vt:lpstr>PowerPoint Presentation</vt:lpstr>
      <vt:lpstr>Crude oil, hydrocarbons and alkanes– QuestionIT</vt:lpstr>
      <vt:lpstr>Crude oil, hydrocarbons and alkanes– QuestionIT</vt:lpstr>
      <vt:lpstr>PowerPoint Presentation</vt:lpstr>
      <vt:lpstr>Fractional distillation and petrochemicals and properties of hydrocarbons</vt:lpstr>
      <vt:lpstr>Fractional distillation and petrochemicals and properties of hydrocarbons</vt:lpstr>
      <vt:lpstr>Fractional distillation and petrochemicals and properties of hydrocarbons</vt:lpstr>
      <vt:lpstr>Fractional distillation and petrochemicals and properties of hydrocarbons</vt:lpstr>
      <vt:lpstr>PowerPoint Presentation</vt:lpstr>
      <vt:lpstr>Fractional distillation and petrochemicals and properties of hydrocarbons - QuestionIT</vt:lpstr>
      <vt:lpstr>Fractional distillation and petrochemicals and properties of hydrocarbons - QuestionIT</vt:lpstr>
      <vt:lpstr>PowerPoint Presentation</vt:lpstr>
      <vt:lpstr>Fractional distillation and petrochemicals and properties of hydrocarbons - QuestionIT</vt:lpstr>
      <vt:lpstr>Fractional distillation and petrochemicals and properties of hydrocarbons - QuestionIT</vt:lpstr>
      <vt:lpstr>PowerPoint Presentation</vt:lpstr>
      <vt:lpstr>Cracking and alkenes</vt:lpstr>
      <vt:lpstr>Cracking and alkenes</vt:lpstr>
      <vt:lpstr>PowerPoint Presentation</vt:lpstr>
      <vt:lpstr>Fractional distillation and petrochemicals and properties of hydrocarbons - QuestionIT</vt:lpstr>
      <vt:lpstr>PowerPoint Presentation</vt:lpstr>
      <vt:lpstr>Fractional distillation and petrochemicals and properties of hydrocarbons - QuestionIT</vt:lpstr>
      <vt:lpstr>PowerPoint Presentation</vt:lpstr>
      <vt:lpstr>Structure and formulae of alkenes (Chemistry only)</vt:lpstr>
      <vt:lpstr>Structure and formulae of alkenes (Chemistry only)</vt:lpstr>
      <vt:lpstr>Reaction of alkenes (Chemistry only)</vt:lpstr>
      <vt:lpstr>PowerPoint Presentation</vt:lpstr>
      <vt:lpstr>Structure, formula and reactions of alkenes (Chemistry only) QuestionIT</vt:lpstr>
      <vt:lpstr>Structure, formula and reactions of alkenes (Chemistry only) QuestionIT</vt:lpstr>
      <vt:lpstr>PowerPoint Presentation</vt:lpstr>
      <vt:lpstr>Structure, formula and reactions of alkenes (Chemistry only) QuestionIT</vt:lpstr>
      <vt:lpstr>Structure, formula and reactions of alkenes (Chemistry only) QuestionIT</vt:lpstr>
      <vt:lpstr>PowerPoint Presentation</vt:lpstr>
      <vt:lpstr>Reactions of alcohols (Chemistry only)</vt:lpstr>
      <vt:lpstr>Reactions of alcohols (Chemistry only)</vt:lpstr>
      <vt:lpstr>Reactions of carboxylic acids (Chemistry only)</vt:lpstr>
      <vt:lpstr>Reactions of carboxylic acids (Chemistry only)</vt:lpstr>
      <vt:lpstr>PowerPoint Presentation</vt:lpstr>
      <vt:lpstr>Reactions of alcohols and carboxylic acids (Chemistry only)QuestionIT</vt:lpstr>
      <vt:lpstr>Reactions of alcohols and carboxylic acids (Chemistry only)QuestionIT</vt:lpstr>
      <vt:lpstr>PowerPoint Presentation</vt:lpstr>
      <vt:lpstr>Reactions of alcohols and carboxylic acids (Chemistry only)QuestionIT</vt:lpstr>
      <vt:lpstr>Reactions of alcohols and carboxylic acids (Chemistry only)QuestionIT</vt:lpstr>
      <vt:lpstr>PowerPoint Presentation</vt:lpstr>
      <vt:lpstr>Addition polymerisation (Chemistry only)</vt:lpstr>
      <vt:lpstr>Condensation, polymerisation and amino acids (Chemistry HT only)</vt:lpstr>
      <vt:lpstr>Condensation, polymerisation and amino acids (Chemistry HT only)</vt:lpstr>
      <vt:lpstr>PowerPoint Presentation</vt:lpstr>
      <vt:lpstr>Addition and condensation polymerisation and amino acids (Chemistry HT only)QuestionIT</vt:lpstr>
      <vt:lpstr>Addition and condensation polymerisation and amino acids (Chemistry HT only)QuestionIT</vt:lpstr>
      <vt:lpstr>PowerPoint Presentation</vt:lpstr>
      <vt:lpstr>Addition and condensation polymerisation and amino acids (Chemistry HT only)QuestionIT</vt:lpstr>
      <vt:lpstr>Addition and condensation polymerisation and amino acids (Chemistry HT only)QuestionIT</vt:lpstr>
      <vt:lpstr>PowerPoint Presentation</vt:lpstr>
      <vt:lpstr>DNA and other naturally occurring polymers</vt:lpstr>
      <vt:lpstr>PowerPoint Presentation</vt:lpstr>
      <vt:lpstr>DNA and other naturally occurring polymers QuestionIT</vt:lpstr>
      <vt:lpstr>PowerPoint Presentation</vt:lpstr>
      <vt:lpstr>DNA and other naturally occurring polymers QuestionIT</vt:lpstr>
    </vt:vector>
  </TitlesOfParts>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zarina shaffi</dc:creator>
  <cp:lastModifiedBy>Karen Collins</cp:lastModifiedBy>
  <cp:revision>545</cp:revision>
  <cp:lastPrinted>2017-05-23T14:15:43Z</cp:lastPrinted>
  <dcterms:created xsi:type="dcterms:W3CDTF">2016-03-05T09:38:04Z</dcterms:created>
  <dcterms:modified xsi:type="dcterms:W3CDTF">2018-01-19T15:21:06Z</dcterms:modified>
</cp:coreProperties>
</file>