
<file path=[Content_Types].xml><?xml version="1.0" encoding="utf-8"?>
<Types xmlns="http://schemas.openxmlformats.org/package/2006/content-types">
  <Default Extension="xml" ContentType="application/xml"/>
  <Default Extension="jpeg" ContentType="image/jpeg"/>
  <Default Extension="png" ContentType="image/png"/>
  <Default Extension="jpg" ContentType="image/jpeg"/>
  <Default Extension="rels" ContentType="application/vnd.openxmlformats-package.relationships+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 id="2147483675" r:id="rId3"/>
  </p:sldMasterIdLst>
  <p:notesMasterIdLst>
    <p:notesMasterId r:id="rId51"/>
  </p:notesMasterIdLst>
  <p:sldIdLst>
    <p:sldId id="256" r:id="rId4"/>
    <p:sldId id="281" r:id="rId5"/>
    <p:sldId id="314" r:id="rId6"/>
    <p:sldId id="282" r:id="rId7"/>
    <p:sldId id="315" r:id="rId8"/>
    <p:sldId id="316" r:id="rId9"/>
    <p:sldId id="342" r:id="rId10"/>
    <p:sldId id="357" r:id="rId11"/>
    <p:sldId id="318" r:id="rId12"/>
    <p:sldId id="358" r:id="rId13"/>
    <p:sldId id="359" r:id="rId14"/>
    <p:sldId id="320" r:id="rId15"/>
    <p:sldId id="321" r:id="rId16"/>
    <p:sldId id="361" r:id="rId17"/>
    <p:sldId id="322" r:id="rId18"/>
    <p:sldId id="360" r:id="rId19"/>
    <p:sldId id="325" r:id="rId20"/>
    <p:sldId id="323" r:id="rId21"/>
    <p:sldId id="328" r:id="rId22"/>
    <p:sldId id="329" r:id="rId23"/>
    <p:sldId id="330" r:id="rId24"/>
    <p:sldId id="331" r:id="rId25"/>
    <p:sldId id="332" r:id="rId26"/>
    <p:sldId id="362" r:id="rId27"/>
    <p:sldId id="364" r:id="rId28"/>
    <p:sldId id="363" r:id="rId29"/>
    <p:sldId id="335" r:id="rId30"/>
    <p:sldId id="365" r:id="rId31"/>
    <p:sldId id="366" r:id="rId32"/>
    <p:sldId id="367" r:id="rId33"/>
    <p:sldId id="338" r:id="rId34"/>
    <p:sldId id="339" r:id="rId35"/>
    <p:sldId id="340" r:id="rId36"/>
    <p:sldId id="348" r:id="rId37"/>
    <p:sldId id="347" r:id="rId38"/>
    <p:sldId id="368" r:id="rId39"/>
    <p:sldId id="343" r:id="rId40"/>
    <p:sldId id="369" r:id="rId41"/>
    <p:sldId id="370" r:id="rId42"/>
    <p:sldId id="349" r:id="rId43"/>
    <p:sldId id="350" r:id="rId44"/>
    <p:sldId id="354" r:id="rId45"/>
    <p:sldId id="355" r:id="rId46"/>
    <p:sldId id="356" r:id="rId47"/>
    <p:sldId id="351" r:id="rId48"/>
    <p:sldId id="352" r:id="rId49"/>
    <p:sldId id="353"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ren Collins" initials="KC" lastIdx="26" clrIdx="0">
    <p:extLst/>
  </p:cmAuthor>
  <p:cmAuthor id="2" name="Vicki Pugh" initials="VP" lastIdx="8"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223" autoAdjust="0"/>
    <p:restoredTop sz="83654" autoAdjust="0"/>
  </p:normalViewPr>
  <p:slideViewPr>
    <p:cSldViewPr>
      <p:cViewPr varScale="1">
        <p:scale>
          <a:sx n="129" d="100"/>
          <a:sy n="129" d="100"/>
        </p:scale>
        <p:origin x="1584" y="19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85" d="100"/>
          <a:sy n="85" d="100"/>
        </p:scale>
        <p:origin x="1952" y="1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50" Type="http://schemas.openxmlformats.org/officeDocument/2006/relationships/slide" Target="slides/slide47.xml"/><Relationship Id="rId51" Type="http://schemas.openxmlformats.org/officeDocument/2006/relationships/notesMaster" Target="notesMasters/notesMaster1.xml"/><Relationship Id="rId52" Type="http://schemas.openxmlformats.org/officeDocument/2006/relationships/commentAuthors" Target="commentAuthors.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5/10/relationships/revisionInfo" Target="revisionInfo.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2D2026-0859-4913-9377-3DA08F595AD2}" type="datetimeFigureOut">
              <a:rPr lang="en-US" smtClean="0"/>
              <a:t>4/30/18</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9D32D9-63A9-423F-8B77-368638260D4D}" type="slidenum">
              <a:rPr lang="en-US" smtClean="0"/>
              <a:t>‹#›</a:t>
            </a:fld>
            <a:endParaRPr lang="en-US" dirty="0"/>
          </a:p>
        </p:txBody>
      </p:sp>
    </p:spTree>
    <p:extLst>
      <p:ext uri="{BB962C8B-B14F-4D97-AF65-F5344CB8AC3E}">
        <p14:creationId xmlns:p14="http://schemas.microsoft.com/office/powerpoint/2010/main" val="454704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a:t>
            </a:fld>
            <a:endParaRPr lang="en-US" dirty="0"/>
          </a:p>
        </p:txBody>
      </p:sp>
    </p:spTree>
    <p:extLst>
      <p:ext uri="{BB962C8B-B14F-4D97-AF65-F5344CB8AC3E}">
        <p14:creationId xmlns:p14="http://schemas.microsoft.com/office/powerpoint/2010/main" val="203579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a:t>
            </a:fld>
            <a:endParaRPr lang="en-US" dirty="0"/>
          </a:p>
        </p:txBody>
      </p:sp>
    </p:spTree>
    <p:extLst>
      <p:ext uri="{BB962C8B-B14F-4D97-AF65-F5344CB8AC3E}">
        <p14:creationId xmlns:p14="http://schemas.microsoft.com/office/powerpoint/2010/main" val="598747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a:t>
            </a:fld>
            <a:endParaRPr lang="en-US" dirty="0"/>
          </a:p>
        </p:txBody>
      </p:sp>
    </p:spTree>
    <p:extLst>
      <p:ext uri="{BB962C8B-B14F-4D97-AF65-F5344CB8AC3E}">
        <p14:creationId xmlns:p14="http://schemas.microsoft.com/office/powerpoint/2010/main" val="1022498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a:t>
            </a:fld>
            <a:endParaRPr lang="en-US" dirty="0"/>
          </a:p>
        </p:txBody>
      </p:sp>
    </p:spTree>
    <p:extLst>
      <p:ext uri="{BB962C8B-B14F-4D97-AF65-F5344CB8AC3E}">
        <p14:creationId xmlns:p14="http://schemas.microsoft.com/office/powerpoint/2010/main" val="2537963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a:t>
            </a:fld>
            <a:endParaRPr lang="en-US" dirty="0"/>
          </a:p>
        </p:txBody>
      </p:sp>
    </p:spTree>
    <p:extLst>
      <p:ext uri="{BB962C8B-B14F-4D97-AF65-F5344CB8AC3E}">
        <p14:creationId xmlns:p14="http://schemas.microsoft.com/office/powerpoint/2010/main" val="16797950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9</a:t>
            </a:fld>
            <a:endParaRPr lang="en-US" dirty="0"/>
          </a:p>
        </p:txBody>
      </p:sp>
    </p:spTree>
    <p:extLst>
      <p:ext uri="{BB962C8B-B14F-4D97-AF65-F5344CB8AC3E}">
        <p14:creationId xmlns:p14="http://schemas.microsoft.com/office/powerpoint/2010/main" val="35230306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12</a:t>
            </a:fld>
            <a:endParaRPr lang="en-US" dirty="0"/>
          </a:p>
        </p:txBody>
      </p:sp>
    </p:spTree>
    <p:extLst>
      <p:ext uri="{BB962C8B-B14F-4D97-AF65-F5344CB8AC3E}">
        <p14:creationId xmlns:p14="http://schemas.microsoft.com/office/powerpoint/2010/main" val="17630146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13</a:t>
            </a:fld>
            <a:endParaRPr lang="en-US" dirty="0"/>
          </a:p>
        </p:txBody>
      </p:sp>
    </p:spTree>
    <p:extLst>
      <p:ext uri="{BB962C8B-B14F-4D97-AF65-F5344CB8AC3E}">
        <p14:creationId xmlns:p14="http://schemas.microsoft.com/office/powerpoint/2010/main" val="33109959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14</a:t>
            </a:fld>
            <a:endParaRPr lang="en-US" dirty="0"/>
          </a:p>
        </p:txBody>
      </p:sp>
    </p:spTree>
    <p:extLst>
      <p:ext uri="{BB962C8B-B14F-4D97-AF65-F5344CB8AC3E}">
        <p14:creationId xmlns:p14="http://schemas.microsoft.com/office/powerpoint/2010/main" val="21744031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15</a:t>
            </a:fld>
            <a:endParaRPr lang="en-US" dirty="0"/>
          </a:p>
        </p:txBody>
      </p:sp>
    </p:spTree>
    <p:extLst>
      <p:ext uri="{BB962C8B-B14F-4D97-AF65-F5344CB8AC3E}">
        <p14:creationId xmlns:p14="http://schemas.microsoft.com/office/powerpoint/2010/main" val="16218511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17</a:t>
            </a:fld>
            <a:endParaRPr lang="en-US" dirty="0"/>
          </a:p>
        </p:txBody>
      </p:sp>
    </p:spTree>
    <p:extLst>
      <p:ext uri="{BB962C8B-B14F-4D97-AF65-F5344CB8AC3E}">
        <p14:creationId xmlns:p14="http://schemas.microsoft.com/office/powerpoint/2010/main" val="21589212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19</a:t>
            </a:fld>
            <a:endParaRPr lang="en-US" dirty="0"/>
          </a:p>
        </p:txBody>
      </p:sp>
    </p:spTree>
    <p:extLst>
      <p:ext uri="{BB962C8B-B14F-4D97-AF65-F5344CB8AC3E}">
        <p14:creationId xmlns:p14="http://schemas.microsoft.com/office/powerpoint/2010/main" val="20090179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23</a:t>
            </a:fld>
            <a:endParaRPr lang="en-US" dirty="0"/>
          </a:p>
        </p:txBody>
      </p:sp>
    </p:spTree>
    <p:extLst>
      <p:ext uri="{BB962C8B-B14F-4D97-AF65-F5344CB8AC3E}">
        <p14:creationId xmlns:p14="http://schemas.microsoft.com/office/powerpoint/2010/main" val="26246862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27</a:t>
            </a:fld>
            <a:endParaRPr lang="en-US" dirty="0"/>
          </a:p>
        </p:txBody>
      </p:sp>
    </p:spTree>
    <p:extLst>
      <p:ext uri="{BB962C8B-B14F-4D97-AF65-F5344CB8AC3E}">
        <p14:creationId xmlns:p14="http://schemas.microsoft.com/office/powerpoint/2010/main" val="17475240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31</a:t>
            </a:fld>
            <a:endParaRPr lang="en-US" dirty="0"/>
          </a:p>
        </p:txBody>
      </p:sp>
    </p:spTree>
    <p:extLst>
      <p:ext uri="{BB962C8B-B14F-4D97-AF65-F5344CB8AC3E}">
        <p14:creationId xmlns:p14="http://schemas.microsoft.com/office/powerpoint/2010/main" val="21401504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32</a:t>
            </a:fld>
            <a:endParaRPr lang="en-US" dirty="0"/>
          </a:p>
        </p:txBody>
      </p:sp>
    </p:spTree>
    <p:extLst>
      <p:ext uri="{BB962C8B-B14F-4D97-AF65-F5344CB8AC3E}">
        <p14:creationId xmlns:p14="http://schemas.microsoft.com/office/powerpoint/2010/main" val="588881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33</a:t>
            </a:fld>
            <a:endParaRPr lang="en-US" dirty="0"/>
          </a:p>
        </p:txBody>
      </p:sp>
    </p:spTree>
    <p:extLst>
      <p:ext uri="{BB962C8B-B14F-4D97-AF65-F5344CB8AC3E}">
        <p14:creationId xmlns:p14="http://schemas.microsoft.com/office/powerpoint/2010/main" val="22659005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34</a:t>
            </a:fld>
            <a:endParaRPr lang="en-US" dirty="0"/>
          </a:p>
        </p:txBody>
      </p:sp>
    </p:spTree>
    <p:extLst>
      <p:ext uri="{BB962C8B-B14F-4D97-AF65-F5344CB8AC3E}">
        <p14:creationId xmlns:p14="http://schemas.microsoft.com/office/powerpoint/2010/main" val="26883149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37</a:t>
            </a:fld>
            <a:endParaRPr lang="en-US" dirty="0"/>
          </a:p>
        </p:txBody>
      </p:sp>
    </p:spTree>
    <p:extLst>
      <p:ext uri="{BB962C8B-B14F-4D97-AF65-F5344CB8AC3E}">
        <p14:creationId xmlns:p14="http://schemas.microsoft.com/office/powerpoint/2010/main" val="1409421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40</a:t>
            </a:fld>
            <a:endParaRPr lang="en-US" dirty="0"/>
          </a:p>
        </p:txBody>
      </p:sp>
    </p:spTree>
    <p:extLst>
      <p:ext uri="{BB962C8B-B14F-4D97-AF65-F5344CB8AC3E}">
        <p14:creationId xmlns:p14="http://schemas.microsoft.com/office/powerpoint/2010/main" val="39260784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41</a:t>
            </a:fld>
            <a:endParaRPr lang="en-US" dirty="0"/>
          </a:p>
        </p:txBody>
      </p:sp>
    </p:spTree>
    <p:extLst>
      <p:ext uri="{BB962C8B-B14F-4D97-AF65-F5344CB8AC3E}">
        <p14:creationId xmlns:p14="http://schemas.microsoft.com/office/powerpoint/2010/main" val="2987151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42</a:t>
            </a:fld>
            <a:endParaRPr lang="en-US" dirty="0"/>
          </a:p>
        </p:txBody>
      </p:sp>
    </p:spTree>
    <p:extLst>
      <p:ext uri="{BB962C8B-B14F-4D97-AF65-F5344CB8AC3E}">
        <p14:creationId xmlns:p14="http://schemas.microsoft.com/office/powerpoint/2010/main" val="24743936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45</a:t>
            </a:fld>
            <a:endParaRPr lang="en-US" dirty="0"/>
          </a:p>
        </p:txBody>
      </p:sp>
    </p:spTree>
    <p:extLst>
      <p:ext uri="{BB962C8B-B14F-4D97-AF65-F5344CB8AC3E}">
        <p14:creationId xmlns:p14="http://schemas.microsoft.com/office/powerpoint/2010/main" val="9633590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3406" y="764704"/>
            <a:ext cx="8964488"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83406" y="2420888"/>
            <a:ext cx="8964488" cy="1752600"/>
          </a:xfrm>
        </p:spPr>
        <p:txBody>
          <a:bodyPr/>
          <a:lstStyle>
            <a:lvl1pPr marL="0" indent="0" algn="ctr">
              <a:buNone/>
              <a:defRPr>
                <a:solidFill>
                  <a:schemeClr val="tx1">
                    <a:tint val="75000"/>
                  </a:schemeClr>
                </a:solidFill>
                <a:latin typeface="News Gothic MT"/>
                <a:cs typeface="News Gothic M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881797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5270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959166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30/04/2018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93987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30/04/2018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459971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95F713-2110-964B-A68E-481EBA276186}" type="datetimeFigureOut">
              <a:rPr lang="en-GB" smtClean="0"/>
              <a:t>30/04/2018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947691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595F713-2110-964B-A68E-481EBA276186}" type="datetimeFigureOut">
              <a:rPr lang="en-GB" smtClean="0"/>
              <a:t>30/04/2018</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750867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595F713-2110-964B-A68E-481EBA276186}" type="datetimeFigureOut">
              <a:rPr lang="en-GB" smtClean="0"/>
              <a:t>30/04/2018</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224364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595F713-2110-964B-A68E-481EBA276186}" type="datetimeFigureOut">
              <a:rPr lang="en-GB" smtClean="0"/>
              <a:t>30/04/2018</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706585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95F713-2110-964B-A68E-481EBA276186}" type="datetimeFigureOut">
              <a:rPr lang="en-GB" smtClean="0"/>
              <a:t>30/04/2018</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2144641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30/04/2018</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617688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30/04/2018</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348606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30/04/2018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486682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30/04/2018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6940739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30/04/2018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Drag picture to placeholder or click icon to add</a:t>
            </a:r>
            <a:endParaRPr lang="en-GB"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30/04/2018</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30/04/2018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30/04/2018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4"/>
            <a:ext cx="2133600" cy="365125"/>
          </a:xfrm>
          <a:prstGeom prst="rect">
            <a:avLst/>
          </a:prstGeom>
        </p:spPr>
        <p:txBody>
          <a:bodyPr/>
          <a:lstStyle/>
          <a:p>
            <a:fld id="{B595F713-2110-964B-A68E-481EBA276186}" type="datetimeFigureOut">
              <a:rPr lang="en-GB" smtClean="0"/>
              <a:t>30/04/2018</a:t>
            </a:fld>
            <a:endParaRPr lang="en-GB" dirty="0"/>
          </a:p>
        </p:txBody>
      </p:sp>
      <p:sp>
        <p:nvSpPr>
          <p:cNvPr id="3" name="Footer Placeholder 2"/>
          <p:cNvSpPr>
            <a:spLocks noGrp="1"/>
          </p:cNvSpPr>
          <p:nvPr>
            <p:ph type="ftr" sz="quarter" idx="11"/>
          </p:nvPr>
        </p:nvSpPr>
        <p:spPr>
          <a:xfrm>
            <a:off x="3124200" y="6356354"/>
            <a:ext cx="2895600" cy="365125"/>
          </a:xfrm>
          <a:prstGeom prst="rect">
            <a:avLst/>
          </a:prstGeom>
        </p:spPr>
        <p:txBody>
          <a:bodyPr/>
          <a:lstStyle/>
          <a:p>
            <a:endParaRPr lang="en-GB" dirty="0"/>
          </a:p>
        </p:txBody>
      </p:sp>
      <p:sp>
        <p:nvSpPr>
          <p:cNvPr id="4" name="Slide Number Placeholder 3"/>
          <p:cNvSpPr>
            <a:spLocks noGrp="1"/>
          </p:cNvSpPr>
          <p:nvPr>
            <p:ph type="sldNum" sz="quarter" idx="12"/>
          </p:nvPr>
        </p:nvSpPr>
        <p:spPr>
          <a:xfrm>
            <a:off x="6553200" y="6356354"/>
            <a:ext cx="2133600" cy="365125"/>
          </a:xfrm>
          <a:prstGeom prst="rect">
            <a:avLst/>
          </a:prstGeom>
        </p:spPr>
        <p:txBody>
          <a:bodyPr/>
          <a:lstStyle/>
          <a:p>
            <a:fld id="{402CBB9E-F5D3-6E40-A939-4B2058AA44B4}" type="slidenum">
              <a:rPr lang="en-GB" smtClean="0"/>
              <a:t>‹#›</a:t>
            </a:fld>
            <a:endParaRPr lang="en-GB" dirty="0"/>
          </a:p>
        </p:txBody>
      </p:sp>
    </p:spTree>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6" name="Shape 6"/>
          <p:cNvSpPr>
            <a:spLocks noGrp="1"/>
          </p:cNvSpPr>
          <p:nvPr>
            <p:ph type="title"/>
          </p:nvPr>
        </p:nvSpPr>
        <p:spPr>
          <a:xfrm>
            <a:off x="457200" y="92079"/>
            <a:ext cx="8229600" cy="1508125"/>
          </a:xfrm>
          <a:prstGeom prst="rect">
            <a:avLst/>
          </a:prstGeom>
        </p:spPr>
        <p:txBody>
          <a:bodyPr lIns="0" tIns="0" rIns="0" bIns="0">
            <a:noAutofit/>
          </a:bodyPr>
          <a:lstStyle>
            <a:lvl1pPr>
              <a:defRPr sz="4425">
                <a:latin typeface="Gill Sans"/>
                <a:ea typeface="Gill Sans"/>
                <a:cs typeface="Gill Sans"/>
                <a:sym typeface="Gill Sans"/>
              </a:defRPr>
            </a:lvl1pPr>
          </a:lstStyle>
          <a:p>
            <a:pPr lvl="0">
              <a:defRPr sz="1800"/>
            </a:pPr>
            <a:r>
              <a:rPr lang="en-US" sz="4425"/>
              <a:t>Click to edit Master title style</a:t>
            </a:r>
            <a:endParaRPr sz="4425"/>
          </a:p>
        </p:txBody>
      </p:sp>
      <p:sp>
        <p:nvSpPr>
          <p:cNvPr id="7" name="Shape 7"/>
          <p:cNvSpPr>
            <a:spLocks noGrp="1"/>
          </p:cNvSpPr>
          <p:nvPr>
            <p:ph type="body" idx="1"/>
          </p:nvPr>
        </p:nvSpPr>
        <p:spPr>
          <a:xfrm>
            <a:off x="457200" y="1600200"/>
            <a:ext cx="8229600" cy="5257800"/>
          </a:xfrm>
          <a:prstGeom prst="rect">
            <a:avLst/>
          </a:prstGeom>
        </p:spPr>
        <p:txBody>
          <a:bodyPr>
            <a:noAutofit/>
          </a:bodyPr>
          <a:lstStyle>
            <a:lvl1pPr marL="0" indent="0" algn="ctr">
              <a:spcBef>
                <a:spcPts val="2475"/>
              </a:spcBef>
              <a:buSzTx/>
              <a:buFontTx/>
              <a:buNone/>
              <a:defRPr>
                <a:latin typeface="Gill Sans"/>
                <a:ea typeface="Gill Sans"/>
                <a:cs typeface="Gill Sans"/>
                <a:sym typeface="Gill Sans"/>
              </a:defRPr>
            </a:lvl1pPr>
            <a:lvl2pPr marL="0" indent="240506" algn="ctr">
              <a:spcBef>
                <a:spcPts val="2475"/>
              </a:spcBef>
              <a:buSzTx/>
              <a:buFontTx/>
              <a:buNone/>
              <a:defRPr>
                <a:latin typeface="Gill Sans"/>
                <a:ea typeface="Gill Sans"/>
                <a:cs typeface="Gill Sans"/>
                <a:sym typeface="Gill Sans"/>
              </a:defRPr>
            </a:lvl2pPr>
            <a:lvl3pPr marL="0" indent="481013" algn="ctr">
              <a:spcBef>
                <a:spcPts val="2475"/>
              </a:spcBef>
              <a:buSzTx/>
              <a:buFontTx/>
              <a:buNone/>
              <a:defRPr>
                <a:latin typeface="Gill Sans"/>
                <a:ea typeface="Gill Sans"/>
                <a:cs typeface="Gill Sans"/>
                <a:sym typeface="Gill Sans"/>
              </a:defRPr>
            </a:lvl3pPr>
            <a:lvl4pPr marL="0" indent="722709" algn="ctr">
              <a:spcBef>
                <a:spcPts val="2475"/>
              </a:spcBef>
              <a:buSzTx/>
              <a:buFontTx/>
              <a:buNone/>
              <a:defRPr>
                <a:latin typeface="Gill Sans"/>
                <a:ea typeface="Gill Sans"/>
                <a:cs typeface="Gill Sans"/>
                <a:sym typeface="Gill Sans"/>
              </a:defRPr>
            </a:lvl4pPr>
            <a:lvl5pPr marL="0" indent="963215" algn="ctr">
              <a:spcBef>
                <a:spcPts val="2475"/>
              </a:spcBef>
              <a:buSzTx/>
              <a:buFontTx/>
              <a:buNone/>
              <a:defRPr>
                <a:latin typeface="Gill Sans"/>
                <a:ea typeface="Gill Sans"/>
                <a:cs typeface="Gill Sans"/>
                <a:sym typeface="Gill Sans"/>
              </a:defRPr>
            </a:lvl5pPr>
          </a:lstStyle>
          <a:p>
            <a:pPr lvl="0">
              <a:defRPr sz="1800"/>
            </a:pPr>
            <a:r>
              <a:rPr lang="en-US" sz="2250"/>
              <a:t>Click to edit Master text styles</a:t>
            </a:r>
          </a:p>
          <a:p>
            <a:pPr lvl="1">
              <a:defRPr sz="1800"/>
            </a:pPr>
            <a:r>
              <a:rPr lang="en-US" sz="2250"/>
              <a:t>Second level</a:t>
            </a:r>
          </a:p>
          <a:p>
            <a:pPr lvl="2">
              <a:defRPr sz="1800"/>
            </a:pPr>
            <a:r>
              <a:rPr lang="en-US" sz="2250"/>
              <a:t>Third level</a:t>
            </a:r>
          </a:p>
          <a:p>
            <a:pPr lvl="3">
              <a:defRPr sz="1800"/>
            </a:pPr>
            <a:r>
              <a:rPr lang="en-US" sz="2250"/>
              <a:t>Fourth level</a:t>
            </a:r>
          </a:p>
          <a:p>
            <a:pPr lvl="4">
              <a:defRPr sz="1800"/>
            </a:pPr>
            <a:r>
              <a:rPr lang="en-US" sz="2250"/>
              <a:t>Fifth level</a:t>
            </a:r>
            <a:endParaRPr sz="2250"/>
          </a:p>
        </p:txBody>
      </p:sp>
    </p:spTree>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2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3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2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4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3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3"/>
            <a:ext cx="2057400" cy="365125"/>
          </a:xfrm>
          <a:prstGeom prst="rect">
            <a:avLst/>
          </a:prstGeom>
        </p:spPr>
        <p:txBody>
          <a:bodyPr/>
          <a:lstStyle/>
          <a:p>
            <a:fld id="{B595F713-2110-964B-A68E-481EBA276186}" type="datetimeFigureOut">
              <a:rPr lang="en-GB" smtClean="0"/>
              <a:t>30/04/2018</a:t>
            </a:fld>
            <a:endParaRPr lang="en-GB" dirty="0"/>
          </a:p>
        </p:txBody>
      </p:sp>
      <p:sp>
        <p:nvSpPr>
          <p:cNvPr id="4" name="Footer Placeholder 3"/>
          <p:cNvSpPr>
            <a:spLocks noGrp="1"/>
          </p:cNvSpPr>
          <p:nvPr>
            <p:ph type="ftr" sz="quarter" idx="11"/>
          </p:nvPr>
        </p:nvSpPr>
        <p:spPr>
          <a:xfrm>
            <a:off x="3028950" y="6356353"/>
            <a:ext cx="3086100" cy="365125"/>
          </a:xfrm>
          <a:prstGeom prst="rect">
            <a:avLst/>
          </a:prstGeom>
        </p:spPr>
        <p:txBody>
          <a:bodyPr/>
          <a:lstStyle/>
          <a:p>
            <a:endParaRPr lang="en-GB" dirty="0"/>
          </a:p>
        </p:txBody>
      </p:sp>
      <p:sp>
        <p:nvSpPr>
          <p:cNvPr id="5" name="Slide Number Placeholder 4"/>
          <p:cNvSpPr>
            <a:spLocks noGrp="1"/>
          </p:cNvSpPr>
          <p:nvPr>
            <p:ph type="sldNum" sz="quarter" idx="12"/>
          </p:nvPr>
        </p:nvSpPr>
        <p:spPr>
          <a:xfrm>
            <a:off x="6457950" y="6356353"/>
            <a:ext cx="2057400" cy="365125"/>
          </a:xfrm>
          <a:prstGeom prst="rect">
            <a:avLst/>
          </a:prstGeom>
        </p:spPr>
        <p:txBody>
          <a:bodyPr/>
          <a:lstStyle/>
          <a:p>
            <a:fld id="{402CBB9E-F5D3-6E40-A939-4B2058AA44B4}" type="slidenum">
              <a:rPr lang="en-GB" smtClean="0"/>
              <a:t>‹#›</a:t>
            </a:fld>
            <a:endParaRPr lang="en-GB" dirty="0"/>
          </a:p>
        </p:txBody>
      </p:sp>
    </p:spTree>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jpeg"/><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4.xml"/><Relationship Id="rId12" Type="http://schemas.openxmlformats.org/officeDocument/2006/relationships/theme" Target="../theme/theme2.xml"/><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 Id="rId9" Type="http://schemas.openxmlformats.org/officeDocument/2006/relationships/slideLayout" Target="../slideLayouts/slideLayout12.xml"/><Relationship Id="rId10"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slideLayout" Target="../slideLayouts/slideLayout27.xml"/><Relationship Id="rId14" Type="http://schemas.openxmlformats.org/officeDocument/2006/relationships/slideLayout" Target="../slideLayouts/slideLayout28.xml"/><Relationship Id="rId15" Type="http://schemas.openxmlformats.org/officeDocument/2006/relationships/slideLayout" Target="../slideLayouts/slideLayout29.xml"/><Relationship Id="rId16" Type="http://schemas.openxmlformats.org/officeDocument/2006/relationships/slideLayout" Target="../slideLayouts/slideLayout30.xml"/><Relationship Id="rId17" Type="http://schemas.openxmlformats.org/officeDocument/2006/relationships/theme" Target="../theme/theme3.xml"/><Relationship Id="rId18" Type="http://schemas.openxmlformats.org/officeDocument/2006/relationships/image" Target="../media/image2.jpeg"/><Relationship Id="rId19" Type="http://schemas.openxmlformats.org/officeDocument/2006/relationships/image" Target="../media/image3.jpeg"/><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pic>
        <p:nvPicPr>
          <p:cNvPr id="11" name="Picture 10" descr="pixl ppt back generic 2015.jp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27938" y="774701"/>
            <a:ext cx="9116061" cy="20828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429" y="2996952"/>
            <a:ext cx="9126570" cy="34563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a:t>
            </a:r>
            <a:r>
              <a:rPr lang="en-US" dirty="0" err="1"/>
              <a:t>hkhkjh</a:t>
            </a:r>
            <a:endParaRPr lang="en-US" dirty="0"/>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17910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92" r:id="rId3"/>
  </p:sldLayoutIdLst>
  <p:txStyles>
    <p:titleStyle>
      <a:lvl1pPr algn="l" defTabSz="342900" rtl="0" eaLnBrk="1" latinLnBrk="0" hangingPunct="1">
        <a:spcBef>
          <a:spcPct val="0"/>
        </a:spcBef>
        <a:buNone/>
        <a:defRPr sz="3300" kern="1200">
          <a:solidFill>
            <a:schemeClr val="tx1"/>
          </a:solidFill>
          <a:latin typeface="+mj-lt"/>
          <a:ea typeface="+mj-ea"/>
          <a:cs typeface="Lato Medium"/>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News Gothic MT"/>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News Gothic MT"/>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News Gothic MT"/>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95F713-2110-964B-A68E-481EBA276186}" type="datetimeFigureOut">
              <a:rPr lang="en-GB" smtClean="0"/>
              <a:t>30/04/2018</a:t>
            </a:fld>
            <a:endParaRPr lang="en-GB"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CBB9E-F5D3-6E40-A939-4B2058AA44B4}" type="slidenum">
              <a:rPr lang="en-GB" smtClean="0"/>
              <a:t>‹#›</a:t>
            </a:fld>
            <a:endParaRPr lang="en-GB" dirty="0"/>
          </a:p>
        </p:txBody>
      </p:sp>
    </p:spTree>
    <p:extLst>
      <p:ext uri="{BB962C8B-B14F-4D97-AF65-F5344CB8AC3E}">
        <p14:creationId xmlns:p14="http://schemas.microsoft.com/office/powerpoint/2010/main" val="30590050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595F713-2110-964B-A68E-481EBA276186}" type="datetimeFigureOut">
              <a:rPr lang="en-GB" smtClean="0"/>
              <a:t>30/04/2018</a:t>
            </a:fld>
            <a:endParaRPr lang="en-GB"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02CBB9E-F5D3-6E40-A939-4B2058AA44B4}" type="slidenum">
              <a:rPr lang="en-GB" smtClean="0"/>
              <a:t>‹#›</a:t>
            </a:fld>
            <a:endParaRPr lang="en-GB" dirty="0"/>
          </a:p>
        </p:txBody>
      </p:sp>
      <p:pic>
        <p:nvPicPr>
          <p:cNvPr id="7" name="Picture 6"/>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091113" y="16872"/>
            <a:ext cx="1029761" cy="1020648"/>
          </a:xfrm>
          <a:prstGeom prst="rect">
            <a:avLst/>
          </a:prstGeom>
        </p:spPr>
      </p:pic>
      <p:pic>
        <p:nvPicPr>
          <p:cNvPr id="8" name="Picture 7"/>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3126" y="16872"/>
            <a:ext cx="2530113" cy="831540"/>
          </a:xfrm>
          <a:prstGeom prst="rect">
            <a:avLst/>
          </a:prstGeom>
        </p:spPr>
      </p:pic>
      <p:sp>
        <p:nvSpPr>
          <p:cNvPr id="9" name="Rectangle 8"/>
          <p:cNvSpPr/>
          <p:nvPr/>
        </p:nvSpPr>
        <p:spPr>
          <a:xfrm>
            <a:off x="0" y="6561058"/>
            <a:ext cx="9144000" cy="22640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GB" sz="900" dirty="0">
                <a:latin typeface="Arial" panose="020B0604020202020204" pitchFamily="34" charset="0"/>
                <a:cs typeface="Arial" panose="020B0604020202020204" pitchFamily="34" charset="0"/>
              </a:rPr>
              <a:t>better hope – brighter</a:t>
            </a:r>
            <a:r>
              <a:rPr lang="en-GB" sz="900" baseline="0" dirty="0">
                <a:latin typeface="Arial" panose="020B0604020202020204" pitchFamily="34" charset="0"/>
                <a:cs typeface="Arial" panose="020B0604020202020204" pitchFamily="34" charset="0"/>
              </a:rPr>
              <a:t> future</a:t>
            </a:r>
            <a:endParaRPr lang="en-GB"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74570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4" Type="http://schemas.openxmlformats.org/officeDocument/2006/relationships/hyperlink" Target="http://www.pixl.org.uk/" TargetMode="External"/><Relationship Id="rId5" Type="http://schemas.openxmlformats.org/officeDocument/2006/relationships/image" Target="../media/image5.jpeg"/><Relationship Id="rId1" Type="http://schemas.openxmlformats.org/officeDocument/2006/relationships/slideLayout" Target="../slideLayouts/slideLayout10.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tif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tif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tiff"/></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4" Type="http://schemas.openxmlformats.org/officeDocument/2006/relationships/image" Target="../media/image11.png"/><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3" Type="http://schemas.openxmlformats.org/officeDocument/2006/relationships/hyperlink" Target="https://www.google.co.uk/url?sa=i&amp;rct=j&amp;q=&amp;esrc=s&amp;source=images&amp;cd=&amp;cad=rja&amp;uact=8&amp;ved=0ahUKEwjwgruz1PrWAhWJ1xoKHXbHAZsQjRwIBw&amp;url=https://chemstuff.co.uk/analytical-chemistry/tests-for-gases/&amp;psig=AOvVaw0oP7dTD6f2bMYtR8oXHqUg&amp;ust=1508432814779647" TargetMode="External"/><Relationship Id="rId4" Type="http://schemas.openxmlformats.org/officeDocument/2006/relationships/image" Target="../media/image12.jpeg"/><Relationship Id="rId5" Type="http://schemas.openxmlformats.org/officeDocument/2006/relationships/image" Target="../media/image13.png"/><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tif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tif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tif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tif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8.tif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7.tif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8.tif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9.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8520" y="0"/>
            <a:ext cx="9252520" cy="7571303"/>
          </a:xfrm>
          <a:prstGeom prst="rect">
            <a:avLst/>
          </a:prstGeom>
          <a:noFill/>
        </p:spPr>
        <p:txBody>
          <a:bodyPr wrap="square" rtlCol="0">
            <a:spAutoFit/>
          </a:bodyPr>
          <a:lstStyle/>
          <a:p>
            <a:r>
              <a:rPr lang="en-GB" sz="900" dirty="0">
                <a:solidFill>
                  <a:schemeClr val="bg1">
                    <a:lumMod val="85000"/>
                  </a:schemeClr>
                </a:solidFill>
              </a:rPr>
              <a:t>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a:t>
            </a:r>
          </a:p>
        </p:txBody>
      </p:sp>
      <p:pic>
        <p:nvPicPr>
          <p:cNvPr id="1026" name="Picture 2" descr="pixl-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44624"/>
            <a:ext cx="1639040" cy="792088"/>
          </a:xfrm>
          <a:prstGeom prst="rect">
            <a:avLst/>
          </a:prstGeom>
          <a:noFill/>
          <a:ln w="9525">
            <a:solidFill>
              <a:srgbClr val="000000"/>
            </a:solidFill>
            <a:miter lim="800000"/>
            <a:headEnd/>
            <a:tailEnd/>
          </a:ln>
          <a:effectLst>
            <a:outerShdw dist="107763" dir="2700000" algn="ctr" rotWithShape="0">
              <a:srgbClr val="808080">
                <a:alpha val="50000"/>
              </a:srgbClr>
            </a:outerShdw>
          </a:effectLst>
          <a:extLst>
            <a:ext uri="{909E8E84-426E-40dd-AFC4-6F175D3DCCD1}">
              <a14:hiddenFill xmlns="" xmlns:a14="http://schemas.microsoft.com/office/drawing/2010/main">
                <a:solidFill>
                  <a:srgbClr val="FFFFFF"/>
                </a:solidFill>
              </a14:hiddenFill>
            </a:ext>
          </a:extLst>
        </p:spPr>
      </p:pic>
      <p:sp>
        <p:nvSpPr>
          <p:cNvPr id="5" name="Text Box 3"/>
          <p:cNvSpPr txBox="1">
            <a:spLocks noChangeArrowheads="1"/>
          </p:cNvSpPr>
          <p:nvPr/>
        </p:nvSpPr>
        <p:spPr bwMode="auto">
          <a:xfrm>
            <a:off x="215516" y="5217942"/>
            <a:ext cx="8820979" cy="887304"/>
          </a:xfrm>
          <a:prstGeom prst="rect">
            <a:avLst/>
          </a:prstGeom>
          <a:solidFill>
            <a:srgbClr val="FFFFFF"/>
          </a:solidFill>
          <a:ln w="38100" cmpd="dbl">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dirty="0">
                <a:ln>
                  <a:noFill/>
                </a:ln>
                <a:solidFill>
                  <a:schemeClr val="tx1"/>
                </a:solidFill>
                <a:effectLst/>
                <a:latin typeface="Arial" pitchFamily="34" charset="0"/>
                <a:cs typeface="Arial" pitchFamily="34" charset="0"/>
              </a:rPr>
              <a:t>This resource is strictly for the use of member schools for as long as they remain members of The PiXL Club. It may not be copied, sold nor transferred to a third party or used by the school after membership ceases. Until such time it may be freely used within the member school.</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GB" altLang="en-US" sz="10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dirty="0">
                <a:ln>
                  <a:noFill/>
                </a:ln>
                <a:solidFill>
                  <a:schemeClr val="tx1"/>
                </a:solidFill>
                <a:effectLst/>
                <a:latin typeface="Arial" pitchFamily="34" charset="0"/>
                <a:cs typeface="Arial" pitchFamily="34" charset="0"/>
              </a:rPr>
              <a:t>All opinions and contributions are those of the authors. The contents of this resource are not connected with nor endorsed by any other company, organisation or institution.</a:t>
            </a:r>
            <a:endParaRPr kumimoji="0" lang="en-US" alt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6" name="TextBox 5"/>
          <p:cNvSpPr txBox="1"/>
          <p:nvPr/>
        </p:nvSpPr>
        <p:spPr>
          <a:xfrm>
            <a:off x="827584" y="6237312"/>
            <a:ext cx="7272808" cy="400110"/>
          </a:xfrm>
          <a:prstGeom prst="rect">
            <a:avLst/>
          </a:prstGeom>
          <a:noFill/>
        </p:spPr>
        <p:txBody>
          <a:bodyPr wrap="square" rtlCol="0">
            <a:spAutoFit/>
          </a:bodyPr>
          <a:lstStyle/>
          <a:p>
            <a:r>
              <a:rPr lang="en-US" sz="1000" u="sng" dirty="0">
                <a:hlinkClick r:id="rId4"/>
              </a:rPr>
              <a:t>www.pixl.org.uk</a:t>
            </a:r>
            <a:r>
              <a:rPr lang="en-US" sz="1000" dirty="0"/>
              <a:t>					The PiXL Club Ltd, Company number 07321607</a:t>
            </a:r>
            <a:endParaRPr lang="en-GB" sz="1000" dirty="0"/>
          </a:p>
          <a:p>
            <a:endParaRPr lang="en-GB" sz="1000" dirty="0"/>
          </a:p>
        </p:txBody>
      </p:sp>
      <p:sp>
        <p:nvSpPr>
          <p:cNvPr id="7" name="TextBox 6"/>
          <p:cNvSpPr txBox="1"/>
          <p:nvPr/>
        </p:nvSpPr>
        <p:spPr>
          <a:xfrm>
            <a:off x="2555775" y="4747322"/>
            <a:ext cx="3816424" cy="338554"/>
          </a:xfrm>
          <a:prstGeom prst="rect">
            <a:avLst/>
          </a:prstGeom>
          <a:noFill/>
        </p:spPr>
        <p:txBody>
          <a:bodyPr wrap="square" rtlCol="0">
            <a:spAutoFit/>
          </a:bodyPr>
          <a:lstStyle/>
          <a:p>
            <a:pPr algn="ctr"/>
            <a:r>
              <a:rPr lang="en-GB" sz="1600" dirty="0"/>
              <a:t>© Copyright The PiXL Club Ltd, 2017</a:t>
            </a:r>
          </a:p>
        </p:txBody>
      </p:sp>
      <p:sp>
        <p:nvSpPr>
          <p:cNvPr id="8" name="TextBox 7"/>
          <p:cNvSpPr txBox="1"/>
          <p:nvPr/>
        </p:nvSpPr>
        <p:spPr>
          <a:xfrm>
            <a:off x="233952" y="881336"/>
            <a:ext cx="8496943" cy="4065728"/>
          </a:xfrm>
          <a:prstGeom prst="rect">
            <a:avLst/>
          </a:prstGeom>
          <a:noFill/>
        </p:spPr>
        <p:txBody>
          <a:bodyPr wrap="square" rtlCol="0">
            <a:spAutoFit/>
          </a:bodyPr>
          <a:lstStyle/>
          <a:p>
            <a:pPr algn="ctr">
              <a:lnSpc>
                <a:spcPct val="115000"/>
              </a:lnSpc>
              <a:spcAft>
                <a:spcPts val="0"/>
              </a:spcAft>
            </a:pPr>
            <a:r>
              <a:rPr lang="en-GB" sz="7200" b="1" dirty="0"/>
              <a:t>PiXL KnowIT!</a:t>
            </a:r>
          </a:p>
          <a:p>
            <a:pPr algn="ctr">
              <a:lnSpc>
                <a:spcPct val="115000"/>
              </a:lnSpc>
              <a:spcAft>
                <a:spcPts val="0"/>
              </a:spcAft>
            </a:pPr>
            <a:r>
              <a:rPr lang="en-GB" sz="3600" b="1" dirty="0">
                <a:latin typeface="Arial" panose="020B0604020202020204" pitchFamily="34" charset="0"/>
                <a:ea typeface="Calibri" panose="020F0502020204030204" pitchFamily="34" charset="0"/>
                <a:cs typeface="Times New Roman" panose="02020603050405020304" pitchFamily="18" charset="0"/>
              </a:rPr>
              <a:t>GCSE Chemistry</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gn="ctr"/>
            <a:r>
              <a:rPr lang="en-GB" dirty="0"/>
              <a:t> </a:t>
            </a:r>
          </a:p>
          <a:p>
            <a:pPr algn="ctr"/>
            <a:endParaRPr lang="en-GB" dirty="0"/>
          </a:p>
          <a:p>
            <a:pPr algn="ctr"/>
            <a:r>
              <a:rPr lang="en-GB" sz="4400" b="1" dirty="0">
                <a:solidFill>
                  <a:schemeClr val="accent2"/>
                </a:solidFill>
              </a:rPr>
              <a:t>AQA Topic – Chemical Analysis</a:t>
            </a:r>
          </a:p>
          <a:p>
            <a:pPr algn="ctr"/>
            <a:r>
              <a:rPr lang="en-GB" dirty="0"/>
              <a:t>  </a:t>
            </a:r>
          </a:p>
          <a:p>
            <a:pPr algn="ctr"/>
            <a:r>
              <a:rPr lang="en-GB" dirty="0"/>
              <a:t> </a:t>
            </a:r>
          </a:p>
          <a:p>
            <a:pPr algn="ctr"/>
            <a:endParaRPr lang="en-GB" dirty="0"/>
          </a:p>
        </p:txBody>
      </p:sp>
      <p:pic>
        <p:nvPicPr>
          <p:cNvPr id="9" name="374f7cfc-9279-43ad-9851-155d90395642" descr="image001"/>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65552" y="58096"/>
            <a:ext cx="1484057" cy="11047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9374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9752" y="35655"/>
            <a:ext cx="6804248" cy="1017081"/>
          </a:xfrm>
        </p:spPr>
        <p:txBody>
          <a:bodyPr>
            <a:normAutofit/>
          </a:bodyPr>
          <a:lstStyle/>
          <a:p>
            <a:pPr algn="r"/>
            <a:r>
              <a:rPr lang="en-GB" sz="2800" b="1" dirty="0">
                <a:solidFill>
                  <a:schemeClr val="accent6"/>
                </a:solidFill>
              </a:rPr>
              <a:t>Overview </a:t>
            </a:r>
            <a:br>
              <a:rPr lang="en-GB" sz="2800" b="1" dirty="0">
                <a:solidFill>
                  <a:schemeClr val="accent6"/>
                </a:solidFill>
              </a:rPr>
            </a:br>
            <a:r>
              <a:rPr lang="en-GB" sz="2800" b="1" dirty="0">
                <a:solidFill>
                  <a:schemeClr val="accent6"/>
                </a:solidFill>
              </a:rPr>
              <a:t> Chemical Analysis</a:t>
            </a:r>
          </a:p>
        </p:txBody>
      </p:sp>
      <p:sp>
        <p:nvSpPr>
          <p:cNvPr id="3" name="Subtitle 2"/>
          <p:cNvSpPr>
            <a:spLocks noGrp="1"/>
          </p:cNvSpPr>
          <p:nvPr>
            <p:ph type="subTitle" idx="1"/>
          </p:nvPr>
        </p:nvSpPr>
        <p:spPr>
          <a:xfrm>
            <a:off x="179512" y="908720"/>
            <a:ext cx="4896544" cy="5472608"/>
          </a:xfrm>
        </p:spPr>
        <p:txBody>
          <a:bodyPr>
            <a:normAutofit/>
          </a:bodyPr>
          <a:lstStyle/>
          <a:p>
            <a:pPr algn="l"/>
            <a:r>
              <a:rPr lang="en-US" sz="1800" b="1" dirty="0">
                <a:solidFill>
                  <a:schemeClr val="tx1"/>
                </a:solidFill>
                <a:latin typeface="+mn-lt"/>
              </a:rPr>
              <a:t>Purity, formulations and chromatography</a:t>
            </a:r>
          </a:p>
          <a:p>
            <a:pPr marL="685800" lvl="1" indent="-342900" algn="l">
              <a:buFont typeface="Arial" charset="0"/>
              <a:buChar char="•"/>
            </a:pPr>
            <a:r>
              <a:rPr lang="en-US" sz="1600" dirty="0">
                <a:solidFill>
                  <a:schemeClr val="tx1"/>
                </a:solidFill>
              </a:rPr>
              <a:t>Pure substances</a:t>
            </a:r>
          </a:p>
          <a:p>
            <a:pPr marL="685800" lvl="1" indent="-342900" algn="l">
              <a:buFont typeface="Arial" charset="0"/>
              <a:buChar char="•"/>
            </a:pPr>
            <a:r>
              <a:rPr lang="en-US" sz="1600" dirty="0">
                <a:solidFill>
                  <a:schemeClr val="tx1"/>
                </a:solidFill>
              </a:rPr>
              <a:t>Formulations</a:t>
            </a:r>
          </a:p>
          <a:p>
            <a:pPr marL="685800" lvl="1" indent="-342900" algn="l">
              <a:buFont typeface="Arial" charset="0"/>
              <a:buChar char="•"/>
            </a:pPr>
            <a:r>
              <a:rPr lang="en-US" sz="1600" dirty="0">
                <a:solidFill>
                  <a:schemeClr val="tx1"/>
                </a:solidFill>
              </a:rPr>
              <a:t>Chromatography</a:t>
            </a:r>
          </a:p>
          <a:p>
            <a:pPr algn="l"/>
            <a:r>
              <a:rPr lang="en-US" sz="1800" b="1" dirty="0">
                <a:solidFill>
                  <a:schemeClr val="tx1"/>
                </a:solidFill>
                <a:latin typeface="+mn-lt"/>
              </a:rPr>
              <a:t>Identification of common gases</a:t>
            </a:r>
          </a:p>
          <a:p>
            <a:pPr marL="685800" lvl="1" indent="-342900" algn="l">
              <a:buFont typeface="Arial" charset="0"/>
              <a:buChar char="•"/>
            </a:pPr>
            <a:r>
              <a:rPr lang="en-US" sz="1600" dirty="0">
                <a:solidFill>
                  <a:schemeClr val="tx1"/>
                </a:solidFill>
              </a:rPr>
              <a:t>Test for hydrogen</a:t>
            </a:r>
          </a:p>
          <a:p>
            <a:pPr marL="685800" lvl="1" indent="-342900" algn="l">
              <a:buFont typeface="Arial" charset="0"/>
              <a:buChar char="•"/>
            </a:pPr>
            <a:r>
              <a:rPr lang="en-US" sz="1600" dirty="0">
                <a:solidFill>
                  <a:schemeClr val="tx1"/>
                </a:solidFill>
              </a:rPr>
              <a:t>Test for oxygen</a:t>
            </a:r>
          </a:p>
          <a:p>
            <a:pPr marL="685800" lvl="1" indent="-342900" algn="l">
              <a:buFont typeface="Arial" charset="0"/>
              <a:buChar char="•"/>
            </a:pPr>
            <a:r>
              <a:rPr lang="en-US" sz="1600" dirty="0">
                <a:solidFill>
                  <a:schemeClr val="tx1"/>
                </a:solidFill>
              </a:rPr>
              <a:t>Test for carbon dioxide</a:t>
            </a:r>
          </a:p>
          <a:p>
            <a:pPr marL="685800" lvl="1" indent="-342900" algn="l">
              <a:buFont typeface="Arial" charset="0"/>
              <a:buChar char="•"/>
            </a:pPr>
            <a:r>
              <a:rPr lang="en-US" sz="1600" dirty="0">
                <a:solidFill>
                  <a:schemeClr val="tx1"/>
                </a:solidFill>
              </a:rPr>
              <a:t>Test for chlorine</a:t>
            </a:r>
          </a:p>
          <a:p>
            <a:pPr algn="l"/>
            <a:r>
              <a:rPr lang="en-US" sz="1800" b="1" dirty="0">
                <a:solidFill>
                  <a:schemeClr val="tx1"/>
                </a:solidFill>
                <a:latin typeface="+mn-lt"/>
              </a:rPr>
              <a:t>Identification of ions by chemical and </a:t>
            </a:r>
          </a:p>
          <a:p>
            <a:pPr algn="l"/>
            <a:r>
              <a:rPr lang="en-US" sz="1800" b="1" dirty="0">
                <a:solidFill>
                  <a:schemeClr val="tx1"/>
                </a:solidFill>
                <a:latin typeface="+mn-lt"/>
              </a:rPr>
              <a:t>spectroscopic means (Chemistry only)</a:t>
            </a:r>
          </a:p>
          <a:p>
            <a:pPr marL="285750" indent="-285750" algn="l">
              <a:buFont typeface="Arial" panose="020B0604020202020204" pitchFamily="34" charset="0"/>
              <a:buChar char="•"/>
            </a:pPr>
            <a:r>
              <a:rPr lang="en-US" sz="1600" dirty="0">
                <a:solidFill>
                  <a:schemeClr val="tx1"/>
                </a:solidFill>
                <a:latin typeface="+mn-lt"/>
              </a:rPr>
              <a:t>Flame tests</a:t>
            </a:r>
          </a:p>
          <a:p>
            <a:pPr marL="285750" indent="-285750" algn="l">
              <a:buFont typeface="Arial" panose="020B0604020202020204" pitchFamily="34" charset="0"/>
              <a:buChar char="•"/>
            </a:pPr>
            <a:r>
              <a:rPr lang="en-US" sz="1600" dirty="0">
                <a:solidFill>
                  <a:schemeClr val="tx1"/>
                </a:solidFill>
                <a:latin typeface="+mn-lt"/>
              </a:rPr>
              <a:t>Metal hydroxides </a:t>
            </a:r>
          </a:p>
          <a:p>
            <a:pPr marL="285750" indent="-285750" algn="l">
              <a:buFont typeface="Arial" panose="020B0604020202020204" pitchFamily="34" charset="0"/>
              <a:buChar char="•"/>
            </a:pPr>
            <a:r>
              <a:rPr lang="en-US" sz="1600" dirty="0">
                <a:solidFill>
                  <a:schemeClr val="tx1"/>
                </a:solidFill>
                <a:latin typeface="+mn-lt"/>
              </a:rPr>
              <a:t>Carbonates </a:t>
            </a:r>
          </a:p>
          <a:p>
            <a:pPr marL="285750" indent="-285750" algn="l">
              <a:buFont typeface="Arial" panose="020B0604020202020204" pitchFamily="34" charset="0"/>
              <a:buChar char="•"/>
            </a:pPr>
            <a:r>
              <a:rPr lang="en-US" sz="1600" dirty="0">
                <a:solidFill>
                  <a:schemeClr val="tx1"/>
                </a:solidFill>
                <a:latin typeface="+mn-lt"/>
              </a:rPr>
              <a:t>Halides</a:t>
            </a:r>
          </a:p>
          <a:p>
            <a:pPr marL="285750" indent="-285750" algn="l">
              <a:buFont typeface="Arial" panose="020B0604020202020204" pitchFamily="34" charset="0"/>
              <a:buChar char="•"/>
            </a:pPr>
            <a:r>
              <a:rPr lang="en-US" sz="1600" dirty="0">
                <a:solidFill>
                  <a:schemeClr val="tx1"/>
                </a:solidFill>
                <a:latin typeface="+mn-lt"/>
              </a:rPr>
              <a:t>Sulfates</a:t>
            </a:r>
          </a:p>
          <a:p>
            <a:pPr marL="285750" indent="-285750" algn="l">
              <a:buFont typeface="Arial" panose="020B0604020202020204" pitchFamily="34" charset="0"/>
              <a:buChar char="•"/>
            </a:pPr>
            <a:r>
              <a:rPr lang="en-US" sz="1600" dirty="0">
                <a:solidFill>
                  <a:schemeClr val="tx1"/>
                </a:solidFill>
                <a:latin typeface="+mn-lt"/>
              </a:rPr>
              <a:t>Instrumental methods</a:t>
            </a:r>
          </a:p>
          <a:p>
            <a:pPr marL="285750" indent="-285750" algn="l">
              <a:buFont typeface="Arial" panose="020B0604020202020204" pitchFamily="34" charset="0"/>
              <a:buChar char="•"/>
            </a:pPr>
            <a:r>
              <a:rPr lang="en-US" sz="1600" dirty="0">
                <a:solidFill>
                  <a:schemeClr val="tx1"/>
                </a:solidFill>
                <a:latin typeface="+mn-lt"/>
              </a:rPr>
              <a:t>Flame emission spectroscopy</a:t>
            </a: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endParaRPr lang="en-GB" dirty="0">
              <a:solidFill>
                <a:schemeClr val="tx1"/>
              </a:solidFill>
            </a:endParaRPr>
          </a:p>
        </p:txBody>
      </p:sp>
      <p:pic>
        <p:nvPicPr>
          <p:cNvPr id="4" name="Picture 3"/>
          <p:cNvPicPr>
            <a:picLocks noChangeAspect="1"/>
          </p:cNvPicPr>
          <p:nvPr/>
        </p:nvPicPr>
        <p:blipFill>
          <a:blip r:embed="rId2"/>
          <a:stretch>
            <a:fillRect/>
          </a:stretch>
        </p:blipFill>
        <p:spPr>
          <a:xfrm>
            <a:off x="4644008" y="1052736"/>
            <a:ext cx="4104456" cy="5184576"/>
          </a:xfrm>
          <a:prstGeom prst="rect">
            <a:avLst/>
          </a:prstGeom>
        </p:spPr>
      </p:pic>
    </p:spTree>
    <p:extLst>
      <p:ext uri="{BB962C8B-B14F-4D97-AF65-F5344CB8AC3E}">
        <p14:creationId xmlns:p14="http://schemas.microsoft.com/office/powerpoint/2010/main" val="732448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22696" y="675435"/>
            <a:ext cx="4572000" cy="4985980"/>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US" sz="2800" b="1" dirty="0">
                <a:solidFill>
                  <a:schemeClr val="tx1">
                    <a:lumMod val="50000"/>
                    <a:lumOff val="50000"/>
                  </a:schemeClr>
                </a:solidFill>
              </a:rPr>
              <a:t>Purity, formulations</a:t>
            </a:r>
          </a:p>
          <a:p>
            <a:r>
              <a:rPr lang="en-US" sz="2800" b="1" dirty="0">
                <a:solidFill>
                  <a:schemeClr val="tx1">
                    <a:lumMod val="50000"/>
                    <a:lumOff val="50000"/>
                  </a:schemeClr>
                </a:solidFill>
              </a:rPr>
              <a:t>And chromatography</a:t>
            </a:r>
          </a:p>
          <a:p>
            <a:endParaRPr lang="en-US" sz="2800" b="1" dirty="0">
              <a:solidFill>
                <a:schemeClr val="tx1">
                  <a:lumMod val="50000"/>
                  <a:lumOff val="50000"/>
                </a:schemeClr>
              </a:solidFill>
            </a:endParaRPr>
          </a:p>
          <a:p>
            <a:pPr marL="685800" lvl="1" indent="-342900">
              <a:buFont typeface="Arial" charset="0"/>
              <a:buChar char="•"/>
            </a:pPr>
            <a:r>
              <a:rPr lang="en-US" sz="2400" dirty="0">
                <a:solidFill>
                  <a:schemeClr val="tx1">
                    <a:lumMod val="50000"/>
                    <a:lumOff val="50000"/>
                  </a:schemeClr>
                </a:solidFill>
              </a:rPr>
              <a:t>Pure substances</a:t>
            </a:r>
          </a:p>
          <a:p>
            <a:pPr marL="685800" lvl="1" indent="-342900">
              <a:buFont typeface="Arial" charset="0"/>
              <a:buChar char="•"/>
            </a:pPr>
            <a:r>
              <a:rPr lang="en-US" sz="2400" dirty="0">
                <a:solidFill>
                  <a:schemeClr val="tx1">
                    <a:lumMod val="50000"/>
                    <a:lumOff val="50000"/>
                  </a:schemeClr>
                </a:solidFill>
              </a:rPr>
              <a:t>Formulations</a:t>
            </a:r>
          </a:p>
          <a:p>
            <a:pPr marL="685800" lvl="1" indent="-342900">
              <a:buFont typeface="Arial" charset="0"/>
              <a:buChar char="•"/>
            </a:pPr>
            <a:r>
              <a:rPr lang="en-US" sz="2400" dirty="0">
                <a:solidFill>
                  <a:schemeClr val="tx1">
                    <a:lumMod val="50000"/>
                    <a:lumOff val="50000"/>
                  </a:schemeClr>
                </a:solidFill>
              </a:rPr>
              <a:t>C</a:t>
            </a:r>
            <a:r>
              <a:rPr lang="en-US" sz="2400" dirty="0" smtClean="0">
                <a:solidFill>
                  <a:schemeClr val="tx1">
                    <a:lumMod val="50000"/>
                    <a:lumOff val="50000"/>
                  </a:schemeClr>
                </a:solidFill>
              </a:rPr>
              <a:t>hromatography</a:t>
            </a:r>
            <a:endParaRPr lang="en-US" sz="2400" dirty="0">
              <a:solidFill>
                <a:schemeClr val="tx1">
                  <a:lumMod val="50000"/>
                  <a:lumOff val="50000"/>
                </a:schemeClr>
              </a:solidFill>
            </a:endParaRPr>
          </a:p>
        </p:txBody>
      </p:sp>
      <p:pic>
        <p:nvPicPr>
          <p:cNvPr id="8" name="Picture 7"/>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Tree>
    <p:extLst>
      <p:ext uri="{BB962C8B-B14F-4D97-AF65-F5344CB8AC3E}">
        <p14:creationId xmlns:p14="http://schemas.microsoft.com/office/powerpoint/2010/main" val="632385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9672" y="35655"/>
            <a:ext cx="7524328" cy="657041"/>
          </a:xfrm>
        </p:spPr>
        <p:txBody>
          <a:bodyPr>
            <a:noAutofit/>
          </a:bodyPr>
          <a:lstStyle/>
          <a:p>
            <a:pPr marL="342900" lvl="1" algn="r"/>
            <a:r>
              <a:rPr lang="en-US" sz="2400" dirty="0">
                <a:solidFill>
                  <a:schemeClr val="accent6"/>
                </a:solidFill>
              </a:rPr>
              <a:t>Pure substances and Formulations</a:t>
            </a:r>
          </a:p>
        </p:txBody>
      </p:sp>
      <p:sp>
        <p:nvSpPr>
          <p:cNvPr id="4" name="TextBox 3"/>
          <p:cNvSpPr txBox="1"/>
          <p:nvPr/>
        </p:nvSpPr>
        <p:spPr>
          <a:xfrm>
            <a:off x="179512" y="764704"/>
            <a:ext cx="6552728" cy="707886"/>
          </a:xfrm>
          <a:prstGeom prst="rect">
            <a:avLst/>
          </a:prstGeom>
          <a:noFill/>
          <a:ln w="28575">
            <a:solidFill>
              <a:schemeClr val="accent6"/>
            </a:solidFill>
          </a:ln>
        </p:spPr>
        <p:txBody>
          <a:bodyPr wrap="square" rtlCol="0">
            <a:spAutoFit/>
          </a:bodyPr>
          <a:lstStyle/>
          <a:p>
            <a:r>
              <a:rPr lang="en-GB" sz="2000" dirty="0"/>
              <a:t>In chemistry, a </a:t>
            </a:r>
            <a:r>
              <a:rPr lang="en-GB" sz="2000" b="1" dirty="0">
                <a:solidFill>
                  <a:schemeClr val="accent6">
                    <a:lumMod val="75000"/>
                  </a:schemeClr>
                </a:solidFill>
              </a:rPr>
              <a:t>pure substance </a:t>
            </a:r>
            <a:r>
              <a:rPr lang="en-GB" sz="2000" dirty="0"/>
              <a:t>is a </a:t>
            </a:r>
            <a:r>
              <a:rPr lang="en-GB" sz="2000" b="1" dirty="0">
                <a:solidFill>
                  <a:schemeClr val="accent6">
                    <a:lumMod val="75000"/>
                  </a:schemeClr>
                </a:solidFill>
              </a:rPr>
              <a:t>single element or compound</a:t>
            </a:r>
            <a:r>
              <a:rPr lang="en-GB" sz="2000" dirty="0"/>
              <a:t> </a:t>
            </a:r>
            <a:r>
              <a:rPr lang="en-GB" sz="2000" b="1" dirty="0">
                <a:solidFill>
                  <a:schemeClr val="accent6">
                    <a:lumMod val="75000"/>
                  </a:schemeClr>
                </a:solidFill>
              </a:rPr>
              <a:t>not mixed </a:t>
            </a:r>
            <a:r>
              <a:rPr lang="en-GB" sz="2000" dirty="0"/>
              <a:t>with any other substance.</a:t>
            </a:r>
          </a:p>
        </p:txBody>
      </p:sp>
      <p:sp>
        <p:nvSpPr>
          <p:cNvPr id="5" name="TextBox 4"/>
          <p:cNvSpPr txBox="1"/>
          <p:nvPr/>
        </p:nvSpPr>
        <p:spPr>
          <a:xfrm>
            <a:off x="6834775" y="764704"/>
            <a:ext cx="2296284" cy="707886"/>
          </a:xfrm>
          <a:custGeom>
            <a:avLst/>
            <a:gdLst>
              <a:gd name="connsiteX0" fmla="*/ 0 w 1872208"/>
              <a:gd name="connsiteY0" fmla="*/ 0 h 646331"/>
              <a:gd name="connsiteX1" fmla="*/ 1872208 w 1872208"/>
              <a:gd name="connsiteY1" fmla="*/ 0 h 646331"/>
              <a:gd name="connsiteX2" fmla="*/ 1872208 w 1872208"/>
              <a:gd name="connsiteY2" fmla="*/ 646331 h 646331"/>
              <a:gd name="connsiteX3" fmla="*/ 0 w 1872208"/>
              <a:gd name="connsiteY3" fmla="*/ 646331 h 646331"/>
              <a:gd name="connsiteX4" fmla="*/ 0 w 1872208"/>
              <a:gd name="connsiteY4" fmla="*/ 0 h 646331"/>
              <a:gd name="connsiteX0" fmla="*/ 0 w 1885087"/>
              <a:gd name="connsiteY0" fmla="*/ 90152 h 646331"/>
              <a:gd name="connsiteX1" fmla="*/ 1885087 w 1885087"/>
              <a:gd name="connsiteY1" fmla="*/ 0 h 646331"/>
              <a:gd name="connsiteX2" fmla="*/ 1885087 w 1885087"/>
              <a:gd name="connsiteY2" fmla="*/ 646331 h 646331"/>
              <a:gd name="connsiteX3" fmla="*/ 12879 w 1885087"/>
              <a:gd name="connsiteY3" fmla="*/ 646331 h 646331"/>
              <a:gd name="connsiteX4" fmla="*/ 0 w 1885087"/>
              <a:gd name="connsiteY4" fmla="*/ 90152 h 646331"/>
              <a:gd name="connsiteX0" fmla="*/ 0 w 1897966"/>
              <a:gd name="connsiteY0" fmla="*/ 0 h 556179"/>
              <a:gd name="connsiteX1" fmla="*/ 1897966 w 1897966"/>
              <a:gd name="connsiteY1" fmla="*/ 0 h 556179"/>
              <a:gd name="connsiteX2" fmla="*/ 1885087 w 1897966"/>
              <a:gd name="connsiteY2" fmla="*/ 556179 h 556179"/>
              <a:gd name="connsiteX3" fmla="*/ 12879 w 1897966"/>
              <a:gd name="connsiteY3" fmla="*/ 556179 h 556179"/>
              <a:gd name="connsiteX4" fmla="*/ 0 w 1897966"/>
              <a:gd name="connsiteY4" fmla="*/ 0 h 556179"/>
              <a:gd name="connsiteX0" fmla="*/ 12879 w 1910845"/>
              <a:gd name="connsiteY0" fmla="*/ 0 h 633452"/>
              <a:gd name="connsiteX1" fmla="*/ 1910845 w 1910845"/>
              <a:gd name="connsiteY1" fmla="*/ 0 h 633452"/>
              <a:gd name="connsiteX2" fmla="*/ 1897966 w 1910845"/>
              <a:gd name="connsiteY2" fmla="*/ 556179 h 633452"/>
              <a:gd name="connsiteX3" fmla="*/ 0 w 1910845"/>
              <a:gd name="connsiteY3" fmla="*/ 633452 h 633452"/>
              <a:gd name="connsiteX4" fmla="*/ 12879 w 1910845"/>
              <a:gd name="connsiteY4" fmla="*/ 0 h 633452"/>
              <a:gd name="connsiteX0" fmla="*/ 12879 w 1910845"/>
              <a:gd name="connsiteY0" fmla="*/ 0 h 633452"/>
              <a:gd name="connsiteX1" fmla="*/ 1910845 w 1910845"/>
              <a:gd name="connsiteY1" fmla="*/ 0 h 633452"/>
              <a:gd name="connsiteX2" fmla="*/ 1910845 w 1910845"/>
              <a:gd name="connsiteY2" fmla="*/ 633452 h 633452"/>
              <a:gd name="connsiteX3" fmla="*/ 0 w 1910845"/>
              <a:gd name="connsiteY3" fmla="*/ 633452 h 633452"/>
              <a:gd name="connsiteX4" fmla="*/ 12879 w 1910845"/>
              <a:gd name="connsiteY4" fmla="*/ 0 h 633452"/>
              <a:gd name="connsiteX0" fmla="*/ 0 w 1923724"/>
              <a:gd name="connsiteY0" fmla="*/ 0 h 633452"/>
              <a:gd name="connsiteX1" fmla="*/ 1923724 w 1923724"/>
              <a:gd name="connsiteY1" fmla="*/ 0 h 633452"/>
              <a:gd name="connsiteX2" fmla="*/ 1923724 w 1923724"/>
              <a:gd name="connsiteY2" fmla="*/ 633452 h 633452"/>
              <a:gd name="connsiteX3" fmla="*/ 12879 w 1923724"/>
              <a:gd name="connsiteY3" fmla="*/ 633452 h 633452"/>
              <a:gd name="connsiteX4" fmla="*/ 0 w 1923724"/>
              <a:gd name="connsiteY4" fmla="*/ 0 h 633452"/>
              <a:gd name="connsiteX0" fmla="*/ 12879 w 1910845"/>
              <a:gd name="connsiteY0" fmla="*/ 0 h 633452"/>
              <a:gd name="connsiteX1" fmla="*/ 1910845 w 1910845"/>
              <a:gd name="connsiteY1" fmla="*/ 0 h 633452"/>
              <a:gd name="connsiteX2" fmla="*/ 1910845 w 1910845"/>
              <a:gd name="connsiteY2" fmla="*/ 633452 h 633452"/>
              <a:gd name="connsiteX3" fmla="*/ 0 w 1910845"/>
              <a:gd name="connsiteY3" fmla="*/ 633452 h 633452"/>
              <a:gd name="connsiteX4" fmla="*/ 12879 w 1910845"/>
              <a:gd name="connsiteY4" fmla="*/ 0 h 633452"/>
              <a:gd name="connsiteX0" fmla="*/ 0 w 1924076"/>
              <a:gd name="connsiteY0" fmla="*/ 0 h 633452"/>
              <a:gd name="connsiteX1" fmla="*/ 1924076 w 1924076"/>
              <a:gd name="connsiteY1" fmla="*/ 0 h 633452"/>
              <a:gd name="connsiteX2" fmla="*/ 1924076 w 1924076"/>
              <a:gd name="connsiteY2" fmla="*/ 633452 h 633452"/>
              <a:gd name="connsiteX3" fmla="*/ 13231 w 1924076"/>
              <a:gd name="connsiteY3" fmla="*/ 633452 h 633452"/>
              <a:gd name="connsiteX4" fmla="*/ 0 w 1924076"/>
              <a:gd name="connsiteY4" fmla="*/ 0 h 633452"/>
              <a:gd name="connsiteX0" fmla="*/ 12879 w 1910845"/>
              <a:gd name="connsiteY0" fmla="*/ 0 h 633452"/>
              <a:gd name="connsiteX1" fmla="*/ 1910845 w 1910845"/>
              <a:gd name="connsiteY1" fmla="*/ 0 h 633452"/>
              <a:gd name="connsiteX2" fmla="*/ 1910845 w 1910845"/>
              <a:gd name="connsiteY2" fmla="*/ 633452 h 633452"/>
              <a:gd name="connsiteX3" fmla="*/ 0 w 1910845"/>
              <a:gd name="connsiteY3" fmla="*/ 633452 h 633452"/>
              <a:gd name="connsiteX4" fmla="*/ 12879 w 1910845"/>
              <a:gd name="connsiteY4" fmla="*/ 0 h 633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0845" h="633452">
                <a:moveTo>
                  <a:pt x="12879" y="0"/>
                </a:moveTo>
                <a:lnTo>
                  <a:pt x="1910845" y="0"/>
                </a:lnTo>
                <a:lnTo>
                  <a:pt x="1910845" y="633452"/>
                </a:lnTo>
                <a:lnTo>
                  <a:pt x="0" y="633452"/>
                </a:lnTo>
                <a:lnTo>
                  <a:pt x="12879" y="0"/>
                </a:lnTo>
                <a:close/>
              </a:path>
            </a:pathLst>
          </a:custGeom>
          <a:solidFill>
            <a:schemeClr val="accent6"/>
          </a:solidFill>
          <a:ln w="28575">
            <a:solidFill>
              <a:schemeClr val="tx1"/>
            </a:solidFill>
          </a:ln>
        </p:spPr>
        <p:txBody>
          <a:bodyPr wrap="square" rtlCol="0">
            <a:spAutoFit/>
          </a:bodyPr>
          <a:lstStyle/>
          <a:p>
            <a:pPr algn="ctr"/>
            <a:r>
              <a:rPr lang="en-GB" sz="2000" dirty="0"/>
              <a:t>Learn this definition for the exam </a:t>
            </a:r>
          </a:p>
        </p:txBody>
      </p:sp>
      <p:sp>
        <p:nvSpPr>
          <p:cNvPr id="7" name="TextBox 6"/>
          <p:cNvSpPr txBox="1"/>
          <p:nvPr/>
        </p:nvSpPr>
        <p:spPr>
          <a:xfrm>
            <a:off x="179512" y="1618418"/>
            <a:ext cx="3312368" cy="1938992"/>
          </a:xfrm>
          <a:custGeom>
            <a:avLst/>
            <a:gdLst>
              <a:gd name="connsiteX0" fmla="*/ 0 w 3312368"/>
              <a:gd name="connsiteY0" fmla="*/ 0 h 2031325"/>
              <a:gd name="connsiteX1" fmla="*/ 3312368 w 3312368"/>
              <a:gd name="connsiteY1" fmla="*/ 0 h 2031325"/>
              <a:gd name="connsiteX2" fmla="*/ 3312368 w 3312368"/>
              <a:gd name="connsiteY2" fmla="*/ 2031325 h 2031325"/>
              <a:gd name="connsiteX3" fmla="*/ 0 w 3312368"/>
              <a:gd name="connsiteY3" fmla="*/ 2031325 h 2031325"/>
              <a:gd name="connsiteX4" fmla="*/ 0 w 3312368"/>
              <a:gd name="connsiteY4" fmla="*/ 0 h 2031325"/>
              <a:gd name="connsiteX0" fmla="*/ 0 w 3312368"/>
              <a:gd name="connsiteY0" fmla="*/ 0 h 2031325"/>
              <a:gd name="connsiteX1" fmla="*/ 3312368 w 3312368"/>
              <a:gd name="connsiteY1" fmla="*/ 0 h 2031325"/>
              <a:gd name="connsiteX2" fmla="*/ 3312368 w 3312368"/>
              <a:gd name="connsiteY2" fmla="*/ 1735762 h 2031325"/>
              <a:gd name="connsiteX3" fmla="*/ 0 w 3312368"/>
              <a:gd name="connsiteY3" fmla="*/ 2031325 h 2031325"/>
              <a:gd name="connsiteX4" fmla="*/ 0 w 3312368"/>
              <a:gd name="connsiteY4" fmla="*/ 0 h 2031325"/>
              <a:gd name="connsiteX0" fmla="*/ 0 w 3312368"/>
              <a:gd name="connsiteY0" fmla="*/ 0 h 1744997"/>
              <a:gd name="connsiteX1" fmla="*/ 3312368 w 3312368"/>
              <a:gd name="connsiteY1" fmla="*/ 0 h 1744997"/>
              <a:gd name="connsiteX2" fmla="*/ 3312368 w 3312368"/>
              <a:gd name="connsiteY2" fmla="*/ 1735762 h 1744997"/>
              <a:gd name="connsiteX3" fmla="*/ 9237 w 3312368"/>
              <a:gd name="connsiteY3" fmla="*/ 1744997 h 1744997"/>
              <a:gd name="connsiteX4" fmla="*/ 0 w 3312368"/>
              <a:gd name="connsiteY4" fmla="*/ 0 h 1744997"/>
              <a:gd name="connsiteX0" fmla="*/ 0 w 3312368"/>
              <a:gd name="connsiteY0" fmla="*/ 0 h 1735762"/>
              <a:gd name="connsiteX1" fmla="*/ 3312368 w 3312368"/>
              <a:gd name="connsiteY1" fmla="*/ 0 h 1735762"/>
              <a:gd name="connsiteX2" fmla="*/ 3312368 w 3312368"/>
              <a:gd name="connsiteY2" fmla="*/ 1735762 h 1735762"/>
              <a:gd name="connsiteX3" fmla="*/ 9237 w 3312368"/>
              <a:gd name="connsiteY3" fmla="*/ 1726525 h 1735762"/>
              <a:gd name="connsiteX4" fmla="*/ 0 w 3312368"/>
              <a:gd name="connsiteY4" fmla="*/ 0 h 1735762"/>
              <a:gd name="connsiteX0" fmla="*/ 0 w 3312368"/>
              <a:gd name="connsiteY0" fmla="*/ 0 h 1735762"/>
              <a:gd name="connsiteX1" fmla="*/ 3312368 w 3312368"/>
              <a:gd name="connsiteY1" fmla="*/ 0 h 1735762"/>
              <a:gd name="connsiteX2" fmla="*/ 3312368 w 3312368"/>
              <a:gd name="connsiteY2" fmla="*/ 1735762 h 1735762"/>
              <a:gd name="connsiteX3" fmla="*/ 0 w 3312368"/>
              <a:gd name="connsiteY3" fmla="*/ 1726525 h 1735762"/>
              <a:gd name="connsiteX4" fmla="*/ 0 w 3312368"/>
              <a:gd name="connsiteY4" fmla="*/ 0 h 1735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2368" h="1735762">
                <a:moveTo>
                  <a:pt x="0" y="0"/>
                </a:moveTo>
                <a:lnTo>
                  <a:pt x="3312368" y="0"/>
                </a:lnTo>
                <a:lnTo>
                  <a:pt x="3312368" y="1735762"/>
                </a:lnTo>
                <a:lnTo>
                  <a:pt x="0" y="1726525"/>
                </a:lnTo>
                <a:lnTo>
                  <a:pt x="0" y="0"/>
                </a:lnTo>
                <a:close/>
              </a:path>
            </a:pathLst>
          </a:custGeom>
          <a:noFill/>
          <a:ln w="28575">
            <a:solidFill>
              <a:schemeClr val="accent6"/>
            </a:solidFill>
          </a:ln>
        </p:spPr>
        <p:txBody>
          <a:bodyPr wrap="square" rtlCol="0">
            <a:spAutoFit/>
          </a:bodyPr>
          <a:lstStyle/>
          <a:p>
            <a:pPr algn="ctr"/>
            <a:r>
              <a:rPr lang="en-GB" sz="2000" b="1" dirty="0">
                <a:solidFill>
                  <a:schemeClr val="accent6">
                    <a:lumMod val="75000"/>
                  </a:schemeClr>
                </a:solidFill>
              </a:rPr>
              <a:t>Pure </a:t>
            </a:r>
            <a:r>
              <a:rPr lang="en-GB" sz="2000" b="1" dirty="0" smtClean="0">
                <a:solidFill>
                  <a:schemeClr val="accent6">
                    <a:lumMod val="75000"/>
                  </a:schemeClr>
                </a:solidFill>
              </a:rPr>
              <a:t>substances </a:t>
            </a:r>
            <a:r>
              <a:rPr lang="en-GB" sz="2000" dirty="0" smtClean="0"/>
              <a:t>have </a:t>
            </a:r>
            <a:r>
              <a:rPr lang="en-GB" sz="2000" b="1" dirty="0" smtClean="0">
                <a:solidFill>
                  <a:schemeClr val="accent6">
                    <a:lumMod val="75000"/>
                  </a:schemeClr>
                </a:solidFill>
              </a:rPr>
              <a:t>specific </a:t>
            </a:r>
            <a:r>
              <a:rPr lang="en-GB" sz="2000" dirty="0" smtClean="0"/>
              <a:t>melting and boiling temperatures.</a:t>
            </a:r>
          </a:p>
          <a:p>
            <a:pPr algn="ctr"/>
            <a:r>
              <a:rPr lang="en-GB" sz="2000" dirty="0" smtClean="0"/>
              <a:t>These can be used to distinguish pure substances from mixtures</a:t>
            </a:r>
            <a:r>
              <a:rPr lang="en-GB" dirty="0" smtClean="0"/>
              <a:t>.</a:t>
            </a:r>
            <a:endParaRPr lang="en-GB" dirty="0"/>
          </a:p>
        </p:txBody>
      </p:sp>
      <p:sp>
        <p:nvSpPr>
          <p:cNvPr id="10" name="TextBox 9"/>
          <p:cNvSpPr txBox="1"/>
          <p:nvPr/>
        </p:nvSpPr>
        <p:spPr>
          <a:xfrm>
            <a:off x="183267" y="3681896"/>
            <a:ext cx="8663075" cy="707886"/>
          </a:xfrm>
          <a:prstGeom prst="rect">
            <a:avLst/>
          </a:prstGeom>
          <a:noFill/>
        </p:spPr>
        <p:txBody>
          <a:bodyPr wrap="square" rtlCol="0">
            <a:spAutoFit/>
          </a:bodyPr>
          <a:lstStyle/>
          <a:p>
            <a:pPr algn="ctr"/>
            <a:r>
              <a:rPr lang="en-GB" sz="2000" dirty="0"/>
              <a:t>In Science we would not refer </a:t>
            </a:r>
            <a:r>
              <a:rPr lang="en-GB" sz="2000" dirty="0" smtClean="0"/>
              <a:t>a substance such as </a:t>
            </a:r>
            <a:r>
              <a:rPr lang="en-GB" sz="2000" dirty="0"/>
              <a:t>milk as being pure as it is a mixture of a number of different substances.</a:t>
            </a:r>
          </a:p>
        </p:txBody>
      </p:sp>
      <p:sp>
        <p:nvSpPr>
          <p:cNvPr id="11" name="TextBox 10"/>
          <p:cNvSpPr txBox="1"/>
          <p:nvPr/>
        </p:nvSpPr>
        <p:spPr>
          <a:xfrm>
            <a:off x="208402" y="4643564"/>
            <a:ext cx="8673199" cy="1631216"/>
          </a:xfrm>
          <a:custGeom>
            <a:avLst/>
            <a:gdLst>
              <a:gd name="connsiteX0" fmla="*/ 0 w 8663075"/>
              <a:gd name="connsiteY0" fmla="*/ 0 h 1754326"/>
              <a:gd name="connsiteX1" fmla="*/ 8663075 w 8663075"/>
              <a:gd name="connsiteY1" fmla="*/ 0 h 1754326"/>
              <a:gd name="connsiteX2" fmla="*/ 8663075 w 8663075"/>
              <a:gd name="connsiteY2" fmla="*/ 1754326 h 1754326"/>
              <a:gd name="connsiteX3" fmla="*/ 0 w 8663075"/>
              <a:gd name="connsiteY3" fmla="*/ 1754326 h 1754326"/>
              <a:gd name="connsiteX4" fmla="*/ 0 w 8663075"/>
              <a:gd name="connsiteY4" fmla="*/ 0 h 1754326"/>
              <a:gd name="connsiteX0" fmla="*/ 0 w 8663075"/>
              <a:gd name="connsiteY0" fmla="*/ 0 h 1754326"/>
              <a:gd name="connsiteX1" fmla="*/ 8663075 w 8663075"/>
              <a:gd name="connsiteY1" fmla="*/ 0 h 1754326"/>
              <a:gd name="connsiteX2" fmla="*/ 8663075 w 8663075"/>
              <a:gd name="connsiteY2" fmla="*/ 1754326 h 1754326"/>
              <a:gd name="connsiteX3" fmla="*/ 9237 w 8663075"/>
              <a:gd name="connsiteY3" fmla="*/ 1477235 h 1754326"/>
              <a:gd name="connsiteX4" fmla="*/ 0 w 8663075"/>
              <a:gd name="connsiteY4" fmla="*/ 0 h 1754326"/>
              <a:gd name="connsiteX0" fmla="*/ 0 w 8663075"/>
              <a:gd name="connsiteY0" fmla="*/ 0 h 1477235"/>
              <a:gd name="connsiteX1" fmla="*/ 8663075 w 8663075"/>
              <a:gd name="connsiteY1" fmla="*/ 0 h 1477235"/>
              <a:gd name="connsiteX2" fmla="*/ 8663075 w 8663075"/>
              <a:gd name="connsiteY2" fmla="*/ 1449526 h 1477235"/>
              <a:gd name="connsiteX3" fmla="*/ 9237 w 8663075"/>
              <a:gd name="connsiteY3" fmla="*/ 1477235 h 1477235"/>
              <a:gd name="connsiteX4" fmla="*/ 0 w 8663075"/>
              <a:gd name="connsiteY4" fmla="*/ 0 h 1477235"/>
              <a:gd name="connsiteX0" fmla="*/ 0 w 8663075"/>
              <a:gd name="connsiteY0" fmla="*/ 0 h 1477235"/>
              <a:gd name="connsiteX1" fmla="*/ 8663075 w 8663075"/>
              <a:gd name="connsiteY1" fmla="*/ 0 h 1477235"/>
              <a:gd name="connsiteX2" fmla="*/ 8663075 w 8663075"/>
              <a:gd name="connsiteY2" fmla="*/ 1458763 h 1477235"/>
              <a:gd name="connsiteX3" fmla="*/ 9237 w 8663075"/>
              <a:gd name="connsiteY3" fmla="*/ 1477235 h 1477235"/>
              <a:gd name="connsiteX4" fmla="*/ 0 w 8663075"/>
              <a:gd name="connsiteY4" fmla="*/ 0 h 1477235"/>
              <a:gd name="connsiteX0" fmla="*/ 0 w 8663075"/>
              <a:gd name="connsiteY0" fmla="*/ 0 h 1467998"/>
              <a:gd name="connsiteX1" fmla="*/ 8663075 w 8663075"/>
              <a:gd name="connsiteY1" fmla="*/ 0 h 1467998"/>
              <a:gd name="connsiteX2" fmla="*/ 8663075 w 8663075"/>
              <a:gd name="connsiteY2" fmla="*/ 1458763 h 1467998"/>
              <a:gd name="connsiteX3" fmla="*/ 9237 w 8663075"/>
              <a:gd name="connsiteY3" fmla="*/ 1467998 h 1467998"/>
              <a:gd name="connsiteX4" fmla="*/ 0 w 8663075"/>
              <a:gd name="connsiteY4" fmla="*/ 0 h 1467998"/>
              <a:gd name="connsiteX0" fmla="*/ 9235 w 8672310"/>
              <a:gd name="connsiteY0" fmla="*/ 0 h 1467998"/>
              <a:gd name="connsiteX1" fmla="*/ 8672310 w 8672310"/>
              <a:gd name="connsiteY1" fmla="*/ 0 h 1467998"/>
              <a:gd name="connsiteX2" fmla="*/ 8672310 w 8672310"/>
              <a:gd name="connsiteY2" fmla="*/ 1458763 h 1467998"/>
              <a:gd name="connsiteX3" fmla="*/ 0 w 8672310"/>
              <a:gd name="connsiteY3" fmla="*/ 1467998 h 1467998"/>
              <a:gd name="connsiteX4" fmla="*/ 9235 w 8672310"/>
              <a:gd name="connsiteY4" fmla="*/ 0 h 1467998"/>
              <a:gd name="connsiteX0" fmla="*/ 889 w 8663964"/>
              <a:gd name="connsiteY0" fmla="*/ 0 h 1467998"/>
              <a:gd name="connsiteX1" fmla="*/ 8663964 w 8663964"/>
              <a:gd name="connsiteY1" fmla="*/ 0 h 1467998"/>
              <a:gd name="connsiteX2" fmla="*/ 8663964 w 8663964"/>
              <a:gd name="connsiteY2" fmla="*/ 1458763 h 1467998"/>
              <a:gd name="connsiteX3" fmla="*/ 890 w 8663964"/>
              <a:gd name="connsiteY3" fmla="*/ 1467998 h 1467998"/>
              <a:gd name="connsiteX4" fmla="*/ 889 w 8663964"/>
              <a:gd name="connsiteY4" fmla="*/ 0 h 1467998"/>
              <a:gd name="connsiteX0" fmla="*/ 9236 w 8672311"/>
              <a:gd name="connsiteY0" fmla="*/ 0 h 1458763"/>
              <a:gd name="connsiteX1" fmla="*/ 8672311 w 8672311"/>
              <a:gd name="connsiteY1" fmla="*/ 0 h 1458763"/>
              <a:gd name="connsiteX2" fmla="*/ 8672311 w 8672311"/>
              <a:gd name="connsiteY2" fmla="*/ 1458763 h 1458763"/>
              <a:gd name="connsiteX3" fmla="*/ 0 w 8672311"/>
              <a:gd name="connsiteY3" fmla="*/ 1458762 h 1458763"/>
              <a:gd name="connsiteX4" fmla="*/ 9236 w 8672311"/>
              <a:gd name="connsiteY4" fmla="*/ 0 h 1458763"/>
              <a:gd name="connsiteX0" fmla="*/ 888 w 8673199"/>
              <a:gd name="connsiteY0" fmla="*/ 9237 h 1458763"/>
              <a:gd name="connsiteX1" fmla="*/ 8673199 w 8673199"/>
              <a:gd name="connsiteY1" fmla="*/ 0 h 1458763"/>
              <a:gd name="connsiteX2" fmla="*/ 8673199 w 8673199"/>
              <a:gd name="connsiteY2" fmla="*/ 1458763 h 1458763"/>
              <a:gd name="connsiteX3" fmla="*/ 888 w 8673199"/>
              <a:gd name="connsiteY3" fmla="*/ 1458762 h 1458763"/>
              <a:gd name="connsiteX4" fmla="*/ 888 w 8673199"/>
              <a:gd name="connsiteY4" fmla="*/ 9237 h 1458763"/>
              <a:gd name="connsiteX0" fmla="*/ 888 w 8673199"/>
              <a:gd name="connsiteY0" fmla="*/ 0 h 1458763"/>
              <a:gd name="connsiteX1" fmla="*/ 8673199 w 8673199"/>
              <a:gd name="connsiteY1" fmla="*/ 0 h 1458763"/>
              <a:gd name="connsiteX2" fmla="*/ 8673199 w 8673199"/>
              <a:gd name="connsiteY2" fmla="*/ 1458763 h 1458763"/>
              <a:gd name="connsiteX3" fmla="*/ 888 w 8673199"/>
              <a:gd name="connsiteY3" fmla="*/ 1458762 h 1458763"/>
              <a:gd name="connsiteX4" fmla="*/ 888 w 8673199"/>
              <a:gd name="connsiteY4" fmla="*/ 0 h 1458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3199" h="1458763">
                <a:moveTo>
                  <a:pt x="888" y="0"/>
                </a:moveTo>
                <a:lnTo>
                  <a:pt x="8673199" y="0"/>
                </a:lnTo>
                <a:lnTo>
                  <a:pt x="8673199" y="1458763"/>
                </a:lnTo>
                <a:lnTo>
                  <a:pt x="888" y="1458762"/>
                </a:lnTo>
                <a:cubicBezTo>
                  <a:pt x="3966" y="969429"/>
                  <a:pt x="-2190" y="489333"/>
                  <a:pt x="888" y="0"/>
                </a:cubicBezTo>
                <a:close/>
              </a:path>
            </a:pathLst>
          </a:custGeom>
          <a:noFill/>
          <a:ln w="28575">
            <a:solidFill>
              <a:schemeClr val="accent6"/>
            </a:solidFill>
          </a:ln>
        </p:spPr>
        <p:txBody>
          <a:bodyPr wrap="square" rtlCol="0">
            <a:spAutoFit/>
          </a:bodyPr>
          <a:lstStyle/>
          <a:p>
            <a:r>
              <a:rPr lang="en-GB" sz="2000" dirty="0"/>
              <a:t>A </a:t>
            </a:r>
            <a:r>
              <a:rPr lang="en-GB" sz="2000" b="1" dirty="0">
                <a:solidFill>
                  <a:schemeClr val="accent6">
                    <a:lumMod val="75000"/>
                  </a:schemeClr>
                </a:solidFill>
              </a:rPr>
              <a:t>formulatio</a:t>
            </a:r>
            <a:r>
              <a:rPr lang="en-GB" sz="2000" dirty="0"/>
              <a:t>n is a </a:t>
            </a:r>
            <a:r>
              <a:rPr lang="en-GB" sz="2000" b="1" dirty="0">
                <a:solidFill>
                  <a:schemeClr val="accent6">
                    <a:lumMod val="75000"/>
                  </a:schemeClr>
                </a:solidFill>
              </a:rPr>
              <a:t>mixture</a:t>
            </a:r>
            <a:r>
              <a:rPr lang="en-GB" sz="2000" dirty="0"/>
              <a:t> that has been designed as a useful product. </a:t>
            </a:r>
            <a:endParaRPr lang="en-GB" sz="2000" dirty="0" smtClean="0"/>
          </a:p>
          <a:p>
            <a:endParaRPr lang="en-GB" sz="2000" dirty="0"/>
          </a:p>
          <a:p>
            <a:r>
              <a:rPr lang="en-GB" sz="2000" dirty="0" smtClean="0"/>
              <a:t>Formulations </a:t>
            </a:r>
            <a:r>
              <a:rPr lang="en-GB" sz="2000" dirty="0"/>
              <a:t>are made by mixing the components in carefully measured quantities to ensures that the product has the required properties. Formulations include fuels, cleaning agents, paints, medicines, alloys, fertilisers and foods</a:t>
            </a:r>
          </a:p>
        </p:txBody>
      </p:sp>
      <p:grpSp>
        <p:nvGrpSpPr>
          <p:cNvPr id="12" name="Group 11"/>
          <p:cNvGrpSpPr/>
          <p:nvPr/>
        </p:nvGrpSpPr>
        <p:grpSpPr>
          <a:xfrm>
            <a:off x="3499831" y="1808443"/>
            <a:ext cx="2490769" cy="1873453"/>
            <a:chOff x="0" y="0"/>
            <a:chExt cx="2138680" cy="1478804"/>
          </a:xfrm>
        </p:grpSpPr>
        <p:grpSp>
          <p:nvGrpSpPr>
            <p:cNvPr id="13" name="Group 12"/>
            <p:cNvGrpSpPr/>
            <p:nvPr/>
          </p:nvGrpSpPr>
          <p:grpSpPr>
            <a:xfrm>
              <a:off x="254441" y="0"/>
              <a:ext cx="1622066" cy="1177152"/>
              <a:chOff x="0" y="0"/>
              <a:chExt cx="1622066" cy="1177152"/>
            </a:xfrm>
          </p:grpSpPr>
          <p:cxnSp>
            <p:nvCxnSpPr>
              <p:cNvPr id="15" name="Straight Connector 14"/>
              <p:cNvCxnSpPr/>
              <p:nvPr/>
            </p:nvCxnSpPr>
            <p:spPr>
              <a:xfrm flipH="1">
                <a:off x="381663" y="588396"/>
                <a:ext cx="922020" cy="0"/>
              </a:xfrm>
              <a:prstGeom prst="line">
                <a:avLst/>
              </a:prstGeom>
              <a:noFill/>
              <a:ln w="19050" cap="flat" cmpd="sng" algn="ctr">
                <a:solidFill>
                  <a:sysClr val="windowText" lastClr="000000"/>
                </a:solidFill>
                <a:prstDash val="solid"/>
                <a:miter lim="800000"/>
              </a:ln>
              <a:effectLst/>
            </p:spPr>
          </p:cxnSp>
          <p:cxnSp>
            <p:nvCxnSpPr>
              <p:cNvPr id="16" name="Straight Connector 15"/>
              <p:cNvCxnSpPr/>
              <p:nvPr/>
            </p:nvCxnSpPr>
            <p:spPr>
              <a:xfrm flipH="1">
                <a:off x="15903" y="588396"/>
                <a:ext cx="373711" cy="572494"/>
              </a:xfrm>
              <a:prstGeom prst="line">
                <a:avLst/>
              </a:prstGeom>
              <a:noFill/>
              <a:ln w="19050" cap="flat" cmpd="sng" algn="ctr">
                <a:solidFill>
                  <a:sysClr val="windowText" lastClr="000000"/>
                </a:solidFill>
                <a:prstDash val="solid"/>
                <a:miter lim="800000"/>
              </a:ln>
              <a:effectLst/>
            </p:spPr>
          </p:cxnSp>
          <p:cxnSp>
            <p:nvCxnSpPr>
              <p:cNvPr id="17" name="Straight Connector 16"/>
              <p:cNvCxnSpPr/>
              <p:nvPr/>
            </p:nvCxnSpPr>
            <p:spPr>
              <a:xfrm flipH="1">
                <a:off x="7952" y="0"/>
                <a:ext cx="7952" cy="1176434"/>
              </a:xfrm>
              <a:prstGeom prst="line">
                <a:avLst/>
              </a:prstGeom>
            </p:spPr>
            <p:style>
              <a:lnRef idx="3">
                <a:schemeClr val="dk1"/>
              </a:lnRef>
              <a:fillRef idx="0">
                <a:schemeClr val="dk1"/>
              </a:fillRef>
              <a:effectRef idx="2">
                <a:schemeClr val="dk1"/>
              </a:effectRef>
              <a:fontRef idx="minor">
                <a:schemeClr val="tx1"/>
              </a:fontRef>
            </p:style>
          </p:cxnSp>
          <p:cxnSp>
            <p:nvCxnSpPr>
              <p:cNvPr id="18" name="Straight Connector 17"/>
              <p:cNvCxnSpPr/>
              <p:nvPr/>
            </p:nvCxnSpPr>
            <p:spPr>
              <a:xfrm flipH="1">
                <a:off x="0" y="1176793"/>
                <a:ext cx="1614115" cy="359"/>
              </a:xfrm>
              <a:prstGeom prst="line">
                <a:avLst/>
              </a:prstGeom>
              <a:noFill/>
              <a:ln w="19050" cap="flat" cmpd="sng" algn="ctr">
                <a:solidFill>
                  <a:sysClr val="windowText" lastClr="000000"/>
                </a:solidFill>
                <a:prstDash val="solid"/>
                <a:miter lim="800000"/>
              </a:ln>
              <a:effectLst/>
            </p:spPr>
          </p:cxnSp>
          <p:cxnSp>
            <p:nvCxnSpPr>
              <p:cNvPr id="19" name="Straight Connector 18"/>
              <p:cNvCxnSpPr/>
              <p:nvPr/>
            </p:nvCxnSpPr>
            <p:spPr>
              <a:xfrm flipH="1">
                <a:off x="1304014" y="127221"/>
                <a:ext cx="318052" cy="460816"/>
              </a:xfrm>
              <a:prstGeom prst="line">
                <a:avLst/>
              </a:prstGeom>
              <a:noFill/>
              <a:ln w="19050" cap="flat" cmpd="sng" algn="ctr">
                <a:solidFill>
                  <a:sysClr val="windowText" lastClr="000000"/>
                </a:solidFill>
                <a:prstDash val="solid"/>
                <a:miter lim="800000"/>
              </a:ln>
              <a:effectLst/>
            </p:spPr>
          </p:cxnSp>
        </p:grpSp>
        <p:sp>
          <p:nvSpPr>
            <p:cNvPr id="14" name="Text Box 2"/>
            <p:cNvSpPr txBox="1">
              <a:spLocks noChangeArrowheads="1"/>
            </p:cNvSpPr>
            <p:nvPr/>
          </p:nvSpPr>
          <p:spPr bwMode="auto">
            <a:xfrm>
              <a:off x="0" y="1216549"/>
              <a:ext cx="2138680" cy="262255"/>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07000"/>
                </a:lnSpc>
                <a:spcAft>
                  <a:spcPts val="800"/>
                </a:spcAft>
              </a:pPr>
              <a:r>
                <a:rPr lang="en-GB" sz="1100">
                  <a:effectLst/>
                  <a:latin typeface="Calibri" panose="020F0502020204030204" pitchFamily="34" charset="0"/>
                  <a:ea typeface="Calibri" panose="020F0502020204030204" pitchFamily="34" charset="0"/>
                  <a:cs typeface="Times New Roman" panose="02020603050405020304" pitchFamily="18" charset="0"/>
                </a:rPr>
                <a:t>Melting point of a pure substance</a:t>
              </a:r>
            </a:p>
          </p:txBody>
        </p:sp>
      </p:grpSp>
      <p:grpSp>
        <p:nvGrpSpPr>
          <p:cNvPr id="20" name="Group 19"/>
          <p:cNvGrpSpPr/>
          <p:nvPr/>
        </p:nvGrpSpPr>
        <p:grpSpPr>
          <a:xfrm>
            <a:off x="5989546" y="1776692"/>
            <a:ext cx="2853040" cy="1905204"/>
            <a:chOff x="0" y="0"/>
            <a:chExt cx="2377440" cy="1510610"/>
          </a:xfrm>
        </p:grpSpPr>
        <p:grpSp>
          <p:nvGrpSpPr>
            <p:cNvPr id="21" name="Group 20"/>
            <p:cNvGrpSpPr/>
            <p:nvPr/>
          </p:nvGrpSpPr>
          <p:grpSpPr>
            <a:xfrm>
              <a:off x="278296" y="0"/>
              <a:ext cx="1614115" cy="1201006"/>
              <a:chOff x="0" y="0"/>
              <a:chExt cx="1614115" cy="1201006"/>
            </a:xfrm>
          </p:grpSpPr>
          <p:cxnSp>
            <p:nvCxnSpPr>
              <p:cNvPr id="23" name="Straight Connector 22"/>
              <p:cNvCxnSpPr/>
              <p:nvPr/>
            </p:nvCxnSpPr>
            <p:spPr>
              <a:xfrm flipH="1">
                <a:off x="7951" y="0"/>
                <a:ext cx="0" cy="1199791"/>
              </a:xfrm>
              <a:prstGeom prst="line">
                <a:avLst/>
              </a:prstGeom>
              <a:noFill/>
              <a:ln w="19050" cap="flat" cmpd="sng" algn="ctr">
                <a:solidFill>
                  <a:sysClr val="windowText" lastClr="000000"/>
                </a:solidFill>
                <a:prstDash val="solid"/>
                <a:miter lim="800000"/>
              </a:ln>
              <a:effectLst/>
            </p:spPr>
          </p:cxnSp>
          <p:cxnSp>
            <p:nvCxnSpPr>
              <p:cNvPr id="24" name="Straight Connector 23"/>
              <p:cNvCxnSpPr/>
              <p:nvPr/>
            </p:nvCxnSpPr>
            <p:spPr>
              <a:xfrm flipH="1">
                <a:off x="0" y="1200647"/>
                <a:ext cx="1614115" cy="359"/>
              </a:xfrm>
              <a:prstGeom prst="line">
                <a:avLst/>
              </a:prstGeom>
              <a:noFill/>
              <a:ln w="19050" cap="flat" cmpd="sng" algn="ctr">
                <a:solidFill>
                  <a:sysClr val="windowText" lastClr="000000"/>
                </a:solidFill>
                <a:prstDash val="solid"/>
                <a:miter lim="800000"/>
              </a:ln>
              <a:effectLst/>
            </p:spPr>
          </p:cxnSp>
          <p:sp>
            <p:nvSpPr>
              <p:cNvPr id="25" name="Freeform 24"/>
              <p:cNvSpPr/>
              <p:nvPr/>
            </p:nvSpPr>
            <p:spPr>
              <a:xfrm>
                <a:off x="7951" y="206734"/>
                <a:ext cx="1319917" cy="993913"/>
              </a:xfrm>
              <a:custGeom>
                <a:avLst/>
                <a:gdLst>
                  <a:gd name="connsiteX0" fmla="*/ 0 w 1319917"/>
                  <a:gd name="connsiteY0" fmla="*/ 993913 h 993913"/>
                  <a:gd name="connsiteX1" fmla="*/ 206734 w 1319917"/>
                  <a:gd name="connsiteY1" fmla="*/ 628153 h 993913"/>
                  <a:gd name="connsiteX2" fmla="*/ 890546 w 1319917"/>
                  <a:gd name="connsiteY2" fmla="*/ 429370 h 993913"/>
                  <a:gd name="connsiteX3" fmla="*/ 1319917 w 1319917"/>
                  <a:gd name="connsiteY3" fmla="*/ 0 h 993913"/>
                  <a:gd name="connsiteX4" fmla="*/ 1319917 w 1319917"/>
                  <a:gd name="connsiteY4" fmla="*/ 0 h 993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917" h="993913">
                    <a:moveTo>
                      <a:pt x="0" y="993913"/>
                    </a:moveTo>
                    <a:cubicBezTo>
                      <a:pt x="29155" y="858078"/>
                      <a:pt x="58310" y="722243"/>
                      <a:pt x="206734" y="628153"/>
                    </a:cubicBezTo>
                    <a:cubicBezTo>
                      <a:pt x="355158" y="534063"/>
                      <a:pt x="705015" y="534062"/>
                      <a:pt x="890546" y="429370"/>
                    </a:cubicBezTo>
                    <a:cubicBezTo>
                      <a:pt x="1076077" y="324678"/>
                      <a:pt x="1319917" y="0"/>
                      <a:pt x="1319917" y="0"/>
                    </a:cubicBezTo>
                    <a:lnTo>
                      <a:pt x="1319917" y="0"/>
                    </a:lnTo>
                  </a:path>
                </a:pathLst>
              </a:custGeom>
            </p:spPr>
            <p:style>
              <a:lnRef idx="3">
                <a:schemeClr val="dk1"/>
              </a:lnRef>
              <a:fillRef idx="0">
                <a:schemeClr val="dk1"/>
              </a:fillRef>
              <a:effectRef idx="2">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22" name="Text Box 2"/>
            <p:cNvSpPr txBox="1">
              <a:spLocks noChangeArrowheads="1"/>
            </p:cNvSpPr>
            <p:nvPr/>
          </p:nvSpPr>
          <p:spPr bwMode="auto">
            <a:xfrm>
              <a:off x="0" y="1248355"/>
              <a:ext cx="2377440" cy="262255"/>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07000"/>
                </a:lnSpc>
                <a:spcAft>
                  <a:spcPts val="800"/>
                </a:spcAft>
              </a:pPr>
              <a:r>
                <a:rPr lang="en-GB" sz="1100">
                  <a:effectLst/>
                  <a:latin typeface="Calibri" panose="020F0502020204030204" pitchFamily="34" charset="0"/>
                  <a:ea typeface="Calibri" panose="020F0502020204030204" pitchFamily="34" charset="0"/>
                  <a:cs typeface="Times New Roman" panose="02020603050405020304" pitchFamily="18" charset="0"/>
                </a:rPr>
                <a:t>Melting point of an impure substance</a:t>
              </a:r>
            </a:p>
          </p:txBody>
        </p:sp>
      </p:grpSp>
    </p:spTree>
    <p:extLst>
      <p:ext uri="{BB962C8B-B14F-4D97-AF65-F5344CB8AC3E}">
        <p14:creationId xmlns:p14="http://schemas.microsoft.com/office/powerpoint/2010/main" val="1270480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9672" y="35655"/>
            <a:ext cx="7524328"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200" b="1" dirty="0">
                <a:solidFill>
                  <a:schemeClr val="accent6"/>
                </a:solidFill>
              </a:rPr>
              <a:t>Chromatography</a:t>
            </a:r>
            <a:endParaRPr lang="en-GB" sz="2200" b="1" dirty="0">
              <a:solidFill>
                <a:schemeClr val="accent6"/>
              </a:solidFill>
            </a:endParaRPr>
          </a:p>
        </p:txBody>
      </p:sp>
      <p:sp>
        <p:nvSpPr>
          <p:cNvPr id="6" name="TextBox 5"/>
          <p:cNvSpPr txBox="1"/>
          <p:nvPr/>
        </p:nvSpPr>
        <p:spPr>
          <a:xfrm>
            <a:off x="179512" y="883914"/>
            <a:ext cx="5040560" cy="1323439"/>
          </a:xfrm>
          <a:prstGeom prst="rect">
            <a:avLst/>
          </a:prstGeom>
          <a:noFill/>
          <a:ln w="28575">
            <a:solidFill>
              <a:schemeClr val="accent6"/>
            </a:solidFill>
          </a:ln>
        </p:spPr>
        <p:txBody>
          <a:bodyPr wrap="square" rtlCol="0">
            <a:spAutoFit/>
          </a:bodyPr>
          <a:lstStyle/>
          <a:p>
            <a:r>
              <a:rPr lang="en-GB" sz="2000" dirty="0"/>
              <a:t>Chromatography can be used to </a:t>
            </a:r>
            <a:r>
              <a:rPr lang="en-GB" sz="2000" b="1" dirty="0">
                <a:solidFill>
                  <a:schemeClr val="accent6">
                    <a:lumMod val="75000"/>
                  </a:schemeClr>
                </a:solidFill>
              </a:rPr>
              <a:t>separate </a:t>
            </a:r>
            <a:r>
              <a:rPr lang="en-GB" sz="2000" b="1" dirty="0" smtClean="0">
                <a:solidFill>
                  <a:schemeClr val="accent6">
                    <a:lumMod val="75000"/>
                  </a:schemeClr>
                </a:solidFill>
              </a:rPr>
              <a:t>mixtures. </a:t>
            </a:r>
            <a:endParaRPr lang="en-GB" sz="2000" b="1" dirty="0">
              <a:solidFill>
                <a:schemeClr val="accent6">
                  <a:lumMod val="75000"/>
                </a:schemeClr>
              </a:solidFill>
            </a:endParaRPr>
          </a:p>
          <a:p>
            <a:r>
              <a:rPr lang="en-GB" sz="2000" dirty="0" smtClean="0"/>
              <a:t>Chromatography </a:t>
            </a:r>
            <a:r>
              <a:rPr lang="en-GB" sz="2000" dirty="0"/>
              <a:t>involves a </a:t>
            </a:r>
            <a:r>
              <a:rPr lang="en-GB" sz="2000" b="1" dirty="0">
                <a:solidFill>
                  <a:schemeClr val="accent6">
                    <a:lumMod val="75000"/>
                  </a:schemeClr>
                </a:solidFill>
              </a:rPr>
              <a:t>stationary phase</a:t>
            </a:r>
            <a:r>
              <a:rPr lang="en-GB" sz="2000" b="1" dirty="0"/>
              <a:t> </a:t>
            </a:r>
            <a:r>
              <a:rPr lang="en-GB" sz="2000" dirty="0"/>
              <a:t>and a </a:t>
            </a:r>
            <a:r>
              <a:rPr lang="en-GB" sz="2000" b="1" dirty="0">
                <a:solidFill>
                  <a:schemeClr val="accent6">
                    <a:lumMod val="75000"/>
                  </a:schemeClr>
                </a:solidFill>
              </a:rPr>
              <a:t>mobile phase</a:t>
            </a:r>
            <a:r>
              <a:rPr lang="en-GB" sz="2000" dirty="0"/>
              <a:t>. </a:t>
            </a:r>
          </a:p>
        </p:txBody>
      </p:sp>
      <p:sp>
        <p:nvSpPr>
          <p:cNvPr id="8" name="TextBox 7"/>
          <p:cNvSpPr txBox="1"/>
          <p:nvPr/>
        </p:nvSpPr>
        <p:spPr>
          <a:xfrm>
            <a:off x="192392" y="2430501"/>
            <a:ext cx="5027680" cy="1631216"/>
          </a:xfrm>
          <a:custGeom>
            <a:avLst/>
            <a:gdLst>
              <a:gd name="connsiteX0" fmla="*/ 0 w 8712968"/>
              <a:gd name="connsiteY0" fmla="*/ 0 h 1477328"/>
              <a:gd name="connsiteX1" fmla="*/ 8712968 w 8712968"/>
              <a:gd name="connsiteY1" fmla="*/ 0 h 1477328"/>
              <a:gd name="connsiteX2" fmla="*/ 8712968 w 8712968"/>
              <a:gd name="connsiteY2" fmla="*/ 1477328 h 1477328"/>
              <a:gd name="connsiteX3" fmla="*/ 0 w 8712968"/>
              <a:gd name="connsiteY3" fmla="*/ 1477328 h 1477328"/>
              <a:gd name="connsiteX4" fmla="*/ 0 w 8712968"/>
              <a:gd name="connsiteY4" fmla="*/ 0 h 1477328"/>
              <a:gd name="connsiteX0" fmla="*/ 0 w 8712968"/>
              <a:gd name="connsiteY0" fmla="*/ 0 h 2597790"/>
              <a:gd name="connsiteX1" fmla="*/ 8712968 w 8712968"/>
              <a:gd name="connsiteY1" fmla="*/ 0 h 2597790"/>
              <a:gd name="connsiteX2" fmla="*/ 8712968 w 8712968"/>
              <a:gd name="connsiteY2" fmla="*/ 1477328 h 2597790"/>
              <a:gd name="connsiteX3" fmla="*/ 0 w 8712968"/>
              <a:gd name="connsiteY3" fmla="*/ 2597790 h 2597790"/>
              <a:gd name="connsiteX4" fmla="*/ 0 w 8712968"/>
              <a:gd name="connsiteY4" fmla="*/ 0 h 2597790"/>
              <a:gd name="connsiteX0" fmla="*/ 0 w 8712968"/>
              <a:gd name="connsiteY0" fmla="*/ 0 h 2597790"/>
              <a:gd name="connsiteX1" fmla="*/ 8712968 w 8712968"/>
              <a:gd name="connsiteY1" fmla="*/ 0 h 2597790"/>
              <a:gd name="connsiteX2" fmla="*/ 8712968 w 8712968"/>
              <a:gd name="connsiteY2" fmla="*/ 2559154 h 2597790"/>
              <a:gd name="connsiteX3" fmla="*/ 0 w 8712968"/>
              <a:gd name="connsiteY3" fmla="*/ 2597790 h 2597790"/>
              <a:gd name="connsiteX4" fmla="*/ 0 w 8712968"/>
              <a:gd name="connsiteY4" fmla="*/ 0 h 2597790"/>
              <a:gd name="connsiteX0" fmla="*/ 0 w 8712968"/>
              <a:gd name="connsiteY0" fmla="*/ 0 h 2597790"/>
              <a:gd name="connsiteX1" fmla="*/ 8712968 w 8712968"/>
              <a:gd name="connsiteY1" fmla="*/ 0 h 2597790"/>
              <a:gd name="connsiteX2" fmla="*/ 8712968 w 8712968"/>
              <a:gd name="connsiteY2" fmla="*/ 2572033 h 2597790"/>
              <a:gd name="connsiteX3" fmla="*/ 0 w 8712968"/>
              <a:gd name="connsiteY3" fmla="*/ 2597790 h 2597790"/>
              <a:gd name="connsiteX4" fmla="*/ 0 w 8712968"/>
              <a:gd name="connsiteY4" fmla="*/ 0 h 2597790"/>
              <a:gd name="connsiteX0" fmla="*/ 0 w 8712968"/>
              <a:gd name="connsiteY0" fmla="*/ 0 h 2597790"/>
              <a:gd name="connsiteX1" fmla="*/ 8712968 w 8712968"/>
              <a:gd name="connsiteY1" fmla="*/ 0 h 2597790"/>
              <a:gd name="connsiteX2" fmla="*/ 8712968 w 8712968"/>
              <a:gd name="connsiteY2" fmla="*/ 2597790 h 2597790"/>
              <a:gd name="connsiteX3" fmla="*/ 0 w 8712968"/>
              <a:gd name="connsiteY3" fmla="*/ 2597790 h 2597790"/>
              <a:gd name="connsiteX4" fmla="*/ 0 w 8712968"/>
              <a:gd name="connsiteY4" fmla="*/ 0 h 2597790"/>
              <a:gd name="connsiteX0" fmla="*/ 0 w 8725846"/>
              <a:gd name="connsiteY0" fmla="*/ 991673 h 2597790"/>
              <a:gd name="connsiteX1" fmla="*/ 8725846 w 8725846"/>
              <a:gd name="connsiteY1" fmla="*/ 0 h 2597790"/>
              <a:gd name="connsiteX2" fmla="*/ 8725846 w 8725846"/>
              <a:gd name="connsiteY2" fmla="*/ 2597790 h 2597790"/>
              <a:gd name="connsiteX3" fmla="*/ 12878 w 8725846"/>
              <a:gd name="connsiteY3" fmla="*/ 2597790 h 2597790"/>
              <a:gd name="connsiteX4" fmla="*/ 0 w 8725846"/>
              <a:gd name="connsiteY4" fmla="*/ 991673 h 2597790"/>
              <a:gd name="connsiteX0" fmla="*/ 0 w 8725846"/>
              <a:gd name="connsiteY0" fmla="*/ 64394 h 1670511"/>
              <a:gd name="connsiteX1" fmla="*/ 8725846 w 8725846"/>
              <a:gd name="connsiteY1" fmla="*/ 0 h 1670511"/>
              <a:gd name="connsiteX2" fmla="*/ 8725846 w 8725846"/>
              <a:gd name="connsiteY2" fmla="*/ 1670511 h 1670511"/>
              <a:gd name="connsiteX3" fmla="*/ 12878 w 8725846"/>
              <a:gd name="connsiteY3" fmla="*/ 1670511 h 1670511"/>
              <a:gd name="connsiteX4" fmla="*/ 0 w 8725846"/>
              <a:gd name="connsiteY4" fmla="*/ 64394 h 1670511"/>
              <a:gd name="connsiteX0" fmla="*/ 0 w 8725846"/>
              <a:gd name="connsiteY0" fmla="*/ 38637 h 1644754"/>
              <a:gd name="connsiteX1" fmla="*/ 8725846 w 8725846"/>
              <a:gd name="connsiteY1" fmla="*/ 0 h 1644754"/>
              <a:gd name="connsiteX2" fmla="*/ 8725846 w 8725846"/>
              <a:gd name="connsiteY2" fmla="*/ 1644754 h 1644754"/>
              <a:gd name="connsiteX3" fmla="*/ 12878 w 8725846"/>
              <a:gd name="connsiteY3" fmla="*/ 1644754 h 1644754"/>
              <a:gd name="connsiteX4" fmla="*/ 0 w 8725846"/>
              <a:gd name="connsiteY4" fmla="*/ 38637 h 1644754"/>
              <a:gd name="connsiteX0" fmla="*/ 0 w 8725846"/>
              <a:gd name="connsiteY0" fmla="*/ 25758 h 1631875"/>
              <a:gd name="connsiteX1" fmla="*/ 8725846 w 8725846"/>
              <a:gd name="connsiteY1" fmla="*/ 0 h 1631875"/>
              <a:gd name="connsiteX2" fmla="*/ 8725846 w 8725846"/>
              <a:gd name="connsiteY2" fmla="*/ 1631875 h 1631875"/>
              <a:gd name="connsiteX3" fmla="*/ 12878 w 8725846"/>
              <a:gd name="connsiteY3" fmla="*/ 1631875 h 1631875"/>
              <a:gd name="connsiteX4" fmla="*/ 0 w 8725846"/>
              <a:gd name="connsiteY4" fmla="*/ 25758 h 1631875"/>
              <a:gd name="connsiteX0" fmla="*/ 0 w 8725846"/>
              <a:gd name="connsiteY0" fmla="*/ 0 h 1606117"/>
              <a:gd name="connsiteX1" fmla="*/ 8725846 w 8725846"/>
              <a:gd name="connsiteY1" fmla="*/ 12879 h 1606117"/>
              <a:gd name="connsiteX2" fmla="*/ 8725846 w 8725846"/>
              <a:gd name="connsiteY2" fmla="*/ 1606117 h 1606117"/>
              <a:gd name="connsiteX3" fmla="*/ 12878 w 8725846"/>
              <a:gd name="connsiteY3" fmla="*/ 1606117 h 1606117"/>
              <a:gd name="connsiteX4" fmla="*/ 0 w 8725846"/>
              <a:gd name="connsiteY4" fmla="*/ 0 h 1606117"/>
              <a:gd name="connsiteX0" fmla="*/ 0 w 8725846"/>
              <a:gd name="connsiteY0" fmla="*/ 0 h 1606117"/>
              <a:gd name="connsiteX1" fmla="*/ 8725846 w 8725846"/>
              <a:gd name="connsiteY1" fmla="*/ 12879 h 1606117"/>
              <a:gd name="connsiteX2" fmla="*/ 8725846 w 8725846"/>
              <a:gd name="connsiteY2" fmla="*/ 1606117 h 1606117"/>
              <a:gd name="connsiteX3" fmla="*/ 12878 w 8725846"/>
              <a:gd name="connsiteY3" fmla="*/ 1606117 h 1606117"/>
              <a:gd name="connsiteX4" fmla="*/ 0 w 8725846"/>
              <a:gd name="connsiteY4" fmla="*/ 0 h 1606117"/>
              <a:gd name="connsiteX0" fmla="*/ 31599 w 8712968"/>
              <a:gd name="connsiteY0" fmla="*/ 0 h 2007006"/>
              <a:gd name="connsiteX1" fmla="*/ 8712968 w 8712968"/>
              <a:gd name="connsiteY1" fmla="*/ 413768 h 2007006"/>
              <a:gd name="connsiteX2" fmla="*/ 8712968 w 8712968"/>
              <a:gd name="connsiteY2" fmla="*/ 2007006 h 2007006"/>
              <a:gd name="connsiteX3" fmla="*/ 0 w 8712968"/>
              <a:gd name="connsiteY3" fmla="*/ 2007006 h 2007006"/>
              <a:gd name="connsiteX4" fmla="*/ 31599 w 8712968"/>
              <a:gd name="connsiteY4" fmla="*/ 0 h 2007006"/>
              <a:gd name="connsiteX0" fmla="*/ 31599 w 8712968"/>
              <a:gd name="connsiteY0" fmla="*/ 0 h 2007006"/>
              <a:gd name="connsiteX1" fmla="*/ 8712968 w 8712968"/>
              <a:gd name="connsiteY1" fmla="*/ 24670 h 2007006"/>
              <a:gd name="connsiteX2" fmla="*/ 8712968 w 8712968"/>
              <a:gd name="connsiteY2" fmla="*/ 2007006 h 2007006"/>
              <a:gd name="connsiteX3" fmla="*/ 0 w 8712968"/>
              <a:gd name="connsiteY3" fmla="*/ 2007006 h 2007006"/>
              <a:gd name="connsiteX4" fmla="*/ 31599 w 8712968"/>
              <a:gd name="connsiteY4" fmla="*/ 0 h 2007006"/>
              <a:gd name="connsiteX0" fmla="*/ 31599 w 8712968"/>
              <a:gd name="connsiteY0" fmla="*/ 0 h 2007006"/>
              <a:gd name="connsiteX1" fmla="*/ 8712968 w 8712968"/>
              <a:gd name="connsiteY1" fmla="*/ 12879 h 2007006"/>
              <a:gd name="connsiteX2" fmla="*/ 8712968 w 8712968"/>
              <a:gd name="connsiteY2" fmla="*/ 2007006 h 2007006"/>
              <a:gd name="connsiteX3" fmla="*/ 0 w 8712968"/>
              <a:gd name="connsiteY3" fmla="*/ 2007006 h 2007006"/>
              <a:gd name="connsiteX4" fmla="*/ 31599 w 8712968"/>
              <a:gd name="connsiteY4" fmla="*/ 0 h 2007006"/>
              <a:gd name="connsiteX0" fmla="*/ 31599 w 8712968"/>
              <a:gd name="connsiteY0" fmla="*/ 0 h 2007006"/>
              <a:gd name="connsiteX1" fmla="*/ 8712968 w 8712968"/>
              <a:gd name="connsiteY1" fmla="*/ 12879 h 2007006"/>
              <a:gd name="connsiteX2" fmla="*/ 8712968 w 8712968"/>
              <a:gd name="connsiteY2" fmla="*/ 1629699 h 2007006"/>
              <a:gd name="connsiteX3" fmla="*/ 0 w 8712968"/>
              <a:gd name="connsiteY3" fmla="*/ 2007006 h 2007006"/>
              <a:gd name="connsiteX4" fmla="*/ 31599 w 8712968"/>
              <a:gd name="connsiteY4" fmla="*/ 0 h 2007006"/>
              <a:gd name="connsiteX0" fmla="*/ 0 w 8681369"/>
              <a:gd name="connsiteY0" fmla="*/ 0 h 1641490"/>
              <a:gd name="connsiteX1" fmla="*/ 8681369 w 8681369"/>
              <a:gd name="connsiteY1" fmla="*/ 12879 h 1641490"/>
              <a:gd name="connsiteX2" fmla="*/ 8681369 w 8681369"/>
              <a:gd name="connsiteY2" fmla="*/ 1629699 h 1641490"/>
              <a:gd name="connsiteX3" fmla="*/ 12878 w 8681369"/>
              <a:gd name="connsiteY3" fmla="*/ 1641490 h 1641490"/>
              <a:gd name="connsiteX4" fmla="*/ 0 w 8681369"/>
              <a:gd name="connsiteY4" fmla="*/ 0 h 1641490"/>
              <a:gd name="connsiteX0" fmla="*/ 0 w 8681369"/>
              <a:gd name="connsiteY0" fmla="*/ 0 h 1641490"/>
              <a:gd name="connsiteX1" fmla="*/ 8681369 w 8681369"/>
              <a:gd name="connsiteY1" fmla="*/ 1089 h 1641490"/>
              <a:gd name="connsiteX2" fmla="*/ 8681369 w 8681369"/>
              <a:gd name="connsiteY2" fmla="*/ 1629699 h 1641490"/>
              <a:gd name="connsiteX3" fmla="*/ 12878 w 8681369"/>
              <a:gd name="connsiteY3" fmla="*/ 1641490 h 1641490"/>
              <a:gd name="connsiteX4" fmla="*/ 0 w 8681369"/>
              <a:gd name="connsiteY4" fmla="*/ 0 h 1641490"/>
              <a:gd name="connsiteX0" fmla="*/ 0 w 8681369"/>
              <a:gd name="connsiteY0" fmla="*/ 10702 h 1652192"/>
              <a:gd name="connsiteX1" fmla="*/ 8681369 w 8681369"/>
              <a:gd name="connsiteY1" fmla="*/ 0 h 1652192"/>
              <a:gd name="connsiteX2" fmla="*/ 8681369 w 8681369"/>
              <a:gd name="connsiteY2" fmla="*/ 1640401 h 1652192"/>
              <a:gd name="connsiteX3" fmla="*/ 12878 w 8681369"/>
              <a:gd name="connsiteY3" fmla="*/ 1652192 h 1652192"/>
              <a:gd name="connsiteX4" fmla="*/ 0 w 8681369"/>
              <a:gd name="connsiteY4" fmla="*/ 10702 h 1652192"/>
              <a:gd name="connsiteX0" fmla="*/ 0 w 8681369"/>
              <a:gd name="connsiteY0" fmla="*/ 0 h 1641490"/>
              <a:gd name="connsiteX1" fmla="*/ 8681369 w 8681369"/>
              <a:gd name="connsiteY1" fmla="*/ 1089 h 1641490"/>
              <a:gd name="connsiteX2" fmla="*/ 8681369 w 8681369"/>
              <a:gd name="connsiteY2" fmla="*/ 1629699 h 1641490"/>
              <a:gd name="connsiteX3" fmla="*/ 12878 w 8681369"/>
              <a:gd name="connsiteY3" fmla="*/ 1641490 h 1641490"/>
              <a:gd name="connsiteX4" fmla="*/ 0 w 8681369"/>
              <a:gd name="connsiteY4" fmla="*/ 0 h 1641490"/>
              <a:gd name="connsiteX0" fmla="*/ 0 w 8681369"/>
              <a:gd name="connsiteY0" fmla="*/ 0 h 1641490"/>
              <a:gd name="connsiteX1" fmla="*/ 8681369 w 8681369"/>
              <a:gd name="connsiteY1" fmla="*/ 1089 h 1641490"/>
              <a:gd name="connsiteX2" fmla="*/ 8681369 w 8681369"/>
              <a:gd name="connsiteY2" fmla="*/ 1617908 h 1641490"/>
              <a:gd name="connsiteX3" fmla="*/ 12878 w 8681369"/>
              <a:gd name="connsiteY3" fmla="*/ 1641490 h 1641490"/>
              <a:gd name="connsiteX4" fmla="*/ 0 w 8681369"/>
              <a:gd name="connsiteY4" fmla="*/ 0 h 1641490"/>
              <a:gd name="connsiteX0" fmla="*/ 0 w 8681369"/>
              <a:gd name="connsiteY0" fmla="*/ 0 h 1617908"/>
              <a:gd name="connsiteX1" fmla="*/ 8681369 w 8681369"/>
              <a:gd name="connsiteY1" fmla="*/ 1089 h 1617908"/>
              <a:gd name="connsiteX2" fmla="*/ 8681369 w 8681369"/>
              <a:gd name="connsiteY2" fmla="*/ 1617908 h 1617908"/>
              <a:gd name="connsiteX3" fmla="*/ 12878 w 8681369"/>
              <a:gd name="connsiteY3" fmla="*/ 1617908 h 1617908"/>
              <a:gd name="connsiteX4" fmla="*/ 0 w 8681369"/>
              <a:gd name="connsiteY4" fmla="*/ 0 h 1617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81369" h="1617908">
                <a:moveTo>
                  <a:pt x="0" y="0"/>
                </a:moveTo>
                <a:lnTo>
                  <a:pt x="8681369" y="1089"/>
                </a:lnTo>
                <a:lnTo>
                  <a:pt x="8681369" y="1617908"/>
                </a:lnTo>
                <a:lnTo>
                  <a:pt x="12878" y="1617908"/>
                </a:lnTo>
                <a:lnTo>
                  <a:pt x="0" y="0"/>
                </a:lnTo>
                <a:close/>
              </a:path>
            </a:pathLst>
          </a:custGeom>
          <a:noFill/>
          <a:ln w="28575">
            <a:solidFill>
              <a:schemeClr val="accent6"/>
            </a:solidFill>
          </a:ln>
        </p:spPr>
        <p:txBody>
          <a:bodyPr wrap="square" rtlCol="0">
            <a:spAutoFit/>
          </a:bodyPr>
          <a:lstStyle/>
          <a:p>
            <a:r>
              <a:rPr lang="en-GB" sz="2000" dirty="0"/>
              <a:t>The ratio of the distance moved by a compound (centre of spot from origin) </a:t>
            </a:r>
            <a:r>
              <a:rPr lang="en-GB" sz="2000" dirty="0" smtClean="0"/>
              <a:t>can </a:t>
            </a:r>
            <a:r>
              <a:rPr lang="en-GB" sz="2000" dirty="0"/>
              <a:t>be expressed as it’s </a:t>
            </a:r>
            <a:r>
              <a:rPr lang="en-GB" sz="2000" dirty="0" err="1"/>
              <a:t>R</a:t>
            </a:r>
            <a:r>
              <a:rPr lang="en-GB" sz="2000" baseline="-25000" dirty="0" err="1"/>
              <a:t>f</a:t>
            </a:r>
            <a:r>
              <a:rPr lang="en-GB" sz="2000" dirty="0"/>
              <a:t> value</a:t>
            </a:r>
            <a:r>
              <a:rPr lang="en-GB" sz="2000" dirty="0" smtClean="0"/>
              <a:t>:</a:t>
            </a:r>
            <a:endParaRPr lang="en-GB" sz="2000" dirty="0"/>
          </a:p>
          <a:p>
            <a:pPr algn="ctr"/>
            <a:r>
              <a:rPr lang="en-GB" sz="2000" b="1" dirty="0" err="1">
                <a:solidFill>
                  <a:schemeClr val="accent6">
                    <a:lumMod val="75000"/>
                  </a:schemeClr>
                </a:solidFill>
              </a:rPr>
              <a:t>R</a:t>
            </a:r>
            <a:r>
              <a:rPr lang="en-GB" sz="2000" b="1" baseline="-25000" dirty="0" err="1">
                <a:solidFill>
                  <a:schemeClr val="accent6">
                    <a:lumMod val="75000"/>
                  </a:schemeClr>
                </a:solidFill>
              </a:rPr>
              <a:t>f</a:t>
            </a:r>
            <a:r>
              <a:rPr lang="en-GB" sz="2000" b="1" dirty="0">
                <a:solidFill>
                  <a:schemeClr val="accent6">
                    <a:lumMod val="75000"/>
                  </a:schemeClr>
                </a:solidFill>
              </a:rPr>
              <a:t>  =  </a:t>
            </a:r>
            <a:r>
              <a:rPr lang="en-GB" sz="2000" b="1" u="sng" dirty="0">
                <a:solidFill>
                  <a:schemeClr val="accent6">
                    <a:lumMod val="75000"/>
                  </a:schemeClr>
                </a:solidFill>
              </a:rPr>
              <a:t>distance moved by substance</a:t>
            </a:r>
          </a:p>
          <a:p>
            <a:pPr algn="ctr"/>
            <a:r>
              <a:rPr lang="en-GB" sz="2000" b="1" dirty="0">
                <a:solidFill>
                  <a:schemeClr val="accent6">
                    <a:lumMod val="75000"/>
                  </a:schemeClr>
                </a:solidFill>
              </a:rPr>
              <a:t>         distance moved by solvent</a:t>
            </a:r>
          </a:p>
        </p:txBody>
      </p:sp>
      <p:sp>
        <p:nvSpPr>
          <p:cNvPr id="10" name="TextBox 9"/>
          <p:cNvSpPr txBox="1"/>
          <p:nvPr/>
        </p:nvSpPr>
        <p:spPr>
          <a:xfrm>
            <a:off x="210141" y="4078225"/>
            <a:ext cx="5171695" cy="1323439"/>
          </a:xfrm>
          <a:prstGeom prst="rect">
            <a:avLst/>
          </a:prstGeom>
          <a:noFill/>
        </p:spPr>
        <p:txBody>
          <a:bodyPr wrap="square" rtlCol="0">
            <a:spAutoFit/>
          </a:bodyPr>
          <a:lstStyle/>
          <a:p>
            <a:r>
              <a:rPr lang="en-GB" sz="2000" dirty="0"/>
              <a:t>When calculating the </a:t>
            </a:r>
            <a:r>
              <a:rPr lang="en-GB" sz="2000" dirty="0" err="1"/>
              <a:t>R</a:t>
            </a:r>
            <a:r>
              <a:rPr lang="en-GB" sz="2000" baseline="-25000" dirty="0" err="1"/>
              <a:t>f</a:t>
            </a:r>
            <a:r>
              <a:rPr lang="en-GB" sz="2000" dirty="0"/>
              <a:t> value remember the </a:t>
            </a:r>
            <a:r>
              <a:rPr lang="en-GB" sz="2000" b="1" dirty="0">
                <a:solidFill>
                  <a:schemeClr val="accent6">
                    <a:lumMod val="75000"/>
                  </a:schemeClr>
                </a:solidFill>
              </a:rPr>
              <a:t>solvent will always travel further than the substance </a:t>
            </a:r>
            <a:r>
              <a:rPr lang="en-GB" sz="2000" dirty="0"/>
              <a:t>so the </a:t>
            </a:r>
            <a:r>
              <a:rPr lang="en-GB" sz="2000" b="1" dirty="0" err="1">
                <a:solidFill>
                  <a:schemeClr val="accent6">
                    <a:lumMod val="75000"/>
                  </a:schemeClr>
                </a:solidFill>
              </a:rPr>
              <a:t>R</a:t>
            </a:r>
            <a:r>
              <a:rPr lang="en-GB" sz="2000" b="1" baseline="-25000" dirty="0" err="1">
                <a:solidFill>
                  <a:schemeClr val="accent6">
                    <a:lumMod val="75000"/>
                  </a:schemeClr>
                </a:solidFill>
              </a:rPr>
              <a:t>f</a:t>
            </a:r>
            <a:r>
              <a:rPr lang="en-GB" sz="2000" b="1" dirty="0">
                <a:solidFill>
                  <a:schemeClr val="accent6">
                    <a:lumMod val="75000"/>
                  </a:schemeClr>
                </a:solidFill>
              </a:rPr>
              <a:t> value can never be greater than 1</a:t>
            </a:r>
            <a:r>
              <a:rPr lang="en-GB" sz="2000" dirty="0"/>
              <a:t>.</a:t>
            </a:r>
          </a:p>
        </p:txBody>
      </p:sp>
      <p:sp>
        <p:nvSpPr>
          <p:cNvPr id="12" name="TextBox 11"/>
          <p:cNvSpPr txBox="1"/>
          <p:nvPr/>
        </p:nvSpPr>
        <p:spPr>
          <a:xfrm>
            <a:off x="192392" y="5453864"/>
            <a:ext cx="8700088" cy="1015663"/>
          </a:xfrm>
          <a:custGeom>
            <a:avLst/>
            <a:gdLst>
              <a:gd name="connsiteX0" fmla="*/ 0 w 8700088"/>
              <a:gd name="connsiteY0" fmla="*/ 0 h 1200329"/>
              <a:gd name="connsiteX1" fmla="*/ 8700088 w 8700088"/>
              <a:gd name="connsiteY1" fmla="*/ 0 h 1200329"/>
              <a:gd name="connsiteX2" fmla="*/ 8700088 w 8700088"/>
              <a:gd name="connsiteY2" fmla="*/ 1200329 h 1200329"/>
              <a:gd name="connsiteX3" fmla="*/ 0 w 8700088"/>
              <a:gd name="connsiteY3" fmla="*/ 1200329 h 1200329"/>
              <a:gd name="connsiteX4" fmla="*/ 0 w 8700088"/>
              <a:gd name="connsiteY4" fmla="*/ 0 h 1200329"/>
              <a:gd name="connsiteX0" fmla="*/ 0 w 8700088"/>
              <a:gd name="connsiteY0" fmla="*/ 103031 h 1200329"/>
              <a:gd name="connsiteX1" fmla="*/ 8700088 w 8700088"/>
              <a:gd name="connsiteY1" fmla="*/ 0 h 1200329"/>
              <a:gd name="connsiteX2" fmla="*/ 8700088 w 8700088"/>
              <a:gd name="connsiteY2" fmla="*/ 1200329 h 1200329"/>
              <a:gd name="connsiteX3" fmla="*/ 0 w 8700088"/>
              <a:gd name="connsiteY3" fmla="*/ 1200329 h 1200329"/>
              <a:gd name="connsiteX4" fmla="*/ 0 w 8700088"/>
              <a:gd name="connsiteY4" fmla="*/ 103031 h 1200329"/>
              <a:gd name="connsiteX0" fmla="*/ 0 w 8700088"/>
              <a:gd name="connsiteY0" fmla="*/ 12879 h 1110177"/>
              <a:gd name="connsiteX1" fmla="*/ 8700088 w 8700088"/>
              <a:gd name="connsiteY1" fmla="*/ 0 h 1110177"/>
              <a:gd name="connsiteX2" fmla="*/ 8700088 w 8700088"/>
              <a:gd name="connsiteY2" fmla="*/ 1110177 h 1110177"/>
              <a:gd name="connsiteX3" fmla="*/ 0 w 8700088"/>
              <a:gd name="connsiteY3" fmla="*/ 1110177 h 1110177"/>
              <a:gd name="connsiteX4" fmla="*/ 0 w 8700088"/>
              <a:gd name="connsiteY4" fmla="*/ 12879 h 1110177"/>
              <a:gd name="connsiteX0" fmla="*/ 0 w 8700088"/>
              <a:gd name="connsiteY0" fmla="*/ 0 h 1123056"/>
              <a:gd name="connsiteX1" fmla="*/ 8700088 w 8700088"/>
              <a:gd name="connsiteY1" fmla="*/ 12879 h 1123056"/>
              <a:gd name="connsiteX2" fmla="*/ 8700088 w 8700088"/>
              <a:gd name="connsiteY2" fmla="*/ 1123056 h 1123056"/>
              <a:gd name="connsiteX3" fmla="*/ 0 w 8700088"/>
              <a:gd name="connsiteY3" fmla="*/ 1123056 h 1123056"/>
              <a:gd name="connsiteX4" fmla="*/ 0 w 8700088"/>
              <a:gd name="connsiteY4" fmla="*/ 0 h 1123056"/>
              <a:gd name="connsiteX0" fmla="*/ 0 w 8700088"/>
              <a:gd name="connsiteY0" fmla="*/ 0 h 1161692"/>
              <a:gd name="connsiteX1" fmla="*/ 8700088 w 8700088"/>
              <a:gd name="connsiteY1" fmla="*/ 12879 h 1161692"/>
              <a:gd name="connsiteX2" fmla="*/ 8700088 w 8700088"/>
              <a:gd name="connsiteY2" fmla="*/ 1123056 h 1161692"/>
              <a:gd name="connsiteX3" fmla="*/ 0 w 8700088"/>
              <a:gd name="connsiteY3" fmla="*/ 1161692 h 1161692"/>
              <a:gd name="connsiteX4" fmla="*/ 0 w 8700088"/>
              <a:gd name="connsiteY4" fmla="*/ 0 h 1161692"/>
              <a:gd name="connsiteX0" fmla="*/ 0 w 8700088"/>
              <a:gd name="connsiteY0" fmla="*/ 0 h 1161692"/>
              <a:gd name="connsiteX1" fmla="*/ 8700088 w 8700088"/>
              <a:gd name="connsiteY1" fmla="*/ 12879 h 1161692"/>
              <a:gd name="connsiteX2" fmla="*/ 8700088 w 8700088"/>
              <a:gd name="connsiteY2" fmla="*/ 1161692 h 1161692"/>
              <a:gd name="connsiteX3" fmla="*/ 0 w 8700088"/>
              <a:gd name="connsiteY3" fmla="*/ 1161692 h 1161692"/>
              <a:gd name="connsiteX4" fmla="*/ 0 w 8700088"/>
              <a:gd name="connsiteY4" fmla="*/ 0 h 1161692"/>
              <a:gd name="connsiteX0" fmla="*/ 0 w 8700088"/>
              <a:gd name="connsiteY0" fmla="*/ 0 h 1161692"/>
              <a:gd name="connsiteX1" fmla="*/ 8700088 w 8700088"/>
              <a:gd name="connsiteY1" fmla="*/ 0 h 1161692"/>
              <a:gd name="connsiteX2" fmla="*/ 8700088 w 8700088"/>
              <a:gd name="connsiteY2" fmla="*/ 1161692 h 1161692"/>
              <a:gd name="connsiteX3" fmla="*/ 0 w 8700088"/>
              <a:gd name="connsiteY3" fmla="*/ 1161692 h 1161692"/>
              <a:gd name="connsiteX4" fmla="*/ 0 w 8700088"/>
              <a:gd name="connsiteY4" fmla="*/ 0 h 1161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00088" h="1161692">
                <a:moveTo>
                  <a:pt x="0" y="0"/>
                </a:moveTo>
                <a:lnTo>
                  <a:pt x="8700088" y="0"/>
                </a:lnTo>
                <a:lnTo>
                  <a:pt x="8700088" y="1161692"/>
                </a:lnTo>
                <a:lnTo>
                  <a:pt x="0" y="1161692"/>
                </a:lnTo>
                <a:lnTo>
                  <a:pt x="0" y="0"/>
                </a:lnTo>
                <a:close/>
              </a:path>
            </a:pathLst>
          </a:custGeom>
          <a:noFill/>
          <a:ln w="28575">
            <a:solidFill>
              <a:schemeClr val="accent6"/>
            </a:solidFill>
          </a:ln>
        </p:spPr>
        <p:txBody>
          <a:bodyPr wrap="square" rtlCol="0">
            <a:spAutoFit/>
          </a:bodyPr>
          <a:lstStyle/>
          <a:p>
            <a:r>
              <a:rPr lang="en-GB" sz="2000" dirty="0"/>
              <a:t>Different compounds have different </a:t>
            </a:r>
            <a:r>
              <a:rPr lang="en-GB" sz="2000" dirty="0" err="1"/>
              <a:t>Rf</a:t>
            </a:r>
            <a:r>
              <a:rPr lang="en-GB" sz="2000" dirty="0"/>
              <a:t> values in different solvents, which can be used to help identify the compounds. </a:t>
            </a:r>
            <a:r>
              <a:rPr lang="en-GB" sz="2000" dirty="0" smtClean="0"/>
              <a:t>A pure </a:t>
            </a:r>
            <a:r>
              <a:rPr lang="en-GB" sz="2000" dirty="0"/>
              <a:t>compound will produce a single spot in all solvents</a:t>
            </a:r>
            <a:r>
              <a:rPr lang="en-GB" dirty="0"/>
              <a:t>.</a:t>
            </a:r>
          </a:p>
        </p:txBody>
      </p:sp>
      <p:grpSp>
        <p:nvGrpSpPr>
          <p:cNvPr id="11" name="Group 10"/>
          <p:cNvGrpSpPr/>
          <p:nvPr/>
        </p:nvGrpSpPr>
        <p:grpSpPr>
          <a:xfrm>
            <a:off x="5283152" y="452471"/>
            <a:ext cx="3585374" cy="4841227"/>
            <a:chOff x="0" y="0"/>
            <a:chExt cx="3204211" cy="5510143"/>
          </a:xfrm>
        </p:grpSpPr>
        <p:cxnSp>
          <p:nvCxnSpPr>
            <p:cNvPr id="13" name="Straight Connector 12"/>
            <p:cNvCxnSpPr/>
            <p:nvPr/>
          </p:nvCxnSpPr>
          <p:spPr>
            <a:xfrm>
              <a:off x="143123" y="1900362"/>
              <a:ext cx="2018803" cy="0"/>
            </a:xfrm>
            <a:prstGeom prst="line">
              <a:avLst/>
            </a:prstGeom>
            <a:noFill/>
            <a:ln w="19050" cap="flat" cmpd="sng" algn="ctr">
              <a:solidFill>
                <a:sysClr val="windowText" lastClr="000000"/>
              </a:solidFill>
              <a:prstDash val="lgDash"/>
              <a:miter lim="800000"/>
            </a:ln>
            <a:effectLst/>
          </p:spPr>
        </p:cxnSp>
        <p:sp>
          <p:nvSpPr>
            <p:cNvPr id="14" name="Rectangle 13"/>
            <p:cNvSpPr/>
            <p:nvPr/>
          </p:nvSpPr>
          <p:spPr>
            <a:xfrm>
              <a:off x="1550504" y="206734"/>
              <a:ext cx="1391478" cy="43891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15" name="Straight Connector 14"/>
            <p:cNvCxnSpPr/>
            <p:nvPr/>
          </p:nvCxnSpPr>
          <p:spPr>
            <a:xfrm>
              <a:off x="1550504" y="532737"/>
              <a:ext cx="1391258" cy="0"/>
            </a:xfrm>
            <a:prstGeom prst="line">
              <a:avLst/>
            </a:prstGeom>
            <a:ln/>
          </p:spPr>
          <p:style>
            <a:lnRef idx="3">
              <a:schemeClr val="dk1"/>
            </a:lnRef>
            <a:fillRef idx="0">
              <a:schemeClr val="dk1"/>
            </a:fillRef>
            <a:effectRef idx="2">
              <a:schemeClr val="dk1"/>
            </a:effectRef>
            <a:fontRef idx="minor">
              <a:schemeClr val="tx1"/>
            </a:fontRef>
          </p:style>
        </p:cxnSp>
        <p:cxnSp>
          <p:nvCxnSpPr>
            <p:cNvPr id="16" name="Straight Connector 15"/>
            <p:cNvCxnSpPr/>
            <p:nvPr/>
          </p:nvCxnSpPr>
          <p:spPr>
            <a:xfrm>
              <a:off x="1542553" y="4230094"/>
              <a:ext cx="1391258" cy="0"/>
            </a:xfrm>
            <a:prstGeom prst="line">
              <a:avLst/>
            </a:prstGeom>
            <a:ln/>
          </p:spPr>
          <p:style>
            <a:lnRef idx="3">
              <a:schemeClr val="dk1"/>
            </a:lnRef>
            <a:fillRef idx="0">
              <a:schemeClr val="dk1"/>
            </a:fillRef>
            <a:effectRef idx="2">
              <a:schemeClr val="dk1"/>
            </a:effectRef>
            <a:fontRef idx="minor">
              <a:schemeClr val="tx1"/>
            </a:fontRef>
          </p:style>
        </p:cxnSp>
        <p:sp>
          <p:nvSpPr>
            <p:cNvPr id="17" name="Right Bracket 16"/>
            <p:cNvSpPr/>
            <p:nvPr/>
          </p:nvSpPr>
          <p:spPr>
            <a:xfrm rot="5400000">
              <a:off x="787180" y="2289975"/>
              <a:ext cx="2878151" cy="1955910"/>
            </a:xfrm>
            <a:prstGeom prst="rightBracket">
              <a:avLst/>
            </a:prstGeom>
          </p:spPr>
          <p:style>
            <a:lnRef idx="3">
              <a:schemeClr val="dk1"/>
            </a:lnRef>
            <a:fillRef idx="0">
              <a:schemeClr val="dk1"/>
            </a:fillRef>
            <a:effectRef idx="2">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18" name="Straight Connector 17"/>
            <p:cNvCxnSpPr/>
            <p:nvPr/>
          </p:nvCxnSpPr>
          <p:spPr>
            <a:xfrm flipV="1">
              <a:off x="1367624" y="4460682"/>
              <a:ext cx="1749287" cy="0"/>
            </a:xfrm>
            <a:prstGeom prst="line">
              <a:avLst/>
            </a:prstGeom>
            <a:noFill/>
            <a:ln w="19050" cap="flat" cmpd="sng" algn="ctr">
              <a:solidFill>
                <a:sysClr val="windowText" lastClr="000000"/>
              </a:solidFill>
              <a:prstDash val="solid"/>
              <a:miter lim="800000"/>
            </a:ln>
            <a:effectLst/>
          </p:spPr>
        </p:cxnSp>
        <p:sp>
          <p:nvSpPr>
            <p:cNvPr id="19" name="Oval 18"/>
            <p:cNvSpPr/>
            <p:nvPr/>
          </p:nvSpPr>
          <p:spPr>
            <a:xfrm>
              <a:off x="2146852" y="4126727"/>
              <a:ext cx="135172" cy="19083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0" name="Oval 19"/>
            <p:cNvSpPr/>
            <p:nvPr/>
          </p:nvSpPr>
          <p:spPr>
            <a:xfrm>
              <a:off x="2146852" y="2655736"/>
              <a:ext cx="135172" cy="190831"/>
            </a:xfrm>
            <a:prstGeom prst="ellipse">
              <a:avLst/>
            </a:prstGeom>
            <a:ln/>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1" name="Oval 20"/>
            <p:cNvSpPr/>
            <p:nvPr/>
          </p:nvSpPr>
          <p:spPr>
            <a:xfrm>
              <a:off x="2130949" y="1804946"/>
              <a:ext cx="135172" cy="190831"/>
            </a:xfrm>
            <a:prstGeom prst="ellipse">
              <a:avLst/>
            </a:prstGeom>
            <a:ln/>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22" name="Straight Connector 21"/>
            <p:cNvCxnSpPr/>
            <p:nvPr/>
          </p:nvCxnSpPr>
          <p:spPr>
            <a:xfrm>
              <a:off x="127221" y="532737"/>
              <a:ext cx="1391258" cy="0"/>
            </a:xfrm>
            <a:prstGeom prst="line">
              <a:avLst/>
            </a:prstGeom>
            <a:noFill/>
            <a:ln w="19050" cap="flat" cmpd="sng" algn="ctr">
              <a:solidFill>
                <a:sysClr val="windowText" lastClr="000000"/>
              </a:solidFill>
              <a:prstDash val="lgDash"/>
              <a:miter lim="800000"/>
            </a:ln>
            <a:effectLst/>
          </p:spPr>
        </p:cxnSp>
        <p:cxnSp>
          <p:nvCxnSpPr>
            <p:cNvPr id="23" name="Straight Connector 22"/>
            <p:cNvCxnSpPr/>
            <p:nvPr/>
          </p:nvCxnSpPr>
          <p:spPr>
            <a:xfrm>
              <a:off x="206734" y="4222142"/>
              <a:ext cx="1391258" cy="0"/>
            </a:xfrm>
            <a:prstGeom prst="line">
              <a:avLst/>
            </a:prstGeom>
            <a:noFill/>
            <a:ln w="19050" cap="flat" cmpd="sng" algn="ctr">
              <a:solidFill>
                <a:sysClr val="windowText" lastClr="000000"/>
              </a:solidFill>
              <a:prstDash val="lgDash"/>
              <a:miter lim="800000"/>
            </a:ln>
            <a:effectLst/>
          </p:spPr>
        </p:cxnSp>
        <p:sp>
          <p:nvSpPr>
            <p:cNvPr id="24" name="Up-Down Arrow 23"/>
            <p:cNvSpPr/>
            <p:nvPr/>
          </p:nvSpPr>
          <p:spPr>
            <a:xfrm>
              <a:off x="79513" y="612250"/>
              <a:ext cx="151075" cy="3570135"/>
            </a:xfrm>
            <a:prstGeom prst="upDownArrow">
              <a:avLst/>
            </a:prstGeom>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5" name="Up-Down Arrow 24"/>
            <p:cNvSpPr/>
            <p:nvPr/>
          </p:nvSpPr>
          <p:spPr>
            <a:xfrm>
              <a:off x="715617" y="1956021"/>
              <a:ext cx="149557" cy="2202511"/>
            </a:xfrm>
            <a:prstGeom prst="upDownArrow">
              <a:avLst/>
            </a:prstGeom>
            <a:ln/>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6" name="Line Callout 1 25"/>
            <p:cNvSpPr/>
            <p:nvPr/>
          </p:nvSpPr>
          <p:spPr>
            <a:xfrm>
              <a:off x="127221" y="0"/>
              <a:ext cx="1216328" cy="429260"/>
            </a:xfrm>
            <a:prstGeom prst="borderCallout1">
              <a:avLst>
                <a:gd name="adj1" fmla="val 53944"/>
                <a:gd name="adj2" fmla="val 105432"/>
                <a:gd name="adj3" fmla="val 114352"/>
                <a:gd name="adj4" fmla="val 148730"/>
              </a:avLst>
            </a:prstGeom>
            <a:noFill/>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GB" sz="1100">
                  <a:effectLst/>
                  <a:ea typeface="Calibri" panose="020F0502020204030204" pitchFamily="34" charset="0"/>
                  <a:cs typeface="Times New Roman" panose="02020603050405020304" pitchFamily="18" charset="0"/>
                </a:rPr>
                <a:t>Position solvent reaches</a:t>
              </a:r>
            </a:p>
          </p:txBody>
        </p:sp>
        <p:sp>
          <p:nvSpPr>
            <p:cNvPr id="27" name="Line Callout 1 26"/>
            <p:cNvSpPr/>
            <p:nvPr/>
          </p:nvSpPr>
          <p:spPr>
            <a:xfrm>
              <a:off x="302149" y="985962"/>
              <a:ext cx="1216025" cy="429260"/>
            </a:xfrm>
            <a:prstGeom prst="borderCallout1">
              <a:avLst>
                <a:gd name="adj1" fmla="val 53944"/>
                <a:gd name="adj2" fmla="val 105432"/>
                <a:gd name="adj3" fmla="val 194002"/>
                <a:gd name="adj4" fmla="val 148076"/>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GB" sz="1100">
                  <a:effectLst/>
                  <a:latin typeface="Calibri" panose="020F0502020204030204" pitchFamily="34" charset="0"/>
                  <a:ea typeface="Calibri" panose="020F0502020204030204" pitchFamily="34" charset="0"/>
                  <a:cs typeface="Times New Roman" panose="02020603050405020304" pitchFamily="18" charset="0"/>
                </a:rPr>
                <a:t>Parts of mixture separated</a:t>
              </a:r>
            </a:p>
          </p:txBody>
        </p:sp>
        <p:cxnSp>
          <p:nvCxnSpPr>
            <p:cNvPr id="28" name="Straight Connector 27"/>
            <p:cNvCxnSpPr/>
            <p:nvPr/>
          </p:nvCxnSpPr>
          <p:spPr>
            <a:xfrm>
              <a:off x="1614115" y="1391478"/>
              <a:ext cx="532737" cy="1240404"/>
            </a:xfrm>
            <a:prstGeom prst="line">
              <a:avLst/>
            </a:prstGeom>
            <a:noFill/>
            <a:ln w="19050" cap="flat" cmpd="sng" algn="ctr">
              <a:solidFill>
                <a:sysClr val="windowText" lastClr="000000"/>
              </a:solidFill>
              <a:prstDash val="solid"/>
              <a:miter lim="800000"/>
            </a:ln>
            <a:effectLst/>
          </p:spPr>
        </p:cxnSp>
        <p:sp>
          <p:nvSpPr>
            <p:cNvPr id="29" name="Line Callout 1 28"/>
            <p:cNvSpPr/>
            <p:nvPr/>
          </p:nvSpPr>
          <p:spPr>
            <a:xfrm>
              <a:off x="0" y="4365266"/>
              <a:ext cx="1216025" cy="429260"/>
            </a:xfrm>
            <a:prstGeom prst="borderCallout1">
              <a:avLst>
                <a:gd name="adj1" fmla="val 53944"/>
                <a:gd name="adj2" fmla="val 105432"/>
                <a:gd name="adj3" fmla="val -19016"/>
                <a:gd name="adj4" fmla="val 175539"/>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GB" sz="1100">
                  <a:effectLst/>
                  <a:latin typeface="Calibri" panose="020F0502020204030204" pitchFamily="34" charset="0"/>
                  <a:ea typeface="Calibri" panose="020F0502020204030204" pitchFamily="34" charset="0"/>
                  <a:cs typeface="Times New Roman" panose="02020603050405020304" pitchFamily="18" charset="0"/>
                </a:rPr>
                <a:t>Mixture to be separated</a:t>
              </a:r>
            </a:p>
          </p:txBody>
        </p:sp>
        <p:sp>
          <p:nvSpPr>
            <p:cNvPr id="30" name="Line Callout 1 29"/>
            <p:cNvSpPr/>
            <p:nvPr/>
          </p:nvSpPr>
          <p:spPr>
            <a:xfrm>
              <a:off x="1351722" y="5080883"/>
              <a:ext cx="1216025" cy="429260"/>
            </a:xfrm>
            <a:prstGeom prst="borderCallout1">
              <a:avLst>
                <a:gd name="adj1" fmla="val -16445"/>
                <a:gd name="adj2" fmla="val 47237"/>
                <a:gd name="adj3" fmla="val -104223"/>
                <a:gd name="adj4" fmla="val 67649"/>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b" anchorCtr="0" forceAA="0" compatLnSpc="1">
              <a:prstTxWarp prst="textNoShape">
                <a:avLst/>
              </a:prstTxWarp>
              <a:noAutofit/>
            </a:bodyPr>
            <a:lstStyle/>
            <a:p>
              <a:pPr algn="ctr">
                <a:lnSpc>
                  <a:spcPct val="107000"/>
                </a:lnSpc>
                <a:spcAft>
                  <a:spcPts val="800"/>
                </a:spcAft>
              </a:pPr>
              <a:r>
                <a:rPr lang="en-GB" sz="1100">
                  <a:effectLst/>
                  <a:latin typeface="Calibri" panose="020F0502020204030204" pitchFamily="34" charset="0"/>
                  <a:ea typeface="Calibri" panose="020F0502020204030204" pitchFamily="34" charset="0"/>
                  <a:cs typeface="Times New Roman" panose="02020603050405020304" pitchFamily="18" charset="0"/>
                </a:rPr>
                <a:t>Solvent</a:t>
              </a:r>
            </a:p>
          </p:txBody>
        </p:sp>
      </p:grpSp>
    </p:spTree>
    <p:extLst>
      <p:ext uri="{BB962C8B-B14F-4D97-AF65-F5344CB8AC3E}">
        <p14:creationId xmlns:p14="http://schemas.microsoft.com/office/powerpoint/2010/main" val="3708643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708981"/>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3600" b="1" dirty="0">
                <a:solidFill>
                  <a:schemeClr val="tx1">
                    <a:lumMod val="50000"/>
                    <a:lumOff val="50000"/>
                  </a:schemeClr>
                </a:solidFill>
              </a:rPr>
              <a:t>Purify, formulations and chromatography</a:t>
            </a:r>
          </a:p>
          <a:p>
            <a:pPr marL="457200" indent="-457200">
              <a:buFont typeface="Arial" charset="0"/>
              <a:buChar char="•"/>
            </a:pPr>
            <a:r>
              <a:rPr lang="en-GB" sz="2800" b="1" dirty="0">
                <a:solidFill>
                  <a:schemeClr val="tx1">
                    <a:lumMod val="50000"/>
                    <a:lumOff val="50000"/>
                  </a:schemeClr>
                </a:solidFill>
              </a:rPr>
              <a:t>Purity</a:t>
            </a:r>
          </a:p>
          <a:p>
            <a:pPr marL="457200" indent="-457200">
              <a:buFont typeface="Arial" charset="0"/>
              <a:buChar char="•"/>
            </a:pPr>
            <a:r>
              <a:rPr lang="en-GB" sz="2800" b="1" dirty="0">
                <a:solidFill>
                  <a:schemeClr val="tx1">
                    <a:lumMod val="50000"/>
                    <a:lumOff val="50000"/>
                  </a:schemeClr>
                </a:solidFill>
              </a:rPr>
              <a:t>Formulations</a:t>
            </a:r>
          </a:p>
          <a:p>
            <a:pPr marL="457200" indent="-457200">
              <a:buFont typeface="Arial" charset="0"/>
              <a:buChar char="•"/>
            </a:pPr>
            <a:r>
              <a:rPr lang="en-GB" sz="2800" b="1" dirty="0">
                <a:solidFill>
                  <a:schemeClr val="tx1">
                    <a:lumMod val="50000"/>
                    <a:lumOff val="50000"/>
                  </a:schemeClr>
                </a:solidFill>
              </a:rPr>
              <a:t>Chromatography</a:t>
            </a: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2395603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kern="1200" dirty="0">
                <a:solidFill>
                  <a:schemeClr val="accent6"/>
                </a:solidFill>
                <a:latin typeface="Calibri"/>
                <a:ea typeface=""/>
                <a:cs typeface="News Gothic MT"/>
              </a:rPr>
              <a:t>Purity, Formulations and Chromatography –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154984"/>
          </a:xfrm>
          <a:prstGeom prst="rect">
            <a:avLst/>
          </a:prstGeom>
          <a:noFill/>
        </p:spPr>
        <p:txBody>
          <a:bodyPr wrap="square" rtlCol="0">
            <a:spAutoFit/>
          </a:bodyPr>
          <a:lstStyle/>
          <a:p>
            <a:pPr marL="457200" indent="-457200">
              <a:buFont typeface="+mj-lt"/>
              <a:buAutoNum type="arabicPeriod"/>
            </a:pPr>
            <a:r>
              <a:rPr lang="en-GB" sz="2400" dirty="0" smtClean="0"/>
              <a:t>What </a:t>
            </a:r>
            <a:r>
              <a:rPr lang="en-GB" sz="2400" dirty="0"/>
              <a:t>is a pure </a:t>
            </a:r>
            <a:r>
              <a:rPr lang="en-GB" sz="2400" dirty="0" smtClean="0"/>
              <a:t>substance?</a:t>
            </a:r>
          </a:p>
          <a:p>
            <a:pPr marL="457200" indent="-457200">
              <a:buFont typeface="+mj-lt"/>
              <a:buAutoNum type="arabicPeriod"/>
            </a:pPr>
            <a:endParaRPr lang="en-GB" sz="2400" b="1" i="1" dirty="0">
              <a:solidFill>
                <a:srgbClr val="00B050"/>
              </a:solidFill>
            </a:endParaRPr>
          </a:p>
          <a:p>
            <a:pPr marL="457200" indent="-457200">
              <a:buFont typeface="+mj-lt"/>
              <a:buAutoNum type="arabicPeriod"/>
            </a:pPr>
            <a:r>
              <a:rPr lang="en-GB" sz="2400" dirty="0" smtClean="0"/>
              <a:t>How </a:t>
            </a:r>
            <a:r>
              <a:rPr lang="en-GB" sz="2400" dirty="0"/>
              <a:t>could you distinguish between a pure substance and a </a:t>
            </a:r>
            <a:r>
              <a:rPr lang="en-GB" sz="2400" dirty="0" smtClean="0"/>
              <a:t>mixture?</a:t>
            </a:r>
          </a:p>
          <a:p>
            <a:pPr marL="457200" indent="-457200">
              <a:buFont typeface="+mj-lt"/>
              <a:buAutoNum type="arabicPeriod"/>
            </a:pPr>
            <a:endParaRPr lang="en-GB" sz="2400" dirty="0">
              <a:solidFill>
                <a:srgbClr val="00B050"/>
              </a:solidFill>
            </a:endParaRPr>
          </a:p>
          <a:p>
            <a:pPr marL="457200" indent="-457200">
              <a:buFont typeface="+mj-lt"/>
              <a:buAutoNum type="arabicPeriod"/>
            </a:pPr>
            <a:r>
              <a:rPr lang="en-GB" sz="2400" dirty="0" smtClean="0"/>
              <a:t>What is a formulation?</a:t>
            </a:r>
          </a:p>
          <a:p>
            <a:pPr marL="457200" indent="-457200">
              <a:buFont typeface="+mj-lt"/>
              <a:buAutoNum type="arabicPeriod"/>
            </a:pPr>
            <a:endParaRPr lang="en-GB" sz="2400" dirty="0" smtClean="0"/>
          </a:p>
          <a:p>
            <a:pPr marL="457200" indent="-457200">
              <a:buFont typeface="+mj-lt"/>
              <a:buAutoNum type="arabicPeriod"/>
            </a:pPr>
            <a:r>
              <a:rPr lang="en-GB" sz="2400" dirty="0" smtClean="0"/>
              <a:t>How </a:t>
            </a:r>
            <a:r>
              <a:rPr lang="en-GB" sz="2400" dirty="0"/>
              <a:t>are formulations made</a:t>
            </a:r>
            <a:r>
              <a:rPr lang="en-GB" sz="2400" dirty="0" smtClean="0"/>
              <a:t>?</a:t>
            </a:r>
          </a:p>
          <a:p>
            <a:pPr marL="457200" indent="-457200">
              <a:buFont typeface="+mj-lt"/>
              <a:buAutoNum type="arabicPeriod"/>
            </a:pPr>
            <a:endParaRPr lang="en-GB" sz="2400" dirty="0"/>
          </a:p>
          <a:p>
            <a:pPr marL="457200" indent="-457200">
              <a:buFont typeface="+mj-lt"/>
              <a:buAutoNum type="arabicPeriod"/>
            </a:pPr>
            <a:r>
              <a:rPr lang="en-GB" sz="2400" dirty="0" smtClean="0"/>
              <a:t>Give </a:t>
            </a:r>
            <a:r>
              <a:rPr lang="en-GB" sz="2400" dirty="0"/>
              <a:t>two examples of formulations. </a:t>
            </a:r>
            <a:endParaRPr lang="en-GB" sz="2400" dirty="0" smtClean="0"/>
          </a:p>
          <a:p>
            <a:pPr marL="457200" indent="-457200">
              <a:buFont typeface="+mj-lt"/>
              <a:buAutoNum type="arabicPeriod"/>
            </a:pPr>
            <a:endParaRPr lang="en-GB" sz="2400" dirty="0" smtClean="0"/>
          </a:p>
        </p:txBody>
      </p:sp>
    </p:spTree>
    <p:extLst>
      <p:ext uri="{BB962C8B-B14F-4D97-AF65-F5344CB8AC3E}">
        <p14:creationId xmlns:p14="http://schemas.microsoft.com/office/powerpoint/2010/main" val="1589497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kern="1200" dirty="0">
                <a:solidFill>
                  <a:schemeClr val="accent6"/>
                </a:solidFill>
                <a:latin typeface="Calibri"/>
                <a:ea typeface=""/>
                <a:cs typeface="News Gothic MT"/>
              </a:rPr>
              <a:t>Purity, Formulations and Chromatography –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20365" y="404664"/>
            <a:ext cx="8915400" cy="3785652"/>
          </a:xfrm>
          <a:prstGeom prst="rect">
            <a:avLst/>
          </a:prstGeom>
          <a:noFill/>
        </p:spPr>
        <p:txBody>
          <a:bodyPr wrap="square" rtlCol="0">
            <a:spAutoFit/>
          </a:bodyPr>
          <a:lstStyle/>
          <a:p>
            <a:endParaRPr lang="en-GB" sz="2400" dirty="0" smtClean="0"/>
          </a:p>
          <a:p>
            <a:pPr marL="457200" indent="-457200">
              <a:buFont typeface="+mj-lt"/>
              <a:buAutoNum type="arabicPeriod" startAt="6"/>
            </a:pPr>
            <a:r>
              <a:rPr lang="en-GB" sz="2400" dirty="0" smtClean="0"/>
              <a:t>What </a:t>
            </a:r>
            <a:r>
              <a:rPr lang="en-GB" sz="2400" dirty="0"/>
              <a:t>is chromatograph</a:t>
            </a:r>
            <a:r>
              <a:rPr lang="en-GB" sz="2400" dirty="0" smtClean="0"/>
              <a:t>?</a:t>
            </a:r>
          </a:p>
          <a:p>
            <a:pPr marL="457200" indent="-457200">
              <a:buFont typeface="+mj-lt"/>
              <a:buAutoNum type="arabicPeriod" startAt="6"/>
            </a:pPr>
            <a:endParaRPr lang="en-GB" sz="2400" dirty="0">
              <a:solidFill>
                <a:srgbClr val="00B050"/>
              </a:solidFill>
            </a:endParaRPr>
          </a:p>
          <a:p>
            <a:pPr marL="457200" indent="-457200">
              <a:buFont typeface="+mj-lt"/>
              <a:buAutoNum type="arabicPeriod" startAt="6"/>
            </a:pPr>
            <a:r>
              <a:rPr lang="en-GB" sz="2400" dirty="0" smtClean="0"/>
              <a:t>What </a:t>
            </a:r>
            <a:r>
              <a:rPr lang="en-GB" sz="2400" dirty="0"/>
              <a:t>happens in the stationary and mobile phases</a:t>
            </a:r>
            <a:r>
              <a:rPr lang="en-GB" sz="2400" dirty="0" smtClean="0"/>
              <a:t>?</a:t>
            </a:r>
          </a:p>
          <a:p>
            <a:pPr marL="457200" indent="-457200">
              <a:buFont typeface="+mj-lt"/>
              <a:buAutoNum type="arabicPeriod" startAt="6"/>
            </a:pPr>
            <a:endParaRPr lang="en-GB" sz="2400" dirty="0" smtClean="0"/>
          </a:p>
          <a:p>
            <a:pPr marL="457200" indent="-457200">
              <a:buFont typeface="+mj-lt"/>
              <a:buAutoNum type="arabicPeriod" startAt="6"/>
            </a:pPr>
            <a:r>
              <a:rPr lang="en-GB" sz="2400" dirty="0" smtClean="0"/>
              <a:t>State the equation used to find the </a:t>
            </a:r>
            <a:r>
              <a:rPr lang="en-GB" sz="2400" dirty="0" err="1" smtClean="0"/>
              <a:t>Rf</a:t>
            </a:r>
            <a:r>
              <a:rPr lang="en-GB" sz="2400" dirty="0" smtClean="0"/>
              <a:t> value. </a:t>
            </a:r>
          </a:p>
          <a:p>
            <a:pPr marL="457200" indent="-457200">
              <a:buFont typeface="+mj-lt"/>
              <a:buAutoNum type="arabicPeriod" startAt="6"/>
            </a:pPr>
            <a:endParaRPr lang="en-GB" sz="2400" dirty="0" smtClean="0"/>
          </a:p>
          <a:p>
            <a:pPr marL="457200" indent="-457200">
              <a:buFont typeface="+mj-lt"/>
              <a:buAutoNum type="arabicPeriod" startAt="6"/>
            </a:pPr>
            <a:r>
              <a:rPr lang="en-GB" sz="2400" dirty="0" smtClean="0"/>
              <a:t>A </a:t>
            </a:r>
            <a:r>
              <a:rPr lang="en-GB" sz="2400" dirty="0"/>
              <a:t>solvent travels 8cm up the stationary phase, two spots separate out. A travels 6cm up the mobile phase, B travels 4.5cm up the mobile phase. Give the </a:t>
            </a:r>
            <a:r>
              <a:rPr lang="en-GB" sz="2400" dirty="0" err="1"/>
              <a:t>Rf</a:t>
            </a:r>
            <a:r>
              <a:rPr lang="en-GB" sz="2400" dirty="0"/>
              <a:t> value for both to two decimal places</a:t>
            </a:r>
            <a:r>
              <a:rPr lang="en-GB" sz="2400" dirty="0" smtClean="0"/>
              <a:t>.</a:t>
            </a:r>
            <a:endParaRPr lang="en-GB" sz="2400" dirty="0"/>
          </a:p>
        </p:txBody>
      </p:sp>
    </p:spTree>
    <p:extLst>
      <p:ext uri="{BB962C8B-B14F-4D97-AF65-F5344CB8AC3E}">
        <p14:creationId xmlns:p14="http://schemas.microsoft.com/office/powerpoint/2010/main" val="3863813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355312"/>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Purify, formulations and chromatography</a:t>
            </a:r>
          </a:p>
          <a:p>
            <a:pPr marL="457200" indent="-457200">
              <a:lnSpc>
                <a:spcPct val="150000"/>
              </a:lnSpc>
              <a:buFont typeface="Arial" charset="0"/>
              <a:buChar char="•"/>
            </a:pPr>
            <a:r>
              <a:rPr lang="en-GB" sz="2800" b="1" dirty="0">
                <a:solidFill>
                  <a:schemeClr val="tx1">
                    <a:lumMod val="50000"/>
                    <a:lumOff val="50000"/>
                  </a:schemeClr>
                </a:solidFill>
              </a:rPr>
              <a:t>Purity</a:t>
            </a:r>
          </a:p>
          <a:p>
            <a:pPr marL="457200" indent="-457200">
              <a:lnSpc>
                <a:spcPct val="150000"/>
              </a:lnSpc>
              <a:buFont typeface="Arial" charset="0"/>
              <a:buChar char="•"/>
            </a:pPr>
            <a:r>
              <a:rPr lang="en-GB" sz="2800" b="1" dirty="0">
                <a:solidFill>
                  <a:schemeClr val="tx1">
                    <a:lumMod val="50000"/>
                    <a:lumOff val="50000"/>
                  </a:schemeClr>
                </a:solidFill>
              </a:rPr>
              <a:t>Formulations</a:t>
            </a:r>
          </a:p>
          <a:p>
            <a:pPr marL="457200" indent="-457200">
              <a:lnSpc>
                <a:spcPct val="150000"/>
              </a:lnSpc>
              <a:buFont typeface="Arial" charset="0"/>
              <a:buChar char="•"/>
            </a:pPr>
            <a:r>
              <a:rPr lang="en-GB" sz="2800" b="1" dirty="0">
                <a:solidFill>
                  <a:schemeClr val="tx1">
                    <a:lumMod val="50000"/>
                    <a:lumOff val="50000"/>
                  </a:schemeClr>
                </a:solidFill>
              </a:rPr>
              <a:t>Chromatography</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22677837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kern="1200" dirty="0">
                <a:solidFill>
                  <a:schemeClr val="accent6"/>
                </a:solidFill>
                <a:latin typeface="Calibri"/>
                <a:ea typeface=""/>
                <a:cs typeface="News Gothic MT"/>
              </a:rPr>
              <a:t>Purity, Formulations and Chromatography –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632311"/>
          </a:xfrm>
          <a:prstGeom prst="rect">
            <a:avLst/>
          </a:prstGeom>
          <a:noFill/>
        </p:spPr>
        <p:txBody>
          <a:bodyPr wrap="square" rtlCol="0">
            <a:spAutoFit/>
          </a:bodyPr>
          <a:lstStyle/>
          <a:p>
            <a:pPr marL="457200" indent="-457200">
              <a:buFont typeface="+mj-lt"/>
              <a:buAutoNum type="arabicPeriod"/>
            </a:pPr>
            <a:r>
              <a:rPr lang="en-GB" sz="2400" dirty="0" smtClean="0"/>
              <a:t>What </a:t>
            </a:r>
            <a:r>
              <a:rPr lang="en-GB" sz="2400" dirty="0"/>
              <a:t>is a pure </a:t>
            </a:r>
            <a:r>
              <a:rPr lang="en-GB" sz="2400" dirty="0" smtClean="0"/>
              <a:t>substance?</a:t>
            </a:r>
          </a:p>
          <a:p>
            <a:pPr lvl="1"/>
            <a:r>
              <a:rPr lang="en-GB" sz="2400" dirty="0" smtClean="0">
                <a:solidFill>
                  <a:srgbClr val="00B050"/>
                </a:solidFill>
              </a:rPr>
              <a:t>A single element or compound, not mixed with any other substance.</a:t>
            </a:r>
            <a:endParaRPr lang="en-GB" sz="2400" dirty="0">
              <a:solidFill>
                <a:srgbClr val="00B050"/>
              </a:solidFill>
            </a:endParaRPr>
          </a:p>
          <a:p>
            <a:pPr marL="457200" indent="-457200">
              <a:buFont typeface="+mj-lt"/>
              <a:buAutoNum type="arabicPeriod"/>
            </a:pPr>
            <a:r>
              <a:rPr lang="en-GB" sz="2400" dirty="0" smtClean="0"/>
              <a:t>How </a:t>
            </a:r>
            <a:r>
              <a:rPr lang="en-GB" sz="2400" dirty="0"/>
              <a:t>could you distinguish between a pure substance and a </a:t>
            </a:r>
            <a:r>
              <a:rPr lang="en-GB" sz="2400" dirty="0" smtClean="0"/>
              <a:t>mixture?</a:t>
            </a:r>
          </a:p>
          <a:p>
            <a:pPr lvl="1"/>
            <a:r>
              <a:rPr lang="en-GB" sz="2400" dirty="0" smtClean="0">
                <a:solidFill>
                  <a:srgbClr val="00B050"/>
                </a:solidFill>
              </a:rPr>
              <a:t>Pure substances melt and boil at specific temperatures. Melting and boiling point data could be used.</a:t>
            </a:r>
            <a:endParaRPr lang="en-GB" sz="2400" dirty="0">
              <a:solidFill>
                <a:srgbClr val="00B050"/>
              </a:solidFill>
            </a:endParaRPr>
          </a:p>
          <a:p>
            <a:pPr marL="457200" indent="-457200">
              <a:buFont typeface="+mj-lt"/>
              <a:buAutoNum type="arabicPeriod"/>
            </a:pPr>
            <a:r>
              <a:rPr lang="en-GB" sz="2400" dirty="0" smtClean="0"/>
              <a:t>What is a formulation?</a:t>
            </a:r>
          </a:p>
          <a:p>
            <a:pPr lvl="1"/>
            <a:r>
              <a:rPr lang="en-GB" sz="2400" dirty="0" smtClean="0">
                <a:solidFill>
                  <a:srgbClr val="00B050"/>
                </a:solidFill>
              </a:rPr>
              <a:t>A mixture that has been designed as a useful product.</a:t>
            </a:r>
          </a:p>
          <a:p>
            <a:pPr marL="457200" indent="-457200">
              <a:buFont typeface="+mj-lt"/>
              <a:buAutoNum type="arabicPeriod"/>
            </a:pPr>
            <a:r>
              <a:rPr lang="en-GB" sz="2400" dirty="0" smtClean="0"/>
              <a:t>How </a:t>
            </a:r>
            <a:r>
              <a:rPr lang="en-GB" sz="2400" dirty="0"/>
              <a:t>are formulations made</a:t>
            </a:r>
            <a:r>
              <a:rPr lang="en-GB" sz="2400" dirty="0" smtClean="0"/>
              <a:t>?</a:t>
            </a:r>
          </a:p>
          <a:p>
            <a:pPr lvl="1"/>
            <a:r>
              <a:rPr lang="en-GB" sz="2400" dirty="0" smtClean="0">
                <a:solidFill>
                  <a:srgbClr val="00B050"/>
                </a:solidFill>
              </a:rPr>
              <a:t>Mixing the components in carefully measured quantities to ensure the product has the required properties.</a:t>
            </a:r>
            <a:endParaRPr lang="en-GB" sz="2400" dirty="0">
              <a:solidFill>
                <a:srgbClr val="00B050"/>
              </a:solidFill>
            </a:endParaRPr>
          </a:p>
          <a:p>
            <a:pPr marL="457200" indent="-457200">
              <a:buFont typeface="+mj-lt"/>
              <a:buAutoNum type="arabicPeriod"/>
            </a:pPr>
            <a:r>
              <a:rPr lang="en-GB" sz="2400" dirty="0" smtClean="0"/>
              <a:t>Give </a:t>
            </a:r>
            <a:r>
              <a:rPr lang="en-GB" sz="2400" dirty="0"/>
              <a:t>two examples of formulations. </a:t>
            </a:r>
            <a:endParaRPr lang="en-GB" sz="2400" dirty="0" smtClean="0"/>
          </a:p>
          <a:p>
            <a:pPr lvl="1"/>
            <a:r>
              <a:rPr lang="en-GB" sz="2400" dirty="0" smtClean="0">
                <a:solidFill>
                  <a:srgbClr val="00B050"/>
                </a:solidFill>
              </a:rPr>
              <a:t>Fuels, cleaning agents, paints, medicines, alloys, fertilisers and foods.</a:t>
            </a:r>
          </a:p>
        </p:txBody>
      </p:sp>
    </p:spTree>
    <p:extLst>
      <p:ext uri="{BB962C8B-B14F-4D97-AF65-F5344CB8AC3E}">
        <p14:creationId xmlns:p14="http://schemas.microsoft.com/office/powerpoint/2010/main" val="857041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kern="1200" dirty="0">
                <a:solidFill>
                  <a:schemeClr val="accent6"/>
                </a:solidFill>
                <a:latin typeface="Calibri"/>
                <a:ea typeface=""/>
                <a:cs typeface="News Gothic MT"/>
              </a:rPr>
              <a:t>Purity, Formulations and Chromatography –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mc:AlternateContent xmlns:mc="http://schemas.openxmlformats.org/markup-compatibility/2006" xmlns:a14="http://schemas.microsoft.com/office/drawing/2010/main">
        <mc:Choice Requires="a14">
          <p:sp>
            <p:nvSpPr>
              <p:cNvPr id="6" name="TextBox 5"/>
              <p:cNvSpPr txBox="1"/>
              <p:nvPr/>
            </p:nvSpPr>
            <p:spPr>
              <a:xfrm>
                <a:off x="120365" y="404664"/>
                <a:ext cx="8915400" cy="5109540"/>
              </a:xfrm>
              <a:prstGeom prst="rect">
                <a:avLst/>
              </a:prstGeom>
              <a:noFill/>
            </p:spPr>
            <p:txBody>
              <a:bodyPr wrap="square" rtlCol="0">
                <a:spAutoFit/>
              </a:bodyPr>
              <a:lstStyle/>
              <a:p>
                <a:endParaRPr lang="en-GB" sz="2400" dirty="0" smtClean="0"/>
              </a:p>
              <a:p>
                <a:pPr marL="457200" indent="-457200">
                  <a:buFont typeface="+mj-lt"/>
                  <a:buAutoNum type="arabicPeriod" startAt="6"/>
                </a:pPr>
                <a:r>
                  <a:rPr lang="en-GB" sz="2400" dirty="0" smtClean="0"/>
                  <a:t>What </a:t>
                </a:r>
                <a:r>
                  <a:rPr lang="en-GB" sz="2400" dirty="0"/>
                  <a:t>is chromatograph</a:t>
                </a:r>
                <a:r>
                  <a:rPr lang="en-GB" sz="2400" dirty="0" smtClean="0"/>
                  <a:t>?</a:t>
                </a:r>
              </a:p>
              <a:p>
                <a:pPr lvl="1"/>
                <a:r>
                  <a:rPr lang="en-GB" sz="2400" dirty="0" smtClean="0">
                    <a:solidFill>
                      <a:srgbClr val="00B050"/>
                    </a:solidFill>
                  </a:rPr>
                  <a:t>Used to help separate mixtures, can give information to help identify substances.</a:t>
                </a:r>
                <a:endParaRPr lang="en-GB" sz="2400" dirty="0">
                  <a:solidFill>
                    <a:srgbClr val="00B050"/>
                  </a:solidFill>
                </a:endParaRPr>
              </a:p>
              <a:p>
                <a:pPr marL="457200" indent="-457200">
                  <a:buFont typeface="+mj-lt"/>
                  <a:buAutoNum type="arabicPeriod" startAt="6"/>
                </a:pPr>
                <a:r>
                  <a:rPr lang="en-GB" sz="2400" dirty="0" smtClean="0"/>
                  <a:t>What </a:t>
                </a:r>
                <a:r>
                  <a:rPr lang="en-GB" sz="2400" dirty="0"/>
                  <a:t>happens in the stationary and mobile phases</a:t>
                </a:r>
                <a:r>
                  <a:rPr lang="en-GB" sz="2400" dirty="0" smtClean="0"/>
                  <a:t>?</a:t>
                </a:r>
              </a:p>
              <a:p>
                <a:pPr lvl="1"/>
                <a:r>
                  <a:rPr lang="en-GB" sz="2400" dirty="0" smtClean="0">
                    <a:solidFill>
                      <a:srgbClr val="00B050"/>
                    </a:solidFill>
                  </a:rPr>
                  <a:t>Stationary phase is the paper; mobile phase is the solvent. Mixture is dissolved in the solvent and moves up the stationary phase. </a:t>
                </a:r>
              </a:p>
              <a:p>
                <a:pPr marL="457200" indent="-457200">
                  <a:buFont typeface="+mj-lt"/>
                  <a:buAutoNum type="arabicPeriod" startAt="6"/>
                </a:pPr>
                <a:r>
                  <a:rPr lang="en-GB" sz="2400" dirty="0" smtClean="0"/>
                  <a:t>State the equation used to find the </a:t>
                </a:r>
                <a:r>
                  <a:rPr lang="en-GB" sz="2400" dirty="0" err="1" smtClean="0"/>
                  <a:t>Rf</a:t>
                </a:r>
                <a:r>
                  <a:rPr lang="en-GB" sz="2400" dirty="0" smtClean="0"/>
                  <a:t> value. </a:t>
                </a:r>
              </a:p>
              <a:p>
                <a:pPr lvl="1"/>
                <a:r>
                  <a:rPr lang="en-GB" sz="2400" dirty="0" err="1" smtClean="0">
                    <a:solidFill>
                      <a:srgbClr val="00B050"/>
                    </a:solidFill>
                  </a:rPr>
                  <a:t>Rf</a:t>
                </a:r>
                <a:r>
                  <a:rPr lang="en-GB" sz="2400" dirty="0" smtClean="0">
                    <a:solidFill>
                      <a:srgbClr val="00B050"/>
                    </a:solidFill>
                  </a:rPr>
                  <a:t> = </a:t>
                </a:r>
                <a14:m>
                  <m:oMath xmlns:m="http://schemas.openxmlformats.org/officeDocument/2006/math">
                    <m:f>
                      <m:fPr>
                        <m:ctrlPr>
                          <a:rPr lang="en-GB" sz="2400" i="1" smtClean="0">
                            <a:solidFill>
                              <a:srgbClr val="00B050"/>
                            </a:solidFill>
                            <a:latin typeface="Cambria Math" charset="0"/>
                          </a:rPr>
                        </m:ctrlPr>
                      </m:fPr>
                      <m:num>
                        <m:r>
                          <m:rPr>
                            <m:sty m:val="p"/>
                          </m:rPr>
                          <a:rPr lang="en-GB" sz="2400" b="0" i="0" smtClean="0">
                            <a:solidFill>
                              <a:srgbClr val="00B050"/>
                            </a:solidFill>
                            <a:latin typeface="Cambria Math" charset="0"/>
                          </a:rPr>
                          <m:t>distance</m:t>
                        </m:r>
                        <m:r>
                          <a:rPr lang="en-GB" sz="2400" b="0" i="0" smtClean="0">
                            <a:solidFill>
                              <a:srgbClr val="00B050"/>
                            </a:solidFill>
                            <a:latin typeface="Cambria Math" charset="0"/>
                          </a:rPr>
                          <m:t> </m:t>
                        </m:r>
                        <m:r>
                          <m:rPr>
                            <m:sty m:val="p"/>
                          </m:rPr>
                          <a:rPr lang="en-GB" sz="2400" b="0" i="0" smtClean="0">
                            <a:solidFill>
                              <a:srgbClr val="00B050"/>
                            </a:solidFill>
                            <a:latin typeface="Cambria Math" charset="0"/>
                          </a:rPr>
                          <m:t>moved</m:t>
                        </m:r>
                        <m:r>
                          <a:rPr lang="en-GB" sz="2400" b="0" i="0" smtClean="0">
                            <a:solidFill>
                              <a:srgbClr val="00B050"/>
                            </a:solidFill>
                            <a:latin typeface="Cambria Math" charset="0"/>
                          </a:rPr>
                          <m:t> </m:t>
                        </m:r>
                        <m:r>
                          <m:rPr>
                            <m:sty m:val="p"/>
                          </m:rPr>
                          <a:rPr lang="en-GB" sz="2400" b="0" i="0" smtClean="0">
                            <a:solidFill>
                              <a:srgbClr val="00B050"/>
                            </a:solidFill>
                            <a:latin typeface="Cambria Math" charset="0"/>
                          </a:rPr>
                          <m:t>by</m:t>
                        </m:r>
                        <m:r>
                          <a:rPr lang="en-GB" sz="2400" b="0" i="0" smtClean="0">
                            <a:solidFill>
                              <a:srgbClr val="00B050"/>
                            </a:solidFill>
                            <a:latin typeface="Cambria Math" charset="0"/>
                          </a:rPr>
                          <m:t> </m:t>
                        </m:r>
                        <m:r>
                          <m:rPr>
                            <m:sty m:val="p"/>
                          </m:rPr>
                          <a:rPr lang="en-GB" sz="2400" b="0" i="0" smtClean="0">
                            <a:solidFill>
                              <a:srgbClr val="00B050"/>
                            </a:solidFill>
                            <a:latin typeface="Cambria Math" charset="0"/>
                          </a:rPr>
                          <m:t>substance</m:t>
                        </m:r>
                      </m:num>
                      <m:den>
                        <m:r>
                          <m:rPr>
                            <m:sty m:val="p"/>
                          </m:rPr>
                          <a:rPr lang="en-GB" sz="2400" b="0" i="0" smtClean="0">
                            <a:solidFill>
                              <a:srgbClr val="00B050"/>
                            </a:solidFill>
                            <a:latin typeface="Cambria Math" charset="0"/>
                          </a:rPr>
                          <m:t>distance</m:t>
                        </m:r>
                        <m:r>
                          <a:rPr lang="en-GB" sz="2400" b="0" i="0" smtClean="0">
                            <a:solidFill>
                              <a:srgbClr val="00B050"/>
                            </a:solidFill>
                            <a:latin typeface="Cambria Math" charset="0"/>
                          </a:rPr>
                          <m:t> </m:t>
                        </m:r>
                        <m:r>
                          <m:rPr>
                            <m:sty m:val="p"/>
                          </m:rPr>
                          <a:rPr lang="en-GB" sz="2400" b="0" i="0" smtClean="0">
                            <a:solidFill>
                              <a:srgbClr val="00B050"/>
                            </a:solidFill>
                            <a:latin typeface="Cambria Math" charset="0"/>
                          </a:rPr>
                          <m:t>moved</m:t>
                        </m:r>
                        <m:r>
                          <a:rPr lang="en-GB" sz="2400" b="0" i="0" smtClean="0">
                            <a:solidFill>
                              <a:srgbClr val="00B050"/>
                            </a:solidFill>
                            <a:latin typeface="Cambria Math" charset="0"/>
                          </a:rPr>
                          <m:t> </m:t>
                        </m:r>
                        <m:r>
                          <m:rPr>
                            <m:sty m:val="p"/>
                          </m:rPr>
                          <a:rPr lang="en-GB" sz="2400" b="0" i="0" smtClean="0">
                            <a:solidFill>
                              <a:srgbClr val="00B050"/>
                            </a:solidFill>
                            <a:latin typeface="Cambria Math" charset="0"/>
                          </a:rPr>
                          <m:t>by</m:t>
                        </m:r>
                        <m:r>
                          <a:rPr lang="en-GB" sz="2400" b="0" i="0" smtClean="0">
                            <a:solidFill>
                              <a:srgbClr val="00B050"/>
                            </a:solidFill>
                            <a:latin typeface="Cambria Math" charset="0"/>
                          </a:rPr>
                          <m:t> </m:t>
                        </m:r>
                        <m:r>
                          <m:rPr>
                            <m:sty m:val="p"/>
                          </m:rPr>
                          <a:rPr lang="en-GB" sz="2400" b="0" i="0" smtClean="0">
                            <a:solidFill>
                              <a:srgbClr val="00B050"/>
                            </a:solidFill>
                            <a:latin typeface="Cambria Math" charset="0"/>
                          </a:rPr>
                          <m:t>solvent</m:t>
                        </m:r>
                      </m:den>
                    </m:f>
                  </m:oMath>
                </a14:m>
                <a:endParaRPr lang="en-GB" sz="2400" dirty="0" smtClean="0">
                  <a:solidFill>
                    <a:srgbClr val="00B050"/>
                  </a:solidFill>
                </a:endParaRPr>
              </a:p>
              <a:p>
                <a:pPr marL="457200" indent="-457200">
                  <a:buFont typeface="+mj-lt"/>
                  <a:buAutoNum type="arabicPeriod" startAt="6"/>
                </a:pPr>
                <a:r>
                  <a:rPr lang="en-GB" sz="2400" dirty="0" smtClean="0"/>
                  <a:t>A </a:t>
                </a:r>
                <a:r>
                  <a:rPr lang="en-GB" sz="2400" dirty="0"/>
                  <a:t>solvent travels 8cm up the stationary phase, two spots separate out. A travels 6cm up the mobile phase, B travels 4.5cm up the mobile phase. Give the </a:t>
                </a:r>
                <a:r>
                  <a:rPr lang="en-GB" sz="2400" dirty="0" err="1"/>
                  <a:t>Rf</a:t>
                </a:r>
                <a:r>
                  <a:rPr lang="en-GB" sz="2400" dirty="0"/>
                  <a:t> value for both to two decimal places</a:t>
                </a:r>
                <a:r>
                  <a:rPr lang="en-GB" sz="2400" dirty="0" smtClean="0"/>
                  <a:t>.</a:t>
                </a:r>
              </a:p>
              <a:p>
                <a:pPr lvl="1"/>
                <a:r>
                  <a:rPr lang="en-GB" sz="2400" dirty="0">
                    <a:solidFill>
                      <a:srgbClr val="00B050"/>
                    </a:solidFill>
                  </a:rPr>
                  <a:t>A = 0.75, B= </a:t>
                </a:r>
                <a:r>
                  <a:rPr lang="en-GB" sz="2400" dirty="0" smtClean="0">
                    <a:solidFill>
                      <a:srgbClr val="00B050"/>
                    </a:solidFill>
                  </a:rPr>
                  <a:t>0.56</a:t>
                </a:r>
                <a:endParaRPr lang="en-GB" sz="2400" dirty="0">
                  <a:solidFill>
                    <a:srgbClr val="00B05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120365" y="404664"/>
                <a:ext cx="8915400" cy="5109540"/>
              </a:xfrm>
              <a:prstGeom prst="rect">
                <a:avLst/>
              </a:prstGeom>
              <a:blipFill rotWithShape="0">
                <a:blip r:embed="rId2"/>
                <a:stretch>
                  <a:fillRect l="-1094" r="-1505" b="-1669"/>
                </a:stretch>
              </a:blipFill>
            </p:spPr>
            <p:txBody>
              <a:bodyPr/>
              <a:lstStyle/>
              <a:p>
                <a:r>
                  <a:rPr lang="en-GB">
                    <a:noFill/>
                  </a:rPr>
                  <a:t> </a:t>
                </a:r>
              </a:p>
            </p:txBody>
          </p:sp>
        </mc:Fallback>
      </mc:AlternateContent>
    </p:spTree>
    <p:extLst>
      <p:ext uri="{BB962C8B-B14F-4D97-AF65-F5344CB8AC3E}">
        <p14:creationId xmlns:p14="http://schemas.microsoft.com/office/powerpoint/2010/main" val="3864690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3491880" cy="6294031"/>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3200" b="1" dirty="0">
                <a:solidFill>
                  <a:schemeClr val="tx1">
                    <a:lumMod val="50000"/>
                    <a:lumOff val="50000"/>
                  </a:schemeClr>
                </a:solidFill>
              </a:rPr>
              <a:t>Identification of </a:t>
            </a:r>
          </a:p>
          <a:p>
            <a:r>
              <a:rPr lang="en-GB" sz="3200" b="1" dirty="0">
                <a:solidFill>
                  <a:schemeClr val="tx1">
                    <a:lumMod val="50000"/>
                    <a:lumOff val="50000"/>
                  </a:schemeClr>
                </a:solidFill>
              </a:rPr>
              <a:t>common gases</a:t>
            </a:r>
          </a:p>
          <a:p>
            <a:pPr marL="457200" indent="-457200">
              <a:lnSpc>
                <a:spcPct val="150000"/>
              </a:lnSpc>
              <a:buFont typeface="Arial" charset="0"/>
              <a:buChar char="•"/>
            </a:pPr>
            <a:r>
              <a:rPr lang="en-GB" b="1" dirty="0">
                <a:solidFill>
                  <a:schemeClr val="tx1">
                    <a:lumMod val="50000"/>
                    <a:lumOff val="50000"/>
                  </a:schemeClr>
                </a:solidFill>
              </a:rPr>
              <a:t>Test for hydrogen</a:t>
            </a:r>
          </a:p>
          <a:p>
            <a:pPr marL="285750" indent="-285750">
              <a:lnSpc>
                <a:spcPct val="150000"/>
              </a:lnSpc>
              <a:buFont typeface="Arial" panose="020B0604020202020204" pitchFamily="34" charset="0"/>
              <a:buChar char="•"/>
            </a:pPr>
            <a:r>
              <a:rPr lang="en-GB" b="1" dirty="0">
                <a:solidFill>
                  <a:schemeClr val="tx1">
                    <a:lumMod val="50000"/>
                    <a:lumOff val="50000"/>
                  </a:schemeClr>
                </a:solidFill>
              </a:rPr>
              <a:t>   Test for oxygen</a:t>
            </a:r>
          </a:p>
          <a:p>
            <a:pPr marL="285750" indent="-285750">
              <a:lnSpc>
                <a:spcPct val="150000"/>
              </a:lnSpc>
              <a:buFont typeface="Arial" panose="020B0604020202020204" pitchFamily="34" charset="0"/>
              <a:buChar char="•"/>
            </a:pPr>
            <a:r>
              <a:rPr lang="en-GB" b="1" dirty="0">
                <a:solidFill>
                  <a:schemeClr val="tx1">
                    <a:lumMod val="50000"/>
                    <a:lumOff val="50000"/>
                  </a:schemeClr>
                </a:solidFill>
              </a:rPr>
              <a:t>   Test for carbon dioxide</a:t>
            </a:r>
          </a:p>
          <a:p>
            <a:pPr marL="285750" indent="-285750">
              <a:lnSpc>
                <a:spcPct val="150000"/>
              </a:lnSpc>
              <a:buFont typeface="Arial" panose="020B0604020202020204" pitchFamily="34" charset="0"/>
              <a:buChar char="•"/>
            </a:pPr>
            <a:r>
              <a:rPr lang="en-GB" b="1" dirty="0">
                <a:solidFill>
                  <a:schemeClr val="tx1">
                    <a:lumMod val="50000"/>
                    <a:lumOff val="50000"/>
                  </a:schemeClr>
                </a:solidFill>
              </a:rPr>
              <a:t>   Test for chlorine </a:t>
            </a:r>
          </a:p>
          <a:p>
            <a:pPr>
              <a:lnSpc>
                <a:spcPct val="150000"/>
              </a:lnSpc>
            </a:pPr>
            <a:endParaRPr lang="en-GB" b="1" dirty="0">
              <a:solidFill>
                <a:schemeClr val="tx1">
                  <a:lumMod val="50000"/>
                  <a:lumOff val="50000"/>
                </a:schemeClr>
              </a:solidFill>
            </a:endParaRPr>
          </a:p>
          <a:p>
            <a:endParaRPr lang="en-GB" sz="2400" b="1" dirty="0">
              <a:solidFill>
                <a:schemeClr val="tx1">
                  <a:lumMod val="50000"/>
                  <a:lumOff val="50000"/>
                </a:schemeClr>
              </a:solidFill>
            </a:endParaRPr>
          </a:p>
          <a:p>
            <a:endParaRPr lang="en-GB" dirty="0"/>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Tree>
    <p:extLst>
      <p:ext uri="{BB962C8B-B14F-4D97-AF65-F5344CB8AC3E}">
        <p14:creationId xmlns:p14="http://schemas.microsoft.com/office/powerpoint/2010/main" val="19105423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35655"/>
            <a:ext cx="8028384"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000" b="1" dirty="0">
                <a:solidFill>
                  <a:schemeClr val="accent6"/>
                </a:solidFill>
              </a:rPr>
              <a:t>Identification of common gases</a:t>
            </a:r>
            <a:endParaRPr lang="en-GB" sz="2000" b="1" dirty="0">
              <a:solidFill>
                <a:schemeClr val="accent6"/>
              </a:solidFill>
            </a:endParaRPr>
          </a:p>
        </p:txBody>
      </p:sp>
      <p:sp>
        <p:nvSpPr>
          <p:cNvPr id="9" name="TextBox 8"/>
          <p:cNvSpPr txBox="1"/>
          <p:nvPr/>
        </p:nvSpPr>
        <p:spPr>
          <a:xfrm>
            <a:off x="6876256" y="5517232"/>
            <a:ext cx="184731" cy="369332"/>
          </a:xfrm>
          <a:prstGeom prst="rect">
            <a:avLst/>
          </a:prstGeom>
          <a:noFill/>
        </p:spPr>
        <p:txBody>
          <a:bodyPr wrap="none" rtlCol="0">
            <a:spAutoFit/>
          </a:bodyPr>
          <a:lstStyle/>
          <a:p>
            <a:endParaRPr lang="en-GB" dirty="0"/>
          </a:p>
        </p:txBody>
      </p:sp>
      <p:sp>
        <p:nvSpPr>
          <p:cNvPr id="5" name="TextBox 4"/>
          <p:cNvSpPr txBox="1"/>
          <p:nvPr/>
        </p:nvSpPr>
        <p:spPr>
          <a:xfrm>
            <a:off x="179511" y="836712"/>
            <a:ext cx="5360359" cy="1323439"/>
          </a:xfrm>
          <a:prstGeom prst="rect">
            <a:avLst/>
          </a:prstGeom>
          <a:noFill/>
          <a:ln w="28575">
            <a:solidFill>
              <a:schemeClr val="accent6"/>
            </a:solidFill>
          </a:ln>
        </p:spPr>
        <p:txBody>
          <a:bodyPr wrap="square" rtlCol="0">
            <a:spAutoFit/>
          </a:bodyPr>
          <a:lstStyle/>
          <a:p>
            <a:r>
              <a:rPr lang="en-GB" sz="2000" b="1" u="sng" dirty="0"/>
              <a:t>Test For Hydrogen</a:t>
            </a:r>
          </a:p>
          <a:p>
            <a:r>
              <a:rPr lang="en-GB" sz="2000" dirty="0"/>
              <a:t>The test for hydrogen uses a </a:t>
            </a:r>
            <a:r>
              <a:rPr lang="en-GB" sz="2000" b="1" dirty="0">
                <a:solidFill>
                  <a:schemeClr val="accent6">
                    <a:lumMod val="75000"/>
                  </a:schemeClr>
                </a:solidFill>
              </a:rPr>
              <a:t>burning splint </a:t>
            </a:r>
            <a:r>
              <a:rPr lang="en-GB" sz="2000" dirty="0"/>
              <a:t>held at the open end of a test tube of the gas. Hydrogen burns rapidly with a </a:t>
            </a:r>
            <a:r>
              <a:rPr lang="en-GB" sz="2000" b="1" dirty="0">
                <a:solidFill>
                  <a:schemeClr val="accent6">
                    <a:lumMod val="75000"/>
                  </a:schemeClr>
                </a:solidFill>
              </a:rPr>
              <a:t>pop sound</a:t>
            </a:r>
            <a:r>
              <a:rPr lang="en-GB" sz="2000" dirty="0"/>
              <a:t>.</a:t>
            </a:r>
          </a:p>
        </p:txBody>
      </p:sp>
      <p:sp>
        <p:nvSpPr>
          <p:cNvPr id="12" name="TextBox 11"/>
          <p:cNvSpPr txBox="1"/>
          <p:nvPr/>
        </p:nvSpPr>
        <p:spPr>
          <a:xfrm>
            <a:off x="185879" y="2952487"/>
            <a:ext cx="5360359" cy="1323439"/>
          </a:xfrm>
          <a:custGeom>
            <a:avLst/>
            <a:gdLst>
              <a:gd name="connsiteX0" fmla="*/ 0 w 4680520"/>
              <a:gd name="connsiteY0" fmla="*/ 0 h 1138773"/>
              <a:gd name="connsiteX1" fmla="*/ 4680520 w 4680520"/>
              <a:gd name="connsiteY1" fmla="*/ 0 h 1138773"/>
              <a:gd name="connsiteX2" fmla="*/ 4680520 w 4680520"/>
              <a:gd name="connsiteY2" fmla="*/ 1138773 h 1138773"/>
              <a:gd name="connsiteX3" fmla="*/ 0 w 4680520"/>
              <a:gd name="connsiteY3" fmla="*/ 1138773 h 1138773"/>
              <a:gd name="connsiteX4" fmla="*/ 0 w 4680520"/>
              <a:gd name="connsiteY4" fmla="*/ 0 h 1138773"/>
              <a:gd name="connsiteX0" fmla="*/ 0 w 4680520"/>
              <a:gd name="connsiteY0" fmla="*/ 0 h 1228926"/>
              <a:gd name="connsiteX1" fmla="*/ 4680520 w 4680520"/>
              <a:gd name="connsiteY1" fmla="*/ 90153 h 1228926"/>
              <a:gd name="connsiteX2" fmla="*/ 4680520 w 4680520"/>
              <a:gd name="connsiteY2" fmla="*/ 1228926 h 1228926"/>
              <a:gd name="connsiteX3" fmla="*/ 0 w 4680520"/>
              <a:gd name="connsiteY3" fmla="*/ 1228926 h 1228926"/>
              <a:gd name="connsiteX4" fmla="*/ 0 w 4680520"/>
              <a:gd name="connsiteY4" fmla="*/ 0 h 1228926"/>
              <a:gd name="connsiteX0" fmla="*/ 0 w 4693399"/>
              <a:gd name="connsiteY0" fmla="*/ 25757 h 1254683"/>
              <a:gd name="connsiteX1" fmla="*/ 4693399 w 4693399"/>
              <a:gd name="connsiteY1" fmla="*/ 0 h 1254683"/>
              <a:gd name="connsiteX2" fmla="*/ 4680520 w 4693399"/>
              <a:gd name="connsiteY2" fmla="*/ 1254683 h 1254683"/>
              <a:gd name="connsiteX3" fmla="*/ 0 w 4693399"/>
              <a:gd name="connsiteY3" fmla="*/ 1254683 h 1254683"/>
              <a:gd name="connsiteX4" fmla="*/ 0 w 4693399"/>
              <a:gd name="connsiteY4" fmla="*/ 25757 h 1254683"/>
              <a:gd name="connsiteX0" fmla="*/ 0 w 4693399"/>
              <a:gd name="connsiteY0" fmla="*/ 12878 h 1241804"/>
              <a:gd name="connsiteX1" fmla="*/ 4693399 w 4693399"/>
              <a:gd name="connsiteY1" fmla="*/ 0 h 1241804"/>
              <a:gd name="connsiteX2" fmla="*/ 4680520 w 4693399"/>
              <a:gd name="connsiteY2" fmla="*/ 1241804 h 1241804"/>
              <a:gd name="connsiteX3" fmla="*/ 0 w 4693399"/>
              <a:gd name="connsiteY3" fmla="*/ 1241804 h 1241804"/>
              <a:gd name="connsiteX4" fmla="*/ 0 w 4693399"/>
              <a:gd name="connsiteY4" fmla="*/ 12878 h 1241804"/>
              <a:gd name="connsiteX0" fmla="*/ 0 w 4693399"/>
              <a:gd name="connsiteY0" fmla="*/ 12878 h 1241804"/>
              <a:gd name="connsiteX1" fmla="*/ 4693399 w 4693399"/>
              <a:gd name="connsiteY1" fmla="*/ 0 h 1241804"/>
              <a:gd name="connsiteX2" fmla="*/ 4680520 w 4693399"/>
              <a:gd name="connsiteY2" fmla="*/ 1241804 h 1241804"/>
              <a:gd name="connsiteX3" fmla="*/ 0 w 4693399"/>
              <a:gd name="connsiteY3" fmla="*/ 1113015 h 1241804"/>
              <a:gd name="connsiteX4" fmla="*/ 0 w 4693399"/>
              <a:gd name="connsiteY4" fmla="*/ 12878 h 1241804"/>
              <a:gd name="connsiteX0" fmla="*/ 0 w 4693399"/>
              <a:gd name="connsiteY0" fmla="*/ 12878 h 1113015"/>
              <a:gd name="connsiteX1" fmla="*/ 4693399 w 4693399"/>
              <a:gd name="connsiteY1" fmla="*/ 0 h 1113015"/>
              <a:gd name="connsiteX2" fmla="*/ 4680520 w 4693399"/>
              <a:gd name="connsiteY2" fmla="*/ 1113015 h 1113015"/>
              <a:gd name="connsiteX3" fmla="*/ 0 w 4693399"/>
              <a:gd name="connsiteY3" fmla="*/ 1113015 h 1113015"/>
              <a:gd name="connsiteX4" fmla="*/ 0 w 4693399"/>
              <a:gd name="connsiteY4" fmla="*/ 12878 h 1113015"/>
              <a:gd name="connsiteX0" fmla="*/ 0 w 4693399"/>
              <a:gd name="connsiteY0" fmla="*/ 12878 h 1113015"/>
              <a:gd name="connsiteX1" fmla="*/ 4693399 w 4693399"/>
              <a:gd name="connsiteY1" fmla="*/ 0 h 1113015"/>
              <a:gd name="connsiteX2" fmla="*/ 4693399 w 4693399"/>
              <a:gd name="connsiteY2" fmla="*/ 1113015 h 1113015"/>
              <a:gd name="connsiteX3" fmla="*/ 0 w 4693399"/>
              <a:gd name="connsiteY3" fmla="*/ 1113015 h 1113015"/>
              <a:gd name="connsiteX4" fmla="*/ 0 w 4693399"/>
              <a:gd name="connsiteY4" fmla="*/ 12878 h 1113015"/>
              <a:gd name="connsiteX0" fmla="*/ 0 w 4693399"/>
              <a:gd name="connsiteY0" fmla="*/ 0 h 1203634"/>
              <a:gd name="connsiteX1" fmla="*/ 4693399 w 4693399"/>
              <a:gd name="connsiteY1" fmla="*/ 90619 h 1203634"/>
              <a:gd name="connsiteX2" fmla="*/ 4693399 w 4693399"/>
              <a:gd name="connsiteY2" fmla="*/ 1203634 h 1203634"/>
              <a:gd name="connsiteX3" fmla="*/ 0 w 4693399"/>
              <a:gd name="connsiteY3" fmla="*/ 1203634 h 1203634"/>
              <a:gd name="connsiteX4" fmla="*/ 0 w 4693399"/>
              <a:gd name="connsiteY4" fmla="*/ 0 h 1203634"/>
              <a:gd name="connsiteX0" fmla="*/ 0 w 4693399"/>
              <a:gd name="connsiteY0" fmla="*/ 0 h 1203634"/>
              <a:gd name="connsiteX1" fmla="*/ 4680520 w 4693399"/>
              <a:gd name="connsiteY1" fmla="*/ 21621 h 1203634"/>
              <a:gd name="connsiteX2" fmla="*/ 4693399 w 4693399"/>
              <a:gd name="connsiteY2" fmla="*/ 1203634 h 1203634"/>
              <a:gd name="connsiteX3" fmla="*/ 0 w 4693399"/>
              <a:gd name="connsiteY3" fmla="*/ 1203634 h 1203634"/>
              <a:gd name="connsiteX4" fmla="*/ 0 w 4693399"/>
              <a:gd name="connsiteY4" fmla="*/ 0 h 1203634"/>
              <a:gd name="connsiteX0" fmla="*/ 0 w 4693399"/>
              <a:gd name="connsiteY0" fmla="*/ 0 h 1203634"/>
              <a:gd name="connsiteX1" fmla="*/ 4680520 w 4693399"/>
              <a:gd name="connsiteY1" fmla="*/ 21621 h 1203634"/>
              <a:gd name="connsiteX2" fmla="*/ 4693399 w 4693399"/>
              <a:gd name="connsiteY2" fmla="*/ 1203634 h 1203634"/>
              <a:gd name="connsiteX3" fmla="*/ 0 w 4693399"/>
              <a:gd name="connsiteY3" fmla="*/ 1100137 h 1203634"/>
              <a:gd name="connsiteX4" fmla="*/ 0 w 4693399"/>
              <a:gd name="connsiteY4" fmla="*/ 0 h 1203634"/>
              <a:gd name="connsiteX0" fmla="*/ 0 w 4680520"/>
              <a:gd name="connsiteY0" fmla="*/ 0 h 1100137"/>
              <a:gd name="connsiteX1" fmla="*/ 4680520 w 4680520"/>
              <a:gd name="connsiteY1" fmla="*/ 21621 h 1100137"/>
              <a:gd name="connsiteX2" fmla="*/ 4680520 w 4680520"/>
              <a:gd name="connsiteY2" fmla="*/ 1100137 h 1100137"/>
              <a:gd name="connsiteX3" fmla="*/ 0 w 4680520"/>
              <a:gd name="connsiteY3" fmla="*/ 1100137 h 1100137"/>
              <a:gd name="connsiteX4" fmla="*/ 0 w 4680520"/>
              <a:gd name="connsiteY4" fmla="*/ 0 h 11001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0520" h="1100137">
                <a:moveTo>
                  <a:pt x="0" y="0"/>
                </a:moveTo>
                <a:lnTo>
                  <a:pt x="4680520" y="21621"/>
                </a:lnTo>
                <a:lnTo>
                  <a:pt x="4680520" y="1100137"/>
                </a:lnTo>
                <a:lnTo>
                  <a:pt x="0" y="1100137"/>
                </a:lnTo>
                <a:lnTo>
                  <a:pt x="0" y="0"/>
                </a:lnTo>
                <a:close/>
              </a:path>
            </a:pathLst>
          </a:custGeom>
          <a:noFill/>
          <a:ln w="28575">
            <a:solidFill>
              <a:schemeClr val="accent6"/>
            </a:solidFill>
          </a:ln>
        </p:spPr>
        <p:txBody>
          <a:bodyPr wrap="square" rtlCol="0">
            <a:spAutoFit/>
          </a:bodyPr>
          <a:lstStyle/>
          <a:p>
            <a:r>
              <a:rPr lang="en-GB" sz="2000" b="1" u="sng" dirty="0"/>
              <a:t>Test For Oxygen</a:t>
            </a:r>
          </a:p>
          <a:p>
            <a:r>
              <a:rPr lang="en-GB" sz="2000" dirty="0"/>
              <a:t>The test for oxygen uses a </a:t>
            </a:r>
            <a:r>
              <a:rPr lang="en-GB" sz="2000" b="1" dirty="0">
                <a:solidFill>
                  <a:schemeClr val="accent6">
                    <a:lumMod val="75000"/>
                  </a:schemeClr>
                </a:solidFill>
              </a:rPr>
              <a:t>glowing splint </a:t>
            </a:r>
            <a:r>
              <a:rPr lang="en-GB" sz="2000" dirty="0"/>
              <a:t>inserted into a test tube of the gas. The splint </a:t>
            </a:r>
            <a:r>
              <a:rPr lang="en-GB" sz="2000" b="1" dirty="0">
                <a:solidFill>
                  <a:schemeClr val="accent6">
                    <a:lumMod val="75000"/>
                  </a:schemeClr>
                </a:solidFill>
              </a:rPr>
              <a:t>relights</a:t>
            </a:r>
            <a:r>
              <a:rPr lang="en-GB" sz="2000" dirty="0"/>
              <a:t> in oxygen.</a:t>
            </a:r>
          </a:p>
        </p:txBody>
      </p:sp>
      <p:sp>
        <p:nvSpPr>
          <p:cNvPr id="16" name="TextBox 15"/>
          <p:cNvSpPr txBox="1"/>
          <p:nvPr/>
        </p:nvSpPr>
        <p:spPr>
          <a:xfrm>
            <a:off x="179511" y="5733256"/>
            <a:ext cx="8640961" cy="646331"/>
          </a:xfrm>
          <a:prstGeom prst="rect">
            <a:avLst/>
          </a:prstGeom>
          <a:solidFill>
            <a:schemeClr val="accent6"/>
          </a:solidFill>
          <a:ln w="28575">
            <a:solidFill>
              <a:schemeClr val="tx1"/>
            </a:solidFill>
          </a:ln>
        </p:spPr>
        <p:txBody>
          <a:bodyPr wrap="square" rtlCol="0">
            <a:spAutoFit/>
          </a:bodyPr>
          <a:lstStyle/>
          <a:p>
            <a:r>
              <a:rPr lang="en-GB" dirty="0"/>
              <a:t>You must learn all of these tests, including how the gas is tested and the positive result that proves that the chemical is the gas you are testing for.</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18757" y="1043854"/>
            <a:ext cx="3124068" cy="909153"/>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02840" y="2820416"/>
            <a:ext cx="1955901" cy="1587582"/>
          </a:xfrm>
          <a:prstGeom prst="rect">
            <a:avLst/>
          </a:prstGeom>
        </p:spPr>
      </p:pic>
    </p:spTree>
    <p:extLst>
      <p:ext uri="{BB962C8B-B14F-4D97-AF65-F5344CB8AC3E}">
        <p14:creationId xmlns:p14="http://schemas.microsoft.com/office/powerpoint/2010/main" val="3058362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35655"/>
            <a:ext cx="8028384"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000" b="1" dirty="0">
                <a:solidFill>
                  <a:schemeClr val="accent6"/>
                </a:solidFill>
              </a:rPr>
              <a:t>Identification of common gases</a:t>
            </a:r>
            <a:endParaRPr lang="en-GB" sz="2000" b="1" dirty="0">
              <a:solidFill>
                <a:schemeClr val="accent6"/>
              </a:solidFill>
            </a:endParaRPr>
          </a:p>
        </p:txBody>
      </p:sp>
      <p:sp>
        <p:nvSpPr>
          <p:cNvPr id="9" name="TextBox 8"/>
          <p:cNvSpPr txBox="1"/>
          <p:nvPr/>
        </p:nvSpPr>
        <p:spPr>
          <a:xfrm>
            <a:off x="6876256" y="5517232"/>
            <a:ext cx="184731" cy="369332"/>
          </a:xfrm>
          <a:prstGeom prst="rect">
            <a:avLst/>
          </a:prstGeom>
          <a:noFill/>
        </p:spPr>
        <p:txBody>
          <a:bodyPr wrap="none" rtlCol="0">
            <a:spAutoFit/>
          </a:bodyPr>
          <a:lstStyle/>
          <a:p>
            <a:endParaRPr lang="en-GB" dirty="0"/>
          </a:p>
        </p:txBody>
      </p:sp>
      <p:sp>
        <p:nvSpPr>
          <p:cNvPr id="13" name="TextBox 12"/>
          <p:cNvSpPr txBox="1"/>
          <p:nvPr/>
        </p:nvSpPr>
        <p:spPr>
          <a:xfrm>
            <a:off x="179511" y="1005896"/>
            <a:ext cx="5112569" cy="1938992"/>
          </a:xfrm>
          <a:custGeom>
            <a:avLst/>
            <a:gdLst>
              <a:gd name="connsiteX0" fmla="*/ 0 w 4680520"/>
              <a:gd name="connsiteY0" fmla="*/ 0 h 1400383"/>
              <a:gd name="connsiteX1" fmla="*/ 4680520 w 4680520"/>
              <a:gd name="connsiteY1" fmla="*/ 0 h 1400383"/>
              <a:gd name="connsiteX2" fmla="*/ 4680520 w 4680520"/>
              <a:gd name="connsiteY2" fmla="*/ 1400383 h 1400383"/>
              <a:gd name="connsiteX3" fmla="*/ 0 w 4680520"/>
              <a:gd name="connsiteY3" fmla="*/ 1400383 h 1400383"/>
              <a:gd name="connsiteX4" fmla="*/ 0 w 4680520"/>
              <a:gd name="connsiteY4" fmla="*/ 0 h 1400383"/>
              <a:gd name="connsiteX0" fmla="*/ 12879 w 4680520"/>
              <a:gd name="connsiteY0" fmla="*/ 0 h 1619324"/>
              <a:gd name="connsiteX1" fmla="*/ 4680520 w 4680520"/>
              <a:gd name="connsiteY1" fmla="*/ 218941 h 1619324"/>
              <a:gd name="connsiteX2" fmla="*/ 4680520 w 4680520"/>
              <a:gd name="connsiteY2" fmla="*/ 1619324 h 1619324"/>
              <a:gd name="connsiteX3" fmla="*/ 0 w 4680520"/>
              <a:gd name="connsiteY3" fmla="*/ 1619324 h 1619324"/>
              <a:gd name="connsiteX4" fmla="*/ 12879 w 4680520"/>
              <a:gd name="connsiteY4" fmla="*/ 0 h 1619324"/>
              <a:gd name="connsiteX0" fmla="*/ 12879 w 4680520"/>
              <a:gd name="connsiteY0" fmla="*/ 0 h 1619324"/>
              <a:gd name="connsiteX1" fmla="*/ 4680520 w 4680520"/>
              <a:gd name="connsiteY1" fmla="*/ 12879 h 1619324"/>
              <a:gd name="connsiteX2" fmla="*/ 4680520 w 4680520"/>
              <a:gd name="connsiteY2" fmla="*/ 1619324 h 1619324"/>
              <a:gd name="connsiteX3" fmla="*/ 0 w 4680520"/>
              <a:gd name="connsiteY3" fmla="*/ 1619324 h 1619324"/>
              <a:gd name="connsiteX4" fmla="*/ 12879 w 4680520"/>
              <a:gd name="connsiteY4" fmla="*/ 0 h 1619324"/>
              <a:gd name="connsiteX0" fmla="*/ 12879 w 4680520"/>
              <a:gd name="connsiteY0" fmla="*/ 0 h 1619324"/>
              <a:gd name="connsiteX1" fmla="*/ 4667641 w 4680520"/>
              <a:gd name="connsiteY1" fmla="*/ 0 h 1619324"/>
              <a:gd name="connsiteX2" fmla="*/ 4680520 w 4680520"/>
              <a:gd name="connsiteY2" fmla="*/ 1619324 h 1619324"/>
              <a:gd name="connsiteX3" fmla="*/ 0 w 4680520"/>
              <a:gd name="connsiteY3" fmla="*/ 1619324 h 1619324"/>
              <a:gd name="connsiteX4" fmla="*/ 12879 w 4680520"/>
              <a:gd name="connsiteY4" fmla="*/ 0 h 1619324"/>
              <a:gd name="connsiteX0" fmla="*/ 12879 w 4680520"/>
              <a:gd name="connsiteY0" fmla="*/ 0 h 1619324"/>
              <a:gd name="connsiteX1" fmla="*/ 4667641 w 4680520"/>
              <a:gd name="connsiteY1" fmla="*/ 0 h 1619324"/>
              <a:gd name="connsiteX2" fmla="*/ 4680520 w 4680520"/>
              <a:gd name="connsiteY2" fmla="*/ 1619324 h 1619324"/>
              <a:gd name="connsiteX3" fmla="*/ 0 w 4680520"/>
              <a:gd name="connsiteY3" fmla="*/ 1361747 h 1619324"/>
              <a:gd name="connsiteX4" fmla="*/ 12879 w 4680520"/>
              <a:gd name="connsiteY4" fmla="*/ 0 h 1619324"/>
              <a:gd name="connsiteX0" fmla="*/ 12879 w 4667641"/>
              <a:gd name="connsiteY0" fmla="*/ 0 h 1361747"/>
              <a:gd name="connsiteX1" fmla="*/ 4667641 w 4667641"/>
              <a:gd name="connsiteY1" fmla="*/ 0 h 1361747"/>
              <a:gd name="connsiteX2" fmla="*/ 4667641 w 4667641"/>
              <a:gd name="connsiteY2" fmla="*/ 1361747 h 1361747"/>
              <a:gd name="connsiteX3" fmla="*/ 0 w 4667641"/>
              <a:gd name="connsiteY3" fmla="*/ 1361747 h 1361747"/>
              <a:gd name="connsiteX4" fmla="*/ 12879 w 4667641"/>
              <a:gd name="connsiteY4" fmla="*/ 0 h 1361747"/>
              <a:gd name="connsiteX0" fmla="*/ 12879 w 4667641"/>
              <a:gd name="connsiteY0" fmla="*/ 0 h 1683719"/>
              <a:gd name="connsiteX1" fmla="*/ 4667641 w 4667641"/>
              <a:gd name="connsiteY1" fmla="*/ 321972 h 1683719"/>
              <a:gd name="connsiteX2" fmla="*/ 4667641 w 4667641"/>
              <a:gd name="connsiteY2" fmla="*/ 1683719 h 1683719"/>
              <a:gd name="connsiteX3" fmla="*/ 0 w 4667641"/>
              <a:gd name="connsiteY3" fmla="*/ 1683719 h 1683719"/>
              <a:gd name="connsiteX4" fmla="*/ 12879 w 4667641"/>
              <a:gd name="connsiteY4" fmla="*/ 0 h 1683719"/>
              <a:gd name="connsiteX0" fmla="*/ 12879 w 4680520"/>
              <a:gd name="connsiteY0" fmla="*/ 0 h 1683719"/>
              <a:gd name="connsiteX1" fmla="*/ 4680520 w 4680520"/>
              <a:gd name="connsiteY1" fmla="*/ 0 h 1683719"/>
              <a:gd name="connsiteX2" fmla="*/ 4667641 w 4680520"/>
              <a:gd name="connsiteY2" fmla="*/ 1683719 h 1683719"/>
              <a:gd name="connsiteX3" fmla="*/ 0 w 4680520"/>
              <a:gd name="connsiteY3" fmla="*/ 1683719 h 1683719"/>
              <a:gd name="connsiteX4" fmla="*/ 12879 w 4680520"/>
              <a:gd name="connsiteY4" fmla="*/ 0 h 1683719"/>
              <a:gd name="connsiteX0" fmla="*/ 12879 w 4680520"/>
              <a:gd name="connsiteY0" fmla="*/ 0 h 1683719"/>
              <a:gd name="connsiteX1" fmla="*/ 4680520 w 4680520"/>
              <a:gd name="connsiteY1" fmla="*/ 0 h 1683719"/>
              <a:gd name="connsiteX2" fmla="*/ 4667641 w 4680520"/>
              <a:gd name="connsiteY2" fmla="*/ 1683719 h 1683719"/>
              <a:gd name="connsiteX3" fmla="*/ 0 w 4680520"/>
              <a:gd name="connsiteY3" fmla="*/ 1335990 h 1683719"/>
              <a:gd name="connsiteX4" fmla="*/ 12879 w 4680520"/>
              <a:gd name="connsiteY4" fmla="*/ 0 h 1683719"/>
              <a:gd name="connsiteX0" fmla="*/ 12879 w 4680520"/>
              <a:gd name="connsiteY0" fmla="*/ 0 h 1335990"/>
              <a:gd name="connsiteX1" fmla="*/ 4680520 w 4680520"/>
              <a:gd name="connsiteY1" fmla="*/ 0 h 1335990"/>
              <a:gd name="connsiteX2" fmla="*/ 4680519 w 4680520"/>
              <a:gd name="connsiteY2" fmla="*/ 1323110 h 1335990"/>
              <a:gd name="connsiteX3" fmla="*/ 0 w 4680520"/>
              <a:gd name="connsiteY3" fmla="*/ 1335990 h 1335990"/>
              <a:gd name="connsiteX4" fmla="*/ 12879 w 4680520"/>
              <a:gd name="connsiteY4" fmla="*/ 0 h 1335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0520" h="1335990">
                <a:moveTo>
                  <a:pt x="12879" y="0"/>
                </a:moveTo>
                <a:lnTo>
                  <a:pt x="4680520" y="0"/>
                </a:lnTo>
                <a:cubicBezTo>
                  <a:pt x="4680520" y="441037"/>
                  <a:pt x="4680519" y="882073"/>
                  <a:pt x="4680519" y="1323110"/>
                </a:cubicBezTo>
                <a:lnTo>
                  <a:pt x="0" y="1335990"/>
                </a:lnTo>
                <a:lnTo>
                  <a:pt x="12879" y="0"/>
                </a:lnTo>
                <a:close/>
              </a:path>
            </a:pathLst>
          </a:custGeom>
          <a:noFill/>
          <a:ln w="28575">
            <a:solidFill>
              <a:schemeClr val="accent6"/>
            </a:solidFill>
          </a:ln>
        </p:spPr>
        <p:txBody>
          <a:bodyPr wrap="square" rtlCol="0">
            <a:spAutoFit/>
          </a:bodyPr>
          <a:lstStyle/>
          <a:p>
            <a:r>
              <a:rPr lang="en-GB" sz="2000" b="1" u="sng" dirty="0"/>
              <a:t>Test For Carbon Dioxide</a:t>
            </a:r>
          </a:p>
          <a:p>
            <a:r>
              <a:rPr lang="en-GB" sz="2000" dirty="0"/>
              <a:t>The test for carbon dioxide uses an aqueous solution of calcium hydroxide (</a:t>
            </a:r>
            <a:r>
              <a:rPr lang="en-GB" sz="2000" b="1" dirty="0">
                <a:solidFill>
                  <a:schemeClr val="accent6">
                    <a:lumMod val="75000"/>
                  </a:schemeClr>
                </a:solidFill>
              </a:rPr>
              <a:t>lime water</a:t>
            </a:r>
            <a:r>
              <a:rPr lang="en-GB" sz="2000" dirty="0"/>
              <a:t>). When carbon dioxide is shaken or bubbled through limewater the limewater turns </a:t>
            </a:r>
            <a:r>
              <a:rPr lang="en-GB" sz="2000" b="1" dirty="0">
                <a:solidFill>
                  <a:schemeClr val="accent6">
                    <a:lumMod val="75000"/>
                  </a:schemeClr>
                </a:solidFill>
              </a:rPr>
              <a:t>milky</a:t>
            </a:r>
            <a:r>
              <a:rPr lang="en-GB" sz="2000" dirty="0">
                <a:solidFill>
                  <a:schemeClr val="accent6">
                    <a:lumMod val="75000"/>
                  </a:schemeClr>
                </a:solidFill>
              </a:rPr>
              <a:t> </a:t>
            </a:r>
            <a:r>
              <a:rPr lang="en-GB" sz="2000" dirty="0"/>
              <a:t>(</a:t>
            </a:r>
            <a:r>
              <a:rPr lang="en-GB" sz="2000" b="1" dirty="0">
                <a:solidFill>
                  <a:schemeClr val="accent6">
                    <a:lumMod val="75000"/>
                  </a:schemeClr>
                </a:solidFill>
              </a:rPr>
              <a:t>cloudy</a:t>
            </a:r>
            <a:r>
              <a:rPr lang="en-GB" sz="2000" dirty="0"/>
              <a:t>).</a:t>
            </a:r>
          </a:p>
        </p:txBody>
      </p:sp>
      <p:sp>
        <p:nvSpPr>
          <p:cNvPr id="15" name="TextBox 14"/>
          <p:cNvSpPr txBox="1"/>
          <p:nvPr/>
        </p:nvSpPr>
        <p:spPr>
          <a:xfrm>
            <a:off x="179511" y="4010827"/>
            <a:ext cx="5112569" cy="1323439"/>
          </a:xfrm>
          <a:custGeom>
            <a:avLst/>
            <a:gdLst>
              <a:gd name="connsiteX0" fmla="*/ 0 w 4667641"/>
              <a:gd name="connsiteY0" fmla="*/ 0 h 1077218"/>
              <a:gd name="connsiteX1" fmla="*/ 4667641 w 4667641"/>
              <a:gd name="connsiteY1" fmla="*/ 0 h 1077218"/>
              <a:gd name="connsiteX2" fmla="*/ 4667641 w 4667641"/>
              <a:gd name="connsiteY2" fmla="*/ 1077218 h 1077218"/>
              <a:gd name="connsiteX3" fmla="*/ 0 w 4667641"/>
              <a:gd name="connsiteY3" fmla="*/ 1077218 h 1077218"/>
              <a:gd name="connsiteX4" fmla="*/ 0 w 4667641"/>
              <a:gd name="connsiteY4" fmla="*/ 0 h 1077218"/>
              <a:gd name="connsiteX0" fmla="*/ 12879 w 4667641"/>
              <a:gd name="connsiteY0" fmla="*/ 0 h 1450705"/>
              <a:gd name="connsiteX1" fmla="*/ 4667641 w 4667641"/>
              <a:gd name="connsiteY1" fmla="*/ 373487 h 1450705"/>
              <a:gd name="connsiteX2" fmla="*/ 4667641 w 4667641"/>
              <a:gd name="connsiteY2" fmla="*/ 1450705 h 1450705"/>
              <a:gd name="connsiteX3" fmla="*/ 0 w 4667641"/>
              <a:gd name="connsiteY3" fmla="*/ 1450705 h 1450705"/>
              <a:gd name="connsiteX4" fmla="*/ 12879 w 4667641"/>
              <a:gd name="connsiteY4" fmla="*/ 0 h 1450705"/>
              <a:gd name="connsiteX0" fmla="*/ 12879 w 4667641"/>
              <a:gd name="connsiteY0" fmla="*/ 0 h 1450705"/>
              <a:gd name="connsiteX1" fmla="*/ 4667641 w 4667641"/>
              <a:gd name="connsiteY1" fmla="*/ 0 h 1450705"/>
              <a:gd name="connsiteX2" fmla="*/ 4667641 w 4667641"/>
              <a:gd name="connsiteY2" fmla="*/ 1450705 h 1450705"/>
              <a:gd name="connsiteX3" fmla="*/ 0 w 4667641"/>
              <a:gd name="connsiteY3" fmla="*/ 1450705 h 1450705"/>
              <a:gd name="connsiteX4" fmla="*/ 12879 w 4667641"/>
              <a:gd name="connsiteY4" fmla="*/ 0 h 1450705"/>
              <a:gd name="connsiteX0" fmla="*/ 12879 w 4667641"/>
              <a:gd name="connsiteY0" fmla="*/ 0 h 1450705"/>
              <a:gd name="connsiteX1" fmla="*/ 4667641 w 4667641"/>
              <a:gd name="connsiteY1" fmla="*/ 0 h 1450705"/>
              <a:gd name="connsiteX2" fmla="*/ 4667641 w 4667641"/>
              <a:gd name="connsiteY2" fmla="*/ 1450705 h 1450705"/>
              <a:gd name="connsiteX3" fmla="*/ 0 w 4667641"/>
              <a:gd name="connsiteY3" fmla="*/ 1077217 h 1450705"/>
              <a:gd name="connsiteX4" fmla="*/ 12879 w 4667641"/>
              <a:gd name="connsiteY4" fmla="*/ 0 h 1450705"/>
              <a:gd name="connsiteX0" fmla="*/ 12879 w 4667641"/>
              <a:gd name="connsiteY0" fmla="*/ 0 h 1090097"/>
              <a:gd name="connsiteX1" fmla="*/ 4667641 w 4667641"/>
              <a:gd name="connsiteY1" fmla="*/ 0 h 1090097"/>
              <a:gd name="connsiteX2" fmla="*/ 4654762 w 4667641"/>
              <a:gd name="connsiteY2" fmla="*/ 1090097 h 1090097"/>
              <a:gd name="connsiteX3" fmla="*/ 0 w 4667641"/>
              <a:gd name="connsiteY3" fmla="*/ 1077217 h 1090097"/>
              <a:gd name="connsiteX4" fmla="*/ 12879 w 4667641"/>
              <a:gd name="connsiteY4" fmla="*/ 0 h 1090097"/>
              <a:gd name="connsiteX0" fmla="*/ 12879 w 4667641"/>
              <a:gd name="connsiteY0" fmla="*/ 0 h 1077218"/>
              <a:gd name="connsiteX1" fmla="*/ 4667641 w 4667641"/>
              <a:gd name="connsiteY1" fmla="*/ 0 h 1077218"/>
              <a:gd name="connsiteX2" fmla="*/ 4654762 w 4667641"/>
              <a:gd name="connsiteY2" fmla="*/ 1077218 h 1077218"/>
              <a:gd name="connsiteX3" fmla="*/ 0 w 4667641"/>
              <a:gd name="connsiteY3" fmla="*/ 1077217 h 1077218"/>
              <a:gd name="connsiteX4" fmla="*/ 12879 w 4667641"/>
              <a:gd name="connsiteY4" fmla="*/ 0 h 1077218"/>
              <a:gd name="connsiteX0" fmla="*/ 12879 w 4667641"/>
              <a:gd name="connsiteY0" fmla="*/ 0 h 1077218"/>
              <a:gd name="connsiteX1" fmla="*/ 4667641 w 4667641"/>
              <a:gd name="connsiteY1" fmla="*/ 0 h 1077218"/>
              <a:gd name="connsiteX2" fmla="*/ 4667641 w 4667641"/>
              <a:gd name="connsiteY2" fmla="*/ 1077218 h 1077218"/>
              <a:gd name="connsiteX3" fmla="*/ 0 w 4667641"/>
              <a:gd name="connsiteY3" fmla="*/ 1077217 h 1077218"/>
              <a:gd name="connsiteX4" fmla="*/ 12879 w 4667641"/>
              <a:gd name="connsiteY4" fmla="*/ 0 h 10772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7641" h="1077218">
                <a:moveTo>
                  <a:pt x="12879" y="0"/>
                </a:moveTo>
                <a:lnTo>
                  <a:pt x="4667641" y="0"/>
                </a:lnTo>
                <a:lnTo>
                  <a:pt x="4667641" y="1077218"/>
                </a:lnTo>
                <a:lnTo>
                  <a:pt x="0" y="1077217"/>
                </a:lnTo>
                <a:lnTo>
                  <a:pt x="12879" y="0"/>
                </a:lnTo>
                <a:close/>
              </a:path>
            </a:pathLst>
          </a:custGeom>
          <a:noFill/>
          <a:ln w="28575">
            <a:solidFill>
              <a:schemeClr val="accent6"/>
            </a:solidFill>
          </a:ln>
        </p:spPr>
        <p:txBody>
          <a:bodyPr wrap="square" rtlCol="0">
            <a:spAutoFit/>
          </a:bodyPr>
          <a:lstStyle/>
          <a:p>
            <a:r>
              <a:rPr lang="en-GB" sz="2000" b="1" u="sng" dirty="0"/>
              <a:t>Test For Chlorine</a:t>
            </a:r>
          </a:p>
          <a:p>
            <a:r>
              <a:rPr lang="en-GB" sz="2000" dirty="0"/>
              <a:t>The test for chlorine uses </a:t>
            </a:r>
            <a:r>
              <a:rPr lang="en-GB" sz="2000" b="1" dirty="0">
                <a:solidFill>
                  <a:schemeClr val="accent6">
                    <a:lumMod val="75000"/>
                  </a:schemeClr>
                </a:solidFill>
              </a:rPr>
              <a:t>litmus paper</a:t>
            </a:r>
            <a:r>
              <a:rPr lang="en-GB" sz="2000" dirty="0"/>
              <a:t>. When </a:t>
            </a:r>
            <a:r>
              <a:rPr lang="en-GB" sz="2000" b="1" dirty="0">
                <a:solidFill>
                  <a:schemeClr val="accent6">
                    <a:lumMod val="75000"/>
                  </a:schemeClr>
                </a:solidFill>
              </a:rPr>
              <a:t>damp</a:t>
            </a:r>
            <a:r>
              <a:rPr lang="en-GB" sz="2000" dirty="0">
                <a:solidFill>
                  <a:schemeClr val="accent6">
                    <a:lumMod val="75000"/>
                  </a:schemeClr>
                </a:solidFill>
              </a:rPr>
              <a:t> </a:t>
            </a:r>
            <a:r>
              <a:rPr lang="en-GB" sz="2000" dirty="0"/>
              <a:t>litmus paper is put into chlorine gas the litmus paper is bleached and turns </a:t>
            </a:r>
            <a:r>
              <a:rPr lang="en-GB" sz="2000" b="1" dirty="0">
                <a:solidFill>
                  <a:schemeClr val="accent6">
                    <a:lumMod val="75000"/>
                  </a:schemeClr>
                </a:solidFill>
              </a:rPr>
              <a:t>white</a:t>
            </a:r>
            <a:r>
              <a:rPr lang="en-GB" sz="2000" dirty="0"/>
              <a:t>.</a:t>
            </a:r>
          </a:p>
        </p:txBody>
      </p:sp>
      <p:sp>
        <p:nvSpPr>
          <p:cNvPr id="16" name="TextBox 15"/>
          <p:cNvSpPr txBox="1"/>
          <p:nvPr/>
        </p:nvSpPr>
        <p:spPr>
          <a:xfrm>
            <a:off x="179511" y="5733256"/>
            <a:ext cx="8640961" cy="646331"/>
          </a:xfrm>
          <a:prstGeom prst="rect">
            <a:avLst/>
          </a:prstGeom>
          <a:solidFill>
            <a:schemeClr val="accent6"/>
          </a:solidFill>
          <a:ln w="28575">
            <a:solidFill>
              <a:schemeClr val="tx1"/>
            </a:solidFill>
          </a:ln>
        </p:spPr>
        <p:txBody>
          <a:bodyPr wrap="square" rtlCol="0">
            <a:spAutoFit/>
          </a:bodyPr>
          <a:lstStyle/>
          <a:p>
            <a:r>
              <a:rPr lang="en-GB" dirty="0"/>
              <a:t>You must learn all of these tests, including how the gas is tested and the positive result that proves that the chemical is the gas you are testing for.</a:t>
            </a:r>
          </a:p>
        </p:txBody>
      </p:sp>
      <p:pic>
        <p:nvPicPr>
          <p:cNvPr id="1026" name="Picture 2" descr="Image result for test for carbon dioxide">
            <a:hlinkClick r:id="rId3"/>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8358"/>
          <a:stretch/>
        </p:blipFill>
        <p:spPr bwMode="auto">
          <a:xfrm>
            <a:off x="6096749" y="1005896"/>
            <a:ext cx="2115819" cy="1938992"/>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p:cNvGrpSpPr/>
          <p:nvPr/>
        </p:nvGrpSpPr>
        <p:grpSpPr>
          <a:xfrm>
            <a:off x="6407965" y="3402086"/>
            <a:ext cx="1493385" cy="2007134"/>
            <a:chOff x="6133625" y="4014154"/>
            <a:chExt cx="2092000" cy="2460735"/>
          </a:xfrm>
        </p:grpSpPr>
        <p:pic>
          <p:nvPicPr>
            <p:cNvPr id="11" name="Picture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33625" y="4553771"/>
              <a:ext cx="960559" cy="1921118"/>
            </a:xfrm>
            <a:prstGeom prst="rect">
              <a:avLst/>
            </a:prstGeom>
          </p:spPr>
        </p:pic>
        <p:sp>
          <p:nvSpPr>
            <p:cNvPr id="14" name="Rectangle 13"/>
            <p:cNvSpPr/>
            <p:nvPr/>
          </p:nvSpPr>
          <p:spPr>
            <a:xfrm rot="4058533">
              <a:off x="6932820" y="4092490"/>
              <a:ext cx="173667" cy="551982"/>
            </a:xfrm>
            <a:prstGeom prst="rect">
              <a:avLst/>
            </a:prstGeom>
            <a:gradFill>
              <a:gsLst>
                <a:gs pos="30000">
                  <a:schemeClr val="bg1"/>
                </a:gs>
                <a:gs pos="0">
                  <a:srgbClr val="FFFCFC"/>
                </a:gs>
                <a:gs pos="100000">
                  <a:schemeClr val="accent2">
                    <a:tint val="50000"/>
                    <a:shade val="100000"/>
                    <a:satMod val="350000"/>
                  </a:schemeClr>
                </a:gs>
              </a:gsLst>
            </a:gradFill>
            <a:ln>
              <a:solidFill>
                <a:schemeClr val="bg1"/>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sp>
          <p:nvSpPr>
            <p:cNvPr id="17" name="Rectangle 16"/>
            <p:cNvSpPr/>
            <p:nvPr/>
          </p:nvSpPr>
          <p:spPr>
            <a:xfrm rot="14934139">
              <a:off x="7639808" y="3610201"/>
              <a:ext cx="181863" cy="989770"/>
            </a:xfrm>
            <a:prstGeom prst="rect">
              <a:avLst/>
            </a:prstGeom>
            <a:gradFill>
              <a:gsLst>
                <a:gs pos="4000">
                  <a:schemeClr val="tx2">
                    <a:lumMod val="40000"/>
                    <a:lumOff val="60000"/>
                  </a:schemeClr>
                </a:gs>
                <a:gs pos="0">
                  <a:srgbClr val="FFFCFC"/>
                </a:gs>
                <a:gs pos="100000">
                  <a:schemeClr val="accent2">
                    <a:tint val="50000"/>
                    <a:shade val="100000"/>
                    <a:satMod val="350000"/>
                  </a:schemeClr>
                </a:gs>
              </a:gsLst>
            </a:gradFill>
            <a:ln>
              <a:solidFill>
                <a:schemeClr val="bg1"/>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29199728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262979"/>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3600" b="1" dirty="0">
                <a:solidFill>
                  <a:schemeClr val="tx1">
                    <a:lumMod val="50000"/>
                    <a:lumOff val="50000"/>
                  </a:schemeClr>
                </a:solidFill>
              </a:rPr>
              <a:t>Identification of </a:t>
            </a:r>
          </a:p>
          <a:p>
            <a:r>
              <a:rPr lang="en-GB" sz="3600" b="1" dirty="0">
                <a:solidFill>
                  <a:schemeClr val="tx1">
                    <a:lumMod val="50000"/>
                    <a:lumOff val="50000"/>
                  </a:schemeClr>
                </a:solidFill>
              </a:rPr>
              <a:t>common gases</a:t>
            </a:r>
          </a:p>
          <a:p>
            <a:pPr marL="457200" indent="-457200">
              <a:lnSpc>
                <a:spcPct val="150000"/>
              </a:lnSpc>
              <a:buFont typeface="Arial" charset="0"/>
              <a:buChar char="•"/>
            </a:pPr>
            <a:r>
              <a:rPr lang="en-GB" sz="2000" b="1" dirty="0">
                <a:solidFill>
                  <a:schemeClr val="tx1">
                    <a:lumMod val="50000"/>
                    <a:lumOff val="50000"/>
                  </a:schemeClr>
                </a:solidFill>
              </a:rPr>
              <a:t>Test for hydrogen</a:t>
            </a:r>
          </a:p>
          <a:p>
            <a:pPr marL="285750" indent="-285750">
              <a:lnSpc>
                <a:spcPct val="150000"/>
              </a:lnSpc>
              <a:buFont typeface="Arial" panose="020B0604020202020204" pitchFamily="34" charset="0"/>
              <a:buChar char="•"/>
            </a:pPr>
            <a:r>
              <a:rPr lang="en-GB" sz="2000" b="1" dirty="0">
                <a:solidFill>
                  <a:schemeClr val="tx1">
                    <a:lumMod val="50000"/>
                    <a:lumOff val="50000"/>
                  </a:schemeClr>
                </a:solidFill>
              </a:rPr>
              <a:t>   Test for oxygen</a:t>
            </a:r>
          </a:p>
          <a:p>
            <a:pPr marL="285750" indent="-285750">
              <a:lnSpc>
                <a:spcPct val="150000"/>
              </a:lnSpc>
              <a:buFont typeface="Arial" panose="020B0604020202020204" pitchFamily="34" charset="0"/>
              <a:buChar char="•"/>
            </a:pPr>
            <a:r>
              <a:rPr lang="en-GB" sz="2000" b="1" dirty="0">
                <a:solidFill>
                  <a:schemeClr val="tx1">
                    <a:lumMod val="50000"/>
                    <a:lumOff val="50000"/>
                  </a:schemeClr>
                </a:solidFill>
              </a:rPr>
              <a:t>   Test for carbon dioxide</a:t>
            </a:r>
          </a:p>
          <a:p>
            <a:pPr marL="285750" indent="-285750">
              <a:lnSpc>
                <a:spcPct val="150000"/>
              </a:lnSpc>
              <a:buFont typeface="Arial" panose="020B0604020202020204" pitchFamily="34" charset="0"/>
              <a:buChar char="•"/>
            </a:pPr>
            <a:r>
              <a:rPr lang="en-GB" sz="2000" b="1" dirty="0">
                <a:solidFill>
                  <a:schemeClr val="tx1">
                    <a:lumMod val="50000"/>
                    <a:lumOff val="50000"/>
                  </a:schemeClr>
                </a:solidFill>
              </a:rPr>
              <a:t>   Test for chlorine </a:t>
            </a: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18799927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kumimoji="0" lang="en-US" sz="2400" b="1" i="0" u="none" strike="noStrike" kern="1200" cap="none" spc="0" normalizeH="0" baseline="0" noProof="0" dirty="0">
                <a:ln>
                  <a:noFill/>
                </a:ln>
                <a:solidFill>
                  <a:schemeClr val="accent6"/>
                </a:solidFill>
                <a:effectLst/>
                <a:uLnTx/>
                <a:uFillTx/>
                <a:latin typeface="Calibri"/>
                <a:ea typeface=""/>
                <a:cs typeface="News Gothic MT"/>
              </a:rPr>
              <a:t>Identification of common gases </a:t>
            </a:r>
            <a:r>
              <a:rPr lang="en-US" sz="2400" b="1" kern="1200" dirty="0">
                <a:solidFill>
                  <a:schemeClr val="accent6"/>
                </a:solidFill>
                <a:latin typeface="Calibri"/>
                <a:ea typeface=""/>
                <a:cs typeface="News Gothic MT"/>
              </a:rPr>
              <a:t>–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001369"/>
          </a:xfrm>
          <a:prstGeom prst="rect">
            <a:avLst/>
          </a:prstGeom>
          <a:noFill/>
        </p:spPr>
        <p:txBody>
          <a:bodyPr wrap="square" rtlCol="0">
            <a:spAutoFit/>
          </a:bodyPr>
          <a:lstStyle/>
          <a:p>
            <a:pPr marL="457200" indent="-457200">
              <a:buFont typeface="+mj-lt"/>
              <a:buAutoNum type="arabicPeriod"/>
            </a:pPr>
            <a:r>
              <a:rPr lang="en-GB" sz="2400" dirty="0" smtClean="0"/>
              <a:t>How </a:t>
            </a:r>
            <a:r>
              <a:rPr lang="en-GB" sz="2400" dirty="0"/>
              <a:t>would you test for oxygen gas</a:t>
            </a:r>
            <a:r>
              <a:rPr lang="en-GB" sz="2400" dirty="0" smtClean="0"/>
              <a:t>?</a:t>
            </a:r>
          </a:p>
          <a:p>
            <a:pPr marL="457200" indent="-457200">
              <a:buFont typeface="+mj-lt"/>
              <a:buAutoNum type="arabicPeriod"/>
            </a:pPr>
            <a:endParaRPr lang="en-GB" sz="2400" dirty="0">
              <a:solidFill>
                <a:srgbClr val="00B050"/>
              </a:solidFill>
            </a:endParaRPr>
          </a:p>
          <a:p>
            <a:pPr marL="457200" indent="-457200">
              <a:buFont typeface="+mj-lt"/>
              <a:buAutoNum type="arabicPeriod"/>
            </a:pPr>
            <a:r>
              <a:rPr lang="en-GB" sz="2400" dirty="0" smtClean="0"/>
              <a:t>An </a:t>
            </a:r>
            <a:r>
              <a:rPr lang="en-GB" sz="2400" dirty="0"/>
              <a:t>unknown gas gives out a squeaky pop when a burning splint is put into it. What is the gas</a:t>
            </a:r>
            <a:r>
              <a:rPr lang="en-GB" sz="2400" dirty="0" smtClean="0"/>
              <a:t>?</a:t>
            </a:r>
            <a:r>
              <a:rPr lang="en-GB" sz="2400" dirty="0">
                <a:solidFill>
                  <a:srgbClr val="00B050"/>
                </a:solidFill>
              </a:rPr>
              <a:t>	</a:t>
            </a:r>
            <a:endParaRPr lang="en-GB" sz="2400" dirty="0" smtClean="0">
              <a:solidFill>
                <a:srgbClr val="00B050"/>
              </a:solidFill>
            </a:endParaRPr>
          </a:p>
          <a:p>
            <a:pPr marL="457200" indent="-457200">
              <a:buFont typeface="+mj-lt"/>
              <a:buAutoNum type="arabicPeriod"/>
            </a:pPr>
            <a:endParaRPr lang="en-GB" sz="2400" dirty="0">
              <a:solidFill>
                <a:srgbClr val="00B050"/>
              </a:solidFill>
            </a:endParaRPr>
          </a:p>
          <a:p>
            <a:pPr marL="457200" indent="-457200">
              <a:buFont typeface="+mj-lt"/>
              <a:buAutoNum type="arabicPeriod"/>
            </a:pPr>
            <a:r>
              <a:rPr lang="en-GB" sz="2400" dirty="0" smtClean="0"/>
              <a:t>Describe </a:t>
            </a:r>
            <a:r>
              <a:rPr lang="en-GB" sz="2400" dirty="0"/>
              <a:t>how you would test for carbon dioxide gas</a:t>
            </a:r>
            <a:r>
              <a:rPr lang="en-GB" sz="2400" dirty="0" smtClean="0"/>
              <a:t>.</a:t>
            </a:r>
          </a:p>
          <a:p>
            <a:pPr marL="457200" indent="-457200">
              <a:buFont typeface="+mj-lt"/>
              <a:buAutoNum type="arabicPeriod"/>
            </a:pPr>
            <a:endParaRPr lang="en-GB" sz="2400" dirty="0"/>
          </a:p>
          <a:p>
            <a:pPr marL="457200" indent="-457200">
              <a:buFont typeface="+mj-lt"/>
              <a:buAutoNum type="arabicPeriod"/>
            </a:pPr>
            <a:r>
              <a:rPr lang="en-GB" sz="2400" dirty="0" smtClean="0"/>
              <a:t>A </a:t>
            </a:r>
            <a:r>
              <a:rPr lang="en-GB" sz="2400" dirty="0"/>
              <a:t>student wrote down the following description for testing chlorine</a:t>
            </a:r>
            <a:r>
              <a:rPr lang="en-GB" sz="2400" dirty="0" smtClean="0"/>
              <a:t>: “</a:t>
            </a:r>
            <a:r>
              <a:rPr lang="en-GB" sz="2400" dirty="0"/>
              <a:t>Use litmus paper it turns from red to blue</a:t>
            </a:r>
            <a:r>
              <a:rPr lang="en-GB" sz="2400" dirty="0" smtClean="0"/>
              <a:t>.” Where </a:t>
            </a:r>
            <a:r>
              <a:rPr lang="en-GB" sz="2400" dirty="0"/>
              <a:t>has he gone wrong?</a:t>
            </a:r>
          </a:p>
          <a:p>
            <a:pPr>
              <a:lnSpc>
                <a:spcPct val="150000"/>
              </a:lnSpc>
            </a:pPr>
            <a:r>
              <a:rPr lang="en-GB" sz="2400" dirty="0"/>
              <a:t>	</a:t>
            </a:r>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2903920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678204"/>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r>
              <a:rPr lang="en-GB" sz="3200" b="1" dirty="0">
                <a:solidFill>
                  <a:schemeClr val="tx1">
                    <a:lumMod val="50000"/>
                    <a:lumOff val="50000"/>
                  </a:schemeClr>
                </a:solidFill>
              </a:rPr>
              <a:t>Identification of </a:t>
            </a:r>
          </a:p>
          <a:p>
            <a:r>
              <a:rPr lang="en-GB" sz="3200" b="1" dirty="0">
                <a:solidFill>
                  <a:schemeClr val="tx1">
                    <a:lumMod val="50000"/>
                    <a:lumOff val="50000"/>
                  </a:schemeClr>
                </a:solidFill>
              </a:rPr>
              <a:t>common gases</a:t>
            </a:r>
          </a:p>
          <a:p>
            <a:pPr marL="457200" indent="-457200">
              <a:lnSpc>
                <a:spcPct val="150000"/>
              </a:lnSpc>
              <a:buFont typeface="Arial" charset="0"/>
              <a:buChar char="•"/>
            </a:pPr>
            <a:r>
              <a:rPr lang="en-GB" b="1" dirty="0">
                <a:solidFill>
                  <a:schemeClr val="tx1">
                    <a:lumMod val="50000"/>
                    <a:lumOff val="50000"/>
                  </a:schemeClr>
                </a:solidFill>
              </a:rPr>
              <a:t>Test for hydrogen</a:t>
            </a:r>
          </a:p>
          <a:p>
            <a:pPr marL="285750" indent="-285750">
              <a:lnSpc>
                <a:spcPct val="150000"/>
              </a:lnSpc>
              <a:buFont typeface="Arial" panose="020B0604020202020204" pitchFamily="34" charset="0"/>
              <a:buChar char="•"/>
            </a:pPr>
            <a:r>
              <a:rPr lang="en-GB" b="1" dirty="0">
                <a:solidFill>
                  <a:schemeClr val="tx1">
                    <a:lumMod val="50000"/>
                    <a:lumOff val="50000"/>
                  </a:schemeClr>
                </a:solidFill>
              </a:rPr>
              <a:t>   Test for oxygen</a:t>
            </a:r>
          </a:p>
          <a:p>
            <a:pPr marL="285750" indent="-285750">
              <a:lnSpc>
                <a:spcPct val="150000"/>
              </a:lnSpc>
              <a:buFont typeface="Arial" panose="020B0604020202020204" pitchFamily="34" charset="0"/>
              <a:buChar char="•"/>
            </a:pPr>
            <a:r>
              <a:rPr lang="en-GB" b="1" dirty="0">
                <a:solidFill>
                  <a:schemeClr val="tx1">
                    <a:lumMod val="50000"/>
                    <a:lumOff val="50000"/>
                  </a:schemeClr>
                </a:solidFill>
              </a:rPr>
              <a:t>   Test for carbon dioxide</a:t>
            </a:r>
          </a:p>
          <a:p>
            <a:pPr marL="285750" indent="-285750">
              <a:lnSpc>
                <a:spcPct val="150000"/>
              </a:lnSpc>
              <a:buFont typeface="Arial" panose="020B0604020202020204" pitchFamily="34" charset="0"/>
              <a:buChar char="•"/>
            </a:pPr>
            <a:r>
              <a:rPr lang="en-GB" b="1" dirty="0">
                <a:solidFill>
                  <a:schemeClr val="tx1">
                    <a:lumMod val="50000"/>
                    <a:lumOff val="50000"/>
                  </a:schemeClr>
                </a:solidFill>
              </a:rPr>
              <a:t>   Test for chlorine </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4132142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kumimoji="0" lang="en-US" sz="2400" b="1" i="0" u="none" strike="noStrike" kern="1200" cap="none" spc="0" normalizeH="0" baseline="0" noProof="0" dirty="0">
                <a:ln>
                  <a:noFill/>
                </a:ln>
                <a:solidFill>
                  <a:schemeClr val="accent6"/>
                </a:solidFill>
                <a:effectLst/>
                <a:uLnTx/>
                <a:uFillTx/>
                <a:latin typeface="Calibri"/>
                <a:ea typeface=""/>
                <a:cs typeface="News Gothic MT"/>
              </a:rPr>
              <a:t>Identification of common gases </a:t>
            </a:r>
            <a:r>
              <a:rPr lang="en-US" sz="2400" b="1" kern="1200" dirty="0">
                <a:solidFill>
                  <a:schemeClr val="accent6"/>
                </a:solidFill>
                <a:latin typeface="Calibri"/>
                <a:ea typeface=""/>
                <a:cs typeface="News Gothic MT"/>
              </a:rPr>
              <a:t>–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370701"/>
          </a:xfrm>
          <a:prstGeom prst="rect">
            <a:avLst/>
          </a:prstGeom>
          <a:noFill/>
        </p:spPr>
        <p:txBody>
          <a:bodyPr wrap="square" rtlCol="0">
            <a:spAutoFit/>
          </a:bodyPr>
          <a:lstStyle/>
          <a:p>
            <a:pPr marL="457200" indent="-457200">
              <a:buFont typeface="+mj-lt"/>
              <a:buAutoNum type="arabicPeriod"/>
            </a:pPr>
            <a:r>
              <a:rPr lang="en-GB" sz="2400" dirty="0" smtClean="0"/>
              <a:t>How </a:t>
            </a:r>
            <a:r>
              <a:rPr lang="en-GB" sz="2400" dirty="0"/>
              <a:t>would you test for oxygen gas</a:t>
            </a:r>
            <a:r>
              <a:rPr lang="en-GB" sz="2400" dirty="0" smtClean="0"/>
              <a:t>?</a:t>
            </a:r>
          </a:p>
          <a:p>
            <a:pPr lvl="1"/>
            <a:r>
              <a:rPr lang="en-GB" sz="2400" dirty="0" smtClean="0">
                <a:solidFill>
                  <a:srgbClr val="00B050"/>
                </a:solidFill>
              </a:rPr>
              <a:t>Glowing splint; splint relights.</a:t>
            </a:r>
            <a:endParaRPr lang="en-GB" sz="2400" dirty="0">
              <a:solidFill>
                <a:srgbClr val="00B050"/>
              </a:solidFill>
            </a:endParaRPr>
          </a:p>
          <a:p>
            <a:pPr marL="457200" indent="-457200">
              <a:buFont typeface="+mj-lt"/>
              <a:buAutoNum type="arabicPeriod"/>
            </a:pPr>
            <a:r>
              <a:rPr lang="en-GB" sz="2400" dirty="0" smtClean="0"/>
              <a:t>An </a:t>
            </a:r>
            <a:r>
              <a:rPr lang="en-GB" sz="2400" dirty="0"/>
              <a:t>unknown gas gives out a squeaky pop when a burning splint is put into it. What is the gas</a:t>
            </a:r>
            <a:r>
              <a:rPr lang="en-GB" sz="2400" dirty="0" smtClean="0"/>
              <a:t>?</a:t>
            </a:r>
            <a:r>
              <a:rPr lang="en-GB" sz="2400" dirty="0">
                <a:solidFill>
                  <a:srgbClr val="00B050"/>
                </a:solidFill>
              </a:rPr>
              <a:t>	</a:t>
            </a:r>
            <a:endParaRPr lang="en-GB" sz="2400" dirty="0" smtClean="0">
              <a:solidFill>
                <a:srgbClr val="00B050"/>
              </a:solidFill>
            </a:endParaRPr>
          </a:p>
          <a:p>
            <a:pPr lvl="1"/>
            <a:r>
              <a:rPr lang="en-GB" sz="2400" dirty="0" smtClean="0">
                <a:solidFill>
                  <a:srgbClr val="00B050"/>
                </a:solidFill>
              </a:rPr>
              <a:t>Hydrogen.</a:t>
            </a:r>
            <a:endParaRPr lang="en-GB" sz="2400" dirty="0">
              <a:solidFill>
                <a:srgbClr val="00B050"/>
              </a:solidFill>
            </a:endParaRPr>
          </a:p>
          <a:p>
            <a:pPr marL="457200" indent="-457200">
              <a:buFont typeface="+mj-lt"/>
              <a:buAutoNum type="arabicPeriod"/>
            </a:pPr>
            <a:r>
              <a:rPr lang="en-GB" sz="2400" dirty="0" smtClean="0"/>
              <a:t>Describe </a:t>
            </a:r>
            <a:r>
              <a:rPr lang="en-GB" sz="2400" dirty="0"/>
              <a:t>how you would test for carbon dioxide gas</a:t>
            </a:r>
            <a:r>
              <a:rPr lang="en-GB" sz="2400" dirty="0" smtClean="0"/>
              <a:t>.</a:t>
            </a:r>
          </a:p>
          <a:p>
            <a:pPr lvl="1"/>
            <a:r>
              <a:rPr lang="en-GB" sz="2400" dirty="0" smtClean="0">
                <a:solidFill>
                  <a:srgbClr val="00B050"/>
                </a:solidFill>
              </a:rPr>
              <a:t>Limewater; turns cloudy/milky.</a:t>
            </a:r>
            <a:endParaRPr lang="en-GB" sz="2400" dirty="0">
              <a:solidFill>
                <a:srgbClr val="00B050"/>
              </a:solidFill>
            </a:endParaRPr>
          </a:p>
          <a:p>
            <a:pPr marL="457200" indent="-457200">
              <a:buFont typeface="+mj-lt"/>
              <a:buAutoNum type="arabicPeriod"/>
            </a:pPr>
            <a:r>
              <a:rPr lang="en-GB" sz="2400" dirty="0" smtClean="0"/>
              <a:t>A </a:t>
            </a:r>
            <a:r>
              <a:rPr lang="en-GB" sz="2400" dirty="0"/>
              <a:t>student wrote down the following description for testing chlorine</a:t>
            </a:r>
            <a:r>
              <a:rPr lang="en-GB" sz="2400" dirty="0" smtClean="0"/>
              <a:t>: “</a:t>
            </a:r>
            <a:r>
              <a:rPr lang="en-GB" sz="2400" dirty="0"/>
              <a:t>Use litmus paper it turns from red to blue</a:t>
            </a:r>
            <a:r>
              <a:rPr lang="en-GB" sz="2400" dirty="0" smtClean="0"/>
              <a:t>.” Where </a:t>
            </a:r>
            <a:r>
              <a:rPr lang="en-GB" sz="2400" dirty="0"/>
              <a:t>has he gone wrong</a:t>
            </a:r>
            <a:r>
              <a:rPr lang="en-GB" sz="2400" dirty="0" smtClean="0"/>
              <a:t>?</a:t>
            </a:r>
          </a:p>
          <a:p>
            <a:pPr lvl="1"/>
            <a:r>
              <a:rPr lang="en-GB" sz="2400" dirty="0" smtClean="0">
                <a:solidFill>
                  <a:srgbClr val="00B050"/>
                </a:solidFill>
              </a:rPr>
              <a:t>Moist litmus paper; litmus paper is bleached, turns white.</a:t>
            </a:r>
            <a:endParaRPr lang="en-GB" sz="2400" dirty="0">
              <a:solidFill>
                <a:srgbClr val="00B050"/>
              </a:solidFill>
            </a:endParaRPr>
          </a:p>
          <a:p>
            <a:pPr>
              <a:lnSpc>
                <a:spcPct val="150000"/>
              </a:lnSpc>
            </a:pPr>
            <a:r>
              <a:rPr lang="en-GB" sz="2400" dirty="0"/>
              <a:t>	</a:t>
            </a:r>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20779684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
        <p:nvSpPr>
          <p:cNvPr id="7" name="TextBox 6"/>
          <p:cNvSpPr txBox="1"/>
          <p:nvPr/>
        </p:nvSpPr>
        <p:spPr>
          <a:xfrm>
            <a:off x="0" y="980728"/>
            <a:ext cx="3491880" cy="6170920"/>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2400" b="1" dirty="0">
                <a:solidFill>
                  <a:schemeClr val="tx1">
                    <a:lumMod val="50000"/>
                    <a:lumOff val="50000"/>
                  </a:schemeClr>
                </a:solidFill>
              </a:rPr>
              <a:t>Identification of ions by chemical means (Chemistry only) Part 1</a:t>
            </a:r>
          </a:p>
          <a:p>
            <a:endParaRPr lang="en-GB" sz="2400" b="1" dirty="0">
              <a:solidFill>
                <a:schemeClr val="tx1">
                  <a:lumMod val="50000"/>
                  <a:lumOff val="50000"/>
                </a:schemeClr>
              </a:solidFill>
            </a:endParaRPr>
          </a:p>
          <a:p>
            <a:pPr marL="342900" indent="-342900">
              <a:buFont typeface="Arial" panose="020B0604020202020204" pitchFamily="34" charset="0"/>
              <a:buChar char="•"/>
            </a:pPr>
            <a:r>
              <a:rPr lang="en-GB" sz="2400" b="1" dirty="0">
                <a:solidFill>
                  <a:schemeClr val="tx1">
                    <a:lumMod val="50000"/>
                    <a:lumOff val="50000"/>
                  </a:schemeClr>
                </a:solidFill>
              </a:rPr>
              <a:t>Flame tests</a:t>
            </a:r>
          </a:p>
          <a:p>
            <a:pPr marL="342900" indent="-342900">
              <a:buFont typeface="Arial" panose="020B0604020202020204" pitchFamily="34" charset="0"/>
              <a:buChar char="•"/>
            </a:pPr>
            <a:r>
              <a:rPr lang="en-GB" sz="2400" b="1" dirty="0">
                <a:solidFill>
                  <a:schemeClr val="tx1">
                    <a:lumMod val="50000"/>
                    <a:lumOff val="50000"/>
                  </a:schemeClr>
                </a:solidFill>
              </a:rPr>
              <a:t>Metal hydroxides</a:t>
            </a:r>
          </a:p>
          <a:p>
            <a:endParaRPr lang="en-GB" sz="2000" b="1" dirty="0">
              <a:solidFill>
                <a:schemeClr val="tx1">
                  <a:lumMod val="50000"/>
                  <a:lumOff val="50000"/>
                </a:schemeClr>
              </a:solidFill>
            </a:endParaRPr>
          </a:p>
          <a:p>
            <a:pPr>
              <a:lnSpc>
                <a:spcPct val="150000"/>
              </a:lnSpc>
            </a:pPr>
            <a:endParaRPr lang="en-GB" b="1" dirty="0">
              <a:solidFill>
                <a:schemeClr val="tx1">
                  <a:lumMod val="50000"/>
                  <a:lumOff val="50000"/>
                </a:schemeClr>
              </a:solidFill>
            </a:endParaRPr>
          </a:p>
          <a:p>
            <a:endParaRPr lang="en-GB" sz="2400" b="1" dirty="0">
              <a:solidFill>
                <a:schemeClr val="tx1">
                  <a:lumMod val="50000"/>
                  <a:lumOff val="50000"/>
                </a:schemeClr>
              </a:solidFill>
            </a:endParaRPr>
          </a:p>
          <a:p>
            <a:endParaRPr lang="en-GB" dirty="0"/>
          </a:p>
        </p:txBody>
      </p:sp>
    </p:spTree>
    <p:extLst>
      <p:ext uri="{BB962C8B-B14F-4D97-AF65-F5344CB8AC3E}">
        <p14:creationId xmlns:p14="http://schemas.microsoft.com/office/powerpoint/2010/main" val="270498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35655"/>
            <a:ext cx="781236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000" dirty="0">
                <a:solidFill>
                  <a:schemeClr val="accent6"/>
                </a:solidFill>
              </a:rPr>
              <a:t>Identification of ions by chemical means Part 1 (Chemistry only)</a:t>
            </a:r>
            <a:endParaRPr kumimoji="0" lang="en-US" sz="2000"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4" name="TextBox 3"/>
          <p:cNvSpPr txBox="1"/>
          <p:nvPr/>
        </p:nvSpPr>
        <p:spPr>
          <a:xfrm>
            <a:off x="179512" y="902625"/>
            <a:ext cx="6408712" cy="4154984"/>
          </a:xfrm>
          <a:prstGeom prst="rect">
            <a:avLst/>
          </a:prstGeom>
          <a:noFill/>
          <a:ln w="28575">
            <a:solidFill>
              <a:schemeClr val="accent6"/>
            </a:solidFill>
          </a:ln>
        </p:spPr>
        <p:txBody>
          <a:bodyPr wrap="square" rtlCol="0">
            <a:spAutoFit/>
          </a:bodyPr>
          <a:lstStyle/>
          <a:p>
            <a:r>
              <a:rPr lang="en-GB" sz="2400" b="1" u="sng" dirty="0"/>
              <a:t>Flame Tests</a:t>
            </a:r>
          </a:p>
          <a:p>
            <a:r>
              <a:rPr lang="en-GB" sz="2400" dirty="0"/>
              <a:t>Flame tests can be used to identify some metal ions (cations).</a:t>
            </a:r>
          </a:p>
          <a:p>
            <a:pPr marL="342900" indent="-342900">
              <a:buFont typeface="Arial" panose="020B0604020202020204" pitchFamily="34" charset="0"/>
              <a:buChar char="•"/>
            </a:pPr>
            <a:r>
              <a:rPr lang="en-GB" sz="2400" b="1" dirty="0">
                <a:solidFill>
                  <a:schemeClr val="accent6">
                    <a:lumMod val="75000"/>
                  </a:schemeClr>
                </a:solidFill>
              </a:rPr>
              <a:t>Lithium</a:t>
            </a:r>
            <a:r>
              <a:rPr lang="en-GB" sz="2400" dirty="0"/>
              <a:t> compounds results in a </a:t>
            </a:r>
            <a:r>
              <a:rPr lang="en-GB" sz="2400" b="1" dirty="0">
                <a:solidFill>
                  <a:schemeClr val="accent6">
                    <a:lumMod val="75000"/>
                  </a:schemeClr>
                </a:solidFill>
              </a:rPr>
              <a:t>crimson</a:t>
            </a:r>
            <a:r>
              <a:rPr lang="en-GB" sz="2400" dirty="0"/>
              <a:t> flame.</a:t>
            </a:r>
          </a:p>
          <a:p>
            <a:pPr marL="342900" indent="-342900">
              <a:buFont typeface="Arial" panose="020B0604020202020204" pitchFamily="34" charset="0"/>
              <a:buChar char="•"/>
            </a:pPr>
            <a:r>
              <a:rPr lang="en-GB" sz="2400" b="1" dirty="0">
                <a:solidFill>
                  <a:schemeClr val="accent6">
                    <a:lumMod val="75000"/>
                  </a:schemeClr>
                </a:solidFill>
              </a:rPr>
              <a:t>Sodium</a:t>
            </a:r>
            <a:r>
              <a:rPr lang="en-GB" sz="2400" dirty="0"/>
              <a:t> compounds result in a </a:t>
            </a:r>
            <a:r>
              <a:rPr lang="en-GB" sz="2400" b="1" dirty="0">
                <a:solidFill>
                  <a:schemeClr val="accent6">
                    <a:lumMod val="75000"/>
                  </a:schemeClr>
                </a:solidFill>
              </a:rPr>
              <a:t>yellow</a:t>
            </a:r>
            <a:r>
              <a:rPr lang="en-GB" sz="2400" dirty="0">
                <a:solidFill>
                  <a:schemeClr val="accent6">
                    <a:lumMod val="75000"/>
                  </a:schemeClr>
                </a:solidFill>
              </a:rPr>
              <a:t> </a:t>
            </a:r>
            <a:r>
              <a:rPr lang="en-GB" sz="2400" dirty="0"/>
              <a:t>flame.</a:t>
            </a:r>
          </a:p>
          <a:p>
            <a:pPr marL="342900" indent="-342900">
              <a:buFont typeface="Arial" panose="020B0604020202020204" pitchFamily="34" charset="0"/>
              <a:buChar char="•"/>
            </a:pPr>
            <a:r>
              <a:rPr lang="en-GB" sz="2400" b="1" dirty="0">
                <a:solidFill>
                  <a:schemeClr val="accent6">
                    <a:lumMod val="75000"/>
                  </a:schemeClr>
                </a:solidFill>
              </a:rPr>
              <a:t>Potassium</a:t>
            </a:r>
            <a:r>
              <a:rPr lang="en-GB" sz="2400" dirty="0"/>
              <a:t> compounds result in a </a:t>
            </a:r>
            <a:r>
              <a:rPr lang="en-GB" sz="2400" b="1" dirty="0">
                <a:solidFill>
                  <a:schemeClr val="accent6">
                    <a:lumMod val="75000"/>
                  </a:schemeClr>
                </a:solidFill>
              </a:rPr>
              <a:t>lilac</a:t>
            </a:r>
            <a:r>
              <a:rPr lang="en-GB" sz="2400" dirty="0"/>
              <a:t> flame.</a:t>
            </a:r>
          </a:p>
          <a:p>
            <a:pPr marL="342900" indent="-342900">
              <a:buFont typeface="Arial" panose="020B0604020202020204" pitchFamily="34" charset="0"/>
              <a:buChar char="•"/>
            </a:pPr>
            <a:r>
              <a:rPr lang="en-GB" sz="2400" b="1" dirty="0">
                <a:solidFill>
                  <a:schemeClr val="accent6">
                    <a:lumMod val="75000"/>
                  </a:schemeClr>
                </a:solidFill>
              </a:rPr>
              <a:t>Calcium</a:t>
            </a:r>
            <a:r>
              <a:rPr lang="en-GB" sz="2400" dirty="0"/>
              <a:t> compounds result in </a:t>
            </a:r>
            <a:r>
              <a:rPr lang="en-GB" sz="2400" b="1" dirty="0">
                <a:solidFill>
                  <a:schemeClr val="accent6">
                    <a:lumMod val="75000"/>
                  </a:schemeClr>
                </a:solidFill>
              </a:rPr>
              <a:t>orange-red</a:t>
            </a:r>
            <a:r>
              <a:rPr lang="en-GB" sz="2400" dirty="0">
                <a:solidFill>
                  <a:schemeClr val="accent6">
                    <a:lumMod val="75000"/>
                  </a:schemeClr>
                </a:solidFill>
              </a:rPr>
              <a:t> </a:t>
            </a:r>
            <a:r>
              <a:rPr lang="en-GB" sz="2400" dirty="0"/>
              <a:t>flame.</a:t>
            </a:r>
          </a:p>
          <a:p>
            <a:pPr marL="342900" indent="-342900">
              <a:buFont typeface="Arial" panose="020B0604020202020204" pitchFamily="34" charset="0"/>
              <a:buChar char="•"/>
            </a:pPr>
            <a:r>
              <a:rPr lang="en-GB" sz="2400" b="1" dirty="0">
                <a:solidFill>
                  <a:schemeClr val="accent6">
                    <a:lumMod val="75000"/>
                  </a:schemeClr>
                </a:solidFill>
              </a:rPr>
              <a:t>Copper</a:t>
            </a:r>
            <a:r>
              <a:rPr lang="en-GB" sz="2400" dirty="0"/>
              <a:t> compounds result in a </a:t>
            </a:r>
            <a:r>
              <a:rPr lang="en-GB" sz="2400" b="1" dirty="0">
                <a:solidFill>
                  <a:schemeClr val="accent6">
                    <a:lumMod val="75000"/>
                  </a:schemeClr>
                </a:solidFill>
              </a:rPr>
              <a:t>green</a:t>
            </a:r>
            <a:r>
              <a:rPr lang="en-GB" sz="2400" dirty="0"/>
              <a:t> flame.</a:t>
            </a:r>
          </a:p>
          <a:p>
            <a:r>
              <a:rPr lang="en-GB" sz="2400" dirty="0"/>
              <a:t>All of these colours are distinctive and can be used to identify these metal ions</a:t>
            </a:r>
            <a:r>
              <a:rPr lang="en-GB" sz="2000" dirty="0"/>
              <a:t>.</a:t>
            </a:r>
          </a:p>
        </p:txBody>
      </p:sp>
      <p:sp>
        <p:nvSpPr>
          <p:cNvPr id="5" name="TextBox 4"/>
          <p:cNvSpPr txBox="1"/>
          <p:nvPr/>
        </p:nvSpPr>
        <p:spPr>
          <a:xfrm>
            <a:off x="179511" y="5445224"/>
            <a:ext cx="8784975" cy="707886"/>
          </a:xfrm>
          <a:prstGeom prst="rect">
            <a:avLst/>
          </a:prstGeom>
          <a:solidFill>
            <a:schemeClr val="accent6"/>
          </a:solidFill>
          <a:ln w="28575">
            <a:solidFill>
              <a:schemeClr val="tx1"/>
            </a:solidFill>
          </a:ln>
        </p:spPr>
        <p:txBody>
          <a:bodyPr wrap="square" rtlCol="0">
            <a:spAutoFit/>
          </a:bodyPr>
          <a:lstStyle/>
          <a:p>
            <a:pPr algn="ctr"/>
            <a:r>
              <a:rPr lang="en-GB" sz="2000" b="1" dirty="0"/>
              <a:t>If a sample containing a mixture of ions is tested then some of flame colours can be masked and so will not be seen.</a:t>
            </a: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6339" b="26416"/>
          <a:stretch/>
        </p:blipFill>
        <p:spPr>
          <a:xfrm>
            <a:off x="6781360" y="902625"/>
            <a:ext cx="2183127" cy="4154984"/>
          </a:xfrm>
          <a:prstGeom prst="rect">
            <a:avLst/>
          </a:prstGeom>
        </p:spPr>
      </p:pic>
    </p:spTree>
    <p:extLst>
      <p:ext uri="{BB962C8B-B14F-4D97-AF65-F5344CB8AC3E}">
        <p14:creationId xmlns:p14="http://schemas.microsoft.com/office/powerpoint/2010/main" val="6764099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35655"/>
            <a:ext cx="781236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000" dirty="0">
                <a:solidFill>
                  <a:schemeClr val="accent6"/>
                </a:solidFill>
              </a:rPr>
              <a:t>Identification of ions by chemical means Part 1(Chemistry only)</a:t>
            </a:r>
            <a:endParaRPr kumimoji="0" lang="en-US" sz="2000"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7" name="TextBox 6"/>
          <p:cNvSpPr txBox="1"/>
          <p:nvPr/>
        </p:nvSpPr>
        <p:spPr>
          <a:xfrm>
            <a:off x="179512" y="941578"/>
            <a:ext cx="8712968" cy="707886"/>
          </a:xfrm>
          <a:prstGeom prst="rect">
            <a:avLst/>
          </a:prstGeom>
          <a:noFill/>
          <a:ln w="28575">
            <a:solidFill>
              <a:schemeClr val="accent6"/>
            </a:solidFill>
          </a:ln>
        </p:spPr>
        <p:txBody>
          <a:bodyPr wrap="square" rtlCol="0">
            <a:spAutoFit/>
          </a:bodyPr>
          <a:lstStyle/>
          <a:p>
            <a:r>
              <a:rPr lang="en-GB" sz="2000" b="1" u="sng" dirty="0"/>
              <a:t>Metal Hydroxides</a:t>
            </a:r>
          </a:p>
          <a:p>
            <a:r>
              <a:rPr lang="en-GB" sz="2000" b="1" dirty="0">
                <a:solidFill>
                  <a:schemeClr val="accent6">
                    <a:lumMod val="75000"/>
                  </a:schemeClr>
                </a:solidFill>
              </a:rPr>
              <a:t>Sodium hydroxide solution </a:t>
            </a:r>
            <a:r>
              <a:rPr lang="en-GB" sz="2000" dirty="0"/>
              <a:t>can be used to identify some </a:t>
            </a:r>
            <a:r>
              <a:rPr lang="en-GB" sz="2000" b="1" dirty="0">
                <a:solidFill>
                  <a:schemeClr val="accent6">
                    <a:lumMod val="75000"/>
                  </a:schemeClr>
                </a:solidFill>
              </a:rPr>
              <a:t>metal ions </a:t>
            </a:r>
            <a:r>
              <a:rPr lang="en-GB" sz="2000" dirty="0"/>
              <a:t>(</a:t>
            </a:r>
            <a:r>
              <a:rPr lang="en-GB" sz="2000" b="1" dirty="0">
                <a:solidFill>
                  <a:schemeClr val="accent6">
                    <a:lumMod val="75000"/>
                  </a:schemeClr>
                </a:solidFill>
              </a:rPr>
              <a:t>cations</a:t>
            </a:r>
            <a:r>
              <a:rPr lang="en-GB" sz="2000" dirty="0"/>
              <a:t>).</a:t>
            </a:r>
          </a:p>
        </p:txBody>
      </p:sp>
      <p:sp>
        <p:nvSpPr>
          <p:cNvPr id="8" name="TextBox 7"/>
          <p:cNvSpPr txBox="1"/>
          <p:nvPr/>
        </p:nvSpPr>
        <p:spPr>
          <a:xfrm>
            <a:off x="179512" y="1764785"/>
            <a:ext cx="8712968" cy="707886"/>
          </a:xfrm>
          <a:prstGeom prst="rect">
            <a:avLst/>
          </a:prstGeom>
          <a:noFill/>
        </p:spPr>
        <p:txBody>
          <a:bodyPr wrap="square" rtlCol="0">
            <a:spAutoFit/>
          </a:bodyPr>
          <a:lstStyle/>
          <a:p>
            <a:r>
              <a:rPr lang="en-GB" sz="2000" b="1" dirty="0">
                <a:solidFill>
                  <a:schemeClr val="accent6">
                    <a:lumMod val="75000"/>
                  </a:schemeClr>
                </a:solidFill>
              </a:rPr>
              <a:t>Sodium hydroxide </a:t>
            </a:r>
            <a:r>
              <a:rPr lang="en-GB" sz="2000" dirty="0" smtClean="0"/>
              <a:t>is </a:t>
            </a:r>
            <a:r>
              <a:rPr lang="en-GB" sz="2000" dirty="0"/>
              <a:t>added to a solution of the metal ion to be tested, a </a:t>
            </a:r>
            <a:r>
              <a:rPr lang="en-GB" sz="2000" b="1" dirty="0">
                <a:solidFill>
                  <a:schemeClr val="accent6">
                    <a:lumMod val="75000"/>
                  </a:schemeClr>
                </a:solidFill>
              </a:rPr>
              <a:t>solid </a:t>
            </a:r>
            <a:r>
              <a:rPr lang="en-GB" sz="2000" b="1" dirty="0" smtClean="0">
                <a:solidFill>
                  <a:schemeClr val="accent6">
                    <a:lumMod val="75000"/>
                  </a:schemeClr>
                </a:solidFill>
              </a:rPr>
              <a:t>precipitate</a:t>
            </a:r>
            <a:r>
              <a:rPr lang="en-GB" sz="2000" dirty="0"/>
              <a:t> </a:t>
            </a:r>
            <a:r>
              <a:rPr lang="en-GB" sz="2000" dirty="0" smtClean="0"/>
              <a:t> (often coloured) </a:t>
            </a:r>
            <a:r>
              <a:rPr lang="en-GB" sz="2000" dirty="0"/>
              <a:t>is formed and can be used to identify the metal ion. </a:t>
            </a:r>
          </a:p>
        </p:txBody>
      </p:sp>
      <p:sp>
        <p:nvSpPr>
          <p:cNvPr id="9" name="TextBox 8"/>
          <p:cNvSpPr txBox="1"/>
          <p:nvPr/>
        </p:nvSpPr>
        <p:spPr>
          <a:xfrm>
            <a:off x="179512" y="2780928"/>
            <a:ext cx="8208912" cy="1015663"/>
          </a:xfrm>
          <a:prstGeom prst="rect">
            <a:avLst/>
          </a:prstGeom>
          <a:noFill/>
          <a:ln w="28575">
            <a:solidFill>
              <a:schemeClr val="accent6"/>
            </a:solidFill>
          </a:ln>
        </p:spPr>
        <p:txBody>
          <a:bodyPr wrap="square" rtlCol="0">
            <a:spAutoFit/>
          </a:bodyPr>
          <a:lstStyle/>
          <a:p>
            <a:r>
              <a:rPr lang="en-GB" sz="2000" b="1" dirty="0">
                <a:solidFill>
                  <a:schemeClr val="accent6">
                    <a:lumMod val="75000"/>
                  </a:schemeClr>
                </a:solidFill>
              </a:rPr>
              <a:t>Aluminium</a:t>
            </a:r>
            <a:r>
              <a:rPr lang="en-GB" sz="2000" dirty="0">
                <a:solidFill>
                  <a:schemeClr val="accent6">
                    <a:lumMod val="75000"/>
                  </a:schemeClr>
                </a:solidFill>
              </a:rPr>
              <a:t>, </a:t>
            </a:r>
            <a:r>
              <a:rPr lang="en-GB" sz="2000" b="1" dirty="0">
                <a:solidFill>
                  <a:schemeClr val="accent6">
                    <a:lumMod val="75000"/>
                  </a:schemeClr>
                </a:solidFill>
              </a:rPr>
              <a:t>calcium</a:t>
            </a:r>
            <a:r>
              <a:rPr lang="en-GB" sz="2000" dirty="0">
                <a:solidFill>
                  <a:schemeClr val="accent6">
                    <a:lumMod val="75000"/>
                  </a:schemeClr>
                </a:solidFill>
              </a:rPr>
              <a:t> </a:t>
            </a:r>
            <a:r>
              <a:rPr lang="en-GB" sz="2000" dirty="0"/>
              <a:t>and </a:t>
            </a:r>
            <a:r>
              <a:rPr lang="en-GB" sz="2000" b="1" dirty="0">
                <a:solidFill>
                  <a:schemeClr val="accent6">
                    <a:lumMod val="75000"/>
                  </a:schemeClr>
                </a:solidFill>
              </a:rPr>
              <a:t>magnesium</a:t>
            </a:r>
            <a:r>
              <a:rPr lang="en-GB" sz="2000" dirty="0"/>
              <a:t> ions form </a:t>
            </a:r>
            <a:r>
              <a:rPr lang="en-GB" sz="2000" b="1" dirty="0">
                <a:solidFill>
                  <a:schemeClr val="accent6">
                    <a:lumMod val="75000"/>
                  </a:schemeClr>
                </a:solidFill>
              </a:rPr>
              <a:t>white precipitates </a:t>
            </a:r>
            <a:r>
              <a:rPr lang="en-GB" sz="2000" dirty="0"/>
              <a:t>when </a:t>
            </a:r>
            <a:r>
              <a:rPr lang="en-GB" sz="2000" b="1" dirty="0">
                <a:solidFill>
                  <a:schemeClr val="accent6">
                    <a:lumMod val="75000"/>
                  </a:schemeClr>
                </a:solidFill>
              </a:rPr>
              <a:t>sodium hydroxide solution </a:t>
            </a:r>
            <a:r>
              <a:rPr lang="en-GB" sz="2000" dirty="0"/>
              <a:t>is added, but </a:t>
            </a:r>
            <a:r>
              <a:rPr lang="en-GB" sz="2000" b="1" dirty="0">
                <a:solidFill>
                  <a:schemeClr val="accent6">
                    <a:lumMod val="75000"/>
                  </a:schemeClr>
                </a:solidFill>
              </a:rPr>
              <a:t>only</a:t>
            </a:r>
            <a:r>
              <a:rPr lang="en-GB" sz="2000" dirty="0"/>
              <a:t> the </a:t>
            </a:r>
            <a:r>
              <a:rPr lang="en-GB" sz="2000" b="1" dirty="0">
                <a:solidFill>
                  <a:schemeClr val="accent6">
                    <a:lumMod val="75000"/>
                  </a:schemeClr>
                </a:solidFill>
              </a:rPr>
              <a:t>aluminium hydroxide </a:t>
            </a:r>
            <a:r>
              <a:rPr lang="en-GB" sz="2000" dirty="0"/>
              <a:t>precipitate </a:t>
            </a:r>
            <a:r>
              <a:rPr lang="en-GB" sz="2000" b="1" dirty="0">
                <a:solidFill>
                  <a:schemeClr val="accent6">
                    <a:lumMod val="75000"/>
                  </a:schemeClr>
                </a:solidFill>
              </a:rPr>
              <a:t>dissolves</a:t>
            </a:r>
            <a:r>
              <a:rPr lang="en-GB" sz="2000" dirty="0"/>
              <a:t> in </a:t>
            </a:r>
            <a:r>
              <a:rPr lang="en-GB" sz="2000" b="1" i="1" dirty="0">
                <a:solidFill>
                  <a:schemeClr val="accent6">
                    <a:lumMod val="75000"/>
                  </a:schemeClr>
                </a:solidFill>
              </a:rPr>
              <a:t>excess</a:t>
            </a:r>
            <a:r>
              <a:rPr lang="en-GB" sz="2000" dirty="0"/>
              <a:t> sodium hydroxide solution.</a:t>
            </a:r>
          </a:p>
        </p:txBody>
      </p:sp>
      <p:sp>
        <p:nvSpPr>
          <p:cNvPr id="11" name="TextBox 10"/>
          <p:cNvSpPr txBox="1"/>
          <p:nvPr/>
        </p:nvSpPr>
        <p:spPr>
          <a:xfrm>
            <a:off x="179512" y="4293096"/>
            <a:ext cx="4752528" cy="1631216"/>
          </a:xfrm>
          <a:prstGeom prst="rect">
            <a:avLst/>
          </a:prstGeom>
          <a:noFill/>
          <a:ln w="28575">
            <a:solidFill>
              <a:schemeClr val="accent6"/>
            </a:solidFill>
          </a:ln>
        </p:spPr>
        <p:txBody>
          <a:bodyPr wrap="square" rtlCol="0">
            <a:spAutoFit/>
          </a:bodyPr>
          <a:lstStyle/>
          <a:p>
            <a:r>
              <a:rPr lang="en-GB" sz="2000" b="1" u="sng" dirty="0"/>
              <a:t>Coloured precipitates</a:t>
            </a:r>
          </a:p>
          <a:p>
            <a:r>
              <a:rPr lang="en-GB" sz="2000" b="1" dirty="0">
                <a:solidFill>
                  <a:schemeClr val="accent6">
                    <a:lumMod val="75000"/>
                  </a:schemeClr>
                </a:solidFill>
              </a:rPr>
              <a:t>Copper (II) </a:t>
            </a:r>
            <a:r>
              <a:rPr lang="en-GB" sz="2000" dirty="0"/>
              <a:t>ions form a </a:t>
            </a:r>
            <a:r>
              <a:rPr lang="en-GB" sz="2000" b="1" dirty="0">
                <a:solidFill>
                  <a:schemeClr val="accent6">
                    <a:lumMod val="75000"/>
                  </a:schemeClr>
                </a:solidFill>
              </a:rPr>
              <a:t>blue precipitate</a:t>
            </a:r>
            <a:r>
              <a:rPr lang="en-GB" sz="2000" dirty="0"/>
              <a:t>.</a:t>
            </a:r>
          </a:p>
          <a:p>
            <a:r>
              <a:rPr lang="en-GB" sz="2000" b="1" dirty="0">
                <a:solidFill>
                  <a:schemeClr val="accent6">
                    <a:lumMod val="75000"/>
                  </a:schemeClr>
                </a:solidFill>
              </a:rPr>
              <a:t>Iron (II) </a:t>
            </a:r>
            <a:r>
              <a:rPr lang="en-GB" sz="2000" dirty="0"/>
              <a:t>ions form a </a:t>
            </a:r>
            <a:r>
              <a:rPr lang="en-GB" sz="2000" b="1" dirty="0">
                <a:solidFill>
                  <a:schemeClr val="accent6">
                    <a:lumMod val="75000"/>
                  </a:schemeClr>
                </a:solidFill>
              </a:rPr>
              <a:t>green precipitate</a:t>
            </a:r>
            <a:r>
              <a:rPr lang="en-GB" sz="2000" dirty="0"/>
              <a:t>.</a:t>
            </a:r>
          </a:p>
          <a:p>
            <a:r>
              <a:rPr lang="en-GB" sz="2000" b="1" dirty="0">
                <a:solidFill>
                  <a:schemeClr val="accent6">
                    <a:lumMod val="75000"/>
                  </a:schemeClr>
                </a:solidFill>
              </a:rPr>
              <a:t>Iron (III) </a:t>
            </a:r>
            <a:r>
              <a:rPr lang="en-GB" sz="2000" dirty="0"/>
              <a:t>ions form a </a:t>
            </a:r>
            <a:r>
              <a:rPr lang="en-GB" sz="2000" b="1" dirty="0">
                <a:solidFill>
                  <a:schemeClr val="accent6">
                    <a:lumMod val="75000"/>
                  </a:schemeClr>
                </a:solidFill>
              </a:rPr>
              <a:t>brown precipitate</a:t>
            </a:r>
          </a:p>
          <a:p>
            <a:r>
              <a:rPr lang="en-GB" sz="2000" dirty="0"/>
              <a:t>when sodium hydroxide solution is added.</a:t>
            </a:r>
          </a:p>
        </p:txBody>
      </p:sp>
    </p:spTree>
    <p:extLst>
      <p:ext uri="{BB962C8B-B14F-4D97-AF65-F5344CB8AC3E}">
        <p14:creationId xmlns:p14="http://schemas.microsoft.com/office/powerpoint/2010/main" val="22058204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35655"/>
            <a:ext cx="781236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000" dirty="0">
                <a:solidFill>
                  <a:schemeClr val="accent6"/>
                </a:solidFill>
              </a:rPr>
              <a:t>Identification of ions by chemical means Part 1 (Chemistry only)</a:t>
            </a:r>
            <a:endParaRPr kumimoji="0" lang="en-US" sz="2000"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p:cNvSpPr txBox="1"/>
          <p:nvPr/>
        </p:nvSpPr>
        <p:spPr>
          <a:xfrm>
            <a:off x="164502" y="692696"/>
            <a:ext cx="8964488" cy="5940088"/>
          </a:xfrm>
          <a:prstGeom prst="rect">
            <a:avLst/>
          </a:prstGeom>
          <a:noFill/>
        </p:spPr>
        <p:txBody>
          <a:bodyPr wrap="square" rtlCol="0">
            <a:spAutoFit/>
          </a:bodyPr>
          <a:lstStyle/>
          <a:p>
            <a:r>
              <a:rPr lang="en-GB" sz="2000" dirty="0"/>
              <a:t>You will be expected to write word and balanced symbol equations for all the precipitation reactions</a:t>
            </a:r>
            <a:r>
              <a:rPr lang="en-GB" sz="2000" dirty="0" smtClean="0"/>
              <a:t>.</a:t>
            </a:r>
            <a:endParaRPr lang="en-GB" sz="2000" dirty="0"/>
          </a:p>
          <a:p>
            <a:pPr algn="ctr"/>
            <a:r>
              <a:rPr lang="en-GB" sz="2000" dirty="0"/>
              <a:t>Aluminium chloride + sodium hydroxide </a:t>
            </a:r>
            <a:r>
              <a:rPr lang="en-GB" sz="2000" dirty="0">
                <a:sym typeface="Wingdings" panose="05000000000000000000" pitchFamily="2" charset="2"/>
              </a:rPr>
              <a:t> aluminium hydroxide + sodium chloride</a:t>
            </a:r>
          </a:p>
          <a:p>
            <a:r>
              <a:rPr lang="en-GB" sz="2000" dirty="0">
                <a:sym typeface="Wingdings" panose="05000000000000000000" pitchFamily="2" charset="2"/>
              </a:rPr>
              <a:t>                </a:t>
            </a:r>
            <a:r>
              <a:rPr lang="en-GB" sz="2000" dirty="0" smtClean="0">
                <a:sym typeface="Wingdings" panose="05000000000000000000" pitchFamily="2" charset="2"/>
              </a:rPr>
              <a:t>    </a:t>
            </a:r>
            <a:r>
              <a:rPr lang="en-GB" sz="2000" dirty="0">
                <a:sym typeface="Wingdings" panose="05000000000000000000" pitchFamily="2" charset="2"/>
              </a:rPr>
              <a:t>AlCl</a:t>
            </a:r>
            <a:r>
              <a:rPr lang="en-GB" sz="2000" baseline="-25000" dirty="0">
                <a:sym typeface="Wingdings" panose="05000000000000000000" pitchFamily="2" charset="2"/>
              </a:rPr>
              <a:t>3</a:t>
            </a:r>
            <a:r>
              <a:rPr lang="en-GB" sz="2000" dirty="0">
                <a:sym typeface="Wingdings" panose="05000000000000000000" pitchFamily="2" charset="2"/>
              </a:rPr>
              <a:t> (</a:t>
            </a:r>
            <a:r>
              <a:rPr lang="en-GB" sz="2000" dirty="0" err="1">
                <a:sym typeface="Wingdings" panose="05000000000000000000" pitchFamily="2" charset="2"/>
              </a:rPr>
              <a:t>aq</a:t>
            </a:r>
            <a:r>
              <a:rPr lang="en-GB" sz="2000" dirty="0">
                <a:sym typeface="Wingdings" panose="05000000000000000000" pitchFamily="2" charset="2"/>
              </a:rPr>
              <a:t>)</a:t>
            </a:r>
            <a:r>
              <a:rPr lang="en-GB" sz="2000" baseline="-25000" dirty="0">
                <a:sym typeface="Wingdings" panose="05000000000000000000" pitchFamily="2" charset="2"/>
              </a:rPr>
              <a:t>      </a:t>
            </a:r>
            <a:r>
              <a:rPr lang="en-GB" sz="2000" dirty="0">
                <a:sym typeface="Wingdings" panose="05000000000000000000" pitchFamily="2" charset="2"/>
              </a:rPr>
              <a:t> +          3NaOH (</a:t>
            </a:r>
            <a:r>
              <a:rPr lang="en-GB" sz="2000" dirty="0" err="1">
                <a:sym typeface="Wingdings" panose="05000000000000000000" pitchFamily="2" charset="2"/>
              </a:rPr>
              <a:t>aq</a:t>
            </a:r>
            <a:r>
              <a:rPr lang="en-GB" sz="2000" dirty="0">
                <a:sym typeface="Wingdings" panose="05000000000000000000" pitchFamily="2" charset="2"/>
              </a:rPr>
              <a:t>)                 Al(OH)</a:t>
            </a:r>
            <a:r>
              <a:rPr lang="en-GB" sz="2000" baseline="-25000" dirty="0">
                <a:sym typeface="Wingdings" panose="05000000000000000000" pitchFamily="2" charset="2"/>
              </a:rPr>
              <a:t>3</a:t>
            </a:r>
            <a:r>
              <a:rPr lang="en-GB" sz="2000" dirty="0">
                <a:sym typeface="Wingdings" panose="05000000000000000000" pitchFamily="2" charset="2"/>
              </a:rPr>
              <a:t> (s)        +     3NaCl (</a:t>
            </a:r>
            <a:r>
              <a:rPr lang="en-GB" sz="2000" dirty="0" err="1">
                <a:sym typeface="Wingdings" panose="05000000000000000000" pitchFamily="2" charset="2"/>
              </a:rPr>
              <a:t>aq</a:t>
            </a:r>
            <a:r>
              <a:rPr lang="en-GB" sz="2000" dirty="0">
                <a:sym typeface="Wingdings" panose="05000000000000000000" pitchFamily="2" charset="2"/>
              </a:rPr>
              <a:t>)</a:t>
            </a:r>
          </a:p>
          <a:p>
            <a:endParaRPr lang="en-GB" sz="2000" dirty="0">
              <a:sym typeface="Wingdings" panose="05000000000000000000" pitchFamily="2" charset="2"/>
            </a:endParaRPr>
          </a:p>
          <a:p>
            <a:pPr algn="ctr"/>
            <a:r>
              <a:rPr lang="en-GB" sz="2000" dirty="0">
                <a:sym typeface="Wingdings" panose="05000000000000000000" pitchFamily="2" charset="2"/>
              </a:rPr>
              <a:t>Calcium chloride + sodium hydroxide  calcium hydroxide + sodium chloride</a:t>
            </a:r>
          </a:p>
          <a:p>
            <a:r>
              <a:rPr lang="en-GB" sz="2000" dirty="0">
                <a:sym typeface="Wingdings" panose="05000000000000000000" pitchFamily="2" charset="2"/>
              </a:rPr>
              <a:t>                       CaCl</a:t>
            </a:r>
            <a:r>
              <a:rPr lang="en-GB" sz="2000" baseline="-25000" dirty="0">
                <a:sym typeface="Wingdings" panose="05000000000000000000" pitchFamily="2" charset="2"/>
              </a:rPr>
              <a:t>2</a:t>
            </a:r>
            <a:r>
              <a:rPr lang="en-GB" sz="2000" dirty="0">
                <a:sym typeface="Wingdings" panose="05000000000000000000" pitchFamily="2" charset="2"/>
              </a:rPr>
              <a:t> (</a:t>
            </a:r>
            <a:r>
              <a:rPr lang="en-GB" sz="2000" dirty="0" err="1">
                <a:sym typeface="Wingdings" panose="05000000000000000000" pitchFamily="2" charset="2"/>
              </a:rPr>
              <a:t>aq</a:t>
            </a:r>
            <a:r>
              <a:rPr lang="en-GB" sz="2000" dirty="0">
                <a:sym typeface="Wingdings" panose="05000000000000000000" pitchFamily="2" charset="2"/>
              </a:rPr>
              <a:t>)    +          2NaOH (</a:t>
            </a:r>
            <a:r>
              <a:rPr lang="en-GB" sz="2000" dirty="0" err="1">
                <a:sym typeface="Wingdings" panose="05000000000000000000" pitchFamily="2" charset="2"/>
              </a:rPr>
              <a:t>aq</a:t>
            </a:r>
            <a:r>
              <a:rPr lang="en-GB" sz="2000" dirty="0">
                <a:sym typeface="Wingdings" panose="05000000000000000000" pitchFamily="2" charset="2"/>
              </a:rPr>
              <a:t>)                Ca(OH)</a:t>
            </a:r>
            <a:r>
              <a:rPr lang="en-GB" sz="2000" baseline="-25000" dirty="0">
                <a:sym typeface="Wingdings" panose="05000000000000000000" pitchFamily="2" charset="2"/>
              </a:rPr>
              <a:t>2</a:t>
            </a:r>
            <a:r>
              <a:rPr lang="en-GB" sz="2000" dirty="0">
                <a:sym typeface="Wingdings" panose="05000000000000000000" pitchFamily="2" charset="2"/>
              </a:rPr>
              <a:t> (s) +       2NaCl (</a:t>
            </a:r>
            <a:r>
              <a:rPr lang="en-GB" sz="2000" dirty="0" err="1">
                <a:sym typeface="Wingdings" panose="05000000000000000000" pitchFamily="2" charset="2"/>
              </a:rPr>
              <a:t>aq</a:t>
            </a:r>
            <a:r>
              <a:rPr lang="en-GB" sz="2000" dirty="0" smtClean="0">
                <a:sym typeface="Wingdings" panose="05000000000000000000" pitchFamily="2" charset="2"/>
              </a:rPr>
              <a:t>)</a:t>
            </a:r>
          </a:p>
          <a:p>
            <a:endParaRPr lang="en-GB" sz="2000" dirty="0">
              <a:sym typeface="Wingdings" panose="05000000000000000000" pitchFamily="2" charset="2"/>
            </a:endParaRPr>
          </a:p>
          <a:p>
            <a:pPr algn="ctr"/>
            <a:r>
              <a:rPr lang="en-GB" sz="2000" dirty="0" smtClean="0">
                <a:sym typeface="Wingdings" panose="05000000000000000000" pitchFamily="2" charset="2"/>
              </a:rPr>
              <a:t>Magnesium </a:t>
            </a:r>
            <a:r>
              <a:rPr lang="en-GB" sz="2000" dirty="0">
                <a:sym typeface="Wingdings" panose="05000000000000000000" pitchFamily="2" charset="2"/>
              </a:rPr>
              <a:t>chloride + sodium hydroxide  magnesium hydroxide + sodium chloride</a:t>
            </a:r>
          </a:p>
          <a:p>
            <a:r>
              <a:rPr lang="en-GB" sz="2000" dirty="0">
                <a:sym typeface="Wingdings" panose="05000000000000000000" pitchFamily="2" charset="2"/>
              </a:rPr>
              <a:t>                   </a:t>
            </a:r>
            <a:r>
              <a:rPr lang="en-GB" sz="2000" dirty="0" smtClean="0">
                <a:sym typeface="Wingdings" panose="05000000000000000000" pitchFamily="2" charset="2"/>
              </a:rPr>
              <a:t>MgCl</a:t>
            </a:r>
            <a:r>
              <a:rPr lang="en-GB" sz="2000" baseline="-25000" dirty="0" smtClean="0">
                <a:sym typeface="Wingdings" panose="05000000000000000000" pitchFamily="2" charset="2"/>
              </a:rPr>
              <a:t>2</a:t>
            </a:r>
            <a:r>
              <a:rPr lang="en-GB" sz="2000" dirty="0" smtClean="0">
                <a:sym typeface="Wingdings" panose="05000000000000000000" pitchFamily="2" charset="2"/>
              </a:rPr>
              <a:t> </a:t>
            </a:r>
            <a:r>
              <a:rPr lang="en-GB" sz="2000" dirty="0">
                <a:sym typeface="Wingdings" panose="05000000000000000000" pitchFamily="2" charset="2"/>
              </a:rPr>
              <a:t>(</a:t>
            </a:r>
            <a:r>
              <a:rPr lang="en-GB" sz="2000" dirty="0" err="1">
                <a:sym typeface="Wingdings" panose="05000000000000000000" pitchFamily="2" charset="2"/>
              </a:rPr>
              <a:t>aq</a:t>
            </a:r>
            <a:r>
              <a:rPr lang="en-GB" sz="2000" dirty="0">
                <a:sym typeface="Wingdings" panose="05000000000000000000" pitchFamily="2" charset="2"/>
              </a:rPr>
              <a:t>)   +          2NaOH (</a:t>
            </a:r>
            <a:r>
              <a:rPr lang="en-GB" sz="2000" dirty="0" err="1">
                <a:sym typeface="Wingdings" panose="05000000000000000000" pitchFamily="2" charset="2"/>
              </a:rPr>
              <a:t>aq</a:t>
            </a:r>
            <a:r>
              <a:rPr lang="en-GB" sz="2000" dirty="0">
                <a:sym typeface="Wingdings" panose="05000000000000000000" pitchFamily="2" charset="2"/>
              </a:rPr>
              <a:t>)             Mg(OH)</a:t>
            </a:r>
            <a:r>
              <a:rPr lang="en-GB" sz="2000" baseline="-25000" dirty="0">
                <a:sym typeface="Wingdings" panose="05000000000000000000" pitchFamily="2" charset="2"/>
              </a:rPr>
              <a:t>2</a:t>
            </a:r>
            <a:r>
              <a:rPr lang="en-GB" sz="2000" dirty="0">
                <a:sym typeface="Wingdings" panose="05000000000000000000" pitchFamily="2" charset="2"/>
              </a:rPr>
              <a:t> (s)          +      2NaCl (</a:t>
            </a:r>
            <a:r>
              <a:rPr lang="en-GB" sz="2000" dirty="0" err="1">
                <a:sym typeface="Wingdings" panose="05000000000000000000" pitchFamily="2" charset="2"/>
              </a:rPr>
              <a:t>aq</a:t>
            </a:r>
            <a:r>
              <a:rPr lang="en-GB" sz="2000" dirty="0">
                <a:sym typeface="Wingdings" panose="05000000000000000000" pitchFamily="2" charset="2"/>
              </a:rPr>
              <a:t>)</a:t>
            </a:r>
          </a:p>
          <a:p>
            <a:endParaRPr lang="en-GB" sz="2000" dirty="0">
              <a:sym typeface="Wingdings" panose="05000000000000000000" pitchFamily="2" charset="2"/>
            </a:endParaRPr>
          </a:p>
          <a:p>
            <a:pPr algn="ctr"/>
            <a:r>
              <a:rPr lang="en-GB" sz="2000" dirty="0">
                <a:sym typeface="Wingdings" panose="05000000000000000000" pitchFamily="2" charset="2"/>
              </a:rPr>
              <a:t>Copper(II) chloride + sodium hydroxide  copper (II) hydroxide + sodium chloride</a:t>
            </a:r>
          </a:p>
          <a:p>
            <a:r>
              <a:rPr lang="en-GB" sz="2000" dirty="0">
                <a:sym typeface="Wingdings" panose="05000000000000000000" pitchFamily="2" charset="2"/>
              </a:rPr>
              <a:t>                        CuCl</a:t>
            </a:r>
            <a:r>
              <a:rPr lang="en-GB" sz="2000" baseline="-25000" dirty="0">
                <a:sym typeface="Wingdings" panose="05000000000000000000" pitchFamily="2" charset="2"/>
              </a:rPr>
              <a:t>2</a:t>
            </a:r>
            <a:r>
              <a:rPr lang="en-GB" sz="2000" dirty="0">
                <a:sym typeface="Wingdings" panose="05000000000000000000" pitchFamily="2" charset="2"/>
              </a:rPr>
              <a:t> (</a:t>
            </a:r>
            <a:r>
              <a:rPr lang="en-GB" sz="2000" dirty="0" err="1">
                <a:sym typeface="Wingdings" panose="05000000000000000000" pitchFamily="2" charset="2"/>
              </a:rPr>
              <a:t>aq</a:t>
            </a:r>
            <a:r>
              <a:rPr lang="en-GB" sz="2000" dirty="0">
                <a:sym typeface="Wingdings" panose="05000000000000000000" pitchFamily="2" charset="2"/>
              </a:rPr>
              <a:t>)  +         2NaOH (</a:t>
            </a:r>
            <a:r>
              <a:rPr lang="en-GB" sz="2000" dirty="0" err="1">
                <a:sym typeface="Wingdings" panose="05000000000000000000" pitchFamily="2" charset="2"/>
              </a:rPr>
              <a:t>aq</a:t>
            </a:r>
            <a:r>
              <a:rPr lang="en-GB" sz="2000" dirty="0">
                <a:sym typeface="Wingdings" panose="05000000000000000000" pitchFamily="2" charset="2"/>
              </a:rPr>
              <a:t>)               Cu(OH)</a:t>
            </a:r>
            <a:r>
              <a:rPr lang="en-GB" sz="2000" baseline="-25000" dirty="0">
                <a:sym typeface="Wingdings" panose="05000000000000000000" pitchFamily="2" charset="2"/>
              </a:rPr>
              <a:t>2</a:t>
            </a:r>
            <a:r>
              <a:rPr lang="en-GB" sz="2000" dirty="0">
                <a:sym typeface="Wingdings" panose="05000000000000000000" pitchFamily="2" charset="2"/>
              </a:rPr>
              <a:t> (</a:t>
            </a:r>
            <a:r>
              <a:rPr lang="en-GB" sz="2000" dirty="0" err="1">
                <a:sym typeface="Wingdings" panose="05000000000000000000" pitchFamily="2" charset="2"/>
              </a:rPr>
              <a:t>aq</a:t>
            </a:r>
            <a:r>
              <a:rPr lang="en-GB" sz="2000" dirty="0">
                <a:sym typeface="Wingdings" panose="05000000000000000000" pitchFamily="2" charset="2"/>
              </a:rPr>
              <a:t>)      +      2NaCl (</a:t>
            </a:r>
            <a:r>
              <a:rPr lang="en-GB" sz="2000" dirty="0" err="1">
                <a:sym typeface="Wingdings" panose="05000000000000000000" pitchFamily="2" charset="2"/>
              </a:rPr>
              <a:t>aq</a:t>
            </a:r>
            <a:r>
              <a:rPr lang="en-GB" sz="2000" dirty="0">
                <a:sym typeface="Wingdings" panose="05000000000000000000" pitchFamily="2" charset="2"/>
              </a:rPr>
              <a:t>)</a:t>
            </a:r>
          </a:p>
          <a:p>
            <a:endParaRPr lang="en-GB" sz="2000" dirty="0">
              <a:sym typeface="Wingdings" panose="05000000000000000000" pitchFamily="2" charset="2"/>
            </a:endParaRPr>
          </a:p>
          <a:p>
            <a:pPr algn="ctr"/>
            <a:r>
              <a:rPr lang="en-GB" sz="2000" dirty="0">
                <a:sym typeface="Wingdings" panose="05000000000000000000" pitchFamily="2" charset="2"/>
              </a:rPr>
              <a:t>Iron (II) chloride + sodium hydroxide  iron (II) hydroxide + sodium chloride</a:t>
            </a:r>
          </a:p>
          <a:p>
            <a:r>
              <a:rPr lang="en-GB" sz="2000" dirty="0">
                <a:sym typeface="Wingdings" panose="05000000000000000000" pitchFamily="2" charset="2"/>
              </a:rPr>
              <a:t>                         FeCl</a:t>
            </a:r>
            <a:r>
              <a:rPr lang="en-GB" sz="2000" baseline="-25000" dirty="0">
                <a:sym typeface="Wingdings" panose="05000000000000000000" pitchFamily="2" charset="2"/>
              </a:rPr>
              <a:t>2</a:t>
            </a:r>
            <a:r>
              <a:rPr lang="en-GB" sz="2000" dirty="0">
                <a:sym typeface="Wingdings" panose="05000000000000000000" pitchFamily="2" charset="2"/>
              </a:rPr>
              <a:t> (</a:t>
            </a:r>
            <a:r>
              <a:rPr lang="en-GB" sz="2000" dirty="0" err="1">
                <a:sym typeface="Wingdings" panose="05000000000000000000" pitchFamily="2" charset="2"/>
              </a:rPr>
              <a:t>aq</a:t>
            </a:r>
            <a:r>
              <a:rPr lang="en-GB" sz="2000" dirty="0">
                <a:sym typeface="Wingdings" panose="05000000000000000000" pitchFamily="2" charset="2"/>
              </a:rPr>
              <a:t>)  +       2NaOH  (</a:t>
            </a:r>
            <a:r>
              <a:rPr lang="en-GB" sz="2000" dirty="0" err="1">
                <a:sym typeface="Wingdings" panose="05000000000000000000" pitchFamily="2" charset="2"/>
              </a:rPr>
              <a:t>aq</a:t>
            </a:r>
            <a:r>
              <a:rPr lang="en-GB" sz="2000" dirty="0">
                <a:sym typeface="Wingdings" panose="05000000000000000000" pitchFamily="2" charset="2"/>
              </a:rPr>
              <a:t>)            Fe(OH)</a:t>
            </a:r>
            <a:r>
              <a:rPr lang="en-GB" sz="2000" baseline="-25000" dirty="0">
                <a:sym typeface="Wingdings" panose="05000000000000000000" pitchFamily="2" charset="2"/>
              </a:rPr>
              <a:t>2</a:t>
            </a:r>
            <a:r>
              <a:rPr lang="en-GB" sz="2000" dirty="0">
                <a:sym typeface="Wingdings" panose="05000000000000000000" pitchFamily="2" charset="2"/>
              </a:rPr>
              <a:t> (s)       +       2NaCl (</a:t>
            </a:r>
            <a:r>
              <a:rPr lang="en-GB" sz="2000" dirty="0" err="1">
                <a:sym typeface="Wingdings" panose="05000000000000000000" pitchFamily="2" charset="2"/>
              </a:rPr>
              <a:t>aq</a:t>
            </a:r>
            <a:r>
              <a:rPr lang="en-GB" sz="2000" dirty="0">
                <a:sym typeface="Wingdings" panose="05000000000000000000" pitchFamily="2" charset="2"/>
              </a:rPr>
              <a:t>)</a:t>
            </a:r>
          </a:p>
          <a:p>
            <a:endParaRPr lang="en-GB" sz="2000" dirty="0">
              <a:sym typeface="Wingdings" panose="05000000000000000000" pitchFamily="2" charset="2"/>
            </a:endParaRPr>
          </a:p>
          <a:p>
            <a:pPr algn="ctr"/>
            <a:r>
              <a:rPr lang="en-GB" sz="2000" dirty="0">
                <a:sym typeface="Wingdings" panose="05000000000000000000" pitchFamily="2" charset="2"/>
              </a:rPr>
              <a:t>Iron (III) chloride + sodium hydroxide  iron (III) hydroxide + sodium chloride</a:t>
            </a:r>
          </a:p>
          <a:p>
            <a:r>
              <a:rPr lang="en-GB" sz="2000" dirty="0">
                <a:sym typeface="Wingdings" panose="05000000000000000000" pitchFamily="2" charset="2"/>
              </a:rPr>
              <a:t>                         FeCl</a:t>
            </a:r>
            <a:r>
              <a:rPr lang="en-GB" sz="2000" baseline="-25000" dirty="0">
                <a:sym typeface="Wingdings" panose="05000000000000000000" pitchFamily="2" charset="2"/>
              </a:rPr>
              <a:t>3 </a:t>
            </a:r>
            <a:r>
              <a:rPr lang="en-GB" sz="2000" dirty="0">
                <a:sym typeface="Wingdings" panose="05000000000000000000" pitchFamily="2" charset="2"/>
              </a:rPr>
              <a:t>(</a:t>
            </a:r>
            <a:r>
              <a:rPr lang="en-GB" sz="2000" dirty="0" err="1">
                <a:sym typeface="Wingdings" panose="05000000000000000000" pitchFamily="2" charset="2"/>
              </a:rPr>
              <a:t>aq</a:t>
            </a:r>
            <a:r>
              <a:rPr lang="en-GB" sz="2000" dirty="0">
                <a:sym typeface="Wingdings" panose="05000000000000000000" pitchFamily="2" charset="2"/>
              </a:rPr>
              <a:t>)   +       3NaOH  (</a:t>
            </a:r>
            <a:r>
              <a:rPr lang="en-GB" sz="2000" dirty="0" err="1">
                <a:sym typeface="Wingdings" panose="05000000000000000000" pitchFamily="2" charset="2"/>
              </a:rPr>
              <a:t>aq</a:t>
            </a:r>
            <a:r>
              <a:rPr lang="en-GB" sz="2000" dirty="0">
                <a:sym typeface="Wingdings" panose="05000000000000000000" pitchFamily="2" charset="2"/>
              </a:rPr>
              <a:t>)         Fe(OH)</a:t>
            </a:r>
            <a:r>
              <a:rPr lang="en-GB" sz="2000" baseline="-25000" dirty="0">
                <a:sym typeface="Wingdings" panose="05000000000000000000" pitchFamily="2" charset="2"/>
              </a:rPr>
              <a:t>3</a:t>
            </a:r>
            <a:r>
              <a:rPr lang="en-GB" sz="2000" dirty="0">
                <a:sym typeface="Wingdings" panose="05000000000000000000" pitchFamily="2" charset="2"/>
              </a:rPr>
              <a:t>  (s)         +     3NaCl (</a:t>
            </a:r>
            <a:r>
              <a:rPr lang="en-GB" sz="2000" dirty="0" err="1">
                <a:sym typeface="Wingdings" panose="05000000000000000000" pitchFamily="2" charset="2"/>
              </a:rPr>
              <a:t>aq</a:t>
            </a:r>
            <a:r>
              <a:rPr lang="en-GB" sz="2000" dirty="0">
                <a:sym typeface="Wingdings" panose="05000000000000000000" pitchFamily="2" charset="2"/>
              </a:rPr>
              <a:t>)</a:t>
            </a:r>
            <a:endParaRPr lang="en-GB" sz="2000" dirty="0"/>
          </a:p>
        </p:txBody>
      </p:sp>
    </p:spTree>
    <p:extLst>
      <p:ext uri="{BB962C8B-B14F-4D97-AF65-F5344CB8AC3E}">
        <p14:creationId xmlns:p14="http://schemas.microsoft.com/office/powerpoint/2010/main" val="23679020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770537"/>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2800" b="1" dirty="0">
                <a:solidFill>
                  <a:schemeClr val="tx1">
                    <a:lumMod val="50000"/>
                    <a:lumOff val="50000"/>
                  </a:schemeClr>
                </a:solidFill>
              </a:rPr>
              <a:t>Identification of ions by chemical means (Chemistry only) Part 1</a:t>
            </a:r>
          </a:p>
          <a:p>
            <a:endParaRPr lang="en-GB" sz="2800" b="1" dirty="0">
              <a:solidFill>
                <a:schemeClr val="tx1">
                  <a:lumMod val="50000"/>
                  <a:lumOff val="50000"/>
                </a:schemeClr>
              </a:solidFill>
            </a:endParaRPr>
          </a:p>
          <a:p>
            <a:pPr marL="342900" indent="-342900">
              <a:buFont typeface="Arial" panose="020B0604020202020204" pitchFamily="34" charset="0"/>
              <a:buChar char="•"/>
            </a:pPr>
            <a:r>
              <a:rPr lang="en-GB" sz="2400" b="1" dirty="0">
                <a:solidFill>
                  <a:schemeClr val="tx1">
                    <a:lumMod val="50000"/>
                    <a:lumOff val="50000"/>
                  </a:schemeClr>
                </a:solidFill>
              </a:rPr>
              <a:t>Flame tests</a:t>
            </a:r>
          </a:p>
          <a:p>
            <a:pPr marL="342900" indent="-342900">
              <a:buFont typeface="Arial" panose="020B0604020202020204" pitchFamily="34" charset="0"/>
              <a:buChar char="•"/>
            </a:pPr>
            <a:r>
              <a:rPr lang="en-GB" sz="2400" b="1" dirty="0">
                <a:solidFill>
                  <a:schemeClr val="tx1">
                    <a:lumMod val="50000"/>
                    <a:lumOff val="50000"/>
                  </a:schemeClr>
                </a:solidFill>
              </a:rPr>
              <a:t>Metal hydroxides</a:t>
            </a: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29811923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l" defTabSz="342900" rtl="0">
              <a:spcBef>
                <a:spcPct val="20000"/>
              </a:spcBef>
            </a:pPr>
            <a:r>
              <a:rPr lang="en-US" dirty="0">
                <a:solidFill>
                  <a:schemeClr val="accent6"/>
                </a:solidFill>
              </a:rPr>
              <a:t>Identification of ions by chemical means Part 1 (Chemistry only)</a:t>
            </a:r>
            <a:r>
              <a:rPr lang="en-US" b="1" kern="1200" dirty="0">
                <a:solidFill>
                  <a:schemeClr val="accent6"/>
                </a:solidFill>
                <a:latin typeface="Calibri"/>
                <a:ea typeface=""/>
                <a:cs typeface="News Gothic MT"/>
              </a:rPr>
              <a:t>–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524315"/>
          </a:xfrm>
          <a:prstGeom prst="rect">
            <a:avLst/>
          </a:prstGeom>
          <a:noFill/>
        </p:spPr>
        <p:txBody>
          <a:bodyPr wrap="square" rtlCol="0">
            <a:spAutoFit/>
          </a:bodyPr>
          <a:lstStyle/>
          <a:p>
            <a:pPr marL="457200" indent="-457200">
              <a:buFont typeface="+mj-lt"/>
              <a:buAutoNum type="arabicPeriod"/>
            </a:pPr>
            <a:r>
              <a:rPr lang="en-GB" sz="2400" dirty="0" smtClean="0"/>
              <a:t>What is a flame test?</a:t>
            </a:r>
          </a:p>
          <a:p>
            <a:pPr marL="457200" indent="-457200">
              <a:buFont typeface="+mj-lt"/>
              <a:buAutoNum type="arabicPeriod"/>
            </a:pPr>
            <a:endParaRPr lang="en-GB" sz="2400" dirty="0" smtClean="0"/>
          </a:p>
          <a:p>
            <a:pPr marL="457200" indent="-457200">
              <a:buFont typeface="+mj-lt"/>
              <a:buAutoNum type="arabicPeriod"/>
            </a:pPr>
            <a:r>
              <a:rPr lang="en-GB" sz="2400" dirty="0" smtClean="0"/>
              <a:t>What colour flame would the following metal ions have in a flame test?</a:t>
            </a:r>
          </a:p>
          <a:p>
            <a:pPr marL="914400" lvl="1" indent="-457200">
              <a:buFont typeface="+mj-lt"/>
              <a:buAutoNum type="alphaLcParenR"/>
            </a:pPr>
            <a:r>
              <a:rPr lang="en-GB" sz="2400" dirty="0" smtClean="0"/>
              <a:t>Lithium</a:t>
            </a:r>
          </a:p>
          <a:p>
            <a:pPr marL="914400" lvl="1" indent="-457200">
              <a:buFont typeface="+mj-lt"/>
              <a:buAutoNum type="alphaLcParenR"/>
            </a:pPr>
            <a:r>
              <a:rPr lang="en-GB" sz="2400" dirty="0" smtClean="0"/>
              <a:t>Sodium</a:t>
            </a:r>
          </a:p>
          <a:p>
            <a:pPr marL="914400" lvl="1" indent="-457200">
              <a:buFont typeface="+mj-lt"/>
              <a:buAutoNum type="alphaLcParenR"/>
            </a:pPr>
            <a:r>
              <a:rPr lang="en-GB" sz="2400" dirty="0" smtClean="0"/>
              <a:t>Potassium</a:t>
            </a:r>
          </a:p>
          <a:p>
            <a:pPr marL="914400" lvl="1" indent="-457200">
              <a:buFont typeface="+mj-lt"/>
              <a:buAutoNum type="alphaLcParenR"/>
            </a:pPr>
            <a:r>
              <a:rPr lang="en-GB" sz="2400" dirty="0" smtClean="0"/>
              <a:t>Calcium</a:t>
            </a:r>
          </a:p>
          <a:p>
            <a:pPr marL="914400" lvl="1" indent="-457200">
              <a:buFont typeface="+mj-lt"/>
              <a:buAutoNum type="alphaLcParenR"/>
            </a:pPr>
            <a:r>
              <a:rPr lang="en-GB" sz="2400" dirty="0" smtClean="0"/>
              <a:t>Copper</a:t>
            </a:r>
          </a:p>
          <a:p>
            <a:pPr marL="914400" lvl="1" indent="-457200">
              <a:buFont typeface="+mj-lt"/>
              <a:buAutoNum type="alphaLcParenR"/>
            </a:pPr>
            <a:endParaRPr lang="en-GB" sz="2400" dirty="0" smtClean="0"/>
          </a:p>
          <a:p>
            <a:pPr marL="457200" indent="-457200">
              <a:buFont typeface="+mj-lt"/>
              <a:buAutoNum type="arabicPeriod"/>
            </a:pPr>
            <a:r>
              <a:rPr lang="en-GB" sz="2400" dirty="0" smtClean="0"/>
              <a:t>What might cause some flame colours to be </a:t>
            </a:r>
            <a:r>
              <a:rPr lang="en-GB" sz="2400" dirty="0"/>
              <a:t>masked? </a:t>
            </a:r>
            <a:endParaRPr lang="en-GB" sz="2400" dirty="0" smtClean="0"/>
          </a:p>
          <a:p>
            <a:pPr marL="457200" indent="-457200">
              <a:buFont typeface="+mj-lt"/>
              <a:buAutoNum type="arabicPeriod"/>
            </a:pPr>
            <a:endParaRPr lang="en-GB" sz="2400" dirty="0" smtClean="0"/>
          </a:p>
        </p:txBody>
      </p:sp>
    </p:spTree>
    <p:extLst>
      <p:ext uri="{BB962C8B-B14F-4D97-AF65-F5344CB8AC3E}">
        <p14:creationId xmlns:p14="http://schemas.microsoft.com/office/powerpoint/2010/main" val="39469244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l" defTabSz="342900" rtl="0">
              <a:spcBef>
                <a:spcPct val="20000"/>
              </a:spcBef>
            </a:pPr>
            <a:r>
              <a:rPr lang="en-US" dirty="0">
                <a:solidFill>
                  <a:schemeClr val="accent6"/>
                </a:solidFill>
              </a:rPr>
              <a:t>Identification of ions by chemical means Part 1 (Chemistry only)</a:t>
            </a:r>
            <a:r>
              <a:rPr lang="en-US" b="1" kern="1200" dirty="0">
                <a:solidFill>
                  <a:schemeClr val="accent6"/>
                </a:solidFill>
                <a:latin typeface="Calibri"/>
                <a:ea typeface=""/>
                <a:cs typeface="News Gothic MT"/>
              </a:rPr>
              <a:t>–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262979"/>
          </a:xfrm>
          <a:prstGeom prst="rect">
            <a:avLst/>
          </a:prstGeom>
          <a:noFill/>
        </p:spPr>
        <p:txBody>
          <a:bodyPr wrap="square" rtlCol="0">
            <a:spAutoFit/>
          </a:bodyPr>
          <a:lstStyle/>
          <a:p>
            <a:pPr marL="457200" indent="-457200">
              <a:buFont typeface="+mj-lt"/>
              <a:buAutoNum type="arabicPeriod" startAt="4"/>
            </a:pPr>
            <a:r>
              <a:rPr lang="en-GB" sz="2400" dirty="0" smtClean="0"/>
              <a:t>What is a precipitate?</a:t>
            </a:r>
          </a:p>
          <a:p>
            <a:pPr marL="457200" indent="-457200">
              <a:buFont typeface="+mj-lt"/>
              <a:buAutoNum type="arabicPeriod" startAt="4"/>
            </a:pPr>
            <a:endParaRPr lang="en-GB" sz="2400" dirty="0" smtClean="0"/>
          </a:p>
          <a:p>
            <a:pPr marL="457200" indent="-457200">
              <a:buFont typeface="+mj-lt"/>
              <a:buAutoNum type="arabicPeriod" startAt="4"/>
            </a:pPr>
            <a:r>
              <a:rPr lang="en-GB" sz="2400" dirty="0" smtClean="0"/>
              <a:t>Sodium hydroxide is used to identify some metal ions. What colour precipitate do aluminium, calcium and magnesium ions form?</a:t>
            </a:r>
          </a:p>
          <a:p>
            <a:pPr marL="457200" indent="-457200">
              <a:buFont typeface="+mj-lt"/>
              <a:buAutoNum type="arabicPeriod" startAt="4"/>
            </a:pPr>
            <a:endParaRPr lang="en-GB" sz="2400" dirty="0" smtClean="0"/>
          </a:p>
          <a:p>
            <a:pPr marL="457200" indent="-457200">
              <a:buFont typeface="+mj-lt"/>
              <a:buAutoNum type="arabicPeriod" startAt="4"/>
            </a:pPr>
            <a:r>
              <a:rPr lang="en-GB" sz="2400" dirty="0" smtClean="0"/>
              <a:t>How is are aluminium ions distinguished from calcium and magnesium ions in the reaction with sodium hydroxide?</a:t>
            </a:r>
          </a:p>
          <a:p>
            <a:pPr marL="457200" indent="-457200">
              <a:buFont typeface="+mj-lt"/>
              <a:buAutoNum type="arabicPeriod" startAt="4"/>
            </a:pPr>
            <a:endParaRPr lang="en-GB" sz="2400" dirty="0" smtClean="0"/>
          </a:p>
          <a:p>
            <a:pPr marL="457200" indent="-457200">
              <a:buFont typeface="+mj-lt"/>
              <a:buAutoNum type="arabicPeriod" startAt="4"/>
            </a:pPr>
            <a:r>
              <a:rPr lang="en-GB" sz="2400" dirty="0" smtClean="0"/>
              <a:t>What colour precipitate do the following ions make with sodium hydroxide?</a:t>
            </a:r>
          </a:p>
          <a:p>
            <a:pPr marL="914400" lvl="1" indent="-457200">
              <a:buFont typeface="+mj-lt"/>
              <a:buAutoNum type="alphaLcParenR"/>
            </a:pPr>
            <a:r>
              <a:rPr lang="en-GB" sz="2400" dirty="0" smtClean="0"/>
              <a:t>Copper (II)</a:t>
            </a:r>
          </a:p>
          <a:p>
            <a:pPr marL="914400" lvl="1" indent="-457200">
              <a:buFont typeface="+mj-lt"/>
              <a:buAutoNum type="alphaLcParenR"/>
            </a:pPr>
            <a:r>
              <a:rPr lang="en-GB" sz="2400" dirty="0" smtClean="0"/>
              <a:t>Iron (II)</a:t>
            </a:r>
          </a:p>
          <a:p>
            <a:pPr marL="914400" lvl="1" indent="-457200">
              <a:buFont typeface="+mj-lt"/>
              <a:buAutoNum type="alphaLcParenR"/>
            </a:pPr>
            <a:r>
              <a:rPr lang="en-GB" sz="2400" dirty="0" smtClean="0"/>
              <a:t>Iron (III)</a:t>
            </a:r>
          </a:p>
          <a:p>
            <a:pPr lvl="1"/>
            <a:endParaRPr lang="en-GB" sz="2400" dirty="0" smtClean="0"/>
          </a:p>
        </p:txBody>
      </p:sp>
    </p:spTree>
    <p:extLst>
      <p:ext uri="{BB962C8B-B14F-4D97-AF65-F5344CB8AC3E}">
        <p14:creationId xmlns:p14="http://schemas.microsoft.com/office/powerpoint/2010/main" val="1554873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l" defTabSz="342900" rtl="0">
              <a:spcBef>
                <a:spcPct val="20000"/>
              </a:spcBef>
            </a:pPr>
            <a:r>
              <a:rPr lang="en-US" dirty="0">
                <a:solidFill>
                  <a:schemeClr val="accent6"/>
                </a:solidFill>
              </a:rPr>
              <a:t>Identification of ions by chemical means Part 1 (Chemistry only)</a:t>
            </a:r>
            <a:r>
              <a:rPr lang="en-US" b="1" kern="1200" dirty="0">
                <a:solidFill>
                  <a:schemeClr val="accent6"/>
                </a:solidFill>
                <a:latin typeface="Calibri"/>
                <a:ea typeface=""/>
                <a:cs typeface="News Gothic MT"/>
              </a:rPr>
              <a:t>–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416320"/>
          </a:xfrm>
          <a:prstGeom prst="rect">
            <a:avLst/>
          </a:prstGeom>
          <a:noFill/>
        </p:spPr>
        <p:txBody>
          <a:bodyPr wrap="square" rtlCol="0">
            <a:spAutoFit/>
          </a:bodyPr>
          <a:lstStyle/>
          <a:p>
            <a:pPr marL="457200" indent="-457200">
              <a:buFont typeface="+mj-lt"/>
              <a:buAutoNum type="arabicPeriod" startAt="8"/>
            </a:pPr>
            <a:r>
              <a:rPr lang="en-GB" sz="2400" dirty="0" smtClean="0"/>
              <a:t>Write </a:t>
            </a:r>
            <a:r>
              <a:rPr lang="en-GB" sz="2400" dirty="0"/>
              <a:t>the word equation for the reaction between calcium chloride and sodium </a:t>
            </a:r>
            <a:r>
              <a:rPr lang="en-GB" sz="2400" dirty="0" smtClean="0"/>
              <a:t>hydroxide.</a:t>
            </a:r>
          </a:p>
          <a:p>
            <a:pPr marL="457200" indent="-457200">
              <a:buFont typeface="+mj-lt"/>
              <a:buAutoNum type="arabicPeriod" startAt="8"/>
            </a:pPr>
            <a:endParaRPr lang="en-GB" sz="2400" dirty="0" smtClean="0"/>
          </a:p>
          <a:p>
            <a:pPr marL="457200" indent="-457200">
              <a:buFont typeface="+mj-lt"/>
              <a:buAutoNum type="arabicPeriod" startAt="8"/>
            </a:pPr>
            <a:r>
              <a:rPr lang="en-GB" sz="2400" dirty="0" smtClean="0"/>
              <a:t>Write </a:t>
            </a:r>
            <a:r>
              <a:rPr lang="en-GB" sz="2400" dirty="0"/>
              <a:t>the balanced symbol equation for the reaction between aluminium chloride and sodium </a:t>
            </a:r>
            <a:r>
              <a:rPr lang="en-GB" sz="2400" dirty="0" smtClean="0"/>
              <a:t>hydroxide.</a:t>
            </a:r>
          </a:p>
          <a:p>
            <a:pPr marL="457200" indent="-457200">
              <a:buFont typeface="+mj-lt"/>
              <a:buAutoNum type="arabicPeriod" startAt="8"/>
            </a:pPr>
            <a:endParaRPr lang="en-GB" sz="2400" dirty="0" smtClean="0"/>
          </a:p>
          <a:p>
            <a:pPr marL="457200" indent="-457200">
              <a:buFont typeface="+mj-lt"/>
              <a:buAutoNum type="arabicPeriod" startAt="8"/>
            </a:pPr>
            <a:r>
              <a:rPr lang="en-GB" sz="2400" dirty="0" smtClean="0"/>
              <a:t>What </a:t>
            </a:r>
            <a:r>
              <a:rPr lang="en-GB" sz="2400" dirty="0"/>
              <a:t>colour would be the precipitates be in the above </a:t>
            </a:r>
            <a:r>
              <a:rPr lang="en-GB" sz="2400" dirty="0" smtClean="0"/>
              <a:t>reactions?</a:t>
            </a:r>
          </a:p>
          <a:p>
            <a:pPr marL="457200" indent="-457200">
              <a:buFont typeface="+mj-lt"/>
              <a:buAutoNum type="arabicPeriod" startAt="8"/>
            </a:pPr>
            <a:endParaRPr lang="en-GB" sz="2400" dirty="0" smtClean="0"/>
          </a:p>
          <a:p>
            <a:pPr marL="457200" indent="-457200">
              <a:buFont typeface="+mj-lt"/>
              <a:buAutoNum type="arabicPeriod" startAt="8"/>
            </a:pPr>
            <a:r>
              <a:rPr lang="en-GB" sz="2400" dirty="0" smtClean="0"/>
              <a:t>How </a:t>
            </a:r>
            <a:r>
              <a:rPr lang="en-GB" sz="2400" dirty="0"/>
              <a:t>could you distinguish between them?</a:t>
            </a:r>
          </a:p>
        </p:txBody>
      </p:sp>
    </p:spTree>
    <p:extLst>
      <p:ext uri="{BB962C8B-B14F-4D97-AF65-F5344CB8AC3E}">
        <p14:creationId xmlns:p14="http://schemas.microsoft.com/office/powerpoint/2010/main" val="32015050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493538"/>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r>
              <a:rPr lang="en-GB" sz="2800" b="1" dirty="0">
                <a:solidFill>
                  <a:schemeClr val="tx1">
                    <a:lumMod val="50000"/>
                    <a:lumOff val="50000"/>
                  </a:schemeClr>
                </a:solidFill>
              </a:rPr>
              <a:t>Identification of ions by chemical means (Chemistry only) Part 1</a:t>
            </a:r>
          </a:p>
          <a:p>
            <a:endParaRPr lang="en-GB" sz="2800" b="1" dirty="0">
              <a:solidFill>
                <a:schemeClr val="tx1">
                  <a:lumMod val="50000"/>
                  <a:lumOff val="50000"/>
                </a:schemeClr>
              </a:solidFill>
            </a:endParaRPr>
          </a:p>
          <a:p>
            <a:pPr marL="342900" indent="-342900">
              <a:buFont typeface="Arial" panose="020B0604020202020204" pitchFamily="34" charset="0"/>
              <a:buChar char="•"/>
            </a:pPr>
            <a:r>
              <a:rPr lang="en-GB" sz="2400" b="1" dirty="0">
                <a:solidFill>
                  <a:schemeClr val="tx1">
                    <a:lumMod val="50000"/>
                    <a:lumOff val="50000"/>
                  </a:schemeClr>
                </a:solidFill>
              </a:rPr>
              <a:t>Flame tests</a:t>
            </a:r>
          </a:p>
          <a:p>
            <a:pPr marL="342900" indent="-342900">
              <a:buFont typeface="Arial" panose="020B0604020202020204" pitchFamily="34" charset="0"/>
              <a:buChar char="•"/>
            </a:pPr>
            <a:r>
              <a:rPr lang="en-GB" sz="2400" b="1" dirty="0">
                <a:solidFill>
                  <a:schemeClr val="tx1">
                    <a:lumMod val="50000"/>
                    <a:lumOff val="50000"/>
                  </a:schemeClr>
                </a:solidFill>
              </a:rPr>
              <a:t>Metal hydroxides</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33985007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l" defTabSz="342900" rtl="0">
              <a:spcBef>
                <a:spcPct val="20000"/>
              </a:spcBef>
            </a:pPr>
            <a:r>
              <a:rPr lang="en-US" dirty="0">
                <a:solidFill>
                  <a:schemeClr val="accent6"/>
                </a:solidFill>
              </a:rPr>
              <a:t>Identification of ions by chemical means Part 1 (Chemistry only)</a:t>
            </a:r>
            <a:r>
              <a:rPr lang="en-US" b="1" kern="1200" dirty="0">
                <a:solidFill>
                  <a:schemeClr val="accent6"/>
                </a:solidFill>
                <a:latin typeface="Calibri"/>
                <a:ea typeface=""/>
                <a:cs typeface="News Gothic MT"/>
              </a:rPr>
              <a:t>–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893647"/>
          </a:xfrm>
          <a:prstGeom prst="rect">
            <a:avLst/>
          </a:prstGeom>
          <a:noFill/>
        </p:spPr>
        <p:txBody>
          <a:bodyPr wrap="square" rtlCol="0">
            <a:spAutoFit/>
          </a:bodyPr>
          <a:lstStyle/>
          <a:p>
            <a:pPr marL="457200" indent="-457200">
              <a:buFont typeface="+mj-lt"/>
              <a:buAutoNum type="arabicPeriod"/>
            </a:pPr>
            <a:r>
              <a:rPr lang="en-GB" sz="2400" dirty="0" smtClean="0"/>
              <a:t>What is a flame test?</a:t>
            </a:r>
          </a:p>
          <a:p>
            <a:pPr lvl="1"/>
            <a:r>
              <a:rPr lang="en-GB" sz="2400" dirty="0" smtClean="0">
                <a:solidFill>
                  <a:srgbClr val="00B050"/>
                </a:solidFill>
              </a:rPr>
              <a:t>Rod dipped in water and then in the compound; placed in flame; observe colour of flame.</a:t>
            </a:r>
          </a:p>
          <a:p>
            <a:pPr marL="457200" indent="-457200">
              <a:buFont typeface="+mj-lt"/>
              <a:buAutoNum type="arabicPeriod"/>
            </a:pPr>
            <a:r>
              <a:rPr lang="en-GB" sz="2400" dirty="0" smtClean="0"/>
              <a:t>What colour flame would the following metal ions have in a flame test?</a:t>
            </a:r>
          </a:p>
          <a:p>
            <a:pPr marL="914400" lvl="1" indent="-457200">
              <a:buFont typeface="+mj-lt"/>
              <a:buAutoNum type="alphaLcParenR"/>
            </a:pPr>
            <a:r>
              <a:rPr lang="en-GB" sz="2400" dirty="0" smtClean="0"/>
              <a:t>Lithium </a:t>
            </a:r>
            <a:r>
              <a:rPr lang="en-GB" sz="2400" dirty="0" smtClean="0">
                <a:solidFill>
                  <a:srgbClr val="00B050"/>
                </a:solidFill>
              </a:rPr>
              <a:t>crimson red</a:t>
            </a:r>
          </a:p>
          <a:p>
            <a:pPr marL="914400" lvl="1" indent="-457200">
              <a:buFont typeface="+mj-lt"/>
              <a:buAutoNum type="alphaLcParenR"/>
            </a:pPr>
            <a:r>
              <a:rPr lang="en-GB" sz="2400" dirty="0" smtClean="0"/>
              <a:t>Sodium </a:t>
            </a:r>
            <a:r>
              <a:rPr lang="en-GB" sz="2400" dirty="0" smtClean="0">
                <a:solidFill>
                  <a:srgbClr val="00B050"/>
                </a:solidFill>
              </a:rPr>
              <a:t>yellow</a:t>
            </a:r>
          </a:p>
          <a:p>
            <a:pPr marL="914400" lvl="1" indent="-457200">
              <a:buFont typeface="+mj-lt"/>
              <a:buAutoNum type="alphaLcParenR"/>
            </a:pPr>
            <a:r>
              <a:rPr lang="en-GB" sz="2400" dirty="0" smtClean="0"/>
              <a:t>Potassium </a:t>
            </a:r>
            <a:r>
              <a:rPr lang="en-GB" sz="2400" dirty="0" smtClean="0">
                <a:solidFill>
                  <a:srgbClr val="00B050"/>
                </a:solidFill>
              </a:rPr>
              <a:t>lilac</a:t>
            </a:r>
          </a:p>
          <a:p>
            <a:pPr marL="914400" lvl="1" indent="-457200">
              <a:buFont typeface="+mj-lt"/>
              <a:buAutoNum type="alphaLcParenR"/>
            </a:pPr>
            <a:r>
              <a:rPr lang="en-GB" sz="2400" dirty="0" smtClean="0"/>
              <a:t>Calcium </a:t>
            </a:r>
            <a:r>
              <a:rPr lang="en-GB" sz="2400" dirty="0" smtClean="0">
                <a:solidFill>
                  <a:srgbClr val="00B050"/>
                </a:solidFill>
              </a:rPr>
              <a:t>orange-red</a:t>
            </a:r>
          </a:p>
          <a:p>
            <a:pPr marL="914400" lvl="1" indent="-457200">
              <a:buFont typeface="+mj-lt"/>
              <a:buAutoNum type="alphaLcParenR"/>
            </a:pPr>
            <a:r>
              <a:rPr lang="en-GB" sz="2400" dirty="0" smtClean="0"/>
              <a:t>Copper </a:t>
            </a:r>
            <a:r>
              <a:rPr lang="en-GB" sz="2400" dirty="0" smtClean="0">
                <a:solidFill>
                  <a:srgbClr val="00B050"/>
                </a:solidFill>
              </a:rPr>
              <a:t>green</a:t>
            </a:r>
          </a:p>
          <a:p>
            <a:pPr marL="914400" lvl="1" indent="-457200">
              <a:buFont typeface="+mj-lt"/>
              <a:buAutoNum type="alphaLcParenR"/>
            </a:pPr>
            <a:endParaRPr lang="en-GB" sz="2400" dirty="0" smtClean="0"/>
          </a:p>
          <a:p>
            <a:pPr marL="457200" indent="-457200">
              <a:buFont typeface="+mj-lt"/>
              <a:buAutoNum type="arabicPeriod"/>
            </a:pPr>
            <a:r>
              <a:rPr lang="en-GB" sz="2400" dirty="0" smtClean="0"/>
              <a:t>What might cause some flame colours to be </a:t>
            </a:r>
            <a:r>
              <a:rPr lang="en-GB" sz="2400" dirty="0"/>
              <a:t>masked? </a:t>
            </a:r>
            <a:endParaRPr lang="en-GB" sz="2400" dirty="0" smtClean="0"/>
          </a:p>
          <a:p>
            <a:pPr lvl="1"/>
            <a:r>
              <a:rPr lang="en-GB" sz="2400" dirty="0" smtClean="0">
                <a:solidFill>
                  <a:srgbClr val="00B050"/>
                </a:solidFill>
              </a:rPr>
              <a:t>A sample containing a mixture of ions.</a:t>
            </a:r>
          </a:p>
        </p:txBody>
      </p:sp>
    </p:spTree>
    <p:extLst>
      <p:ext uri="{BB962C8B-B14F-4D97-AF65-F5344CB8AC3E}">
        <p14:creationId xmlns:p14="http://schemas.microsoft.com/office/powerpoint/2010/main" val="29116394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l" defTabSz="342900" rtl="0">
              <a:spcBef>
                <a:spcPct val="20000"/>
              </a:spcBef>
            </a:pPr>
            <a:r>
              <a:rPr lang="en-US" dirty="0">
                <a:solidFill>
                  <a:schemeClr val="accent6"/>
                </a:solidFill>
              </a:rPr>
              <a:t>Identification of ions by chemical means Part 1 (Chemistry only)</a:t>
            </a:r>
            <a:r>
              <a:rPr lang="en-US" b="1" kern="1200" dirty="0">
                <a:solidFill>
                  <a:schemeClr val="accent6"/>
                </a:solidFill>
                <a:latin typeface="Calibri"/>
                <a:ea typeface=""/>
                <a:cs typeface="News Gothic MT"/>
              </a:rPr>
              <a:t>–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632311"/>
          </a:xfrm>
          <a:prstGeom prst="rect">
            <a:avLst/>
          </a:prstGeom>
          <a:noFill/>
        </p:spPr>
        <p:txBody>
          <a:bodyPr wrap="square" rtlCol="0">
            <a:spAutoFit/>
          </a:bodyPr>
          <a:lstStyle/>
          <a:p>
            <a:pPr marL="457200" indent="-457200">
              <a:buFont typeface="+mj-lt"/>
              <a:buAutoNum type="arabicPeriod" startAt="4"/>
            </a:pPr>
            <a:r>
              <a:rPr lang="en-GB" sz="2400" dirty="0" smtClean="0"/>
              <a:t>What is a precipitate?</a:t>
            </a:r>
          </a:p>
          <a:p>
            <a:pPr lvl="1"/>
            <a:r>
              <a:rPr lang="en-GB" sz="2400" dirty="0" smtClean="0">
                <a:solidFill>
                  <a:srgbClr val="00B050"/>
                </a:solidFill>
              </a:rPr>
              <a:t>A insoluble solid product produced in a liquid.</a:t>
            </a:r>
          </a:p>
          <a:p>
            <a:pPr marL="457200" indent="-457200">
              <a:buFont typeface="+mj-lt"/>
              <a:buAutoNum type="arabicPeriod" startAt="4"/>
            </a:pPr>
            <a:r>
              <a:rPr lang="en-GB" sz="2400" dirty="0" smtClean="0"/>
              <a:t>Sodium hydroxide is used to identify some metal ions. What colour precipitate do aluminium, calcium and magnesium ions form?</a:t>
            </a:r>
          </a:p>
          <a:p>
            <a:pPr lvl="1"/>
            <a:r>
              <a:rPr lang="en-GB" sz="2400" dirty="0" smtClean="0">
                <a:solidFill>
                  <a:srgbClr val="00B050"/>
                </a:solidFill>
              </a:rPr>
              <a:t>White.</a:t>
            </a:r>
          </a:p>
          <a:p>
            <a:pPr marL="457200" indent="-457200">
              <a:buFont typeface="+mj-lt"/>
              <a:buAutoNum type="arabicPeriod" startAt="4"/>
            </a:pPr>
            <a:r>
              <a:rPr lang="en-GB" sz="2400" dirty="0" smtClean="0"/>
              <a:t>How is are aluminium ions distinguished from calcium and magnesium ions in the reaction with sodium hydroxide?</a:t>
            </a:r>
          </a:p>
          <a:p>
            <a:pPr lvl="1"/>
            <a:r>
              <a:rPr lang="en-GB" sz="2400" dirty="0" smtClean="0">
                <a:solidFill>
                  <a:srgbClr val="00B050"/>
                </a:solidFill>
              </a:rPr>
              <a:t>Aluminium hydroxide precipitate dissolves in excess sodium hydroxide solution.</a:t>
            </a:r>
          </a:p>
          <a:p>
            <a:pPr marL="457200" indent="-457200">
              <a:buFont typeface="+mj-lt"/>
              <a:buAutoNum type="arabicPeriod" startAt="4"/>
            </a:pPr>
            <a:r>
              <a:rPr lang="en-GB" sz="2400" dirty="0" smtClean="0"/>
              <a:t>What colour precipitate do the following ions make with sodium hydroxide?</a:t>
            </a:r>
          </a:p>
          <a:p>
            <a:pPr marL="914400" lvl="1" indent="-457200">
              <a:buFont typeface="+mj-lt"/>
              <a:buAutoNum type="alphaLcParenR"/>
            </a:pPr>
            <a:r>
              <a:rPr lang="en-GB" sz="2400" dirty="0" smtClean="0"/>
              <a:t>Copper (II) </a:t>
            </a:r>
            <a:r>
              <a:rPr lang="en-GB" sz="2400" dirty="0" smtClean="0">
                <a:solidFill>
                  <a:srgbClr val="00B050"/>
                </a:solidFill>
              </a:rPr>
              <a:t>blue</a:t>
            </a:r>
            <a:endParaRPr lang="en-GB" sz="2400" dirty="0" smtClean="0"/>
          </a:p>
          <a:p>
            <a:pPr marL="914400" lvl="1" indent="-457200">
              <a:buFont typeface="+mj-lt"/>
              <a:buAutoNum type="alphaLcParenR"/>
            </a:pPr>
            <a:r>
              <a:rPr lang="en-GB" sz="2400" dirty="0" smtClean="0"/>
              <a:t>Iron (II) </a:t>
            </a:r>
            <a:r>
              <a:rPr lang="en-GB" sz="2400" dirty="0" smtClean="0">
                <a:solidFill>
                  <a:srgbClr val="00B050"/>
                </a:solidFill>
              </a:rPr>
              <a:t>green</a:t>
            </a:r>
            <a:endParaRPr lang="en-GB" sz="2400" dirty="0" smtClean="0"/>
          </a:p>
          <a:p>
            <a:pPr marL="914400" lvl="1" indent="-457200">
              <a:buFont typeface="+mj-lt"/>
              <a:buAutoNum type="alphaLcParenR"/>
            </a:pPr>
            <a:r>
              <a:rPr lang="en-GB" sz="2400" dirty="0" smtClean="0"/>
              <a:t>Iron (III) </a:t>
            </a:r>
            <a:r>
              <a:rPr lang="en-GB" sz="2400" dirty="0" smtClean="0">
                <a:solidFill>
                  <a:srgbClr val="00B050"/>
                </a:solidFill>
              </a:rPr>
              <a:t>brown</a:t>
            </a:r>
            <a:endParaRPr lang="en-GB" sz="2400" dirty="0" smtClean="0"/>
          </a:p>
          <a:p>
            <a:pPr lvl="1"/>
            <a:endParaRPr lang="en-GB" sz="2400" dirty="0" smtClean="0"/>
          </a:p>
        </p:txBody>
      </p:sp>
    </p:spTree>
    <p:extLst>
      <p:ext uri="{BB962C8B-B14F-4D97-AF65-F5344CB8AC3E}">
        <p14:creationId xmlns:p14="http://schemas.microsoft.com/office/powerpoint/2010/main" val="29872080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l" defTabSz="342900" rtl="0">
              <a:spcBef>
                <a:spcPct val="20000"/>
              </a:spcBef>
            </a:pPr>
            <a:r>
              <a:rPr lang="en-US" dirty="0">
                <a:solidFill>
                  <a:schemeClr val="accent6"/>
                </a:solidFill>
              </a:rPr>
              <a:t>Identification of ions by chemical means Part 1 (Chemistry only)</a:t>
            </a:r>
            <a:r>
              <a:rPr lang="en-US" b="1" kern="1200" dirty="0">
                <a:solidFill>
                  <a:schemeClr val="accent6"/>
                </a:solidFill>
                <a:latin typeface="Calibri"/>
                <a:ea typeface=""/>
                <a:cs typeface="News Gothic MT"/>
              </a:rPr>
              <a:t>–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154984"/>
          </a:xfrm>
          <a:prstGeom prst="rect">
            <a:avLst/>
          </a:prstGeom>
          <a:noFill/>
        </p:spPr>
        <p:txBody>
          <a:bodyPr wrap="square" rtlCol="0">
            <a:spAutoFit/>
          </a:bodyPr>
          <a:lstStyle/>
          <a:p>
            <a:pPr marL="457200" indent="-457200">
              <a:buFont typeface="+mj-lt"/>
              <a:buAutoNum type="arabicPeriod" startAt="8"/>
            </a:pPr>
            <a:r>
              <a:rPr lang="en-GB" sz="2400" dirty="0" smtClean="0"/>
              <a:t>Write </a:t>
            </a:r>
            <a:r>
              <a:rPr lang="en-GB" sz="2400" dirty="0"/>
              <a:t>the word equation for the reaction between calcium chloride and sodium </a:t>
            </a:r>
            <a:r>
              <a:rPr lang="en-GB" sz="2400" dirty="0" smtClean="0"/>
              <a:t>hydroxide.</a:t>
            </a:r>
          </a:p>
          <a:p>
            <a:pPr lvl="1"/>
            <a:r>
              <a:rPr lang="en-GB" sz="2400" dirty="0" smtClean="0">
                <a:solidFill>
                  <a:srgbClr val="00B050"/>
                </a:solidFill>
              </a:rPr>
              <a:t>Calcium chloride + sodium hydroxide </a:t>
            </a:r>
            <a:r>
              <a:rPr lang="en-GB" sz="2400" dirty="0">
                <a:solidFill>
                  <a:srgbClr val="00B050"/>
                </a:solidFill>
                <a:sym typeface="Wingdings" panose="05000000000000000000" pitchFamily="2" charset="2"/>
              </a:rPr>
              <a:t></a:t>
            </a:r>
            <a:endParaRPr lang="en-GB" sz="2400" dirty="0" smtClean="0">
              <a:solidFill>
                <a:srgbClr val="00B050"/>
              </a:solidFill>
            </a:endParaRPr>
          </a:p>
          <a:p>
            <a:pPr lvl="1" algn="r"/>
            <a:r>
              <a:rPr lang="en-GB" sz="2400" dirty="0">
                <a:solidFill>
                  <a:srgbClr val="00B050"/>
                </a:solidFill>
              </a:rPr>
              <a:t>c</a:t>
            </a:r>
            <a:r>
              <a:rPr lang="en-GB" sz="2400" dirty="0" smtClean="0">
                <a:solidFill>
                  <a:srgbClr val="00B050"/>
                </a:solidFill>
              </a:rPr>
              <a:t>alcium hydroxide + sodium chloride </a:t>
            </a:r>
          </a:p>
          <a:p>
            <a:pPr marL="457200" indent="-457200">
              <a:buFont typeface="+mj-lt"/>
              <a:buAutoNum type="arabicPeriod" startAt="8"/>
            </a:pPr>
            <a:r>
              <a:rPr lang="en-GB" sz="2400" dirty="0" smtClean="0"/>
              <a:t>Write </a:t>
            </a:r>
            <a:r>
              <a:rPr lang="en-GB" sz="2400" dirty="0"/>
              <a:t>the balanced symbol equation for the reaction between aluminium chloride and sodium </a:t>
            </a:r>
            <a:r>
              <a:rPr lang="en-GB" sz="2400" dirty="0" smtClean="0"/>
              <a:t>hydroxide.</a:t>
            </a:r>
          </a:p>
          <a:p>
            <a:pPr algn="ctr"/>
            <a:r>
              <a:rPr lang="en-GB" sz="2400" dirty="0">
                <a:solidFill>
                  <a:srgbClr val="00B050"/>
                </a:solidFill>
                <a:sym typeface="Wingdings" panose="05000000000000000000" pitchFamily="2" charset="2"/>
              </a:rPr>
              <a:t>AlCl</a:t>
            </a:r>
            <a:r>
              <a:rPr lang="en-GB" sz="2400" baseline="-25000" dirty="0">
                <a:solidFill>
                  <a:srgbClr val="00B050"/>
                </a:solidFill>
                <a:sym typeface="Wingdings" panose="05000000000000000000" pitchFamily="2" charset="2"/>
              </a:rPr>
              <a:t>3</a:t>
            </a:r>
            <a:r>
              <a:rPr lang="en-GB" sz="2400" dirty="0">
                <a:solidFill>
                  <a:srgbClr val="00B050"/>
                </a:solidFill>
                <a:sym typeface="Wingdings" panose="05000000000000000000" pitchFamily="2" charset="2"/>
              </a:rPr>
              <a:t> (</a:t>
            </a:r>
            <a:r>
              <a:rPr lang="en-GB" sz="2400" dirty="0" err="1">
                <a:solidFill>
                  <a:srgbClr val="00B050"/>
                </a:solidFill>
                <a:sym typeface="Wingdings" panose="05000000000000000000" pitchFamily="2" charset="2"/>
              </a:rPr>
              <a:t>aq</a:t>
            </a:r>
            <a:r>
              <a:rPr lang="en-GB" sz="2400" dirty="0" smtClean="0">
                <a:solidFill>
                  <a:srgbClr val="00B050"/>
                </a:solidFill>
                <a:sym typeface="Wingdings" panose="05000000000000000000" pitchFamily="2" charset="2"/>
              </a:rPr>
              <a:t>)+ 3NaOH </a:t>
            </a:r>
            <a:r>
              <a:rPr lang="en-GB" sz="2400" dirty="0">
                <a:solidFill>
                  <a:srgbClr val="00B050"/>
                </a:solidFill>
                <a:sym typeface="Wingdings" panose="05000000000000000000" pitchFamily="2" charset="2"/>
              </a:rPr>
              <a:t>(</a:t>
            </a:r>
            <a:r>
              <a:rPr lang="en-GB" sz="2400" dirty="0" err="1">
                <a:solidFill>
                  <a:srgbClr val="00B050"/>
                </a:solidFill>
                <a:sym typeface="Wingdings" panose="05000000000000000000" pitchFamily="2" charset="2"/>
              </a:rPr>
              <a:t>aq</a:t>
            </a:r>
            <a:r>
              <a:rPr lang="en-GB" sz="2400" dirty="0">
                <a:solidFill>
                  <a:srgbClr val="00B050"/>
                </a:solidFill>
                <a:sym typeface="Wingdings" panose="05000000000000000000" pitchFamily="2" charset="2"/>
              </a:rPr>
              <a:t>)   </a:t>
            </a:r>
            <a:r>
              <a:rPr lang="en-GB" sz="2400" dirty="0" smtClean="0">
                <a:solidFill>
                  <a:srgbClr val="00B050"/>
                </a:solidFill>
                <a:sym typeface="Wingdings" panose="05000000000000000000" pitchFamily="2" charset="2"/>
              </a:rPr>
              <a:t> </a:t>
            </a:r>
            <a:r>
              <a:rPr lang="en-GB" sz="2400" dirty="0">
                <a:solidFill>
                  <a:srgbClr val="00B050"/>
                </a:solidFill>
                <a:sym typeface="Wingdings" panose="05000000000000000000" pitchFamily="2" charset="2"/>
              </a:rPr>
              <a:t>Al(OH)</a:t>
            </a:r>
            <a:r>
              <a:rPr lang="en-GB" sz="2400" baseline="-25000" dirty="0">
                <a:solidFill>
                  <a:srgbClr val="00B050"/>
                </a:solidFill>
                <a:sym typeface="Wingdings" panose="05000000000000000000" pitchFamily="2" charset="2"/>
              </a:rPr>
              <a:t>3</a:t>
            </a:r>
            <a:r>
              <a:rPr lang="en-GB" sz="2400" dirty="0">
                <a:solidFill>
                  <a:srgbClr val="00B050"/>
                </a:solidFill>
                <a:sym typeface="Wingdings" panose="05000000000000000000" pitchFamily="2" charset="2"/>
              </a:rPr>
              <a:t> (s) </a:t>
            </a:r>
            <a:r>
              <a:rPr lang="en-GB" sz="2400" dirty="0" smtClean="0">
                <a:solidFill>
                  <a:srgbClr val="00B050"/>
                </a:solidFill>
                <a:sym typeface="Wingdings" panose="05000000000000000000" pitchFamily="2" charset="2"/>
              </a:rPr>
              <a:t>+ 3NaCl </a:t>
            </a:r>
            <a:r>
              <a:rPr lang="en-GB" sz="2400" dirty="0">
                <a:solidFill>
                  <a:srgbClr val="00B050"/>
                </a:solidFill>
                <a:sym typeface="Wingdings" panose="05000000000000000000" pitchFamily="2" charset="2"/>
              </a:rPr>
              <a:t>(</a:t>
            </a:r>
            <a:r>
              <a:rPr lang="en-GB" sz="2400" dirty="0" err="1">
                <a:solidFill>
                  <a:srgbClr val="00B050"/>
                </a:solidFill>
                <a:sym typeface="Wingdings" panose="05000000000000000000" pitchFamily="2" charset="2"/>
              </a:rPr>
              <a:t>aq</a:t>
            </a:r>
            <a:r>
              <a:rPr lang="en-GB" sz="2400" dirty="0" smtClean="0">
                <a:solidFill>
                  <a:srgbClr val="00B050"/>
                </a:solidFill>
                <a:sym typeface="Wingdings" panose="05000000000000000000" pitchFamily="2" charset="2"/>
              </a:rPr>
              <a:t>)</a:t>
            </a:r>
            <a:endParaRPr lang="en-GB" sz="2800" dirty="0" smtClean="0">
              <a:solidFill>
                <a:srgbClr val="00B050"/>
              </a:solidFill>
            </a:endParaRPr>
          </a:p>
          <a:p>
            <a:pPr marL="457200" indent="-457200">
              <a:buFont typeface="+mj-lt"/>
              <a:buAutoNum type="arabicPeriod" startAt="10"/>
            </a:pPr>
            <a:r>
              <a:rPr lang="en-GB" sz="2400" dirty="0" smtClean="0"/>
              <a:t>What </a:t>
            </a:r>
            <a:r>
              <a:rPr lang="en-GB" sz="2400" dirty="0"/>
              <a:t>colour would be the precipitates be in the above </a:t>
            </a:r>
            <a:r>
              <a:rPr lang="en-GB" sz="2400" dirty="0" smtClean="0"/>
              <a:t>reactions?</a:t>
            </a:r>
          </a:p>
          <a:p>
            <a:pPr lvl="1"/>
            <a:r>
              <a:rPr lang="en-GB" sz="2400" dirty="0" smtClean="0">
                <a:solidFill>
                  <a:srgbClr val="00B050"/>
                </a:solidFill>
              </a:rPr>
              <a:t>White.</a:t>
            </a:r>
          </a:p>
          <a:p>
            <a:pPr marL="457200" indent="-457200">
              <a:buFont typeface="+mj-lt"/>
              <a:buAutoNum type="arabicPeriod" startAt="10"/>
            </a:pPr>
            <a:r>
              <a:rPr lang="en-GB" sz="2400" dirty="0" smtClean="0"/>
              <a:t>How </a:t>
            </a:r>
            <a:r>
              <a:rPr lang="en-GB" sz="2400" dirty="0"/>
              <a:t>could you distinguish between them</a:t>
            </a:r>
            <a:r>
              <a:rPr lang="en-GB" sz="2400" dirty="0" smtClean="0"/>
              <a:t>?</a:t>
            </a:r>
          </a:p>
          <a:p>
            <a:pPr lvl="1"/>
            <a:r>
              <a:rPr lang="en-GB" sz="2400" dirty="0" smtClean="0">
                <a:solidFill>
                  <a:srgbClr val="00B050"/>
                </a:solidFill>
              </a:rPr>
              <a:t>Aluminium hydroxide would dissolve in excess sodium hydroxide.</a:t>
            </a:r>
            <a:endParaRPr lang="en-GB" sz="2400" dirty="0">
              <a:solidFill>
                <a:srgbClr val="00B050"/>
              </a:solidFill>
            </a:endParaRPr>
          </a:p>
        </p:txBody>
      </p:sp>
    </p:spTree>
    <p:extLst>
      <p:ext uri="{BB962C8B-B14F-4D97-AF65-F5344CB8AC3E}">
        <p14:creationId xmlns:p14="http://schemas.microsoft.com/office/powerpoint/2010/main" val="28535105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3491880" cy="5447645"/>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2400" b="1" dirty="0">
                <a:solidFill>
                  <a:schemeClr val="tx1">
                    <a:lumMod val="50000"/>
                    <a:lumOff val="50000"/>
                  </a:schemeClr>
                </a:solidFill>
              </a:rPr>
              <a:t>Identification of ions by chemical means Part 2 (Chemistry only)</a:t>
            </a:r>
          </a:p>
          <a:p>
            <a:pPr marL="285750" indent="-285750">
              <a:buFont typeface="Arial" panose="020B0604020202020204" pitchFamily="34" charset="0"/>
              <a:buChar char="•"/>
            </a:pPr>
            <a:r>
              <a:rPr lang="en-GB" sz="2400" b="1" dirty="0">
                <a:solidFill>
                  <a:schemeClr val="tx1">
                    <a:lumMod val="50000"/>
                    <a:lumOff val="50000"/>
                  </a:schemeClr>
                </a:solidFill>
              </a:rPr>
              <a:t>Carbonates</a:t>
            </a:r>
          </a:p>
          <a:p>
            <a:pPr marL="285750" indent="-285750">
              <a:buFont typeface="Arial" panose="020B0604020202020204" pitchFamily="34" charset="0"/>
              <a:buChar char="•"/>
            </a:pPr>
            <a:r>
              <a:rPr lang="en-GB" sz="2400" b="1" dirty="0">
                <a:solidFill>
                  <a:schemeClr val="tx1">
                    <a:lumMod val="50000"/>
                    <a:lumOff val="50000"/>
                  </a:schemeClr>
                </a:solidFill>
              </a:rPr>
              <a:t>Halides</a:t>
            </a:r>
          </a:p>
          <a:p>
            <a:pPr marL="285750" indent="-285750">
              <a:buFont typeface="Arial" panose="020B0604020202020204" pitchFamily="34" charset="0"/>
              <a:buChar char="•"/>
            </a:pPr>
            <a:r>
              <a:rPr lang="en-GB" sz="2400" b="1" dirty="0" err="1">
                <a:solidFill>
                  <a:schemeClr val="tx1">
                    <a:lumMod val="50000"/>
                    <a:lumOff val="50000"/>
                  </a:schemeClr>
                </a:solidFill>
              </a:rPr>
              <a:t>Sulfates</a:t>
            </a:r>
            <a:endParaRPr lang="en-GB" sz="2400" b="1" dirty="0">
              <a:solidFill>
                <a:schemeClr val="tx1">
                  <a:lumMod val="50000"/>
                  <a:lumOff val="50000"/>
                </a:schemeClr>
              </a:solidFill>
            </a:endParaRPr>
          </a:p>
          <a:p>
            <a:endParaRPr lang="en-GB" sz="2400" b="1" dirty="0">
              <a:solidFill>
                <a:schemeClr val="tx1">
                  <a:lumMod val="50000"/>
                  <a:lumOff val="50000"/>
                </a:schemeClr>
              </a:solidFill>
            </a:endParaRPr>
          </a:p>
          <a:p>
            <a:endParaRPr lang="en-GB" dirty="0"/>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Tree>
    <p:extLst>
      <p:ext uri="{BB962C8B-B14F-4D97-AF65-F5344CB8AC3E}">
        <p14:creationId xmlns:p14="http://schemas.microsoft.com/office/powerpoint/2010/main" val="9156481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3608" y="-32700"/>
            <a:ext cx="8100392" cy="941420"/>
          </a:xfrm>
        </p:spPr>
        <p:txBody>
          <a:bodyPr>
            <a:noAutofit/>
          </a:bodyPr>
          <a:lstStyle/>
          <a:p>
            <a:pPr marL="342900" lvl="1" algn="r" defTabSz="342900" rtl="0">
              <a:spcBef>
                <a:spcPct val="20000"/>
              </a:spcBef>
            </a:pPr>
            <a:r>
              <a:rPr lang="en-US" sz="2000" dirty="0">
                <a:solidFill>
                  <a:schemeClr val="accent6"/>
                </a:solidFill>
              </a:rPr>
              <a:t>Identification of ions by chemical means Part 2 (Chemistry only)</a:t>
            </a:r>
            <a:endParaRPr kumimoji="0" lang="en-US" sz="20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p:cNvSpPr txBox="1"/>
          <p:nvPr/>
        </p:nvSpPr>
        <p:spPr>
          <a:xfrm>
            <a:off x="150548" y="1132095"/>
            <a:ext cx="4392488" cy="1323439"/>
          </a:xfrm>
          <a:prstGeom prst="rect">
            <a:avLst/>
          </a:prstGeom>
          <a:noFill/>
          <a:ln w="28575">
            <a:solidFill>
              <a:schemeClr val="accent6"/>
            </a:solidFill>
          </a:ln>
        </p:spPr>
        <p:txBody>
          <a:bodyPr wrap="square" rtlCol="0">
            <a:spAutoFit/>
          </a:bodyPr>
          <a:lstStyle/>
          <a:p>
            <a:r>
              <a:rPr lang="en-GB" sz="2000" b="1" u="sng" dirty="0"/>
              <a:t>Identifying Carbonates</a:t>
            </a:r>
          </a:p>
          <a:p>
            <a:r>
              <a:rPr lang="en-GB" sz="2000" b="1" dirty="0">
                <a:solidFill>
                  <a:schemeClr val="accent6">
                    <a:lumMod val="75000"/>
                  </a:schemeClr>
                </a:solidFill>
              </a:rPr>
              <a:t>Carbonates</a:t>
            </a:r>
            <a:r>
              <a:rPr lang="en-GB" sz="2000" dirty="0"/>
              <a:t> react with </a:t>
            </a:r>
            <a:r>
              <a:rPr lang="en-GB" sz="2000" b="1" dirty="0">
                <a:solidFill>
                  <a:schemeClr val="accent6">
                    <a:lumMod val="75000"/>
                  </a:schemeClr>
                </a:solidFill>
              </a:rPr>
              <a:t>dilute acids </a:t>
            </a:r>
            <a:r>
              <a:rPr lang="en-GB" sz="2000" dirty="0"/>
              <a:t>to form </a:t>
            </a:r>
            <a:r>
              <a:rPr lang="en-GB" sz="2000" b="1" dirty="0">
                <a:solidFill>
                  <a:schemeClr val="accent6">
                    <a:lumMod val="75000"/>
                  </a:schemeClr>
                </a:solidFill>
              </a:rPr>
              <a:t>carbon dioxide gas</a:t>
            </a:r>
            <a:r>
              <a:rPr lang="en-GB" sz="2000" dirty="0"/>
              <a:t>. Carbon dioxide can be identified with limewater.</a:t>
            </a:r>
          </a:p>
        </p:txBody>
      </p:sp>
      <p:sp>
        <p:nvSpPr>
          <p:cNvPr id="4" name="TextBox 3"/>
          <p:cNvSpPr txBox="1"/>
          <p:nvPr/>
        </p:nvSpPr>
        <p:spPr>
          <a:xfrm>
            <a:off x="4569386" y="1132095"/>
            <a:ext cx="4405367" cy="2246769"/>
          </a:xfrm>
          <a:custGeom>
            <a:avLst/>
            <a:gdLst>
              <a:gd name="connsiteX0" fmla="*/ 0 w 4392488"/>
              <a:gd name="connsiteY0" fmla="*/ 0 h 2246769"/>
              <a:gd name="connsiteX1" fmla="*/ 4392488 w 4392488"/>
              <a:gd name="connsiteY1" fmla="*/ 0 h 2246769"/>
              <a:gd name="connsiteX2" fmla="*/ 4392488 w 4392488"/>
              <a:gd name="connsiteY2" fmla="*/ 2246769 h 2246769"/>
              <a:gd name="connsiteX3" fmla="*/ 0 w 4392488"/>
              <a:gd name="connsiteY3" fmla="*/ 2246769 h 2246769"/>
              <a:gd name="connsiteX4" fmla="*/ 0 w 4392488"/>
              <a:gd name="connsiteY4" fmla="*/ 0 h 2246769"/>
              <a:gd name="connsiteX0" fmla="*/ 0 w 4392488"/>
              <a:gd name="connsiteY0" fmla="*/ 0 h 2324042"/>
              <a:gd name="connsiteX1" fmla="*/ 4392488 w 4392488"/>
              <a:gd name="connsiteY1" fmla="*/ 0 h 2324042"/>
              <a:gd name="connsiteX2" fmla="*/ 4392488 w 4392488"/>
              <a:gd name="connsiteY2" fmla="*/ 2246769 h 2324042"/>
              <a:gd name="connsiteX3" fmla="*/ 12879 w 4392488"/>
              <a:gd name="connsiteY3" fmla="*/ 2324042 h 2324042"/>
              <a:gd name="connsiteX4" fmla="*/ 0 w 4392488"/>
              <a:gd name="connsiteY4" fmla="*/ 0 h 2324042"/>
              <a:gd name="connsiteX0" fmla="*/ 0 w 4405367"/>
              <a:gd name="connsiteY0" fmla="*/ 0 h 2324042"/>
              <a:gd name="connsiteX1" fmla="*/ 4392488 w 4405367"/>
              <a:gd name="connsiteY1" fmla="*/ 0 h 2324042"/>
              <a:gd name="connsiteX2" fmla="*/ 4405367 w 4405367"/>
              <a:gd name="connsiteY2" fmla="*/ 2324042 h 2324042"/>
              <a:gd name="connsiteX3" fmla="*/ 12879 w 4405367"/>
              <a:gd name="connsiteY3" fmla="*/ 2324042 h 2324042"/>
              <a:gd name="connsiteX4" fmla="*/ 0 w 4405367"/>
              <a:gd name="connsiteY4" fmla="*/ 0 h 2324042"/>
              <a:gd name="connsiteX0" fmla="*/ 0 w 4405367"/>
              <a:gd name="connsiteY0" fmla="*/ 0 h 2324042"/>
              <a:gd name="connsiteX1" fmla="*/ 4392488 w 4405367"/>
              <a:gd name="connsiteY1" fmla="*/ 103031 h 2324042"/>
              <a:gd name="connsiteX2" fmla="*/ 4405367 w 4405367"/>
              <a:gd name="connsiteY2" fmla="*/ 2324042 h 2324042"/>
              <a:gd name="connsiteX3" fmla="*/ 12879 w 4405367"/>
              <a:gd name="connsiteY3" fmla="*/ 2324042 h 2324042"/>
              <a:gd name="connsiteX4" fmla="*/ 0 w 4405367"/>
              <a:gd name="connsiteY4" fmla="*/ 0 h 2324042"/>
              <a:gd name="connsiteX0" fmla="*/ 0 w 4405367"/>
              <a:gd name="connsiteY0" fmla="*/ 12879 h 2221011"/>
              <a:gd name="connsiteX1" fmla="*/ 4392488 w 4405367"/>
              <a:gd name="connsiteY1" fmla="*/ 0 h 2221011"/>
              <a:gd name="connsiteX2" fmla="*/ 4405367 w 4405367"/>
              <a:gd name="connsiteY2" fmla="*/ 2221011 h 2221011"/>
              <a:gd name="connsiteX3" fmla="*/ 12879 w 4405367"/>
              <a:gd name="connsiteY3" fmla="*/ 2221011 h 2221011"/>
              <a:gd name="connsiteX4" fmla="*/ 0 w 4405367"/>
              <a:gd name="connsiteY4" fmla="*/ 12879 h 2221011"/>
              <a:gd name="connsiteX0" fmla="*/ 0 w 4405367"/>
              <a:gd name="connsiteY0" fmla="*/ 0 h 2221011"/>
              <a:gd name="connsiteX1" fmla="*/ 4392488 w 4405367"/>
              <a:gd name="connsiteY1" fmla="*/ 0 h 2221011"/>
              <a:gd name="connsiteX2" fmla="*/ 4405367 w 4405367"/>
              <a:gd name="connsiteY2" fmla="*/ 2221011 h 2221011"/>
              <a:gd name="connsiteX3" fmla="*/ 12879 w 4405367"/>
              <a:gd name="connsiteY3" fmla="*/ 2221011 h 2221011"/>
              <a:gd name="connsiteX4" fmla="*/ 0 w 4405367"/>
              <a:gd name="connsiteY4" fmla="*/ 0 h 22210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5367" h="2221011">
                <a:moveTo>
                  <a:pt x="0" y="0"/>
                </a:moveTo>
                <a:lnTo>
                  <a:pt x="4392488" y="0"/>
                </a:lnTo>
                <a:lnTo>
                  <a:pt x="4405367" y="2221011"/>
                </a:lnTo>
                <a:lnTo>
                  <a:pt x="12879" y="2221011"/>
                </a:lnTo>
                <a:lnTo>
                  <a:pt x="0" y="0"/>
                </a:lnTo>
                <a:close/>
              </a:path>
            </a:pathLst>
          </a:custGeom>
          <a:noFill/>
          <a:ln w="28575">
            <a:solidFill>
              <a:schemeClr val="accent6"/>
            </a:solidFill>
          </a:ln>
        </p:spPr>
        <p:txBody>
          <a:bodyPr wrap="square" rtlCol="0">
            <a:spAutoFit/>
          </a:bodyPr>
          <a:lstStyle/>
          <a:p>
            <a:r>
              <a:rPr lang="en-GB" sz="2000" b="1" u="sng" dirty="0"/>
              <a:t>Identifying Halide Ions</a:t>
            </a:r>
          </a:p>
          <a:p>
            <a:r>
              <a:rPr lang="en-GB" sz="2000" b="1" dirty="0">
                <a:solidFill>
                  <a:schemeClr val="accent6">
                    <a:lumMod val="75000"/>
                  </a:schemeClr>
                </a:solidFill>
              </a:rPr>
              <a:t>Halide ions </a:t>
            </a:r>
            <a:r>
              <a:rPr lang="en-GB" sz="2000" dirty="0"/>
              <a:t>in solution produce </a:t>
            </a:r>
            <a:r>
              <a:rPr lang="en-GB" sz="2000" b="1" dirty="0">
                <a:solidFill>
                  <a:schemeClr val="accent6">
                    <a:lumMod val="75000"/>
                  </a:schemeClr>
                </a:solidFill>
              </a:rPr>
              <a:t>precipitates </a:t>
            </a:r>
            <a:r>
              <a:rPr lang="en-GB" sz="2000" dirty="0"/>
              <a:t>with silver nitrate solution in the presence of dilute nitric acid.</a:t>
            </a:r>
          </a:p>
          <a:p>
            <a:r>
              <a:rPr lang="en-GB" sz="2000" dirty="0"/>
              <a:t>Silver </a:t>
            </a:r>
            <a:r>
              <a:rPr lang="en-GB" sz="2000" b="1" dirty="0">
                <a:solidFill>
                  <a:schemeClr val="accent6">
                    <a:lumMod val="75000"/>
                  </a:schemeClr>
                </a:solidFill>
              </a:rPr>
              <a:t>chloride</a:t>
            </a:r>
            <a:r>
              <a:rPr lang="en-GB" sz="2000" dirty="0"/>
              <a:t> is </a:t>
            </a:r>
            <a:r>
              <a:rPr lang="en-GB" sz="2000" b="1" dirty="0">
                <a:solidFill>
                  <a:schemeClr val="accent6">
                    <a:lumMod val="75000"/>
                  </a:schemeClr>
                </a:solidFill>
              </a:rPr>
              <a:t>white.</a:t>
            </a:r>
          </a:p>
          <a:p>
            <a:r>
              <a:rPr lang="en-GB" sz="2000" dirty="0"/>
              <a:t>Silver </a:t>
            </a:r>
            <a:r>
              <a:rPr lang="en-GB" sz="2000" b="1" dirty="0">
                <a:solidFill>
                  <a:schemeClr val="accent6">
                    <a:lumMod val="75000"/>
                  </a:schemeClr>
                </a:solidFill>
              </a:rPr>
              <a:t>bromide</a:t>
            </a:r>
            <a:r>
              <a:rPr lang="en-GB" sz="2000" dirty="0"/>
              <a:t> is </a:t>
            </a:r>
            <a:r>
              <a:rPr lang="en-GB" sz="2000" b="1" dirty="0">
                <a:solidFill>
                  <a:schemeClr val="accent6">
                    <a:lumMod val="75000"/>
                  </a:schemeClr>
                </a:solidFill>
              </a:rPr>
              <a:t>cream.</a:t>
            </a:r>
          </a:p>
          <a:p>
            <a:r>
              <a:rPr lang="en-GB" sz="2000" dirty="0"/>
              <a:t>Silver </a:t>
            </a:r>
            <a:r>
              <a:rPr lang="en-GB" sz="2000" b="1" dirty="0">
                <a:solidFill>
                  <a:schemeClr val="accent6">
                    <a:lumMod val="75000"/>
                  </a:schemeClr>
                </a:solidFill>
              </a:rPr>
              <a:t>iodide</a:t>
            </a:r>
            <a:r>
              <a:rPr lang="en-GB" sz="2000" dirty="0"/>
              <a:t> is </a:t>
            </a:r>
            <a:r>
              <a:rPr lang="en-GB" sz="2000" b="1" dirty="0">
                <a:solidFill>
                  <a:schemeClr val="accent6">
                    <a:lumMod val="75000"/>
                  </a:schemeClr>
                </a:solidFill>
              </a:rPr>
              <a:t>yellow.</a:t>
            </a:r>
          </a:p>
        </p:txBody>
      </p:sp>
      <p:sp>
        <p:nvSpPr>
          <p:cNvPr id="6" name="TextBox 5"/>
          <p:cNvSpPr txBox="1"/>
          <p:nvPr/>
        </p:nvSpPr>
        <p:spPr>
          <a:xfrm>
            <a:off x="179511" y="3839910"/>
            <a:ext cx="8795241" cy="1015663"/>
          </a:xfrm>
          <a:custGeom>
            <a:avLst/>
            <a:gdLst>
              <a:gd name="connsiteX0" fmla="*/ 0 w 8640960"/>
              <a:gd name="connsiteY0" fmla="*/ 0 h 707886"/>
              <a:gd name="connsiteX1" fmla="*/ 8640960 w 8640960"/>
              <a:gd name="connsiteY1" fmla="*/ 0 h 707886"/>
              <a:gd name="connsiteX2" fmla="*/ 8640960 w 8640960"/>
              <a:gd name="connsiteY2" fmla="*/ 707886 h 707886"/>
              <a:gd name="connsiteX3" fmla="*/ 0 w 8640960"/>
              <a:gd name="connsiteY3" fmla="*/ 707886 h 707886"/>
              <a:gd name="connsiteX4" fmla="*/ 0 w 8640960"/>
              <a:gd name="connsiteY4" fmla="*/ 0 h 707886"/>
              <a:gd name="connsiteX0" fmla="*/ 0 w 8640960"/>
              <a:gd name="connsiteY0" fmla="*/ 0 h 913948"/>
              <a:gd name="connsiteX1" fmla="*/ 8640960 w 8640960"/>
              <a:gd name="connsiteY1" fmla="*/ 0 h 913948"/>
              <a:gd name="connsiteX2" fmla="*/ 8640960 w 8640960"/>
              <a:gd name="connsiteY2" fmla="*/ 707886 h 913948"/>
              <a:gd name="connsiteX3" fmla="*/ 12879 w 8640960"/>
              <a:gd name="connsiteY3" fmla="*/ 913948 h 913948"/>
              <a:gd name="connsiteX4" fmla="*/ 0 w 8640960"/>
              <a:gd name="connsiteY4" fmla="*/ 0 h 913948"/>
              <a:gd name="connsiteX0" fmla="*/ 0 w 8640960"/>
              <a:gd name="connsiteY0" fmla="*/ 0 h 913948"/>
              <a:gd name="connsiteX1" fmla="*/ 8640960 w 8640960"/>
              <a:gd name="connsiteY1" fmla="*/ 0 h 913948"/>
              <a:gd name="connsiteX2" fmla="*/ 8628081 w 8640960"/>
              <a:gd name="connsiteY2" fmla="*/ 913948 h 913948"/>
              <a:gd name="connsiteX3" fmla="*/ 12879 w 8640960"/>
              <a:gd name="connsiteY3" fmla="*/ 913948 h 913948"/>
              <a:gd name="connsiteX4" fmla="*/ 0 w 8640960"/>
              <a:gd name="connsiteY4" fmla="*/ 0 h 913948"/>
              <a:gd name="connsiteX0" fmla="*/ 0 w 8640960"/>
              <a:gd name="connsiteY0" fmla="*/ 0 h 913948"/>
              <a:gd name="connsiteX1" fmla="*/ 8640960 w 8640960"/>
              <a:gd name="connsiteY1" fmla="*/ 193183 h 913948"/>
              <a:gd name="connsiteX2" fmla="*/ 8628081 w 8640960"/>
              <a:gd name="connsiteY2" fmla="*/ 913948 h 913948"/>
              <a:gd name="connsiteX3" fmla="*/ 12879 w 8640960"/>
              <a:gd name="connsiteY3" fmla="*/ 913948 h 913948"/>
              <a:gd name="connsiteX4" fmla="*/ 0 w 8640960"/>
              <a:gd name="connsiteY4" fmla="*/ 0 h 913948"/>
              <a:gd name="connsiteX0" fmla="*/ 0 w 8640960"/>
              <a:gd name="connsiteY0" fmla="*/ 12878 h 720765"/>
              <a:gd name="connsiteX1" fmla="*/ 8640960 w 8640960"/>
              <a:gd name="connsiteY1" fmla="*/ 0 h 720765"/>
              <a:gd name="connsiteX2" fmla="*/ 8628081 w 8640960"/>
              <a:gd name="connsiteY2" fmla="*/ 720765 h 720765"/>
              <a:gd name="connsiteX3" fmla="*/ 12879 w 8640960"/>
              <a:gd name="connsiteY3" fmla="*/ 720765 h 720765"/>
              <a:gd name="connsiteX4" fmla="*/ 0 w 8640960"/>
              <a:gd name="connsiteY4" fmla="*/ 12878 h 720765"/>
              <a:gd name="connsiteX0" fmla="*/ 0 w 8640960"/>
              <a:gd name="connsiteY0" fmla="*/ 0 h 746523"/>
              <a:gd name="connsiteX1" fmla="*/ 8640960 w 8640960"/>
              <a:gd name="connsiteY1" fmla="*/ 25758 h 746523"/>
              <a:gd name="connsiteX2" fmla="*/ 8628081 w 8640960"/>
              <a:gd name="connsiteY2" fmla="*/ 746523 h 746523"/>
              <a:gd name="connsiteX3" fmla="*/ 12879 w 8640960"/>
              <a:gd name="connsiteY3" fmla="*/ 746523 h 746523"/>
              <a:gd name="connsiteX4" fmla="*/ 0 w 8640960"/>
              <a:gd name="connsiteY4" fmla="*/ 0 h 746523"/>
              <a:gd name="connsiteX0" fmla="*/ 0 w 8640960"/>
              <a:gd name="connsiteY0" fmla="*/ 0 h 720765"/>
              <a:gd name="connsiteX1" fmla="*/ 8640960 w 8640960"/>
              <a:gd name="connsiteY1" fmla="*/ 0 h 720765"/>
              <a:gd name="connsiteX2" fmla="*/ 8628081 w 8640960"/>
              <a:gd name="connsiteY2" fmla="*/ 720765 h 720765"/>
              <a:gd name="connsiteX3" fmla="*/ 12879 w 8640960"/>
              <a:gd name="connsiteY3" fmla="*/ 720765 h 720765"/>
              <a:gd name="connsiteX4" fmla="*/ 0 w 8640960"/>
              <a:gd name="connsiteY4" fmla="*/ 0 h 720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0960" h="720765">
                <a:moveTo>
                  <a:pt x="0" y="0"/>
                </a:moveTo>
                <a:lnTo>
                  <a:pt x="8640960" y="0"/>
                </a:lnTo>
                <a:lnTo>
                  <a:pt x="8628081" y="720765"/>
                </a:lnTo>
                <a:lnTo>
                  <a:pt x="12879" y="720765"/>
                </a:lnTo>
                <a:lnTo>
                  <a:pt x="0" y="0"/>
                </a:lnTo>
                <a:close/>
              </a:path>
            </a:pathLst>
          </a:custGeom>
          <a:noFill/>
          <a:ln w="28575">
            <a:solidFill>
              <a:schemeClr val="accent6"/>
            </a:solidFill>
          </a:ln>
        </p:spPr>
        <p:txBody>
          <a:bodyPr wrap="square" rtlCol="0">
            <a:spAutoFit/>
          </a:bodyPr>
          <a:lstStyle/>
          <a:p>
            <a:r>
              <a:rPr lang="en-GB" sz="2000" b="1" u="sng" dirty="0"/>
              <a:t>Identifying </a:t>
            </a:r>
            <a:r>
              <a:rPr lang="en-GB" sz="2000" b="1" u="sng" dirty="0" err="1"/>
              <a:t>Sulfate</a:t>
            </a:r>
            <a:r>
              <a:rPr lang="en-GB" sz="2000" b="1" u="sng" dirty="0"/>
              <a:t> Ions</a:t>
            </a:r>
          </a:p>
          <a:p>
            <a:r>
              <a:rPr lang="en-GB" sz="2000" b="1" dirty="0" err="1">
                <a:solidFill>
                  <a:schemeClr val="accent6">
                    <a:lumMod val="75000"/>
                  </a:schemeClr>
                </a:solidFill>
              </a:rPr>
              <a:t>Sulfate</a:t>
            </a:r>
            <a:r>
              <a:rPr lang="en-GB" sz="2000" b="1" dirty="0">
                <a:solidFill>
                  <a:schemeClr val="accent6">
                    <a:lumMod val="75000"/>
                  </a:schemeClr>
                </a:solidFill>
              </a:rPr>
              <a:t> ions </a:t>
            </a:r>
            <a:r>
              <a:rPr lang="en-GB" sz="2000" dirty="0"/>
              <a:t>in solution produce a </a:t>
            </a:r>
            <a:r>
              <a:rPr lang="en-GB" sz="2000" b="1" dirty="0">
                <a:solidFill>
                  <a:schemeClr val="accent6">
                    <a:lumMod val="75000"/>
                  </a:schemeClr>
                </a:solidFill>
              </a:rPr>
              <a:t>white precipitate </a:t>
            </a:r>
            <a:r>
              <a:rPr lang="en-GB" sz="2000" dirty="0"/>
              <a:t>with </a:t>
            </a:r>
            <a:r>
              <a:rPr lang="en-GB" sz="2000" b="1" dirty="0">
                <a:solidFill>
                  <a:schemeClr val="accent6">
                    <a:lumMod val="75000"/>
                  </a:schemeClr>
                </a:solidFill>
              </a:rPr>
              <a:t>barium chloride </a:t>
            </a:r>
            <a:r>
              <a:rPr lang="en-GB" sz="2000" dirty="0"/>
              <a:t>in the presence of </a:t>
            </a:r>
            <a:r>
              <a:rPr lang="en-GB" sz="2000" b="1" dirty="0">
                <a:solidFill>
                  <a:schemeClr val="accent6">
                    <a:lumMod val="75000"/>
                  </a:schemeClr>
                </a:solidFill>
              </a:rPr>
              <a:t>dilute hydrochloric acid</a:t>
            </a:r>
            <a:r>
              <a:rPr lang="en-GB" sz="2000" dirty="0"/>
              <a:t>.</a:t>
            </a:r>
          </a:p>
        </p:txBody>
      </p:sp>
      <p:sp>
        <p:nvSpPr>
          <p:cNvPr id="7" name="TextBox 6"/>
          <p:cNvSpPr txBox="1"/>
          <p:nvPr/>
        </p:nvSpPr>
        <p:spPr>
          <a:xfrm>
            <a:off x="256651" y="5157192"/>
            <a:ext cx="8640960" cy="697846"/>
          </a:xfrm>
          <a:custGeom>
            <a:avLst/>
            <a:gdLst>
              <a:gd name="connsiteX0" fmla="*/ 0 w 8640960"/>
              <a:gd name="connsiteY0" fmla="*/ 0 h 1015663"/>
              <a:gd name="connsiteX1" fmla="*/ 8640960 w 8640960"/>
              <a:gd name="connsiteY1" fmla="*/ 0 h 1015663"/>
              <a:gd name="connsiteX2" fmla="*/ 8640960 w 8640960"/>
              <a:gd name="connsiteY2" fmla="*/ 1015663 h 1015663"/>
              <a:gd name="connsiteX3" fmla="*/ 0 w 8640960"/>
              <a:gd name="connsiteY3" fmla="*/ 1015663 h 1015663"/>
              <a:gd name="connsiteX4" fmla="*/ 0 w 8640960"/>
              <a:gd name="connsiteY4" fmla="*/ 0 h 1015663"/>
              <a:gd name="connsiteX0" fmla="*/ 0 w 8640960"/>
              <a:gd name="connsiteY0" fmla="*/ 0 h 1363393"/>
              <a:gd name="connsiteX1" fmla="*/ 8640960 w 8640960"/>
              <a:gd name="connsiteY1" fmla="*/ 0 h 1363393"/>
              <a:gd name="connsiteX2" fmla="*/ 8640960 w 8640960"/>
              <a:gd name="connsiteY2" fmla="*/ 1015663 h 1363393"/>
              <a:gd name="connsiteX3" fmla="*/ 0 w 8640960"/>
              <a:gd name="connsiteY3" fmla="*/ 1363393 h 1363393"/>
              <a:gd name="connsiteX4" fmla="*/ 0 w 8640960"/>
              <a:gd name="connsiteY4" fmla="*/ 0 h 1363393"/>
              <a:gd name="connsiteX0" fmla="*/ 0 w 8653839"/>
              <a:gd name="connsiteY0" fmla="*/ 0 h 1376272"/>
              <a:gd name="connsiteX1" fmla="*/ 8640960 w 8653839"/>
              <a:gd name="connsiteY1" fmla="*/ 0 h 1376272"/>
              <a:gd name="connsiteX2" fmla="*/ 8653839 w 8653839"/>
              <a:gd name="connsiteY2" fmla="*/ 1376272 h 1376272"/>
              <a:gd name="connsiteX3" fmla="*/ 0 w 8653839"/>
              <a:gd name="connsiteY3" fmla="*/ 1363393 h 1376272"/>
              <a:gd name="connsiteX4" fmla="*/ 0 w 8653839"/>
              <a:gd name="connsiteY4" fmla="*/ 0 h 1376272"/>
              <a:gd name="connsiteX0" fmla="*/ 0 w 8640960"/>
              <a:gd name="connsiteY0" fmla="*/ 0 h 1363393"/>
              <a:gd name="connsiteX1" fmla="*/ 8640960 w 8640960"/>
              <a:gd name="connsiteY1" fmla="*/ 0 h 1363393"/>
              <a:gd name="connsiteX2" fmla="*/ 8640960 w 8640960"/>
              <a:gd name="connsiteY2" fmla="*/ 1363393 h 1363393"/>
              <a:gd name="connsiteX3" fmla="*/ 0 w 8640960"/>
              <a:gd name="connsiteY3" fmla="*/ 1363393 h 1363393"/>
              <a:gd name="connsiteX4" fmla="*/ 0 w 8640960"/>
              <a:gd name="connsiteY4" fmla="*/ 0 h 1363393"/>
              <a:gd name="connsiteX0" fmla="*/ 0 w 8640960"/>
              <a:gd name="connsiteY0" fmla="*/ 296214 h 1363393"/>
              <a:gd name="connsiteX1" fmla="*/ 8640960 w 8640960"/>
              <a:gd name="connsiteY1" fmla="*/ 0 h 1363393"/>
              <a:gd name="connsiteX2" fmla="*/ 8640960 w 8640960"/>
              <a:gd name="connsiteY2" fmla="*/ 1363393 h 1363393"/>
              <a:gd name="connsiteX3" fmla="*/ 0 w 8640960"/>
              <a:gd name="connsiteY3" fmla="*/ 1363393 h 1363393"/>
              <a:gd name="connsiteX4" fmla="*/ 0 w 8640960"/>
              <a:gd name="connsiteY4" fmla="*/ 296214 h 1363393"/>
              <a:gd name="connsiteX0" fmla="*/ 0 w 8640960"/>
              <a:gd name="connsiteY0" fmla="*/ 0 h 1067179"/>
              <a:gd name="connsiteX1" fmla="*/ 8640960 w 8640960"/>
              <a:gd name="connsiteY1" fmla="*/ 38637 h 1067179"/>
              <a:gd name="connsiteX2" fmla="*/ 8640960 w 8640960"/>
              <a:gd name="connsiteY2" fmla="*/ 1067179 h 1067179"/>
              <a:gd name="connsiteX3" fmla="*/ 0 w 8640960"/>
              <a:gd name="connsiteY3" fmla="*/ 1067179 h 1067179"/>
              <a:gd name="connsiteX4" fmla="*/ 0 w 8640960"/>
              <a:gd name="connsiteY4" fmla="*/ 0 h 1067179"/>
              <a:gd name="connsiteX0" fmla="*/ 0 w 8640960"/>
              <a:gd name="connsiteY0" fmla="*/ 0 h 1067179"/>
              <a:gd name="connsiteX1" fmla="*/ 8640960 w 8640960"/>
              <a:gd name="connsiteY1" fmla="*/ 90152 h 1067179"/>
              <a:gd name="connsiteX2" fmla="*/ 8640960 w 8640960"/>
              <a:gd name="connsiteY2" fmla="*/ 1067179 h 1067179"/>
              <a:gd name="connsiteX3" fmla="*/ 0 w 8640960"/>
              <a:gd name="connsiteY3" fmla="*/ 1067179 h 1067179"/>
              <a:gd name="connsiteX4" fmla="*/ 0 w 8640960"/>
              <a:gd name="connsiteY4" fmla="*/ 0 h 1067179"/>
              <a:gd name="connsiteX0" fmla="*/ 25758 w 8640960"/>
              <a:gd name="connsiteY0" fmla="*/ 38637 h 977027"/>
              <a:gd name="connsiteX1" fmla="*/ 8640960 w 8640960"/>
              <a:gd name="connsiteY1" fmla="*/ 0 h 977027"/>
              <a:gd name="connsiteX2" fmla="*/ 8640960 w 8640960"/>
              <a:gd name="connsiteY2" fmla="*/ 977027 h 977027"/>
              <a:gd name="connsiteX3" fmla="*/ 0 w 8640960"/>
              <a:gd name="connsiteY3" fmla="*/ 977027 h 977027"/>
              <a:gd name="connsiteX4" fmla="*/ 25758 w 8640960"/>
              <a:gd name="connsiteY4" fmla="*/ 38637 h 977027"/>
              <a:gd name="connsiteX0" fmla="*/ 25758 w 8640960"/>
              <a:gd name="connsiteY0" fmla="*/ 0 h 977027"/>
              <a:gd name="connsiteX1" fmla="*/ 8640960 w 8640960"/>
              <a:gd name="connsiteY1" fmla="*/ 0 h 977027"/>
              <a:gd name="connsiteX2" fmla="*/ 8640960 w 8640960"/>
              <a:gd name="connsiteY2" fmla="*/ 977027 h 977027"/>
              <a:gd name="connsiteX3" fmla="*/ 0 w 8640960"/>
              <a:gd name="connsiteY3" fmla="*/ 977027 h 977027"/>
              <a:gd name="connsiteX4" fmla="*/ 25758 w 8640960"/>
              <a:gd name="connsiteY4" fmla="*/ 0 h 977027"/>
              <a:gd name="connsiteX0" fmla="*/ 0 w 8640960"/>
              <a:gd name="connsiteY0" fmla="*/ 0 h 977027"/>
              <a:gd name="connsiteX1" fmla="*/ 8640960 w 8640960"/>
              <a:gd name="connsiteY1" fmla="*/ 0 h 977027"/>
              <a:gd name="connsiteX2" fmla="*/ 8640960 w 8640960"/>
              <a:gd name="connsiteY2" fmla="*/ 977027 h 977027"/>
              <a:gd name="connsiteX3" fmla="*/ 0 w 8640960"/>
              <a:gd name="connsiteY3" fmla="*/ 977027 h 977027"/>
              <a:gd name="connsiteX4" fmla="*/ 0 w 8640960"/>
              <a:gd name="connsiteY4" fmla="*/ 0 h 977027"/>
              <a:gd name="connsiteX0" fmla="*/ 0 w 8640960"/>
              <a:gd name="connsiteY0" fmla="*/ 0 h 1522140"/>
              <a:gd name="connsiteX1" fmla="*/ 8640960 w 8640960"/>
              <a:gd name="connsiteY1" fmla="*/ 0 h 1522140"/>
              <a:gd name="connsiteX2" fmla="*/ 8640960 w 8640960"/>
              <a:gd name="connsiteY2" fmla="*/ 977027 h 1522140"/>
              <a:gd name="connsiteX3" fmla="*/ 12879 w 8640960"/>
              <a:gd name="connsiteY3" fmla="*/ 1522140 h 1522140"/>
              <a:gd name="connsiteX4" fmla="*/ 0 w 8640960"/>
              <a:gd name="connsiteY4" fmla="*/ 0 h 1522140"/>
              <a:gd name="connsiteX0" fmla="*/ 0 w 8640960"/>
              <a:gd name="connsiteY0" fmla="*/ 0 h 1522140"/>
              <a:gd name="connsiteX1" fmla="*/ 8640960 w 8640960"/>
              <a:gd name="connsiteY1" fmla="*/ 0 h 1522140"/>
              <a:gd name="connsiteX2" fmla="*/ 8640960 w 8640960"/>
              <a:gd name="connsiteY2" fmla="*/ 1502671 h 1522140"/>
              <a:gd name="connsiteX3" fmla="*/ 12879 w 8640960"/>
              <a:gd name="connsiteY3" fmla="*/ 1522140 h 1522140"/>
              <a:gd name="connsiteX4" fmla="*/ 0 w 8640960"/>
              <a:gd name="connsiteY4" fmla="*/ 0 h 1522140"/>
              <a:gd name="connsiteX0" fmla="*/ 0 w 8640960"/>
              <a:gd name="connsiteY0" fmla="*/ 428304 h 1522140"/>
              <a:gd name="connsiteX1" fmla="*/ 8640960 w 8640960"/>
              <a:gd name="connsiteY1" fmla="*/ 0 h 1522140"/>
              <a:gd name="connsiteX2" fmla="*/ 8640960 w 8640960"/>
              <a:gd name="connsiteY2" fmla="*/ 1502671 h 1522140"/>
              <a:gd name="connsiteX3" fmla="*/ 12879 w 8640960"/>
              <a:gd name="connsiteY3" fmla="*/ 1522140 h 1522140"/>
              <a:gd name="connsiteX4" fmla="*/ 0 w 8640960"/>
              <a:gd name="connsiteY4" fmla="*/ 428304 h 1522140"/>
              <a:gd name="connsiteX0" fmla="*/ 0 w 8640960"/>
              <a:gd name="connsiteY0" fmla="*/ 0 h 1093836"/>
              <a:gd name="connsiteX1" fmla="*/ 8640960 w 8640960"/>
              <a:gd name="connsiteY1" fmla="*/ 77874 h 1093836"/>
              <a:gd name="connsiteX2" fmla="*/ 8640960 w 8640960"/>
              <a:gd name="connsiteY2" fmla="*/ 1074367 h 1093836"/>
              <a:gd name="connsiteX3" fmla="*/ 12879 w 8640960"/>
              <a:gd name="connsiteY3" fmla="*/ 1093836 h 1093836"/>
              <a:gd name="connsiteX4" fmla="*/ 0 w 8640960"/>
              <a:gd name="connsiteY4" fmla="*/ 0 h 1093836"/>
              <a:gd name="connsiteX0" fmla="*/ 0 w 8640960"/>
              <a:gd name="connsiteY0" fmla="*/ 0 h 1035430"/>
              <a:gd name="connsiteX1" fmla="*/ 8640960 w 8640960"/>
              <a:gd name="connsiteY1" fmla="*/ 19468 h 1035430"/>
              <a:gd name="connsiteX2" fmla="*/ 8640960 w 8640960"/>
              <a:gd name="connsiteY2" fmla="*/ 1015961 h 1035430"/>
              <a:gd name="connsiteX3" fmla="*/ 12879 w 8640960"/>
              <a:gd name="connsiteY3" fmla="*/ 1035430 h 1035430"/>
              <a:gd name="connsiteX4" fmla="*/ 0 w 8640960"/>
              <a:gd name="connsiteY4" fmla="*/ 0 h 1035430"/>
              <a:gd name="connsiteX0" fmla="*/ 0 w 8640960"/>
              <a:gd name="connsiteY0" fmla="*/ 0 h 1054899"/>
              <a:gd name="connsiteX1" fmla="*/ 8640960 w 8640960"/>
              <a:gd name="connsiteY1" fmla="*/ 38937 h 1054899"/>
              <a:gd name="connsiteX2" fmla="*/ 8640960 w 8640960"/>
              <a:gd name="connsiteY2" fmla="*/ 1035430 h 1054899"/>
              <a:gd name="connsiteX3" fmla="*/ 12879 w 8640960"/>
              <a:gd name="connsiteY3" fmla="*/ 1054899 h 1054899"/>
              <a:gd name="connsiteX4" fmla="*/ 0 w 8640960"/>
              <a:gd name="connsiteY4" fmla="*/ 0 h 1054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0960" h="1054899">
                <a:moveTo>
                  <a:pt x="0" y="0"/>
                </a:moveTo>
                <a:lnTo>
                  <a:pt x="8640960" y="38937"/>
                </a:lnTo>
                <a:lnTo>
                  <a:pt x="8640960" y="1035430"/>
                </a:lnTo>
                <a:lnTo>
                  <a:pt x="12879" y="1054899"/>
                </a:lnTo>
                <a:lnTo>
                  <a:pt x="0" y="0"/>
                </a:lnTo>
                <a:close/>
              </a:path>
            </a:pathLst>
          </a:custGeom>
          <a:solidFill>
            <a:schemeClr val="accent6"/>
          </a:solidFill>
          <a:ln w="28575">
            <a:solidFill>
              <a:schemeClr val="tx1"/>
            </a:solidFill>
          </a:ln>
        </p:spPr>
        <p:txBody>
          <a:bodyPr wrap="square" rtlCol="0">
            <a:spAutoFit/>
          </a:bodyPr>
          <a:lstStyle/>
          <a:p>
            <a:r>
              <a:rPr lang="en-GB" dirty="0"/>
              <a:t>Again you need to remember these colours and be able to write out the word and symbol equations shown on the next slide in the exam. Do not forget the state symbols.</a:t>
            </a:r>
          </a:p>
        </p:txBody>
      </p:sp>
    </p:spTree>
    <p:extLst>
      <p:ext uri="{BB962C8B-B14F-4D97-AF65-F5344CB8AC3E}">
        <p14:creationId xmlns:p14="http://schemas.microsoft.com/office/powerpoint/2010/main" val="24290325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3608" y="-32700"/>
            <a:ext cx="8100392" cy="941420"/>
          </a:xfrm>
        </p:spPr>
        <p:txBody>
          <a:bodyPr>
            <a:noAutofit/>
          </a:bodyPr>
          <a:lstStyle/>
          <a:p>
            <a:pPr marL="342900" lvl="1" algn="r" defTabSz="342900" rtl="0">
              <a:spcBef>
                <a:spcPct val="20000"/>
              </a:spcBef>
            </a:pPr>
            <a:r>
              <a:rPr lang="en-US" sz="2000" dirty="0">
                <a:solidFill>
                  <a:schemeClr val="accent6"/>
                </a:solidFill>
              </a:rPr>
              <a:t>Identification of ions by chemical means Part 2 (Chemistry only)</a:t>
            </a:r>
            <a:endParaRPr kumimoji="0" lang="en-US" sz="20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p:cNvSpPr txBox="1"/>
          <p:nvPr/>
        </p:nvSpPr>
        <p:spPr>
          <a:xfrm>
            <a:off x="179512" y="908720"/>
            <a:ext cx="8712968" cy="4616648"/>
          </a:xfrm>
          <a:prstGeom prst="rect">
            <a:avLst/>
          </a:prstGeom>
          <a:noFill/>
        </p:spPr>
        <p:txBody>
          <a:bodyPr wrap="square" rtlCol="0">
            <a:spAutoFit/>
          </a:bodyPr>
          <a:lstStyle/>
          <a:p>
            <a:r>
              <a:rPr lang="en-GB" sz="2000" b="1" u="sng" dirty="0"/>
              <a:t>Halide Ions</a:t>
            </a:r>
          </a:p>
          <a:p>
            <a:endParaRPr lang="en-GB" dirty="0"/>
          </a:p>
          <a:p>
            <a:pPr algn="ctr"/>
            <a:r>
              <a:rPr lang="en-GB" sz="2000" dirty="0"/>
              <a:t>Sodium chloride + silver nitrate </a:t>
            </a:r>
            <a:r>
              <a:rPr lang="en-GB" sz="2000" dirty="0">
                <a:sym typeface="Wingdings" panose="05000000000000000000" pitchFamily="2" charset="2"/>
              </a:rPr>
              <a:t> sliver chloride + sodium chloride</a:t>
            </a:r>
            <a:r>
              <a:rPr lang="en-GB" sz="2000" dirty="0"/>
              <a:t> </a:t>
            </a:r>
          </a:p>
          <a:p>
            <a:r>
              <a:rPr lang="en-GB" sz="2000" dirty="0"/>
              <a:t>                             </a:t>
            </a:r>
            <a:r>
              <a:rPr lang="en-GB" sz="2000" dirty="0" err="1"/>
              <a:t>NaCl</a:t>
            </a:r>
            <a:r>
              <a:rPr lang="en-GB" sz="2000" dirty="0"/>
              <a:t> (</a:t>
            </a:r>
            <a:r>
              <a:rPr lang="en-GB" sz="2000" dirty="0" err="1"/>
              <a:t>aq</a:t>
            </a:r>
            <a:r>
              <a:rPr lang="en-GB" sz="2000" dirty="0"/>
              <a:t>)      +   AgNO</a:t>
            </a:r>
            <a:r>
              <a:rPr lang="en-GB" sz="2000" baseline="-25000" dirty="0"/>
              <a:t>3</a:t>
            </a:r>
            <a:r>
              <a:rPr lang="en-GB" sz="2000" dirty="0"/>
              <a:t> (</a:t>
            </a:r>
            <a:r>
              <a:rPr lang="en-GB" sz="2000" dirty="0" err="1"/>
              <a:t>aq</a:t>
            </a:r>
            <a:r>
              <a:rPr lang="en-GB" sz="2000" dirty="0"/>
              <a:t>)  </a:t>
            </a:r>
            <a:r>
              <a:rPr lang="en-GB" sz="2000" dirty="0">
                <a:sym typeface="Wingdings" panose="05000000000000000000" pitchFamily="2" charset="2"/>
              </a:rPr>
              <a:t>          </a:t>
            </a:r>
            <a:r>
              <a:rPr lang="en-GB" sz="2000" dirty="0" err="1">
                <a:sym typeface="Wingdings" panose="05000000000000000000" pitchFamily="2" charset="2"/>
              </a:rPr>
              <a:t>AgCl</a:t>
            </a:r>
            <a:r>
              <a:rPr lang="en-GB" sz="2000" dirty="0">
                <a:sym typeface="Wingdings" panose="05000000000000000000" pitchFamily="2" charset="2"/>
              </a:rPr>
              <a:t> (s)   +        </a:t>
            </a:r>
            <a:r>
              <a:rPr lang="en-GB" sz="2000" dirty="0" err="1">
                <a:sym typeface="Wingdings" panose="05000000000000000000" pitchFamily="2" charset="2"/>
              </a:rPr>
              <a:t>NaCl</a:t>
            </a:r>
            <a:r>
              <a:rPr lang="en-GB" sz="2000" dirty="0">
                <a:sym typeface="Wingdings" panose="05000000000000000000" pitchFamily="2" charset="2"/>
              </a:rPr>
              <a:t> (</a:t>
            </a:r>
            <a:r>
              <a:rPr lang="en-GB" sz="2000" dirty="0" err="1">
                <a:sym typeface="Wingdings" panose="05000000000000000000" pitchFamily="2" charset="2"/>
              </a:rPr>
              <a:t>aq</a:t>
            </a:r>
            <a:r>
              <a:rPr lang="en-GB" sz="2000" dirty="0">
                <a:sym typeface="Wingdings" panose="05000000000000000000" pitchFamily="2" charset="2"/>
              </a:rPr>
              <a:t>)</a:t>
            </a:r>
          </a:p>
          <a:p>
            <a:endParaRPr lang="en-GB" sz="2000" dirty="0">
              <a:sym typeface="Wingdings" panose="05000000000000000000" pitchFamily="2" charset="2"/>
            </a:endParaRPr>
          </a:p>
          <a:p>
            <a:pPr algn="ctr"/>
            <a:r>
              <a:rPr lang="en-GB" sz="2000" dirty="0">
                <a:sym typeface="Wingdings" panose="05000000000000000000" pitchFamily="2" charset="2"/>
              </a:rPr>
              <a:t>Sodium bromide + silver nitrate  silver bromide + sodium chloride</a:t>
            </a:r>
          </a:p>
          <a:p>
            <a:r>
              <a:rPr lang="en-GB" sz="2000" dirty="0">
                <a:sym typeface="Wingdings" panose="05000000000000000000" pitchFamily="2" charset="2"/>
              </a:rPr>
              <a:t>                             </a:t>
            </a:r>
            <a:r>
              <a:rPr lang="en-GB" sz="2000" dirty="0" err="1">
                <a:sym typeface="Wingdings" panose="05000000000000000000" pitchFamily="2" charset="2"/>
              </a:rPr>
              <a:t>NaBr</a:t>
            </a:r>
            <a:r>
              <a:rPr lang="en-GB" sz="2000" dirty="0">
                <a:sym typeface="Wingdings" panose="05000000000000000000" pitchFamily="2" charset="2"/>
              </a:rPr>
              <a:t> (</a:t>
            </a:r>
            <a:r>
              <a:rPr lang="en-GB" sz="2000" dirty="0" err="1">
                <a:sym typeface="Wingdings" panose="05000000000000000000" pitchFamily="2" charset="2"/>
              </a:rPr>
              <a:t>aq</a:t>
            </a:r>
            <a:r>
              <a:rPr lang="en-GB" sz="2000" dirty="0">
                <a:sym typeface="Wingdings" panose="05000000000000000000" pitchFamily="2" charset="2"/>
              </a:rPr>
              <a:t>)      +  </a:t>
            </a:r>
            <a:r>
              <a:rPr lang="en-GB" sz="2000" dirty="0"/>
              <a:t>AgNO</a:t>
            </a:r>
            <a:r>
              <a:rPr lang="en-GB" sz="2000" baseline="-25000" dirty="0"/>
              <a:t>3</a:t>
            </a:r>
            <a:r>
              <a:rPr lang="en-GB" sz="2000" dirty="0"/>
              <a:t> </a:t>
            </a:r>
            <a:r>
              <a:rPr lang="en-GB" sz="2000" dirty="0">
                <a:sym typeface="Wingdings" panose="05000000000000000000" pitchFamily="2" charset="2"/>
              </a:rPr>
              <a:t>(</a:t>
            </a:r>
            <a:r>
              <a:rPr lang="en-GB" sz="2000" dirty="0" err="1">
                <a:sym typeface="Wingdings" panose="05000000000000000000" pitchFamily="2" charset="2"/>
              </a:rPr>
              <a:t>aq</a:t>
            </a:r>
            <a:r>
              <a:rPr lang="en-GB" sz="2000" dirty="0">
                <a:sym typeface="Wingdings" panose="05000000000000000000" pitchFamily="2" charset="2"/>
              </a:rPr>
              <a:t>)           </a:t>
            </a:r>
            <a:r>
              <a:rPr lang="en-GB" sz="2000" dirty="0" err="1">
                <a:sym typeface="Wingdings" panose="05000000000000000000" pitchFamily="2" charset="2"/>
              </a:rPr>
              <a:t>AgBr</a:t>
            </a:r>
            <a:r>
              <a:rPr lang="en-GB" sz="2000" dirty="0">
                <a:sym typeface="Wingdings" panose="05000000000000000000" pitchFamily="2" charset="2"/>
              </a:rPr>
              <a:t> (s)     +       </a:t>
            </a:r>
            <a:r>
              <a:rPr lang="en-GB" sz="2000" dirty="0" err="1">
                <a:sym typeface="Wingdings" panose="05000000000000000000" pitchFamily="2" charset="2"/>
              </a:rPr>
              <a:t>NaCl</a:t>
            </a:r>
            <a:r>
              <a:rPr lang="en-GB" sz="2000" dirty="0">
                <a:sym typeface="Wingdings" panose="05000000000000000000" pitchFamily="2" charset="2"/>
              </a:rPr>
              <a:t> (</a:t>
            </a:r>
            <a:r>
              <a:rPr lang="en-GB" sz="2000" dirty="0" err="1">
                <a:sym typeface="Wingdings" panose="05000000000000000000" pitchFamily="2" charset="2"/>
              </a:rPr>
              <a:t>aq</a:t>
            </a:r>
            <a:r>
              <a:rPr lang="en-GB" sz="2000" dirty="0">
                <a:sym typeface="Wingdings" panose="05000000000000000000" pitchFamily="2" charset="2"/>
              </a:rPr>
              <a:t>)</a:t>
            </a:r>
          </a:p>
          <a:p>
            <a:endParaRPr lang="en-GB" sz="2000" dirty="0">
              <a:sym typeface="Wingdings" panose="05000000000000000000" pitchFamily="2" charset="2"/>
            </a:endParaRPr>
          </a:p>
          <a:p>
            <a:pPr algn="ctr"/>
            <a:r>
              <a:rPr lang="en-GB" sz="2000" dirty="0">
                <a:sym typeface="Wingdings" panose="05000000000000000000" pitchFamily="2" charset="2"/>
              </a:rPr>
              <a:t>Sodium iodide + silver nitrate  silver iodide + sodium chloride</a:t>
            </a:r>
          </a:p>
          <a:p>
            <a:r>
              <a:rPr lang="en-GB" sz="2000" dirty="0">
                <a:sym typeface="Wingdings" panose="05000000000000000000" pitchFamily="2" charset="2"/>
              </a:rPr>
              <a:t>                               </a:t>
            </a:r>
            <a:r>
              <a:rPr lang="en-GB" sz="2000" dirty="0" err="1">
                <a:sym typeface="Wingdings" panose="05000000000000000000" pitchFamily="2" charset="2"/>
              </a:rPr>
              <a:t>NaI</a:t>
            </a:r>
            <a:r>
              <a:rPr lang="en-GB" sz="2000" dirty="0">
                <a:sym typeface="Wingdings" panose="05000000000000000000" pitchFamily="2" charset="2"/>
              </a:rPr>
              <a:t> (</a:t>
            </a:r>
            <a:r>
              <a:rPr lang="en-GB" sz="2000" dirty="0" err="1">
                <a:sym typeface="Wingdings" panose="05000000000000000000" pitchFamily="2" charset="2"/>
              </a:rPr>
              <a:t>aq</a:t>
            </a:r>
            <a:r>
              <a:rPr lang="en-GB" sz="2000" dirty="0">
                <a:sym typeface="Wingdings" panose="05000000000000000000" pitchFamily="2" charset="2"/>
              </a:rPr>
              <a:t>)       +   </a:t>
            </a:r>
            <a:r>
              <a:rPr lang="en-GB" sz="2000" dirty="0"/>
              <a:t>AgNO</a:t>
            </a:r>
            <a:r>
              <a:rPr lang="en-GB" sz="2000" baseline="-25000" dirty="0"/>
              <a:t>3</a:t>
            </a:r>
            <a:r>
              <a:rPr lang="en-GB" sz="2000" dirty="0"/>
              <a:t> </a:t>
            </a:r>
            <a:r>
              <a:rPr lang="en-GB" sz="2000" dirty="0">
                <a:sym typeface="Wingdings" panose="05000000000000000000" pitchFamily="2" charset="2"/>
              </a:rPr>
              <a:t>(</a:t>
            </a:r>
            <a:r>
              <a:rPr lang="en-GB" sz="2000" dirty="0" err="1">
                <a:sym typeface="Wingdings" panose="05000000000000000000" pitchFamily="2" charset="2"/>
              </a:rPr>
              <a:t>aq</a:t>
            </a:r>
            <a:r>
              <a:rPr lang="en-GB" sz="2000" dirty="0">
                <a:sym typeface="Wingdings" panose="05000000000000000000" pitchFamily="2" charset="2"/>
              </a:rPr>
              <a:t>)           </a:t>
            </a:r>
            <a:r>
              <a:rPr lang="en-GB" sz="2000" dirty="0" err="1">
                <a:sym typeface="Wingdings" panose="05000000000000000000" pitchFamily="2" charset="2"/>
              </a:rPr>
              <a:t>AgI</a:t>
            </a:r>
            <a:r>
              <a:rPr lang="en-GB" sz="2000" dirty="0">
                <a:sym typeface="Wingdings" panose="05000000000000000000" pitchFamily="2" charset="2"/>
              </a:rPr>
              <a:t> (s)  +            </a:t>
            </a:r>
            <a:r>
              <a:rPr lang="en-GB" sz="2000" dirty="0" err="1">
                <a:sym typeface="Wingdings" panose="05000000000000000000" pitchFamily="2" charset="2"/>
              </a:rPr>
              <a:t>NaCl</a:t>
            </a:r>
            <a:r>
              <a:rPr lang="en-GB" sz="2000" dirty="0">
                <a:sym typeface="Wingdings" panose="05000000000000000000" pitchFamily="2" charset="2"/>
              </a:rPr>
              <a:t> (</a:t>
            </a:r>
            <a:r>
              <a:rPr lang="en-GB" sz="2000" dirty="0" err="1">
                <a:sym typeface="Wingdings" panose="05000000000000000000" pitchFamily="2" charset="2"/>
              </a:rPr>
              <a:t>aq</a:t>
            </a:r>
            <a:r>
              <a:rPr lang="en-GB" sz="2000" dirty="0">
                <a:sym typeface="Wingdings" panose="05000000000000000000" pitchFamily="2" charset="2"/>
              </a:rPr>
              <a:t>)</a:t>
            </a:r>
          </a:p>
          <a:p>
            <a:endParaRPr lang="en-GB" dirty="0">
              <a:sym typeface="Wingdings" panose="05000000000000000000" pitchFamily="2" charset="2"/>
            </a:endParaRPr>
          </a:p>
          <a:p>
            <a:r>
              <a:rPr lang="en-GB" sz="2000" b="1" u="sng" dirty="0" err="1">
                <a:sym typeface="Wingdings" panose="05000000000000000000" pitchFamily="2" charset="2"/>
              </a:rPr>
              <a:t>Sulfate</a:t>
            </a:r>
            <a:r>
              <a:rPr lang="en-GB" sz="2000" b="1" u="sng" dirty="0">
                <a:sym typeface="Wingdings" panose="05000000000000000000" pitchFamily="2" charset="2"/>
              </a:rPr>
              <a:t> Ions</a:t>
            </a:r>
          </a:p>
          <a:p>
            <a:endParaRPr lang="en-GB" sz="2000" dirty="0">
              <a:sym typeface="Wingdings" panose="05000000000000000000" pitchFamily="2" charset="2"/>
            </a:endParaRPr>
          </a:p>
          <a:p>
            <a:pPr algn="ctr"/>
            <a:r>
              <a:rPr lang="en-GB" sz="2000" dirty="0">
                <a:sym typeface="Wingdings" panose="05000000000000000000" pitchFamily="2" charset="2"/>
              </a:rPr>
              <a:t>Barium chloride + sodium </a:t>
            </a:r>
            <a:r>
              <a:rPr lang="en-GB" sz="2000" dirty="0" err="1">
                <a:sym typeface="Wingdings" panose="05000000000000000000" pitchFamily="2" charset="2"/>
              </a:rPr>
              <a:t>sulfate</a:t>
            </a:r>
            <a:r>
              <a:rPr lang="en-GB" sz="2000" dirty="0">
                <a:sym typeface="Wingdings" panose="05000000000000000000" pitchFamily="2" charset="2"/>
              </a:rPr>
              <a:t>  barium </a:t>
            </a:r>
            <a:r>
              <a:rPr lang="en-GB" sz="2000" dirty="0" err="1">
                <a:sym typeface="Wingdings" panose="05000000000000000000" pitchFamily="2" charset="2"/>
              </a:rPr>
              <a:t>sulfate</a:t>
            </a:r>
            <a:r>
              <a:rPr lang="en-GB" sz="2000" dirty="0">
                <a:sym typeface="Wingdings" panose="05000000000000000000" pitchFamily="2" charset="2"/>
              </a:rPr>
              <a:t> + sodium chloride</a:t>
            </a:r>
          </a:p>
          <a:p>
            <a:r>
              <a:rPr lang="en-GB" sz="2000" dirty="0">
                <a:sym typeface="Wingdings" panose="05000000000000000000" pitchFamily="2" charset="2"/>
              </a:rPr>
              <a:t>                           BaCl</a:t>
            </a:r>
            <a:r>
              <a:rPr lang="en-GB" sz="2000" baseline="-25000" dirty="0">
                <a:sym typeface="Wingdings" panose="05000000000000000000" pitchFamily="2" charset="2"/>
              </a:rPr>
              <a:t>2</a:t>
            </a:r>
            <a:r>
              <a:rPr lang="en-GB" sz="2000" dirty="0">
                <a:sym typeface="Wingdings" panose="05000000000000000000" pitchFamily="2" charset="2"/>
              </a:rPr>
              <a:t> (</a:t>
            </a:r>
            <a:r>
              <a:rPr lang="en-GB" sz="2000" dirty="0" err="1">
                <a:sym typeface="Wingdings" panose="05000000000000000000" pitchFamily="2" charset="2"/>
              </a:rPr>
              <a:t>aq</a:t>
            </a:r>
            <a:r>
              <a:rPr lang="en-GB" sz="2000" dirty="0">
                <a:sym typeface="Wingdings" panose="05000000000000000000" pitchFamily="2" charset="2"/>
              </a:rPr>
              <a:t>)     +   Na</a:t>
            </a:r>
            <a:r>
              <a:rPr lang="en-GB" sz="2000" baseline="-25000" dirty="0">
                <a:sym typeface="Wingdings" panose="05000000000000000000" pitchFamily="2" charset="2"/>
              </a:rPr>
              <a:t>2</a:t>
            </a:r>
            <a:r>
              <a:rPr lang="en-GB" sz="2000" dirty="0">
                <a:sym typeface="Wingdings" panose="05000000000000000000" pitchFamily="2" charset="2"/>
              </a:rPr>
              <a:t>SO</a:t>
            </a:r>
            <a:r>
              <a:rPr lang="en-GB" sz="2000" baseline="-25000" dirty="0">
                <a:sym typeface="Wingdings" panose="05000000000000000000" pitchFamily="2" charset="2"/>
              </a:rPr>
              <a:t>4</a:t>
            </a:r>
            <a:r>
              <a:rPr lang="en-GB" sz="2000" dirty="0">
                <a:sym typeface="Wingdings" panose="05000000000000000000" pitchFamily="2" charset="2"/>
              </a:rPr>
              <a:t> (</a:t>
            </a:r>
            <a:r>
              <a:rPr lang="en-GB" sz="2000" dirty="0" err="1">
                <a:sym typeface="Wingdings" panose="05000000000000000000" pitchFamily="2" charset="2"/>
              </a:rPr>
              <a:t>aq</a:t>
            </a:r>
            <a:r>
              <a:rPr lang="en-GB" sz="2000" dirty="0">
                <a:sym typeface="Wingdings" panose="05000000000000000000" pitchFamily="2" charset="2"/>
              </a:rPr>
              <a:t>)          BaSO</a:t>
            </a:r>
            <a:r>
              <a:rPr lang="en-GB" sz="2000" baseline="-25000" dirty="0">
                <a:sym typeface="Wingdings" panose="05000000000000000000" pitchFamily="2" charset="2"/>
              </a:rPr>
              <a:t>4</a:t>
            </a:r>
            <a:r>
              <a:rPr lang="en-GB" sz="2000" dirty="0">
                <a:sym typeface="Wingdings" panose="05000000000000000000" pitchFamily="2" charset="2"/>
              </a:rPr>
              <a:t> (s)      +     2NaCl (</a:t>
            </a:r>
            <a:r>
              <a:rPr lang="en-GB" sz="2000" dirty="0" err="1">
                <a:sym typeface="Wingdings" panose="05000000000000000000" pitchFamily="2" charset="2"/>
              </a:rPr>
              <a:t>aq</a:t>
            </a:r>
            <a:r>
              <a:rPr lang="en-GB" sz="2000" dirty="0">
                <a:sym typeface="Wingdings" panose="05000000000000000000" pitchFamily="2" charset="2"/>
              </a:rPr>
              <a:t>)</a:t>
            </a:r>
            <a:endParaRPr lang="en-GB" sz="2000" dirty="0"/>
          </a:p>
        </p:txBody>
      </p:sp>
    </p:spTree>
    <p:extLst>
      <p:ext uri="{BB962C8B-B14F-4D97-AF65-F5344CB8AC3E}">
        <p14:creationId xmlns:p14="http://schemas.microsoft.com/office/powerpoint/2010/main" val="20221815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708981"/>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2800" b="1" dirty="0">
                <a:solidFill>
                  <a:schemeClr val="tx1">
                    <a:lumMod val="50000"/>
                    <a:lumOff val="50000"/>
                  </a:schemeClr>
                </a:solidFill>
              </a:rPr>
              <a:t>Identification of ions by chemical means Part 2 (Chemistry only)</a:t>
            </a:r>
          </a:p>
          <a:p>
            <a:pPr marL="285750" indent="-285750">
              <a:buFont typeface="Arial" panose="020B0604020202020204" pitchFamily="34" charset="0"/>
              <a:buChar char="•"/>
            </a:pPr>
            <a:r>
              <a:rPr lang="en-GB" sz="2400" b="1" dirty="0">
                <a:solidFill>
                  <a:schemeClr val="tx1">
                    <a:lumMod val="50000"/>
                    <a:lumOff val="50000"/>
                  </a:schemeClr>
                </a:solidFill>
              </a:rPr>
              <a:t>Carbonates</a:t>
            </a:r>
          </a:p>
          <a:p>
            <a:pPr marL="285750" indent="-285750">
              <a:buFont typeface="Arial" panose="020B0604020202020204" pitchFamily="34" charset="0"/>
              <a:buChar char="•"/>
            </a:pPr>
            <a:r>
              <a:rPr lang="en-GB" sz="2400" b="1" dirty="0">
                <a:solidFill>
                  <a:schemeClr val="tx1">
                    <a:lumMod val="50000"/>
                    <a:lumOff val="50000"/>
                  </a:schemeClr>
                </a:solidFill>
              </a:rPr>
              <a:t>Halides</a:t>
            </a:r>
          </a:p>
          <a:p>
            <a:pPr marL="285750" indent="-285750">
              <a:buFont typeface="Arial" panose="020B0604020202020204" pitchFamily="34" charset="0"/>
              <a:buChar char="•"/>
            </a:pPr>
            <a:r>
              <a:rPr lang="en-GB" sz="2400" b="1" dirty="0" err="1">
                <a:solidFill>
                  <a:schemeClr val="tx1">
                    <a:lumMod val="50000"/>
                    <a:lumOff val="50000"/>
                  </a:schemeClr>
                </a:solidFill>
              </a:rPr>
              <a:t>Sulfates</a:t>
            </a:r>
            <a:endParaRPr lang="en-GB" sz="2400" b="1" dirty="0">
              <a:solidFill>
                <a:schemeClr val="tx1">
                  <a:lumMod val="50000"/>
                  <a:lumOff val="50000"/>
                </a:schemeClr>
              </a:solidFill>
            </a:endParaRP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11798577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lang="en-US" dirty="0">
                <a:solidFill>
                  <a:schemeClr val="accent6"/>
                </a:solidFill>
              </a:rPr>
              <a:t>Identification of ions by chemical means Part 2 (Chemistry only)</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031873"/>
          </a:xfrm>
          <a:prstGeom prst="rect">
            <a:avLst/>
          </a:prstGeom>
          <a:noFill/>
        </p:spPr>
        <p:txBody>
          <a:bodyPr wrap="square" rtlCol="0">
            <a:spAutoFit/>
          </a:bodyPr>
          <a:lstStyle/>
          <a:p>
            <a:pPr marL="457200" indent="-457200">
              <a:buFont typeface="+mj-lt"/>
              <a:buAutoNum type="arabicPeriod"/>
            </a:pPr>
            <a:r>
              <a:rPr lang="en-GB" sz="2400" dirty="0" smtClean="0"/>
              <a:t>How </a:t>
            </a:r>
            <a:r>
              <a:rPr lang="en-GB" sz="2400" dirty="0"/>
              <a:t>would you test for a carbonate</a:t>
            </a:r>
            <a:r>
              <a:rPr lang="en-GB" sz="2400" dirty="0" smtClean="0"/>
              <a:t>?</a:t>
            </a:r>
          </a:p>
          <a:p>
            <a:pPr marL="457200" indent="-457200">
              <a:buFont typeface="+mj-lt"/>
              <a:buAutoNum type="arabicPeriod"/>
            </a:pPr>
            <a:endParaRPr lang="en-GB" sz="2400" dirty="0" smtClean="0"/>
          </a:p>
          <a:p>
            <a:pPr marL="457200" indent="-457200">
              <a:buFont typeface="+mj-lt"/>
              <a:buAutoNum type="arabicPeriod"/>
            </a:pPr>
            <a:r>
              <a:rPr lang="en-GB" sz="2400" dirty="0" smtClean="0"/>
              <a:t>How would you test the gas produced by the above reaction?</a:t>
            </a:r>
          </a:p>
          <a:p>
            <a:pPr marL="457200" indent="-457200">
              <a:buFont typeface="+mj-lt"/>
              <a:buAutoNum type="arabicPeriod"/>
            </a:pPr>
            <a:endParaRPr lang="en-GB" sz="2400" dirty="0" smtClean="0"/>
          </a:p>
          <a:p>
            <a:pPr marL="457200" indent="-457200">
              <a:buFont typeface="+mj-lt"/>
              <a:buAutoNum type="arabicPeriod"/>
            </a:pPr>
            <a:r>
              <a:rPr lang="en-GB" sz="2400" dirty="0" smtClean="0"/>
              <a:t>How would you test for halide ions?</a:t>
            </a:r>
          </a:p>
          <a:p>
            <a:pPr marL="457200" indent="-457200">
              <a:buFont typeface="+mj-lt"/>
              <a:buAutoNum type="arabicPeriod"/>
            </a:pPr>
            <a:endParaRPr lang="en-GB" sz="2400" dirty="0" smtClean="0"/>
          </a:p>
          <a:p>
            <a:pPr marL="457200" indent="-457200">
              <a:buFont typeface="+mj-lt"/>
              <a:buAutoNum type="arabicPeriod"/>
            </a:pPr>
            <a:r>
              <a:rPr lang="en-GB" sz="2400" dirty="0" smtClean="0"/>
              <a:t>How could you use the above test to distinguish between halide ions?</a:t>
            </a:r>
          </a:p>
          <a:p>
            <a:pPr marL="457200" indent="-457200">
              <a:buFont typeface="+mj-lt"/>
              <a:buAutoNum type="arabicPeriod"/>
            </a:pPr>
            <a:endParaRPr lang="en-GB" sz="2400" dirty="0"/>
          </a:p>
          <a:p>
            <a:pPr marL="457200" indent="-457200">
              <a:buFont typeface="+mj-lt"/>
              <a:buAutoNum type="arabicPeriod"/>
            </a:pPr>
            <a:endParaRPr lang="en-GB" sz="2400" dirty="0">
              <a:solidFill>
                <a:srgbClr val="00B050"/>
              </a:solidFill>
            </a:endParaRPr>
          </a:p>
          <a:p>
            <a:pPr marL="342900" indent="-342900">
              <a:buFont typeface="+mj-lt"/>
              <a:buAutoNum type="arabicPeriod"/>
            </a:pPr>
            <a:endParaRPr lang="en-GB" sz="1600" dirty="0"/>
          </a:p>
        </p:txBody>
      </p:sp>
    </p:spTree>
    <p:extLst>
      <p:ext uri="{BB962C8B-B14F-4D97-AF65-F5344CB8AC3E}">
        <p14:creationId xmlns:p14="http://schemas.microsoft.com/office/powerpoint/2010/main" val="28758629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lang="en-US" dirty="0">
                <a:solidFill>
                  <a:schemeClr val="accent6"/>
                </a:solidFill>
              </a:rPr>
              <a:t>Identification of ions by chemical means Part 2 (Chemistry only)</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001369"/>
          </a:xfrm>
          <a:prstGeom prst="rect">
            <a:avLst/>
          </a:prstGeom>
          <a:noFill/>
        </p:spPr>
        <p:txBody>
          <a:bodyPr wrap="square" rtlCol="0">
            <a:spAutoFit/>
          </a:bodyPr>
          <a:lstStyle/>
          <a:p>
            <a:pPr marL="457200" indent="-457200">
              <a:buFont typeface="+mj-lt"/>
              <a:buAutoNum type="arabicPeriod" startAt="5"/>
            </a:pPr>
            <a:r>
              <a:rPr lang="en-GB" sz="2400" dirty="0"/>
              <a:t>Silver nitrate is added to an unknown chemical in solution. A cream precipitate is produced. What is the halide ion present?</a:t>
            </a:r>
          </a:p>
          <a:p>
            <a:pPr marL="457200" indent="-457200">
              <a:buFont typeface="+mj-lt"/>
              <a:buAutoNum type="arabicPeriod" startAt="5"/>
            </a:pPr>
            <a:endParaRPr lang="en-GB" sz="2400" dirty="0" smtClean="0"/>
          </a:p>
          <a:p>
            <a:pPr marL="457200" indent="-457200">
              <a:buFont typeface="+mj-lt"/>
              <a:buAutoNum type="arabicPeriod" startAt="5"/>
            </a:pPr>
            <a:r>
              <a:rPr lang="en-GB" sz="2400" dirty="0" smtClean="0"/>
              <a:t>(HT) Write </a:t>
            </a:r>
            <a:r>
              <a:rPr lang="en-GB" sz="2400" dirty="0"/>
              <a:t>the balanced </a:t>
            </a:r>
            <a:r>
              <a:rPr lang="en-GB" sz="2400" dirty="0" smtClean="0"/>
              <a:t>ionic </a:t>
            </a:r>
            <a:r>
              <a:rPr lang="en-GB" sz="2400" dirty="0"/>
              <a:t>equation for the reaction above. </a:t>
            </a:r>
            <a:endParaRPr lang="en-GB" sz="2400" dirty="0" smtClean="0"/>
          </a:p>
          <a:p>
            <a:pPr marL="457200" indent="-457200">
              <a:buFont typeface="+mj-lt"/>
              <a:buAutoNum type="arabicPeriod" startAt="5"/>
            </a:pPr>
            <a:endParaRPr lang="en-GB" sz="2400" dirty="0" smtClean="0"/>
          </a:p>
          <a:p>
            <a:pPr marL="457200" indent="-457200">
              <a:buFont typeface="+mj-lt"/>
              <a:buAutoNum type="arabicPeriod" startAt="5"/>
            </a:pPr>
            <a:r>
              <a:rPr lang="en-GB" sz="2400" dirty="0" smtClean="0"/>
              <a:t>How would you test for </a:t>
            </a:r>
            <a:r>
              <a:rPr lang="en-GB" sz="2400" dirty="0" err="1" smtClean="0"/>
              <a:t>sulfate</a:t>
            </a:r>
            <a:r>
              <a:rPr lang="en-GB" sz="2400" dirty="0" smtClean="0"/>
              <a:t> ions?</a:t>
            </a:r>
          </a:p>
          <a:p>
            <a:pPr marL="457200" indent="-457200">
              <a:buFont typeface="+mj-lt"/>
              <a:buAutoNum type="arabicPeriod" startAt="5"/>
            </a:pPr>
            <a:endParaRPr lang="en-GB" sz="2400" dirty="0" smtClean="0"/>
          </a:p>
          <a:p>
            <a:pPr marL="457200" indent="-457200">
              <a:buFont typeface="+mj-lt"/>
              <a:buAutoNum type="arabicPeriod" startAt="5"/>
            </a:pPr>
            <a:r>
              <a:rPr lang="en-GB" sz="2400" dirty="0" smtClean="0"/>
              <a:t>Write the word and balanced symbol equation for the reaction between sodium </a:t>
            </a:r>
            <a:r>
              <a:rPr lang="en-GB" sz="2400" dirty="0" err="1" smtClean="0"/>
              <a:t>sulfate</a:t>
            </a:r>
            <a:r>
              <a:rPr lang="en-GB" sz="2400" dirty="0" smtClean="0"/>
              <a:t> and barium chloride.</a:t>
            </a:r>
            <a:endParaRPr lang="en-GB" sz="2400" dirty="0"/>
          </a:p>
          <a:p>
            <a:pPr>
              <a:lnSpc>
                <a:spcPct val="150000"/>
              </a:lnSpc>
            </a:pPr>
            <a:endParaRPr lang="en-GB" sz="2400" dirty="0"/>
          </a:p>
          <a:p>
            <a:r>
              <a:rPr lang="en-GB" sz="2400" dirty="0"/>
              <a:t>	</a:t>
            </a:r>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27286089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431983"/>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r>
              <a:rPr lang="en-GB" sz="2800" b="1" dirty="0">
                <a:solidFill>
                  <a:schemeClr val="tx1">
                    <a:lumMod val="50000"/>
                    <a:lumOff val="50000"/>
                  </a:schemeClr>
                </a:solidFill>
              </a:rPr>
              <a:t>Identification of ions by chemical means Part 2 (Chemistry only)</a:t>
            </a:r>
          </a:p>
          <a:p>
            <a:pPr marL="285750" indent="-285750">
              <a:buFont typeface="Arial" panose="020B0604020202020204" pitchFamily="34" charset="0"/>
              <a:buChar char="•"/>
            </a:pPr>
            <a:r>
              <a:rPr lang="en-GB" sz="2400" b="1" dirty="0">
                <a:solidFill>
                  <a:schemeClr val="tx1">
                    <a:lumMod val="50000"/>
                    <a:lumOff val="50000"/>
                  </a:schemeClr>
                </a:solidFill>
              </a:rPr>
              <a:t>Carbonates</a:t>
            </a:r>
          </a:p>
          <a:p>
            <a:pPr marL="285750" indent="-285750">
              <a:buFont typeface="Arial" panose="020B0604020202020204" pitchFamily="34" charset="0"/>
              <a:buChar char="•"/>
            </a:pPr>
            <a:r>
              <a:rPr lang="en-GB" sz="2400" b="1" dirty="0">
                <a:solidFill>
                  <a:schemeClr val="tx1">
                    <a:lumMod val="50000"/>
                    <a:lumOff val="50000"/>
                  </a:schemeClr>
                </a:solidFill>
              </a:rPr>
              <a:t>Halides</a:t>
            </a:r>
          </a:p>
          <a:p>
            <a:pPr marL="285750" indent="-285750">
              <a:buFont typeface="Arial" panose="020B0604020202020204" pitchFamily="34" charset="0"/>
              <a:buChar char="•"/>
            </a:pPr>
            <a:r>
              <a:rPr lang="en-GB" sz="2400" b="1" dirty="0" err="1">
                <a:solidFill>
                  <a:schemeClr val="tx1">
                    <a:lumMod val="50000"/>
                    <a:lumOff val="50000"/>
                  </a:schemeClr>
                </a:solidFill>
              </a:rPr>
              <a:t>Sulfates</a:t>
            </a:r>
            <a:endParaRPr lang="en-GB" sz="2400" b="1" dirty="0">
              <a:solidFill>
                <a:schemeClr val="tx1">
                  <a:lumMod val="50000"/>
                  <a:lumOff val="50000"/>
                </a:schemeClr>
              </a:solidFill>
            </a:endParaRP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28192206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lang="en-US" dirty="0">
                <a:solidFill>
                  <a:schemeClr val="accent6"/>
                </a:solidFill>
              </a:rPr>
              <a:t>Identification of ions by chemical means Part 2 (Chemistry only)</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401205"/>
          </a:xfrm>
          <a:prstGeom prst="rect">
            <a:avLst/>
          </a:prstGeom>
          <a:noFill/>
        </p:spPr>
        <p:txBody>
          <a:bodyPr wrap="square" rtlCol="0">
            <a:spAutoFit/>
          </a:bodyPr>
          <a:lstStyle/>
          <a:p>
            <a:pPr marL="457200" indent="-457200">
              <a:buFont typeface="+mj-lt"/>
              <a:buAutoNum type="arabicPeriod"/>
            </a:pPr>
            <a:r>
              <a:rPr lang="en-GB" sz="2400" dirty="0" smtClean="0"/>
              <a:t>How </a:t>
            </a:r>
            <a:r>
              <a:rPr lang="en-GB" sz="2400" dirty="0"/>
              <a:t>would you test for a carbonate</a:t>
            </a:r>
            <a:r>
              <a:rPr lang="en-GB" sz="2400" dirty="0" smtClean="0"/>
              <a:t>?</a:t>
            </a:r>
          </a:p>
          <a:p>
            <a:pPr lvl="1"/>
            <a:r>
              <a:rPr lang="en-GB" sz="2400" dirty="0" smtClean="0">
                <a:solidFill>
                  <a:srgbClr val="00B050"/>
                </a:solidFill>
              </a:rPr>
              <a:t>React with dilute hydrochloric acid to form carbon dioxide gas.</a:t>
            </a:r>
          </a:p>
          <a:p>
            <a:pPr marL="457200" indent="-457200">
              <a:buFont typeface="+mj-lt"/>
              <a:buAutoNum type="arabicPeriod"/>
            </a:pPr>
            <a:r>
              <a:rPr lang="en-GB" sz="2400" dirty="0" smtClean="0"/>
              <a:t>How would you test the gas produced by the above reaction?</a:t>
            </a:r>
          </a:p>
          <a:p>
            <a:pPr lvl="1"/>
            <a:r>
              <a:rPr lang="en-GB" sz="2400" dirty="0" smtClean="0">
                <a:solidFill>
                  <a:srgbClr val="00B050"/>
                </a:solidFill>
              </a:rPr>
              <a:t>Limewater goes cloudy/ milky.</a:t>
            </a:r>
          </a:p>
          <a:p>
            <a:pPr marL="457200" indent="-457200">
              <a:buFont typeface="+mj-lt"/>
              <a:buAutoNum type="arabicPeriod"/>
            </a:pPr>
            <a:r>
              <a:rPr lang="en-GB" sz="2400" dirty="0" smtClean="0"/>
              <a:t>How would you test for halide ions?</a:t>
            </a:r>
          </a:p>
          <a:p>
            <a:pPr lvl="1"/>
            <a:r>
              <a:rPr lang="en-GB" sz="2400" dirty="0" smtClean="0">
                <a:solidFill>
                  <a:srgbClr val="00B050"/>
                </a:solidFill>
              </a:rPr>
              <a:t>Produce precipitate with silver nitrate in the presence of nitric acid.</a:t>
            </a:r>
          </a:p>
          <a:p>
            <a:pPr marL="457200" indent="-457200">
              <a:buFont typeface="+mj-lt"/>
              <a:buAutoNum type="arabicPeriod"/>
            </a:pPr>
            <a:r>
              <a:rPr lang="en-GB" sz="2400" dirty="0" smtClean="0"/>
              <a:t>How could you use the above test to distinguish between halide ions?</a:t>
            </a:r>
          </a:p>
          <a:p>
            <a:pPr lvl="1"/>
            <a:r>
              <a:rPr lang="en-GB" sz="2400" dirty="0" smtClean="0">
                <a:solidFill>
                  <a:srgbClr val="00B050"/>
                </a:solidFill>
              </a:rPr>
              <a:t>Silver </a:t>
            </a:r>
            <a:r>
              <a:rPr lang="en-GB" sz="2400" b="1" dirty="0" smtClean="0">
                <a:solidFill>
                  <a:srgbClr val="00B050"/>
                </a:solidFill>
              </a:rPr>
              <a:t>chloride</a:t>
            </a:r>
            <a:r>
              <a:rPr lang="en-GB" sz="2400" dirty="0" smtClean="0">
                <a:solidFill>
                  <a:srgbClr val="00B050"/>
                </a:solidFill>
              </a:rPr>
              <a:t> = white; silver </a:t>
            </a:r>
            <a:r>
              <a:rPr lang="en-GB" sz="2400" b="1" dirty="0" smtClean="0">
                <a:solidFill>
                  <a:srgbClr val="00B050"/>
                </a:solidFill>
              </a:rPr>
              <a:t>bromide</a:t>
            </a:r>
            <a:r>
              <a:rPr lang="en-GB" sz="2400" dirty="0" smtClean="0">
                <a:solidFill>
                  <a:srgbClr val="00B050"/>
                </a:solidFill>
              </a:rPr>
              <a:t> = cream; </a:t>
            </a:r>
          </a:p>
          <a:p>
            <a:pPr lvl="1"/>
            <a:r>
              <a:rPr lang="en-GB" sz="2400" dirty="0" smtClean="0">
                <a:solidFill>
                  <a:srgbClr val="00B050"/>
                </a:solidFill>
              </a:rPr>
              <a:t>silver </a:t>
            </a:r>
            <a:r>
              <a:rPr lang="en-GB" sz="2400" b="1" dirty="0" smtClean="0">
                <a:solidFill>
                  <a:srgbClr val="00B050"/>
                </a:solidFill>
              </a:rPr>
              <a:t>iodide</a:t>
            </a:r>
            <a:r>
              <a:rPr lang="en-GB" sz="2400" dirty="0" smtClean="0">
                <a:solidFill>
                  <a:srgbClr val="00B050"/>
                </a:solidFill>
              </a:rPr>
              <a:t> = yellow.</a:t>
            </a:r>
            <a:endParaRPr lang="en-GB" sz="2400" dirty="0">
              <a:solidFill>
                <a:srgbClr val="00B050"/>
              </a:solidFill>
            </a:endParaRPr>
          </a:p>
          <a:p>
            <a:pPr marL="342900" indent="-342900">
              <a:buFont typeface="+mj-lt"/>
              <a:buAutoNum type="arabicPeriod"/>
            </a:pPr>
            <a:endParaRPr lang="en-GB" sz="1600" dirty="0"/>
          </a:p>
        </p:txBody>
      </p:sp>
    </p:spTree>
    <p:extLst>
      <p:ext uri="{BB962C8B-B14F-4D97-AF65-F5344CB8AC3E}">
        <p14:creationId xmlns:p14="http://schemas.microsoft.com/office/powerpoint/2010/main" val="40862214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lang="en-US" dirty="0">
                <a:solidFill>
                  <a:schemeClr val="accent6"/>
                </a:solidFill>
              </a:rPr>
              <a:t>Identification of ions by chemical means Part 2 (Chemistry only)</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6109365"/>
          </a:xfrm>
          <a:prstGeom prst="rect">
            <a:avLst/>
          </a:prstGeom>
          <a:noFill/>
        </p:spPr>
        <p:txBody>
          <a:bodyPr wrap="square" rtlCol="0">
            <a:spAutoFit/>
          </a:bodyPr>
          <a:lstStyle/>
          <a:p>
            <a:pPr marL="457200" indent="-457200">
              <a:buFont typeface="+mj-lt"/>
              <a:buAutoNum type="arabicPeriod" startAt="5"/>
            </a:pPr>
            <a:r>
              <a:rPr lang="en-GB" sz="2400" dirty="0"/>
              <a:t>Silver nitrate is added to an unknown chemical in solution. A cream precipitate is produced. What is the halide ion present?</a:t>
            </a:r>
          </a:p>
          <a:p>
            <a:pPr lvl="1"/>
            <a:r>
              <a:rPr lang="en-GB" sz="2400" dirty="0">
                <a:solidFill>
                  <a:srgbClr val="00B050"/>
                </a:solidFill>
              </a:rPr>
              <a:t>Bromide</a:t>
            </a:r>
            <a:r>
              <a:rPr lang="en-GB" sz="2400" dirty="0" smtClean="0">
                <a:solidFill>
                  <a:srgbClr val="00B050"/>
                </a:solidFill>
              </a:rPr>
              <a:t>.</a:t>
            </a:r>
          </a:p>
          <a:p>
            <a:pPr marL="457200" indent="-457200">
              <a:buFont typeface="+mj-lt"/>
              <a:buAutoNum type="arabicPeriod" startAt="6"/>
            </a:pPr>
            <a:r>
              <a:rPr lang="en-GB" sz="2400" dirty="0" smtClean="0"/>
              <a:t>(HT) Write </a:t>
            </a:r>
            <a:r>
              <a:rPr lang="en-GB" sz="2400" dirty="0"/>
              <a:t>the balanced </a:t>
            </a:r>
            <a:r>
              <a:rPr lang="en-GB" sz="2400" dirty="0" smtClean="0"/>
              <a:t>ionic </a:t>
            </a:r>
            <a:r>
              <a:rPr lang="en-GB" sz="2400" dirty="0"/>
              <a:t>equation for the reaction above. </a:t>
            </a:r>
            <a:endParaRPr lang="en-GB" sz="2400" dirty="0" smtClean="0"/>
          </a:p>
          <a:p>
            <a:pPr lvl="1" algn="ctr"/>
            <a:r>
              <a:rPr lang="en-GB" sz="2400" dirty="0" smtClean="0">
                <a:solidFill>
                  <a:srgbClr val="00B050"/>
                </a:solidFill>
              </a:rPr>
              <a:t>Ag</a:t>
            </a:r>
            <a:r>
              <a:rPr lang="en-GB" sz="2400" baseline="30000" dirty="0" smtClean="0">
                <a:solidFill>
                  <a:srgbClr val="00B050"/>
                </a:solidFill>
              </a:rPr>
              <a:t>+</a:t>
            </a:r>
            <a:r>
              <a:rPr lang="en-GB" sz="2400" baseline="-25000" dirty="0" smtClean="0">
                <a:solidFill>
                  <a:srgbClr val="00B050"/>
                </a:solidFill>
              </a:rPr>
              <a:t>(</a:t>
            </a:r>
            <a:r>
              <a:rPr lang="en-GB" sz="2400" baseline="-25000" dirty="0" err="1" smtClean="0">
                <a:solidFill>
                  <a:srgbClr val="00B050"/>
                </a:solidFill>
              </a:rPr>
              <a:t>aq</a:t>
            </a:r>
            <a:r>
              <a:rPr lang="en-GB" sz="2400" baseline="-25000" dirty="0" smtClean="0">
                <a:solidFill>
                  <a:srgbClr val="00B050"/>
                </a:solidFill>
              </a:rPr>
              <a:t>) </a:t>
            </a:r>
            <a:r>
              <a:rPr lang="en-GB" sz="2400" dirty="0" smtClean="0">
                <a:solidFill>
                  <a:srgbClr val="00B050"/>
                </a:solidFill>
              </a:rPr>
              <a:t>+ Br </a:t>
            </a:r>
            <a:r>
              <a:rPr lang="en-GB" sz="2400" baseline="30000" dirty="0" smtClean="0">
                <a:solidFill>
                  <a:srgbClr val="00B050"/>
                </a:solidFill>
              </a:rPr>
              <a:t>-</a:t>
            </a:r>
            <a:r>
              <a:rPr lang="en-GB" sz="2400" baseline="-25000" dirty="0" smtClean="0">
                <a:solidFill>
                  <a:srgbClr val="00B050"/>
                </a:solidFill>
              </a:rPr>
              <a:t>(</a:t>
            </a:r>
            <a:r>
              <a:rPr lang="en-GB" sz="2400" baseline="-25000" dirty="0" err="1" smtClean="0">
                <a:solidFill>
                  <a:srgbClr val="00B050"/>
                </a:solidFill>
              </a:rPr>
              <a:t>aq</a:t>
            </a:r>
            <a:r>
              <a:rPr lang="en-GB" sz="2400" baseline="-25000" dirty="0" smtClean="0">
                <a:solidFill>
                  <a:srgbClr val="00B050"/>
                </a:solidFill>
              </a:rPr>
              <a:t>) </a:t>
            </a:r>
            <a:r>
              <a:rPr lang="en-GB" sz="2400" dirty="0">
                <a:solidFill>
                  <a:srgbClr val="00B050"/>
                </a:solidFill>
                <a:sym typeface="Wingdings" panose="05000000000000000000" pitchFamily="2" charset="2"/>
              </a:rPr>
              <a:t></a:t>
            </a:r>
            <a:r>
              <a:rPr lang="en-GB" sz="2400" dirty="0" smtClean="0">
                <a:solidFill>
                  <a:srgbClr val="00B050"/>
                </a:solidFill>
              </a:rPr>
              <a:t> </a:t>
            </a:r>
            <a:r>
              <a:rPr lang="en-GB" sz="2400" dirty="0" err="1" smtClean="0">
                <a:solidFill>
                  <a:srgbClr val="00B050"/>
                </a:solidFill>
              </a:rPr>
              <a:t>AgBr</a:t>
            </a:r>
            <a:r>
              <a:rPr lang="en-GB" sz="2400" baseline="-25000" dirty="0" smtClean="0">
                <a:solidFill>
                  <a:srgbClr val="00B050"/>
                </a:solidFill>
              </a:rPr>
              <a:t>(s)</a:t>
            </a:r>
          </a:p>
          <a:p>
            <a:pPr marL="457200" indent="-457200">
              <a:buFont typeface="+mj-lt"/>
              <a:buAutoNum type="arabicPeriod" startAt="6"/>
            </a:pPr>
            <a:r>
              <a:rPr lang="en-GB" sz="2400" dirty="0" smtClean="0"/>
              <a:t>How </a:t>
            </a:r>
            <a:r>
              <a:rPr lang="en-GB" sz="2400" dirty="0" smtClean="0"/>
              <a:t>would you test for </a:t>
            </a:r>
            <a:r>
              <a:rPr lang="en-GB" sz="2400" dirty="0" err="1" smtClean="0"/>
              <a:t>sulfate</a:t>
            </a:r>
            <a:r>
              <a:rPr lang="en-GB" sz="2400" dirty="0" smtClean="0"/>
              <a:t> ions?</a:t>
            </a:r>
          </a:p>
          <a:p>
            <a:pPr lvl="1"/>
            <a:r>
              <a:rPr lang="en-GB" sz="2400" dirty="0" smtClean="0">
                <a:solidFill>
                  <a:srgbClr val="00B050"/>
                </a:solidFill>
              </a:rPr>
              <a:t>Add barium chloride solution in the presence of hydrochloric acid; </a:t>
            </a:r>
            <a:r>
              <a:rPr lang="en-GB" sz="2400" dirty="0">
                <a:solidFill>
                  <a:srgbClr val="00B050"/>
                </a:solidFill>
              </a:rPr>
              <a:t>w</a:t>
            </a:r>
            <a:r>
              <a:rPr lang="en-GB" sz="2400" dirty="0" smtClean="0">
                <a:solidFill>
                  <a:srgbClr val="00B050"/>
                </a:solidFill>
              </a:rPr>
              <a:t>hite precipitate formed.</a:t>
            </a:r>
          </a:p>
          <a:p>
            <a:pPr marL="457200" indent="-457200">
              <a:buFont typeface="+mj-lt"/>
              <a:buAutoNum type="arabicPeriod" startAt="6"/>
            </a:pPr>
            <a:r>
              <a:rPr lang="en-GB" sz="2400" dirty="0" smtClean="0"/>
              <a:t>Write the word and balanced symbol equation for the reaction between sodium </a:t>
            </a:r>
            <a:r>
              <a:rPr lang="en-GB" sz="2400" dirty="0" err="1" smtClean="0"/>
              <a:t>sulfate</a:t>
            </a:r>
            <a:r>
              <a:rPr lang="en-GB" sz="2400" dirty="0" smtClean="0"/>
              <a:t> and barium chloride.</a:t>
            </a:r>
            <a:endParaRPr lang="en-GB" sz="2400" dirty="0"/>
          </a:p>
          <a:p>
            <a:pPr algn="ctr"/>
            <a:r>
              <a:rPr lang="en-GB" sz="2400" dirty="0">
                <a:solidFill>
                  <a:srgbClr val="00B050"/>
                </a:solidFill>
                <a:sym typeface="Wingdings" panose="05000000000000000000" pitchFamily="2" charset="2"/>
              </a:rPr>
              <a:t>Barium chloride + sodium </a:t>
            </a:r>
            <a:r>
              <a:rPr lang="en-GB" sz="2400" dirty="0" err="1">
                <a:solidFill>
                  <a:srgbClr val="00B050"/>
                </a:solidFill>
                <a:sym typeface="Wingdings" panose="05000000000000000000" pitchFamily="2" charset="2"/>
              </a:rPr>
              <a:t>sulfate</a:t>
            </a:r>
            <a:r>
              <a:rPr lang="en-GB" sz="2400" dirty="0">
                <a:solidFill>
                  <a:srgbClr val="00B050"/>
                </a:solidFill>
                <a:sym typeface="Wingdings" panose="05000000000000000000" pitchFamily="2" charset="2"/>
              </a:rPr>
              <a:t>  barium </a:t>
            </a:r>
            <a:r>
              <a:rPr lang="en-GB" sz="2400" dirty="0" err="1">
                <a:solidFill>
                  <a:srgbClr val="00B050"/>
                </a:solidFill>
                <a:sym typeface="Wingdings" panose="05000000000000000000" pitchFamily="2" charset="2"/>
              </a:rPr>
              <a:t>sulfate</a:t>
            </a:r>
            <a:r>
              <a:rPr lang="en-GB" sz="2400" dirty="0">
                <a:solidFill>
                  <a:srgbClr val="00B050"/>
                </a:solidFill>
                <a:sym typeface="Wingdings" panose="05000000000000000000" pitchFamily="2" charset="2"/>
              </a:rPr>
              <a:t> + sodium </a:t>
            </a:r>
            <a:r>
              <a:rPr lang="en-GB" sz="2400" dirty="0" smtClean="0">
                <a:solidFill>
                  <a:srgbClr val="00B050"/>
                </a:solidFill>
                <a:sym typeface="Wingdings" panose="05000000000000000000" pitchFamily="2" charset="2"/>
              </a:rPr>
              <a:t>chloride</a:t>
            </a:r>
            <a:endParaRPr lang="en-GB" sz="2400" dirty="0">
              <a:solidFill>
                <a:srgbClr val="00B050"/>
              </a:solidFill>
              <a:sym typeface="Wingdings" panose="05000000000000000000" pitchFamily="2" charset="2"/>
            </a:endParaRPr>
          </a:p>
          <a:p>
            <a:r>
              <a:rPr lang="en-GB" sz="2400" b="1" dirty="0">
                <a:solidFill>
                  <a:srgbClr val="00B050"/>
                </a:solidFill>
                <a:sym typeface="Wingdings" panose="05000000000000000000" pitchFamily="2" charset="2"/>
              </a:rPr>
              <a:t>         </a:t>
            </a:r>
            <a:r>
              <a:rPr lang="en-GB" sz="2400" dirty="0">
                <a:solidFill>
                  <a:srgbClr val="00B050"/>
                </a:solidFill>
                <a:sym typeface="Wingdings" panose="05000000000000000000" pitchFamily="2" charset="2"/>
              </a:rPr>
              <a:t>BaCl</a:t>
            </a:r>
            <a:r>
              <a:rPr lang="en-GB" sz="2400" baseline="-25000" dirty="0">
                <a:solidFill>
                  <a:srgbClr val="00B050"/>
                </a:solidFill>
                <a:sym typeface="Wingdings" panose="05000000000000000000" pitchFamily="2" charset="2"/>
              </a:rPr>
              <a:t>2</a:t>
            </a:r>
            <a:r>
              <a:rPr lang="en-GB" sz="2400" dirty="0">
                <a:solidFill>
                  <a:srgbClr val="00B050"/>
                </a:solidFill>
                <a:sym typeface="Wingdings" panose="05000000000000000000" pitchFamily="2" charset="2"/>
              </a:rPr>
              <a:t> (</a:t>
            </a:r>
            <a:r>
              <a:rPr lang="en-GB" sz="2400" dirty="0" err="1">
                <a:solidFill>
                  <a:srgbClr val="00B050"/>
                </a:solidFill>
                <a:sym typeface="Wingdings" panose="05000000000000000000" pitchFamily="2" charset="2"/>
              </a:rPr>
              <a:t>aq</a:t>
            </a:r>
            <a:r>
              <a:rPr lang="en-GB" sz="2400" dirty="0">
                <a:solidFill>
                  <a:srgbClr val="00B050"/>
                </a:solidFill>
                <a:sym typeface="Wingdings" panose="05000000000000000000" pitchFamily="2" charset="2"/>
              </a:rPr>
              <a:t>)     +   Na</a:t>
            </a:r>
            <a:r>
              <a:rPr lang="en-GB" sz="2400" baseline="-25000" dirty="0">
                <a:solidFill>
                  <a:srgbClr val="00B050"/>
                </a:solidFill>
                <a:sym typeface="Wingdings" panose="05000000000000000000" pitchFamily="2" charset="2"/>
              </a:rPr>
              <a:t>2</a:t>
            </a:r>
            <a:r>
              <a:rPr lang="en-GB" sz="2400" dirty="0">
                <a:solidFill>
                  <a:srgbClr val="00B050"/>
                </a:solidFill>
                <a:sym typeface="Wingdings" panose="05000000000000000000" pitchFamily="2" charset="2"/>
              </a:rPr>
              <a:t>SO</a:t>
            </a:r>
            <a:r>
              <a:rPr lang="en-GB" sz="2400" baseline="-25000" dirty="0">
                <a:solidFill>
                  <a:srgbClr val="00B050"/>
                </a:solidFill>
                <a:sym typeface="Wingdings" panose="05000000000000000000" pitchFamily="2" charset="2"/>
              </a:rPr>
              <a:t>4</a:t>
            </a:r>
            <a:r>
              <a:rPr lang="en-GB" sz="2400" dirty="0">
                <a:solidFill>
                  <a:srgbClr val="00B050"/>
                </a:solidFill>
                <a:sym typeface="Wingdings" panose="05000000000000000000" pitchFamily="2" charset="2"/>
              </a:rPr>
              <a:t> (</a:t>
            </a:r>
            <a:r>
              <a:rPr lang="en-GB" sz="2400" dirty="0" err="1">
                <a:solidFill>
                  <a:srgbClr val="00B050"/>
                </a:solidFill>
                <a:sym typeface="Wingdings" panose="05000000000000000000" pitchFamily="2" charset="2"/>
              </a:rPr>
              <a:t>aq</a:t>
            </a:r>
            <a:r>
              <a:rPr lang="en-GB" sz="2400" dirty="0">
                <a:solidFill>
                  <a:srgbClr val="00B050"/>
                </a:solidFill>
                <a:sym typeface="Wingdings" panose="05000000000000000000" pitchFamily="2" charset="2"/>
              </a:rPr>
              <a:t>)          BaSO</a:t>
            </a:r>
            <a:r>
              <a:rPr lang="en-GB" sz="2400" baseline="-25000" dirty="0">
                <a:solidFill>
                  <a:srgbClr val="00B050"/>
                </a:solidFill>
                <a:sym typeface="Wingdings" panose="05000000000000000000" pitchFamily="2" charset="2"/>
              </a:rPr>
              <a:t>4</a:t>
            </a:r>
            <a:r>
              <a:rPr lang="en-GB" sz="2400" dirty="0">
                <a:solidFill>
                  <a:srgbClr val="00B050"/>
                </a:solidFill>
                <a:sym typeface="Wingdings" panose="05000000000000000000" pitchFamily="2" charset="2"/>
              </a:rPr>
              <a:t> (s)      +     2NaCl (</a:t>
            </a:r>
            <a:r>
              <a:rPr lang="en-GB" sz="2400" dirty="0" err="1">
                <a:solidFill>
                  <a:srgbClr val="00B050"/>
                </a:solidFill>
                <a:sym typeface="Wingdings" panose="05000000000000000000" pitchFamily="2" charset="2"/>
              </a:rPr>
              <a:t>aq</a:t>
            </a:r>
            <a:r>
              <a:rPr lang="en-GB" sz="2400" dirty="0">
                <a:solidFill>
                  <a:srgbClr val="00B050"/>
                </a:solidFill>
                <a:sym typeface="Wingdings" panose="05000000000000000000" pitchFamily="2" charset="2"/>
              </a:rPr>
              <a:t>)</a:t>
            </a:r>
            <a:endParaRPr lang="en-GB" sz="2400" dirty="0">
              <a:solidFill>
                <a:srgbClr val="00B050"/>
              </a:solidFill>
            </a:endParaRPr>
          </a:p>
          <a:p>
            <a:pPr>
              <a:lnSpc>
                <a:spcPct val="150000"/>
              </a:lnSpc>
            </a:pPr>
            <a:endParaRPr lang="en-GB" sz="2400" dirty="0"/>
          </a:p>
          <a:p>
            <a:r>
              <a:rPr lang="en-GB" sz="2400" dirty="0"/>
              <a:t>	</a:t>
            </a:r>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2414815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3491880" cy="5262979"/>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2400" b="1" dirty="0">
                <a:solidFill>
                  <a:schemeClr val="tx1">
                    <a:lumMod val="50000"/>
                    <a:lumOff val="50000"/>
                  </a:schemeClr>
                </a:solidFill>
              </a:rPr>
              <a:t>Identification of ions by instrumental methods (Chemistry only)</a:t>
            </a:r>
          </a:p>
          <a:p>
            <a:pPr marL="285750" indent="-285750">
              <a:buFont typeface="Arial" panose="020B0604020202020204" pitchFamily="34" charset="0"/>
              <a:buChar char="•"/>
            </a:pPr>
            <a:r>
              <a:rPr lang="en-GB" sz="2000" b="1" dirty="0">
                <a:solidFill>
                  <a:schemeClr val="tx1">
                    <a:lumMod val="50000"/>
                    <a:lumOff val="50000"/>
                  </a:schemeClr>
                </a:solidFill>
              </a:rPr>
              <a:t>Instrumental methods</a:t>
            </a:r>
          </a:p>
          <a:p>
            <a:pPr marL="285750" indent="-285750">
              <a:buFont typeface="Arial" panose="020B0604020202020204" pitchFamily="34" charset="0"/>
              <a:buChar char="•"/>
            </a:pPr>
            <a:r>
              <a:rPr lang="en-GB" sz="2000" b="1" dirty="0">
                <a:solidFill>
                  <a:schemeClr val="tx1">
                    <a:lumMod val="50000"/>
                    <a:lumOff val="50000"/>
                  </a:schemeClr>
                </a:solidFill>
              </a:rPr>
              <a:t>Flame emission spectroscopy</a:t>
            </a:r>
          </a:p>
          <a:p>
            <a:endParaRPr lang="en-GB" sz="2400" b="1" dirty="0">
              <a:solidFill>
                <a:schemeClr val="tx1">
                  <a:lumMod val="50000"/>
                  <a:lumOff val="50000"/>
                </a:schemeClr>
              </a:solidFill>
            </a:endParaRPr>
          </a:p>
          <a:p>
            <a:endParaRPr lang="en-GB" dirty="0"/>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Tree>
    <p:extLst>
      <p:ext uri="{BB962C8B-B14F-4D97-AF65-F5344CB8AC3E}">
        <p14:creationId xmlns:p14="http://schemas.microsoft.com/office/powerpoint/2010/main" val="22292637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3608" y="-32700"/>
            <a:ext cx="8100392" cy="941420"/>
          </a:xfrm>
        </p:spPr>
        <p:txBody>
          <a:bodyPr>
            <a:noAutofit/>
          </a:bodyPr>
          <a:lstStyle/>
          <a:p>
            <a:pPr marL="342900" lvl="1" algn="r" defTabSz="342900" rtl="0">
              <a:spcBef>
                <a:spcPct val="20000"/>
              </a:spcBef>
            </a:pPr>
            <a:r>
              <a:rPr lang="en-US" sz="2000" dirty="0">
                <a:solidFill>
                  <a:schemeClr val="accent6"/>
                </a:solidFill>
              </a:rPr>
              <a:t>Identification of ions by instrumental methods (Chemistry only)</a:t>
            </a:r>
            <a:endParaRPr kumimoji="0" lang="en-US" sz="20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4" name="TextBox 3"/>
          <p:cNvSpPr txBox="1"/>
          <p:nvPr/>
        </p:nvSpPr>
        <p:spPr>
          <a:xfrm>
            <a:off x="179512" y="836712"/>
            <a:ext cx="2880320" cy="2862322"/>
          </a:xfrm>
          <a:prstGeom prst="rect">
            <a:avLst/>
          </a:prstGeom>
          <a:noFill/>
          <a:ln w="28575">
            <a:solidFill>
              <a:schemeClr val="accent6"/>
            </a:solidFill>
          </a:ln>
        </p:spPr>
        <p:txBody>
          <a:bodyPr wrap="square" rtlCol="0">
            <a:spAutoFit/>
          </a:bodyPr>
          <a:lstStyle/>
          <a:p>
            <a:r>
              <a:rPr lang="en-GB" sz="2000" dirty="0"/>
              <a:t>Elements and compounds can be detected and identified using </a:t>
            </a:r>
            <a:r>
              <a:rPr lang="en-GB" sz="2000" b="1" dirty="0">
                <a:solidFill>
                  <a:schemeClr val="accent6">
                    <a:lumMod val="75000"/>
                  </a:schemeClr>
                </a:solidFill>
              </a:rPr>
              <a:t>instrumental methods</a:t>
            </a:r>
            <a:r>
              <a:rPr lang="en-GB" sz="2000" dirty="0"/>
              <a:t>.</a:t>
            </a:r>
          </a:p>
          <a:p>
            <a:r>
              <a:rPr lang="en-GB" sz="2000" dirty="0"/>
              <a:t>Instrumental methods are:</a:t>
            </a:r>
          </a:p>
          <a:p>
            <a:pPr marL="285750" indent="-285750">
              <a:buFont typeface="Arial" panose="020B0604020202020204" pitchFamily="34" charset="0"/>
              <a:buChar char="•"/>
            </a:pPr>
            <a:r>
              <a:rPr lang="en-GB" sz="2000" b="1" dirty="0">
                <a:solidFill>
                  <a:schemeClr val="accent6">
                    <a:lumMod val="75000"/>
                  </a:schemeClr>
                </a:solidFill>
              </a:rPr>
              <a:t>Accurate</a:t>
            </a:r>
          </a:p>
          <a:p>
            <a:pPr marL="285750" indent="-285750">
              <a:buFont typeface="Arial" panose="020B0604020202020204" pitchFamily="34" charset="0"/>
              <a:buChar char="•"/>
            </a:pPr>
            <a:r>
              <a:rPr lang="en-GB" sz="2000" b="1" dirty="0">
                <a:solidFill>
                  <a:schemeClr val="accent6">
                    <a:lumMod val="75000"/>
                  </a:schemeClr>
                </a:solidFill>
              </a:rPr>
              <a:t>Sensitive</a:t>
            </a:r>
          </a:p>
          <a:p>
            <a:pPr marL="285750" indent="-285750">
              <a:buFont typeface="Arial" panose="020B0604020202020204" pitchFamily="34" charset="0"/>
              <a:buChar char="•"/>
            </a:pPr>
            <a:r>
              <a:rPr lang="en-GB" sz="2000" b="1" dirty="0">
                <a:solidFill>
                  <a:schemeClr val="accent6">
                    <a:lumMod val="75000"/>
                  </a:schemeClr>
                </a:solidFill>
              </a:rPr>
              <a:t>Rapid</a:t>
            </a:r>
          </a:p>
        </p:txBody>
      </p:sp>
      <p:sp>
        <p:nvSpPr>
          <p:cNvPr id="5" name="TextBox 4"/>
          <p:cNvSpPr txBox="1"/>
          <p:nvPr/>
        </p:nvSpPr>
        <p:spPr>
          <a:xfrm>
            <a:off x="180039" y="4129287"/>
            <a:ext cx="2880320" cy="1938992"/>
          </a:xfrm>
          <a:prstGeom prst="rect">
            <a:avLst/>
          </a:prstGeom>
          <a:solidFill>
            <a:schemeClr val="accent6"/>
          </a:solidFill>
          <a:ln w="28575">
            <a:solidFill>
              <a:schemeClr val="tx1"/>
            </a:solidFill>
          </a:ln>
        </p:spPr>
        <p:txBody>
          <a:bodyPr wrap="square" rtlCol="0">
            <a:spAutoFit/>
          </a:bodyPr>
          <a:lstStyle/>
          <a:p>
            <a:r>
              <a:rPr lang="en-GB" sz="2000" dirty="0"/>
              <a:t>These are the</a:t>
            </a:r>
            <a:r>
              <a:rPr lang="en-GB" sz="2000" b="1" dirty="0"/>
              <a:t> advantages </a:t>
            </a:r>
            <a:r>
              <a:rPr lang="en-GB" sz="2000" dirty="0"/>
              <a:t>of using instrumental methods compared with the earlier chemical tests, you need to know these for the exam.</a:t>
            </a:r>
          </a:p>
        </p:txBody>
      </p:sp>
      <p:sp>
        <p:nvSpPr>
          <p:cNvPr id="6" name="TextBox 5"/>
          <p:cNvSpPr txBox="1"/>
          <p:nvPr/>
        </p:nvSpPr>
        <p:spPr>
          <a:xfrm>
            <a:off x="3203845" y="835959"/>
            <a:ext cx="5759667" cy="2246769"/>
          </a:xfrm>
          <a:prstGeom prst="rect">
            <a:avLst/>
          </a:prstGeom>
          <a:noFill/>
          <a:ln w="28575">
            <a:solidFill>
              <a:schemeClr val="accent6"/>
            </a:solidFill>
          </a:ln>
        </p:spPr>
        <p:txBody>
          <a:bodyPr wrap="square" rtlCol="0">
            <a:spAutoFit/>
          </a:bodyPr>
          <a:lstStyle/>
          <a:p>
            <a:pPr marL="285750" indent="-285750">
              <a:buFont typeface="Arial" panose="020B0604020202020204" pitchFamily="34" charset="0"/>
              <a:buChar char="•"/>
            </a:pPr>
            <a:r>
              <a:rPr lang="en-GB" sz="2000" b="1" dirty="0">
                <a:solidFill>
                  <a:schemeClr val="accent6">
                    <a:lumMod val="75000"/>
                  </a:schemeClr>
                </a:solidFill>
              </a:rPr>
              <a:t>Flame emission spectroscopy </a:t>
            </a:r>
            <a:r>
              <a:rPr lang="en-GB" sz="2000" dirty="0"/>
              <a:t>is </a:t>
            </a:r>
            <a:r>
              <a:rPr lang="en-GB" sz="2000" dirty="0" smtClean="0"/>
              <a:t>used </a:t>
            </a:r>
            <a:r>
              <a:rPr lang="en-GB" sz="2000" dirty="0"/>
              <a:t>to analyse metal ions in solution.</a:t>
            </a:r>
          </a:p>
          <a:p>
            <a:pPr marL="285750" indent="-285750">
              <a:buFont typeface="Arial" panose="020B0604020202020204" pitchFamily="34" charset="0"/>
              <a:buChar char="•"/>
            </a:pPr>
            <a:r>
              <a:rPr lang="en-GB" sz="2000" dirty="0"/>
              <a:t>The sample is </a:t>
            </a:r>
            <a:r>
              <a:rPr lang="en-GB" sz="2000" b="1" dirty="0">
                <a:solidFill>
                  <a:schemeClr val="accent6">
                    <a:lumMod val="75000"/>
                  </a:schemeClr>
                </a:solidFill>
              </a:rPr>
              <a:t>put into a flame </a:t>
            </a:r>
            <a:r>
              <a:rPr lang="en-GB" sz="2000" dirty="0"/>
              <a:t>and the </a:t>
            </a:r>
            <a:r>
              <a:rPr lang="en-GB" sz="2000" b="1" dirty="0">
                <a:solidFill>
                  <a:schemeClr val="accent6">
                    <a:lumMod val="75000"/>
                  </a:schemeClr>
                </a:solidFill>
              </a:rPr>
              <a:t>light given out is passed through a spectroscope</a:t>
            </a:r>
            <a:r>
              <a:rPr lang="en-GB" sz="2000" dirty="0"/>
              <a:t>. </a:t>
            </a:r>
            <a:endParaRPr lang="en-GB" sz="2000" dirty="0" smtClean="0"/>
          </a:p>
          <a:p>
            <a:pPr marL="285750" indent="-285750">
              <a:buFont typeface="Arial" panose="020B0604020202020204" pitchFamily="34" charset="0"/>
              <a:buChar char="•"/>
            </a:pPr>
            <a:r>
              <a:rPr lang="en-GB" sz="2000" dirty="0" smtClean="0"/>
              <a:t>The </a:t>
            </a:r>
            <a:r>
              <a:rPr lang="en-GB" sz="2000" dirty="0"/>
              <a:t>output is a </a:t>
            </a:r>
            <a:r>
              <a:rPr lang="en-GB" sz="2000" b="1" dirty="0">
                <a:solidFill>
                  <a:schemeClr val="accent6">
                    <a:lumMod val="75000"/>
                  </a:schemeClr>
                </a:solidFill>
              </a:rPr>
              <a:t>line spectrum </a:t>
            </a:r>
            <a:r>
              <a:rPr lang="en-GB" sz="2000" dirty="0"/>
              <a:t>that can be analysed to </a:t>
            </a:r>
            <a:r>
              <a:rPr lang="en-GB" sz="2000" b="1" dirty="0">
                <a:solidFill>
                  <a:schemeClr val="accent6">
                    <a:lumMod val="75000"/>
                  </a:schemeClr>
                </a:solidFill>
              </a:rPr>
              <a:t>identify the metal ions </a:t>
            </a:r>
            <a:r>
              <a:rPr lang="en-GB" sz="2000" dirty="0"/>
              <a:t>in the solution and </a:t>
            </a:r>
            <a:r>
              <a:rPr lang="en-GB" sz="2000" b="1" dirty="0">
                <a:solidFill>
                  <a:schemeClr val="accent6">
                    <a:lumMod val="75000"/>
                  </a:schemeClr>
                </a:solidFill>
              </a:rPr>
              <a:t>measure their concentrations</a:t>
            </a:r>
            <a:r>
              <a:rPr lang="en-GB" b="1" dirty="0">
                <a:solidFill>
                  <a:schemeClr val="accent6">
                    <a:lumMod val="75000"/>
                  </a:schemeClr>
                </a:solidFill>
              </a:rPr>
              <a:t>.</a:t>
            </a:r>
          </a:p>
        </p:txBody>
      </p:sp>
      <p:sp>
        <p:nvSpPr>
          <p:cNvPr id="7" name="TextBox 6"/>
          <p:cNvSpPr txBox="1"/>
          <p:nvPr/>
        </p:nvSpPr>
        <p:spPr>
          <a:xfrm>
            <a:off x="3923928" y="3356992"/>
            <a:ext cx="5112568" cy="1477328"/>
          </a:xfrm>
          <a:prstGeom prst="rect">
            <a:avLst/>
          </a:prstGeom>
          <a:noFill/>
        </p:spPr>
        <p:txBody>
          <a:bodyPr wrap="square" rtlCol="0">
            <a:spAutoFit/>
          </a:bodyPr>
          <a:lstStyle/>
          <a:p>
            <a:r>
              <a:rPr lang="en-GB" dirty="0"/>
              <a:t>Lithium</a:t>
            </a:r>
          </a:p>
          <a:p>
            <a:endParaRPr lang="en-GB" dirty="0"/>
          </a:p>
          <a:p>
            <a:r>
              <a:rPr lang="en-GB" dirty="0"/>
              <a:t>Sodium</a:t>
            </a:r>
          </a:p>
          <a:p>
            <a:endParaRPr lang="en-GB" dirty="0"/>
          </a:p>
          <a:p>
            <a:r>
              <a:rPr lang="en-GB" dirty="0"/>
              <a:t>potassium</a:t>
            </a:r>
          </a:p>
        </p:txBody>
      </p:sp>
      <p:sp>
        <p:nvSpPr>
          <p:cNvPr id="8" name="TextBox 7"/>
          <p:cNvSpPr txBox="1"/>
          <p:nvPr/>
        </p:nvSpPr>
        <p:spPr>
          <a:xfrm>
            <a:off x="5076056" y="3356992"/>
            <a:ext cx="3960440" cy="369332"/>
          </a:xfrm>
          <a:prstGeom prst="rect">
            <a:avLst/>
          </a:prstGeom>
          <a:noFill/>
          <a:ln>
            <a:solidFill>
              <a:schemeClr val="tx1"/>
            </a:solidFill>
          </a:ln>
        </p:spPr>
        <p:txBody>
          <a:bodyPr wrap="square" rtlCol="0">
            <a:spAutoFit/>
          </a:bodyPr>
          <a:lstStyle/>
          <a:p>
            <a:endParaRPr lang="en-GB" dirty="0"/>
          </a:p>
        </p:txBody>
      </p:sp>
      <p:cxnSp>
        <p:nvCxnSpPr>
          <p:cNvPr id="10" name="Straight Connector 9"/>
          <p:cNvCxnSpPr/>
          <p:nvPr/>
        </p:nvCxnSpPr>
        <p:spPr>
          <a:xfrm>
            <a:off x="5868144" y="3356992"/>
            <a:ext cx="0" cy="36933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6732240" y="3356992"/>
            <a:ext cx="0" cy="36933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8316416" y="3356992"/>
            <a:ext cx="0" cy="36933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076056" y="3861048"/>
            <a:ext cx="3960440" cy="369332"/>
          </a:xfrm>
          <a:prstGeom prst="rect">
            <a:avLst/>
          </a:prstGeom>
          <a:noFill/>
          <a:ln>
            <a:solidFill>
              <a:schemeClr val="tx1"/>
            </a:solidFill>
          </a:ln>
        </p:spPr>
        <p:txBody>
          <a:bodyPr wrap="square" rtlCol="0">
            <a:spAutoFit/>
          </a:bodyPr>
          <a:lstStyle/>
          <a:p>
            <a:endParaRPr lang="en-GB" dirty="0"/>
          </a:p>
        </p:txBody>
      </p:sp>
      <p:sp>
        <p:nvSpPr>
          <p:cNvPr id="16" name="TextBox 15"/>
          <p:cNvSpPr txBox="1"/>
          <p:nvPr/>
        </p:nvSpPr>
        <p:spPr>
          <a:xfrm>
            <a:off x="5076056" y="4365104"/>
            <a:ext cx="3960440" cy="430580"/>
          </a:xfrm>
          <a:custGeom>
            <a:avLst/>
            <a:gdLst>
              <a:gd name="connsiteX0" fmla="*/ 0 w 3960440"/>
              <a:gd name="connsiteY0" fmla="*/ 0 h 469216"/>
              <a:gd name="connsiteX1" fmla="*/ 3960440 w 3960440"/>
              <a:gd name="connsiteY1" fmla="*/ 0 h 469216"/>
              <a:gd name="connsiteX2" fmla="*/ 3960440 w 3960440"/>
              <a:gd name="connsiteY2" fmla="*/ 469216 h 469216"/>
              <a:gd name="connsiteX3" fmla="*/ 0 w 3960440"/>
              <a:gd name="connsiteY3" fmla="*/ 469216 h 469216"/>
              <a:gd name="connsiteX4" fmla="*/ 0 w 3960440"/>
              <a:gd name="connsiteY4" fmla="*/ 0 h 469216"/>
              <a:gd name="connsiteX0" fmla="*/ 0 w 3960440"/>
              <a:gd name="connsiteY0" fmla="*/ 0 h 469216"/>
              <a:gd name="connsiteX1" fmla="*/ 3960440 w 3960440"/>
              <a:gd name="connsiteY1" fmla="*/ 0 h 469216"/>
              <a:gd name="connsiteX2" fmla="*/ 3960440 w 3960440"/>
              <a:gd name="connsiteY2" fmla="*/ 469216 h 469216"/>
              <a:gd name="connsiteX3" fmla="*/ 0 w 3960440"/>
              <a:gd name="connsiteY3" fmla="*/ 430580 h 469216"/>
              <a:gd name="connsiteX4" fmla="*/ 0 w 3960440"/>
              <a:gd name="connsiteY4" fmla="*/ 0 h 469216"/>
              <a:gd name="connsiteX0" fmla="*/ 0 w 3960440"/>
              <a:gd name="connsiteY0" fmla="*/ 0 h 430580"/>
              <a:gd name="connsiteX1" fmla="*/ 3960440 w 3960440"/>
              <a:gd name="connsiteY1" fmla="*/ 0 h 430580"/>
              <a:gd name="connsiteX2" fmla="*/ 3947561 w 3960440"/>
              <a:gd name="connsiteY2" fmla="*/ 430580 h 430580"/>
              <a:gd name="connsiteX3" fmla="*/ 0 w 3960440"/>
              <a:gd name="connsiteY3" fmla="*/ 430580 h 430580"/>
              <a:gd name="connsiteX4" fmla="*/ 0 w 3960440"/>
              <a:gd name="connsiteY4" fmla="*/ 0 h 430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0440" h="430580">
                <a:moveTo>
                  <a:pt x="0" y="0"/>
                </a:moveTo>
                <a:lnTo>
                  <a:pt x="3960440" y="0"/>
                </a:lnTo>
                <a:lnTo>
                  <a:pt x="3947561" y="430580"/>
                </a:lnTo>
                <a:lnTo>
                  <a:pt x="0" y="430580"/>
                </a:lnTo>
                <a:lnTo>
                  <a:pt x="0" y="0"/>
                </a:lnTo>
                <a:close/>
              </a:path>
            </a:pathLst>
          </a:custGeom>
          <a:noFill/>
          <a:ln>
            <a:solidFill>
              <a:schemeClr val="tx1"/>
            </a:solidFill>
          </a:ln>
        </p:spPr>
        <p:txBody>
          <a:bodyPr wrap="square" rtlCol="0">
            <a:spAutoFit/>
          </a:bodyPr>
          <a:lstStyle/>
          <a:p>
            <a:endParaRPr lang="en-GB" dirty="0"/>
          </a:p>
        </p:txBody>
      </p:sp>
      <p:cxnSp>
        <p:nvCxnSpPr>
          <p:cNvPr id="18" name="Straight Connector 17"/>
          <p:cNvCxnSpPr/>
          <p:nvPr/>
        </p:nvCxnSpPr>
        <p:spPr>
          <a:xfrm>
            <a:off x="7236296" y="3861048"/>
            <a:ext cx="0" cy="369332"/>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923928" y="4941168"/>
            <a:ext cx="5112568" cy="523220"/>
          </a:xfrm>
          <a:prstGeom prst="rect">
            <a:avLst/>
          </a:prstGeom>
          <a:noFill/>
        </p:spPr>
        <p:txBody>
          <a:bodyPr wrap="square" rtlCol="0">
            <a:spAutoFit/>
          </a:bodyPr>
          <a:lstStyle/>
          <a:p>
            <a:r>
              <a:rPr lang="en-GB" sz="1400" dirty="0"/>
              <a:t>wavelength       400        450        500        550        600        650        700</a:t>
            </a:r>
          </a:p>
          <a:p>
            <a:r>
              <a:rPr lang="en-GB" sz="1400" dirty="0"/>
              <a:t>In nm</a:t>
            </a:r>
          </a:p>
        </p:txBody>
      </p:sp>
      <p:cxnSp>
        <p:nvCxnSpPr>
          <p:cNvPr id="21" name="Straight Connector 20"/>
          <p:cNvCxnSpPr/>
          <p:nvPr/>
        </p:nvCxnSpPr>
        <p:spPr>
          <a:xfrm>
            <a:off x="5652120" y="4365104"/>
            <a:ext cx="0" cy="43058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5724128" y="4365104"/>
            <a:ext cx="0" cy="43058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6156176" y="4365104"/>
            <a:ext cx="0" cy="43058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a:off x="6516216" y="4365104"/>
            <a:ext cx="0" cy="43058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a:off x="6948264" y="4365104"/>
            <a:ext cx="0" cy="43058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7668344" y="4365104"/>
            <a:ext cx="0" cy="43058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499992" y="5464388"/>
            <a:ext cx="4536504" cy="1015663"/>
          </a:xfrm>
          <a:prstGeom prst="rect">
            <a:avLst/>
          </a:prstGeom>
          <a:noFill/>
        </p:spPr>
        <p:txBody>
          <a:bodyPr wrap="square" rtlCol="0">
            <a:spAutoFit/>
          </a:bodyPr>
          <a:lstStyle/>
          <a:p>
            <a:r>
              <a:rPr lang="en-GB" sz="2000" dirty="0"/>
              <a:t>Each metal has their own patterns of bands which allows them to be identified as being present in the solution.</a:t>
            </a:r>
          </a:p>
        </p:txBody>
      </p:sp>
    </p:spTree>
    <p:extLst>
      <p:ext uri="{BB962C8B-B14F-4D97-AF65-F5344CB8AC3E}">
        <p14:creationId xmlns:p14="http://schemas.microsoft.com/office/powerpoint/2010/main" val="36834618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708981"/>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2800" b="1" dirty="0">
                <a:solidFill>
                  <a:schemeClr val="tx1">
                    <a:lumMod val="50000"/>
                    <a:lumOff val="50000"/>
                  </a:schemeClr>
                </a:solidFill>
              </a:rPr>
              <a:t>Identification of ions by instrumental methods (Chemistry only)</a:t>
            </a:r>
          </a:p>
          <a:p>
            <a:pPr marL="285750" indent="-285750">
              <a:lnSpc>
                <a:spcPct val="150000"/>
              </a:lnSpc>
              <a:buFont typeface="Arial" panose="020B0604020202020204" pitchFamily="34" charset="0"/>
              <a:buChar char="•"/>
            </a:pPr>
            <a:r>
              <a:rPr lang="en-GB" sz="2400" b="1" dirty="0">
                <a:solidFill>
                  <a:schemeClr val="tx1">
                    <a:lumMod val="50000"/>
                    <a:lumOff val="50000"/>
                  </a:schemeClr>
                </a:solidFill>
              </a:rPr>
              <a:t>Instrumental methods</a:t>
            </a:r>
          </a:p>
          <a:p>
            <a:pPr marL="285750" indent="-285750">
              <a:lnSpc>
                <a:spcPct val="150000"/>
              </a:lnSpc>
              <a:buFont typeface="Arial" panose="020B0604020202020204" pitchFamily="34" charset="0"/>
              <a:buChar char="•"/>
            </a:pPr>
            <a:r>
              <a:rPr lang="en-GB" sz="2400" b="1" dirty="0">
                <a:solidFill>
                  <a:schemeClr val="tx1">
                    <a:lumMod val="50000"/>
                    <a:lumOff val="50000"/>
                  </a:schemeClr>
                </a:solidFill>
              </a:rPr>
              <a:t>Flame emission spectroscopy</a:t>
            </a: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23958360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lang="en-US" dirty="0">
                <a:solidFill>
                  <a:schemeClr val="accent6"/>
                </a:solidFill>
              </a:rPr>
              <a:t>Identification of ions by instrumental methods (Chemistry only)</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447371"/>
          </a:xfrm>
          <a:prstGeom prst="rect">
            <a:avLst/>
          </a:prstGeom>
          <a:noFill/>
        </p:spPr>
        <p:txBody>
          <a:bodyPr wrap="square" rtlCol="0">
            <a:spAutoFit/>
          </a:bodyPr>
          <a:lstStyle/>
          <a:p>
            <a:pPr>
              <a:lnSpc>
                <a:spcPct val="150000"/>
              </a:lnSpc>
            </a:pPr>
            <a:r>
              <a:rPr lang="en-GB" sz="2400" dirty="0"/>
              <a:t>1. Give three advantages of instrumental methods for detecting ions compared with chemical </a:t>
            </a:r>
            <a:r>
              <a:rPr lang="en-GB" sz="2400" dirty="0" smtClean="0"/>
              <a:t>methods.</a:t>
            </a:r>
            <a:endParaRPr lang="en-GB" sz="2400" dirty="0"/>
          </a:p>
          <a:p>
            <a:pPr>
              <a:lnSpc>
                <a:spcPct val="150000"/>
              </a:lnSpc>
            </a:pPr>
            <a:r>
              <a:rPr lang="en-GB" sz="2400" dirty="0">
                <a:solidFill>
                  <a:srgbClr val="00B050"/>
                </a:solidFill>
              </a:rPr>
              <a:t>	</a:t>
            </a:r>
          </a:p>
          <a:p>
            <a:pPr>
              <a:lnSpc>
                <a:spcPct val="150000"/>
              </a:lnSpc>
            </a:pPr>
            <a:r>
              <a:rPr lang="en-GB" sz="2400" dirty="0"/>
              <a:t>2. What is flame emission spectroscopy used for?</a:t>
            </a:r>
          </a:p>
          <a:p>
            <a:pPr>
              <a:lnSpc>
                <a:spcPct val="150000"/>
              </a:lnSpc>
            </a:pPr>
            <a:r>
              <a:rPr lang="en-GB" sz="2400" dirty="0">
                <a:solidFill>
                  <a:srgbClr val="00B050"/>
                </a:solidFill>
              </a:rPr>
              <a:t>	</a:t>
            </a:r>
          </a:p>
          <a:p>
            <a:pPr>
              <a:lnSpc>
                <a:spcPct val="150000"/>
              </a:lnSpc>
            </a:pPr>
            <a:r>
              <a:rPr lang="en-GB" sz="2400" dirty="0"/>
              <a:t>3. How is flame emission spectroscopy carried out?</a:t>
            </a:r>
          </a:p>
          <a:p>
            <a:r>
              <a:rPr lang="en-GB" sz="2400" dirty="0"/>
              <a:t>	</a:t>
            </a:r>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23873098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lang="en-US" dirty="0">
                <a:solidFill>
                  <a:schemeClr val="accent6"/>
                </a:solidFill>
              </a:rPr>
              <a:t>Identification of ions by instrumental methods (Chemistry only)</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1697068"/>
          </a:xfrm>
          <a:prstGeom prst="rect">
            <a:avLst/>
          </a:prstGeom>
          <a:noFill/>
        </p:spPr>
        <p:txBody>
          <a:bodyPr wrap="square" rtlCol="0">
            <a:spAutoFit/>
          </a:bodyPr>
          <a:lstStyle/>
          <a:p>
            <a:pPr>
              <a:lnSpc>
                <a:spcPct val="150000"/>
              </a:lnSpc>
            </a:pPr>
            <a:r>
              <a:rPr lang="en-GB" sz="2400" dirty="0"/>
              <a:t>4. Five different samples were analysed using flame emission spectroscopy, the results are shown below. Which two of the results show the same metal?</a:t>
            </a:r>
          </a:p>
        </p:txBody>
      </p:sp>
      <p:grpSp>
        <p:nvGrpSpPr>
          <p:cNvPr id="5" name="Group 4"/>
          <p:cNvGrpSpPr/>
          <p:nvPr/>
        </p:nvGrpSpPr>
        <p:grpSpPr>
          <a:xfrm>
            <a:off x="149087" y="2419933"/>
            <a:ext cx="8815401" cy="2953283"/>
            <a:chOff x="149087" y="2419933"/>
            <a:chExt cx="8815401" cy="2953283"/>
          </a:xfrm>
        </p:grpSpPr>
        <p:sp>
          <p:nvSpPr>
            <p:cNvPr id="3" name="TextBox 2"/>
            <p:cNvSpPr txBox="1"/>
            <p:nvPr/>
          </p:nvSpPr>
          <p:spPr>
            <a:xfrm>
              <a:off x="149087" y="2499592"/>
              <a:ext cx="8815401" cy="369332"/>
            </a:xfrm>
            <a:prstGeom prst="rect">
              <a:avLst/>
            </a:prstGeom>
            <a:noFill/>
          </p:spPr>
          <p:txBody>
            <a:bodyPr wrap="square" rtlCol="0">
              <a:spAutoFit/>
            </a:bodyPr>
            <a:lstStyle/>
            <a:p>
              <a:r>
                <a:rPr lang="en-GB" b="1" dirty="0"/>
                <a:t>A</a:t>
              </a:r>
              <a:r>
                <a:rPr lang="en-GB" dirty="0"/>
                <a:t> </a:t>
              </a:r>
            </a:p>
          </p:txBody>
        </p:sp>
        <p:sp>
          <p:nvSpPr>
            <p:cNvPr id="7" name="TextBox 6"/>
            <p:cNvSpPr txBox="1"/>
            <p:nvPr/>
          </p:nvSpPr>
          <p:spPr>
            <a:xfrm>
              <a:off x="149087" y="3068960"/>
              <a:ext cx="8815401" cy="369332"/>
            </a:xfrm>
            <a:prstGeom prst="rect">
              <a:avLst/>
            </a:prstGeom>
            <a:noFill/>
          </p:spPr>
          <p:txBody>
            <a:bodyPr wrap="square" rtlCol="0">
              <a:spAutoFit/>
            </a:bodyPr>
            <a:lstStyle/>
            <a:p>
              <a:r>
                <a:rPr lang="en-GB" b="1" dirty="0"/>
                <a:t>B</a:t>
              </a:r>
            </a:p>
          </p:txBody>
        </p:sp>
        <p:sp>
          <p:nvSpPr>
            <p:cNvPr id="8" name="TextBox 7"/>
            <p:cNvSpPr txBox="1"/>
            <p:nvPr/>
          </p:nvSpPr>
          <p:spPr>
            <a:xfrm>
              <a:off x="539552" y="3068960"/>
              <a:ext cx="3888432" cy="504056"/>
            </a:xfrm>
            <a:prstGeom prst="rect">
              <a:avLst/>
            </a:prstGeom>
            <a:noFill/>
            <a:ln>
              <a:solidFill>
                <a:schemeClr val="tx1"/>
              </a:solidFill>
            </a:ln>
          </p:spPr>
          <p:txBody>
            <a:bodyPr wrap="square" rtlCol="0">
              <a:spAutoFit/>
            </a:bodyPr>
            <a:lstStyle/>
            <a:p>
              <a:endParaRPr lang="en-GB" dirty="0"/>
            </a:p>
          </p:txBody>
        </p:sp>
        <p:sp>
          <p:nvSpPr>
            <p:cNvPr id="9" name="TextBox 8"/>
            <p:cNvSpPr txBox="1"/>
            <p:nvPr/>
          </p:nvSpPr>
          <p:spPr>
            <a:xfrm>
              <a:off x="539552" y="2420762"/>
              <a:ext cx="3888432" cy="552112"/>
            </a:xfrm>
            <a:custGeom>
              <a:avLst/>
              <a:gdLst>
                <a:gd name="connsiteX0" fmla="*/ 0 w 3888432"/>
                <a:gd name="connsiteY0" fmla="*/ 0 h 539232"/>
                <a:gd name="connsiteX1" fmla="*/ 3888432 w 3888432"/>
                <a:gd name="connsiteY1" fmla="*/ 0 h 539232"/>
                <a:gd name="connsiteX2" fmla="*/ 3888432 w 3888432"/>
                <a:gd name="connsiteY2" fmla="*/ 539232 h 539232"/>
                <a:gd name="connsiteX3" fmla="*/ 0 w 3888432"/>
                <a:gd name="connsiteY3" fmla="*/ 539232 h 539232"/>
                <a:gd name="connsiteX4" fmla="*/ 0 w 3888432"/>
                <a:gd name="connsiteY4" fmla="*/ 0 h 539232"/>
                <a:gd name="connsiteX0" fmla="*/ 0 w 3888432"/>
                <a:gd name="connsiteY0" fmla="*/ 0 h 577869"/>
                <a:gd name="connsiteX1" fmla="*/ 3888432 w 3888432"/>
                <a:gd name="connsiteY1" fmla="*/ 0 h 577869"/>
                <a:gd name="connsiteX2" fmla="*/ 3888432 w 3888432"/>
                <a:gd name="connsiteY2" fmla="*/ 539232 h 577869"/>
                <a:gd name="connsiteX3" fmla="*/ 12879 w 3888432"/>
                <a:gd name="connsiteY3" fmla="*/ 577869 h 577869"/>
                <a:gd name="connsiteX4" fmla="*/ 0 w 3888432"/>
                <a:gd name="connsiteY4" fmla="*/ 0 h 577869"/>
                <a:gd name="connsiteX0" fmla="*/ 0 w 3888432"/>
                <a:gd name="connsiteY0" fmla="*/ 0 h 590748"/>
                <a:gd name="connsiteX1" fmla="*/ 3888432 w 3888432"/>
                <a:gd name="connsiteY1" fmla="*/ 0 h 590748"/>
                <a:gd name="connsiteX2" fmla="*/ 3875554 w 3888432"/>
                <a:gd name="connsiteY2" fmla="*/ 590748 h 590748"/>
                <a:gd name="connsiteX3" fmla="*/ 12879 w 3888432"/>
                <a:gd name="connsiteY3" fmla="*/ 577869 h 590748"/>
                <a:gd name="connsiteX4" fmla="*/ 0 w 3888432"/>
                <a:gd name="connsiteY4" fmla="*/ 0 h 590748"/>
                <a:gd name="connsiteX0" fmla="*/ 0 w 3888432"/>
                <a:gd name="connsiteY0" fmla="*/ 0 h 577869"/>
                <a:gd name="connsiteX1" fmla="*/ 3888432 w 3888432"/>
                <a:gd name="connsiteY1" fmla="*/ 0 h 577869"/>
                <a:gd name="connsiteX2" fmla="*/ 3875554 w 3888432"/>
                <a:gd name="connsiteY2" fmla="*/ 577869 h 577869"/>
                <a:gd name="connsiteX3" fmla="*/ 12879 w 3888432"/>
                <a:gd name="connsiteY3" fmla="*/ 577869 h 577869"/>
                <a:gd name="connsiteX4" fmla="*/ 0 w 3888432"/>
                <a:gd name="connsiteY4" fmla="*/ 0 h 577869"/>
                <a:gd name="connsiteX0" fmla="*/ 0 w 3888432"/>
                <a:gd name="connsiteY0" fmla="*/ 0 h 577869"/>
                <a:gd name="connsiteX1" fmla="*/ 3888432 w 3888432"/>
                <a:gd name="connsiteY1" fmla="*/ 25757 h 577869"/>
                <a:gd name="connsiteX2" fmla="*/ 3875554 w 3888432"/>
                <a:gd name="connsiteY2" fmla="*/ 577869 h 577869"/>
                <a:gd name="connsiteX3" fmla="*/ 12879 w 3888432"/>
                <a:gd name="connsiteY3" fmla="*/ 577869 h 577869"/>
                <a:gd name="connsiteX4" fmla="*/ 0 w 3888432"/>
                <a:gd name="connsiteY4" fmla="*/ 0 h 577869"/>
                <a:gd name="connsiteX0" fmla="*/ 0 w 3888432"/>
                <a:gd name="connsiteY0" fmla="*/ 1 h 552112"/>
                <a:gd name="connsiteX1" fmla="*/ 3888432 w 3888432"/>
                <a:gd name="connsiteY1" fmla="*/ 0 h 552112"/>
                <a:gd name="connsiteX2" fmla="*/ 3875554 w 3888432"/>
                <a:gd name="connsiteY2" fmla="*/ 552112 h 552112"/>
                <a:gd name="connsiteX3" fmla="*/ 12879 w 3888432"/>
                <a:gd name="connsiteY3" fmla="*/ 552112 h 552112"/>
                <a:gd name="connsiteX4" fmla="*/ 0 w 3888432"/>
                <a:gd name="connsiteY4" fmla="*/ 1 h 552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8432" h="552112">
                  <a:moveTo>
                    <a:pt x="0" y="1"/>
                  </a:moveTo>
                  <a:lnTo>
                    <a:pt x="3888432" y="0"/>
                  </a:lnTo>
                  <a:lnTo>
                    <a:pt x="3875554" y="552112"/>
                  </a:lnTo>
                  <a:lnTo>
                    <a:pt x="12879" y="552112"/>
                  </a:lnTo>
                  <a:lnTo>
                    <a:pt x="0" y="1"/>
                  </a:lnTo>
                  <a:close/>
                </a:path>
              </a:pathLst>
            </a:custGeom>
            <a:noFill/>
            <a:ln>
              <a:solidFill>
                <a:schemeClr val="tx1"/>
              </a:solidFill>
            </a:ln>
          </p:spPr>
          <p:txBody>
            <a:bodyPr wrap="square" rtlCol="0">
              <a:spAutoFit/>
            </a:bodyPr>
            <a:lstStyle/>
            <a:p>
              <a:endParaRPr lang="en-GB" dirty="0"/>
            </a:p>
          </p:txBody>
        </p:sp>
        <p:sp>
          <p:nvSpPr>
            <p:cNvPr id="10" name="TextBox 9"/>
            <p:cNvSpPr txBox="1"/>
            <p:nvPr/>
          </p:nvSpPr>
          <p:spPr>
            <a:xfrm>
              <a:off x="149087" y="3717032"/>
              <a:ext cx="8527369" cy="369332"/>
            </a:xfrm>
            <a:prstGeom prst="rect">
              <a:avLst/>
            </a:prstGeom>
            <a:noFill/>
          </p:spPr>
          <p:txBody>
            <a:bodyPr wrap="square" rtlCol="0">
              <a:spAutoFit/>
            </a:bodyPr>
            <a:lstStyle/>
            <a:p>
              <a:r>
                <a:rPr lang="en-GB" b="1" dirty="0"/>
                <a:t>C</a:t>
              </a:r>
            </a:p>
          </p:txBody>
        </p:sp>
        <p:sp>
          <p:nvSpPr>
            <p:cNvPr id="11" name="TextBox 10"/>
            <p:cNvSpPr txBox="1"/>
            <p:nvPr/>
          </p:nvSpPr>
          <p:spPr>
            <a:xfrm>
              <a:off x="539552" y="3638328"/>
              <a:ext cx="3888432" cy="523861"/>
            </a:xfrm>
            <a:prstGeom prst="rect">
              <a:avLst/>
            </a:prstGeom>
            <a:noFill/>
            <a:ln>
              <a:solidFill>
                <a:schemeClr val="tx1"/>
              </a:solidFill>
            </a:ln>
          </p:spPr>
          <p:txBody>
            <a:bodyPr wrap="square" rtlCol="0">
              <a:spAutoFit/>
            </a:bodyPr>
            <a:lstStyle/>
            <a:p>
              <a:endParaRPr lang="en-GB" dirty="0"/>
            </a:p>
          </p:txBody>
        </p:sp>
        <p:sp>
          <p:nvSpPr>
            <p:cNvPr id="12" name="TextBox 11"/>
            <p:cNvSpPr txBox="1"/>
            <p:nvPr/>
          </p:nvSpPr>
          <p:spPr>
            <a:xfrm>
              <a:off x="149087" y="4293096"/>
              <a:ext cx="8815401" cy="369332"/>
            </a:xfrm>
            <a:prstGeom prst="rect">
              <a:avLst/>
            </a:prstGeom>
            <a:noFill/>
          </p:spPr>
          <p:txBody>
            <a:bodyPr wrap="square" rtlCol="0">
              <a:spAutoFit/>
            </a:bodyPr>
            <a:lstStyle/>
            <a:p>
              <a:r>
                <a:rPr lang="en-GB" b="1" dirty="0"/>
                <a:t>D</a:t>
              </a:r>
            </a:p>
          </p:txBody>
        </p:sp>
        <p:sp>
          <p:nvSpPr>
            <p:cNvPr id="13" name="TextBox 12"/>
            <p:cNvSpPr txBox="1"/>
            <p:nvPr/>
          </p:nvSpPr>
          <p:spPr>
            <a:xfrm>
              <a:off x="539552" y="4227501"/>
              <a:ext cx="3873219" cy="506106"/>
            </a:xfrm>
            <a:prstGeom prst="rect">
              <a:avLst/>
            </a:prstGeom>
            <a:noFill/>
            <a:ln>
              <a:solidFill>
                <a:schemeClr val="tx1"/>
              </a:solidFill>
            </a:ln>
          </p:spPr>
          <p:txBody>
            <a:bodyPr wrap="square" rtlCol="0">
              <a:spAutoFit/>
            </a:bodyPr>
            <a:lstStyle/>
            <a:p>
              <a:endParaRPr lang="en-GB" dirty="0"/>
            </a:p>
          </p:txBody>
        </p:sp>
        <p:sp>
          <p:nvSpPr>
            <p:cNvPr id="14" name="TextBox 13"/>
            <p:cNvSpPr txBox="1"/>
            <p:nvPr/>
          </p:nvSpPr>
          <p:spPr>
            <a:xfrm>
              <a:off x="149087" y="4869160"/>
              <a:ext cx="8815401" cy="369332"/>
            </a:xfrm>
            <a:prstGeom prst="rect">
              <a:avLst/>
            </a:prstGeom>
            <a:noFill/>
          </p:spPr>
          <p:txBody>
            <a:bodyPr wrap="square" rtlCol="0">
              <a:spAutoFit/>
            </a:bodyPr>
            <a:lstStyle/>
            <a:p>
              <a:r>
                <a:rPr lang="en-GB" b="1" dirty="0"/>
                <a:t>E</a:t>
              </a:r>
            </a:p>
          </p:txBody>
        </p:sp>
        <p:sp>
          <p:nvSpPr>
            <p:cNvPr id="15" name="TextBox 14"/>
            <p:cNvSpPr txBox="1"/>
            <p:nvPr/>
          </p:nvSpPr>
          <p:spPr>
            <a:xfrm>
              <a:off x="539552" y="4838195"/>
              <a:ext cx="3888432" cy="535021"/>
            </a:xfrm>
            <a:prstGeom prst="rect">
              <a:avLst/>
            </a:prstGeom>
            <a:noFill/>
            <a:ln>
              <a:solidFill>
                <a:schemeClr val="tx1"/>
              </a:solidFill>
            </a:ln>
          </p:spPr>
          <p:txBody>
            <a:bodyPr wrap="square" rtlCol="0">
              <a:spAutoFit/>
            </a:bodyPr>
            <a:lstStyle/>
            <a:p>
              <a:endParaRPr lang="en-GB" dirty="0"/>
            </a:p>
          </p:txBody>
        </p:sp>
        <p:cxnSp>
          <p:nvCxnSpPr>
            <p:cNvPr id="17" name="Straight Connector 16"/>
            <p:cNvCxnSpPr/>
            <p:nvPr/>
          </p:nvCxnSpPr>
          <p:spPr>
            <a:xfrm>
              <a:off x="1115616" y="2420762"/>
              <a:ext cx="0" cy="55211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1115616" y="4227501"/>
              <a:ext cx="0" cy="50693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2195736" y="2419933"/>
              <a:ext cx="0" cy="5529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2195736" y="4226672"/>
              <a:ext cx="0" cy="50776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a:off x="1115616" y="3066909"/>
              <a:ext cx="0" cy="4955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a:off x="3203848" y="3066080"/>
              <a:ext cx="0" cy="503119"/>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a:off x="1619672" y="3638328"/>
              <a:ext cx="0" cy="52386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3203848" y="3638328"/>
              <a:ext cx="0" cy="523861"/>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1619672" y="4837366"/>
              <a:ext cx="0" cy="53585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a:off x="1115616" y="4838195"/>
              <a:ext cx="0" cy="53502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38" name="TextBox 37"/>
          <p:cNvSpPr txBox="1"/>
          <p:nvPr/>
        </p:nvSpPr>
        <p:spPr>
          <a:xfrm>
            <a:off x="149087" y="5588411"/>
            <a:ext cx="8599377" cy="369332"/>
          </a:xfrm>
          <a:prstGeom prst="rect">
            <a:avLst/>
          </a:prstGeom>
          <a:noFill/>
        </p:spPr>
        <p:txBody>
          <a:bodyPr wrap="square" rtlCol="0">
            <a:spAutoFit/>
          </a:bodyPr>
          <a:lstStyle/>
          <a:p>
            <a:r>
              <a:rPr lang="en-GB" dirty="0"/>
              <a:t>	</a:t>
            </a:r>
            <a:endParaRPr lang="en-GB" b="1" i="1" dirty="0">
              <a:solidFill>
                <a:srgbClr val="00B050"/>
              </a:solidFill>
            </a:endParaRPr>
          </a:p>
        </p:txBody>
      </p:sp>
    </p:spTree>
    <p:extLst>
      <p:ext uri="{BB962C8B-B14F-4D97-AF65-F5344CB8AC3E}">
        <p14:creationId xmlns:p14="http://schemas.microsoft.com/office/powerpoint/2010/main" val="15576681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431983"/>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r>
              <a:rPr lang="en-GB" sz="2800" b="1" dirty="0">
                <a:solidFill>
                  <a:schemeClr val="tx1">
                    <a:lumMod val="50000"/>
                    <a:lumOff val="50000"/>
                  </a:schemeClr>
                </a:solidFill>
              </a:rPr>
              <a:t>Identification of ions by instrumental methods (Chemistry only)</a:t>
            </a:r>
          </a:p>
          <a:p>
            <a:pPr marL="285750" indent="-285750">
              <a:lnSpc>
                <a:spcPct val="150000"/>
              </a:lnSpc>
              <a:buFont typeface="Arial" panose="020B0604020202020204" pitchFamily="34" charset="0"/>
              <a:buChar char="•"/>
            </a:pPr>
            <a:r>
              <a:rPr lang="en-GB" sz="2400" b="1" dirty="0">
                <a:solidFill>
                  <a:schemeClr val="tx1">
                    <a:lumMod val="50000"/>
                    <a:lumOff val="50000"/>
                  </a:schemeClr>
                </a:solidFill>
              </a:rPr>
              <a:t>Instrumental methods</a:t>
            </a:r>
          </a:p>
          <a:p>
            <a:pPr marL="285750" indent="-285750">
              <a:lnSpc>
                <a:spcPct val="150000"/>
              </a:lnSpc>
              <a:buFont typeface="Arial" panose="020B0604020202020204" pitchFamily="34" charset="0"/>
              <a:buChar char="•"/>
            </a:pPr>
            <a:r>
              <a:rPr lang="en-GB" sz="2400" b="1" dirty="0">
                <a:solidFill>
                  <a:schemeClr val="tx1">
                    <a:lumMod val="50000"/>
                    <a:lumOff val="50000"/>
                  </a:schemeClr>
                </a:solidFill>
              </a:rPr>
              <a:t>Flame emission spectroscopy</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23505605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lang="en-US" dirty="0">
                <a:solidFill>
                  <a:schemeClr val="accent6"/>
                </a:solidFill>
              </a:rPr>
              <a:t>Identification of ions by instrumental methods (Chemistry only)</a:t>
            </a:r>
            <a:r>
              <a:rPr lang="en-US" b="1" kern="1200" dirty="0" err="1">
                <a:solidFill>
                  <a:schemeClr val="tx1"/>
                </a:solidFill>
                <a:latin typeface="Calibri"/>
                <a:ea typeface=""/>
                <a:cs typeface="News Gothic MT"/>
              </a:rPr>
              <a:t>AnswerIT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7402026"/>
          </a:xfrm>
          <a:prstGeom prst="rect">
            <a:avLst/>
          </a:prstGeom>
          <a:noFill/>
        </p:spPr>
        <p:txBody>
          <a:bodyPr wrap="square" rtlCol="0">
            <a:spAutoFit/>
          </a:bodyPr>
          <a:lstStyle/>
          <a:p>
            <a:pPr>
              <a:lnSpc>
                <a:spcPct val="150000"/>
              </a:lnSpc>
            </a:pPr>
            <a:r>
              <a:rPr lang="en-GB" sz="2400" dirty="0"/>
              <a:t>1. Give three advantages of instrumental methods for detecting ions compared with chemical </a:t>
            </a:r>
            <a:r>
              <a:rPr lang="en-GB" sz="2400" dirty="0" smtClean="0"/>
              <a:t>methods.</a:t>
            </a:r>
            <a:endParaRPr lang="en-GB" sz="2400" dirty="0"/>
          </a:p>
          <a:p>
            <a:pPr>
              <a:lnSpc>
                <a:spcPct val="150000"/>
              </a:lnSpc>
            </a:pPr>
            <a:r>
              <a:rPr lang="en-GB" sz="2400" dirty="0">
                <a:solidFill>
                  <a:srgbClr val="00B050"/>
                </a:solidFill>
              </a:rPr>
              <a:t>	</a:t>
            </a:r>
            <a:r>
              <a:rPr lang="en-GB" sz="2400" b="1" i="1" dirty="0">
                <a:solidFill>
                  <a:srgbClr val="00B050"/>
                </a:solidFill>
              </a:rPr>
              <a:t>accurate/sensitive/rapid</a:t>
            </a:r>
          </a:p>
          <a:p>
            <a:pPr>
              <a:lnSpc>
                <a:spcPct val="150000"/>
              </a:lnSpc>
            </a:pPr>
            <a:r>
              <a:rPr lang="en-GB" sz="2400" dirty="0"/>
              <a:t>2. What is flame emission spectroscopy used for?</a:t>
            </a:r>
          </a:p>
          <a:p>
            <a:pPr>
              <a:lnSpc>
                <a:spcPct val="150000"/>
              </a:lnSpc>
            </a:pPr>
            <a:r>
              <a:rPr lang="en-GB" sz="2400" dirty="0">
                <a:solidFill>
                  <a:srgbClr val="00B050"/>
                </a:solidFill>
              </a:rPr>
              <a:t>	</a:t>
            </a:r>
            <a:r>
              <a:rPr lang="en-GB" sz="2400" b="1" i="1" dirty="0">
                <a:solidFill>
                  <a:srgbClr val="00B050"/>
                </a:solidFill>
              </a:rPr>
              <a:t>To analyse metal ions in solution.</a:t>
            </a:r>
          </a:p>
          <a:p>
            <a:pPr>
              <a:lnSpc>
                <a:spcPct val="150000"/>
              </a:lnSpc>
            </a:pPr>
            <a:r>
              <a:rPr lang="en-GB" sz="2400" dirty="0"/>
              <a:t>3. How is flame emission spectroscopy carried out?.</a:t>
            </a:r>
          </a:p>
          <a:p>
            <a:r>
              <a:rPr lang="en-GB" sz="2400" dirty="0"/>
              <a:t>	</a:t>
            </a:r>
            <a:r>
              <a:rPr lang="en-GB" sz="2400" b="1" i="1" dirty="0">
                <a:solidFill>
                  <a:srgbClr val="00B050"/>
                </a:solidFill>
                <a:sym typeface="Wingdings" panose="05000000000000000000" pitchFamily="2" charset="2"/>
              </a:rPr>
              <a:t>Sample is put into a flame, light given out is passed through a 	spectroscope, line spectrum produced is analysed to identify 	metal ions</a:t>
            </a:r>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17750472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lang="en-US" dirty="0">
                <a:solidFill>
                  <a:schemeClr val="accent6"/>
                </a:solidFill>
              </a:rPr>
              <a:t>Identification of ions by instrumental methods (Chemistry only)</a:t>
            </a:r>
            <a:r>
              <a:rPr lang="en-US" b="1" kern="1200" dirty="0" err="1">
                <a:solidFill>
                  <a:schemeClr val="tx1"/>
                </a:solidFill>
                <a:latin typeface="Calibri"/>
                <a:ea typeface=""/>
                <a:cs typeface="News Gothic MT"/>
              </a:rPr>
              <a:t>AnswerIT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1697068"/>
          </a:xfrm>
          <a:prstGeom prst="rect">
            <a:avLst/>
          </a:prstGeom>
          <a:noFill/>
        </p:spPr>
        <p:txBody>
          <a:bodyPr wrap="square" rtlCol="0">
            <a:spAutoFit/>
          </a:bodyPr>
          <a:lstStyle/>
          <a:p>
            <a:pPr>
              <a:lnSpc>
                <a:spcPct val="150000"/>
              </a:lnSpc>
            </a:pPr>
            <a:r>
              <a:rPr lang="en-GB" sz="2400" dirty="0"/>
              <a:t>4. Five different samples were analysed using flame emission spectroscopy, the results are shown below. Which two of the results show the same metal?</a:t>
            </a:r>
          </a:p>
        </p:txBody>
      </p:sp>
      <p:sp>
        <p:nvSpPr>
          <p:cNvPr id="3" name="TextBox 2"/>
          <p:cNvSpPr txBox="1"/>
          <p:nvPr/>
        </p:nvSpPr>
        <p:spPr>
          <a:xfrm>
            <a:off x="149087" y="2499592"/>
            <a:ext cx="8815401" cy="369332"/>
          </a:xfrm>
          <a:prstGeom prst="rect">
            <a:avLst/>
          </a:prstGeom>
          <a:noFill/>
        </p:spPr>
        <p:txBody>
          <a:bodyPr wrap="square" rtlCol="0">
            <a:spAutoFit/>
          </a:bodyPr>
          <a:lstStyle/>
          <a:p>
            <a:r>
              <a:rPr lang="en-GB" b="1" dirty="0"/>
              <a:t>A</a:t>
            </a:r>
            <a:r>
              <a:rPr lang="en-GB" dirty="0"/>
              <a:t> </a:t>
            </a:r>
          </a:p>
        </p:txBody>
      </p:sp>
      <p:sp>
        <p:nvSpPr>
          <p:cNvPr id="7" name="TextBox 6"/>
          <p:cNvSpPr txBox="1"/>
          <p:nvPr/>
        </p:nvSpPr>
        <p:spPr>
          <a:xfrm>
            <a:off x="149087" y="3068960"/>
            <a:ext cx="8815401" cy="369332"/>
          </a:xfrm>
          <a:prstGeom prst="rect">
            <a:avLst/>
          </a:prstGeom>
          <a:noFill/>
        </p:spPr>
        <p:txBody>
          <a:bodyPr wrap="square" rtlCol="0">
            <a:spAutoFit/>
          </a:bodyPr>
          <a:lstStyle/>
          <a:p>
            <a:r>
              <a:rPr lang="en-GB" b="1" dirty="0"/>
              <a:t>B</a:t>
            </a:r>
          </a:p>
        </p:txBody>
      </p:sp>
      <p:sp>
        <p:nvSpPr>
          <p:cNvPr id="8" name="TextBox 7"/>
          <p:cNvSpPr txBox="1"/>
          <p:nvPr/>
        </p:nvSpPr>
        <p:spPr>
          <a:xfrm>
            <a:off x="539552" y="3068960"/>
            <a:ext cx="3888432" cy="504056"/>
          </a:xfrm>
          <a:prstGeom prst="rect">
            <a:avLst/>
          </a:prstGeom>
          <a:noFill/>
          <a:ln>
            <a:solidFill>
              <a:schemeClr val="tx1"/>
            </a:solidFill>
          </a:ln>
        </p:spPr>
        <p:txBody>
          <a:bodyPr wrap="square" rtlCol="0">
            <a:spAutoFit/>
          </a:bodyPr>
          <a:lstStyle/>
          <a:p>
            <a:endParaRPr lang="en-GB" dirty="0"/>
          </a:p>
        </p:txBody>
      </p:sp>
      <p:sp>
        <p:nvSpPr>
          <p:cNvPr id="9" name="TextBox 8"/>
          <p:cNvSpPr txBox="1"/>
          <p:nvPr/>
        </p:nvSpPr>
        <p:spPr>
          <a:xfrm>
            <a:off x="539552" y="2420762"/>
            <a:ext cx="3888432" cy="552112"/>
          </a:xfrm>
          <a:custGeom>
            <a:avLst/>
            <a:gdLst>
              <a:gd name="connsiteX0" fmla="*/ 0 w 3888432"/>
              <a:gd name="connsiteY0" fmla="*/ 0 h 539232"/>
              <a:gd name="connsiteX1" fmla="*/ 3888432 w 3888432"/>
              <a:gd name="connsiteY1" fmla="*/ 0 h 539232"/>
              <a:gd name="connsiteX2" fmla="*/ 3888432 w 3888432"/>
              <a:gd name="connsiteY2" fmla="*/ 539232 h 539232"/>
              <a:gd name="connsiteX3" fmla="*/ 0 w 3888432"/>
              <a:gd name="connsiteY3" fmla="*/ 539232 h 539232"/>
              <a:gd name="connsiteX4" fmla="*/ 0 w 3888432"/>
              <a:gd name="connsiteY4" fmla="*/ 0 h 539232"/>
              <a:gd name="connsiteX0" fmla="*/ 0 w 3888432"/>
              <a:gd name="connsiteY0" fmla="*/ 0 h 577869"/>
              <a:gd name="connsiteX1" fmla="*/ 3888432 w 3888432"/>
              <a:gd name="connsiteY1" fmla="*/ 0 h 577869"/>
              <a:gd name="connsiteX2" fmla="*/ 3888432 w 3888432"/>
              <a:gd name="connsiteY2" fmla="*/ 539232 h 577869"/>
              <a:gd name="connsiteX3" fmla="*/ 12879 w 3888432"/>
              <a:gd name="connsiteY3" fmla="*/ 577869 h 577869"/>
              <a:gd name="connsiteX4" fmla="*/ 0 w 3888432"/>
              <a:gd name="connsiteY4" fmla="*/ 0 h 577869"/>
              <a:gd name="connsiteX0" fmla="*/ 0 w 3888432"/>
              <a:gd name="connsiteY0" fmla="*/ 0 h 590748"/>
              <a:gd name="connsiteX1" fmla="*/ 3888432 w 3888432"/>
              <a:gd name="connsiteY1" fmla="*/ 0 h 590748"/>
              <a:gd name="connsiteX2" fmla="*/ 3875554 w 3888432"/>
              <a:gd name="connsiteY2" fmla="*/ 590748 h 590748"/>
              <a:gd name="connsiteX3" fmla="*/ 12879 w 3888432"/>
              <a:gd name="connsiteY3" fmla="*/ 577869 h 590748"/>
              <a:gd name="connsiteX4" fmla="*/ 0 w 3888432"/>
              <a:gd name="connsiteY4" fmla="*/ 0 h 590748"/>
              <a:gd name="connsiteX0" fmla="*/ 0 w 3888432"/>
              <a:gd name="connsiteY0" fmla="*/ 0 h 577869"/>
              <a:gd name="connsiteX1" fmla="*/ 3888432 w 3888432"/>
              <a:gd name="connsiteY1" fmla="*/ 0 h 577869"/>
              <a:gd name="connsiteX2" fmla="*/ 3875554 w 3888432"/>
              <a:gd name="connsiteY2" fmla="*/ 577869 h 577869"/>
              <a:gd name="connsiteX3" fmla="*/ 12879 w 3888432"/>
              <a:gd name="connsiteY3" fmla="*/ 577869 h 577869"/>
              <a:gd name="connsiteX4" fmla="*/ 0 w 3888432"/>
              <a:gd name="connsiteY4" fmla="*/ 0 h 577869"/>
              <a:gd name="connsiteX0" fmla="*/ 0 w 3888432"/>
              <a:gd name="connsiteY0" fmla="*/ 0 h 577869"/>
              <a:gd name="connsiteX1" fmla="*/ 3888432 w 3888432"/>
              <a:gd name="connsiteY1" fmla="*/ 25757 h 577869"/>
              <a:gd name="connsiteX2" fmla="*/ 3875554 w 3888432"/>
              <a:gd name="connsiteY2" fmla="*/ 577869 h 577869"/>
              <a:gd name="connsiteX3" fmla="*/ 12879 w 3888432"/>
              <a:gd name="connsiteY3" fmla="*/ 577869 h 577869"/>
              <a:gd name="connsiteX4" fmla="*/ 0 w 3888432"/>
              <a:gd name="connsiteY4" fmla="*/ 0 h 577869"/>
              <a:gd name="connsiteX0" fmla="*/ 0 w 3888432"/>
              <a:gd name="connsiteY0" fmla="*/ 1 h 552112"/>
              <a:gd name="connsiteX1" fmla="*/ 3888432 w 3888432"/>
              <a:gd name="connsiteY1" fmla="*/ 0 h 552112"/>
              <a:gd name="connsiteX2" fmla="*/ 3875554 w 3888432"/>
              <a:gd name="connsiteY2" fmla="*/ 552112 h 552112"/>
              <a:gd name="connsiteX3" fmla="*/ 12879 w 3888432"/>
              <a:gd name="connsiteY3" fmla="*/ 552112 h 552112"/>
              <a:gd name="connsiteX4" fmla="*/ 0 w 3888432"/>
              <a:gd name="connsiteY4" fmla="*/ 1 h 552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8432" h="552112">
                <a:moveTo>
                  <a:pt x="0" y="1"/>
                </a:moveTo>
                <a:lnTo>
                  <a:pt x="3888432" y="0"/>
                </a:lnTo>
                <a:lnTo>
                  <a:pt x="3875554" y="552112"/>
                </a:lnTo>
                <a:lnTo>
                  <a:pt x="12879" y="552112"/>
                </a:lnTo>
                <a:lnTo>
                  <a:pt x="0" y="1"/>
                </a:lnTo>
                <a:close/>
              </a:path>
            </a:pathLst>
          </a:custGeom>
          <a:noFill/>
          <a:ln>
            <a:solidFill>
              <a:schemeClr val="tx1"/>
            </a:solidFill>
          </a:ln>
        </p:spPr>
        <p:txBody>
          <a:bodyPr wrap="square" rtlCol="0">
            <a:spAutoFit/>
          </a:bodyPr>
          <a:lstStyle/>
          <a:p>
            <a:endParaRPr lang="en-GB" dirty="0"/>
          </a:p>
        </p:txBody>
      </p:sp>
      <p:sp>
        <p:nvSpPr>
          <p:cNvPr id="10" name="TextBox 9"/>
          <p:cNvSpPr txBox="1"/>
          <p:nvPr/>
        </p:nvSpPr>
        <p:spPr>
          <a:xfrm>
            <a:off x="149087" y="3717032"/>
            <a:ext cx="8527369" cy="369332"/>
          </a:xfrm>
          <a:prstGeom prst="rect">
            <a:avLst/>
          </a:prstGeom>
          <a:noFill/>
        </p:spPr>
        <p:txBody>
          <a:bodyPr wrap="square" rtlCol="0">
            <a:spAutoFit/>
          </a:bodyPr>
          <a:lstStyle/>
          <a:p>
            <a:r>
              <a:rPr lang="en-GB" b="1" dirty="0"/>
              <a:t>C</a:t>
            </a:r>
          </a:p>
        </p:txBody>
      </p:sp>
      <p:sp>
        <p:nvSpPr>
          <p:cNvPr id="11" name="TextBox 10"/>
          <p:cNvSpPr txBox="1"/>
          <p:nvPr/>
        </p:nvSpPr>
        <p:spPr>
          <a:xfrm>
            <a:off x="539552" y="3638328"/>
            <a:ext cx="3888432" cy="523861"/>
          </a:xfrm>
          <a:prstGeom prst="rect">
            <a:avLst/>
          </a:prstGeom>
          <a:noFill/>
          <a:ln>
            <a:solidFill>
              <a:schemeClr val="tx1"/>
            </a:solidFill>
          </a:ln>
        </p:spPr>
        <p:txBody>
          <a:bodyPr wrap="square" rtlCol="0">
            <a:spAutoFit/>
          </a:bodyPr>
          <a:lstStyle/>
          <a:p>
            <a:endParaRPr lang="en-GB" dirty="0"/>
          </a:p>
        </p:txBody>
      </p:sp>
      <p:sp>
        <p:nvSpPr>
          <p:cNvPr id="12" name="TextBox 11"/>
          <p:cNvSpPr txBox="1"/>
          <p:nvPr/>
        </p:nvSpPr>
        <p:spPr>
          <a:xfrm>
            <a:off x="149087" y="4293096"/>
            <a:ext cx="8815401" cy="369332"/>
          </a:xfrm>
          <a:prstGeom prst="rect">
            <a:avLst/>
          </a:prstGeom>
          <a:noFill/>
        </p:spPr>
        <p:txBody>
          <a:bodyPr wrap="square" rtlCol="0">
            <a:spAutoFit/>
          </a:bodyPr>
          <a:lstStyle/>
          <a:p>
            <a:r>
              <a:rPr lang="en-GB" b="1" dirty="0"/>
              <a:t>D</a:t>
            </a:r>
          </a:p>
        </p:txBody>
      </p:sp>
      <p:sp>
        <p:nvSpPr>
          <p:cNvPr id="13" name="TextBox 12"/>
          <p:cNvSpPr txBox="1"/>
          <p:nvPr/>
        </p:nvSpPr>
        <p:spPr>
          <a:xfrm>
            <a:off x="539552" y="4227501"/>
            <a:ext cx="3873219" cy="506106"/>
          </a:xfrm>
          <a:prstGeom prst="rect">
            <a:avLst/>
          </a:prstGeom>
          <a:noFill/>
          <a:ln>
            <a:solidFill>
              <a:schemeClr val="tx1"/>
            </a:solidFill>
          </a:ln>
        </p:spPr>
        <p:txBody>
          <a:bodyPr wrap="square" rtlCol="0">
            <a:spAutoFit/>
          </a:bodyPr>
          <a:lstStyle/>
          <a:p>
            <a:endParaRPr lang="en-GB" dirty="0"/>
          </a:p>
        </p:txBody>
      </p:sp>
      <p:sp>
        <p:nvSpPr>
          <p:cNvPr id="14" name="TextBox 13"/>
          <p:cNvSpPr txBox="1"/>
          <p:nvPr/>
        </p:nvSpPr>
        <p:spPr>
          <a:xfrm>
            <a:off x="149087" y="4869160"/>
            <a:ext cx="8815401" cy="369332"/>
          </a:xfrm>
          <a:prstGeom prst="rect">
            <a:avLst/>
          </a:prstGeom>
          <a:noFill/>
        </p:spPr>
        <p:txBody>
          <a:bodyPr wrap="square" rtlCol="0">
            <a:spAutoFit/>
          </a:bodyPr>
          <a:lstStyle/>
          <a:p>
            <a:r>
              <a:rPr lang="en-GB" b="1" dirty="0"/>
              <a:t>E</a:t>
            </a:r>
          </a:p>
        </p:txBody>
      </p:sp>
      <p:sp>
        <p:nvSpPr>
          <p:cNvPr id="15" name="TextBox 14"/>
          <p:cNvSpPr txBox="1"/>
          <p:nvPr/>
        </p:nvSpPr>
        <p:spPr>
          <a:xfrm>
            <a:off x="539552" y="4838195"/>
            <a:ext cx="3888432" cy="535021"/>
          </a:xfrm>
          <a:prstGeom prst="rect">
            <a:avLst/>
          </a:prstGeom>
          <a:noFill/>
          <a:ln>
            <a:solidFill>
              <a:schemeClr val="tx1"/>
            </a:solidFill>
          </a:ln>
        </p:spPr>
        <p:txBody>
          <a:bodyPr wrap="square" rtlCol="0">
            <a:spAutoFit/>
          </a:bodyPr>
          <a:lstStyle/>
          <a:p>
            <a:endParaRPr lang="en-GB" dirty="0"/>
          </a:p>
        </p:txBody>
      </p:sp>
      <p:cxnSp>
        <p:nvCxnSpPr>
          <p:cNvPr id="17" name="Straight Connector 16"/>
          <p:cNvCxnSpPr/>
          <p:nvPr/>
        </p:nvCxnSpPr>
        <p:spPr>
          <a:xfrm>
            <a:off x="1115616" y="2420762"/>
            <a:ext cx="0" cy="55211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1115616" y="4227501"/>
            <a:ext cx="0" cy="50693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2195736" y="2419933"/>
            <a:ext cx="0" cy="5529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2195736" y="4226672"/>
            <a:ext cx="0" cy="50776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a:off x="1115616" y="3066909"/>
            <a:ext cx="0" cy="4955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a:off x="3203848" y="3066080"/>
            <a:ext cx="0" cy="503119"/>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a:off x="1619672" y="3638328"/>
            <a:ext cx="0" cy="52386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3203848" y="3638328"/>
            <a:ext cx="0" cy="523861"/>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1619672" y="4837366"/>
            <a:ext cx="0" cy="53585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a:off x="1115616" y="4838195"/>
            <a:ext cx="0" cy="53502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49087" y="5517232"/>
            <a:ext cx="8599377" cy="369332"/>
          </a:xfrm>
          <a:prstGeom prst="rect">
            <a:avLst/>
          </a:prstGeom>
          <a:noFill/>
        </p:spPr>
        <p:txBody>
          <a:bodyPr wrap="square" rtlCol="0">
            <a:spAutoFit/>
          </a:bodyPr>
          <a:lstStyle/>
          <a:p>
            <a:r>
              <a:rPr lang="en-GB" dirty="0"/>
              <a:t>	</a:t>
            </a:r>
            <a:r>
              <a:rPr lang="en-GB" b="1" i="1" dirty="0">
                <a:solidFill>
                  <a:srgbClr val="00B050"/>
                </a:solidFill>
              </a:rPr>
              <a:t>A and D</a:t>
            </a:r>
          </a:p>
        </p:txBody>
      </p:sp>
    </p:spTree>
    <p:extLst>
      <p:ext uri="{BB962C8B-B14F-4D97-AF65-F5344CB8AC3E}">
        <p14:creationId xmlns:p14="http://schemas.microsoft.com/office/powerpoint/2010/main" val="12421219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4489A17B-A778-43E8-8CAD-39AF0ABD1C3C}" vid="{5B90DF28-B678-4AF8-820C-D210C98786D7}"/>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IXL Sci">
  <a:themeElements>
    <a:clrScheme name="Custom 1">
      <a:dk1>
        <a:sysClr val="windowText" lastClr="000000"/>
      </a:dk1>
      <a:lt1>
        <a:sysClr val="window" lastClr="FFFFFF"/>
      </a:lt1>
      <a:dk2>
        <a:srgbClr val="1F497D"/>
      </a:dk2>
      <a:lt2>
        <a:srgbClr val="EEECE1"/>
      </a:lt2>
      <a:accent1>
        <a:srgbClr val="4F81BD"/>
      </a:accent1>
      <a:accent2>
        <a:srgbClr val="FF9900"/>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IXL Sci" id="{2CFE4A30-D880-BA4E-B779-8E17F61ECAC9}" vid="{3D4DF9ED-AD7F-6943-859C-106C4E33968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17560</TotalTime>
  <Words>5401</Words>
  <Application>Microsoft Macintosh PowerPoint</Application>
  <PresentationFormat>On-screen Show (4:3)</PresentationFormat>
  <Paragraphs>503</Paragraphs>
  <Slides>47</Slides>
  <Notes>23</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47</vt:i4>
      </vt:variant>
    </vt:vector>
  </HeadingPairs>
  <TitlesOfParts>
    <vt:vector size="60" baseType="lpstr">
      <vt:lpstr>Beirut</vt:lpstr>
      <vt:lpstr>Calibri</vt:lpstr>
      <vt:lpstr>Calibri Light</vt:lpstr>
      <vt:lpstr>Cambria Math</vt:lpstr>
      <vt:lpstr>Gill Sans</vt:lpstr>
      <vt:lpstr>Lato Medium</vt:lpstr>
      <vt:lpstr>News Gothic MT</vt:lpstr>
      <vt:lpstr>Times New Roman</vt:lpstr>
      <vt:lpstr>Wingdings</vt:lpstr>
      <vt:lpstr>Arial</vt:lpstr>
      <vt:lpstr>1_Office Theme</vt:lpstr>
      <vt:lpstr>Custom Design</vt:lpstr>
      <vt:lpstr>PIXL Sci</vt:lpstr>
      <vt:lpstr>PowerPoint Presentation</vt:lpstr>
      <vt:lpstr>Overview   Chemical Analysis</vt:lpstr>
      <vt:lpstr>PowerPoint Presentation</vt:lpstr>
      <vt:lpstr>Pure substances and Formulations</vt:lpstr>
      <vt:lpstr>Chromatography</vt:lpstr>
      <vt:lpstr>PowerPoint Presentation</vt:lpstr>
      <vt:lpstr>Purity, Formulations and Chromatography – QuestionIT</vt:lpstr>
      <vt:lpstr>Purity, Formulations and Chromatography – QuestionIT</vt:lpstr>
      <vt:lpstr>PowerPoint Presentation</vt:lpstr>
      <vt:lpstr>Purity, Formulations and Chromatography – QuestionIT</vt:lpstr>
      <vt:lpstr>Purity, Formulations and Chromatography – QuestionIT</vt:lpstr>
      <vt:lpstr>PowerPoint Presentation</vt:lpstr>
      <vt:lpstr>Identification of common gases</vt:lpstr>
      <vt:lpstr>Identification of common gases</vt:lpstr>
      <vt:lpstr>PowerPoint Presentation</vt:lpstr>
      <vt:lpstr>Identification of common gases – QuestionIT</vt:lpstr>
      <vt:lpstr>PowerPoint Presentation</vt:lpstr>
      <vt:lpstr>Identification of common gases – QuestionIT</vt:lpstr>
      <vt:lpstr>PowerPoint Presentation</vt:lpstr>
      <vt:lpstr>Identification of ions by chemical means Part 1 (Chemistry only)</vt:lpstr>
      <vt:lpstr>Identification of ions by chemical means Part 1(Chemistry only)</vt:lpstr>
      <vt:lpstr>Identification of ions by chemical means Part 1 (Chemistry only)</vt:lpstr>
      <vt:lpstr>PowerPoint Presentation</vt:lpstr>
      <vt:lpstr>Identification of ions by chemical means Part 1 (Chemistry only)– QuestionIT</vt:lpstr>
      <vt:lpstr>Identification of ions by chemical means Part 1 (Chemistry only)– QuestionIT</vt:lpstr>
      <vt:lpstr>Identification of ions by chemical means Part 1 (Chemistry only)– QuestionIT</vt:lpstr>
      <vt:lpstr>PowerPoint Presentation</vt:lpstr>
      <vt:lpstr>Identification of ions by chemical means Part 1 (Chemistry only)– QuestionIT</vt:lpstr>
      <vt:lpstr>Identification of ions by chemical means Part 1 (Chemistry only)– QuestionIT</vt:lpstr>
      <vt:lpstr>Identification of ions by chemical means Part 1 (Chemistry only)– QuestionIT</vt:lpstr>
      <vt:lpstr>PowerPoint Presentation</vt:lpstr>
      <vt:lpstr>Identification of ions by chemical means Part 2 (Chemistry only)</vt:lpstr>
      <vt:lpstr>Identification of ions by chemical means Part 2 (Chemistry only)</vt:lpstr>
      <vt:lpstr>PowerPoint Presentation</vt:lpstr>
      <vt:lpstr>Identification of ions by chemical means Part 2 (Chemistry only)QuestionIT</vt:lpstr>
      <vt:lpstr>Identification of ions by chemical means Part 2 (Chemistry only)QuestionIT</vt:lpstr>
      <vt:lpstr>PowerPoint Presentation</vt:lpstr>
      <vt:lpstr>Identification of ions by chemical means Part 2 (Chemistry only)QuestionIT</vt:lpstr>
      <vt:lpstr>Identification of ions by chemical means Part 2 (Chemistry only)QuestionIT</vt:lpstr>
      <vt:lpstr>PowerPoint Presentation</vt:lpstr>
      <vt:lpstr>Identification of ions by instrumental methods (Chemistry only)</vt:lpstr>
      <vt:lpstr>PowerPoint Presentation</vt:lpstr>
      <vt:lpstr>Identification of ions by instrumental methods (Chemistry only)QuestionIT</vt:lpstr>
      <vt:lpstr>Identification of ions by instrumental methods (Chemistry only)QuestionIT</vt:lpstr>
      <vt:lpstr>PowerPoint Presentation</vt:lpstr>
      <vt:lpstr>Identification of ions by instrumental methods (Chemistry only)AnswerIT</vt:lpstr>
      <vt:lpstr>Identification of ions by instrumental methods (Chemistry only)AnswerIT</vt:lpstr>
    </vt:vector>
  </TitlesOfParts>
  <LinksUpToDate>false</LinksUpToDate>
  <SharedDoc>false</SharedDoc>
  <HyperlinksChanged>false</HyperlinksChanged>
  <AppVersion>15.0036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zarina shaffi</dc:creator>
  <cp:lastModifiedBy>Karen Collins</cp:lastModifiedBy>
  <cp:revision>511</cp:revision>
  <cp:lastPrinted>2017-05-23T14:15:43Z</cp:lastPrinted>
  <dcterms:created xsi:type="dcterms:W3CDTF">2016-03-05T09:38:04Z</dcterms:created>
  <dcterms:modified xsi:type="dcterms:W3CDTF">2018-04-30T09:34:28Z</dcterms:modified>
</cp:coreProperties>
</file>