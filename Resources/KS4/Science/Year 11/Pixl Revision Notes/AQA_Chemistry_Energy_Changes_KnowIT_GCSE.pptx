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48"/>
  </p:notesMasterIdLst>
  <p:sldIdLst>
    <p:sldId id="256" r:id="rId4"/>
    <p:sldId id="281" r:id="rId5"/>
    <p:sldId id="314" r:id="rId6"/>
    <p:sldId id="282" r:id="rId7"/>
    <p:sldId id="283" r:id="rId8"/>
    <p:sldId id="342" r:id="rId9"/>
    <p:sldId id="315" r:id="rId10"/>
    <p:sldId id="310" r:id="rId11"/>
    <p:sldId id="330" r:id="rId12"/>
    <p:sldId id="343" r:id="rId13"/>
    <p:sldId id="344" r:id="rId14"/>
    <p:sldId id="313" r:id="rId15"/>
    <p:sldId id="312" r:id="rId16"/>
    <p:sldId id="296" r:id="rId17"/>
    <p:sldId id="285" r:id="rId18"/>
    <p:sldId id="345" r:id="rId19"/>
    <p:sldId id="346" r:id="rId20"/>
    <p:sldId id="316" r:id="rId21"/>
    <p:sldId id="307" r:id="rId22"/>
    <p:sldId id="347" r:id="rId23"/>
    <p:sldId id="334" r:id="rId24"/>
    <p:sldId id="348" r:id="rId25"/>
    <p:sldId id="349" r:id="rId26"/>
    <p:sldId id="317" r:id="rId27"/>
    <p:sldId id="286" r:id="rId28"/>
    <p:sldId id="300" r:id="rId29"/>
    <p:sldId id="320" r:id="rId30"/>
    <p:sldId id="321" r:id="rId31"/>
    <p:sldId id="362" r:id="rId32"/>
    <p:sldId id="318" r:id="rId33"/>
    <p:sldId id="350" r:id="rId34"/>
    <p:sldId id="322" r:id="rId35"/>
    <p:sldId id="335" r:id="rId36"/>
    <p:sldId id="351" r:id="rId37"/>
    <p:sldId id="363" r:id="rId38"/>
    <p:sldId id="353" r:id="rId39"/>
    <p:sldId id="354" r:id="rId40"/>
    <p:sldId id="355" r:id="rId41"/>
    <p:sldId id="358" r:id="rId42"/>
    <p:sldId id="359" r:id="rId43"/>
    <p:sldId id="360" r:id="rId44"/>
    <p:sldId id="356" r:id="rId45"/>
    <p:sldId id="361" r:id="rId46"/>
    <p:sldId id="357"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3" name="Karen Collins" initials="KC [43]" lastIdx="1" clrIdx="42">
    <p:extLst/>
  </p:cmAuthor>
  <p:cmAuthor id="1" name="Karen Collins" initials="KC" lastIdx="1" clrIdx="0">
    <p:extLst/>
  </p:cmAuthor>
  <p:cmAuthor id="44" name="Karen Collins" initials="KC [44]" lastIdx="1" clrIdx="43">
    <p:extLst/>
  </p:cmAuthor>
  <p:cmAuthor id="2" name="Karen Collins" initials="KC [2]" lastIdx="1" clrIdx="1">
    <p:extLst/>
  </p:cmAuthor>
  <p:cmAuthor id="45" name="Karen Collins" initials="KC [45]" lastIdx="1" clrIdx="44">
    <p:extLst/>
  </p:cmAuthor>
  <p:cmAuthor id="3" name="Karen Collins" initials="KC [3]" lastIdx="1" clrIdx="2">
    <p:extLst/>
  </p:cmAuthor>
  <p:cmAuthor id="46" name="Mark Simpkins" initials="MS" lastIdx="36" clrIdx="45">
    <p:extLst>
      <p:ext uri="{19B8F6BF-5375-455C-9EA6-DF929625EA0E}">
        <p15:presenceInfo xmlns:p15="http://schemas.microsoft.com/office/powerpoint/2012/main" userId="S-1-5-21-938404072-1861764119-582892889-4477" providerId="AD"/>
      </p:ext>
    </p:extLst>
  </p:cmAuthor>
  <p:cmAuthor id="4" name="Karen Collins" initials="KC [4]" lastIdx="1" clrIdx="3">
    <p:extLst/>
  </p:cmAuthor>
  <p:cmAuthor id="47" name="Vicki Pugh" initials="VP" lastIdx="7" clrIdx="46">
    <p:extLst>
      <p:ext uri="{19B8F6BF-5375-455C-9EA6-DF929625EA0E}">
        <p15:presenceInfo xmlns:p15="http://schemas.microsoft.com/office/powerpoint/2012/main" userId="fb86ba5f6b825535" providerId="Windows Live"/>
      </p:ext>
    </p:extLst>
  </p:cmAuthor>
  <p:cmAuthor id="5" name="Karen Collins" initials="KC [5]" lastIdx="1" clrIdx="4">
    <p:extLst/>
  </p:cmAuthor>
  <p:cmAuthor id="6" name="Karen Collins" initials="KC [6]" lastIdx="1" clrIdx="5">
    <p:extLst/>
  </p:cmAuthor>
  <p:cmAuthor id="7" name="Karen Collins" initials="KC [7]" lastIdx="1" clrIdx="6">
    <p:extLst/>
  </p:cmAuthor>
  <p:cmAuthor id="8" name="Karen Collins" initials="KC [8]" lastIdx="1" clrIdx="7">
    <p:extLst/>
  </p:cmAuthor>
  <p:cmAuthor id="9" name="Karen Collins" initials="KC [9]" lastIdx="1" clrIdx="8">
    <p:extLst/>
  </p:cmAuthor>
  <p:cmAuthor id="10" name="Karen Collins" initials="KC [10]" lastIdx="1" clrIdx="9">
    <p:extLst/>
  </p:cmAuthor>
  <p:cmAuthor id="11" name="Karen Collins" initials="KC [11]" lastIdx="1" clrIdx="10">
    <p:extLst/>
  </p:cmAuthor>
  <p:cmAuthor id="12" name="Karen Collins" initials="KC [12]" lastIdx="1" clrIdx="11">
    <p:extLst/>
  </p:cmAuthor>
  <p:cmAuthor id="13" name="Karen Collins" initials="KC [13]" lastIdx="1" clrIdx="12">
    <p:extLst/>
  </p:cmAuthor>
  <p:cmAuthor id="14" name="Karen Collins" initials="KC [14]" lastIdx="1" clrIdx="13">
    <p:extLst/>
  </p:cmAuthor>
  <p:cmAuthor id="15" name="Karen Collins" initials="KC [15]" lastIdx="1" clrIdx="14">
    <p:extLst/>
  </p:cmAuthor>
  <p:cmAuthor id="16" name="Karen Collins" initials="KC [16]" lastIdx="1" clrIdx="15">
    <p:extLst/>
  </p:cmAuthor>
  <p:cmAuthor id="17" name="Karen Collins" initials="KC [17]" lastIdx="1" clrIdx="16">
    <p:extLst/>
  </p:cmAuthor>
  <p:cmAuthor id="18" name="Karen Collins" initials="KC [18]" lastIdx="1" clrIdx="17">
    <p:extLst/>
  </p:cmAuthor>
  <p:cmAuthor id="19" name="Karen Collins" initials="KC [19]" lastIdx="1" clrIdx="18">
    <p:extLst/>
  </p:cmAuthor>
  <p:cmAuthor id="20" name="Karen Collins" initials="KC [20]" lastIdx="1" clrIdx="19">
    <p:extLst/>
  </p:cmAuthor>
  <p:cmAuthor id="21" name="Karen Collins" initials="KC [21]" lastIdx="1" clrIdx="20">
    <p:extLst/>
  </p:cmAuthor>
  <p:cmAuthor id="22" name="Karen Collins" initials="KC [22]" lastIdx="1" clrIdx="21">
    <p:extLst/>
  </p:cmAuthor>
  <p:cmAuthor id="23" name="Karen Collins" initials="KC [23]" lastIdx="1" clrIdx="22">
    <p:extLst/>
  </p:cmAuthor>
  <p:cmAuthor id="24" name="Karen Collins" initials="KC [24]" lastIdx="1" clrIdx="23">
    <p:extLst/>
  </p:cmAuthor>
  <p:cmAuthor id="25" name="Karen Collins" initials="KC [25]" lastIdx="1" clrIdx="24">
    <p:extLst/>
  </p:cmAuthor>
  <p:cmAuthor id="26" name="Karen Collins" initials="KC [26]" lastIdx="1" clrIdx="25">
    <p:extLst/>
  </p:cmAuthor>
  <p:cmAuthor id="27" name="Karen Collins" initials="KC [27]" lastIdx="1" clrIdx="26">
    <p:extLst/>
  </p:cmAuthor>
  <p:cmAuthor id="28" name="Karen Collins" initials="KC [28]" lastIdx="1" clrIdx="27">
    <p:extLst/>
  </p:cmAuthor>
  <p:cmAuthor id="29" name="Karen Collins" initials="KC [29]" lastIdx="1" clrIdx="28">
    <p:extLst/>
  </p:cmAuthor>
  <p:cmAuthor id="30" name="Karen Collins" initials="KC [30]" lastIdx="1" clrIdx="29">
    <p:extLst/>
  </p:cmAuthor>
  <p:cmAuthor id="31" name="Karen Collins" initials="KC [31]" lastIdx="1" clrIdx="30">
    <p:extLst/>
  </p:cmAuthor>
  <p:cmAuthor id="32" name="Karen Collins" initials="KC [32]" lastIdx="1" clrIdx="31">
    <p:extLst/>
  </p:cmAuthor>
  <p:cmAuthor id="33" name="Karen Collins" initials="KC [33]" lastIdx="1" clrIdx="32">
    <p:extLst/>
  </p:cmAuthor>
  <p:cmAuthor id="34" name="Karen Collins" initials="KC [34]" lastIdx="1" clrIdx="33">
    <p:extLst/>
  </p:cmAuthor>
  <p:cmAuthor id="35" name="Karen Collins" initials="KC [35]" lastIdx="1" clrIdx="34">
    <p:extLst/>
  </p:cmAuthor>
  <p:cmAuthor id="36" name="Karen Collins" initials="KC [36]" lastIdx="1" clrIdx="35">
    <p:extLst/>
  </p:cmAuthor>
  <p:cmAuthor id="37" name="Karen Collins" initials="KC [37]" lastIdx="1" clrIdx="36">
    <p:extLst/>
  </p:cmAuthor>
  <p:cmAuthor id="38" name="Karen Collins" initials="KC [38]" lastIdx="1" clrIdx="37">
    <p:extLst/>
  </p:cmAuthor>
  <p:cmAuthor id="39" name="Karen Collins" initials="KC [39]" lastIdx="1" clrIdx="38">
    <p:extLst/>
  </p:cmAuthor>
  <p:cmAuthor id="40" name="Karen Collins" initials="KC [40]" lastIdx="1" clrIdx="39">
    <p:extLst/>
  </p:cmAuthor>
  <p:cmAuthor id="41" name="Karen Collins" initials="KC [41]" lastIdx="1" clrIdx="40">
    <p:extLst/>
  </p:cmAuthor>
  <p:cmAuthor id="42" name="Karen Collins" initials="KC [42]" lastIdx="1" clrIdx="4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61" autoAdjust="0"/>
    <p:restoredTop sz="83654" autoAdjust="0"/>
  </p:normalViewPr>
  <p:slideViewPr>
    <p:cSldViewPr>
      <p:cViewPr varScale="1">
        <p:scale>
          <a:sx n="54" d="100"/>
          <a:sy n="54" d="100"/>
        </p:scale>
        <p:origin x="72" y="136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10/18/2017</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dirty="0"/>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a:t>
            </a:fld>
            <a:endParaRPr lang="en-US" dirty="0"/>
          </a:p>
        </p:txBody>
      </p:sp>
    </p:spTree>
    <p:extLst>
      <p:ext uri="{BB962C8B-B14F-4D97-AF65-F5344CB8AC3E}">
        <p14:creationId xmlns:p14="http://schemas.microsoft.com/office/powerpoint/2010/main" val="203579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dirty="0"/>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dirty="0"/>
          </a:p>
        </p:txBody>
      </p:sp>
    </p:spTree>
    <p:extLst>
      <p:ext uri="{BB962C8B-B14F-4D97-AF65-F5344CB8AC3E}">
        <p14:creationId xmlns:p14="http://schemas.microsoft.com/office/powerpoint/2010/main" val="102249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dirty="0"/>
          </a:p>
        </p:txBody>
      </p:sp>
    </p:spTree>
    <p:extLst>
      <p:ext uri="{BB962C8B-B14F-4D97-AF65-F5344CB8AC3E}">
        <p14:creationId xmlns:p14="http://schemas.microsoft.com/office/powerpoint/2010/main" val="348567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a:t>
            </a:fld>
            <a:endParaRPr lang="en-US" dirty="0"/>
          </a:p>
        </p:txBody>
      </p:sp>
    </p:spTree>
    <p:extLst>
      <p:ext uri="{BB962C8B-B14F-4D97-AF65-F5344CB8AC3E}">
        <p14:creationId xmlns:p14="http://schemas.microsoft.com/office/powerpoint/2010/main" val="1435805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dirty="0"/>
          </a:p>
        </p:txBody>
      </p:sp>
    </p:spTree>
    <p:extLst>
      <p:ext uri="{BB962C8B-B14F-4D97-AF65-F5344CB8AC3E}">
        <p14:creationId xmlns:p14="http://schemas.microsoft.com/office/powerpoint/2010/main" val="1559025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dirty="0"/>
          </a:p>
        </p:txBody>
      </p:sp>
    </p:spTree>
    <p:extLst>
      <p:ext uri="{BB962C8B-B14F-4D97-AF65-F5344CB8AC3E}">
        <p14:creationId xmlns:p14="http://schemas.microsoft.com/office/powerpoint/2010/main" val="1146940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dirty="0"/>
          </a:p>
        </p:txBody>
      </p:sp>
    </p:spTree>
    <p:extLst>
      <p:ext uri="{BB962C8B-B14F-4D97-AF65-F5344CB8AC3E}">
        <p14:creationId xmlns:p14="http://schemas.microsoft.com/office/powerpoint/2010/main" val="1727341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dirty="0"/>
          </a:p>
        </p:txBody>
      </p:sp>
    </p:spTree>
    <p:extLst>
      <p:ext uri="{BB962C8B-B14F-4D97-AF65-F5344CB8AC3E}">
        <p14:creationId xmlns:p14="http://schemas.microsoft.com/office/powerpoint/2010/main" val="1777967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24</a:t>
            </a:fld>
            <a:endParaRPr lang="en-US" dirty="0"/>
          </a:p>
        </p:txBody>
      </p:sp>
    </p:spTree>
    <p:extLst>
      <p:ext uri="{BB962C8B-B14F-4D97-AF65-F5344CB8AC3E}">
        <p14:creationId xmlns:p14="http://schemas.microsoft.com/office/powerpoint/2010/main" val="1239046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25</a:t>
            </a:fld>
            <a:endParaRPr lang="en-US" dirty="0"/>
          </a:p>
        </p:txBody>
      </p:sp>
    </p:spTree>
    <p:extLst>
      <p:ext uri="{BB962C8B-B14F-4D97-AF65-F5344CB8AC3E}">
        <p14:creationId xmlns:p14="http://schemas.microsoft.com/office/powerpoint/2010/main" val="1520338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26</a:t>
            </a:fld>
            <a:endParaRPr lang="en-US" dirty="0"/>
          </a:p>
        </p:txBody>
      </p:sp>
    </p:spTree>
    <p:extLst>
      <p:ext uri="{BB962C8B-B14F-4D97-AF65-F5344CB8AC3E}">
        <p14:creationId xmlns:p14="http://schemas.microsoft.com/office/powerpoint/2010/main" val="670696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27</a:t>
            </a:fld>
            <a:endParaRPr lang="en-US" dirty="0"/>
          </a:p>
        </p:txBody>
      </p:sp>
    </p:spTree>
    <p:extLst>
      <p:ext uri="{BB962C8B-B14F-4D97-AF65-F5344CB8AC3E}">
        <p14:creationId xmlns:p14="http://schemas.microsoft.com/office/powerpoint/2010/main" val="341510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dirty="0"/>
          </a:p>
        </p:txBody>
      </p:sp>
    </p:spTree>
    <p:extLst>
      <p:ext uri="{BB962C8B-B14F-4D97-AF65-F5344CB8AC3E}">
        <p14:creationId xmlns:p14="http://schemas.microsoft.com/office/powerpoint/2010/main" val="9178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29</a:t>
            </a:fld>
            <a:endParaRPr lang="en-US" dirty="0"/>
          </a:p>
        </p:txBody>
      </p:sp>
    </p:spTree>
    <p:extLst>
      <p:ext uri="{BB962C8B-B14F-4D97-AF65-F5344CB8AC3E}">
        <p14:creationId xmlns:p14="http://schemas.microsoft.com/office/powerpoint/2010/main" val="13137874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dirty="0"/>
          </a:p>
        </p:txBody>
      </p:sp>
    </p:spTree>
    <p:extLst>
      <p:ext uri="{BB962C8B-B14F-4D97-AF65-F5344CB8AC3E}">
        <p14:creationId xmlns:p14="http://schemas.microsoft.com/office/powerpoint/2010/main" val="1110383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dirty="0"/>
          </a:p>
        </p:txBody>
      </p:sp>
    </p:spTree>
    <p:extLst>
      <p:ext uri="{BB962C8B-B14F-4D97-AF65-F5344CB8AC3E}">
        <p14:creationId xmlns:p14="http://schemas.microsoft.com/office/powerpoint/2010/main" val="1880982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dirty="0"/>
          </a:p>
        </p:txBody>
      </p:sp>
    </p:spTree>
    <p:extLst>
      <p:ext uri="{BB962C8B-B14F-4D97-AF65-F5344CB8AC3E}">
        <p14:creationId xmlns:p14="http://schemas.microsoft.com/office/powerpoint/2010/main" val="42853262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dirty="0"/>
          </a:p>
        </p:txBody>
      </p:sp>
    </p:spTree>
    <p:extLst>
      <p:ext uri="{BB962C8B-B14F-4D97-AF65-F5344CB8AC3E}">
        <p14:creationId xmlns:p14="http://schemas.microsoft.com/office/powerpoint/2010/main" val="36279780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dirty="0"/>
          </a:p>
        </p:txBody>
      </p:sp>
    </p:spTree>
    <p:extLst>
      <p:ext uri="{BB962C8B-B14F-4D97-AF65-F5344CB8AC3E}">
        <p14:creationId xmlns:p14="http://schemas.microsoft.com/office/powerpoint/2010/main" val="2948442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39</a:t>
            </a:fld>
            <a:endParaRPr lang="en-US" dirty="0"/>
          </a:p>
        </p:txBody>
      </p:sp>
    </p:spTree>
    <p:extLst>
      <p:ext uri="{BB962C8B-B14F-4D97-AF65-F5344CB8AC3E}">
        <p14:creationId xmlns:p14="http://schemas.microsoft.com/office/powerpoint/2010/main" val="4120220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dirty="0"/>
          </a:p>
        </p:txBody>
      </p:sp>
    </p:spTree>
    <p:extLst>
      <p:ext uri="{BB962C8B-B14F-4D97-AF65-F5344CB8AC3E}">
        <p14:creationId xmlns:p14="http://schemas.microsoft.com/office/powerpoint/2010/main" val="203629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endParaRPr lang="en-GB"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18/10/2017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18/10/2017</a:t>
            </a:fld>
            <a:endParaRPr lang="en-GB" dirty="0"/>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dirty="0"/>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18/10/2017</a:t>
            </a:fld>
            <a:endParaRPr lang="en-GB" dirty="0"/>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dirty="0"/>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18/10/2017</a:t>
            </a:fld>
            <a:endParaRPr lang="en-GB"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dirty="0"/>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18/10/2017</a:t>
            </a:fld>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dirty="0"/>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5.jpeg"/><Relationship Id="rId4" Type="http://schemas.openxmlformats.org/officeDocument/2006/relationships/hyperlink" Target="http://www.pixl.org.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4"/>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065728"/>
          </a:xfrm>
          <a:prstGeom prst="rect">
            <a:avLst/>
          </a:prstGeom>
          <a:noFill/>
        </p:spPr>
        <p:txBody>
          <a:bodyPr wrap="square" rtlCol="0">
            <a:spAutoFit/>
          </a:bodyPr>
          <a:lstStyle/>
          <a:p>
            <a:pPr algn="ctr">
              <a:lnSpc>
                <a:spcPct val="115000"/>
              </a:lnSpc>
              <a:spcAft>
                <a:spcPts val="0"/>
              </a:spcAft>
            </a:pPr>
            <a:r>
              <a:rPr lang="en-GB" sz="7200" b="1" dirty="0"/>
              <a:t>PiXL KnowIT!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Energy Changes</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87824" y="35655"/>
            <a:ext cx="6156176"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Energy Changes</a:t>
            </a:r>
          </a:p>
        </p:txBody>
      </p:sp>
      <p:sp>
        <p:nvSpPr>
          <p:cNvPr id="3" name="Subtitle 2"/>
          <p:cNvSpPr>
            <a:spLocks noGrp="1"/>
          </p:cNvSpPr>
          <p:nvPr>
            <p:ph type="subTitle" idx="1"/>
          </p:nvPr>
        </p:nvSpPr>
        <p:spPr>
          <a:xfrm>
            <a:off x="179512" y="908720"/>
            <a:ext cx="4896544" cy="5472608"/>
          </a:xfrm>
        </p:spPr>
        <p:txBody>
          <a:bodyPr>
            <a:normAutofit/>
          </a:bodyPr>
          <a:lstStyle/>
          <a:p>
            <a:pPr algn="l"/>
            <a:r>
              <a:rPr lang="en-US" sz="3000" b="1" dirty="0">
                <a:solidFill>
                  <a:schemeClr val="tx1"/>
                </a:solidFill>
                <a:latin typeface="+mn-lt"/>
              </a:rPr>
              <a:t>Exothermic and endothermic reactions</a:t>
            </a:r>
          </a:p>
          <a:p>
            <a:pPr marL="685800" lvl="1" indent="-342900" algn="l">
              <a:buFont typeface="Arial" charset="0"/>
              <a:buChar char="•"/>
            </a:pPr>
            <a:r>
              <a:rPr lang="en-US" dirty="0">
                <a:solidFill>
                  <a:schemeClr val="tx1"/>
                </a:solidFill>
              </a:rPr>
              <a:t>Energy changes during exothermic and endothermic reactions</a:t>
            </a:r>
          </a:p>
          <a:p>
            <a:pPr marL="685800" lvl="1" indent="-342900" algn="l">
              <a:buFont typeface="Arial" charset="0"/>
              <a:buChar char="•"/>
            </a:pPr>
            <a:r>
              <a:rPr lang="en-US" dirty="0">
                <a:solidFill>
                  <a:schemeClr val="tx1"/>
                </a:solidFill>
              </a:rPr>
              <a:t>Reaction profiles</a:t>
            </a:r>
          </a:p>
          <a:p>
            <a:pPr marL="685800" lvl="1" indent="-342900" algn="l">
              <a:buFont typeface="Arial" charset="0"/>
              <a:buChar char="•"/>
            </a:pPr>
            <a:r>
              <a:rPr lang="en-US" dirty="0">
                <a:solidFill>
                  <a:schemeClr val="tx1"/>
                </a:solidFill>
              </a:rPr>
              <a:t>The energy change of reactions (HT only)</a:t>
            </a:r>
          </a:p>
          <a:p>
            <a:pPr algn="l"/>
            <a:r>
              <a:rPr lang="en-US" sz="2600" b="1" dirty="0">
                <a:solidFill>
                  <a:schemeClr val="tx1"/>
                </a:solidFill>
                <a:latin typeface="+mn-lt"/>
              </a:rPr>
              <a:t>Chemical cells and fuel cells (Chemistry only)</a:t>
            </a:r>
          </a:p>
          <a:p>
            <a:pPr marL="685800" lvl="1" indent="-342900" algn="l">
              <a:buFont typeface="Arial" charset="0"/>
              <a:buChar char="•"/>
            </a:pPr>
            <a:r>
              <a:rPr lang="en-US" dirty="0">
                <a:solidFill>
                  <a:schemeClr val="tx1"/>
                </a:solidFill>
              </a:rPr>
              <a:t>Cells and batteries</a:t>
            </a:r>
          </a:p>
          <a:p>
            <a:pPr marL="685800" lvl="1" indent="-342900" algn="l">
              <a:buFont typeface="Arial" charset="0"/>
              <a:buChar char="•"/>
            </a:pPr>
            <a:r>
              <a:rPr lang="en-US" dirty="0">
                <a:solidFill>
                  <a:schemeClr val="tx1"/>
                </a:solidFill>
              </a:rPr>
              <a:t>Fuel cells</a:t>
            </a: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2040" y="1076739"/>
            <a:ext cx="4032448" cy="4507197"/>
          </a:xfrm>
          <a:prstGeom prst="rect">
            <a:avLst/>
          </a:prstGeom>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5170646"/>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Exothermic and </a:t>
            </a:r>
          </a:p>
          <a:p>
            <a:r>
              <a:rPr lang="en-GB" sz="3200" b="1" dirty="0">
                <a:solidFill>
                  <a:schemeClr val="tx1">
                    <a:lumMod val="50000"/>
                    <a:lumOff val="50000"/>
                  </a:schemeClr>
                </a:solidFill>
              </a:rPr>
              <a:t>Endothermic</a:t>
            </a:r>
          </a:p>
          <a:p>
            <a:r>
              <a:rPr lang="en-GB" sz="3200" b="1" dirty="0" smtClean="0">
                <a:solidFill>
                  <a:schemeClr val="tx1">
                    <a:lumMod val="50000"/>
                    <a:lumOff val="50000"/>
                  </a:schemeClr>
                </a:solidFill>
              </a:rPr>
              <a:t>reactions</a:t>
            </a:r>
            <a:endParaRPr lang="en-GB" sz="3200" b="1" dirty="0">
              <a:solidFill>
                <a:schemeClr val="tx1">
                  <a:lumMod val="50000"/>
                  <a:lumOff val="50000"/>
                </a:schemeClr>
              </a:solidFill>
            </a:endParaRPr>
          </a:p>
          <a:p>
            <a:pPr marL="457200" indent="-457200">
              <a:lnSpc>
                <a:spcPct val="150000"/>
              </a:lnSpc>
              <a:buFont typeface="Arial" charset="0"/>
              <a:buChar char="•"/>
            </a:pPr>
            <a:r>
              <a:rPr lang="en-GB" sz="2400" b="1" dirty="0">
                <a:solidFill>
                  <a:schemeClr val="tx1">
                    <a:lumMod val="50000"/>
                    <a:lumOff val="50000"/>
                  </a:schemeClr>
                </a:solidFill>
              </a:rPr>
              <a:t>Exothermic </a:t>
            </a:r>
            <a:r>
              <a:rPr lang="en-GB" sz="2400" b="1" dirty="0" smtClean="0">
                <a:solidFill>
                  <a:schemeClr val="tx1">
                    <a:lumMod val="50000"/>
                    <a:lumOff val="50000"/>
                  </a:schemeClr>
                </a:solidFill>
              </a:rPr>
              <a:t>reactions</a:t>
            </a:r>
          </a:p>
          <a:p>
            <a:pPr marL="457200" indent="-457200">
              <a:lnSpc>
                <a:spcPct val="150000"/>
              </a:lnSpc>
              <a:buFont typeface="Arial" charset="0"/>
              <a:buChar char="•"/>
            </a:pPr>
            <a:r>
              <a:rPr lang="en-GB" sz="2400" b="1" dirty="0" smtClean="0">
                <a:solidFill>
                  <a:schemeClr val="tx1">
                    <a:lumMod val="50000"/>
                    <a:lumOff val="50000"/>
                  </a:schemeClr>
                </a:solidFill>
              </a:rPr>
              <a:t>Endothermic reactions</a:t>
            </a:r>
            <a:endParaRPr lang="en-GB" sz="2400" b="1" dirty="0">
              <a:solidFill>
                <a:schemeClr val="tx1">
                  <a:lumMod val="50000"/>
                  <a:lumOff val="50000"/>
                </a:schemeClr>
              </a:solidFill>
            </a:endParaRP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63238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Exothermic and endothermic reactions part 1 – </a:t>
            </a: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Exothermic</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a:t>
            </a:r>
            <a:endParaRPr lang="en-GB" sz="2400" b="1" dirty="0">
              <a:solidFill>
                <a:schemeClr val="accent6"/>
              </a:solidFill>
            </a:endParaRPr>
          </a:p>
        </p:txBody>
      </p:sp>
      <p:sp>
        <p:nvSpPr>
          <p:cNvPr id="7" name="TextBox 6"/>
          <p:cNvSpPr txBox="1"/>
          <p:nvPr/>
        </p:nvSpPr>
        <p:spPr>
          <a:xfrm>
            <a:off x="395536" y="797222"/>
            <a:ext cx="8561561" cy="1200329"/>
          </a:xfrm>
          <a:prstGeom prst="rect">
            <a:avLst/>
          </a:prstGeom>
          <a:noFill/>
          <a:ln w="28575">
            <a:solidFill>
              <a:schemeClr val="accent6"/>
            </a:solidFill>
          </a:ln>
        </p:spPr>
        <p:txBody>
          <a:bodyPr wrap="square" rtlCol="0">
            <a:spAutoFit/>
          </a:bodyPr>
          <a:lstStyle/>
          <a:p>
            <a:pPr algn="ctr"/>
            <a:r>
              <a:rPr lang="en-GB" sz="2400" b="1" dirty="0"/>
              <a:t>Energy is </a:t>
            </a:r>
            <a:r>
              <a:rPr lang="en-GB" sz="2400" b="1" dirty="0">
                <a:solidFill>
                  <a:schemeClr val="accent6">
                    <a:lumMod val="75000"/>
                  </a:schemeClr>
                </a:solidFill>
              </a:rPr>
              <a:t>conserved </a:t>
            </a:r>
            <a:r>
              <a:rPr lang="en-GB" sz="2400" b="1" dirty="0"/>
              <a:t>in chemical reactions. The amount of energy in the Universe </a:t>
            </a:r>
            <a:r>
              <a:rPr lang="en-GB" sz="2400" b="1" dirty="0">
                <a:solidFill>
                  <a:schemeClr val="accent6">
                    <a:lumMod val="75000"/>
                  </a:schemeClr>
                </a:solidFill>
              </a:rPr>
              <a:t>at the end </a:t>
            </a:r>
            <a:r>
              <a:rPr lang="en-GB" sz="2400" b="1" dirty="0"/>
              <a:t>of a chemical reaction </a:t>
            </a:r>
            <a:r>
              <a:rPr lang="en-GB" sz="2400" b="1" dirty="0">
                <a:solidFill>
                  <a:schemeClr val="accent6">
                    <a:lumMod val="75000"/>
                  </a:schemeClr>
                </a:solidFill>
              </a:rPr>
              <a:t>is the same as before </a:t>
            </a:r>
            <a:r>
              <a:rPr lang="en-GB" sz="2400" b="1" dirty="0"/>
              <a:t>the reaction takes place.</a:t>
            </a:r>
          </a:p>
        </p:txBody>
      </p:sp>
      <p:sp>
        <p:nvSpPr>
          <p:cNvPr id="3" name="TextBox 2"/>
          <p:cNvSpPr txBox="1"/>
          <p:nvPr/>
        </p:nvSpPr>
        <p:spPr>
          <a:xfrm>
            <a:off x="395536" y="2060848"/>
            <a:ext cx="8280920" cy="584775"/>
          </a:xfrm>
          <a:prstGeom prst="rect">
            <a:avLst/>
          </a:prstGeom>
          <a:noFill/>
        </p:spPr>
        <p:txBody>
          <a:bodyPr wrap="square" rtlCol="0">
            <a:spAutoFit/>
          </a:bodyPr>
          <a:lstStyle/>
          <a:p>
            <a:pPr algn="ctr"/>
            <a:r>
              <a:rPr lang="en-GB" sz="3200" b="1" dirty="0">
                <a:sym typeface="Wingdings" panose="05000000000000000000" pitchFamily="2" charset="2"/>
              </a:rPr>
              <a:t>H</a:t>
            </a:r>
            <a:r>
              <a:rPr lang="en-GB" sz="3200" b="1" baseline="-25000" dirty="0">
                <a:sym typeface="Wingdings" panose="05000000000000000000" pitchFamily="2" charset="2"/>
              </a:rPr>
              <a:t>2</a:t>
            </a:r>
            <a:r>
              <a:rPr lang="en-GB" sz="3200" b="1" dirty="0">
                <a:sym typeface="Wingdings" panose="05000000000000000000" pitchFamily="2" charset="2"/>
              </a:rPr>
              <a:t> (g)  +  Cl</a:t>
            </a:r>
            <a:r>
              <a:rPr lang="en-GB" sz="3200" b="1" baseline="-25000" dirty="0">
                <a:sym typeface="Wingdings" panose="05000000000000000000" pitchFamily="2" charset="2"/>
              </a:rPr>
              <a:t>2</a:t>
            </a:r>
            <a:r>
              <a:rPr lang="en-GB" sz="3200" b="1" dirty="0">
                <a:sym typeface="Wingdings" panose="05000000000000000000" pitchFamily="2" charset="2"/>
              </a:rPr>
              <a:t> (g)    2HCl (g)</a:t>
            </a:r>
            <a:endParaRPr lang="en-GB" sz="3200" dirty="0"/>
          </a:p>
        </p:txBody>
      </p:sp>
      <p:sp>
        <p:nvSpPr>
          <p:cNvPr id="15" name="TextBox 14"/>
          <p:cNvSpPr txBox="1"/>
          <p:nvPr/>
        </p:nvSpPr>
        <p:spPr>
          <a:xfrm>
            <a:off x="395536" y="2708920"/>
            <a:ext cx="8280920" cy="3416320"/>
          </a:xfrm>
          <a:prstGeom prst="rect">
            <a:avLst/>
          </a:prstGeom>
          <a:noFill/>
        </p:spPr>
        <p:txBody>
          <a:bodyPr wrap="square" rtlCol="0">
            <a:spAutoFit/>
          </a:bodyPr>
          <a:lstStyle/>
          <a:p>
            <a:pPr algn="ctr"/>
            <a:r>
              <a:rPr lang="en-GB" sz="2400" b="1" dirty="0"/>
              <a:t>In the above reaction energy is </a:t>
            </a:r>
            <a:r>
              <a:rPr lang="en-GB" sz="2400" b="1" dirty="0">
                <a:solidFill>
                  <a:schemeClr val="accent6"/>
                </a:solidFill>
              </a:rPr>
              <a:t>released</a:t>
            </a:r>
            <a:r>
              <a:rPr lang="en-GB" sz="2400" b="1" dirty="0"/>
              <a:t>, it gets hotter. </a:t>
            </a:r>
          </a:p>
          <a:p>
            <a:pPr algn="ctr"/>
            <a:endParaRPr lang="en-GB" sz="2400" b="1" dirty="0"/>
          </a:p>
          <a:p>
            <a:pPr algn="ctr"/>
            <a:r>
              <a:rPr lang="en-GB" sz="2400" b="1" dirty="0"/>
              <a:t>An </a:t>
            </a:r>
            <a:r>
              <a:rPr lang="en-GB" sz="2400" b="1" dirty="0">
                <a:solidFill>
                  <a:schemeClr val="accent6"/>
                </a:solidFill>
              </a:rPr>
              <a:t>exothermic reaction </a:t>
            </a:r>
            <a:r>
              <a:rPr lang="en-GB" sz="2400" b="1" dirty="0"/>
              <a:t>is one that </a:t>
            </a:r>
            <a:r>
              <a:rPr lang="en-GB" sz="2400" b="1" dirty="0">
                <a:solidFill>
                  <a:schemeClr val="accent6"/>
                </a:solidFill>
              </a:rPr>
              <a:t>transfers energy </a:t>
            </a:r>
            <a:r>
              <a:rPr lang="en-GB" sz="2400" b="1" dirty="0"/>
              <a:t>to the surroundings so the temperature of the surroundings </a:t>
            </a:r>
            <a:r>
              <a:rPr lang="en-GB" sz="2400" b="1" dirty="0">
                <a:solidFill>
                  <a:schemeClr val="accent6"/>
                </a:solidFill>
              </a:rPr>
              <a:t>increases</a:t>
            </a:r>
            <a:r>
              <a:rPr lang="en-GB" sz="2400" b="1" dirty="0"/>
              <a:t> – “it gets hotter”.</a:t>
            </a:r>
          </a:p>
          <a:p>
            <a:pPr algn="ctr"/>
            <a:endParaRPr lang="en-GB" sz="2400" b="1" dirty="0"/>
          </a:p>
          <a:p>
            <a:pPr algn="ctr"/>
            <a:r>
              <a:rPr lang="en-GB" sz="2400" b="1" dirty="0"/>
              <a:t>The two </a:t>
            </a:r>
            <a:r>
              <a:rPr lang="en-GB" sz="2400" b="1" dirty="0" err="1"/>
              <a:t>HCl</a:t>
            </a:r>
            <a:r>
              <a:rPr lang="en-GB" sz="2400" b="1" dirty="0"/>
              <a:t> molecules made will not hold as much energy as the H</a:t>
            </a:r>
            <a:r>
              <a:rPr lang="en-GB" sz="2400" b="1" baseline="-25000" dirty="0"/>
              <a:t>2</a:t>
            </a:r>
            <a:r>
              <a:rPr lang="en-GB" sz="2400" b="1" dirty="0"/>
              <a:t> and Cl</a:t>
            </a:r>
            <a:r>
              <a:rPr lang="en-GB" sz="2400" b="1" baseline="-25000" dirty="0"/>
              <a:t>2</a:t>
            </a:r>
            <a:r>
              <a:rPr lang="en-GB" sz="2400" b="1" dirty="0"/>
              <a:t> molecules at the start, so the spare energy is released as heat.</a:t>
            </a:r>
          </a:p>
        </p:txBody>
      </p:sp>
    </p:spTree>
    <p:extLst>
      <p:ext uri="{BB962C8B-B14F-4D97-AF65-F5344CB8AC3E}">
        <p14:creationId xmlns:p14="http://schemas.microsoft.com/office/powerpoint/2010/main" val="1270480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188640"/>
            <a:ext cx="8604448" cy="720080"/>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Exothermic and endothermic reactions part 1 – </a:t>
            </a:r>
            <a:r>
              <a:rPr lang="en-US" sz="2400" b="1" kern="1200" dirty="0">
                <a:solidFill>
                  <a:schemeClr val="accent6"/>
                </a:solidFill>
                <a:latin typeface="Calibri"/>
                <a:ea typeface=""/>
                <a:cs typeface="News Gothic MT"/>
              </a:rPr>
              <a:t>Exothermic reactions</a:t>
            </a:r>
            <a:endParaRPr lang="en-GB" sz="2400" b="1" dirty="0">
              <a:solidFill>
                <a:schemeClr val="accent6"/>
              </a:solidFill>
            </a:endParaRPr>
          </a:p>
        </p:txBody>
      </p:sp>
      <p:sp>
        <p:nvSpPr>
          <p:cNvPr id="3" name="TextBox 2"/>
          <p:cNvSpPr txBox="1"/>
          <p:nvPr/>
        </p:nvSpPr>
        <p:spPr>
          <a:xfrm>
            <a:off x="323528" y="990690"/>
            <a:ext cx="8242284" cy="430887"/>
          </a:xfrm>
          <a:custGeom>
            <a:avLst/>
            <a:gdLst>
              <a:gd name="connsiteX0" fmla="*/ 0 w 8280920"/>
              <a:gd name="connsiteY0" fmla="*/ 0 h 830997"/>
              <a:gd name="connsiteX1" fmla="*/ 8280920 w 8280920"/>
              <a:gd name="connsiteY1" fmla="*/ 0 h 830997"/>
              <a:gd name="connsiteX2" fmla="*/ 8280920 w 8280920"/>
              <a:gd name="connsiteY2" fmla="*/ 830997 h 830997"/>
              <a:gd name="connsiteX3" fmla="*/ 0 w 8280920"/>
              <a:gd name="connsiteY3" fmla="*/ 830997 h 830997"/>
              <a:gd name="connsiteX4" fmla="*/ 0 w 8280920"/>
              <a:gd name="connsiteY4" fmla="*/ 0 h 830997"/>
              <a:gd name="connsiteX0" fmla="*/ 0 w 8280920"/>
              <a:gd name="connsiteY0" fmla="*/ 0 h 1037059"/>
              <a:gd name="connsiteX1" fmla="*/ 8280920 w 8280920"/>
              <a:gd name="connsiteY1" fmla="*/ 206062 h 1037059"/>
              <a:gd name="connsiteX2" fmla="*/ 8280920 w 8280920"/>
              <a:gd name="connsiteY2" fmla="*/ 1037059 h 1037059"/>
              <a:gd name="connsiteX3" fmla="*/ 0 w 8280920"/>
              <a:gd name="connsiteY3" fmla="*/ 1037059 h 1037059"/>
              <a:gd name="connsiteX4" fmla="*/ 0 w 8280920"/>
              <a:gd name="connsiteY4" fmla="*/ 0 h 1037059"/>
              <a:gd name="connsiteX0" fmla="*/ 0 w 8280920"/>
              <a:gd name="connsiteY0" fmla="*/ 0 h 1037059"/>
              <a:gd name="connsiteX1" fmla="*/ 8229405 w 8280920"/>
              <a:gd name="connsiteY1" fmla="*/ 0 h 1037059"/>
              <a:gd name="connsiteX2" fmla="*/ 8280920 w 8280920"/>
              <a:gd name="connsiteY2" fmla="*/ 1037059 h 1037059"/>
              <a:gd name="connsiteX3" fmla="*/ 0 w 8280920"/>
              <a:gd name="connsiteY3" fmla="*/ 1037059 h 1037059"/>
              <a:gd name="connsiteX4" fmla="*/ 0 w 8280920"/>
              <a:gd name="connsiteY4" fmla="*/ 0 h 1037059"/>
              <a:gd name="connsiteX0" fmla="*/ 0 w 8242284"/>
              <a:gd name="connsiteY0" fmla="*/ 0 h 1037059"/>
              <a:gd name="connsiteX1" fmla="*/ 8229405 w 8242284"/>
              <a:gd name="connsiteY1" fmla="*/ 0 h 1037059"/>
              <a:gd name="connsiteX2" fmla="*/ 8242284 w 8242284"/>
              <a:gd name="connsiteY2" fmla="*/ 792361 h 1037059"/>
              <a:gd name="connsiteX3" fmla="*/ 0 w 8242284"/>
              <a:gd name="connsiteY3" fmla="*/ 1037059 h 1037059"/>
              <a:gd name="connsiteX4" fmla="*/ 0 w 8242284"/>
              <a:gd name="connsiteY4" fmla="*/ 0 h 1037059"/>
              <a:gd name="connsiteX0" fmla="*/ 0 w 8242284"/>
              <a:gd name="connsiteY0" fmla="*/ 0 h 792361"/>
              <a:gd name="connsiteX1" fmla="*/ 8229405 w 8242284"/>
              <a:gd name="connsiteY1" fmla="*/ 0 h 792361"/>
              <a:gd name="connsiteX2" fmla="*/ 8242284 w 8242284"/>
              <a:gd name="connsiteY2" fmla="*/ 792361 h 792361"/>
              <a:gd name="connsiteX3" fmla="*/ 0 w 8242284"/>
              <a:gd name="connsiteY3" fmla="*/ 792360 h 792361"/>
              <a:gd name="connsiteX4" fmla="*/ 0 w 8242284"/>
              <a:gd name="connsiteY4" fmla="*/ 0 h 792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2284" h="792361">
                <a:moveTo>
                  <a:pt x="0" y="0"/>
                </a:moveTo>
                <a:lnTo>
                  <a:pt x="8229405" y="0"/>
                </a:lnTo>
                <a:lnTo>
                  <a:pt x="8242284" y="792361"/>
                </a:lnTo>
                <a:lnTo>
                  <a:pt x="0" y="792360"/>
                </a:lnTo>
                <a:lnTo>
                  <a:pt x="0" y="0"/>
                </a:lnTo>
                <a:close/>
              </a:path>
            </a:pathLst>
          </a:custGeom>
          <a:noFill/>
        </p:spPr>
        <p:txBody>
          <a:bodyPr wrap="square" rtlCol="0">
            <a:spAutoFit/>
          </a:bodyPr>
          <a:lstStyle/>
          <a:p>
            <a:r>
              <a:rPr lang="en-GB" sz="2200" b="1" dirty="0"/>
              <a:t>There are a number of common exothermic reactions, they include:</a:t>
            </a:r>
          </a:p>
        </p:txBody>
      </p:sp>
      <p:sp>
        <p:nvSpPr>
          <p:cNvPr id="5" name="TextBox 4"/>
          <p:cNvSpPr txBox="1"/>
          <p:nvPr/>
        </p:nvSpPr>
        <p:spPr>
          <a:xfrm>
            <a:off x="323528" y="1422441"/>
            <a:ext cx="2448272" cy="461665"/>
          </a:xfrm>
          <a:custGeom>
            <a:avLst/>
            <a:gdLst>
              <a:gd name="connsiteX0" fmla="*/ 0 w 2448272"/>
              <a:gd name="connsiteY0" fmla="*/ 0 h 461665"/>
              <a:gd name="connsiteX1" fmla="*/ 2448272 w 2448272"/>
              <a:gd name="connsiteY1" fmla="*/ 0 h 461665"/>
              <a:gd name="connsiteX2" fmla="*/ 2448272 w 2448272"/>
              <a:gd name="connsiteY2" fmla="*/ 461665 h 461665"/>
              <a:gd name="connsiteX3" fmla="*/ 0 w 2448272"/>
              <a:gd name="connsiteY3" fmla="*/ 461665 h 461665"/>
              <a:gd name="connsiteX4" fmla="*/ 0 w 2448272"/>
              <a:gd name="connsiteY4" fmla="*/ 0 h 461665"/>
              <a:gd name="connsiteX0" fmla="*/ 0 w 2448272"/>
              <a:gd name="connsiteY0" fmla="*/ 0 h 1066972"/>
              <a:gd name="connsiteX1" fmla="*/ 2448272 w 2448272"/>
              <a:gd name="connsiteY1" fmla="*/ 605307 h 1066972"/>
              <a:gd name="connsiteX2" fmla="*/ 2448272 w 2448272"/>
              <a:gd name="connsiteY2" fmla="*/ 1066972 h 1066972"/>
              <a:gd name="connsiteX3" fmla="*/ 0 w 2448272"/>
              <a:gd name="connsiteY3" fmla="*/ 1066972 h 1066972"/>
              <a:gd name="connsiteX4" fmla="*/ 0 w 2448272"/>
              <a:gd name="connsiteY4" fmla="*/ 0 h 1066972"/>
              <a:gd name="connsiteX0" fmla="*/ 0 w 2448272"/>
              <a:gd name="connsiteY0" fmla="*/ 0 h 1066972"/>
              <a:gd name="connsiteX1" fmla="*/ 2422514 w 2448272"/>
              <a:gd name="connsiteY1" fmla="*/ 0 h 1066972"/>
              <a:gd name="connsiteX2" fmla="*/ 2448272 w 2448272"/>
              <a:gd name="connsiteY2" fmla="*/ 1066972 h 1066972"/>
              <a:gd name="connsiteX3" fmla="*/ 0 w 2448272"/>
              <a:gd name="connsiteY3" fmla="*/ 1066972 h 1066972"/>
              <a:gd name="connsiteX4" fmla="*/ 0 w 2448272"/>
              <a:gd name="connsiteY4" fmla="*/ 0 h 1066972"/>
              <a:gd name="connsiteX0" fmla="*/ 0 w 2448272"/>
              <a:gd name="connsiteY0" fmla="*/ 0 h 1066972"/>
              <a:gd name="connsiteX1" fmla="*/ 2422514 w 2448272"/>
              <a:gd name="connsiteY1" fmla="*/ 0 h 1066972"/>
              <a:gd name="connsiteX2" fmla="*/ 2448272 w 2448272"/>
              <a:gd name="connsiteY2" fmla="*/ 423029 h 1066972"/>
              <a:gd name="connsiteX3" fmla="*/ 0 w 2448272"/>
              <a:gd name="connsiteY3" fmla="*/ 1066972 h 1066972"/>
              <a:gd name="connsiteX4" fmla="*/ 0 w 2448272"/>
              <a:gd name="connsiteY4" fmla="*/ 0 h 1066972"/>
              <a:gd name="connsiteX0" fmla="*/ 0 w 2448272"/>
              <a:gd name="connsiteY0" fmla="*/ 0 h 423029"/>
              <a:gd name="connsiteX1" fmla="*/ 2422514 w 2448272"/>
              <a:gd name="connsiteY1" fmla="*/ 0 h 423029"/>
              <a:gd name="connsiteX2" fmla="*/ 2448272 w 2448272"/>
              <a:gd name="connsiteY2" fmla="*/ 423029 h 423029"/>
              <a:gd name="connsiteX3" fmla="*/ 0 w 2448272"/>
              <a:gd name="connsiteY3" fmla="*/ 410149 h 423029"/>
              <a:gd name="connsiteX4" fmla="*/ 0 w 2448272"/>
              <a:gd name="connsiteY4" fmla="*/ 0 h 423029"/>
              <a:gd name="connsiteX0" fmla="*/ 0 w 2448272"/>
              <a:gd name="connsiteY0" fmla="*/ 0 h 435907"/>
              <a:gd name="connsiteX1" fmla="*/ 2422514 w 2448272"/>
              <a:gd name="connsiteY1" fmla="*/ 0 h 435907"/>
              <a:gd name="connsiteX2" fmla="*/ 2448272 w 2448272"/>
              <a:gd name="connsiteY2" fmla="*/ 423029 h 435907"/>
              <a:gd name="connsiteX3" fmla="*/ 0 w 2448272"/>
              <a:gd name="connsiteY3" fmla="*/ 435907 h 435907"/>
              <a:gd name="connsiteX4" fmla="*/ 0 w 2448272"/>
              <a:gd name="connsiteY4" fmla="*/ 0 h 43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8272" h="435907">
                <a:moveTo>
                  <a:pt x="0" y="0"/>
                </a:moveTo>
                <a:lnTo>
                  <a:pt x="2422514" y="0"/>
                </a:lnTo>
                <a:lnTo>
                  <a:pt x="2448272" y="423029"/>
                </a:lnTo>
                <a:lnTo>
                  <a:pt x="0" y="435907"/>
                </a:lnTo>
                <a:lnTo>
                  <a:pt x="0" y="0"/>
                </a:lnTo>
                <a:close/>
              </a:path>
            </a:pathLst>
          </a:custGeom>
          <a:noFill/>
        </p:spPr>
        <p:txBody>
          <a:bodyPr wrap="square" rtlCol="0">
            <a:spAutoFit/>
          </a:bodyPr>
          <a:lstStyle/>
          <a:p>
            <a:pPr algn="ctr"/>
            <a:r>
              <a:rPr lang="en-GB" sz="2400" b="1" dirty="0">
                <a:solidFill>
                  <a:schemeClr val="accent6"/>
                </a:solidFill>
              </a:rPr>
              <a:t>Combustion</a:t>
            </a:r>
          </a:p>
        </p:txBody>
      </p:sp>
      <p:sp>
        <p:nvSpPr>
          <p:cNvPr id="8" name="TextBox 7"/>
          <p:cNvSpPr txBox="1"/>
          <p:nvPr/>
        </p:nvSpPr>
        <p:spPr>
          <a:xfrm>
            <a:off x="3141802" y="1448199"/>
            <a:ext cx="2292664" cy="461663"/>
          </a:xfrm>
          <a:custGeom>
            <a:avLst/>
            <a:gdLst>
              <a:gd name="connsiteX0" fmla="*/ 0 w 4752528"/>
              <a:gd name="connsiteY0" fmla="*/ 0 h 461665"/>
              <a:gd name="connsiteX1" fmla="*/ 4752528 w 4752528"/>
              <a:gd name="connsiteY1" fmla="*/ 0 h 461665"/>
              <a:gd name="connsiteX2" fmla="*/ 4752528 w 4752528"/>
              <a:gd name="connsiteY2" fmla="*/ 461665 h 461665"/>
              <a:gd name="connsiteX3" fmla="*/ 0 w 4752528"/>
              <a:gd name="connsiteY3" fmla="*/ 461665 h 461665"/>
              <a:gd name="connsiteX4" fmla="*/ 0 w 4752528"/>
              <a:gd name="connsiteY4" fmla="*/ 0 h 461665"/>
              <a:gd name="connsiteX0" fmla="*/ 0 w 4997226"/>
              <a:gd name="connsiteY0" fmla="*/ 0 h 1041214"/>
              <a:gd name="connsiteX1" fmla="*/ 4997226 w 4997226"/>
              <a:gd name="connsiteY1" fmla="*/ 579549 h 1041214"/>
              <a:gd name="connsiteX2" fmla="*/ 4997226 w 4997226"/>
              <a:gd name="connsiteY2" fmla="*/ 1041214 h 1041214"/>
              <a:gd name="connsiteX3" fmla="*/ 244698 w 4997226"/>
              <a:gd name="connsiteY3" fmla="*/ 1041214 h 1041214"/>
              <a:gd name="connsiteX4" fmla="*/ 0 w 4997226"/>
              <a:gd name="connsiteY4" fmla="*/ 0 h 1041214"/>
              <a:gd name="connsiteX0" fmla="*/ 0 w 4997226"/>
              <a:gd name="connsiteY0" fmla="*/ 0 h 1041214"/>
              <a:gd name="connsiteX1" fmla="*/ 2318421 w 4997226"/>
              <a:gd name="connsiteY1" fmla="*/ 25758 h 1041214"/>
              <a:gd name="connsiteX2" fmla="*/ 4997226 w 4997226"/>
              <a:gd name="connsiteY2" fmla="*/ 1041214 h 1041214"/>
              <a:gd name="connsiteX3" fmla="*/ 244698 w 4997226"/>
              <a:gd name="connsiteY3" fmla="*/ 1041214 h 1041214"/>
              <a:gd name="connsiteX4" fmla="*/ 0 w 4997226"/>
              <a:gd name="connsiteY4" fmla="*/ 0 h 1041214"/>
              <a:gd name="connsiteX0" fmla="*/ 0 w 2344178"/>
              <a:gd name="connsiteY0" fmla="*/ 0 h 1041214"/>
              <a:gd name="connsiteX1" fmla="*/ 2318421 w 2344178"/>
              <a:gd name="connsiteY1" fmla="*/ 25758 h 1041214"/>
              <a:gd name="connsiteX2" fmla="*/ 2344178 w 2344178"/>
              <a:gd name="connsiteY2" fmla="*/ 435906 h 1041214"/>
              <a:gd name="connsiteX3" fmla="*/ 244698 w 2344178"/>
              <a:gd name="connsiteY3" fmla="*/ 1041214 h 1041214"/>
              <a:gd name="connsiteX4" fmla="*/ 0 w 2344178"/>
              <a:gd name="connsiteY4" fmla="*/ 0 h 1041214"/>
              <a:gd name="connsiteX0" fmla="*/ 0 w 2344178"/>
              <a:gd name="connsiteY0" fmla="*/ 0 h 448785"/>
              <a:gd name="connsiteX1" fmla="*/ 2318421 w 2344178"/>
              <a:gd name="connsiteY1" fmla="*/ 25758 h 448785"/>
              <a:gd name="connsiteX2" fmla="*/ 2344178 w 2344178"/>
              <a:gd name="connsiteY2" fmla="*/ 435906 h 448785"/>
              <a:gd name="connsiteX3" fmla="*/ 51515 w 2344178"/>
              <a:gd name="connsiteY3" fmla="*/ 448785 h 448785"/>
              <a:gd name="connsiteX4" fmla="*/ 0 w 2344178"/>
              <a:gd name="connsiteY4" fmla="*/ 0 h 448785"/>
              <a:gd name="connsiteX0" fmla="*/ 0 w 2305542"/>
              <a:gd name="connsiteY0" fmla="*/ 0 h 448785"/>
              <a:gd name="connsiteX1" fmla="*/ 2279785 w 2305542"/>
              <a:gd name="connsiteY1" fmla="*/ 25758 h 448785"/>
              <a:gd name="connsiteX2" fmla="*/ 2305542 w 2305542"/>
              <a:gd name="connsiteY2" fmla="*/ 435906 h 448785"/>
              <a:gd name="connsiteX3" fmla="*/ 12879 w 2305542"/>
              <a:gd name="connsiteY3" fmla="*/ 448785 h 448785"/>
              <a:gd name="connsiteX4" fmla="*/ 0 w 2305542"/>
              <a:gd name="connsiteY4" fmla="*/ 0 h 448785"/>
              <a:gd name="connsiteX0" fmla="*/ 0 w 2305542"/>
              <a:gd name="connsiteY0" fmla="*/ 0 h 461663"/>
              <a:gd name="connsiteX1" fmla="*/ 2279785 w 2305542"/>
              <a:gd name="connsiteY1" fmla="*/ 25758 h 461663"/>
              <a:gd name="connsiteX2" fmla="*/ 2305542 w 2305542"/>
              <a:gd name="connsiteY2" fmla="*/ 461663 h 461663"/>
              <a:gd name="connsiteX3" fmla="*/ 12879 w 2305542"/>
              <a:gd name="connsiteY3" fmla="*/ 448785 h 461663"/>
              <a:gd name="connsiteX4" fmla="*/ 0 w 2305542"/>
              <a:gd name="connsiteY4" fmla="*/ 0 h 461663"/>
              <a:gd name="connsiteX0" fmla="*/ 0 w 2305542"/>
              <a:gd name="connsiteY0" fmla="*/ 0 h 461663"/>
              <a:gd name="connsiteX1" fmla="*/ 2292664 w 2305542"/>
              <a:gd name="connsiteY1" fmla="*/ 12879 h 461663"/>
              <a:gd name="connsiteX2" fmla="*/ 2305542 w 2305542"/>
              <a:gd name="connsiteY2" fmla="*/ 461663 h 461663"/>
              <a:gd name="connsiteX3" fmla="*/ 12879 w 2305542"/>
              <a:gd name="connsiteY3" fmla="*/ 448785 h 461663"/>
              <a:gd name="connsiteX4" fmla="*/ 0 w 2305542"/>
              <a:gd name="connsiteY4" fmla="*/ 0 h 461663"/>
              <a:gd name="connsiteX0" fmla="*/ 0 w 2305542"/>
              <a:gd name="connsiteY0" fmla="*/ 0 h 461663"/>
              <a:gd name="connsiteX1" fmla="*/ 2292664 w 2305542"/>
              <a:gd name="connsiteY1" fmla="*/ 0 h 461663"/>
              <a:gd name="connsiteX2" fmla="*/ 2305542 w 2305542"/>
              <a:gd name="connsiteY2" fmla="*/ 461663 h 461663"/>
              <a:gd name="connsiteX3" fmla="*/ 12879 w 2305542"/>
              <a:gd name="connsiteY3" fmla="*/ 448785 h 461663"/>
              <a:gd name="connsiteX4" fmla="*/ 0 w 2305542"/>
              <a:gd name="connsiteY4" fmla="*/ 0 h 461663"/>
              <a:gd name="connsiteX0" fmla="*/ 0 w 2305542"/>
              <a:gd name="connsiteY0" fmla="*/ 0 h 474542"/>
              <a:gd name="connsiteX1" fmla="*/ 2292664 w 2305542"/>
              <a:gd name="connsiteY1" fmla="*/ 0 h 474542"/>
              <a:gd name="connsiteX2" fmla="*/ 2305542 w 2305542"/>
              <a:gd name="connsiteY2" fmla="*/ 474542 h 474542"/>
              <a:gd name="connsiteX3" fmla="*/ 12879 w 2305542"/>
              <a:gd name="connsiteY3" fmla="*/ 448785 h 474542"/>
              <a:gd name="connsiteX4" fmla="*/ 0 w 2305542"/>
              <a:gd name="connsiteY4" fmla="*/ 0 h 474542"/>
              <a:gd name="connsiteX0" fmla="*/ 0 w 2292664"/>
              <a:gd name="connsiteY0" fmla="*/ 0 h 448785"/>
              <a:gd name="connsiteX1" fmla="*/ 2292664 w 2292664"/>
              <a:gd name="connsiteY1" fmla="*/ 0 h 448785"/>
              <a:gd name="connsiteX2" fmla="*/ 2292664 w 2292664"/>
              <a:gd name="connsiteY2" fmla="*/ 435906 h 448785"/>
              <a:gd name="connsiteX3" fmla="*/ 12879 w 2292664"/>
              <a:gd name="connsiteY3" fmla="*/ 448785 h 448785"/>
              <a:gd name="connsiteX4" fmla="*/ 0 w 2292664"/>
              <a:gd name="connsiteY4" fmla="*/ 0 h 448785"/>
              <a:gd name="connsiteX0" fmla="*/ 0 w 2292664"/>
              <a:gd name="connsiteY0" fmla="*/ 0 h 461663"/>
              <a:gd name="connsiteX1" fmla="*/ 2292664 w 2292664"/>
              <a:gd name="connsiteY1" fmla="*/ 0 h 461663"/>
              <a:gd name="connsiteX2" fmla="*/ 2292664 w 2292664"/>
              <a:gd name="connsiteY2" fmla="*/ 461663 h 461663"/>
              <a:gd name="connsiteX3" fmla="*/ 12879 w 2292664"/>
              <a:gd name="connsiteY3" fmla="*/ 448785 h 461663"/>
              <a:gd name="connsiteX4" fmla="*/ 0 w 2292664"/>
              <a:gd name="connsiteY4" fmla="*/ 0 h 4616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2664" h="461663">
                <a:moveTo>
                  <a:pt x="0" y="0"/>
                </a:moveTo>
                <a:lnTo>
                  <a:pt x="2292664" y="0"/>
                </a:lnTo>
                <a:lnTo>
                  <a:pt x="2292664" y="461663"/>
                </a:lnTo>
                <a:lnTo>
                  <a:pt x="12879" y="448785"/>
                </a:lnTo>
                <a:lnTo>
                  <a:pt x="0" y="0"/>
                </a:lnTo>
                <a:close/>
              </a:path>
            </a:pathLst>
          </a:custGeom>
          <a:noFill/>
        </p:spPr>
        <p:txBody>
          <a:bodyPr wrap="square" rtlCol="0">
            <a:spAutoFit/>
          </a:bodyPr>
          <a:lstStyle/>
          <a:p>
            <a:pPr algn="ctr"/>
            <a:r>
              <a:rPr lang="en-GB" sz="2400" b="1" dirty="0">
                <a:solidFill>
                  <a:schemeClr val="accent6"/>
                </a:solidFill>
              </a:rPr>
              <a:t>Oxidation</a:t>
            </a:r>
          </a:p>
        </p:txBody>
      </p:sp>
      <p:sp>
        <p:nvSpPr>
          <p:cNvPr id="11" name="TextBox 10"/>
          <p:cNvSpPr txBox="1"/>
          <p:nvPr/>
        </p:nvSpPr>
        <p:spPr>
          <a:xfrm>
            <a:off x="6453871" y="1525918"/>
            <a:ext cx="2141529" cy="410150"/>
          </a:xfrm>
          <a:custGeom>
            <a:avLst/>
            <a:gdLst>
              <a:gd name="connsiteX0" fmla="*/ 0 w 2592288"/>
              <a:gd name="connsiteY0" fmla="*/ 0 h 461665"/>
              <a:gd name="connsiteX1" fmla="*/ 2592288 w 2592288"/>
              <a:gd name="connsiteY1" fmla="*/ 0 h 461665"/>
              <a:gd name="connsiteX2" fmla="*/ 2592288 w 2592288"/>
              <a:gd name="connsiteY2" fmla="*/ 461665 h 461665"/>
              <a:gd name="connsiteX3" fmla="*/ 0 w 2592288"/>
              <a:gd name="connsiteY3" fmla="*/ 461665 h 461665"/>
              <a:gd name="connsiteX4" fmla="*/ 0 w 2592288"/>
              <a:gd name="connsiteY4" fmla="*/ 0 h 461665"/>
              <a:gd name="connsiteX0" fmla="*/ 0 w 8284750"/>
              <a:gd name="connsiteY0" fmla="*/ 3181082 h 3642747"/>
              <a:gd name="connsiteX1" fmla="*/ 8284750 w 8284750"/>
              <a:gd name="connsiteY1" fmla="*/ 0 h 3642747"/>
              <a:gd name="connsiteX2" fmla="*/ 2592288 w 8284750"/>
              <a:gd name="connsiteY2" fmla="*/ 3642747 h 3642747"/>
              <a:gd name="connsiteX3" fmla="*/ 0 w 8284750"/>
              <a:gd name="connsiteY3" fmla="*/ 3642747 h 3642747"/>
              <a:gd name="connsiteX4" fmla="*/ 0 w 8284750"/>
              <a:gd name="connsiteY4" fmla="*/ 3181082 h 3642747"/>
              <a:gd name="connsiteX0" fmla="*/ 6130343 w 8284750"/>
              <a:gd name="connsiteY0" fmla="*/ 0 h 3642747"/>
              <a:gd name="connsiteX1" fmla="*/ 8284750 w 8284750"/>
              <a:gd name="connsiteY1" fmla="*/ 0 h 3642747"/>
              <a:gd name="connsiteX2" fmla="*/ 2592288 w 8284750"/>
              <a:gd name="connsiteY2" fmla="*/ 3642747 h 3642747"/>
              <a:gd name="connsiteX3" fmla="*/ 0 w 8284750"/>
              <a:gd name="connsiteY3" fmla="*/ 3642747 h 3642747"/>
              <a:gd name="connsiteX4" fmla="*/ 6130343 w 8284750"/>
              <a:gd name="connsiteY4" fmla="*/ 0 h 3642747"/>
              <a:gd name="connsiteX0" fmla="*/ 3538055 w 5692462"/>
              <a:gd name="connsiteY0" fmla="*/ 0 h 3642747"/>
              <a:gd name="connsiteX1" fmla="*/ 5692462 w 5692462"/>
              <a:gd name="connsiteY1" fmla="*/ 0 h 3642747"/>
              <a:gd name="connsiteX2" fmla="*/ 0 w 5692462"/>
              <a:gd name="connsiteY2" fmla="*/ 3642747 h 3642747"/>
              <a:gd name="connsiteX3" fmla="*/ 3563813 w 5692462"/>
              <a:gd name="connsiteY3" fmla="*/ 319998 h 3642747"/>
              <a:gd name="connsiteX4" fmla="*/ 3538055 w 5692462"/>
              <a:gd name="connsiteY4" fmla="*/ 0 h 3642747"/>
              <a:gd name="connsiteX0" fmla="*/ 0 w 2154407"/>
              <a:gd name="connsiteY0" fmla="*/ 0 h 332876"/>
              <a:gd name="connsiteX1" fmla="*/ 2154407 w 2154407"/>
              <a:gd name="connsiteY1" fmla="*/ 0 h 332876"/>
              <a:gd name="connsiteX2" fmla="*/ 2077134 w 2154407"/>
              <a:gd name="connsiteY2" fmla="*/ 332876 h 332876"/>
              <a:gd name="connsiteX3" fmla="*/ 25758 w 2154407"/>
              <a:gd name="connsiteY3" fmla="*/ 319998 h 332876"/>
              <a:gd name="connsiteX4" fmla="*/ 0 w 2154407"/>
              <a:gd name="connsiteY4" fmla="*/ 0 h 332876"/>
              <a:gd name="connsiteX0" fmla="*/ 0 w 2154407"/>
              <a:gd name="connsiteY0" fmla="*/ 0 h 423028"/>
              <a:gd name="connsiteX1" fmla="*/ 2154407 w 2154407"/>
              <a:gd name="connsiteY1" fmla="*/ 90152 h 423028"/>
              <a:gd name="connsiteX2" fmla="*/ 2077134 w 2154407"/>
              <a:gd name="connsiteY2" fmla="*/ 423028 h 423028"/>
              <a:gd name="connsiteX3" fmla="*/ 25758 w 2154407"/>
              <a:gd name="connsiteY3" fmla="*/ 410150 h 423028"/>
              <a:gd name="connsiteX4" fmla="*/ 0 w 2154407"/>
              <a:gd name="connsiteY4" fmla="*/ 0 h 423028"/>
              <a:gd name="connsiteX0" fmla="*/ 0 w 2141529"/>
              <a:gd name="connsiteY0" fmla="*/ 0 h 423028"/>
              <a:gd name="connsiteX1" fmla="*/ 2141529 w 2141529"/>
              <a:gd name="connsiteY1" fmla="*/ 0 h 423028"/>
              <a:gd name="connsiteX2" fmla="*/ 2077134 w 2141529"/>
              <a:gd name="connsiteY2" fmla="*/ 423028 h 423028"/>
              <a:gd name="connsiteX3" fmla="*/ 25758 w 2141529"/>
              <a:gd name="connsiteY3" fmla="*/ 410150 h 423028"/>
              <a:gd name="connsiteX4" fmla="*/ 0 w 2141529"/>
              <a:gd name="connsiteY4" fmla="*/ 0 h 423028"/>
              <a:gd name="connsiteX0" fmla="*/ 0 w 2141529"/>
              <a:gd name="connsiteY0" fmla="*/ 0 h 423028"/>
              <a:gd name="connsiteX1" fmla="*/ 2141529 w 2141529"/>
              <a:gd name="connsiteY1" fmla="*/ 0 h 423028"/>
              <a:gd name="connsiteX2" fmla="*/ 2077134 w 2141529"/>
              <a:gd name="connsiteY2" fmla="*/ 423028 h 423028"/>
              <a:gd name="connsiteX3" fmla="*/ 0 w 2141529"/>
              <a:gd name="connsiteY3" fmla="*/ 410150 h 423028"/>
              <a:gd name="connsiteX4" fmla="*/ 0 w 2141529"/>
              <a:gd name="connsiteY4" fmla="*/ 0 h 423028"/>
              <a:gd name="connsiteX0" fmla="*/ 0 w 2167286"/>
              <a:gd name="connsiteY0" fmla="*/ 0 h 410150"/>
              <a:gd name="connsiteX1" fmla="*/ 2141529 w 2167286"/>
              <a:gd name="connsiteY1" fmla="*/ 0 h 410150"/>
              <a:gd name="connsiteX2" fmla="*/ 2167286 w 2167286"/>
              <a:gd name="connsiteY2" fmla="*/ 397270 h 410150"/>
              <a:gd name="connsiteX3" fmla="*/ 0 w 2167286"/>
              <a:gd name="connsiteY3" fmla="*/ 410150 h 410150"/>
              <a:gd name="connsiteX4" fmla="*/ 0 w 2167286"/>
              <a:gd name="connsiteY4" fmla="*/ 0 h 410150"/>
              <a:gd name="connsiteX0" fmla="*/ 0 w 2167286"/>
              <a:gd name="connsiteY0" fmla="*/ 0 h 423028"/>
              <a:gd name="connsiteX1" fmla="*/ 2141529 w 2167286"/>
              <a:gd name="connsiteY1" fmla="*/ 0 h 423028"/>
              <a:gd name="connsiteX2" fmla="*/ 2167286 w 2167286"/>
              <a:gd name="connsiteY2" fmla="*/ 423028 h 423028"/>
              <a:gd name="connsiteX3" fmla="*/ 0 w 2167286"/>
              <a:gd name="connsiteY3" fmla="*/ 410150 h 423028"/>
              <a:gd name="connsiteX4" fmla="*/ 0 w 2167286"/>
              <a:gd name="connsiteY4" fmla="*/ 0 h 423028"/>
              <a:gd name="connsiteX0" fmla="*/ 0 w 2141529"/>
              <a:gd name="connsiteY0" fmla="*/ 0 h 423028"/>
              <a:gd name="connsiteX1" fmla="*/ 2141529 w 2141529"/>
              <a:gd name="connsiteY1" fmla="*/ 0 h 423028"/>
              <a:gd name="connsiteX2" fmla="*/ 2115771 w 2141529"/>
              <a:gd name="connsiteY2" fmla="*/ 423028 h 423028"/>
              <a:gd name="connsiteX3" fmla="*/ 0 w 2141529"/>
              <a:gd name="connsiteY3" fmla="*/ 410150 h 423028"/>
              <a:gd name="connsiteX4" fmla="*/ 0 w 2141529"/>
              <a:gd name="connsiteY4" fmla="*/ 0 h 423028"/>
              <a:gd name="connsiteX0" fmla="*/ 0 w 2141529"/>
              <a:gd name="connsiteY0" fmla="*/ 0 h 423028"/>
              <a:gd name="connsiteX1" fmla="*/ 2141529 w 2141529"/>
              <a:gd name="connsiteY1" fmla="*/ 0 h 423028"/>
              <a:gd name="connsiteX2" fmla="*/ 2141529 w 2141529"/>
              <a:gd name="connsiteY2" fmla="*/ 423028 h 423028"/>
              <a:gd name="connsiteX3" fmla="*/ 0 w 2141529"/>
              <a:gd name="connsiteY3" fmla="*/ 410150 h 423028"/>
              <a:gd name="connsiteX4" fmla="*/ 0 w 2141529"/>
              <a:gd name="connsiteY4" fmla="*/ 0 h 423028"/>
              <a:gd name="connsiteX0" fmla="*/ 0 w 2141529"/>
              <a:gd name="connsiteY0" fmla="*/ 0 h 410150"/>
              <a:gd name="connsiteX1" fmla="*/ 2141529 w 2141529"/>
              <a:gd name="connsiteY1" fmla="*/ 0 h 410150"/>
              <a:gd name="connsiteX2" fmla="*/ 2141529 w 2141529"/>
              <a:gd name="connsiteY2" fmla="*/ 410149 h 410150"/>
              <a:gd name="connsiteX3" fmla="*/ 0 w 2141529"/>
              <a:gd name="connsiteY3" fmla="*/ 410150 h 410150"/>
              <a:gd name="connsiteX4" fmla="*/ 0 w 2141529"/>
              <a:gd name="connsiteY4" fmla="*/ 0 h 410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1529" h="410150">
                <a:moveTo>
                  <a:pt x="0" y="0"/>
                </a:moveTo>
                <a:lnTo>
                  <a:pt x="2141529" y="0"/>
                </a:lnTo>
                <a:lnTo>
                  <a:pt x="2141529" y="410149"/>
                </a:lnTo>
                <a:lnTo>
                  <a:pt x="0" y="410150"/>
                </a:lnTo>
                <a:lnTo>
                  <a:pt x="0" y="0"/>
                </a:lnTo>
                <a:close/>
              </a:path>
            </a:pathLst>
          </a:custGeom>
          <a:noFill/>
        </p:spPr>
        <p:txBody>
          <a:bodyPr wrap="square" rtlCol="0">
            <a:spAutoFit/>
          </a:bodyPr>
          <a:lstStyle/>
          <a:p>
            <a:r>
              <a:rPr lang="en-GB" sz="2400" b="1" dirty="0">
                <a:solidFill>
                  <a:schemeClr val="accent6"/>
                </a:solidFill>
              </a:rPr>
              <a:t>Neutralisation</a:t>
            </a:r>
          </a:p>
        </p:txBody>
      </p:sp>
      <p:sp>
        <p:nvSpPr>
          <p:cNvPr id="9" name="TextBox 8"/>
          <p:cNvSpPr txBox="1"/>
          <p:nvPr/>
        </p:nvSpPr>
        <p:spPr>
          <a:xfrm>
            <a:off x="330767" y="4169080"/>
            <a:ext cx="2548517" cy="1846659"/>
          </a:xfrm>
          <a:custGeom>
            <a:avLst/>
            <a:gdLst>
              <a:gd name="connsiteX0" fmla="*/ 0 w 2520280"/>
              <a:gd name="connsiteY0" fmla="*/ 0 h 1846659"/>
              <a:gd name="connsiteX1" fmla="*/ 2520280 w 2520280"/>
              <a:gd name="connsiteY1" fmla="*/ 0 h 1846659"/>
              <a:gd name="connsiteX2" fmla="*/ 2520280 w 2520280"/>
              <a:gd name="connsiteY2" fmla="*/ 1846659 h 1846659"/>
              <a:gd name="connsiteX3" fmla="*/ 0 w 2520280"/>
              <a:gd name="connsiteY3" fmla="*/ 1846659 h 1846659"/>
              <a:gd name="connsiteX4" fmla="*/ 0 w 2520280"/>
              <a:gd name="connsiteY4" fmla="*/ 0 h 1846659"/>
              <a:gd name="connsiteX0" fmla="*/ 0 w 2520280"/>
              <a:gd name="connsiteY0" fmla="*/ 201478 h 1846659"/>
              <a:gd name="connsiteX1" fmla="*/ 2520280 w 2520280"/>
              <a:gd name="connsiteY1" fmla="*/ 0 h 1846659"/>
              <a:gd name="connsiteX2" fmla="*/ 2520280 w 2520280"/>
              <a:gd name="connsiteY2" fmla="*/ 1846659 h 1846659"/>
              <a:gd name="connsiteX3" fmla="*/ 0 w 2520280"/>
              <a:gd name="connsiteY3" fmla="*/ 1846659 h 1846659"/>
              <a:gd name="connsiteX4" fmla="*/ 0 w 2520280"/>
              <a:gd name="connsiteY4" fmla="*/ 201478 h 1846659"/>
              <a:gd name="connsiteX0" fmla="*/ 0 w 2520280"/>
              <a:gd name="connsiteY0" fmla="*/ 46495 h 1691676"/>
              <a:gd name="connsiteX1" fmla="*/ 2520280 w 2520280"/>
              <a:gd name="connsiteY1" fmla="*/ 0 h 1691676"/>
              <a:gd name="connsiteX2" fmla="*/ 2520280 w 2520280"/>
              <a:gd name="connsiteY2" fmla="*/ 1691676 h 1691676"/>
              <a:gd name="connsiteX3" fmla="*/ 0 w 2520280"/>
              <a:gd name="connsiteY3" fmla="*/ 1691676 h 1691676"/>
              <a:gd name="connsiteX4" fmla="*/ 0 w 2520280"/>
              <a:gd name="connsiteY4" fmla="*/ 46495 h 1691676"/>
              <a:gd name="connsiteX0" fmla="*/ 0 w 2520280"/>
              <a:gd name="connsiteY0" fmla="*/ 15498 h 1660679"/>
              <a:gd name="connsiteX1" fmla="*/ 2520280 w 2520280"/>
              <a:gd name="connsiteY1" fmla="*/ 0 h 1660679"/>
              <a:gd name="connsiteX2" fmla="*/ 2520280 w 2520280"/>
              <a:gd name="connsiteY2" fmla="*/ 1660679 h 1660679"/>
              <a:gd name="connsiteX3" fmla="*/ 0 w 2520280"/>
              <a:gd name="connsiteY3" fmla="*/ 1660679 h 1660679"/>
              <a:gd name="connsiteX4" fmla="*/ 0 w 2520280"/>
              <a:gd name="connsiteY4" fmla="*/ 15498 h 1660679"/>
              <a:gd name="connsiteX0" fmla="*/ 0 w 2520280"/>
              <a:gd name="connsiteY0" fmla="*/ 0 h 1645181"/>
              <a:gd name="connsiteX1" fmla="*/ 2520280 w 2520280"/>
              <a:gd name="connsiteY1" fmla="*/ 15499 h 1645181"/>
              <a:gd name="connsiteX2" fmla="*/ 2520280 w 2520280"/>
              <a:gd name="connsiteY2" fmla="*/ 1645181 h 1645181"/>
              <a:gd name="connsiteX3" fmla="*/ 0 w 2520280"/>
              <a:gd name="connsiteY3" fmla="*/ 1645181 h 1645181"/>
              <a:gd name="connsiteX4" fmla="*/ 0 w 2520280"/>
              <a:gd name="connsiteY4" fmla="*/ 0 h 1645181"/>
              <a:gd name="connsiteX0" fmla="*/ 0 w 8560471"/>
              <a:gd name="connsiteY0" fmla="*/ 0 h 1840235"/>
              <a:gd name="connsiteX1" fmla="*/ 8560471 w 8560471"/>
              <a:gd name="connsiteY1" fmla="*/ 210553 h 1840235"/>
              <a:gd name="connsiteX2" fmla="*/ 8560471 w 8560471"/>
              <a:gd name="connsiteY2" fmla="*/ 1840235 h 1840235"/>
              <a:gd name="connsiteX3" fmla="*/ 6040191 w 8560471"/>
              <a:gd name="connsiteY3" fmla="*/ 1840235 h 1840235"/>
              <a:gd name="connsiteX4" fmla="*/ 0 w 8560471"/>
              <a:gd name="connsiteY4" fmla="*/ 0 h 1840235"/>
              <a:gd name="connsiteX0" fmla="*/ 0 w 8560471"/>
              <a:gd name="connsiteY0" fmla="*/ 0 h 1840235"/>
              <a:gd name="connsiteX1" fmla="*/ 8560471 w 8560471"/>
              <a:gd name="connsiteY1" fmla="*/ 210553 h 1840235"/>
              <a:gd name="connsiteX2" fmla="*/ 8560471 w 8560471"/>
              <a:gd name="connsiteY2" fmla="*/ 1840235 h 1840235"/>
              <a:gd name="connsiteX3" fmla="*/ 12878 w 8560471"/>
              <a:gd name="connsiteY3" fmla="*/ 1828761 h 1840235"/>
              <a:gd name="connsiteX4" fmla="*/ 0 w 8560471"/>
              <a:gd name="connsiteY4" fmla="*/ 0 h 1840235"/>
              <a:gd name="connsiteX0" fmla="*/ 13449 w 8573920"/>
              <a:gd name="connsiteY0" fmla="*/ 0 h 1840235"/>
              <a:gd name="connsiteX1" fmla="*/ 8573920 w 8573920"/>
              <a:gd name="connsiteY1" fmla="*/ 210553 h 1840235"/>
              <a:gd name="connsiteX2" fmla="*/ 8573920 w 8573920"/>
              <a:gd name="connsiteY2" fmla="*/ 1840235 h 1840235"/>
              <a:gd name="connsiteX3" fmla="*/ 570 w 8573920"/>
              <a:gd name="connsiteY3" fmla="*/ 1828761 h 1840235"/>
              <a:gd name="connsiteX4" fmla="*/ 13449 w 8573920"/>
              <a:gd name="connsiteY4" fmla="*/ 0 h 1840235"/>
              <a:gd name="connsiteX0" fmla="*/ 13449 w 8573920"/>
              <a:gd name="connsiteY0" fmla="*/ 7449 h 1847684"/>
              <a:gd name="connsiteX1" fmla="*/ 2559487 w 8573920"/>
              <a:gd name="connsiteY1" fmla="*/ 0 h 1847684"/>
              <a:gd name="connsiteX2" fmla="*/ 8573920 w 8573920"/>
              <a:gd name="connsiteY2" fmla="*/ 1847684 h 1847684"/>
              <a:gd name="connsiteX3" fmla="*/ 570 w 8573920"/>
              <a:gd name="connsiteY3" fmla="*/ 1836210 h 1847684"/>
              <a:gd name="connsiteX4" fmla="*/ 13449 w 8573920"/>
              <a:gd name="connsiteY4" fmla="*/ 7449 h 1847684"/>
              <a:gd name="connsiteX0" fmla="*/ 13449 w 8573920"/>
              <a:gd name="connsiteY0" fmla="*/ 0 h 1840235"/>
              <a:gd name="connsiteX1" fmla="*/ 2559487 w 8573920"/>
              <a:gd name="connsiteY1" fmla="*/ 15499 h 1840235"/>
              <a:gd name="connsiteX2" fmla="*/ 8573920 w 8573920"/>
              <a:gd name="connsiteY2" fmla="*/ 1840235 h 1840235"/>
              <a:gd name="connsiteX3" fmla="*/ 570 w 8573920"/>
              <a:gd name="connsiteY3" fmla="*/ 1828761 h 1840235"/>
              <a:gd name="connsiteX4" fmla="*/ 13449 w 8573920"/>
              <a:gd name="connsiteY4" fmla="*/ 0 h 1840235"/>
              <a:gd name="connsiteX0" fmla="*/ 13449 w 2598122"/>
              <a:gd name="connsiteY0" fmla="*/ 0 h 1851709"/>
              <a:gd name="connsiteX1" fmla="*/ 2559487 w 2598122"/>
              <a:gd name="connsiteY1" fmla="*/ 15499 h 1851709"/>
              <a:gd name="connsiteX2" fmla="*/ 2598122 w 2598122"/>
              <a:gd name="connsiteY2" fmla="*/ 1851709 h 1851709"/>
              <a:gd name="connsiteX3" fmla="*/ 570 w 2598122"/>
              <a:gd name="connsiteY3" fmla="*/ 1828761 h 1851709"/>
              <a:gd name="connsiteX4" fmla="*/ 13449 w 2598122"/>
              <a:gd name="connsiteY4" fmla="*/ 0 h 1851709"/>
              <a:gd name="connsiteX0" fmla="*/ 13449 w 2598122"/>
              <a:gd name="connsiteY0" fmla="*/ 0 h 1840235"/>
              <a:gd name="connsiteX1" fmla="*/ 2559487 w 2598122"/>
              <a:gd name="connsiteY1" fmla="*/ 15499 h 1840235"/>
              <a:gd name="connsiteX2" fmla="*/ 2598122 w 2598122"/>
              <a:gd name="connsiteY2" fmla="*/ 1840235 h 1840235"/>
              <a:gd name="connsiteX3" fmla="*/ 570 w 2598122"/>
              <a:gd name="connsiteY3" fmla="*/ 1828761 h 1840235"/>
              <a:gd name="connsiteX4" fmla="*/ 13449 w 2598122"/>
              <a:gd name="connsiteY4" fmla="*/ 0 h 1840235"/>
              <a:gd name="connsiteX0" fmla="*/ 13449 w 2572365"/>
              <a:gd name="connsiteY0" fmla="*/ 0 h 1828761"/>
              <a:gd name="connsiteX1" fmla="*/ 2559487 w 2572365"/>
              <a:gd name="connsiteY1" fmla="*/ 15499 h 1828761"/>
              <a:gd name="connsiteX2" fmla="*/ 2572365 w 2572365"/>
              <a:gd name="connsiteY2" fmla="*/ 1828761 h 1828761"/>
              <a:gd name="connsiteX3" fmla="*/ 570 w 2572365"/>
              <a:gd name="connsiteY3" fmla="*/ 1828761 h 1828761"/>
              <a:gd name="connsiteX4" fmla="*/ 13449 w 2572365"/>
              <a:gd name="connsiteY4" fmla="*/ 0 h 1828761"/>
              <a:gd name="connsiteX0" fmla="*/ 13449 w 2560057"/>
              <a:gd name="connsiteY0" fmla="*/ 0 h 1828761"/>
              <a:gd name="connsiteX1" fmla="*/ 2559487 w 2560057"/>
              <a:gd name="connsiteY1" fmla="*/ 15499 h 1828761"/>
              <a:gd name="connsiteX2" fmla="*/ 2546607 w 2560057"/>
              <a:gd name="connsiteY2" fmla="*/ 1828761 h 1828761"/>
              <a:gd name="connsiteX3" fmla="*/ 570 w 2560057"/>
              <a:gd name="connsiteY3" fmla="*/ 1828761 h 1828761"/>
              <a:gd name="connsiteX4" fmla="*/ 13449 w 2560057"/>
              <a:gd name="connsiteY4" fmla="*/ 0 h 1828761"/>
              <a:gd name="connsiteX0" fmla="*/ 13449 w 2572365"/>
              <a:gd name="connsiteY0" fmla="*/ 0 h 1828761"/>
              <a:gd name="connsiteX1" fmla="*/ 2559487 w 2572365"/>
              <a:gd name="connsiteY1" fmla="*/ 15499 h 1828761"/>
              <a:gd name="connsiteX2" fmla="*/ 2572365 w 2572365"/>
              <a:gd name="connsiteY2" fmla="*/ 1828761 h 1828761"/>
              <a:gd name="connsiteX3" fmla="*/ 570 w 2572365"/>
              <a:gd name="connsiteY3" fmla="*/ 1828761 h 1828761"/>
              <a:gd name="connsiteX4" fmla="*/ 13449 w 2572365"/>
              <a:gd name="connsiteY4" fmla="*/ 0 h 1828761"/>
              <a:gd name="connsiteX0" fmla="*/ 13449 w 2560726"/>
              <a:gd name="connsiteY0" fmla="*/ 0 h 1828761"/>
              <a:gd name="connsiteX1" fmla="*/ 2559487 w 2560726"/>
              <a:gd name="connsiteY1" fmla="*/ 15499 h 1828761"/>
              <a:gd name="connsiteX2" fmla="*/ 2559486 w 2560726"/>
              <a:gd name="connsiteY2" fmla="*/ 1828761 h 1828761"/>
              <a:gd name="connsiteX3" fmla="*/ 570 w 2560726"/>
              <a:gd name="connsiteY3" fmla="*/ 1828761 h 1828761"/>
              <a:gd name="connsiteX4" fmla="*/ 13449 w 2560726"/>
              <a:gd name="connsiteY4" fmla="*/ 0 h 1828761"/>
              <a:gd name="connsiteX0" fmla="*/ 13449 w 2560726"/>
              <a:gd name="connsiteY0" fmla="*/ 0 h 1817287"/>
              <a:gd name="connsiteX1" fmla="*/ 2559487 w 2560726"/>
              <a:gd name="connsiteY1" fmla="*/ 4025 h 1817287"/>
              <a:gd name="connsiteX2" fmla="*/ 2559486 w 2560726"/>
              <a:gd name="connsiteY2" fmla="*/ 1817287 h 1817287"/>
              <a:gd name="connsiteX3" fmla="*/ 570 w 2560726"/>
              <a:gd name="connsiteY3" fmla="*/ 1817287 h 1817287"/>
              <a:gd name="connsiteX4" fmla="*/ 13449 w 2560726"/>
              <a:gd name="connsiteY4" fmla="*/ 0 h 1817287"/>
              <a:gd name="connsiteX0" fmla="*/ 1240 w 2548517"/>
              <a:gd name="connsiteY0" fmla="*/ 0 h 1817287"/>
              <a:gd name="connsiteX1" fmla="*/ 2547278 w 2548517"/>
              <a:gd name="connsiteY1" fmla="*/ 4025 h 1817287"/>
              <a:gd name="connsiteX2" fmla="*/ 2547277 w 2548517"/>
              <a:gd name="connsiteY2" fmla="*/ 1817287 h 1817287"/>
              <a:gd name="connsiteX3" fmla="*/ 1240 w 2548517"/>
              <a:gd name="connsiteY3" fmla="*/ 1817287 h 1817287"/>
              <a:gd name="connsiteX4" fmla="*/ 1240 w 2548517"/>
              <a:gd name="connsiteY4" fmla="*/ 0 h 1817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8517" h="1817287">
                <a:moveTo>
                  <a:pt x="1240" y="0"/>
                </a:moveTo>
                <a:lnTo>
                  <a:pt x="2547278" y="4025"/>
                </a:lnTo>
                <a:cubicBezTo>
                  <a:pt x="2551571" y="608446"/>
                  <a:pt x="2542984" y="1212866"/>
                  <a:pt x="2547277" y="1817287"/>
                </a:cubicBezTo>
                <a:lnTo>
                  <a:pt x="1240" y="1817287"/>
                </a:lnTo>
                <a:cubicBezTo>
                  <a:pt x="-3053" y="1207700"/>
                  <a:pt x="5533" y="609587"/>
                  <a:pt x="1240" y="0"/>
                </a:cubicBezTo>
                <a:close/>
              </a:path>
            </a:pathLst>
          </a:custGeom>
          <a:solidFill>
            <a:schemeClr val="accent6"/>
          </a:solidFill>
        </p:spPr>
        <p:txBody>
          <a:bodyPr wrap="square" rtlCol="0" anchor="ctr">
            <a:spAutoFit/>
          </a:bodyPr>
          <a:lstStyle/>
          <a:p>
            <a:pPr algn="ctr"/>
            <a:r>
              <a:rPr lang="en-GB" sz="2400" b="1" dirty="0"/>
              <a:t>Know all three of these examples of exothermic reactions</a:t>
            </a:r>
          </a:p>
          <a:p>
            <a:endParaRPr lang="en-GB"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3528" y="2002364"/>
            <a:ext cx="2592288" cy="1845160"/>
          </a:xfrm>
          <a:prstGeom prst="rect">
            <a:avLst/>
          </a:prstGeo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59832" y="2002364"/>
            <a:ext cx="2952328" cy="1845160"/>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56176" y="2002364"/>
            <a:ext cx="2592288" cy="1845160"/>
          </a:xfrm>
          <a:prstGeom prst="rect">
            <a:avLst/>
          </a:prstGeom>
        </p:spPr>
      </p:pic>
      <p:sp>
        <p:nvSpPr>
          <p:cNvPr id="15" name="TextBox 14"/>
          <p:cNvSpPr txBox="1"/>
          <p:nvPr/>
        </p:nvSpPr>
        <p:spPr>
          <a:xfrm>
            <a:off x="3059832" y="4072487"/>
            <a:ext cx="2952328" cy="1938992"/>
          </a:xfrm>
          <a:custGeom>
            <a:avLst/>
            <a:gdLst>
              <a:gd name="connsiteX0" fmla="*/ 0 w 2952328"/>
              <a:gd name="connsiteY0" fmla="*/ 0 h 1754326"/>
              <a:gd name="connsiteX1" fmla="*/ 2952328 w 2952328"/>
              <a:gd name="connsiteY1" fmla="*/ 0 h 1754326"/>
              <a:gd name="connsiteX2" fmla="*/ 2952328 w 2952328"/>
              <a:gd name="connsiteY2" fmla="*/ 1754326 h 1754326"/>
              <a:gd name="connsiteX3" fmla="*/ 0 w 2952328"/>
              <a:gd name="connsiteY3" fmla="*/ 1754326 h 1754326"/>
              <a:gd name="connsiteX4" fmla="*/ 0 w 2952328"/>
              <a:gd name="connsiteY4" fmla="*/ 0 h 1754326"/>
              <a:gd name="connsiteX0" fmla="*/ 0 w 2952328"/>
              <a:gd name="connsiteY0" fmla="*/ 0 h 1754326"/>
              <a:gd name="connsiteX1" fmla="*/ 2952328 w 2952328"/>
              <a:gd name="connsiteY1" fmla="*/ 0 h 1754326"/>
              <a:gd name="connsiteX2" fmla="*/ 2952328 w 2952328"/>
              <a:gd name="connsiteY2" fmla="*/ 1754326 h 1754326"/>
              <a:gd name="connsiteX3" fmla="*/ 12879 w 2952328"/>
              <a:gd name="connsiteY3" fmla="*/ 1277807 h 1754326"/>
              <a:gd name="connsiteX4" fmla="*/ 0 w 2952328"/>
              <a:gd name="connsiteY4" fmla="*/ 0 h 1754326"/>
              <a:gd name="connsiteX0" fmla="*/ 0 w 2965207"/>
              <a:gd name="connsiteY0" fmla="*/ 0 h 1303565"/>
              <a:gd name="connsiteX1" fmla="*/ 2952328 w 2965207"/>
              <a:gd name="connsiteY1" fmla="*/ 0 h 1303565"/>
              <a:gd name="connsiteX2" fmla="*/ 2965207 w 2965207"/>
              <a:gd name="connsiteY2" fmla="*/ 1303565 h 1303565"/>
              <a:gd name="connsiteX3" fmla="*/ 12879 w 2965207"/>
              <a:gd name="connsiteY3" fmla="*/ 1277807 h 1303565"/>
              <a:gd name="connsiteX4" fmla="*/ 0 w 2965207"/>
              <a:gd name="connsiteY4" fmla="*/ 0 h 1303565"/>
              <a:gd name="connsiteX0" fmla="*/ 0 w 2952328"/>
              <a:gd name="connsiteY0" fmla="*/ 0 h 1290686"/>
              <a:gd name="connsiteX1" fmla="*/ 2952328 w 2952328"/>
              <a:gd name="connsiteY1" fmla="*/ 0 h 1290686"/>
              <a:gd name="connsiteX2" fmla="*/ 2952328 w 2952328"/>
              <a:gd name="connsiteY2" fmla="*/ 1290686 h 1290686"/>
              <a:gd name="connsiteX3" fmla="*/ 12879 w 2952328"/>
              <a:gd name="connsiteY3" fmla="*/ 1277807 h 1290686"/>
              <a:gd name="connsiteX4" fmla="*/ 0 w 2952328"/>
              <a:gd name="connsiteY4" fmla="*/ 0 h 1290686"/>
              <a:gd name="connsiteX0" fmla="*/ 0 w 2952328"/>
              <a:gd name="connsiteY0" fmla="*/ 0 h 1290686"/>
              <a:gd name="connsiteX1" fmla="*/ 2952328 w 2952328"/>
              <a:gd name="connsiteY1" fmla="*/ 0 h 1290686"/>
              <a:gd name="connsiteX2" fmla="*/ 2952328 w 2952328"/>
              <a:gd name="connsiteY2" fmla="*/ 1290686 h 1290686"/>
              <a:gd name="connsiteX3" fmla="*/ 12879 w 2952328"/>
              <a:gd name="connsiteY3" fmla="*/ 1064440 h 1290686"/>
              <a:gd name="connsiteX4" fmla="*/ 0 w 2952328"/>
              <a:gd name="connsiteY4" fmla="*/ 0 h 1290686"/>
              <a:gd name="connsiteX0" fmla="*/ 0 w 2952328"/>
              <a:gd name="connsiteY0" fmla="*/ 0 h 1070651"/>
              <a:gd name="connsiteX1" fmla="*/ 2952328 w 2952328"/>
              <a:gd name="connsiteY1" fmla="*/ 0 h 1070651"/>
              <a:gd name="connsiteX2" fmla="*/ 2952328 w 2952328"/>
              <a:gd name="connsiteY2" fmla="*/ 1070651 h 1070651"/>
              <a:gd name="connsiteX3" fmla="*/ 12879 w 2952328"/>
              <a:gd name="connsiteY3" fmla="*/ 1064440 h 1070651"/>
              <a:gd name="connsiteX4" fmla="*/ 0 w 2952328"/>
              <a:gd name="connsiteY4" fmla="*/ 0 h 1070651"/>
              <a:gd name="connsiteX0" fmla="*/ 0 w 2952328"/>
              <a:gd name="connsiteY0" fmla="*/ 0 h 1070651"/>
              <a:gd name="connsiteX1" fmla="*/ 2952328 w 2952328"/>
              <a:gd name="connsiteY1" fmla="*/ 0 h 1070651"/>
              <a:gd name="connsiteX2" fmla="*/ 2952328 w 2952328"/>
              <a:gd name="connsiteY2" fmla="*/ 1070651 h 1070651"/>
              <a:gd name="connsiteX3" fmla="*/ 0 w 2952328"/>
              <a:gd name="connsiteY3" fmla="*/ 1064440 h 1070651"/>
              <a:gd name="connsiteX4" fmla="*/ 0 w 2952328"/>
              <a:gd name="connsiteY4" fmla="*/ 0 h 1070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328" h="1070651">
                <a:moveTo>
                  <a:pt x="0" y="0"/>
                </a:moveTo>
                <a:lnTo>
                  <a:pt x="2952328" y="0"/>
                </a:lnTo>
                <a:lnTo>
                  <a:pt x="2952328" y="1070651"/>
                </a:lnTo>
                <a:lnTo>
                  <a:pt x="0" y="1064440"/>
                </a:lnTo>
                <a:lnTo>
                  <a:pt x="0" y="0"/>
                </a:lnTo>
                <a:close/>
              </a:path>
            </a:pathLst>
          </a:custGeom>
          <a:noFill/>
          <a:ln w="19050">
            <a:solidFill>
              <a:schemeClr val="accent6"/>
            </a:solidFill>
          </a:ln>
        </p:spPr>
        <p:txBody>
          <a:bodyPr wrap="square" rtlCol="0">
            <a:spAutoFit/>
          </a:bodyPr>
          <a:lstStyle/>
          <a:p>
            <a:pPr algn="ctr"/>
            <a:r>
              <a:rPr lang="en-GB" sz="2400" b="1" dirty="0"/>
              <a:t>Everyday uses of exothermic reactions include –</a:t>
            </a:r>
          </a:p>
          <a:p>
            <a:pPr algn="ctr"/>
            <a:r>
              <a:rPr lang="en-GB" sz="2400" b="1" dirty="0">
                <a:solidFill>
                  <a:schemeClr val="accent6"/>
                </a:solidFill>
              </a:rPr>
              <a:t>Self-heating cans</a:t>
            </a:r>
          </a:p>
          <a:p>
            <a:pPr algn="ctr"/>
            <a:r>
              <a:rPr lang="en-GB" sz="2400" b="1" dirty="0">
                <a:solidFill>
                  <a:schemeClr val="accent6"/>
                </a:solidFill>
              </a:rPr>
              <a:t>Hand warmers</a:t>
            </a:r>
          </a:p>
        </p:txBody>
      </p:sp>
      <p:sp>
        <p:nvSpPr>
          <p:cNvPr id="16" name="TextBox 15"/>
          <p:cNvSpPr txBox="1"/>
          <p:nvPr/>
        </p:nvSpPr>
        <p:spPr>
          <a:xfrm>
            <a:off x="6156176" y="4072488"/>
            <a:ext cx="2592288" cy="1938992"/>
          </a:xfrm>
          <a:custGeom>
            <a:avLst/>
            <a:gdLst>
              <a:gd name="connsiteX0" fmla="*/ 0 w 2592288"/>
              <a:gd name="connsiteY0" fmla="*/ 0 h 1569660"/>
              <a:gd name="connsiteX1" fmla="*/ 2592288 w 2592288"/>
              <a:gd name="connsiteY1" fmla="*/ 0 h 1569660"/>
              <a:gd name="connsiteX2" fmla="*/ 2592288 w 2592288"/>
              <a:gd name="connsiteY2" fmla="*/ 1569660 h 1569660"/>
              <a:gd name="connsiteX3" fmla="*/ 0 w 2592288"/>
              <a:gd name="connsiteY3" fmla="*/ 1569660 h 1569660"/>
              <a:gd name="connsiteX4" fmla="*/ 0 w 2592288"/>
              <a:gd name="connsiteY4" fmla="*/ 0 h 1569660"/>
              <a:gd name="connsiteX0" fmla="*/ 0 w 2592288"/>
              <a:gd name="connsiteY0" fmla="*/ 0 h 2046179"/>
              <a:gd name="connsiteX1" fmla="*/ 2592288 w 2592288"/>
              <a:gd name="connsiteY1" fmla="*/ 0 h 2046179"/>
              <a:gd name="connsiteX2" fmla="*/ 2592288 w 2592288"/>
              <a:gd name="connsiteY2" fmla="*/ 1569660 h 2046179"/>
              <a:gd name="connsiteX3" fmla="*/ 0 w 2592288"/>
              <a:gd name="connsiteY3" fmla="*/ 2046179 h 2046179"/>
              <a:gd name="connsiteX4" fmla="*/ 0 w 2592288"/>
              <a:gd name="connsiteY4" fmla="*/ 0 h 2046179"/>
              <a:gd name="connsiteX0" fmla="*/ 0 w 2592288"/>
              <a:gd name="connsiteY0" fmla="*/ 0 h 2046179"/>
              <a:gd name="connsiteX1" fmla="*/ 2592288 w 2592288"/>
              <a:gd name="connsiteY1" fmla="*/ 0 h 2046179"/>
              <a:gd name="connsiteX2" fmla="*/ 2592288 w 2592288"/>
              <a:gd name="connsiteY2" fmla="*/ 2020421 h 2046179"/>
              <a:gd name="connsiteX3" fmla="*/ 0 w 2592288"/>
              <a:gd name="connsiteY3" fmla="*/ 2046179 h 2046179"/>
              <a:gd name="connsiteX4" fmla="*/ 0 w 2592288"/>
              <a:gd name="connsiteY4" fmla="*/ 0 h 2046179"/>
              <a:gd name="connsiteX0" fmla="*/ 0 w 2592288"/>
              <a:gd name="connsiteY0" fmla="*/ 0 h 2046179"/>
              <a:gd name="connsiteX1" fmla="*/ 2592288 w 2592288"/>
              <a:gd name="connsiteY1" fmla="*/ 0 h 2046179"/>
              <a:gd name="connsiteX2" fmla="*/ 2592288 w 2592288"/>
              <a:gd name="connsiteY2" fmla="*/ 2033300 h 2046179"/>
              <a:gd name="connsiteX3" fmla="*/ 0 w 2592288"/>
              <a:gd name="connsiteY3" fmla="*/ 2046179 h 2046179"/>
              <a:gd name="connsiteX4" fmla="*/ 0 w 2592288"/>
              <a:gd name="connsiteY4" fmla="*/ 0 h 2046179"/>
              <a:gd name="connsiteX0" fmla="*/ 0 w 2592288"/>
              <a:gd name="connsiteY0" fmla="*/ 0 h 2046179"/>
              <a:gd name="connsiteX1" fmla="*/ 2592288 w 2592288"/>
              <a:gd name="connsiteY1" fmla="*/ 0 h 2046179"/>
              <a:gd name="connsiteX2" fmla="*/ 2592288 w 2592288"/>
              <a:gd name="connsiteY2" fmla="*/ 2046179 h 2046179"/>
              <a:gd name="connsiteX3" fmla="*/ 0 w 2592288"/>
              <a:gd name="connsiteY3" fmla="*/ 2046179 h 2046179"/>
              <a:gd name="connsiteX4" fmla="*/ 0 w 2592288"/>
              <a:gd name="connsiteY4" fmla="*/ 0 h 2046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288" h="2046179">
                <a:moveTo>
                  <a:pt x="0" y="0"/>
                </a:moveTo>
                <a:lnTo>
                  <a:pt x="2592288" y="0"/>
                </a:lnTo>
                <a:lnTo>
                  <a:pt x="2592288" y="2046179"/>
                </a:lnTo>
                <a:lnTo>
                  <a:pt x="0" y="2046179"/>
                </a:lnTo>
                <a:lnTo>
                  <a:pt x="0" y="0"/>
                </a:lnTo>
                <a:close/>
              </a:path>
            </a:pathLst>
          </a:custGeom>
          <a:solidFill>
            <a:schemeClr val="accent6"/>
          </a:solidFill>
        </p:spPr>
        <p:txBody>
          <a:bodyPr wrap="square" rtlCol="0">
            <a:spAutoFit/>
          </a:bodyPr>
          <a:lstStyle/>
          <a:p>
            <a:pPr algn="ctr"/>
            <a:r>
              <a:rPr lang="en-GB" sz="2400" b="1" dirty="0"/>
              <a:t>Know both of these uses for exothermic reactions</a:t>
            </a:r>
          </a:p>
          <a:p>
            <a:pPr algn="ctr"/>
            <a:endParaRPr lang="en-GB" sz="2400" b="1" dirty="0"/>
          </a:p>
        </p:txBody>
      </p:sp>
    </p:spTree>
    <p:extLst>
      <p:ext uri="{BB962C8B-B14F-4D97-AF65-F5344CB8AC3E}">
        <p14:creationId xmlns:p14="http://schemas.microsoft.com/office/powerpoint/2010/main" val="1113305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marR="0" lvl="1" algn="ct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Exothermic and endothermic reactions part 1 – </a:t>
            </a: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Endothermic</a:t>
            </a:r>
            <a:r>
              <a:rPr kumimoji="0" lang="en-US" sz="2400" b="1" i="0" u="none" strike="noStrike" kern="1200" cap="none" spc="0" normalizeH="0" noProof="0" dirty="0">
                <a:ln>
                  <a:noFill/>
                </a:ln>
                <a:solidFill>
                  <a:schemeClr val="accent6"/>
                </a:solidFill>
                <a:effectLst/>
                <a:uLnTx/>
                <a:uFillTx/>
                <a:latin typeface="Calibri"/>
                <a:ea typeface=""/>
                <a:cs typeface="News Gothic MT"/>
              </a:rPr>
              <a:t> reactions</a:t>
            </a:r>
            <a:endParaRPr lang="en-GB" sz="2400" b="1" dirty="0">
              <a:solidFill>
                <a:schemeClr val="accent6"/>
              </a:solidFill>
            </a:endParaRPr>
          </a:p>
        </p:txBody>
      </p:sp>
      <p:sp>
        <p:nvSpPr>
          <p:cNvPr id="7" name="TextBox 6"/>
          <p:cNvSpPr txBox="1"/>
          <p:nvPr/>
        </p:nvSpPr>
        <p:spPr>
          <a:xfrm>
            <a:off x="395536" y="734992"/>
            <a:ext cx="8561561" cy="830997"/>
          </a:xfrm>
          <a:prstGeom prst="rect">
            <a:avLst/>
          </a:prstGeom>
          <a:noFill/>
        </p:spPr>
        <p:txBody>
          <a:bodyPr wrap="square" rtlCol="0">
            <a:spAutoFit/>
          </a:bodyPr>
          <a:lstStyle/>
          <a:p>
            <a:pPr algn="ctr"/>
            <a:r>
              <a:rPr lang="en-GB" sz="2400" b="1" dirty="0"/>
              <a:t>We have already learnt that energy is </a:t>
            </a:r>
            <a:r>
              <a:rPr lang="en-GB" sz="2400" b="1" dirty="0">
                <a:solidFill>
                  <a:schemeClr val="accent6">
                    <a:lumMod val="75000"/>
                  </a:schemeClr>
                </a:solidFill>
              </a:rPr>
              <a:t>conserved </a:t>
            </a:r>
            <a:r>
              <a:rPr lang="en-GB" sz="2400" b="1" dirty="0"/>
              <a:t>in chemical reactions. </a:t>
            </a:r>
          </a:p>
        </p:txBody>
      </p:sp>
      <p:sp>
        <p:nvSpPr>
          <p:cNvPr id="3" name="TextBox 2"/>
          <p:cNvSpPr txBox="1"/>
          <p:nvPr/>
        </p:nvSpPr>
        <p:spPr>
          <a:xfrm>
            <a:off x="251520" y="1565990"/>
            <a:ext cx="8424936" cy="461665"/>
          </a:xfrm>
          <a:prstGeom prst="rect">
            <a:avLst/>
          </a:prstGeom>
          <a:noFill/>
        </p:spPr>
        <p:txBody>
          <a:bodyPr wrap="square" rtlCol="0">
            <a:spAutoFit/>
          </a:bodyPr>
          <a:lstStyle/>
          <a:p>
            <a:pPr algn="ctr"/>
            <a:r>
              <a:rPr lang="en-GB" sz="2400" b="1" dirty="0">
                <a:sym typeface="Wingdings" panose="05000000000000000000" pitchFamily="2" charset="2"/>
              </a:rPr>
              <a:t>2CH</a:t>
            </a:r>
            <a:r>
              <a:rPr lang="en-GB" sz="2400" b="1" baseline="-25000" dirty="0">
                <a:sym typeface="Wingdings" panose="05000000000000000000" pitchFamily="2" charset="2"/>
              </a:rPr>
              <a:t>3</a:t>
            </a:r>
            <a:r>
              <a:rPr lang="en-GB" sz="2400" b="1" dirty="0">
                <a:sym typeface="Wingdings" panose="05000000000000000000" pitchFamily="2" charset="2"/>
              </a:rPr>
              <a:t>COOH(</a:t>
            </a:r>
            <a:r>
              <a:rPr lang="en-GB" sz="2400" b="1" dirty="0" err="1">
                <a:sym typeface="Wingdings" panose="05000000000000000000" pitchFamily="2" charset="2"/>
              </a:rPr>
              <a:t>aq</a:t>
            </a:r>
            <a:r>
              <a:rPr lang="en-GB" sz="2400" b="1" dirty="0">
                <a:sym typeface="Wingdings" panose="05000000000000000000" pitchFamily="2" charset="2"/>
              </a:rPr>
              <a:t>) + Na</a:t>
            </a:r>
            <a:r>
              <a:rPr lang="en-GB" sz="2400" b="1" baseline="-25000" dirty="0">
                <a:sym typeface="Wingdings" panose="05000000000000000000" pitchFamily="2" charset="2"/>
              </a:rPr>
              <a:t>2</a:t>
            </a:r>
            <a:r>
              <a:rPr lang="en-GB" sz="2400" b="1" dirty="0">
                <a:sym typeface="Wingdings" panose="05000000000000000000" pitchFamily="2" charset="2"/>
              </a:rPr>
              <a:t>CO</a:t>
            </a:r>
            <a:r>
              <a:rPr lang="en-GB" sz="2400" b="1" baseline="-25000" dirty="0">
                <a:sym typeface="Wingdings" panose="05000000000000000000" pitchFamily="2" charset="2"/>
              </a:rPr>
              <a:t>3</a:t>
            </a:r>
            <a:r>
              <a:rPr lang="en-GB" sz="2400" b="1" dirty="0">
                <a:sym typeface="Wingdings" panose="05000000000000000000" pitchFamily="2" charset="2"/>
              </a:rPr>
              <a:t>(s)   2CH</a:t>
            </a:r>
            <a:r>
              <a:rPr lang="en-GB" sz="2400" b="1" baseline="-25000" dirty="0">
                <a:sym typeface="Wingdings" panose="05000000000000000000" pitchFamily="2" charset="2"/>
              </a:rPr>
              <a:t>3</a:t>
            </a:r>
            <a:r>
              <a:rPr lang="en-GB" sz="2400" b="1" dirty="0">
                <a:sym typeface="Wingdings" panose="05000000000000000000" pitchFamily="2" charset="2"/>
              </a:rPr>
              <a:t>COONa(</a:t>
            </a:r>
            <a:r>
              <a:rPr lang="en-GB" sz="2400" b="1" dirty="0" err="1">
                <a:sym typeface="Wingdings" panose="05000000000000000000" pitchFamily="2" charset="2"/>
              </a:rPr>
              <a:t>aq</a:t>
            </a:r>
            <a:r>
              <a:rPr lang="en-GB" sz="2400" b="1" dirty="0">
                <a:sym typeface="Wingdings" panose="05000000000000000000" pitchFamily="2" charset="2"/>
              </a:rPr>
              <a:t>) + CO</a:t>
            </a:r>
            <a:r>
              <a:rPr lang="en-GB" sz="2400" b="1" baseline="-25000" dirty="0">
                <a:sym typeface="Wingdings" panose="05000000000000000000" pitchFamily="2" charset="2"/>
              </a:rPr>
              <a:t>2</a:t>
            </a:r>
            <a:r>
              <a:rPr lang="en-GB" sz="2400" b="1" dirty="0">
                <a:sym typeface="Wingdings" panose="05000000000000000000" pitchFamily="2" charset="2"/>
              </a:rPr>
              <a:t>(g) + H</a:t>
            </a:r>
            <a:r>
              <a:rPr lang="en-GB" sz="2400" b="1" baseline="-25000" dirty="0">
                <a:sym typeface="Wingdings" panose="05000000000000000000" pitchFamily="2" charset="2"/>
              </a:rPr>
              <a:t>2</a:t>
            </a:r>
            <a:r>
              <a:rPr lang="en-GB" sz="2400" b="1" dirty="0">
                <a:sym typeface="Wingdings" panose="05000000000000000000" pitchFamily="2" charset="2"/>
              </a:rPr>
              <a:t>O (l)</a:t>
            </a:r>
            <a:endParaRPr lang="en-GB" sz="2400" dirty="0"/>
          </a:p>
        </p:txBody>
      </p:sp>
      <p:sp>
        <p:nvSpPr>
          <p:cNvPr id="15" name="TextBox 14"/>
          <p:cNvSpPr txBox="1"/>
          <p:nvPr/>
        </p:nvSpPr>
        <p:spPr>
          <a:xfrm>
            <a:off x="251520" y="2132856"/>
            <a:ext cx="8424936" cy="3046988"/>
          </a:xfrm>
          <a:prstGeom prst="rect">
            <a:avLst/>
          </a:prstGeom>
          <a:noFill/>
        </p:spPr>
        <p:txBody>
          <a:bodyPr wrap="square" rtlCol="0">
            <a:spAutoFit/>
          </a:bodyPr>
          <a:lstStyle/>
          <a:p>
            <a:pPr algn="ctr"/>
            <a:r>
              <a:rPr lang="en-GB" sz="2400" b="1" dirty="0"/>
              <a:t>In the above reaction, energy is </a:t>
            </a:r>
            <a:r>
              <a:rPr lang="en-GB" sz="2400" b="1" dirty="0">
                <a:solidFill>
                  <a:schemeClr val="accent6"/>
                </a:solidFill>
              </a:rPr>
              <a:t>taken in-</a:t>
            </a:r>
            <a:r>
              <a:rPr lang="en-GB" sz="2400" b="1" dirty="0"/>
              <a:t> it gets </a:t>
            </a:r>
            <a:r>
              <a:rPr lang="en-GB" sz="2400" b="1" dirty="0">
                <a:solidFill>
                  <a:schemeClr val="accent6"/>
                </a:solidFill>
              </a:rPr>
              <a:t>colder</a:t>
            </a:r>
            <a:r>
              <a:rPr lang="en-GB" sz="2400" b="1" dirty="0"/>
              <a:t>. </a:t>
            </a:r>
          </a:p>
          <a:p>
            <a:pPr algn="ctr"/>
            <a:r>
              <a:rPr lang="en-GB" sz="2400" b="1" dirty="0"/>
              <a:t>An </a:t>
            </a:r>
            <a:r>
              <a:rPr lang="en-GB" sz="2400" b="1" dirty="0">
                <a:solidFill>
                  <a:schemeClr val="accent6"/>
                </a:solidFill>
              </a:rPr>
              <a:t>endothermic</a:t>
            </a:r>
            <a:r>
              <a:rPr lang="en-GB" sz="2400" b="1" dirty="0"/>
              <a:t> reaction is one that takes energy from the surroundings so the temperature of the surroundings </a:t>
            </a:r>
            <a:r>
              <a:rPr lang="en-GB" sz="2400" b="1" dirty="0">
                <a:solidFill>
                  <a:schemeClr val="accent6"/>
                </a:solidFill>
              </a:rPr>
              <a:t>decreases</a:t>
            </a:r>
            <a:r>
              <a:rPr lang="en-GB" sz="2400" b="1" dirty="0"/>
              <a:t> – “it gets colder”.</a:t>
            </a:r>
          </a:p>
          <a:p>
            <a:pPr algn="ctr"/>
            <a:r>
              <a:rPr lang="en-GB" sz="2400" b="1" dirty="0"/>
              <a:t>The sodium ethanoate, carbon dioxide and water molecules made will hold </a:t>
            </a:r>
            <a:r>
              <a:rPr lang="en-GB" sz="2400" b="1" dirty="0">
                <a:solidFill>
                  <a:schemeClr val="accent6"/>
                </a:solidFill>
              </a:rPr>
              <a:t>more</a:t>
            </a:r>
            <a:r>
              <a:rPr lang="en-GB" sz="2400" b="1" dirty="0"/>
              <a:t> energy than the ethanoic acid and sodium carbonate molecules at the start, so the energy needed is </a:t>
            </a:r>
          </a:p>
          <a:p>
            <a:pPr algn="ctr"/>
            <a:r>
              <a:rPr lang="en-GB" sz="2400" b="1" dirty="0">
                <a:solidFill>
                  <a:schemeClr val="accent6"/>
                </a:solidFill>
              </a:rPr>
              <a:t>taken in </a:t>
            </a:r>
            <a:r>
              <a:rPr lang="en-GB" sz="2400" b="1" dirty="0"/>
              <a:t>as heat.</a:t>
            </a:r>
          </a:p>
        </p:txBody>
      </p:sp>
      <p:sp>
        <p:nvSpPr>
          <p:cNvPr id="4" name="TextBox 3"/>
          <p:cNvSpPr txBox="1"/>
          <p:nvPr/>
        </p:nvSpPr>
        <p:spPr>
          <a:xfrm>
            <a:off x="251520" y="5301208"/>
            <a:ext cx="6048672" cy="1200329"/>
          </a:xfrm>
          <a:prstGeom prst="rect">
            <a:avLst/>
          </a:prstGeom>
          <a:noFill/>
        </p:spPr>
        <p:txBody>
          <a:bodyPr wrap="square" rtlCol="0">
            <a:spAutoFit/>
          </a:bodyPr>
          <a:lstStyle/>
          <a:p>
            <a:r>
              <a:rPr lang="en-GB" sz="2400" b="1" dirty="0"/>
              <a:t>Other examples of endothermic reactions are </a:t>
            </a:r>
          </a:p>
          <a:p>
            <a:pPr marL="342900" indent="-342900">
              <a:buFont typeface="Arial" panose="020B0604020202020204" pitchFamily="34" charset="0"/>
              <a:buChar char="•"/>
            </a:pPr>
            <a:r>
              <a:rPr lang="en-GB" sz="2400" b="1" dirty="0">
                <a:solidFill>
                  <a:schemeClr val="accent6"/>
                </a:solidFill>
              </a:rPr>
              <a:t>Thermal decomposition</a:t>
            </a:r>
          </a:p>
          <a:p>
            <a:pPr marL="342900" indent="-342900">
              <a:buFont typeface="Arial" panose="020B0604020202020204" pitchFamily="34" charset="0"/>
              <a:buChar char="•"/>
            </a:pPr>
            <a:r>
              <a:rPr lang="en-GB" sz="2400" b="1" dirty="0">
                <a:solidFill>
                  <a:schemeClr val="accent6"/>
                </a:solidFill>
              </a:rPr>
              <a:t>Sports injury packs</a:t>
            </a:r>
          </a:p>
        </p:txBody>
      </p:sp>
      <p:sp>
        <p:nvSpPr>
          <p:cNvPr id="8" name="TextBox 7"/>
          <p:cNvSpPr txBox="1"/>
          <p:nvPr/>
        </p:nvSpPr>
        <p:spPr>
          <a:xfrm>
            <a:off x="6141819" y="4947845"/>
            <a:ext cx="2843808" cy="1508105"/>
          </a:xfrm>
          <a:prstGeom prst="rect">
            <a:avLst/>
          </a:prstGeom>
          <a:solidFill>
            <a:schemeClr val="accent6"/>
          </a:solidFill>
        </p:spPr>
        <p:txBody>
          <a:bodyPr wrap="square" rtlCol="0">
            <a:spAutoFit/>
          </a:bodyPr>
          <a:lstStyle/>
          <a:p>
            <a:pPr algn="ctr"/>
            <a:r>
              <a:rPr lang="en-GB" sz="2300" b="1" dirty="0"/>
              <a:t>Know all three of these examples of endothermic reactions</a:t>
            </a: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Tree>
    <p:extLst>
      <p:ext uri="{BB962C8B-B14F-4D97-AF65-F5344CB8AC3E}">
        <p14:creationId xmlns:p14="http://schemas.microsoft.com/office/powerpoint/2010/main" val="346775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95520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600" b="1" dirty="0">
                <a:solidFill>
                  <a:schemeClr val="tx1">
                    <a:lumMod val="50000"/>
                    <a:lumOff val="50000"/>
                  </a:schemeClr>
                </a:solidFill>
              </a:rPr>
              <a:t>Energy Changes</a:t>
            </a:r>
          </a:p>
          <a:p>
            <a:r>
              <a:rPr lang="en-GB" sz="3600" b="1" dirty="0">
                <a:solidFill>
                  <a:schemeClr val="tx1">
                    <a:lumMod val="50000"/>
                    <a:lumOff val="50000"/>
                  </a:schemeClr>
                </a:solidFill>
              </a:rPr>
              <a:t>Part 1 </a:t>
            </a:r>
          </a:p>
          <a:p>
            <a:endParaRPr lang="en-GB" sz="2800" dirty="0">
              <a:solidFill>
                <a:schemeClr val="tx1">
                  <a:lumMod val="50000"/>
                  <a:lumOff val="50000"/>
                </a:schemeClr>
              </a:solidFill>
            </a:endParaRPr>
          </a:p>
          <a:p>
            <a:pPr marL="457200" indent="-457200">
              <a:lnSpc>
                <a:spcPct val="150000"/>
              </a:lnSpc>
              <a:buFont typeface="Arial" charset="0"/>
              <a:buChar char="•"/>
            </a:pPr>
            <a:r>
              <a:rPr lang="en-GB" sz="2400" b="1" dirty="0">
                <a:solidFill>
                  <a:schemeClr val="tx1">
                    <a:lumMod val="50000"/>
                    <a:lumOff val="50000"/>
                  </a:schemeClr>
                </a:solidFill>
              </a:rPr>
              <a:t>Exothermic reactions</a:t>
            </a:r>
          </a:p>
          <a:p>
            <a:pPr marL="457200" indent="-457200">
              <a:lnSpc>
                <a:spcPct val="150000"/>
              </a:lnSpc>
              <a:buFont typeface="Arial" charset="0"/>
              <a:buChar char="•"/>
            </a:pPr>
            <a:r>
              <a:rPr lang="en-GB" sz="2400" b="1" dirty="0">
                <a:solidFill>
                  <a:schemeClr val="tx1">
                    <a:lumMod val="50000"/>
                    <a:lumOff val="50000"/>
                  </a:schemeClr>
                </a:solidFill>
              </a:rPr>
              <a:t>Endothermic reactions</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994288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Energy Changes part 1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a:lnSpc>
                <a:spcPct val="150000"/>
              </a:lnSpc>
            </a:pPr>
            <a:r>
              <a:rPr lang="en-GB" sz="2400" dirty="0"/>
              <a:t>1. How would you know if an exothermic reaction had occurred?</a:t>
            </a:r>
          </a:p>
          <a:p>
            <a:pPr>
              <a:lnSpc>
                <a:spcPct val="150000"/>
              </a:lnSpc>
            </a:pPr>
            <a:r>
              <a:rPr lang="en-GB" sz="2400" dirty="0"/>
              <a:t>2. How would you know if an endothermic reaction had occurred?</a:t>
            </a:r>
          </a:p>
          <a:p>
            <a:pPr>
              <a:lnSpc>
                <a:spcPct val="150000"/>
              </a:lnSpc>
            </a:pPr>
            <a:r>
              <a:rPr lang="en-GB" sz="2400" dirty="0"/>
              <a:t>3. Below is a table of results for four reactions, the temperatures  before and after the reactions are also given.</a:t>
            </a: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r>
              <a:rPr lang="en-GB" sz="2400" dirty="0"/>
              <a:t>   a/  Which reaction is endothermic? Explain how you know this.</a:t>
            </a:r>
          </a:p>
          <a:p>
            <a:pPr>
              <a:lnSpc>
                <a:spcPct val="150000"/>
              </a:lnSpc>
            </a:pPr>
            <a:r>
              <a:rPr lang="en-GB" sz="2400" dirty="0"/>
              <a:t>   b/  Which reaction is exothermic? Explain how you know this.</a:t>
            </a:r>
          </a:p>
          <a:p>
            <a:pPr>
              <a:lnSpc>
                <a:spcPct val="150000"/>
              </a:lnSpc>
            </a:pPr>
            <a:endParaRPr lang="en-GB" dirty="0"/>
          </a:p>
          <a:p>
            <a:pPr marL="342900" indent="-342900">
              <a:buFont typeface="+mj-lt"/>
              <a:buAutoNum type="arabicPeriod"/>
            </a:pPr>
            <a:endParaRPr lang="en-GB" sz="1600" dirty="0"/>
          </a:p>
        </p:txBody>
      </p:sp>
      <p:graphicFrame>
        <p:nvGraphicFramePr>
          <p:cNvPr id="5" name="Table 4"/>
          <p:cNvGraphicFramePr>
            <a:graphicFrameLocks noGrp="1"/>
          </p:cNvGraphicFramePr>
          <p:nvPr>
            <p:extLst>
              <p:ext uri="{D42A27DB-BD31-4B8C-83A1-F6EECF244321}">
                <p14:modId xmlns:p14="http://schemas.microsoft.com/office/powerpoint/2010/main" val="4119409007"/>
              </p:ext>
            </p:extLst>
          </p:nvPr>
        </p:nvGraphicFramePr>
        <p:xfrm>
          <a:off x="899592" y="2996954"/>
          <a:ext cx="6942382" cy="2225040"/>
        </p:xfrm>
        <a:graphic>
          <a:graphicData uri="http://schemas.openxmlformats.org/drawingml/2006/table">
            <a:tbl>
              <a:tblPr firstRow="1" bandRow="1">
                <a:tableStyleId>{5940675A-B579-460E-94D1-54222C63F5DA}</a:tableStyleId>
              </a:tblPr>
              <a:tblGrid>
                <a:gridCol w="1584176">
                  <a:extLst>
                    <a:ext uri="{9D8B030D-6E8A-4147-A177-3AD203B41FA5}">
                      <a16:colId xmlns:a16="http://schemas.microsoft.com/office/drawing/2014/main" xmlns="" val="20000"/>
                    </a:ext>
                  </a:extLst>
                </a:gridCol>
                <a:gridCol w="2664296">
                  <a:extLst>
                    <a:ext uri="{9D8B030D-6E8A-4147-A177-3AD203B41FA5}">
                      <a16:colId xmlns:a16="http://schemas.microsoft.com/office/drawing/2014/main" xmlns="" val="20001"/>
                    </a:ext>
                  </a:extLst>
                </a:gridCol>
                <a:gridCol w="2693910">
                  <a:extLst>
                    <a:ext uri="{9D8B030D-6E8A-4147-A177-3AD203B41FA5}">
                      <a16:colId xmlns:a16="http://schemas.microsoft.com/office/drawing/2014/main" xmlns="" val="20002"/>
                    </a:ext>
                  </a:extLst>
                </a:gridCol>
              </a:tblGrid>
              <a:tr h="384700">
                <a:tc>
                  <a:txBody>
                    <a:bodyPr/>
                    <a:lstStyle/>
                    <a:p>
                      <a:pPr algn="ctr"/>
                      <a:r>
                        <a:rPr lang="en-GB" sz="2000" dirty="0"/>
                        <a:t>Reaction</a:t>
                      </a:r>
                    </a:p>
                  </a:txBody>
                  <a:tcPr>
                    <a:solidFill>
                      <a:schemeClr val="accent6">
                        <a:lumMod val="75000"/>
                      </a:schemeClr>
                    </a:solidFill>
                  </a:tcPr>
                </a:tc>
                <a:tc>
                  <a:txBody>
                    <a:bodyPr/>
                    <a:lstStyle/>
                    <a:p>
                      <a:pPr algn="ctr"/>
                      <a:r>
                        <a:rPr lang="en-GB" sz="2000" dirty="0"/>
                        <a:t>Temperature at start </a:t>
                      </a:r>
                      <a:r>
                        <a:rPr lang="en-GB" sz="2000" baseline="30000" dirty="0"/>
                        <a:t>O</a:t>
                      </a:r>
                      <a:r>
                        <a:rPr lang="en-GB" sz="2000" dirty="0"/>
                        <a:t>C</a:t>
                      </a:r>
                      <a:r>
                        <a:rPr lang="en-GB" sz="2000" baseline="0" dirty="0"/>
                        <a:t> </a:t>
                      </a:r>
                      <a:endParaRPr lang="en-GB" sz="2000" dirty="0"/>
                    </a:p>
                  </a:txBody>
                  <a:tcPr>
                    <a:solidFill>
                      <a:schemeClr val="accent6">
                        <a:lumMod val="75000"/>
                      </a:schemeClr>
                    </a:solidFill>
                  </a:tcPr>
                </a:tc>
                <a:tc>
                  <a:txBody>
                    <a:bodyPr/>
                    <a:lstStyle/>
                    <a:p>
                      <a:pPr algn="ctr"/>
                      <a:r>
                        <a:rPr lang="en-GB" sz="2000" dirty="0"/>
                        <a:t>Temperature at end </a:t>
                      </a:r>
                      <a:r>
                        <a:rPr lang="en-GB" sz="2000" baseline="30000" dirty="0"/>
                        <a:t>O</a:t>
                      </a:r>
                      <a:r>
                        <a:rPr lang="en-GB" sz="2000" dirty="0"/>
                        <a:t>C</a:t>
                      </a:r>
                    </a:p>
                  </a:txBody>
                  <a:tcPr>
                    <a:solidFill>
                      <a:schemeClr val="accent6">
                        <a:lumMod val="75000"/>
                      </a:schemeClr>
                    </a:solidFill>
                  </a:tcPr>
                </a:tc>
                <a:extLst>
                  <a:ext uri="{0D108BD9-81ED-4DB2-BD59-A6C34878D82A}">
                    <a16:rowId xmlns:a16="http://schemas.microsoft.com/office/drawing/2014/main" xmlns="" val="10000"/>
                  </a:ext>
                </a:extLst>
              </a:tr>
              <a:tr h="443884">
                <a:tc>
                  <a:txBody>
                    <a:bodyPr/>
                    <a:lstStyle/>
                    <a:p>
                      <a:pPr algn="ctr"/>
                      <a:r>
                        <a:rPr lang="en-GB" sz="2400" b="1" dirty="0"/>
                        <a:t>A</a:t>
                      </a:r>
                    </a:p>
                  </a:txBody>
                  <a:tcPr/>
                </a:tc>
                <a:tc>
                  <a:txBody>
                    <a:bodyPr/>
                    <a:lstStyle/>
                    <a:p>
                      <a:pPr algn="ctr"/>
                      <a:r>
                        <a:rPr lang="en-GB" sz="2400" dirty="0"/>
                        <a:t>22</a:t>
                      </a:r>
                    </a:p>
                  </a:txBody>
                  <a:tcPr/>
                </a:tc>
                <a:tc>
                  <a:txBody>
                    <a:bodyPr/>
                    <a:lstStyle/>
                    <a:p>
                      <a:pPr algn="ctr"/>
                      <a:r>
                        <a:rPr lang="en-GB" sz="2400" dirty="0"/>
                        <a:t>28</a:t>
                      </a:r>
                      <a:endParaRPr lang="en-GB" sz="2400" baseline="30000" dirty="0"/>
                    </a:p>
                  </a:txBody>
                  <a:tcPr/>
                </a:tc>
                <a:extLst>
                  <a:ext uri="{0D108BD9-81ED-4DB2-BD59-A6C34878D82A}">
                    <a16:rowId xmlns:a16="http://schemas.microsoft.com/office/drawing/2014/main" xmlns="" val="10001"/>
                  </a:ext>
                </a:extLst>
              </a:tr>
              <a:tr h="443884">
                <a:tc>
                  <a:txBody>
                    <a:bodyPr/>
                    <a:lstStyle/>
                    <a:p>
                      <a:pPr algn="ctr"/>
                      <a:r>
                        <a:rPr lang="en-GB" sz="2400" b="1" dirty="0"/>
                        <a:t>B</a:t>
                      </a:r>
                    </a:p>
                  </a:txBody>
                  <a:tcPr/>
                </a:tc>
                <a:tc>
                  <a:txBody>
                    <a:bodyPr/>
                    <a:lstStyle/>
                    <a:p>
                      <a:pPr algn="ctr"/>
                      <a:r>
                        <a:rPr lang="en-GB" sz="2400" dirty="0"/>
                        <a:t>20</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dirty="0"/>
                        <a:t>20</a:t>
                      </a:r>
                      <a:endParaRPr lang="en-GB" sz="2400" baseline="30000" dirty="0"/>
                    </a:p>
                  </a:txBody>
                  <a:tcPr/>
                </a:tc>
                <a:extLst>
                  <a:ext uri="{0D108BD9-81ED-4DB2-BD59-A6C34878D82A}">
                    <a16:rowId xmlns:a16="http://schemas.microsoft.com/office/drawing/2014/main" xmlns="" val="10002"/>
                  </a:ext>
                </a:extLst>
              </a:tr>
              <a:tr h="443884">
                <a:tc>
                  <a:txBody>
                    <a:bodyPr/>
                    <a:lstStyle/>
                    <a:p>
                      <a:pPr algn="ctr"/>
                      <a:r>
                        <a:rPr lang="en-GB" sz="2400" b="1" dirty="0"/>
                        <a:t>C</a:t>
                      </a:r>
                    </a:p>
                  </a:txBody>
                  <a:tcPr/>
                </a:tc>
                <a:tc>
                  <a:txBody>
                    <a:bodyPr/>
                    <a:lstStyle/>
                    <a:p>
                      <a:pPr algn="ctr"/>
                      <a:r>
                        <a:rPr lang="en-GB" sz="2400" dirty="0"/>
                        <a:t>21</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baseline="0" dirty="0"/>
                        <a:t>12</a:t>
                      </a:r>
                    </a:p>
                  </a:txBody>
                  <a:tcPr/>
                </a:tc>
                <a:extLst>
                  <a:ext uri="{0D108BD9-81ED-4DB2-BD59-A6C34878D82A}">
                    <a16:rowId xmlns:a16="http://schemas.microsoft.com/office/drawing/2014/main" xmlns="" val="10003"/>
                  </a:ext>
                </a:extLst>
              </a:tr>
              <a:tr h="443884">
                <a:tc>
                  <a:txBody>
                    <a:bodyPr/>
                    <a:lstStyle/>
                    <a:p>
                      <a:pPr algn="ctr"/>
                      <a:r>
                        <a:rPr lang="en-GB" sz="2400" b="1" dirty="0"/>
                        <a:t>D</a:t>
                      </a:r>
                    </a:p>
                  </a:txBody>
                  <a:tcPr/>
                </a:tc>
                <a:tc>
                  <a:txBody>
                    <a:bodyPr/>
                    <a:lstStyle/>
                    <a:p>
                      <a:pPr algn="ctr"/>
                      <a:r>
                        <a:rPr lang="en-GB" sz="2400" dirty="0"/>
                        <a:t>25</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dirty="0"/>
                        <a:t>25</a:t>
                      </a:r>
                      <a:endParaRPr lang="en-GB" sz="2400" baseline="30000" dirty="0"/>
                    </a:p>
                  </a:txBody>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476416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893647"/>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2800" b="1" dirty="0">
                <a:solidFill>
                  <a:schemeClr val="tx1">
                    <a:lumMod val="50000"/>
                    <a:lumOff val="50000"/>
                  </a:schemeClr>
                </a:solidFill>
              </a:rPr>
              <a:t>Energy Changes</a:t>
            </a:r>
          </a:p>
          <a:p>
            <a:r>
              <a:rPr lang="en-GB" sz="2800" b="1" dirty="0">
                <a:solidFill>
                  <a:schemeClr val="tx1">
                    <a:lumMod val="50000"/>
                    <a:lumOff val="50000"/>
                  </a:schemeClr>
                </a:solidFill>
              </a:rPr>
              <a:t>Part 1 </a:t>
            </a:r>
          </a:p>
          <a:p>
            <a:endParaRPr lang="en-GB" sz="2800" dirty="0">
              <a:solidFill>
                <a:schemeClr val="tx1">
                  <a:lumMod val="50000"/>
                  <a:lumOff val="50000"/>
                </a:schemeClr>
              </a:solidFill>
            </a:endParaRPr>
          </a:p>
          <a:p>
            <a:pPr marL="457200" indent="-457200">
              <a:lnSpc>
                <a:spcPct val="150000"/>
              </a:lnSpc>
              <a:buFont typeface="Arial" charset="0"/>
              <a:buChar char="•"/>
            </a:pPr>
            <a:r>
              <a:rPr lang="en-GB" sz="2800" b="1" dirty="0">
                <a:solidFill>
                  <a:schemeClr val="tx1">
                    <a:lumMod val="50000"/>
                    <a:lumOff val="50000"/>
                  </a:schemeClr>
                </a:solidFill>
              </a:rPr>
              <a:t>Exothermic reactions</a:t>
            </a:r>
          </a:p>
          <a:p>
            <a:pPr marL="457200" indent="-457200">
              <a:lnSpc>
                <a:spcPct val="150000"/>
              </a:lnSpc>
              <a:buFont typeface="Arial" charset="0"/>
              <a:buChar char="•"/>
            </a:pPr>
            <a:r>
              <a:rPr lang="en-GB" sz="2800" b="1" dirty="0">
                <a:solidFill>
                  <a:schemeClr val="tx1">
                    <a:lumMod val="50000"/>
                    <a:lumOff val="50000"/>
                  </a:schemeClr>
                </a:solidFill>
              </a:rPr>
              <a:t>Endothermic reactions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921545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Energy Changes part 1 –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marL="457200" indent="-457200">
              <a:lnSpc>
                <a:spcPct val="150000"/>
              </a:lnSpc>
              <a:buAutoNum type="arabicPeriod"/>
            </a:pPr>
            <a:r>
              <a:rPr lang="en-GB" sz="2400" dirty="0"/>
              <a:t>How would you know if an exothermic reaction had occurred?</a:t>
            </a:r>
          </a:p>
          <a:p>
            <a:pPr>
              <a:lnSpc>
                <a:spcPct val="150000"/>
              </a:lnSpc>
            </a:pPr>
            <a:r>
              <a:rPr lang="en-GB" sz="2400" dirty="0"/>
              <a:t>       </a:t>
            </a:r>
            <a:r>
              <a:rPr lang="en-GB" sz="2400" dirty="0">
                <a:solidFill>
                  <a:srgbClr val="92D050"/>
                </a:solidFill>
              </a:rPr>
              <a:t>The reaction would give out heat/get warmer/ temperature 	increase.</a:t>
            </a:r>
          </a:p>
          <a:p>
            <a:pPr>
              <a:lnSpc>
                <a:spcPct val="150000"/>
              </a:lnSpc>
            </a:pPr>
            <a:r>
              <a:rPr lang="en-GB" sz="2400" dirty="0"/>
              <a:t>2. How would you know if an endothermic reaction had occurred?</a:t>
            </a:r>
          </a:p>
          <a:p>
            <a:pPr>
              <a:lnSpc>
                <a:spcPct val="150000"/>
              </a:lnSpc>
            </a:pPr>
            <a:r>
              <a:rPr lang="en-GB" sz="2400" dirty="0"/>
              <a:t>      </a:t>
            </a:r>
            <a:r>
              <a:rPr lang="en-GB" sz="2400" dirty="0">
                <a:solidFill>
                  <a:srgbClr val="92D050"/>
                </a:solidFill>
              </a:rPr>
              <a:t>The reaction would take in heat/get colder/ temperature decrease.</a:t>
            </a: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582076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Energy Changes part 1 – </a:t>
            </a:r>
            <a:r>
              <a:rPr lang="en-US" sz="2400" b="1" kern="1200" dirty="0">
                <a:solidFill>
                  <a:schemeClr val="tx1"/>
                </a:solidFill>
                <a:latin typeface="Calibri"/>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94031"/>
          </a:xfrm>
          <a:prstGeom prst="rect">
            <a:avLst/>
          </a:prstGeom>
          <a:noFill/>
        </p:spPr>
        <p:txBody>
          <a:bodyPr wrap="square" rtlCol="0">
            <a:spAutoFit/>
          </a:bodyPr>
          <a:lstStyle/>
          <a:p>
            <a:pPr>
              <a:lnSpc>
                <a:spcPct val="150000"/>
              </a:lnSpc>
            </a:pPr>
            <a:r>
              <a:rPr lang="en-GB" sz="2400" dirty="0"/>
              <a:t>3. Below is a table of results for four reactions, the temperatures              before and after the reactions are also given.</a:t>
            </a: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r>
              <a:rPr lang="en-GB" sz="2400" dirty="0"/>
              <a:t>   a/ Which reaction is endothermic? Explain how you know this.</a:t>
            </a:r>
          </a:p>
          <a:p>
            <a:pPr>
              <a:lnSpc>
                <a:spcPct val="150000"/>
              </a:lnSpc>
            </a:pPr>
            <a:r>
              <a:rPr lang="en-GB" sz="2400" dirty="0"/>
              <a:t>    </a:t>
            </a:r>
            <a:r>
              <a:rPr lang="en-GB" sz="2400" dirty="0">
                <a:solidFill>
                  <a:srgbClr val="92D050"/>
                </a:solidFill>
              </a:rPr>
              <a:t>Reaction C, it gets colder/temperature falls.</a:t>
            </a:r>
          </a:p>
          <a:p>
            <a:pPr>
              <a:lnSpc>
                <a:spcPct val="150000"/>
              </a:lnSpc>
            </a:pPr>
            <a:r>
              <a:rPr lang="en-GB" sz="2400" dirty="0"/>
              <a:t>   b/ Which reaction is exothermic? Explain how you know this.</a:t>
            </a:r>
          </a:p>
          <a:p>
            <a:pPr>
              <a:lnSpc>
                <a:spcPct val="150000"/>
              </a:lnSpc>
            </a:pPr>
            <a:r>
              <a:rPr lang="en-GB" sz="2400" dirty="0"/>
              <a:t>    </a:t>
            </a:r>
            <a:r>
              <a:rPr lang="en-GB" sz="2400" dirty="0">
                <a:solidFill>
                  <a:srgbClr val="92D050"/>
                </a:solidFill>
              </a:rPr>
              <a:t>Reaction A, it gets warmer/temperature increases.</a:t>
            </a:r>
          </a:p>
          <a:p>
            <a:pPr>
              <a:lnSpc>
                <a:spcPct val="150000"/>
              </a:lnSpc>
            </a:pPr>
            <a:endParaRPr lang="en-GB" dirty="0"/>
          </a:p>
          <a:p>
            <a:pPr marL="342900" indent="-342900">
              <a:buFont typeface="+mj-lt"/>
              <a:buAutoNum type="arabicPeriod"/>
            </a:pPr>
            <a:endParaRPr lang="en-GB" sz="1600" dirty="0"/>
          </a:p>
        </p:txBody>
      </p:sp>
      <p:graphicFrame>
        <p:nvGraphicFramePr>
          <p:cNvPr id="5" name="Table 4"/>
          <p:cNvGraphicFramePr>
            <a:graphicFrameLocks noGrp="1"/>
          </p:cNvGraphicFramePr>
          <p:nvPr>
            <p:extLst>
              <p:ext uri="{D42A27DB-BD31-4B8C-83A1-F6EECF244321}">
                <p14:modId xmlns:p14="http://schemas.microsoft.com/office/powerpoint/2010/main" val="2126330618"/>
              </p:ext>
            </p:extLst>
          </p:nvPr>
        </p:nvGraphicFramePr>
        <p:xfrm>
          <a:off x="899592" y="1916832"/>
          <a:ext cx="6942382" cy="2225040"/>
        </p:xfrm>
        <a:graphic>
          <a:graphicData uri="http://schemas.openxmlformats.org/drawingml/2006/table">
            <a:tbl>
              <a:tblPr firstRow="1" bandRow="1">
                <a:tableStyleId>{5940675A-B579-460E-94D1-54222C63F5DA}</a:tableStyleId>
              </a:tblPr>
              <a:tblGrid>
                <a:gridCol w="1584176">
                  <a:extLst>
                    <a:ext uri="{9D8B030D-6E8A-4147-A177-3AD203B41FA5}">
                      <a16:colId xmlns:a16="http://schemas.microsoft.com/office/drawing/2014/main" xmlns="" val="20000"/>
                    </a:ext>
                  </a:extLst>
                </a:gridCol>
                <a:gridCol w="2664296">
                  <a:extLst>
                    <a:ext uri="{9D8B030D-6E8A-4147-A177-3AD203B41FA5}">
                      <a16:colId xmlns:a16="http://schemas.microsoft.com/office/drawing/2014/main" xmlns="" val="20001"/>
                    </a:ext>
                  </a:extLst>
                </a:gridCol>
                <a:gridCol w="2693910">
                  <a:extLst>
                    <a:ext uri="{9D8B030D-6E8A-4147-A177-3AD203B41FA5}">
                      <a16:colId xmlns:a16="http://schemas.microsoft.com/office/drawing/2014/main" xmlns="" val="20002"/>
                    </a:ext>
                  </a:extLst>
                </a:gridCol>
              </a:tblGrid>
              <a:tr h="384700">
                <a:tc>
                  <a:txBody>
                    <a:bodyPr/>
                    <a:lstStyle/>
                    <a:p>
                      <a:pPr algn="ctr"/>
                      <a:r>
                        <a:rPr lang="en-GB" sz="2000" dirty="0"/>
                        <a:t>Reaction</a:t>
                      </a:r>
                    </a:p>
                  </a:txBody>
                  <a:tcPr>
                    <a:solidFill>
                      <a:schemeClr val="accent6">
                        <a:lumMod val="75000"/>
                      </a:schemeClr>
                    </a:solidFill>
                  </a:tcPr>
                </a:tc>
                <a:tc>
                  <a:txBody>
                    <a:bodyPr/>
                    <a:lstStyle/>
                    <a:p>
                      <a:pPr algn="ctr"/>
                      <a:r>
                        <a:rPr lang="en-GB" sz="2000" dirty="0"/>
                        <a:t>Temperature at start </a:t>
                      </a:r>
                      <a:r>
                        <a:rPr lang="en-GB" sz="2000" baseline="30000" dirty="0"/>
                        <a:t>O</a:t>
                      </a:r>
                      <a:r>
                        <a:rPr lang="en-GB" sz="2000" dirty="0"/>
                        <a:t>C</a:t>
                      </a:r>
                      <a:r>
                        <a:rPr lang="en-GB" sz="2000" baseline="0" dirty="0"/>
                        <a:t> </a:t>
                      </a:r>
                      <a:endParaRPr lang="en-GB" sz="2000" dirty="0"/>
                    </a:p>
                  </a:txBody>
                  <a:tcPr>
                    <a:solidFill>
                      <a:schemeClr val="accent6">
                        <a:lumMod val="75000"/>
                      </a:schemeClr>
                    </a:solidFill>
                  </a:tcPr>
                </a:tc>
                <a:tc>
                  <a:txBody>
                    <a:bodyPr/>
                    <a:lstStyle/>
                    <a:p>
                      <a:pPr algn="ctr"/>
                      <a:r>
                        <a:rPr lang="en-GB" sz="2000" dirty="0"/>
                        <a:t>Temperature at end </a:t>
                      </a:r>
                      <a:r>
                        <a:rPr lang="en-GB" sz="2000" baseline="30000" dirty="0"/>
                        <a:t>O</a:t>
                      </a:r>
                      <a:r>
                        <a:rPr lang="en-GB" sz="2000" dirty="0"/>
                        <a:t>C</a:t>
                      </a:r>
                    </a:p>
                  </a:txBody>
                  <a:tcPr>
                    <a:solidFill>
                      <a:schemeClr val="accent6">
                        <a:lumMod val="75000"/>
                      </a:schemeClr>
                    </a:solidFill>
                  </a:tcPr>
                </a:tc>
                <a:extLst>
                  <a:ext uri="{0D108BD9-81ED-4DB2-BD59-A6C34878D82A}">
                    <a16:rowId xmlns:a16="http://schemas.microsoft.com/office/drawing/2014/main" xmlns="" val="10000"/>
                  </a:ext>
                </a:extLst>
              </a:tr>
              <a:tr h="443885">
                <a:tc>
                  <a:txBody>
                    <a:bodyPr/>
                    <a:lstStyle/>
                    <a:p>
                      <a:pPr algn="ctr"/>
                      <a:r>
                        <a:rPr lang="en-GB" sz="2400" b="1" dirty="0"/>
                        <a:t>A</a:t>
                      </a:r>
                    </a:p>
                  </a:txBody>
                  <a:tcPr/>
                </a:tc>
                <a:tc>
                  <a:txBody>
                    <a:bodyPr/>
                    <a:lstStyle/>
                    <a:p>
                      <a:pPr algn="ctr"/>
                      <a:r>
                        <a:rPr lang="en-GB" sz="2400" dirty="0"/>
                        <a:t>22</a:t>
                      </a:r>
                    </a:p>
                  </a:txBody>
                  <a:tcPr/>
                </a:tc>
                <a:tc>
                  <a:txBody>
                    <a:bodyPr/>
                    <a:lstStyle/>
                    <a:p>
                      <a:pPr algn="ctr"/>
                      <a:r>
                        <a:rPr lang="en-GB" sz="2400" dirty="0"/>
                        <a:t>28</a:t>
                      </a:r>
                      <a:endParaRPr lang="en-GB" sz="2400" baseline="30000" dirty="0"/>
                    </a:p>
                  </a:txBody>
                  <a:tcPr/>
                </a:tc>
                <a:extLst>
                  <a:ext uri="{0D108BD9-81ED-4DB2-BD59-A6C34878D82A}">
                    <a16:rowId xmlns:a16="http://schemas.microsoft.com/office/drawing/2014/main" xmlns="" val="10001"/>
                  </a:ext>
                </a:extLst>
              </a:tr>
              <a:tr h="443885">
                <a:tc>
                  <a:txBody>
                    <a:bodyPr/>
                    <a:lstStyle/>
                    <a:p>
                      <a:pPr algn="ctr"/>
                      <a:r>
                        <a:rPr lang="en-GB" sz="2400" b="1" dirty="0"/>
                        <a:t>B</a:t>
                      </a:r>
                    </a:p>
                  </a:txBody>
                  <a:tcPr/>
                </a:tc>
                <a:tc>
                  <a:txBody>
                    <a:bodyPr/>
                    <a:lstStyle/>
                    <a:p>
                      <a:pPr algn="ctr"/>
                      <a:r>
                        <a:rPr lang="en-GB" sz="2400" dirty="0"/>
                        <a:t>20</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dirty="0"/>
                        <a:t>20</a:t>
                      </a:r>
                      <a:endParaRPr lang="en-GB" sz="2400" baseline="30000" dirty="0"/>
                    </a:p>
                  </a:txBody>
                  <a:tcPr/>
                </a:tc>
                <a:extLst>
                  <a:ext uri="{0D108BD9-81ED-4DB2-BD59-A6C34878D82A}">
                    <a16:rowId xmlns:a16="http://schemas.microsoft.com/office/drawing/2014/main" xmlns="" val="10002"/>
                  </a:ext>
                </a:extLst>
              </a:tr>
              <a:tr h="443885">
                <a:tc>
                  <a:txBody>
                    <a:bodyPr/>
                    <a:lstStyle/>
                    <a:p>
                      <a:pPr algn="ctr"/>
                      <a:r>
                        <a:rPr lang="en-GB" sz="2400" b="1" dirty="0"/>
                        <a:t>C</a:t>
                      </a:r>
                    </a:p>
                  </a:txBody>
                  <a:tcPr/>
                </a:tc>
                <a:tc>
                  <a:txBody>
                    <a:bodyPr/>
                    <a:lstStyle/>
                    <a:p>
                      <a:pPr algn="ctr"/>
                      <a:r>
                        <a:rPr lang="en-GB" sz="2400" dirty="0"/>
                        <a:t>21</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baseline="0" dirty="0"/>
                        <a:t>12</a:t>
                      </a:r>
                    </a:p>
                  </a:txBody>
                  <a:tcPr/>
                </a:tc>
                <a:extLst>
                  <a:ext uri="{0D108BD9-81ED-4DB2-BD59-A6C34878D82A}">
                    <a16:rowId xmlns:a16="http://schemas.microsoft.com/office/drawing/2014/main" xmlns="" val="10003"/>
                  </a:ext>
                </a:extLst>
              </a:tr>
              <a:tr h="443885">
                <a:tc>
                  <a:txBody>
                    <a:bodyPr/>
                    <a:lstStyle/>
                    <a:p>
                      <a:pPr algn="ctr"/>
                      <a:r>
                        <a:rPr lang="en-GB" sz="2400" b="1" dirty="0"/>
                        <a:t>D</a:t>
                      </a:r>
                    </a:p>
                  </a:txBody>
                  <a:tcPr/>
                </a:tc>
                <a:tc>
                  <a:txBody>
                    <a:bodyPr/>
                    <a:lstStyle/>
                    <a:p>
                      <a:pPr algn="ctr"/>
                      <a:r>
                        <a:rPr lang="en-GB" sz="2400" dirty="0"/>
                        <a:t>25</a:t>
                      </a:r>
                    </a:p>
                  </a:txBody>
                  <a:tcPr/>
                </a:tc>
                <a:tc>
                  <a:txBody>
                    <a:bodyPr/>
                    <a:lstStyle/>
                    <a:p>
                      <a:pPr marL="0" marR="0" indent="0" algn="ctr" defTabSz="342900" rtl="0" eaLnBrk="1" fontAlgn="auto" latinLnBrk="0" hangingPunct="1">
                        <a:lnSpc>
                          <a:spcPct val="100000"/>
                        </a:lnSpc>
                        <a:spcBef>
                          <a:spcPts val="0"/>
                        </a:spcBef>
                        <a:spcAft>
                          <a:spcPts val="0"/>
                        </a:spcAft>
                        <a:buClrTx/>
                        <a:buSzTx/>
                        <a:buFontTx/>
                        <a:buNone/>
                        <a:tabLst/>
                        <a:defRPr/>
                      </a:pPr>
                      <a:r>
                        <a:rPr lang="en-GB" sz="2400" dirty="0"/>
                        <a:t>25</a:t>
                      </a:r>
                      <a:endParaRPr lang="en-GB" sz="2400" baseline="30000" dirty="0"/>
                    </a:p>
                  </a:txBody>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640127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5632311"/>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600" b="1" dirty="0">
                <a:solidFill>
                  <a:schemeClr val="tx1">
                    <a:lumMod val="50000"/>
                    <a:lumOff val="50000"/>
                  </a:schemeClr>
                </a:solidFill>
              </a:rPr>
              <a:t>Energy Changes</a:t>
            </a:r>
          </a:p>
          <a:p>
            <a:r>
              <a:rPr lang="en-GB" sz="3600" b="1" dirty="0">
                <a:solidFill>
                  <a:schemeClr val="tx1">
                    <a:lumMod val="50000"/>
                    <a:lumOff val="50000"/>
                  </a:schemeClr>
                </a:solidFill>
              </a:rPr>
              <a:t>Part 2 </a:t>
            </a:r>
          </a:p>
          <a:p>
            <a:pPr marL="457200" indent="-457200">
              <a:lnSpc>
                <a:spcPct val="150000"/>
              </a:lnSpc>
              <a:buFont typeface="Arial" charset="0"/>
              <a:buChar char="•"/>
            </a:pPr>
            <a:r>
              <a:rPr lang="en-US" sz="2400" b="1" dirty="0">
                <a:solidFill>
                  <a:schemeClr val="tx1">
                    <a:lumMod val="50000"/>
                    <a:lumOff val="50000"/>
                  </a:schemeClr>
                </a:solidFill>
              </a:rPr>
              <a:t>Reaction profiles</a:t>
            </a:r>
          </a:p>
          <a:p>
            <a:pPr marL="457200" indent="-457200">
              <a:lnSpc>
                <a:spcPct val="150000"/>
              </a:lnSpc>
              <a:buFont typeface="Arial" charset="0"/>
              <a:buChar char="•"/>
            </a:pPr>
            <a:r>
              <a:rPr lang="en-GB" sz="2400" b="1" dirty="0">
                <a:solidFill>
                  <a:schemeClr val="tx1">
                    <a:lumMod val="50000"/>
                    <a:lumOff val="50000"/>
                  </a:schemeClr>
                </a:solidFill>
              </a:rPr>
              <a:t>The energy change of reactions (HT only)</a:t>
            </a: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1386293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Energy Changes part 2 – Reaction profiles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264398" y="769970"/>
            <a:ext cx="8628082" cy="707886"/>
          </a:xfrm>
          <a:custGeom>
            <a:avLst/>
            <a:gdLst>
              <a:gd name="connsiteX0" fmla="*/ 0 w 8640960"/>
              <a:gd name="connsiteY0" fmla="*/ 0 h 830997"/>
              <a:gd name="connsiteX1" fmla="*/ 8640960 w 8640960"/>
              <a:gd name="connsiteY1" fmla="*/ 0 h 830997"/>
              <a:gd name="connsiteX2" fmla="*/ 8640960 w 8640960"/>
              <a:gd name="connsiteY2" fmla="*/ 830997 h 830997"/>
              <a:gd name="connsiteX3" fmla="*/ 0 w 8640960"/>
              <a:gd name="connsiteY3" fmla="*/ 830997 h 830997"/>
              <a:gd name="connsiteX4" fmla="*/ 0 w 8640960"/>
              <a:gd name="connsiteY4" fmla="*/ 0 h 830997"/>
              <a:gd name="connsiteX0" fmla="*/ 12878 w 8640960"/>
              <a:gd name="connsiteY0" fmla="*/ 90152 h 830997"/>
              <a:gd name="connsiteX1" fmla="*/ 8640960 w 8640960"/>
              <a:gd name="connsiteY1" fmla="*/ 0 h 830997"/>
              <a:gd name="connsiteX2" fmla="*/ 8640960 w 8640960"/>
              <a:gd name="connsiteY2" fmla="*/ 830997 h 830997"/>
              <a:gd name="connsiteX3" fmla="*/ 0 w 8640960"/>
              <a:gd name="connsiteY3" fmla="*/ 830997 h 830997"/>
              <a:gd name="connsiteX4" fmla="*/ 12878 w 8640960"/>
              <a:gd name="connsiteY4" fmla="*/ 90152 h 830997"/>
              <a:gd name="connsiteX0" fmla="*/ 12878 w 8640960"/>
              <a:gd name="connsiteY0" fmla="*/ 25757 h 766602"/>
              <a:gd name="connsiteX1" fmla="*/ 8640960 w 8640960"/>
              <a:gd name="connsiteY1" fmla="*/ 0 h 766602"/>
              <a:gd name="connsiteX2" fmla="*/ 8640960 w 8640960"/>
              <a:gd name="connsiteY2" fmla="*/ 766602 h 766602"/>
              <a:gd name="connsiteX3" fmla="*/ 0 w 8640960"/>
              <a:gd name="connsiteY3" fmla="*/ 766602 h 766602"/>
              <a:gd name="connsiteX4" fmla="*/ 12878 w 8640960"/>
              <a:gd name="connsiteY4" fmla="*/ 25757 h 766602"/>
              <a:gd name="connsiteX0" fmla="*/ 12878 w 8640960"/>
              <a:gd name="connsiteY0" fmla="*/ 12879 h 753724"/>
              <a:gd name="connsiteX1" fmla="*/ 8640960 w 8640960"/>
              <a:gd name="connsiteY1" fmla="*/ 0 h 753724"/>
              <a:gd name="connsiteX2" fmla="*/ 8640960 w 8640960"/>
              <a:gd name="connsiteY2" fmla="*/ 753724 h 753724"/>
              <a:gd name="connsiteX3" fmla="*/ 0 w 8640960"/>
              <a:gd name="connsiteY3" fmla="*/ 753724 h 753724"/>
              <a:gd name="connsiteX4" fmla="*/ 12878 w 8640960"/>
              <a:gd name="connsiteY4" fmla="*/ 12879 h 753724"/>
              <a:gd name="connsiteX0" fmla="*/ 0 w 8628082"/>
              <a:gd name="connsiteY0" fmla="*/ 12879 h 753724"/>
              <a:gd name="connsiteX1" fmla="*/ 8628082 w 8628082"/>
              <a:gd name="connsiteY1" fmla="*/ 0 h 753724"/>
              <a:gd name="connsiteX2" fmla="*/ 8628082 w 8628082"/>
              <a:gd name="connsiteY2" fmla="*/ 753724 h 753724"/>
              <a:gd name="connsiteX3" fmla="*/ 0 w 8628082"/>
              <a:gd name="connsiteY3" fmla="*/ 753724 h 753724"/>
              <a:gd name="connsiteX4" fmla="*/ 0 w 8628082"/>
              <a:gd name="connsiteY4" fmla="*/ 12879 h 75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8082" h="753724">
                <a:moveTo>
                  <a:pt x="0" y="12879"/>
                </a:moveTo>
                <a:lnTo>
                  <a:pt x="8628082" y="0"/>
                </a:lnTo>
                <a:lnTo>
                  <a:pt x="8628082" y="753724"/>
                </a:lnTo>
                <a:lnTo>
                  <a:pt x="0" y="753724"/>
                </a:lnTo>
                <a:lnTo>
                  <a:pt x="0" y="12879"/>
                </a:lnTo>
                <a:close/>
              </a:path>
            </a:pathLst>
          </a:custGeom>
          <a:noFill/>
          <a:ln w="28575">
            <a:solidFill>
              <a:schemeClr val="accent6"/>
            </a:solidFill>
          </a:ln>
        </p:spPr>
        <p:txBody>
          <a:bodyPr wrap="square" rtlCol="0">
            <a:spAutoFit/>
          </a:bodyPr>
          <a:lstStyle/>
          <a:p>
            <a:pPr algn="ctr"/>
            <a:r>
              <a:rPr lang="en-GB" sz="2000" b="1" dirty="0"/>
              <a:t>Chemical reactions can only occur when reacting particles collide with each other </a:t>
            </a:r>
            <a:r>
              <a:rPr lang="en-GB" sz="2000" b="1" dirty="0">
                <a:solidFill>
                  <a:schemeClr val="accent6">
                    <a:lumMod val="75000"/>
                  </a:schemeClr>
                </a:solidFill>
              </a:rPr>
              <a:t>with</a:t>
            </a:r>
            <a:r>
              <a:rPr lang="en-GB" sz="2000" b="1" dirty="0"/>
              <a:t> sufficient energy.</a:t>
            </a:r>
          </a:p>
        </p:txBody>
      </p:sp>
      <p:sp>
        <p:nvSpPr>
          <p:cNvPr id="7" name="TextBox 6"/>
          <p:cNvSpPr txBox="1"/>
          <p:nvPr/>
        </p:nvSpPr>
        <p:spPr>
          <a:xfrm>
            <a:off x="241394" y="3031852"/>
            <a:ext cx="8610498" cy="744832"/>
          </a:xfrm>
          <a:custGeom>
            <a:avLst/>
            <a:gdLst>
              <a:gd name="connsiteX0" fmla="*/ 0 w 8640960"/>
              <a:gd name="connsiteY0" fmla="*/ 0 h 461665"/>
              <a:gd name="connsiteX1" fmla="*/ 8640960 w 8640960"/>
              <a:gd name="connsiteY1" fmla="*/ 0 h 461665"/>
              <a:gd name="connsiteX2" fmla="*/ 8640960 w 8640960"/>
              <a:gd name="connsiteY2" fmla="*/ 461665 h 461665"/>
              <a:gd name="connsiteX3" fmla="*/ 0 w 8640960"/>
              <a:gd name="connsiteY3" fmla="*/ 461665 h 461665"/>
              <a:gd name="connsiteX4" fmla="*/ 0 w 8640960"/>
              <a:gd name="connsiteY4" fmla="*/ 0 h 461665"/>
              <a:gd name="connsiteX0" fmla="*/ 0 w 8640960"/>
              <a:gd name="connsiteY0" fmla="*/ 128789 h 461665"/>
              <a:gd name="connsiteX1" fmla="*/ 8640960 w 8640960"/>
              <a:gd name="connsiteY1" fmla="*/ 0 h 461665"/>
              <a:gd name="connsiteX2" fmla="*/ 8640960 w 8640960"/>
              <a:gd name="connsiteY2" fmla="*/ 461665 h 461665"/>
              <a:gd name="connsiteX3" fmla="*/ 0 w 8640960"/>
              <a:gd name="connsiteY3" fmla="*/ 461665 h 461665"/>
              <a:gd name="connsiteX4" fmla="*/ 0 w 8640960"/>
              <a:gd name="connsiteY4" fmla="*/ 128789 h 461665"/>
              <a:gd name="connsiteX0" fmla="*/ 0 w 8640960"/>
              <a:gd name="connsiteY0" fmla="*/ 0 h 332876"/>
              <a:gd name="connsiteX1" fmla="*/ 8628081 w 8640960"/>
              <a:gd name="connsiteY1" fmla="*/ 0 h 332876"/>
              <a:gd name="connsiteX2" fmla="*/ 8640960 w 8640960"/>
              <a:gd name="connsiteY2" fmla="*/ 332876 h 332876"/>
              <a:gd name="connsiteX3" fmla="*/ 0 w 8640960"/>
              <a:gd name="connsiteY3" fmla="*/ 332876 h 332876"/>
              <a:gd name="connsiteX4" fmla="*/ 0 w 8640960"/>
              <a:gd name="connsiteY4" fmla="*/ 0 h 332876"/>
              <a:gd name="connsiteX0" fmla="*/ 0 w 8640960"/>
              <a:gd name="connsiteY0" fmla="*/ 0 h 680606"/>
              <a:gd name="connsiteX1" fmla="*/ 8628081 w 8640960"/>
              <a:gd name="connsiteY1" fmla="*/ 0 h 680606"/>
              <a:gd name="connsiteX2" fmla="*/ 8640960 w 8640960"/>
              <a:gd name="connsiteY2" fmla="*/ 332876 h 680606"/>
              <a:gd name="connsiteX3" fmla="*/ 0 w 8640960"/>
              <a:gd name="connsiteY3" fmla="*/ 680606 h 680606"/>
              <a:gd name="connsiteX4" fmla="*/ 0 w 8640960"/>
              <a:gd name="connsiteY4" fmla="*/ 0 h 680606"/>
              <a:gd name="connsiteX0" fmla="*/ 0 w 8640960"/>
              <a:gd name="connsiteY0" fmla="*/ 0 h 680606"/>
              <a:gd name="connsiteX1" fmla="*/ 8628081 w 8640960"/>
              <a:gd name="connsiteY1" fmla="*/ 0 h 680606"/>
              <a:gd name="connsiteX2" fmla="*/ 8640960 w 8640960"/>
              <a:gd name="connsiteY2" fmla="*/ 654848 h 680606"/>
              <a:gd name="connsiteX3" fmla="*/ 0 w 8640960"/>
              <a:gd name="connsiteY3" fmla="*/ 680606 h 680606"/>
              <a:gd name="connsiteX4" fmla="*/ 0 w 8640960"/>
              <a:gd name="connsiteY4" fmla="*/ 0 h 680606"/>
              <a:gd name="connsiteX0" fmla="*/ 0 w 8628082"/>
              <a:gd name="connsiteY0" fmla="*/ 0 h 680606"/>
              <a:gd name="connsiteX1" fmla="*/ 8628081 w 8628082"/>
              <a:gd name="connsiteY1" fmla="*/ 0 h 680606"/>
              <a:gd name="connsiteX2" fmla="*/ 8628082 w 8628082"/>
              <a:gd name="connsiteY2" fmla="*/ 680606 h 680606"/>
              <a:gd name="connsiteX3" fmla="*/ 0 w 8628082"/>
              <a:gd name="connsiteY3" fmla="*/ 680606 h 680606"/>
              <a:gd name="connsiteX4" fmla="*/ 0 w 8628082"/>
              <a:gd name="connsiteY4" fmla="*/ 0 h 680606"/>
              <a:gd name="connsiteX0" fmla="*/ 9236 w 8637318"/>
              <a:gd name="connsiteY0" fmla="*/ 0 h 1240073"/>
              <a:gd name="connsiteX1" fmla="*/ 8637317 w 8637318"/>
              <a:gd name="connsiteY1" fmla="*/ 0 h 1240073"/>
              <a:gd name="connsiteX2" fmla="*/ 8637318 w 8637318"/>
              <a:gd name="connsiteY2" fmla="*/ 680606 h 1240073"/>
              <a:gd name="connsiteX3" fmla="*/ 0 w 8637318"/>
              <a:gd name="connsiteY3" fmla="*/ 1240073 h 1240073"/>
              <a:gd name="connsiteX4" fmla="*/ 9236 w 8637318"/>
              <a:gd name="connsiteY4" fmla="*/ 0 h 1240073"/>
              <a:gd name="connsiteX0" fmla="*/ 9236 w 8637317"/>
              <a:gd name="connsiteY0" fmla="*/ 0 h 1248952"/>
              <a:gd name="connsiteX1" fmla="*/ 8637317 w 8637317"/>
              <a:gd name="connsiteY1" fmla="*/ 0 h 1248952"/>
              <a:gd name="connsiteX2" fmla="*/ 8609609 w 8637317"/>
              <a:gd name="connsiteY2" fmla="*/ 1248952 h 1248952"/>
              <a:gd name="connsiteX3" fmla="*/ 0 w 8637317"/>
              <a:gd name="connsiteY3" fmla="*/ 1240073 h 1248952"/>
              <a:gd name="connsiteX4" fmla="*/ 9236 w 8637317"/>
              <a:gd name="connsiteY4" fmla="*/ 0 h 1248952"/>
              <a:gd name="connsiteX0" fmla="*/ 9236 w 8609609"/>
              <a:gd name="connsiteY0" fmla="*/ 0 h 1248952"/>
              <a:gd name="connsiteX1" fmla="*/ 8591136 w 8609609"/>
              <a:gd name="connsiteY1" fmla="*/ 532825 h 1248952"/>
              <a:gd name="connsiteX2" fmla="*/ 8609609 w 8609609"/>
              <a:gd name="connsiteY2" fmla="*/ 1248952 h 1248952"/>
              <a:gd name="connsiteX3" fmla="*/ 0 w 8609609"/>
              <a:gd name="connsiteY3" fmla="*/ 1240073 h 1248952"/>
              <a:gd name="connsiteX4" fmla="*/ 9236 w 8609609"/>
              <a:gd name="connsiteY4" fmla="*/ 0 h 1248952"/>
              <a:gd name="connsiteX0" fmla="*/ 9236 w 8609609"/>
              <a:gd name="connsiteY0" fmla="*/ 0 h 751649"/>
              <a:gd name="connsiteX1" fmla="*/ 8591136 w 8609609"/>
              <a:gd name="connsiteY1" fmla="*/ 35522 h 751649"/>
              <a:gd name="connsiteX2" fmla="*/ 8609609 w 8609609"/>
              <a:gd name="connsiteY2" fmla="*/ 751649 h 751649"/>
              <a:gd name="connsiteX3" fmla="*/ 0 w 8609609"/>
              <a:gd name="connsiteY3" fmla="*/ 742770 h 751649"/>
              <a:gd name="connsiteX4" fmla="*/ 9236 w 8609609"/>
              <a:gd name="connsiteY4" fmla="*/ 0 h 751649"/>
              <a:gd name="connsiteX0" fmla="*/ 888 w 8610498"/>
              <a:gd name="connsiteY0" fmla="*/ 0 h 716128"/>
              <a:gd name="connsiteX1" fmla="*/ 8592025 w 8610498"/>
              <a:gd name="connsiteY1" fmla="*/ 1 h 716128"/>
              <a:gd name="connsiteX2" fmla="*/ 8610498 w 8610498"/>
              <a:gd name="connsiteY2" fmla="*/ 716128 h 716128"/>
              <a:gd name="connsiteX3" fmla="*/ 889 w 8610498"/>
              <a:gd name="connsiteY3" fmla="*/ 707249 h 716128"/>
              <a:gd name="connsiteX4" fmla="*/ 888 w 8610498"/>
              <a:gd name="connsiteY4" fmla="*/ 0 h 716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10498" h="716128">
                <a:moveTo>
                  <a:pt x="888" y="0"/>
                </a:moveTo>
                <a:lnTo>
                  <a:pt x="8592025" y="1"/>
                </a:lnTo>
                <a:cubicBezTo>
                  <a:pt x="8592025" y="226870"/>
                  <a:pt x="8610498" y="489259"/>
                  <a:pt x="8610498" y="716128"/>
                </a:cubicBezTo>
                <a:lnTo>
                  <a:pt x="889" y="707249"/>
                </a:lnTo>
                <a:cubicBezTo>
                  <a:pt x="3968" y="293891"/>
                  <a:pt x="-2191" y="413358"/>
                  <a:pt x="888" y="0"/>
                </a:cubicBezTo>
                <a:close/>
              </a:path>
            </a:pathLst>
          </a:custGeom>
          <a:noFill/>
          <a:ln w="28575">
            <a:solidFill>
              <a:schemeClr val="accent6"/>
            </a:solidFill>
          </a:ln>
        </p:spPr>
        <p:txBody>
          <a:bodyPr wrap="square" rtlCol="0">
            <a:spAutoFit/>
          </a:bodyPr>
          <a:lstStyle/>
          <a:p>
            <a:pPr algn="ctr"/>
            <a:r>
              <a:rPr lang="en-GB" sz="2000" b="1" dirty="0"/>
              <a:t>The </a:t>
            </a:r>
            <a:r>
              <a:rPr lang="en-GB" sz="2000" b="1" dirty="0">
                <a:solidFill>
                  <a:schemeClr val="accent6"/>
                </a:solidFill>
              </a:rPr>
              <a:t>minimum</a:t>
            </a:r>
            <a:r>
              <a:rPr lang="en-GB" sz="2000" b="1" dirty="0"/>
              <a:t> amount of energy that particles must have to react is called the </a:t>
            </a:r>
            <a:r>
              <a:rPr lang="en-GB" sz="2000" b="1" dirty="0">
                <a:solidFill>
                  <a:schemeClr val="accent6"/>
                </a:solidFill>
              </a:rPr>
              <a:t>activation energy</a:t>
            </a:r>
          </a:p>
        </p:txBody>
      </p:sp>
      <p:sp>
        <p:nvSpPr>
          <p:cNvPr id="3" name="TextBox 2"/>
          <p:cNvSpPr txBox="1"/>
          <p:nvPr/>
        </p:nvSpPr>
        <p:spPr>
          <a:xfrm>
            <a:off x="251520" y="5330581"/>
            <a:ext cx="6777988" cy="1114041"/>
          </a:xfrm>
          <a:custGeom>
            <a:avLst/>
            <a:gdLst>
              <a:gd name="connsiteX0" fmla="*/ 0 w 6768752"/>
              <a:gd name="connsiteY0" fmla="*/ 0 h 1477328"/>
              <a:gd name="connsiteX1" fmla="*/ 6768752 w 6768752"/>
              <a:gd name="connsiteY1" fmla="*/ 0 h 1477328"/>
              <a:gd name="connsiteX2" fmla="*/ 6768752 w 6768752"/>
              <a:gd name="connsiteY2" fmla="*/ 1477328 h 1477328"/>
              <a:gd name="connsiteX3" fmla="*/ 0 w 6768752"/>
              <a:gd name="connsiteY3" fmla="*/ 1477328 h 1477328"/>
              <a:gd name="connsiteX4" fmla="*/ 0 w 6768752"/>
              <a:gd name="connsiteY4" fmla="*/ 0 h 1477328"/>
              <a:gd name="connsiteX0" fmla="*/ 0 w 6781631"/>
              <a:gd name="connsiteY0" fmla="*/ 115909 h 1477328"/>
              <a:gd name="connsiteX1" fmla="*/ 6781631 w 6781631"/>
              <a:gd name="connsiteY1" fmla="*/ 0 h 1477328"/>
              <a:gd name="connsiteX2" fmla="*/ 6781631 w 6781631"/>
              <a:gd name="connsiteY2" fmla="*/ 1477328 h 1477328"/>
              <a:gd name="connsiteX3" fmla="*/ 12879 w 6781631"/>
              <a:gd name="connsiteY3" fmla="*/ 1477328 h 1477328"/>
              <a:gd name="connsiteX4" fmla="*/ 0 w 6781631"/>
              <a:gd name="connsiteY4" fmla="*/ 115909 h 1477328"/>
              <a:gd name="connsiteX0" fmla="*/ 0 w 6781631"/>
              <a:gd name="connsiteY0" fmla="*/ 0 h 1361419"/>
              <a:gd name="connsiteX1" fmla="*/ 6781631 w 6781631"/>
              <a:gd name="connsiteY1" fmla="*/ 25759 h 1361419"/>
              <a:gd name="connsiteX2" fmla="*/ 6781631 w 6781631"/>
              <a:gd name="connsiteY2" fmla="*/ 1361419 h 1361419"/>
              <a:gd name="connsiteX3" fmla="*/ 12879 w 6781631"/>
              <a:gd name="connsiteY3" fmla="*/ 1361419 h 1361419"/>
              <a:gd name="connsiteX4" fmla="*/ 0 w 6781631"/>
              <a:gd name="connsiteY4" fmla="*/ 0 h 1361419"/>
              <a:gd name="connsiteX0" fmla="*/ 0 w 6781631"/>
              <a:gd name="connsiteY0" fmla="*/ 0 h 1361419"/>
              <a:gd name="connsiteX1" fmla="*/ 6781631 w 6781631"/>
              <a:gd name="connsiteY1" fmla="*/ 1 h 1361419"/>
              <a:gd name="connsiteX2" fmla="*/ 6781631 w 6781631"/>
              <a:gd name="connsiteY2" fmla="*/ 1361419 h 1361419"/>
              <a:gd name="connsiteX3" fmla="*/ 12879 w 6781631"/>
              <a:gd name="connsiteY3" fmla="*/ 1361419 h 1361419"/>
              <a:gd name="connsiteX4" fmla="*/ 0 w 6781631"/>
              <a:gd name="connsiteY4" fmla="*/ 0 h 1361419"/>
              <a:gd name="connsiteX0" fmla="*/ 0 w 6768752"/>
              <a:gd name="connsiteY0" fmla="*/ 0 h 1361419"/>
              <a:gd name="connsiteX1" fmla="*/ 6768752 w 6768752"/>
              <a:gd name="connsiteY1" fmla="*/ 1 h 1361419"/>
              <a:gd name="connsiteX2" fmla="*/ 6768752 w 6768752"/>
              <a:gd name="connsiteY2" fmla="*/ 1361419 h 1361419"/>
              <a:gd name="connsiteX3" fmla="*/ 0 w 6768752"/>
              <a:gd name="connsiteY3" fmla="*/ 1361419 h 1361419"/>
              <a:gd name="connsiteX4" fmla="*/ 0 w 6768752"/>
              <a:gd name="connsiteY4" fmla="*/ 0 h 1361419"/>
              <a:gd name="connsiteX0" fmla="*/ 0 w 6768752"/>
              <a:gd name="connsiteY0" fmla="*/ 69541 h 1361418"/>
              <a:gd name="connsiteX1" fmla="*/ 6768752 w 6768752"/>
              <a:gd name="connsiteY1" fmla="*/ 0 h 1361418"/>
              <a:gd name="connsiteX2" fmla="*/ 6768752 w 6768752"/>
              <a:gd name="connsiteY2" fmla="*/ 1361418 h 1361418"/>
              <a:gd name="connsiteX3" fmla="*/ 0 w 6768752"/>
              <a:gd name="connsiteY3" fmla="*/ 1361418 h 1361418"/>
              <a:gd name="connsiteX4" fmla="*/ 0 w 6768752"/>
              <a:gd name="connsiteY4" fmla="*/ 69541 h 1361418"/>
              <a:gd name="connsiteX0" fmla="*/ 0 w 6768752"/>
              <a:gd name="connsiteY0" fmla="*/ 0 h 1291877"/>
              <a:gd name="connsiteX1" fmla="*/ 6768752 w 6768752"/>
              <a:gd name="connsiteY1" fmla="*/ 8694 h 1291877"/>
              <a:gd name="connsiteX2" fmla="*/ 6768752 w 6768752"/>
              <a:gd name="connsiteY2" fmla="*/ 1291877 h 1291877"/>
              <a:gd name="connsiteX3" fmla="*/ 0 w 6768752"/>
              <a:gd name="connsiteY3" fmla="*/ 1291877 h 1291877"/>
              <a:gd name="connsiteX4" fmla="*/ 0 w 6768752"/>
              <a:gd name="connsiteY4" fmla="*/ 0 h 1291877"/>
              <a:gd name="connsiteX0" fmla="*/ 9237 w 6768752"/>
              <a:gd name="connsiteY0" fmla="*/ 382482 h 1283183"/>
              <a:gd name="connsiteX1" fmla="*/ 6768752 w 6768752"/>
              <a:gd name="connsiteY1" fmla="*/ 0 h 1283183"/>
              <a:gd name="connsiteX2" fmla="*/ 6768752 w 6768752"/>
              <a:gd name="connsiteY2" fmla="*/ 1283183 h 1283183"/>
              <a:gd name="connsiteX3" fmla="*/ 0 w 6768752"/>
              <a:gd name="connsiteY3" fmla="*/ 1283183 h 1283183"/>
              <a:gd name="connsiteX4" fmla="*/ 9237 w 6768752"/>
              <a:gd name="connsiteY4" fmla="*/ 382482 h 1283183"/>
              <a:gd name="connsiteX0" fmla="*/ 9237 w 6768752"/>
              <a:gd name="connsiteY0" fmla="*/ 0 h 900701"/>
              <a:gd name="connsiteX1" fmla="*/ 6768752 w 6768752"/>
              <a:gd name="connsiteY1" fmla="*/ 34773 h 900701"/>
              <a:gd name="connsiteX2" fmla="*/ 6768752 w 6768752"/>
              <a:gd name="connsiteY2" fmla="*/ 900701 h 900701"/>
              <a:gd name="connsiteX3" fmla="*/ 0 w 6768752"/>
              <a:gd name="connsiteY3" fmla="*/ 900701 h 900701"/>
              <a:gd name="connsiteX4" fmla="*/ 9237 w 6768752"/>
              <a:gd name="connsiteY4" fmla="*/ 0 h 900701"/>
              <a:gd name="connsiteX0" fmla="*/ 9237 w 6768752"/>
              <a:gd name="connsiteY0" fmla="*/ 0 h 900701"/>
              <a:gd name="connsiteX1" fmla="*/ 6768752 w 6768752"/>
              <a:gd name="connsiteY1" fmla="*/ 17387 h 900701"/>
              <a:gd name="connsiteX2" fmla="*/ 6768752 w 6768752"/>
              <a:gd name="connsiteY2" fmla="*/ 900701 h 900701"/>
              <a:gd name="connsiteX3" fmla="*/ 0 w 6768752"/>
              <a:gd name="connsiteY3" fmla="*/ 900701 h 900701"/>
              <a:gd name="connsiteX4" fmla="*/ 9237 w 6768752"/>
              <a:gd name="connsiteY4" fmla="*/ 0 h 900701"/>
              <a:gd name="connsiteX0" fmla="*/ 9237 w 6768752"/>
              <a:gd name="connsiteY0" fmla="*/ 0 h 900701"/>
              <a:gd name="connsiteX1" fmla="*/ 6768752 w 6768752"/>
              <a:gd name="connsiteY1" fmla="*/ 8693 h 900701"/>
              <a:gd name="connsiteX2" fmla="*/ 6768752 w 6768752"/>
              <a:gd name="connsiteY2" fmla="*/ 900701 h 900701"/>
              <a:gd name="connsiteX3" fmla="*/ 0 w 6768752"/>
              <a:gd name="connsiteY3" fmla="*/ 900701 h 900701"/>
              <a:gd name="connsiteX4" fmla="*/ 9237 w 6768752"/>
              <a:gd name="connsiteY4" fmla="*/ 0 h 900701"/>
              <a:gd name="connsiteX0" fmla="*/ 9237 w 6777988"/>
              <a:gd name="connsiteY0" fmla="*/ 0 h 1048478"/>
              <a:gd name="connsiteX1" fmla="*/ 6768752 w 6777988"/>
              <a:gd name="connsiteY1" fmla="*/ 8693 h 1048478"/>
              <a:gd name="connsiteX2" fmla="*/ 6777988 w 6777988"/>
              <a:gd name="connsiteY2" fmla="*/ 1048478 h 1048478"/>
              <a:gd name="connsiteX3" fmla="*/ 0 w 6777988"/>
              <a:gd name="connsiteY3" fmla="*/ 900701 h 1048478"/>
              <a:gd name="connsiteX4" fmla="*/ 9237 w 6777988"/>
              <a:gd name="connsiteY4" fmla="*/ 0 h 1048478"/>
              <a:gd name="connsiteX0" fmla="*/ 9237 w 6777988"/>
              <a:gd name="connsiteY0" fmla="*/ 0 h 1048478"/>
              <a:gd name="connsiteX1" fmla="*/ 6768752 w 6777988"/>
              <a:gd name="connsiteY1" fmla="*/ 8693 h 1048478"/>
              <a:gd name="connsiteX2" fmla="*/ 6777988 w 6777988"/>
              <a:gd name="connsiteY2" fmla="*/ 1048478 h 1048478"/>
              <a:gd name="connsiteX3" fmla="*/ 0 w 6777988"/>
              <a:gd name="connsiteY3" fmla="*/ 1013706 h 1048478"/>
              <a:gd name="connsiteX4" fmla="*/ 9237 w 6777988"/>
              <a:gd name="connsiteY4" fmla="*/ 0 h 104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7988" h="1048478">
                <a:moveTo>
                  <a:pt x="9237" y="0"/>
                </a:moveTo>
                <a:lnTo>
                  <a:pt x="6768752" y="8693"/>
                </a:lnTo>
                <a:cubicBezTo>
                  <a:pt x="6771831" y="355288"/>
                  <a:pt x="6774909" y="701883"/>
                  <a:pt x="6777988" y="1048478"/>
                </a:cubicBezTo>
                <a:lnTo>
                  <a:pt x="0" y="1013706"/>
                </a:lnTo>
                <a:lnTo>
                  <a:pt x="9237" y="0"/>
                </a:lnTo>
                <a:close/>
              </a:path>
            </a:pathLst>
          </a:custGeom>
          <a:noFill/>
        </p:spPr>
        <p:txBody>
          <a:bodyPr wrap="square" rtlCol="0">
            <a:spAutoFit/>
          </a:bodyPr>
          <a:lstStyle/>
          <a:p>
            <a:r>
              <a:rPr lang="en-GB" sz="2000" b="1" dirty="0"/>
              <a:t>When we look at this reaction we see the following.</a:t>
            </a:r>
          </a:p>
          <a:p>
            <a:pPr algn="ctr"/>
            <a:endParaRPr lang="en-GB" sz="2200" b="1" dirty="0"/>
          </a:p>
          <a:p>
            <a:pPr algn="ctr"/>
            <a:r>
              <a:rPr lang="en-GB" sz="2200" b="1" dirty="0"/>
              <a:t>CH</a:t>
            </a:r>
            <a:r>
              <a:rPr lang="en-GB" sz="2200" b="1" baseline="-25000" dirty="0"/>
              <a:t>4</a:t>
            </a:r>
            <a:r>
              <a:rPr lang="en-GB" sz="2200" b="1" dirty="0"/>
              <a:t>  +  2O</a:t>
            </a:r>
            <a:r>
              <a:rPr lang="en-GB" sz="2200" b="1" baseline="-25000" dirty="0"/>
              <a:t>2</a:t>
            </a:r>
            <a:r>
              <a:rPr lang="en-GB" sz="2200" b="1" dirty="0"/>
              <a:t> </a:t>
            </a:r>
            <a:r>
              <a:rPr lang="en-GB" sz="2200" b="1" dirty="0">
                <a:sym typeface="Wingdings" panose="05000000000000000000" pitchFamily="2" charset="2"/>
              </a:rPr>
              <a:t>  CO</a:t>
            </a:r>
            <a:r>
              <a:rPr lang="en-GB" sz="2200" b="1" baseline="-25000" dirty="0">
                <a:sym typeface="Wingdings" panose="05000000000000000000" pitchFamily="2" charset="2"/>
              </a:rPr>
              <a:t>2</a:t>
            </a:r>
            <a:r>
              <a:rPr lang="en-GB" sz="2200" b="1" dirty="0">
                <a:sym typeface="Wingdings" panose="05000000000000000000" pitchFamily="2" charset="2"/>
              </a:rPr>
              <a:t>  +  2H</a:t>
            </a:r>
            <a:r>
              <a:rPr lang="en-GB" sz="2200" b="1" baseline="-25000" dirty="0">
                <a:sym typeface="Wingdings" panose="05000000000000000000" pitchFamily="2" charset="2"/>
              </a:rPr>
              <a:t>2</a:t>
            </a:r>
            <a:r>
              <a:rPr lang="en-GB" sz="2200" b="1" dirty="0">
                <a:sym typeface="Wingdings" panose="05000000000000000000" pitchFamily="2" charset="2"/>
              </a:rPr>
              <a:t>O</a:t>
            </a:r>
            <a:r>
              <a:rPr lang="en-GB" sz="2200" b="1" dirty="0"/>
              <a:t> </a:t>
            </a:r>
          </a:p>
          <a:p>
            <a:pPr algn="ctr"/>
            <a:endParaRPr lang="en-GB" sz="2400" b="1" dirty="0"/>
          </a:p>
        </p:txBody>
      </p:sp>
      <p:sp>
        <p:nvSpPr>
          <p:cNvPr id="8" name="TextBox 7"/>
          <p:cNvSpPr txBox="1"/>
          <p:nvPr/>
        </p:nvSpPr>
        <p:spPr>
          <a:xfrm>
            <a:off x="6569510" y="4969842"/>
            <a:ext cx="1962362" cy="1569660"/>
          </a:xfrm>
          <a:custGeom>
            <a:avLst/>
            <a:gdLst>
              <a:gd name="connsiteX0" fmla="*/ 0 w 1872208"/>
              <a:gd name="connsiteY0" fmla="*/ 0 h 1569660"/>
              <a:gd name="connsiteX1" fmla="*/ 1872208 w 1872208"/>
              <a:gd name="connsiteY1" fmla="*/ 0 h 1569660"/>
              <a:gd name="connsiteX2" fmla="*/ 1872208 w 1872208"/>
              <a:gd name="connsiteY2" fmla="*/ 1569660 h 1569660"/>
              <a:gd name="connsiteX3" fmla="*/ 0 w 1872208"/>
              <a:gd name="connsiteY3" fmla="*/ 1569660 h 1569660"/>
              <a:gd name="connsiteX4" fmla="*/ 0 w 1872208"/>
              <a:gd name="connsiteY4" fmla="*/ 0 h 1569660"/>
              <a:gd name="connsiteX0" fmla="*/ 0 w 2348726"/>
              <a:gd name="connsiteY0" fmla="*/ 231819 h 1569660"/>
              <a:gd name="connsiteX1" fmla="*/ 2348726 w 2348726"/>
              <a:gd name="connsiteY1" fmla="*/ 0 h 1569660"/>
              <a:gd name="connsiteX2" fmla="*/ 2348726 w 2348726"/>
              <a:gd name="connsiteY2" fmla="*/ 1569660 h 1569660"/>
              <a:gd name="connsiteX3" fmla="*/ 476518 w 2348726"/>
              <a:gd name="connsiteY3" fmla="*/ 1569660 h 1569660"/>
              <a:gd name="connsiteX4" fmla="*/ 0 w 2348726"/>
              <a:gd name="connsiteY4" fmla="*/ 231819 h 1569660"/>
              <a:gd name="connsiteX0" fmla="*/ 0 w 2348726"/>
              <a:gd name="connsiteY0" fmla="*/ 0 h 1337841"/>
              <a:gd name="connsiteX1" fmla="*/ 1988117 w 2348726"/>
              <a:gd name="connsiteY1" fmla="*/ 12879 h 1337841"/>
              <a:gd name="connsiteX2" fmla="*/ 2348726 w 2348726"/>
              <a:gd name="connsiteY2" fmla="*/ 1337841 h 1337841"/>
              <a:gd name="connsiteX3" fmla="*/ 476518 w 2348726"/>
              <a:gd name="connsiteY3" fmla="*/ 1337841 h 1337841"/>
              <a:gd name="connsiteX4" fmla="*/ 0 w 2348726"/>
              <a:gd name="connsiteY4" fmla="*/ 0 h 1337841"/>
              <a:gd name="connsiteX0" fmla="*/ 0 w 2348726"/>
              <a:gd name="connsiteY0" fmla="*/ 0 h 1363599"/>
              <a:gd name="connsiteX1" fmla="*/ 1988117 w 2348726"/>
              <a:gd name="connsiteY1" fmla="*/ 12879 h 1363599"/>
              <a:gd name="connsiteX2" fmla="*/ 2348726 w 2348726"/>
              <a:gd name="connsiteY2" fmla="*/ 1337841 h 1363599"/>
              <a:gd name="connsiteX3" fmla="*/ 12878 w 2348726"/>
              <a:gd name="connsiteY3" fmla="*/ 1363599 h 1363599"/>
              <a:gd name="connsiteX4" fmla="*/ 0 w 2348726"/>
              <a:gd name="connsiteY4" fmla="*/ 0 h 1363599"/>
              <a:gd name="connsiteX0" fmla="*/ 0 w 2026755"/>
              <a:gd name="connsiteY0" fmla="*/ 0 h 1363599"/>
              <a:gd name="connsiteX1" fmla="*/ 1988117 w 2026755"/>
              <a:gd name="connsiteY1" fmla="*/ 12879 h 1363599"/>
              <a:gd name="connsiteX2" fmla="*/ 2026755 w 2026755"/>
              <a:gd name="connsiteY2" fmla="*/ 1363599 h 1363599"/>
              <a:gd name="connsiteX3" fmla="*/ 12878 w 2026755"/>
              <a:gd name="connsiteY3" fmla="*/ 1363599 h 1363599"/>
              <a:gd name="connsiteX4" fmla="*/ 0 w 2026755"/>
              <a:gd name="connsiteY4" fmla="*/ 0 h 1363599"/>
              <a:gd name="connsiteX0" fmla="*/ 0 w 1988118"/>
              <a:gd name="connsiteY0" fmla="*/ 0 h 1479509"/>
              <a:gd name="connsiteX1" fmla="*/ 1988117 w 1988118"/>
              <a:gd name="connsiteY1" fmla="*/ 12879 h 1479509"/>
              <a:gd name="connsiteX2" fmla="*/ 1988118 w 1988118"/>
              <a:gd name="connsiteY2" fmla="*/ 1479509 h 1479509"/>
              <a:gd name="connsiteX3" fmla="*/ 12878 w 1988118"/>
              <a:gd name="connsiteY3" fmla="*/ 1363599 h 1479509"/>
              <a:gd name="connsiteX4" fmla="*/ 0 w 1988118"/>
              <a:gd name="connsiteY4" fmla="*/ 0 h 1479509"/>
              <a:gd name="connsiteX0" fmla="*/ 0 w 1988118"/>
              <a:gd name="connsiteY0" fmla="*/ 0 h 1492388"/>
              <a:gd name="connsiteX1" fmla="*/ 1988117 w 1988118"/>
              <a:gd name="connsiteY1" fmla="*/ 12879 h 1492388"/>
              <a:gd name="connsiteX2" fmla="*/ 1988118 w 1988118"/>
              <a:gd name="connsiteY2" fmla="*/ 1479509 h 1492388"/>
              <a:gd name="connsiteX3" fmla="*/ 25756 w 1988118"/>
              <a:gd name="connsiteY3" fmla="*/ 1492388 h 1492388"/>
              <a:gd name="connsiteX4" fmla="*/ 0 w 1988118"/>
              <a:gd name="connsiteY4" fmla="*/ 0 h 1492388"/>
              <a:gd name="connsiteX0" fmla="*/ 0 w 1988118"/>
              <a:gd name="connsiteY0" fmla="*/ 0 h 1505266"/>
              <a:gd name="connsiteX1" fmla="*/ 1988117 w 1988118"/>
              <a:gd name="connsiteY1" fmla="*/ 12879 h 1505266"/>
              <a:gd name="connsiteX2" fmla="*/ 1988118 w 1988118"/>
              <a:gd name="connsiteY2" fmla="*/ 1505266 h 1505266"/>
              <a:gd name="connsiteX3" fmla="*/ 25756 w 1988118"/>
              <a:gd name="connsiteY3" fmla="*/ 1492388 h 1505266"/>
              <a:gd name="connsiteX4" fmla="*/ 0 w 1988118"/>
              <a:gd name="connsiteY4" fmla="*/ 0 h 1505266"/>
              <a:gd name="connsiteX0" fmla="*/ 0 w 1975239"/>
              <a:gd name="connsiteY0" fmla="*/ 0 h 1492387"/>
              <a:gd name="connsiteX1" fmla="*/ 1975238 w 1975239"/>
              <a:gd name="connsiteY1" fmla="*/ 0 h 1492387"/>
              <a:gd name="connsiteX2" fmla="*/ 1975239 w 1975239"/>
              <a:gd name="connsiteY2" fmla="*/ 1492387 h 1492387"/>
              <a:gd name="connsiteX3" fmla="*/ 12877 w 1975239"/>
              <a:gd name="connsiteY3" fmla="*/ 1479509 h 1492387"/>
              <a:gd name="connsiteX4" fmla="*/ 0 w 1975239"/>
              <a:gd name="connsiteY4" fmla="*/ 0 h 1492387"/>
              <a:gd name="connsiteX0" fmla="*/ 2 w 1962362"/>
              <a:gd name="connsiteY0" fmla="*/ 0 h 1492387"/>
              <a:gd name="connsiteX1" fmla="*/ 1962361 w 1962362"/>
              <a:gd name="connsiteY1" fmla="*/ 0 h 1492387"/>
              <a:gd name="connsiteX2" fmla="*/ 1962362 w 1962362"/>
              <a:gd name="connsiteY2" fmla="*/ 1492387 h 1492387"/>
              <a:gd name="connsiteX3" fmla="*/ 0 w 1962362"/>
              <a:gd name="connsiteY3" fmla="*/ 1479509 h 1492387"/>
              <a:gd name="connsiteX4" fmla="*/ 2 w 1962362"/>
              <a:gd name="connsiteY4" fmla="*/ 0 h 1492387"/>
              <a:gd name="connsiteX0" fmla="*/ 1 w 1962361"/>
              <a:gd name="connsiteY0" fmla="*/ 0 h 1492387"/>
              <a:gd name="connsiteX1" fmla="*/ 1962360 w 1962361"/>
              <a:gd name="connsiteY1" fmla="*/ 0 h 1492387"/>
              <a:gd name="connsiteX2" fmla="*/ 1962361 w 1962361"/>
              <a:gd name="connsiteY2" fmla="*/ 1492387 h 1492387"/>
              <a:gd name="connsiteX3" fmla="*/ 12878 w 1962361"/>
              <a:gd name="connsiteY3" fmla="*/ 1492387 h 1492387"/>
              <a:gd name="connsiteX4" fmla="*/ 1 w 1962361"/>
              <a:gd name="connsiteY4" fmla="*/ 0 h 1492387"/>
              <a:gd name="connsiteX0" fmla="*/ 2 w 1962362"/>
              <a:gd name="connsiteY0" fmla="*/ 0 h 1505266"/>
              <a:gd name="connsiteX1" fmla="*/ 1962361 w 1962362"/>
              <a:gd name="connsiteY1" fmla="*/ 0 h 1505266"/>
              <a:gd name="connsiteX2" fmla="*/ 1962362 w 1962362"/>
              <a:gd name="connsiteY2" fmla="*/ 1492387 h 1505266"/>
              <a:gd name="connsiteX3" fmla="*/ 0 w 1962362"/>
              <a:gd name="connsiteY3" fmla="*/ 1505266 h 1505266"/>
              <a:gd name="connsiteX4" fmla="*/ 2 w 1962362"/>
              <a:gd name="connsiteY4" fmla="*/ 0 h 1505266"/>
              <a:gd name="connsiteX0" fmla="*/ 2 w 1962362"/>
              <a:gd name="connsiteY0" fmla="*/ 0 h 1492387"/>
              <a:gd name="connsiteX1" fmla="*/ 1962361 w 1962362"/>
              <a:gd name="connsiteY1" fmla="*/ 0 h 1492387"/>
              <a:gd name="connsiteX2" fmla="*/ 1962362 w 1962362"/>
              <a:gd name="connsiteY2" fmla="*/ 1492387 h 1492387"/>
              <a:gd name="connsiteX3" fmla="*/ 0 w 1962362"/>
              <a:gd name="connsiteY3" fmla="*/ 1492387 h 1492387"/>
              <a:gd name="connsiteX4" fmla="*/ 2 w 1962362"/>
              <a:gd name="connsiteY4" fmla="*/ 0 h 1492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362" h="1492387">
                <a:moveTo>
                  <a:pt x="2" y="0"/>
                </a:moveTo>
                <a:lnTo>
                  <a:pt x="1962361" y="0"/>
                </a:lnTo>
                <a:cubicBezTo>
                  <a:pt x="1962361" y="488877"/>
                  <a:pt x="1962362" y="1003510"/>
                  <a:pt x="1962362" y="1492387"/>
                </a:cubicBezTo>
                <a:lnTo>
                  <a:pt x="0" y="1492387"/>
                </a:lnTo>
                <a:cubicBezTo>
                  <a:pt x="1" y="999217"/>
                  <a:pt x="1" y="493170"/>
                  <a:pt x="2" y="0"/>
                </a:cubicBezTo>
                <a:close/>
              </a:path>
            </a:pathLst>
          </a:custGeom>
          <a:solidFill>
            <a:schemeClr val="accent6"/>
          </a:solidFill>
        </p:spPr>
        <p:txBody>
          <a:bodyPr wrap="square" rtlCol="0">
            <a:spAutoFit/>
          </a:bodyPr>
          <a:lstStyle/>
          <a:p>
            <a:pPr algn="ctr"/>
            <a:r>
              <a:rPr lang="en-GB" sz="2400" b="1" dirty="0"/>
              <a:t>You will be expected to balance this equation.</a:t>
            </a:r>
          </a:p>
        </p:txBody>
      </p:sp>
      <p:sp>
        <p:nvSpPr>
          <p:cNvPr id="6" name="TextBox 5"/>
          <p:cNvSpPr txBox="1"/>
          <p:nvPr/>
        </p:nvSpPr>
        <p:spPr>
          <a:xfrm>
            <a:off x="242284" y="3879700"/>
            <a:ext cx="8651084" cy="1323439"/>
          </a:xfrm>
          <a:custGeom>
            <a:avLst/>
            <a:gdLst>
              <a:gd name="connsiteX0" fmla="*/ 0 w 8640960"/>
              <a:gd name="connsiteY0" fmla="*/ 0 h 1323439"/>
              <a:gd name="connsiteX1" fmla="*/ 8640960 w 8640960"/>
              <a:gd name="connsiteY1" fmla="*/ 0 h 1323439"/>
              <a:gd name="connsiteX2" fmla="*/ 8640960 w 8640960"/>
              <a:gd name="connsiteY2" fmla="*/ 1323439 h 1323439"/>
              <a:gd name="connsiteX3" fmla="*/ 0 w 8640960"/>
              <a:gd name="connsiteY3" fmla="*/ 1323439 h 1323439"/>
              <a:gd name="connsiteX4" fmla="*/ 0 w 8640960"/>
              <a:gd name="connsiteY4" fmla="*/ 0 h 1323439"/>
              <a:gd name="connsiteX0" fmla="*/ 0 w 8640960"/>
              <a:gd name="connsiteY0" fmla="*/ 0 h 1480457"/>
              <a:gd name="connsiteX1" fmla="*/ 8640960 w 8640960"/>
              <a:gd name="connsiteY1" fmla="*/ 0 h 1480457"/>
              <a:gd name="connsiteX2" fmla="*/ 8640960 w 8640960"/>
              <a:gd name="connsiteY2" fmla="*/ 1323439 h 1480457"/>
              <a:gd name="connsiteX3" fmla="*/ 0 w 8640960"/>
              <a:gd name="connsiteY3" fmla="*/ 1480457 h 1480457"/>
              <a:gd name="connsiteX4" fmla="*/ 0 w 8640960"/>
              <a:gd name="connsiteY4" fmla="*/ 0 h 1480457"/>
              <a:gd name="connsiteX0" fmla="*/ 0 w 8640960"/>
              <a:gd name="connsiteY0" fmla="*/ 0 h 1489694"/>
              <a:gd name="connsiteX1" fmla="*/ 8640960 w 8640960"/>
              <a:gd name="connsiteY1" fmla="*/ 0 h 1489694"/>
              <a:gd name="connsiteX2" fmla="*/ 8640960 w 8640960"/>
              <a:gd name="connsiteY2" fmla="*/ 1489694 h 1489694"/>
              <a:gd name="connsiteX3" fmla="*/ 0 w 8640960"/>
              <a:gd name="connsiteY3" fmla="*/ 1480457 h 1489694"/>
              <a:gd name="connsiteX4" fmla="*/ 0 w 8640960"/>
              <a:gd name="connsiteY4" fmla="*/ 0 h 1489694"/>
              <a:gd name="connsiteX0" fmla="*/ 0 w 8640960"/>
              <a:gd name="connsiteY0" fmla="*/ 0 h 1480457"/>
              <a:gd name="connsiteX1" fmla="*/ 8640960 w 8640960"/>
              <a:gd name="connsiteY1" fmla="*/ 0 h 1480457"/>
              <a:gd name="connsiteX2" fmla="*/ 8640960 w 8640960"/>
              <a:gd name="connsiteY2" fmla="*/ 1471221 h 1480457"/>
              <a:gd name="connsiteX3" fmla="*/ 0 w 8640960"/>
              <a:gd name="connsiteY3" fmla="*/ 1480457 h 1480457"/>
              <a:gd name="connsiteX4" fmla="*/ 0 w 8640960"/>
              <a:gd name="connsiteY4" fmla="*/ 0 h 1480457"/>
              <a:gd name="connsiteX0" fmla="*/ 0 w 8640960"/>
              <a:gd name="connsiteY0" fmla="*/ 0 h 1489693"/>
              <a:gd name="connsiteX1" fmla="*/ 8640960 w 8640960"/>
              <a:gd name="connsiteY1" fmla="*/ 0 h 1489693"/>
              <a:gd name="connsiteX2" fmla="*/ 8640960 w 8640960"/>
              <a:gd name="connsiteY2" fmla="*/ 1489693 h 1489693"/>
              <a:gd name="connsiteX3" fmla="*/ 0 w 8640960"/>
              <a:gd name="connsiteY3" fmla="*/ 1480457 h 1489693"/>
              <a:gd name="connsiteX4" fmla="*/ 0 w 8640960"/>
              <a:gd name="connsiteY4" fmla="*/ 0 h 1489693"/>
              <a:gd name="connsiteX0" fmla="*/ 0 w 8640960"/>
              <a:gd name="connsiteY0" fmla="*/ 0 h 1489693"/>
              <a:gd name="connsiteX1" fmla="*/ 8640960 w 8640960"/>
              <a:gd name="connsiteY1" fmla="*/ 0 h 1489693"/>
              <a:gd name="connsiteX2" fmla="*/ 8640960 w 8640960"/>
              <a:gd name="connsiteY2" fmla="*/ 1489693 h 1489693"/>
              <a:gd name="connsiteX3" fmla="*/ 0 w 8640960"/>
              <a:gd name="connsiteY3" fmla="*/ 1480457 h 1489693"/>
              <a:gd name="connsiteX4" fmla="*/ 0 w 8640960"/>
              <a:gd name="connsiteY4" fmla="*/ 0 h 1489693"/>
              <a:gd name="connsiteX0" fmla="*/ 9237 w 8640960"/>
              <a:gd name="connsiteY0" fmla="*/ 378691 h 1489693"/>
              <a:gd name="connsiteX1" fmla="*/ 8640960 w 8640960"/>
              <a:gd name="connsiteY1" fmla="*/ 0 h 1489693"/>
              <a:gd name="connsiteX2" fmla="*/ 8640960 w 8640960"/>
              <a:gd name="connsiteY2" fmla="*/ 1489693 h 1489693"/>
              <a:gd name="connsiteX3" fmla="*/ 0 w 8640960"/>
              <a:gd name="connsiteY3" fmla="*/ 1480457 h 1489693"/>
              <a:gd name="connsiteX4" fmla="*/ 9237 w 8640960"/>
              <a:gd name="connsiteY4" fmla="*/ 378691 h 1489693"/>
              <a:gd name="connsiteX0" fmla="*/ 9237 w 8650196"/>
              <a:gd name="connsiteY0" fmla="*/ 0 h 1111002"/>
              <a:gd name="connsiteX1" fmla="*/ 8650196 w 8650196"/>
              <a:gd name="connsiteY1" fmla="*/ 18473 h 1111002"/>
              <a:gd name="connsiteX2" fmla="*/ 8640960 w 8650196"/>
              <a:gd name="connsiteY2" fmla="*/ 1111002 h 1111002"/>
              <a:gd name="connsiteX3" fmla="*/ 0 w 8650196"/>
              <a:gd name="connsiteY3" fmla="*/ 1101766 h 1111002"/>
              <a:gd name="connsiteX4" fmla="*/ 9237 w 8650196"/>
              <a:gd name="connsiteY4" fmla="*/ 0 h 1111002"/>
              <a:gd name="connsiteX0" fmla="*/ 9237 w 8641848"/>
              <a:gd name="connsiteY0" fmla="*/ 0 h 1111002"/>
              <a:gd name="connsiteX1" fmla="*/ 8640960 w 8641848"/>
              <a:gd name="connsiteY1" fmla="*/ 1 h 1111002"/>
              <a:gd name="connsiteX2" fmla="*/ 8640960 w 8641848"/>
              <a:gd name="connsiteY2" fmla="*/ 1111002 h 1111002"/>
              <a:gd name="connsiteX3" fmla="*/ 0 w 8641848"/>
              <a:gd name="connsiteY3" fmla="*/ 1101766 h 1111002"/>
              <a:gd name="connsiteX4" fmla="*/ 9237 w 8641848"/>
              <a:gd name="connsiteY4" fmla="*/ 0 h 1111002"/>
              <a:gd name="connsiteX0" fmla="*/ 0 w 8651084"/>
              <a:gd name="connsiteY0" fmla="*/ 0 h 1111002"/>
              <a:gd name="connsiteX1" fmla="*/ 8650196 w 8651084"/>
              <a:gd name="connsiteY1" fmla="*/ 1 h 1111002"/>
              <a:gd name="connsiteX2" fmla="*/ 8650196 w 8651084"/>
              <a:gd name="connsiteY2" fmla="*/ 1111002 h 1111002"/>
              <a:gd name="connsiteX3" fmla="*/ 9236 w 8651084"/>
              <a:gd name="connsiteY3" fmla="*/ 1101766 h 1111002"/>
              <a:gd name="connsiteX4" fmla="*/ 0 w 8651084"/>
              <a:gd name="connsiteY4" fmla="*/ 0 h 1111002"/>
              <a:gd name="connsiteX0" fmla="*/ 0 w 8651084"/>
              <a:gd name="connsiteY0" fmla="*/ 0 h 1111002"/>
              <a:gd name="connsiteX1" fmla="*/ 8650196 w 8651084"/>
              <a:gd name="connsiteY1" fmla="*/ 1 h 1111002"/>
              <a:gd name="connsiteX2" fmla="*/ 8650196 w 8651084"/>
              <a:gd name="connsiteY2" fmla="*/ 1111002 h 1111002"/>
              <a:gd name="connsiteX3" fmla="*/ 9236 w 8651084"/>
              <a:gd name="connsiteY3" fmla="*/ 1101766 h 1111002"/>
              <a:gd name="connsiteX4" fmla="*/ 0 w 8651084"/>
              <a:gd name="connsiteY4" fmla="*/ 0 h 111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1084" h="1111002">
                <a:moveTo>
                  <a:pt x="0" y="0"/>
                </a:moveTo>
                <a:lnTo>
                  <a:pt x="8650196" y="1"/>
                </a:lnTo>
                <a:cubicBezTo>
                  <a:pt x="8647117" y="364177"/>
                  <a:pt x="8653275" y="746826"/>
                  <a:pt x="8650196" y="1111002"/>
                </a:cubicBezTo>
                <a:lnTo>
                  <a:pt x="9236" y="1101766"/>
                </a:lnTo>
                <a:cubicBezTo>
                  <a:pt x="6157" y="734511"/>
                  <a:pt x="3079" y="367255"/>
                  <a:pt x="0" y="0"/>
                </a:cubicBezTo>
                <a:close/>
              </a:path>
            </a:pathLst>
          </a:custGeom>
          <a:noFill/>
        </p:spPr>
        <p:txBody>
          <a:bodyPr wrap="square" rtlCol="0">
            <a:spAutoFit/>
          </a:bodyPr>
          <a:lstStyle/>
          <a:p>
            <a:r>
              <a:rPr lang="en-GB" sz="2000" b="1" dirty="0"/>
              <a:t>You have given a reaction its </a:t>
            </a:r>
            <a:r>
              <a:rPr lang="en-GB" sz="2000" b="1" dirty="0">
                <a:solidFill>
                  <a:schemeClr val="accent6">
                    <a:lumMod val="75000"/>
                  </a:schemeClr>
                </a:solidFill>
              </a:rPr>
              <a:t>activation energy </a:t>
            </a:r>
            <a:r>
              <a:rPr lang="en-GB" sz="2000" b="1" dirty="0"/>
              <a:t>when you have used a lit spill to light a Bunsen burner. Without the </a:t>
            </a:r>
            <a:r>
              <a:rPr lang="en-GB" sz="2000" b="1" dirty="0">
                <a:solidFill>
                  <a:schemeClr val="accent6">
                    <a:lumMod val="75000"/>
                  </a:schemeClr>
                </a:solidFill>
              </a:rPr>
              <a:t>activation energy </a:t>
            </a:r>
            <a:r>
              <a:rPr lang="en-GB" sz="2000" b="1" dirty="0"/>
              <a:t>from the lit spill the methane gas and oxygen in the air will not </a:t>
            </a:r>
            <a:r>
              <a:rPr lang="en-GB" sz="2000" b="1" dirty="0">
                <a:solidFill>
                  <a:schemeClr val="accent6">
                    <a:lumMod val="75000"/>
                  </a:schemeClr>
                </a:solidFill>
              </a:rPr>
              <a:t>combust</a:t>
            </a:r>
            <a:r>
              <a:rPr lang="en-GB" sz="2000" b="1" dirty="0"/>
              <a:t> and release the heat energy.</a:t>
            </a:r>
            <a:endParaRPr lang="en-GB" sz="2000" dirty="0"/>
          </a:p>
        </p:txBody>
      </p:sp>
      <p:pic>
        <p:nvPicPr>
          <p:cNvPr id="10" name="Picture 9"/>
          <p:cNvPicPr>
            <a:picLocks noChangeAspect="1"/>
          </p:cNvPicPr>
          <p:nvPr/>
        </p:nvPicPr>
        <p:blipFill>
          <a:blip r:embed="rId2"/>
          <a:stretch>
            <a:fillRect/>
          </a:stretch>
        </p:blipFill>
        <p:spPr>
          <a:xfrm>
            <a:off x="1439652" y="1555130"/>
            <a:ext cx="6264696" cy="1373706"/>
          </a:xfrm>
          <a:prstGeom prst="rect">
            <a:avLst/>
          </a:prstGeom>
        </p:spPr>
      </p:pic>
    </p:spTree>
    <p:extLst>
      <p:ext uri="{BB962C8B-B14F-4D97-AF65-F5344CB8AC3E}">
        <p14:creationId xmlns:p14="http://schemas.microsoft.com/office/powerpoint/2010/main" val="434794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7744" y="35655"/>
            <a:ext cx="6876256"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Energy Changes part 2 – Reaction profiles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251520" y="692696"/>
            <a:ext cx="8568952" cy="1569660"/>
          </a:xfrm>
          <a:prstGeom prst="rect">
            <a:avLst/>
          </a:prstGeom>
          <a:noFill/>
        </p:spPr>
        <p:txBody>
          <a:bodyPr wrap="square" rtlCol="0">
            <a:spAutoFit/>
          </a:bodyPr>
          <a:lstStyle/>
          <a:p>
            <a:pPr algn="ctr"/>
            <a:r>
              <a:rPr lang="en-GB" sz="2400" b="1" dirty="0"/>
              <a:t>CH</a:t>
            </a:r>
            <a:r>
              <a:rPr lang="en-GB" sz="2400" b="1" baseline="-25000" dirty="0"/>
              <a:t>4</a:t>
            </a:r>
            <a:r>
              <a:rPr lang="en-GB" sz="2400" b="1" dirty="0"/>
              <a:t>  +  2O</a:t>
            </a:r>
            <a:r>
              <a:rPr lang="en-GB" sz="2400" b="1" baseline="-25000" dirty="0"/>
              <a:t>2</a:t>
            </a:r>
            <a:r>
              <a:rPr lang="en-GB" sz="2400" b="1" dirty="0"/>
              <a:t> </a:t>
            </a:r>
            <a:r>
              <a:rPr lang="en-GB" sz="2400" b="1" dirty="0">
                <a:sym typeface="Wingdings" panose="05000000000000000000" pitchFamily="2" charset="2"/>
              </a:rPr>
              <a:t>  CO</a:t>
            </a:r>
            <a:r>
              <a:rPr lang="en-GB" sz="2400" b="1" baseline="-25000" dirty="0">
                <a:sym typeface="Wingdings" panose="05000000000000000000" pitchFamily="2" charset="2"/>
              </a:rPr>
              <a:t>2</a:t>
            </a:r>
            <a:r>
              <a:rPr lang="en-GB" sz="2400" b="1" dirty="0">
                <a:sym typeface="Wingdings" panose="05000000000000000000" pitchFamily="2" charset="2"/>
              </a:rPr>
              <a:t>  +  2H</a:t>
            </a:r>
            <a:r>
              <a:rPr lang="en-GB" sz="2400" b="1" baseline="-25000" dirty="0">
                <a:sym typeface="Wingdings" panose="05000000000000000000" pitchFamily="2" charset="2"/>
              </a:rPr>
              <a:t>2</a:t>
            </a:r>
            <a:r>
              <a:rPr lang="en-GB" sz="2400" b="1" dirty="0">
                <a:sym typeface="Wingdings" panose="05000000000000000000" pitchFamily="2" charset="2"/>
              </a:rPr>
              <a:t>O</a:t>
            </a:r>
            <a:r>
              <a:rPr lang="en-GB" sz="2400" b="1" dirty="0"/>
              <a:t> </a:t>
            </a:r>
          </a:p>
          <a:p>
            <a:pPr algn="ctr"/>
            <a:r>
              <a:rPr lang="en-GB" sz="2400" b="1" dirty="0"/>
              <a:t>We know this reaction is </a:t>
            </a:r>
            <a:r>
              <a:rPr lang="en-GB" sz="2400" b="1" dirty="0">
                <a:solidFill>
                  <a:schemeClr val="accent6">
                    <a:lumMod val="75000"/>
                  </a:schemeClr>
                </a:solidFill>
              </a:rPr>
              <a:t>exothermic</a:t>
            </a:r>
            <a:r>
              <a:rPr lang="en-GB" sz="2400" b="1" dirty="0"/>
              <a:t>, this means energy is released. So the CH</a:t>
            </a:r>
            <a:r>
              <a:rPr lang="en-GB" sz="2400" b="1" baseline="-25000" dirty="0"/>
              <a:t>4</a:t>
            </a:r>
            <a:r>
              <a:rPr lang="en-GB" sz="2400" b="1" dirty="0"/>
              <a:t> and 2O</a:t>
            </a:r>
            <a:r>
              <a:rPr lang="en-GB" sz="2400" b="1" baseline="-25000" dirty="0"/>
              <a:t>2 ,</a:t>
            </a:r>
            <a:r>
              <a:rPr lang="en-GB" sz="2400" b="1" dirty="0"/>
              <a:t> the reactants, must have more energy than the products, </a:t>
            </a:r>
            <a:r>
              <a:rPr lang="en-GB" sz="2400" b="1" dirty="0">
                <a:sym typeface="Wingdings" panose="05000000000000000000" pitchFamily="2" charset="2"/>
              </a:rPr>
              <a:t>CO</a:t>
            </a:r>
            <a:r>
              <a:rPr lang="en-GB" sz="2400" b="1" baseline="-25000" dirty="0">
                <a:sym typeface="Wingdings" panose="05000000000000000000" pitchFamily="2" charset="2"/>
              </a:rPr>
              <a:t>2</a:t>
            </a:r>
            <a:r>
              <a:rPr lang="en-GB" sz="2400" b="1" dirty="0">
                <a:sym typeface="Wingdings" panose="05000000000000000000" pitchFamily="2" charset="2"/>
              </a:rPr>
              <a:t> and  2H</a:t>
            </a:r>
            <a:r>
              <a:rPr lang="en-GB" sz="2400" b="1" baseline="-25000" dirty="0">
                <a:sym typeface="Wingdings" panose="05000000000000000000" pitchFamily="2" charset="2"/>
              </a:rPr>
              <a:t>2</a:t>
            </a:r>
            <a:r>
              <a:rPr lang="en-GB" sz="2400" b="1" dirty="0">
                <a:sym typeface="Wingdings" panose="05000000000000000000" pitchFamily="2" charset="2"/>
              </a:rPr>
              <a:t>O</a:t>
            </a:r>
            <a:r>
              <a:rPr lang="en-GB" sz="2400" b="1" dirty="0"/>
              <a:t>  </a:t>
            </a:r>
          </a:p>
        </p:txBody>
      </p:sp>
      <p:sp>
        <p:nvSpPr>
          <p:cNvPr id="7" name="TextBox 6"/>
          <p:cNvSpPr txBox="1"/>
          <p:nvPr/>
        </p:nvSpPr>
        <p:spPr>
          <a:xfrm>
            <a:off x="251520" y="2348880"/>
            <a:ext cx="8568952" cy="1569660"/>
          </a:xfrm>
          <a:prstGeom prst="rect">
            <a:avLst/>
          </a:prstGeom>
          <a:noFill/>
        </p:spPr>
        <p:txBody>
          <a:bodyPr wrap="square" rtlCol="0">
            <a:spAutoFit/>
          </a:bodyPr>
          <a:lstStyle/>
          <a:p>
            <a:pPr algn="ctr"/>
            <a:r>
              <a:rPr lang="en-GB" sz="2400" b="1" dirty="0"/>
              <a:t>We can show this as a </a:t>
            </a:r>
            <a:r>
              <a:rPr lang="en-GB" sz="2400" b="1" dirty="0">
                <a:solidFill>
                  <a:schemeClr val="accent6"/>
                </a:solidFill>
              </a:rPr>
              <a:t>reaction profile.</a:t>
            </a:r>
            <a:r>
              <a:rPr lang="en-GB" sz="2400" b="1" dirty="0"/>
              <a:t> On it we need to include the formulae or names of the products and </a:t>
            </a:r>
            <a:r>
              <a:rPr lang="en-GB" sz="2400" b="1" dirty="0" smtClean="0"/>
              <a:t>reactants. We also need to show </a:t>
            </a:r>
            <a:r>
              <a:rPr lang="en-GB" sz="2400" b="1" dirty="0"/>
              <a:t>the relative energies of the reactants and products e.g.</a:t>
            </a:r>
          </a:p>
        </p:txBody>
      </p:sp>
      <p:pic>
        <p:nvPicPr>
          <p:cNvPr id="4" name="Picture 3"/>
          <p:cNvPicPr>
            <a:picLocks noChangeAspect="1"/>
          </p:cNvPicPr>
          <p:nvPr/>
        </p:nvPicPr>
        <p:blipFill>
          <a:blip r:embed="rId2"/>
          <a:stretch>
            <a:fillRect/>
          </a:stretch>
        </p:blipFill>
        <p:spPr>
          <a:xfrm>
            <a:off x="2339751" y="3635732"/>
            <a:ext cx="4392489" cy="2745595"/>
          </a:xfrm>
          <a:prstGeom prst="rect">
            <a:avLst/>
          </a:prstGeom>
        </p:spPr>
      </p:pic>
    </p:spTree>
    <p:extLst>
      <p:ext uri="{BB962C8B-B14F-4D97-AF65-F5344CB8AC3E}">
        <p14:creationId xmlns:p14="http://schemas.microsoft.com/office/powerpoint/2010/main" val="60267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7744" y="0"/>
            <a:ext cx="6876256" cy="657041"/>
          </a:xfrm>
        </p:spPr>
        <p:txBody>
          <a:bodyPr>
            <a:noAutofit/>
          </a:bodyPr>
          <a:lstStyle/>
          <a:p>
            <a:pPr marL="342900" lvl="1" algn="r" defTabSz="342900" rtl="0">
              <a:spcBef>
                <a:spcPct val="20000"/>
              </a:spcBef>
            </a:pPr>
            <a:r>
              <a:rPr lang="en-US" sz="2400" b="1" dirty="0">
                <a:solidFill>
                  <a:schemeClr val="accent6"/>
                </a:solidFill>
              </a:rPr>
              <a:t>Energy Changes part 2 – Reaction profiles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179512" y="836712"/>
            <a:ext cx="8640960" cy="1200329"/>
          </a:xfrm>
          <a:prstGeom prst="rect">
            <a:avLst/>
          </a:prstGeom>
          <a:noFill/>
          <a:ln w="28575">
            <a:solidFill>
              <a:srgbClr val="FFC000"/>
            </a:solidFill>
          </a:ln>
        </p:spPr>
        <p:txBody>
          <a:bodyPr wrap="square" rtlCol="0">
            <a:spAutoFit/>
          </a:bodyPr>
          <a:lstStyle/>
          <a:p>
            <a:pPr algn="ctr"/>
            <a:r>
              <a:rPr lang="en-GB" sz="2400" b="1" dirty="0"/>
              <a:t>More information needs to be included in the reaction profile. </a:t>
            </a:r>
          </a:p>
          <a:p>
            <a:pPr algn="ctr"/>
            <a:r>
              <a:rPr lang="en-GB" sz="2400" b="1" dirty="0"/>
              <a:t>This will show the </a:t>
            </a:r>
            <a:r>
              <a:rPr lang="en-GB" sz="2400" b="1" dirty="0">
                <a:solidFill>
                  <a:schemeClr val="accent6"/>
                </a:solidFill>
              </a:rPr>
              <a:t>activation energy </a:t>
            </a:r>
            <a:r>
              <a:rPr lang="en-GB" sz="2400" b="1" dirty="0"/>
              <a:t>of the reaction. It is shown by a curved line rising above the reactants energy.</a:t>
            </a:r>
          </a:p>
        </p:txBody>
      </p:sp>
      <p:sp>
        <p:nvSpPr>
          <p:cNvPr id="7" name="TextBox 6"/>
          <p:cNvSpPr txBox="1"/>
          <p:nvPr/>
        </p:nvSpPr>
        <p:spPr>
          <a:xfrm>
            <a:off x="179512" y="2276872"/>
            <a:ext cx="4608512" cy="369332"/>
          </a:xfrm>
          <a:prstGeom prst="rect">
            <a:avLst/>
          </a:prstGeom>
          <a:noFill/>
        </p:spPr>
        <p:txBody>
          <a:bodyPr wrap="square" rtlCol="0">
            <a:spAutoFit/>
          </a:bodyPr>
          <a:lstStyle/>
          <a:p>
            <a:endParaRPr lang="en-GB" dirty="0"/>
          </a:p>
        </p:txBody>
      </p:sp>
      <p:pic>
        <p:nvPicPr>
          <p:cNvPr id="3" name="Picture 2"/>
          <p:cNvPicPr>
            <a:picLocks noChangeAspect="1"/>
          </p:cNvPicPr>
          <p:nvPr/>
        </p:nvPicPr>
        <p:blipFill>
          <a:blip r:embed="rId2"/>
          <a:stretch>
            <a:fillRect/>
          </a:stretch>
        </p:blipFill>
        <p:spPr>
          <a:xfrm>
            <a:off x="179513" y="2216712"/>
            <a:ext cx="4248472" cy="3732568"/>
          </a:xfrm>
          <a:prstGeom prst="rect">
            <a:avLst/>
          </a:prstGeom>
        </p:spPr>
      </p:pic>
      <p:pic>
        <p:nvPicPr>
          <p:cNvPr id="4" name="Picture 3"/>
          <p:cNvPicPr>
            <a:picLocks noChangeAspect="1"/>
          </p:cNvPicPr>
          <p:nvPr/>
        </p:nvPicPr>
        <p:blipFill>
          <a:blip r:embed="rId3"/>
          <a:stretch>
            <a:fillRect/>
          </a:stretch>
        </p:blipFill>
        <p:spPr>
          <a:xfrm>
            <a:off x="4427985" y="2276872"/>
            <a:ext cx="4392487" cy="3672408"/>
          </a:xfrm>
          <a:prstGeom prst="rect">
            <a:avLst/>
          </a:prstGeom>
        </p:spPr>
      </p:pic>
    </p:spTree>
    <p:extLst>
      <p:ext uri="{BB962C8B-B14F-4D97-AF65-F5344CB8AC3E}">
        <p14:creationId xmlns:p14="http://schemas.microsoft.com/office/powerpoint/2010/main" val="794197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7744" y="0"/>
            <a:ext cx="6876256" cy="657041"/>
          </a:xfrm>
        </p:spPr>
        <p:txBody>
          <a:bodyPr>
            <a:noAutofit/>
          </a:bodyPr>
          <a:lstStyle/>
          <a:p>
            <a:pPr marL="342900" lvl="1" algn="r" defTabSz="342900" rtl="0">
              <a:spcBef>
                <a:spcPct val="20000"/>
              </a:spcBef>
            </a:pPr>
            <a:r>
              <a:rPr lang="en-US" sz="2400" b="1" dirty="0">
                <a:solidFill>
                  <a:schemeClr val="accent6"/>
                </a:solidFill>
              </a:rPr>
              <a:t>Energy Changes part 2 – Reaction profiles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179512" y="836712"/>
            <a:ext cx="8640960" cy="461665"/>
          </a:xfrm>
          <a:prstGeom prst="rect">
            <a:avLst/>
          </a:prstGeom>
          <a:noFill/>
          <a:ln w="28575">
            <a:solidFill>
              <a:srgbClr val="FFC000"/>
            </a:solidFill>
          </a:ln>
        </p:spPr>
        <p:txBody>
          <a:bodyPr wrap="square" rtlCol="0">
            <a:spAutoFit/>
          </a:bodyPr>
          <a:lstStyle/>
          <a:p>
            <a:pPr algn="ctr"/>
            <a:r>
              <a:rPr lang="en-GB" sz="2400" b="1" dirty="0"/>
              <a:t>We can now see the overall change </a:t>
            </a:r>
            <a:r>
              <a:rPr lang="en-GB" sz="2400" b="1" dirty="0" smtClean="0"/>
              <a:t>in </a:t>
            </a:r>
            <a:r>
              <a:rPr lang="en-GB" sz="2400" b="1" dirty="0"/>
              <a:t>energy within the reaction.</a:t>
            </a:r>
          </a:p>
        </p:txBody>
      </p:sp>
      <p:sp>
        <p:nvSpPr>
          <p:cNvPr id="3" name="TextBox 2"/>
          <p:cNvSpPr txBox="1"/>
          <p:nvPr/>
        </p:nvSpPr>
        <p:spPr>
          <a:xfrm>
            <a:off x="179512" y="5517232"/>
            <a:ext cx="8640960" cy="830997"/>
          </a:xfrm>
          <a:prstGeom prst="rect">
            <a:avLst/>
          </a:prstGeom>
          <a:noFill/>
          <a:ln w="28575">
            <a:solidFill>
              <a:schemeClr val="accent6"/>
            </a:solidFill>
          </a:ln>
        </p:spPr>
        <p:txBody>
          <a:bodyPr wrap="square" rtlCol="0">
            <a:spAutoFit/>
          </a:bodyPr>
          <a:lstStyle/>
          <a:p>
            <a:pPr algn="ctr"/>
            <a:r>
              <a:rPr lang="en-GB" sz="2400" b="1" dirty="0"/>
              <a:t>The </a:t>
            </a:r>
            <a:r>
              <a:rPr lang="en-GB" sz="2400" b="1" dirty="0">
                <a:solidFill>
                  <a:schemeClr val="accent6"/>
                </a:solidFill>
              </a:rPr>
              <a:t>products</a:t>
            </a:r>
            <a:r>
              <a:rPr lang="en-GB" sz="2400" b="1" dirty="0"/>
              <a:t> have </a:t>
            </a:r>
            <a:r>
              <a:rPr lang="en-GB" sz="2400" b="1" dirty="0">
                <a:solidFill>
                  <a:schemeClr val="accent6"/>
                </a:solidFill>
              </a:rPr>
              <a:t>less energy </a:t>
            </a:r>
            <a:r>
              <a:rPr lang="en-GB" sz="2400" b="1" dirty="0"/>
              <a:t>than the </a:t>
            </a:r>
            <a:r>
              <a:rPr lang="en-GB" sz="2400" b="1" dirty="0">
                <a:solidFill>
                  <a:schemeClr val="accent6"/>
                </a:solidFill>
              </a:rPr>
              <a:t>reactants. </a:t>
            </a:r>
            <a:r>
              <a:rPr lang="en-GB" sz="2400" b="1" dirty="0"/>
              <a:t>This will have been lost as heat as the reaction is exothermic. </a:t>
            </a:r>
          </a:p>
        </p:txBody>
      </p:sp>
      <p:pic>
        <p:nvPicPr>
          <p:cNvPr id="5" name="Picture 4"/>
          <p:cNvPicPr>
            <a:picLocks noChangeAspect="1"/>
          </p:cNvPicPr>
          <p:nvPr/>
        </p:nvPicPr>
        <p:blipFill>
          <a:blip r:embed="rId2"/>
          <a:stretch>
            <a:fillRect/>
          </a:stretch>
        </p:blipFill>
        <p:spPr>
          <a:xfrm>
            <a:off x="1763688" y="1847380"/>
            <a:ext cx="5688632" cy="3669852"/>
          </a:xfrm>
          <a:prstGeom prst="rect">
            <a:avLst/>
          </a:prstGeom>
        </p:spPr>
      </p:pic>
    </p:spTree>
    <p:extLst>
      <p:ext uri="{BB962C8B-B14F-4D97-AF65-F5344CB8AC3E}">
        <p14:creationId xmlns:p14="http://schemas.microsoft.com/office/powerpoint/2010/main" val="2465928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153370" y="2467929"/>
            <a:ext cx="4848225" cy="3003054"/>
          </a:xfrm>
          <a:prstGeom prst="rect">
            <a:avLst/>
          </a:prstGeom>
        </p:spPr>
      </p:pic>
      <p:sp>
        <p:nvSpPr>
          <p:cNvPr id="2" name="Title 1"/>
          <p:cNvSpPr>
            <a:spLocks noGrp="1"/>
          </p:cNvSpPr>
          <p:nvPr>
            <p:ph type="ctrTitle"/>
          </p:nvPr>
        </p:nvSpPr>
        <p:spPr>
          <a:xfrm>
            <a:off x="2267744" y="0"/>
            <a:ext cx="6876256" cy="657041"/>
          </a:xfrm>
        </p:spPr>
        <p:txBody>
          <a:bodyPr>
            <a:noAutofit/>
          </a:bodyPr>
          <a:lstStyle/>
          <a:p>
            <a:pPr marL="342900" lvl="1" algn="r" defTabSz="342900" rtl="0">
              <a:spcBef>
                <a:spcPct val="20000"/>
              </a:spcBef>
            </a:pPr>
            <a:r>
              <a:rPr lang="en-US" sz="2400" b="1" dirty="0">
                <a:solidFill>
                  <a:schemeClr val="accent6"/>
                </a:solidFill>
              </a:rPr>
              <a:t>Energy Changes part 2 – Reaction profiles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179512" y="836712"/>
            <a:ext cx="8640960" cy="1631216"/>
          </a:xfrm>
          <a:prstGeom prst="rect">
            <a:avLst/>
          </a:prstGeom>
          <a:noFill/>
          <a:ln w="19050">
            <a:solidFill>
              <a:schemeClr val="bg1"/>
            </a:solidFill>
          </a:ln>
        </p:spPr>
        <p:txBody>
          <a:bodyPr wrap="square" rtlCol="0">
            <a:spAutoFit/>
          </a:bodyPr>
          <a:lstStyle/>
          <a:p>
            <a:pPr algn="ctr"/>
            <a:r>
              <a:rPr lang="en-GB" sz="2400" b="1" dirty="0"/>
              <a:t>We saw earlier that the following reaction was </a:t>
            </a:r>
            <a:r>
              <a:rPr lang="en-GB" sz="2400" b="1" dirty="0">
                <a:solidFill>
                  <a:schemeClr val="accent6">
                    <a:lumMod val="75000"/>
                  </a:schemeClr>
                </a:solidFill>
              </a:rPr>
              <a:t>endothermic:</a:t>
            </a:r>
          </a:p>
          <a:p>
            <a:pPr algn="ctr"/>
            <a:r>
              <a:rPr lang="en-GB" sz="1400" b="1" dirty="0"/>
              <a:t> </a:t>
            </a:r>
          </a:p>
          <a:p>
            <a:pPr algn="ctr"/>
            <a:r>
              <a:rPr lang="en-GB" sz="2400" b="1" dirty="0">
                <a:sym typeface="Wingdings" panose="05000000000000000000" pitchFamily="2" charset="2"/>
              </a:rPr>
              <a:t>2CH</a:t>
            </a:r>
            <a:r>
              <a:rPr lang="en-GB" sz="2400" b="1" baseline="-25000" dirty="0">
                <a:sym typeface="Wingdings" panose="05000000000000000000" pitchFamily="2" charset="2"/>
              </a:rPr>
              <a:t>3</a:t>
            </a:r>
            <a:r>
              <a:rPr lang="en-GB" sz="2400" b="1" dirty="0">
                <a:sym typeface="Wingdings" panose="05000000000000000000" pitchFamily="2" charset="2"/>
              </a:rPr>
              <a:t>COOH(</a:t>
            </a:r>
            <a:r>
              <a:rPr lang="en-GB" sz="2400" b="1" dirty="0" err="1">
                <a:sym typeface="Wingdings" panose="05000000000000000000" pitchFamily="2" charset="2"/>
              </a:rPr>
              <a:t>aq</a:t>
            </a:r>
            <a:r>
              <a:rPr lang="en-GB" sz="2400" b="1" dirty="0">
                <a:sym typeface="Wingdings" panose="05000000000000000000" pitchFamily="2" charset="2"/>
              </a:rPr>
              <a:t>) + Na</a:t>
            </a:r>
            <a:r>
              <a:rPr lang="en-GB" sz="2400" b="1" baseline="-25000" dirty="0">
                <a:sym typeface="Wingdings" panose="05000000000000000000" pitchFamily="2" charset="2"/>
              </a:rPr>
              <a:t>2</a:t>
            </a:r>
            <a:r>
              <a:rPr lang="en-GB" sz="2400" b="1" dirty="0">
                <a:sym typeface="Wingdings" panose="05000000000000000000" pitchFamily="2" charset="2"/>
              </a:rPr>
              <a:t>CO</a:t>
            </a:r>
            <a:r>
              <a:rPr lang="en-GB" sz="2400" b="1" baseline="-25000" dirty="0">
                <a:sym typeface="Wingdings" panose="05000000000000000000" pitchFamily="2" charset="2"/>
              </a:rPr>
              <a:t>3</a:t>
            </a:r>
            <a:r>
              <a:rPr lang="en-GB" sz="2400" b="1" dirty="0">
                <a:sym typeface="Wingdings" panose="05000000000000000000" pitchFamily="2" charset="2"/>
              </a:rPr>
              <a:t>(s)   2CH</a:t>
            </a:r>
            <a:r>
              <a:rPr lang="en-GB" sz="2400" b="1" baseline="-25000" dirty="0">
                <a:sym typeface="Wingdings" panose="05000000000000000000" pitchFamily="2" charset="2"/>
              </a:rPr>
              <a:t>3</a:t>
            </a:r>
            <a:r>
              <a:rPr lang="en-GB" sz="2400" b="1" dirty="0">
                <a:sym typeface="Wingdings" panose="05000000000000000000" pitchFamily="2" charset="2"/>
              </a:rPr>
              <a:t>COONa(</a:t>
            </a:r>
            <a:r>
              <a:rPr lang="en-GB" sz="2400" b="1" dirty="0" err="1">
                <a:sym typeface="Wingdings" panose="05000000000000000000" pitchFamily="2" charset="2"/>
              </a:rPr>
              <a:t>aq</a:t>
            </a:r>
            <a:r>
              <a:rPr lang="en-GB" sz="2400" b="1" dirty="0">
                <a:sym typeface="Wingdings" panose="05000000000000000000" pitchFamily="2" charset="2"/>
              </a:rPr>
              <a:t>) + CO</a:t>
            </a:r>
            <a:r>
              <a:rPr lang="en-GB" sz="2400" b="1" baseline="-25000" dirty="0">
                <a:sym typeface="Wingdings" panose="05000000000000000000" pitchFamily="2" charset="2"/>
              </a:rPr>
              <a:t>2</a:t>
            </a:r>
            <a:r>
              <a:rPr lang="en-GB" sz="2400" b="1" dirty="0">
                <a:sym typeface="Wingdings" panose="05000000000000000000" pitchFamily="2" charset="2"/>
              </a:rPr>
              <a:t>(g) + H</a:t>
            </a:r>
            <a:r>
              <a:rPr lang="en-GB" sz="2400" b="1" baseline="-25000" dirty="0">
                <a:sym typeface="Wingdings" panose="05000000000000000000" pitchFamily="2" charset="2"/>
              </a:rPr>
              <a:t>2</a:t>
            </a:r>
            <a:r>
              <a:rPr lang="en-GB" sz="2400" b="1" dirty="0">
                <a:sym typeface="Wingdings" panose="05000000000000000000" pitchFamily="2" charset="2"/>
              </a:rPr>
              <a:t>O (l)</a:t>
            </a:r>
          </a:p>
          <a:p>
            <a:pPr algn="ctr"/>
            <a:r>
              <a:rPr lang="en-GB" sz="1400" dirty="0"/>
              <a:t> </a:t>
            </a:r>
          </a:p>
          <a:p>
            <a:pPr algn="ctr"/>
            <a:r>
              <a:rPr lang="en-GB" sz="2400" b="1" dirty="0"/>
              <a:t>What would the </a:t>
            </a:r>
            <a:r>
              <a:rPr lang="en-GB" sz="2400" b="1" dirty="0">
                <a:solidFill>
                  <a:schemeClr val="accent6">
                    <a:lumMod val="75000"/>
                  </a:schemeClr>
                </a:solidFill>
              </a:rPr>
              <a:t>reaction profile </a:t>
            </a:r>
            <a:r>
              <a:rPr lang="en-GB" sz="2400" b="1" dirty="0"/>
              <a:t>look like for this reaction?</a:t>
            </a:r>
          </a:p>
        </p:txBody>
      </p:sp>
      <p:sp>
        <p:nvSpPr>
          <p:cNvPr id="3" name="TextBox 2"/>
          <p:cNvSpPr txBox="1"/>
          <p:nvPr/>
        </p:nvSpPr>
        <p:spPr>
          <a:xfrm>
            <a:off x="179512" y="5470982"/>
            <a:ext cx="8795943" cy="830997"/>
          </a:xfrm>
          <a:custGeom>
            <a:avLst/>
            <a:gdLst>
              <a:gd name="connsiteX0" fmla="*/ 0 w 8640960"/>
              <a:gd name="connsiteY0" fmla="*/ 0 h 1200329"/>
              <a:gd name="connsiteX1" fmla="*/ 8640960 w 8640960"/>
              <a:gd name="connsiteY1" fmla="*/ 0 h 1200329"/>
              <a:gd name="connsiteX2" fmla="*/ 8640960 w 8640960"/>
              <a:gd name="connsiteY2" fmla="*/ 1200329 h 1200329"/>
              <a:gd name="connsiteX3" fmla="*/ 0 w 8640960"/>
              <a:gd name="connsiteY3" fmla="*/ 1200329 h 1200329"/>
              <a:gd name="connsiteX4" fmla="*/ 0 w 8640960"/>
              <a:gd name="connsiteY4" fmla="*/ 0 h 1200329"/>
              <a:gd name="connsiteX0" fmla="*/ 0 w 8640960"/>
              <a:gd name="connsiteY0" fmla="*/ 0 h 1696275"/>
              <a:gd name="connsiteX1" fmla="*/ 8640960 w 8640960"/>
              <a:gd name="connsiteY1" fmla="*/ 495946 h 1696275"/>
              <a:gd name="connsiteX2" fmla="*/ 8640960 w 8640960"/>
              <a:gd name="connsiteY2" fmla="*/ 1696275 h 1696275"/>
              <a:gd name="connsiteX3" fmla="*/ 0 w 8640960"/>
              <a:gd name="connsiteY3" fmla="*/ 1696275 h 1696275"/>
              <a:gd name="connsiteX4" fmla="*/ 0 w 8640960"/>
              <a:gd name="connsiteY4" fmla="*/ 0 h 1696275"/>
              <a:gd name="connsiteX0" fmla="*/ 0 w 8640960"/>
              <a:gd name="connsiteY0" fmla="*/ 0 h 1696275"/>
              <a:gd name="connsiteX1" fmla="*/ 8640960 w 8640960"/>
              <a:gd name="connsiteY1" fmla="*/ 30996 h 1696275"/>
              <a:gd name="connsiteX2" fmla="*/ 8640960 w 8640960"/>
              <a:gd name="connsiteY2" fmla="*/ 1696275 h 1696275"/>
              <a:gd name="connsiteX3" fmla="*/ 0 w 8640960"/>
              <a:gd name="connsiteY3" fmla="*/ 1696275 h 1696275"/>
              <a:gd name="connsiteX4" fmla="*/ 0 w 8640960"/>
              <a:gd name="connsiteY4" fmla="*/ 0 h 1696275"/>
              <a:gd name="connsiteX0" fmla="*/ 0 w 8656459"/>
              <a:gd name="connsiteY0" fmla="*/ 0 h 1696275"/>
              <a:gd name="connsiteX1" fmla="*/ 8640960 w 8656459"/>
              <a:gd name="connsiteY1" fmla="*/ 30996 h 1696275"/>
              <a:gd name="connsiteX2" fmla="*/ 8656459 w 8656459"/>
              <a:gd name="connsiteY2" fmla="*/ 1262323 h 1696275"/>
              <a:gd name="connsiteX3" fmla="*/ 0 w 8656459"/>
              <a:gd name="connsiteY3" fmla="*/ 1696275 h 1696275"/>
              <a:gd name="connsiteX4" fmla="*/ 0 w 8656459"/>
              <a:gd name="connsiteY4" fmla="*/ 0 h 1696275"/>
              <a:gd name="connsiteX0" fmla="*/ 0 w 8656459"/>
              <a:gd name="connsiteY0" fmla="*/ 0 h 1262323"/>
              <a:gd name="connsiteX1" fmla="*/ 8640960 w 8656459"/>
              <a:gd name="connsiteY1" fmla="*/ 30996 h 1262323"/>
              <a:gd name="connsiteX2" fmla="*/ 8656459 w 8656459"/>
              <a:gd name="connsiteY2" fmla="*/ 1262323 h 1262323"/>
              <a:gd name="connsiteX3" fmla="*/ 15498 w 8656459"/>
              <a:gd name="connsiteY3" fmla="*/ 1262322 h 1262323"/>
              <a:gd name="connsiteX4" fmla="*/ 0 w 8656459"/>
              <a:gd name="connsiteY4" fmla="*/ 0 h 1262323"/>
              <a:gd name="connsiteX0" fmla="*/ 1 w 8640961"/>
              <a:gd name="connsiteY0" fmla="*/ 511445 h 1231327"/>
              <a:gd name="connsiteX1" fmla="*/ 8625462 w 8640961"/>
              <a:gd name="connsiteY1" fmla="*/ 0 h 1231327"/>
              <a:gd name="connsiteX2" fmla="*/ 8640961 w 8640961"/>
              <a:gd name="connsiteY2" fmla="*/ 1231327 h 1231327"/>
              <a:gd name="connsiteX3" fmla="*/ 0 w 8640961"/>
              <a:gd name="connsiteY3" fmla="*/ 1231326 h 1231327"/>
              <a:gd name="connsiteX4" fmla="*/ 1 w 8640961"/>
              <a:gd name="connsiteY4" fmla="*/ 511445 h 1231327"/>
              <a:gd name="connsiteX0" fmla="*/ 1 w 8640961"/>
              <a:gd name="connsiteY0" fmla="*/ 1 h 719883"/>
              <a:gd name="connsiteX1" fmla="*/ 8625462 w 8640961"/>
              <a:gd name="connsiteY1" fmla="*/ 0 h 719883"/>
              <a:gd name="connsiteX2" fmla="*/ 8640961 w 8640961"/>
              <a:gd name="connsiteY2" fmla="*/ 719883 h 719883"/>
              <a:gd name="connsiteX3" fmla="*/ 0 w 8640961"/>
              <a:gd name="connsiteY3" fmla="*/ 719882 h 719883"/>
              <a:gd name="connsiteX4" fmla="*/ 1 w 8640961"/>
              <a:gd name="connsiteY4" fmla="*/ 1 h 719883"/>
              <a:gd name="connsiteX0" fmla="*/ 1 w 8640961"/>
              <a:gd name="connsiteY0" fmla="*/ 123987 h 843869"/>
              <a:gd name="connsiteX1" fmla="*/ 8625462 w 8640961"/>
              <a:gd name="connsiteY1" fmla="*/ 0 h 843869"/>
              <a:gd name="connsiteX2" fmla="*/ 8640961 w 8640961"/>
              <a:gd name="connsiteY2" fmla="*/ 843869 h 843869"/>
              <a:gd name="connsiteX3" fmla="*/ 0 w 8640961"/>
              <a:gd name="connsiteY3" fmla="*/ 843868 h 843869"/>
              <a:gd name="connsiteX4" fmla="*/ 1 w 8640961"/>
              <a:gd name="connsiteY4" fmla="*/ 123987 h 843869"/>
              <a:gd name="connsiteX0" fmla="*/ 30998 w 8640961"/>
              <a:gd name="connsiteY0" fmla="*/ 0 h 859367"/>
              <a:gd name="connsiteX1" fmla="*/ 8625462 w 8640961"/>
              <a:gd name="connsiteY1" fmla="*/ 15498 h 859367"/>
              <a:gd name="connsiteX2" fmla="*/ 8640961 w 8640961"/>
              <a:gd name="connsiteY2" fmla="*/ 859367 h 859367"/>
              <a:gd name="connsiteX3" fmla="*/ 0 w 8640961"/>
              <a:gd name="connsiteY3" fmla="*/ 859366 h 859367"/>
              <a:gd name="connsiteX4" fmla="*/ 30998 w 8640961"/>
              <a:gd name="connsiteY4" fmla="*/ 0 h 859367"/>
              <a:gd name="connsiteX0" fmla="*/ 30998 w 8764947"/>
              <a:gd name="connsiteY0" fmla="*/ 0 h 859367"/>
              <a:gd name="connsiteX1" fmla="*/ 8625462 w 8764947"/>
              <a:gd name="connsiteY1" fmla="*/ 15498 h 859367"/>
              <a:gd name="connsiteX2" fmla="*/ 8764947 w 8764947"/>
              <a:gd name="connsiteY2" fmla="*/ 859367 h 859367"/>
              <a:gd name="connsiteX3" fmla="*/ 0 w 8764947"/>
              <a:gd name="connsiteY3" fmla="*/ 859366 h 859367"/>
              <a:gd name="connsiteX4" fmla="*/ 30998 w 8764947"/>
              <a:gd name="connsiteY4" fmla="*/ 0 h 859367"/>
              <a:gd name="connsiteX0" fmla="*/ 30998 w 8780445"/>
              <a:gd name="connsiteY0" fmla="*/ 0 h 859367"/>
              <a:gd name="connsiteX1" fmla="*/ 8780445 w 8780445"/>
              <a:gd name="connsiteY1" fmla="*/ 61993 h 859367"/>
              <a:gd name="connsiteX2" fmla="*/ 8764947 w 8780445"/>
              <a:gd name="connsiteY2" fmla="*/ 859367 h 859367"/>
              <a:gd name="connsiteX3" fmla="*/ 0 w 8780445"/>
              <a:gd name="connsiteY3" fmla="*/ 859366 h 859367"/>
              <a:gd name="connsiteX4" fmla="*/ 30998 w 8780445"/>
              <a:gd name="connsiteY4" fmla="*/ 0 h 859367"/>
              <a:gd name="connsiteX0" fmla="*/ 30998 w 8780445"/>
              <a:gd name="connsiteY0" fmla="*/ 0 h 859367"/>
              <a:gd name="connsiteX1" fmla="*/ 8780445 w 8780445"/>
              <a:gd name="connsiteY1" fmla="*/ 30996 h 859367"/>
              <a:gd name="connsiteX2" fmla="*/ 8764947 w 8780445"/>
              <a:gd name="connsiteY2" fmla="*/ 859367 h 859367"/>
              <a:gd name="connsiteX3" fmla="*/ 0 w 8780445"/>
              <a:gd name="connsiteY3" fmla="*/ 859366 h 859367"/>
              <a:gd name="connsiteX4" fmla="*/ 30998 w 8780445"/>
              <a:gd name="connsiteY4" fmla="*/ 0 h 859367"/>
              <a:gd name="connsiteX0" fmla="*/ 30998 w 8780445"/>
              <a:gd name="connsiteY0" fmla="*/ 0 h 859367"/>
              <a:gd name="connsiteX1" fmla="*/ 8780445 w 8780445"/>
              <a:gd name="connsiteY1" fmla="*/ 0 h 859367"/>
              <a:gd name="connsiteX2" fmla="*/ 8764947 w 8780445"/>
              <a:gd name="connsiteY2" fmla="*/ 859367 h 859367"/>
              <a:gd name="connsiteX3" fmla="*/ 0 w 8780445"/>
              <a:gd name="connsiteY3" fmla="*/ 859366 h 859367"/>
              <a:gd name="connsiteX4" fmla="*/ 30998 w 8780445"/>
              <a:gd name="connsiteY4" fmla="*/ 0 h 859367"/>
              <a:gd name="connsiteX0" fmla="*/ 30998 w 8780445"/>
              <a:gd name="connsiteY0" fmla="*/ 0 h 859367"/>
              <a:gd name="connsiteX1" fmla="*/ 8780445 w 8780445"/>
              <a:gd name="connsiteY1" fmla="*/ 46495 h 859367"/>
              <a:gd name="connsiteX2" fmla="*/ 8764947 w 8780445"/>
              <a:gd name="connsiteY2" fmla="*/ 859367 h 859367"/>
              <a:gd name="connsiteX3" fmla="*/ 0 w 8780445"/>
              <a:gd name="connsiteY3" fmla="*/ 859366 h 859367"/>
              <a:gd name="connsiteX4" fmla="*/ 30998 w 8780445"/>
              <a:gd name="connsiteY4" fmla="*/ 0 h 859367"/>
              <a:gd name="connsiteX0" fmla="*/ 5286 w 8780445"/>
              <a:gd name="connsiteY0" fmla="*/ 0 h 832965"/>
              <a:gd name="connsiteX1" fmla="*/ 8780445 w 8780445"/>
              <a:gd name="connsiteY1" fmla="*/ 20093 h 832965"/>
              <a:gd name="connsiteX2" fmla="*/ 8764947 w 8780445"/>
              <a:gd name="connsiteY2" fmla="*/ 832965 h 832965"/>
              <a:gd name="connsiteX3" fmla="*/ 0 w 8780445"/>
              <a:gd name="connsiteY3" fmla="*/ 832964 h 832965"/>
              <a:gd name="connsiteX4" fmla="*/ 5286 w 8780445"/>
              <a:gd name="connsiteY4" fmla="*/ 0 h 832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0445" h="832965">
                <a:moveTo>
                  <a:pt x="5286" y="0"/>
                </a:moveTo>
                <a:lnTo>
                  <a:pt x="8780445" y="20093"/>
                </a:lnTo>
                <a:lnTo>
                  <a:pt x="8764947" y="832965"/>
                </a:lnTo>
                <a:lnTo>
                  <a:pt x="0" y="832964"/>
                </a:lnTo>
                <a:cubicBezTo>
                  <a:pt x="0" y="593004"/>
                  <a:pt x="5286" y="239960"/>
                  <a:pt x="5286" y="0"/>
                </a:cubicBezTo>
                <a:close/>
              </a:path>
            </a:pathLst>
          </a:custGeom>
          <a:noFill/>
          <a:ln w="28575">
            <a:solidFill>
              <a:schemeClr val="accent6"/>
            </a:solidFill>
          </a:ln>
        </p:spPr>
        <p:txBody>
          <a:bodyPr wrap="square" rtlCol="0">
            <a:spAutoFit/>
          </a:bodyPr>
          <a:lstStyle/>
          <a:p>
            <a:r>
              <a:rPr lang="en-GB" sz="2400" b="1" dirty="0"/>
              <a:t>We can see that the </a:t>
            </a:r>
            <a:r>
              <a:rPr lang="en-GB" sz="2400" b="1" dirty="0">
                <a:solidFill>
                  <a:schemeClr val="accent6"/>
                </a:solidFill>
              </a:rPr>
              <a:t>products</a:t>
            </a:r>
            <a:r>
              <a:rPr lang="en-GB" sz="2400" b="1" dirty="0"/>
              <a:t> have </a:t>
            </a:r>
            <a:r>
              <a:rPr lang="en-GB" sz="2400" b="1" dirty="0">
                <a:solidFill>
                  <a:schemeClr val="accent6"/>
                </a:solidFill>
              </a:rPr>
              <a:t>more energy </a:t>
            </a:r>
            <a:r>
              <a:rPr lang="en-GB" sz="2400" b="1" dirty="0"/>
              <a:t>than the </a:t>
            </a:r>
            <a:r>
              <a:rPr lang="en-GB" sz="2400" b="1" dirty="0">
                <a:solidFill>
                  <a:schemeClr val="accent6"/>
                </a:solidFill>
              </a:rPr>
              <a:t>reactants.</a:t>
            </a:r>
            <a:r>
              <a:rPr lang="en-GB" sz="2400" b="1" dirty="0"/>
              <a:t> This will have been taken in as heat energy it feels colder. </a:t>
            </a:r>
          </a:p>
        </p:txBody>
      </p:sp>
    </p:spTree>
    <p:extLst>
      <p:ext uri="{BB962C8B-B14F-4D97-AF65-F5344CB8AC3E}">
        <p14:creationId xmlns:p14="http://schemas.microsoft.com/office/powerpoint/2010/main" val="2705223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877985"/>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3600" b="1" dirty="0">
                <a:solidFill>
                  <a:schemeClr val="tx1">
                    <a:lumMod val="50000"/>
                    <a:lumOff val="50000"/>
                  </a:schemeClr>
                </a:solidFill>
              </a:rPr>
              <a:t>Energy Changes part 2</a:t>
            </a:r>
          </a:p>
          <a:p>
            <a:endParaRPr lang="en-US" sz="3600" b="1" dirty="0">
              <a:solidFill>
                <a:schemeClr val="tx1">
                  <a:lumMod val="50000"/>
                  <a:lumOff val="50000"/>
                </a:schemeClr>
              </a:solidFill>
            </a:endParaRPr>
          </a:p>
          <a:p>
            <a:pPr marL="571500" indent="-571500">
              <a:buFont typeface="Arial" panose="020B0604020202020204" pitchFamily="34" charset="0"/>
              <a:buChar char="•"/>
            </a:pPr>
            <a:r>
              <a:rPr lang="en-US" sz="2400" b="1" dirty="0">
                <a:solidFill>
                  <a:schemeClr val="tx1">
                    <a:lumMod val="50000"/>
                    <a:lumOff val="50000"/>
                  </a:schemeClr>
                </a:solidFill>
              </a:rPr>
              <a:t>Activation energy </a:t>
            </a:r>
          </a:p>
          <a:p>
            <a:pPr marL="571500" indent="-571500">
              <a:buFont typeface="Arial" panose="020B0604020202020204" pitchFamily="34" charset="0"/>
              <a:buChar char="•"/>
            </a:pPr>
            <a:r>
              <a:rPr lang="en-US" sz="2400" b="1" dirty="0">
                <a:solidFill>
                  <a:schemeClr val="tx1">
                    <a:lumMod val="50000"/>
                    <a:lumOff val="50000"/>
                  </a:schemeClr>
                </a:solidFill>
              </a:rPr>
              <a:t>Reaction profiles</a:t>
            </a:r>
            <a:endParaRPr lang="en-GB" sz="2400" dirty="0">
              <a:solidFill>
                <a:schemeClr val="tx1">
                  <a:lumMod val="50000"/>
                  <a:lumOff val="50000"/>
                </a:schemeClr>
              </a:solidFill>
            </a:endParaRPr>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544752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Energy Changes part 2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623248"/>
          </a:xfrm>
          <a:prstGeom prst="rect">
            <a:avLst/>
          </a:prstGeom>
          <a:noFill/>
        </p:spPr>
        <p:txBody>
          <a:bodyPr wrap="square" rtlCol="0">
            <a:spAutoFit/>
          </a:bodyPr>
          <a:lstStyle/>
          <a:p>
            <a:pPr>
              <a:lnSpc>
                <a:spcPct val="150000"/>
              </a:lnSpc>
            </a:pPr>
            <a:r>
              <a:rPr lang="en-GB" sz="2300" dirty="0"/>
              <a:t>1. What is meant by the term activation energy? </a:t>
            </a:r>
          </a:p>
        </p:txBody>
      </p:sp>
      <p:sp>
        <p:nvSpPr>
          <p:cNvPr id="3" name="TextBox 2"/>
          <p:cNvSpPr txBox="1"/>
          <p:nvPr/>
        </p:nvSpPr>
        <p:spPr>
          <a:xfrm>
            <a:off x="149087" y="1988840"/>
            <a:ext cx="8915400" cy="1862048"/>
          </a:xfrm>
          <a:prstGeom prst="rect">
            <a:avLst/>
          </a:prstGeom>
          <a:noFill/>
        </p:spPr>
        <p:txBody>
          <a:bodyPr wrap="square" rtlCol="0">
            <a:spAutoFit/>
          </a:bodyPr>
          <a:lstStyle/>
          <a:p>
            <a:r>
              <a:rPr lang="en-GB" sz="2300" dirty="0"/>
              <a:t>2. On the reaction profile below what is shown by the letters? </a:t>
            </a:r>
          </a:p>
          <a:p>
            <a:r>
              <a:rPr lang="en-GB" sz="2300" dirty="0"/>
              <a:t>	A</a:t>
            </a:r>
          </a:p>
          <a:p>
            <a:r>
              <a:rPr lang="en-GB" sz="2300" dirty="0"/>
              <a:t>	B</a:t>
            </a:r>
          </a:p>
          <a:p>
            <a:r>
              <a:rPr lang="en-GB" sz="2300" dirty="0"/>
              <a:t>	C</a:t>
            </a:r>
          </a:p>
          <a:p>
            <a:r>
              <a:rPr lang="en-GB" sz="2300" dirty="0"/>
              <a:t>	D</a:t>
            </a:r>
          </a:p>
        </p:txBody>
      </p:sp>
      <p:pic>
        <p:nvPicPr>
          <p:cNvPr id="5" name="Picture 4"/>
          <p:cNvPicPr>
            <a:picLocks noChangeAspect="1"/>
          </p:cNvPicPr>
          <p:nvPr/>
        </p:nvPicPr>
        <p:blipFill>
          <a:blip r:embed="rId2"/>
          <a:stretch>
            <a:fillRect/>
          </a:stretch>
        </p:blipFill>
        <p:spPr>
          <a:xfrm>
            <a:off x="3347864" y="2492895"/>
            <a:ext cx="5472608" cy="3905359"/>
          </a:xfrm>
          <a:prstGeom prst="rect">
            <a:avLst/>
          </a:prstGeom>
        </p:spPr>
      </p:pic>
    </p:spTree>
    <p:extLst>
      <p:ext uri="{BB962C8B-B14F-4D97-AF65-F5344CB8AC3E}">
        <p14:creationId xmlns:p14="http://schemas.microsoft.com/office/powerpoint/2010/main" val="1487359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Energy Changes part 2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623248"/>
          </a:xfrm>
          <a:prstGeom prst="rect">
            <a:avLst/>
          </a:prstGeom>
          <a:noFill/>
        </p:spPr>
        <p:txBody>
          <a:bodyPr wrap="square" rtlCol="0">
            <a:spAutoFit/>
          </a:bodyPr>
          <a:lstStyle/>
          <a:p>
            <a:pPr>
              <a:lnSpc>
                <a:spcPct val="150000"/>
              </a:lnSpc>
            </a:pPr>
            <a:r>
              <a:rPr lang="en-GB" sz="2300" dirty="0"/>
              <a:t>3. What two things are needed for a chemical reaction to occur? </a:t>
            </a:r>
          </a:p>
        </p:txBody>
      </p:sp>
      <p:sp>
        <p:nvSpPr>
          <p:cNvPr id="3" name="TextBox 2"/>
          <p:cNvSpPr txBox="1"/>
          <p:nvPr/>
        </p:nvSpPr>
        <p:spPr>
          <a:xfrm>
            <a:off x="149087" y="1988840"/>
            <a:ext cx="8915400" cy="446276"/>
          </a:xfrm>
          <a:prstGeom prst="rect">
            <a:avLst/>
          </a:prstGeom>
          <a:noFill/>
        </p:spPr>
        <p:txBody>
          <a:bodyPr wrap="square" rtlCol="0">
            <a:spAutoFit/>
          </a:bodyPr>
          <a:lstStyle/>
          <a:p>
            <a:r>
              <a:rPr lang="en-GB" sz="2300" dirty="0"/>
              <a:t>4. What is an exothermic reaction?</a:t>
            </a:r>
          </a:p>
        </p:txBody>
      </p:sp>
      <p:sp>
        <p:nvSpPr>
          <p:cNvPr id="5" name="TextBox 4"/>
          <p:cNvSpPr txBox="1"/>
          <p:nvPr/>
        </p:nvSpPr>
        <p:spPr>
          <a:xfrm>
            <a:off x="149087" y="3064430"/>
            <a:ext cx="8023314" cy="446276"/>
          </a:xfrm>
          <a:custGeom>
            <a:avLst/>
            <a:gdLst>
              <a:gd name="connsiteX0" fmla="*/ 0 w 8172401"/>
              <a:gd name="connsiteY0" fmla="*/ 0 h 446276"/>
              <a:gd name="connsiteX1" fmla="*/ 8172401 w 8172401"/>
              <a:gd name="connsiteY1" fmla="*/ 0 h 446276"/>
              <a:gd name="connsiteX2" fmla="*/ 8172401 w 8172401"/>
              <a:gd name="connsiteY2" fmla="*/ 446276 h 446276"/>
              <a:gd name="connsiteX3" fmla="*/ 0 w 8172401"/>
              <a:gd name="connsiteY3" fmla="*/ 446276 h 446276"/>
              <a:gd name="connsiteX4" fmla="*/ 0 w 8172401"/>
              <a:gd name="connsiteY4" fmla="*/ 0 h 446276"/>
              <a:gd name="connsiteX0" fmla="*/ 0 w 8172401"/>
              <a:gd name="connsiteY0" fmla="*/ 0 h 678751"/>
              <a:gd name="connsiteX1" fmla="*/ 8172401 w 8172401"/>
              <a:gd name="connsiteY1" fmla="*/ 0 h 678751"/>
              <a:gd name="connsiteX2" fmla="*/ 8172401 w 8172401"/>
              <a:gd name="connsiteY2" fmla="*/ 446276 h 678751"/>
              <a:gd name="connsiteX3" fmla="*/ 15499 w 8172401"/>
              <a:gd name="connsiteY3" fmla="*/ 678751 h 678751"/>
              <a:gd name="connsiteX4" fmla="*/ 0 w 8172401"/>
              <a:gd name="connsiteY4" fmla="*/ 0 h 678751"/>
              <a:gd name="connsiteX0" fmla="*/ 0 w 8172401"/>
              <a:gd name="connsiteY0" fmla="*/ 0 h 678751"/>
              <a:gd name="connsiteX1" fmla="*/ 8172401 w 8172401"/>
              <a:gd name="connsiteY1" fmla="*/ 0 h 678751"/>
              <a:gd name="connsiteX2" fmla="*/ 8172401 w 8172401"/>
              <a:gd name="connsiteY2" fmla="*/ 647754 h 678751"/>
              <a:gd name="connsiteX3" fmla="*/ 15499 w 8172401"/>
              <a:gd name="connsiteY3" fmla="*/ 678751 h 678751"/>
              <a:gd name="connsiteX4" fmla="*/ 0 w 8172401"/>
              <a:gd name="connsiteY4" fmla="*/ 0 h 678751"/>
              <a:gd name="connsiteX0" fmla="*/ 0 w 8172401"/>
              <a:gd name="connsiteY0" fmla="*/ 0 h 709747"/>
              <a:gd name="connsiteX1" fmla="*/ 8172401 w 8172401"/>
              <a:gd name="connsiteY1" fmla="*/ 0 h 709747"/>
              <a:gd name="connsiteX2" fmla="*/ 8172401 w 8172401"/>
              <a:gd name="connsiteY2" fmla="*/ 709747 h 709747"/>
              <a:gd name="connsiteX3" fmla="*/ 15499 w 8172401"/>
              <a:gd name="connsiteY3" fmla="*/ 678751 h 709747"/>
              <a:gd name="connsiteX4" fmla="*/ 0 w 8172401"/>
              <a:gd name="connsiteY4" fmla="*/ 0 h 709747"/>
              <a:gd name="connsiteX0" fmla="*/ 0 w 8172401"/>
              <a:gd name="connsiteY0" fmla="*/ 0 h 678751"/>
              <a:gd name="connsiteX1" fmla="*/ 8172401 w 8172401"/>
              <a:gd name="connsiteY1" fmla="*/ 0 h 678751"/>
              <a:gd name="connsiteX2" fmla="*/ 8172401 w 8172401"/>
              <a:gd name="connsiteY2" fmla="*/ 678751 h 678751"/>
              <a:gd name="connsiteX3" fmla="*/ 15499 w 8172401"/>
              <a:gd name="connsiteY3" fmla="*/ 678751 h 678751"/>
              <a:gd name="connsiteX4" fmla="*/ 0 w 8172401"/>
              <a:gd name="connsiteY4" fmla="*/ 0 h 678751"/>
              <a:gd name="connsiteX0" fmla="*/ 0 w 8172401"/>
              <a:gd name="connsiteY0" fmla="*/ 0 h 678751"/>
              <a:gd name="connsiteX1" fmla="*/ 8172401 w 8172401"/>
              <a:gd name="connsiteY1" fmla="*/ 154983 h 678751"/>
              <a:gd name="connsiteX2" fmla="*/ 8172401 w 8172401"/>
              <a:gd name="connsiteY2" fmla="*/ 678751 h 678751"/>
              <a:gd name="connsiteX3" fmla="*/ 15499 w 8172401"/>
              <a:gd name="connsiteY3" fmla="*/ 678751 h 678751"/>
              <a:gd name="connsiteX4" fmla="*/ 0 w 8172401"/>
              <a:gd name="connsiteY4" fmla="*/ 0 h 678751"/>
              <a:gd name="connsiteX0" fmla="*/ 0 w 8172401"/>
              <a:gd name="connsiteY0" fmla="*/ 15499 h 523768"/>
              <a:gd name="connsiteX1" fmla="*/ 8172401 w 8172401"/>
              <a:gd name="connsiteY1" fmla="*/ 0 h 523768"/>
              <a:gd name="connsiteX2" fmla="*/ 8172401 w 8172401"/>
              <a:gd name="connsiteY2" fmla="*/ 523768 h 523768"/>
              <a:gd name="connsiteX3" fmla="*/ 15499 w 8172401"/>
              <a:gd name="connsiteY3" fmla="*/ 523768 h 523768"/>
              <a:gd name="connsiteX4" fmla="*/ 0 w 8172401"/>
              <a:gd name="connsiteY4" fmla="*/ 15499 h 523768"/>
              <a:gd name="connsiteX0" fmla="*/ 0 w 8172401"/>
              <a:gd name="connsiteY0" fmla="*/ 0 h 539266"/>
              <a:gd name="connsiteX1" fmla="*/ 8172401 w 8172401"/>
              <a:gd name="connsiteY1" fmla="*/ 15498 h 539266"/>
              <a:gd name="connsiteX2" fmla="*/ 8172401 w 8172401"/>
              <a:gd name="connsiteY2" fmla="*/ 539266 h 539266"/>
              <a:gd name="connsiteX3" fmla="*/ 15499 w 8172401"/>
              <a:gd name="connsiteY3" fmla="*/ 539266 h 539266"/>
              <a:gd name="connsiteX4" fmla="*/ 0 w 8172401"/>
              <a:gd name="connsiteY4" fmla="*/ 0 h 539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2401" h="539266">
                <a:moveTo>
                  <a:pt x="0" y="0"/>
                </a:moveTo>
                <a:lnTo>
                  <a:pt x="8172401" y="15498"/>
                </a:lnTo>
                <a:lnTo>
                  <a:pt x="8172401" y="539266"/>
                </a:lnTo>
                <a:lnTo>
                  <a:pt x="15499" y="539266"/>
                </a:lnTo>
                <a:lnTo>
                  <a:pt x="0" y="0"/>
                </a:lnTo>
                <a:close/>
              </a:path>
            </a:pathLst>
          </a:custGeom>
          <a:noFill/>
        </p:spPr>
        <p:txBody>
          <a:bodyPr wrap="square" rtlCol="0">
            <a:spAutoFit/>
          </a:bodyPr>
          <a:lstStyle/>
          <a:p>
            <a:r>
              <a:rPr lang="en-GB" sz="2300" dirty="0"/>
              <a:t>5. What is an endothermic reaction?</a:t>
            </a:r>
          </a:p>
        </p:txBody>
      </p:sp>
    </p:spTree>
    <p:extLst>
      <p:ext uri="{BB962C8B-B14F-4D97-AF65-F5344CB8AC3E}">
        <p14:creationId xmlns:p14="http://schemas.microsoft.com/office/powerpoint/2010/main" val="3139332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339650"/>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3600" b="1" dirty="0">
                <a:solidFill>
                  <a:schemeClr val="tx1">
                    <a:lumMod val="50000"/>
                    <a:lumOff val="50000"/>
                  </a:schemeClr>
                </a:solidFill>
              </a:rPr>
              <a:t>Energy Changes part 2</a:t>
            </a:r>
          </a:p>
          <a:p>
            <a:endParaRPr lang="en-US" sz="4800" b="1" dirty="0">
              <a:solidFill>
                <a:schemeClr val="tx1">
                  <a:lumMod val="50000"/>
                  <a:lumOff val="50000"/>
                </a:schemeClr>
              </a:solidFill>
            </a:endParaRPr>
          </a:p>
          <a:p>
            <a:pPr marL="571500" indent="-571500">
              <a:buFont typeface="Arial" panose="020B0604020202020204" pitchFamily="34" charset="0"/>
              <a:buChar char="•"/>
            </a:pPr>
            <a:r>
              <a:rPr lang="en-US" sz="2400" b="1" dirty="0">
                <a:solidFill>
                  <a:schemeClr val="tx1">
                    <a:lumMod val="50000"/>
                    <a:lumOff val="50000"/>
                  </a:schemeClr>
                </a:solidFill>
              </a:rPr>
              <a:t>Activation energy </a:t>
            </a:r>
          </a:p>
          <a:p>
            <a:pPr marL="571500" indent="-571500">
              <a:buFont typeface="Arial" panose="020B0604020202020204" pitchFamily="34" charset="0"/>
              <a:buChar char="•"/>
            </a:pPr>
            <a:r>
              <a:rPr lang="en-US" sz="2400" b="1" dirty="0">
                <a:solidFill>
                  <a:schemeClr val="tx1">
                    <a:lumMod val="50000"/>
                    <a:lumOff val="50000"/>
                  </a:schemeClr>
                </a:solidFill>
              </a:rPr>
              <a:t>Reaction profiles</a:t>
            </a:r>
            <a:endParaRPr lang="en-GB" sz="2400"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5976" y="704918"/>
            <a:ext cx="4608512" cy="5257800"/>
          </a:xfrm>
          <a:prstGeom prst="rect">
            <a:avLst/>
          </a:prstGeom>
        </p:spPr>
      </p:pic>
    </p:spTree>
    <p:extLst>
      <p:ext uri="{BB962C8B-B14F-4D97-AF65-F5344CB8AC3E}">
        <p14:creationId xmlns:p14="http://schemas.microsoft.com/office/powerpoint/2010/main" val="587479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Energy Changes part 2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1154162"/>
          </a:xfrm>
          <a:prstGeom prst="rect">
            <a:avLst/>
          </a:prstGeom>
          <a:noFill/>
        </p:spPr>
        <p:txBody>
          <a:bodyPr wrap="square" rtlCol="0">
            <a:spAutoFit/>
          </a:bodyPr>
          <a:lstStyle/>
          <a:p>
            <a:pPr marL="457200" indent="-457200">
              <a:lnSpc>
                <a:spcPct val="150000"/>
              </a:lnSpc>
              <a:buAutoNum type="arabicPeriod"/>
            </a:pPr>
            <a:r>
              <a:rPr lang="en-GB" sz="2300" dirty="0"/>
              <a:t>What is meant by the term activation energy?</a:t>
            </a:r>
          </a:p>
          <a:p>
            <a:pPr>
              <a:lnSpc>
                <a:spcPct val="150000"/>
              </a:lnSpc>
            </a:pPr>
            <a:r>
              <a:rPr lang="en-GB" sz="2300" dirty="0">
                <a:solidFill>
                  <a:srgbClr val="00B050"/>
                </a:solidFill>
              </a:rPr>
              <a:t>       The minimum amount of energy that particles must have to react.</a:t>
            </a:r>
          </a:p>
        </p:txBody>
      </p:sp>
      <p:sp>
        <p:nvSpPr>
          <p:cNvPr id="3" name="TextBox 2"/>
          <p:cNvSpPr txBox="1"/>
          <p:nvPr/>
        </p:nvSpPr>
        <p:spPr>
          <a:xfrm>
            <a:off x="149087" y="1988840"/>
            <a:ext cx="8915400" cy="1862048"/>
          </a:xfrm>
          <a:prstGeom prst="rect">
            <a:avLst/>
          </a:prstGeom>
          <a:noFill/>
        </p:spPr>
        <p:txBody>
          <a:bodyPr wrap="square" rtlCol="0">
            <a:spAutoFit/>
          </a:bodyPr>
          <a:lstStyle/>
          <a:p>
            <a:r>
              <a:rPr lang="en-GB" sz="2300" dirty="0"/>
              <a:t>2. On the reaction profile below what is shown by the letters? </a:t>
            </a:r>
          </a:p>
          <a:p>
            <a:r>
              <a:rPr lang="en-GB" sz="2300" dirty="0"/>
              <a:t>	A 	</a:t>
            </a:r>
            <a:r>
              <a:rPr lang="en-GB" sz="2300" dirty="0">
                <a:solidFill>
                  <a:srgbClr val="00B050"/>
                </a:solidFill>
              </a:rPr>
              <a:t>Reactants</a:t>
            </a:r>
          </a:p>
          <a:p>
            <a:r>
              <a:rPr lang="en-GB" sz="2300" dirty="0"/>
              <a:t>	B	</a:t>
            </a:r>
            <a:r>
              <a:rPr lang="en-GB" sz="2300" dirty="0">
                <a:solidFill>
                  <a:srgbClr val="00B050"/>
                </a:solidFill>
              </a:rPr>
              <a:t>Products</a:t>
            </a:r>
          </a:p>
          <a:p>
            <a:r>
              <a:rPr lang="en-GB" sz="2300" dirty="0"/>
              <a:t>	C	</a:t>
            </a:r>
            <a:r>
              <a:rPr lang="en-GB" sz="2300" dirty="0">
                <a:solidFill>
                  <a:srgbClr val="00B050"/>
                </a:solidFill>
              </a:rPr>
              <a:t>Activation energy</a:t>
            </a:r>
          </a:p>
          <a:p>
            <a:r>
              <a:rPr lang="en-GB" sz="2300" dirty="0"/>
              <a:t>	D	</a:t>
            </a:r>
            <a:r>
              <a:rPr lang="en-GB" sz="2300" dirty="0">
                <a:solidFill>
                  <a:srgbClr val="00B050"/>
                </a:solidFill>
              </a:rPr>
              <a:t>Overall energy change/that the reaction is exothermic</a:t>
            </a:r>
          </a:p>
        </p:txBody>
      </p:sp>
      <p:pic>
        <p:nvPicPr>
          <p:cNvPr id="5" name="Picture 4"/>
          <p:cNvPicPr>
            <a:picLocks noChangeAspect="1"/>
          </p:cNvPicPr>
          <p:nvPr/>
        </p:nvPicPr>
        <p:blipFill>
          <a:blip r:embed="rId2"/>
          <a:stretch>
            <a:fillRect/>
          </a:stretch>
        </p:blipFill>
        <p:spPr>
          <a:xfrm>
            <a:off x="2483768" y="3850888"/>
            <a:ext cx="4104456" cy="2659018"/>
          </a:xfrm>
          <a:prstGeom prst="rect">
            <a:avLst/>
          </a:prstGeom>
        </p:spPr>
      </p:pic>
    </p:spTree>
    <p:extLst>
      <p:ext uri="{BB962C8B-B14F-4D97-AF65-F5344CB8AC3E}">
        <p14:creationId xmlns:p14="http://schemas.microsoft.com/office/powerpoint/2010/main" val="2810244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Energy Changes part 2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1685077"/>
          </a:xfrm>
          <a:prstGeom prst="rect">
            <a:avLst/>
          </a:prstGeom>
          <a:noFill/>
        </p:spPr>
        <p:txBody>
          <a:bodyPr wrap="square" rtlCol="0">
            <a:spAutoFit/>
          </a:bodyPr>
          <a:lstStyle/>
          <a:p>
            <a:pPr>
              <a:lnSpc>
                <a:spcPct val="150000"/>
              </a:lnSpc>
            </a:pPr>
            <a:r>
              <a:rPr lang="en-GB" sz="2300" dirty="0"/>
              <a:t>3. What two things are needed for a chemical reaction to occur?</a:t>
            </a:r>
          </a:p>
          <a:p>
            <a:pPr>
              <a:lnSpc>
                <a:spcPct val="150000"/>
              </a:lnSpc>
            </a:pPr>
            <a:r>
              <a:rPr lang="en-GB" sz="2300" dirty="0"/>
              <a:t>     </a:t>
            </a:r>
            <a:r>
              <a:rPr lang="en-GB" sz="2300" dirty="0">
                <a:solidFill>
                  <a:srgbClr val="00B050"/>
                </a:solidFill>
              </a:rPr>
              <a:t>Reacting particles collide with each other and with sufficient energy.</a:t>
            </a:r>
          </a:p>
          <a:p>
            <a:pPr>
              <a:lnSpc>
                <a:spcPct val="150000"/>
              </a:lnSpc>
            </a:pPr>
            <a:r>
              <a:rPr lang="en-GB" sz="2300" dirty="0"/>
              <a:t> </a:t>
            </a:r>
          </a:p>
        </p:txBody>
      </p:sp>
      <p:sp>
        <p:nvSpPr>
          <p:cNvPr id="3" name="TextBox 2"/>
          <p:cNvSpPr txBox="1"/>
          <p:nvPr/>
        </p:nvSpPr>
        <p:spPr>
          <a:xfrm>
            <a:off x="149087" y="1988840"/>
            <a:ext cx="8915400" cy="800219"/>
          </a:xfrm>
          <a:prstGeom prst="rect">
            <a:avLst/>
          </a:prstGeom>
          <a:noFill/>
        </p:spPr>
        <p:txBody>
          <a:bodyPr wrap="square" rtlCol="0">
            <a:spAutoFit/>
          </a:bodyPr>
          <a:lstStyle/>
          <a:p>
            <a:r>
              <a:rPr lang="en-GB" sz="2300" dirty="0"/>
              <a:t>4. What is an exothermic reaction?</a:t>
            </a:r>
          </a:p>
          <a:p>
            <a:r>
              <a:rPr lang="en-GB" sz="2300" dirty="0"/>
              <a:t>    </a:t>
            </a:r>
            <a:r>
              <a:rPr lang="en-GB" sz="2300" dirty="0">
                <a:solidFill>
                  <a:srgbClr val="00B050"/>
                </a:solidFill>
              </a:rPr>
              <a:t>Heat energy given out/energy lost to the surroundings</a:t>
            </a:r>
          </a:p>
        </p:txBody>
      </p:sp>
      <p:sp>
        <p:nvSpPr>
          <p:cNvPr id="5" name="TextBox 4"/>
          <p:cNvSpPr txBox="1"/>
          <p:nvPr/>
        </p:nvSpPr>
        <p:spPr>
          <a:xfrm>
            <a:off x="149087" y="3064430"/>
            <a:ext cx="8023314" cy="1154162"/>
          </a:xfrm>
          <a:custGeom>
            <a:avLst/>
            <a:gdLst>
              <a:gd name="connsiteX0" fmla="*/ 0 w 8172401"/>
              <a:gd name="connsiteY0" fmla="*/ 0 h 446276"/>
              <a:gd name="connsiteX1" fmla="*/ 8172401 w 8172401"/>
              <a:gd name="connsiteY1" fmla="*/ 0 h 446276"/>
              <a:gd name="connsiteX2" fmla="*/ 8172401 w 8172401"/>
              <a:gd name="connsiteY2" fmla="*/ 446276 h 446276"/>
              <a:gd name="connsiteX3" fmla="*/ 0 w 8172401"/>
              <a:gd name="connsiteY3" fmla="*/ 446276 h 446276"/>
              <a:gd name="connsiteX4" fmla="*/ 0 w 8172401"/>
              <a:gd name="connsiteY4" fmla="*/ 0 h 446276"/>
              <a:gd name="connsiteX0" fmla="*/ 0 w 8172401"/>
              <a:gd name="connsiteY0" fmla="*/ 0 h 678751"/>
              <a:gd name="connsiteX1" fmla="*/ 8172401 w 8172401"/>
              <a:gd name="connsiteY1" fmla="*/ 0 h 678751"/>
              <a:gd name="connsiteX2" fmla="*/ 8172401 w 8172401"/>
              <a:gd name="connsiteY2" fmla="*/ 446276 h 678751"/>
              <a:gd name="connsiteX3" fmla="*/ 15499 w 8172401"/>
              <a:gd name="connsiteY3" fmla="*/ 678751 h 678751"/>
              <a:gd name="connsiteX4" fmla="*/ 0 w 8172401"/>
              <a:gd name="connsiteY4" fmla="*/ 0 h 678751"/>
              <a:gd name="connsiteX0" fmla="*/ 0 w 8172401"/>
              <a:gd name="connsiteY0" fmla="*/ 0 h 678751"/>
              <a:gd name="connsiteX1" fmla="*/ 8172401 w 8172401"/>
              <a:gd name="connsiteY1" fmla="*/ 0 h 678751"/>
              <a:gd name="connsiteX2" fmla="*/ 8172401 w 8172401"/>
              <a:gd name="connsiteY2" fmla="*/ 647754 h 678751"/>
              <a:gd name="connsiteX3" fmla="*/ 15499 w 8172401"/>
              <a:gd name="connsiteY3" fmla="*/ 678751 h 678751"/>
              <a:gd name="connsiteX4" fmla="*/ 0 w 8172401"/>
              <a:gd name="connsiteY4" fmla="*/ 0 h 678751"/>
              <a:gd name="connsiteX0" fmla="*/ 0 w 8172401"/>
              <a:gd name="connsiteY0" fmla="*/ 0 h 709747"/>
              <a:gd name="connsiteX1" fmla="*/ 8172401 w 8172401"/>
              <a:gd name="connsiteY1" fmla="*/ 0 h 709747"/>
              <a:gd name="connsiteX2" fmla="*/ 8172401 w 8172401"/>
              <a:gd name="connsiteY2" fmla="*/ 709747 h 709747"/>
              <a:gd name="connsiteX3" fmla="*/ 15499 w 8172401"/>
              <a:gd name="connsiteY3" fmla="*/ 678751 h 709747"/>
              <a:gd name="connsiteX4" fmla="*/ 0 w 8172401"/>
              <a:gd name="connsiteY4" fmla="*/ 0 h 709747"/>
              <a:gd name="connsiteX0" fmla="*/ 0 w 8172401"/>
              <a:gd name="connsiteY0" fmla="*/ 0 h 678751"/>
              <a:gd name="connsiteX1" fmla="*/ 8172401 w 8172401"/>
              <a:gd name="connsiteY1" fmla="*/ 0 h 678751"/>
              <a:gd name="connsiteX2" fmla="*/ 8172401 w 8172401"/>
              <a:gd name="connsiteY2" fmla="*/ 678751 h 678751"/>
              <a:gd name="connsiteX3" fmla="*/ 15499 w 8172401"/>
              <a:gd name="connsiteY3" fmla="*/ 678751 h 678751"/>
              <a:gd name="connsiteX4" fmla="*/ 0 w 8172401"/>
              <a:gd name="connsiteY4" fmla="*/ 0 h 678751"/>
              <a:gd name="connsiteX0" fmla="*/ 0 w 8172401"/>
              <a:gd name="connsiteY0" fmla="*/ 0 h 678751"/>
              <a:gd name="connsiteX1" fmla="*/ 8172401 w 8172401"/>
              <a:gd name="connsiteY1" fmla="*/ 154983 h 678751"/>
              <a:gd name="connsiteX2" fmla="*/ 8172401 w 8172401"/>
              <a:gd name="connsiteY2" fmla="*/ 678751 h 678751"/>
              <a:gd name="connsiteX3" fmla="*/ 15499 w 8172401"/>
              <a:gd name="connsiteY3" fmla="*/ 678751 h 678751"/>
              <a:gd name="connsiteX4" fmla="*/ 0 w 8172401"/>
              <a:gd name="connsiteY4" fmla="*/ 0 h 678751"/>
              <a:gd name="connsiteX0" fmla="*/ 0 w 8172401"/>
              <a:gd name="connsiteY0" fmla="*/ 15499 h 523768"/>
              <a:gd name="connsiteX1" fmla="*/ 8172401 w 8172401"/>
              <a:gd name="connsiteY1" fmla="*/ 0 h 523768"/>
              <a:gd name="connsiteX2" fmla="*/ 8172401 w 8172401"/>
              <a:gd name="connsiteY2" fmla="*/ 523768 h 523768"/>
              <a:gd name="connsiteX3" fmla="*/ 15499 w 8172401"/>
              <a:gd name="connsiteY3" fmla="*/ 523768 h 523768"/>
              <a:gd name="connsiteX4" fmla="*/ 0 w 8172401"/>
              <a:gd name="connsiteY4" fmla="*/ 15499 h 523768"/>
              <a:gd name="connsiteX0" fmla="*/ 0 w 8172401"/>
              <a:gd name="connsiteY0" fmla="*/ 0 h 539266"/>
              <a:gd name="connsiteX1" fmla="*/ 8172401 w 8172401"/>
              <a:gd name="connsiteY1" fmla="*/ 15498 h 539266"/>
              <a:gd name="connsiteX2" fmla="*/ 8172401 w 8172401"/>
              <a:gd name="connsiteY2" fmla="*/ 539266 h 539266"/>
              <a:gd name="connsiteX3" fmla="*/ 15499 w 8172401"/>
              <a:gd name="connsiteY3" fmla="*/ 539266 h 539266"/>
              <a:gd name="connsiteX4" fmla="*/ 0 w 8172401"/>
              <a:gd name="connsiteY4" fmla="*/ 0 h 539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2401" h="539266">
                <a:moveTo>
                  <a:pt x="0" y="0"/>
                </a:moveTo>
                <a:lnTo>
                  <a:pt x="8172401" y="15498"/>
                </a:lnTo>
                <a:lnTo>
                  <a:pt x="8172401" y="539266"/>
                </a:lnTo>
                <a:lnTo>
                  <a:pt x="15499" y="539266"/>
                </a:lnTo>
                <a:lnTo>
                  <a:pt x="0" y="0"/>
                </a:lnTo>
                <a:close/>
              </a:path>
            </a:pathLst>
          </a:custGeom>
          <a:noFill/>
        </p:spPr>
        <p:txBody>
          <a:bodyPr wrap="square" rtlCol="0">
            <a:spAutoFit/>
          </a:bodyPr>
          <a:lstStyle/>
          <a:p>
            <a:r>
              <a:rPr lang="en-GB" sz="2300" dirty="0"/>
              <a:t>5. What is an endothermic reaction?</a:t>
            </a:r>
          </a:p>
          <a:p>
            <a:r>
              <a:rPr lang="en-GB" sz="2300" dirty="0"/>
              <a:t>    </a:t>
            </a:r>
            <a:r>
              <a:rPr lang="en-GB" sz="2300" dirty="0">
                <a:solidFill>
                  <a:srgbClr val="00B050"/>
                </a:solidFill>
              </a:rPr>
              <a:t>Heat energy taken in/energy taken in from the surroundings</a:t>
            </a:r>
          </a:p>
          <a:p>
            <a:endParaRPr lang="en-GB" sz="2300" dirty="0"/>
          </a:p>
        </p:txBody>
      </p:sp>
    </p:spTree>
    <p:extLst>
      <p:ext uri="{BB962C8B-B14F-4D97-AF65-F5344CB8AC3E}">
        <p14:creationId xmlns:p14="http://schemas.microsoft.com/office/powerpoint/2010/main" val="1105708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6012160" cy="5078313"/>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600" b="1" dirty="0">
                <a:solidFill>
                  <a:schemeClr val="tx1">
                    <a:lumMod val="50000"/>
                    <a:lumOff val="50000"/>
                  </a:schemeClr>
                </a:solidFill>
              </a:rPr>
              <a:t>The energy change</a:t>
            </a:r>
          </a:p>
          <a:p>
            <a:r>
              <a:rPr lang="en-GB" sz="3600" b="1" dirty="0">
                <a:solidFill>
                  <a:schemeClr val="tx1">
                    <a:lumMod val="50000"/>
                    <a:lumOff val="50000"/>
                  </a:schemeClr>
                </a:solidFill>
              </a:rPr>
              <a:t>of reactions </a:t>
            </a:r>
          </a:p>
          <a:p>
            <a:r>
              <a:rPr lang="en-GB" sz="3600" b="1" dirty="0">
                <a:solidFill>
                  <a:schemeClr val="tx1">
                    <a:lumMod val="50000"/>
                    <a:lumOff val="50000"/>
                  </a:schemeClr>
                </a:solidFill>
              </a:rPr>
              <a:t>(Higher Tier </a:t>
            </a:r>
          </a:p>
          <a:p>
            <a:r>
              <a:rPr lang="en-GB" sz="3600" b="1" dirty="0">
                <a:solidFill>
                  <a:schemeClr val="tx1">
                    <a:lumMod val="50000"/>
                    <a:lumOff val="50000"/>
                  </a:schemeClr>
                </a:solidFill>
              </a:rPr>
              <a:t>only)</a:t>
            </a:r>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1670452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3768" y="-32700"/>
            <a:ext cx="6660232" cy="941420"/>
          </a:xfrm>
        </p:spPr>
        <p:txBody>
          <a:bodyPr>
            <a:noAutofit/>
          </a:bodyPr>
          <a:lstStyle/>
          <a:p>
            <a:pPr marL="342900" lvl="1" algn="r" defTabSz="342900" rtl="0">
              <a:spcBef>
                <a:spcPct val="20000"/>
              </a:spcBef>
            </a:pPr>
            <a:r>
              <a:rPr lang="en-US" sz="2400" b="1" dirty="0">
                <a:solidFill>
                  <a:schemeClr val="accent6"/>
                </a:solidFill>
              </a:rPr>
              <a:t>The energy change of reactions (HT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251520" y="908719"/>
            <a:ext cx="8640960" cy="4678204"/>
          </a:xfrm>
          <a:custGeom>
            <a:avLst/>
            <a:gdLst>
              <a:gd name="connsiteX0" fmla="*/ 0 w 8640960"/>
              <a:gd name="connsiteY0" fmla="*/ 0 h 2123658"/>
              <a:gd name="connsiteX1" fmla="*/ 8640960 w 8640960"/>
              <a:gd name="connsiteY1" fmla="*/ 0 h 2123658"/>
              <a:gd name="connsiteX2" fmla="*/ 8640960 w 8640960"/>
              <a:gd name="connsiteY2" fmla="*/ 2123658 h 2123658"/>
              <a:gd name="connsiteX3" fmla="*/ 0 w 8640960"/>
              <a:gd name="connsiteY3" fmla="*/ 2123658 h 2123658"/>
              <a:gd name="connsiteX4" fmla="*/ 0 w 8640960"/>
              <a:gd name="connsiteY4" fmla="*/ 0 h 2123658"/>
              <a:gd name="connsiteX0" fmla="*/ 0 w 8640960"/>
              <a:gd name="connsiteY0" fmla="*/ 0 h 2123658"/>
              <a:gd name="connsiteX1" fmla="*/ 8640960 w 8640960"/>
              <a:gd name="connsiteY1" fmla="*/ 0 h 2123658"/>
              <a:gd name="connsiteX2" fmla="*/ 8640960 w 8640960"/>
              <a:gd name="connsiteY2" fmla="*/ 2123658 h 2123658"/>
              <a:gd name="connsiteX3" fmla="*/ 15498 w 8640960"/>
              <a:gd name="connsiteY3" fmla="*/ 1658709 h 2123658"/>
              <a:gd name="connsiteX4" fmla="*/ 0 w 8640960"/>
              <a:gd name="connsiteY4" fmla="*/ 0 h 2123658"/>
              <a:gd name="connsiteX0" fmla="*/ 0 w 8640960"/>
              <a:gd name="connsiteY0" fmla="*/ 0 h 1658709"/>
              <a:gd name="connsiteX1" fmla="*/ 8640960 w 8640960"/>
              <a:gd name="connsiteY1" fmla="*/ 0 h 1658709"/>
              <a:gd name="connsiteX2" fmla="*/ 8609963 w 8640960"/>
              <a:gd name="connsiteY2" fmla="*/ 1658709 h 1658709"/>
              <a:gd name="connsiteX3" fmla="*/ 15498 w 8640960"/>
              <a:gd name="connsiteY3" fmla="*/ 1658709 h 1658709"/>
              <a:gd name="connsiteX4" fmla="*/ 0 w 8640960"/>
              <a:gd name="connsiteY4" fmla="*/ 0 h 1658709"/>
              <a:gd name="connsiteX0" fmla="*/ 0 w 8640960"/>
              <a:gd name="connsiteY0" fmla="*/ 0 h 1658709"/>
              <a:gd name="connsiteX1" fmla="*/ 8640960 w 8640960"/>
              <a:gd name="connsiteY1" fmla="*/ 0 h 1658709"/>
              <a:gd name="connsiteX2" fmla="*/ 8609963 w 8640960"/>
              <a:gd name="connsiteY2" fmla="*/ 1658709 h 1658709"/>
              <a:gd name="connsiteX3" fmla="*/ 0 w 8640960"/>
              <a:gd name="connsiteY3" fmla="*/ 1658709 h 1658709"/>
              <a:gd name="connsiteX4" fmla="*/ 0 w 8640960"/>
              <a:gd name="connsiteY4" fmla="*/ 0 h 1658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0960" h="1658709">
                <a:moveTo>
                  <a:pt x="0" y="0"/>
                </a:moveTo>
                <a:lnTo>
                  <a:pt x="8640960" y="0"/>
                </a:lnTo>
                <a:lnTo>
                  <a:pt x="8609963" y="1658709"/>
                </a:lnTo>
                <a:lnTo>
                  <a:pt x="0" y="1658709"/>
                </a:lnTo>
                <a:lnTo>
                  <a:pt x="0" y="0"/>
                </a:lnTo>
                <a:close/>
              </a:path>
            </a:pathLst>
          </a:custGeom>
          <a:noFill/>
        </p:spPr>
        <p:txBody>
          <a:bodyPr wrap="square" rtlCol="0">
            <a:spAutoFit/>
          </a:bodyPr>
          <a:lstStyle/>
          <a:p>
            <a:r>
              <a:rPr lang="en-GB" sz="2400" b="1" dirty="0"/>
              <a:t>For the reaction of methane with oxygen we can write out the balanced symbol equation:</a:t>
            </a:r>
          </a:p>
          <a:p>
            <a:endParaRPr lang="en-GB" sz="2400" b="1" dirty="0"/>
          </a:p>
          <a:p>
            <a:pPr algn="ctr"/>
            <a:r>
              <a:rPr lang="en-GB" sz="2400" b="1" dirty="0"/>
              <a:t>CH</a:t>
            </a:r>
            <a:r>
              <a:rPr lang="en-GB" sz="2400" b="1" baseline="-25000" dirty="0"/>
              <a:t>4</a:t>
            </a:r>
            <a:r>
              <a:rPr lang="en-GB" sz="2400" b="1" dirty="0"/>
              <a:t>  +  2O</a:t>
            </a:r>
            <a:r>
              <a:rPr lang="en-GB" sz="2400" b="1" baseline="-25000" dirty="0"/>
              <a:t>2</a:t>
            </a:r>
            <a:r>
              <a:rPr lang="en-GB" sz="2400" b="1" dirty="0"/>
              <a:t> </a:t>
            </a:r>
            <a:r>
              <a:rPr lang="en-GB" sz="2400" b="1" dirty="0">
                <a:sym typeface="Wingdings" panose="05000000000000000000" pitchFamily="2" charset="2"/>
              </a:rPr>
              <a:t>  CO</a:t>
            </a:r>
            <a:r>
              <a:rPr lang="en-GB" sz="2400" b="1" baseline="-25000" dirty="0">
                <a:sym typeface="Wingdings" panose="05000000000000000000" pitchFamily="2" charset="2"/>
              </a:rPr>
              <a:t>2</a:t>
            </a:r>
            <a:r>
              <a:rPr lang="en-GB" sz="2400" b="1" dirty="0">
                <a:sym typeface="Wingdings" panose="05000000000000000000" pitchFamily="2" charset="2"/>
              </a:rPr>
              <a:t>  +  2H</a:t>
            </a:r>
            <a:r>
              <a:rPr lang="en-GB" sz="2400" b="1" baseline="-25000" dirty="0">
                <a:sym typeface="Wingdings" panose="05000000000000000000" pitchFamily="2" charset="2"/>
              </a:rPr>
              <a:t>2</a:t>
            </a:r>
            <a:r>
              <a:rPr lang="en-GB" sz="2400" b="1" dirty="0">
                <a:sym typeface="Wingdings" panose="05000000000000000000" pitchFamily="2" charset="2"/>
              </a:rPr>
              <a:t>O</a:t>
            </a:r>
            <a:r>
              <a:rPr lang="en-GB" sz="2400" b="1" dirty="0"/>
              <a:t> </a:t>
            </a:r>
          </a:p>
          <a:p>
            <a:endParaRPr lang="en-GB" dirty="0"/>
          </a:p>
          <a:p>
            <a:r>
              <a:rPr lang="en-GB" sz="2300" b="1" dirty="0"/>
              <a:t>We can draw out the bonds between the atoms e.g. </a:t>
            </a:r>
          </a:p>
          <a:p>
            <a:endParaRPr lang="en-GB" sz="2300" b="1" dirty="0"/>
          </a:p>
          <a:p>
            <a:endParaRPr lang="en-GB" sz="2300" b="1" dirty="0"/>
          </a:p>
          <a:p>
            <a:endParaRPr lang="en-GB" sz="2300" b="1" dirty="0"/>
          </a:p>
          <a:p>
            <a:endParaRPr lang="en-GB" sz="2300" b="1" dirty="0"/>
          </a:p>
          <a:p>
            <a:endParaRPr lang="en-GB" sz="2300" b="1" dirty="0"/>
          </a:p>
          <a:p>
            <a:r>
              <a:rPr lang="en-GB" sz="2300" b="1" dirty="0"/>
              <a:t>Each line represents a bond, two lines represent a </a:t>
            </a:r>
            <a:r>
              <a:rPr lang="en-GB" sz="2300" b="1" dirty="0">
                <a:solidFill>
                  <a:schemeClr val="accent6">
                    <a:lumMod val="75000"/>
                  </a:schemeClr>
                </a:solidFill>
              </a:rPr>
              <a:t>double bond </a:t>
            </a:r>
            <a:r>
              <a:rPr lang="en-GB" sz="2300" b="1" dirty="0"/>
              <a:t>e.g. in the oxygen molecule.</a:t>
            </a:r>
          </a:p>
        </p:txBody>
      </p:sp>
      <p:pic>
        <p:nvPicPr>
          <p:cNvPr id="5" name="Picture 4"/>
          <p:cNvPicPr>
            <a:picLocks noChangeAspect="1"/>
          </p:cNvPicPr>
          <p:nvPr/>
        </p:nvPicPr>
        <p:blipFill>
          <a:blip r:embed="rId3"/>
          <a:stretch>
            <a:fillRect/>
          </a:stretch>
        </p:blipFill>
        <p:spPr>
          <a:xfrm>
            <a:off x="2089708" y="3140968"/>
            <a:ext cx="4964584" cy="1584176"/>
          </a:xfrm>
          <a:prstGeom prst="rect">
            <a:avLst/>
          </a:prstGeom>
        </p:spPr>
      </p:pic>
    </p:spTree>
    <p:extLst>
      <p:ext uri="{BB962C8B-B14F-4D97-AF65-F5344CB8AC3E}">
        <p14:creationId xmlns:p14="http://schemas.microsoft.com/office/powerpoint/2010/main" val="20007492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The energy change of reactions (HT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7" name="TextBox 6"/>
          <p:cNvSpPr txBox="1"/>
          <p:nvPr/>
        </p:nvSpPr>
        <p:spPr>
          <a:xfrm>
            <a:off x="179512" y="836712"/>
            <a:ext cx="8640960" cy="1154162"/>
          </a:xfrm>
          <a:prstGeom prst="rect">
            <a:avLst/>
          </a:prstGeom>
          <a:noFill/>
          <a:ln w="28575">
            <a:solidFill>
              <a:schemeClr val="accent6"/>
            </a:solidFill>
          </a:ln>
        </p:spPr>
        <p:txBody>
          <a:bodyPr wrap="square" rtlCol="0">
            <a:spAutoFit/>
          </a:bodyPr>
          <a:lstStyle/>
          <a:p>
            <a:r>
              <a:rPr lang="en-GB" sz="2300" b="1" dirty="0"/>
              <a:t>During a </a:t>
            </a:r>
            <a:r>
              <a:rPr lang="en-GB" sz="2300" b="1" dirty="0">
                <a:solidFill>
                  <a:schemeClr val="accent6">
                    <a:lumMod val="75000"/>
                  </a:schemeClr>
                </a:solidFill>
              </a:rPr>
              <a:t>chemical reaction:</a:t>
            </a:r>
          </a:p>
          <a:p>
            <a:pPr marL="285750" indent="-285750">
              <a:buFont typeface="Arial" panose="020B0604020202020204" pitchFamily="34" charset="0"/>
              <a:buChar char="•"/>
            </a:pPr>
            <a:r>
              <a:rPr lang="en-GB" sz="2300" b="1" dirty="0"/>
              <a:t>Energy must be supplied to </a:t>
            </a:r>
            <a:r>
              <a:rPr lang="en-GB" sz="2300" b="1" dirty="0">
                <a:solidFill>
                  <a:schemeClr val="accent6">
                    <a:lumMod val="75000"/>
                  </a:schemeClr>
                </a:solidFill>
              </a:rPr>
              <a:t>break bonds </a:t>
            </a:r>
            <a:r>
              <a:rPr lang="en-GB" sz="2300" b="1" dirty="0"/>
              <a:t>in the reactants</a:t>
            </a:r>
          </a:p>
          <a:p>
            <a:pPr marL="285750" indent="-285750">
              <a:buFont typeface="Arial" panose="020B0604020202020204" pitchFamily="34" charset="0"/>
              <a:buChar char="•"/>
            </a:pPr>
            <a:r>
              <a:rPr lang="en-GB" sz="2300" b="1" dirty="0"/>
              <a:t>Energy is released to </a:t>
            </a:r>
            <a:r>
              <a:rPr lang="en-GB" sz="2300" b="1" dirty="0">
                <a:solidFill>
                  <a:schemeClr val="accent6">
                    <a:lumMod val="75000"/>
                  </a:schemeClr>
                </a:solidFill>
              </a:rPr>
              <a:t>form bonds </a:t>
            </a:r>
            <a:r>
              <a:rPr lang="en-GB" sz="2300" b="1" dirty="0"/>
              <a:t>in the products.</a:t>
            </a:r>
          </a:p>
        </p:txBody>
      </p:sp>
      <p:sp>
        <p:nvSpPr>
          <p:cNvPr id="8" name="TextBox 7"/>
          <p:cNvSpPr txBox="1"/>
          <p:nvPr/>
        </p:nvSpPr>
        <p:spPr>
          <a:xfrm>
            <a:off x="179512" y="2204864"/>
            <a:ext cx="8640960" cy="800219"/>
          </a:xfrm>
          <a:custGeom>
            <a:avLst/>
            <a:gdLst>
              <a:gd name="connsiteX0" fmla="*/ 0 w 8640960"/>
              <a:gd name="connsiteY0" fmla="*/ 0 h 1508105"/>
              <a:gd name="connsiteX1" fmla="*/ 8640960 w 8640960"/>
              <a:gd name="connsiteY1" fmla="*/ 0 h 1508105"/>
              <a:gd name="connsiteX2" fmla="*/ 8640960 w 8640960"/>
              <a:gd name="connsiteY2" fmla="*/ 1508105 h 1508105"/>
              <a:gd name="connsiteX3" fmla="*/ 0 w 8640960"/>
              <a:gd name="connsiteY3" fmla="*/ 1508105 h 1508105"/>
              <a:gd name="connsiteX4" fmla="*/ 0 w 8640960"/>
              <a:gd name="connsiteY4" fmla="*/ 0 h 1508105"/>
              <a:gd name="connsiteX0" fmla="*/ 0 w 8640960"/>
              <a:gd name="connsiteY0" fmla="*/ 0 h 1508105"/>
              <a:gd name="connsiteX1" fmla="*/ 8640960 w 8640960"/>
              <a:gd name="connsiteY1" fmla="*/ 0 h 1508105"/>
              <a:gd name="connsiteX2" fmla="*/ 8640960 w 8640960"/>
              <a:gd name="connsiteY2" fmla="*/ 1508105 h 1508105"/>
              <a:gd name="connsiteX3" fmla="*/ 0 w 8640960"/>
              <a:gd name="connsiteY3" fmla="*/ 748252 h 1508105"/>
              <a:gd name="connsiteX4" fmla="*/ 0 w 8640960"/>
              <a:gd name="connsiteY4" fmla="*/ 0 h 1508105"/>
              <a:gd name="connsiteX0" fmla="*/ 0 w 8640960"/>
              <a:gd name="connsiteY0" fmla="*/ 0 h 748252"/>
              <a:gd name="connsiteX1" fmla="*/ 8640960 w 8640960"/>
              <a:gd name="connsiteY1" fmla="*/ 0 h 748252"/>
              <a:gd name="connsiteX2" fmla="*/ 8628081 w 8640960"/>
              <a:gd name="connsiteY2" fmla="*/ 735372 h 748252"/>
              <a:gd name="connsiteX3" fmla="*/ 0 w 8640960"/>
              <a:gd name="connsiteY3" fmla="*/ 748252 h 748252"/>
              <a:gd name="connsiteX4" fmla="*/ 0 w 8640960"/>
              <a:gd name="connsiteY4" fmla="*/ 0 h 748252"/>
              <a:gd name="connsiteX0" fmla="*/ 0 w 8640960"/>
              <a:gd name="connsiteY0" fmla="*/ 0 h 748252"/>
              <a:gd name="connsiteX1" fmla="*/ 8640960 w 8640960"/>
              <a:gd name="connsiteY1" fmla="*/ 0 h 748252"/>
              <a:gd name="connsiteX2" fmla="*/ 8628081 w 8640960"/>
              <a:gd name="connsiteY2" fmla="*/ 748251 h 748252"/>
              <a:gd name="connsiteX3" fmla="*/ 0 w 8640960"/>
              <a:gd name="connsiteY3" fmla="*/ 748252 h 748252"/>
              <a:gd name="connsiteX4" fmla="*/ 0 w 8640960"/>
              <a:gd name="connsiteY4" fmla="*/ 0 h 748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0960" h="748252">
                <a:moveTo>
                  <a:pt x="0" y="0"/>
                </a:moveTo>
                <a:lnTo>
                  <a:pt x="8640960" y="0"/>
                </a:lnTo>
                <a:lnTo>
                  <a:pt x="8628081" y="748251"/>
                </a:lnTo>
                <a:lnTo>
                  <a:pt x="0" y="748252"/>
                </a:lnTo>
                <a:lnTo>
                  <a:pt x="0" y="0"/>
                </a:lnTo>
                <a:close/>
              </a:path>
            </a:pathLst>
          </a:custGeom>
          <a:noFill/>
          <a:ln w="28575">
            <a:solidFill>
              <a:schemeClr val="accent6"/>
            </a:solidFill>
          </a:ln>
        </p:spPr>
        <p:txBody>
          <a:bodyPr wrap="square" rtlCol="0">
            <a:spAutoFit/>
          </a:bodyPr>
          <a:lstStyle/>
          <a:p>
            <a:pPr algn="ctr"/>
            <a:r>
              <a:rPr lang="en-GB" sz="2300" b="1" dirty="0"/>
              <a:t>The energy needed to break bonds and the energy released when bonds are formed can be calculated from </a:t>
            </a:r>
            <a:r>
              <a:rPr lang="en-GB" sz="2300" b="1" dirty="0">
                <a:solidFill>
                  <a:schemeClr val="accent6">
                    <a:lumMod val="75000"/>
                  </a:schemeClr>
                </a:solidFill>
              </a:rPr>
              <a:t>bond energies</a:t>
            </a:r>
            <a:r>
              <a:rPr lang="en-GB" sz="2300" b="1" dirty="0"/>
              <a:t>.</a:t>
            </a:r>
          </a:p>
        </p:txBody>
      </p:sp>
      <p:graphicFrame>
        <p:nvGraphicFramePr>
          <p:cNvPr id="11" name="Table 10"/>
          <p:cNvGraphicFramePr>
            <a:graphicFrameLocks noGrp="1"/>
          </p:cNvGraphicFramePr>
          <p:nvPr>
            <p:extLst>
              <p:ext uri="{D42A27DB-BD31-4B8C-83A1-F6EECF244321}">
                <p14:modId xmlns:p14="http://schemas.microsoft.com/office/powerpoint/2010/main" val="3957061468"/>
              </p:ext>
            </p:extLst>
          </p:nvPr>
        </p:nvGraphicFramePr>
        <p:xfrm>
          <a:off x="323528" y="3110195"/>
          <a:ext cx="4608512" cy="2294341"/>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xmlns="" val="20000"/>
                    </a:ext>
                  </a:extLst>
                </a:gridCol>
                <a:gridCol w="2304256">
                  <a:extLst>
                    <a:ext uri="{9D8B030D-6E8A-4147-A177-3AD203B41FA5}">
                      <a16:colId xmlns:a16="http://schemas.microsoft.com/office/drawing/2014/main" xmlns="" val="20001"/>
                    </a:ext>
                  </a:extLst>
                </a:gridCol>
              </a:tblGrid>
              <a:tr h="636199">
                <a:tc>
                  <a:txBody>
                    <a:bodyPr/>
                    <a:lstStyle/>
                    <a:p>
                      <a:pPr algn="ctr"/>
                      <a:r>
                        <a:rPr lang="en-GB" sz="2000" dirty="0">
                          <a:solidFill>
                            <a:schemeClr val="tx1"/>
                          </a:solidFill>
                        </a:rPr>
                        <a:t>Bond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GB" sz="2000" dirty="0">
                          <a:solidFill>
                            <a:schemeClr val="tx1"/>
                          </a:solidFill>
                        </a:rPr>
                        <a:t>Bond Energy  kJ/</a:t>
                      </a:r>
                      <a:r>
                        <a:rPr lang="en-GB" sz="2000" dirty="0" err="1">
                          <a:solidFill>
                            <a:schemeClr val="tx1"/>
                          </a:solidFill>
                        </a:rPr>
                        <a:t>mol</a:t>
                      </a:r>
                      <a:endParaRPr lang="en-GB"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xmlns="" val="10000"/>
                  </a:ext>
                </a:extLst>
              </a:tr>
              <a:tr h="359591">
                <a:tc>
                  <a:txBody>
                    <a:bodyPr/>
                    <a:lstStyle/>
                    <a:p>
                      <a:pPr algn="ctr"/>
                      <a:r>
                        <a:rPr lang="en-GB" sz="2000" b="1" dirty="0"/>
                        <a: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b="1" dirty="0"/>
                        <a:t>411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1"/>
                  </a:ext>
                </a:extLst>
              </a:tr>
              <a:tr h="359591">
                <a:tc>
                  <a:txBody>
                    <a:bodyPr/>
                    <a:lstStyle/>
                    <a:p>
                      <a:pPr algn="ctr"/>
                      <a:r>
                        <a:rPr lang="en-GB" sz="2000" b="1" dirty="0"/>
                        <a:t>O=O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b="1" dirty="0"/>
                        <a:t>494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2"/>
                  </a:ext>
                </a:extLst>
              </a:tr>
              <a:tr h="359591">
                <a:tc>
                  <a:txBody>
                    <a:bodyPr/>
                    <a:lstStyle/>
                    <a:p>
                      <a:pPr algn="ctr"/>
                      <a:r>
                        <a:rPr lang="en-GB" sz="2000" b="1" dirty="0"/>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b="1" dirty="0"/>
                        <a:t>799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3"/>
                  </a:ext>
                </a:extLst>
              </a:tr>
              <a:tr h="404581">
                <a:tc>
                  <a:txBody>
                    <a:bodyPr/>
                    <a:lstStyle/>
                    <a:p>
                      <a:pPr algn="ctr"/>
                      <a:r>
                        <a:rPr lang="en-GB" sz="2000" b="1" dirty="0"/>
                        <a:t>O-H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b="1" dirty="0"/>
                        <a:t>459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4"/>
                  </a:ext>
                </a:extLst>
              </a:tr>
            </a:tbl>
          </a:graphicData>
        </a:graphic>
      </p:graphicFrame>
      <p:sp>
        <p:nvSpPr>
          <p:cNvPr id="12" name="TextBox 11"/>
          <p:cNvSpPr txBox="1"/>
          <p:nvPr/>
        </p:nvSpPr>
        <p:spPr>
          <a:xfrm>
            <a:off x="5220072" y="2996952"/>
            <a:ext cx="3312368" cy="3277820"/>
          </a:xfrm>
          <a:prstGeom prst="rect">
            <a:avLst/>
          </a:prstGeom>
          <a:noFill/>
        </p:spPr>
        <p:txBody>
          <a:bodyPr wrap="square" rtlCol="0">
            <a:spAutoFit/>
          </a:bodyPr>
          <a:lstStyle/>
          <a:p>
            <a:r>
              <a:rPr lang="en-GB" sz="2300" b="1" dirty="0"/>
              <a:t>This means that 411kJ/</a:t>
            </a:r>
            <a:r>
              <a:rPr lang="en-GB" sz="2300" b="1" dirty="0" err="1"/>
              <a:t>mol</a:t>
            </a:r>
            <a:r>
              <a:rPr lang="en-GB" sz="2300" b="1" dirty="0"/>
              <a:t> of energy needs to be put in to break the carbon-hydrogen bond. </a:t>
            </a:r>
          </a:p>
          <a:p>
            <a:r>
              <a:rPr lang="en-GB" sz="2300" b="1" dirty="0"/>
              <a:t>It also means that 459 kJ/</a:t>
            </a:r>
            <a:r>
              <a:rPr lang="en-GB" sz="2300" b="1" dirty="0" err="1"/>
              <a:t>mol</a:t>
            </a:r>
            <a:r>
              <a:rPr lang="en-GB" sz="2300" b="1" dirty="0"/>
              <a:t> is given out when the oxygen hydrogen bond is made in water. </a:t>
            </a:r>
          </a:p>
        </p:txBody>
      </p:sp>
    </p:spTree>
    <p:extLst>
      <p:ext uri="{BB962C8B-B14F-4D97-AF65-F5344CB8AC3E}">
        <p14:creationId xmlns:p14="http://schemas.microsoft.com/office/powerpoint/2010/main" val="1398772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The energy change of reactions (HT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836712"/>
            <a:ext cx="8640960" cy="1015663"/>
          </a:xfrm>
          <a:prstGeom prst="rect">
            <a:avLst/>
          </a:prstGeom>
          <a:noFill/>
          <a:ln w="28575">
            <a:solidFill>
              <a:schemeClr val="accent6"/>
            </a:solidFill>
          </a:ln>
        </p:spPr>
        <p:txBody>
          <a:bodyPr wrap="square" rtlCol="0">
            <a:spAutoFit/>
          </a:bodyPr>
          <a:lstStyle/>
          <a:p>
            <a:r>
              <a:rPr lang="en-GB" sz="2000" b="1" dirty="0"/>
              <a:t>The </a:t>
            </a:r>
            <a:r>
              <a:rPr lang="en-GB" sz="2000" b="1" dirty="0">
                <a:solidFill>
                  <a:schemeClr val="accent6"/>
                </a:solidFill>
              </a:rPr>
              <a:t>difference</a:t>
            </a:r>
            <a:r>
              <a:rPr lang="en-GB" sz="2000" b="1" dirty="0"/>
              <a:t> between the sum of the energy needed to break bonds in the reactants and the sum of the energy released when bonds in the products are formed is the </a:t>
            </a:r>
            <a:r>
              <a:rPr lang="en-GB" sz="2000" b="1" dirty="0">
                <a:solidFill>
                  <a:schemeClr val="accent6"/>
                </a:solidFill>
              </a:rPr>
              <a:t>overall energy change</a:t>
            </a:r>
            <a:r>
              <a:rPr lang="en-GB" sz="2000" b="1" dirty="0"/>
              <a:t> of the reaction.</a:t>
            </a:r>
          </a:p>
        </p:txBody>
      </p:sp>
      <p:sp>
        <p:nvSpPr>
          <p:cNvPr id="4" name="TextBox 3"/>
          <p:cNvSpPr txBox="1"/>
          <p:nvPr/>
        </p:nvSpPr>
        <p:spPr>
          <a:xfrm>
            <a:off x="179512" y="1984207"/>
            <a:ext cx="8640960" cy="446812"/>
          </a:xfrm>
          <a:custGeom>
            <a:avLst/>
            <a:gdLst>
              <a:gd name="connsiteX0" fmla="*/ 0 w 8640960"/>
              <a:gd name="connsiteY0" fmla="*/ 0 h 923330"/>
              <a:gd name="connsiteX1" fmla="*/ 8640960 w 8640960"/>
              <a:gd name="connsiteY1" fmla="*/ 0 h 923330"/>
              <a:gd name="connsiteX2" fmla="*/ 8640960 w 8640960"/>
              <a:gd name="connsiteY2" fmla="*/ 923330 h 923330"/>
              <a:gd name="connsiteX3" fmla="*/ 0 w 8640960"/>
              <a:gd name="connsiteY3" fmla="*/ 923330 h 923330"/>
              <a:gd name="connsiteX4" fmla="*/ 0 w 8640960"/>
              <a:gd name="connsiteY4" fmla="*/ 0 h 923330"/>
              <a:gd name="connsiteX0" fmla="*/ 0 w 8640960"/>
              <a:gd name="connsiteY0" fmla="*/ 0 h 1283939"/>
              <a:gd name="connsiteX1" fmla="*/ 8640960 w 8640960"/>
              <a:gd name="connsiteY1" fmla="*/ 360609 h 1283939"/>
              <a:gd name="connsiteX2" fmla="*/ 8640960 w 8640960"/>
              <a:gd name="connsiteY2" fmla="*/ 1283939 h 1283939"/>
              <a:gd name="connsiteX3" fmla="*/ 0 w 8640960"/>
              <a:gd name="connsiteY3" fmla="*/ 1283939 h 1283939"/>
              <a:gd name="connsiteX4" fmla="*/ 0 w 8640960"/>
              <a:gd name="connsiteY4" fmla="*/ 0 h 1283939"/>
              <a:gd name="connsiteX0" fmla="*/ 0 w 8640960"/>
              <a:gd name="connsiteY0" fmla="*/ 0 h 1283939"/>
              <a:gd name="connsiteX1" fmla="*/ 8640960 w 8640960"/>
              <a:gd name="connsiteY1" fmla="*/ 12879 h 1283939"/>
              <a:gd name="connsiteX2" fmla="*/ 8640960 w 8640960"/>
              <a:gd name="connsiteY2" fmla="*/ 1283939 h 1283939"/>
              <a:gd name="connsiteX3" fmla="*/ 0 w 8640960"/>
              <a:gd name="connsiteY3" fmla="*/ 1283939 h 1283939"/>
              <a:gd name="connsiteX4" fmla="*/ 0 w 8640960"/>
              <a:gd name="connsiteY4" fmla="*/ 0 h 1283939"/>
              <a:gd name="connsiteX0" fmla="*/ 0 w 8640960"/>
              <a:gd name="connsiteY0" fmla="*/ 0 h 1283939"/>
              <a:gd name="connsiteX1" fmla="*/ 8640960 w 8640960"/>
              <a:gd name="connsiteY1" fmla="*/ 12879 h 1283939"/>
              <a:gd name="connsiteX2" fmla="*/ 8640960 w 8640960"/>
              <a:gd name="connsiteY2" fmla="*/ 1283939 h 1283939"/>
              <a:gd name="connsiteX3" fmla="*/ 12879 w 8640960"/>
              <a:gd name="connsiteY3" fmla="*/ 446812 h 1283939"/>
              <a:gd name="connsiteX4" fmla="*/ 0 w 8640960"/>
              <a:gd name="connsiteY4" fmla="*/ 0 h 1283939"/>
              <a:gd name="connsiteX0" fmla="*/ 0 w 8640960"/>
              <a:gd name="connsiteY0" fmla="*/ 0 h 472570"/>
              <a:gd name="connsiteX1" fmla="*/ 8640960 w 8640960"/>
              <a:gd name="connsiteY1" fmla="*/ 12879 h 472570"/>
              <a:gd name="connsiteX2" fmla="*/ 8640960 w 8640960"/>
              <a:gd name="connsiteY2" fmla="*/ 472570 h 472570"/>
              <a:gd name="connsiteX3" fmla="*/ 12879 w 8640960"/>
              <a:gd name="connsiteY3" fmla="*/ 446812 h 472570"/>
              <a:gd name="connsiteX4" fmla="*/ 0 w 8640960"/>
              <a:gd name="connsiteY4" fmla="*/ 0 h 472570"/>
              <a:gd name="connsiteX0" fmla="*/ 0 w 8640960"/>
              <a:gd name="connsiteY0" fmla="*/ 0 h 446812"/>
              <a:gd name="connsiteX1" fmla="*/ 8640960 w 8640960"/>
              <a:gd name="connsiteY1" fmla="*/ 12879 h 446812"/>
              <a:gd name="connsiteX2" fmla="*/ 8640960 w 8640960"/>
              <a:gd name="connsiteY2" fmla="*/ 446812 h 446812"/>
              <a:gd name="connsiteX3" fmla="*/ 12879 w 8640960"/>
              <a:gd name="connsiteY3" fmla="*/ 446812 h 446812"/>
              <a:gd name="connsiteX4" fmla="*/ 0 w 8640960"/>
              <a:gd name="connsiteY4" fmla="*/ 0 h 446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0960" h="446812">
                <a:moveTo>
                  <a:pt x="0" y="0"/>
                </a:moveTo>
                <a:lnTo>
                  <a:pt x="8640960" y="12879"/>
                </a:lnTo>
                <a:lnTo>
                  <a:pt x="8640960" y="446812"/>
                </a:lnTo>
                <a:lnTo>
                  <a:pt x="12879" y="446812"/>
                </a:lnTo>
                <a:lnTo>
                  <a:pt x="0" y="0"/>
                </a:lnTo>
                <a:close/>
              </a:path>
            </a:pathLst>
          </a:custGeom>
          <a:noFill/>
        </p:spPr>
        <p:txBody>
          <a:bodyPr wrap="square" rtlCol="0">
            <a:spAutoFit/>
          </a:bodyPr>
          <a:lstStyle/>
          <a:p>
            <a:r>
              <a:rPr lang="en-GB" b="1" u="sng" dirty="0"/>
              <a:t>Worked example</a:t>
            </a:r>
          </a:p>
          <a:p>
            <a:endParaRPr lang="en-GB" dirty="0"/>
          </a:p>
          <a:p>
            <a:endParaRPr lang="en-GB" dirty="0"/>
          </a:p>
        </p:txBody>
      </p:sp>
      <p:pic>
        <p:nvPicPr>
          <p:cNvPr id="7" name="Picture 6"/>
          <p:cNvPicPr>
            <a:picLocks noChangeAspect="1"/>
          </p:cNvPicPr>
          <p:nvPr/>
        </p:nvPicPr>
        <p:blipFill>
          <a:blip r:embed="rId3"/>
          <a:stretch>
            <a:fillRect/>
          </a:stretch>
        </p:blipFill>
        <p:spPr>
          <a:xfrm>
            <a:off x="1691680" y="2431019"/>
            <a:ext cx="5832648" cy="1141997"/>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2536455629"/>
              </p:ext>
            </p:extLst>
          </p:nvPr>
        </p:nvGraphicFramePr>
        <p:xfrm>
          <a:off x="179512" y="3573017"/>
          <a:ext cx="8640960" cy="2804160"/>
        </p:xfrm>
        <a:graphic>
          <a:graphicData uri="http://schemas.openxmlformats.org/drawingml/2006/table">
            <a:tbl>
              <a:tblPr firstRow="1" bandRow="1">
                <a:tableStyleId>{5C22544A-7EE6-4342-B048-85BDC9FD1C3A}</a:tableStyleId>
              </a:tblPr>
              <a:tblGrid>
                <a:gridCol w="4320480">
                  <a:extLst>
                    <a:ext uri="{9D8B030D-6E8A-4147-A177-3AD203B41FA5}">
                      <a16:colId xmlns:a16="http://schemas.microsoft.com/office/drawing/2014/main" xmlns="" val="20000"/>
                    </a:ext>
                  </a:extLst>
                </a:gridCol>
                <a:gridCol w="4320480">
                  <a:extLst>
                    <a:ext uri="{9D8B030D-6E8A-4147-A177-3AD203B41FA5}">
                      <a16:colId xmlns:a16="http://schemas.microsoft.com/office/drawing/2014/main" xmlns="" val="20001"/>
                    </a:ext>
                  </a:extLst>
                </a:gridCol>
              </a:tblGrid>
              <a:tr h="446136">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1600" b="1" dirty="0">
                          <a:solidFill>
                            <a:schemeClr val="tx1"/>
                          </a:solidFill>
                        </a:rPr>
                        <a:t>For the reactants</a:t>
                      </a:r>
                    </a:p>
                    <a:p>
                      <a:pPr algn="ctr"/>
                      <a:endParaRPr lang="en-GB" sz="800" dirty="0"/>
                    </a:p>
                  </a:txBody>
                  <a:tcPr>
                    <a:lnB w="12700" cap="flat" cmpd="sng" algn="ctr">
                      <a:solidFill>
                        <a:schemeClr val="tx1"/>
                      </a:solidFill>
                      <a:prstDash val="solid"/>
                      <a:round/>
                      <a:headEnd type="none" w="med" len="med"/>
                      <a:tailEnd type="none" w="med" len="med"/>
                    </a:lnB>
                    <a:solidFill>
                      <a:schemeClr val="accent6"/>
                    </a:solidFill>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1600" b="1" dirty="0">
                          <a:solidFill>
                            <a:schemeClr val="tx1"/>
                          </a:solidFill>
                        </a:rPr>
                        <a:t>For the products</a:t>
                      </a:r>
                    </a:p>
                    <a:p>
                      <a:pPr algn="ctr"/>
                      <a:endParaRPr lang="en-GB" sz="800" dirty="0"/>
                    </a:p>
                  </a:txBody>
                  <a:tcPr>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xmlns="" val="10000"/>
                  </a:ext>
                </a:extLst>
              </a:tr>
              <a:tr h="684076">
                <a:tc>
                  <a:txBody>
                    <a:bodyPr/>
                    <a:lstStyle/>
                    <a:p>
                      <a:pPr algn="ctr"/>
                      <a:r>
                        <a:rPr lang="en-GB" sz="1600" b="1" dirty="0"/>
                        <a:t>There are four C-H bonds so </a:t>
                      </a:r>
                    </a:p>
                    <a:p>
                      <a:pPr marL="0" indent="0" algn="ctr">
                        <a:buNone/>
                      </a:pPr>
                      <a:r>
                        <a:rPr lang="en-GB" sz="1600" b="1" dirty="0"/>
                        <a:t>4 x 411kJ/</a:t>
                      </a:r>
                      <a:r>
                        <a:rPr lang="en-GB" sz="1600" b="1" dirty="0" err="1"/>
                        <a:t>mol</a:t>
                      </a:r>
                      <a:r>
                        <a:rPr lang="en-GB" sz="1600" b="1" dirty="0"/>
                        <a:t> = 1,644kJ/</a:t>
                      </a:r>
                      <a:r>
                        <a:rPr lang="en-GB" sz="1600" b="1" dirty="0" err="1"/>
                        <a:t>mol</a:t>
                      </a:r>
                      <a:endParaRPr lang="en-GB" sz="1600" b="1" dirty="0"/>
                    </a:p>
                    <a:p>
                      <a:pPr algn="ctr"/>
                      <a:endParaRPr lang="en-GB"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GB" sz="1600" b="1" dirty="0"/>
                        <a:t>There are two C=O bonds so </a:t>
                      </a:r>
                    </a:p>
                    <a:p>
                      <a:pPr marL="0" indent="0" algn="ctr">
                        <a:buNone/>
                      </a:pPr>
                      <a:r>
                        <a:rPr lang="en-GB" sz="1600" b="1" dirty="0"/>
                        <a:t>2 x 799kJ/</a:t>
                      </a:r>
                      <a:r>
                        <a:rPr lang="en-GB" sz="1600" b="1" dirty="0" err="1"/>
                        <a:t>mol</a:t>
                      </a:r>
                      <a:r>
                        <a:rPr lang="en-GB" sz="1600" b="1" dirty="0"/>
                        <a:t> = 1,598kJ/</a:t>
                      </a:r>
                      <a:r>
                        <a:rPr lang="en-GB" sz="1600" b="1" dirty="0" err="1"/>
                        <a:t>mol</a:t>
                      </a:r>
                      <a:endParaRPr lang="en-GB" sz="1600" b="1" dirty="0"/>
                    </a:p>
                    <a:p>
                      <a:pPr algn="ctr"/>
                      <a:endParaRPr lang="en-GB"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1"/>
                  </a:ext>
                </a:extLst>
              </a:tr>
              <a:tr h="684076">
                <a:tc>
                  <a:txBody>
                    <a:bodyPr/>
                    <a:lstStyle/>
                    <a:p>
                      <a:pPr algn="ctr"/>
                      <a:r>
                        <a:rPr lang="en-GB" sz="1600" b="1" dirty="0"/>
                        <a:t>There are two O=O bonds so </a:t>
                      </a:r>
                    </a:p>
                    <a:p>
                      <a:pPr marL="0" indent="0" algn="ctr">
                        <a:buNone/>
                      </a:pPr>
                      <a:r>
                        <a:rPr lang="en-GB" sz="1600" b="1" dirty="0"/>
                        <a:t>2 x  494kJ/</a:t>
                      </a:r>
                      <a:r>
                        <a:rPr lang="en-GB" sz="1600" b="1" dirty="0" err="1"/>
                        <a:t>mol</a:t>
                      </a:r>
                      <a:r>
                        <a:rPr lang="en-GB" sz="1600" b="1" dirty="0"/>
                        <a:t> = 988kJ/</a:t>
                      </a:r>
                      <a:r>
                        <a:rPr lang="en-GB" sz="1600" b="1" dirty="0" err="1"/>
                        <a:t>mol</a:t>
                      </a:r>
                      <a:endParaRPr lang="en-GB"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GB" sz="1600" b="1" dirty="0"/>
                        <a:t>There are four O-H bonds so</a:t>
                      </a:r>
                    </a:p>
                    <a:p>
                      <a:pPr marL="0" indent="0" algn="ctr">
                        <a:buNone/>
                      </a:pPr>
                      <a:r>
                        <a:rPr lang="en-GB" sz="1600" b="1" dirty="0"/>
                        <a:t>4 x 459kJ/</a:t>
                      </a:r>
                      <a:r>
                        <a:rPr lang="en-GB" sz="1600" b="1" dirty="0" err="1"/>
                        <a:t>mol</a:t>
                      </a:r>
                      <a:r>
                        <a:rPr lang="en-GB" sz="1600" b="1" dirty="0"/>
                        <a:t> = 1,836kJ/</a:t>
                      </a:r>
                      <a:r>
                        <a:rPr lang="en-GB" sz="1600" b="1" dirty="0" err="1"/>
                        <a:t>mol</a:t>
                      </a:r>
                      <a:endParaRPr lang="en-GB" sz="1600" b="1" dirty="0"/>
                    </a:p>
                    <a:p>
                      <a:pPr algn="ctr"/>
                      <a:endParaRPr lang="en-GB"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2"/>
                  </a:ext>
                </a:extLst>
              </a:tr>
              <a:tr h="922015">
                <a:tc>
                  <a:txBody>
                    <a:bodyPr/>
                    <a:lstStyle/>
                    <a:p>
                      <a:pPr algn="ctr"/>
                      <a:r>
                        <a:rPr lang="en-GB" sz="1600" b="1" dirty="0"/>
                        <a:t>The sum of these is </a:t>
                      </a:r>
                    </a:p>
                    <a:p>
                      <a:pPr algn="ctr"/>
                      <a:r>
                        <a:rPr lang="en-GB" sz="1600" b="1" dirty="0"/>
                        <a:t> the energy supplied to break the bonds in the reactants it is 1,644 + 988 = </a:t>
                      </a:r>
                      <a:r>
                        <a:rPr lang="en-GB" sz="1600" b="1" dirty="0">
                          <a:solidFill>
                            <a:schemeClr val="tx1"/>
                          </a:solidFill>
                        </a:rPr>
                        <a:t>2,632kJ/</a:t>
                      </a:r>
                      <a:r>
                        <a:rPr lang="en-GB" sz="1600" b="1" dirty="0" err="1">
                          <a:solidFill>
                            <a:schemeClr val="tx1"/>
                          </a:solidFill>
                        </a:rPr>
                        <a:t>mol</a:t>
                      </a:r>
                      <a:r>
                        <a:rPr lang="en-GB" sz="1600" b="1"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GB" sz="1600" b="1" dirty="0"/>
                        <a:t>The sum of these is</a:t>
                      </a:r>
                    </a:p>
                    <a:p>
                      <a:pPr marL="0" indent="0" algn="ctr">
                        <a:buNone/>
                      </a:pPr>
                      <a:r>
                        <a:rPr lang="en-GB" sz="1600" b="1" dirty="0"/>
                        <a:t> the energy released when bonds in the products are formed  it is 1,598 + 1,836 = </a:t>
                      </a:r>
                      <a:r>
                        <a:rPr lang="en-GB" sz="1600" b="1" dirty="0">
                          <a:solidFill>
                            <a:schemeClr val="tx1"/>
                          </a:solidFill>
                        </a:rPr>
                        <a:t>3,434kJ/</a:t>
                      </a:r>
                      <a:r>
                        <a:rPr lang="en-GB" sz="1600" b="1" dirty="0" err="1">
                          <a:solidFill>
                            <a:schemeClr val="tx1"/>
                          </a:solidFill>
                        </a:rPr>
                        <a:t>mol</a:t>
                      </a:r>
                      <a:r>
                        <a:rPr lang="en-GB" sz="1600" b="1" dirty="0">
                          <a:solidFill>
                            <a:schemeClr val="tx1"/>
                          </a:solidFill>
                        </a:rPr>
                        <a:t> </a:t>
                      </a:r>
                    </a:p>
                    <a:p>
                      <a:pPr algn="ctr"/>
                      <a:endParaRPr lang="en-GB"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134215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The energy change of reactions (HT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79512" y="836712"/>
            <a:ext cx="8568952" cy="4955203"/>
          </a:xfrm>
          <a:custGeom>
            <a:avLst/>
            <a:gdLst>
              <a:gd name="connsiteX0" fmla="*/ 0 w 8568952"/>
              <a:gd name="connsiteY0" fmla="*/ 0 h 3970318"/>
              <a:gd name="connsiteX1" fmla="*/ 8568952 w 8568952"/>
              <a:gd name="connsiteY1" fmla="*/ 0 h 3970318"/>
              <a:gd name="connsiteX2" fmla="*/ 8568952 w 8568952"/>
              <a:gd name="connsiteY2" fmla="*/ 3970318 h 3970318"/>
              <a:gd name="connsiteX3" fmla="*/ 0 w 8568952"/>
              <a:gd name="connsiteY3" fmla="*/ 3970318 h 3970318"/>
              <a:gd name="connsiteX4" fmla="*/ 0 w 8568952"/>
              <a:gd name="connsiteY4" fmla="*/ 0 h 3970318"/>
              <a:gd name="connsiteX0" fmla="*/ 0 w 8568952"/>
              <a:gd name="connsiteY0" fmla="*/ 0 h 3970318"/>
              <a:gd name="connsiteX1" fmla="*/ 8568952 w 8568952"/>
              <a:gd name="connsiteY1" fmla="*/ 0 h 3970318"/>
              <a:gd name="connsiteX2" fmla="*/ 8568952 w 8568952"/>
              <a:gd name="connsiteY2" fmla="*/ 3970318 h 3970318"/>
              <a:gd name="connsiteX3" fmla="*/ 0 w 8568952"/>
              <a:gd name="connsiteY3" fmla="*/ 3443376 h 3970318"/>
              <a:gd name="connsiteX4" fmla="*/ 0 w 8568952"/>
              <a:gd name="connsiteY4" fmla="*/ 0 h 3970318"/>
              <a:gd name="connsiteX0" fmla="*/ 0 w 8568952"/>
              <a:gd name="connsiteY0" fmla="*/ 0 h 3443376"/>
              <a:gd name="connsiteX1" fmla="*/ 8568952 w 8568952"/>
              <a:gd name="connsiteY1" fmla="*/ 0 h 3443376"/>
              <a:gd name="connsiteX2" fmla="*/ 8553454 w 8568952"/>
              <a:gd name="connsiteY2" fmla="*/ 3381382 h 3443376"/>
              <a:gd name="connsiteX3" fmla="*/ 0 w 8568952"/>
              <a:gd name="connsiteY3" fmla="*/ 3443376 h 3443376"/>
              <a:gd name="connsiteX4" fmla="*/ 0 w 8568952"/>
              <a:gd name="connsiteY4" fmla="*/ 0 h 3443376"/>
              <a:gd name="connsiteX0" fmla="*/ 0 w 8568952"/>
              <a:gd name="connsiteY0" fmla="*/ 0 h 3474372"/>
              <a:gd name="connsiteX1" fmla="*/ 8568952 w 8568952"/>
              <a:gd name="connsiteY1" fmla="*/ 0 h 3474372"/>
              <a:gd name="connsiteX2" fmla="*/ 8553454 w 8568952"/>
              <a:gd name="connsiteY2" fmla="*/ 3474372 h 3474372"/>
              <a:gd name="connsiteX3" fmla="*/ 0 w 8568952"/>
              <a:gd name="connsiteY3" fmla="*/ 3443376 h 3474372"/>
              <a:gd name="connsiteX4" fmla="*/ 0 w 8568952"/>
              <a:gd name="connsiteY4" fmla="*/ 0 h 3474372"/>
              <a:gd name="connsiteX0" fmla="*/ 0 w 8568952"/>
              <a:gd name="connsiteY0" fmla="*/ 0 h 3458874"/>
              <a:gd name="connsiteX1" fmla="*/ 8568952 w 8568952"/>
              <a:gd name="connsiteY1" fmla="*/ 0 h 3458874"/>
              <a:gd name="connsiteX2" fmla="*/ 8553454 w 8568952"/>
              <a:gd name="connsiteY2" fmla="*/ 3458874 h 3458874"/>
              <a:gd name="connsiteX3" fmla="*/ 0 w 8568952"/>
              <a:gd name="connsiteY3" fmla="*/ 3443376 h 3458874"/>
              <a:gd name="connsiteX4" fmla="*/ 0 w 8568952"/>
              <a:gd name="connsiteY4" fmla="*/ 0 h 3458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8952" h="3458874">
                <a:moveTo>
                  <a:pt x="0" y="0"/>
                </a:moveTo>
                <a:lnTo>
                  <a:pt x="8568952" y="0"/>
                </a:lnTo>
                <a:lnTo>
                  <a:pt x="8553454" y="3458874"/>
                </a:lnTo>
                <a:lnTo>
                  <a:pt x="0" y="3443376"/>
                </a:lnTo>
                <a:lnTo>
                  <a:pt x="0" y="0"/>
                </a:lnTo>
                <a:close/>
              </a:path>
            </a:pathLst>
          </a:custGeom>
          <a:noFill/>
        </p:spPr>
        <p:txBody>
          <a:bodyPr wrap="square" rtlCol="0">
            <a:spAutoFit/>
          </a:bodyPr>
          <a:lstStyle/>
          <a:p>
            <a:r>
              <a:rPr lang="en-GB" sz="2100" b="1" dirty="0"/>
              <a:t>We already know that the </a:t>
            </a:r>
            <a:r>
              <a:rPr lang="en-GB" sz="2100" b="1" dirty="0">
                <a:solidFill>
                  <a:schemeClr val="accent6"/>
                </a:solidFill>
              </a:rPr>
              <a:t>difference</a:t>
            </a:r>
            <a:r>
              <a:rPr lang="en-GB" sz="2100" b="1" dirty="0"/>
              <a:t> between the sum of the energy needed to break bonds in the reactants and the sum of the energy released when bonds in the products are formed is the </a:t>
            </a:r>
            <a:r>
              <a:rPr lang="en-GB" sz="2100" b="1" dirty="0">
                <a:solidFill>
                  <a:schemeClr val="accent6"/>
                </a:solidFill>
              </a:rPr>
              <a:t>overall energy change</a:t>
            </a:r>
            <a:r>
              <a:rPr lang="en-GB" sz="2100" b="1" dirty="0"/>
              <a:t> of the reaction.</a:t>
            </a:r>
          </a:p>
          <a:p>
            <a:endParaRPr lang="en-GB" sz="800" b="1" dirty="0"/>
          </a:p>
          <a:p>
            <a:r>
              <a:rPr lang="en-GB" sz="2100" b="1" dirty="0"/>
              <a:t>This means that</a:t>
            </a:r>
          </a:p>
          <a:p>
            <a:endParaRPr lang="en-GB" sz="800" b="1" dirty="0"/>
          </a:p>
          <a:p>
            <a:r>
              <a:rPr lang="en-GB" sz="2100" b="1" dirty="0"/>
              <a:t>Overall energy change   =      energy needed to     –       energy released as 		                                      break the bonds	          bonds are made</a:t>
            </a:r>
          </a:p>
          <a:p>
            <a:endParaRPr lang="en-GB" sz="1100" b="1" dirty="0"/>
          </a:p>
          <a:p>
            <a:r>
              <a:rPr lang="en-GB" sz="2100" b="1" dirty="0"/>
              <a:t>			 =        2,632kJ/</a:t>
            </a:r>
            <a:r>
              <a:rPr lang="en-GB" sz="2100" b="1" dirty="0" err="1"/>
              <a:t>mol</a:t>
            </a:r>
            <a:r>
              <a:rPr lang="en-GB" sz="2100" b="1" dirty="0"/>
              <a:t>             -            3,434kJ/</a:t>
            </a:r>
            <a:r>
              <a:rPr lang="en-GB" sz="2100" b="1" dirty="0" err="1"/>
              <a:t>mol</a:t>
            </a:r>
            <a:endParaRPr lang="en-GB" sz="2100" b="1" dirty="0"/>
          </a:p>
          <a:p>
            <a:endParaRPr lang="en-GB" sz="1100" b="1" dirty="0"/>
          </a:p>
          <a:p>
            <a:r>
              <a:rPr lang="en-GB" sz="2100" b="1" dirty="0"/>
              <a:t>Overall energy change   =      - 802kJ/</a:t>
            </a:r>
            <a:r>
              <a:rPr lang="en-GB" sz="2100" b="1" dirty="0" err="1"/>
              <a:t>mol</a:t>
            </a:r>
            <a:endParaRPr lang="en-GB" sz="2100" b="1" dirty="0"/>
          </a:p>
          <a:p>
            <a:endParaRPr lang="en-GB" sz="1100" b="1" dirty="0"/>
          </a:p>
          <a:p>
            <a:r>
              <a:rPr lang="en-GB" sz="2100" b="1" dirty="0"/>
              <a:t>This is an </a:t>
            </a:r>
            <a:r>
              <a:rPr lang="en-GB" sz="2100" b="1" dirty="0">
                <a:solidFill>
                  <a:schemeClr val="accent6"/>
                </a:solidFill>
              </a:rPr>
              <a:t>exothermic</a:t>
            </a:r>
            <a:r>
              <a:rPr lang="en-GB" sz="2100" b="1" dirty="0"/>
              <a:t> reaction, so the sum of the difference between the calculations is </a:t>
            </a:r>
            <a:r>
              <a:rPr lang="en-GB" sz="2100" b="1" dirty="0">
                <a:solidFill>
                  <a:schemeClr val="accent6"/>
                </a:solidFill>
              </a:rPr>
              <a:t>negative.</a:t>
            </a:r>
            <a:r>
              <a:rPr lang="en-GB" sz="2100" b="1" dirty="0"/>
              <a:t> For an </a:t>
            </a:r>
            <a:r>
              <a:rPr lang="en-GB" sz="2100" b="1" dirty="0">
                <a:solidFill>
                  <a:schemeClr val="accent6"/>
                </a:solidFill>
              </a:rPr>
              <a:t>endothermic</a:t>
            </a:r>
            <a:r>
              <a:rPr lang="en-GB" sz="2100" b="1" dirty="0"/>
              <a:t> reaction it would be </a:t>
            </a:r>
            <a:r>
              <a:rPr lang="en-GB" sz="2100" b="1" dirty="0">
                <a:solidFill>
                  <a:schemeClr val="accent6"/>
                </a:solidFill>
              </a:rPr>
              <a:t>positive</a:t>
            </a:r>
            <a:r>
              <a:rPr lang="en-GB" sz="2100" b="1" dirty="0"/>
              <a:t>.</a:t>
            </a:r>
          </a:p>
          <a:p>
            <a:endParaRPr lang="en-GB" b="1" dirty="0"/>
          </a:p>
          <a:p>
            <a:r>
              <a:rPr lang="en-GB" b="1" dirty="0"/>
              <a:t>  </a:t>
            </a:r>
          </a:p>
        </p:txBody>
      </p:sp>
      <p:sp>
        <p:nvSpPr>
          <p:cNvPr id="9" name="TextBox 8"/>
          <p:cNvSpPr txBox="1"/>
          <p:nvPr/>
        </p:nvSpPr>
        <p:spPr>
          <a:xfrm>
            <a:off x="179512" y="5386624"/>
            <a:ext cx="8568952" cy="738664"/>
          </a:xfrm>
          <a:custGeom>
            <a:avLst/>
            <a:gdLst>
              <a:gd name="connsiteX0" fmla="*/ 0 w 8568952"/>
              <a:gd name="connsiteY0" fmla="*/ 0 h 646331"/>
              <a:gd name="connsiteX1" fmla="*/ 8568952 w 8568952"/>
              <a:gd name="connsiteY1" fmla="*/ 0 h 646331"/>
              <a:gd name="connsiteX2" fmla="*/ 8568952 w 8568952"/>
              <a:gd name="connsiteY2" fmla="*/ 646331 h 646331"/>
              <a:gd name="connsiteX3" fmla="*/ 0 w 8568952"/>
              <a:gd name="connsiteY3" fmla="*/ 646331 h 646331"/>
              <a:gd name="connsiteX4" fmla="*/ 0 w 8568952"/>
              <a:gd name="connsiteY4" fmla="*/ 0 h 646331"/>
              <a:gd name="connsiteX0" fmla="*/ 0 w 8568952"/>
              <a:gd name="connsiteY0" fmla="*/ 92990 h 646331"/>
              <a:gd name="connsiteX1" fmla="*/ 8568952 w 8568952"/>
              <a:gd name="connsiteY1" fmla="*/ 0 h 646331"/>
              <a:gd name="connsiteX2" fmla="*/ 8568952 w 8568952"/>
              <a:gd name="connsiteY2" fmla="*/ 646331 h 646331"/>
              <a:gd name="connsiteX3" fmla="*/ 0 w 8568952"/>
              <a:gd name="connsiteY3" fmla="*/ 646331 h 646331"/>
              <a:gd name="connsiteX4" fmla="*/ 0 w 8568952"/>
              <a:gd name="connsiteY4" fmla="*/ 92990 h 646331"/>
              <a:gd name="connsiteX0" fmla="*/ 0 w 8568952"/>
              <a:gd name="connsiteY0" fmla="*/ 1 h 553342"/>
              <a:gd name="connsiteX1" fmla="*/ 8568952 w 8568952"/>
              <a:gd name="connsiteY1" fmla="*/ 0 h 553342"/>
              <a:gd name="connsiteX2" fmla="*/ 8568952 w 8568952"/>
              <a:gd name="connsiteY2" fmla="*/ 553342 h 553342"/>
              <a:gd name="connsiteX3" fmla="*/ 0 w 8568952"/>
              <a:gd name="connsiteY3" fmla="*/ 553342 h 553342"/>
              <a:gd name="connsiteX4" fmla="*/ 0 w 8568952"/>
              <a:gd name="connsiteY4" fmla="*/ 1 h 553342"/>
              <a:gd name="connsiteX0" fmla="*/ 0 w 8568952"/>
              <a:gd name="connsiteY0" fmla="*/ 1 h 630833"/>
              <a:gd name="connsiteX1" fmla="*/ 8568952 w 8568952"/>
              <a:gd name="connsiteY1" fmla="*/ 0 h 630833"/>
              <a:gd name="connsiteX2" fmla="*/ 8568952 w 8568952"/>
              <a:gd name="connsiteY2" fmla="*/ 553342 h 630833"/>
              <a:gd name="connsiteX3" fmla="*/ 15499 w 8568952"/>
              <a:gd name="connsiteY3" fmla="*/ 630833 h 630833"/>
              <a:gd name="connsiteX4" fmla="*/ 0 w 8568952"/>
              <a:gd name="connsiteY4" fmla="*/ 1 h 630833"/>
              <a:gd name="connsiteX0" fmla="*/ 0 w 8568952"/>
              <a:gd name="connsiteY0" fmla="*/ 1 h 630833"/>
              <a:gd name="connsiteX1" fmla="*/ 8568952 w 8568952"/>
              <a:gd name="connsiteY1" fmla="*/ 0 h 630833"/>
              <a:gd name="connsiteX2" fmla="*/ 8568952 w 8568952"/>
              <a:gd name="connsiteY2" fmla="*/ 615336 h 630833"/>
              <a:gd name="connsiteX3" fmla="*/ 15499 w 8568952"/>
              <a:gd name="connsiteY3" fmla="*/ 630833 h 630833"/>
              <a:gd name="connsiteX4" fmla="*/ 0 w 8568952"/>
              <a:gd name="connsiteY4" fmla="*/ 1 h 630833"/>
              <a:gd name="connsiteX0" fmla="*/ 0 w 8568952"/>
              <a:gd name="connsiteY0" fmla="*/ 1 h 630834"/>
              <a:gd name="connsiteX1" fmla="*/ 8568952 w 8568952"/>
              <a:gd name="connsiteY1" fmla="*/ 0 h 630834"/>
              <a:gd name="connsiteX2" fmla="*/ 8568952 w 8568952"/>
              <a:gd name="connsiteY2" fmla="*/ 630834 h 630834"/>
              <a:gd name="connsiteX3" fmla="*/ 15499 w 8568952"/>
              <a:gd name="connsiteY3" fmla="*/ 630833 h 630834"/>
              <a:gd name="connsiteX4" fmla="*/ 0 w 8568952"/>
              <a:gd name="connsiteY4" fmla="*/ 1 h 630834"/>
              <a:gd name="connsiteX0" fmla="*/ 0 w 8568952"/>
              <a:gd name="connsiteY0" fmla="*/ 1 h 630834"/>
              <a:gd name="connsiteX1" fmla="*/ 8568952 w 8568952"/>
              <a:gd name="connsiteY1" fmla="*/ 0 h 630834"/>
              <a:gd name="connsiteX2" fmla="*/ 8568952 w 8568952"/>
              <a:gd name="connsiteY2" fmla="*/ 630834 h 630834"/>
              <a:gd name="connsiteX3" fmla="*/ 0 w 8568952"/>
              <a:gd name="connsiteY3" fmla="*/ 630833 h 630834"/>
              <a:gd name="connsiteX4" fmla="*/ 0 w 8568952"/>
              <a:gd name="connsiteY4" fmla="*/ 1 h 630834"/>
              <a:gd name="connsiteX0" fmla="*/ 12879 w 8568952"/>
              <a:gd name="connsiteY0" fmla="*/ 0 h 1021053"/>
              <a:gd name="connsiteX1" fmla="*/ 8568952 w 8568952"/>
              <a:gd name="connsiteY1" fmla="*/ 390219 h 1021053"/>
              <a:gd name="connsiteX2" fmla="*/ 8568952 w 8568952"/>
              <a:gd name="connsiteY2" fmla="*/ 1021053 h 1021053"/>
              <a:gd name="connsiteX3" fmla="*/ 0 w 8568952"/>
              <a:gd name="connsiteY3" fmla="*/ 1021052 h 1021053"/>
              <a:gd name="connsiteX4" fmla="*/ 12879 w 8568952"/>
              <a:gd name="connsiteY4" fmla="*/ 0 h 1021053"/>
              <a:gd name="connsiteX0" fmla="*/ 12879 w 8568952"/>
              <a:gd name="connsiteY0" fmla="*/ 0 h 1021053"/>
              <a:gd name="connsiteX1" fmla="*/ 8556073 w 8568952"/>
              <a:gd name="connsiteY1" fmla="*/ 0 h 1021053"/>
              <a:gd name="connsiteX2" fmla="*/ 8568952 w 8568952"/>
              <a:gd name="connsiteY2" fmla="*/ 1021053 h 1021053"/>
              <a:gd name="connsiteX3" fmla="*/ 0 w 8568952"/>
              <a:gd name="connsiteY3" fmla="*/ 1021052 h 1021053"/>
              <a:gd name="connsiteX4" fmla="*/ 12879 w 8568952"/>
              <a:gd name="connsiteY4" fmla="*/ 0 h 1021053"/>
              <a:gd name="connsiteX0" fmla="*/ 12879 w 8568952"/>
              <a:gd name="connsiteY0" fmla="*/ 0 h 1021053"/>
              <a:gd name="connsiteX1" fmla="*/ 8556073 w 8568952"/>
              <a:gd name="connsiteY1" fmla="*/ 0 h 1021053"/>
              <a:gd name="connsiteX2" fmla="*/ 8568952 w 8568952"/>
              <a:gd name="connsiteY2" fmla="*/ 1021053 h 1021053"/>
              <a:gd name="connsiteX3" fmla="*/ 0 w 8568952"/>
              <a:gd name="connsiteY3" fmla="*/ 1021052 h 1021053"/>
              <a:gd name="connsiteX4" fmla="*/ 12879 w 8568952"/>
              <a:gd name="connsiteY4" fmla="*/ 0 h 1021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8952" h="1021053">
                <a:moveTo>
                  <a:pt x="12879" y="0"/>
                </a:moveTo>
                <a:lnTo>
                  <a:pt x="8556073" y="0"/>
                </a:lnTo>
                <a:lnTo>
                  <a:pt x="8568952" y="1021053"/>
                </a:lnTo>
                <a:lnTo>
                  <a:pt x="0" y="1021052"/>
                </a:lnTo>
                <a:lnTo>
                  <a:pt x="12879" y="0"/>
                </a:lnTo>
                <a:close/>
              </a:path>
            </a:pathLst>
          </a:custGeom>
          <a:solidFill>
            <a:schemeClr val="accent6"/>
          </a:solidFill>
          <a:ln w="28575">
            <a:solidFill>
              <a:schemeClr val="tx1"/>
            </a:solidFill>
          </a:ln>
        </p:spPr>
        <p:txBody>
          <a:bodyPr wrap="square" rtlCol="0">
            <a:spAutoFit/>
          </a:bodyPr>
          <a:lstStyle/>
          <a:p>
            <a:r>
              <a:rPr lang="en-GB" sz="2100" b="1" dirty="0"/>
              <a:t>Students should be able to calculate the energy transferred in chemical reactions using bond energies supplied.</a:t>
            </a:r>
          </a:p>
        </p:txBody>
      </p:sp>
    </p:spTree>
    <p:extLst>
      <p:ext uri="{BB962C8B-B14F-4D97-AF65-F5344CB8AC3E}">
        <p14:creationId xmlns:p14="http://schemas.microsoft.com/office/powerpoint/2010/main" val="712463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The energy change of reactions (HT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5" name="TextBox 4"/>
          <p:cNvSpPr txBox="1"/>
          <p:nvPr/>
        </p:nvSpPr>
        <p:spPr>
          <a:xfrm>
            <a:off x="205269" y="1436476"/>
            <a:ext cx="4209835" cy="1472308"/>
          </a:xfrm>
          <a:custGeom>
            <a:avLst/>
            <a:gdLst>
              <a:gd name="connsiteX0" fmla="*/ 0 w 6552728"/>
              <a:gd name="connsiteY0" fmla="*/ 0 h 646331"/>
              <a:gd name="connsiteX1" fmla="*/ 6552728 w 6552728"/>
              <a:gd name="connsiteY1" fmla="*/ 0 h 646331"/>
              <a:gd name="connsiteX2" fmla="*/ 6552728 w 6552728"/>
              <a:gd name="connsiteY2" fmla="*/ 646331 h 646331"/>
              <a:gd name="connsiteX3" fmla="*/ 0 w 6552728"/>
              <a:gd name="connsiteY3" fmla="*/ 646331 h 646331"/>
              <a:gd name="connsiteX4" fmla="*/ 0 w 6552728"/>
              <a:gd name="connsiteY4" fmla="*/ 0 h 646331"/>
              <a:gd name="connsiteX0" fmla="*/ 25758 w 6552728"/>
              <a:gd name="connsiteY0" fmla="*/ 0 h 3505441"/>
              <a:gd name="connsiteX1" fmla="*/ 6552728 w 6552728"/>
              <a:gd name="connsiteY1" fmla="*/ 2859110 h 3505441"/>
              <a:gd name="connsiteX2" fmla="*/ 6552728 w 6552728"/>
              <a:gd name="connsiteY2" fmla="*/ 3505441 h 3505441"/>
              <a:gd name="connsiteX3" fmla="*/ 0 w 6552728"/>
              <a:gd name="connsiteY3" fmla="*/ 3505441 h 3505441"/>
              <a:gd name="connsiteX4" fmla="*/ 25758 w 6552728"/>
              <a:gd name="connsiteY4" fmla="*/ 0 h 3505441"/>
              <a:gd name="connsiteX0" fmla="*/ 25758 w 6552728"/>
              <a:gd name="connsiteY0" fmla="*/ 0 h 3505441"/>
              <a:gd name="connsiteX1" fmla="*/ 4170136 w 6552728"/>
              <a:gd name="connsiteY1" fmla="*/ 0 h 3505441"/>
              <a:gd name="connsiteX2" fmla="*/ 6552728 w 6552728"/>
              <a:gd name="connsiteY2" fmla="*/ 3505441 h 3505441"/>
              <a:gd name="connsiteX3" fmla="*/ 0 w 6552728"/>
              <a:gd name="connsiteY3" fmla="*/ 3505441 h 3505441"/>
              <a:gd name="connsiteX4" fmla="*/ 25758 w 6552728"/>
              <a:gd name="connsiteY4" fmla="*/ 0 h 3505441"/>
              <a:gd name="connsiteX0" fmla="*/ 25758 w 4183015"/>
              <a:gd name="connsiteY0" fmla="*/ 0 h 3518319"/>
              <a:gd name="connsiteX1" fmla="*/ 4170136 w 4183015"/>
              <a:gd name="connsiteY1" fmla="*/ 0 h 3518319"/>
              <a:gd name="connsiteX2" fmla="*/ 4183015 w 4183015"/>
              <a:gd name="connsiteY2" fmla="*/ 3518319 h 3518319"/>
              <a:gd name="connsiteX3" fmla="*/ 0 w 4183015"/>
              <a:gd name="connsiteY3" fmla="*/ 3505441 h 3518319"/>
              <a:gd name="connsiteX4" fmla="*/ 25758 w 4183015"/>
              <a:gd name="connsiteY4" fmla="*/ 0 h 3518319"/>
              <a:gd name="connsiteX0" fmla="*/ 25758 w 4183015"/>
              <a:gd name="connsiteY0" fmla="*/ 0 h 3505441"/>
              <a:gd name="connsiteX1" fmla="*/ 4170136 w 4183015"/>
              <a:gd name="connsiteY1" fmla="*/ 0 h 3505441"/>
              <a:gd name="connsiteX2" fmla="*/ 4183015 w 4183015"/>
              <a:gd name="connsiteY2" fmla="*/ 2063007 h 3505441"/>
              <a:gd name="connsiteX3" fmla="*/ 0 w 4183015"/>
              <a:gd name="connsiteY3" fmla="*/ 3505441 h 3505441"/>
              <a:gd name="connsiteX4" fmla="*/ 25758 w 4183015"/>
              <a:gd name="connsiteY4" fmla="*/ 0 h 3505441"/>
              <a:gd name="connsiteX0" fmla="*/ 12879 w 4170136"/>
              <a:gd name="connsiteY0" fmla="*/ 0 h 2063007"/>
              <a:gd name="connsiteX1" fmla="*/ 4157257 w 4170136"/>
              <a:gd name="connsiteY1" fmla="*/ 0 h 2063007"/>
              <a:gd name="connsiteX2" fmla="*/ 4170136 w 4170136"/>
              <a:gd name="connsiteY2" fmla="*/ 2063007 h 2063007"/>
              <a:gd name="connsiteX3" fmla="*/ 0 w 4170136"/>
              <a:gd name="connsiteY3" fmla="*/ 2024370 h 2063007"/>
              <a:gd name="connsiteX4" fmla="*/ 12879 w 4170136"/>
              <a:gd name="connsiteY4" fmla="*/ 0 h 2063007"/>
              <a:gd name="connsiteX0" fmla="*/ 12879 w 4157456"/>
              <a:gd name="connsiteY0" fmla="*/ 0 h 2099742"/>
              <a:gd name="connsiteX1" fmla="*/ 4157257 w 4157456"/>
              <a:gd name="connsiteY1" fmla="*/ 0 h 2099742"/>
              <a:gd name="connsiteX2" fmla="*/ 4157456 w 4157456"/>
              <a:gd name="connsiteY2" fmla="*/ 2099742 h 2099742"/>
              <a:gd name="connsiteX3" fmla="*/ 0 w 4157456"/>
              <a:gd name="connsiteY3" fmla="*/ 2024370 h 2099742"/>
              <a:gd name="connsiteX4" fmla="*/ 12879 w 4157456"/>
              <a:gd name="connsiteY4" fmla="*/ 0 h 2099742"/>
              <a:gd name="connsiteX0" fmla="*/ 199 w 4144776"/>
              <a:gd name="connsiteY0" fmla="*/ 0 h 2099742"/>
              <a:gd name="connsiteX1" fmla="*/ 4144577 w 4144776"/>
              <a:gd name="connsiteY1" fmla="*/ 0 h 2099742"/>
              <a:gd name="connsiteX2" fmla="*/ 4144776 w 4144776"/>
              <a:gd name="connsiteY2" fmla="*/ 2099742 h 2099742"/>
              <a:gd name="connsiteX3" fmla="*/ 0 w 4144776"/>
              <a:gd name="connsiteY3" fmla="*/ 2097838 h 2099742"/>
              <a:gd name="connsiteX4" fmla="*/ 199 w 4144776"/>
              <a:gd name="connsiteY4" fmla="*/ 0 h 209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4776" h="2099742">
                <a:moveTo>
                  <a:pt x="199" y="0"/>
                </a:moveTo>
                <a:lnTo>
                  <a:pt x="4144577" y="0"/>
                </a:lnTo>
                <a:cubicBezTo>
                  <a:pt x="4144643" y="699914"/>
                  <a:pt x="4144710" y="1399828"/>
                  <a:pt x="4144776" y="2099742"/>
                </a:cubicBezTo>
                <a:lnTo>
                  <a:pt x="0" y="2097838"/>
                </a:lnTo>
                <a:cubicBezTo>
                  <a:pt x="66" y="1398559"/>
                  <a:pt x="133" y="699279"/>
                  <a:pt x="199" y="0"/>
                </a:cubicBezTo>
                <a:close/>
              </a:path>
            </a:pathLst>
          </a:custGeom>
          <a:noFill/>
          <a:ln w="28575">
            <a:solidFill>
              <a:schemeClr val="accent6"/>
            </a:solidFill>
          </a:ln>
        </p:spPr>
        <p:txBody>
          <a:bodyPr wrap="square" rtlCol="0">
            <a:spAutoFit/>
          </a:bodyPr>
          <a:lstStyle/>
          <a:p>
            <a:r>
              <a:rPr lang="en-GB" sz="2200" b="1" dirty="0"/>
              <a:t>In an </a:t>
            </a:r>
            <a:r>
              <a:rPr lang="en-GB" sz="2200" b="1" dirty="0">
                <a:solidFill>
                  <a:schemeClr val="accent6"/>
                </a:solidFill>
              </a:rPr>
              <a:t>exothermic</a:t>
            </a:r>
            <a:r>
              <a:rPr lang="en-GB" sz="2200" b="1" dirty="0"/>
              <a:t> reaction, the energy released from forming </a:t>
            </a:r>
            <a:r>
              <a:rPr lang="en-GB" sz="2200" b="1" dirty="0">
                <a:solidFill>
                  <a:schemeClr val="accent6"/>
                </a:solidFill>
              </a:rPr>
              <a:t>new bonds is greater</a:t>
            </a:r>
            <a:r>
              <a:rPr lang="en-GB" sz="2200" b="1" dirty="0"/>
              <a:t> than the energy needed to break existing bonds</a:t>
            </a:r>
          </a:p>
        </p:txBody>
      </p:sp>
      <p:sp>
        <p:nvSpPr>
          <p:cNvPr id="7" name="TextBox 6"/>
          <p:cNvSpPr txBox="1"/>
          <p:nvPr/>
        </p:nvSpPr>
        <p:spPr>
          <a:xfrm>
            <a:off x="4609846" y="1440460"/>
            <a:ext cx="4144378" cy="1459429"/>
          </a:xfrm>
          <a:custGeom>
            <a:avLst/>
            <a:gdLst>
              <a:gd name="connsiteX0" fmla="*/ 0 w 6552728"/>
              <a:gd name="connsiteY0" fmla="*/ 0 h 646331"/>
              <a:gd name="connsiteX1" fmla="*/ 6552728 w 6552728"/>
              <a:gd name="connsiteY1" fmla="*/ 0 h 646331"/>
              <a:gd name="connsiteX2" fmla="*/ 6552728 w 6552728"/>
              <a:gd name="connsiteY2" fmla="*/ 646331 h 646331"/>
              <a:gd name="connsiteX3" fmla="*/ 0 w 6552728"/>
              <a:gd name="connsiteY3" fmla="*/ 646331 h 646331"/>
              <a:gd name="connsiteX4" fmla="*/ 0 w 6552728"/>
              <a:gd name="connsiteY4" fmla="*/ 0 h 646331"/>
              <a:gd name="connsiteX0" fmla="*/ 0 w 8600469"/>
              <a:gd name="connsiteY0" fmla="*/ 3670479 h 4316810"/>
              <a:gd name="connsiteX1" fmla="*/ 8600469 w 8600469"/>
              <a:gd name="connsiteY1" fmla="*/ 0 h 4316810"/>
              <a:gd name="connsiteX2" fmla="*/ 6552728 w 8600469"/>
              <a:gd name="connsiteY2" fmla="*/ 4316810 h 4316810"/>
              <a:gd name="connsiteX3" fmla="*/ 0 w 8600469"/>
              <a:gd name="connsiteY3" fmla="*/ 4316810 h 4316810"/>
              <a:gd name="connsiteX4" fmla="*/ 0 w 8600469"/>
              <a:gd name="connsiteY4" fmla="*/ 3670479 h 4316810"/>
              <a:gd name="connsiteX0" fmla="*/ 4430333 w 8600469"/>
              <a:gd name="connsiteY0" fmla="*/ 51516 h 4316810"/>
              <a:gd name="connsiteX1" fmla="*/ 8600469 w 8600469"/>
              <a:gd name="connsiteY1" fmla="*/ 0 h 4316810"/>
              <a:gd name="connsiteX2" fmla="*/ 6552728 w 8600469"/>
              <a:gd name="connsiteY2" fmla="*/ 4316810 h 4316810"/>
              <a:gd name="connsiteX3" fmla="*/ 0 w 8600469"/>
              <a:gd name="connsiteY3" fmla="*/ 4316810 h 4316810"/>
              <a:gd name="connsiteX4" fmla="*/ 4430333 w 8600469"/>
              <a:gd name="connsiteY4" fmla="*/ 51516 h 4316810"/>
              <a:gd name="connsiteX0" fmla="*/ 0 w 4170136"/>
              <a:gd name="connsiteY0" fmla="*/ 51516 h 4316810"/>
              <a:gd name="connsiteX1" fmla="*/ 4170136 w 4170136"/>
              <a:gd name="connsiteY1" fmla="*/ 0 h 4316810"/>
              <a:gd name="connsiteX2" fmla="*/ 2122395 w 4170136"/>
              <a:gd name="connsiteY2" fmla="*/ 4316810 h 4316810"/>
              <a:gd name="connsiteX3" fmla="*/ 25757 w 4170136"/>
              <a:gd name="connsiteY3" fmla="*/ 1483457 h 4316810"/>
              <a:gd name="connsiteX4" fmla="*/ 0 w 4170136"/>
              <a:gd name="connsiteY4" fmla="*/ 51516 h 4316810"/>
              <a:gd name="connsiteX0" fmla="*/ 0 w 4170136"/>
              <a:gd name="connsiteY0" fmla="*/ 51516 h 1483457"/>
              <a:gd name="connsiteX1" fmla="*/ 4170136 w 4170136"/>
              <a:gd name="connsiteY1" fmla="*/ 0 h 1483457"/>
              <a:gd name="connsiteX2" fmla="*/ 4092862 w 4170136"/>
              <a:gd name="connsiteY2" fmla="*/ 1470579 h 1483457"/>
              <a:gd name="connsiteX3" fmla="*/ 25757 w 4170136"/>
              <a:gd name="connsiteY3" fmla="*/ 1483457 h 1483457"/>
              <a:gd name="connsiteX4" fmla="*/ 0 w 4170136"/>
              <a:gd name="connsiteY4" fmla="*/ 51516 h 1483457"/>
              <a:gd name="connsiteX0" fmla="*/ 0 w 4105741"/>
              <a:gd name="connsiteY0" fmla="*/ 0 h 1431941"/>
              <a:gd name="connsiteX1" fmla="*/ 4105741 w 4105741"/>
              <a:gd name="connsiteY1" fmla="*/ 77273 h 1431941"/>
              <a:gd name="connsiteX2" fmla="*/ 4092862 w 4105741"/>
              <a:gd name="connsiteY2" fmla="*/ 1419063 h 1431941"/>
              <a:gd name="connsiteX3" fmla="*/ 25757 w 4105741"/>
              <a:gd name="connsiteY3" fmla="*/ 1431941 h 1431941"/>
              <a:gd name="connsiteX4" fmla="*/ 0 w 4105741"/>
              <a:gd name="connsiteY4" fmla="*/ 0 h 1431941"/>
              <a:gd name="connsiteX0" fmla="*/ 0 w 4105741"/>
              <a:gd name="connsiteY0" fmla="*/ 0 h 1431941"/>
              <a:gd name="connsiteX1" fmla="*/ 4105741 w 4105741"/>
              <a:gd name="connsiteY1" fmla="*/ 12879 h 1431941"/>
              <a:gd name="connsiteX2" fmla="*/ 4092862 w 4105741"/>
              <a:gd name="connsiteY2" fmla="*/ 1419063 h 1431941"/>
              <a:gd name="connsiteX3" fmla="*/ 25757 w 4105741"/>
              <a:gd name="connsiteY3" fmla="*/ 1431941 h 1431941"/>
              <a:gd name="connsiteX4" fmla="*/ 0 w 4105741"/>
              <a:gd name="connsiteY4" fmla="*/ 0 h 1431941"/>
              <a:gd name="connsiteX0" fmla="*/ 0 w 4144378"/>
              <a:gd name="connsiteY0" fmla="*/ 0 h 1431941"/>
              <a:gd name="connsiteX1" fmla="*/ 4144378 w 4144378"/>
              <a:gd name="connsiteY1" fmla="*/ 12879 h 1431941"/>
              <a:gd name="connsiteX2" fmla="*/ 4092862 w 4144378"/>
              <a:gd name="connsiteY2" fmla="*/ 1419063 h 1431941"/>
              <a:gd name="connsiteX3" fmla="*/ 25757 w 4144378"/>
              <a:gd name="connsiteY3" fmla="*/ 1431941 h 1431941"/>
              <a:gd name="connsiteX4" fmla="*/ 0 w 4144378"/>
              <a:gd name="connsiteY4" fmla="*/ 0 h 1431941"/>
              <a:gd name="connsiteX0" fmla="*/ 0 w 4144378"/>
              <a:gd name="connsiteY0" fmla="*/ 0 h 1431941"/>
              <a:gd name="connsiteX1" fmla="*/ 4144378 w 4144378"/>
              <a:gd name="connsiteY1" fmla="*/ 12879 h 1431941"/>
              <a:gd name="connsiteX2" fmla="*/ 4131499 w 4144378"/>
              <a:gd name="connsiteY2" fmla="*/ 1419063 h 1431941"/>
              <a:gd name="connsiteX3" fmla="*/ 25757 w 4144378"/>
              <a:gd name="connsiteY3" fmla="*/ 1431941 h 1431941"/>
              <a:gd name="connsiteX4" fmla="*/ 0 w 4144378"/>
              <a:gd name="connsiteY4" fmla="*/ 0 h 1431941"/>
              <a:gd name="connsiteX0" fmla="*/ 0 w 4144378"/>
              <a:gd name="connsiteY0" fmla="*/ 0 h 1419063"/>
              <a:gd name="connsiteX1" fmla="*/ 4144378 w 4144378"/>
              <a:gd name="connsiteY1" fmla="*/ 12879 h 1419063"/>
              <a:gd name="connsiteX2" fmla="*/ 4131499 w 4144378"/>
              <a:gd name="connsiteY2" fmla="*/ 1419063 h 1419063"/>
              <a:gd name="connsiteX3" fmla="*/ 12879 w 4144378"/>
              <a:gd name="connsiteY3" fmla="*/ 1419062 h 1419063"/>
              <a:gd name="connsiteX4" fmla="*/ 0 w 4144378"/>
              <a:gd name="connsiteY4" fmla="*/ 0 h 1419063"/>
              <a:gd name="connsiteX0" fmla="*/ 0 w 4144378"/>
              <a:gd name="connsiteY0" fmla="*/ 0 h 1419063"/>
              <a:gd name="connsiteX1" fmla="*/ 4144378 w 4144378"/>
              <a:gd name="connsiteY1" fmla="*/ 0 h 1419063"/>
              <a:gd name="connsiteX2" fmla="*/ 4131499 w 4144378"/>
              <a:gd name="connsiteY2" fmla="*/ 1419063 h 1419063"/>
              <a:gd name="connsiteX3" fmla="*/ 12879 w 4144378"/>
              <a:gd name="connsiteY3" fmla="*/ 1419062 h 1419063"/>
              <a:gd name="connsiteX4" fmla="*/ 0 w 4144378"/>
              <a:gd name="connsiteY4" fmla="*/ 0 h 1419063"/>
              <a:gd name="connsiteX0" fmla="*/ 0 w 4144378"/>
              <a:gd name="connsiteY0" fmla="*/ 0 h 1419063"/>
              <a:gd name="connsiteX1" fmla="*/ 4144378 w 4144378"/>
              <a:gd name="connsiteY1" fmla="*/ 0 h 1419063"/>
              <a:gd name="connsiteX2" fmla="*/ 4144378 w 4144378"/>
              <a:gd name="connsiteY2" fmla="*/ 1419063 h 1419063"/>
              <a:gd name="connsiteX3" fmla="*/ 12879 w 4144378"/>
              <a:gd name="connsiteY3" fmla="*/ 1419062 h 1419063"/>
              <a:gd name="connsiteX4" fmla="*/ 0 w 4144378"/>
              <a:gd name="connsiteY4" fmla="*/ 0 h 1419063"/>
              <a:gd name="connsiteX0" fmla="*/ 0 w 4144378"/>
              <a:gd name="connsiteY0" fmla="*/ 0 h 1431697"/>
              <a:gd name="connsiteX1" fmla="*/ 4144378 w 4144378"/>
              <a:gd name="connsiteY1" fmla="*/ 12634 h 1431697"/>
              <a:gd name="connsiteX2" fmla="*/ 4144378 w 4144378"/>
              <a:gd name="connsiteY2" fmla="*/ 1431697 h 1431697"/>
              <a:gd name="connsiteX3" fmla="*/ 12879 w 4144378"/>
              <a:gd name="connsiteY3" fmla="*/ 1431696 h 1431697"/>
              <a:gd name="connsiteX4" fmla="*/ 0 w 4144378"/>
              <a:gd name="connsiteY4" fmla="*/ 0 h 1431697"/>
              <a:gd name="connsiteX0" fmla="*/ 0 w 4144378"/>
              <a:gd name="connsiteY0" fmla="*/ 12634 h 1444331"/>
              <a:gd name="connsiteX1" fmla="*/ 4144378 w 4144378"/>
              <a:gd name="connsiteY1" fmla="*/ 0 h 1444331"/>
              <a:gd name="connsiteX2" fmla="*/ 4144378 w 4144378"/>
              <a:gd name="connsiteY2" fmla="*/ 1444331 h 1444331"/>
              <a:gd name="connsiteX3" fmla="*/ 12879 w 4144378"/>
              <a:gd name="connsiteY3" fmla="*/ 1444330 h 1444331"/>
              <a:gd name="connsiteX4" fmla="*/ 0 w 4144378"/>
              <a:gd name="connsiteY4" fmla="*/ 12634 h 1444331"/>
              <a:gd name="connsiteX0" fmla="*/ 0 w 4144378"/>
              <a:gd name="connsiteY0" fmla="*/ 12634 h 1444331"/>
              <a:gd name="connsiteX1" fmla="*/ 4144378 w 4144378"/>
              <a:gd name="connsiteY1" fmla="*/ 0 h 1444331"/>
              <a:gd name="connsiteX2" fmla="*/ 4144378 w 4144378"/>
              <a:gd name="connsiteY2" fmla="*/ 1444331 h 1444331"/>
              <a:gd name="connsiteX3" fmla="*/ 12879 w 4144378"/>
              <a:gd name="connsiteY3" fmla="*/ 1431696 h 1444331"/>
              <a:gd name="connsiteX4" fmla="*/ 0 w 4144378"/>
              <a:gd name="connsiteY4" fmla="*/ 12634 h 1444331"/>
              <a:gd name="connsiteX0" fmla="*/ 0 w 4144378"/>
              <a:gd name="connsiteY0" fmla="*/ 12634 h 1431697"/>
              <a:gd name="connsiteX1" fmla="*/ 4144378 w 4144378"/>
              <a:gd name="connsiteY1" fmla="*/ 0 h 1431697"/>
              <a:gd name="connsiteX2" fmla="*/ 4144378 w 4144378"/>
              <a:gd name="connsiteY2" fmla="*/ 1431697 h 1431697"/>
              <a:gd name="connsiteX3" fmla="*/ 12879 w 4144378"/>
              <a:gd name="connsiteY3" fmla="*/ 1431696 h 1431697"/>
              <a:gd name="connsiteX4" fmla="*/ 0 w 4144378"/>
              <a:gd name="connsiteY4" fmla="*/ 12634 h 1431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4378" h="1431697">
                <a:moveTo>
                  <a:pt x="0" y="12634"/>
                </a:moveTo>
                <a:lnTo>
                  <a:pt x="4144378" y="0"/>
                </a:lnTo>
                <a:lnTo>
                  <a:pt x="4144378" y="1431697"/>
                </a:lnTo>
                <a:lnTo>
                  <a:pt x="12879" y="1431696"/>
                </a:lnTo>
                <a:lnTo>
                  <a:pt x="0" y="12634"/>
                </a:lnTo>
                <a:close/>
              </a:path>
            </a:pathLst>
          </a:custGeom>
          <a:noFill/>
          <a:ln w="28575">
            <a:solidFill>
              <a:schemeClr val="accent6"/>
            </a:solidFill>
          </a:ln>
        </p:spPr>
        <p:txBody>
          <a:bodyPr wrap="square" rtlCol="0">
            <a:spAutoFit/>
          </a:bodyPr>
          <a:lstStyle/>
          <a:p>
            <a:r>
              <a:rPr lang="en-GB" sz="2200" b="1" dirty="0"/>
              <a:t>In an </a:t>
            </a:r>
            <a:r>
              <a:rPr lang="en-GB" sz="2200" b="1" dirty="0">
                <a:solidFill>
                  <a:schemeClr val="accent6"/>
                </a:solidFill>
              </a:rPr>
              <a:t>endothermic</a:t>
            </a:r>
            <a:r>
              <a:rPr lang="en-GB" sz="2200" b="1" dirty="0"/>
              <a:t> reaction, the energy needed to </a:t>
            </a:r>
            <a:r>
              <a:rPr lang="en-GB" sz="2200" b="1" dirty="0">
                <a:solidFill>
                  <a:schemeClr val="accent6"/>
                </a:solidFill>
              </a:rPr>
              <a:t>break existing bonds is greater </a:t>
            </a:r>
            <a:r>
              <a:rPr lang="en-GB" sz="2200" b="1" dirty="0"/>
              <a:t>then the energy released from forming new bonds</a:t>
            </a:r>
          </a:p>
        </p:txBody>
      </p:sp>
      <p:sp>
        <p:nvSpPr>
          <p:cNvPr id="8" name="TextBox 7"/>
          <p:cNvSpPr txBox="1"/>
          <p:nvPr/>
        </p:nvSpPr>
        <p:spPr>
          <a:xfrm>
            <a:off x="179512" y="786285"/>
            <a:ext cx="8591244" cy="461665"/>
          </a:xfrm>
          <a:custGeom>
            <a:avLst/>
            <a:gdLst>
              <a:gd name="connsiteX0" fmla="*/ 0 w 1872208"/>
              <a:gd name="connsiteY0" fmla="*/ 0 h 1261884"/>
              <a:gd name="connsiteX1" fmla="*/ 1872208 w 1872208"/>
              <a:gd name="connsiteY1" fmla="*/ 0 h 1261884"/>
              <a:gd name="connsiteX2" fmla="*/ 1872208 w 1872208"/>
              <a:gd name="connsiteY2" fmla="*/ 1261884 h 1261884"/>
              <a:gd name="connsiteX3" fmla="*/ 0 w 1872208"/>
              <a:gd name="connsiteY3" fmla="*/ 1261884 h 1261884"/>
              <a:gd name="connsiteX4" fmla="*/ 0 w 1872208"/>
              <a:gd name="connsiteY4" fmla="*/ 0 h 1261884"/>
              <a:gd name="connsiteX0" fmla="*/ 0 w 1872208"/>
              <a:gd name="connsiteY0" fmla="*/ 0 h 1447864"/>
              <a:gd name="connsiteX1" fmla="*/ 1872208 w 1872208"/>
              <a:gd name="connsiteY1" fmla="*/ 0 h 1447864"/>
              <a:gd name="connsiteX2" fmla="*/ 1872208 w 1872208"/>
              <a:gd name="connsiteY2" fmla="*/ 1261884 h 1447864"/>
              <a:gd name="connsiteX3" fmla="*/ 0 w 1872208"/>
              <a:gd name="connsiteY3" fmla="*/ 1447864 h 1447864"/>
              <a:gd name="connsiteX4" fmla="*/ 0 w 1872208"/>
              <a:gd name="connsiteY4" fmla="*/ 0 h 1447864"/>
              <a:gd name="connsiteX0" fmla="*/ 0 w 1887706"/>
              <a:gd name="connsiteY0" fmla="*/ 0 h 1447864"/>
              <a:gd name="connsiteX1" fmla="*/ 1872208 w 1887706"/>
              <a:gd name="connsiteY1" fmla="*/ 0 h 1447864"/>
              <a:gd name="connsiteX2" fmla="*/ 1887706 w 1887706"/>
              <a:gd name="connsiteY2" fmla="*/ 1447864 h 1447864"/>
              <a:gd name="connsiteX3" fmla="*/ 0 w 1887706"/>
              <a:gd name="connsiteY3" fmla="*/ 1447864 h 1447864"/>
              <a:gd name="connsiteX4" fmla="*/ 0 w 1887706"/>
              <a:gd name="connsiteY4" fmla="*/ 0 h 1447864"/>
              <a:gd name="connsiteX0" fmla="*/ 0 w 1887706"/>
              <a:gd name="connsiteY0" fmla="*/ 0 h 1536777"/>
              <a:gd name="connsiteX1" fmla="*/ 1872208 w 1887706"/>
              <a:gd name="connsiteY1" fmla="*/ 0 h 1536777"/>
              <a:gd name="connsiteX2" fmla="*/ 1887706 w 1887706"/>
              <a:gd name="connsiteY2" fmla="*/ 1447864 h 1536777"/>
              <a:gd name="connsiteX3" fmla="*/ 0 w 1887706"/>
              <a:gd name="connsiteY3" fmla="*/ 1536777 h 1536777"/>
              <a:gd name="connsiteX4" fmla="*/ 0 w 1887706"/>
              <a:gd name="connsiteY4" fmla="*/ 0 h 1536777"/>
              <a:gd name="connsiteX0" fmla="*/ 0 w 1887706"/>
              <a:gd name="connsiteY0" fmla="*/ 0 h 1536777"/>
              <a:gd name="connsiteX1" fmla="*/ 1872208 w 1887706"/>
              <a:gd name="connsiteY1" fmla="*/ 0 h 1536777"/>
              <a:gd name="connsiteX2" fmla="*/ 1887706 w 1887706"/>
              <a:gd name="connsiteY2" fmla="*/ 1536776 h 1536777"/>
              <a:gd name="connsiteX3" fmla="*/ 0 w 1887706"/>
              <a:gd name="connsiteY3" fmla="*/ 1536777 h 1536777"/>
              <a:gd name="connsiteX4" fmla="*/ 0 w 1887706"/>
              <a:gd name="connsiteY4" fmla="*/ 0 h 1536777"/>
              <a:gd name="connsiteX0" fmla="*/ 0 w 1887706"/>
              <a:gd name="connsiteY0" fmla="*/ 88912 h 1536777"/>
              <a:gd name="connsiteX1" fmla="*/ 1872208 w 1887706"/>
              <a:gd name="connsiteY1" fmla="*/ 0 h 1536777"/>
              <a:gd name="connsiteX2" fmla="*/ 1887706 w 1887706"/>
              <a:gd name="connsiteY2" fmla="*/ 1536776 h 1536777"/>
              <a:gd name="connsiteX3" fmla="*/ 0 w 1887706"/>
              <a:gd name="connsiteY3" fmla="*/ 1536777 h 1536777"/>
              <a:gd name="connsiteX4" fmla="*/ 0 w 1887706"/>
              <a:gd name="connsiteY4" fmla="*/ 88912 h 1536777"/>
              <a:gd name="connsiteX0" fmla="*/ 0 w 1887706"/>
              <a:gd name="connsiteY0" fmla="*/ 0 h 1447865"/>
              <a:gd name="connsiteX1" fmla="*/ 1872208 w 1887706"/>
              <a:gd name="connsiteY1" fmla="*/ 17783 h 1447865"/>
              <a:gd name="connsiteX2" fmla="*/ 1887706 w 1887706"/>
              <a:gd name="connsiteY2" fmla="*/ 1447864 h 1447865"/>
              <a:gd name="connsiteX3" fmla="*/ 0 w 1887706"/>
              <a:gd name="connsiteY3" fmla="*/ 1447865 h 1447865"/>
              <a:gd name="connsiteX4" fmla="*/ 0 w 1887706"/>
              <a:gd name="connsiteY4" fmla="*/ 0 h 1447865"/>
              <a:gd name="connsiteX0" fmla="*/ 0 w 1889200"/>
              <a:gd name="connsiteY0" fmla="*/ 0 h 1447865"/>
              <a:gd name="connsiteX1" fmla="*/ 1889200 w 1889200"/>
              <a:gd name="connsiteY1" fmla="*/ 17782 h 1447865"/>
              <a:gd name="connsiteX2" fmla="*/ 1887706 w 1889200"/>
              <a:gd name="connsiteY2" fmla="*/ 1447864 h 1447865"/>
              <a:gd name="connsiteX3" fmla="*/ 0 w 1889200"/>
              <a:gd name="connsiteY3" fmla="*/ 1447865 h 1447865"/>
              <a:gd name="connsiteX4" fmla="*/ 0 w 1889200"/>
              <a:gd name="connsiteY4" fmla="*/ 0 h 1447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9200" h="1447865">
                <a:moveTo>
                  <a:pt x="0" y="0"/>
                </a:moveTo>
                <a:lnTo>
                  <a:pt x="1889200" y="17782"/>
                </a:lnTo>
                <a:lnTo>
                  <a:pt x="1887706" y="1447864"/>
                </a:lnTo>
                <a:lnTo>
                  <a:pt x="0" y="1447865"/>
                </a:lnTo>
                <a:lnTo>
                  <a:pt x="0" y="0"/>
                </a:lnTo>
                <a:close/>
              </a:path>
            </a:pathLst>
          </a:custGeom>
          <a:solidFill>
            <a:schemeClr val="accent6"/>
          </a:solidFill>
          <a:ln w="28575">
            <a:solidFill>
              <a:schemeClr val="tx1"/>
            </a:solidFill>
          </a:ln>
        </p:spPr>
        <p:txBody>
          <a:bodyPr wrap="square" rtlCol="0">
            <a:spAutoFit/>
          </a:bodyPr>
          <a:lstStyle/>
          <a:p>
            <a:r>
              <a:rPr lang="en-GB" sz="2400" b="1" dirty="0"/>
              <a:t>Know these two definitions- they are often asked for in the exam.</a:t>
            </a:r>
          </a:p>
        </p:txBody>
      </p:sp>
      <p:pic>
        <p:nvPicPr>
          <p:cNvPr id="3" name="Picture 2"/>
          <p:cNvPicPr>
            <a:picLocks noChangeAspect="1"/>
          </p:cNvPicPr>
          <p:nvPr/>
        </p:nvPicPr>
        <p:blipFill>
          <a:blip r:embed="rId3"/>
          <a:stretch>
            <a:fillRect/>
          </a:stretch>
        </p:blipFill>
        <p:spPr>
          <a:xfrm>
            <a:off x="4609846" y="2996952"/>
            <a:ext cx="4138618" cy="3312368"/>
          </a:xfrm>
          <a:prstGeom prst="rect">
            <a:avLst/>
          </a:prstGeom>
        </p:spPr>
      </p:pic>
      <p:pic>
        <p:nvPicPr>
          <p:cNvPr id="9" name="Picture 8"/>
          <p:cNvPicPr>
            <a:picLocks noChangeAspect="1"/>
          </p:cNvPicPr>
          <p:nvPr/>
        </p:nvPicPr>
        <p:blipFill>
          <a:blip r:embed="rId4"/>
          <a:stretch>
            <a:fillRect/>
          </a:stretch>
        </p:blipFill>
        <p:spPr>
          <a:xfrm>
            <a:off x="205269" y="2996952"/>
            <a:ext cx="4209835" cy="3312368"/>
          </a:xfrm>
          <a:prstGeom prst="rect">
            <a:avLst/>
          </a:prstGeom>
        </p:spPr>
      </p:pic>
    </p:spTree>
    <p:extLst>
      <p:ext uri="{BB962C8B-B14F-4D97-AF65-F5344CB8AC3E}">
        <p14:creationId xmlns:p14="http://schemas.microsoft.com/office/powerpoint/2010/main" val="1374128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4247317"/>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600" b="1" dirty="0">
                <a:solidFill>
                  <a:schemeClr val="tx1">
                    <a:lumMod val="50000"/>
                    <a:lumOff val="50000"/>
                  </a:schemeClr>
                </a:solidFill>
              </a:rPr>
              <a:t>The energy change</a:t>
            </a:r>
          </a:p>
          <a:p>
            <a:r>
              <a:rPr lang="en-GB" sz="3600" b="1" dirty="0">
                <a:solidFill>
                  <a:schemeClr val="tx1">
                    <a:lumMod val="50000"/>
                    <a:lumOff val="50000"/>
                  </a:schemeClr>
                </a:solidFill>
              </a:rPr>
              <a:t>of reactions </a:t>
            </a:r>
          </a:p>
          <a:p>
            <a:r>
              <a:rPr lang="en-GB" sz="3600" b="1" dirty="0">
                <a:solidFill>
                  <a:schemeClr val="tx1">
                    <a:lumMod val="50000"/>
                    <a:lumOff val="50000"/>
                  </a:schemeClr>
                </a:solidFill>
              </a:rPr>
              <a:t>(Higher Tier </a:t>
            </a:r>
          </a:p>
          <a:p>
            <a:r>
              <a:rPr lang="en-GB" sz="3600" b="1" dirty="0">
                <a:solidFill>
                  <a:schemeClr val="tx1">
                    <a:lumMod val="50000"/>
                    <a:lumOff val="50000"/>
                  </a:schemeClr>
                </a:solidFill>
              </a:rPr>
              <a:t>only)</a:t>
            </a:r>
            <a:endParaRPr lang="en-GB" sz="2400" b="1" dirty="0">
              <a:solidFill>
                <a:schemeClr val="tx1">
                  <a:lumMod val="50000"/>
                  <a:lumOff val="50000"/>
                </a:schemeClr>
              </a:solidFill>
            </a:endParaRP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1447387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The energy change of reactions (HT only)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557947"/>
            <a:ext cx="8915400" cy="6463308"/>
          </a:xfrm>
          <a:prstGeom prst="rect">
            <a:avLst/>
          </a:prstGeom>
          <a:noFill/>
        </p:spPr>
        <p:txBody>
          <a:bodyPr wrap="square" rtlCol="0">
            <a:spAutoFit/>
          </a:bodyPr>
          <a:lstStyle/>
          <a:p>
            <a:pPr>
              <a:lnSpc>
                <a:spcPct val="150000"/>
              </a:lnSpc>
            </a:pPr>
            <a:r>
              <a:rPr lang="en-GB" sz="2000" b="1" dirty="0"/>
              <a:t>1. Which process is exothermic, bond breaking or bond making?</a:t>
            </a:r>
          </a:p>
          <a:p>
            <a:pPr>
              <a:lnSpc>
                <a:spcPct val="150000"/>
              </a:lnSpc>
            </a:pPr>
            <a:endParaRPr lang="en-GB" sz="2000" b="1" dirty="0"/>
          </a:p>
          <a:p>
            <a:pPr>
              <a:lnSpc>
                <a:spcPct val="150000"/>
              </a:lnSpc>
            </a:pPr>
            <a:r>
              <a:rPr lang="en-GB" sz="2000" b="1" dirty="0"/>
              <a:t>2. Explain your answer to question 1.</a:t>
            </a:r>
          </a:p>
          <a:p>
            <a:pPr>
              <a:lnSpc>
                <a:spcPct val="150000"/>
              </a:lnSpc>
            </a:pPr>
            <a:endParaRPr lang="en-GB" sz="2000" b="1" dirty="0"/>
          </a:p>
          <a:p>
            <a:pPr>
              <a:lnSpc>
                <a:spcPct val="150000"/>
              </a:lnSpc>
            </a:pPr>
            <a:r>
              <a:rPr lang="en-GB" sz="2000" b="1" dirty="0"/>
              <a:t>3. How do we calculate the overall energy change of a reaction?</a:t>
            </a:r>
          </a:p>
          <a:p>
            <a:pPr>
              <a:lnSpc>
                <a:spcPct val="150000"/>
              </a:lnSpc>
            </a:pPr>
            <a:endParaRPr lang="en-GB" sz="2400" dirty="0"/>
          </a:p>
          <a:p>
            <a:pPr>
              <a:lnSpc>
                <a:spcPct val="150000"/>
              </a:lnSpc>
            </a:pPr>
            <a:endParaRPr lang="en-GB" sz="2400" dirty="0"/>
          </a:p>
          <a:p>
            <a:pPr>
              <a:lnSpc>
                <a:spcPct val="150000"/>
              </a:lnSpc>
            </a:pPr>
            <a:endParaRPr lang="en-GB" sz="2400" dirty="0"/>
          </a:p>
          <a:p>
            <a:endParaRPr lang="en-GB" sz="2400" dirty="0"/>
          </a:p>
          <a:p>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p:txBody>
      </p:sp>
    </p:spTree>
    <p:extLst>
      <p:ext uri="{BB962C8B-B14F-4D97-AF65-F5344CB8AC3E}">
        <p14:creationId xmlns:p14="http://schemas.microsoft.com/office/powerpoint/2010/main" val="3832845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The energy change of reactions (HT only)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557947"/>
            <a:ext cx="8915400" cy="2154436"/>
          </a:xfrm>
          <a:prstGeom prst="rect">
            <a:avLst/>
          </a:prstGeom>
          <a:noFill/>
        </p:spPr>
        <p:txBody>
          <a:bodyPr wrap="square" rtlCol="0">
            <a:spAutoFit/>
          </a:bodyPr>
          <a:lstStyle/>
          <a:p>
            <a:endParaRPr lang="en-GB" sz="2400" dirty="0"/>
          </a:p>
          <a:p>
            <a:r>
              <a:rPr lang="en-GB" b="1" dirty="0"/>
              <a:t>4.  The bond energy between a hydrogen and a nitrogen atom is 386 kJ/</a:t>
            </a:r>
            <a:r>
              <a:rPr lang="en-GB" b="1" dirty="0" err="1"/>
              <a:t>mol</a:t>
            </a:r>
            <a:r>
              <a:rPr lang="en-GB" b="1" dirty="0"/>
              <a:t>, the bond     energy between two hydrogen atoms is 432 kJ/</a:t>
            </a:r>
            <a:r>
              <a:rPr lang="en-GB" b="1" dirty="0" err="1"/>
              <a:t>mol</a:t>
            </a:r>
            <a:r>
              <a:rPr lang="en-GB" b="1" dirty="0"/>
              <a:t> and the bond energy between two nitrogen atoms is 942kJ/mol. Using these bond energies, calculate the overall energy change for the following reaction.</a:t>
            </a:r>
            <a:endParaRPr lang="en-GB" sz="2000" b="1" dirty="0"/>
          </a:p>
          <a:p>
            <a:pPr algn="ctr"/>
            <a:r>
              <a:rPr lang="en-GB" b="1" dirty="0"/>
              <a:t>2NH</a:t>
            </a:r>
            <a:r>
              <a:rPr lang="en-GB" b="1" baseline="-25000" dirty="0"/>
              <a:t>3</a:t>
            </a:r>
            <a:r>
              <a:rPr lang="en-GB" b="1" dirty="0"/>
              <a:t> </a:t>
            </a:r>
            <a:r>
              <a:rPr lang="en-GB" b="1" dirty="0">
                <a:sym typeface="Wingdings" panose="05000000000000000000" pitchFamily="2" charset="2"/>
              </a:rPr>
              <a:t>  </a:t>
            </a:r>
            <a:r>
              <a:rPr lang="en-GB" b="1" dirty="0"/>
              <a:t>  N</a:t>
            </a:r>
            <a:r>
              <a:rPr lang="en-GB" b="1" baseline="-25000" dirty="0"/>
              <a:t>2</a:t>
            </a:r>
            <a:r>
              <a:rPr lang="en-GB" b="1" dirty="0"/>
              <a:t>   +   3H</a:t>
            </a:r>
            <a:r>
              <a:rPr lang="en-GB" b="1" baseline="-25000" dirty="0"/>
              <a:t>2</a:t>
            </a:r>
          </a:p>
          <a:p>
            <a:r>
              <a:rPr lang="en-GB" sz="2000" b="1" dirty="0"/>
              <a:t> </a:t>
            </a:r>
          </a:p>
        </p:txBody>
      </p:sp>
      <p:sp>
        <p:nvSpPr>
          <p:cNvPr id="32" name="TextBox 31"/>
          <p:cNvSpPr txBox="1"/>
          <p:nvPr/>
        </p:nvSpPr>
        <p:spPr>
          <a:xfrm>
            <a:off x="149088" y="5201422"/>
            <a:ext cx="8684264" cy="923330"/>
          </a:xfrm>
          <a:custGeom>
            <a:avLst/>
            <a:gdLst>
              <a:gd name="connsiteX0" fmla="*/ 0 w 8671385"/>
              <a:gd name="connsiteY0" fmla="*/ 0 h 503158"/>
              <a:gd name="connsiteX1" fmla="*/ 8671385 w 8671385"/>
              <a:gd name="connsiteY1" fmla="*/ 0 h 503158"/>
              <a:gd name="connsiteX2" fmla="*/ 8671385 w 8671385"/>
              <a:gd name="connsiteY2" fmla="*/ 503158 h 503158"/>
              <a:gd name="connsiteX3" fmla="*/ 0 w 8671385"/>
              <a:gd name="connsiteY3" fmla="*/ 503158 h 503158"/>
              <a:gd name="connsiteX4" fmla="*/ 0 w 8671385"/>
              <a:gd name="connsiteY4" fmla="*/ 0 h 503158"/>
              <a:gd name="connsiteX0" fmla="*/ 0 w 8671385"/>
              <a:gd name="connsiteY0" fmla="*/ 0 h 734977"/>
              <a:gd name="connsiteX1" fmla="*/ 8671385 w 8671385"/>
              <a:gd name="connsiteY1" fmla="*/ 231819 h 734977"/>
              <a:gd name="connsiteX2" fmla="*/ 8671385 w 8671385"/>
              <a:gd name="connsiteY2" fmla="*/ 734977 h 734977"/>
              <a:gd name="connsiteX3" fmla="*/ 0 w 8671385"/>
              <a:gd name="connsiteY3" fmla="*/ 734977 h 734977"/>
              <a:gd name="connsiteX4" fmla="*/ 0 w 8671385"/>
              <a:gd name="connsiteY4" fmla="*/ 0 h 734977"/>
              <a:gd name="connsiteX0" fmla="*/ 0 w 8684264"/>
              <a:gd name="connsiteY0" fmla="*/ 12880 h 747857"/>
              <a:gd name="connsiteX1" fmla="*/ 8684264 w 8684264"/>
              <a:gd name="connsiteY1" fmla="*/ 0 h 747857"/>
              <a:gd name="connsiteX2" fmla="*/ 8671385 w 8684264"/>
              <a:gd name="connsiteY2" fmla="*/ 747857 h 747857"/>
              <a:gd name="connsiteX3" fmla="*/ 0 w 8684264"/>
              <a:gd name="connsiteY3" fmla="*/ 747857 h 747857"/>
              <a:gd name="connsiteX4" fmla="*/ 0 w 8684264"/>
              <a:gd name="connsiteY4" fmla="*/ 12880 h 747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4264" h="747857">
                <a:moveTo>
                  <a:pt x="0" y="12880"/>
                </a:moveTo>
                <a:lnTo>
                  <a:pt x="8684264" y="0"/>
                </a:lnTo>
                <a:lnTo>
                  <a:pt x="8671385" y="747857"/>
                </a:lnTo>
                <a:lnTo>
                  <a:pt x="0" y="747857"/>
                </a:lnTo>
                <a:lnTo>
                  <a:pt x="0" y="12880"/>
                </a:lnTo>
                <a:close/>
              </a:path>
            </a:pathLst>
          </a:custGeom>
          <a:noFill/>
        </p:spPr>
        <p:txBody>
          <a:bodyPr wrap="square" rtlCol="0">
            <a:spAutoFit/>
          </a:bodyPr>
          <a:lstStyle/>
          <a:p>
            <a:r>
              <a:rPr lang="en-GB" b="1" dirty="0"/>
              <a:t>5.    Is the reaction exothermic or endothermic? Explain your answer.</a:t>
            </a:r>
          </a:p>
          <a:p>
            <a:endParaRPr lang="en-GB" dirty="0"/>
          </a:p>
          <a:p>
            <a:r>
              <a:rPr lang="en-GB" dirty="0"/>
              <a:t>       </a:t>
            </a:r>
            <a:endParaRPr lang="en-GB" dirty="0">
              <a:solidFill>
                <a:srgbClr val="00B050"/>
              </a:solidFill>
            </a:endParaRPr>
          </a:p>
        </p:txBody>
      </p:sp>
    </p:spTree>
    <p:extLst>
      <p:ext uri="{BB962C8B-B14F-4D97-AF65-F5344CB8AC3E}">
        <p14:creationId xmlns:p14="http://schemas.microsoft.com/office/powerpoint/2010/main" val="5434300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52431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The energy change</a:t>
            </a:r>
          </a:p>
          <a:p>
            <a:r>
              <a:rPr lang="en-GB" sz="3600" b="1" dirty="0">
                <a:solidFill>
                  <a:schemeClr val="tx1">
                    <a:lumMod val="50000"/>
                    <a:lumOff val="50000"/>
                  </a:schemeClr>
                </a:solidFill>
              </a:rPr>
              <a:t>of reactions </a:t>
            </a:r>
          </a:p>
          <a:p>
            <a:r>
              <a:rPr lang="en-GB" sz="3600" b="1" dirty="0">
                <a:solidFill>
                  <a:schemeClr val="tx1">
                    <a:lumMod val="50000"/>
                    <a:lumOff val="50000"/>
                  </a:schemeClr>
                </a:solidFill>
              </a:rPr>
              <a:t>(Higher Tier </a:t>
            </a:r>
          </a:p>
          <a:p>
            <a:r>
              <a:rPr lang="en-GB" sz="3600" b="1" dirty="0">
                <a:solidFill>
                  <a:schemeClr val="tx1">
                    <a:lumMod val="50000"/>
                    <a:lumOff val="50000"/>
                  </a:schemeClr>
                </a:solidFill>
              </a:rPr>
              <a:t>only)</a:t>
            </a:r>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5353065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The energy change of reactions (HT only)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557947"/>
            <a:ext cx="8915400" cy="7848302"/>
          </a:xfrm>
          <a:prstGeom prst="rect">
            <a:avLst/>
          </a:prstGeom>
          <a:noFill/>
        </p:spPr>
        <p:txBody>
          <a:bodyPr wrap="square" rtlCol="0">
            <a:spAutoFit/>
          </a:bodyPr>
          <a:lstStyle/>
          <a:p>
            <a:pPr>
              <a:lnSpc>
                <a:spcPct val="150000"/>
              </a:lnSpc>
            </a:pPr>
            <a:r>
              <a:rPr lang="en-GB" sz="2000" b="1" dirty="0"/>
              <a:t>1. Which process is exothermic, bond breaking or bond making?</a:t>
            </a:r>
          </a:p>
          <a:p>
            <a:pPr>
              <a:lnSpc>
                <a:spcPct val="150000"/>
              </a:lnSpc>
            </a:pPr>
            <a:r>
              <a:rPr lang="en-GB" sz="2000" dirty="0"/>
              <a:t>        </a:t>
            </a:r>
            <a:r>
              <a:rPr lang="en-GB" sz="2000" dirty="0">
                <a:solidFill>
                  <a:srgbClr val="00B050"/>
                </a:solidFill>
              </a:rPr>
              <a:t>Bond making</a:t>
            </a:r>
          </a:p>
          <a:p>
            <a:pPr>
              <a:lnSpc>
                <a:spcPct val="150000"/>
              </a:lnSpc>
            </a:pPr>
            <a:r>
              <a:rPr lang="en-GB" sz="2000" b="1" dirty="0"/>
              <a:t>2. Explain your answer to question 1</a:t>
            </a:r>
          </a:p>
          <a:p>
            <a:pPr>
              <a:lnSpc>
                <a:spcPct val="150000"/>
              </a:lnSpc>
            </a:pPr>
            <a:r>
              <a:rPr lang="en-GB" sz="2000" dirty="0"/>
              <a:t>        </a:t>
            </a:r>
            <a:r>
              <a:rPr lang="en-GB" sz="2000" dirty="0">
                <a:solidFill>
                  <a:srgbClr val="00B050"/>
                </a:solidFill>
              </a:rPr>
              <a:t>Energy is released/temperature increases</a:t>
            </a:r>
          </a:p>
          <a:p>
            <a:pPr>
              <a:lnSpc>
                <a:spcPct val="150000"/>
              </a:lnSpc>
            </a:pPr>
            <a:r>
              <a:rPr lang="en-GB" sz="2000" b="1" dirty="0"/>
              <a:t>3. How do we calculate the overall energy change of a reaction?</a:t>
            </a:r>
          </a:p>
          <a:p>
            <a:pPr lvl="1">
              <a:lnSpc>
                <a:spcPct val="150000"/>
              </a:lnSpc>
            </a:pPr>
            <a:r>
              <a:rPr lang="en-GB" sz="2000" dirty="0">
                <a:solidFill>
                  <a:srgbClr val="00B050"/>
                </a:solidFill>
              </a:rPr>
              <a:t>It is the difference between the sum of the energy needed to break bonds in the reactants and the sum of the energy released when bonds in the products are formed.</a:t>
            </a:r>
          </a:p>
          <a:p>
            <a:pPr>
              <a:lnSpc>
                <a:spcPct val="150000"/>
              </a:lnSpc>
            </a:pPr>
            <a:endParaRPr lang="en-GB" sz="2400" dirty="0"/>
          </a:p>
          <a:p>
            <a:pPr>
              <a:lnSpc>
                <a:spcPct val="150000"/>
              </a:lnSpc>
            </a:pPr>
            <a:endParaRPr lang="en-GB" sz="2400" dirty="0"/>
          </a:p>
          <a:p>
            <a:pPr>
              <a:lnSpc>
                <a:spcPct val="150000"/>
              </a:lnSpc>
            </a:pPr>
            <a:endParaRPr lang="en-GB" sz="2400" dirty="0"/>
          </a:p>
          <a:p>
            <a:endParaRPr lang="en-GB" sz="2400" dirty="0"/>
          </a:p>
          <a:p>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p:txBody>
      </p:sp>
    </p:spTree>
    <p:extLst>
      <p:ext uri="{BB962C8B-B14F-4D97-AF65-F5344CB8AC3E}">
        <p14:creationId xmlns:p14="http://schemas.microsoft.com/office/powerpoint/2010/main" val="10888008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The energy change of reactions (HT only)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557947"/>
            <a:ext cx="8915400" cy="2154436"/>
          </a:xfrm>
          <a:prstGeom prst="rect">
            <a:avLst/>
          </a:prstGeom>
          <a:noFill/>
        </p:spPr>
        <p:txBody>
          <a:bodyPr wrap="square" rtlCol="0">
            <a:spAutoFit/>
          </a:bodyPr>
          <a:lstStyle/>
          <a:p>
            <a:endParaRPr lang="en-GB" sz="2400" dirty="0"/>
          </a:p>
          <a:p>
            <a:r>
              <a:rPr lang="en-GB" b="1" dirty="0"/>
              <a:t>4.  The bond energy between a hydrogen and a nitrogen atom is 386 kJ/</a:t>
            </a:r>
            <a:r>
              <a:rPr lang="en-GB" b="1" dirty="0" err="1"/>
              <a:t>mol</a:t>
            </a:r>
            <a:r>
              <a:rPr lang="en-GB" b="1" dirty="0"/>
              <a:t>, the bond  energy between two hydrogen atoms is 432 kJ/</a:t>
            </a:r>
            <a:r>
              <a:rPr lang="en-GB" b="1" dirty="0" err="1"/>
              <a:t>mol</a:t>
            </a:r>
            <a:r>
              <a:rPr lang="en-GB" b="1" dirty="0"/>
              <a:t> and the bond energy between two nitrogen atoms is 942kJ/mol. Using these bond energies calculate the overall energy change for the following reaction.</a:t>
            </a:r>
            <a:endParaRPr lang="en-GB" sz="2000" b="1" dirty="0"/>
          </a:p>
          <a:p>
            <a:r>
              <a:rPr lang="en-GB" b="1" dirty="0"/>
              <a:t>                                                  2NH</a:t>
            </a:r>
            <a:r>
              <a:rPr lang="en-GB" b="1" baseline="-25000" dirty="0"/>
              <a:t>3</a:t>
            </a:r>
            <a:r>
              <a:rPr lang="en-GB" b="1" dirty="0"/>
              <a:t> </a:t>
            </a:r>
            <a:r>
              <a:rPr lang="en-GB" b="1" dirty="0">
                <a:sym typeface="Wingdings" panose="05000000000000000000" pitchFamily="2" charset="2"/>
              </a:rPr>
              <a:t>  </a:t>
            </a:r>
            <a:r>
              <a:rPr lang="en-GB" b="1" dirty="0"/>
              <a:t>  N</a:t>
            </a:r>
            <a:r>
              <a:rPr lang="en-GB" b="1" baseline="-25000" dirty="0"/>
              <a:t>2</a:t>
            </a:r>
            <a:r>
              <a:rPr lang="en-GB" b="1" dirty="0"/>
              <a:t>   +   3H</a:t>
            </a:r>
            <a:r>
              <a:rPr lang="en-GB" b="1" baseline="-25000" dirty="0"/>
              <a:t>2</a:t>
            </a:r>
          </a:p>
          <a:p>
            <a:r>
              <a:rPr lang="en-GB" sz="2000" b="1" dirty="0"/>
              <a:t> </a:t>
            </a:r>
          </a:p>
        </p:txBody>
      </p:sp>
      <p:sp>
        <p:nvSpPr>
          <p:cNvPr id="31" name="TextBox 30"/>
          <p:cNvSpPr txBox="1"/>
          <p:nvPr/>
        </p:nvSpPr>
        <p:spPr>
          <a:xfrm>
            <a:off x="454666" y="4290766"/>
            <a:ext cx="8162661" cy="1181114"/>
          </a:xfrm>
          <a:custGeom>
            <a:avLst/>
            <a:gdLst>
              <a:gd name="connsiteX0" fmla="*/ 0 w 8136904"/>
              <a:gd name="connsiteY0" fmla="*/ 0 h 1477328"/>
              <a:gd name="connsiteX1" fmla="*/ 8136904 w 8136904"/>
              <a:gd name="connsiteY1" fmla="*/ 0 h 1477328"/>
              <a:gd name="connsiteX2" fmla="*/ 8136904 w 8136904"/>
              <a:gd name="connsiteY2" fmla="*/ 1477328 h 1477328"/>
              <a:gd name="connsiteX3" fmla="*/ 0 w 8136904"/>
              <a:gd name="connsiteY3" fmla="*/ 1477328 h 1477328"/>
              <a:gd name="connsiteX4" fmla="*/ 0 w 8136904"/>
              <a:gd name="connsiteY4" fmla="*/ 0 h 1477328"/>
              <a:gd name="connsiteX0" fmla="*/ 0 w 8149782"/>
              <a:gd name="connsiteY0" fmla="*/ 0 h 1786421"/>
              <a:gd name="connsiteX1" fmla="*/ 8149782 w 8149782"/>
              <a:gd name="connsiteY1" fmla="*/ 309093 h 1786421"/>
              <a:gd name="connsiteX2" fmla="*/ 8149782 w 8149782"/>
              <a:gd name="connsiteY2" fmla="*/ 1786421 h 1786421"/>
              <a:gd name="connsiteX3" fmla="*/ 12878 w 8149782"/>
              <a:gd name="connsiteY3" fmla="*/ 1786421 h 1786421"/>
              <a:gd name="connsiteX4" fmla="*/ 0 w 8149782"/>
              <a:gd name="connsiteY4" fmla="*/ 0 h 1786421"/>
              <a:gd name="connsiteX0" fmla="*/ 0 w 8149782"/>
              <a:gd name="connsiteY0" fmla="*/ 0 h 1786421"/>
              <a:gd name="connsiteX1" fmla="*/ 8149782 w 8149782"/>
              <a:gd name="connsiteY1" fmla="*/ 0 h 1786421"/>
              <a:gd name="connsiteX2" fmla="*/ 8149782 w 8149782"/>
              <a:gd name="connsiteY2" fmla="*/ 1786421 h 1786421"/>
              <a:gd name="connsiteX3" fmla="*/ 12878 w 8149782"/>
              <a:gd name="connsiteY3" fmla="*/ 1786421 h 1786421"/>
              <a:gd name="connsiteX4" fmla="*/ 0 w 8149782"/>
              <a:gd name="connsiteY4" fmla="*/ 0 h 1786421"/>
              <a:gd name="connsiteX0" fmla="*/ 0 w 8162661"/>
              <a:gd name="connsiteY0" fmla="*/ 0 h 1786421"/>
              <a:gd name="connsiteX1" fmla="*/ 8149782 w 8162661"/>
              <a:gd name="connsiteY1" fmla="*/ 0 h 1786421"/>
              <a:gd name="connsiteX2" fmla="*/ 8162661 w 8162661"/>
              <a:gd name="connsiteY2" fmla="*/ 1219751 h 1786421"/>
              <a:gd name="connsiteX3" fmla="*/ 12878 w 8162661"/>
              <a:gd name="connsiteY3" fmla="*/ 1786421 h 1786421"/>
              <a:gd name="connsiteX4" fmla="*/ 0 w 8162661"/>
              <a:gd name="connsiteY4" fmla="*/ 0 h 1786421"/>
              <a:gd name="connsiteX0" fmla="*/ 0 w 8162661"/>
              <a:gd name="connsiteY0" fmla="*/ 0 h 1219751"/>
              <a:gd name="connsiteX1" fmla="*/ 8149782 w 8162661"/>
              <a:gd name="connsiteY1" fmla="*/ 0 h 1219751"/>
              <a:gd name="connsiteX2" fmla="*/ 8162661 w 8162661"/>
              <a:gd name="connsiteY2" fmla="*/ 1219751 h 1219751"/>
              <a:gd name="connsiteX3" fmla="*/ 12878 w 8162661"/>
              <a:gd name="connsiteY3" fmla="*/ 1206872 h 1219751"/>
              <a:gd name="connsiteX4" fmla="*/ 0 w 8162661"/>
              <a:gd name="connsiteY4" fmla="*/ 0 h 1219751"/>
              <a:gd name="connsiteX0" fmla="*/ 0 w 8162661"/>
              <a:gd name="connsiteY0" fmla="*/ 170134 h 1219751"/>
              <a:gd name="connsiteX1" fmla="*/ 8149782 w 8162661"/>
              <a:gd name="connsiteY1" fmla="*/ 0 h 1219751"/>
              <a:gd name="connsiteX2" fmla="*/ 8162661 w 8162661"/>
              <a:gd name="connsiteY2" fmla="*/ 1219751 h 1219751"/>
              <a:gd name="connsiteX3" fmla="*/ 12878 w 8162661"/>
              <a:gd name="connsiteY3" fmla="*/ 1206872 h 1219751"/>
              <a:gd name="connsiteX4" fmla="*/ 0 w 8162661"/>
              <a:gd name="connsiteY4" fmla="*/ 170134 h 1219751"/>
              <a:gd name="connsiteX0" fmla="*/ 0 w 8162661"/>
              <a:gd name="connsiteY0" fmla="*/ 10633 h 1060250"/>
              <a:gd name="connsiteX1" fmla="*/ 8149782 w 8162661"/>
              <a:gd name="connsiteY1" fmla="*/ 0 h 1060250"/>
              <a:gd name="connsiteX2" fmla="*/ 8162661 w 8162661"/>
              <a:gd name="connsiteY2" fmla="*/ 1060250 h 1060250"/>
              <a:gd name="connsiteX3" fmla="*/ 12878 w 8162661"/>
              <a:gd name="connsiteY3" fmla="*/ 1047371 h 1060250"/>
              <a:gd name="connsiteX4" fmla="*/ 0 w 8162661"/>
              <a:gd name="connsiteY4" fmla="*/ 10633 h 1060250"/>
              <a:gd name="connsiteX0" fmla="*/ 0 w 8162661"/>
              <a:gd name="connsiteY0" fmla="*/ 0 h 1049617"/>
              <a:gd name="connsiteX1" fmla="*/ 8149782 w 8162661"/>
              <a:gd name="connsiteY1" fmla="*/ 10634 h 1049617"/>
              <a:gd name="connsiteX2" fmla="*/ 8162661 w 8162661"/>
              <a:gd name="connsiteY2" fmla="*/ 1049617 h 1049617"/>
              <a:gd name="connsiteX3" fmla="*/ 12878 w 8162661"/>
              <a:gd name="connsiteY3" fmla="*/ 1036738 h 1049617"/>
              <a:gd name="connsiteX4" fmla="*/ 0 w 8162661"/>
              <a:gd name="connsiteY4" fmla="*/ 0 h 1049617"/>
              <a:gd name="connsiteX0" fmla="*/ 0 w 8162661"/>
              <a:gd name="connsiteY0" fmla="*/ 0 h 1049617"/>
              <a:gd name="connsiteX1" fmla="*/ 8149782 w 8162661"/>
              <a:gd name="connsiteY1" fmla="*/ 95701 h 1049617"/>
              <a:gd name="connsiteX2" fmla="*/ 8162661 w 8162661"/>
              <a:gd name="connsiteY2" fmla="*/ 1049617 h 1049617"/>
              <a:gd name="connsiteX3" fmla="*/ 12878 w 8162661"/>
              <a:gd name="connsiteY3" fmla="*/ 1036738 h 1049617"/>
              <a:gd name="connsiteX4" fmla="*/ 0 w 8162661"/>
              <a:gd name="connsiteY4" fmla="*/ 0 h 1049617"/>
              <a:gd name="connsiteX0" fmla="*/ 0 w 8162661"/>
              <a:gd name="connsiteY0" fmla="*/ 10633 h 953916"/>
              <a:gd name="connsiteX1" fmla="*/ 8149782 w 8162661"/>
              <a:gd name="connsiteY1" fmla="*/ 0 h 953916"/>
              <a:gd name="connsiteX2" fmla="*/ 8162661 w 8162661"/>
              <a:gd name="connsiteY2" fmla="*/ 953916 h 953916"/>
              <a:gd name="connsiteX3" fmla="*/ 12878 w 8162661"/>
              <a:gd name="connsiteY3" fmla="*/ 941037 h 953916"/>
              <a:gd name="connsiteX4" fmla="*/ 0 w 8162661"/>
              <a:gd name="connsiteY4" fmla="*/ 10633 h 953916"/>
              <a:gd name="connsiteX0" fmla="*/ 0 w 8162661"/>
              <a:gd name="connsiteY0" fmla="*/ 10633 h 962303"/>
              <a:gd name="connsiteX1" fmla="*/ 8149782 w 8162661"/>
              <a:gd name="connsiteY1" fmla="*/ 0 h 962303"/>
              <a:gd name="connsiteX2" fmla="*/ 8162661 w 8162661"/>
              <a:gd name="connsiteY2" fmla="*/ 953916 h 962303"/>
              <a:gd name="connsiteX3" fmla="*/ 12878 w 8162661"/>
              <a:gd name="connsiteY3" fmla="*/ 962303 h 962303"/>
              <a:gd name="connsiteX4" fmla="*/ 0 w 8162661"/>
              <a:gd name="connsiteY4" fmla="*/ 10633 h 962303"/>
              <a:gd name="connsiteX0" fmla="*/ 0 w 8162661"/>
              <a:gd name="connsiteY0" fmla="*/ 10633 h 975182"/>
              <a:gd name="connsiteX1" fmla="*/ 8149782 w 8162661"/>
              <a:gd name="connsiteY1" fmla="*/ 0 h 975182"/>
              <a:gd name="connsiteX2" fmla="*/ 8162661 w 8162661"/>
              <a:gd name="connsiteY2" fmla="*/ 975182 h 975182"/>
              <a:gd name="connsiteX3" fmla="*/ 12878 w 8162661"/>
              <a:gd name="connsiteY3" fmla="*/ 962303 h 975182"/>
              <a:gd name="connsiteX4" fmla="*/ 0 w 8162661"/>
              <a:gd name="connsiteY4" fmla="*/ 10633 h 975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2661" h="975182">
                <a:moveTo>
                  <a:pt x="0" y="10633"/>
                </a:moveTo>
                <a:lnTo>
                  <a:pt x="8149782" y="0"/>
                </a:lnTo>
                <a:lnTo>
                  <a:pt x="8162661" y="975182"/>
                </a:lnTo>
                <a:lnTo>
                  <a:pt x="12878" y="962303"/>
                </a:lnTo>
                <a:cubicBezTo>
                  <a:pt x="8585" y="366829"/>
                  <a:pt x="4293" y="606107"/>
                  <a:pt x="0" y="10633"/>
                </a:cubicBezTo>
                <a:close/>
              </a:path>
            </a:pathLst>
          </a:custGeom>
          <a:noFill/>
        </p:spPr>
        <p:txBody>
          <a:bodyPr wrap="square" rtlCol="0">
            <a:spAutoFit/>
          </a:bodyPr>
          <a:lstStyle/>
          <a:p>
            <a:r>
              <a:rPr lang="en-GB" dirty="0">
                <a:solidFill>
                  <a:srgbClr val="00B050"/>
                </a:solidFill>
              </a:rPr>
              <a:t>Overall energy change   =      energy needed to     –       energy released as 		         		break the bonds	            bonds are made</a:t>
            </a:r>
          </a:p>
          <a:p>
            <a:r>
              <a:rPr lang="en-GB" dirty="0">
                <a:solidFill>
                  <a:srgbClr val="00B050"/>
                </a:solidFill>
              </a:rPr>
              <a:t>			 2,316kJ/</a:t>
            </a:r>
            <a:r>
              <a:rPr lang="en-GB" dirty="0" err="1">
                <a:solidFill>
                  <a:srgbClr val="00B050"/>
                </a:solidFill>
              </a:rPr>
              <a:t>mol</a:t>
            </a:r>
            <a:r>
              <a:rPr lang="en-GB" dirty="0">
                <a:solidFill>
                  <a:srgbClr val="00B050"/>
                </a:solidFill>
              </a:rPr>
              <a:t>            -            2,238kJ/</a:t>
            </a:r>
            <a:r>
              <a:rPr lang="en-GB" dirty="0" err="1">
                <a:solidFill>
                  <a:srgbClr val="00B050"/>
                </a:solidFill>
              </a:rPr>
              <a:t>mol</a:t>
            </a:r>
            <a:endParaRPr lang="en-GB" dirty="0">
              <a:solidFill>
                <a:srgbClr val="00B050"/>
              </a:solidFill>
            </a:endParaRPr>
          </a:p>
          <a:p>
            <a:r>
              <a:rPr lang="en-GB" dirty="0">
                <a:solidFill>
                  <a:srgbClr val="00B050"/>
                </a:solidFill>
              </a:rPr>
              <a:t>Overall energy change   =  + 78kJ/</a:t>
            </a:r>
            <a:r>
              <a:rPr lang="en-GB" dirty="0" err="1">
                <a:solidFill>
                  <a:srgbClr val="00B050"/>
                </a:solidFill>
              </a:rPr>
              <a:t>mol</a:t>
            </a:r>
            <a:endParaRPr lang="en-GB" dirty="0">
              <a:solidFill>
                <a:srgbClr val="00B050"/>
              </a:solidFill>
            </a:endParaRPr>
          </a:p>
          <a:p>
            <a:endParaRPr lang="en-GB" dirty="0"/>
          </a:p>
        </p:txBody>
      </p:sp>
      <p:sp>
        <p:nvSpPr>
          <p:cNvPr id="32" name="TextBox 31"/>
          <p:cNvSpPr txBox="1"/>
          <p:nvPr/>
        </p:nvSpPr>
        <p:spPr>
          <a:xfrm>
            <a:off x="136209" y="5543557"/>
            <a:ext cx="8697143" cy="897576"/>
          </a:xfrm>
          <a:custGeom>
            <a:avLst/>
            <a:gdLst>
              <a:gd name="connsiteX0" fmla="*/ 0 w 8671385"/>
              <a:gd name="connsiteY0" fmla="*/ 0 h 503158"/>
              <a:gd name="connsiteX1" fmla="*/ 8671385 w 8671385"/>
              <a:gd name="connsiteY1" fmla="*/ 0 h 503158"/>
              <a:gd name="connsiteX2" fmla="*/ 8671385 w 8671385"/>
              <a:gd name="connsiteY2" fmla="*/ 503158 h 503158"/>
              <a:gd name="connsiteX3" fmla="*/ 0 w 8671385"/>
              <a:gd name="connsiteY3" fmla="*/ 503158 h 503158"/>
              <a:gd name="connsiteX4" fmla="*/ 0 w 8671385"/>
              <a:gd name="connsiteY4" fmla="*/ 0 h 503158"/>
              <a:gd name="connsiteX0" fmla="*/ 0 w 8671385"/>
              <a:gd name="connsiteY0" fmla="*/ 0 h 734977"/>
              <a:gd name="connsiteX1" fmla="*/ 8671385 w 8671385"/>
              <a:gd name="connsiteY1" fmla="*/ 231819 h 734977"/>
              <a:gd name="connsiteX2" fmla="*/ 8671385 w 8671385"/>
              <a:gd name="connsiteY2" fmla="*/ 734977 h 734977"/>
              <a:gd name="connsiteX3" fmla="*/ 0 w 8671385"/>
              <a:gd name="connsiteY3" fmla="*/ 734977 h 734977"/>
              <a:gd name="connsiteX4" fmla="*/ 0 w 8671385"/>
              <a:gd name="connsiteY4" fmla="*/ 0 h 734977"/>
              <a:gd name="connsiteX0" fmla="*/ 0 w 8684264"/>
              <a:gd name="connsiteY0" fmla="*/ 12880 h 747857"/>
              <a:gd name="connsiteX1" fmla="*/ 8684264 w 8684264"/>
              <a:gd name="connsiteY1" fmla="*/ 0 h 747857"/>
              <a:gd name="connsiteX2" fmla="*/ 8671385 w 8684264"/>
              <a:gd name="connsiteY2" fmla="*/ 747857 h 747857"/>
              <a:gd name="connsiteX3" fmla="*/ 0 w 8684264"/>
              <a:gd name="connsiteY3" fmla="*/ 747857 h 747857"/>
              <a:gd name="connsiteX4" fmla="*/ 0 w 8684264"/>
              <a:gd name="connsiteY4" fmla="*/ 12880 h 747857"/>
              <a:gd name="connsiteX0" fmla="*/ 12878 w 8697142"/>
              <a:gd name="connsiteY0" fmla="*/ 12880 h 966915"/>
              <a:gd name="connsiteX1" fmla="*/ 8697142 w 8697142"/>
              <a:gd name="connsiteY1" fmla="*/ 0 h 966915"/>
              <a:gd name="connsiteX2" fmla="*/ 8684263 w 8697142"/>
              <a:gd name="connsiteY2" fmla="*/ 747857 h 966915"/>
              <a:gd name="connsiteX3" fmla="*/ 0 w 8697142"/>
              <a:gd name="connsiteY3" fmla="*/ 966915 h 966915"/>
              <a:gd name="connsiteX4" fmla="*/ 12878 w 8697142"/>
              <a:gd name="connsiteY4" fmla="*/ 12880 h 966915"/>
              <a:gd name="connsiteX0" fmla="*/ 12878 w 8697142"/>
              <a:gd name="connsiteY0" fmla="*/ 12880 h 966915"/>
              <a:gd name="connsiteX1" fmla="*/ 8697142 w 8697142"/>
              <a:gd name="connsiteY1" fmla="*/ 0 h 966915"/>
              <a:gd name="connsiteX2" fmla="*/ 8684263 w 8697142"/>
              <a:gd name="connsiteY2" fmla="*/ 956484 h 966915"/>
              <a:gd name="connsiteX3" fmla="*/ 0 w 8697142"/>
              <a:gd name="connsiteY3" fmla="*/ 966915 h 966915"/>
              <a:gd name="connsiteX4" fmla="*/ 12878 w 8697142"/>
              <a:gd name="connsiteY4" fmla="*/ 12880 h 966915"/>
              <a:gd name="connsiteX0" fmla="*/ 12878 w 8697142"/>
              <a:gd name="connsiteY0" fmla="*/ 12880 h 966916"/>
              <a:gd name="connsiteX1" fmla="*/ 8697142 w 8697142"/>
              <a:gd name="connsiteY1" fmla="*/ 0 h 966916"/>
              <a:gd name="connsiteX2" fmla="*/ 8684263 w 8697142"/>
              <a:gd name="connsiteY2" fmla="*/ 966916 h 966916"/>
              <a:gd name="connsiteX3" fmla="*/ 0 w 8697142"/>
              <a:gd name="connsiteY3" fmla="*/ 966915 h 966916"/>
              <a:gd name="connsiteX4" fmla="*/ 12878 w 8697142"/>
              <a:gd name="connsiteY4" fmla="*/ 12880 h 966916"/>
              <a:gd name="connsiteX0" fmla="*/ 0 w 8697142"/>
              <a:gd name="connsiteY0" fmla="*/ 315388 h 966916"/>
              <a:gd name="connsiteX1" fmla="*/ 8697142 w 8697142"/>
              <a:gd name="connsiteY1" fmla="*/ 0 h 966916"/>
              <a:gd name="connsiteX2" fmla="*/ 8684263 w 8697142"/>
              <a:gd name="connsiteY2" fmla="*/ 966916 h 966916"/>
              <a:gd name="connsiteX3" fmla="*/ 0 w 8697142"/>
              <a:gd name="connsiteY3" fmla="*/ 966915 h 966916"/>
              <a:gd name="connsiteX4" fmla="*/ 0 w 8697142"/>
              <a:gd name="connsiteY4" fmla="*/ 315388 h 966916"/>
              <a:gd name="connsiteX0" fmla="*/ 0 w 8697142"/>
              <a:gd name="connsiteY0" fmla="*/ 23311 h 674839"/>
              <a:gd name="connsiteX1" fmla="*/ 8697142 w 8697142"/>
              <a:gd name="connsiteY1" fmla="*/ 0 h 674839"/>
              <a:gd name="connsiteX2" fmla="*/ 8684263 w 8697142"/>
              <a:gd name="connsiteY2" fmla="*/ 674839 h 674839"/>
              <a:gd name="connsiteX3" fmla="*/ 0 w 8697142"/>
              <a:gd name="connsiteY3" fmla="*/ 674838 h 674839"/>
              <a:gd name="connsiteX4" fmla="*/ 0 w 8697142"/>
              <a:gd name="connsiteY4" fmla="*/ 23311 h 674839"/>
              <a:gd name="connsiteX0" fmla="*/ 0 w 8697142"/>
              <a:gd name="connsiteY0" fmla="*/ 0 h 651528"/>
              <a:gd name="connsiteX1" fmla="*/ 8697142 w 8697142"/>
              <a:gd name="connsiteY1" fmla="*/ 7982 h 651528"/>
              <a:gd name="connsiteX2" fmla="*/ 8684263 w 8697142"/>
              <a:gd name="connsiteY2" fmla="*/ 651528 h 651528"/>
              <a:gd name="connsiteX3" fmla="*/ 0 w 8697142"/>
              <a:gd name="connsiteY3" fmla="*/ 651527 h 651528"/>
              <a:gd name="connsiteX4" fmla="*/ 0 w 8697142"/>
              <a:gd name="connsiteY4" fmla="*/ 0 h 651528"/>
              <a:gd name="connsiteX0" fmla="*/ 0 w 8697142"/>
              <a:gd name="connsiteY0" fmla="*/ 12881 h 664409"/>
              <a:gd name="connsiteX1" fmla="*/ 8697142 w 8697142"/>
              <a:gd name="connsiteY1" fmla="*/ 0 h 664409"/>
              <a:gd name="connsiteX2" fmla="*/ 8684263 w 8697142"/>
              <a:gd name="connsiteY2" fmla="*/ 664409 h 664409"/>
              <a:gd name="connsiteX3" fmla="*/ 0 w 8697142"/>
              <a:gd name="connsiteY3" fmla="*/ 664408 h 664409"/>
              <a:gd name="connsiteX4" fmla="*/ 0 w 8697142"/>
              <a:gd name="connsiteY4" fmla="*/ 12881 h 664409"/>
              <a:gd name="connsiteX0" fmla="*/ 0 w 8697142"/>
              <a:gd name="connsiteY0" fmla="*/ 2450 h 653978"/>
              <a:gd name="connsiteX1" fmla="*/ 8697142 w 8697142"/>
              <a:gd name="connsiteY1" fmla="*/ 0 h 653978"/>
              <a:gd name="connsiteX2" fmla="*/ 8684263 w 8697142"/>
              <a:gd name="connsiteY2" fmla="*/ 653978 h 653978"/>
              <a:gd name="connsiteX3" fmla="*/ 0 w 8697142"/>
              <a:gd name="connsiteY3" fmla="*/ 653977 h 653978"/>
              <a:gd name="connsiteX4" fmla="*/ 0 w 8697142"/>
              <a:gd name="connsiteY4" fmla="*/ 2450 h 653978"/>
              <a:gd name="connsiteX0" fmla="*/ 0 w 8697142"/>
              <a:gd name="connsiteY0" fmla="*/ 2450 h 726997"/>
              <a:gd name="connsiteX1" fmla="*/ 8697142 w 8697142"/>
              <a:gd name="connsiteY1" fmla="*/ 0 h 726997"/>
              <a:gd name="connsiteX2" fmla="*/ 8684263 w 8697142"/>
              <a:gd name="connsiteY2" fmla="*/ 726997 h 726997"/>
              <a:gd name="connsiteX3" fmla="*/ 0 w 8697142"/>
              <a:gd name="connsiteY3" fmla="*/ 653977 h 726997"/>
              <a:gd name="connsiteX4" fmla="*/ 0 w 8697142"/>
              <a:gd name="connsiteY4" fmla="*/ 2450 h 726997"/>
              <a:gd name="connsiteX0" fmla="*/ 0 w 8697142"/>
              <a:gd name="connsiteY0" fmla="*/ 2450 h 726997"/>
              <a:gd name="connsiteX1" fmla="*/ 8697142 w 8697142"/>
              <a:gd name="connsiteY1" fmla="*/ 0 h 726997"/>
              <a:gd name="connsiteX2" fmla="*/ 8684263 w 8697142"/>
              <a:gd name="connsiteY2" fmla="*/ 726997 h 726997"/>
              <a:gd name="connsiteX3" fmla="*/ 0 w 8697142"/>
              <a:gd name="connsiteY3" fmla="*/ 716565 h 726997"/>
              <a:gd name="connsiteX4" fmla="*/ 0 w 8697142"/>
              <a:gd name="connsiteY4" fmla="*/ 2450 h 726997"/>
              <a:gd name="connsiteX0" fmla="*/ 0 w 8697142"/>
              <a:gd name="connsiteY0" fmla="*/ 2450 h 726997"/>
              <a:gd name="connsiteX1" fmla="*/ 8697142 w 8697142"/>
              <a:gd name="connsiteY1" fmla="*/ 0 h 726997"/>
              <a:gd name="connsiteX2" fmla="*/ 8684263 w 8697142"/>
              <a:gd name="connsiteY2" fmla="*/ 726997 h 726997"/>
              <a:gd name="connsiteX3" fmla="*/ 0 w 8697142"/>
              <a:gd name="connsiteY3" fmla="*/ 726996 h 726997"/>
              <a:gd name="connsiteX4" fmla="*/ 0 w 8697142"/>
              <a:gd name="connsiteY4" fmla="*/ 2450 h 726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7142" h="726997">
                <a:moveTo>
                  <a:pt x="0" y="2450"/>
                </a:moveTo>
                <a:lnTo>
                  <a:pt x="8697142" y="0"/>
                </a:lnTo>
                <a:lnTo>
                  <a:pt x="8684263" y="726997"/>
                </a:lnTo>
                <a:lnTo>
                  <a:pt x="0" y="726996"/>
                </a:lnTo>
                <a:lnTo>
                  <a:pt x="0" y="2450"/>
                </a:lnTo>
                <a:close/>
              </a:path>
            </a:pathLst>
          </a:custGeom>
          <a:noFill/>
        </p:spPr>
        <p:txBody>
          <a:bodyPr wrap="square" rtlCol="0">
            <a:spAutoFit/>
          </a:bodyPr>
          <a:lstStyle/>
          <a:p>
            <a:r>
              <a:rPr lang="en-GB" b="1" dirty="0"/>
              <a:t>5.  Is the reaction exothermic or endothermic? Explain your answer.</a:t>
            </a:r>
          </a:p>
          <a:p>
            <a:endParaRPr lang="en-GB" dirty="0"/>
          </a:p>
          <a:p>
            <a:r>
              <a:rPr lang="en-GB" dirty="0"/>
              <a:t>       </a:t>
            </a:r>
            <a:r>
              <a:rPr lang="en-GB" dirty="0">
                <a:solidFill>
                  <a:srgbClr val="00B050"/>
                </a:solidFill>
              </a:rPr>
              <a:t>The reaction is endothermic as the overall energy change is positive.</a:t>
            </a:r>
          </a:p>
        </p:txBody>
      </p:sp>
      <p:graphicFrame>
        <p:nvGraphicFramePr>
          <p:cNvPr id="3" name="Table 2"/>
          <p:cNvGraphicFramePr>
            <a:graphicFrameLocks noGrp="1"/>
          </p:cNvGraphicFramePr>
          <p:nvPr>
            <p:extLst>
              <p:ext uri="{D42A27DB-BD31-4B8C-83A1-F6EECF244321}">
                <p14:modId xmlns:p14="http://schemas.microsoft.com/office/powerpoint/2010/main" val="2269656423"/>
              </p:ext>
            </p:extLst>
          </p:nvPr>
        </p:nvGraphicFramePr>
        <p:xfrm>
          <a:off x="611560" y="2492896"/>
          <a:ext cx="7704856" cy="177546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xmlns="" val="20000"/>
                    </a:ext>
                  </a:extLst>
                </a:gridCol>
                <a:gridCol w="4824536">
                  <a:extLst>
                    <a:ext uri="{9D8B030D-6E8A-4147-A177-3AD203B41FA5}">
                      <a16:colId xmlns:a16="http://schemas.microsoft.com/office/drawing/2014/main" xmlns="" val="20001"/>
                    </a:ext>
                  </a:extLst>
                </a:gridCol>
              </a:tblGrid>
              <a:tr h="1452115">
                <a:tc>
                  <a:txBody>
                    <a:bodyPr/>
                    <a:lstStyle/>
                    <a:p>
                      <a:pPr algn="ctr"/>
                      <a:r>
                        <a:rPr lang="en-GB" sz="1700" b="0" dirty="0">
                          <a:solidFill>
                            <a:srgbClr val="00B050"/>
                          </a:solidFill>
                        </a:rPr>
                        <a:t>F</a:t>
                      </a:r>
                      <a:r>
                        <a:rPr lang="en-GB" sz="1600" b="0" dirty="0">
                          <a:solidFill>
                            <a:srgbClr val="00B050"/>
                          </a:solidFill>
                        </a:rPr>
                        <a:t>or the reactants</a:t>
                      </a:r>
                    </a:p>
                    <a:p>
                      <a:pPr algn="ctr"/>
                      <a:r>
                        <a:rPr lang="en-GB" sz="1600" b="0" dirty="0">
                          <a:solidFill>
                            <a:srgbClr val="00B050"/>
                          </a:solidFill>
                        </a:rPr>
                        <a:t>There are three nitrogen to hydrogen bonds in each molecule and there are two molecules so</a:t>
                      </a:r>
                    </a:p>
                    <a:p>
                      <a:pPr algn="ctr"/>
                      <a:r>
                        <a:rPr lang="en-GB" sz="1600" b="0" dirty="0">
                          <a:solidFill>
                            <a:srgbClr val="00B050"/>
                          </a:solidFill>
                        </a:rPr>
                        <a:t>386kJ/</a:t>
                      </a:r>
                      <a:r>
                        <a:rPr lang="en-GB" sz="1600" b="0" dirty="0" err="1">
                          <a:solidFill>
                            <a:srgbClr val="00B050"/>
                          </a:solidFill>
                        </a:rPr>
                        <a:t>mol</a:t>
                      </a:r>
                      <a:r>
                        <a:rPr lang="en-GB" sz="1600" b="0" dirty="0">
                          <a:solidFill>
                            <a:srgbClr val="00B050"/>
                          </a:solidFill>
                        </a:rPr>
                        <a:t> x 6 = </a:t>
                      </a:r>
                      <a:r>
                        <a:rPr lang="en-GB" sz="1600" b="1" dirty="0">
                          <a:solidFill>
                            <a:srgbClr val="00B050"/>
                          </a:solidFill>
                        </a:rPr>
                        <a:t>2,316kJ/</a:t>
                      </a:r>
                      <a:r>
                        <a:rPr lang="en-GB" sz="1600" b="1" dirty="0" err="1">
                          <a:solidFill>
                            <a:srgbClr val="00B050"/>
                          </a:solidFill>
                        </a:rPr>
                        <a:t>mol</a:t>
                      </a:r>
                      <a:endParaRPr lang="en-GB" sz="1600" b="1" dirty="0">
                        <a:solidFill>
                          <a:srgbClr val="00B050"/>
                        </a:solidFill>
                      </a:endParaRPr>
                    </a:p>
                    <a:p>
                      <a:endParaRPr lang="en-GB" dirty="0">
                        <a:solidFill>
                          <a:schemeClr val="accent6"/>
                        </a:solidFill>
                      </a:endParaRPr>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GB" sz="1600" b="0" dirty="0">
                          <a:solidFill>
                            <a:srgbClr val="00B050"/>
                          </a:solidFill>
                        </a:rPr>
                        <a:t>For the products</a:t>
                      </a:r>
                    </a:p>
                    <a:p>
                      <a:pPr algn="ctr"/>
                      <a:r>
                        <a:rPr lang="en-GB" sz="1600" b="0" dirty="0">
                          <a:solidFill>
                            <a:srgbClr val="00B050"/>
                          </a:solidFill>
                        </a:rPr>
                        <a:t>There are three hydrogen to hydrogen bonds      (432kJ/</a:t>
                      </a:r>
                      <a:r>
                        <a:rPr lang="en-GB" sz="1600" b="0" dirty="0" err="1">
                          <a:solidFill>
                            <a:srgbClr val="00B050"/>
                          </a:solidFill>
                        </a:rPr>
                        <a:t>mol</a:t>
                      </a:r>
                      <a:r>
                        <a:rPr lang="en-GB" sz="1600" b="0" dirty="0">
                          <a:solidFill>
                            <a:srgbClr val="00B050"/>
                          </a:solidFill>
                        </a:rPr>
                        <a:t>)</a:t>
                      </a:r>
                      <a:r>
                        <a:rPr lang="en-GB" sz="1600" b="0" baseline="0" dirty="0">
                          <a:solidFill>
                            <a:srgbClr val="00B050"/>
                          </a:solidFill>
                        </a:rPr>
                        <a:t> and one nitrogen to nitrogen triple bond </a:t>
                      </a:r>
                      <a:r>
                        <a:rPr lang="en-GB" sz="1600" b="0" dirty="0">
                          <a:solidFill>
                            <a:srgbClr val="00B050"/>
                          </a:solidFill>
                        </a:rPr>
                        <a:t> so </a:t>
                      </a:r>
                    </a:p>
                    <a:p>
                      <a:pPr algn="ctr"/>
                      <a:r>
                        <a:rPr lang="en-GB" sz="1600" b="0" dirty="0">
                          <a:solidFill>
                            <a:srgbClr val="00B050"/>
                          </a:solidFill>
                        </a:rPr>
                        <a:t>3 x 432kJ/</a:t>
                      </a:r>
                      <a:r>
                        <a:rPr lang="en-GB" sz="1600" b="0" dirty="0" err="1">
                          <a:solidFill>
                            <a:srgbClr val="00B050"/>
                          </a:solidFill>
                        </a:rPr>
                        <a:t>mol</a:t>
                      </a:r>
                      <a:r>
                        <a:rPr lang="en-GB" sz="1600" b="0" dirty="0">
                          <a:solidFill>
                            <a:srgbClr val="00B050"/>
                          </a:solidFill>
                        </a:rPr>
                        <a:t> + 942kJ/</a:t>
                      </a:r>
                      <a:r>
                        <a:rPr lang="en-GB" sz="1600" b="0" dirty="0" err="1">
                          <a:solidFill>
                            <a:srgbClr val="00B050"/>
                          </a:solidFill>
                        </a:rPr>
                        <a:t>mol</a:t>
                      </a:r>
                      <a:r>
                        <a:rPr lang="en-GB" sz="1600" b="0" dirty="0">
                          <a:solidFill>
                            <a:srgbClr val="00B050"/>
                          </a:solidFill>
                        </a:rPr>
                        <a:t> </a:t>
                      </a:r>
                    </a:p>
                    <a:p>
                      <a:pPr algn="ctr"/>
                      <a:r>
                        <a:rPr lang="en-GB" sz="1600" b="0" dirty="0">
                          <a:solidFill>
                            <a:srgbClr val="00B050"/>
                          </a:solidFill>
                        </a:rPr>
                        <a:t>= </a:t>
                      </a:r>
                      <a:r>
                        <a:rPr lang="en-GB" sz="1600" b="1" dirty="0">
                          <a:solidFill>
                            <a:srgbClr val="00B050"/>
                          </a:solidFill>
                        </a:rPr>
                        <a:t>2,238kJ/</a:t>
                      </a:r>
                      <a:r>
                        <a:rPr lang="en-GB" sz="1600" b="1" dirty="0" err="1">
                          <a:solidFill>
                            <a:srgbClr val="00B050"/>
                          </a:solidFill>
                        </a:rPr>
                        <a:t>mol</a:t>
                      </a:r>
                      <a:endParaRPr lang="en-GB" sz="1600" b="1" dirty="0">
                        <a:solidFill>
                          <a:srgbClr val="00B050"/>
                        </a:solidFill>
                      </a:endParaRPr>
                    </a:p>
                    <a:p>
                      <a:endParaRPr lang="en-GB" dirty="0">
                        <a:solidFill>
                          <a:schemeClr val="accent6"/>
                        </a:solidFill>
                      </a:endParaRPr>
                    </a:p>
                  </a:txBody>
                  <a:tcPr>
                    <a:lnL w="12700" cap="flat" cmpd="sng" algn="ctr">
                      <a:noFill/>
                      <a:prstDash val="solid"/>
                      <a:round/>
                      <a:headEnd type="none" w="med" len="med"/>
                      <a:tailEnd type="none" w="med" len="med"/>
                    </a:lnL>
                    <a:no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960634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5293757"/>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Chemical Cells And </a:t>
            </a:r>
          </a:p>
          <a:p>
            <a:r>
              <a:rPr lang="en-GB" sz="3200" b="1" dirty="0">
                <a:solidFill>
                  <a:schemeClr val="tx1">
                    <a:lumMod val="50000"/>
                    <a:lumOff val="50000"/>
                  </a:schemeClr>
                </a:solidFill>
              </a:rPr>
              <a:t>Fuel Cells (Chemistry</a:t>
            </a:r>
          </a:p>
          <a:p>
            <a:r>
              <a:rPr lang="en-GB" sz="3200" b="1" dirty="0">
                <a:solidFill>
                  <a:schemeClr val="tx1">
                    <a:lumMod val="50000"/>
                    <a:lumOff val="50000"/>
                  </a:schemeClr>
                </a:solidFill>
              </a:rPr>
              <a:t>Only)</a:t>
            </a:r>
          </a:p>
          <a:p>
            <a:endParaRPr lang="en-GB" sz="3200" b="1" dirty="0">
              <a:solidFill>
                <a:schemeClr val="tx1">
                  <a:lumMod val="50000"/>
                  <a:lumOff val="50000"/>
                </a:schemeClr>
              </a:solidFill>
            </a:endParaRPr>
          </a:p>
          <a:p>
            <a:pPr marL="342900" indent="-342900">
              <a:buFont typeface="Arial" panose="020B0604020202020204" pitchFamily="34" charset="0"/>
              <a:buChar char="•"/>
            </a:pPr>
            <a:r>
              <a:rPr lang="en-GB" sz="2400" b="1" dirty="0">
                <a:solidFill>
                  <a:schemeClr val="tx1">
                    <a:lumMod val="50000"/>
                    <a:lumOff val="50000"/>
                  </a:schemeClr>
                </a:solidFill>
              </a:rPr>
              <a:t>Cells And Batteries</a:t>
            </a:r>
          </a:p>
          <a:p>
            <a:pPr marL="342900" indent="-342900">
              <a:buFont typeface="Arial" panose="020B0604020202020204" pitchFamily="34" charset="0"/>
              <a:buChar char="•"/>
            </a:pPr>
            <a:r>
              <a:rPr lang="en-GB" sz="2400" b="1" dirty="0">
                <a:solidFill>
                  <a:schemeClr val="tx1">
                    <a:lumMod val="50000"/>
                    <a:lumOff val="50000"/>
                  </a:schemeClr>
                </a:solidFill>
              </a:rPr>
              <a:t>Fuel Cells </a:t>
            </a: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33450053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Cells and batteries (Chemistry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251520" y="919173"/>
            <a:ext cx="5688632" cy="707886"/>
          </a:xfrm>
          <a:prstGeom prst="rect">
            <a:avLst/>
          </a:prstGeom>
          <a:noFill/>
          <a:ln w="28575">
            <a:solidFill>
              <a:schemeClr val="accent6"/>
            </a:solidFill>
          </a:ln>
        </p:spPr>
        <p:txBody>
          <a:bodyPr wrap="square" rtlCol="0">
            <a:spAutoFit/>
          </a:bodyPr>
          <a:lstStyle/>
          <a:p>
            <a:pPr algn="ctr"/>
            <a:r>
              <a:rPr lang="en-GB" sz="2000" b="1" dirty="0">
                <a:solidFill>
                  <a:schemeClr val="accent6">
                    <a:lumMod val="75000"/>
                  </a:schemeClr>
                </a:solidFill>
              </a:rPr>
              <a:t>Cells</a:t>
            </a:r>
            <a:r>
              <a:rPr lang="en-GB" sz="2000" b="1" dirty="0"/>
              <a:t> contain chemicals which react to produce electricity.</a:t>
            </a:r>
          </a:p>
        </p:txBody>
      </p:sp>
      <p:sp>
        <p:nvSpPr>
          <p:cNvPr id="6" name="TextBox 5"/>
          <p:cNvSpPr txBox="1"/>
          <p:nvPr/>
        </p:nvSpPr>
        <p:spPr>
          <a:xfrm>
            <a:off x="251520" y="1772816"/>
            <a:ext cx="5688632" cy="923330"/>
          </a:xfrm>
          <a:prstGeom prst="rect">
            <a:avLst/>
          </a:prstGeom>
          <a:noFill/>
          <a:ln w="28575">
            <a:solidFill>
              <a:schemeClr val="accent6"/>
            </a:solidFill>
          </a:ln>
        </p:spPr>
        <p:txBody>
          <a:bodyPr wrap="square" rtlCol="0">
            <a:spAutoFit/>
          </a:bodyPr>
          <a:lstStyle/>
          <a:p>
            <a:pPr algn="ctr"/>
            <a:r>
              <a:rPr lang="en-GB" b="1" dirty="0"/>
              <a:t>The </a:t>
            </a:r>
            <a:r>
              <a:rPr lang="en-GB" b="1" dirty="0">
                <a:solidFill>
                  <a:schemeClr val="accent6">
                    <a:lumMod val="75000"/>
                  </a:schemeClr>
                </a:solidFill>
              </a:rPr>
              <a:t>voltage</a:t>
            </a:r>
            <a:r>
              <a:rPr lang="en-GB" b="1" dirty="0"/>
              <a:t> produced by a cell is dependent upon a number of factors including the type of </a:t>
            </a:r>
            <a:r>
              <a:rPr lang="en-GB" b="1" dirty="0">
                <a:solidFill>
                  <a:schemeClr val="accent6">
                    <a:lumMod val="75000"/>
                  </a:schemeClr>
                </a:solidFill>
              </a:rPr>
              <a:t>electrode</a:t>
            </a:r>
            <a:r>
              <a:rPr lang="en-GB" b="1" dirty="0"/>
              <a:t> and </a:t>
            </a:r>
            <a:r>
              <a:rPr lang="en-GB" b="1" dirty="0">
                <a:solidFill>
                  <a:schemeClr val="accent6">
                    <a:lumMod val="75000"/>
                  </a:schemeClr>
                </a:solidFill>
              </a:rPr>
              <a:t>electrolyte.</a:t>
            </a:r>
          </a:p>
        </p:txBody>
      </p:sp>
      <p:sp>
        <p:nvSpPr>
          <p:cNvPr id="9" name="TextBox 8"/>
          <p:cNvSpPr txBox="1"/>
          <p:nvPr/>
        </p:nvSpPr>
        <p:spPr>
          <a:xfrm>
            <a:off x="251520" y="2852936"/>
            <a:ext cx="5688632" cy="646331"/>
          </a:xfrm>
          <a:prstGeom prst="rect">
            <a:avLst/>
          </a:prstGeom>
          <a:noFill/>
          <a:ln w="28575">
            <a:solidFill>
              <a:schemeClr val="accent6"/>
            </a:solidFill>
          </a:ln>
        </p:spPr>
        <p:txBody>
          <a:bodyPr wrap="square" rtlCol="0">
            <a:spAutoFit/>
          </a:bodyPr>
          <a:lstStyle/>
          <a:p>
            <a:pPr algn="ctr"/>
            <a:r>
              <a:rPr lang="en-GB" b="1" dirty="0"/>
              <a:t>A simple </a:t>
            </a:r>
            <a:r>
              <a:rPr lang="en-GB" b="1" dirty="0">
                <a:solidFill>
                  <a:schemeClr val="accent6">
                    <a:lumMod val="75000"/>
                  </a:schemeClr>
                </a:solidFill>
              </a:rPr>
              <a:t>cell</a:t>
            </a:r>
            <a:r>
              <a:rPr lang="en-GB" b="1" dirty="0"/>
              <a:t> can be made by connecting two different metals in contact with an </a:t>
            </a:r>
            <a:r>
              <a:rPr lang="en-GB" b="1" dirty="0">
                <a:solidFill>
                  <a:schemeClr val="accent6">
                    <a:lumMod val="75000"/>
                  </a:schemeClr>
                </a:solidFill>
              </a:rPr>
              <a:t>electrolyte</a:t>
            </a:r>
            <a:r>
              <a:rPr lang="en-GB" b="1" dirty="0"/>
              <a:t>.</a:t>
            </a:r>
          </a:p>
        </p:txBody>
      </p:sp>
      <p:sp>
        <p:nvSpPr>
          <p:cNvPr id="10" name="TextBox 9"/>
          <p:cNvSpPr txBox="1"/>
          <p:nvPr/>
        </p:nvSpPr>
        <p:spPr>
          <a:xfrm>
            <a:off x="6084168" y="836712"/>
            <a:ext cx="2664296" cy="2662555"/>
          </a:xfrm>
          <a:prstGeom prst="rect">
            <a:avLst/>
          </a:prstGeom>
          <a:noFill/>
          <a:ln w="19050">
            <a:solidFill>
              <a:schemeClr val="accent6"/>
            </a:solidFill>
          </a:ln>
        </p:spPr>
        <p:txBody>
          <a:bodyPr wrap="square" rtlCol="0">
            <a:spAutoFit/>
          </a:bodyPr>
          <a:lstStyle/>
          <a:p>
            <a:endParaRPr lang="en-GB" dirty="0"/>
          </a:p>
        </p:txBody>
      </p:sp>
      <p:sp>
        <p:nvSpPr>
          <p:cNvPr id="11" name="TextBox 10"/>
          <p:cNvSpPr txBox="1"/>
          <p:nvPr/>
        </p:nvSpPr>
        <p:spPr>
          <a:xfrm>
            <a:off x="251520" y="3645024"/>
            <a:ext cx="5688632" cy="646331"/>
          </a:xfrm>
          <a:prstGeom prst="rect">
            <a:avLst/>
          </a:prstGeom>
          <a:noFill/>
          <a:ln w="28575">
            <a:solidFill>
              <a:schemeClr val="accent6"/>
            </a:solidFill>
          </a:ln>
        </p:spPr>
        <p:txBody>
          <a:bodyPr wrap="square" rtlCol="0">
            <a:spAutoFit/>
          </a:bodyPr>
          <a:lstStyle/>
          <a:p>
            <a:pPr algn="ctr"/>
            <a:r>
              <a:rPr lang="en-GB" b="1" dirty="0">
                <a:solidFill>
                  <a:schemeClr val="accent6">
                    <a:lumMod val="75000"/>
                  </a:schemeClr>
                </a:solidFill>
              </a:rPr>
              <a:t>Batteries</a:t>
            </a:r>
            <a:r>
              <a:rPr lang="en-GB" b="1" dirty="0"/>
              <a:t> consist of two or more </a:t>
            </a:r>
            <a:r>
              <a:rPr lang="en-GB" b="1" dirty="0">
                <a:solidFill>
                  <a:schemeClr val="accent6">
                    <a:lumMod val="75000"/>
                  </a:schemeClr>
                </a:solidFill>
              </a:rPr>
              <a:t>cells </a:t>
            </a:r>
            <a:r>
              <a:rPr lang="en-GB" b="1" dirty="0"/>
              <a:t>connected together in </a:t>
            </a:r>
            <a:r>
              <a:rPr lang="en-GB" b="1" dirty="0">
                <a:solidFill>
                  <a:schemeClr val="accent6">
                    <a:lumMod val="75000"/>
                  </a:schemeClr>
                </a:solidFill>
              </a:rPr>
              <a:t>series</a:t>
            </a:r>
            <a:r>
              <a:rPr lang="en-GB" b="1" dirty="0"/>
              <a:t> to provide a greater voltage. </a:t>
            </a:r>
          </a:p>
        </p:txBody>
      </p:sp>
      <p:sp>
        <p:nvSpPr>
          <p:cNvPr id="13" name="TextBox 12"/>
          <p:cNvSpPr txBox="1"/>
          <p:nvPr/>
        </p:nvSpPr>
        <p:spPr>
          <a:xfrm>
            <a:off x="251520" y="4437112"/>
            <a:ext cx="5688632" cy="923330"/>
          </a:xfrm>
          <a:prstGeom prst="rect">
            <a:avLst/>
          </a:prstGeom>
          <a:noFill/>
          <a:ln w="28575">
            <a:solidFill>
              <a:schemeClr val="accent6"/>
            </a:solidFill>
          </a:ln>
        </p:spPr>
        <p:txBody>
          <a:bodyPr wrap="square" rtlCol="0">
            <a:spAutoFit/>
          </a:bodyPr>
          <a:lstStyle/>
          <a:p>
            <a:pPr algn="ctr"/>
            <a:r>
              <a:rPr lang="en-GB" b="1" dirty="0"/>
              <a:t>In </a:t>
            </a:r>
            <a:r>
              <a:rPr lang="en-GB" b="1" dirty="0">
                <a:solidFill>
                  <a:schemeClr val="accent6">
                    <a:lumMod val="75000"/>
                  </a:schemeClr>
                </a:solidFill>
              </a:rPr>
              <a:t>non-rechargeable cells </a:t>
            </a:r>
            <a:r>
              <a:rPr lang="en-GB" b="1" dirty="0"/>
              <a:t>and batteries the chemical reactions stop when one of the reactants has been used up. </a:t>
            </a:r>
            <a:r>
              <a:rPr lang="en-GB" b="1" dirty="0">
                <a:solidFill>
                  <a:schemeClr val="accent6">
                    <a:lumMod val="75000"/>
                  </a:schemeClr>
                </a:solidFill>
              </a:rPr>
              <a:t>Alkaline batteries </a:t>
            </a:r>
            <a:r>
              <a:rPr lang="en-GB" b="1" dirty="0"/>
              <a:t>are </a:t>
            </a:r>
            <a:r>
              <a:rPr lang="en-GB" b="1" dirty="0">
                <a:solidFill>
                  <a:schemeClr val="accent6">
                    <a:lumMod val="75000"/>
                  </a:schemeClr>
                </a:solidFill>
              </a:rPr>
              <a:t>non-rechargeable</a:t>
            </a:r>
            <a:r>
              <a:rPr lang="en-GB" b="1" dirty="0"/>
              <a:t>.</a:t>
            </a:r>
          </a:p>
        </p:txBody>
      </p:sp>
      <p:sp>
        <p:nvSpPr>
          <p:cNvPr id="14" name="TextBox 13"/>
          <p:cNvSpPr txBox="1"/>
          <p:nvPr/>
        </p:nvSpPr>
        <p:spPr>
          <a:xfrm>
            <a:off x="251520" y="5517232"/>
            <a:ext cx="5688632" cy="923330"/>
          </a:xfrm>
          <a:prstGeom prst="rect">
            <a:avLst/>
          </a:prstGeom>
          <a:noFill/>
          <a:ln w="28575">
            <a:solidFill>
              <a:schemeClr val="accent6"/>
            </a:solidFill>
          </a:ln>
        </p:spPr>
        <p:txBody>
          <a:bodyPr wrap="square" rtlCol="0">
            <a:spAutoFit/>
          </a:bodyPr>
          <a:lstStyle/>
          <a:p>
            <a:pPr algn="ctr"/>
            <a:r>
              <a:rPr lang="en-GB" b="1" dirty="0">
                <a:solidFill>
                  <a:schemeClr val="accent6">
                    <a:lumMod val="75000"/>
                  </a:schemeClr>
                </a:solidFill>
              </a:rPr>
              <a:t>Rechargeable cells</a:t>
            </a:r>
            <a:r>
              <a:rPr lang="en-GB" b="1" dirty="0"/>
              <a:t> and </a:t>
            </a:r>
            <a:r>
              <a:rPr lang="en-GB" b="1" dirty="0">
                <a:solidFill>
                  <a:schemeClr val="accent6">
                    <a:lumMod val="75000"/>
                  </a:schemeClr>
                </a:solidFill>
              </a:rPr>
              <a:t>batteries</a:t>
            </a:r>
            <a:r>
              <a:rPr lang="en-GB" b="1" dirty="0"/>
              <a:t> can be recharged because the chemical reactions are reversed when an external electrical current is supplied.</a:t>
            </a:r>
          </a:p>
        </p:txBody>
      </p:sp>
      <p:sp>
        <p:nvSpPr>
          <p:cNvPr id="15" name="TextBox 14"/>
          <p:cNvSpPr txBox="1"/>
          <p:nvPr/>
        </p:nvSpPr>
        <p:spPr>
          <a:xfrm>
            <a:off x="6084168" y="3645024"/>
            <a:ext cx="2664296" cy="2795538"/>
          </a:xfrm>
          <a:prstGeom prst="rect">
            <a:avLst/>
          </a:prstGeom>
          <a:noFill/>
          <a:ln w="19050">
            <a:solidFill>
              <a:schemeClr val="accent6"/>
            </a:solidFill>
          </a:ln>
        </p:spPr>
        <p:txBody>
          <a:bodyPr wrap="square" rtlCol="0">
            <a:spAutoFit/>
          </a:bodyPr>
          <a:lstStyle/>
          <a:p>
            <a:endParaRPr lang="en-GB" dirty="0"/>
          </a:p>
        </p:txBody>
      </p:sp>
      <p:pic>
        <p:nvPicPr>
          <p:cNvPr id="4" name="Picture 3"/>
          <p:cNvPicPr>
            <a:picLocks noChangeAspect="1"/>
          </p:cNvPicPr>
          <p:nvPr/>
        </p:nvPicPr>
        <p:blipFill>
          <a:blip r:embed="rId3"/>
          <a:stretch>
            <a:fillRect/>
          </a:stretch>
        </p:blipFill>
        <p:spPr>
          <a:xfrm>
            <a:off x="6156176" y="908720"/>
            <a:ext cx="2520279" cy="2520280"/>
          </a:xfrm>
          <a:prstGeom prst="rect">
            <a:avLst/>
          </a:prstGeom>
        </p:spPr>
      </p:pic>
      <p:pic>
        <p:nvPicPr>
          <p:cNvPr id="5" name="Picture 4"/>
          <p:cNvPicPr>
            <a:picLocks noChangeAspect="1"/>
          </p:cNvPicPr>
          <p:nvPr/>
        </p:nvPicPr>
        <p:blipFill>
          <a:blip r:embed="rId4"/>
          <a:stretch>
            <a:fillRect/>
          </a:stretch>
        </p:blipFill>
        <p:spPr>
          <a:xfrm>
            <a:off x="6156176" y="3692962"/>
            <a:ext cx="2520278" cy="2688365"/>
          </a:xfrm>
          <a:prstGeom prst="rect">
            <a:avLst/>
          </a:prstGeom>
        </p:spPr>
      </p:pic>
    </p:spTree>
    <p:extLst>
      <p:ext uri="{BB962C8B-B14F-4D97-AF65-F5344CB8AC3E}">
        <p14:creationId xmlns:p14="http://schemas.microsoft.com/office/powerpoint/2010/main" val="21653563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6436" y="-14024"/>
            <a:ext cx="6876256" cy="657041"/>
          </a:xfrm>
        </p:spPr>
        <p:txBody>
          <a:bodyPr>
            <a:noAutofit/>
          </a:bodyPr>
          <a:lstStyle/>
          <a:p>
            <a:pPr marL="342900" lvl="1" algn="r" defTabSz="342900" rtl="0">
              <a:spcBef>
                <a:spcPct val="20000"/>
              </a:spcBef>
            </a:pPr>
            <a:r>
              <a:rPr lang="en-US" sz="2400" b="1" dirty="0">
                <a:solidFill>
                  <a:schemeClr val="accent6"/>
                </a:solidFill>
              </a:rPr>
              <a:t>Fuel Cells (Chemistry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251520" y="836712"/>
            <a:ext cx="5400600" cy="1261884"/>
          </a:xfrm>
          <a:prstGeom prst="rect">
            <a:avLst/>
          </a:prstGeom>
          <a:noFill/>
          <a:ln w="28575">
            <a:solidFill>
              <a:schemeClr val="accent6"/>
            </a:solidFill>
          </a:ln>
        </p:spPr>
        <p:txBody>
          <a:bodyPr wrap="square" rtlCol="0">
            <a:spAutoFit/>
          </a:bodyPr>
          <a:lstStyle/>
          <a:p>
            <a:pPr algn="ctr"/>
            <a:r>
              <a:rPr lang="en-GB" sz="1900" b="1" dirty="0">
                <a:solidFill>
                  <a:schemeClr val="accent6">
                    <a:lumMod val="75000"/>
                  </a:schemeClr>
                </a:solidFill>
              </a:rPr>
              <a:t>Fuel cells </a:t>
            </a:r>
            <a:r>
              <a:rPr lang="en-GB" sz="1900" b="1" dirty="0"/>
              <a:t>are supplied by an external source of fuel (e.g. hydrogen) and oxygen or air. The fuel is </a:t>
            </a:r>
            <a:r>
              <a:rPr lang="en-GB" sz="1900" b="1" dirty="0">
                <a:solidFill>
                  <a:schemeClr val="accent6">
                    <a:lumMod val="75000"/>
                  </a:schemeClr>
                </a:solidFill>
              </a:rPr>
              <a:t>oxidised electrochemically </a:t>
            </a:r>
            <a:r>
              <a:rPr lang="en-GB" sz="1900" b="1" dirty="0"/>
              <a:t>within the fuel cell to produce a </a:t>
            </a:r>
            <a:r>
              <a:rPr lang="en-GB" sz="1900" b="1" dirty="0">
                <a:solidFill>
                  <a:schemeClr val="accent6">
                    <a:lumMod val="75000"/>
                  </a:schemeClr>
                </a:solidFill>
              </a:rPr>
              <a:t>potential difference </a:t>
            </a:r>
            <a:r>
              <a:rPr lang="en-GB" sz="1900" b="1" dirty="0"/>
              <a:t>(a voltage).</a:t>
            </a:r>
          </a:p>
        </p:txBody>
      </p:sp>
      <p:sp>
        <p:nvSpPr>
          <p:cNvPr id="9" name="TextBox 8"/>
          <p:cNvSpPr txBox="1"/>
          <p:nvPr/>
        </p:nvSpPr>
        <p:spPr>
          <a:xfrm>
            <a:off x="250162" y="2299144"/>
            <a:ext cx="5401958" cy="1261884"/>
          </a:xfrm>
          <a:custGeom>
            <a:avLst/>
            <a:gdLst>
              <a:gd name="connsiteX0" fmla="*/ 0 w 5688632"/>
              <a:gd name="connsiteY0" fmla="*/ 0 h 646331"/>
              <a:gd name="connsiteX1" fmla="*/ 5688632 w 5688632"/>
              <a:gd name="connsiteY1" fmla="*/ 0 h 646331"/>
              <a:gd name="connsiteX2" fmla="*/ 5688632 w 5688632"/>
              <a:gd name="connsiteY2" fmla="*/ 646331 h 646331"/>
              <a:gd name="connsiteX3" fmla="*/ 0 w 5688632"/>
              <a:gd name="connsiteY3" fmla="*/ 646331 h 646331"/>
              <a:gd name="connsiteX4" fmla="*/ 0 w 5688632"/>
              <a:gd name="connsiteY4" fmla="*/ 0 h 646331"/>
              <a:gd name="connsiteX0" fmla="*/ 25758 w 5688632"/>
              <a:gd name="connsiteY0" fmla="*/ 0 h 1200123"/>
              <a:gd name="connsiteX1" fmla="*/ 5688632 w 5688632"/>
              <a:gd name="connsiteY1" fmla="*/ 553792 h 1200123"/>
              <a:gd name="connsiteX2" fmla="*/ 5688632 w 5688632"/>
              <a:gd name="connsiteY2" fmla="*/ 1200123 h 1200123"/>
              <a:gd name="connsiteX3" fmla="*/ 0 w 5688632"/>
              <a:gd name="connsiteY3" fmla="*/ 1200123 h 1200123"/>
              <a:gd name="connsiteX4" fmla="*/ 25758 w 5688632"/>
              <a:gd name="connsiteY4" fmla="*/ 0 h 1200123"/>
              <a:gd name="connsiteX0" fmla="*/ 25758 w 5701510"/>
              <a:gd name="connsiteY0" fmla="*/ 0 h 1200123"/>
              <a:gd name="connsiteX1" fmla="*/ 5701510 w 5701510"/>
              <a:gd name="connsiteY1" fmla="*/ 0 h 1200123"/>
              <a:gd name="connsiteX2" fmla="*/ 5688632 w 5701510"/>
              <a:gd name="connsiteY2" fmla="*/ 1200123 h 1200123"/>
              <a:gd name="connsiteX3" fmla="*/ 0 w 5701510"/>
              <a:gd name="connsiteY3" fmla="*/ 1200123 h 1200123"/>
              <a:gd name="connsiteX4" fmla="*/ 25758 w 5701510"/>
              <a:gd name="connsiteY4" fmla="*/ 0 h 1200123"/>
              <a:gd name="connsiteX0" fmla="*/ 0 w 5702944"/>
              <a:gd name="connsiteY0" fmla="*/ 0 h 1200123"/>
              <a:gd name="connsiteX1" fmla="*/ 5702944 w 5702944"/>
              <a:gd name="connsiteY1" fmla="*/ 0 h 1200123"/>
              <a:gd name="connsiteX2" fmla="*/ 5690066 w 5702944"/>
              <a:gd name="connsiteY2" fmla="*/ 1200123 h 1200123"/>
              <a:gd name="connsiteX3" fmla="*/ 1434 w 5702944"/>
              <a:gd name="connsiteY3" fmla="*/ 1200123 h 1200123"/>
              <a:gd name="connsiteX4" fmla="*/ 0 w 5702944"/>
              <a:gd name="connsiteY4" fmla="*/ 0 h 1200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2944" h="1200123">
                <a:moveTo>
                  <a:pt x="0" y="0"/>
                </a:moveTo>
                <a:lnTo>
                  <a:pt x="5702944" y="0"/>
                </a:lnTo>
                <a:lnTo>
                  <a:pt x="5690066" y="1200123"/>
                </a:lnTo>
                <a:lnTo>
                  <a:pt x="1434" y="1200123"/>
                </a:lnTo>
                <a:lnTo>
                  <a:pt x="0" y="0"/>
                </a:lnTo>
                <a:close/>
              </a:path>
            </a:pathLst>
          </a:custGeom>
          <a:noFill/>
          <a:ln w="28575">
            <a:solidFill>
              <a:schemeClr val="accent6"/>
            </a:solidFill>
          </a:ln>
        </p:spPr>
        <p:txBody>
          <a:bodyPr wrap="square" rtlCol="0">
            <a:spAutoFit/>
          </a:bodyPr>
          <a:lstStyle/>
          <a:p>
            <a:pPr algn="ctr"/>
            <a:r>
              <a:rPr lang="en-GB" sz="1900" b="1" dirty="0"/>
              <a:t>The overall reaction in a hydrogen fuel cell involves the oxidation of hydrogen to produce water.</a:t>
            </a:r>
          </a:p>
          <a:p>
            <a:pPr algn="ctr"/>
            <a:r>
              <a:rPr lang="en-GB" sz="1900" b="1" dirty="0">
                <a:solidFill>
                  <a:schemeClr val="accent6">
                    <a:lumMod val="75000"/>
                  </a:schemeClr>
                </a:solidFill>
              </a:rPr>
              <a:t>hydrogen  +  oxygen </a:t>
            </a:r>
            <a:r>
              <a:rPr lang="en-GB" sz="1900" b="1" dirty="0">
                <a:solidFill>
                  <a:schemeClr val="accent6">
                    <a:lumMod val="75000"/>
                  </a:schemeClr>
                </a:solidFill>
                <a:sym typeface="Wingdings" panose="05000000000000000000" pitchFamily="2" charset="2"/>
              </a:rPr>
              <a:t>  water</a:t>
            </a:r>
          </a:p>
          <a:p>
            <a:pPr algn="ctr"/>
            <a:r>
              <a:rPr lang="en-GB" sz="1900" b="1" dirty="0">
                <a:solidFill>
                  <a:schemeClr val="accent6">
                    <a:lumMod val="75000"/>
                  </a:schemeClr>
                </a:solidFill>
                <a:sym typeface="Wingdings" panose="05000000000000000000" pitchFamily="2" charset="2"/>
              </a:rPr>
              <a:t>2H</a:t>
            </a:r>
            <a:r>
              <a:rPr lang="en-GB" sz="1900" b="1" baseline="-25000" dirty="0">
                <a:solidFill>
                  <a:schemeClr val="accent6">
                    <a:lumMod val="75000"/>
                  </a:schemeClr>
                </a:solidFill>
                <a:sym typeface="Wingdings" panose="05000000000000000000" pitchFamily="2" charset="2"/>
              </a:rPr>
              <a:t>2 </a:t>
            </a:r>
            <a:r>
              <a:rPr lang="en-GB" sz="1900" b="1" dirty="0">
                <a:solidFill>
                  <a:schemeClr val="accent6">
                    <a:lumMod val="75000"/>
                  </a:schemeClr>
                </a:solidFill>
                <a:sym typeface="Wingdings" panose="05000000000000000000" pitchFamily="2" charset="2"/>
              </a:rPr>
              <a:t>(g)  +  O</a:t>
            </a:r>
            <a:r>
              <a:rPr lang="en-GB" sz="1900" b="1" baseline="-25000" dirty="0">
                <a:solidFill>
                  <a:schemeClr val="accent6">
                    <a:lumMod val="75000"/>
                  </a:schemeClr>
                </a:solidFill>
                <a:sym typeface="Wingdings" panose="05000000000000000000" pitchFamily="2" charset="2"/>
              </a:rPr>
              <a:t>2</a:t>
            </a:r>
            <a:r>
              <a:rPr lang="en-GB" sz="1900" b="1" dirty="0">
                <a:solidFill>
                  <a:schemeClr val="accent6">
                    <a:lumMod val="75000"/>
                  </a:schemeClr>
                </a:solidFill>
                <a:sym typeface="Wingdings" panose="05000000000000000000" pitchFamily="2" charset="2"/>
              </a:rPr>
              <a:t> (g)  2H</a:t>
            </a:r>
            <a:r>
              <a:rPr lang="en-GB" sz="1900" b="1" baseline="-25000" dirty="0">
                <a:solidFill>
                  <a:schemeClr val="accent6">
                    <a:lumMod val="75000"/>
                  </a:schemeClr>
                </a:solidFill>
                <a:sym typeface="Wingdings" panose="05000000000000000000" pitchFamily="2" charset="2"/>
              </a:rPr>
              <a:t>2</a:t>
            </a:r>
            <a:r>
              <a:rPr lang="en-GB" sz="1900" b="1" dirty="0">
                <a:solidFill>
                  <a:schemeClr val="accent6">
                    <a:lumMod val="75000"/>
                  </a:schemeClr>
                </a:solidFill>
                <a:sym typeface="Wingdings" panose="05000000000000000000" pitchFamily="2" charset="2"/>
              </a:rPr>
              <a:t>O (g)</a:t>
            </a:r>
            <a:endParaRPr lang="en-GB" sz="1900" b="1" dirty="0">
              <a:solidFill>
                <a:schemeClr val="accent6">
                  <a:lumMod val="75000"/>
                </a:schemeClr>
              </a:solidFill>
            </a:endParaRPr>
          </a:p>
        </p:txBody>
      </p:sp>
      <p:sp>
        <p:nvSpPr>
          <p:cNvPr id="11" name="TextBox 10"/>
          <p:cNvSpPr txBox="1"/>
          <p:nvPr/>
        </p:nvSpPr>
        <p:spPr>
          <a:xfrm>
            <a:off x="251520" y="3696540"/>
            <a:ext cx="5400600" cy="1885295"/>
          </a:xfrm>
          <a:custGeom>
            <a:avLst/>
            <a:gdLst>
              <a:gd name="connsiteX0" fmla="*/ 0 w 5400600"/>
              <a:gd name="connsiteY0" fmla="*/ 0 h 1554272"/>
              <a:gd name="connsiteX1" fmla="*/ 5400600 w 5400600"/>
              <a:gd name="connsiteY1" fmla="*/ 0 h 1554272"/>
              <a:gd name="connsiteX2" fmla="*/ 5400600 w 5400600"/>
              <a:gd name="connsiteY2" fmla="*/ 1554272 h 1554272"/>
              <a:gd name="connsiteX3" fmla="*/ 0 w 5400600"/>
              <a:gd name="connsiteY3" fmla="*/ 1554272 h 1554272"/>
              <a:gd name="connsiteX4" fmla="*/ 0 w 5400600"/>
              <a:gd name="connsiteY4" fmla="*/ 0 h 1554272"/>
              <a:gd name="connsiteX0" fmla="*/ 25757 w 5400600"/>
              <a:gd name="connsiteY0" fmla="*/ 77273 h 1554272"/>
              <a:gd name="connsiteX1" fmla="*/ 5400600 w 5400600"/>
              <a:gd name="connsiteY1" fmla="*/ 0 h 1554272"/>
              <a:gd name="connsiteX2" fmla="*/ 5400600 w 5400600"/>
              <a:gd name="connsiteY2" fmla="*/ 1554272 h 1554272"/>
              <a:gd name="connsiteX3" fmla="*/ 0 w 5400600"/>
              <a:gd name="connsiteY3" fmla="*/ 1554272 h 1554272"/>
              <a:gd name="connsiteX4" fmla="*/ 25757 w 5400600"/>
              <a:gd name="connsiteY4" fmla="*/ 77273 h 1554272"/>
              <a:gd name="connsiteX0" fmla="*/ 0 w 5400600"/>
              <a:gd name="connsiteY0" fmla="*/ 90152 h 1554272"/>
              <a:gd name="connsiteX1" fmla="*/ 5400600 w 5400600"/>
              <a:gd name="connsiteY1" fmla="*/ 0 h 1554272"/>
              <a:gd name="connsiteX2" fmla="*/ 5400600 w 5400600"/>
              <a:gd name="connsiteY2" fmla="*/ 1554272 h 1554272"/>
              <a:gd name="connsiteX3" fmla="*/ 0 w 5400600"/>
              <a:gd name="connsiteY3" fmla="*/ 1554272 h 1554272"/>
              <a:gd name="connsiteX4" fmla="*/ 0 w 5400600"/>
              <a:gd name="connsiteY4" fmla="*/ 90152 h 1554272"/>
              <a:gd name="connsiteX0" fmla="*/ 0 w 5400600"/>
              <a:gd name="connsiteY0" fmla="*/ 0 h 1464120"/>
              <a:gd name="connsiteX1" fmla="*/ 5400600 w 5400600"/>
              <a:gd name="connsiteY1" fmla="*/ 0 h 1464120"/>
              <a:gd name="connsiteX2" fmla="*/ 5400600 w 5400600"/>
              <a:gd name="connsiteY2" fmla="*/ 1464120 h 1464120"/>
              <a:gd name="connsiteX3" fmla="*/ 0 w 5400600"/>
              <a:gd name="connsiteY3" fmla="*/ 1464120 h 1464120"/>
              <a:gd name="connsiteX4" fmla="*/ 0 w 5400600"/>
              <a:gd name="connsiteY4" fmla="*/ 0 h 1464120"/>
              <a:gd name="connsiteX0" fmla="*/ 0 w 5400600"/>
              <a:gd name="connsiteY0" fmla="*/ 0 h 1567151"/>
              <a:gd name="connsiteX1" fmla="*/ 5400600 w 5400600"/>
              <a:gd name="connsiteY1" fmla="*/ 0 h 1567151"/>
              <a:gd name="connsiteX2" fmla="*/ 5400600 w 5400600"/>
              <a:gd name="connsiteY2" fmla="*/ 1567151 h 1567151"/>
              <a:gd name="connsiteX3" fmla="*/ 0 w 5400600"/>
              <a:gd name="connsiteY3" fmla="*/ 1464120 h 1567151"/>
              <a:gd name="connsiteX4" fmla="*/ 0 w 5400600"/>
              <a:gd name="connsiteY4" fmla="*/ 0 h 1567151"/>
              <a:gd name="connsiteX0" fmla="*/ 0 w 5400600"/>
              <a:gd name="connsiteY0" fmla="*/ 0 h 1567151"/>
              <a:gd name="connsiteX1" fmla="*/ 5400600 w 5400600"/>
              <a:gd name="connsiteY1" fmla="*/ 0 h 1567151"/>
              <a:gd name="connsiteX2" fmla="*/ 5400600 w 5400600"/>
              <a:gd name="connsiteY2" fmla="*/ 1567151 h 1567151"/>
              <a:gd name="connsiteX3" fmla="*/ 12878 w 5400600"/>
              <a:gd name="connsiteY3" fmla="*/ 1567151 h 1567151"/>
              <a:gd name="connsiteX4" fmla="*/ 0 w 5400600"/>
              <a:gd name="connsiteY4" fmla="*/ 0 h 1567151"/>
              <a:gd name="connsiteX0" fmla="*/ 0 w 5400600"/>
              <a:gd name="connsiteY0" fmla="*/ 0 h 1567151"/>
              <a:gd name="connsiteX1" fmla="*/ 5400600 w 5400600"/>
              <a:gd name="connsiteY1" fmla="*/ 0 h 1567151"/>
              <a:gd name="connsiteX2" fmla="*/ 5400600 w 5400600"/>
              <a:gd name="connsiteY2" fmla="*/ 1567151 h 1567151"/>
              <a:gd name="connsiteX3" fmla="*/ 0 w 5400600"/>
              <a:gd name="connsiteY3" fmla="*/ 1567151 h 1567151"/>
              <a:gd name="connsiteX4" fmla="*/ 0 w 5400600"/>
              <a:gd name="connsiteY4" fmla="*/ 0 h 1567151"/>
              <a:gd name="connsiteX0" fmla="*/ 0 w 5400600"/>
              <a:gd name="connsiteY0" fmla="*/ 0 h 1599939"/>
              <a:gd name="connsiteX1" fmla="*/ 5400600 w 5400600"/>
              <a:gd name="connsiteY1" fmla="*/ 32788 h 1599939"/>
              <a:gd name="connsiteX2" fmla="*/ 5400600 w 5400600"/>
              <a:gd name="connsiteY2" fmla="*/ 1599939 h 1599939"/>
              <a:gd name="connsiteX3" fmla="*/ 0 w 5400600"/>
              <a:gd name="connsiteY3" fmla="*/ 1599939 h 1599939"/>
              <a:gd name="connsiteX4" fmla="*/ 0 w 5400600"/>
              <a:gd name="connsiteY4" fmla="*/ 0 h 1599939"/>
              <a:gd name="connsiteX0" fmla="*/ 0 w 5400600"/>
              <a:gd name="connsiteY0" fmla="*/ 0 h 1599939"/>
              <a:gd name="connsiteX1" fmla="*/ 5400600 w 5400600"/>
              <a:gd name="connsiteY1" fmla="*/ 0 h 1599939"/>
              <a:gd name="connsiteX2" fmla="*/ 5400600 w 5400600"/>
              <a:gd name="connsiteY2" fmla="*/ 1599939 h 1599939"/>
              <a:gd name="connsiteX3" fmla="*/ 0 w 5400600"/>
              <a:gd name="connsiteY3" fmla="*/ 1599939 h 1599939"/>
              <a:gd name="connsiteX4" fmla="*/ 0 w 5400600"/>
              <a:gd name="connsiteY4" fmla="*/ 0 h 15999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600" h="1599939">
                <a:moveTo>
                  <a:pt x="0" y="0"/>
                </a:moveTo>
                <a:lnTo>
                  <a:pt x="5400600" y="0"/>
                </a:lnTo>
                <a:lnTo>
                  <a:pt x="5400600" y="1599939"/>
                </a:lnTo>
                <a:lnTo>
                  <a:pt x="0" y="1599939"/>
                </a:lnTo>
                <a:lnTo>
                  <a:pt x="0" y="0"/>
                </a:lnTo>
                <a:close/>
              </a:path>
            </a:pathLst>
          </a:custGeom>
          <a:noFill/>
          <a:ln w="28575">
            <a:solidFill>
              <a:schemeClr val="accent6"/>
            </a:solidFill>
          </a:ln>
        </p:spPr>
        <p:txBody>
          <a:bodyPr wrap="square" rtlCol="0">
            <a:spAutoFit/>
          </a:bodyPr>
          <a:lstStyle/>
          <a:p>
            <a:pPr algn="ctr"/>
            <a:r>
              <a:rPr lang="en-GB" sz="1900" b="1" dirty="0"/>
              <a:t>(Higher Tier only) </a:t>
            </a:r>
          </a:p>
          <a:p>
            <a:pPr algn="ctr"/>
            <a:r>
              <a:rPr lang="en-GB" sz="1900" b="1" dirty="0"/>
              <a:t>There are two electrodes in the hydrogen fuel cell.</a:t>
            </a:r>
          </a:p>
          <a:p>
            <a:pPr algn="ctr"/>
            <a:r>
              <a:rPr lang="en-GB" sz="1900" b="1" dirty="0"/>
              <a:t>At the </a:t>
            </a:r>
            <a:r>
              <a:rPr lang="en-GB" sz="1900" b="1" dirty="0">
                <a:solidFill>
                  <a:schemeClr val="accent6">
                    <a:lumMod val="75000"/>
                  </a:schemeClr>
                </a:solidFill>
              </a:rPr>
              <a:t>cathode</a:t>
            </a:r>
            <a:r>
              <a:rPr lang="en-GB" sz="1900" b="1" dirty="0"/>
              <a:t> (+ charged)</a:t>
            </a:r>
          </a:p>
          <a:p>
            <a:pPr algn="ctr"/>
            <a:r>
              <a:rPr lang="en-GB" sz="1900" b="1" dirty="0">
                <a:solidFill>
                  <a:schemeClr val="accent6">
                    <a:lumMod val="75000"/>
                  </a:schemeClr>
                </a:solidFill>
              </a:rPr>
              <a:t>2H</a:t>
            </a:r>
            <a:r>
              <a:rPr lang="en-GB" sz="1900" b="1" baseline="-25000" dirty="0">
                <a:solidFill>
                  <a:schemeClr val="accent6">
                    <a:lumMod val="75000"/>
                  </a:schemeClr>
                </a:solidFill>
              </a:rPr>
              <a:t>2</a:t>
            </a:r>
            <a:r>
              <a:rPr lang="en-GB" sz="1900" b="1" dirty="0">
                <a:solidFill>
                  <a:schemeClr val="accent6">
                    <a:lumMod val="75000"/>
                  </a:schemeClr>
                </a:solidFill>
              </a:rPr>
              <a:t> (g) </a:t>
            </a:r>
            <a:r>
              <a:rPr lang="en-GB" sz="1900" b="1" dirty="0">
                <a:solidFill>
                  <a:schemeClr val="accent6">
                    <a:lumMod val="75000"/>
                  </a:schemeClr>
                </a:solidFill>
                <a:sym typeface="Wingdings" panose="05000000000000000000" pitchFamily="2" charset="2"/>
              </a:rPr>
              <a:t> 4H</a:t>
            </a:r>
            <a:r>
              <a:rPr lang="en-GB" sz="1900" b="1" baseline="30000" dirty="0">
                <a:solidFill>
                  <a:schemeClr val="accent6">
                    <a:lumMod val="75000"/>
                  </a:schemeClr>
                </a:solidFill>
                <a:sym typeface="Wingdings" panose="05000000000000000000" pitchFamily="2" charset="2"/>
              </a:rPr>
              <a:t>+</a:t>
            </a:r>
            <a:r>
              <a:rPr lang="en-GB" sz="1900" b="1" dirty="0">
                <a:solidFill>
                  <a:schemeClr val="accent6">
                    <a:lumMod val="75000"/>
                  </a:schemeClr>
                </a:solidFill>
                <a:sym typeface="Wingdings" panose="05000000000000000000" pitchFamily="2" charset="2"/>
              </a:rPr>
              <a:t> (</a:t>
            </a:r>
            <a:r>
              <a:rPr lang="en-GB" sz="1900" b="1" dirty="0" err="1">
                <a:solidFill>
                  <a:schemeClr val="accent6">
                    <a:lumMod val="75000"/>
                  </a:schemeClr>
                </a:solidFill>
                <a:sym typeface="Wingdings" panose="05000000000000000000" pitchFamily="2" charset="2"/>
              </a:rPr>
              <a:t>aq</a:t>
            </a:r>
            <a:r>
              <a:rPr lang="en-GB" sz="1900" b="1" dirty="0">
                <a:solidFill>
                  <a:schemeClr val="accent6">
                    <a:lumMod val="75000"/>
                  </a:schemeClr>
                </a:solidFill>
                <a:sym typeface="Wingdings" panose="05000000000000000000" pitchFamily="2" charset="2"/>
              </a:rPr>
              <a:t>) +  4e</a:t>
            </a:r>
            <a:r>
              <a:rPr lang="en-GB" sz="1900" b="1" baseline="30000" dirty="0">
                <a:solidFill>
                  <a:schemeClr val="accent6">
                    <a:lumMod val="75000"/>
                  </a:schemeClr>
                </a:solidFill>
                <a:sym typeface="Wingdings" panose="05000000000000000000" pitchFamily="2" charset="2"/>
              </a:rPr>
              <a:t>-</a:t>
            </a:r>
            <a:endParaRPr lang="en-GB" sz="1900" b="1" baseline="30000" dirty="0">
              <a:solidFill>
                <a:schemeClr val="accent6">
                  <a:lumMod val="75000"/>
                </a:schemeClr>
              </a:solidFill>
            </a:endParaRPr>
          </a:p>
          <a:p>
            <a:pPr algn="ctr"/>
            <a:r>
              <a:rPr lang="en-GB" sz="1900" b="1" dirty="0"/>
              <a:t>At the </a:t>
            </a:r>
            <a:r>
              <a:rPr lang="en-GB" sz="1900" b="1" dirty="0">
                <a:solidFill>
                  <a:schemeClr val="accent6">
                    <a:lumMod val="75000"/>
                  </a:schemeClr>
                </a:solidFill>
              </a:rPr>
              <a:t>anode</a:t>
            </a:r>
            <a:r>
              <a:rPr lang="en-GB" sz="1900" b="1" dirty="0"/>
              <a:t> (- charged)</a:t>
            </a:r>
          </a:p>
          <a:p>
            <a:pPr algn="ctr"/>
            <a:r>
              <a:rPr lang="en-GB" sz="1900" b="1" dirty="0">
                <a:solidFill>
                  <a:schemeClr val="accent6">
                    <a:lumMod val="75000"/>
                  </a:schemeClr>
                </a:solidFill>
              </a:rPr>
              <a:t>4H</a:t>
            </a:r>
            <a:r>
              <a:rPr lang="en-GB" sz="1900" b="1" baseline="30000" dirty="0">
                <a:solidFill>
                  <a:schemeClr val="accent6">
                    <a:lumMod val="75000"/>
                  </a:schemeClr>
                </a:solidFill>
              </a:rPr>
              <a:t>+</a:t>
            </a:r>
            <a:r>
              <a:rPr lang="en-GB" sz="1900" b="1" dirty="0">
                <a:solidFill>
                  <a:schemeClr val="accent6">
                    <a:lumMod val="75000"/>
                  </a:schemeClr>
                </a:solidFill>
              </a:rPr>
              <a:t> (</a:t>
            </a:r>
            <a:r>
              <a:rPr lang="en-GB" sz="1900" b="1" dirty="0" err="1">
                <a:solidFill>
                  <a:schemeClr val="accent6">
                    <a:lumMod val="75000"/>
                  </a:schemeClr>
                </a:solidFill>
              </a:rPr>
              <a:t>aq</a:t>
            </a:r>
            <a:r>
              <a:rPr lang="en-GB" sz="1900" b="1" dirty="0">
                <a:solidFill>
                  <a:schemeClr val="accent6">
                    <a:lumMod val="75000"/>
                  </a:schemeClr>
                </a:solidFill>
              </a:rPr>
              <a:t>)  +  O</a:t>
            </a:r>
            <a:r>
              <a:rPr lang="en-GB" sz="1900" b="1" baseline="-25000" dirty="0">
                <a:solidFill>
                  <a:schemeClr val="accent6">
                    <a:lumMod val="75000"/>
                  </a:schemeClr>
                </a:solidFill>
              </a:rPr>
              <a:t>2</a:t>
            </a:r>
            <a:r>
              <a:rPr lang="en-GB" sz="1900" b="1" dirty="0">
                <a:solidFill>
                  <a:schemeClr val="accent6">
                    <a:lumMod val="75000"/>
                  </a:schemeClr>
                </a:solidFill>
              </a:rPr>
              <a:t> (g)  +  4e</a:t>
            </a:r>
            <a:r>
              <a:rPr lang="en-GB" sz="1900" b="1" baseline="30000" dirty="0">
                <a:solidFill>
                  <a:schemeClr val="accent6">
                    <a:lumMod val="75000"/>
                  </a:schemeClr>
                </a:solidFill>
              </a:rPr>
              <a:t>-</a:t>
            </a:r>
            <a:r>
              <a:rPr lang="en-GB" sz="1900" b="1" dirty="0">
                <a:solidFill>
                  <a:schemeClr val="accent6">
                    <a:lumMod val="75000"/>
                  </a:schemeClr>
                </a:solidFill>
              </a:rPr>
              <a:t> </a:t>
            </a:r>
            <a:r>
              <a:rPr lang="en-GB" sz="1900" b="1" dirty="0">
                <a:solidFill>
                  <a:schemeClr val="accent6">
                    <a:lumMod val="75000"/>
                  </a:schemeClr>
                </a:solidFill>
                <a:sym typeface="Wingdings" panose="05000000000000000000" pitchFamily="2" charset="2"/>
              </a:rPr>
              <a:t>  2H</a:t>
            </a:r>
            <a:r>
              <a:rPr lang="en-GB" sz="1900" b="1" baseline="-25000" dirty="0">
                <a:solidFill>
                  <a:schemeClr val="accent6">
                    <a:lumMod val="75000"/>
                  </a:schemeClr>
                </a:solidFill>
                <a:sym typeface="Wingdings" panose="05000000000000000000" pitchFamily="2" charset="2"/>
              </a:rPr>
              <a:t>2</a:t>
            </a:r>
            <a:r>
              <a:rPr lang="en-GB" sz="1900" b="1" dirty="0">
                <a:solidFill>
                  <a:schemeClr val="accent6">
                    <a:lumMod val="75000"/>
                  </a:schemeClr>
                </a:solidFill>
                <a:sym typeface="Wingdings" panose="05000000000000000000" pitchFamily="2" charset="2"/>
              </a:rPr>
              <a:t>O (g)</a:t>
            </a:r>
            <a:endParaRPr lang="en-GB" sz="1900" b="1" dirty="0">
              <a:solidFill>
                <a:schemeClr val="accent6">
                  <a:lumMod val="75000"/>
                </a:schemeClr>
              </a:solidFill>
            </a:endParaRPr>
          </a:p>
        </p:txBody>
      </p:sp>
      <p:sp>
        <p:nvSpPr>
          <p:cNvPr id="14" name="TextBox 13"/>
          <p:cNvSpPr txBox="1"/>
          <p:nvPr/>
        </p:nvSpPr>
        <p:spPr>
          <a:xfrm>
            <a:off x="250162" y="5702803"/>
            <a:ext cx="5401959" cy="707886"/>
          </a:xfrm>
          <a:custGeom>
            <a:avLst/>
            <a:gdLst>
              <a:gd name="connsiteX0" fmla="*/ 0 w 5688632"/>
              <a:gd name="connsiteY0" fmla="*/ 0 h 646331"/>
              <a:gd name="connsiteX1" fmla="*/ 5688632 w 5688632"/>
              <a:gd name="connsiteY1" fmla="*/ 0 h 646331"/>
              <a:gd name="connsiteX2" fmla="*/ 5688632 w 5688632"/>
              <a:gd name="connsiteY2" fmla="*/ 646331 h 646331"/>
              <a:gd name="connsiteX3" fmla="*/ 0 w 5688632"/>
              <a:gd name="connsiteY3" fmla="*/ 646331 h 646331"/>
              <a:gd name="connsiteX4" fmla="*/ 0 w 5688632"/>
              <a:gd name="connsiteY4" fmla="*/ 0 h 646331"/>
              <a:gd name="connsiteX0" fmla="*/ 12878 w 5688632"/>
              <a:gd name="connsiteY0" fmla="*/ 0 h 787999"/>
              <a:gd name="connsiteX1" fmla="*/ 5688632 w 5688632"/>
              <a:gd name="connsiteY1" fmla="*/ 141668 h 787999"/>
              <a:gd name="connsiteX2" fmla="*/ 5688632 w 5688632"/>
              <a:gd name="connsiteY2" fmla="*/ 787999 h 787999"/>
              <a:gd name="connsiteX3" fmla="*/ 0 w 5688632"/>
              <a:gd name="connsiteY3" fmla="*/ 787999 h 787999"/>
              <a:gd name="connsiteX4" fmla="*/ 12878 w 5688632"/>
              <a:gd name="connsiteY4" fmla="*/ 0 h 787999"/>
              <a:gd name="connsiteX0" fmla="*/ 12878 w 5688632"/>
              <a:gd name="connsiteY0" fmla="*/ 0 h 787999"/>
              <a:gd name="connsiteX1" fmla="*/ 5662875 w 5688632"/>
              <a:gd name="connsiteY1" fmla="*/ 0 h 787999"/>
              <a:gd name="connsiteX2" fmla="*/ 5688632 w 5688632"/>
              <a:gd name="connsiteY2" fmla="*/ 787999 h 787999"/>
              <a:gd name="connsiteX3" fmla="*/ 0 w 5688632"/>
              <a:gd name="connsiteY3" fmla="*/ 787999 h 787999"/>
              <a:gd name="connsiteX4" fmla="*/ 12878 w 5688632"/>
              <a:gd name="connsiteY4" fmla="*/ 0 h 787999"/>
              <a:gd name="connsiteX0" fmla="*/ 12878 w 5688632"/>
              <a:gd name="connsiteY0" fmla="*/ 0 h 787999"/>
              <a:gd name="connsiteX1" fmla="*/ 5662875 w 5688632"/>
              <a:gd name="connsiteY1" fmla="*/ 0 h 787999"/>
              <a:gd name="connsiteX2" fmla="*/ 5688632 w 5688632"/>
              <a:gd name="connsiteY2" fmla="*/ 749363 h 787999"/>
              <a:gd name="connsiteX3" fmla="*/ 0 w 5688632"/>
              <a:gd name="connsiteY3" fmla="*/ 787999 h 787999"/>
              <a:gd name="connsiteX4" fmla="*/ 12878 w 5688632"/>
              <a:gd name="connsiteY4" fmla="*/ 0 h 787999"/>
              <a:gd name="connsiteX0" fmla="*/ 0 w 5675754"/>
              <a:gd name="connsiteY0" fmla="*/ 0 h 749363"/>
              <a:gd name="connsiteX1" fmla="*/ 5649997 w 5675754"/>
              <a:gd name="connsiteY1" fmla="*/ 0 h 749363"/>
              <a:gd name="connsiteX2" fmla="*/ 5675754 w 5675754"/>
              <a:gd name="connsiteY2" fmla="*/ 749363 h 749363"/>
              <a:gd name="connsiteX3" fmla="*/ 25758 w 5675754"/>
              <a:gd name="connsiteY3" fmla="*/ 749363 h 749363"/>
              <a:gd name="connsiteX4" fmla="*/ 0 w 5675754"/>
              <a:gd name="connsiteY4" fmla="*/ 0 h 749363"/>
              <a:gd name="connsiteX0" fmla="*/ 0 w 5675754"/>
              <a:gd name="connsiteY0" fmla="*/ 0 h 749363"/>
              <a:gd name="connsiteX1" fmla="*/ 5649997 w 5675754"/>
              <a:gd name="connsiteY1" fmla="*/ 0 h 749363"/>
              <a:gd name="connsiteX2" fmla="*/ 5675754 w 5675754"/>
              <a:gd name="connsiteY2" fmla="*/ 749363 h 749363"/>
              <a:gd name="connsiteX3" fmla="*/ 12879 w 5675754"/>
              <a:gd name="connsiteY3" fmla="*/ 749363 h 749363"/>
              <a:gd name="connsiteX4" fmla="*/ 0 w 5675754"/>
              <a:gd name="connsiteY4" fmla="*/ 0 h 749363"/>
              <a:gd name="connsiteX0" fmla="*/ 12878 w 5688632"/>
              <a:gd name="connsiteY0" fmla="*/ 0 h 749363"/>
              <a:gd name="connsiteX1" fmla="*/ 5662875 w 5688632"/>
              <a:gd name="connsiteY1" fmla="*/ 0 h 749363"/>
              <a:gd name="connsiteX2" fmla="*/ 5688632 w 5688632"/>
              <a:gd name="connsiteY2" fmla="*/ 749363 h 749363"/>
              <a:gd name="connsiteX3" fmla="*/ 0 w 5688632"/>
              <a:gd name="connsiteY3" fmla="*/ 749363 h 749363"/>
              <a:gd name="connsiteX4" fmla="*/ 12878 w 5688632"/>
              <a:gd name="connsiteY4" fmla="*/ 0 h 749363"/>
              <a:gd name="connsiteX0" fmla="*/ 0 w 5675754"/>
              <a:gd name="connsiteY0" fmla="*/ 0 h 749363"/>
              <a:gd name="connsiteX1" fmla="*/ 5649997 w 5675754"/>
              <a:gd name="connsiteY1" fmla="*/ 0 h 749363"/>
              <a:gd name="connsiteX2" fmla="*/ 5675754 w 5675754"/>
              <a:gd name="connsiteY2" fmla="*/ 749363 h 749363"/>
              <a:gd name="connsiteX3" fmla="*/ 0 w 5675754"/>
              <a:gd name="connsiteY3" fmla="*/ 749363 h 749363"/>
              <a:gd name="connsiteX4" fmla="*/ 0 w 5675754"/>
              <a:gd name="connsiteY4" fmla="*/ 0 h 749363"/>
              <a:gd name="connsiteX0" fmla="*/ 0 w 5675754"/>
              <a:gd name="connsiteY0" fmla="*/ 77274 h 749363"/>
              <a:gd name="connsiteX1" fmla="*/ 5649997 w 5675754"/>
              <a:gd name="connsiteY1" fmla="*/ 0 h 749363"/>
              <a:gd name="connsiteX2" fmla="*/ 5675754 w 5675754"/>
              <a:gd name="connsiteY2" fmla="*/ 749363 h 749363"/>
              <a:gd name="connsiteX3" fmla="*/ 0 w 5675754"/>
              <a:gd name="connsiteY3" fmla="*/ 749363 h 749363"/>
              <a:gd name="connsiteX4" fmla="*/ 0 w 5675754"/>
              <a:gd name="connsiteY4" fmla="*/ 77274 h 749363"/>
              <a:gd name="connsiteX0" fmla="*/ 0 w 5675755"/>
              <a:gd name="connsiteY0" fmla="*/ 0 h 672089"/>
              <a:gd name="connsiteX1" fmla="*/ 5675755 w 5675755"/>
              <a:gd name="connsiteY1" fmla="*/ 38636 h 672089"/>
              <a:gd name="connsiteX2" fmla="*/ 5675754 w 5675755"/>
              <a:gd name="connsiteY2" fmla="*/ 672089 h 672089"/>
              <a:gd name="connsiteX3" fmla="*/ 0 w 5675755"/>
              <a:gd name="connsiteY3" fmla="*/ 672089 h 672089"/>
              <a:gd name="connsiteX4" fmla="*/ 0 w 5675755"/>
              <a:gd name="connsiteY4" fmla="*/ 0 h 672089"/>
              <a:gd name="connsiteX0" fmla="*/ 0 w 5675755"/>
              <a:gd name="connsiteY0" fmla="*/ 25759 h 633453"/>
              <a:gd name="connsiteX1" fmla="*/ 5675755 w 5675755"/>
              <a:gd name="connsiteY1" fmla="*/ 0 h 633453"/>
              <a:gd name="connsiteX2" fmla="*/ 5675754 w 5675755"/>
              <a:gd name="connsiteY2" fmla="*/ 633453 h 633453"/>
              <a:gd name="connsiteX3" fmla="*/ 0 w 5675755"/>
              <a:gd name="connsiteY3" fmla="*/ 633453 h 633453"/>
              <a:gd name="connsiteX4" fmla="*/ 0 w 5675755"/>
              <a:gd name="connsiteY4" fmla="*/ 25759 h 633453"/>
              <a:gd name="connsiteX0" fmla="*/ 0 w 5675755"/>
              <a:gd name="connsiteY0" fmla="*/ 1 h 633453"/>
              <a:gd name="connsiteX1" fmla="*/ 5675755 w 5675755"/>
              <a:gd name="connsiteY1" fmla="*/ 0 h 633453"/>
              <a:gd name="connsiteX2" fmla="*/ 5675754 w 5675755"/>
              <a:gd name="connsiteY2" fmla="*/ 633453 h 633453"/>
              <a:gd name="connsiteX3" fmla="*/ 0 w 5675755"/>
              <a:gd name="connsiteY3" fmla="*/ 633453 h 633453"/>
              <a:gd name="connsiteX4" fmla="*/ 0 w 5675755"/>
              <a:gd name="connsiteY4" fmla="*/ 1 h 633453"/>
              <a:gd name="connsiteX0" fmla="*/ 0 w 5675755"/>
              <a:gd name="connsiteY0" fmla="*/ 242019 h 633453"/>
              <a:gd name="connsiteX1" fmla="*/ 5675755 w 5675755"/>
              <a:gd name="connsiteY1" fmla="*/ 0 h 633453"/>
              <a:gd name="connsiteX2" fmla="*/ 5675754 w 5675755"/>
              <a:gd name="connsiteY2" fmla="*/ 633453 h 633453"/>
              <a:gd name="connsiteX3" fmla="*/ 0 w 5675755"/>
              <a:gd name="connsiteY3" fmla="*/ 633453 h 633453"/>
              <a:gd name="connsiteX4" fmla="*/ 0 w 5675755"/>
              <a:gd name="connsiteY4" fmla="*/ 242019 h 633453"/>
              <a:gd name="connsiteX0" fmla="*/ 0 w 5675755"/>
              <a:gd name="connsiteY0" fmla="*/ 34574 h 426008"/>
              <a:gd name="connsiteX1" fmla="*/ 5675755 w 5675755"/>
              <a:gd name="connsiteY1" fmla="*/ 0 h 426008"/>
              <a:gd name="connsiteX2" fmla="*/ 5675754 w 5675755"/>
              <a:gd name="connsiteY2" fmla="*/ 426008 h 426008"/>
              <a:gd name="connsiteX3" fmla="*/ 0 w 5675755"/>
              <a:gd name="connsiteY3" fmla="*/ 426008 h 426008"/>
              <a:gd name="connsiteX4" fmla="*/ 0 w 5675755"/>
              <a:gd name="connsiteY4" fmla="*/ 34574 h 426008"/>
              <a:gd name="connsiteX0" fmla="*/ 0 w 5675755"/>
              <a:gd name="connsiteY0" fmla="*/ 11524 h 402958"/>
              <a:gd name="connsiteX1" fmla="*/ 5675755 w 5675755"/>
              <a:gd name="connsiteY1" fmla="*/ 0 h 402958"/>
              <a:gd name="connsiteX2" fmla="*/ 5675754 w 5675755"/>
              <a:gd name="connsiteY2" fmla="*/ 402958 h 402958"/>
              <a:gd name="connsiteX3" fmla="*/ 0 w 5675755"/>
              <a:gd name="connsiteY3" fmla="*/ 402958 h 402958"/>
              <a:gd name="connsiteX4" fmla="*/ 0 w 5675755"/>
              <a:gd name="connsiteY4" fmla="*/ 11524 h 402958"/>
              <a:gd name="connsiteX0" fmla="*/ 0 w 5689286"/>
              <a:gd name="connsiteY0" fmla="*/ 11524 h 621927"/>
              <a:gd name="connsiteX1" fmla="*/ 5675755 w 5689286"/>
              <a:gd name="connsiteY1" fmla="*/ 0 h 621927"/>
              <a:gd name="connsiteX2" fmla="*/ 5689286 w 5689286"/>
              <a:gd name="connsiteY2" fmla="*/ 621927 h 621927"/>
              <a:gd name="connsiteX3" fmla="*/ 0 w 5689286"/>
              <a:gd name="connsiteY3" fmla="*/ 402958 h 621927"/>
              <a:gd name="connsiteX4" fmla="*/ 0 w 5689286"/>
              <a:gd name="connsiteY4" fmla="*/ 11524 h 621927"/>
              <a:gd name="connsiteX0" fmla="*/ 0 w 5689286"/>
              <a:gd name="connsiteY0" fmla="*/ 11524 h 621927"/>
              <a:gd name="connsiteX1" fmla="*/ 5675755 w 5689286"/>
              <a:gd name="connsiteY1" fmla="*/ 0 h 621927"/>
              <a:gd name="connsiteX2" fmla="*/ 5689286 w 5689286"/>
              <a:gd name="connsiteY2" fmla="*/ 621927 h 621927"/>
              <a:gd name="connsiteX3" fmla="*/ 0 w 5689286"/>
              <a:gd name="connsiteY3" fmla="*/ 598877 h 621927"/>
              <a:gd name="connsiteX4" fmla="*/ 0 w 5689286"/>
              <a:gd name="connsiteY4" fmla="*/ 11524 h 621927"/>
              <a:gd name="connsiteX0" fmla="*/ 0 w 5689286"/>
              <a:gd name="connsiteY0" fmla="*/ 11524 h 621927"/>
              <a:gd name="connsiteX1" fmla="*/ 5675755 w 5689286"/>
              <a:gd name="connsiteY1" fmla="*/ 0 h 621927"/>
              <a:gd name="connsiteX2" fmla="*/ 5689286 w 5689286"/>
              <a:gd name="connsiteY2" fmla="*/ 621927 h 621927"/>
              <a:gd name="connsiteX3" fmla="*/ 0 w 5689286"/>
              <a:gd name="connsiteY3" fmla="*/ 610402 h 621927"/>
              <a:gd name="connsiteX4" fmla="*/ 0 w 5689286"/>
              <a:gd name="connsiteY4" fmla="*/ 11524 h 621927"/>
              <a:gd name="connsiteX0" fmla="*/ 0 w 5675755"/>
              <a:gd name="connsiteY0" fmla="*/ 11524 h 621927"/>
              <a:gd name="connsiteX1" fmla="*/ 5675755 w 5675755"/>
              <a:gd name="connsiteY1" fmla="*/ 0 h 621927"/>
              <a:gd name="connsiteX2" fmla="*/ 5675754 w 5675755"/>
              <a:gd name="connsiteY2" fmla="*/ 621927 h 621927"/>
              <a:gd name="connsiteX3" fmla="*/ 0 w 5675755"/>
              <a:gd name="connsiteY3" fmla="*/ 610402 h 621927"/>
              <a:gd name="connsiteX4" fmla="*/ 0 w 5675755"/>
              <a:gd name="connsiteY4" fmla="*/ 11524 h 621927"/>
              <a:gd name="connsiteX0" fmla="*/ 0 w 5675755"/>
              <a:gd name="connsiteY0" fmla="*/ 11524 h 610402"/>
              <a:gd name="connsiteX1" fmla="*/ 5675755 w 5675755"/>
              <a:gd name="connsiteY1" fmla="*/ 0 h 610402"/>
              <a:gd name="connsiteX2" fmla="*/ 5675754 w 5675755"/>
              <a:gd name="connsiteY2" fmla="*/ 610402 h 610402"/>
              <a:gd name="connsiteX3" fmla="*/ 0 w 5675755"/>
              <a:gd name="connsiteY3" fmla="*/ 610402 h 610402"/>
              <a:gd name="connsiteX4" fmla="*/ 0 w 5675755"/>
              <a:gd name="connsiteY4" fmla="*/ 11524 h 610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5755" h="610402">
                <a:moveTo>
                  <a:pt x="0" y="11524"/>
                </a:moveTo>
                <a:lnTo>
                  <a:pt x="5675755" y="0"/>
                </a:lnTo>
                <a:cubicBezTo>
                  <a:pt x="5675755" y="211151"/>
                  <a:pt x="5675754" y="399251"/>
                  <a:pt x="5675754" y="610402"/>
                </a:cubicBezTo>
                <a:lnTo>
                  <a:pt x="0" y="610402"/>
                </a:lnTo>
                <a:lnTo>
                  <a:pt x="0" y="11524"/>
                </a:lnTo>
                <a:close/>
              </a:path>
            </a:pathLst>
          </a:custGeom>
          <a:noFill/>
          <a:ln w="28575">
            <a:solidFill>
              <a:schemeClr val="accent6"/>
            </a:solidFill>
          </a:ln>
        </p:spPr>
        <p:txBody>
          <a:bodyPr wrap="square" rtlCol="0">
            <a:spAutoFit/>
          </a:bodyPr>
          <a:lstStyle/>
          <a:p>
            <a:pPr algn="ctr"/>
            <a:r>
              <a:rPr lang="en-GB" sz="2000" b="1" dirty="0">
                <a:solidFill>
                  <a:schemeClr val="accent6">
                    <a:lumMod val="75000"/>
                  </a:schemeClr>
                </a:solidFill>
              </a:rPr>
              <a:t>Hydrogen fuel cells </a:t>
            </a:r>
            <a:r>
              <a:rPr lang="en-GB" sz="2000" b="1" dirty="0"/>
              <a:t>offer a potential alternative to rechargeable cells and batteries.</a:t>
            </a:r>
          </a:p>
        </p:txBody>
      </p:sp>
      <p:sp>
        <p:nvSpPr>
          <p:cNvPr id="15" name="TextBox 14"/>
          <p:cNvSpPr txBox="1"/>
          <p:nvPr/>
        </p:nvSpPr>
        <p:spPr>
          <a:xfrm>
            <a:off x="5873700" y="3823579"/>
            <a:ext cx="2990965" cy="1631216"/>
          </a:xfrm>
          <a:custGeom>
            <a:avLst/>
            <a:gdLst>
              <a:gd name="connsiteX0" fmla="*/ 0 w 2952328"/>
              <a:gd name="connsiteY0" fmla="*/ 0 h 1477328"/>
              <a:gd name="connsiteX1" fmla="*/ 2952328 w 2952328"/>
              <a:gd name="connsiteY1" fmla="*/ 0 h 1477328"/>
              <a:gd name="connsiteX2" fmla="*/ 2952328 w 2952328"/>
              <a:gd name="connsiteY2" fmla="*/ 1477328 h 1477328"/>
              <a:gd name="connsiteX3" fmla="*/ 0 w 2952328"/>
              <a:gd name="connsiteY3" fmla="*/ 1477328 h 1477328"/>
              <a:gd name="connsiteX4" fmla="*/ 0 w 2952328"/>
              <a:gd name="connsiteY4" fmla="*/ 0 h 1477328"/>
              <a:gd name="connsiteX0" fmla="*/ 0 w 2952328"/>
              <a:gd name="connsiteY0" fmla="*/ 0 h 2520516"/>
              <a:gd name="connsiteX1" fmla="*/ 2952328 w 2952328"/>
              <a:gd name="connsiteY1" fmla="*/ 0 h 2520516"/>
              <a:gd name="connsiteX2" fmla="*/ 2952328 w 2952328"/>
              <a:gd name="connsiteY2" fmla="*/ 1477328 h 2520516"/>
              <a:gd name="connsiteX3" fmla="*/ 0 w 2952328"/>
              <a:gd name="connsiteY3" fmla="*/ 2520516 h 2520516"/>
              <a:gd name="connsiteX4" fmla="*/ 0 w 2952328"/>
              <a:gd name="connsiteY4" fmla="*/ 0 h 2520516"/>
              <a:gd name="connsiteX0" fmla="*/ 0 w 2990965"/>
              <a:gd name="connsiteY0" fmla="*/ 0 h 2533395"/>
              <a:gd name="connsiteX1" fmla="*/ 2952328 w 2990965"/>
              <a:gd name="connsiteY1" fmla="*/ 0 h 2533395"/>
              <a:gd name="connsiteX2" fmla="*/ 2990965 w 2990965"/>
              <a:gd name="connsiteY2" fmla="*/ 2533395 h 2533395"/>
              <a:gd name="connsiteX3" fmla="*/ 0 w 2990965"/>
              <a:gd name="connsiteY3" fmla="*/ 2520516 h 2533395"/>
              <a:gd name="connsiteX4" fmla="*/ 0 w 2990965"/>
              <a:gd name="connsiteY4" fmla="*/ 0 h 2533395"/>
              <a:gd name="connsiteX0" fmla="*/ 0 w 2990965"/>
              <a:gd name="connsiteY0" fmla="*/ 940158 h 2533395"/>
              <a:gd name="connsiteX1" fmla="*/ 2952328 w 2990965"/>
              <a:gd name="connsiteY1" fmla="*/ 0 h 2533395"/>
              <a:gd name="connsiteX2" fmla="*/ 2990965 w 2990965"/>
              <a:gd name="connsiteY2" fmla="*/ 2533395 h 2533395"/>
              <a:gd name="connsiteX3" fmla="*/ 0 w 2990965"/>
              <a:gd name="connsiteY3" fmla="*/ 2520516 h 2533395"/>
              <a:gd name="connsiteX4" fmla="*/ 0 w 2990965"/>
              <a:gd name="connsiteY4" fmla="*/ 940158 h 2533395"/>
              <a:gd name="connsiteX0" fmla="*/ 0 w 2990965"/>
              <a:gd name="connsiteY0" fmla="*/ 0 h 1593237"/>
              <a:gd name="connsiteX1" fmla="*/ 2965207 w 2990965"/>
              <a:gd name="connsiteY1" fmla="*/ 51515 h 1593237"/>
              <a:gd name="connsiteX2" fmla="*/ 2990965 w 2990965"/>
              <a:gd name="connsiteY2" fmla="*/ 1593237 h 1593237"/>
              <a:gd name="connsiteX3" fmla="*/ 0 w 2990965"/>
              <a:gd name="connsiteY3" fmla="*/ 1580358 h 1593237"/>
              <a:gd name="connsiteX4" fmla="*/ 0 w 2990965"/>
              <a:gd name="connsiteY4" fmla="*/ 0 h 1593237"/>
              <a:gd name="connsiteX0" fmla="*/ 0 w 2990965"/>
              <a:gd name="connsiteY0" fmla="*/ 0 h 1593237"/>
              <a:gd name="connsiteX1" fmla="*/ 2965207 w 2990965"/>
              <a:gd name="connsiteY1" fmla="*/ 25757 h 1593237"/>
              <a:gd name="connsiteX2" fmla="*/ 2990965 w 2990965"/>
              <a:gd name="connsiteY2" fmla="*/ 1593237 h 1593237"/>
              <a:gd name="connsiteX3" fmla="*/ 0 w 2990965"/>
              <a:gd name="connsiteY3" fmla="*/ 1580358 h 1593237"/>
              <a:gd name="connsiteX4" fmla="*/ 0 w 2990965"/>
              <a:gd name="connsiteY4" fmla="*/ 0 h 1593237"/>
              <a:gd name="connsiteX0" fmla="*/ 0 w 2990965"/>
              <a:gd name="connsiteY0" fmla="*/ 0 h 1593237"/>
              <a:gd name="connsiteX1" fmla="*/ 2965207 w 2990965"/>
              <a:gd name="connsiteY1" fmla="*/ 12878 h 1593237"/>
              <a:gd name="connsiteX2" fmla="*/ 2990965 w 2990965"/>
              <a:gd name="connsiteY2" fmla="*/ 1593237 h 1593237"/>
              <a:gd name="connsiteX3" fmla="*/ 0 w 2990965"/>
              <a:gd name="connsiteY3" fmla="*/ 1580358 h 1593237"/>
              <a:gd name="connsiteX4" fmla="*/ 0 w 2990965"/>
              <a:gd name="connsiteY4" fmla="*/ 0 h 1593237"/>
              <a:gd name="connsiteX0" fmla="*/ 0 w 2990965"/>
              <a:gd name="connsiteY0" fmla="*/ 0 h 1593237"/>
              <a:gd name="connsiteX1" fmla="*/ 2978086 w 2990965"/>
              <a:gd name="connsiteY1" fmla="*/ 12878 h 1593237"/>
              <a:gd name="connsiteX2" fmla="*/ 2990965 w 2990965"/>
              <a:gd name="connsiteY2" fmla="*/ 1593237 h 1593237"/>
              <a:gd name="connsiteX3" fmla="*/ 0 w 2990965"/>
              <a:gd name="connsiteY3" fmla="*/ 1580358 h 1593237"/>
              <a:gd name="connsiteX4" fmla="*/ 0 w 2990965"/>
              <a:gd name="connsiteY4" fmla="*/ 0 h 1593237"/>
              <a:gd name="connsiteX0" fmla="*/ 0 w 3003843"/>
              <a:gd name="connsiteY0" fmla="*/ 0 h 1593237"/>
              <a:gd name="connsiteX1" fmla="*/ 3003843 w 3003843"/>
              <a:gd name="connsiteY1" fmla="*/ 12878 h 1593237"/>
              <a:gd name="connsiteX2" fmla="*/ 2990965 w 3003843"/>
              <a:gd name="connsiteY2" fmla="*/ 1593237 h 1593237"/>
              <a:gd name="connsiteX3" fmla="*/ 0 w 3003843"/>
              <a:gd name="connsiteY3" fmla="*/ 1580358 h 1593237"/>
              <a:gd name="connsiteX4" fmla="*/ 0 w 3003843"/>
              <a:gd name="connsiteY4" fmla="*/ 0 h 1593237"/>
              <a:gd name="connsiteX0" fmla="*/ 0 w 3003843"/>
              <a:gd name="connsiteY0" fmla="*/ 0 h 1731306"/>
              <a:gd name="connsiteX1" fmla="*/ 3003843 w 3003843"/>
              <a:gd name="connsiteY1" fmla="*/ 12878 h 1731306"/>
              <a:gd name="connsiteX2" fmla="*/ 2990965 w 3003843"/>
              <a:gd name="connsiteY2" fmla="*/ 1593237 h 1731306"/>
              <a:gd name="connsiteX3" fmla="*/ 12879 w 3003843"/>
              <a:gd name="connsiteY3" fmla="*/ 1731306 h 1731306"/>
              <a:gd name="connsiteX4" fmla="*/ 0 w 3003843"/>
              <a:gd name="connsiteY4" fmla="*/ 0 h 1731306"/>
              <a:gd name="connsiteX0" fmla="*/ 0 w 2990965"/>
              <a:gd name="connsiteY0" fmla="*/ 0 h 1731306"/>
              <a:gd name="connsiteX1" fmla="*/ 2990964 w 2990965"/>
              <a:gd name="connsiteY1" fmla="*/ 12878 h 1731306"/>
              <a:gd name="connsiteX2" fmla="*/ 2990965 w 2990965"/>
              <a:gd name="connsiteY2" fmla="*/ 1593237 h 1731306"/>
              <a:gd name="connsiteX3" fmla="*/ 12879 w 2990965"/>
              <a:gd name="connsiteY3" fmla="*/ 1731306 h 1731306"/>
              <a:gd name="connsiteX4" fmla="*/ 0 w 2990965"/>
              <a:gd name="connsiteY4" fmla="*/ 0 h 1731306"/>
              <a:gd name="connsiteX0" fmla="*/ 0 w 2990965"/>
              <a:gd name="connsiteY0" fmla="*/ 0 h 1731306"/>
              <a:gd name="connsiteX1" fmla="*/ 2990964 w 2990965"/>
              <a:gd name="connsiteY1" fmla="*/ 12878 h 1731306"/>
              <a:gd name="connsiteX2" fmla="*/ 2990965 w 2990965"/>
              <a:gd name="connsiteY2" fmla="*/ 1706449 h 1731306"/>
              <a:gd name="connsiteX3" fmla="*/ 12879 w 2990965"/>
              <a:gd name="connsiteY3" fmla="*/ 1731306 h 1731306"/>
              <a:gd name="connsiteX4" fmla="*/ 0 w 2990965"/>
              <a:gd name="connsiteY4" fmla="*/ 0 h 1731306"/>
              <a:gd name="connsiteX0" fmla="*/ 0 w 2990965"/>
              <a:gd name="connsiteY0" fmla="*/ 0 h 1731306"/>
              <a:gd name="connsiteX1" fmla="*/ 2990964 w 2990965"/>
              <a:gd name="connsiteY1" fmla="*/ 12878 h 1731306"/>
              <a:gd name="connsiteX2" fmla="*/ 2990965 w 2990965"/>
              <a:gd name="connsiteY2" fmla="*/ 1719029 h 1731306"/>
              <a:gd name="connsiteX3" fmla="*/ 12879 w 2990965"/>
              <a:gd name="connsiteY3" fmla="*/ 1731306 h 1731306"/>
              <a:gd name="connsiteX4" fmla="*/ 0 w 2990965"/>
              <a:gd name="connsiteY4" fmla="*/ 0 h 1731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0965" h="1731306">
                <a:moveTo>
                  <a:pt x="0" y="0"/>
                </a:moveTo>
                <a:lnTo>
                  <a:pt x="2990964" y="12878"/>
                </a:lnTo>
                <a:cubicBezTo>
                  <a:pt x="2990964" y="539664"/>
                  <a:pt x="2990965" y="1192243"/>
                  <a:pt x="2990965" y="1719029"/>
                </a:cubicBezTo>
                <a:lnTo>
                  <a:pt x="12879" y="1731306"/>
                </a:lnTo>
                <a:lnTo>
                  <a:pt x="0" y="0"/>
                </a:lnTo>
                <a:close/>
              </a:path>
            </a:pathLst>
          </a:custGeom>
          <a:solidFill>
            <a:schemeClr val="accent6"/>
          </a:solidFill>
          <a:ln w="19050">
            <a:solidFill>
              <a:schemeClr val="accent6"/>
            </a:solidFill>
          </a:ln>
        </p:spPr>
        <p:txBody>
          <a:bodyPr wrap="square" rtlCol="0">
            <a:spAutoFit/>
          </a:bodyPr>
          <a:lstStyle/>
          <a:p>
            <a:pPr algn="ctr"/>
            <a:r>
              <a:rPr lang="en-GB" sz="2000" b="1" dirty="0"/>
              <a:t>The half equations are only needed for the higher tier, however they are very important and worth revising carefully</a:t>
            </a:r>
          </a:p>
        </p:txBody>
      </p:sp>
      <p:pic>
        <p:nvPicPr>
          <p:cNvPr id="4" name="Picture 3"/>
          <p:cNvPicPr>
            <a:picLocks noChangeAspect="1"/>
          </p:cNvPicPr>
          <p:nvPr/>
        </p:nvPicPr>
        <p:blipFill>
          <a:blip r:embed="rId3"/>
          <a:stretch>
            <a:fillRect/>
          </a:stretch>
        </p:blipFill>
        <p:spPr>
          <a:xfrm>
            <a:off x="5776662" y="962566"/>
            <a:ext cx="3185039" cy="2673156"/>
          </a:xfrm>
          <a:prstGeom prst="rect">
            <a:avLst/>
          </a:prstGeom>
        </p:spPr>
      </p:pic>
    </p:spTree>
    <p:extLst>
      <p:ext uri="{BB962C8B-B14F-4D97-AF65-F5344CB8AC3E}">
        <p14:creationId xmlns:p14="http://schemas.microsoft.com/office/powerpoint/2010/main" val="18438004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5109091"/>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600" b="1" dirty="0">
                <a:solidFill>
                  <a:schemeClr val="tx1">
                    <a:lumMod val="50000"/>
                    <a:lumOff val="50000"/>
                  </a:schemeClr>
                </a:solidFill>
              </a:rPr>
              <a:t>Chemical Cells And </a:t>
            </a:r>
          </a:p>
          <a:p>
            <a:r>
              <a:rPr lang="en-GB" sz="3600" b="1" dirty="0">
                <a:solidFill>
                  <a:schemeClr val="tx1">
                    <a:lumMod val="50000"/>
                    <a:lumOff val="50000"/>
                  </a:schemeClr>
                </a:solidFill>
              </a:rPr>
              <a:t>Fuel Cells (Chemistry</a:t>
            </a:r>
          </a:p>
          <a:p>
            <a:r>
              <a:rPr lang="en-GB" sz="3600" b="1" dirty="0">
                <a:solidFill>
                  <a:schemeClr val="tx1">
                    <a:lumMod val="50000"/>
                    <a:lumOff val="50000"/>
                  </a:schemeClr>
                </a:solidFill>
              </a:rPr>
              <a:t>Only)</a:t>
            </a:r>
          </a:p>
          <a:p>
            <a:endParaRPr lang="en-GB" sz="3600" b="1" dirty="0">
              <a:solidFill>
                <a:schemeClr val="tx1">
                  <a:lumMod val="50000"/>
                  <a:lumOff val="50000"/>
                </a:schemeClr>
              </a:solidFill>
            </a:endParaRPr>
          </a:p>
          <a:p>
            <a:pPr marL="342900" indent="-342900">
              <a:buFont typeface="Arial" panose="020B0604020202020204" pitchFamily="34" charset="0"/>
              <a:buChar char="•"/>
            </a:pPr>
            <a:r>
              <a:rPr lang="en-GB" sz="2800" b="1" dirty="0">
                <a:solidFill>
                  <a:schemeClr val="tx1">
                    <a:lumMod val="50000"/>
                    <a:lumOff val="50000"/>
                  </a:schemeClr>
                </a:solidFill>
              </a:rPr>
              <a:t>Cells And Batteries</a:t>
            </a:r>
          </a:p>
          <a:p>
            <a:pPr marL="342900" indent="-342900">
              <a:buFont typeface="Arial" panose="020B0604020202020204" pitchFamily="34" charset="0"/>
              <a:buChar char="•"/>
            </a:pPr>
            <a:r>
              <a:rPr lang="en-GB" sz="2800" b="1" dirty="0">
                <a:solidFill>
                  <a:schemeClr val="tx1">
                    <a:lumMod val="50000"/>
                    <a:lumOff val="50000"/>
                  </a:schemeClr>
                </a:solidFill>
              </a:rPr>
              <a:t>Fuel Cells </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502569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Cells and batteries (Chemistry only)</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557947"/>
            <a:ext cx="8915400" cy="8125301"/>
          </a:xfrm>
          <a:prstGeom prst="rect">
            <a:avLst/>
          </a:prstGeom>
          <a:noFill/>
        </p:spPr>
        <p:txBody>
          <a:bodyPr wrap="square" rtlCol="0">
            <a:spAutoFit/>
          </a:bodyPr>
          <a:lstStyle/>
          <a:p>
            <a:pPr>
              <a:lnSpc>
                <a:spcPct val="150000"/>
              </a:lnSpc>
            </a:pPr>
            <a:r>
              <a:rPr lang="en-GB" sz="2000" b="1" dirty="0"/>
              <a:t>1. Give two factors which may affect the voltage given out by a </a:t>
            </a:r>
            <a:r>
              <a:rPr lang="en-GB" sz="2000" b="1" dirty="0" smtClean="0"/>
              <a:t>battery.</a:t>
            </a:r>
            <a:endParaRPr lang="en-GB" sz="2000" b="1" dirty="0"/>
          </a:p>
          <a:p>
            <a:pPr>
              <a:lnSpc>
                <a:spcPct val="150000"/>
              </a:lnSpc>
            </a:pPr>
            <a:endParaRPr lang="en-GB" sz="2000" b="1" dirty="0"/>
          </a:p>
          <a:p>
            <a:pPr>
              <a:lnSpc>
                <a:spcPct val="150000"/>
              </a:lnSpc>
            </a:pPr>
            <a:r>
              <a:rPr lang="en-GB" sz="2000" b="1" dirty="0"/>
              <a:t>2. Here is a reactivity series of metals. The most reactive is first, the least reactive is last:     Magnesium      Zinc       Tin    Copper</a:t>
            </a:r>
          </a:p>
          <a:p>
            <a:pPr>
              <a:lnSpc>
                <a:spcPct val="150000"/>
              </a:lnSpc>
            </a:pPr>
            <a:r>
              <a:rPr lang="en-GB" sz="2000" b="1" dirty="0"/>
              <a:t>Which two metals would you use to make a battery which </a:t>
            </a:r>
            <a:r>
              <a:rPr lang="en-GB" sz="2000" b="1" dirty="0" smtClean="0"/>
              <a:t>had the highest </a:t>
            </a:r>
            <a:r>
              <a:rPr lang="en-GB" sz="2000" b="1" dirty="0"/>
              <a:t>voltage? Explain why.</a:t>
            </a:r>
          </a:p>
          <a:p>
            <a:pPr>
              <a:lnSpc>
                <a:spcPct val="150000"/>
              </a:lnSpc>
            </a:pPr>
            <a:endParaRPr lang="en-GB" sz="2000" b="1" dirty="0"/>
          </a:p>
          <a:p>
            <a:pPr>
              <a:lnSpc>
                <a:spcPct val="150000"/>
              </a:lnSpc>
            </a:pPr>
            <a:r>
              <a:rPr lang="en-GB" sz="2000" b="1" dirty="0"/>
              <a:t>3. Why do non-renewable batteries stop producing a voltage after a certain time?</a:t>
            </a:r>
          </a:p>
          <a:p>
            <a:pPr>
              <a:lnSpc>
                <a:spcPct val="150000"/>
              </a:lnSpc>
            </a:pPr>
            <a:endParaRPr lang="en-GB" sz="2000" b="1" dirty="0"/>
          </a:p>
          <a:p>
            <a:pPr>
              <a:lnSpc>
                <a:spcPct val="150000"/>
              </a:lnSpc>
            </a:pPr>
            <a:r>
              <a:rPr lang="en-GB" sz="2000" b="1" dirty="0"/>
              <a:t>4. How are rechargeable batteries recharged?</a:t>
            </a:r>
          </a:p>
          <a:p>
            <a:pPr>
              <a:lnSpc>
                <a:spcPct val="150000"/>
              </a:lnSpc>
            </a:pPr>
            <a:r>
              <a:rPr lang="en-GB" sz="2000" b="1" dirty="0"/>
              <a:t>        </a:t>
            </a:r>
            <a:endParaRPr lang="en-GB" sz="2400" dirty="0"/>
          </a:p>
          <a:p>
            <a:pPr>
              <a:lnSpc>
                <a:spcPct val="150000"/>
              </a:lnSpc>
            </a:pPr>
            <a:endParaRPr lang="en-GB" sz="2400" dirty="0"/>
          </a:p>
          <a:p>
            <a:endParaRPr lang="en-GB" sz="2400" dirty="0"/>
          </a:p>
          <a:p>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p:txBody>
      </p:sp>
    </p:spTree>
    <p:extLst>
      <p:ext uri="{BB962C8B-B14F-4D97-AF65-F5344CB8AC3E}">
        <p14:creationId xmlns:p14="http://schemas.microsoft.com/office/powerpoint/2010/main" val="18555684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Fuel Cells (Chemistry only)</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557947"/>
            <a:ext cx="8915400" cy="9140964"/>
          </a:xfrm>
          <a:prstGeom prst="rect">
            <a:avLst/>
          </a:prstGeom>
          <a:noFill/>
        </p:spPr>
        <p:txBody>
          <a:bodyPr wrap="square" rtlCol="0">
            <a:spAutoFit/>
          </a:bodyPr>
          <a:lstStyle/>
          <a:p>
            <a:pPr>
              <a:lnSpc>
                <a:spcPct val="150000"/>
              </a:lnSpc>
            </a:pPr>
            <a:r>
              <a:rPr lang="en-GB" sz="2000" b="1" dirty="0"/>
              <a:t>1. What chemical is the fuel in a fuel cell ?</a:t>
            </a:r>
          </a:p>
          <a:p>
            <a:pPr>
              <a:lnSpc>
                <a:spcPct val="150000"/>
              </a:lnSpc>
            </a:pPr>
            <a:endParaRPr lang="en-GB" sz="2000" b="1" dirty="0"/>
          </a:p>
          <a:p>
            <a:pPr>
              <a:lnSpc>
                <a:spcPct val="150000"/>
              </a:lnSpc>
            </a:pPr>
            <a:r>
              <a:rPr lang="en-GB" sz="2000" b="1" dirty="0"/>
              <a:t>2. What happens to this fuel inside the fuel cell to produce a potential difference?</a:t>
            </a:r>
          </a:p>
          <a:p>
            <a:pPr>
              <a:lnSpc>
                <a:spcPct val="150000"/>
              </a:lnSpc>
            </a:pPr>
            <a:endParaRPr lang="en-GB" sz="2000" b="1" dirty="0"/>
          </a:p>
          <a:p>
            <a:pPr>
              <a:lnSpc>
                <a:spcPct val="150000"/>
              </a:lnSpc>
            </a:pPr>
            <a:r>
              <a:rPr lang="en-GB" sz="2000" b="1" dirty="0"/>
              <a:t>3. Write the overall  balanced symbol equation for the reaction in a fuel </a:t>
            </a:r>
            <a:r>
              <a:rPr lang="en-GB" sz="2000" b="1" dirty="0" smtClean="0"/>
              <a:t>cell.</a:t>
            </a:r>
            <a:endParaRPr lang="en-GB" sz="2000" b="1" dirty="0"/>
          </a:p>
          <a:p>
            <a:pPr>
              <a:lnSpc>
                <a:spcPct val="150000"/>
              </a:lnSpc>
            </a:pPr>
            <a:endParaRPr lang="en-GB" sz="2000" b="1" dirty="0"/>
          </a:p>
          <a:p>
            <a:pPr>
              <a:lnSpc>
                <a:spcPct val="150000"/>
              </a:lnSpc>
            </a:pPr>
            <a:r>
              <a:rPr lang="en-GB" sz="2000" b="1" dirty="0"/>
              <a:t>4. Write the half equation for the reaction that happens at the cathode in a fuel </a:t>
            </a:r>
            <a:r>
              <a:rPr lang="en-GB" sz="2000" b="1" dirty="0" smtClean="0"/>
              <a:t>cell.</a:t>
            </a:r>
            <a:endParaRPr lang="en-GB" sz="2000" b="1" dirty="0"/>
          </a:p>
          <a:p>
            <a:pPr>
              <a:lnSpc>
                <a:spcPct val="150000"/>
              </a:lnSpc>
            </a:pPr>
            <a:endParaRPr lang="en-GB" sz="2000" b="1" dirty="0"/>
          </a:p>
          <a:p>
            <a:pPr>
              <a:lnSpc>
                <a:spcPct val="150000"/>
              </a:lnSpc>
            </a:pPr>
            <a:r>
              <a:rPr lang="en-GB" sz="2000" b="1" dirty="0"/>
              <a:t>5. Write the half equation for the reaction that happens at the anode in a fuel </a:t>
            </a:r>
            <a:r>
              <a:rPr lang="en-GB" sz="2000" b="1" dirty="0" smtClean="0"/>
              <a:t>cell.</a:t>
            </a:r>
            <a:endParaRPr lang="en-GB" sz="2000" b="1" dirty="0"/>
          </a:p>
          <a:p>
            <a:pPr>
              <a:lnSpc>
                <a:spcPct val="150000"/>
              </a:lnSpc>
            </a:pPr>
            <a:endParaRPr lang="en-GB" sz="2000" b="1" dirty="0"/>
          </a:p>
          <a:p>
            <a:pPr>
              <a:lnSpc>
                <a:spcPct val="150000"/>
              </a:lnSpc>
            </a:pPr>
            <a:endParaRPr lang="en-GB" sz="2000" b="1" dirty="0"/>
          </a:p>
          <a:p>
            <a:pPr>
              <a:lnSpc>
                <a:spcPct val="150000"/>
              </a:lnSpc>
            </a:pPr>
            <a:endParaRPr lang="en-GB" sz="2400" dirty="0"/>
          </a:p>
          <a:p>
            <a:pPr>
              <a:lnSpc>
                <a:spcPct val="150000"/>
              </a:lnSpc>
            </a:pPr>
            <a:endParaRPr lang="en-GB" sz="2400" dirty="0"/>
          </a:p>
          <a:p>
            <a:endParaRPr lang="en-GB" sz="2400" dirty="0"/>
          </a:p>
          <a:p>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p:txBody>
      </p:sp>
    </p:spTree>
    <p:extLst>
      <p:ext uri="{BB962C8B-B14F-4D97-AF65-F5344CB8AC3E}">
        <p14:creationId xmlns:p14="http://schemas.microsoft.com/office/powerpoint/2010/main" val="7398084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386090"/>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Chemical Cells And </a:t>
            </a:r>
          </a:p>
          <a:p>
            <a:r>
              <a:rPr lang="en-GB" sz="3600" b="1" dirty="0">
                <a:solidFill>
                  <a:schemeClr val="tx1">
                    <a:lumMod val="50000"/>
                    <a:lumOff val="50000"/>
                  </a:schemeClr>
                </a:solidFill>
              </a:rPr>
              <a:t>Fuel Cells (Chemistry</a:t>
            </a:r>
          </a:p>
          <a:p>
            <a:r>
              <a:rPr lang="en-GB" sz="3600" b="1" dirty="0">
                <a:solidFill>
                  <a:schemeClr val="tx1">
                    <a:lumMod val="50000"/>
                    <a:lumOff val="50000"/>
                  </a:schemeClr>
                </a:solidFill>
              </a:rPr>
              <a:t>Only)</a:t>
            </a:r>
          </a:p>
          <a:p>
            <a:endParaRPr lang="en-GB" sz="3600" b="1" dirty="0">
              <a:solidFill>
                <a:schemeClr val="tx1">
                  <a:lumMod val="50000"/>
                  <a:lumOff val="50000"/>
                </a:schemeClr>
              </a:solidFill>
            </a:endParaRPr>
          </a:p>
          <a:p>
            <a:pPr marL="342900" indent="-342900">
              <a:buFont typeface="Arial" panose="020B0604020202020204" pitchFamily="34" charset="0"/>
              <a:buChar char="•"/>
            </a:pPr>
            <a:r>
              <a:rPr lang="en-GB" sz="2800" b="1" dirty="0">
                <a:solidFill>
                  <a:schemeClr val="tx1">
                    <a:lumMod val="50000"/>
                    <a:lumOff val="50000"/>
                  </a:schemeClr>
                </a:solidFill>
              </a:rPr>
              <a:t>Cells And Batteries</a:t>
            </a:r>
          </a:p>
          <a:p>
            <a:pPr marL="342900" indent="-342900">
              <a:buFont typeface="Arial" panose="020B0604020202020204" pitchFamily="34" charset="0"/>
              <a:buChar char="•"/>
            </a:pPr>
            <a:r>
              <a:rPr lang="en-GB" sz="2800" b="1" dirty="0">
                <a:solidFill>
                  <a:schemeClr val="tx1">
                    <a:lumMod val="50000"/>
                    <a:lumOff val="50000"/>
                  </a:schemeClr>
                </a:solidFill>
              </a:rPr>
              <a:t>Fuel Cells </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3686897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Cells and batteries (Chemistry only)</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557947"/>
            <a:ext cx="8915400" cy="8586966"/>
          </a:xfrm>
          <a:prstGeom prst="rect">
            <a:avLst/>
          </a:prstGeom>
          <a:noFill/>
        </p:spPr>
        <p:txBody>
          <a:bodyPr wrap="square" rtlCol="0">
            <a:spAutoFit/>
          </a:bodyPr>
          <a:lstStyle/>
          <a:p>
            <a:pPr>
              <a:lnSpc>
                <a:spcPct val="150000"/>
              </a:lnSpc>
            </a:pPr>
            <a:r>
              <a:rPr lang="en-GB" sz="2000" b="1" dirty="0"/>
              <a:t>1. Give two factors which may affect the voltage given out by a </a:t>
            </a:r>
            <a:r>
              <a:rPr lang="en-GB" sz="2000" b="1" dirty="0" smtClean="0"/>
              <a:t>battery.</a:t>
            </a:r>
            <a:endParaRPr lang="en-GB" sz="2000" b="1" dirty="0"/>
          </a:p>
          <a:p>
            <a:pPr>
              <a:lnSpc>
                <a:spcPct val="150000"/>
              </a:lnSpc>
            </a:pPr>
            <a:r>
              <a:rPr lang="en-GB" sz="2000" b="1" dirty="0"/>
              <a:t>        </a:t>
            </a:r>
            <a:r>
              <a:rPr lang="en-GB" sz="2000" dirty="0">
                <a:solidFill>
                  <a:srgbClr val="00B050"/>
                </a:solidFill>
              </a:rPr>
              <a:t>The type of electrode and the electrolyte</a:t>
            </a:r>
          </a:p>
          <a:p>
            <a:pPr>
              <a:lnSpc>
                <a:spcPct val="150000"/>
              </a:lnSpc>
            </a:pPr>
            <a:r>
              <a:rPr lang="en-GB" sz="2000" b="1" dirty="0"/>
              <a:t>2. Here is a reactivity series of metals. The most reactive is first, the least reactive is last.      Magnesium      Zinc       Tin    Copper</a:t>
            </a:r>
          </a:p>
          <a:p>
            <a:pPr>
              <a:lnSpc>
                <a:spcPct val="150000"/>
              </a:lnSpc>
            </a:pPr>
            <a:r>
              <a:rPr lang="en-GB" sz="2000" b="1" dirty="0"/>
              <a:t>Which two metals would you use to make a battery which gave off the most voltage? Explain why</a:t>
            </a:r>
          </a:p>
          <a:p>
            <a:pPr>
              <a:lnSpc>
                <a:spcPct val="150000"/>
              </a:lnSpc>
            </a:pPr>
            <a:r>
              <a:rPr lang="en-GB" sz="2000" b="1" dirty="0"/>
              <a:t>        </a:t>
            </a:r>
            <a:r>
              <a:rPr lang="en-GB" sz="2000" dirty="0">
                <a:solidFill>
                  <a:srgbClr val="00B050"/>
                </a:solidFill>
              </a:rPr>
              <a:t>Magnesium and copper as largest difference in reactivity.</a:t>
            </a:r>
          </a:p>
          <a:p>
            <a:pPr>
              <a:lnSpc>
                <a:spcPct val="150000"/>
              </a:lnSpc>
            </a:pPr>
            <a:r>
              <a:rPr lang="en-GB" sz="2000" b="1" dirty="0"/>
              <a:t>3. Why do non-renewable batteries stop producing a voltage after a certain time?</a:t>
            </a:r>
          </a:p>
          <a:p>
            <a:pPr>
              <a:lnSpc>
                <a:spcPct val="150000"/>
              </a:lnSpc>
            </a:pPr>
            <a:r>
              <a:rPr lang="en-GB" sz="2000" b="1" dirty="0"/>
              <a:t>        </a:t>
            </a:r>
            <a:r>
              <a:rPr lang="en-GB" sz="2000" dirty="0">
                <a:solidFill>
                  <a:srgbClr val="00B050"/>
                </a:solidFill>
              </a:rPr>
              <a:t>The chemical reactions stop when one of the reactants has been used up.</a:t>
            </a:r>
          </a:p>
          <a:p>
            <a:pPr>
              <a:lnSpc>
                <a:spcPct val="150000"/>
              </a:lnSpc>
            </a:pPr>
            <a:r>
              <a:rPr lang="en-GB" sz="2000" b="1" dirty="0"/>
              <a:t>4. How are rechargeable batteries recharged?</a:t>
            </a:r>
          </a:p>
          <a:p>
            <a:pPr>
              <a:lnSpc>
                <a:spcPct val="150000"/>
              </a:lnSpc>
            </a:pPr>
            <a:r>
              <a:rPr lang="en-GB" sz="2000" b="1" dirty="0"/>
              <a:t>        </a:t>
            </a:r>
            <a:r>
              <a:rPr lang="en-GB" sz="2000" dirty="0">
                <a:solidFill>
                  <a:srgbClr val="00B050"/>
                </a:solidFill>
              </a:rPr>
              <a:t>The chemical reactions are reversed by an external electrical current.</a:t>
            </a:r>
          </a:p>
          <a:p>
            <a:pPr>
              <a:lnSpc>
                <a:spcPct val="150000"/>
              </a:lnSpc>
            </a:pPr>
            <a:r>
              <a:rPr lang="en-GB" sz="2000" b="1" dirty="0"/>
              <a:t>        </a:t>
            </a:r>
            <a:endParaRPr lang="en-GB" sz="2400" dirty="0"/>
          </a:p>
          <a:p>
            <a:pPr>
              <a:lnSpc>
                <a:spcPct val="150000"/>
              </a:lnSpc>
            </a:pPr>
            <a:endParaRPr lang="en-GB" sz="2400" dirty="0"/>
          </a:p>
          <a:p>
            <a:endParaRPr lang="en-GB" sz="2400" dirty="0"/>
          </a:p>
          <a:p>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p:txBody>
      </p:sp>
    </p:spTree>
    <p:extLst>
      <p:ext uri="{BB962C8B-B14F-4D97-AF65-F5344CB8AC3E}">
        <p14:creationId xmlns:p14="http://schemas.microsoft.com/office/powerpoint/2010/main" val="40625198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Fuel Cells (Chemistry only)</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557947"/>
            <a:ext cx="8915400" cy="8802410"/>
          </a:xfrm>
          <a:prstGeom prst="rect">
            <a:avLst/>
          </a:prstGeom>
          <a:noFill/>
        </p:spPr>
        <p:txBody>
          <a:bodyPr wrap="square" rtlCol="0">
            <a:spAutoFit/>
          </a:bodyPr>
          <a:lstStyle/>
          <a:p>
            <a:pPr>
              <a:lnSpc>
                <a:spcPct val="150000"/>
              </a:lnSpc>
            </a:pPr>
            <a:r>
              <a:rPr lang="en-GB" sz="2000" b="1" dirty="0"/>
              <a:t>1. What chemical is the fuel in a fuel cell ?</a:t>
            </a:r>
          </a:p>
          <a:p>
            <a:pPr>
              <a:lnSpc>
                <a:spcPct val="150000"/>
              </a:lnSpc>
            </a:pPr>
            <a:r>
              <a:rPr lang="en-GB" sz="2000" dirty="0"/>
              <a:t>        </a:t>
            </a:r>
            <a:r>
              <a:rPr lang="en-GB" sz="2000" dirty="0">
                <a:solidFill>
                  <a:srgbClr val="00B050"/>
                </a:solidFill>
              </a:rPr>
              <a:t>Hydrogen.</a:t>
            </a:r>
          </a:p>
          <a:p>
            <a:pPr>
              <a:lnSpc>
                <a:spcPct val="150000"/>
              </a:lnSpc>
            </a:pPr>
            <a:r>
              <a:rPr lang="en-GB" sz="2000" b="1" dirty="0"/>
              <a:t>2. What happens to this fuel inside the fuel cell to produce a potential difference?</a:t>
            </a:r>
          </a:p>
          <a:p>
            <a:pPr>
              <a:lnSpc>
                <a:spcPct val="150000"/>
              </a:lnSpc>
            </a:pPr>
            <a:r>
              <a:rPr lang="en-GB" sz="2000" b="1" dirty="0">
                <a:solidFill>
                  <a:srgbClr val="00B050"/>
                </a:solidFill>
              </a:rPr>
              <a:t>        </a:t>
            </a:r>
            <a:r>
              <a:rPr lang="en-GB" sz="2000" dirty="0">
                <a:solidFill>
                  <a:srgbClr val="00B050"/>
                </a:solidFill>
              </a:rPr>
              <a:t>It is oxidised electrochemically.</a:t>
            </a:r>
          </a:p>
          <a:p>
            <a:pPr>
              <a:lnSpc>
                <a:spcPct val="150000"/>
              </a:lnSpc>
            </a:pPr>
            <a:r>
              <a:rPr lang="en-GB" sz="2000" b="1" dirty="0"/>
              <a:t>3. Write the overall  balanced symbol equation for the reaction in a fuel </a:t>
            </a:r>
            <a:r>
              <a:rPr lang="en-GB" sz="2000" b="1" dirty="0" smtClean="0"/>
              <a:t>cell.</a:t>
            </a:r>
            <a:endParaRPr lang="en-GB" sz="2000" b="1" dirty="0"/>
          </a:p>
          <a:p>
            <a:pPr algn="ctr"/>
            <a:r>
              <a:rPr lang="en-GB" dirty="0">
                <a:solidFill>
                  <a:srgbClr val="00B050"/>
                </a:solidFill>
                <a:sym typeface="Wingdings" panose="05000000000000000000" pitchFamily="2" charset="2"/>
              </a:rPr>
              <a:t>2H</a:t>
            </a:r>
            <a:r>
              <a:rPr lang="en-GB" baseline="-25000" dirty="0">
                <a:solidFill>
                  <a:srgbClr val="00B050"/>
                </a:solidFill>
                <a:sym typeface="Wingdings" panose="05000000000000000000" pitchFamily="2" charset="2"/>
              </a:rPr>
              <a:t>2 </a:t>
            </a:r>
            <a:r>
              <a:rPr lang="en-GB" dirty="0">
                <a:solidFill>
                  <a:srgbClr val="00B050"/>
                </a:solidFill>
                <a:sym typeface="Wingdings" panose="05000000000000000000" pitchFamily="2" charset="2"/>
              </a:rPr>
              <a:t>(g)  +  O</a:t>
            </a:r>
            <a:r>
              <a:rPr lang="en-GB" baseline="-25000" dirty="0">
                <a:solidFill>
                  <a:srgbClr val="00B050"/>
                </a:solidFill>
                <a:sym typeface="Wingdings" panose="05000000000000000000" pitchFamily="2" charset="2"/>
              </a:rPr>
              <a:t>2</a:t>
            </a:r>
            <a:r>
              <a:rPr lang="en-GB" dirty="0">
                <a:solidFill>
                  <a:srgbClr val="00B050"/>
                </a:solidFill>
                <a:sym typeface="Wingdings" panose="05000000000000000000" pitchFamily="2" charset="2"/>
              </a:rPr>
              <a:t> (g)  2H</a:t>
            </a:r>
            <a:r>
              <a:rPr lang="en-GB" baseline="-25000" dirty="0">
                <a:solidFill>
                  <a:srgbClr val="00B050"/>
                </a:solidFill>
                <a:sym typeface="Wingdings" panose="05000000000000000000" pitchFamily="2" charset="2"/>
              </a:rPr>
              <a:t>2</a:t>
            </a:r>
            <a:r>
              <a:rPr lang="en-GB" dirty="0">
                <a:solidFill>
                  <a:srgbClr val="00B050"/>
                </a:solidFill>
                <a:sym typeface="Wingdings" panose="05000000000000000000" pitchFamily="2" charset="2"/>
              </a:rPr>
              <a:t>O (g)</a:t>
            </a:r>
            <a:endParaRPr lang="en-GB" dirty="0">
              <a:solidFill>
                <a:srgbClr val="00B050"/>
              </a:solidFill>
            </a:endParaRPr>
          </a:p>
          <a:p>
            <a:pPr>
              <a:lnSpc>
                <a:spcPct val="150000"/>
              </a:lnSpc>
            </a:pPr>
            <a:r>
              <a:rPr lang="en-GB" sz="2000" b="1" dirty="0"/>
              <a:t>4. Write the half equation for the reaction that happens at the cathode in a fuel </a:t>
            </a:r>
            <a:r>
              <a:rPr lang="en-GB" sz="2000" b="1" dirty="0" smtClean="0"/>
              <a:t>cell.</a:t>
            </a:r>
            <a:endParaRPr lang="en-GB" sz="2000" b="1" dirty="0"/>
          </a:p>
          <a:p>
            <a:pPr algn="ctr"/>
            <a:r>
              <a:rPr lang="en-GB" sz="2000" b="1" dirty="0"/>
              <a:t>        </a:t>
            </a:r>
            <a:r>
              <a:rPr lang="en-GB" sz="2000" dirty="0">
                <a:solidFill>
                  <a:srgbClr val="00B050"/>
                </a:solidFill>
              </a:rPr>
              <a:t>2H</a:t>
            </a:r>
            <a:r>
              <a:rPr lang="en-GB" sz="2000" baseline="-25000" dirty="0">
                <a:solidFill>
                  <a:srgbClr val="00B050"/>
                </a:solidFill>
              </a:rPr>
              <a:t>2</a:t>
            </a:r>
            <a:r>
              <a:rPr lang="en-GB" sz="2000" dirty="0">
                <a:solidFill>
                  <a:srgbClr val="00B050"/>
                </a:solidFill>
              </a:rPr>
              <a:t> (g) </a:t>
            </a:r>
            <a:r>
              <a:rPr lang="en-GB" sz="2000" dirty="0">
                <a:solidFill>
                  <a:srgbClr val="00B050"/>
                </a:solidFill>
                <a:sym typeface="Wingdings" panose="05000000000000000000" pitchFamily="2" charset="2"/>
              </a:rPr>
              <a:t> 4H</a:t>
            </a:r>
            <a:r>
              <a:rPr lang="en-GB" sz="2000" baseline="30000" dirty="0">
                <a:solidFill>
                  <a:srgbClr val="00B050"/>
                </a:solidFill>
                <a:sym typeface="Wingdings" panose="05000000000000000000" pitchFamily="2" charset="2"/>
              </a:rPr>
              <a:t>+</a:t>
            </a:r>
            <a:r>
              <a:rPr lang="en-GB" sz="2000" dirty="0">
                <a:solidFill>
                  <a:srgbClr val="00B050"/>
                </a:solidFill>
                <a:sym typeface="Wingdings" panose="05000000000000000000" pitchFamily="2" charset="2"/>
              </a:rPr>
              <a:t> (</a:t>
            </a:r>
            <a:r>
              <a:rPr lang="en-GB" sz="2000" dirty="0" err="1">
                <a:solidFill>
                  <a:srgbClr val="00B050"/>
                </a:solidFill>
                <a:sym typeface="Wingdings" panose="05000000000000000000" pitchFamily="2" charset="2"/>
              </a:rPr>
              <a:t>aq</a:t>
            </a:r>
            <a:r>
              <a:rPr lang="en-GB" sz="2000" dirty="0">
                <a:solidFill>
                  <a:srgbClr val="00B050"/>
                </a:solidFill>
                <a:sym typeface="Wingdings" panose="05000000000000000000" pitchFamily="2" charset="2"/>
              </a:rPr>
              <a:t>) +  4e</a:t>
            </a:r>
            <a:r>
              <a:rPr lang="en-GB" sz="2000" baseline="30000" dirty="0">
                <a:solidFill>
                  <a:srgbClr val="00B050"/>
                </a:solidFill>
                <a:sym typeface="Wingdings" panose="05000000000000000000" pitchFamily="2" charset="2"/>
              </a:rPr>
              <a:t>-</a:t>
            </a:r>
            <a:endParaRPr lang="en-GB" sz="2000" baseline="30000" dirty="0">
              <a:solidFill>
                <a:srgbClr val="00B050"/>
              </a:solidFill>
            </a:endParaRPr>
          </a:p>
          <a:p>
            <a:pPr>
              <a:lnSpc>
                <a:spcPct val="150000"/>
              </a:lnSpc>
            </a:pPr>
            <a:r>
              <a:rPr lang="en-GB" sz="2000" b="1" dirty="0"/>
              <a:t>5. Write the half equation for the reaction that happens at the anode in a fuel </a:t>
            </a:r>
            <a:r>
              <a:rPr lang="en-GB" sz="2000" b="1" dirty="0" smtClean="0"/>
              <a:t>cell.</a:t>
            </a:r>
            <a:endParaRPr lang="en-GB" sz="2000" b="1" dirty="0"/>
          </a:p>
          <a:p>
            <a:pPr algn="ctr">
              <a:lnSpc>
                <a:spcPct val="150000"/>
              </a:lnSpc>
            </a:pPr>
            <a:r>
              <a:rPr lang="en-GB" sz="2000" dirty="0">
                <a:solidFill>
                  <a:srgbClr val="00B050"/>
                </a:solidFill>
              </a:rPr>
              <a:t>4H</a:t>
            </a:r>
            <a:r>
              <a:rPr lang="en-GB" sz="2000" baseline="30000" dirty="0">
                <a:solidFill>
                  <a:srgbClr val="00B050"/>
                </a:solidFill>
              </a:rPr>
              <a:t>+</a:t>
            </a:r>
            <a:r>
              <a:rPr lang="en-GB" sz="2000" dirty="0">
                <a:solidFill>
                  <a:srgbClr val="00B050"/>
                </a:solidFill>
              </a:rPr>
              <a:t> (</a:t>
            </a:r>
            <a:r>
              <a:rPr lang="en-GB" sz="2000" dirty="0" err="1">
                <a:solidFill>
                  <a:srgbClr val="00B050"/>
                </a:solidFill>
              </a:rPr>
              <a:t>aq</a:t>
            </a:r>
            <a:r>
              <a:rPr lang="en-GB" sz="2000" dirty="0">
                <a:solidFill>
                  <a:srgbClr val="00B050"/>
                </a:solidFill>
              </a:rPr>
              <a:t>)  +  O</a:t>
            </a:r>
            <a:r>
              <a:rPr lang="en-GB" sz="2000" baseline="-25000" dirty="0">
                <a:solidFill>
                  <a:srgbClr val="00B050"/>
                </a:solidFill>
              </a:rPr>
              <a:t>2</a:t>
            </a:r>
            <a:r>
              <a:rPr lang="en-GB" sz="2000" dirty="0">
                <a:solidFill>
                  <a:srgbClr val="00B050"/>
                </a:solidFill>
              </a:rPr>
              <a:t> (g)  +  4e</a:t>
            </a:r>
            <a:r>
              <a:rPr lang="en-GB" sz="2000" baseline="30000" dirty="0">
                <a:solidFill>
                  <a:srgbClr val="00B050"/>
                </a:solidFill>
              </a:rPr>
              <a:t>-</a:t>
            </a:r>
            <a:r>
              <a:rPr lang="en-GB" sz="2000" dirty="0">
                <a:solidFill>
                  <a:srgbClr val="00B050"/>
                </a:solidFill>
              </a:rPr>
              <a:t> </a:t>
            </a:r>
            <a:r>
              <a:rPr lang="en-GB" sz="2000" dirty="0">
                <a:solidFill>
                  <a:srgbClr val="00B050"/>
                </a:solidFill>
                <a:sym typeface="Wingdings" panose="05000000000000000000" pitchFamily="2" charset="2"/>
              </a:rPr>
              <a:t>  2H</a:t>
            </a:r>
            <a:r>
              <a:rPr lang="en-GB" sz="2000" baseline="-25000" dirty="0">
                <a:solidFill>
                  <a:srgbClr val="00B050"/>
                </a:solidFill>
                <a:sym typeface="Wingdings" panose="05000000000000000000" pitchFamily="2" charset="2"/>
              </a:rPr>
              <a:t>2</a:t>
            </a:r>
            <a:r>
              <a:rPr lang="en-GB" sz="2000" dirty="0">
                <a:solidFill>
                  <a:srgbClr val="00B050"/>
                </a:solidFill>
                <a:sym typeface="Wingdings" panose="05000000000000000000" pitchFamily="2" charset="2"/>
              </a:rPr>
              <a:t>O (g)</a:t>
            </a:r>
            <a:endParaRPr lang="en-GB" sz="2000" dirty="0">
              <a:solidFill>
                <a:srgbClr val="00B050"/>
              </a:solidFill>
            </a:endParaRPr>
          </a:p>
          <a:p>
            <a:pPr>
              <a:lnSpc>
                <a:spcPct val="150000"/>
              </a:lnSpc>
            </a:pPr>
            <a:endParaRPr lang="en-GB" sz="2000" b="1" dirty="0"/>
          </a:p>
          <a:p>
            <a:pPr>
              <a:lnSpc>
                <a:spcPct val="150000"/>
              </a:lnSpc>
            </a:pPr>
            <a:endParaRPr lang="en-GB" sz="2400" dirty="0"/>
          </a:p>
          <a:p>
            <a:pPr>
              <a:lnSpc>
                <a:spcPct val="150000"/>
              </a:lnSpc>
            </a:pPr>
            <a:endParaRPr lang="en-GB" sz="2400" dirty="0"/>
          </a:p>
          <a:p>
            <a:endParaRPr lang="en-GB" sz="2400" dirty="0"/>
          </a:p>
          <a:p>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p:txBody>
      </p:sp>
    </p:spTree>
    <p:extLst>
      <p:ext uri="{BB962C8B-B14F-4D97-AF65-F5344CB8AC3E}">
        <p14:creationId xmlns:p14="http://schemas.microsoft.com/office/powerpoint/2010/main" val="385557699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12171</TotalTime>
  <Words>5181</Words>
  <Application>Microsoft Office PowerPoint</Application>
  <PresentationFormat>On-screen Show (4:3)</PresentationFormat>
  <Paragraphs>494</Paragraphs>
  <Slides>44</Slides>
  <Notes>22</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44</vt:i4>
      </vt:variant>
    </vt:vector>
  </HeadingPairs>
  <TitlesOfParts>
    <vt:vector size="56" baseType="lpstr">
      <vt:lpstr>Arial</vt:lpstr>
      <vt:lpstr>Beirut</vt:lpstr>
      <vt:lpstr>Calibri</vt:lpstr>
      <vt:lpstr>Calibri Light</vt:lpstr>
      <vt:lpstr>Gill Sans</vt:lpstr>
      <vt:lpstr>Lato Medium</vt:lpstr>
      <vt:lpstr>News Gothic MT</vt:lpstr>
      <vt:lpstr>Times New Roman</vt:lpstr>
      <vt:lpstr>Wingdings</vt:lpstr>
      <vt:lpstr>1_Office Theme</vt:lpstr>
      <vt:lpstr>Custom Design</vt:lpstr>
      <vt:lpstr>PIXL Sci</vt:lpstr>
      <vt:lpstr>PowerPoint Presentation</vt:lpstr>
      <vt:lpstr>Overview   Energy Changes</vt:lpstr>
      <vt:lpstr>PowerPoint Presentation</vt:lpstr>
      <vt:lpstr>Exothermic and endothermic reactions part 1 – Exothermic reactions</vt:lpstr>
      <vt:lpstr>Exothermic and endothermic reactions part 1 – Exothermic reactions</vt:lpstr>
      <vt:lpstr>Exothermic and endothermic reactions part 1 – Endothermic reactions</vt:lpstr>
      <vt:lpstr>PowerPoint Presentation</vt:lpstr>
      <vt:lpstr>Energy Changes part 1 – QuestionIT</vt:lpstr>
      <vt:lpstr>PowerPoint Presentation</vt:lpstr>
      <vt:lpstr>Energy Changes part 1 – AnswerIT</vt:lpstr>
      <vt:lpstr>Energy Changes part 1 – AnswerIT</vt:lpstr>
      <vt:lpstr>PowerPoint Presentation</vt:lpstr>
      <vt:lpstr>Energy Changes part 2 – Reaction profiles</vt:lpstr>
      <vt:lpstr>Energy Changes part 2 – Reaction profiles</vt:lpstr>
      <vt:lpstr>Energy Changes part 2 – Reaction profiles</vt:lpstr>
      <vt:lpstr>Energy Changes part 2 – Reaction profiles</vt:lpstr>
      <vt:lpstr>Energy Changes part 2 – Reaction profiles</vt:lpstr>
      <vt:lpstr>PowerPoint Presentation</vt:lpstr>
      <vt:lpstr>Energy Changes part 2 QuestionIT</vt:lpstr>
      <vt:lpstr>Energy Changes part 2 QuestionIT</vt:lpstr>
      <vt:lpstr>PowerPoint Presentation</vt:lpstr>
      <vt:lpstr>Energy Changes part 2 AnswerIT</vt:lpstr>
      <vt:lpstr>Energy Changes part 2 AnswerIT</vt:lpstr>
      <vt:lpstr>PowerPoint Presentation</vt:lpstr>
      <vt:lpstr>The energy change of reactions (HT only)</vt:lpstr>
      <vt:lpstr>The energy change of reactions (HT only)</vt:lpstr>
      <vt:lpstr>The energy change of reactions (HT only)</vt:lpstr>
      <vt:lpstr>The energy change of reactions (HT only)</vt:lpstr>
      <vt:lpstr>The energy change of reactions (HT only)</vt:lpstr>
      <vt:lpstr>PowerPoint Presentation</vt:lpstr>
      <vt:lpstr>The energy change of reactions (HT only) QuestionIT</vt:lpstr>
      <vt:lpstr>The energy change of reactions (HT only) QuestionIT</vt:lpstr>
      <vt:lpstr>PowerPoint Presentation</vt:lpstr>
      <vt:lpstr>The energy change of reactions (HT only) AnswerIT</vt:lpstr>
      <vt:lpstr>The energy change of reactions (HT only) AnswerIT</vt:lpstr>
      <vt:lpstr>PowerPoint Presentation</vt:lpstr>
      <vt:lpstr>Cells and batteries (Chemistry only)</vt:lpstr>
      <vt:lpstr>Fuel Cells (Chemistry only)</vt:lpstr>
      <vt:lpstr>PowerPoint Presentation</vt:lpstr>
      <vt:lpstr>Cells and batteries (Chemistry only)QuestionIT</vt:lpstr>
      <vt:lpstr>Fuel Cells (Chemistry only)QuestionIT</vt:lpstr>
      <vt:lpstr>PowerPoint Presentation</vt:lpstr>
      <vt:lpstr>Cells and batteries (Chemistry only)AnswerIT</vt:lpstr>
      <vt:lpstr>Fuel Cells (Chemistry only)AnswerIT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Karen Collins</cp:lastModifiedBy>
  <cp:revision>311</cp:revision>
  <cp:lastPrinted>2017-05-23T14:15:43Z</cp:lastPrinted>
  <dcterms:created xsi:type="dcterms:W3CDTF">2016-03-05T09:38:04Z</dcterms:created>
  <dcterms:modified xsi:type="dcterms:W3CDTF">2017-10-18T14:10:52Z</dcterms:modified>
</cp:coreProperties>
</file>