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Lst>
  <p:notesMasterIdLst>
    <p:notesMasterId r:id="rId61"/>
  </p:notesMasterIdLst>
  <p:sldIdLst>
    <p:sldId id="256" r:id="rId3"/>
    <p:sldId id="281" r:id="rId4"/>
    <p:sldId id="316" r:id="rId5"/>
    <p:sldId id="489" r:id="rId6"/>
    <p:sldId id="490" r:id="rId7"/>
    <p:sldId id="535" r:id="rId8"/>
    <p:sldId id="529" r:id="rId9"/>
    <p:sldId id="513" r:id="rId10"/>
    <p:sldId id="325" r:id="rId11"/>
    <p:sldId id="536" r:id="rId12"/>
    <p:sldId id="537" r:id="rId13"/>
    <p:sldId id="467" r:id="rId14"/>
    <p:sldId id="539" r:id="rId15"/>
    <p:sldId id="540" r:id="rId16"/>
    <p:sldId id="541" r:id="rId17"/>
    <p:sldId id="317" r:id="rId18"/>
    <p:sldId id="491" r:id="rId19"/>
    <p:sldId id="506" r:id="rId20"/>
    <p:sldId id="497" r:id="rId21"/>
    <p:sldId id="508" r:id="rId22"/>
    <p:sldId id="403" r:id="rId23"/>
    <p:sldId id="542" r:id="rId24"/>
    <p:sldId id="522" r:id="rId25"/>
    <p:sldId id="405" r:id="rId26"/>
    <p:sldId id="543" r:id="rId27"/>
    <p:sldId id="519" r:id="rId28"/>
    <p:sldId id="379" r:id="rId29"/>
    <p:sldId id="512" r:id="rId30"/>
    <p:sldId id="516" r:id="rId31"/>
    <p:sldId id="518" r:id="rId32"/>
    <p:sldId id="534" r:id="rId33"/>
    <p:sldId id="507" r:id="rId34"/>
    <p:sldId id="406" r:id="rId35"/>
    <p:sldId id="544" r:id="rId36"/>
    <p:sldId id="545" r:id="rId37"/>
    <p:sldId id="546" r:id="rId38"/>
    <p:sldId id="408" r:id="rId39"/>
    <p:sldId id="547" r:id="rId40"/>
    <p:sldId id="548" r:id="rId41"/>
    <p:sldId id="549" r:id="rId42"/>
    <p:sldId id="383" r:id="rId43"/>
    <p:sldId id="492" r:id="rId44"/>
    <p:sldId id="494" r:id="rId45"/>
    <p:sldId id="495" r:id="rId46"/>
    <p:sldId id="476" r:id="rId47"/>
    <p:sldId id="550" r:id="rId48"/>
    <p:sldId id="551" r:id="rId49"/>
    <p:sldId id="477" r:id="rId50"/>
    <p:sldId id="552" r:id="rId51"/>
    <p:sldId id="553" r:id="rId52"/>
    <p:sldId id="475" r:id="rId53"/>
    <p:sldId id="496" r:id="rId54"/>
    <p:sldId id="478" r:id="rId55"/>
    <p:sldId id="554" r:id="rId56"/>
    <p:sldId id="555" r:id="rId57"/>
    <p:sldId id="479" r:id="rId58"/>
    <p:sldId id="556" r:id="rId59"/>
    <p:sldId id="557"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Simpkins" initials="MS" lastIdx="48"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5C33"/>
    <a:srgbClr val="E49F0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731" autoAdjust="0"/>
    <p:restoredTop sz="92868" autoAdjust="0"/>
  </p:normalViewPr>
  <p:slideViewPr>
    <p:cSldViewPr>
      <p:cViewPr varScale="1">
        <p:scale>
          <a:sx n="81" d="100"/>
          <a:sy n="81" d="100"/>
        </p:scale>
        <p:origin x="108" y="78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6408"/>
    </p:cViewPr>
  </p:sorter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11/15/2017</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https://c2.staticflickr.com/4/3178/4076380768_03994aed44_b.jpg</a:t>
            </a:r>
          </a:p>
        </p:txBody>
      </p:sp>
      <p:sp>
        <p:nvSpPr>
          <p:cNvPr id="4" name="Slide Number Placeholder 3"/>
          <p:cNvSpPr>
            <a:spLocks noGrp="1"/>
          </p:cNvSpPr>
          <p:nvPr>
            <p:ph type="sldNum" sz="quarter" idx="10"/>
          </p:nvPr>
        </p:nvSpPr>
        <p:spPr/>
        <p:txBody>
          <a:bodyPr/>
          <a:lstStyle/>
          <a:p>
            <a:fld id="{2C9D32D9-63A9-423F-8B77-368638260D4D}" type="slidenum">
              <a:rPr lang="en-US" smtClean="0"/>
              <a:t>2</a:t>
            </a:fld>
            <a:endParaRPr lang="en-US"/>
          </a:p>
        </p:txBody>
      </p:sp>
    </p:spTree>
    <p:extLst>
      <p:ext uri="{BB962C8B-B14F-4D97-AF65-F5344CB8AC3E}">
        <p14:creationId xmlns:p14="http://schemas.microsoft.com/office/powerpoint/2010/main" val="2536047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a:p>
        </p:txBody>
      </p:sp>
    </p:spTree>
    <p:extLst>
      <p:ext uri="{BB962C8B-B14F-4D97-AF65-F5344CB8AC3E}">
        <p14:creationId xmlns:p14="http://schemas.microsoft.com/office/powerpoint/2010/main" val="704945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a:p>
        </p:txBody>
      </p:sp>
    </p:spTree>
    <p:extLst>
      <p:ext uri="{BB962C8B-B14F-4D97-AF65-F5344CB8AC3E}">
        <p14:creationId xmlns:p14="http://schemas.microsoft.com/office/powerpoint/2010/main" val="4091613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a:p>
        </p:txBody>
      </p:sp>
    </p:spTree>
    <p:extLst>
      <p:ext uri="{BB962C8B-B14F-4D97-AF65-F5344CB8AC3E}">
        <p14:creationId xmlns:p14="http://schemas.microsoft.com/office/powerpoint/2010/main" val="3343052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a:p>
        </p:txBody>
      </p:sp>
    </p:spTree>
    <p:extLst>
      <p:ext uri="{BB962C8B-B14F-4D97-AF65-F5344CB8AC3E}">
        <p14:creationId xmlns:p14="http://schemas.microsoft.com/office/powerpoint/2010/main" val="4247460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a:t>
            </a:fld>
            <a:endParaRPr lang="en-US"/>
          </a:p>
        </p:txBody>
      </p:sp>
    </p:spTree>
    <p:extLst>
      <p:ext uri="{BB962C8B-B14F-4D97-AF65-F5344CB8AC3E}">
        <p14:creationId xmlns:p14="http://schemas.microsoft.com/office/powerpoint/2010/main" val="4135547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8</a:t>
            </a:fld>
            <a:endParaRPr lang="en-US"/>
          </a:p>
        </p:txBody>
      </p:sp>
    </p:spTree>
    <p:extLst>
      <p:ext uri="{BB962C8B-B14F-4D97-AF65-F5344CB8AC3E}">
        <p14:creationId xmlns:p14="http://schemas.microsoft.com/office/powerpoint/2010/main" val="23653489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9</a:t>
            </a:fld>
            <a:endParaRPr lang="en-US"/>
          </a:p>
        </p:txBody>
      </p:sp>
    </p:spTree>
    <p:extLst>
      <p:ext uri="{BB962C8B-B14F-4D97-AF65-F5344CB8AC3E}">
        <p14:creationId xmlns:p14="http://schemas.microsoft.com/office/powerpoint/2010/main" val="3209414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12</a:t>
            </a:fld>
            <a:endParaRPr lang="en-US" dirty="0"/>
          </a:p>
        </p:txBody>
      </p:sp>
    </p:spTree>
    <p:extLst>
      <p:ext uri="{BB962C8B-B14F-4D97-AF65-F5344CB8AC3E}">
        <p14:creationId xmlns:p14="http://schemas.microsoft.com/office/powerpoint/2010/main" val="4294348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16</a:t>
            </a:fld>
            <a:endParaRPr lang="en-US"/>
          </a:p>
        </p:txBody>
      </p:sp>
    </p:spTree>
    <p:extLst>
      <p:ext uri="{BB962C8B-B14F-4D97-AF65-F5344CB8AC3E}">
        <p14:creationId xmlns:p14="http://schemas.microsoft.com/office/powerpoint/2010/main" val="4199203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17</a:t>
            </a:fld>
            <a:endParaRPr lang="en-US"/>
          </a:p>
        </p:txBody>
      </p:sp>
    </p:spTree>
    <p:extLst>
      <p:ext uri="{BB962C8B-B14F-4D97-AF65-F5344CB8AC3E}">
        <p14:creationId xmlns:p14="http://schemas.microsoft.com/office/powerpoint/2010/main" val="8087918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18</a:t>
            </a:fld>
            <a:endParaRPr lang="en-US"/>
          </a:p>
        </p:txBody>
      </p:sp>
    </p:spTree>
    <p:extLst>
      <p:ext uri="{BB962C8B-B14F-4D97-AF65-F5344CB8AC3E}">
        <p14:creationId xmlns:p14="http://schemas.microsoft.com/office/powerpoint/2010/main" val="1473909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19</a:t>
            </a:fld>
            <a:endParaRPr lang="en-US"/>
          </a:p>
        </p:txBody>
      </p:sp>
    </p:spTree>
    <p:extLst>
      <p:ext uri="{BB962C8B-B14F-4D97-AF65-F5344CB8AC3E}">
        <p14:creationId xmlns:p14="http://schemas.microsoft.com/office/powerpoint/2010/main" val="38626191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ttps://www.google.co.uk/url?sa=i&amp;rct=j&amp;q=&amp;esrc=s&amp;source=images&amp;cd=&amp;cad=rja&amp;uact=8&amp;ved=0ahUKEwjl6OrzgdHVAhXKOxQKHVXZCWMQjRwIBw&amp;url=http%3A%2F%2Fwww.docbrown.info%2Fpage03%2FAcidsBasesSalts06b.htm&amp;psig=AFQjCNEGXguuSJFjPV4Fhv0gS1lj7C5dJw&amp;ust=1502603833131650</a:t>
            </a:r>
          </a:p>
        </p:txBody>
      </p:sp>
      <p:sp>
        <p:nvSpPr>
          <p:cNvPr id="4" name="Slide Number Placeholder 3"/>
          <p:cNvSpPr>
            <a:spLocks noGrp="1"/>
          </p:cNvSpPr>
          <p:nvPr>
            <p:ph type="sldNum" sz="quarter" idx="10"/>
          </p:nvPr>
        </p:nvSpPr>
        <p:spPr/>
        <p:txBody>
          <a:bodyPr/>
          <a:lstStyle/>
          <a:p>
            <a:fld id="{2C9D32D9-63A9-423F-8B77-368638260D4D}" type="slidenum">
              <a:rPr lang="en-US" smtClean="0"/>
              <a:t>20</a:t>
            </a:fld>
            <a:endParaRPr lang="en-US"/>
          </a:p>
        </p:txBody>
      </p:sp>
    </p:spTree>
    <p:extLst>
      <p:ext uri="{BB962C8B-B14F-4D97-AF65-F5344CB8AC3E}">
        <p14:creationId xmlns:p14="http://schemas.microsoft.com/office/powerpoint/2010/main" val="42623883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21</a:t>
            </a:fld>
            <a:endParaRPr lang="en-US"/>
          </a:p>
        </p:txBody>
      </p:sp>
    </p:spTree>
    <p:extLst>
      <p:ext uri="{BB962C8B-B14F-4D97-AF65-F5344CB8AC3E}">
        <p14:creationId xmlns:p14="http://schemas.microsoft.com/office/powerpoint/2010/main" val="1412524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24</a:t>
            </a:fld>
            <a:endParaRPr lang="en-US" dirty="0"/>
          </a:p>
        </p:txBody>
      </p:sp>
    </p:spTree>
    <p:extLst>
      <p:ext uri="{BB962C8B-B14F-4D97-AF65-F5344CB8AC3E}">
        <p14:creationId xmlns:p14="http://schemas.microsoft.com/office/powerpoint/2010/main" val="4139235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27</a:t>
            </a:fld>
            <a:endParaRPr lang="en-US"/>
          </a:p>
        </p:txBody>
      </p:sp>
    </p:spTree>
    <p:extLst>
      <p:ext uri="{BB962C8B-B14F-4D97-AF65-F5344CB8AC3E}">
        <p14:creationId xmlns:p14="http://schemas.microsoft.com/office/powerpoint/2010/main" val="3720061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https://opentextbc.ca/anatomyandphysiology/wp-content/uploads/sites/142/2016/03/2713_pH_Scale-01.jpg</a:t>
            </a:r>
          </a:p>
        </p:txBody>
      </p:sp>
      <p:sp>
        <p:nvSpPr>
          <p:cNvPr id="4" name="Slide Number Placeholder 3"/>
          <p:cNvSpPr>
            <a:spLocks noGrp="1"/>
          </p:cNvSpPr>
          <p:nvPr>
            <p:ph type="sldNum" sz="quarter" idx="10"/>
          </p:nvPr>
        </p:nvSpPr>
        <p:spPr/>
        <p:txBody>
          <a:bodyPr/>
          <a:lstStyle/>
          <a:p>
            <a:fld id="{2C9D32D9-63A9-423F-8B77-368638260D4D}" type="slidenum">
              <a:rPr lang="en-US" smtClean="0"/>
              <a:t>28</a:t>
            </a:fld>
            <a:endParaRPr lang="en-US"/>
          </a:p>
        </p:txBody>
      </p:sp>
    </p:spTree>
    <p:extLst>
      <p:ext uri="{BB962C8B-B14F-4D97-AF65-F5344CB8AC3E}">
        <p14:creationId xmlns:p14="http://schemas.microsoft.com/office/powerpoint/2010/main" val="23134222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irr9O3pNHVAhUHvRQKHZ_IAe0QjRwIBw&amp;url=https%3A%2F%2Ftaytaynm.wordpress.com%2F2014%2F05%2F01%2Fwho-cares-about-titration%2F&amp;psig=AFQjCNHoK3AhdASNaybmu_T9HzIcQoxVjg&amp;ust=1502612966877529</a:t>
            </a:r>
          </a:p>
        </p:txBody>
      </p:sp>
      <p:sp>
        <p:nvSpPr>
          <p:cNvPr id="4" name="Slide Number Placeholder 3"/>
          <p:cNvSpPr>
            <a:spLocks noGrp="1"/>
          </p:cNvSpPr>
          <p:nvPr>
            <p:ph type="sldNum" sz="quarter" idx="10"/>
          </p:nvPr>
        </p:nvSpPr>
        <p:spPr/>
        <p:txBody>
          <a:bodyPr/>
          <a:lstStyle/>
          <a:p>
            <a:fld id="{2C9D32D9-63A9-423F-8B77-368638260D4D}" type="slidenum">
              <a:rPr lang="en-US" smtClean="0"/>
              <a:t>29</a:t>
            </a:fld>
            <a:endParaRPr lang="en-US"/>
          </a:p>
        </p:txBody>
      </p:sp>
    </p:spTree>
    <p:extLst>
      <p:ext uri="{BB962C8B-B14F-4D97-AF65-F5344CB8AC3E}">
        <p14:creationId xmlns:p14="http://schemas.microsoft.com/office/powerpoint/2010/main" val="6581511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30</a:t>
            </a:fld>
            <a:endParaRPr lang="en-US"/>
          </a:p>
        </p:txBody>
      </p:sp>
    </p:spTree>
    <p:extLst>
      <p:ext uri="{BB962C8B-B14F-4D97-AF65-F5344CB8AC3E}">
        <p14:creationId xmlns:p14="http://schemas.microsoft.com/office/powerpoint/2010/main" val="2251045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ic9fD53sTVAhXXFsAKHSJ7Dr8QjRwIBw&amp;url=https%3A%2F%2Fdashboard.dublinschools.net%2Flessons%2F%3Fid%3De9c698fd6c35d97ff2e23fd627aef61a&amp;psig=AFQjCNEPUZuHN4PUAqRXuixkOonJ1d2CJw&amp;ust=1502182150450095</a:t>
            </a:r>
          </a:p>
        </p:txBody>
      </p:sp>
      <p:sp>
        <p:nvSpPr>
          <p:cNvPr id="4" name="Slide Number Placeholder 3"/>
          <p:cNvSpPr>
            <a:spLocks noGrp="1"/>
          </p:cNvSpPr>
          <p:nvPr>
            <p:ph type="sldNum" sz="quarter" idx="10"/>
          </p:nvPr>
        </p:nvSpPr>
        <p:spPr/>
        <p:txBody>
          <a:bodyPr/>
          <a:lstStyle/>
          <a:p>
            <a:fld id="{2C9D32D9-63A9-423F-8B77-368638260D4D}" type="slidenum">
              <a:rPr lang="en-US" smtClean="0"/>
              <a:t>31</a:t>
            </a:fld>
            <a:endParaRPr lang="en-US"/>
          </a:p>
        </p:txBody>
      </p:sp>
    </p:spTree>
    <p:extLst>
      <p:ext uri="{BB962C8B-B14F-4D97-AF65-F5344CB8AC3E}">
        <p14:creationId xmlns:p14="http://schemas.microsoft.com/office/powerpoint/2010/main" val="20323390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i728qEqtHVAhWBWBQKHRPTD38QjRwIBw&amp;url=https%3A%2F%2Fdc.edu.au%2Fhsc-chemistry-acidic-environment%2F&amp;psig=AFQjCNG5fBPM30-007AJ_qlijTuBxZFN2g&amp;ust=1502614668234720</a:t>
            </a:r>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a:p>
        </p:txBody>
      </p:sp>
    </p:spTree>
    <p:extLst>
      <p:ext uri="{BB962C8B-B14F-4D97-AF65-F5344CB8AC3E}">
        <p14:creationId xmlns:p14="http://schemas.microsoft.com/office/powerpoint/2010/main" val="6161477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33</a:t>
            </a:fld>
            <a:endParaRPr lang="en-US"/>
          </a:p>
        </p:txBody>
      </p:sp>
    </p:spTree>
    <p:extLst>
      <p:ext uri="{BB962C8B-B14F-4D97-AF65-F5344CB8AC3E}">
        <p14:creationId xmlns:p14="http://schemas.microsoft.com/office/powerpoint/2010/main" val="41704599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37</a:t>
            </a:fld>
            <a:endParaRPr lang="en-US" dirty="0"/>
          </a:p>
        </p:txBody>
      </p:sp>
    </p:spTree>
    <p:extLst>
      <p:ext uri="{BB962C8B-B14F-4D97-AF65-F5344CB8AC3E}">
        <p14:creationId xmlns:p14="http://schemas.microsoft.com/office/powerpoint/2010/main" val="15723860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41</a:t>
            </a:fld>
            <a:endParaRPr lang="en-US"/>
          </a:p>
        </p:txBody>
      </p:sp>
    </p:spTree>
    <p:extLst>
      <p:ext uri="{BB962C8B-B14F-4D97-AF65-F5344CB8AC3E}">
        <p14:creationId xmlns:p14="http://schemas.microsoft.com/office/powerpoint/2010/main" val="30289687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42</a:t>
            </a:fld>
            <a:endParaRPr lang="en-US"/>
          </a:p>
        </p:txBody>
      </p:sp>
    </p:spTree>
    <p:extLst>
      <p:ext uri="{BB962C8B-B14F-4D97-AF65-F5344CB8AC3E}">
        <p14:creationId xmlns:p14="http://schemas.microsoft.com/office/powerpoint/2010/main" val="4345547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https://bam.files.bbci.co.uk/bam/live/content/zcwngk7/large</a:t>
            </a:r>
          </a:p>
        </p:txBody>
      </p:sp>
      <p:sp>
        <p:nvSpPr>
          <p:cNvPr id="4" name="Slide Number Placeholder 3"/>
          <p:cNvSpPr>
            <a:spLocks noGrp="1"/>
          </p:cNvSpPr>
          <p:nvPr>
            <p:ph type="sldNum" sz="quarter" idx="10"/>
          </p:nvPr>
        </p:nvSpPr>
        <p:spPr/>
        <p:txBody>
          <a:bodyPr/>
          <a:lstStyle/>
          <a:p>
            <a:fld id="{2C9D32D9-63A9-423F-8B77-368638260D4D}" type="slidenum">
              <a:rPr lang="en-US" smtClean="0"/>
              <a:t>43</a:t>
            </a:fld>
            <a:endParaRPr lang="en-US"/>
          </a:p>
        </p:txBody>
      </p:sp>
    </p:spTree>
    <p:extLst>
      <p:ext uri="{BB962C8B-B14F-4D97-AF65-F5344CB8AC3E}">
        <p14:creationId xmlns:p14="http://schemas.microsoft.com/office/powerpoint/2010/main" val="23906602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https://bam.files.bbci.co.uk/bam/live/content/zbktvcw/large</a:t>
            </a:r>
          </a:p>
        </p:txBody>
      </p:sp>
      <p:sp>
        <p:nvSpPr>
          <p:cNvPr id="4" name="Slide Number Placeholder 3"/>
          <p:cNvSpPr>
            <a:spLocks noGrp="1"/>
          </p:cNvSpPr>
          <p:nvPr>
            <p:ph type="sldNum" sz="quarter" idx="10"/>
          </p:nvPr>
        </p:nvSpPr>
        <p:spPr/>
        <p:txBody>
          <a:bodyPr/>
          <a:lstStyle/>
          <a:p>
            <a:fld id="{2C9D32D9-63A9-423F-8B77-368638260D4D}" type="slidenum">
              <a:rPr lang="en-US" smtClean="0"/>
              <a:t>44</a:t>
            </a:fld>
            <a:endParaRPr lang="en-US"/>
          </a:p>
        </p:txBody>
      </p:sp>
    </p:spTree>
    <p:extLst>
      <p:ext uri="{BB962C8B-B14F-4D97-AF65-F5344CB8AC3E}">
        <p14:creationId xmlns:p14="http://schemas.microsoft.com/office/powerpoint/2010/main" val="15988501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45</a:t>
            </a:fld>
            <a:endParaRPr lang="en-US"/>
          </a:p>
        </p:txBody>
      </p:sp>
    </p:spTree>
    <p:extLst>
      <p:ext uri="{BB962C8B-B14F-4D97-AF65-F5344CB8AC3E}">
        <p14:creationId xmlns:p14="http://schemas.microsoft.com/office/powerpoint/2010/main" val="10694525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48</a:t>
            </a:fld>
            <a:endParaRPr lang="en-US" dirty="0"/>
          </a:p>
        </p:txBody>
      </p:sp>
    </p:spTree>
    <p:extLst>
      <p:ext uri="{BB962C8B-B14F-4D97-AF65-F5344CB8AC3E}">
        <p14:creationId xmlns:p14="http://schemas.microsoft.com/office/powerpoint/2010/main" val="12192946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51</a:t>
            </a:fld>
            <a:endParaRPr lang="en-US"/>
          </a:p>
        </p:txBody>
      </p:sp>
    </p:spTree>
    <p:extLst>
      <p:ext uri="{BB962C8B-B14F-4D97-AF65-F5344CB8AC3E}">
        <p14:creationId xmlns:p14="http://schemas.microsoft.com/office/powerpoint/2010/main" val="34774178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i0wPOphtDVAhUIShQKHW9XD0AQjRwIBw&amp;url=http%3A%2F%2Fibchem.com%2FIB%2Fibnotes%2Ffull%2Fope_htm%2Fhall_cell.htm&amp;psig=AFQjCNGb7-GPpBasXBz55VXk3BCbdFEYPQ&amp;ust=1502570727717402</a:t>
            </a:r>
          </a:p>
        </p:txBody>
      </p:sp>
      <p:sp>
        <p:nvSpPr>
          <p:cNvPr id="4" name="Slide Number Placeholder 3"/>
          <p:cNvSpPr>
            <a:spLocks noGrp="1"/>
          </p:cNvSpPr>
          <p:nvPr>
            <p:ph type="sldNum" sz="quarter" idx="10"/>
          </p:nvPr>
        </p:nvSpPr>
        <p:spPr/>
        <p:txBody>
          <a:bodyPr/>
          <a:lstStyle/>
          <a:p>
            <a:fld id="{2C9D32D9-63A9-423F-8B77-368638260D4D}" type="slidenum">
              <a:rPr lang="en-US" smtClean="0"/>
              <a:t>52</a:t>
            </a:fld>
            <a:endParaRPr lang="en-US"/>
          </a:p>
        </p:txBody>
      </p:sp>
    </p:spTree>
    <p:extLst>
      <p:ext uri="{BB962C8B-B14F-4D97-AF65-F5344CB8AC3E}">
        <p14:creationId xmlns:p14="http://schemas.microsoft.com/office/powerpoint/2010/main" val="16298816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53</a:t>
            </a:fld>
            <a:endParaRPr lang="en-US"/>
          </a:p>
        </p:txBody>
      </p:sp>
    </p:spTree>
    <p:extLst>
      <p:ext uri="{BB962C8B-B14F-4D97-AF65-F5344CB8AC3E}">
        <p14:creationId xmlns:p14="http://schemas.microsoft.com/office/powerpoint/2010/main" val="9577457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56</a:t>
            </a:fld>
            <a:endParaRPr lang="en-US" dirty="0"/>
          </a:p>
        </p:txBody>
      </p:sp>
    </p:spTree>
    <p:extLst>
      <p:ext uri="{BB962C8B-B14F-4D97-AF65-F5344CB8AC3E}">
        <p14:creationId xmlns:p14="http://schemas.microsoft.com/office/powerpoint/2010/main" val="2427751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15/11/2017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15/11/2017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15/11/2017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15/11/2017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15/11/2017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15/11/2017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15/11/2017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15/11/2017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6940739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15/11/2017</a:t>
            </a:fld>
            <a:endParaRPr lang="en-GB"/>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pixl.org.uk/" TargetMode="External"/><Relationship Id="rId2" Type="http://schemas.openxmlformats.org/officeDocument/2006/relationships/image" Target="../media/image2.jpeg"/><Relationship Id="rId1" Type="http://schemas.openxmlformats.org/officeDocument/2006/relationships/slideLayout" Target="../slideLayouts/slideLayout10.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xmlns="">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a14="http://schemas.microsoft.com/office/drawing/2010/main" xmlns="">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3"/>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065728"/>
          </a:xfrm>
          <a:prstGeom prst="rect">
            <a:avLst/>
          </a:prstGeom>
          <a:noFill/>
        </p:spPr>
        <p:txBody>
          <a:bodyPr wrap="square" rtlCol="0">
            <a:spAutoFit/>
          </a:bodyPr>
          <a:lstStyle/>
          <a:p>
            <a:pPr algn="ctr">
              <a:lnSpc>
                <a:spcPct val="115000"/>
              </a:lnSpc>
              <a:spcAft>
                <a:spcPts val="0"/>
              </a:spcAft>
            </a:pPr>
            <a:r>
              <a:rPr lang="en-GB" sz="7200" b="1" dirty="0"/>
              <a:t>PiXL </a:t>
            </a:r>
            <a:r>
              <a:rPr lang="en-GB" sz="7200" b="1" dirty="0" err="1"/>
              <a:t>KnowIT</a:t>
            </a:r>
            <a:r>
              <a:rPr lang="en-GB" sz="7200" b="1" dirty="0"/>
              <a: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AQA Topic – Chemical changes</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83768" y="35655"/>
            <a:ext cx="6660232" cy="1017081"/>
          </a:xfrm>
        </p:spPr>
        <p:txBody>
          <a:bodyPr>
            <a:normAutofit fontScale="90000"/>
          </a:bodyPr>
          <a:lstStyle/>
          <a:p>
            <a:pPr algn="r"/>
            <a:r>
              <a:rPr lang="en-GB" b="1" dirty="0">
                <a:solidFill>
                  <a:schemeClr val="accent6"/>
                </a:solidFill>
              </a:rPr>
              <a:t>Overview </a:t>
            </a:r>
            <a:br>
              <a:rPr lang="en-GB" b="1" dirty="0">
                <a:solidFill>
                  <a:schemeClr val="accent6"/>
                </a:solidFill>
              </a:rPr>
            </a:br>
            <a:r>
              <a:rPr lang="en-GB" b="1" dirty="0">
                <a:solidFill>
                  <a:schemeClr val="accent6"/>
                </a:solidFill>
              </a:rPr>
              <a:t> </a:t>
            </a:r>
            <a:r>
              <a:rPr lang="en-GB" sz="2700" b="1" dirty="0">
                <a:solidFill>
                  <a:schemeClr val="accent6"/>
                </a:solidFill>
              </a:rPr>
              <a:t>Chemical changes</a:t>
            </a:r>
          </a:p>
        </p:txBody>
      </p:sp>
      <p:sp>
        <p:nvSpPr>
          <p:cNvPr id="3" name="Subtitle 2"/>
          <p:cNvSpPr>
            <a:spLocks noGrp="1"/>
          </p:cNvSpPr>
          <p:nvPr>
            <p:ph type="subTitle" idx="1"/>
          </p:nvPr>
        </p:nvSpPr>
        <p:spPr>
          <a:xfrm>
            <a:off x="22773" y="692696"/>
            <a:ext cx="5341315" cy="6048672"/>
          </a:xfrm>
        </p:spPr>
        <p:txBody>
          <a:bodyPr>
            <a:normAutofit fontScale="92500" lnSpcReduction="10000"/>
          </a:bodyPr>
          <a:lstStyle/>
          <a:p>
            <a:pPr algn="l"/>
            <a:r>
              <a:rPr lang="en-US" sz="2000" b="1" dirty="0">
                <a:solidFill>
                  <a:schemeClr val="tx1"/>
                </a:solidFill>
                <a:latin typeface="+mn-lt"/>
              </a:rPr>
              <a:t>Reactivity of metals</a:t>
            </a:r>
          </a:p>
          <a:p>
            <a:pPr marL="685800" lvl="1" indent="-342900" algn="l">
              <a:buFont typeface="Arial" charset="0"/>
              <a:buChar char="•"/>
            </a:pPr>
            <a:r>
              <a:rPr lang="en-US" sz="2000" dirty="0">
                <a:solidFill>
                  <a:schemeClr val="tx1"/>
                </a:solidFill>
              </a:rPr>
              <a:t>Metal oxides</a:t>
            </a:r>
          </a:p>
          <a:p>
            <a:pPr marL="685800" lvl="1" indent="-342900" algn="l">
              <a:buFont typeface="Arial" charset="0"/>
              <a:buChar char="•"/>
            </a:pPr>
            <a:r>
              <a:rPr lang="en-US" sz="2000" dirty="0" smtClean="0">
                <a:solidFill>
                  <a:schemeClr val="tx1"/>
                </a:solidFill>
              </a:rPr>
              <a:t>The </a:t>
            </a:r>
            <a:r>
              <a:rPr lang="en-US" sz="2000" dirty="0">
                <a:solidFill>
                  <a:schemeClr val="tx1"/>
                </a:solidFill>
              </a:rPr>
              <a:t>reactivity series</a:t>
            </a:r>
          </a:p>
          <a:p>
            <a:pPr marL="685800" lvl="1" indent="-342900" algn="l">
              <a:buFont typeface="Arial" charset="0"/>
              <a:buChar char="•"/>
            </a:pPr>
            <a:r>
              <a:rPr lang="en-US" sz="2000" dirty="0" smtClean="0">
                <a:solidFill>
                  <a:schemeClr val="tx1"/>
                </a:solidFill>
              </a:rPr>
              <a:t>Extraction </a:t>
            </a:r>
            <a:r>
              <a:rPr lang="en-US" sz="2000" dirty="0">
                <a:solidFill>
                  <a:schemeClr val="tx1"/>
                </a:solidFill>
              </a:rPr>
              <a:t>of metals by </a:t>
            </a:r>
            <a:r>
              <a:rPr lang="en-US" sz="2000" dirty="0" smtClean="0">
                <a:solidFill>
                  <a:schemeClr val="tx1"/>
                </a:solidFill>
              </a:rPr>
              <a:t>reduction</a:t>
            </a:r>
          </a:p>
          <a:p>
            <a:pPr marL="685800" lvl="1" indent="-342900" algn="l">
              <a:buFont typeface="Arial" charset="0"/>
              <a:buChar char="•"/>
            </a:pPr>
            <a:r>
              <a:rPr lang="en-US" sz="2000" dirty="0" smtClean="0">
                <a:solidFill>
                  <a:schemeClr val="tx1"/>
                </a:solidFill>
              </a:rPr>
              <a:t>Oxidation and reduction in terms of electrons (HT)</a:t>
            </a:r>
            <a:endParaRPr lang="en-US" sz="2000" dirty="0">
              <a:solidFill>
                <a:schemeClr val="tx1"/>
              </a:solidFill>
            </a:endParaRPr>
          </a:p>
          <a:p>
            <a:pPr lvl="1" algn="l"/>
            <a:endParaRPr lang="en-US" sz="800" dirty="0">
              <a:solidFill>
                <a:schemeClr val="tx1"/>
              </a:solidFill>
            </a:endParaRPr>
          </a:p>
          <a:p>
            <a:pPr algn="l"/>
            <a:r>
              <a:rPr lang="en-US" sz="2000" b="1" dirty="0">
                <a:solidFill>
                  <a:schemeClr val="tx1"/>
                </a:solidFill>
                <a:latin typeface="+mn-lt"/>
              </a:rPr>
              <a:t>Reactions of acids</a:t>
            </a:r>
          </a:p>
          <a:p>
            <a:pPr marL="685800" lvl="1" indent="-342900" algn="l">
              <a:buFont typeface="Arial" charset="0"/>
              <a:buChar char="•"/>
            </a:pPr>
            <a:r>
              <a:rPr lang="en-US" sz="2000" dirty="0">
                <a:solidFill>
                  <a:schemeClr val="tx1"/>
                </a:solidFill>
              </a:rPr>
              <a:t>Metals and acids</a:t>
            </a:r>
          </a:p>
          <a:p>
            <a:pPr marL="685800" lvl="1" indent="-342900" algn="l">
              <a:buFont typeface="Arial" charset="0"/>
              <a:buChar char="•"/>
            </a:pPr>
            <a:r>
              <a:rPr lang="en-US" sz="2000" dirty="0">
                <a:solidFill>
                  <a:schemeClr val="tx1"/>
                </a:solidFill>
              </a:rPr>
              <a:t>Strong and weak acids (HT)</a:t>
            </a:r>
          </a:p>
          <a:p>
            <a:pPr marL="685800" lvl="1" indent="-342900" algn="l">
              <a:buFont typeface="Arial" charset="0"/>
              <a:buChar char="•"/>
            </a:pPr>
            <a:r>
              <a:rPr lang="en-US" sz="2000" dirty="0">
                <a:solidFill>
                  <a:schemeClr val="tx1"/>
                </a:solidFill>
              </a:rPr>
              <a:t>pH scale and </a:t>
            </a:r>
            <a:r>
              <a:rPr lang="en-US" sz="2000" dirty="0" err="1">
                <a:solidFill>
                  <a:schemeClr val="tx1"/>
                </a:solidFill>
              </a:rPr>
              <a:t>Neutralisation</a:t>
            </a:r>
            <a:endParaRPr lang="en-US" sz="2000" dirty="0">
              <a:solidFill>
                <a:schemeClr val="tx1"/>
              </a:solidFill>
            </a:endParaRPr>
          </a:p>
          <a:p>
            <a:pPr marL="685800" lvl="1" indent="-342900" algn="l">
              <a:buFont typeface="Arial" charset="0"/>
              <a:buChar char="•"/>
            </a:pPr>
            <a:r>
              <a:rPr lang="en-US" sz="2000" dirty="0">
                <a:solidFill>
                  <a:schemeClr val="tx1"/>
                </a:solidFill>
              </a:rPr>
              <a:t>Salts</a:t>
            </a:r>
          </a:p>
          <a:p>
            <a:pPr marL="685800" lvl="1" indent="-342900" algn="l">
              <a:buFont typeface="Arial" charset="0"/>
              <a:buChar char="•"/>
            </a:pPr>
            <a:r>
              <a:rPr lang="en-US" sz="2000" i="1" dirty="0">
                <a:solidFill>
                  <a:schemeClr val="tx1"/>
                </a:solidFill>
              </a:rPr>
              <a:t>Titration (chemistry only)</a:t>
            </a:r>
          </a:p>
          <a:p>
            <a:pPr marL="685800" lvl="1" indent="-342900" algn="l">
              <a:buFont typeface="Arial" charset="0"/>
              <a:buChar char="•"/>
            </a:pPr>
            <a:endParaRPr lang="en-US" sz="800" dirty="0">
              <a:solidFill>
                <a:schemeClr val="tx1"/>
              </a:solidFill>
            </a:endParaRPr>
          </a:p>
          <a:p>
            <a:pPr algn="l"/>
            <a:r>
              <a:rPr lang="en-US" sz="2000" b="1" dirty="0">
                <a:solidFill>
                  <a:schemeClr val="tx1"/>
                </a:solidFill>
                <a:latin typeface="+mn-lt"/>
              </a:rPr>
              <a:t>Electrolysis</a:t>
            </a:r>
          </a:p>
          <a:p>
            <a:pPr marL="685800" lvl="1" indent="-342900" algn="l">
              <a:buFont typeface="Arial" charset="0"/>
              <a:buChar char="•"/>
            </a:pPr>
            <a:r>
              <a:rPr lang="en-US" sz="2000" dirty="0">
                <a:solidFill>
                  <a:schemeClr val="tx1"/>
                </a:solidFill>
              </a:rPr>
              <a:t>Electrolysis of molten ionic compounds</a:t>
            </a:r>
          </a:p>
          <a:p>
            <a:pPr marL="685800" lvl="1" indent="-342900" algn="l">
              <a:buFont typeface="Arial" charset="0"/>
              <a:buChar char="•"/>
            </a:pPr>
            <a:r>
              <a:rPr lang="en-US" sz="2000" dirty="0">
                <a:solidFill>
                  <a:schemeClr val="tx1"/>
                </a:solidFill>
              </a:rPr>
              <a:t>Electrolysis of an aqueous solution</a:t>
            </a:r>
          </a:p>
          <a:p>
            <a:pPr marL="685800" lvl="1" indent="-342900" algn="l">
              <a:buFont typeface="Arial" charset="0"/>
              <a:buChar char="•"/>
            </a:pPr>
            <a:r>
              <a:rPr lang="en-US" sz="2000" dirty="0">
                <a:solidFill>
                  <a:schemeClr val="tx1"/>
                </a:solidFill>
              </a:rPr>
              <a:t>Using electrolysis to extract metals</a:t>
            </a:r>
          </a:p>
          <a:p>
            <a:pPr marL="685800" lvl="1" indent="-342900" algn="l">
              <a:buFont typeface="Arial" charset="0"/>
              <a:buChar char="•"/>
            </a:pPr>
            <a:r>
              <a:rPr lang="en-US" sz="2000" dirty="0">
                <a:solidFill>
                  <a:schemeClr val="tx1"/>
                </a:solidFill>
              </a:rPr>
              <a:t>Representation at electrodes as half equations (HT)</a:t>
            </a:r>
          </a:p>
          <a:p>
            <a:pPr marL="685800" lvl="1" indent="-342900" algn="l">
              <a:buFont typeface="Arial" charset="0"/>
              <a:buChar char="•"/>
            </a:pPr>
            <a:endParaRPr lang="en-US" sz="800" dirty="0">
              <a:solidFill>
                <a:schemeClr val="tx1"/>
              </a:solidFill>
            </a:endParaRPr>
          </a:p>
          <a:p>
            <a:pPr algn="l"/>
            <a:endParaRPr lang="en-GB" dirty="0">
              <a:solidFill>
                <a:schemeClr val="tx1"/>
              </a:solidFill>
            </a:endParaRPr>
          </a:p>
        </p:txBody>
      </p:sp>
      <p:pic>
        <p:nvPicPr>
          <p:cNvPr id="1026"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322939"/>
            <a:ext cx="3473090" cy="4932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44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5121" y="813629"/>
            <a:ext cx="4572000" cy="6063198"/>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smtClean="0">
                <a:solidFill>
                  <a:schemeClr val="tx1">
                    <a:lumMod val="50000"/>
                    <a:lumOff val="50000"/>
                  </a:schemeClr>
                </a:solidFill>
              </a:rPr>
              <a:t>Reactivity of </a:t>
            </a:r>
            <a:r>
              <a:rPr lang="en-GB" sz="3600" b="1" dirty="0">
                <a:solidFill>
                  <a:schemeClr val="tx1">
                    <a:lumMod val="50000"/>
                    <a:lumOff val="50000"/>
                  </a:schemeClr>
                </a:solidFill>
              </a:rPr>
              <a:t>metals</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Metals oxides</a:t>
            </a:r>
          </a:p>
          <a:p>
            <a:pPr marL="685800" lvl="1" indent="-342900">
              <a:buFont typeface="Arial" charset="0"/>
              <a:buChar char="•"/>
            </a:pPr>
            <a:r>
              <a:rPr lang="en-US" sz="2400" b="1" dirty="0" smtClean="0">
                <a:solidFill>
                  <a:schemeClr val="bg1">
                    <a:lumMod val="50000"/>
                  </a:schemeClr>
                </a:solidFill>
              </a:rPr>
              <a:t>The </a:t>
            </a:r>
            <a:r>
              <a:rPr lang="en-US" sz="2400" b="1" dirty="0">
                <a:solidFill>
                  <a:schemeClr val="bg1">
                    <a:lumMod val="50000"/>
                  </a:schemeClr>
                </a:solidFill>
              </a:rPr>
              <a:t>reactivity series</a:t>
            </a:r>
          </a:p>
          <a:p>
            <a:pPr marL="685800" lvl="1" indent="-342900">
              <a:buFont typeface="Arial" charset="0"/>
              <a:buChar char="•"/>
            </a:pPr>
            <a:r>
              <a:rPr lang="en-US" sz="2400" b="1" dirty="0" smtClean="0">
                <a:solidFill>
                  <a:schemeClr val="bg1">
                    <a:lumMod val="50000"/>
                  </a:schemeClr>
                </a:solidFill>
              </a:rPr>
              <a:t>Extracting </a:t>
            </a:r>
            <a:r>
              <a:rPr lang="en-US" sz="2400" b="1" dirty="0">
                <a:solidFill>
                  <a:schemeClr val="bg1">
                    <a:lumMod val="50000"/>
                  </a:schemeClr>
                </a:solidFill>
              </a:rPr>
              <a:t>metals by </a:t>
            </a:r>
          </a:p>
          <a:p>
            <a:pPr marL="342900" lvl="1"/>
            <a:r>
              <a:rPr lang="en-US" sz="2400" b="1" dirty="0">
                <a:solidFill>
                  <a:schemeClr val="bg1">
                    <a:lumMod val="50000"/>
                  </a:schemeClr>
                </a:solidFill>
              </a:rPr>
              <a:t>     </a:t>
            </a:r>
            <a:r>
              <a:rPr lang="en-US" sz="2400" b="1" dirty="0" smtClean="0">
                <a:solidFill>
                  <a:schemeClr val="bg1">
                    <a:lumMod val="50000"/>
                  </a:schemeClr>
                </a:solidFill>
              </a:rPr>
              <a:t>reduction</a:t>
            </a:r>
          </a:p>
          <a:p>
            <a:pPr marL="685800" lvl="1" indent="-342900">
              <a:buFont typeface="Arial" panose="020B0604020202020204" pitchFamily="34" charset="0"/>
              <a:buChar char="•"/>
            </a:pPr>
            <a:r>
              <a:rPr lang="en-US" sz="2400" b="1" dirty="0" smtClean="0">
                <a:solidFill>
                  <a:schemeClr val="bg1">
                    <a:lumMod val="50000"/>
                  </a:schemeClr>
                </a:solidFill>
              </a:rPr>
              <a:t>Oxidation and reduction in terms of electrons (HT)</a:t>
            </a:r>
            <a:endParaRPr lang="en-US" sz="2400" b="1" dirty="0">
              <a:solidFill>
                <a:schemeClr val="bg1">
                  <a:lumMod val="50000"/>
                </a:schemeClr>
              </a:solidFill>
            </a:endParaRPr>
          </a:p>
          <a:p>
            <a:endParaRPr lang="en-GB" dirty="0"/>
          </a:p>
        </p:txBody>
      </p:sp>
    </p:spTree>
    <p:extLst>
      <p:ext uri="{BB962C8B-B14F-4D97-AF65-F5344CB8AC3E}">
        <p14:creationId xmlns:p14="http://schemas.microsoft.com/office/powerpoint/2010/main" val="985351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0"/>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smtClean="0">
                <a:solidFill>
                  <a:schemeClr val="accent6"/>
                </a:solidFill>
              </a:rPr>
              <a:t>Metal Oxides</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0" y="703689"/>
            <a:ext cx="9144000" cy="6093976"/>
          </a:xfrm>
          <a:prstGeom prst="rect">
            <a:avLst/>
          </a:prstGeom>
          <a:noFill/>
        </p:spPr>
        <p:txBody>
          <a:bodyPr wrap="square" rtlCol="0">
            <a:spAutoFit/>
          </a:bodyPr>
          <a:lstStyle/>
          <a:p>
            <a:r>
              <a:rPr lang="en-GB" sz="2000" dirty="0">
                <a:cs typeface="Arial" pitchFamily="34" charset="0"/>
              </a:rPr>
              <a:t>A </a:t>
            </a:r>
            <a:r>
              <a:rPr lang="en-GB" sz="2000" b="1" dirty="0">
                <a:cs typeface="Arial" pitchFamily="34" charset="0"/>
              </a:rPr>
              <a:t>metal</a:t>
            </a:r>
            <a:r>
              <a:rPr lang="en-GB" sz="2000" dirty="0">
                <a:cs typeface="Arial" pitchFamily="34" charset="0"/>
              </a:rPr>
              <a:t> </a:t>
            </a:r>
            <a:r>
              <a:rPr lang="en-GB" sz="2000" b="1" dirty="0">
                <a:cs typeface="Arial" pitchFamily="34" charset="0"/>
              </a:rPr>
              <a:t>compound</a:t>
            </a:r>
            <a:r>
              <a:rPr lang="en-GB" sz="2000" dirty="0">
                <a:cs typeface="Arial" pitchFamily="34" charset="0"/>
              </a:rPr>
              <a:t> within a </a:t>
            </a:r>
            <a:r>
              <a:rPr lang="en-GB" sz="2000" b="1" dirty="0">
                <a:cs typeface="Arial" pitchFamily="34" charset="0"/>
              </a:rPr>
              <a:t>rock</a:t>
            </a:r>
            <a:r>
              <a:rPr lang="en-GB" sz="2000" dirty="0">
                <a:cs typeface="Arial" pitchFamily="34" charset="0"/>
              </a:rPr>
              <a:t> is an </a:t>
            </a:r>
            <a:r>
              <a:rPr lang="en-GB" sz="2000" b="1" dirty="0">
                <a:cs typeface="Arial" pitchFamily="34" charset="0"/>
              </a:rPr>
              <a:t>ore.  </a:t>
            </a:r>
            <a:r>
              <a:rPr lang="en-GB" sz="2000" dirty="0">
                <a:cs typeface="Arial" pitchFamily="34" charset="0"/>
              </a:rPr>
              <a:t>Ores are </a:t>
            </a:r>
            <a:r>
              <a:rPr lang="en-GB" sz="2000" b="1" dirty="0">
                <a:cs typeface="Arial" pitchFamily="34" charset="0"/>
              </a:rPr>
              <a:t>mined</a:t>
            </a:r>
            <a:r>
              <a:rPr lang="en-GB" sz="2000" dirty="0">
                <a:cs typeface="Arial" pitchFamily="34" charset="0"/>
              </a:rPr>
              <a:t> and then </a:t>
            </a:r>
            <a:r>
              <a:rPr lang="en-GB" sz="2000" b="1" dirty="0">
                <a:cs typeface="Arial" pitchFamily="34" charset="0"/>
              </a:rPr>
              <a:t>purified</a:t>
            </a:r>
            <a:r>
              <a:rPr lang="en-GB" sz="2000" dirty="0">
                <a:cs typeface="Arial" pitchFamily="34" charset="0"/>
              </a:rPr>
              <a:t>.</a:t>
            </a:r>
          </a:p>
          <a:p>
            <a:endParaRPr lang="en-GB" sz="2000" dirty="0">
              <a:cs typeface="Arial" pitchFamily="34" charset="0"/>
            </a:endParaRPr>
          </a:p>
          <a:p>
            <a:r>
              <a:rPr lang="en-GB" sz="2000" dirty="0">
                <a:cs typeface="Arial" pitchFamily="34" charset="0"/>
              </a:rPr>
              <a:t>Whether it is worth extracting a particular metal depends on:</a:t>
            </a:r>
          </a:p>
          <a:p>
            <a:pPr marL="285750" indent="-285750">
              <a:buFont typeface="Arial" panose="020B0604020202020204" pitchFamily="34" charset="0"/>
              <a:buChar char="•"/>
            </a:pPr>
            <a:r>
              <a:rPr lang="en-GB" sz="2000" b="1" dirty="0">
                <a:solidFill>
                  <a:schemeClr val="accent6">
                    <a:lumMod val="75000"/>
                  </a:schemeClr>
                </a:solidFill>
                <a:cs typeface="Arial" pitchFamily="34" charset="0"/>
              </a:rPr>
              <a:t>How easy it is to extract it from its ore</a:t>
            </a:r>
          </a:p>
          <a:p>
            <a:pPr marL="285750" indent="-285750">
              <a:buFont typeface="Arial" panose="020B0604020202020204" pitchFamily="34" charset="0"/>
              <a:buChar char="•"/>
            </a:pPr>
            <a:r>
              <a:rPr lang="en-GB" sz="2000" b="1" dirty="0">
                <a:solidFill>
                  <a:schemeClr val="accent6">
                    <a:lumMod val="75000"/>
                  </a:schemeClr>
                </a:solidFill>
                <a:cs typeface="Arial" pitchFamily="34" charset="0"/>
              </a:rPr>
              <a:t>How much metal the ore contains</a:t>
            </a:r>
          </a:p>
          <a:p>
            <a:pPr marL="285750" indent="-285750">
              <a:buFont typeface="Arial" panose="020B0604020202020204" pitchFamily="34" charset="0"/>
              <a:buChar char="•"/>
            </a:pPr>
            <a:r>
              <a:rPr lang="en-GB" sz="2000" b="1" dirty="0">
                <a:solidFill>
                  <a:schemeClr val="accent6">
                    <a:lumMod val="75000"/>
                  </a:schemeClr>
                </a:solidFill>
                <a:cs typeface="Arial" pitchFamily="34" charset="0"/>
              </a:rPr>
              <a:t>The changing demands for a particular metal</a:t>
            </a:r>
          </a:p>
          <a:p>
            <a:pPr marL="285750" indent="-285750">
              <a:buFont typeface="Arial" panose="020B0604020202020204" pitchFamily="34" charset="0"/>
              <a:buChar char="•"/>
            </a:pPr>
            <a:endParaRPr lang="en-GB" sz="1050" b="1" dirty="0">
              <a:cs typeface="Arial" pitchFamily="34" charset="0"/>
            </a:endParaRPr>
          </a:p>
          <a:p>
            <a:r>
              <a:rPr lang="en-GB" sz="2000" dirty="0">
                <a:cs typeface="Arial" pitchFamily="34" charset="0"/>
              </a:rPr>
              <a:t>Most </a:t>
            </a:r>
            <a:r>
              <a:rPr lang="en-GB" sz="2000" b="1" dirty="0">
                <a:cs typeface="Arial" pitchFamily="34" charset="0"/>
              </a:rPr>
              <a:t>metals</a:t>
            </a:r>
            <a:r>
              <a:rPr lang="en-GB" sz="2000" dirty="0">
                <a:cs typeface="Arial" pitchFamily="34" charset="0"/>
              </a:rPr>
              <a:t> in ores are </a:t>
            </a:r>
            <a:r>
              <a:rPr lang="en-GB" sz="2000" b="1" dirty="0">
                <a:cs typeface="Arial" pitchFamily="34" charset="0"/>
              </a:rPr>
              <a:t>chemically bonded </a:t>
            </a:r>
            <a:r>
              <a:rPr lang="en-GB" sz="2000" dirty="0">
                <a:cs typeface="Arial" pitchFamily="34" charset="0"/>
              </a:rPr>
              <a:t>to </a:t>
            </a:r>
            <a:r>
              <a:rPr lang="en-GB" sz="2000" b="1" dirty="0">
                <a:cs typeface="Arial" pitchFamily="34" charset="0"/>
              </a:rPr>
              <a:t>other elements </a:t>
            </a:r>
            <a:r>
              <a:rPr lang="en-GB" sz="2000" dirty="0">
                <a:cs typeface="Arial" pitchFamily="34" charset="0"/>
              </a:rPr>
              <a:t>in compounds.  Many of these metals have been </a:t>
            </a:r>
            <a:r>
              <a:rPr lang="en-GB" sz="2000" b="1" dirty="0">
                <a:solidFill>
                  <a:schemeClr val="accent6">
                    <a:lumMod val="75000"/>
                  </a:schemeClr>
                </a:solidFill>
                <a:cs typeface="Arial" pitchFamily="34" charset="0"/>
              </a:rPr>
              <a:t>oxidised</a:t>
            </a:r>
            <a:r>
              <a:rPr lang="en-GB" sz="2000" dirty="0">
                <a:cs typeface="Arial" pitchFamily="34" charset="0"/>
              </a:rPr>
              <a:t> (</a:t>
            </a:r>
            <a:r>
              <a:rPr lang="en-GB" sz="2000" dirty="0">
                <a:solidFill>
                  <a:schemeClr val="accent6">
                    <a:lumMod val="75000"/>
                  </a:schemeClr>
                </a:solidFill>
                <a:cs typeface="Arial" pitchFamily="34" charset="0"/>
              </a:rPr>
              <a:t>have oxygen added</a:t>
            </a:r>
            <a:r>
              <a:rPr lang="en-GB" sz="2000" dirty="0">
                <a:cs typeface="Arial" pitchFamily="34" charset="0"/>
              </a:rPr>
              <a:t>) by oxygen in the air to form their oxides</a:t>
            </a:r>
            <a:r>
              <a:rPr lang="en-GB" sz="2000" dirty="0" smtClean="0">
                <a:cs typeface="Arial" pitchFamily="34" charset="0"/>
              </a:rPr>
              <a:t>.</a:t>
            </a:r>
            <a:endParaRPr lang="en-GB" sz="2000" dirty="0">
              <a:cs typeface="Arial" pitchFamily="34" charset="0"/>
            </a:endParaRPr>
          </a:p>
          <a:p>
            <a:r>
              <a:rPr lang="en-GB" sz="2000" dirty="0">
                <a:cs typeface="Arial" pitchFamily="34" charset="0"/>
              </a:rPr>
              <a:t>		        Iron      +       oxygen       </a:t>
            </a:r>
            <a:r>
              <a:rPr lang="en-GB" sz="2000" dirty="0">
                <a:cs typeface="Arial" pitchFamily="34" charset="0"/>
                <a:sym typeface="Wingdings" panose="05000000000000000000" pitchFamily="2" charset="2"/>
              </a:rPr>
              <a:t>      iron (III) </a:t>
            </a:r>
            <a:r>
              <a:rPr lang="en-GB" sz="2000" dirty="0" smtClean="0">
                <a:cs typeface="Arial" pitchFamily="34" charset="0"/>
                <a:sym typeface="Wingdings" panose="05000000000000000000" pitchFamily="2" charset="2"/>
              </a:rPr>
              <a:t>oxide</a:t>
            </a:r>
          </a:p>
          <a:p>
            <a:endParaRPr lang="en-GB" sz="2000" dirty="0">
              <a:cs typeface="Arial" pitchFamily="34" charset="0"/>
              <a:sym typeface="Wingdings" panose="05000000000000000000" pitchFamily="2" charset="2"/>
            </a:endParaRPr>
          </a:p>
          <a:p>
            <a:r>
              <a:rPr lang="en-GB" sz="2000" dirty="0">
                <a:cs typeface="Arial" pitchFamily="34" charset="0"/>
                <a:sym typeface="Wingdings" panose="05000000000000000000" pitchFamily="2" charset="2"/>
              </a:rPr>
              <a:t>                                         4Fe(s)    +        3O</a:t>
            </a:r>
            <a:r>
              <a:rPr lang="en-GB" sz="2000" baseline="-25000" dirty="0">
                <a:cs typeface="Arial" pitchFamily="34" charset="0"/>
                <a:sym typeface="Wingdings" panose="05000000000000000000" pitchFamily="2" charset="2"/>
              </a:rPr>
              <a:t>2</a:t>
            </a:r>
            <a:r>
              <a:rPr lang="en-GB" sz="2000" dirty="0">
                <a:cs typeface="Arial" pitchFamily="34" charset="0"/>
                <a:sym typeface="Wingdings" panose="05000000000000000000" pitchFamily="2" charset="2"/>
              </a:rPr>
              <a:t>(g)                 2Fe</a:t>
            </a:r>
            <a:r>
              <a:rPr lang="en-GB" sz="2000" baseline="-25000" dirty="0">
                <a:cs typeface="Arial" pitchFamily="34" charset="0"/>
                <a:sym typeface="Wingdings" panose="05000000000000000000" pitchFamily="2" charset="2"/>
              </a:rPr>
              <a:t>2</a:t>
            </a:r>
            <a:r>
              <a:rPr lang="en-GB" sz="2000" dirty="0">
                <a:cs typeface="Arial" pitchFamily="34" charset="0"/>
                <a:sym typeface="Wingdings" panose="05000000000000000000" pitchFamily="2" charset="2"/>
              </a:rPr>
              <a:t>O</a:t>
            </a:r>
            <a:r>
              <a:rPr lang="en-GB" sz="2000" baseline="-25000" dirty="0">
                <a:cs typeface="Arial" pitchFamily="34" charset="0"/>
                <a:sym typeface="Wingdings" panose="05000000000000000000" pitchFamily="2" charset="2"/>
              </a:rPr>
              <a:t>3</a:t>
            </a:r>
            <a:r>
              <a:rPr lang="en-GB" sz="2000" dirty="0">
                <a:cs typeface="Arial" pitchFamily="34" charset="0"/>
                <a:sym typeface="Wingdings" panose="05000000000000000000" pitchFamily="2" charset="2"/>
              </a:rPr>
              <a:t>(s)</a:t>
            </a:r>
          </a:p>
          <a:p>
            <a:endParaRPr lang="en-GB" dirty="0">
              <a:cs typeface="Arial" pitchFamily="34" charset="0"/>
              <a:sym typeface="Wingdings" panose="05000000000000000000" pitchFamily="2" charset="2"/>
            </a:endParaRPr>
          </a:p>
          <a:p>
            <a:endParaRPr lang="en-GB" dirty="0">
              <a:cs typeface="Arial" pitchFamily="34" charset="0"/>
              <a:sym typeface="Wingdings" panose="05000000000000000000" pitchFamily="2" charset="2"/>
            </a:endParaRPr>
          </a:p>
          <a:p>
            <a:endParaRPr lang="en-GB" dirty="0">
              <a:cs typeface="Arial" pitchFamily="34" charset="0"/>
              <a:sym typeface="Wingdings" panose="05000000000000000000" pitchFamily="2" charset="2"/>
            </a:endParaRPr>
          </a:p>
          <a:p>
            <a:endParaRPr lang="en-GB" dirty="0">
              <a:cs typeface="Arial" pitchFamily="34" charset="0"/>
              <a:sym typeface="Wingdings" panose="05000000000000000000" pitchFamily="2" charset="2"/>
            </a:endParaRPr>
          </a:p>
          <a:p>
            <a:endParaRPr lang="en-GB" dirty="0">
              <a:cs typeface="Arial" pitchFamily="34" charset="0"/>
              <a:sym typeface="Wingdings" panose="05000000000000000000" pitchFamily="2" charset="2"/>
            </a:endParaRPr>
          </a:p>
          <a:p>
            <a:r>
              <a:rPr lang="en-GB" sz="2000" dirty="0">
                <a:cs typeface="Arial" pitchFamily="34" charset="0"/>
                <a:sym typeface="Wingdings" panose="05000000000000000000" pitchFamily="2" charset="2"/>
              </a:rPr>
              <a:t>To extract metals from their oxides, the metal oxides must be </a:t>
            </a:r>
            <a:r>
              <a:rPr lang="en-GB" sz="2000" b="1" dirty="0">
                <a:solidFill>
                  <a:schemeClr val="accent6">
                    <a:lumMod val="75000"/>
                  </a:schemeClr>
                </a:solidFill>
                <a:cs typeface="Arial" pitchFamily="34" charset="0"/>
                <a:sym typeface="Wingdings" panose="05000000000000000000" pitchFamily="2" charset="2"/>
              </a:rPr>
              <a:t>reduced</a:t>
            </a:r>
            <a:r>
              <a:rPr lang="en-GB" sz="2000" dirty="0">
                <a:cs typeface="Arial" pitchFamily="34" charset="0"/>
                <a:sym typeface="Wingdings" panose="05000000000000000000" pitchFamily="2" charset="2"/>
              </a:rPr>
              <a:t> (have </a:t>
            </a:r>
            <a:r>
              <a:rPr lang="en-GB" sz="2000" dirty="0" smtClean="0">
                <a:cs typeface="Arial" pitchFamily="34" charset="0"/>
                <a:sym typeface="Wingdings" panose="05000000000000000000" pitchFamily="2" charset="2"/>
              </a:rPr>
              <a:t>oxygen removed).</a:t>
            </a:r>
            <a:endParaRPr lang="en-GB" sz="2000" dirty="0">
              <a:cs typeface="Arial" pitchFamily="34" charset="0"/>
            </a:endParaRPr>
          </a:p>
        </p:txBody>
      </p:sp>
      <p:pic>
        <p:nvPicPr>
          <p:cNvPr id="8194" name="Picture 2" descr="Image result for iron oxide ore">
            <a:extLst>
              <a:ext uri="{FF2B5EF4-FFF2-40B4-BE49-F238E27FC236}">
                <a16:creationId xmlns:a16="http://schemas.microsoft.com/office/drawing/2014/main" xmlns="" id="{7DBDFB56-E4AD-45A0-BB06-8964633994D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11556" y="4669132"/>
            <a:ext cx="2720888" cy="1469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2721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Reactivity series</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aphicFrame>
        <p:nvGraphicFramePr>
          <p:cNvPr id="5" name="Table 4">
            <a:extLst>
              <a:ext uri="{FF2B5EF4-FFF2-40B4-BE49-F238E27FC236}">
                <a16:creationId xmlns:a16="http://schemas.microsoft.com/office/drawing/2014/main" xmlns="" id="{57506725-0D34-4E43-9FF2-323C74B63E32}"/>
              </a:ext>
            </a:extLst>
          </p:cNvPr>
          <p:cNvGraphicFramePr>
            <a:graphicFrameLocks noGrp="1"/>
          </p:cNvGraphicFramePr>
          <p:nvPr>
            <p:extLst>
              <p:ext uri="{D42A27DB-BD31-4B8C-83A1-F6EECF244321}">
                <p14:modId xmlns:p14="http://schemas.microsoft.com/office/powerpoint/2010/main" val="1263756714"/>
              </p:ext>
            </p:extLst>
          </p:nvPr>
        </p:nvGraphicFramePr>
        <p:xfrm>
          <a:off x="261528" y="1196752"/>
          <a:ext cx="8620943" cy="5120640"/>
        </p:xfrm>
        <a:graphic>
          <a:graphicData uri="http://schemas.openxmlformats.org/drawingml/2006/table">
            <a:tbl>
              <a:tblPr firstRow="1" bandRow="1">
                <a:tableStyleId>{93296810-A885-4BE3-A3E7-6D5BEEA58F35}</a:tableStyleId>
              </a:tblPr>
              <a:tblGrid>
                <a:gridCol w="2068215">
                  <a:extLst>
                    <a:ext uri="{9D8B030D-6E8A-4147-A177-3AD203B41FA5}">
                      <a16:colId xmlns:a16="http://schemas.microsoft.com/office/drawing/2014/main" xmlns="" val="2452654556"/>
                    </a:ext>
                  </a:extLst>
                </a:gridCol>
                <a:gridCol w="3682417">
                  <a:extLst>
                    <a:ext uri="{9D8B030D-6E8A-4147-A177-3AD203B41FA5}">
                      <a16:colId xmlns:a16="http://schemas.microsoft.com/office/drawing/2014/main" xmlns="" val="325852123"/>
                    </a:ext>
                  </a:extLst>
                </a:gridCol>
                <a:gridCol w="2870311">
                  <a:extLst>
                    <a:ext uri="{9D8B030D-6E8A-4147-A177-3AD203B41FA5}">
                      <a16:colId xmlns:a16="http://schemas.microsoft.com/office/drawing/2014/main" xmlns="" val="23534663"/>
                    </a:ext>
                  </a:extLst>
                </a:gridCol>
              </a:tblGrid>
              <a:tr h="365657">
                <a:tc>
                  <a:txBody>
                    <a:bodyPr/>
                    <a:lstStyle/>
                    <a:p>
                      <a:pPr algn="ctr"/>
                      <a:r>
                        <a:rPr lang="en-GB" sz="1800" dirty="0"/>
                        <a:t>Order of reactivity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800" dirty="0"/>
                        <a:t>Reaction with water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800" dirty="0"/>
                        <a:t>Reaction with acid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54876848"/>
                  </a:ext>
                </a:extLst>
              </a:tr>
              <a:tr h="365657">
                <a:tc>
                  <a:txBody>
                    <a:bodyPr/>
                    <a:lstStyle/>
                    <a:p>
                      <a:r>
                        <a:rPr lang="en-GB" sz="1800" dirty="0"/>
                        <a:t>Potassium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28000"/>
                      </a:schemeClr>
                    </a:solidFill>
                  </a:tcPr>
                </a:tc>
                <a:tc rowSpan="4">
                  <a:txBody>
                    <a:bodyPr/>
                    <a:lstStyle/>
                    <a:p>
                      <a:r>
                        <a:rPr lang="en-GB" sz="1800" dirty="0"/>
                        <a:t>Fizz, giving off hydrogen gas and leaving an alkaline solution of metal hydroxide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28000"/>
                      </a:schemeClr>
                    </a:solidFill>
                  </a:tcPr>
                </a:tc>
                <a:tc rowSpan="3">
                  <a:txBody>
                    <a:bodyPr/>
                    <a:lstStyle/>
                    <a:p>
                      <a:r>
                        <a:rPr lang="en-GB" sz="1800" dirty="0" smtClean="0"/>
                        <a:t>Reacts violently</a:t>
                      </a:r>
                      <a:r>
                        <a:rPr lang="en-GB" sz="1800" baseline="0" dirty="0" smtClean="0"/>
                        <a:t> and e</a:t>
                      </a:r>
                      <a:r>
                        <a:rPr lang="en-GB" sz="1800" dirty="0" smtClean="0"/>
                        <a:t>xplodes </a:t>
                      </a:r>
                      <a:endParaRPr lang="en-GB"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28000"/>
                      </a:schemeClr>
                    </a:solidFill>
                  </a:tcPr>
                </a:tc>
                <a:extLst>
                  <a:ext uri="{0D108BD9-81ED-4DB2-BD59-A6C34878D82A}">
                    <a16:rowId xmlns:a16="http://schemas.microsoft.com/office/drawing/2014/main" xmlns="" val="1020168818"/>
                  </a:ext>
                </a:extLst>
              </a:tr>
              <a:tr h="365657">
                <a:tc>
                  <a:txBody>
                    <a:bodyPr/>
                    <a:lstStyle/>
                    <a:p>
                      <a:r>
                        <a:rPr lang="en-GB" sz="1800" dirty="0"/>
                        <a:t>Sodium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28000"/>
                      </a:schemeClr>
                    </a:soli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xmlns="" val="3540167940"/>
                  </a:ext>
                </a:extLst>
              </a:tr>
              <a:tr h="365657">
                <a:tc>
                  <a:txBody>
                    <a:bodyPr/>
                    <a:lstStyle/>
                    <a:p>
                      <a:r>
                        <a:rPr lang="en-GB" sz="1800" dirty="0"/>
                        <a:t>Lithium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28000"/>
                      </a:schemeClr>
                    </a:soli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xmlns="" val="1515778163"/>
                  </a:ext>
                </a:extLst>
              </a:tr>
              <a:tr h="365657">
                <a:tc>
                  <a:txBody>
                    <a:bodyPr/>
                    <a:lstStyle/>
                    <a:p>
                      <a:r>
                        <a:rPr lang="en-GB" sz="1800" dirty="0"/>
                        <a:t>Calcium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alpha val="28000"/>
                      </a:schemeClr>
                    </a:solidFill>
                  </a:tcPr>
                </a:tc>
                <a:tc vMerge="1">
                  <a:txBody>
                    <a:bodyPr/>
                    <a:lstStyle/>
                    <a:p>
                      <a:endParaRPr lang="en-GB" sz="1800" dirty="0"/>
                    </a:p>
                  </a:txBody>
                  <a:tcPr/>
                </a:tc>
                <a:tc rowSpan="5">
                  <a:txBody>
                    <a:bodyPr/>
                    <a:lstStyle/>
                    <a:p>
                      <a:r>
                        <a:rPr lang="en-GB" sz="1800" dirty="0"/>
                        <a:t>Fizz, giving off hydrogen gas and forming a salt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3743615069"/>
                  </a:ext>
                </a:extLst>
              </a:tr>
              <a:tr h="365657">
                <a:tc>
                  <a:txBody>
                    <a:bodyPr/>
                    <a:lstStyle/>
                    <a:p>
                      <a:r>
                        <a:rPr lang="en-GB" sz="1800" dirty="0"/>
                        <a:t>Magnesium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rowSpan="4">
                  <a:txBody>
                    <a:bodyPr/>
                    <a:lstStyle/>
                    <a:p>
                      <a:r>
                        <a:rPr lang="en-GB" sz="1800" dirty="0"/>
                        <a:t>Very slow reaction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endParaRPr lang="en-GB" sz="1800" dirty="0"/>
                    </a:p>
                  </a:txBody>
                  <a:tcPr/>
                </a:tc>
                <a:extLst>
                  <a:ext uri="{0D108BD9-81ED-4DB2-BD59-A6C34878D82A}">
                    <a16:rowId xmlns:a16="http://schemas.microsoft.com/office/drawing/2014/main" xmlns="" val="1613724636"/>
                  </a:ext>
                </a:extLst>
              </a:tr>
              <a:tr h="365657">
                <a:tc>
                  <a:txBody>
                    <a:bodyPr/>
                    <a:lstStyle/>
                    <a:p>
                      <a:r>
                        <a:rPr lang="en-GB" sz="1800" dirty="0"/>
                        <a:t>Aluminium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xmlns="" val="2778824715"/>
                  </a:ext>
                </a:extLst>
              </a:tr>
              <a:tr h="365657">
                <a:tc>
                  <a:txBody>
                    <a:bodyPr/>
                    <a:lstStyle/>
                    <a:p>
                      <a:r>
                        <a:rPr lang="en-GB" sz="1800" dirty="0"/>
                        <a:t>Zinc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xmlns="" val="873883115"/>
                  </a:ext>
                </a:extLst>
              </a:tr>
              <a:tr h="365657">
                <a:tc>
                  <a:txBody>
                    <a:bodyPr/>
                    <a:lstStyle/>
                    <a:p>
                      <a:r>
                        <a:rPr lang="en-GB" sz="1800" dirty="0"/>
                        <a:t>Iron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xmlns="" val="792524148"/>
                  </a:ext>
                </a:extLst>
              </a:tr>
              <a:tr h="365657">
                <a:tc>
                  <a:txBody>
                    <a:bodyPr/>
                    <a:lstStyle/>
                    <a:p>
                      <a:r>
                        <a:rPr lang="en-GB" sz="1800" dirty="0"/>
                        <a:t>Tin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rowSpan="2">
                  <a:txBody>
                    <a:bodyPr/>
                    <a:lstStyle/>
                    <a:p>
                      <a:r>
                        <a:rPr lang="en-GB" sz="1800" dirty="0"/>
                        <a:t>No reaction with water at room temperature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rowSpan="2">
                  <a:txBody>
                    <a:bodyPr/>
                    <a:lstStyle/>
                    <a:p>
                      <a:r>
                        <a:rPr lang="en-GB" sz="1800" dirty="0"/>
                        <a:t>React slowly with warm acid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584753956"/>
                  </a:ext>
                </a:extLst>
              </a:tr>
              <a:tr h="365657">
                <a:tc>
                  <a:txBody>
                    <a:bodyPr/>
                    <a:lstStyle/>
                    <a:p>
                      <a:r>
                        <a:rPr lang="en-GB" sz="1800" dirty="0"/>
                        <a:t>Lead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xmlns="" val="2949926652"/>
                  </a:ext>
                </a:extLst>
              </a:tr>
              <a:tr h="365657">
                <a:tc>
                  <a:txBody>
                    <a:bodyPr/>
                    <a:lstStyle/>
                    <a:p>
                      <a:r>
                        <a:rPr lang="en-GB" sz="1800" dirty="0"/>
                        <a:t>Copper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lin ang="16200000" scaled="1"/>
                      <a:tileRect/>
                    </a:gradFill>
                  </a:tcPr>
                </a:tc>
                <a:tc rowSpan="3">
                  <a:txBody>
                    <a:bodyPr/>
                    <a:lstStyle/>
                    <a:p>
                      <a:r>
                        <a:rPr lang="en-GB" sz="1800" dirty="0"/>
                        <a:t>No reaction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lin ang="16200000" scaled="1"/>
                      <a:tileRect/>
                    </a:gradFill>
                  </a:tcPr>
                </a:tc>
                <a:tc rowSpan="3">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endParaRPr lang="en-GB" sz="1800" dirty="0" smtClean="0"/>
                    </a:p>
                    <a:p>
                      <a:pPr marL="0" marR="0" lvl="0" indent="0" algn="l" defTabSz="342900" rtl="0" eaLnBrk="1" fontAlgn="auto" latinLnBrk="0" hangingPunct="1">
                        <a:lnSpc>
                          <a:spcPct val="100000"/>
                        </a:lnSpc>
                        <a:spcBef>
                          <a:spcPts val="0"/>
                        </a:spcBef>
                        <a:spcAft>
                          <a:spcPts val="0"/>
                        </a:spcAft>
                        <a:buClrTx/>
                        <a:buSzTx/>
                        <a:buFontTx/>
                        <a:buNone/>
                        <a:tabLst/>
                        <a:defRPr/>
                      </a:pPr>
                      <a:r>
                        <a:rPr lang="en-GB" sz="1800" dirty="0" smtClean="0"/>
                        <a:t>No </a:t>
                      </a:r>
                      <a:r>
                        <a:rPr lang="en-GB" sz="1800" dirty="0"/>
                        <a:t>reaction</a:t>
                      </a:r>
                    </a:p>
                    <a:p>
                      <a:endParaRPr lang="en-GB"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lin ang="16200000" scaled="1"/>
                      <a:tileRect/>
                    </a:gradFill>
                  </a:tcPr>
                </a:tc>
                <a:extLst>
                  <a:ext uri="{0D108BD9-81ED-4DB2-BD59-A6C34878D82A}">
                    <a16:rowId xmlns:a16="http://schemas.microsoft.com/office/drawing/2014/main" xmlns="" val="1731969016"/>
                  </a:ext>
                </a:extLst>
              </a:tr>
              <a:tr h="365657">
                <a:tc>
                  <a:txBody>
                    <a:bodyPr/>
                    <a:lstStyle/>
                    <a:p>
                      <a:r>
                        <a:rPr lang="en-GB" sz="1800" dirty="0"/>
                        <a:t>Silver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lin ang="16200000" scaled="1"/>
                      <a:tileRect/>
                    </a:gra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xmlns="" val="2790187305"/>
                  </a:ext>
                </a:extLst>
              </a:tr>
              <a:tr h="365657">
                <a:tc>
                  <a:txBody>
                    <a:bodyPr/>
                    <a:lstStyle/>
                    <a:p>
                      <a:r>
                        <a:rPr lang="en-GB" sz="1800" dirty="0"/>
                        <a:t>Gold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lin ang="16200000" scaled="1"/>
                      <a:tileRect/>
                    </a:gradFill>
                  </a:tcPr>
                </a:tc>
                <a:tc vMerge="1">
                  <a:txBody>
                    <a:bodyPr/>
                    <a:lstStyle/>
                    <a:p>
                      <a:endParaRPr lang="en-GB" sz="1800" dirty="0"/>
                    </a:p>
                  </a:txBody>
                  <a:tcPr/>
                </a:tc>
                <a:tc vMerge="1">
                  <a:txBody>
                    <a:bodyPr/>
                    <a:lstStyle/>
                    <a:p>
                      <a:endParaRPr lang="en-GB" sz="1800" dirty="0"/>
                    </a:p>
                  </a:txBody>
                  <a:tcPr/>
                </a:tc>
                <a:extLst>
                  <a:ext uri="{0D108BD9-81ED-4DB2-BD59-A6C34878D82A}">
                    <a16:rowId xmlns:a16="http://schemas.microsoft.com/office/drawing/2014/main" xmlns="" val="3935207469"/>
                  </a:ext>
                </a:extLst>
              </a:tr>
            </a:tbl>
          </a:graphicData>
        </a:graphic>
      </p:graphicFrame>
      <p:sp>
        <p:nvSpPr>
          <p:cNvPr id="6" name="TextBox 5">
            <a:extLst>
              <a:ext uri="{FF2B5EF4-FFF2-40B4-BE49-F238E27FC236}">
                <a16:creationId xmlns:a16="http://schemas.microsoft.com/office/drawing/2014/main" xmlns="" id="{069D24D6-BF3E-48D1-A1E3-FB8C618604DE}"/>
              </a:ext>
            </a:extLst>
          </p:cNvPr>
          <p:cNvSpPr txBox="1"/>
          <p:nvPr/>
        </p:nvSpPr>
        <p:spPr>
          <a:xfrm>
            <a:off x="403920" y="692696"/>
            <a:ext cx="8640960" cy="461665"/>
          </a:xfrm>
          <a:prstGeom prst="rect">
            <a:avLst/>
          </a:prstGeom>
          <a:noFill/>
        </p:spPr>
        <p:txBody>
          <a:bodyPr wrap="square" rtlCol="0">
            <a:spAutoFit/>
          </a:bodyPr>
          <a:lstStyle/>
          <a:p>
            <a:r>
              <a:rPr lang="en-GB" sz="2400" dirty="0" smtClean="0">
                <a:cs typeface="Arial" pitchFamily="34" charset="0"/>
              </a:rPr>
              <a:t>Metals </a:t>
            </a:r>
            <a:r>
              <a:rPr lang="en-GB" sz="2400" dirty="0">
                <a:cs typeface="Arial" pitchFamily="34" charset="0"/>
              </a:rPr>
              <a:t>can be arranged in order of reactivity in a</a:t>
            </a:r>
            <a:r>
              <a:rPr lang="en-GB" sz="2400" b="1" dirty="0">
                <a:cs typeface="Arial" pitchFamily="34" charset="0"/>
              </a:rPr>
              <a:t> reactivity series</a:t>
            </a:r>
            <a:r>
              <a:rPr lang="en-GB" sz="2400" dirty="0">
                <a:cs typeface="Arial" pitchFamily="34" charset="0"/>
              </a:rPr>
              <a:t>.  </a:t>
            </a:r>
            <a:endParaRPr lang="en-GB" b="1" dirty="0">
              <a:cs typeface="Arial" pitchFamily="34" charset="0"/>
            </a:endParaRPr>
          </a:p>
        </p:txBody>
      </p:sp>
    </p:spTree>
    <p:extLst>
      <p:ext uri="{BB962C8B-B14F-4D97-AF65-F5344CB8AC3E}">
        <p14:creationId xmlns:p14="http://schemas.microsoft.com/office/powerpoint/2010/main" val="4264791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Reactivity series</a:t>
            </a:r>
            <a:endParaRPr lang="en-GB" sz="2400" b="1" dirty="0">
              <a:solidFill>
                <a:schemeClr val="accent6"/>
              </a:solidFill>
            </a:endParaRPr>
          </a:p>
        </p:txBody>
      </p:sp>
      <p:grpSp>
        <p:nvGrpSpPr>
          <p:cNvPr id="15" name="Group 14"/>
          <p:cNvGrpSpPr/>
          <p:nvPr/>
        </p:nvGrpSpPr>
        <p:grpSpPr>
          <a:xfrm>
            <a:off x="185318" y="1807543"/>
            <a:ext cx="8779170" cy="4376604"/>
            <a:chOff x="279253" y="2602225"/>
            <a:chExt cx="7510764" cy="4376604"/>
          </a:xfrm>
        </p:grpSpPr>
        <p:sp>
          <p:nvSpPr>
            <p:cNvPr id="9" name="Rectangle 8">
              <a:extLst>
                <a:ext uri="{FF2B5EF4-FFF2-40B4-BE49-F238E27FC236}">
                  <a16:creationId xmlns:a16="http://schemas.microsoft.com/office/drawing/2014/main" xmlns="" id="{49F9F6C2-A072-412E-AF72-DE8E5082D10B}"/>
                </a:ext>
              </a:extLst>
            </p:cNvPr>
            <p:cNvSpPr/>
            <p:nvPr/>
          </p:nvSpPr>
          <p:spPr>
            <a:xfrm>
              <a:off x="279253" y="2673378"/>
              <a:ext cx="5293006" cy="4216539"/>
            </a:xfrm>
            <a:prstGeom prst="rect">
              <a:avLst/>
            </a:prstGeom>
            <a:solidFill>
              <a:schemeClr val="bg1"/>
            </a:solid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algn="ctr"/>
              <a:endParaRPr lang="en-GB" sz="800" dirty="0">
                <a:solidFill>
                  <a:schemeClr val="accent6">
                    <a:lumMod val="75000"/>
                  </a:schemeClr>
                </a:solidFill>
                <a:cs typeface="Arial" pitchFamily="34" charset="0"/>
              </a:endParaRPr>
            </a:p>
            <a:p>
              <a:pPr algn="ctr"/>
              <a:r>
                <a:rPr lang="en-GB" sz="2000" dirty="0" smtClean="0">
                  <a:solidFill>
                    <a:schemeClr val="tx1"/>
                  </a:solidFill>
                  <a:cs typeface="Arial" pitchFamily="34" charset="0"/>
                </a:rPr>
                <a:t>When metals react with other substances the metal atoms form </a:t>
              </a:r>
              <a:r>
                <a:rPr lang="en-GB" sz="2000" b="1" dirty="0" smtClean="0">
                  <a:solidFill>
                    <a:schemeClr val="accent6">
                      <a:lumMod val="75000"/>
                    </a:schemeClr>
                  </a:solidFill>
                  <a:cs typeface="Arial" pitchFamily="34" charset="0"/>
                </a:rPr>
                <a:t>positive ions</a:t>
              </a:r>
              <a:r>
                <a:rPr lang="en-GB" sz="2000" dirty="0" smtClean="0">
                  <a:solidFill>
                    <a:schemeClr val="tx1"/>
                  </a:solidFill>
                  <a:cs typeface="Arial" pitchFamily="34" charset="0"/>
                </a:rPr>
                <a:t>.</a:t>
              </a:r>
            </a:p>
            <a:p>
              <a:pPr algn="ctr"/>
              <a:endParaRPr lang="en-GB" sz="2000" dirty="0" smtClean="0">
                <a:solidFill>
                  <a:schemeClr val="tx1"/>
                </a:solidFill>
                <a:cs typeface="Arial" pitchFamily="34" charset="0"/>
              </a:endParaRPr>
            </a:p>
            <a:p>
              <a:pPr algn="ctr"/>
              <a:r>
                <a:rPr lang="en-GB" sz="2000" b="1" dirty="0" smtClean="0">
                  <a:solidFill>
                    <a:schemeClr val="tx1"/>
                  </a:solidFill>
                  <a:cs typeface="Arial" pitchFamily="34" charset="0"/>
                </a:rPr>
                <a:t>The reactivity of a metal is linked to its </a:t>
              </a:r>
              <a:r>
                <a:rPr lang="en-GB" sz="2000" b="1" dirty="0" smtClean="0">
                  <a:solidFill>
                    <a:schemeClr val="accent6">
                      <a:lumMod val="75000"/>
                    </a:schemeClr>
                  </a:solidFill>
                  <a:cs typeface="Arial" pitchFamily="34" charset="0"/>
                </a:rPr>
                <a:t>tendency to form positive ions</a:t>
              </a:r>
              <a:r>
                <a:rPr lang="en-GB" sz="2000" b="1" dirty="0" smtClean="0">
                  <a:solidFill>
                    <a:schemeClr val="tx1"/>
                  </a:solidFill>
                  <a:cs typeface="Arial" pitchFamily="34" charset="0"/>
                </a:rPr>
                <a:t>.</a:t>
              </a:r>
            </a:p>
            <a:p>
              <a:pPr algn="ctr"/>
              <a:endParaRPr lang="en-GB" sz="2000" b="1" dirty="0">
                <a:solidFill>
                  <a:schemeClr val="accent6">
                    <a:lumMod val="75000"/>
                  </a:schemeClr>
                </a:solidFill>
                <a:cs typeface="Arial" pitchFamily="34" charset="0"/>
              </a:endParaRPr>
            </a:p>
            <a:p>
              <a:pPr algn="ctr"/>
              <a:r>
                <a:rPr lang="en-GB" sz="2000" dirty="0" smtClean="0">
                  <a:solidFill>
                    <a:schemeClr val="tx1"/>
                  </a:solidFill>
                  <a:cs typeface="Arial" pitchFamily="34" charset="0"/>
                </a:rPr>
                <a:t>The </a:t>
              </a:r>
              <a:r>
                <a:rPr lang="en-GB" sz="2000" b="1" dirty="0" smtClean="0">
                  <a:solidFill>
                    <a:schemeClr val="accent6">
                      <a:lumMod val="75000"/>
                    </a:schemeClr>
                  </a:solidFill>
                  <a:cs typeface="Arial" pitchFamily="34" charset="0"/>
                </a:rPr>
                <a:t>non-metals hydrogen </a:t>
              </a:r>
              <a:r>
                <a:rPr lang="en-GB" sz="2000" dirty="0" smtClean="0">
                  <a:solidFill>
                    <a:schemeClr val="tx1"/>
                  </a:solidFill>
                  <a:cs typeface="Arial" pitchFamily="34" charset="0"/>
                </a:rPr>
                <a:t>and </a:t>
              </a:r>
              <a:r>
                <a:rPr lang="en-GB" sz="2000" b="1" dirty="0" smtClean="0">
                  <a:solidFill>
                    <a:schemeClr val="accent6">
                      <a:lumMod val="75000"/>
                    </a:schemeClr>
                  </a:solidFill>
                  <a:cs typeface="Arial" pitchFamily="34" charset="0"/>
                </a:rPr>
                <a:t>carbon</a:t>
              </a:r>
              <a:r>
                <a:rPr lang="en-GB" sz="2000" dirty="0" smtClean="0">
                  <a:solidFill>
                    <a:schemeClr val="tx1"/>
                  </a:solidFill>
                  <a:cs typeface="Arial" pitchFamily="34" charset="0"/>
                </a:rPr>
                <a:t> are often included in the series as they can be used to extract less reactive metals.</a:t>
              </a:r>
            </a:p>
            <a:p>
              <a:pPr algn="ctr"/>
              <a:endParaRPr lang="en-GB" sz="2000" dirty="0" smtClean="0">
                <a:solidFill>
                  <a:schemeClr val="accent6">
                    <a:lumMod val="75000"/>
                  </a:schemeClr>
                </a:solidFill>
                <a:cs typeface="Arial" pitchFamily="34" charset="0"/>
              </a:endParaRPr>
            </a:p>
            <a:p>
              <a:pPr algn="ctr"/>
              <a:r>
                <a:rPr lang="en-GB" sz="2000" dirty="0" smtClean="0">
                  <a:solidFill>
                    <a:schemeClr val="accent6">
                      <a:lumMod val="75000"/>
                    </a:schemeClr>
                  </a:solidFill>
                  <a:cs typeface="Arial" pitchFamily="34" charset="0"/>
                </a:rPr>
                <a:t>Metal + acid </a:t>
              </a:r>
              <a:r>
                <a:rPr lang="en-GB" sz="2000" b="1" dirty="0" smtClean="0">
                  <a:sym typeface="Wingdings" panose="05000000000000000000" pitchFamily="2" charset="2"/>
                </a:rPr>
                <a:t></a:t>
              </a:r>
              <a:r>
                <a:rPr lang="en-GB" sz="2000" dirty="0">
                  <a:solidFill>
                    <a:schemeClr val="accent6">
                      <a:lumMod val="75000"/>
                    </a:schemeClr>
                  </a:solidFill>
                  <a:cs typeface="Arial" pitchFamily="34" charset="0"/>
                  <a:sym typeface="Wingdings" panose="05000000000000000000" pitchFamily="2" charset="2"/>
                </a:rPr>
                <a:t> </a:t>
              </a:r>
              <a:r>
                <a:rPr lang="en-GB" sz="2000" dirty="0" smtClean="0">
                  <a:solidFill>
                    <a:schemeClr val="accent6">
                      <a:lumMod val="75000"/>
                    </a:schemeClr>
                  </a:solidFill>
                  <a:cs typeface="Arial" pitchFamily="34" charset="0"/>
                </a:rPr>
                <a:t>salt + hydrogen</a:t>
              </a:r>
            </a:p>
            <a:p>
              <a:pPr algn="ctr"/>
              <a:endParaRPr lang="en-GB" sz="2000" dirty="0">
                <a:solidFill>
                  <a:schemeClr val="accent6">
                    <a:lumMod val="75000"/>
                  </a:schemeClr>
                </a:solidFill>
                <a:cs typeface="Arial" pitchFamily="34" charset="0"/>
              </a:endParaRPr>
            </a:p>
            <a:p>
              <a:pPr algn="ctr"/>
              <a:endParaRPr lang="en-GB" sz="2000" dirty="0" smtClean="0">
                <a:solidFill>
                  <a:schemeClr val="tx1"/>
                </a:solidFill>
                <a:cs typeface="Arial" pitchFamily="34" charset="0"/>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5" name="Group 4">
              <a:extLst>
                <a:ext uri="{FF2B5EF4-FFF2-40B4-BE49-F238E27FC236}">
                  <a16:creationId xmlns:a16="http://schemas.microsoft.com/office/drawing/2014/main" xmlns="" id="{5F76F976-CD70-494B-BA13-154F46CFEEEF}"/>
                </a:ext>
              </a:extLst>
            </p:cNvPr>
            <p:cNvGrpSpPr/>
            <p:nvPr/>
          </p:nvGrpSpPr>
          <p:grpSpPr>
            <a:xfrm>
              <a:off x="5424951" y="2602225"/>
              <a:ext cx="2365066" cy="4376604"/>
              <a:chOff x="-3596143" y="1825167"/>
              <a:chExt cx="2174905" cy="4236413"/>
            </a:xfrm>
          </p:grpSpPr>
          <p:sp>
            <p:nvSpPr>
              <p:cNvPr id="6" name="Text Box 6">
                <a:extLst>
                  <a:ext uri="{FF2B5EF4-FFF2-40B4-BE49-F238E27FC236}">
                    <a16:creationId xmlns:a16="http://schemas.microsoft.com/office/drawing/2014/main" xmlns="" id="{C8E60AAB-EEFF-466E-85DF-D2F6C0635C71}"/>
                  </a:ext>
                </a:extLst>
              </p:cNvPr>
              <p:cNvSpPr txBox="1">
                <a:spLocks noChangeArrowheads="1"/>
              </p:cNvSpPr>
              <p:nvPr/>
            </p:nvSpPr>
            <p:spPr bwMode="auto">
              <a:xfrm>
                <a:off x="-3596143" y="2078696"/>
                <a:ext cx="1422705" cy="3962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GB" sz="2000" b="1" dirty="0">
                    <a:solidFill>
                      <a:schemeClr val="accent6">
                        <a:lumMod val="75000"/>
                      </a:schemeClr>
                    </a:solidFill>
                  </a:rPr>
                  <a:t>Potassium</a:t>
                </a:r>
              </a:p>
              <a:p>
                <a:pPr algn="ctr"/>
                <a:r>
                  <a:rPr lang="en-GB" sz="2000" b="1" dirty="0">
                    <a:solidFill>
                      <a:schemeClr val="accent6">
                        <a:lumMod val="75000"/>
                      </a:schemeClr>
                    </a:solidFill>
                  </a:rPr>
                  <a:t>Sodium</a:t>
                </a:r>
              </a:p>
              <a:p>
                <a:pPr algn="ctr"/>
                <a:r>
                  <a:rPr lang="en-GB" sz="2000" b="1" dirty="0" smtClean="0">
                    <a:solidFill>
                      <a:schemeClr val="accent6">
                        <a:lumMod val="75000"/>
                      </a:schemeClr>
                    </a:solidFill>
                  </a:rPr>
                  <a:t>Lithium</a:t>
                </a:r>
              </a:p>
              <a:p>
                <a:pPr algn="ctr"/>
                <a:r>
                  <a:rPr lang="en-GB" sz="2000" b="1" dirty="0" smtClean="0">
                    <a:solidFill>
                      <a:schemeClr val="accent6">
                        <a:lumMod val="75000"/>
                      </a:schemeClr>
                    </a:solidFill>
                  </a:rPr>
                  <a:t>Calcium</a:t>
                </a:r>
                <a:endParaRPr lang="en-GB" sz="2000" b="1" dirty="0">
                  <a:solidFill>
                    <a:schemeClr val="accent6">
                      <a:lumMod val="75000"/>
                    </a:schemeClr>
                  </a:solidFill>
                </a:endParaRPr>
              </a:p>
              <a:p>
                <a:pPr algn="ctr"/>
                <a:r>
                  <a:rPr lang="en-GB" sz="2000" b="1" dirty="0">
                    <a:solidFill>
                      <a:schemeClr val="accent6">
                        <a:lumMod val="75000"/>
                      </a:schemeClr>
                    </a:solidFill>
                  </a:rPr>
                  <a:t>Magnesium</a:t>
                </a:r>
              </a:p>
              <a:p>
                <a:pPr algn="ctr"/>
                <a:r>
                  <a:rPr lang="en-GB" sz="2000" b="1" dirty="0" smtClean="0"/>
                  <a:t>CARBON</a:t>
                </a:r>
              </a:p>
              <a:p>
                <a:pPr algn="ctr"/>
                <a:r>
                  <a:rPr lang="en-GB" sz="2000" b="1" dirty="0">
                    <a:solidFill>
                      <a:schemeClr val="accent6">
                        <a:lumMod val="75000"/>
                      </a:schemeClr>
                    </a:solidFill>
                  </a:rPr>
                  <a:t>Zinc</a:t>
                </a:r>
              </a:p>
              <a:p>
                <a:pPr algn="ctr"/>
                <a:r>
                  <a:rPr lang="en-GB" sz="2000" b="1" dirty="0">
                    <a:solidFill>
                      <a:schemeClr val="accent6">
                        <a:lumMod val="75000"/>
                      </a:schemeClr>
                    </a:solidFill>
                  </a:rPr>
                  <a:t>Iron</a:t>
                </a:r>
              </a:p>
              <a:p>
                <a:pPr algn="ctr"/>
                <a:r>
                  <a:rPr lang="en-GB" sz="2000" b="1" dirty="0">
                    <a:solidFill>
                      <a:schemeClr val="accent6">
                        <a:lumMod val="75000"/>
                      </a:schemeClr>
                    </a:solidFill>
                  </a:rPr>
                  <a:t>Lead</a:t>
                </a:r>
              </a:p>
              <a:p>
                <a:pPr algn="ctr"/>
                <a:r>
                  <a:rPr lang="en-GB" sz="2000" b="1" dirty="0"/>
                  <a:t>HYDROGEN</a:t>
                </a:r>
              </a:p>
              <a:p>
                <a:pPr algn="ctr"/>
                <a:r>
                  <a:rPr lang="en-GB" sz="2000" b="1" dirty="0">
                    <a:solidFill>
                      <a:schemeClr val="accent6">
                        <a:lumMod val="75000"/>
                      </a:schemeClr>
                    </a:solidFill>
                  </a:rPr>
                  <a:t>Copper</a:t>
                </a:r>
              </a:p>
              <a:p>
                <a:pPr algn="ctr"/>
                <a:r>
                  <a:rPr lang="en-GB" sz="2000" b="1" dirty="0">
                    <a:solidFill>
                      <a:schemeClr val="accent6">
                        <a:lumMod val="75000"/>
                      </a:schemeClr>
                    </a:solidFill>
                  </a:rPr>
                  <a:t>Silver</a:t>
                </a:r>
              </a:p>
              <a:p>
                <a:pPr algn="ctr"/>
                <a:r>
                  <a:rPr lang="en-GB" sz="2000" b="1" dirty="0" smtClean="0">
                    <a:solidFill>
                      <a:schemeClr val="accent6">
                        <a:lumMod val="75000"/>
                      </a:schemeClr>
                    </a:solidFill>
                  </a:rPr>
                  <a:t>Gold</a:t>
                </a:r>
                <a:endParaRPr lang="en-GB" sz="2000" b="1" dirty="0">
                  <a:solidFill>
                    <a:schemeClr val="accent6">
                      <a:lumMod val="75000"/>
                    </a:schemeClr>
                  </a:solidFill>
                </a:endParaRPr>
              </a:p>
            </p:txBody>
          </p:sp>
          <p:sp>
            <p:nvSpPr>
              <p:cNvPr id="8" name="AutoShape 16">
                <a:extLst>
                  <a:ext uri="{FF2B5EF4-FFF2-40B4-BE49-F238E27FC236}">
                    <a16:creationId xmlns:a16="http://schemas.microsoft.com/office/drawing/2014/main" xmlns="" id="{D288BA83-9144-40E2-86E9-5D16705178E6}"/>
                  </a:ext>
                </a:extLst>
              </p:cNvPr>
              <p:cNvSpPr>
                <a:spLocks noChangeArrowheads="1"/>
              </p:cNvSpPr>
              <p:nvPr/>
            </p:nvSpPr>
            <p:spPr bwMode="auto">
              <a:xfrm flipV="1">
                <a:off x="-2173438" y="1825167"/>
                <a:ext cx="752200" cy="4236413"/>
              </a:xfrm>
              <a:prstGeom prst="downArrow">
                <a:avLst>
                  <a:gd name="adj1" fmla="val 71565"/>
                  <a:gd name="adj2" fmla="val 160608"/>
                </a:avLst>
              </a:prstGeom>
              <a:solidFill>
                <a:schemeClr val="accent6">
                  <a:lumMod val="20000"/>
                  <a:lumOff val="80000"/>
                </a:schemeClr>
              </a:solidFill>
              <a:ln>
                <a:solidFill>
                  <a:schemeClr val="accent6">
                    <a:lumMod val="75000"/>
                  </a:schemeClr>
                </a:solidFill>
                <a:headEnd/>
                <a:tailEnd/>
              </a:ln>
              <a:extLst/>
            </p:spPr>
            <p:style>
              <a:lnRef idx="1">
                <a:schemeClr val="accent2"/>
              </a:lnRef>
              <a:fillRef idx="2">
                <a:schemeClr val="accent2"/>
              </a:fillRef>
              <a:effectRef idx="1">
                <a:schemeClr val="accent2"/>
              </a:effectRef>
              <a:fontRef idx="minor">
                <a:schemeClr val="dk1"/>
              </a:fontRef>
            </p:style>
            <p:txBody>
              <a:bodyPr vert="eaVert" wrap="none" anchor="ctr"/>
              <a:lstStyle/>
              <a:p>
                <a:pPr algn="ctr"/>
                <a:r>
                  <a:rPr lang="en-GB" sz="2400" b="1" dirty="0"/>
                  <a:t>Increasing reactivity</a:t>
                </a:r>
              </a:p>
            </p:txBody>
          </p:sp>
        </p:grpSp>
      </p:grpSp>
      <p:sp>
        <p:nvSpPr>
          <p:cNvPr id="16" name="TextBox 15">
            <a:extLst>
              <a:ext uri="{FF2B5EF4-FFF2-40B4-BE49-F238E27FC236}">
                <a16:creationId xmlns:a16="http://schemas.microsoft.com/office/drawing/2014/main" xmlns="" id="{069D24D6-BF3E-48D1-A1E3-FB8C618604DE}"/>
              </a:ext>
            </a:extLst>
          </p:cNvPr>
          <p:cNvSpPr txBox="1"/>
          <p:nvPr/>
        </p:nvSpPr>
        <p:spPr>
          <a:xfrm>
            <a:off x="211591" y="674768"/>
            <a:ext cx="8640960" cy="461665"/>
          </a:xfrm>
          <a:prstGeom prst="rect">
            <a:avLst/>
          </a:prstGeom>
          <a:noFill/>
        </p:spPr>
        <p:txBody>
          <a:bodyPr wrap="square" rtlCol="0">
            <a:spAutoFit/>
          </a:bodyPr>
          <a:lstStyle/>
          <a:p>
            <a:r>
              <a:rPr lang="en-GB" sz="2400" dirty="0" smtClean="0">
                <a:cs typeface="Arial" pitchFamily="34" charset="0"/>
              </a:rPr>
              <a:t>Metals </a:t>
            </a:r>
            <a:r>
              <a:rPr lang="en-GB" sz="2400" dirty="0">
                <a:cs typeface="Arial" pitchFamily="34" charset="0"/>
              </a:rPr>
              <a:t>can be arranged in order of reactivity in a</a:t>
            </a:r>
            <a:r>
              <a:rPr lang="en-GB" sz="2400" b="1" dirty="0">
                <a:cs typeface="Arial" pitchFamily="34" charset="0"/>
              </a:rPr>
              <a:t> reactivity series</a:t>
            </a:r>
            <a:r>
              <a:rPr lang="en-GB" sz="2400" dirty="0">
                <a:cs typeface="Arial" pitchFamily="34" charset="0"/>
              </a:rPr>
              <a:t>.  </a:t>
            </a:r>
            <a:endParaRPr lang="en-GB" b="1" dirty="0">
              <a:cs typeface="Arial" pitchFamily="34" charset="0"/>
            </a:endParaRPr>
          </a:p>
        </p:txBody>
      </p:sp>
    </p:spTree>
    <p:extLst>
      <p:ext uri="{BB962C8B-B14F-4D97-AF65-F5344CB8AC3E}">
        <p14:creationId xmlns:p14="http://schemas.microsoft.com/office/powerpoint/2010/main" val="2864524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Extracting metals </a:t>
            </a:r>
            <a:endParaRPr lang="en-GB" sz="2400" b="1" dirty="0">
              <a:solidFill>
                <a:schemeClr val="accent6"/>
              </a:solidFill>
            </a:endParaRPr>
          </a:p>
        </p:txBody>
      </p:sp>
      <p:sp>
        <p:nvSpPr>
          <p:cNvPr id="3" name="TextBox 2">
            <a:extLst>
              <a:ext uri="{FF2B5EF4-FFF2-40B4-BE49-F238E27FC236}">
                <a16:creationId xmlns:a16="http://schemas.microsoft.com/office/drawing/2014/main" xmlns="" id="{069D24D6-BF3E-48D1-A1E3-FB8C618604DE}"/>
              </a:ext>
            </a:extLst>
          </p:cNvPr>
          <p:cNvSpPr txBox="1"/>
          <p:nvPr/>
        </p:nvSpPr>
        <p:spPr>
          <a:xfrm>
            <a:off x="211591" y="926516"/>
            <a:ext cx="8640960" cy="461665"/>
          </a:xfrm>
          <a:prstGeom prst="rect">
            <a:avLst/>
          </a:prstGeom>
          <a:noFill/>
        </p:spPr>
        <p:txBody>
          <a:bodyPr wrap="square" rtlCol="0">
            <a:spAutoFit/>
          </a:bodyPr>
          <a:lstStyle/>
          <a:p>
            <a:r>
              <a:rPr lang="en-GB" sz="2400" dirty="0" smtClean="0">
                <a:cs typeface="Arial" pitchFamily="34" charset="0"/>
              </a:rPr>
              <a:t>The</a:t>
            </a:r>
            <a:r>
              <a:rPr lang="en-GB" sz="2400" b="1" dirty="0" smtClean="0">
                <a:cs typeface="Arial" pitchFamily="34" charset="0"/>
              </a:rPr>
              <a:t> </a:t>
            </a:r>
            <a:r>
              <a:rPr lang="en-GB" sz="2400" b="1" dirty="0">
                <a:cs typeface="Arial" pitchFamily="34" charset="0"/>
              </a:rPr>
              <a:t>reactivity </a:t>
            </a:r>
            <a:r>
              <a:rPr lang="en-GB" sz="2400" dirty="0">
                <a:cs typeface="Arial" pitchFamily="34" charset="0"/>
              </a:rPr>
              <a:t>of a metal determines the </a:t>
            </a:r>
            <a:r>
              <a:rPr lang="en-GB" sz="2400" b="1" dirty="0">
                <a:cs typeface="Arial" pitchFamily="34" charset="0"/>
              </a:rPr>
              <a:t>method </a:t>
            </a:r>
            <a:r>
              <a:rPr lang="en-GB" sz="2400" dirty="0">
                <a:cs typeface="Arial" pitchFamily="34" charset="0"/>
              </a:rPr>
              <a:t>of </a:t>
            </a:r>
            <a:r>
              <a:rPr lang="en-GB" sz="2400" b="1" dirty="0">
                <a:cs typeface="Arial" pitchFamily="34" charset="0"/>
              </a:rPr>
              <a:t>extraction.</a:t>
            </a:r>
            <a:r>
              <a:rPr lang="en-GB" sz="2400" dirty="0">
                <a:cs typeface="Arial" pitchFamily="34" charset="0"/>
              </a:rPr>
              <a:t> </a:t>
            </a:r>
          </a:p>
        </p:txBody>
      </p:sp>
      <p:sp>
        <p:nvSpPr>
          <p:cNvPr id="10" name="TextBox 9">
            <a:extLst>
              <a:ext uri="{FF2B5EF4-FFF2-40B4-BE49-F238E27FC236}">
                <a16:creationId xmlns:a16="http://schemas.microsoft.com/office/drawing/2014/main" xmlns="" id="{1E1F986D-0985-4BB6-87D1-6731F9CF7B19}"/>
              </a:ext>
            </a:extLst>
          </p:cNvPr>
          <p:cNvSpPr txBox="1"/>
          <p:nvPr/>
        </p:nvSpPr>
        <p:spPr>
          <a:xfrm>
            <a:off x="211591" y="5083674"/>
            <a:ext cx="4962229" cy="1323439"/>
          </a:xfrm>
          <a:prstGeom prst="rect">
            <a:avLst/>
          </a:prstGeom>
          <a:noFill/>
        </p:spPr>
        <p:txBody>
          <a:bodyPr wrap="square" rtlCol="0">
            <a:spAutoFit/>
          </a:bodyPr>
          <a:lstStyle/>
          <a:p>
            <a:pPr algn="ctr"/>
            <a:endParaRPr lang="en-GB" sz="2000" b="1" dirty="0">
              <a:solidFill>
                <a:schemeClr val="accent6">
                  <a:lumMod val="75000"/>
                </a:schemeClr>
              </a:solidFill>
              <a:cs typeface="Arial" pitchFamily="34" charset="0"/>
            </a:endParaRPr>
          </a:p>
          <a:p>
            <a:pPr algn="ctr"/>
            <a:r>
              <a:rPr lang="en-GB" sz="2000" b="1" dirty="0">
                <a:solidFill>
                  <a:schemeClr val="accent6">
                    <a:lumMod val="75000"/>
                  </a:schemeClr>
                </a:solidFill>
                <a:cs typeface="Arial" pitchFamily="34" charset="0"/>
              </a:rPr>
              <a:t>Gold</a:t>
            </a:r>
            <a:r>
              <a:rPr lang="en-GB" sz="2000" dirty="0">
                <a:solidFill>
                  <a:schemeClr val="accent6">
                    <a:lumMod val="75000"/>
                  </a:schemeClr>
                </a:solidFill>
                <a:cs typeface="Arial" pitchFamily="34" charset="0"/>
              </a:rPr>
              <a:t> </a:t>
            </a:r>
            <a:r>
              <a:rPr lang="en-GB" sz="2000" dirty="0">
                <a:cs typeface="Arial" pitchFamily="34" charset="0"/>
              </a:rPr>
              <a:t>and</a:t>
            </a:r>
            <a:r>
              <a:rPr lang="en-GB" sz="2000" dirty="0">
                <a:solidFill>
                  <a:schemeClr val="accent6">
                    <a:lumMod val="75000"/>
                  </a:schemeClr>
                </a:solidFill>
                <a:cs typeface="Arial" pitchFamily="34" charset="0"/>
              </a:rPr>
              <a:t> </a:t>
            </a:r>
            <a:r>
              <a:rPr lang="en-GB" sz="2000" b="1" dirty="0">
                <a:solidFill>
                  <a:schemeClr val="accent6">
                    <a:lumMod val="75000"/>
                  </a:schemeClr>
                </a:solidFill>
                <a:cs typeface="Arial" pitchFamily="34" charset="0"/>
              </a:rPr>
              <a:t>silver</a:t>
            </a:r>
            <a:r>
              <a:rPr lang="en-GB" sz="2000" dirty="0">
                <a:solidFill>
                  <a:schemeClr val="accent6">
                    <a:lumMod val="75000"/>
                  </a:schemeClr>
                </a:solidFill>
                <a:cs typeface="Arial" pitchFamily="34" charset="0"/>
              </a:rPr>
              <a:t> </a:t>
            </a:r>
            <a:r>
              <a:rPr lang="en-GB" sz="2000" dirty="0">
                <a:cs typeface="Arial" pitchFamily="34" charset="0"/>
              </a:rPr>
              <a:t>do not need to be extracted</a:t>
            </a:r>
            <a:r>
              <a:rPr lang="en-GB" sz="2000" dirty="0">
                <a:solidFill>
                  <a:schemeClr val="accent6">
                    <a:lumMod val="75000"/>
                  </a:schemeClr>
                </a:solidFill>
                <a:cs typeface="Arial" pitchFamily="34" charset="0"/>
              </a:rPr>
              <a:t>. </a:t>
            </a:r>
          </a:p>
          <a:p>
            <a:pPr algn="ctr"/>
            <a:r>
              <a:rPr lang="en-GB" sz="2000" dirty="0">
                <a:cs typeface="Arial" pitchFamily="34" charset="0"/>
              </a:rPr>
              <a:t>They occur </a:t>
            </a:r>
            <a:r>
              <a:rPr lang="en-GB" sz="2000" b="1" dirty="0">
                <a:solidFill>
                  <a:schemeClr val="accent6">
                    <a:lumMod val="75000"/>
                  </a:schemeClr>
                </a:solidFill>
                <a:cs typeface="Arial" pitchFamily="34" charset="0"/>
              </a:rPr>
              <a:t>native </a:t>
            </a:r>
            <a:r>
              <a:rPr lang="en-GB" sz="2000" dirty="0">
                <a:solidFill>
                  <a:schemeClr val="accent6">
                    <a:lumMod val="75000"/>
                  </a:schemeClr>
                </a:solidFill>
                <a:cs typeface="Arial" pitchFamily="34" charset="0"/>
              </a:rPr>
              <a:t>(naturally).</a:t>
            </a:r>
            <a:endParaRPr lang="en-GB" sz="2000" b="1" dirty="0">
              <a:solidFill>
                <a:schemeClr val="accent6">
                  <a:lumMod val="75000"/>
                </a:schemeClr>
              </a:solidFill>
              <a:cs typeface="Arial" pitchFamily="34" charset="0"/>
            </a:endParaRPr>
          </a:p>
          <a:p>
            <a:endParaRPr lang="en-GB" sz="2000" dirty="0"/>
          </a:p>
        </p:txBody>
      </p:sp>
      <p:grpSp>
        <p:nvGrpSpPr>
          <p:cNvPr id="15" name="Group 14"/>
          <p:cNvGrpSpPr/>
          <p:nvPr/>
        </p:nvGrpSpPr>
        <p:grpSpPr>
          <a:xfrm>
            <a:off x="185319" y="1794472"/>
            <a:ext cx="7727717" cy="4485341"/>
            <a:chOff x="279254" y="2589154"/>
            <a:chExt cx="7510763" cy="4485341"/>
          </a:xfrm>
        </p:grpSpPr>
        <p:sp>
          <p:nvSpPr>
            <p:cNvPr id="9" name="Rectangle 8">
              <a:extLst>
                <a:ext uri="{FF2B5EF4-FFF2-40B4-BE49-F238E27FC236}">
                  <a16:creationId xmlns:a16="http://schemas.microsoft.com/office/drawing/2014/main" xmlns="" id="{49F9F6C2-A072-412E-AF72-DE8E5082D10B}"/>
                </a:ext>
              </a:extLst>
            </p:cNvPr>
            <p:cNvSpPr/>
            <p:nvPr/>
          </p:nvSpPr>
          <p:spPr>
            <a:xfrm>
              <a:off x="279254" y="2673378"/>
              <a:ext cx="5028566" cy="2985433"/>
            </a:xfrm>
            <a:prstGeom prst="rect">
              <a:avLst/>
            </a:prstGeom>
            <a:solidFill>
              <a:schemeClr val="bg1"/>
            </a:solid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algn="ctr"/>
              <a:endParaRPr lang="en-GB" sz="800" dirty="0">
                <a:solidFill>
                  <a:schemeClr val="accent6">
                    <a:lumMod val="75000"/>
                  </a:schemeClr>
                </a:solidFill>
                <a:cs typeface="Arial" pitchFamily="34" charset="0"/>
              </a:endParaRPr>
            </a:p>
            <a:p>
              <a:pPr algn="ctr"/>
              <a:r>
                <a:rPr lang="en-GB" sz="2000" dirty="0">
                  <a:solidFill>
                    <a:schemeClr val="tx1"/>
                  </a:solidFill>
                  <a:cs typeface="Arial" pitchFamily="34" charset="0"/>
                </a:rPr>
                <a:t>Metals</a:t>
              </a:r>
              <a:r>
                <a:rPr lang="en-GB" sz="2000" dirty="0">
                  <a:solidFill>
                    <a:schemeClr val="accent6">
                      <a:lumMod val="75000"/>
                    </a:schemeClr>
                  </a:solidFill>
                  <a:cs typeface="Arial" pitchFamily="34" charset="0"/>
                </a:rPr>
                <a:t> </a:t>
              </a:r>
              <a:r>
                <a:rPr lang="en-GB" sz="2000" b="1" dirty="0">
                  <a:solidFill>
                    <a:schemeClr val="accent6">
                      <a:lumMod val="75000"/>
                    </a:schemeClr>
                  </a:solidFill>
                  <a:cs typeface="Arial" pitchFamily="34" charset="0"/>
                </a:rPr>
                <a:t>above</a:t>
              </a:r>
              <a:r>
                <a:rPr lang="en-GB" sz="2000" dirty="0">
                  <a:solidFill>
                    <a:schemeClr val="accent6">
                      <a:lumMod val="75000"/>
                    </a:schemeClr>
                  </a:solidFill>
                  <a:cs typeface="Arial" pitchFamily="34" charset="0"/>
                </a:rPr>
                <a:t> </a:t>
              </a:r>
              <a:r>
                <a:rPr lang="en-GB" sz="2000" dirty="0">
                  <a:solidFill>
                    <a:schemeClr val="tx1"/>
                  </a:solidFill>
                  <a:cs typeface="Arial" pitchFamily="34" charset="0"/>
                </a:rPr>
                <a:t>carbon must be extracted </a:t>
              </a:r>
              <a:r>
                <a:rPr lang="en-GB" sz="2000" dirty="0" smtClean="0">
                  <a:solidFill>
                    <a:schemeClr val="tx1"/>
                  </a:solidFill>
                  <a:cs typeface="Arial" pitchFamily="34" charset="0"/>
                </a:rPr>
                <a:t>from their ores by using </a:t>
              </a:r>
              <a:r>
                <a:rPr lang="en-GB" sz="2000" b="1" dirty="0">
                  <a:solidFill>
                    <a:schemeClr val="accent6">
                      <a:lumMod val="75000"/>
                    </a:schemeClr>
                  </a:solidFill>
                  <a:cs typeface="Arial" pitchFamily="34" charset="0"/>
                </a:rPr>
                <a:t>electrolysis. </a:t>
              </a:r>
            </a:p>
            <a:p>
              <a:pPr algn="ctr"/>
              <a:endParaRPr lang="en-GB" sz="2000" b="1" dirty="0">
                <a:solidFill>
                  <a:schemeClr val="accent6">
                    <a:lumMod val="75000"/>
                  </a:schemeClr>
                </a:solidFill>
                <a:cs typeface="Arial" pitchFamily="34" charset="0"/>
              </a:endParaRPr>
            </a:p>
            <a:p>
              <a:pPr algn="ctr"/>
              <a:r>
                <a:rPr lang="en-GB" sz="2000" dirty="0" smtClean="0">
                  <a:solidFill>
                    <a:schemeClr val="tx1"/>
                  </a:solidFill>
                  <a:cs typeface="Arial" pitchFamily="34" charset="0"/>
                </a:rPr>
                <a:t>Metals</a:t>
              </a:r>
              <a:r>
                <a:rPr lang="en-GB" sz="2000" dirty="0" smtClean="0">
                  <a:solidFill>
                    <a:schemeClr val="accent6">
                      <a:lumMod val="75000"/>
                    </a:schemeClr>
                  </a:solidFill>
                  <a:cs typeface="Arial" pitchFamily="34" charset="0"/>
                </a:rPr>
                <a:t> </a:t>
              </a:r>
              <a:r>
                <a:rPr lang="en-GB" sz="2000" b="1" dirty="0">
                  <a:solidFill>
                    <a:schemeClr val="accent6">
                      <a:lumMod val="75000"/>
                    </a:schemeClr>
                  </a:solidFill>
                  <a:cs typeface="Arial" pitchFamily="34" charset="0"/>
                </a:rPr>
                <a:t>below</a:t>
              </a:r>
              <a:r>
                <a:rPr lang="en-GB" sz="2000" dirty="0">
                  <a:solidFill>
                    <a:schemeClr val="accent6">
                      <a:lumMod val="75000"/>
                    </a:schemeClr>
                  </a:solidFill>
                  <a:cs typeface="Arial" pitchFamily="34" charset="0"/>
                </a:rPr>
                <a:t> </a:t>
              </a:r>
              <a:r>
                <a:rPr lang="en-GB" sz="2000" dirty="0">
                  <a:solidFill>
                    <a:schemeClr val="tx1"/>
                  </a:solidFill>
                  <a:cs typeface="Arial" pitchFamily="34" charset="0"/>
                </a:rPr>
                <a:t>carbon can be extracted </a:t>
              </a:r>
              <a:r>
                <a:rPr lang="en-GB" sz="2000" dirty="0" smtClean="0">
                  <a:solidFill>
                    <a:schemeClr val="tx1"/>
                  </a:solidFill>
                  <a:cs typeface="Arial" pitchFamily="34" charset="0"/>
                </a:rPr>
                <a:t>from their ores by </a:t>
              </a:r>
              <a:r>
                <a:rPr lang="en-GB" sz="2000" b="1" dirty="0">
                  <a:solidFill>
                    <a:schemeClr val="accent6">
                      <a:lumMod val="75000"/>
                    </a:schemeClr>
                  </a:solidFill>
                  <a:cs typeface="Arial" pitchFamily="34" charset="0"/>
                </a:rPr>
                <a:t>reduction</a:t>
              </a:r>
              <a:r>
                <a:rPr lang="en-GB" sz="2000" dirty="0">
                  <a:solidFill>
                    <a:schemeClr val="accent6">
                      <a:lumMod val="75000"/>
                    </a:schemeClr>
                  </a:solidFill>
                  <a:cs typeface="Arial" pitchFamily="34" charset="0"/>
                </a:rPr>
                <a:t> </a:t>
              </a:r>
              <a:r>
                <a:rPr lang="en-GB" sz="2000" dirty="0">
                  <a:solidFill>
                    <a:schemeClr val="tx1"/>
                  </a:solidFill>
                  <a:cs typeface="Arial" pitchFamily="34" charset="0"/>
                </a:rPr>
                <a:t>using</a:t>
              </a:r>
              <a:r>
                <a:rPr lang="en-GB" sz="2000" dirty="0">
                  <a:solidFill>
                    <a:schemeClr val="accent6">
                      <a:lumMod val="75000"/>
                    </a:schemeClr>
                  </a:solidFill>
                  <a:cs typeface="Arial" pitchFamily="34" charset="0"/>
                </a:rPr>
                <a:t> </a:t>
              </a:r>
              <a:r>
                <a:rPr lang="en-GB" sz="2000" b="1" dirty="0">
                  <a:solidFill>
                    <a:schemeClr val="accent6">
                      <a:lumMod val="75000"/>
                    </a:schemeClr>
                  </a:solidFill>
                  <a:cs typeface="Arial" pitchFamily="34" charset="0"/>
                </a:rPr>
                <a:t>carbon</a:t>
              </a:r>
              <a:r>
                <a:rPr lang="en-GB" sz="2000" b="1" dirty="0" smtClean="0">
                  <a:solidFill>
                    <a:schemeClr val="accent6">
                      <a:lumMod val="75000"/>
                    </a:schemeClr>
                  </a:solidFill>
                  <a:cs typeface="Arial" pitchFamily="34" charset="0"/>
                </a:rPr>
                <a:t>.</a:t>
              </a:r>
            </a:p>
            <a:p>
              <a:pPr algn="ctr"/>
              <a:r>
                <a:rPr lang="en-GB" sz="2000" b="1" dirty="0" smtClean="0">
                  <a:solidFill>
                    <a:schemeClr val="accent6">
                      <a:lumMod val="75000"/>
                    </a:schemeClr>
                  </a:solidFill>
                  <a:cs typeface="Arial" pitchFamily="34" charset="0"/>
                </a:rPr>
                <a:t>REDUCTION involves the loss of oxygen.</a:t>
              </a:r>
              <a:endParaRPr lang="en-GB" sz="2000" b="1" dirty="0">
                <a:solidFill>
                  <a:schemeClr val="accent6">
                    <a:lumMod val="75000"/>
                  </a:schemeClr>
                </a:solidFill>
                <a:cs typeface="Arial" pitchFamily="34" charset="0"/>
              </a:endParaRPr>
            </a:p>
            <a:p>
              <a:pPr algn="ctr"/>
              <a:endParaRPr lang="en-GB" sz="2000" b="1" dirty="0">
                <a:solidFill>
                  <a:schemeClr val="accent6">
                    <a:lumMod val="75000"/>
                  </a:schemeClr>
                </a:solidFill>
                <a:cs typeface="Arial" pitchFamily="34" charset="0"/>
              </a:endParaRPr>
            </a:p>
            <a:p>
              <a:pPr algn="ctr"/>
              <a:r>
                <a:rPr lang="en-GB" sz="2000" b="1" dirty="0">
                  <a:solidFill>
                    <a:schemeClr val="tx1"/>
                  </a:solidFill>
                  <a:cs typeface="Arial" pitchFamily="34" charset="0"/>
                </a:rPr>
                <a:t>metal oxide + carbon </a:t>
              </a:r>
              <a:r>
                <a:rPr lang="en-GB" sz="2000" b="1" dirty="0">
                  <a:solidFill>
                    <a:schemeClr val="tx1"/>
                  </a:solidFill>
                  <a:cs typeface="Arial" pitchFamily="34" charset="0"/>
                  <a:sym typeface="Wingdings" panose="05000000000000000000" pitchFamily="2" charset="2"/>
                </a:rPr>
                <a:t> metal + carbon dioxide</a:t>
              </a:r>
              <a:endParaRPr lang="en-GB" sz="2000" b="1" dirty="0">
                <a:solidFill>
                  <a:schemeClr val="tx1"/>
                </a:solidFill>
                <a:cs typeface="Arial" pitchFamily="34" charset="0"/>
              </a:endParaRPr>
            </a:p>
            <a:p>
              <a:pPr algn="ctr"/>
              <a:endParaRPr lang="en-GB" sz="2000" b="1" dirty="0">
                <a:solidFill>
                  <a:schemeClr val="accent6">
                    <a:lumMod val="75000"/>
                  </a:schemeClr>
                </a:solidFill>
                <a:cs typeface="Arial" pitchFamily="34" charset="0"/>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5" name="Group 4">
              <a:extLst>
                <a:ext uri="{FF2B5EF4-FFF2-40B4-BE49-F238E27FC236}">
                  <a16:creationId xmlns:a16="http://schemas.microsoft.com/office/drawing/2014/main" xmlns="" id="{5F76F976-CD70-494B-BA13-154F46CFEEEF}"/>
                </a:ext>
              </a:extLst>
            </p:cNvPr>
            <p:cNvGrpSpPr/>
            <p:nvPr/>
          </p:nvGrpSpPr>
          <p:grpSpPr>
            <a:xfrm>
              <a:off x="5544016" y="2589154"/>
              <a:ext cx="2246001" cy="4485341"/>
              <a:chOff x="-3486651" y="1812515"/>
              <a:chExt cx="2065413" cy="4341668"/>
            </a:xfrm>
          </p:grpSpPr>
          <p:sp>
            <p:nvSpPr>
              <p:cNvPr id="6" name="Text Box 6">
                <a:extLst>
                  <a:ext uri="{FF2B5EF4-FFF2-40B4-BE49-F238E27FC236}">
                    <a16:creationId xmlns:a16="http://schemas.microsoft.com/office/drawing/2014/main" xmlns="" id="{C8E60AAB-EEFF-466E-85DF-D2F6C0635C71}"/>
                  </a:ext>
                </a:extLst>
              </p:cNvPr>
              <p:cNvSpPr txBox="1">
                <a:spLocks noChangeArrowheads="1"/>
              </p:cNvSpPr>
              <p:nvPr/>
            </p:nvSpPr>
            <p:spPr bwMode="auto">
              <a:xfrm>
                <a:off x="-3486651" y="1812515"/>
                <a:ext cx="1422705" cy="1876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sz="2000" b="1" dirty="0">
                    <a:solidFill>
                      <a:schemeClr val="accent6">
                        <a:lumMod val="75000"/>
                      </a:schemeClr>
                    </a:solidFill>
                  </a:rPr>
                  <a:t>Potassium</a:t>
                </a:r>
              </a:p>
              <a:p>
                <a:r>
                  <a:rPr lang="en-GB" sz="2000" b="1" dirty="0">
                    <a:solidFill>
                      <a:schemeClr val="accent6">
                        <a:lumMod val="75000"/>
                      </a:schemeClr>
                    </a:solidFill>
                  </a:rPr>
                  <a:t>Sodium</a:t>
                </a:r>
              </a:p>
              <a:p>
                <a:r>
                  <a:rPr lang="en-GB" sz="2000" b="1" dirty="0">
                    <a:solidFill>
                      <a:schemeClr val="accent6">
                        <a:lumMod val="75000"/>
                      </a:schemeClr>
                    </a:solidFill>
                  </a:rPr>
                  <a:t>Calcium</a:t>
                </a:r>
              </a:p>
              <a:p>
                <a:r>
                  <a:rPr lang="en-GB" sz="2000" b="1" dirty="0">
                    <a:solidFill>
                      <a:schemeClr val="accent6">
                        <a:lumMod val="75000"/>
                      </a:schemeClr>
                    </a:solidFill>
                  </a:rPr>
                  <a:t>Magnesium</a:t>
                </a:r>
              </a:p>
              <a:p>
                <a:r>
                  <a:rPr lang="en-GB" sz="2000" b="1" dirty="0">
                    <a:solidFill>
                      <a:schemeClr val="accent6">
                        <a:lumMod val="75000"/>
                      </a:schemeClr>
                    </a:solidFill>
                  </a:rPr>
                  <a:t>Aluminium</a:t>
                </a:r>
              </a:p>
              <a:p>
                <a:r>
                  <a:rPr lang="en-GB" sz="2000" b="1" dirty="0"/>
                  <a:t>CARB</a:t>
                </a:r>
                <a:r>
                  <a:rPr lang="en-GB" b="1" dirty="0"/>
                  <a:t>ON</a:t>
                </a:r>
              </a:p>
            </p:txBody>
          </p:sp>
          <p:sp>
            <p:nvSpPr>
              <p:cNvPr id="7" name="Text Box 11">
                <a:extLst>
                  <a:ext uri="{FF2B5EF4-FFF2-40B4-BE49-F238E27FC236}">
                    <a16:creationId xmlns:a16="http://schemas.microsoft.com/office/drawing/2014/main" xmlns="" id="{62E54197-FAAD-4A50-B0CA-3F024F7CDA1E}"/>
                  </a:ext>
                </a:extLst>
              </p:cNvPr>
              <p:cNvSpPr txBox="1">
                <a:spLocks noChangeArrowheads="1"/>
              </p:cNvSpPr>
              <p:nvPr/>
            </p:nvSpPr>
            <p:spPr bwMode="auto">
              <a:xfrm>
                <a:off x="-3407818" y="3681464"/>
                <a:ext cx="1394504" cy="2472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sz="2000" b="1" dirty="0">
                    <a:solidFill>
                      <a:schemeClr val="accent6">
                        <a:lumMod val="75000"/>
                      </a:schemeClr>
                    </a:solidFill>
                  </a:rPr>
                  <a:t>Zinc</a:t>
                </a:r>
              </a:p>
              <a:p>
                <a:r>
                  <a:rPr lang="en-GB" sz="2000" b="1" dirty="0">
                    <a:solidFill>
                      <a:schemeClr val="accent6">
                        <a:lumMod val="75000"/>
                      </a:schemeClr>
                    </a:solidFill>
                  </a:rPr>
                  <a:t>Iron</a:t>
                </a:r>
              </a:p>
              <a:p>
                <a:r>
                  <a:rPr lang="en-GB" sz="2000" b="1" dirty="0">
                    <a:solidFill>
                      <a:schemeClr val="accent6">
                        <a:lumMod val="75000"/>
                      </a:schemeClr>
                    </a:solidFill>
                  </a:rPr>
                  <a:t>Lead</a:t>
                </a:r>
              </a:p>
              <a:p>
                <a:r>
                  <a:rPr lang="en-GB" sz="2000" b="1" dirty="0"/>
                  <a:t>HYDROGEN</a:t>
                </a:r>
              </a:p>
              <a:p>
                <a:r>
                  <a:rPr lang="en-GB" sz="2000" b="1" dirty="0">
                    <a:solidFill>
                      <a:schemeClr val="accent6">
                        <a:lumMod val="75000"/>
                      </a:schemeClr>
                    </a:solidFill>
                  </a:rPr>
                  <a:t>Copper</a:t>
                </a:r>
              </a:p>
              <a:p>
                <a:r>
                  <a:rPr lang="en-GB" sz="2000" b="1" dirty="0">
                    <a:solidFill>
                      <a:schemeClr val="accent6">
                        <a:lumMod val="75000"/>
                      </a:schemeClr>
                    </a:solidFill>
                  </a:rPr>
                  <a:t>Silver</a:t>
                </a:r>
              </a:p>
              <a:p>
                <a:r>
                  <a:rPr lang="en-GB" sz="2000" b="1" dirty="0">
                    <a:solidFill>
                      <a:schemeClr val="accent6">
                        <a:lumMod val="75000"/>
                      </a:schemeClr>
                    </a:solidFill>
                  </a:rPr>
                  <a:t>Gold</a:t>
                </a:r>
              </a:p>
              <a:p>
                <a:r>
                  <a:rPr lang="en-GB" sz="2000" b="1" dirty="0">
                    <a:solidFill>
                      <a:schemeClr val="accent6">
                        <a:lumMod val="75000"/>
                      </a:schemeClr>
                    </a:solidFill>
                  </a:rPr>
                  <a:t>Platinum</a:t>
                </a:r>
              </a:p>
            </p:txBody>
          </p:sp>
          <p:sp>
            <p:nvSpPr>
              <p:cNvPr id="8" name="AutoShape 16">
                <a:extLst>
                  <a:ext uri="{FF2B5EF4-FFF2-40B4-BE49-F238E27FC236}">
                    <a16:creationId xmlns:a16="http://schemas.microsoft.com/office/drawing/2014/main" xmlns="" id="{D288BA83-9144-40E2-86E9-5D16705178E6}"/>
                  </a:ext>
                </a:extLst>
              </p:cNvPr>
              <p:cNvSpPr>
                <a:spLocks noChangeArrowheads="1"/>
              </p:cNvSpPr>
              <p:nvPr/>
            </p:nvSpPr>
            <p:spPr bwMode="auto">
              <a:xfrm flipV="1">
                <a:off x="-2173438" y="1825167"/>
                <a:ext cx="752200" cy="4236413"/>
              </a:xfrm>
              <a:prstGeom prst="downArrow">
                <a:avLst>
                  <a:gd name="adj1" fmla="val 71565"/>
                  <a:gd name="adj2" fmla="val 160608"/>
                </a:avLst>
              </a:prstGeom>
              <a:solidFill>
                <a:schemeClr val="accent6">
                  <a:lumMod val="20000"/>
                  <a:lumOff val="80000"/>
                </a:schemeClr>
              </a:solidFill>
              <a:ln>
                <a:solidFill>
                  <a:schemeClr val="accent6">
                    <a:lumMod val="75000"/>
                  </a:schemeClr>
                </a:solidFill>
                <a:headEnd/>
                <a:tailEnd/>
              </a:ln>
              <a:extLst/>
            </p:spPr>
            <p:style>
              <a:lnRef idx="1">
                <a:schemeClr val="accent2"/>
              </a:lnRef>
              <a:fillRef idx="2">
                <a:schemeClr val="accent2"/>
              </a:fillRef>
              <a:effectRef idx="1">
                <a:schemeClr val="accent2"/>
              </a:effectRef>
              <a:fontRef idx="minor">
                <a:schemeClr val="dk1"/>
              </a:fontRef>
            </p:style>
            <p:txBody>
              <a:bodyPr vert="eaVert" wrap="none" anchor="ctr"/>
              <a:lstStyle/>
              <a:p>
                <a:pPr algn="ctr"/>
                <a:r>
                  <a:rPr lang="en-GB" sz="2400" b="1" dirty="0"/>
                  <a:t>Increasing reactivity</a:t>
                </a:r>
              </a:p>
            </p:txBody>
          </p:sp>
        </p:grpSp>
        <p:sp>
          <p:nvSpPr>
            <p:cNvPr id="12" name="Right Brace 11">
              <a:extLst>
                <a:ext uri="{FF2B5EF4-FFF2-40B4-BE49-F238E27FC236}">
                  <a16:creationId xmlns:a16="http://schemas.microsoft.com/office/drawing/2014/main" xmlns="" id="{0BFD5049-462B-4EFB-A54D-0FFA03F95447}"/>
                </a:ext>
              </a:extLst>
            </p:cNvPr>
            <p:cNvSpPr/>
            <p:nvPr/>
          </p:nvSpPr>
          <p:spPr>
            <a:xfrm rot="10800000">
              <a:off x="5440185" y="2673378"/>
              <a:ext cx="160816" cy="1550026"/>
            </a:xfrm>
            <a:prstGeom prst="rightBrace">
              <a:avLst/>
            </a:prstGeom>
            <a:effectLst/>
          </p:spPr>
          <p:style>
            <a:lnRef idx="2">
              <a:schemeClr val="accent6"/>
            </a:lnRef>
            <a:fillRef idx="0">
              <a:schemeClr val="accent6"/>
            </a:fillRef>
            <a:effectRef idx="1">
              <a:schemeClr val="accent6"/>
            </a:effectRef>
            <a:fontRef idx="minor">
              <a:schemeClr val="tx1"/>
            </a:fontRef>
          </p:style>
          <p:txBody>
            <a:bodyPr rtlCol="0" anchor="ctr"/>
            <a:lstStyle/>
            <a:p>
              <a:pPr algn="ctr"/>
              <a:endParaRPr lang="en-GB"/>
            </a:p>
          </p:txBody>
        </p:sp>
        <p:sp>
          <p:nvSpPr>
            <p:cNvPr id="13" name="Right Brace 12">
              <a:extLst>
                <a:ext uri="{FF2B5EF4-FFF2-40B4-BE49-F238E27FC236}">
                  <a16:creationId xmlns:a16="http://schemas.microsoft.com/office/drawing/2014/main" xmlns="" id="{6FE4A128-67B1-4494-9587-6930CFBEB708}"/>
                </a:ext>
              </a:extLst>
            </p:cNvPr>
            <p:cNvSpPr/>
            <p:nvPr/>
          </p:nvSpPr>
          <p:spPr>
            <a:xfrm rot="10800000">
              <a:off x="5477686" y="4642767"/>
              <a:ext cx="123314" cy="1428114"/>
            </a:xfrm>
            <a:prstGeom prst="rightBrace">
              <a:avLst/>
            </a:prstGeom>
            <a:effectLst/>
          </p:spPr>
          <p:style>
            <a:lnRef idx="2">
              <a:schemeClr val="accent6"/>
            </a:lnRef>
            <a:fillRef idx="0">
              <a:schemeClr val="accent6"/>
            </a:fillRef>
            <a:effectRef idx="1">
              <a:schemeClr val="accent6"/>
            </a:effectRef>
            <a:fontRef idx="minor">
              <a:schemeClr val="tx1"/>
            </a:fontRef>
          </p:style>
          <p:txBody>
            <a:bodyPr rtlCol="0" anchor="ctr"/>
            <a:lstStyle/>
            <a:p>
              <a:pPr algn="ctr"/>
              <a:endParaRPr lang="en-GB"/>
            </a:p>
          </p:txBody>
        </p:sp>
        <p:sp>
          <p:nvSpPr>
            <p:cNvPr id="14" name="Right Brace 13">
              <a:extLst>
                <a:ext uri="{FF2B5EF4-FFF2-40B4-BE49-F238E27FC236}">
                  <a16:creationId xmlns:a16="http://schemas.microsoft.com/office/drawing/2014/main" xmlns="" id="{0C42C919-FC7F-4B85-8BE8-901FFF894E5D}"/>
                </a:ext>
              </a:extLst>
            </p:cNvPr>
            <p:cNvSpPr/>
            <p:nvPr/>
          </p:nvSpPr>
          <p:spPr>
            <a:xfrm rot="10800000">
              <a:off x="5470474" y="6166547"/>
              <a:ext cx="175410" cy="812281"/>
            </a:xfrm>
            <a:prstGeom prst="rightBrace">
              <a:avLst/>
            </a:prstGeom>
            <a:effectLst/>
          </p:spPr>
          <p:style>
            <a:lnRef idx="2">
              <a:schemeClr val="accent6"/>
            </a:lnRef>
            <a:fillRef idx="0">
              <a:schemeClr val="accent6"/>
            </a:fillRef>
            <a:effectRef idx="1">
              <a:schemeClr val="accent6"/>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32720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Oxidation and reduction in terms of electrons (HT)</a:t>
            </a:r>
            <a:endParaRPr lang="en-GB" sz="2400" b="1" dirty="0">
              <a:solidFill>
                <a:schemeClr val="accent6"/>
              </a:solidFill>
            </a:endParaRPr>
          </a:p>
        </p:txBody>
      </p:sp>
      <p:sp>
        <p:nvSpPr>
          <p:cNvPr id="3" name="TextBox 2">
            <a:extLst>
              <a:ext uri="{FF2B5EF4-FFF2-40B4-BE49-F238E27FC236}">
                <a16:creationId xmlns:a16="http://schemas.microsoft.com/office/drawing/2014/main" xmlns="" id="{069D24D6-BF3E-48D1-A1E3-FB8C618604DE}"/>
              </a:ext>
            </a:extLst>
          </p:cNvPr>
          <p:cNvSpPr txBox="1"/>
          <p:nvPr/>
        </p:nvSpPr>
        <p:spPr>
          <a:xfrm>
            <a:off x="-108520" y="804769"/>
            <a:ext cx="6065654" cy="2015936"/>
          </a:xfrm>
          <a:prstGeom prst="rect">
            <a:avLst/>
          </a:prstGeom>
          <a:noFill/>
        </p:spPr>
        <p:txBody>
          <a:bodyPr wrap="square" rtlCol="0">
            <a:spAutoFit/>
          </a:bodyPr>
          <a:lstStyle/>
          <a:p>
            <a:pPr algn="ctr"/>
            <a:endParaRPr lang="en-GB" dirty="0"/>
          </a:p>
          <a:p>
            <a:pPr algn="ctr"/>
            <a:r>
              <a:rPr lang="en-GB" sz="2000" dirty="0"/>
              <a:t>A </a:t>
            </a:r>
            <a:r>
              <a:rPr lang="en-GB" sz="2000" b="1" dirty="0"/>
              <a:t>more reactive metal can displace a less reactive metal </a:t>
            </a:r>
          </a:p>
          <a:p>
            <a:pPr algn="ctr"/>
            <a:r>
              <a:rPr lang="en-GB" sz="2000" b="1" dirty="0"/>
              <a:t>from its compound </a:t>
            </a:r>
            <a:r>
              <a:rPr lang="en-GB" sz="2000" dirty="0"/>
              <a:t>in </a:t>
            </a:r>
            <a:r>
              <a:rPr lang="en-GB" sz="2000" b="1" dirty="0"/>
              <a:t>displacement </a:t>
            </a:r>
            <a:r>
              <a:rPr lang="en-GB" sz="2000" b="1" dirty="0" smtClean="0"/>
              <a:t>reactions</a:t>
            </a:r>
            <a:r>
              <a:rPr lang="en-GB" sz="2000" dirty="0" smtClean="0"/>
              <a:t>.</a:t>
            </a:r>
          </a:p>
          <a:p>
            <a:pPr algn="ctr"/>
            <a:endParaRPr lang="en-GB" dirty="0" smtClean="0"/>
          </a:p>
          <a:p>
            <a:pPr algn="ctr"/>
            <a:r>
              <a:rPr lang="en-GB" sz="2000" b="1" dirty="0" smtClean="0"/>
              <a:t>Iron + copper(II) </a:t>
            </a:r>
            <a:r>
              <a:rPr lang="en-GB" sz="2000" b="1" dirty="0" err="1" smtClean="0"/>
              <a:t>sulfate</a:t>
            </a:r>
            <a:r>
              <a:rPr lang="en-GB" sz="2000" b="1" dirty="0" smtClean="0"/>
              <a:t> </a:t>
            </a:r>
            <a:r>
              <a:rPr lang="en-GB" sz="2000" b="1" dirty="0" smtClean="0">
                <a:sym typeface="Wingdings" panose="05000000000000000000" pitchFamily="2" charset="2"/>
              </a:rPr>
              <a:t> iron </a:t>
            </a:r>
            <a:r>
              <a:rPr lang="en-GB" sz="2000" b="1" dirty="0" err="1" smtClean="0">
                <a:sym typeface="Wingdings" panose="05000000000000000000" pitchFamily="2" charset="2"/>
              </a:rPr>
              <a:t>sulfate</a:t>
            </a:r>
            <a:r>
              <a:rPr lang="en-GB" sz="2000" b="1" dirty="0" smtClean="0">
                <a:sym typeface="Wingdings" panose="05000000000000000000" pitchFamily="2" charset="2"/>
              </a:rPr>
              <a:t> + copper</a:t>
            </a:r>
          </a:p>
          <a:p>
            <a:pPr algn="ctr"/>
            <a:endParaRPr lang="en-GB" sz="900" b="1" dirty="0">
              <a:sym typeface="Wingdings" panose="05000000000000000000" pitchFamily="2" charset="2"/>
            </a:endParaRPr>
          </a:p>
          <a:p>
            <a:r>
              <a:rPr lang="en-GB" sz="2000" b="1" dirty="0"/>
              <a:t>        </a:t>
            </a:r>
            <a:r>
              <a:rPr lang="en-GB" sz="2000" b="1" dirty="0" smtClean="0"/>
              <a:t>Fe(s</a:t>
            </a:r>
            <a:r>
              <a:rPr lang="en-GB" sz="2000" b="1" dirty="0"/>
              <a:t>) +       CuSO</a:t>
            </a:r>
            <a:r>
              <a:rPr lang="en-GB" sz="2000" b="1" baseline="-25000" dirty="0"/>
              <a:t>4</a:t>
            </a:r>
            <a:r>
              <a:rPr lang="en-GB" sz="2000" b="1" dirty="0"/>
              <a:t>(</a:t>
            </a:r>
            <a:r>
              <a:rPr lang="en-GB" sz="2000" b="1" dirty="0" err="1"/>
              <a:t>aq</a:t>
            </a:r>
            <a:r>
              <a:rPr lang="en-GB" sz="2000" b="1" dirty="0"/>
              <a:t>)       </a:t>
            </a:r>
            <a:r>
              <a:rPr lang="en-GB" sz="2000" b="1" dirty="0">
                <a:sym typeface="Wingdings" panose="05000000000000000000" pitchFamily="2" charset="2"/>
              </a:rPr>
              <a:t>  FeSO</a:t>
            </a:r>
            <a:r>
              <a:rPr lang="en-GB" sz="2000" b="1" baseline="-25000" dirty="0">
                <a:sym typeface="Wingdings" panose="05000000000000000000" pitchFamily="2" charset="2"/>
              </a:rPr>
              <a:t>4</a:t>
            </a:r>
            <a:r>
              <a:rPr lang="en-GB" sz="2000" b="1" dirty="0">
                <a:sym typeface="Wingdings" panose="05000000000000000000" pitchFamily="2" charset="2"/>
              </a:rPr>
              <a:t>(</a:t>
            </a:r>
            <a:r>
              <a:rPr lang="en-GB" sz="2000" b="1" dirty="0" err="1">
                <a:sym typeface="Wingdings" panose="05000000000000000000" pitchFamily="2" charset="2"/>
              </a:rPr>
              <a:t>aq</a:t>
            </a:r>
            <a:r>
              <a:rPr lang="en-GB" sz="2000" b="1" dirty="0">
                <a:sym typeface="Wingdings" panose="05000000000000000000" pitchFamily="2" charset="2"/>
              </a:rPr>
              <a:t>)   +   Cu(s)</a:t>
            </a:r>
          </a:p>
        </p:txBody>
      </p:sp>
      <p:sp>
        <p:nvSpPr>
          <p:cNvPr id="6" name="TextBox 5">
            <a:extLst>
              <a:ext uri="{FF2B5EF4-FFF2-40B4-BE49-F238E27FC236}">
                <a16:creationId xmlns:a16="http://schemas.microsoft.com/office/drawing/2014/main" xmlns="" id="{8431ED47-D869-4959-A00C-C375024EBBE6}"/>
              </a:ext>
            </a:extLst>
          </p:cNvPr>
          <p:cNvSpPr txBox="1"/>
          <p:nvPr/>
        </p:nvSpPr>
        <p:spPr>
          <a:xfrm>
            <a:off x="107504" y="3835654"/>
            <a:ext cx="8891628" cy="2523768"/>
          </a:xfrm>
          <a:prstGeom prst="rect">
            <a:avLst/>
          </a:prstGeom>
          <a:solidFill>
            <a:schemeClr val="bg1"/>
          </a:solidFill>
          <a:ln>
            <a:solidFill>
              <a:schemeClr val="accent6">
                <a:lumMod val="75000"/>
              </a:schemeClr>
            </a:solidFill>
          </a:ln>
        </p:spPr>
        <p:txBody>
          <a:bodyPr wrap="square" rtlCol="0">
            <a:spAutoFit/>
          </a:bodyPr>
          <a:lstStyle/>
          <a:p>
            <a:r>
              <a:rPr lang="en-GB" b="1" dirty="0">
                <a:sym typeface="Wingdings" panose="05000000000000000000" pitchFamily="2" charset="2"/>
              </a:rPr>
              <a:t>Higher:</a:t>
            </a:r>
          </a:p>
          <a:p>
            <a:pPr algn="ctr"/>
            <a:r>
              <a:rPr lang="en-GB" dirty="0">
                <a:sym typeface="Wingdings" panose="05000000000000000000" pitchFamily="2" charset="2"/>
              </a:rPr>
              <a:t>An </a:t>
            </a:r>
            <a:r>
              <a:rPr lang="en-GB" b="1" dirty="0">
                <a:sym typeface="Wingdings" panose="05000000000000000000" pitchFamily="2" charset="2"/>
              </a:rPr>
              <a:t>ionic equation</a:t>
            </a:r>
            <a:r>
              <a:rPr lang="en-GB" dirty="0">
                <a:sym typeface="Wingdings" panose="05000000000000000000" pitchFamily="2" charset="2"/>
              </a:rPr>
              <a:t> shows only the atoms and ions that change in a reaction:</a:t>
            </a:r>
          </a:p>
          <a:p>
            <a:pPr algn="ctr"/>
            <a:r>
              <a:rPr lang="en-GB" b="1" dirty="0"/>
              <a:t>Fe(s) + Cu</a:t>
            </a:r>
            <a:r>
              <a:rPr lang="en-GB" b="1" baseline="30000" dirty="0"/>
              <a:t>2+</a:t>
            </a:r>
            <a:r>
              <a:rPr lang="en-GB" b="1" dirty="0"/>
              <a:t>(</a:t>
            </a:r>
            <a:r>
              <a:rPr lang="en-GB" b="1" dirty="0" err="1"/>
              <a:t>aq</a:t>
            </a:r>
            <a:r>
              <a:rPr lang="en-GB" b="1" dirty="0"/>
              <a:t>) </a:t>
            </a:r>
            <a:r>
              <a:rPr lang="en-GB" b="1" dirty="0">
                <a:sym typeface="Wingdings" panose="05000000000000000000" pitchFamily="2" charset="2"/>
              </a:rPr>
              <a:t> Fe</a:t>
            </a:r>
            <a:r>
              <a:rPr lang="en-GB" b="1" baseline="30000" dirty="0">
                <a:sym typeface="Wingdings" panose="05000000000000000000" pitchFamily="2" charset="2"/>
              </a:rPr>
              <a:t>2+</a:t>
            </a:r>
            <a:r>
              <a:rPr lang="en-GB" b="1" dirty="0">
                <a:sym typeface="Wingdings" panose="05000000000000000000" pitchFamily="2" charset="2"/>
              </a:rPr>
              <a:t>(</a:t>
            </a:r>
            <a:r>
              <a:rPr lang="en-GB" b="1" dirty="0" err="1">
                <a:sym typeface="Wingdings" panose="05000000000000000000" pitchFamily="2" charset="2"/>
              </a:rPr>
              <a:t>aq</a:t>
            </a:r>
            <a:r>
              <a:rPr lang="en-GB" b="1" dirty="0">
                <a:sym typeface="Wingdings" panose="05000000000000000000" pitchFamily="2" charset="2"/>
              </a:rPr>
              <a:t>) + Cu(s)</a:t>
            </a:r>
          </a:p>
          <a:p>
            <a:pPr algn="ctr"/>
            <a:endParaRPr lang="en-GB" sz="800" b="1" dirty="0">
              <a:sym typeface="Wingdings" panose="05000000000000000000" pitchFamily="2" charset="2"/>
            </a:endParaRPr>
          </a:p>
          <a:p>
            <a:r>
              <a:rPr lang="en-GB" b="1" dirty="0">
                <a:sym typeface="Wingdings" panose="05000000000000000000" pitchFamily="2" charset="2"/>
              </a:rPr>
              <a:t>Half equations </a:t>
            </a:r>
            <a:r>
              <a:rPr lang="en-GB" dirty="0">
                <a:sym typeface="Wingdings" panose="05000000000000000000" pitchFamily="2" charset="2"/>
              </a:rPr>
              <a:t>show what happens to each reactant:</a:t>
            </a:r>
          </a:p>
          <a:p>
            <a:endParaRPr lang="en-GB" b="1" dirty="0"/>
          </a:p>
          <a:p>
            <a:r>
              <a:rPr lang="en-GB" b="1" dirty="0"/>
              <a:t>Fe</a:t>
            </a:r>
            <a:r>
              <a:rPr lang="en-GB" b="1" baseline="30000" dirty="0"/>
              <a:t> </a:t>
            </a:r>
            <a:r>
              <a:rPr lang="en-GB" b="1" dirty="0">
                <a:sym typeface="Wingdings" panose="05000000000000000000" pitchFamily="2" charset="2"/>
              </a:rPr>
              <a:t> Fe</a:t>
            </a:r>
            <a:r>
              <a:rPr lang="en-GB" b="1" baseline="30000" dirty="0"/>
              <a:t> 2+</a:t>
            </a:r>
            <a:r>
              <a:rPr lang="en-GB" b="1" baseline="-25000" dirty="0">
                <a:sym typeface="Wingdings" panose="05000000000000000000" pitchFamily="2" charset="2"/>
              </a:rPr>
              <a:t> </a:t>
            </a:r>
            <a:r>
              <a:rPr lang="en-GB" b="1" dirty="0">
                <a:sym typeface="Wingdings" panose="05000000000000000000" pitchFamily="2" charset="2"/>
              </a:rPr>
              <a:t>+ 2e </a:t>
            </a:r>
            <a:r>
              <a:rPr lang="en-GB" b="1" baseline="30000" dirty="0">
                <a:sym typeface="Wingdings" panose="05000000000000000000" pitchFamily="2" charset="2"/>
              </a:rPr>
              <a:t>–	</a:t>
            </a:r>
          </a:p>
          <a:p>
            <a:endParaRPr lang="en-GB" b="1" baseline="30000" dirty="0">
              <a:sym typeface="Wingdings" panose="05000000000000000000" pitchFamily="2" charset="2"/>
            </a:endParaRPr>
          </a:p>
          <a:p>
            <a:r>
              <a:rPr lang="en-GB" b="1" dirty="0">
                <a:sym typeface="Wingdings" panose="05000000000000000000" pitchFamily="2" charset="2"/>
              </a:rPr>
              <a:t>Cu</a:t>
            </a:r>
            <a:r>
              <a:rPr lang="en-GB" b="1" baseline="30000" dirty="0"/>
              <a:t> 2+</a:t>
            </a:r>
            <a:r>
              <a:rPr lang="en-GB" b="1" baseline="-25000" dirty="0">
                <a:sym typeface="Wingdings" panose="05000000000000000000" pitchFamily="2" charset="2"/>
              </a:rPr>
              <a:t> </a:t>
            </a:r>
            <a:r>
              <a:rPr lang="en-GB" b="1" dirty="0">
                <a:sym typeface="Wingdings" panose="05000000000000000000" pitchFamily="2" charset="2"/>
              </a:rPr>
              <a:t>+ 2e </a:t>
            </a:r>
            <a:r>
              <a:rPr lang="en-GB" b="1" baseline="30000" dirty="0">
                <a:sym typeface="Wingdings" panose="05000000000000000000" pitchFamily="2" charset="2"/>
              </a:rPr>
              <a:t>–</a:t>
            </a:r>
            <a:r>
              <a:rPr lang="en-GB" b="1" baseline="30000" dirty="0"/>
              <a:t> </a:t>
            </a:r>
            <a:r>
              <a:rPr lang="en-GB" b="1" dirty="0">
                <a:sym typeface="Wingdings" panose="05000000000000000000" pitchFamily="2" charset="2"/>
              </a:rPr>
              <a:t> Cu</a:t>
            </a:r>
          </a:p>
          <a:p>
            <a:endParaRPr lang="en-GB" b="1" baseline="30000" dirty="0">
              <a:sym typeface="Wingdings" panose="05000000000000000000" pitchFamily="2" charset="2"/>
            </a:endParaRPr>
          </a:p>
        </p:txBody>
      </p:sp>
      <p:sp>
        <p:nvSpPr>
          <p:cNvPr id="8" name="TextBox 7">
            <a:extLst>
              <a:ext uri="{FF2B5EF4-FFF2-40B4-BE49-F238E27FC236}">
                <a16:creationId xmlns:a16="http://schemas.microsoft.com/office/drawing/2014/main" xmlns="" id="{FC6290AE-EBED-4294-99C5-FE3860BA180F}"/>
              </a:ext>
            </a:extLst>
          </p:cNvPr>
          <p:cNvSpPr txBox="1"/>
          <p:nvPr/>
        </p:nvSpPr>
        <p:spPr>
          <a:xfrm>
            <a:off x="1907704" y="5229200"/>
            <a:ext cx="6912768" cy="1046440"/>
          </a:xfrm>
          <a:prstGeom prst="rect">
            <a:avLst/>
          </a:prstGeom>
          <a:noFill/>
        </p:spPr>
        <p:txBody>
          <a:bodyPr wrap="square" rtlCol="0">
            <a:spAutoFit/>
          </a:bodyPr>
          <a:lstStyle/>
          <a:p>
            <a:r>
              <a:rPr lang="en-GB" i="1" dirty="0"/>
              <a:t>The iron atoms  are </a:t>
            </a:r>
            <a:r>
              <a:rPr lang="en-GB" b="1" i="1" dirty="0">
                <a:solidFill>
                  <a:schemeClr val="accent6">
                    <a:lumMod val="75000"/>
                  </a:schemeClr>
                </a:solidFill>
              </a:rPr>
              <a:t>oxidised</a:t>
            </a:r>
            <a:r>
              <a:rPr lang="en-GB" i="1" dirty="0"/>
              <a:t> (lose 2 electrons) to form </a:t>
            </a:r>
            <a:r>
              <a:rPr lang="en-GB" b="1" i="1" dirty="0">
                <a:solidFill>
                  <a:schemeClr val="accent6">
                    <a:lumMod val="75000"/>
                  </a:schemeClr>
                </a:solidFill>
              </a:rPr>
              <a:t>ions</a:t>
            </a:r>
            <a:r>
              <a:rPr lang="en-GB" i="1" dirty="0"/>
              <a:t>.</a:t>
            </a:r>
          </a:p>
          <a:p>
            <a:endParaRPr lang="en-GB" sz="800" i="1" dirty="0"/>
          </a:p>
          <a:p>
            <a:r>
              <a:rPr lang="en-GB" i="1" dirty="0"/>
              <a:t>The 2 </a:t>
            </a:r>
            <a:r>
              <a:rPr lang="en-GB" b="1" i="1" dirty="0">
                <a:solidFill>
                  <a:schemeClr val="accent6">
                    <a:lumMod val="75000"/>
                  </a:schemeClr>
                </a:solidFill>
              </a:rPr>
              <a:t>electrons</a:t>
            </a:r>
            <a:r>
              <a:rPr lang="en-GB" i="1" dirty="0"/>
              <a:t> from the iron are </a:t>
            </a:r>
            <a:r>
              <a:rPr lang="en-GB" b="1" i="1" dirty="0">
                <a:solidFill>
                  <a:schemeClr val="accent6">
                    <a:lumMod val="75000"/>
                  </a:schemeClr>
                </a:solidFill>
              </a:rPr>
              <a:t>gained</a:t>
            </a:r>
            <a:r>
              <a:rPr lang="en-GB" i="1" dirty="0"/>
              <a:t> (</a:t>
            </a:r>
            <a:r>
              <a:rPr lang="en-GB" b="1" i="1" dirty="0">
                <a:solidFill>
                  <a:schemeClr val="accent6">
                    <a:lumMod val="75000"/>
                  </a:schemeClr>
                </a:solidFill>
              </a:rPr>
              <a:t>reduction</a:t>
            </a:r>
            <a:r>
              <a:rPr lang="en-GB" i="1" dirty="0" smtClean="0"/>
              <a:t>) by </a:t>
            </a:r>
            <a:r>
              <a:rPr lang="en-GB" i="1" dirty="0"/>
              <a:t>copper ions as they become </a:t>
            </a:r>
            <a:r>
              <a:rPr lang="en-GB" b="1" i="1" dirty="0">
                <a:solidFill>
                  <a:schemeClr val="accent6">
                    <a:lumMod val="75000"/>
                  </a:schemeClr>
                </a:solidFill>
              </a:rPr>
              <a:t>atoms</a:t>
            </a:r>
            <a:r>
              <a:rPr lang="en-GB" i="1" dirty="0"/>
              <a:t>.</a:t>
            </a:r>
          </a:p>
        </p:txBody>
      </p:sp>
      <p:sp>
        <p:nvSpPr>
          <p:cNvPr id="9" name="TextBox 8">
            <a:extLst>
              <a:ext uri="{FF2B5EF4-FFF2-40B4-BE49-F238E27FC236}">
                <a16:creationId xmlns:a16="http://schemas.microsoft.com/office/drawing/2014/main" xmlns="" id="{B09A7BC1-4702-4AB1-BDB2-1407D6A5B8A0}"/>
              </a:ext>
            </a:extLst>
          </p:cNvPr>
          <p:cNvSpPr txBox="1"/>
          <p:nvPr/>
        </p:nvSpPr>
        <p:spPr>
          <a:xfrm>
            <a:off x="5957134" y="569206"/>
            <a:ext cx="3041998" cy="3139321"/>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r>
              <a:rPr lang="en-GB" b="1" dirty="0">
                <a:sym typeface="Wingdings" panose="05000000000000000000" pitchFamily="2" charset="2"/>
              </a:rPr>
              <a:t>Higher:</a:t>
            </a:r>
          </a:p>
          <a:p>
            <a:pPr algn="ctr"/>
            <a:r>
              <a:rPr lang="en-GB" sz="6600" b="1" dirty="0">
                <a:solidFill>
                  <a:schemeClr val="accent6">
                    <a:lumMod val="75000"/>
                  </a:schemeClr>
                </a:solidFill>
                <a:effectLst>
                  <a:outerShdw blurRad="38100" dist="38100" dir="2700000" algn="tl">
                    <a:srgbClr val="000000">
                      <a:alpha val="43137"/>
                    </a:srgbClr>
                  </a:outerShdw>
                </a:effectLst>
              </a:rPr>
              <a:t>OILRIG</a:t>
            </a:r>
          </a:p>
          <a:p>
            <a:pPr algn="ctr"/>
            <a:r>
              <a:rPr lang="en-GB" b="1" dirty="0"/>
              <a:t>O</a:t>
            </a:r>
            <a:r>
              <a:rPr lang="en-GB" dirty="0"/>
              <a:t>xidation </a:t>
            </a:r>
            <a:r>
              <a:rPr lang="en-GB" b="1" dirty="0"/>
              <a:t>I</a:t>
            </a:r>
            <a:r>
              <a:rPr lang="en-GB" dirty="0"/>
              <a:t>s </a:t>
            </a:r>
            <a:r>
              <a:rPr lang="en-GB" b="1" dirty="0"/>
              <a:t>L</a:t>
            </a:r>
            <a:r>
              <a:rPr lang="en-GB" dirty="0"/>
              <a:t>oss of electrons</a:t>
            </a:r>
          </a:p>
          <a:p>
            <a:pPr algn="ctr"/>
            <a:r>
              <a:rPr lang="en-GB" b="1" dirty="0"/>
              <a:t>R</a:t>
            </a:r>
            <a:r>
              <a:rPr lang="en-GB" dirty="0"/>
              <a:t>eduction </a:t>
            </a:r>
            <a:r>
              <a:rPr lang="en-GB" b="1" dirty="0"/>
              <a:t>I</a:t>
            </a:r>
            <a:r>
              <a:rPr lang="en-GB" dirty="0"/>
              <a:t>s </a:t>
            </a:r>
            <a:r>
              <a:rPr lang="en-GB" b="1" dirty="0"/>
              <a:t>G</a:t>
            </a:r>
            <a:r>
              <a:rPr lang="en-GB" dirty="0"/>
              <a:t>ain of electrons</a:t>
            </a:r>
          </a:p>
          <a:p>
            <a:pPr algn="ctr"/>
            <a:endParaRPr lang="en-GB" dirty="0"/>
          </a:p>
          <a:p>
            <a:pPr algn="ctr"/>
            <a:r>
              <a:rPr lang="en-GB" dirty="0"/>
              <a:t>When reactions involve </a:t>
            </a:r>
            <a:r>
              <a:rPr lang="en-GB" b="1" dirty="0"/>
              <a:t>oxidation and reduction</a:t>
            </a:r>
            <a:r>
              <a:rPr lang="en-GB" dirty="0"/>
              <a:t>, they are known as </a:t>
            </a:r>
            <a:r>
              <a:rPr lang="en-GB" b="1" dirty="0">
                <a:solidFill>
                  <a:schemeClr val="accent6">
                    <a:lumMod val="75000"/>
                  </a:schemeClr>
                </a:solidFill>
              </a:rPr>
              <a:t>redox reactions</a:t>
            </a:r>
          </a:p>
        </p:txBody>
      </p:sp>
    </p:spTree>
    <p:extLst>
      <p:ext uri="{BB962C8B-B14F-4D97-AF65-F5344CB8AC3E}">
        <p14:creationId xmlns:p14="http://schemas.microsoft.com/office/powerpoint/2010/main" val="1948974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770537"/>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Extracting metals</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The reactivity series</a:t>
            </a:r>
          </a:p>
          <a:p>
            <a:pPr marL="685800" lvl="1" indent="-342900">
              <a:buFont typeface="Arial" charset="0"/>
              <a:buChar char="•"/>
            </a:pPr>
            <a:r>
              <a:rPr lang="en-US" sz="2400" b="1" dirty="0">
                <a:solidFill>
                  <a:schemeClr val="bg1">
                    <a:lumMod val="50000"/>
                  </a:schemeClr>
                </a:solidFill>
              </a:rPr>
              <a:t>Metals oxides</a:t>
            </a:r>
          </a:p>
          <a:p>
            <a:pPr marL="685800" lvl="1" indent="-342900">
              <a:buFont typeface="Arial" charset="0"/>
              <a:buChar char="•"/>
            </a:pPr>
            <a:r>
              <a:rPr lang="en-US" sz="2400" b="1" dirty="0">
                <a:solidFill>
                  <a:schemeClr val="bg1">
                    <a:lumMod val="50000"/>
                  </a:schemeClr>
                </a:solidFill>
              </a:rPr>
              <a:t>Extracting metals by </a:t>
            </a:r>
          </a:p>
          <a:p>
            <a:pPr marL="342900" lvl="1"/>
            <a:r>
              <a:rPr lang="en-US" sz="2400" b="1" dirty="0">
                <a:solidFill>
                  <a:schemeClr val="bg1">
                    <a:lumMod val="50000"/>
                  </a:schemeClr>
                </a:solidFill>
              </a:rPr>
              <a:t>     reduction</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2078222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526297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What is an ore?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What is produced when metals react with oxygen?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What is this process called and why?</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What is reduction in terms of oxygen?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What type of ions do metals produce?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Which is more reactive potassium or iron?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Which two non-metals can be included in the reactivity series?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smtClean="0">
              <a:solidFill>
                <a:prstClr val="black"/>
              </a:solidFill>
              <a:latin typeface="Calibri"/>
            </a:endParaRPr>
          </a:p>
        </p:txBody>
      </p:sp>
    </p:spTree>
    <p:extLst>
      <p:ext uri="{BB962C8B-B14F-4D97-AF65-F5344CB8AC3E}">
        <p14:creationId xmlns:p14="http://schemas.microsoft.com/office/powerpoint/2010/main" val="2561519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452431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smtClean="0">
                <a:solidFill>
                  <a:prstClr val="black"/>
                </a:solidFill>
                <a:latin typeface="Calibri"/>
              </a:rPr>
              <a:t>Why is gold found as an element in the Earth?</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smtClean="0">
                <a:solidFill>
                  <a:prstClr val="black"/>
                </a:solidFill>
                <a:latin typeface="Calibri"/>
              </a:rPr>
              <a:t>How are metals, less reactive than carbon, extracted from their ores?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smtClean="0">
                <a:solidFill>
                  <a:prstClr val="black"/>
                </a:solidFill>
                <a:latin typeface="Calibri"/>
              </a:rPr>
              <a:t>HT: Describe oxidation in terms of electrons.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smtClean="0">
                <a:solidFill>
                  <a:prstClr val="black"/>
                </a:solidFill>
                <a:latin typeface="Calibri"/>
              </a:rPr>
              <a:t>HT: Describe reduction in terms of electrons.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smtClean="0">
                <a:solidFill>
                  <a:prstClr val="black"/>
                </a:solidFill>
                <a:latin typeface="Calibri"/>
              </a:rPr>
              <a:t>Write the word equation for the reaction between lithium and water.</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endParaRPr lang="en-GB" sz="2400" dirty="0" smtClean="0">
              <a:solidFill>
                <a:prstClr val="black"/>
              </a:solidFill>
              <a:latin typeface="Calibri"/>
            </a:endParaRPr>
          </a:p>
        </p:txBody>
      </p:sp>
    </p:spTree>
    <p:extLst>
      <p:ext uri="{BB962C8B-B14F-4D97-AF65-F5344CB8AC3E}">
        <p14:creationId xmlns:p14="http://schemas.microsoft.com/office/powerpoint/2010/main" val="1961566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770537"/>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Extracting metals</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The reactivity series</a:t>
            </a:r>
          </a:p>
          <a:p>
            <a:pPr marL="685800" lvl="1" indent="-342900">
              <a:buFont typeface="Arial" charset="0"/>
              <a:buChar char="•"/>
            </a:pPr>
            <a:r>
              <a:rPr lang="en-US" sz="2400" b="1" dirty="0">
                <a:solidFill>
                  <a:schemeClr val="bg1">
                    <a:lumMod val="50000"/>
                  </a:schemeClr>
                </a:solidFill>
              </a:rPr>
              <a:t>Metals oxides</a:t>
            </a:r>
          </a:p>
          <a:p>
            <a:pPr marL="685800" lvl="1" indent="-342900">
              <a:buFont typeface="Arial" charset="0"/>
              <a:buChar char="•"/>
            </a:pPr>
            <a:r>
              <a:rPr lang="en-US" sz="2400" b="1" dirty="0">
                <a:solidFill>
                  <a:schemeClr val="bg1">
                    <a:lumMod val="50000"/>
                  </a:schemeClr>
                </a:solidFill>
              </a:rPr>
              <a:t>Extracting metals by </a:t>
            </a:r>
          </a:p>
          <a:p>
            <a:pPr marL="342900" lvl="1"/>
            <a:r>
              <a:rPr lang="en-US" sz="2400" b="1" dirty="0">
                <a:solidFill>
                  <a:schemeClr val="bg1">
                    <a:lumMod val="50000"/>
                  </a:schemeClr>
                </a:solidFill>
              </a:rPr>
              <a:t>     reduction</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469729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526297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What is an ore?</a:t>
            </a:r>
          </a:p>
          <a:p>
            <a:pPr lvl="1">
              <a:defRPr/>
            </a:pPr>
            <a:r>
              <a:rPr lang="en-GB" sz="2400" b="1" dirty="0" smtClean="0">
                <a:solidFill>
                  <a:srgbClr val="00B050"/>
                </a:solidFill>
              </a:rPr>
              <a:t>Metal compound in a rock.</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What is produced when metals react with oxygen?</a:t>
            </a:r>
          </a:p>
          <a:p>
            <a:pPr lvl="1">
              <a:defRPr/>
            </a:pPr>
            <a:r>
              <a:rPr lang="en-GB" sz="2400" b="1" dirty="0" smtClean="0">
                <a:solidFill>
                  <a:srgbClr val="00B050"/>
                </a:solidFill>
              </a:rPr>
              <a:t>Metal oxide.</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What is this process called and why?</a:t>
            </a:r>
          </a:p>
          <a:p>
            <a:pPr lvl="1">
              <a:defRPr/>
            </a:pPr>
            <a:r>
              <a:rPr lang="en-GB" sz="2400" b="1" dirty="0" smtClean="0">
                <a:solidFill>
                  <a:srgbClr val="00B050"/>
                </a:solidFill>
              </a:rPr>
              <a:t>Oxidation, gain of oxygen.</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What is reduction in terms of oxygen?</a:t>
            </a:r>
          </a:p>
          <a:p>
            <a:pPr lvl="1">
              <a:defRPr/>
            </a:pPr>
            <a:r>
              <a:rPr lang="en-GB" sz="2400" b="1" dirty="0" smtClean="0">
                <a:solidFill>
                  <a:srgbClr val="00B050"/>
                </a:solidFill>
              </a:rPr>
              <a:t>Loss of oxygen.</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What type of ions do metals produce?</a:t>
            </a:r>
          </a:p>
          <a:p>
            <a:pPr lvl="1">
              <a:defRPr/>
            </a:pPr>
            <a:r>
              <a:rPr lang="en-GB" sz="2400" b="1" dirty="0" smtClean="0">
                <a:solidFill>
                  <a:srgbClr val="00B050"/>
                </a:solidFill>
              </a:rPr>
              <a:t>Positive.</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Which is more reactive potassium or iron?</a:t>
            </a:r>
          </a:p>
          <a:p>
            <a:pPr lvl="1">
              <a:defRPr/>
            </a:pPr>
            <a:r>
              <a:rPr lang="en-GB" sz="2400" b="1" dirty="0" smtClean="0">
                <a:solidFill>
                  <a:srgbClr val="00B050"/>
                </a:solidFill>
              </a:rPr>
              <a:t>Potassium.</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Which two non-metals can be included in the reactivity series?</a:t>
            </a:r>
          </a:p>
          <a:p>
            <a:pPr lvl="1">
              <a:defRPr/>
            </a:pPr>
            <a:r>
              <a:rPr lang="en-GB" sz="2400" b="1" dirty="0">
                <a:solidFill>
                  <a:srgbClr val="00B050"/>
                </a:solidFill>
              </a:rPr>
              <a:t>Carbon </a:t>
            </a:r>
            <a:r>
              <a:rPr lang="en-GB" sz="2400" b="1" dirty="0" smtClean="0">
                <a:solidFill>
                  <a:srgbClr val="00B050"/>
                </a:solidFill>
              </a:rPr>
              <a:t>and hydrogen.</a:t>
            </a:r>
            <a:endParaRPr lang="en-GB" sz="2400" dirty="0" smtClean="0">
              <a:solidFill>
                <a:prstClr val="black"/>
              </a:solidFill>
              <a:latin typeface="Calibri"/>
            </a:endParaRPr>
          </a:p>
        </p:txBody>
      </p:sp>
    </p:spTree>
    <p:extLst>
      <p:ext uri="{BB962C8B-B14F-4D97-AF65-F5344CB8AC3E}">
        <p14:creationId xmlns:p14="http://schemas.microsoft.com/office/powerpoint/2010/main" val="2101331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4893647"/>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smtClean="0">
                <a:solidFill>
                  <a:prstClr val="black"/>
                </a:solidFill>
                <a:latin typeface="Calibri"/>
              </a:rPr>
              <a:t>Why is gold found as an element in the Earth?</a:t>
            </a:r>
          </a:p>
          <a:p>
            <a:pPr lvl="1">
              <a:defRPr/>
            </a:pPr>
            <a:r>
              <a:rPr lang="en-GB" sz="2400" b="1" dirty="0" smtClean="0">
                <a:solidFill>
                  <a:srgbClr val="00B050"/>
                </a:solidFill>
              </a:rPr>
              <a:t>Unreactive metal.</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smtClean="0">
                <a:solidFill>
                  <a:prstClr val="black"/>
                </a:solidFill>
                <a:latin typeface="Calibri"/>
              </a:rPr>
              <a:t>How are metals, less reactive than carbon, extracted from their ores?</a:t>
            </a:r>
          </a:p>
          <a:p>
            <a:pPr lvl="1">
              <a:defRPr/>
            </a:pPr>
            <a:r>
              <a:rPr lang="en-GB" sz="2400" b="1" dirty="0" smtClean="0">
                <a:solidFill>
                  <a:srgbClr val="00B050"/>
                </a:solidFill>
              </a:rPr>
              <a:t>Reduction with carbon.</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smtClean="0">
                <a:solidFill>
                  <a:prstClr val="black"/>
                </a:solidFill>
                <a:latin typeface="Calibri"/>
              </a:rPr>
              <a:t>HT: Describe oxidation in terms of electrons.</a:t>
            </a:r>
          </a:p>
          <a:p>
            <a:pPr lvl="1">
              <a:defRPr/>
            </a:pPr>
            <a:r>
              <a:rPr lang="en-GB" sz="2400" b="1" dirty="0" smtClean="0">
                <a:solidFill>
                  <a:srgbClr val="00B050"/>
                </a:solidFill>
              </a:rPr>
              <a:t>OIL – loss of electrons</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smtClean="0">
                <a:solidFill>
                  <a:prstClr val="black"/>
                </a:solidFill>
                <a:latin typeface="Calibri"/>
              </a:rPr>
              <a:t>HT: Describe reduction in terms of electrons.</a:t>
            </a:r>
          </a:p>
          <a:p>
            <a:pPr lvl="1">
              <a:defRPr/>
            </a:pPr>
            <a:r>
              <a:rPr lang="en-GB" sz="2400" b="1" dirty="0" smtClean="0">
                <a:solidFill>
                  <a:srgbClr val="00B050"/>
                </a:solidFill>
              </a:rPr>
              <a:t>RIG – gain of electrons</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smtClean="0">
                <a:solidFill>
                  <a:prstClr val="black"/>
                </a:solidFill>
                <a:latin typeface="Calibri"/>
              </a:rPr>
              <a:t>Write the word equation for the reaction between lithium and water.</a:t>
            </a:r>
          </a:p>
          <a:p>
            <a:pPr lvl="1">
              <a:defRPr/>
            </a:pPr>
            <a:r>
              <a:rPr lang="en-GB" sz="2400" b="1" dirty="0">
                <a:solidFill>
                  <a:srgbClr val="00B050"/>
                </a:solidFill>
              </a:rPr>
              <a:t>lithium + water → lithium hydroxide + hydrogen </a:t>
            </a:r>
          </a:p>
          <a:p>
            <a:pPr lvl="1">
              <a:defRPr/>
            </a:pPr>
            <a:endParaRPr lang="en-GB" sz="2400" dirty="0" smtClean="0">
              <a:solidFill>
                <a:prstClr val="black"/>
              </a:solidFill>
              <a:latin typeface="Calibri"/>
            </a:endParaRPr>
          </a:p>
        </p:txBody>
      </p:sp>
    </p:spTree>
    <p:extLst>
      <p:ext uri="{BB962C8B-B14F-4D97-AF65-F5344CB8AC3E}">
        <p14:creationId xmlns:p14="http://schemas.microsoft.com/office/powerpoint/2010/main" val="2349536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Extracting metals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3785652"/>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8"/>
              <a:tabLst/>
              <a:defRPr/>
            </a:pPr>
            <a:r>
              <a:rPr lang="en-GB" sz="2400" dirty="0" smtClean="0">
                <a:solidFill>
                  <a:prstClr val="black"/>
                </a:solidFill>
                <a:latin typeface="Calibri"/>
              </a:rPr>
              <a:t>Write the balanced symbol equation for the reaction between lithium and water.</a:t>
            </a:r>
            <a:endParaRPr lang="en-GB" sz="2400" dirty="0">
              <a:solidFill>
                <a:prstClr val="black"/>
              </a:solidFill>
              <a:latin typeface="Calibri"/>
            </a:endParaRPr>
          </a:p>
          <a:p>
            <a:pPr lvl="1">
              <a:defRPr/>
            </a:pPr>
            <a:r>
              <a:rPr lang="pt-BR" sz="2400" b="1" dirty="0">
                <a:solidFill>
                  <a:srgbClr val="00B050"/>
                </a:solidFill>
              </a:rPr>
              <a:t>2Li(s) + 2H</a:t>
            </a:r>
            <a:r>
              <a:rPr lang="pt-BR" sz="2400" b="1" baseline="-25000" dirty="0">
                <a:solidFill>
                  <a:srgbClr val="00B050"/>
                </a:solidFill>
              </a:rPr>
              <a:t>2</a:t>
            </a:r>
            <a:r>
              <a:rPr lang="pt-BR" sz="2400" b="1" dirty="0">
                <a:solidFill>
                  <a:srgbClr val="00B050"/>
                </a:solidFill>
              </a:rPr>
              <a:t>O(l) → 2LiOH(aq) + H</a:t>
            </a:r>
            <a:r>
              <a:rPr lang="pt-BR" sz="2400" b="1" baseline="-25000" dirty="0">
                <a:solidFill>
                  <a:srgbClr val="00B050"/>
                </a:solidFill>
              </a:rPr>
              <a:t>2</a:t>
            </a:r>
            <a:r>
              <a:rPr lang="pt-BR" sz="2400" b="1" dirty="0">
                <a:solidFill>
                  <a:srgbClr val="00B050"/>
                </a:solidFill>
              </a:rPr>
              <a:t>(g)</a:t>
            </a:r>
          </a:p>
          <a:p>
            <a:pPr lvl="1">
              <a:defRPr/>
            </a:pPr>
            <a:endParaRPr lang="en-GB" sz="2400" dirty="0" smtClean="0">
              <a:solidFill>
                <a:prstClr val="black"/>
              </a:solidFill>
              <a:latin typeface="Calibri"/>
            </a:endParaRPr>
          </a:p>
          <a:p>
            <a:pPr marL="457200" lvl="0" indent="-457200">
              <a:buFont typeface="+mj-lt"/>
              <a:buAutoNum type="arabicPeriod" startAt="8"/>
              <a:defRPr/>
            </a:pPr>
            <a:r>
              <a:rPr lang="en-GB" sz="2400" dirty="0"/>
              <a:t>HT: Zinc can be extracted from zinc oxide by heating it with carbon in the blast furnace.  Carbon monoxide is also produced.  Which reactant is:</a:t>
            </a:r>
          </a:p>
          <a:p>
            <a:pPr lvl="0">
              <a:defRPr/>
            </a:pPr>
            <a:r>
              <a:rPr lang="en-GB" sz="2400" dirty="0" smtClean="0"/>
              <a:t>       </a:t>
            </a:r>
            <a:r>
              <a:rPr lang="en-GB" sz="2400" dirty="0"/>
              <a:t>a) Oxidised? </a:t>
            </a:r>
            <a:r>
              <a:rPr lang="en-GB" sz="2400" b="1" dirty="0">
                <a:solidFill>
                  <a:srgbClr val="00B050"/>
                </a:solidFill>
              </a:rPr>
              <a:t>Carbon </a:t>
            </a:r>
            <a:r>
              <a:rPr lang="en-GB" sz="2400" dirty="0" smtClean="0"/>
              <a:t>       </a:t>
            </a:r>
          </a:p>
          <a:p>
            <a:pPr lvl="0">
              <a:defRPr/>
            </a:pPr>
            <a:r>
              <a:rPr lang="en-GB" sz="2400" dirty="0"/>
              <a:t> </a:t>
            </a:r>
            <a:r>
              <a:rPr lang="en-GB" sz="2400" dirty="0" smtClean="0"/>
              <a:t>      b</a:t>
            </a:r>
            <a:r>
              <a:rPr lang="en-GB" sz="2400" dirty="0"/>
              <a:t>) Reduced? </a:t>
            </a:r>
            <a:r>
              <a:rPr lang="en-GB" sz="2400" b="1" dirty="0" smtClean="0">
                <a:solidFill>
                  <a:srgbClr val="00B050"/>
                </a:solidFill>
              </a:rPr>
              <a:t>Zinc oxide</a:t>
            </a:r>
            <a:endParaRPr lang="en-GB" sz="2400" b="1" dirty="0">
              <a:solidFill>
                <a:srgbClr val="00B050"/>
              </a:solidFill>
            </a:endParaRPr>
          </a:p>
        </p:txBody>
      </p:sp>
    </p:spTree>
    <p:extLst>
      <p:ext uri="{BB962C8B-B14F-4D97-AF65-F5344CB8AC3E}">
        <p14:creationId xmlns:p14="http://schemas.microsoft.com/office/powerpoint/2010/main" val="1532982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509200"/>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Reactions of acids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smtClean="0">
                <a:solidFill>
                  <a:schemeClr val="bg1">
                    <a:lumMod val="50000"/>
                  </a:schemeClr>
                </a:solidFill>
              </a:rPr>
              <a:t>Acids and metals</a:t>
            </a:r>
          </a:p>
          <a:p>
            <a:pPr marL="685800" lvl="1" indent="-342900">
              <a:buFont typeface="Arial" charset="0"/>
              <a:buChar char="•"/>
            </a:pPr>
            <a:r>
              <a:rPr lang="en-US" sz="2400" b="1" dirty="0" err="1" smtClean="0">
                <a:solidFill>
                  <a:schemeClr val="bg1">
                    <a:lumMod val="50000"/>
                  </a:schemeClr>
                </a:solidFill>
              </a:rPr>
              <a:t>Neutralisation</a:t>
            </a:r>
            <a:r>
              <a:rPr lang="en-US" sz="2400" b="1" dirty="0" smtClean="0">
                <a:solidFill>
                  <a:schemeClr val="bg1">
                    <a:lumMod val="50000"/>
                  </a:schemeClr>
                </a:solidFill>
              </a:rPr>
              <a:t> of acids</a:t>
            </a:r>
          </a:p>
          <a:p>
            <a:pPr marL="685800" lvl="1" indent="-342900">
              <a:buFont typeface="Arial" charset="0"/>
              <a:buChar char="•"/>
            </a:pPr>
            <a:r>
              <a:rPr lang="en-US" sz="2400" b="1" dirty="0" smtClean="0">
                <a:solidFill>
                  <a:schemeClr val="bg1">
                    <a:lumMod val="50000"/>
                  </a:schemeClr>
                </a:solidFill>
              </a:rPr>
              <a:t>Soluble salts</a:t>
            </a:r>
            <a:endParaRPr lang="en-US" sz="2400" b="1" dirty="0">
              <a:solidFill>
                <a:schemeClr val="bg1">
                  <a:lumMod val="50000"/>
                </a:schemeClr>
              </a:solidFill>
            </a:endParaRPr>
          </a:p>
          <a:p>
            <a:endParaRPr lang="en-GB" dirty="0"/>
          </a:p>
        </p:txBody>
      </p:sp>
    </p:spTree>
    <p:extLst>
      <p:ext uri="{BB962C8B-B14F-4D97-AF65-F5344CB8AC3E}">
        <p14:creationId xmlns:p14="http://schemas.microsoft.com/office/powerpoint/2010/main" val="562327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251520" y="718374"/>
            <a:ext cx="8640960" cy="2600712"/>
          </a:xfrm>
          <a:prstGeom prst="rect">
            <a:avLst/>
          </a:prstGeom>
          <a:noFill/>
          <a:effectLst/>
        </p:spPr>
        <p:txBody>
          <a:bodyPr wrap="square" rtlCol="0">
            <a:spAutoFit/>
          </a:bodyPr>
          <a:lstStyle/>
          <a:p>
            <a:pPr algn="ctr"/>
            <a:r>
              <a:rPr lang="en-GB" sz="2000" b="1" dirty="0"/>
              <a:t>Acids</a:t>
            </a:r>
            <a:r>
              <a:rPr lang="en-GB" sz="2000" dirty="0"/>
              <a:t> react with some </a:t>
            </a:r>
            <a:r>
              <a:rPr lang="en-GB" sz="2000" b="1" dirty="0"/>
              <a:t>metals </a:t>
            </a:r>
            <a:r>
              <a:rPr lang="en-GB" sz="2000" dirty="0"/>
              <a:t>to </a:t>
            </a:r>
            <a:r>
              <a:rPr lang="en-GB" sz="2000" dirty="0" smtClean="0"/>
              <a:t>produce </a:t>
            </a:r>
            <a:r>
              <a:rPr lang="en-GB" sz="2000" b="1" dirty="0" smtClean="0"/>
              <a:t>salts</a:t>
            </a:r>
            <a:r>
              <a:rPr lang="en-GB" sz="2000" dirty="0" smtClean="0"/>
              <a:t> </a:t>
            </a:r>
            <a:r>
              <a:rPr lang="en-GB" sz="2000" dirty="0"/>
              <a:t>and </a:t>
            </a:r>
            <a:r>
              <a:rPr lang="en-GB" sz="2000" b="1" dirty="0"/>
              <a:t>hydrogen</a:t>
            </a:r>
            <a:r>
              <a:rPr lang="en-GB" sz="2000" dirty="0"/>
              <a:t>.</a:t>
            </a:r>
          </a:p>
          <a:p>
            <a:pPr algn="ctr"/>
            <a:endParaRPr lang="en-GB" sz="1000" dirty="0"/>
          </a:p>
          <a:p>
            <a:pPr algn="ctr"/>
            <a:r>
              <a:rPr lang="en-GB" sz="2400" b="1" dirty="0">
                <a:solidFill>
                  <a:schemeClr val="accent6">
                    <a:lumMod val="75000"/>
                  </a:schemeClr>
                </a:solidFill>
              </a:rPr>
              <a:t>Metal + acid </a:t>
            </a:r>
            <a:r>
              <a:rPr lang="en-GB" sz="2400" b="1" dirty="0">
                <a:solidFill>
                  <a:schemeClr val="accent6">
                    <a:lumMod val="75000"/>
                  </a:schemeClr>
                </a:solidFill>
                <a:sym typeface="Wingdings" panose="05000000000000000000" pitchFamily="2" charset="2"/>
              </a:rPr>
              <a:t> salt + hydrogen</a:t>
            </a:r>
          </a:p>
          <a:p>
            <a:pPr algn="ctr"/>
            <a:endParaRPr lang="en-GB" sz="1100" dirty="0">
              <a:sym typeface="Wingdings" panose="05000000000000000000" pitchFamily="2" charset="2"/>
            </a:endParaRPr>
          </a:p>
          <a:p>
            <a:pPr algn="ctr"/>
            <a:r>
              <a:rPr lang="en-GB" sz="2000" dirty="0">
                <a:sym typeface="Wingdings" panose="05000000000000000000" pitchFamily="2" charset="2"/>
              </a:rPr>
              <a:t>Reactions between metals and acids only occur if the metal is </a:t>
            </a:r>
            <a:r>
              <a:rPr lang="en-GB" sz="2000" b="1" dirty="0">
                <a:sym typeface="Wingdings" panose="05000000000000000000" pitchFamily="2" charset="2"/>
              </a:rPr>
              <a:t>more reactive </a:t>
            </a:r>
            <a:r>
              <a:rPr lang="en-GB" sz="2000" dirty="0">
                <a:sym typeface="Wingdings" panose="05000000000000000000" pitchFamily="2" charset="2"/>
              </a:rPr>
              <a:t>than the </a:t>
            </a:r>
            <a:r>
              <a:rPr lang="en-GB" sz="2000" b="1" dirty="0">
                <a:sym typeface="Wingdings" panose="05000000000000000000" pitchFamily="2" charset="2"/>
              </a:rPr>
              <a:t>hydrogen</a:t>
            </a:r>
            <a:r>
              <a:rPr lang="en-GB" sz="2000" dirty="0">
                <a:sym typeface="Wingdings" panose="05000000000000000000" pitchFamily="2" charset="2"/>
              </a:rPr>
              <a:t> in the acid.  If the metal is too reactive, the reaction with acid </a:t>
            </a:r>
            <a:r>
              <a:rPr lang="en-GB" sz="2000" dirty="0" smtClean="0">
                <a:sym typeface="Wingdings" panose="05000000000000000000" pitchFamily="2" charset="2"/>
              </a:rPr>
              <a:t>is</a:t>
            </a:r>
            <a:r>
              <a:rPr lang="en-GB" sz="2000" b="1" dirty="0" smtClean="0">
                <a:sym typeface="Wingdings" panose="05000000000000000000" pitchFamily="2" charset="2"/>
              </a:rPr>
              <a:t> </a:t>
            </a:r>
            <a:r>
              <a:rPr lang="en-GB" sz="2000" b="1" dirty="0">
                <a:sym typeface="Wingdings" panose="05000000000000000000" pitchFamily="2" charset="2"/>
              </a:rPr>
              <a:t>violent</a:t>
            </a:r>
            <a:r>
              <a:rPr lang="en-GB" sz="2000" dirty="0">
                <a:sym typeface="Wingdings" panose="05000000000000000000" pitchFamily="2" charset="2"/>
              </a:rPr>
              <a:t>.</a:t>
            </a:r>
          </a:p>
          <a:p>
            <a:pPr algn="ctr"/>
            <a:r>
              <a:rPr lang="en-GB" sz="2000" dirty="0" smtClean="0"/>
              <a:t>The </a:t>
            </a:r>
            <a:r>
              <a:rPr lang="en-GB" sz="2000" b="1" dirty="0"/>
              <a:t>salt</a:t>
            </a:r>
            <a:r>
              <a:rPr lang="en-GB" sz="2000" dirty="0"/>
              <a:t> that is made depends on the </a:t>
            </a:r>
            <a:r>
              <a:rPr lang="en-GB" sz="2000" b="1" dirty="0"/>
              <a:t>metal</a:t>
            </a:r>
            <a:r>
              <a:rPr lang="en-GB" sz="2000" dirty="0"/>
              <a:t> and </a:t>
            </a:r>
            <a:r>
              <a:rPr lang="en-GB" sz="2000" b="1" dirty="0"/>
              <a:t>acid </a:t>
            </a:r>
            <a:r>
              <a:rPr lang="en-GB" sz="2000" dirty="0"/>
              <a:t>used.</a:t>
            </a:r>
          </a:p>
          <a:p>
            <a:pPr algn="ctr"/>
            <a:endParaRPr lang="en-GB" dirty="0"/>
          </a:p>
        </p:txBody>
      </p:sp>
      <p:sp>
        <p:nvSpPr>
          <p:cNvPr id="5" name="Rectangle 4">
            <a:extLst>
              <a:ext uri="{FF2B5EF4-FFF2-40B4-BE49-F238E27FC236}">
                <a16:creationId xmlns:a16="http://schemas.microsoft.com/office/drawing/2014/main" xmlns="" id="{3DA24B56-01FC-4DF1-A626-D5569EA7465B}"/>
              </a:ext>
            </a:extLst>
          </p:cNvPr>
          <p:cNvSpPr/>
          <p:nvPr/>
        </p:nvSpPr>
        <p:spPr>
          <a:xfrm>
            <a:off x="493930" y="3140968"/>
            <a:ext cx="8460940" cy="3216265"/>
          </a:xfrm>
          <a:prstGeom prst="rect">
            <a:avLst/>
          </a:prstGeom>
          <a:solidFill>
            <a:schemeClr val="accent6">
              <a:lumMod val="20000"/>
              <a:lumOff val="80000"/>
            </a:schemeClr>
          </a:solidFill>
          <a:ln w="3175">
            <a:solidFill>
              <a:schemeClr val="accent6">
                <a:lumMod val="75000"/>
              </a:schemeClr>
            </a:solidFill>
          </a:ln>
        </p:spPr>
        <p:style>
          <a:lnRef idx="3">
            <a:schemeClr val="lt1"/>
          </a:lnRef>
          <a:fillRef idx="1">
            <a:schemeClr val="accent3"/>
          </a:fillRef>
          <a:effectRef idx="1">
            <a:schemeClr val="accent3"/>
          </a:effectRef>
          <a:fontRef idx="minor">
            <a:schemeClr val="lt1"/>
          </a:fontRef>
        </p:style>
        <p:txBody>
          <a:bodyPr wrap="square">
            <a:spAutoFit/>
          </a:bodyPr>
          <a:lstStyle/>
          <a:p>
            <a:pPr algn="ctr">
              <a:buNone/>
            </a:pPr>
            <a:r>
              <a:rPr lang="en-US" sz="2000" b="1" dirty="0">
                <a:solidFill>
                  <a:schemeClr val="tx1"/>
                </a:solidFill>
                <a:sym typeface="Wingdings" pitchFamily="2" charset="2"/>
              </a:rPr>
              <a:t>Salts made when </a:t>
            </a:r>
            <a:r>
              <a:rPr lang="en-US" sz="2000" b="1" dirty="0">
                <a:solidFill>
                  <a:srgbClr val="FF0000"/>
                </a:solidFill>
                <a:sym typeface="Wingdings" pitchFamily="2" charset="2"/>
              </a:rPr>
              <a:t>metals</a:t>
            </a:r>
            <a:r>
              <a:rPr lang="en-US" sz="2000" b="1" dirty="0">
                <a:solidFill>
                  <a:schemeClr val="tx1"/>
                </a:solidFill>
                <a:sym typeface="Wingdings" pitchFamily="2" charset="2"/>
              </a:rPr>
              <a:t> react </a:t>
            </a:r>
            <a:r>
              <a:rPr lang="en-US" sz="2000" b="1" i="1" dirty="0">
                <a:solidFill>
                  <a:srgbClr val="0070C0"/>
                </a:solidFill>
                <a:sym typeface="Wingdings" pitchFamily="2" charset="2"/>
              </a:rPr>
              <a:t>nitric </a:t>
            </a:r>
            <a:r>
              <a:rPr lang="en-US" sz="2000" b="1" i="1" dirty="0">
                <a:solidFill>
                  <a:schemeClr val="tx1"/>
                </a:solidFill>
                <a:sym typeface="Wingdings" pitchFamily="2" charset="2"/>
              </a:rPr>
              <a:t>acid </a:t>
            </a:r>
            <a:r>
              <a:rPr lang="en-US" sz="2000" b="1" dirty="0">
                <a:solidFill>
                  <a:schemeClr val="tx1"/>
                </a:solidFill>
                <a:sym typeface="Wingdings" pitchFamily="2" charset="2"/>
              </a:rPr>
              <a:t>are called </a:t>
            </a:r>
            <a:r>
              <a:rPr lang="en-US" sz="2000" b="1" i="1" dirty="0">
                <a:solidFill>
                  <a:srgbClr val="0070C0"/>
                </a:solidFill>
                <a:sym typeface="Wingdings" pitchFamily="2" charset="2"/>
              </a:rPr>
              <a:t>nitrates</a:t>
            </a:r>
            <a:r>
              <a:rPr lang="en-US" sz="2000" b="1" i="1" dirty="0">
                <a:solidFill>
                  <a:schemeClr val="tx1"/>
                </a:solidFill>
                <a:sym typeface="Wingdings" pitchFamily="2" charset="2"/>
              </a:rPr>
              <a:t>.</a:t>
            </a:r>
          </a:p>
          <a:p>
            <a:pPr algn="ctr"/>
            <a:endParaRPr lang="en-US" sz="900" b="1" i="1" dirty="0">
              <a:solidFill>
                <a:schemeClr val="tx1"/>
              </a:solidFill>
              <a:sym typeface="Wingdings" pitchFamily="2" charset="2"/>
            </a:endParaRPr>
          </a:p>
          <a:p>
            <a:pPr algn="ctr">
              <a:buNone/>
            </a:pPr>
            <a:r>
              <a:rPr lang="en-US" sz="2000" b="1" dirty="0">
                <a:solidFill>
                  <a:srgbClr val="FF0000"/>
                </a:solidFill>
                <a:sym typeface="Wingdings"/>
              </a:rPr>
              <a:t>Zinc</a:t>
            </a:r>
            <a:r>
              <a:rPr lang="en-US" sz="2000" b="1" dirty="0">
                <a:solidFill>
                  <a:schemeClr val="tx1"/>
                </a:solidFill>
                <a:sym typeface="Wingdings"/>
              </a:rPr>
              <a:t> +  </a:t>
            </a:r>
            <a:r>
              <a:rPr lang="en-US" sz="2000" b="1" dirty="0">
                <a:solidFill>
                  <a:srgbClr val="0070C0"/>
                </a:solidFill>
                <a:sym typeface="Wingdings"/>
              </a:rPr>
              <a:t>Nitric </a:t>
            </a:r>
            <a:r>
              <a:rPr lang="en-US" sz="2000" b="1" dirty="0">
                <a:solidFill>
                  <a:schemeClr val="tx1"/>
                </a:solidFill>
                <a:sym typeface="Wingdings"/>
              </a:rPr>
              <a:t>acid  </a:t>
            </a:r>
            <a:r>
              <a:rPr lang="en-US" sz="2000" b="1" dirty="0">
                <a:solidFill>
                  <a:srgbClr val="FF0000"/>
                </a:solidFill>
                <a:sym typeface="Wingdings"/>
              </a:rPr>
              <a:t>Zinc</a:t>
            </a:r>
            <a:r>
              <a:rPr lang="en-US" sz="2000" b="1" dirty="0">
                <a:solidFill>
                  <a:schemeClr val="tx1"/>
                </a:solidFill>
                <a:sym typeface="Wingdings"/>
              </a:rPr>
              <a:t> </a:t>
            </a:r>
            <a:r>
              <a:rPr lang="en-US" sz="2000" b="1" dirty="0">
                <a:solidFill>
                  <a:srgbClr val="0070C0"/>
                </a:solidFill>
                <a:sym typeface="Wingdings"/>
              </a:rPr>
              <a:t>Nitrate</a:t>
            </a:r>
            <a:r>
              <a:rPr lang="en-US" sz="2000" b="1" dirty="0">
                <a:solidFill>
                  <a:schemeClr val="tx1"/>
                </a:solidFill>
                <a:sym typeface="Wingdings"/>
              </a:rPr>
              <a:t> + Hydrogen</a:t>
            </a:r>
          </a:p>
          <a:p>
            <a:pPr algn="ctr">
              <a:buNone/>
            </a:pPr>
            <a:endParaRPr lang="en-US" sz="2400" b="1" dirty="0">
              <a:solidFill>
                <a:schemeClr val="tx1"/>
              </a:solidFill>
              <a:sym typeface="Wingdings"/>
            </a:endParaRPr>
          </a:p>
          <a:p>
            <a:pPr algn="ctr"/>
            <a:r>
              <a:rPr lang="en-US" sz="2000" b="1" dirty="0">
                <a:solidFill>
                  <a:schemeClr val="tx1"/>
                </a:solidFill>
                <a:sym typeface="Wingdings"/>
              </a:rPr>
              <a:t>Salts made when </a:t>
            </a:r>
            <a:r>
              <a:rPr lang="en-US" sz="2000" b="1" dirty="0">
                <a:solidFill>
                  <a:srgbClr val="FF0000"/>
                </a:solidFill>
                <a:sym typeface="Wingdings"/>
              </a:rPr>
              <a:t>metals</a:t>
            </a:r>
            <a:r>
              <a:rPr lang="en-US" sz="2000" b="1" dirty="0">
                <a:solidFill>
                  <a:schemeClr val="tx1"/>
                </a:solidFill>
                <a:sym typeface="Wingdings"/>
              </a:rPr>
              <a:t> react with </a:t>
            </a:r>
            <a:r>
              <a:rPr lang="en-US" sz="2000" b="1" i="1" dirty="0">
                <a:solidFill>
                  <a:srgbClr val="0070C0"/>
                </a:solidFill>
                <a:sym typeface="Wingdings"/>
              </a:rPr>
              <a:t>sulfuric</a:t>
            </a:r>
            <a:r>
              <a:rPr lang="en-US" sz="2000" b="1" i="1" dirty="0">
                <a:solidFill>
                  <a:schemeClr val="tx1"/>
                </a:solidFill>
                <a:sym typeface="Wingdings"/>
              </a:rPr>
              <a:t> acids </a:t>
            </a:r>
            <a:r>
              <a:rPr lang="en-US" sz="2000" b="1" dirty="0">
                <a:solidFill>
                  <a:schemeClr val="tx1"/>
                </a:solidFill>
                <a:sym typeface="Wingdings"/>
              </a:rPr>
              <a:t>are called </a:t>
            </a:r>
            <a:r>
              <a:rPr lang="en-US" sz="2000" b="1" i="1" dirty="0">
                <a:solidFill>
                  <a:srgbClr val="0070C0"/>
                </a:solidFill>
                <a:sym typeface="Wingdings"/>
              </a:rPr>
              <a:t>sulfates</a:t>
            </a:r>
            <a:r>
              <a:rPr lang="en-US" sz="2000" b="1" i="1" dirty="0">
                <a:solidFill>
                  <a:schemeClr val="tx1"/>
                </a:solidFill>
                <a:sym typeface="Wingdings"/>
              </a:rPr>
              <a:t>.</a:t>
            </a:r>
          </a:p>
          <a:p>
            <a:pPr algn="ctr"/>
            <a:endParaRPr lang="en-US" sz="900" b="1" dirty="0">
              <a:solidFill>
                <a:schemeClr val="tx1"/>
              </a:solidFill>
              <a:sym typeface="Wingdings"/>
            </a:endParaRPr>
          </a:p>
          <a:p>
            <a:pPr algn="ctr"/>
            <a:r>
              <a:rPr lang="en-US" sz="2000" b="1" dirty="0">
                <a:solidFill>
                  <a:srgbClr val="FF0000"/>
                </a:solidFill>
                <a:sym typeface="Wingdings"/>
              </a:rPr>
              <a:t>Iron</a:t>
            </a:r>
            <a:r>
              <a:rPr lang="en-US" sz="2000" b="1" dirty="0">
                <a:solidFill>
                  <a:schemeClr val="tx1"/>
                </a:solidFill>
                <a:sym typeface="Wingdings"/>
              </a:rPr>
              <a:t> + </a:t>
            </a:r>
            <a:r>
              <a:rPr lang="en-US" sz="2000" b="1" dirty="0">
                <a:solidFill>
                  <a:srgbClr val="0070C0"/>
                </a:solidFill>
                <a:sym typeface="Wingdings"/>
              </a:rPr>
              <a:t>Sulfuric</a:t>
            </a:r>
            <a:r>
              <a:rPr lang="en-US" sz="2000" b="1" dirty="0">
                <a:solidFill>
                  <a:schemeClr val="tx1"/>
                </a:solidFill>
                <a:sym typeface="Wingdings"/>
              </a:rPr>
              <a:t> Acid </a:t>
            </a:r>
            <a:r>
              <a:rPr lang="en-US" sz="2000" b="1" dirty="0">
                <a:solidFill>
                  <a:schemeClr val="tx1"/>
                </a:solidFill>
                <a:sym typeface="Wingdings" pitchFamily="2" charset="2"/>
              </a:rPr>
              <a:t> </a:t>
            </a:r>
            <a:r>
              <a:rPr lang="en-US" sz="2000" b="1" dirty="0">
                <a:solidFill>
                  <a:srgbClr val="FF0000"/>
                </a:solidFill>
                <a:sym typeface="Wingdings" pitchFamily="2" charset="2"/>
              </a:rPr>
              <a:t>Iron</a:t>
            </a:r>
            <a:r>
              <a:rPr lang="en-US" sz="2000" b="1" dirty="0">
                <a:solidFill>
                  <a:schemeClr val="tx1"/>
                </a:solidFill>
                <a:sym typeface="Wingdings" pitchFamily="2" charset="2"/>
              </a:rPr>
              <a:t> </a:t>
            </a:r>
            <a:r>
              <a:rPr lang="en-US" sz="2000" b="1" dirty="0">
                <a:solidFill>
                  <a:srgbClr val="0070C0"/>
                </a:solidFill>
                <a:sym typeface="Wingdings" pitchFamily="2" charset="2"/>
              </a:rPr>
              <a:t>Sulfate</a:t>
            </a:r>
            <a:r>
              <a:rPr lang="en-US" sz="2000" b="1" dirty="0">
                <a:solidFill>
                  <a:schemeClr val="tx1"/>
                </a:solidFill>
                <a:sym typeface="Wingdings" pitchFamily="2" charset="2"/>
              </a:rPr>
              <a:t> + Hydrogen</a:t>
            </a:r>
          </a:p>
          <a:p>
            <a:pPr algn="ctr"/>
            <a:endParaRPr lang="en-US" sz="2800" b="1" dirty="0">
              <a:solidFill>
                <a:schemeClr val="tx1"/>
              </a:solidFill>
              <a:sym typeface="Wingdings" pitchFamily="2" charset="2"/>
            </a:endParaRPr>
          </a:p>
          <a:p>
            <a:pPr algn="ctr">
              <a:buNone/>
            </a:pPr>
            <a:r>
              <a:rPr lang="en-US" sz="2000" b="1" dirty="0">
                <a:solidFill>
                  <a:schemeClr val="tx1"/>
                </a:solidFill>
              </a:rPr>
              <a:t>Salts made when </a:t>
            </a:r>
            <a:r>
              <a:rPr lang="en-US" sz="2000" b="1" dirty="0">
                <a:solidFill>
                  <a:srgbClr val="FF0000"/>
                </a:solidFill>
              </a:rPr>
              <a:t>metals </a:t>
            </a:r>
            <a:r>
              <a:rPr lang="en-US" sz="2000" b="1" dirty="0">
                <a:solidFill>
                  <a:schemeClr val="tx1"/>
                </a:solidFill>
              </a:rPr>
              <a:t>react with </a:t>
            </a:r>
            <a:r>
              <a:rPr lang="en-US" sz="2000" b="1" i="1" dirty="0">
                <a:solidFill>
                  <a:schemeClr val="tx1"/>
                </a:solidFill>
              </a:rPr>
              <a:t>hydro</a:t>
            </a:r>
            <a:r>
              <a:rPr lang="en-US" sz="2000" b="1" i="1" dirty="0">
                <a:solidFill>
                  <a:srgbClr val="0070C0"/>
                </a:solidFill>
              </a:rPr>
              <a:t>chloric</a:t>
            </a:r>
            <a:r>
              <a:rPr lang="en-US" sz="2000" b="1" dirty="0">
                <a:solidFill>
                  <a:schemeClr val="tx1"/>
                </a:solidFill>
              </a:rPr>
              <a:t> acid are called </a:t>
            </a:r>
            <a:r>
              <a:rPr lang="en-US" sz="2000" b="1" i="1" dirty="0">
                <a:solidFill>
                  <a:srgbClr val="0070C0"/>
                </a:solidFill>
              </a:rPr>
              <a:t>chlorides</a:t>
            </a:r>
            <a:r>
              <a:rPr lang="en-US" sz="2000" b="1" i="1" dirty="0">
                <a:solidFill>
                  <a:schemeClr val="tx1"/>
                </a:solidFill>
              </a:rPr>
              <a:t>.</a:t>
            </a:r>
          </a:p>
          <a:p>
            <a:pPr algn="ctr"/>
            <a:endParaRPr lang="en-US" sz="900" b="1" dirty="0">
              <a:solidFill>
                <a:schemeClr val="tx1"/>
              </a:solidFill>
            </a:endParaRPr>
          </a:p>
          <a:p>
            <a:pPr algn="ctr">
              <a:buNone/>
            </a:pPr>
            <a:r>
              <a:rPr lang="en-US" sz="2000" b="1" dirty="0">
                <a:solidFill>
                  <a:srgbClr val="FF0000"/>
                </a:solidFill>
              </a:rPr>
              <a:t>Magnesium</a:t>
            </a:r>
            <a:r>
              <a:rPr lang="en-US" sz="2000" b="1" dirty="0">
                <a:solidFill>
                  <a:schemeClr val="tx1"/>
                </a:solidFill>
              </a:rPr>
              <a:t> + Hydro</a:t>
            </a:r>
            <a:r>
              <a:rPr lang="en-US" sz="2000" b="1" dirty="0">
                <a:solidFill>
                  <a:srgbClr val="0070C0"/>
                </a:solidFill>
              </a:rPr>
              <a:t>chloric </a:t>
            </a:r>
            <a:r>
              <a:rPr lang="en-US" sz="2000" b="1" dirty="0">
                <a:solidFill>
                  <a:schemeClr val="tx1"/>
                </a:solidFill>
              </a:rPr>
              <a:t>acid </a:t>
            </a:r>
            <a:r>
              <a:rPr lang="en-US" sz="2000" b="1" dirty="0">
                <a:solidFill>
                  <a:schemeClr val="tx1"/>
                </a:solidFill>
                <a:sym typeface="Wingdings"/>
              </a:rPr>
              <a:t> </a:t>
            </a:r>
            <a:r>
              <a:rPr lang="en-US" sz="2000" b="1" dirty="0">
                <a:solidFill>
                  <a:srgbClr val="FF0000"/>
                </a:solidFill>
                <a:sym typeface="Wingdings"/>
              </a:rPr>
              <a:t>Magnesium </a:t>
            </a:r>
            <a:r>
              <a:rPr lang="en-US" sz="2000" b="1" dirty="0">
                <a:solidFill>
                  <a:srgbClr val="0070C0"/>
                </a:solidFill>
                <a:sym typeface="Wingdings"/>
              </a:rPr>
              <a:t>Chloride</a:t>
            </a:r>
            <a:r>
              <a:rPr lang="en-US" sz="2000" b="1" dirty="0">
                <a:solidFill>
                  <a:schemeClr val="tx1"/>
                </a:solidFill>
                <a:sym typeface="Wingdings"/>
              </a:rPr>
              <a:t> + Hydrogen</a:t>
            </a:r>
          </a:p>
        </p:txBody>
      </p:sp>
    </p:spTree>
    <p:extLst>
      <p:ext uri="{BB962C8B-B14F-4D97-AF65-F5344CB8AC3E}">
        <p14:creationId xmlns:p14="http://schemas.microsoft.com/office/powerpoint/2010/main" val="690192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760" y="0"/>
            <a:ext cx="90182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a:t>
            </a:r>
            <a:r>
              <a:rPr lang="en-US" sz="2400" b="1">
                <a:solidFill>
                  <a:schemeClr val="accent6"/>
                </a:solidFill>
              </a:rPr>
              <a:t>PART </a:t>
            </a:r>
            <a:r>
              <a:rPr lang="en-US" sz="2400" b="1" smtClean="0">
                <a:solidFill>
                  <a:schemeClr val="accent6"/>
                </a:solidFill>
              </a:rPr>
              <a:t>1 - HIGHER</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395536" y="476672"/>
            <a:ext cx="8352928" cy="6945491"/>
          </a:xfrm>
          <a:prstGeom prst="rect">
            <a:avLst/>
          </a:prstGeom>
          <a:noFill/>
        </p:spPr>
        <p:txBody>
          <a:bodyPr wrap="square" rtlCol="0">
            <a:spAutoFit/>
          </a:bodyPr>
          <a:lstStyle/>
          <a:p>
            <a:pPr algn="ctr"/>
            <a:endParaRPr lang="en-GB" dirty="0"/>
          </a:p>
          <a:p>
            <a:pPr algn="ctr"/>
            <a:r>
              <a:rPr lang="en-GB" sz="2000" dirty="0"/>
              <a:t>In the reaction between magnesium and hydrochloric acid, the hydrogen ions are </a:t>
            </a:r>
            <a:r>
              <a:rPr lang="en-GB" sz="2000" b="1" dirty="0">
                <a:solidFill>
                  <a:schemeClr val="accent6">
                    <a:lumMod val="75000"/>
                  </a:schemeClr>
                </a:solidFill>
              </a:rPr>
              <a:t>displaced</a:t>
            </a:r>
            <a:r>
              <a:rPr lang="en-GB" sz="2000" dirty="0">
                <a:solidFill>
                  <a:schemeClr val="accent6">
                    <a:lumMod val="75000"/>
                  </a:schemeClr>
                </a:solidFill>
              </a:rPr>
              <a:t> </a:t>
            </a:r>
            <a:r>
              <a:rPr lang="en-GB" sz="2000" dirty="0"/>
              <a:t>from the solution by magnesium as the magnesium is more reactive than hydrogen.</a:t>
            </a:r>
          </a:p>
          <a:p>
            <a:pPr algn="ctr"/>
            <a:endParaRPr lang="en-GB" sz="800" dirty="0"/>
          </a:p>
          <a:p>
            <a:pPr algn="ctr"/>
            <a:r>
              <a:rPr lang="en-GB" sz="2000" dirty="0"/>
              <a:t>The following </a:t>
            </a:r>
            <a:r>
              <a:rPr lang="en-GB" sz="2000" b="1" dirty="0">
                <a:solidFill>
                  <a:schemeClr val="accent6">
                    <a:lumMod val="75000"/>
                  </a:schemeClr>
                </a:solidFill>
              </a:rPr>
              <a:t>ionic equation </a:t>
            </a:r>
            <a:r>
              <a:rPr lang="en-GB" sz="2000" dirty="0"/>
              <a:t>occurs:</a:t>
            </a:r>
          </a:p>
          <a:p>
            <a:pPr algn="ctr"/>
            <a:endParaRPr lang="en-GB" sz="800" dirty="0"/>
          </a:p>
          <a:p>
            <a:pPr algn="ctr"/>
            <a:r>
              <a:rPr lang="en-GB" sz="2400" b="1" dirty="0">
                <a:solidFill>
                  <a:schemeClr val="accent6">
                    <a:lumMod val="75000"/>
                  </a:schemeClr>
                </a:solidFill>
              </a:rPr>
              <a:t>Mg(s) + 2H</a:t>
            </a:r>
            <a:r>
              <a:rPr lang="en-GB" sz="2400" b="1" baseline="30000" dirty="0">
                <a:solidFill>
                  <a:schemeClr val="accent6">
                    <a:lumMod val="75000"/>
                  </a:schemeClr>
                </a:solidFill>
              </a:rPr>
              <a:t>+</a:t>
            </a:r>
            <a:r>
              <a:rPr lang="en-GB" sz="2400" b="1" dirty="0">
                <a:solidFill>
                  <a:schemeClr val="accent6">
                    <a:lumMod val="75000"/>
                  </a:schemeClr>
                </a:solidFill>
              </a:rPr>
              <a:t>(</a:t>
            </a:r>
            <a:r>
              <a:rPr lang="en-GB" sz="2400" b="1" dirty="0" err="1">
                <a:solidFill>
                  <a:schemeClr val="accent6">
                    <a:lumMod val="75000"/>
                  </a:schemeClr>
                </a:solidFill>
              </a:rPr>
              <a:t>aq</a:t>
            </a:r>
            <a:r>
              <a:rPr lang="en-GB" sz="2400" b="1" dirty="0">
                <a:solidFill>
                  <a:schemeClr val="accent6">
                    <a:lumMod val="75000"/>
                  </a:schemeClr>
                </a:solidFill>
              </a:rPr>
              <a:t>)  </a:t>
            </a:r>
            <a:r>
              <a:rPr lang="en-GB" sz="2400" b="1" dirty="0">
                <a:solidFill>
                  <a:schemeClr val="accent6">
                    <a:lumMod val="75000"/>
                  </a:schemeClr>
                </a:solidFill>
                <a:sym typeface="Wingdings" panose="05000000000000000000" pitchFamily="2" charset="2"/>
              </a:rPr>
              <a:t> Mg</a:t>
            </a:r>
            <a:r>
              <a:rPr lang="en-GB" sz="2400" b="1" baseline="30000" dirty="0">
                <a:solidFill>
                  <a:schemeClr val="accent6">
                    <a:lumMod val="75000"/>
                  </a:schemeClr>
                </a:solidFill>
                <a:sym typeface="Wingdings" panose="05000000000000000000" pitchFamily="2" charset="2"/>
              </a:rPr>
              <a:t>2+</a:t>
            </a:r>
            <a:r>
              <a:rPr lang="en-GB" sz="2400" b="1" dirty="0">
                <a:solidFill>
                  <a:schemeClr val="accent6">
                    <a:lumMod val="75000"/>
                  </a:schemeClr>
                </a:solidFill>
                <a:sym typeface="Wingdings" panose="05000000000000000000" pitchFamily="2" charset="2"/>
              </a:rPr>
              <a:t>(</a:t>
            </a:r>
            <a:r>
              <a:rPr lang="en-GB" sz="2400" b="1" dirty="0" err="1">
                <a:solidFill>
                  <a:schemeClr val="accent6">
                    <a:lumMod val="75000"/>
                  </a:schemeClr>
                </a:solidFill>
                <a:sym typeface="Wingdings" panose="05000000000000000000" pitchFamily="2" charset="2"/>
              </a:rPr>
              <a:t>aq</a:t>
            </a:r>
            <a:r>
              <a:rPr lang="en-GB" sz="2400" b="1" dirty="0">
                <a:solidFill>
                  <a:schemeClr val="accent6">
                    <a:lumMod val="75000"/>
                  </a:schemeClr>
                </a:solidFill>
                <a:sym typeface="Wingdings" panose="05000000000000000000" pitchFamily="2" charset="2"/>
              </a:rPr>
              <a:t>) + H</a:t>
            </a:r>
            <a:r>
              <a:rPr lang="en-GB" sz="2400" b="1" baseline="-25000" dirty="0">
                <a:solidFill>
                  <a:schemeClr val="accent6">
                    <a:lumMod val="75000"/>
                  </a:schemeClr>
                </a:solidFill>
                <a:sym typeface="Wingdings" panose="05000000000000000000" pitchFamily="2" charset="2"/>
              </a:rPr>
              <a:t>2</a:t>
            </a:r>
            <a:r>
              <a:rPr lang="en-GB" sz="2400" b="1" dirty="0">
                <a:solidFill>
                  <a:schemeClr val="accent6">
                    <a:lumMod val="75000"/>
                  </a:schemeClr>
                </a:solidFill>
                <a:sym typeface="Wingdings" panose="05000000000000000000" pitchFamily="2" charset="2"/>
              </a:rPr>
              <a:t>(g)</a:t>
            </a:r>
          </a:p>
          <a:p>
            <a:pPr algn="ctr"/>
            <a:endParaRPr lang="en-GB" dirty="0"/>
          </a:p>
          <a:p>
            <a:pPr algn="ctr"/>
            <a:r>
              <a:rPr lang="en-GB" sz="2000" dirty="0"/>
              <a:t>The chloride ions are not included as they do not change in the reaction.  These are known as </a:t>
            </a:r>
            <a:r>
              <a:rPr lang="en-GB" sz="2000" b="1" dirty="0">
                <a:solidFill>
                  <a:schemeClr val="accent6">
                    <a:lumMod val="75000"/>
                  </a:schemeClr>
                </a:solidFill>
              </a:rPr>
              <a:t>spectator ions</a:t>
            </a:r>
            <a:r>
              <a:rPr lang="en-GB" sz="2000" dirty="0">
                <a:solidFill>
                  <a:schemeClr val="accent6">
                    <a:lumMod val="75000"/>
                  </a:schemeClr>
                </a:solidFill>
              </a:rPr>
              <a:t>.</a:t>
            </a:r>
          </a:p>
          <a:p>
            <a:pPr algn="ctr"/>
            <a:endParaRPr lang="en-GB" dirty="0"/>
          </a:p>
          <a:p>
            <a:pPr algn="ctr"/>
            <a:r>
              <a:rPr lang="en-GB" sz="2000" dirty="0"/>
              <a:t>The reaction can be further represented by </a:t>
            </a:r>
            <a:r>
              <a:rPr lang="en-GB" sz="2000" b="1" dirty="0">
                <a:solidFill>
                  <a:schemeClr val="accent6">
                    <a:lumMod val="75000"/>
                  </a:schemeClr>
                </a:solidFill>
              </a:rPr>
              <a:t>half equations</a:t>
            </a:r>
            <a:r>
              <a:rPr lang="en-GB" sz="2000" dirty="0">
                <a:solidFill>
                  <a:schemeClr val="accent6">
                    <a:lumMod val="75000"/>
                  </a:schemeClr>
                </a:solidFill>
              </a:rPr>
              <a:t>, </a:t>
            </a:r>
            <a:r>
              <a:rPr lang="en-GB" sz="2000" dirty="0"/>
              <a:t>showing that the reaction between a metal and acid is a </a:t>
            </a:r>
            <a:r>
              <a:rPr lang="en-GB" sz="2000" b="1" dirty="0">
                <a:solidFill>
                  <a:schemeClr val="accent6">
                    <a:lumMod val="75000"/>
                  </a:schemeClr>
                </a:solidFill>
              </a:rPr>
              <a:t>redox reaction</a:t>
            </a:r>
            <a:r>
              <a:rPr lang="en-GB" sz="2000" dirty="0">
                <a:solidFill>
                  <a:schemeClr val="accent6">
                    <a:lumMod val="75000"/>
                  </a:schemeClr>
                </a:solidFill>
              </a:rPr>
              <a:t>.</a:t>
            </a:r>
          </a:p>
          <a:p>
            <a:pPr algn="ctr"/>
            <a:endParaRPr lang="en-GB" sz="1050" dirty="0"/>
          </a:p>
          <a:p>
            <a:pPr algn="ctr"/>
            <a:r>
              <a:rPr lang="en-GB" sz="2800" b="1" dirty="0">
                <a:solidFill>
                  <a:schemeClr val="accent6">
                    <a:lumMod val="75000"/>
                  </a:schemeClr>
                </a:solidFill>
              </a:rPr>
              <a:t>Mg</a:t>
            </a:r>
            <a:r>
              <a:rPr lang="en-GB" sz="2800" b="1" baseline="30000" dirty="0">
                <a:solidFill>
                  <a:schemeClr val="accent6">
                    <a:lumMod val="75000"/>
                  </a:schemeClr>
                </a:solidFill>
              </a:rPr>
              <a:t>      </a:t>
            </a:r>
            <a:r>
              <a:rPr lang="en-GB" sz="2800" b="1" dirty="0">
                <a:solidFill>
                  <a:schemeClr val="accent6">
                    <a:lumMod val="75000"/>
                  </a:schemeClr>
                </a:solidFill>
                <a:sym typeface="Wingdings" panose="05000000000000000000" pitchFamily="2" charset="2"/>
              </a:rPr>
              <a:t>      </a:t>
            </a:r>
            <a:r>
              <a:rPr lang="en-GB" sz="2800" b="1" dirty="0">
                <a:solidFill>
                  <a:schemeClr val="accent6">
                    <a:lumMod val="75000"/>
                  </a:schemeClr>
                </a:solidFill>
              </a:rPr>
              <a:t>Mg</a:t>
            </a:r>
            <a:r>
              <a:rPr lang="en-GB" sz="2800" b="1" baseline="30000" dirty="0">
                <a:solidFill>
                  <a:schemeClr val="accent6">
                    <a:lumMod val="75000"/>
                  </a:schemeClr>
                </a:solidFill>
              </a:rPr>
              <a:t>2+      </a:t>
            </a:r>
            <a:r>
              <a:rPr lang="en-GB" sz="2800" b="1" dirty="0">
                <a:solidFill>
                  <a:schemeClr val="accent6">
                    <a:lumMod val="75000"/>
                  </a:schemeClr>
                </a:solidFill>
                <a:sym typeface="Wingdings" panose="05000000000000000000" pitchFamily="2" charset="2"/>
              </a:rPr>
              <a:t>+      2e </a:t>
            </a:r>
            <a:r>
              <a:rPr lang="en-GB" sz="2800" b="1" baseline="30000" dirty="0">
                <a:solidFill>
                  <a:schemeClr val="accent6">
                    <a:lumMod val="75000"/>
                  </a:schemeClr>
                </a:solidFill>
                <a:sym typeface="Wingdings" panose="05000000000000000000" pitchFamily="2" charset="2"/>
              </a:rPr>
              <a:t>–</a:t>
            </a:r>
            <a:endParaRPr lang="en-GB" sz="2800" b="1" baseline="-25000" dirty="0">
              <a:solidFill>
                <a:schemeClr val="accent6">
                  <a:lumMod val="75000"/>
                </a:schemeClr>
              </a:solidFill>
              <a:sym typeface="Wingdings" panose="05000000000000000000" pitchFamily="2" charset="2"/>
            </a:endParaRPr>
          </a:p>
          <a:p>
            <a:pPr algn="ctr"/>
            <a:endParaRPr lang="en-GB" sz="900" b="1" baseline="-25000" dirty="0">
              <a:solidFill>
                <a:schemeClr val="accent6">
                  <a:lumMod val="75000"/>
                </a:schemeClr>
              </a:solidFill>
              <a:sym typeface="Wingdings" panose="05000000000000000000" pitchFamily="2" charset="2"/>
            </a:endParaRPr>
          </a:p>
          <a:p>
            <a:pPr algn="ctr"/>
            <a:r>
              <a:rPr lang="en-GB" sz="2000" dirty="0"/>
              <a:t>The magnesium atoms lose two electrons, they have been </a:t>
            </a:r>
            <a:r>
              <a:rPr lang="en-GB" sz="2000" b="1" dirty="0">
                <a:solidFill>
                  <a:schemeClr val="accent6">
                    <a:lumMod val="75000"/>
                  </a:schemeClr>
                </a:solidFill>
              </a:rPr>
              <a:t>oxidised</a:t>
            </a:r>
            <a:r>
              <a:rPr lang="en-GB" sz="2000" dirty="0"/>
              <a:t>.</a:t>
            </a:r>
          </a:p>
          <a:p>
            <a:pPr algn="ctr"/>
            <a:endParaRPr lang="en-GB" sz="2000" b="1" dirty="0">
              <a:solidFill>
                <a:schemeClr val="accent6">
                  <a:lumMod val="75000"/>
                </a:schemeClr>
              </a:solidFill>
            </a:endParaRPr>
          </a:p>
          <a:p>
            <a:pPr algn="ctr"/>
            <a:r>
              <a:rPr lang="en-GB" sz="2800" b="1" dirty="0">
                <a:solidFill>
                  <a:schemeClr val="accent6">
                    <a:lumMod val="75000"/>
                  </a:schemeClr>
                </a:solidFill>
              </a:rPr>
              <a:t>2H</a:t>
            </a:r>
            <a:r>
              <a:rPr lang="en-GB" sz="2800" b="1" baseline="30000" dirty="0">
                <a:solidFill>
                  <a:schemeClr val="accent6">
                    <a:lumMod val="75000"/>
                  </a:schemeClr>
                </a:solidFill>
              </a:rPr>
              <a:t>+ </a:t>
            </a:r>
            <a:r>
              <a:rPr lang="en-GB" sz="2800" b="1" baseline="30000" dirty="0">
                <a:solidFill>
                  <a:schemeClr val="accent6">
                    <a:lumMod val="75000"/>
                  </a:schemeClr>
                </a:solidFill>
                <a:sym typeface="Wingdings" panose="05000000000000000000" pitchFamily="2" charset="2"/>
              </a:rPr>
              <a:t>     </a:t>
            </a:r>
            <a:r>
              <a:rPr lang="en-GB" sz="2800" b="1" dirty="0">
                <a:solidFill>
                  <a:schemeClr val="accent6">
                    <a:lumMod val="75000"/>
                  </a:schemeClr>
                </a:solidFill>
                <a:sym typeface="Wingdings" panose="05000000000000000000" pitchFamily="2" charset="2"/>
              </a:rPr>
              <a:t>+      2e </a:t>
            </a:r>
            <a:r>
              <a:rPr lang="en-GB" sz="2800" b="1" baseline="30000" dirty="0">
                <a:solidFill>
                  <a:schemeClr val="accent6">
                    <a:lumMod val="75000"/>
                  </a:schemeClr>
                </a:solidFill>
                <a:sym typeface="Wingdings" panose="05000000000000000000" pitchFamily="2" charset="2"/>
              </a:rPr>
              <a:t>- </a:t>
            </a:r>
            <a:r>
              <a:rPr lang="en-GB" sz="2800" b="1" dirty="0">
                <a:solidFill>
                  <a:schemeClr val="accent6">
                    <a:lumMod val="75000"/>
                  </a:schemeClr>
                </a:solidFill>
                <a:sym typeface="Wingdings" panose="05000000000000000000" pitchFamily="2" charset="2"/>
              </a:rPr>
              <a:t>      H</a:t>
            </a:r>
            <a:r>
              <a:rPr lang="en-GB" sz="2800" b="1" baseline="-25000" dirty="0">
                <a:solidFill>
                  <a:schemeClr val="accent6">
                    <a:lumMod val="75000"/>
                  </a:schemeClr>
                </a:solidFill>
                <a:sym typeface="Wingdings" panose="05000000000000000000" pitchFamily="2" charset="2"/>
              </a:rPr>
              <a:t>2</a:t>
            </a:r>
            <a:endParaRPr lang="en-GB" sz="2800" b="1" baseline="30000" dirty="0">
              <a:solidFill>
                <a:schemeClr val="accent6">
                  <a:lumMod val="75000"/>
                </a:schemeClr>
              </a:solidFill>
            </a:endParaRPr>
          </a:p>
          <a:p>
            <a:pPr algn="ctr"/>
            <a:endParaRPr lang="en-GB" sz="900" b="1" baseline="-25000" dirty="0">
              <a:solidFill>
                <a:schemeClr val="accent6">
                  <a:lumMod val="75000"/>
                </a:schemeClr>
              </a:solidFill>
              <a:effectLst>
                <a:outerShdw blurRad="38100" dist="38100" dir="2700000" algn="tl">
                  <a:srgbClr val="000000">
                    <a:alpha val="43137"/>
                  </a:srgbClr>
                </a:outerShdw>
              </a:effectLst>
            </a:endParaRPr>
          </a:p>
          <a:p>
            <a:pPr algn="ctr"/>
            <a:r>
              <a:rPr lang="en-GB" sz="2000" dirty="0"/>
              <a:t>The hydrogen ions have gained electrons, they have been </a:t>
            </a:r>
            <a:r>
              <a:rPr lang="en-GB" sz="2000" b="1" dirty="0">
                <a:solidFill>
                  <a:schemeClr val="accent6">
                    <a:lumMod val="75000"/>
                  </a:schemeClr>
                </a:solidFill>
              </a:rPr>
              <a:t>reduced</a:t>
            </a:r>
            <a:r>
              <a:rPr lang="en-GB" sz="2000" dirty="0"/>
              <a:t>.</a:t>
            </a:r>
          </a:p>
          <a:p>
            <a:pPr algn="ctr"/>
            <a:endParaRPr lang="en-GB" dirty="0"/>
          </a:p>
          <a:p>
            <a:pPr algn="ctr"/>
            <a:endParaRPr lang="en-GB" dirty="0"/>
          </a:p>
        </p:txBody>
      </p:sp>
    </p:spTree>
    <p:extLst>
      <p:ext uri="{BB962C8B-B14F-4D97-AF65-F5344CB8AC3E}">
        <p14:creationId xmlns:p14="http://schemas.microsoft.com/office/powerpoint/2010/main" val="17369902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PART </a:t>
            </a:r>
            <a:r>
              <a:rPr lang="en-US" sz="2400" b="1" dirty="0" smtClean="0">
                <a:solidFill>
                  <a:schemeClr val="accent6"/>
                </a:solidFill>
              </a:rPr>
              <a:t>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62880" y="718374"/>
            <a:ext cx="9018240" cy="5909310"/>
          </a:xfrm>
          <a:prstGeom prst="rect">
            <a:avLst/>
          </a:prstGeom>
          <a:noFill/>
        </p:spPr>
        <p:txBody>
          <a:bodyPr wrap="square" rtlCol="0">
            <a:spAutoFit/>
          </a:bodyPr>
          <a:lstStyle/>
          <a:p>
            <a:pPr algn="ctr"/>
            <a:r>
              <a:rPr lang="en-GB" sz="2000" dirty="0"/>
              <a:t>Acids are neutralised by </a:t>
            </a:r>
            <a:r>
              <a:rPr lang="en-GB" sz="2000" b="1" dirty="0"/>
              <a:t>alkalis</a:t>
            </a:r>
            <a:r>
              <a:rPr lang="en-GB" sz="2000" dirty="0"/>
              <a:t> (</a:t>
            </a:r>
            <a:r>
              <a:rPr lang="en-GB" sz="2000" b="1" dirty="0" err="1">
                <a:solidFill>
                  <a:schemeClr val="accent6">
                    <a:lumMod val="75000"/>
                  </a:schemeClr>
                </a:solidFill>
              </a:rPr>
              <a:t>eg</a:t>
            </a:r>
            <a:r>
              <a:rPr lang="en-GB" sz="2000" b="1" dirty="0">
                <a:solidFill>
                  <a:schemeClr val="accent6">
                    <a:lumMod val="75000"/>
                  </a:schemeClr>
                </a:solidFill>
              </a:rPr>
              <a:t>: soluble metal hydroxides</a:t>
            </a:r>
            <a:r>
              <a:rPr lang="en-GB" sz="2000" dirty="0"/>
              <a:t>) and </a:t>
            </a:r>
            <a:r>
              <a:rPr lang="en-GB" sz="2000" b="1" dirty="0"/>
              <a:t>bases</a:t>
            </a:r>
            <a:r>
              <a:rPr lang="en-GB" sz="2000" dirty="0"/>
              <a:t> (</a:t>
            </a:r>
            <a:r>
              <a:rPr lang="en-GB" sz="2000" b="1" dirty="0" err="1">
                <a:solidFill>
                  <a:schemeClr val="accent6">
                    <a:lumMod val="75000"/>
                  </a:schemeClr>
                </a:solidFill>
              </a:rPr>
              <a:t>eg</a:t>
            </a:r>
            <a:r>
              <a:rPr lang="en-GB" sz="2000" b="1" dirty="0">
                <a:solidFill>
                  <a:schemeClr val="accent6">
                    <a:lumMod val="75000"/>
                  </a:schemeClr>
                </a:solidFill>
              </a:rPr>
              <a:t>: insoluble metal hydroxides and metal oxides</a:t>
            </a:r>
            <a:r>
              <a:rPr lang="en-GB" sz="2000" dirty="0"/>
              <a:t>) to produce </a:t>
            </a:r>
            <a:r>
              <a:rPr lang="en-GB" sz="2000" b="1" dirty="0"/>
              <a:t>salts</a:t>
            </a:r>
            <a:r>
              <a:rPr lang="en-GB" sz="2000" dirty="0"/>
              <a:t> and </a:t>
            </a:r>
            <a:r>
              <a:rPr lang="en-GB" sz="2000" b="1" dirty="0"/>
              <a:t>water</a:t>
            </a:r>
            <a:r>
              <a:rPr lang="en-GB" sz="2000" dirty="0"/>
              <a:t> and by </a:t>
            </a:r>
            <a:r>
              <a:rPr lang="en-GB" sz="2000" b="1" dirty="0"/>
              <a:t>metal carbonates </a:t>
            </a:r>
            <a:r>
              <a:rPr lang="en-GB" sz="2000" dirty="0"/>
              <a:t>to produce</a:t>
            </a:r>
            <a:r>
              <a:rPr lang="en-GB" sz="2000" b="1" dirty="0"/>
              <a:t> salts</a:t>
            </a:r>
            <a:r>
              <a:rPr lang="en-GB" sz="2000" dirty="0"/>
              <a:t>, </a:t>
            </a:r>
            <a:r>
              <a:rPr lang="en-GB" sz="2000" b="1" dirty="0"/>
              <a:t>water</a:t>
            </a:r>
            <a:r>
              <a:rPr lang="en-GB" sz="2000" dirty="0"/>
              <a:t> and </a:t>
            </a:r>
            <a:r>
              <a:rPr lang="en-GB" sz="2000" b="1" dirty="0"/>
              <a:t>carbon dioxide</a:t>
            </a:r>
            <a:r>
              <a:rPr lang="en-GB" sz="2000" dirty="0"/>
              <a:t>.</a:t>
            </a:r>
          </a:p>
          <a:p>
            <a:pPr algn="ctr"/>
            <a:endParaRPr lang="en-GB" sz="1000" dirty="0"/>
          </a:p>
          <a:p>
            <a:pPr algn="ctr"/>
            <a:r>
              <a:rPr lang="en-GB" dirty="0"/>
              <a:t>The salt </a:t>
            </a:r>
            <a:r>
              <a:rPr lang="en-GB" b="1" dirty="0"/>
              <a:t>name</a:t>
            </a:r>
            <a:r>
              <a:rPr lang="en-GB" dirty="0"/>
              <a:t> depends on the </a:t>
            </a:r>
            <a:r>
              <a:rPr lang="en-GB" b="1" dirty="0"/>
              <a:t>acid</a:t>
            </a:r>
            <a:r>
              <a:rPr lang="en-GB" dirty="0"/>
              <a:t> used and the </a:t>
            </a:r>
            <a:r>
              <a:rPr lang="en-GB" b="1" dirty="0"/>
              <a:t>positive ions </a:t>
            </a:r>
            <a:r>
              <a:rPr lang="en-GB" dirty="0"/>
              <a:t>in the </a:t>
            </a:r>
            <a:r>
              <a:rPr lang="en-GB" b="1" dirty="0"/>
              <a:t>alkali, base or carbonate</a:t>
            </a:r>
            <a:r>
              <a:rPr lang="en-GB" dirty="0"/>
              <a:t>.</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sz="1200" dirty="0"/>
          </a:p>
          <a:p>
            <a:r>
              <a:rPr lang="en-GB" dirty="0"/>
              <a:t>Salts are made of positive metal ions </a:t>
            </a:r>
          </a:p>
          <a:p>
            <a:r>
              <a:rPr lang="en-GB" dirty="0"/>
              <a:t>(or ammonia ions - NH</a:t>
            </a:r>
            <a:r>
              <a:rPr lang="en-GB" baseline="-25000" dirty="0"/>
              <a:t>4</a:t>
            </a:r>
            <a:r>
              <a:rPr lang="en-GB" baseline="30000" dirty="0"/>
              <a:t>+</a:t>
            </a:r>
            <a:r>
              <a:rPr lang="en-GB" dirty="0"/>
              <a:t>) and a negative </a:t>
            </a:r>
            <a:endParaRPr lang="en-GB" dirty="0" smtClean="0"/>
          </a:p>
          <a:p>
            <a:r>
              <a:rPr lang="en-GB" dirty="0" smtClean="0"/>
              <a:t>ion from </a:t>
            </a:r>
            <a:r>
              <a:rPr lang="en-GB" dirty="0"/>
              <a:t>the acid.  Like all ionic </a:t>
            </a:r>
            <a:endParaRPr lang="en-GB" dirty="0" smtClean="0"/>
          </a:p>
          <a:p>
            <a:r>
              <a:rPr lang="en-GB" dirty="0" smtClean="0"/>
              <a:t>compounds</a:t>
            </a:r>
            <a:r>
              <a:rPr lang="en-GB" dirty="0"/>
              <a:t>, </a:t>
            </a:r>
            <a:r>
              <a:rPr lang="en-GB" dirty="0" smtClean="0"/>
              <a:t>salts </a:t>
            </a:r>
            <a:r>
              <a:rPr lang="en-GB" dirty="0"/>
              <a:t>have </a:t>
            </a:r>
            <a:r>
              <a:rPr lang="en-GB" b="1" dirty="0"/>
              <a:t>no overall charge</a:t>
            </a:r>
            <a:r>
              <a:rPr lang="en-GB" dirty="0"/>
              <a:t>, </a:t>
            </a:r>
            <a:endParaRPr lang="en-GB" dirty="0" smtClean="0"/>
          </a:p>
          <a:p>
            <a:r>
              <a:rPr lang="en-GB" dirty="0" smtClean="0"/>
              <a:t>so </a:t>
            </a:r>
            <a:r>
              <a:rPr lang="en-GB" dirty="0"/>
              <a:t>once </a:t>
            </a:r>
            <a:r>
              <a:rPr lang="en-GB" dirty="0" smtClean="0"/>
              <a:t>you </a:t>
            </a:r>
            <a:r>
              <a:rPr lang="en-GB" dirty="0"/>
              <a:t>know the charges on the ions, </a:t>
            </a:r>
            <a:endParaRPr lang="en-GB" dirty="0" smtClean="0"/>
          </a:p>
          <a:p>
            <a:r>
              <a:rPr lang="en-GB" dirty="0" smtClean="0"/>
              <a:t>you can </a:t>
            </a:r>
            <a:r>
              <a:rPr lang="en-GB" dirty="0"/>
              <a:t>work out the </a:t>
            </a:r>
            <a:r>
              <a:rPr lang="en-GB" b="1" dirty="0"/>
              <a:t>formula</a:t>
            </a:r>
            <a:r>
              <a:rPr lang="en-GB" dirty="0"/>
              <a:t>.</a:t>
            </a:r>
          </a:p>
          <a:p>
            <a:r>
              <a:rPr lang="en-GB" dirty="0"/>
              <a:t>Example: </a:t>
            </a:r>
            <a:r>
              <a:rPr lang="en-GB" b="1" dirty="0"/>
              <a:t>magnesium </a:t>
            </a:r>
            <a:r>
              <a:rPr lang="en-GB" b="1" dirty="0" err="1"/>
              <a:t>sulfate</a:t>
            </a:r>
            <a:r>
              <a:rPr lang="en-GB" b="1" dirty="0"/>
              <a:t> </a:t>
            </a:r>
            <a:r>
              <a:rPr lang="en-GB" dirty="0"/>
              <a:t>is</a:t>
            </a:r>
            <a:r>
              <a:rPr lang="en-GB" b="1" dirty="0"/>
              <a:t> </a:t>
            </a:r>
            <a:r>
              <a:rPr lang="en-GB" b="1" dirty="0">
                <a:solidFill>
                  <a:schemeClr val="accent6">
                    <a:lumMod val="50000"/>
                  </a:schemeClr>
                </a:solidFill>
                <a:effectLst>
                  <a:outerShdw blurRad="38100" dist="38100" dir="2700000" algn="tl">
                    <a:srgbClr val="000000">
                      <a:alpha val="43137"/>
                    </a:srgbClr>
                  </a:outerShdw>
                </a:effectLst>
              </a:rPr>
              <a:t>MgSO</a:t>
            </a:r>
            <a:r>
              <a:rPr lang="en-GB" b="1" baseline="-25000" dirty="0">
                <a:solidFill>
                  <a:schemeClr val="accent6">
                    <a:lumMod val="50000"/>
                  </a:schemeClr>
                </a:solidFill>
                <a:effectLst>
                  <a:outerShdw blurRad="38100" dist="38100" dir="2700000" algn="tl">
                    <a:srgbClr val="000000">
                      <a:alpha val="43137"/>
                    </a:srgbClr>
                  </a:outerShdw>
                </a:effectLst>
              </a:rPr>
              <a:t>4</a:t>
            </a:r>
          </a:p>
        </p:txBody>
      </p:sp>
      <p:sp>
        <p:nvSpPr>
          <p:cNvPr id="5" name="Rectangle 4">
            <a:extLst>
              <a:ext uri="{FF2B5EF4-FFF2-40B4-BE49-F238E27FC236}">
                <a16:creationId xmlns:a16="http://schemas.microsoft.com/office/drawing/2014/main" xmlns="" id="{24172547-9A24-44C2-B2F5-2592B0454E7C}"/>
              </a:ext>
            </a:extLst>
          </p:cNvPr>
          <p:cNvSpPr/>
          <p:nvPr/>
        </p:nvSpPr>
        <p:spPr>
          <a:xfrm>
            <a:off x="105989" y="2255819"/>
            <a:ext cx="4283968" cy="1200329"/>
          </a:xfrm>
          <a:prstGeom prst="rect">
            <a:avLst/>
          </a:prstGeom>
          <a:solidFill>
            <a:schemeClr val="accent6">
              <a:lumMod val="20000"/>
              <a:lumOff val="80000"/>
            </a:schemeClr>
          </a:solidFill>
          <a:ln w="3175">
            <a:solidFill>
              <a:schemeClr val="accent6">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GB" u="sng" dirty="0">
                <a:solidFill>
                  <a:schemeClr val="tx1"/>
                </a:solidFill>
                <a:sym typeface="Wingdings" pitchFamily="2" charset="2"/>
              </a:rPr>
              <a:t>Making Soluble Salts from acids and alkalis </a:t>
            </a:r>
          </a:p>
          <a:p>
            <a:pPr algn="ctr"/>
            <a:r>
              <a:rPr lang="en-GB" dirty="0">
                <a:solidFill>
                  <a:schemeClr val="tx1"/>
                </a:solidFill>
                <a:sym typeface="Wingdings" pitchFamily="2" charset="2"/>
              </a:rPr>
              <a:t>Salts can be made by reacting an acid with an alkali.</a:t>
            </a:r>
          </a:p>
          <a:p>
            <a:pPr algn="ctr"/>
            <a:r>
              <a:rPr lang="en-GB" b="1" dirty="0">
                <a:solidFill>
                  <a:schemeClr val="accent6">
                    <a:lumMod val="75000"/>
                  </a:schemeClr>
                </a:solidFill>
                <a:sym typeface="Wingdings" pitchFamily="2" charset="2"/>
              </a:rPr>
              <a:t>Acid + Alkali  Salt + Water</a:t>
            </a:r>
          </a:p>
        </p:txBody>
      </p:sp>
      <p:sp>
        <p:nvSpPr>
          <p:cNvPr id="6" name="Rectangle 5">
            <a:extLst>
              <a:ext uri="{FF2B5EF4-FFF2-40B4-BE49-F238E27FC236}">
                <a16:creationId xmlns:a16="http://schemas.microsoft.com/office/drawing/2014/main" xmlns="" id="{4CE1B48E-D981-470A-8653-5C284171ABF9}"/>
              </a:ext>
            </a:extLst>
          </p:cNvPr>
          <p:cNvSpPr/>
          <p:nvPr/>
        </p:nvSpPr>
        <p:spPr>
          <a:xfrm>
            <a:off x="4472449" y="2255819"/>
            <a:ext cx="4572000" cy="1200329"/>
          </a:xfrm>
          <a:prstGeom prst="rect">
            <a:avLst/>
          </a:prstGeom>
          <a:solidFill>
            <a:schemeClr val="accent6">
              <a:lumMod val="20000"/>
              <a:lumOff val="80000"/>
            </a:schemeClr>
          </a:solidFill>
          <a:ln>
            <a:solidFill>
              <a:schemeClr val="accent6">
                <a:lumMod val="75000"/>
              </a:schemeClr>
            </a:solidFill>
          </a:ln>
        </p:spPr>
        <p:txBody>
          <a:bodyPr>
            <a:spAutoFit/>
          </a:bodyPr>
          <a:lstStyle/>
          <a:p>
            <a:pPr algn="ctr"/>
            <a:r>
              <a:rPr lang="en-GB" u="sng" dirty="0"/>
              <a:t>Making Soluble Salts from acids and bases</a:t>
            </a:r>
          </a:p>
          <a:p>
            <a:pPr algn="ctr"/>
            <a:r>
              <a:rPr lang="en-GB" dirty="0"/>
              <a:t>Salts can be made by reacting an acid with a insoluble base.</a:t>
            </a:r>
          </a:p>
          <a:p>
            <a:pPr algn="ctr"/>
            <a:r>
              <a:rPr lang="en-GB" b="1" dirty="0">
                <a:solidFill>
                  <a:schemeClr val="accent6">
                    <a:lumMod val="75000"/>
                  </a:schemeClr>
                </a:solidFill>
              </a:rPr>
              <a:t>Acid + Bases </a:t>
            </a:r>
            <a:r>
              <a:rPr lang="en-GB" b="1" dirty="0">
                <a:solidFill>
                  <a:schemeClr val="accent6">
                    <a:lumMod val="75000"/>
                  </a:schemeClr>
                </a:solidFill>
                <a:sym typeface="Wingdings" pitchFamily="2" charset="2"/>
              </a:rPr>
              <a:t>  Salt + Water</a:t>
            </a:r>
          </a:p>
        </p:txBody>
      </p:sp>
      <p:sp>
        <p:nvSpPr>
          <p:cNvPr id="8" name="Rectangle 7">
            <a:extLst>
              <a:ext uri="{FF2B5EF4-FFF2-40B4-BE49-F238E27FC236}">
                <a16:creationId xmlns:a16="http://schemas.microsoft.com/office/drawing/2014/main" xmlns="" id="{E2019E6F-9343-4E36-A978-BB44489ADE84}"/>
              </a:ext>
            </a:extLst>
          </p:cNvPr>
          <p:cNvSpPr/>
          <p:nvPr/>
        </p:nvSpPr>
        <p:spPr>
          <a:xfrm>
            <a:off x="99551" y="3534305"/>
            <a:ext cx="8944898" cy="923330"/>
          </a:xfrm>
          <a:prstGeom prst="rect">
            <a:avLst/>
          </a:prstGeom>
          <a:solidFill>
            <a:schemeClr val="accent6">
              <a:lumMod val="20000"/>
              <a:lumOff val="80000"/>
            </a:schemeClr>
          </a:solidFill>
          <a:ln w="3175">
            <a:solidFill>
              <a:schemeClr val="accent6">
                <a:lumMod val="75000"/>
              </a:schemeClr>
            </a:solidFill>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gn="ctr"/>
            <a:r>
              <a:rPr lang="en-GB" u="sng" dirty="0">
                <a:solidFill>
                  <a:schemeClr val="tx1"/>
                </a:solidFill>
                <a:sym typeface="Wingdings" pitchFamily="2" charset="2"/>
              </a:rPr>
              <a:t>Making Soluble Salts from acids and metal carbonates</a:t>
            </a:r>
          </a:p>
          <a:p>
            <a:pPr algn="ctr"/>
            <a:r>
              <a:rPr lang="en-GB" dirty="0">
                <a:solidFill>
                  <a:schemeClr val="tx1"/>
                </a:solidFill>
                <a:sym typeface="Wingdings" pitchFamily="2" charset="2"/>
              </a:rPr>
              <a:t>Salts can be made by reacting an acid with a metal carbonate.</a:t>
            </a:r>
          </a:p>
          <a:p>
            <a:pPr algn="ctr"/>
            <a:r>
              <a:rPr lang="en-GB" b="1" dirty="0">
                <a:solidFill>
                  <a:schemeClr val="accent6">
                    <a:lumMod val="75000"/>
                  </a:schemeClr>
                </a:solidFill>
                <a:sym typeface="Wingdings" pitchFamily="2" charset="2"/>
              </a:rPr>
              <a:t>Acid + Metal carbonate  Salt + Water + Carbon dioxide</a:t>
            </a:r>
          </a:p>
        </p:txBody>
      </p:sp>
      <p:graphicFrame>
        <p:nvGraphicFramePr>
          <p:cNvPr id="9" name="Table 8">
            <a:extLst>
              <a:ext uri="{FF2B5EF4-FFF2-40B4-BE49-F238E27FC236}">
                <a16:creationId xmlns:a16="http://schemas.microsoft.com/office/drawing/2014/main" xmlns="" id="{D8670352-F57D-4039-82C1-4B484CA88D67}"/>
              </a:ext>
            </a:extLst>
          </p:cNvPr>
          <p:cNvGraphicFramePr>
            <a:graphicFrameLocks noGrp="1"/>
          </p:cNvGraphicFramePr>
          <p:nvPr>
            <p:extLst>
              <p:ext uri="{D42A27DB-BD31-4B8C-83A1-F6EECF244321}">
                <p14:modId xmlns:p14="http://schemas.microsoft.com/office/powerpoint/2010/main" val="443615298"/>
              </p:ext>
            </p:extLst>
          </p:nvPr>
        </p:nvGraphicFramePr>
        <p:xfrm>
          <a:off x="4139952" y="4552772"/>
          <a:ext cx="4904497" cy="1979775"/>
        </p:xfrm>
        <a:graphic>
          <a:graphicData uri="http://schemas.openxmlformats.org/drawingml/2006/table">
            <a:tbl>
              <a:tblPr firstRow="1" bandRow="1">
                <a:tableStyleId>{93296810-A885-4BE3-A3E7-6D5BEEA58F35}</a:tableStyleId>
              </a:tblPr>
              <a:tblGrid>
                <a:gridCol w="1172493">
                  <a:extLst>
                    <a:ext uri="{9D8B030D-6E8A-4147-A177-3AD203B41FA5}">
                      <a16:colId xmlns:a16="http://schemas.microsoft.com/office/drawing/2014/main" xmlns="" val="3280370862"/>
                    </a:ext>
                  </a:extLst>
                </a:gridCol>
                <a:gridCol w="996077">
                  <a:extLst>
                    <a:ext uri="{9D8B030D-6E8A-4147-A177-3AD203B41FA5}">
                      <a16:colId xmlns:a16="http://schemas.microsoft.com/office/drawing/2014/main" xmlns="" val="4180975667"/>
                    </a:ext>
                  </a:extLst>
                </a:gridCol>
                <a:gridCol w="1555819">
                  <a:extLst>
                    <a:ext uri="{9D8B030D-6E8A-4147-A177-3AD203B41FA5}">
                      <a16:colId xmlns:a16="http://schemas.microsoft.com/office/drawing/2014/main" xmlns="" val="3823361789"/>
                    </a:ext>
                  </a:extLst>
                </a:gridCol>
                <a:gridCol w="1180108">
                  <a:extLst>
                    <a:ext uri="{9D8B030D-6E8A-4147-A177-3AD203B41FA5}">
                      <a16:colId xmlns:a16="http://schemas.microsoft.com/office/drawing/2014/main" xmlns="" val="2272087199"/>
                    </a:ext>
                  </a:extLst>
                </a:gridCol>
              </a:tblGrid>
              <a:tr h="355125">
                <a:tc>
                  <a:txBody>
                    <a:bodyPr/>
                    <a:lstStyle/>
                    <a:p>
                      <a:pPr algn="ctr"/>
                      <a:r>
                        <a:rPr lang="en-GB" sz="1600" dirty="0"/>
                        <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600" dirty="0"/>
                        <a:t>formula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600" dirty="0"/>
                        <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600" dirty="0"/>
                        <a:t>formula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93628105"/>
                  </a:ext>
                </a:extLst>
              </a:tr>
              <a:tr h="338396">
                <a:tc>
                  <a:txBody>
                    <a:bodyPr/>
                    <a:lstStyle/>
                    <a:p>
                      <a:r>
                        <a:rPr lang="en-GB" sz="1600" dirty="0"/>
                        <a:t>Group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t>Li</a:t>
                      </a:r>
                      <a:r>
                        <a:rPr lang="en-GB" sz="1600" baseline="30000" dirty="0"/>
                        <a:t>+</a:t>
                      </a:r>
                      <a:r>
                        <a:rPr lang="en-GB" sz="1600" dirty="0"/>
                        <a:t>  Na</a:t>
                      </a:r>
                      <a:r>
                        <a:rPr lang="en-GB" sz="1600" baseline="30000" dirty="0"/>
                        <a:t>+</a:t>
                      </a:r>
                      <a:r>
                        <a:rPr lang="en-GB" sz="1600" dirty="0"/>
                        <a:t> K</a:t>
                      </a:r>
                      <a:r>
                        <a:rPr lang="en-GB" sz="1600" baseline="30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t>Transition metals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t>Cu</a:t>
                      </a:r>
                      <a:r>
                        <a:rPr lang="en-GB" sz="1600" baseline="30000" dirty="0"/>
                        <a:t>2+   </a:t>
                      </a:r>
                      <a:r>
                        <a:rPr lang="en-GB" sz="1600" dirty="0"/>
                        <a:t>Fe</a:t>
                      </a:r>
                      <a:r>
                        <a:rPr lang="en-GB" sz="1600" baseline="300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906853568"/>
                  </a:ext>
                </a:extLst>
              </a:tr>
              <a:tr h="288032">
                <a:tc>
                  <a:txBody>
                    <a:bodyPr/>
                    <a:lstStyle/>
                    <a:p>
                      <a:r>
                        <a:rPr lang="en-GB" sz="1600" dirty="0"/>
                        <a:t>Group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t>Mg</a:t>
                      </a:r>
                      <a:r>
                        <a:rPr lang="en-GB" sz="1600" baseline="30000" dirty="0"/>
                        <a:t>2+  </a:t>
                      </a:r>
                      <a:r>
                        <a:rPr lang="en-GB" sz="1600" dirty="0"/>
                        <a:t>Ca</a:t>
                      </a:r>
                      <a:r>
                        <a:rPr lang="en-GB" sz="1600" baseline="300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t>Group 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t>F</a:t>
                      </a:r>
                      <a:r>
                        <a:rPr lang="en-GB" sz="1600" baseline="30000" dirty="0"/>
                        <a:t>-</a:t>
                      </a:r>
                      <a:r>
                        <a:rPr lang="en-GB" sz="1600" dirty="0"/>
                        <a:t>  Cl</a:t>
                      </a:r>
                      <a:r>
                        <a:rPr lang="en-GB" sz="1600" baseline="30000" dirty="0"/>
                        <a:t>-</a:t>
                      </a:r>
                      <a:r>
                        <a:rPr lang="en-GB" sz="1600" dirty="0"/>
                        <a:t> Br</a:t>
                      </a:r>
                      <a:r>
                        <a:rPr lang="en-GB" sz="1600" baseline="30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501892476"/>
                  </a:ext>
                </a:extLst>
              </a:tr>
              <a:tr h="355125">
                <a:tc>
                  <a:txBody>
                    <a:bodyPr/>
                    <a:lstStyle/>
                    <a:p>
                      <a:r>
                        <a:rPr lang="en-GB" sz="1600" dirty="0"/>
                        <a:t>Aluminium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t>Al</a:t>
                      </a:r>
                      <a:r>
                        <a:rPr lang="en-GB" sz="1600" baseline="300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t>Nitrate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t>NO</a:t>
                      </a:r>
                      <a:r>
                        <a:rPr lang="en-GB" sz="1600" baseline="-25000" dirty="0"/>
                        <a:t>3</a:t>
                      </a:r>
                      <a:r>
                        <a:rPr lang="en-GB" sz="1600" baseline="30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800377596"/>
                  </a:ext>
                </a:extLst>
              </a:tr>
              <a:tr h="355125">
                <a:tc>
                  <a:txBody>
                    <a:bodyPr/>
                    <a:lstStyle/>
                    <a:p>
                      <a:r>
                        <a:rPr lang="en-GB" sz="1600" dirty="0"/>
                        <a:t>Ammonium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t>NH</a:t>
                      </a:r>
                      <a:r>
                        <a:rPr lang="en-GB" sz="1600" baseline="-25000" dirty="0"/>
                        <a:t>4</a:t>
                      </a:r>
                      <a:r>
                        <a:rPr lang="en-GB" sz="1600" baseline="300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t>Sulphate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t>SO</a:t>
                      </a:r>
                      <a:r>
                        <a:rPr lang="en-GB" sz="1600" baseline="-25000" dirty="0"/>
                        <a:t>4</a:t>
                      </a:r>
                      <a:r>
                        <a:rPr lang="en-GB" sz="1600" baseline="300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344265461"/>
                  </a:ext>
                </a:extLst>
              </a:tr>
            </a:tbl>
          </a:graphicData>
        </a:graphic>
      </p:graphicFrame>
    </p:spTree>
    <p:extLst>
      <p:ext uri="{BB962C8B-B14F-4D97-AF65-F5344CB8AC3E}">
        <p14:creationId xmlns:p14="http://schemas.microsoft.com/office/powerpoint/2010/main" val="2552329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PART </a:t>
            </a:r>
            <a:r>
              <a:rPr lang="en-US" sz="2400" b="1" dirty="0" smtClean="0">
                <a:solidFill>
                  <a:schemeClr val="accent6"/>
                </a:solidFill>
              </a:rPr>
              <a:t>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62880" y="718374"/>
            <a:ext cx="9018240" cy="1200329"/>
          </a:xfrm>
          <a:prstGeom prst="rect">
            <a:avLst/>
          </a:prstGeom>
          <a:noFill/>
        </p:spPr>
        <p:txBody>
          <a:bodyPr wrap="square" rtlCol="0">
            <a:spAutoFit/>
          </a:bodyPr>
          <a:lstStyle/>
          <a:p>
            <a:pPr algn="ctr"/>
            <a:r>
              <a:rPr lang="en-GB" b="1" dirty="0"/>
              <a:t>Soluble salts </a:t>
            </a:r>
            <a:r>
              <a:rPr lang="en-GB" dirty="0"/>
              <a:t>can be made from </a:t>
            </a:r>
            <a:r>
              <a:rPr lang="en-GB" b="1" dirty="0"/>
              <a:t>acids</a:t>
            </a:r>
            <a:r>
              <a:rPr lang="en-GB" dirty="0"/>
              <a:t> by reacting them with </a:t>
            </a:r>
            <a:r>
              <a:rPr lang="en-GB" b="1" dirty="0"/>
              <a:t>solid insoluble substances</a:t>
            </a:r>
            <a:r>
              <a:rPr lang="en-GB" dirty="0"/>
              <a:t>, such as </a:t>
            </a:r>
            <a:r>
              <a:rPr lang="en-GB" b="1" dirty="0"/>
              <a:t>metals, metal oxides, hydroxides or carbonates</a:t>
            </a:r>
            <a:r>
              <a:rPr lang="en-GB" dirty="0"/>
              <a:t>.  The solid is added to the acid until no more reacts and the excess solid is </a:t>
            </a:r>
            <a:r>
              <a:rPr lang="en-GB" b="1" dirty="0"/>
              <a:t>filtered</a:t>
            </a:r>
            <a:r>
              <a:rPr lang="en-GB" dirty="0"/>
              <a:t> off to produce a solution of the salt.  Salt solutions can be </a:t>
            </a:r>
            <a:r>
              <a:rPr lang="en-GB" b="1" dirty="0"/>
              <a:t>crystallised</a:t>
            </a:r>
            <a:r>
              <a:rPr lang="en-GB" dirty="0"/>
              <a:t> to produce </a:t>
            </a:r>
            <a:r>
              <a:rPr lang="en-GB" b="1" dirty="0"/>
              <a:t>solid</a:t>
            </a:r>
            <a:r>
              <a:rPr lang="en-GB" dirty="0"/>
              <a:t> salts.  </a:t>
            </a:r>
            <a:r>
              <a:rPr lang="en-GB" b="1" dirty="0">
                <a:solidFill>
                  <a:schemeClr val="accent6">
                    <a:lumMod val="75000"/>
                  </a:schemeClr>
                </a:solidFill>
              </a:rPr>
              <a:t>You will complete this as a required practical.</a:t>
            </a:r>
          </a:p>
        </p:txBody>
      </p:sp>
      <p:sp>
        <p:nvSpPr>
          <p:cNvPr id="9" name="Rectangle 8">
            <a:extLst>
              <a:ext uri="{FF2B5EF4-FFF2-40B4-BE49-F238E27FC236}">
                <a16:creationId xmlns:a16="http://schemas.microsoft.com/office/drawing/2014/main" xmlns="" id="{7860724D-6619-4ADA-8CFD-02507C240345}"/>
              </a:ext>
            </a:extLst>
          </p:cNvPr>
          <p:cNvSpPr/>
          <p:nvPr/>
        </p:nvSpPr>
        <p:spPr>
          <a:xfrm>
            <a:off x="1100599" y="2099351"/>
            <a:ext cx="7997999" cy="4247317"/>
          </a:xfrm>
          <a:prstGeom prst="rect">
            <a:avLst/>
          </a:prstGeom>
        </p:spPr>
        <p:txBody>
          <a:bodyPr wrap="square">
            <a:spAutoFit/>
          </a:bodyPr>
          <a:lstStyle/>
          <a:p>
            <a:pPr marL="342900" indent="-342900">
              <a:buFont typeface="+mj-lt"/>
              <a:buAutoNum type="arabicPeriod"/>
            </a:pPr>
            <a:r>
              <a:rPr lang="en-GB" dirty="0">
                <a:solidFill>
                  <a:srgbClr val="000000"/>
                </a:solidFill>
              </a:rPr>
              <a:t>Measure the required volume of acid with a measuring cylinder and add the weighed solid (insoluble metal, oxide, hydroxide or carbonate) in small portions with stirring. </a:t>
            </a:r>
          </a:p>
          <a:p>
            <a:pPr marL="228600" indent="-228600">
              <a:buFont typeface="+mj-lt"/>
              <a:buAutoNum type="arabicPeriod"/>
            </a:pPr>
            <a:endParaRPr lang="en-GB" sz="1200" dirty="0">
              <a:solidFill>
                <a:srgbClr val="000000"/>
              </a:solidFill>
            </a:endParaRPr>
          </a:p>
          <a:p>
            <a:pPr marL="342900" indent="-342900">
              <a:buFont typeface="+mj-lt"/>
              <a:buAutoNum type="arabicPeriod"/>
            </a:pPr>
            <a:r>
              <a:rPr lang="en-GB" dirty="0">
                <a:solidFill>
                  <a:srgbClr val="000000"/>
                </a:solidFill>
              </a:rPr>
              <a:t>Safety </a:t>
            </a:r>
            <a:r>
              <a:rPr lang="en-GB" dirty="0" smtClean="0">
                <a:solidFill>
                  <a:srgbClr val="000000"/>
                </a:solidFill>
              </a:rPr>
              <a:t>goggles </a:t>
            </a:r>
            <a:r>
              <a:rPr lang="en-GB" dirty="0">
                <a:solidFill>
                  <a:srgbClr val="000000"/>
                </a:solidFill>
              </a:rPr>
              <a:t>required - </a:t>
            </a:r>
            <a:r>
              <a:rPr lang="en-GB" dirty="0" smtClean="0">
                <a:solidFill>
                  <a:srgbClr val="000000"/>
                </a:solidFill>
              </a:rPr>
              <a:t>the </a:t>
            </a:r>
            <a:r>
              <a:rPr lang="en-GB" dirty="0">
                <a:solidFill>
                  <a:srgbClr val="000000"/>
                </a:solidFill>
              </a:rPr>
              <a:t>mixture may be heated to speed up the reaction. When no more of the solid dissolves it means ALL the acid is neutralised and there should be a little excess solid. You should see a residue of the solid (oxide, hydroxide, carbonate) left at the bottom of the beaker.</a:t>
            </a:r>
          </a:p>
          <a:p>
            <a:pPr marL="342900" indent="-342900">
              <a:buFont typeface="+mj-lt"/>
              <a:buAutoNum type="arabicPeriod"/>
            </a:pPr>
            <a:endParaRPr lang="en-GB" sz="1200" dirty="0">
              <a:solidFill>
                <a:srgbClr val="000000"/>
              </a:solidFill>
            </a:endParaRPr>
          </a:p>
          <a:p>
            <a:pPr marL="342900" indent="-342900">
              <a:buFont typeface="+mj-lt"/>
              <a:buAutoNum type="arabicPeriod"/>
            </a:pPr>
            <a:r>
              <a:rPr lang="en-GB" dirty="0">
                <a:solidFill>
                  <a:srgbClr val="000000"/>
                </a:solidFill>
              </a:rPr>
              <a:t>Filter the solution to remove the excess solid metal/oxide/carbonate, into an evaporating dish.  On filtration, only a solution of the salt is left.</a:t>
            </a:r>
          </a:p>
          <a:p>
            <a:pPr marL="457200" indent="-457200">
              <a:buFont typeface="+mj-lt"/>
              <a:buAutoNum type="arabicPeriod"/>
            </a:pPr>
            <a:endParaRPr lang="en-GB" sz="1200" dirty="0">
              <a:solidFill>
                <a:srgbClr val="000000"/>
              </a:solidFill>
            </a:endParaRPr>
          </a:p>
          <a:p>
            <a:pPr marL="342900" indent="-342900">
              <a:buFont typeface="+mj-lt"/>
              <a:buAutoNum type="arabicPeriod"/>
            </a:pPr>
            <a:r>
              <a:rPr lang="en-GB" dirty="0">
                <a:solidFill>
                  <a:srgbClr val="000000"/>
                </a:solidFill>
              </a:rPr>
              <a:t>Then hot concentrated solution is left to cool and crystallise. After </a:t>
            </a:r>
            <a:r>
              <a:rPr lang="en-GB" b="1" dirty="0">
                <a:solidFill>
                  <a:srgbClr val="000000"/>
                </a:solidFill>
              </a:rPr>
              <a:t>crystallisation</a:t>
            </a:r>
            <a:r>
              <a:rPr lang="en-GB" dirty="0">
                <a:solidFill>
                  <a:srgbClr val="000000"/>
                </a:solidFill>
              </a:rPr>
              <a:t>, you collect and dry the crystals with a filter paper.</a:t>
            </a:r>
          </a:p>
          <a:p>
            <a:r>
              <a:rPr lang="en-GB" dirty="0"/>
              <a:t>       If the solution is heated, the solvent will evaporate faster. Heating a         </a:t>
            </a:r>
          </a:p>
          <a:p>
            <a:r>
              <a:rPr lang="en-GB" dirty="0"/>
              <a:t>       solution until all the solvent has evaporated is known as </a:t>
            </a:r>
            <a:r>
              <a:rPr lang="en-GB" b="1" dirty="0"/>
              <a:t>heating to dryness</a:t>
            </a:r>
            <a:r>
              <a:rPr lang="en-GB" dirty="0"/>
              <a:t>.</a:t>
            </a:r>
            <a:endParaRPr lang="en-GB" i="0" dirty="0">
              <a:solidFill>
                <a:srgbClr val="000000"/>
              </a:solidFill>
              <a:effectLst/>
            </a:endParaRPr>
          </a:p>
        </p:txBody>
      </p:sp>
      <p:pic>
        <p:nvPicPr>
          <p:cNvPr id="11" name="Picture 10">
            <a:extLst>
              <a:ext uri="{FF2B5EF4-FFF2-40B4-BE49-F238E27FC236}">
                <a16:creationId xmlns:a16="http://schemas.microsoft.com/office/drawing/2014/main" xmlns="" id="{06CA7A05-0EDF-457C-AA00-1121673B6935}"/>
              </a:ext>
            </a:extLst>
          </p:cNvPr>
          <p:cNvPicPr>
            <a:picLocks noChangeAspect="1"/>
          </p:cNvPicPr>
          <p:nvPr/>
        </p:nvPicPr>
        <p:blipFill>
          <a:blip r:embed="rId3"/>
          <a:stretch>
            <a:fillRect/>
          </a:stretch>
        </p:blipFill>
        <p:spPr>
          <a:xfrm>
            <a:off x="154360" y="1998008"/>
            <a:ext cx="914400" cy="4371975"/>
          </a:xfrm>
          <a:prstGeom prst="rect">
            <a:avLst/>
          </a:prstGeom>
        </p:spPr>
      </p:pic>
    </p:spTree>
    <p:extLst>
      <p:ext uri="{BB962C8B-B14F-4D97-AF65-F5344CB8AC3E}">
        <p14:creationId xmlns:p14="http://schemas.microsoft.com/office/powerpoint/2010/main" val="811015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955203"/>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Reactions of acids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Acids and metals</a:t>
            </a:r>
          </a:p>
          <a:p>
            <a:pPr marL="685800" lvl="1" indent="-342900">
              <a:buFont typeface="Arial" charset="0"/>
              <a:buChar char="•"/>
            </a:pPr>
            <a:r>
              <a:rPr lang="en-US" sz="2400" b="1" dirty="0" err="1">
                <a:solidFill>
                  <a:schemeClr val="bg1">
                    <a:lumMod val="50000"/>
                  </a:schemeClr>
                </a:solidFill>
              </a:rPr>
              <a:t>Neutralisation</a:t>
            </a:r>
            <a:r>
              <a:rPr lang="en-US" sz="2400" b="1" dirty="0">
                <a:solidFill>
                  <a:schemeClr val="bg1">
                    <a:lumMod val="50000"/>
                  </a:schemeClr>
                </a:solidFill>
              </a:rPr>
              <a:t> of acids</a:t>
            </a:r>
          </a:p>
          <a:p>
            <a:pPr marL="685800" lvl="1" indent="-342900">
              <a:buFont typeface="Arial" charset="0"/>
              <a:buChar char="•"/>
            </a:pPr>
            <a:r>
              <a:rPr lang="en-US" sz="2400" b="1" dirty="0">
                <a:solidFill>
                  <a:schemeClr val="bg1">
                    <a:lumMod val="50000"/>
                  </a:schemeClr>
                </a:solidFill>
              </a:rPr>
              <a:t>Soluble salts</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17283297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637097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noProof="0" dirty="0" smtClean="0">
                <a:latin typeface="Calibri"/>
              </a:rPr>
              <a:t>What is produced when acids react with metals?</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noProof="0" dirty="0" smtClean="0">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i="0" u="none" strike="noStrike" kern="1200" cap="none" spc="0" normalizeH="0" baseline="0" dirty="0" smtClean="0">
                <a:ln>
                  <a:noFill/>
                </a:ln>
                <a:effectLst/>
                <a:uLnTx/>
                <a:uFillTx/>
                <a:latin typeface="Calibri"/>
              </a:rPr>
              <a:t>HT:</a:t>
            </a:r>
            <a:r>
              <a:rPr kumimoji="0" lang="en-GB" sz="2400" i="0" u="none" strike="noStrike" kern="1200" cap="none" spc="0" normalizeH="0" dirty="0" smtClean="0">
                <a:ln>
                  <a:noFill/>
                </a:ln>
                <a:effectLst/>
                <a:uLnTx/>
                <a:uFillTx/>
                <a:latin typeface="Calibri"/>
              </a:rPr>
              <a:t> What is a redox reaction?</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GB" sz="2400" i="0" u="none" strike="noStrike" kern="1200" cap="none" spc="0" normalizeH="0" dirty="0" smtClean="0">
              <a:ln>
                <a:noFill/>
              </a:ln>
              <a:effectLst/>
              <a:uLnTx/>
              <a:uFillTx/>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latin typeface="Calibri"/>
              </a:rPr>
              <a:t>What is produced when an acid reacts with a carbonate?</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smtClean="0">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i="0" u="none" strike="noStrike" kern="1200" cap="none" spc="0" normalizeH="0" baseline="0" noProof="0" dirty="0" smtClean="0">
                <a:ln>
                  <a:noFill/>
                </a:ln>
                <a:effectLst/>
                <a:uLnTx/>
                <a:uFillTx/>
                <a:latin typeface="Calibri"/>
              </a:rPr>
              <a:t>What </a:t>
            </a:r>
            <a:r>
              <a:rPr lang="en-GB" sz="2400" dirty="0" smtClean="0">
                <a:latin typeface="Calibri"/>
              </a:rPr>
              <a:t>salt is produced by the following acids?</a:t>
            </a:r>
          </a:p>
          <a:p>
            <a:pPr marL="914400" lvl="1" indent="-457200">
              <a:buFont typeface="+mj-lt"/>
              <a:buAutoNum type="alphaLcParenR"/>
              <a:defRPr/>
            </a:pPr>
            <a:r>
              <a:rPr lang="en-GB" sz="2400" dirty="0" smtClean="0">
                <a:latin typeface="Calibri"/>
              </a:rPr>
              <a:t>Hydrochloric acid</a:t>
            </a:r>
          </a:p>
          <a:p>
            <a:pPr marL="914400" lvl="1" indent="-457200">
              <a:buFont typeface="+mj-lt"/>
              <a:buAutoNum type="alphaLcParenR"/>
              <a:defRPr/>
            </a:pPr>
            <a:r>
              <a:rPr lang="en-GB" sz="2400" dirty="0" smtClean="0">
                <a:latin typeface="Calibri"/>
              </a:rPr>
              <a:t>Sulfuric acid</a:t>
            </a:r>
          </a:p>
          <a:p>
            <a:pPr marL="914400" lvl="1" indent="-457200">
              <a:buFont typeface="+mj-lt"/>
              <a:buAutoNum type="alphaLcParenR"/>
              <a:defRPr/>
            </a:pPr>
            <a:r>
              <a:rPr lang="en-GB" sz="2400" dirty="0" smtClean="0">
                <a:latin typeface="Calibri"/>
              </a:rPr>
              <a:t>Nitric acid</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smtClean="0">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i="0" u="none" strike="noStrike" kern="1200" cap="none" spc="0" normalizeH="0" baseline="0" noProof="0" dirty="0" smtClean="0">
                <a:ln>
                  <a:noFill/>
                </a:ln>
                <a:effectLst/>
                <a:uLnTx/>
                <a:uFillTx/>
                <a:latin typeface="Calibri"/>
              </a:rPr>
              <a:t>How</a:t>
            </a:r>
            <a:r>
              <a:rPr kumimoji="0" lang="en-GB" sz="2400" i="0" u="none" strike="noStrike" kern="1200" cap="none" spc="0" normalizeH="0" noProof="0" dirty="0" smtClean="0">
                <a:ln>
                  <a:noFill/>
                </a:ln>
                <a:effectLst/>
                <a:uLnTx/>
                <a:uFillTx/>
                <a:latin typeface="Calibri"/>
              </a:rPr>
              <a:t> are soluble salts made from acids and insoluble substances?</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GB" sz="2400" i="0" u="none" strike="noStrike" kern="1200" cap="none" spc="0" normalizeH="0" noProof="0" dirty="0" smtClean="0">
              <a:ln>
                <a:noFill/>
              </a:ln>
              <a:effectLst/>
              <a:uLnTx/>
              <a:uFillTx/>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noProof="0" dirty="0" smtClean="0">
                <a:latin typeface="Calibri"/>
              </a:rPr>
              <a:t>Name the process of producing solid salts from salt solution.</a:t>
            </a:r>
            <a:endParaRPr kumimoji="0" lang="en-GB" sz="2400" i="0" u="none" strike="noStrike" kern="1200" cap="none" spc="0" normalizeH="0" baseline="0" noProof="0" dirty="0">
              <a:ln>
                <a:noFill/>
              </a:ln>
              <a:effectLst/>
              <a:uLnTx/>
              <a:uFillTx/>
              <a:latin typeface="Calibri"/>
            </a:endParaRPr>
          </a:p>
          <a:p>
            <a:r>
              <a:rPr lang="en-GB" sz="2400" b="1" dirty="0">
                <a:solidFill>
                  <a:srgbClr val="00B050"/>
                </a:solidFill>
                <a:latin typeface="Calibri"/>
              </a:rPr>
              <a:t>            </a:t>
            </a:r>
            <a:endParaRPr lang="pt-BR" sz="2400" b="1" dirty="0">
              <a:solidFill>
                <a:srgbClr val="00B05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400" dirty="0">
              <a:solidFill>
                <a:prstClr val="black"/>
              </a:solidFill>
              <a:latin typeface="Calibri"/>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233352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6001643"/>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7"/>
              <a:tabLst/>
              <a:defRPr/>
            </a:pPr>
            <a:r>
              <a:rPr lang="en-GB" sz="2400" dirty="0">
                <a:solidFill>
                  <a:prstClr val="black"/>
                </a:solidFill>
                <a:latin typeface="Calibri"/>
              </a:rPr>
              <a:t>Complete the following equations:</a:t>
            </a:r>
          </a:p>
          <a:p>
            <a:pPr marR="0" lvl="0" algn="l" defTabSz="914400" rtl="0" eaLnBrk="1" fontAlgn="auto" latinLnBrk="0" hangingPunct="1">
              <a:lnSpc>
                <a:spcPct val="100000"/>
              </a:lnSpc>
              <a:spcBef>
                <a:spcPts val="0"/>
              </a:spcBef>
              <a:spcAft>
                <a:spcPts val="0"/>
              </a:spcAft>
              <a:buClrTx/>
              <a:buSzTx/>
              <a:tabLst/>
              <a:defRPr/>
            </a:pPr>
            <a:r>
              <a:rPr lang="en-GB" sz="2400" dirty="0">
                <a:solidFill>
                  <a:prstClr val="black"/>
                </a:solidFill>
                <a:latin typeface="Calibri"/>
              </a:rPr>
              <a:t>       a) magnesium + sulfuric acid </a:t>
            </a:r>
            <a:r>
              <a:rPr lang="en-GB" sz="2400" dirty="0">
                <a:solidFill>
                  <a:prstClr val="black"/>
                </a:solidFill>
                <a:latin typeface="Calibri"/>
                <a:sym typeface="Wingdings" panose="05000000000000000000" pitchFamily="2" charset="2"/>
              </a:rPr>
              <a:t> </a:t>
            </a:r>
          </a:p>
          <a:p>
            <a:pPr marR="0" lvl="0" algn="l" defTabSz="914400" rtl="0" eaLnBrk="1" fontAlgn="auto" latinLnBrk="0" hangingPunct="1">
              <a:lnSpc>
                <a:spcPct val="100000"/>
              </a:lnSpc>
              <a:spcBef>
                <a:spcPts val="0"/>
              </a:spcBef>
              <a:spcAft>
                <a:spcPts val="0"/>
              </a:spcAft>
              <a:buClrTx/>
              <a:buSzTx/>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       b) sodium hydroxide + hydrochloric acid  </a:t>
            </a:r>
            <a:endParaRPr kumimoji="0" lang="en-GB" sz="2400" b="1" i="0" u="none" strike="noStrike" kern="1200" cap="none" spc="0" normalizeH="0" baseline="0" noProof="0" dirty="0">
              <a:ln>
                <a:noFill/>
              </a:ln>
              <a:solidFill>
                <a:srgbClr val="00B050"/>
              </a:solidFill>
              <a:effectLst/>
              <a:uLnTx/>
              <a:uFillTx/>
              <a:latin typeface="Calibri"/>
              <a:ea typeface="+mn-ea"/>
              <a:cs typeface="+mn-cs"/>
              <a:sym typeface="Wingdings" panose="05000000000000000000" pitchFamily="2" charset="2"/>
            </a:endParaRPr>
          </a:p>
          <a:p>
            <a:pPr marR="0" lvl="0" algn="l" defTabSz="914400" rtl="0" eaLnBrk="1" fontAlgn="auto" latinLnBrk="0" hangingPunct="1">
              <a:lnSpc>
                <a:spcPct val="100000"/>
              </a:lnSpc>
              <a:spcBef>
                <a:spcPts val="0"/>
              </a:spcBef>
              <a:spcAft>
                <a:spcPts val="0"/>
              </a:spcAft>
              <a:buClrTx/>
              <a:buSzTx/>
              <a:tabLst/>
              <a:defRPr/>
            </a:pPr>
            <a:r>
              <a:rPr lang="en-GB" sz="2400" dirty="0">
                <a:solidFill>
                  <a:prstClr val="black"/>
                </a:solidFill>
                <a:latin typeface="Calibri"/>
                <a:sym typeface="Wingdings" panose="05000000000000000000" pitchFamily="2" charset="2"/>
              </a:rPr>
              <a:t>       c) lithium carbonate + nitric acid  </a:t>
            </a:r>
            <a:endParaRPr lang="en-GB" sz="2400" b="1" dirty="0">
              <a:solidFill>
                <a:srgbClr val="00B050"/>
              </a:solidFill>
              <a:latin typeface="Calibri"/>
              <a:sym typeface="Wingdings" panose="05000000000000000000" pitchFamily="2" charset="2"/>
            </a:endParaRPr>
          </a:p>
          <a:p>
            <a:pPr marR="0" lvl="0" algn="r" defTabSz="914400" rtl="0" eaLnBrk="1" fontAlgn="auto" latinLnBrk="0" hangingPunct="1">
              <a:lnSpc>
                <a:spcPct val="100000"/>
              </a:lnSpc>
              <a:spcBef>
                <a:spcPts val="0"/>
              </a:spcBef>
              <a:spcAft>
                <a:spcPts val="0"/>
              </a:spcAft>
              <a:buClrTx/>
              <a:buSzTx/>
              <a:tabLst/>
              <a:defRPr/>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R="0" lvl="0" algn="r" defTabSz="914400" rtl="0" eaLnBrk="1" fontAlgn="auto" latinLnBrk="0" hangingPunct="1">
              <a:lnSpc>
                <a:spcPct val="100000"/>
              </a:lnSpc>
              <a:spcBef>
                <a:spcPts val="0"/>
              </a:spcBef>
              <a:spcAft>
                <a:spcPts val="0"/>
              </a:spcAft>
              <a:buClrTx/>
              <a:buSzTx/>
              <a:tabLst/>
              <a:defRPr/>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lvl="0" indent="-457200">
              <a:buFont typeface="+mj-lt"/>
              <a:buAutoNum type="arabicPeriod" startAt="8"/>
            </a:pPr>
            <a:r>
              <a:rPr lang="en-GB" sz="2400" dirty="0">
                <a:latin typeface="Calibri"/>
              </a:rPr>
              <a:t>Write a balanced </a:t>
            </a:r>
            <a:r>
              <a:rPr lang="en-GB" sz="2400" dirty="0" smtClean="0">
                <a:latin typeface="Calibri"/>
              </a:rPr>
              <a:t>symbol equation, with state symbols, for the reaction between zinc and hydrochloric acid.</a:t>
            </a:r>
            <a:endParaRPr lang="en-GB" sz="2400" dirty="0">
              <a:latin typeface="Calibri"/>
            </a:endParaRPr>
          </a:p>
          <a:p>
            <a:pPr lvl="0"/>
            <a:r>
              <a:rPr lang="en-GB" sz="2400" dirty="0">
                <a:latin typeface="Calibri"/>
              </a:rPr>
              <a:t>       </a:t>
            </a:r>
            <a:endParaRPr lang="pt-BR" sz="2400" b="1" dirty="0">
              <a:solidFill>
                <a:srgbClr val="00B050"/>
              </a:solidFill>
            </a:endParaRPr>
          </a:p>
          <a:p>
            <a:pPr marR="0" lvl="0" algn="l" defTabSz="914400" rtl="0" eaLnBrk="1" fontAlgn="auto" latinLnBrk="0" hangingPunct="1">
              <a:lnSpc>
                <a:spcPct val="100000"/>
              </a:lnSpc>
              <a:spcBef>
                <a:spcPts val="0"/>
              </a:spcBef>
              <a:spcAft>
                <a:spcPts val="0"/>
              </a:spcAft>
              <a:buClrTx/>
              <a:buSzTx/>
              <a:tabLst/>
              <a:defRPr/>
            </a:pPr>
            <a:endParaRPr lang="en-GB" sz="2400" dirty="0">
              <a:latin typeface="Calibri"/>
            </a:endParaRPr>
          </a:p>
          <a:p>
            <a:pPr marR="0" lvl="0" algn="l" defTabSz="914400" rtl="0" eaLnBrk="1" fontAlgn="auto" latinLnBrk="0" hangingPunct="1">
              <a:lnSpc>
                <a:spcPct val="100000"/>
              </a:lnSpc>
              <a:spcBef>
                <a:spcPts val="0"/>
              </a:spcBef>
              <a:spcAft>
                <a:spcPts val="0"/>
              </a:spcAft>
              <a:buClrTx/>
              <a:buSzTx/>
              <a:tabLst/>
              <a:defRPr/>
            </a:pPr>
            <a:r>
              <a:rPr lang="en-GB" sz="2400" dirty="0" smtClean="0">
                <a:latin typeface="Calibri"/>
              </a:rPr>
              <a:t>9.    </a:t>
            </a:r>
            <a:r>
              <a:rPr lang="en-GB" sz="2400" b="1" dirty="0" smtClean="0">
                <a:latin typeface="Calibri"/>
              </a:rPr>
              <a:t>Higher</a:t>
            </a:r>
            <a:r>
              <a:rPr lang="en-GB" sz="2400" dirty="0">
                <a:latin typeface="Calibri"/>
              </a:rPr>
              <a:t>:</a:t>
            </a:r>
          </a:p>
          <a:p>
            <a:pPr marR="0" lvl="0" algn="l" defTabSz="914400" rtl="0" eaLnBrk="1" fontAlgn="auto" latinLnBrk="0" hangingPunct="1">
              <a:lnSpc>
                <a:spcPct val="100000"/>
              </a:lnSpc>
              <a:spcBef>
                <a:spcPts val="0"/>
              </a:spcBef>
              <a:spcAft>
                <a:spcPts val="0"/>
              </a:spcAft>
              <a:buClrTx/>
              <a:buSzTx/>
              <a:tabLst/>
              <a:defRPr/>
            </a:pPr>
            <a:r>
              <a:rPr lang="en-GB" sz="2400" dirty="0">
                <a:latin typeface="Calibri"/>
              </a:rPr>
              <a:t>       </a:t>
            </a:r>
            <a:r>
              <a:rPr lang="en-GB" sz="2400" dirty="0" smtClean="0">
                <a:latin typeface="Calibri"/>
              </a:rPr>
              <a:t>     Write </a:t>
            </a:r>
            <a:r>
              <a:rPr lang="en-GB" sz="2400" dirty="0">
                <a:latin typeface="Calibri"/>
              </a:rPr>
              <a:t>an ionic </a:t>
            </a:r>
            <a:r>
              <a:rPr lang="en-GB" sz="2400" dirty="0" smtClean="0">
                <a:latin typeface="Calibri"/>
              </a:rPr>
              <a:t>equation, </a:t>
            </a:r>
            <a:r>
              <a:rPr lang="en-GB" sz="2400" dirty="0">
                <a:latin typeface="Calibri"/>
              </a:rPr>
              <a:t>with state </a:t>
            </a:r>
            <a:r>
              <a:rPr lang="en-GB" sz="2400" dirty="0" smtClean="0">
                <a:latin typeface="Calibri"/>
              </a:rPr>
              <a:t>symbols, </a:t>
            </a:r>
            <a:r>
              <a:rPr lang="en-GB" sz="2400" dirty="0">
                <a:latin typeface="Calibri"/>
              </a:rPr>
              <a:t>to show magnesium </a:t>
            </a:r>
          </a:p>
          <a:p>
            <a:pPr marR="0" lvl="0" algn="l" defTabSz="914400" rtl="0" eaLnBrk="1" fontAlgn="auto" latinLnBrk="0" hangingPunct="1">
              <a:lnSpc>
                <a:spcPct val="100000"/>
              </a:lnSpc>
              <a:spcBef>
                <a:spcPts val="0"/>
              </a:spcBef>
              <a:spcAft>
                <a:spcPts val="0"/>
              </a:spcAft>
              <a:buClrTx/>
              <a:buSzTx/>
              <a:tabLst/>
              <a:defRPr/>
            </a:pPr>
            <a:r>
              <a:rPr lang="en-GB" sz="2400" dirty="0">
                <a:latin typeface="Calibri"/>
              </a:rPr>
              <a:t>            reacting with hydrochloric acid.</a:t>
            </a:r>
            <a:endParaRPr kumimoji="0" lang="en-GB" sz="2400" i="0" u="none" strike="noStrike" kern="1200" cap="none" spc="0" normalizeH="0" baseline="0" noProof="0" dirty="0">
              <a:ln>
                <a:noFill/>
              </a:ln>
              <a:effectLst/>
              <a:uLnTx/>
              <a:uFillTx/>
              <a:latin typeface="Calibri"/>
            </a:endParaRPr>
          </a:p>
          <a:p>
            <a:r>
              <a:rPr lang="en-GB" sz="2400" b="1" dirty="0">
                <a:solidFill>
                  <a:srgbClr val="00B050"/>
                </a:solidFill>
                <a:latin typeface="Calibri"/>
              </a:rPr>
              <a:t>            </a:t>
            </a:r>
            <a:endParaRPr lang="pt-BR" sz="2400" b="1" dirty="0">
              <a:solidFill>
                <a:srgbClr val="00B05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400" dirty="0">
              <a:solidFill>
                <a:prstClr val="black"/>
              </a:solidFill>
              <a:latin typeface="Calibri"/>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347683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955203"/>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Reactions of acids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Acids and metals</a:t>
            </a:r>
          </a:p>
          <a:p>
            <a:pPr marL="685800" lvl="1" indent="-342900">
              <a:buFont typeface="Arial" charset="0"/>
              <a:buChar char="•"/>
            </a:pPr>
            <a:r>
              <a:rPr lang="en-US" sz="2400" b="1" dirty="0" err="1">
                <a:solidFill>
                  <a:schemeClr val="bg1">
                    <a:lumMod val="50000"/>
                  </a:schemeClr>
                </a:solidFill>
              </a:rPr>
              <a:t>Neutralisation</a:t>
            </a:r>
            <a:r>
              <a:rPr lang="en-US" sz="2400" b="1" dirty="0">
                <a:solidFill>
                  <a:schemeClr val="bg1">
                    <a:lumMod val="50000"/>
                  </a:schemeClr>
                </a:solidFill>
              </a:rPr>
              <a:t> of acids</a:t>
            </a:r>
          </a:p>
          <a:p>
            <a:pPr marL="685800" lvl="1" indent="-342900">
              <a:buFont typeface="Arial" charset="0"/>
              <a:buChar char="•"/>
            </a:pPr>
            <a:r>
              <a:rPr lang="en-US" sz="2400" b="1" dirty="0">
                <a:solidFill>
                  <a:schemeClr val="bg1">
                    <a:lumMod val="50000"/>
                  </a:schemeClr>
                </a:solidFill>
              </a:rPr>
              <a:t>Soluble salts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41928422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6001643"/>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noProof="0" dirty="0" smtClean="0">
                <a:latin typeface="Calibri"/>
              </a:rPr>
              <a:t>What is produced when acids react with metals?</a:t>
            </a:r>
          </a:p>
          <a:p>
            <a:pPr lvl="1">
              <a:defRPr/>
            </a:pPr>
            <a:r>
              <a:rPr lang="en-GB" sz="2400" b="1" dirty="0" smtClean="0">
                <a:solidFill>
                  <a:srgbClr val="00B050"/>
                </a:solidFill>
              </a:rPr>
              <a:t>Salt + water.</a:t>
            </a:r>
            <a:endParaRPr lang="en-GB" sz="2400" noProof="0" dirty="0" smtClean="0">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i="0" u="none" strike="noStrike" kern="1200" cap="none" spc="0" normalizeH="0" baseline="0" dirty="0" smtClean="0">
                <a:ln>
                  <a:noFill/>
                </a:ln>
                <a:effectLst/>
                <a:uLnTx/>
                <a:uFillTx/>
                <a:latin typeface="Calibri"/>
              </a:rPr>
              <a:t>HT:</a:t>
            </a:r>
            <a:r>
              <a:rPr kumimoji="0" lang="en-GB" sz="2400" i="0" u="none" strike="noStrike" kern="1200" cap="none" spc="0" normalizeH="0" dirty="0" smtClean="0">
                <a:ln>
                  <a:noFill/>
                </a:ln>
                <a:effectLst/>
                <a:uLnTx/>
                <a:uFillTx/>
                <a:latin typeface="Calibri"/>
              </a:rPr>
              <a:t> What is a redox reaction?</a:t>
            </a:r>
          </a:p>
          <a:p>
            <a:pPr lvl="1">
              <a:defRPr/>
            </a:pPr>
            <a:r>
              <a:rPr lang="en-GB" sz="2400" b="1" dirty="0" smtClean="0">
                <a:solidFill>
                  <a:srgbClr val="00B050"/>
                </a:solidFill>
              </a:rPr>
              <a:t>Oxidation and reduction.</a:t>
            </a:r>
            <a:endParaRPr kumimoji="0" lang="en-GB" sz="2400" i="0" u="none" strike="noStrike" kern="1200" cap="none" spc="0" normalizeH="0" dirty="0" smtClean="0">
              <a:ln>
                <a:noFill/>
              </a:ln>
              <a:effectLst/>
              <a:uLnTx/>
              <a:uFillTx/>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latin typeface="Calibri"/>
              </a:rPr>
              <a:t>What is produced when an acid reacts with a carbonate?</a:t>
            </a:r>
          </a:p>
          <a:p>
            <a:pPr lvl="1">
              <a:defRPr/>
            </a:pPr>
            <a:r>
              <a:rPr lang="pt-BR" sz="2400" b="1" dirty="0" smtClean="0">
                <a:solidFill>
                  <a:srgbClr val="00B050"/>
                </a:solidFill>
              </a:rPr>
              <a:t>Salt + water + carbon dioxide.</a:t>
            </a:r>
            <a:endParaRPr lang="en-GB" sz="2400" dirty="0" smtClean="0">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i="0" u="none" strike="noStrike" kern="1200" cap="none" spc="0" normalizeH="0" baseline="0" noProof="0" dirty="0" smtClean="0">
                <a:ln>
                  <a:noFill/>
                </a:ln>
                <a:effectLst/>
                <a:uLnTx/>
                <a:uFillTx/>
                <a:latin typeface="Calibri"/>
              </a:rPr>
              <a:t>What </a:t>
            </a:r>
            <a:r>
              <a:rPr lang="en-GB" sz="2400" dirty="0" smtClean="0">
                <a:latin typeface="Calibri"/>
              </a:rPr>
              <a:t>salt is produced by the following acids?</a:t>
            </a:r>
          </a:p>
          <a:p>
            <a:pPr marL="914400" lvl="1" indent="-457200">
              <a:buFont typeface="+mj-lt"/>
              <a:buAutoNum type="alphaLcParenR"/>
              <a:defRPr/>
            </a:pPr>
            <a:r>
              <a:rPr lang="en-GB" sz="2400" dirty="0" smtClean="0">
                <a:latin typeface="Calibri"/>
              </a:rPr>
              <a:t>Hydrochloric acid </a:t>
            </a:r>
            <a:r>
              <a:rPr lang="pt-BR" sz="2400" b="1" dirty="0" smtClean="0">
                <a:solidFill>
                  <a:srgbClr val="00B050"/>
                </a:solidFill>
              </a:rPr>
              <a:t>Chloride</a:t>
            </a:r>
            <a:endParaRPr lang="en-GB" sz="2400" dirty="0" smtClean="0">
              <a:latin typeface="Calibri"/>
            </a:endParaRPr>
          </a:p>
          <a:p>
            <a:pPr marL="914400" lvl="1" indent="-457200">
              <a:buFont typeface="+mj-lt"/>
              <a:buAutoNum type="alphaLcParenR"/>
              <a:defRPr/>
            </a:pPr>
            <a:r>
              <a:rPr lang="en-GB" sz="2400" dirty="0" smtClean="0">
                <a:latin typeface="Calibri"/>
              </a:rPr>
              <a:t>Sulfuric acid </a:t>
            </a:r>
            <a:r>
              <a:rPr lang="en-GB" sz="2400" b="1" dirty="0" err="1" smtClean="0">
                <a:solidFill>
                  <a:srgbClr val="00B050"/>
                </a:solidFill>
              </a:rPr>
              <a:t>Sulfate</a:t>
            </a:r>
            <a:endParaRPr lang="en-GB" sz="2400" dirty="0" smtClean="0">
              <a:latin typeface="Calibri"/>
            </a:endParaRPr>
          </a:p>
          <a:p>
            <a:pPr marL="914400" lvl="1" indent="-457200">
              <a:buFont typeface="+mj-lt"/>
              <a:buAutoNum type="alphaLcParenR"/>
              <a:defRPr/>
            </a:pPr>
            <a:r>
              <a:rPr lang="en-GB" sz="2400" dirty="0" smtClean="0">
                <a:latin typeface="Calibri"/>
              </a:rPr>
              <a:t>Nitric acid </a:t>
            </a:r>
            <a:r>
              <a:rPr lang="en-GB" sz="2400" b="1" dirty="0" smtClean="0">
                <a:solidFill>
                  <a:srgbClr val="00B050"/>
                </a:solidFill>
              </a:rPr>
              <a:t>Nitrate</a:t>
            </a:r>
            <a:endParaRPr lang="en-GB" sz="2400" dirty="0" smtClean="0">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i="0" u="none" strike="noStrike" kern="1200" cap="none" spc="0" normalizeH="0" baseline="0" noProof="0" dirty="0" smtClean="0">
                <a:ln>
                  <a:noFill/>
                </a:ln>
                <a:effectLst/>
                <a:uLnTx/>
                <a:uFillTx/>
                <a:latin typeface="Calibri"/>
              </a:rPr>
              <a:t>How</a:t>
            </a:r>
            <a:r>
              <a:rPr kumimoji="0" lang="en-GB" sz="2400" i="0" u="none" strike="noStrike" kern="1200" cap="none" spc="0" normalizeH="0" noProof="0" dirty="0" smtClean="0">
                <a:ln>
                  <a:noFill/>
                </a:ln>
                <a:effectLst/>
                <a:uLnTx/>
                <a:uFillTx/>
                <a:latin typeface="Calibri"/>
              </a:rPr>
              <a:t> are soluble salts made from acids and insoluble substances?</a:t>
            </a:r>
          </a:p>
          <a:p>
            <a:pPr lvl="1">
              <a:defRPr/>
            </a:pPr>
            <a:r>
              <a:rPr lang="en-GB" sz="2400" b="1" dirty="0" smtClean="0">
                <a:solidFill>
                  <a:srgbClr val="00B050"/>
                </a:solidFill>
              </a:rPr>
              <a:t>Solid added to acid until no more reacts; excess solid filtered off.</a:t>
            </a:r>
            <a:endParaRPr kumimoji="0" lang="en-GB" sz="2400" i="0" u="none" strike="noStrike" kern="1200" cap="none" spc="0" normalizeH="0" noProof="0" dirty="0" smtClean="0">
              <a:ln>
                <a:noFill/>
              </a:ln>
              <a:effectLst/>
              <a:uLnTx/>
              <a:uFillTx/>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noProof="0" dirty="0" smtClean="0">
                <a:latin typeface="Calibri"/>
              </a:rPr>
              <a:t>Name the process of producing solid salts from salt solution.</a:t>
            </a:r>
            <a:endParaRPr lang="en-GB" sz="2400" dirty="0">
              <a:latin typeface="Calibri"/>
            </a:endParaRPr>
          </a:p>
          <a:p>
            <a:pPr lvl="1">
              <a:defRPr/>
            </a:pPr>
            <a:r>
              <a:rPr lang="pt-BR" sz="2400" b="1" dirty="0" smtClean="0">
                <a:solidFill>
                  <a:srgbClr val="00B050"/>
                </a:solidFill>
              </a:rPr>
              <a:t>Crystallisation.</a:t>
            </a:r>
            <a:endParaRPr lang="pt-BR" sz="2400" b="1" dirty="0">
              <a:solidFill>
                <a:srgbClr val="00B05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400" dirty="0">
              <a:solidFill>
                <a:prstClr val="black"/>
              </a:solidFill>
              <a:latin typeface="Calibri"/>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74831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40567" y="802524"/>
            <a:ext cx="9103433" cy="6001643"/>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7"/>
              <a:tabLst/>
              <a:defRPr/>
            </a:pPr>
            <a:r>
              <a:rPr lang="en-GB" sz="2400" dirty="0">
                <a:solidFill>
                  <a:prstClr val="black"/>
                </a:solidFill>
                <a:latin typeface="Calibri"/>
              </a:rPr>
              <a:t>Complete the following equations:</a:t>
            </a:r>
          </a:p>
          <a:p>
            <a:pPr marR="0" lvl="0" algn="l" defTabSz="914400" rtl="0" eaLnBrk="1" fontAlgn="auto" latinLnBrk="0" hangingPunct="1">
              <a:lnSpc>
                <a:spcPct val="100000"/>
              </a:lnSpc>
              <a:spcBef>
                <a:spcPts val="0"/>
              </a:spcBef>
              <a:spcAft>
                <a:spcPts val="0"/>
              </a:spcAft>
              <a:buClrTx/>
              <a:buSzTx/>
              <a:tabLst/>
              <a:defRPr/>
            </a:pPr>
            <a:r>
              <a:rPr lang="en-GB" sz="2400" dirty="0">
                <a:solidFill>
                  <a:prstClr val="black"/>
                </a:solidFill>
                <a:latin typeface="Calibri"/>
              </a:rPr>
              <a:t>       a) magnesium + sulfuric acid </a:t>
            </a:r>
            <a:r>
              <a:rPr lang="en-GB" sz="2400" dirty="0">
                <a:solidFill>
                  <a:prstClr val="black"/>
                </a:solidFill>
                <a:latin typeface="Calibri"/>
                <a:sym typeface="Wingdings" panose="05000000000000000000" pitchFamily="2" charset="2"/>
              </a:rPr>
              <a:t> </a:t>
            </a:r>
            <a:r>
              <a:rPr lang="en-GB" sz="2400" b="1" dirty="0">
                <a:solidFill>
                  <a:srgbClr val="00B050"/>
                </a:solidFill>
                <a:latin typeface="Calibri"/>
                <a:sym typeface="Wingdings" panose="05000000000000000000" pitchFamily="2" charset="2"/>
              </a:rPr>
              <a:t>magnesium </a:t>
            </a:r>
            <a:r>
              <a:rPr lang="en-GB" sz="2400" b="1" dirty="0" err="1">
                <a:solidFill>
                  <a:srgbClr val="00B050"/>
                </a:solidFill>
                <a:latin typeface="Calibri"/>
                <a:sym typeface="Wingdings" panose="05000000000000000000" pitchFamily="2" charset="2"/>
              </a:rPr>
              <a:t>sulfate</a:t>
            </a:r>
            <a:r>
              <a:rPr lang="en-GB" sz="2400" b="1" dirty="0">
                <a:solidFill>
                  <a:srgbClr val="00B050"/>
                </a:solidFill>
                <a:latin typeface="Calibri"/>
                <a:sym typeface="Wingdings" panose="05000000000000000000" pitchFamily="2" charset="2"/>
              </a:rPr>
              <a:t> + hydrogen</a:t>
            </a:r>
            <a:endParaRPr lang="en-GB" sz="2400" dirty="0">
              <a:solidFill>
                <a:prstClr val="black"/>
              </a:solidFill>
              <a:latin typeface="Calibri"/>
              <a:sym typeface="Wingdings" panose="05000000000000000000" pitchFamily="2" charset="2"/>
            </a:endParaRPr>
          </a:p>
          <a:p>
            <a:pPr marR="0" lvl="0" algn="l" defTabSz="914400" rtl="0" eaLnBrk="1" fontAlgn="auto" latinLnBrk="0" hangingPunct="1">
              <a:lnSpc>
                <a:spcPct val="100000"/>
              </a:lnSpc>
              <a:spcBef>
                <a:spcPts val="0"/>
              </a:spcBef>
              <a:spcAft>
                <a:spcPts val="0"/>
              </a:spcAft>
              <a:buClrTx/>
              <a:buSzTx/>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       b) sodium hydroxide + hydrochloric acid  </a:t>
            </a:r>
            <a:r>
              <a:rPr kumimoji="0" lang="en-GB" sz="2400" b="1" i="0" u="none" strike="noStrike" kern="1200" cap="none" spc="0" normalizeH="0" baseline="0" noProof="0" dirty="0">
                <a:ln>
                  <a:noFill/>
                </a:ln>
                <a:solidFill>
                  <a:srgbClr val="00B050"/>
                </a:solidFill>
                <a:effectLst/>
                <a:uLnTx/>
                <a:uFillTx/>
                <a:latin typeface="Calibri"/>
                <a:ea typeface="+mn-ea"/>
                <a:cs typeface="+mn-cs"/>
                <a:sym typeface="Wingdings" panose="05000000000000000000" pitchFamily="2" charset="2"/>
              </a:rPr>
              <a:t>sodium chloride + water</a:t>
            </a:r>
          </a:p>
          <a:p>
            <a:pPr marR="0" lvl="0" algn="l" defTabSz="914400" rtl="0" eaLnBrk="1" fontAlgn="auto" latinLnBrk="0" hangingPunct="1">
              <a:lnSpc>
                <a:spcPct val="100000"/>
              </a:lnSpc>
              <a:spcBef>
                <a:spcPts val="0"/>
              </a:spcBef>
              <a:spcAft>
                <a:spcPts val="0"/>
              </a:spcAft>
              <a:buClrTx/>
              <a:buSzTx/>
              <a:tabLst/>
              <a:defRPr/>
            </a:pPr>
            <a:r>
              <a:rPr lang="en-GB" sz="2400" dirty="0">
                <a:solidFill>
                  <a:prstClr val="black"/>
                </a:solidFill>
                <a:latin typeface="Calibri"/>
                <a:sym typeface="Wingdings" panose="05000000000000000000" pitchFamily="2" charset="2"/>
              </a:rPr>
              <a:t>       c) lithium carbonate + nitric acid  </a:t>
            </a:r>
            <a:r>
              <a:rPr lang="en-GB" sz="2400" b="1" dirty="0">
                <a:solidFill>
                  <a:srgbClr val="00B050"/>
                </a:solidFill>
                <a:latin typeface="Calibri"/>
                <a:sym typeface="Wingdings" panose="05000000000000000000" pitchFamily="2" charset="2"/>
              </a:rPr>
              <a:t>lithium nitrate + water +</a:t>
            </a:r>
          </a:p>
          <a:p>
            <a:pPr marR="0" lvl="0" algn="r" defTabSz="914400" rtl="0" eaLnBrk="1" fontAlgn="auto" latinLnBrk="0" hangingPunct="1">
              <a:lnSpc>
                <a:spcPct val="100000"/>
              </a:lnSpc>
              <a:spcBef>
                <a:spcPts val="0"/>
              </a:spcBef>
              <a:spcAft>
                <a:spcPts val="0"/>
              </a:spcAft>
              <a:buClrTx/>
              <a:buSzTx/>
              <a:tabLst/>
              <a:defRPr/>
            </a:pPr>
            <a:r>
              <a:rPr lang="en-GB" sz="2400" b="1" dirty="0">
                <a:solidFill>
                  <a:srgbClr val="00B050"/>
                </a:solidFill>
                <a:latin typeface="Calibri"/>
                <a:sym typeface="Wingdings" panose="05000000000000000000" pitchFamily="2" charset="2"/>
              </a:rPr>
              <a:t>c</a:t>
            </a:r>
            <a:r>
              <a:rPr kumimoji="0" lang="en-GB" sz="2400" b="1" i="0" u="none" strike="noStrike" kern="1200" cap="none" spc="0" normalizeH="0" baseline="0" noProof="0" dirty="0" err="1">
                <a:ln>
                  <a:noFill/>
                </a:ln>
                <a:solidFill>
                  <a:srgbClr val="00B050"/>
                </a:solidFill>
                <a:effectLst/>
                <a:uLnTx/>
                <a:uFillTx/>
                <a:latin typeface="Calibri"/>
                <a:ea typeface="+mn-ea"/>
                <a:cs typeface="+mn-cs"/>
                <a:sym typeface="Wingdings" panose="05000000000000000000" pitchFamily="2" charset="2"/>
              </a:rPr>
              <a:t>arbon</a:t>
            </a:r>
            <a:r>
              <a:rPr kumimoji="0" lang="en-GB" sz="2400" b="1" i="0" u="none" strike="noStrike" kern="1200" cap="none" spc="0" normalizeH="0" baseline="0" noProof="0" dirty="0">
                <a:ln>
                  <a:noFill/>
                </a:ln>
                <a:solidFill>
                  <a:srgbClr val="00B050"/>
                </a:solidFill>
                <a:effectLst/>
                <a:uLnTx/>
                <a:uFillTx/>
                <a:latin typeface="Calibri"/>
                <a:ea typeface="+mn-ea"/>
                <a:cs typeface="+mn-cs"/>
                <a:sym typeface="Wingdings" panose="05000000000000000000" pitchFamily="2" charset="2"/>
              </a:rPr>
              <a:t> dioxide</a:t>
            </a:r>
          </a:p>
          <a:p>
            <a:pPr marR="0" lvl="0" algn="r" defTabSz="914400" rtl="0" eaLnBrk="1" fontAlgn="auto" latinLnBrk="0" hangingPunct="1">
              <a:lnSpc>
                <a:spcPct val="100000"/>
              </a:lnSpc>
              <a:spcBef>
                <a:spcPts val="0"/>
              </a:spcBef>
              <a:spcAft>
                <a:spcPts val="0"/>
              </a:spcAft>
              <a:buClrTx/>
              <a:buSzTx/>
              <a:tabLst/>
              <a:defRPr/>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lvl="0" indent="-457200">
              <a:buFont typeface="+mj-lt"/>
              <a:buAutoNum type="arabicPeriod" startAt="8"/>
            </a:pPr>
            <a:r>
              <a:rPr lang="en-GB" sz="2400" dirty="0"/>
              <a:t>Write a balanced symbol equation, with state symbols, for the reaction between zinc and hydrochloric </a:t>
            </a:r>
            <a:r>
              <a:rPr lang="en-GB" sz="2400" dirty="0" smtClean="0"/>
              <a:t>acid.</a:t>
            </a:r>
          </a:p>
          <a:p>
            <a:pPr lvl="0"/>
            <a:r>
              <a:rPr lang="en-GB" sz="2400" dirty="0" smtClean="0"/>
              <a:t>       </a:t>
            </a:r>
            <a:r>
              <a:rPr lang="pt-BR" sz="2400" b="1" dirty="0">
                <a:solidFill>
                  <a:srgbClr val="00B050"/>
                </a:solidFill>
              </a:rPr>
              <a:t>Zn(s) + 2HCl(aq) → ZnCl</a:t>
            </a:r>
            <a:r>
              <a:rPr lang="pt-BR" sz="2400" b="1" baseline="-25000" dirty="0">
                <a:solidFill>
                  <a:srgbClr val="00B050"/>
                </a:solidFill>
              </a:rPr>
              <a:t>2</a:t>
            </a:r>
            <a:r>
              <a:rPr lang="pt-BR" sz="2400" b="1" dirty="0">
                <a:solidFill>
                  <a:srgbClr val="00B050"/>
                </a:solidFill>
              </a:rPr>
              <a:t>(aq) + H</a:t>
            </a:r>
            <a:r>
              <a:rPr lang="pt-BR" sz="2400" b="1" baseline="-25000" dirty="0">
                <a:solidFill>
                  <a:srgbClr val="00B050"/>
                </a:solidFill>
              </a:rPr>
              <a:t>2</a:t>
            </a:r>
            <a:r>
              <a:rPr lang="pt-BR" sz="2400" b="1" dirty="0">
                <a:solidFill>
                  <a:srgbClr val="00B050"/>
                </a:solidFill>
              </a:rPr>
              <a:t>(g) </a:t>
            </a:r>
          </a:p>
          <a:p>
            <a:pPr marR="0" lvl="0" algn="l" defTabSz="914400" rtl="0" eaLnBrk="1" fontAlgn="auto" latinLnBrk="0" hangingPunct="1">
              <a:lnSpc>
                <a:spcPct val="100000"/>
              </a:lnSpc>
              <a:spcBef>
                <a:spcPts val="0"/>
              </a:spcBef>
              <a:spcAft>
                <a:spcPts val="0"/>
              </a:spcAft>
              <a:buClrTx/>
              <a:buSzTx/>
              <a:tabLst/>
              <a:defRPr/>
            </a:pPr>
            <a:endParaRPr lang="en-GB" sz="2400" dirty="0">
              <a:latin typeface="Calibri"/>
            </a:endParaRPr>
          </a:p>
          <a:p>
            <a:pPr marR="0" lvl="0" algn="l" defTabSz="914400" rtl="0" eaLnBrk="1" fontAlgn="auto" latinLnBrk="0" hangingPunct="1">
              <a:lnSpc>
                <a:spcPct val="100000"/>
              </a:lnSpc>
              <a:spcBef>
                <a:spcPts val="0"/>
              </a:spcBef>
              <a:spcAft>
                <a:spcPts val="0"/>
              </a:spcAft>
              <a:buClrTx/>
              <a:buSzTx/>
              <a:tabLst/>
              <a:defRPr/>
            </a:pPr>
            <a:r>
              <a:rPr lang="en-GB" sz="2400" dirty="0" smtClean="0">
                <a:latin typeface="Calibri"/>
              </a:rPr>
              <a:t>9.   </a:t>
            </a:r>
            <a:r>
              <a:rPr lang="en-GB" sz="2400" b="1" dirty="0" smtClean="0">
                <a:latin typeface="Calibri"/>
              </a:rPr>
              <a:t>Higher</a:t>
            </a:r>
            <a:r>
              <a:rPr lang="en-GB" sz="2400" dirty="0">
                <a:latin typeface="Calibri"/>
              </a:rPr>
              <a:t>:</a:t>
            </a:r>
          </a:p>
          <a:p>
            <a:pPr marR="0" lvl="0" algn="l" defTabSz="914400" rtl="0" eaLnBrk="1" fontAlgn="auto" latinLnBrk="0" hangingPunct="1">
              <a:lnSpc>
                <a:spcPct val="100000"/>
              </a:lnSpc>
              <a:spcBef>
                <a:spcPts val="0"/>
              </a:spcBef>
              <a:spcAft>
                <a:spcPts val="0"/>
              </a:spcAft>
              <a:buClrTx/>
              <a:buSzTx/>
              <a:tabLst/>
              <a:defRPr/>
            </a:pPr>
            <a:r>
              <a:rPr lang="en-GB" sz="2400" dirty="0">
                <a:latin typeface="Calibri"/>
              </a:rPr>
              <a:t>        </a:t>
            </a:r>
            <a:r>
              <a:rPr lang="en-GB" sz="2400" dirty="0" smtClean="0">
                <a:latin typeface="Calibri"/>
              </a:rPr>
              <a:t>   Write </a:t>
            </a:r>
            <a:r>
              <a:rPr lang="en-GB" sz="2400" dirty="0">
                <a:latin typeface="Calibri"/>
              </a:rPr>
              <a:t>an ionic </a:t>
            </a:r>
            <a:r>
              <a:rPr lang="en-GB" sz="2400" dirty="0" smtClean="0">
                <a:latin typeface="Calibri"/>
              </a:rPr>
              <a:t>equation, </a:t>
            </a:r>
            <a:r>
              <a:rPr lang="en-GB" sz="2400" dirty="0">
                <a:latin typeface="Calibri"/>
              </a:rPr>
              <a:t>with state </a:t>
            </a:r>
            <a:r>
              <a:rPr lang="en-GB" sz="2400" dirty="0" smtClean="0">
                <a:latin typeface="Calibri"/>
              </a:rPr>
              <a:t>symbols, </a:t>
            </a:r>
            <a:r>
              <a:rPr lang="en-GB" sz="2400" dirty="0">
                <a:latin typeface="Calibri"/>
              </a:rPr>
              <a:t>to show magnesium </a:t>
            </a:r>
          </a:p>
          <a:p>
            <a:pPr marR="0" lvl="0" algn="l" defTabSz="914400" rtl="0" eaLnBrk="1" fontAlgn="auto" latinLnBrk="0" hangingPunct="1">
              <a:lnSpc>
                <a:spcPct val="100000"/>
              </a:lnSpc>
              <a:spcBef>
                <a:spcPts val="0"/>
              </a:spcBef>
              <a:spcAft>
                <a:spcPts val="0"/>
              </a:spcAft>
              <a:buClrTx/>
              <a:buSzTx/>
              <a:tabLst/>
              <a:defRPr/>
            </a:pPr>
            <a:r>
              <a:rPr lang="en-GB" sz="2400" dirty="0">
                <a:latin typeface="Calibri"/>
              </a:rPr>
              <a:t>            reacting with hydrochloric acid.</a:t>
            </a:r>
            <a:endParaRPr kumimoji="0" lang="en-GB" sz="2400" i="0" u="none" strike="noStrike" kern="1200" cap="none" spc="0" normalizeH="0" baseline="0" noProof="0" dirty="0">
              <a:ln>
                <a:noFill/>
              </a:ln>
              <a:effectLst/>
              <a:uLnTx/>
              <a:uFillTx/>
              <a:latin typeface="Calibri"/>
            </a:endParaRPr>
          </a:p>
          <a:p>
            <a:r>
              <a:rPr lang="en-GB" sz="2400" b="1" dirty="0">
                <a:solidFill>
                  <a:srgbClr val="00B050"/>
                </a:solidFill>
                <a:latin typeface="Calibri"/>
              </a:rPr>
              <a:t>            </a:t>
            </a:r>
            <a:r>
              <a:rPr lang="pt-BR" sz="2400" b="1" dirty="0">
                <a:solidFill>
                  <a:srgbClr val="00B050"/>
                </a:solidFill>
                <a:latin typeface="Calibri"/>
              </a:rPr>
              <a:t>Mg</a:t>
            </a:r>
            <a:r>
              <a:rPr lang="pt-BR" sz="2400" b="1" dirty="0">
                <a:solidFill>
                  <a:srgbClr val="00B050"/>
                </a:solidFill>
              </a:rPr>
              <a:t>(s) + 2H</a:t>
            </a:r>
            <a:r>
              <a:rPr lang="pt-BR" sz="2400" b="1" baseline="30000" dirty="0">
                <a:solidFill>
                  <a:srgbClr val="00B050"/>
                </a:solidFill>
              </a:rPr>
              <a:t>+</a:t>
            </a:r>
            <a:r>
              <a:rPr lang="pt-BR" sz="2400" b="1" dirty="0">
                <a:solidFill>
                  <a:srgbClr val="00B050"/>
                </a:solidFill>
              </a:rPr>
              <a:t>(aq) → Mg</a:t>
            </a:r>
            <a:r>
              <a:rPr lang="pt-BR" sz="2400" b="1" baseline="30000" dirty="0">
                <a:solidFill>
                  <a:srgbClr val="00B050"/>
                </a:solidFill>
              </a:rPr>
              <a:t>2+</a:t>
            </a:r>
            <a:r>
              <a:rPr lang="pt-BR" sz="2400" b="1" dirty="0">
                <a:solidFill>
                  <a:srgbClr val="00B050"/>
                </a:solidFill>
              </a:rPr>
              <a:t>(aq) + H</a:t>
            </a:r>
            <a:r>
              <a:rPr lang="pt-BR" sz="2400" b="1" baseline="-25000" dirty="0">
                <a:solidFill>
                  <a:srgbClr val="00B050"/>
                </a:solidFill>
              </a:rPr>
              <a:t>2</a:t>
            </a:r>
            <a:r>
              <a:rPr lang="pt-BR" sz="2400" b="1" dirty="0">
                <a:solidFill>
                  <a:srgbClr val="00B050"/>
                </a:solidFill>
              </a:rPr>
              <a:t>(g)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2400" dirty="0">
              <a:solidFill>
                <a:prstClr val="black"/>
              </a:solidFill>
              <a:latin typeface="Calibri"/>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554127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878532"/>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Reactions of acids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pH and </a:t>
            </a:r>
            <a:r>
              <a:rPr lang="en-US" sz="2400" b="1" dirty="0" err="1">
                <a:solidFill>
                  <a:schemeClr val="bg1">
                    <a:lumMod val="50000"/>
                  </a:schemeClr>
                </a:solidFill>
              </a:rPr>
              <a:t>neutralisation</a:t>
            </a:r>
            <a:endParaRPr lang="en-US" sz="2400" b="1" dirty="0">
              <a:solidFill>
                <a:schemeClr val="bg1">
                  <a:lumMod val="50000"/>
                </a:schemeClr>
              </a:solidFill>
            </a:endParaRPr>
          </a:p>
          <a:p>
            <a:pPr marL="685800" lvl="1" indent="-342900">
              <a:buFont typeface="Arial" charset="0"/>
              <a:buChar char="•"/>
            </a:pPr>
            <a:r>
              <a:rPr lang="en-US" sz="2400" b="1" dirty="0" smtClean="0">
                <a:solidFill>
                  <a:schemeClr val="bg1">
                    <a:lumMod val="50000"/>
                  </a:schemeClr>
                </a:solidFill>
              </a:rPr>
              <a:t>Titration </a:t>
            </a:r>
            <a:r>
              <a:rPr lang="en-US" sz="2400" b="1" dirty="0">
                <a:solidFill>
                  <a:schemeClr val="bg1">
                    <a:lumMod val="50000"/>
                  </a:schemeClr>
                </a:solidFill>
              </a:rPr>
              <a:t>(chemistry only</a:t>
            </a:r>
            <a:r>
              <a:rPr lang="en-US" sz="2400" b="1" dirty="0" smtClean="0">
                <a:solidFill>
                  <a:schemeClr val="bg1">
                    <a:lumMod val="50000"/>
                  </a:schemeClr>
                </a:solidFill>
              </a:rPr>
              <a:t>)</a:t>
            </a:r>
          </a:p>
          <a:p>
            <a:pPr marL="685800" lvl="1" indent="-342900">
              <a:buFont typeface="Arial" charset="0"/>
              <a:buChar char="•"/>
            </a:pPr>
            <a:r>
              <a:rPr lang="en-US" sz="2400" b="1" dirty="0" smtClean="0">
                <a:solidFill>
                  <a:schemeClr val="bg1">
                    <a:lumMod val="50000"/>
                  </a:schemeClr>
                </a:solidFill>
              </a:rPr>
              <a:t>Strong and weak acids (HT)</a:t>
            </a:r>
            <a:endParaRPr lang="en-US" sz="2400" b="1" dirty="0">
              <a:solidFill>
                <a:schemeClr val="bg1">
                  <a:lumMod val="50000"/>
                </a:schemeClr>
              </a:solidFill>
            </a:endParaRPr>
          </a:p>
          <a:p>
            <a:pPr marL="685800" lvl="1" indent="-342900">
              <a:buFont typeface="Arial" charset="0"/>
              <a:buChar char="•"/>
            </a:pPr>
            <a:endParaRPr lang="en-US" sz="2400" b="1" dirty="0">
              <a:solidFill>
                <a:schemeClr val="bg1">
                  <a:lumMod val="50000"/>
                </a:schemeClr>
              </a:solidFill>
            </a:endParaRPr>
          </a:p>
          <a:p>
            <a:endParaRPr lang="en-GB" dirty="0"/>
          </a:p>
        </p:txBody>
      </p:sp>
    </p:spTree>
    <p:extLst>
      <p:ext uri="{BB962C8B-B14F-4D97-AF65-F5344CB8AC3E}">
        <p14:creationId xmlns:p14="http://schemas.microsoft.com/office/powerpoint/2010/main" val="4038177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PART 2</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1" y="692696"/>
            <a:ext cx="5561394" cy="5986254"/>
          </a:xfrm>
          <a:prstGeom prst="rect">
            <a:avLst/>
          </a:prstGeom>
          <a:noFill/>
        </p:spPr>
        <p:txBody>
          <a:bodyPr wrap="square" rtlCol="0">
            <a:spAutoFit/>
          </a:bodyPr>
          <a:lstStyle/>
          <a:p>
            <a:pPr algn="ctr"/>
            <a:r>
              <a:rPr lang="en-GB" sz="2000" b="1" dirty="0">
                <a:solidFill>
                  <a:schemeClr val="accent6">
                    <a:lumMod val="75000"/>
                  </a:schemeClr>
                </a:solidFill>
              </a:rPr>
              <a:t>Indicators</a:t>
            </a:r>
            <a:r>
              <a:rPr lang="en-GB" sz="2000" dirty="0">
                <a:solidFill>
                  <a:schemeClr val="accent6">
                    <a:lumMod val="75000"/>
                  </a:schemeClr>
                </a:solidFill>
              </a:rPr>
              <a:t> </a:t>
            </a:r>
            <a:r>
              <a:rPr lang="en-GB" sz="2000" dirty="0"/>
              <a:t>are substances which change </a:t>
            </a:r>
            <a:r>
              <a:rPr lang="en-GB" sz="2000" b="1" dirty="0">
                <a:solidFill>
                  <a:schemeClr val="accent6">
                    <a:lumMod val="75000"/>
                  </a:schemeClr>
                </a:solidFill>
              </a:rPr>
              <a:t>colour</a:t>
            </a:r>
            <a:r>
              <a:rPr lang="en-GB" sz="2000" dirty="0">
                <a:solidFill>
                  <a:schemeClr val="accent6">
                    <a:lumMod val="75000"/>
                  </a:schemeClr>
                </a:solidFill>
              </a:rPr>
              <a:t> </a:t>
            </a:r>
            <a:r>
              <a:rPr lang="en-GB" sz="2000" dirty="0"/>
              <a:t>when you add them to acids and alkali.  </a:t>
            </a:r>
          </a:p>
          <a:p>
            <a:pPr algn="ctr"/>
            <a:endParaRPr lang="en-GB" sz="900" dirty="0"/>
          </a:p>
          <a:p>
            <a:pPr algn="ctr"/>
            <a:r>
              <a:rPr lang="en-GB" sz="2000" b="1" dirty="0">
                <a:solidFill>
                  <a:schemeClr val="accent6">
                    <a:lumMod val="75000"/>
                  </a:schemeClr>
                </a:solidFill>
              </a:rPr>
              <a:t>Litmus</a:t>
            </a:r>
            <a:r>
              <a:rPr lang="en-GB" sz="2000" dirty="0"/>
              <a:t> goes red in acid and blue in alkali.  </a:t>
            </a:r>
          </a:p>
          <a:p>
            <a:pPr algn="ctr"/>
            <a:endParaRPr lang="en-GB" sz="900" dirty="0"/>
          </a:p>
          <a:p>
            <a:pPr algn="ctr"/>
            <a:r>
              <a:rPr lang="en-GB" sz="2000" b="1" dirty="0">
                <a:solidFill>
                  <a:schemeClr val="accent6">
                    <a:lumMod val="75000"/>
                  </a:schemeClr>
                </a:solidFill>
              </a:rPr>
              <a:t>Universal indicator</a:t>
            </a:r>
            <a:r>
              <a:rPr lang="en-GB" sz="2000" dirty="0"/>
              <a:t>, made from many dyes is used to tell you</a:t>
            </a:r>
            <a:r>
              <a:rPr lang="en-GB" sz="2000" b="1" dirty="0"/>
              <a:t> </a:t>
            </a:r>
            <a:r>
              <a:rPr lang="en-GB" sz="2000" b="1" dirty="0" err="1">
                <a:solidFill>
                  <a:schemeClr val="accent6">
                    <a:lumMod val="75000"/>
                  </a:schemeClr>
                </a:solidFill>
              </a:rPr>
              <a:t>pH</a:t>
            </a:r>
            <a:r>
              <a:rPr lang="en-GB" sz="2000" dirty="0" err="1"/>
              <a:t>.</a:t>
            </a:r>
            <a:r>
              <a:rPr lang="en-GB" sz="2000" dirty="0"/>
              <a:t>  The scale runs from 0 (most acidic) to 14 (most alkaline).  Aqueous solutions of </a:t>
            </a:r>
            <a:r>
              <a:rPr lang="en-GB" sz="2000" b="1" dirty="0">
                <a:solidFill>
                  <a:schemeClr val="accent6">
                    <a:lumMod val="75000"/>
                  </a:schemeClr>
                </a:solidFill>
              </a:rPr>
              <a:t>acids</a:t>
            </a:r>
            <a:r>
              <a:rPr lang="en-GB" sz="2000" dirty="0"/>
              <a:t> have a pH value </a:t>
            </a:r>
            <a:r>
              <a:rPr lang="en-GB" sz="2000" b="1" dirty="0">
                <a:solidFill>
                  <a:schemeClr val="accent6">
                    <a:lumMod val="75000"/>
                  </a:schemeClr>
                </a:solidFill>
              </a:rPr>
              <a:t>less than 7</a:t>
            </a:r>
            <a:r>
              <a:rPr lang="en-GB" sz="2000" dirty="0"/>
              <a:t>, and for </a:t>
            </a:r>
            <a:r>
              <a:rPr lang="en-GB" sz="2000" b="1" dirty="0">
                <a:solidFill>
                  <a:schemeClr val="accent6">
                    <a:lumMod val="75000"/>
                  </a:schemeClr>
                </a:solidFill>
              </a:rPr>
              <a:t>alkalis</a:t>
            </a:r>
            <a:r>
              <a:rPr lang="en-GB" sz="2000" dirty="0">
                <a:solidFill>
                  <a:schemeClr val="accent6">
                    <a:lumMod val="75000"/>
                  </a:schemeClr>
                </a:solidFill>
              </a:rPr>
              <a:t> </a:t>
            </a:r>
            <a:r>
              <a:rPr lang="en-GB" sz="2000" b="1" dirty="0">
                <a:solidFill>
                  <a:schemeClr val="accent6">
                    <a:lumMod val="75000"/>
                  </a:schemeClr>
                </a:solidFill>
              </a:rPr>
              <a:t>greater than 7 </a:t>
            </a:r>
            <a:r>
              <a:rPr lang="en-GB" sz="2000" dirty="0"/>
              <a:t>and anything in the middle is </a:t>
            </a:r>
            <a:r>
              <a:rPr lang="en-GB" sz="2000" b="1" dirty="0">
                <a:solidFill>
                  <a:schemeClr val="accent6">
                    <a:lumMod val="75000"/>
                  </a:schemeClr>
                </a:solidFill>
              </a:rPr>
              <a:t>neutral</a:t>
            </a:r>
            <a:r>
              <a:rPr lang="en-GB" sz="2000" b="1" dirty="0"/>
              <a:t> </a:t>
            </a:r>
            <a:r>
              <a:rPr lang="en-GB" sz="2000" dirty="0"/>
              <a:t>(pH 7).  You can use a pH meter to record the change of a pH over time.</a:t>
            </a:r>
          </a:p>
          <a:p>
            <a:endParaRPr lang="en-GB" sz="900" dirty="0"/>
          </a:p>
          <a:p>
            <a:pPr algn="ctr"/>
            <a:r>
              <a:rPr lang="en-GB" sz="2000" b="1" dirty="0">
                <a:solidFill>
                  <a:schemeClr val="accent6">
                    <a:lumMod val="75000"/>
                  </a:schemeClr>
                </a:solidFill>
              </a:rPr>
              <a:t>Acids</a:t>
            </a:r>
            <a:r>
              <a:rPr lang="en-GB" sz="2000" dirty="0">
                <a:solidFill>
                  <a:schemeClr val="accent6">
                    <a:lumMod val="75000"/>
                  </a:schemeClr>
                </a:solidFill>
              </a:rPr>
              <a:t> </a:t>
            </a:r>
            <a:r>
              <a:rPr lang="en-GB" sz="2000" dirty="0"/>
              <a:t>produce </a:t>
            </a:r>
            <a:r>
              <a:rPr lang="en-GB" sz="2000" b="1" dirty="0">
                <a:solidFill>
                  <a:schemeClr val="accent6">
                    <a:lumMod val="75000"/>
                  </a:schemeClr>
                </a:solidFill>
              </a:rPr>
              <a:t>hydrogen ions (</a:t>
            </a:r>
            <a:r>
              <a:rPr lang="pt-BR" sz="2000" b="1" dirty="0">
                <a:solidFill>
                  <a:schemeClr val="accent6">
                    <a:lumMod val="75000"/>
                  </a:schemeClr>
                </a:solidFill>
              </a:rPr>
              <a:t>H</a:t>
            </a:r>
            <a:r>
              <a:rPr lang="pt-BR" sz="2000" b="1" baseline="30000" dirty="0">
                <a:solidFill>
                  <a:schemeClr val="accent6">
                    <a:lumMod val="75000"/>
                  </a:schemeClr>
                </a:solidFill>
              </a:rPr>
              <a:t>+</a:t>
            </a:r>
            <a:r>
              <a:rPr lang="en-GB" sz="2000" b="1" dirty="0">
                <a:solidFill>
                  <a:schemeClr val="accent6">
                    <a:lumMod val="75000"/>
                  </a:schemeClr>
                </a:solidFill>
              </a:rPr>
              <a:t>) </a:t>
            </a:r>
            <a:r>
              <a:rPr lang="en-GB" sz="2000" dirty="0"/>
              <a:t>in aqueous solutions and</a:t>
            </a:r>
            <a:r>
              <a:rPr lang="en-GB" sz="2000" b="1" dirty="0"/>
              <a:t> </a:t>
            </a:r>
            <a:r>
              <a:rPr lang="en-GB" sz="2000" b="1" dirty="0">
                <a:solidFill>
                  <a:schemeClr val="accent6">
                    <a:lumMod val="75000"/>
                  </a:schemeClr>
                </a:solidFill>
              </a:rPr>
              <a:t>alkalis</a:t>
            </a:r>
            <a:r>
              <a:rPr lang="en-GB" sz="2000" b="1" dirty="0"/>
              <a:t> </a:t>
            </a:r>
            <a:r>
              <a:rPr lang="en-GB" sz="2000" dirty="0"/>
              <a:t>produce </a:t>
            </a:r>
            <a:r>
              <a:rPr lang="en-GB" sz="2000" b="1" dirty="0">
                <a:solidFill>
                  <a:schemeClr val="accent6">
                    <a:lumMod val="75000"/>
                  </a:schemeClr>
                </a:solidFill>
              </a:rPr>
              <a:t>hydroxide ions (</a:t>
            </a:r>
            <a:r>
              <a:rPr lang="pt-BR" sz="2000" b="1" dirty="0">
                <a:solidFill>
                  <a:schemeClr val="accent6">
                    <a:lumMod val="75000"/>
                  </a:schemeClr>
                </a:solidFill>
              </a:rPr>
              <a:t>OH</a:t>
            </a:r>
            <a:r>
              <a:rPr lang="pt-BR" sz="2000" b="1" baseline="30000" dirty="0">
                <a:solidFill>
                  <a:schemeClr val="accent6">
                    <a:lumMod val="75000"/>
                  </a:schemeClr>
                </a:solidFill>
              </a:rPr>
              <a:t>–</a:t>
            </a:r>
            <a:r>
              <a:rPr lang="en-GB" sz="2000" b="1" dirty="0">
                <a:solidFill>
                  <a:schemeClr val="accent6">
                    <a:lumMod val="75000"/>
                  </a:schemeClr>
                </a:solidFill>
              </a:rPr>
              <a:t>).  </a:t>
            </a:r>
          </a:p>
          <a:p>
            <a:pPr algn="ctr"/>
            <a:r>
              <a:rPr lang="en-GB" sz="2000" dirty="0"/>
              <a:t>In </a:t>
            </a:r>
            <a:r>
              <a:rPr lang="en-GB" sz="2000" b="1" dirty="0">
                <a:solidFill>
                  <a:schemeClr val="accent6">
                    <a:lumMod val="75000"/>
                  </a:schemeClr>
                </a:solidFill>
              </a:rPr>
              <a:t>neutralisation</a:t>
            </a:r>
            <a:r>
              <a:rPr lang="en-GB" sz="2000" dirty="0">
                <a:solidFill>
                  <a:schemeClr val="accent6">
                    <a:lumMod val="75000"/>
                  </a:schemeClr>
                </a:solidFill>
              </a:rPr>
              <a:t> </a:t>
            </a:r>
            <a:r>
              <a:rPr lang="en-GB" sz="2000" dirty="0"/>
              <a:t>reactions between an acid and alkali, hydrogen ions react with hydroxide ions to produce </a:t>
            </a:r>
            <a:r>
              <a:rPr lang="en-GB" sz="2000" b="1" dirty="0">
                <a:solidFill>
                  <a:schemeClr val="accent6">
                    <a:lumMod val="75000"/>
                  </a:schemeClr>
                </a:solidFill>
              </a:rPr>
              <a:t>water</a:t>
            </a:r>
            <a:r>
              <a:rPr lang="en-GB" sz="2000" dirty="0">
                <a:solidFill>
                  <a:schemeClr val="accent6">
                    <a:lumMod val="75000"/>
                  </a:schemeClr>
                </a:solidFill>
              </a:rPr>
              <a:t>.</a:t>
            </a:r>
          </a:p>
          <a:p>
            <a:endParaRPr lang="en-GB" sz="900" dirty="0"/>
          </a:p>
          <a:p>
            <a:pPr algn="ctr"/>
            <a:r>
              <a:rPr lang="en-GB" sz="2000" dirty="0"/>
              <a:t>Neutralisation symbol equation:</a:t>
            </a:r>
          </a:p>
          <a:p>
            <a:pPr algn="ctr"/>
            <a:r>
              <a:rPr lang="pt-BR" sz="2000" b="1" dirty="0">
                <a:solidFill>
                  <a:schemeClr val="accent6">
                    <a:lumMod val="75000"/>
                  </a:schemeClr>
                </a:solidFill>
              </a:rPr>
              <a:t>H</a:t>
            </a:r>
            <a:r>
              <a:rPr lang="pt-BR" sz="2000" b="1" baseline="30000" dirty="0">
                <a:solidFill>
                  <a:schemeClr val="accent6">
                    <a:lumMod val="75000"/>
                  </a:schemeClr>
                </a:solidFill>
              </a:rPr>
              <a:t>+</a:t>
            </a:r>
            <a:r>
              <a:rPr lang="pt-BR" sz="2000" b="1" dirty="0">
                <a:solidFill>
                  <a:schemeClr val="accent6">
                    <a:lumMod val="75000"/>
                  </a:schemeClr>
                </a:solidFill>
              </a:rPr>
              <a:t>(aq) + OH</a:t>
            </a:r>
            <a:r>
              <a:rPr lang="pt-BR" sz="2000" b="1" baseline="30000" dirty="0">
                <a:solidFill>
                  <a:schemeClr val="accent6">
                    <a:lumMod val="75000"/>
                  </a:schemeClr>
                </a:solidFill>
              </a:rPr>
              <a:t>–</a:t>
            </a:r>
            <a:r>
              <a:rPr lang="pt-BR" sz="2000" b="1" dirty="0">
                <a:solidFill>
                  <a:schemeClr val="accent6">
                    <a:lumMod val="75000"/>
                  </a:schemeClr>
                </a:solidFill>
              </a:rPr>
              <a:t>(aq) ➞ H</a:t>
            </a:r>
            <a:r>
              <a:rPr lang="pt-BR" sz="2000" b="1" baseline="-25000" dirty="0">
                <a:solidFill>
                  <a:schemeClr val="accent6">
                    <a:lumMod val="75000"/>
                  </a:schemeClr>
                </a:solidFill>
              </a:rPr>
              <a:t>2</a:t>
            </a:r>
            <a:r>
              <a:rPr lang="pt-BR" sz="2000" b="1" dirty="0">
                <a:solidFill>
                  <a:schemeClr val="accent6">
                    <a:lumMod val="75000"/>
                  </a:schemeClr>
                </a:solidFill>
              </a:rPr>
              <a:t>O(l)</a:t>
            </a:r>
            <a:endParaRPr lang="en-GB" sz="2000" b="1" dirty="0">
              <a:solidFill>
                <a:schemeClr val="accent6">
                  <a:lumMod val="75000"/>
                </a:schemeClr>
              </a:solidFill>
            </a:endParaRPr>
          </a:p>
        </p:txBody>
      </p:sp>
      <p:pic>
        <p:nvPicPr>
          <p:cNvPr id="13" name="Picture 12">
            <a:extLst>
              <a:ext uri="{FF2B5EF4-FFF2-40B4-BE49-F238E27FC236}">
                <a16:creationId xmlns:a16="http://schemas.microsoft.com/office/drawing/2014/main" xmlns="" id="{E62224B5-9247-4536-AF94-9FE02DC08B24}"/>
              </a:ext>
            </a:extLst>
          </p:cNvPr>
          <p:cNvPicPr>
            <a:picLocks noChangeAspect="1"/>
          </p:cNvPicPr>
          <p:nvPr/>
        </p:nvPicPr>
        <p:blipFill>
          <a:blip r:embed="rId3"/>
          <a:stretch>
            <a:fillRect/>
          </a:stretch>
        </p:blipFill>
        <p:spPr>
          <a:xfrm>
            <a:off x="5561395" y="606760"/>
            <a:ext cx="3469602" cy="5949280"/>
          </a:xfrm>
          <a:prstGeom prst="rect">
            <a:avLst/>
          </a:prstGeom>
        </p:spPr>
      </p:pic>
    </p:spTree>
    <p:extLst>
      <p:ext uri="{BB962C8B-B14F-4D97-AF65-F5344CB8AC3E}">
        <p14:creationId xmlns:p14="http://schemas.microsoft.com/office/powerpoint/2010/main" val="36407354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DAD9930F-7E51-48AA-8055-819F948EA1CD}"/>
              </a:ext>
            </a:extLst>
          </p:cNvPr>
          <p:cNvPicPr>
            <a:picLocks noChangeAspect="1"/>
          </p:cNvPicPr>
          <p:nvPr/>
        </p:nvPicPr>
        <p:blipFill>
          <a:blip r:embed="rId3"/>
          <a:stretch>
            <a:fillRect/>
          </a:stretch>
        </p:blipFill>
        <p:spPr>
          <a:xfrm>
            <a:off x="6558911" y="1205886"/>
            <a:ext cx="2490037" cy="3614847"/>
          </a:xfrm>
          <a:prstGeom prst="rect">
            <a:avLst/>
          </a:prstGeom>
        </p:spPr>
      </p:pic>
      <p:sp>
        <p:nvSpPr>
          <p:cNvPr id="2" name="Title 1"/>
          <p:cNvSpPr>
            <a:spLocks noGrp="1"/>
          </p:cNvSpPr>
          <p:nvPr>
            <p:ph type="ctrTitle"/>
          </p:nvPr>
        </p:nvSpPr>
        <p:spPr>
          <a:xfrm>
            <a:off x="632823" y="14811"/>
            <a:ext cx="8532440" cy="412929"/>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a:t>
            </a:r>
            <a:r>
              <a:rPr lang="en-US" sz="2400" b="1">
                <a:solidFill>
                  <a:schemeClr val="accent6"/>
                </a:solidFill>
              </a:rPr>
              <a:t>PART </a:t>
            </a:r>
            <a:r>
              <a:rPr lang="en-US" sz="2400" b="1" smtClean="0">
                <a:solidFill>
                  <a:schemeClr val="accent6"/>
                </a:solidFill>
              </a:rPr>
              <a:t>2 - CHEMISTRY </a:t>
            </a:r>
            <a:r>
              <a:rPr lang="en-US" sz="2400" b="1" dirty="0">
                <a:solidFill>
                  <a:schemeClr val="accent6"/>
                </a:solidFill>
              </a:rPr>
              <a:t>ONLY</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0" y="770262"/>
            <a:ext cx="9048949" cy="707886"/>
          </a:xfrm>
          <a:prstGeom prst="rect">
            <a:avLst/>
          </a:prstGeom>
          <a:noFill/>
        </p:spPr>
        <p:txBody>
          <a:bodyPr wrap="square" rtlCol="0">
            <a:spAutoFit/>
          </a:bodyPr>
          <a:lstStyle/>
          <a:p>
            <a:pPr algn="ctr"/>
            <a:r>
              <a:rPr lang="en-GB" sz="2000" dirty="0"/>
              <a:t>The </a:t>
            </a:r>
            <a:r>
              <a:rPr lang="en-GB" sz="2000" b="1" dirty="0">
                <a:solidFill>
                  <a:schemeClr val="accent6">
                    <a:lumMod val="75000"/>
                  </a:schemeClr>
                </a:solidFill>
              </a:rPr>
              <a:t>volumes</a:t>
            </a:r>
            <a:r>
              <a:rPr lang="en-GB" sz="2000" dirty="0">
                <a:solidFill>
                  <a:schemeClr val="accent6">
                    <a:lumMod val="75000"/>
                  </a:schemeClr>
                </a:solidFill>
              </a:rPr>
              <a:t> </a:t>
            </a:r>
            <a:r>
              <a:rPr lang="en-GB" sz="2000" dirty="0"/>
              <a:t>of acid and alkali solutions that react with each other</a:t>
            </a:r>
          </a:p>
          <a:p>
            <a:pPr algn="ctr"/>
            <a:r>
              <a:rPr lang="en-GB" sz="2000" dirty="0"/>
              <a:t>can be measured by </a:t>
            </a:r>
            <a:r>
              <a:rPr lang="en-GB" sz="2000" b="1" dirty="0">
                <a:solidFill>
                  <a:schemeClr val="accent6">
                    <a:lumMod val="75000"/>
                  </a:schemeClr>
                </a:solidFill>
              </a:rPr>
              <a:t>titration</a:t>
            </a:r>
            <a:r>
              <a:rPr lang="en-GB" sz="2000" dirty="0">
                <a:solidFill>
                  <a:schemeClr val="accent6">
                    <a:lumMod val="75000"/>
                  </a:schemeClr>
                </a:solidFill>
              </a:rPr>
              <a:t> </a:t>
            </a:r>
            <a:r>
              <a:rPr lang="en-GB" sz="2000" dirty="0"/>
              <a:t>using a suitable indictor.</a:t>
            </a:r>
          </a:p>
        </p:txBody>
      </p:sp>
      <p:sp>
        <p:nvSpPr>
          <p:cNvPr id="5" name="Rectangle 4">
            <a:extLst>
              <a:ext uri="{FF2B5EF4-FFF2-40B4-BE49-F238E27FC236}">
                <a16:creationId xmlns:a16="http://schemas.microsoft.com/office/drawing/2014/main" xmlns="" id="{E0022BF3-6055-41F3-9CAE-D99F69D29305}"/>
              </a:ext>
            </a:extLst>
          </p:cNvPr>
          <p:cNvSpPr/>
          <p:nvPr/>
        </p:nvSpPr>
        <p:spPr>
          <a:xfrm>
            <a:off x="6229436" y="4722048"/>
            <a:ext cx="2935827" cy="1815882"/>
          </a:xfrm>
          <a:prstGeom prst="rect">
            <a:avLst/>
          </a:prstGeom>
        </p:spPr>
        <p:txBody>
          <a:bodyPr wrap="square">
            <a:spAutoFit/>
          </a:bodyPr>
          <a:lstStyle/>
          <a:p>
            <a:pPr algn="ctr"/>
            <a:r>
              <a:rPr lang="en-GB" sz="1600" dirty="0">
                <a:solidFill>
                  <a:srgbClr val="333333"/>
                </a:solidFill>
              </a:rPr>
              <a:t>3.  Stop adding the acid when the end-point is reached (the appropriate colour change in the indicator happens). Note the final volume reading.  Repeat steps 1 to 3 until you get consistent readings.</a:t>
            </a:r>
            <a:endParaRPr lang="en-GB" sz="1600" b="0" dirty="0">
              <a:solidFill>
                <a:srgbClr val="333333"/>
              </a:solidFill>
              <a:effectLst/>
            </a:endParaRPr>
          </a:p>
        </p:txBody>
      </p:sp>
      <p:pic>
        <p:nvPicPr>
          <p:cNvPr id="9" name="Picture 8">
            <a:extLst>
              <a:ext uri="{FF2B5EF4-FFF2-40B4-BE49-F238E27FC236}">
                <a16:creationId xmlns:a16="http://schemas.microsoft.com/office/drawing/2014/main" xmlns="" id="{137A17BE-8AA4-4513-898F-9D070C852D79}"/>
              </a:ext>
            </a:extLst>
          </p:cNvPr>
          <p:cNvPicPr>
            <a:picLocks noChangeAspect="1"/>
          </p:cNvPicPr>
          <p:nvPr/>
        </p:nvPicPr>
        <p:blipFill>
          <a:blip r:embed="rId4"/>
          <a:stretch>
            <a:fillRect/>
          </a:stretch>
        </p:blipFill>
        <p:spPr>
          <a:xfrm>
            <a:off x="702135" y="2060848"/>
            <a:ext cx="1524000" cy="3409950"/>
          </a:xfrm>
          <a:prstGeom prst="rect">
            <a:avLst/>
          </a:prstGeom>
        </p:spPr>
      </p:pic>
      <p:pic>
        <p:nvPicPr>
          <p:cNvPr id="10" name="Picture 9">
            <a:extLst>
              <a:ext uri="{FF2B5EF4-FFF2-40B4-BE49-F238E27FC236}">
                <a16:creationId xmlns:a16="http://schemas.microsoft.com/office/drawing/2014/main" xmlns="" id="{0F2C69C0-2FBD-4252-8EF7-C8FA7E559616}"/>
              </a:ext>
            </a:extLst>
          </p:cNvPr>
          <p:cNvPicPr>
            <a:picLocks noChangeAspect="1"/>
          </p:cNvPicPr>
          <p:nvPr/>
        </p:nvPicPr>
        <p:blipFill>
          <a:blip r:embed="rId5"/>
          <a:stretch>
            <a:fillRect/>
          </a:stretch>
        </p:blipFill>
        <p:spPr>
          <a:xfrm>
            <a:off x="3322949" y="1759115"/>
            <a:ext cx="2363884" cy="3498231"/>
          </a:xfrm>
          <a:prstGeom prst="rect">
            <a:avLst/>
          </a:prstGeom>
        </p:spPr>
      </p:pic>
      <p:sp>
        <p:nvSpPr>
          <p:cNvPr id="8" name="Rectangle 7">
            <a:extLst>
              <a:ext uri="{FF2B5EF4-FFF2-40B4-BE49-F238E27FC236}">
                <a16:creationId xmlns:a16="http://schemas.microsoft.com/office/drawing/2014/main" xmlns="" id="{FBE68CB8-7194-440A-AD59-1EFD2AA4BCD6}"/>
              </a:ext>
            </a:extLst>
          </p:cNvPr>
          <p:cNvSpPr/>
          <p:nvPr/>
        </p:nvSpPr>
        <p:spPr>
          <a:xfrm>
            <a:off x="2679928" y="5091380"/>
            <a:ext cx="3460698" cy="1077218"/>
          </a:xfrm>
          <a:prstGeom prst="rect">
            <a:avLst/>
          </a:prstGeom>
          <a:solidFill>
            <a:schemeClr val="bg1"/>
          </a:solidFill>
        </p:spPr>
        <p:txBody>
          <a:bodyPr wrap="square">
            <a:spAutoFit/>
          </a:bodyPr>
          <a:lstStyle/>
          <a:p>
            <a:pPr algn="ctr"/>
            <a:r>
              <a:rPr lang="en-GB" sz="1600" dirty="0">
                <a:solidFill>
                  <a:srgbClr val="333333"/>
                </a:solidFill>
              </a:rPr>
              <a:t>2.  Fill the </a:t>
            </a:r>
            <a:r>
              <a:rPr lang="en-GB" sz="1600" dirty="0">
                <a:solidFill>
                  <a:srgbClr val="000000"/>
                </a:solidFill>
              </a:rPr>
              <a:t>burette</a:t>
            </a:r>
            <a:r>
              <a:rPr lang="en-GB" sz="1600" dirty="0">
                <a:solidFill>
                  <a:srgbClr val="333333"/>
                </a:solidFill>
              </a:rPr>
              <a:t> with acid and note the starting volume.  Slowly add the acid from the burette to the alkali in the conical flask, swirling to mix.</a:t>
            </a:r>
            <a:endParaRPr lang="en-GB" sz="1600" dirty="0"/>
          </a:p>
        </p:txBody>
      </p:sp>
      <p:sp>
        <p:nvSpPr>
          <p:cNvPr id="7" name="Rectangle 6">
            <a:extLst>
              <a:ext uri="{FF2B5EF4-FFF2-40B4-BE49-F238E27FC236}">
                <a16:creationId xmlns:a16="http://schemas.microsoft.com/office/drawing/2014/main" xmlns="" id="{9806EDEB-3308-4FC6-9DC2-8A8F1D1ED80D}"/>
              </a:ext>
            </a:extLst>
          </p:cNvPr>
          <p:cNvSpPr/>
          <p:nvPr/>
        </p:nvSpPr>
        <p:spPr>
          <a:xfrm>
            <a:off x="24433" y="5138915"/>
            <a:ext cx="2834975" cy="1384995"/>
          </a:xfrm>
          <a:prstGeom prst="rect">
            <a:avLst/>
          </a:prstGeom>
          <a:solidFill>
            <a:schemeClr val="bg1"/>
          </a:solidFill>
        </p:spPr>
        <p:txBody>
          <a:bodyPr wrap="square">
            <a:spAutoFit/>
          </a:bodyPr>
          <a:lstStyle/>
          <a:p>
            <a:pPr marL="342900" indent="-342900" algn="ctr">
              <a:buAutoNum type="arabicPeriod"/>
            </a:pPr>
            <a:r>
              <a:rPr lang="en-GB" sz="1600" dirty="0">
                <a:solidFill>
                  <a:srgbClr val="333333"/>
                </a:solidFill>
              </a:rPr>
              <a:t>Use the pipette to add 25 cm</a:t>
            </a:r>
            <a:r>
              <a:rPr lang="en-GB" sz="1600" baseline="30000" dirty="0">
                <a:solidFill>
                  <a:srgbClr val="333333"/>
                </a:solidFill>
              </a:rPr>
              <a:t>3</a:t>
            </a:r>
            <a:r>
              <a:rPr lang="en-GB" sz="1600" dirty="0">
                <a:solidFill>
                  <a:srgbClr val="333333"/>
                </a:solidFill>
              </a:rPr>
              <a:t> of alkali to a conical flask and add a few drops of </a:t>
            </a:r>
            <a:r>
              <a:rPr lang="en-GB" sz="1600" dirty="0">
                <a:solidFill>
                  <a:srgbClr val="000000"/>
                </a:solidFill>
              </a:rPr>
              <a:t>indicator</a:t>
            </a:r>
            <a:r>
              <a:rPr lang="en-GB" sz="1600" dirty="0">
                <a:solidFill>
                  <a:srgbClr val="333333"/>
                </a:solidFill>
              </a:rPr>
              <a:t>.</a:t>
            </a:r>
            <a:endParaRPr lang="en-GB" dirty="0">
              <a:solidFill>
                <a:srgbClr val="333333"/>
              </a:solidFill>
            </a:endParaRPr>
          </a:p>
          <a:p>
            <a:pPr algn="ctr"/>
            <a:endParaRPr lang="en-GB" dirty="0">
              <a:solidFill>
                <a:srgbClr val="333333"/>
              </a:solidFill>
            </a:endParaRPr>
          </a:p>
        </p:txBody>
      </p:sp>
    </p:spTree>
    <p:extLst>
      <p:ext uri="{BB962C8B-B14F-4D97-AF65-F5344CB8AC3E}">
        <p14:creationId xmlns:p14="http://schemas.microsoft.com/office/powerpoint/2010/main" val="41909694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4664" y="209254"/>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PART 2 – CHEMISTRY ONLY</a:t>
            </a:r>
            <a:br>
              <a:rPr lang="en-US" sz="2400" b="1" dirty="0">
                <a:solidFill>
                  <a:schemeClr val="accent6"/>
                </a:solidFill>
              </a:rPr>
            </a:br>
            <a:r>
              <a:rPr lang="en-US" sz="2400" b="1" dirty="0">
                <a:solidFill>
                  <a:schemeClr val="accent6"/>
                </a:solidFill>
              </a:rPr>
              <a:t>Higher</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sz="2000"/>
          </a:p>
        </p:txBody>
      </p:sp>
      <p:sp>
        <p:nvSpPr>
          <p:cNvPr id="3" name="TextBox 2">
            <a:extLst>
              <a:ext uri="{FF2B5EF4-FFF2-40B4-BE49-F238E27FC236}">
                <a16:creationId xmlns:a16="http://schemas.microsoft.com/office/drawing/2014/main" xmlns="" id="{069D24D6-BF3E-48D1-A1E3-FB8C618604DE}"/>
              </a:ext>
            </a:extLst>
          </p:cNvPr>
          <p:cNvSpPr txBox="1"/>
          <p:nvPr/>
        </p:nvSpPr>
        <p:spPr>
          <a:xfrm>
            <a:off x="262260" y="1026855"/>
            <a:ext cx="8874844" cy="2246769"/>
          </a:xfrm>
          <a:prstGeom prst="rect">
            <a:avLst/>
          </a:prstGeom>
          <a:noFill/>
          <a:ln>
            <a:solidFill>
              <a:schemeClr val="bg1"/>
            </a:solidFill>
          </a:ln>
        </p:spPr>
        <p:txBody>
          <a:bodyPr wrap="square" rtlCol="0">
            <a:spAutoFit/>
          </a:bodyPr>
          <a:lstStyle/>
          <a:p>
            <a:pPr algn="ctr"/>
            <a:r>
              <a:rPr lang="en-GB" sz="2000" dirty="0"/>
              <a:t>The </a:t>
            </a:r>
            <a:r>
              <a:rPr lang="en-GB" sz="2000" b="1" dirty="0"/>
              <a:t>concentration</a:t>
            </a:r>
            <a:r>
              <a:rPr lang="en-GB" sz="2000" dirty="0"/>
              <a:t> of a </a:t>
            </a:r>
            <a:r>
              <a:rPr lang="en-GB" sz="2000" b="1" dirty="0"/>
              <a:t>solution</a:t>
            </a:r>
            <a:r>
              <a:rPr lang="en-GB" sz="2000" dirty="0"/>
              <a:t> is the amount of </a:t>
            </a:r>
            <a:r>
              <a:rPr lang="en-GB" sz="2000" b="1" dirty="0"/>
              <a:t>solute per volume of solution</a:t>
            </a:r>
            <a:r>
              <a:rPr lang="en-GB" sz="2000" dirty="0"/>
              <a:t>. </a:t>
            </a:r>
          </a:p>
          <a:p>
            <a:pPr algn="ctr"/>
            <a:r>
              <a:rPr lang="en-GB" sz="2000" dirty="0"/>
              <a:t>Chemists measure concentration in moles per cubic decimetre </a:t>
            </a:r>
            <a:r>
              <a:rPr lang="en-GB" sz="2000" b="1" dirty="0"/>
              <a:t>(</a:t>
            </a:r>
            <a:r>
              <a:rPr lang="en-GB" sz="2000" b="1" dirty="0" err="1"/>
              <a:t>mol</a:t>
            </a:r>
            <a:r>
              <a:rPr lang="en-GB" sz="2000" b="1" dirty="0"/>
              <a:t>/dm</a:t>
            </a:r>
            <a:r>
              <a:rPr lang="en-GB" sz="2000" b="1" baseline="30000" dirty="0"/>
              <a:t>3</a:t>
            </a:r>
            <a:r>
              <a:rPr lang="en-GB" sz="2000" b="1" dirty="0"/>
              <a:t>)</a:t>
            </a:r>
            <a:r>
              <a:rPr lang="en-GB" sz="2000" dirty="0"/>
              <a:t>. </a:t>
            </a:r>
          </a:p>
          <a:p>
            <a:pPr algn="ctr"/>
            <a:endParaRPr lang="en-GB" sz="2000" dirty="0"/>
          </a:p>
          <a:p>
            <a:r>
              <a:rPr lang="en-GB" sz="2000" b="1" dirty="0">
                <a:solidFill>
                  <a:schemeClr val="accent6">
                    <a:lumMod val="75000"/>
                  </a:schemeClr>
                </a:solidFill>
              </a:rPr>
              <a:t>Where:</a:t>
            </a:r>
          </a:p>
          <a:p>
            <a:r>
              <a:rPr lang="en-GB" sz="2000" b="1" dirty="0">
                <a:solidFill>
                  <a:schemeClr val="accent6">
                    <a:lumMod val="75000"/>
                  </a:schemeClr>
                </a:solidFill>
              </a:rPr>
              <a:t>n </a:t>
            </a:r>
            <a:r>
              <a:rPr lang="en-GB" sz="2000" dirty="0">
                <a:solidFill>
                  <a:schemeClr val="accent6">
                    <a:lumMod val="75000"/>
                  </a:schemeClr>
                </a:solidFill>
              </a:rPr>
              <a:t>is the number of moles </a:t>
            </a:r>
            <a:r>
              <a:rPr lang="en-GB" sz="2000" b="1" dirty="0">
                <a:solidFill>
                  <a:schemeClr val="accent6">
                    <a:lumMod val="75000"/>
                  </a:schemeClr>
                </a:solidFill>
              </a:rPr>
              <a:t>(</a:t>
            </a:r>
            <a:r>
              <a:rPr lang="en-GB" sz="2000" b="1" dirty="0" err="1">
                <a:solidFill>
                  <a:schemeClr val="accent6">
                    <a:lumMod val="75000"/>
                  </a:schemeClr>
                </a:solidFill>
              </a:rPr>
              <a:t>mol</a:t>
            </a:r>
            <a:r>
              <a:rPr lang="en-GB" sz="2000" b="1" dirty="0">
                <a:solidFill>
                  <a:schemeClr val="accent6">
                    <a:lumMod val="75000"/>
                  </a:schemeClr>
                </a:solidFill>
              </a:rPr>
              <a:t>) </a:t>
            </a:r>
            <a:r>
              <a:rPr lang="en-GB" sz="2000" dirty="0">
                <a:solidFill>
                  <a:schemeClr val="accent6">
                    <a:lumMod val="75000"/>
                  </a:schemeClr>
                </a:solidFill>
              </a:rPr>
              <a:t>or the mass of the solute </a:t>
            </a:r>
            <a:r>
              <a:rPr lang="en-GB" sz="2000" b="1" dirty="0">
                <a:solidFill>
                  <a:schemeClr val="accent6">
                    <a:lumMod val="75000"/>
                  </a:schemeClr>
                </a:solidFill>
              </a:rPr>
              <a:t>(g)</a:t>
            </a:r>
            <a:endParaRPr lang="en-GB" sz="2000" dirty="0">
              <a:solidFill>
                <a:schemeClr val="accent6">
                  <a:lumMod val="75000"/>
                </a:schemeClr>
              </a:solidFill>
            </a:endParaRPr>
          </a:p>
          <a:p>
            <a:r>
              <a:rPr lang="en-GB" sz="2000" b="1" dirty="0">
                <a:solidFill>
                  <a:schemeClr val="accent6">
                    <a:lumMod val="75000"/>
                  </a:schemeClr>
                </a:solidFill>
              </a:rPr>
              <a:t>c </a:t>
            </a:r>
            <a:r>
              <a:rPr lang="en-GB" sz="2000" dirty="0">
                <a:solidFill>
                  <a:schemeClr val="accent6">
                    <a:lumMod val="75000"/>
                  </a:schemeClr>
                </a:solidFill>
              </a:rPr>
              <a:t>is the concentration </a:t>
            </a:r>
            <a:r>
              <a:rPr lang="en-GB" sz="2000" b="1" dirty="0">
                <a:solidFill>
                  <a:schemeClr val="accent6">
                    <a:lumMod val="75000"/>
                  </a:schemeClr>
                </a:solidFill>
              </a:rPr>
              <a:t>(</a:t>
            </a:r>
            <a:r>
              <a:rPr lang="en-GB" sz="2000" b="1" dirty="0" err="1">
                <a:solidFill>
                  <a:schemeClr val="accent6">
                    <a:lumMod val="75000"/>
                  </a:schemeClr>
                </a:solidFill>
              </a:rPr>
              <a:t>mol</a:t>
            </a:r>
            <a:r>
              <a:rPr lang="en-GB" sz="2000" b="1" dirty="0">
                <a:solidFill>
                  <a:schemeClr val="accent6">
                    <a:lumMod val="75000"/>
                  </a:schemeClr>
                </a:solidFill>
              </a:rPr>
              <a:t>/dm</a:t>
            </a:r>
            <a:r>
              <a:rPr lang="en-GB" sz="2000" b="1" baseline="30000" dirty="0">
                <a:solidFill>
                  <a:schemeClr val="accent6">
                    <a:lumMod val="75000"/>
                  </a:schemeClr>
                </a:solidFill>
              </a:rPr>
              <a:t>3</a:t>
            </a:r>
            <a:r>
              <a:rPr lang="en-GB" sz="2000" dirty="0">
                <a:solidFill>
                  <a:schemeClr val="accent6">
                    <a:lumMod val="75000"/>
                  </a:schemeClr>
                </a:solidFill>
              </a:rPr>
              <a:t>or</a:t>
            </a:r>
            <a:r>
              <a:rPr lang="en-GB" sz="2000" b="1" dirty="0">
                <a:solidFill>
                  <a:schemeClr val="accent6">
                    <a:lumMod val="75000"/>
                  </a:schemeClr>
                </a:solidFill>
              </a:rPr>
              <a:t> g/dm</a:t>
            </a:r>
            <a:r>
              <a:rPr lang="en-GB" sz="2000" b="1" baseline="30000" dirty="0">
                <a:solidFill>
                  <a:schemeClr val="accent6">
                    <a:lumMod val="75000"/>
                  </a:schemeClr>
                </a:solidFill>
              </a:rPr>
              <a:t>3</a:t>
            </a:r>
            <a:r>
              <a:rPr lang="en-GB" sz="2000" b="1" dirty="0">
                <a:solidFill>
                  <a:schemeClr val="accent6">
                    <a:lumMod val="75000"/>
                  </a:schemeClr>
                </a:solidFill>
              </a:rPr>
              <a:t>) </a:t>
            </a:r>
          </a:p>
          <a:p>
            <a:r>
              <a:rPr lang="en-GB" sz="2000" b="1" dirty="0">
                <a:solidFill>
                  <a:schemeClr val="accent6">
                    <a:lumMod val="75000"/>
                  </a:schemeClr>
                </a:solidFill>
              </a:rPr>
              <a:t>v </a:t>
            </a:r>
            <a:r>
              <a:rPr lang="en-GB" sz="2000" dirty="0">
                <a:solidFill>
                  <a:schemeClr val="accent6">
                    <a:lumMod val="75000"/>
                  </a:schemeClr>
                </a:solidFill>
              </a:rPr>
              <a:t>is the volume </a:t>
            </a:r>
            <a:r>
              <a:rPr lang="en-GB" sz="2000" b="1" dirty="0">
                <a:solidFill>
                  <a:schemeClr val="accent6">
                    <a:lumMod val="75000"/>
                  </a:schemeClr>
                </a:solidFill>
              </a:rPr>
              <a:t>(dm</a:t>
            </a:r>
            <a:r>
              <a:rPr lang="en-GB" sz="2000" b="1" baseline="30000" dirty="0">
                <a:solidFill>
                  <a:schemeClr val="accent6">
                    <a:lumMod val="75000"/>
                  </a:schemeClr>
                </a:solidFill>
              </a:rPr>
              <a:t>3</a:t>
            </a:r>
            <a:r>
              <a:rPr lang="en-GB" sz="2000" b="1" dirty="0">
                <a:solidFill>
                  <a:schemeClr val="accent6">
                    <a:lumMod val="75000"/>
                  </a:schemeClr>
                </a:solidFill>
              </a:rPr>
              <a:t>) </a:t>
            </a:r>
          </a:p>
        </p:txBody>
      </p:sp>
      <p:sp>
        <p:nvSpPr>
          <p:cNvPr id="10" name="TextBox 9">
            <a:extLst>
              <a:ext uri="{FF2B5EF4-FFF2-40B4-BE49-F238E27FC236}">
                <a16:creationId xmlns:a16="http://schemas.microsoft.com/office/drawing/2014/main" xmlns="" id="{D46563E1-D945-4EFC-A168-957652768574}"/>
              </a:ext>
            </a:extLst>
          </p:cNvPr>
          <p:cNvSpPr txBox="1"/>
          <p:nvPr/>
        </p:nvSpPr>
        <p:spPr>
          <a:xfrm>
            <a:off x="251520" y="4320064"/>
            <a:ext cx="3816424" cy="1631216"/>
          </a:xfrm>
          <a:prstGeom prst="rect">
            <a:avLst/>
          </a:prstGeom>
          <a:solidFill>
            <a:schemeClr val="accent6">
              <a:lumMod val="40000"/>
              <a:lumOff val="60000"/>
            </a:schemeClr>
          </a:solidFill>
          <a:ln>
            <a:solidFill>
              <a:schemeClr val="accent6">
                <a:lumMod val="75000"/>
              </a:schemeClr>
            </a:solidFill>
          </a:ln>
        </p:spPr>
        <p:txBody>
          <a:bodyPr wrap="square" rtlCol="0">
            <a:spAutoFit/>
          </a:bodyPr>
          <a:lstStyle/>
          <a:p>
            <a:pPr algn="ctr"/>
            <a:r>
              <a:rPr lang="en-GB" sz="2000" i="1" dirty="0"/>
              <a:t>What is the concentration of a solution that has 35.0g of solute in 0.5dm</a:t>
            </a:r>
            <a:r>
              <a:rPr lang="en-GB" sz="2000" i="1" baseline="30000" dirty="0"/>
              <a:t>3</a:t>
            </a:r>
            <a:r>
              <a:rPr lang="en-GB" sz="2000" i="1" dirty="0"/>
              <a:t>of solution?</a:t>
            </a:r>
          </a:p>
          <a:p>
            <a:pPr algn="ctr"/>
            <a:endParaRPr lang="en-GB" sz="2000" dirty="0"/>
          </a:p>
          <a:p>
            <a:pPr algn="ctr"/>
            <a:r>
              <a:rPr lang="en-GB" sz="2000" b="1" dirty="0">
                <a:solidFill>
                  <a:schemeClr val="accent6">
                    <a:lumMod val="75000"/>
                  </a:schemeClr>
                </a:solidFill>
              </a:rPr>
              <a:t>35/0.5 = 70 g/dm</a:t>
            </a:r>
            <a:r>
              <a:rPr lang="en-GB" sz="2000" b="1" baseline="30000" dirty="0">
                <a:solidFill>
                  <a:schemeClr val="accent6">
                    <a:lumMod val="75000"/>
                  </a:schemeClr>
                </a:solidFill>
              </a:rPr>
              <a:t>3 </a:t>
            </a:r>
            <a:endParaRPr lang="en-GB" sz="2000" b="1" dirty="0">
              <a:solidFill>
                <a:schemeClr val="accent6">
                  <a:lumMod val="75000"/>
                </a:schemeClr>
              </a:solidFill>
            </a:endParaRPr>
          </a:p>
        </p:txBody>
      </p:sp>
      <p:sp>
        <p:nvSpPr>
          <p:cNvPr id="11" name="TextBox 10">
            <a:extLst>
              <a:ext uri="{FF2B5EF4-FFF2-40B4-BE49-F238E27FC236}">
                <a16:creationId xmlns:a16="http://schemas.microsoft.com/office/drawing/2014/main" xmlns="" id="{FDE15821-BDB3-49DD-8ADF-D5DD71B27D62}"/>
              </a:ext>
            </a:extLst>
          </p:cNvPr>
          <p:cNvSpPr txBox="1"/>
          <p:nvPr/>
        </p:nvSpPr>
        <p:spPr>
          <a:xfrm>
            <a:off x="107504" y="3903200"/>
            <a:ext cx="1322991" cy="400110"/>
          </a:xfrm>
          <a:prstGeom prst="rect">
            <a:avLst/>
          </a:prstGeom>
          <a:noFill/>
        </p:spPr>
        <p:txBody>
          <a:bodyPr wrap="none" rtlCol="0">
            <a:spAutoFit/>
          </a:bodyPr>
          <a:lstStyle/>
          <a:p>
            <a:r>
              <a:rPr lang="en-GB" sz="2000" dirty="0"/>
              <a:t>Example 1:</a:t>
            </a:r>
          </a:p>
        </p:txBody>
      </p:sp>
      <p:sp>
        <p:nvSpPr>
          <p:cNvPr id="12" name="TextBox 11">
            <a:extLst>
              <a:ext uri="{FF2B5EF4-FFF2-40B4-BE49-F238E27FC236}">
                <a16:creationId xmlns:a16="http://schemas.microsoft.com/office/drawing/2014/main" xmlns="" id="{4AF038DA-1ECC-42C5-ACB6-B82D8A97C58E}"/>
              </a:ext>
            </a:extLst>
          </p:cNvPr>
          <p:cNvSpPr txBox="1"/>
          <p:nvPr/>
        </p:nvSpPr>
        <p:spPr>
          <a:xfrm>
            <a:off x="4845677" y="3903200"/>
            <a:ext cx="1322991" cy="400110"/>
          </a:xfrm>
          <a:prstGeom prst="rect">
            <a:avLst/>
          </a:prstGeom>
          <a:noFill/>
        </p:spPr>
        <p:txBody>
          <a:bodyPr wrap="none" rtlCol="0">
            <a:spAutoFit/>
          </a:bodyPr>
          <a:lstStyle/>
          <a:p>
            <a:r>
              <a:rPr lang="en-GB" sz="2000" dirty="0"/>
              <a:t>Example 2:</a:t>
            </a:r>
          </a:p>
        </p:txBody>
      </p:sp>
      <p:sp>
        <p:nvSpPr>
          <p:cNvPr id="13" name="TextBox 12">
            <a:extLst>
              <a:ext uri="{FF2B5EF4-FFF2-40B4-BE49-F238E27FC236}">
                <a16:creationId xmlns:a16="http://schemas.microsoft.com/office/drawing/2014/main" xmlns="" id="{A2AC38C8-193E-46BE-BA24-35AFA3096D4A}"/>
              </a:ext>
            </a:extLst>
          </p:cNvPr>
          <p:cNvSpPr txBox="1"/>
          <p:nvPr/>
        </p:nvSpPr>
        <p:spPr>
          <a:xfrm>
            <a:off x="4944857" y="4320064"/>
            <a:ext cx="3816424" cy="1631216"/>
          </a:xfrm>
          <a:prstGeom prst="rect">
            <a:avLst/>
          </a:prstGeom>
          <a:solidFill>
            <a:schemeClr val="accent6">
              <a:lumMod val="40000"/>
              <a:lumOff val="60000"/>
            </a:schemeClr>
          </a:solidFill>
          <a:ln>
            <a:solidFill>
              <a:schemeClr val="accent6">
                <a:lumMod val="75000"/>
              </a:schemeClr>
            </a:solidFill>
          </a:ln>
        </p:spPr>
        <p:txBody>
          <a:bodyPr wrap="square" rtlCol="0">
            <a:spAutoFit/>
          </a:bodyPr>
          <a:lstStyle/>
          <a:p>
            <a:pPr algn="ctr"/>
            <a:r>
              <a:rPr lang="en-GB" sz="2000" i="1" dirty="0"/>
              <a:t>How many </a:t>
            </a:r>
            <a:r>
              <a:rPr lang="en-GB" sz="2000" i="1" dirty="0" smtClean="0"/>
              <a:t>moles </a:t>
            </a:r>
            <a:r>
              <a:rPr lang="en-GB" sz="2000" i="1" dirty="0"/>
              <a:t>of magnesium nitrate are there in 0.50 dm</a:t>
            </a:r>
            <a:r>
              <a:rPr lang="en-GB" sz="2000" i="1" baseline="30000" dirty="0"/>
              <a:t>3 </a:t>
            </a:r>
            <a:r>
              <a:rPr lang="en-GB" sz="2000" i="1" dirty="0"/>
              <a:t>of a 2 </a:t>
            </a:r>
            <a:r>
              <a:rPr lang="en-GB" sz="2000" i="1" dirty="0" err="1"/>
              <a:t>mol</a:t>
            </a:r>
            <a:r>
              <a:rPr lang="en-GB" sz="2000" i="1" dirty="0"/>
              <a:t>/dm</a:t>
            </a:r>
            <a:r>
              <a:rPr lang="en-GB" sz="2000" i="1" baseline="30000" dirty="0"/>
              <a:t>3 </a:t>
            </a:r>
            <a:r>
              <a:rPr lang="en-GB" sz="2000" i="1" dirty="0"/>
              <a:t>solution?</a:t>
            </a:r>
          </a:p>
          <a:p>
            <a:pPr algn="ctr"/>
            <a:endParaRPr lang="en-GB" sz="2000" b="1" i="1" dirty="0">
              <a:solidFill>
                <a:schemeClr val="accent6">
                  <a:lumMod val="75000"/>
                </a:schemeClr>
              </a:solidFill>
            </a:endParaRPr>
          </a:p>
          <a:p>
            <a:pPr algn="ctr"/>
            <a:r>
              <a:rPr lang="en-GB" sz="2000" b="1" dirty="0">
                <a:solidFill>
                  <a:schemeClr val="accent6">
                    <a:lumMod val="75000"/>
                  </a:schemeClr>
                </a:solidFill>
              </a:rPr>
              <a:t>2 x 0.50 = 1 </a:t>
            </a:r>
            <a:r>
              <a:rPr lang="en-GB" sz="2000" b="1" dirty="0" err="1">
                <a:solidFill>
                  <a:schemeClr val="accent6">
                    <a:lumMod val="75000"/>
                  </a:schemeClr>
                </a:solidFill>
              </a:rPr>
              <a:t>mol</a:t>
            </a:r>
            <a:endParaRPr lang="en-GB" sz="2000" b="1" i="1" dirty="0">
              <a:solidFill>
                <a:schemeClr val="accent6">
                  <a:lumMod val="75000"/>
                </a:schemeClr>
              </a:solidFill>
            </a:endParaRPr>
          </a:p>
        </p:txBody>
      </p:sp>
    </p:spTree>
    <p:extLst>
      <p:ext uri="{BB962C8B-B14F-4D97-AF65-F5344CB8AC3E}">
        <p14:creationId xmlns:p14="http://schemas.microsoft.com/office/powerpoint/2010/main" val="17334631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996561F1-16B3-4AEF-94E9-5F446F00168C}"/>
              </a:ext>
            </a:extLst>
          </p:cNvPr>
          <p:cNvPicPr>
            <a:picLocks noChangeAspect="1"/>
          </p:cNvPicPr>
          <p:nvPr/>
        </p:nvPicPr>
        <p:blipFill>
          <a:blip r:embed="rId3"/>
          <a:stretch>
            <a:fillRect/>
          </a:stretch>
        </p:blipFill>
        <p:spPr>
          <a:xfrm>
            <a:off x="6337669" y="732495"/>
            <a:ext cx="2714625" cy="3028950"/>
          </a:xfrm>
          <a:prstGeom prst="rect">
            <a:avLst/>
          </a:prstGeom>
        </p:spPr>
      </p:pic>
      <p:sp>
        <p:nvSpPr>
          <p:cNvPr id="2" name="Title 1"/>
          <p:cNvSpPr>
            <a:spLocks noGrp="1"/>
          </p:cNvSpPr>
          <p:nvPr>
            <p:ph type="ctrTitle"/>
          </p:nvPr>
        </p:nvSpPr>
        <p:spPr>
          <a:xfrm>
            <a:off x="611560" y="196163"/>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a:t>
            </a:r>
            <a:r>
              <a:rPr lang="en-US" sz="2400" b="1">
                <a:solidFill>
                  <a:schemeClr val="accent6"/>
                </a:solidFill>
              </a:rPr>
              <a:t>of acids </a:t>
            </a:r>
            <a:r>
              <a:rPr lang="en-US" sz="2400" b="1" dirty="0">
                <a:solidFill>
                  <a:schemeClr val="accent6"/>
                </a:solidFill>
              </a:rPr>
              <a:t>– PART 2 - CHEMISTRY ONLY</a:t>
            </a:r>
            <a:br>
              <a:rPr lang="en-US" sz="2400" b="1" dirty="0">
                <a:solidFill>
                  <a:schemeClr val="accent6"/>
                </a:solidFill>
              </a:rPr>
            </a:br>
            <a:r>
              <a:rPr lang="en-US" sz="2400" b="1" dirty="0">
                <a:solidFill>
                  <a:schemeClr val="accent6"/>
                </a:solidFill>
              </a:rPr>
              <a:t>Higher</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247178" y="793701"/>
            <a:ext cx="6435824" cy="923330"/>
          </a:xfrm>
          <a:prstGeom prst="rect">
            <a:avLst/>
          </a:prstGeom>
          <a:noFill/>
          <a:ln>
            <a:solidFill>
              <a:schemeClr val="bg1"/>
            </a:solidFill>
          </a:ln>
        </p:spPr>
        <p:txBody>
          <a:bodyPr wrap="square" rtlCol="0">
            <a:spAutoFit/>
          </a:bodyPr>
          <a:lstStyle/>
          <a:p>
            <a:pPr algn="ctr"/>
            <a:r>
              <a:rPr lang="en-GB" dirty="0"/>
              <a:t>If the volumes of two solutions that react completely are known and the concentrations of one solution is known, the concentration of the other solution can be calculated.</a:t>
            </a:r>
            <a:endParaRPr lang="en-GB" b="1" dirty="0">
              <a:solidFill>
                <a:schemeClr val="accent6">
                  <a:lumMod val="75000"/>
                </a:schemeClr>
              </a:solidFill>
            </a:endParaRPr>
          </a:p>
        </p:txBody>
      </p:sp>
      <p:sp>
        <p:nvSpPr>
          <p:cNvPr id="5" name="Rectangle 4">
            <a:extLst>
              <a:ext uri="{FF2B5EF4-FFF2-40B4-BE49-F238E27FC236}">
                <a16:creationId xmlns:a16="http://schemas.microsoft.com/office/drawing/2014/main" xmlns="" id="{44BB4903-CB3E-425C-9E8D-8AC8820396EB}"/>
              </a:ext>
            </a:extLst>
          </p:cNvPr>
          <p:cNvSpPr/>
          <p:nvPr/>
        </p:nvSpPr>
        <p:spPr>
          <a:xfrm>
            <a:off x="91706" y="1979383"/>
            <a:ext cx="6147792" cy="2000548"/>
          </a:xfrm>
          <a:prstGeom prst="rect">
            <a:avLst/>
          </a:prstGeom>
          <a:solidFill>
            <a:schemeClr val="accent6">
              <a:lumMod val="20000"/>
              <a:lumOff val="80000"/>
            </a:schemeClr>
          </a:solidFill>
          <a:ln>
            <a:solidFill>
              <a:schemeClr val="accent6">
                <a:lumMod val="75000"/>
              </a:schemeClr>
            </a:solidFill>
          </a:ln>
        </p:spPr>
        <p:txBody>
          <a:bodyPr wrap="square">
            <a:spAutoFit/>
          </a:bodyPr>
          <a:lstStyle/>
          <a:p>
            <a:pPr algn="ctr"/>
            <a:r>
              <a:rPr lang="en-GB" b="1" dirty="0">
                <a:solidFill>
                  <a:schemeClr val="accent6">
                    <a:lumMod val="75000"/>
                  </a:schemeClr>
                </a:solidFill>
              </a:rPr>
              <a:t>2</a:t>
            </a:r>
            <a:r>
              <a:rPr lang="en-GB" b="1" dirty="0"/>
              <a:t>NaOH(</a:t>
            </a:r>
            <a:r>
              <a:rPr lang="en-GB" b="1" dirty="0" err="1"/>
              <a:t>aq</a:t>
            </a:r>
            <a:r>
              <a:rPr lang="en-GB" b="1" dirty="0"/>
              <a:t>) + H</a:t>
            </a:r>
            <a:r>
              <a:rPr lang="en-GB" b="1" baseline="-25000" dirty="0"/>
              <a:t>2</a:t>
            </a:r>
            <a:r>
              <a:rPr lang="en-GB" b="1" dirty="0"/>
              <a:t>SO</a:t>
            </a:r>
            <a:r>
              <a:rPr lang="en-GB" b="1" baseline="-25000" dirty="0"/>
              <a:t>4</a:t>
            </a:r>
            <a:r>
              <a:rPr lang="en-GB" b="1" dirty="0"/>
              <a:t>(</a:t>
            </a:r>
            <a:r>
              <a:rPr lang="en-GB" b="1" dirty="0" err="1"/>
              <a:t>aq</a:t>
            </a:r>
            <a:r>
              <a:rPr lang="en-GB" b="1" dirty="0"/>
              <a:t>)→ Na</a:t>
            </a:r>
            <a:r>
              <a:rPr lang="en-GB" b="1" baseline="-25000" dirty="0"/>
              <a:t>2</a:t>
            </a:r>
            <a:r>
              <a:rPr lang="en-GB" b="1" dirty="0"/>
              <a:t>S0</a:t>
            </a:r>
            <a:r>
              <a:rPr lang="en-GB" b="1" baseline="-25000" dirty="0"/>
              <a:t>4</a:t>
            </a:r>
            <a:r>
              <a:rPr lang="en-GB" b="1" dirty="0"/>
              <a:t>(</a:t>
            </a:r>
            <a:r>
              <a:rPr lang="en-GB" b="1" dirty="0" err="1"/>
              <a:t>aq</a:t>
            </a:r>
            <a:r>
              <a:rPr lang="en-GB" b="1" dirty="0"/>
              <a:t>) + </a:t>
            </a:r>
            <a:r>
              <a:rPr lang="en-GB" b="1" dirty="0">
                <a:solidFill>
                  <a:schemeClr val="accent6">
                    <a:lumMod val="75000"/>
                  </a:schemeClr>
                </a:solidFill>
              </a:rPr>
              <a:t>2</a:t>
            </a:r>
            <a:r>
              <a:rPr lang="en-GB" b="1" dirty="0"/>
              <a:t>H</a:t>
            </a:r>
            <a:r>
              <a:rPr lang="en-GB" b="1" baseline="-25000" dirty="0"/>
              <a:t>2</a:t>
            </a:r>
            <a:r>
              <a:rPr lang="en-GB" b="1" dirty="0"/>
              <a:t>O(l)</a:t>
            </a:r>
            <a:endParaRPr lang="en-GB" dirty="0">
              <a:solidFill>
                <a:srgbClr val="333333"/>
              </a:solidFill>
            </a:endParaRPr>
          </a:p>
          <a:p>
            <a:pPr algn="ctr"/>
            <a:endParaRPr lang="en-GB" sz="800" dirty="0">
              <a:solidFill>
                <a:srgbClr val="333333"/>
              </a:solidFill>
            </a:endParaRPr>
          </a:p>
          <a:p>
            <a:pPr algn="ctr"/>
            <a:r>
              <a:rPr lang="en-GB" dirty="0">
                <a:solidFill>
                  <a:srgbClr val="333333"/>
                </a:solidFill>
              </a:rPr>
              <a:t>It takes 12.20cm</a:t>
            </a:r>
            <a:r>
              <a:rPr lang="en-GB" baseline="30000" dirty="0">
                <a:solidFill>
                  <a:srgbClr val="333333"/>
                </a:solidFill>
              </a:rPr>
              <a:t>3</a:t>
            </a:r>
            <a:r>
              <a:rPr lang="en-GB" dirty="0">
                <a:solidFill>
                  <a:srgbClr val="333333"/>
                </a:solidFill>
              </a:rPr>
              <a:t> of sulfuric acid to neutralise 24.00cm</a:t>
            </a:r>
            <a:r>
              <a:rPr lang="en-GB" baseline="30000" dirty="0">
                <a:solidFill>
                  <a:srgbClr val="333333"/>
                </a:solidFill>
              </a:rPr>
              <a:t>3 </a:t>
            </a:r>
            <a:r>
              <a:rPr lang="en-GB" dirty="0">
                <a:solidFill>
                  <a:srgbClr val="333333"/>
                </a:solidFill>
              </a:rPr>
              <a:t>of sodium hydroxide solution, which has a concentration of 0.50mol/dm</a:t>
            </a:r>
            <a:r>
              <a:rPr lang="en-GB" baseline="30000" dirty="0">
                <a:solidFill>
                  <a:srgbClr val="333333"/>
                </a:solidFill>
              </a:rPr>
              <a:t>3</a:t>
            </a:r>
            <a:r>
              <a:rPr lang="en-GB" dirty="0">
                <a:solidFill>
                  <a:srgbClr val="333333"/>
                </a:solidFill>
              </a:rPr>
              <a:t>.</a:t>
            </a:r>
          </a:p>
          <a:p>
            <a:pPr algn="ctr"/>
            <a:endParaRPr lang="en-GB" sz="800" dirty="0">
              <a:solidFill>
                <a:srgbClr val="333333"/>
              </a:solidFill>
            </a:endParaRPr>
          </a:p>
          <a:p>
            <a:pPr algn="ctr"/>
            <a:r>
              <a:rPr lang="en-GB" i="1" dirty="0">
                <a:solidFill>
                  <a:srgbClr val="333333"/>
                </a:solidFill>
              </a:rPr>
              <a:t>Calculate the concentration of the sulfuric acid in g/dm</a:t>
            </a:r>
            <a:r>
              <a:rPr lang="en-GB" i="1" baseline="30000" dirty="0">
                <a:solidFill>
                  <a:srgbClr val="333333"/>
                </a:solidFill>
              </a:rPr>
              <a:t>3</a:t>
            </a:r>
            <a:endParaRPr lang="en-GB" i="1" dirty="0">
              <a:solidFill>
                <a:srgbClr val="333333"/>
              </a:solidFill>
            </a:endParaRPr>
          </a:p>
          <a:p>
            <a:pPr algn="ctr"/>
            <a:r>
              <a:rPr lang="en-GB" b="1" dirty="0">
                <a:solidFill>
                  <a:schemeClr val="accent6">
                    <a:lumMod val="75000"/>
                  </a:schemeClr>
                </a:solidFill>
              </a:rPr>
              <a:t>0.5 </a:t>
            </a:r>
            <a:r>
              <a:rPr lang="en-GB" b="1" dirty="0" err="1">
                <a:solidFill>
                  <a:schemeClr val="accent6">
                    <a:lumMod val="75000"/>
                  </a:schemeClr>
                </a:solidFill>
              </a:rPr>
              <a:t>mol</a:t>
            </a:r>
            <a:r>
              <a:rPr lang="en-GB" b="1" dirty="0">
                <a:solidFill>
                  <a:schemeClr val="accent6">
                    <a:lumMod val="75000"/>
                  </a:schemeClr>
                </a:solidFill>
              </a:rPr>
              <a:t>/dm</a:t>
            </a:r>
            <a:r>
              <a:rPr lang="en-GB" baseline="30000" dirty="0">
                <a:solidFill>
                  <a:schemeClr val="accent6">
                    <a:lumMod val="75000"/>
                  </a:schemeClr>
                </a:solidFill>
              </a:rPr>
              <a:t>3</a:t>
            </a:r>
            <a:r>
              <a:rPr lang="en-GB" b="1" dirty="0">
                <a:solidFill>
                  <a:schemeClr val="accent6">
                    <a:lumMod val="75000"/>
                  </a:schemeClr>
                </a:solidFill>
              </a:rPr>
              <a:t> x (24/1000) dm</a:t>
            </a:r>
            <a:r>
              <a:rPr lang="en-GB" baseline="30000" dirty="0">
                <a:solidFill>
                  <a:schemeClr val="accent6">
                    <a:lumMod val="75000"/>
                  </a:schemeClr>
                </a:solidFill>
              </a:rPr>
              <a:t>3</a:t>
            </a:r>
            <a:r>
              <a:rPr lang="en-GB" b="1" dirty="0">
                <a:solidFill>
                  <a:schemeClr val="accent6">
                    <a:lumMod val="75000"/>
                  </a:schemeClr>
                </a:solidFill>
              </a:rPr>
              <a:t> = 0.012 </a:t>
            </a:r>
            <a:r>
              <a:rPr lang="en-GB" b="1" dirty="0" err="1">
                <a:solidFill>
                  <a:schemeClr val="accent6">
                    <a:lumMod val="75000"/>
                  </a:schemeClr>
                </a:solidFill>
              </a:rPr>
              <a:t>mol</a:t>
            </a:r>
            <a:r>
              <a:rPr lang="en-GB" b="1" dirty="0">
                <a:solidFill>
                  <a:schemeClr val="accent6">
                    <a:lumMod val="75000"/>
                  </a:schemeClr>
                </a:solidFill>
              </a:rPr>
              <a:t> of </a:t>
            </a:r>
            <a:r>
              <a:rPr lang="en-GB" b="1" dirty="0" err="1">
                <a:solidFill>
                  <a:schemeClr val="accent6">
                    <a:lumMod val="75000"/>
                  </a:schemeClr>
                </a:solidFill>
              </a:rPr>
              <a:t>NaOH</a:t>
            </a:r>
            <a:endParaRPr lang="en-GB" b="1" dirty="0">
              <a:solidFill>
                <a:schemeClr val="accent6">
                  <a:lumMod val="75000"/>
                </a:schemeClr>
              </a:solidFill>
            </a:endParaRPr>
          </a:p>
        </p:txBody>
      </p:sp>
      <p:sp>
        <p:nvSpPr>
          <p:cNvPr id="6" name="TextBox 5">
            <a:extLst>
              <a:ext uri="{FF2B5EF4-FFF2-40B4-BE49-F238E27FC236}">
                <a16:creationId xmlns:a16="http://schemas.microsoft.com/office/drawing/2014/main" xmlns="" id="{551F2B27-7247-4B00-8A85-64D74916B329}"/>
              </a:ext>
            </a:extLst>
          </p:cNvPr>
          <p:cNvSpPr txBox="1"/>
          <p:nvPr/>
        </p:nvSpPr>
        <p:spPr>
          <a:xfrm>
            <a:off x="91706" y="1702013"/>
            <a:ext cx="1039708" cy="369332"/>
          </a:xfrm>
          <a:prstGeom prst="rect">
            <a:avLst/>
          </a:prstGeom>
          <a:noFill/>
        </p:spPr>
        <p:txBody>
          <a:bodyPr wrap="none" rtlCol="0">
            <a:spAutoFit/>
          </a:bodyPr>
          <a:lstStyle/>
          <a:p>
            <a:r>
              <a:rPr lang="en-GB" dirty="0"/>
              <a:t>Example:</a:t>
            </a:r>
          </a:p>
        </p:txBody>
      </p:sp>
      <p:sp>
        <p:nvSpPr>
          <p:cNvPr id="10" name="TextBox 9">
            <a:extLst>
              <a:ext uri="{FF2B5EF4-FFF2-40B4-BE49-F238E27FC236}">
                <a16:creationId xmlns:a16="http://schemas.microsoft.com/office/drawing/2014/main" xmlns="" id="{A2CD2D53-E950-45C6-9E7A-E150B8622C35}"/>
              </a:ext>
            </a:extLst>
          </p:cNvPr>
          <p:cNvSpPr txBox="1"/>
          <p:nvPr/>
        </p:nvSpPr>
        <p:spPr>
          <a:xfrm>
            <a:off x="91706" y="3941489"/>
            <a:ext cx="8960588" cy="2492990"/>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dirty="0"/>
              <a:t>The equation shows that 2 </a:t>
            </a:r>
            <a:r>
              <a:rPr lang="en-GB" dirty="0" err="1"/>
              <a:t>mol</a:t>
            </a:r>
            <a:r>
              <a:rPr lang="en-GB" dirty="0"/>
              <a:t> of </a:t>
            </a:r>
            <a:r>
              <a:rPr lang="en-GB" dirty="0" err="1"/>
              <a:t>NaOH</a:t>
            </a:r>
            <a:r>
              <a:rPr lang="en-GB" dirty="0"/>
              <a:t> reacts with 1 </a:t>
            </a:r>
            <a:r>
              <a:rPr lang="en-GB" dirty="0" err="1"/>
              <a:t>mol</a:t>
            </a:r>
            <a:r>
              <a:rPr lang="en-GB" dirty="0"/>
              <a:t> of H</a:t>
            </a:r>
            <a:r>
              <a:rPr lang="en-GB" baseline="-25000" dirty="0"/>
              <a:t>2</a:t>
            </a:r>
            <a:r>
              <a:rPr lang="en-GB" dirty="0"/>
              <a:t>SO</a:t>
            </a:r>
            <a:r>
              <a:rPr lang="en-GB" baseline="-25000" dirty="0"/>
              <a:t>4</a:t>
            </a:r>
            <a:r>
              <a:rPr lang="en-GB" dirty="0"/>
              <a:t>, so the number of moles in 12.20cm</a:t>
            </a:r>
            <a:r>
              <a:rPr lang="en-GB" baseline="30000" dirty="0"/>
              <a:t>3</a:t>
            </a:r>
            <a:r>
              <a:rPr lang="en-GB" dirty="0"/>
              <a:t> of sulfuric acid  is </a:t>
            </a:r>
            <a:r>
              <a:rPr lang="en-GB" b="1" dirty="0">
                <a:solidFill>
                  <a:schemeClr val="accent6">
                    <a:lumMod val="75000"/>
                  </a:schemeClr>
                </a:solidFill>
              </a:rPr>
              <a:t>(0.012/2) = 0.006 </a:t>
            </a:r>
            <a:r>
              <a:rPr lang="en-GB" b="1" dirty="0" err="1">
                <a:solidFill>
                  <a:schemeClr val="accent6">
                    <a:lumMod val="75000"/>
                  </a:schemeClr>
                </a:solidFill>
              </a:rPr>
              <a:t>mol</a:t>
            </a:r>
            <a:r>
              <a:rPr lang="en-GB" b="1" dirty="0">
                <a:solidFill>
                  <a:schemeClr val="accent6">
                    <a:lumMod val="75000"/>
                  </a:schemeClr>
                </a:solidFill>
              </a:rPr>
              <a:t> of sulfuric acid</a:t>
            </a:r>
          </a:p>
          <a:p>
            <a:pPr algn="ctr"/>
            <a:endParaRPr lang="en-GB" b="1" dirty="0">
              <a:solidFill>
                <a:schemeClr val="accent6">
                  <a:lumMod val="75000"/>
                </a:schemeClr>
              </a:solidFill>
            </a:endParaRPr>
          </a:p>
          <a:p>
            <a:pPr algn="ctr"/>
            <a:r>
              <a:rPr lang="en-GB" i="1" dirty="0"/>
              <a:t>Calculate the concentration of sulfuric acid in </a:t>
            </a:r>
            <a:r>
              <a:rPr lang="en-GB" i="1" dirty="0" err="1"/>
              <a:t>mol</a:t>
            </a:r>
            <a:r>
              <a:rPr lang="en-GB" i="1" dirty="0"/>
              <a:t>/ dm</a:t>
            </a:r>
            <a:r>
              <a:rPr lang="en-GB" i="1" baseline="30000" dirty="0"/>
              <a:t>3</a:t>
            </a:r>
            <a:endParaRPr lang="en-GB" i="1" dirty="0"/>
          </a:p>
          <a:p>
            <a:pPr algn="ctr"/>
            <a:r>
              <a:rPr lang="en-GB" b="1" dirty="0">
                <a:solidFill>
                  <a:schemeClr val="accent6">
                    <a:lumMod val="75000"/>
                  </a:schemeClr>
                </a:solidFill>
              </a:rPr>
              <a:t>0.006 </a:t>
            </a:r>
            <a:r>
              <a:rPr lang="en-GB" b="1" dirty="0" err="1">
                <a:solidFill>
                  <a:schemeClr val="accent6">
                    <a:lumMod val="75000"/>
                  </a:schemeClr>
                </a:solidFill>
              </a:rPr>
              <a:t>mol</a:t>
            </a:r>
            <a:r>
              <a:rPr lang="en-GB" b="1" dirty="0">
                <a:solidFill>
                  <a:schemeClr val="accent6">
                    <a:lumMod val="75000"/>
                  </a:schemeClr>
                </a:solidFill>
              </a:rPr>
              <a:t> x (1000/12.2) dm</a:t>
            </a:r>
            <a:r>
              <a:rPr lang="en-GB" baseline="30000" dirty="0">
                <a:solidFill>
                  <a:schemeClr val="accent6">
                    <a:lumMod val="75000"/>
                  </a:schemeClr>
                </a:solidFill>
              </a:rPr>
              <a:t>3 </a:t>
            </a:r>
            <a:r>
              <a:rPr lang="en-GB" b="1" dirty="0">
                <a:solidFill>
                  <a:schemeClr val="accent6">
                    <a:lumMod val="75000"/>
                  </a:schemeClr>
                </a:solidFill>
              </a:rPr>
              <a:t>=0.49mol/dm</a:t>
            </a:r>
            <a:r>
              <a:rPr lang="en-GB" baseline="30000" dirty="0">
                <a:solidFill>
                  <a:schemeClr val="accent6">
                    <a:lumMod val="75000"/>
                  </a:schemeClr>
                </a:solidFill>
              </a:rPr>
              <a:t>3</a:t>
            </a:r>
          </a:p>
          <a:p>
            <a:pPr algn="ctr"/>
            <a:endParaRPr lang="en-GB" b="1" baseline="30000" dirty="0">
              <a:solidFill>
                <a:schemeClr val="accent6">
                  <a:lumMod val="75000"/>
                </a:schemeClr>
              </a:solidFill>
            </a:endParaRPr>
          </a:p>
          <a:p>
            <a:pPr algn="ctr"/>
            <a:r>
              <a:rPr lang="en-GB" i="1" dirty="0"/>
              <a:t>Calculate the concentration of sulfuric acid in g/ dm</a:t>
            </a:r>
            <a:r>
              <a:rPr lang="en-GB" i="1" baseline="30000" dirty="0"/>
              <a:t>3</a:t>
            </a:r>
            <a:endParaRPr lang="en-GB" i="1" dirty="0"/>
          </a:p>
          <a:p>
            <a:pPr algn="ctr"/>
            <a:r>
              <a:rPr lang="en-GB" b="1" dirty="0">
                <a:solidFill>
                  <a:schemeClr val="accent6">
                    <a:lumMod val="75000"/>
                  </a:schemeClr>
                </a:solidFill>
              </a:rPr>
              <a:t>H</a:t>
            </a:r>
            <a:r>
              <a:rPr lang="en-GB" b="1" baseline="-25000" dirty="0">
                <a:solidFill>
                  <a:schemeClr val="accent6">
                    <a:lumMod val="75000"/>
                  </a:schemeClr>
                </a:solidFill>
              </a:rPr>
              <a:t>2</a:t>
            </a:r>
            <a:r>
              <a:rPr lang="en-GB" b="1" dirty="0">
                <a:solidFill>
                  <a:schemeClr val="accent6">
                    <a:lumMod val="75000"/>
                  </a:schemeClr>
                </a:solidFill>
              </a:rPr>
              <a:t>SO</a:t>
            </a:r>
            <a:r>
              <a:rPr lang="en-GB" b="1" baseline="-25000" dirty="0">
                <a:solidFill>
                  <a:schemeClr val="accent6">
                    <a:lumMod val="75000"/>
                  </a:schemeClr>
                </a:solidFill>
              </a:rPr>
              <a:t>4 </a:t>
            </a:r>
            <a:r>
              <a:rPr lang="en-GB" b="1" dirty="0">
                <a:solidFill>
                  <a:schemeClr val="accent6">
                    <a:lumMod val="75000"/>
                  </a:schemeClr>
                </a:solidFill>
              </a:rPr>
              <a:t>= (2x1) + 32 + (4x16) = 98g</a:t>
            </a:r>
          </a:p>
          <a:p>
            <a:pPr algn="ctr"/>
            <a:r>
              <a:rPr lang="en-GB" b="1" dirty="0">
                <a:solidFill>
                  <a:schemeClr val="accent6">
                    <a:lumMod val="75000"/>
                  </a:schemeClr>
                </a:solidFill>
              </a:rPr>
              <a:t>0.49 x 98g = 48.2g/dm</a:t>
            </a:r>
            <a:r>
              <a:rPr lang="en-GB" baseline="30000" dirty="0">
                <a:solidFill>
                  <a:schemeClr val="accent6">
                    <a:lumMod val="75000"/>
                  </a:schemeClr>
                </a:solidFill>
              </a:rPr>
              <a:t>3</a:t>
            </a:r>
          </a:p>
        </p:txBody>
      </p:sp>
    </p:spTree>
    <p:extLst>
      <p:ext uri="{BB962C8B-B14F-4D97-AF65-F5344CB8AC3E}">
        <p14:creationId xmlns:p14="http://schemas.microsoft.com/office/powerpoint/2010/main" val="38279750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 result for strong and weak acids">
            <a:extLst>
              <a:ext uri="{FF2B5EF4-FFF2-40B4-BE49-F238E27FC236}">
                <a16:creationId xmlns:a16="http://schemas.microsoft.com/office/drawing/2014/main" xmlns="" id="{CA0E42F8-092E-4B32-9016-6D02BF0F16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8694" y="1942448"/>
            <a:ext cx="3542617" cy="224018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11560" y="28256"/>
            <a:ext cx="8532440" cy="583403"/>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Reactions of acids - PART 2</a:t>
            </a:r>
            <a:r>
              <a:rPr lang="en-US" sz="2400" b="1" dirty="0" smtClean="0">
                <a:solidFill>
                  <a:schemeClr val="accent6"/>
                </a:solidFill>
              </a:rPr>
              <a:t> - HIGHER</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114351" y="1622520"/>
            <a:ext cx="5454352" cy="538609"/>
          </a:xfrm>
          <a:prstGeom prst="rect">
            <a:avLst/>
          </a:prstGeom>
          <a:noFill/>
        </p:spPr>
        <p:txBody>
          <a:bodyPr wrap="square" rtlCol="0" anchor="t">
            <a:spAutoFit/>
          </a:bodyPr>
          <a:lstStyle/>
          <a:p>
            <a:endParaRPr lang="en-GB" sz="900" b="1" dirty="0"/>
          </a:p>
          <a:p>
            <a:pPr algn="ctr"/>
            <a:r>
              <a:rPr lang="en-GB" sz="2000" dirty="0" smtClean="0"/>
              <a:t>The </a:t>
            </a:r>
            <a:r>
              <a:rPr lang="en-GB" sz="2000" dirty="0"/>
              <a:t>molecules split up to form </a:t>
            </a:r>
            <a:r>
              <a:rPr lang="en-GB" sz="2000" b="1" dirty="0"/>
              <a:t>hydrogen</a:t>
            </a:r>
            <a:r>
              <a:rPr lang="en-GB" sz="2000" dirty="0"/>
              <a:t> ions</a:t>
            </a:r>
            <a:r>
              <a:rPr lang="en-GB" sz="2000" dirty="0" smtClean="0"/>
              <a:t>.</a:t>
            </a:r>
            <a:endParaRPr lang="en-GB" sz="2000" dirty="0"/>
          </a:p>
        </p:txBody>
      </p:sp>
      <p:sp>
        <p:nvSpPr>
          <p:cNvPr id="5" name="TextBox 4">
            <a:extLst>
              <a:ext uri="{FF2B5EF4-FFF2-40B4-BE49-F238E27FC236}">
                <a16:creationId xmlns:a16="http://schemas.microsoft.com/office/drawing/2014/main" xmlns="" id="{374B42C6-BA4E-4A75-9399-79987EA4B501}"/>
              </a:ext>
            </a:extLst>
          </p:cNvPr>
          <p:cNvSpPr txBox="1"/>
          <p:nvPr/>
        </p:nvSpPr>
        <p:spPr>
          <a:xfrm>
            <a:off x="221399" y="4027072"/>
            <a:ext cx="4782853" cy="2800767"/>
          </a:xfrm>
          <a:prstGeom prst="rect">
            <a:avLst/>
          </a:prstGeom>
          <a:noFill/>
        </p:spPr>
        <p:txBody>
          <a:bodyPr wrap="square" rtlCol="0">
            <a:spAutoFit/>
          </a:bodyPr>
          <a:lstStyle/>
          <a:p>
            <a:pPr algn="ctr"/>
            <a:r>
              <a:rPr lang="en-GB" sz="2000" dirty="0" smtClean="0"/>
              <a:t>A </a:t>
            </a:r>
            <a:r>
              <a:rPr lang="en-GB" sz="2000" b="1" dirty="0" smtClean="0">
                <a:solidFill>
                  <a:schemeClr val="accent6">
                    <a:lumMod val="75000"/>
                  </a:schemeClr>
                </a:solidFill>
              </a:rPr>
              <a:t>weak acid </a:t>
            </a:r>
            <a:r>
              <a:rPr lang="en-GB" sz="2000" dirty="0" smtClean="0"/>
              <a:t>(</a:t>
            </a:r>
            <a:r>
              <a:rPr lang="en-GB" sz="2000" dirty="0" err="1" smtClean="0"/>
              <a:t>aq</a:t>
            </a:r>
            <a:r>
              <a:rPr lang="en-GB" sz="2000" dirty="0" smtClean="0"/>
              <a:t>) has a </a:t>
            </a:r>
            <a:r>
              <a:rPr lang="en-GB" sz="2000" b="1" dirty="0" smtClean="0">
                <a:solidFill>
                  <a:schemeClr val="accent6">
                    <a:lumMod val="75000"/>
                  </a:schemeClr>
                </a:solidFill>
              </a:rPr>
              <a:t>lower pH </a:t>
            </a:r>
            <a:r>
              <a:rPr lang="en-GB" sz="2000" dirty="0" smtClean="0"/>
              <a:t>than a </a:t>
            </a:r>
            <a:r>
              <a:rPr lang="en-GB" sz="2000" b="1" dirty="0" smtClean="0">
                <a:solidFill>
                  <a:schemeClr val="accent6">
                    <a:lumMod val="75000"/>
                  </a:schemeClr>
                </a:solidFill>
              </a:rPr>
              <a:t>strong acid </a:t>
            </a:r>
            <a:r>
              <a:rPr lang="en-GB" sz="2000" dirty="0" smtClean="0"/>
              <a:t>(</a:t>
            </a:r>
            <a:r>
              <a:rPr lang="en-GB" sz="2000" dirty="0" err="1" smtClean="0"/>
              <a:t>aq</a:t>
            </a:r>
            <a:r>
              <a:rPr lang="en-GB" sz="2000" dirty="0" smtClean="0"/>
              <a:t>) of the </a:t>
            </a:r>
            <a:r>
              <a:rPr lang="en-GB" sz="2000" b="1" u="sng" dirty="0" smtClean="0">
                <a:solidFill>
                  <a:schemeClr val="accent6">
                    <a:lumMod val="75000"/>
                  </a:schemeClr>
                </a:solidFill>
              </a:rPr>
              <a:t>same concentration</a:t>
            </a:r>
            <a:r>
              <a:rPr lang="en-GB" sz="2000" dirty="0" smtClean="0"/>
              <a:t>.</a:t>
            </a:r>
          </a:p>
          <a:p>
            <a:pPr algn="ctr"/>
            <a:endParaRPr lang="en-GB" sz="900" dirty="0"/>
          </a:p>
          <a:p>
            <a:pPr algn="ctr"/>
            <a:r>
              <a:rPr lang="en-GB" sz="2000" dirty="0" smtClean="0"/>
              <a:t>This is because a </a:t>
            </a:r>
            <a:r>
              <a:rPr lang="en-GB" sz="2000" b="1" dirty="0" smtClean="0">
                <a:solidFill>
                  <a:schemeClr val="accent6">
                    <a:lumMod val="75000"/>
                  </a:schemeClr>
                </a:solidFill>
              </a:rPr>
              <a:t>weak acid </a:t>
            </a:r>
            <a:r>
              <a:rPr lang="en-GB" sz="2000" dirty="0" smtClean="0"/>
              <a:t>has a </a:t>
            </a:r>
            <a:r>
              <a:rPr lang="en-GB" sz="2000" b="1" dirty="0" smtClean="0">
                <a:solidFill>
                  <a:schemeClr val="accent6">
                    <a:lumMod val="75000"/>
                  </a:schemeClr>
                </a:solidFill>
              </a:rPr>
              <a:t>lower concentration of hydrogen ions.</a:t>
            </a:r>
          </a:p>
          <a:p>
            <a:pPr algn="ctr"/>
            <a:endParaRPr lang="en-GB" sz="900" b="1" dirty="0" smtClean="0">
              <a:solidFill>
                <a:schemeClr val="accent6">
                  <a:lumMod val="75000"/>
                </a:schemeClr>
              </a:solidFill>
            </a:endParaRPr>
          </a:p>
          <a:p>
            <a:pPr algn="ctr"/>
            <a:r>
              <a:rPr lang="en-GB" sz="2000" b="1" dirty="0"/>
              <a:t>As the pH decrease by one unit, the hydrogen ion concentration of the solution increase by a factor of 10</a:t>
            </a:r>
            <a:r>
              <a:rPr lang="en-GB" sz="2000" dirty="0"/>
              <a:t>.</a:t>
            </a:r>
          </a:p>
          <a:p>
            <a:pPr algn="ctr"/>
            <a:endParaRPr lang="en-GB" b="1" dirty="0">
              <a:solidFill>
                <a:schemeClr val="accent6">
                  <a:lumMod val="75000"/>
                </a:schemeClr>
              </a:solidFill>
            </a:endParaRPr>
          </a:p>
        </p:txBody>
      </p:sp>
      <p:sp>
        <p:nvSpPr>
          <p:cNvPr id="6" name="TextBox 5">
            <a:extLst>
              <a:ext uri="{FF2B5EF4-FFF2-40B4-BE49-F238E27FC236}">
                <a16:creationId xmlns:a16="http://schemas.microsoft.com/office/drawing/2014/main" xmlns="" id="{684C9B80-C541-482D-8134-6DFC0E884281}"/>
              </a:ext>
            </a:extLst>
          </p:cNvPr>
          <p:cNvSpPr txBox="1"/>
          <p:nvPr/>
        </p:nvSpPr>
        <p:spPr>
          <a:xfrm>
            <a:off x="79576" y="725185"/>
            <a:ext cx="8984847" cy="101566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000" dirty="0"/>
              <a:t>Acids must </a:t>
            </a:r>
            <a:r>
              <a:rPr lang="en-GB" sz="2000" b="1" dirty="0"/>
              <a:t>dissolve</a:t>
            </a:r>
            <a:r>
              <a:rPr lang="en-GB" sz="2000" dirty="0"/>
              <a:t> in water to show their acidic properties. </a:t>
            </a:r>
            <a:endParaRPr lang="en-GB" sz="2000" dirty="0" smtClean="0"/>
          </a:p>
          <a:p>
            <a:pPr algn="ctr"/>
            <a:r>
              <a:rPr lang="en-GB" sz="2000" dirty="0" smtClean="0"/>
              <a:t>A</a:t>
            </a:r>
            <a:r>
              <a:rPr lang="en-GB" sz="2000" dirty="0"/>
              <a:t> </a:t>
            </a:r>
            <a:r>
              <a:rPr lang="en-GB" sz="2000" b="1" dirty="0"/>
              <a:t>concentrated acid</a:t>
            </a:r>
            <a:r>
              <a:rPr lang="en-GB" sz="2000" dirty="0"/>
              <a:t> has a relatively </a:t>
            </a:r>
            <a:r>
              <a:rPr lang="en-GB" sz="2000" b="1" dirty="0"/>
              <a:t>large amount of solute </a:t>
            </a:r>
            <a:r>
              <a:rPr lang="en-GB" sz="2000" dirty="0"/>
              <a:t>dissolved in the solvent. A </a:t>
            </a:r>
            <a:r>
              <a:rPr lang="en-GB" sz="2000" b="1" dirty="0"/>
              <a:t>dilute acid</a:t>
            </a:r>
            <a:r>
              <a:rPr lang="en-GB" sz="2000" dirty="0"/>
              <a:t> has a relatively </a:t>
            </a:r>
            <a:r>
              <a:rPr lang="en-GB" sz="2000" b="1" dirty="0"/>
              <a:t>smaller amount of solute </a:t>
            </a:r>
            <a:r>
              <a:rPr lang="en-GB" sz="2000" dirty="0"/>
              <a:t>dissolved in the solvent </a:t>
            </a:r>
          </a:p>
        </p:txBody>
      </p:sp>
      <p:graphicFrame>
        <p:nvGraphicFramePr>
          <p:cNvPr id="7" name="Table 6">
            <a:extLst>
              <a:ext uri="{FF2B5EF4-FFF2-40B4-BE49-F238E27FC236}">
                <a16:creationId xmlns:a16="http://schemas.microsoft.com/office/drawing/2014/main" xmlns="" id="{E9D936F9-63C3-460F-A90A-A9CF6F7DB0CA}"/>
              </a:ext>
            </a:extLst>
          </p:cNvPr>
          <p:cNvGraphicFramePr>
            <a:graphicFrameLocks noGrp="1"/>
          </p:cNvGraphicFramePr>
          <p:nvPr>
            <p:extLst>
              <p:ext uri="{D42A27DB-BD31-4B8C-83A1-F6EECF244321}">
                <p14:modId xmlns:p14="http://schemas.microsoft.com/office/powerpoint/2010/main" val="1419109243"/>
              </p:ext>
            </p:extLst>
          </p:nvPr>
        </p:nvGraphicFramePr>
        <p:xfrm>
          <a:off x="5091361" y="4384232"/>
          <a:ext cx="3875076" cy="2103120"/>
        </p:xfrm>
        <a:graphic>
          <a:graphicData uri="http://schemas.openxmlformats.org/drawingml/2006/table">
            <a:tbl>
              <a:tblPr firstRow="1" bandRow="1">
                <a:tableStyleId>{93296810-A885-4BE3-A3E7-6D5BEEA58F35}</a:tableStyleId>
              </a:tblPr>
              <a:tblGrid>
                <a:gridCol w="2707811">
                  <a:extLst>
                    <a:ext uri="{9D8B030D-6E8A-4147-A177-3AD203B41FA5}">
                      <a16:colId xmlns:a16="http://schemas.microsoft.com/office/drawing/2014/main" xmlns="" val="3203253952"/>
                    </a:ext>
                  </a:extLst>
                </a:gridCol>
                <a:gridCol w="1167265">
                  <a:extLst>
                    <a:ext uri="{9D8B030D-6E8A-4147-A177-3AD203B41FA5}">
                      <a16:colId xmlns:a16="http://schemas.microsoft.com/office/drawing/2014/main" xmlns="" val="3813575933"/>
                    </a:ext>
                  </a:extLst>
                </a:gridCol>
              </a:tblGrid>
              <a:tr h="526218">
                <a:tc>
                  <a:txBody>
                    <a:bodyPr/>
                    <a:lstStyle/>
                    <a:p>
                      <a:pPr algn="ctr"/>
                      <a:r>
                        <a:rPr lang="en-GB" sz="1800" dirty="0"/>
                        <a:t>Concentration of hydrogen ions in </a:t>
                      </a:r>
                      <a:r>
                        <a:rPr lang="en-GB" sz="1800" dirty="0" err="1"/>
                        <a:t>mol</a:t>
                      </a:r>
                      <a:r>
                        <a:rPr lang="en-GB" sz="1800" dirty="0"/>
                        <a:t>/dm</a:t>
                      </a:r>
                      <a:r>
                        <a:rPr lang="en-GB" sz="1800" baseline="30000" dirty="0"/>
                        <a:t>3</a:t>
                      </a:r>
                      <a:endParaRPr lang="en-GB" sz="1800" dirty="0"/>
                    </a:p>
                  </a:txBody>
                  <a:tcPr>
                    <a:lnB w="12700" cap="flat" cmpd="sng" algn="ctr">
                      <a:solidFill>
                        <a:schemeClr val="tx1"/>
                      </a:solidFill>
                      <a:prstDash val="solid"/>
                      <a:round/>
                      <a:headEnd type="none" w="med" len="med"/>
                      <a:tailEnd type="none" w="med" len="med"/>
                    </a:lnB>
                  </a:tcPr>
                </a:tc>
                <a:tc>
                  <a:txBody>
                    <a:bodyPr/>
                    <a:lstStyle/>
                    <a:p>
                      <a:pPr algn="ctr"/>
                      <a:r>
                        <a:rPr lang="en-GB" sz="1800" dirty="0"/>
                        <a:t>pH</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74940985"/>
                  </a:ext>
                </a:extLst>
              </a:tr>
              <a:tr h="350923">
                <a:tc>
                  <a:txBody>
                    <a:bodyPr/>
                    <a:lstStyle/>
                    <a:p>
                      <a:pPr algn="ctr"/>
                      <a:r>
                        <a:rPr lang="en-GB" sz="1800" dirty="0"/>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800"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474563933"/>
                  </a:ext>
                </a:extLst>
              </a:tr>
              <a:tr h="350923">
                <a:tc>
                  <a:txBody>
                    <a:bodyPr/>
                    <a:lstStyle/>
                    <a:p>
                      <a:pPr algn="ctr"/>
                      <a:r>
                        <a:rPr lang="en-GB" sz="1800" dirty="0"/>
                        <a:t>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800" dirty="0"/>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731584424"/>
                  </a:ext>
                </a:extLst>
              </a:tr>
              <a:tr h="350923">
                <a:tc>
                  <a:txBody>
                    <a:bodyPr/>
                    <a:lstStyle/>
                    <a:p>
                      <a:pPr algn="ctr"/>
                      <a:r>
                        <a:rPr lang="en-GB" sz="1800" dirty="0"/>
                        <a:t>0.0010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800" dirty="0"/>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747859416"/>
                  </a:ext>
                </a:extLst>
              </a:tr>
              <a:tr h="350923">
                <a:tc>
                  <a:txBody>
                    <a:bodyPr/>
                    <a:lstStyle/>
                    <a:p>
                      <a:pPr algn="ctr"/>
                      <a:r>
                        <a:rPr lang="en-GB" sz="1800" dirty="0"/>
                        <a:t>0.00010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800" dirty="0"/>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2259804662"/>
                  </a:ext>
                </a:extLst>
              </a:tr>
            </a:tbl>
          </a:graphicData>
        </a:graphic>
      </p:graphicFrame>
      <p:sp>
        <p:nvSpPr>
          <p:cNvPr id="8" name="Rectangle 7"/>
          <p:cNvSpPr/>
          <p:nvPr/>
        </p:nvSpPr>
        <p:spPr>
          <a:xfrm>
            <a:off x="79576" y="2273728"/>
            <a:ext cx="5469118" cy="171139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sz="2000" dirty="0"/>
              <a:t>A </a:t>
            </a:r>
            <a:r>
              <a:rPr lang="en-GB" sz="2000" b="1" dirty="0"/>
              <a:t>strong</a:t>
            </a:r>
            <a:r>
              <a:rPr lang="en-GB" sz="2000" dirty="0"/>
              <a:t> acid is </a:t>
            </a:r>
            <a:r>
              <a:rPr lang="en-GB" sz="2000" b="1" dirty="0"/>
              <a:t>completely ionised </a:t>
            </a:r>
            <a:r>
              <a:rPr lang="en-GB" sz="2000" dirty="0"/>
              <a:t>in aqueous </a:t>
            </a:r>
            <a:r>
              <a:rPr lang="en-GB" sz="2000" dirty="0" smtClean="0"/>
              <a:t>solution. E.g. Hydrochloric</a:t>
            </a:r>
            <a:r>
              <a:rPr lang="en-GB" sz="2000" dirty="0"/>
              <a:t>, nitric and sulfuric acid.</a:t>
            </a:r>
          </a:p>
          <a:p>
            <a:pPr algn="ctr"/>
            <a:endParaRPr lang="en-GB" sz="2000" dirty="0"/>
          </a:p>
          <a:p>
            <a:pPr algn="ctr"/>
            <a:r>
              <a:rPr lang="en-GB" sz="2000" dirty="0"/>
              <a:t>A </a:t>
            </a:r>
            <a:r>
              <a:rPr lang="en-GB" sz="2000" b="1" dirty="0"/>
              <a:t>weak</a:t>
            </a:r>
            <a:r>
              <a:rPr lang="en-GB" sz="2000" dirty="0"/>
              <a:t> acid is only </a:t>
            </a:r>
            <a:r>
              <a:rPr lang="en-GB" sz="2000" b="1" dirty="0"/>
              <a:t>partially ionised </a:t>
            </a:r>
            <a:r>
              <a:rPr lang="en-GB" sz="2000" dirty="0"/>
              <a:t>in aqueous </a:t>
            </a:r>
            <a:r>
              <a:rPr lang="en-GB" sz="2000" dirty="0" smtClean="0"/>
              <a:t>solution. E.g. Ethanoic</a:t>
            </a:r>
            <a:r>
              <a:rPr lang="en-GB" sz="2000" dirty="0"/>
              <a:t>, citric and carbonic.</a:t>
            </a:r>
          </a:p>
        </p:txBody>
      </p:sp>
    </p:spTree>
    <p:extLst>
      <p:ext uri="{BB962C8B-B14F-4D97-AF65-F5344CB8AC3E}">
        <p14:creationId xmlns:p14="http://schemas.microsoft.com/office/powerpoint/2010/main" val="34059741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955203"/>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Reactions of acids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pH and </a:t>
            </a:r>
            <a:r>
              <a:rPr lang="en-US" sz="2400" b="1" dirty="0" err="1">
                <a:solidFill>
                  <a:schemeClr val="bg1">
                    <a:lumMod val="50000"/>
                  </a:schemeClr>
                </a:solidFill>
              </a:rPr>
              <a:t>neutralisation</a:t>
            </a:r>
            <a:endParaRPr lang="en-US" sz="2400" b="1" dirty="0">
              <a:solidFill>
                <a:schemeClr val="bg1">
                  <a:lumMod val="50000"/>
                </a:schemeClr>
              </a:solidFill>
            </a:endParaRPr>
          </a:p>
          <a:p>
            <a:pPr marL="685800" lvl="1" indent="-342900">
              <a:buFont typeface="Arial" charset="0"/>
              <a:buChar char="•"/>
            </a:pPr>
            <a:r>
              <a:rPr lang="en-US" sz="2400" b="1" dirty="0">
                <a:solidFill>
                  <a:schemeClr val="bg1">
                    <a:lumMod val="50000"/>
                  </a:schemeClr>
                </a:solidFill>
              </a:rPr>
              <a:t>Titration (chemistry only)</a:t>
            </a:r>
          </a:p>
          <a:p>
            <a:pPr marL="685800" lvl="1" indent="-342900">
              <a:buFont typeface="Arial" charset="0"/>
              <a:buChar char="•"/>
            </a:pPr>
            <a:r>
              <a:rPr lang="en-US" sz="2400" b="1" dirty="0">
                <a:solidFill>
                  <a:schemeClr val="bg1">
                    <a:lumMod val="50000"/>
                  </a:schemeClr>
                </a:solidFill>
              </a:rPr>
              <a:t>Strong and weak acids (HT)</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3723630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5016758"/>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 </a:t>
            </a:r>
            <a:r>
              <a:rPr lang="en-GB" sz="2400" noProof="0" dirty="0" smtClean="0">
                <a:solidFill>
                  <a:prstClr val="black"/>
                </a:solidFill>
                <a:latin typeface="Calibri"/>
              </a:rPr>
              <a:t>ions do aqueous acids contain?</a:t>
            </a:r>
          </a:p>
          <a:p>
            <a:pPr lvl="1">
              <a:defRPr/>
            </a:pPr>
            <a:endParaRPr lang="en-GB" sz="2400" baseline="30000" noProof="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dirty="0" smtClean="0">
                <a:ln>
                  <a:noFill/>
                </a:ln>
                <a:solidFill>
                  <a:prstClr val="black"/>
                </a:solidFill>
                <a:effectLst/>
                <a:uLnTx/>
                <a:uFillTx/>
                <a:latin typeface="Calibri"/>
                <a:ea typeface="+mn-ea"/>
                <a:cs typeface="+mn-cs"/>
              </a:rPr>
              <a:t>What</a:t>
            </a:r>
            <a:r>
              <a:rPr kumimoji="0" lang="en-GB" sz="2400" b="0" i="0" u="none" strike="noStrike" kern="1200" cap="none" spc="0" normalizeH="0" dirty="0" smtClean="0">
                <a:ln>
                  <a:noFill/>
                </a:ln>
                <a:solidFill>
                  <a:prstClr val="black"/>
                </a:solidFill>
                <a:effectLst/>
                <a:uLnTx/>
                <a:uFillTx/>
                <a:latin typeface="Calibri"/>
                <a:ea typeface="+mn-ea"/>
                <a:cs typeface="+mn-cs"/>
              </a:rPr>
              <a:t> ions do aqueous alkalis contain?</a:t>
            </a:r>
          </a:p>
          <a:p>
            <a:pPr lvl="1">
              <a:defRPr/>
            </a:pPr>
            <a:endParaRPr kumimoji="0" lang="en-GB" sz="2400" b="0" i="0" u="none" strike="noStrike" kern="1200" cap="none" spc="0" normalizeH="0" baseline="30000" dirty="0" smtClean="0">
              <a:ln>
                <a:noFill/>
              </a:ln>
              <a:solidFill>
                <a:prstClr val="black"/>
              </a:solidFill>
              <a:effectLst/>
              <a:uLnTx/>
              <a:uFillTx/>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baseline="0" noProof="0" dirty="0" smtClean="0">
                <a:solidFill>
                  <a:prstClr val="black"/>
                </a:solidFill>
                <a:latin typeface="Calibri"/>
              </a:rPr>
              <a:t>What is the pH scale?</a:t>
            </a:r>
          </a:p>
          <a:p>
            <a:pPr lvl="1">
              <a:defRPr/>
            </a:pPr>
            <a:endParaRPr lang="en-GB" sz="2400" baseline="0" noProof="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dirty="0" smtClean="0">
                <a:ln>
                  <a:noFill/>
                </a:ln>
                <a:solidFill>
                  <a:prstClr val="black"/>
                </a:solidFill>
                <a:effectLst/>
                <a:uLnTx/>
                <a:uFillTx/>
                <a:latin typeface="Calibri"/>
                <a:ea typeface="+mn-ea"/>
                <a:cs typeface="+mn-cs"/>
              </a:rPr>
              <a:t>How can pH be measured?</a:t>
            </a:r>
          </a:p>
          <a:p>
            <a:pPr lvl="1">
              <a:defRPr/>
            </a:pPr>
            <a:endParaRPr kumimoji="0" lang="en-GB" sz="2400" b="0" i="0" u="none" strike="noStrike" kern="1200" cap="none" spc="0" normalizeH="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baseline="0" noProof="0" dirty="0" smtClean="0">
                <a:solidFill>
                  <a:prstClr val="black"/>
                </a:solidFill>
                <a:latin typeface="Calibri"/>
              </a:rPr>
              <a:t>What pH is a neutral solution?</a:t>
            </a:r>
          </a:p>
          <a:p>
            <a:pPr lvl="1">
              <a:defRPr/>
            </a:pPr>
            <a:endParaRPr lang="en-GB" sz="2400" baseline="0" noProof="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dirty="0" smtClean="0">
                <a:ln>
                  <a:noFill/>
                </a:ln>
                <a:solidFill>
                  <a:prstClr val="black"/>
                </a:solidFill>
                <a:effectLst/>
                <a:uLnTx/>
                <a:uFillTx/>
                <a:latin typeface="Calibri"/>
                <a:ea typeface="+mn-ea"/>
                <a:cs typeface="+mn-cs"/>
              </a:rPr>
              <a:t>What pH do aqueous acid solutions have?</a:t>
            </a:r>
          </a:p>
          <a:p>
            <a:pPr lvl="1">
              <a:defRPr/>
            </a:pPr>
            <a:endParaRPr kumimoji="0" lang="en-GB" sz="2400" b="0" i="0" u="none" strike="noStrike" kern="1200" cap="none" spc="0" normalizeH="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baseline="0" noProof="0" dirty="0" smtClean="0">
                <a:solidFill>
                  <a:prstClr val="black"/>
                </a:solidFill>
                <a:latin typeface="Calibri"/>
              </a:rPr>
              <a:t>What</a:t>
            </a:r>
            <a:r>
              <a:rPr lang="en-GB" sz="2400" noProof="0" dirty="0" smtClean="0">
                <a:solidFill>
                  <a:prstClr val="black"/>
                </a:solidFill>
                <a:latin typeface="Calibri"/>
              </a:rPr>
              <a:t> pH do aqueous alkali solutions have?</a:t>
            </a:r>
          </a:p>
          <a:p>
            <a:pPr lvl="1">
              <a:defRPr/>
            </a:pPr>
            <a:endParaRPr lang="en-GB" sz="2400" noProof="0" dirty="0" smtClean="0">
              <a:solidFill>
                <a:prstClr val="black"/>
              </a:solidFill>
              <a:latin typeface="Calibri"/>
            </a:endParaRPr>
          </a:p>
        </p:txBody>
      </p:sp>
    </p:spTree>
    <p:extLst>
      <p:ext uri="{BB962C8B-B14F-4D97-AF65-F5344CB8AC3E}">
        <p14:creationId xmlns:p14="http://schemas.microsoft.com/office/powerpoint/2010/main" val="5706228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341632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startAt="8"/>
              <a:tabLst/>
              <a:defRPr/>
            </a:pPr>
            <a:r>
              <a:rPr lang="en-GB" sz="2400" noProof="0" dirty="0" smtClean="0">
                <a:solidFill>
                  <a:prstClr val="black"/>
                </a:solidFill>
                <a:latin typeface="Calibri"/>
              </a:rPr>
              <a:t>Write a balanced symbol equation for the reaction between hydrogen ions and hydroxide ions.</a:t>
            </a:r>
          </a:p>
          <a:p>
            <a:pPr lvl="1">
              <a:defRPr/>
            </a:pPr>
            <a:endParaRPr lang="en-GB" sz="2400" noProof="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8"/>
              <a:tabLst/>
              <a:defRPr/>
            </a:pPr>
            <a:r>
              <a:rPr lang="en-GB" sz="2400" dirty="0" smtClean="0">
                <a:solidFill>
                  <a:prstClr val="black"/>
                </a:solidFill>
                <a:latin typeface="Calibri"/>
              </a:rPr>
              <a:t>CHEMISTRY ONLY: What are the units for the concentration of a solution?</a:t>
            </a:r>
          </a:p>
          <a:p>
            <a:pPr lvl="1">
              <a:defRPr/>
            </a:pPr>
            <a:endParaRPr lang="en-GB" sz="2400" baseline="30000" dirty="0" smtClean="0">
              <a:solidFill>
                <a:prstClr val="black"/>
              </a:solidFill>
              <a:latin typeface="Calibri"/>
            </a:endParaRPr>
          </a:p>
          <a:p>
            <a:pPr marL="457200" indent="-457200">
              <a:buFontTx/>
              <a:buAutoNum type="arabicPeriod" startAt="8"/>
              <a:defRPr/>
            </a:pPr>
            <a:r>
              <a:rPr lang="en-GB" sz="2400" dirty="0" smtClean="0">
                <a:solidFill>
                  <a:prstClr val="black"/>
                </a:solidFill>
                <a:latin typeface="Calibri"/>
              </a:rPr>
              <a:t>CHEMSITRY ONLY: </a:t>
            </a:r>
            <a:r>
              <a:rPr lang="en-GB" sz="2400" dirty="0"/>
              <a:t>What is the concentration of a solution that has 	40g of solute in 2dm</a:t>
            </a:r>
            <a:r>
              <a:rPr lang="en-GB" sz="2400" baseline="30000" dirty="0"/>
              <a:t>3</a:t>
            </a:r>
            <a:r>
              <a:rPr lang="en-GB" sz="2400" dirty="0"/>
              <a:t> of solution</a:t>
            </a:r>
            <a:r>
              <a:rPr lang="en-GB" sz="2400" dirty="0" smtClean="0"/>
              <a:t>?</a:t>
            </a:r>
          </a:p>
          <a:p>
            <a:r>
              <a:rPr lang="en-GB" sz="2400" b="1" dirty="0" smtClean="0">
                <a:solidFill>
                  <a:srgbClr val="00B050"/>
                </a:solidFill>
              </a:rPr>
              <a:t>       </a:t>
            </a:r>
            <a:endParaRPr lang="en-GB" sz="2400" b="1" dirty="0">
              <a:solidFill>
                <a:srgbClr val="00B050"/>
              </a:solidFill>
            </a:endParaRPr>
          </a:p>
        </p:txBody>
      </p:sp>
    </p:spTree>
    <p:extLst>
      <p:ext uri="{BB962C8B-B14F-4D97-AF65-F5344CB8AC3E}">
        <p14:creationId xmlns:p14="http://schemas.microsoft.com/office/powerpoint/2010/main" val="40555033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4893647"/>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1"/>
              <a:tabLst/>
              <a:defRPr/>
            </a:pPr>
            <a:r>
              <a:rPr lang="en-GB" sz="2400" noProof="0" dirty="0" smtClean="0">
                <a:solidFill>
                  <a:prstClr val="black"/>
                </a:solidFill>
                <a:latin typeface="Calibri"/>
              </a:rPr>
              <a:t>HT: What is a strong acid?</a:t>
            </a:r>
          </a:p>
          <a:p>
            <a:pPr lvl="1">
              <a:defRPr/>
            </a:pPr>
            <a:endParaRPr lang="en-GB" sz="2400" noProof="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2"/>
              <a:tabLst/>
              <a:defRPr/>
            </a:pPr>
            <a:r>
              <a:rPr lang="en-GB" sz="2400" dirty="0" smtClean="0">
                <a:solidFill>
                  <a:prstClr val="black"/>
                </a:solidFill>
                <a:latin typeface="Calibri"/>
              </a:rPr>
              <a:t>HT: Name 3 strong acids.</a:t>
            </a:r>
          </a:p>
          <a:p>
            <a:pPr lvl="1">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12"/>
              <a:tabLst/>
              <a:defRPr/>
            </a:pPr>
            <a:r>
              <a:rPr lang="en-GB" sz="2400" noProof="0" dirty="0" smtClean="0">
                <a:solidFill>
                  <a:prstClr val="black"/>
                </a:solidFill>
                <a:latin typeface="Calibri"/>
              </a:rPr>
              <a:t>HT: What is a weak acid?</a:t>
            </a:r>
          </a:p>
          <a:p>
            <a:pPr lvl="1">
              <a:defRPr/>
            </a:pPr>
            <a:endParaRPr lang="en-GB" sz="2400" noProof="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12"/>
              <a:tabLst/>
              <a:defRPr/>
            </a:pPr>
            <a:r>
              <a:rPr lang="en-GB" sz="2400" dirty="0" smtClean="0">
                <a:solidFill>
                  <a:prstClr val="black"/>
                </a:solidFill>
                <a:latin typeface="Calibri"/>
              </a:rPr>
              <a:t>HT: Name 3 weak acids.</a:t>
            </a:r>
          </a:p>
          <a:p>
            <a:pPr lvl="1">
              <a:defRPr/>
            </a:pP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12"/>
              <a:tabLst/>
              <a:defRPr/>
            </a:pPr>
            <a:r>
              <a:rPr lang="en-GB" sz="2400" noProof="0" dirty="0" smtClean="0">
                <a:solidFill>
                  <a:prstClr val="black"/>
                </a:solidFill>
                <a:latin typeface="Calibri"/>
              </a:rPr>
              <a:t>HT: What is a dilute acid?</a:t>
            </a:r>
          </a:p>
          <a:p>
            <a:pPr lvl="1">
              <a:defRPr/>
            </a:pPr>
            <a:endParaRPr lang="en-GB" sz="2400" noProof="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12"/>
              <a:tabLst/>
              <a:defRPr/>
            </a:pPr>
            <a:r>
              <a:rPr lang="en-GB" sz="2400" dirty="0" smtClean="0">
                <a:solidFill>
                  <a:prstClr val="black"/>
                </a:solidFill>
                <a:latin typeface="Calibri"/>
              </a:rPr>
              <a:t>HT: What happens to the hydrogen ion concentration as the pH decreases by 1?</a:t>
            </a:r>
          </a:p>
          <a:p>
            <a:pPr lvl="1">
              <a:defRPr/>
            </a:pPr>
            <a:endParaRPr lang="en-GB" sz="2400" noProof="0" dirty="0" smtClean="0">
              <a:solidFill>
                <a:prstClr val="black"/>
              </a:solidFill>
              <a:latin typeface="Calibri"/>
            </a:endParaRPr>
          </a:p>
        </p:txBody>
      </p:sp>
    </p:spTree>
    <p:extLst>
      <p:ext uri="{BB962C8B-B14F-4D97-AF65-F5344CB8AC3E}">
        <p14:creationId xmlns:p14="http://schemas.microsoft.com/office/powerpoint/2010/main" val="32369006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324535"/>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Reactions of acids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pH and </a:t>
            </a:r>
            <a:r>
              <a:rPr lang="en-US" sz="2400" b="1" dirty="0" err="1">
                <a:solidFill>
                  <a:schemeClr val="bg1">
                    <a:lumMod val="50000"/>
                  </a:schemeClr>
                </a:solidFill>
              </a:rPr>
              <a:t>neutralisation</a:t>
            </a:r>
            <a:endParaRPr lang="en-US" sz="2400" b="1" dirty="0">
              <a:solidFill>
                <a:schemeClr val="bg1">
                  <a:lumMod val="50000"/>
                </a:schemeClr>
              </a:solidFill>
            </a:endParaRPr>
          </a:p>
          <a:p>
            <a:pPr marL="685800" lvl="1" indent="-342900">
              <a:buFont typeface="Arial" charset="0"/>
              <a:buChar char="•"/>
            </a:pPr>
            <a:r>
              <a:rPr lang="en-US" sz="2400" b="1" dirty="0">
                <a:solidFill>
                  <a:schemeClr val="bg1">
                    <a:lumMod val="50000"/>
                  </a:schemeClr>
                </a:solidFill>
              </a:rPr>
              <a:t>Titration (chemistry only)</a:t>
            </a:r>
          </a:p>
          <a:p>
            <a:pPr marL="685800" lvl="1" indent="-342900">
              <a:buFont typeface="Arial" charset="0"/>
              <a:buChar char="•"/>
            </a:pPr>
            <a:r>
              <a:rPr lang="en-US" sz="2400" b="1" dirty="0">
                <a:solidFill>
                  <a:schemeClr val="bg1">
                    <a:lumMod val="50000"/>
                  </a:schemeClr>
                </a:solidFill>
              </a:rPr>
              <a:t>Strong and weak acids (HT)</a:t>
            </a:r>
          </a:p>
          <a:p>
            <a:pPr marL="685800" lvl="1" indent="-342900">
              <a:buFont typeface="Arial" charset="0"/>
              <a:buChar char="•"/>
            </a:pPr>
            <a:endParaRPr lang="en-US" sz="2400" b="1" dirty="0">
              <a:solidFill>
                <a:schemeClr val="bg1">
                  <a:lumMod val="50000"/>
                </a:schemeClr>
              </a:solidFill>
            </a:endParaRP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876136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526297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 </a:t>
            </a:r>
            <a:r>
              <a:rPr lang="en-GB" sz="2400" noProof="0" dirty="0" smtClean="0">
                <a:solidFill>
                  <a:prstClr val="black"/>
                </a:solidFill>
                <a:latin typeface="Calibri"/>
              </a:rPr>
              <a:t>ions do aqueous acids contain?</a:t>
            </a:r>
          </a:p>
          <a:p>
            <a:pPr lvl="1">
              <a:defRPr/>
            </a:pPr>
            <a:r>
              <a:rPr lang="en-GB" sz="2400" b="1" dirty="0" smtClean="0">
                <a:solidFill>
                  <a:srgbClr val="00B050"/>
                </a:solidFill>
              </a:rPr>
              <a:t>H</a:t>
            </a:r>
            <a:r>
              <a:rPr lang="en-GB" sz="2400" b="1" baseline="30000" dirty="0" smtClean="0">
                <a:solidFill>
                  <a:srgbClr val="00B050"/>
                </a:solidFill>
              </a:rPr>
              <a:t>+</a:t>
            </a:r>
            <a:endParaRPr lang="en-GB" sz="2400" baseline="30000" noProof="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dirty="0" smtClean="0">
                <a:ln>
                  <a:noFill/>
                </a:ln>
                <a:solidFill>
                  <a:prstClr val="black"/>
                </a:solidFill>
                <a:effectLst/>
                <a:uLnTx/>
                <a:uFillTx/>
                <a:latin typeface="Calibri"/>
                <a:ea typeface="+mn-ea"/>
                <a:cs typeface="+mn-cs"/>
              </a:rPr>
              <a:t>What</a:t>
            </a:r>
            <a:r>
              <a:rPr kumimoji="0" lang="en-GB" sz="2400" b="0" i="0" u="none" strike="noStrike" kern="1200" cap="none" spc="0" normalizeH="0" dirty="0" smtClean="0">
                <a:ln>
                  <a:noFill/>
                </a:ln>
                <a:solidFill>
                  <a:prstClr val="black"/>
                </a:solidFill>
                <a:effectLst/>
                <a:uLnTx/>
                <a:uFillTx/>
                <a:latin typeface="Calibri"/>
                <a:ea typeface="+mn-ea"/>
                <a:cs typeface="+mn-cs"/>
              </a:rPr>
              <a:t> ions do aqueous alkalis contain?</a:t>
            </a:r>
          </a:p>
          <a:p>
            <a:pPr lvl="1">
              <a:defRPr/>
            </a:pPr>
            <a:r>
              <a:rPr lang="en-GB" sz="2400" b="1" dirty="0" smtClean="0">
                <a:solidFill>
                  <a:srgbClr val="00B050"/>
                </a:solidFill>
              </a:rPr>
              <a:t>OH</a:t>
            </a:r>
            <a:r>
              <a:rPr lang="en-GB" sz="2400" b="1" baseline="30000" dirty="0" smtClean="0">
                <a:solidFill>
                  <a:srgbClr val="00B050"/>
                </a:solidFill>
              </a:rPr>
              <a:t>-</a:t>
            </a:r>
            <a:endParaRPr kumimoji="0" lang="en-GB" sz="2400" b="0" i="0" u="none" strike="noStrike" kern="1200" cap="none" spc="0" normalizeH="0" baseline="30000" dirty="0" smtClean="0">
              <a:ln>
                <a:noFill/>
              </a:ln>
              <a:solidFill>
                <a:prstClr val="black"/>
              </a:solidFill>
              <a:effectLst/>
              <a:uLnTx/>
              <a:uFillTx/>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baseline="0" noProof="0" dirty="0" smtClean="0">
                <a:solidFill>
                  <a:prstClr val="black"/>
                </a:solidFill>
                <a:latin typeface="Calibri"/>
              </a:rPr>
              <a:t>What is the pH scale?</a:t>
            </a:r>
          </a:p>
          <a:p>
            <a:pPr lvl="1">
              <a:defRPr/>
            </a:pPr>
            <a:r>
              <a:rPr lang="en-GB" sz="2400" b="1" dirty="0" smtClean="0">
                <a:solidFill>
                  <a:srgbClr val="00B050"/>
                </a:solidFill>
              </a:rPr>
              <a:t>Measure of the acidity or alkalinity of a solution.</a:t>
            </a:r>
            <a:endParaRPr lang="en-GB" sz="2400" baseline="0" noProof="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dirty="0" smtClean="0">
                <a:ln>
                  <a:noFill/>
                </a:ln>
                <a:solidFill>
                  <a:prstClr val="black"/>
                </a:solidFill>
                <a:effectLst/>
                <a:uLnTx/>
                <a:uFillTx/>
                <a:latin typeface="Calibri"/>
                <a:ea typeface="+mn-ea"/>
                <a:cs typeface="+mn-cs"/>
              </a:rPr>
              <a:t>How can pH be measured?</a:t>
            </a:r>
          </a:p>
          <a:p>
            <a:pPr lvl="1">
              <a:defRPr/>
            </a:pPr>
            <a:r>
              <a:rPr lang="en-GB" sz="2400" b="1" dirty="0" smtClean="0">
                <a:solidFill>
                  <a:srgbClr val="00B050"/>
                </a:solidFill>
              </a:rPr>
              <a:t>Universal indicator, pH probe.</a:t>
            </a:r>
            <a:endParaRPr kumimoji="0" lang="en-GB" sz="2400" b="0" i="0" u="none" strike="noStrike" kern="1200" cap="none" spc="0" normalizeH="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baseline="0" noProof="0" dirty="0" smtClean="0">
                <a:solidFill>
                  <a:prstClr val="black"/>
                </a:solidFill>
                <a:latin typeface="Calibri"/>
              </a:rPr>
              <a:t>What pH is a neutral solution?</a:t>
            </a:r>
          </a:p>
          <a:p>
            <a:pPr lvl="1">
              <a:defRPr/>
            </a:pPr>
            <a:r>
              <a:rPr lang="en-GB" sz="2400" b="1" dirty="0" smtClean="0">
                <a:solidFill>
                  <a:srgbClr val="00B050"/>
                </a:solidFill>
              </a:rPr>
              <a:t>7</a:t>
            </a:r>
            <a:endParaRPr lang="en-GB" sz="2400" baseline="0" noProof="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dirty="0" smtClean="0">
                <a:ln>
                  <a:noFill/>
                </a:ln>
                <a:solidFill>
                  <a:prstClr val="black"/>
                </a:solidFill>
                <a:effectLst/>
                <a:uLnTx/>
                <a:uFillTx/>
                <a:latin typeface="Calibri"/>
                <a:ea typeface="+mn-ea"/>
                <a:cs typeface="+mn-cs"/>
              </a:rPr>
              <a:t>What pH do aqueous acid solutions have?</a:t>
            </a:r>
          </a:p>
          <a:p>
            <a:pPr lvl="1">
              <a:defRPr/>
            </a:pPr>
            <a:r>
              <a:rPr lang="en-GB" sz="2400" b="1" dirty="0" smtClean="0">
                <a:solidFill>
                  <a:srgbClr val="00B050"/>
                </a:solidFill>
              </a:rPr>
              <a:t>Less than 7.</a:t>
            </a:r>
            <a:endParaRPr kumimoji="0" lang="en-GB" sz="2400" b="0" i="0" u="none" strike="noStrike" kern="1200" cap="none" spc="0" normalizeH="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baseline="0" noProof="0" dirty="0" smtClean="0">
                <a:solidFill>
                  <a:prstClr val="black"/>
                </a:solidFill>
                <a:latin typeface="Calibri"/>
              </a:rPr>
              <a:t>What</a:t>
            </a:r>
            <a:r>
              <a:rPr lang="en-GB" sz="2400" noProof="0" dirty="0" smtClean="0">
                <a:solidFill>
                  <a:prstClr val="black"/>
                </a:solidFill>
                <a:latin typeface="Calibri"/>
              </a:rPr>
              <a:t> pH do aqueous alkali solutions have?</a:t>
            </a:r>
          </a:p>
          <a:p>
            <a:pPr lvl="1">
              <a:defRPr/>
            </a:pPr>
            <a:r>
              <a:rPr lang="en-GB" sz="2400" b="1" dirty="0" smtClean="0">
                <a:solidFill>
                  <a:srgbClr val="00B050"/>
                </a:solidFill>
              </a:rPr>
              <a:t>More than 7.</a:t>
            </a:r>
            <a:endParaRPr lang="en-GB" sz="2400" noProof="0" dirty="0" smtClean="0">
              <a:solidFill>
                <a:prstClr val="black"/>
              </a:solidFill>
              <a:latin typeface="Calibri"/>
            </a:endParaRPr>
          </a:p>
        </p:txBody>
      </p:sp>
    </p:spTree>
    <p:extLst>
      <p:ext uri="{BB962C8B-B14F-4D97-AF65-F5344CB8AC3E}">
        <p14:creationId xmlns:p14="http://schemas.microsoft.com/office/powerpoint/2010/main" val="29767866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341632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startAt="8"/>
              <a:tabLst/>
              <a:defRPr/>
            </a:pPr>
            <a:r>
              <a:rPr lang="en-GB" sz="2400" noProof="0" dirty="0" smtClean="0">
                <a:solidFill>
                  <a:prstClr val="black"/>
                </a:solidFill>
                <a:latin typeface="Calibri"/>
              </a:rPr>
              <a:t>Write a balanced symbol equation for the reaction between hydrogen ions and hydroxide ions.</a:t>
            </a:r>
          </a:p>
          <a:p>
            <a:pPr lvl="1">
              <a:defRPr/>
            </a:pPr>
            <a:r>
              <a:rPr lang="en-GB" sz="2400" b="1" dirty="0" smtClean="0">
                <a:solidFill>
                  <a:srgbClr val="00B050"/>
                </a:solidFill>
              </a:rPr>
              <a:t>H</a:t>
            </a:r>
            <a:r>
              <a:rPr lang="en-GB" sz="2400" b="1" baseline="30000" dirty="0" smtClean="0">
                <a:solidFill>
                  <a:srgbClr val="00B050"/>
                </a:solidFill>
              </a:rPr>
              <a:t>+</a:t>
            </a:r>
            <a:r>
              <a:rPr lang="en-GB" sz="2400" b="1" dirty="0" smtClean="0">
                <a:solidFill>
                  <a:srgbClr val="00B050"/>
                </a:solidFill>
              </a:rPr>
              <a:t>(</a:t>
            </a:r>
            <a:r>
              <a:rPr lang="en-GB" sz="2400" b="1" dirty="0" err="1" smtClean="0">
                <a:solidFill>
                  <a:srgbClr val="00B050"/>
                </a:solidFill>
              </a:rPr>
              <a:t>aq</a:t>
            </a:r>
            <a:r>
              <a:rPr lang="en-GB" sz="2400" b="1" dirty="0" smtClean="0">
                <a:solidFill>
                  <a:srgbClr val="00B050"/>
                </a:solidFill>
              </a:rPr>
              <a:t>) + OH</a:t>
            </a:r>
            <a:r>
              <a:rPr lang="en-GB" sz="2400" b="1" baseline="30000" dirty="0" smtClean="0">
                <a:solidFill>
                  <a:srgbClr val="00B050"/>
                </a:solidFill>
              </a:rPr>
              <a:t>-</a:t>
            </a:r>
            <a:r>
              <a:rPr lang="en-GB" sz="2400" b="1" dirty="0" smtClean="0">
                <a:solidFill>
                  <a:srgbClr val="00B050"/>
                </a:solidFill>
              </a:rPr>
              <a:t>(</a:t>
            </a:r>
            <a:r>
              <a:rPr lang="en-GB" sz="2400" b="1" dirty="0" err="1" smtClean="0">
                <a:solidFill>
                  <a:srgbClr val="00B050"/>
                </a:solidFill>
              </a:rPr>
              <a:t>aq</a:t>
            </a:r>
            <a:r>
              <a:rPr lang="en-GB" sz="2400" b="1" dirty="0" smtClean="0">
                <a:solidFill>
                  <a:srgbClr val="00B050"/>
                </a:solidFill>
              </a:rPr>
              <a:t>) </a:t>
            </a:r>
            <a:r>
              <a:rPr lang="en-GB" sz="2400" dirty="0">
                <a:solidFill>
                  <a:prstClr val="black"/>
                </a:solidFill>
                <a:sym typeface="Wingdings" panose="05000000000000000000" pitchFamily="2" charset="2"/>
              </a:rPr>
              <a:t></a:t>
            </a:r>
            <a:r>
              <a:rPr lang="en-GB" sz="2400" b="1" dirty="0" smtClean="0">
                <a:solidFill>
                  <a:srgbClr val="00B050"/>
                </a:solidFill>
              </a:rPr>
              <a:t> H</a:t>
            </a:r>
            <a:r>
              <a:rPr lang="en-GB" sz="2400" b="1" baseline="-25000" dirty="0" smtClean="0">
                <a:solidFill>
                  <a:srgbClr val="00B050"/>
                </a:solidFill>
              </a:rPr>
              <a:t>2</a:t>
            </a:r>
            <a:r>
              <a:rPr lang="en-GB" sz="2400" b="1" dirty="0" smtClean="0">
                <a:solidFill>
                  <a:srgbClr val="00B050"/>
                </a:solidFill>
              </a:rPr>
              <a:t>O(l)</a:t>
            </a:r>
            <a:endParaRPr lang="en-GB" sz="2400" noProof="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8"/>
              <a:tabLst/>
              <a:defRPr/>
            </a:pPr>
            <a:r>
              <a:rPr lang="en-GB" sz="2400" dirty="0" smtClean="0">
                <a:solidFill>
                  <a:prstClr val="black"/>
                </a:solidFill>
                <a:latin typeface="Calibri"/>
              </a:rPr>
              <a:t>CHEMISTRY ONLY: What are the units for the concentration of a solution?</a:t>
            </a:r>
          </a:p>
          <a:p>
            <a:pPr lvl="1">
              <a:defRPr/>
            </a:pPr>
            <a:r>
              <a:rPr lang="en-GB" sz="2400" b="1" dirty="0" err="1" smtClean="0">
                <a:solidFill>
                  <a:srgbClr val="00B050"/>
                </a:solidFill>
              </a:rPr>
              <a:t>mol</a:t>
            </a:r>
            <a:r>
              <a:rPr lang="en-GB" sz="2400" b="1" dirty="0" smtClean="0">
                <a:solidFill>
                  <a:srgbClr val="00B050"/>
                </a:solidFill>
              </a:rPr>
              <a:t>/dm</a:t>
            </a:r>
            <a:r>
              <a:rPr lang="en-GB" sz="2400" b="1" baseline="30000" dirty="0" smtClean="0">
                <a:solidFill>
                  <a:srgbClr val="00B050"/>
                </a:solidFill>
              </a:rPr>
              <a:t>3</a:t>
            </a:r>
            <a:r>
              <a:rPr lang="en-GB" sz="2400" b="1" dirty="0" smtClean="0">
                <a:solidFill>
                  <a:srgbClr val="00B050"/>
                </a:solidFill>
              </a:rPr>
              <a:t> or g/dm</a:t>
            </a:r>
            <a:r>
              <a:rPr lang="en-GB" sz="2400" b="1" baseline="30000" dirty="0" smtClean="0">
                <a:solidFill>
                  <a:srgbClr val="00B050"/>
                </a:solidFill>
              </a:rPr>
              <a:t>3</a:t>
            </a:r>
            <a:endParaRPr lang="en-GB" sz="2400" baseline="30000" dirty="0" smtClean="0">
              <a:solidFill>
                <a:prstClr val="black"/>
              </a:solidFill>
              <a:latin typeface="Calibri"/>
            </a:endParaRPr>
          </a:p>
          <a:p>
            <a:pPr marL="457200" indent="-457200">
              <a:buFontTx/>
              <a:buAutoNum type="arabicPeriod" startAt="8"/>
              <a:defRPr/>
            </a:pPr>
            <a:r>
              <a:rPr lang="en-GB" sz="2400" dirty="0" smtClean="0">
                <a:solidFill>
                  <a:prstClr val="black"/>
                </a:solidFill>
                <a:latin typeface="Calibri"/>
              </a:rPr>
              <a:t>CHEMSITRY ONLY: </a:t>
            </a:r>
            <a:r>
              <a:rPr lang="en-GB" sz="2400" dirty="0"/>
              <a:t>What is the concentration of a solution that has 	40g of solute in 2dm</a:t>
            </a:r>
            <a:r>
              <a:rPr lang="en-GB" sz="2400" baseline="30000" dirty="0"/>
              <a:t>3</a:t>
            </a:r>
            <a:r>
              <a:rPr lang="en-GB" sz="2400" dirty="0"/>
              <a:t> of solution</a:t>
            </a:r>
            <a:r>
              <a:rPr lang="en-GB" sz="2400" dirty="0" smtClean="0"/>
              <a:t>?</a:t>
            </a:r>
          </a:p>
          <a:p>
            <a:r>
              <a:rPr lang="en-GB" sz="2400" b="1" dirty="0" smtClean="0">
                <a:solidFill>
                  <a:srgbClr val="00B050"/>
                </a:solidFill>
              </a:rPr>
              <a:t>       Concentration </a:t>
            </a:r>
            <a:r>
              <a:rPr lang="en-GB" sz="2400" b="1" dirty="0">
                <a:solidFill>
                  <a:srgbClr val="00B050"/>
                </a:solidFill>
              </a:rPr>
              <a:t>= mass ÷ volume = 40 g ÷ 2 dm</a:t>
            </a:r>
            <a:r>
              <a:rPr lang="en-GB" sz="2400" b="1" baseline="30000" dirty="0">
                <a:solidFill>
                  <a:srgbClr val="00B050"/>
                </a:solidFill>
              </a:rPr>
              <a:t>3</a:t>
            </a:r>
            <a:r>
              <a:rPr lang="en-GB" sz="2400" b="1" dirty="0">
                <a:solidFill>
                  <a:srgbClr val="00B050"/>
                </a:solidFill>
              </a:rPr>
              <a:t> = 20 g/dm</a:t>
            </a:r>
            <a:r>
              <a:rPr lang="en-GB" sz="2400" b="1" baseline="30000" dirty="0">
                <a:solidFill>
                  <a:srgbClr val="00B050"/>
                </a:solidFill>
              </a:rPr>
              <a:t>3</a:t>
            </a:r>
            <a:endParaRPr lang="en-GB" sz="2400" b="1" dirty="0">
              <a:solidFill>
                <a:srgbClr val="00B050"/>
              </a:solidFill>
            </a:endParaRPr>
          </a:p>
        </p:txBody>
      </p:sp>
    </p:spTree>
    <p:extLst>
      <p:ext uri="{BB962C8B-B14F-4D97-AF65-F5344CB8AC3E}">
        <p14:creationId xmlns:p14="http://schemas.microsoft.com/office/powerpoint/2010/main" val="28131121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Reactions of acids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4893647"/>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1"/>
              <a:tabLst/>
              <a:defRPr/>
            </a:pPr>
            <a:r>
              <a:rPr lang="en-GB" sz="2400" noProof="0" dirty="0" smtClean="0">
                <a:solidFill>
                  <a:prstClr val="black"/>
                </a:solidFill>
                <a:latin typeface="Calibri"/>
              </a:rPr>
              <a:t>HT: What is a strong acid?</a:t>
            </a:r>
          </a:p>
          <a:p>
            <a:pPr lvl="1">
              <a:defRPr/>
            </a:pPr>
            <a:r>
              <a:rPr lang="en-GB" sz="2400" b="1" dirty="0" smtClean="0">
                <a:solidFill>
                  <a:srgbClr val="00B050"/>
                </a:solidFill>
              </a:rPr>
              <a:t>Completely ionised in aqueous solution.</a:t>
            </a:r>
            <a:endParaRPr lang="en-GB" sz="2400" noProof="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2"/>
              <a:tabLst/>
              <a:defRPr/>
            </a:pPr>
            <a:r>
              <a:rPr lang="en-GB" sz="2400" dirty="0" smtClean="0">
                <a:solidFill>
                  <a:prstClr val="black"/>
                </a:solidFill>
                <a:latin typeface="Calibri"/>
              </a:rPr>
              <a:t>HT: Name 3 strong acids.</a:t>
            </a:r>
          </a:p>
          <a:p>
            <a:pPr lvl="1">
              <a:defRPr/>
            </a:pPr>
            <a:r>
              <a:rPr lang="en-GB" sz="2400" b="1" dirty="0" smtClean="0">
                <a:solidFill>
                  <a:srgbClr val="00B050"/>
                </a:solidFill>
              </a:rPr>
              <a:t>Hydrochloric, nitric, sulfuric.</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12"/>
              <a:tabLst/>
              <a:defRPr/>
            </a:pPr>
            <a:r>
              <a:rPr lang="en-GB" sz="2400" noProof="0" dirty="0" smtClean="0">
                <a:solidFill>
                  <a:prstClr val="black"/>
                </a:solidFill>
                <a:latin typeface="Calibri"/>
              </a:rPr>
              <a:t>HT: What is a weak acid?</a:t>
            </a:r>
          </a:p>
          <a:p>
            <a:pPr lvl="1">
              <a:defRPr/>
            </a:pPr>
            <a:r>
              <a:rPr lang="en-GB" sz="2400" b="1" dirty="0" smtClean="0">
                <a:solidFill>
                  <a:srgbClr val="00B050"/>
                </a:solidFill>
              </a:rPr>
              <a:t>Partially ionised in aqueous solution.</a:t>
            </a:r>
            <a:endParaRPr lang="en-GB" sz="2400" noProof="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12"/>
              <a:tabLst/>
              <a:defRPr/>
            </a:pPr>
            <a:r>
              <a:rPr lang="en-GB" sz="2400" dirty="0" smtClean="0">
                <a:solidFill>
                  <a:prstClr val="black"/>
                </a:solidFill>
                <a:latin typeface="Calibri"/>
              </a:rPr>
              <a:t>HT: Name 3 weak acids.</a:t>
            </a:r>
          </a:p>
          <a:p>
            <a:pPr lvl="1">
              <a:defRPr/>
            </a:pPr>
            <a:r>
              <a:rPr lang="en-GB" sz="2400" b="1" dirty="0" smtClean="0">
                <a:solidFill>
                  <a:srgbClr val="00B050"/>
                </a:solidFill>
              </a:rPr>
              <a:t>Ethanoic, citric, carbonic</a:t>
            </a:r>
            <a:endParaRPr lang="en-GB" sz="2400" dirty="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12"/>
              <a:tabLst/>
              <a:defRPr/>
            </a:pPr>
            <a:r>
              <a:rPr lang="en-GB" sz="2400" noProof="0" dirty="0" smtClean="0">
                <a:solidFill>
                  <a:prstClr val="black"/>
                </a:solidFill>
                <a:latin typeface="Calibri"/>
              </a:rPr>
              <a:t>HT: What is a dilute acid?</a:t>
            </a:r>
          </a:p>
          <a:p>
            <a:pPr lvl="1">
              <a:defRPr/>
            </a:pPr>
            <a:r>
              <a:rPr lang="en-GB" sz="2400" b="1" noProof="0" dirty="0" smtClean="0">
                <a:solidFill>
                  <a:srgbClr val="00B050"/>
                </a:solidFill>
              </a:rPr>
              <a:t>Contains less solute in the same volume</a:t>
            </a:r>
            <a:endParaRPr lang="en-GB" sz="2400" noProof="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12"/>
              <a:tabLst/>
              <a:defRPr/>
            </a:pPr>
            <a:r>
              <a:rPr lang="en-GB" sz="2400" dirty="0" smtClean="0">
                <a:solidFill>
                  <a:prstClr val="black"/>
                </a:solidFill>
                <a:latin typeface="Calibri"/>
              </a:rPr>
              <a:t>HT: What happens to the hydrogen ion concentration as the pH decreases by 1?</a:t>
            </a:r>
          </a:p>
          <a:p>
            <a:pPr lvl="1">
              <a:defRPr/>
            </a:pPr>
            <a:r>
              <a:rPr lang="en-GB" sz="2400" b="1" dirty="0" smtClean="0">
                <a:solidFill>
                  <a:srgbClr val="00B050"/>
                </a:solidFill>
              </a:rPr>
              <a:t>Increases by a factor of 10</a:t>
            </a:r>
            <a:endParaRPr lang="en-GB" sz="2400" noProof="0" dirty="0" smtClean="0">
              <a:solidFill>
                <a:prstClr val="black"/>
              </a:solidFill>
              <a:latin typeface="Calibri"/>
            </a:endParaRPr>
          </a:p>
        </p:txBody>
      </p:sp>
    </p:spTree>
    <p:extLst>
      <p:ext uri="{BB962C8B-B14F-4D97-AF65-F5344CB8AC3E}">
        <p14:creationId xmlns:p14="http://schemas.microsoft.com/office/powerpoint/2010/main" val="13036300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614956"/>
            <a:ext cx="4572000" cy="5970865"/>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Electrolysis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smtClean="0">
                <a:solidFill>
                  <a:schemeClr val="bg1">
                    <a:lumMod val="50000"/>
                  </a:schemeClr>
                </a:solidFill>
              </a:rPr>
              <a:t>The process of electrolysis</a:t>
            </a:r>
          </a:p>
          <a:p>
            <a:pPr marL="685800" lvl="1" indent="-342900">
              <a:buFont typeface="Arial" charset="0"/>
              <a:buChar char="•"/>
            </a:pPr>
            <a:r>
              <a:rPr lang="en-US" sz="2400" b="1" dirty="0" smtClean="0">
                <a:solidFill>
                  <a:schemeClr val="bg1">
                    <a:lumMod val="50000"/>
                  </a:schemeClr>
                </a:solidFill>
              </a:rPr>
              <a:t>Electrolysis </a:t>
            </a:r>
            <a:r>
              <a:rPr lang="en-US" sz="2400" b="1" dirty="0">
                <a:solidFill>
                  <a:schemeClr val="bg1">
                    <a:lumMod val="50000"/>
                  </a:schemeClr>
                </a:solidFill>
              </a:rPr>
              <a:t>of a molten ionic </a:t>
            </a:r>
            <a:r>
              <a:rPr lang="en-US" sz="2400" b="1" dirty="0" smtClean="0">
                <a:solidFill>
                  <a:schemeClr val="bg1">
                    <a:lumMod val="50000"/>
                  </a:schemeClr>
                </a:solidFill>
              </a:rPr>
              <a:t>compounds</a:t>
            </a:r>
          </a:p>
          <a:p>
            <a:pPr marL="685800" lvl="1" indent="-342900">
              <a:buFont typeface="Arial" charset="0"/>
              <a:buChar char="•"/>
            </a:pPr>
            <a:r>
              <a:rPr lang="en-US" sz="2400" b="1" dirty="0" smtClean="0">
                <a:solidFill>
                  <a:schemeClr val="bg1">
                    <a:lumMod val="50000"/>
                  </a:schemeClr>
                </a:solidFill>
              </a:rPr>
              <a:t>Electrolysis of aqueous solutions</a:t>
            </a:r>
            <a:endParaRPr lang="en-US" sz="2400" b="1" dirty="0">
              <a:solidFill>
                <a:schemeClr val="bg1">
                  <a:lumMod val="50000"/>
                </a:schemeClr>
              </a:solidFill>
            </a:endParaRPr>
          </a:p>
        </p:txBody>
      </p:sp>
    </p:spTree>
    <p:extLst>
      <p:ext uri="{BB962C8B-B14F-4D97-AF65-F5344CB8AC3E}">
        <p14:creationId xmlns:p14="http://schemas.microsoft.com/office/powerpoint/2010/main" val="7969827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Electrolysis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512230" y="291656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251520" y="718374"/>
            <a:ext cx="8640960" cy="1323439"/>
          </a:xfrm>
          <a:prstGeom prst="rect">
            <a:avLst/>
          </a:prstGeom>
          <a:noFill/>
        </p:spPr>
        <p:txBody>
          <a:bodyPr wrap="square" rtlCol="0">
            <a:spAutoFit/>
          </a:bodyPr>
          <a:lstStyle/>
          <a:p>
            <a:pPr algn="ctr"/>
            <a:r>
              <a:rPr lang="en-GB" sz="2000" dirty="0"/>
              <a:t>When an </a:t>
            </a:r>
            <a:r>
              <a:rPr lang="en-GB" sz="2000" b="1" dirty="0">
                <a:solidFill>
                  <a:schemeClr val="accent6">
                    <a:lumMod val="75000"/>
                  </a:schemeClr>
                </a:solidFill>
              </a:rPr>
              <a:t>ionic</a:t>
            </a:r>
            <a:r>
              <a:rPr lang="en-GB" sz="2000" b="1" dirty="0">
                <a:solidFill>
                  <a:srgbClr val="FF0000"/>
                </a:solidFill>
              </a:rPr>
              <a:t> </a:t>
            </a:r>
            <a:r>
              <a:rPr lang="en-GB" sz="2000" b="1" dirty="0">
                <a:solidFill>
                  <a:schemeClr val="accent6">
                    <a:lumMod val="75000"/>
                  </a:schemeClr>
                </a:solidFill>
              </a:rPr>
              <a:t>compound</a:t>
            </a:r>
            <a:r>
              <a:rPr lang="en-GB" sz="2000" b="1" dirty="0">
                <a:solidFill>
                  <a:srgbClr val="FF0000"/>
                </a:solidFill>
              </a:rPr>
              <a:t> </a:t>
            </a:r>
            <a:r>
              <a:rPr lang="en-GB" sz="2000" dirty="0"/>
              <a:t>is </a:t>
            </a:r>
            <a:r>
              <a:rPr lang="en-GB" sz="2000" b="1" dirty="0">
                <a:solidFill>
                  <a:schemeClr val="accent6">
                    <a:lumMod val="75000"/>
                  </a:schemeClr>
                </a:solidFill>
              </a:rPr>
              <a:t>melted</a:t>
            </a:r>
            <a:r>
              <a:rPr lang="en-GB" sz="2000" dirty="0">
                <a:solidFill>
                  <a:srgbClr val="FF0000"/>
                </a:solidFill>
              </a:rPr>
              <a:t> </a:t>
            </a:r>
            <a:r>
              <a:rPr lang="en-GB" sz="2000" dirty="0"/>
              <a:t>or </a:t>
            </a:r>
            <a:r>
              <a:rPr lang="en-GB" sz="2000" b="1" dirty="0">
                <a:solidFill>
                  <a:schemeClr val="accent6">
                    <a:lumMod val="75000"/>
                  </a:schemeClr>
                </a:solidFill>
              </a:rPr>
              <a:t>dissolved</a:t>
            </a:r>
            <a:r>
              <a:rPr lang="en-GB" sz="2000" b="1" dirty="0">
                <a:solidFill>
                  <a:srgbClr val="FF0000"/>
                </a:solidFill>
              </a:rPr>
              <a:t> </a:t>
            </a:r>
            <a:r>
              <a:rPr lang="en-GB" sz="2000" b="1" dirty="0">
                <a:solidFill>
                  <a:schemeClr val="accent6">
                    <a:lumMod val="75000"/>
                  </a:schemeClr>
                </a:solidFill>
              </a:rPr>
              <a:t>in water</a:t>
            </a:r>
            <a:r>
              <a:rPr lang="en-GB" sz="2000" dirty="0"/>
              <a:t>, the</a:t>
            </a:r>
            <a:r>
              <a:rPr lang="en-GB" sz="2000" b="1" dirty="0"/>
              <a:t> </a:t>
            </a:r>
            <a:r>
              <a:rPr lang="en-GB" sz="2000" b="1" dirty="0">
                <a:solidFill>
                  <a:schemeClr val="accent6">
                    <a:lumMod val="75000"/>
                  </a:schemeClr>
                </a:solidFill>
              </a:rPr>
              <a:t>ions</a:t>
            </a:r>
            <a:r>
              <a:rPr lang="en-GB" sz="2000" b="1" dirty="0"/>
              <a:t> </a:t>
            </a:r>
            <a:r>
              <a:rPr lang="en-GB" sz="2000" dirty="0"/>
              <a:t>are</a:t>
            </a:r>
            <a:r>
              <a:rPr lang="en-GB" sz="2000" b="1" dirty="0"/>
              <a:t> </a:t>
            </a:r>
            <a:r>
              <a:rPr lang="en-GB" sz="2000" b="1" dirty="0">
                <a:solidFill>
                  <a:schemeClr val="accent6">
                    <a:lumMod val="75000"/>
                  </a:schemeClr>
                </a:solidFill>
              </a:rPr>
              <a:t>free</a:t>
            </a:r>
            <a:r>
              <a:rPr lang="en-GB" sz="2000" b="1" dirty="0"/>
              <a:t> </a:t>
            </a:r>
            <a:r>
              <a:rPr lang="en-GB" sz="2000" dirty="0"/>
              <a:t>to</a:t>
            </a:r>
            <a:r>
              <a:rPr lang="en-GB" sz="2000" b="1" dirty="0"/>
              <a:t> </a:t>
            </a:r>
            <a:r>
              <a:rPr lang="en-GB" sz="2000" b="1" dirty="0">
                <a:solidFill>
                  <a:schemeClr val="accent6">
                    <a:lumMod val="75000"/>
                  </a:schemeClr>
                </a:solidFill>
              </a:rPr>
              <a:t>move</a:t>
            </a:r>
            <a:r>
              <a:rPr lang="en-GB" sz="2000" b="1" dirty="0"/>
              <a:t> </a:t>
            </a:r>
            <a:r>
              <a:rPr lang="en-GB" sz="2000" dirty="0"/>
              <a:t>about the liquid or solution.  These liquids and solutions are able to </a:t>
            </a:r>
            <a:r>
              <a:rPr lang="en-GB" sz="2000" b="1" dirty="0">
                <a:solidFill>
                  <a:schemeClr val="accent6">
                    <a:lumMod val="75000"/>
                  </a:schemeClr>
                </a:solidFill>
              </a:rPr>
              <a:t>conduct</a:t>
            </a:r>
            <a:r>
              <a:rPr lang="en-GB" sz="2000" b="1" dirty="0"/>
              <a:t> </a:t>
            </a:r>
            <a:r>
              <a:rPr lang="en-GB" sz="2000" b="1" dirty="0">
                <a:solidFill>
                  <a:schemeClr val="accent6">
                    <a:lumMod val="75000"/>
                  </a:schemeClr>
                </a:solidFill>
              </a:rPr>
              <a:t>electricity</a:t>
            </a:r>
            <a:r>
              <a:rPr lang="en-GB" sz="2000" b="1" dirty="0"/>
              <a:t> </a:t>
            </a:r>
            <a:r>
              <a:rPr lang="en-GB" sz="2000" dirty="0"/>
              <a:t>and are called </a:t>
            </a:r>
            <a:r>
              <a:rPr lang="en-GB" sz="2000" b="1" dirty="0">
                <a:solidFill>
                  <a:schemeClr val="accent6">
                    <a:lumMod val="75000"/>
                  </a:schemeClr>
                </a:solidFill>
              </a:rPr>
              <a:t>electrolytes</a:t>
            </a:r>
            <a:r>
              <a:rPr lang="en-GB" sz="2000" dirty="0"/>
              <a:t>. Passing an </a:t>
            </a:r>
            <a:r>
              <a:rPr lang="en-GB" sz="2000" b="1" dirty="0">
                <a:solidFill>
                  <a:schemeClr val="accent6">
                    <a:lumMod val="75000"/>
                  </a:schemeClr>
                </a:solidFill>
              </a:rPr>
              <a:t>electric current </a:t>
            </a:r>
            <a:r>
              <a:rPr lang="en-GB" sz="2000" dirty="0"/>
              <a:t>though electrolytes causes the ions to move to the electrodes.</a:t>
            </a:r>
          </a:p>
        </p:txBody>
      </p:sp>
      <p:sp>
        <p:nvSpPr>
          <p:cNvPr id="6" name="TextBox 5">
            <a:extLst>
              <a:ext uri="{FF2B5EF4-FFF2-40B4-BE49-F238E27FC236}">
                <a16:creationId xmlns:a16="http://schemas.microsoft.com/office/drawing/2014/main" xmlns="" id="{BD8894EC-F2F8-44ED-80C0-B088D25F0921}"/>
              </a:ext>
            </a:extLst>
          </p:cNvPr>
          <p:cNvSpPr txBox="1"/>
          <p:nvPr/>
        </p:nvSpPr>
        <p:spPr>
          <a:xfrm>
            <a:off x="4297753" y="2368011"/>
            <a:ext cx="4495564" cy="3477875"/>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sz="2000" b="1" dirty="0"/>
              <a:t>Positive</a:t>
            </a:r>
            <a:r>
              <a:rPr lang="en-GB" sz="2000" dirty="0"/>
              <a:t> ions go to </a:t>
            </a:r>
            <a:r>
              <a:rPr lang="en-GB" sz="2000" b="1" dirty="0"/>
              <a:t>negative</a:t>
            </a:r>
            <a:r>
              <a:rPr lang="en-GB" sz="2000" dirty="0"/>
              <a:t> electrode (cathode) and are </a:t>
            </a:r>
            <a:r>
              <a:rPr lang="en-GB" sz="2000" b="1" dirty="0"/>
              <a:t>reduced</a:t>
            </a:r>
            <a:r>
              <a:rPr lang="en-GB" sz="2000" dirty="0"/>
              <a:t> (gain of electrons).</a:t>
            </a:r>
          </a:p>
          <a:p>
            <a:pPr algn="ctr"/>
            <a:endParaRPr lang="en-GB" sz="2000" dirty="0"/>
          </a:p>
          <a:p>
            <a:pPr algn="ctr"/>
            <a:r>
              <a:rPr lang="en-GB" sz="2000" b="1" dirty="0"/>
              <a:t>Negative</a:t>
            </a:r>
            <a:r>
              <a:rPr lang="en-GB" sz="2000" dirty="0"/>
              <a:t> ions go to the </a:t>
            </a:r>
            <a:r>
              <a:rPr lang="en-GB" sz="2000" b="1" dirty="0"/>
              <a:t>positive</a:t>
            </a:r>
            <a:r>
              <a:rPr lang="en-GB" sz="2000" dirty="0"/>
              <a:t> electrode (anode) and are </a:t>
            </a:r>
            <a:r>
              <a:rPr lang="en-GB" sz="2000" b="1" dirty="0"/>
              <a:t>oxidised</a:t>
            </a:r>
            <a:r>
              <a:rPr lang="en-GB" sz="2000" dirty="0"/>
              <a:t> (loss of electrons).</a:t>
            </a:r>
          </a:p>
          <a:p>
            <a:pPr algn="ctr"/>
            <a:endParaRPr lang="en-GB" sz="2000" dirty="0"/>
          </a:p>
          <a:p>
            <a:pPr algn="ctr"/>
            <a:r>
              <a:rPr lang="en-GB" sz="2000" b="1" dirty="0"/>
              <a:t>Ions</a:t>
            </a:r>
            <a:r>
              <a:rPr lang="en-GB" sz="2000" dirty="0"/>
              <a:t> are </a:t>
            </a:r>
            <a:r>
              <a:rPr lang="en-GB" sz="2000" b="1" dirty="0"/>
              <a:t>discharged</a:t>
            </a:r>
            <a:r>
              <a:rPr lang="en-GB" sz="2000" dirty="0"/>
              <a:t> at the electrodes producing </a:t>
            </a:r>
            <a:r>
              <a:rPr lang="en-GB" sz="2000" b="1" dirty="0"/>
              <a:t>elements</a:t>
            </a:r>
            <a:r>
              <a:rPr lang="en-GB" sz="2000" dirty="0"/>
              <a:t>.  This is called </a:t>
            </a:r>
            <a:r>
              <a:rPr lang="en-GB" sz="2000" b="1" dirty="0"/>
              <a:t>electrolysis</a:t>
            </a:r>
            <a:r>
              <a:rPr lang="en-GB" sz="2000" dirty="0"/>
              <a:t>.</a:t>
            </a:r>
          </a:p>
        </p:txBody>
      </p:sp>
      <p:grpSp>
        <p:nvGrpSpPr>
          <p:cNvPr id="9" name="Group 8"/>
          <p:cNvGrpSpPr/>
          <p:nvPr/>
        </p:nvGrpSpPr>
        <p:grpSpPr>
          <a:xfrm>
            <a:off x="28848" y="2118106"/>
            <a:ext cx="4093391" cy="3850181"/>
            <a:chOff x="28848" y="2118106"/>
            <a:chExt cx="4093391" cy="3850181"/>
          </a:xfrm>
        </p:grpSpPr>
        <p:sp>
          <p:nvSpPr>
            <p:cNvPr id="43" name="Rectangle 42"/>
            <p:cNvSpPr/>
            <p:nvPr/>
          </p:nvSpPr>
          <p:spPr>
            <a:xfrm>
              <a:off x="1616859" y="2651964"/>
              <a:ext cx="882969" cy="442417"/>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4" name="Rectangle 43"/>
            <p:cNvSpPr/>
            <p:nvPr/>
          </p:nvSpPr>
          <p:spPr>
            <a:xfrm>
              <a:off x="1805844" y="2891075"/>
              <a:ext cx="544733" cy="51418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5" name="Rectangle 44"/>
            <p:cNvSpPr/>
            <p:nvPr/>
          </p:nvSpPr>
          <p:spPr>
            <a:xfrm>
              <a:off x="1485978" y="2984264"/>
              <a:ext cx="318007" cy="2649157"/>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6" name="Rectangle 45"/>
            <p:cNvSpPr/>
            <p:nvPr/>
          </p:nvSpPr>
          <p:spPr>
            <a:xfrm>
              <a:off x="1988439" y="2490890"/>
              <a:ext cx="130881" cy="2604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7" name="Rectangle 46"/>
            <p:cNvSpPr/>
            <p:nvPr/>
          </p:nvSpPr>
          <p:spPr>
            <a:xfrm>
              <a:off x="2341451" y="2984263"/>
              <a:ext cx="318007" cy="2649157"/>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48" name="Round Same Side Corner Rectangle 47"/>
            <p:cNvSpPr/>
            <p:nvPr/>
          </p:nvSpPr>
          <p:spPr>
            <a:xfrm rot="10800000">
              <a:off x="1170378" y="4470921"/>
              <a:ext cx="1869063" cy="1417618"/>
            </a:xfrm>
            <a:prstGeom prst="round2SameRect">
              <a:avLst>
                <a:gd name="adj1" fmla="val 10924"/>
                <a:gd name="adj2" fmla="val 0"/>
              </a:avLst>
            </a:prstGeom>
            <a:gradFill>
              <a:gsLst>
                <a:gs pos="0">
                  <a:schemeClr val="accent1">
                    <a:tint val="100000"/>
                    <a:shade val="100000"/>
                    <a:satMod val="130000"/>
                    <a:alpha val="17000"/>
                  </a:schemeClr>
                </a:gs>
                <a:gs pos="100000">
                  <a:schemeClr val="accent1">
                    <a:tint val="50000"/>
                    <a:shade val="100000"/>
                    <a:satMod val="350000"/>
                  </a:schemeClr>
                </a:gs>
              </a:gsLs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800"/>
            </a:p>
          </p:txBody>
        </p:sp>
        <p:cxnSp>
          <p:nvCxnSpPr>
            <p:cNvPr id="49" name="Straight Connector 48"/>
            <p:cNvCxnSpPr/>
            <p:nvPr/>
          </p:nvCxnSpPr>
          <p:spPr>
            <a:xfrm>
              <a:off x="1988438" y="2552603"/>
              <a:ext cx="0" cy="198744"/>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a:off x="2119320" y="2490890"/>
              <a:ext cx="0" cy="347802"/>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2051367" y="2326563"/>
              <a:ext cx="383440" cy="424784"/>
            </a:xfrm>
            <a:prstGeom prst="rect">
              <a:avLst/>
            </a:prstGeom>
            <a:noFill/>
          </p:spPr>
          <p:txBody>
            <a:bodyPr wrap="square" rtlCol="0">
              <a:spAutoFit/>
            </a:bodyPr>
            <a:lstStyle/>
            <a:p>
              <a:r>
                <a:rPr lang="en-GB" sz="1400" smtClean="0"/>
                <a:t>+</a:t>
              </a:r>
              <a:endParaRPr lang="en-GB" sz="1400"/>
            </a:p>
          </p:txBody>
        </p:sp>
        <p:sp>
          <p:nvSpPr>
            <p:cNvPr id="52" name="TextBox 51"/>
            <p:cNvSpPr txBox="1"/>
            <p:nvPr/>
          </p:nvSpPr>
          <p:spPr>
            <a:xfrm>
              <a:off x="1727495" y="2276872"/>
              <a:ext cx="383440" cy="424784"/>
            </a:xfrm>
            <a:prstGeom prst="rect">
              <a:avLst/>
            </a:prstGeom>
            <a:noFill/>
          </p:spPr>
          <p:txBody>
            <a:bodyPr wrap="square" rtlCol="0">
              <a:spAutoFit/>
            </a:bodyPr>
            <a:lstStyle/>
            <a:p>
              <a:r>
                <a:rPr lang="en-GB" sz="1400" smtClean="0"/>
                <a:t>_</a:t>
              </a:r>
              <a:endParaRPr lang="en-GB" sz="1400"/>
            </a:p>
          </p:txBody>
        </p:sp>
        <p:sp>
          <p:nvSpPr>
            <p:cNvPr id="53" name="Oval 52"/>
            <p:cNvSpPr>
              <a:spLocks noChangeAspect="1"/>
            </p:cNvSpPr>
            <p:nvPr/>
          </p:nvSpPr>
          <p:spPr>
            <a:xfrm>
              <a:off x="1343822" y="4691637"/>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smtClean="0"/>
                <a:t>+</a:t>
              </a:r>
              <a:endParaRPr lang="en-GB" sz="2000" dirty="0"/>
            </a:p>
          </p:txBody>
        </p:sp>
        <p:sp>
          <p:nvSpPr>
            <p:cNvPr id="54" name="Oval 53"/>
            <p:cNvSpPr>
              <a:spLocks noChangeAspect="1"/>
            </p:cNvSpPr>
            <p:nvPr/>
          </p:nvSpPr>
          <p:spPr>
            <a:xfrm>
              <a:off x="2160099" y="4516729"/>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smtClean="0"/>
                <a:t>-</a:t>
              </a:r>
              <a:endParaRPr lang="en-GB" sz="2000" dirty="0"/>
            </a:p>
          </p:txBody>
        </p:sp>
        <p:sp>
          <p:nvSpPr>
            <p:cNvPr id="55" name="Oval 54"/>
            <p:cNvSpPr>
              <a:spLocks noChangeAspect="1"/>
            </p:cNvSpPr>
            <p:nvPr/>
          </p:nvSpPr>
          <p:spPr>
            <a:xfrm>
              <a:off x="2206609" y="5461543"/>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smtClean="0"/>
                <a:t>-</a:t>
              </a:r>
              <a:endParaRPr lang="en-GB" sz="2000" dirty="0"/>
            </a:p>
          </p:txBody>
        </p:sp>
        <p:sp>
          <p:nvSpPr>
            <p:cNvPr id="56" name="Oval 55"/>
            <p:cNvSpPr>
              <a:spLocks noChangeAspect="1"/>
            </p:cNvSpPr>
            <p:nvPr/>
          </p:nvSpPr>
          <p:spPr>
            <a:xfrm>
              <a:off x="2261458" y="4883757"/>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smtClean="0"/>
                <a:t>-</a:t>
              </a:r>
              <a:endParaRPr lang="en-GB" sz="2000" dirty="0"/>
            </a:p>
          </p:txBody>
        </p:sp>
        <p:sp>
          <p:nvSpPr>
            <p:cNvPr id="57" name="Oval 56"/>
            <p:cNvSpPr>
              <a:spLocks noChangeAspect="1"/>
            </p:cNvSpPr>
            <p:nvPr/>
          </p:nvSpPr>
          <p:spPr>
            <a:xfrm>
              <a:off x="2459832" y="4590980"/>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smtClean="0"/>
                <a:t>-</a:t>
              </a:r>
              <a:endParaRPr lang="en-GB" sz="2000" dirty="0"/>
            </a:p>
          </p:txBody>
        </p:sp>
        <p:sp>
          <p:nvSpPr>
            <p:cNvPr id="58" name="Oval 57"/>
            <p:cNvSpPr>
              <a:spLocks noChangeAspect="1"/>
            </p:cNvSpPr>
            <p:nvPr/>
          </p:nvSpPr>
          <p:spPr>
            <a:xfrm>
              <a:off x="2499828" y="5176533"/>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2000" dirty="0" smtClean="0"/>
                <a:t>-</a:t>
              </a:r>
              <a:endParaRPr lang="en-GB" sz="2000" dirty="0"/>
            </a:p>
          </p:txBody>
        </p:sp>
        <p:sp>
          <p:nvSpPr>
            <p:cNvPr id="59" name="Oval 58"/>
            <p:cNvSpPr>
              <a:spLocks noChangeAspect="1"/>
            </p:cNvSpPr>
            <p:nvPr/>
          </p:nvSpPr>
          <p:spPr>
            <a:xfrm>
              <a:off x="1649417" y="5507961"/>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smtClean="0"/>
                <a:t>+</a:t>
              </a:r>
              <a:endParaRPr lang="en-GB" sz="2000" dirty="0"/>
            </a:p>
          </p:txBody>
        </p:sp>
        <p:sp>
          <p:nvSpPr>
            <p:cNvPr id="60" name="Oval 59"/>
            <p:cNvSpPr>
              <a:spLocks noChangeAspect="1"/>
            </p:cNvSpPr>
            <p:nvPr/>
          </p:nvSpPr>
          <p:spPr>
            <a:xfrm>
              <a:off x="1343822" y="5300748"/>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smtClean="0"/>
                <a:t>+</a:t>
              </a:r>
              <a:endParaRPr lang="en-GB" sz="2000" dirty="0"/>
            </a:p>
          </p:txBody>
        </p:sp>
        <p:sp>
          <p:nvSpPr>
            <p:cNvPr id="61" name="Oval 60"/>
            <p:cNvSpPr>
              <a:spLocks noChangeAspect="1"/>
            </p:cNvSpPr>
            <p:nvPr/>
          </p:nvSpPr>
          <p:spPr>
            <a:xfrm>
              <a:off x="1594400" y="4968983"/>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smtClean="0"/>
                <a:t>+</a:t>
              </a:r>
              <a:endParaRPr lang="en-GB" sz="2000" dirty="0"/>
            </a:p>
          </p:txBody>
        </p:sp>
        <p:sp>
          <p:nvSpPr>
            <p:cNvPr id="62" name="Oval 61"/>
            <p:cNvSpPr>
              <a:spLocks noChangeAspect="1"/>
            </p:cNvSpPr>
            <p:nvPr/>
          </p:nvSpPr>
          <p:spPr>
            <a:xfrm>
              <a:off x="1660304" y="4515412"/>
              <a:ext cx="239623" cy="24843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2000" dirty="0" smtClean="0"/>
                <a:t>+</a:t>
              </a:r>
              <a:endParaRPr lang="en-GB" sz="2000" dirty="0"/>
            </a:p>
          </p:txBody>
        </p:sp>
        <p:sp>
          <p:nvSpPr>
            <p:cNvPr id="10" name="TextBox 9"/>
            <p:cNvSpPr txBox="1"/>
            <p:nvPr/>
          </p:nvSpPr>
          <p:spPr>
            <a:xfrm>
              <a:off x="1064148" y="2118106"/>
              <a:ext cx="2634241" cy="338554"/>
            </a:xfrm>
            <a:prstGeom prst="rect">
              <a:avLst/>
            </a:prstGeom>
            <a:noFill/>
          </p:spPr>
          <p:txBody>
            <a:bodyPr wrap="square" rtlCol="0">
              <a:spAutoFit/>
            </a:bodyPr>
            <a:lstStyle/>
            <a:p>
              <a:r>
                <a:rPr lang="en-GB" sz="1600" dirty="0" smtClean="0"/>
                <a:t>Direct current (DC</a:t>
              </a:r>
              <a:r>
                <a:rPr lang="en-GB" sz="1600" smtClean="0"/>
                <a:t>) supply</a:t>
              </a:r>
              <a:endParaRPr lang="en-GB" sz="1600"/>
            </a:p>
          </p:txBody>
        </p:sp>
        <p:sp>
          <p:nvSpPr>
            <p:cNvPr id="32" name="TextBox 31"/>
            <p:cNvSpPr txBox="1"/>
            <p:nvPr/>
          </p:nvSpPr>
          <p:spPr>
            <a:xfrm>
              <a:off x="2958551" y="2653461"/>
              <a:ext cx="1163688" cy="830997"/>
            </a:xfrm>
            <a:prstGeom prst="rect">
              <a:avLst/>
            </a:prstGeom>
            <a:noFill/>
          </p:spPr>
          <p:txBody>
            <a:bodyPr wrap="square" rtlCol="0">
              <a:spAutoFit/>
            </a:bodyPr>
            <a:lstStyle/>
            <a:p>
              <a:pPr algn="ctr"/>
              <a:r>
                <a:rPr lang="en-GB" sz="1600" smtClean="0"/>
                <a:t>Positive electrode (anode)</a:t>
              </a:r>
              <a:endParaRPr lang="en-GB" sz="1600" dirty="0"/>
            </a:p>
          </p:txBody>
        </p:sp>
        <p:sp>
          <p:nvSpPr>
            <p:cNvPr id="33" name="TextBox 32"/>
            <p:cNvSpPr txBox="1"/>
            <p:nvPr/>
          </p:nvSpPr>
          <p:spPr>
            <a:xfrm>
              <a:off x="28848" y="2608574"/>
              <a:ext cx="1163688" cy="830997"/>
            </a:xfrm>
            <a:prstGeom prst="rect">
              <a:avLst/>
            </a:prstGeom>
            <a:noFill/>
          </p:spPr>
          <p:txBody>
            <a:bodyPr wrap="square" rtlCol="0">
              <a:spAutoFit/>
            </a:bodyPr>
            <a:lstStyle/>
            <a:p>
              <a:pPr algn="ctr"/>
              <a:r>
                <a:rPr lang="en-GB" sz="1600" dirty="0" smtClean="0"/>
                <a:t>Negative electrode (cathode)</a:t>
              </a:r>
              <a:endParaRPr lang="en-GB" sz="1600" dirty="0"/>
            </a:p>
          </p:txBody>
        </p:sp>
        <p:cxnSp>
          <p:nvCxnSpPr>
            <p:cNvPr id="34" name="Straight Arrow Connector 33"/>
            <p:cNvCxnSpPr>
              <a:stCxn id="32" idx="1"/>
            </p:cNvCxnSpPr>
            <p:nvPr/>
          </p:nvCxnSpPr>
          <p:spPr>
            <a:xfrm flipH="1">
              <a:off x="2699455" y="3068960"/>
              <a:ext cx="259096" cy="576064"/>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33" idx="3"/>
            </p:cNvCxnSpPr>
            <p:nvPr/>
          </p:nvCxnSpPr>
          <p:spPr>
            <a:xfrm>
              <a:off x="1192536" y="3024073"/>
              <a:ext cx="216251" cy="596565"/>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63" name="Picture 62"/>
            <p:cNvPicPr>
              <a:picLocks noChangeAspect="1"/>
            </p:cNvPicPr>
            <p:nvPr/>
          </p:nvPicPr>
          <p:blipFill>
            <a:blip r:embed="rId3"/>
            <a:stretch>
              <a:fillRect/>
            </a:stretch>
          </p:blipFill>
          <p:spPr>
            <a:xfrm>
              <a:off x="912510" y="3466443"/>
              <a:ext cx="2151856" cy="2501844"/>
            </a:xfrm>
            <a:prstGeom prst="rect">
              <a:avLst/>
            </a:prstGeom>
          </p:spPr>
        </p:pic>
      </p:grpSp>
    </p:spTree>
    <p:extLst>
      <p:ext uri="{BB962C8B-B14F-4D97-AF65-F5344CB8AC3E}">
        <p14:creationId xmlns:p14="http://schemas.microsoft.com/office/powerpoint/2010/main" val="12210317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Electrolysis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45581" y="344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87470" y="625372"/>
            <a:ext cx="8949025" cy="1184940"/>
          </a:xfrm>
          <a:prstGeom prst="rect">
            <a:avLst/>
          </a:prstGeom>
          <a:noFill/>
          <a:effectLst/>
        </p:spPr>
        <p:txBody>
          <a:bodyPr wrap="square" rtlCol="0">
            <a:spAutoFit/>
          </a:bodyPr>
          <a:lstStyle/>
          <a:p>
            <a:pPr algn="ctr"/>
            <a:r>
              <a:rPr lang="en-GB" sz="2000" dirty="0"/>
              <a:t>When an </a:t>
            </a:r>
            <a:r>
              <a:rPr lang="en-GB" sz="2000" b="1" dirty="0"/>
              <a:t>ionic compound </a:t>
            </a:r>
            <a:r>
              <a:rPr lang="en-GB" sz="2000" dirty="0"/>
              <a:t>is electrolysed in a </a:t>
            </a:r>
            <a:r>
              <a:rPr lang="en-GB" sz="2000" b="1" dirty="0"/>
              <a:t>molten</a:t>
            </a:r>
            <a:r>
              <a:rPr lang="en-GB" sz="2000" dirty="0"/>
              <a:t> state using inert electrodes, the </a:t>
            </a:r>
            <a:r>
              <a:rPr lang="en-GB" sz="2000" b="1" dirty="0"/>
              <a:t>metal</a:t>
            </a:r>
            <a:r>
              <a:rPr lang="en-GB" sz="2000" dirty="0"/>
              <a:t> is produced at the</a:t>
            </a:r>
            <a:r>
              <a:rPr lang="en-GB" sz="2000" b="1" dirty="0"/>
              <a:t> cathode </a:t>
            </a:r>
            <a:r>
              <a:rPr lang="en-GB" sz="2000" dirty="0"/>
              <a:t>and the </a:t>
            </a:r>
            <a:r>
              <a:rPr lang="en-GB" sz="2000" b="1" dirty="0" smtClean="0"/>
              <a:t>non-metal </a:t>
            </a:r>
            <a:r>
              <a:rPr lang="en-GB" sz="2000" dirty="0"/>
              <a:t>is produced at the </a:t>
            </a:r>
            <a:r>
              <a:rPr lang="en-GB" sz="2000" b="1" dirty="0"/>
              <a:t>anode</a:t>
            </a:r>
            <a:r>
              <a:rPr lang="en-GB" sz="2000" dirty="0"/>
              <a:t>.</a:t>
            </a:r>
          </a:p>
          <a:p>
            <a:pPr algn="ctr"/>
            <a:endParaRPr lang="en-GB" sz="1100" dirty="0"/>
          </a:p>
          <a:p>
            <a:pPr algn="ctr"/>
            <a:r>
              <a:rPr lang="en-GB" sz="2000" b="1" dirty="0">
                <a:ln w="0"/>
                <a:solidFill>
                  <a:schemeClr val="accent6">
                    <a:lumMod val="75000"/>
                  </a:schemeClr>
                </a:solidFill>
                <a:effectLst>
                  <a:outerShdw blurRad="38100" dist="25400" dir="5400000" algn="ctr" rotWithShape="0">
                    <a:srgbClr val="6E747A">
                      <a:alpha val="43000"/>
                    </a:srgbClr>
                  </a:outerShdw>
                </a:effectLst>
              </a:rPr>
              <a:t>lead bromide </a:t>
            </a:r>
            <a:r>
              <a:rPr lang="en-GB" sz="2000" b="1" dirty="0">
                <a:ln w="0"/>
                <a:solidFill>
                  <a:schemeClr val="accent6">
                    <a:lumMod val="75000"/>
                  </a:schemeClr>
                </a:solidFill>
                <a:effectLst>
                  <a:outerShdw blurRad="38100" dist="25400" dir="5400000" algn="ctr" rotWithShape="0">
                    <a:srgbClr val="6E747A">
                      <a:alpha val="43000"/>
                    </a:srgbClr>
                  </a:outerShdw>
                </a:effectLst>
                <a:sym typeface="Wingdings" panose="05000000000000000000" pitchFamily="2" charset="2"/>
              </a:rPr>
              <a:t> lead + bromine</a:t>
            </a:r>
            <a:endParaRPr lang="en-GB" sz="2000" b="1" dirty="0">
              <a:ln w="0"/>
              <a:solidFill>
                <a:schemeClr val="accent6">
                  <a:lumMod val="75000"/>
                </a:schemeClr>
              </a:solidFill>
              <a:effectLst>
                <a:outerShdw blurRad="38100" dist="25400" dir="5400000" algn="ctr" rotWithShape="0">
                  <a:srgbClr val="6E747A">
                    <a:alpha val="43000"/>
                  </a:srgbClr>
                </a:outerShdw>
              </a:effectLst>
            </a:endParaRPr>
          </a:p>
        </p:txBody>
      </p:sp>
      <p:sp>
        <p:nvSpPr>
          <p:cNvPr id="8" name="TextBox 7">
            <a:extLst>
              <a:ext uri="{FF2B5EF4-FFF2-40B4-BE49-F238E27FC236}">
                <a16:creationId xmlns:a16="http://schemas.microsoft.com/office/drawing/2014/main" xmlns="" id="{2DAC164A-699B-4BBE-BF6D-D517E40DA52B}"/>
              </a:ext>
            </a:extLst>
          </p:cNvPr>
          <p:cNvSpPr txBox="1"/>
          <p:nvPr/>
        </p:nvSpPr>
        <p:spPr>
          <a:xfrm>
            <a:off x="87470" y="1605874"/>
            <a:ext cx="2651685" cy="1631216"/>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sz="2000" b="1" dirty="0"/>
              <a:t>Higher: </a:t>
            </a:r>
            <a:r>
              <a:rPr lang="en-GB" sz="2000" dirty="0"/>
              <a:t>You can represent what is happening at each electrode using </a:t>
            </a:r>
            <a:r>
              <a:rPr lang="en-GB" sz="2000" b="1" dirty="0"/>
              <a:t>half equations</a:t>
            </a:r>
            <a:r>
              <a:rPr lang="en-GB" sz="2000" dirty="0"/>
              <a:t>.</a:t>
            </a:r>
          </a:p>
        </p:txBody>
      </p:sp>
      <p:sp>
        <p:nvSpPr>
          <p:cNvPr id="9" name="TextBox 8">
            <a:extLst>
              <a:ext uri="{FF2B5EF4-FFF2-40B4-BE49-F238E27FC236}">
                <a16:creationId xmlns:a16="http://schemas.microsoft.com/office/drawing/2014/main" xmlns="" id="{ABEF5BE8-1272-49AF-A02C-A315EF12FCA2}"/>
              </a:ext>
            </a:extLst>
          </p:cNvPr>
          <p:cNvSpPr txBox="1"/>
          <p:nvPr/>
        </p:nvSpPr>
        <p:spPr>
          <a:xfrm>
            <a:off x="4986670" y="5338063"/>
            <a:ext cx="3689786" cy="923330"/>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b="1" dirty="0"/>
              <a:t>Higher:</a:t>
            </a:r>
          </a:p>
          <a:p>
            <a:pPr algn="ctr"/>
            <a:r>
              <a:rPr lang="en-GB" dirty="0"/>
              <a:t>At the anode</a:t>
            </a:r>
          </a:p>
          <a:p>
            <a:pPr algn="ctr"/>
            <a:r>
              <a:rPr lang="en-GB" b="1" dirty="0">
                <a:solidFill>
                  <a:schemeClr val="accent6">
                    <a:lumMod val="75000"/>
                  </a:schemeClr>
                </a:solidFill>
                <a:effectLst>
                  <a:outerShdw blurRad="38100" dist="38100" dir="2700000" algn="tl">
                    <a:srgbClr val="000000">
                      <a:alpha val="43137"/>
                    </a:srgbClr>
                  </a:outerShdw>
                </a:effectLst>
              </a:rPr>
              <a:t>2Br </a:t>
            </a:r>
            <a:r>
              <a:rPr lang="en-GB" b="1" baseline="30000" dirty="0">
                <a:solidFill>
                  <a:schemeClr val="accent6">
                    <a:lumMod val="75000"/>
                  </a:schemeClr>
                </a:solidFill>
                <a:effectLst>
                  <a:outerShdw blurRad="38100" dist="38100" dir="2700000" algn="tl">
                    <a:srgbClr val="000000">
                      <a:alpha val="43137"/>
                    </a:srgbClr>
                  </a:outerShdw>
                </a:effectLst>
              </a:rPr>
              <a:t>-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Br</a:t>
            </a:r>
            <a:r>
              <a:rPr lang="en-GB"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+ 2e </a:t>
            </a:r>
            <a:r>
              <a:rPr lang="en-GB" b="1" baseline="30000" dirty="0" smtClean="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b="1" dirty="0" smtClean="0">
                <a:solidFill>
                  <a:schemeClr val="accent6">
                    <a:lumMod val="75000"/>
                  </a:schemeClr>
                </a:solidFill>
                <a:effectLst>
                  <a:outerShdw blurRad="38100" dist="38100" dir="2700000" algn="tl">
                    <a:srgbClr val="000000">
                      <a:alpha val="43137"/>
                    </a:srgbClr>
                  </a:outerShdw>
                </a:effectLst>
              </a:rPr>
              <a:t>or 2Br </a:t>
            </a:r>
            <a:r>
              <a:rPr lang="en-GB" b="1" baseline="30000" dirty="0">
                <a:solidFill>
                  <a:schemeClr val="accent6">
                    <a:lumMod val="75000"/>
                  </a:schemeClr>
                </a:solidFill>
                <a:effectLst>
                  <a:outerShdw blurRad="38100" dist="38100" dir="2700000" algn="tl">
                    <a:srgbClr val="000000">
                      <a:alpha val="43137"/>
                    </a:srgbClr>
                  </a:outerShdw>
                </a:effectLst>
              </a:rPr>
              <a:t>-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- 2e </a:t>
            </a:r>
            <a:r>
              <a:rPr lang="en-GB"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Br</a:t>
            </a:r>
            <a:r>
              <a:rPr lang="en-GB"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a:t>
            </a:r>
            <a:endParaRPr lang="en-GB" b="1" baseline="30000" dirty="0">
              <a:solidFill>
                <a:schemeClr val="accent6">
                  <a:lumMod val="75000"/>
                </a:schemeClr>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xmlns="" id="{DFFD3F56-D97F-4F5B-B8FF-BE4BCD1FD28B}"/>
              </a:ext>
            </a:extLst>
          </p:cNvPr>
          <p:cNvSpPr txBox="1"/>
          <p:nvPr/>
        </p:nvSpPr>
        <p:spPr>
          <a:xfrm>
            <a:off x="1025999" y="5338063"/>
            <a:ext cx="1766830" cy="923330"/>
          </a:xfrm>
          <a:prstGeom prst="rect">
            <a:avLst/>
          </a:prstGeom>
          <a:solidFill>
            <a:schemeClr val="accent6">
              <a:lumMod val="20000"/>
              <a:lumOff val="80000"/>
            </a:schemeClr>
          </a:solidFill>
          <a:ln>
            <a:solidFill>
              <a:schemeClr val="accent6">
                <a:lumMod val="75000"/>
              </a:schemeClr>
            </a:solidFill>
          </a:ln>
        </p:spPr>
        <p:txBody>
          <a:bodyPr wrap="none" rtlCol="0">
            <a:spAutoFit/>
          </a:bodyPr>
          <a:lstStyle/>
          <a:p>
            <a:pPr algn="ctr"/>
            <a:r>
              <a:rPr lang="en-GB" b="1" dirty="0"/>
              <a:t>Higher:</a:t>
            </a:r>
          </a:p>
          <a:p>
            <a:pPr algn="ctr"/>
            <a:r>
              <a:rPr lang="en-GB" dirty="0"/>
              <a:t>At the cathode</a:t>
            </a:r>
          </a:p>
          <a:p>
            <a:pPr algn="ctr"/>
            <a:r>
              <a:rPr lang="en-GB" b="1" dirty="0" err="1">
                <a:solidFill>
                  <a:schemeClr val="accent6">
                    <a:lumMod val="75000"/>
                  </a:schemeClr>
                </a:solidFill>
                <a:effectLst>
                  <a:outerShdw blurRad="38100" dist="38100" dir="2700000" algn="tl">
                    <a:srgbClr val="000000">
                      <a:alpha val="43137"/>
                    </a:srgbClr>
                  </a:outerShdw>
                </a:effectLst>
              </a:rPr>
              <a:t>Pb</a:t>
            </a:r>
            <a:r>
              <a:rPr lang="en-GB" b="1" dirty="0">
                <a:solidFill>
                  <a:schemeClr val="accent6">
                    <a:lumMod val="75000"/>
                  </a:schemeClr>
                </a:solidFill>
                <a:effectLst>
                  <a:outerShdw blurRad="38100" dist="38100" dir="2700000" algn="tl">
                    <a:srgbClr val="000000">
                      <a:alpha val="43137"/>
                    </a:srgbClr>
                  </a:outerShdw>
                </a:effectLst>
              </a:rPr>
              <a:t> </a:t>
            </a:r>
            <a:r>
              <a:rPr lang="en-GB" b="1" baseline="30000" dirty="0">
                <a:solidFill>
                  <a:schemeClr val="accent6">
                    <a:lumMod val="75000"/>
                  </a:schemeClr>
                </a:solidFill>
                <a:effectLst>
                  <a:outerShdw blurRad="38100" dist="38100" dir="2700000" algn="tl">
                    <a:srgbClr val="000000">
                      <a:alpha val="43137"/>
                    </a:srgbClr>
                  </a:outerShdw>
                </a:effectLst>
              </a:rPr>
              <a:t>2+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+ 2e </a:t>
            </a:r>
            <a:r>
              <a:rPr lang="en-GB"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b="1" dirty="0" err="1">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Pb</a:t>
            </a:r>
            <a:endPar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endParaRPr>
          </a:p>
        </p:txBody>
      </p:sp>
      <p:grpSp>
        <p:nvGrpSpPr>
          <p:cNvPr id="39" name="Group 38"/>
          <p:cNvGrpSpPr/>
          <p:nvPr/>
        </p:nvGrpSpPr>
        <p:grpSpPr>
          <a:xfrm>
            <a:off x="3657161" y="1629027"/>
            <a:ext cx="1616428" cy="2713014"/>
            <a:chOff x="5852018" y="1681453"/>
            <a:chExt cx="1616428" cy="2713014"/>
          </a:xfrm>
        </p:grpSpPr>
        <p:sp>
          <p:nvSpPr>
            <p:cNvPr id="18" name="Rectangle 17"/>
            <p:cNvSpPr/>
            <p:nvPr/>
          </p:nvSpPr>
          <p:spPr>
            <a:xfrm>
              <a:off x="6381110" y="1988840"/>
              <a:ext cx="663267" cy="320553"/>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 name="Rectangle 18"/>
            <p:cNvSpPr/>
            <p:nvPr/>
          </p:nvSpPr>
          <p:spPr>
            <a:xfrm>
              <a:off x="6523071" y="2162088"/>
              <a:ext cx="409192" cy="3725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Rectangle 12"/>
            <p:cNvSpPr/>
            <p:nvPr/>
          </p:nvSpPr>
          <p:spPr>
            <a:xfrm>
              <a:off x="6282795" y="2229608"/>
              <a:ext cx="238880" cy="1919445"/>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 name="Rectangle 19"/>
            <p:cNvSpPr/>
            <p:nvPr/>
          </p:nvSpPr>
          <p:spPr>
            <a:xfrm>
              <a:off x="6660233" y="1872134"/>
              <a:ext cx="98315" cy="18871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Rectangle 14"/>
            <p:cNvSpPr/>
            <p:nvPr/>
          </p:nvSpPr>
          <p:spPr>
            <a:xfrm>
              <a:off x="6925408" y="2229607"/>
              <a:ext cx="238880" cy="1919445"/>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ound Same Side Corner Rectangle 10"/>
            <p:cNvSpPr/>
            <p:nvPr/>
          </p:nvSpPr>
          <p:spPr>
            <a:xfrm rot="10800000">
              <a:off x="6045723" y="3306764"/>
              <a:ext cx="1404000" cy="1027134"/>
            </a:xfrm>
            <a:prstGeom prst="round2SameRect">
              <a:avLst>
                <a:gd name="adj1" fmla="val 10924"/>
                <a:gd name="adj2" fmla="val 0"/>
              </a:avLst>
            </a:prstGeom>
            <a:gradFill>
              <a:gsLst>
                <a:gs pos="0">
                  <a:schemeClr val="accent1">
                    <a:tint val="100000"/>
                    <a:shade val="100000"/>
                    <a:satMod val="130000"/>
                    <a:alpha val="17000"/>
                  </a:schemeClr>
                </a:gs>
                <a:gs pos="100000">
                  <a:schemeClr val="accent1">
                    <a:tint val="50000"/>
                    <a:shade val="100000"/>
                    <a:satMod val="350000"/>
                  </a:schemeClr>
                </a:gs>
              </a:gsLs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22" name="Straight Connector 21"/>
            <p:cNvCxnSpPr/>
            <p:nvPr/>
          </p:nvCxnSpPr>
          <p:spPr>
            <a:xfrm>
              <a:off x="6660232" y="1916848"/>
              <a:ext cx="0" cy="14400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6758548" y="1872134"/>
              <a:ext cx="0" cy="25200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707503" y="1753071"/>
              <a:ext cx="288032" cy="307777"/>
            </a:xfrm>
            <a:prstGeom prst="rect">
              <a:avLst/>
            </a:prstGeom>
            <a:noFill/>
          </p:spPr>
          <p:txBody>
            <a:bodyPr wrap="square" rtlCol="0">
              <a:spAutoFit/>
            </a:bodyPr>
            <a:lstStyle/>
            <a:p>
              <a:r>
                <a:rPr lang="en-GB" sz="1400" smtClean="0"/>
                <a:t>+</a:t>
              </a:r>
              <a:endParaRPr lang="en-GB" sz="1400"/>
            </a:p>
          </p:txBody>
        </p:sp>
        <p:sp>
          <p:nvSpPr>
            <p:cNvPr id="26" name="TextBox 25"/>
            <p:cNvSpPr txBox="1"/>
            <p:nvPr/>
          </p:nvSpPr>
          <p:spPr>
            <a:xfrm>
              <a:off x="6423247" y="1681453"/>
              <a:ext cx="288032" cy="307777"/>
            </a:xfrm>
            <a:prstGeom prst="rect">
              <a:avLst/>
            </a:prstGeom>
            <a:noFill/>
          </p:spPr>
          <p:txBody>
            <a:bodyPr wrap="square" rtlCol="0">
              <a:spAutoFit/>
            </a:bodyPr>
            <a:lstStyle/>
            <a:p>
              <a:r>
                <a:rPr lang="en-GB" sz="1400" smtClean="0"/>
                <a:t>_</a:t>
              </a:r>
              <a:endParaRPr lang="en-GB" sz="1400"/>
            </a:p>
          </p:txBody>
        </p:sp>
        <p:sp>
          <p:nvSpPr>
            <p:cNvPr id="27" name="Oval 26"/>
            <p:cNvSpPr>
              <a:spLocks noChangeAspect="1"/>
            </p:cNvSpPr>
            <p:nvPr/>
          </p:nvSpPr>
          <p:spPr>
            <a:xfrm>
              <a:off x="6176010" y="3466684"/>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smtClean="0"/>
                <a:t>+</a:t>
              </a:r>
              <a:endParaRPr lang="en-GB" sz="1400" dirty="0"/>
            </a:p>
          </p:txBody>
        </p:sp>
        <p:sp>
          <p:nvSpPr>
            <p:cNvPr id="29" name="Oval 28"/>
            <p:cNvSpPr>
              <a:spLocks noChangeAspect="1"/>
            </p:cNvSpPr>
            <p:nvPr/>
          </p:nvSpPr>
          <p:spPr>
            <a:xfrm>
              <a:off x="6789180" y="3339954"/>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smtClean="0"/>
                <a:t>-</a:t>
              </a:r>
              <a:endParaRPr lang="en-GB" sz="1400" dirty="0"/>
            </a:p>
          </p:txBody>
        </p:sp>
        <p:sp>
          <p:nvSpPr>
            <p:cNvPr id="30" name="Oval 29"/>
            <p:cNvSpPr>
              <a:spLocks noChangeAspect="1"/>
            </p:cNvSpPr>
            <p:nvPr/>
          </p:nvSpPr>
          <p:spPr>
            <a:xfrm>
              <a:off x="6824117" y="4024519"/>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smtClean="0"/>
                <a:t>-</a:t>
              </a:r>
              <a:endParaRPr lang="en-GB" sz="1400" dirty="0"/>
            </a:p>
          </p:txBody>
        </p:sp>
        <p:sp>
          <p:nvSpPr>
            <p:cNvPr id="31" name="Oval 30"/>
            <p:cNvSpPr>
              <a:spLocks noChangeAspect="1"/>
            </p:cNvSpPr>
            <p:nvPr/>
          </p:nvSpPr>
          <p:spPr>
            <a:xfrm>
              <a:off x="6865319" y="3605884"/>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smtClean="0"/>
                <a:t>-</a:t>
              </a:r>
              <a:endParaRPr lang="en-GB" sz="1400" dirty="0"/>
            </a:p>
          </p:txBody>
        </p:sp>
        <p:sp>
          <p:nvSpPr>
            <p:cNvPr id="32" name="Oval 31"/>
            <p:cNvSpPr>
              <a:spLocks noChangeAspect="1"/>
            </p:cNvSpPr>
            <p:nvPr/>
          </p:nvSpPr>
          <p:spPr>
            <a:xfrm>
              <a:off x="7014333" y="3393753"/>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smtClean="0"/>
                <a:t>-</a:t>
              </a:r>
              <a:endParaRPr lang="en-GB" sz="1400" dirty="0"/>
            </a:p>
          </p:txBody>
        </p:sp>
        <p:sp>
          <p:nvSpPr>
            <p:cNvPr id="33" name="Oval 32"/>
            <p:cNvSpPr>
              <a:spLocks noChangeAspect="1"/>
            </p:cNvSpPr>
            <p:nvPr/>
          </p:nvSpPr>
          <p:spPr>
            <a:xfrm>
              <a:off x="7044377" y="3818015"/>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smtClean="0"/>
                <a:t>-</a:t>
              </a:r>
              <a:endParaRPr lang="en-GB" sz="1400" dirty="0"/>
            </a:p>
          </p:txBody>
        </p:sp>
        <p:sp>
          <p:nvSpPr>
            <p:cNvPr id="35" name="Oval 34"/>
            <p:cNvSpPr>
              <a:spLocks noChangeAspect="1"/>
            </p:cNvSpPr>
            <p:nvPr/>
          </p:nvSpPr>
          <p:spPr>
            <a:xfrm>
              <a:off x="6405567" y="4058151"/>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smtClean="0"/>
                <a:t>+</a:t>
              </a:r>
              <a:endParaRPr lang="en-GB" sz="1400" dirty="0"/>
            </a:p>
          </p:txBody>
        </p:sp>
        <p:sp>
          <p:nvSpPr>
            <p:cNvPr id="36" name="Oval 35"/>
            <p:cNvSpPr>
              <a:spLocks noChangeAspect="1"/>
            </p:cNvSpPr>
            <p:nvPr/>
          </p:nvSpPr>
          <p:spPr>
            <a:xfrm>
              <a:off x="6176010" y="3908015"/>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smtClean="0"/>
                <a:t>+</a:t>
              </a:r>
              <a:endParaRPr lang="en-GB" sz="1400" dirty="0"/>
            </a:p>
          </p:txBody>
        </p:sp>
        <p:sp>
          <p:nvSpPr>
            <p:cNvPr id="37" name="Oval 36"/>
            <p:cNvSpPr>
              <a:spLocks noChangeAspect="1"/>
            </p:cNvSpPr>
            <p:nvPr/>
          </p:nvSpPr>
          <p:spPr>
            <a:xfrm>
              <a:off x="6364239" y="3667635"/>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smtClean="0"/>
                <a:t>+</a:t>
              </a:r>
              <a:endParaRPr lang="en-GB" sz="1400" dirty="0"/>
            </a:p>
          </p:txBody>
        </p:sp>
        <p:sp>
          <p:nvSpPr>
            <p:cNvPr id="38" name="Oval 37"/>
            <p:cNvSpPr>
              <a:spLocks noChangeAspect="1"/>
            </p:cNvSpPr>
            <p:nvPr/>
          </p:nvSpPr>
          <p:spPr>
            <a:xfrm>
              <a:off x="6413745" y="3339000"/>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smtClean="0"/>
                <a:t>+</a:t>
              </a:r>
              <a:endParaRPr lang="en-GB" sz="1400" dirty="0"/>
            </a:p>
          </p:txBody>
        </p:sp>
        <p:pic>
          <p:nvPicPr>
            <p:cNvPr id="5" name="Picture 4"/>
            <p:cNvPicPr>
              <a:picLocks noChangeAspect="1"/>
            </p:cNvPicPr>
            <p:nvPr/>
          </p:nvPicPr>
          <p:blipFill>
            <a:blip r:embed="rId3"/>
            <a:stretch>
              <a:fillRect/>
            </a:stretch>
          </p:blipFill>
          <p:spPr>
            <a:xfrm>
              <a:off x="5852018" y="2581758"/>
              <a:ext cx="1616428" cy="1812709"/>
            </a:xfrm>
            <a:prstGeom prst="rect">
              <a:avLst/>
            </a:prstGeom>
          </p:spPr>
        </p:pic>
      </p:grpSp>
      <p:cxnSp>
        <p:nvCxnSpPr>
          <p:cNvPr id="41" name="Straight Arrow Connector 40"/>
          <p:cNvCxnSpPr/>
          <p:nvPr/>
        </p:nvCxnSpPr>
        <p:spPr>
          <a:xfrm flipH="1">
            <a:off x="5029521" y="4185725"/>
            <a:ext cx="586709" cy="7025"/>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660157" y="3783682"/>
            <a:ext cx="1584176" cy="584775"/>
          </a:xfrm>
          <a:prstGeom prst="rect">
            <a:avLst/>
          </a:prstGeom>
          <a:noFill/>
        </p:spPr>
        <p:txBody>
          <a:bodyPr wrap="square" rtlCol="0">
            <a:spAutoFit/>
          </a:bodyPr>
          <a:lstStyle/>
          <a:p>
            <a:pPr algn="ctr"/>
            <a:r>
              <a:rPr lang="en-GB" sz="1600" b="1" dirty="0" smtClean="0"/>
              <a:t>Molten lead (II) bromide</a:t>
            </a:r>
            <a:endParaRPr lang="en-GB" sz="1600" b="1" dirty="0"/>
          </a:p>
        </p:txBody>
      </p:sp>
      <p:sp>
        <p:nvSpPr>
          <p:cNvPr id="45" name="TextBox 44"/>
          <p:cNvSpPr txBox="1"/>
          <p:nvPr/>
        </p:nvSpPr>
        <p:spPr>
          <a:xfrm>
            <a:off x="5566221" y="3193534"/>
            <a:ext cx="1870862" cy="338554"/>
          </a:xfrm>
          <a:prstGeom prst="rect">
            <a:avLst/>
          </a:prstGeom>
          <a:noFill/>
        </p:spPr>
        <p:txBody>
          <a:bodyPr wrap="square" rtlCol="0">
            <a:spAutoFit/>
          </a:bodyPr>
          <a:lstStyle/>
          <a:p>
            <a:pPr algn="ctr"/>
            <a:r>
              <a:rPr lang="en-GB" sz="1600" b="1" dirty="0"/>
              <a:t>B</a:t>
            </a:r>
            <a:r>
              <a:rPr lang="en-GB" sz="1600" b="1" dirty="0" smtClean="0"/>
              <a:t>romide ions Br </a:t>
            </a:r>
            <a:r>
              <a:rPr lang="en-GB" sz="1600" b="1" baseline="30000" dirty="0" smtClean="0"/>
              <a:t>-</a:t>
            </a:r>
            <a:endParaRPr lang="en-GB" sz="1600" b="1" baseline="30000" dirty="0"/>
          </a:p>
        </p:txBody>
      </p:sp>
      <p:cxnSp>
        <p:nvCxnSpPr>
          <p:cNvPr id="46" name="Straight Arrow Connector 45"/>
          <p:cNvCxnSpPr/>
          <p:nvPr/>
        </p:nvCxnSpPr>
        <p:spPr>
          <a:xfrm flipH="1">
            <a:off x="5018567" y="3435687"/>
            <a:ext cx="597663" cy="0"/>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030011" y="3337722"/>
            <a:ext cx="1367215" cy="338554"/>
          </a:xfrm>
          <a:prstGeom prst="rect">
            <a:avLst/>
          </a:prstGeom>
          <a:noFill/>
        </p:spPr>
        <p:txBody>
          <a:bodyPr wrap="square" rtlCol="0">
            <a:spAutoFit/>
          </a:bodyPr>
          <a:lstStyle/>
          <a:p>
            <a:pPr algn="r"/>
            <a:r>
              <a:rPr lang="en-GB" sz="1600" b="1" dirty="0"/>
              <a:t>L</a:t>
            </a:r>
            <a:r>
              <a:rPr lang="en-GB" sz="1600" b="1" dirty="0" smtClean="0"/>
              <a:t>ead ions </a:t>
            </a:r>
            <a:r>
              <a:rPr lang="en-GB" sz="1600" b="1" dirty="0" err="1" smtClean="0"/>
              <a:t>Pb</a:t>
            </a:r>
            <a:r>
              <a:rPr lang="en-GB" sz="1600" b="1" dirty="0" smtClean="0"/>
              <a:t> </a:t>
            </a:r>
            <a:r>
              <a:rPr lang="en-GB" sz="1600" b="1" baseline="30000" dirty="0" smtClean="0"/>
              <a:t>+</a:t>
            </a:r>
            <a:endParaRPr lang="en-GB" sz="1600" b="1" baseline="30000" dirty="0"/>
          </a:p>
        </p:txBody>
      </p:sp>
      <p:cxnSp>
        <p:nvCxnSpPr>
          <p:cNvPr id="49" name="Straight Arrow Connector 48"/>
          <p:cNvCxnSpPr>
            <a:stCxn id="48" idx="3"/>
          </p:cNvCxnSpPr>
          <p:nvPr/>
        </p:nvCxnSpPr>
        <p:spPr>
          <a:xfrm flipV="1">
            <a:off x="3397226" y="3503035"/>
            <a:ext cx="539381" cy="3964"/>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02792" y="4490676"/>
            <a:ext cx="7852936" cy="70788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000" b="1" dirty="0" smtClean="0"/>
              <a:t> The positively charged lead ions </a:t>
            </a:r>
            <a:r>
              <a:rPr lang="en-GB" sz="2000" b="1" dirty="0" err="1" smtClean="0"/>
              <a:t>Pb</a:t>
            </a:r>
            <a:r>
              <a:rPr lang="en-GB" sz="2000" b="1" dirty="0" smtClean="0"/>
              <a:t> + (cations) are attracted to cathode and the negatively charged </a:t>
            </a:r>
            <a:r>
              <a:rPr lang="en-GB" sz="2000" b="1" dirty="0"/>
              <a:t>bromide ions Br </a:t>
            </a:r>
            <a:r>
              <a:rPr lang="en-GB" sz="2000" b="1" baseline="30000" dirty="0"/>
              <a:t>-</a:t>
            </a:r>
            <a:r>
              <a:rPr lang="en-GB" sz="2000" b="1" dirty="0" smtClean="0"/>
              <a:t> are attracted to the anode.</a:t>
            </a:r>
            <a:endParaRPr lang="en-GB" sz="2000" b="1" baseline="30000" dirty="0"/>
          </a:p>
        </p:txBody>
      </p:sp>
    </p:spTree>
    <p:extLst>
      <p:ext uri="{BB962C8B-B14F-4D97-AF65-F5344CB8AC3E}">
        <p14:creationId xmlns:p14="http://schemas.microsoft.com/office/powerpoint/2010/main" val="17903279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Electrolysis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15434" y="613785"/>
            <a:ext cx="9042674" cy="954107"/>
          </a:xfrm>
          <a:prstGeom prst="rect">
            <a:avLst/>
          </a:prstGeom>
          <a:noFill/>
        </p:spPr>
        <p:txBody>
          <a:bodyPr wrap="square" rtlCol="0">
            <a:spAutoFit/>
          </a:bodyPr>
          <a:lstStyle/>
          <a:p>
            <a:pPr algn="ctr"/>
            <a:r>
              <a:rPr lang="en-GB" sz="2000" dirty="0"/>
              <a:t>The </a:t>
            </a:r>
            <a:r>
              <a:rPr lang="en-GB" sz="2000" b="1" dirty="0"/>
              <a:t>ions</a:t>
            </a:r>
            <a:r>
              <a:rPr lang="en-GB" sz="2000" dirty="0"/>
              <a:t> discharged when an </a:t>
            </a:r>
            <a:r>
              <a:rPr lang="en-GB" sz="2000" b="1" dirty="0"/>
              <a:t>aqueous solution </a:t>
            </a:r>
            <a:r>
              <a:rPr lang="en-GB" sz="2000" dirty="0"/>
              <a:t>is electrolysed using inert electrodes depend on the relative</a:t>
            </a:r>
            <a:r>
              <a:rPr lang="en-GB" sz="2000" b="1" dirty="0"/>
              <a:t> reactivity </a:t>
            </a:r>
            <a:r>
              <a:rPr lang="en-GB" sz="2000" dirty="0"/>
              <a:t>of the elements involved.</a:t>
            </a:r>
          </a:p>
          <a:p>
            <a:pPr algn="ctr"/>
            <a:endParaRPr lang="en-GB" sz="800" dirty="0"/>
          </a:p>
          <a:p>
            <a:pPr algn="ctr"/>
            <a:endParaRPr lang="en-GB" sz="800" dirty="0"/>
          </a:p>
        </p:txBody>
      </p:sp>
      <p:sp>
        <p:nvSpPr>
          <p:cNvPr id="5" name="Rectangle 4">
            <a:extLst>
              <a:ext uri="{FF2B5EF4-FFF2-40B4-BE49-F238E27FC236}">
                <a16:creationId xmlns:a16="http://schemas.microsoft.com/office/drawing/2014/main" xmlns="" id="{CD5E3BDF-7E8D-4168-8A7A-8CDCE038B94E}"/>
              </a:ext>
            </a:extLst>
          </p:cNvPr>
          <p:cNvSpPr/>
          <p:nvPr/>
        </p:nvSpPr>
        <p:spPr>
          <a:xfrm>
            <a:off x="0" y="4558901"/>
            <a:ext cx="5940152" cy="646331"/>
          </a:xfrm>
          <a:prstGeom prst="rect">
            <a:avLst/>
          </a:prstGeom>
        </p:spPr>
        <p:txBody>
          <a:bodyPr wrap="square">
            <a:spAutoFit/>
          </a:bodyPr>
          <a:lstStyle/>
          <a:p>
            <a:r>
              <a:rPr lang="en-GB" b="1" dirty="0">
                <a:solidFill>
                  <a:schemeClr val="accent6">
                    <a:lumMod val="75000"/>
                  </a:schemeClr>
                </a:solidFill>
                <a:effectLst>
                  <a:outerShdw blurRad="38100" dist="38100" dir="2700000" algn="tl">
                    <a:srgbClr val="000000">
                      <a:alpha val="43137"/>
                    </a:srgbClr>
                  </a:outerShdw>
                </a:effectLst>
              </a:rPr>
              <a:t>sodium chloride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hydrogen + chlorine </a:t>
            </a:r>
          </a:p>
          <a:p>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 sodium hydroxide</a:t>
            </a:r>
            <a:endParaRPr lang="en-GB" b="1" dirty="0">
              <a:solidFill>
                <a:schemeClr val="accent6">
                  <a:lumMod val="75000"/>
                </a:schemeClr>
              </a:solidFill>
              <a:effectLst>
                <a:outerShdw blurRad="38100" dist="38100" dir="2700000" algn="tl">
                  <a:srgbClr val="000000">
                    <a:alpha val="43137"/>
                  </a:srgbClr>
                </a:outerShdw>
              </a:effectLst>
            </a:endParaRPr>
          </a:p>
        </p:txBody>
      </p:sp>
      <p:sp>
        <p:nvSpPr>
          <p:cNvPr id="12" name="TextBox 11">
            <a:extLst>
              <a:ext uri="{FF2B5EF4-FFF2-40B4-BE49-F238E27FC236}">
                <a16:creationId xmlns:a16="http://schemas.microsoft.com/office/drawing/2014/main" xmlns="" id="{DC774160-0701-4654-BD1E-DA217DE79B95}"/>
              </a:ext>
            </a:extLst>
          </p:cNvPr>
          <p:cNvSpPr txBox="1"/>
          <p:nvPr/>
        </p:nvSpPr>
        <p:spPr>
          <a:xfrm>
            <a:off x="3400915" y="5476039"/>
            <a:ext cx="1667444" cy="923330"/>
          </a:xfrm>
          <a:prstGeom prst="rect">
            <a:avLst/>
          </a:prstGeom>
          <a:solidFill>
            <a:schemeClr val="accent6">
              <a:lumMod val="20000"/>
              <a:lumOff val="80000"/>
            </a:schemeClr>
          </a:solidFill>
          <a:ln>
            <a:solidFill>
              <a:schemeClr val="accent6">
                <a:lumMod val="75000"/>
              </a:schemeClr>
            </a:solidFill>
          </a:ln>
        </p:spPr>
        <p:txBody>
          <a:bodyPr wrap="none" rtlCol="0">
            <a:spAutoFit/>
          </a:bodyPr>
          <a:lstStyle/>
          <a:p>
            <a:r>
              <a:rPr lang="en-GB" b="1" dirty="0"/>
              <a:t>Higher:</a:t>
            </a:r>
          </a:p>
          <a:p>
            <a:r>
              <a:rPr lang="en-GB" dirty="0"/>
              <a:t>At the cathode</a:t>
            </a:r>
          </a:p>
          <a:p>
            <a:r>
              <a:rPr lang="en-GB" b="1" dirty="0">
                <a:solidFill>
                  <a:schemeClr val="accent6">
                    <a:lumMod val="75000"/>
                  </a:schemeClr>
                </a:solidFill>
                <a:effectLst>
                  <a:outerShdw blurRad="38100" dist="38100" dir="2700000" algn="tl">
                    <a:srgbClr val="000000">
                      <a:alpha val="43137"/>
                    </a:srgbClr>
                  </a:outerShdw>
                </a:effectLst>
              </a:rPr>
              <a:t>2H</a:t>
            </a:r>
            <a:r>
              <a:rPr lang="en-GB" b="1" baseline="30000" dirty="0">
                <a:solidFill>
                  <a:schemeClr val="accent6">
                    <a:lumMod val="75000"/>
                  </a:schemeClr>
                </a:solidFill>
                <a:effectLst>
                  <a:outerShdw blurRad="38100" dist="38100" dir="2700000" algn="tl">
                    <a:srgbClr val="000000">
                      <a:alpha val="43137"/>
                    </a:srgbClr>
                  </a:outerShdw>
                </a:effectLst>
              </a:rPr>
              <a:t>+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+ 2e </a:t>
            </a:r>
            <a:r>
              <a:rPr lang="en-GB"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H</a:t>
            </a:r>
            <a:r>
              <a:rPr lang="en-GB"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a:t>
            </a:r>
            <a:endParaRPr lang="en-GB" b="1" baseline="-25000" dirty="0">
              <a:solidFill>
                <a:schemeClr val="accent6">
                  <a:lumMod val="75000"/>
                </a:schemeClr>
              </a:solidFill>
              <a:effectLst>
                <a:outerShdw blurRad="38100" dist="38100" dir="2700000" algn="tl">
                  <a:srgbClr val="000000">
                    <a:alpha val="43137"/>
                  </a:srgbClr>
                </a:outerShdw>
              </a:effectLst>
            </a:endParaRPr>
          </a:p>
        </p:txBody>
      </p:sp>
      <p:sp>
        <p:nvSpPr>
          <p:cNvPr id="13" name="TextBox 12">
            <a:extLst>
              <a:ext uri="{FF2B5EF4-FFF2-40B4-BE49-F238E27FC236}">
                <a16:creationId xmlns:a16="http://schemas.microsoft.com/office/drawing/2014/main" xmlns="" id="{2D3DA521-8334-4D9E-A68C-D99A217B1051}"/>
              </a:ext>
            </a:extLst>
          </p:cNvPr>
          <p:cNvSpPr txBox="1"/>
          <p:nvPr/>
        </p:nvSpPr>
        <p:spPr>
          <a:xfrm>
            <a:off x="5127994" y="5484448"/>
            <a:ext cx="3852471" cy="923330"/>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r>
              <a:rPr lang="en-GB" b="1" dirty="0"/>
              <a:t>Higher:</a:t>
            </a:r>
          </a:p>
          <a:p>
            <a:r>
              <a:rPr lang="en-GB" dirty="0"/>
              <a:t>At the anode</a:t>
            </a:r>
          </a:p>
          <a:p>
            <a:r>
              <a:rPr lang="en-GB" b="1" dirty="0">
                <a:solidFill>
                  <a:schemeClr val="accent6">
                    <a:lumMod val="75000"/>
                  </a:schemeClr>
                </a:solidFill>
                <a:effectLst>
                  <a:outerShdw blurRad="38100" dist="38100" dir="2700000" algn="tl">
                    <a:srgbClr val="000000">
                      <a:alpha val="43137"/>
                    </a:srgbClr>
                  </a:outerShdw>
                </a:effectLst>
              </a:rPr>
              <a:t>2Cl </a:t>
            </a:r>
            <a:r>
              <a:rPr lang="en-GB" b="1" baseline="30000" dirty="0">
                <a:solidFill>
                  <a:schemeClr val="accent6">
                    <a:lumMod val="75000"/>
                  </a:schemeClr>
                </a:solidFill>
                <a:effectLst>
                  <a:outerShdw blurRad="38100" dist="38100" dir="2700000" algn="tl">
                    <a:srgbClr val="000000">
                      <a:alpha val="43137"/>
                    </a:srgbClr>
                  </a:outerShdw>
                </a:effectLst>
              </a:rPr>
              <a:t>-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Cl</a:t>
            </a:r>
            <a:r>
              <a:rPr lang="en-GB"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+ 2e </a:t>
            </a:r>
            <a:r>
              <a:rPr lang="en-GB"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dirty="0">
                <a:solidFill>
                  <a:schemeClr val="accent6">
                    <a:lumMod val="75000"/>
                  </a:schemeClr>
                </a:solidFill>
                <a:effectLst>
                  <a:outerShdw blurRad="38100" dist="38100" dir="2700000" algn="tl">
                    <a:srgbClr val="000000">
                      <a:alpha val="43137"/>
                    </a:srgbClr>
                  </a:outerShdw>
                </a:effectLst>
              </a:rPr>
              <a:t>or </a:t>
            </a:r>
            <a:r>
              <a:rPr lang="en-GB" b="1" dirty="0">
                <a:solidFill>
                  <a:schemeClr val="accent6">
                    <a:lumMod val="75000"/>
                  </a:schemeClr>
                </a:solidFill>
                <a:effectLst>
                  <a:outerShdw blurRad="38100" dist="38100" dir="2700000" algn="tl">
                    <a:srgbClr val="000000">
                      <a:alpha val="43137"/>
                    </a:srgbClr>
                  </a:outerShdw>
                </a:effectLst>
              </a:rPr>
              <a:t>   2Cl </a:t>
            </a:r>
            <a:r>
              <a:rPr lang="en-GB" b="1" baseline="30000" dirty="0">
                <a:solidFill>
                  <a:schemeClr val="accent6">
                    <a:lumMod val="75000"/>
                  </a:schemeClr>
                </a:solidFill>
                <a:effectLst>
                  <a:outerShdw blurRad="38100" dist="38100" dir="2700000" algn="tl">
                    <a:srgbClr val="000000">
                      <a:alpha val="43137"/>
                    </a:srgbClr>
                  </a:outerShdw>
                </a:effectLst>
              </a:rPr>
              <a:t>-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- 2e </a:t>
            </a:r>
            <a:r>
              <a:rPr lang="en-GB"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Cl</a:t>
            </a:r>
            <a:r>
              <a:rPr lang="en-GB"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a:t>
            </a:r>
            <a:endParaRPr lang="en-GB" b="1" baseline="30000" dirty="0">
              <a:solidFill>
                <a:schemeClr val="accent6">
                  <a:lumMod val="75000"/>
                </a:schemeClr>
              </a:solidFill>
              <a:effectLst>
                <a:outerShdw blurRad="38100" dist="38100" dir="2700000" algn="tl">
                  <a:srgbClr val="000000">
                    <a:alpha val="43137"/>
                  </a:srgbClr>
                </a:outerShdw>
              </a:effectLst>
            </a:endParaRPr>
          </a:p>
        </p:txBody>
      </p:sp>
      <p:sp>
        <p:nvSpPr>
          <p:cNvPr id="15" name="Rectangle 14">
            <a:extLst>
              <a:ext uri="{FF2B5EF4-FFF2-40B4-BE49-F238E27FC236}">
                <a16:creationId xmlns:a16="http://schemas.microsoft.com/office/drawing/2014/main" xmlns="" id="{CC2C7007-795C-415A-92BC-C405E022C666}"/>
              </a:ext>
            </a:extLst>
          </p:cNvPr>
          <p:cNvSpPr/>
          <p:nvPr/>
        </p:nvSpPr>
        <p:spPr>
          <a:xfrm>
            <a:off x="36294" y="4896742"/>
            <a:ext cx="3242432" cy="1631216"/>
          </a:xfrm>
          <a:prstGeom prst="rect">
            <a:avLst/>
          </a:prstGeom>
          <a:solidFill>
            <a:schemeClr val="bg1"/>
          </a:solidFill>
          <a:ln w="3175">
            <a:solidFill>
              <a:schemeClr val="accent6">
                <a:lumMod val="75000"/>
              </a:schemeClr>
            </a:solid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GB" sz="2000" b="1" dirty="0"/>
              <a:t>Uses of the products: </a:t>
            </a:r>
          </a:p>
          <a:p>
            <a:pPr algn="ctr"/>
            <a:r>
              <a:rPr lang="en-GB" sz="2000" b="1" dirty="0"/>
              <a:t>Chlorine</a:t>
            </a:r>
            <a:r>
              <a:rPr lang="en-GB" sz="2000" dirty="0"/>
              <a:t>: Bleach and PVC </a:t>
            </a:r>
            <a:r>
              <a:rPr lang="en-GB" sz="2000" b="1" dirty="0"/>
              <a:t> </a:t>
            </a:r>
          </a:p>
          <a:p>
            <a:pPr algn="ctr"/>
            <a:r>
              <a:rPr lang="en-GB" sz="2000" b="1" dirty="0"/>
              <a:t>Hydrogen</a:t>
            </a:r>
            <a:r>
              <a:rPr lang="en-GB" sz="2000" dirty="0"/>
              <a:t>: Margarine </a:t>
            </a:r>
            <a:r>
              <a:rPr lang="en-GB" sz="2000" b="1" dirty="0"/>
              <a:t>Sodium hydroxide</a:t>
            </a:r>
            <a:r>
              <a:rPr lang="en-GB" sz="2000" dirty="0"/>
              <a:t>: Bleach and soap</a:t>
            </a:r>
          </a:p>
        </p:txBody>
      </p:sp>
      <p:sp>
        <p:nvSpPr>
          <p:cNvPr id="6" name="TextBox 5">
            <a:extLst>
              <a:ext uri="{FF2B5EF4-FFF2-40B4-BE49-F238E27FC236}">
                <a16:creationId xmlns:a16="http://schemas.microsoft.com/office/drawing/2014/main" xmlns="" id="{B2B396A1-7B63-49B8-9656-4E77ED304198}"/>
              </a:ext>
            </a:extLst>
          </p:cNvPr>
          <p:cNvSpPr txBox="1"/>
          <p:nvPr/>
        </p:nvSpPr>
        <p:spPr>
          <a:xfrm>
            <a:off x="70884" y="1258110"/>
            <a:ext cx="4376552" cy="1631216"/>
          </a:xfrm>
          <a:prstGeom prst="rect">
            <a:avLst/>
          </a:prstGeom>
          <a:noFill/>
          <a:ln>
            <a:solidFill>
              <a:schemeClr val="accent6">
                <a:lumMod val="75000"/>
              </a:schemeClr>
            </a:solidFill>
          </a:ln>
        </p:spPr>
        <p:txBody>
          <a:bodyPr wrap="square" rtlCol="0">
            <a:spAutoFit/>
          </a:bodyPr>
          <a:lstStyle/>
          <a:p>
            <a:pPr algn="ctr"/>
            <a:r>
              <a:rPr lang="en-GB" sz="2000" dirty="0">
                <a:solidFill>
                  <a:schemeClr val="accent6">
                    <a:lumMod val="75000"/>
                  </a:schemeClr>
                </a:solidFill>
              </a:rPr>
              <a:t>At the </a:t>
            </a:r>
            <a:r>
              <a:rPr lang="en-GB" sz="2000" b="1" dirty="0">
                <a:solidFill>
                  <a:schemeClr val="accent6">
                    <a:lumMod val="75000"/>
                  </a:schemeClr>
                </a:solidFill>
              </a:rPr>
              <a:t>negative</a:t>
            </a:r>
            <a:r>
              <a:rPr lang="en-GB" sz="2000" dirty="0">
                <a:solidFill>
                  <a:schemeClr val="accent6">
                    <a:lumMod val="75000"/>
                  </a:schemeClr>
                </a:solidFill>
              </a:rPr>
              <a:t> electrode:  </a:t>
            </a:r>
          </a:p>
          <a:p>
            <a:pPr algn="ctr"/>
            <a:r>
              <a:rPr lang="en-US" sz="2000" b="1" dirty="0"/>
              <a:t>Metal</a:t>
            </a:r>
            <a:r>
              <a:rPr lang="en-US" sz="2000" dirty="0"/>
              <a:t> will be produced on the electrode if it is </a:t>
            </a:r>
            <a:r>
              <a:rPr lang="en-US" sz="2000" b="1" dirty="0"/>
              <a:t>less</a:t>
            </a:r>
            <a:r>
              <a:rPr lang="en-US" sz="2000" dirty="0"/>
              <a:t> reactive than </a:t>
            </a:r>
            <a:r>
              <a:rPr lang="en-US" sz="2000" b="1" dirty="0"/>
              <a:t>hydrogen</a:t>
            </a:r>
            <a:r>
              <a:rPr lang="en-US" sz="2000" dirty="0"/>
              <a:t>. </a:t>
            </a:r>
          </a:p>
          <a:p>
            <a:pPr algn="ctr"/>
            <a:r>
              <a:rPr lang="en-US" sz="2000" b="1" dirty="0"/>
              <a:t>Hydrogen</a:t>
            </a:r>
            <a:r>
              <a:rPr lang="en-US" sz="2000" dirty="0"/>
              <a:t> will be produced if the metal is </a:t>
            </a:r>
            <a:r>
              <a:rPr lang="en-US" sz="2000" b="1" dirty="0"/>
              <a:t>more</a:t>
            </a:r>
            <a:r>
              <a:rPr lang="en-US" sz="2000" dirty="0"/>
              <a:t> reactive than hydrogen.</a:t>
            </a:r>
          </a:p>
        </p:txBody>
      </p:sp>
      <p:sp>
        <p:nvSpPr>
          <p:cNvPr id="7" name="TextBox 6">
            <a:extLst>
              <a:ext uri="{FF2B5EF4-FFF2-40B4-BE49-F238E27FC236}">
                <a16:creationId xmlns:a16="http://schemas.microsoft.com/office/drawing/2014/main" xmlns="" id="{AA418B6F-B9F8-41D4-9352-CCBE3295D9DD}"/>
              </a:ext>
            </a:extLst>
          </p:cNvPr>
          <p:cNvSpPr txBox="1"/>
          <p:nvPr/>
        </p:nvSpPr>
        <p:spPr>
          <a:xfrm>
            <a:off x="4530214" y="1249250"/>
            <a:ext cx="4450251" cy="4131900"/>
          </a:xfrm>
          <a:prstGeom prst="rect">
            <a:avLst/>
          </a:prstGeom>
          <a:noFill/>
          <a:ln>
            <a:solidFill>
              <a:schemeClr val="accent6">
                <a:lumMod val="75000"/>
              </a:schemeClr>
            </a:solidFill>
          </a:ln>
        </p:spPr>
        <p:txBody>
          <a:bodyPr wrap="square" rtlCol="0">
            <a:spAutoFit/>
          </a:bodyPr>
          <a:lstStyle/>
          <a:p>
            <a:pPr algn="ctr"/>
            <a:r>
              <a:rPr lang="en-GB" sz="2000" dirty="0">
                <a:solidFill>
                  <a:schemeClr val="accent6">
                    <a:lumMod val="75000"/>
                  </a:schemeClr>
                </a:solidFill>
              </a:rPr>
              <a:t>At the</a:t>
            </a:r>
            <a:r>
              <a:rPr lang="en-GB" sz="2000" b="1" dirty="0">
                <a:solidFill>
                  <a:schemeClr val="accent6">
                    <a:lumMod val="75000"/>
                  </a:schemeClr>
                </a:solidFill>
              </a:rPr>
              <a:t> positive </a:t>
            </a:r>
            <a:r>
              <a:rPr lang="en-GB" sz="2000" dirty="0">
                <a:solidFill>
                  <a:schemeClr val="accent6">
                    <a:lumMod val="75000"/>
                  </a:schemeClr>
                </a:solidFill>
              </a:rPr>
              <a:t>electrode:</a:t>
            </a:r>
            <a:r>
              <a:rPr lang="en-GB" sz="2000" b="1" dirty="0">
                <a:solidFill>
                  <a:schemeClr val="accent6">
                    <a:lumMod val="75000"/>
                  </a:schemeClr>
                </a:solidFill>
              </a:rPr>
              <a:t> </a:t>
            </a:r>
          </a:p>
          <a:p>
            <a:pPr algn="ctr"/>
            <a:r>
              <a:rPr lang="en-US" sz="2000" b="1" dirty="0"/>
              <a:t>Oxygen  </a:t>
            </a:r>
            <a:r>
              <a:rPr lang="en-US" sz="2000" dirty="0"/>
              <a:t>is formed at positive electrode.</a:t>
            </a:r>
          </a:p>
          <a:p>
            <a:pPr algn="ctr"/>
            <a:endParaRPr lang="en-US" dirty="0"/>
          </a:p>
          <a:p>
            <a:pPr algn="ctr"/>
            <a:endParaRPr lang="en-US" dirty="0"/>
          </a:p>
          <a:p>
            <a:pPr algn="ctr"/>
            <a:endParaRPr lang="en-US" dirty="0"/>
          </a:p>
          <a:p>
            <a:pPr algn="ctr"/>
            <a:endParaRPr lang="en-US" sz="1050" dirty="0"/>
          </a:p>
          <a:p>
            <a:pPr algn="ctr"/>
            <a:r>
              <a:rPr lang="en-US" sz="2000" dirty="0"/>
              <a:t>If you have a</a:t>
            </a:r>
            <a:r>
              <a:rPr lang="en-US" sz="2000" b="1" dirty="0"/>
              <a:t> halide </a:t>
            </a:r>
            <a:r>
              <a:rPr lang="en-US" sz="2000" dirty="0"/>
              <a:t>ion (Cl</a:t>
            </a:r>
            <a:r>
              <a:rPr lang="en-US" sz="2000" baseline="30000" dirty="0"/>
              <a:t>-</a:t>
            </a:r>
            <a:r>
              <a:rPr lang="en-US" sz="2000" dirty="0"/>
              <a:t>, I</a:t>
            </a:r>
            <a:r>
              <a:rPr lang="en-US" sz="2000" baseline="30000" dirty="0"/>
              <a:t>-</a:t>
            </a:r>
            <a:r>
              <a:rPr lang="en-US" sz="2000" dirty="0"/>
              <a:t>, Br</a:t>
            </a:r>
            <a:r>
              <a:rPr lang="en-US" sz="2000" baseline="30000" dirty="0"/>
              <a:t>-</a:t>
            </a:r>
            <a:r>
              <a:rPr lang="en-US" sz="2000" dirty="0"/>
              <a:t>) then you will get </a:t>
            </a:r>
            <a:r>
              <a:rPr lang="en-US" sz="2000" b="1" dirty="0"/>
              <a:t>chlorine, bromine or iodine </a:t>
            </a:r>
            <a:r>
              <a:rPr lang="en-US" sz="2000" dirty="0"/>
              <a:t>formed at that electrode. </a:t>
            </a:r>
          </a:p>
          <a:p>
            <a:pPr algn="ctr"/>
            <a:r>
              <a:rPr lang="en-US" sz="2000" dirty="0"/>
              <a:t>This happens because in the aqueous solution, </a:t>
            </a:r>
            <a:r>
              <a:rPr lang="en-US" sz="2000" b="1" dirty="0"/>
              <a:t>water molecules </a:t>
            </a:r>
            <a:r>
              <a:rPr lang="en-US" sz="2000" dirty="0"/>
              <a:t>break down producing </a:t>
            </a:r>
            <a:r>
              <a:rPr lang="en-US" sz="2000" b="1" dirty="0"/>
              <a:t>hydrogen</a:t>
            </a:r>
            <a:r>
              <a:rPr lang="en-US" sz="2000" dirty="0"/>
              <a:t> ions and </a:t>
            </a:r>
            <a:r>
              <a:rPr lang="en-US" sz="2000" b="1" dirty="0"/>
              <a:t>hydroxide</a:t>
            </a:r>
            <a:r>
              <a:rPr lang="en-US" sz="2000" dirty="0"/>
              <a:t> ions that are discharged.</a:t>
            </a:r>
          </a:p>
          <a:p>
            <a:pPr algn="ctr"/>
            <a:r>
              <a:rPr lang="en-US" sz="2000" b="1" dirty="0"/>
              <a:t>H</a:t>
            </a:r>
            <a:r>
              <a:rPr lang="en-US" sz="2000" b="1" baseline="-25000" dirty="0"/>
              <a:t>2</a:t>
            </a:r>
            <a:r>
              <a:rPr lang="en-US" sz="2000" b="1" dirty="0"/>
              <a:t>O(l) </a:t>
            </a:r>
            <a:r>
              <a:rPr lang="en-US" sz="2000" b="1" dirty="0">
                <a:sym typeface="Wingdings" panose="05000000000000000000" pitchFamily="2" charset="2"/>
              </a:rPr>
              <a:t> H</a:t>
            </a:r>
            <a:r>
              <a:rPr lang="en-US" sz="2000" b="1" baseline="30000" dirty="0">
                <a:sym typeface="Wingdings" panose="05000000000000000000" pitchFamily="2" charset="2"/>
              </a:rPr>
              <a:t>+</a:t>
            </a:r>
            <a:r>
              <a:rPr lang="en-US" sz="2000" b="1" dirty="0">
                <a:sym typeface="Wingdings" panose="05000000000000000000" pitchFamily="2" charset="2"/>
              </a:rPr>
              <a:t>(</a:t>
            </a:r>
            <a:r>
              <a:rPr lang="en-US" sz="2000" b="1" dirty="0" err="1">
                <a:sym typeface="Wingdings" panose="05000000000000000000" pitchFamily="2" charset="2"/>
              </a:rPr>
              <a:t>aq</a:t>
            </a:r>
            <a:r>
              <a:rPr lang="en-US" sz="2000" b="1" dirty="0">
                <a:sym typeface="Wingdings" panose="05000000000000000000" pitchFamily="2" charset="2"/>
              </a:rPr>
              <a:t>) + OH</a:t>
            </a:r>
            <a:r>
              <a:rPr lang="en-US" sz="2000" b="1" baseline="30000" dirty="0">
                <a:sym typeface="Wingdings" panose="05000000000000000000" pitchFamily="2" charset="2"/>
              </a:rPr>
              <a:t>-</a:t>
            </a:r>
            <a:r>
              <a:rPr lang="en-US" sz="2000" b="1" dirty="0">
                <a:sym typeface="Wingdings" panose="05000000000000000000" pitchFamily="2" charset="2"/>
              </a:rPr>
              <a:t>(</a:t>
            </a:r>
            <a:r>
              <a:rPr lang="en-US" sz="2000" b="1" dirty="0" err="1">
                <a:sym typeface="Wingdings" panose="05000000000000000000" pitchFamily="2" charset="2"/>
              </a:rPr>
              <a:t>aq</a:t>
            </a:r>
            <a:r>
              <a:rPr lang="en-US" sz="2000" b="1" dirty="0">
                <a:sym typeface="Wingdings" panose="05000000000000000000" pitchFamily="2" charset="2"/>
              </a:rPr>
              <a:t>)</a:t>
            </a:r>
            <a:endParaRPr lang="en-US" sz="2000" b="1" dirty="0"/>
          </a:p>
        </p:txBody>
      </p:sp>
      <p:sp>
        <p:nvSpPr>
          <p:cNvPr id="14" name="TextBox 13">
            <a:extLst>
              <a:ext uri="{FF2B5EF4-FFF2-40B4-BE49-F238E27FC236}">
                <a16:creationId xmlns:a16="http://schemas.microsoft.com/office/drawing/2014/main" xmlns="" id="{01DB0CAD-8333-416B-A3B1-730ABFCF1FF2}"/>
              </a:ext>
            </a:extLst>
          </p:cNvPr>
          <p:cNvSpPr txBox="1"/>
          <p:nvPr/>
        </p:nvSpPr>
        <p:spPr>
          <a:xfrm>
            <a:off x="4869987" y="1933948"/>
            <a:ext cx="3852471" cy="923330"/>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r>
              <a:rPr lang="en-GB" b="1" dirty="0"/>
              <a:t>Higher: </a:t>
            </a:r>
            <a:r>
              <a:rPr lang="en-GB" dirty="0"/>
              <a:t>At the anode</a:t>
            </a:r>
          </a:p>
          <a:p>
            <a:pPr algn="ctr"/>
            <a:r>
              <a:rPr lang="pt-BR" b="1" dirty="0">
                <a:solidFill>
                  <a:schemeClr val="accent6">
                    <a:lumMod val="75000"/>
                  </a:schemeClr>
                </a:solidFill>
                <a:effectLst>
                  <a:outerShdw blurRad="38100" dist="38100" dir="2700000" algn="tl">
                    <a:srgbClr val="000000">
                      <a:alpha val="43137"/>
                    </a:srgbClr>
                  </a:outerShdw>
                </a:effectLst>
              </a:rPr>
              <a:t>4OH</a:t>
            </a:r>
            <a:r>
              <a:rPr lang="pt-BR" b="1" baseline="30000" dirty="0">
                <a:solidFill>
                  <a:schemeClr val="accent6">
                    <a:lumMod val="75000"/>
                  </a:schemeClr>
                </a:solidFill>
                <a:effectLst>
                  <a:outerShdw blurRad="38100" dist="38100" dir="2700000" algn="tl">
                    <a:srgbClr val="000000">
                      <a:alpha val="43137"/>
                    </a:srgbClr>
                  </a:outerShdw>
                </a:effectLst>
              </a:rPr>
              <a:t>- </a:t>
            </a:r>
            <a:r>
              <a:rPr lang="pt-BR" b="1" dirty="0">
                <a:solidFill>
                  <a:schemeClr val="accent6">
                    <a:lumMod val="75000"/>
                  </a:schemeClr>
                </a:solidFill>
                <a:effectLst>
                  <a:outerShdw blurRad="38100" dist="38100" dir="2700000" algn="tl">
                    <a:srgbClr val="000000">
                      <a:alpha val="43137"/>
                    </a:srgbClr>
                  </a:outerShdw>
                </a:effectLst>
              </a:rPr>
              <a:t>→ O</a:t>
            </a:r>
            <a:r>
              <a:rPr lang="pt-BR" b="1" baseline="-25000" dirty="0">
                <a:solidFill>
                  <a:schemeClr val="accent6">
                    <a:lumMod val="75000"/>
                  </a:schemeClr>
                </a:solidFill>
                <a:effectLst>
                  <a:outerShdw blurRad="38100" dist="38100" dir="2700000" algn="tl">
                    <a:srgbClr val="000000">
                      <a:alpha val="43137"/>
                    </a:srgbClr>
                  </a:outerShdw>
                </a:effectLst>
              </a:rPr>
              <a:t>2</a:t>
            </a:r>
            <a:r>
              <a:rPr lang="pt-BR" b="1" dirty="0">
                <a:solidFill>
                  <a:schemeClr val="accent6">
                    <a:lumMod val="75000"/>
                  </a:schemeClr>
                </a:solidFill>
                <a:effectLst>
                  <a:outerShdw blurRad="38100" dist="38100" dir="2700000" algn="tl">
                    <a:srgbClr val="000000">
                      <a:alpha val="43137"/>
                    </a:srgbClr>
                  </a:outerShdw>
                </a:effectLst>
              </a:rPr>
              <a:t> + 2H</a:t>
            </a:r>
            <a:r>
              <a:rPr lang="pt-BR" b="1" baseline="-25000" dirty="0">
                <a:solidFill>
                  <a:schemeClr val="accent6">
                    <a:lumMod val="75000"/>
                  </a:schemeClr>
                </a:solidFill>
                <a:effectLst>
                  <a:outerShdw blurRad="38100" dist="38100" dir="2700000" algn="tl">
                    <a:srgbClr val="000000">
                      <a:alpha val="43137"/>
                    </a:srgbClr>
                  </a:outerShdw>
                </a:effectLst>
              </a:rPr>
              <a:t>2</a:t>
            </a:r>
            <a:r>
              <a:rPr lang="pt-BR" b="1" dirty="0">
                <a:solidFill>
                  <a:schemeClr val="accent6">
                    <a:lumMod val="75000"/>
                  </a:schemeClr>
                </a:solidFill>
                <a:effectLst>
                  <a:outerShdw blurRad="38100" dist="38100" dir="2700000" algn="tl">
                    <a:srgbClr val="000000">
                      <a:alpha val="43137"/>
                    </a:srgbClr>
                  </a:outerShdw>
                </a:effectLst>
              </a:rPr>
              <a:t>O + 4e</a:t>
            </a:r>
            <a:r>
              <a:rPr lang="pt-BR" b="1" baseline="30000" dirty="0">
                <a:solidFill>
                  <a:schemeClr val="accent6">
                    <a:lumMod val="75000"/>
                  </a:schemeClr>
                </a:solidFill>
                <a:effectLst>
                  <a:outerShdw blurRad="38100" dist="38100" dir="2700000" algn="tl">
                    <a:srgbClr val="000000">
                      <a:alpha val="43137"/>
                    </a:srgbClr>
                  </a:outerShdw>
                </a:effectLst>
              </a:rPr>
              <a:t>-</a:t>
            </a:r>
            <a:endParaRPr lang="pt-BR" b="1" dirty="0">
              <a:solidFill>
                <a:schemeClr val="accent6">
                  <a:lumMod val="75000"/>
                </a:schemeClr>
              </a:solidFill>
              <a:effectLst>
                <a:outerShdw blurRad="38100" dist="38100" dir="2700000" algn="tl">
                  <a:srgbClr val="000000">
                    <a:alpha val="43137"/>
                  </a:srgbClr>
                </a:outerShdw>
              </a:effectLst>
            </a:endParaRPr>
          </a:p>
          <a:p>
            <a:pPr algn="ctr"/>
            <a:r>
              <a:rPr lang="pt-BR" dirty="0">
                <a:solidFill>
                  <a:schemeClr val="accent6">
                    <a:lumMod val="75000"/>
                  </a:schemeClr>
                </a:solidFill>
              </a:rPr>
              <a:t>or</a:t>
            </a:r>
            <a:r>
              <a:rPr lang="pt-BR" b="1" dirty="0">
                <a:solidFill>
                  <a:schemeClr val="accent6">
                    <a:lumMod val="75000"/>
                  </a:schemeClr>
                </a:solidFill>
                <a:effectLst>
                  <a:outerShdw blurRad="38100" dist="38100" dir="2700000" algn="tl">
                    <a:srgbClr val="000000">
                      <a:alpha val="43137"/>
                    </a:srgbClr>
                  </a:outerShdw>
                </a:effectLst>
              </a:rPr>
              <a:t> 4OH</a:t>
            </a:r>
            <a:r>
              <a:rPr lang="pt-BR" b="1" baseline="30000" dirty="0">
                <a:solidFill>
                  <a:schemeClr val="accent6">
                    <a:lumMod val="75000"/>
                  </a:schemeClr>
                </a:solidFill>
                <a:effectLst>
                  <a:outerShdw blurRad="38100" dist="38100" dir="2700000" algn="tl">
                    <a:srgbClr val="000000">
                      <a:alpha val="43137"/>
                    </a:srgbClr>
                  </a:outerShdw>
                </a:effectLst>
              </a:rPr>
              <a:t>-</a:t>
            </a:r>
            <a:r>
              <a:rPr lang="pt-BR" b="1" dirty="0">
                <a:solidFill>
                  <a:schemeClr val="accent6">
                    <a:lumMod val="75000"/>
                  </a:schemeClr>
                </a:solidFill>
                <a:effectLst>
                  <a:outerShdw blurRad="38100" dist="38100" dir="2700000" algn="tl">
                    <a:srgbClr val="000000">
                      <a:alpha val="43137"/>
                    </a:srgbClr>
                  </a:outerShdw>
                </a:effectLst>
              </a:rPr>
              <a:t> – 4e</a:t>
            </a:r>
            <a:r>
              <a:rPr lang="pt-BR" b="1" baseline="30000" dirty="0">
                <a:solidFill>
                  <a:schemeClr val="accent6">
                    <a:lumMod val="75000"/>
                  </a:schemeClr>
                </a:solidFill>
                <a:effectLst>
                  <a:outerShdw blurRad="38100" dist="38100" dir="2700000" algn="tl">
                    <a:srgbClr val="000000">
                      <a:alpha val="43137"/>
                    </a:srgbClr>
                  </a:outerShdw>
                </a:effectLst>
              </a:rPr>
              <a:t>-</a:t>
            </a:r>
            <a:r>
              <a:rPr lang="pt-BR" b="1" dirty="0">
                <a:solidFill>
                  <a:schemeClr val="accent6">
                    <a:lumMod val="75000"/>
                  </a:schemeClr>
                </a:solidFill>
                <a:effectLst>
                  <a:outerShdw blurRad="38100" dist="38100" dir="2700000" algn="tl">
                    <a:srgbClr val="000000">
                      <a:alpha val="43137"/>
                    </a:srgbClr>
                  </a:outerShdw>
                </a:effectLst>
              </a:rPr>
              <a:t> → O</a:t>
            </a:r>
            <a:r>
              <a:rPr lang="pt-BR" b="1" baseline="-25000" dirty="0">
                <a:solidFill>
                  <a:schemeClr val="accent6">
                    <a:lumMod val="75000"/>
                  </a:schemeClr>
                </a:solidFill>
                <a:effectLst>
                  <a:outerShdw blurRad="38100" dist="38100" dir="2700000" algn="tl">
                    <a:srgbClr val="000000">
                      <a:alpha val="43137"/>
                    </a:srgbClr>
                  </a:outerShdw>
                </a:effectLst>
              </a:rPr>
              <a:t>2</a:t>
            </a:r>
            <a:r>
              <a:rPr lang="pt-BR" b="1" dirty="0">
                <a:solidFill>
                  <a:schemeClr val="accent6">
                    <a:lumMod val="75000"/>
                  </a:schemeClr>
                </a:solidFill>
                <a:effectLst>
                  <a:outerShdw blurRad="38100" dist="38100" dir="2700000" algn="tl">
                    <a:srgbClr val="000000">
                      <a:alpha val="43137"/>
                    </a:srgbClr>
                  </a:outerShdw>
                </a:effectLst>
              </a:rPr>
              <a:t> + 2H</a:t>
            </a:r>
            <a:r>
              <a:rPr lang="pt-BR" b="1" baseline="-25000" dirty="0">
                <a:solidFill>
                  <a:schemeClr val="accent6">
                    <a:lumMod val="75000"/>
                  </a:schemeClr>
                </a:solidFill>
                <a:effectLst>
                  <a:outerShdw blurRad="38100" dist="38100" dir="2700000" algn="tl">
                    <a:srgbClr val="000000">
                      <a:alpha val="43137"/>
                    </a:srgbClr>
                  </a:outerShdw>
                </a:effectLst>
              </a:rPr>
              <a:t>2</a:t>
            </a:r>
            <a:r>
              <a:rPr lang="pt-BR" b="1" dirty="0">
                <a:solidFill>
                  <a:schemeClr val="accent6">
                    <a:lumMod val="75000"/>
                  </a:schemeClr>
                </a:solidFill>
                <a:effectLst>
                  <a:outerShdw blurRad="38100" dist="38100" dir="2700000" algn="tl">
                    <a:srgbClr val="000000">
                      <a:alpha val="43137"/>
                    </a:srgbClr>
                  </a:outerShdw>
                </a:effectLst>
              </a:rPr>
              <a:t>O</a:t>
            </a:r>
            <a:endParaRPr lang="en-US" b="1" dirty="0">
              <a:solidFill>
                <a:schemeClr val="accent6">
                  <a:lumMod val="75000"/>
                </a:schemeClr>
              </a:solidFill>
              <a:effectLst>
                <a:outerShdw blurRad="38100" dist="38100" dir="2700000" algn="tl">
                  <a:srgbClr val="000000">
                    <a:alpha val="43137"/>
                  </a:srgbClr>
                </a:outerShdw>
              </a:effectLst>
            </a:endParaRPr>
          </a:p>
        </p:txBody>
      </p:sp>
      <p:grpSp>
        <p:nvGrpSpPr>
          <p:cNvPr id="16" name="Group 15"/>
          <p:cNvGrpSpPr/>
          <p:nvPr/>
        </p:nvGrpSpPr>
        <p:grpSpPr>
          <a:xfrm>
            <a:off x="1635757" y="2883870"/>
            <a:ext cx="913337" cy="1588672"/>
            <a:chOff x="5852018" y="1681453"/>
            <a:chExt cx="1616428" cy="2713014"/>
          </a:xfrm>
        </p:grpSpPr>
        <p:sp>
          <p:nvSpPr>
            <p:cNvPr id="17" name="Rectangle 16"/>
            <p:cNvSpPr/>
            <p:nvPr/>
          </p:nvSpPr>
          <p:spPr>
            <a:xfrm>
              <a:off x="6381110" y="1988840"/>
              <a:ext cx="663267" cy="320553"/>
            </a:xfrm>
            <a:prstGeom prst="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8" name="Rectangle 17"/>
            <p:cNvSpPr/>
            <p:nvPr/>
          </p:nvSpPr>
          <p:spPr>
            <a:xfrm>
              <a:off x="6523071" y="2162088"/>
              <a:ext cx="409192" cy="3725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 name="Rectangle 18"/>
            <p:cNvSpPr/>
            <p:nvPr/>
          </p:nvSpPr>
          <p:spPr>
            <a:xfrm>
              <a:off x="6282795" y="2229608"/>
              <a:ext cx="238880" cy="1919445"/>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 name="Rectangle 19"/>
            <p:cNvSpPr/>
            <p:nvPr/>
          </p:nvSpPr>
          <p:spPr>
            <a:xfrm>
              <a:off x="6660233" y="1872134"/>
              <a:ext cx="98315" cy="18871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Rectangle 20"/>
            <p:cNvSpPr/>
            <p:nvPr/>
          </p:nvSpPr>
          <p:spPr>
            <a:xfrm>
              <a:off x="6925408" y="2229607"/>
              <a:ext cx="238880" cy="1919445"/>
            </a:xfrm>
            <a:prstGeom prst="rect">
              <a:avLst/>
            </a:prstGeom>
            <a:solidFill>
              <a:schemeClr val="tx1">
                <a:lumMod val="65000"/>
                <a:lumOff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 name="Round Same Side Corner Rectangle 21"/>
            <p:cNvSpPr/>
            <p:nvPr/>
          </p:nvSpPr>
          <p:spPr>
            <a:xfrm rot="10800000">
              <a:off x="6045723" y="3306764"/>
              <a:ext cx="1404000" cy="1027134"/>
            </a:xfrm>
            <a:prstGeom prst="round2SameRect">
              <a:avLst>
                <a:gd name="adj1" fmla="val 10924"/>
                <a:gd name="adj2" fmla="val 0"/>
              </a:avLst>
            </a:prstGeom>
            <a:gradFill>
              <a:gsLst>
                <a:gs pos="0">
                  <a:schemeClr val="accent1">
                    <a:tint val="100000"/>
                    <a:shade val="100000"/>
                    <a:satMod val="130000"/>
                    <a:alpha val="17000"/>
                  </a:schemeClr>
                </a:gs>
                <a:gs pos="100000">
                  <a:schemeClr val="accent1">
                    <a:tint val="50000"/>
                    <a:shade val="100000"/>
                    <a:satMod val="350000"/>
                  </a:schemeClr>
                </a:gs>
              </a:gsLst>
            </a:gra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23" name="Straight Connector 22"/>
            <p:cNvCxnSpPr/>
            <p:nvPr/>
          </p:nvCxnSpPr>
          <p:spPr>
            <a:xfrm>
              <a:off x="6660232" y="1916848"/>
              <a:ext cx="0" cy="14400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6758548" y="1872134"/>
              <a:ext cx="0" cy="25200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707503" y="1753071"/>
              <a:ext cx="288032" cy="307777"/>
            </a:xfrm>
            <a:prstGeom prst="rect">
              <a:avLst/>
            </a:prstGeom>
            <a:noFill/>
          </p:spPr>
          <p:txBody>
            <a:bodyPr wrap="square" rtlCol="0">
              <a:spAutoFit/>
            </a:bodyPr>
            <a:lstStyle/>
            <a:p>
              <a:r>
                <a:rPr lang="en-GB" sz="1400" smtClean="0"/>
                <a:t>+</a:t>
              </a:r>
              <a:endParaRPr lang="en-GB" sz="1400"/>
            </a:p>
          </p:txBody>
        </p:sp>
        <p:sp>
          <p:nvSpPr>
            <p:cNvPr id="26" name="TextBox 25"/>
            <p:cNvSpPr txBox="1"/>
            <p:nvPr/>
          </p:nvSpPr>
          <p:spPr>
            <a:xfrm>
              <a:off x="6423247" y="1681453"/>
              <a:ext cx="288032" cy="307777"/>
            </a:xfrm>
            <a:prstGeom prst="rect">
              <a:avLst/>
            </a:prstGeom>
            <a:noFill/>
          </p:spPr>
          <p:txBody>
            <a:bodyPr wrap="square" rtlCol="0">
              <a:spAutoFit/>
            </a:bodyPr>
            <a:lstStyle/>
            <a:p>
              <a:r>
                <a:rPr lang="en-GB" sz="1400" smtClean="0"/>
                <a:t>_</a:t>
              </a:r>
              <a:endParaRPr lang="en-GB" sz="1400"/>
            </a:p>
          </p:txBody>
        </p:sp>
        <p:sp>
          <p:nvSpPr>
            <p:cNvPr id="27" name="Oval 26"/>
            <p:cNvSpPr>
              <a:spLocks noChangeAspect="1"/>
            </p:cNvSpPr>
            <p:nvPr/>
          </p:nvSpPr>
          <p:spPr>
            <a:xfrm>
              <a:off x="6176010" y="3466684"/>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smtClean="0"/>
                <a:t>+</a:t>
              </a:r>
              <a:endParaRPr lang="en-GB" sz="1400" dirty="0"/>
            </a:p>
          </p:txBody>
        </p:sp>
        <p:sp>
          <p:nvSpPr>
            <p:cNvPr id="28" name="Oval 27"/>
            <p:cNvSpPr>
              <a:spLocks noChangeAspect="1"/>
            </p:cNvSpPr>
            <p:nvPr/>
          </p:nvSpPr>
          <p:spPr>
            <a:xfrm>
              <a:off x="6789180" y="3339954"/>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smtClean="0"/>
                <a:t>-</a:t>
              </a:r>
              <a:endParaRPr lang="en-GB" sz="1400" dirty="0"/>
            </a:p>
          </p:txBody>
        </p:sp>
        <p:sp>
          <p:nvSpPr>
            <p:cNvPr id="29" name="Oval 28"/>
            <p:cNvSpPr>
              <a:spLocks noChangeAspect="1"/>
            </p:cNvSpPr>
            <p:nvPr/>
          </p:nvSpPr>
          <p:spPr>
            <a:xfrm>
              <a:off x="6824117" y="4024519"/>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smtClean="0"/>
                <a:t>-</a:t>
              </a:r>
              <a:endParaRPr lang="en-GB" sz="1400" dirty="0"/>
            </a:p>
          </p:txBody>
        </p:sp>
        <p:sp>
          <p:nvSpPr>
            <p:cNvPr id="30" name="Oval 29"/>
            <p:cNvSpPr>
              <a:spLocks noChangeAspect="1"/>
            </p:cNvSpPr>
            <p:nvPr/>
          </p:nvSpPr>
          <p:spPr>
            <a:xfrm>
              <a:off x="6865319" y="3605884"/>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smtClean="0"/>
                <a:t>-</a:t>
              </a:r>
              <a:endParaRPr lang="en-GB" sz="1400" dirty="0"/>
            </a:p>
          </p:txBody>
        </p:sp>
        <p:sp>
          <p:nvSpPr>
            <p:cNvPr id="31" name="Oval 30"/>
            <p:cNvSpPr>
              <a:spLocks noChangeAspect="1"/>
            </p:cNvSpPr>
            <p:nvPr/>
          </p:nvSpPr>
          <p:spPr>
            <a:xfrm>
              <a:off x="7014333" y="3393753"/>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smtClean="0"/>
                <a:t>-</a:t>
              </a:r>
              <a:endParaRPr lang="en-GB" sz="1400" dirty="0"/>
            </a:p>
          </p:txBody>
        </p:sp>
        <p:sp>
          <p:nvSpPr>
            <p:cNvPr id="32" name="Oval 31"/>
            <p:cNvSpPr>
              <a:spLocks noChangeAspect="1"/>
            </p:cNvSpPr>
            <p:nvPr/>
          </p:nvSpPr>
          <p:spPr>
            <a:xfrm>
              <a:off x="7044377" y="3818015"/>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ctr"/>
              <a:r>
                <a:rPr lang="en-GB" sz="1400" dirty="0" smtClean="0"/>
                <a:t>-</a:t>
              </a:r>
              <a:endParaRPr lang="en-GB" sz="1400" dirty="0"/>
            </a:p>
          </p:txBody>
        </p:sp>
        <p:sp>
          <p:nvSpPr>
            <p:cNvPr id="33" name="Oval 32"/>
            <p:cNvSpPr>
              <a:spLocks noChangeAspect="1"/>
            </p:cNvSpPr>
            <p:nvPr/>
          </p:nvSpPr>
          <p:spPr>
            <a:xfrm>
              <a:off x="6405567" y="4058151"/>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smtClean="0"/>
                <a:t>+</a:t>
              </a:r>
              <a:endParaRPr lang="en-GB" sz="1400" dirty="0"/>
            </a:p>
          </p:txBody>
        </p:sp>
        <p:sp>
          <p:nvSpPr>
            <p:cNvPr id="34" name="Oval 33"/>
            <p:cNvSpPr>
              <a:spLocks noChangeAspect="1"/>
            </p:cNvSpPr>
            <p:nvPr/>
          </p:nvSpPr>
          <p:spPr>
            <a:xfrm>
              <a:off x="6176010" y="3908015"/>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smtClean="0"/>
                <a:t>+</a:t>
              </a:r>
              <a:endParaRPr lang="en-GB" sz="1400" dirty="0"/>
            </a:p>
          </p:txBody>
        </p:sp>
        <p:sp>
          <p:nvSpPr>
            <p:cNvPr id="35" name="Oval 34"/>
            <p:cNvSpPr>
              <a:spLocks noChangeAspect="1"/>
            </p:cNvSpPr>
            <p:nvPr/>
          </p:nvSpPr>
          <p:spPr>
            <a:xfrm>
              <a:off x="6364239" y="3667635"/>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smtClean="0"/>
                <a:t>+</a:t>
              </a:r>
              <a:endParaRPr lang="en-GB" sz="1400" dirty="0"/>
            </a:p>
          </p:txBody>
        </p:sp>
        <p:sp>
          <p:nvSpPr>
            <p:cNvPr id="36" name="Oval 35"/>
            <p:cNvSpPr>
              <a:spLocks noChangeAspect="1"/>
            </p:cNvSpPr>
            <p:nvPr/>
          </p:nvSpPr>
          <p:spPr>
            <a:xfrm>
              <a:off x="6413745" y="3339000"/>
              <a:ext cx="180000" cy="180000"/>
            </a:xfrm>
            <a:prstGeom prst="ellipse">
              <a:avLst/>
            </a:prstGeom>
            <a:solidFill>
              <a:schemeClr val="tx1"/>
            </a:solidFill>
            <a:effectLst/>
          </p:spPr>
          <p:style>
            <a:lnRef idx="1">
              <a:schemeClr val="accent1"/>
            </a:lnRef>
            <a:fillRef idx="3">
              <a:schemeClr val="accent1"/>
            </a:fillRef>
            <a:effectRef idx="2">
              <a:schemeClr val="accent1"/>
            </a:effectRef>
            <a:fontRef idx="minor">
              <a:schemeClr val="lt1"/>
            </a:fontRef>
          </p:style>
          <p:txBody>
            <a:bodyPr wrap="none" rtlCol="0" anchor="ctr" anchorCtr="1"/>
            <a:lstStyle/>
            <a:p>
              <a:pPr algn="r"/>
              <a:r>
                <a:rPr lang="en-GB" sz="1400" dirty="0" smtClean="0"/>
                <a:t>+</a:t>
              </a:r>
              <a:endParaRPr lang="en-GB" sz="1400" dirty="0"/>
            </a:p>
          </p:txBody>
        </p:sp>
        <p:pic>
          <p:nvPicPr>
            <p:cNvPr id="37" name="Picture 36"/>
            <p:cNvPicPr>
              <a:picLocks noChangeAspect="1"/>
            </p:cNvPicPr>
            <p:nvPr/>
          </p:nvPicPr>
          <p:blipFill>
            <a:blip r:embed="rId3"/>
            <a:stretch>
              <a:fillRect/>
            </a:stretch>
          </p:blipFill>
          <p:spPr>
            <a:xfrm>
              <a:off x="5852018" y="2581758"/>
              <a:ext cx="1616428" cy="1812709"/>
            </a:xfrm>
            <a:prstGeom prst="rect">
              <a:avLst/>
            </a:prstGeom>
          </p:spPr>
        </p:pic>
      </p:grpSp>
      <p:sp>
        <p:nvSpPr>
          <p:cNvPr id="38" name="TextBox 37"/>
          <p:cNvSpPr txBox="1"/>
          <p:nvPr/>
        </p:nvSpPr>
        <p:spPr>
          <a:xfrm>
            <a:off x="200996" y="3516346"/>
            <a:ext cx="1367215" cy="338554"/>
          </a:xfrm>
          <a:prstGeom prst="rect">
            <a:avLst/>
          </a:prstGeom>
          <a:noFill/>
        </p:spPr>
        <p:txBody>
          <a:bodyPr wrap="square" rtlCol="0">
            <a:spAutoFit/>
          </a:bodyPr>
          <a:lstStyle/>
          <a:p>
            <a:pPr algn="r"/>
            <a:r>
              <a:rPr lang="en-GB" sz="1600" b="1" dirty="0" smtClean="0"/>
              <a:t>Hydrogen H</a:t>
            </a:r>
            <a:r>
              <a:rPr lang="en-GB" sz="1600" b="1" baseline="30000" dirty="0" smtClean="0"/>
              <a:t>+</a:t>
            </a:r>
            <a:endParaRPr lang="en-GB" sz="1600" b="1" baseline="30000" dirty="0"/>
          </a:p>
        </p:txBody>
      </p:sp>
      <p:sp>
        <p:nvSpPr>
          <p:cNvPr id="39" name="TextBox 38"/>
          <p:cNvSpPr txBox="1"/>
          <p:nvPr/>
        </p:nvSpPr>
        <p:spPr>
          <a:xfrm>
            <a:off x="2596433" y="3251576"/>
            <a:ext cx="1870862" cy="338554"/>
          </a:xfrm>
          <a:prstGeom prst="rect">
            <a:avLst/>
          </a:prstGeom>
          <a:noFill/>
        </p:spPr>
        <p:txBody>
          <a:bodyPr wrap="square" rtlCol="0">
            <a:spAutoFit/>
          </a:bodyPr>
          <a:lstStyle/>
          <a:p>
            <a:pPr algn="ctr"/>
            <a:r>
              <a:rPr lang="en-GB" sz="1600" b="1" dirty="0" smtClean="0"/>
              <a:t>Chloride Cl </a:t>
            </a:r>
            <a:r>
              <a:rPr lang="en-GB" sz="1600" b="1" baseline="30000" dirty="0" smtClean="0"/>
              <a:t>-</a:t>
            </a:r>
            <a:endParaRPr lang="en-GB" sz="1600" b="1" baseline="30000" dirty="0"/>
          </a:p>
        </p:txBody>
      </p:sp>
      <p:sp>
        <p:nvSpPr>
          <p:cNvPr id="40" name="TextBox 39"/>
          <p:cNvSpPr txBox="1"/>
          <p:nvPr/>
        </p:nvSpPr>
        <p:spPr>
          <a:xfrm>
            <a:off x="2715958" y="3959890"/>
            <a:ext cx="1584176" cy="584775"/>
          </a:xfrm>
          <a:prstGeom prst="rect">
            <a:avLst/>
          </a:prstGeom>
          <a:noFill/>
        </p:spPr>
        <p:txBody>
          <a:bodyPr wrap="square" rtlCol="0">
            <a:spAutoFit/>
          </a:bodyPr>
          <a:lstStyle/>
          <a:p>
            <a:pPr algn="ctr"/>
            <a:r>
              <a:rPr lang="en-GB" sz="1600" b="1" dirty="0" smtClean="0"/>
              <a:t>Sodium chloride solution</a:t>
            </a:r>
            <a:endParaRPr lang="en-GB" sz="1600" b="1" dirty="0"/>
          </a:p>
        </p:txBody>
      </p:sp>
      <p:cxnSp>
        <p:nvCxnSpPr>
          <p:cNvPr id="41" name="Straight Arrow Connector 40"/>
          <p:cNvCxnSpPr/>
          <p:nvPr/>
        </p:nvCxnSpPr>
        <p:spPr>
          <a:xfrm>
            <a:off x="1472303" y="3743341"/>
            <a:ext cx="406069" cy="258086"/>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flipH="1">
            <a:off x="2394211" y="3516347"/>
            <a:ext cx="631533" cy="419858"/>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flipH="1">
            <a:off x="2411187" y="4275604"/>
            <a:ext cx="558889" cy="105403"/>
          </a:xfrm>
          <a:prstGeom prst="straightConnector1">
            <a:avLst/>
          </a:prstGeom>
          <a:ln w="28575">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97651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5324535"/>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Electrolysis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The process of electrolysis</a:t>
            </a:r>
          </a:p>
          <a:p>
            <a:pPr marL="685800" lvl="1" indent="-342900">
              <a:buFont typeface="Arial" charset="0"/>
              <a:buChar char="•"/>
            </a:pPr>
            <a:r>
              <a:rPr lang="en-US" sz="2400" b="1" dirty="0">
                <a:solidFill>
                  <a:schemeClr val="bg1">
                    <a:lumMod val="50000"/>
                  </a:schemeClr>
                </a:solidFill>
              </a:rPr>
              <a:t>Electrolysis of a molten ionic compounds</a:t>
            </a:r>
          </a:p>
          <a:p>
            <a:pPr marL="685800" lvl="1" indent="-342900">
              <a:buFont typeface="Arial" charset="0"/>
              <a:buChar char="•"/>
            </a:pPr>
            <a:r>
              <a:rPr lang="en-US" sz="2400" b="1" dirty="0">
                <a:solidFill>
                  <a:schemeClr val="bg1">
                    <a:lumMod val="50000"/>
                  </a:schemeClr>
                </a:solidFill>
              </a:rPr>
              <a:t>Electrolysis of aqueous solutions</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10746003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Electrolysis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802524"/>
            <a:ext cx="8915400" cy="526297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Why can a molten or dissolved ionic compound conduct electricity?</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 is electrolysis?</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GB" sz="2400" b="0" i="0" u="none" strike="noStrike" kern="1200" cap="none" spc="0" normalizeH="0" baseline="0" noProof="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What is the name of the electrode that positive ions move to?</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 is the name of the electrode that the negative ions move to?</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GB" sz="2400" b="0" i="0" u="none" strike="noStrike" kern="1200" cap="none" spc="0" normalizeH="0" baseline="0" noProof="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What is produced at the cathode when lead bromide is electrolysed?</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 is produced at the anode when lead bromide is electrolysed?</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GB" sz="2400" b="0" i="0" u="none" strike="noStrike" kern="1200" cap="none" spc="0" normalizeH="0" baseline="0" noProof="0" dirty="0" smtClean="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108979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Electrolysis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802524"/>
            <a:ext cx="8915400" cy="4893647"/>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7"/>
              <a:tabLst/>
              <a:defRPr/>
            </a:pPr>
            <a:r>
              <a:rPr lang="en-GB" sz="2400" dirty="0" smtClean="0">
                <a:solidFill>
                  <a:prstClr val="black"/>
                </a:solidFill>
                <a:latin typeface="Calibri"/>
              </a:rPr>
              <a:t>What is produced at the cathode is the metal in the solution is more reactive than hydrogen?</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7"/>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7"/>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a:t>
            </a:r>
            <a:r>
              <a:rPr kumimoji="0" lang="en-GB" sz="2400" b="0" i="0" u="none" strike="noStrike" kern="1200" cap="none" spc="0" normalizeH="0" noProof="0" dirty="0" smtClean="0">
                <a:ln>
                  <a:noFill/>
                </a:ln>
                <a:solidFill>
                  <a:prstClr val="black"/>
                </a:solidFill>
                <a:effectLst/>
                <a:uLnTx/>
                <a:uFillTx/>
                <a:latin typeface="Calibri"/>
                <a:ea typeface="+mn-ea"/>
                <a:cs typeface="+mn-cs"/>
              </a:rPr>
              <a:t> is produced at the anode if the solution does not contain halide ions?</a:t>
            </a:r>
          </a:p>
          <a:p>
            <a:pPr marL="457200" marR="0" lvl="0" indent="-457200" algn="l" defTabSz="914400" rtl="0" eaLnBrk="1" fontAlgn="auto" latinLnBrk="0" hangingPunct="1">
              <a:lnSpc>
                <a:spcPct val="100000"/>
              </a:lnSpc>
              <a:spcBef>
                <a:spcPts val="0"/>
              </a:spcBef>
              <a:spcAft>
                <a:spcPts val="0"/>
              </a:spcAft>
              <a:buClrTx/>
              <a:buSzTx/>
              <a:buFontTx/>
              <a:buAutoNum type="arabicPeriod" startAt="7"/>
              <a:tabLst/>
              <a:defRPr/>
            </a:pPr>
            <a:endParaRPr kumimoji="0" lang="en-GB" sz="2400" b="0" i="0" u="none" strike="noStrike" kern="1200" cap="none" spc="0" normalizeH="0" noProof="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7"/>
              <a:tabLst/>
              <a:defRPr/>
            </a:pPr>
            <a:r>
              <a:rPr lang="en-GB" sz="2400" dirty="0" smtClean="0">
                <a:solidFill>
                  <a:prstClr val="black"/>
                </a:solidFill>
                <a:latin typeface="Calibri"/>
              </a:rPr>
              <a:t>HT Only: </a:t>
            </a:r>
            <a:r>
              <a:rPr lang="en-GB" sz="2400" dirty="0" smtClean="0"/>
              <a:t>Write </a:t>
            </a:r>
            <a:r>
              <a:rPr lang="en-GB" sz="2400" dirty="0"/>
              <a:t>half equations for the reactions that happen at the  </a:t>
            </a:r>
          </a:p>
          <a:p>
            <a:r>
              <a:rPr lang="en-GB" sz="2400" dirty="0"/>
              <a:t>       electrodes during the electrolysis of molten copper chloride</a:t>
            </a:r>
            <a:r>
              <a:rPr lang="en-GB" sz="2400" dirty="0" smtClean="0"/>
              <a:t>.</a:t>
            </a:r>
          </a:p>
          <a:p>
            <a:endParaRPr lang="en-GB" sz="2400" dirty="0" smtClean="0"/>
          </a:p>
          <a:p>
            <a:r>
              <a:rPr lang="en-GB" sz="2400" dirty="0" smtClean="0"/>
              <a:t>10. </a:t>
            </a:r>
            <a:r>
              <a:rPr lang="en-GB" sz="2400" dirty="0"/>
              <a:t>Predict the products of electrolysis of copper </a:t>
            </a:r>
            <a:r>
              <a:rPr lang="en-GB" sz="2400" dirty="0" err="1"/>
              <a:t>sulfate</a:t>
            </a:r>
            <a:r>
              <a:rPr lang="en-GB" sz="2400" dirty="0"/>
              <a:t> </a:t>
            </a:r>
            <a:r>
              <a:rPr lang="en-GB" sz="2400" dirty="0" smtClean="0"/>
              <a:t>solution</a:t>
            </a:r>
          </a:p>
          <a:p>
            <a:endParaRPr lang="en-GB" sz="2400" dirty="0" smtClean="0"/>
          </a:p>
          <a:p>
            <a:pPr lvl="0">
              <a:defRPr/>
            </a:pPr>
            <a:r>
              <a:rPr lang="en-GB" sz="2400" dirty="0" smtClean="0"/>
              <a:t>11. HT Only: </a:t>
            </a:r>
            <a:r>
              <a:rPr lang="en-GB" sz="2400" dirty="0"/>
              <a:t>Write a half equation for the reactions that happen at the    </a:t>
            </a:r>
          </a:p>
          <a:p>
            <a:pPr lvl="0">
              <a:defRPr/>
            </a:pPr>
            <a:r>
              <a:rPr lang="en-GB" sz="2400" dirty="0"/>
              <a:t>       electrodes during the electrolysis of copper bromide </a:t>
            </a:r>
            <a:r>
              <a:rPr lang="en-GB" sz="2400" dirty="0" smtClean="0"/>
              <a:t>solution.</a:t>
            </a:r>
            <a:endParaRPr lang="en-GB" sz="2400" dirty="0"/>
          </a:p>
        </p:txBody>
      </p:sp>
    </p:spTree>
    <p:extLst>
      <p:ext uri="{BB962C8B-B14F-4D97-AF65-F5344CB8AC3E}">
        <p14:creationId xmlns:p14="http://schemas.microsoft.com/office/powerpoint/2010/main" val="31512880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693866"/>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Electrolysis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The process of electrolysis</a:t>
            </a:r>
          </a:p>
          <a:p>
            <a:pPr marL="685800" lvl="1" indent="-342900">
              <a:buFont typeface="Arial" charset="0"/>
              <a:buChar char="•"/>
            </a:pPr>
            <a:r>
              <a:rPr lang="en-US" sz="2400" b="1" dirty="0">
                <a:solidFill>
                  <a:schemeClr val="bg1">
                    <a:lumMod val="50000"/>
                  </a:schemeClr>
                </a:solidFill>
              </a:rPr>
              <a:t>Electrolysis of a molten ionic compounds</a:t>
            </a:r>
          </a:p>
          <a:p>
            <a:pPr marL="685800" lvl="1" indent="-342900">
              <a:buFont typeface="Arial" charset="0"/>
              <a:buChar char="•"/>
            </a:pPr>
            <a:r>
              <a:rPr lang="en-US" sz="2400" b="1" dirty="0">
                <a:solidFill>
                  <a:schemeClr val="bg1">
                    <a:lumMod val="50000"/>
                  </a:schemeClr>
                </a:solidFill>
              </a:rPr>
              <a:t>Electrolysis of aqueous solutions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4428348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Electrolysis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802524"/>
            <a:ext cx="8915400" cy="5632311"/>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Why can a molten or dissolved ionic compound conduct electricity?</a:t>
            </a:r>
          </a:p>
          <a:p>
            <a:pPr lvl="1">
              <a:defRPr/>
            </a:pPr>
            <a:r>
              <a:rPr lang="en-GB" sz="2400" b="1" dirty="0" smtClean="0">
                <a:solidFill>
                  <a:srgbClr val="00B050"/>
                </a:solidFill>
              </a:rPr>
              <a:t>Free moving ions.</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 is electrolysis?</a:t>
            </a:r>
          </a:p>
          <a:p>
            <a:pPr lvl="1">
              <a:defRPr/>
            </a:pPr>
            <a:r>
              <a:rPr lang="en-GB" sz="2400" b="1" dirty="0" smtClean="0">
                <a:solidFill>
                  <a:srgbClr val="00B050"/>
                </a:solidFill>
              </a:rPr>
              <a:t>When an electric current is passed through a molten or aqueous ionic solution and the salt breaks down into simpler substances.</a:t>
            </a:r>
            <a:endParaRPr kumimoji="0" lang="en-GB" sz="2400" b="0" i="0" u="none" strike="noStrike" kern="1200" cap="none" spc="0" normalizeH="0" baseline="0" noProof="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What is the name of the electrode that positive ions move to?</a:t>
            </a:r>
          </a:p>
          <a:p>
            <a:pPr lvl="1">
              <a:defRPr/>
            </a:pPr>
            <a:r>
              <a:rPr lang="en-GB" sz="2400" b="1" dirty="0" smtClean="0">
                <a:solidFill>
                  <a:srgbClr val="00B050"/>
                </a:solidFill>
              </a:rPr>
              <a:t>Cathode.</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 is the name of the electrode that the negative ions move to?</a:t>
            </a:r>
          </a:p>
          <a:p>
            <a:pPr lvl="1">
              <a:defRPr/>
            </a:pPr>
            <a:r>
              <a:rPr lang="en-GB" sz="2400" b="1" dirty="0" smtClean="0">
                <a:solidFill>
                  <a:srgbClr val="00B050"/>
                </a:solidFill>
              </a:rPr>
              <a:t>Anode.</a:t>
            </a:r>
            <a:endParaRPr kumimoji="0" lang="en-GB" sz="2400" b="0" i="0" u="none" strike="noStrike" kern="1200" cap="none" spc="0" normalizeH="0" baseline="0" noProof="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What is produced at the cathode when lead bromide is electrolysed?</a:t>
            </a:r>
          </a:p>
          <a:p>
            <a:pPr lvl="1">
              <a:defRPr/>
            </a:pPr>
            <a:r>
              <a:rPr lang="en-GB" sz="2400" b="1" dirty="0" smtClean="0">
                <a:solidFill>
                  <a:srgbClr val="00B050"/>
                </a:solidFill>
              </a:rPr>
              <a:t>Lead.</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 is produced at the anode when lead bromide is electrolysed?</a:t>
            </a:r>
          </a:p>
          <a:p>
            <a:pPr lvl="1">
              <a:defRPr/>
            </a:pPr>
            <a:r>
              <a:rPr lang="en-GB" sz="2400" b="1" dirty="0" smtClean="0">
                <a:solidFill>
                  <a:srgbClr val="00B050"/>
                </a:solidFill>
              </a:rPr>
              <a:t>Bromine.</a:t>
            </a:r>
            <a:endParaRPr kumimoji="0" lang="en-GB" sz="2400" b="0" i="0" u="none" strike="noStrike" kern="1200" cap="none" spc="0" normalizeH="0" baseline="0" noProof="0" dirty="0" smtClean="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384966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Electrolysis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57717" y="657041"/>
            <a:ext cx="8915400" cy="637097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7"/>
              <a:tabLst/>
              <a:defRPr/>
            </a:pPr>
            <a:r>
              <a:rPr lang="en-GB" sz="2400" dirty="0" smtClean="0">
                <a:solidFill>
                  <a:prstClr val="black"/>
                </a:solidFill>
                <a:latin typeface="Calibri"/>
              </a:rPr>
              <a:t>What is produced at the cathode is the metal in the solution is more reactive than hydrogen?</a:t>
            </a:r>
          </a:p>
          <a:p>
            <a:pPr lvl="1">
              <a:defRPr/>
            </a:pPr>
            <a:r>
              <a:rPr lang="en-GB" sz="2400" b="1" dirty="0" smtClean="0">
                <a:solidFill>
                  <a:srgbClr val="00B050"/>
                </a:solidFill>
              </a:rPr>
              <a:t>Hydrogen.</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7"/>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a:t>
            </a:r>
            <a:r>
              <a:rPr kumimoji="0" lang="en-GB" sz="2400" b="0" i="0" u="none" strike="noStrike" kern="1200" cap="none" spc="0" normalizeH="0" noProof="0" dirty="0" smtClean="0">
                <a:ln>
                  <a:noFill/>
                </a:ln>
                <a:solidFill>
                  <a:prstClr val="black"/>
                </a:solidFill>
                <a:effectLst/>
                <a:uLnTx/>
                <a:uFillTx/>
                <a:latin typeface="Calibri"/>
                <a:ea typeface="+mn-ea"/>
                <a:cs typeface="+mn-cs"/>
              </a:rPr>
              <a:t> is produced at the anode if the solution does not contain halide ions?</a:t>
            </a:r>
          </a:p>
          <a:p>
            <a:pPr lvl="1">
              <a:defRPr/>
            </a:pPr>
            <a:r>
              <a:rPr lang="en-GB" sz="2400" b="1" dirty="0" smtClean="0">
                <a:solidFill>
                  <a:srgbClr val="00B050"/>
                </a:solidFill>
              </a:rPr>
              <a:t>Oxygen.</a:t>
            </a:r>
            <a:endParaRPr kumimoji="0" lang="en-GB" sz="2400" b="0" i="0" u="none" strike="noStrike" kern="1200" cap="none" spc="0" normalizeH="0" noProof="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7"/>
              <a:tabLst/>
              <a:defRPr/>
            </a:pPr>
            <a:r>
              <a:rPr lang="en-GB" sz="2400" dirty="0" smtClean="0">
                <a:solidFill>
                  <a:prstClr val="black"/>
                </a:solidFill>
                <a:latin typeface="Calibri"/>
              </a:rPr>
              <a:t>HT Only: </a:t>
            </a:r>
            <a:r>
              <a:rPr lang="en-GB" sz="2400" dirty="0" smtClean="0"/>
              <a:t>Write </a:t>
            </a:r>
            <a:r>
              <a:rPr lang="en-GB" sz="2400" dirty="0"/>
              <a:t>half equations for the reactions that happen at the  </a:t>
            </a:r>
          </a:p>
          <a:p>
            <a:r>
              <a:rPr lang="en-GB" sz="2400" dirty="0"/>
              <a:t>       electrodes during the electrolysis of molten copper chloride</a:t>
            </a:r>
            <a:r>
              <a:rPr lang="en-GB" sz="2400" dirty="0" smtClean="0"/>
              <a:t>.</a:t>
            </a:r>
          </a:p>
          <a:p>
            <a:pPr lvl="0"/>
            <a:r>
              <a:rPr lang="pt-BR" sz="2400" b="1" dirty="0" smtClean="0">
                <a:solidFill>
                  <a:srgbClr val="00B050"/>
                </a:solidFill>
              </a:rPr>
              <a:t>       Negative </a:t>
            </a:r>
            <a:r>
              <a:rPr lang="pt-BR" sz="2400" b="1" dirty="0">
                <a:solidFill>
                  <a:srgbClr val="00B050"/>
                </a:solidFill>
              </a:rPr>
              <a:t>electrode: Cu</a:t>
            </a:r>
            <a:r>
              <a:rPr lang="pt-BR" sz="2400" b="1" baseline="30000" dirty="0">
                <a:solidFill>
                  <a:srgbClr val="00B050"/>
                </a:solidFill>
              </a:rPr>
              <a:t>2+</a:t>
            </a:r>
            <a:r>
              <a:rPr lang="pt-BR" sz="2400" b="1" dirty="0">
                <a:solidFill>
                  <a:srgbClr val="00B050"/>
                </a:solidFill>
              </a:rPr>
              <a:t>(aq)</a:t>
            </a:r>
            <a:r>
              <a:rPr lang="pt-BR" sz="2400" b="1" baseline="30000" dirty="0">
                <a:solidFill>
                  <a:srgbClr val="00B050"/>
                </a:solidFill>
              </a:rPr>
              <a:t> </a:t>
            </a:r>
            <a:r>
              <a:rPr lang="pt-BR" sz="2400" b="1" dirty="0">
                <a:solidFill>
                  <a:srgbClr val="00B050"/>
                </a:solidFill>
              </a:rPr>
              <a:t>+ 2e</a:t>
            </a:r>
            <a:r>
              <a:rPr lang="pt-BR" sz="2400" b="1" baseline="30000" dirty="0">
                <a:solidFill>
                  <a:srgbClr val="00B050"/>
                </a:solidFill>
              </a:rPr>
              <a:t>−</a:t>
            </a:r>
            <a:r>
              <a:rPr lang="pt-BR" sz="2400" b="1" dirty="0">
                <a:solidFill>
                  <a:srgbClr val="00B050"/>
                </a:solidFill>
              </a:rPr>
              <a:t> </a:t>
            </a:r>
            <a:r>
              <a:rPr lang="en-GB" sz="2400" b="1" dirty="0">
                <a:solidFill>
                  <a:srgbClr val="00B050"/>
                </a:solidFill>
                <a:sym typeface="Symbol" panose="05050102010706020507" pitchFamily="18" charset="2"/>
              </a:rPr>
              <a:t></a:t>
            </a:r>
            <a:r>
              <a:rPr lang="pt-BR" sz="2400" b="1" dirty="0">
                <a:solidFill>
                  <a:srgbClr val="00B050"/>
                </a:solidFill>
              </a:rPr>
              <a:t> Cu(s)</a:t>
            </a:r>
            <a:endParaRPr lang="en-GB" sz="2400" b="1" dirty="0">
              <a:solidFill>
                <a:srgbClr val="00B050"/>
              </a:solidFill>
            </a:endParaRPr>
          </a:p>
          <a:p>
            <a:r>
              <a:rPr lang="pt-BR" sz="2400" b="1" dirty="0">
                <a:solidFill>
                  <a:srgbClr val="00B050"/>
                </a:solidFill>
              </a:rPr>
              <a:t>       Positive electrode: 2Cl</a:t>
            </a:r>
            <a:r>
              <a:rPr lang="pt-BR" sz="2400" b="1" baseline="30000" dirty="0">
                <a:solidFill>
                  <a:srgbClr val="00B050"/>
                </a:solidFill>
              </a:rPr>
              <a:t>−</a:t>
            </a:r>
            <a:r>
              <a:rPr lang="pt-BR" sz="2400" b="1" dirty="0">
                <a:solidFill>
                  <a:srgbClr val="00B050"/>
                </a:solidFill>
              </a:rPr>
              <a:t>(aq) </a:t>
            </a:r>
            <a:r>
              <a:rPr lang="en-GB" sz="2400" b="1" dirty="0">
                <a:solidFill>
                  <a:srgbClr val="00B050"/>
                </a:solidFill>
                <a:sym typeface="Symbol" panose="05050102010706020507" pitchFamily="18" charset="2"/>
              </a:rPr>
              <a:t></a:t>
            </a:r>
            <a:r>
              <a:rPr lang="pt-BR" sz="2400" b="1" dirty="0">
                <a:solidFill>
                  <a:srgbClr val="00B050"/>
                </a:solidFill>
              </a:rPr>
              <a:t> Cl</a:t>
            </a:r>
            <a:r>
              <a:rPr lang="pt-BR" sz="2400" b="1" baseline="-25000" dirty="0">
                <a:solidFill>
                  <a:srgbClr val="00B050"/>
                </a:solidFill>
              </a:rPr>
              <a:t>2</a:t>
            </a:r>
            <a:r>
              <a:rPr lang="pt-BR" sz="2400" b="1" dirty="0">
                <a:solidFill>
                  <a:srgbClr val="00B050"/>
                </a:solidFill>
              </a:rPr>
              <a:t>(g) + 2e</a:t>
            </a:r>
            <a:r>
              <a:rPr lang="pt-BR" sz="2400" b="1" baseline="30000" dirty="0" smtClean="0">
                <a:solidFill>
                  <a:srgbClr val="00B050"/>
                </a:solidFill>
              </a:rPr>
              <a:t>−</a:t>
            </a:r>
            <a:endParaRPr lang="en-GB" sz="2400" dirty="0" smtClean="0"/>
          </a:p>
          <a:p>
            <a:r>
              <a:rPr lang="en-GB" sz="2400" dirty="0" smtClean="0"/>
              <a:t>10. </a:t>
            </a:r>
            <a:r>
              <a:rPr lang="en-GB" sz="2400" dirty="0"/>
              <a:t>Predict the products of electrolysis of copper </a:t>
            </a:r>
            <a:r>
              <a:rPr lang="en-GB" sz="2400" dirty="0" err="1"/>
              <a:t>sulfate</a:t>
            </a:r>
            <a:r>
              <a:rPr lang="en-GB" sz="2400" dirty="0"/>
              <a:t> </a:t>
            </a:r>
            <a:r>
              <a:rPr lang="en-GB" sz="2400" dirty="0" smtClean="0"/>
              <a:t>solution</a:t>
            </a:r>
          </a:p>
          <a:p>
            <a:pPr lvl="0"/>
            <a:r>
              <a:rPr lang="en-GB" sz="2400" b="1" dirty="0" smtClean="0">
                <a:solidFill>
                  <a:srgbClr val="00B050"/>
                </a:solidFill>
              </a:rPr>
              <a:t>       Positive </a:t>
            </a:r>
            <a:r>
              <a:rPr lang="en-GB" sz="2400" b="1" dirty="0">
                <a:solidFill>
                  <a:srgbClr val="00B050"/>
                </a:solidFill>
              </a:rPr>
              <a:t>electrode: Oxygen </a:t>
            </a:r>
            <a:r>
              <a:rPr lang="en-GB" sz="2400" b="1" dirty="0" smtClean="0">
                <a:solidFill>
                  <a:srgbClr val="00B050"/>
                </a:solidFill>
              </a:rPr>
              <a:t>gas; Negative </a:t>
            </a:r>
            <a:r>
              <a:rPr lang="en-GB" sz="2400" b="1" dirty="0">
                <a:solidFill>
                  <a:srgbClr val="00B050"/>
                </a:solidFill>
              </a:rPr>
              <a:t>electrode: Copper</a:t>
            </a:r>
            <a:r>
              <a:rPr lang="en-GB" sz="2400" b="1" dirty="0" smtClean="0">
                <a:solidFill>
                  <a:srgbClr val="00B050"/>
                </a:solidFill>
              </a:rPr>
              <a:t>.</a:t>
            </a:r>
            <a:endParaRPr lang="en-GB" sz="2400" dirty="0" smtClean="0"/>
          </a:p>
          <a:p>
            <a:pPr lvl="0">
              <a:defRPr/>
            </a:pPr>
            <a:r>
              <a:rPr lang="en-GB" sz="2400" dirty="0" smtClean="0"/>
              <a:t>11. HT Only: </a:t>
            </a:r>
            <a:r>
              <a:rPr lang="en-GB" sz="2400" dirty="0"/>
              <a:t>Write a half equation for the reactions that happen at the    </a:t>
            </a:r>
          </a:p>
          <a:p>
            <a:pPr lvl="0">
              <a:defRPr/>
            </a:pPr>
            <a:r>
              <a:rPr lang="en-GB" sz="2400" dirty="0"/>
              <a:t>       electrodes during the electrolysis of copper bromide </a:t>
            </a:r>
            <a:r>
              <a:rPr lang="en-GB" sz="2400" dirty="0" smtClean="0"/>
              <a:t>solution.</a:t>
            </a:r>
          </a:p>
          <a:p>
            <a:pPr lvl="0"/>
            <a:r>
              <a:rPr lang="pt-BR" sz="2400" b="1" dirty="0" smtClean="0">
                <a:solidFill>
                  <a:srgbClr val="00B050"/>
                </a:solidFill>
              </a:rPr>
              <a:t>       Negative </a:t>
            </a:r>
            <a:r>
              <a:rPr lang="pt-BR" sz="2400" b="1" dirty="0">
                <a:solidFill>
                  <a:srgbClr val="00B050"/>
                </a:solidFill>
              </a:rPr>
              <a:t>electrode: Cu</a:t>
            </a:r>
            <a:r>
              <a:rPr lang="pt-BR" sz="2400" b="1" baseline="30000" dirty="0">
                <a:solidFill>
                  <a:srgbClr val="00B050"/>
                </a:solidFill>
              </a:rPr>
              <a:t>2+</a:t>
            </a:r>
            <a:r>
              <a:rPr lang="pt-BR" sz="2400" b="1" dirty="0">
                <a:solidFill>
                  <a:srgbClr val="00B050"/>
                </a:solidFill>
              </a:rPr>
              <a:t>(aq)</a:t>
            </a:r>
            <a:r>
              <a:rPr lang="pt-BR" sz="2400" b="1" baseline="30000" dirty="0">
                <a:solidFill>
                  <a:srgbClr val="00B050"/>
                </a:solidFill>
              </a:rPr>
              <a:t> </a:t>
            </a:r>
            <a:r>
              <a:rPr lang="pt-BR" sz="2400" b="1" dirty="0">
                <a:solidFill>
                  <a:srgbClr val="00B050"/>
                </a:solidFill>
              </a:rPr>
              <a:t>+ 2e</a:t>
            </a:r>
            <a:r>
              <a:rPr lang="pt-BR" sz="2400" b="1" baseline="30000" dirty="0">
                <a:solidFill>
                  <a:srgbClr val="00B050"/>
                </a:solidFill>
              </a:rPr>
              <a:t>−</a:t>
            </a:r>
            <a:r>
              <a:rPr lang="pt-BR" sz="2400" b="1" dirty="0">
                <a:solidFill>
                  <a:srgbClr val="00B050"/>
                </a:solidFill>
              </a:rPr>
              <a:t> </a:t>
            </a:r>
            <a:r>
              <a:rPr lang="en-GB" sz="2400" b="1" dirty="0">
                <a:solidFill>
                  <a:srgbClr val="00B050"/>
                </a:solidFill>
                <a:sym typeface="Symbol" panose="05050102010706020507" pitchFamily="18" charset="2"/>
              </a:rPr>
              <a:t></a:t>
            </a:r>
            <a:r>
              <a:rPr lang="pt-BR" sz="2400" b="1" dirty="0">
                <a:solidFill>
                  <a:srgbClr val="00B050"/>
                </a:solidFill>
              </a:rPr>
              <a:t> Cu(s)</a:t>
            </a:r>
            <a:endParaRPr lang="en-GB" sz="2400" b="1" dirty="0">
              <a:solidFill>
                <a:srgbClr val="00B050"/>
              </a:solidFill>
            </a:endParaRPr>
          </a:p>
          <a:p>
            <a:r>
              <a:rPr lang="pt-BR" sz="2400" b="1" dirty="0">
                <a:solidFill>
                  <a:srgbClr val="00B050"/>
                </a:solidFill>
              </a:rPr>
              <a:t>       Positive electrode: 2Br</a:t>
            </a:r>
            <a:r>
              <a:rPr lang="pt-BR" sz="2400" b="1" baseline="30000" dirty="0">
                <a:solidFill>
                  <a:srgbClr val="00B050"/>
                </a:solidFill>
              </a:rPr>
              <a:t>−</a:t>
            </a:r>
            <a:r>
              <a:rPr lang="pt-BR" sz="2400" b="1" dirty="0">
                <a:solidFill>
                  <a:srgbClr val="00B050"/>
                </a:solidFill>
              </a:rPr>
              <a:t>(aq) </a:t>
            </a:r>
            <a:r>
              <a:rPr lang="en-GB" sz="2400" b="1" dirty="0">
                <a:solidFill>
                  <a:srgbClr val="00B050"/>
                </a:solidFill>
                <a:sym typeface="Symbol" panose="05050102010706020507" pitchFamily="18" charset="2"/>
              </a:rPr>
              <a:t></a:t>
            </a:r>
            <a:r>
              <a:rPr lang="pt-BR" sz="2400" b="1" dirty="0">
                <a:solidFill>
                  <a:srgbClr val="00B050"/>
                </a:solidFill>
              </a:rPr>
              <a:t> Br</a:t>
            </a:r>
            <a:r>
              <a:rPr lang="pt-BR" sz="2400" b="1" baseline="-25000" dirty="0">
                <a:solidFill>
                  <a:srgbClr val="00B050"/>
                </a:solidFill>
              </a:rPr>
              <a:t>2</a:t>
            </a:r>
            <a:r>
              <a:rPr lang="pt-BR" sz="2400" b="1" dirty="0">
                <a:solidFill>
                  <a:srgbClr val="00B050"/>
                </a:solidFill>
              </a:rPr>
              <a:t>(g) + 2e</a:t>
            </a:r>
            <a:r>
              <a:rPr lang="pt-BR" sz="2400" b="1" baseline="30000" dirty="0">
                <a:solidFill>
                  <a:srgbClr val="00B050"/>
                </a:solidFill>
              </a:rPr>
              <a:t>−</a:t>
            </a:r>
            <a:endParaRPr lang="en-GB" sz="2400" b="1" dirty="0">
              <a:solidFill>
                <a:srgbClr val="00B050"/>
              </a:solidFill>
            </a:endParaRPr>
          </a:p>
          <a:p>
            <a:pPr lvl="0">
              <a:defRPr/>
            </a:pPr>
            <a:endParaRPr lang="en-GB" sz="2400" dirty="0"/>
          </a:p>
        </p:txBody>
      </p:sp>
    </p:spTree>
    <p:extLst>
      <p:ext uri="{BB962C8B-B14F-4D97-AF65-F5344CB8AC3E}">
        <p14:creationId xmlns:p14="http://schemas.microsoft.com/office/powerpoint/2010/main" val="6987010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4862870"/>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Electrolysis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Using electrolysis to extract </a:t>
            </a:r>
            <a:r>
              <a:rPr lang="en-US" sz="2400" b="1" dirty="0" smtClean="0">
                <a:solidFill>
                  <a:schemeClr val="bg1">
                    <a:lumMod val="50000"/>
                  </a:schemeClr>
                </a:solidFill>
              </a:rPr>
              <a:t>metals</a:t>
            </a:r>
          </a:p>
        </p:txBody>
      </p:sp>
    </p:spTree>
    <p:extLst>
      <p:ext uri="{BB962C8B-B14F-4D97-AF65-F5344CB8AC3E}">
        <p14:creationId xmlns:p14="http://schemas.microsoft.com/office/powerpoint/2010/main" val="21787025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Electrolysis - PART 2</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3907753" y="3323858"/>
            <a:ext cx="241338" cy="24133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251520" y="667251"/>
            <a:ext cx="8640960" cy="2246769"/>
          </a:xfrm>
          <a:prstGeom prst="rect">
            <a:avLst/>
          </a:prstGeom>
          <a:noFill/>
        </p:spPr>
        <p:txBody>
          <a:bodyPr wrap="square" rtlCol="0">
            <a:spAutoFit/>
          </a:bodyPr>
          <a:lstStyle/>
          <a:p>
            <a:pPr algn="ctr"/>
            <a:r>
              <a:rPr lang="en-GB" sz="2000" b="1" dirty="0"/>
              <a:t>Metals</a:t>
            </a:r>
            <a:r>
              <a:rPr lang="en-GB" sz="2000" dirty="0"/>
              <a:t> can be extracted from </a:t>
            </a:r>
            <a:r>
              <a:rPr lang="en-GB" sz="2000" b="1" dirty="0"/>
              <a:t>molten compounds </a:t>
            </a:r>
            <a:r>
              <a:rPr lang="en-GB" sz="2000" dirty="0"/>
              <a:t>using electrolysis.  </a:t>
            </a:r>
            <a:endParaRPr lang="en-GB" sz="2000" dirty="0" smtClean="0"/>
          </a:p>
          <a:p>
            <a:pPr algn="ctr"/>
            <a:r>
              <a:rPr lang="en-GB" sz="2000" b="1" dirty="0" smtClean="0">
                <a:solidFill>
                  <a:schemeClr val="accent6">
                    <a:lumMod val="75000"/>
                  </a:schemeClr>
                </a:solidFill>
              </a:rPr>
              <a:t>It </a:t>
            </a:r>
            <a:r>
              <a:rPr lang="en-GB" sz="2000" b="1" dirty="0">
                <a:solidFill>
                  <a:schemeClr val="accent6">
                    <a:lumMod val="75000"/>
                  </a:schemeClr>
                </a:solidFill>
              </a:rPr>
              <a:t>is used if the metal is too reactive to be extracted by reduction with carbon or if the metal reacts with carbon.  </a:t>
            </a:r>
            <a:endParaRPr lang="en-GB" sz="2000" b="1" dirty="0" smtClean="0">
              <a:solidFill>
                <a:schemeClr val="accent6">
                  <a:lumMod val="75000"/>
                </a:schemeClr>
              </a:solidFill>
            </a:endParaRPr>
          </a:p>
          <a:p>
            <a:pPr algn="ctr"/>
            <a:r>
              <a:rPr lang="en-GB" sz="2000" dirty="0" smtClean="0"/>
              <a:t>Large </a:t>
            </a:r>
            <a:r>
              <a:rPr lang="en-GB" sz="2000" dirty="0"/>
              <a:t>amounts of</a:t>
            </a:r>
            <a:r>
              <a:rPr lang="en-GB" sz="2000" b="1" dirty="0"/>
              <a:t> energy </a:t>
            </a:r>
            <a:r>
              <a:rPr lang="en-GB" sz="2000" dirty="0"/>
              <a:t>are used in the extraction process to melt the compounds and to produce the electrical current</a:t>
            </a:r>
            <a:r>
              <a:rPr lang="en-GB" sz="2000" dirty="0" smtClean="0"/>
              <a:t>.</a:t>
            </a:r>
            <a:endParaRPr lang="en-GB" sz="900" dirty="0"/>
          </a:p>
          <a:p>
            <a:pPr algn="ctr"/>
            <a:r>
              <a:rPr lang="en-US" sz="2000" dirty="0" smtClean="0"/>
              <a:t>Aluminum </a:t>
            </a:r>
            <a:r>
              <a:rPr lang="en-US" sz="2000" dirty="0"/>
              <a:t>is manufactured by electrolysis of  molten aluminum oxide</a:t>
            </a:r>
            <a:r>
              <a:rPr lang="en-US" sz="2000" dirty="0" smtClean="0"/>
              <a:t>.</a:t>
            </a:r>
            <a:endParaRPr lang="en-GB" sz="900" dirty="0"/>
          </a:p>
          <a:p>
            <a:pPr algn="ctr"/>
            <a:r>
              <a:rPr lang="en-GB" sz="2000" b="1" dirty="0">
                <a:solidFill>
                  <a:schemeClr val="accent6">
                    <a:lumMod val="75000"/>
                  </a:schemeClr>
                </a:solidFill>
                <a:effectLst>
                  <a:outerShdw blurRad="38100" dist="38100" dir="2700000" algn="tl">
                    <a:srgbClr val="000000">
                      <a:alpha val="43137"/>
                    </a:srgbClr>
                  </a:outerShdw>
                </a:effectLst>
              </a:rPr>
              <a:t>Aluminium oxide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aluminium + oxygen</a:t>
            </a:r>
            <a:endParaRPr lang="en-GB" sz="2000" b="1" dirty="0">
              <a:solidFill>
                <a:schemeClr val="accent6">
                  <a:lumMod val="75000"/>
                </a:schemeClr>
              </a:solidFill>
              <a:effectLst>
                <a:outerShdw blurRad="38100" dist="38100" dir="2700000" algn="tl">
                  <a:srgbClr val="000000">
                    <a:alpha val="43137"/>
                  </a:srgbClr>
                </a:outerShdw>
              </a:effectLst>
            </a:endParaRPr>
          </a:p>
        </p:txBody>
      </p:sp>
      <p:sp>
        <p:nvSpPr>
          <p:cNvPr id="6" name="Rectangle 5">
            <a:extLst>
              <a:ext uri="{FF2B5EF4-FFF2-40B4-BE49-F238E27FC236}">
                <a16:creationId xmlns:a16="http://schemas.microsoft.com/office/drawing/2014/main" xmlns="" id="{529C9FDA-A5C9-4E5A-9EBF-94502C1920ED}"/>
              </a:ext>
            </a:extLst>
          </p:cNvPr>
          <p:cNvSpPr/>
          <p:nvPr/>
        </p:nvSpPr>
        <p:spPr>
          <a:xfrm>
            <a:off x="3725615" y="2861743"/>
            <a:ext cx="5397433" cy="3785652"/>
          </a:xfrm>
          <a:prstGeom prst="rect">
            <a:avLst/>
          </a:prstGeom>
          <a:ln/>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US" sz="2000" dirty="0" err="1"/>
              <a:t>Aluminium</a:t>
            </a:r>
            <a:r>
              <a:rPr lang="en-US" sz="2000" dirty="0"/>
              <a:t> oxide has a very </a:t>
            </a:r>
            <a:r>
              <a:rPr lang="en-US" sz="2000" b="1" dirty="0"/>
              <a:t>high melting point </a:t>
            </a:r>
            <a:r>
              <a:rPr lang="en-US" sz="2000" dirty="0"/>
              <a:t>so is mixed with molten </a:t>
            </a:r>
            <a:r>
              <a:rPr lang="en-US" sz="2000" b="1" dirty="0"/>
              <a:t>cryolite</a:t>
            </a:r>
            <a:r>
              <a:rPr lang="en-US" sz="2000" dirty="0"/>
              <a:t> to lower the temperature required to carry out the electrolysis. </a:t>
            </a:r>
          </a:p>
          <a:p>
            <a:pPr algn="ctr"/>
            <a:r>
              <a:rPr lang="en-US" sz="2000" dirty="0" err="1"/>
              <a:t>Aluminium</a:t>
            </a:r>
            <a:r>
              <a:rPr lang="en-US" sz="2000" dirty="0"/>
              <a:t> goes to the negative electrode and sinks to bottom.</a:t>
            </a:r>
          </a:p>
          <a:p>
            <a:pPr algn="ctr"/>
            <a:r>
              <a:rPr lang="en-US" sz="2000" b="1" dirty="0">
                <a:solidFill>
                  <a:schemeClr val="accent6">
                    <a:lumMod val="75000"/>
                  </a:schemeClr>
                </a:solidFill>
                <a:effectLst>
                  <a:outerShdw blurRad="38100" dist="38100" dir="2700000" algn="tl">
                    <a:srgbClr val="000000">
                      <a:alpha val="43137"/>
                    </a:srgbClr>
                  </a:outerShdw>
                </a:effectLst>
              </a:rPr>
              <a:t>Higher: </a:t>
            </a:r>
            <a:r>
              <a:rPr lang="en-GB" sz="2000" b="1" dirty="0">
                <a:solidFill>
                  <a:schemeClr val="accent6">
                    <a:lumMod val="75000"/>
                  </a:schemeClr>
                </a:solidFill>
                <a:effectLst>
                  <a:outerShdw blurRad="38100" dist="38100" dir="2700000" algn="tl">
                    <a:srgbClr val="000000">
                      <a:alpha val="43137"/>
                    </a:srgbClr>
                  </a:outerShdw>
                </a:effectLst>
              </a:rPr>
              <a:t>Al </a:t>
            </a:r>
            <a:r>
              <a:rPr lang="en-GB" sz="2000" b="1" baseline="30000" dirty="0">
                <a:solidFill>
                  <a:schemeClr val="accent6">
                    <a:lumMod val="75000"/>
                  </a:schemeClr>
                </a:solidFill>
                <a:effectLst>
                  <a:outerShdw blurRad="38100" dist="38100" dir="2700000" algn="tl">
                    <a:srgbClr val="000000">
                      <a:alpha val="43137"/>
                    </a:srgbClr>
                  </a:outerShdw>
                </a:effectLst>
              </a:rPr>
              <a:t>3+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+ 3e </a:t>
            </a:r>
            <a:r>
              <a:rPr lang="en-GB" sz="2000"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Al</a:t>
            </a:r>
            <a:endParaRPr lang="en-GB" sz="2000" b="1" baseline="30000" dirty="0">
              <a:solidFill>
                <a:schemeClr val="accent6">
                  <a:lumMod val="75000"/>
                </a:schemeClr>
              </a:solidFill>
              <a:effectLst>
                <a:outerShdw blurRad="38100" dist="38100" dir="2700000" algn="tl">
                  <a:srgbClr val="000000">
                    <a:alpha val="43137"/>
                  </a:srgbClr>
                </a:outerShdw>
              </a:effectLst>
            </a:endParaRPr>
          </a:p>
          <a:p>
            <a:pPr algn="ctr"/>
            <a:r>
              <a:rPr lang="en-US" sz="2000" dirty="0"/>
              <a:t>Oxygen forms at positive electrodes. </a:t>
            </a:r>
          </a:p>
          <a:p>
            <a:pPr algn="ctr"/>
            <a:r>
              <a:rPr lang="en-US" sz="2000" b="1" dirty="0">
                <a:solidFill>
                  <a:schemeClr val="accent6">
                    <a:lumMod val="75000"/>
                  </a:schemeClr>
                </a:solidFill>
                <a:effectLst>
                  <a:outerShdw blurRad="38100" dist="38100" dir="2700000" algn="tl">
                    <a:srgbClr val="000000">
                      <a:alpha val="43137"/>
                    </a:srgbClr>
                  </a:outerShdw>
                </a:effectLst>
              </a:rPr>
              <a:t>Higher: </a:t>
            </a:r>
            <a:r>
              <a:rPr lang="en-GB" sz="2000" b="1" dirty="0">
                <a:solidFill>
                  <a:schemeClr val="accent6">
                    <a:lumMod val="75000"/>
                  </a:schemeClr>
                </a:solidFill>
                <a:effectLst>
                  <a:outerShdw blurRad="38100" dist="38100" dir="2700000" algn="tl">
                    <a:srgbClr val="000000">
                      <a:alpha val="43137"/>
                    </a:srgbClr>
                  </a:outerShdw>
                </a:effectLst>
              </a:rPr>
              <a:t>2O </a:t>
            </a:r>
            <a:r>
              <a:rPr lang="en-GB" sz="2000" b="1" baseline="30000" dirty="0">
                <a:solidFill>
                  <a:schemeClr val="accent6">
                    <a:lumMod val="75000"/>
                  </a:schemeClr>
                </a:solidFill>
                <a:effectLst>
                  <a:outerShdw blurRad="38100" dist="38100" dir="2700000" algn="tl">
                    <a:srgbClr val="000000">
                      <a:alpha val="43137"/>
                    </a:srgbClr>
                  </a:outerShdw>
                </a:effectLst>
              </a:rPr>
              <a:t>2-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O</a:t>
            </a:r>
            <a:r>
              <a:rPr lang="en-GB" sz="2000" b="1" baseline="-25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2 </a:t>
            </a:r>
            <a:r>
              <a:rPr lang="en-GB" sz="2000" b="1"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+ 4e </a:t>
            </a:r>
            <a:r>
              <a:rPr lang="en-GB" sz="2000" b="1" baseline="30000" dirty="0">
                <a:solidFill>
                  <a:schemeClr val="accent6">
                    <a:lumMod val="75000"/>
                  </a:schemeClr>
                </a:solidFill>
                <a:effectLst>
                  <a:outerShdw blurRad="38100" dist="38100" dir="2700000" algn="tl">
                    <a:srgbClr val="000000">
                      <a:alpha val="43137"/>
                    </a:srgbClr>
                  </a:outerShdw>
                </a:effectLst>
                <a:sym typeface="Wingdings" panose="05000000000000000000" pitchFamily="2" charset="2"/>
              </a:rPr>
              <a:t>–</a:t>
            </a:r>
          </a:p>
          <a:p>
            <a:pPr algn="ctr"/>
            <a:r>
              <a:rPr lang="en-US" sz="2000" dirty="0"/>
              <a:t>The oxygen reacts with the carbon electrode making carbon dioxide causing damage. The electrode needs </a:t>
            </a:r>
            <a:r>
              <a:rPr lang="en-US" sz="2000" b="1" dirty="0"/>
              <a:t>replacing</a:t>
            </a:r>
            <a:r>
              <a:rPr lang="en-US" sz="2000" dirty="0"/>
              <a:t> due to this reaction.</a:t>
            </a:r>
          </a:p>
          <a:p>
            <a:pPr algn="ctr"/>
            <a:r>
              <a:rPr lang="en-US" sz="2000" dirty="0"/>
              <a:t>C + O</a:t>
            </a:r>
            <a:r>
              <a:rPr lang="en-US" sz="2000" baseline="-25000" dirty="0"/>
              <a:t>2</a:t>
            </a:r>
            <a:r>
              <a:rPr lang="en-US" sz="2000" dirty="0"/>
              <a:t> </a:t>
            </a:r>
            <a:r>
              <a:rPr lang="en-US" sz="2000" dirty="0">
                <a:sym typeface="Wingdings" panose="05000000000000000000" pitchFamily="2" charset="2"/>
              </a:rPr>
              <a:t> CO</a:t>
            </a:r>
            <a:r>
              <a:rPr lang="en-US" sz="2000" baseline="-25000" dirty="0">
                <a:sym typeface="Wingdings" panose="05000000000000000000" pitchFamily="2" charset="2"/>
              </a:rPr>
              <a:t>2</a:t>
            </a:r>
            <a:endParaRPr lang="en-US" sz="2000" baseline="-25000" dirty="0"/>
          </a:p>
        </p:txBody>
      </p:sp>
      <p:grpSp>
        <p:nvGrpSpPr>
          <p:cNvPr id="5" name="Group 4"/>
          <p:cNvGrpSpPr/>
          <p:nvPr/>
        </p:nvGrpSpPr>
        <p:grpSpPr>
          <a:xfrm>
            <a:off x="-68465" y="3104415"/>
            <a:ext cx="3776370" cy="3139180"/>
            <a:chOff x="89217" y="2658403"/>
            <a:chExt cx="3963693" cy="3139346"/>
          </a:xfrm>
        </p:grpSpPr>
        <p:grpSp>
          <p:nvGrpSpPr>
            <p:cNvPr id="48" name="Group 47"/>
            <p:cNvGrpSpPr/>
            <p:nvPr/>
          </p:nvGrpSpPr>
          <p:grpSpPr>
            <a:xfrm>
              <a:off x="1154826" y="3039173"/>
              <a:ext cx="2807981" cy="1880166"/>
              <a:chOff x="2843808" y="1206397"/>
              <a:chExt cx="3546368" cy="2438627"/>
            </a:xfrm>
          </p:grpSpPr>
          <p:sp>
            <p:nvSpPr>
              <p:cNvPr id="49" name="Rectangle 48"/>
              <p:cNvSpPr/>
              <p:nvPr/>
            </p:nvSpPr>
            <p:spPr>
              <a:xfrm>
                <a:off x="3072038" y="2060848"/>
                <a:ext cx="2975096" cy="1230199"/>
              </a:xfrm>
              <a:prstGeom prst="rect">
                <a:avLst/>
              </a:prstGeom>
              <a:gradFill flip="none" rotWithShape="1">
                <a:gsLst>
                  <a:gs pos="0">
                    <a:srgbClr val="FFC000">
                      <a:lumMod val="0"/>
                      <a:lumOff val="100000"/>
                    </a:srgbClr>
                  </a:gs>
                  <a:gs pos="34000">
                    <a:srgbClr val="FFC000">
                      <a:lumMod val="0"/>
                      <a:lumOff val="100000"/>
                    </a:srgbClr>
                  </a:gs>
                  <a:gs pos="100000">
                    <a:srgbClr val="FFC000">
                      <a:lumMod val="100000"/>
                    </a:srgbClr>
                  </a:gs>
                </a:gsLst>
                <a:path path="circle">
                  <a:fillToRect l="50000" t="-80000" r="50000" b="18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50" name="Rectangle 49"/>
              <p:cNvSpPr/>
              <p:nvPr/>
            </p:nvSpPr>
            <p:spPr>
              <a:xfrm>
                <a:off x="3072038" y="3291047"/>
                <a:ext cx="2975096" cy="183115"/>
              </a:xfrm>
              <a:prstGeom prst="rect">
                <a:avLst/>
              </a:prstGeom>
              <a:solidFill>
                <a:srgbClr val="EC5C3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51" name="Rectangle 50"/>
              <p:cNvSpPr/>
              <p:nvPr/>
            </p:nvSpPr>
            <p:spPr>
              <a:xfrm>
                <a:off x="2987824" y="1340768"/>
                <a:ext cx="3168352" cy="2304256"/>
              </a:xfrm>
              <a:prstGeom prst="rect">
                <a:avLst/>
              </a:prstGeom>
              <a:noFill/>
              <a:ln w="200025" cap="flat" cmpd="sng" algn="ctr">
                <a:solidFill>
                  <a:sysClr val="window" lastClr="FFFFFF">
                    <a:lumMod val="6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52" name="Rectangle 51"/>
              <p:cNvSpPr/>
              <p:nvPr/>
            </p:nvSpPr>
            <p:spPr>
              <a:xfrm>
                <a:off x="3059831" y="1556792"/>
                <a:ext cx="2987303" cy="1949756"/>
              </a:xfrm>
              <a:prstGeom prst="rect">
                <a:avLst/>
              </a:prstGeom>
              <a:noFill/>
              <a:ln w="127000" cap="flat" cmpd="sng" algn="ctr">
                <a:solidFill>
                  <a:sysClr val="windowText" lastClr="000000">
                    <a:lumMod val="65000"/>
                    <a:lumOff val="3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53" name="Oval 52"/>
              <p:cNvSpPr>
                <a:spLocks noChangeAspect="1"/>
              </p:cNvSpPr>
              <p:nvPr/>
            </p:nvSpPr>
            <p:spPr>
              <a:xfrm>
                <a:off x="3005310" y="2604506"/>
                <a:ext cx="239623" cy="248430"/>
              </a:xfrm>
              <a:prstGeom prst="ellipse">
                <a:avLst/>
              </a:prstGeom>
              <a:solidFill>
                <a:sysClr val="window" lastClr="FFFFFF">
                  <a:lumMod val="85000"/>
                </a:sysClr>
              </a:solidFill>
              <a:ln w="6350" cap="flat" cmpd="sng" algn="ctr">
                <a:solidFill>
                  <a:srgbClr val="4472C4"/>
                </a:solidFill>
                <a:prstDash val="solid"/>
                <a:miter lim="800000"/>
              </a:ln>
              <a:effectLst/>
            </p:spPr>
            <p:txBody>
              <a:bodyPr wrap="none" tIns="0" rIns="90000" bIns="36000" rtlCol="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0" i="0" u="none" strike="noStrike" kern="0" cap="none" spc="0" normalizeH="0" baseline="0" noProof="0" dirty="0" smtClean="0">
                    <a:ln>
                      <a:noFill/>
                    </a:ln>
                    <a:solidFill>
                      <a:prstClr val="black"/>
                    </a:solidFill>
                    <a:effectLst/>
                    <a:uLnTx/>
                    <a:uFillTx/>
                    <a:latin typeface="Calibri" panose="020F0502020204030204"/>
                    <a:ea typeface=""/>
                    <a:cs typeface=""/>
                  </a:rPr>
                  <a:t>-</a:t>
                </a:r>
              </a:p>
            </p:txBody>
          </p:sp>
          <p:sp>
            <p:nvSpPr>
              <p:cNvPr id="54" name="Oval 53"/>
              <p:cNvSpPr>
                <a:spLocks noChangeAspect="1"/>
              </p:cNvSpPr>
              <p:nvPr/>
            </p:nvSpPr>
            <p:spPr>
              <a:xfrm>
                <a:off x="5862032" y="2549151"/>
                <a:ext cx="239623" cy="248430"/>
              </a:xfrm>
              <a:prstGeom prst="ellipse">
                <a:avLst/>
              </a:prstGeom>
              <a:solidFill>
                <a:sysClr val="window" lastClr="FFFFFF">
                  <a:lumMod val="85000"/>
                </a:sysClr>
              </a:solidFill>
              <a:ln w="6350" cap="flat" cmpd="sng" algn="ctr">
                <a:solidFill>
                  <a:srgbClr val="4472C4"/>
                </a:solidFill>
                <a:prstDash val="solid"/>
                <a:miter lim="800000"/>
              </a:ln>
              <a:effectLst/>
            </p:spPr>
            <p:txBody>
              <a:bodyPr wrap="none" tIns="0" rIns="90000" bIns="36000" rtlCol="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0" i="0" u="none" strike="noStrike" kern="0" cap="none" spc="0" normalizeH="0" baseline="0" noProof="0" dirty="0" smtClean="0">
                    <a:ln>
                      <a:noFill/>
                    </a:ln>
                    <a:solidFill>
                      <a:prstClr val="black"/>
                    </a:solidFill>
                    <a:effectLst/>
                    <a:uLnTx/>
                    <a:uFillTx/>
                    <a:latin typeface="Calibri" panose="020F0502020204030204"/>
                    <a:ea typeface=""/>
                    <a:cs typeface=""/>
                  </a:rPr>
                  <a:t>-</a:t>
                </a:r>
              </a:p>
            </p:txBody>
          </p:sp>
          <p:sp>
            <p:nvSpPr>
              <p:cNvPr id="55" name="Oval 54"/>
              <p:cNvSpPr>
                <a:spLocks noChangeAspect="1"/>
              </p:cNvSpPr>
              <p:nvPr/>
            </p:nvSpPr>
            <p:spPr>
              <a:xfrm flipH="1" flipV="1">
                <a:off x="4421262" y="3409810"/>
                <a:ext cx="216001" cy="216001"/>
              </a:xfrm>
              <a:prstGeom prst="ellipse">
                <a:avLst/>
              </a:prstGeom>
              <a:noFill/>
              <a:ln w="6350" cap="flat" cmpd="sng" algn="ctr">
                <a:noFill/>
                <a:prstDash val="solid"/>
                <a:miter lim="800000"/>
              </a:ln>
              <a:effectLst/>
            </p:spPr>
            <p:txBody>
              <a:bodyPr wrap="none" tIns="0" rIns="90000" bIns="36000" rtlCol="0" anchor="ctr" anchorCtr="1"/>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0" i="0" u="none" strike="noStrike" kern="0" cap="none" spc="0" normalizeH="0" baseline="0" noProof="0" dirty="0" smtClean="0">
                    <a:ln>
                      <a:noFill/>
                    </a:ln>
                    <a:solidFill>
                      <a:prstClr val="black"/>
                    </a:solidFill>
                    <a:effectLst/>
                    <a:uLnTx/>
                    <a:uFillTx/>
                    <a:latin typeface="Calibri" panose="020F0502020204030204"/>
                    <a:ea typeface=""/>
                    <a:cs typeface=""/>
                  </a:rPr>
                  <a:t>-</a:t>
                </a:r>
              </a:p>
            </p:txBody>
          </p:sp>
          <p:sp>
            <p:nvSpPr>
              <p:cNvPr id="56" name="Rectangle 55"/>
              <p:cNvSpPr/>
              <p:nvPr/>
            </p:nvSpPr>
            <p:spPr>
              <a:xfrm>
                <a:off x="2843808" y="1206397"/>
                <a:ext cx="3456384" cy="504056"/>
              </a:xfrm>
              <a:prstGeom prst="rect">
                <a:avLst/>
              </a:prstGeom>
              <a:solidFill>
                <a:sysClr val="window" lastClr="FFFFFF"/>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57" name="Rectangle 56"/>
              <p:cNvSpPr>
                <a:spLocks/>
              </p:cNvSpPr>
              <p:nvPr/>
            </p:nvSpPr>
            <p:spPr>
              <a:xfrm>
                <a:off x="3685732" y="1472467"/>
                <a:ext cx="36000" cy="828000"/>
              </a:xfrm>
              <a:prstGeom prst="rect">
                <a:avLst/>
              </a:prstGeom>
              <a:gradFill flip="none" rotWithShape="1">
                <a:gsLst>
                  <a:gs pos="0">
                    <a:srgbClr val="A5A5A5">
                      <a:lumMod val="89000"/>
                    </a:srgbClr>
                  </a:gs>
                  <a:gs pos="23000">
                    <a:srgbClr val="A5A5A5">
                      <a:lumMod val="89000"/>
                    </a:srgbClr>
                  </a:gs>
                  <a:gs pos="69000">
                    <a:srgbClr val="A5A5A5">
                      <a:lumMod val="75000"/>
                    </a:srgbClr>
                  </a:gs>
                  <a:gs pos="97000">
                    <a:srgbClr val="A5A5A5">
                      <a:lumMod val="70000"/>
                    </a:srgbClr>
                  </a:gs>
                </a:gsLst>
                <a:path path="circle">
                  <a:fillToRect l="50000" t="50000" r="50000" b="5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58" name="Rectangle 57"/>
              <p:cNvSpPr>
                <a:spLocks noChangeAspect="1"/>
              </p:cNvSpPr>
              <p:nvPr/>
            </p:nvSpPr>
            <p:spPr>
              <a:xfrm>
                <a:off x="3454243" y="2235966"/>
                <a:ext cx="534979" cy="540000"/>
              </a:xfrm>
              <a:prstGeom prst="rect">
                <a:avLst/>
              </a:prstGeom>
              <a:gradFill flip="none" rotWithShape="1">
                <a:gsLst>
                  <a:gs pos="0">
                    <a:srgbClr val="A5A5A5">
                      <a:lumMod val="89000"/>
                    </a:srgbClr>
                  </a:gs>
                  <a:gs pos="23000">
                    <a:srgbClr val="A5A5A5">
                      <a:lumMod val="89000"/>
                    </a:srgbClr>
                  </a:gs>
                  <a:gs pos="69000">
                    <a:srgbClr val="A5A5A5">
                      <a:lumMod val="75000"/>
                    </a:srgbClr>
                  </a:gs>
                  <a:gs pos="97000">
                    <a:srgbClr val="A5A5A5">
                      <a:lumMod val="70000"/>
                    </a:srgbClr>
                  </a:gs>
                </a:gsLst>
                <a:path path="circle">
                  <a:fillToRect l="50000" t="50000" r="50000" b="5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59" name="Rectangle 58"/>
              <p:cNvSpPr>
                <a:spLocks/>
              </p:cNvSpPr>
              <p:nvPr/>
            </p:nvSpPr>
            <p:spPr>
              <a:xfrm flipH="1">
                <a:off x="2911821" y="1458436"/>
                <a:ext cx="3276000" cy="36000"/>
              </a:xfrm>
              <a:prstGeom prst="rect">
                <a:avLst/>
              </a:prstGeom>
              <a:gradFill flip="none" rotWithShape="1">
                <a:gsLst>
                  <a:gs pos="0">
                    <a:srgbClr val="A5A5A5">
                      <a:lumMod val="89000"/>
                    </a:srgbClr>
                  </a:gs>
                  <a:gs pos="23000">
                    <a:srgbClr val="A5A5A5">
                      <a:lumMod val="89000"/>
                    </a:srgbClr>
                  </a:gs>
                  <a:gs pos="69000">
                    <a:srgbClr val="A5A5A5">
                      <a:lumMod val="75000"/>
                    </a:srgbClr>
                  </a:gs>
                  <a:gs pos="97000">
                    <a:srgbClr val="A5A5A5">
                      <a:lumMod val="70000"/>
                    </a:srgbClr>
                  </a:gs>
                </a:gsLst>
                <a:path path="circle">
                  <a:fillToRect l="50000" t="50000" r="50000" b="5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60" name="Oval 59"/>
              <p:cNvSpPr>
                <a:spLocks/>
              </p:cNvSpPr>
              <p:nvPr/>
            </p:nvSpPr>
            <p:spPr>
              <a:xfrm>
                <a:off x="3593175" y="2361950"/>
                <a:ext cx="216000" cy="216000"/>
              </a:xfrm>
              <a:prstGeom prst="ellipse">
                <a:avLst/>
              </a:prstGeom>
              <a:solidFill>
                <a:sysClr val="window" lastClr="FFFFFF">
                  <a:lumMod val="75000"/>
                </a:sysClr>
              </a:solidFill>
              <a:ln w="6350" cap="flat" cmpd="sng" algn="ctr">
                <a:solidFill>
                  <a:sysClr val="window" lastClr="FFFFFF"/>
                </a:solidFill>
                <a:prstDash val="solid"/>
                <a:miter lim="800000"/>
              </a:ln>
              <a:effectLst/>
            </p:spPr>
            <p:txBody>
              <a:bodyPr wrap="none" rtlCol="0" anchor="ctr" anchorCtr="1"/>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GB" sz="2000" b="0" i="0" u="none" strike="noStrike" kern="0" cap="none" spc="0" normalizeH="0" baseline="0" noProof="0" dirty="0" smtClean="0">
                    <a:ln>
                      <a:noFill/>
                    </a:ln>
                    <a:solidFill>
                      <a:prstClr val="black"/>
                    </a:solidFill>
                    <a:effectLst/>
                    <a:uLnTx/>
                    <a:uFillTx/>
                    <a:latin typeface="Calibri" panose="020F0502020204030204"/>
                    <a:ea typeface=""/>
                    <a:cs typeface=""/>
                  </a:rPr>
                  <a:t>+</a:t>
                </a:r>
              </a:p>
            </p:txBody>
          </p:sp>
          <p:sp>
            <p:nvSpPr>
              <p:cNvPr id="61" name="Rectangle 60"/>
              <p:cNvSpPr>
                <a:spLocks/>
              </p:cNvSpPr>
              <p:nvPr/>
            </p:nvSpPr>
            <p:spPr>
              <a:xfrm>
                <a:off x="4513821" y="1472467"/>
                <a:ext cx="36000" cy="828000"/>
              </a:xfrm>
              <a:prstGeom prst="rect">
                <a:avLst/>
              </a:prstGeom>
              <a:gradFill flip="none" rotWithShape="1">
                <a:gsLst>
                  <a:gs pos="0">
                    <a:srgbClr val="A5A5A5">
                      <a:lumMod val="89000"/>
                    </a:srgbClr>
                  </a:gs>
                  <a:gs pos="23000">
                    <a:srgbClr val="A5A5A5">
                      <a:lumMod val="89000"/>
                    </a:srgbClr>
                  </a:gs>
                  <a:gs pos="69000">
                    <a:srgbClr val="A5A5A5">
                      <a:lumMod val="75000"/>
                    </a:srgbClr>
                  </a:gs>
                  <a:gs pos="97000">
                    <a:srgbClr val="A5A5A5">
                      <a:lumMod val="70000"/>
                    </a:srgbClr>
                  </a:gs>
                </a:gsLst>
                <a:path path="circle">
                  <a:fillToRect l="50000" t="50000" r="50000" b="5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62" name="Rectangle 61"/>
              <p:cNvSpPr>
                <a:spLocks noChangeAspect="1"/>
              </p:cNvSpPr>
              <p:nvPr/>
            </p:nvSpPr>
            <p:spPr>
              <a:xfrm>
                <a:off x="4282332" y="2235966"/>
                <a:ext cx="534979" cy="540000"/>
              </a:xfrm>
              <a:prstGeom prst="rect">
                <a:avLst/>
              </a:prstGeom>
              <a:gradFill flip="none" rotWithShape="1">
                <a:gsLst>
                  <a:gs pos="0">
                    <a:srgbClr val="A5A5A5">
                      <a:lumMod val="89000"/>
                    </a:srgbClr>
                  </a:gs>
                  <a:gs pos="23000">
                    <a:srgbClr val="A5A5A5">
                      <a:lumMod val="89000"/>
                    </a:srgbClr>
                  </a:gs>
                  <a:gs pos="69000">
                    <a:srgbClr val="A5A5A5">
                      <a:lumMod val="75000"/>
                    </a:srgbClr>
                  </a:gs>
                  <a:gs pos="97000">
                    <a:srgbClr val="A5A5A5">
                      <a:lumMod val="70000"/>
                    </a:srgbClr>
                  </a:gs>
                </a:gsLst>
                <a:path path="circle">
                  <a:fillToRect l="50000" t="50000" r="50000" b="5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63" name="Oval 62"/>
              <p:cNvSpPr>
                <a:spLocks/>
              </p:cNvSpPr>
              <p:nvPr/>
            </p:nvSpPr>
            <p:spPr>
              <a:xfrm>
                <a:off x="4421264" y="2361950"/>
                <a:ext cx="216000" cy="216000"/>
              </a:xfrm>
              <a:prstGeom prst="ellipse">
                <a:avLst/>
              </a:prstGeom>
              <a:solidFill>
                <a:sysClr val="window" lastClr="FFFFFF">
                  <a:lumMod val="75000"/>
                </a:sysClr>
              </a:solidFill>
              <a:ln w="6350" cap="flat" cmpd="sng" algn="ctr">
                <a:solidFill>
                  <a:sysClr val="window" lastClr="FFFFFF"/>
                </a:solidFill>
                <a:prstDash val="solid"/>
                <a:miter lim="800000"/>
              </a:ln>
              <a:effectLst/>
            </p:spPr>
            <p:txBody>
              <a:bodyPr wrap="none" rtlCol="0" anchor="ctr" anchorCtr="1"/>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GB" sz="2000" b="0" i="0" u="none" strike="noStrike" kern="0" cap="none" spc="0" normalizeH="0" baseline="0" noProof="0" dirty="0" smtClean="0">
                    <a:ln>
                      <a:noFill/>
                    </a:ln>
                    <a:solidFill>
                      <a:prstClr val="black"/>
                    </a:solidFill>
                    <a:effectLst/>
                    <a:uLnTx/>
                    <a:uFillTx/>
                    <a:latin typeface="Calibri" panose="020F0502020204030204"/>
                    <a:ea typeface=""/>
                    <a:cs typeface=""/>
                  </a:rPr>
                  <a:t>+</a:t>
                </a:r>
              </a:p>
            </p:txBody>
          </p:sp>
          <p:sp>
            <p:nvSpPr>
              <p:cNvPr id="64" name="Rectangle 63"/>
              <p:cNvSpPr>
                <a:spLocks/>
              </p:cNvSpPr>
              <p:nvPr/>
            </p:nvSpPr>
            <p:spPr>
              <a:xfrm>
                <a:off x="5305909" y="1468080"/>
                <a:ext cx="36000" cy="828000"/>
              </a:xfrm>
              <a:prstGeom prst="rect">
                <a:avLst/>
              </a:prstGeom>
              <a:gradFill flip="none" rotWithShape="1">
                <a:gsLst>
                  <a:gs pos="0">
                    <a:srgbClr val="A5A5A5">
                      <a:lumMod val="89000"/>
                    </a:srgbClr>
                  </a:gs>
                  <a:gs pos="23000">
                    <a:srgbClr val="A5A5A5">
                      <a:lumMod val="89000"/>
                    </a:srgbClr>
                  </a:gs>
                  <a:gs pos="69000">
                    <a:srgbClr val="A5A5A5">
                      <a:lumMod val="75000"/>
                    </a:srgbClr>
                  </a:gs>
                  <a:gs pos="97000">
                    <a:srgbClr val="A5A5A5">
                      <a:lumMod val="70000"/>
                    </a:srgbClr>
                  </a:gs>
                </a:gsLst>
                <a:path path="circle">
                  <a:fillToRect l="50000" t="50000" r="50000" b="5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65" name="Rectangle 64"/>
              <p:cNvSpPr>
                <a:spLocks noChangeAspect="1"/>
              </p:cNvSpPr>
              <p:nvPr/>
            </p:nvSpPr>
            <p:spPr>
              <a:xfrm>
                <a:off x="5074420" y="2231579"/>
                <a:ext cx="534979" cy="540000"/>
              </a:xfrm>
              <a:prstGeom prst="rect">
                <a:avLst/>
              </a:prstGeom>
              <a:gradFill flip="none" rotWithShape="1">
                <a:gsLst>
                  <a:gs pos="0">
                    <a:srgbClr val="A5A5A5">
                      <a:lumMod val="89000"/>
                    </a:srgbClr>
                  </a:gs>
                  <a:gs pos="23000">
                    <a:srgbClr val="A5A5A5">
                      <a:lumMod val="89000"/>
                    </a:srgbClr>
                  </a:gs>
                  <a:gs pos="69000">
                    <a:srgbClr val="A5A5A5">
                      <a:lumMod val="75000"/>
                    </a:srgbClr>
                  </a:gs>
                  <a:gs pos="97000">
                    <a:srgbClr val="A5A5A5">
                      <a:lumMod val="70000"/>
                    </a:srgbClr>
                  </a:gs>
                </a:gsLst>
                <a:path path="circle">
                  <a:fillToRect l="50000" t="50000" r="50000" b="50000"/>
                </a:path>
                <a:tileRect/>
              </a:gradFill>
              <a:ln w="12700" cap="flat" cmpd="sng" algn="ctr">
                <a:solidFill>
                  <a:sysClr val="windowText" lastClr="000000">
                    <a:lumMod val="50000"/>
                    <a:lumOff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66" name="Oval 65"/>
              <p:cNvSpPr>
                <a:spLocks/>
              </p:cNvSpPr>
              <p:nvPr/>
            </p:nvSpPr>
            <p:spPr>
              <a:xfrm>
                <a:off x="5213352" y="2357563"/>
                <a:ext cx="216000" cy="216000"/>
              </a:xfrm>
              <a:prstGeom prst="ellipse">
                <a:avLst/>
              </a:prstGeom>
              <a:solidFill>
                <a:sysClr val="window" lastClr="FFFFFF">
                  <a:lumMod val="75000"/>
                </a:sysClr>
              </a:solidFill>
              <a:ln w="6350" cap="flat" cmpd="sng" algn="ctr">
                <a:solidFill>
                  <a:sysClr val="window" lastClr="FFFFFF"/>
                </a:solidFill>
                <a:prstDash val="solid"/>
                <a:miter lim="800000"/>
              </a:ln>
              <a:effectLst/>
            </p:spPr>
            <p:txBody>
              <a:bodyPr wrap="none" rtlCol="0" anchor="ctr" anchorCtr="1"/>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GB" sz="2000" b="0" i="0" u="none" strike="noStrike" kern="0" cap="none" spc="0" normalizeH="0" baseline="0" noProof="0" dirty="0" smtClean="0">
                    <a:ln>
                      <a:noFill/>
                    </a:ln>
                    <a:solidFill>
                      <a:prstClr val="black"/>
                    </a:solidFill>
                    <a:effectLst/>
                    <a:uLnTx/>
                    <a:uFillTx/>
                    <a:latin typeface="Calibri" panose="020F0502020204030204"/>
                    <a:ea typeface=""/>
                    <a:cs typeface=""/>
                  </a:rPr>
                  <a:t>+</a:t>
                </a:r>
              </a:p>
            </p:txBody>
          </p:sp>
          <p:cxnSp>
            <p:nvCxnSpPr>
              <p:cNvPr id="67" name="Straight Connector 66"/>
              <p:cNvCxnSpPr/>
              <p:nvPr/>
            </p:nvCxnSpPr>
            <p:spPr>
              <a:xfrm>
                <a:off x="5922176" y="3409810"/>
                <a:ext cx="468000" cy="0"/>
              </a:xfrm>
              <a:prstGeom prst="line">
                <a:avLst/>
              </a:prstGeom>
              <a:noFill/>
              <a:ln w="63500" cap="flat" cmpd="sng" algn="ctr">
                <a:solidFill>
                  <a:srgbClr val="EC5C33"/>
                </a:solidFill>
                <a:prstDash val="solid"/>
                <a:miter lim="800000"/>
              </a:ln>
              <a:effectLst/>
            </p:spPr>
          </p:cxnSp>
          <p:sp>
            <p:nvSpPr>
              <p:cNvPr id="68" name="Oval 67"/>
              <p:cNvSpPr>
                <a:spLocks noChangeAspect="1"/>
              </p:cNvSpPr>
              <p:nvPr/>
            </p:nvSpPr>
            <p:spPr>
              <a:xfrm>
                <a:off x="5688136" y="2204864"/>
                <a:ext cx="72000" cy="72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69" name="Oval 68"/>
              <p:cNvSpPr>
                <a:spLocks noChangeAspect="1"/>
              </p:cNvSpPr>
              <p:nvPr/>
            </p:nvSpPr>
            <p:spPr>
              <a:xfrm>
                <a:off x="5652120" y="2357264"/>
                <a:ext cx="36000" cy="36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70" name="Oval 69"/>
              <p:cNvSpPr>
                <a:spLocks noChangeAspect="1"/>
              </p:cNvSpPr>
              <p:nvPr/>
            </p:nvSpPr>
            <p:spPr>
              <a:xfrm>
                <a:off x="5004048" y="2132856"/>
                <a:ext cx="72000" cy="72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71" name="Oval 70"/>
              <p:cNvSpPr>
                <a:spLocks noChangeAspect="1"/>
              </p:cNvSpPr>
              <p:nvPr/>
            </p:nvSpPr>
            <p:spPr>
              <a:xfrm>
                <a:off x="3347872" y="2132856"/>
                <a:ext cx="72000" cy="72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72" name="Oval 71"/>
              <p:cNvSpPr>
                <a:spLocks noChangeAspect="1"/>
              </p:cNvSpPr>
              <p:nvPr/>
            </p:nvSpPr>
            <p:spPr>
              <a:xfrm>
                <a:off x="3995936" y="2132856"/>
                <a:ext cx="72000" cy="72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73" name="Oval 72"/>
              <p:cNvSpPr>
                <a:spLocks noChangeAspect="1"/>
              </p:cNvSpPr>
              <p:nvPr/>
            </p:nvSpPr>
            <p:spPr>
              <a:xfrm>
                <a:off x="4838675" y="2168864"/>
                <a:ext cx="36000" cy="36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74" name="Oval 73"/>
              <p:cNvSpPr>
                <a:spLocks noChangeAspect="1"/>
              </p:cNvSpPr>
              <p:nvPr/>
            </p:nvSpPr>
            <p:spPr>
              <a:xfrm>
                <a:off x="4034979" y="2386916"/>
                <a:ext cx="36000" cy="36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75" name="Oval 74"/>
              <p:cNvSpPr>
                <a:spLocks noChangeAspect="1"/>
              </p:cNvSpPr>
              <p:nvPr/>
            </p:nvSpPr>
            <p:spPr>
              <a:xfrm>
                <a:off x="3264487" y="2367082"/>
                <a:ext cx="72000" cy="72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76" name="Oval 75"/>
              <p:cNvSpPr>
                <a:spLocks noChangeAspect="1"/>
              </p:cNvSpPr>
              <p:nvPr/>
            </p:nvSpPr>
            <p:spPr>
              <a:xfrm>
                <a:off x="3160128" y="2168421"/>
                <a:ext cx="36000" cy="36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sp>
            <p:nvSpPr>
              <p:cNvPr id="77" name="Oval 76"/>
              <p:cNvSpPr>
                <a:spLocks noChangeAspect="1"/>
              </p:cNvSpPr>
              <p:nvPr/>
            </p:nvSpPr>
            <p:spPr>
              <a:xfrm>
                <a:off x="4932040" y="2492896"/>
                <a:ext cx="36000" cy="36000"/>
              </a:xfrm>
              <a:prstGeom prst="ellipse">
                <a:avLst/>
              </a:prstGeom>
              <a:solidFill>
                <a:srgbClr val="E7E6E6"/>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smtClean="0">
                  <a:ln>
                    <a:noFill/>
                  </a:ln>
                  <a:solidFill>
                    <a:prstClr val="white"/>
                  </a:solidFill>
                  <a:effectLst/>
                  <a:uLnTx/>
                  <a:uFillTx/>
                  <a:latin typeface="Calibri" panose="020F0502020204030204"/>
                  <a:ea typeface=""/>
                  <a:cs typeface=""/>
                </a:endParaRPr>
              </a:p>
            </p:txBody>
          </p:sp>
        </p:grpSp>
        <p:sp>
          <p:nvSpPr>
            <p:cNvPr id="78" name="TextBox 77"/>
            <p:cNvSpPr txBox="1"/>
            <p:nvPr/>
          </p:nvSpPr>
          <p:spPr>
            <a:xfrm>
              <a:off x="93085" y="2658403"/>
              <a:ext cx="1314213" cy="49244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300" b="1" i="0" u="none" strike="noStrike" kern="0" cap="none" spc="0" normalizeH="0" baseline="0" noProof="0" dirty="0" smtClean="0">
                  <a:ln>
                    <a:noFill/>
                  </a:ln>
                  <a:solidFill>
                    <a:prstClr val="black"/>
                  </a:solidFill>
                  <a:effectLst/>
                  <a:uLnTx/>
                  <a:uFillTx/>
                </a:rPr>
                <a:t>Graphite anodes + charge</a:t>
              </a:r>
              <a:endParaRPr kumimoji="0" lang="en-GB" sz="1300" b="1" i="0" u="none" strike="noStrike" kern="0" cap="none" spc="0" normalizeH="0" baseline="30000" noProof="0" dirty="0" smtClean="0">
                <a:ln>
                  <a:noFill/>
                </a:ln>
                <a:solidFill>
                  <a:prstClr val="black"/>
                </a:solidFill>
                <a:effectLst/>
                <a:uLnTx/>
                <a:uFillTx/>
              </a:endParaRPr>
            </a:p>
          </p:txBody>
        </p:sp>
        <p:cxnSp>
          <p:nvCxnSpPr>
            <p:cNvPr id="79" name="Straight Arrow Connector 78"/>
            <p:cNvCxnSpPr>
              <a:stCxn id="78" idx="3"/>
            </p:cNvCxnSpPr>
            <p:nvPr/>
          </p:nvCxnSpPr>
          <p:spPr>
            <a:xfrm>
              <a:off x="1407298" y="2904625"/>
              <a:ext cx="386868" cy="515087"/>
            </a:xfrm>
            <a:prstGeom prst="straightConnector1">
              <a:avLst/>
            </a:prstGeom>
            <a:noFill/>
            <a:ln w="28575" cap="flat" cmpd="sng" algn="ctr">
              <a:solidFill>
                <a:sysClr val="windowText" lastClr="000000"/>
              </a:solidFill>
              <a:prstDash val="solid"/>
              <a:miter lim="800000"/>
              <a:tailEnd type="triangle"/>
            </a:ln>
            <a:effectLst/>
          </p:spPr>
        </p:cxnSp>
        <p:sp>
          <p:nvSpPr>
            <p:cNvPr id="80" name="TextBox 79"/>
            <p:cNvSpPr txBox="1"/>
            <p:nvPr/>
          </p:nvSpPr>
          <p:spPr>
            <a:xfrm>
              <a:off x="89217" y="5089512"/>
              <a:ext cx="1365283" cy="49244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300" b="1" i="0" u="none" strike="noStrike" kern="0" cap="none" spc="0" normalizeH="0" baseline="0" noProof="0" dirty="0" smtClean="0">
                  <a:ln>
                    <a:noFill/>
                  </a:ln>
                  <a:solidFill>
                    <a:prstClr val="black"/>
                  </a:solidFill>
                  <a:effectLst/>
                  <a:uLnTx/>
                  <a:uFillTx/>
                </a:rPr>
                <a:t>Graphite cathode - charge </a:t>
              </a:r>
              <a:endParaRPr kumimoji="0" lang="en-GB" sz="1300" b="1" i="0" u="none" strike="noStrike" kern="0" cap="none" spc="0" normalizeH="0" baseline="30000" noProof="0" dirty="0" smtClean="0">
                <a:ln>
                  <a:noFill/>
                </a:ln>
                <a:solidFill>
                  <a:prstClr val="black"/>
                </a:solidFill>
                <a:effectLst/>
                <a:uLnTx/>
                <a:uFillTx/>
              </a:endParaRPr>
            </a:p>
          </p:txBody>
        </p:sp>
        <p:cxnSp>
          <p:nvCxnSpPr>
            <p:cNvPr id="81" name="Straight Arrow Connector 80"/>
            <p:cNvCxnSpPr>
              <a:stCxn id="80" idx="0"/>
            </p:cNvCxnSpPr>
            <p:nvPr/>
          </p:nvCxnSpPr>
          <p:spPr>
            <a:xfrm flipV="1">
              <a:off x="771859" y="4700321"/>
              <a:ext cx="532521" cy="389191"/>
            </a:xfrm>
            <a:prstGeom prst="straightConnector1">
              <a:avLst/>
            </a:prstGeom>
            <a:noFill/>
            <a:ln w="28575" cap="flat" cmpd="sng" algn="ctr">
              <a:solidFill>
                <a:sysClr val="windowText" lastClr="000000"/>
              </a:solidFill>
              <a:prstDash val="solid"/>
              <a:miter lim="800000"/>
              <a:tailEnd type="triangle"/>
            </a:ln>
            <a:effectLst/>
          </p:spPr>
        </p:cxnSp>
        <p:sp>
          <p:nvSpPr>
            <p:cNvPr id="82" name="TextBox 81"/>
            <p:cNvSpPr txBox="1"/>
            <p:nvPr/>
          </p:nvSpPr>
          <p:spPr>
            <a:xfrm>
              <a:off x="1401233" y="5105252"/>
              <a:ext cx="1519771" cy="69249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300" b="1" i="0" u="none" strike="noStrike" kern="0" cap="none" spc="0" normalizeH="0" baseline="0" noProof="0" dirty="0" smtClean="0">
                  <a:ln>
                    <a:noFill/>
                  </a:ln>
                  <a:solidFill>
                    <a:prstClr val="black"/>
                  </a:solidFill>
                  <a:effectLst/>
                  <a:uLnTx/>
                  <a:uFillTx/>
                </a:rPr>
                <a:t>Molten aluminium oxide </a:t>
              </a:r>
              <a:r>
                <a:rPr kumimoji="0" lang="en-GB" sz="1300" b="1" i="0" u="none" strike="noStrike" kern="0" cap="none" spc="0" normalizeH="0" baseline="0" noProof="0" smtClean="0">
                  <a:ln>
                    <a:noFill/>
                  </a:ln>
                  <a:solidFill>
                    <a:prstClr val="black"/>
                  </a:solidFill>
                  <a:effectLst/>
                  <a:uLnTx/>
                  <a:uFillTx/>
                </a:rPr>
                <a:t>with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300" b="1" i="0" u="none" strike="noStrike" kern="0" cap="none" spc="0" normalizeH="0" baseline="0" noProof="0" dirty="0" err="1" smtClean="0">
                  <a:ln>
                    <a:noFill/>
                  </a:ln>
                  <a:solidFill>
                    <a:prstClr val="black"/>
                  </a:solidFill>
                  <a:effectLst/>
                  <a:uLnTx/>
                  <a:uFillTx/>
                </a:rPr>
                <a:t>cryolite</a:t>
              </a:r>
              <a:r>
                <a:rPr kumimoji="0" lang="en-GB" sz="1300" b="1" i="0" u="none" strike="noStrike" kern="0" cap="none" spc="0" normalizeH="0" baseline="0" noProof="0" dirty="0" smtClean="0">
                  <a:ln>
                    <a:noFill/>
                  </a:ln>
                  <a:solidFill>
                    <a:prstClr val="black"/>
                  </a:solidFill>
                  <a:effectLst/>
                  <a:uLnTx/>
                  <a:uFillTx/>
                </a:rPr>
                <a:t> 950 </a:t>
              </a:r>
              <a:r>
                <a:rPr kumimoji="0" lang="en-GB" sz="1300" b="1" i="0" u="none" strike="noStrike" kern="0" cap="none" spc="0" normalizeH="0" baseline="30000" noProof="0" dirty="0" err="1" smtClean="0">
                  <a:ln>
                    <a:noFill/>
                  </a:ln>
                  <a:solidFill>
                    <a:prstClr val="black"/>
                  </a:solidFill>
                  <a:effectLst/>
                  <a:uLnTx/>
                  <a:uFillTx/>
                </a:rPr>
                <a:t>o</a:t>
              </a:r>
              <a:r>
                <a:rPr kumimoji="0" lang="en-GB" sz="1300" b="1" i="0" u="none" strike="noStrike" kern="0" cap="none" spc="0" normalizeH="0" baseline="0" noProof="0" dirty="0" err="1" smtClean="0">
                  <a:ln>
                    <a:noFill/>
                  </a:ln>
                  <a:solidFill>
                    <a:prstClr val="black"/>
                  </a:solidFill>
                  <a:effectLst/>
                  <a:uLnTx/>
                  <a:uFillTx/>
                </a:rPr>
                <a:t>C</a:t>
              </a:r>
              <a:endParaRPr kumimoji="0" lang="en-GB" sz="1300" b="1" i="0" u="none" strike="noStrike" kern="0" cap="none" spc="0" normalizeH="0" baseline="30000" noProof="0" dirty="0" smtClean="0">
                <a:ln>
                  <a:noFill/>
                </a:ln>
                <a:solidFill>
                  <a:prstClr val="black"/>
                </a:solidFill>
                <a:effectLst/>
                <a:uLnTx/>
                <a:uFillTx/>
              </a:endParaRPr>
            </a:p>
          </p:txBody>
        </p:sp>
        <p:cxnSp>
          <p:nvCxnSpPr>
            <p:cNvPr id="83" name="Straight Arrow Connector 82"/>
            <p:cNvCxnSpPr>
              <a:stCxn id="82" idx="0"/>
            </p:cNvCxnSpPr>
            <p:nvPr/>
          </p:nvCxnSpPr>
          <p:spPr>
            <a:xfrm flipV="1">
              <a:off x="2161119" y="4448070"/>
              <a:ext cx="63445" cy="657182"/>
            </a:xfrm>
            <a:prstGeom prst="straightConnector1">
              <a:avLst/>
            </a:prstGeom>
            <a:noFill/>
            <a:ln w="28575" cap="flat" cmpd="sng" algn="ctr">
              <a:solidFill>
                <a:sysClr val="windowText" lastClr="000000"/>
              </a:solidFill>
              <a:prstDash val="solid"/>
              <a:miter lim="800000"/>
              <a:tailEnd type="triangle"/>
            </a:ln>
            <a:effectLst/>
          </p:spPr>
        </p:cxnSp>
        <p:sp>
          <p:nvSpPr>
            <p:cNvPr id="84" name="TextBox 83"/>
            <p:cNvSpPr txBox="1"/>
            <p:nvPr/>
          </p:nvSpPr>
          <p:spPr>
            <a:xfrm>
              <a:off x="2627051" y="5111316"/>
              <a:ext cx="1425859" cy="49244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300" b="1" i="0" u="none" strike="noStrike" kern="0" cap="none" spc="0" normalizeH="0" baseline="0" noProof="0" dirty="0" smtClean="0">
                  <a:ln>
                    <a:noFill/>
                  </a:ln>
                  <a:solidFill>
                    <a:prstClr val="black"/>
                  </a:solidFill>
                  <a:effectLst/>
                  <a:uLnTx/>
                  <a:uFillTx/>
                </a:rPr>
                <a:t>Molten aluminium</a:t>
              </a:r>
              <a:endParaRPr kumimoji="0" lang="en-GB" sz="1300" b="1" i="0" u="none" strike="noStrike" kern="0" cap="none" spc="0" normalizeH="0" baseline="30000" noProof="0" dirty="0" smtClean="0">
                <a:ln>
                  <a:noFill/>
                </a:ln>
                <a:solidFill>
                  <a:prstClr val="black"/>
                </a:solidFill>
                <a:effectLst/>
                <a:uLnTx/>
                <a:uFillTx/>
              </a:endParaRPr>
            </a:p>
          </p:txBody>
        </p:sp>
        <p:cxnSp>
          <p:nvCxnSpPr>
            <p:cNvPr id="85" name="Straight Arrow Connector 84"/>
            <p:cNvCxnSpPr>
              <a:stCxn id="84" idx="0"/>
            </p:cNvCxnSpPr>
            <p:nvPr/>
          </p:nvCxnSpPr>
          <p:spPr>
            <a:xfrm flipH="1" flipV="1">
              <a:off x="3104295" y="4657380"/>
              <a:ext cx="235686" cy="453936"/>
            </a:xfrm>
            <a:prstGeom prst="straightConnector1">
              <a:avLst/>
            </a:prstGeom>
            <a:noFill/>
            <a:ln w="28575" cap="flat" cmpd="sng" algn="ctr">
              <a:solidFill>
                <a:sysClr val="windowText" lastClr="000000"/>
              </a:solidFill>
              <a:prstDash val="solid"/>
              <a:miter lim="800000"/>
              <a:tailEnd type="triangle"/>
            </a:ln>
            <a:effectLst/>
          </p:spPr>
        </p:cxnSp>
        <p:sp>
          <p:nvSpPr>
            <p:cNvPr id="86" name="TextBox 85"/>
            <p:cNvSpPr txBox="1"/>
            <p:nvPr/>
          </p:nvSpPr>
          <p:spPr>
            <a:xfrm>
              <a:off x="205220" y="3910923"/>
              <a:ext cx="735476" cy="492443"/>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300" b="1" i="0" u="none" strike="noStrike" kern="0" cap="none" spc="0" normalizeH="0" baseline="0" noProof="0" dirty="0" smtClean="0">
                  <a:ln>
                    <a:noFill/>
                  </a:ln>
                  <a:solidFill>
                    <a:prstClr val="black"/>
                  </a:solidFill>
                  <a:effectLst/>
                  <a:uLnTx/>
                  <a:uFillTx/>
                </a:rPr>
                <a:t>Steel case</a:t>
              </a:r>
              <a:endParaRPr kumimoji="0" lang="en-GB" sz="1300" b="1" i="0" u="none" strike="noStrike" kern="0" cap="none" spc="0" normalizeH="0" baseline="30000" noProof="0" dirty="0" smtClean="0">
                <a:ln>
                  <a:noFill/>
                </a:ln>
                <a:solidFill>
                  <a:prstClr val="black"/>
                </a:solidFill>
                <a:effectLst/>
                <a:uLnTx/>
                <a:uFillTx/>
              </a:endParaRPr>
            </a:p>
          </p:txBody>
        </p:sp>
        <p:cxnSp>
          <p:nvCxnSpPr>
            <p:cNvPr id="87" name="Straight Arrow Connector 86"/>
            <p:cNvCxnSpPr/>
            <p:nvPr/>
          </p:nvCxnSpPr>
          <p:spPr>
            <a:xfrm>
              <a:off x="850966" y="4117106"/>
              <a:ext cx="357712" cy="0"/>
            </a:xfrm>
            <a:prstGeom prst="straightConnector1">
              <a:avLst/>
            </a:prstGeom>
            <a:noFill/>
            <a:ln w="28575" cap="flat" cmpd="sng" algn="ctr">
              <a:solidFill>
                <a:sysClr val="windowText" lastClr="000000"/>
              </a:solidFill>
              <a:prstDash val="solid"/>
              <a:miter lim="800000"/>
              <a:tailEnd type="triangle"/>
            </a:ln>
            <a:effectLst/>
          </p:spPr>
        </p:cxnSp>
      </p:grpSp>
    </p:spTree>
    <p:extLst>
      <p:ext uri="{BB962C8B-B14F-4D97-AF65-F5344CB8AC3E}">
        <p14:creationId xmlns:p14="http://schemas.microsoft.com/office/powerpoint/2010/main" val="33253266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585871"/>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Electrolysis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Using electrolysis to extract metals</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9366564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Electrolysis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4154984"/>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Why is electrolysis used to extract aluminium form its ore?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Why is electrolysis an expensive way to extract metal from its ore?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Name the compound from which aluminium is extracted.</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What is this compound dissolved in before electrolysis?</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What is the anode made of?</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GB" sz="2400" dirty="0" smtClean="0">
              <a:solidFill>
                <a:prstClr val="black"/>
              </a:solidFill>
              <a:latin typeface="Calibri"/>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550707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Electrolysis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3046988"/>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6"/>
              <a:tabLst/>
              <a:defRPr/>
            </a:pPr>
            <a:r>
              <a:rPr lang="en-GB" sz="2400" dirty="0" smtClean="0">
                <a:solidFill>
                  <a:prstClr val="black"/>
                </a:solidFill>
                <a:latin typeface="Calibri"/>
              </a:rPr>
              <a:t>Describe what happens at the positive electrode during the electrolysis of aluminium oxide.</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6"/>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6"/>
              <a:tabLst/>
              <a:defRPr/>
            </a:pPr>
            <a:r>
              <a:rPr lang="en-GB" sz="2400" b="1" dirty="0" smtClean="0">
                <a:solidFill>
                  <a:prstClr val="black"/>
                </a:solidFill>
                <a:latin typeface="Calibri"/>
              </a:rPr>
              <a:t>HT Only</a:t>
            </a:r>
            <a:r>
              <a:rPr lang="en-GB" sz="2400" dirty="0" smtClean="0">
                <a:solidFill>
                  <a:prstClr val="black"/>
                </a:solidFill>
                <a:latin typeface="Calibri"/>
              </a:rPr>
              <a:t>: Write half equations for the reactions that occur at the positive and negative electrodes during the production of aluminium.</a:t>
            </a:r>
            <a:endParaRPr lang="en-GB" sz="2400" dirty="0">
              <a:solidFill>
                <a:prstClr val="black"/>
              </a:solidFill>
              <a:latin typeface="Calibri"/>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149862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585871"/>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Electrolysis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Using electrolysis to extract metals</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1620" y="644763"/>
            <a:ext cx="4824536" cy="5257800"/>
          </a:xfrm>
          <a:prstGeom prst="rect">
            <a:avLst/>
          </a:prstGeom>
        </p:spPr>
      </p:pic>
    </p:spTree>
    <p:extLst>
      <p:ext uri="{BB962C8B-B14F-4D97-AF65-F5344CB8AC3E}">
        <p14:creationId xmlns:p14="http://schemas.microsoft.com/office/powerpoint/2010/main" val="26606848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Electrolysis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4154984"/>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Why is electrolysis used to extract aluminium form its ore?</a:t>
            </a:r>
          </a:p>
          <a:p>
            <a:pPr lvl="1">
              <a:defRPr/>
            </a:pPr>
            <a:r>
              <a:rPr lang="pt-BR" sz="2400" b="1" dirty="0" smtClean="0">
                <a:solidFill>
                  <a:srgbClr val="00B050"/>
                </a:solidFill>
              </a:rPr>
              <a:t>Aluminium is more reactive than carbon.</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Why is electrolysis an expensive way to extract metal from its ore?</a:t>
            </a:r>
          </a:p>
          <a:p>
            <a:pPr lvl="1">
              <a:defRPr/>
            </a:pPr>
            <a:r>
              <a:rPr lang="en-GB" sz="2400" b="1" dirty="0" smtClean="0">
                <a:solidFill>
                  <a:srgbClr val="00B050"/>
                </a:solidFill>
              </a:rPr>
              <a:t>Large amounts of energy needed.</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Name the compound from which aluminium is extracted.</a:t>
            </a:r>
          </a:p>
          <a:p>
            <a:pPr lvl="1">
              <a:defRPr/>
            </a:pPr>
            <a:r>
              <a:rPr lang="pt-BR" sz="2400" b="1" dirty="0" smtClean="0">
                <a:solidFill>
                  <a:srgbClr val="00B050"/>
                </a:solidFill>
              </a:rPr>
              <a:t>Aluminium oxide/ bauxite.</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What is this compound dissolved in before electrolysis?</a:t>
            </a:r>
          </a:p>
          <a:p>
            <a:pPr lvl="1">
              <a:defRPr/>
            </a:pPr>
            <a:r>
              <a:rPr lang="pt-BR" sz="2400" b="1" dirty="0" smtClean="0">
                <a:solidFill>
                  <a:srgbClr val="00B050"/>
                </a:solidFill>
              </a:rPr>
              <a:t>Cryolite.</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GB" sz="2400" dirty="0" smtClean="0">
                <a:solidFill>
                  <a:prstClr val="black"/>
                </a:solidFill>
                <a:latin typeface="Calibri"/>
              </a:rPr>
              <a:t>What is the anode made of?</a:t>
            </a:r>
          </a:p>
          <a:p>
            <a:pPr lvl="1">
              <a:defRPr/>
            </a:pPr>
            <a:r>
              <a:rPr lang="pt-BR" sz="2400" b="1" dirty="0" smtClean="0">
                <a:solidFill>
                  <a:srgbClr val="00B050"/>
                </a:solidFill>
              </a:rPr>
              <a:t>Carbon.</a:t>
            </a:r>
            <a:endParaRPr lang="en-GB" sz="2400" dirty="0" smtClean="0">
              <a:solidFill>
                <a:prstClr val="black"/>
              </a:solidFill>
              <a:latin typeface="Calibri"/>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222990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Electrolysis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765944"/>
            <a:ext cx="8915400" cy="4893647"/>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6"/>
              <a:tabLst/>
              <a:defRPr/>
            </a:pPr>
            <a:r>
              <a:rPr lang="en-GB" sz="2400" dirty="0" smtClean="0">
                <a:solidFill>
                  <a:prstClr val="black"/>
                </a:solidFill>
                <a:latin typeface="Calibri"/>
              </a:rPr>
              <a:t>Describe what happens at the positive electrode during the electrolysis of aluminium oxide.</a:t>
            </a:r>
          </a:p>
          <a:p>
            <a:pPr>
              <a:defRPr/>
            </a:pPr>
            <a:r>
              <a:rPr lang="en-GB" sz="2400" b="1" dirty="0" smtClean="0">
                <a:solidFill>
                  <a:srgbClr val="00B050"/>
                </a:solidFill>
              </a:rPr>
              <a:t>	Oxide </a:t>
            </a:r>
            <a:r>
              <a:rPr lang="en-GB" sz="2400" b="1" dirty="0">
                <a:solidFill>
                  <a:srgbClr val="00B050"/>
                </a:solidFill>
              </a:rPr>
              <a:t>ions give up their electrons to form oxygen atoms, </a:t>
            </a:r>
            <a:r>
              <a:rPr lang="en-GB" sz="2400" b="1" dirty="0" smtClean="0">
                <a:solidFill>
                  <a:srgbClr val="00B050"/>
                </a:solidFill>
              </a:rPr>
              <a:t>	these join </a:t>
            </a:r>
            <a:r>
              <a:rPr lang="en-GB" sz="2400" b="1" dirty="0">
                <a:solidFill>
                  <a:srgbClr val="00B050"/>
                </a:solidFill>
              </a:rPr>
              <a:t>together in pairs to form oxygen gas, the oxygen </a:t>
            </a:r>
            <a:r>
              <a:rPr lang="en-GB" sz="2400" b="1" dirty="0" smtClean="0">
                <a:solidFill>
                  <a:srgbClr val="00B050"/>
                </a:solidFill>
              </a:rPr>
              <a:t>	reacts with the </a:t>
            </a:r>
            <a:r>
              <a:rPr lang="en-GB" sz="2400" b="1" dirty="0">
                <a:solidFill>
                  <a:srgbClr val="00B050"/>
                </a:solidFill>
              </a:rPr>
              <a:t>carbon electrode to make carbon dioxide gas.</a:t>
            </a:r>
          </a:p>
          <a:p>
            <a:pPr lvl="1">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6"/>
              <a:tabLst/>
              <a:defRPr/>
            </a:pPr>
            <a:r>
              <a:rPr lang="en-GB" sz="2400" b="1" dirty="0" smtClean="0">
                <a:solidFill>
                  <a:prstClr val="black"/>
                </a:solidFill>
                <a:latin typeface="Calibri"/>
              </a:rPr>
              <a:t>HT Only</a:t>
            </a:r>
            <a:r>
              <a:rPr lang="en-GB" sz="2400" dirty="0" smtClean="0">
                <a:solidFill>
                  <a:prstClr val="black"/>
                </a:solidFill>
                <a:latin typeface="Calibri"/>
              </a:rPr>
              <a:t>: Write half equations for the reactions that occur at the positive and negative electrodes during the production of aluminium.</a:t>
            </a:r>
            <a:endParaRPr lang="en-GB" sz="2400" dirty="0">
              <a:solidFill>
                <a:prstClr val="black"/>
              </a:solidFill>
              <a:latin typeface="Calibri"/>
            </a:endParaRPr>
          </a:p>
          <a:p>
            <a:pPr lvl="1"/>
            <a:r>
              <a:rPr lang="pt-BR" sz="2400" b="1" dirty="0">
                <a:solidFill>
                  <a:srgbClr val="00B050"/>
                </a:solidFill>
              </a:rPr>
              <a:t>Positive electrode: 2O</a:t>
            </a:r>
            <a:r>
              <a:rPr lang="pt-BR" sz="2400" b="1" baseline="30000" dirty="0">
                <a:solidFill>
                  <a:srgbClr val="00B050"/>
                </a:solidFill>
              </a:rPr>
              <a:t>2−</a:t>
            </a:r>
            <a:r>
              <a:rPr lang="pt-BR" sz="2400" b="1" dirty="0">
                <a:solidFill>
                  <a:srgbClr val="00B050"/>
                </a:solidFill>
              </a:rPr>
              <a:t>(aq)</a:t>
            </a:r>
            <a:r>
              <a:rPr lang="pt-BR" sz="2400" b="1" baseline="30000" dirty="0">
                <a:solidFill>
                  <a:srgbClr val="00B050"/>
                </a:solidFill>
              </a:rPr>
              <a:t> </a:t>
            </a:r>
            <a:r>
              <a:rPr lang="en-GB" sz="2400" b="1" dirty="0">
                <a:solidFill>
                  <a:srgbClr val="00B050"/>
                </a:solidFill>
                <a:sym typeface="Symbol" panose="05050102010706020507" pitchFamily="18" charset="2"/>
              </a:rPr>
              <a:t></a:t>
            </a:r>
            <a:r>
              <a:rPr lang="pt-BR" sz="2400" b="1" dirty="0">
                <a:solidFill>
                  <a:srgbClr val="00B050"/>
                </a:solidFill>
              </a:rPr>
              <a:t> O</a:t>
            </a:r>
            <a:r>
              <a:rPr lang="pt-BR" sz="2400" b="1" baseline="-25000" dirty="0">
                <a:solidFill>
                  <a:srgbClr val="00B050"/>
                </a:solidFill>
              </a:rPr>
              <a:t>2</a:t>
            </a:r>
            <a:r>
              <a:rPr lang="pt-BR" sz="2400" b="1" dirty="0">
                <a:solidFill>
                  <a:srgbClr val="00B050"/>
                </a:solidFill>
              </a:rPr>
              <a:t>(g)</a:t>
            </a:r>
            <a:r>
              <a:rPr lang="pt-BR" sz="2400" b="1" baseline="-25000" dirty="0">
                <a:solidFill>
                  <a:srgbClr val="00B050"/>
                </a:solidFill>
              </a:rPr>
              <a:t> </a:t>
            </a:r>
            <a:r>
              <a:rPr lang="pt-BR" sz="2400" b="1" dirty="0">
                <a:solidFill>
                  <a:srgbClr val="00B050"/>
                </a:solidFill>
              </a:rPr>
              <a:t>+ 4e</a:t>
            </a:r>
            <a:r>
              <a:rPr lang="pt-BR" sz="2400" b="1" baseline="30000" dirty="0">
                <a:solidFill>
                  <a:srgbClr val="00B050"/>
                </a:solidFill>
              </a:rPr>
              <a:t>−</a:t>
            </a:r>
            <a:endParaRPr lang="en-GB" sz="2400" b="1" dirty="0">
              <a:solidFill>
                <a:srgbClr val="00B050"/>
              </a:solidFill>
            </a:endParaRPr>
          </a:p>
          <a:p>
            <a:r>
              <a:rPr lang="pt-BR" sz="2400" b="1" dirty="0">
                <a:solidFill>
                  <a:srgbClr val="00B050"/>
                </a:solidFill>
              </a:rPr>
              <a:t>       Negative electrode: </a:t>
            </a:r>
            <a:r>
              <a:rPr lang="en-GB" sz="2400" b="1" dirty="0">
                <a:solidFill>
                  <a:srgbClr val="00B050"/>
                </a:solidFill>
              </a:rPr>
              <a:t>Al</a:t>
            </a:r>
            <a:r>
              <a:rPr lang="en-GB" sz="2400" b="1" baseline="30000" dirty="0">
                <a:solidFill>
                  <a:srgbClr val="00B050"/>
                </a:solidFill>
              </a:rPr>
              <a:t>3+</a:t>
            </a:r>
            <a:r>
              <a:rPr lang="en-GB" sz="2400" b="1" dirty="0">
                <a:solidFill>
                  <a:srgbClr val="00B050"/>
                </a:solidFill>
              </a:rPr>
              <a:t>(</a:t>
            </a:r>
            <a:r>
              <a:rPr lang="en-GB" sz="2400" b="1" dirty="0" err="1">
                <a:solidFill>
                  <a:srgbClr val="00B050"/>
                </a:solidFill>
              </a:rPr>
              <a:t>aq</a:t>
            </a:r>
            <a:r>
              <a:rPr lang="en-GB" sz="2400" b="1" dirty="0">
                <a:solidFill>
                  <a:srgbClr val="00B050"/>
                </a:solidFill>
              </a:rPr>
              <a:t>)</a:t>
            </a:r>
            <a:r>
              <a:rPr lang="en-GB" sz="2400" b="1" baseline="30000" dirty="0">
                <a:solidFill>
                  <a:srgbClr val="00B050"/>
                </a:solidFill>
              </a:rPr>
              <a:t> </a:t>
            </a:r>
            <a:r>
              <a:rPr lang="en-GB" sz="2400" b="1" dirty="0">
                <a:solidFill>
                  <a:srgbClr val="00B050"/>
                </a:solidFill>
              </a:rPr>
              <a:t>+ 3e</a:t>
            </a:r>
            <a:r>
              <a:rPr lang="en-GB" sz="2400" b="1" baseline="30000" dirty="0">
                <a:solidFill>
                  <a:srgbClr val="00B050"/>
                </a:solidFill>
              </a:rPr>
              <a:t>−</a:t>
            </a:r>
            <a:r>
              <a:rPr lang="en-GB" sz="2400" b="1" dirty="0">
                <a:solidFill>
                  <a:srgbClr val="00B050"/>
                </a:solidFill>
              </a:rPr>
              <a:t> </a:t>
            </a:r>
            <a:r>
              <a:rPr lang="en-GB" sz="2400" b="1" dirty="0">
                <a:solidFill>
                  <a:srgbClr val="00B050"/>
                </a:solidFill>
                <a:sym typeface="Symbol" panose="05050102010706020507" pitchFamily="18" charset="2"/>
              </a:rPr>
              <a:t></a:t>
            </a:r>
            <a:r>
              <a:rPr lang="en-GB" sz="2400" b="1" dirty="0">
                <a:solidFill>
                  <a:srgbClr val="00B050"/>
                </a:solidFill>
              </a:rPr>
              <a:t> Al(l)</a:t>
            </a: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1835444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32463</TotalTime>
  <Words>7046</Words>
  <Application>Microsoft Office PowerPoint</Application>
  <PresentationFormat>On-screen Show (4:3)</PresentationFormat>
  <Paragraphs>896</Paragraphs>
  <Slides>58</Slides>
  <Notes>34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58</vt:i4>
      </vt:variant>
    </vt:vector>
  </HeadingPairs>
  <TitlesOfParts>
    <vt:vector size="69" baseType="lpstr">
      <vt:lpstr>Arial</vt:lpstr>
      <vt:lpstr>Beirut</vt:lpstr>
      <vt:lpstr>Calibri</vt:lpstr>
      <vt:lpstr>Calibri Light</vt:lpstr>
      <vt:lpstr>Lato Medium</vt:lpstr>
      <vt:lpstr>News Gothic MT</vt:lpstr>
      <vt:lpstr>Symbol</vt:lpstr>
      <vt:lpstr>Times New Roman</vt:lpstr>
      <vt:lpstr>Wingdings</vt:lpstr>
      <vt:lpstr>1_Office Theme</vt:lpstr>
      <vt:lpstr>Custom Design</vt:lpstr>
      <vt:lpstr>PowerPoint Presentation</vt:lpstr>
      <vt:lpstr>Overview   Chemical changes</vt:lpstr>
      <vt:lpstr>PowerPoint Presentation</vt:lpstr>
      <vt:lpstr>Metal Oxides</vt:lpstr>
      <vt:lpstr>Reactivity series</vt:lpstr>
      <vt:lpstr>Reactivity series</vt:lpstr>
      <vt:lpstr>Extracting metals </vt:lpstr>
      <vt:lpstr>Oxidation and reduction in terms of electrons (HT)</vt:lpstr>
      <vt:lpstr>PowerPoint Presentation</vt:lpstr>
      <vt:lpstr>Extracting metals – QuestionIT</vt:lpstr>
      <vt:lpstr>Extracting metals – QuestionIT</vt:lpstr>
      <vt:lpstr>PowerPoint Presentation</vt:lpstr>
      <vt:lpstr>Extracting metals – QuestionIT</vt:lpstr>
      <vt:lpstr>Extracting metals – QuestionIT</vt:lpstr>
      <vt:lpstr>Extracting metals – QuestionIT</vt:lpstr>
      <vt:lpstr>PowerPoint Presentation</vt:lpstr>
      <vt:lpstr>Reactions of acids - PART 1</vt:lpstr>
      <vt:lpstr>Reactions of acids - PART 1 - HIGHER</vt:lpstr>
      <vt:lpstr>Reactions of acids - PART 1</vt:lpstr>
      <vt:lpstr>Reactions of acids - PART 1</vt:lpstr>
      <vt:lpstr>PowerPoint Presentation</vt:lpstr>
      <vt:lpstr>Reactions of acids – QuestionIT</vt:lpstr>
      <vt:lpstr>Reactions of acids – QuestionIT</vt:lpstr>
      <vt:lpstr>PowerPoint Presentation</vt:lpstr>
      <vt:lpstr>Reactions of acids – QuestionIT</vt:lpstr>
      <vt:lpstr>Reactions of acids – QuestionIT</vt:lpstr>
      <vt:lpstr>PowerPoint Presentation</vt:lpstr>
      <vt:lpstr>Reactions of acids - PART 2</vt:lpstr>
      <vt:lpstr>Reactions of acids - PART 2 - CHEMISTRY ONLY</vt:lpstr>
      <vt:lpstr>Reactions of acids – PART 2 – CHEMISTRY ONLY Higher</vt:lpstr>
      <vt:lpstr>Reactions of acids – PART 2 - CHEMISTRY ONLY Higher</vt:lpstr>
      <vt:lpstr>Reactions of acids - PART 2 - HIGHER</vt:lpstr>
      <vt:lpstr>PowerPoint Presentation</vt:lpstr>
      <vt:lpstr>Reactions of acids – QuestionIT</vt:lpstr>
      <vt:lpstr>Reactions of acids – QuestionIT</vt:lpstr>
      <vt:lpstr>Reactions of acids – QuestionIT</vt:lpstr>
      <vt:lpstr>PowerPoint Presentation</vt:lpstr>
      <vt:lpstr>Reactions of acids – QuestionIT</vt:lpstr>
      <vt:lpstr>Reactions of acids – QuestionIT</vt:lpstr>
      <vt:lpstr>Reactions of acids – QuestionIT</vt:lpstr>
      <vt:lpstr>PowerPoint Presentation</vt:lpstr>
      <vt:lpstr>Electrolysis - PART 1</vt:lpstr>
      <vt:lpstr>Electrolysis - PART 1</vt:lpstr>
      <vt:lpstr>Electrolysis - PART 1</vt:lpstr>
      <vt:lpstr>PowerPoint Presentation</vt:lpstr>
      <vt:lpstr>Electrolysis – QuestionIT</vt:lpstr>
      <vt:lpstr>Electrolysis – QuestionIT</vt:lpstr>
      <vt:lpstr>PowerPoint Presentation</vt:lpstr>
      <vt:lpstr>Electrolysis – QuestionIT</vt:lpstr>
      <vt:lpstr>Electrolysis – QuestionIT</vt:lpstr>
      <vt:lpstr>PowerPoint Presentation</vt:lpstr>
      <vt:lpstr>Electrolysis - PART 2</vt:lpstr>
      <vt:lpstr>PowerPoint Presentation</vt:lpstr>
      <vt:lpstr>Electrolysis – QuestionIT</vt:lpstr>
      <vt:lpstr>Electrolysis – QuestionIT</vt:lpstr>
      <vt:lpstr>PowerPoint Presentation</vt:lpstr>
      <vt:lpstr>Electrolysis – QuestionIT</vt:lpstr>
      <vt:lpstr>Electrolysis – QuestionIT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Karen Collins</cp:lastModifiedBy>
  <cp:revision>355</cp:revision>
  <dcterms:created xsi:type="dcterms:W3CDTF">2016-03-05T09:38:04Z</dcterms:created>
  <dcterms:modified xsi:type="dcterms:W3CDTF">2017-11-15T17:39:22Z</dcterms:modified>
</cp:coreProperties>
</file>