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70" r:id="rId3"/>
    <p:sldId id="261" r:id="rId4"/>
    <p:sldId id="257" r:id="rId5"/>
    <p:sldId id="268" r:id="rId6"/>
    <p:sldId id="271" r:id="rId7"/>
    <p:sldId id="267" r:id="rId8"/>
    <p:sldId id="269" r:id="rId9"/>
    <p:sldId id="265"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660"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B8B275A6-8EAC-4253-8413-451DB5896134}" type="datetimeFigureOut">
              <a:rPr lang="en-GB" smtClean="0"/>
              <a:t>05/01/2019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E0457E-7D02-4D76-AFB0-05F318285FFA}" type="slidenum">
              <a:rPr lang="en-GB" smtClean="0"/>
              <a:t>‹#›</a:t>
            </a:fld>
            <a:endParaRPr lang="en-GB"/>
          </a:p>
        </p:txBody>
      </p:sp>
    </p:spTree>
    <p:extLst>
      <p:ext uri="{BB962C8B-B14F-4D97-AF65-F5344CB8AC3E}">
        <p14:creationId xmlns:p14="http://schemas.microsoft.com/office/powerpoint/2010/main" val="218216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B8B275A6-8EAC-4253-8413-451DB5896134}" type="datetimeFigureOut">
              <a:rPr lang="en-GB" smtClean="0"/>
              <a:t>05/01/2019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E0457E-7D02-4D76-AFB0-05F318285FFA}" type="slidenum">
              <a:rPr lang="en-GB" smtClean="0"/>
              <a:t>‹#›</a:t>
            </a:fld>
            <a:endParaRPr lang="en-GB"/>
          </a:p>
        </p:txBody>
      </p:sp>
    </p:spTree>
    <p:extLst>
      <p:ext uri="{BB962C8B-B14F-4D97-AF65-F5344CB8AC3E}">
        <p14:creationId xmlns:p14="http://schemas.microsoft.com/office/powerpoint/2010/main" val="2247517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B275A6-8EAC-4253-8413-451DB5896134}" type="datetimeFigureOut">
              <a:rPr lang="en-GB" smtClean="0"/>
              <a:t>05/01/2019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E0457E-7D02-4D76-AFB0-05F318285FFA}" type="slidenum">
              <a:rPr lang="en-GB" smtClean="0"/>
              <a:t>‹#›</a:t>
            </a:fld>
            <a:endParaRPr lang="en-GB"/>
          </a:p>
        </p:txBody>
      </p:sp>
    </p:spTree>
    <p:extLst>
      <p:ext uri="{BB962C8B-B14F-4D97-AF65-F5344CB8AC3E}">
        <p14:creationId xmlns:p14="http://schemas.microsoft.com/office/powerpoint/2010/main" val="396927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B8B275A6-8EAC-4253-8413-451DB5896134}" type="datetimeFigureOut">
              <a:rPr lang="en-GB" smtClean="0"/>
              <a:t>05/01/2019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2E0457E-7D02-4D76-AFB0-05F318285FFA}" type="slidenum">
              <a:rPr lang="en-GB" smtClean="0"/>
              <a:t>‹#›</a:t>
            </a:fld>
            <a:endParaRPr lang="en-GB"/>
          </a:p>
        </p:txBody>
      </p:sp>
    </p:spTree>
    <p:extLst>
      <p:ext uri="{BB962C8B-B14F-4D97-AF65-F5344CB8AC3E}">
        <p14:creationId xmlns:p14="http://schemas.microsoft.com/office/powerpoint/2010/main" val="2834382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B8B275A6-8EAC-4253-8413-451DB5896134}" type="datetimeFigureOut">
              <a:rPr lang="en-GB" smtClean="0"/>
              <a:t>05/01/2019</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2E0457E-7D02-4D76-AFB0-05F318285FFA}" type="slidenum">
              <a:rPr lang="en-GB" smtClean="0"/>
              <a:t>‹#›</a:t>
            </a:fld>
            <a:endParaRPr lang="en-GB"/>
          </a:p>
        </p:txBody>
      </p:sp>
    </p:spTree>
    <p:extLst>
      <p:ext uri="{BB962C8B-B14F-4D97-AF65-F5344CB8AC3E}">
        <p14:creationId xmlns:p14="http://schemas.microsoft.com/office/powerpoint/2010/main" val="395275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B8B275A6-8EAC-4253-8413-451DB5896134}" type="datetimeFigureOut">
              <a:rPr lang="en-GB" smtClean="0"/>
              <a:t>05/01/2019</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2E0457E-7D02-4D76-AFB0-05F318285FFA}" type="slidenum">
              <a:rPr lang="en-GB" smtClean="0"/>
              <a:t>‹#›</a:t>
            </a:fld>
            <a:endParaRPr lang="en-GB"/>
          </a:p>
        </p:txBody>
      </p:sp>
    </p:spTree>
    <p:extLst>
      <p:ext uri="{BB962C8B-B14F-4D97-AF65-F5344CB8AC3E}">
        <p14:creationId xmlns:p14="http://schemas.microsoft.com/office/powerpoint/2010/main" val="1449482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B275A6-8EAC-4253-8413-451DB5896134}" type="datetimeFigureOut">
              <a:rPr lang="en-GB" smtClean="0"/>
              <a:t>05/01/2019</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2E0457E-7D02-4D76-AFB0-05F318285FFA}" type="slidenum">
              <a:rPr lang="en-GB" smtClean="0"/>
              <a:t>‹#›</a:t>
            </a:fld>
            <a:endParaRPr lang="en-GB"/>
          </a:p>
        </p:txBody>
      </p:sp>
    </p:spTree>
    <p:extLst>
      <p:ext uri="{BB962C8B-B14F-4D97-AF65-F5344CB8AC3E}">
        <p14:creationId xmlns:p14="http://schemas.microsoft.com/office/powerpoint/2010/main" val="281359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B275A6-8EAC-4253-8413-451DB5896134}" type="datetimeFigureOut">
              <a:rPr lang="en-GB" smtClean="0"/>
              <a:t>05/01/2019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2E0457E-7D02-4D76-AFB0-05F318285FFA}" type="slidenum">
              <a:rPr lang="en-GB" smtClean="0"/>
              <a:t>‹#›</a:t>
            </a:fld>
            <a:endParaRPr lang="en-GB"/>
          </a:p>
        </p:txBody>
      </p:sp>
    </p:spTree>
    <p:extLst>
      <p:ext uri="{BB962C8B-B14F-4D97-AF65-F5344CB8AC3E}">
        <p14:creationId xmlns:p14="http://schemas.microsoft.com/office/powerpoint/2010/main" val="1306299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B275A6-8EAC-4253-8413-451DB5896134}" type="datetimeFigureOut">
              <a:rPr lang="en-GB" smtClean="0"/>
              <a:t>05/01/2019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2E0457E-7D02-4D76-AFB0-05F318285FFA}" type="slidenum">
              <a:rPr lang="en-GB" smtClean="0"/>
              <a:t>‹#›</a:t>
            </a:fld>
            <a:endParaRPr lang="en-GB"/>
          </a:p>
        </p:txBody>
      </p:sp>
    </p:spTree>
    <p:extLst>
      <p:ext uri="{BB962C8B-B14F-4D97-AF65-F5344CB8AC3E}">
        <p14:creationId xmlns:p14="http://schemas.microsoft.com/office/powerpoint/2010/main" val="2100799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B8B275A6-8EAC-4253-8413-451DB5896134}" type="datetimeFigureOut">
              <a:rPr lang="en-GB" smtClean="0"/>
              <a:t>05/01/2019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E0457E-7D02-4D76-AFB0-05F318285FFA}" type="slidenum">
              <a:rPr lang="en-GB" smtClean="0"/>
              <a:t>‹#›</a:t>
            </a:fld>
            <a:endParaRPr lang="en-GB"/>
          </a:p>
        </p:txBody>
      </p:sp>
    </p:spTree>
    <p:extLst>
      <p:ext uri="{BB962C8B-B14F-4D97-AF65-F5344CB8AC3E}">
        <p14:creationId xmlns:p14="http://schemas.microsoft.com/office/powerpoint/2010/main" val="3515024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B8B275A6-8EAC-4253-8413-451DB5896134}" type="datetimeFigureOut">
              <a:rPr lang="en-GB" smtClean="0"/>
              <a:t>05/01/2019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E0457E-7D02-4D76-AFB0-05F318285FFA}" type="slidenum">
              <a:rPr lang="en-GB" smtClean="0"/>
              <a:t>‹#›</a:t>
            </a:fld>
            <a:endParaRPr lang="en-GB"/>
          </a:p>
        </p:txBody>
      </p:sp>
    </p:spTree>
    <p:extLst>
      <p:ext uri="{BB962C8B-B14F-4D97-AF65-F5344CB8AC3E}">
        <p14:creationId xmlns:p14="http://schemas.microsoft.com/office/powerpoint/2010/main" val="1280030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37DDC680-7F1C-4E82-823E-CED95A6A7F04}" type="datetimeFigureOut">
              <a:rPr lang="en-GB" smtClean="0">
                <a:solidFill>
                  <a:prstClr val="black">
                    <a:tint val="75000"/>
                  </a:prstClr>
                </a:solidFill>
              </a:rPr>
              <a:pPr/>
              <a:t>05/01/2019</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F4D72F34-D023-45AA-8C6F-DA069A3F58F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50363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37DDC680-7F1C-4E82-823E-CED95A6A7F04}" type="datetimeFigureOut">
              <a:rPr lang="en-GB" smtClean="0">
                <a:solidFill>
                  <a:prstClr val="black">
                    <a:tint val="75000"/>
                  </a:prstClr>
                </a:solidFill>
              </a:rPr>
              <a:pPr/>
              <a:t>05/01/2019</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F4D72F34-D023-45AA-8C6F-DA069A3F58F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971234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7DDC680-7F1C-4E82-823E-CED95A6A7F04}" type="datetimeFigureOut">
              <a:rPr lang="en-GB" smtClean="0">
                <a:solidFill>
                  <a:prstClr val="black">
                    <a:tint val="75000"/>
                  </a:prstClr>
                </a:solidFill>
              </a:rPr>
              <a:pPr/>
              <a:t>05/01/2019</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F4D72F34-D023-45AA-8C6F-DA069A3F58F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6871662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37DDC680-7F1C-4E82-823E-CED95A6A7F04}" type="datetimeFigureOut">
              <a:rPr lang="en-GB" smtClean="0">
                <a:solidFill>
                  <a:prstClr val="black">
                    <a:tint val="75000"/>
                  </a:prstClr>
                </a:solidFill>
              </a:rPr>
              <a:pPr/>
              <a:t>05/01/2019</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F4D72F34-D023-45AA-8C6F-DA069A3F58F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672613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37DDC680-7F1C-4E82-823E-CED95A6A7F04}" type="datetimeFigureOut">
              <a:rPr lang="en-GB" smtClean="0">
                <a:solidFill>
                  <a:prstClr val="black">
                    <a:tint val="75000"/>
                  </a:prstClr>
                </a:solidFill>
              </a:rPr>
              <a:pPr/>
              <a:t>05/01/2019</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endParaRPr lang="en-GB">
              <a:solidFill>
                <a:prstClr val="black">
                  <a:tint val="75000"/>
                </a:prstClr>
              </a:solidFill>
            </a:endParaRPr>
          </a:p>
        </p:txBody>
      </p:sp>
      <p:sp>
        <p:nvSpPr>
          <p:cNvPr id="9" name="Slide Number Placeholder 8"/>
          <p:cNvSpPr>
            <a:spLocks noGrp="1"/>
          </p:cNvSpPr>
          <p:nvPr>
            <p:ph type="sldNum" sz="quarter" idx="12"/>
          </p:nvPr>
        </p:nvSpPr>
        <p:spPr/>
        <p:txBody>
          <a:bodyPr/>
          <a:lstStyle/>
          <a:p>
            <a:fld id="{F4D72F34-D023-45AA-8C6F-DA069A3F58F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82469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37DDC680-7F1C-4E82-823E-CED95A6A7F04}" type="datetimeFigureOut">
              <a:rPr lang="en-GB" smtClean="0">
                <a:solidFill>
                  <a:prstClr val="black">
                    <a:tint val="75000"/>
                  </a:prstClr>
                </a:solidFill>
              </a:rPr>
              <a:pPr/>
              <a:t>05/01/2019</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endParaRPr lang="en-GB">
              <a:solidFill>
                <a:prstClr val="black">
                  <a:tint val="75000"/>
                </a:prstClr>
              </a:solidFill>
            </a:endParaRPr>
          </a:p>
        </p:txBody>
      </p:sp>
      <p:sp>
        <p:nvSpPr>
          <p:cNvPr id="5" name="Slide Number Placeholder 4"/>
          <p:cNvSpPr>
            <a:spLocks noGrp="1"/>
          </p:cNvSpPr>
          <p:nvPr>
            <p:ph type="sldNum" sz="quarter" idx="12"/>
          </p:nvPr>
        </p:nvSpPr>
        <p:spPr/>
        <p:txBody>
          <a:bodyPr/>
          <a:lstStyle/>
          <a:p>
            <a:fld id="{F4D72F34-D023-45AA-8C6F-DA069A3F58F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6006432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DDC680-7F1C-4E82-823E-CED95A6A7F04}" type="datetimeFigureOut">
              <a:rPr lang="en-GB" smtClean="0">
                <a:solidFill>
                  <a:prstClr val="black">
                    <a:tint val="75000"/>
                  </a:prstClr>
                </a:solidFill>
              </a:rPr>
              <a:pPr/>
              <a:t>05/01/2019</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endParaRPr lang="en-GB">
              <a:solidFill>
                <a:prstClr val="black">
                  <a:tint val="75000"/>
                </a:prstClr>
              </a:solidFill>
            </a:endParaRPr>
          </a:p>
        </p:txBody>
      </p:sp>
      <p:sp>
        <p:nvSpPr>
          <p:cNvPr id="4" name="Slide Number Placeholder 3"/>
          <p:cNvSpPr>
            <a:spLocks noGrp="1"/>
          </p:cNvSpPr>
          <p:nvPr>
            <p:ph type="sldNum" sz="quarter" idx="12"/>
          </p:nvPr>
        </p:nvSpPr>
        <p:spPr/>
        <p:txBody>
          <a:bodyPr/>
          <a:lstStyle/>
          <a:p>
            <a:fld id="{F4D72F34-D023-45AA-8C6F-DA069A3F58F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6383007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7DDC680-7F1C-4E82-823E-CED95A6A7F04}" type="datetimeFigureOut">
              <a:rPr lang="en-GB" smtClean="0">
                <a:solidFill>
                  <a:prstClr val="black">
                    <a:tint val="75000"/>
                  </a:prstClr>
                </a:solidFill>
              </a:rPr>
              <a:pPr/>
              <a:t>05/01/2019</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F4D72F34-D023-45AA-8C6F-DA069A3F58F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547925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7DDC680-7F1C-4E82-823E-CED95A6A7F04}" type="datetimeFigureOut">
              <a:rPr lang="en-GB" smtClean="0">
                <a:solidFill>
                  <a:prstClr val="black">
                    <a:tint val="75000"/>
                  </a:prstClr>
                </a:solidFill>
              </a:rPr>
              <a:pPr/>
              <a:t>05/01/2019</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F4D72F34-D023-45AA-8C6F-DA069A3F58F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9624269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37DDC680-7F1C-4E82-823E-CED95A6A7F04}" type="datetimeFigureOut">
              <a:rPr lang="en-GB" smtClean="0">
                <a:solidFill>
                  <a:prstClr val="black">
                    <a:tint val="75000"/>
                  </a:prstClr>
                </a:solidFill>
              </a:rPr>
              <a:pPr/>
              <a:t>05/01/2019</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F4D72F34-D023-45AA-8C6F-DA069A3F58F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5988226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37DDC680-7F1C-4E82-823E-CED95A6A7F04}" type="datetimeFigureOut">
              <a:rPr lang="en-GB" smtClean="0">
                <a:solidFill>
                  <a:prstClr val="black">
                    <a:tint val="75000"/>
                  </a:prstClr>
                </a:solidFill>
              </a:rPr>
              <a:pPr/>
              <a:t>05/01/2019</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F4D72F34-D023-45AA-8C6F-DA069A3F58F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204927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B275A6-8EAC-4253-8413-451DB5896134}" type="datetimeFigureOut">
              <a:rPr lang="en-GB" smtClean="0"/>
              <a:t>05/01/2019</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E0457E-7D02-4D76-AFB0-05F318285FFA}" type="slidenum">
              <a:rPr lang="en-GB" smtClean="0"/>
              <a:t>‹#›</a:t>
            </a:fld>
            <a:endParaRPr lang="en-GB"/>
          </a:p>
        </p:txBody>
      </p:sp>
      <p:sp>
        <p:nvSpPr>
          <p:cNvPr id="7" name="Rectangle 6"/>
          <p:cNvSpPr/>
          <p:nvPr userDrawn="1"/>
        </p:nvSpPr>
        <p:spPr>
          <a:xfrm>
            <a:off x="179512" y="188640"/>
            <a:ext cx="8784976" cy="64087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155166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DDC680-7F1C-4E82-823E-CED95A6A7F04}" type="datetimeFigureOut">
              <a:rPr lang="en-GB" smtClean="0">
                <a:solidFill>
                  <a:prstClr val="black">
                    <a:tint val="75000"/>
                  </a:prstClr>
                </a:solidFill>
                <a:ea typeface="MS PGothic" panose="020B0600070205080204" pitchFamily="34" charset="-128"/>
              </a:rPr>
              <a:pPr/>
              <a:t>05/01/2019</a:t>
            </a:fld>
            <a:endParaRPr lang="en-GB">
              <a:solidFill>
                <a:prstClr val="black">
                  <a:tint val="75000"/>
                </a:prstClr>
              </a:solidFill>
              <a:ea typeface="MS PGothic" panose="020B0600070205080204" pitchFamily="34" charset="-128"/>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a typeface="MS PGothic" panose="020B0600070205080204" pitchFamily="34" charset="-128"/>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D72F34-D023-45AA-8C6F-DA069A3F58F3}" type="slidenum">
              <a:rPr lang="en-GB" smtClean="0">
                <a:solidFill>
                  <a:prstClr val="black">
                    <a:tint val="75000"/>
                  </a:prstClr>
                </a:solidFill>
                <a:ea typeface="MS PGothic" panose="020B0600070205080204" pitchFamily="34" charset="-128"/>
              </a:rPr>
              <a:pPr/>
              <a:t>‹#›</a:t>
            </a:fld>
            <a:endParaRPr lang="en-GB">
              <a:solidFill>
                <a:prstClr val="black">
                  <a:tint val="75000"/>
                </a:prstClr>
              </a:solidFill>
              <a:ea typeface="MS PGothic" panose="020B0600070205080204" pitchFamily="34" charset="-128"/>
            </a:endParaRPr>
          </a:p>
        </p:txBody>
      </p:sp>
    </p:spTree>
    <p:extLst>
      <p:ext uri="{BB962C8B-B14F-4D97-AF65-F5344CB8AC3E}">
        <p14:creationId xmlns:p14="http://schemas.microsoft.com/office/powerpoint/2010/main" val="27892413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youtube.com/watch?v=xa4jC5AeAZo"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www.youtube.com/watch?v=tGCemjbXakk" TargetMode="Externa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01824" y="28943"/>
            <a:ext cx="7772400" cy="1470025"/>
          </a:xfrm>
        </p:spPr>
        <p:txBody>
          <a:bodyPr>
            <a:normAutofit/>
          </a:bodyPr>
          <a:lstStyle/>
          <a:p>
            <a:r>
              <a:rPr lang="en-GB" sz="3600" b="1" u="sng" dirty="0" smtClean="0">
                <a:latin typeface="Comic Sans MS" panose="030F0702030302020204" pitchFamily="66" charset="0"/>
              </a:rPr>
              <a:t>How do charities stop poverty?</a:t>
            </a:r>
            <a:endParaRPr lang="en-GB" sz="3600" b="1" u="sng" dirty="0">
              <a:latin typeface="Comic Sans MS" panose="030F0702030302020204" pitchFamily="66" charset="0"/>
            </a:endParaRPr>
          </a:p>
        </p:txBody>
      </p:sp>
      <p:sp>
        <p:nvSpPr>
          <p:cNvPr id="6" name="5-Point Star 5"/>
          <p:cNvSpPr/>
          <p:nvPr/>
        </p:nvSpPr>
        <p:spPr>
          <a:xfrm>
            <a:off x="179512" y="1207122"/>
            <a:ext cx="3970598" cy="3456384"/>
          </a:xfrm>
          <a:prstGeom prst="star5">
            <a:avLst>
              <a:gd name="adj" fmla="val 32008"/>
              <a:gd name="hf" fmla="val 105146"/>
              <a:gd name="vf" fmla="val 110557"/>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mic Sans MS" panose="030F0702030302020204" pitchFamily="66" charset="0"/>
              </a:rPr>
              <a:t>To develop knowledge and understanding of the work of </a:t>
            </a:r>
            <a:r>
              <a:rPr lang="en-GB" dirty="0" smtClean="0">
                <a:solidFill>
                  <a:schemeClr val="tx1"/>
                </a:solidFill>
                <a:latin typeface="Comic Sans MS" panose="030F0702030302020204" pitchFamily="66" charset="0"/>
              </a:rPr>
              <a:t>Christian Aid.</a:t>
            </a:r>
            <a:endParaRPr lang="en-GB" dirty="0">
              <a:solidFill>
                <a:schemeClr val="tx1"/>
              </a:solidFill>
              <a:latin typeface="Comic Sans MS" panose="030F0702030302020204" pitchFamily="66" charset="0"/>
            </a:endParaRPr>
          </a:p>
        </p:txBody>
      </p:sp>
      <p:sp>
        <p:nvSpPr>
          <p:cNvPr id="8" name="5-Point Star 7"/>
          <p:cNvSpPr/>
          <p:nvPr/>
        </p:nvSpPr>
        <p:spPr>
          <a:xfrm>
            <a:off x="4708678" y="1207122"/>
            <a:ext cx="4255988" cy="3384376"/>
          </a:xfrm>
          <a:prstGeom prst="star5">
            <a:avLst>
              <a:gd name="adj" fmla="val 31363"/>
              <a:gd name="hf" fmla="val 105146"/>
              <a:gd name="vf" fmla="val 110557"/>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mic Sans MS" panose="030F0702030302020204" pitchFamily="66" charset="0"/>
              </a:rPr>
              <a:t>To develop knowledge and understanding of the work of </a:t>
            </a:r>
            <a:r>
              <a:rPr lang="en-GB" dirty="0" smtClean="0">
                <a:solidFill>
                  <a:schemeClr val="tx1"/>
                </a:solidFill>
                <a:latin typeface="Comic Sans MS" panose="030F0702030302020204" pitchFamily="66" charset="0"/>
              </a:rPr>
              <a:t>Islamic Relief.</a:t>
            </a:r>
            <a:endParaRPr lang="en-GB" dirty="0">
              <a:solidFill>
                <a:schemeClr val="tx1"/>
              </a:solidFill>
              <a:latin typeface="Comic Sans MS" panose="030F0702030302020204" pitchFamily="66" charset="0"/>
            </a:endParaRPr>
          </a:p>
        </p:txBody>
      </p:sp>
      <p:sp>
        <p:nvSpPr>
          <p:cNvPr id="10" name="5-Point Star 9"/>
          <p:cNvSpPr/>
          <p:nvPr/>
        </p:nvSpPr>
        <p:spPr>
          <a:xfrm>
            <a:off x="2411760" y="3429000"/>
            <a:ext cx="4297400" cy="3261558"/>
          </a:xfrm>
          <a:prstGeom prst="star5">
            <a:avLst>
              <a:gd name="adj" fmla="val 31625"/>
              <a:gd name="hf" fmla="val 105146"/>
              <a:gd name="vf" fmla="val 110557"/>
            </a:avLst>
          </a:prstGeom>
          <a:solidFill>
            <a:srgbClr val="FFC00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mic Sans MS" panose="030F0702030302020204" pitchFamily="66" charset="0"/>
              </a:rPr>
              <a:t>To evaluate the work of these two religious organisations.</a:t>
            </a:r>
            <a:endParaRPr lang="en-GB"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1419233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70457" y="2204864"/>
            <a:ext cx="8640960" cy="4525963"/>
          </a:xfrm>
        </p:spPr>
        <p:txBody>
          <a:bodyPr>
            <a:normAutofit/>
          </a:bodyPr>
          <a:lstStyle/>
          <a:p>
            <a:pPr marL="0" indent="0">
              <a:buNone/>
            </a:pPr>
            <a:endParaRPr lang="en-GB" sz="2400" dirty="0" smtClean="0"/>
          </a:p>
          <a:p>
            <a:pPr marL="0" indent="0">
              <a:buNone/>
            </a:pPr>
            <a:endParaRPr lang="en-GB" sz="2400" dirty="0"/>
          </a:p>
          <a:p>
            <a:pPr marL="0" indent="0">
              <a:buNone/>
            </a:pPr>
            <a:endParaRPr lang="en-GB" sz="2400" dirty="0" smtClean="0"/>
          </a:p>
          <a:p>
            <a:pPr marL="0" indent="0">
              <a:buNone/>
            </a:pPr>
            <a:endParaRPr lang="en-GB" sz="2400" dirty="0"/>
          </a:p>
          <a:p>
            <a:pPr marL="0" indent="0">
              <a:buNone/>
            </a:pPr>
            <a:endParaRPr lang="en-GB" sz="2400" dirty="0" smtClean="0"/>
          </a:p>
          <a:p>
            <a:pPr marL="0" indent="0">
              <a:buNone/>
            </a:pPr>
            <a:endParaRPr lang="en-GB" sz="2400" dirty="0"/>
          </a:p>
          <a:p>
            <a:pPr marL="0" indent="0">
              <a:buNone/>
            </a:pPr>
            <a:endParaRPr lang="en-GB" sz="2400" dirty="0" smtClean="0"/>
          </a:p>
          <a:p>
            <a:pPr marL="0" indent="0">
              <a:buNone/>
            </a:pPr>
            <a:endParaRPr lang="en-GB" sz="2400" dirty="0"/>
          </a:p>
          <a:p>
            <a:pPr marL="0" indent="0">
              <a:buNone/>
            </a:pPr>
            <a:r>
              <a:rPr lang="en-GB" sz="2400" dirty="0" smtClean="0"/>
              <a:t>Look at the </a:t>
            </a:r>
            <a:r>
              <a:rPr lang="en-GB" sz="2400" dirty="0" smtClean="0"/>
              <a:t>children above</a:t>
            </a:r>
            <a:r>
              <a:rPr lang="en-GB" sz="2400" dirty="0" smtClean="0"/>
              <a:t>, then create a </a:t>
            </a:r>
            <a:r>
              <a:rPr lang="en-GB" sz="2400" dirty="0" smtClean="0"/>
              <a:t>list </a:t>
            </a:r>
            <a:r>
              <a:rPr lang="en-GB" sz="2400" dirty="0" smtClean="0"/>
              <a:t>of </a:t>
            </a:r>
            <a:r>
              <a:rPr lang="en-GB" sz="2400" dirty="0" smtClean="0"/>
              <a:t>any problems that </a:t>
            </a:r>
            <a:r>
              <a:rPr lang="en-GB" sz="2400" dirty="0" smtClean="0"/>
              <a:t>they are likely to face </a:t>
            </a:r>
            <a:r>
              <a:rPr lang="en-GB" sz="2400" dirty="0" smtClean="0"/>
              <a:t>in their lives.</a:t>
            </a:r>
            <a:endParaRPr lang="en-GB" sz="2400" dirty="0"/>
          </a:p>
        </p:txBody>
      </p:sp>
      <p:pic>
        <p:nvPicPr>
          <p:cNvPr id="1026" name="Picture 2" descr="http://www.sulekha.com/mstore/srireddy/albums/default/orissa-relief-01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476672"/>
            <a:ext cx="6707967" cy="50405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9109989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55365"/>
            <a:ext cx="8229600" cy="4525963"/>
          </a:xfrm>
        </p:spPr>
        <p:txBody>
          <a:bodyPr>
            <a:noAutofit/>
          </a:bodyPr>
          <a:lstStyle/>
          <a:p>
            <a:pPr marL="0" indent="0">
              <a:buNone/>
            </a:pPr>
            <a:r>
              <a:rPr lang="en-GB" sz="2400" dirty="0" smtClean="0"/>
              <a:t>Many charities work in LEDCs in order to help reduce the effects of _______.  Some work for little or no money by doing _________ service, especially if working overseas or for smaller charities in _______.  </a:t>
            </a:r>
          </a:p>
          <a:p>
            <a:pPr marL="0" indent="0">
              <a:buNone/>
            </a:pPr>
            <a:endParaRPr lang="en-GB" sz="2400" dirty="0"/>
          </a:p>
          <a:p>
            <a:pPr marL="0" indent="0">
              <a:buNone/>
            </a:pPr>
            <a:r>
              <a:rPr lang="en-GB" sz="2400" dirty="0" smtClean="0"/>
              <a:t>Each of the major religions has charities specifically set up to enable believers to _______ to need.  Two of these specifically religious charities are Christian ___ and Islamic ______. </a:t>
            </a:r>
          </a:p>
          <a:p>
            <a:pPr marL="0" indent="0">
              <a:buNone/>
            </a:pPr>
            <a:endParaRPr lang="en-GB" sz="2400" dirty="0" smtClean="0"/>
          </a:p>
          <a:p>
            <a:pPr marL="0" indent="0">
              <a:buNone/>
            </a:pPr>
            <a:r>
              <a:rPr lang="en-GB" sz="2400" dirty="0"/>
              <a:t>p</a:t>
            </a:r>
            <a:r>
              <a:rPr lang="en-GB" sz="2400" dirty="0" smtClean="0"/>
              <a:t>overty		voluntary		Britain		</a:t>
            </a:r>
          </a:p>
          <a:p>
            <a:pPr marL="0" indent="0">
              <a:buNone/>
            </a:pPr>
            <a:r>
              <a:rPr lang="en-GB" sz="2400" dirty="0" smtClean="0"/>
              <a:t>	     respond	                      Aid		 	Relief</a:t>
            </a:r>
            <a:endParaRPr lang="en-GB" sz="2400" dirty="0"/>
          </a:p>
        </p:txBody>
      </p:sp>
      <p:sp>
        <p:nvSpPr>
          <p:cNvPr id="4" name="Rectangle 3"/>
          <p:cNvSpPr/>
          <p:nvPr/>
        </p:nvSpPr>
        <p:spPr>
          <a:xfrm>
            <a:off x="2411760" y="260648"/>
            <a:ext cx="4021101" cy="707886"/>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4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Voluntary Service</a:t>
            </a:r>
            <a:endParaRPr lang="en-US" sz="4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Rectangle 1"/>
          <p:cNvSpPr/>
          <p:nvPr/>
        </p:nvSpPr>
        <p:spPr>
          <a:xfrm>
            <a:off x="467544" y="5301208"/>
            <a:ext cx="8280920" cy="115212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1531529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55365"/>
            <a:ext cx="8229600" cy="4525963"/>
          </a:xfrm>
        </p:spPr>
        <p:txBody>
          <a:bodyPr>
            <a:noAutofit/>
          </a:bodyPr>
          <a:lstStyle/>
          <a:p>
            <a:pPr marL="0" indent="0">
              <a:buNone/>
            </a:pPr>
            <a:r>
              <a:rPr lang="en-GB" sz="2400" dirty="0" smtClean="0"/>
              <a:t>Many charities work in LEDCs in order to help reduce the effects of poverty.  Some work for little or no money by doing voluntary service, especially if working overseas or for smaller charities in Britain.  </a:t>
            </a:r>
          </a:p>
          <a:p>
            <a:pPr marL="0" indent="0">
              <a:buNone/>
            </a:pPr>
            <a:endParaRPr lang="en-GB" sz="2400" dirty="0"/>
          </a:p>
          <a:p>
            <a:pPr marL="0" indent="0">
              <a:buNone/>
            </a:pPr>
            <a:r>
              <a:rPr lang="en-GB" sz="2400" dirty="0" smtClean="0"/>
              <a:t>Each of the major religions has charities specifically set up to enable believers to respond to need.  Two of these specifically religious charities are Christian Aid and Islamic Relief.</a:t>
            </a:r>
            <a:endParaRPr lang="en-GB" sz="2400" dirty="0"/>
          </a:p>
        </p:txBody>
      </p:sp>
      <p:sp>
        <p:nvSpPr>
          <p:cNvPr id="4" name="Rectangle 3"/>
          <p:cNvSpPr/>
          <p:nvPr/>
        </p:nvSpPr>
        <p:spPr>
          <a:xfrm>
            <a:off x="2411760" y="260648"/>
            <a:ext cx="4021101" cy="707886"/>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4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Voluntary Service</a:t>
            </a:r>
            <a:endParaRPr lang="en-US" sz="4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extLst>
      <p:ext uri="{BB962C8B-B14F-4D97-AF65-F5344CB8AC3E}">
        <p14:creationId xmlns:p14="http://schemas.microsoft.com/office/powerpoint/2010/main" val="19029871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Christian Aid and Islamic Relief</a:t>
            </a:r>
            <a:endParaRPr lang="en-GB" dirty="0"/>
          </a:p>
        </p:txBody>
      </p:sp>
      <p:pic>
        <p:nvPicPr>
          <p:cNvPr id="5" name="Content Placeholder 4">
            <a:hlinkClick r:id="rId2"/>
          </p:cNvPr>
          <p:cNvPicPr>
            <a:picLocks noGrp="1" noChangeAspect="1"/>
          </p:cNvPicPr>
          <p:nvPr>
            <p:ph idx="1"/>
          </p:nvPr>
        </p:nvPicPr>
        <p:blipFill>
          <a:blip r:embed="rId3"/>
          <a:stretch>
            <a:fillRect/>
          </a:stretch>
        </p:blipFill>
        <p:spPr>
          <a:xfrm>
            <a:off x="323528" y="1628800"/>
            <a:ext cx="4032448" cy="1814602"/>
          </a:xfrm>
          <a:prstGeom prst="rect">
            <a:avLst/>
          </a:prstGeom>
        </p:spPr>
      </p:pic>
      <p:pic>
        <p:nvPicPr>
          <p:cNvPr id="7" name="Picture 6">
            <a:hlinkClick r:id="rId4"/>
          </p:cNvPr>
          <p:cNvPicPr>
            <a:picLocks noChangeAspect="1"/>
          </p:cNvPicPr>
          <p:nvPr/>
        </p:nvPicPr>
        <p:blipFill>
          <a:blip r:embed="rId5"/>
          <a:stretch>
            <a:fillRect/>
          </a:stretch>
        </p:blipFill>
        <p:spPr>
          <a:xfrm>
            <a:off x="4788024" y="2060848"/>
            <a:ext cx="3747046" cy="1970221"/>
          </a:xfrm>
          <a:prstGeom prst="rect">
            <a:avLst/>
          </a:prstGeom>
        </p:spPr>
      </p:pic>
      <p:sp>
        <p:nvSpPr>
          <p:cNvPr id="8" name="TextBox 7"/>
          <p:cNvSpPr txBox="1"/>
          <p:nvPr/>
        </p:nvSpPr>
        <p:spPr>
          <a:xfrm>
            <a:off x="457200" y="4106654"/>
            <a:ext cx="3394720" cy="2031325"/>
          </a:xfrm>
          <a:prstGeom prst="rect">
            <a:avLst/>
          </a:prstGeom>
          <a:noFill/>
        </p:spPr>
        <p:txBody>
          <a:bodyPr wrap="square" rtlCol="0">
            <a:spAutoFit/>
          </a:bodyPr>
          <a:lstStyle/>
          <a:p>
            <a:r>
              <a:rPr lang="en-GB" b="1" dirty="0" smtClean="0">
                <a:latin typeface="Comic Sans MS" panose="030F0702030302020204" pitchFamily="66" charset="0"/>
              </a:rPr>
              <a:t>Whilst you watch the videos write down any points you get about work that the charity does. </a:t>
            </a:r>
          </a:p>
          <a:p>
            <a:endParaRPr lang="en-GB" b="1" dirty="0">
              <a:latin typeface="Comic Sans MS" panose="030F0702030302020204" pitchFamily="66" charset="0"/>
            </a:endParaRPr>
          </a:p>
          <a:p>
            <a:r>
              <a:rPr lang="en-GB" b="1" dirty="0" smtClean="0">
                <a:latin typeface="Comic Sans MS" panose="030F0702030302020204" pitchFamily="66" charset="0"/>
              </a:rPr>
              <a:t>You might choose to draw up a quick table.</a:t>
            </a:r>
          </a:p>
        </p:txBody>
      </p:sp>
      <p:sp>
        <p:nvSpPr>
          <p:cNvPr id="9" name="TextBox 8"/>
          <p:cNvSpPr txBox="1"/>
          <p:nvPr/>
        </p:nvSpPr>
        <p:spPr>
          <a:xfrm>
            <a:off x="5076056" y="4437112"/>
            <a:ext cx="3459014" cy="1323439"/>
          </a:xfrm>
          <a:prstGeom prst="rect">
            <a:avLst/>
          </a:prstGeom>
          <a:noFill/>
          <a:ln>
            <a:solidFill>
              <a:schemeClr val="tx1"/>
            </a:solidFill>
          </a:ln>
        </p:spPr>
        <p:txBody>
          <a:bodyPr wrap="square" rtlCol="0">
            <a:spAutoFit/>
          </a:bodyPr>
          <a:lstStyle/>
          <a:p>
            <a:r>
              <a:rPr lang="en-GB" sz="2000" b="1" dirty="0" smtClean="0">
                <a:solidFill>
                  <a:srgbClr val="00B050"/>
                </a:solidFill>
                <a:latin typeface="Comic Sans MS" panose="030F0702030302020204" pitchFamily="66" charset="0"/>
              </a:rPr>
              <a:t>Challenge: What </a:t>
            </a:r>
            <a:r>
              <a:rPr lang="en-GB" sz="2000" b="1" dirty="0">
                <a:solidFill>
                  <a:srgbClr val="00B050"/>
                </a:solidFill>
                <a:latin typeface="Comic Sans MS" panose="030F0702030302020204" pitchFamily="66" charset="0"/>
              </a:rPr>
              <a:t>are some of the similarities </a:t>
            </a:r>
            <a:r>
              <a:rPr lang="en-GB" sz="2000" b="1" dirty="0" smtClean="0">
                <a:solidFill>
                  <a:srgbClr val="00B050"/>
                </a:solidFill>
                <a:latin typeface="Comic Sans MS" panose="030F0702030302020204" pitchFamily="66" charset="0"/>
              </a:rPr>
              <a:t>and/or </a:t>
            </a:r>
            <a:r>
              <a:rPr lang="en-GB" sz="2000" b="1" dirty="0">
                <a:solidFill>
                  <a:srgbClr val="00B050"/>
                </a:solidFill>
                <a:latin typeface="Comic Sans MS" panose="030F0702030302020204" pitchFamily="66" charset="0"/>
              </a:rPr>
              <a:t>differences between </a:t>
            </a:r>
            <a:r>
              <a:rPr lang="en-GB" sz="2000" b="1" dirty="0" smtClean="0">
                <a:solidFill>
                  <a:srgbClr val="00B050"/>
                </a:solidFill>
                <a:latin typeface="Comic Sans MS" panose="030F0702030302020204" pitchFamily="66" charset="0"/>
              </a:rPr>
              <a:t>the two </a:t>
            </a:r>
            <a:r>
              <a:rPr lang="en-GB" sz="2000" b="1" dirty="0">
                <a:solidFill>
                  <a:srgbClr val="00B050"/>
                </a:solidFill>
                <a:latin typeface="Comic Sans MS" panose="030F0702030302020204" pitchFamily="66" charset="0"/>
              </a:rPr>
              <a:t>charities</a:t>
            </a:r>
            <a:r>
              <a:rPr lang="en-GB" sz="2000" b="1" dirty="0" smtClean="0">
                <a:solidFill>
                  <a:srgbClr val="00B050"/>
                </a:solidFill>
                <a:latin typeface="Comic Sans MS" panose="030F0702030302020204" pitchFamily="66" charset="0"/>
              </a:rPr>
              <a:t>?</a:t>
            </a:r>
            <a:endParaRPr lang="en-GB" sz="2000" b="1" dirty="0">
              <a:solidFill>
                <a:srgbClr val="00B050"/>
              </a:solidFill>
              <a:latin typeface="Comic Sans MS" panose="030F0702030302020204" pitchFamily="66" charset="0"/>
            </a:endParaRPr>
          </a:p>
        </p:txBody>
      </p:sp>
    </p:spTree>
    <p:extLst>
      <p:ext uri="{BB962C8B-B14F-4D97-AF65-F5344CB8AC3E}">
        <p14:creationId xmlns:p14="http://schemas.microsoft.com/office/powerpoint/2010/main" val="831428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http://directoryofnewcastleupontyne.com/blog/wp-content/uploads/2009/12/Christian-Aid-Logo.jpg"/>
          <p:cNvPicPr>
            <a:picLocks noChangeAspect="1" noChangeArrowheads="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539552" y="3929766"/>
            <a:ext cx="5040560" cy="2235538"/>
          </a:xfrm>
          <a:prstGeom prst="rect">
            <a:avLst/>
          </a:prstGeom>
          <a:noFill/>
          <a:extLst>
            <a:ext uri="{909E8E84-426E-40dd-AFC4-6F175D3DCCD1}">
              <a14:hiddenFill xmlns:a14="http://schemas.microsoft.com/office/drawing/2010/main" xmlns="">
                <a:solidFill>
                  <a:srgbClr val="FFFFFF"/>
                </a:solidFill>
              </a14:hiddenFill>
            </a:ext>
          </a:extLst>
        </p:spPr>
      </p:pic>
      <p:pic>
        <p:nvPicPr>
          <p:cNvPr id="6" name="Picture 2" descr="http://3.bp.blogspot.com/_fNU4VJakMC0/TKHMfBnUWZI/AAAAAAAAApw/N3EaDYGEChY/s1600/logo+islamic+relief+2.png"/>
          <p:cNvPicPr>
            <a:picLocks noChangeAspect="1" noChangeArrowheads="1"/>
          </p:cNvPicPr>
          <p:nvPr/>
        </p:nvPicPr>
        <p:blipFill>
          <a:blip r:embed="rId4">
            <a:lum bright="70000" contrast="-70000"/>
            <a:extLst>
              <a:ext uri="{28A0092B-C50C-407E-A947-70E740481C1C}">
                <a14:useLocalDpi xmlns:a14="http://schemas.microsoft.com/office/drawing/2010/main" val="0"/>
              </a:ext>
            </a:extLst>
          </a:blip>
          <a:srcRect/>
          <a:stretch>
            <a:fillRect/>
          </a:stretch>
        </p:blipFill>
        <p:spPr bwMode="auto">
          <a:xfrm>
            <a:off x="5940152" y="1855811"/>
            <a:ext cx="2590800" cy="4381501"/>
          </a:xfrm>
          <a:prstGeom prst="rect">
            <a:avLst/>
          </a:prstGeom>
          <a:noFill/>
          <a:extLst>
            <a:ext uri="{909E8E84-426E-40dd-AFC4-6F175D3DCCD1}">
              <a14:hiddenFill xmlns:a14="http://schemas.microsoft.com/office/drawing/2010/main" xmlns="">
                <a:solidFill>
                  <a:srgbClr val="FFFFFF"/>
                </a:solidFill>
              </a14:hiddenFill>
            </a:ext>
          </a:extLst>
        </p:spPr>
      </p:pic>
      <p:sp>
        <p:nvSpPr>
          <p:cNvPr id="3" name="Content Placeholder 2"/>
          <p:cNvSpPr>
            <a:spLocks noGrp="1"/>
          </p:cNvSpPr>
          <p:nvPr>
            <p:ph idx="1"/>
          </p:nvPr>
        </p:nvSpPr>
        <p:spPr>
          <a:xfrm>
            <a:off x="457200" y="1855365"/>
            <a:ext cx="8229600" cy="4525963"/>
          </a:xfrm>
        </p:spPr>
        <p:txBody>
          <a:bodyPr>
            <a:normAutofit/>
          </a:bodyPr>
          <a:lstStyle/>
          <a:p>
            <a:pPr marL="0" indent="0">
              <a:buNone/>
            </a:pPr>
            <a:r>
              <a:rPr lang="en-GB" sz="2400" b="1" dirty="0" smtClean="0"/>
              <a:t>TASK:  </a:t>
            </a:r>
            <a:r>
              <a:rPr lang="en-GB" sz="2400" dirty="0" smtClean="0"/>
              <a:t>Collect an information sheet on one of the religious organisations.  Then design an A4 poster to persuade people to support your chosen group.</a:t>
            </a:r>
          </a:p>
          <a:p>
            <a:pPr marL="0" indent="0">
              <a:buNone/>
            </a:pPr>
            <a:endParaRPr lang="en-GB" sz="2400" dirty="0"/>
          </a:p>
          <a:p>
            <a:pPr marL="0" indent="0">
              <a:buNone/>
            </a:pPr>
            <a:r>
              <a:rPr lang="en-GB" sz="2400" dirty="0" smtClean="0"/>
              <a:t>You must include – </a:t>
            </a:r>
          </a:p>
          <a:p>
            <a:pPr marL="457200" indent="-457200">
              <a:buFont typeface="+mj-lt"/>
              <a:buAutoNum type="arabicPeriod"/>
            </a:pPr>
            <a:r>
              <a:rPr lang="en-GB" sz="2400" dirty="0" smtClean="0"/>
              <a:t>The charities logo</a:t>
            </a:r>
          </a:p>
          <a:p>
            <a:pPr marL="457200" indent="-457200">
              <a:buFont typeface="+mj-lt"/>
              <a:buAutoNum type="arabicPeriod"/>
            </a:pPr>
            <a:r>
              <a:rPr lang="en-GB" sz="2400" dirty="0" smtClean="0"/>
              <a:t>A slogan</a:t>
            </a:r>
          </a:p>
          <a:p>
            <a:pPr marL="457200" indent="-457200">
              <a:buFont typeface="+mj-lt"/>
              <a:buAutoNum type="arabicPeriod"/>
            </a:pPr>
            <a:r>
              <a:rPr lang="en-GB" sz="2400" dirty="0" smtClean="0"/>
              <a:t>Important information</a:t>
            </a:r>
          </a:p>
          <a:p>
            <a:pPr marL="457200" indent="-457200">
              <a:buFont typeface="+mj-lt"/>
              <a:buAutoNum type="arabicPeriod"/>
            </a:pPr>
            <a:r>
              <a:rPr lang="en-GB" sz="2400" dirty="0" smtClean="0"/>
              <a:t>Key religious teachings relating to the charity</a:t>
            </a:r>
            <a:endParaRPr lang="en-GB" sz="2400" dirty="0"/>
          </a:p>
        </p:txBody>
      </p:sp>
      <p:sp>
        <p:nvSpPr>
          <p:cNvPr id="4" name="Rectangle 3"/>
          <p:cNvSpPr/>
          <p:nvPr/>
        </p:nvSpPr>
        <p:spPr>
          <a:xfrm>
            <a:off x="251520" y="416858"/>
            <a:ext cx="8712968" cy="707886"/>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4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Religious Organisations</a:t>
            </a:r>
            <a:endParaRPr lang="en-US" sz="4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extLst>
      <p:ext uri="{BB962C8B-B14F-4D97-AF65-F5344CB8AC3E}">
        <p14:creationId xmlns:p14="http://schemas.microsoft.com/office/powerpoint/2010/main" val="16893781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600200"/>
            <a:ext cx="8229600" cy="4997152"/>
          </a:xfrm>
        </p:spPr>
        <p:txBody>
          <a:bodyPr>
            <a:normAutofit/>
          </a:bodyPr>
          <a:lstStyle/>
          <a:p>
            <a:pPr marL="0" indent="0">
              <a:buNone/>
            </a:pPr>
            <a:r>
              <a:rPr lang="en-GB" sz="2400" dirty="0" smtClean="0">
                <a:latin typeface="Comic Sans MS" panose="030F0702030302020204" pitchFamily="66" charset="0"/>
              </a:rPr>
              <a:t>Think back to the starter image, then imagine that you are given the opportunity to write to this group to tell them all about your life, your experiences, the things you do on the weekends, your favourite drink/food.  </a:t>
            </a:r>
          </a:p>
          <a:p>
            <a:pPr marL="0" indent="0">
              <a:buNone/>
            </a:pPr>
            <a:endParaRPr lang="en-GB" sz="2400" dirty="0">
              <a:latin typeface="Comic Sans MS" panose="030F0702030302020204" pitchFamily="66" charset="0"/>
            </a:endParaRPr>
          </a:p>
          <a:p>
            <a:pPr marL="0" indent="0">
              <a:buNone/>
            </a:pPr>
            <a:r>
              <a:rPr lang="en-GB" sz="2400" dirty="0" smtClean="0">
                <a:latin typeface="Comic Sans MS" panose="030F0702030302020204" pitchFamily="66" charset="0"/>
              </a:rPr>
              <a:t>Your task is to compose this letter, and </a:t>
            </a:r>
            <a:r>
              <a:rPr lang="en-GB" sz="2400" dirty="0" smtClean="0">
                <a:latin typeface="Comic Sans MS" panose="030F0702030302020204" pitchFamily="66" charset="0"/>
              </a:rPr>
              <a:t> then swap books with someone else so </a:t>
            </a:r>
            <a:r>
              <a:rPr lang="en-GB" sz="2400" dirty="0">
                <a:latin typeface="Comic Sans MS" panose="030F0702030302020204" pitchFamily="66" charset="0"/>
              </a:rPr>
              <a:t>t</a:t>
            </a:r>
            <a:r>
              <a:rPr lang="en-GB" sz="2400" dirty="0" smtClean="0">
                <a:latin typeface="Comic Sans MS" panose="030F0702030302020204" pitchFamily="66" charset="0"/>
              </a:rPr>
              <a:t>hey can write a report on behalf of t</a:t>
            </a:r>
            <a:r>
              <a:rPr lang="en-GB" sz="2400" dirty="0" smtClean="0">
                <a:latin typeface="Comic Sans MS" panose="030F0702030302020204" pitchFamily="66" charset="0"/>
              </a:rPr>
              <a:t>he child you have written to.</a:t>
            </a:r>
            <a:endParaRPr lang="en-GB" sz="2400" dirty="0" smtClean="0">
              <a:latin typeface="Comic Sans MS" panose="030F0702030302020204" pitchFamily="66" charset="0"/>
            </a:endParaRPr>
          </a:p>
        </p:txBody>
      </p:sp>
      <p:sp>
        <p:nvSpPr>
          <p:cNvPr id="4" name="Rectangle 3"/>
          <p:cNvSpPr/>
          <p:nvPr/>
        </p:nvSpPr>
        <p:spPr>
          <a:xfrm>
            <a:off x="3643551" y="332656"/>
            <a:ext cx="1785425" cy="707886"/>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4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Pen Pal</a:t>
            </a:r>
            <a:endParaRPr lang="en-US" sz="4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5" name="Picture 2" descr="http://www.sulekha.com/mstore/srireddy/albums/default/orissa-relief-01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6176" y="4437112"/>
            <a:ext cx="2646745" cy="198884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1128293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180109"/>
            <a:ext cx="8229600" cy="3273227"/>
          </a:xfrm>
        </p:spPr>
        <p:txBody>
          <a:bodyPr>
            <a:normAutofit/>
          </a:bodyPr>
          <a:lstStyle/>
          <a:p>
            <a:pPr marL="0" indent="0">
              <a:buNone/>
            </a:pPr>
            <a:r>
              <a:rPr lang="en-GB" sz="2400" dirty="0" smtClean="0"/>
              <a:t>Christian Aid uses the above phrase, what do you think it means?</a:t>
            </a:r>
          </a:p>
          <a:p>
            <a:pPr marL="0" indent="0">
              <a:buNone/>
            </a:pPr>
            <a:endParaRPr lang="en-GB" sz="2400" dirty="0"/>
          </a:p>
          <a:p>
            <a:pPr marL="0" indent="0">
              <a:buNone/>
            </a:pPr>
            <a:r>
              <a:rPr lang="en-GB" sz="2400" dirty="0" smtClean="0"/>
              <a:t>How does it explain the work that they do?</a:t>
            </a:r>
          </a:p>
        </p:txBody>
      </p:sp>
      <p:sp>
        <p:nvSpPr>
          <p:cNvPr id="4" name="Rounded Rectangular Callout 3"/>
          <p:cNvSpPr/>
          <p:nvPr/>
        </p:nvSpPr>
        <p:spPr>
          <a:xfrm>
            <a:off x="1259632" y="1196752"/>
            <a:ext cx="6552728" cy="1152128"/>
          </a:xfrm>
          <a:prstGeom prst="wedgeRoundRectCallout">
            <a:avLst>
              <a:gd name="adj1" fmla="val -36056"/>
              <a:gd name="adj2" fmla="val 67310"/>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3200" dirty="0" smtClean="0"/>
              <a:t>‘We believe in life before death’.</a:t>
            </a:r>
            <a:endParaRPr lang="en-GB" sz="3200" dirty="0"/>
          </a:p>
        </p:txBody>
      </p:sp>
      <p:sp>
        <p:nvSpPr>
          <p:cNvPr id="5" name="Rectangle 4"/>
          <p:cNvSpPr/>
          <p:nvPr/>
        </p:nvSpPr>
        <p:spPr>
          <a:xfrm>
            <a:off x="3614056" y="332656"/>
            <a:ext cx="1844416" cy="707886"/>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4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Plenary</a:t>
            </a:r>
            <a:endParaRPr lang="en-US" sz="4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extLst>
      <p:ext uri="{BB962C8B-B14F-4D97-AF65-F5344CB8AC3E}">
        <p14:creationId xmlns:p14="http://schemas.microsoft.com/office/powerpoint/2010/main" val="206561806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295</TotalTime>
  <Words>407</Words>
  <Application>Microsoft Office PowerPoint</Application>
  <PresentationFormat>On-screen Show (4:3)</PresentationFormat>
  <Paragraphs>46</Paragraphs>
  <Slides>8</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8</vt:i4>
      </vt:variant>
    </vt:vector>
  </HeadingPairs>
  <TitlesOfParts>
    <vt:vector size="14" baseType="lpstr">
      <vt:lpstr>MS PGothic</vt:lpstr>
      <vt:lpstr>Arial</vt:lpstr>
      <vt:lpstr>Calibri</vt:lpstr>
      <vt:lpstr>Comic Sans MS</vt:lpstr>
      <vt:lpstr>Office Theme</vt:lpstr>
      <vt:lpstr>1_Office Theme</vt:lpstr>
      <vt:lpstr>How do charities stop poverty?</vt:lpstr>
      <vt:lpstr>PowerPoint Presentation</vt:lpstr>
      <vt:lpstr>PowerPoint Presentation</vt:lpstr>
      <vt:lpstr>PowerPoint Presentation</vt:lpstr>
      <vt:lpstr>Christian Aid and Islamic Relief</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Joe Cannon</dc:creator>
  <cp:lastModifiedBy>Louise Reynolds</cp:lastModifiedBy>
  <cp:revision>25</cp:revision>
  <dcterms:created xsi:type="dcterms:W3CDTF">2010-12-31T00:36:21Z</dcterms:created>
  <dcterms:modified xsi:type="dcterms:W3CDTF">2019-01-05T20:35:16Z</dcterms:modified>
</cp:coreProperties>
</file>